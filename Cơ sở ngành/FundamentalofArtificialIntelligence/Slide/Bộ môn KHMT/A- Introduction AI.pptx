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2"/>
  </p:notesMasterIdLst>
  <p:handoutMasterIdLst>
    <p:handoutMasterId r:id="rId23"/>
  </p:handoutMasterIdLst>
  <p:sldIdLst>
    <p:sldId id="324" r:id="rId2"/>
    <p:sldId id="563" r:id="rId3"/>
    <p:sldId id="383" r:id="rId4"/>
    <p:sldId id="384" r:id="rId5"/>
    <p:sldId id="564" r:id="rId6"/>
    <p:sldId id="565" r:id="rId7"/>
    <p:sldId id="566" r:id="rId8"/>
    <p:sldId id="571" r:id="rId9"/>
    <p:sldId id="567" r:id="rId10"/>
    <p:sldId id="568" r:id="rId11"/>
    <p:sldId id="569" r:id="rId12"/>
    <p:sldId id="579" r:id="rId13"/>
    <p:sldId id="572" r:id="rId14"/>
    <p:sldId id="573" r:id="rId15"/>
    <p:sldId id="574" r:id="rId16"/>
    <p:sldId id="575" r:id="rId17"/>
    <p:sldId id="576" r:id="rId18"/>
    <p:sldId id="577" r:id="rId19"/>
    <p:sldId id="580" r:id="rId20"/>
    <p:sldId id="578" r:id="rId21"/>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212"/>
    <a:srgbClr val="26902B"/>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88" autoAdjust="0"/>
    <p:restoredTop sz="81679" autoAdjust="0"/>
  </p:normalViewPr>
  <p:slideViewPr>
    <p:cSldViewPr>
      <p:cViewPr varScale="1">
        <p:scale>
          <a:sx n="71" d="100"/>
          <a:sy n="71" d="100"/>
        </p:scale>
        <p:origin x="1240" y="184"/>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13</a:t>
            </a:fld>
            <a:endParaRPr lang="en-US"/>
          </a:p>
        </p:txBody>
      </p:sp>
    </p:spTree>
    <p:extLst>
      <p:ext uri="{BB962C8B-B14F-4D97-AF65-F5344CB8AC3E}">
        <p14:creationId xmlns:p14="http://schemas.microsoft.com/office/powerpoint/2010/main" val="2479014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400" b="1" dirty="0"/>
              <a:t>Heuristic</a:t>
            </a:r>
            <a:r>
              <a:rPr lang="vi-VN" sz="1400" dirty="0"/>
              <a:t> (</a:t>
            </a:r>
            <a:r>
              <a:rPr lang="el-GR" sz="1400" dirty="0"/>
              <a:t>"</a:t>
            </a:r>
            <a:r>
              <a:rPr lang="vi-VN" sz="1400" dirty="0"/>
              <a:t>tìm kiếm" hay "khám phá") là các kỹ thuật dựa trên kinh nghiệm để giải quyết vấn đề, học hỏi hay khám phá nhằm đưa ra một giải pháp mà không được đảm bảo là tối ưu. </a:t>
            </a:r>
          </a:p>
          <a:p>
            <a:r>
              <a:rPr lang="vi-VN" sz="1400" dirty="0"/>
              <a:t>Với việc nghiên cứu khảo sát không có tính thực tế, các phương pháp heuristic được dùng nhằm tăng nhanh quá trình tìm kiếm với các giải pháp hợp lý thông qua các suy nghĩ rút gọn để giảm bớt việc nhận thức vấn đề khi đưa ra quyết định. Ví dụ của phương pháp này bao gồm sử dụng một luật ngón tay cái, giả thuyết, phán đoán trực giác, khuôn mẫu hay nhận thức thông thường.</a:t>
            </a:r>
            <a:endParaRPr lang="en-US" sz="1400" dirty="0"/>
          </a:p>
        </p:txBody>
      </p:sp>
      <p:sp>
        <p:nvSpPr>
          <p:cNvPr id="4" name="Slide Number Placeholder 3"/>
          <p:cNvSpPr>
            <a:spLocks noGrp="1"/>
          </p:cNvSpPr>
          <p:nvPr>
            <p:ph type="sldNum" sz="quarter" idx="5"/>
          </p:nvPr>
        </p:nvSpPr>
        <p:spPr/>
        <p:txBody>
          <a:bodyPr/>
          <a:lstStyle/>
          <a:p>
            <a:fld id="{077C5485-9747-4CF4-B9B9-77ADA2DD2249}" type="slidenum">
              <a:rPr lang="en-US"/>
              <a:pPr/>
              <a:t>19</a:t>
            </a:fld>
            <a:endParaRPr lang="en-US"/>
          </a:p>
        </p:txBody>
      </p:sp>
    </p:spTree>
    <p:extLst>
      <p:ext uri="{BB962C8B-B14F-4D97-AF65-F5344CB8AC3E}">
        <p14:creationId xmlns:p14="http://schemas.microsoft.com/office/powerpoint/2010/main" val="603749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11/5/21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11/5/21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11/5/21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11/5/21</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11/5/21</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11/5/21</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11/5/21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11/5/21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11/5/21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11/5/21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11/5/21</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ai.stanford.edu/~latombe/cs121/2011/description.ht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527050" y="3500438"/>
            <a:ext cx="9477375" cy="2232818"/>
          </a:xfrm>
        </p:spPr>
        <p:txBody>
          <a:bodyPr/>
          <a:lstStyle/>
          <a:p>
            <a:pPr eaLnBrk="1" hangingPunct="1">
              <a:lnSpc>
                <a:spcPct val="110000"/>
              </a:lnSpc>
            </a:pPr>
            <a:r>
              <a:rPr lang="en-US" sz="4000" b="1" dirty="0">
                <a:solidFill>
                  <a:schemeClr val="bg1"/>
                </a:solidFill>
                <a:ea typeface="MS PGothic" pitchFamily="34" charset="-128"/>
              </a:rPr>
              <a:t>NHẬP MÔN TRÍ TUỆ NHÂN TẠO</a:t>
            </a:r>
            <a:br>
              <a:rPr lang="en-US" sz="4000" dirty="0">
                <a:ea typeface="MS PGothic" pitchFamily="34" charset="-128"/>
              </a:rPr>
            </a:br>
            <a:r>
              <a:rPr lang="en-US" altLang="en-US" sz="4000" b="1">
                <a:solidFill>
                  <a:schemeClr val="bg1"/>
                </a:solidFill>
                <a:ea typeface="ＭＳ Ｐゴシック" panose="020B0600070205080204" pitchFamily="34" charset="-128"/>
              </a:rPr>
              <a:t>Chương 1. Giới thiệu chung</a:t>
            </a:r>
            <a:endParaRPr lang="en-US" sz="4000" dirty="0">
              <a:ea typeface="MS PGothic" pitchFamily="34" charset="-128"/>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a:solidFill>
                  <a:schemeClr val="bg1"/>
                </a:solidFill>
                <a:effectLst>
                  <a:outerShdw blurRad="38100" dist="38100" dir="2700000" algn="tl">
                    <a:srgbClr val="C0C0C0"/>
                  </a:outerShdw>
                </a:effectLst>
                <a:latin typeface="+mj-lt"/>
              </a:rPr>
              <a:t>BỘ MÔN KHOA HỌC MÁY TÍNH</a:t>
            </a:r>
          </a:p>
          <a:p>
            <a:pPr algn="ctr" eaLnBrk="1" hangingPunct="1"/>
            <a:r>
              <a:rPr lang="en-US" sz="2000" b="1" dirty="0">
                <a:solidFill>
                  <a:schemeClr val="bg1"/>
                </a:solidFill>
                <a:effectLst>
                  <a:outerShdw blurRad="38100" dist="38100" dir="2700000" algn="tl">
                    <a:srgbClr val="C0C0C0"/>
                  </a:outerShdw>
                </a:effectLst>
                <a:latin typeface="+mj-lt"/>
              </a:rPr>
              <a:t>www.fit.nuce.edu.vn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72A2-626D-2F43-A5CB-97AFDFA2C342}"/>
              </a:ext>
            </a:extLst>
          </p:cNvPr>
          <p:cNvSpPr>
            <a:spLocks noGrp="1"/>
          </p:cNvSpPr>
          <p:nvPr>
            <p:ph type="title"/>
          </p:nvPr>
        </p:nvSpPr>
        <p:spPr/>
        <p:txBody>
          <a:bodyPr/>
          <a:lstStyle/>
          <a:p>
            <a:r>
              <a:rPr lang="en-US" altLang="en-US" sz="3600" b="1">
                <a:ea typeface="ＭＳ Ｐゴシック" panose="020B0600070205080204" pitchFamily="34" charset="-128"/>
              </a:rPr>
              <a:t>Cấu trúc môn học</a:t>
            </a:r>
            <a:endParaRPr lang="en-US"/>
          </a:p>
        </p:txBody>
      </p:sp>
      <p:sp>
        <p:nvSpPr>
          <p:cNvPr id="3" name="Content Placeholder 2">
            <a:extLst>
              <a:ext uri="{FF2B5EF4-FFF2-40B4-BE49-F238E27FC236}">
                <a16:creationId xmlns:a16="http://schemas.microsoft.com/office/drawing/2014/main" id="{CD757146-DCDB-0B4C-97AD-07C7AD31C98E}"/>
              </a:ext>
            </a:extLst>
          </p:cNvPr>
          <p:cNvSpPr>
            <a:spLocks noGrp="1"/>
          </p:cNvSpPr>
          <p:nvPr>
            <p:ph idx="1"/>
          </p:nvPr>
        </p:nvSpPr>
        <p:spPr>
          <a:xfrm>
            <a:off x="706438" y="1494078"/>
            <a:ext cx="8918699" cy="4862272"/>
          </a:xfrm>
        </p:spPr>
        <p:txBody>
          <a:bodyPr/>
          <a:lstStyle/>
          <a:p>
            <a:r>
              <a:rPr lang="en-US" sz="3600"/>
              <a:t> Chương 1: Giới thiệu chung</a:t>
            </a:r>
          </a:p>
          <a:p>
            <a:r>
              <a:rPr lang="en-US" sz="3600"/>
              <a:t> Chương 2: Giải quyết vấn đề bằng tìm kiếm</a:t>
            </a:r>
          </a:p>
          <a:p>
            <a:r>
              <a:rPr lang="en-US" sz="3600"/>
              <a:t> Chương 3: Biểu diễn tri thức và lập luận logic</a:t>
            </a:r>
          </a:p>
          <a:p>
            <a:r>
              <a:rPr lang="en-US" sz="3600"/>
              <a:t> Chương 4: Lập luận xác suất</a:t>
            </a:r>
          </a:p>
          <a:p>
            <a:r>
              <a:rPr lang="en-US" sz="3600"/>
              <a:t> Chương 5: Nhập môn học máy</a:t>
            </a:r>
          </a:p>
        </p:txBody>
      </p:sp>
      <p:sp>
        <p:nvSpPr>
          <p:cNvPr id="4" name="Slide Number Placeholder 3">
            <a:extLst>
              <a:ext uri="{FF2B5EF4-FFF2-40B4-BE49-F238E27FC236}">
                <a16:creationId xmlns:a16="http://schemas.microsoft.com/office/drawing/2014/main" id="{F2A17015-F8E9-BF4A-9E77-AC872DFC9781}"/>
              </a:ext>
            </a:extLst>
          </p:cNvPr>
          <p:cNvSpPr>
            <a:spLocks noGrp="1"/>
          </p:cNvSpPr>
          <p:nvPr>
            <p:ph type="sldNum" sz="quarter" idx="12"/>
          </p:nvPr>
        </p:nvSpPr>
        <p:spPr/>
        <p:txBody>
          <a:bodyPr/>
          <a:lstStyle/>
          <a:p>
            <a:fld id="{DA8C51A7-BEEA-471D-933F-7E35BC04A30F}" type="slidenum">
              <a:rPr lang="en-US"/>
              <a:pPr/>
              <a:t>2</a:t>
            </a:fld>
            <a:endParaRPr lang="en-US"/>
          </a:p>
        </p:txBody>
      </p:sp>
    </p:spTree>
    <p:extLst>
      <p:ext uri="{BB962C8B-B14F-4D97-AF65-F5344CB8AC3E}">
        <p14:creationId xmlns:p14="http://schemas.microsoft.com/office/powerpoint/2010/main" val="874443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p>
            <a:r>
              <a:rPr lang="en-US" dirty="0" err="1">
                <a:solidFill>
                  <a:schemeClr val="bg1"/>
                </a:solidFill>
                <a:ea typeface="MS PGothic" pitchFamily="34" charset="-128"/>
              </a:rPr>
              <a:t>Chương</a:t>
            </a:r>
            <a:r>
              <a:rPr lang="en-US" dirty="0">
                <a:solidFill>
                  <a:schemeClr val="bg1"/>
                </a:solidFill>
                <a:ea typeface="MS PGothic" pitchFamily="34" charset="-128"/>
              </a:rPr>
              <a:t> 1. </a:t>
            </a:r>
            <a:r>
              <a:rPr lang="en-US" dirty="0" err="1">
                <a:solidFill>
                  <a:schemeClr val="bg1"/>
                </a:solidFill>
                <a:ea typeface="MS PGothic" pitchFamily="34" charset="-128"/>
              </a:rPr>
              <a:t>Giới thiệu chung</a:t>
            </a:r>
            <a:endParaRPr lang="en-US" dirty="0"/>
          </a:p>
        </p:txBody>
      </p:sp>
      <p:sp>
        <p:nvSpPr>
          <p:cNvPr id="4" name="Slide Number Placeholder 3"/>
          <p:cNvSpPr>
            <a:spLocks noGrp="1"/>
          </p:cNvSpPr>
          <p:nvPr>
            <p:ph type="sldNum" sz="quarter" idx="12"/>
          </p:nvPr>
        </p:nvSpPr>
        <p:spPr/>
        <p:txBody>
          <a:bodyPr/>
          <a:lstStyle/>
          <a:p>
            <a:fld id="{DA8C51A7-BEEA-471D-933F-7E35BC04A30F}" type="slidenum">
              <a:rPr lang="en-US" smtClean="0"/>
              <a:pPr/>
              <a:t>3</a:t>
            </a:fld>
            <a:endParaRPr lang="en-US"/>
          </a:p>
        </p:txBody>
      </p:sp>
      <p:sp>
        <p:nvSpPr>
          <p:cNvPr id="5" name="Rectangle 3"/>
          <p:cNvSpPr>
            <a:spLocks noGrp="1" noChangeArrowheads="1"/>
          </p:cNvSpPr>
          <p:nvPr>
            <p:ph idx="1"/>
          </p:nvPr>
        </p:nvSpPr>
        <p:spPr>
          <a:xfrm>
            <a:off x="751013" y="1484783"/>
            <a:ext cx="8568951" cy="4680521"/>
          </a:xfrm>
        </p:spPr>
        <p:txBody>
          <a:bodyPr>
            <a:normAutofit lnSpcReduction="10000"/>
          </a:bodyPr>
          <a:lstStyle/>
          <a:p>
            <a:pPr marL="514350" indent="-514350" eaLnBrk="1" hangingPunct="1">
              <a:lnSpc>
                <a:spcPct val="120000"/>
              </a:lnSpc>
              <a:buAutoNum type="arabicPeriod"/>
            </a:pPr>
            <a:r>
              <a:rPr lang="en-US" sz="2800" dirty="0">
                <a:cs typeface="Arial" pitchFamily="34" charset="0"/>
              </a:rPr>
              <a:t>Giới thiệu các thông tin liên quan đến học phần</a:t>
            </a:r>
          </a:p>
          <a:p>
            <a:pPr marL="514350" indent="-514350" eaLnBrk="1" hangingPunct="1">
              <a:lnSpc>
                <a:spcPct val="120000"/>
              </a:lnSpc>
              <a:buAutoNum type="arabicPeriod"/>
            </a:pPr>
            <a:r>
              <a:rPr lang="en-US" sz="2800" dirty="0">
                <a:cs typeface="Arial" pitchFamily="34" charset="0"/>
              </a:rPr>
              <a:t>Yêu cầu của học phần</a:t>
            </a:r>
          </a:p>
          <a:p>
            <a:pPr marL="514350" indent="-514350" eaLnBrk="1" hangingPunct="1">
              <a:lnSpc>
                <a:spcPct val="120000"/>
              </a:lnSpc>
              <a:buAutoNum type="arabicPeriod"/>
            </a:pPr>
            <a:r>
              <a:rPr lang="en-US" sz="2800" dirty="0">
                <a:cs typeface="Arial" pitchFamily="34" charset="0"/>
              </a:rPr>
              <a:t>Khái niệm trí tuệ nhân tạo</a:t>
            </a:r>
          </a:p>
          <a:p>
            <a:pPr marL="514350" indent="-514350" eaLnBrk="1" hangingPunct="1">
              <a:lnSpc>
                <a:spcPct val="120000"/>
              </a:lnSpc>
              <a:buAutoNum type="arabicPeriod"/>
            </a:pPr>
            <a:r>
              <a:rPr lang="en-US" sz="2800"/>
              <a:t>Một số ví dụ về trí tuệ nhân tạo</a:t>
            </a:r>
          </a:p>
          <a:p>
            <a:pPr marL="514350" indent="-514350" eaLnBrk="1" hangingPunct="1">
              <a:lnSpc>
                <a:spcPct val="120000"/>
              </a:lnSpc>
              <a:buAutoNum type="arabicPeriod"/>
            </a:pPr>
            <a:r>
              <a:rPr lang="en-US" sz="2800" dirty="0">
                <a:cs typeface="Arial" pitchFamily="34" charset="0"/>
              </a:rPr>
              <a:t>Lịch sử hình thành và phát triển</a:t>
            </a:r>
          </a:p>
          <a:p>
            <a:pPr marL="514350" indent="-514350" eaLnBrk="1" hangingPunct="1">
              <a:lnSpc>
                <a:spcPct val="120000"/>
              </a:lnSpc>
              <a:buAutoNum type="arabicPeriod"/>
            </a:pPr>
            <a:r>
              <a:rPr lang="en-US" sz="2800" dirty="0">
                <a:cs typeface="Arial" pitchFamily="34" charset="0"/>
              </a:rPr>
              <a:t>Các lĩnh vực nghiên cứu của TTNT</a:t>
            </a:r>
          </a:p>
          <a:p>
            <a:pPr marL="514350" indent="-514350" eaLnBrk="1" hangingPunct="1">
              <a:lnSpc>
                <a:spcPct val="120000"/>
              </a:lnSpc>
              <a:buAutoNum type="arabicPeriod"/>
            </a:pPr>
            <a:r>
              <a:rPr lang="en-US" sz="2800" dirty="0">
                <a:cs typeface="Arial" pitchFamily="34" charset="0"/>
              </a:rPr>
              <a:t>Những vấn đề chưa được giải quyết</a:t>
            </a:r>
          </a:p>
          <a:p>
            <a:pPr marL="514350" indent="-514350" eaLnBrk="1" hangingPunct="1">
              <a:lnSpc>
                <a:spcPct val="120000"/>
              </a:lnSpc>
              <a:buAutoNum type="arabicPeriod"/>
            </a:pPr>
            <a:r>
              <a:rPr lang="en-US" sz="2800"/>
              <a:t>So sánh giữa lập trình hệ thống và lập trình AI</a:t>
            </a:r>
            <a:endParaRPr lang="en-US" sz="2800" dirty="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751012" y="188640"/>
            <a:ext cx="9361040" cy="1325563"/>
          </a:xfrm>
        </p:spPr>
        <p:txBody>
          <a:bodyPr/>
          <a:lstStyle/>
          <a:p>
            <a:r>
              <a:rPr lang="en-US" dirty="0" err="1"/>
              <a:t>1. Các thông tin liên quan đến học phần</a:t>
            </a:r>
          </a:p>
        </p:txBody>
      </p:sp>
      <p:sp>
        <p:nvSpPr>
          <p:cNvPr id="24579" name="Content Placeholder 2"/>
          <p:cNvSpPr>
            <a:spLocks noGrp="1"/>
          </p:cNvSpPr>
          <p:nvPr>
            <p:ph sz="quarter" idx="1"/>
          </p:nvPr>
        </p:nvSpPr>
        <p:spPr>
          <a:xfrm>
            <a:off x="706439" y="1514203"/>
            <a:ext cx="8918698" cy="4351338"/>
          </a:xfrm>
        </p:spPr>
        <p:txBody>
          <a:bodyPr/>
          <a:lstStyle/>
          <a:p>
            <a:pPr eaLnBrk="1" hangingPunct="1">
              <a:spcBef>
                <a:spcPct val="20000"/>
              </a:spcBef>
            </a:pPr>
            <a:r>
              <a:rPr lang="en-US" altLang="en-US" sz="2800"/>
              <a:t>Tài liệu môn học</a:t>
            </a:r>
          </a:p>
          <a:p>
            <a:pPr lvl="1" eaLnBrk="1" hangingPunct="1">
              <a:spcBef>
                <a:spcPct val="20000"/>
              </a:spcBef>
            </a:pPr>
            <a:r>
              <a:rPr lang="en-US" altLang="en-US" sz="2500" b="1"/>
              <a:t>S. Russell and P. Norvig. Artificial Intelligence: A Modern Approach 3rd edition, Prentice Hall, 2010</a:t>
            </a:r>
          </a:p>
          <a:p>
            <a:pPr lvl="1" eaLnBrk="1" hangingPunct="1">
              <a:spcBef>
                <a:spcPct val="20000"/>
              </a:spcBef>
            </a:pPr>
            <a:r>
              <a:rPr lang="en-US" altLang="en-US" sz="2500"/>
              <a:t>Giáo trình nhập môn trí tuệ nhân tạo, GS.TS. Từ Minh Phương</a:t>
            </a:r>
          </a:p>
          <a:p>
            <a:pPr lvl="1"/>
            <a:r>
              <a:rPr lang="vi-VN" sz="2100"/>
              <a:t>Trí tuệ nhân tạo: Các phương pháp giả quyết vấn đề và kỹ thuật xử lý tri thức, Nguyễn Thanh Thủy. </a:t>
            </a:r>
          </a:p>
          <a:p>
            <a:pPr lvl="1"/>
            <a:r>
              <a:rPr lang="vi-VN" sz="2100"/>
              <a:t>Trí tuệ nhân tạo, Đỗ Trung Tuấn. </a:t>
            </a:r>
            <a:endParaRPr lang="en-US" altLang="en-US" sz="2200"/>
          </a:p>
          <a:p>
            <a:pPr eaLnBrk="1" hangingPunct="1">
              <a:spcBef>
                <a:spcPct val="20000"/>
              </a:spcBef>
            </a:pPr>
            <a:r>
              <a:rPr lang="en-US" altLang="en-US" sz="2800"/>
              <a:t>Website tham khảo:</a:t>
            </a:r>
          </a:p>
          <a:p>
            <a:pPr lvl="1" eaLnBrk="1" hangingPunct="1">
              <a:spcBef>
                <a:spcPct val="20000"/>
              </a:spcBef>
            </a:pPr>
            <a:r>
              <a:rPr lang="en-US" altLang="en-US" sz="2500">
                <a:hlinkClick r:id="rId2"/>
              </a:rPr>
              <a:t>https://ai.stanford.edu/~latombe/cs121/2011/description.htm</a:t>
            </a:r>
            <a:endParaRPr lang="en-US" altLang="en-US" sz="2500"/>
          </a:p>
          <a:p>
            <a:pPr marL="385762" lvl="1" indent="0" eaLnBrk="1" hangingPunct="1">
              <a:spcBef>
                <a:spcPct val="20000"/>
              </a:spcBef>
              <a:buNone/>
            </a:pPr>
            <a:endParaRPr lang="en-US" altLang="en-US" sz="2500"/>
          </a:p>
        </p:txBody>
      </p:sp>
      <p:sp>
        <p:nvSpPr>
          <p:cNvPr id="4" name="Slide Number Placeholder 3"/>
          <p:cNvSpPr>
            <a:spLocks noGrp="1"/>
          </p:cNvSpPr>
          <p:nvPr>
            <p:ph type="sldNum" sz="quarter" idx="12"/>
          </p:nvPr>
        </p:nvSpPr>
        <p:spPr/>
        <p:txBody>
          <a:bodyPr/>
          <a:lstStyle/>
          <a:p>
            <a:pPr>
              <a:defRPr/>
            </a:pPr>
            <a:fld id="{98E7C5FE-D3AD-4508-A9D5-D6A30465ED8B}"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CE14C-C75F-6D40-8560-C6D014349E0D}"/>
              </a:ext>
            </a:extLst>
          </p:cNvPr>
          <p:cNvSpPr>
            <a:spLocks noGrp="1"/>
          </p:cNvSpPr>
          <p:nvPr>
            <p:ph type="title"/>
          </p:nvPr>
        </p:nvSpPr>
        <p:spPr/>
        <p:txBody>
          <a:bodyPr/>
          <a:lstStyle/>
          <a:p>
            <a:r>
              <a:rPr lang="en-US" dirty="0"/>
              <a:t>2. Yêu cầu của học phần</a:t>
            </a:r>
            <a:endParaRPr lang="en-US"/>
          </a:p>
        </p:txBody>
      </p:sp>
      <p:sp>
        <p:nvSpPr>
          <p:cNvPr id="3" name="Content Placeholder 2">
            <a:extLst>
              <a:ext uri="{FF2B5EF4-FFF2-40B4-BE49-F238E27FC236}">
                <a16:creationId xmlns:a16="http://schemas.microsoft.com/office/drawing/2014/main" id="{90546AE2-DC49-0E47-84E1-50F3FC8993FF}"/>
              </a:ext>
            </a:extLst>
          </p:cNvPr>
          <p:cNvSpPr>
            <a:spLocks noGrp="1"/>
          </p:cNvSpPr>
          <p:nvPr>
            <p:ph idx="1"/>
          </p:nvPr>
        </p:nvSpPr>
        <p:spPr/>
        <p:txBody>
          <a:bodyPr/>
          <a:lstStyle/>
          <a:p>
            <a:r>
              <a:rPr lang="en-US" sz="3200"/>
              <a:t>Nắm chắc nội dung lý thuyết và áp dụng bài tập cụ thể (Vận dụng + lập trình)</a:t>
            </a:r>
          </a:p>
          <a:p>
            <a:r>
              <a:rPr lang="en-US" sz="3200"/>
              <a:t>Sinh viên đi học đầy đủ</a:t>
            </a:r>
          </a:p>
          <a:p>
            <a:r>
              <a:rPr lang="en-US" sz="3200"/>
              <a:t>Sinh viên tham gia bài kiểm tra giữa kỳ.</a:t>
            </a:r>
          </a:p>
          <a:p>
            <a:r>
              <a:rPr lang="en-US" sz="3200"/>
              <a:t>Bài thi cuối kỳ có 2 phần:</a:t>
            </a:r>
          </a:p>
          <a:p>
            <a:pPr lvl="1"/>
            <a:r>
              <a:rPr lang="en-US" sz="3200"/>
              <a:t>Phần lý thuyết</a:t>
            </a:r>
          </a:p>
          <a:p>
            <a:pPr lvl="1"/>
            <a:r>
              <a:rPr lang="en-US" sz="3200"/>
              <a:t>Phần bài tập</a:t>
            </a:r>
          </a:p>
          <a:p>
            <a:endParaRPr lang="en-US"/>
          </a:p>
        </p:txBody>
      </p:sp>
      <p:sp>
        <p:nvSpPr>
          <p:cNvPr id="4" name="Slide Number Placeholder 3">
            <a:extLst>
              <a:ext uri="{FF2B5EF4-FFF2-40B4-BE49-F238E27FC236}">
                <a16:creationId xmlns:a16="http://schemas.microsoft.com/office/drawing/2014/main" id="{35C18E2A-31B3-0549-8174-DF63C7978757}"/>
              </a:ext>
            </a:extLst>
          </p:cNvPr>
          <p:cNvSpPr>
            <a:spLocks noGrp="1"/>
          </p:cNvSpPr>
          <p:nvPr>
            <p:ph type="sldNum" sz="quarter" idx="12"/>
          </p:nvPr>
        </p:nvSpPr>
        <p:spPr/>
        <p:txBody>
          <a:bodyPr/>
          <a:lstStyle/>
          <a:p>
            <a:fld id="{DA8C51A7-BEEA-471D-933F-7E35BC04A30F}" type="slidenum">
              <a:rPr lang="en-US"/>
              <a:pPr/>
              <a:t>5</a:t>
            </a:fld>
            <a:endParaRPr lang="en-US"/>
          </a:p>
        </p:txBody>
      </p:sp>
    </p:spTree>
    <p:extLst>
      <p:ext uri="{BB962C8B-B14F-4D97-AF65-F5344CB8AC3E}">
        <p14:creationId xmlns:p14="http://schemas.microsoft.com/office/powerpoint/2010/main" val="81480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001B-384F-1045-BEEC-23E667C3F5C2}"/>
              </a:ext>
            </a:extLst>
          </p:cNvPr>
          <p:cNvSpPr>
            <a:spLocks noGrp="1"/>
          </p:cNvSpPr>
          <p:nvPr>
            <p:ph type="title"/>
          </p:nvPr>
        </p:nvSpPr>
        <p:spPr/>
        <p:txBody>
          <a:bodyPr/>
          <a:lstStyle/>
          <a:p>
            <a:r>
              <a:rPr lang="en-US" dirty="0"/>
              <a:t>3. Khái niệm trí tuệ nhân tạo</a:t>
            </a:r>
            <a:endParaRPr lang="en-US"/>
          </a:p>
        </p:txBody>
      </p:sp>
      <p:sp>
        <p:nvSpPr>
          <p:cNvPr id="3" name="Content Placeholder 2">
            <a:extLst>
              <a:ext uri="{FF2B5EF4-FFF2-40B4-BE49-F238E27FC236}">
                <a16:creationId xmlns:a16="http://schemas.microsoft.com/office/drawing/2014/main" id="{D06C7906-74BB-0748-9B63-424BA74CC6E5}"/>
              </a:ext>
            </a:extLst>
          </p:cNvPr>
          <p:cNvSpPr>
            <a:spLocks noGrp="1"/>
          </p:cNvSpPr>
          <p:nvPr>
            <p:ph idx="1"/>
          </p:nvPr>
        </p:nvSpPr>
        <p:spPr/>
        <p:txBody>
          <a:bodyPr/>
          <a:lstStyle/>
          <a:p>
            <a:pPr>
              <a:lnSpc>
                <a:spcPct val="100000"/>
              </a:lnSpc>
            </a:pPr>
            <a:r>
              <a:rPr lang="en-US" sz="2400">
                <a:solidFill>
                  <a:srgbClr val="26902B"/>
                </a:solidFill>
              </a:rPr>
              <a:t>Trí tuệ nhân tạo </a:t>
            </a:r>
            <a:r>
              <a:rPr lang="en-US" sz="2400"/>
              <a:t>(TTNT) là một lĩnh vực nghiên cứu của khoa học máy tính và khoa học tính toán nói chung.</a:t>
            </a:r>
          </a:p>
          <a:p>
            <a:pPr>
              <a:lnSpc>
                <a:spcPct val="100000"/>
              </a:lnSpc>
            </a:pPr>
            <a:r>
              <a:rPr lang="en-US" sz="2400"/>
              <a:t>Mục đích của trí tuệ nhân tạo là xây dựng các </a:t>
            </a:r>
            <a:r>
              <a:rPr lang="en-US" sz="2400">
                <a:solidFill>
                  <a:schemeClr val="accent2">
                    <a:lumMod val="75000"/>
                  </a:schemeClr>
                </a:solidFill>
              </a:rPr>
              <a:t>thực thể thông minh</a:t>
            </a:r>
            <a:r>
              <a:rPr lang="en-US" sz="2400"/>
              <a:t>.</a:t>
            </a:r>
          </a:p>
          <a:p>
            <a:pPr>
              <a:lnSpc>
                <a:spcPct val="100000"/>
              </a:lnSpc>
            </a:pPr>
            <a:r>
              <a:rPr lang="vi-VN" sz="2400">
                <a:latin typeface="Calibri" panose="020F0502020204030204" pitchFamily="34" charset="0"/>
                <a:cs typeface="Calibri" panose="020F0502020204030204" pitchFamily="34" charset="0"/>
              </a:rPr>
              <a:t>Trí tuệ nhân tạo là lĩnh vực nghiên cứu việc xây dựng các hệ thống máy tính có đặc điểm sau: </a:t>
            </a:r>
          </a:p>
          <a:p>
            <a:pPr lvl="1">
              <a:lnSpc>
                <a:spcPct val="100000"/>
              </a:lnSpc>
            </a:pPr>
            <a:r>
              <a:rPr lang="vi-VN" sz="2400">
                <a:solidFill>
                  <a:schemeClr val="accent2">
                    <a:lumMod val="75000"/>
                  </a:schemeClr>
                </a:solidFill>
                <a:latin typeface="Calibri" panose="020F0502020204030204" pitchFamily="34" charset="0"/>
                <a:cs typeface="Calibri" panose="020F0502020204030204" pitchFamily="34" charset="0"/>
              </a:rPr>
              <a:t>Hệ thống hành động như người. </a:t>
            </a:r>
          </a:p>
          <a:p>
            <a:pPr lvl="1">
              <a:lnSpc>
                <a:spcPct val="100000"/>
              </a:lnSpc>
            </a:pPr>
            <a:r>
              <a:rPr lang="vi-VN" sz="2400">
                <a:solidFill>
                  <a:schemeClr val="accent2">
                    <a:lumMod val="75000"/>
                  </a:schemeClr>
                </a:solidFill>
                <a:latin typeface="Calibri" panose="020F0502020204030204" pitchFamily="34" charset="0"/>
                <a:cs typeface="Calibri" panose="020F0502020204030204" pitchFamily="34" charset="0"/>
              </a:rPr>
              <a:t>Hệ thống có thể suy nghĩ như người </a:t>
            </a:r>
          </a:p>
          <a:p>
            <a:pPr lvl="1">
              <a:lnSpc>
                <a:spcPct val="100000"/>
              </a:lnSpc>
            </a:pPr>
            <a:r>
              <a:rPr lang="vi-VN" sz="2400">
                <a:solidFill>
                  <a:schemeClr val="accent2">
                    <a:lumMod val="75000"/>
                  </a:schemeClr>
                </a:solidFill>
                <a:latin typeface="Calibri" panose="020F0502020204030204" pitchFamily="34" charset="0"/>
                <a:cs typeface="Calibri" panose="020F0502020204030204" pitchFamily="34" charset="0"/>
              </a:rPr>
              <a:t>Hệ thống có thể suy nghĩ hợp lý </a:t>
            </a:r>
          </a:p>
          <a:p>
            <a:pPr lvl="1">
              <a:lnSpc>
                <a:spcPct val="100000"/>
              </a:lnSpc>
            </a:pPr>
            <a:r>
              <a:rPr lang="vi-VN" sz="2400">
                <a:solidFill>
                  <a:schemeClr val="accent2">
                    <a:lumMod val="75000"/>
                  </a:schemeClr>
                </a:solidFill>
                <a:latin typeface="Calibri" panose="020F0502020204030204" pitchFamily="34" charset="0"/>
                <a:cs typeface="Calibri" panose="020F0502020204030204" pitchFamily="34" charset="0"/>
              </a:rPr>
              <a:t>Hệ thống hành động hợp lý</a:t>
            </a:r>
            <a:endParaRPr lang="en-US" sz="2400">
              <a:solidFill>
                <a:schemeClr val="accent2">
                  <a:lumMod val="75000"/>
                </a:schemeClr>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548058C-AD78-B145-ACE7-D6ACFE8A05E9}"/>
              </a:ext>
            </a:extLst>
          </p:cNvPr>
          <p:cNvSpPr>
            <a:spLocks noGrp="1"/>
          </p:cNvSpPr>
          <p:nvPr>
            <p:ph type="sldNum" sz="quarter" idx="12"/>
          </p:nvPr>
        </p:nvSpPr>
        <p:spPr/>
        <p:txBody>
          <a:bodyPr/>
          <a:lstStyle/>
          <a:p>
            <a:fld id="{DA8C51A7-BEEA-471D-933F-7E35BC04A30F}" type="slidenum">
              <a:rPr lang="en-US"/>
              <a:pPr/>
              <a:t>6</a:t>
            </a:fld>
            <a:endParaRPr lang="en-US"/>
          </a:p>
        </p:txBody>
      </p:sp>
    </p:spTree>
    <p:extLst>
      <p:ext uri="{BB962C8B-B14F-4D97-AF65-F5344CB8AC3E}">
        <p14:creationId xmlns:p14="http://schemas.microsoft.com/office/powerpoint/2010/main" val="2070549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001B-384F-1045-BEEC-23E667C3F5C2}"/>
              </a:ext>
            </a:extLst>
          </p:cNvPr>
          <p:cNvSpPr>
            <a:spLocks noGrp="1"/>
          </p:cNvSpPr>
          <p:nvPr>
            <p:ph type="title"/>
          </p:nvPr>
        </p:nvSpPr>
        <p:spPr/>
        <p:txBody>
          <a:bodyPr/>
          <a:lstStyle/>
          <a:p>
            <a:r>
              <a:rPr lang="en-US" dirty="0"/>
              <a:t>3. Khái niệm trí tuệ nhân tạo (t)</a:t>
            </a:r>
            <a:endParaRPr lang="en-US"/>
          </a:p>
        </p:txBody>
      </p:sp>
      <p:sp>
        <p:nvSpPr>
          <p:cNvPr id="3" name="Content Placeholder 2">
            <a:extLst>
              <a:ext uri="{FF2B5EF4-FFF2-40B4-BE49-F238E27FC236}">
                <a16:creationId xmlns:a16="http://schemas.microsoft.com/office/drawing/2014/main" id="{D06C7906-74BB-0748-9B63-424BA74CC6E5}"/>
              </a:ext>
            </a:extLst>
          </p:cNvPr>
          <p:cNvSpPr>
            <a:spLocks noGrp="1"/>
          </p:cNvSpPr>
          <p:nvPr>
            <p:ph idx="1"/>
          </p:nvPr>
        </p:nvSpPr>
        <p:spPr>
          <a:xfrm>
            <a:off x="1041822" y="2716161"/>
            <a:ext cx="8292504" cy="3406751"/>
          </a:xfrm>
        </p:spPr>
        <p:txBody>
          <a:bodyPr/>
          <a:lstStyle/>
          <a:p>
            <a:r>
              <a:rPr lang="vi-VN" sz="2400">
                <a:latin typeface="Calibri" panose="020F0502020204030204" pitchFamily="34" charset="0"/>
                <a:cs typeface="Calibri" panose="020F0502020204030204" pitchFamily="34" charset="0"/>
              </a:rPr>
              <a:t>Lấy con người làm thước đo khi đánh giá mức độ thông minh của máy tính.</a:t>
            </a:r>
          </a:p>
          <a:p>
            <a:r>
              <a:rPr lang="vi-VN" sz="2400">
                <a:latin typeface="Calibri" panose="020F0502020204030204" pitchFamily="34" charset="0"/>
                <a:cs typeface="Calibri" panose="020F0502020204030204" pitchFamily="34" charset="0"/>
              </a:rPr>
              <a:t>AI Methodology: Thực hiện các nhiệm vụ mà con người làm tốt hơn, ví dụ:</a:t>
            </a:r>
          </a:p>
          <a:p>
            <a:pPr lvl="1" eaLnBrk="1" hangingPunct="1">
              <a:buClr>
                <a:srgbClr val="3333CC"/>
              </a:buClr>
              <a:buFontTx/>
              <a:buChar char="•"/>
            </a:pPr>
            <a:r>
              <a:rPr lang="vi-VN" sz="1800"/>
              <a:t>Chứng minh một định lý </a:t>
            </a:r>
          </a:p>
          <a:p>
            <a:pPr lvl="1" eaLnBrk="1" hangingPunct="1">
              <a:buClr>
                <a:srgbClr val="3333CC"/>
              </a:buClr>
              <a:buFontTx/>
              <a:buChar char="•"/>
            </a:pPr>
            <a:r>
              <a:rPr lang="vi-VN" sz="1800"/>
              <a:t>Chơi cờ </a:t>
            </a:r>
          </a:p>
          <a:p>
            <a:pPr lvl="1" eaLnBrk="1" hangingPunct="1">
              <a:buClr>
                <a:srgbClr val="3333CC"/>
              </a:buClr>
              <a:buFontTx/>
              <a:buChar char="•"/>
            </a:pPr>
            <a:r>
              <a:rPr lang="vi-VN" sz="1800"/>
              <a:t>Chẩn đoán bệnh </a:t>
            </a:r>
          </a:p>
          <a:p>
            <a:pPr lvl="1" eaLnBrk="1" hangingPunct="1">
              <a:buClr>
                <a:srgbClr val="3333CC"/>
              </a:buClr>
              <a:buFontTx/>
              <a:buChar char="•"/>
            </a:pPr>
            <a:r>
              <a:rPr lang="vi-VN" sz="1800"/>
              <a:t>Chỉ đường</a:t>
            </a:r>
            <a:endParaRPr lang="vi-VN" sz="2400">
              <a:latin typeface="Calibri" panose="020F0502020204030204" pitchFamily="34" charset="0"/>
              <a:cs typeface="Calibri" panose="020F0502020204030204" pitchFamily="34" charset="0"/>
            </a:endParaRPr>
          </a:p>
          <a:p>
            <a:r>
              <a:rPr lang="en-US" sz="2400">
                <a:latin typeface="Calibri" panose="020F0502020204030204" pitchFamily="34" charset="0"/>
                <a:cs typeface="Calibri" panose="020F0502020204030204" pitchFamily="34" charset="0"/>
              </a:rPr>
              <a:t>Và xây dựng một hệ thống máy tính thực hiện các nhiệm vụ đó tự động</a:t>
            </a:r>
          </a:p>
        </p:txBody>
      </p:sp>
      <p:sp>
        <p:nvSpPr>
          <p:cNvPr id="4" name="Slide Number Placeholder 3">
            <a:extLst>
              <a:ext uri="{FF2B5EF4-FFF2-40B4-BE49-F238E27FC236}">
                <a16:creationId xmlns:a16="http://schemas.microsoft.com/office/drawing/2014/main" id="{1548058C-AD78-B145-ACE7-D6ACFE8A05E9}"/>
              </a:ext>
            </a:extLst>
          </p:cNvPr>
          <p:cNvSpPr>
            <a:spLocks noGrp="1"/>
          </p:cNvSpPr>
          <p:nvPr>
            <p:ph type="sldNum" sz="quarter" idx="12"/>
          </p:nvPr>
        </p:nvSpPr>
        <p:spPr/>
        <p:txBody>
          <a:bodyPr/>
          <a:lstStyle/>
          <a:p>
            <a:fld id="{DA8C51A7-BEEA-471D-933F-7E35BC04A30F}" type="slidenum">
              <a:rPr lang="en-US"/>
              <a:pPr/>
              <a:t>7</a:t>
            </a:fld>
            <a:endParaRPr lang="en-US"/>
          </a:p>
        </p:txBody>
      </p:sp>
      <p:sp>
        <p:nvSpPr>
          <p:cNvPr id="5" name="Rectangle 7">
            <a:extLst>
              <a:ext uri="{FF2B5EF4-FFF2-40B4-BE49-F238E27FC236}">
                <a16:creationId xmlns:a16="http://schemas.microsoft.com/office/drawing/2014/main" id="{16D386B6-2981-4845-8A2B-A4F15E8EF563}"/>
              </a:ext>
            </a:extLst>
          </p:cNvPr>
          <p:cNvSpPr>
            <a:spLocks noChangeArrowheads="1"/>
          </p:cNvSpPr>
          <p:nvPr/>
        </p:nvSpPr>
        <p:spPr bwMode="auto">
          <a:xfrm>
            <a:off x="1699816" y="1416222"/>
            <a:ext cx="3492500" cy="1066800"/>
          </a:xfrm>
          <a:prstGeom prst="rect">
            <a:avLst/>
          </a:prstGeom>
          <a:solidFill>
            <a:srgbClr val="DAE3FE"/>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624529EC-C739-D74A-B342-703E1535822F}"/>
              </a:ext>
            </a:extLst>
          </p:cNvPr>
          <p:cNvSpPr>
            <a:spLocks noChangeArrowheads="1"/>
          </p:cNvSpPr>
          <p:nvPr/>
        </p:nvSpPr>
        <p:spPr bwMode="auto">
          <a:xfrm>
            <a:off x="5192316" y="1416222"/>
            <a:ext cx="3519488" cy="1066800"/>
          </a:xfrm>
          <a:prstGeom prst="rect">
            <a:avLst/>
          </a:prstGeom>
          <a:solidFill>
            <a:srgbClr val="FFFF99"/>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7" name="Group 9">
            <a:extLst>
              <a:ext uri="{FF2B5EF4-FFF2-40B4-BE49-F238E27FC236}">
                <a16:creationId xmlns:a16="http://schemas.microsoft.com/office/drawing/2014/main" id="{7ACE119C-B8AA-984F-B1BD-8343D45DC05A}"/>
              </a:ext>
            </a:extLst>
          </p:cNvPr>
          <p:cNvGraphicFramePr>
            <a:graphicFrameLocks noGrp="1"/>
          </p:cNvGraphicFramePr>
          <p:nvPr>
            <p:extLst>
              <p:ext uri="{D42A27DB-BD31-4B8C-83A1-F6EECF244321}">
                <p14:modId xmlns:p14="http://schemas.microsoft.com/office/powerpoint/2010/main" val="1884968727"/>
              </p:ext>
            </p:extLst>
          </p:nvPr>
        </p:nvGraphicFramePr>
        <p:xfrm>
          <a:off x="1687116" y="1416222"/>
          <a:ext cx="7018338" cy="1074738"/>
        </p:xfrm>
        <a:graphic>
          <a:graphicData uri="http://schemas.openxmlformats.org/drawingml/2006/table">
            <a:tbl>
              <a:tblPr/>
              <a:tblGrid>
                <a:gridCol w="3509963">
                  <a:extLst>
                    <a:ext uri="{9D8B030D-6E8A-4147-A177-3AD203B41FA5}">
                      <a16:colId xmlns:a16="http://schemas.microsoft.com/office/drawing/2014/main" val="20000"/>
                    </a:ext>
                  </a:extLst>
                </a:gridCol>
                <a:gridCol w="3508375">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accent2"/>
                          </a:solidFill>
                          <a:latin typeface="Calibri" panose="020F0502020204030204" pitchFamily="34" charset="0"/>
                          <a:cs typeface="Calibri" panose="020F0502020204030204" pitchFamily="34" charset="0"/>
                        </a:rPr>
                        <a:t>Hành động như người</a:t>
                      </a:r>
                      <a:endParaRPr kumimoji="0" lang="en-US" sz="2800" b="0" i="0" u="none" strike="noStrike" cap="none" normalizeH="0" baseline="0">
                        <a:ln>
                          <a:noFill/>
                        </a:ln>
                        <a:solidFill>
                          <a:schemeClr val="accent2"/>
                        </a:solidFill>
                        <a:effectLst/>
                        <a:latin typeface="Comic Sans MS" pitchFamily="66"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vi-VN" sz="2800">
                          <a:solidFill>
                            <a:schemeClr val="tx1">
                              <a:lumMod val="50000"/>
                              <a:lumOff val="50000"/>
                            </a:schemeClr>
                          </a:solidFill>
                          <a:latin typeface="Calibri" panose="020F0502020204030204" pitchFamily="34" charset="0"/>
                          <a:cs typeface="Calibri" panose="020F0502020204030204" pitchFamily="34" charset="0"/>
                        </a:rPr>
                        <a:t>Suy nghĩ hợp lý </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tx1">
                              <a:lumMod val="50000"/>
                              <a:lumOff val="50000"/>
                            </a:schemeClr>
                          </a:solidFill>
                          <a:latin typeface="Calibri" panose="020F0502020204030204" pitchFamily="34" charset="0"/>
                          <a:cs typeface="Calibri" panose="020F0502020204030204" pitchFamily="34" charset="0"/>
                        </a:rPr>
                        <a:t>Suy nghĩ như người </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tx1">
                              <a:lumMod val="50000"/>
                              <a:lumOff val="50000"/>
                            </a:schemeClr>
                          </a:solidFill>
                          <a:latin typeface="Calibri" panose="020F0502020204030204" pitchFamily="34" charset="0"/>
                          <a:cs typeface="Calibri" panose="020F0502020204030204" pitchFamily="34" charset="0"/>
                        </a:rPr>
                        <a:t>Hành động hợp lý</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97056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7C224-72ED-EE41-BA00-CF9B645653CF}"/>
              </a:ext>
            </a:extLst>
          </p:cNvPr>
          <p:cNvSpPr>
            <a:spLocks noGrp="1"/>
          </p:cNvSpPr>
          <p:nvPr>
            <p:ph type="title"/>
          </p:nvPr>
        </p:nvSpPr>
        <p:spPr/>
        <p:txBody>
          <a:bodyPr/>
          <a:lstStyle/>
          <a:p>
            <a:r>
              <a:rPr lang="en-US" dirty="0" err="1"/>
              <a:t>Phép</a:t>
            </a:r>
            <a:r>
              <a:rPr lang="en-US" dirty="0"/>
              <a:t> </a:t>
            </a:r>
            <a:r>
              <a:rPr lang="en-US" dirty="0" err="1"/>
              <a:t>thử</a:t>
            </a:r>
            <a:r>
              <a:rPr lang="en-US" dirty="0"/>
              <a:t> turning (Turning test)</a:t>
            </a:r>
          </a:p>
        </p:txBody>
      </p:sp>
      <p:sp>
        <p:nvSpPr>
          <p:cNvPr id="3" name="Content Placeholder 2">
            <a:extLst>
              <a:ext uri="{FF2B5EF4-FFF2-40B4-BE49-F238E27FC236}">
                <a16:creationId xmlns:a16="http://schemas.microsoft.com/office/drawing/2014/main" id="{BD967D9D-6377-CC4C-89CE-69D8C20141C5}"/>
              </a:ext>
            </a:extLst>
          </p:cNvPr>
          <p:cNvSpPr>
            <a:spLocks noGrp="1"/>
          </p:cNvSpPr>
          <p:nvPr>
            <p:ph idx="1"/>
          </p:nvPr>
        </p:nvSpPr>
        <p:spPr>
          <a:xfrm>
            <a:off x="706438" y="2636911"/>
            <a:ext cx="8874125" cy="3540051"/>
          </a:xfrm>
        </p:spPr>
        <p:txBody>
          <a:bodyPr/>
          <a:lstStyle/>
          <a:p>
            <a:r>
              <a:rPr lang="en-US" sz="2400" dirty="0" err="1"/>
              <a:t>Đưa</a:t>
            </a:r>
            <a:r>
              <a:rPr lang="en-US" sz="2400" dirty="0"/>
              <a:t> ra </a:t>
            </a:r>
            <a:r>
              <a:rPr lang="en-US" sz="2400" dirty="0" err="1"/>
              <a:t>vào</a:t>
            </a:r>
            <a:r>
              <a:rPr lang="en-US" sz="2400" dirty="0"/>
              <a:t> </a:t>
            </a:r>
            <a:r>
              <a:rPr lang="en-US" sz="2400" dirty="0" err="1"/>
              <a:t>năm</a:t>
            </a:r>
            <a:r>
              <a:rPr lang="en-US" sz="2400" dirty="0"/>
              <a:t> 1950 </a:t>
            </a:r>
            <a:r>
              <a:rPr lang="en-US" sz="2400" dirty="0" err="1"/>
              <a:t>bởi</a:t>
            </a:r>
            <a:r>
              <a:rPr lang="en-US" sz="2400" dirty="0"/>
              <a:t> Alan Turning – </a:t>
            </a:r>
            <a:r>
              <a:rPr lang="en-US" sz="2400" dirty="0" err="1"/>
              <a:t>nhà</a:t>
            </a:r>
            <a:r>
              <a:rPr lang="en-US" sz="2400" dirty="0"/>
              <a:t> </a:t>
            </a:r>
            <a:r>
              <a:rPr lang="en-US" sz="2400" dirty="0" err="1"/>
              <a:t>toán</a:t>
            </a:r>
            <a:r>
              <a:rPr lang="en-US" sz="2400" dirty="0"/>
              <a:t> </a:t>
            </a:r>
            <a:r>
              <a:rPr lang="en-US" sz="2400" dirty="0" err="1"/>
              <a:t>học</a:t>
            </a:r>
            <a:r>
              <a:rPr lang="en-US" sz="2400" dirty="0"/>
              <a:t> </a:t>
            </a:r>
            <a:r>
              <a:rPr lang="en-US" sz="2400" dirty="0" err="1"/>
              <a:t>người</a:t>
            </a:r>
            <a:r>
              <a:rPr lang="en-US" sz="2400" dirty="0"/>
              <a:t> Anh.</a:t>
            </a:r>
          </a:p>
          <a:p>
            <a:r>
              <a:rPr lang="en-US" sz="2400" dirty="0" err="1"/>
              <a:t>Xây</a:t>
            </a:r>
            <a:r>
              <a:rPr lang="en-US" sz="2400" dirty="0"/>
              <a:t> </a:t>
            </a:r>
            <a:r>
              <a:rPr lang="en-US" sz="2400" dirty="0" err="1"/>
              <a:t>dựng</a:t>
            </a:r>
            <a:r>
              <a:rPr lang="en-US" sz="2400" dirty="0"/>
              <a:t> </a:t>
            </a:r>
            <a:r>
              <a:rPr lang="en-US" sz="2400" dirty="0" err="1"/>
              <a:t>thủ</a:t>
            </a:r>
            <a:r>
              <a:rPr lang="en-US" sz="2400" dirty="0"/>
              <a:t> </a:t>
            </a:r>
            <a:r>
              <a:rPr lang="en-US" sz="2400" dirty="0" err="1"/>
              <a:t>tục</a:t>
            </a:r>
            <a:r>
              <a:rPr lang="en-US" sz="2400" dirty="0"/>
              <a:t> </a:t>
            </a:r>
            <a:r>
              <a:rPr lang="en-US" sz="2400" dirty="0" err="1"/>
              <a:t>cho</a:t>
            </a:r>
            <a:r>
              <a:rPr lang="en-US" sz="2400" dirty="0"/>
              <a:t> </a:t>
            </a:r>
            <a:r>
              <a:rPr lang="en-US" sz="2400" dirty="0" err="1"/>
              <a:t>phép</a:t>
            </a:r>
            <a:r>
              <a:rPr lang="en-US" sz="2400" dirty="0"/>
              <a:t> </a:t>
            </a:r>
            <a:r>
              <a:rPr lang="en-US" sz="2400" dirty="0" err="1"/>
              <a:t>định</a:t>
            </a:r>
            <a:r>
              <a:rPr lang="en-US" sz="2400" dirty="0"/>
              <a:t> </a:t>
            </a:r>
            <a:r>
              <a:rPr lang="en-US" sz="2400" dirty="0" err="1"/>
              <a:t>nghĩa</a:t>
            </a:r>
            <a:r>
              <a:rPr lang="en-US" sz="2400" dirty="0"/>
              <a:t> </a:t>
            </a:r>
            <a:r>
              <a:rPr lang="en-US" sz="2400" dirty="0" err="1"/>
              <a:t>trí</a:t>
            </a:r>
            <a:r>
              <a:rPr lang="en-US" sz="2400" dirty="0"/>
              <a:t> </a:t>
            </a:r>
            <a:r>
              <a:rPr lang="en-US" sz="2400" dirty="0" err="1"/>
              <a:t>tuệ</a:t>
            </a:r>
            <a:r>
              <a:rPr lang="en-US" sz="2400" dirty="0"/>
              <a:t>.</a:t>
            </a:r>
          </a:p>
          <a:p>
            <a:r>
              <a:rPr lang="en-US" sz="2400" dirty="0" err="1"/>
              <a:t>Người</a:t>
            </a:r>
            <a:r>
              <a:rPr lang="en-US" sz="2400" dirty="0"/>
              <a:t> </a:t>
            </a:r>
            <a:r>
              <a:rPr lang="en-US" sz="2400" dirty="0" err="1"/>
              <a:t>hỏi</a:t>
            </a:r>
            <a:r>
              <a:rPr lang="en-US" sz="2400" dirty="0"/>
              <a:t> </a:t>
            </a:r>
            <a:r>
              <a:rPr lang="en-US" sz="2400" dirty="0" err="1"/>
              <a:t>sẽ</a:t>
            </a:r>
            <a:r>
              <a:rPr lang="en-US" sz="2400" dirty="0"/>
              <a:t> </a:t>
            </a:r>
            <a:r>
              <a:rPr lang="en-US" sz="2400" dirty="0" err="1"/>
              <a:t>đặt</a:t>
            </a:r>
            <a:r>
              <a:rPr lang="en-US" sz="2400" dirty="0"/>
              <a:t> </a:t>
            </a:r>
            <a:r>
              <a:rPr lang="en-US" sz="2400" dirty="0" err="1"/>
              <a:t>câu</a:t>
            </a:r>
            <a:r>
              <a:rPr lang="en-US" sz="2400" dirty="0"/>
              <a:t> </a:t>
            </a:r>
            <a:r>
              <a:rPr lang="en-US" sz="2400" dirty="0" err="1"/>
              <a:t>hỏi</a:t>
            </a:r>
            <a:r>
              <a:rPr lang="en-US" sz="2400" dirty="0"/>
              <a:t> </a:t>
            </a:r>
            <a:r>
              <a:rPr lang="en-US" sz="2400" dirty="0" err="1"/>
              <a:t>dưới</a:t>
            </a:r>
            <a:r>
              <a:rPr lang="en-US" sz="2400" dirty="0"/>
              <a:t> </a:t>
            </a:r>
            <a:r>
              <a:rPr lang="en-US" sz="2400" dirty="0" err="1"/>
              <a:t>dạng</a:t>
            </a:r>
            <a:r>
              <a:rPr lang="en-US" sz="2400" dirty="0"/>
              <a:t> </a:t>
            </a:r>
            <a:r>
              <a:rPr lang="en-US" sz="2400" dirty="0" err="1"/>
              <a:t>văn</a:t>
            </a:r>
            <a:r>
              <a:rPr lang="en-US" sz="2400" dirty="0"/>
              <a:t> </a:t>
            </a:r>
            <a:r>
              <a:rPr lang="en-US" sz="2400" dirty="0" err="1"/>
              <a:t>bản</a:t>
            </a:r>
            <a:r>
              <a:rPr lang="en-US" sz="2400" dirty="0"/>
              <a:t> </a:t>
            </a:r>
            <a:r>
              <a:rPr lang="en-US" sz="2400" dirty="0" err="1"/>
              <a:t>và</a:t>
            </a:r>
            <a:r>
              <a:rPr lang="en-US" sz="2400" dirty="0"/>
              <a:t> </a:t>
            </a:r>
            <a:r>
              <a:rPr lang="en-US" sz="2400" dirty="0" err="1"/>
              <a:t>nhận</a:t>
            </a:r>
            <a:r>
              <a:rPr lang="en-US" sz="2400" dirty="0"/>
              <a:t> </a:t>
            </a:r>
            <a:r>
              <a:rPr lang="en-US" sz="2400" dirty="0" err="1"/>
              <a:t>câu</a:t>
            </a:r>
            <a:r>
              <a:rPr lang="en-US" sz="2400" dirty="0"/>
              <a:t> </a:t>
            </a:r>
            <a:r>
              <a:rPr lang="en-US" sz="2400" dirty="0" err="1"/>
              <a:t>trả</a:t>
            </a:r>
            <a:r>
              <a:rPr lang="en-US" sz="2400" dirty="0"/>
              <a:t> </a:t>
            </a:r>
            <a:r>
              <a:rPr lang="en-US" sz="2400" dirty="0" err="1"/>
              <a:t>lời</a:t>
            </a:r>
            <a:r>
              <a:rPr lang="en-US" sz="2400" dirty="0"/>
              <a:t> </a:t>
            </a:r>
            <a:r>
              <a:rPr lang="en-US" sz="2400" dirty="0" err="1"/>
              <a:t>dưới</a:t>
            </a:r>
            <a:r>
              <a:rPr lang="en-US" sz="2400" dirty="0"/>
              <a:t> </a:t>
            </a:r>
            <a:r>
              <a:rPr lang="en-US" sz="2400" dirty="0" err="1"/>
              <a:t>dạng</a:t>
            </a:r>
            <a:r>
              <a:rPr lang="en-US" sz="2400" dirty="0"/>
              <a:t> </a:t>
            </a:r>
            <a:r>
              <a:rPr lang="en-US" sz="2400" dirty="0" err="1"/>
              <a:t>văn</a:t>
            </a:r>
            <a:r>
              <a:rPr lang="en-US" sz="2400" dirty="0"/>
              <a:t> </a:t>
            </a:r>
            <a:r>
              <a:rPr lang="en-US" sz="2400" dirty="0" err="1"/>
              <a:t>bản</a:t>
            </a:r>
            <a:r>
              <a:rPr lang="en-US" sz="2400" dirty="0"/>
              <a:t> </a:t>
            </a:r>
            <a:r>
              <a:rPr lang="en-US" sz="2400" dirty="0" err="1"/>
              <a:t>từ</a:t>
            </a:r>
            <a:r>
              <a:rPr lang="en-US" sz="2400" dirty="0"/>
              <a:t> </a:t>
            </a:r>
            <a:r>
              <a:rPr lang="en-US" sz="2400" dirty="0" err="1"/>
              <a:t>hệ</a:t>
            </a:r>
            <a:r>
              <a:rPr lang="en-US" sz="2400" dirty="0"/>
              <a:t> </a:t>
            </a:r>
            <a:r>
              <a:rPr lang="en-US" sz="2400" dirty="0" err="1"/>
              <a:t>thống</a:t>
            </a:r>
            <a:r>
              <a:rPr lang="en-US" sz="2400" dirty="0"/>
              <a:t>.</a:t>
            </a:r>
          </a:p>
          <a:p>
            <a:r>
              <a:rPr lang="en-US" sz="2400" dirty="0" err="1"/>
              <a:t>Nếu</a:t>
            </a:r>
            <a:r>
              <a:rPr lang="en-US" sz="2400" dirty="0"/>
              <a:t> </a:t>
            </a:r>
            <a:r>
              <a:rPr lang="en-US" sz="2400" dirty="0" err="1"/>
              <a:t>người</a:t>
            </a:r>
            <a:r>
              <a:rPr lang="en-US" sz="2400" dirty="0"/>
              <a:t> </a:t>
            </a:r>
            <a:r>
              <a:rPr lang="en-US" sz="2400" dirty="0" err="1"/>
              <a:t>kiểm</a:t>
            </a:r>
            <a:r>
              <a:rPr lang="en-US" sz="2400" dirty="0"/>
              <a:t> </a:t>
            </a:r>
            <a:r>
              <a:rPr lang="en-US" sz="2400" dirty="0" err="1"/>
              <a:t>tra</a:t>
            </a:r>
            <a:r>
              <a:rPr lang="en-US" sz="2400" dirty="0"/>
              <a:t> </a:t>
            </a:r>
            <a:r>
              <a:rPr lang="en-US" sz="2400" dirty="0" err="1"/>
              <a:t>không</a:t>
            </a:r>
            <a:r>
              <a:rPr lang="en-US" sz="2400" dirty="0"/>
              <a:t> </a:t>
            </a:r>
            <a:r>
              <a:rPr lang="en-US" sz="2400" dirty="0" err="1"/>
              <a:t>phân</a:t>
            </a:r>
            <a:r>
              <a:rPr lang="en-US" sz="2400" dirty="0"/>
              <a:t> </a:t>
            </a:r>
            <a:r>
              <a:rPr lang="en-US" sz="2400" dirty="0" err="1"/>
              <a:t>biệt</a:t>
            </a:r>
            <a:r>
              <a:rPr lang="en-US" sz="2400" dirty="0"/>
              <a:t> </a:t>
            </a:r>
            <a:r>
              <a:rPr lang="en-US" sz="2400" dirty="0" err="1"/>
              <a:t>được</a:t>
            </a:r>
            <a:r>
              <a:rPr lang="en-US" sz="2400" dirty="0"/>
              <a:t> </a:t>
            </a:r>
            <a:r>
              <a:rPr lang="en-US" sz="2400" dirty="0" err="1"/>
              <a:t>câu</a:t>
            </a:r>
            <a:r>
              <a:rPr lang="en-US" sz="2400" dirty="0"/>
              <a:t> </a:t>
            </a:r>
            <a:r>
              <a:rPr lang="en-US" sz="2400" dirty="0" err="1"/>
              <a:t>trả</a:t>
            </a:r>
            <a:r>
              <a:rPr lang="en-US" sz="2400" dirty="0"/>
              <a:t> </a:t>
            </a:r>
            <a:r>
              <a:rPr lang="en-US" sz="2400" dirty="0" err="1"/>
              <a:t>lời</a:t>
            </a:r>
            <a:r>
              <a:rPr lang="en-US" sz="2400" dirty="0"/>
              <a:t> </a:t>
            </a:r>
            <a:r>
              <a:rPr lang="en-US" sz="2400" dirty="0" err="1"/>
              <a:t>là</a:t>
            </a:r>
            <a:r>
              <a:rPr lang="en-US" sz="2400" dirty="0"/>
              <a:t> do </a:t>
            </a:r>
            <a:r>
              <a:rPr lang="en-US" sz="2400" dirty="0" err="1"/>
              <a:t>người</a:t>
            </a:r>
            <a:r>
              <a:rPr lang="en-US" sz="2400" dirty="0"/>
              <a:t> hay do </a:t>
            </a:r>
            <a:r>
              <a:rPr lang="en-US" sz="2400" dirty="0" err="1"/>
              <a:t>máy</a:t>
            </a:r>
            <a:r>
              <a:rPr lang="en-US" sz="2400" dirty="0"/>
              <a:t> </a:t>
            </a:r>
            <a:r>
              <a:rPr lang="en-US" sz="2400" dirty="0" err="1"/>
              <a:t>sinh</a:t>
            </a:r>
            <a:r>
              <a:rPr lang="en-US" sz="2400" dirty="0"/>
              <a:t> ra </a:t>
            </a:r>
            <a:r>
              <a:rPr lang="en-US" sz="2400" dirty="0" err="1"/>
              <a:t>thì</a:t>
            </a:r>
            <a:r>
              <a:rPr lang="en-US" sz="2400" dirty="0"/>
              <a:t> qua </a:t>
            </a:r>
            <a:r>
              <a:rPr lang="en-US" sz="2400" dirty="0" err="1"/>
              <a:t>được</a:t>
            </a:r>
            <a:r>
              <a:rPr lang="en-US" sz="2400" dirty="0"/>
              <a:t> </a:t>
            </a:r>
            <a:r>
              <a:rPr lang="en-US" sz="2400" dirty="0" err="1"/>
              <a:t>phép</a:t>
            </a:r>
            <a:r>
              <a:rPr lang="en-US" sz="2400" dirty="0"/>
              <a:t> </a:t>
            </a:r>
            <a:r>
              <a:rPr lang="en-US" sz="2400" dirty="0" err="1"/>
              <a:t>thử</a:t>
            </a:r>
            <a:r>
              <a:rPr lang="en-US" sz="2400" dirty="0"/>
              <a:t>.</a:t>
            </a:r>
          </a:p>
          <a:p>
            <a:pPr marL="0" indent="0">
              <a:buNone/>
            </a:pPr>
            <a:r>
              <a:rPr lang="en-US" sz="2400" dirty="0">
                <a:solidFill>
                  <a:srgbClr val="C00000"/>
                </a:solidFill>
              </a:rPr>
              <a:t>	</a:t>
            </a:r>
            <a:r>
              <a:rPr lang="en-US" sz="2400" dirty="0" err="1">
                <a:solidFill>
                  <a:srgbClr val="C00000"/>
                </a:solidFill>
              </a:rPr>
              <a:t>Hệ</a:t>
            </a:r>
            <a:r>
              <a:rPr lang="en-US" sz="2400" dirty="0">
                <a:solidFill>
                  <a:srgbClr val="C00000"/>
                </a:solidFill>
              </a:rPr>
              <a:t> </a:t>
            </a:r>
            <a:r>
              <a:rPr lang="en-US" sz="2400" dirty="0" err="1">
                <a:solidFill>
                  <a:srgbClr val="C00000"/>
                </a:solidFill>
              </a:rPr>
              <a:t>thống</a:t>
            </a:r>
            <a:r>
              <a:rPr lang="en-US" sz="2400" dirty="0">
                <a:solidFill>
                  <a:srgbClr val="C00000"/>
                </a:solidFill>
              </a:rPr>
              <a:t> </a:t>
            </a:r>
            <a:r>
              <a:rPr lang="en-US" sz="2400" dirty="0" err="1">
                <a:solidFill>
                  <a:srgbClr val="C00000"/>
                </a:solidFill>
              </a:rPr>
              <a:t>được</a:t>
            </a:r>
            <a:r>
              <a:rPr lang="en-US" sz="2400" dirty="0">
                <a:solidFill>
                  <a:srgbClr val="C00000"/>
                </a:solidFill>
              </a:rPr>
              <a:t> </a:t>
            </a:r>
            <a:r>
              <a:rPr lang="en-US" sz="2400" dirty="0" err="1">
                <a:solidFill>
                  <a:srgbClr val="C00000"/>
                </a:solidFill>
              </a:rPr>
              <a:t>gọi</a:t>
            </a:r>
            <a:r>
              <a:rPr lang="en-US" sz="2400" dirty="0">
                <a:solidFill>
                  <a:srgbClr val="C00000"/>
                </a:solidFill>
              </a:rPr>
              <a:t> </a:t>
            </a:r>
            <a:r>
              <a:rPr lang="en-US" sz="2400" dirty="0" err="1">
                <a:solidFill>
                  <a:srgbClr val="C00000"/>
                </a:solidFill>
              </a:rPr>
              <a:t>là</a:t>
            </a:r>
            <a:r>
              <a:rPr lang="en-US" sz="2400" dirty="0">
                <a:solidFill>
                  <a:srgbClr val="C00000"/>
                </a:solidFill>
              </a:rPr>
              <a:t> </a:t>
            </a:r>
            <a:r>
              <a:rPr lang="en-US" sz="2400" dirty="0" err="1">
                <a:solidFill>
                  <a:srgbClr val="C00000"/>
                </a:solidFill>
              </a:rPr>
              <a:t>thông</a:t>
            </a:r>
            <a:r>
              <a:rPr lang="en-US" sz="2400" dirty="0">
                <a:solidFill>
                  <a:srgbClr val="C00000"/>
                </a:solidFill>
              </a:rPr>
              <a:t> </a:t>
            </a:r>
            <a:r>
              <a:rPr lang="en-US" sz="2400" dirty="0" err="1">
                <a:solidFill>
                  <a:srgbClr val="C00000"/>
                </a:solidFill>
              </a:rPr>
              <a:t>minh</a:t>
            </a:r>
            <a:r>
              <a:rPr lang="en-US" sz="2400" dirty="0">
                <a:solidFill>
                  <a:srgbClr val="C00000"/>
                </a:solidFill>
              </a:rPr>
              <a:t> </a:t>
            </a:r>
            <a:r>
              <a:rPr lang="en-US" sz="2400" dirty="0" err="1">
                <a:solidFill>
                  <a:srgbClr val="C00000"/>
                </a:solidFill>
              </a:rPr>
              <a:t>nếu</a:t>
            </a:r>
            <a:r>
              <a:rPr lang="en-US" sz="2400" dirty="0">
                <a:solidFill>
                  <a:srgbClr val="C00000"/>
                </a:solidFill>
              </a:rPr>
              <a:t> </a:t>
            </a:r>
            <a:r>
              <a:rPr lang="en-US" sz="2400" dirty="0" err="1">
                <a:solidFill>
                  <a:srgbClr val="C00000"/>
                </a:solidFill>
              </a:rPr>
              <a:t>hệ</a:t>
            </a:r>
            <a:r>
              <a:rPr lang="en-US" sz="2400" dirty="0">
                <a:solidFill>
                  <a:srgbClr val="C00000"/>
                </a:solidFill>
              </a:rPr>
              <a:t> </a:t>
            </a:r>
            <a:r>
              <a:rPr lang="en-US" sz="2400" dirty="0" err="1">
                <a:solidFill>
                  <a:srgbClr val="C00000"/>
                </a:solidFill>
              </a:rPr>
              <a:t>thống</a:t>
            </a:r>
            <a:r>
              <a:rPr lang="en-US" sz="2400" dirty="0">
                <a:solidFill>
                  <a:srgbClr val="C00000"/>
                </a:solidFill>
              </a:rPr>
              <a:t> </a:t>
            </a:r>
            <a:r>
              <a:rPr lang="en-US" sz="2400" dirty="0" err="1">
                <a:solidFill>
                  <a:srgbClr val="C00000"/>
                </a:solidFill>
              </a:rPr>
              <a:t>có</a:t>
            </a:r>
            <a:r>
              <a:rPr lang="en-US" sz="2400" dirty="0">
                <a:solidFill>
                  <a:srgbClr val="C00000"/>
                </a:solidFill>
              </a:rPr>
              <a:t> </a:t>
            </a:r>
            <a:r>
              <a:rPr lang="en-US" sz="2400" dirty="0" err="1">
                <a:solidFill>
                  <a:srgbClr val="C00000"/>
                </a:solidFill>
              </a:rPr>
              <a:t>thể</a:t>
            </a:r>
            <a:r>
              <a:rPr lang="en-US" sz="2400" dirty="0">
                <a:solidFill>
                  <a:srgbClr val="C00000"/>
                </a:solidFill>
              </a:rPr>
              <a:t> </a:t>
            </a:r>
            <a:r>
              <a:rPr lang="en-US" sz="2400" dirty="0" err="1">
                <a:solidFill>
                  <a:srgbClr val="C00000"/>
                </a:solidFill>
              </a:rPr>
              <a:t>hành</a:t>
            </a:r>
            <a:r>
              <a:rPr lang="en-US" sz="2400" dirty="0">
                <a:solidFill>
                  <a:srgbClr val="C00000"/>
                </a:solidFill>
              </a:rPr>
              <a:t> </a:t>
            </a:r>
            <a:r>
              <a:rPr lang="en-US" sz="2400" dirty="0" err="1">
                <a:solidFill>
                  <a:srgbClr val="C00000"/>
                </a:solidFill>
              </a:rPr>
              <a:t>động</a:t>
            </a:r>
            <a:r>
              <a:rPr lang="en-US" sz="2400" dirty="0">
                <a:solidFill>
                  <a:srgbClr val="C00000"/>
                </a:solidFill>
              </a:rPr>
              <a:t> </a:t>
            </a:r>
            <a:r>
              <a:rPr lang="en-US" sz="2400" dirty="0" err="1">
                <a:solidFill>
                  <a:srgbClr val="C00000"/>
                </a:solidFill>
              </a:rPr>
              <a:t>tương</a:t>
            </a:r>
            <a:r>
              <a:rPr lang="en-US" sz="2400" dirty="0">
                <a:solidFill>
                  <a:srgbClr val="C00000"/>
                </a:solidFill>
              </a:rPr>
              <a:t> </a:t>
            </a:r>
            <a:r>
              <a:rPr lang="en-US" sz="2400" dirty="0" err="1">
                <a:solidFill>
                  <a:srgbClr val="C00000"/>
                </a:solidFill>
              </a:rPr>
              <a:t>tự</a:t>
            </a:r>
            <a:r>
              <a:rPr lang="en-US" sz="2400" dirty="0">
                <a:solidFill>
                  <a:srgbClr val="C00000"/>
                </a:solidFill>
              </a:rPr>
              <a:t> con </a:t>
            </a:r>
            <a:r>
              <a:rPr lang="en-US" sz="2400" dirty="0" err="1">
                <a:solidFill>
                  <a:srgbClr val="C00000"/>
                </a:solidFill>
              </a:rPr>
              <a:t>người</a:t>
            </a:r>
            <a:r>
              <a:rPr lang="en-US" sz="2400" dirty="0">
                <a:solidFill>
                  <a:srgbClr val="C00000"/>
                </a:solidFill>
              </a:rPr>
              <a:t> </a:t>
            </a:r>
            <a:r>
              <a:rPr lang="en-US" sz="2400" dirty="0" err="1">
                <a:solidFill>
                  <a:srgbClr val="C00000"/>
                </a:solidFill>
              </a:rPr>
              <a:t>trong</a:t>
            </a:r>
            <a:r>
              <a:rPr lang="en-US" sz="2400" dirty="0">
                <a:solidFill>
                  <a:srgbClr val="C00000"/>
                </a:solidFill>
              </a:rPr>
              <a:t> </a:t>
            </a:r>
            <a:r>
              <a:rPr lang="en-US" sz="2400" dirty="0" err="1">
                <a:solidFill>
                  <a:srgbClr val="C00000"/>
                </a:solidFill>
              </a:rPr>
              <a:t>các</a:t>
            </a:r>
            <a:r>
              <a:rPr lang="en-US" sz="2400" dirty="0">
                <a:solidFill>
                  <a:srgbClr val="C00000"/>
                </a:solidFill>
              </a:rPr>
              <a:t> </a:t>
            </a:r>
            <a:r>
              <a:rPr lang="en-US" sz="2400" dirty="0" err="1">
                <a:solidFill>
                  <a:srgbClr val="C00000"/>
                </a:solidFill>
              </a:rPr>
              <a:t>công</a:t>
            </a:r>
            <a:r>
              <a:rPr lang="en-US" sz="2400" dirty="0">
                <a:solidFill>
                  <a:srgbClr val="C00000"/>
                </a:solidFill>
              </a:rPr>
              <a:t> </a:t>
            </a:r>
            <a:r>
              <a:rPr lang="en-US" sz="2400" dirty="0" err="1">
                <a:solidFill>
                  <a:srgbClr val="C00000"/>
                </a:solidFill>
              </a:rPr>
              <a:t>việc</a:t>
            </a:r>
            <a:r>
              <a:rPr lang="en-US" sz="2400" dirty="0">
                <a:solidFill>
                  <a:srgbClr val="C00000"/>
                </a:solidFill>
              </a:rPr>
              <a:t> </a:t>
            </a:r>
            <a:r>
              <a:rPr lang="en-US" sz="2400" dirty="0" err="1">
                <a:solidFill>
                  <a:srgbClr val="C00000"/>
                </a:solidFill>
              </a:rPr>
              <a:t>đòi</a:t>
            </a:r>
            <a:r>
              <a:rPr lang="en-US" sz="2400" dirty="0">
                <a:solidFill>
                  <a:srgbClr val="C00000"/>
                </a:solidFill>
              </a:rPr>
              <a:t> </a:t>
            </a:r>
            <a:r>
              <a:rPr lang="en-US" sz="2400" dirty="0" err="1">
                <a:solidFill>
                  <a:srgbClr val="C00000"/>
                </a:solidFill>
              </a:rPr>
              <a:t>hỏi</a:t>
            </a:r>
            <a:r>
              <a:rPr lang="en-US" sz="2400" dirty="0">
                <a:solidFill>
                  <a:srgbClr val="C00000"/>
                </a:solidFill>
              </a:rPr>
              <a:t> </a:t>
            </a:r>
            <a:r>
              <a:rPr lang="en-US" sz="2400" dirty="0" err="1">
                <a:solidFill>
                  <a:srgbClr val="C00000"/>
                </a:solidFill>
              </a:rPr>
              <a:t>trí</a:t>
            </a:r>
            <a:r>
              <a:rPr lang="en-US" sz="2400" dirty="0">
                <a:solidFill>
                  <a:srgbClr val="C00000"/>
                </a:solidFill>
              </a:rPr>
              <a:t> </a:t>
            </a:r>
            <a:r>
              <a:rPr lang="en-US" sz="2400" dirty="0" err="1">
                <a:solidFill>
                  <a:srgbClr val="C00000"/>
                </a:solidFill>
              </a:rPr>
              <a:t>tuệ</a:t>
            </a:r>
            <a:r>
              <a:rPr lang="en-US" sz="2400" dirty="0">
                <a:solidFill>
                  <a:srgbClr val="C00000"/>
                </a:solidFill>
              </a:rPr>
              <a:t>.</a:t>
            </a:r>
          </a:p>
          <a:p>
            <a:endParaRPr lang="en-US" dirty="0"/>
          </a:p>
        </p:txBody>
      </p:sp>
      <p:sp>
        <p:nvSpPr>
          <p:cNvPr id="4" name="Slide Number Placeholder 3">
            <a:extLst>
              <a:ext uri="{FF2B5EF4-FFF2-40B4-BE49-F238E27FC236}">
                <a16:creationId xmlns:a16="http://schemas.microsoft.com/office/drawing/2014/main" id="{59936851-5EB7-F74B-AC71-E4FE71B82ACD}"/>
              </a:ext>
            </a:extLst>
          </p:cNvPr>
          <p:cNvSpPr>
            <a:spLocks noGrp="1"/>
          </p:cNvSpPr>
          <p:nvPr>
            <p:ph type="sldNum" sz="quarter" idx="12"/>
          </p:nvPr>
        </p:nvSpPr>
        <p:spPr/>
        <p:txBody>
          <a:bodyPr/>
          <a:lstStyle/>
          <a:p>
            <a:fld id="{DA8C51A7-BEEA-471D-933F-7E35BC04A30F}" type="slidenum">
              <a:rPr lang="en-US"/>
              <a:pPr/>
              <a:t>8</a:t>
            </a:fld>
            <a:endParaRPr lang="en-US"/>
          </a:p>
        </p:txBody>
      </p:sp>
      <p:sp>
        <p:nvSpPr>
          <p:cNvPr id="5" name="Rectangle 7">
            <a:extLst>
              <a:ext uri="{FF2B5EF4-FFF2-40B4-BE49-F238E27FC236}">
                <a16:creationId xmlns:a16="http://schemas.microsoft.com/office/drawing/2014/main" id="{BD1FE013-4AFF-4343-8D68-1F224C27F032}"/>
              </a:ext>
            </a:extLst>
          </p:cNvPr>
          <p:cNvSpPr>
            <a:spLocks noChangeArrowheads="1"/>
          </p:cNvSpPr>
          <p:nvPr/>
        </p:nvSpPr>
        <p:spPr bwMode="auto">
          <a:xfrm>
            <a:off x="1699816" y="1416222"/>
            <a:ext cx="3492500" cy="1066800"/>
          </a:xfrm>
          <a:prstGeom prst="rect">
            <a:avLst/>
          </a:prstGeom>
          <a:solidFill>
            <a:srgbClr val="DAE3FE"/>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CBD012F0-4FC1-284F-BC53-C3D3F5E0EEDE}"/>
              </a:ext>
            </a:extLst>
          </p:cNvPr>
          <p:cNvSpPr>
            <a:spLocks noChangeArrowheads="1"/>
          </p:cNvSpPr>
          <p:nvPr/>
        </p:nvSpPr>
        <p:spPr bwMode="auto">
          <a:xfrm>
            <a:off x="5192316" y="1416222"/>
            <a:ext cx="3519488" cy="1066800"/>
          </a:xfrm>
          <a:prstGeom prst="rect">
            <a:avLst/>
          </a:prstGeom>
          <a:solidFill>
            <a:srgbClr val="FFFF99"/>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7" name="Group 9">
            <a:extLst>
              <a:ext uri="{FF2B5EF4-FFF2-40B4-BE49-F238E27FC236}">
                <a16:creationId xmlns:a16="http://schemas.microsoft.com/office/drawing/2014/main" id="{25686820-F21A-2746-AA3E-4ECC20CB4012}"/>
              </a:ext>
            </a:extLst>
          </p:cNvPr>
          <p:cNvGraphicFramePr>
            <a:graphicFrameLocks noGrp="1"/>
          </p:cNvGraphicFramePr>
          <p:nvPr>
            <p:extLst>
              <p:ext uri="{D42A27DB-BD31-4B8C-83A1-F6EECF244321}">
                <p14:modId xmlns:p14="http://schemas.microsoft.com/office/powerpoint/2010/main" val="4154753389"/>
              </p:ext>
            </p:extLst>
          </p:nvPr>
        </p:nvGraphicFramePr>
        <p:xfrm>
          <a:off x="1687116" y="1416222"/>
          <a:ext cx="7018338" cy="1074738"/>
        </p:xfrm>
        <a:graphic>
          <a:graphicData uri="http://schemas.openxmlformats.org/drawingml/2006/table">
            <a:tbl>
              <a:tblPr/>
              <a:tblGrid>
                <a:gridCol w="3509963">
                  <a:extLst>
                    <a:ext uri="{9D8B030D-6E8A-4147-A177-3AD203B41FA5}">
                      <a16:colId xmlns:a16="http://schemas.microsoft.com/office/drawing/2014/main" val="20000"/>
                    </a:ext>
                  </a:extLst>
                </a:gridCol>
                <a:gridCol w="3508375">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accent2"/>
                          </a:solidFill>
                          <a:latin typeface="Calibri" panose="020F0502020204030204" pitchFamily="34" charset="0"/>
                          <a:cs typeface="Calibri" panose="020F0502020204030204" pitchFamily="34" charset="0"/>
                        </a:rPr>
                        <a:t>Hành động như người</a:t>
                      </a:r>
                      <a:endParaRPr kumimoji="0" lang="en-US" sz="2800" b="0" i="0" u="none" strike="noStrike" cap="none" normalizeH="0" baseline="0">
                        <a:ln>
                          <a:noFill/>
                        </a:ln>
                        <a:solidFill>
                          <a:schemeClr val="accent2"/>
                        </a:solidFill>
                        <a:effectLst/>
                        <a:latin typeface="Comic Sans MS" pitchFamily="66"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vi-VN" sz="2800">
                          <a:solidFill>
                            <a:schemeClr val="tx1">
                              <a:lumMod val="50000"/>
                              <a:lumOff val="50000"/>
                            </a:schemeClr>
                          </a:solidFill>
                          <a:latin typeface="Calibri" panose="020F0502020204030204" pitchFamily="34" charset="0"/>
                          <a:cs typeface="Calibri" panose="020F0502020204030204" pitchFamily="34" charset="0"/>
                        </a:rPr>
                        <a:t>Suy nghĩ hợp lý </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tx1">
                              <a:lumMod val="50000"/>
                              <a:lumOff val="50000"/>
                            </a:schemeClr>
                          </a:solidFill>
                          <a:latin typeface="Calibri" panose="020F0502020204030204" pitchFamily="34" charset="0"/>
                          <a:cs typeface="Calibri" panose="020F0502020204030204" pitchFamily="34" charset="0"/>
                        </a:rPr>
                        <a:t>Suy nghĩ như người </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tx1">
                              <a:lumMod val="50000"/>
                              <a:lumOff val="50000"/>
                            </a:schemeClr>
                          </a:solidFill>
                          <a:latin typeface="Calibri" panose="020F0502020204030204" pitchFamily="34" charset="0"/>
                          <a:cs typeface="Calibri" panose="020F0502020204030204" pitchFamily="34" charset="0"/>
                        </a:rPr>
                        <a:t>Hành động hợp lý</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Right Arrow 7">
            <a:extLst>
              <a:ext uri="{FF2B5EF4-FFF2-40B4-BE49-F238E27FC236}">
                <a16:creationId xmlns:a16="http://schemas.microsoft.com/office/drawing/2014/main" id="{06E9B7B1-96D0-784F-9778-D872C3B48D2B}"/>
              </a:ext>
            </a:extLst>
          </p:cNvPr>
          <p:cNvSpPr/>
          <p:nvPr/>
        </p:nvSpPr>
        <p:spPr>
          <a:xfrm>
            <a:off x="967036" y="5085184"/>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979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001B-384F-1045-BEEC-23E667C3F5C2}"/>
              </a:ext>
            </a:extLst>
          </p:cNvPr>
          <p:cNvSpPr>
            <a:spLocks noGrp="1"/>
          </p:cNvSpPr>
          <p:nvPr>
            <p:ph type="title"/>
          </p:nvPr>
        </p:nvSpPr>
        <p:spPr/>
        <p:txBody>
          <a:bodyPr/>
          <a:lstStyle/>
          <a:p>
            <a:r>
              <a:rPr lang="en-US" dirty="0"/>
              <a:t>Khái niệm trí tuệ nhân tạo</a:t>
            </a:r>
            <a:endParaRPr lang="en-US"/>
          </a:p>
        </p:txBody>
      </p:sp>
      <p:sp>
        <p:nvSpPr>
          <p:cNvPr id="3" name="Content Placeholder 2">
            <a:extLst>
              <a:ext uri="{FF2B5EF4-FFF2-40B4-BE49-F238E27FC236}">
                <a16:creationId xmlns:a16="http://schemas.microsoft.com/office/drawing/2014/main" id="{D06C7906-74BB-0748-9B63-424BA74CC6E5}"/>
              </a:ext>
            </a:extLst>
          </p:cNvPr>
          <p:cNvSpPr>
            <a:spLocks noGrp="1"/>
          </p:cNvSpPr>
          <p:nvPr>
            <p:ph idx="1"/>
          </p:nvPr>
        </p:nvSpPr>
        <p:spPr>
          <a:xfrm>
            <a:off x="1201886" y="2712341"/>
            <a:ext cx="8046070" cy="3406751"/>
          </a:xfrm>
        </p:spPr>
        <p:txBody>
          <a:bodyPr/>
          <a:lstStyle/>
          <a:p>
            <a:r>
              <a:rPr lang="vi-VN" sz="2400">
                <a:latin typeface="Calibri" panose="020F0502020204030204" pitchFamily="34" charset="0"/>
                <a:cs typeface="Calibri" panose="020F0502020204030204" pitchFamily="34" charset="0"/>
              </a:rPr>
              <a:t>Hành động thông minh chỉ đạt được nếu được dẫn dắt bởi quá trình suy nghĩ tương tự quá trình suy nghĩ của con người</a:t>
            </a:r>
          </a:p>
          <a:p>
            <a:r>
              <a:rPr lang="vi-VN" sz="2400">
                <a:latin typeface="Calibri" panose="020F0502020204030204" pitchFamily="34" charset="0"/>
                <a:cs typeface="Calibri" panose="020F0502020204030204" pitchFamily="34" charset="0"/>
              </a:rPr>
              <a:t>Nghiên cứu xem trí tuệ con người là gì, thông qua các phương pháp: </a:t>
            </a:r>
          </a:p>
          <a:p>
            <a:pPr marL="842962" lvl="1" indent="-457200">
              <a:buFont typeface="+mj-lt"/>
              <a:buAutoNum type="arabicPeriod"/>
            </a:pPr>
            <a:r>
              <a:rPr lang="vi-VN" sz="2100">
                <a:latin typeface="Calibri" panose="020F0502020204030204" pitchFamily="34" charset="0"/>
                <a:cs typeface="Calibri" panose="020F0502020204030204" pitchFamily="34" charset="0"/>
              </a:rPr>
              <a:t>Thực nghiệm về hành vi con người khi suy nghĩ hoặc giải quyết vấn đề. </a:t>
            </a:r>
          </a:p>
          <a:p>
            <a:pPr marL="842962" lvl="1" indent="-457200">
              <a:buFont typeface="+mj-lt"/>
              <a:buAutoNum type="arabicPeriod"/>
            </a:pPr>
            <a:r>
              <a:rPr lang="vi-VN" sz="2100">
                <a:latin typeface="Calibri" panose="020F0502020204030204" pitchFamily="34" charset="0"/>
                <a:cs typeface="Calibri" panose="020F0502020204030204" pitchFamily="34" charset="0"/>
              </a:rPr>
              <a:t>Chụp ảnh sóng não, đo tín hiệu điện từ hoặc các tín hiệu khác của não trong quá trình thực hiện các công việc khác nhau.</a:t>
            </a:r>
          </a:p>
          <a:p>
            <a:pPr marL="842962" lvl="1" indent="-457200">
              <a:buFont typeface="+mj-lt"/>
              <a:buAutoNum type="arabicPeriod"/>
            </a:pPr>
            <a:r>
              <a:rPr lang="vi-VN" sz="2100">
                <a:latin typeface="Calibri" panose="020F0502020204030204" pitchFamily="34" charset="0"/>
                <a:cs typeface="Calibri" panose="020F0502020204030204" pitchFamily="34" charset="0"/>
              </a:rPr>
              <a:t>Sử dụng các phương pháp nơ ron sinh học khác như kích thích não, giải phẫu não v.v</a:t>
            </a:r>
            <a:endParaRPr lang="en-US" sz="210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548058C-AD78-B145-ACE7-D6ACFE8A05E9}"/>
              </a:ext>
            </a:extLst>
          </p:cNvPr>
          <p:cNvSpPr>
            <a:spLocks noGrp="1"/>
          </p:cNvSpPr>
          <p:nvPr>
            <p:ph type="sldNum" sz="quarter" idx="12"/>
          </p:nvPr>
        </p:nvSpPr>
        <p:spPr/>
        <p:txBody>
          <a:bodyPr/>
          <a:lstStyle/>
          <a:p>
            <a:fld id="{DA8C51A7-BEEA-471D-933F-7E35BC04A30F}" type="slidenum">
              <a:rPr lang="en-US"/>
              <a:pPr/>
              <a:t>9</a:t>
            </a:fld>
            <a:endParaRPr lang="en-US"/>
          </a:p>
        </p:txBody>
      </p:sp>
      <p:sp>
        <p:nvSpPr>
          <p:cNvPr id="5" name="Rectangle 7">
            <a:extLst>
              <a:ext uri="{FF2B5EF4-FFF2-40B4-BE49-F238E27FC236}">
                <a16:creationId xmlns:a16="http://schemas.microsoft.com/office/drawing/2014/main" id="{16D386B6-2981-4845-8A2B-A4F15E8EF563}"/>
              </a:ext>
            </a:extLst>
          </p:cNvPr>
          <p:cNvSpPr>
            <a:spLocks noChangeArrowheads="1"/>
          </p:cNvSpPr>
          <p:nvPr/>
        </p:nvSpPr>
        <p:spPr bwMode="auto">
          <a:xfrm>
            <a:off x="1699816" y="1416222"/>
            <a:ext cx="3492500" cy="1066800"/>
          </a:xfrm>
          <a:prstGeom prst="rect">
            <a:avLst/>
          </a:prstGeom>
          <a:solidFill>
            <a:srgbClr val="DAE3FE"/>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624529EC-C739-D74A-B342-703E1535822F}"/>
              </a:ext>
            </a:extLst>
          </p:cNvPr>
          <p:cNvSpPr>
            <a:spLocks noChangeArrowheads="1"/>
          </p:cNvSpPr>
          <p:nvPr/>
        </p:nvSpPr>
        <p:spPr bwMode="auto">
          <a:xfrm>
            <a:off x="5192316" y="1416222"/>
            <a:ext cx="3519488" cy="1066800"/>
          </a:xfrm>
          <a:prstGeom prst="rect">
            <a:avLst/>
          </a:prstGeom>
          <a:solidFill>
            <a:srgbClr val="FFFF99"/>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7" name="Group 9">
            <a:extLst>
              <a:ext uri="{FF2B5EF4-FFF2-40B4-BE49-F238E27FC236}">
                <a16:creationId xmlns:a16="http://schemas.microsoft.com/office/drawing/2014/main" id="{7ACE119C-B8AA-984F-B1BD-8343D45DC05A}"/>
              </a:ext>
            </a:extLst>
          </p:cNvPr>
          <p:cNvGraphicFramePr>
            <a:graphicFrameLocks noGrp="1"/>
          </p:cNvGraphicFramePr>
          <p:nvPr>
            <p:extLst>
              <p:ext uri="{D42A27DB-BD31-4B8C-83A1-F6EECF244321}">
                <p14:modId xmlns:p14="http://schemas.microsoft.com/office/powerpoint/2010/main" val="1426886087"/>
              </p:ext>
            </p:extLst>
          </p:nvPr>
        </p:nvGraphicFramePr>
        <p:xfrm>
          <a:off x="1687116" y="1416222"/>
          <a:ext cx="7018338" cy="1074738"/>
        </p:xfrm>
        <a:graphic>
          <a:graphicData uri="http://schemas.openxmlformats.org/drawingml/2006/table">
            <a:tbl>
              <a:tblPr/>
              <a:tblGrid>
                <a:gridCol w="3509963">
                  <a:extLst>
                    <a:ext uri="{9D8B030D-6E8A-4147-A177-3AD203B41FA5}">
                      <a16:colId xmlns:a16="http://schemas.microsoft.com/office/drawing/2014/main" val="20000"/>
                    </a:ext>
                  </a:extLst>
                </a:gridCol>
                <a:gridCol w="3508375">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Hành động như người</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vi-VN" sz="2800">
                          <a:solidFill>
                            <a:schemeClr val="tx1">
                              <a:lumMod val="50000"/>
                              <a:lumOff val="50000"/>
                            </a:schemeClr>
                          </a:solidFill>
                          <a:latin typeface="Calibri" panose="020F0502020204030204" pitchFamily="34" charset="0"/>
                          <a:cs typeface="Calibri" panose="020F0502020204030204" pitchFamily="34" charset="0"/>
                        </a:rPr>
                        <a:t>Suy nghĩ hợp lý </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accent2"/>
                          </a:solidFill>
                          <a:latin typeface="Calibri" panose="020F0502020204030204" pitchFamily="34" charset="0"/>
                          <a:ea typeface="+mn-ea"/>
                          <a:cs typeface="Calibri" panose="020F0502020204030204" pitchFamily="34" charset="0"/>
                        </a:rPr>
                        <a:t>Suy nghĩ như người </a:t>
                      </a:r>
                      <a:endParaRPr lang="en-US" sz="2800" kern="1200">
                        <a:solidFill>
                          <a:schemeClr val="accent2"/>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tx1">
                              <a:lumMod val="50000"/>
                              <a:lumOff val="50000"/>
                            </a:schemeClr>
                          </a:solidFill>
                          <a:latin typeface="Calibri" panose="020F0502020204030204" pitchFamily="34" charset="0"/>
                          <a:cs typeface="Calibri" panose="020F0502020204030204" pitchFamily="34" charset="0"/>
                        </a:rPr>
                        <a:t>Hành động hợp lý</a:t>
                      </a:r>
                      <a:endParaRPr kumimoji="0" lang="en-US" sz="2800" b="0" i="0" u="none" strike="noStrike" cap="none" normalizeH="0" baseline="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62147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001B-384F-1045-BEEC-23E667C3F5C2}"/>
              </a:ext>
            </a:extLst>
          </p:cNvPr>
          <p:cNvSpPr>
            <a:spLocks noGrp="1"/>
          </p:cNvSpPr>
          <p:nvPr>
            <p:ph type="title"/>
          </p:nvPr>
        </p:nvSpPr>
        <p:spPr/>
        <p:txBody>
          <a:bodyPr/>
          <a:lstStyle/>
          <a:p>
            <a:r>
              <a:rPr lang="en-US" dirty="0"/>
              <a:t>Khái niệm trí tuệ nhân tạo</a:t>
            </a:r>
            <a:endParaRPr lang="en-US"/>
          </a:p>
        </p:txBody>
      </p:sp>
      <p:sp>
        <p:nvSpPr>
          <p:cNvPr id="3" name="Content Placeholder 2">
            <a:extLst>
              <a:ext uri="{FF2B5EF4-FFF2-40B4-BE49-F238E27FC236}">
                <a16:creationId xmlns:a16="http://schemas.microsoft.com/office/drawing/2014/main" id="{D06C7906-74BB-0748-9B63-424BA74CC6E5}"/>
              </a:ext>
            </a:extLst>
          </p:cNvPr>
          <p:cNvSpPr>
            <a:spLocks noGrp="1"/>
          </p:cNvSpPr>
          <p:nvPr>
            <p:ph idx="1"/>
          </p:nvPr>
        </p:nvSpPr>
        <p:spPr>
          <a:xfrm>
            <a:off x="1173250" y="2694953"/>
            <a:ext cx="8046070" cy="3406751"/>
          </a:xfrm>
        </p:spPr>
        <p:txBody>
          <a:bodyPr/>
          <a:lstStyle/>
          <a:p>
            <a:r>
              <a:rPr lang="vi-VN" sz="2400" b="1">
                <a:latin typeface="Calibri" panose="020F0502020204030204" pitchFamily="34" charset="0"/>
                <a:cs typeface="Calibri" panose="020F0502020204030204" pitchFamily="34" charset="0"/>
              </a:rPr>
              <a:t>Xây dựng hệ thống có thể lập luận dựa trên các hình thức như logic.</a:t>
            </a:r>
          </a:p>
          <a:p>
            <a:r>
              <a:rPr lang="vi-VN" sz="2400">
                <a:latin typeface="Calibri" panose="020F0502020204030204" pitchFamily="34" charset="0"/>
                <a:cs typeface="Calibri" panose="020F0502020204030204" pitchFamily="34" charset="0"/>
              </a:rPr>
              <a:t>Biểu diễn và giải quyết các bài toán bằng suy diễn logic.</a:t>
            </a:r>
          </a:p>
          <a:p>
            <a:r>
              <a:rPr lang="vi-VN" sz="2400">
                <a:solidFill>
                  <a:schemeClr val="tx1">
                    <a:lumMod val="85000"/>
                    <a:lumOff val="15000"/>
                  </a:schemeClr>
                </a:solidFill>
                <a:latin typeface="Calibri" panose="020F0502020204030204" pitchFamily="34" charset="0"/>
                <a:cs typeface="Calibri" panose="020F0502020204030204" pitchFamily="34" charset="0"/>
              </a:rPr>
              <a:t>Khó khăn trong việc mô tả hay biểu diễn các bài toán bằng cấu trúc logic:</a:t>
            </a:r>
          </a:p>
          <a:p>
            <a:r>
              <a:rPr lang="vi-VN" sz="2400">
                <a:solidFill>
                  <a:srgbClr val="BA2212"/>
                </a:solidFill>
                <a:latin typeface="Calibri" panose="020F0502020204030204" pitchFamily="34" charset="0"/>
                <a:cs typeface="Calibri" panose="020F0502020204030204" pitchFamily="34" charset="0"/>
              </a:rPr>
              <a:t>Thực tế, tri thức và thông tin về bài toán thường có yếu tố không đầy đủ, không chính xác</a:t>
            </a:r>
          </a:p>
          <a:p>
            <a:r>
              <a:rPr lang="vi-VN" sz="2400">
                <a:solidFill>
                  <a:srgbClr val="BA2212"/>
                </a:solidFill>
                <a:latin typeface="Calibri" panose="020F0502020204030204" pitchFamily="34" charset="0"/>
                <a:cs typeface="Calibri" panose="020F0502020204030204" pitchFamily="34" charset="0"/>
              </a:rPr>
              <a:t>Đòi hỏi khối lượng tính toán lớn, khó triển khai cho các bài toán thực tế.</a:t>
            </a:r>
          </a:p>
          <a:p>
            <a:endParaRPr lang="vi-VN" sz="2400">
              <a:solidFill>
                <a:srgbClr val="FF0000"/>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548058C-AD78-B145-ACE7-D6ACFE8A05E9}"/>
              </a:ext>
            </a:extLst>
          </p:cNvPr>
          <p:cNvSpPr>
            <a:spLocks noGrp="1"/>
          </p:cNvSpPr>
          <p:nvPr>
            <p:ph type="sldNum" sz="quarter" idx="12"/>
          </p:nvPr>
        </p:nvSpPr>
        <p:spPr/>
        <p:txBody>
          <a:bodyPr/>
          <a:lstStyle/>
          <a:p>
            <a:fld id="{DA8C51A7-BEEA-471D-933F-7E35BC04A30F}" type="slidenum">
              <a:rPr lang="en-US"/>
              <a:pPr/>
              <a:t>10</a:t>
            </a:fld>
            <a:endParaRPr lang="en-US"/>
          </a:p>
        </p:txBody>
      </p:sp>
      <p:sp>
        <p:nvSpPr>
          <p:cNvPr id="5" name="Rectangle 7">
            <a:extLst>
              <a:ext uri="{FF2B5EF4-FFF2-40B4-BE49-F238E27FC236}">
                <a16:creationId xmlns:a16="http://schemas.microsoft.com/office/drawing/2014/main" id="{16D386B6-2981-4845-8A2B-A4F15E8EF563}"/>
              </a:ext>
            </a:extLst>
          </p:cNvPr>
          <p:cNvSpPr>
            <a:spLocks noChangeArrowheads="1"/>
          </p:cNvSpPr>
          <p:nvPr/>
        </p:nvSpPr>
        <p:spPr bwMode="auto">
          <a:xfrm>
            <a:off x="1699816" y="1416222"/>
            <a:ext cx="3492500" cy="1066800"/>
          </a:xfrm>
          <a:prstGeom prst="rect">
            <a:avLst/>
          </a:prstGeom>
          <a:solidFill>
            <a:srgbClr val="DAE3FE"/>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624529EC-C739-D74A-B342-703E1535822F}"/>
              </a:ext>
            </a:extLst>
          </p:cNvPr>
          <p:cNvSpPr>
            <a:spLocks noChangeArrowheads="1"/>
          </p:cNvSpPr>
          <p:nvPr/>
        </p:nvSpPr>
        <p:spPr bwMode="auto">
          <a:xfrm>
            <a:off x="5192316" y="1416222"/>
            <a:ext cx="3519488" cy="1066800"/>
          </a:xfrm>
          <a:prstGeom prst="rect">
            <a:avLst/>
          </a:prstGeom>
          <a:solidFill>
            <a:srgbClr val="FFFF99"/>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7" name="Group 9">
            <a:extLst>
              <a:ext uri="{FF2B5EF4-FFF2-40B4-BE49-F238E27FC236}">
                <a16:creationId xmlns:a16="http://schemas.microsoft.com/office/drawing/2014/main" id="{7ACE119C-B8AA-984F-B1BD-8343D45DC05A}"/>
              </a:ext>
            </a:extLst>
          </p:cNvPr>
          <p:cNvGraphicFramePr>
            <a:graphicFrameLocks noGrp="1"/>
          </p:cNvGraphicFramePr>
          <p:nvPr>
            <p:extLst>
              <p:ext uri="{D42A27DB-BD31-4B8C-83A1-F6EECF244321}">
                <p14:modId xmlns:p14="http://schemas.microsoft.com/office/powerpoint/2010/main" val="96901925"/>
              </p:ext>
            </p:extLst>
          </p:nvPr>
        </p:nvGraphicFramePr>
        <p:xfrm>
          <a:off x="1687116" y="1416222"/>
          <a:ext cx="7018338" cy="1074738"/>
        </p:xfrm>
        <a:graphic>
          <a:graphicData uri="http://schemas.openxmlformats.org/drawingml/2006/table">
            <a:tbl>
              <a:tblPr/>
              <a:tblGrid>
                <a:gridCol w="3509963">
                  <a:extLst>
                    <a:ext uri="{9D8B030D-6E8A-4147-A177-3AD203B41FA5}">
                      <a16:colId xmlns:a16="http://schemas.microsoft.com/office/drawing/2014/main" val="20000"/>
                    </a:ext>
                  </a:extLst>
                </a:gridCol>
                <a:gridCol w="3508375">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Hành động như người</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vi-VN" sz="2800" dirty="0">
                          <a:solidFill>
                            <a:schemeClr val="accent2"/>
                          </a:solidFill>
                          <a:latin typeface="Calibri" panose="020F0502020204030204" pitchFamily="34" charset="0"/>
                          <a:cs typeface="Calibri" panose="020F0502020204030204" pitchFamily="34" charset="0"/>
                        </a:rPr>
                        <a:t>Suy nghĩ hợp lý </a:t>
                      </a:r>
                      <a:endParaRPr kumimoji="0" lang="en-US" sz="2800" b="0" i="0" u="none" strike="noStrike" cap="none" normalizeH="0" baseline="0" dirty="0">
                        <a:ln>
                          <a:noFill/>
                        </a:ln>
                        <a:solidFill>
                          <a:schemeClr val="accent2"/>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Suy nghĩ như người </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dirty="0">
                          <a:solidFill>
                            <a:schemeClr val="tx1">
                              <a:lumMod val="50000"/>
                              <a:lumOff val="50000"/>
                            </a:schemeClr>
                          </a:solidFill>
                          <a:latin typeface="Calibri" panose="020F0502020204030204" pitchFamily="34" charset="0"/>
                          <a:cs typeface="Calibri" panose="020F0502020204030204" pitchFamily="34" charset="0"/>
                        </a:rPr>
                        <a:t>Hành động hợp lý</a:t>
                      </a:r>
                      <a:endParaRPr kumimoji="0" lang="en-US" sz="2800" b="0" i="0" u="none" strike="noStrike" cap="none" normalizeH="0" baseline="0" dirty="0">
                        <a:ln>
                          <a:noFill/>
                        </a:ln>
                        <a:solidFill>
                          <a:schemeClr val="tx1">
                            <a:lumMod val="50000"/>
                            <a:lumOff val="50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88222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6001B-384F-1045-BEEC-23E667C3F5C2}"/>
              </a:ext>
            </a:extLst>
          </p:cNvPr>
          <p:cNvSpPr>
            <a:spLocks noGrp="1"/>
          </p:cNvSpPr>
          <p:nvPr>
            <p:ph type="title"/>
          </p:nvPr>
        </p:nvSpPr>
        <p:spPr/>
        <p:txBody>
          <a:bodyPr/>
          <a:lstStyle/>
          <a:p>
            <a:r>
              <a:rPr lang="en-US" dirty="0"/>
              <a:t>Khái niệm trí tuệ nhân tạo</a:t>
            </a:r>
            <a:endParaRPr lang="en-US"/>
          </a:p>
        </p:txBody>
      </p:sp>
      <p:sp>
        <p:nvSpPr>
          <p:cNvPr id="3" name="Content Placeholder 2">
            <a:extLst>
              <a:ext uri="{FF2B5EF4-FFF2-40B4-BE49-F238E27FC236}">
                <a16:creationId xmlns:a16="http://schemas.microsoft.com/office/drawing/2014/main" id="{D06C7906-74BB-0748-9B63-424BA74CC6E5}"/>
              </a:ext>
            </a:extLst>
          </p:cNvPr>
          <p:cNvSpPr>
            <a:spLocks noGrp="1"/>
          </p:cNvSpPr>
          <p:nvPr>
            <p:ph idx="1"/>
          </p:nvPr>
        </p:nvSpPr>
        <p:spPr>
          <a:xfrm>
            <a:off x="1173250" y="2694953"/>
            <a:ext cx="8046070" cy="3406751"/>
          </a:xfrm>
        </p:spPr>
        <p:txBody>
          <a:bodyPr/>
          <a:lstStyle/>
          <a:p>
            <a:pPr marL="228088"/>
            <a:r>
              <a:rPr lang="vi-VN" sz="2400" b="1">
                <a:latin typeface="Calibri" panose="020F0502020204030204" pitchFamily="34" charset="0"/>
                <a:cs typeface="Calibri" panose="020F0502020204030204" pitchFamily="34" charset="0"/>
              </a:rPr>
              <a:t>Tập trung xây dựng các tác tử (agent) có khả năng hành động hợp lý, </a:t>
            </a:r>
            <a:r>
              <a:rPr lang="vi-VN" sz="2400" i="1">
                <a:latin typeface="Calibri" panose="020F0502020204030204" pitchFamily="34" charset="0"/>
                <a:cs typeface="Calibri" panose="020F0502020204030204" pitchFamily="34" charset="0"/>
              </a:rPr>
              <a:t>đem lại kết quả tốt nhất hoặc kết quả kỳ vọng tốt nhất khi có yếu tố không chắc chắn</a:t>
            </a:r>
            <a:r>
              <a:rPr lang="vi-VN" sz="2400">
                <a:latin typeface="Calibri" panose="020F0502020204030204" pitchFamily="34" charset="0"/>
                <a:cs typeface="Calibri" panose="020F0502020204030204" pitchFamily="34" charset="0"/>
              </a:rPr>
              <a:t>.</a:t>
            </a:r>
          </a:p>
          <a:p>
            <a:pPr marL="228088"/>
            <a:r>
              <a:rPr lang="vi-VN" sz="2400">
                <a:solidFill>
                  <a:srgbClr val="C00000"/>
                </a:solidFill>
                <a:latin typeface="Calibri" panose="020F0502020204030204" pitchFamily="34" charset="0"/>
                <a:cs typeface="Calibri" panose="020F0502020204030204" pitchFamily="34" charset="0"/>
              </a:rPr>
              <a:t>Hành động hợp lý có thể khác với hành động giống con người.</a:t>
            </a:r>
          </a:p>
          <a:p>
            <a:pPr marL="228088"/>
            <a:r>
              <a:rPr lang="vi-VN" sz="2400">
                <a:solidFill>
                  <a:srgbClr val="C00000"/>
                </a:solidFill>
                <a:latin typeface="Calibri" panose="020F0502020204030204" pitchFamily="34" charset="0"/>
                <a:cs typeface="Calibri" panose="020F0502020204030204" pitchFamily="34" charset="0"/>
              </a:rPr>
              <a:t>Hành vi không nhất thiết phải thực hiện thông qua suy nghĩ và lý luận</a:t>
            </a:r>
          </a:p>
        </p:txBody>
      </p:sp>
      <p:sp>
        <p:nvSpPr>
          <p:cNvPr id="4" name="Slide Number Placeholder 3">
            <a:extLst>
              <a:ext uri="{FF2B5EF4-FFF2-40B4-BE49-F238E27FC236}">
                <a16:creationId xmlns:a16="http://schemas.microsoft.com/office/drawing/2014/main" id="{1548058C-AD78-B145-ACE7-D6ACFE8A05E9}"/>
              </a:ext>
            </a:extLst>
          </p:cNvPr>
          <p:cNvSpPr>
            <a:spLocks noGrp="1"/>
          </p:cNvSpPr>
          <p:nvPr>
            <p:ph type="sldNum" sz="quarter" idx="12"/>
          </p:nvPr>
        </p:nvSpPr>
        <p:spPr/>
        <p:txBody>
          <a:bodyPr/>
          <a:lstStyle/>
          <a:p>
            <a:fld id="{DA8C51A7-BEEA-471D-933F-7E35BC04A30F}" type="slidenum">
              <a:rPr lang="en-US"/>
              <a:pPr/>
              <a:t>11</a:t>
            </a:fld>
            <a:endParaRPr lang="en-US"/>
          </a:p>
        </p:txBody>
      </p:sp>
      <p:sp>
        <p:nvSpPr>
          <p:cNvPr id="5" name="Rectangle 7">
            <a:extLst>
              <a:ext uri="{FF2B5EF4-FFF2-40B4-BE49-F238E27FC236}">
                <a16:creationId xmlns:a16="http://schemas.microsoft.com/office/drawing/2014/main" id="{16D386B6-2981-4845-8A2B-A4F15E8EF563}"/>
              </a:ext>
            </a:extLst>
          </p:cNvPr>
          <p:cNvSpPr>
            <a:spLocks noChangeArrowheads="1"/>
          </p:cNvSpPr>
          <p:nvPr/>
        </p:nvSpPr>
        <p:spPr bwMode="auto">
          <a:xfrm>
            <a:off x="1699816" y="1416222"/>
            <a:ext cx="3492500" cy="1066800"/>
          </a:xfrm>
          <a:prstGeom prst="rect">
            <a:avLst/>
          </a:prstGeom>
          <a:solidFill>
            <a:srgbClr val="DAE3FE"/>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624529EC-C739-D74A-B342-703E1535822F}"/>
              </a:ext>
            </a:extLst>
          </p:cNvPr>
          <p:cNvSpPr>
            <a:spLocks noChangeArrowheads="1"/>
          </p:cNvSpPr>
          <p:nvPr/>
        </p:nvSpPr>
        <p:spPr bwMode="auto">
          <a:xfrm>
            <a:off x="5192316" y="1416222"/>
            <a:ext cx="3519488" cy="1066800"/>
          </a:xfrm>
          <a:prstGeom prst="rect">
            <a:avLst/>
          </a:prstGeom>
          <a:solidFill>
            <a:srgbClr val="FFFF99"/>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aphicFrame>
        <p:nvGraphicFramePr>
          <p:cNvPr id="7" name="Group 9">
            <a:extLst>
              <a:ext uri="{FF2B5EF4-FFF2-40B4-BE49-F238E27FC236}">
                <a16:creationId xmlns:a16="http://schemas.microsoft.com/office/drawing/2014/main" id="{7ACE119C-B8AA-984F-B1BD-8343D45DC05A}"/>
              </a:ext>
            </a:extLst>
          </p:cNvPr>
          <p:cNvGraphicFramePr>
            <a:graphicFrameLocks noGrp="1"/>
          </p:cNvGraphicFramePr>
          <p:nvPr>
            <p:extLst>
              <p:ext uri="{D42A27DB-BD31-4B8C-83A1-F6EECF244321}">
                <p14:modId xmlns:p14="http://schemas.microsoft.com/office/powerpoint/2010/main" val="3978997205"/>
              </p:ext>
            </p:extLst>
          </p:nvPr>
        </p:nvGraphicFramePr>
        <p:xfrm>
          <a:off x="1687116" y="1416222"/>
          <a:ext cx="7018338" cy="1074738"/>
        </p:xfrm>
        <a:graphic>
          <a:graphicData uri="http://schemas.openxmlformats.org/drawingml/2006/table">
            <a:tbl>
              <a:tblPr/>
              <a:tblGrid>
                <a:gridCol w="3509963">
                  <a:extLst>
                    <a:ext uri="{9D8B030D-6E8A-4147-A177-3AD203B41FA5}">
                      <a16:colId xmlns:a16="http://schemas.microsoft.com/office/drawing/2014/main" val="20000"/>
                    </a:ext>
                  </a:extLst>
                </a:gridCol>
                <a:gridCol w="3508375">
                  <a:extLst>
                    <a:ext uri="{9D8B030D-6E8A-4147-A177-3AD203B41FA5}">
                      <a16:colId xmlns:a16="http://schemas.microsoft.com/office/drawing/2014/main" val="20001"/>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Hành động như người</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Suy nghĩ hợp lý </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13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kern="1200">
                          <a:solidFill>
                            <a:schemeClr val="tx1">
                              <a:lumMod val="50000"/>
                              <a:lumOff val="50000"/>
                            </a:schemeClr>
                          </a:solidFill>
                          <a:latin typeface="Calibri" panose="020F0502020204030204" pitchFamily="34" charset="0"/>
                          <a:ea typeface="+mn-ea"/>
                          <a:cs typeface="Calibri" panose="020F0502020204030204" pitchFamily="34" charset="0"/>
                        </a:rPr>
                        <a:t>Suy nghĩ như người </a:t>
                      </a:r>
                      <a:endParaRPr lang="en-US" sz="2800" kern="1200">
                        <a:solidFill>
                          <a:schemeClr val="tx1">
                            <a:lumMod val="50000"/>
                            <a:lumOff val="50000"/>
                          </a:schemeClr>
                        </a:solidFill>
                        <a:latin typeface="Calibri" panose="020F0502020204030204" pitchFamily="34" charset="0"/>
                        <a:ea typeface="+mn-ea"/>
                        <a:cs typeface="Calibri" panose="020F050202020403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vi-VN" sz="2800">
                          <a:solidFill>
                            <a:schemeClr val="accent2">
                              <a:lumMod val="75000"/>
                            </a:schemeClr>
                          </a:solidFill>
                          <a:latin typeface="Calibri" panose="020F0502020204030204" pitchFamily="34" charset="0"/>
                          <a:cs typeface="Calibri" panose="020F0502020204030204" pitchFamily="34" charset="0"/>
                        </a:rPr>
                        <a:t>Hành động hợp lý</a:t>
                      </a:r>
                      <a:endParaRPr kumimoji="0" lang="en-US" sz="2800" b="0" i="0" u="none" strike="noStrike" cap="none" normalizeH="0" baseline="0">
                        <a:ln>
                          <a:noFill/>
                        </a:ln>
                        <a:solidFill>
                          <a:schemeClr val="accent2">
                            <a:lumMod val="75000"/>
                          </a:schemeClr>
                        </a:solidFill>
                        <a:effectLst/>
                        <a:latin typeface="Comic Sans MS" pitchFamily="66" charset="0"/>
                        <a:cs typeface="Arial"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10452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8F229-E9CF-F548-A9AD-536F61422F8B}"/>
              </a:ext>
            </a:extLst>
          </p:cNvPr>
          <p:cNvSpPr>
            <a:spLocks noGrp="1"/>
          </p:cNvSpPr>
          <p:nvPr>
            <p:ph type="title"/>
          </p:nvPr>
        </p:nvSpPr>
        <p:spPr>
          <a:xfrm>
            <a:off x="706438" y="214263"/>
            <a:ext cx="9580562" cy="1325563"/>
          </a:xfrm>
        </p:spPr>
        <p:txBody>
          <a:bodyPr/>
          <a:lstStyle/>
          <a:p>
            <a:r>
              <a:rPr lang="en-US" sz="3200"/>
              <a:t>Một số định nghĩa về TTNT trong tài liệu tham khảo</a:t>
            </a:r>
          </a:p>
        </p:txBody>
      </p:sp>
      <p:sp>
        <p:nvSpPr>
          <p:cNvPr id="3" name="Content Placeholder 2">
            <a:extLst>
              <a:ext uri="{FF2B5EF4-FFF2-40B4-BE49-F238E27FC236}">
                <a16:creationId xmlns:a16="http://schemas.microsoft.com/office/drawing/2014/main" id="{F1A20857-1A64-144A-9BC2-93F0342B34C6}"/>
              </a:ext>
            </a:extLst>
          </p:cNvPr>
          <p:cNvSpPr>
            <a:spLocks noGrp="1"/>
          </p:cNvSpPr>
          <p:nvPr>
            <p:ph idx="1"/>
          </p:nvPr>
        </p:nvSpPr>
        <p:spPr/>
        <p:txBody>
          <a:bodyPr/>
          <a:lstStyle/>
          <a:p>
            <a:r>
              <a:rPr lang="vi-VN" dirty="0"/>
              <a:t>Trí tuệ nhân tạo giúp tạo ra máy tính có khả năng suy nghĩ...máy tính có trí tuệ theo đầy đủ nghĩa của từ này (Haugeland, 1985).</a:t>
            </a:r>
          </a:p>
          <a:p>
            <a:r>
              <a:rPr lang="vi-VN" dirty="0"/>
              <a:t>Trí tuệ nhân tạo là khoa học nghiên cứu xem làm thế nào để máy tính có thể thực hiện được những công việc mà hiện con người con làm tốt hơn máy tính (Rich and Knight, 1991).</a:t>
            </a:r>
          </a:p>
          <a:p>
            <a:r>
              <a:rPr lang="vi-VN" dirty="0"/>
              <a:t>TTNT là khoa học nghiên cứu về các hoạt động trí não thông qua các mô hình tính toán (Chaniak và McDemott, 1985).</a:t>
            </a:r>
          </a:p>
          <a:p>
            <a:r>
              <a:rPr lang="vi-VN" dirty="0"/>
              <a:t>Nghiên cứu các mô hình tính toán để máy tính có thể nhận thức, lập luận, và hành động (Winston, 1992).</a:t>
            </a:r>
          </a:p>
          <a:p>
            <a:r>
              <a:rPr lang="vi-VN" dirty="0"/>
              <a:t>TTNT nghiên cứu các hành vi thông minh mô phỏng trong các vật thể nhân tạo (Nilsson 1998).</a:t>
            </a:r>
            <a:endParaRPr lang="en-US" dirty="0"/>
          </a:p>
        </p:txBody>
      </p:sp>
      <p:sp>
        <p:nvSpPr>
          <p:cNvPr id="4" name="Slide Number Placeholder 3">
            <a:extLst>
              <a:ext uri="{FF2B5EF4-FFF2-40B4-BE49-F238E27FC236}">
                <a16:creationId xmlns:a16="http://schemas.microsoft.com/office/drawing/2014/main" id="{6D3EB3DE-DC2D-AE4C-A683-D48DBC1E948F}"/>
              </a:ext>
            </a:extLst>
          </p:cNvPr>
          <p:cNvSpPr>
            <a:spLocks noGrp="1"/>
          </p:cNvSpPr>
          <p:nvPr>
            <p:ph type="sldNum" sz="quarter" idx="12"/>
          </p:nvPr>
        </p:nvSpPr>
        <p:spPr/>
        <p:txBody>
          <a:bodyPr/>
          <a:lstStyle/>
          <a:p>
            <a:fld id="{DA8C51A7-BEEA-471D-933F-7E35BC04A30F}" type="slidenum">
              <a:rPr lang="en-US"/>
              <a:pPr/>
              <a:t>12</a:t>
            </a:fld>
            <a:endParaRPr lang="en-US"/>
          </a:p>
        </p:txBody>
      </p:sp>
    </p:spTree>
    <p:extLst>
      <p:ext uri="{BB962C8B-B14F-4D97-AF65-F5344CB8AC3E}">
        <p14:creationId xmlns:p14="http://schemas.microsoft.com/office/powerpoint/2010/main" val="2448556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D092D-3A01-1A47-802F-F42A3B6FC6E5}"/>
              </a:ext>
            </a:extLst>
          </p:cNvPr>
          <p:cNvSpPr>
            <a:spLocks noGrp="1"/>
          </p:cNvSpPr>
          <p:nvPr>
            <p:ph type="title"/>
          </p:nvPr>
        </p:nvSpPr>
        <p:spPr/>
        <p:txBody>
          <a:bodyPr/>
          <a:lstStyle/>
          <a:p>
            <a:r>
              <a:rPr lang="en-US"/>
              <a:t>4. Một số ví dụ về trí tuệ nhân tạo</a:t>
            </a:r>
          </a:p>
        </p:txBody>
      </p:sp>
      <p:sp>
        <p:nvSpPr>
          <p:cNvPr id="3" name="Content Placeholder 2">
            <a:extLst>
              <a:ext uri="{FF2B5EF4-FFF2-40B4-BE49-F238E27FC236}">
                <a16:creationId xmlns:a16="http://schemas.microsoft.com/office/drawing/2014/main" id="{864DFBBC-5F22-D548-96FD-828EDAD4630B}"/>
              </a:ext>
            </a:extLst>
          </p:cNvPr>
          <p:cNvSpPr>
            <a:spLocks noGrp="1"/>
          </p:cNvSpPr>
          <p:nvPr>
            <p:ph idx="1"/>
          </p:nvPr>
        </p:nvSpPr>
        <p:spPr>
          <a:xfrm>
            <a:off x="706438" y="1412776"/>
            <a:ext cx="4030673" cy="4764187"/>
          </a:xfrm>
        </p:spPr>
        <p:txBody>
          <a:bodyPr/>
          <a:lstStyle/>
          <a:p>
            <a:r>
              <a:rPr lang="vi-VN" sz="2000" b="1" dirty="0">
                <a:latin typeface="Calibri" panose="020F0502020204030204" pitchFamily="34" charset="0"/>
                <a:cs typeface="Calibri" panose="020F0502020204030204" pitchFamily="34" charset="0"/>
              </a:rPr>
              <a:t>Dịch vụ tài chính</a:t>
            </a:r>
            <a:r>
              <a:rPr lang="vi-VN" sz="2000" dirty="0">
                <a:latin typeface="Calibri" panose="020F0502020204030204" pitchFamily="34" charset="0"/>
                <a:cs typeface="Calibri" panose="020F0502020204030204" pitchFamily="34" charset="0"/>
              </a:rPr>
              <a:t>: Chống gian lận, phân tích rủi ro</a:t>
            </a:r>
          </a:p>
          <a:p>
            <a:r>
              <a:rPr lang="vi-VN" sz="2000" b="1" dirty="0">
                <a:latin typeface="Calibri" panose="020F0502020204030204" pitchFamily="34" charset="0"/>
                <a:cs typeface="Calibri" panose="020F0502020204030204" pitchFamily="34" charset="0"/>
              </a:rPr>
              <a:t>Giao thông vận tải</a:t>
            </a:r>
            <a:r>
              <a:rPr lang="vi-VN" sz="2000" dirty="0">
                <a:latin typeface="Calibri" panose="020F0502020204030204" pitchFamily="34" charset="0"/>
                <a:cs typeface="Calibri" panose="020F0502020204030204" pitchFamily="34" charset="0"/>
              </a:rPr>
              <a:t>: Bản đồ các tuyến du lịch tốt hơn, xe tự hành, giao vận ...</a:t>
            </a:r>
          </a:p>
          <a:p>
            <a:r>
              <a:rPr lang="vi-VN" sz="2000" b="1" dirty="0">
                <a:latin typeface="Calibri" panose="020F0502020204030204" pitchFamily="34" charset="0"/>
                <a:cs typeface="Calibri" panose="020F0502020204030204" pitchFamily="34" charset="0"/>
              </a:rPr>
              <a:t>Thương mại điện tử</a:t>
            </a:r>
            <a:r>
              <a:rPr lang="vi-VN" sz="2000" dirty="0">
                <a:latin typeface="Calibri" panose="020F0502020204030204" pitchFamily="34" charset="0"/>
                <a:cs typeface="Calibri" panose="020F0502020204030204" pitchFamily="34" charset="0"/>
              </a:rPr>
              <a:t>: Công cụ khuyến nghị mua hàng. ...</a:t>
            </a:r>
          </a:p>
          <a:p>
            <a:r>
              <a:rPr lang="vi-VN" sz="2000" b="1" dirty="0">
                <a:latin typeface="Calibri" panose="020F0502020204030204" pitchFamily="34" charset="0"/>
                <a:cs typeface="Calibri" panose="020F0502020204030204" pitchFamily="34" charset="0"/>
              </a:rPr>
              <a:t>Chăm sóc sức khỏe</a:t>
            </a:r>
            <a:r>
              <a:rPr lang="vi-VN" sz="2000" dirty="0">
                <a:latin typeface="Calibri" panose="020F0502020204030204" pitchFamily="34" charset="0"/>
                <a:cs typeface="Calibri" panose="020F0502020204030204" pitchFamily="34" charset="0"/>
              </a:rPr>
              <a:t>: Robot hỗ trợ phẫu thuật, chẩn đoán bệnh. ...</a:t>
            </a:r>
          </a:p>
          <a:p>
            <a:r>
              <a:rPr lang="vi-VN" sz="2000" b="1" dirty="0">
                <a:latin typeface="Calibri" panose="020F0502020204030204" pitchFamily="34" charset="0"/>
                <a:cs typeface="Calibri" panose="020F0502020204030204" pitchFamily="34" charset="0"/>
              </a:rPr>
              <a:t>Sản xuất</a:t>
            </a:r>
            <a:r>
              <a:rPr lang="vi-VN" sz="2000" dirty="0">
                <a:latin typeface="Calibri" panose="020F0502020204030204" pitchFamily="34" charset="0"/>
                <a:cs typeface="Calibri" panose="020F0502020204030204" pitchFamily="34" charset="0"/>
              </a:rPr>
              <a:t>: Chất lượng sản phẩm được cải thiện, tối ưu quá trình sản xuất. ...</a:t>
            </a:r>
          </a:p>
          <a:p>
            <a:r>
              <a:rPr lang="vi-VN" sz="2000" b="1" dirty="0">
                <a:latin typeface="Calibri" panose="020F0502020204030204" pitchFamily="34" charset="0"/>
                <a:cs typeface="Calibri" panose="020F0502020204030204" pitchFamily="34" charset="0"/>
              </a:rPr>
              <a:t>Bán lẻ</a:t>
            </a:r>
            <a:r>
              <a:rPr lang="vi-VN" sz="2000" dirty="0">
                <a:latin typeface="Calibri" panose="020F0502020204030204" pitchFamily="34" charset="0"/>
                <a:cs typeface="Calibri" panose="020F0502020204030204" pitchFamily="34" charset="0"/>
              </a:rPr>
              <a:t>: Kệ hàng thông minh.</a:t>
            </a:r>
          </a:p>
          <a:p>
            <a:r>
              <a:rPr lang="en-US" sz="2000" b="1" dirty="0" err="1">
                <a:latin typeface="Calibri" panose="020F0502020204030204" pitchFamily="34" charset="0"/>
                <a:cs typeface="Calibri" panose="020F0502020204030204" pitchFamily="34" charset="0"/>
              </a:rPr>
              <a:t>Khám</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phá</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vũ</a:t>
            </a:r>
            <a:r>
              <a:rPr lang="en-US" sz="2000" b="1" dirty="0">
                <a:latin typeface="Calibri" panose="020F0502020204030204" pitchFamily="34" charset="0"/>
                <a:cs typeface="Calibri" panose="020F0502020204030204" pitchFamily="34" charset="0"/>
              </a:rPr>
              <a:t> </a:t>
            </a:r>
            <a:r>
              <a:rPr lang="en-US" sz="2000" b="1" dirty="0" err="1">
                <a:latin typeface="Calibri" panose="020F0502020204030204" pitchFamily="34" charset="0"/>
                <a:cs typeface="Calibri" panose="020F0502020204030204" pitchFamily="34" charset="0"/>
              </a:rPr>
              <a:t>trụ</a:t>
            </a:r>
            <a:r>
              <a:rPr lang="en-US" sz="2000" dirty="0">
                <a:latin typeface="Calibri" panose="020F0502020204030204" pitchFamily="34" charset="0"/>
                <a:cs typeface="Calibri" panose="020F0502020204030204" pitchFamily="34" charset="0"/>
              </a:rPr>
              <a:t>: Robot </a:t>
            </a:r>
            <a:r>
              <a:rPr lang="en-US" sz="2000" dirty="0" err="1">
                <a:latin typeface="Calibri" panose="020F0502020204030204" pitchFamily="34" charset="0"/>
                <a:cs typeface="Calibri" panose="020F0502020204030204" pitchFamily="34" charset="0"/>
              </a:rPr>
              <a:t>tự</a:t>
            </a: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hành</a:t>
            </a:r>
            <a:endParaRPr lang="en-US" sz="20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8DD33C87-E983-1E4A-A284-33F4C2BECBE0}"/>
              </a:ext>
            </a:extLst>
          </p:cNvPr>
          <p:cNvSpPr>
            <a:spLocks noGrp="1"/>
          </p:cNvSpPr>
          <p:nvPr>
            <p:ph type="sldNum" sz="quarter" idx="12"/>
          </p:nvPr>
        </p:nvSpPr>
        <p:spPr/>
        <p:txBody>
          <a:bodyPr/>
          <a:lstStyle/>
          <a:p>
            <a:fld id="{DA8C51A7-BEEA-471D-933F-7E35BC04A30F}" type="slidenum">
              <a:rPr lang="en-US"/>
              <a:pPr/>
              <a:t>13</a:t>
            </a:fld>
            <a:endParaRPr lang="en-US"/>
          </a:p>
        </p:txBody>
      </p:sp>
      <p:pic>
        <p:nvPicPr>
          <p:cNvPr id="5" name="Picture 2">
            <a:extLst>
              <a:ext uri="{FF2B5EF4-FFF2-40B4-BE49-F238E27FC236}">
                <a16:creationId xmlns:a16="http://schemas.microsoft.com/office/drawing/2014/main" id="{429951B0-5D94-234C-BF72-BF13C10D8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5995" y="2820193"/>
            <a:ext cx="25908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pirit">
            <a:extLst>
              <a:ext uri="{FF2B5EF4-FFF2-40B4-BE49-F238E27FC236}">
                <a16:creationId xmlns:a16="http://schemas.microsoft.com/office/drawing/2014/main" id="{15984B94-7607-0B43-8675-CAB0ED310D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2971" y="1150024"/>
            <a:ext cx="1863824" cy="1488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inverted-hover">
            <a:extLst>
              <a:ext uri="{FF2B5EF4-FFF2-40B4-BE49-F238E27FC236}">
                <a16:creationId xmlns:a16="http://schemas.microsoft.com/office/drawing/2014/main" id="{EC0CA25B-0466-D64B-BB14-5E9DA53EE5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3780" y="950912"/>
            <a:ext cx="2160240" cy="1438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a:extLst>
              <a:ext uri="{FF2B5EF4-FFF2-40B4-BE49-F238E27FC236}">
                <a16:creationId xmlns:a16="http://schemas.microsoft.com/office/drawing/2014/main" id="{C3B46F90-1CB7-774B-883C-784A2546A032}"/>
              </a:ext>
            </a:extLst>
          </p:cNvPr>
          <p:cNvGrpSpPr>
            <a:grpSpLocks/>
          </p:cNvGrpSpPr>
          <p:nvPr/>
        </p:nvGrpSpPr>
        <p:grpSpPr bwMode="auto">
          <a:xfrm>
            <a:off x="4783595" y="4879975"/>
            <a:ext cx="2743200" cy="1295400"/>
            <a:chOff x="3408" y="3024"/>
            <a:chExt cx="1632" cy="816"/>
          </a:xfrm>
        </p:grpSpPr>
        <p:pic>
          <p:nvPicPr>
            <p:cNvPr id="9" name="Picture 8" descr="bronchus">
              <a:extLst>
                <a:ext uri="{FF2B5EF4-FFF2-40B4-BE49-F238E27FC236}">
                  <a16:creationId xmlns:a16="http://schemas.microsoft.com/office/drawing/2014/main" id="{90861D85-0DFC-344A-B564-FA78EA13A0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8" y="3024"/>
              <a:ext cx="816"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aorta">
              <a:extLst>
                <a:ext uri="{FF2B5EF4-FFF2-40B4-BE49-F238E27FC236}">
                  <a16:creationId xmlns:a16="http://schemas.microsoft.com/office/drawing/2014/main" id="{E90CCCD2-3BD8-6849-9824-B5F3079C26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4" y="3024"/>
              <a:ext cx="816" cy="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1" name="Picture 10">
            <a:extLst>
              <a:ext uri="{FF2B5EF4-FFF2-40B4-BE49-F238E27FC236}">
                <a16:creationId xmlns:a16="http://schemas.microsoft.com/office/drawing/2014/main" id="{DD93FE88-63D5-704E-8C1C-86D2D8D7027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3780" y="2501329"/>
            <a:ext cx="2037930" cy="1433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lg" len="lg"/>
                <a:tailEnd/>
              </a14:hiddenLine>
            </a:ext>
          </a:extLst>
        </p:spPr>
      </p:pic>
      <p:pic>
        <p:nvPicPr>
          <p:cNvPr id="12" name="Picture 11" descr="Stanley Finish">
            <a:extLst>
              <a:ext uri="{FF2B5EF4-FFF2-40B4-BE49-F238E27FC236}">
                <a16:creationId xmlns:a16="http://schemas.microsoft.com/office/drawing/2014/main" id="{43F7017F-ED82-ED4C-A303-FD217AB38B9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63780" y="4116251"/>
            <a:ext cx="2333625"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7910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E3FBD-B3DF-3A46-B882-E5CA8CD92778}"/>
              </a:ext>
            </a:extLst>
          </p:cNvPr>
          <p:cNvSpPr>
            <a:spLocks noGrp="1"/>
          </p:cNvSpPr>
          <p:nvPr>
            <p:ph type="title"/>
          </p:nvPr>
        </p:nvSpPr>
        <p:spPr/>
        <p:txBody>
          <a:bodyPr/>
          <a:lstStyle/>
          <a:p>
            <a:r>
              <a:rPr lang="en-US"/>
              <a:t>5. Lịch sử hình thành và phát triển</a:t>
            </a:r>
          </a:p>
        </p:txBody>
      </p:sp>
      <p:sp>
        <p:nvSpPr>
          <p:cNvPr id="3" name="Content Placeholder 2">
            <a:extLst>
              <a:ext uri="{FF2B5EF4-FFF2-40B4-BE49-F238E27FC236}">
                <a16:creationId xmlns:a16="http://schemas.microsoft.com/office/drawing/2014/main" id="{C433576B-8D60-C64C-B511-5E17AD758BFF}"/>
              </a:ext>
            </a:extLst>
          </p:cNvPr>
          <p:cNvSpPr>
            <a:spLocks noGrp="1"/>
          </p:cNvSpPr>
          <p:nvPr>
            <p:ph idx="1"/>
          </p:nvPr>
        </p:nvSpPr>
        <p:spPr/>
        <p:txBody>
          <a:bodyPr/>
          <a:lstStyle/>
          <a:p>
            <a:pPr marL="0" indent="0">
              <a:buNone/>
            </a:pPr>
            <a:r>
              <a:rPr lang="en-US" sz="2800" b="1"/>
              <a:t>Ba giai đoạn: </a:t>
            </a:r>
            <a:endParaRPr lang="en-US" sz="2800" b="1">
              <a:effectLst/>
            </a:endParaRPr>
          </a:p>
          <a:p>
            <a:pPr marL="842962" lvl="1" indent="-457200">
              <a:buFont typeface="+mj-lt"/>
              <a:buAutoNum type="arabicPeriod"/>
            </a:pPr>
            <a:r>
              <a:rPr lang="en-US" sz="2800"/>
              <a:t>Symbolism (70-80) (Automated Reasoning and Proofing, Expert Systems, Logic Programming,...). </a:t>
            </a:r>
            <a:endParaRPr lang="en-US" sz="2800">
              <a:effectLst/>
            </a:endParaRPr>
          </a:p>
          <a:p>
            <a:pPr marL="842962" lvl="1" indent="-457200">
              <a:buFont typeface="+mj-lt"/>
              <a:buAutoNum type="arabicPeriod"/>
            </a:pPr>
            <a:r>
              <a:rPr lang="en-US" sz="2800"/>
              <a:t>Connectionism (80s-90s) (Neural Networks, Statistical Learning, Support Vector Machines, Probabilistic Graph Learning,....). </a:t>
            </a:r>
            <a:endParaRPr lang="en-US" sz="2800">
              <a:effectLst/>
            </a:endParaRPr>
          </a:p>
          <a:p>
            <a:pPr marL="842962" lvl="1" indent="-457200">
              <a:buFont typeface="+mj-lt"/>
              <a:buAutoNum type="arabicPeriod"/>
            </a:pPr>
            <a:r>
              <a:rPr lang="en-US" sz="2800"/>
              <a:t>Evolutionary Computation (90s-?) (Evolutionary Programming, Evolutionary Strategies, Genetic Algorithms) , Intelligent Multi Agent Systems. </a:t>
            </a:r>
            <a:endParaRPr lang="en-US" sz="2800">
              <a:effectLst/>
            </a:endParaRPr>
          </a:p>
          <a:p>
            <a:endParaRPr lang="en-US"/>
          </a:p>
        </p:txBody>
      </p:sp>
      <p:sp>
        <p:nvSpPr>
          <p:cNvPr id="4" name="Slide Number Placeholder 3">
            <a:extLst>
              <a:ext uri="{FF2B5EF4-FFF2-40B4-BE49-F238E27FC236}">
                <a16:creationId xmlns:a16="http://schemas.microsoft.com/office/drawing/2014/main" id="{5101F671-466A-6845-966B-CE5AB960B940}"/>
              </a:ext>
            </a:extLst>
          </p:cNvPr>
          <p:cNvSpPr>
            <a:spLocks noGrp="1"/>
          </p:cNvSpPr>
          <p:nvPr>
            <p:ph type="sldNum" sz="quarter" idx="12"/>
          </p:nvPr>
        </p:nvSpPr>
        <p:spPr/>
        <p:txBody>
          <a:bodyPr/>
          <a:lstStyle/>
          <a:p>
            <a:fld id="{DA8C51A7-BEEA-471D-933F-7E35BC04A30F}" type="slidenum">
              <a:rPr lang="en-US"/>
              <a:pPr/>
              <a:t>14</a:t>
            </a:fld>
            <a:endParaRPr lang="en-US"/>
          </a:p>
        </p:txBody>
      </p:sp>
    </p:spTree>
    <p:extLst>
      <p:ext uri="{BB962C8B-B14F-4D97-AF65-F5344CB8AC3E}">
        <p14:creationId xmlns:p14="http://schemas.microsoft.com/office/powerpoint/2010/main" val="4201822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400B-AD71-674D-9090-5CFE98380F6F}"/>
              </a:ext>
            </a:extLst>
          </p:cNvPr>
          <p:cNvSpPr>
            <a:spLocks noGrp="1"/>
          </p:cNvSpPr>
          <p:nvPr>
            <p:ph type="title"/>
          </p:nvPr>
        </p:nvSpPr>
        <p:spPr/>
        <p:txBody>
          <a:bodyPr/>
          <a:lstStyle/>
          <a:p>
            <a:r>
              <a:rPr lang="en-US"/>
              <a:t>5. Lịch sử hình thành và phát triển (t)</a:t>
            </a:r>
          </a:p>
        </p:txBody>
      </p:sp>
      <p:sp>
        <p:nvSpPr>
          <p:cNvPr id="3" name="Content Placeholder 2">
            <a:extLst>
              <a:ext uri="{FF2B5EF4-FFF2-40B4-BE49-F238E27FC236}">
                <a16:creationId xmlns:a16="http://schemas.microsoft.com/office/drawing/2014/main" id="{C69077C6-195B-5745-8E6A-F4ED23987478}"/>
              </a:ext>
            </a:extLst>
          </p:cNvPr>
          <p:cNvSpPr>
            <a:spLocks noGrp="1"/>
          </p:cNvSpPr>
          <p:nvPr>
            <p:ph idx="1"/>
          </p:nvPr>
        </p:nvSpPr>
        <p:spPr>
          <a:xfrm>
            <a:off x="706438" y="1514203"/>
            <a:ext cx="8874125" cy="4662760"/>
          </a:xfrm>
        </p:spPr>
        <p:txBody>
          <a:bodyPr/>
          <a:lstStyle/>
          <a:p>
            <a:r>
              <a:rPr lang="vi-VN"/>
              <a:t>1930-A.M.Turing đưa ra các kết quả nghiên cứu về máy thông minh, chương trình thông minh đến trắc nghiệm thông minh, đồng thời đưa ra các kết quả cơ sở quan trọng về máy Turing. </a:t>
            </a:r>
            <a:endParaRPr lang="vi-VN">
              <a:effectLst/>
            </a:endParaRPr>
          </a:p>
          <a:p>
            <a:r>
              <a:rPr lang="vi-VN"/>
              <a:t>Phát hiện quan trọng của Turing là chương trình có thể lưu trữ trong bộ nhớ để sau đó được thực hiện trên cơ sở các phép toán cơ bản thao tác với các đại lượng là số 0 và 1 của hệ đếm nhị phân. </a:t>
            </a:r>
            <a:endParaRPr lang="vi-VN">
              <a:effectLst/>
            </a:endParaRPr>
          </a:p>
          <a:p>
            <a:r>
              <a:rPr lang="vi-VN"/>
              <a:t>Việc lưu giữ chương trình trong máy cho phép thay đổi chức năng của nó một cách nhanh chóng và dễ dàng thông qua việc nạp chương trình mới khác vào bộ nhớ. </a:t>
            </a:r>
            <a:endParaRPr lang="vi-VN">
              <a:effectLst/>
            </a:endParaRPr>
          </a:p>
          <a:p>
            <a:r>
              <a:rPr lang="vi-VN"/>
              <a:t>Điều trên làm cho máy có khả năng học và suy nghĩ đáy chính là biểu hiện đầu tiên của các máy tính được trang bị TTNT. </a:t>
            </a:r>
            <a:endParaRPr lang="vi-VN">
              <a:effectLst/>
            </a:endParaRPr>
          </a:p>
          <a:p>
            <a:endParaRPr lang="en-US"/>
          </a:p>
        </p:txBody>
      </p:sp>
      <p:sp>
        <p:nvSpPr>
          <p:cNvPr id="4" name="Slide Number Placeholder 3">
            <a:extLst>
              <a:ext uri="{FF2B5EF4-FFF2-40B4-BE49-F238E27FC236}">
                <a16:creationId xmlns:a16="http://schemas.microsoft.com/office/drawing/2014/main" id="{CDA03FD4-9E3E-0A48-A9AD-00748073C1AA}"/>
              </a:ext>
            </a:extLst>
          </p:cNvPr>
          <p:cNvSpPr>
            <a:spLocks noGrp="1"/>
          </p:cNvSpPr>
          <p:nvPr>
            <p:ph type="sldNum" sz="quarter" idx="12"/>
          </p:nvPr>
        </p:nvSpPr>
        <p:spPr/>
        <p:txBody>
          <a:bodyPr/>
          <a:lstStyle/>
          <a:p>
            <a:fld id="{DA8C51A7-BEEA-471D-933F-7E35BC04A30F}" type="slidenum">
              <a:rPr lang="en-US"/>
              <a:pPr/>
              <a:t>15</a:t>
            </a:fld>
            <a:endParaRPr lang="en-US"/>
          </a:p>
        </p:txBody>
      </p:sp>
    </p:spTree>
    <p:extLst>
      <p:ext uri="{BB962C8B-B14F-4D97-AF65-F5344CB8AC3E}">
        <p14:creationId xmlns:p14="http://schemas.microsoft.com/office/powerpoint/2010/main" val="132633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400B-AD71-674D-9090-5CFE98380F6F}"/>
              </a:ext>
            </a:extLst>
          </p:cNvPr>
          <p:cNvSpPr>
            <a:spLocks noGrp="1"/>
          </p:cNvSpPr>
          <p:nvPr>
            <p:ph type="title"/>
          </p:nvPr>
        </p:nvSpPr>
        <p:spPr/>
        <p:txBody>
          <a:bodyPr/>
          <a:lstStyle/>
          <a:p>
            <a:r>
              <a:rPr lang="en-US"/>
              <a:t>5. Lịch sử hình thành và phát triển (t)</a:t>
            </a:r>
          </a:p>
        </p:txBody>
      </p:sp>
      <p:sp>
        <p:nvSpPr>
          <p:cNvPr id="3" name="Content Placeholder 2">
            <a:extLst>
              <a:ext uri="{FF2B5EF4-FFF2-40B4-BE49-F238E27FC236}">
                <a16:creationId xmlns:a16="http://schemas.microsoft.com/office/drawing/2014/main" id="{C69077C6-195B-5745-8E6A-F4ED23987478}"/>
              </a:ext>
            </a:extLst>
          </p:cNvPr>
          <p:cNvSpPr>
            <a:spLocks noGrp="1"/>
          </p:cNvSpPr>
          <p:nvPr>
            <p:ph idx="1"/>
          </p:nvPr>
        </p:nvSpPr>
        <p:spPr/>
        <p:txBody>
          <a:bodyPr/>
          <a:lstStyle/>
          <a:p>
            <a:r>
              <a:rPr lang="vi-VN">
                <a:solidFill>
                  <a:srgbClr val="C00000"/>
                </a:solidFill>
              </a:rPr>
              <a:t>1956</a:t>
            </a:r>
            <a:r>
              <a:rPr lang="vi-VN"/>
              <a:t> -Chương trình tìm dẫn xuất trong các hệ hình thức. </a:t>
            </a:r>
            <a:endParaRPr lang="vi-VN">
              <a:effectLst/>
            </a:endParaRPr>
          </a:p>
          <a:p>
            <a:r>
              <a:rPr lang="vi-VN">
                <a:solidFill>
                  <a:srgbClr val="C00000"/>
                </a:solidFill>
              </a:rPr>
              <a:t>1959</a:t>
            </a:r>
            <a:r>
              <a:rPr lang="vi-VN"/>
              <a:t> -Máy giải toán vạn năng (MP3). </a:t>
            </a:r>
            <a:endParaRPr lang="vi-VN">
              <a:effectLst/>
            </a:endParaRPr>
          </a:p>
          <a:p>
            <a:r>
              <a:rPr lang="vi-VN">
                <a:solidFill>
                  <a:srgbClr val="C00000"/>
                </a:solidFill>
              </a:rPr>
              <a:t>1960</a:t>
            </a:r>
            <a:r>
              <a:rPr lang="vi-VN"/>
              <a:t> - Mc Kathy đưa ra ngôn ngữ trí tuệ nhân tạo (Lisp- List Processing). </a:t>
            </a:r>
            <a:endParaRPr lang="vi-VN">
              <a:effectLst/>
            </a:endParaRPr>
          </a:p>
          <a:p>
            <a:r>
              <a:rPr lang="vi-VN">
                <a:solidFill>
                  <a:srgbClr val="C00000"/>
                </a:solidFill>
              </a:rPr>
              <a:t>1961</a:t>
            </a:r>
            <a:r>
              <a:rPr lang="vi-VN"/>
              <a:t> - Minsky đưa ra ngôn ngữ AI </a:t>
            </a:r>
            <a:endParaRPr lang="vi-VN">
              <a:effectLst/>
            </a:endParaRPr>
          </a:p>
          <a:p>
            <a:pPr marL="0" indent="0">
              <a:lnSpc>
                <a:spcPct val="150000"/>
              </a:lnSpc>
              <a:buNone/>
            </a:pPr>
            <a:r>
              <a:rPr lang="vi-VN">
                <a:solidFill>
                  <a:schemeClr val="accent6">
                    <a:lumMod val="75000"/>
                  </a:schemeClr>
                </a:solidFill>
              </a:rPr>
              <a:t>			Tri thức + Điều khiển = chương trình. </a:t>
            </a:r>
            <a:endParaRPr lang="vi-VN">
              <a:solidFill>
                <a:schemeClr val="accent6">
                  <a:lumMod val="75000"/>
                </a:schemeClr>
              </a:solidFill>
              <a:effectLst/>
            </a:endParaRPr>
          </a:p>
          <a:p>
            <a:r>
              <a:rPr lang="vi-VN">
                <a:solidFill>
                  <a:srgbClr val="C00000"/>
                </a:solidFill>
              </a:rPr>
              <a:t>1962</a:t>
            </a:r>
            <a:r>
              <a:rPr lang="vi-VN"/>
              <a:t> - Tính tích phân bất định </a:t>
            </a:r>
            <a:endParaRPr lang="vi-VN">
              <a:effectLst/>
            </a:endParaRPr>
          </a:p>
          <a:p>
            <a:r>
              <a:rPr lang="vi-VN">
                <a:solidFill>
                  <a:srgbClr val="C00000"/>
                </a:solidFill>
              </a:rPr>
              <a:t>1963</a:t>
            </a:r>
            <a:r>
              <a:rPr lang="vi-VN"/>
              <a:t> - Chương trình Heuristic-(gợi mở). </a:t>
            </a:r>
            <a:endParaRPr lang="vi-VN">
              <a:effectLst/>
            </a:endParaRPr>
          </a:p>
          <a:p>
            <a:r>
              <a:rPr lang="vi-VN">
                <a:solidFill>
                  <a:srgbClr val="C00000"/>
                </a:solidFill>
              </a:rPr>
              <a:t>1964</a:t>
            </a:r>
            <a:r>
              <a:rPr lang="vi-VN"/>
              <a:t> - Giải phương trình đại số sơ cấp. </a:t>
            </a:r>
            <a:endParaRPr lang="vi-VN">
              <a:effectLst/>
            </a:endParaRPr>
          </a:p>
        </p:txBody>
      </p:sp>
      <p:sp>
        <p:nvSpPr>
          <p:cNvPr id="4" name="Slide Number Placeholder 3">
            <a:extLst>
              <a:ext uri="{FF2B5EF4-FFF2-40B4-BE49-F238E27FC236}">
                <a16:creationId xmlns:a16="http://schemas.microsoft.com/office/drawing/2014/main" id="{CDA03FD4-9E3E-0A48-A9AD-00748073C1AA}"/>
              </a:ext>
            </a:extLst>
          </p:cNvPr>
          <p:cNvSpPr>
            <a:spLocks noGrp="1"/>
          </p:cNvSpPr>
          <p:nvPr>
            <p:ph type="sldNum" sz="quarter" idx="12"/>
          </p:nvPr>
        </p:nvSpPr>
        <p:spPr/>
        <p:txBody>
          <a:bodyPr/>
          <a:lstStyle/>
          <a:p>
            <a:fld id="{DA8C51A7-BEEA-471D-933F-7E35BC04A30F}" type="slidenum">
              <a:rPr lang="en-US"/>
              <a:pPr/>
              <a:t>16</a:t>
            </a:fld>
            <a:endParaRPr lang="en-US"/>
          </a:p>
        </p:txBody>
      </p:sp>
    </p:spTree>
    <p:extLst>
      <p:ext uri="{BB962C8B-B14F-4D97-AF65-F5344CB8AC3E}">
        <p14:creationId xmlns:p14="http://schemas.microsoft.com/office/powerpoint/2010/main" val="2139488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E400B-AD71-674D-9090-5CFE98380F6F}"/>
              </a:ext>
            </a:extLst>
          </p:cNvPr>
          <p:cNvSpPr>
            <a:spLocks noGrp="1"/>
          </p:cNvSpPr>
          <p:nvPr>
            <p:ph type="title"/>
          </p:nvPr>
        </p:nvSpPr>
        <p:spPr/>
        <p:txBody>
          <a:bodyPr/>
          <a:lstStyle/>
          <a:p>
            <a:r>
              <a:rPr lang="en-US"/>
              <a:t>5. Lịch sử hình thành và phát triển (t)</a:t>
            </a:r>
          </a:p>
        </p:txBody>
      </p:sp>
      <p:sp>
        <p:nvSpPr>
          <p:cNvPr id="3" name="Content Placeholder 2">
            <a:extLst>
              <a:ext uri="{FF2B5EF4-FFF2-40B4-BE49-F238E27FC236}">
                <a16:creationId xmlns:a16="http://schemas.microsoft.com/office/drawing/2014/main" id="{C69077C6-195B-5745-8E6A-F4ED23987478}"/>
              </a:ext>
            </a:extLst>
          </p:cNvPr>
          <p:cNvSpPr>
            <a:spLocks noGrp="1"/>
          </p:cNvSpPr>
          <p:nvPr>
            <p:ph idx="1"/>
          </p:nvPr>
        </p:nvSpPr>
        <p:spPr/>
        <p:txBody>
          <a:bodyPr/>
          <a:lstStyle/>
          <a:p>
            <a:r>
              <a:rPr lang="vi-VN">
                <a:solidFill>
                  <a:srgbClr val="C00000"/>
                </a:solidFill>
              </a:rPr>
              <a:t>1966</a:t>
            </a:r>
            <a:r>
              <a:rPr lang="vi-VN"/>
              <a:t> - Phân tích và tổng hợp tiếng nói. </a:t>
            </a:r>
            <a:endParaRPr lang="vi-VN">
              <a:effectLst/>
            </a:endParaRPr>
          </a:p>
          <a:p>
            <a:r>
              <a:rPr lang="vi-VN">
                <a:solidFill>
                  <a:srgbClr val="C00000"/>
                </a:solidFill>
              </a:rPr>
              <a:t>1968</a:t>
            </a:r>
            <a:r>
              <a:rPr lang="vi-VN"/>
              <a:t> - Robot học nói. </a:t>
            </a:r>
            <a:endParaRPr lang="vi-VN">
              <a:effectLst/>
            </a:endParaRPr>
          </a:p>
          <a:p>
            <a:r>
              <a:rPr lang="vi-VN">
                <a:solidFill>
                  <a:srgbClr val="C00000"/>
                </a:solidFill>
              </a:rPr>
              <a:t>1972</a:t>
            </a:r>
            <a:r>
              <a:rPr lang="vi-VN"/>
              <a:t> - A. Camerauls (ngôn ngữ Prolog-chương trình Logic) </a:t>
            </a:r>
            <a:endParaRPr lang="vi-VN">
              <a:effectLst/>
            </a:endParaRPr>
          </a:p>
          <a:p>
            <a:r>
              <a:rPr lang="vi-VN">
                <a:solidFill>
                  <a:srgbClr val="C00000"/>
                </a:solidFill>
              </a:rPr>
              <a:t>1970-1980</a:t>
            </a:r>
            <a:r>
              <a:rPr lang="vi-VN"/>
              <a:t>: Xử lý ngôn ngữ tự nhiên. </a:t>
            </a:r>
            <a:endParaRPr lang="vi-VN">
              <a:effectLst/>
            </a:endParaRPr>
          </a:p>
          <a:p>
            <a:r>
              <a:rPr lang="vi-VN">
                <a:solidFill>
                  <a:srgbClr val="C00000"/>
                </a:solidFill>
              </a:rPr>
              <a:t>Cuối 80</a:t>
            </a:r>
            <a:r>
              <a:rPr lang="vi-VN"/>
              <a:t>: Hệ chuyên gia xử lý ngôn ngữ tự nhiên. </a:t>
            </a:r>
            <a:endParaRPr lang="vi-VN">
              <a:effectLst/>
            </a:endParaRPr>
          </a:p>
          <a:p>
            <a:r>
              <a:rPr lang="vi-VN">
                <a:solidFill>
                  <a:srgbClr val="C00000"/>
                </a:solidFill>
              </a:rPr>
              <a:t>1981</a:t>
            </a:r>
            <a:r>
              <a:rPr lang="vi-VN"/>
              <a:t> - đề án tạo ra các máy tính thế hệ 5 của Nhật. </a:t>
            </a:r>
            <a:endParaRPr lang="vi-VN">
              <a:effectLst/>
            </a:endParaRPr>
          </a:p>
          <a:p>
            <a:pPr marL="0" indent="0">
              <a:buNone/>
            </a:pPr>
            <a:r>
              <a:rPr lang="vi-VN">
                <a:solidFill>
                  <a:srgbClr val="C00000"/>
                </a:solidFill>
              </a:rPr>
              <a:t>	1986,1987 đến nay</a:t>
            </a:r>
            <a:r>
              <a:rPr lang="vi-VN"/>
              <a:t> </a:t>
            </a:r>
            <a:r>
              <a:rPr lang="vi-VN">
                <a:solidFill>
                  <a:schemeClr val="accent6">
                    <a:lumMod val="75000"/>
                  </a:schemeClr>
                </a:solidFill>
              </a:rPr>
              <a:t>- Phát triển mạng Neural và ứng dụng. </a:t>
            </a:r>
            <a:endParaRPr lang="vi-VN">
              <a:solidFill>
                <a:schemeClr val="accent6">
                  <a:lumMod val="75000"/>
                </a:schemeClr>
              </a:solidFill>
              <a:effectLst/>
            </a:endParaRPr>
          </a:p>
        </p:txBody>
      </p:sp>
      <p:sp>
        <p:nvSpPr>
          <p:cNvPr id="4" name="Slide Number Placeholder 3">
            <a:extLst>
              <a:ext uri="{FF2B5EF4-FFF2-40B4-BE49-F238E27FC236}">
                <a16:creationId xmlns:a16="http://schemas.microsoft.com/office/drawing/2014/main" id="{CDA03FD4-9E3E-0A48-A9AD-00748073C1AA}"/>
              </a:ext>
            </a:extLst>
          </p:cNvPr>
          <p:cNvSpPr>
            <a:spLocks noGrp="1"/>
          </p:cNvSpPr>
          <p:nvPr>
            <p:ph type="sldNum" sz="quarter" idx="12"/>
          </p:nvPr>
        </p:nvSpPr>
        <p:spPr/>
        <p:txBody>
          <a:bodyPr/>
          <a:lstStyle/>
          <a:p>
            <a:fld id="{DA8C51A7-BEEA-471D-933F-7E35BC04A30F}" type="slidenum">
              <a:rPr lang="en-US"/>
              <a:pPr/>
              <a:t>17</a:t>
            </a:fld>
            <a:endParaRPr lang="en-US"/>
          </a:p>
        </p:txBody>
      </p:sp>
      <p:sp>
        <p:nvSpPr>
          <p:cNvPr id="8" name="Striped Right Arrow 7">
            <a:extLst>
              <a:ext uri="{FF2B5EF4-FFF2-40B4-BE49-F238E27FC236}">
                <a16:creationId xmlns:a16="http://schemas.microsoft.com/office/drawing/2014/main" id="{6F0E967F-CCD3-F548-865C-DD75643AE165}"/>
              </a:ext>
            </a:extLst>
          </p:cNvPr>
          <p:cNvSpPr/>
          <p:nvPr/>
        </p:nvSpPr>
        <p:spPr>
          <a:xfrm>
            <a:off x="967036" y="4509120"/>
            <a:ext cx="504056" cy="21602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308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2D284-43C6-7D44-874E-1AF3AD22077C}"/>
              </a:ext>
            </a:extLst>
          </p:cNvPr>
          <p:cNvSpPr>
            <a:spLocks noGrp="1"/>
          </p:cNvSpPr>
          <p:nvPr>
            <p:ph type="title"/>
          </p:nvPr>
        </p:nvSpPr>
        <p:spPr>
          <a:xfrm>
            <a:off x="751012" y="188640"/>
            <a:ext cx="9001000" cy="1325563"/>
          </a:xfrm>
        </p:spPr>
        <p:txBody>
          <a:bodyPr/>
          <a:lstStyle/>
          <a:p>
            <a:r>
              <a:rPr lang="en-US"/>
              <a:t>6. Các lĩnh vực nghiên cứu của TTNT</a:t>
            </a:r>
          </a:p>
        </p:txBody>
      </p:sp>
      <p:sp>
        <p:nvSpPr>
          <p:cNvPr id="3" name="Content Placeholder 2">
            <a:extLst>
              <a:ext uri="{FF2B5EF4-FFF2-40B4-BE49-F238E27FC236}">
                <a16:creationId xmlns:a16="http://schemas.microsoft.com/office/drawing/2014/main" id="{0F16FBA7-3B9A-1643-B63A-35C3D3CDB898}"/>
              </a:ext>
            </a:extLst>
          </p:cNvPr>
          <p:cNvSpPr>
            <a:spLocks noGrp="1"/>
          </p:cNvSpPr>
          <p:nvPr>
            <p:ph idx="1"/>
          </p:nvPr>
        </p:nvSpPr>
        <p:spPr>
          <a:xfrm>
            <a:off x="616149" y="1394427"/>
            <a:ext cx="5490914" cy="4961923"/>
          </a:xfrm>
        </p:spPr>
        <p:txBody>
          <a:bodyPr/>
          <a:lstStyle/>
          <a:p>
            <a:pPr marL="0" indent="0">
              <a:buNone/>
            </a:pPr>
            <a:r>
              <a:rPr lang="en-US" sz="2400" b="1" dirty="0" err="1"/>
              <a:t>Lĩnh</a:t>
            </a:r>
            <a:r>
              <a:rPr lang="en-US" sz="2400" b="1" dirty="0"/>
              <a:t> </a:t>
            </a:r>
            <a:r>
              <a:rPr lang="en-US" sz="2400" b="1" dirty="0" err="1"/>
              <a:t>vực</a:t>
            </a:r>
            <a:r>
              <a:rPr lang="en-US" sz="2400" b="1" dirty="0"/>
              <a:t> </a:t>
            </a:r>
            <a:r>
              <a:rPr lang="en-US" sz="2400" b="1" dirty="0" err="1"/>
              <a:t>nghiên</a:t>
            </a:r>
            <a:r>
              <a:rPr lang="en-US" sz="2400" b="1" dirty="0"/>
              <a:t> </a:t>
            </a:r>
            <a:r>
              <a:rPr lang="en-US" sz="2400" b="1" dirty="0" err="1"/>
              <a:t>cứu</a:t>
            </a:r>
            <a:r>
              <a:rPr lang="en-US" sz="2400" b="1" dirty="0"/>
              <a:t>:</a:t>
            </a:r>
          </a:p>
          <a:p>
            <a:r>
              <a:rPr lang="en-US" dirty="0" err="1"/>
              <a:t>Thị</a:t>
            </a:r>
            <a:r>
              <a:rPr lang="en-US" dirty="0"/>
              <a:t> </a:t>
            </a:r>
            <a:r>
              <a:rPr lang="en-US" dirty="0" err="1"/>
              <a:t>giác</a:t>
            </a:r>
            <a:r>
              <a:rPr lang="en-US" dirty="0"/>
              <a:t> </a:t>
            </a:r>
            <a:r>
              <a:rPr lang="en-US" dirty="0" err="1"/>
              <a:t>máy</a:t>
            </a:r>
            <a:r>
              <a:rPr lang="en-US" dirty="0"/>
              <a:t> </a:t>
            </a:r>
            <a:r>
              <a:rPr lang="en-US" dirty="0" err="1"/>
              <a:t>tính</a:t>
            </a:r>
            <a:r>
              <a:rPr lang="en-US" dirty="0"/>
              <a:t> (computer vision)</a:t>
            </a:r>
          </a:p>
          <a:p>
            <a:r>
              <a:rPr lang="en-US" dirty="0" err="1"/>
              <a:t>Nhận</a:t>
            </a:r>
            <a:r>
              <a:rPr lang="en-US" dirty="0"/>
              <a:t> </a:t>
            </a:r>
            <a:r>
              <a:rPr lang="en-US" dirty="0" err="1"/>
              <a:t>dạng</a:t>
            </a:r>
            <a:r>
              <a:rPr lang="en-US" dirty="0"/>
              <a:t> </a:t>
            </a:r>
            <a:r>
              <a:rPr lang="en-US" dirty="0" err="1"/>
              <a:t>mẫu</a:t>
            </a:r>
            <a:endParaRPr lang="en-US" dirty="0"/>
          </a:p>
          <a:p>
            <a:r>
              <a:rPr lang="en-US" dirty="0" err="1"/>
              <a:t>Xử</a:t>
            </a:r>
            <a:r>
              <a:rPr lang="en-US" dirty="0"/>
              <a:t> </a:t>
            </a:r>
            <a:r>
              <a:rPr lang="en-US" dirty="0" err="1"/>
              <a:t>lý</a:t>
            </a:r>
            <a:r>
              <a:rPr lang="en-US" dirty="0"/>
              <a:t> </a:t>
            </a:r>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 (natural language processing)</a:t>
            </a:r>
          </a:p>
          <a:p>
            <a:r>
              <a:rPr lang="en-US" dirty="0" err="1"/>
              <a:t>Biểu</a:t>
            </a:r>
            <a:r>
              <a:rPr lang="en-US" dirty="0"/>
              <a:t> </a:t>
            </a:r>
            <a:r>
              <a:rPr lang="en-US" dirty="0" err="1"/>
              <a:t>diễn</a:t>
            </a:r>
            <a:r>
              <a:rPr lang="en-US" dirty="0"/>
              <a:t> tri </a:t>
            </a:r>
            <a:r>
              <a:rPr lang="en-US" dirty="0" err="1"/>
              <a:t>thức</a:t>
            </a:r>
            <a:r>
              <a:rPr lang="en-US" dirty="0"/>
              <a:t>, </a:t>
            </a:r>
            <a:r>
              <a:rPr lang="en-US" dirty="0" err="1"/>
              <a:t>khai</a:t>
            </a:r>
            <a:r>
              <a:rPr lang="en-US" dirty="0"/>
              <a:t> </a:t>
            </a:r>
            <a:r>
              <a:rPr lang="en-US" dirty="0" err="1"/>
              <a:t>phá</a:t>
            </a:r>
            <a:r>
              <a:rPr lang="en-US" dirty="0"/>
              <a:t> </a:t>
            </a:r>
            <a:r>
              <a:rPr lang="en-US" dirty="0" err="1"/>
              <a:t>dữ</a:t>
            </a:r>
            <a:r>
              <a:rPr lang="en-US" dirty="0"/>
              <a:t> </a:t>
            </a:r>
            <a:r>
              <a:rPr lang="en-US" dirty="0" err="1"/>
              <a:t>liệu</a:t>
            </a:r>
            <a:endParaRPr lang="en-US" dirty="0"/>
          </a:p>
          <a:p>
            <a:r>
              <a:rPr lang="en-US" dirty="0" err="1"/>
              <a:t>Tìm</a:t>
            </a:r>
            <a:r>
              <a:rPr lang="en-US" dirty="0"/>
              <a:t> </a:t>
            </a:r>
            <a:r>
              <a:rPr lang="en-US" dirty="0" err="1"/>
              <a:t>kiếm</a:t>
            </a:r>
            <a:r>
              <a:rPr lang="en-US" dirty="0"/>
              <a:t> (search)</a:t>
            </a:r>
          </a:p>
          <a:p>
            <a:r>
              <a:rPr lang="en-US" dirty="0" err="1"/>
              <a:t>Lập</a:t>
            </a:r>
            <a:r>
              <a:rPr lang="en-US" dirty="0"/>
              <a:t> </a:t>
            </a:r>
            <a:r>
              <a:rPr lang="en-US" dirty="0" err="1"/>
              <a:t>luận</a:t>
            </a:r>
            <a:r>
              <a:rPr lang="en-US" dirty="0"/>
              <a:t>, </a:t>
            </a:r>
            <a:r>
              <a:rPr lang="en-US" dirty="0" err="1"/>
              <a:t>suy</a:t>
            </a:r>
            <a:r>
              <a:rPr lang="en-US" dirty="0"/>
              <a:t> </a:t>
            </a:r>
            <a:r>
              <a:rPr lang="en-US" dirty="0" err="1"/>
              <a:t>diễn</a:t>
            </a:r>
            <a:r>
              <a:rPr lang="en-US" dirty="0"/>
              <a:t> (reasoning hay inference)</a:t>
            </a:r>
          </a:p>
          <a:p>
            <a:r>
              <a:rPr lang="en-US" dirty="0" err="1"/>
              <a:t>Học</a:t>
            </a:r>
            <a:r>
              <a:rPr lang="en-US" dirty="0"/>
              <a:t> </a:t>
            </a:r>
            <a:r>
              <a:rPr lang="en-US" dirty="0" err="1"/>
              <a:t>máy</a:t>
            </a:r>
            <a:r>
              <a:rPr lang="en-US" dirty="0"/>
              <a:t> (machine learning)</a:t>
            </a:r>
          </a:p>
          <a:p>
            <a:r>
              <a:rPr lang="en-US" dirty="0" err="1"/>
              <a:t>Lập</a:t>
            </a:r>
            <a:r>
              <a:rPr lang="en-US" dirty="0"/>
              <a:t> </a:t>
            </a:r>
            <a:r>
              <a:rPr lang="en-US" dirty="0" err="1"/>
              <a:t>kế</a:t>
            </a:r>
            <a:r>
              <a:rPr lang="en-US" dirty="0"/>
              <a:t> </a:t>
            </a:r>
            <a:r>
              <a:rPr lang="en-US" dirty="0" err="1"/>
              <a:t>hoạch</a:t>
            </a:r>
            <a:r>
              <a:rPr lang="en-US" dirty="0"/>
              <a:t> (planning)</a:t>
            </a:r>
          </a:p>
          <a:p>
            <a:r>
              <a:rPr lang="en-US" dirty="0" err="1"/>
              <a:t>Kỹ</a:t>
            </a:r>
            <a:r>
              <a:rPr lang="en-US" dirty="0"/>
              <a:t> </a:t>
            </a:r>
            <a:r>
              <a:rPr lang="en-US" dirty="0" err="1"/>
              <a:t>thuật</a:t>
            </a:r>
            <a:r>
              <a:rPr lang="en-US" dirty="0"/>
              <a:t> </a:t>
            </a:r>
            <a:r>
              <a:rPr lang="en-US" dirty="0" err="1"/>
              <a:t>rô</a:t>
            </a:r>
            <a:r>
              <a:rPr lang="en-US" dirty="0"/>
              <a:t> </a:t>
            </a:r>
            <a:r>
              <a:rPr lang="en-US" dirty="0" err="1"/>
              <a:t>bốt</a:t>
            </a:r>
            <a:r>
              <a:rPr lang="en-US" dirty="0"/>
              <a:t> (robotics)</a:t>
            </a:r>
          </a:p>
        </p:txBody>
      </p:sp>
      <p:sp>
        <p:nvSpPr>
          <p:cNvPr id="4" name="Slide Number Placeholder 3">
            <a:extLst>
              <a:ext uri="{FF2B5EF4-FFF2-40B4-BE49-F238E27FC236}">
                <a16:creationId xmlns:a16="http://schemas.microsoft.com/office/drawing/2014/main" id="{A66FEECF-3D50-7F4A-97EC-8DBB8AD1C482}"/>
              </a:ext>
            </a:extLst>
          </p:cNvPr>
          <p:cNvSpPr>
            <a:spLocks noGrp="1"/>
          </p:cNvSpPr>
          <p:nvPr>
            <p:ph type="sldNum" sz="quarter" idx="12"/>
          </p:nvPr>
        </p:nvSpPr>
        <p:spPr/>
        <p:txBody>
          <a:bodyPr/>
          <a:lstStyle/>
          <a:p>
            <a:fld id="{DA8C51A7-BEEA-471D-933F-7E35BC04A30F}" type="slidenum">
              <a:rPr lang="en-US"/>
              <a:pPr/>
              <a:t>18</a:t>
            </a:fld>
            <a:endParaRPr lang="en-US"/>
          </a:p>
        </p:txBody>
      </p:sp>
      <p:pic>
        <p:nvPicPr>
          <p:cNvPr id="5" name="Picture 4" descr="jigsaw-1">
            <a:extLst>
              <a:ext uri="{FF2B5EF4-FFF2-40B4-BE49-F238E27FC236}">
                <a16:creationId xmlns:a16="http://schemas.microsoft.com/office/drawing/2014/main" id="{45355662-947E-1143-B165-855C8DE85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5464" y="1268760"/>
            <a:ext cx="3609975" cy="479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a:extLst>
              <a:ext uri="{FF2B5EF4-FFF2-40B4-BE49-F238E27FC236}">
                <a16:creationId xmlns:a16="http://schemas.microsoft.com/office/drawing/2014/main" id="{CD8E90E5-9F58-1B48-B4A0-39C31C5946C3}"/>
              </a:ext>
            </a:extLst>
          </p:cNvPr>
          <p:cNvSpPr txBox="1">
            <a:spLocks noChangeArrowheads="1"/>
          </p:cNvSpPr>
          <p:nvPr/>
        </p:nvSpPr>
        <p:spPr bwMode="auto">
          <a:xfrm>
            <a:off x="7707064" y="2949923"/>
            <a:ext cx="9445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solidFill>
                  <a:srgbClr val="3333CC"/>
                </a:solidFill>
                <a:latin typeface="Comic Sans MS" panose="030F0902030302020204" pitchFamily="66" charset="0"/>
              </a:rPr>
              <a:t>Search</a:t>
            </a:r>
          </a:p>
        </p:txBody>
      </p:sp>
      <p:sp>
        <p:nvSpPr>
          <p:cNvPr id="7" name="Text Box 6">
            <a:extLst>
              <a:ext uri="{FF2B5EF4-FFF2-40B4-BE49-F238E27FC236}">
                <a16:creationId xmlns:a16="http://schemas.microsoft.com/office/drawing/2014/main" id="{E42ADC3C-6A8C-6A4C-A074-BCF9F9ADF033}"/>
              </a:ext>
            </a:extLst>
          </p:cNvPr>
          <p:cNvSpPr txBox="1">
            <a:spLocks noChangeArrowheads="1"/>
          </p:cNvSpPr>
          <p:nvPr/>
        </p:nvSpPr>
        <p:spPr bwMode="auto">
          <a:xfrm>
            <a:off x="7478464" y="3783360"/>
            <a:ext cx="12890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solidFill>
                  <a:srgbClr val="990000"/>
                </a:solidFill>
                <a:latin typeface="Comic Sans MS" panose="030F0902030302020204" pitchFamily="66" charset="0"/>
              </a:rPr>
              <a:t>Knowledge</a:t>
            </a:r>
            <a:br>
              <a:rPr lang="en-US" altLang="en-US" sz="1800">
                <a:solidFill>
                  <a:srgbClr val="990000"/>
                </a:solidFill>
                <a:latin typeface="Comic Sans MS" panose="030F0902030302020204" pitchFamily="66" charset="0"/>
              </a:rPr>
            </a:br>
            <a:r>
              <a:rPr lang="en-US" altLang="en-US" sz="1800">
                <a:solidFill>
                  <a:srgbClr val="990000"/>
                </a:solidFill>
                <a:latin typeface="Comic Sans MS" panose="030F0902030302020204" pitchFamily="66" charset="0"/>
              </a:rPr>
              <a:t>rep.</a:t>
            </a:r>
          </a:p>
        </p:txBody>
      </p:sp>
      <p:sp>
        <p:nvSpPr>
          <p:cNvPr id="8" name="Text Box 7">
            <a:extLst>
              <a:ext uri="{FF2B5EF4-FFF2-40B4-BE49-F238E27FC236}">
                <a16:creationId xmlns:a16="http://schemas.microsoft.com/office/drawing/2014/main" id="{E076578D-550F-5143-B858-57E95E85CC64}"/>
              </a:ext>
            </a:extLst>
          </p:cNvPr>
          <p:cNvSpPr txBox="1">
            <a:spLocks noChangeArrowheads="1"/>
          </p:cNvSpPr>
          <p:nvPr/>
        </p:nvSpPr>
        <p:spPr bwMode="auto">
          <a:xfrm>
            <a:off x="6411664" y="4169123"/>
            <a:ext cx="10239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Planning</a:t>
            </a:r>
          </a:p>
        </p:txBody>
      </p:sp>
      <p:sp>
        <p:nvSpPr>
          <p:cNvPr id="9" name="Text Box 8">
            <a:extLst>
              <a:ext uri="{FF2B5EF4-FFF2-40B4-BE49-F238E27FC236}">
                <a16:creationId xmlns:a16="http://schemas.microsoft.com/office/drawing/2014/main" id="{CECB7CD4-CD11-BC44-8AA3-510286AC1E50}"/>
              </a:ext>
            </a:extLst>
          </p:cNvPr>
          <p:cNvSpPr txBox="1">
            <a:spLocks noChangeArrowheads="1"/>
          </p:cNvSpPr>
          <p:nvPr/>
        </p:nvSpPr>
        <p:spPr bwMode="auto">
          <a:xfrm>
            <a:off x="6335464" y="2640360"/>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Reasoning</a:t>
            </a:r>
          </a:p>
        </p:txBody>
      </p:sp>
      <p:sp>
        <p:nvSpPr>
          <p:cNvPr id="10" name="Text Box 9">
            <a:extLst>
              <a:ext uri="{FF2B5EF4-FFF2-40B4-BE49-F238E27FC236}">
                <a16:creationId xmlns:a16="http://schemas.microsoft.com/office/drawing/2014/main" id="{89CF0CCA-1961-BC46-AB4C-476DA063EE81}"/>
              </a:ext>
            </a:extLst>
          </p:cNvPr>
          <p:cNvSpPr txBox="1">
            <a:spLocks noChangeArrowheads="1"/>
          </p:cNvSpPr>
          <p:nvPr/>
        </p:nvSpPr>
        <p:spPr bwMode="auto">
          <a:xfrm>
            <a:off x="8926264" y="3173760"/>
            <a:ext cx="1084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Learning</a:t>
            </a:r>
          </a:p>
        </p:txBody>
      </p:sp>
      <p:sp>
        <p:nvSpPr>
          <p:cNvPr id="11" name="Text Box 10">
            <a:extLst>
              <a:ext uri="{FF2B5EF4-FFF2-40B4-BE49-F238E27FC236}">
                <a16:creationId xmlns:a16="http://schemas.microsoft.com/office/drawing/2014/main" id="{9E75657E-2C79-4F4F-A9A9-4E73A3E8BCC9}"/>
              </a:ext>
            </a:extLst>
          </p:cNvPr>
          <p:cNvSpPr txBox="1">
            <a:spLocks noChangeArrowheads="1"/>
          </p:cNvSpPr>
          <p:nvPr/>
        </p:nvSpPr>
        <p:spPr bwMode="auto">
          <a:xfrm>
            <a:off x="6471989" y="1614835"/>
            <a:ext cx="8239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Agent</a:t>
            </a:r>
          </a:p>
        </p:txBody>
      </p:sp>
      <p:sp>
        <p:nvSpPr>
          <p:cNvPr id="12" name="Text Box 11">
            <a:extLst>
              <a:ext uri="{FF2B5EF4-FFF2-40B4-BE49-F238E27FC236}">
                <a16:creationId xmlns:a16="http://schemas.microsoft.com/office/drawing/2014/main" id="{BC9D9F3A-FEEB-E548-B487-C39853709989}"/>
              </a:ext>
            </a:extLst>
          </p:cNvPr>
          <p:cNvSpPr txBox="1">
            <a:spLocks noChangeArrowheads="1"/>
          </p:cNvSpPr>
          <p:nvPr/>
        </p:nvSpPr>
        <p:spPr bwMode="auto">
          <a:xfrm>
            <a:off x="7630864" y="2030760"/>
            <a:ext cx="11033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Robotics</a:t>
            </a:r>
          </a:p>
        </p:txBody>
      </p:sp>
      <p:sp>
        <p:nvSpPr>
          <p:cNvPr id="13" name="Text Box 12">
            <a:extLst>
              <a:ext uri="{FF2B5EF4-FFF2-40B4-BE49-F238E27FC236}">
                <a16:creationId xmlns:a16="http://schemas.microsoft.com/office/drawing/2014/main" id="{54FA6F0E-6EAE-8A4B-83D1-DEAAA5447E74}"/>
              </a:ext>
            </a:extLst>
          </p:cNvPr>
          <p:cNvSpPr txBox="1">
            <a:spLocks noChangeArrowheads="1"/>
          </p:cNvSpPr>
          <p:nvPr/>
        </p:nvSpPr>
        <p:spPr bwMode="auto">
          <a:xfrm>
            <a:off x="8697664" y="1725960"/>
            <a:ext cx="1314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Perception</a:t>
            </a:r>
          </a:p>
        </p:txBody>
      </p:sp>
      <p:sp>
        <p:nvSpPr>
          <p:cNvPr id="14" name="Text Box 13">
            <a:extLst>
              <a:ext uri="{FF2B5EF4-FFF2-40B4-BE49-F238E27FC236}">
                <a16:creationId xmlns:a16="http://schemas.microsoft.com/office/drawing/2014/main" id="{447E91E6-A362-7645-894F-91C9ACD12F3F}"/>
              </a:ext>
            </a:extLst>
          </p:cNvPr>
          <p:cNvSpPr txBox="1">
            <a:spLocks noChangeArrowheads="1"/>
          </p:cNvSpPr>
          <p:nvPr/>
        </p:nvSpPr>
        <p:spPr bwMode="auto">
          <a:xfrm>
            <a:off x="6335464" y="5231160"/>
            <a:ext cx="1085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Natural</a:t>
            </a:r>
            <a:br>
              <a:rPr lang="en-US" altLang="en-US" sz="1800">
                <a:latin typeface="Comic Sans MS" panose="030F0902030302020204" pitchFamily="66" charset="0"/>
              </a:rPr>
            </a:br>
            <a:r>
              <a:rPr lang="en-US" altLang="en-US" sz="1800">
                <a:latin typeface="Comic Sans MS" panose="030F0902030302020204" pitchFamily="66" charset="0"/>
              </a:rPr>
              <a:t>language</a:t>
            </a:r>
          </a:p>
        </p:txBody>
      </p:sp>
      <p:sp>
        <p:nvSpPr>
          <p:cNvPr id="15" name="Text Box 14">
            <a:extLst>
              <a:ext uri="{FF2B5EF4-FFF2-40B4-BE49-F238E27FC236}">
                <a16:creationId xmlns:a16="http://schemas.microsoft.com/office/drawing/2014/main" id="{B1F55C19-CC2A-544E-B0E2-BCD8C1F73072}"/>
              </a:ext>
            </a:extLst>
          </p:cNvPr>
          <p:cNvSpPr txBox="1">
            <a:spLocks noChangeArrowheads="1"/>
          </p:cNvSpPr>
          <p:nvPr/>
        </p:nvSpPr>
        <p:spPr bwMode="auto">
          <a:xfrm>
            <a:off x="7995989" y="5348635"/>
            <a:ext cx="35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en-US" altLang="en-US" sz="1800">
                <a:latin typeface="Comic Sans MS" panose="030F0902030302020204" pitchFamily="66" charset="0"/>
              </a:rPr>
              <a:t>...</a:t>
            </a:r>
          </a:p>
        </p:txBody>
      </p:sp>
      <p:sp>
        <p:nvSpPr>
          <p:cNvPr id="16" name="Text Box 16">
            <a:extLst>
              <a:ext uri="{FF2B5EF4-FFF2-40B4-BE49-F238E27FC236}">
                <a16:creationId xmlns:a16="http://schemas.microsoft.com/office/drawing/2014/main" id="{C022985F-B061-6949-BBC8-2ED11E66B469}"/>
              </a:ext>
            </a:extLst>
          </p:cNvPr>
          <p:cNvSpPr txBox="1">
            <a:spLocks noChangeArrowheads="1"/>
          </p:cNvSpPr>
          <p:nvPr/>
        </p:nvSpPr>
        <p:spPr bwMode="auto">
          <a:xfrm>
            <a:off x="8850064" y="5383560"/>
            <a:ext cx="10953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latin typeface="Comic Sans MS" panose="030F0902030302020204" pitchFamily="66" charset="0"/>
              </a:rPr>
              <a:t>Expert</a:t>
            </a:r>
          </a:p>
          <a:p>
            <a:pPr algn="ctr" eaLnBrk="1" hangingPunct="1"/>
            <a:r>
              <a:rPr lang="en-US" altLang="en-US" sz="1800">
                <a:latin typeface="Comic Sans MS" panose="030F0902030302020204" pitchFamily="66" charset="0"/>
              </a:rPr>
              <a:t>Systems</a:t>
            </a:r>
          </a:p>
        </p:txBody>
      </p:sp>
      <p:sp>
        <p:nvSpPr>
          <p:cNvPr id="17" name="Text Box 17">
            <a:extLst>
              <a:ext uri="{FF2B5EF4-FFF2-40B4-BE49-F238E27FC236}">
                <a16:creationId xmlns:a16="http://schemas.microsoft.com/office/drawing/2014/main" id="{5DBA645B-4CC1-214E-B9CA-9037A951B033}"/>
              </a:ext>
            </a:extLst>
          </p:cNvPr>
          <p:cNvSpPr txBox="1">
            <a:spLocks noChangeArrowheads="1"/>
          </p:cNvSpPr>
          <p:nvPr/>
        </p:nvSpPr>
        <p:spPr bwMode="auto">
          <a:xfrm>
            <a:off x="8597652" y="3859560"/>
            <a:ext cx="16621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cs typeface="Arial" panose="020B0604020202020204" pitchFamily="34" charset="0"/>
              </a:defRPr>
            </a:lvl1pPr>
            <a:lvl2pPr marL="742950" indent="-285750" eaLnBrk="0" hangingPunct="0">
              <a:defRPr sz="2000">
                <a:solidFill>
                  <a:schemeClr val="tx1"/>
                </a:solidFill>
                <a:latin typeface="Arial" panose="020B0604020202020204" pitchFamily="34" charset="0"/>
                <a:cs typeface="Arial" panose="020B0604020202020204" pitchFamily="34" charset="0"/>
              </a:defRPr>
            </a:lvl2pPr>
            <a:lvl3pPr marL="1143000" indent="-228600" eaLnBrk="0" hangingPunct="0">
              <a:defRPr sz="2000">
                <a:solidFill>
                  <a:schemeClr val="tx1"/>
                </a:solidFill>
                <a:latin typeface="Arial" panose="020B0604020202020204" pitchFamily="34" charset="0"/>
                <a:cs typeface="Arial" panose="020B0604020202020204" pitchFamily="34" charset="0"/>
              </a:defRPr>
            </a:lvl3pPr>
            <a:lvl4pPr marL="1600200" indent="-228600" eaLnBrk="0" hangingPunct="0">
              <a:defRPr sz="2000">
                <a:solidFill>
                  <a:schemeClr val="tx1"/>
                </a:solidFill>
                <a:latin typeface="Arial" panose="020B0604020202020204" pitchFamily="34" charset="0"/>
                <a:cs typeface="Arial" panose="020B0604020202020204" pitchFamily="34" charset="0"/>
              </a:defRPr>
            </a:lvl4pPr>
            <a:lvl5pPr marL="2057400" indent="-228600" eaLnBrk="0" hangingPunct="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latin typeface="Comic Sans MS" panose="030F0902030302020204" pitchFamily="66" charset="0"/>
              </a:rPr>
              <a:t>Constraint</a:t>
            </a:r>
            <a:br>
              <a:rPr lang="en-US" altLang="en-US" sz="1800">
                <a:latin typeface="Comic Sans MS" panose="030F0902030302020204" pitchFamily="66" charset="0"/>
              </a:rPr>
            </a:br>
            <a:r>
              <a:rPr lang="en-US" altLang="en-US" sz="1800">
                <a:latin typeface="Comic Sans MS" panose="030F0902030302020204" pitchFamily="66" charset="0"/>
              </a:rPr>
              <a:t>satisfaction   </a:t>
            </a:r>
          </a:p>
        </p:txBody>
      </p:sp>
    </p:spTree>
    <p:extLst>
      <p:ext uri="{BB962C8B-B14F-4D97-AF65-F5344CB8AC3E}">
        <p14:creationId xmlns:p14="http://schemas.microsoft.com/office/powerpoint/2010/main" val="1050621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FC7-158B-1E43-9F44-DE48CCD25DE5}"/>
              </a:ext>
            </a:extLst>
          </p:cNvPr>
          <p:cNvSpPr>
            <a:spLocks noGrp="1"/>
          </p:cNvSpPr>
          <p:nvPr>
            <p:ph type="title"/>
          </p:nvPr>
        </p:nvSpPr>
        <p:spPr/>
        <p:txBody>
          <a:bodyPr/>
          <a:lstStyle/>
          <a:p>
            <a:r>
              <a:rPr lang="en-US"/>
              <a:t>7. Những vấn đề chưa được giải quyết</a:t>
            </a:r>
          </a:p>
        </p:txBody>
      </p:sp>
      <p:sp>
        <p:nvSpPr>
          <p:cNvPr id="4" name="Slide Number Placeholder 3">
            <a:extLst>
              <a:ext uri="{FF2B5EF4-FFF2-40B4-BE49-F238E27FC236}">
                <a16:creationId xmlns:a16="http://schemas.microsoft.com/office/drawing/2014/main" id="{D8EBFB18-3CF4-2E4E-8B2F-1C9644843330}"/>
              </a:ext>
            </a:extLst>
          </p:cNvPr>
          <p:cNvSpPr>
            <a:spLocks noGrp="1"/>
          </p:cNvSpPr>
          <p:nvPr>
            <p:ph type="sldNum" sz="quarter" idx="12"/>
          </p:nvPr>
        </p:nvSpPr>
        <p:spPr/>
        <p:txBody>
          <a:bodyPr/>
          <a:lstStyle/>
          <a:p>
            <a:fld id="{DA8C51A7-BEEA-471D-933F-7E35BC04A30F}" type="slidenum">
              <a:rPr lang="en-US"/>
              <a:pPr/>
              <a:t>19</a:t>
            </a:fld>
            <a:endParaRPr lang="en-US"/>
          </a:p>
        </p:txBody>
      </p:sp>
      <p:sp>
        <p:nvSpPr>
          <p:cNvPr id="6" name="Content Placeholder 5">
            <a:extLst>
              <a:ext uri="{FF2B5EF4-FFF2-40B4-BE49-F238E27FC236}">
                <a16:creationId xmlns:a16="http://schemas.microsoft.com/office/drawing/2014/main" id="{0F5F9ADB-121F-0D4B-9158-9042A26AFBE3}"/>
              </a:ext>
            </a:extLst>
          </p:cNvPr>
          <p:cNvSpPr>
            <a:spLocks noGrp="1"/>
          </p:cNvSpPr>
          <p:nvPr>
            <p:ph idx="1"/>
          </p:nvPr>
        </p:nvSpPr>
        <p:spPr/>
        <p:txBody>
          <a:bodyPr/>
          <a:lstStyle/>
          <a:p>
            <a:r>
              <a:rPr lang="vi-VN"/>
              <a:t>Chương trình chưa tự sinh ra được heuristic</a:t>
            </a:r>
          </a:p>
          <a:p>
            <a:r>
              <a:rPr lang="vi-VN"/>
              <a:t>Chưa có khả năng xử lý song song của con người</a:t>
            </a:r>
          </a:p>
          <a:p>
            <a:r>
              <a:rPr lang="vi-VN"/>
              <a:t>Chưa có khả năng diễn giải một vấn đề theo nhiều phương pháp khác nhau như con người.</a:t>
            </a:r>
          </a:p>
          <a:p>
            <a:r>
              <a:rPr lang="vi-VN"/>
              <a:t>Chưa có khả năng xử lý thông tin trong môi trường liên tục như con người.</a:t>
            </a:r>
          </a:p>
          <a:p>
            <a:r>
              <a:rPr lang="vi-VN"/>
              <a:t>Chưa có khả năng học như con người.</a:t>
            </a:r>
          </a:p>
          <a:p>
            <a:r>
              <a:rPr lang="vi-VN"/>
              <a:t>Chưa có khả năng tự thích nghi với môi trường.</a:t>
            </a:r>
            <a:endParaRPr lang="en-US"/>
          </a:p>
        </p:txBody>
      </p:sp>
    </p:spTree>
    <p:extLst>
      <p:ext uri="{BB962C8B-B14F-4D97-AF65-F5344CB8AC3E}">
        <p14:creationId xmlns:p14="http://schemas.microsoft.com/office/powerpoint/2010/main" val="3474885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BFC7-158B-1E43-9F44-DE48CCD25DE5}"/>
              </a:ext>
            </a:extLst>
          </p:cNvPr>
          <p:cNvSpPr>
            <a:spLocks noGrp="1"/>
          </p:cNvSpPr>
          <p:nvPr>
            <p:ph type="title"/>
          </p:nvPr>
        </p:nvSpPr>
        <p:spPr>
          <a:xfrm>
            <a:off x="751012" y="188640"/>
            <a:ext cx="9361040" cy="1325563"/>
          </a:xfrm>
        </p:spPr>
        <p:txBody>
          <a:bodyPr/>
          <a:lstStyle/>
          <a:p>
            <a:r>
              <a:rPr lang="en-US"/>
              <a:t>8. So sánh giữa lập trình hệ thống và lập trình AI</a:t>
            </a:r>
          </a:p>
        </p:txBody>
      </p:sp>
      <p:graphicFrame>
        <p:nvGraphicFramePr>
          <p:cNvPr id="5" name="Content Placeholder 4">
            <a:extLst>
              <a:ext uri="{FF2B5EF4-FFF2-40B4-BE49-F238E27FC236}">
                <a16:creationId xmlns:a16="http://schemas.microsoft.com/office/drawing/2014/main" id="{EAFE2B2E-946A-DD47-AEDF-EBD2F17CD46D}"/>
              </a:ext>
            </a:extLst>
          </p:cNvPr>
          <p:cNvGraphicFramePr>
            <a:graphicFrameLocks noGrp="1"/>
          </p:cNvGraphicFramePr>
          <p:nvPr>
            <p:ph idx="1"/>
            <p:extLst>
              <p:ext uri="{D42A27DB-BD31-4B8C-83A1-F6EECF244321}">
                <p14:modId xmlns:p14="http://schemas.microsoft.com/office/powerpoint/2010/main" val="2486769996"/>
              </p:ext>
            </p:extLst>
          </p:nvPr>
        </p:nvGraphicFramePr>
        <p:xfrm>
          <a:off x="823020" y="1514203"/>
          <a:ext cx="8802117" cy="4691920"/>
        </p:xfrm>
        <a:graphic>
          <a:graphicData uri="http://schemas.openxmlformats.org/drawingml/2006/table">
            <a:tbl>
              <a:tblPr/>
              <a:tblGrid>
                <a:gridCol w="4401058">
                  <a:extLst>
                    <a:ext uri="{9D8B030D-6E8A-4147-A177-3AD203B41FA5}">
                      <a16:colId xmlns:a16="http://schemas.microsoft.com/office/drawing/2014/main" val="2235154833"/>
                    </a:ext>
                  </a:extLst>
                </a:gridCol>
                <a:gridCol w="4401059">
                  <a:extLst>
                    <a:ext uri="{9D8B030D-6E8A-4147-A177-3AD203B41FA5}">
                      <a16:colId xmlns:a16="http://schemas.microsoft.com/office/drawing/2014/main" val="1406620665"/>
                    </a:ext>
                  </a:extLst>
                </a:gridCol>
              </a:tblGrid>
              <a:tr h="4691920">
                <a:tc>
                  <a:txBody>
                    <a:bodyPr/>
                    <a:lstStyle/>
                    <a:p>
                      <a:pPr algn="ctr"/>
                      <a:r>
                        <a:rPr lang="vi-VN" sz="2000" b="1" dirty="0">
                          <a:latin typeface="Calibri" panose="020F0502020204030204" pitchFamily="34" charset="0"/>
                          <a:cs typeface="Calibri" panose="020F0502020204030204" pitchFamily="34" charset="0"/>
                        </a:rPr>
                        <a:t>Lập trình hệ thống </a:t>
                      </a:r>
                    </a:p>
                    <a:p>
                      <a:pPr algn="just"/>
                      <a:endParaRPr lang="vi-VN" sz="2000" b="1"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Dữ liệu + Thuật toán = Chương trình. </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dữ liệu. </a:t>
                      </a:r>
                    </a:p>
                    <a:p>
                      <a:pPr algn="just">
                        <a:buFont typeface="Arial" panose="020B0604020202020204" pitchFamily="34" charset="0"/>
                        <a:buChar char="•"/>
                      </a:pPr>
                      <a:endParaRPr lang="vi-VN" sz="18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Dữ liệu trong bộ nhớ được đánh địa chỉ số </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theo các thuật toán. </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Định hướng xử lý các đại lượng định lượng số. </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tuần tự theo lô. </a:t>
                      </a:r>
                    </a:p>
                    <a:p>
                      <a:pPr algn="just">
                        <a:buFont typeface="Arial" panose="020B0604020202020204" pitchFamily="34" charset="0"/>
                        <a:buChar char="•"/>
                      </a:pPr>
                      <a:endParaRPr lang="vi-VN" sz="1800" dirty="0">
                        <a:latin typeface="Calibri" panose="020F0502020204030204" pitchFamily="34" charset="0"/>
                        <a:cs typeface="Calibri" panose="020F0502020204030204" pitchFamily="34" charset="0"/>
                      </a:endParaRPr>
                    </a:p>
                    <a:p>
                      <a:pPr algn="just">
                        <a:buFont typeface="Arial" panose="020B0604020202020204" pitchFamily="34" charset="0"/>
                        <a:buChar char="•"/>
                      </a:pPr>
                      <a:endParaRPr lang="vi-VN" sz="1800" dirty="0">
                        <a:latin typeface="Calibri" panose="020F0502020204030204" pitchFamily="34" charset="0"/>
                        <a:cs typeface="Calibri" panose="020F0502020204030204" pitchFamily="34" charset="0"/>
                      </a:endParaRPr>
                    </a:p>
                    <a:p>
                      <a:pPr algn="just">
                        <a:buFont typeface="Arial" panose="020B0604020202020204" pitchFamily="34" charset="0"/>
                        <a:buChar char="•"/>
                      </a:pPr>
                      <a:endParaRPr lang="vi-VN" sz="1800" dirty="0">
                        <a:latin typeface="Calibri" panose="020F0502020204030204" pitchFamily="34" charset="0"/>
                        <a:cs typeface="Calibri" panose="020F0502020204030204" pitchFamily="34" charset="0"/>
                      </a:endParaRP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Không giải thích trong quá trình thực hiện.</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a:t>
                      </a:r>
                    </a:p>
                    <a:p>
                      <a:pPr algn="just">
                        <a:buFont typeface="Arial" panose="020B0604020202020204" pitchFamily="34" charset="0"/>
                        <a:buChar char="•"/>
                      </a:pPr>
                      <a:r>
                        <a:rPr lang="vi-VN" sz="1800" dirty="0">
                          <a:latin typeface="Calibri" panose="020F0502020204030204" pitchFamily="34" charset="0"/>
                          <a:cs typeface="Calibri" panose="020F0502020204030204" pitchFamily="34" charset="0"/>
                        </a:rPr>
                        <a:t> Kết quả chính xác, không được mắc lỗi. </a:t>
                      </a:r>
                    </a:p>
                  </a:txBody>
                  <a:tcPr marL="83680" marR="83680" marT="41840" marB="4184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tc>
                  <a:txBody>
                    <a:bodyPr/>
                    <a:lstStyle/>
                    <a:p>
                      <a:pPr algn="ctr"/>
                      <a:r>
                        <a:rPr lang="vi-VN" sz="2000" b="1" dirty="0">
                          <a:latin typeface="Calibri" panose="020F0502020204030204" pitchFamily="34" charset="0"/>
                          <a:cs typeface="Calibri" panose="020F0502020204030204" pitchFamily="34" charset="0"/>
                        </a:rPr>
                        <a:t>Lập trình A.I </a:t>
                      </a:r>
                    </a:p>
                    <a:p>
                      <a:pPr algn="l"/>
                      <a:endParaRPr lang="vi-VN" sz="2000" b="1" dirty="0">
                        <a:latin typeface="Calibri" panose="020F0502020204030204" pitchFamily="34" charset="0"/>
                        <a:cs typeface="Calibri" panose="020F0502020204030204" pitchFamily="34" charset="0"/>
                      </a:endParaRP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Tri thức + Điều khiển =Chương trình.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dữ liệu định tính( các ký hiệu tượng trưng).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dựa trên tri thức cho phép dùng các thuật giải heuristic, các cơ chế suy diễn.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Tri thức được cấu trúc hoá, để trong bộ nhớ làm việc theo ký hiệu.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Định hướng xử lý các đại lượng định tính (logic), các ký hiệu tượng trưng và danh sách.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Xử lý theo chế độ tương tác (hội thoại ngôn ngữ tự nhiên).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Có giải thích hành vi của hệ thống trong quá trình thực hiện. </a:t>
                      </a:r>
                    </a:p>
                    <a:p>
                      <a:pPr algn="l">
                        <a:buFont typeface="Arial" panose="020B0604020202020204" pitchFamily="34" charset="0"/>
                        <a:buChar char="•"/>
                      </a:pPr>
                      <a:r>
                        <a:rPr lang="vi-VN" sz="1800" dirty="0">
                          <a:latin typeface="Calibri" panose="020F0502020204030204" pitchFamily="34" charset="0"/>
                          <a:cs typeface="Calibri" panose="020F0502020204030204" pitchFamily="34" charset="0"/>
                        </a:rPr>
                        <a:t> Kết quả tốt, cho phép mắc lỗi. </a:t>
                      </a:r>
                    </a:p>
                  </a:txBody>
                  <a:tcPr marL="83680" marR="83680" marT="41840" marB="4184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92273108"/>
                  </a:ext>
                </a:extLst>
              </a:tr>
            </a:tbl>
          </a:graphicData>
        </a:graphic>
      </p:graphicFrame>
      <p:sp>
        <p:nvSpPr>
          <p:cNvPr id="4" name="Slide Number Placeholder 3">
            <a:extLst>
              <a:ext uri="{FF2B5EF4-FFF2-40B4-BE49-F238E27FC236}">
                <a16:creationId xmlns:a16="http://schemas.microsoft.com/office/drawing/2014/main" id="{D8EBFB18-3CF4-2E4E-8B2F-1C9644843330}"/>
              </a:ext>
            </a:extLst>
          </p:cNvPr>
          <p:cNvSpPr>
            <a:spLocks noGrp="1"/>
          </p:cNvSpPr>
          <p:nvPr>
            <p:ph type="sldNum" sz="quarter" idx="12"/>
          </p:nvPr>
        </p:nvSpPr>
        <p:spPr/>
        <p:txBody>
          <a:bodyPr/>
          <a:lstStyle/>
          <a:p>
            <a:fld id="{DA8C51A7-BEEA-471D-933F-7E35BC04A30F}" type="slidenum">
              <a:rPr lang="en-US"/>
              <a:pPr/>
              <a:t>20</a:t>
            </a:fld>
            <a:endParaRPr lang="en-US"/>
          </a:p>
        </p:txBody>
      </p:sp>
    </p:spTree>
    <p:extLst>
      <p:ext uri="{BB962C8B-B14F-4D97-AF65-F5344CB8AC3E}">
        <p14:creationId xmlns:p14="http://schemas.microsoft.com/office/powerpoint/2010/main" val="18184245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3493</TotalTime>
  <Words>2415</Words>
  <Application>Microsoft Macintosh PowerPoint</Application>
  <PresentationFormat>35mm Slides</PresentationFormat>
  <Paragraphs>213</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.VnTime</vt:lpstr>
      <vt:lpstr>Arial</vt:lpstr>
      <vt:lpstr>Calibri</vt:lpstr>
      <vt:lpstr>Calibri Light</vt:lpstr>
      <vt:lpstr>Comic Sans MS</vt:lpstr>
      <vt:lpstr>Tahoma</vt:lpstr>
      <vt:lpstr>Wingdings</vt:lpstr>
      <vt:lpstr>Office Theme</vt:lpstr>
      <vt:lpstr>NHẬP MÔN TRÍ TUỆ NHÂN TẠO Chương 1. Giới thiệu chung</vt:lpstr>
      <vt:lpstr>Cấu trúc môn học</vt:lpstr>
      <vt:lpstr>Chương 1. Giới thiệu chung</vt:lpstr>
      <vt:lpstr>1. Các thông tin liên quan đến học phần</vt:lpstr>
      <vt:lpstr>2. Yêu cầu của học phần</vt:lpstr>
      <vt:lpstr>3. Khái niệm trí tuệ nhân tạo</vt:lpstr>
      <vt:lpstr>3. Khái niệm trí tuệ nhân tạo (t)</vt:lpstr>
      <vt:lpstr>Phép thử turning (Turning test)</vt:lpstr>
      <vt:lpstr>Khái niệm trí tuệ nhân tạo</vt:lpstr>
      <vt:lpstr>Khái niệm trí tuệ nhân tạo</vt:lpstr>
      <vt:lpstr>Khái niệm trí tuệ nhân tạo</vt:lpstr>
      <vt:lpstr>Một số định nghĩa về TTNT trong tài liệu tham khảo</vt:lpstr>
      <vt:lpstr>4. Một số ví dụ về trí tuệ nhân tạo</vt:lpstr>
      <vt:lpstr>5. Lịch sử hình thành và phát triển</vt:lpstr>
      <vt:lpstr>5. Lịch sử hình thành và phát triển (t)</vt:lpstr>
      <vt:lpstr>5. Lịch sử hình thành và phát triển (t)</vt:lpstr>
      <vt:lpstr>5. Lịch sử hình thành và phát triển (t)</vt:lpstr>
      <vt:lpstr>6. Các lĩnh vực nghiên cứu của TTNT</vt:lpstr>
      <vt:lpstr>7. Những vấn đề chưa được giải quyết</vt:lpstr>
      <vt:lpstr>8. So sánh giữa lập trình hệ thống và lập trình AI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Nguyen Quy</cp:lastModifiedBy>
  <cp:revision>66</cp:revision>
  <dcterms:created xsi:type="dcterms:W3CDTF">2018-12-13T03:42:15Z</dcterms:created>
  <dcterms:modified xsi:type="dcterms:W3CDTF">2021-11-05T09:21:14Z</dcterms:modified>
</cp:coreProperties>
</file>