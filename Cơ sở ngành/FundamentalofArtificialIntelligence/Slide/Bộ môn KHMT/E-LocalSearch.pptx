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5" r:id="rId1"/>
  </p:sldMasterIdLst>
  <p:notesMasterIdLst>
    <p:notesMasterId r:id="rId39"/>
  </p:notesMasterIdLst>
  <p:handoutMasterIdLst>
    <p:handoutMasterId r:id="rId40"/>
  </p:handoutMasterIdLst>
  <p:sldIdLst>
    <p:sldId id="324" r:id="rId2"/>
    <p:sldId id="325" r:id="rId3"/>
    <p:sldId id="326" r:id="rId4"/>
    <p:sldId id="327" r:id="rId5"/>
    <p:sldId id="328" r:id="rId6"/>
    <p:sldId id="329" r:id="rId7"/>
    <p:sldId id="330" r:id="rId8"/>
    <p:sldId id="331" r:id="rId9"/>
    <p:sldId id="332" r:id="rId10"/>
    <p:sldId id="333" r:id="rId11"/>
    <p:sldId id="334" r:id="rId12"/>
    <p:sldId id="335" r:id="rId13"/>
    <p:sldId id="346" r:id="rId14"/>
    <p:sldId id="337" r:id="rId15"/>
    <p:sldId id="338" r:id="rId16"/>
    <p:sldId id="339" r:id="rId17"/>
    <p:sldId id="340" r:id="rId18"/>
    <p:sldId id="342" r:id="rId19"/>
    <p:sldId id="343" r:id="rId20"/>
    <p:sldId id="344" r:id="rId21"/>
    <p:sldId id="345" r:id="rId22"/>
    <p:sldId id="347" r:id="rId23"/>
    <p:sldId id="348" r:id="rId24"/>
    <p:sldId id="349" r:id="rId25"/>
    <p:sldId id="350" r:id="rId26"/>
    <p:sldId id="351" r:id="rId27"/>
    <p:sldId id="353" r:id="rId28"/>
    <p:sldId id="352" r:id="rId29"/>
    <p:sldId id="354" r:id="rId30"/>
    <p:sldId id="355" r:id="rId31"/>
    <p:sldId id="356" r:id="rId32"/>
    <p:sldId id="357" r:id="rId33"/>
    <p:sldId id="358" r:id="rId34"/>
    <p:sldId id="359" r:id="rId35"/>
    <p:sldId id="360" r:id="rId36"/>
    <p:sldId id="361" r:id="rId37"/>
    <p:sldId id="362" r:id="rId38"/>
  </p:sldIdLst>
  <p:sldSz cx="10287000" cy="6858000" type="35mm"/>
  <p:notesSz cx="9601200" cy="7315200"/>
  <p:defaultTextStyle>
    <a:defPPr>
      <a:defRPr lang="en-US"/>
    </a:defPPr>
    <a:lvl1pPr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1pPr>
    <a:lvl2pPr marL="4556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2pPr>
    <a:lvl3pPr marL="9128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3pPr>
    <a:lvl4pPr marL="13700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4pPr>
    <a:lvl5pPr marL="1827213" indent="1588" algn="l" rtl="0" eaLnBrk="0" fontAlgn="base" hangingPunct="0">
      <a:spcBef>
        <a:spcPct val="0"/>
      </a:spcBef>
      <a:spcAft>
        <a:spcPct val="0"/>
      </a:spcAft>
      <a:defRPr kern="1200">
        <a:solidFill>
          <a:schemeClr val="tx1"/>
        </a:solidFill>
        <a:latin typeface="Arial" pitchFamily="34" charset="0"/>
        <a:ea typeface="MS PGothic" pitchFamily="34" charset="-128"/>
        <a:cs typeface="+mn-cs"/>
      </a:defRPr>
    </a:lvl5pPr>
    <a:lvl6pPr marL="2286000" algn="l" defTabSz="914400" rtl="0" eaLnBrk="1" latinLnBrk="0" hangingPunct="1">
      <a:defRPr kern="1200">
        <a:solidFill>
          <a:schemeClr val="tx1"/>
        </a:solidFill>
        <a:latin typeface="Arial" pitchFamily="34" charset="0"/>
        <a:ea typeface="MS PGothic" pitchFamily="34" charset="-128"/>
        <a:cs typeface="+mn-cs"/>
      </a:defRPr>
    </a:lvl6pPr>
    <a:lvl7pPr marL="2743200" algn="l" defTabSz="914400" rtl="0" eaLnBrk="1" latinLnBrk="0" hangingPunct="1">
      <a:defRPr kern="1200">
        <a:solidFill>
          <a:schemeClr val="tx1"/>
        </a:solidFill>
        <a:latin typeface="Arial" pitchFamily="34" charset="0"/>
        <a:ea typeface="MS PGothic" pitchFamily="34" charset="-128"/>
        <a:cs typeface="+mn-cs"/>
      </a:defRPr>
    </a:lvl7pPr>
    <a:lvl8pPr marL="3200400" algn="l" defTabSz="914400" rtl="0" eaLnBrk="1" latinLnBrk="0" hangingPunct="1">
      <a:defRPr kern="1200">
        <a:solidFill>
          <a:schemeClr val="tx1"/>
        </a:solidFill>
        <a:latin typeface="Arial" pitchFamily="34" charset="0"/>
        <a:ea typeface="MS PGothic" pitchFamily="34" charset="-128"/>
        <a:cs typeface="+mn-cs"/>
      </a:defRPr>
    </a:lvl8pPr>
    <a:lvl9pPr marL="3657600" algn="l" defTabSz="914400" rtl="0" eaLnBrk="1" latinLnBrk="0" hangingPunct="1">
      <a:defRPr kern="1200">
        <a:solidFill>
          <a:schemeClr val="tx1"/>
        </a:solidFill>
        <a:latin typeface="Arial" pitchFamily="34" charset="0"/>
        <a:ea typeface="MS PGothic"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240">
          <p15:clr>
            <a:srgbClr val="A4A3A4"/>
          </p15:clr>
        </p15:guide>
      </p15:sldGuideLst>
    </p:ext>
    <p:ext uri="{2D200454-40CA-4A62-9FC3-DE9A4176ACB9}">
      <p15:notesGuideLst xmlns:p15="http://schemas.microsoft.com/office/powerpoint/2012/main">
        <p15:guide id="1" orient="horz" pos="2304">
          <p15:clr>
            <a:srgbClr val="A4A3A4"/>
          </p15:clr>
        </p15:guide>
        <p15:guide id="2" pos="3024">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6902B"/>
    <a:srgbClr val="BA2212"/>
    <a:srgbClr val="EE1A4C"/>
    <a:srgbClr val="FFFFFF"/>
    <a:srgbClr val="000099"/>
    <a:srgbClr val="FFBDDE"/>
    <a:srgbClr val="FFCCCC"/>
    <a:srgbClr val="FFCCFF"/>
    <a:srgbClr val="08091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6588" autoAdjust="0"/>
    <p:restoredTop sz="81661" autoAdjust="0"/>
  </p:normalViewPr>
  <p:slideViewPr>
    <p:cSldViewPr>
      <p:cViewPr varScale="1">
        <p:scale>
          <a:sx n="89" d="100"/>
          <a:sy n="89" d="100"/>
        </p:scale>
        <p:origin x="1880" y="160"/>
      </p:cViewPr>
      <p:guideLst>
        <p:guide orient="horz" pos="2160"/>
        <p:guide pos="324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66" d="100"/>
        <a:sy n="66" d="100"/>
      </p:scale>
      <p:origin x="0" y="3930"/>
    </p:cViewPr>
  </p:sorterViewPr>
  <p:notesViewPr>
    <p:cSldViewPr>
      <p:cViewPr varScale="1">
        <p:scale>
          <a:sx n="38" d="100"/>
          <a:sy n="38" d="100"/>
        </p:scale>
        <p:origin x="-1590" y="-90"/>
      </p:cViewPr>
      <p:guideLst>
        <p:guide orient="horz" pos="2304"/>
        <p:guide pos="3024"/>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handoutMaster" Target="handoutMasters/handout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s>
</file>

<file path=ppt/handoutMasters/_rels/handoutMaster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45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1" name="Rectangle 3"/>
          <p:cNvSpPr>
            <a:spLocks noGrp="1" noChangeArrowheads="1"/>
          </p:cNvSpPr>
          <p:nvPr>
            <p:ph type="dt" sz="quarter"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2" name="Rectangle 4"/>
          <p:cNvSpPr>
            <a:spLocks noGrp="1" noChangeArrowheads="1"/>
          </p:cNvSpPr>
          <p:nvPr>
            <p:ph type="ftr" sz="quarter" idx="2"/>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spcBef>
                <a:spcPct val="20000"/>
              </a:spcBef>
              <a:buClr>
                <a:schemeClr val="hlink"/>
              </a:buClr>
              <a:buSzPct val="110000"/>
              <a:buFont typeface="Wingdings" pitchFamily="2" charset="2"/>
              <a:buBlip>
                <a:blip r:embed="rId2"/>
              </a:buBlip>
              <a:defRPr sz="1200">
                <a:latin typeface=".VnTime" pitchFamily="34" charset="0"/>
                <a:cs typeface="Arial" pitchFamily="34" charset="0"/>
              </a:defRPr>
            </a:lvl1pPr>
          </a:lstStyle>
          <a:p>
            <a:endParaRPr lang="en-US"/>
          </a:p>
        </p:txBody>
      </p:sp>
      <p:sp>
        <p:nvSpPr>
          <p:cNvPr id="104453" name="Rectangle 5"/>
          <p:cNvSpPr>
            <a:spLocks noGrp="1" noChangeArrowheads="1"/>
          </p:cNvSpPr>
          <p:nvPr>
            <p:ph type="sldNum" sz="quarter" idx="3"/>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spcBef>
                <a:spcPct val="20000"/>
              </a:spcBef>
              <a:buClr>
                <a:schemeClr val="hlink"/>
              </a:buClr>
              <a:buSzPct val="110000"/>
              <a:buFont typeface="Wingdings" pitchFamily="2" charset="2"/>
              <a:buBlip>
                <a:blip r:embed="rId2"/>
              </a:buBlip>
              <a:defRPr sz="1200">
                <a:latin typeface=".VnTime" pitchFamily="34" charset="0"/>
              </a:defRPr>
            </a:lvl1pPr>
          </a:lstStyle>
          <a:p>
            <a:fld id="{9FB05F6A-398C-455D-BE8A-CDE75FC5BBFC}" type="slidenum">
              <a:rPr lang="en-US"/>
              <a:pPr/>
              <a:t>‹#›</a:t>
            </a:fld>
            <a:endParaRPr 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8130" name="Rectangle 2"/>
          <p:cNvSpPr>
            <a:spLocks noGrp="1" noChangeArrowheads="1"/>
          </p:cNvSpPr>
          <p:nvPr>
            <p:ph type="hdr" sz="quarter"/>
          </p:nvPr>
        </p:nvSpPr>
        <p:spPr bwMode="auto">
          <a:xfrm>
            <a:off x="0" y="0"/>
            <a:ext cx="4160838"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1" name="Rectangle 3"/>
          <p:cNvSpPr>
            <a:spLocks noGrp="1" noChangeArrowheads="1"/>
          </p:cNvSpPr>
          <p:nvPr>
            <p:ph type="dt" idx="1"/>
          </p:nvPr>
        </p:nvSpPr>
        <p:spPr bwMode="auto">
          <a:xfrm>
            <a:off x="5440363" y="0"/>
            <a:ext cx="4160837" cy="366713"/>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lvl1pPr algn="r" defTabSz="966788" eaLnBrk="1" hangingPunct="1">
              <a:defRPr sz="1200">
                <a:latin typeface="Tahoma" pitchFamily="34" charset="0"/>
                <a:cs typeface="Arial" pitchFamily="34" charset="0"/>
              </a:defRPr>
            </a:lvl1pPr>
          </a:lstStyle>
          <a:p>
            <a:endParaRPr lang="en-US"/>
          </a:p>
        </p:txBody>
      </p:sp>
      <p:sp>
        <p:nvSpPr>
          <p:cNvPr id="13316" name="Rectangle 4"/>
          <p:cNvSpPr>
            <a:spLocks noGrp="1" noRot="1" noChangeAspect="1" noChangeArrowheads="1" noTextEdit="1"/>
          </p:cNvSpPr>
          <p:nvPr>
            <p:ph type="sldImg" idx="2"/>
          </p:nvPr>
        </p:nvSpPr>
        <p:spPr bwMode="auto">
          <a:xfrm>
            <a:off x="2743200" y="547688"/>
            <a:ext cx="4114800" cy="2743200"/>
          </a:xfrm>
          <a:prstGeom prst="rect">
            <a:avLst/>
          </a:prstGeom>
          <a:noFill/>
          <a:ln w="9525">
            <a:solidFill>
              <a:srgbClr val="000000"/>
            </a:solidFill>
            <a:miter lim="800000"/>
            <a:headEnd/>
            <a:tailEnd/>
          </a:ln>
        </p:spPr>
      </p:sp>
      <p:sp>
        <p:nvSpPr>
          <p:cNvPr id="48133" name="Rectangle 5"/>
          <p:cNvSpPr>
            <a:spLocks noGrp="1" noChangeArrowheads="1"/>
          </p:cNvSpPr>
          <p:nvPr>
            <p:ph type="body" sz="quarter" idx="3"/>
          </p:nvPr>
        </p:nvSpPr>
        <p:spPr bwMode="auto">
          <a:xfrm>
            <a:off x="1281113" y="3475038"/>
            <a:ext cx="7038975" cy="3292475"/>
          </a:xfrm>
          <a:prstGeom prst="rect">
            <a:avLst/>
          </a:prstGeom>
          <a:noFill/>
          <a:ln w="9525">
            <a:noFill/>
            <a:miter lim="800000"/>
            <a:headEnd/>
            <a:tailEnd/>
          </a:ln>
          <a:effectLst/>
        </p:spPr>
        <p:txBody>
          <a:bodyPr vert="horz" wrap="square" lIns="96653" tIns="48327" rIns="96653" bIns="48327"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8134" name="Rectangle 6"/>
          <p:cNvSpPr>
            <a:spLocks noGrp="1" noChangeArrowheads="1"/>
          </p:cNvSpPr>
          <p:nvPr>
            <p:ph type="ftr" sz="quarter" idx="4"/>
          </p:nvPr>
        </p:nvSpPr>
        <p:spPr bwMode="auto">
          <a:xfrm>
            <a:off x="0" y="6948488"/>
            <a:ext cx="4160838"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defTabSz="966788" eaLnBrk="1" hangingPunct="1">
              <a:defRPr sz="1200">
                <a:latin typeface="Tahoma" pitchFamily="34" charset="0"/>
                <a:cs typeface="Arial" pitchFamily="34" charset="0"/>
              </a:defRPr>
            </a:lvl1pPr>
          </a:lstStyle>
          <a:p>
            <a:endParaRPr lang="en-US"/>
          </a:p>
        </p:txBody>
      </p:sp>
      <p:sp>
        <p:nvSpPr>
          <p:cNvPr id="48135" name="Rectangle 7"/>
          <p:cNvSpPr>
            <a:spLocks noGrp="1" noChangeArrowheads="1"/>
          </p:cNvSpPr>
          <p:nvPr>
            <p:ph type="sldNum" sz="quarter" idx="5"/>
          </p:nvPr>
        </p:nvSpPr>
        <p:spPr bwMode="auto">
          <a:xfrm>
            <a:off x="5440363" y="6948488"/>
            <a:ext cx="4160837" cy="366712"/>
          </a:xfrm>
          <a:prstGeom prst="rect">
            <a:avLst/>
          </a:prstGeom>
          <a:noFill/>
          <a:ln w="9525">
            <a:noFill/>
            <a:miter lim="800000"/>
            <a:headEnd/>
            <a:tailEnd/>
          </a:ln>
          <a:effectLst/>
        </p:spPr>
        <p:txBody>
          <a:bodyPr vert="horz" wrap="square" lIns="96653" tIns="48327" rIns="96653" bIns="48327" numCol="1" anchor="b" anchorCtr="0" compatLnSpc="1">
            <a:prstTxWarp prst="textNoShape">
              <a:avLst/>
            </a:prstTxWarp>
          </a:bodyPr>
          <a:lstStyle>
            <a:lvl1pPr algn="r" defTabSz="966788" eaLnBrk="1" hangingPunct="1">
              <a:defRPr sz="1200">
                <a:latin typeface="Tahoma" pitchFamily="34" charset="0"/>
              </a:defRPr>
            </a:lvl1pPr>
          </a:lstStyle>
          <a:p>
            <a:fld id="{077C5485-9747-4CF4-B9B9-77ADA2DD2249}" type="slidenum">
              <a:rPr lang="en-US"/>
              <a:pPr/>
              <a:t>‹#›</a:t>
            </a:fld>
            <a:endParaRPr 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ＭＳ Ｐゴシック" charset="0"/>
      </a:defRPr>
    </a:lvl1pPr>
    <a:lvl2pPr marL="4556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2pPr>
    <a:lvl3pPr marL="9128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3pPr>
    <a:lvl4pPr marL="13700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4pPr>
    <a:lvl5pPr marL="1827213" algn="l" rtl="0" eaLnBrk="0" fontAlgn="base" hangingPunct="0">
      <a:spcBef>
        <a:spcPct val="30000"/>
      </a:spcBef>
      <a:spcAft>
        <a:spcPct val="0"/>
      </a:spcAft>
      <a:defRPr kumimoji="1" sz="1200" kern="1200">
        <a:solidFill>
          <a:schemeClr val="tx1"/>
        </a:solidFill>
        <a:latin typeface=".VnTime" pitchFamily="34" charset="0"/>
        <a:ea typeface="MS PGothic" pitchFamily="34" charset="-128"/>
        <a:cs typeface="+mn-cs"/>
      </a:defRPr>
    </a:lvl5pPr>
    <a:lvl6pPr marL="2285740" algn="l" defTabSz="914296" rtl="0" eaLnBrk="1" latinLnBrk="0" hangingPunct="1">
      <a:defRPr sz="1200" kern="1200">
        <a:solidFill>
          <a:schemeClr val="tx1"/>
        </a:solidFill>
        <a:latin typeface="+mn-lt"/>
        <a:ea typeface="+mn-ea"/>
        <a:cs typeface="+mn-cs"/>
      </a:defRPr>
    </a:lvl6pPr>
    <a:lvl7pPr marL="2742888" algn="l" defTabSz="914296" rtl="0" eaLnBrk="1" latinLnBrk="0" hangingPunct="1">
      <a:defRPr sz="1200" kern="1200">
        <a:solidFill>
          <a:schemeClr val="tx1"/>
        </a:solidFill>
        <a:latin typeface="+mn-lt"/>
        <a:ea typeface="+mn-ea"/>
        <a:cs typeface="+mn-cs"/>
      </a:defRPr>
    </a:lvl7pPr>
    <a:lvl8pPr marL="3200036" algn="l" defTabSz="914296" rtl="0" eaLnBrk="1" latinLnBrk="0" hangingPunct="1">
      <a:defRPr sz="1200" kern="1200">
        <a:solidFill>
          <a:schemeClr val="tx1"/>
        </a:solidFill>
        <a:latin typeface="+mn-lt"/>
        <a:ea typeface="+mn-ea"/>
        <a:cs typeface="+mn-cs"/>
      </a:defRPr>
    </a:lvl8pPr>
    <a:lvl9pPr marL="3657184" algn="l" defTabSz="914296"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285875" y="1122363"/>
            <a:ext cx="7715250" cy="2387600"/>
          </a:xfrm>
        </p:spPr>
        <p:txBody>
          <a:bodyPr anchor="b"/>
          <a:lstStyle>
            <a:lvl1pPr algn="ctr">
              <a:defRPr sz="5063"/>
            </a:lvl1pPr>
          </a:lstStyle>
          <a:p>
            <a:r>
              <a:rPr lang="en-US"/>
              <a:t>Click to edit Master title style</a:t>
            </a:r>
          </a:p>
        </p:txBody>
      </p:sp>
      <p:sp>
        <p:nvSpPr>
          <p:cNvPr id="3" name="Subtitle 2"/>
          <p:cNvSpPr>
            <a:spLocks noGrp="1"/>
          </p:cNvSpPr>
          <p:nvPr>
            <p:ph type="subTitle" idx="1"/>
          </p:nvPr>
        </p:nvSpPr>
        <p:spPr>
          <a:xfrm>
            <a:off x="1285875" y="3602038"/>
            <a:ext cx="7715250" cy="1655762"/>
          </a:xfrm>
        </p:spPr>
        <p:txBody>
          <a:bodyPr/>
          <a:lstStyle>
            <a:lvl1pPr marL="0" indent="0" algn="ctr">
              <a:buNone/>
              <a:defRPr sz="2025"/>
            </a:lvl1pPr>
            <a:lvl2pPr marL="385785" indent="0" algn="ctr">
              <a:buNone/>
              <a:defRPr sz="1688"/>
            </a:lvl2pPr>
            <a:lvl3pPr marL="771571" indent="0" algn="ctr">
              <a:buNone/>
              <a:defRPr sz="1519"/>
            </a:lvl3pPr>
            <a:lvl4pPr marL="1157356" indent="0" algn="ctr">
              <a:buNone/>
              <a:defRPr sz="1350"/>
            </a:lvl4pPr>
            <a:lvl5pPr marL="1543141" indent="0" algn="ctr">
              <a:buNone/>
              <a:defRPr sz="1350"/>
            </a:lvl5pPr>
            <a:lvl6pPr marL="1928927" indent="0" algn="ctr">
              <a:buNone/>
              <a:defRPr sz="1350"/>
            </a:lvl6pPr>
            <a:lvl7pPr marL="2314712" indent="0" algn="ctr">
              <a:buNone/>
              <a:defRPr sz="1350"/>
            </a:lvl7pPr>
            <a:lvl8pPr marL="2700498" indent="0" algn="ctr">
              <a:buNone/>
              <a:defRPr sz="1350"/>
            </a:lvl8pPr>
            <a:lvl9pPr marL="3086283" indent="0" algn="ctr">
              <a:buNone/>
              <a:defRPr sz="1350"/>
            </a:lvl9pPr>
          </a:lstStyle>
          <a:p>
            <a:r>
              <a:rPr lang="en-US"/>
              <a:t>Click to edit Master subtitle style</a:t>
            </a:r>
          </a:p>
        </p:txBody>
      </p:sp>
      <p:sp>
        <p:nvSpPr>
          <p:cNvPr id="4" name="Date Placeholder 3"/>
          <p:cNvSpPr>
            <a:spLocks noGrp="1"/>
          </p:cNvSpPr>
          <p:nvPr>
            <p:ph type="dt" sz="half" idx="10"/>
          </p:nvPr>
        </p:nvSpPr>
        <p:spPr/>
        <p:txBody>
          <a:bodyPr/>
          <a:lstStyle>
            <a:lvl1pPr>
              <a:defRPr/>
            </a:lvl1pPr>
          </a:lstStyle>
          <a:p>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6BB53E1D-A0B1-4171-ABED-667787C30A3E}" type="slidenum">
              <a:rPr lang="en-US"/>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51012" y="188640"/>
            <a:ext cx="8874125" cy="1325563"/>
          </a:xfrm>
        </p:spPr>
        <p:txBody>
          <a:bodyPr/>
          <a:lstStyle>
            <a:lvl1pPr>
              <a:defRPr>
                <a:solidFill>
                  <a:schemeClr val="bg1"/>
                </a:solidFill>
              </a:defRPr>
            </a:lvl1pPr>
          </a:lstStyle>
          <a:p>
            <a:r>
              <a:rPr lang="en-US" dirty="0"/>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5EEBBBD-F88C-4D0A-B00C-08302391C972}" type="datetimeFigureOut">
              <a:rPr lang="en-US"/>
              <a:pPr/>
              <a:t>3/10/21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DA8C51A7-BEEA-471D-933F-7E35BC04A30F}" type="slidenum">
              <a:rPr lang="en-US"/>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01873" y="1709739"/>
            <a:ext cx="8872538" cy="2852737"/>
          </a:xfrm>
        </p:spPr>
        <p:txBody>
          <a:bodyPr anchor="b"/>
          <a:lstStyle>
            <a:lvl1pPr>
              <a:defRPr sz="5063"/>
            </a:lvl1pPr>
          </a:lstStyle>
          <a:p>
            <a:r>
              <a:rPr lang="en-US"/>
              <a:t>Click to edit Master title style</a:t>
            </a:r>
          </a:p>
        </p:txBody>
      </p:sp>
      <p:sp>
        <p:nvSpPr>
          <p:cNvPr id="3" name="Text Placeholder 2"/>
          <p:cNvSpPr>
            <a:spLocks noGrp="1"/>
          </p:cNvSpPr>
          <p:nvPr>
            <p:ph type="body" idx="1"/>
          </p:nvPr>
        </p:nvSpPr>
        <p:spPr>
          <a:xfrm>
            <a:off x="701873" y="4589464"/>
            <a:ext cx="8872538" cy="1500187"/>
          </a:xfrm>
        </p:spPr>
        <p:txBody>
          <a:bodyPr/>
          <a:lstStyle>
            <a:lvl1pPr marL="0" indent="0">
              <a:buNone/>
              <a:defRPr sz="2025">
                <a:solidFill>
                  <a:schemeClr val="tx1">
                    <a:tint val="75000"/>
                  </a:schemeClr>
                </a:solidFill>
              </a:defRPr>
            </a:lvl1pPr>
            <a:lvl2pPr marL="385785" indent="0">
              <a:buNone/>
              <a:defRPr sz="1688">
                <a:solidFill>
                  <a:schemeClr val="tx1">
                    <a:tint val="75000"/>
                  </a:schemeClr>
                </a:solidFill>
              </a:defRPr>
            </a:lvl2pPr>
            <a:lvl3pPr marL="771571" indent="0">
              <a:buNone/>
              <a:defRPr sz="1519">
                <a:solidFill>
                  <a:schemeClr val="tx1">
                    <a:tint val="75000"/>
                  </a:schemeClr>
                </a:solidFill>
              </a:defRPr>
            </a:lvl3pPr>
            <a:lvl4pPr marL="1157356" indent="0">
              <a:buNone/>
              <a:defRPr sz="1350">
                <a:solidFill>
                  <a:schemeClr val="tx1">
                    <a:tint val="75000"/>
                  </a:schemeClr>
                </a:solidFill>
              </a:defRPr>
            </a:lvl4pPr>
            <a:lvl5pPr marL="1543141" indent="0">
              <a:buNone/>
              <a:defRPr sz="1350">
                <a:solidFill>
                  <a:schemeClr val="tx1">
                    <a:tint val="75000"/>
                  </a:schemeClr>
                </a:solidFill>
              </a:defRPr>
            </a:lvl5pPr>
            <a:lvl6pPr marL="1928927" indent="0">
              <a:buNone/>
              <a:defRPr sz="1350">
                <a:solidFill>
                  <a:schemeClr val="tx1">
                    <a:tint val="75000"/>
                  </a:schemeClr>
                </a:solidFill>
              </a:defRPr>
            </a:lvl6pPr>
            <a:lvl7pPr marL="2314712" indent="0">
              <a:buNone/>
              <a:defRPr sz="1350">
                <a:solidFill>
                  <a:schemeClr val="tx1">
                    <a:tint val="75000"/>
                  </a:schemeClr>
                </a:solidFill>
              </a:defRPr>
            </a:lvl7pPr>
            <a:lvl8pPr marL="2700498" indent="0">
              <a:buNone/>
              <a:defRPr sz="1350">
                <a:solidFill>
                  <a:schemeClr val="tx1">
                    <a:tint val="75000"/>
                  </a:schemeClr>
                </a:solidFill>
              </a:defRPr>
            </a:lvl8pPr>
            <a:lvl9pPr marL="3086283" indent="0">
              <a:buNone/>
              <a:defRPr sz="13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29D9EDF6-B61E-473A-9275-BAC1BDA0029B}" type="datetimeFigureOut">
              <a:rPr lang="en-US"/>
              <a:pPr/>
              <a:t>3/10/21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588B2AA1-AEA7-40B9-AD8E-776A8F689794}" type="slidenum">
              <a:rPr lang="en-US"/>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707231"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5207794" y="1825625"/>
            <a:ext cx="4371975"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p:cNvSpPr>
            <a:spLocks noGrp="1"/>
          </p:cNvSpPr>
          <p:nvPr>
            <p:ph type="dt" sz="half" idx="10"/>
          </p:nvPr>
        </p:nvSpPr>
        <p:spPr/>
        <p:txBody>
          <a:bodyPr/>
          <a:lstStyle>
            <a:lvl1pPr>
              <a:defRPr/>
            </a:lvl1pPr>
          </a:lstStyle>
          <a:p>
            <a:fld id="{36FBD08F-42E1-467C-8482-6F32381C3348}" type="datetimeFigureOut">
              <a:rPr lang="en-US"/>
              <a:pPr/>
              <a:t>3/10/21</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6E4EFCDD-D768-4613-87BA-5A10354114E3}" type="slidenum">
              <a:rPr lang="en-US"/>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708571" y="365126"/>
            <a:ext cx="8872538" cy="1325563"/>
          </a:xfrm>
        </p:spPr>
        <p:txBody>
          <a:bodyPr/>
          <a:lstStyle/>
          <a:p>
            <a:r>
              <a:rPr lang="en-US"/>
              <a:t>Click to edit Master title style</a:t>
            </a:r>
          </a:p>
        </p:txBody>
      </p:sp>
      <p:sp>
        <p:nvSpPr>
          <p:cNvPr id="3" name="Text Placeholder 2"/>
          <p:cNvSpPr>
            <a:spLocks noGrp="1"/>
          </p:cNvSpPr>
          <p:nvPr>
            <p:ph type="body" idx="1"/>
          </p:nvPr>
        </p:nvSpPr>
        <p:spPr>
          <a:xfrm>
            <a:off x="708571" y="1681163"/>
            <a:ext cx="4351883"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4" name="Content Placeholder 3"/>
          <p:cNvSpPr>
            <a:spLocks noGrp="1"/>
          </p:cNvSpPr>
          <p:nvPr>
            <p:ph sz="half" idx="2"/>
          </p:nvPr>
        </p:nvSpPr>
        <p:spPr>
          <a:xfrm>
            <a:off x="708571" y="2505075"/>
            <a:ext cx="4351883"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5207794" y="1681163"/>
            <a:ext cx="4373315" cy="823912"/>
          </a:xfrm>
        </p:spPr>
        <p:txBody>
          <a:bodyPr anchor="b"/>
          <a:lstStyle>
            <a:lvl1pPr marL="0" indent="0">
              <a:buNone/>
              <a:defRPr sz="2025" b="1"/>
            </a:lvl1pPr>
            <a:lvl2pPr marL="385785" indent="0">
              <a:buNone/>
              <a:defRPr sz="1688" b="1"/>
            </a:lvl2pPr>
            <a:lvl3pPr marL="771571" indent="0">
              <a:buNone/>
              <a:defRPr sz="1519" b="1"/>
            </a:lvl3pPr>
            <a:lvl4pPr marL="1157356" indent="0">
              <a:buNone/>
              <a:defRPr sz="1350" b="1"/>
            </a:lvl4pPr>
            <a:lvl5pPr marL="1543141" indent="0">
              <a:buNone/>
              <a:defRPr sz="1350" b="1"/>
            </a:lvl5pPr>
            <a:lvl6pPr marL="1928927" indent="0">
              <a:buNone/>
              <a:defRPr sz="1350" b="1"/>
            </a:lvl6pPr>
            <a:lvl7pPr marL="2314712" indent="0">
              <a:buNone/>
              <a:defRPr sz="1350" b="1"/>
            </a:lvl7pPr>
            <a:lvl8pPr marL="2700498" indent="0">
              <a:buNone/>
              <a:defRPr sz="1350" b="1"/>
            </a:lvl8pPr>
            <a:lvl9pPr marL="3086283" indent="0">
              <a:buNone/>
              <a:defRPr sz="1350" b="1"/>
            </a:lvl9pPr>
          </a:lstStyle>
          <a:p>
            <a:pPr lvl="0"/>
            <a:r>
              <a:rPr lang="en-US"/>
              <a:t>Click to edit Master text styles</a:t>
            </a:r>
          </a:p>
        </p:txBody>
      </p:sp>
      <p:sp>
        <p:nvSpPr>
          <p:cNvPr id="6" name="Content Placeholder 5"/>
          <p:cNvSpPr>
            <a:spLocks noGrp="1"/>
          </p:cNvSpPr>
          <p:nvPr>
            <p:ph sz="quarter" idx="4"/>
          </p:nvPr>
        </p:nvSpPr>
        <p:spPr>
          <a:xfrm>
            <a:off x="5207794" y="2505075"/>
            <a:ext cx="4373315"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p:cNvSpPr>
            <a:spLocks noGrp="1"/>
          </p:cNvSpPr>
          <p:nvPr>
            <p:ph type="dt" sz="half" idx="10"/>
          </p:nvPr>
        </p:nvSpPr>
        <p:spPr/>
        <p:txBody>
          <a:bodyPr/>
          <a:lstStyle>
            <a:lvl1pPr>
              <a:defRPr/>
            </a:lvl1pPr>
          </a:lstStyle>
          <a:p>
            <a:fld id="{CE3E18D6-E874-45EF-BDE1-3F1C6A343A99}" type="datetimeFigureOut">
              <a:rPr lang="en-US"/>
              <a:pPr/>
              <a:t>3/10/21</a:t>
            </a:fld>
            <a:endParaRPr lang="en-US"/>
          </a:p>
        </p:txBody>
      </p:sp>
      <p:sp>
        <p:nvSpPr>
          <p:cNvPr id="8" name="Footer Placeholder 4"/>
          <p:cNvSpPr>
            <a:spLocks noGrp="1"/>
          </p:cNvSpPr>
          <p:nvPr>
            <p:ph type="ftr" sz="quarter" idx="11"/>
          </p:nvPr>
        </p:nvSpPr>
        <p:spPr/>
        <p:txBody>
          <a:bodyPr/>
          <a:lstStyle>
            <a:lvl1pPr>
              <a:defRPr/>
            </a:lvl1pPr>
          </a:lstStyle>
          <a:p>
            <a:endParaRPr lang="en-US"/>
          </a:p>
        </p:txBody>
      </p:sp>
      <p:sp>
        <p:nvSpPr>
          <p:cNvPr id="9" name="Slide Number Placeholder 5"/>
          <p:cNvSpPr>
            <a:spLocks noGrp="1"/>
          </p:cNvSpPr>
          <p:nvPr>
            <p:ph type="sldNum" sz="quarter" idx="12"/>
          </p:nvPr>
        </p:nvSpPr>
        <p:spPr/>
        <p:txBody>
          <a:bodyPr/>
          <a:lstStyle>
            <a:lvl1pPr>
              <a:defRPr/>
            </a:lvl1pPr>
          </a:lstStyle>
          <a:p>
            <a:fld id="{08EB50A5-30BD-43BB-AD4F-B4E94F8C7DAA}" type="slidenum">
              <a:rPr lang="en-US"/>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p:cNvSpPr>
            <a:spLocks noGrp="1"/>
          </p:cNvSpPr>
          <p:nvPr>
            <p:ph type="dt" sz="half" idx="10"/>
          </p:nvPr>
        </p:nvSpPr>
        <p:spPr/>
        <p:txBody>
          <a:bodyPr/>
          <a:lstStyle>
            <a:lvl1pPr>
              <a:defRPr/>
            </a:lvl1pPr>
          </a:lstStyle>
          <a:p>
            <a:fld id="{B5F168BB-F8B5-4B60-A2D9-15D6AAE85ECB}" type="datetimeFigureOut">
              <a:rPr lang="en-US"/>
              <a:pPr/>
              <a:t>3/10/21</a:t>
            </a:fld>
            <a:endParaRPr lang="en-US"/>
          </a:p>
        </p:txBody>
      </p:sp>
      <p:sp>
        <p:nvSpPr>
          <p:cNvPr id="4" name="Footer Placeholder 4"/>
          <p:cNvSpPr>
            <a:spLocks noGrp="1"/>
          </p:cNvSpPr>
          <p:nvPr>
            <p:ph type="ftr" sz="quarter" idx="11"/>
          </p:nvPr>
        </p:nvSpPr>
        <p:spPr/>
        <p:txBody>
          <a:bodyPr/>
          <a:lstStyle>
            <a:lvl1pPr>
              <a:defRPr/>
            </a:lvl1pPr>
          </a:lstStyle>
          <a:p>
            <a:endParaRPr lang="en-US"/>
          </a:p>
        </p:txBody>
      </p:sp>
      <p:sp>
        <p:nvSpPr>
          <p:cNvPr id="5" name="Slide Number Placeholder 5"/>
          <p:cNvSpPr>
            <a:spLocks noGrp="1"/>
          </p:cNvSpPr>
          <p:nvPr>
            <p:ph type="sldNum" sz="quarter" idx="12"/>
          </p:nvPr>
        </p:nvSpPr>
        <p:spPr/>
        <p:txBody>
          <a:bodyPr/>
          <a:lstStyle>
            <a:lvl1pPr>
              <a:defRPr/>
            </a:lvl1pPr>
          </a:lstStyle>
          <a:p>
            <a:fld id="{789E71C2-40FC-46B0-9F54-054079C07FA8}" type="slidenum">
              <a:rPr lang="en-US"/>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p:cNvSpPr>
            <a:spLocks noGrp="1"/>
          </p:cNvSpPr>
          <p:nvPr>
            <p:ph type="dt" sz="half" idx="10"/>
          </p:nvPr>
        </p:nvSpPr>
        <p:spPr/>
        <p:txBody>
          <a:bodyPr/>
          <a:lstStyle>
            <a:lvl1pPr>
              <a:defRPr/>
            </a:lvl1pPr>
          </a:lstStyle>
          <a:p>
            <a:fld id="{1BDEA76D-4E6C-45C2-96AE-CD5B5C8A3520}" type="datetimeFigureOut">
              <a:rPr lang="en-US"/>
              <a:pPr/>
              <a:t>3/10/21</a:t>
            </a:fld>
            <a:endParaRPr lang="en-US"/>
          </a:p>
        </p:txBody>
      </p:sp>
      <p:sp>
        <p:nvSpPr>
          <p:cNvPr id="3" name="Footer Placeholder 4"/>
          <p:cNvSpPr>
            <a:spLocks noGrp="1"/>
          </p:cNvSpPr>
          <p:nvPr>
            <p:ph type="ftr" sz="quarter" idx="11"/>
          </p:nvPr>
        </p:nvSpPr>
        <p:spPr/>
        <p:txBody>
          <a:bodyPr/>
          <a:lstStyle>
            <a:lvl1pPr>
              <a:defRPr/>
            </a:lvl1pPr>
          </a:lstStyle>
          <a:p>
            <a:endParaRPr lang="en-US"/>
          </a:p>
        </p:txBody>
      </p:sp>
      <p:sp>
        <p:nvSpPr>
          <p:cNvPr id="4" name="Slide Number Placeholder 5"/>
          <p:cNvSpPr>
            <a:spLocks noGrp="1"/>
          </p:cNvSpPr>
          <p:nvPr>
            <p:ph type="sldNum" sz="quarter" idx="12"/>
          </p:nvPr>
        </p:nvSpPr>
        <p:spPr/>
        <p:txBody>
          <a:bodyPr/>
          <a:lstStyle>
            <a:lvl1pPr>
              <a:defRPr/>
            </a:lvl1pPr>
          </a:lstStyle>
          <a:p>
            <a:fld id="{95EBE714-6393-4BF3-9D63-6DB1C693A11E}" type="slidenum">
              <a:rPr lang="en-US"/>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Content Placeholder 2"/>
          <p:cNvSpPr>
            <a:spLocks noGrp="1"/>
          </p:cNvSpPr>
          <p:nvPr>
            <p:ph idx="1"/>
          </p:nvPr>
        </p:nvSpPr>
        <p:spPr>
          <a:xfrm>
            <a:off x="4373315" y="987426"/>
            <a:ext cx="5207794" cy="4873625"/>
          </a:xfrm>
        </p:spPr>
        <p:txBody>
          <a:bodyPr/>
          <a:lstStyle>
            <a:lvl1pPr>
              <a:defRPr sz="2700"/>
            </a:lvl1pPr>
            <a:lvl2pPr>
              <a:defRPr sz="2363"/>
            </a:lvl2pPr>
            <a:lvl3pPr>
              <a:defRPr sz="2025"/>
            </a:lvl3pPr>
            <a:lvl4pPr>
              <a:defRPr sz="1688"/>
            </a:lvl4pPr>
            <a:lvl5pPr>
              <a:defRPr sz="1688"/>
            </a:lvl5pPr>
            <a:lvl6pPr>
              <a:defRPr sz="1688"/>
            </a:lvl6pPr>
            <a:lvl7pPr>
              <a:defRPr sz="1688"/>
            </a:lvl7pPr>
            <a:lvl8pPr>
              <a:defRPr sz="1688"/>
            </a:lvl8pPr>
            <a:lvl9pPr>
              <a:defRPr sz="168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41F56404-7C0A-4A70-80C7-58B4E18C2E79}" type="datetimeFigureOut">
              <a:rPr lang="en-US"/>
              <a:pPr/>
              <a:t>3/10/21</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7571977B-8A15-43E3-BB9A-6FACCCB6FD7B}" type="slidenum">
              <a:rPr lang="en-US"/>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08572" y="457200"/>
            <a:ext cx="3317825" cy="1600200"/>
          </a:xfrm>
        </p:spPr>
        <p:txBody>
          <a:bodyPr anchor="b"/>
          <a:lstStyle>
            <a:lvl1pPr>
              <a:defRPr sz="2700"/>
            </a:lvl1pPr>
          </a:lstStyle>
          <a:p>
            <a:r>
              <a:rPr lang="en-US"/>
              <a:t>Click to edit Master title style</a:t>
            </a:r>
          </a:p>
        </p:txBody>
      </p:sp>
      <p:sp>
        <p:nvSpPr>
          <p:cNvPr id="3" name="Picture Placeholder 2"/>
          <p:cNvSpPr>
            <a:spLocks noGrp="1"/>
          </p:cNvSpPr>
          <p:nvPr>
            <p:ph type="pic" idx="1"/>
          </p:nvPr>
        </p:nvSpPr>
        <p:spPr>
          <a:xfrm>
            <a:off x="4373315" y="987426"/>
            <a:ext cx="5207794" cy="4873625"/>
          </a:xfrm>
        </p:spPr>
        <p:txBody>
          <a:bodyPr rtlCol="0">
            <a:normAutofit/>
          </a:bodyPr>
          <a:lstStyle>
            <a:lvl1pPr marL="0" indent="0">
              <a:buNone/>
              <a:defRPr sz="2700"/>
            </a:lvl1pPr>
            <a:lvl2pPr marL="385785" indent="0">
              <a:buNone/>
              <a:defRPr sz="2363"/>
            </a:lvl2pPr>
            <a:lvl3pPr marL="771571" indent="0">
              <a:buNone/>
              <a:defRPr sz="2025"/>
            </a:lvl3pPr>
            <a:lvl4pPr marL="1157356" indent="0">
              <a:buNone/>
              <a:defRPr sz="1688"/>
            </a:lvl4pPr>
            <a:lvl5pPr marL="1543141" indent="0">
              <a:buNone/>
              <a:defRPr sz="1688"/>
            </a:lvl5pPr>
            <a:lvl6pPr marL="1928927" indent="0">
              <a:buNone/>
              <a:defRPr sz="1688"/>
            </a:lvl6pPr>
            <a:lvl7pPr marL="2314712" indent="0">
              <a:buNone/>
              <a:defRPr sz="1688"/>
            </a:lvl7pPr>
            <a:lvl8pPr marL="2700498" indent="0">
              <a:buNone/>
              <a:defRPr sz="1688"/>
            </a:lvl8pPr>
            <a:lvl9pPr marL="3086283" indent="0">
              <a:buNone/>
              <a:defRPr sz="1688"/>
            </a:lvl9pPr>
          </a:lstStyle>
          <a:p>
            <a:pPr lvl="0"/>
            <a:endParaRPr lang="en-US" noProof="0"/>
          </a:p>
        </p:txBody>
      </p:sp>
      <p:sp>
        <p:nvSpPr>
          <p:cNvPr id="4" name="Text Placeholder 3"/>
          <p:cNvSpPr>
            <a:spLocks noGrp="1"/>
          </p:cNvSpPr>
          <p:nvPr>
            <p:ph type="body" sz="half" idx="2"/>
          </p:nvPr>
        </p:nvSpPr>
        <p:spPr>
          <a:xfrm>
            <a:off x="708572" y="2057400"/>
            <a:ext cx="3317825" cy="3811588"/>
          </a:xfrm>
        </p:spPr>
        <p:txBody>
          <a:bodyPr/>
          <a:lstStyle>
            <a:lvl1pPr marL="0" indent="0">
              <a:buNone/>
              <a:defRPr sz="1350"/>
            </a:lvl1pPr>
            <a:lvl2pPr marL="385785" indent="0">
              <a:buNone/>
              <a:defRPr sz="1181"/>
            </a:lvl2pPr>
            <a:lvl3pPr marL="771571" indent="0">
              <a:buNone/>
              <a:defRPr sz="1013"/>
            </a:lvl3pPr>
            <a:lvl4pPr marL="1157356" indent="0">
              <a:buNone/>
              <a:defRPr sz="844"/>
            </a:lvl4pPr>
            <a:lvl5pPr marL="1543141" indent="0">
              <a:buNone/>
              <a:defRPr sz="844"/>
            </a:lvl5pPr>
            <a:lvl6pPr marL="1928927" indent="0">
              <a:buNone/>
              <a:defRPr sz="844"/>
            </a:lvl6pPr>
            <a:lvl7pPr marL="2314712" indent="0">
              <a:buNone/>
              <a:defRPr sz="844"/>
            </a:lvl7pPr>
            <a:lvl8pPr marL="2700498" indent="0">
              <a:buNone/>
              <a:defRPr sz="844"/>
            </a:lvl8pPr>
            <a:lvl9pPr marL="3086283" indent="0">
              <a:buNone/>
              <a:defRPr sz="844"/>
            </a:lvl9pPr>
          </a:lstStyle>
          <a:p>
            <a:pPr lvl="0"/>
            <a:r>
              <a:rPr lang="en-US"/>
              <a:t>Click to edit Master text styles</a:t>
            </a:r>
          </a:p>
        </p:txBody>
      </p:sp>
      <p:sp>
        <p:nvSpPr>
          <p:cNvPr id="5" name="Date Placeholder 3"/>
          <p:cNvSpPr>
            <a:spLocks noGrp="1"/>
          </p:cNvSpPr>
          <p:nvPr>
            <p:ph type="dt" sz="half" idx="10"/>
          </p:nvPr>
        </p:nvSpPr>
        <p:spPr/>
        <p:txBody>
          <a:bodyPr/>
          <a:lstStyle>
            <a:lvl1pPr>
              <a:defRPr/>
            </a:lvl1pPr>
          </a:lstStyle>
          <a:p>
            <a:fld id="{7215D99E-F75E-417A-B6DD-B1DB5382627C}" type="datetimeFigureOut">
              <a:rPr lang="en-US"/>
              <a:pPr/>
              <a:t>3/10/21</a:t>
            </a:fld>
            <a:endParaRPr lang="en-US"/>
          </a:p>
        </p:txBody>
      </p:sp>
      <p:sp>
        <p:nvSpPr>
          <p:cNvPr id="6" name="Footer Placeholder 4"/>
          <p:cNvSpPr>
            <a:spLocks noGrp="1"/>
          </p:cNvSpPr>
          <p:nvPr>
            <p:ph type="ftr" sz="quarter" idx="11"/>
          </p:nvPr>
        </p:nvSpPr>
        <p:spPr/>
        <p:txBody>
          <a:bodyPr/>
          <a:lstStyle>
            <a:lvl1pPr>
              <a:defRPr/>
            </a:lvl1pPr>
          </a:lstStyle>
          <a:p>
            <a:endParaRPr lang="en-US"/>
          </a:p>
        </p:txBody>
      </p:sp>
      <p:sp>
        <p:nvSpPr>
          <p:cNvPr id="7" name="Slide Number Placeholder 5"/>
          <p:cNvSpPr>
            <a:spLocks noGrp="1"/>
          </p:cNvSpPr>
          <p:nvPr>
            <p:ph type="sldNum" sz="quarter" idx="12"/>
          </p:nvPr>
        </p:nvSpPr>
        <p:spPr/>
        <p:txBody>
          <a:bodyPr/>
          <a:lstStyle>
            <a:lvl1pPr>
              <a:defRPr/>
            </a:lvl1pPr>
          </a:lstStyle>
          <a:p>
            <a:fld id="{5588D9EC-88E8-42BE-9803-E404DECFA465}" type="slidenum">
              <a:rPr lang="en-US"/>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1419DB2C-0737-4180-B000-8EBA7417F610}" type="datetimeFigureOut">
              <a:rPr lang="en-US"/>
              <a:pPr/>
              <a:t>3/10/21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A00F31E5-861C-45F9-89E8-388DE9690F6E}" type="slidenum">
              <a:rPr lang="en-US"/>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61635" y="365125"/>
            <a:ext cx="2218134"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707231" y="365125"/>
            <a:ext cx="6525816"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A034FEE0-FC62-4A35-BD96-9CA27BB140EB}" type="datetimeFigureOut">
              <a:rPr lang="en-US"/>
              <a:pPr/>
              <a:t>3/10/21</a:t>
            </a:fld>
            <a:endParaRPr lang="en-US"/>
          </a:p>
        </p:txBody>
      </p:sp>
      <p:sp>
        <p:nvSpPr>
          <p:cNvPr id="5" name="Footer Placeholder 4"/>
          <p:cNvSpPr>
            <a:spLocks noGrp="1"/>
          </p:cNvSpPr>
          <p:nvPr>
            <p:ph type="ftr" sz="quarter" idx="11"/>
          </p:nvPr>
        </p:nvSpPr>
        <p:spPr/>
        <p:txBody>
          <a:bodyPr/>
          <a:lstStyle>
            <a:lvl1pPr>
              <a:defRPr/>
            </a:lvl1pPr>
          </a:lstStyle>
          <a:p>
            <a:endParaRPr lang="en-US"/>
          </a:p>
        </p:txBody>
      </p:sp>
      <p:sp>
        <p:nvSpPr>
          <p:cNvPr id="6" name="Slide Number Placeholder 5"/>
          <p:cNvSpPr>
            <a:spLocks noGrp="1"/>
          </p:cNvSpPr>
          <p:nvPr>
            <p:ph type="sldNum" sz="quarter" idx="12"/>
          </p:nvPr>
        </p:nvSpPr>
        <p:spPr/>
        <p:txBody>
          <a:bodyPr/>
          <a:lstStyle>
            <a:lvl1pPr>
              <a:defRPr/>
            </a:lvl1pPr>
          </a:lstStyle>
          <a:p>
            <a:fld id="{8F44D42D-A0F9-49AA-A49A-5E2A0AE1E140}"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3" cstate="print"/>
          <a:srcRect/>
          <a:stretch>
            <a:fillRect/>
          </a:stretch>
        </a:blipFill>
        <a:effectLst/>
      </p:bgPr>
    </p:bg>
    <p:spTree>
      <p:nvGrpSpPr>
        <p:cNvPr id="1" name=""/>
        <p:cNvGrpSpPr/>
        <p:nvPr/>
      </p:nvGrpSpPr>
      <p:grpSpPr>
        <a:xfrm>
          <a:off x="0" y="0"/>
          <a:ext cx="0" cy="0"/>
          <a:chOff x="0" y="0"/>
          <a:chExt cx="0" cy="0"/>
        </a:xfrm>
      </p:grpSpPr>
      <p:sp>
        <p:nvSpPr>
          <p:cNvPr id="1026" name="Title Placeholder 1"/>
          <p:cNvSpPr>
            <a:spLocks noGrp="1"/>
          </p:cNvSpPr>
          <p:nvPr>
            <p:ph type="title"/>
          </p:nvPr>
        </p:nvSpPr>
        <p:spPr bwMode="auto">
          <a:xfrm>
            <a:off x="706438" y="365125"/>
            <a:ext cx="8874125" cy="1325563"/>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Text Placeholder 2"/>
          <p:cNvSpPr>
            <a:spLocks noGrp="1"/>
          </p:cNvSpPr>
          <p:nvPr>
            <p:ph type="body" idx="1"/>
          </p:nvPr>
        </p:nvSpPr>
        <p:spPr bwMode="auto">
          <a:xfrm>
            <a:off x="706438" y="1825625"/>
            <a:ext cx="8874125" cy="4351338"/>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06438" y="6356350"/>
            <a:ext cx="2314575"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000">
                <a:solidFill>
                  <a:srgbClr val="898989"/>
                </a:solidFill>
              </a:defRPr>
            </a:lvl1pPr>
          </a:lstStyle>
          <a:p>
            <a:fld id="{B21F9BC8-E4BD-4D0E-B6BB-10632FDE541F}" type="datetimeFigureOut">
              <a:rPr lang="en-US"/>
              <a:pPr/>
              <a:t>3/10/21</a:t>
            </a:fld>
            <a:endParaRPr lang="en-US"/>
          </a:p>
        </p:txBody>
      </p:sp>
      <p:sp>
        <p:nvSpPr>
          <p:cNvPr id="5" name="Footer Placeholder 4"/>
          <p:cNvSpPr>
            <a:spLocks noGrp="1"/>
          </p:cNvSpPr>
          <p:nvPr>
            <p:ph type="ftr" sz="quarter" idx="3"/>
          </p:nvPr>
        </p:nvSpPr>
        <p:spPr>
          <a:xfrm>
            <a:off x="3408363" y="6356350"/>
            <a:ext cx="3471862" cy="365125"/>
          </a:xfrm>
          <a:prstGeom prst="rect">
            <a:avLst/>
          </a:prstGeom>
        </p:spPr>
        <p:txBody>
          <a:bodyPr vert="horz" wrap="square" lIns="91440" tIns="45720" rIns="91440" bIns="45720" numCol="1" anchor="ctr" anchorCtr="0" compatLnSpc="1">
            <a:prstTxWarp prst="textNoShape">
              <a:avLst/>
            </a:prstTxWarp>
          </a:bodyPr>
          <a:lstStyle>
            <a:lvl1pPr algn="ctr" eaLnBrk="1" hangingPunct="1">
              <a:defRPr sz="1000">
                <a:solidFill>
                  <a:srgbClr val="898989"/>
                </a:solidFill>
              </a:defRPr>
            </a:lvl1pPr>
          </a:lstStyle>
          <a:p>
            <a:endParaRPr lang="en-US"/>
          </a:p>
        </p:txBody>
      </p:sp>
      <p:sp>
        <p:nvSpPr>
          <p:cNvPr id="6" name="Slide Number Placeholder 5"/>
          <p:cNvSpPr>
            <a:spLocks noGrp="1"/>
          </p:cNvSpPr>
          <p:nvPr>
            <p:ph type="sldNum" sz="quarter" idx="4"/>
          </p:nvPr>
        </p:nvSpPr>
        <p:spPr>
          <a:xfrm>
            <a:off x="7265988" y="6356350"/>
            <a:ext cx="2314575"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000">
                <a:solidFill>
                  <a:srgbClr val="898989"/>
                </a:solidFill>
              </a:defRPr>
            </a:lvl1pPr>
          </a:lstStyle>
          <a:p>
            <a:fld id="{96B54179-4137-4CBB-A5F3-054D60058EF7}" type="slidenum">
              <a:rPr lang="en-US"/>
              <a:pPr/>
              <a:t>‹#›</a:t>
            </a:fld>
            <a:endParaRPr lang="en-US"/>
          </a:p>
        </p:txBody>
      </p:sp>
    </p:spTree>
  </p:cSld>
  <p:clrMap bg1="lt1" tx1="dk1" bg2="lt2" tx2="dk2" accent1="accent1" accent2="accent2" accent3="accent3" accent4="accent4" accent5="accent5" accent6="accent6" hlink="hlink" folHlink="folHlink"/>
  <p:sldLayoutIdLst>
    <p:sldLayoutId id="2147483824" r:id="rId1"/>
    <p:sldLayoutId id="2147483814" r:id="rId2"/>
    <p:sldLayoutId id="2147483815" r:id="rId3"/>
    <p:sldLayoutId id="2147483816" r:id="rId4"/>
    <p:sldLayoutId id="2147483817" r:id="rId5"/>
    <p:sldLayoutId id="2147483818" r:id="rId6"/>
    <p:sldLayoutId id="2147483819" r:id="rId7"/>
    <p:sldLayoutId id="2147483820" r:id="rId8"/>
    <p:sldLayoutId id="2147483821" r:id="rId9"/>
    <p:sldLayoutId id="2147483822" r:id="rId10"/>
    <p:sldLayoutId id="2147483823" r:id="rId11"/>
  </p:sldLayoutIdLst>
  <p:hf hdr="0" ftr="0" dt="0"/>
  <p:txStyles>
    <p:titleStyle>
      <a:lvl1pPr algn="l" defTabSz="771525" rtl="0" eaLnBrk="0" fontAlgn="base" hangingPunct="0">
        <a:lnSpc>
          <a:spcPct val="90000"/>
        </a:lnSpc>
        <a:spcBef>
          <a:spcPct val="0"/>
        </a:spcBef>
        <a:spcAft>
          <a:spcPct val="0"/>
        </a:spcAft>
        <a:defRPr sz="3700" kern="1200">
          <a:solidFill>
            <a:schemeClr val="tx1"/>
          </a:solidFill>
          <a:latin typeface="+mj-lt"/>
          <a:ea typeface="+mj-ea"/>
          <a:cs typeface="+mj-cs"/>
        </a:defRPr>
      </a:lvl1pPr>
      <a:lvl2pPr algn="l" defTabSz="771525" rtl="0" eaLnBrk="0" fontAlgn="base" hangingPunct="0">
        <a:lnSpc>
          <a:spcPct val="90000"/>
        </a:lnSpc>
        <a:spcBef>
          <a:spcPct val="0"/>
        </a:spcBef>
        <a:spcAft>
          <a:spcPct val="0"/>
        </a:spcAft>
        <a:defRPr sz="3700">
          <a:solidFill>
            <a:schemeClr val="tx1"/>
          </a:solidFill>
          <a:latin typeface="Calibri Light" charset="0"/>
        </a:defRPr>
      </a:lvl2pPr>
      <a:lvl3pPr algn="l" defTabSz="771525" rtl="0" eaLnBrk="0" fontAlgn="base" hangingPunct="0">
        <a:lnSpc>
          <a:spcPct val="90000"/>
        </a:lnSpc>
        <a:spcBef>
          <a:spcPct val="0"/>
        </a:spcBef>
        <a:spcAft>
          <a:spcPct val="0"/>
        </a:spcAft>
        <a:defRPr sz="3700">
          <a:solidFill>
            <a:schemeClr val="tx1"/>
          </a:solidFill>
          <a:latin typeface="Calibri Light" charset="0"/>
        </a:defRPr>
      </a:lvl3pPr>
      <a:lvl4pPr algn="l" defTabSz="771525" rtl="0" eaLnBrk="0" fontAlgn="base" hangingPunct="0">
        <a:lnSpc>
          <a:spcPct val="90000"/>
        </a:lnSpc>
        <a:spcBef>
          <a:spcPct val="0"/>
        </a:spcBef>
        <a:spcAft>
          <a:spcPct val="0"/>
        </a:spcAft>
        <a:defRPr sz="3700">
          <a:solidFill>
            <a:schemeClr val="tx1"/>
          </a:solidFill>
          <a:latin typeface="Calibri Light" charset="0"/>
        </a:defRPr>
      </a:lvl4pPr>
      <a:lvl5pPr algn="l" defTabSz="771525" rtl="0" eaLnBrk="0" fontAlgn="base" hangingPunct="0">
        <a:lnSpc>
          <a:spcPct val="90000"/>
        </a:lnSpc>
        <a:spcBef>
          <a:spcPct val="0"/>
        </a:spcBef>
        <a:spcAft>
          <a:spcPct val="0"/>
        </a:spcAft>
        <a:defRPr sz="3700">
          <a:solidFill>
            <a:schemeClr val="tx1"/>
          </a:solidFill>
          <a:latin typeface="Calibri Light" charset="0"/>
        </a:defRPr>
      </a:lvl5pPr>
      <a:lvl6pPr marL="457200" algn="l" defTabSz="771525" rtl="0" fontAlgn="base">
        <a:lnSpc>
          <a:spcPct val="90000"/>
        </a:lnSpc>
        <a:spcBef>
          <a:spcPct val="0"/>
        </a:spcBef>
        <a:spcAft>
          <a:spcPct val="0"/>
        </a:spcAft>
        <a:defRPr sz="3700">
          <a:solidFill>
            <a:schemeClr val="tx1"/>
          </a:solidFill>
          <a:latin typeface="Calibri Light" charset="0"/>
        </a:defRPr>
      </a:lvl6pPr>
      <a:lvl7pPr marL="914400" algn="l" defTabSz="771525" rtl="0" fontAlgn="base">
        <a:lnSpc>
          <a:spcPct val="90000"/>
        </a:lnSpc>
        <a:spcBef>
          <a:spcPct val="0"/>
        </a:spcBef>
        <a:spcAft>
          <a:spcPct val="0"/>
        </a:spcAft>
        <a:defRPr sz="3700">
          <a:solidFill>
            <a:schemeClr val="tx1"/>
          </a:solidFill>
          <a:latin typeface="Calibri Light" charset="0"/>
        </a:defRPr>
      </a:lvl7pPr>
      <a:lvl8pPr marL="1371600" algn="l" defTabSz="771525" rtl="0" fontAlgn="base">
        <a:lnSpc>
          <a:spcPct val="90000"/>
        </a:lnSpc>
        <a:spcBef>
          <a:spcPct val="0"/>
        </a:spcBef>
        <a:spcAft>
          <a:spcPct val="0"/>
        </a:spcAft>
        <a:defRPr sz="3700">
          <a:solidFill>
            <a:schemeClr val="tx1"/>
          </a:solidFill>
          <a:latin typeface="Calibri Light" charset="0"/>
        </a:defRPr>
      </a:lvl8pPr>
      <a:lvl9pPr marL="1828800" algn="l" defTabSz="771525" rtl="0" fontAlgn="base">
        <a:lnSpc>
          <a:spcPct val="90000"/>
        </a:lnSpc>
        <a:spcBef>
          <a:spcPct val="0"/>
        </a:spcBef>
        <a:spcAft>
          <a:spcPct val="0"/>
        </a:spcAft>
        <a:defRPr sz="3700">
          <a:solidFill>
            <a:schemeClr val="tx1"/>
          </a:solidFill>
          <a:latin typeface="Calibri Light" charset="0"/>
        </a:defRPr>
      </a:lvl9pPr>
    </p:titleStyle>
    <p:bodyStyle>
      <a:lvl1pPr marL="192088" indent="-192088" algn="l" defTabSz="771525" rtl="0" eaLnBrk="0" fontAlgn="base" hangingPunct="0">
        <a:lnSpc>
          <a:spcPct val="90000"/>
        </a:lnSpc>
        <a:spcBef>
          <a:spcPts val="850"/>
        </a:spcBef>
        <a:spcAft>
          <a:spcPct val="0"/>
        </a:spcAft>
        <a:buFont typeface="Arial" pitchFamily="34" charset="0"/>
        <a:buChar char="•"/>
        <a:defRPr sz="2300" kern="1200">
          <a:solidFill>
            <a:schemeClr val="tx1"/>
          </a:solidFill>
          <a:latin typeface="+mn-lt"/>
          <a:ea typeface="+mn-ea"/>
          <a:cs typeface="+mn-cs"/>
        </a:defRPr>
      </a:lvl1pPr>
      <a:lvl2pPr marL="577850" indent="-192088" algn="l" defTabSz="771525" rtl="0" eaLnBrk="0" fontAlgn="base" hangingPunct="0">
        <a:lnSpc>
          <a:spcPct val="90000"/>
        </a:lnSpc>
        <a:spcBef>
          <a:spcPts val="425"/>
        </a:spcBef>
        <a:spcAft>
          <a:spcPct val="0"/>
        </a:spcAft>
        <a:buFont typeface="Arial" pitchFamily="34" charset="0"/>
        <a:buChar char="•"/>
        <a:defRPr sz="2000" kern="1200">
          <a:solidFill>
            <a:schemeClr val="tx1"/>
          </a:solidFill>
          <a:latin typeface="+mn-lt"/>
          <a:ea typeface="+mn-ea"/>
          <a:cs typeface="+mn-cs"/>
        </a:defRPr>
      </a:lvl2pPr>
      <a:lvl3pPr marL="963613" indent="-192088" algn="l" defTabSz="771525" rtl="0" eaLnBrk="0" fontAlgn="base" hangingPunct="0">
        <a:lnSpc>
          <a:spcPct val="90000"/>
        </a:lnSpc>
        <a:spcBef>
          <a:spcPts val="425"/>
        </a:spcBef>
        <a:spcAft>
          <a:spcPct val="0"/>
        </a:spcAft>
        <a:buFont typeface="Arial" pitchFamily="34" charset="0"/>
        <a:buChar char="•"/>
        <a:defRPr sz="1600" kern="1200">
          <a:solidFill>
            <a:schemeClr val="tx1"/>
          </a:solidFill>
          <a:latin typeface="+mn-lt"/>
          <a:ea typeface="+mn-ea"/>
          <a:cs typeface="+mn-cs"/>
        </a:defRPr>
      </a:lvl3pPr>
      <a:lvl4pPr marL="1349375"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4pPr>
      <a:lvl5pPr marL="1735138" indent="-192088" algn="l" defTabSz="771525" rtl="0" eaLnBrk="0" fontAlgn="base" hangingPunct="0">
        <a:lnSpc>
          <a:spcPct val="90000"/>
        </a:lnSpc>
        <a:spcBef>
          <a:spcPts val="425"/>
        </a:spcBef>
        <a:spcAft>
          <a:spcPct val="0"/>
        </a:spcAft>
        <a:buFont typeface="Arial" pitchFamily="34" charset="0"/>
        <a:buChar char="•"/>
        <a:defRPr sz="1500" kern="1200">
          <a:solidFill>
            <a:schemeClr val="tx1"/>
          </a:solidFill>
          <a:latin typeface="+mn-lt"/>
          <a:ea typeface="+mn-ea"/>
          <a:cs typeface="+mn-cs"/>
        </a:defRPr>
      </a:lvl5pPr>
      <a:lvl6pPr marL="2121819"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6pPr>
      <a:lvl7pPr marL="2507605"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7pPr>
      <a:lvl8pPr marL="2893390"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8pPr>
      <a:lvl9pPr marL="3279176" indent="-192893" algn="l" defTabSz="771571" rtl="0" eaLnBrk="1" latinLnBrk="0" hangingPunct="1">
        <a:lnSpc>
          <a:spcPct val="90000"/>
        </a:lnSpc>
        <a:spcBef>
          <a:spcPts val="422"/>
        </a:spcBef>
        <a:buFont typeface="Arial"/>
        <a:buChar char="•"/>
        <a:defRPr sz="1519" kern="1200">
          <a:solidFill>
            <a:schemeClr val="tx1"/>
          </a:solidFill>
          <a:latin typeface="+mn-lt"/>
          <a:ea typeface="+mn-ea"/>
          <a:cs typeface="+mn-cs"/>
        </a:defRPr>
      </a:lvl9pPr>
    </p:bodyStyle>
    <p:otherStyle>
      <a:defPPr>
        <a:defRPr lang="en-US"/>
      </a:defPPr>
      <a:lvl1pPr marL="0" algn="l" defTabSz="771571" rtl="0" eaLnBrk="1" latinLnBrk="0" hangingPunct="1">
        <a:defRPr sz="1519" kern="1200">
          <a:solidFill>
            <a:schemeClr val="tx1"/>
          </a:solidFill>
          <a:latin typeface="+mn-lt"/>
          <a:ea typeface="+mn-ea"/>
          <a:cs typeface="+mn-cs"/>
        </a:defRPr>
      </a:lvl1pPr>
      <a:lvl2pPr marL="385785" algn="l" defTabSz="771571" rtl="0" eaLnBrk="1" latinLnBrk="0" hangingPunct="1">
        <a:defRPr sz="1519" kern="1200">
          <a:solidFill>
            <a:schemeClr val="tx1"/>
          </a:solidFill>
          <a:latin typeface="+mn-lt"/>
          <a:ea typeface="+mn-ea"/>
          <a:cs typeface="+mn-cs"/>
        </a:defRPr>
      </a:lvl2pPr>
      <a:lvl3pPr marL="771571" algn="l" defTabSz="771571" rtl="0" eaLnBrk="1" latinLnBrk="0" hangingPunct="1">
        <a:defRPr sz="1519" kern="1200">
          <a:solidFill>
            <a:schemeClr val="tx1"/>
          </a:solidFill>
          <a:latin typeface="+mn-lt"/>
          <a:ea typeface="+mn-ea"/>
          <a:cs typeface="+mn-cs"/>
        </a:defRPr>
      </a:lvl3pPr>
      <a:lvl4pPr marL="1157356" algn="l" defTabSz="771571" rtl="0" eaLnBrk="1" latinLnBrk="0" hangingPunct="1">
        <a:defRPr sz="1519" kern="1200">
          <a:solidFill>
            <a:schemeClr val="tx1"/>
          </a:solidFill>
          <a:latin typeface="+mn-lt"/>
          <a:ea typeface="+mn-ea"/>
          <a:cs typeface="+mn-cs"/>
        </a:defRPr>
      </a:lvl4pPr>
      <a:lvl5pPr marL="1543141" algn="l" defTabSz="771571" rtl="0" eaLnBrk="1" latinLnBrk="0" hangingPunct="1">
        <a:defRPr sz="1519" kern="1200">
          <a:solidFill>
            <a:schemeClr val="tx1"/>
          </a:solidFill>
          <a:latin typeface="+mn-lt"/>
          <a:ea typeface="+mn-ea"/>
          <a:cs typeface="+mn-cs"/>
        </a:defRPr>
      </a:lvl5pPr>
      <a:lvl6pPr marL="1928927" algn="l" defTabSz="771571" rtl="0" eaLnBrk="1" latinLnBrk="0" hangingPunct="1">
        <a:defRPr sz="1519" kern="1200">
          <a:solidFill>
            <a:schemeClr val="tx1"/>
          </a:solidFill>
          <a:latin typeface="+mn-lt"/>
          <a:ea typeface="+mn-ea"/>
          <a:cs typeface="+mn-cs"/>
        </a:defRPr>
      </a:lvl6pPr>
      <a:lvl7pPr marL="2314712" algn="l" defTabSz="771571" rtl="0" eaLnBrk="1" latinLnBrk="0" hangingPunct="1">
        <a:defRPr sz="1519" kern="1200">
          <a:solidFill>
            <a:schemeClr val="tx1"/>
          </a:solidFill>
          <a:latin typeface="+mn-lt"/>
          <a:ea typeface="+mn-ea"/>
          <a:cs typeface="+mn-cs"/>
        </a:defRPr>
      </a:lvl7pPr>
      <a:lvl8pPr marL="2700498" algn="l" defTabSz="771571" rtl="0" eaLnBrk="1" latinLnBrk="0" hangingPunct="1">
        <a:defRPr sz="1519" kern="1200">
          <a:solidFill>
            <a:schemeClr val="tx1"/>
          </a:solidFill>
          <a:latin typeface="+mn-lt"/>
          <a:ea typeface="+mn-ea"/>
          <a:cs typeface="+mn-cs"/>
        </a:defRPr>
      </a:lvl8pPr>
      <a:lvl9pPr marL="3086283" algn="l" defTabSz="771571" rtl="0" eaLnBrk="1" latinLnBrk="0" hangingPunct="1">
        <a:defRPr sz="1519"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1" name="Rectangle 5"/>
          <p:cNvSpPr>
            <a:spLocks noGrp="1" noChangeArrowheads="1"/>
          </p:cNvSpPr>
          <p:nvPr>
            <p:ph type="ctrTitle"/>
          </p:nvPr>
        </p:nvSpPr>
        <p:spPr>
          <a:xfrm>
            <a:off x="527050" y="3500438"/>
            <a:ext cx="9477375" cy="2232818"/>
          </a:xfrm>
        </p:spPr>
        <p:txBody>
          <a:bodyPr/>
          <a:lstStyle/>
          <a:p>
            <a:pPr eaLnBrk="1" hangingPunct="1">
              <a:lnSpc>
                <a:spcPct val="110000"/>
              </a:lnSpc>
            </a:pPr>
            <a:r>
              <a:rPr lang="en-US" sz="4000" b="1" dirty="0">
                <a:solidFill>
                  <a:schemeClr val="bg1"/>
                </a:solidFill>
                <a:ea typeface="MS PGothic" pitchFamily="34" charset="-128"/>
              </a:rPr>
              <a:t>NHẬP MÔN TRÍ TUỆ NHÂN TẠO</a:t>
            </a:r>
            <a:br>
              <a:rPr lang="en-US" sz="4000" dirty="0">
                <a:ea typeface="MS PGothic" pitchFamily="34" charset="-128"/>
              </a:rPr>
            </a:br>
            <a:r>
              <a:rPr lang="en-US" altLang="en-US" sz="4000" b="1">
                <a:solidFill>
                  <a:schemeClr val="bg1"/>
                </a:solidFill>
                <a:ea typeface="ＭＳ Ｐゴシック" panose="020B0600070205080204" pitchFamily="34" charset="-128"/>
              </a:rPr>
              <a:t>Chương 2. Giải quyết vấn đề bằng tìm kiếm</a:t>
            </a:r>
            <a:endParaRPr lang="en-US" sz="4000" dirty="0">
              <a:ea typeface="MS PGothic" pitchFamily="34" charset="-128"/>
            </a:endParaRPr>
          </a:p>
        </p:txBody>
      </p:sp>
      <p:sp>
        <p:nvSpPr>
          <p:cNvPr id="15362" name="Rectangle 222"/>
          <p:cNvSpPr>
            <a:spLocks noGrp="1" noChangeArrowheads="1"/>
          </p:cNvSpPr>
          <p:nvPr>
            <p:ph type="sldNum" sz="quarter" idx="12"/>
          </p:nvPr>
        </p:nvSpPr>
        <p:spPr bwMode="auto">
          <a:noFill/>
          <a:ln>
            <a:miter lim="800000"/>
            <a:headEnd/>
            <a:tailEnd/>
          </a:ln>
        </p:spPr>
        <p:txBody>
          <a:bodyPr/>
          <a:lstStyle/>
          <a:p>
            <a:fld id="{574EA467-8A07-4E6F-9E13-CD60ADF26F12}" type="slidenum">
              <a:rPr lang="en-US" sz="1200">
                <a:solidFill>
                  <a:schemeClr val="tx1"/>
                </a:solidFill>
              </a:rPr>
              <a:pPr/>
              <a:t>1</a:t>
            </a:fld>
            <a:endParaRPr lang="en-US" sz="1200">
              <a:solidFill>
                <a:schemeClr val="tx1"/>
              </a:solidFill>
            </a:endParaRPr>
          </a:p>
        </p:txBody>
      </p:sp>
      <p:sp>
        <p:nvSpPr>
          <p:cNvPr id="15363" name="Rectangle 10"/>
          <p:cNvSpPr>
            <a:spLocks noChangeArrowheads="1"/>
          </p:cNvSpPr>
          <p:nvPr/>
        </p:nvSpPr>
        <p:spPr bwMode="auto">
          <a:xfrm>
            <a:off x="771525" y="3200400"/>
            <a:ext cx="9086850" cy="76200"/>
          </a:xfrm>
          <a:prstGeom prst="rect">
            <a:avLst/>
          </a:prstGeom>
          <a:solidFill>
            <a:schemeClr val="accent1"/>
          </a:solidFill>
          <a:ln w="9525">
            <a:solidFill>
              <a:schemeClr val="tx1"/>
            </a:solidFill>
            <a:miter lim="800000"/>
            <a:headEnd/>
            <a:tailEnd/>
          </a:ln>
        </p:spPr>
        <p:txBody>
          <a:bodyPr wrap="none" lIns="89990" tIns="46795" rIns="89990" bIns="46795" anchor="ctr"/>
          <a:lstStyle/>
          <a:p>
            <a:pPr eaLnBrk="1" hangingPunct="1"/>
            <a:endParaRPr lang="vi-VN"/>
          </a:p>
        </p:txBody>
      </p:sp>
      <p:sp>
        <p:nvSpPr>
          <p:cNvPr id="242702" name="Rectangle 14"/>
          <p:cNvSpPr>
            <a:spLocks noChangeArrowheads="1"/>
          </p:cNvSpPr>
          <p:nvPr/>
        </p:nvSpPr>
        <p:spPr bwMode="auto">
          <a:xfrm>
            <a:off x="4414838" y="2357438"/>
            <a:ext cx="5589587" cy="685800"/>
          </a:xfrm>
          <a:prstGeom prst="rect">
            <a:avLst/>
          </a:prstGeom>
          <a:noFill/>
          <a:ln w="9525">
            <a:noFill/>
            <a:miter lim="800000"/>
            <a:headEnd/>
            <a:tailEnd/>
          </a:ln>
          <a:effectLst/>
        </p:spPr>
        <p:txBody>
          <a:bodyPr lIns="91429" tIns="45715" rIns="91429" bIns="45715" anchor="b" anchorCtr="1"/>
          <a:lstStyle/>
          <a:p>
            <a:pPr algn="ctr" eaLnBrk="1" hangingPunct="1"/>
            <a:r>
              <a:rPr lang="en-US" sz="2400" b="1" dirty="0">
                <a:solidFill>
                  <a:schemeClr val="bg1"/>
                </a:solidFill>
                <a:effectLst>
                  <a:outerShdw blurRad="38100" dist="38100" dir="2700000" algn="tl">
                    <a:srgbClr val="C0C0C0"/>
                  </a:outerShdw>
                </a:effectLst>
                <a:latin typeface="+mj-lt"/>
              </a:rPr>
              <a:t>BỘ MÔN KHOA HỌC MÁY TÍNH</a:t>
            </a:r>
          </a:p>
          <a:p>
            <a:pPr algn="ctr" eaLnBrk="1" hangingPunct="1"/>
            <a:r>
              <a:rPr lang="en-US" sz="2000" b="1" dirty="0">
                <a:solidFill>
                  <a:schemeClr val="bg1"/>
                </a:solidFill>
                <a:effectLst>
                  <a:outerShdw blurRad="38100" dist="38100" dir="2700000" algn="tl">
                    <a:srgbClr val="C0C0C0"/>
                  </a:outerShdw>
                </a:effectLst>
                <a:latin typeface="+mj-lt"/>
              </a:rPr>
              <a:t>www.fit.nuce.edu.vn</a:t>
            </a:r>
          </a:p>
        </p:txBody>
      </p:sp>
    </p:spTree>
  </p:cSld>
  <p:clrMapOvr>
    <a:masterClrMapping/>
  </p:clrMapOvr>
  <p:transition spd="slow"/>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88AE7B-E2CC-9A4B-9175-98E9D035D304}"/>
              </a:ext>
            </a:extLst>
          </p:cNvPr>
          <p:cNvSpPr>
            <a:spLocks noGrp="1"/>
          </p:cNvSpPr>
          <p:nvPr>
            <p:ph type="title"/>
          </p:nvPr>
        </p:nvSpPr>
        <p:spPr/>
        <p:txBody>
          <a:bodyPr/>
          <a:lstStyle/>
          <a:p>
            <a:r>
              <a:rPr lang="en-US"/>
              <a:t>Tìm kiếm cục bộ (local search)</a:t>
            </a:r>
          </a:p>
        </p:txBody>
      </p:sp>
      <p:sp>
        <p:nvSpPr>
          <p:cNvPr id="3" name="Content Placeholder 2">
            <a:extLst>
              <a:ext uri="{FF2B5EF4-FFF2-40B4-BE49-F238E27FC236}">
                <a16:creationId xmlns:a16="http://schemas.microsoft.com/office/drawing/2014/main" id="{1734C621-A288-B941-A3F5-6AD18FB626AC}"/>
              </a:ext>
            </a:extLst>
          </p:cNvPr>
          <p:cNvSpPr>
            <a:spLocks noGrp="1"/>
          </p:cNvSpPr>
          <p:nvPr>
            <p:ph idx="1"/>
          </p:nvPr>
        </p:nvSpPr>
        <p:spPr/>
        <p:txBody>
          <a:bodyPr/>
          <a:lstStyle/>
          <a:p>
            <a:pPr marL="0" indent="0">
              <a:buNone/>
            </a:pPr>
            <a:r>
              <a:rPr lang="vi-VN"/>
              <a:t>1. Định nghĩa, khái niệm</a:t>
            </a:r>
          </a:p>
          <a:p>
            <a:pPr marL="0" indent="0">
              <a:buNone/>
            </a:pPr>
            <a:r>
              <a:rPr lang="vi-VN"/>
              <a:t>2. Thuật toán leo đồi</a:t>
            </a:r>
          </a:p>
          <a:p>
            <a:pPr marL="0" indent="0">
              <a:buNone/>
            </a:pPr>
            <a:r>
              <a:rPr lang="vi-VN"/>
              <a:t>3. Thuật toán leo đồi ngẫu nhiên</a:t>
            </a:r>
          </a:p>
          <a:p>
            <a:pPr marL="0" indent="0">
              <a:buNone/>
            </a:pPr>
            <a:r>
              <a:rPr lang="vi-VN"/>
              <a:t>4. Thuật toán tôi thép</a:t>
            </a:r>
          </a:p>
          <a:p>
            <a:pPr marL="0" indent="0">
              <a:buNone/>
            </a:pPr>
            <a:r>
              <a:rPr lang="vi-VN"/>
              <a:t>5. Ứng dụng bài toán lập lịch</a:t>
            </a:r>
            <a:endParaRPr lang="vi-VN" sz="2800"/>
          </a:p>
        </p:txBody>
      </p:sp>
      <p:sp>
        <p:nvSpPr>
          <p:cNvPr id="4" name="Slide Number Placeholder 3">
            <a:extLst>
              <a:ext uri="{FF2B5EF4-FFF2-40B4-BE49-F238E27FC236}">
                <a16:creationId xmlns:a16="http://schemas.microsoft.com/office/drawing/2014/main" id="{30B05ADF-06DA-3C4A-99A2-2D07E1BD9E40}"/>
              </a:ext>
            </a:extLst>
          </p:cNvPr>
          <p:cNvSpPr>
            <a:spLocks noGrp="1"/>
          </p:cNvSpPr>
          <p:nvPr>
            <p:ph type="sldNum" sz="quarter" idx="12"/>
          </p:nvPr>
        </p:nvSpPr>
        <p:spPr/>
        <p:txBody>
          <a:bodyPr/>
          <a:lstStyle/>
          <a:p>
            <a:fld id="{DA8C51A7-BEEA-471D-933F-7E35BC04A30F}" type="slidenum">
              <a:rPr lang="en-US"/>
              <a:pPr/>
              <a:t>2</a:t>
            </a:fld>
            <a:endParaRPr lang="en-US"/>
          </a:p>
        </p:txBody>
      </p:sp>
    </p:spTree>
    <p:extLst>
      <p:ext uri="{BB962C8B-B14F-4D97-AF65-F5344CB8AC3E}">
        <p14:creationId xmlns:p14="http://schemas.microsoft.com/office/powerpoint/2010/main" val="11840187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4C5E-836A-504A-8BEA-EA873ACB4DF7}"/>
              </a:ext>
            </a:extLst>
          </p:cNvPr>
          <p:cNvSpPr>
            <a:spLocks noGrp="1"/>
          </p:cNvSpPr>
          <p:nvPr>
            <p:ph type="title"/>
          </p:nvPr>
        </p:nvSpPr>
        <p:spPr/>
        <p:txBody>
          <a:bodyPr/>
          <a:lstStyle/>
          <a:p>
            <a:r>
              <a:rPr lang="en-US"/>
              <a:t>Tìm kiếm cục bộ</a:t>
            </a:r>
          </a:p>
        </p:txBody>
      </p:sp>
      <p:sp>
        <p:nvSpPr>
          <p:cNvPr id="3" name="Content Placeholder 2">
            <a:extLst>
              <a:ext uri="{FF2B5EF4-FFF2-40B4-BE49-F238E27FC236}">
                <a16:creationId xmlns:a16="http://schemas.microsoft.com/office/drawing/2014/main" id="{99F26625-EA32-2240-8C8C-1CEF33D0F490}"/>
              </a:ext>
            </a:extLst>
          </p:cNvPr>
          <p:cNvSpPr>
            <a:spLocks noGrp="1"/>
          </p:cNvSpPr>
          <p:nvPr>
            <p:ph idx="1"/>
          </p:nvPr>
        </p:nvSpPr>
        <p:spPr/>
        <p:txBody>
          <a:bodyPr/>
          <a:lstStyle/>
          <a:p>
            <a:pPr>
              <a:lnSpc>
                <a:spcPct val="110000"/>
              </a:lnSpc>
            </a:pPr>
            <a:r>
              <a:rPr lang="vi-VN"/>
              <a:t>Các thuật toán tìm kiếm ở trên đều dựa trên việc khảo sát không gian tìm kiếm một cách hệ thống bằng cách di chuyển theo một số đường đi. </a:t>
            </a:r>
          </a:p>
          <a:p>
            <a:pPr>
              <a:lnSpc>
                <a:spcPct val="110000"/>
              </a:lnSpc>
            </a:pPr>
            <a:r>
              <a:rPr lang="vi-VN"/>
              <a:t>Các thuật toán lưu lại thông tin về đường đi, thông tin về phương án đã hoặc chưa được xem xét tại mỗi trạng thái trên đường đi.</a:t>
            </a:r>
          </a:p>
          <a:p>
            <a:pPr>
              <a:lnSpc>
                <a:spcPct val="110000"/>
              </a:lnSpc>
            </a:pPr>
            <a:r>
              <a:rPr lang="vi-VN"/>
              <a:t>Làm tăng số lượng trạng thái cần xem xét, ghi nhớ nhiều trạng thái, không thích hợp với bài toán có không gian trạng thái lớn. </a:t>
            </a:r>
          </a:p>
          <a:p>
            <a:pPr>
              <a:lnSpc>
                <a:spcPct val="110000"/>
              </a:lnSpc>
            </a:pPr>
            <a:r>
              <a:rPr lang="en-US"/>
              <a:t>Thuật toán </a:t>
            </a:r>
            <a:r>
              <a:rPr lang="en-US" i="1"/>
              <a:t>tìm kiếm cục bộ </a:t>
            </a:r>
            <a:r>
              <a:rPr lang="en-US"/>
              <a:t>(local search) </a:t>
            </a:r>
            <a:r>
              <a:rPr lang="vi-VN"/>
              <a:t>tại mỗi thời điểm, thuật toán chỉ sử dụng một trạng thái hiện thời, và chỉ xem xét các láng giềng của trạng thái đó </a:t>
            </a:r>
          </a:p>
        </p:txBody>
      </p:sp>
      <p:sp>
        <p:nvSpPr>
          <p:cNvPr id="4" name="Slide Number Placeholder 3">
            <a:extLst>
              <a:ext uri="{FF2B5EF4-FFF2-40B4-BE49-F238E27FC236}">
                <a16:creationId xmlns:a16="http://schemas.microsoft.com/office/drawing/2014/main" id="{A2AADACB-1F73-C546-B88D-ECDD3011AA5D}"/>
              </a:ext>
            </a:extLst>
          </p:cNvPr>
          <p:cNvSpPr>
            <a:spLocks noGrp="1"/>
          </p:cNvSpPr>
          <p:nvPr>
            <p:ph type="sldNum" sz="quarter" idx="12"/>
          </p:nvPr>
        </p:nvSpPr>
        <p:spPr/>
        <p:txBody>
          <a:bodyPr/>
          <a:lstStyle/>
          <a:p>
            <a:fld id="{DA8C51A7-BEEA-471D-933F-7E35BC04A30F}" type="slidenum">
              <a:rPr lang="en-US"/>
              <a:pPr/>
              <a:t>3</a:t>
            </a:fld>
            <a:endParaRPr lang="en-US"/>
          </a:p>
        </p:txBody>
      </p:sp>
    </p:spTree>
    <p:extLst>
      <p:ext uri="{BB962C8B-B14F-4D97-AF65-F5344CB8AC3E}">
        <p14:creationId xmlns:p14="http://schemas.microsoft.com/office/powerpoint/2010/main" val="27698831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4C5E-836A-504A-8BEA-EA873ACB4DF7}"/>
              </a:ext>
            </a:extLst>
          </p:cNvPr>
          <p:cNvSpPr>
            <a:spLocks noGrp="1"/>
          </p:cNvSpPr>
          <p:nvPr>
            <p:ph type="title"/>
          </p:nvPr>
        </p:nvSpPr>
        <p:spPr/>
        <p:txBody>
          <a:bodyPr/>
          <a:lstStyle/>
          <a:p>
            <a:r>
              <a:rPr lang="en-US"/>
              <a:t>Tìm kiếm cục bộ</a:t>
            </a:r>
          </a:p>
        </p:txBody>
      </p:sp>
      <p:sp>
        <p:nvSpPr>
          <p:cNvPr id="3" name="Content Placeholder 2">
            <a:extLst>
              <a:ext uri="{FF2B5EF4-FFF2-40B4-BE49-F238E27FC236}">
                <a16:creationId xmlns:a16="http://schemas.microsoft.com/office/drawing/2014/main" id="{99F26625-EA32-2240-8C8C-1CEF33D0F490}"/>
              </a:ext>
            </a:extLst>
          </p:cNvPr>
          <p:cNvSpPr>
            <a:spLocks noGrp="1"/>
          </p:cNvSpPr>
          <p:nvPr>
            <p:ph idx="1"/>
          </p:nvPr>
        </p:nvSpPr>
        <p:spPr/>
        <p:txBody>
          <a:bodyPr/>
          <a:lstStyle/>
          <a:p>
            <a:pPr>
              <a:lnSpc>
                <a:spcPct val="110000"/>
              </a:lnSpc>
            </a:pPr>
            <a:r>
              <a:rPr lang="vi-VN"/>
              <a:t>Thuật toán không lưu đường đi hoặc các trạng thái đã khảo sát, do vậy không đòi hỏi nhiều bộ nhớ</a:t>
            </a:r>
          </a:p>
          <a:p>
            <a:pPr>
              <a:lnSpc>
                <a:spcPct val="110000"/>
              </a:lnSpc>
            </a:pPr>
            <a:r>
              <a:rPr lang="vi-VN"/>
              <a:t>Tìm kiếm cục bộ thường không cho phép tìm được lời giải tối ưu, nhưng cho phép tìm được lời giải </a:t>
            </a:r>
            <a:r>
              <a:rPr lang="vi-VN">
                <a:solidFill>
                  <a:srgbClr val="26902B"/>
                </a:solidFill>
              </a:rPr>
              <a:t>tương đối tốt </a:t>
            </a:r>
            <a:r>
              <a:rPr lang="vi-VN"/>
              <a:t>với thời gian và bộ nhớ </a:t>
            </a:r>
            <a:r>
              <a:rPr lang="vi-VN">
                <a:solidFill>
                  <a:srgbClr val="26902B"/>
                </a:solidFill>
              </a:rPr>
              <a:t>nhỏ hơn nhiều </a:t>
            </a:r>
            <a:r>
              <a:rPr lang="vi-VN"/>
              <a:t>so với tìm kiếm hệ thống</a:t>
            </a:r>
          </a:p>
          <a:p>
            <a:pPr>
              <a:lnSpc>
                <a:spcPct val="110000"/>
              </a:lnSpc>
            </a:pPr>
            <a:r>
              <a:rPr lang="vi-VN" b="1">
                <a:solidFill>
                  <a:srgbClr val="26902B"/>
                </a:solidFill>
              </a:rPr>
              <a:t>Có thể sử dụng cho các bài toán có kích thước lớn. </a:t>
            </a:r>
          </a:p>
          <a:p>
            <a:pPr>
              <a:lnSpc>
                <a:spcPct val="110000"/>
              </a:lnSpc>
            </a:pPr>
            <a:r>
              <a:rPr lang="vi-VN"/>
              <a:t>Tìm kiếm cục bộ thường được sử dụng cho những bài toán </a:t>
            </a:r>
            <a:r>
              <a:rPr lang="vi-VN" b="1"/>
              <a:t>tối ưu hóa tổ hợp </a:t>
            </a:r>
            <a:r>
              <a:rPr lang="vi-VN"/>
              <a:t>hoặc tối ưu hóa rời rạc và </a:t>
            </a:r>
            <a:r>
              <a:rPr lang="vi-VN" i="1"/>
              <a:t>không quan tâm tới đường đi dẫn tới trạng thái đó</a:t>
            </a:r>
            <a:r>
              <a:rPr lang="vi-VN"/>
              <a:t>. </a:t>
            </a:r>
          </a:p>
          <a:p>
            <a:pPr>
              <a:lnSpc>
                <a:spcPct val="110000"/>
              </a:lnSpc>
            </a:pPr>
            <a:endParaRPr lang="vi-VN" b="1">
              <a:solidFill>
                <a:srgbClr val="26902B"/>
              </a:solidFill>
            </a:endParaRPr>
          </a:p>
          <a:p>
            <a:pPr marL="0" indent="0">
              <a:lnSpc>
                <a:spcPct val="110000"/>
              </a:lnSpc>
              <a:buNone/>
            </a:pPr>
            <a:endParaRPr lang="vi-VN"/>
          </a:p>
        </p:txBody>
      </p:sp>
      <p:sp>
        <p:nvSpPr>
          <p:cNvPr id="4" name="Slide Number Placeholder 3">
            <a:extLst>
              <a:ext uri="{FF2B5EF4-FFF2-40B4-BE49-F238E27FC236}">
                <a16:creationId xmlns:a16="http://schemas.microsoft.com/office/drawing/2014/main" id="{A2AADACB-1F73-C546-B88D-ECDD3011AA5D}"/>
              </a:ext>
            </a:extLst>
          </p:cNvPr>
          <p:cNvSpPr>
            <a:spLocks noGrp="1"/>
          </p:cNvSpPr>
          <p:nvPr>
            <p:ph type="sldNum" sz="quarter" idx="12"/>
          </p:nvPr>
        </p:nvSpPr>
        <p:spPr/>
        <p:txBody>
          <a:bodyPr/>
          <a:lstStyle/>
          <a:p>
            <a:fld id="{DA8C51A7-BEEA-471D-933F-7E35BC04A30F}" type="slidenum">
              <a:rPr lang="en-US"/>
              <a:pPr/>
              <a:t>4</a:t>
            </a:fld>
            <a:endParaRPr lang="en-US"/>
          </a:p>
        </p:txBody>
      </p:sp>
    </p:spTree>
    <p:extLst>
      <p:ext uri="{BB962C8B-B14F-4D97-AF65-F5344CB8AC3E}">
        <p14:creationId xmlns:p14="http://schemas.microsoft.com/office/powerpoint/2010/main" val="9132802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4C5E-836A-504A-8BEA-EA873ACB4DF7}"/>
              </a:ext>
            </a:extLst>
          </p:cNvPr>
          <p:cNvSpPr>
            <a:spLocks noGrp="1"/>
          </p:cNvSpPr>
          <p:nvPr>
            <p:ph type="title"/>
          </p:nvPr>
        </p:nvSpPr>
        <p:spPr/>
        <p:txBody>
          <a:bodyPr/>
          <a:lstStyle/>
          <a:p>
            <a:r>
              <a:rPr lang="en-US"/>
              <a:t>Tìm kiếm cục bộ</a:t>
            </a:r>
          </a:p>
        </p:txBody>
      </p:sp>
      <p:sp>
        <p:nvSpPr>
          <p:cNvPr id="3" name="Content Placeholder 2">
            <a:extLst>
              <a:ext uri="{FF2B5EF4-FFF2-40B4-BE49-F238E27FC236}">
                <a16:creationId xmlns:a16="http://schemas.microsoft.com/office/drawing/2014/main" id="{99F26625-EA32-2240-8C8C-1CEF33D0F490}"/>
              </a:ext>
            </a:extLst>
          </p:cNvPr>
          <p:cNvSpPr>
            <a:spLocks noGrp="1"/>
          </p:cNvSpPr>
          <p:nvPr>
            <p:ph idx="1"/>
          </p:nvPr>
        </p:nvSpPr>
        <p:spPr>
          <a:xfrm>
            <a:off x="706438" y="1825625"/>
            <a:ext cx="8874125" cy="1027311"/>
          </a:xfrm>
        </p:spPr>
        <p:txBody>
          <a:bodyPr/>
          <a:lstStyle/>
          <a:p>
            <a:pPr>
              <a:lnSpc>
                <a:spcPct val="110000"/>
              </a:lnSpc>
            </a:pPr>
            <a:r>
              <a:rPr lang="vi-VN"/>
              <a:t>Ví dụ, trong bài toán 8 con hậu, ta chỉ cần tìm vị trí của 8 con hậu mà không cần quan tâm tới đường di dẫn tới trạng thái đó.</a:t>
            </a:r>
          </a:p>
          <a:p>
            <a:pPr>
              <a:lnSpc>
                <a:spcPct val="110000"/>
              </a:lnSpc>
            </a:pPr>
            <a:endParaRPr lang="vi-VN"/>
          </a:p>
        </p:txBody>
      </p:sp>
      <p:sp>
        <p:nvSpPr>
          <p:cNvPr id="4" name="Slide Number Placeholder 3">
            <a:extLst>
              <a:ext uri="{FF2B5EF4-FFF2-40B4-BE49-F238E27FC236}">
                <a16:creationId xmlns:a16="http://schemas.microsoft.com/office/drawing/2014/main" id="{A2AADACB-1F73-C546-B88D-ECDD3011AA5D}"/>
              </a:ext>
            </a:extLst>
          </p:cNvPr>
          <p:cNvSpPr>
            <a:spLocks noGrp="1"/>
          </p:cNvSpPr>
          <p:nvPr>
            <p:ph type="sldNum" sz="quarter" idx="12"/>
          </p:nvPr>
        </p:nvSpPr>
        <p:spPr/>
        <p:txBody>
          <a:bodyPr/>
          <a:lstStyle/>
          <a:p>
            <a:fld id="{DA8C51A7-BEEA-471D-933F-7E35BC04A30F}" type="slidenum">
              <a:rPr lang="en-US"/>
              <a:pPr/>
              <a:t>5</a:t>
            </a:fld>
            <a:endParaRPr lang="en-US"/>
          </a:p>
        </p:txBody>
      </p:sp>
      <p:pic>
        <p:nvPicPr>
          <p:cNvPr id="6" name="Picture 5">
            <a:extLst>
              <a:ext uri="{FF2B5EF4-FFF2-40B4-BE49-F238E27FC236}">
                <a16:creationId xmlns:a16="http://schemas.microsoft.com/office/drawing/2014/main" id="{1F241AEC-4833-7A43-AFB1-462520F5CD2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5028" y="2852936"/>
            <a:ext cx="2679700" cy="2679700"/>
          </a:xfrm>
          <a:prstGeom prst="rect">
            <a:avLst/>
          </a:prstGeom>
        </p:spPr>
      </p:pic>
      <p:sp>
        <p:nvSpPr>
          <p:cNvPr id="7" name="TextBox 6">
            <a:extLst>
              <a:ext uri="{FF2B5EF4-FFF2-40B4-BE49-F238E27FC236}">
                <a16:creationId xmlns:a16="http://schemas.microsoft.com/office/drawing/2014/main" id="{1407EF19-DB76-D849-847F-93A65BCE4BFE}"/>
              </a:ext>
            </a:extLst>
          </p:cNvPr>
          <p:cNvSpPr txBox="1"/>
          <p:nvPr/>
        </p:nvSpPr>
        <p:spPr>
          <a:xfrm>
            <a:off x="4021918" y="2852936"/>
            <a:ext cx="5747235" cy="2952328"/>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vi-VN"/>
              <a:t>Bài toán tám quân hậu là bài toán đặt tám quân hậu trên bàn cờ vua kích thước 8×8 sao cho không có quân hậu nào có thể "ăn" được quân hậu khác.</a:t>
            </a:r>
          </a:p>
          <a:p>
            <a:pPr marL="285750" indent="-285750">
              <a:lnSpc>
                <a:spcPct val="150000"/>
              </a:lnSpc>
              <a:buFont typeface="Arial" panose="020B0604020202020204" pitchFamily="34" charset="0"/>
              <a:buChar char="•"/>
            </a:pPr>
            <a:r>
              <a:rPr lang="vi-VN"/>
              <a:t>Lời giải của bài toán là một cách xếp tám quân hậu trên bàn cờ sao cho không có hai quân nào đứng trên cùng hàng, hoặc cùng cột hoặc cùng đường chéo</a:t>
            </a:r>
            <a:endParaRPr lang="en-US"/>
          </a:p>
        </p:txBody>
      </p:sp>
    </p:spTree>
    <p:extLst>
      <p:ext uri="{BB962C8B-B14F-4D97-AF65-F5344CB8AC3E}">
        <p14:creationId xmlns:p14="http://schemas.microsoft.com/office/powerpoint/2010/main" val="12590537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0C0D5-3C3E-724E-A31C-A6C70C8E82BC}"/>
              </a:ext>
            </a:extLst>
          </p:cNvPr>
          <p:cNvSpPr>
            <a:spLocks noGrp="1"/>
          </p:cNvSpPr>
          <p:nvPr>
            <p:ph type="title"/>
          </p:nvPr>
        </p:nvSpPr>
        <p:spPr/>
        <p:txBody>
          <a:bodyPr/>
          <a:lstStyle/>
          <a:p>
            <a:r>
              <a:rPr lang="vi-VN">
                <a:latin typeface="Calibri Light" panose="020F0302020204030204" pitchFamily="34" charset="0"/>
                <a:cs typeface="Calibri Light" panose="020F0302020204030204" pitchFamily="34" charset="0"/>
              </a:rPr>
              <a:t>Bài toán tối ưu hóa tổ hợp</a:t>
            </a:r>
            <a:endParaRPr lang="en-US">
              <a:latin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486BDADD-2AF8-874A-85DB-9178991B880C}"/>
              </a:ext>
            </a:extLst>
          </p:cNvPr>
          <p:cNvSpPr>
            <a:spLocks noGrp="1"/>
          </p:cNvSpPr>
          <p:nvPr>
            <p:ph idx="1"/>
          </p:nvPr>
        </p:nvSpPr>
        <p:spPr>
          <a:xfrm>
            <a:off x="706438" y="1825625"/>
            <a:ext cx="9117582" cy="4267671"/>
          </a:xfrm>
        </p:spPr>
        <p:txBody>
          <a:bodyPr/>
          <a:lstStyle/>
          <a:p>
            <a:pPr marL="0" indent="0">
              <a:buNone/>
            </a:pPr>
            <a:r>
              <a:rPr lang="vi-VN" sz="2400"/>
              <a:t>Bài toán tối ưu hóa tổ hợp (tối ưu hóa rời rạc) có những đặc điểm sau. </a:t>
            </a:r>
          </a:p>
          <a:p>
            <a:pPr lvl="1">
              <a:lnSpc>
                <a:spcPct val="110000"/>
              </a:lnSpc>
            </a:pPr>
            <a:r>
              <a:rPr lang="vi-VN" sz="2200"/>
              <a:t>Tìm trạng thái tối ưu cho phép </a:t>
            </a:r>
            <a:r>
              <a:rPr lang="vi-VN" sz="2200">
                <a:solidFill>
                  <a:srgbClr val="26902B"/>
                </a:solidFill>
              </a:rPr>
              <a:t>cực đại hóa hoặc cực tiểu hóa hàm mục tiêu</a:t>
            </a:r>
            <a:r>
              <a:rPr lang="vi-VN" sz="2200"/>
              <a:t>. </a:t>
            </a:r>
            <a:r>
              <a:rPr lang="vi-VN" sz="2200">
                <a:solidFill>
                  <a:srgbClr val="C00000"/>
                </a:solidFill>
              </a:rPr>
              <a:t>Không quan tâm tới đường đi</a:t>
            </a:r>
            <a:r>
              <a:rPr lang="vi-VN" sz="2200"/>
              <a:t>. </a:t>
            </a:r>
          </a:p>
          <a:p>
            <a:pPr lvl="1">
              <a:lnSpc>
                <a:spcPct val="110000"/>
              </a:lnSpc>
            </a:pPr>
            <a:r>
              <a:rPr lang="vi-VN" sz="2200"/>
              <a:t>Không gian trạng thái rất lớn. </a:t>
            </a:r>
          </a:p>
          <a:p>
            <a:pPr lvl="1">
              <a:lnSpc>
                <a:spcPct val="110000"/>
              </a:lnSpc>
            </a:pPr>
            <a:r>
              <a:rPr lang="vi-VN" sz="2200"/>
              <a:t>Không thể sử dụng các phương pháp tìm kiếm trước để xem xét tất cả không gian trạng thái </a:t>
            </a:r>
          </a:p>
          <a:p>
            <a:pPr lvl="1">
              <a:lnSpc>
                <a:spcPct val="110000"/>
              </a:lnSpc>
            </a:pPr>
            <a:r>
              <a:rPr lang="vi-VN" sz="2200"/>
              <a:t>Thuật toán cho phép tìm lời giải tốt nhất với độ phức tạp tính toán nhỏ. Thuật toán cũng </a:t>
            </a:r>
            <a:r>
              <a:rPr lang="vi-VN" sz="2200">
                <a:solidFill>
                  <a:srgbClr val="C00000"/>
                </a:solidFill>
              </a:rPr>
              <a:t>chấp nhận lời giải tương đối tốt</a:t>
            </a:r>
            <a:r>
              <a:rPr lang="vi-VN" sz="2200"/>
              <a:t>. </a:t>
            </a:r>
          </a:p>
          <a:p>
            <a:pPr marL="385762" lvl="1" indent="0">
              <a:lnSpc>
                <a:spcPct val="110000"/>
              </a:lnSpc>
              <a:buNone/>
            </a:pPr>
            <a:endParaRPr lang="vi-VN" sz="2200"/>
          </a:p>
          <a:p>
            <a:endParaRPr lang="en-US"/>
          </a:p>
        </p:txBody>
      </p:sp>
      <p:sp>
        <p:nvSpPr>
          <p:cNvPr id="4" name="Slide Number Placeholder 3">
            <a:extLst>
              <a:ext uri="{FF2B5EF4-FFF2-40B4-BE49-F238E27FC236}">
                <a16:creationId xmlns:a16="http://schemas.microsoft.com/office/drawing/2014/main" id="{C88F1580-5B0C-2840-9256-5CC70778C32B}"/>
              </a:ext>
            </a:extLst>
          </p:cNvPr>
          <p:cNvSpPr>
            <a:spLocks noGrp="1"/>
          </p:cNvSpPr>
          <p:nvPr>
            <p:ph type="sldNum" sz="quarter" idx="12"/>
          </p:nvPr>
        </p:nvSpPr>
        <p:spPr/>
        <p:txBody>
          <a:bodyPr/>
          <a:lstStyle/>
          <a:p>
            <a:fld id="{DA8C51A7-BEEA-471D-933F-7E35BC04A30F}" type="slidenum">
              <a:rPr lang="en-US"/>
              <a:pPr/>
              <a:t>6</a:t>
            </a:fld>
            <a:endParaRPr lang="en-US"/>
          </a:p>
        </p:txBody>
      </p:sp>
    </p:spTree>
    <p:extLst>
      <p:ext uri="{BB962C8B-B14F-4D97-AF65-F5344CB8AC3E}">
        <p14:creationId xmlns:p14="http://schemas.microsoft.com/office/powerpoint/2010/main" val="41683443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0C0D5-3C3E-724E-A31C-A6C70C8E82BC}"/>
              </a:ext>
            </a:extLst>
          </p:cNvPr>
          <p:cNvSpPr>
            <a:spLocks noGrp="1"/>
          </p:cNvSpPr>
          <p:nvPr>
            <p:ph type="title"/>
          </p:nvPr>
        </p:nvSpPr>
        <p:spPr/>
        <p:txBody>
          <a:bodyPr/>
          <a:lstStyle/>
          <a:p>
            <a:r>
              <a:rPr lang="vi-VN">
                <a:latin typeface="Calibri Light" panose="020F0302020204030204" pitchFamily="34" charset="0"/>
                <a:cs typeface="Calibri Light" panose="020F0302020204030204" pitchFamily="34" charset="0"/>
              </a:rPr>
              <a:t>Bài toán tối ưu hóa tổ hợp</a:t>
            </a:r>
            <a:endParaRPr lang="en-US">
              <a:latin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486BDADD-2AF8-874A-85DB-9178991B880C}"/>
              </a:ext>
            </a:extLst>
          </p:cNvPr>
          <p:cNvSpPr>
            <a:spLocks noGrp="1"/>
          </p:cNvSpPr>
          <p:nvPr>
            <p:ph idx="1"/>
          </p:nvPr>
        </p:nvSpPr>
        <p:spPr>
          <a:xfrm>
            <a:off x="706438" y="1825625"/>
            <a:ext cx="9117582" cy="4267671"/>
          </a:xfrm>
        </p:spPr>
        <p:txBody>
          <a:bodyPr/>
          <a:lstStyle/>
          <a:p>
            <a:pPr>
              <a:lnSpc>
                <a:spcPct val="150000"/>
              </a:lnSpc>
            </a:pPr>
            <a:r>
              <a:rPr lang="vi-VN" sz="2400"/>
              <a:t>Ví dụ: tối ưu hóa tổ hợp là lớp bài toán có nhiều ứng dụng trên thực tế: bài toán lập lịch, lập thời khóa biểu, thiết kế vi mạch, triệu con hậu,...</a:t>
            </a:r>
          </a:p>
          <a:p>
            <a:pPr>
              <a:lnSpc>
                <a:spcPct val="150000"/>
              </a:lnSpc>
            </a:pPr>
            <a:r>
              <a:rPr lang="vi-VN"/>
              <a:t>Tìm kiếm cục bộ được thiết kế cho bài toán tìm kiếm với không gian trạng thái rất lớn và cho phép tìm kiếm trạng thái tương đối tốt với thời gian tìm kiếm chấp nhận được. </a:t>
            </a:r>
            <a:endParaRPr lang="vi-VN" sz="2000">
              <a:effectLst/>
            </a:endParaRPr>
          </a:p>
          <a:p>
            <a:pPr marL="0" indent="0">
              <a:buNone/>
            </a:pPr>
            <a:endParaRPr lang="en-US" sz="2000"/>
          </a:p>
        </p:txBody>
      </p:sp>
      <p:sp>
        <p:nvSpPr>
          <p:cNvPr id="4" name="Slide Number Placeholder 3">
            <a:extLst>
              <a:ext uri="{FF2B5EF4-FFF2-40B4-BE49-F238E27FC236}">
                <a16:creationId xmlns:a16="http://schemas.microsoft.com/office/drawing/2014/main" id="{C88F1580-5B0C-2840-9256-5CC70778C32B}"/>
              </a:ext>
            </a:extLst>
          </p:cNvPr>
          <p:cNvSpPr>
            <a:spLocks noGrp="1"/>
          </p:cNvSpPr>
          <p:nvPr>
            <p:ph type="sldNum" sz="quarter" idx="12"/>
          </p:nvPr>
        </p:nvSpPr>
        <p:spPr/>
        <p:txBody>
          <a:bodyPr/>
          <a:lstStyle/>
          <a:p>
            <a:fld id="{DA8C51A7-BEEA-471D-933F-7E35BC04A30F}" type="slidenum">
              <a:rPr lang="en-US"/>
              <a:pPr/>
              <a:t>7</a:t>
            </a:fld>
            <a:endParaRPr lang="en-US"/>
          </a:p>
        </p:txBody>
      </p:sp>
    </p:spTree>
    <p:extLst>
      <p:ext uri="{BB962C8B-B14F-4D97-AF65-F5344CB8AC3E}">
        <p14:creationId xmlns:p14="http://schemas.microsoft.com/office/powerpoint/2010/main" val="2554816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00C0D5-3C3E-724E-A31C-A6C70C8E82BC}"/>
              </a:ext>
            </a:extLst>
          </p:cNvPr>
          <p:cNvSpPr>
            <a:spLocks noGrp="1"/>
          </p:cNvSpPr>
          <p:nvPr>
            <p:ph type="title"/>
          </p:nvPr>
        </p:nvSpPr>
        <p:spPr/>
        <p:txBody>
          <a:bodyPr/>
          <a:lstStyle/>
          <a:p>
            <a:r>
              <a:rPr lang="vi-VN">
                <a:latin typeface="Calibri Light" panose="020F0302020204030204" pitchFamily="34" charset="0"/>
                <a:cs typeface="Calibri Light" panose="020F0302020204030204" pitchFamily="34" charset="0"/>
              </a:rPr>
              <a:t>Bài toán tối ưu hóa tổ hợp</a:t>
            </a:r>
            <a:endParaRPr lang="en-US">
              <a:latin typeface="Calibri Light" panose="020F0302020204030204" pitchFamily="34" charset="0"/>
              <a:cs typeface="Calibri Light" panose="020F0302020204030204" pitchFamily="34" charset="0"/>
            </a:endParaRPr>
          </a:p>
        </p:txBody>
      </p:sp>
      <p:sp>
        <p:nvSpPr>
          <p:cNvPr id="3" name="Content Placeholder 2">
            <a:extLst>
              <a:ext uri="{FF2B5EF4-FFF2-40B4-BE49-F238E27FC236}">
                <a16:creationId xmlns:a16="http://schemas.microsoft.com/office/drawing/2014/main" id="{486BDADD-2AF8-874A-85DB-9178991B880C}"/>
              </a:ext>
            </a:extLst>
          </p:cNvPr>
          <p:cNvSpPr>
            <a:spLocks noGrp="1"/>
          </p:cNvSpPr>
          <p:nvPr>
            <p:ph idx="1"/>
          </p:nvPr>
        </p:nvSpPr>
        <p:spPr>
          <a:xfrm>
            <a:off x="706438" y="1825625"/>
            <a:ext cx="9117582" cy="4267671"/>
          </a:xfrm>
        </p:spPr>
        <p:txBody>
          <a:bodyPr/>
          <a:lstStyle/>
          <a:p>
            <a:pPr>
              <a:lnSpc>
                <a:spcPct val="150000"/>
              </a:lnSpc>
            </a:pPr>
            <a:r>
              <a:rPr lang="vi-VN" sz="2400"/>
              <a:t>Ví dụ: tối ưu hóa tổ hợp là lớp bài toán có nhiều ứng dụng trên thực tế: bài toán lập lịch, lập thời khóa biểu, thiết kế vi mạch, triệu con hậu,...</a:t>
            </a:r>
          </a:p>
          <a:p>
            <a:pPr>
              <a:lnSpc>
                <a:spcPct val="150000"/>
              </a:lnSpc>
            </a:pPr>
            <a:r>
              <a:rPr lang="vi-VN"/>
              <a:t>Tìm kiếm cục bộ được thiết kế cho bài toán tìm kiếm với không gian trạng thái rất lớn và cho phép tìm kiếm trạng thái tương đối tốt với thời gian tìm kiếm chấp nhận được. </a:t>
            </a:r>
            <a:endParaRPr lang="vi-VN" sz="2000">
              <a:effectLst/>
            </a:endParaRPr>
          </a:p>
          <a:p>
            <a:pPr marL="0" indent="0">
              <a:buNone/>
            </a:pPr>
            <a:endParaRPr lang="en-US" sz="2000"/>
          </a:p>
        </p:txBody>
      </p:sp>
      <p:sp>
        <p:nvSpPr>
          <p:cNvPr id="4" name="Slide Number Placeholder 3">
            <a:extLst>
              <a:ext uri="{FF2B5EF4-FFF2-40B4-BE49-F238E27FC236}">
                <a16:creationId xmlns:a16="http://schemas.microsoft.com/office/drawing/2014/main" id="{C88F1580-5B0C-2840-9256-5CC70778C32B}"/>
              </a:ext>
            </a:extLst>
          </p:cNvPr>
          <p:cNvSpPr>
            <a:spLocks noGrp="1"/>
          </p:cNvSpPr>
          <p:nvPr>
            <p:ph type="sldNum" sz="quarter" idx="12"/>
          </p:nvPr>
        </p:nvSpPr>
        <p:spPr/>
        <p:txBody>
          <a:bodyPr/>
          <a:lstStyle/>
          <a:p>
            <a:fld id="{DA8C51A7-BEEA-471D-933F-7E35BC04A30F}" type="slidenum">
              <a:rPr lang="en-US"/>
              <a:pPr/>
              <a:t>8</a:t>
            </a:fld>
            <a:endParaRPr lang="en-US"/>
          </a:p>
        </p:txBody>
      </p:sp>
    </p:spTree>
    <p:extLst>
      <p:ext uri="{BB962C8B-B14F-4D97-AF65-F5344CB8AC3E}">
        <p14:creationId xmlns:p14="http://schemas.microsoft.com/office/powerpoint/2010/main" val="367964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4C5E-836A-504A-8BEA-EA873ACB4DF7}"/>
              </a:ext>
            </a:extLst>
          </p:cNvPr>
          <p:cNvSpPr>
            <a:spLocks noGrp="1"/>
          </p:cNvSpPr>
          <p:nvPr>
            <p:ph type="title"/>
          </p:nvPr>
        </p:nvSpPr>
        <p:spPr/>
        <p:txBody>
          <a:bodyPr/>
          <a:lstStyle/>
          <a:p>
            <a:r>
              <a:rPr lang="en-US"/>
              <a:t>Tìm kiếm cục bộ - ý tưởng chung</a:t>
            </a:r>
          </a:p>
        </p:txBody>
      </p:sp>
      <p:sp>
        <p:nvSpPr>
          <p:cNvPr id="3" name="Content Placeholder 2">
            <a:extLst>
              <a:ext uri="{FF2B5EF4-FFF2-40B4-BE49-F238E27FC236}">
                <a16:creationId xmlns:a16="http://schemas.microsoft.com/office/drawing/2014/main" id="{99F26625-EA32-2240-8C8C-1CEF33D0F490}"/>
              </a:ext>
            </a:extLst>
          </p:cNvPr>
          <p:cNvSpPr>
            <a:spLocks noGrp="1"/>
          </p:cNvSpPr>
          <p:nvPr>
            <p:ph idx="1"/>
          </p:nvPr>
        </p:nvSpPr>
        <p:spPr>
          <a:xfrm>
            <a:off x="706438" y="1825625"/>
            <a:ext cx="9045573" cy="4267671"/>
          </a:xfrm>
        </p:spPr>
        <p:txBody>
          <a:bodyPr/>
          <a:lstStyle/>
          <a:p>
            <a:pPr marL="0" indent="0">
              <a:lnSpc>
                <a:spcPct val="110000"/>
              </a:lnSpc>
              <a:buNone/>
            </a:pPr>
            <a:r>
              <a:rPr lang="vi-VN" sz="2400"/>
              <a:t>Ý tưởng: tìm kiếm cục bộ dựa trên ý tưởng chung như sau:</a:t>
            </a:r>
          </a:p>
          <a:p>
            <a:pPr>
              <a:lnSpc>
                <a:spcPct val="110000"/>
              </a:lnSpc>
            </a:pPr>
            <a:r>
              <a:rPr lang="vi-VN"/>
              <a:t>Chỉ quan tâm đến </a:t>
            </a:r>
            <a:r>
              <a:rPr lang="vi-VN">
                <a:solidFill>
                  <a:srgbClr val="C00000"/>
                </a:solidFill>
              </a:rPr>
              <a:t>trạng thái đích</a:t>
            </a:r>
            <a:r>
              <a:rPr lang="vi-VN"/>
              <a:t>, </a:t>
            </a:r>
            <a:r>
              <a:rPr lang="vi-VN">
                <a:solidFill>
                  <a:srgbClr val="C00000"/>
                </a:solidFill>
              </a:rPr>
              <a:t>không quan tâm đến đường đi</a:t>
            </a:r>
            <a:r>
              <a:rPr lang="vi-VN"/>
              <a:t>.</a:t>
            </a:r>
          </a:p>
          <a:p>
            <a:pPr>
              <a:lnSpc>
                <a:spcPct val="110000"/>
              </a:lnSpc>
            </a:pPr>
            <a:r>
              <a:rPr lang="vi-VN"/>
              <a:t>Mỗi trạng thái tương ứng với một lời giải (chưa tối ưu), chỉ quan tâm tới một </a:t>
            </a:r>
            <a:r>
              <a:rPr lang="vi-VN">
                <a:solidFill>
                  <a:srgbClr val="C00000"/>
                </a:solidFill>
              </a:rPr>
              <a:t>trạng thái hiện thời</a:t>
            </a:r>
            <a:r>
              <a:rPr lang="vi-VN"/>
              <a:t>, xem xét để để </a:t>
            </a:r>
            <a:r>
              <a:rPr lang="vi-VN">
                <a:solidFill>
                  <a:srgbClr val="C00000"/>
                </a:solidFill>
              </a:rPr>
              <a:t>chuyển sang trạng thái hàng xóm của trạng thái hiện thời </a:t>
            </a:r>
            <a:r>
              <a:rPr lang="vi-VN"/>
              <a:t>(trạng thái có hàm mục tiêu tốt hơn). </a:t>
            </a:r>
          </a:p>
          <a:p>
            <a:pPr>
              <a:lnSpc>
                <a:spcPct val="110000"/>
              </a:lnSpc>
            </a:pPr>
            <a:r>
              <a:rPr lang="vi-VN"/>
              <a:t> Thay đổi trạng thái bằng cách thực hiện các chuyển động (trạng thái nhận được từ trạng thái n bằng cách thực hiện các chuyển động được gọi là hàng xóm của n). </a:t>
            </a:r>
          </a:p>
          <a:p>
            <a:pPr marL="0" indent="0">
              <a:lnSpc>
                <a:spcPct val="110000"/>
              </a:lnSpc>
              <a:buNone/>
            </a:pPr>
            <a:endParaRPr lang="vi-VN"/>
          </a:p>
        </p:txBody>
      </p:sp>
      <p:sp>
        <p:nvSpPr>
          <p:cNvPr id="4" name="Slide Number Placeholder 3">
            <a:extLst>
              <a:ext uri="{FF2B5EF4-FFF2-40B4-BE49-F238E27FC236}">
                <a16:creationId xmlns:a16="http://schemas.microsoft.com/office/drawing/2014/main" id="{A2AADACB-1F73-C546-B88D-ECDD3011AA5D}"/>
              </a:ext>
            </a:extLst>
          </p:cNvPr>
          <p:cNvSpPr>
            <a:spLocks noGrp="1"/>
          </p:cNvSpPr>
          <p:nvPr>
            <p:ph type="sldNum" sz="quarter" idx="12"/>
          </p:nvPr>
        </p:nvSpPr>
        <p:spPr/>
        <p:txBody>
          <a:bodyPr/>
          <a:lstStyle/>
          <a:p>
            <a:fld id="{DA8C51A7-BEEA-471D-933F-7E35BC04A30F}" type="slidenum">
              <a:rPr lang="en-US"/>
              <a:pPr/>
              <a:t>9</a:t>
            </a:fld>
            <a:endParaRPr lang="en-US"/>
          </a:p>
        </p:txBody>
      </p:sp>
    </p:spTree>
    <p:extLst>
      <p:ext uri="{BB962C8B-B14F-4D97-AF65-F5344CB8AC3E}">
        <p14:creationId xmlns:p14="http://schemas.microsoft.com/office/powerpoint/2010/main" val="37460618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4C5E-836A-504A-8BEA-EA873ACB4DF7}"/>
              </a:ext>
            </a:extLst>
          </p:cNvPr>
          <p:cNvSpPr>
            <a:spLocks noGrp="1"/>
          </p:cNvSpPr>
          <p:nvPr>
            <p:ph type="title"/>
          </p:nvPr>
        </p:nvSpPr>
        <p:spPr/>
        <p:txBody>
          <a:bodyPr/>
          <a:lstStyle/>
          <a:p>
            <a:r>
              <a:rPr lang="en-US"/>
              <a:t>Tìm kiếm cục bộ - ý tưởng chung</a:t>
            </a:r>
          </a:p>
        </p:txBody>
      </p:sp>
      <p:sp>
        <p:nvSpPr>
          <p:cNvPr id="3" name="Content Placeholder 2">
            <a:extLst>
              <a:ext uri="{FF2B5EF4-FFF2-40B4-BE49-F238E27FC236}">
                <a16:creationId xmlns:a16="http://schemas.microsoft.com/office/drawing/2014/main" id="{99F26625-EA32-2240-8C8C-1CEF33D0F490}"/>
              </a:ext>
            </a:extLst>
          </p:cNvPr>
          <p:cNvSpPr>
            <a:spLocks noGrp="1"/>
          </p:cNvSpPr>
          <p:nvPr>
            <p:ph idx="1"/>
          </p:nvPr>
        </p:nvSpPr>
        <p:spPr>
          <a:xfrm>
            <a:off x="706438" y="1825625"/>
            <a:ext cx="9045573" cy="1243335"/>
          </a:xfrm>
        </p:spPr>
        <p:txBody>
          <a:bodyPr/>
          <a:lstStyle/>
          <a:p>
            <a:pPr marL="0" indent="0">
              <a:lnSpc>
                <a:spcPct val="110000"/>
              </a:lnSpc>
              <a:buNone/>
            </a:pPr>
            <a:r>
              <a:rPr lang="vi-VN" sz="2400"/>
              <a:t> </a:t>
            </a:r>
            <a:endParaRPr lang="vi-VN"/>
          </a:p>
        </p:txBody>
      </p:sp>
      <p:sp>
        <p:nvSpPr>
          <p:cNvPr id="4" name="Slide Number Placeholder 3">
            <a:extLst>
              <a:ext uri="{FF2B5EF4-FFF2-40B4-BE49-F238E27FC236}">
                <a16:creationId xmlns:a16="http://schemas.microsoft.com/office/drawing/2014/main" id="{A2AADACB-1F73-C546-B88D-ECDD3011AA5D}"/>
              </a:ext>
            </a:extLst>
          </p:cNvPr>
          <p:cNvSpPr>
            <a:spLocks noGrp="1"/>
          </p:cNvSpPr>
          <p:nvPr>
            <p:ph type="sldNum" sz="quarter" idx="12"/>
          </p:nvPr>
        </p:nvSpPr>
        <p:spPr/>
        <p:txBody>
          <a:bodyPr/>
          <a:lstStyle/>
          <a:p>
            <a:fld id="{DA8C51A7-BEEA-471D-933F-7E35BC04A30F}" type="slidenum">
              <a:rPr lang="en-US"/>
              <a:pPr/>
              <a:t>10</a:t>
            </a:fld>
            <a:endParaRPr lang="en-US"/>
          </a:p>
        </p:txBody>
      </p:sp>
      <p:pic>
        <p:nvPicPr>
          <p:cNvPr id="8" name="Picture 7">
            <a:extLst>
              <a:ext uri="{FF2B5EF4-FFF2-40B4-BE49-F238E27FC236}">
                <a16:creationId xmlns:a16="http://schemas.microsoft.com/office/drawing/2014/main" id="{5CEFA43A-1831-8A49-BF24-18F3519981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1532" y="1690535"/>
            <a:ext cx="5225294" cy="3918971"/>
          </a:xfrm>
          <a:prstGeom prst="rect">
            <a:avLst/>
          </a:prstGeom>
        </p:spPr>
      </p:pic>
      <p:sp>
        <p:nvSpPr>
          <p:cNvPr id="9" name="TextBox 8">
            <a:extLst>
              <a:ext uri="{FF2B5EF4-FFF2-40B4-BE49-F238E27FC236}">
                <a16:creationId xmlns:a16="http://schemas.microsoft.com/office/drawing/2014/main" id="{90CEABC9-C326-8E49-AA04-7081B25F85B4}"/>
              </a:ext>
            </a:extLst>
          </p:cNvPr>
          <p:cNvSpPr txBox="1"/>
          <p:nvPr/>
        </p:nvSpPr>
        <p:spPr>
          <a:xfrm>
            <a:off x="699984" y="1265613"/>
            <a:ext cx="5379619" cy="3266920"/>
          </a:xfrm>
          <a:prstGeom prst="rect">
            <a:avLst/>
          </a:prstGeom>
          <a:noFill/>
        </p:spPr>
        <p:txBody>
          <a:bodyPr wrap="square" rtlCol="0">
            <a:spAutoFit/>
          </a:bodyPr>
          <a:lstStyle/>
          <a:p>
            <a:pPr>
              <a:lnSpc>
                <a:spcPct val="150000"/>
              </a:lnSpc>
            </a:pPr>
            <a:r>
              <a:rPr lang="vi-VN" sz="2000"/>
              <a:t>Bài toán tìm kiếm cục bộ được xác định bởi những thành phần sau: </a:t>
            </a:r>
          </a:p>
          <a:p>
            <a:pPr marL="285750" indent="-285750">
              <a:lnSpc>
                <a:spcPct val="150000"/>
              </a:lnSpc>
              <a:buFont typeface="Arial" panose="020B0604020202020204" pitchFamily="34" charset="0"/>
              <a:buChar char="•"/>
            </a:pPr>
            <a:r>
              <a:rPr lang="vi-VN" sz="2000"/>
              <a:t>Không gian trạng thái X </a:t>
            </a:r>
          </a:p>
          <a:p>
            <a:pPr marL="285750" indent="-285750">
              <a:lnSpc>
                <a:spcPct val="150000"/>
              </a:lnSpc>
              <a:buFont typeface="Arial" panose="020B0604020202020204" pitchFamily="34" charset="0"/>
              <a:buChar char="•"/>
            </a:pPr>
            <a:r>
              <a:rPr lang="vi-VN" sz="2000"/>
              <a:t>Tập chuyển động để sinh ra hàng xóm </a:t>
            </a:r>
          </a:p>
          <a:p>
            <a:pPr marL="285750" indent="-285750">
              <a:lnSpc>
                <a:spcPct val="150000"/>
              </a:lnSpc>
              <a:buFont typeface="Arial" panose="020B0604020202020204" pitchFamily="34" charset="0"/>
              <a:buChar char="•"/>
            </a:pPr>
            <a:r>
              <a:rPr lang="vi-VN" sz="2000"/>
              <a:t>Hàm mục tiêu Obj: X → R </a:t>
            </a:r>
          </a:p>
          <a:p>
            <a:pPr marL="285750" indent="-285750">
              <a:lnSpc>
                <a:spcPct val="150000"/>
              </a:lnSpc>
              <a:buFont typeface="Arial" panose="020B0604020202020204" pitchFamily="34" charset="0"/>
              <a:buChar char="•"/>
            </a:pPr>
            <a:r>
              <a:rPr lang="vi-VN" sz="2000"/>
              <a:t>Yêu cầu: Tìm trạng thái X* sao cho Obj(X*) là lớn nhất hoặc nhỏ nhất.</a:t>
            </a:r>
            <a:endParaRPr lang="en-US"/>
          </a:p>
        </p:txBody>
      </p:sp>
      <p:sp>
        <p:nvSpPr>
          <p:cNvPr id="10" name="TextBox 9">
            <a:extLst>
              <a:ext uri="{FF2B5EF4-FFF2-40B4-BE49-F238E27FC236}">
                <a16:creationId xmlns:a16="http://schemas.microsoft.com/office/drawing/2014/main" id="{4B24F124-1154-644C-8FB1-ED0E4D9A3379}"/>
              </a:ext>
            </a:extLst>
          </p:cNvPr>
          <p:cNvSpPr txBox="1"/>
          <p:nvPr/>
        </p:nvSpPr>
        <p:spPr>
          <a:xfrm>
            <a:off x="699984" y="4843955"/>
            <a:ext cx="9268052" cy="984885"/>
          </a:xfrm>
          <a:prstGeom prst="rect">
            <a:avLst/>
          </a:prstGeom>
          <a:noFill/>
        </p:spPr>
        <p:txBody>
          <a:bodyPr wrap="square" rtlCol="0">
            <a:spAutoFit/>
          </a:bodyPr>
          <a:lstStyle/>
          <a:p>
            <a:r>
              <a:rPr lang="vi-VN" sz="2000">
                <a:solidFill>
                  <a:schemeClr val="tx1">
                    <a:lumMod val="75000"/>
                    <a:lumOff val="25000"/>
                  </a:schemeClr>
                </a:solidFill>
              </a:rPr>
              <a:t>Lưu ý: có thể dễ dàng biến đổi bài toán tìm trạng thái với hàm mục tiêu lớn nhất thành nhỏ nhất hoặc ngược lại bằng cách nhân hàm mục tiêu với –1. </a:t>
            </a:r>
          </a:p>
          <a:p>
            <a:endParaRPr lang="en-US"/>
          </a:p>
        </p:txBody>
      </p:sp>
    </p:spTree>
    <p:extLst>
      <p:ext uri="{BB962C8B-B14F-4D97-AF65-F5344CB8AC3E}">
        <p14:creationId xmlns:p14="http://schemas.microsoft.com/office/powerpoint/2010/main" val="5959616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54C5E-836A-504A-8BEA-EA873ACB4DF7}"/>
              </a:ext>
            </a:extLst>
          </p:cNvPr>
          <p:cNvSpPr>
            <a:spLocks noGrp="1"/>
          </p:cNvSpPr>
          <p:nvPr>
            <p:ph type="title"/>
          </p:nvPr>
        </p:nvSpPr>
        <p:spPr/>
        <p:txBody>
          <a:bodyPr/>
          <a:lstStyle/>
          <a:p>
            <a:r>
              <a:rPr lang="en-US"/>
              <a:t>Tìm kiếm cục bộ - ý tưởng chung</a:t>
            </a:r>
          </a:p>
        </p:txBody>
      </p:sp>
      <p:sp>
        <p:nvSpPr>
          <p:cNvPr id="3" name="Content Placeholder 2">
            <a:extLst>
              <a:ext uri="{FF2B5EF4-FFF2-40B4-BE49-F238E27FC236}">
                <a16:creationId xmlns:a16="http://schemas.microsoft.com/office/drawing/2014/main" id="{99F26625-EA32-2240-8C8C-1CEF33D0F490}"/>
              </a:ext>
            </a:extLst>
          </p:cNvPr>
          <p:cNvSpPr>
            <a:spLocks noGrp="1"/>
          </p:cNvSpPr>
          <p:nvPr>
            <p:ph idx="1"/>
          </p:nvPr>
        </p:nvSpPr>
        <p:spPr>
          <a:xfrm>
            <a:off x="706438" y="1825625"/>
            <a:ext cx="9045573" cy="1243335"/>
          </a:xfrm>
        </p:spPr>
        <p:txBody>
          <a:bodyPr/>
          <a:lstStyle/>
          <a:p>
            <a:pPr marL="0" indent="0">
              <a:lnSpc>
                <a:spcPct val="110000"/>
              </a:lnSpc>
              <a:buNone/>
            </a:pPr>
            <a:r>
              <a:rPr lang="vi-VN" sz="2400"/>
              <a:t> </a:t>
            </a:r>
            <a:endParaRPr lang="vi-VN"/>
          </a:p>
        </p:txBody>
      </p:sp>
      <p:sp>
        <p:nvSpPr>
          <p:cNvPr id="4" name="Slide Number Placeholder 3">
            <a:extLst>
              <a:ext uri="{FF2B5EF4-FFF2-40B4-BE49-F238E27FC236}">
                <a16:creationId xmlns:a16="http://schemas.microsoft.com/office/drawing/2014/main" id="{A2AADACB-1F73-C546-B88D-ECDD3011AA5D}"/>
              </a:ext>
            </a:extLst>
          </p:cNvPr>
          <p:cNvSpPr>
            <a:spLocks noGrp="1"/>
          </p:cNvSpPr>
          <p:nvPr>
            <p:ph type="sldNum" sz="quarter" idx="12"/>
          </p:nvPr>
        </p:nvSpPr>
        <p:spPr/>
        <p:txBody>
          <a:bodyPr/>
          <a:lstStyle/>
          <a:p>
            <a:fld id="{DA8C51A7-BEEA-471D-933F-7E35BC04A30F}" type="slidenum">
              <a:rPr lang="en-US"/>
              <a:pPr/>
              <a:t>11</a:t>
            </a:fld>
            <a:endParaRPr lang="en-US"/>
          </a:p>
        </p:txBody>
      </p:sp>
      <p:pic>
        <p:nvPicPr>
          <p:cNvPr id="8" name="Picture 7">
            <a:extLst>
              <a:ext uri="{FF2B5EF4-FFF2-40B4-BE49-F238E27FC236}">
                <a16:creationId xmlns:a16="http://schemas.microsoft.com/office/drawing/2014/main" id="{5CEFA43A-1831-8A49-BF24-18F3519981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431532" y="1690535"/>
            <a:ext cx="5225294" cy="3918971"/>
          </a:xfrm>
          <a:prstGeom prst="rect">
            <a:avLst/>
          </a:prstGeom>
        </p:spPr>
      </p:pic>
      <p:sp>
        <p:nvSpPr>
          <p:cNvPr id="9" name="TextBox 8">
            <a:extLst>
              <a:ext uri="{FF2B5EF4-FFF2-40B4-BE49-F238E27FC236}">
                <a16:creationId xmlns:a16="http://schemas.microsoft.com/office/drawing/2014/main" id="{90CEABC9-C326-8E49-AA04-7081B25F85B4}"/>
              </a:ext>
            </a:extLst>
          </p:cNvPr>
          <p:cNvSpPr txBox="1"/>
          <p:nvPr/>
        </p:nvSpPr>
        <p:spPr>
          <a:xfrm>
            <a:off x="699984" y="1265613"/>
            <a:ext cx="5379619" cy="3087961"/>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vi-VN" sz="2000"/>
              <a:t>Trục hoành trên hình vẽ thể hiện không gian các trạng thái </a:t>
            </a:r>
            <a:endParaRPr lang="vi-VN" sz="2000">
              <a:effectLst/>
            </a:endParaRPr>
          </a:p>
          <a:p>
            <a:pPr marL="285750" indent="-285750">
              <a:lnSpc>
                <a:spcPct val="150000"/>
              </a:lnSpc>
              <a:buFont typeface="Arial" panose="020B0604020202020204" pitchFamily="34" charset="0"/>
              <a:buChar char="•"/>
            </a:pPr>
            <a:r>
              <a:rPr lang="vi-VN" sz="2000"/>
              <a:t>Trục tung là độ lớn của hàm mục tiêu </a:t>
            </a:r>
            <a:endParaRPr lang="vi-VN" sz="2000">
              <a:effectLst/>
            </a:endParaRPr>
          </a:p>
          <a:p>
            <a:pPr>
              <a:lnSpc>
                <a:spcPct val="150000"/>
              </a:lnSpc>
            </a:pPr>
            <a:r>
              <a:rPr lang="vi-VN"/>
              <a:t>Yêu cầu bài toán tối ưu hóa tổ hợp là tìm được trạng thái (điểm trên trục hoành) có hàm mục tiêu lớn nhất. </a:t>
            </a:r>
            <a:endParaRPr lang="vi-VN">
              <a:effectLst/>
            </a:endParaRPr>
          </a:p>
          <a:p>
            <a:pPr>
              <a:lnSpc>
                <a:spcPct val="150000"/>
              </a:lnSpc>
            </a:pPr>
            <a:endParaRPr lang="en-US"/>
          </a:p>
        </p:txBody>
      </p:sp>
      <p:sp>
        <p:nvSpPr>
          <p:cNvPr id="10" name="TextBox 9">
            <a:extLst>
              <a:ext uri="{FF2B5EF4-FFF2-40B4-BE49-F238E27FC236}">
                <a16:creationId xmlns:a16="http://schemas.microsoft.com/office/drawing/2014/main" id="{4B24F124-1154-644C-8FB1-ED0E4D9A3379}"/>
              </a:ext>
            </a:extLst>
          </p:cNvPr>
          <p:cNvSpPr txBox="1"/>
          <p:nvPr/>
        </p:nvSpPr>
        <p:spPr>
          <a:xfrm>
            <a:off x="699984" y="4843955"/>
            <a:ext cx="9268052" cy="677108"/>
          </a:xfrm>
          <a:prstGeom prst="rect">
            <a:avLst/>
          </a:prstGeom>
          <a:noFill/>
        </p:spPr>
        <p:txBody>
          <a:bodyPr wrap="square" rtlCol="0">
            <a:spAutoFit/>
          </a:bodyPr>
          <a:lstStyle/>
          <a:p>
            <a:r>
              <a:rPr lang="vi-VN"/>
              <a:t>Lưu ý, hình vẽ minh họa trường hợp cần tìm trạng thái với hàm mục tiêu nhỏ nhất, tuy nhiên trong bài toán khác có thể yêu cầu tìm trạng thái với hàm mục tiêu lớn nhất. </a:t>
            </a:r>
            <a:endParaRPr lang="vi-VN" sz="2000">
              <a:effectLst/>
            </a:endParaRPr>
          </a:p>
        </p:txBody>
      </p:sp>
    </p:spTree>
    <p:extLst>
      <p:ext uri="{BB962C8B-B14F-4D97-AF65-F5344CB8AC3E}">
        <p14:creationId xmlns:p14="http://schemas.microsoft.com/office/powerpoint/2010/main" val="19870514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6F70E-0332-DB4A-A312-ACA3588C9D4C}"/>
              </a:ext>
            </a:extLst>
          </p:cNvPr>
          <p:cNvSpPr>
            <a:spLocks noGrp="1"/>
          </p:cNvSpPr>
          <p:nvPr>
            <p:ph type="title"/>
          </p:nvPr>
        </p:nvSpPr>
        <p:spPr/>
        <p:txBody>
          <a:bodyPr/>
          <a:lstStyle/>
          <a:p>
            <a:r>
              <a:rPr lang="en-US"/>
              <a:t>Thuật toán leo đồi</a:t>
            </a:r>
          </a:p>
        </p:txBody>
      </p:sp>
      <p:sp>
        <p:nvSpPr>
          <p:cNvPr id="3" name="Content Placeholder 2">
            <a:extLst>
              <a:ext uri="{FF2B5EF4-FFF2-40B4-BE49-F238E27FC236}">
                <a16:creationId xmlns:a16="http://schemas.microsoft.com/office/drawing/2014/main" id="{0F194914-2887-F44A-844E-BCF52ED6317F}"/>
              </a:ext>
            </a:extLst>
          </p:cNvPr>
          <p:cNvSpPr>
            <a:spLocks noGrp="1"/>
          </p:cNvSpPr>
          <p:nvPr>
            <p:ph idx="1"/>
          </p:nvPr>
        </p:nvSpPr>
        <p:spPr/>
        <p:txBody>
          <a:bodyPr/>
          <a:lstStyle/>
          <a:p>
            <a:pPr marL="285750" indent="-285750">
              <a:lnSpc>
                <a:spcPts val="2800"/>
              </a:lnSpc>
            </a:pPr>
            <a:r>
              <a:rPr lang="vi-VN"/>
              <a:t>Leo đồi (Hill climbing) là tên chung để chỉ một họ các thuật toán có nguyên lý giống nhau.</a:t>
            </a:r>
          </a:p>
          <a:p>
            <a:pPr marL="285750" indent="-285750">
              <a:lnSpc>
                <a:spcPts val="2800"/>
              </a:lnSpc>
            </a:pPr>
            <a:r>
              <a:rPr lang="vi-VN"/>
              <a:t>Thuật toán thực hiện bằng cách </a:t>
            </a:r>
            <a:r>
              <a:rPr lang="vi-VN">
                <a:solidFill>
                  <a:srgbClr val="26902B"/>
                </a:solidFill>
              </a:rPr>
              <a:t>tạo ra hàng xóm cho trạng thái hiện thời</a:t>
            </a:r>
            <a:r>
              <a:rPr lang="vi-VN"/>
              <a:t> và </a:t>
            </a:r>
            <a:r>
              <a:rPr lang="vi-VN">
                <a:solidFill>
                  <a:srgbClr val="26902B"/>
                </a:solidFill>
              </a:rPr>
              <a:t>di chuyển sang hàng xóm có hàm mục tiêu tốt hơn</a:t>
            </a:r>
            <a:endParaRPr lang="en-US">
              <a:solidFill>
                <a:srgbClr val="26902B"/>
              </a:solidFill>
            </a:endParaRPr>
          </a:p>
          <a:p>
            <a:pPr>
              <a:lnSpc>
                <a:spcPts val="2800"/>
              </a:lnSpc>
            </a:pPr>
            <a:r>
              <a:rPr lang="vi-VN"/>
              <a:t>Thuật toán </a:t>
            </a:r>
            <a:r>
              <a:rPr lang="vi-VN">
                <a:solidFill>
                  <a:srgbClr val="C00000"/>
                </a:solidFill>
              </a:rPr>
              <a:t>dừng lại khi đạt tới một đỉnh của đồ thị </a:t>
            </a:r>
            <a:r>
              <a:rPr lang="vi-VN"/>
              <a:t>hàm mục tiêu, tương ứng với </a:t>
            </a:r>
            <a:r>
              <a:rPr lang="vi-VN">
                <a:solidFill>
                  <a:srgbClr val="26902B"/>
                </a:solidFill>
              </a:rPr>
              <a:t>trạng thái không có hàng xóm nào tốt hơn.</a:t>
            </a:r>
          </a:p>
          <a:p>
            <a:pPr>
              <a:lnSpc>
                <a:spcPts val="2800"/>
              </a:lnSpc>
            </a:pPr>
            <a:r>
              <a:rPr lang="vi-VN"/>
              <a:t>Một trong những phiên bản thông dụng nhất có tên là leo đồi </a:t>
            </a:r>
            <a:r>
              <a:rPr lang="vi-VN" i="1"/>
              <a:t>di chuyển sang trạng thái tốt nhất </a:t>
            </a:r>
            <a:r>
              <a:rPr lang="vi-VN"/>
              <a:t>(best-improvement hill climbing) </a:t>
            </a:r>
          </a:p>
        </p:txBody>
      </p:sp>
      <p:sp>
        <p:nvSpPr>
          <p:cNvPr id="4" name="Slide Number Placeholder 3">
            <a:extLst>
              <a:ext uri="{FF2B5EF4-FFF2-40B4-BE49-F238E27FC236}">
                <a16:creationId xmlns:a16="http://schemas.microsoft.com/office/drawing/2014/main" id="{059B97EF-0988-1848-9D7D-3018B8F72FBF}"/>
              </a:ext>
            </a:extLst>
          </p:cNvPr>
          <p:cNvSpPr>
            <a:spLocks noGrp="1"/>
          </p:cNvSpPr>
          <p:nvPr>
            <p:ph type="sldNum" sz="quarter" idx="12"/>
          </p:nvPr>
        </p:nvSpPr>
        <p:spPr/>
        <p:txBody>
          <a:bodyPr/>
          <a:lstStyle/>
          <a:p>
            <a:fld id="{DA8C51A7-BEEA-471D-933F-7E35BC04A30F}" type="slidenum">
              <a:rPr lang="en-US"/>
              <a:pPr/>
              <a:t>12</a:t>
            </a:fld>
            <a:endParaRPr lang="en-US"/>
          </a:p>
        </p:txBody>
      </p:sp>
    </p:spTree>
    <p:extLst>
      <p:ext uri="{BB962C8B-B14F-4D97-AF65-F5344CB8AC3E}">
        <p14:creationId xmlns:p14="http://schemas.microsoft.com/office/powerpoint/2010/main" val="42412124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93EB9-D761-F84E-A50E-E2365E80F5CC}"/>
              </a:ext>
            </a:extLst>
          </p:cNvPr>
          <p:cNvSpPr>
            <a:spLocks noGrp="1"/>
          </p:cNvSpPr>
          <p:nvPr>
            <p:ph type="title"/>
          </p:nvPr>
        </p:nvSpPr>
        <p:spPr>
          <a:xfrm>
            <a:off x="727066" y="286297"/>
            <a:ext cx="8874125" cy="1325563"/>
          </a:xfrm>
        </p:spPr>
        <p:txBody>
          <a:bodyPr/>
          <a:lstStyle/>
          <a:p>
            <a:r>
              <a:rPr lang="en-US"/>
              <a:t>Leo đồi (hill climbing) </a:t>
            </a:r>
          </a:p>
        </p:txBody>
      </p:sp>
      <p:sp>
        <p:nvSpPr>
          <p:cNvPr id="4" name="Slide Number Placeholder 3">
            <a:extLst>
              <a:ext uri="{FF2B5EF4-FFF2-40B4-BE49-F238E27FC236}">
                <a16:creationId xmlns:a16="http://schemas.microsoft.com/office/drawing/2014/main" id="{45EB931A-BDB1-4544-84FF-3C67CF1B8341}"/>
              </a:ext>
            </a:extLst>
          </p:cNvPr>
          <p:cNvSpPr>
            <a:spLocks noGrp="1"/>
          </p:cNvSpPr>
          <p:nvPr>
            <p:ph type="sldNum" sz="quarter" idx="12"/>
          </p:nvPr>
        </p:nvSpPr>
        <p:spPr/>
        <p:txBody>
          <a:bodyPr/>
          <a:lstStyle/>
          <a:p>
            <a:fld id="{DA8C51A7-BEEA-471D-933F-7E35BC04A30F}" type="slidenum">
              <a:rPr lang="en-US"/>
              <a:pPr/>
              <a:t>13</a:t>
            </a:fld>
            <a:endParaRPr lang="en-US"/>
          </a:p>
        </p:txBody>
      </p:sp>
      <p:sp>
        <p:nvSpPr>
          <p:cNvPr id="12" name="Freeform 11">
            <a:extLst>
              <a:ext uri="{FF2B5EF4-FFF2-40B4-BE49-F238E27FC236}">
                <a16:creationId xmlns:a16="http://schemas.microsoft.com/office/drawing/2014/main" id="{E1DD0BA7-6429-CB45-8BEF-B5F9C391D6C5}"/>
              </a:ext>
            </a:extLst>
          </p:cNvPr>
          <p:cNvSpPr/>
          <p:nvPr/>
        </p:nvSpPr>
        <p:spPr>
          <a:xfrm>
            <a:off x="1508341" y="2276872"/>
            <a:ext cx="7311573" cy="3168237"/>
          </a:xfrm>
          <a:custGeom>
            <a:avLst/>
            <a:gdLst>
              <a:gd name="connsiteX0" fmla="*/ 0 w 6017342"/>
              <a:gd name="connsiteY0" fmla="*/ 2462447 h 2904105"/>
              <a:gd name="connsiteX1" fmla="*/ 870155 w 6017342"/>
              <a:gd name="connsiteY1" fmla="*/ 1164589 h 2904105"/>
              <a:gd name="connsiteX2" fmla="*/ 1725562 w 6017342"/>
              <a:gd name="connsiteY2" fmla="*/ 2890150 h 2904105"/>
              <a:gd name="connsiteX3" fmla="*/ 2787446 w 6017342"/>
              <a:gd name="connsiteY3" fmla="*/ 14215 h 2904105"/>
              <a:gd name="connsiteX4" fmla="*/ 4365523 w 6017342"/>
              <a:gd name="connsiteY4" fmla="*/ 1739776 h 2904105"/>
              <a:gd name="connsiteX5" fmla="*/ 5265175 w 6017342"/>
              <a:gd name="connsiteY5" fmla="*/ 663144 h 2904105"/>
              <a:gd name="connsiteX6" fmla="*/ 6017342 w 6017342"/>
              <a:gd name="connsiteY6" fmla="*/ 2196976 h 290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7342" h="2904105">
                <a:moveTo>
                  <a:pt x="0" y="2462447"/>
                </a:moveTo>
                <a:cubicBezTo>
                  <a:pt x="291280" y="1777876"/>
                  <a:pt x="582561" y="1093305"/>
                  <a:pt x="870155" y="1164589"/>
                </a:cubicBezTo>
                <a:cubicBezTo>
                  <a:pt x="1157749" y="1235873"/>
                  <a:pt x="1406013" y="3081879"/>
                  <a:pt x="1725562" y="2890150"/>
                </a:cubicBezTo>
                <a:cubicBezTo>
                  <a:pt x="2045111" y="2698421"/>
                  <a:pt x="2347453" y="205944"/>
                  <a:pt x="2787446" y="14215"/>
                </a:cubicBezTo>
                <a:cubicBezTo>
                  <a:pt x="3227439" y="-177514"/>
                  <a:pt x="3952568" y="1631621"/>
                  <a:pt x="4365523" y="1739776"/>
                </a:cubicBezTo>
                <a:cubicBezTo>
                  <a:pt x="4778478" y="1847931"/>
                  <a:pt x="4989872" y="586944"/>
                  <a:pt x="5265175" y="663144"/>
                </a:cubicBezTo>
                <a:cubicBezTo>
                  <a:pt x="5540478" y="739344"/>
                  <a:pt x="5778910" y="1468160"/>
                  <a:pt x="6017342" y="2196976"/>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A70D463-C438-8F4D-91DB-DA30B4713735}"/>
              </a:ext>
            </a:extLst>
          </p:cNvPr>
          <p:cNvSpPr/>
          <p:nvPr/>
        </p:nvSpPr>
        <p:spPr>
          <a:xfrm>
            <a:off x="1430720" y="4768958"/>
            <a:ext cx="144016" cy="14395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B33FFBE-9AC8-104B-B193-A2A696993668}"/>
              </a:ext>
            </a:extLst>
          </p:cNvPr>
          <p:cNvSpPr/>
          <p:nvPr/>
        </p:nvSpPr>
        <p:spPr>
          <a:xfrm>
            <a:off x="2303892" y="3431039"/>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9C404CE-2B6F-574C-8DD3-E2F70FDC6CC7}"/>
              </a:ext>
            </a:extLst>
          </p:cNvPr>
          <p:cNvSpPr/>
          <p:nvPr/>
        </p:nvSpPr>
        <p:spPr>
          <a:xfrm>
            <a:off x="2036370" y="3643688"/>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3B9902C-AB83-BF44-B587-95A14F2A5A13}"/>
              </a:ext>
            </a:extLst>
          </p:cNvPr>
          <p:cNvSpPr/>
          <p:nvPr/>
        </p:nvSpPr>
        <p:spPr>
          <a:xfrm>
            <a:off x="1933607" y="3789011"/>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67A391E-C1D9-4746-9C31-FD57B61B1E8B}"/>
              </a:ext>
            </a:extLst>
          </p:cNvPr>
          <p:cNvSpPr/>
          <p:nvPr/>
        </p:nvSpPr>
        <p:spPr>
          <a:xfrm>
            <a:off x="1602606" y="4379610"/>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C34E643-2C5F-C34D-B4B7-36243104CD82}"/>
              </a:ext>
            </a:extLst>
          </p:cNvPr>
          <p:cNvSpPr/>
          <p:nvPr/>
        </p:nvSpPr>
        <p:spPr>
          <a:xfrm>
            <a:off x="2182528" y="3508670"/>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A39A7D8-3F4D-0F48-B644-BBCFFE2FAD1F}"/>
              </a:ext>
            </a:extLst>
          </p:cNvPr>
          <p:cNvSpPr/>
          <p:nvPr/>
        </p:nvSpPr>
        <p:spPr>
          <a:xfrm>
            <a:off x="1809460" y="3976012"/>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540984D-0505-1749-8AE7-EA6259570DBE}"/>
              </a:ext>
            </a:extLst>
          </p:cNvPr>
          <p:cNvSpPr/>
          <p:nvPr/>
        </p:nvSpPr>
        <p:spPr>
          <a:xfrm>
            <a:off x="1507096" y="4566805"/>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82EF0BC-6773-7B46-AAFA-A234F6A22383}"/>
              </a:ext>
            </a:extLst>
          </p:cNvPr>
          <p:cNvSpPr/>
          <p:nvPr/>
        </p:nvSpPr>
        <p:spPr>
          <a:xfrm>
            <a:off x="1706697" y="4169118"/>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4BD0489-BF90-B645-841F-2CF3D174569E}"/>
              </a:ext>
            </a:extLst>
          </p:cNvPr>
          <p:cNvSpPr/>
          <p:nvPr/>
        </p:nvSpPr>
        <p:spPr>
          <a:xfrm>
            <a:off x="4927476" y="2143804"/>
            <a:ext cx="144016" cy="143958"/>
          </a:xfrm>
          <a:prstGeom prst="ellipse">
            <a:avLst/>
          </a:prstGeom>
          <a:solidFill>
            <a:srgbClr val="269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7" name="TextBox 86">
            <a:extLst>
              <a:ext uri="{FF2B5EF4-FFF2-40B4-BE49-F238E27FC236}">
                <a16:creationId xmlns:a16="http://schemas.microsoft.com/office/drawing/2014/main" id="{2CD243F3-C428-F042-AF93-547C4E7B2D61}"/>
              </a:ext>
            </a:extLst>
          </p:cNvPr>
          <p:cNvSpPr txBox="1"/>
          <p:nvPr/>
        </p:nvSpPr>
        <p:spPr>
          <a:xfrm>
            <a:off x="410608" y="3404624"/>
            <a:ext cx="1240504" cy="646331"/>
          </a:xfrm>
          <a:prstGeom prst="rect">
            <a:avLst/>
          </a:prstGeom>
          <a:noFill/>
        </p:spPr>
        <p:txBody>
          <a:bodyPr wrap="square" rtlCol="0">
            <a:spAutoFit/>
          </a:bodyPr>
          <a:lstStyle/>
          <a:p>
            <a:pPr algn="ctr"/>
            <a:r>
              <a:rPr lang="en-US"/>
              <a:t>Trạng thái bắt đầu</a:t>
            </a:r>
          </a:p>
        </p:txBody>
      </p:sp>
      <p:cxnSp>
        <p:nvCxnSpPr>
          <p:cNvPr id="89" name="Straight Arrow Connector 88">
            <a:extLst>
              <a:ext uri="{FF2B5EF4-FFF2-40B4-BE49-F238E27FC236}">
                <a16:creationId xmlns:a16="http://schemas.microsoft.com/office/drawing/2014/main" id="{240B303A-C539-4640-8C09-1A3F6B4A20AC}"/>
              </a:ext>
            </a:extLst>
          </p:cNvPr>
          <p:cNvCxnSpPr>
            <a:stCxn id="87" idx="2"/>
            <a:endCxn id="13" idx="2"/>
          </p:cNvCxnSpPr>
          <p:nvPr/>
        </p:nvCxnSpPr>
        <p:spPr>
          <a:xfrm>
            <a:off x="1030860" y="4050955"/>
            <a:ext cx="399860" cy="789982"/>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B7F9C5D2-1BF6-6344-B84A-34D2429EFDF7}"/>
              </a:ext>
            </a:extLst>
          </p:cNvPr>
          <p:cNvSpPr txBox="1"/>
          <p:nvPr/>
        </p:nvSpPr>
        <p:spPr>
          <a:xfrm>
            <a:off x="2904131" y="2171438"/>
            <a:ext cx="1240504" cy="646331"/>
          </a:xfrm>
          <a:prstGeom prst="rect">
            <a:avLst/>
          </a:prstGeom>
          <a:solidFill>
            <a:srgbClr val="FFC000"/>
          </a:solidFill>
          <a:ln>
            <a:noFill/>
          </a:ln>
        </p:spPr>
        <p:txBody>
          <a:bodyPr wrap="square" rtlCol="0">
            <a:spAutoFit/>
          </a:bodyPr>
          <a:lstStyle/>
          <a:p>
            <a:pPr algn="ctr"/>
            <a:r>
              <a:rPr lang="en-US"/>
              <a:t>Cực trị địa phương</a:t>
            </a:r>
          </a:p>
        </p:txBody>
      </p:sp>
      <p:cxnSp>
        <p:nvCxnSpPr>
          <p:cNvPr id="91" name="Straight Arrow Connector 90">
            <a:extLst>
              <a:ext uri="{FF2B5EF4-FFF2-40B4-BE49-F238E27FC236}">
                <a16:creationId xmlns:a16="http://schemas.microsoft.com/office/drawing/2014/main" id="{4C5931A2-C5FD-0C4F-8AC2-5CDA3116D247}"/>
              </a:ext>
            </a:extLst>
          </p:cNvPr>
          <p:cNvCxnSpPr>
            <a:cxnSpLocks/>
            <a:stCxn id="90" idx="2"/>
          </p:cNvCxnSpPr>
          <p:nvPr/>
        </p:nvCxnSpPr>
        <p:spPr>
          <a:xfrm flipH="1">
            <a:off x="2569272" y="2817769"/>
            <a:ext cx="955111" cy="559578"/>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AE86D4F7-4D42-E447-BF62-8F4EE01D3FFF}"/>
              </a:ext>
            </a:extLst>
          </p:cNvPr>
          <p:cNvSpPr txBox="1"/>
          <p:nvPr/>
        </p:nvSpPr>
        <p:spPr>
          <a:xfrm>
            <a:off x="5071492" y="1231501"/>
            <a:ext cx="1240504" cy="646331"/>
          </a:xfrm>
          <a:prstGeom prst="rect">
            <a:avLst/>
          </a:prstGeom>
          <a:solidFill>
            <a:srgbClr val="FFC000"/>
          </a:solidFill>
          <a:ln>
            <a:noFill/>
          </a:ln>
        </p:spPr>
        <p:txBody>
          <a:bodyPr wrap="square" rtlCol="0">
            <a:spAutoFit/>
          </a:bodyPr>
          <a:lstStyle/>
          <a:p>
            <a:pPr algn="ctr"/>
            <a:r>
              <a:rPr lang="en-US"/>
              <a:t>Cực trị toàn cục</a:t>
            </a:r>
          </a:p>
        </p:txBody>
      </p:sp>
      <p:cxnSp>
        <p:nvCxnSpPr>
          <p:cNvPr id="95" name="Straight Arrow Connector 94">
            <a:extLst>
              <a:ext uri="{FF2B5EF4-FFF2-40B4-BE49-F238E27FC236}">
                <a16:creationId xmlns:a16="http://schemas.microsoft.com/office/drawing/2014/main" id="{C38D7AC4-08F2-0442-8966-E8C6BC9D6156}"/>
              </a:ext>
            </a:extLst>
          </p:cNvPr>
          <p:cNvCxnSpPr>
            <a:cxnSpLocks/>
          </p:cNvCxnSpPr>
          <p:nvPr/>
        </p:nvCxnSpPr>
        <p:spPr>
          <a:xfrm flipH="1">
            <a:off x="5071492" y="1877832"/>
            <a:ext cx="764268" cy="337951"/>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71DD420-69E9-E04E-8858-FCC34D03C0C4}"/>
              </a:ext>
            </a:extLst>
          </p:cNvPr>
          <p:cNvSpPr txBox="1"/>
          <p:nvPr/>
        </p:nvSpPr>
        <p:spPr>
          <a:xfrm>
            <a:off x="675051" y="1893021"/>
            <a:ext cx="1837659" cy="372927"/>
          </a:xfrm>
          <a:prstGeom prst="rect">
            <a:avLst/>
          </a:prstGeom>
          <a:solidFill>
            <a:srgbClr val="FFC000"/>
          </a:solidFill>
          <a:ln>
            <a:noFill/>
          </a:ln>
        </p:spPr>
        <p:txBody>
          <a:bodyPr wrap="square" rtlCol="0">
            <a:spAutoFit/>
          </a:bodyPr>
          <a:lstStyle/>
          <a:p>
            <a:pPr algn="ctr"/>
            <a:r>
              <a:rPr lang="en-US"/>
              <a:t>Các hàng xóm</a:t>
            </a:r>
          </a:p>
        </p:txBody>
      </p:sp>
      <p:cxnSp>
        <p:nvCxnSpPr>
          <p:cNvPr id="98" name="Straight Arrow Connector 97">
            <a:extLst>
              <a:ext uri="{FF2B5EF4-FFF2-40B4-BE49-F238E27FC236}">
                <a16:creationId xmlns:a16="http://schemas.microsoft.com/office/drawing/2014/main" id="{804512EA-4E98-B843-A4A4-E46072D68684}"/>
              </a:ext>
            </a:extLst>
          </p:cNvPr>
          <p:cNvCxnSpPr>
            <a:cxnSpLocks/>
            <a:stCxn id="97" idx="2"/>
            <a:endCxn id="20" idx="1"/>
          </p:cNvCxnSpPr>
          <p:nvPr/>
        </p:nvCxnSpPr>
        <p:spPr>
          <a:xfrm>
            <a:off x="1593881" y="2265948"/>
            <a:ext cx="236670" cy="1731146"/>
          </a:xfrm>
          <a:prstGeom prst="straightConnector1">
            <a:avLst/>
          </a:prstGeom>
          <a:ln w="222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98C1DD70-3D83-F843-9343-6D0D363F3646}"/>
              </a:ext>
            </a:extLst>
          </p:cNvPr>
          <p:cNvCxnSpPr>
            <a:cxnSpLocks/>
            <a:stCxn id="97" idx="2"/>
            <a:endCxn id="22" idx="1"/>
          </p:cNvCxnSpPr>
          <p:nvPr/>
        </p:nvCxnSpPr>
        <p:spPr>
          <a:xfrm>
            <a:off x="1593881" y="2265948"/>
            <a:ext cx="133907" cy="1924252"/>
          </a:xfrm>
          <a:prstGeom prst="straightConnector1">
            <a:avLst/>
          </a:prstGeom>
          <a:ln w="222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0494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grpId="0" nodeType="clickEffect">
                                  <p:stCondLst>
                                    <p:cond delay="0"/>
                                  </p:stCondLst>
                                  <p:childTnLst>
                                    <p:animMotion origin="layout" path="M 0.00031 2.96296E-6 C 0.00262 -0.00973 0.00509 -0.01922 0.00787 -0.02848 C 0.01049 -0.03797 0.01327 -0.04653 0.01651 -0.05625 C 0.01975 -0.06598 0.02731 -0.08704 0.02731 -0.08704 C 0.03086 -0.09723 0.03379 -0.10695 0.03765 -0.11644 C 0.04136 -0.1257 0.0466 -0.13542 0.05015 -0.14329 C 0.0537 -0.15093 0.05478 -0.15579 0.05879 -0.16273 C 0.06281 -0.16968 0.0696 -0.17917 0.07392 -0.18473 C 0.07839 -0.19028 0.0804 -0.19352 0.08534 -0.19607 C 0.09028 -0.19861 0.09707 -0.19931 0.10386 -0.2 " pathEditMode="relative" ptsTypes="AAAAAAAAAA">
                                      <p:cBhvr>
                                        <p:cTn id="6" dur="2000" fill="hold"/>
                                        <p:tgtEl>
                                          <p:spTgt spid="13"/>
                                        </p:tgtEl>
                                        <p:attrNameLst>
                                          <p:attrName>ppt_x</p:attrName>
                                          <p:attrName>ppt_y</p:attrName>
                                        </p:attrNameLst>
                                      </p:cBhvr>
                                    </p:animMotion>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grpId="0" nodeType="clickEffect">
                                  <p:stCondLst>
                                    <p:cond delay="0"/>
                                  </p:stCondLst>
                                  <p:childTnLst>
                                    <p:set>
                                      <p:cBhvr>
                                        <p:cTn id="10" dur="1" fill="hold">
                                          <p:stCondLst>
                                            <p:cond delay="0"/>
                                          </p:stCondLst>
                                        </p:cTn>
                                        <p:tgtEl>
                                          <p:spTgt spid="21"/>
                                        </p:tgtEl>
                                        <p:attrNameLst>
                                          <p:attrName>style.visibility</p:attrName>
                                        </p:attrNameLst>
                                      </p:cBhvr>
                                      <p:to>
                                        <p:strVal val="visible"/>
                                      </p:to>
                                    </p:set>
                                    <p:animEffect transition="in" filter="checkerboard(across)">
                                      <p:cBhvr>
                                        <p:cTn id="11" dur="500"/>
                                        <p:tgtEl>
                                          <p:spTgt spid="21"/>
                                        </p:tgtEl>
                                      </p:cBhvr>
                                    </p:animEffect>
                                  </p:childTnLst>
                                </p:cTn>
                              </p:par>
                              <p:par>
                                <p:cTn id="12" presetID="5" presetClass="entr" presetSubtype="10" fill="hold" grpId="0" nodeType="with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checkerboard(across)">
                                      <p:cBhvr>
                                        <p:cTn id="14" dur="500"/>
                                        <p:tgtEl>
                                          <p:spTgt spid="17"/>
                                        </p:tgtEl>
                                      </p:cBhvr>
                                    </p:animEffect>
                                  </p:childTnLst>
                                </p:cTn>
                              </p:par>
                              <p:par>
                                <p:cTn id="15" presetID="5" presetClass="entr" presetSubtype="10" fill="hold" grpId="0" nodeType="withEffect">
                                  <p:stCondLst>
                                    <p:cond delay="0"/>
                                  </p:stCondLst>
                                  <p:childTnLst>
                                    <p:set>
                                      <p:cBhvr>
                                        <p:cTn id="16" dur="1" fill="hold">
                                          <p:stCondLst>
                                            <p:cond delay="0"/>
                                          </p:stCondLst>
                                        </p:cTn>
                                        <p:tgtEl>
                                          <p:spTgt spid="22"/>
                                        </p:tgtEl>
                                        <p:attrNameLst>
                                          <p:attrName>style.visibility</p:attrName>
                                        </p:attrNameLst>
                                      </p:cBhvr>
                                      <p:to>
                                        <p:strVal val="visible"/>
                                      </p:to>
                                    </p:set>
                                    <p:animEffect transition="in" filter="checkerboard(across)">
                                      <p:cBhvr>
                                        <p:cTn id="17" dur="500"/>
                                        <p:tgtEl>
                                          <p:spTgt spid="22"/>
                                        </p:tgtEl>
                                      </p:cBhvr>
                                    </p:animEffect>
                                  </p:childTnLst>
                                </p:cTn>
                              </p:par>
                              <p:par>
                                <p:cTn id="18" presetID="5" presetClass="entr" presetSubtype="10" fill="hold" grpId="0" nodeType="with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checkerboard(across)">
                                      <p:cBhvr>
                                        <p:cTn id="20" dur="500"/>
                                        <p:tgtEl>
                                          <p:spTgt spid="20"/>
                                        </p:tgtEl>
                                      </p:cBhvr>
                                    </p:animEffect>
                                  </p:childTnLst>
                                </p:cTn>
                              </p:par>
                              <p:par>
                                <p:cTn id="21" presetID="5" presetClass="entr" presetSubtype="10" fill="hold" grpId="0" nodeType="with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checkerboard(across)">
                                      <p:cBhvr>
                                        <p:cTn id="23" dur="500"/>
                                        <p:tgtEl>
                                          <p:spTgt spid="16"/>
                                        </p:tgtEl>
                                      </p:cBhvr>
                                    </p:animEffect>
                                  </p:childTnLst>
                                </p:cTn>
                              </p:par>
                              <p:par>
                                <p:cTn id="24" presetID="5" presetClass="entr" presetSubtype="10" fill="hold" grpId="0" nodeType="with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checkerboard(across)">
                                      <p:cBhvr>
                                        <p:cTn id="26" dur="500"/>
                                        <p:tgtEl>
                                          <p:spTgt spid="15"/>
                                        </p:tgtEl>
                                      </p:cBhvr>
                                    </p:animEffect>
                                  </p:childTnLst>
                                </p:cTn>
                              </p:par>
                              <p:par>
                                <p:cTn id="27" presetID="5" presetClass="entr" presetSubtype="10" fill="hold" grpId="0" nodeType="withEffect">
                                  <p:stCondLst>
                                    <p:cond delay="0"/>
                                  </p:stCondLst>
                                  <p:childTnLst>
                                    <p:set>
                                      <p:cBhvr>
                                        <p:cTn id="28" dur="1" fill="hold">
                                          <p:stCondLst>
                                            <p:cond delay="0"/>
                                          </p:stCondLst>
                                        </p:cTn>
                                        <p:tgtEl>
                                          <p:spTgt spid="18"/>
                                        </p:tgtEl>
                                        <p:attrNameLst>
                                          <p:attrName>style.visibility</p:attrName>
                                        </p:attrNameLst>
                                      </p:cBhvr>
                                      <p:to>
                                        <p:strVal val="visible"/>
                                      </p:to>
                                    </p:set>
                                    <p:animEffect transition="in" filter="checkerboard(across)">
                                      <p:cBhvr>
                                        <p:cTn id="29" dur="500"/>
                                        <p:tgtEl>
                                          <p:spTgt spid="18"/>
                                        </p:tgtEl>
                                      </p:cBhvr>
                                    </p:animEffect>
                                  </p:childTnLst>
                                </p:cTn>
                              </p:par>
                              <p:par>
                                <p:cTn id="30" presetID="5" presetClass="entr" presetSubtype="1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checkerboard(across)">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97"/>
                                        </p:tgtEl>
                                        <p:attrNameLst>
                                          <p:attrName>style.visibility</p:attrName>
                                        </p:attrNameLst>
                                      </p:cBhvr>
                                      <p:to>
                                        <p:strVal val="visible"/>
                                      </p:to>
                                    </p:set>
                                    <p:animEffect transition="in" filter="blinds(horizontal)">
                                      <p:cBhvr>
                                        <p:cTn id="37" dur="500"/>
                                        <p:tgtEl>
                                          <p:spTgt spid="97"/>
                                        </p:tgtEl>
                                      </p:cBhvr>
                                    </p:animEffect>
                                  </p:childTnLst>
                                </p:cTn>
                              </p:par>
                              <p:par>
                                <p:cTn id="38" presetID="3" presetClass="entr" presetSubtype="10" fill="hold" nodeType="withEffect">
                                  <p:stCondLst>
                                    <p:cond delay="0"/>
                                  </p:stCondLst>
                                  <p:childTnLst>
                                    <p:set>
                                      <p:cBhvr>
                                        <p:cTn id="39" dur="1" fill="hold">
                                          <p:stCondLst>
                                            <p:cond delay="0"/>
                                          </p:stCondLst>
                                        </p:cTn>
                                        <p:tgtEl>
                                          <p:spTgt spid="107"/>
                                        </p:tgtEl>
                                        <p:attrNameLst>
                                          <p:attrName>style.visibility</p:attrName>
                                        </p:attrNameLst>
                                      </p:cBhvr>
                                      <p:to>
                                        <p:strVal val="visible"/>
                                      </p:to>
                                    </p:set>
                                    <p:animEffect transition="in" filter="blinds(horizontal)">
                                      <p:cBhvr>
                                        <p:cTn id="40" dur="500"/>
                                        <p:tgtEl>
                                          <p:spTgt spid="107"/>
                                        </p:tgtEl>
                                      </p:cBhvr>
                                    </p:animEffect>
                                  </p:childTnLst>
                                </p:cTn>
                              </p:par>
                              <p:par>
                                <p:cTn id="41" presetID="3" presetClass="entr" presetSubtype="10" fill="hold" nodeType="withEffect">
                                  <p:stCondLst>
                                    <p:cond delay="0"/>
                                  </p:stCondLst>
                                  <p:childTnLst>
                                    <p:set>
                                      <p:cBhvr>
                                        <p:cTn id="42" dur="1" fill="hold">
                                          <p:stCondLst>
                                            <p:cond delay="0"/>
                                          </p:stCondLst>
                                        </p:cTn>
                                        <p:tgtEl>
                                          <p:spTgt spid="98"/>
                                        </p:tgtEl>
                                        <p:attrNameLst>
                                          <p:attrName>style.visibility</p:attrName>
                                        </p:attrNameLst>
                                      </p:cBhvr>
                                      <p:to>
                                        <p:strVal val="visible"/>
                                      </p:to>
                                    </p:set>
                                    <p:animEffect transition="in" filter="blinds(horizontal)">
                                      <p:cBhvr>
                                        <p:cTn id="43" dur="500"/>
                                        <p:tgtEl>
                                          <p:spTgt spid="98"/>
                                        </p:tgtEl>
                                      </p:cBhvr>
                                    </p:animEffec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90"/>
                                        </p:tgtEl>
                                        <p:attrNameLst>
                                          <p:attrName>style.visibility</p:attrName>
                                        </p:attrNameLst>
                                      </p:cBhvr>
                                      <p:to>
                                        <p:strVal val="visible"/>
                                      </p:to>
                                    </p:set>
                                    <p:animEffect transition="in" filter="blinds(horizontal)">
                                      <p:cBhvr>
                                        <p:cTn id="48" dur="500"/>
                                        <p:tgtEl>
                                          <p:spTgt spid="90"/>
                                        </p:tgtEl>
                                      </p:cBhvr>
                                    </p:animEffect>
                                  </p:childTnLst>
                                </p:cTn>
                              </p:par>
                              <p:par>
                                <p:cTn id="49" presetID="3" presetClass="entr" presetSubtype="10" fill="hold" nodeType="withEffect">
                                  <p:stCondLst>
                                    <p:cond delay="0"/>
                                  </p:stCondLst>
                                  <p:childTnLst>
                                    <p:set>
                                      <p:cBhvr>
                                        <p:cTn id="50" dur="1" fill="hold">
                                          <p:stCondLst>
                                            <p:cond delay="0"/>
                                          </p:stCondLst>
                                        </p:cTn>
                                        <p:tgtEl>
                                          <p:spTgt spid="91"/>
                                        </p:tgtEl>
                                        <p:attrNameLst>
                                          <p:attrName>style.visibility</p:attrName>
                                        </p:attrNameLst>
                                      </p:cBhvr>
                                      <p:to>
                                        <p:strVal val="visible"/>
                                      </p:to>
                                    </p:set>
                                    <p:animEffect transition="in" filter="blinds(horizontal)">
                                      <p:cBhvr>
                                        <p:cTn id="51" dur="500"/>
                                        <p:tgtEl>
                                          <p:spTgt spid="91"/>
                                        </p:tgtEl>
                                      </p:cBhvr>
                                    </p:animEffect>
                                  </p:childTnLst>
                                </p:cTn>
                              </p:par>
                            </p:childTnLst>
                          </p:cTn>
                        </p:par>
                      </p:childTnLst>
                    </p:cTn>
                  </p:par>
                  <p:par>
                    <p:cTn id="52" fill="hold">
                      <p:stCondLst>
                        <p:cond delay="indefinite"/>
                      </p:stCondLst>
                      <p:childTnLst>
                        <p:par>
                          <p:cTn id="53" fill="hold">
                            <p:stCondLst>
                              <p:cond delay="0"/>
                            </p:stCondLst>
                            <p:childTnLst>
                              <p:par>
                                <p:cTn id="54" presetID="3" presetClass="entr" presetSubtype="10" fill="hold" grpId="0" nodeType="clickEffect">
                                  <p:stCondLst>
                                    <p:cond delay="0"/>
                                  </p:stCondLst>
                                  <p:childTnLst>
                                    <p:set>
                                      <p:cBhvr>
                                        <p:cTn id="55" dur="1" fill="hold">
                                          <p:stCondLst>
                                            <p:cond delay="0"/>
                                          </p:stCondLst>
                                        </p:cTn>
                                        <p:tgtEl>
                                          <p:spTgt spid="94"/>
                                        </p:tgtEl>
                                        <p:attrNameLst>
                                          <p:attrName>style.visibility</p:attrName>
                                        </p:attrNameLst>
                                      </p:cBhvr>
                                      <p:to>
                                        <p:strVal val="visible"/>
                                      </p:to>
                                    </p:set>
                                    <p:animEffect transition="in" filter="blinds(horizontal)">
                                      <p:cBhvr>
                                        <p:cTn id="56" dur="500"/>
                                        <p:tgtEl>
                                          <p:spTgt spid="94"/>
                                        </p:tgtEl>
                                      </p:cBhvr>
                                    </p:animEffect>
                                  </p:childTnLst>
                                </p:cTn>
                              </p:par>
                              <p:par>
                                <p:cTn id="57" presetID="3" presetClass="entr" presetSubtype="10" fill="hold" nodeType="withEffect">
                                  <p:stCondLst>
                                    <p:cond delay="0"/>
                                  </p:stCondLst>
                                  <p:childTnLst>
                                    <p:set>
                                      <p:cBhvr>
                                        <p:cTn id="58" dur="1" fill="hold">
                                          <p:stCondLst>
                                            <p:cond delay="0"/>
                                          </p:stCondLst>
                                        </p:cTn>
                                        <p:tgtEl>
                                          <p:spTgt spid="95"/>
                                        </p:tgtEl>
                                        <p:attrNameLst>
                                          <p:attrName>style.visibility</p:attrName>
                                        </p:attrNameLst>
                                      </p:cBhvr>
                                      <p:to>
                                        <p:strVal val="visible"/>
                                      </p:to>
                                    </p:set>
                                    <p:animEffect transition="in" filter="blinds(horizontal)">
                                      <p:cBhvr>
                                        <p:cTn id="59" dur="500"/>
                                        <p:tgtEl>
                                          <p:spTgt spid="95"/>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blinds(horizontal)">
                                      <p:cBhvr>
                                        <p:cTn id="62"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20" grpId="0" animBg="1"/>
      <p:bldP spid="21" grpId="0" animBg="1"/>
      <p:bldP spid="22" grpId="0" animBg="1"/>
      <p:bldP spid="23" grpId="0" animBg="1"/>
      <p:bldP spid="90" grpId="0" animBg="1"/>
      <p:bldP spid="94" grpId="0" animBg="1"/>
      <p:bldP spid="97"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08E4-B700-EA4B-BE66-FC36A57C967B}"/>
              </a:ext>
            </a:extLst>
          </p:cNvPr>
          <p:cNvSpPr>
            <a:spLocks noGrp="1"/>
          </p:cNvSpPr>
          <p:nvPr>
            <p:ph type="title"/>
          </p:nvPr>
        </p:nvSpPr>
        <p:spPr/>
        <p:txBody>
          <a:bodyPr/>
          <a:lstStyle/>
          <a:p>
            <a:r>
              <a:rPr lang="en-US"/>
              <a:t>Thuật toán leo đồi</a:t>
            </a:r>
          </a:p>
        </p:txBody>
      </p:sp>
      <p:sp>
        <p:nvSpPr>
          <p:cNvPr id="3" name="Content Placeholder 2">
            <a:extLst>
              <a:ext uri="{FF2B5EF4-FFF2-40B4-BE49-F238E27FC236}">
                <a16:creationId xmlns:a16="http://schemas.microsoft.com/office/drawing/2014/main" id="{A921F578-9582-D54E-BBAF-370F8600C209}"/>
              </a:ext>
            </a:extLst>
          </p:cNvPr>
          <p:cNvSpPr>
            <a:spLocks noGrp="1"/>
          </p:cNvSpPr>
          <p:nvPr>
            <p:ph idx="1"/>
          </p:nvPr>
        </p:nvSpPr>
        <p:spPr>
          <a:xfrm>
            <a:off x="706438" y="1825625"/>
            <a:ext cx="8874125" cy="4530725"/>
          </a:xfrm>
        </p:spPr>
        <p:txBody>
          <a:bodyPr/>
          <a:lstStyle/>
          <a:p>
            <a:r>
              <a:rPr lang="vi-VN"/>
              <a:t>Đầu vào: bài toán tối ưu tổ hợp</a:t>
            </a:r>
          </a:p>
          <a:p>
            <a:r>
              <a:rPr lang="vi-VN"/>
              <a:t>Đầu ra: trạng thái với hàm mục tiêu lớn nhất (hoặc cực đại địa phương) </a:t>
            </a:r>
          </a:p>
          <a:p>
            <a:pPr marL="0" indent="0">
              <a:buNone/>
            </a:pPr>
            <a:r>
              <a:rPr lang="vi-VN"/>
              <a:t>----</a:t>
            </a:r>
          </a:p>
          <a:p>
            <a:pPr marL="457200" indent="-457200">
              <a:buFont typeface="+mj-lt"/>
              <a:buAutoNum type="arabicPeriod"/>
            </a:pPr>
            <a:r>
              <a:rPr lang="vi-VN"/>
              <a:t>Chọn ngẫu nhiên trạng thái </a:t>
            </a:r>
            <a:r>
              <a:rPr lang="vi-VN" i="1"/>
              <a:t>x </a:t>
            </a:r>
            <a:endParaRPr lang="vi-VN"/>
          </a:p>
          <a:p>
            <a:pPr marL="457200" indent="-457200">
              <a:buFont typeface="+mj-lt"/>
              <a:buAutoNum type="arabicPeriod"/>
            </a:pPr>
            <a:r>
              <a:rPr lang="vi-VN"/>
              <a:t>Gọi </a:t>
            </a:r>
            <a:r>
              <a:rPr lang="vi-VN" i="1"/>
              <a:t>Y </a:t>
            </a:r>
            <a:r>
              <a:rPr lang="vi-VN"/>
              <a:t>là tập các trạng thái hàng xóm của </a:t>
            </a:r>
            <a:r>
              <a:rPr lang="vi-VN" i="1"/>
              <a:t>x </a:t>
            </a:r>
            <a:endParaRPr lang="vi-VN"/>
          </a:p>
          <a:p>
            <a:pPr marL="457200" indent="-457200">
              <a:buFont typeface="+mj-lt"/>
              <a:buAutoNum type="arabicPeriod"/>
            </a:pPr>
            <a:r>
              <a:rPr lang="vi-VN"/>
              <a:t>If ∀</a:t>
            </a:r>
            <a:r>
              <a:rPr lang="vi-VN" i="1"/>
              <a:t>y</a:t>
            </a:r>
            <a:r>
              <a:rPr lang="vi-VN" i="1" baseline="-25000"/>
              <a:t>i </a:t>
            </a:r>
            <a:r>
              <a:rPr lang="vi-VN"/>
              <a:t>∈ </a:t>
            </a:r>
            <a:r>
              <a:rPr lang="vi-VN" i="1"/>
              <a:t>Y</a:t>
            </a:r>
            <a:r>
              <a:rPr lang="vi-VN"/>
              <a:t>: Obj (</a:t>
            </a:r>
            <a:r>
              <a:rPr lang="vi-VN" i="1"/>
              <a:t>y</a:t>
            </a:r>
            <a:r>
              <a:rPr lang="vi-VN" i="1" baseline="-25000"/>
              <a:t>i</a:t>
            </a:r>
            <a:r>
              <a:rPr lang="vi-VN"/>
              <a:t>) &lt; Obj (</a:t>
            </a:r>
            <a:r>
              <a:rPr lang="vi-VN" i="1"/>
              <a:t>x</a:t>
            </a:r>
            <a:r>
              <a:rPr lang="vi-VN"/>
              <a:t>) then </a:t>
            </a:r>
          </a:p>
          <a:p>
            <a:pPr lvl="1"/>
            <a:r>
              <a:rPr lang="vi-VN"/>
              <a:t>Kết thúc và trả lại </a:t>
            </a:r>
            <a:r>
              <a:rPr lang="vi-VN" i="1"/>
              <a:t>x </a:t>
            </a:r>
            <a:r>
              <a:rPr lang="vi-VN"/>
              <a:t>là kết quả </a:t>
            </a:r>
          </a:p>
          <a:p>
            <a:pPr marL="457200" indent="-457200">
              <a:buFont typeface="+mj-lt"/>
              <a:buAutoNum type="arabicPeriod"/>
            </a:pPr>
            <a:r>
              <a:rPr lang="vi-VN" i="1"/>
              <a:t>x </a:t>
            </a:r>
            <a:r>
              <a:rPr lang="vi-VN"/>
              <a:t>← </a:t>
            </a:r>
            <a:r>
              <a:rPr lang="vi-VN" i="1"/>
              <a:t>y</a:t>
            </a:r>
            <a:r>
              <a:rPr lang="vi-VN" i="1" baseline="-25000"/>
              <a:t>i</a:t>
            </a:r>
            <a:r>
              <a:rPr lang="vi-VN" i="1"/>
              <a:t> </a:t>
            </a:r>
            <a:r>
              <a:rPr lang="vi-VN"/>
              <a:t>, trong đó </a:t>
            </a:r>
            <a:r>
              <a:rPr lang="vi-VN" i="1"/>
              <a:t>i </a:t>
            </a:r>
            <a:r>
              <a:rPr lang="vi-VN"/>
              <a:t>= argmax</a:t>
            </a:r>
            <a:r>
              <a:rPr lang="vi-VN" i="1" baseline="-25000"/>
              <a:t>i</a:t>
            </a:r>
            <a:r>
              <a:rPr lang="vi-VN" i="1"/>
              <a:t> </a:t>
            </a:r>
            <a:r>
              <a:rPr lang="vi-VN"/>
              <a:t>(Obj (</a:t>
            </a:r>
            <a:r>
              <a:rPr lang="vi-VN" i="1"/>
              <a:t>y</a:t>
            </a:r>
            <a:r>
              <a:rPr lang="vi-VN" i="1" baseline="-25000"/>
              <a:t>i</a:t>
            </a:r>
            <a:r>
              <a:rPr lang="vi-VN"/>
              <a:t>)) </a:t>
            </a:r>
          </a:p>
          <a:p>
            <a:pPr marL="457200" indent="-457200">
              <a:buFont typeface="+mj-lt"/>
              <a:buAutoNum type="arabicPeriod"/>
            </a:pPr>
            <a:r>
              <a:rPr lang="vi-VN"/>
              <a:t>Go to 2 </a:t>
            </a:r>
          </a:p>
          <a:p>
            <a:pPr marL="0" indent="0">
              <a:buNone/>
            </a:pPr>
            <a:endParaRPr lang="en-US"/>
          </a:p>
        </p:txBody>
      </p:sp>
      <p:sp>
        <p:nvSpPr>
          <p:cNvPr id="4" name="Slide Number Placeholder 3">
            <a:extLst>
              <a:ext uri="{FF2B5EF4-FFF2-40B4-BE49-F238E27FC236}">
                <a16:creationId xmlns:a16="http://schemas.microsoft.com/office/drawing/2014/main" id="{527D93B9-AFF1-D740-AE87-F27608102DA4}"/>
              </a:ext>
            </a:extLst>
          </p:cNvPr>
          <p:cNvSpPr>
            <a:spLocks noGrp="1"/>
          </p:cNvSpPr>
          <p:nvPr>
            <p:ph type="sldNum" sz="quarter" idx="12"/>
          </p:nvPr>
        </p:nvSpPr>
        <p:spPr/>
        <p:txBody>
          <a:bodyPr/>
          <a:lstStyle/>
          <a:p>
            <a:fld id="{DA8C51A7-BEEA-471D-933F-7E35BC04A30F}" type="slidenum">
              <a:rPr lang="en-US"/>
              <a:pPr/>
              <a:t>14</a:t>
            </a:fld>
            <a:endParaRPr lang="en-US"/>
          </a:p>
        </p:txBody>
      </p:sp>
    </p:spTree>
    <p:extLst>
      <p:ext uri="{BB962C8B-B14F-4D97-AF65-F5344CB8AC3E}">
        <p14:creationId xmlns:p14="http://schemas.microsoft.com/office/powerpoint/2010/main" val="139197285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08E4-B700-EA4B-BE66-FC36A57C967B}"/>
              </a:ext>
            </a:extLst>
          </p:cNvPr>
          <p:cNvSpPr>
            <a:spLocks noGrp="1"/>
          </p:cNvSpPr>
          <p:nvPr>
            <p:ph type="title"/>
          </p:nvPr>
        </p:nvSpPr>
        <p:spPr/>
        <p:txBody>
          <a:bodyPr/>
          <a:lstStyle/>
          <a:p>
            <a:r>
              <a:rPr lang="en-US"/>
              <a:t>Thuật toán leo đồi</a:t>
            </a:r>
          </a:p>
        </p:txBody>
      </p:sp>
      <p:sp>
        <p:nvSpPr>
          <p:cNvPr id="3" name="Content Placeholder 2">
            <a:extLst>
              <a:ext uri="{FF2B5EF4-FFF2-40B4-BE49-F238E27FC236}">
                <a16:creationId xmlns:a16="http://schemas.microsoft.com/office/drawing/2014/main" id="{A921F578-9582-D54E-BBAF-370F8600C209}"/>
              </a:ext>
            </a:extLst>
          </p:cNvPr>
          <p:cNvSpPr>
            <a:spLocks noGrp="1"/>
          </p:cNvSpPr>
          <p:nvPr>
            <p:ph idx="1"/>
          </p:nvPr>
        </p:nvSpPr>
        <p:spPr>
          <a:xfrm>
            <a:off x="706438" y="1825625"/>
            <a:ext cx="8874125" cy="4530725"/>
          </a:xfrm>
        </p:spPr>
        <p:txBody>
          <a:bodyPr/>
          <a:lstStyle/>
          <a:p>
            <a:r>
              <a:rPr lang="vi-VN"/>
              <a:t>Đầu vào: bài toán tối ưu tổ hợp</a:t>
            </a:r>
          </a:p>
          <a:p>
            <a:r>
              <a:rPr lang="vi-VN"/>
              <a:t>Đầu ra: trạng thái với hàm mục tiêu lớn nhất (hoặc cực đại địa phương) </a:t>
            </a:r>
          </a:p>
          <a:p>
            <a:pPr marL="0" indent="0">
              <a:buNone/>
            </a:pPr>
            <a:r>
              <a:rPr lang="vi-VN"/>
              <a:t>----</a:t>
            </a:r>
          </a:p>
          <a:p>
            <a:pPr marL="457200" indent="-457200">
              <a:buFont typeface="+mj-lt"/>
              <a:buAutoNum type="arabicPeriod"/>
            </a:pPr>
            <a:r>
              <a:rPr lang="vi-VN"/>
              <a:t>Chọn ngẫu nhiên trạng thái </a:t>
            </a:r>
            <a:r>
              <a:rPr lang="vi-VN" i="1"/>
              <a:t>x </a:t>
            </a:r>
            <a:endParaRPr lang="vi-VN"/>
          </a:p>
          <a:p>
            <a:pPr marL="457200" indent="-457200">
              <a:buFont typeface="+mj-lt"/>
              <a:buAutoNum type="arabicPeriod"/>
            </a:pPr>
            <a:r>
              <a:rPr lang="vi-VN"/>
              <a:t>Gọi </a:t>
            </a:r>
            <a:r>
              <a:rPr lang="vi-VN" i="1"/>
              <a:t>Y </a:t>
            </a:r>
            <a:r>
              <a:rPr lang="vi-VN"/>
              <a:t>là tập các trạng thái hàng xóm của </a:t>
            </a:r>
            <a:r>
              <a:rPr lang="vi-VN" i="1"/>
              <a:t>x </a:t>
            </a:r>
            <a:endParaRPr lang="vi-VN"/>
          </a:p>
          <a:p>
            <a:pPr marL="457200" indent="-457200">
              <a:buFont typeface="+mj-lt"/>
              <a:buAutoNum type="arabicPeriod"/>
            </a:pPr>
            <a:r>
              <a:rPr lang="vi-VN"/>
              <a:t>If ∀</a:t>
            </a:r>
            <a:r>
              <a:rPr lang="vi-VN" i="1"/>
              <a:t>y</a:t>
            </a:r>
            <a:r>
              <a:rPr lang="vi-VN" i="1" baseline="-25000"/>
              <a:t>i </a:t>
            </a:r>
            <a:r>
              <a:rPr lang="vi-VN"/>
              <a:t>∈ </a:t>
            </a:r>
            <a:r>
              <a:rPr lang="vi-VN" i="1"/>
              <a:t>Y</a:t>
            </a:r>
            <a:r>
              <a:rPr lang="vi-VN"/>
              <a:t>: Obj (</a:t>
            </a:r>
            <a:r>
              <a:rPr lang="vi-VN" i="1"/>
              <a:t>y</a:t>
            </a:r>
            <a:r>
              <a:rPr lang="vi-VN" i="1" baseline="-25000"/>
              <a:t>i</a:t>
            </a:r>
            <a:r>
              <a:rPr lang="vi-VN"/>
              <a:t>) &lt; Obj (</a:t>
            </a:r>
            <a:r>
              <a:rPr lang="vi-VN" i="1"/>
              <a:t>x</a:t>
            </a:r>
            <a:r>
              <a:rPr lang="vi-VN"/>
              <a:t>) then </a:t>
            </a:r>
          </a:p>
          <a:p>
            <a:pPr lvl="1"/>
            <a:r>
              <a:rPr lang="vi-VN"/>
              <a:t>Kết thúc và trả lại </a:t>
            </a:r>
            <a:r>
              <a:rPr lang="vi-VN" i="1"/>
              <a:t>x </a:t>
            </a:r>
            <a:r>
              <a:rPr lang="vi-VN"/>
              <a:t>là kết quả </a:t>
            </a:r>
          </a:p>
          <a:p>
            <a:pPr marL="457200" indent="-457200">
              <a:buFont typeface="+mj-lt"/>
              <a:buAutoNum type="arabicPeriod"/>
            </a:pPr>
            <a:r>
              <a:rPr lang="vi-VN" i="1"/>
              <a:t>x </a:t>
            </a:r>
            <a:r>
              <a:rPr lang="vi-VN"/>
              <a:t>← </a:t>
            </a:r>
            <a:r>
              <a:rPr lang="vi-VN" i="1"/>
              <a:t>y</a:t>
            </a:r>
            <a:r>
              <a:rPr lang="vi-VN" i="1" baseline="-25000"/>
              <a:t>i</a:t>
            </a:r>
            <a:r>
              <a:rPr lang="vi-VN" i="1"/>
              <a:t> </a:t>
            </a:r>
            <a:r>
              <a:rPr lang="vi-VN"/>
              <a:t>, trong đó </a:t>
            </a:r>
            <a:r>
              <a:rPr lang="vi-VN" i="1"/>
              <a:t>i </a:t>
            </a:r>
            <a:r>
              <a:rPr lang="vi-VN"/>
              <a:t>= argmax</a:t>
            </a:r>
            <a:r>
              <a:rPr lang="vi-VN" i="1" baseline="-25000"/>
              <a:t>i</a:t>
            </a:r>
            <a:r>
              <a:rPr lang="vi-VN" i="1"/>
              <a:t> </a:t>
            </a:r>
            <a:r>
              <a:rPr lang="vi-VN"/>
              <a:t>(Obj (</a:t>
            </a:r>
            <a:r>
              <a:rPr lang="vi-VN" i="1"/>
              <a:t>y</a:t>
            </a:r>
            <a:r>
              <a:rPr lang="vi-VN" i="1" baseline="-25000"/>
              <a:t>i</a:t>
            </a:r>
            <a:r>
              <a:rPr lang="vi-VN"/>
              <a:t>)) </a:t>
            </a:r>
          </a:p>
          <a:p>
            <a:pPr marL="457200" indent="-457200">
              <a:buFont typeface="+mj-lt"/>
              <a:buAutoNum type="arabicPeriod"/>
            </a:pPr>
            <a:r>
              <a:rPr lang="vi-VN"/>
              <a:t>Go to 2 </a:t>
            </a:r>
          </a:p>
          <a:p>
            <a:pPr marL="0" indent="0">
              <a:buNone/>
            </a:pPr>
            <a:endParaRPr lang="en-US"/>
          </a:p>
        </p:txBody>
      </p:sp>
      <p:sp>
        <p:nvSpPr>
          <p:cNvPr id="4" name="Slide Number Placeholder 3">
            <a:extLst>
              <a:ext uri="{FF2B5EF4-FFF2-40B4-BE49-F238E27FC236}">
                <a16:creationId xmlns:a16="http://schemas.microsoft.com/office/drawing/2014/main" id="{527D93B9-AFF1-D740-AE87-F27608102DA4}"/>
              </a:ext>
            </a:extLst>
          </p:cNvPr>
          <p:cNvSpPr>
            <a:spLocks noGrp="1"/>
          </p:cNvSpPr>
          <p:nvPr>
            <p:ph type="sldNum" sz="quarter" idx="12"/>
          </p:nvPr>
        </p:nvSpPr>
        <p:spPr/>
        <p:txBody>
          <a:bodyPr/>
          <a:lstStyle/>
          <a:p>
            <a:fld id="{DA8C51A7-BEEA-471D-933F-7E35BC04A30F}" type="slidenum">
              <a:rPr lang="en-US"/>
              <a:pPr/>
              <a:t>15</a:t>
            </a:fld>
            <a:endParaRPr lang="en-US"/>
          </a:p>
        </p:txBody>
      </p:sp>
      <p:sp>
        <p:nvSpPr>
          <p:cNvPr id="5" name="Rectangle 4">
            <a:extLst>
              <a:ext uri="{FF2B5EF4-FFF2-40B4-BE49-F238E27FC236}">
                <a16:creationId xmlns:a16="http://schemas.microsoft.com/office/drawing/2014/main" id="{F8D5A399-D09D-F64F-8BDB-AFBD8516E221}"/>
              </a:ext>
            </a:extLst>
          </p:cNvPr>
          <p:cNvSpPr/>
          <p:nvPr/>
        </p:nvSpPr>
        <p:spPr>
          <a:xfrm>
            <a:off x="5249764" y="2996952"/>
            <a:ext cx="4032448" cy="115212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vi-VN"/>
              <a:t>Trả về giá trị i sao cho Obj(y</a:t>
            </a:r>
            <a:r>
              <a:rPr lang="vi-VN" baseline="-25000"/>
              <a:t>i</a:t>
            </a:r>
            <a:r>
              <a:rPr lang="vi-VN"/>
              <a:t>) cực đại</a:t>
            </a:r>
            <a:endParaRPr lang="en-US"/>
          </a:p>
        </p:txBody>
      </p:sp>
      <p:cxnSp>
        <p:nvCxnSpPr>
          <p:cNvPr id="9" name="Curved Connector 8">
            <a:extLst>
              <a:ext uri="{FF2B5EF4-FFF2-40B4-BE49-F238E27FC236}">
                <a16:creationId xmlns:a16="http://schemas.microsoft.com/office/drawing/2014/main" id="{5548D369-7D3A-BB4B-B1CB-990DDEA65AD0}"/>
              </a:ext>
            </a:extLst>
          </p:cNvPr>
          <p:cNvCxnSpPr>
            <a:cxnSpLocks/>
            <a:stCxn id="5" idx="2"/>
          </p:cNvCxnSpPr>
          <p:nvPr/>
        </p:nvCxnSpPr>
        <p:spPr>
          <a:xfrm rot="5400000">
            <a:off x="6087133" y="4141551"/>
            <a:ext cx="1171327" cy="1186384"/>
          </a:xfrm>
          <a:prstGeom prst="curvedConnector2">
            <a:avLst/>
          </a:prstGeom>
          <a:ln w="25400">
            <a:solidFill>
              <a:schemeClr val="accent2"/>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84509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08E4-B700-EA4B-BE66-FC36A57C967B}"/>
              </a:ext>
            </a:extLst>
          </p:cNvPr>
          <p:cNvSpPr>
            <a:spLocks noGrp="1"/>
          </p:cNvSpPr>
          <p:nvPr>
            <p:ph type="title"/>
          </p:nvPr>
        </p:nvSpPr>
        <p:spPr/>
        <p:txBody>
          <a:bodyPr/>
          <a:lstStyle/>
          <a:p>
            <a:r>
              <a:rPr lang="en-US"/>
              <a:t>Thuật toán leo đồi – đặc điểm</a:t>
            </a:r>
          </a:p>
        </p:txBody>
      </p:sp>
      <p:sp>
        <p:nvSpPr>
          <p:cNvPr id="3" name="Content Placeholder 2">
            <a:extLst>
              <a:ext uri="{FF2B5EF4-FFF2-40B4-BE49-F238E27FC236}">
                <a16:creationId xmlns:a16="http://schemas.microsoft.com/office/drawing/2014/main" id="{A921F578-9582-D54E-BBAF-370F8600C209}"/>
              </a:ext>
            </a:extLst>
          </p:cNvPr>
          <p:cNvSpPr>
            <a:spLocks noGrp="1"/>
          </p:cNvSpPr>
          <p:nvPr>
            <p:ph idx="1"/>
          </p:nvPr>
        </p:nvSpPr>
        <p:spPr>
          <a:xfrm>
            <a:off x="706438" y="1825625"/>
            <a:ext cx="8874125" cy="4530725"/>
          </a:xfrm>
        </p:spPr>
        <p:txBody>
          <a:bodyPr/>
          <a:lstStyle/>
          <a:p>
            <a:pPr>
              <a:lnSpc>
                <a:spcPts val="2800"/>
              </a:lnSpc>
            </a:pPr>
            <a:r>
              <a:rPr lang="vi-VN">
                <a:solidFill>
                  <a:srgbClr val="26902B"/>
                </a:solidFill>
              </a:rPr>
              <a:t>Đơn giản, dễ lập trình</a:t>
            </a:r>
            <a:r>
              <a:rPr lang="vi-VN"/>
              <a:t>: Không cần sử dụng các cấu trúc dữ liệu để biểu diễn các nút, nhớ tập biên </a:t>
            </a:r>
          </a:p>
          <a:p>
            <a:pPr>
              <a:lnSpc>
                <a:spcPts val="2800"/>
              </a:lnSpc>
            </a:pPr>
            <a:r>
              <a:rPr lang="vi-VN"/>
              <a:t>Leo đồi </a:t>
            </a:r>
            <a:r>
              <a:rPr lang="vi-VN">
                <a:solidFill>
                  <a:srgbClr val="26902B"/>
                </a:solidFill>
              </a:rPr>
              <a:t>sử dụng ít bộ nhớ </a:t>
            </a:r>
            <a:r>
              <a:rPr lang="vi-VN"/>
              <a:t>do không phải lưu lại các trạng thái </a:t>
            </a:r>
            <a:endParaRPr lang="vi-VN">
              <a:effectLst/>
            </a:endParaRPr>
          </a:p>
          <a:p>
            <a:pPr>
              <a:lnSpc>
                <a:spcPts val="2800"/>
              </a:lnSpc>
            </a:pPr>
            <a:r>
              <a:rPr lang="vi-VN"/>
              <a:t>Leo đồi </a:t>
            </a:r>
            <a:r>
              <a:rPr lang="vi-VN">
                <a:solidFill>
                  <a:srgbClr val="C00000"/>
                </a:solidFill>
              </a:rPr>
              <a:t>dễ bị lời giải tối ưu cục bộ </a:t>
            </a:r>
            <a:r>
              <a:rPr lang="vi-VN"/>
              <a:t>(cực trị địa phương) tương ứng với đỉnh các “đồi” thấp.</a:t>
            </a:r>
          </a:p>
          <a:p>
            <a:pPr marL="0" indent="0">
              <a:lnSpc>
                <a:spcPts val="2800"/>
              </a:lnSpc>
              <a:buNone/>
            </a:pPr>
            <a:r>
              <a:rPr lang="vi-VN"/>
              <a:t>	Để khắc phục vấn đề này, thuật toán được thực hiện nhiều lần, mỗi lần sử dụng một trạng thái xuất phát sinh ngẫu nhiên khác với trạng thái xuất phát trong những lần trước đó. </a:t>
            </a:r>
          </a:p>
          <a:p>
            <a:pPr marL="0" indent="0">
              <a:lnSpc>
                <a:spcPts val="2800"/>
              </a:lnSpc>
              <a:buNone/>
            </a:pPr>
            <a:r>
              <a:rPr lang="vi-VN"/>
              <a:t>Nếu số lần thực hiện với trạng thái xuất phát ngẫu nhiên như vậy được thực hiện đủ nhiều thì xác suất tìm ra lời giải tối ưu sẽ tiến tới 1. </a:t>
            </a:r>
            <a:endParaRPr lang="vi-VN">
              <a:effectLst/>
            </a:endParaRPr>
          </a:p>
        </p:txBody>
      </p:sp>
      <p:sp>
        <p:nvSpPr>
          <p:cNvPr id="4" name="Slide Number Placeholder 3">
            <a:extLst>
              <a:ext uri="{FF2B5EF4-FFF2-40B4-BE49-F238E27FC236}">
                <a16:creationId xmlns:a16="http://schemas.microsoft.com/office/drawing/2014/main" id="{527D93B9-AFF1-D740-AE87-F27608102DA4}"/>
              </a:ext>
            </a:extLst>
          </p:cNvPr>
          <p:cNvSpPr>
            <a:spLocks noGrp="1"/>
          </p:cNvSpPr>
          <p:nvPr>
            <p:ph type="sldNum" sz="quarter" idx="12"/>
          </p:nvPr>
        </p:nvSpPr>
        <p:spPr/>
        <p:txBody>
          <a:bodyPr/>
          <a:lstStyle/>
          <a:p>
            <a:fld id="{DA8C51A7-BEEA-471D-933F-7E35BC04A30F}" type="slidenum">
              <a:rPr lang="en-US"/>
              <a:pPr/>
              <a:t>16</a:t>
            </a:fld>
            <a:endParaRPr lang="en-US"/>
          </a:p>
        </p:txBody>
      </p:sp>
      <p:sp>
        <p:nvSpPr>
          <p:cNvPr id="6" name="Right Arrow 5">
            <a:extLst>
              <a:ext uri="{FF2B5EF4-FFF2-40B4-BE49-F238E27FC236}">
                <a16:creationId xmlns:a16="http://schemas.microsoft.com/office/drawing/2014/main" id="{D786B5CA-0C43-564F-9E52-57CCE50DE13A}"/>
              </a:ext>
            </a:extLst>
          </p:cNvPr>
          <p:cNvSpPr/>
          <p:nvPr/>
        </p:nvSpPr>
        <p:spPr>
          <a:xfrm>
            <a:off x="751012" y="3946971"/>
            <a:ext cx="576064" cy="2880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736499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08E4-B700-EA4B-BE66-FC36A57C967B}"/>
              </a:ext>
            </a:extLst>
          </p:cNvPr>
          <p:cNvSpPr>
            <a:spLocks noGrp="1"/>
          </p:cNvSpPr>
          <p:nvPr>
            <p:ph type="title"/>
          </p:nvPr>
        </p:nvSpPr>
        <p:spPr/>
        <p:txBody>
          <a:bodyPr/>
          <a:lstStyle/>
          <a:p>
            <a:r>
              <a:rPr lang="en-US"/>
              <a:t>Thuật toán leo đồi – ví dụ</a:t>
            </a:r>
          </a:p>
        </p:txBody>
      </p:sp>
      <p:sp>
        <p:nvSpPr>
          <p:cNvPr id="3" name="Content Placeholder 2">
            <a:extLst>
              <a:ext uri="{FF2B5EF4-FFF2-40B4-BE49-F238E27FC236}">
                <a16:creationId xmlns:a16="http://schemas.microsoft.com/office/drawing/2014/main" id="{A921F578-9582-D54E-BBAF-370F8600C209}"/>
              </a:ext>
            </a:extLst>
          </p:cNvPr>
          <p:cNvSpPr>
            <a:spLocks noGrp="1"/>
          </p:cNvSpPr>
          <p:nvPr>
            <p:ph idx="1"/>
          </p:nvPr>
        </p:nvSpPr>
        <p:spPr>
          <a:xfrm>
            <a:off x="706439" y="1825625"/>
            <a:ext cx="6093246" cy="4530725"/>
          </a:xfrm>
        </p:spPr>
        <p:txBody>
          <a:bodyPr/>
          <a:lstStyle/>
          <a:p>
            <a:pPr marL="0" indent="0">
              <a:lnSpc>
                <a:spcPts val="2800"/>
              </a:lnSpc>
              <a:buNone/>
            </a:pPr>
            <a:r>
              <a:rPr lang="en-US" sz="2400" b="1"/>
              <a:t>Ví dụ minh hoạ 1</a:t>
            </a:r>
            <a:r>
              <a:rPr lang="en-US" sz="2400"/>
              <a:t>: bài toán 8 con hậu </a:t>
            </a:r>
            <a:endParaRPr lang="en-US" sz="2400">
              <a:effectLst/>
            </a:endParaRPr>
          </a:p>
          <a:p>
            <a:pPr>
              <a:lnSpc>
                <a:spcPts val="2800"/>
              </a:lnSpc>
            </a:pPr>
            <a:r>
              <a:rPr lang="vi-VN"/>
              <a:t>Ta sẽ quy định mỗi trạng thái là sắp xếp của cả 8 con hậu trên bàn cờ, sao cho mỗi cột chỉ gồm 1 con </a:t>
            </a:r>
            <a:endParaRPr lang="vi-VN">
              <a:effectLst/>
            </a:endParaRPr>
          </a:p>
          <a:p>
            <a:pPr>
              <a:lnSpc>
                <a:spcPts val="2800"/>
              </a:lnSpc>
            </a:pPr>
            <a:r>
              <a:rPr lang="vi-VN"/>
              <a:t>Trạng thái xuất phát được khởi tạo ngẫu nhiên. </a:t>
            </a:r>
            <a:endParaRPr lang="vi-VN">
              <a:effectLst/>
            </a:endParaRPr>
          </a:p>
          <a:p>
            <a:pPr>
              <a:lnSpc>
                <a:spcPts val="2800"/>
              </a:lnSpc>
            </a:pPr>
            <a:r>
              <a:rPr lang="vi-VN"/>
              <a:t>Hàm mục tiêu là hàm heuristic được tính bằng số các đôi hậu đang đe dọa nhau. </a:t>
            </a:r>
            <a:endParaRPr lang="vi-VN">
              <a:effectLst/>
            </a:endParaRPr>
          </a:p>
          <a:p>
            <a:pPr>
              <a:lnSpc>
                <a:spcPts val="2800"/>
              </a:lnSpc>
            </a:pPr>
            <a:r>
              <a:rPr lang="vi-VN"/>
              <a:t>Trạng thái đích là trạng thái có hàm mục tiêu nhỏ nhất (bằng 0) </a:t>
            </a:r>
            <a:endParaRPr lang="vi-VN">
              <a:effectLst/>
            </a:endParaRPr>
          </a:p>
          <a:p>
            <a:pPr>
              <a:lnSpc>
                <a:spcPts val="2800"/>
              </a:lnSpc>
            </a:pPr>
            <a:endParaRPr lang="vi-VN">
              <a:effectLst/>
            </a:endParaRPr>
          </a:p>
        </p:txBody>
      </p:sp>
      <p:sp>
        <p:nvSpPr>
          <p:cNvPr id="4" name="Slide Number Placeholder 3">
            <a:extLst>
              <a:ext uri="{FF2B5EF4-FFF2-40B4-BE49-F238E27FC236}">
                <a16:creationId xmlns:a16="http://schemas.microsoft.com/office/drawing/2014/main" id="{527D93B9-AFF1-D740-AE87-F27608102DA4}"/>
              </a:ext>
            </a:extLst>
          </p:cNvPr>
          <p:cNvSpPr>
            <a:spLocks noGrp="1"/>
          </p:cNvSpPr>
          <p:nvPr>
            <p:ph type="sldNum" sz="quarter" idx="12"/>
          </p:nvPr>
        </p:nvSpPr>
        <p:spPr/>
        <p:txBody>
          <a:bodyPr/>
          <a:lstStyle/>
          <a:p>
            <a:fld id="{DA8C51A7-BEEA-471D-933F-7E35BC04A30F}" type="slidenum">
              <a:rPr lang="en-US"/>
              <a:pPr/>
              <a:t>17</a:t>
            </a:fld>
            <a:endParaRPr lang="en-US"/>
          </a:p>
        </p:txBody>
      </p:sp>
      <p:pic>
        <p:nvPicPr>
          <p:cNvPr id="7" name="Picture 6">
            <a:extLst>
              <a:ext uri="{FF2B5EF4-FFF2-40B4-BE49-F238E27FC236}">
                <a16:creationId xmlns:a16="http://schemas.microsoft.com/office/drawing/2014/main" id="{025A8A57-3804-894A-8083-CE6D1FFF5D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67562" y="2204864"/>
            <a:ext cx="2079820" cy="2079820"/>
          </a:xfrm>
          <a:prstGeom prst="rect">
            <a:avLst/>
          </a:prstGeom>
        </p:spPr>
      </p:pic>
    </p:spTree>
    <p:extLst>
      <p:ext uri="{BB962C8B-B14F-4D97-AF65-F5344CB8AC3E}">
        <p14:creationId xmlns:p14="http://schemas.microsoft.com/office/powerpoint/2010/main" val="23695994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08E4-B700-EA4B-BE66-FC36A57C967B}"/>
              </a:ext>
            </a:extLst>
          </p:cNvPr>
          <p:cNvSpPr>
            <a:spLocks noGrp="1"/>
          </p:cNvSpPr>
          <p:nvPr>
            <p:ph type="title"/>
          </p:nvPr>
        </p:nvSpPr>
        <p:spPr/>
        <p:txBody>
          <a:bodyPr/>
          <a:lstStyle/>
          <a:p>
            <a:r>
              <a:rPr lang="en-US"/>
              <a:t>Thuật toán leo đồi – ví dụ</a:t>
            </a:r>
          </a:p>
        </p:txBody>
      </p:sp>
      <p:sp>
        <p:nvSpPr>
          <p:cNvPr id="3" name="Content Placeholder 2">
            <a:extLst>
              <a:ext uri="{FF2B5EF4-FFF2-40B4-BE49-F238E27FC236}">
                <a16:creationId xmlns:a16="http://schemas.microsoft.com/office/drawing/2014/main" id="{A921F578-9582-D54E-BBAF-370F8600C209}"/>
              </a:ext>
            </a:extLst>
          </p:cNvPr>
          <p:cNvSpPr>
            <a:spLocks noGrp="1"/>
          </p:cNvSpPr>
          <p:nvPr>
            <p:ph idx="1"/>
          </p:nvPr>
        </p:nvSpPr>
        <p:spPr>
          <a:xfrm>
            <a:off x="706439" y="1825625"/>
            <a:ext cx="5517181" cy="4530725"/>
          </a:xfrm>
        </p:spPr>
        <p:txBody>
          <a:bodyPr/>
          <a:lstStyle/>
          <a:p>
            <a:pPr marL="0" indent="0">
              <a:lnSpc>
                <a:spcPts val="2800"/>
              </a:lnSpc>
              <a:buNone/>
            </a:pPr>
            <a:r>
              <a:rPr lang="vi-VN">
                <a:solidFill>
                  <a:srgbClr val="C00000"/>
                </a:solidFill>
              </a:rPr>
              <a:t>Cách 1: </a:t>
            </a:r>
            <a:r>
              <a:rPr lang="vi-VN"/>
              <a:t>chọn một cột, dịch chuyển quân hậu trong cột đó sang dòng khác. </a:t>
            </a:r>
          </a:p>
          <a:p>
            <a:pPr>
              <a:lnSpc>
                <a:spcPts val="2800"/>
              </a:lnSpc>
            </a:pPr>
            <a:r>
              <a:rPr lang="vi-VN"/>
              <a:t>Với cách chuyển động như vậy, từ mỗi trạng thái có thể sinh ra 7 x 8 = 56 láng giềng. </a:t>
            </a:r>
          </a:p>
          <a:p>
            <a:pPr>
              <a:lnSpc>
                <a:spcPts val="2800"/>
              </a:lnSpc>
            </a:pPr>
            <a:r>
              <a:rPr lang="vi-VN"/>
              <a:t>Với số lượng láng giềng tương đối ít, cách này dễ dẫn tới cực trị địa phương, chẳng hạn trạng thái hình bên có hàm mục tiêu = 2 nhưng tất cả láng giềng đều có hàm mục tiêu lớn hơn và do vậy không tìm được lời giải. </a:t>
            </a:r>
            <a:endParaRPr lang="vi-VN">
              <a:effectLst/>
            </a:endParaRPr>
          </a:p>
          <a:p>
            <a:pPr>
              <a:lnSpc>
                <a:spcPts val="2800"/>
              </a:lnSpc>
            </a:pPr>
            <a:endParaRPr lang="vi-VN">
              <a:effectLst/>
            </a:endParaRPr>
          </a:p>
        </p:txBody>
      </p:sp>
      <p:sp>
        <p:nvSpPr>
          <p:cNvPr id="4" name="Slide Number Placeholder 3">
            <a:extLst>
              <a:ext uri="{FF2B5EF4-FFF2-40B4-BE49-F238E27FC236}">
                <a16:creationId xmlns:a16="http://schemas.microsoft.com/office/drawing/2014/main" id="{527D93B9-AFF1-D740-AE87-F27608102DA4}"/>
              </a:ext>
            </a:extLst>
          </p:cNvPr>
          <p:cNvSpPr>
            <a:spLocks noGrp="1"/>
          </p:cNvSpPr>
          <p:nvPr>
            <p:ph type="sldNum" sz="quarter" idx="12"/>
          </p:nvPr>
        </p:nvSpPr>
        <p:spPr/>
        <p:txBody>
          <a:bodyPr/>
          <a:lstStyle/>
          <a:p>
            <a:fld id="{DA8C51A7-BEEA-471D-933F-7E35BC04A30F}" type="slidenum">
              <a:rPr lang="en-US"/>
              <a:pPr/>
              <a:t>18</a:t>
            </a:fld>
            <a:endParaRPr lang="en-US"/>
          </a:p>
        </p:txBody>
      </p:sp>
      <p:pic>
        <p:nvPicPr>
          <p:cNvPr id="10" name="Picture 9">
            <a:extLst>
              <a:ext uri="{FF2B5EF4-FFF2-40B4-BE49-F238E27FC236}">
                <a16:creationId xmlns:a16="http://schemas.microsoft.com/office/drawing/2014/main" id="{0051F1E6-72A3-AA43-A28F-E4E5ECD580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9644" y="1825625"/>
            <a:ext cx="3416300" cy="3454400"/>
          </a:xfrm>
          <a:prstGeom prst="rect">
            <a:avLst/>
          </a:prstGeom>
        </p:spPr>
      </p:pic>
    </p:spTree>
    <p:extLst>
      <p:ext uri="{BB962C8B-B14F-4D97-AF65-F5344CB8AC3E}">
        <p14:creationId xmlns:p14="http://schemas.microsoft.com/office/powerpoint/2010/main" val="17331215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08E4-B700-EA4B-BE66-FC36A57C967B}"/>
              </a:ext>
            </a:extLst>
          </p:cNvPr>
          <p:cNvSpPr>
            <a:spLocks noGrp="1"/>
          </p:cNvSpPr>
          <p:nvPr>
            <p:ph type="title"/>
          </p:nvPr>
        </p:nvSpPr>
        <p:spPr/>
        <p:txBody>
          <a:bodyPr/>
          <a:lstStyle/>
          <a:p>
            <a:r>
              <a:rPr lang="en-US"/>
              <a:t>Thuật toán leo đồi – ví dụ</a:t>
            </a:r>
          </a:p>
        </p:txBody>
      </p:sp>
      <p:sp>
        <p:nvSpPr>
          <p:cNvPr id="3" name="Content Placeholder 2">
            <a:extLst>
              <a:ext uri="{FF2B5EF4-FFF2-40B4-BE49-F238E27FC236}">
                <a16:creationId xmlns:a16="http://schemas.microsoft.com/office/drawing/2014/main" id="{A921F578-9582-D54E-BBAF-370F8600C209}"/>
              </a:ext>
            </a:extLst>
          </p:cNvPr>
          <p:cNvSpPr>
            <a:spLocks noGrp="1"/>
          </p:cNvSpPr>
          <p:nvPr>
            <p:ph idx="1"/>
          </p:nvPr>
        </p:nvSpPr>
        <p:spPr>
          <a:xfrm>
            <a:off x="706439" y="1825625"/>
            <a:ext cx="5517181" cy="4530725"/>
          </a:xfrm>
        </p:spPr>
        <p:txBody>
          <a:bodyPr/>
          <a:lstStyle/>
          <a:p>
            <a:pPr marL="0" indent="0">
              <a:lnSpc>
                <a:spcPts val="2760"/>
              </a:lnSpc>
              <a:buNone/>
            </a:pPr>
            <a:r>
              <a:rPr lang="vi-VN">
                <a:solidFill>
                  <a:srgbClr val="C00000"/>
                </a:solidFill>
              </a:rPr>
              <a:t>Cách 2: </a:t>
            </a:r>
            <a:r>
              <a:rPr lang="vi-VN"/>
              <a:t>chọn hai cột, dịch chuyển đồng thời mỗi quân hậu trong hai cột đó sang dòng khác với dòng hiện thời </a:t>
            </a:r>
            <a:endParaRPr lang="vi-VN">
              <a:effectLst/>
            </a:endParaRPr>
          </a:p>
          <a:p>
            <a:pPr>
              <a:lnSpc>
                <a:spcPts val="2800"/>
              </a:lnSpc>
            </a:pPr>
            <a:r>
              <a:rPr lang="vi-VN"/>
              <a:t>Cách này tạo ra 7 x 8 + 7 x 7 láng giềng cho mỗi trạng thái. </a:t>
            </a:r>
          </a:p>
          <a:p>
            <a:pPr>
              <a:lnSpc>
                <a:spcPts val="2800"/>
              </a:lnSpc>
            </a:pPr>
            <a:r>
              <a:rPr lang="vi-VN"/>
              <a:t>Mặc dù số lượng láng giềng lớn đòi hỏi mỗi bước lặp phải tính toán nhiều gần gấp đôi so với cách 1 nhưng sẽ ít khả năng dẫn tới cực trị địa phương như trạng thái trên hình.</a:t>
            </a:r>
            <a:endParaRPr lang="vi-VN">
              <a:effectLst/>
            </a:endParaRPr>
          </a:p>
          <a:p>
            <a:pPr>
              <a:lnSpc>
                <a:spcPts val="2800"/>
              </a:lnSpc>
            </a:pPr>
            <a:endParaRPr lang="vi-VN">
              <a:effectLst/>
            </a:endParaRPr>
          </a:p>
          <a:p>
            <a:pPr>
              <a:lnSpc>
                <a:spcPts val="2800"/>
              </a:lnSpc>
            </a:pPr>
            <a:endParaRPr lang="vi-VN">
              <a:effectLst/>
            </a:endParaRPr>
          </a:p>
        </p:txBody>
      </p:sp>
      <p:sp>
        <p:nvSpPr>
          <p:cNvPr id="4" name="Slide Number Placeholder 3">
            <a:extLst>
              <a:ext uri="{FF2B5EF4-FFF2-40B4-BE49-F238E27FC236}">
                <a16:creationId xmlns:a16="http://schemas.microsoft.com/office/drawing/2014/main" id="{527D93B9-AFF1-D740-AE87-F27608102DA4}"/>
              </a:ext>
            </a:extLst>
          </p:cNvPr>
          <p:cNvSpPr>
            <a:spLocks noGrp="1"/>
          </p:cNvSpPr>
          <p:nvPr>
            <p:ph type="sldNum" sz="quarter" idx="12"/>
          </p:nvPr>
        </p:nvSpPr>
        <p:spPr/>
        <p:txBody>
          <a:bodyPr/>
          <a:lstStyle/>
          <a:p>
            <a:fld id="{DA8C51A7-BEEA-471D-933F-7E35BC04A30F}" type="slidenum">
              <a:rPr lang="en-US"/>
              <a:pPr/>
              <a:t>19</a:t>
            </a:fld>
            <a:endParaRPr lang="en-US"/>
          </a:p>
        </p:txBody>
      </p:sp>
      <p:pic>
        <p:nvPicPr>
          <p:cNvPr id="10" name="Picture 9">
            <a:extLst>
              <a:ext uri="{FF2B5EF4-FFF2-40B4-BE49-F238E27FC236}">
                <a16:creationId xmlns:a16="http://schemas.microsoft.com/office/drawing/2014/main" id="{0051F1E6-72A3-AA43-A28F-E4E5ECD580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439644" y="1825625"/>
            <a:ext cx="3416300" cy="3454400"/>
          </a:xfrm>
          <a:prstGeom prst="rect">
            <a:avLst/>
          </a:prstGeom>
        </p:spPr>
      </p:pic>
    </p:spTree>
    <p:extLst>
      <p:ext uri="{BB962C8B-B14F-4D97-AF65-F5344CB8AC3E}">
        <p14:creationId xmlns:p14="http://schemas.microsoft.com/office/powerpoint/2010/main" val="198244909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93EB9-D761-F84E-A50E-E2365E80F5CC}"/>
              </a:ext>
            </a:extLst>
          </p:cNvPr>
          <p:cNvSpPr>
            <a:spLocks noGrp="1"/>
          </p:cNvSpPr>
          <p:nvPr>
            <p:ph type="title"/>
          </p:nvPr>
        </p:nvSpPr>
        <p:spPr/>
        <p:txBody>
          <a:bodyPr/>
          <a:lstStyle/>
          <a:p>
            <a:r>
              <a:rPr lang="en-US"/>
              <a:t>Leo đồi ngẫu nhiên (stochastic hill climbing) </a:t>
            </a:r>
          </a:p>
        </p:txBody>
      </p:sp>
      <p:sp>
        <p:nvSpPr>
          <p:cNvPr id="3" name="Content Placeholder 2">
            <a:extLst>
              <a:ext uri="{FF2B5EF4-FFF2-40B4-BE49-F238E27FC236}">
                <a16:creationId xmlns:a16="http://schemas.microsoft.com/office/drawing/2014/main" id="{EA45C5FA-C517-9E42-956C-ECCA38B351B3}"/>
              </a:ext>
            </a:extLst>
          </p:cNvPr>
          <p:cNvSpPr>
            <a:spLocks noGrp="1"/>
          </p:cNvSpPr>
          <p:nvPr>
            <p:ph idx="1"/>
          </p:nvPr>
        </p:nvSpPr>
        <p:spPr/>
        <p:txBody>
          <a:bodyPr/>
          <a:lstStyle/>
          <a:p>
            <a:pPr>
              <a:lnSpc>
                <a:spcPts val="2800"/>
              </a:lnSpc>
            </a:pPr>
            <a:r>
              <a:rPr lang="vi-VN" i="1"/>
              <a:t>Leo đồi ngẫu nhiên </a:t>
            </a:r>
            <a:r>
              <a:rPr lang="vi-VN"/>
              <a:t>(stochastic hill climbing) là một phiên bản khác của leo đồi </a:t>
            </a:r>
          </a:p>
          <a:p>
            <a:pPr>
              <a:lnSpc>
                <a:spcPts val="2800"/>
              </a:lnSpc>
            </a:pPr>
            <a:r>
              <a:rPr lang="vi-VN"/>
              <a:t>Thay vì tìm ra hàng xóm tốt nhất, phiên bản này lựa chọn ngẫu nhiên một hàng xóm. Nếu hàng xóm đó tốt hơn trạng thái hiện thời, hàng xóm đó sẽ được chọn làm trạng thái hiện thời và thuật toán lặp lại. </a:t>
            </a:r>
          </a:p>
          <a:p>
            <a:pPr>
              <a:lnSpc>
                <a:spcPts val="2800"/>
              </a:lnSpc>
            </a:pPr>
            <a:r>
              <a:rPr lang="vi-VN"/>
              <a:t>Ngược lại, nếu hàng xóm được chọn không tốt hơn, thuật toán sẽ chọn ngẫu nhiên một hàng xóm khác và so sánh. </a:t>
            </a:r>
          </a:p>
          <a:p>
            <a:pPr>
              <a:lnSpc>
                <a:spcPts val="2800"/>
              </a:lnSpc>
            </a:pPr>
            <a:r>
              <a:rPr lang="vi-VN"/>
              <a:t>Thuật toán dừng khi đã chọn hết một số n hàng xóm. (n chọn trước)</a:t>
            </a:r>
            <a:endParaRPr lang="en-US"/>
          </a:p>
        </p:txBody>
      </p:sp>
      <p:sp>
        <p:nvSpPr>
          <p:cNvPr id="4" name="Slide Number Placeholder 3">
            <a:extLst>
              <a:ext uri="{FF2B5EF4-FFF2-40B4-BE49-F238E27FC236}">
                <a16:creationId xmlns:a16="http://schemas.microsoft.com/office/drawing/2014/main" id="{45EB931A-BDB1-4544-84FF-3C67CF1B8341}"/>
              </a:ext>
            </a:extLst>
          </p:cNvPr>
          <p:cNvSpPr>
            <a:spLocks noGrp="1"/>
          </p:cNvSpPr>
          <p:nvPr>
            <p:ph type="sldNum" sz="quarter" idx="12"/>
          </p:nvPr>
        </p:nvSpPr>
        <p:spPr/>
        <p:txBody>
          <a:bodyPr/>
          <a:lstStyle/>
          <a:p>
            <a:fld id="{DA8C51A7-BEEA-471D-933F-7E35BC04A30F}" type="slidenum">
              <a:rPr lang="en-US"/>
              <a:pPr/>
              <a:t>20</a:t>
            </a:fld>
            <a:endParaRPr lang="en-US"/>
          </a:p>
        </p:txBody>
      </p:sp>
    </p:spTree>
    <p:extLst>
      <p:ext uri="{BB962C8B-B14F-4D97-AF65-F5344CB8AC3E}">
        <p14:creationId xmlns:p14="http://schemas.microsoft.com/office/powerpoint/2010/main" val="8587601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D93EB9-D761-F84E-A50E-E2365E80F5CC}"/>
              </a:ext>
            </a:extLst>
          </p:cNvPr>
          <p:cNvSpPr>
            <a:spLocks noGrp="1"/>
          </p:cNvSpPr>
          <p:nvPr>
            <p:ph type="title"/>
          </p:nvPr>
        </p:nvSpPr>
        <p:spPr>
          <a:xfrm>
            <a:off x="727066" y="286297"/>
            <a:ext cx="8874125" cy="1325563"/>
          </a:xfrm>
        </p:spPr>
        <p:txBody>
          <a:bodyPr/>
          <a:lstStyle/>
          <a:p>
            <a:r>
              <a:rPr lang="en-US"/>
              <a:t>Leo đồi ngẫu nhiên (stochastic hill climbing) </a:t>
            </a:r>
          </a:p>
        </p:txBody>
      </p:sp>
      <p:sp>
        <p:nvSpPr>
          <p:cNvPr id="4" name="Slide Number Placeholder 3">
            <a:extLst>
              <a:ext uri="{FF2B5EF4-FFF2-40B4-BE49-F238E27FC236}">
                <a16:creationId xmlns:a16="http://schemas.microsoft.com/office/drawing/2014/main" id="{45EB931A-BDB1-4544-84FF-3C67CF1B8341}"/>
              </a:ext>
            </a:extLst>
          </p:cNvPr>
          <p:cNvSpPr>
            <a:spLocks noGrp="1"/>
          </p:cNvSpPr>
          <p:nvPr>
            <p:ph type="sldNum" sz="quarter" idx="12"/>
          </p:nvPr>
        </p:nvSpPr>
        <p:spPr/>
        <p:txBody>
          <a:bodyPr/>
          <a:lstStyle/>
          <a:p>
            <a:fld id="{DA8C51A7-BEEA-471D-933F-7E35BC04A30F}" type="slidenum">
              <a:rPr lang="en-US"/>
              <a:pPr/>
              <a:t>21</a:t>
            </a:fld>
            <a:endParaRPr lang="en-US"/>
          </a:p>
        </p:txBody>
      </p:sp>
      <p:sp>
        <p:nvSpPr>
          <p:cNvPr id="12" name="Freeform 11">
            <a:extLst>
              <a:ext uri="{FF2B5EF4-FFF2-40B4-BE49-F238E27FC236}">
                <a16:creationId xmlns:a16="http://schemas.microsoft.com/office/drawing/2014/main" id="{E1DD0BA7-6429-CB45-8BEF-B5F9C391D6C5}"/>
              </a:ext>
            </a:extLst>
          </p:cNvPr>
          <p:cNvSpPr/>
          <p:nvPr/>
        </p:nvSpPr>
        <p:spPr>
          <a:xfrm>
            <a:off x="1508341" y="2276872"/>
            <a:ext cx="7311573" cy="3168237"/>
          </a:xfrm>
          <a:custGeom>
            <a:avLst/>
            <a:gdLst>
              <a:gd name="connsiteX0" fmla="*/ 0 w 6017342"/>
              <a:gd name="connsiteY0" fmla="*/ 2462447 h 2904105"/>
              <a:gd name="connsiteX1" fmla="*/ 870155 w 6017342"/>
              <a:gd name="connsiteY1" fmla="*/ 1164589 h 2904105"/>
              <a:gd name="connsiteX2" fmla="*/ 1725562 w 6017342"/>
              <a:gd name="connsiteY2" fmla="*/ 2890150 h 2904105"/>
              <a:gd name="connsiteX3" fmla="*/ 2787446 w 6017342"/>
              <a:gd name="connsiteY3" fmla="*/ 14215 h 2904105"/>
              <a:gd name="connsiteX4" fmla="*/ 4365523 w 6017342"/>
              <a:gd name="connsiteY4" fmla="*/ 1739776 h 2904105"/>
              <a:gd name="connsiteX5" fmla="*/ 5265175 w 6017342"/>
              <a:gd name="connsiteY5" fmla="*/ 663144 h 2904105"/>
              <a:gd name="connsiteX6" fmla="*/ 6017342 w 6017342"/>
              <a:gd name="connsiteY6" fmla="*/ 2196976 h 2904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017342" h="2904105">
                <a:moveTo>
                  <a:pt x="0" y="2462447"/>
                </a:moveTo>
                <a:cubicBezTo>
                  <a:pt x="291280" y="1777876"/>
                  <a:pt x="582561" y="1093305"/>
                  <a:pt x="870155" y="1164589"/>
                </a:cubicBezTo>
                <a:cubicBezTo>
                  <a:pt x="1157749" y="1235873"/>
                  <a:pt x="1406013" y="3081879"/>
                  <a:pt x="1725562" y="2890150"/>
                </a:cubicBezTo>
                <a:cubicBezTo>
                  <a:pt x="2045111" y="2698421"/>
                  <a:pt x="2347453" y="205944"/>
                  <a:pt x="2787446" y="14215"/>
                </a:cubicBezTo>
                <a:cubicBezTo>
                  <a:pt x="3227439" y="-177514"/>
                  <a:pt x="3952568" y="1631621"/>
                  <a:pt x="4365523" y="1739776"/>
                </a:cubicBezTo>
                <a:cubicBezTo>
                  <a:pt x="4778478" y="1847931"/>
                  <a:pt x="4989872" y="586944"/>
                  <a:pt x="5265175" y="663144"/>
                </a:cubicBezTo>
                <a:cubicBezTo>
                  <a:pt x="5540478" y="739344"/>
                  <a:pt x="5778910" y="1468160"/>
                  <a:pt x="6017342" y="2196976"/>
                </a:cubicBezTo>
              </a:path>
            </a:pathLst>
          </a:custGeom>
          <a:noFill/>
          <a:ln w="2857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Oval 12">
            <a:extLst>
              <a:ext uri="{FF2B5EF4-FFF2-40B4-BE49-F238E27FC236}">
                <a16:creationId xmlns:a16="http://schemas.microsoft.com/office/drawing/2014/main" id="{4A70D463-C438-8F4D-91DB-DA30B4713735}"/>
              </a:ext>
            </a:extLst>
          </p:cNvPr>
          <p:cNvSpPr/>
          <p:nvPr/>
        </p:nvSpPr>
        <p:spPr>
          <a:xfrm>
            <a:off x="1759124" y="4091601"/>
            <a:ext cx="144016" cy="143958"/>
          </a:xfrm>
          <a:prstGeom prst="ellipse">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Oval 13">
            <a:extLst>
              <a:ext uri="{FF2B5EF4-FFF2-40B4-BE49-F238E27FC236}">
                <a16:creationId xmlns:a16="http://schemas.microsoft.com/office/drawing/2014/main" id="{5B33FFBE-9AC8-104B-B193-A2A696993668}"/>
              </a:ext>
            </a:extLst>
          </p:cNvPr>
          <p:cNvSpPr/>
          <p:nvPr/>
        </p:nvSpPr>
        <p:spPr>
          <a:xfrm>
            <a:off x="3919364" y="4149138"/>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Oval 14">
            <a:extLst>
              <a:ext uri="{FF2B5EF4-FFF2-40B4-BE49-F238E27FC236}">
                <a16:creationId xmlns:a16="http://schemas.microsoft.com/office/drawing/2014/main" id="{99C404CE-2B6F-574C-8DD3-E2F70FDC6CC7}"/>
              </a:ext>
            </a:extLst>
          </p:cNvPr>
          <p:cNvSpPr/>
          <p:nvPr/>
        </p:nvSpPr>
        <p:spPr>
          <a:xfrm>
            <a:off x="4236976" y="3241058"/>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F3B9902C-AB83-BF44-B587-95A14F2A5A13}"/>
              </a:ext>
            </a:extLst>
          </p:cNvPr>
          <p:cNvSpPr/>
          <p:nvPr/>
        </p:nvSpPr>
        <p:spPr>
          <a:xfrm>
            <a:off x="4423420" y="2636912"/>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Oval 16">
            <a:extLst>
              <a:ext uri="{FF2B5EF4-FFF2-40B4-BE49-F238E27FC236}">
                <a16:creationId xmlns:a16="http://schemas.microsoft.com/office/drawing/2014/main" id="{E67A391E-C1D9-4746-9C31-FD57B61B1E8B}"/>
              </a:ext>
            </a:extLst>
          </p:cNvPr>
          <p:cNvSpPr/>
          <p:nvPr/>
        </p:nvSpPr>
        <p:spPr>
          <a:xfrm>
            <a:off x="5503540" y="2542046"/>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Oval 17">
            <a:extLst>
              <a:ext uri="{FF2B5EF4-FFF2-40B4-BE49-F238E27FC236}">
                <a16:creationId xmlns:a16="http://schemas.microsoft.com/office/drawing/2014/main" id="{0C34E643-2C5F-C34D-B4B7-36243104CD82}"/>
              </a:ext>
            </a:extLst>
          </p:cNvPr>
          <p:cNvSpPr/>
          <p:nvPr/>
        </p:nvSpPr>
        <p:spPr>
          <a:xfrm>
            <a:off x="5791572" y="2924944"/>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Oval 18">
            <a:extLst>
              <a:ext uri="{FF2B5EF4-FFF2-40B4-BE49-F238E27FC236}">
                <a16:creationId xmlns:a16="http://schemas.microsoft.com/office/drawing/2014/main" id="{E1BB6CE7-445F-3043-94AF-0923751B8523}"/>
              </a:ext>
            </a:extLst>
          </p:cNvPr>
          <p:cNvSpPr/>
          <p:nvPr/>
        </p:nvSpPr>
        <p:spPr>
          <a:xfrm>
            <a:off x="6193636" y="3444956"/>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A39A7D8-3F4D-0F48-B644-BBCFFE2FAD1F}"/>
              </a:ext>
            </a:extLst>
          </p:cNvPr>
          <p:cNvSpPr/>
          <p:nvPr/>
        </p:nvSpPr>
        <p:spPr>
          <a:xfrm>
            <a:off x="7303740" y="3434034"/>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Oval 20">
            <a:extLst>
              <a:ext uri="{FF2B5EF4-FFF2-40B4-BE49-F238E27FC236}">
                <a16:creationId xmlns:a16="http://schemas.microsoft.com/office/drawing/2014/main" id="{0540984D-0505-1749-8AE7-EA6259570DBE}"/>
              </a:ext>
            </a:extLst>
          </p:cNvPr>
          <p:cNvSpPr/>
          <p:nvPr/>
        </p:nvSpPr>
        <p:spPr>
          <a:xfrm>
            <a:off x="8747906" y="4295499"/>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C82EF0BC-6773-7B46-AAFA-A234F6A22383}"/>
              </a:ext>
            </a:extLst>
          </p:cNvPr>
          <p:cNvSpPr/>
          <p:nvPr/>
        </p:nvSpPr>
        <p:spPr>
          <a:xfrm>
            <a:off x="8404951" y="3569754"/>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Oval 22">
            <a:extLst>
              <a:ext uri="{FF2B5EF4-FFF2-40B4-BE49-F238E27FC236}">
                <a16:creationId xmlns:a16="http://schemas.microsoft.com/office/drawing/2014/main" id="{34BD0489-BF90-B645-841F-2CF3D174569E}"/>
              </a:ext>
            </a:extLst>
          </p:cNvPr>
          <p:cNvSpPr/>
          <p:nvPr/>
        </p:nvSpPr>
        <p:spPr>
          <a:xfrm>
            <a:off x="4927476" y="2143804"/>
            <a:ext cx="144016" cy="143958"/>
          </a:xfrm>
          <a:prstGeom prst="ellipse">
            <a:avLst/>
          </a:prstGeom>
          <a:solidFill>
            <a:srgbClr val="26902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7" name="Straight Arrow Connector 26">
            <a:extLst>
              <a:ext uri="{FF2B5EF4-FFF2-40B4-BE49-F238E27FC236}">
                <a16:creationId xmlns:a16="http://schemas.microsoft.com/office/drawing/2014/main" id="{BC5F8339-C758-7A41-BB31-4E5A40F6044C}"/>
              </a:ext>
            </a:extLst>
          </p:cNvPr>
          <p:cNvCxnSpPr>
            <a:stCxn id="13" idx="6"/>
            <a:endCxn id="16" idx="2"/>
          </p:cNvCxnSpPr>
          <p:nvPr/>
        </p:nvCxnSpPr>
        <p:spPr>
          <a:xfrm flipV="1">
            <a:off x="1903140" y="2708891"/>
            <a:ext cx="2520280" cy="1454689"/>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63AFEF0-8BAF-9540-9A7D-06B35C6BB985}"/>
              </a:ext>
            </a:extLst>
          </p:cNvPr>
          <p:cNvCxnSpPr>
            <a:cxnSpLocks/>
            <a:stCxn id="13" idx="6"/>
            <a:endCxn id="15" idx="2"/>
          </p:cNvCxnSpPr>
          <p:nvPr/>
        </p:nvCxnSpPr>
        <p:spPr>
          <a:xfrm flipV="1">
            <a:off x="1903140" y="3313037"/>
            <a:ext cx="2333836" cy="850543"/>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7F0ECF49-F473-B94D-9DDB-1A201C91C5E6}"/>
              </a:ext>
            </a:extLst>
          </p:cNvPr>
          <p:cNvCxnSpPr>
            <a:cxnSpLocks/>
            <a:stCxn id="13" idx="6"/>
            <a:endCxn id="17" idx="2"/>
          </p:cNvCxnSpPr>
          <p:nvPr/>
        </p:nvCxnSpPr>
        <p:spPr>
          <a:xfrm flipV="1">
            <a:off x="1903140" y="2614025"/>
            <a:ext cx="3600400" cy="1549555"/>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37" name="Straight Arrow Connector 36">
            <a:extLst>
              <a:ext uri="{FF2B5EF4-FFF2-40B4-BE49-F238E27FC236}">
                <a16:creationId xmlns:a16="http://schemas.microsoft.com/office/drawing/2014/main" id="{532582FD-B0E2-1648-BB20-376F02B05DB6}"/>
              </a:ext>
            </a:extLst>
          </p:cNvPr>
          <p:cNvCxnSpPr>
            <a:cxnSpLocks/>
          </p:cNvCxnSpPr>
          <p:nvPr/>
        </p:nvCxnSpPr>
        <p:spPr>
          <a:xfrm>
            <a:off x="1903140" y="4163580"/>
            <a:ext cx="2016224" cy="1"/>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9B9849A5-5DB4-6F4F-A4F6-06A5AF004866}"/>
              </a:ext>
            </a:extLst>
          </p:cNvPr>
          <p:cNvCxnSpPr>
            <a:cxnSpLocks/>
            <a:stCxn id="13" idx="6"/>
            <a:endCxn id="19" idx="2"/>
          </p:cNvCxnSpPr>
          <p:nvPr/>
        </p:nvCxnSpPr>
        <p:spPr>
          <a:xfrm flipV="1">
            <a:off x="1903140" y="3516935"/>
            <a:ext cx="4290496" cy="646645"/>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A3C8A27E-176F-BE4C-8857-2AF87141657F}"/>
              </a:ext>
            </a:extLst>
          </p:cNvPr>
          <p:cNvCxnSpPr>
            <a:cxnSpLocks/>
            <a:stCxn id="13" idx="6"/>
            <a:endCxn id="18" idx="2"/>
          </p:cNvCxnSpPr>
          <p:nvPr/>
        </p:nvCxnSpPr>
        <p:spPr>
          <a:xfrm flipV="1">
            <a:off x="1903140" y="2996923"/>
            <a:ext cx="3888432" cy="1166657"/>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8E9C15DE-FE86-2F44-8240-111CAE4C3F1A}"/>
              </a:ext>
            </a:extLst>
          </p:cNvPr>
          <p:cNvCxnSpPr>
            <a:cxnSpLocks/>
            <a:stCxn id="13" idx="6"/>
            <a:endCxn id="23" idx="2"/>
          </p:cNvCxnSpPr>
          <p:nvPr/>
        </p:nvCxnSpPr>
        <p:spPr>
          <a:xfrm flipV="1">
            <a:off x="1903140" y="2215783"/>
            <a:ext cx="3024336" cy="1947797"/>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D59898B3-1156-BE4D-AEC2-F5FDD71E12DB}"/>
              </a:ext>
            </a:extLst>
          </p:cNvPr>
          <p:cNvCxnSpPr>
            <a:cxnSpLocks/>
            <a:stCxn id="13" idx="6"/>
            <a:endCxn id="20" idx="2"/>
          </p:cNvCxnSpPr>
          <p:nvPr/>
        </p:nvCxnSpPr>
        <p:spPr>
          <a:xfrm flipV="1">
            <a:off x="1903140" y="3506013"/>
            <a:ext cx="5400600" cy="657567"/>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5C7F63B9-1E43-004D-89D8-EDC3D74CD3B9}"/>
              </a:ext>
            </a:extLst>
          </p:cNvPr>
          <p:cNvCxnSpPr>
            <a:cxnSpLocks/>
            <a:stCxn id="13" idx="6"/>
            <a:endCxn id="21" idx="2"/>
          </p:cNvCxnSpPr>
          <p:nvPr/>
        </p:nvCxnSpPr>
        <p:spPr>
          <a:xfrm>
            <a:off x="1903140" y="4163580"/>
            <a:ext cx="6844766" cy="203898"/>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1EBA474D-4327-E641-9C2A-8BD3FA17E5C7}"/>
              </a:ext>
            </a:extLst>
          </p:cNvPr>
          <p:cNvCxnSpPr>
            <a:cxnSpLocks/>
            <a:stCxn id="13" idx="6"/>
            <a:endCxn id="22" idx="3"/>
          </p:cNvCxnSpPr>
          <p:nvPr/>
        </p:nvCxnSpPr>
        <p:spPr>
          <a:xfrm flipV="1">
            <a:off x="1903140" y="3692630"/>
            <a:ext cx="6522902" cy="470950"/>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64" name="Oval 63">
            <a:extLst>
              <a:ext uri="{FF2B5EF4-FFF2-40B4-BE49-F238E27FC236}">
                <a16:creationId xmlns:a16="http://schemas.microsoft.com/office/drawing/2014/main" id="{0E290F40-8012-B349-A2B4-F1D2CC464757}"/>
              </a:ext>
            </a:extLst>
          </p:cNvPr>
          <p:cNvSpPr/>
          <p:nvPr/>
        </p:nvSpPr>
        <p:spPr>
          <a:xfrm>
            <a:off x="7807796" y="2842540"/>
            <a:ext cx="144016" cy="143958"/>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65" name="Straight Arrow Connector 64">
            <a:extLst>
              <a:ext uri="{FF2B5EF4-FFF2-40B4-BE49-F238E27FC236}">
                <a16:creationId xmlns:a16="http://schemas.microsoft.com/office/drawing/2014/main" id="{885EE218-3370-4C4F-AA62-5FEBF40126E1}"/>
              </a:ext>
            </a:extLst>
          </p:cNvPr>
          <p:cNvCxnSpPr>
            <a:cxnSpLocks/>
            <a:stCxn id="13" idx="6"/>
            <a:endCxn id="64" idx="3"/>
          </p:cNvCxnSpPr>
          <p:nvPr/>
        </p:nvCxnSpPr>
        <p:spPr>
          <a:xfrm flipV="1">
            <a:off x="1903140" y="2965416"/>
            <a:ext cx="5925747" cy="1198164"/>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81" name="Oval 80">
            <a:extLst>
              <a:ext uri="{FF2B5EF4-FFF2-40B4-BE49-F238E27FC236}">
                <a16:creationId xmlns:a16="http://schemas.microsoft.com/office/drawing/2014/main" id="{24DE4DF6-52CF-A440-889A-31CFAFC36D0C}"/>
              </a:ext>
            </a:extLst>
          </p:cNvPr>
          <p:cNvSpPr/>
          <p:nvPr/>
        </p:nvSpPr>
        <p:spPr>
          <a:xfrm>
            <a:off x="2479204" y="3421779"/>
            <a:ext cx="144016" cy="143958"/>
          </a:xfrm>
          <a:prstGeom prst="ellipse">
            <a:avLst/>
          </a:pr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82" name="Straight Arrow Connector 81">
            <a:extLst>
              <a:ext uri="{FF2B5EF4-FFF2-40B4-BE49-F238E27FC236}">
                <a16:creationId xmlns:a16="http://schemas.microsoft.com/office/drawing/2014/main" id="{2EAD8E35-6941-8842-B1B2-B77D9A4BD00E}"/>
              </a:ext>
            </a:extLst>
          </p:cNvPr>
          <p:cNvCxnSpPr>
            <a:cxnSpLocks/>
            <a:stCxn id="13" idx="6"/>
            <a:endCxn id="81" idx="2"/>
          </p:cNvCxnSpPr>
          <p:nvPr/>
        </p:nvCxnSpPr>
        <p:spPr>
          <a:xfrm flipV="1">
            <a:off x="1903140" y="3493758"/>
            <a:ext cx="576064" cy="669822"/>
          </a:xfrm>
          <a:prstGeom prst="straightConnector1">
            <a:avLst/>
          </a:prstGeom>
          <a:ln>
            <a:prstDash val="sysDash"/>
            <a:tailEnd type="triangle"/>
          </a:ln>
        </p:spPr>
        <p:style>
          <a:lnRef idx="1">
            <a:schemeClr val="accent1"/>
          </a:lnRef>
          <a:fillRef idx="0">
            <a:schemeClr val="accent1"/>
          </a:fillRef>
          <a:effectRef idx="0">
            <a:schemeClr val="accent1"/>
          </a:effectRef>
          <a:fontRef idx="minor">
            <a:schemeClr val="tx1"/>
          </a:fontRef>
        </p:style>
      </p:cxnSp>
      <p:sp>
        <p:nvSpPr>
          <p:cNvPr id="87" name="TextBox 86">
            <a:extLst>
              <a:ext uri="{FF2B5EF4-FFF2-40B4-BE49-F238E27FC236}">
                <a16:creationId xmlns:a16="http://schemas.microsoft.com/office/drawing/2014/main" id="{2CD243F3-C428-F042-AF93-547C4E7B2D61}"/>
              </a:ext>
            </a:extLst>
          </p:cNvPr>
          <p:cNvSpPr txBox="1"/>
          <p:nvPr/>
        </p:nvSpPr>
        <p:spPr>
          <a:xfrm>
            <a:off x="410608" y="3404624"/>
            <a:ext cx="1240504" cy="646331"/>
          </a:xfrm>
          <a:prstGeom prst="rect">
            <a:avLst/>
          </a:prstGeom>
          <a:noFill/>
        </p:spPr>
        <p:txBody>
          <a:bodyPr wrap="square" rtlCol="0">
            <a:spAutoFit/>
          </a:bodyPr>
          <a:lstStyle/>
          <a:p>
            <a:pPr algn="ctr"/>
            <a:r>
              <a:rPr lang="en-US"/>
              <a:t>Trạng thái bắt đầu</a:t>
            </a:r>
          </a:p>
        </p:txBody>
      </p:sp>
      <p:cxnSp>
        <p:nvCxnSpPr>
          <p:cNvPr id="89" name="Straight Arrow Connector 88">
            <a:extLst>
              <a:ext uri="{FF2B5EF4-FFF2-40B4-BE49-F238E27FC236}">
                <a16:creationId xmlns:a16="http://schemas.microsoft.com/office/drawing/2014/main" id="{240B303A-C539-4640-8C09-1A3F6B4A20AC}"/>
              </a:ext>
            </a:extLst>
          </p:cNvPr>
          <p:cNvCxnSpPr>
            <a:stCxn id="87" idx="2"/>
            <a:endCxn id="13" idx="2"/>
          </p:cNvCxnSpPr>
          <p:nvPr/>
        </p:nvCxnSpPr>
        <p:spPr>
          <a:xfrm>
            <a:off x="1030860" y="4050955"/>
            <a:ext cx="728264" cy="112625"/>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0" name="TextBox 89">
            <a:extLst>
              <a:ext uri="{FF2B5EF4-FFF2-40B4-BE49-F238E27FC236}">
                <a16:creationId xmlns:a16="http://schemas.microsoft.com/office/drawing/2014/main" id="{B7F9C5D2-1BF6-6344-B84A-34D2429EFDF7}"/>
              </a:ext>
            </a:extLst>
          </p:cNvPr>
          <p:cNvSpPr txBox="1"/>
          <p:nvPr/>
        </p:nvSpPr>
        <p:spPr>
          <a:xfrm>
            <a:off x="1327076" y="1992318"/>
            <a:ext cx="1240504" cy="646331"/>
          </a:xfrm>
          <a:prstGeom prst="rect">
            <a:avLst/>
          </a:prstGeom>
          <a:solidFill>
            <a:srgbClr val="FFC000"/>
          </a:solidFill>
          <a:ln>
            <a:noFill/>
          </a:ln>
        </p:spPr>
        <p:txBody>
          <a:bodyPr wrap="square" rtlCol="0">
            <a:spAutoFit/>
          </a:bodyPr>
          <a:lstStyle/>
          <a:p>
            <a:pPr algn="ctr"/>
            <a:r>
              <a:rPr lang="en-US"/>
              <a:t>Cực trị địa phương</a:t>
            </a:r>
          </a:p>
        </p:txBody>
      </p:sp>
      <p:cxnSp>
        <p:nvCxnSpPr>
          <p:cNvPr id="91" name="Straight Arrow Connector 90">
            <a:extLst>
              <a:ext uri="{FF2B5EF4-FFF2-40B4-BE49-F238E27FC236}">
                <a16:creationId xmlns:a16="http://schemas.microsoft.com/office/drawing/2014/main" id="{4C5931A2-C5FD-0C4F-8AC2-5CDA3116D247}"/>
              </a:ext>
            </a:extLst>
          </p:cNvPr>
          <p:cNvCxnSpPr>
            <a:cxnSpLocks/>
            <a:stCxn id="90" idx="2"/>
            <a:endCxn id="81" idx="1"/>
          </p:cNvCxnSpPr>
          <p:nvPr/>
        </p:nvCxnSpPr>
        <p:spPr>
          <a:xfrm>
            <a:off x="1947328" y="2638649"/>
            <a:ext cx="552967" cy="804212"/>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4" name="TextBox 93">
            <a:extLst>
              <a:ext uri="{FF2B5EF4-FFF2-40B4-BE49-F238E27FC236}">
                <a16:creationId xmlns:a16="http://schemas.microsoft.com/office/drawing/2014/main" id="{AE86D4F7-4D42-E447-BF62-8F4EE01D3FFF}"/>
              </a:ext>
            </a:extLst>
          </p:cNvPr>
          <p:cNvSpPr txBox="1"/>
          <p:nvPr/>
        </p:nvSpPr>
        <p:spPr>
          <a:xfrm>
            <a:off x="3214257" y="1339269"/>
            <a:ext cx="1240504" cy="646331"/>
          </a:xfrm>
          <a:prstGeom prst="rect">
            <a:avLst/>
          </a:prstGeom>
          <a:solidFill>
            <a:srgbClr val="FFC000"/>
          </a:solidFill>
          <a:ln>
            <a:noFill/>
          </a:ln>
        </p:spPr>
        <p:txBody>
          <a:bodyPr wrap="square" rtlCol="0">
            <a:spAutoFit/>
          </a:bodyPr>
          <a:lstStyle/>
          <a:p>
            <a:pPr algn="ctr"/>
            <a:r>
              <a:rPr lang="en-US"/>
              <a:t>Cực trị toàn cục</a:t>
            </a:r>
          </a:p>
        </p:txBody>
      </p:sp>
      <p:cxnSp>
        <p:nvCxnSpPr>
          <p:cNvPr id="95" name="Straight Arrow Connector 94">
            <a:extLst>
              <a:ext uri="{FF2B5EF4-FFF2-40B4-BE49-F238E27FC236}">
                <a16:creationId xmlns:a16="http://schemas.microsoft.com/office/drawing/2014/main" id="{C38D7AC4-08F2-0442-8966-E8C6BC9D6156}"/>
              </a:ext>
            </a:extLst>
          </p:cNvPr>
          <p:cNvCxnSpPr>
            <a:cxnSpLocks/>
            <a:stCxn id="94" idx="2"/>
            <a:endCxn id="23" idx="2"/>
          </p:cNvCxnSpPr>
          <p:nvPr/>
        </p:nvCxnSpPr>
        <p:spPr>
          <a:xfrm>
            <a:off x="3834509" y="1985600"/>
            <a:ext cx="1092967" cy="230183"/>
          </a:xfrm>
          <a:prstGeom prst="straightConnector1">
            <a:avLst/>
          </a:prstGeom>
          <a:ln w="2857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97" name="TextBox 96">
            <a:extLst>
              <a:ext uri="{FF2B5EF4-FFF2-40B4-BE49-F238E27FC236}">
                <a16:creationId xmlns:a16="http://schemas.microsoft.com/office/drawing/2014/main" id="{A71DD420-69E9-E04E-8858-FCC34D03C0C4}"/>
              </a:ext>
            </a:extLst>
          </p:cNvPr>
          <p:cNvSpPr txBox="1"/>
          <p:nvPr/>
        </p:nvSpPr>
        <p:spPr>
          <a:xfrm>
            <a:off x="6588382" y="1523487"/>
            <a:ext cx="1837659" cy="372927"/>
          </a:xfrm>
          <a:prstGeom prst="rect">
            <a:avLst/>
          </a:prstGeom>
          <a:solidFill>
            <a:srgbClr val="FFC000"/>
          </a:solidFill>
          <a:ln>
            <a:noFill/>
          </a:ln>
        </p:spPr>
        <p:txBody>
          <a:bodyPr wrap="square" rtlCol="0">
            <a:spAutoFit/>
          </a:bodyPr>
          <a:lstStyle/>
          <a:p>
            <a:pPr algn="ctr"/>
            <a:r>
              <a:rPr lang="en-US"/>
              <a:t>Các hàng xóm</a:t>
            </a:r>
          </a:p>
        </p:txBody>
      </p:sp>
      <p:cxnSp>
        <p:nvCxnSpPr>
          <p:cNvPr id="98" name="Straight Arrow Connector 97">
            <a:extLst>
              <a:ext uri="{FF2B5EF4-FFF2-40B4-BE49-F238E27FC236}">
                <a16:creationId xmlns:a16="http://schemas.microsoft.com/office/drawing/2014/main" id="{804512EA-4E98-B843-A4A4-E46072D68684}"/>
              </a:ext>
            </a:extLst>
          </p:cNvPr>
          <p:cNvCxnSpPr>
            <a:cxnSpLocks/>
            <a:stCxn id="97" idx="2"/>
            <a:endCxn id="20" idx="1"/>
          </p:cNvCxnSpPr>
          <p:nvPr/>
        </p:nvCxnSpPr>
        <p:spPr>
          <a:xfrm flipH="1">
            <a:off x="7324831" y="1896414"/>
            <a:ext cx="182381" cy="1558702"/>
          </a:xfrm>
          <a:prstGeom prst="straightConnector1">
            <a:avLst/>
          </a:prstGeom>
          <a:ln w="222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3" name="Straight Arrow Connector 102">
            <a:extLst>
              <a:ext uri="{FF2B5EF4-FFF2-40B4-BE49-F238E27FC236}">
                <a16:creationId xmlns:a16="http://schemas.microsoft.com/office/drawing/2014/main" id="{5332FB78-C5A0-904F-A403-66DE77BCE990}"/>
              </a:ext>
            </a:extLst>
          </p:cNvPr>
          <p:cNvCxnSpPr>
            <a:cxnSpLocks/>
            <a:stCxn id="97" idx="2"/>
            <a:endCxn id="64" idx="0"/>
          </p:cNvCxnSpPr>
          <p:nvPr/>
        </p:nvCxnSpPr>
        <p:spPr>
          <a:xfrm>
            <a:off x="7507212" y="1896414"/>
            <a:ext cx="372592" cy="946126"/>
          </a:xfrm>
          <a:prstGeom prst="straightConnector1">
            <a:avLst/>
          </a:prstGeom>
          <a:ln w="222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6" name="Straight Arrow Connector 105">
            <a:extLst>
              <a:ext uri="{FF2B5EF4-FFF2-40B4-BE49-F238E27FC236}">
                <a16:creationId xmlns:a16="http://schemas.microsoft.com/office/drawing/2014/main" id="{7BFC3DA1-5A19-1847-B4C3-0FC105070CEF}"/>
              </a:ext>
            </a:extLst>
          </p:cNvPr>
          <p:cNvCxnSpPr>
            <a:cxnSpLocks/>
            <a:stCxn id="97" idx="2"/>
            <a:endCxn id="17" idx="7"/>
          </p:cNvCxnSpPr>
          <p:nvPr/>
        </p:nvCxnSpPr>
        <p:spPr>
          <a:xfrm flipH="1">
            <a:off x="5626465" y="1896414"/>
            <a:ext cx="1880747" cy="666714"/>
          </a:xfrm>
          <a:prstGeom prst="straightConnector1">
            <a:avLst/>
          </a:prstGeom>
          <a:ln w="222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7" name="Straight Arrow Connector 106">
            <a:extLst>
              <a:ext uri="{FF2B5EF4-FFF2-40B4-BE49-F238E27FC236}">
                <a16:creationId xmlns:a16="http://schemas.microsoft.com/office/drawing/2014/main" id="{98C1DD70-3D83-F843-9343-6D0D363F3646}"/>
              </a:ext>
            </a:extLst>
          </p:cNvPr>
          <p:cNvCxnSpPr>
            <a:cxnSpLocks/>
            <a:stCxn id="97" idx="2"/>
            <a:endCxn id="22" idx="1"/>
          </p:cNvCxnSpPr>
          <p:nvPr/>
        </p:nvCxnSpPr>
        <p:spPr>
          <a:xfrm>
            <a:off x="7507212" y="1896414"/>
            <a:ext cx="918830" cy="1694422"/>
          </a:xfrm>
          <a:prstGeom prst="straightConnector1">
            <a:avLst/>
          </a:prstGeom>
          <a:ln w="22225">
            <a:solidFill>
              <a:schemeClr val="accent2">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 name="TextBox 2">
            <a:extLst>
              <a:ext uri="{FF2B5EF4-FFF2-40B4-BE49-F238E27FC236}">
                <a16:creationId xmlns:a16="http://schemas.microsoft.com/office/drawing/2014/main" id="{73C15305-E57F-994E-9019-3A02B6B8A1E2}"/>
              </a:ext>
            </a:extLst>
          </p:cNvPr>
          <p:cNvSpPr txBox="1"/>
          <p:nvPr/>
        </p:nvSpPr>
        <p:spPr>
          <a:xfrm>
            <a:off x="667059" y="5858286"/>
            <a:ext cx="3801041" cy="369332"/>
          </a:xfrm>
          <a:prstGeom prst="rect">
            <a:avLst/>
          </a:prstGeom>
          <a:noFill/>
        </p:spPr>
        <p:txBody>
          <a:bodyPr wrap="none" rtlCol="0">
            <a:spAutoFit/>
          </a:bodyPr>
          <a:lstStyle/>
          <a:p>
            <a:r>
              <a:rPr lang="en-US"/>
              <a:t>Mô tả thuât toán leo đồi ngẫu nhiên</a:t>
            </a:r>
          </a:p>
        </p:txBody>
      </p:sp>
      <p:sp>
        <p:nvSpPr>
          <p:cNvPr id="5" name="TextBox 4">
            <a:extLst>
              <a:ext uri="{FF2B5EF4-FFF2-40B4-BE49-F238E27FC236}">
                <a16:creationId xmlns:a16="http://schemas.microsoft.com/office/drawing/2014/main" id="{F15A0BE2-041B-3A41-840D-30A9C57EA27B}"/>
              </a:ext>
            </a:extLst>
          </p:cNvPr>
          <p:cNvSpPr txBox="1"/>
          <p:nvPr/>
        </p:nvSpPr>
        <p:spPr>
          <a:xfrm>
            <a:off x="4475347" y="5072648"/>
            <a:ext cx="3130985" cy="369332"/>
          </a:xfrm>
          <a:prstGeom prst="rect">
            <a:avLst/>
          </a:prstGeom>
          <a:noFill/>
        </p:spPr>
        <p:txBody>
          <a:bodyPr wrap="none" rtlCol="0">
            <a:spAutoFit/>
          </a:bodyPr>
          <a:lstStyle/>
          <a:p>
            <a:r>
              <a:rPr lang="en-US"/>
              <a:t>Lần lượt thăm các hàng xóm</a:t>
            </a:r>
          </a:p>
        </p:txBody>
      </p:sp>
    </p:spTree>
    <p:extLst>
      <p:ext uri="{BB962C8B-B14F-4D97-AF65-F5344CB8AC3E}">
        <p14:creationId xmlns:p14="http://schemas.microsoft.com/office/powerpoint/2010/main" val="17422426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8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8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37"/>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14"/>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52"/>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51"/>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50"/>
                                        </p:tgtEl>
                                        <p:attrNameLst>
                                          <p:attrName>style.visibility</p:attrName>
                                        </p:attrNameLst>
                                      </p:cBhvr>
                                      <p:to>
                                        <p:strVal val="visible"/>
                                      </p:to>
                                    </p:set>
                                  </p:childTnLst>
                                </p:cTn>
                              </p:par>
                              <p:par>
                                <p:cTn id="38" presetID="1" presetClass="entr" presetSubtype="0" fill="hold" grpId="0" nodeType="withEffect">
                                  <p:stCondLst>
                                    <p:cond delay="0"/>
                                  </p:stCondLst>
                                  <p:childTnLst>
                                    <p:set>
                                      <p:cBhvr>
                                        <p:cTn id="39" dur="1" fill="hold">
                                          <p:stCondLst>
                                            <p:cond delay="0"/>
                                          </p:stCondLst>
                                        </p:cTn>
                                        <p:tgtEl>
                                          <p:spTgt spid="20"/>
                                        </p:tgtEl>
                                        <p:attrNameLst>
                                          <p:attrName>style.visibility</p:attrName>
                                        </p:attrNameLst>
                                      </p:cBhvr>
                                      <p:to>
                                        <p:strVal val="visible"/>
                                      </p:to>
                                    </p:set>
                                  </p:childTnLst>
                                </p:cTn>
                              </p:par>
                            </p:childTnLst>
                          </p:cTn>
                        </p:par>
                      </p:childTnLst>
                    </p:cTn>
                  </p:par>
                  <p:par>
                    <p:cTn id="40" fill="hold">
                      <p:stCondLst>
                        <p:cond delay="indefinite"/>
                      </p:stCondLst>
                      <p:childTnLst>
                        <p:par>
                          <p:cTn id="41" fill="hold">
                            <p:stCondLst>
                              <p:cond delay="0"/>
                            </p:stCondLst>
                            <p:childTnLst>
                              <p:par>
                                <p:cTn id="42" presetID="1" presetClass="entr" presetSubtype="0" fill="hold" nodeType="clickEffect">
                                  <p:stCondLst>
                                    <p:cond delay="0"/>
                                  </p:stCondLst>
                                  <p:childTnLst>
                                    <p:set>
                                      <p:cBhvr>
                                        <p:cTn id="43" dur="1" fill="hold">
                                          <p:stCondLst>
                                            <p:cond delay="0"/>
                                          </p:stCondLst>
                                        </p:cTn>
                                        <p:tgtEl>
                                          <p:spTgt spid="65"/>
                                        </p:tgtEl>
                                        <p:attrNameLst>
                                          <p:attrName>style.visibility</p:attrName>
                                        </p:attrNameLst>
                                      </p:cBhvr>
                                      <p:to>
                                        <p:strVal val="visible"/>
                                      </p:to>
                                    </p:set>
                                  </p:childTnLst>
                                </p:cTn>
                              </p:par>
                              <p:par>
                                <p:cTn id="44" presetID="1" presetClass="entr" presetSubtype="0" fill="hold" grpId="0" nodeType="withEffect">
                                  <p:stCondLst>
                                    <p:cond delay="0"/>
                                  </p:stCondLst>
                                  <p:childTnLst>
                                    <p:set>
                                      <p:cBhvr>
                                        <p:cTn id="45" dur="1" fill="hold">
                                          <p:stCondLst>
                                            <p:cond delay="0"/>
                                          </p:stCondLst>
                                        </p:cTn>
                                        <p:tgtEl>
                                          <p:spTgt spid="64"/>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 presetClass="entr" presetSubtype="0" fill="hold" nodeType="clickEffect">
                                  <p:stCondLst>
                                    <p:cond delay="0"/>
                                  </p:stCondLst>
                                  <p:childTnLst>
                                    <p:set>
                                      <p:cBhvr>
                                        <p:cTn id="49" dur="1" fill="hold">
                                          <p:stCondLst>
                                            <p:cond delay="0"/>
                                          </p:stCondLst>
                                        </p:cTn>
                                        <p:tgtEl>
                                          <p:spTgt spid="43"/>
                                        </p:tgtEl>
                                        <p:attrNameLst>
                                          <p:attrName>style.visibility</p:attrName>
                                        </p:attrNameLst>
                                      </p:cBhvr>
                                      <p:to>
                                        <p:strVal val="visible"/>
                                      </p:to>
                                    </p:set>
                                  </p:childTnLst>
                                </p:cTn>
                              </p:par>
                              <p:par>
                                <p:cTn id="50" presetID="1" presetClass="entr" presetSubtype="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nodeType="clickEffect">
                                  <p:stCondLst>
                                    <p:cond delay="0"/>
                                  </p:stCondLst>
                                  <p:childTnLst>
                                    <p:set>
                                      <p:cBhvr>
                                        <p:cTn id="55" dur="1" fill="hold">
                                          <p:stCondLst>
                                            <p:cond delay="0"/>
                                          </p:stCondLst>
                                        </p:cTn>
                                        <p:tgtEl>
                                          <p:spTgt spid="42"/>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9"/>
                                        </p:tgtEl>
                                        <p:attrNameLst>
                                          <p:attrName>style.visibility</p:attrName>
                                        </p:attrNameLst>
                                      </p:cBhvr>
                                      <p:to>
                                        <p:strVal val="visible"/>
                                      </p:to>
                                    </p:set>
                                  </p:childTnLst>
                                </p:cTn>
                              </p:par>
                            </p:childTnLst>
                          </p:cTn>
                        </p:par>
                      </p:childTnLst>
                    </p:cTn>
                  </p:par>
                  <p:par>
                    <p:cTn id="58" fill="hold">
                      <p:stCondLst>
                        <p:cond delay="indefinite"/>
                      </p:stCondLst>
                      <p:childTnLst>
                        <p:par>
                          <p:cTn id="59" fill="hold">
                            <p:stCondLst>
                              <p:cond delay="0"/>
                            </p:stCondLst>
                            <p:childTnLst>
                              <p:par>
                                <p:cTn id="60" presetID="1" presetClass="entr" presetSubtype="0" fill="hold" nodeType="clickEffect">
                                  <p:stCondLst>
                                    <p:cond delay="0"/>
                                  </p:stCondLst>
                                  <p:childTnLst>
                                    <p:set>
                                      <p:cBhvr>
                                        <p:cTn id="61" dur="1" fill="hold">
                                          <p:stCondLst>
                                            <p:cond delay="0"/>
                                          </p:stCondLst>
                                        </p:cTn>
                                        <p:tgtEl>
                                          <p:spTgt spid="28"/>
                                        </p:tgtEl>
                                        <p:attrNameLst>
                                          <p:attrName>style.visibility</p:attrName>
                                        </p:attrNameLst>
                                      </p:cBhvr>
                                      <p:to>
                                        <p:strVal val="visible"/>
                                      </p:to>
                                    </p:set>
                                  </p:childTnLst>
                                </p:cTn>
                              </p:par>
                              <p:par>
                                <p:cTn id="62" presetID="1" presetClass="entr" presetSubtype="0" fill="hold" grpId="0" nodeType="withEffect">
                                  <p:stCondLst>
                                    <p:cond delay="0"/>
                                  </p:stCondLst>
                                  <p:childTnLst>
                                    <p:set>
                                      <p:cBhvr>
                                        <p:cTn id="63" dur="1" fill="hold">
                                          <p:stCondLst>
                                            <p:cond delay="0"/>
                                          </p:stCondLst>
                                        </p:cTn>
                                        <p:tgtEl>
                                          <p:spTgt spid="15"/>
                                        </p:tgtEl>
                                        <p:attrNameLst>
                                          <p:attrName>style.visibility</p:attrName>
                                        </p:attrNameLst>
                                      </p:cBhvr>
                                      <p:to>
                                        <p:strVal val="visible"/>
                                      </p:to>
                                    </p:set>
                                  </p:childTnLst>
                                </p:cTn>
                              </p:par>
                            </p:childTnLst>
                          </p:cTn>
                        </p:par>
                      </p:childTnLst>
                    </p:cTn>
                  </p:par>
                  <p:par>
                    <p:cTn id="64" fill="hold">
                      <p:stCondLst>
                        <p:cond delay="indefinite"/>
                      </p:stCondLst>
                      <p:childTnLst>
                        <p:par>
                          <p:cTn id="65" fill="hold">
                            <p:stCondLst>
                              <p:cond delay="0"/>
                            </p:stCondLst>
                            <p:childTnLst>
                              <p:par>
                                <p:cTn id="66" presetID="1" presetClass="entr" presetSubtype="0" fill="hold" nodeType="clickEffect">
                                  <p:stCondLst>
                                    <p:cond delay="0"/>
                                  </p:stCondLst>
                                  <p:childTnLst>
                                    <p:set>
                                      <p:cBhvr>
                                        <p:cTn id="67" dur="1" fill="hold">
                                          <p:stCondLst>
                                            <p:cond delay="0"/>
                                          </p:stCondLst>
                                        </p:cTn>
                                        <p:tgtEl>
                                          <p:spTgt spid="36"/>
                                        </p:tgtEl>
                                        <p:attrNameLst>
                                          <p:attrName>style.visibility</p:attrName>
                                        </p:attrNameLst>
                                      </p:cBhvr>
                                      <p:to>
                                        <p:strVal val="visible"/>
                                      </p:to>
                                    </p:set>
                                  </p:childTnLst>
                                </p:cTn>
                              </p:par>
                              <p:par>
                                <p:cTn id="68" presetID="1" presetClass="entr" presetSubtype="0" fill="hold" grpId="0" nodeType="withEffect">
                                  <p:stCondLst>
                                    <p:cond delay="0"/>
                                  </p:stCondLst>
                                  <p:childTnLst>
                                    <p:set>
                                      <p:cBhvr>
                                        <p:cTn id="69" dur="1" fill="hold">
                                          <p:stCondLst>
                                            <p:cond delay="0"/>
                                          </p:stCondLst>
                                        </p:cTn>
                                        <p:tgtEl>
                                          <p:spTgt spid="17"/>
                                        </p:tgtEl>
                                        <p:attrNameLst>
                                          <p:attrName>style.visibility</p:attrName>
                                        </p:attrNameLst>
                                      </p:cBhvr>
                                      <p:to>
                                        <p:strVal val="visible"/>
                                      </p:to>
                                    </p:set>
                                  </p:childTnLst>
                                </p:cTn>
                              </p:par>
                            </p:childTnLst>
                          </p:cTn>
                        </p:par>
                      </p:childTnLst>
                    </p:cTn>
                  </p:par>
                  <p:par>
                    <p:cTn id="70" fill="hold">
                      <p:stCondLst>
                        <p:cond delay="indefinite"/>
                      </p:stCondLst>
                      <p:childTnLst>
                        <p:par>
                          <p:cTn id="71" fill="hold">
                            <p:stCondLst>
                              <p:cond delay="0"/>
                            </p:stCondLst>
                            <p:childTnLst>
                              <p:par>
                                <p:cTn id="72" presetID="1" presetClass="entr" presetSubtype="0" fill="hold" grpId="0" nodeType="clickEffect">
                                  <p:stCondLst>
                                    <p:cond delay="0"/>
                                  </p:stCondLst>
                                  <p:childTnLst>
                                    <p:set>
                                      <p:cBhvr>
                                        <p:cTn id="73" dur="1" fill="hold">
                                          <p:stCondLst>
                                            <p:cond delay="0"/>
                                          </p:stCondLst>
                                        </p:cTn>
                                        <p:tgtEl>
                                          <p:spTgt spid="81"/>
                                        </p:tgtEl>
                                        <p:attrNameLst>
                                          <p:attrName>style.visibility</p:attrName>
                                        </p:attrNameLst>
                                      </p:cBhvr>
                                      <p:to>
                                        <p:strVal val="visible"/>
                                      </p:to>
                                    </p:set>
                                  </p:childTnLst>
                                </p:cTn>
                              </p:par>
                              <p:par>
                                <p:cTn id="74" presetID="1" presetClass="entr" presetSubtype="0" fill="hold" nodeType="withEffect">
                                  <p:stCondLst>
                                    <p:cond delay="0"/>
                                  </p:stCondLst>
                                  <p:childTnLst>
                                    <p:set>
                                      <p:cBhvr>
                                        <p:cTn id="75" dur="1" fill="hold">
                                          <p:stCondLst>
                                            <p:cond delay="0"/>
                                          </p:stCondLst>
                                        </p:cTn>
                                        <p:tgtEl>
                                          <p:spTgt spid="82"/>
                                        </p:tgtEl>
                                        <p:attrNameLst>
                                          <p:attrName>style.visibility</p:attrName>
                                        </p:attrNameLst>
                                      </p:cBhvr>
                                      <p:to>
                                        <p:strVal val="visible"/>
                                      </p:to>
                                    </p:set>
                                  </p:childTnLst>
                                </p:cTn>
                              </p:par>
                            </p:childTnLst>
                          </p:cTn>
                        </p:par>
                      </p:childTnLst>
                    </p:cTn>
                  </p:par>
                  <p:par>
                    <p:cTn id="76" fill="hold">
                      <p:stCondLst>
                        <p:cond delay="indefinite"/>
                      </p:stCondLst>
                      <p:childTnLst>
                        <p:par>
                          <p:cTn id="77" fill="hold">
                            <p:stCondLst>
                              <p:cond delay="0"/>
                            </p:stCondLst>
                            <p:childTnLst>
                              <p:par>
                                <p:cTn id="78" presetID="1" presetClass="entr" presetSubtype="0" fill="hold" nodeType="clickEffect">
                                  <p:stCondLst>
                                    <p:cond delay="0"/>
                                  </p:stCondLst>
                                  <p:childTnLst>
                                    <p:set>
                                      <p:cBhvr>
                                        <p:cTn id="79" dur="1" fill="hold">
                                          <p:stCondLst>
                                            <p:cond delay="0"/>
                                          </p:stCondLst>
                                        </p:cTn>
                                        <p:tgtEl>
                                          <p:spTgt spid="49"/>
                                        </p:tgtEl>
                                        <p:attrNameLst>
                                          <p:attrName>style.visibility</p:attrName>
                                        </p:attrNameLst>
                                      </p:cBhvr>
                                      <p:to>
                                        <p:strVal val="visible"/>
                                      </p:to>
                                    </p:set>
                                  </p:childTnLst>
                                </p:cTn>
                              </p:par>
                              <p:par>
                                <p:cTn id="80" presetID="1" presetClass="entr" presetSubtype="0" fill="hold" grpId="0" nodeType="withEffect">
                                  <p:stCondLst>
                                    <p:cond delay="0"/>
                                  </p:stCondLst>
                                  <p:childTnLst>
                                    <p:set>
                                      <p:cBhvr>
                                        <p:cTn id="81" dur="1" fill="hold">
                                          <p:stCondLst>
                                            <p:cond delay="0"/>
                                          </p:stCondLst>
                                        </p:cTn>
                                        <p:tgtEl>
                                          <p:spTgt spid="23"/>
                                        </p:tgtEl>
                                        <p:attrNameLst>
                                          <p:attrName>style.visibility</p:attrName>
                                        </p:attrNameLst>
                                      </p:cBhvr>
                                      <p:to>
                                        <p:strVal val="visible"/>
                                      </p:to>
                                    </p:se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7"/>
                                        </p:tgtEl>
                                        <p:attrNameLst>
                                          <p:attrName>style.visibility</p:attrName>
                                        </p:attrNameLst>
                                      </p:cBhvr>
                                      <p:to>
                                        <p:strVal val="visible"/>
                                      </p:to>
                                    </p:set>
                                  </p:childTnLst>
                                </p:cTn>
                              </p:par>
                              <p:par>
                                <p:cTn id="86" presetID="1" presetClass="entr" presetSubtype="0" fill="hold" grpId="0" nodeType="withEffect">
                                  <p:stCondLst>
                                    <p:cond delay="0"/>
                                  </p:stCondLst>
                                  <p:childTnLst>
                                    <p:set>
                                      <p:cBhvr>
                                        <p:cTn id="87" dur="1" fill="hold">
                                          <p:stCondLst>
                                            <p:cond delay="0"/>
                                          </p:stCondLst>
                                        </p:cTn>
                                        <p:tgtEl>
                                          <p:spTgt spid="16"/>
                                        </p:tgtEl>
                                        <p:attrNameLst>
                                          <p:attrName>style.visibility</p:attrName>
                                        </p:attrNameLst>
                                      </p:cBhvr>
                                      <p:to>
                                        <p:strVal val="visible"/>
                                      </p:to>
                                    </p:set>
                                  </p:childTnLst>
                                </p:cTn>
                              </p:par>
                            </p:childTnLst>
                          </p:cTn>
                        </p:par>
                      </p:childTnLst>
                    </p:cTn>
                  </p:par>
                  <p:par>
                    <p:cTn id="88" fill="hold">
                      <p:stCondLst>
                        <p:cond delay="indefinite"/>
                      </p:stCondLst>
                      <p:childTnLst>
                        <p:par>
                          <p:cTn id="89" fill="hold">
                            <p:stCondLst>
                              <p:cond delay="0"/>
                            </p:stCondLst>
                            <p:childTnLst>
                              <p:par>
                                <p:cTn id="90" presetID="3" presetClass="entr" presetSubtype="10" fill="hold" grpId="0" nodeType="clickEffect">
                                  <p:stCondLst>
                                    <p:cond delay="0"/>
                                  </p:stCondLst>
                                  <p:childTnLst>
                                    <p:set>
                                      <p:cBhvr>
                                        <p:cTn id="91" dur="1" fill="hold">
                                          <p:stCondLst>
                                            <p:cond delay="0"/>
                                          </p:stCondLst>
                                        </p:cTn>
                                        <p:tgtEl>
                                          <p:spTgt spid="97"/>
                                        </p:tgtEl>
                                        <p:attrNameLst>
                                          <p:attrName>style.visibility</p:attrName>
                                        </p:attrNameLst>
                                      </p:cBhvr>
                                      <p:to>
                                        <p:strVal val="visible"/>
                                      </p:to>
                                    </p:set>
                                    <p:animEffect transition="in" filter="blinds(horizontal)">
                                      <p:cBhvr>
                                        <p:cTn id="92" dur="500"/>
                                        <p:tgtEl>
                                          <p:spTgt spid="97"/>
                                        </p:tgtEl>
                                      </p:cBhvr>
                                    </p:animEffect>
                                  </p:childTnLst>
                                </p:cTn>
                              </p:par>
                              <p:par>
                                <p:cTn id="93" presetID="3" presetClass="entr" presetSubtype="10" fill="hold" nodeType="withEffect">
                                  <p:stCondLst>
                                    <p:cond delay="0"/>
                                  </p:stCondLst>
                                  <p:childTnLst>
                                    <p:set>
                                      <p:cBhvr>
                                        <p:cTn id="94" dur="1" fill="hold">
                                          <p:stCondLst>
                                            <p:cond delay="0"/>
                                          </p:stCondLst>
                                        </p:cTn>
                                        <p:tgtEl>
                                          <p:spTgt spid="106"/>
                                        </p:tgtEl>
                                        <p:attrNameLst>
                                          <p:attrName>style.visibility</p:attrName>
                                        </p:attrNameLst>
                                      </p:cBhvr>
                                      <p:to>
                                        <p:strVal val="visible"/>
                                      </p:to>
                                    </p:set>
                                    <p:animEffect transition="in" filter="blinds(horizontal)">
                                      <p:cBhvr>
                                        <p:cTn id="95" dur="500"/>
                                        <p:tgtEl>
                                          <p:spTgt spid="106"/>
                                        </p:tgtEl>
                                      </p:cBhvr>
                                    </p:animEffect>
                                  </p:childTnLst>
                                </p:cTn>
                              </p:par>
                              <p:par>
                                <p:cTn id="96" presetID="3" presetClass="entr" presetSubtype="10" fill="hold" nodeType="withEffect">
                                  <p:stCondLst>
                                    <p:cond delay="0"/>
                                  </p:stCondLst>
                                  <p:childTnLst>
                                    <p:set>
                                      <p:cBhvr>
                                        <p:cTn id="97" dur="1" fill="hold">
                                          <p:stCondLst>
                                            <p:cond delay="0"/>
                                          </p:stCondLst>
                                        </p:cTn>
                                        <p:tgtEl>
                                          <p:spTgt spid="98"/>
                                        </p:tgtEl>
                                        <p:attrNameLst>
                                          <p:attrName>style.visibility</p:attrName>
                                        </p:attrNameLst>
                                      </p:cBhvr>
                                      <p:to>
                                        <p:strVal val="visible"/>
                                      </p:to>
                                    </p:set>
                                    <p:animEffect transition="in" filter="blinds(horizontal)">
                                      <p:cBhvr>
                                        <p:cTn id="98" dur="500"/>
                                        <p:tgtEl>
                                          <p:spTgt spid="98"/>
                                        </p:tgtEl>
                                      </p:cBhvr>
                                    </p:animEffect>
                                  </p:childTnLst>
                                </p:cTn>
                              </p:par>
                              <p:par>
                                <p:cTn id="99" presetID="3" presetClass="entr" presetSubtype="10" fill="hold" nodeType="withEffect">
                                  <p:stCondLst>
                                    <p:cond delay="0"/>
                                  </p:stCondLst>
                                  <p:childTnLst>
                                    <p:set>
                                      <p:cBhvr>
                                        <p:cTn id="100" dur="1" fill="hold">
                                          <p:stCondLst>
                                            <p:cond delay="0"/>
                                          </p:stCondLst>
                                        </p:cTn>
                                        <p:tgtEl>
                                          <p:spTgt spid="103"/>
                                        </p:tgtEl>
                                        <p:attrNameLst>
                                          <p:attrName>style.visibility</p:attrName>
                                        </p:attrNameLst>
                                      </p:cBhvr>
                                      <p:to>
                                        <p:strVal val="visible"/>
                                      </p:to>
                                    </p:set>
                                    <p:animEffect transition="in" filter="blinds(horizontal)">
                                      <p:cBhvr>
                                        <p:cTn id="101" dur="500"/>
                                        <p:tgtEl>
                                          <p:spTgt spid="103"/>
                                        </p:tgtEl>
                                      </p:cBhvr>
                                    </p:animEffect>
                                  </p:childTnLst>
                                </p:cTn>
                              </p:par>
                              <p:par>
                                <p:cTn id="102" presetID="3" presetClass="entr" presetSubtype="10" fill="hold" nodeType="withEffect">
                                  <p:stCondLst>
                                    <p:cond delay="0"/>
                                  </p:stCondLst>
                                  <p:childTnLst>
                                    <p:set>
                                      <p:cBhvr>
                                        <p:cTn id="103" dur="1" fill="hold">
                                          <p:stCondLst>
                                            <p:cond delay="0"/>
                                          </p:stCondLst>
                                        </p:cTn>
                                        <p:tgtEl>
                                          <p:spTgt spid="107"/>
                                        </p:tgtEl>
                                        <p:attrNameLst>
                                          <p:attrName>style.visibility</p:attrName>
                                        </p:attrNameLst>
                                      </p:cBhvr>
                                      <p:to>
                                        <p:strVal val="visible"/>
                                      </p:to>
                                    </p:set>
                                    <p:animEffect transition="in" filter="blinds(horizontal)">
                                      <p:cBhvr>
                                        <p:cTn id="104" dur="500"/>
                                        <p:tgtEl>
                                          <p:spTgt spid="107"/>
                                        </p:tgtEl>
                                      </p:cBhvr>
                                    </p:animEffect>
                                  </p:childTnLst>
                                </p:cTn>
                              </p:par>
                            </p:childTnLst>
                          </p:cTn>
                        </p:par>
                      </p:childTnLst>
                    </p:cTn>
                  </p:par>
                  <p:par>
                    <p:cTn id="105" fill="hold">
                      <p:stCondLst>
                        <p:cond delay="indefinite"/>
                      </p:stCondLst>
                      <p:childTnLst>
                        <p:par>
                          <p:cTn id="106" fill="hold">
                            <p:stCondLst>
                              <p:cond delay="0"/>
                            </p:stCondLst>
                            <p:childTnLst>
                              <p:par>
                                <p:cTn id="107" presetID="3" presetClass="entr" presetSubtype="10" fill="hold" nodeType="clickEffect">
                                  <p:stCondLst>
                                    <p:cond delay="0"/>
                                  </p:stCondLst>
                                  <p:childTnLst>
                                    <p:set>
                                      <p:cBhvr>
                                        <p:cTn id="108" dur="1" fill="hold">
                                          <p:stCondLst>
                                            <p:cond delay="0"/>
                                          </p:stCondLst>
                                        </p:cTn>
                                        <p:tgtEl>
                                          <p:spTgt spid="91"/>
                                        </p:tgtEl>
                                        <p:attrNameLst>
                                          <p:attrName>style.visibility</p:attrName>
                                        </p:attrNameLst>
                                      </p:cBhvr>
                                      <p:to>
                                        <p:strVal val="visible"/>
                                      </p:to>
                                    </p:set>
                                    <p:animEffect transition="in" filter="blinds(horizontal)">
                                      <p:cBhvr>
                                        <p:cTn id="109" dur="500"/>
                                        <p:tgtEl>
                                          <p:spTgt spid="91"/>
                                        </p:tgtEl>
                                      </p:cBhvr>
                                    </p:animEffect>
                                  </p:childTnLst>
                                </p:cTn>
                              </p:par>
                              <p:par>
                                <p:cTn id="110" presetID="3" presetClass="entr" presetSubtype="10" fill="hold" grpId="0" nodeType="withEffect">
                                  <p:stCondLst>
                                    <p:cond delay="0"/>
                                  </p:stCondLst>
                                  <p:childTnLst>
                                    <p:set>
                                      <p:cBhvr>
                                        <p:cTn id="111" dur="1" fill="hold">
                                          <p:stCondLst>
                                            <p:cond delay="0"/>
                                          </p:stCondLst>
                                        </p:cTn>
                                        <p:tgtEl>
                                          <p:spTgt spid="90"/>
                                        </p:tgtEl>
                                        <p:attrNameLst>
                                          <p:attrName>style.visibility</p:attrName>
                                        </p:attrNameLst>
                                      </p:cBhvr>
                                      <p:to>
                                        <p:strVal val="visible"/>
                                      </p:to>
                                    </p:set>
                                    <p:animEffect transition="in" filter="blinds(horizontal)">
                                      <p:cBhvr>
                                        <p:cTn id="112" dur="500"/>
                                        <p:tgtEl>
                                          <p:spTgt spid="90"/>
                                        </p:tgtEl>
                                      </p:cBhvr>
                                    </p:animEffect>
                                  </p:childTnLst>
                                </p:cTn>
                              </p:par>
                            </p:childTnLst>
                          </p:cTn>
                        </p:par>
                      </p:childTnLst>
                    </p:cTn>
                  </p:par>
                  <p:par>
                    <p:cTn id="113" fill="hold">
                      <p:stCondLst>
                        <p:cond delay="indefinite"/>
                      </p:stCondLst>
                      <p:childTnLst>
                        <p:par>
                          <p:cTn id="114" fill="hold">
                            <p:stCondLst>
                              <p:cond delay="0"/>
                            </p:stCondLst>
                            <p:childTnLst>
                              <p:par>
                                <p:cTn id="115" presetID="3" presetClass="entr" presetSubtype="10" fill="hold" nodeType="clickEffect">
                                  <p:stCondLst>
                                    <p:cond delay="0"/>
                                  </p:stCondLst>
                                  <p:childTnLst>
                                    <p:set>
                                      <p:cBhvr>
                                        <p:cTn id="116" dur="1" fill="hold">
                                          <p:stCondLst>
                                            <p:cond delay="0"/>
                                          </p:stCondLst>
                                        </p:cTn>
                                        <p:tgtEl>
                                          <p:spTgt spid="95"/>
                                        </p:tgtEl>
                                        <p:attrNameLst>
                                          <p:attrName>style.visibility</p:attrName>
                                        </p:attrNameLst>
                                      </p:cBhvr>
                                      <p:to>
                                        <p:strVal val="visible"/>
                                      </p:to>
                                    </p:set>
                                    <p:animEffect transition="in" filter="blinds(horizontal)">
                                      <p:cBhvr>
                                        <p:cTn id="117" dur="500"/>
                                        <p:tgtEl>
                                          <p:spTgt spid="95"/>
                                        </p:tgtEl>
                                      </p:cBhvr>
                                    </p:animEffect>
                                  </p:childTnLst>
                                </p:cTn>
                              </p:par>
                              <p:par>
                                <p:cTn id="118" presetID="3" presetClass="entr" presetSubtype="10" fill="hold" grpId="0" nodeType="withEffect">
                                  <p:stCondLst>
                                    <p:cond delay="0"/>
                                  </p:stCondLst>
                                  <p:childTnLst>
                                    <p:set>
                                      <p:cBhvr>
                                        <p:cTn id="119" dur="1" fill="hold">
                                          <p:stCondLst>
                                            <p:cond delay="0"/>
                                          </p:stCondLst>
                                        </p:cTn>
                                        <p:tgtEl>
                                          <p:spTgt spid="94"/>
                                        </p:tgtEl>
                                        <p:attrNameLst>
                                          <p:attrName>style.visibility</p:attrName>
                                        </p:attrNameLst>
                                      </p:cBhvr>
                                      <p:to>
                                        <p:strVal val="visible"/>
                                      </p:to>
                                    </p:set>
                                    <p:animEffect transition="in" filter="blinds(horizontal)">
                                      <p:cBhvr>
                                        <p:cTn id="120" dur="500"/>
                                        <p:tgtEl>
                                          <p:spTgt spid="9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64" grpId="0" animBg="1"/>
      <p:bldP spid="81" grpId="0" animBg="1"/>
      <p:bldP spid="87" grpId="0"/>
      <p:bldP spid="90" grpId="0" animBg="1"/>
      <p:bldP spid="94" grpId="0" animBg="1"/>
      <p:bldP spid="97" grpId="0" animBg="1"/>
      <p:bldP spid="5"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45E3F-4C5A-994C-952B-F9908951FCB7}"/>
              </a:ext>
            </a:extLst>
          </p:cNvPr>
          <p:cNvSpPr>
            <a:spLocks noGrp="1"/>
          </p:cNvSpPr>
          <p:nvPr>
            <p:ph type="title"/>
          </p:nvPr>
        </p:nvSpPr>
        <p:spPr/>
        <p:txBody>
          <a:bodyPr/>
          <a:lstStyle/>
          <a:p>
            <a:r>
              <a:rPr lang="en-US"/>
              <a:t>Leo đồi ngẫu nhiên (stochastic hill climbing) </a:t>
            </a:r>
          </a:p>
        </p:txBody>
      </p:sp>
      <p:sp>
        <p:nvSpPr>
          <p:cNvPr id="3" name="Content Placeholder 2">
            <a:extLst>
              <a:ext uri="{FF2B5EF4-FFF2-40B4-BE49-F238E27FC236}">
                <a16:creationId xmlns:a16="http://schemas.microsoft.com/office/drawing/2014/main" id="{67BD9F23-2FF6-144F-94E0-2B9A1D529F9D}"/>
              </a:ext>
            </a:extLst>
          </p:cNvPr>
          <p:cNvSpPr>
            <a:spLocks noGrp="1"/>
          </p:cNvSpPr>
          <p:nvPr>
            <p:ph idx="1"/>
          </p:nvPr>
        </p:nvSpPr>
        <p:spPr/>
        <p:txBody>
          <a:bodyPr/>
          <a:lstStyle/>
          <a:p>
            <a:r>
              <a:rPr lang="vi-VN"/>
              <a:t>Đầu vào: bài toán tối ưu tổ hợp</a:t>
            </a:r>
          </a:p>
          <a:p>
            <a:r>
              <a:rPr lang="vi-VN"/>
              <a:t>Đầu ra: trạng thái với hàm mục tiêu lớn nhất (hoặc cực đại địa phương) </a:t>
            </a:r>
          </a:p>
          <a:p>
            <a:pPr marL="457200" indent="-457200">
              <a:buFont typeface="+mj-lt"/>
              <a:buAutoNum type="arabicPeriod"/>
            </a:pPr>
            <a:r>
              <a:rPr lang="vi-VN" i="1"/>
              <a:t>Chọn ngẫu nhiên trạng thái x </a:t>
            </a:r>
          </a:p>
          <a:p>
            <a:pPr marL="457200" indent="-457200">
              <a:buFont typeface="+mj-lt"/>
              <a:buAutoNum type="arabicPeriod"/>
            </a:pPr>
            <a:r>
              <a:rPr lang="vi-VN" i="1"/>
              <a:t>Gọi Y là tập các trạng thái hàng xóm của x </a:t>
            </a:r>
          </a:p>
          <a:p>
            <a:pPr marL="457200" indent="-457200">
              <a:buFont typeface="+mj-lt"/>
              <a:buAutoNum type="arabicPeriod"/>
            </a:pPr>
            <a:r>
              <a:rPr lang="vi-VN"/>
              <a:t>Chọn ngẫu nhiên </a:t>
            </a:r>
            <a:r>
              <a:rPr lang="vi-VN" i="1"/>
              <a:t>yi</a:t>
            </a:r>
            <a:r>
              <a:rPr lang="vi-VN"/>
              <a:t>∈</a:t>
            </a:r>
            <a:r>
              <a:rPr lang="vi-VN" i="1"/>
              <a:t>Y </a:t>
            </a:r>
            <a:endParaRPr lang="vi-VN"/>
          </a:p>
          <a:p>
            <a:pPr marL="457200" indent="-457200">
              <a:buFont typeface="+mj-lt"/>
              <a:buAutoNum type="arabicPeriod"/>
            </a:pPr>
            <a:r>
              <a:rPr lang="vi-VN"/>
              <a:t>Nếu Obj (</a:t>
            </a:r>
            <a:r>
              <a:rPr lang="vi-VN" i="1"/>
              <a:t>yi</a:t>
            </a:r>
            <a:r>
              <a:rPr lang="vi-VN"/>
              <a:t>) &gt; Obj (</a:t>
            </a:r>
            <a:r>
              <a:rPr lang="vi-VN" i="1"/>
              <a:t>x</a:t>
            </a:r>
            <a:r>
              <a:rPr lang="vi-VN"/>
              <a:t>) thì </a:t>
            </a:r>
          </a:p>
          <a:p>
            <a:pPr marL="385762" lvl="1" indent="0">
              <a:buNone/>
            </a:pPr>
            <a:r>
              <a:rPr lang="vi-VN" i="1"/>
              <a:t>x </a:t>
            </a:r>
            <a:r>
              <a:rPr lang="vi-VN"/>
              <a:t>← </a:t>
            </a:r>
            <a:r>
              <a:rPr lang="vi-VN" i="1"/>
              <a:t>yi </a:t>
            </a:r>
            <a:endParaRPr lang="vi-VN"/>
          </a:p>
          <a:p>
            <a:pPr marL="457200" indent="-457200">
              <a:buFont typeface="+mj-lt"/>
              <a:buAutoNum type="arabicPeriod"/>
            </a:pPr>
            <a:r>
              <a:rPr lang="vi-VN"/>
              <a:t>Go to 2 nếu chưa hết kiên nhẫn </a:t>
            </a:r>
          </a:p>
          <a:p>
            <a:endParaRPr lang="en-US"/>
          </a:p>
        </p:txBody>
      </p:sp>
      <p:sp>
        <p:nvSpPr>
          <p:cNvPr id="4" name="Slide Number Placeholder 3">
            <a:extLst>
              <a:ext uri="{FF2B5EF4-FFF2-40B4-BE49-F238E27FC236}">
                <a16:creationId xmlns:a16="http://schemas.microsoft.com/office/drawing/2014/main" id="{81B2664F-A835-814A-A742-531E18933847}"/>
              </a:ext>
            </a:extLst>
          </p:cNvPr>
          <p:cNvSpPr>
            <a:spLocks noGrp="1"/>
          </p:cNvSpPr>
          <p:nvPr>
            <p:ph type="sldNum" sz="quarter" idx="12"/>
          </p:nvPr>
        </p:nvSpPr>
        <p:spPr/>
        <p:txBody>
          <a:bodyPr/>
          <a:lstStyle/>
          <a:p>
            <a:fld id="{DA8C51A7-BEEA-471D-933F-7E35BC04A30F}" type="slidenum">
              <a:rPr lang="en-US"/>
              <a:pPr/>
              <a:t>22</a:t>
            </a:fld>
            <a:endParaRPr lang="en-US"/>
          </a:p>
        </p:txBody>
      </p:sp>
    </p:spTree>
    <p:extLst>
      <p:ext uri="{BB962C8B-B14F-4D97-AF65-F5344CB8AC3E}">
        <p14:creationId xmlns:p14="http://schemas.microsoft.com/office/powerpoint/2010/main" val="9707749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D8A0-9A31-014F-81CE-9FE2DAFD981C}"/>
              </a:ext>
            </a:extLst>
          </p:cNvPr>
          <p:cNvSpPr>
            <a:spLocks noGrp="1"/>
          </p:cNvSpPr>
          <p:nvPr>
            <p:ph type="title"/>
          </p:nvPr>
        </p:nvSpPr>
        <p:spPr/>
        <p:txBody>
          <a:bodyPr/>
          <a:lstStyle/>
          <a:p>
            <a:r>
              <a:rPr lang="en-US"/>
              <a:t>Thuật toán tôi thép</a:t>
            </a:r>
          </a:p>
        </p:txBody>
      </p:sp>
      <p:sp>
        <p:nvSpPr>
          <p:cNvPr id="3" name="Content Placeholder 2">
            <a:extLst>
              <a:ext uri="{FF2B5EF4-FFF2-40B4-BE49-F238E27FC236}">
                <a16:creationId xmlns:a16="http://schemas.microsoft.com/office/drawing/2014/main" id="{DA69B624-0ED1-F745-9D19-40EEA6CBF629}"/>
              </a:ext>
            </a:extLst>
          </p:cNvPr>
          <p:cNvSpPr>
            <a:spLocks noGrp="1"/>
          </p:cNvSpPr>
          <p:nvPr>
            <p:ph idx="1"/>
          </p:nvPr>
        </p:nvSpPr>
        <p:spPr/>
        <p:txBody>
          <a:bodyPr/>
          <a:lstStyle/>
          <a:p>
            <a:pPr>
              <a:lnSpc>
                <a:spcPts val="2760"/>
              </a:lnSpc>
            </a:pPr>
            <a:r>
              <a:rPr lang="vi-VN"/>
              <a:t>Một vấn đề lớn với leo đồi là thuật toán không có khả năng “đi xuống” và do vậy không thoát khỏi được cực trị địa phương khi đã rơi vào </a:t>
            </a:r>
          </a:p>
          <a:p>
            <a:pPr>
              <a:lnSpc>
                <a:spcPts val="2760"/>
              </a:lnSpc>
            </a:pPr>
            <a:r>
              <a:rPr lang="vi-VN"/>
              <a:t>Cách di chuyển ngẫu nhiên (random walk) có thể khảo sát toàn bộ không gian trạng thái nhưng không hiệu quả. </a:t>
            </a:r>
          </a:p>
          <a:p>
            <a:pPr>
              <a:lnSpc>
                <a:spcPts val="2760"/>
              </a:lnSpc>
            </a:pPr>
            <a:r>
              <a:rPr lang="vi-VN" i="1">
                <a:solidFill>
                  <a:srgbClr val="26902B"/>
                </a:solidFill>
              </a:rPr>
              <a:t>Thuật toán tôi thép </a:t>
            </a:r>
            <a:r>
              <a:rPr lang="vi-VN">
                <a:solidFill>
                  <a:srgbClr val="26902B"/>
                </a:solidFill>
              </a:rPr>
              <a:t>hay </a:t>
            </a:r>
            <a:r>
              <a:rPr lang="vi-VN" i="1">
                <a:solidFill>
                  <a:srgbClr val="26902B"/>
                </a:solidFill>
              </a:rPr>
              <a:t>mô phỏng luyện kim</a:t>
            </a:r>
            <a:r>
              <a:rPr lang="vi-VN" i="1"/>
              <a:t> </a:t>
            </a:r>
            <a:r>
              <a:rPr lang="vi-VN"/>
              <a:t>(simulated annealing) là một </a:t>
            </a:r>
            <a:r>
              <a:rPr lang="vi-VN">
                <a:solidFill>
                  <a:srgbClr val="26902B"/>
                </a:solidFill>
              </a:rPr>
              <a:t>phương pháp tìm kiếm cục bọ</a:t>
            </a:r>
            <a:r>
              <a:rPr lang="vi-VN"/>
              <a:t>̂ cho phép giải quyết phần nào vấn đề cực trị địa phương hiệu quả. </a:t>
            </a:r>
          </a:p>
        </p:txBody>
      </p:sp>
      <p:sp>
        <p:nvSpPr>
          <p:cNvPr id="4" name="Slide Number Placeholder 3">
            <a:extLst>
              <a:ext uri="{FF2B5EF4-FFF2-40B4-BE49-F238E27FC236}">
                <a16:creationId xmlns:a16="http://schemas.microsoft.com/office/drawing/2014/main" id="{F1ABE40E-3F32-5840-B7C5-CE7A5E214566}"/>
              </a:ext>
            </a:extLst>
          </p:cNvPr>
          <p:cNvSpPr>
            <a:spLocks noGrp="1"/>
          </p:cNvSpPr>
          <p:nvPr>
            <p:ph type="sldNum" sz="quarter" idx="12"/>
          </p:nvPr>
        </p:nvSpPr>
        <p:spPr/>
        <p:txBody>
          <a:bodyPr/>
          <a:lstStyle/>
          <a:p>
            <a:fld id="{DA8C51A7-BEEA-471D-933F-7E35BC04A30F}" type="slidenum">
              <a:rPr lang="en-US"/>
              <a:pPr/>
              <a:t>23</a:t>
            </a:fld>
            <a:endParaRPr lang="en-US"/>
          </a:p>
        </p:txBody>
      </p:sp>
    </p:spTree>
    <p:extLst>
      <p:ext uri="{BB962C8B-B14F-4D97-AF65-F5344CB8AC3E}">
        <p14:creationId xmlns:p14="http://schemas.microsoft.com/office/powerpoint/2010/main" val="376726445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D8A0-9A31-014F-81CE-9FE2DAFD981C}"/>
              </a:ext>
            </a:extLst>
          </p:cNvPr>
          <p:cNvSpPr>
            <a:spLocks noGrp="1"/>
          </p:cNvSpPr>
          <p:nvPr>
            <p:ph type="title"/>
          </p:nvPr>
        </p:nvSpPr>
        <p:spPr/>
        <p:txBody>
          <a:bodyPr/>
          <a:lstStyle/>
          <a:p>
            <a:r>
              <a:rPr lang="en-US"/>
              <a:t>Thuật toán tôi thép</a:t>
            </a:r>
          </a:p>
        </p:txBody>
      </p:sp>
      <p:sp>
        <p:nvSpPr>
          <p:cNvPr id="3" name="Content Placeholder 2">
            <a:extLst>
              <a:ext uri="{FF2B5EF4-FFF2-40B4-BE49-F238E27FC236}">
                <a16:creationId xmlns:a16="http://schemas.microsoft.com/office/drawing/2014/main" id="{DA69B624-0ED1-F745-9D19-40EEA6CBF629}"/>
              </a:ext>
            </a:extLst>
          </p:cNvPr>
          <p:cNvSpPr>
            <a:spLocks noGrp="1"/>
          </p:cNvSpPr>
          <p:nvPr>
            <p:ph idx="1"/>
          </p:nvPr>
        </p:nvSpPr>
        <p:spPr>
          <a:xfrm>
            <a:off x="706438" y="1514203"/>
            <a:ext cx="8874125" cy="4351338"/>
          </a:xfrm>
        </p:spPr>
        <p:txBody>
          <a:bodyPr/>
          <a:lstStyle/>
          <a:p>
            <a:pPr>
              <a:lnSpc>
                <a:spcPts val="2760"/>
              </a:lnSpc>
              <a:buFont typeface="Wingdings" pitchFamily="2" charset="2"/>
              <a:buChar char="v"/>
            </a:pPr>
            <a:r>
              <a:rPr lang="vi-VN"/>
              <a:t> Khi lựa chọn ngẫu nhiên một hàng xóm, nếu hàng xóm đó kém hơn trạng thái hiện thời, thuật toán có thể quyết định </a:t>
            </a:r>
            <a:r>
              <a:rPr lang="vi-VN">
                <a:solidFill>
                  <a:srgbClr val="26902B"/>
                </a:solidFill>
              </a:rPr>
              <a:t>di chuyển sang đó với một xác suất p</a:t>
            </a:r>
            <a:r>
              <a:rPr lang="vi-VN"/>
              <a:t>.</a:t>
            </a:r>
          </a:p>
          <a:p>
            <a:pPr>
              <a:lnSpc>
                <a:spcPts val="2760"/>
              </a:lnSpc>
              <a:buFont typeface="Wingdings" pitchFamily="2" charset="2"/>
              <a:buChar char="v"/>
            </a:pPr>
            <a:r>
              <a:rPr lang="vi-VN"/>
              <a:t> Giá trị </a:t>
            </a:r>
            <a:r>
              <a:rPr lang="vi-VN" i="1"/>
              <a:t>p </a:t>
            </a:r>
            <a:r>
              <a:rPr lang="vi-VN"/>
              <a:t>được xác định dựa trên hai yếu tố sau. </a:t>
            </a:r>
          </a:p>
          <a:p>
            <a:pPr lvl="1">
              <a:lnSpc>
                <a:spcPts val="2760"/>
              </a:lnSpc>
            </a:pPr>
            <a:r>
              <a:rPr lang="vi-VN"/>
              <a:t>Nếu trạng thái mới kém hơn nhiều so với trạng thái hiện thời thì </a:t>
            </a:r>
            <a:r>
              <a:rPr lang="vi-VN" i="1"/>
              <a:t>p </a:t>
            </a:r>
            <a:r>
              <a:rPr lang="vi-VN"/>
              <a:t>phải giảm đi. </a:t>
            </a:r>
          </a:p>
          <a:p>
            <a:pPr lvl="2">
              <a:lnSpc>
                <a:spcPts val="2760"/>
              </a:lnSpc>
              <a:buFont typeface="Wingdings" pitchFamily="2" charset="2"/>
              <a:buChar char="q"/>
            </a:pPr>
            <a:r>
              <a:rPr lang="vi-VN" sz="2000">
                <a:solidFill>
                  <a:schemeClr val="tx1">
                    <a:lumMod val="85000"/>
                    <a:lumOff val="15000"/>
                  </a:schemeClr>
                </a:solidFill>
              </a:rPr>
              <a:t>Gọi </a:t>
            </a:r>
            <a:r>
              <a:rPr lang="el-GR" sz="2000">
                <a:solidFill>
                  <a:schemeClr val="tx1">
                    <a:lumMod val="85000"/>
                    <a:lumOff val="15000"/>
                  </a:schemeClr>
                </a:solidFill>
              </a:rPr>
              <a:t>Δ(</a:t>
            </a:r>
            <a:r>
              <a:rPr lang="vi-VN" sz="2000">
                <a:solidFill>
                  <a:schemeClr val="tx1">
                    <a:lumMod val="85000"/>
                    <a:lumOff val="15000"/>
                  </a:schemeClr>
                </a:solidFill>
              </a:rPr>
              <a:t>x,y) = Obj(y) – Obj(x) trong đó x là trạng thái hiện thời, y là trạng thái mới </a:t>
            </a:r>
          </a:p>
          <a:p>
            <a:pPr lvl="2">
              <a:lnSpc>
                <a:spcPts val="2760"/>
              </a:lnSpc>
              <a:buFont typeface="Wingdings" pitchFamily="2" charset="2"/>
              <a:buChar char="q"/>
            </a:pPr>
            <a:r>
              <a:rPr lang="vi-VN" sz="2000">
                <a:solidFill>
                  <a:schemeClr val="tx1">
                    <a:lumMod val="85000"/>
                    <a:lumOff val="15000"/>
                  </a:schemeClr>
                </a:solidFill>
              </a:rPr>
              <a:t>Nếu </a:t>
            </a:r>
            <a:r>
              <a:rPr lang="el-GR" sz="2000">
                <a:solidFill>
                  <a:schemeClr val="tx1">
                    <a:lumMod val="85000"/>
                    <a:lumOff val="15000"/>
                  </a:schemeClr>
                </a:solidFill>
              </a:rPr>
              <a:t>Δ(</a:t>
            </a:r>
            <a:r>
              <a:rPr lang="vi-VN" sz="2000">
                <a:solidFill>
                  <a:schemeClr val="tx1">
                    <a:lumMod val="85000"/>
                    <a:lumOff val="15000"/>
                  </a:schemeClr>
                </a:solidFill>
              </a:rPr>
              <a:t>x,y) &gt; 0, tức là y kém hơn x thì ta cần chọn </a:t>
            </a:r>
            <a:r>
              <a:rPr lang="vi-VN" sz="2000" i="1">
                <a:solidFill>
                  <a:schemeClr val="tx1">
                    <a:lumMod val="85000"/>
                    <a:lumOff val="15000"/>
                  </a:schemeClr>
                </a:solidFill>
              </a:rPr>
              <a:t>p </a:t>
            </a:r>
            <a:r>
              <a:rPr lang="vi-VN" sz="2000">
                <a:solidFill>
                  <a:schemeClr val="tx1">
                    <a:lumMod val="85000"/>
                    <a:lumOff val="15000"/>
                  </a:schemeClr>
                </a:solidFill>
              </a:rPr>
              <a:t>tỷ lệ nghịch với </a:t>
            </a:r>
            <a:r>
              <a:rPr lang="el-GR" sz="2000">
                <a:solidFill>
                  <a:schemeClr val="tx1">
                    <a:lumMod val="85000"/>
                    <a:lumOff val="15000"/>
                  </a:schemeClr>
                </a:solidFill>
              </a:rPr>
              <a:t>Δ(</a:t>
            </a:r>
            <a:r>
              <a:rPr lang="vi-VN" sz="2000">
                <a:solidFill>
                  <a:schemeClr val="tx1">
                    <a:lumMod val="85000"/>
                    <a:lumOff val="15000"/>
                  </a:schemeClr>
                </a:solidFill>
              </a:rPr>
              <a:t>x,y). </a:t>
            </a:r>
            <a:endParaRPr lang="vi-VN" sz="2000">
              <a:solidFill>
                <a:schemeClr val="tx1">
                  <a:lumMod val="85000"/>
                  <a:lumOff val="15000"/>
                </a:schemeClr>
              </a:solidFill>
              <a:effectLst/>
            </a:endParaRPr>
          </a:p>
          <a:p>
            <a:pPr lvl="1">
              <a:lnSpc>
                <a:spcPts val="2760"/>
              </a:lnSpc>
            </a:pPr>
            <a:r>
              <a:rPr lang="vi-VN"/>
              <a:t>Theo thời gian, giá trị của </a:t>
            </a:r>
            <a:r>
              <a:rPr lang="vi-VN" i="1"/>
              <a:t>p </a:t>
            </a:r>
            <a:r>
              <a:rPr lang="vi-VN"/>
              <a:t>phải giảm dần </a:t>
            </a:r>
            <a:endParaRPr lang="vi-VN">
              <a:effectLst/>
            </a:endParaRPr>
          </a:p>
          <a:p>
            <a:pPr marL="385762" lvl="1" indent="0">
              <a:lnSpc>
                <a:spcPts val="2760"/>
              </a:lnSpc>
              <a:buNone/>
            </a:pPr>
            <a:endParaRPr lang="vi-VN">
              <a:effectLst/>
            </a:endParaRPr>
          </a:p>
          <a:p>
            <a:pPr lvl="1">
              <a:lnSpc>
                <a:spcPts val="2760"/>
              </a:lnSpc>
            </a:pPr>
            <a:endParaRPr lang="vi-VN"/>
          </a:p>
          <a:p>
            <a:pPr lvl="1">
              <a:lnSpc>
                <a:spcPts val="2760"/>
              </a:lnSpc>
            </a:pPr>
            <a:endParaRPr lang="vi-VN">
              <a:effectLst/>
            </a:endParaRPr>
          </a:p>
          <a:p>
            <a:pPr>
              <a:lnSpc>
                <a:spcPts val="2760"/>
              </a:lnSpc>
            </a:pPr>
            <a:endParaRPr lang="vi-VN"/>
          </a:p>
        </p:txBody>
      </p:sp>
      <p:sp>
        <p:nvSpPr>
          <p:cNvPr id="4" name="Slide Number Placeholder 3">
            <a:extLst>
              <a:ext uri="{FF2B5EF4-FFF2-40B4-BE49-F238E27FC236}">
                <a16:creationId xmlns:a16="http://schemas.microsoft.com/office/drawing/2014/main" id="{F1ABE40E-3F32-5840-B7C5-CE7A5E214566}"/>
              </a:ext>
            </a:extLst>
          </p:cNvPr>
          <p:cNvSpPr>
            <a:spLocks noGrp="1"/>
          </p:cNvSpPr>
          <p:nvPr>
            <p:ph type="sldNum" sz="quarter" idx="12"/>
          </p:nvPr>
        </p:nvSpPr>
        <p:spPr/>
        <p:txBody>
          <a:bodyPr/>
          <a:lstStyle/>
          <a:p>
            <a:fld id="{DA8C51A7-BEEA-471D-933F-7E35BC04A30F}" type="slidenum">
              <a:rPr lang="en-US"/>
              <a:pPr/>
              <a:t>24</a:t>
            </a:fld>
            <a:endParaRPr lang="en-US"/>
          </a:p>
        </p:txBody>
      </p:sp>
    </p:spTree>
    <p:extLst>
      <p:ext uri="{BB962C8B-B14F-4D97-AF65-F5344CB8AC3E}">
        <p14:creationId xmlns:p14="http://schemas.microsoft.com/office/powerpoint/2010/main" val="169956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D8A0-9A31-014F-81CE-9FE2DAFD981C}"/>
              </a:ext>
            </a:extLst>
          </p:cNvPr>
          <p:cNvSpPr>
            <a:spLocks noGrp="1"/>
          </p:cNvSpPr>
          <p:nvPr>
            <p:ph type="title"/>
          </p:nvPr>
        </p:nvSpPr>
        <p:spPr/>
        <p:txBody>
          <a:bodyPr/>
          <a:lstStyle/>
          <a:p>
            <a:r>
              <a:rPr lang="en-US"/>
              <a:t>Thuật toán tôi thép</a:t>
            </a:r>
          </a:p>
        </p:txBody>
      </p:sp>
      <p:sp>
        <p:nvSpPr>
          <p:cNvPr id="3" name="Content Placeholder 2">
            <a:extLst>
              <a:ext uri="{FF2B5EF4-FFF2-40B4-BE49-F238E27FC236}">
                <a16:creationId xmlns:a16="http://schemas.microsoft.com/office/drawing/2014/main" id="{DA69B624-0ED1-F745-9D19-40EEA6CBF629}"/>
              </a:ext>
            </a:extLst>
          </p:cNvPr>
          <p:cNvSpPr>
            <a:spLocks noGrp="1"/>
          </p:cNvSpPr>
          <p:nvPr>
            <p:ph idx="1"/>
          </p:nvPr>
        </p:nvSpPr>
        <p:spPr>
          <a:xfrm>
            <a:off x="706438" y="1514203"/>
            <a:ext cx="8874125" cy="4351338"/>
          </a:xfrm>
        </p:spPr>
        <p:txBody>
          <a:bodyPr/>
          <a:lstStyle/>
          <a:p>
            <a:pPr>
              <a:lnSpc>
                <a:spcPts val="2760"/>
              </a:lnSpc>
              <a:buFont typeface="Wingdings" pitchFamily="2" charset="2"/>
              <a:buChar char="v"/>
            </a:pPr>
            <a:r>
              <a:rPr lang="vi-VN"/>
              <a:t> </a:t>
            </a:r>
            <a:r>
              <a:rPr lang="vi-VN">
                <a:solidFill>
                  <a:schemeClr val="bg1">
                    <a:lumMod val="50000"/>
                  </a:schemeClr>
                </a:solidFill>
              </a:rPr>
              <a:t>Khi lựa chọn ngẫu nhiên một hàng xóm, nếu hàng xóm đó kém hơn trạng thái hiện thời, thuật toán có thể quyết định di chuyển sang đó với một xác suất p.</a:t>
            </a:r>
          </a:p>
          <a:p>
            <a:pPr>
              <a:lnSpc>
                <a:spcPts val="2760"/>
              </a:lnSpc>
              <a:buFont typeface="Wingdings" pitchFamily="2" charset="2"/>
              <a:buChar char="v"/>
            </a:pPr>
            <a:r>
              <a:rPr lang="vi-VN"/>
              <a:t> </a:t>
            </a:r>
            <a:r>
              <a:rPr lang="en-US"/>
              <a:t> </a:t>
            </a:r>
            <a:r>
              <a:rPr lang="vi-VN"/>
              <a:t>Kết hợp hai yếu tố trên, xác suất chuyển sang trạng thái kém hơn </a:t>
            </a:r>
            <a:r>
              <a:rPr lang="vi-VN">
                <a:solidFill>
                  <a:srgbClr val="C00000"/>
                </a:solidFill>
              </a:rPr>
              <a:t>p = exp( −</a:t>
            </a:r>
            <a:r>
              <a:rPr lang="el-GR">
                <a:solidFill>
                  <a:srgbClr val="C00000"/>
                </a:solidFill>
              </a:rPr>
              <a:t>Δ(</a:t>
            </a:r>
            <a:r>
              <a:rPr lang="vi-VN">
                <a:solidFill>
                  <a:srgbClr val="C00000"/>
                </a:solidFill>
              </a:rPr>
              <a:t>x,y)/T)</a:t>
            </a:r>
            <a:r>
              <a:rPr lang="vi-VN"/>
              <a:t>, với T là nhiệt độ (tương tự trong tôi kim loại) và </a:t>
            </a:r>
            <a:r>
              <a:rPr lang="vi-VN">
                <a:solidFill>
                  <a:srgbClr val="26902B"/>
                </a:solidFill>
              </a:rPr>
              <a:t>giảm theo thời gian</a:t>
            </a:r>
            <a:r>
              <a:rPr lang="vi-VN"/>
              <a:t>. </a:t>
            </a:r>
          </a:p>
          <a:p>
            <a:pPr marL="0" indent="0" algn="ctr">
              <a:lnSpc>
                <a:spcPts val="2760"/>
              </a:lnSpc>
              <a:buNone/>
            </a:pPr>
            <a:r>
              <a:rPr lang="vi-VN">
                <a:solidFill>
                  <a:schemeClr val="bg1">
                    <a:lumMod val="50000"/>
                  </a:schemeClr>
                </a:solidFill>
              </a:rPr>
              <a:t>[Vì sao lại là hàm exp( −</a:t>
            </a:r>
            <a:r>
              <a:rPr lang="el-GR">
                <a:solidFill>
                  <a:schemeClr val="bg1">
                    <a:lumMod val="50000"/>
                  </a:schemeClr>
                </a:solidFill>
              </a:rPr>
              <a:t>Δ(</a:t>
            </a:r>
            <a:r>
              <a:rPr lang="vi-VN">
                <a:solidFill>
                  <a:schemeClr val="bg1">
                    <a:lumMod val="50000"/>
                  </a:schemeClr>
                </a:solidFill>
              </a:rPr>
              <a:t>x,y)/T) ?]</a:t>
            </a:r>
          </a:p>
          <a:p>
            <a:pPr>
              <a:lnSpc>
                <a:spcPts val="2760"/>
              </a:lnSpc>
            </a:pPr>
            <a:r>
              <a:rPr lang="vi-VN"/>
              <a:t>Sử dụng một biến </a:t>
            </a:r>
            <a:r>
              <a:rPr lang="vi-VN" i="1"/>
              <a:t>x</a:t>
            </a:r>
            <a:r>
              <a:rPr lang="vi-VN"/>
              <a:t>* để lưu trạng thái tốt nhất đã từng khảo sát </a:t>
            </a:r>
            <a:endParaRPr lang="vi-VN">
              <a:effectLst/>
            </a:endParaRPr>
          </a:p>
          <a:p>
            <a:pPr>
              <a:lnSpc>
                <a:spcPts val="2760"/>
              </a:lnSpc>
            </a:pPr>
            <a:r>
              <a:rPr lang="vi-VN"/>
              <a:t>Lệnh </a:t>
            </a:r>
            <a:r>
              <a:rPr lang="vi-VN" b="1"/>
              <a:t>if </a:t>
            </a:r>
            <a:r>
              <a:rPr lang="vi-VN"/>
              <a:t>rand[0,1] &lt; p </a:t>
            </a:r>
            <a:r>
              <a:rPr lang="vi-VN" b="1"/>
              <a:t>then </a:t>
            </a:r>
            <a:r>
              <a:rPr lang="vi-VN"/>
              <a:t>x ← y có nghĩa là gán y cho x với xác suất p </a:t>
            </a:r>
            <a:endParaRPr lang="vi-VN">
              <a:effectLst/>
            </a:endParaRPr>
          </a:p>
          <a:p>
            <a:pPr marL="0" indent="0">
              <a:lnSpc>
                <a:spcPts val="2760"/>
              </a:lnSpc>
              <a:buNone/>
            </a:pPr>
            <a:endParaRPr lang="vi-VN">
              <a:effectLst/>
            </a:endParaRPr>
          </a:p>
          <a:p>
            <a:pPr>
              <a:lnSpc>
                <a:spcPts val="2760"/>
              </a:lnSpc>
              <a:buFont typeface="Wingdings" pitchFamily="2" charset="2"/>
              <a:buChar char="v"/>
            </a:pPr>
            <a:endParaRPr lang="vi-VN">
              <a:effectLst/>
            </a:endParaRPr>
          </a:p>
          <a:p>
            <a:pPr marL="385762" lvl="1" indent="0">
              <a:lnSpc>
                <a:spcPts val="2760"/>
              </a:lnSpc>
              <a:buNone/>
            </a:pPr>
            <a:endParaRPr lang="vi-VN">
              <a:effectLst/>
            </a:endParaRPr>
          </a:p>
          <a:p>
            <a:pPr lvl="1">
              <a:lnSpc>
                <a:spcPts val="2760"/>
              </a:lnSpc>
            </a:pPr>
            <a:endParaRPr lang="vi-VN"/>
          </a:p>
          <a:p>
            <a:pPr lvl="1">
              <a:lnSpc>
                <a:spcPts val="2760"/>
              </a:lnSpc>
            </a:pPr>
            <a:endParaRPr lang="vi-VN">
              <a:effectLst/>
            </a:endParaRPr>
          </a:p>
          <a:p>
            <a:pPr>
              <a:lnSpc>
                <a:spcPts val="2760"/>
              </a:lnSpc>
            </a:pPr>
            <a:endParaRPr lang="vi-VN"/>
          </a:p>
        </p:txBody>
      </p:sp>
      <p:sp>
        <p:nvSpPr>
          <p:cNvPr id="4" name="Slide Number Placeholder 3">
            <a:extLst>
              <a:ext uri="{FF2B5EF4-FFF2-40B4-BE49-F238E27FC236}">
                <a16:creationId xmlns:a16="http://schemas.microsoft.com/office/drawing/2014/main" id="{F1ABE40E-3F32-5840-B7C5-CE7A5E214566}"/>
              </a:ext>
            </a:extLst>
          </p:cNvPr>
          <p:cNvSpPr>
            <a:spLocks noGrp="1"/>
          </p:cNvSpPr>
          <p:nvPr>
            <p:ph type="sldNum" sz="quarter" idx="12"/>
          </p:nvPr>
        </p:nvSpPr>
        <p:spPr/>
        <p:txBody>
          <a:bodyPr/>
          <a:lstStyle/>
          <a:p>
            <a:fld id="{DA8C51A7-BEEA-471D-933F-7E35BC04A30F}" type="slidenum">
              <a:rPr lang="en-US"/>
              <a:pPr/>
              <a:t>25</a:t>
            </a:fld>
            <a:endParaRPr lang="en-US"/>
          </a:p>
        </p:txBody>
      </p:sp>
    </p:spTree>
    <p:extLst>
      <p:ext uri="{BB962C8B-B14F-4D97-AF65-F5344CB8AC3E}">
        <p14:creationId xmlns:p14="http://schemas.microsoft.com/office/powerpoint/2010/main" val="95785343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D8A0-9A31-014F-81CE-9FE2DAFD981C}"/>
              </a:ext>
            </a:extLst>
          </p:cNvPr>
          <p:cNvSpPr>
            <a:spLocks noGrp="1"/>
          </p:cNvSpPr>
          <p:nvPr>
            <p:ph type="title"/>
          </p:nvPr>
        </p:nvSpPr>
        <p:spPr/>
        <p:txBody>
          <a:bodyPr/>
          <a:lstStyle/>
          <a:p>
            <a:r>
              <a:rPr lang="en-US"/>
              <a:t>Thuật toán tôi thép</a:t>
            </a:r>
          </a:p>
        </p:txBody>
      </p:sp>
      <p:sp>
        <p:nvSpPr>
          <p:cNvPr id="3" name="Content Placeholder 2">
            <a:extLst>
              <a:ext uri="{FF2B5EF4-FFF2-40B4-BE49-F238E27FC236}">
                <a16:creationId xmlns:a16="http://schemas.microsoft.com/office/drawing/2014/main" id="{DA69B624-0ED1-F745-9D19-40EEA6CBF629}"/>
              </a:ext>
            </a:extLst>
          </p:cNvPr>
          <p:cNvSpPr>
            <a:spLocks noGrp="1"/>
          </p:cNvSpPr>
          <p:nvPr>
            <p:ph idx="1"/>
          </p:nvPr>
        </p:nvSpPr>
        <p:spPr>
          <a:xfrm>
            <a:off x="606996" y="1171774"/>
            <a:ext cx="8874125" cy="5184576"/>
          </a:xfrm>
        </p:spPr>
        <p:txBody>
          <a:bodyPr/>
          <a:lstStyle/>
          <a:p>
            <a:pPr marL="0" indent="0">
              <a:buNone/>
            </a:pPr>
            <a:r>
              <a:rPr lang="vi-VN" sz="2000"/>
              <a:t>SA(</a:t>
            </a:r>
            <a:r>
              <a:rPr lang="vi-VN" sz="2000" i="1"/>
              <a:t>X</a:t>
            </a:r>
            <a:r>
              <a:rPr lang="vi-VN" sz="2000"/>
              <a:t>, Obj, </a:t>
            </a:r>
            <a:r>
              <a:rPr lang="vi-VN" sz="2000" i="1"/>
              <a:t>N</a:t>
            </a:r>
            <a:r>
              <a:rPr lang="vi-VN" sz="2000"/>
              <a:t>, </a:t>
            </a:r>
            <a:r>
              <a:rPr lang="vi-VN" sz="2000" i="1"/>
              <a:t>m</a:t>
            </a:r>
            <a:r>
              <a:rPr lang="vi-VN" sz="2000"/>
              <a:t>, </a:t>
            </a:r>
            <a:r>
              <a:rPr lang="vi-VN" sz="2000" i="1"/>
              <a:t>x</a:t>
            </a:r>
            <a:r>
              <a:rPr lang="vi-VN" sz="2000"/>
              <a:t>, </a:t>
            </a:r>
            <a:r>
              <a:rPr lang="vi-VN" sz="2000" i="1"/>
              <a:t>C</a:t>
            </a:r>
            <a:r>
              <a:rPr lang="vi-VN" sz="2000"/>
              <a:t>) </a:t>
            </a:r>
            <a:r>
              <a:rPr lang="vi-VN" sz="2000">
                <a:solidFill>
                  <a:schemeClr val="accent2">
                    <a:lumMod val="75000"/>
                  </a:schemeClr>
                </a:solidFill>
              </a:rPr>
              <a:t>// Obj càng nhỏ càng tốt </a:t>
            </a:r>
          </a:p>
          <a:p>
            <a:r>
              <a:rPr lang="vi-VN" sz="1800"/>
              <a:t>Đầu vào: số bước lặp </a:t>
            </a:r>
            <a:r>
              <a:rPr lang="vi-VN" sz="1800" i="1"/>
              <a:t>m </a:t>
            </a:r>
          </a:p>
          <a:p>
            <a:pPr lvl="1"/>
            <a:r>
              <a:rPr lang="vi-VN" sz="1800"/>
              <a:t>trạng thái bắt đầu </a:t>
            </a:r>
            <a:r>
              <a:rPr lang="vi-VN" sz="1800" i="1"/>
              <a:t>x </a:t>
            </a:r>
            <a:r>
              <a:rPr lang="vi-VN" sz="1800"/>
              <a:t>(chọn ngẫu nhiên) </a:t>
            </a:r>
            <a:endParaRPr lang="vi-VN" sz="1800">
              <a:effectLst/>
            </a:endParaRPr>
          </a:p>
          <a:p>
            <a:pPr lvl="1"/>
            <a:r>
              <a:rPr lang="vi-VN" sz="1800"/>
              <a:t>sơ đồ làm lạnh </a:t>
            </a:r>
            <a:r>
              <a:rPr lang="vi-VN" sz="1800" i="1"/>
              <a:t>C </a:t>
            </a:r>
            <a:r>
              <a:rPr lang="vi-VN" sz="1800"/>
              <a:t>(giá trị ban đầu và cách thay đổi T) </a:t>
            </a:r>
          </a:p>
          <a:p>
            <a:r>
              <a:rPr lang="vi-VN" sz="1800"/>
              <a:t>Đầu ra: trạng thái tốt nhất </a:t>
            </a:r>
            <a:r>
              <a:rPr lang="vi-VN" sz="1800" i="1"/>
              <a:t>x</a:t>
            </a:r>
            <a:r>
              <a:rPr lang="vi-VN" sz="1800"/>
              <a:t>*</a:t>
            </a:r>
          </a:p>
          <a:p>
            <a:r>
              <a:rPr lang="vi-VN" sz="2000"/>
              <a:t>Khởi tạo: </a:t>
            </a:r>
            <a:r>
              <a:rPr lang="vi-VN" sz="2000" i="1"/>
              <a:t>x</a:t>
            </a:r>
            <a:r>
              <a:rPr lang="vi-VN" sz="2000"/>
              <a:t>* = </a:t>
            </a:r>
            <a:r>
              <a:rPr lang="vi-VN" sz="2000" i="1"/>
              <a:t>x </a:t>
            </a:r>
            <a:r>
              <a:rPr lang="vi-VN" sz="2000"/>
              <a:t>; </a:t>
            </a:r>
            <a:endParaRPr lang="vi-VN" sz="2000">
              <a:effectLst/>
            </a:endParaRPr>
          </a:p>
          <a:p>
            <a:pPr marL="385762" lvl="1" indent="0">
              <a:buNone/>
            </a:pPr>
            <a:r>
              <a:rPr lang="vi-VN" b="1"/>
              <a:t>For</a:t>
            </a:r>
            <a:r>
              <a:rPr lang="vi-VN"/>
              <a:t> t = 1 </a:t>
            </a:r>
            <a:r>
              <a:rPr lang="vi-VN" b="1"/>
              <a:t>to</a:t>
            </a:r>
            <a:r>
              <a:rPr lang="vi-VN"/>
              <a:t> </a:t>
            </a:r>
            <a:r>
              <a:rPr lang="vi-VN" i="1"/>
              <a:t>m</a:t>
            </a:r>
          </a:p>
          <a:p>
            <a:pPr marL="385762" lvl="1" indent="0">
              <a:buNone/>
            </a:pPr>
            <a:r>
              <a:rPr lang="vi-VN"/>
              <a:t>1. chọn ngẫu nhiên </a:t>
            </a:r>
            <a:r>
              <a:rPr lang="vi-VN" i="1"/>
              <a:t>y </a:t>
            </a:r>
            <a:r>
              <a:rPr lang="vi-VN"/>
              <a:t>∈ </a:t>
            </a:r>
            <a:r>
              <a:rPr lang="vi-VN" i="1"/>
              <a:t>N</a:t>
            </a:r>
            <a:r>
              <a:rPr lang="vi-VN"/>
              <a:t>(</a:t>
            </a:r>
            <a:r>
              <a:rPr lang="vi-VN" i="1"/>
              <a:t>x</a:t>
            </a:r>
            <a:r>
              <a:rPr lang="vi-VN"/>
              <a:t>) </a:t>
            </a:r>
          </a:p>
          <a:p>
            <a:pPr marL="1114425" lvl="2" indent="-342900">
              <a:buFont typeface="+mj-lt"/>
              <a:buAutoNum type="alphaLcPeriod"/>
            </a:pPr>
            <a:r>
              <a:rPr lang="vi-VN" sz="1800"/>
              <a:t>tính </a:t>
            </a:r>
            <a:r>
              <a:rPr lang="el-GR" sz="1800"/>
              <a:t>Δ(</a:t>
            </a:r>
            <a:r>
              <a:rPr lang="vi-VN" sz="1800"/>
              <a:t>x,y) = Obj(y) – Obj(x)</a:t>
            </a:r>
          </a:p>
          <a:p>
            <a:pPr marL="1114425" lvl="2" indent="-342900">
              <a:buFont typeface="+mj-lt"/>
              <a:buAutoNum type="alphaLcPeriod"/>
            </a:pPr>
            <a:r>
              <a:rPr lang="vi-VN" sz="1800" b="1"/>
              <a:t>if</a:t>
            </a:r>
            <a:r>
              <a:rPr lang="vi-VN" sz="1800"/>
              <a:t> </a:t>
            </a:r>
            <a:r>
              <a:rPr lang="el-GR" sz="1800"/>
              <a:t>Δ(</a:t>
            </a:r>
            <a:r>
              <a:rPr lang="vi-VN" sz="1800"/>
              <a:t>x,y) &lt; 0 </a:t>
            </a:r>
            <a:r>
              <a:rPr lang="vi-VN" sz="1800" b="1"/>
              <a:t>then</a:t>
            </a:r>
            <a:r>
              <a:rPr lang="vi-VN" sz="1800"/>
              <a:t> p = 1</a:t>
            </a:r>
          </a:p>
          <a:p>
            <a:pPr marL="1114425" lvl="2" indent="-342900">
              <a:buFont typeface="+mj-lt"/>
              <a:buAutoNum type="alphaLcPeriod"/>
            </a:pPr>
            <a:r>
              <a:rPr lang="vi-VN" sz="1800" b="1"/>
              <a:t>else</a:t>
            </a:r>
            <a:r>
              <a:rPr lang="vi-VN" sz="1800"/>
              <a:t> p = exp(−</a:t>
            </a:r>
            <a:r>
              <a:rPr lang="el-GR" sz="1800"/>
              <a:t>Δ(</a:t>
            </a:r>
            <a:r>
              <a:rPr lang="vi-VN" sz="1800"/>
              <a:t>x,y)/T)</a:t>
            </a:r>
          </a:p>
          <a:p>
            <a:pPr marL="1114425" lvl="2" indent="-342900">
              <a:buFont typeface="+mj-lt"/>
              <a:buAutoNum type="alphaLcPeriod"/>
            </a:pPr>
            <a:r>
              <a:rPr lang="vi-VN" sz="1800" b="1"/>
              <a:t>if</a:t>
            </a:r>
            <a:r>
              <a:rPr lang="vi-VN" sz="1800"/>
              <a:t> rand[0,1] &lt; p </a:t>
            </a:r>
            <a:r>
              <a:rPr lang="vi-VN" sz="1800" b="1"/>
              <a:t>then</a:t>
            </a:r>
            <a:r>
              <a:rPr lang="vi-VN" sz="1800"/>
              <a:t> x ← y  </a:t>
            </a:r>
            <a:r>
              <a:rPr lang="vi-VN" sz="1800">
                <a:solidFill>
                  <a:schemeClr val="accent2">
                    <a:lumMod val="75000"/>
                  </a:schemeClr>
                </a:solidFill>
              </a:rPr>
              <a:t>// chuyển sang y với xác suất p. </a:t>
            </a:r>
          </a:p>
          <a:p>
            <a:pPr marL="771525" lvl="2" indent="0">
              <a:buNone/>
            </a:pPr>
            <a:r>
              <a:rPr lang="vi-VN" sz="1800"/>
              <a:t>      </a:t>
            </a:r>
            <a:r>
              <a:rPr lang="vi-VN" sz="1800" b="1"/>
              <a:t>if</a:t>
            </a:r>
            <a:r>
              <a:rPr lang="vi-VN" sz="1800"/>
              <a:t> Obj(x) &lt; Obj(x*) </a:t>
            </a:r>
            <a:r>
              <a:rPr lang="vi-VN" sz="1800" b="1"/>
              <a:t>then</a:t>
            </a:r>
            <a:r>
              <a:rPr lang="vi-VN" sz="1800"/>
              <a:t> x* ← x </a:t>
            </a:r>
          </a:p>
          <a:p>
            <a:pPr marL="385762" lvl="1" indent="0">
              <a:buNone/>
            </a:pPr>
            <a:r>
              <a:rPr lang="vi-VN"/>
              <a:t>2. giảm T theo sơ đồ C</a:t>
            </a:r>
          </a:p>
          <a:p>
            <a:r>
              <a:rPr lang="vi-VN" sz="2000"/>
              <a:t>return x* </a:t>
            </a:r>
            <a:r>
              <a:rPr lang="vi-VN" sz="2000">
                <a:solidFill>
                  <a:schemeClr val="accent2">
                    <a:lumMod val="75000"/>
                  </a:schemeClr>
                </a:solidFill>
              </a:rPr>
              <a:t>//x* là trạng thái tốt nhất trong số những trạng thái đã xem xét </a:t>
            </a:r>
          </a:p>
          <a:p>
            <a:pPr>
              <a:lnSpc>
                <a:spcPts val="2760"/>
              </a:lnSpc>
            </a:pPr>
            <a:endParaRPr lang="vi-VN" sz="2000"/>
          </a:p>
        </p:txBody>
      </p:sp>
      <p:sp>
        <p:nvSpPr>
          <p:cNvPr id="4" name="Slide Number Placeholder 3">
            <a:extLst>
              <a:ext uri="{FF2B5EF4-FFF2-40B4-BE49-F238E27FC236}">
                <a16:creationId xmlns:a16="http://schemas.microsoft.com/office/drawing/2014/main" id="{F1ABE40E-3F32-5840-B7C5-CE7A5E214566}"/>
              </a:ext>
            </a:extLst>
          </p:cNvPr>
          <p:cNvSpPr>
            <a:spLocks noGrp="1"/>
          </p:cNvSpPr>
          <p:nvPr>
            <p:ph type="sldNum" sz="quarter" idx="12"/>
          </p:nvPr>
        </p:nvSpPr>
        <p:spPr/>
        <p:txBody>
          <a:bodyPr/>
          <a:lstStyle/>
          <a:p>
            <a:fld id="{DA8C51A7-BEEA-471D-933F-7E35BC04A30F}" type="slidenum">
              <a:rPr lang="en-US"/>
              <a:pPr/>
              <a:t>26</a:t>
            </a:fld>
            <a:endParaRPr lang="en-US"/>
          </a:p>
        </p:txBody>
      </p:sp>
      <p:sp>
        <p:nvSpPr>
          <p:cNvPr id="8" name="Rectangle 7">
            <a:extLst>
              <a:ext uri="{FF2B5EF4-FFF2-40B4-BE49-F238E27FC236}">
                <a16:creationId xmlns:a16="http://schemas.microsoft.com/office/drawing/2014/main" id="{0592EBC0-6182-A144-9C10-6F838479997C}"/>
              </a:ext>
            </a:extLst>
          </p:cNvPr>
          <p:cNvSpPr/>
          <p:nvPr/>
        </p:nvSpPr>
        <p:spPr>
          <a:xfrm>
            <a:off x="6273094" y="2745533"/>
            <a:ext cx="2808312" cy="108012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vi-VN"/>
              <a:t>Lệnh </a:t>
            </a:r>
            <a:r>
              <a:rPr lang="vi-VN" b="1"/>
              <a:t>if </a:t>
            </a:r>
            <a:r>
              <a:rPr lang="vi-VN"/>
              <a:t>rand[0,1] &lt; p </a:t>
            </a:r>
            <a:r>
              <a:rPr lang="vi-VN" b="1"/>
              <a:t>then </a:t>
            </a:r>
            <a:r>
              <a:rPr lang="vi-VN"/>
              <a:t>x ← y có nghĩa là gán y cho x với xác suất p </a:t>
            </a:r>
            <a:endParaRPr lang="vi-VN">
              <a:effectLst/>
            </a:endParaRPr>
          </a:p>
        </p:txBody>
      </p:sp>
      <p:cxnSp>
        <p:nvCxnSpPr>
          <p:cNvPr id="10" name="Straight Arrow Connector 9">
            <a:extLst>
              <a:ext uri="{FF2B5EF4-FFF2-40B4-BE49-F238E27FC236}">
                <a16:creationId xmlns:a16="http://schemas.microsoft.com/office/drawing/2014/main" id="{72FA58E1-03A7-3441-8933-371C0FD9B6D7}"/>
              </a:ext>
            </a:extLst>
          </p:cNvPr>
          <p:cNvCxnSpPr>
            <a:cxnSpLocks/>
            <a:stCxn id="8" idx="2"/>
            <a:endCxn id="12" idx="0"/>
          </p:cNvCxnSpPr>
          <p:nvPr/>
        </p:nvCxnSpPr>
        <p:spPr>
          <a:xfrm flipH="1">
            <a:off x="3163280" y="3825653"/>
            <a:ext cx="4513970" cy="899491"/>
          </a:xfrm>
          <a:prstGeom prst="straightConnector1">
            <a:avLst/>
          </a:prstGeom>
          <a:ln w="22225">
            <a:tailEnd type="triangle"/>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99134E97-7883-1F43-A7E8-6E77B454D50F}"/>
              </a:ext>
            </a:extLst>
          </p:cNvPr>
          <p:cNvSpPr/>
          <p:nvPr/>
        </p:nvSpPr>
        <p:spPr>
          <a:xfrm>
            <a:off x="1759124" y="4725144"/>
            <a:ext cx="2808312" cy="360040"/>
          </a:xfrm>
          <a:prstGeom prst="rect">
            <a:avLst/>
          </a:prstGeom>
          <a:noFill/>
          <a:ln w="22225"/>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769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2" end="12"/>
                                            </p:txEl>
                                          </p:spTgt>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59" fill="hold">
                      <p:stCondLst>
                        <p:cond delay="indefinite"/>
                      </p:stCondLst>
                      <p:childTnLst>
                        <p:par>
                          <p:cTn id="60" fill="hold">
                            <p:stCondLst>
                              <p:cond delay="0"/>
                            </p:stCondLst>
                            <p:childTnLst>
                              <p:par>
                                <p:cTn id="61" presetID="3" presetClass="entr" presetSubtype="10" fill="hold" grpId="0" nodeType="clickEffect">
                                  <p:stCondLst>
                                    <p:cond delay="0"/>
                                  </p:stCondLst>
                                  <p:childTnLst>
                                    <p:set>
                                      <p:cBhvr>
                                        <p:cTn id="62" dur="1" fill="hold">
                                          <p:stCondLst>
                                            <p:cond delay="0"/>
                                          </p:stCondLst>
                                        </p:cTn>
                                        <p:tgtEl>
                                          <p:spTgt spid="12"/>
                                        </p:tgtEl>
                                        <p:attrNameLst>
                                          <p:attrName>style.visibility</p:attrName>
                                        </p:attrNameLst>
                                      </p:cBhvr>
                                      <p:to>
                                        <p:strVal val="visible"/>
                                      </p:to>
                                    </p:set>
                                    <p:animEffect transition="in" filter="blinds(horizontal)">
                                      <p:cBhvr>
                                        <p:cTn id="63" dur="500"/>
                                        <p:tgtEl>
                                          <p:spTgt spid="12"/>
                                        </p:tgtEl>
                                      </p:cBhvr>
                                    </p:animEffect>
                                  </p:childTnLst>
                                </p:cTn>
                              </p:par>
                              <p:par>
                                <p:cTn id="64" presetID="3" presetClass="entr" presetSubtype="10" fill="hold" nodeType="withEffect">
                                  <p:stCondLst>
                                    <p:cond delay="0"/>
                                  </p:stCondLst>
                                  <p:childTnLst>
                                    <p:set>
                                      <p:cBhvr>
                                        <p:cTn id="65" dur="1" fill="hold">
                                          <p:stCondLst>
                                            <p:cond delay="0"/>
                                          </p:stCondLst>
                                        </p:cTn>
                                        <p:tgtEl>
                                          <p:spTgt spid="10"/>
                                        </p:tgtEl>
                                        <p:attrNameLst>
                                          <p:attrName>style.visibility</p:attrName>
                                        </p:attrNameLst>
                                      </p:cBhvr>
                                      <p:to>
                                        <p:strVal val="visible"/>
                                      </p:to>
                                    </p:set>
                                    <p:animEffect transition="in" filter="blinds(horizontal)">
                                      <p:cBhvr>
                                        <p:cTn id="66" dur="500"/>
                                        <p:tgtEl>
                                          <p:spTgt spid="10"/>
                                        </p:tgtEl>
                                      </p:cBhvr>
                                    </p:animEffect>
                                  </p:childTnLst>
                                </p:cTn>
                              </p:par>
                              <p:par>
                                <p:cTn id="67" presetID="3" presetClass="entr" presetSubtype="10" fill="hold" grpId="0" nodeType="withEffect">
                                  <p:stCondLst>
                                    <p:cond delay="0"/>
                                  </p:stCondLst>
                                  <p:childTnLst>
                                    <p:set>
                                      <p:cBhvr>
                                        <p:cTn id="68" dur="1" fill="hold">
                                          <p:stCondLst>
                                            <p:cond delay="0"/>
                                          </p:stCondLst>
                                        </p:cTn>
                                        <p:tgtEl>
                                          <p:spTgt spid="8"/>
                                        </p:tgtEl>
                                        <p:attrNameLst>
                                          <p:attrName>style.visibility</p:attrName>
                                        </p:attrNameLst>
                                      </p:cBhvr>
                                      <p:to>
                                        <p:strVal val="visible"/>
                                      </p:to>
                                    </p:set>
                                    <p:animEffect transition="in" filter="blinds(horizontal)">
                                      <p:cBhvr>
                                        <p:cTn id="69"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2"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D8A0-9A31-014F-81CE-9FE2DAFD981C}"/>
              </a:ext>
            </a:extLst>
          </p:cNvPr>
          <p:cNvSpPr>
            <a:spLocks noGrp="1"/>
          </p:cNvSpPr>
          <p:nvPr>
            <p:ph type="title"/>
          </p:nvPr>
        </p:nvSpPr>
        <p:spPr/>
        <p:txBody>
          <a:bodyPr/>
          <a:lstStyle/>
          <a:p>
            <a:r>
              <a:rPr lang="en-US"/>
              <a:t>Thuật toán tôi thép</a:t>
            </a:r>
          </a:p>
        </p:txBody>
      </p:sp>
      <p:pic>
        <p:nvPicPr>
          <p:cNvPr id="6" name="Content Placeholder 5">
            <a:extLst>
              <a:ext uri="{FF2B5EF4-FFF2-40B4-BE49-F238E27FC236}">
                <a16:creationId xmlns:a16="http://schemas.microsoft.com/office/drawing/2014/main" id="{431E9BDB-2916-684E-8BD8-7B1F6F6A8F6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895028" y="1514203"/>
            <a:ext cx="3810380" cy="2058541"/>
          </a:xfrm>
        </p:spPr>
      </p:pic>
      <p:sp>
        <p:nvSpPr>
          <p:cNvPr id="4" name="Slide Number Placeholder 3">
            <a:extLst>
              <a:ext uri="{FF2B5EF4-FFF2-40B4-BE49-F238E27FC236}">
                <a16:creationId xmlns:a16="http://schemas.microsoft.com/office/drawing/2014/main" id="{F1ABE40E-3F32-5840-B7C5-CE7A5E214566}"/>
              </a:ext>
            </a:extLst>
          </p:cNvPr>
          <p:cNvSpPr>
            <a:spLocks noGrp="1"/>
          </p:cNvSpPr>
          <p:nvPr>
            <p:ph type="sldNum" sz="quarter" idx="12"/>
          </p:nvPr>
        </p:nvSpPr>
        <p:spPr/>
        <p:txBody>
          <a:bodyPr/>
          <a:lstStyle/>
          <a:p>
            <a:fld id="{DA8C51A7-BEEA-471D-933F-7E35BC04A30F}" type="slidenum">
              <a:rPr lang="en-US"/>
              <a:pPr/>
              <a:t>27</a:t>
            </a:fld>
            <a:endParaRPr lang="en-US"/>
          </a:p>
        </p:txBody>
      </p:sp>
      <p:sp>
        <p:nvSpPr>
          <p:cNvPr id="7" name="TextBox 6">
            <a:extLst>
              <a:ext uri="{FF2B5EF4-FFF2-40B4-BE49-F238E27FC236}">
                <a16:creationId xmlns:a16="http://schemas.microsoft.com/office/drawing/2014/main" id="{6C2DBBC9-A9D1-2C4F-A3BE-C0B6290555EE}"/>
              </a:ext>
            </a:extLst>
          </p:cNvPr>
          <p:cNvSpPr txBox="1"/>
          <p:nvPr/>
        </p:nvSpPr>
        <p:spPr>
          <a:xfrm rot="670923">
            <a:off x="3617077" y="2677218"/>
            <a:ext cx="1058303" cy="369332"/>
          </a:xfrm>
          <a:prstGeom prst="rect">
            <a:avLst/>
          </a:prstGeom>
          <a:noFill/>
        </p:spPr>
        <p:txBody>
          <a:bodyPr wrap="none" rtlCol="0">
            <a:spAutoFit/>
          </a:bodyPr>
          <a:lstStyle/>
          <a:p>
            <a:r>
              <a:rPr lang="en-US"/>
              <a:t>P = e</a:t>
            </a:r>
            <a:r>
              <a:rPr lang="en-US" baseline="30000"/>
              <a:t>-x</a:t>
            </a:r>
            <a:r>
              <a:rPr lang="en-US"/>
              <a:t>/T</a:t>
            </a:r>
          </a:p>
        </p:txBody>
      </p:sp>
      <p:sp>
        <p:nvSpPr>
          <p:cNvPr id="8" name="TextBox 7">
            <a:extLst>
              <a:ext uri="{FF2B5EF4-FFF2-40B4-BE49-F238E27FC236}">
                <a16:creationId xmlns:a16="http://schemas.microsoft.com/office/drawing/2014/main" id="{913E2785-1638-7D47-9988-301292E1A192}"/>
              </a:ext>
            </a:extLst>
          </p:cNvPr>
          <p:cNvSpPr txBox="1"/>
          <p:nvPr/>
        </p:nvSpPr>
        <p:spPr>
          <a:xfrm>
            <a:off x="496352" y="3704441"/>
            <a:ext cx="9383444" cy="2677656"/>
          </a:xfrm>
          <a:prstGeom prst="rect">
            <a:avLst/>
          </a:prstGeom>
          <a:noFill/>
        </p:spPr>
        <p:txBody>
          <a:bodyPr wrap="square" rtlCol="0">
            <a:spAutoFit/>
          </a:bodyPr>
          <a:lstStyle/>
          <a:p>
            <a:pPr marL="285750" indent="-285750">
              <a:buFont typeface="Arial" panose="020B0604020202020204" pitchFamily="34" charset="0"/>
              <a:buChar char="•"/>
            </a:pPr>
            <a:r>
              <a:rPr lang="vi-VN" sz="2000"/>
              <a:t>Khi số vòng lặp tăng lên, tức là </a:t>
            </a:r>
            <a:r>
              <a:rPr lang="vi-VN" sz="2000">
                <a:solidFill>
                  <a:srgbClr val="C00000"/>
                </a:solidFill>
              </a:rPr>
              <a:t>t tăng</a:t>
            </a:r>
            <a:r>
              <a:rPr lang="vi-VN" sz="2000"/>
              <a:t>, giá trị của </a:t>
            </a:r>
            <a:r>
              <a:rPr lang="vi-VN" sz="2000">
                <a:solidFill>
                  <a:srgbClr val="C00000"/>
                </a:solidFill>
              </a:rPr>
              <a:t>T giảm</a:t>
            </a:r>
          </a:p>
          <a:p>
            <a:pPr marL="285750" indent="-285750">
              <a:buFont typeface="Arial" panose="020B0604020202020204" pitchFamily="34" charset="0"/>
              <a:buChar char="•"/>
            </a:pPr>
            <a:r>
              <a:rPr lang="vi-VN" sz="2000"/>
              <a:t>Khi </a:t>
            </a:r>
            <a:r>
              <a:rPr lang="vi-VN" sz="2000">
                <a:solidFill>
                  <a:srgbClr val="26902B"/>
                </a:solidFill>
              </a:rPr>
              <a:t>T tăng và tiến tới vô cùng</a:t>
            </a:r>
            <a:r>
              <a:rPr lang="vi-VN" sz="2000"/>
              <a:t>, xác suất </a:t>
            </a:r>
          </a:p>
          <a:p>
            <a:r>
              <a:rPr lang="vi-VN" sz="2000" i="1"/>
              <a:t>	</a:t>
            </a:r>
            <a:r>
              <a:rPr lang="vi-VN" sz="2000" i="1">
                <a:solidFill>
                  <a:srgbClr val="C00000"/>
                </a:solidFill>
              </a:rPr>
              <a:t>p </a:t>
            </a:r>
            <a:r>
              <a:rPr lang="vi-VN" sz="2000">
                <a:solidFill>
                  <a:srgbClr val="C00000"/>
                </a:solidFill>
              </a:rPr>
              <a:t>→ 1 mọi ∆(</a:t>
            </a:r>
            <a:r>
              <a:rPr lang="vi-VN" sz="2000" i="1">
                <a:solidFill>
                  <a:srgbClr val="C00000"/>
                </a:solidFill>
              </a:rPr>
              <a:t>x</a:t>
            </a:r>
            <a:r>
              <a:rPr lang="vi-VN" sz="2000">
                <a:solidFill>
                  <a:srgbClr val="C00000"/>
                </a:solidFill>
              </a:rPr>
              <a:t>, </a:t>
            </a:r>
            <a:r>
              <a:rPr lang="vi-VN" sz="2000" i="1">
                <a:solidFill>
                  <a:srgbClr val="C00000"/>
                </a:solidFill>
              </a:rPr>
              <a:t>y</a:t>
            </a:r>
            <a:r>
              <a:rPr lang="vi-VN" sz="2000">
                <a:solidFill>
                  <a:srgbClr val="C00000"/>
                </a:solidFill>
              </a:rPr>
              <a:t>) </a:t>
            </a:r>
          </a:p>
          <a:p>
            <a:pPr marL="285750" indent="-285750">
              <a:lnSpc>
                <a:spcPct val="150000"/>
              </a:lnSpc>
              <a:buFont typeface="Arial" panose="020B0604020202020204" pitchFamily="34" charset="0"/>
              <a:buChar char="•"/>
            </a:pPr>
            <a:r>
              <a:rPr lang="vi-VN" sz="2000"/>
              <a:t>Với điều kiện</a:t>
            </a:r>
            <a:r>
              <a:rPr lang="vi-VN" sz="2000" b="1"/>
              <a:t> rand[0,1] &lt; p, </a:t>
            </a:r>
            <a:r>
              <a:rPr lang="vi-VN" sz="2000"/>
              <a:t>thuật toán chấp nhận bất chuyển động nào bất kể trạng thái mới tốt hơn hay kém hơn, tức là </a:t>
            </a:r>
            <a:r>
              <a:rPr lang="vi-VN" sz="2000">
                <a:solidFill>
                  <a:srgbClr val="C00000"/>
                </a:solidFill>
              </a:rPr>
              <a:t>thuật toán di chuyển ngẫu nhiên trong không gian trạng thái. </a:t>
            </a:r>
          </a:p>
          <a:p>
            <a:endParaRPr lang="en-US"/>
          </a:p>
        </p:txBody>
      </p:sp>
      <p:sp>
        <p:nvSpPr>
          <p:cNvPr id="9" name="TextBox 8">
            <a:extLst>
              <a:ext uri="{FF2B5EF4-FFF2-40B4-BE49-F238E27FC236}">
                <a16:creationId xmlns:a16="http://schemas.microsoft.com/office/drawing/2014/main" id="{03893503-C5E9-5640-B0D4-F976D603E8E3}"/>
              </a:ext>
            </a:extLst>
          </p:cNvPr>
          <p:cNvSpPr txBox="1"/>
          <p:nvPr/>
        </p:nvSpPr>
        <p:spPr>
          <a:xfrm>
            <a:off x="5121350" y="1229154"/>
            <a:ext cx="4087844" cy="2343590"/>
          </a:xfrm>
          <a:prstGeom prst="rect">
            <a:avLst/>
          </a:prstGeom>
          <a:noFill/>
        </p:spPr>
        <p:txBody>
          <a:bodyPr wrap="square" rtlCol="0">
            <a:spAutoFit/>
          </a:bodyPr>
          <a:lstStyle/>
          <a:p>
            <a:pPr>
              <a:lnSpc>
                <a:spcPct val="150000"/>
              </a:lnSpc>
            </a:pPr>
            <a:r>
              <a:rPr lang="vi-VN" sz="2000" b="1" i="1"/>
              <a:t>Sơ đồ làm lạnh C: </a:t>
            </a:r>
            <a:endParaRPr lang="vi-VN"/>
          </a:p>
          <a:p>
            <a:pPr>
              <a:lnSpc>
                <a:spcPct val="150000"/>
              </a:lnSpc>
            </a:pPr>
            <a:r>
              <a:rPr lang="vi-VN" sz="2000" i="1"/>
              <a:t>T</a:t>
            </a:r>
            <a:r>
              <a:rPr lang="vi-VN" sz="2000" i="1" baseline="-25000"/>
              <a:t>t</a:t>
            </a:r>
            <a:r>
              <a:rPr lang="vi-VN" sz="2000" baseline="-25000"/>
              <a:t>+1</a:t>
            </a:r>
            <a:r>
              <a:rPr lang="vi-VN" sz="2000"/>
              <a:t> =</a:t>
            </a:r>
            <a:r>
              <a:rPr lang="vi-VN" sz="2000" i="1"/>
              <a:t>T</a:t>
            </a:r>
            <a:r>
              <a:rPr lang="vi-VN" sz="2000" baseline="-25000"/>
              <a:t>0</a:t>
            </a:r>
            <a:r>
              <a:rPr lang="el-GR" sz="2000"/>
              <a:t>α</a:t>
            </a:r>
            <a:r>
              <a:rPr lang="vi-VN" sz="2000" i="1" baseline="30000"/>
              <a:t>t</a:t>
            </a:r>
            <a:r>
              <a:rPr lang="vi-VN" sz="2000" i="1"/>
              <a:t> </a:t>
            </a:r>
            <a:r>
              <a:rPr lang="vi-VN" sz="2000"/>
              <a:t>Trong đó: </a:t>
            </a:r>
            <a:endParaRPr lang="vi-VN"/>
          </a:p>
          <a:p>
            <a:pPr>
              <a:lnSpc>
                <a:spcPct val="150000"/>
              </a:lnSpc>
            </a:pPr>
            <a:r>
              <a:rPr lang="vi-VN" sz="2000" i="1"/>
              <a:t>T</a:t>
            </a:r>
            <a:r>
              <a:rPr lang="vi-VN" sz="2000" baseline="-25000"/>
              <a:t>0</a:t>
            </a:r>
            <a:r>
              <a:rPr lang="vi-VN" sz="2000"/>
              <a:t> &gt; 0 là giá trị ban đầu</a:t>
            </a:r>
          </a:p>
          <a:p>
            <a:pPr>
              <a:lnSpc>
                <a:spcPct val="150000"/>
              </a:lnSpc>
            </a:pPr>
            <a:r>
              <a:rPr lang="el-GR" sz="2000"/>
              <a:t>α </a:t>
            </a:r>
            <a:r>
              <a:rPr lang="vi-VN" sz="2000"/>
              <a:t>thuộc (0,1), </a:t>
            </a:r>
            <a:r>
              <a:rPr lang="vi-VN" sz="2000" i="1"/>
              <a:t>t </a:t>
            </a:r>
            <a:r>
              <a:rPr lang="vi-VN" sz="2000"/>
              <a:t>là số thứ tự vòng lặp. </a:t>
            </a:r>
            <a:endParaRPr lang="vi-VN" sz="1600"/>
          </a:p>
        </p:txBody>
      </p:sp>
    </p:spTree>
    <p:extLst>
      <p:ext uri="{BB962C8B-B14F-4D97-AF65-F5344CB8AC3E}">
        <p14:creationId xmlns:p14="http://schemas.microsoft.com/office/powerpoint/2010/main" val="159937436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15D8A0-9A31-014F-81CE-9FE2DAFD981C}"/>
              </a:ext>
            </a:extLst>
          </p:cNvPr>
          <p:cNvSpPr>
            <a:spLocks noGrp="1"/>
          </p:cNvSpPr>
          <p:nvPr>
            <p:ph type="title"/>
          </p:nvPr>
        </p:nvSpPr>
        <p:spPr/>
        <p:txBody>
          <a:bodyPr/>
          <a:lstStyle/>
          <a:p>
            <a:r>
              <a:rPr lang="en-US"/>
              <a:t>Thuật toán tôi thép</a:t>
            </a:r>
          </a:p>
        </p:txBody>
      </p:sp>
      <p:sp>
        <p:nvSpPr>
          <p:cNvPr id="3" name="Content Placeholder 2">
            <a:extLst>
              <a:ext uri="{FF2B5EF4-FFF2-40B4-BE49-F238E27FC236}">
                <a16:creationId xmlns:a16="http://schemas.microsoft.com/office/drawing/2014/main" id="{DA69B624-0ED1-F745-9D19-40EEA6CBF629}"/>
              </a:ext>
            </a:extLst>
          </p:cNvPr>
          <p:cNvSpPr>
            <a:spLocks noGrp="1"/>
          </p:cNvSpPr>
          <p:nvPr>
            <p:ph idx="1"/>
          </p:nvPr>
        </p:nvSpPr>
        <p:spPr>
          <a:xfrm>
            <a:off x="606996" y="1514202"/>
            <a:ext cx="8874125" cy="4842147"/>
          </a:xfrm>
        </p:spPr>
        <p:txBody>
          <a:bodyPr/>
          <a:lstStyle/>
          <a:p>
            <a:r>
              <a:rPr lang="vi-VN"/>
              <a:t>Có thể coi thuật toán tôi thép là sự kết hợp giữa leo đồi ngẫu nhiên với chuyển động ngẫu nhiên, trong đó khởi đầu xu hướng chuyển động ngẫu nhiên lớn hơn, và càng về cuối, xu hướng leo đồi càng chiếm ưu thế. </a:t>
            </a:r>
            <a:endParaRPr lang="vi-VN" sz="2000"/>
          </a:p>
          <a:p>
            <a:r>
              <a:rPr lang="vi-VN"/>
              <a:t>Việc lựa chọn các tham số cho sơ đồ làm lạnh thường được thực hiện bằng cách thực nghiệm với từng bài toán cụ thể. </a:t>
            </a:r>
            <a:endParaRPr lang="vi-VN" sz="2000"/>
          </a:p>
          <a:p>
            <a:r>
              <a:rPr lang="vi-VN"/>
              <a:t>Thuật toán tôi thép được dùng nhiều trong việc thiết kế vi mạch có độ tích hợp lớn cũng như giải quyết những bài toán tối ưu hóa tổ hợp có kích thước lớn trên thực tế. </a:t>
            </a:r>
          </a:p>
          <a:p>
            <a:r>
              <a:rPr lang="vi-VN"/>
              <a:t>Nhiều ứng dụng cho thấy, thuật toán tôi thép có khả năng tìm được lời giải tốt hơn so với thuật toán leo đồi. </a:t>
            </a:r>
            <a:endParaRPr lang="vi-VN" sz="2000"/>
          </a:p>
          <a:p>
            <a:pPr>
              <a:lnSpc>
                <a:spcPts val="2760"/>
              </a:lnSpc>
            </a:pPr>
            <a:endParaRPr lang="vi-VN" sz="2000"/>
          </a:p>
        </p:txBody>
      </p:sp>
      <p:sp>
        <p:nvSpPr>
          <p:cNvPr id="4" name="Slide Number Placeholder 3">
            <a:extLst>
              <a:ext uri="{FF2B5EF4-FFF2-40B4-BE49-F238E27FC236}">
                <a16:creationId xmlns:a16="http://schemas.microsoft.com/office/drawing/2014/main" id="{F1ABE40E-3F32-5840-B7C5-CE7A5E214566}"/>
              </a:ext>
            </a:extLst>
          </p:cNvPr>
          <p:cNvSpPr>
            <a:spLocks noGrp="1"/>
          </p:cNvSpPr>
          <p:nvPr>
            <p:ph type="sldNum" sz="quarter" idx="12"/>
          </p:nvPr>
        </p:nvSpPr>
        <p:spPr/>
        <p:txBody>
          <a:bodyPr/>
          <a:lstStyle/>
          <a:p>
            <a:fld id="{DA8C51A7-BEEA-471D-933F-7E35BC04A30F}" type="slidenum">
              <a:rPr lang="en-US"/>
              <a:pPr/>
              <a:t>28</a:t>
            </a:fld>
            <a:endParaRPr lang="en-US"/>
          </a:p>
        </p:txBody>
      </p:sp>
    </p:spTree>
    <p:extLst>
      <p:ext uri="{BB962C8B-B14F-4D97-AF65-F5344CB8AC3E}">
        <p14:creationId xmlns:p14="http://schemas.microsoft.com/office/powerpoint/2010/main" val="1831386705"/>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BBE496-16A7-8748-BC39-8BE0C4A1AD30}"/>
              </a:ext>
            </a:extLst>
          </p:cNvPr>
          <p:cNvSpPr>
            <a:spLocks noGrp="1"/>
          </p:cNvSpPr>
          <p:nvPr>
            <p:ph type="title"/>
          </p:nvPr>
        </p:nvSpPr>
        <p:spPr/>
        <p:txBody>
          <a:bodyPr/>
          <a:lstStyle/>
          <a:p>
            <a:r>
              <a:rPr lang="en-US"/>
              <a:t>ỨNG DỤNG MINH HOẠ</a:t>
            </a:r>
          </a:p>
        </p:txBody>
      </p:sp>
      <p:sp>
        <p:nvSpPr>
          <p:cNvPr id="3" name="Content Placeholder 2">
            <a:extLst>
              <a:ext uri="{FF2B5EF4-FFF2-40B4-BE49-F238E27FC236}">
                <a16:creationId xmlns:a16="http://schemas.microsoft.com/office/drawing/2014/main" id="{6A0D1C17-7BA8-4F4C-9C7D-E1D178B45E39}"/>
              </a:ext>
            </a:extLst>
          </p:cNvPr>
          <p:cNvSpPr>
            <a:spLocks noGrp="1"/>
          </p:cNvSpPr>
          <p:nvPr>
            <p:ph idx="1"/>
          </p:nvPr>
        </p:nvSpPr>
        <p:spPr>
          <a:xfrm>
            <a:off x="706438" y="1412776"/>
            <a:ext cx="8874125" cy="4764187"/>
          </a:xfrm>
        </p:spPr>
        <p:txBody>
          <a:bodyPr/>
          <a:lstStyle/>
          <a:p>
            <a:pPr marL="0" indent="0">
              <a:buNone/>
            </a:pPr>
            <a:r>
              <a:rPr lang="vi-VN" sz="2400"/>
              <a:t>Một bài toán có nhiều ứng dụng: </a:t>
            </a:r>
            <a:r>
              <a:rPr lang="vi-VN" sz="2400" b="1"/>
              <a:t>xếp thời khoá biểu cho trường trung học </a:t>
            </a:r>
            <a:r>
              <a:rPr lang="vi-VN" sz="2400"/>
              <a:t>(cơ sở và phổ thông). </a:t>
            </a:r>
          </a:p>
          <a:p>
            <a:r>
              <a:rPr lang="vi-VN" sz="2400" i="1"/>
              <a:t>Yêu cầu chung</a:t>
            </a:r>
            <a:r>
              <a:rPr lang="vi-VN" sz="2400"/>
              <a:t>: Xác định giáo viên nào dạy lớp nào vào tiết nào, thoả mãn một số ràng buộc: không có giáo viên nào dậy hai lớp cùng một lúc hay không có lớp nào học hai môn cùng một lúc v.v </a:t>
            </a:r>
          </a:p>
          <a:p>
            <a:r>
              <a:rPr lang="vi-VN" sz="2400"/>
              <a:t>Để đơn giản, ta sẽ giả sử thời khoá biểu của các tuần là giống nhau và do vậy chỉ cần lập thời khoá biểu cho một tuần. </a:t>
            </a:r>
          </a:p>
          <a:p>
            <a:pPr marL="0" indent="0">
              <a:buNone/>
            </a:pPr>
            <a:r>
              <a:rPr lang="vi-VN" sz="2400" i="1">
                <a:solidFill>
                  <a:srgbClr val="26902B"/>
                </a:solidFill>
              </a:rPr>
              <a:t>Phát biểu bài toán</a:t>
            </a:r>
            <a:r>
              <a:rPr lang="vi-VN" sz="2400">
                <a:solidFill>
                  <a:srgbClr val="26902B"/>
                </a:solidFill>
              </a:rPr>
              <a:t>:</a:t>
            </a:r>
            <a:r>
              <a:rPr lang="vi-VN" sz="2400"/>
              <a:t> </a:t>
            </a:r>
            <a:r>
              <a:rPr lang="vi-VN" sz="2400">
                <a:solidFill>
                  <a:srgbClr val="C00000"/>
                </a:solidFill>
              </a:rPr>
              <a:t>Giả sử có </a:t>
            </a:r>
            <a:r>
              <a:rPr lang="vi-VN" sz="2400" i="1">
                <a:solidFill>
                  <a:srgbClr val="C00000"/>
                </a:solidFill>
              </a:rPr>
              <a:t>m </a:t>
            </a:r>
            <a:r>
              <a:rPr lang="vi-VN" sz="2400">
                <a:solidFill>
                  <a:srgbClr val="C00000"/>
                </a:solidFill>
              </a:rPr>
              <a:t>lớp học </a:t>
            </a:r>
            <a:r>
              <a:rPr lang="vi-VN" sz="2400" i="1">
                <a:solidFill>
                  <a:srgbClr val="C00000"/>
                </a:solidFill>
              </a:rPr>
              <a:t>c</a:t>
            </a:r>
            <a:r>
              <a:rPr lang="vi-VN" sz="2400" baseline="-25000">
                <a:solidFill>
                  <a:srgbClr val="C00000"/>
                </a:solidFill>
              </a:rPr>
              <a:t>1</a:t>
            </a:r>
            <a:r>
              <a:rPr lang="vi-VN" sz="2400">
                <a:solidFill>
                  <a:srgbClr val="C00000"/>
                </a:solidFill>
              </a:rPr>
              <a:t>,...,</a:t>
            </a:r>
            <a:r>
              <a:rPr lang="vi-VN" sz="2400" i="1">
                <a:solidFill>
                  <a:srgbClr val="C00000"/>
                </a:solidFill>
              </a:rPr>
              <a:t>c</a:t>
            </a:r>
            <a:r>
              <a:rPr lang="vi-VN" sz="2400" i="1" baseline="-25000">
                <a:solidFill>
                  <a:srgbClr val="C00000"/>
                </a:solidFill>
              </a:rPr>
              <a:t>m</a:t>
            </a:r>
            <a:r>
              <a:rPr lang="vi-VN" sz="2400" i="1">
                <a:solidFill>
                  <a:srgbClr val="C00000"/>
                </a:solidFill>
              </a:rPr>
              <a:t> </a:t>
            </a:r>
            <a:r>
              <a:rPr lang="vi-VN" sz="2400">
                <a:solidFill>
                  <a:srgbClr val="C00000"/>
                </a:solidFill>
              </a:rPr>
              <a:t>,</a:t>
            </a:r>
            <a:r>
              <a:rPr lang="vi-VN" sz="2400" i="1">
                <a:solidFill>
                  <a:srgbClr val="C00000"/>
                </a:solidFill>
              </a:rPr>
              <a:t>n </a:t>
            </a:r>
            <a:r>
              <a:rPr lang="vi-VN" sz="2400">
                <a:solidFill>
                  <a:srgbClr val="C00000"/>
                </a:solidFill>
              </a:rPr>
              <a:t>giáo viên </a:t>
            </a:r>
            <a:r>
              <a:rPr lang="vi-VN" sz="2400" i="1">
                <a:solidFill>
                  <a:srgbClr val="C00000"/>
                </a:solidFill>
              </a:rPr>
              <a:t>t</a:t>
            </a:r>
            <a:r>
              <a:rPr lang="vi-VN" sz="2400" baseline="-25000">
                <a:solidFill>
                  <a:srgbClr val="C00000"/>
                </a:solidFill>
              </a:rPr>
              <a:t>1</a:t>
            </a:r>
            <a:r>
              <a:rPr lang="vi-VN" sz="2400">
                <a:solidFill>
                  <a:srgbClr val="C00000"/>
                </a:solidFill>
              </a:rPr>
              <a:t>,...,</a:t>
            </a:r>
            <a:r>
              <a:rPr lang="vi-VN" sz="2400" i="1">
                <a:solidFill>
                  <a:srgbClr val="C00000"/>
                </a:solidFill>
              </a:rPr>
              <a:t>t</a:t>
            </a:r>
            <a:r>
              <a:rPr lang="vi-VN" sz="2400" i="1" baseline="-25000">
                <a:solidFill>
                  <a:srgbClr val="C00000"/>
                </a:solidFill>
              </a:rPr>
              <a:t>n</a:t>
            </a:r>
            <a:r>
              <a:rPr lang="vi-VN" sz="2400" i="1">
                <a:solidFill>
                  <a:srgbClr val="C00000"/>
                </a:solidFill>
              </a:rPr>
              <a:t> </a:t>
            </a:r>
            <a:r>
              <a:rPr lang="vi-VN" sz="2400">
                <a:solidFill>
                  <a:srgbClr val="C00000"/>
                </a:solidFill>
              </a:rPr>
              <a:t>, và </a:t>
            </a:r>
            <a:r>
              <a:rPr lang="vi-VN" sz="2400" i="1">
                <a:solidFill>
                  <a:srgbClr val="C00000"/>
                </a:solidFill>
              </a:rPr>
              <a:t>p </a:t>
            </a:r>
            <a:r>
              <a:rPr lang="vi-VN" sz="2400">
                <a:solidFill>
                  <a:srgbClr val="C00000"/>
                </a:solidFill>
              </a:rPr>
              <a:t>tiết học trong một tuần 1,...,</a:t>
            </a:r>
            <a:r>
              <a:rPr lang="vi-VN" sz="2400" i="1">
                <a:solidFill>
                  <a:srgbClr val="C00000"/>
                </a:solidFill>
              </a:rPr>
              <a:t>p</a:t>
            </a:r>
            <a:r>
              <a:rPr lang="vi-VN" sz="2400">
                <a:solidFill>
                  <a:srgbClr val="C00000"/>
                </a:solidFill>
              </a:rPr>
              <a:t>. Ma trận </a:t>
            </a:r>
            <a:r>
              <a:rPr lang="vi-VN" sz="2400" i="1">
                <a:solidFill>
                  <a:srgbClr val="C00000"/>
                </a:solidFill>
              </a:rPr>
              <a:t>R </a:t>
            </a:r>
            <a:r>
              <a:rPr lang="vi-VN" sz="2400">
                <a:solidFill>
                  <a:srgbClr val="C00000"/>
                </a:solidFill>
              </a:rPr>
              <a:t>kích thước </a:t>
            </a:r>
            <a:r>
              <a:rPr lang="vi-VN" sz="2400" i="1">
                <a:solidFill>
                  <a:srgbClr val="C00000"/>
                </a:solidFill>
              </a:rPr>
              <a:t>m </a:t>
            </a:r>
            <a:r>
              <a:rPr lang="vi-VN" sz="2400">
                <a:solidFill>
                  <a:srgbClr val="C00000"/>
                </a:solidFill>
              </a:rPr>
              <a:t>x </a:t>
            </a:r>
            <a:r>
              <a:rPr lang="vi-VN" sz="2400" i="1">
                <a:solidFill>
                  <a:srgbClr val="C00000"/>
                </a:solidFill>
              </a:rPr>
              <a:t>n </a:t>
            </a:r>
            <a:r>
              <a:rPr lang="vi-VN" sz="2400">
                <a:solidFill>
                  <a:srgbClr val="C00000"/>
                </a:solidFill>
              </a:rPr>
              <a:t>thể hiện phân công giáo viên, sao cho phần tử </a:t>
            </a:r>
            <a:r>
              <a:rPr lang="vi-VN" sz="2400" i="1">
                <a:solidFill>
                  <a:srgbClr val="C00000"/>
                </a:solidFill>
              </a:rPr>
              <a:t>r</a:t>
            </a:r>
            <a:r>
              <a:rPr lang="vi-VN" sz="2400" i="1" baseline="-25000">
                <a:solidFill>
                  <a:srgbClr val="C00000"/>
                </a:solidFill>
              </a:rPr>
              <a:t>ij</a:t>
            </a:r>
            <a:r>
              <a:rPr lang="vi-VN" sz="2400" i="1">
                <a:solidFill>
                  <a:srgbClr val="C00000"/>
                </a:solidFill>
              </a:rPr>
              <a:t> </a:t>
            </a:r>
            <a:r>
              <a:rPr lang="vi-VN" sz="2400">
                <a:solidFill>
                  <a:srgbClr val="C00000"/>
                </a:solidFill>
              </a:rPr>
              <a:t>là số tiết mà giáo viên </a:t>
            </a:r>
            <a:r>
              <a:rPr lang="vi-VN" sz="2400" i="1">
                <a:solidFill>
                  <a:srgbClr val="C00000"/>
                </a:solidFill>
              </a:rPr>
              <a:t>t</a:t>
            </a:r>
            <a:r>
              <a:rPr lang="vi-VN" sz="2400" i="1" baseline="-25000">
                <a:solidFill>
                  <a:srgbClr val="C00000"/>
                </a:solidFill>
              </a:rPr>
              <a:t>j</a:t>
            </a:r>
            <a:r>
              <a:rPr lang="vi-VN" sz="2400" i="1">
                <a:solidFill>
                  <a:srgbClr val="C00000"/>
                </a:solidFill>
              </a:rPr>
              <a:t> </a:t>
            </a:r>
            <a:r>
              <a:rPr lang="vi-VN" sz="2400">
                <a:solidFill>
                  <a:srgbClr val="C00000"/>
                </a:solidFill>
              </a:rPr>
              <a:t>phải dạy cho lớp </a:t>
            </a:r>
            <a:r>
              <a:rPr lang="vi-VN" sz="2400" i="1">
                <a:solidFill>
                  <a:srgbClr val="C00000"/>
                </a:solidFill>
              </a:rPr>
              <a:t>c</a:t>
            </a:r>
            <a:r>
              <a:rPr lang="vi-VN" sz="2400" i="1" baseline="-25000">
                <a:solidFill>
                  <a:srgbClr val="C00000"/>
                </a:solidFill>
              </a:rPr>
              <a:t>i</a:t>
            </a:r>
            <a:r>
              <a:rPr lang="vi-VN" sz="2400" i="1">
                <a:solidFill>
                  <a:srgbClr val="C00000"/>
                </a:solidFill>
              </a:rPr>
              <a:t> </a:t>
            </a:r>
            <a:r>
              <a:rPr lang="vi-VN" sz="2400">
                <a:solidFill>
                  <a:srgbClr val="C00000"/>
                </a:solidFill>
              </a:rPr>
              <a:t>trong một tuần </a:t>
            </a:r>
          </a:p>
          <a:p>
            <a:pPr marL="0" indent="0">
              <a:buNone/>
            </a:pPr>
            <a:endParaRPr lang="vi-VN" sz="2400"/>
          </a:p>
          <a:p>
            <a:endParaRPr lang="en-US" sz="2400"/>
          </a:p>
        </p:txBody>
      </p:sp>
      <p:sp>
        <p:nvSpPr>
          <p:cNvPr id="4" name="Slide Number Placeholder 3">
            <a:extLst>
              <a:ext uri="{FF2B5EF4-FFF2-40B4-BE49-F238E27FC236}">
                <a16:creationId xmlns:a16="http://schemas.microsoft.com/office/drawing/2014/main" id="{0F64DBEC-2FF7-7C43-B80B-6B36A288F795}"/>
              </a:ext>
            </a:extLst>
          </p:cNvPr>
          <p:cNvSpPr>
            <a:spLocks noGrp="1"/>
          </p:cNvSpPr>
          <p:nvPr>
            <p:ph type="sldNum" sz="quarter" idx="12"/>
          </p:nvPr>
        </p:nvSpPr>
        <p:spPr/>
        <p:txBody>
          <a:bodyPr/>
          <a:lstStyle/>
          <a:p>
            <a:fld id="{DA8C51A7-BEEA-471D-933F-7E35BC04A30F}" type="slidenum">
              <a:rPr lang="en-US"/>
              <a:pPr/>
              <a:t>29</a:t>
            </a:fld>
            <a:endParaRPr lang="en-US"/>
          </a:p>
        </p:txBody>
      </p:sp>
    </p:spTree>
    <p:extLst>
      <p:ext uri="{BB962C8B-B14F-4D97-AF65-F5344CB8AC3E}">
        <p14:creationId xmlns:p14="http://schemas.microsoft.com/office/powerpoint/2010/main" val="23760331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2617-D12D-E24D-9CD1-D52019CBBBF1}"/>
              </a:ext>
            </a:extLst>
          </p:cNvPr>
          <p:cNvSpPr>
            <a:spLocks noGrp="1"/>
          </p:cNvSpPr>
          <p:nvPr>
            <p:ph type="title"/>
          </p:nvPr>
        </p:nvSpPr>
        <p:spPr/>
        <p:txBody>
          <a:bodyPr/>
          <a:lstStyle/>
          <a:p>
            <a:r>
              <a:rPr lang="en-US"/>
              <a:t>Ứng dụng: </a:t>
            </a:r>
            <a:r>
              <a:rPr lang="vi-VN"/>
              <a:t>xếp thời khoá biểu </a:t>
            </a:r>
            <a:endParaRPr lang="en-US"/>
          </a:p>
        </p:txBody>
      </p:sp>
      <p:sp>
        <p:nvSpPr>
          <p:cNvPr id="3" name="Content Placeholder 2">
            <a:extLst>
              <a:ext uri="{FF2B5EF4-FFF2-40B4-BE49-F238E27FC236}">
                <a16:creationId xmlns:a16="http://schemas.microsoft.com/office/drawing/2014/main" id="{5956A2C6-A3B7-7A4D-AB06-E9EFEB48AB8B}"/>
              </a:ext>
            </a:extLst>
          </p:cNvPr>
          <p:cNvSpPr>
            <a:spLocks noGrp="1"/>
          </p:cNvSpPr>
          <p:nvPr>
            <p:ph idx="1"/>
          </p:nvPr>
        </p:nvSpPr>
        <p:spPr/>
        <p:txBody>
          <a:bodyPr/>
          <a:lstStyle/>
          <a:p>
            <a:r>
              <a:rPr lang="vi-VN"/>
              <a:t>Hai ma trận </a:t>
            </a:r>
            <a:r>
              <a:rPr lang="vi-VN" i="1"/>
              <a:t>T</a:t>
            </a:r>
            <a:r>
              <a:rPr lang="vi-VN" i="1" baseline="-25000"/>
              <a:t>n </a:t>
            </a:r>
            <a:r>
              <a:rPr lang="vi-VN" baseline="-25000"/>
              <a:t>x </a:t>
            </a:r>
            <a:r>
              <a:rPr lang="vi-VN" i="1" baseline="-25000"/>
              <a:t>p</a:t>
            </a:r>
            <a:r>
              <a:rPr lang="vi-VN" i="1"/>
              <a:t> </a:t>
            </a:r>
            <a:r>
              <a:rPr lang="vi-VN"/>
              <a:t>và</a:t>
            </a:r>
            <a:r>
              <a:rPr lang="vi-VN" i="1"/>
              <a:t>C</a:t>
            </a:r>
            <a:r>
              <a:rPr lang="vi-VN" i="1" baseline="-25000"/>
              <a:t>m </a:t>
            </a:r>
            <a:r>
              <a:rPr lang="vi-VN" baseline="-25000"/>
              <a:t>x </a:t>
            </a:r>
            <a:r>
              <a:rPr lang="vi-VN" i="1" baseline="-25000"/>
              <a:t>p </a:t>
            </a:r>
            <a:r>
              <a:rPr lang="vi-VN"/>
              <a:t>thể hiện các tiết mà giáo viên và lớp có thể dạy hoặc học. Cụ thể, </a:t>
            </a:r>
            <a:r>
              <a:rPr lang="vi-VN" i="1"/>
              <a:t>t</a:t>
            </a:r>
            <a:r>
              <a:rPr lang="vi-VN" i="1" baseline="-25000"/>
              <a:t>jk</a:t>
            </a:r>
            <a:r>
              <a:rPr lang="vi-VN" i="1"/>
              <a:t> </a:t>
            </a:r>
            <a:r>
              <a:rPr lang="vi-VN"/>
              <a:t>=1 nếu giáo viên </a:t>
            </a:r>
            <a:r>
              <a:rPr lang="vi-VN" i="1"/>
              <a:t>j </a:t>
            </a:r>
            <a:r>
              <a:rPr lang="vi-VN"/>
              <a:t>có thể dậy vào tiết </a:t>
            </a:r>
            <a:r>
              <a:rPr lang="vi-VN" i="1"/>
              <a:t>k</a:t>
            </a:r>
            <a:r>
              <a:rPr lang="vi-VN"/>
              <a:t>, và </a:t>
            </a:r>
            <a:r>
              <a:rPr lang="vi-VN" i="1"/>
              <a:t>t</a:t>
            </a:r>
            <a:r>
              <a:rPr lang="vi-VN" i="1" baseline="-25000"/>
              <a:t>jk</a:t>
            </a:r>
            <a:r>
              <a:rPr lang="vi-VN" i="1"/>
              <a:t> </a:t>
            </a:r>
            <a:r>
              <a:rPr lang="vi-VN"/>
              <a:t>= 0 nếu ngược lại, chẳng hạn giáo viên nữ có con nhỏ không phải dậy tiết đầu buổi sáng </a:t>
            </a:r>
          </a:p>
          <a:p>
            <a:r>
              <a:rPr lang="vi-VN"/>
              <a:t>Tương tự, </a:t>
            </a:r>
            <a:r>
              <a:rPr lang="vi-VN" i="1"/>
              <a:t>c</a:t>
            </a:r>
            <a:r>
              <a:rPr lang="vi-VN" i="1" baseline="-25000"/>
              <a:t>ik</a:t>
            </a:r>
            <a:r>
              <a:rPr lang="vi-VN" i="1"/>
              <a:t> </a:t>
            </a:r>
            <a:r>
              <a:rPr lang="vi-VN"/>
              <a:t>=1 (hoặc 0) nếu lớp </a:t>
            </a:r>
            <a:r>
              <a:rPr lang="vi-VN" i="1"/>
              <a:t>i </a:t>
            </a:r>
            <a:r>
              <a:rPr lang="vi-VN"/>
              <a:t>có thể học (hoặc không) vào tiết </a:t>
            </a:r>
            <a:r>
              <a:rPr lang="vi-VN" i="1"/>
              <a:t>k</a:t>
            </a:r>
            <a:r>
              <a:rPr lang="vi-VN"/>
              <a:t>, chẳng hạn có thể quy định để mỗi lớp có một số tiết trống vào những giờ nhất định dành cho ngoại khoá </a:t>
            </a:r>
          </a:p>
          <a:p>
            <a:r>
              <a:rPr lang="vi-VN"/>
              <a:t>Tiếp theo, </a:t>
            </a:r>
            <a:r>
              <a:rPr lang="vi-VN" i="1"/>
              <a:t>D</a:t>
            </a:r>
            <a:r>
              <a:rPr lang="vi-VN" i="1" baseline="-25000"/>
              <a:t>m </a:t>
            </a:r>
            <a:r>
              <a:rPr lang="vi-VN" baseline="-25000"/>
              <a:t>x </a:t>
            </a:r>
            <a:r>
              <a:rPr lang="vi-VN" i="1" baseline="-25000"/>
              <a:t>p</a:t>
            </a:r>
            <a:r>
              <a:rPr lang="vi-VN" i="1"/>
              <a:t> </a:t>
            </a:r>
            <a:r>
              <a:rPr lang="vi-VN"/>
              <a:t>là ma trận ràng buộc sao cho </a:t>
            </a:r>
            <a:r>
              <a:rPr lang="vi-VN" i="1"/>
              <a:t>t</a:t>
            </a:r>
            <a:r>
              <a:rPr lang="vi-VN" i="1" baseline="-25000"/>
              <a:t>jk</a:t>
            </a:r>
            <a:r>
              <a:rPr lang="vi-VN" i="1"/>
              <a:t> </a:t>
            </a:r>
            <a:r>
              <a:rPr lang="vi-VN"/>
              <a:t>=1 nếu lớp </a:t>
            </a:r>
            <a:r>
              <a:rPr lang="vi-VN" i="1"/>
              <a:t>i </a:t>
            </a:r>
            <a:r>
              <a:rPr lang="vi-VN"/>
              <a:t>bắt buộc phải học vào tiết </a:t>
            </a:r>
            <a:r>
              <a:rPr lang="vi-VN" i="1"/>
              <a:t>k </a:t>
            </a:r>
            <a:r>
              <a:rPr lang="vi-VN"/>
              <a:t>và </a:t>
            </a:r>
            <a:r>
              <a:rPr lang="vi-VN" i="1"/>
              <a:t>t</a:t>
            </a:r>
            <a:r>
              <a:rPr lang="vi-VN" i="1" baseline="-25000"/>
              <a:t>jk</a:t>
            </a:r>
            <a:r>
              <a:rPr lang="vi-VN" i="1"/>
              <a:t> </a:t>
            </a:r>
            <a:r>
              <a:rPr lang="vi-VN"/>
              <a:t>= 0 nếu không bắt buộc. </a:t>
            </a:r>
          </a:p>
          <a:p>
            <a:endParaRPr lang="en-US"/>
          </a:p>
        </p:txBody>
      </p:sp>
      <p:sp>
        <p:nvSpPr>
          <p:cNvPr id="4" name="Slide Number Placeholder 3">
            <a:extLst>
              <a:ext uri="{FF2B5EF4-FFF2-40B4-BE49-F238E27FC236}">
                <a16:creationId xmlns:a16="http://schemas.microsoft.com/office/drawing/2014/main" id="{7031DF7A-C5E5-E94A-95BC-AB23E13D6C8C}"/>
              </a:ext>
            </a:extLst>
          </p:cNvPr>
          <p:cNvSpPr>
            <a:spLocks noGrp="1"/>
          </p:cNvSpPr>
          <p:nvPr>
            <p:ph type="sldNum" sz="quarter" idx="12"/>
          </p:nvPr>
        </p:nvSpPr>
        <p:spPr/>
        <p:txBody>
          <a:bodyPr/>
          <a:lstStyle/>
          <a:p>
            <a:fld id="{DA8C51A7-BEEA-471D-933F-7E35BC04A30F}" type="slidenum">
              <a:rPr lang="en-US"/>
              <a:pPr/>
              <a:t>30</a:t>
            </a:fld>
            <a:endParaRPr lang="en-US"/>
          </a:p>
        </p:txBody>
      </p:sp>
    </p:spTree>
    <p:extLst>
      <p:ext uri="{BB962C8B-B14F-4D97-AF65-F5344CB8AC3E}">
        <p14:creationId xmlns:p14="http://schemas.microsoft.com/office/powerpoint/2010/main" val="20272752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2617-D12D-E24D-9CD1-D52019CBBBF1}"/>
              </a:ext>
            </a:extLst>
          </p:cNvPr>
          <p:cNvSpPr>
            <a:spLocks noGrp="1"/>
          </p:cNvSpPr>
          <p:nvPr>
            <p:ph type="title"/>
          </p:nvPr>
        </p:nvSpPr>
        <p:spPr/>
        <p:txBody>
          <a:bodyPr/>
          <a:lstStyle/>
          <a:p>
            <a:r>
              <a:rPr lang="en-US"/>
              <a:t>Ứng dụng: </a:t>
            </a:r>
            <a:r>
              <a:rPr lang="vi-VN"/>
              <a:t>xếp thời khoá biểu </a:t>
            </a:r>
            <a:endParaRPr lang="en-US"/>
          </a:p>
        </p:txBody>
      </p:sp>
      <p:sp>
        <p:nvSpPr>
          <p:cNvPr id="3" name="Content Placeholder 2">
            <a:extLst>
              <a:ext uri="{FF2B5EF4-FFF2-40B4-BE49-F238E27FC236}">
                <a16:creationId xmlns:a16="http://schemas.microsoft.com/office/drawing/2014/main" id="{5956A2C6-A3B7-7A4D-AB06-E9EFEB48AB8B}"/>
              </a:ext>
            </a:extLst>
          </p:cNvPr>
          <p:cNvSpPr>
            <a:spLocks noGrp="1"/>
          </p:cNvSpPr>
          <p:nvPr>
            <p:ph idx="1"/>
          </p:nvPr>
        </p:nvSpPr>
        <p:spPr>
          <a:xfrm>
            <a:off x="606996" y="1196752"/>
            <a:ext cx="8874125" cy="4351338"/>
          </a:xfrm>
        </p:spPr>
        <p:txBody>
          <a:bodyPr/>
          <a:lstStyle/>
          <a:p>
            <a:r>
              <a:rPr lang="vi-VN"/>
              <a:t>Bài toán xếp thời khoá biểu được phát biểu như sau: </a:t>
            </a:r>
          </a:p>
          <a:p>
            <a:r>
              <a:rPr lang="vi-VN"/>
              <a:t>Tìm </a:t>
            </a:r>
            <a:r>
              <a:rPr lang="vi-VN" i="1"/>
              <a:t>x</a:t>
            </a:r>
            <a:r>
              <a:rPr lang="vi-VN" i="1" baseline="-25000"/>
              <a:t>ijk</a:t>
            </a:r>
            <a:r>
              <a:rPr lang="vi-VN" i="1"/>
              <a:t> </a:t>
            </a:r>
            <a:r>
              <a:rPr lang="vi-VN"/>
              <a:t>(</a:t>
            </a:r>
            <a:r>
              <a:rPr lang="vi-VN" i="1"/>
              <a:t>i </a:t>
            </a:r>
            <a:r>
              <a:rPr lang="vi-VN"/>
              <a:t>= 1..</a:t>
            </a:r>
            <a:r>
              <a:rPr lang="vi-VN" i="1"/>
              <a:t>m</a:t>
            </a:r>
            <a:r>
              <a:rPr lang="vi-VN"/>
              <a:t>, </a:t>
            </a:r>
            <a:r>
              <a:rPr lang="vi-VN" i="1"/>
              <a:t>j </a:t>
            </a:r>
            <a:r>
              <a:rPr lang="vi-VN"/>
              <a:t>= 1..</a:t>
            </a:r>
            <a:r>
              <a:rPr lang="vi-VN" i="1"/>
              <a:t>n</a:t>
            </a:r>
            <a:r>
              <a:rPr lang="vi-VN"/>
              <a:t>, </a:t>
            </a:r>
            <a:r>
              <a:rPr lang="vi-VN" i="1"/>
              <a:t>k </a:t>
            </a:r>
            <a:r>
              <a:rPr lang="vi-VN"/>
              <a:t>= 1..</a:t>
            </a:r>
            <a:r>
              <a:rPr lang="vi-VN" i="1"/>
              <a:t>p</a:t>
            </a:r>
            <a:r>
              <a:rPr lang="vi-VN"/>
              <a:t>) Thoả mãn các ràng buộc sau: </a:t>
            </a:r>
          </a:p>
          <a:p>
            <a:endParaRPr lang="vi-VN"/>
          </a:p>
        </p:txBody>
      </p:sp>
      <p:sp>
        <p:nvSpPr>
          <p:cNvPr id="4" name="Slide Number Placeholder 3">
            <a:extLst>
              <a:ext uri="{FF2B5EF4-FFF2-40B4-BE49-F238E27FC236}">
                <a16:creationId xmlns:a16="http://schemas.microsoft.com/office/drawing/2014/main" id="{7031DF7A-C5E5-E94A-95BC-AB23E13D6C8C}"/>
              </a:ext>
            </a:extLst>
          </p:cNvPr>
          <p:cNvSpPr>
            <a:spLocks noGrp="1"/>
          </p:cNvSpPr>
          <p:nvPr>
            <p:ph type="sldNum" sz="quarter" idx="12"/>
          </p:nvPr>
        </p:nvSpPr>
        <p:spPr/>
        <p:txBody>
          <a:bodyPr/>
          <a:lstStyle/>
          <a:p>
            <a:fld id="{DA8C51A7-BEEA-471D-933F-7E35BC04A30F}" type="slidenum">
              <a:rPr lang="en-US"/>
              <a:pPr/>
              <a:t>31</a:t>
            </a:fld>
            <a:endParaRPr lang="en-US"/>
          </a:p>
        </p:txBody>
      </p:sp>
      <p:pic>
        <p:nvPicPr>
          <p:cNvPr id="6" name="Picture 5">
            <a:extLst>
              <a:ext uri="{FF2B5EF4-FFF2-40B4-BE49-F238E27FC236}">
                <a16:creationId xmlns:a16="http://schemas.microsoft.com/office/drawing/2014/main" id="{0347D431-1F09-F144-82B6-8E63EEBC694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51012" y="2140742"/>
            <a:ext cx="8576164" cy="4215607"/>
          </a:xfrm>
          <a:prstGeom prst="rect">
            <a:avLst/>
          </a:prstGeom>
        </p:spPr>
      </p:pic>
    </p:spTree>
    <p:extLst>
      <p:ext uri="{BB962C8B-B14F-4D97-AF65-F5344CB8AC3E}">
        <p14:creationId xmlns:p14="http://schemas.microsoft.com/office/powerpoint/2010/main" val="11340036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2617-D12D-E24D-9CD1-D52019CBBBF1}"/>
              </a:ext>
            </a:extLst>
          </p:cNvPr>
          <p:cNvSpPr>
            <a:spLocks noGrp="1"/>
          </p:cNvSpPr>
          <p:nvPr>
            <p:ph type="title"/>
          </p:nvPr>
        </p:nvSpPr>
        <p:spPr/>
        <p:txBody>
          <a:bodyPr/>
          <a:lstStyle/>
          <a:p>
            <a:r>
              <a:rPr lang="en-US"/>
              <a:t>Ứng dụng: </a:t>
            </a:r>
            <a:r>
              <a:rPr lang="vi-VN"/>
              <a:t>xếp thời khoá biểu </a:t>
            </a:r>
            <a:endParaRPr lang="en-US"/>
          </a:p>
        </p:txBody>
      </p:sp>
      <p:sp>
        <p:nvSpPr>
          <p:cNvPr id="3" name="Content Placeholder 2">
            <a:extLst>
              <a:ext uri="{FF2B5EF4-FFF2-40B4-BE49-F238E27FC236}">
                <a16:creationId xmlns:a16="http://schemas.microsoft.com/office/drawing/2014/main" id="{5956A2C6-A3B7-7A4D-AB06-E9EFEB48AB8B}"/>
              </a:ext>
            </a:extLst>
          </p:cNvPr>
          <p:cNvSpPr>
            <a:spLocks noGrp="1"/>
          </p:cNvSpPr>
          <p:nvPr>
            <p:ph idx="1"/>
          </p:nvPr>
        </p:nvSpPr>
        <p:spPr/>
        <p:txBody>
          <a:bodyPr/>
          <a:lstStyle/>
          <a:p>
            <a:r>
              <a:rPr lang="vi-VN" i="1">
                <a:solidFill>
                  <a:srgbClr val="26902B"/>
                </a:solidFill>
              </a:rPr>
              <a:t>Ràng buộc cứng</a:t>
            </a:r>
            <a:r>
              <a:rPr lang="vi-VN"/>
              <a:t>: các ràng buộc (1) – (5) ở trên là các ràng buộc cứng, tức là ràng buộc mà lời giải buộc phải thoả mãn. </a:t>
            </a:r>
          </a:p>
          <a:p>
            <a:r>
              <a:rPr lang="vi-VN" i="1">
                <a:solidFill>
                  <a:srgbClr val="26902B"/>
                </a:solidFill>
              </a:rPr>
              <a:t>Ràng buộc mềm:</a:t>
            </a:r>
            <a:r>
              <a:rPr lang="vi-VN"/>
              <a:t> Ràng buộc không bắt buộc nhưng mong muốn thoả mãn càng nhiều càng tốt. </a:t>
            </a:r>
          </a:p>
          <a:p>
            <a:r>
              <a:rPr lang="vi-VN"/>
              <a:t>Khi xây dựng hàm mục tiêu, mỗi ràng buộc mềm được gán một </a:t>
            </a:r>
            <a:r>
              <a:rPr lang="vi-VN">
                <a:solidFill>
                  <a:srgbClr val="C00000"/>
                </a:solidFill>
              </a:rPr>
              <a:t>trọng số </a:t>
            </a:r>
            <a:r>
              <a:rPr lang="vi-VN" i="1">
                <a:solidFill>
                  <a:srgbClr val="C00000"/>
                </a:solidFill>
              </a:rPr>
              <a:t>w </a:t>
            </a:r>
            <a:r>
              <a:rPr lang="vi-VN"/>
              <a:t>thể hiện </a:t>
            </a:r>
            <a:r>
              <a:rPr lang="vi-VN">
                <a:solidFill>
                  <a:srgbClr val="C00000"/>
                </a:solidFill>
              </a:rPr>
              <a:t>điểm phạt</a:t>
            </a:r>
            <a:r>
              <a:rPr lang="vi-VN"/>
              <a:t> khi một ràng buộc mềm như vậy bị vi phạm. </a:t>
            </a:r>
          </a:p>
          <a:p>
            <a:endParaRPr lang="vi-VN"/>
          </a:p>
        </p:txBody>
      </p:sp>
      <p:sp>
        <p:nvSpPr>
          <p:cNvPr id="4" name="Slide Number Placeholder 3">
            <a:extLst>
              <a:ext uri="{FF2B5EF4-FFF2-40B4-BE49-F238E27FC236}">
                <a16:creationId xmlns:a16="http://schemas.microsoft.com/office/drawing/2014/main" id="{7031DF7A-C5E5-E94A-95BC-AB23E13D6C8C}"/>
              </a:ext>
            </a:extLst>
          </p:cNvPr>
          <p:cNvSpPr>
            <a:spLocks noGrp="1"/>
          </p:cNvSpPr>
          <p:nvPr>
            <p:ph type="sldNum" sz="quarter" idx="12"/>
          </p:nvPr>
        </p:nvSpPr>
        <p:spPr/>
        <p:txBody>
          <a:bodyPr/>
          <a:lstStyle/>
          <a:p>
            <a:fld id="{DA8C51A7-BEEA-471D-933F-7E35BC04A30F}" type="slidenum">
              <a:rPr lang="en-US"/>
              <a:pPr/>
              <a:t>32</a:t>
            </a:fld>
            <a:endParaRPr lang="en-US"/>
          </a:p>
        </p:txBody>
      </p:sp>
    </p:spTree>
    <p:extLst>
      <p:ext uri="{BB962C8B-B14F-4D97-AF65-F5344CB8AC3E}">
        <p14:creationId xmlns:p14="http://schemas.microsoft.com/office/powerpoint/2010/main" val="405716038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2617-D12D-E24D-9CD1-D52019CBBBF1}"/>
              </a:ext>
            </a:extLst>
          </p:cNvPr>
          <p:cNvSpPr>
            <a:spLocks noGrp="1"/>
          </p:cNvSpPr>
          <p:nvPr>
            <p:ph type="title"/>
          </p:nvPr>
        </p:nvSpPr>
        <p:spPr/>
        <p:txBody>
          <a:bodyPr/>
          <a:lstStyle/>
          <a:p>
            <a:r>
              <a:rPr lang="en-US"/>
              <a:t>Ứng dụng: </a:t>
            </a:r>
            <a:r>
              <a:rPr lang="vi-VN"/>
              <a:t>xếp thời khoá biểu </a:t>
            </a:r>
            <a:endParaRPr lang="en-US"/>
          </a:p>
        </p:txBody>
      </p:sp>
      <p:sp>
        <p:nvSpPr>
          <p:cNvPr id="3" name="Content Placeholder 2">
            <a:extLst>
              <a:ext uri="{FF2B5EF4-FFF2-40B4-BE49-F238E27FC236}">
                <a16:creationId xmlns:a16="http://schemas.microsoft.com/office/drawing/2014/main" id="{5956A2C6-A3B7-7A4D-AB06-E9EFEB48AB8B}"/>
              </a:ext>
            </a:extLst>
          </p:cNvPr>
          <p:cNvSpPr>
            <a:spLocks noGrp="1"/>
          </p:cNvSpPr>
          <p:nvPr>
            <p:ph idx="1"/>
          </p:nvPr>
        </p:nvSpPr>
        <p:spPr>
          <a:xfrm>
            <a:off x="706438" y="1340768"/>
            <a:ext cx="9189590" cy="5015581"/>
          </a:xfrm>
        </p:spPr>
        <p:txBody>
          <a:bodyPr/>
          <a:lstStyle/>
          <a:p>
            <a:pPr marL="0" indent="0">
              <a:lnSpc>
                <a:spcPct val="100000"/>
              </a:lnSpc>
              <a:buNone/>
            </a:pPr>
            <a:r>
              <a:rPr lang="vi-VN" sz="2000" i="1">
                <a:solidFill>
                  <a:srgbClr val="26902B"/>
                </a:solidFill>
              </a:rPr>
              <a:t>Các ràng buộc mềm:</a:t>
            </a:r>
            <a:endParaRPr lang="vi-VN" sz="2000"/>
          </a:p>
          <a:p>
            <a:pPr>
              <a:lnSpc>
                <a:spcPct val="100000"/>
              </a:lnSpc>
            </a:pPr>
            <a:r>
              <a:rPr lang="vi-VN" sz="2000"/>
              <a:t>Gián đoạn (</a:t>
            </a:r>
            <a:r>
              <a:rPr lang="vi-VN" sz="2000" i="1"/>
              <a:t>w</a:t>
            </a:r>
            <a:r>
              <a:rPr lang="vi-VN" sz="2000" baseline="-25000"/>
              <a:t>1</a:t>
            </a:r>
            <a:r>
              <a:rPr lang="vi-VN" sz="2000"/>
              <a:t> = 6): hai tiết của một giáo viên cho cùng một lớp không nằm liền nhau. </a:t>
            </a:r>
            <a:endParaRPr lang="vi-VN" sz="2000">
              <a:effectLst/>
            </a:endParaRPr>
          </a:p>
          <a:p>
            <a:pPr>
              <a:lnSpc>
                <a:spcPct val="100000"/>
              </a:lnSpc>
            </a:pPr>
            <a:r>
              <a:rPr lang="vi-VN" sz="2000"/>
              <a:t>Tiết trống (</a:t>
            </a:r>
            <a:r>
              <a:rPr lang="vi-VN" sz="2000" i="1"/>
              <a:t>w</a:t>
            </a:r>
            <a:r>
              <a:rPr lang="vi-VN" sz="2000" baseline="-25000"/>
              <a:t>2</a:t>
            </a:r>
            <a:r>
              <a:rPr lang="vi-VN" sz="2000"/>
              <a:t> = 1): giáo viên có tiết trống giữa các tiết dậy. </a:t>
            </a:r>
            <a:endParaRPr lang="vi-VN" sz="2000">
              <a:effectLst/>
            </a:endParaRPr>
          </a:p>
          <a:p>
            <a:pPr>
              <a:lnSpc>
                <a:spcPct val="100000"/>
              </a:lnSpc>
            </a:pPr>
            <a:r>
              <a:rPr lang="vi-VN" sz="2000"/>
              <a:t>Dậy quá ít (</a:t>
            </a:r>
            <a:r>
              <a:rPr lang="vi-VN" sz="2000" i="1"/>
              <a:t>w</a:t>
            </a:r>
            <a:r>
              <a:rPr lang="vi-VN" sz="2000" baseline="-25000"/>
              <a:t>3</a:t>
            </a:r>
            <a:r>
              <a:rPr lang="vi-VN" sz="2000"/>
              <a:t> = 3): giáo viên dạy ít hơn mức tối thiểu trong một ngày. </a:t>
            </a:r>
            <a:endParaRPr lang="vi-VN" sz="2000">
              <a:effectLst/>
            </a:endParaRPr>
          </a:p>
          <a:p>
            <a:pPr>
              <a:lnSpc>
                <a:spcPct val="100000"/>
              </a:lnSpc>
            </a:pPr>
            <a:r>
              <a:rPr lang="vi-VN" sz="2000"/>
              <a:t>Dậy quá nhiều (</a:t>
            </a:r>
            <a:r>
              <a:rPr lang="vi-VN" sz="2000" i="1"/>
              <a:t>w</a:t>
            </a:r>
            <a:r>
              <a:rPr lang="vi-VN" sz="2000" baseline="-25000"/>
              <a:t>4</a:t>
            </a:r>
            <a:r>
              <a:rPr lang="vi-VN" sz="2000"/>
              <a:t> = 3): giáo viên dạy nhiều hơn mức tối đa trong một ngày. </a:t>
            </a:r>
            <a:endParaRPr lang="vi-VN" sz="2000">
              <a:effectLst/>
            </a:endParaRPr>
          </a:p>
          <a:p>
            <a:pPr>
              <a:lnSpc>
                <a:spcPct val="100000"/>
              </a:lnSpc>
            </a:pPr>
            <a:r>
              <a:rPr lang="vi-VN" sz="2000"/>
              <a:t>Phân bố không đều (</a:t>
            </a:r>
            <a:r>
              <a:rPr lang="vi-VN" sz="2000" i="1"/>
              <a:t>w</a:t>
            </a:r>
            <a:r>
              <a:rPr lang="vi-VN" sz="2000" baseline="-25000"/>
              <a:t>5</a:t>
            </a:r>
            <a:r>
              <a:rPr lang="vi-VN" sz="2000"/>
              <a:t> = 5): một giáo viên dậy quá nhiều tiết cho cùng một lớp trong một ngày (chẳng hạn nhiều hơn 2 tiết). </a:t>
            </a:r>
            <a:endParaRPr lang="vi-VN" sz="2000">
              <a:effectLst/>
            </a:endParaRPr>
          </a:p>
          <a:p>
            <a:pPr>
              <a:lnSpc>
                <a:spcPct val="100000"/>
              </a:lnSpc>
            </a:pPr>
            <a:r>
              <a:rPr lang="vi-VN" sz="2000"/>
              <a:t>Dậy vào thời gian không mong muốn (</a:t>
            </a:r>
            <a:r>
              <a:rPr lang="vi-VN" sz="2000" i="1"/>
              <a:t>w</a:t>
            </a:r>
            <a:r>
              <a:rPr lang="vi-VN" sz="2000" baseline="-25000"/>
              <a:t>6</a:t>
            </a:r>
            <a:r>
              <a:rPr lang="vi-VN" sz="2000"/>
              <a:t> = 3): giáo viên có thể đăng ký một số giờ không mong muốn. Số vi phạm được </a:t>
            </a:r>
            <a:r>
              <a:rPr lang="vi-VN" sz="2000">
                <a:solidFill>
                  <a:srgbClr val="26902B"/>
                </a:solidFill>
              </a:rPr>
              <a:t>chuẩn hoá</a:t>
            </a:r>
            <a:r>
              <a:rPr lang="vi-VN" sz="2000"/>
              <a:t> bằng cách chia đều cho số đăng ký. </a:t>
            </a:r>
            <a:endParaRPr lang="vi-VN" sz="2000">
              <a:effectLst/>
            </a:endParaRPr>
          </a:p>
          <a:p>
            <a:pPr>
              <a:lnSpc>
                <a:spcPct val="100000"/>
              </a:lnSpc>
            </a:pPr>
            <a:r>
              <a:rPr lang="vi-VN" sz="2000"/>
              <a:t>Không có giờ thực hành (</a:t>
            </a:r>
            <a:r>
              <a:rPr lang="vi-VN" sz="2000" i="1"/>
              <a:t>w</a:t>
            </a:r>
            <a:r>
              <a:rPr lang="vi-VN" sz="2000" baseline="-25000"/>
              <a:t>7</a:t>
            </a:r>
            <a:r>
              <a:rPr lang="vi-VN" sz="2000"/>
              <a:t> = 10): không xếp được tiết liền nhau cho các môn có giờ thực hành. </a:t>
            </a:r>
            <a:endParaRPr lang="vi-VN" sz="2000">
              <a:effectLst/>
            </a:endParaRPr>
          </a:p>
        </p:txBody>
      </p:sp>
      <p:sp>
        <p:nvSpPr>
          <p:cNvPr id="4" name="Slide Number Placeholder 3">
            <a:extLst>
              <a:ext uri="{FF2B5EF4-FFF2-40B4-BE49-F238E27FC236}">
                <a16:creationId xmlns:a16="http://schemas.microsoft.com/office/drawing/2014/main" id="{7031DF7A-C5E5-E94A-95BC-AB23E13D6C8C}"/>
              </a:ext>
            </a:extLst>
          </p:cNvPr>
          <p:cNvSpPr>
            <a:spLocks noGrp="1"/>
          </p:cNvSpPr>
          <p:nvPr>
            <p:ph type="sldNum" sz="quarter" idx="12"/>
          </p:nvPr>
        </p:nvSpPr>
        <p:spPr/>
        <p:txBody>
          <a:bodyPr/>
          <a:lstStyle/>
          <a:p>
            <a:fld id="{DA8C51A7-BEEA-471D-933F-7E35BC04A30F}" type="slidenum">
              <a:rPr lang="en-US"/>
              <a:pPr/>
              <a:t>33</a:t>
            </a:fld>
            <a:endParaRPr lang="en-US"/>
          </a:p>
        </p:txBody>
      </p:sp>
    </p:spTree>
    <p:extLst>
      <p:ext uri="{BB962C8B-B14F-4D97-AF65-F5344CB8AC3E}">
        <p14:creationId xmlns:p14="http://schemas.microsoft.com/office/powerpoint/2010/main" val="396226306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2617-D12D-E24D-9CD1-D52019CBBBF1}"/>
              </a:ext>
            </a:extLst>
          </p:cNvPr>
          <p:cNvSpPr>
            <a:spLocks noGrp="1"/>
          </p:cNvSpPr>
          <p:nvPr>
            <p:ph type="title"/>
          </p:nvPr>
        </p:nvSpPr>
        <p:spPr/>
        <p:txBody>
          <a:bodyPr/>
          <a:lstStyle/>
          <a:p>
            <a:r>
              <a:rPr lang="en-US"/>
              <a:t>Ứng dụng: </a:t>
            </a:r>
            <a:r>
              <a:rPr lang="vi-VN"/>
              <a:t>xếp thời khoá biểu </a:t>
            </a:r>
            <a:endParaRPr lang="en-US"/>
          </a:p>
        </p:txBody>
      </p:sp>
      <p:sp>
        <p:nvSpPr>
          <p:cNvPr id="3" name="Content Placeholder 2">
            <a:extLst>
              <a:ext uri="{FF2B5EF4-FFF2-40B4-BE49-F238E27FC236}">
                <a16:creationId xmlns:a16="http://schemas.microsoft.com/office/drawing/2014/main" id="{5956A2C6-A3B7-7A4D-AB06-E9EFEB48AB8B}"/>
              </a:ext>
            </a:extLst>
          </p:cNvPr>
          <p:cNvSpPr>
            <a:spLocks noGrp="1"/>
          </p:cNvSpPr>
          <p:nvPr>
            <p:ph idx="1"/>
          </p:nvPr>
        </p:nvSpPr>
        <p:spPr>
          <a:xfrm>
            <a:off x="706438" y="1340768"/>
            <a:ext cx="9189590" cy="5015581"/>
          </a:xfrm>
        </p:spPr>
        <p:txBody>
          <a:bodyPr/>
          <a:lstStyle/>
          <a:p>
            <a:pPr marL="0" indent="0" algn="ctr">
              <a:buNone/>
            </a:pPr>
            <a:r>
              <a:rPr lang="vi-VN" b="1" i="1"/>
              <a:t>Hàm mục tiêu </a:t>
            </a:r>
            <a:r>
              <a:rPr lang="vi-VN" b="1"/>
              <a:t>= </a:t>
            </a:r>
            <a:r>
              <a:rPr lang="vi-VN" b="1" i="1"/>
              <a:t>số ràng buộc cứng vi phạm </a:t>
            </a:r>
            <a:r>
              <a:rPr lang="vi-VN" b="1"/>
              <a:t>* </a:t>
            </a:r>
            <a:r>
              <a:rPr lang="vi-VN" b="1" i="1"/>
              <a:t>w</a:t>
            </a:r>
            <a:r>
              <a:rPr lang="vi-VN" b="1" baseline="-25000"/>
              <a:t>0</a:t>
            </a:r>
            <a:br>
              <a:rPr lang="vi-VN" b="1"/>
            </a:br>
            <a:r>
              <a:rPr lang="vi-VN" b="1"/>
              <a:t>+ </a:t>
            </a:r>
            <a:r>
              <a:rPr lang="vi-VN" b="1" i="1"/>
              <a:t>số ràng buộc mềm loại i vi phạm </a:t>
            </a:r>
            <a:r>
              <a:rPr lang="vi-VN" b="1"/>
              <a:t>* </a:t>
            </a:r>
            <a:r>
              <a:rPr lang="vi-VN" b="1" i="1"/>
              <a:t>w</a:t>
            </a:r>
            <a:r>
              <a:rPr lang="vi-VN" b="1" i="1" baseline="-25000"/>
              <a:t>i </a:t>
            </a:r>
            <a:endParaRPr lang="vi-VN" sz="2000" b="1" i="1" baseline="-25000"/>
          </a:p>
          <a:p>
            <a:pPr>
              <a:lnSpc>
                <a:spcPts val="2760"/>
              </a:lnSpc>
            </a:pPr>
            <a:r>
              <a:rPr lang="vi-VN"/>
              <a:t>Giá trị trọng số mặc định </a:t>
            </a:r>
            <a:r>
              <a:rPr lang="vi-VN" i="1"/>
              <a:t>w</a:t>
            </a:r>
            <a:r>
              <a:rPr lang="vi-VN" baseline="-25000"/>
              <a:t>0</a:t>
            </a:r>
            <a:r>
              <a:rPr lang="vi-VN"/>
              <a:t> cho mỗi ràng buộc cứng bị vi phạm được chọn cao hơn ràng buộc mềm. Chẳng hạn, có thể chọn trọng số cho ràng buộc cứng: </a:t>
            </a:r>
            <a:r>
              <a:rPr lang="vi-VN" i="1"/>
              <a:t>w</a:t>
            </a:r>
            <a:r>
              <a:rPr lang="vi-VN" baseline="-25000"/>
              <a:t>0</a:t>
            </a:r>
            <a:r>
              <a:rPr lang="vi-VN"/>
              <a:t> = 20. </a:t>
            </a:r>
            <a:endParaRPr lang="vi-VN" i="1" baseline="-25000"/>
          </a:p>
          <a:p>
            <a:pPr marL="0" indent="0">
              <a:lnSpc>
                <a:spcPts val="2760"/>
              </a:lnSpc>
              <a:buNone/>
            </a:pPr>
            <a:r>
              <a:rPr lang="vi-VN" i="1">
                <a:solidFill>
                  <a:srgbClr val="26902B"/>
                </a:solidFill>
              </a:rPr>
              <a:t>Biểu diễn thời khoá biểu:</a:t>
            </a:r>
            <a:r>
              <a:rPr lang="vi-VN">
                <a:solidFill>
                  <a:srgbClr val="26902B"/>
                </a:solidFill>
              </a:rPr>
              <a:t> </a:t>
            </a:r>
          </a:p>
          <a:p>
            <a:pPr>
              <a:lnSpc>
                <a:spcPts val="2760"/>
              </a:lnSpc>
              <a:buFont typeface="Wingdings" pitchFamily="2" charset="2"/>
              <a:buChar char="Ø"/>
            </a:pPr>
            <a:r>
              <a:rPr lang="vi-VN"/>
              <a:t>Thời khoá biểu (tức là các giá trị </a:t>
            </a:r>
            <a:r>
              <a:rPr lang="vi-VN" i="1"/>
              <a:t>x</a:t>
            </a:r>
            <a:r>
              <a:rPr lang="vi-VN" i="1" baseline="-25000"/>
              <a:t>ijk</a:t>
            </a:r>
            <a:r>
              <a:rPr lang="vi-VN"/>
              <a:t>) được biểu diễn dưới dạng ma trận </a:t>
            </a:r>
            <a:r>
              <a:rPr lang="vi-VN" i="1"/>
              <a:t>B</a:t>
            </a:r>
            <a:r>
              <a:rPr lang="vi-VN" i="1" baseline="-25000"/>
              <a:t>n </a:t>
            </a:r>
            <a:r>
              <a:rPr lang="vi-VN" baseline="-25000"/>
              <a:t>x </a:t>
            </a:r>
            <a:r>
              <a:rPr lang="vi-VN" i="1" baseline="-25000"/>
              <a:t>k</a:t>
            </a:r>
            <a:r>
              <a:rPr lang="vi-VN"/>
              <a:t>, trong đó mỗi dòng tương ứng với một giáo viên, mỗi cột tương ứng với một tiết. </a:t>
            </a:r>
          </a:p>
          <a:p>
            <a:pPr>
              <a:lnSpc>
                <a:spcPts val="2760"/>
              </a:lnSpc>
              <a:buFont typeface="Wingdings" pitchFamily="2" charset="2"/>
              <a:buChar char="Ø"/>
            </a:pPr>
            <a:r>
              <a:rPr lang="vi-VN"/>
              <a:t>Phần tử </a:t>
            </a:r>
            <a:r>
              <a:rPr lang="vi-VN" i="1"/>
              <a:t>b</a:t>
            </a:r>
            <a:r>
              <a:rPr lang="vi-VN" i="1" baseline="-25000"/>
              <a:t>jk</a:t>
            </a:r>
            <a:r>
              <a:rPr lang="vi-VN" i="1"/>
              <a:t> </a:t>
            </a:r>
            <a:r>
              <a:rPr lang="vi-VN"/>
              <a:t>chứa số thứ tự của lớp mà giáo viên </a:t>
            </a:r>
            <a:r>
              <a:rPr lang="vi-VN" i="1"/>
              <a:t>j </a:t>
            </a:r>
            <a:r>
              <a:rPr lang="vi-VN"/>
              <a:t>dạy vào tiết </a:t>
            </a:r>
            <a:r>
              <a:rPr lang="vi-VN" i="1"/>
              <a:t>k</a:t>
            </a:r>
            <a:r>
              <a:rPr lang="vi-VN"/>
              <a:t>. Giá trị </a:t>
            </a:r>
            <a:r>
              <a:rPr lang="vi-VN" i="1"/>
              <a:t>b</a:t>
            </a:r>
            <a:r>
              <a:rPr lang="vi-VN" i="1" baseline="-25000"/>
              <a:t>jk</a:t>
            </a:r>
            <a:r>
              <a:rPr lang="vi-VN" i="1"/>
              <a:t> </a:t>
            </a:r>
            <a:r>
              <a:rPr lang="vi-VN"/>
              <a:t>= 0 nếu giáo viên không dậy nếu giáo viên không dạy vào tiết đó. </a:t>
            </a:r>
            <a:endParaRPr lang="vi-VN">
              <a:effectLst/>
            </a:endParaRPr>
          </a:p>
          <a:p>
            <a:pPr marL="0" indent="0">
              <a:buNone/>
            </a:pPr>
            <a:endParaRPr lang="vi-VN" i="1" baseline="-25000"/>
          </a:p>
          <a:p>
            <a:pPr marL="0" indent="0">
              <a:buNone/>
            </a:pPr>
            <a:endParaRPr lang="vi-VN" i="1" baseline="-25000"/>
          </a:p>
        </p:txBody>
      </p:sp>
      <p:sp>
        <p:nvSpPr>
          <p:cNvPr id="4" name="Slide Number Placeholder 3">
            <a:extLst>
              <a:ext uri="{FF2B5EF4-FFF2-40B4-BE49-F238E27FC236}">
                <a16:creationId xmlns:a16="http://schemas.microsoft.com/office/drawing/2014/main" id="{7031DF7A-C5E5-E94A-95BC-AB23E13D6C8C}"/>
              </a:ext>
            </a:extLst>
          </p:cNvPr>
          <p:cNvSpPr>
            <a:spLocks noGrp="1"/>
          </p:cNvSpPr>
          <p:nvPr>
            <p:ph type="sldNum" sz="quarter" idx="12"/>
          </p:nvPr>
        </p:nvSpPr>
        <p:spPr/>
        <p:txBody>
          <a:bodyPr/>
          <a:lstStyle/>
          <a:p>
            <a:fld id="{DA8C51A7-BEEA-471D-933F-7E35BC04A30F}" type="slidenum">
              <a:rPr lang="en-US"/>
              <a:pPr/>
              <a:t>34</a:t>
            </a:fld>
            <a:endParaRPr lang="en-US"/>
          </a:p>
        </p:txBody>
      </p:sp>
    </p:spTree>
    <p:extLst>
      <p:ext uri="{BB962C8B-B14F-4D97-AF65-F5344CB8AC3E}">
        <p14:creationId xmlns:p14="http://schemas.microsoft.com/office/powerpoint/2010/main" val="42403732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2617-D12D-E24D-9CD1-D52019CBBBF1}"/>
              </a:ext>
            </a:extLst>
          </p:cNvPr>
          <p:cNvSpPr>
            <a:spLocks noGrp="1"/>
          </p:cNvSpPr>
          <p:nvPr>
            <p:ph type="title"/>
          </p:nvPr>
        </p:nvSpPr>
        <p:spPr/>
        <p:txBody>
          <a:bodyPr/>
          <a:lstStyle/>
          <a:p>
            <a:r>
              <a:rPr lang="en-US"/>
              <a:t>Ứng dụng: </a:t>
            </a:r>
            <a:r>
              <a:rPr lang="vi-VN"/>
              <a:t>xếp thời khoá biểu </a:t>
            </a:r>
            <a:endParaRPr lang="en-US"/>
          </a:p>
        </p:txBody>
      </p:sp>
      <p:pic>
        <p:nvPicPr>
          <p:cNvPr id="6" name="Content Placeholder 5">
            <a:extLst>
              <a:ext uri="{FF2B5EF4-FFF2-40B4-BE49-F238E27FC236}">
                <a16:creationId xmlns:a16="http://schemas.microsoft.com/office/drawing/2014/main" id="{05371247-6EAF-DB41-97BE-1B7BE295F8A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51011" y="1268760"/>
            <a:ext cx="8477309" cy="3024336"/>
          </a:xfrm>
        </p:spPr>
      </p:pic>
      <p:sp>
        <p:nvSpPr>
          <p:cNvPr id="4" name="Slide Number Placeholder 3">
            <a:extLst>
              <a:ext uri="{FF2B5EF4-FFF2-40B4-BE49-F238E27FC236}">
                <a16:creationId xmlns:a16="http://schemas.microsoft.com/office/drawing/2014/main" id="{7031DF7A-C5E5-E94A-95BC-AB23E13D6C8C}"/>
              </a:ext>
            </a:extLst>
          </p:cNvPr>
          <p:cNvSpPr>
            <a:spLocks noGrp="1"/>
          </p:cNvSpPr>
          <p:nvPr>
            <p:ph type="sldNum" sz="quarter" idx="12"/>
          </p:nvPr>
        </p:nvSpPr>
        <p:spPr/>
        <p:txBody>
          <a:bodyPr/>
          <a:lstStyle/>
          <a:p>
            <a:fld id="{DA8C51A7-BEEA-471D-933F-7E35BC04A30F}" type="slidenum">
              <a:rPr lang="en-US"/>
              <a:pPr/>
              <a:t>35</a:t>
            </a:fld>
            <a:endParaRPr lang="en-US"/>
          </a:p>
        </p:txBody>
      </p:sp>
      <p:sp>
        <p:nvSpPr>
          <p:cNvPr id="7" name="TextBox 6">
            <a:extLst>
              <a:ext uri="{FF2B5EF4-FFF2-40B4-BE49-F238E27FC236}">
                <a16:creationId xmlns:a16="http://schemas.microsoft.com/office/drawing/2014/main" id="{A0856CA7-CE96-4049-9B85-6847837605A5}"/>
              </a:ext>
            </a:extLst>
          </p:cNvPr>
          <p:cNvSpPr txBox="1"/>
          <p:nvPr/>
        </p:nvSpPr>
        <p:spPr>
          <a:xfrm>
            <a:off x="543558" y="4293096"/>
            <a:ext cx="9289032" cy="923330"/>
          </a:xfrm>
          <a:prstGeom prst="rect">
            <a:avLst/>
          </a:prstGeom>
          <a:noFill/>
        </p:spPr>
        <p:txBody>
          <a:bodyPr wrap="square" rtlCol="0">
            <a:spAutoFit/>
          </a:bodyPr>
          <a:lstStyle/>
          <a:p>
            <a:pPr marL="285750" indent="-285750">
              <a:buFont typeface="Arial" panose="020B0604020202020204" pitchFamily="34" charset="0"/>
              <a:buChar char="•"/>
            </a:pPr>
            <a:r>
              <a:rPr lang="vi-VN"/>
              <a:t>Trên hình vẽ thể hiện tên lớp thay vì số thứ tự được dùng trong thuật toán. </a:t>
            </a:r>
          </a:p>
          <a:p>
            <a:pPr marL="285750" indent="-285750">
              <a:buFont typeface="Arial" panose="020B0604020202020204" pitchFamily="34" charset="0"/>
              <a:buChar char="•"/>
            </a:pPr>
            <a:r>
              <a:rPr lang="vi-VN"/>
              <a:t>Các ô trống tương ứng với giờ mà giáo viên không dạy. </a:t>
            </a:r>
          </a:p>
          <a:p>
            <a:pPr marL="285750" indent="-285750">
              <a:buFont typeface="Arial" panose="020B0604020202020204" pitchFamily="34" charset="0"/>
              <a:buChar char="•"/>
            </a:pPr>
            <a:r>
              <a:rPr lang="vi-VN"/>
              <a:t>Các ô "--" tương ứng với giờ mà giáo viên không thể dậy (tương ứng </a:t>
            </a:r>
            <a:r>
              <a:rPr lang="vi-VN" i="1"/>
              <a:t>t</a:t>
            </a:r>
            <a:r>
              <a:rPr lang="vi-VN" i="1" baseline="-25000"/>
              <a:t>jk</a:t>
            </a:r>
            <a:r>
              <a:rPr lang="vi-VN" i="1"/>
              <a:t> </a:t>
            </a:r>
            <a:r>
              <a:rPr lang="vi-VN"/>
              <a:t>= 0). </a:t>
            </a:r>
          </a:p>
        </p:txBody>
      </p:sp>
    </p:spTree>
    <p:extLst>
      <p:ext uri="{BB962C8B-B14F-4D97-AF65-F5344CB8AC3E}">
        <p14:creationId xmlns:p14="http://schemas.microsoft.com/office/powerpoint/2010/main" val="378283263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2617-D12D-E24D-9CD1-D52019CBBBF1}"/>
              </a:ext>
            </a:extLst>
          </p:cNvPr>
          <p:cNvSpPr>
            <a:spLocks noGrp="1"/>
          </p:cNvSpPr>
          <p:nvPr>
            <p:ph type="title"/>
          </p:nvPr>
        </p:nvSpPr>
        <p:spPr/>
        <p:txBody>
          <a:bodyPr/>
          <a:lstStyle/>
          <a:p>
            <a:r>
              <a:rPr lang="en-US"/>
              <a:t>Ứng dụng: </a:t>
            </a:r>
            <a:r>
              <a:rPr lang="vi-VN"/>
              <a:t>xếp thời khoá biểu </a:t>
            </a:r>
            <a:endParaRPr lang="en-US"/>
          </a:p>
        </p:txBody>
      </p:sp>
      <p:sp>
        <p:nvSpPr>
          <p:cNvPr id="3" name="Content Placeholder 2">
            <a:extLst>
              <a:ext uri="{FF2B5EF4-FFF2-40B4-BE49-F238E27FC236}">
                <a16:creationId xmlns:a16="http://schemas.microsoft.com/office/drawing/2014/main" id="{5956A2C6-A3B7-7A4D-AB06-E9EFEB48AB8B}"/>
              </a:ext>
            </a:extLst>
          </p:cNvPr>
          <p:cNvSpPr>
            <a:spLocks noGrp="1"/>
          </p:cNvSpPr>
          <p:nvPr>
            <p:ph idx="1"/>
          </p:nvPr>
        </p:nvSpPr>
        <p:spPr>
          <a:xfrm>
            <a:off x="706438" y="1340768"/>
            <a:ext cx="9189590" cy="5015581"/>
          </a:xfrm>
        </p:spPr>
        <p:txBody>
          <a:bodyPr/>
          <a:lstStyle/>
          <a:p>
            <a:pPr>
              <a:lnSpc>
                <a:spcPct val="100000"/>
              </a:lnSpc>
            </a:pPr>
            <a:r>
              <a:rPr lang="vi-VN" i="1">
                <a:solidFill>
                  <a:srgbClr val="26902B"/>
                </a:solidFill>
              </a:rPr>
              <a:t>Khởi tạo</a:t>
            </a:r>
            <a:r>
              <a:rPr lang="vi-VN"/>
              <a:t>. Trạng thái đầu tiên (thời khoá biểu đầu tiên) được khởi tạo bằng cách xếp lịch cho từng giáo viên một cách ngẫu nhiên sao cho ràng buộc (2) được thoả mãn, tức là tổng số giờ lên lớp cho mỗi giáo viên được đảm bảo. </a:t>
            </a:r>
          </a:p>
          <a:p>
            <a:pPr>
              <a:lnSpc>
                <a:spcPct val="100000"/>
              </a:lnSpc>
            </a:pPr>
            <a:r>
              <a:rPr lang="vi-VN" i="1">
                <a:solidFill>
                  <a:srgbClr val="26902B"/>
                </a:solidFill>
              </a:rPr>
              <a:t>Chuyển động</a:t>
            </a:r>
            <a:r>
              <a:rPr lang="vi-VN"/>
              <a:t>. Để sử dụng các thuật toán như leo đồi, tôi thép, ta cần xác định các chuyển động cho phép sinh ra các trạng thái (thời khoá biểu) láng giềng từ trạng thái hiện thời:</a:t>
            </a:r>
          </a:p>
          <a:p>
            <a:pPr lvl="1">
              <a:lnSpc>
                <a:spcPct val="100000"/>
              </a:lnSpc>
            </a:pPr>
            <a:r>
              <a:rPr lang="vi-VN" i="1"/>
              <a:t>chuyển động đơn: </a:t>
            </a:r>
            <a:r>
              <a:rPr lang="vi-VN"/>
              <a:t>đổi chỗ hai giờ giảng của cùng một giáo viên, hoặc, nếu một trong hai giờ trống thì chuyển giờ dậy sang giờ trống. Được xác định bằng bộ ba &lt;</a:t>
            </a:r>
            <a:r>
              <a:rPr lang="vi-VN" i="1"/>
              <a:t>t</a:t>
            </a:r>
            <a:r>
              <a:rPr lang="vi-VN"/>
              <a:t>, </a:t>
            </a:r>
            <a:r>
              <a:rPr lang="vi-VN" i="1"/>
              <a:t>p</a:t>
            </a:r>
            <a:r>
              <a:rPr lang="vi-VN"/>
              <a:t>1, </a:t>
            </a:r>
            <a:r>
              <a:rPr lang="vi-VN" i="1"/>
              <a:t>p</a:t>
            </a:r>
            <a:r>
              <a:rPr lang="vi-VN"/>
              <a:t>2&gt;. </a:t>
            </a:r>
          </a:p>
          <a:p>
            <a:pPr lvl="1">
              <a:lnSpc>
                <a:spcPct val="100000"/>
              </a:lnSpc>
            </a:pPr>
            <a:r>
              <a:rPr lang="vi-VN" i="1"/>
              <a:t>chuyển động kép</a:t>
            </a:r>
            <a:r>
              <a:rPr lang="vi-VN"/>
              <a:t>, được tạo thành từ hai chuyển động đơn, sao cho chuyển động đơn thứ hai khắc phục ràng buộc cứng mà chuyển động đơn thứ nhất phá vỡ. </a:t>
            </a:r>
          </a:p>
          <a:p>
            <a:pPr>
              <a:lnSpc>
                <a:spcPct val="100000"/>
              </a:lnSpc>
            </a:pPr>
            <a:endParaRPr lang="vi-VN"/>
          </a:p>
          <a:p>
            <a:pPr>
              <a:lnSpc>
                <a:spcPct val="100000"/>
              </a:lnSpc>
            </a:pPr>
            <a:endParaRPr lang="vi-VN"/>
          </a:p>
        </p:txBody>
      </p:sp>
      <p:sp>
        <p:nvSpPr>
          <p:cNvPr id="4" name="Slide Number Placeholder 3">
            <a:extLst>
              <a:ext uri="{FF2B5EF4-FFF2-40B4-BE49-F238E27FC236}">
                <a16:creationId xmlns:a16="http://schemas.microsoft.com/office/drawing/2014/main" id="{7031DF7A-C5E5-E94A-95BC-AB23E13D6C8C}"/>
              </a:ext>
            </a:extLst>
          </p:cNvPr>
          <p:cNvSpPr>
            <a:spLocks noGrp="1"/>
          </p:cNvSpPr>
          <p:nvPr>
            <p:ph type="sldNum" sz="quarter" idx="12"/>
          </p:nvPr>
        </p:nvSpPr>
        <p:spPr/>
        <p:txBody>
          <a:bodyPr/>
          <a:lstStyle/>
          <a:p>
            <a:fld id="{DA8C51A7-BEEA-471D-933F-7E35BC04A30F}" type="slidenum">
              <a:rPr lang="en-US"/>
              <a:pPr/>
              <a:t>36</a:t>
            </a:fld>
            <a:endParaRPr lang="en-US"/>
          </a:p>
        </p:txBody>
      </p:sp>
    </p:spTree>
    <p:extLst>
      <p:ext uri="{BB962C8B-B14F-4D97-AF65-F5344CB8AC3E}">
        <p14:creationId xmlns:p14="http://schemas.microsoft.com/office/powerpoint/2010/main" val="100075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432617-D12D-E24D-9CD1-D52019CBBBF1}"/>
              </a:ext>
            </a:extLst>
          </p:cNvPr>
          <p:cNvSpPr>
            <a:spLocks noGrp="1"/>
          </p:cNvSpPr>
          <p:nvPr>
            <p:ph type="title"/>
          </p:nvPr>
        </p:nvSpPr>
        <p:spPr/>
        <p:txBody>
          <a:bodyPr/>
          <a:lstStyle/>
          <a:p>
            <a:r>
              <a:rPr lang="en-US"/>
              <a:t>Ứng dụng: </a:t>
            </a:r>
            <a:r>
              <a:rPr lang="vi-VN"/>
              <a:t>xếp thời khoá biểu </a:t>
            </a:r>
            <a:endParaRPr lang="en-US"/>
          </a:p>
        </p:txBody>
      </p:sp>
      <p:sp>
        <p:nvSpPr>
          <p:cNvPr id="3" name="Content Placeholder 2">
            <a:extLst>
              <a:ext uri="{FF2B5EF4-FFF2-40B4-BE49-F238E27FC236}">
                <a16:creationId xmlns:a16="http://schemas.microsoft.com/office/drawing/2014/main" id="{5956A2C6-A3B7-7A4D-AB06-E9EFEB48AB8B}"/>
              </a:ext>
            </a:extLst>
          </p:cNvPr>
          <p:cNvSpPr>
            <a:spLocks noGrp="1"/>
          </p:cNvSpPr>
          <p:nvPr>
            <p:ph idx="1"/>
          </p:nvPr>
        </p:nvSpPr>
        <p:spPr>
          <a:xfrm>
            <a:off x="706438" y="1340768"/>
            <a:ext cx="9189590" cy="5015581"/>
          </a:xfrm>
        </p:spPr>
        <p:txBody>
          <a:bodyPr/>
          <a:lstStyle/>
          <a:p>
            <a:pPr>
              <a:lnSpc>
                <a:spcPct val="100000"/>
              </a:lnSpc>
            </a:pPr>
            <a:r>
              <a:rPr lang="vi-VN" i="1"/>
              <a:t>Kết quả</a:t>
            </a:r>
            <a:r>
              <a:rPr lang="vi-VN"/>
              <a:t>. Thực nghiệm với các trường phổ thông với trên 30 lớp và trên 50 giáo viên cho thấy các kỹ thuật trình bầy ở trên tìm ra thời khoá biểu có chất lượng tốt hơn nhiều (hàm mục tiêu nhỏ hơn nhiều) so với thời khoá biểu xếp bằng tay và các phương pháp heuristic. </a:t>
            </a:r>
          </a:p>
          <a:p>
            <a:pPr>
              <a:lnSpc>
                <a:spcPct val="100000"/>
              </a:lnSpc>
            </a:pPr>
            <a:r>
              <a:rPr lang="vi-VN"/>
              <a:t>Quá trình xếp thời khoá biểu có thể thực hiện trên máy tính cá nhân thông thường trong vòng vài phút tới vài chục phút tuỳ kích thước trường. </a:t>
            </a:r>
          </a:p>
        </p:txBody>
      </p:sp>
      <p:sp>
        <p:nvSpPr>
          <p:cNvPr id="4" name="Slide Number Placeholder 3">
            <a:extLst>
              <a:ext uri="{FF2B5EF4-FFF2-40B4-BE49-F238E27FC236}">
                <a16:creationId xmlns:a16="http://schemas.microsoft.com/office/drawing/2014/main" id="{7031DF7A-C5E5-E94A-95BC-AB23E13D6C8C}"/>
              </a:ext>
            </a:extLst>
          </p:cNvPr>
          <p:cNvSpPr>
            <a:spLocks noGrp="1"/>
          </p:cNvSpPr>
          <p:nvPr>
            <p:ph type="sldNum" sz="quarter" idx="12"/>
          </p:nvPr>
        </p:nvSpPr>
        <p:spPr/>
        <p:txBody>
          <a:bodyPr/>
          <a:lstStyle/>
          <a:p>
            <a:fld id="{DA8C51A7-BEEA-471D-933F-7E35BC04A30F}" type="slidenum">
              <a:rPr lang="en-US"/>
              <a:pPr/>
              <a:t>37</a:t>
            </a:fld>
            <a:endParaRPr lang="en-US"/>
          </a:p>
        </p:txBody>
      </p:sp>
    </p:spTree>
    <p:extLst>
      <p:ext uri="{BB962C8B-B14F-4D97-AF65-F5344CB8AC3E}">
        <p14:creationId xmlns:p14="http://schemas.microsoft.com/office/powerpoint/2010/main" val="7095127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lideTemplate" id="{0AF96A80-A828-A34E-A395-551D35D8BAE2}" vid="{38747540-D07E-8842-8803-D3EFDEFF576C}"/>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16760</TotalTime>
  <Words>5161</Words>
  <Application>Microsoft Macintosh PowerPoint</Application>
  <PresentationFormat>35mm Slides</PresentationFormat>
  <Paragraphs>261</Paragraphs>
  <Slides>37</Slides>
  <Notes>0</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37</vt:i4>
      </vt:variant>
    </vt:vector>
  </HeadingPairs>
  <TitlesOfParts>
    <vt:vector size="47" baseType="lpstr">
      <vt:lpstr>ＭＳ Ｐゴシック</vt:lpstr>
      <vt:lpstr>ＭＳ Ｐゴシック</vt:lpstr>
      <vt:lpstr>.VnTime</vt:lpstr>
      <vt:lpstr>Arial</vt:lpstr>
      <vt:lpstr>Calibri</vt:lpstr>
      <vt:lpstr>Calibri Light</vt:lpstr>
      <vt:lpstr>Tahoma</vt:lpstr>
      <vt:lpstr>Times New Roman</vt:lpstr>
      <vt:lpstr>Wingdings</vt:lpstr>
      <vt:lpstr>Office Theme</vt:lpstr>
      <vt:lpstr>NHẬP MÔN TRÍ TUỆ NHÂN TẠO Chương 2. Giải quyết vấn đề bằng tìm kiếm</vt:lpstr>
      <vt:lpstr>Tìm kiếm cục bộ (local search)</vt:lpstr>
      <vt:lpstr>Tìm kiếm cục bộ</vt:lpstr>
      <vt:lpstr>Tìm kiếm cục bộ</vt:lpstr>
      <vt:lpstr>Tìm kiếm cục bộ</vt:lpstr>
      <vt:lpstr>Bài toán tối ưu hóa tổ hợp</vt:lpstr>
      <vt:lpstr>Bài toán tối ưu hóa tổ hợp</vt:lpstr>
      <vt:lpstr>Bài toán tối ưu hóa tổ hợp</vt:lpstr>
      <vt:lpstr>Tìm kiếm cục bộ - ý tưởng chung</vt:lpstr>
      <vt:lpstr>Tìm kiếm cục bộ - ý tưởng chung</vt:lpstr>
      <vt:lpstr>Tìm kiếm cục bộ - ý tưởng chung</vt:lpstr>
      <vt:lpstr>Thuật toán leo đồi</vt:lpstr>
      <vt:lpstr>Leo đồi (hill climbing) </vt:lpstr>
      <vt:lpstr>Thuật toán leo đồi</vt:lpstr>
      <vt:lpstr>Thuật toán leo đồi</vt:lpstr>
      <vt:lpstr>Thuật toán leo đồi – đặc điểm</vt:lpstr>
      <vt:lpstr>Thuật toán leo đồi – ví dụ</vt:lpstr>
      <vt:lpstr>Thuật toán leo đồi – ví dụ</vt:lpstr>
      <vt:lpstr>Thuật toán leo đồi – ví dụ</vt:lpstr>
      <vt:lpstr>Leo đồi ngẫu nhiên (stochastic hill climbing) </vt:lpstr>
      <vt:lpstr>Leo đồi ngẫu nhiên (stochastic hill climbing) </vt:lpstr>
      <vt:lpstr>Leo đồi ngẫu nhiên (stochastic hill climbing) </vt:lpstr>
      <vt:lpstr>Thuật toán tôi thép</vt:lpstr>
      <vt:lpstr>Thuật toán tôi thép</vt:lpstr>
      <vt:lpstr>Thuật toán tôi thép</vt:lpstr>
      <vt:lpstr>Thuật toán tôi thép</vt:lpstr>
      <vt:lpstr>Thuật toán tôi thép</vt:lpstr>
      <vt:lpstr>Thuật toán tôi thép</vt:lpstr>
      <vt:lpstr>ỨNG DỤNG MINH HOẠ</vt:lpstr>
      <vt:lpstr>Ứng dụng: xếp thời khoá biểu </vt:lpstr>
      <vt:lpstr>Ứng dụng: xếp thời khoá biểu </vt:lpstr>
      <vt:lpstr>Ứng dụng: xếp thời khoá biểu </vt:lpstr>
      <vt:lpstr>Ứng dụng: xếp thời khoá biểu </vt:lpstr>
      <vt:lpstr>Ứng dụng: xếp thời khoá biểu </vt:lpstr>
      <vt:lpstr>Ứng dụng: xếp thời khoá biểu </vt:lpstr>
      <vt:lpstr>Ứng dụng: xếp thời khoá biểu </vt:lpstr>
      <vt:lpstr>Ứng dụng: xếp thời khoá biểu </vt:lpstr>
    </vt:vector>
  </TitlesOfParts>
  <LinksUpToDate>false</LinksUpToDate>
  <SharedDoc>false</SharedDoc>
  <HyperlinksChanged>false</HyperlinksChanged>
  <AppVersion>16.0016</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TIN HỌC ĐẠI CƯƠNG Chương 5. Ngôn ngữ lập trình C++</dc:title>
  <dc:creator>Dinh Anh Nguyen</dc:creator>
  <cp:lastModifiedBy>Nguyen Dinh Quy</cp:lastModifiedBy>
  <cp:revision>159</cp:revision>
  <cp:lastPrinted>2021-01-31T11:08:06Z</cp:lastPrinted>
  <dcterms:created xsi:type="dcterms:W3CDTF">2018-12-13T03:42:15Z</dcterms:created>
  <dcterms:modified xsi:type="dcterms:W3CDTF">2021-03-10T15:39:29Z</dcterms:modified>
</cp:coreProperties>
</file>