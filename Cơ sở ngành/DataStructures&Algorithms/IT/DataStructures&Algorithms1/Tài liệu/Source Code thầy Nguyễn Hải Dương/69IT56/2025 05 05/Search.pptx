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DA43-6510-D0C2-9943-D007124A7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2D09E-F5BA-F905-FF6C-5C3F5546C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7A461-3B47-9F10-4C0C-F104C155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5DE19-7E13-04B2-29BB-0347055C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3E170-E263-0EB7-084E-B3D85B0D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2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4F08-A4EC-EF20-3EE3-79529F92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42EE-8499-0DBC-FDD1-54AADFE6D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F897-75DA-F5F0-02A4-1F59590E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9EBE6-84F8-0F19-488F-3ED1BD86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10B73-E794-D67D-BAD3-D08E6676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0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843A-7F5A-403B-0861-39C79F74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B7387-127B-1015-7610-F509A3F1C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BB896-6565-2B6F-30BD-7FD461B29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62866-7DDB-5905-1F82-ABD2CC3D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DDD05-4A67-A193-E47C-2B390161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CD6F-7776-C056-3812-9303C26F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9847-0FB9-51DF-2B84-E36A0E9D3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89E83-947B-30CD-3A2F-62C4407F9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1DDB3-8B96-09D1-C4C9-70634488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B76AB-49B7-022B-52B1-2FA32402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678D3-7950-A8F9-2BE8-12E1FD8B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5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E655-C9B1-7AA5-B287-1EDEC73AA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A04E2-3E40-2F69-7F2E-7BC57A4FA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8531E-6267-F3D8-CDEC-D1D71056E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D8E76-60DE-2561-19E4-04A232BB6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2EDB62-1206-09EB-36A6-AA781ADC5A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DDB39-B7E2-D2F0-4DC2-775E9BBD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96B2FA-2699-E416-59F6-DAAE2314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383B5-E5BF-F956-EDAD-FB089722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2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6322-3868-51DA-E1CD-6D75A60E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1C572-3B85-8FBF-83E8-F427CC67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3C797-D724-0DDD-4A87-57E15F82A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E448C-0DC2-96B6-9D98-343AB3D2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3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E542C-6AEB-6DAB-66E2-7F452B7C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A4A21-D707-FBA7-3353-184982A1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BF752-61C6-3A58-D32A-6229B096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1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B76E-5DC2-16EA-AB0C-4022C8BE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40F0D-A8DE-40A5-4197-6754FDD7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D8CFE-A984-D92C-A3F6-7732DC29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26528-93C9-54AA-3793-4EC123A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3D718-D5FA-DA10-A913-DA71443F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AF2E9-1232-ED15-450F-3CAB958E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4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AF5C-9975-B74B-0A48-8C55E622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E7E0F-6647-7091-1B6A-B5A730E70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CB0C-8C9C-679B-A878-B955C236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BB95A-80BC-C97F-06C4-FBBD2516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0CC5-A960-D535-40FA-A9D04B9D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F7104-4272-ED9B-C7B3-487EBD3F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8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6C6A-B0F4-9660-618A-917640BF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A6D5D-F2B2-E0A9-A62D-EF1280416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B38F4-84E7-D40E-A2D1-E9DA555B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B306D-F95F-8792-0C7D-2B2083C29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7734-8F9F-3646-0AD6-48AA466E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9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37248-64BE-9FE1-7FEF-46A74143C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820A1-F6FC-9CF0-BF31-7EB9A6BC4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9B72-7454-9AE5-B719-B7D9524F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20F8-1D94-C869-01B2-74019368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E26A0-93A3-AB1A-77D9-F26AEAE0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5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BA6FA-5E9D-B27E-2489-BA43FB59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14D5D-5E90-8642-513E-2D72D4DAE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5B5A-0D04-9682-F95D-D445471A7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69363-BD8F-454C-B6AF-3BDF85E47D8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0BD3E-CDF1-C55E-2046-8B3FF2786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83D4D-B2CF-443B-0A3D-5A7825D69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4143A-359E-48F7-8A0D-46131269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0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1F2310-AB1C-B444-3572-79625B49C0D6}"/>
              </a:ext>
            </a:extLst>
          </p:cNvPr>
          <p:cNvSpPr/>
          <p:nvPr/>
        </p:nvSpPr>
        <p:spPr>
          <a:xfrm>
            <a:off x="370702" y="222422"/>
            <a:ext cx="11578281" cy="6413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/>
              <a:t>Chương 2: Thuật toán tìm kiếm</a:t>
            </a:r>
          </a:p>
          <a:p>
            <a:pPr marL="571500" indent="-571500">
              <a:buAutoNum type="romanUcPeriod"/>
            </a:pPr>
            <a:r>
              <a:rPr lang="en-US" sz="3000"/>
              <a:t>Khái niệm:</a:t>
            </a:r>
            <a:br>
              <a:rPr lang="en-US" sz="3000"/>
            </a:br>
            <a:r>
              <a:rPr lang="en-US" sz="3000"/>
              <a:t>Là thuật toán thực hiện chức năng tìm kiếm phần tử có giá trị phù hợp với điều kiện tìm kiếm.</a:t>
            </a:r>
          </a:p>
          <a:p>
            <a:pPr marL="571500" indent="-571500">
              <a:buAutoNum type="romanUcPeriod"/>
            </a:pPr>
            <a:r>
              <a:rPr lang="en-US" sz="3000"/>
              <a:t>Các cấp độ của thuật toán tìm kiếm</a:t>
            </a:r>
            <a:br>
              <a:rPr lang="en-US" sz="3000"/>
            </a:br>
            <a:r>
              <a:rPr lang="en-US" sz="3000"/>
              <a:t>1. Tìm thấy hay không?</a:t>
            </a:r>
            <a:br>
              <a:rPr lang="en-US" sz="3000"/>
            </a:br>
            <a:r>
              <a:rPr lang="en-US" sz="3000"/>
              <a:t>2. Tìm thấy bao nhiêu?</a:t>
            </a:r>
            <a:br>
              <a:rPr lang="en-US" sz="3000"/>
            </a:br>
            <a:r>
              <a:rPr lang="en-US" sz="3000"/>
              <a:t>3. Tìm thấy tại ví trí nào?</a:t>
            </a:r>
            <a:br>
              <a:rPr lang="en-US" sz="3000"/>
            </a:br>
            <a:r>
              <a:rPr lang="en-US" sz="3000"/>
              <a:t>4. Tìm thấy bao nhiêu tại các vị trí nào?</a:t>
            </a:r>
          </a:p>
          <a:p>
            <a:pPr marL="571500" indent="-571500">
              <a:buAutoNum type="romanUcPeriod"/>
            </a:pPr>
            <a:r>
              <a:rPr lang="en-US" sz="3000"/>
              <a:t>Các thuật toán tìm kiếm:</a:t>
            </a:r>
            <a:br>
              <a:rPr lang="en-US" sz="3000"/>
            </a:br>
            <a:r>
              <a:rPr lang="en-US" sz="3000"/>
              <a:t>Có nhiều thuật toán tìm kiếm</a:t>
            </a:r>
            <a:br>
              <a:rPr lang="en-US" sz="3000"/>
            </a:br>
            <a:r>
              <a:rPr lang="en-US" sz="3000"/>
              <a:t>1. Tìm kiếm tuần tự.</a:t>
            </a:r>
            <a:br>
              <a:rPr lang="en-US" sz="3000"/>
            </a:br>
            <a:r>
              <a:rPr lang="en-US" sz="3000"/>
              <a:t>2. Tìm kiếm nhị phân</a:t>
            </a:r>
          </a:p>
        </p:txBody>
      </p:sp>
    </p:spTree>
    <p:extLst>
      <p:ext uri="{BB962C8B-B14F-4D97-AF65-F5344CB8AC3E}">
        <p14:creationId xmlns:p14="http://schemas.microsoft.com/office/powerpoint/2010/main" val="102632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FBBF-9FC9-8469-49B9-89882407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419135-F393-663D-A92A-DAC42600C08C}"/>
              </a:ext>
            </a:extLst>
          </p:cNvPr>
          <p:cNvSpPr/>
          <p:nvPr/>
        </p:nvSpPr>
        <p:spPr>
          <a:xfrm>
            <a:off x="370702" y="222422"/>
            <a:ext cx="11578281" cy="6413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US" sz="3000"/>
              <a:t>Tìm kiếm tuần tự.</a:t>
            </a:r>
            <a:br>
              <a:rPr lang="en-US" sz="3000"/>
            </a:br>
            <a:r>
              <a:rPr lang="en-US" sz="3000"/>
              <a:t>Tư tưởng thuật toán: Duyệt qua từng phần tử và so sánh phần tử với điều kiện tìm kiếm.</a:t>
            </a:r>
          </a:p>
          <a:p>
            <a:pPr marL="514350" indent="-514350">
              <a:buAutoNum type="arabicPeriod"/>
            </a:pPr>
            <a:r>
              <a:rPr lang="en-US" sz="3000"/>
              <a:t>Thuật toán tìm kiếm nhị phân:</a:t>
            </a:r>
            <a:br>
              <a:rPr lang="en-US" sz="3000"/>
            </a:br>
            <a:r>
              <a:rPr lang="en-US" sz="3000"/>
              <a:t>Điều kiện tiên quyết: Tập hợp đã được sắp xếp và mỗi phần tử trong tập hợp phải được đánh chỉ số.</a:t>
            </a:r>
            <a:br>
              <a:rPr lang="en-US" sz="3000"/>
            </a:br>
            <a:r>
              <a:rPr lang="en-US" sz="3000"/>
              <a:t>Tư tưởng thuật toán: Chia mảng thành 2 phần bằng nhau, so sánh phần tử ở giữa với điều kiện tìm kiếm, nếu nhỏ hơn (hoặc lớn hơn) thì sẽ xác định được nửa cần tìm kiếm tiếp theo. </a:t>
            </a:r>
          </a:p>
        </p:txBody>
      </p:sp>
    </p:spTree>
    <p:extLst>
      <p:ext uri="{BB962C8B-B14F-4D97-AF65-F5344CB8AC3E}">
        <p14:creationId xmlns:p14="http://schemas.microsoft.com/office/powerpoint/2010/main" val="315144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E1BB35-34E8-AB86-9C0B-4ADB53CD6C19}"/>
              </a:ext>
            </a:extLst>
          </p:cNvPr>
          <p:cNvSpPr/>
          <p:nvPr/>
        </p:nvSpPr>
        <p:spPr>
          <a:xfrm>
            <a:off x="518984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6E26E-A2F7-3053-BD19-01D60E17B865}"/>
              </a:ext>
            </a:extLst>
          </p:cNvPr>
          <p:cNvSpPr/>
          <p:nvPr/>
        </p:nvSpPr>
        <p:spPr>
          <a:xfrm>
            <a:off x="1767017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51C34B-49D0-EB40-3A80-11AEC328F159}"/>
              </a:ext>
            </a:extLst>
          </p:cNvPr>
          <p:cNvSpPr/>
          <p:nvPr/>
        </p:nvSpPr>
        <p:spPr>
          <a:xfrm>
            <a:off x="3015050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3209ED-E8B7-8CAC-DF70-F854B01879C6}"/>
              </a:ext>
            </a:extLst>
          </p:cNvPr>
          <p:cNvSpPr/>
          <p:nvPr/>
        </p:nvSpPr>
        <p:spPr>
          <a:xfrm>
            <a:off x="4263083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1E0C3-A98B-8055-7CD6-A54B3B84686B}"/>
              </a:ext>
            </a:extLst>
          </p:cNvPr>
          <p:cNvSpPr/>
          <p:nvPr/>
        </p:nvSpPr>
        <p:spPr>
          <a:xfrm>
            <a:off x="5515232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747EC9-5210-38C8-6032-7CFA5C5E9DC8}"/>
              </a:ext>
            </a:extLst>
          </p:cNvPr>
          <p:cNvSpPr/>
          <p:nvPr/>
        </p:nvSpPr>
        <p:spPr>
          <a:xfrm>
            <a:off x="6759149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30625-9CE1-C5BB-1D8D-627B98AF7AD9}"/>
              </a:ext>
            </a:extLst>
          </p:cNvPr>
          <p:cNvSpPr/>
          <p:nvPr/>
        </p:nvSpPr>
        <p:spPr>
          <a:xfrm>
            <a:off x="8007182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B9313-6BF4-191B-C5C5-D1E9BE9FCB90}"/>
              </a:ext>
            </a:extLst>
          </p:cNvPr>
          <p:cNvSpPr/>
          <p:nvPr/>
        </p:nvSpPr>
        <p:spPr>
          <a:xfrm>
            <a:off x="9255215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AF54CC-4A95-E705-5D32-8B4967E778E2}"/>
              </a:ext>
            </a:extLst>
          </p:cNvPr>
          <p:cNvSpPr/>
          <p:nvPr/>
        </p:nvSpPr>
        <p:spPr>
          <a:xfrm>
            <a:off x="10503248" y="741405"/>
            <a:ext cx="1075038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0103A9-30C8-FAD1-21C4-0A417E54C19C}"/>
              </a:ext>
            </a:extLst>
          </p:cNvPr>
          <p:cNvSpPr/>
          <p:nvPr/>
        </p:nvSpPr>
        <p:spPr>
          <a:xfrm>
            <a:off x="5428733" y="5239262"/>
            <a:ext cx="1248033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L = M = 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01A8B7-39A9-8C96-5536-D2421998CF17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6052750" y="4534928"/>
            <a:ext cx="2" cy="7043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1106463-BDFC-BB0F-F8EF-E7D1E762BA2D}"/>
              </a:ext>
            </a:extLst>
          </p:cNvPr>
          <p:cNvSpPr/>
          <p:nvPr/>
        </p:nvSpPr>
        <p:spPr>
          <a:xfrm>
            <a:off x="7955687" y="2434279"/>
            <a:ext cx="1248033" cy="939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R = M =6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FAA798-C565-3ED3-7A31-269C2EDDD904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8579704" y="1729945"/>
            <a:ext cx="2" cy="7043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17789-FBE7-D861-1780-6DEB866A1094}"/>
              </a:ext>
            </a:extLst>
          </p:cNvPr>
          <p:cNvSpPr/>
          <p:nvPr/>
        </p:nvSpPr>
        <p:spPr>
          <a:xfrm>
            <a:off x="4420629" y="2489885"/>
            <a:ext cx="3264242" cy="20697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/>
              <a:t>M = (L + R) /2</a:t>
            </a:r>
            <a:br>
              <a:rPr lang="en-US" sz="3400"/>
            </a:br>
            <a:r>
              <a:rPr lang="en-US" sz="3400"/>
              <a:t>M = 5</a:t>
            </a:r>
            <a:br>
              <a:rPr lang="en-US" sz="3400"/>
            </a:br>
            <a:r>
              <a:rPr lang="en-US" sz="3400"/>
              <a:t>if (A[M] &lt; x = 10)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761B56-7237-6477-F388-680D7C268535}"/>
              </a:ext>
            </a:extLst>
          </p:cNvPr>
          <p:cNvCxnSpPr>
            <a:cxnSpLocks/>
            <a:stCxn id="25" idx="0"/>
            <a:endCxn id="8" idx="2"/>
          </p:cNvCxnSpPr>
          <p:nvPr/>
        </p:nvCxnSpPr>
        <p:spPr>
          <a:xfrm flipV="1">
            <a:off x="6052750" y="1680519"/>
            <a:ext cx="1" cy="8093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59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257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2025-05-05T09:16:15Z</dcterms:created>
  <dcterms:modified xsi:type="dcterms:W3CDTF">2025-05-05T10:19:29Z</dcterms:modified>
</cp:coreProperties>
</file>