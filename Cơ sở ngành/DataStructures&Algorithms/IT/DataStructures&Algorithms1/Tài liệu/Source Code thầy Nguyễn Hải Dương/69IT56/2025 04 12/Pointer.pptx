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2580-047F-B87E-E3C9-0DA622617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CC0E3-8B68-C9BC-50B4-2B3A5AACC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B00D-38BA-B947-556C-D6EEE3A8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05A29-0B20-4005-1AF4-19DDEF6E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E2CF-1EB6-3253-EE4A-9952B03C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2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5C8C-91B2-1A44-A0A8-D48D3B10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38DB-C68C-CCA3-553A-E0816C4EB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DE00-063A-4ED0-4E40-38FC34BA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B5EF8-992B-0980-8D75-ED8B79C4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0588-F904-E067-DF73-3357261C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6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9C8E-8377-E1EE-DFCF-DA49F5FD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BD8D8-040C-486A-0A7B-BF72DC36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32449-A0A7-2803-7DE2-C331D7F2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91C5-218B-B32E-20FE-52D0520B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DB74-154C-C64D-F300-38CA48ED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3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4316-1397-2C7E-822C-4488F2A6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DF444-8B39-5910-0948-E43990E1D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C832B-9D2C-2C4E-5742-922C36675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C7E9F-E925-A544-B165-1F4150CB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A9CB3-B2C2-B63D-B83F-5B1D820F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060E3-F123-7BA4-9EAA-1878441B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9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3669-920D-3B48-7AFB-0A797ADE7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51E82-8A57-E612-D548-30FA453DC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6C1D1-F466-0755-470F-B9DDE774B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78AFF-2C9A-E5A8-69DC-C757331A9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70774-954C-5C38-EFB6-4329C83E8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581A8-3C2D-D35A-AC9D-9F53A162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2A71A-FB6F-DDAC-CA2E-1335D6879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F34E6-E662-AF32-944D-0BB89979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55F6-399B-B41C-21A2-1E8FDD7A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8097-7673-C6D2-788E-0482F0E6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C60CD-9AA8-E5A5-F346-27790A763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1FF28-A08E-A06B-AC12-B685C839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6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8BB9C-4473-CBD3-8642-0799FE77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A06DA-CCAF-9CEA-0E54-71027E43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930F5-16E2-DDED-6377-FCEF3D11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3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A45B-C50E-0373-32F5-A9F265F48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1BAC-0790-2858-8744-BADD4FF2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0B1CE-D693-AFC2-8D75-6ADD9762F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5563D-4211-E7D9-0B76-319C6255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B1B19-1C43-AEBD-13EC-872C0794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2AAC0-32DC-95C2-677D-98B56C43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6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27DA-70EA-6FC1-A30F-76600952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0DB2A-DAB1-69D8-7521-60A627D2B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6ABA7-5691-4053-A02B-FE3D58342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2E7A-AA8C-4364-1DF6-285BD2CE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9C79D-4A1E-6EC9-0F72-5342AD02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E6202-2A2A-B74A-7D0A-0EC8EA00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6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6C68-13CE-1EFB-CA56-7CE4B288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0F852-344E-6685-4F67-6C1CF4D02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99A7-1CCB-D368-033F-1D0A59D3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FFA6E-E9C2-3365-6842-0C648496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61FC3-19E2-2E65-DA41-458B94EB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4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78E3F-9EB9-B6DB-A64A-22AEC175B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4BFBB-D0E1-BF7B-7820-52D584408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AE11-1514-0058-DBC2-1A5F0A93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AF1F9-95DF-E6B8-89D4-25E0213B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536B8-C227-D488-7C0F-778E2C03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8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22503-C54B-0289-501D-9A0C5FC7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8B4E-8CF8-E405-AA11-2833FF44C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507B-7DD2-59F5-F819-DB7E4B41F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D1F7-4C31-4638-95B5-C78DF4F13C5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3DA3-AD65-EFF3-8C06-D14EA443B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BE662-8836-C159-2266-53CBFE0DE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48C4C-0D73-4F44-893B-FFC8CAB97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9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8730C2-5A37-3103-6E65-424AE92AF82C}"/>
              </a:ext>
            </a:extLst>
          </p:cNvPr>
          <p:cNvSpPr/>
          <p:nvPr/>
        </p:nvSpPr>
        <p:spPr>
          <a:xfrm>
            <a:off x="400049" y="385763"/>
            <a:ext cx="11515725" cy="61293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en-US" sz="2400"/>
              <a:t>Con </a:t>
            </a:r>
            <a:r>
              <a:rPr lang="en-US" sz="2400" err="1"/>
              <a:t>trỏ</a:t>
            </a:r>
            <a:r>
              <a:rPr lang="en-US" sz="2400"/>
              <a:t> - Pointer</a:t>
            </a:r>
          </a:p>
          <a:p>
            <a:pPr marL="457200" indent="-457200">
              <a:buAutoNum type="arabicPeriod"/>
            </a:pPr>
            <a:r>
              <a:rPr lang="en-US" sz="2400" err="1"/>
              <a:t>Khái</a:t>
            </a:r>
            <a:r>
              <a:rPr lang="en-US" sz="2400"/>
              <a:t> niệm</a:t>
            </a:r>
            <a:br>
              <a:rPr lang="en-US" sz="2400"/>
            </a:br>
            <a:r>
              <a:rPr lang="en-US" sz="2400"/>
              <a:t>int x = 5; //biến x dùng để lưu giá trị. Địa chỉ của vùng nhớ được cấp phát cho x là &amp;x</a:t>
            </a:r>
            <a:br>
              <a:rPr lang="en-US" sz="2400"/>
            </a:br>
            <a:r>
              <a:rPr lang="en-US" sz="2400" err="1"/>
              <a:t>Là</a:t>
            </a:r>
            <a:r>
              <a:rPr lang="en-US" sz="2400"/>
              <a:t> </a:t>
            </a:r>
            <a:r>
              <a:rPr lang="en-US" sz="2400" err="1"/>
              <a:t>biến</a:t>
            </a:r>
            <a:r>
              <a:rPr lang="en-US" sz="2400"/>
              <a:t> dùng để lưu địa chỉ. Mục tiêu: dùng con trỏ để trỏ vào vùng nhớ có kiểu dữ liệu được cài đặt.</a:t>
            </a:r>
            <a:br>
              <a:rPr lang="en-US" sz="2400"/>
            </a:br>
            <a:r>
              <a:rPr lang="en-US" sz="2400"/>
              <a:t>int* p; // con trỏ p có thể trỏ được vào vùng nhớ có kiểu dữ liệu là int.</a:t>
            </a:r>
            <a:br>
              <a:rPr lang="en-US" sz="2400"/>
            </a:br>
            <a:r>
              <a:rPr lang="en-US" sz="2400"/>
              <a:t>p = &amp;x; //trỏ p vào x</a:t>
            </a:r>
            <a:br>
              <a:rPr lang="en-US" sz="2400"/>
            </a:br>
            <a:r>
              <a:rPr lang="en-US" sz="2400"/>
              <a:t>*p; //lấy ra giá trị được lưu trong vùng nhớ mà p đang trỏ vào</a:t>
            </a:r>
            <a:br>
              <a:rPr lang="en-US" sz="2400"/>
            </a:br>
            <a:r>
              <a:rPr lang="en-US" sz="2400"/>
              <a:t>*p = 7; //gán giá trị mới cho vùng nhớ mà con trỏ p đang trỏ vào. Sau câu lệnh này x = 7</a:t>
            </a:r>
          </a:p>
          <a:p>
            <a:pPr marL="457200" indent="-457200">
              <a:buAutoNum type="arabicPeriod"/>
            </a:pPr>
            <a:r>
              <a:rPr lang="en-US" sz="2400" err="1"/>
              <a:t>Cài</a:t>
            </a:r>
            <a:r>
              <a:rPr lang="en-US" sz="2400"/>
              <a:t> </a:t>
            </a:r>
            <a:r>
              <a:rPr lang="en-US" sz="2400" err="1"/>
              <a:t>đặt</a:t>
            </a:r>
            <a:r>
              <a:rPr lang="en-US" sz="2400"/>
              <a:t> con </a:t>
            </a:r>
            <a:r>
              <a:rPr lang="en-US" sz="2400" err="1"/>
              <a:t>trỏ</a:t>
            </a:r>
            <a:r>
              <a:rPr lang="en-US" sz="2400"/>
              <a:t> </a:t>
            </a:r>
            <a:r>
              <a:rPr lang="en-US" sz="2400" err="1"/>
              <a:t>trong</a:t>
            </a:r>
            <a:r>
              <a:rPr lang="en-US" sz="2400"/>
              <a:t> </a:t>
            </a:r>
            <a:r>
              <a:rPr lang="en-US" sz="2400" err="1"/>
              <a:t>máy</a:t>
            </a:r>
            <a:r>
              <a:rPr lang="en-US" sz="2400"/>
              <a:t> tính</a:t>
            </a:r>
            <a:br>
              <a:rPr lang="en-US" sz="2400"/>
            </a:br>
            <a:r>
              <a:rPr lang="en-US" sz="2400"/>
              <a:t>cú pháp khai báo con trỏ: &lt;datatype&gt; * &lt;pointer_name&gt;</a:t>
            </a:r>
            <a:br>
              <a:rPr lang="en-US" sz="2400"/>
            </a:br>
            <a:r>
              <a:rPr lang="en-US" sz="2400"/>
              <a:t>phép tính thực hiện được với con trỏ: ++ -- //là phép dịch chuyển con trỏ.</a:t>
            </a:r>
            <a:br>
              <a:rPr lang="en-US" sz="2400"/>
            </a:br>
            <a:r>
              <a:rPr lang="en-US" sz="2400"/>
              <a:t>p++</a:t>
            </a:r>
            <a:br>
              <a:rPr lang="en-US" sz="2400"/>
            </a:br>
            <a:r>
              <a:rPr lang="en-US" sz="2400"/>
              <a:t>p =32 ; thì p++ = 64 và p-- = 0</a:t>
            </a:r>
          </a:p>
          <a:p>
            <a:pPr marL="457200" indent="-457200">
              <a:buAutoNum type="arabicPeriod"/>
            </a:pPr>
            <a:r>
              <a:rPr lang="en-US" sz="2400" err="1"/>
              <a:t>Cấp</a:t>
            </a:r>
            <a:r>
              <a:rPr lang="en-US" sz="2400"/>
              <a:t> </a:t>
            </a:r>
            <a:r>
              <a:rPr lang="en-US" sz="2400" err="1"/>
              <a:t>phát</a:t>
            </a:r>
            <a:r>
              <a:rPr lang="en-US" sz="2400"/>
              <a:t> </a:t>
            </a:r>
            <a:r>
              <a:rPr lang="en-US" sz="2400" err="1"/>
              <a:t>bộ</a:t>
            </a:r>
            <a:r>
              <a:rPr lang="en-US" sz="2400"/>
              <a:t> </a:t>
            </a:r>
            <a:r>
              <a:rPr lang="en-US" sz="2400" err="1"/>
              <a:t>nhớ</a:t>
            </a:r>
            <a:r>
              <a:rPr lang="en-US" sz="2400"/>
              <a:t> </a:t>
            </a:r>
            <a:r>
              <a:rPr lang="en-US" sz="2400" err="1"/>
              <a:t>cho</a:t>
            </a:r>
            <a:r>
              <a:rPr lang="en-US" sz="2400"/>
              <a:t> con trỏ</a:t>
            </a:r>
            <a:br>
              <a:rPr lang="en-US" sz="2400"/>
            </a:br>
            <a:r>
              <a:rPr lang="en-US" sz="2400"/>
              <a:t>Cách 1: Có thể dùng con trỏ trỏ vào 1 vùng nhớ có sẵn</a:t>
            </a:r>
            <a:br>
              <a:rPr lang="en-US" sz="2400"/>
            </a:br>
            <a:r>
              <a:rPr lang="en-US" sz="2400"/>
              <a:t>Cách 2: Có thể cấp phát mới hoàn toàn 1 vùng nhớ cho con trỏ: malloc, calloc</a:t>
            </a:r>
          </a:p>
        </p:txBody>
      </p:sp>
    </p:spTree>
    <p:extLst>
      <p:ext uri="{BB962C8B-B14F-4D97-AF65-F5344CB8AC3E}">
        <p14:creationId xmlns:p14="http://schemas.microsoft.com/office/powerpoint/2010/main" val="426776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E22E-C19C-BEB2-19B3-11D5F5E7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8CCD61-A303-1615-3647-9A0A4A97C4BA}"/>
              </a:ext>
            </a:extLst>
          </p:cNvPr>
          <p:cNvSpPr/>
          <p:nvPr/>
        </p:nvSpPr>
        <p:spPr>
          <a:xfrm>
            <a:off x="600076" y="242887"/>
            <a:ext cx="3300412" cy="5757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F6C555-A25A-AEB2-798D-C76BE15E43A6}"/>
              </a:ext>
            </a:extLst>
          </p:cNvPr>
          <p:cNvGrpSpPr/>
          <p:nvPr/>
        </p:nvGrpSpPr>
        <p:grpSpPr>
          <a:xfrm>
            <a:off x="1047750" y="3314699"/>
            <a:ext cx="1483518" cy="1271588"/>
            <a:chOff x="5386388" y="1414463"/>
            <a:chExt cx="1483518" cy="127158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DA9741B-E412-0288-B284-532017CC32FB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A0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D368EBB-2767-CD4B-61CC-F45B97443FA1}"/>
                </a:ext>
              </a:extLst>
            </p:cNvPr>
            <p:cNvCxnSpPr>
              <a:cxnSpLocks/>
              <a:stCxn id="3" idx="3"/>
              <a:endCxn id="20" idx="0"/>
            </p:cNvCxnSpPr>
            <p:nvPr/>
          </p:nvCxnSpPr>
          <p:spPr>
            <a:xfrm>
              <a:off x="6096000" y="1743076"/>
              <a:ext cx="773906" cy="942975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A85863-A214-3C3F-920F-6106BF3AE3F7}"/>
              </a:ext>
            </a:extLst>
          </p:cNvPr>
          <p:cNvSpPr/>
          <p:nvPr/>
        </p:nvSpPr>
        <p:spPr>
          <a:xfrm>
            <a:off x="678657" y="385763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4692A6-D9A3-9F07-148C-245511896C51}"/>
              </a:ext>
            </a:extLst>
          </p:cNvPr>
          <p:cNvSpPr/>
          <p:nvPr/>
        </p:nvSpPr>
        <p:spPr>
          <a:xfrm>
            <a:off x="1466850" y="385763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B8C45A-43B2-1AD2-23E4-067314D71CB5}"/>
              </a:ext>
            </a:extLst>
          </p:cNvPr>
          <p:cNvSpPr/>
          <p:nvPr/>
        </p:nvSpPr>
        <p:spPr>
          <a:xfrm>
            <a:off x="2328863" y="385762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931E55-0061-8B1A-85A8-3BD1A81672EF}"/>
              </a:ext>
            </a:extLst>
          </p:cNvPr>
          <p:cNvSpPr/>
          <p:nvPr/>
        </p:nvSpPr>
        <p:spPr>
          <a:xfrm>
            <a:off x="3117057" y="385762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0BCF3F-C92F-9D86-C9A6-6C486B3687A8}"/>
              </a:ext>
            </a:extLst>
          </p:cNvPr>
          <p:cNvSpPr/>
          <p:nvPr/>
        </p:nvSpPr>
        <p:spPr>
          <a:xfrm>
            <a:off x="678657" y="1285876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26F7BC-2E16-E0A5-B76F-C6A09C872F5B}"/>
              </a:ext>
            </a:extLst>
          </p:cNvPr>
          <p:cNvSpPr/>
          <p:nvPr/>
        </p:nvSpPr>
        <p:spPr>
          <a:xfrm>
            <a:off x="1466850" y="1285876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58B765-F7DC-2FD1-D733-CA41542C6EA5}"/>
              </a:ext>
            </a:extLst>
          </p:cNvPr>
          <p:cNvSpPr/>
          <p:nvPr/>
        </p:nvSpPr>
        <p:spPr>
          <a:xfrm>
            <a:off x="2328863" y="1285875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BC72AC-8186-A255-0543-1F7AA52DC5B2}"/>
              </a:ext>
            </a:extLst>
          </p:cNvPr>
          <p:cNvSpPr/>
          <p:nvPr/>
        </p:nvSpPr>
        <p:spPr>
          <a:xfrm>
            <a:off x="3117057" y="1285875"/>
            <a:ext cx="709612" cy="6572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83B5BF-85C1-B404-74E1-05E2007724D0}"/>
              </a:ext>
            </a:extLst>
          </p:cNvPr>
          <p:cNvSpPr/>
          <p:nvPr/>
        </p:nvSpPr>
        <p:spPr>
          <a:xfrm>
            <a:off x="8072438" y="1743076"/>
            <a:ext cx="3071812" cy="24288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int A[10];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9E924C-96BC-3086-A3AE-0558B94FE72D}"/>
              </a:ext>
            </a:extLst>
          </p:cNvPr>
          <p:cNvGrpSpPr/>
          <p:nvPr/>
        </p:nvGrpSpPr>
        <p:grpSpPr>
          <a:xfrm>
            <a:off x="2176462" y="2793206"/>
            <a:ext cx="738188" cy="2450306"/>
            <a:chOff x="5386388" y="-378618"/>
            <a:chExt cx="738188" cy="245030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FF7D38B-A671-5FFC-0523-D29EF3798EB5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70C26BA-4A34-3006-C8CE-EEC826480EDB}"/>
                </a:ext>
              </a:extLst>
            </p:cNvPr>
            <p:cNvCxnSpPr>
              <a:cxnSpLocks/>
              <a:stCxn id="20" idx="3"/>
              <a:endCxn id="23" idx="2"/>
            </p:cNvCxnSpPr>
            <p:nvPr/>
          </p:nvCxnSpPr>
          <p:spPr>
            <a:xfrm flipV="1">
              <a:off x="6096000" y="-378618"/>
              <a:ext cx="28576" cy="212169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55FC90-1F02-4D07-4C69-CB6D68420857}"/>
              </a:ext>
            </a:extLst>
          </p:cNvPr>
          <p:cNvGrpSpPr/>
          <p:nvPr/>
        </p:nvGrpSpPr>
        <p:grpSpPr>
          <a:xfrm>
            <a:off x="725091" y="2135981"/>
            <a:ext cx="2544365" cy="2921794"/>
            <a:chOff x="3551635" y="1414463"/>
            <a:chExt cx="2544365" cy="292179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D1C09CF-0186-9FE8-1CC8-A1863C2AF5BF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9ECC130-7A24-BE07-8A11-364EF66F31E2}"/>
                </a:ext>
              </a:extLst>
            </p:cNvPr>
            <p:cNvCxnSpPr>
              <a:cxnSpLocks/>
              <a:stCxn id="23" idx="3"/>
              <a:endCxn id="29" idx="1"/>
            </p:cNvCxnSpPr>
            <p:nvPr/>
          </p:nvCxnSpPr>
          <p:spPr>
            <a:xfrm flipH="1">
              <a:off x="3551635" y="1743076"/>
              <a:ext cx="2544365" cy="2593181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3E0FF2-9757-3D52-EC1F-F556ABC3ED5F}"/>
              </a:ext>
            </a:extLst>
          </p:cNvPr>
          <p:cNvGrpSpPr/>
          <p:nvPr/>
        </p:nvGrpSpPr>
        <p:grpSpPr>
          <a:xfrm>
            <a:off x="725091" y="4729162"/>
            <a:ext cx="1483518" cy="1271588"/>
            <a:chOff x="5386388" y="1414463"/>
            <a:chExt cx="1483518" cy="1271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E0353E2-7F9A-DF41-BC1B-D7334B327BA8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A3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870830B-AE11-EFF0-52EA-82321AE4B173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6096000" y="1743076"/>
              <a:ext cx="773906" cy="942975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8D3F58-4A52-988F-414B-6C8FDCE4518D}"/>
              </a:ext>
            </a:extLst>
          </p:cNvPr>
          <p:cNvGrpSpPr/>
          <p:nvPr/>
        </p:nvGrpSpPr>
        <p:grpSpPr>
          <a:xfrm>
            <a:off x="4841082" y="700086"/>
            <a:ext cx="2431256" cy="3886201"/>
            <a:chOff x="3762375" y="1264443"/>
            <a:chExt cx="2431256" cy="388620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AE16905-736B-1537-FEDD-F48EC46A25DE}"/>
                </a:ext>
              </a:extLst>
            </p:cNvPr>
            <p:cNvSpPr/>
            <p:nvPr/>
          </p:nvSpPr>
          <p:spPr>
            <a:xfrm>
              <a:off x="3762375" y="1593056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A0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8835056-170A-7FE6-0C06-4AD8E8BA1D90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flipH="1">
              <a:off x="3964779" y="2178844"/>
              <a:ext cx="185738" cy="707232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681FCED-68F1-3BED-FE7B-F495D88AF0B6}"/>
                </a:ext>
              </a:extLst>
            </p:cNvPr>
            <p:cNvCxnSpPr>
              <a:cxnSpLocks/>
            </p:cNvCxnSpPr>
            <p:nvPr/>
          </p:nvCxnSpPr>
          <p:spPr>
            <a:xfrm>
              <a:off x="6184106" y="1264443"/>
              <a:ext cx="9525" cy="3886201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EFEAFE-C4D4-80DB-C31F-228D7F221A8D}"/>
              </a:ext>
            </a:extLst>
          </p:cNvPr>
          <p:cNvGrpSpPr/>
          <p:nvPr/>
        </p:nvGrpSpPr>
        <p:grpSpPr>
          <a:xfrm>
            <a:off x="4688680" y="2321719"/>
            <a:ext cx="1216820" cy="2200274"/>
            <a:chOff x="5386388" y="1414463"/>
            <a:chExt cx="1216820" cy="2200274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4764CDB-A284-405B-D89E-0341F4224E44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A1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9F0D2A5-C6FF-8C37-1E7C-5B890421CC5B}"/>
                </a:ext>
              </a:extLst>
            </p:cNvPr>
            <p:cNvCxnSpPr>
              <a:cxnSpLocks/>
              <a:stCxn id="36" idx="3"/>
              <a:endCxn id="46" idx="0"/>
            </p:cNvCxnSpPr>
            <p:nvPr/>
          </p:nvCxnSpPr>
          <p:spPr>
            <a:xfrm>
              <a:off x="6096000" y="1743076"/>
              <a:ext cx="507208" cy="1871661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044132-9CCF-F850-3508-327EE29509C4}"/>
              </a:ext>
            </a:extLst>
          </p:cNvPr>
          <p:cNvGrpSpPr/>
          <p:nvPr/>
        </p:nvGrpSpPr>
        <p:grpSpPr>
          <a:xfrm>
            <a:off x="5550694" y="4521993"/>
            <a:ext cx="1721644" cy="657225"/>
            <a:chOff x="5386388" y="1414463"/>
            <a:chExt cx="1721644" cy="65722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4A6612-66AE-5E84-A080-AECDD131D5E8}"/>
                </a:ext>
              </a:extLst>
            </p:cNvPr>
            <p:cNvSpPr/>
            <p:nvPr/>
          </p:nvSpPr>
          <p:spPr>
            <a:xfrm>
              <a:off x="5386388" y="1414463"/>
              <a:ext cx="709612" cy="65722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A2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D06A5E5-A28C-25D3-E32C-8C0580E7CAB3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6096000" y="1478757"/>
              <a:ext cx="1012032" cy="264319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984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2025-04-12T06:54:04Z</dcterms:created>
  <dcterms:modified xsi:type="dcterms:W3CDTF">2025-04-12T07:45:06Z</dcterms:modified>
</cp:coreProperties>
</file>