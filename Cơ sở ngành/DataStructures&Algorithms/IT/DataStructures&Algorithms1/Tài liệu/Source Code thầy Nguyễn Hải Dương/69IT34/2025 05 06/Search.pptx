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632F1-5FB7-F230-E4A6-923E9A9A7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E419C-3C17-1C8D-8003-8F76143FC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93DA3-9833-39F8-040B-50225E03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8EAEE-CB0F-C9C3-8253-059E286B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5782-1A0F-D0B3-DACA-283E424D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37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2111-361E-C383-A2E8-22664142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E60D7-380B-F878-9F62-E3C461DA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2BC73-A9C2-1E9C-319B-D1EB08DE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251E2-1198-9BD7-9DD4-B39595749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20BED-7033-17C2-1AB6-B7BB1233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4255-FCAD-5811-7738-74A5A8768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65E8B-00F2-47C6-59F3-B9EA0E544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ADB63-F2EF-23A0-8693-B58C8815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7F03B-E426-8BF2-668E-46EADFCE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206D2-DA46-FB32-7F93-305CB7A6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9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36CBB-E961-8BD0-311A-80F2B4CD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0596-9A9B-27DC-779A-91A165F30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9D811-4C8A-5A3F-34A0-2B1945C55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A40E1-628C-9CDE-E4E7-1C80BFDD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C5577-4049-DE42-E5D6-A9DC811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48569-5C3A-9A71-57B4-859D3DD8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9F1A-6621-9C68-9C40-E54E0021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DEE8F-57E4-B63D-36A9-707FCBCA9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59EAB-DB18-92F0-4FB5-A340EC3C9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56BEB-8F5D-71B2-722D-544E8D950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7FF513-F433-0827-2F90-59ACD8844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CC775-C1B2-603D-B5A0-61411143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A4981-565E-E8C9-16AD-21C67041F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EF56B-428E-2FCB-87FB-A1BA03CD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9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CE7A-D1BC-9718-B486-25BF4888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7D8B2-320C-5712-8446-A387C0DD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4070A-E46E-FBFB-D646-1502AB36D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866A5-D349-43B1-4560-6FE8CA75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0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EA2DFD-310F-6722-0CA8-728B433D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B8008-7BAC-06BF-7EC4-7E24AF69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7D145-E4A1-5B6C-A7D2-0BEE534E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4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ABD4-EA55-DA92-658A-EE4D473B8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08AE-21AE-2A38-92E7-8DFC18E2A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A2521-CB58-5DEB-1CA2-EAAA96319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DA96B-7FB0-7F9D-18E4-71A54F73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026B3-F0F5-7BB8-98DC-6BBAE0EE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2BC33-6178-69FA-22C7-DF6B8574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84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990C-C799-FB8B-00DD-332C4FB9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71A60-D837-DF37-5D09-B30A6C9048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BA927-0458-FC67-3FAE-6732B7562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CCEB36-8ECC-8CD6-4CF3-03C71BA7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3CCAC-C97A-1914-D3A7-29A520A3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43CA2-9DC5-5FEA-32AC-8917A50C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5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BFD5-331D-C1E6-DF59-E05AF2DD2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D07EBF-753E-820F-1027-298666A10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F114E-ED95-7803-D020-3C7B0F6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8C571-7C72-4915-23DF-09F03357A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392FC-0F5C-6DAF-5D75-3AA5FC34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F62D1-C8F2-5C78-58E0-D7B61CA49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02785-0AB5-C2AE-50E8-DFCE77948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9C36A-D612-711A-86FA-621754E5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A05F5-346C-7DD5-6D03-A1F04C5D3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0257-C163-D5C1-19AC-DF134923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4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63779-6C8A-1859-3A00-A2E3BC83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BA75-D2A2-680C-93FE-769E52059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B9273-93B0-B27E-80FC-AB6F72914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C492A-E786-4B49-AD2C-B39CF7F78CAC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2218-1750-7CCF-84BD-8C63E3B1F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D071F-0FAF-1390-47D0-C37680AA6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0DE03-CDC8-4AAA-80EF-8E8712FAB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1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F3F9B2-A4CB-0157-9364-080648E6F163}"/>
              </a:ext>
            </a:extLst>
          </p:cNvPr>
          <p:cNvSpPr/>
          <p:nvPr/>
        </p:nvSpPr>
        <p:spPr>
          <a:xfrm>
            <a:off x="457200" y="333632"/>
            <a:ext cx="11417643" cy="6351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/>
              <a:t>Chương 2: Thuật toán tìm kiếm</a:t>
            </a:r>
          </a:p>
          <a:p>
            <a:pPr marL="514350" indent="-514350">
              <a:buAutoNum type="arabicPeriod"/>
            </a:pPr>
            <a:r>
              <a:rPr lang="en-US" sz="3200"/>
              <a:t>Khái niệm</a:t>
            </a:r>
            <a:br>
              <a:rPr lang="en-US" sz="3200"/>
            </a:br>
            <a:r>
              <a:rPr lang="en-US" sz="3200"/>
              <a:t>Là thuật toán để tìm kiếm các phần tử thỏa mãn 1 điều kiện nhất định.</a:t>
            </a:r>
          </a:p>
          <a:p>
            <a:pPr marL="514350" indent="-514350">
              <a:buAutoNum type="arabicPeriod"/>
            </a:pPr>
            <a:r>
              <a:rPr lang="en-US" sz="3200"/>
              <a:t>Các cấp độ của tìm kiếm</a:t>
            </a:r>
            <a:br>
              <a:rPr lang="en-US" sz="3200"/>
            </a:br>
            <a:r>
              <a:rPr lang="en-US" sz="3200"/>
              <a:t>- Tìm thấy hay không?</a:t>
            </a:r>
            <a:br>
              <a:rPr lang="en-US" sz="3200"/>
            </a:br>
            <a:r>
              <a:rPr lang="en-US" sz="3200"/>
              <a:t>- Tìm thấy bao nhiêu?</a:t>
            </a:r>
            <a:br>
              <a:rPr lang="en-US" sz="3200"/>
            </a:br>
            <a:r>
              <a:rPr lang="en-US" sz="3200"/>
              <a:t>- Tìm thấy ở đâu?</a:t>
            </a:r>
            <a:br>
              <a:rPr lang="en-US" sz="3200"/>
            </a:br>
            <a:r>
              <a:rPr lang="en-US" sz="3200"/>
              <a:t>- Tìm thấy bao nhiêu và ở những vị trí nào?</a:t>
            </a:r>
          </a:p>
          <a:p>
            <a:pPr marL="514350" indent="-514350">
              <a:buAutoNum type="arabicPeriod"/>
            </a:pPr>
            <a:r>
              <a:rPr lang="en-US" sz="3200"/>
              <a:t>Các thuật toán tìm kiếm</a:t>
            </a:r>
            <a:br>
              <a:rPr lang="en-US" sz="3200"/>
            </a:br>
            <a:r>
              <a:rPr lang="en-US" sz="3200"/>
              <a:t>Có rất nhiều thuật toán dung để tìm kiếm</a:t>
            </a:r>
            <a:br>
              <a:rPr lang="en-US" sz="3200"/>
            </a:br>
            <a:r>
              <a:rPr lang="en-US" sz="3200"/>
              <a:t>- Thuật toán tìm kiếm tuần tự</a:t>
            </a:r>
            <a:br>
              <a:rPr lang="en-US" sz="3200"/>
            </a:br>
            <a:r>
              <a:rPr lang="en-US" sz="3200"/>
              <a:t>- Thuật toán tìm kiếm nhị phân</a:t>
            </a:r>
          </a:p>
        </p:txBody>
      </p:sp>
    </p:spTree>
    <p:extLst>
      <p:ext uri="{BB962C8B-B14F-4D97-AF65-F5344CB8AC3E}">
        <p14:creationId xmlns:p14="http://schemas.microsoft.com/office/powerpoint/2010/main" val="230255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9A8C-A6C0-6C78-84FD-D3A2B0C0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687063-146E-59D0-3FE7-7FAC0B1E65C4}"/>
              </a:ext>
            </a:extLst>
          </p:cNvPr>
          <p:cNvSpPr/>
          <p:nvPr/>
        </p:nvSpPr>
        <p:spPr>
          <a:xfrm>
            <a:off x="457200" y="333632"/>
            <a:ext cx="11417643" cy="6351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Tx/>
              <a:buChar char="-"/>
            </a:pPr>
            <a:r>
              <a:rPr lang="en-US" sz="3200"/>
              <a:t>Thuật toán tìm kiếm tuần tự</a:t>
            </a:r>
          </a:p>
          <a:p>
            <a:r>
              <a:rPr lang="en-US" sz="3200"/>
              <a:t>Tư tưởng thuật toán: Duyệt qua từng phần tử của tập hợp và kiểm tra điều kiện tìm kiếm. </a:t>
            </a:r>
            <a:br>
              <a:rPr lang="en-US" sz="3200"/>
            </a:br>
            <a:r>
              <a:rPr lang="en-US" sz="3200"/>
              <a:t>- Thuật toán tìm kiếm nhị phân</a:t>
            </a:r>
            <a:br>
              <a:rPr lang="en-US" sz="3200"/>
            </a:br>
            <a:r>
              <a:rPr lang="en-US" sz="3200"/>
              <a:t>Điều kiện tiên quyết: </a:t>
            </a:r>
          </a:p>
          <a:p>
            <a:pPr marL="514350" indent="-514350">
              <a:buAutoNum type="arabicPeriod"/>
            </a:pPr>
            <a:r>
              <a:rPr lang="en-US" sz="3200"/>
              <a:t>Tập hợp phải được sắp xếp. </a:t>
            </a:r>
          </a:p>
          <a:p>
            <a:pPr marL="514350" indent="-514350">
              <a:buAutoNum type="arabicPeriod"/>
            </a:pPr>
            <a:r>
              <a:rPr lang="en-US" sz="3200"/>
              <a:t>Mỗi phần tử trong tập hợp phải được đánh chỉ số.</a:t>
            </a:r>
          </a:p>
          <a:p>
            <a:r>
              <a:rPr lang="en-US" sz="3200"/>
              <a:t>Tư tưởng thuật toán: Chia đôi tập hợp, tìm xem x tồn tại trong nửa nào thì loại bỏ nửa còn lại. </a:t>
            </a:r>
          </a:p>
        </p:txBody>
      </p:sp>
    </p:spTree>
    <p:extLst>
      <p:ext uri="{BB962C8B-B14F-4D97-AF65-F5344CB8AC3E}">
        <p14:creationId xmlns:p14="http://schemas.microsoft.com/office/powerpoint/2010/main" val="231921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EEAC5-502F-5D7D-52EC-027FF91C909B}"/>
              </a:ext>
            </a:extLst>
          </p:cNvPr>
          <p:cNvSpPr/>
          <p:nvPr/>
        </p:nvSpPr>
        <p:spPr>
          <a:xfrm>
            <a:off x="605481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2D3E1-18DB-E4EC-0739-34BDF5FDD308}"/>
              </a:ext>
            </a:extLst>
          </p:cNvPr>
          <p:cNvSpPr/>
          <p:nvPr/>
        </p:nvSpPr>
        <p:spPr>
          <a:xfrm>
            <a:off x="1841156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A507C0-4031-16F6-4F66-DC41B7517E96}"/>
              </a:ext>
            </a:extLst>
          </p:cNvPr>
          <p:cNvSpPr/>
          <p:nvPr/>
        </p:nvSpPr>
        <p:spPr>
          <a:xfrm>
            <a:off x="3052119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FE6A02-D1F2-9C1E-40EC-691125DA0E52}"/>
              </a:ext>
            </a:extLst>
          </p:cNvPr>
          <p:cNvSpPr/>
          <p:nvPr/>
        </p:nvSpPr>
        <p:spPr>
          <a:xfrm>
            <a:off x="4275438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A9908-5B39-A6D9-B7F4-FD9BA1D018FB}"/>
              </a:ext>
            </a:extLst>
          </p:cNvPr>
          <p:cNvSpPr/>
          <p:nvPr/>
        </p:nvSpPr>
        <p:spPr>
          <a:xfrm>
            <a:off x="5502878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5B9AE-0F24-89CE-BA64-5FC4B3A46B29}"/>
              </a:ext>
            </a:extLst>
          </p:cNvPr>
          <p:cNvSpPr/>
          <p:nvPr/>
        </p:nvSpPr>
        <p:spPr>
          <a:xfrm>
            <a:off x="6722076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A7E587-13B5-CE18-A98B-7CB42DA815C1}"/>
              </a:ext>
            </a:extLst>
          </p:cNvPr>
          <p:cNvSpPr/>
          <p:nvPr/>
        </p:nvSpPr>
        <p:spPr>
          <a:xfrm>
            <a:off x="7945395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9B3EF-F6FC-F3E0-B9AD-7DA73B37D154}"/>
              </a:ext>
            </a:extLst>
          </p:cNvPr>
          <p:cNvSpPr/>
          <p:nvPr/>
        </p:nvSpPr>
        <p:spPr>
          <a:xfrm>
            <a:off x="9168714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2E09D-982F-CE0C-9406-4A15C778224C}"/>
              </a:ext>
            </a:extLst>
          </p:cNvPr>
          <p:cNvSpPr/>
          <p:nvPr/>
        </p:nvSpPr>
        <p:spPr>
          <a:xfrm>
            <a:off x="10392033" y="827903"/>
            <a:ext cx="1087395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54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93C28C-E748-17A0-9253-AE67170D6DB9}"/>
              </a:ext>
            </a:extLst>
          </p:cNvPr>
          <p:cNvSpPr/>
          <p:nvPr/>
        </p:nvSpPr>
        <p:spPr>
          <a:xfrm>
            <a:off x="208004" y="2335427"/>
            <a:ext cx="1911179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Left = 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07E22BC-7A21-0DE7-5148-956642425DCB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163594" y="1754658"/>
            <a:ext cx="1" cy="5807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9F260E7-CBBF-4703-8059-0E8AB36503F0}"/>
              </a:ext>
            </a:extLst>
          </p:cNvPr>
          <p:cNvSpPr/>
          <p:nvPr/>
        </p:nvSpPr>
        <p:spPr>
          <a:xfrm>
            <a:off x="9943072" y="2335427"/>
            <a:ext cx="1911179" cy="926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Right = 8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536B4B-6F71-90DD-E45F-BC6ABB9FC87D}"/>
              </a:ext>
            </a:extLst>
          </p:cNvPr>
          <p:cNvCxnSpPr>
            <a:stCxn id="16" idx="0"/>
          </p:cNvCxnSpPr>
          <p:nvPr/>
        </p:nvCxnSpPr>
        <p:spPr>
          <a:xfrm flipV="1">
            <a:off x="10898662" y="1754658"/>
            <a:ext cx="1" cy="58076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7F554FF-D937-639D-A2E7-B476EC916774}"/>
              </a:ext>
            </a:extLst>
          </p:cNvPr>
          <p:cNvSpPr/>
          <p:nvPr/>
        </p:nvSpPr>
        <p:spPr>
          <a:xfrm>
            <a:off x="4139515" y="2335426"/>
            <a:ext cx="3805880" cy="4188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x= 12;</a:t>
            </a:r>
          </a:p>
          <a:p>
            <a:pPr algn="ctr"/>
            <a:r>
              <a:rPr lang="en-US"/>
              <a:t>While (L &lt;= R)</a:t>
            </a:r>
          </a:p>
          <a:p>
            <a:pPr algn="ctr"/>
            <a:r>
              <a:rPr lang="en-US"/>
              <a:t>Mid = (R+L)/2 = 4</a:t>
            </a:r>
            <a:br>
              <a:rPr lang="en-US"/>
            </a:br>
            <a:r>
              <a:rPr lang="en-US"/>
              <a:t>if(A[M]  == x) int count=1;</a:t>
            </a:r>
          </a:p>
          <a:p>
            <a:pPr algn="ctr"/>
            <a:r>
              <a:rPr lang="en-US"/>
              <a:t>For(i=M+1, i&lt;n,i++)</a:t>
            </a:r>
          </a:p>
          <a:p>
            <a:pPr algn="ctr"/>
            <a:r>
              <a:rPr lang="en-US"/>
              <a:t>If(A[i] == x) count++;</a:t>
            </a:r>
          </a:p>
          <a:p>
            <a:pPr algn="ctr"/>
            <a:r>
              <a:rPr lang="en-US"/>
              <a:t>Else(break;)</a:t>
            </a:r>
          </a:p>
          <a:p>
            <a:pPr algn="ctr"/>
            <a:r>
              <a:rPr lang="en-US"/>
              <a:t>For(i=M-1, i&gt;=0,i--)</a:t>
            </a:r>
          </a:p>
          <a:p>
            <a:pPr algn="ctr"/>
            <a:r>
              <a:rPr lang="en-US"/>
              <a:t>If(A[i] == x) count++;</a:t>
            </a:r>
          </a:p>
          <a:p>
            <a:pPr algn="ctr"/>
            <a:r>
              <a:rPr lang="en-US"/>
              <a:t>Else(break;)</a:t>
            </a:r>
            <a:br>
              <a:rPr lang="en-US"/>
            </a:br>
            <a:r>
              <a:rPr lang="en-US"/>
              <a:t>else if(A[M] &lt; x) L=M + 1;</a:t>
            </a:r>
            <a:br>
              <a:rPr lang="en-US"/>
            </a:br>
            <a:r>
              <a:rPr lang="en-US"/>
              <a:t>else </a:t>
            </a:r>
            <a:br>
              <a:rPr lang="en-US"/>
            </a:br>
            <a:r>
              <a:rPr lang="en-US"/>
              <a:t>R=M - 1;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48C89B-D711-E0D2-968B-91BF5A2E78C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6042455" y="1754658"/>
            <a:ext cx="23685" cy="58076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01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315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Duong YT</dc:creator>
  <cp:lastModifiedBy>Duong YT</cp:lastModifiedBy>
  <cp:revision>1</cp:revision>
  <dcterms:created xsi:type="dcterms:W3CDTF">2025-05-06T09:02:11Z</dcterms:created>
  <dcterms:modified xsi:type="dcterms:W3CDTF">2025-05-06T10:05:56Z</dcterms:modified>
</cp:coreProperties>
</file>