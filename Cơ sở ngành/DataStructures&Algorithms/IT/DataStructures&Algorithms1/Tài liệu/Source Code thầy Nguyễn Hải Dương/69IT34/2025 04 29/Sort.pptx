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3A37-C230-0D22-D57D-74030B3F1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DD7A6-B370-B481-544D-505C1BDC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0F64C-33E7-401C-A08C-47073CC7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0F1C5-781C-6DE4-7BD3-719F28D8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1DE2-6114-B306-385E-ABC9DF15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CA5-F12E-9A40-A318-C73C40C6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0132-BD0D-62EF-3C01-03FC4981A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21F8-50B2-A785-A4E9-101AEDCE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C4C33-AB7F-DFC2-26B4-A7902507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10A4E-3FEE-62BC-9935-0AD1D4F4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1380-E577-12B6-9445-EEA03342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C9945-B234-34FF-C180-EEC909F37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29C6-2F00-DF9B-C360-CB9929C0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490BF-1290-5E6D-EFD8-6172D840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FB018-5572-1CA5-366B-27DE7DD4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7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F4D9-E4EA-B354-DA29-EE237C38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2A95C-1C2E-754D-CF9D-3F72C4F35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09B5D-3720-4407-91C3-C7C95B14A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BC619-1B78-683F-D19C-8ADAEFD4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17C38-8EFF-1DF8-108E-82D8BDD6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5EDC0-C96D-3F18-B0AB-0FE65902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5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B305-B1F1-3382-FC58-98F9D4EF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027AD-8F74-37A2-C598-0CD23498C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557E6-744D-0A16-AC2C-2EE321EED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25659-D00B-0C7D-B1D9-1A868DB68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3C28B-23C9-AFF6-6C5C-250C38518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95F73-1150-CF36-4130-9FF1D521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46E350-570F-CCD2-3848-63B1EA0D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93CA63-C5EE-CF79-BE4C-7B851C0B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3A855-12D1-1559-7038-7EF5D35B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774D4-FD04-A21A-310C-C420A902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331D0-421E-4B36-B907-B17B1328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49CF0-CA19-C1B3-1676-2513F405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B543E-45D5-C492-4981-0D811DD0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6E280-6733-0B75-D862-ECFB2698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F6E4E-0B84-B42A-DAD2-4E40A28D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4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9FF2-DC37-F9F6-E2AB-5AB67547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F6602-BB05-C19D-1C5E-98DFE284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F8CA-31FE-05F6-8840-6D82D4BB6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AB432-71FC-FD29-331F-FEC91622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B418D-6372-D5E6-2B1C-DE37850B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49687-C255-9F81-EDFC-EEA79D0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0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A61D-3735-EE00-845A-CA0057AF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8E6CE-3AC1-9EB0-12BE-275B22135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9BCB2-0810-2B62-440D-38B43442C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D48ED-5534-5AB6-01DD-77424118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F5916-C6A2-3401-CE7F-E929C73F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17072-091B-19E4-556A-FB76974E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4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9F91-A280-07F3-7AA9-C9421A2B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5C69F-EA80-21D3-A1EF-D2C025BE5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72032-8497-16C1-B75C-7F8ADC3D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D7571-F945-55EC-4D71-8F783F1E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354B-E1FA-E64B-9939-038926AF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F23192-E024-EEE2-AB5D-AAC0481F0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A73BE-2FEE-822C-D63B-140279414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98A2A-C0CF-D864-FEC4-7A8263D2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B54DF-A1D7-4664-6B9E-D0C9A56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5556-8F83-FBA3-E055-579C520F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7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73298-724D-8A33-CEF4-0B3B1005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88DAF-959F-C5E6-9FC6-044D3893D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68DB6-9140-BEA0-0846-6C2FF862B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F22E9-688F-4C95-B11A-29E87E3C8CE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BE494-A60F-EFEC-E21B-1E8AC8341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1F222-5E2B-C11B-4F36-BB60FE5D0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1802B-BB61-4D82-833D-890CDBBF8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3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669BD8-87F9-B70C-4C18-B287D8527F96}"/>
              </a:ext>
            </a:extLst>
          </p:cNvPr>
          <p:cNvSpPr/>
          <p:nvPr/>
        </p:nvSpPr>
        <p:spPr>
          <a:xfrm>
            <a:off x="432486" y="358346"/>
            <a:ext cx="11491784" cy="61783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err="1"/>
              <a:t>Phần</a:t>
            </a:r>
            <a:r>
              <a:rPr lang="en-US" sz="2800"/>
              <a:t> II: </a:t>
            </a:r>
            <a:r>
              <a:rPr lang="en-US" sz="2800" err="1"/>
              <a:t>Thuật</a:t>
            </a:r>
            <a:r>
              <a:rPr lang="en-US" sz="2800"/>
              <a:t> </a:t>
            </a:r>
            <a:r>
              <a:rPr lang="en-US" sz="2800" err="1"/>
              <a:t>toán</a:t>
            </a:r>
            <a:endParaRPr lang="en-US" sz="2800"/>
          </a:p>
          <a:p>
            <a:pPr marL="514350" indent="-514350">
              <a:buAutoNum type="arabicPeriod"/>
            </a:pPr>
            <a:r>
              <a:rPr lang="en-US" sz="2800" err="1"/>
              <a:t>Khái</a:t>
            </a:r>
            <a:r>
              <a:rPr lang="en-US" sz="2800"/>
              <a:t> niệm:</a:t>
            </a:r>
            <a:br>
              <a:rPr lang="en-US" sz="2800"/>
            </a:br>
            <a:r>
              <a:rPr lang="en-US" sz="2800"/>
              <a:t>Thuật toán: Là các bước để giải 1 bài toán</a:t>
            </a:r>
            <a:br>
              <a:rPr lang="en-US" sz="2800"/>
            </a:br>
            <a:r>
              <a:rPr lang="en-US" sz="2800"/>
              <a:t>Thuật toán máy tính: Là thuật toán mà máy tính có thể hiểu được.</a:t>
            </a:r>
          </a:p>
          <a:p>
            <a:pPr marL="514350" indent="-514350">
              <a:buAutoNum type="arabicPeriod"/>
            </a:pPr>
            <a:r>
              <a:rPr lang="en-US" sz="2800"/>
              <a:t>Các </a:t>
            </a:r>
            <a:r>
              <a:rPr lang="en-US" sz="2800" err="1"/>
              <a:t>tính</a:t>
            </a:r>
            <a:r>
              <a:rPr lang="en-US" sz="2800"/>
              <a:t> </a:t>
            </a:r>
            <a:r>
              <a:rPr lang="en-US" sz="2800" err="1"/>
              <a:t>chất</a:t>
            </a:r>
            <a:r>
              <a:rPr lang="en-US" sz="2800"/>
              <a:t> </a:t>
            </a:r>
            <a:r>
              <a:rPr lang="en-US" sz="2800" err="1"/>
              <a:t>của</a:t>
            </a:r>
            <a:r>
              <a:rPr lang="en-US" sz="2800"/>
              <a:t> </a:t>
            </a:r>
            <a:r>
              <a:rPr lang="en-US" sz="2800" err="1"/>
              <a:t>thuật</a:t>
            </a:r>
            <a:r>
              <a:rPr lang="en-US" sz="2800"/>
              <a:t> toán</a:t>
            </a:r>
            <a:br>
              <a:rPr lang="en-US" sz="2800"/>
            </a:br>
            <a:r>
              <a:rPr lang="en-US" sz="2800"/>
              <a:t>- Tính xác định</a:t>
            </a:r>
            <a:br>
              <a:rPr lang="en-US" sz="2800"/>
            </a:br>
            <a:r>
              <a:rPr lang="en-US" sz="2800"/>
              <a:t>- Tính đúng đắn</a:t>
            </a:r>
            <a:br>
              <a:rPr lang="en-US" sz="2800"/>
            </a:br>
            <a:r>
              <a:rPr lang="en-US" sz="2800"/>
              <a:t>- Tính hữu hạn</a:t>
            </a:r>
            <a:br>
              <a:rPr lang="en-US" sz="2800"/>
            </a:br>
            <a:r>
              <a:rPr lang="en-US" sz="2800"/>
              <a:t>- Có đầu vào và đầu ra</a:t>
            </a:r>
            <a:br>
              <a:rPr lang="en-US" sz="2800"/>
            </a:br>
            <a:r>
              <a:rPr lang="en-US" sz="2800"/>
              <a:t>- Tính khả thi, Tính tối ưu, …</a:t>
            </a:r>
          </a:p>
          <a:p>
            <a:pPr marL="514350" indent="-514350">
              <a:buAutoNum type="arabicPeriod"/>
            </a:pPr>
            <a:r>
              <a:rPr lang="en-US" sz="2800"/>
              <a:t>Các thuật toán cơ bản</a:t>
            </a:r>
            <a:br>
              <a:rPr lang="en-US" sz="2800"/>
            </a:br>
            <a:r>
              <a:rPr lang="en-US" sz="2800"/>
              <a:t>Thuật toán tuần tự, Thuật toán rẽ nhánh, Thuật toán lặp.</a:t>
            </a:r>
          </a:p>
          <a:p>
            <a:pPr marL="514350" indent="-514350">
              <a:buAutoNum type="arabicPeriod"/>
            </a:pPr>
            <a:r>
              <a:rPr lang="en-US" sz="2800"/>
              <a:t>Các </a:t>
            </a:r>
            <a:r>
              <a:rPr lang="en-US" sz="2800" err="1"/>
              <a:t>thuật</a:t>
            </a:r>
            <a:r>
              <a:rPr lang="en-US" sz="2800"/>
              <a:t> </a:t>
            </a:r>
            <a:r>
              <a:rPr lang="en-US" sz="2800" err="1"/>
              <a:t>toán</a:t>
            </a:r>
            <a:r>
              <a:rPr lang="en-US" sz="2800"/>
              <a:t> </a:t>
            </a:r>
            <a:r>
              <a:rPr lang="en-US" sz="2800" err="1"/>
              <a:t>nâng</a:t>
            </a:r>
            <a:r>
              <a:rPr lang="en-US" sz="2800"/>
              <a:t> </a:t>
            </a:r>
            <a:r>
              <a:rPr lang="en-US" sz="2800" err="1"/>
              <a:t>cao</a:t>
            </a:r>
            <a:r>
              <a:rPr lang="en-US" sz="2800"/>
              <a:t>:</a:t>
            </a:r>
          </a:p>
          <a:p>
            <a:pPr lvl="1"/>
            <a:r>
              <a:rPr lang="en-US" sz="2800"/>
              <a:t>4.1. </a:t>
            </a:r>
            <a:r>
              <a:rPr lang="en-US" sz="2800" err="1"/>
              <a:t>Thuật</a:t>
            </a:r>
            <a:r>
              <a:rPr lang="en-US" sz="2800"/>
              <a:t> </a:t>
            </a:r>
            <a:r>
              <a:rPr lang="en-US" sz="2800" err="1"/>
              <a:t>toán</a:t>
            </a:r>
            <a:r>
              <a:rPr lang="en-US" sz="2800"/>
              <a:t> </a:t>
            </a:r>
            <a:r>
              <a:rPr lang="en-US" sz="2800" err="1"/>
              <a:t>sắp</a:t>
            </a:r>
            <a:r>
              <a:rPr lang="en-US" sz="2800"/>
              <a:t> </a:t>
            </a:r>
            <a:r>
              <a:rPr lang="en-US" sz="2800" err="1"/>
              <a:t>xếp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21807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F52A7-FD55-B5DE-3476-84035F485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72AF14-CDCC-885D-71AF-5DD14A78547E}"/>
              </a:ext>
            </a:extLst>
          </p:cNvPr>
          <p:cNvSpPr/>
          <p:nvPr/>
        </p:nvSpPr>
        <p:spPr>
          <a:xfrm>
            <a:off x="432486" y="358346"/>
            <a:ext cx="11491784" cy="61783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/>
              <a:t>4. Các </a:t>
            </a:r>
            <a:r>
              <a:rPr lang="en-US" sz="2800" err="1"/>
              <a:t>thuật</a:t>
            </a:r>
            <a:r>
              <a:rPr lang="en-US" sz="2800"/>
              <a:t> </a:t>
            </a:r>
            <a:r>
              <a:rPr lang="en-US" sz="2800" err="1"/>
              <a:t>toán</a:t>
            </a:r>
            <a:r>
              <a:rPr lang="en-US" sz="2800"/>
              <a:t> </a:t>
            </a:r>
            <a:r>
              <a:rPr lang="en-US" sz="2800" err="1"/>
              <a:t>nâng</a:t>
            </a:r>
            <a:r>
              <a:rPr lang="en-US" sz="2800"/>
              <a:t> </a:t>
            </a:r>
            <a:r>
              <a:rPr lang="en-US" sz="2800" err="1"/>
              <a:t>cao</a:t>
            </a:r>
            <a:r>
              <a:rPr lang="en-US" sz="2800"/>
              <a:t>:</a:t>
            </a:r>
          </a:p>
          <a:p>
            <a:pPr lvl="1"/>
            <a:r>
              <a:rPr lang="en-US" sz="2800"/>
              <a:t>4.1. </a:t>
            </a:r>
            <a:r>
              <a:rPr lang="en-US" sz="2800" err="1"/>
              <a:t>Thuật</a:t>
            </a:r>
            <a:r>
              <a:rPr lang="en-US" sz="2800"/>
              <a:t> </a:t>
            </a:r>
            <a:r>
              <a:rPr lang="en-US" sz="2800" err="1"/>
              <a:t>toán</a:t>
            </a:r>
            <a:r>
              <a:rPr lang="en-US" sz="2800"/>
              <a:t> </a:t>
            </a:r>
            <a:r>
              <a:rPr lang="en-US" sz="2800" err="1"/>
              <a:t>sắp</a:t>
            </a:r>
            <a:r>
              <a:rPr lang="en-US" sz="2800"/>
              <a:t> xếp:</a:t>
            </a:r>
            <a:br>
              <a:rPr lang="en-US" sz="2800"/>
            </a:br>
            <a:r>
              <a:rPr lang="en-US" sz="2800"/>
              <a:t>- Khái niệm: Là thuật toán để biến đổi dữ liệu đầu vào thành 1 dạng dữ liệu mới có quy luật nhất định.</a:t>
            </a:r>
            <a:br>
              <a:rPr lang="en-US" sz="2800"/>
            </a:br>
            <a:r>
              <a:rPr lang="en-US" sz="2800"/>
              <a:t>- Có rất nhiều thuật toán sắp xếp</a:t>
            </a:r>
            <a:br>
              <a:rPr lang="en-US" sz="2800"/>
            </a:br>
            <a:r>
              <a:rPr lang="en-US" sz="2800"/>
              <a:t>- Selection Sort: Sắp xếp thường/chọn. </a:t>
            </a:r>
          </a:p>
          <a:p>
            <a:pPr lvl="1"/>
            <a:r>
              <a:rPr lang="en-US" sz="2800"/>
              <a:t>Tư tưởng: </a:t>
            </a:r>
            <a:r>
              <a:rPr lang="en-US" sz="2800">
                <a:highlight>
                  <a:srgbClr val="FFFF00"/>
                </a:highlight>
              </a:rPr>
              <a:t>Chọn ra 1 phần tử đem so sánh với tất cả các phần tử còn lại</a:t>
            </a:r>
            <a:r>
              <a:rPr lang="en-US" sz="2800"/>
              <a:t>, sau mỗi lần thực hiện sẽ tìm ra 1 phần tử đúng chỗ, Loại phần tử đúng chỗ ra khỏi mảng đang xét và tiếp tục thực hiện lại vòng lặp.</a:t>
            </a:r>
            <a:br>
              <a:rPr lang="en-US" sz="2800"/>
            </a:br>
            <a:r>
              <a:rPr lang="en-US" sz="2800"/>
              <a:t>- Buble sort: Sắp xếp nổi bọt.</a:t>
            </a:r>
          </a:p>
          <a:p>
            <a:pPr lvl="1"/>
            <a:r>
              <a:rPr lang="en-US" sz="2800"/>
              <a:t>Tư tưởng: </a:t>
            </a:r>
            <a:r>
              <a:rPr lang="en-US" sz="2800">
                <a:highlight>
                  <a:srgbClr val="FFFF00"/>
                </a:highlight>
              </a:rPr>
              <a:t>So sánh 2 phần tử cạnh nhau</a:t>
            </a:r>
            <a:r>
              <a:rPr lang="en-US" sz="2800"/>
              <a:t>, sau mỗi lần thực hiện sẽ tìm ra 1 phần tử đúng chỗ, Loại phần tử đúng chỗ ra khỏi mảng đang xét và tiếp tục thực hiện lại vòng lặp.</a:t>
            </a:r>
          </a:p>
          <a:p>
            <a:pPr lvl="1"/>
            <a:r>
              <a:rPr lang="en-US" sz="2800"/>
              <a:t>- Insert sort, Quick sort,…. </a:t>
            </a:r>
          </a:p>
        </p:txBody>
      </p:sp>
    </p:spTree>
    <p:extLst>
      <p:ext uri="{BB962C8B-B14F-4D97-AF65-F5344CB8AC3E}">
        <p14:creationId xmlns:p14="http://schemas.microsoft.com/office/powerpoint/2010/main" val="127480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2D6ADC-7C8A-2810-9D29-9312E604031C}"/>
              </a:ext>
            </a:extLst>
          </p:cNvPr>
          <p:cNvSpPr/>
          <p:nvPr/>
        </p:nvSpPr>
        <p:spPr>
          <a:xfrm>
            <a:off x="668295" y="2048133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7ED898-1D50-FCC6-1721-55837C8E31E0}"/>
              </a:ext>
            </a:extLst>
          </p:cNvPr>
          <p:cNvSpPr/>
          <p:nvPr/>
        </p:nvSpPr>
        <p:spPr>
          <a:xfrm>
            <a:off x="1902940" y="1628003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5FEA7F-0146-34AB-A3D8-D2454DC9EC65}"/>
              </a:ext>
            </a:extLst>
          </p:cNvPr>
          <p:cNvSpPr/>
          <p:nvPr/>
        </p:nvSpPr>
        <p:spPr>
          <a:xfrm>
            <a:off x="4479330" y="1628003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7149D2-ADDB-4127-43A8-363492435B3F}"/>
              </a:ext>
            </a:extLst>
          </p:cNvPr>
          <p:cNvSpPr/>
          <p:nvPr/>
        </p:nvSpPr>
        <p:spPr>
          <a:xfrm>
            <a:off x="3218941" y="1628003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6838E1-525C-356F-16A3-21A1ED45E332}"/>
              </a:ext>
            </a:extLst>
          </p:cNvPr>
          <p:cNvSpPr/>
          <p:nvPr/>
        </p:nvSpPr>
        <p:spPr>
          <a:xfrm>
            <a:off x="5686170" y="1628003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9C8C52-AA58-5591-4FC4-5F613F65A16F}"/>
              </a:ext>
            </a:extLst>
          </p:cNvPr>
          <p:cNvSpPr/>
          <p:nvPr/>
        </p:nvSpPr>
        <p:spPr>
          <a:xfrm>
            <a:off x="6923907" y="1652718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D7793F-2EA2-C5BA-A6CF-2BAB9CB86DE9}"/>
              </a:ext>
            </a:extLst>
          </p:cNvPr>
          <p:cNvSpPr/>
          <p:nvPr/>
        </p:nvSpPr>
        <p:spPr>
          <a:xfrm>
            <a:off x="8155460" y="86498"/>
            <a:ext cx="3921209" cy="63390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400"/>
              <a:t>n = 6</a:t>
            </a:r>
          </a:p>
          <a:p>
            <a:r>
              <a:rPr lang="en-US" sz="3400"/>
              <a:t>i = 4; (i=0, i&lt;n-1)</a:t>
            </a:r>
          </a:p>
          <a:p>
            <a:r>
              <a:rPr lang="en-US" sz="3400"/>
              <a:t>j = 6; (j = i+1,  j&lt;n)</a:t>
            </a:r>
          </a:p>
          <a:p>
            <a:r>
              <a:rPr lang="en-US" sz="3400"/>
              <a:t>If(A[i] &gt; A[j])</a:t>
            </a:r>
            <a:br>
              <a:rPr lang="en-US" sz="3400"/>
            </a:br>
            <a:r>
              <a:rPr lang="en-US" sz="3400"/>
              <a:t>{</a:t>
            </a:r>
          </a:p>
          <a:p>
            <a:r>
              <a:rPr lang="en-US" sz="3400"/>
              <a:t>	tg = A[j];</a:t>
            </a:r>
          </a:p>
          <a:p>
            <a:r>
              <a:rPr lang="en-US" sz="3400"/>
              <a:t>	A[j] = A[i];</a:t>
            </a:r>
          </a:p>
          <a:p>
            <a:r>
              <a:rPr lang="en-US" sz="3400"/>
              <a:t>	A[i] = tg;</a:t>
            </a:r>
          </a:p>
          <a:p>
            <a:r>
              <a:rPr lang="en-US" sz="3400"/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B8B2D4-27B0-FCFF-A5CC-E17D55669305}"/>
              </a:ext>
            </a:extLst>
          </p:cNvPr>
          <p:cNvSpPr/>
          <p:nvPr/>
        </p:nvSpPr>
        <p:spPr>
          <a:xfrm>
            <a:off x="609601" y="86498"/>
            <a:ext cx="7274010" cy="6796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Sắp xếp chọn tăng dần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87C5E0-5299-2234-A9E9-E9C30FE8954C}"/>
              </a:ext>
            </a:extLst>
          </p:cNvPr>
          <p:cNvSpPr/>
          <p:nvPr/>
        </p:nvSpPr>
        <p:spPr>
          <a:xfrm>
            <a:off x="2423985" y="3008870"/>
            <a:ext cx="1344826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tg =5</a:t>
            </a:r>
          </a:p>
        </p:txBody>
      </p:sp>
    </p:spTree>
    <p:extLst>
      <p:ext uri="{BB962C8B-B14F-4D97-AF65-F5344CB8AC3E}">
        <p14:creationId xmlns:p14="http://schemas.microsoft.com/office/powerpoint/2010/main" val="14163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25E7-3235-1760-4F06-DFF9B013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7011BE-A488-1C07-1705-BCA3B3F4E37A}"/>
              </a:ext>
            </a:extLst>
          </p:cNvPr>
          <p:cNvSpPr/>
          <p:nvPr/>
        </p:nvSpPr>
        <p:spPr>
          <a:xfrm>
            <a:off x="679030" y="1033342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9D1584-F91D-C912-613F-D4384EE0C3E7}"/>
              </a:ext>
            </a:extLst>
          </p:cNvPr>
          <p:cNvSpPr/>
          <p:nvPr/>
        </p:nvSpPr>
        <p:spPr>
          <a:xfrm>
            <a:off x="1947158" y="1061918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AD0C8F-F20A-C27D-873A-36B042A360EE}"/>
              </a:ext>
            </a:extLst>
          </p:cNvPr>
          <p:cNvSpPr/>
          <p:nvPr/>
        </p:nvSpPr>
        <p:spPr>
          <a:xfrm>
            <a:off x="3215286" y="1061918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C790A4-D8F6-930B-A358-BE61F58B95D4}"/>
              </a:ext>
            </a:extLst>
          </p:cNvPr>
          <p:cNvSpPr/>
          <p:nvPr/>
        </p:nvSpPr>
        <p:spPr>
          <a:xfrm>
            <a:off x="4483414" y="1061918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EF776B-ECEF-58C8-9EB3-C0CC52593A4E}"/>
              </a:ext>
            </a:extLst>
          </p:cNvPr>
          <p:cNvSpPr/>
          <p:nvPr/>
        </p:nvSpPr>
        <p:spPr>
          <a:xfrm>
            <a:off x="5596552" y="1033342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7FB692-BCD2-5BA3-1579-651A51FA8345}"/>
              </a:ext>
            </a:extLst>
          </p:cNvPr>
          <p:cNvSpPr/>
          <p:nvPr/>
        </p:nvSpPr>
        <p:spPr>
          <a:xfrm>
            <a:off x="6771484" y="1033342"/>
            <a:ext cx="988540" cy="84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21A4EC-AC21-9F4C-83CF-89E5BA142789}"/>
              </a:ext>
            </a:extLst>
          </p:cNvPr>
          <p:cNvSpPr/>
          <p:nvPr/>
        </p:nvSpPr>
        <p:spPr>
          <a:xfrm>
            <a:off x="7883612" y="259492"/>
            <a:ext cx="4170406" cy="63390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400"/>
              <a:t>n = 6</a:t>
            </a:r>
          </a:p>
          <a:p>
            <a:r>
              <a:rPr lang="en-US" sz="3400"/>
              <a:t>i = 4; (i=0, i&lt;n)</a:t>
            </a:r>
          </a:p>
          <a:p>
            <a:r>
              <a:rPr lang="en-US" sz="3400"/>
              <a:t>j = 6; (j = 0,  j&lt;n-i-1)</a:t>
            </a:r>
          </a:p>
          <a:p>
            <a:r>
              <a:rPr lang="en-US" sz="3400"/>
              <a:t>If(A[j] &gt; A[j+1])</a:t>
            </a:r>
            <a:br>
              <a:rPr lang="en-US" sz="3400"/>
            </a:br>
            <a:r>
              <a:rPr lang="en-US" sz="3400"/>
              <a:t>{</a:t>
            </a:r>
          </a:p>
          <a:p>
            <a:r>
              <a:rPr lang="en-US" sz="3400"/>
              <a:t>	tg = A[j];</a:t>
            </a:r>
          </a:p>
          <a:p>
            <a:r>
              <a:rPr lang="en-US" sz="3400"/>
              <a:t>	A[j] = A[j+1];</a:t>
            </a:r>
          </a:p>
          <a:p>
            <a:r>
              <a:rPr lang="en-US" sz="3400"/>
              <a:t>	A[j+1] = tg;</a:t>
            </a:r>
          </a:p>
          <a:p>
            <a:r>
              <a:rPr lang="en-US" sz="3400"/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B6C417-F1BB-BEA4-FE65-79D85E10DA98}"/>
              </a:ext>
            </a:extLst>
          </p:cNvPr>
          <p:cNvSpPr/>
          <p:nvPr/>
        </p:nvSpPr>
        <p:spPr>
          <a:xfrm>
            <a:off x="609601" y="86498"/>
            <a:ext cx="7274010" cy="6796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Sắp xếp nổi bọt tăng dần</a:t>
            </a:r>
          </a:p>
        </p:txBody>
      </p:sp>
    </p:spTree>
    <p:extLst>
      <p:ext uri="{BB962C8B-B14F-4D97-AF65-F5344CB8AC3E}">
        <p14:creationId xmlns:p14="http://schemas.microsoft.com/office/powerpoint/2010/main" val="202337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455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2025-04-29T08:51:39Z</dcterms:created>
  <dcterms:modified xsi:type="dcterms:W3CDTF">2025-04-29T10:18:21Z</dcterms:modified>
</cp:coreProperties>
</file>