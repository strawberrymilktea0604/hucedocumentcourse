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Paytone One" charset="1" panose="00000500000000000000"/>
      <p:regular r:id="rId38"/>
    </p:embeddedFont>
    <p:embeddedFont>
      <p:font typeface="Bungee" charset="1" panose="00000000000000000000"/>
      <p:regular r:id="rId39"/>
    </p:embeddedFont>
    <p:embeddedFont>
      <p:font typeface="DejaVu Serif Bold" charset="1" panose="02060803050605020204"/>
      <p:regular r:id="rId40"/>
    </p:embeddedFont>
    <p:embeddedFont>
      <p:font typeface="DejaVu Serif" charset="1" panose="02060603050605020204"/>
      <p:regular r:id="rId41"/>
    </p:embeddedFont>
    <p:embeddedFont>
      <p:font typeface="Arial MT Pro" charset="1" panose="020B0502020202020204"/>
      <p:regular r:id="rId42"/>
    </p:embeddedFont>
    <p:embeddedFont>
      <p:font typeface="Arial MT Pro Bold" charset="1" panose="020B0802020202020204"/>
      <p:regular r:id="rId43"/>
    </p:embeddedFont>
    <p:embeddedFont>
      <p:font typeface="Noto Serif Display" charset="1" panose="02020502080505020204"/>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gif" Type="http://schemas.openxmlformats.org/officeDocument/2006/relationships/image"/><Relationship Id="rId3" Target="../media/image32.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7498161" y="1119202"/>
            <a:ext cx="10552666" cy="6512502"/>
            <a:chOff x="0" y="0"/>
            <a:chExt cx="14070221" cy="8683336"/>
          </a:xfrm>
        </p:grpSpPr>
        <p:sp>
          <p:nvSpPr>
            <p:cNvPr name="TextBox 3" id="3"/>
            <p:cNvSpPr txBox="true"/>
            <p:nvPr/>
          </p:nvSpPr>
          <p:spPr>
            <a:xfrm rot="0">
              <a:off x="0" y="1402989"/>
              <a:ext cx="14070221" cy="5439870"/>
            </a:xfrm>
            <a:prstGeom prst="rect">
              <a:avLst/>
            </a:prstGeom>
          </p:spPr>
          <p:txBody>
            <a:bodyPr anchor="t" rtlCol="false" tIns="0" lIns="0" bIns="0" rIns="0">
              <a:spAutoFit/>
            </a:bodyPr>
            <a:lstStyle/>
            <a:p>
              <a:pPr algn="ctr">
                <a:lnSpc>
                  <a:spcPts val="16623"/>
                </a:lnSpc>
              </a:pPr>
              <a:r>
                <a:rPr lang="en-US" sz="11873">
                  <a:solidFill>
                    <a:srgbClr val="F7B4A7"/>
                  </a:solidFill>
                  <a:latin typeface="Paytone One"/>
                  <a:ea typeface="Paytone One"/>
                  <a:cs typeface="Paytone One"/>
                  <a:sym typeface="Paytone One"/>
                </a:rPr>
                <a:t>Cây nhị phân tìm kiếm </a:t>
              </a:r>
            </a:p>
          </p:txBody>
        </p:sp>
        <p:sp>
          <p:nvSpPr>
            <p:cNvPr name="TextBox 4" id="4"/>
            <p:cNvSpPr txBox="true"/>
            <p:nvPr/>
          </p:nvSpPr>
          <p:spPr>
            <a:xfrm rot="0">
              <a:off x="0" y="-52705"/>
              <a:ext cx="14070221" cy="525145"/>
            </a:xfrm>
            <a:prstGeom prst="rect">
              <a:avLst/>
            </a:prstGeom>
          </p:spPr>
          <p:txBody>
            <a:bodyPr anchor="t" rtlCol="false" tIns="0" lIns="0" bIns="0" rIns="0">
              <a:spAutoFit/>
            </a:bodyPr>
            <a:lstStyle/>
            <a:p>
              <a:pPr algn="l">
                <a:lnSpc>
                  <a:spcPts val="3359"/>
                </a:lnSpc>
              </a:pPr>
            </a:p>
          </p:txBody>
        </p:sp>
        <p:sp>
          <p:nvSpPr>
            <p:cNvPr name="TextBox 5" id="5"/>
            <p:cNvSpPr txBox="true"/>
            <p:nvPr/>
          </p:nvSpPr>
          <p:spPr>
            <a:xfrm rot="0">
              <a:off x="0" y="7818254"/>
              <a:ext cx="14070221" cy="871009"/>
            </a:xfrm>
            <a:prstGeom prst="rect">
              <a:avLst/>
            </a:prstGeom>
          </p:spPr>
          <p:txBody>
            <a:bodyPr anchor="t" rtlCol="false" tIns="0" lIns="0" bIns="0" rIns="0">
              <a:spAutoFit/>
            </a:bodyPr>
            <a:lstStyle/>
            <a:p>
              <a:pPr algn="ctr">
                <a:lnSpc>
                  <a:spcPts val="5599"/>
                </a:lnSpc>
              </a:pPr>
              <a:r>
                <a:rPr lang="en-US" sz="3999">
                  <a:solidFill>
                    <a:srgbClr val="94DDDE"/>
                  </a:solidFill>
                  <a:latin typeface="Paytone One"/>
                  <a:ea typeface="Paytone One"/>
                  <a:cs typeface="Paytone One"/>
                  <a:sym typeface="Paytone One"/>
                </a:rPr>
                <a:t> - Nhóm 2 -</a:t>
              </a:r>
            </a:p>
          </p:txBody>
        </p:sp>
      </p:grpSp>
      <p:sp>
        <p:nvSpPr>
          <p:cNvPr name="Freeform 6" id="6"/>
          <p:cNvSpPr/>
          <p:nvPr/>
        </p:nvSpPr>
        <p:spPr>
          <a:xfrm flipH="false" flipV="false" rot="0">
            <a:off x="1182834" y="-1921745"/>
            <a:ext cx="6755642" cy="4114800"/>
          </a:xfrm>
          <a:custGeom>
            <a:avLst/>
            <a:gdLst/>
            <a:ahLst/>
            <a:cxnLst/>
            <a:rect r="r" b="b" t="t" l="l"/>
            <a:pathLst>
              <a:path h="4114800" w="6755642">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754982" y="1119202"/>
            <a:ext cx="1194327" cy="2586142"/>
          </a:xfrm>
          <a:custGeom>
            <a:avLst/>
            <a:gdLst/>
            <a:ahLst/>
            <a:cxnLst/>
            <a:rect r="r" b="b" t="t" l="l"/>
            <a:pathLst>
              <a:path h="2586142" w="1194327">
                <a:moveTo>
                  <a:pt x="0" y="0"/>
                </a:moveTo>
                <a:lnTo>
                  <a:pt x="1194328" y="0"/>
                </a:lnTo>
                <a:lnTo>
                  <a:pt x="1194328"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881779" y="2021154"/>
            <a:ext cx="5357753" cy="5591583"/>
          </a:xfrm>
          <a:custGeom>
            <a:avLst/>
            <a:gdLst/>
            <a:ahLst/>
            <a:cxnLst/>
            <a:rect r="r" b="b" t="t" l="l"/>
            <a:pathLst>
              <a:path h="5591583" w="5357753">
                <a:moveTo>
                  <a:pt x="5357752" y="0"/>
                </a:moveTo>
                <a:lnTo>
                  <a:pt x="0" y="0"/>
                </a:lnTo>
                <a:lnTo>
                  <a:pt x="0" y="5591582"/>
                </a:lnTo>
                <a:lnTo>
                  <a:pt x="5357752" y="5591582"/>
                </a:lnTo>
                <a:lnTo>
                  <a:pt x="535775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7148" y="1264426"/>
            <a:ext cx="3144039" cy="2440918"/>
          </a:xfrm>
          <a:custGeom>
            <a:avLst/>
            <a:gdLst/>
            <a:ahLst/>
            <a:cxnLst/>
            <a:rect r="r" b="b" t="t" l="l"/>
            <a:pathLst>
              <a:path h="2440918" w="3144039">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24872" y="5005800"/>
            <a:ext cx="1894295" cy="4252500"/>
          </a:xfrm>
          <a:custGeom>
            <a:avLst/>
            <a:gdLst/>
            <a:ahLst/>
            <a:cxnLst/>
            <a:rect r="r" b="b" t="t" l="l"/>
            <a:pathLst>
              <a:path h="4252500" w="1894295">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011803" y="7612736"/>
            <a:ext cx="3486358" cy="4114800"/>
          </a:xfrm>
          <a:custGeom>
            <a:avLst/>
            <a:gdLst/>
            <a:ahLst/>
            <a:cxnLst/>
            <a:rect r="r" b="b" t="t" l="l"/>
            <a:pathLst>
              <a:path h="4114800" w="3486358">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106192" y="542925"/>
            <a:ext cx="16135350" cy="1552575"/>
          </a:xfrm>
          <a:prstGeom prst="rect">
            <a:avLst/>
          </a:prstGeom>
        </p:spPr>
        <p:txBody>
          <a:bodyPr anchor="t" rtlCol="false" tIns="0" lIns="0" bIns="0" rIns="0">
            <a:spAutoFit/>
          </a:bodyPr>
          <a:lstStyle/>
          <a:p>
            <a:pPr algn="ctr">
              <a:lnSpc>
                <a:spcPts val="12239"/>
              </a:lnSpc>
            </a:pPr>
            <a:r>
              <a:rPr lang="en-US" sz="10199">
                <a:solidFill>
                  <a:srgbClr val="2B4B82"/>
                </a:solidFill>
                <a:latin typeface="Paytone One"/>
                <a:ea typeface="Paytone One"/>
                <a:cs typeface="Paytone One"/>
                <a:sym typeface="Paytone One"/>
              </a:rPr>
              <a:t>Mục lục</a:t>
            </a:r>
          </a:p>
        </p:txBody>
      </p:sp>
      <p:grpSp>
        <p:nvGrpSpPr>
          <p:cNvPr name="Group 3" id="3"/>
          <p:cNvGrpSpPr/>
          <p:nvPr/>
        </p:nvGrpSpPr>
        <p:grpSpPr>
          <a:xfrm rot="0">
            <a:off x="4330045" y="3438008"/>
            <a:ext cx="2092446" cy="6156451"/>
            <a:chOff x="0" y="0"/>
            <a:chExt cx="2789928" cy="8208602"/>
          </a:xfrm>
        </p:grpSpPr>
        <p:sp>
          <p:nvSpPr>
            <p:cNvPr name="TextBox 4" id="4"/>
            <p:cNvSpPr txBox="true"/>
            <p:nvPr/>
          </p:nvSpPr>
          <p:spPr>
            <a:xfrm rot="0">
              <a:off x="0" y="7814733"/>
              <a:ext cx="2789928" cy="393869"/>
            </a:xfrm>
            <a:prstGeom prst="rect">
              <a:avLst/>
            </a:prstGeom>
          </p:spPr>
          <p:txBody>
            <a:bodyPr anchor="t" rtlCol="false" tIns="0" lIns="0" bIns="0" rIns="0">
              <a:spAutoFit/>
            </a:bodyPr>
            <a:lstStyle/>
            <a:p>
              <a:pPr algn="ctr">
                <a:lnSpc>
                  <a:spcPts val="2545"/>
                </a:lnSpc>
              </a:pPr>
            </a:p>
          </p:txBody>
        </p:sp>
        <p:sp>
          <p:nvSpPr>
            <p:cNvPr name="TextBox 5" id="5"/>
            <p:cNvSpPr txBox="true"/>
            <p:nvPr/>
          </p:nvSpPr>
          <p:spPr>
            <a:xfrm rot="0">
              <a:off x="0" y="-66675"/>
              <a:ext cx="2789928" cy="7582777"/>
            </a:xfrm>
            <a:prstGeom prst="rect">
              <a:avLst/>
            </a:prstGeom>
          </p:spPr>
          <p:txBody>
            <a:bodyPr anchor="t" rtlCol="false" tIns="0" lIns="0" bIns="0" rIns="0">
              <a:spAutoFit/>
            </a:bodyPr>
            <a:lstStyle/>
            <a:p>
              <a:pPr algn="ctr">
                <a:lnSpc>
                  <a:spcPts val="5697"/>
                </a:lnSpc>
              </a:pPr>
              <a:r>
                <a:rPr lang="en-US" sz="4069">
                  <a:solidFill>
                    <a:srgbClr val="2B4B82"/>
                  </a:solidFill>
                  <a:latin typeface="Paytone One"/>
                  <a:ea typeface="Paytone One"/>
                  <a:cs typeface="Paytone One"/>
                  <a:sym typeface="Paytone One"/>
                </a:rPr>
                <a:t>Cài đặt cây nhị phân tìm kiếm trong máy tính</a:t>
              </a:r>
            </a:p>
          </p:txBody>
        </p:sp>
      </p:grpSp>
      <p:sp>
        <p:nvSpPr>
          <p:cNvPr name="TextBox 6" id="6"/>
          <p:cNvSpPr txBox="true"/>
          <p:nvPr/>
        </p:nvSpPr>
        <p:spPr>
          <a:xfrm rot="0">
            <a:off x="357208" y="3350875"/>
            <a:ext cx="2126742" cy="4007486"/>
          </a:xfrm>
          <a:prstGeom prst="rect">
            <a:avLst/>
          </a:prstGeom>
        </p:spPr>
        <p:txBody>
          <a:bodyPr anchor="t" rtlCol="false" tIns="0" lIns="0" bIns="0" rIns="0">
            <a:spAutoFit/>
          </a:bodyPr>
          <a:lstStyle/>
          <a:p>
            <a:pPr algn="ctr">
              <a:lnSpc>
                <a:spcPts val="6439"/>
              </a:lnSpc>
            </a:pPr>
            <a:r>
              <a:rPr lang="en-US" sz="4599">
                <a:solidFill>
                  <a:srgbClr val="2B4B82"/>
                </a:solidFill>
                <a:latin typeface="Paytone One"/>
                <a:ea typeface="Paytone One"/>
                <a:cs typeface="Paytone One"/>
                <a:sym typeface="Paytone One"/>
              </a:rPr>
              <a:t>Cây nhị phân tìm kiếm </a:t>
            </a:r>
          </a:p>
        </p:txBody>
      </p:sp>
      <p:sp>
        <p:nvSpPr>
          <p:cNvPr name="TextBox 7" id="7"/>
          <p:cNvSpPr txBox="true"/>
          <p:nvPr/>
        </p:nvSpPr>
        <p:spPr>
          <a:xfrm rot="0">
            <a:off x="7888706" y="2696844"/>
            <a:ext cx="2510588" cy="5626736"/>
          </a:xfrm>
          <a:prstGeom prst="rect">
            <a:avLst/>
          </a:prstGeom>
        </p:spPr>
        <p:txBody>
          <a:bodyPr anchor="t" rtlCol="false" tIns="0" lIns="0" bIns="0" rIns="0">
            <a:spAutoFit/>
          </a:bodyPr>
          <a:lstStyle/>
          <a:p>
            <a:pPr algn="ctr">
              <a:lnSpc>
                <a:spcPts val="6439"/>
              </a:lnSpc>
            </a:pPr>
            <a:r>
              <a:rPr lang="en-US" sz="4599">
                <a:solidFill>
                  <a:srgbClr val="2B4B82"/>
                </a:solidFill>
                <a:latin typeface="Paytone One"/>
                <a:ea typeface="Paytone One"/>
                <a:cs typeface="Paytone One"/>
                <a:sym typeface="Paytone One"/>
              </a:rPr>
              <a:t> </a:t>
            </a:r>
          </a:p>
          <a:p>
            <a:pPr algn="ctr">
              <a:lnSpc>
                <a:spcPts val="6439"/>
              </a:lnSpc>
            </a:pPr>
            <a:r>
              <a:rPr lang="en-US" sz="4599">
                <a:solidFill>
                  <a:srgbClr val="2B4B82"/>
                </a:solidFill>
                <a:latin typeface="Paytone One"/>
                <a:ea typeface="Paytone One"/>
                <a:cs typeface="Paytone One"/>
                <a:sym typeface="Paytone One"/>
              </a:rPr>
              <a:t>Duyệt cây nhị phân tìm kiếm</a:t>
            </a:r>
          </a:p>
          <a:p>
            <a:pPr algn="ctr">
              <a:lnSpc>
                <a:spcPts val="6439"/>
              </a:lnSpc>
            </a:pPr>
          </a:p>
        </p:txBody>
      </p:sp>
      <p:sp>
        <p:nvSpPr>
          <p:cNvPr name="TextBox 8" id="8"/>
          <p:cNvSpPr txBox="true"/>
          <p:nvPr/>
        </p:nvSpPr>
        <p:spPr>
          <a:xfrm rot="0">
            <a:off x="12110643" y="3500735"/>
            <a:ext cx="2557065" cy="6286501"/>
          </a:xfrm>
          <a:prstGeom prst="rect">
            <a:avLst/>
          </a:prstGeom>
        </p:spPr>
        <p:txBody>
          <a:bodyPr anchor="t" rtlCol="false" tIns="0" lIns="0" bIns="0" rIns="0">
            <a:spAutoFit/>
          </a:bodyPr>
          <a:lstStyle/>
          <a:p>
            <a:pPr algn="ctr">
              <a:lnSpc>
                <a:spcPts val="6299"/>
              </a:lnSpc>
            </a:pPr>
            <a:r>
              <a:rPr lang="en-US" sz="4499">
                <a:solidFill>
                  <a:srgbClr val="2B4B82"/>
                </a:solidFill>
                <a:latin typeface="Paytone One"/>
                <a:ea typeface="Paytone One"/>
                <a:cs typeface="Paytone One"/>
                <a:sym typeface="Paytone One"/>
              </a:rPr>
              <a:t>Các phép biến đổi và xử lí cây nhị phân tìm kiếm  </a:t>
            </a:r>
          </a:p>
        </p:txBody>
      </p:sp>
      <p:sp>
        <p:nvSpPr>
          <p:cNvPr name="TextBox 9" id="9"/>
          <p:cNvSpPr txBox="true"/>
          <p:nvPr/>
        </p:nvSpPr>
        <p:spPr>
          <a:xfrm rot="0">
            <a:off x="15490814" y="3350875"/>
            <a:ext cx="2638536" cy="6436361"/>
          </a:xfrm>
          <a:prstGeom prst="rect">
            <a:avLst/>
          </a:prstGeom>
        </p:spPr>
        <p:txBody>
          <a:bodyPr anchor="t" rtlCol="false" tIns="0" lIns="0" bIns="0" rIns="0">
            <a:spAutoFit/>
          </a:bodyPr>
          <a:lstStyle/>
          <a:p>
            <a:pPr algn="ctr">
              <a:lnSpc>
                <a:spcPts val="6439"/>
              </a:lnSpc>
            </a:pPr>
            <a:r>
              <a:rPr lang="en-US" sz="4599">
                <a:solidFill>
                  <a:srgbClr val="2B4B82"/>
                </a:solidFill>
                <a:latin typeface="Paytone One"/>
                <a:ea typeface="Paytone One"/>
                <a:cs typeface="Paytone One"/>
                <a:sym typeface="Paytone One"/>
              </a:rPr>
              <a:t>Thực hiện duyệt và xử lí cây nhị phân bằng code </a:t>
            </a:r>
          </a:p>
        </p:txBody>
      </p:sp>
      <p:grpSp>
        <p:nvGrpSpPr>
          <p:cNvPr name="Group 10" id="10"/>
          <p:cNvGrpSpPr/>
          <p:nvPr/>
        </p:nvGrpSpPr>
        <p:grpSpPr>
          <a:xfrm rot="0">
            <a:off x="1088434" y="2655202"/>
            <a:ext cx="16170866" cy="770408"/>
            <a:chOff x="0" y="0"/>
            <a:chExt cx="21561154" cy="1027211"/>
          </a:xfrm>
        </p:grpSpPr>
        <p:sp>
          <p:nvSpPr>
            <p:cNvPr name="TextBox 11" id="11"/>
            <p:cNvSpPr txBox="true"/>
            <p:nvPr/>
          </p:nvSpPr>
          <p:spPr>
            <a:xfrm rot="0">
              <a:off x="0" y="-95250"/>
              <a:ext cx="927798" cy="1124414"/>
            </a:xfrm>
            <a:prstGeom prst="rect">
              <a:avLst/>
            </a:prstGeom>
          </p:spPr>
          <p:txBody>
            <a:bodyPr anchor="t" rtlCol="false" tIns="0" lIns="0" bIns="0" rIns="0">
              <a:spAutoFit/>
            </a:bodyPr>
            <a:lstStyle/>
            <a:p>
              <a:pPr algn="ctr">
                <a:lnSpc>
                  <a:spcPts val="7104"/>
                </a:lnSpc>
              </a:pPr>
              <a:r>
                <a:rPr lang="en-US" sz="5074" spc="867">
                  <a:solidFill>
                    <a:srgbClr val="2B4B82"/>
                  </a:solidFill>
                  <a:latin typeface="Paytone One"/>
                  <a:ea typeface="Paytone One"/>
                  <a:cs typeface="Paytone One"/>
                  <a:sym typeface="Paytone One"/>
                </a:rPr>
                <a:t>1</a:t>
              </a:r>
            </a:p>
          </p:txBody>
        </p:sp>
        <p:sp>
          <p:nvSpPr>
            <p:cNvPr name="TextBox 12" id="12"/>
            <p:cNvSpPr txBox="true"/>
            <p:nvPr/>
          </p:nvSpPr>
          <p:spPr>
            <a:xfrm rot="0">
              <a:off x="5276774" y="-95250"/>
              <a:ext cx="927798" cy="1124414"/>
            </a:xfrm>
            <a:prstGeom prst="rect">
              <a:avLst/>
            </a:prstGeom>
          </p:spPr>
          <p:txBody>
            <a:bodyPr anchor="t" rtlCol="false" tIns="0" lIns="0" bIns="0" rIns="0">
              <a:spAutoFit/>
            </a:bodyPr>
            <a:lstStyle/>
            <a:p>
              <a:pPr algn="ctr">
                <a:lnSpc>
                  <a:spcPts val="7104"/>
                </a:lnSpc>
              </a:pPr>
              <a:r>
                <a:rPr lang="en-US" sz="5074" spc="867">
                  <a:solidFill>
                    <a:srgbClr val="2B4B82"/>
                  </a:solidFill>
                  <a:latin typeface="Paytone One"/>
                  <a:ea typeface="Paytone One"/>
                  <a:cs typeface="Paytone One"/>
                  <a:sym typeface="Paytone One"/>
                </a:rPr>
                <a:t>2</a:t>
              </a:r>
            </a:p>
          </p:txBody>
        </p:sp>
        <p:sp>
          <p:nvSpPr>
            <p:cNvPr name="TextBox 13" id="13"/>
            <p:cNvSpPr txBox="true"/>
            <p:nvPr/>
          </p:nvSpPr>
          <p:spPr>
            <a:xfrm rot="0">
              <a:off x="10295016" y="-95250"/>
              <a:ext cx="927798" cy="1124414"/>
            </a:xfrm>
            <a:prstGeom prst="rect">
              <a:avLst/>
            </a:prstGeom>
          </p:spPr>
          <p:txBody>
            <a:bodyPr anchor="t" rtlCol="false" tIns="0" lIns="0" bIns="0" rIns="0">
              <a:spAutoFit/>
            </a:bodyPr>
            <a:lstStyle/>
            <a:p>
              <a:pPr algn="ctr">
                <a:lnSpc>
                  <a:spcPts val="7104"/>
                </a:lnSpc>
              </a:pPr>
              <a:r>
                <a:rPr lang="en-US" sz="5074" spc="867">
                  <a:solidFill>
                    <a:srgbClr val="2B4B82"/>
                  </a:solidFill>
                  <a:latin typeface="Paytone One"/>
                  <a:ea typeface="Paytone One"/>
                  <a:cs typeface="Paytone One"/>
                  <a:sym typeface="Paytone One"/>
                </a:rPr>
                <a:t>3</a:t>
              </a:r>
            </a:p>
          </p:txBody>
        </p:sp>
        <p:sp>
          <p:nvSpPr>
            <p:cNvPr name="TextBox 14" id="14"/>
            <p:cNvSpPr txBox="true"/>
            <p:nvPr/>
          </p:nvSpPr>
          <p:spPr>
            <a:xfrm rot="0">
              <a:off x="15766113" y="-95250"/>
              <a:ext cx="927798" cy="1124414"/>
            </a:xfrm>
            <a:prstGeom prst="rect">
              <a:avLst/>
            </a:prstGeom>
          </p:spPr>
          <p:txBody>
            <a:bodyPr anchor="t" rtlCol="false" tIns="0" lIns="0" bIns="0" rIns="0">
              <a:spAutoFit/>
            </a:bodyPr>
            <a:lstStyle/>
            <a:p>
              <a:pPr algn="ctr">
                <a:lnSpc>
                  <a:spcPts val="7104"/>
                </a:lnSpc>
              </a:pPr>
              <a:r>
                <a:rPr lang="en-US" sz="5074" spc="867">
                  <a:solidFill>
                    <a:srgbClr val="2B4B82"/>
                  </a:solidFill>
                  <a:latin typeface="Paytone One"/>
                  <a:ea typeface="Paytone One"/>
                  <a:cs typeface="Paytone One"/>
                  <a:sym typeface="Paytone One"/>
                </a:rPr>
                <a:t>4</a:t>
              </a:r>
            </a:p>
          </p:txBody>
        </p:sp>
        <p:sp>
          <p:nvSpPr>
            <p:cNvPr name="TextBox 15" id="15"/>
            <p:cNvSpPr txBox="true"/>
            <p:nvPr/>
          </p:nvSpPr>
          <p:spPr>
            <a:xfrm rot="0">
              <a:off x="20633356" y="-95250"/>
              <a:ext cx="927798" cy="1124414"/>
            </a:xfrm>
            <a:prstGeom prst="rect">
              <a:avLst/>
            </a:prstGeom>
          </p:spPr>
          <p:txBody>
            <a:bodyPr anchor="t" rtlCol="false" tIns="0" lIns="0" bIns="0" rIns="0">
              <a:spAutoFit/>
            </a:bodyPr>
            <a:lstStyle/>
            <a:p>
              <a:pPr algn="ctr">
                <a:lnSpc>
                  <a:spcPts val="7104"/>
                </a:lnSpc>
              </a:pPr>
              <a:r>
                <a:rPr lang="en-US" sz="5074" spc="867">
                  <a:solidFill>
                    <a:srgbClr val="2B4B82"/>
                  </a:solidFill>
                  <a:latin typeface="Paytone One"/>
                  <a:ea typeface="Paytone One"/>
                  <a:cs typeface="Paytone One"/>
                  <a:sym typeface="Paytone One"/>
                </a:rPr>
                <a:t>5</a:t>
              </a:r>
            </a:p>
          </p:txBody>
        </p:sp>
        <p:sp>
          <p:nvSpPr>
            <p:cNvPr name="AutoShape 16" id="16"/>
            <p:cNvSpPr/>
            <p:nvPr/>
          </p:nvSpPr>
          <p:spPr>
            <a:xfrm>
              <a:off x="927798" y="477966"/>
              <a:ext cx="4070426" cy="0"/>
            </a:xfrm>
            <a:prstGeom prst="line">
              <a:avLst/>
            </a:prstGeom>
            <a:ln cap="flat" w="43940">
              <a:solidFill>
                <a:srgbClr val="2B4B82"/>
              </a:solidFill>
              <a:prstDash val="solid"/>
              <a:headEnd type="none" len="sm" w="sm"/>
              <a:tailEnd type="none" len="sm" w="sm"/>
            </a:ln>
          </p:spPr>
        </p:sp>
        <p:sp>
          <p:nvSpPr>
            <p:cNvPr name="AutoShape 17" id="17"/>
            <p:cNvSpPr/>
            <p:nvPr/>
          </p:nvSpPr>
          <p:spPr>
            <a:xfrm>
              <a:off x="6224590" y="477966"/>
              <a:ext cx="4070426" cy="0"/>
            </a:xfrm>
            <a:prstGeom prst="line">
              <a:avLst/>
            </a:prstGeom>
            <a:ln cap="flat" w="43940">
              <a:solidFill>
                <a:srgbClr val="2B4B82"/>
              </a:solidFill>
              <a:prstDash val="solid"/>
              <a:headEnd type="none" len="sm" w="sm"/>
              <a:tailEnd type="none" len="sm" w="sm"/>
            </a:ln>
          </p:spPr>
        </p:sp>
        <p:sp>
          <p:nvSpPr>
            <p:cNvPr name="AutoShape 18" id="18"/>
            <p:cNvSpPr/>
            <p:nvPr/>
          </p:nvSpPr>
          <p:spPr>
            <a:xfrm>
              <a:off x="11510085" y="477966"/>
              <a:ext cx="4070426" cy="0"/>
            </a:xfrm>
            <a:prstGeom prst="line">
              <a:avLst/>
            </a:prstGeom>
            <a:ln cap="flat" w="43940">
              <a:solidFill>
                <a:srgbClr val="2B4B82"/>
              </a:solidFill>
              <a:prstDash val="solid"/>
              <a:headEnd type="none" len="sm" w="sm"/>
              <a:tailEnd type="none" len="sm" w="sm"/>
            </a:ln>
          </p:spPr>
        </p:sp>
        <p:sp>
          <p:nvSpPr>
            <p:cNvPr name="AutoShape 19" id="19"/>
            <p:cNvSpPr/>
            <p:nvPr/>
          </p:nvSpPr>
          <p:spPr>
            <a:xfrm>
              <a:off x="16562930" y="477966"/>
              <a:ext cx="4070426" cy="0"/>
            </a:xfrm>
            <a:prstGeom prst="line">
              <a:avLst/>
            </a:prstGeom>
            <a:ln cap="flat" w="43940">
              <a:solidFill>
                <a:srgbClr val="2B4B82"/>
              </a:solidFill>
              <a:prstDash val="solid"/>
              <a:headEnd type="none" len="sm" w="sm"/>
              <a:tailEnd type="none" len="sm" w="sm"/>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5377350" y="395287"/>
            <a:ext cx="13569808" cy="1072134"/>
          </a:xfrm>
          <a:prstGeom prst="rect">
            <a:avLst/>
          </a:prstGeom>
        </p:spPr>
        <p:txBody>
          <a:bodyPr anchor="t" rtlCol="false" tIns="0" lIns="0" bIns="0" rIns="0">
            <a:spAutoFit/>
          </a:bodyPr>
          <a:lstStyle/>
          <a:p>
            <a:pPr algn="l" marL="1381759" indent="-690880" lvl="1">
              <a:lnSpc>
                <a:spcPts val="7487"/>
              </a:lnSpc>
              <a:buAutoNum type="arabicPeriod" startAt="1"/>
            </a:pPr>
            <a:r>
              <a:rPr lang="en-US" sz="6399" spc="31">
                <a:solidFill>
                  <a:srgbClr val="F7B4A7"/>
                </a:solidFill>
                <a:latin typeface="Bungee"/>
                <a:ea typeface="Bungee"/>
                <a:cs typeface="Bungee"/>
                <a:sym typeface="Bungee"/>
              </a:rPr>
              <a:t> Cây nhị phân tìm kiếm</a:t>
            </a:r>
          </a:p>
        </p:txBody>
      </p:sp>
      <p:sp>
        <p:nvSpPr>
          <p:cNvPr name="TextBox 3" id="3"/>
          <p:cNvSpPr txBox="true"/>
          <p:nvPr/>
        </p:nvSpPr>
        <p:spPr>
          <a:xfrm rot="0">
            <a:off x="4493382" y="1994688"/>
            <a:ext cx="13346795" cy="6995160"/>
          </a:xfrm>
          <a:prstGeom prst="rect">
            <a:avLst/>
          </a:prstGeom>
        </p:spPr>
        <p:txBody>
          <a:bodyPr anchor="t" rtlCol="false" tIns="0" lIns="0" bIns="0" rIns="0">
            <a:spAutoFit/>
          </a:bodyPr>
          <a:lstStyle/>
          <a:p>
            <a:pPr algn="just" marL="777240" indent="-388620" lvl="1">
              <a:lnSpc>
                <a:spcPts val="5040"/>
              </a:lnSpc>
              <a:buFont typeface="Arial"/>
              <a:buChar char="•"/>
            </a:pPr>
            <a:r>
              <a:rPr lang="en-US" sz="3600">
                <a:solidFill>
                  <a:srgbClr val="94DDDE"/>
                </a:solidFill>
                <a:latin typeface="Paytone One"/>
                <a:ea typeface="Paytone One"/>
                <a:cs typeface="Paytone One"/>
                <a:sym typeface="Paytone One"/>
              </a:rPr>
              <a:t>Cây nhị phân tìm kiếm (BST) là một cấu trúc dữ liệu cây nhị phân, dùng để lưu trữ và tìm kiếm dữ liệu hiệu quả.</a:t>
            </a:r>
          </a:p>
          <a:p>
            <a:pPr algn="just">
              <a:lnSpc>
                <a:spcPts val="5040"/>
              </a:lnSpc>
            </a:pPr>
          </a:p>
          <a:p>
            <a:pPr algn="just" marL="777240" indent="-388620" lvl="1">
              <a:lnSpc>
                <a:spcPts val="5040"/>
              </a:lnSpc>
              <a:buFont typeface="Arial"/>
              <a:buChar char="•"/>
            </a:pPr>
            <a:r>
              <a:rPr lang="en-US" sz="3600">
                <a:solidFill>
                  <a:srgbClr val="94DDDE"/>
                </a:solidFill>
                <a:latin typeface="Paytone One"/>
                <a:ea typeface="Paytone One"/>
                <a:cs typeface="Paytone One"/>
                <a:sym typeface="Paytone One"/>
              </a:rPr>
              <a:t>Tính chất của BST:</a:t>
            </a:r>
          </a:p>
          <a:p>
            <a:pPr algn="just">
              <a:lnSpc>
                <a:spcPts val="5040"/>
              </a:lnSpc>
            </a:pPr>
            <a:r>
              <a:rPr lang="en-US" sz="3600">
                <a:solidFill>
                  <a:srgbClr val="94DDDE"/>
                </a:solidFill>
                <a:latin typeface="Paytone One"/>
                <a:ea typeface="Paytone One"/>
                <a:cs typeface="Paytone One"/>
                <a:sym typeface="Paytone One"/>
              </a:rPr>
              <a:t>      1. Mỗi nút chứa một khóa (key) có thể so sánh được.</a:t>
            </a:r>
          </a:p>
          <a:p>
            <a:pPr algn="just">
              <a:lnSpc>
                <a:spcPts val="5040"/>
              </a:lnSpc>
            </a:pPr>
            <a:r>
              <a:rPr lang="en-US" sz="3600">
                <a:solidFill>
                  <a:srgbClr val="94DDDE"/>
                </a:solidFill>
                <a:latin typeface="Paytone One"/>
                <a:ea typeface="Paytone One"/>
                <a:cs typeface="Paytone One"/>
                <a:sym typeface="Paytone One"/>
              </a:rPr>
              <a:t>      2. </a:t>
            </a:r>
            <a:r>
              <a:rPr lang="en-US" sz="3600">
                <a:solidFill>
                  <a:srgbClr val="94DDDE"/>
                </a:solidFill>
                <a:latin typeface="Paytone One"/>
                <a:ea typeface="Paytone One"/>
                <a:cs typeface="Paytone One"/>
                <a:sym typeface="Paytone One"/>
              </a:rPr>
              <a:t>Không có hai nút nào có cùng khóa.</a:t>
            </a:r>
          </a:p>
          <a:p>
            <a:pPr algn="just">
              <a:lnSpc>
                <a:spcPts val="5040"/>
              </a:lnSpc>
            </a:pPr>
            <a:r>
              <a:rPr lang="en-US" sz="3600">
                <a:solidFill>
                  <a:srgbClr val="94DDDE"/>
                </a:solidFill>
                <a:latin typeface="Paytone One"/>
                <a:ea typeface="Paytone One"/>
                <a:cs typeface="Paytone One"/>
                <a:sym typeface="Paytone One"/>
              </a:rPr>
              <a:t>      3. </a:t>
            </a:r>
            <a:r>
              <a:rPr lang="en-US" sz="3600">
                <a:solidFill>
                  <a:srgbClr val="94DDDE"/>
                </a:solidFill>
                <a:latin typeface="Paytone One"/>
                <a:ea typeface="Paytone One"/>
                <a:cs typeface="Paytone One"/>
                <a:sym typeface="Paytone One"/>
              </a:rPr>
              <a:t>Với mỗi nút:</a:t>
            </a:r>
          </a:p>
          <a:p>
            <a:pPr algn="just">
              <a:lnSpc>
                <a:spcPts val="5040"/>
              </a:lnSpc>
            </a:pPr>
            <a:r>
              <a:rPr lang="en-US" sz="3600">
                <a:solidFill>
                  <a:srgbClr val="94DDDE"/>
                </a:solidFill>
                <a:latin typeface="Paytone One"/>
                <a:ea typeface="Paytone One"/>
                <a:cs typeface="Paytone One"/>
                <a:sym typeface="Paytone One"/>
              </a:rPr>
              <a:t>      -</a:t>
            </a:r>
            <a:r>
              <a:rPr lang="en-US" sz="3600">
                <a:solidFill>
                  <a:srgbClr val="94DDDE"/>
                </a:solidFill>
                <a:latin typeface="Paytone One"/>
                <a:ea typeface="Paytone One"/>
                <a:cs typeface="Paytone One"/>
                <a:sym typeface="Paytone One"/>
              </a:rPr>
              <a:t>Dữ liệu nút con bên trái nhỏ hơn dữ liệu nút cha.</a:t>
            </a:r>
          </a:p>
          <a:p>
            <a:pPr algn="just">
              <a:lnSpc>
                <a:spcPts val="5040"/>
              </a:lnSpc>
            </a:pPr>
            <a:r>
              <a:rPr lang="en-US" sz="3600">
                <a:solidFill>
                  <a:srgbClr val="94DDDE"/>
                </a:solidFill>
                <a:latin typeface="Paytone One"/>
                <a:ea typeface="Paytone One"/>
                <a:cs typeface="Paytone One"/>
                <a:sym typeface="Paytone One"/>
              </a:rPr>
              <a:t>      -</a:t>
            </a:r>
            <a:r>
              <a:rPr lang="en-US" sz="3600">
                <a:solidFill>
                  <a:srgbClr val="94DDDE"/>
                </a:solidFill>
                <a:latin typeface="Paytone One"/>
                <a:ea typeface="Paytone One"/>
                <a:cs typeface="Paytone One"/>
                <a:sym typeface="Paytone One"/>
              </a:rPr>
              <a:t>Dữ liệu nút con bên phải lớn hơn dữ liệu nút cha.</a:t>
            </a:r>
          </a:p>
          <a:p>
            <a:pPr algn="just">
              <a:lnSpc>
                <a:spcPts val="5040"/>
              </a:lnSpc>
            </a:pPr>
          </a:p>
        </p:txBody>
      </p:sp>
      <p:sp>
        <p:nvSpPr>
          <p:cNvPr name="Freeform 4" id="4"/>
          <p:cNvSpPr/>
          <p:nvPr/>
        </p:nvSpPr>
        <p:spPr>
          <a:xfrm flipH="false" flipV="false" rot="0">
            <a:off x="189880" y="731866"/>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65298" y="2331554"/>
            <a:ext cx="3874545" cy="5122596"/>
          </a:xfrm>
          <a:custGeom>
            <a:avLst/>
            <a:gdLst/>
            <a:ahLst/>
            <a:cxnLst/>
            <a:rect r="r" b="b" t="t" l="l"/>
            <a:pathLst>
              <a:path h="5122596" w="3874545">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65298" y="4135704"/>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1576699" y="1797689"/>
            <a:ext cx="6338112" cy="6384545"/>
          </a:xfrm>
          <a:custGeom>
            <a:avLst/>
            <a:gdLst/>
            <a:ahLst/>
            <a:cxnLst/>
            <a:rect r="r" b="b" t="t" l="l"/>
            <a:pathLst>
              <a:path h="6384545" w="6338112">
                <a:moveTo>
                  <a:pt x="0" y="0"/>
                </a:moveTo>
                <a:lnTo>
                  <a:pt x="6338112" y="0"/>
                </a:lnTo>
                <a:lnTo>
                  <a:pt x="6338112" y="6384545"/>
                </a:lnTo>
                <a:lnTo>
                  <a:pt x="0" y="6384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7434" y="534253"/>
            <a:ext cx="10030162" cy="9003666"/>
          </a:xfrm>
          <a:prstGeom prst="rect">
            <a:avLst/>
          </a:prstGeom>
        </p:spPr>
        <p:txBody>
          <a:bodyPr anchor="t" rtlCol="false" tIns="0" lIns="0" bIns="0" rIns="0">
            <a:spAutoFit/>
          </a:bodyPr>
          <a:lstStyle/>
          <a:p>
            <a:pPr algn="l">
              <a:lnSpc>
                <a:spcPts val="8819"/>
              </a:lnSpc>
            </a:pPr>
            <a:r>
              <a:rPr lang="en-US" sz="6299">
                <a:solidFill>
                  <a:srgbClr val="FFFFFF"/>
                </a:solidFill>
                <a:latin typeface="Paytone One"/>
                <a:ea typeface="Paytone One"/>
                <a:cs typeface="Paytone One"/>
                <a:sym typeface="Paytone One"/>
              </a:rPr>
              <a:t>1.1. Đặc điểm của cây nhị phân tìm kiếm : </a:t>
            </a:r>
          </a:p>
          <a:p>
            <a:pPr algn="l">
              <a:lnSpc>
                <a:spcPts val="7699"/>
              </a:lnSpc>
            </a:pPr>
            <a:r>
              <a:rPr lang="en-US" sz="5499">
                <a:solidFill>
                  <a:srgbClr val="FFFFFF"/>
                </a:solidFill>
                <a:latin typeface="Paytone One"/>
                <a:ea typeface="Paytone One"/>
                <a:cs typeface="Paytone One"/>
                <a:sym typeface="Paytone One"/>
              </a:rPr>
              <a:t>Một phần tử trong cây BST thường là duy nhất ( không trùng lặp ) .</a:t>
            </a:r>
          </a:p>
          <a:p>
            <a:pPr algn="l">
              <a:lnSpc>
                <a:spcPts val="7699"/>
              </a:lnSpc>
            </a:pPr>
            <a:r>
              <a:rPr lang="en-US" sz="5499">
                <a:solidFill>
                  <a:srgbClr val="FFFFFF"/>
                </a:solidFill>
                <a:latin typeface="Paytone One"/>
                <a:ea typeface="Paytone One"/>
                <a:cs typeface="Paytone One"/>
                <a:sym typeface="Paytone One"/>
              </a:rPr>
              <a:t>Duyệt cây theo thứ tự trung vị ( trái-node-phải ) sẽ cho ra một dãy số tăng dần</a:t>
            </a:r>
          </a:p>
          <a:p>
            <a:pPr algn="l">
              <a:lnSpc>
                <a:spcPts val="76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302865" y="2238794"/>
            <a:ext cx="8554772" cy="6202209"/>
          </a:xfrm>
          <a:custGeom>
            <a:avLst/>
            <a:gdLst/>
            <a:ahLst/>
            <a:cxnLst/>
            <a:rect r="r" b="b" t="t" l="l"/>
            <a:pathLst>
              <a:path h="6202209" w="8554772">
                <a:moveTo>
                  <a:pt x="0" y="0"/>
                </a:moveTo>
                <a:lnTo>
                  <a:pt x="8554772" y="0"/>
                </a:lnTo>
                <a:lnTo>
                  <a:pt x="8554772" y="6202209"/>
                </a:lnTo>
                <a:lnTo>
                  <a:pt x="0" y="6202209"/>
                </a:lnTo>
                <a:lnTo>
                  <a:pt x="0" y="0"/>
                </a:lnTo>
                <a:close/>
              </a:path>
            </a:pathLst>
          </a:custGeom>
          <a:blipFill>
            <a:blip r:embed="rId2"/>
            <a:stretch>
              <a:fillRect l="0" t="0" r="0" b="0"/>
            </a:stretch>
          </a:blipFill>
        </p:spPr>
      </p:sp>
      <p:sp>
        <p:nvSpPr>
          <p:cNvPr name="TextBox 3" id="3"/>
          <p:cNvSpPr txBox="true"/>
          <p:nvPr/>
        </p:nvSpPr>
        <p:spPr>
          <a:xfrm rot="0">
            <a:off x="1028700" y="3406094"/>
            <a:ext cx="9768230" cy="962025"/>
          </a:xfrm>
          <a:prstGeom prst="rect">
            <a:avLst/>
          </a:prstGeom>
        </p:spPr>
        <p:txBody>
          <a:bodyPr anchor="t" rtlCol="false" tIns="0" lIns="0" bIns="0" rIns="0">
            <a:spAutoFit/>
          </a:bodyPr>
          <a:lstStyle/>
          <a:p>
            <a:pPr algn="l">
              <a:lnSpc>
                <a:spcPts val="7680"/>
              </a:lnSpc>
            </a:pPr>
          </a:p>
        </p:txBody>
      </p:sp>
      <p:sp>
        <p:nvSpPr>
          <p:cNvPr name="TextBox 4" id="4"/>
          <p:cNvSpPr txBox="true"/>
          <p:nvPr/>
        </p:nvSpPr>
        <p:spPr>
          <a:xfrm rot="0">
            <a:off x="-289035" y="469899"/>
            <a:ext cx="12403700" cy="261620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Paytone One"/>
                <a:ea typeface="Paytone One"/>
                <a:cs typeface="Paytone One"/>
                <a:sym typeface="Paytone One"/>
              </a:rPr>
              <a:t>1.2. Cấu trúc khai báo trong C++: </a:t>
            </a:r>
          </a:p>
          <a:p>
            <a:pPr algn="ctr">
              <a:lnSpc>
                <a:spcPts val="6999"/>
              </a:lnSpc>
              <a:spcBef>
                <a:spcPct val="0"/>
              </a:spcBef>
            </a:pPr>
          </a:p>
          <a:p>
            <a:pPr algn="ctr">
              <a:lnSpc>
                <a:spcPts val="6999"/>
              </a:lnSpc>
              <a:spcBef>
                <a:spcPct val="0"/>
              </a:spcBef>
            </a:pPr>
          </a:p>
        </p:txBody>
      </p:sp>
      <p:sp>
        <p:nvSpPr>
          <p:cNvPr name="TextBox 5" id="5"/>
          <p:cNvSpPr txBox="true"/>
          <p:nvPr/>
        </p:nvSpPr>
        <p:spPr>
          <a:xfrm rot="0">
            <a:off x="710291" y="1744662"/>
            <a:ext cx="8592574" cy="7774506"/>
          </a:xfrm>
          <a:prstGeom prst="rect">
            <a:avLst/>
          </a:prstGeom>
        </p:spPr>
        <p:txBody>
          <a:bodyPr anchor="t" rtlCol="false" tIns="0" lIns="0" bIns="0" rIns="0">
            <a:spAutoFit/>
          </a:bodyPr>
          <a:lstStyle/>
          <a:p>
            <a:pPr algn="l">
              <a:lnSpc>
                <a:spcPts val="6183"/>
              </a:lnSpc>
            </a:pPr>
            <a:r>
              <a:rPr lang="en-US" sz="4417">
                <a:solidFill>
                  <a:srgbClr val="000000"/>
                </a:solidFill>
                <a:latin typeface="Paytone One"/>
                <a:ea typeface="Paytone One"/>
                <a:cs typeface="Paytone One"/>
                <a:sym typeface="Paytone One"/>
              </a:rPr>
              <a:t>1.2.1, Khai báo node: </a:t>
            </a:r>
          </a:p>
          <a:p>
            <a:pPr algn="l">
              <a:lnSpc>
                <a:spcPts val="6183"/>
              </a:lnSpc>
            </a:pPr>
            <a:r>
              <a:rPr lang="en-US" sz="4417">
                <a:solidFill>
                  <a:srgbClr val="000000"/>
                </a:solidFill>
                <a:latin typeface="Paytone One"/>
                <a:ea typeface="Paytone One"/>
                <a:cs typeface="Paytone One"/>
                <a:sym typeface="Paytone One"/>
              </a:rPr>
              <a:t> struct Node {</a:t>
            </a:r>
          </a:p>
          <a:p>
            <a:pPr algn="l">
              <a:lnSpc>
                <a:spcPts val="6183"/>
              </a:lnSpc>
            </a:pPr>
            <a:r>
              <a:rPr lang="en-US" sz="4417">
                <a:solidFill>
                  <a:srgbClr val="000000"/>
                </a:solidFill>
                <a:latin typeface="Paytone One"/>
                <a:ea typeface="Paytone One"/>
                <a:cs typeface="Paytone One"/>
                <a:sym typeface="Paytone One"/>
              </a:rPr>
              <a:t> int data; </a:t>
            </a:r>
            <a:r>
              <a:rPr lang="en-US" sz="4417">
                <a:solidFill>
                  <a:srgbClr val="2B4B82"/>
                </a:solidFill>
                <a:latin typeface="Paytone One"/>
                <a:ea typeface="Paytone One"/>
                <a:cs typeface="Paytone One"/>
                <a:sym typeface="Paytone One"/>
              </a:rPr>
              <a:t>// dữ liệu của node</a:t>
            </a:r>
          </a:p>
          <a:p>
            <a:pPr algn="l">
              <a:lnSpc>
                <a:spcPts val="6183"/>
              </a:lnSpc>
            </a:pPr>
            <a:r>
              <a:rPr lang="en-US" sz="4417">
                <a:solidFill>
                  <a:srgbClr val="000000"/>
                </a:solidFill>
                <a:latin typeface="Paytone One"/>
                <a:ea typeface="Paytone One"/>
                <a:cs typeface="Paytone One"/>
                <a:sym typeface="Paytone One"/>
              </a:rPr>
              <a:t> Node* left; </a:t>
            </a:r>
            <a:r>
              <a:rPr lang="en-US" sz="4417">
                <a:solidFill>
                  <a:srgbClr val="2B4B82"/>
                </a:solidFill>
                <a:latin typeface="Paytone One"/>
                <a:ea typeface="Paytone One"/>
                <a:cs typeface="Paytone One"/>
                <a:sym typeface="Paytone One"/>
              </a:rPr>
              <a:t>// con trỏ trái</a:t>
            </a:r>
          </a:p>
          <a:p>
            <a:pPr algn="l">
              <a:lnSpc>
                <a:spcPts val="6183"/>
              </a:lnSpc>
            </a:pPr>
            <a:r>
              <a:rPr lang="en-US" sz="4417">
                <a:solidFill>
                  <a:srgbClr val="000000"/>
                </a:solidFill>
                <a:latin typeface="Paytone One"/>
                <a:ea typeface="Paytone One"/>
                <a:cs typeface="Paytone One"/>
                <a:sym typeface="Paytone One"/>
              </a:rPr>
              <a:t> Node* right; </a:t>
            </a:r>
            <a:r>
              <a:rPr lang="en-US" sz="4417">
                <a:solidFill>
                  <a:srgbClr val="2B4B82"/>
                </a:solidFill>
                <a:latin typeface="Paytone One"/>
                <a:ea typeface="Paytone One"/>
                <a:cs typeface="Paytone One"/>
                <a:sym typeface="Paytone One"/>
              </a:rPr>
              <a:t>// con trỏ phải</a:t>
            </a:r>
          </a:p>
          <a:p>
            <a:pPr algn="l">
              <a:lnSpc>
                <a:spcPts val="6183"/>
              </a:lnSpc>
            </a:pPr>
            <a:r>
              <a:rPr lang="en-US" sz="4417">
                <a:solidFill>
                  <a:srgbClr val="000000"/>
                </a:solidFill>
                <a:latin typeface="Paytone One"/>
                <a:ea typeface="Paytone One"/>
                <a:cs typeface="Paytone One"/>
                <a:sym typeface="Paytone One"/>
              </a:rPr>
              <a:t> Node(int value) {</a:t>
            </a:r>
          </a:p>
          <a:p>
            <a:pPr algn="l">
              <a:lnSpc>
                <a:spcPts val="6183"/>
              </a:lnSpc>
            </a:pPr>
            <a:r>
              <a:rPr lang="en-US" sz="4417">
                <a:solidFill>
                  <a:srgbClr val="000000"/>
                </a:solidFill>
                <a:latin typeface="Paytone One"/>
                <a:ea typeface="Paytone One"/>
                <a:cs typeface="Paytone One"/>
                <a:sym typeface="Paytone One"/>
              </a:rPr>
              <a:t> data = value;</a:t>
            </a:r>
          </a:p>
          <a:p>
            <a:pPr algn="l">
              <a:lnSpc>
                <a:spcPts val="6183"/>
              </a:lnSpc>
            </a:pPr>
            <a:r>
              <a:rPr lang="en-US" sz="4417">
                <a:solidFill>
                  <a:srgbClr val="000000"/>
                </a:solidFill>
                <a:latin typeface="Paytone One"/>
                <a:ea typeface="Paytone One"/>
                <a:cs typeface="Paytone One"/>
                <a:sym typeface="Paytone One"/>
              </a:rPr>
              <a:t> left = right = nullptr;</a:t>
            </a:r>
          </a:p>
          <a:p>
            <a:pPr algn="l">
              <a:lnSpc>
                <a:spcPts val="6183"/>
              </a:lnSpc>
            </a:pPr>
            <a:r>
              <a:rPr lang="en-US" sz="4417">
                <a:solidFill>
                  <a:srgbClr val="000000"/>
                </a:solidFill>
                <a:latin typeface="Paytone One"/>
                <a:ea typeface="Paytone One"/>
                <a:cs typeface="Paytone One"/>
                <a:sym typeface="Paytone One"/>
              </a:rPr>
              <a:t> }</a:t>
            </a:r>
          </a:p>
          <a:p>
            <a:pPr algn="l">
              <a:lnSpc>
                <a:spcPts val="6183"/>
              </a:lnSpc>
            </a:pPr>
            <a:r>
              <a:rPr lang="en-US" sz="4417">
                <a:solidFill>
                  <a:srgbClr val="000000"/>
                </a:solidFill>
                <a:latin typeface="Paytone One"/>
                <a:ea typeface="Paytone One"/>
                <a:cs typeface="Paytone One"/>
                <a:sym typeface="Paytone One"/>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9302865" y="2238794"/>
            <a:ext cx="8554772" cy="6202209"/>
          </a:xfrm>
          <a:custGeom>
            <a:avLst/>
            <a:gdLst/>
            <a:ahLst/>
            <a:cxnLst/>
            <a:rect r="r" b="b" t="t" l="l"/>
            <a:pathLst>
              <a:path h="6202209" w="8554772">
                <a:moveTo>
                  <a:pt x="0" y="0"/>
                </a:moveTo>
                <a:lnTo>
                  <a:pt x="8554772" y="0"/>
                </a:lnTo>
                <a:lnTo>
                  <a:pt x="8554772" y="6202209"/>
                </a:lnTo>
                <a:lnTo>
                  <a:pt x="0" y="6202209"/>
                </a:lnTo>
                <a:lnTo>
                  <a:pt x="0" y="0"/>
                </a:lnTo>
                <a:close/>
              </a:path>
            </a:pathLst>
          </a:custGeom>
          <a:blipFill>
            <a:blip r:embed="rId2"/>
            <a:stretch>
              <a:fillRect l="0" t="0" r="0" b="0"/>
            </a:stretch>
          </a:blipFill>
        </p:spPr>
      </p:sp>
      <p:sp>
        <p:nvSpPr>
          <p:cNvPr name="TextBox 3" id="3"/>
          <p:cNvSpPr txBox="true"/>
          <p:nvPr/>
        </p:nvSpPr>
        <p:spPr>
          <a:xfrm rot="0">
            <a:off x="1028700" y="3406094"/>
            <a:ext cx="9768230" cy="962025"/>
          </a:xfrm>
          <a:prstGeom prst="rect">
            <a:avLst/>
          </a:prstGeom>
        </p:spPr>
        <p:txBody>
          <a:bodyPr anchor="t" rtlCol="false" tIns="0" lIns="0" bIns="0" rIns="0">
            <a:spAutoFit/>
          </a:bodyPr>
          <a:lstStyle/>
          <a:p>
            <a:pPr algn="l">
              <a:lnSpc>
                <a:spcPts val="7680"/>
              </a:lnSpc>
            </a:pPr>
          </a:p>
        </p:txBody>
      </p:sp>
      <p:sp>
        <p:nvSpPr>
          <p:cNvPr name="TextBox 4" id="4"/>
          <p:cNvSpPr txBox="true"/>
          <p:nvPr/>
        </p:nvSpPr>
        <p:spPr>
          <a:xfrm rot="0">
            <a:off x="-289035" y="469899"/>
            <a:ext cx="12403700" cy="261620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Paytone One"/>
                <a:ea typeface="Paytone One"/>
                <a:cs typeface="Paytone One"/>
                <a:sym typeface="Paytone One"/>
              </a:rPr>
              <a:t>1.2. Cấu trúc khai báo trong C++: </a:t>
            </a:r>
          </a:p>
          <a:p>
            <a:pPr algn="ctr">
              <a:lnSpc>
                <a:spcPts val="6999"/>
              </a:lnSpc>
              <a:spcBef>
                <a:spcPct val="0"/>
              </a:spcBef>
            </a:pPr>
          </a:p>
          <a:p>
            <a:pPr algn="ctr">
              <a:lnSpc>
                <a:spcPts val="6999"/>
              </a:lnSpc>
              <a:spcBef>
                <a:spcPct val="0"/>
              </a:spcBef>
            </a:pPr>
          </a:p>
        </p:txBody>
      </p:sp>
      <p:sp>
        <p:nvSpPr>
          <p:cNvPr name="TextBox 5" id="5"/>
          <p:cNvSpPr txBox="true"/>
          <p:nvPr/>
        </p:nvSpPr>
        <p:spPr>
          <a:xfrm rot="0">
            <a:off x="1028700" y="2162594"/>
            <a:ext cx="7385298" cy="5431282"/>
          </a:xfrm>
          <a:prstGeom prst="rect">
            <a:avLst/>
          </a:prstGeom>
        </p:spPr>
        <p:txBody>
          <a:bodyPr anchor="t" rtlCol="false" tIns="0" lIns="0" bIns="0" rIns="0">
            <a:spAutoFit/>
          </a:bodyPr>
          <a:lstStyle/>
          <a:p>
            <a:pPr algn="just">
              <a:lnSpc>
                <a:spcPts val="6188"/>
              </a:lnSpc>
            </a:pPr>
            <a:r>
              <a:rPr lang="en-US" sz="4420">
                <a:solidFill>
                  <a:srgbClr val="000000"/>
                </a:solidFill>
                <a:latin typeface="Paytone One"/>
                <a:ea typeface="Paytone One"/>
                <a:cs typeface="Paytone One"/>
                <a:sym typeface="Paytone One"/>
              </a:rPr>
              <a:t>1.2.2, Khai báo cây ( gốc ) : </a:t>
            </a:r>
          </a:p>
          <a:p>
            <a:pPr algn="just">
              <a:lnSpc>
                <a:spcPts val="6188"/>
              </a:lnSpc>
            </a:pPr>
            <a:r>
              <a:rPr lang="en-US" sz="4420">
                <a:solidFill>
                  <a:srgbClr val="000000"/>
                </a:solidFill>
                <a:latin typeface="Paytone One"/>
                <a:ea typeface="Paytone One"/>
                <a:cs typeface="Paytone One"/>
                <a:sym typeface="Paytone One"/>
              </a:rPr>
              <a:t> </a:t>
            </a:r>
          </a:p>
          <a:p>
            <a:pPr algn="just">
              <a:lnSpc>
                <a:spcPts val="6188"/>
              </a:lnSpc>
            </a:pPr>
            <a:r>
              <a:rPr lang="en-US" sz="4420">
                <a:solidFill>
                  <a:srgbClr val="000000"/>
                </a:solidFill>
                <a:latin typeface="Paytone One"/>
                <a:ea typeface="Paytone One"/>
                <a:cs typeface="Paytone One"/>
                <a:sym typeface="Paytone One"/>
              </a:rPr>
              <a:t>struct BST </a:t>
            </a:r>
          </a:p>
          <a:p>
            <a:pPr algn="just">
              <a:lnSpc>
                <a:spcPts val="6188"/>
              </a:lnSpc>
            </a:pPr>
            <a:r>
              <a:rPr lang="en-US" sz="4420">
                <a:solidFill>
                  <a:srgbClr val="000000"/>
                </a:solidFill>
                <a:latin typeface="Paytone One"/>
                <a:ea typeface="Paytone One"/>
                <a:cs typeface="Paytone One"/>
                <a:sym typeface="Paytone One"/>
              </a:rPr>
              <a:t>{ Node* root;</a:t>
            </a:r>
          </a:p>
          <a:p>
            <a:pPr algn="just">
              <a:lnSpc>
                <a:spcPts val="6188"/>
              </a:lnSpc>
            </a:pPr>
            <a:r>
              <a:rPr lang="en-US" sz="4420">
                <a:solidFill>
                  <a:srgbClr val="000000"/>
                </a:solidFill>
                <a:latin typeface="Paytone One"/>
                <a:ea typeface="Paytone One"/>
                <a:cs typeface="Paytone One"/>
                <a:sym typeface="Paytone One"/>
              </a:rPr>
              <a:t> BST()</a:t>
            </a:r>
          </a:p>
          <a:p>
            <a:pPr algn="just">
              <a:lnSpc>
                <a:spcPts val="6188"/>
              </a:lnSpc>
            </a:pPr>
            <a:r>
              <a:rPr lang="en-US" sz="4420">
                <a:solidFill>
                  <a:srgbClr val="000000"/>
                </a:solidFill>
                <a:latin typeface="Paytone One"/>
                <a:ea typeface="Paytone One"/>
                <a:cs typeface="Paytone One"/>
                <a:sym typeface="Paytone One"/>
              </a:rPr>
              <a:t> { root = nullptr;  }</a:t>
            </a:r>
          </a:p>
          <a:p>
            <a:pPr algn="just">
              <a:lnSpc>
                <a:spcPts val="6188"/>
              </a:lnSpc>
            </a:pPr>
            <a:r>
              <a:rPr lang="en-US" sz="4420">
                <a:solidFill>
                  <a:srgbClr val="000000"/>
                </a:solidFill>
                <a:latin typeface="Paytone One"/>
                <a:ea typeface="Paytone One"/>
                <a:cs typeface="Paytone One"/>
                <a:sym typeface="Paytone One"/>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6912767" cy="10287000"/>
          </a:xfrm>
          <a:custGeom>
            <a:avLst/>
            <a:gdLst/>
            <a:ahLst/>
            <a:cxnLst/>
            <a:rect r="r" b="b" t="t" l="l"/>
            <a:pathLst>
              <a:path h="10287000" w="6912767">
                <a:moveTo>
                  <a:pt x="0" y="0"/>
                </a:moveTo>
                <a:lnTo>
                  <a:pt x="6912767" y="0"/>
                </a:lnTo>
                <a:lnTo>
                  <a:pt x="6912767" y="10287000"/>
                </a:lnTo>
                <a:lnTo>
                  <a:pt x="0" y="10287000"/>
                </a:lnTo>
                <a:lnTo>
                  <a:pt x="0" y="0"/>
                </a:lnTo>
                <a:close/>
              </a:path>
            </a:pathLst>
          </a:custGeom>
          <a:blipFill>
            <a:blip r:embed="rId2"/>
            <a:stretch>
              <a:fillRect l="-26224" t="0" r="-96992" b="0"/>
            </a:stretch>
          </a:blipFill>
        </p:spPr>
      </p:sp>
      <p:sp>
        <p:nvSpPr>
          <p:cNvPr name="TextBox 3" id="3"/>
          <p:cNvSpPr txBox="true"/>
          <p:nvPr/>
        </p:nvSpPr>
        <p:spPr>
          <a:xfrm rot="0">
            <a:off x="7651815" y="138084"/>
            <a:ext cx="10241186" cy="2102168"/>
          </a:xfrm>
          <a:prstGeom prst="rect">
            <a:avLst/>
          </a:prstGeom>
        </p:spPr>
        <p:txBody>
          <a:bodyPr anchor="t" rtlCol="false" tIns="0" lIns="0" bIns="0" rIns="0">
            <a:spAutoFit/>
          </a:bodyPr>
          <a:lstStyle/>
          <a:p>
            <a:pPr algn="ctr">
              <a:lnSpc>
                <a:spcPts val="8347"/>
              </a:lnSpc>
            </a:pPr>
            <a:r>
              <a:rPr lang="en-US" sz="6624" spc="172">
                <a:solidFill>
                  <a:srgbClr val="2B4B82"/>
                </a:solidFill>
                <a:latin typeface="Paytone One"/>
                <a:ea typeface="Paytone One"/>
                <a:cs typeface="Paytone One"/>
                <a:sym typeface="Paytone One"/>
              </a:rPr>
              <a:t>1.4 Ứng dụng của cây nhị phân tìm kiếm</a:t>
            </a:r>
          </a:p>
        </p:txBody>
      </p:sp>
      <p:sp>
        <p:nvSpPr>
          <p:cNvPr name="TextBox 4" id="4"/>
          <p:cNvSpPr txBox="true"/>
          <p:nvPr/>
        </p:nvSpPr>
        <p:spPr>
          <a:xfrm rot="0">
            <a:off x="7241591" y="3104749"/>
            <a:ext cx="10651410" cy="6647181"/>
          </a:xfrm>
          <a:prstGeom prst="rect">
            <a:avLst/>
          </a:prstGeom>
        </p:spPr>
        <p:txBody>
          <a:bodyPr anchor="t" rtlCol="false" tIns="0" lIns="0" bIns="0" rIns="0">
            <a:spAutoFit/>
          </a:bodyPr>
          <a:lstStyle/>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Tìm kiếm, sắp xếp dữ liệu.</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Cài đặt từ điển, compiler, hệ thống tìm kiếm.</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Quản lý cơ sở dữ liệu (chỉ mục index).</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Quản lý bộ nhớ, tiến trình trong HĐH.</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Tra cứu địa chỉ IP trong mạng máy tính.</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AI (lưu trữ trạng thái trò chơi).</a:t>
            </a:r>
          </a:p>
          <a:p>
            <a:pPr algn="l" marL="820414" indent="-410207" lvl="1">
              <a:lnSpc>
                <a:spcPts val="5319"/>
              </a:lnSpc>
              <a:buFont typeface="Arial"/>
              <a:buChar char="•"/>
            </a:pPr>
            <a:r>
              <a:rPr lang="en-US" sz="3799">
                <a:solidFill>
                  <a:srgbClr val="2B4B82"/>
                </a:solidFill>
                <a:latin typeface="Paytone One"/>
                <a:ea typeface="Paytone One"/>
                <a:cs typeface="Paytone One"/>
                <a:sym typeface="Paytone One"/>
              </a:rPr>
              <a:t>Một số thuật toán nén (Huffman tree liên quan đến ý tưởng cây).</a:t>
            </a:r>
          </a:p>
          <a:p>
            <a:pPr algn="l">
              <a:lnSpc>
                <a:spcPts val="53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963412"/>
            <a:ext cx="4597438" cy="2842053"/>
          </a:xfrm>
          <a:custGeom>
            <a:avLst/>
            <a:gdLst/>
            <a:ahLst/>
            <a:cxnLst/>
            <a:rect r="r" b="b" t="t" l="l"/>
            <a:pathLst>
              <a:path h="2842053" w="4597438">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551837" y="390596"/>
            <a:ext cx="2076668" cy="1276207"/>
          </a:xfrm>
          <a:custGeom>
            <a:avLst/>
            <a:gdLst/>
            <a:ahLst/>
            <a:cxnLst/>
            <a:rect r="r" b="b" t="t" l="l"/>
            <a:pathLst>
              <a:path h="1276207" w="2076668">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38681" y="-2447996"/>
            <a:ext cx="3837986" cy="4114800"/>
          </a:xfrm>
          <a:custGeom>
            <a:avLst/>
            <a:gdLst/>
            <a:ahLst/>
            <a:cxnLst/>
            <a:rect r="r" b="b" t="t" l="l"/>
            <a:pathLst>
              <a:path h="4114800" w="3837986">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994246" y="-3759204"/>
            <a:ext cx="5357753" cy="5591583"/>
          </a:xfrm>
          <a:custGeom>
            <a:avLst/>
            <a:gdLst/>
            <a:ahLst/>
            <a:cxnLst/>
            <a:rect r="r" b="b" t="t" l="l"/>
            <a:pathLst>
              <a:path h="5591583" w="535775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5400000">
            <a:off x="6331054" y="6530878"/>
            <a:ext cx="5625891" cy="327325"/>
          </a:xfrm>
          <a:custGeom>
            <a:avLst/>
            <a:gdLst/>
            <a:ahLst/>
            <a:cxnLst/>
            <a:rect r="r" b="b" t="t" l="l"/>
            <a:pathLst>
              <a:path h="327325" w="5625891">
                <a:moveTo>
                  <a:pt x="0" y="0"/>
                </a:moveTo>
                <a:lnTo>
                  <a:pt x="5625892" y="0"/>
                </a:lnTo>
                <a:lnTo>
                  <a:pt x="5625892" y="327324"/>
                </a:lnTo>
                <a:lnTo>
                  <a:pt x="0" y="3273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855781" y="3035375"/>
            <a:ext cx="6276929" cy="941070"/>
          </a:xfrm>
          <a:prstGeom prst="rect">
            <a:avLst/>
          </a:prstGeom>
        </p:spPr>
        <p:txBody>
          <a:bodyPr anchor="t" rtlCol="false" tIns="0" lIns="0" bIns="0" rIns="0">
            <a:spAutoFit/>
          </a:bodyPr>
          <a:lstStyle/>
          <a:p>
            <a:pPr algn="l">
              <a:lnSpc>
                <a:spcPts val="7320"/>
              </a:lnSpc>
            </a:pPr>
            <a:r>
              <a:rPr lang="en-US" sz="6100" b="true">
                <a:solidFill>
                  <a:srgbClr val="2B4B82"/>
                </a:solidFill>
                <a:latin typeface="DejaVu Serif Bold"/>
                <a:ea typeface="DejaVu Serif Bold"/>
                <a:cs typeface="DejaVu Serif Bold"/>
                <a:sym typeface="DejaVu Serif Bold"/>
              </a:rPr>
              <a:t>Ưu điểm</a:t>
            </a:r>
          </a:p>
        </p:txBody>
      </p:sp>
      <p:sp>
        <p:nvSpPr>
          <p:cNvPr name="TextBox 8" id="8"/>
          <p:cNvSpPr txBox="true"/>
          <p:nvPr/>
        </p:nvSpPr>
        <p:spPr>
          <a:xfrm rot="0">
            <a:off x="1458974" y="4529293"/>
            <a:ext cx="6276929" cy="4899026"/>
          </a:xfrm>
          <a:prstGeom prst="rect">
            <a:avLst/>
          </a:prstGeom>
        </p:spPr>
        <p:txBody>
          <a:bodyPr anchor="t" rtlCol="false" tIns="0" lIns="0" bIns="0" rIns="0">
            <a:spAutoFit/>
          </a:bodyPr>
          <a:lstStyle/>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Tìm kiếm hiệu quả .</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Chèn và xóa dữ liệu nhanh.</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Duyệt theo thứ tự dễ dàng.</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Cấu trúc linh hoạt.</a:t>
            </a:r>
          </a:p>
          <a:p>
            <a:pPr algn="l">
              <a:lnSpc>
                <a:spcPts val="5599"/>
              </a:lnSpc>
            </a:pPr>
          </a:p>
        </p:txBody>
      </p:sp>
      <p:sp>
        <p:nvSpPr>
          <p:cNvPr name="TextBox 9" id="9"/>
          <p:cNvSpPr txBox="true"/>
          <p:nvPr/>
        </p:nvSpPr>
        <p:spPr>
          <a:xfrm rot="0">
            <a:off x="10953193" y="2759865"/>
            <a:ext cx="6023474" cy="941070"/>
          </a:xfrm>
          <a:prstGeom prst="rect">
            <a:avLst/>
          </a:prstGeom>
        </p:spPr>
        <p:txBody>
          <a:bodyPr anchor="t" rtlCol="false" tIns="0" lIns="0" bIns="0" rIns="0">
            <a:spAutoFit/>
          </a:bodyPr>
          <a:lstStyle/>
          <a:p>
            <a:pPr algn="l">
              <a:lnSpc>
                <a:spcPts val="7320"/>
              </a:lnSpc>
            </a:pPr>
            <a:r>
              <a:rPr lang="en-US" sz="6100" b="true">
                <a:solidFill>
                  <a:srgbClr val="2B4B82"/>
                </a:solidFill>
                <a:latin typeface="DejaVu Serif Bold"/>
                <a:ea typeface="DejaVu Serif Bold"/>
                <a:cs typeface="DejaVu Serif Bold"/>
                <a:sym typeface="DejaVu Serif Bold"/>
              </a:rPr>
              <a:t>Nhược điểm</a:t>
            </a:r>
          </a:p>
        </p:txBody>
      </p:sp>
      <p:sp>
        <p:nvSpPr>
          <p:cNvPr name="TextBox 10" id="10"/>
          <p:cNvSpPr txBox="true"/>
          <p:nvPr/>
        </p:nvSpPr>
        <p:spPr>
          <a:xfrm rot="0">
            <a:off x="10351998" y="3978274"/>
            <a:ext cx="7936002" cy="6308726"/>
          </a:xfrm>
          <a:prstGeom prst="rect">
            <a:avLst/>
          </a:prstGeom>
        </p:spPr>
        <p:txBody>
          <a:bodyPr anchor="t" rtlCol="false" tIns="0" lIns="0" bIns="0" rIns="0">
            <a:spAutoFit/>
          </a:bodyPr>
          <a:lstStyle/>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Hiệu suất phụ thuộc vào độ cân bằng của cây.</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Khó cài đặt hơn so với mảng và danh sách liên kết.</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Không thuận tiện khi cần truy cập ngẫu nhiên.</a:t>
            </a:r>
          </a:p>
          <a:p>
            <a:pPr algn="l" marL="863591" indent="-431796" lvl="1">
              <a:lnSpc>
                <a:spcPts val="5599"/>
              </a:lnSpc>
              <a:buFont typeface="Arial"/>
              <a:buChar char="•"/>
            </a:pPr>
            <a:r>
              <a:rPr lang="en-US" sz="3999">
                <a:solidFill>
                  <a:srgbClr val="2B4B82"/>
                </a:solidFill>
                <a:latin typeface="Paytone One"/>
                <a:ea typeface="Paytone One"/>
                <a:cs typeface="Paytone One"/>
                <a:sym typeface="Paytone One"/>
              </a:rPr>
              <a:t>Tiêu tốn bộ nhớ hơn mảng.</a:t>
            </a:r>
          </a:p>
          <a:p>
            <a:pPr algn="l">
              <a:lnSpc>
                <a:spcPts val="5599"/>
              </a:lnSpc>
            </a:pPr>
          </a:p>
        </p:txBody>
      </p:sp>
      <p:sp>
        <p:nvSpPr>
          <p:cNvPr name="TextBox 11" id="11"/>
          <p:cNvSpPr txBox="true"/>
          <p:nvPr/>
        </p:nvSpPr>
        <p:spPr>
          <a:xfrm rot="0">
            <a:off x="289203" y="1198554"/>
            <a:ext cx="17709595" cy="1226823"/>
          </a:xfrm>
          <a:prstGeom prst="rect">
            <a:avLst/>
          </a:prstGeom>
        </p:spPr>
        <p:txBody>
          <a:bodyPr anchor="t" rtlCol="false" tIns="0" lIns="0" bIns="0" rIns="0">
            <a:spAutoFit/>
          </a:bodyPr>
          <a:lstStyle/>
          <a:p>
            <a:pPr algn="ctr">
              <a:lnSpc>
                <a:spcPts val="10079"/>
              </a:lnSpc>
              <a:spcBef>
                <a:spcPct val="0"/>
              </a:spcBef>
            </a:pPr>
            <a:r>
              <a:rPr lang="en-US" sz="7199">
                <a:solidFill>
                  <a:srgbClr val="2B4B82"/>
                </a:solidFill>
                <a:latin typeface="Paytone One"/>
                <a:ea typeface="Paytone One"/>
                <a:cs typeface="Paytone One"/>
                <a:sym typeface="Paytone One"/>
              </a:rPr>
              <a:t>1.5 Ưu và nhược điểm của cây nhị phân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3476641" y="1361036"/>
            <a:ext cx="4312470" cy="4312470"/>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13476641" y="5673506"/>
            <a:ext cx="4179293" cy="1065720"/>
          </a:xfrm>
          <a:prstGeom prst="rect">
            <a:avLst/>
          </a:prstGeom>
        </p:spPr>
      </p:pic>
      <p:sp>
        <p:nvSpPr>
          <p:cNvPr name="TextBox 4" id="4"/>
          <p:cNvSpPr txBox="true"/>
          <p:nvPr/>
        </p:nvSpPr>
        <p:spPr>
          <a:xfrm rot="0">
            <a:off x="-187348" y="366689"/>
            <a:ext cx="16374311" cy="994347"/>
          </a:xfrm>
          <a:prstGeom prst="rect">
            <a:avLst/>
          </a:prstGeom>
        </p:spPr>
        <p:txBody>
          <a:bodyPr anchor="t" rtlCol="false" tIns="0" lIns="0" bIns="0" rIns="0">
            <a:spAutoFit/>
          </a:bodyPr>
          <a:lstStyle/>
          <a:p>
            <a:pPr algn="ctr">
              <a:lnSpc>
                <a:spcPts val="7740"/>
              </a:lnSpc>
            </a:pPr>
            <a:r>
              <a:rPr lang="en-US" sz="6850">
                <a:solidFill>
                  <a:srgbClr val="F7B4A7"/>
                </a:solidFill>
                <a:latin typeface="Paytone One"/>
                <a:ea typeface="Paytone One"/>
                <a:cs typeface="Paytone One"/>
                <a:sym typeface="Paytone One"/>
              </a:rPr>
              <a:t>2. Cài đặt cây nhị phân tìm kiếm</a:t>
            </a:r>
          </a:p>
        </p:txBody>
      </p:sp>
      <p:sp>
        <p:nvSpPr>
          <p:cNvPr name="TextBox 5" id="5"/>
          <p:cNvSpPr txBox="true"/>
          <p:nvPr/>
        </p:nvSpPr>
        <p:spPr>
          <a:xfrm rot="0">
            <a:off x="1028700" y="6830978"/>
            <a:ext cx="6460671" cy="488315"/>
          </a:xfrm>
          <a:prstGeom prst="rect">
            <a:avLst/>
          </a:prstGeom>
        </p:spPr>
        <p:txBody>
          <a:bodyPr anchor="t" rtlCol="false" tIns="0" lIns="0" bIns="0" rIns="0">
            <a:spAutoFit/>
          </a:bodyPr>
          <a:lstStyle/>
          <a:p>
            <a:pPr algn="l">
              <a:lnSpc>
                <a:spcPts val="4060"/>
              </a:lnSpc>
            </a:pPr>
          </a:p>
        </p:txBody>
      </p:sp>
      <p:sp>
        <p:nvSpPr>
          <p:cNvPr name="TextBox 6" id="6"/>
          <p:cNvSpPr txBox="true"/>
          <p:nvPr/>
        </p:nvSpPr>
        <p:spPr>
          <a:xfrm rot="0">
            <a:off x="682682" y="4132030"/>
            <a:ext cx="14342011" cy="5848111"/>
          </a:xfrm>
          <a:prstGeom prst="rect">
            <a:avLst/>
          </a:prstGeom>
        </p:spPr>
        <p:txBody>
          <a:bodyPr anchor="t" rtlCol="false" tIns="0" lIns="0" bIns="0" rIns="0">
            <a:spAutoFit/>
          </a:bodyPr>
          <a:lstStyle/>
          <a:p>
            <a:pPr algn="l">
              <a:lnSpc>
                <a:spcPts val="5788"/>
              </a:lnSpc>
            </a:pPr>
            <a:r>
              <a:rPr lang="en-US" sz="4134">
                <a:solidFill>
                  <a:srgbClr val="FFFFFF"/>
                </a:solidFill>
                <a:latin typeface="DejaVu Serif"/>
                <a:ea typeface="DejaVu Serif"/>
                <a:cs typeface="DejaVu Serif"/>
                <a:sym typeface="DejaVu Serif"/>
              </a:rPr>
              <a:t>K</a:t>
            </a:r>
            <a:r>
              <a:rPr lang="en-US" sz="4134">
                <a:solidFill>
                  <a:srgbClr val="FFFFFF"/>
                </a:solidFill>
                <a:latin typeface="DejaVu Serif"/>
                <a:ea typeface="DejaVu Serif"/>
                <a:cs typeface="DejaVu Serif"/>
                <a:sym typeface="DejaVu Serif"/>
              </a:rPr>
              <a:t>hai báo cấu trúc nút cho cây BST</a:t>
            </a:r>
          </a:p>
          <a:p>
            <a:pPr algn="l">
              <a:lnSpc>
                <a:spcPts val="5788"/>
              </a:lnSpc>
            </a:pPr>
            <a:r>
              <a:rPr lang="en-US" sz="4134">
                <a:solidFill>
                  <a:srgbClr val="FFFFFF"/>
                </a:solidFill>
                <a:latin typeface="DejaVu Serif"/>
                <a:ea typeface="DejaVu Serif"/>
                <a:cs typeface="DejaVu Serif"/>
                <a:sym typeface="DejaVu Serif"/>
              </a:rPr>
              <a:t>   </a:t>
            </a:r>
          </a:p>
          <a:p>
            <a:pPr algn="l">
              <a:lnSpc>
                <a:spcPts val="5788"/>
              </a:lnSpc>
            </a:pPr>
            <a:r>
              <a:rPr lang="en-US" sz="4134">
                <a:solidFill>
                  <a:srgbClr val="FFFFFF"/>
                </a:solidFill>
                <a:latin typeface="DejaVu Serif"/>
                <a:ea typeface="DejaVu Serif"/>
                <a:cs typeface="DejaVu Serif"/>
                <a:sym typeface="DejaVu Serif"/>
              </a:rPr>
              <a:t>struct BSTNode</a:t>
            </a:r>
          </a:p>
          <a:p>
            <a:pPr algn="l">
              <a:lnSpc>
                <a:spcPts val="5788"/>
              </a:lnSpc>
            </a:pPr>
            <a:r>
              <a:rPr lang="en-US" sz="4134">
                <a:solidFill>
                  <a:srgbClr val="FFFFFF"/>
                </a:solidFill>
                <a:latin typeface="DejaVu Serif"/>
                <a:ea typeface="DejaVu Serif"/>
                <a:cs typeface="DejaVu Serif"/>
                <a:sym typeface="DejaVu Serif"/>
              </a:rPr>
              <a:t> { int du_lieu;</a:t>
            </a:r>
          </a:p>
          <a:p>
            <a:pPr algn="l">
              <a:lnSpc>
                <a:spcPts val="5788"/>
              </a:lnSpc>
            </a:pPr>
            <a:r>
              <a:rPr lang="en-US" sz="4134">
                <a:solidFill>
                  <a:srgbClr val="FFFFFF"/>
                </a:solidFill>
                <a:latin typeface="DejaVu Serif"/>
                <a:ea typeface="DejaVu Serif"/>
                <a:cs typeface="DejaVu Serif"/>
                <a:sym typeface="DejaVu Serif"/>
              </a:rPr>
              <a:t>     BSTNode* Lchild; //Lchild là con trỏ trỏ sang trái</a:t>
            </a:r>
          </a:p>
          <a:p>
            <a:pPr algn="l">
              <a:lnSpc>
                <a:spcPts val="5788"/>
              </a:lnSpc>
            </a:pPr>
            <a:r>
              <a:rPr lang="en-US" sz="4134">
                <a:solidFill>
                  <a:srgbClr val="FFFFFF"/>
                </a:solidFill>
                <a:latin typeface="DejaVu Serif"/>
                <a:ea typeface="DejaVu Serif"/>
                <a:cs typeface="DejaVu Serif"/>
                <a:sym typeface="DejaVu Serif"/>
              </a:rPr>
              <a:t>     BSTNode* Rchild; //Rchild là con trỏ trỏ sang phải</a:t>
            </a:r>
          </a:p>
          <a:p>
            <a:pPr algn="l">
              <a:lnSpc>
                <a:spcPts val="5788"/>
              </a:lnSpc>
            </a:pPr>
            <a:r>
              <a:rPr lang="en-US" sz="4134">
                <a:solidFill>
                  <a:srgbClr val="FFFFFF"/>
                </a:solidFill>
                <a:latin typeface="DejaVu Serif"/>
                <a:ea typeface="DejaVu Serif"/>
                <a:cs typeface="DejaVu Serif"/>
                <a:sym typeface="DejaVu Serif"/>
              </a:rPr>
              <a:t> };</a:t>
            </a:r>
          </a:p>
          <a:p>
            <a:pPr algn="l">
              <a:lnSpc>
                <a:spcPts val="5788"/>
              </a:lnSpc>
            </a:pPr>
          </a:p>
        </p:txBody>
      </p:sp>
      <p:sp>
        <p:nvSpPr>
          <p:cNvPr name="TextBox 7" id="7"/>
          <p:cNvSpPr txBox="true"/>
          <p:nvPr/>
        </p:nvSpPr>
        <p:spPr>
          <a:xfrm rot="0">
            <a:off x="682682" y="2069598"/>
            <a:ext cx="11966617" cy="1447673"/>
          </a:xfrm>
          <a:prstGeom prst="rect">
            <a:avLst/>
          </a:prstGeom>
        </p:spPr>
        <p:txBody>
          <a:bodyPr anchor="t" rtlCol="false" tIns="0" lIns="0" bIns="0" rIns="0">
            <a:spAutoFit/>
          </a:bodyPr>
          <a:lstStyle/>
          <a:p>
            <a:pPr algn="l">
              <a:lnSpc>
                <a:spcPts val="5781"/>
              </a:lnSpc>
            </a:pPr>
            <a:r>
              <a:rPr lang="en-US" sz="4129">
                <a:solidFill>
                  <a:srgbClr val="FFFFFF"/>
                </a:solidFill>
                <a:latin typeface="DejaVu Serif"/>
                <a:ea typeface="DejaVu Serif"/>
                <a:cs typeface="DejaVu Serif"/>
                <a:sym typeface="DejaVu Serif"/>
              </a:rPr>
              <a:t>Về nguyên tác, cài đặt cây nhị phân tìm kiếm cũng giống như cài đặt cây nhị phân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11477061" y="2781689"/>
            <a:ext cx="6810939" cy="4937931"/>
          </a:xfrm>
          <a:custGeom>
            <a:avLst/>
            <a:gdLst/>
            <a:ahLst/>
            <a:cxnLst/>
            <a:rect r="r" b="b" t="t" l="l"/>
            <a:pathLst>
              <a:path h="4937931" w="6810939">
                <a:moveTo>
                  <a:pt x="0" y="0"/>
                </a:moveTo>
                <a:lnTo>
                  <a:pt x="6810939" y="0"/>
                </a:lnTo>
                <a:lnTo>
                  <a:pt x="6810939" y="4937930"/>
                </a:lnTo>
                <a:lnTo>
                  <a:pt x="0" y="4937930"/>
                </a:lnTo>
                <a:lnTo>
                  <a:pt x="0" y="0"/>
                </a:lnTo>
                <a:close/>
              </a:path>
            </a:pathLst>
          </a:custGeom>
          <a:blipFill>
            <a:blip r:embed="rId2"/>
            <a:stretch>
              <a:fillRect l="0" t="0" r="0" b="0"/>
            </a:stretch>
          </a:blipFill>
        </p:spPr>
      </p:sp>
      <p:sp>
        <p:nvSpPr>
          <p:cNvPr name="TextBox 3" id="3"/>
          <p:cNvSpPr txBox="true"/>
          <p:nvPr/>
        </p:nvSpPr>
        <p:spPr>
          <a:xfrm rot="0">
            <a:off x="1028700" y="3406094"/>
            <a:ext cx="9768230" cy="962025"/>
          </a:xfrm>
          <a:prstGeom prst="rect">
            <a:avLst/>
          </a:prstGeom>
        </p:spPr>
        <p:txBody>
          <a:bodyPr anchor="t" rtlCol="false" tIns="0" lIns="0" bIns="0" rIns="0">
            <a:spAutoFit/>
          </a:bodyPr>
          <a:lstStyle/>
          <a:p>
            <a:pPr algn="l">
              <a:lnSpc>
                <a:spcPts val="7680"/>
              </a:lnSpc>
            </a:pPr>
          </a:p>
        </p:txBody>
      </p:sp>
      <p:sp>
        <p:nvSpPr>
          <p:cNvPr name="TextBox 4" id="4"/>
          <p:cNvSpPr txBox="true"/>
          <p:nvPr/>
        </p:nvSpPr>
        <p:spPr>
          <a:xfrm rot="0">
            <a:off x="387211" y="496404"/>
            <a:ext cx="9009234" cy="2900164"/>
          </a:xfrm>
          <a:prstGeom prst="rect">
            <a:avLst/>
          </a:prstGeom>
        </p:spPr>
        <p:txBody>
          <a:bodyPr anchor="t" rtlCol="false" tIns="0" lIns="0" bIns="0" rIns="0">
            <a:spAutoFit/>
          </a:bodyPr>
          <a:lstStyle/>
          <a:p>
            <a:pPr algn="ctr">
              <a:lnSpc>
                <a:spcPts val="7742"/>
              </a:lnSpc>
              <a:spcBef>
                <a:spcPct val="0"/>
              </a:spcBef>
            </a:pPr>
            <a:r>
              <a:rPr lang="en-US" sz="5530">
                <a:solidFill>
                  <a:srgbClr val="000000"/>
                </a:solidFill>
                <a:latin typeface="Paytone One"/>
                <a:ea typeface="Paytone One"/>
                <a:cs typeface="Paytone One"/>
                <a:sym typeface="Paytone One"/>
              </a:rPr>
              <a:t>2.</a:t>
            </a:r>
            <a:r>
              <a:rPr lang="en-US" sz="5530">
                <a:solidFill>
                  <a:srgbClr val="000000"/>
                </a:solidFill>
                <a:latin typeface="Paytone One"/>
                <a:ea typeface="Paytone One"/>
                <a:cs typeface="Paytone One"/>
                <a:sym typeface="Paytone One"/>
              </a:rPr>
              <a:t>1. Tạo node cho BST: </a:t>
            </a:r>
          </a:p>
          <a:p>
            <a:pPr algn="ctr">
              <a:lnSpc>
                <a:spcPts val="7742"/>
              </a:lnSpc>
              <a:spcBef>
                <a:spcPct val="0"/>
              </a:spcBef>
            </a:pPr>
          </a:p>
          <a:p>
            <a:pPr algn="ctr">
              <a:lnSpc>
                <a:spcPts val="7742"/>
              </a:lnSpc>
              <a:spcBef>
                <a:spcPct val="0"/>
              </a:spcBef>
            </a:pPr>
          </a:p>
        </p:txBody>
      </p:sp>
      <p:sp>
        <p:nvSpPr>
          <p:cNvPr name="TextBox 5" id="5"/>
          <p:cNvSpPr txBox="true"/>
          <p:nvPr/>
        </p:nvSpPr>
        <p:spPr>
          <a:xfrm rot="0">
            <a:off x="849527" y="2038223"/>
            <a:ext cx="10627534" cy="7220077"/>
          </a:xfrm>
          <a:prstGeom prst="rect">
            <a:avLst/>
          </a:prstGeom>
        </p:spPr>
        <p:txBody>
          <a:bodyPr anchor="t" rtlCol="false" tIns="0" lIns="0" bIns="0" rIns="0">
            <a:spAutoFit/>
          </a:bodyPr>
          <a:lstStyle/>
          <a:p>
            <a:pPr algn="just">
              <a:lnSpc>
                <a:spcPts val="5768"/>
              </a:lnSpc>
            </a:pPr>
            <a:r>
              <a:rPr lang="en-US" sz="4120">
                <a:solidFill>
                  <a:srgbClr val="000000"/>
                </a:solidFill>
                <a:latin typeface="Paytone One"/>
                <a:ea typeface="Paytone One"/>
                <a:cs typeface="Paytone One"/>
                <a:sym typeface="Paytone One"/>
              </a:rPr>
              <a:t>BSTNode* TaoNode(int du_lieu) </a:t>
            </a:r>
          </a:p>
          <a:p>
            <a:pPr algn="just">
              <a:lnSpc>
                <a:spcPts val="5768"/>
              </a:lnSpc>
            </a:pPr>
            <a:r>
              <a:rPr lang="en-US" sz="4120">
                <a:solidFill>
                  <a:srgbClr val="000000"/>
                </a:solidFill>
                <a:latin typeface="Paytone One"/>
                <a:ea typeface="Paytone One"/>
                <a:cs typeface="Paytone One"/>
                <a:sym typeface="Paytone One"/>
              </a:rPr>
              <a:t> { </a:t>
            </a:r>
          </a:p>
          <a:p>
            <a:pPr algn="just">
              <a:lnSpc>
                <a:spcPts val="5768"/>
              </a:lnSpc>
            </a:pPr>
            <a:r>
              <a:rPr lang="en-US" sz="4120">
                <a:solidFill>
                  <a:srgbClr val="000000"/>
                </a:solidFill>
                <a:latin typeface="Paytone One"/>
                <a:ea typeface="Paytone One"/>
                <a:cs typeface="Paytone One"/>
                <a:sym typeface="Paytone One"/>
              </a:rPr>
              <a:t> BSTNode* p = new BSTNode ; </a:t>
            </a:r>
            <a:r>
              <a:rPr lang="en-US" sz="4120">
                <a:solidFill>
                  <a:srgbClr val="2B4B82"/>
                </a:solidFill>
                <a:latin typeface="Paytone One"/>
                <a:ea typeface="Paytone One"/>
                <a:cs typeface="Paytone One"/>
                <a:sym typeface="Paytone One"/>
              </a:rPr>
              <a:t>//khai báo con trỏ p có kiểu BSTNode = cấp bộ nhớ cho 1 BSTNode mới</a:t>
            </a:r>
          </a:p>
          <a:p>
            <a:pPr algn="just">
              <a:lnSpc>
                <a:spcPts val="5768"/>
              </a:lnSpc>
            </a:pPr>
            <a:r>
              <a:rPr lang="en-US" sz="4120">
                <a:solidFill>
                  <a:srgbClr val="000000"/>
                </a:solidFill>
                <a:latin typeface="Paytone One"/>
                <a:ea typeface="Paytone One"/>
                <a:cs typeface="Paytone One"/>
                <a:sym typeface="Paytone One"/>
              </a:rPr>
              <a:t>   p-&gt;du_lieu = du_lieu;</a:t>
            </a:r>
          </a:p>
          <a:p>
            <a:pPr algn="just">
              <a:lnSpc>
                <a:spcPts val="5768"/>
              </a:lnSpc>
            </a:pPr>
            <a:r>
              <a:rPr lang="en-US" sz="4120">
                <a:solidFill>
                  <a:srgbClr val="000000"/>
                </a:solidFill>
                <a:latin typeface="Paytone One"/>
                <a:ea typeface="Paytone One"/>
                <a:cs typeface="Paytone One"/>
                <a:sym typeface="Paytone One"/>
              </a:rPr>
              <a:t>  p-&gt;Lchild = p-&gt;Rchild = NULL; </a:t>
            </a:r>
            <a:r>
              <a:rPr lang="en-US" sz="4120">
                <a:solidFill>
                  <a:srgbClr val="2B4B82"/>
                </a:solidFill>
                <a:latin typeface="Paytone One"/>
                <a:ea typeface="Paytone One"/>
                <a:cs typeface="Paytone One"/>
                <a:sym typeface="Paytone One"/>
              </a:rPr>
              <a:t>//các con trỏ trái, phải chưa trỏ đi đâu cả</a:t>
            </a:r>
          </a:p>
          <a:p>
            <a:pPr algn="just">
              <a:lnSpc>
                <a:spcPts val="5768"/>
              </a:lnSpc>
            </a:pPr>
            <a:r>
              <a:rPr lang="en-US" sz="4120">
                <a:solidFill>
                  <a:srgbClr val="000000"/>
                </a:solidFill>
                <a:latin typeface="Paytone One"/>
                <a:ea typeface="Paytone One"/>
                <a:cs typeface="Paytone One"/>
                <a:sym typeface="Paytone One"/>
              </a:rPr>
              <a:t>     return p;</a:t>
            </a:r>
          </a:p>
          <a:p>
            <a:pPr algn="just">
              <a:lnSpc>
                <a:spcPts val="5768"/>
              </a:lnSpc>
            </a:pPr>
            <a:r>
              <a:rPr lang="en-US" sz="4120">
                <a:solidFill>
                  <a:srgbClr val="000000"/>
                </a:solidFill>
                <a:latin typeface="Paytone One"/>
                <a:ea typeface="Paytone One"/>
                <a:cs typeface="Paytone One"/>
                <a:sym typeface="Paytone One"/>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3754299" y="7002514"/>
            <a:ext cx="5758626" cy="4114800"/>
          </a:xfrm>
          <a:custGeom>
            <a:avLst/>
            <a:gdLst/>
            <a:ahLst/>
            <a:cxnLst/>
            <a:rect r="r" b="b" t="t" l="l"/>
            <a:pathLst>
              <a:path h="4114800" w="5758626">
                <a:moveTo>
                  <a:pt x="0" y="0"/>
                </a:moveTo>
                <a:lnTo>
                  <a:pt x="5758626" y="0"/>
                </a:lnTo>
                <a:lnTo>
                  <a:pt x="575862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161580" y="-1288673"/>
            <a:ext cx="3748344" cy="3073642"/>
          </a:xfrm>
          <a:custGeom>
            <a:avLst/>
            <a:gdLst/>
            <a:ahLst/>
            <a:cxnLst/>
            <a:rect r="r" b="b" t="t" l="l"/>
            <a:pathLst>
              <a:path h="3073642" w="3748344">
                <a:moveTo>
                  <a:pt x="0" y="0"/>
                </a:moveTo>
                <a:lnTo>
                  <a:pt x="3748345" y="0"/>
                </a:lnTo>
                <a:lnTo>
                  <a:pt x="3748345" y="3073642"/>
                </a:lnTo>
                <a:lnTo>
                  <a:pt x="0" y="30736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56264" y="-3124003"/>
            <a:ext cx="4317873" cy="5892879"/>
          </a:xfrm>
          <a:custGeom>
            <a:avLst/>
            <a:gdLst/>
            <a:ahLst/>
            <a:cxnLst/>
            <a:rect r="r" b="b" t="t" l="l"/>
            <a:pathLst>
              <a:path h="5892879" w="4317873">
                <a:moveTo>
                  <a:pt x="0" y="0"/>
                </a:moveTo>
                <a:lnTo>
                  <a:pt x="4317873" y="0"/>
                </a:lnTo>
                <a:lnTo>
                  <a:pt x="4317873" y="5892878"/>
                </a:lnTo>
                <a:lnTo>
                  <a:pt x="0" y="58928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436325" y="636189"/>
            <a:ext cx="16328334" cy="9690550"/>
          </a:xfrm>
          <a:prstGeom prst="rect">
            <a:avLst/>
          </a:prstGeom>
        </p:spPr>
        <p:txBody>
          <a:bodyPr anchor="t" rtlCol="false" tIns="0" lIns="0" bIns="0" rIns="0">
            <a:spAutoFit/>
          </a:bodyPr>
          <a:lstStyle/>
          <a:p>
            <a:pPr algn="l">
              <a:lnSpc>
                <a:spcPts val="8060"/>
              </a:lnSpc>
              <a:spcBef>
                <a:spcPct val="0"/>
              </a:spcBef>
            </a:pPr>
            <a:r>
              <a:rPr lang="en-US" sz="5757">
                <a:solidFill>
                  <a:srgbClr val="FBC09A"/>
                </a:solidFill>
                <a:latin typeface="Paytone One"/>
                <a:ea typeface="Paytone One"/>
                <a:cs typeface="Paytone One"/>
                <a:sym typeface="Paytone One"/>
              </a:rPr>
              <a:t> 3. DUYỆT CÂY NHỊ PHÂN TÌM KIẾM</a:t>
            </a:r>
          </a:p>
          <a:p>
            <a:pPr algn="l">
              <a:lnSpc>
                <a:spcPts val="6240"/>
              </a:lnSpc>
              <a:spcBef>
                <a:spcPct val="0"/>
              </a:spcBef>
            </a:pPr>
          </a:p>
          <a:p>
            <a:pPr algn="l">
              <a:lnSpc>
                <a:spcPts val="6240"/>
              </a:lnSpc>
              <a:spcBef>
                <a:spcPct val="0"/>
              </a:spcBef>
            </a:pPr>
            <a:r>
              <a:rPr lang="en-US" sz="4457">
                <a:solidFill>
                  <a:srgbClr val="FFFFFF"/>
                </a:solidFill>
                <a:latin typeface="DejaVu Serif"/>
                <a:ea typeface="DejaVu Serif"/>
                <a:cs typeface="DejaVu Serif"/>
                <a:sym typeface="DejaVu Serif"/>
              </a:rPr>
              <a:t>Bắt đầu từ gốc của cây nhị phân, có ba bước chính có thể được thực hiện và thứ tự thực hiện chúng xác định kiểu duyệt. Các bước sau là: </a:t>
            </a:r>
          </a:p>
          <a:p>
            <a:pPr algn="l">
              <a:lnSpc>
                <a:spcPts val="6240"/>
              </a:lnSpc>
              <a:spcBef>
                <a:spcPct val="0"/>
              </a:spcBef>
            </a:pPr>
            <a:r>
              <a:rPr lang="en-US" sz="4457">
                <a:solidFill>
                  <a:srgbClr val="FFFFFF"/>
                </a:solidFill>
                <a:latin typeface="DejaVu Serif"/>
                <a:ea typeface="DejaVu Serif"/>
                <a:cs typeface="DejaVu Serif"/>
                <a:sym typeface="DejaVu Serif"/>
              </a:rPr>
              <a:t>  +) Thực hiện một hành động trên nút hiện tại (được gọi là “visiting (ghé thăm)” node và được ký hiệu là “D”).</a:t>
            </a:r>
          </a:p>
          <a:p>
            <a:pPr algn="l">
              <a:lnSpc>
                <a:spcPts val="6240"/>
              </a:lnSpc>
              <a:spcBef>
                <a:spcPct val="0"/>
              </a:spcBef>
            </a:pPr>
            <a:r>
              <a:rPr lang="en-US" sz="4457">
                <a:solidFill>
                  <a:srgbClr val="FFFFFF"/>
                </a:solidFill>
                <a:latin typeface="DejaVu Serif"/>
                <a:ea typeface="DejaVu Serif"/>
                <a:cs typeface="DejaVu Serif"/>
                <a:sym typeface="DejaVu Serif"/>
              </a:rPr>
              <a:t>  +) Đi qua node con bên trái (được ký hiệu bằng “L”).</a:t>
            </a:r>
          </a:p>
          <a:p>
            <a:pPr algn="l">
              <a:lnSpc>
                <a:spcPts val="6240"/>
              </a:lnSpc>
              <a:spcBef>
                <a:spcPct val="0"/>
              </a:spcBef>
            </a:pPr>
            <a:r>
              <a:rPr lang="en-US" sz="4457">
                <a:solidFill>
                  <a:srgbClr val="FFFFFF"/>
                </a:solidFill>
                <a:latin typeface="DejaVu Serif"/>
                <a:ea typeface="DejaVu Serif"/>
                <a:cs typeface="DejaVu Serif"/>
                <a:sym typeface="DejaVu Serif"/>
              </a:rPr>
              <a:t>  +) Đi qua node con bên phải (được ký hiệu là “R ”).</a:t>
            </a:r>
          </a:p>
          <a:p>
            <a:pPr algn="l">
              <a:lnSpc>
                <a:spcPts val="6240"/>
              </a:lnSpc>
              <a:spcBef>
                <a:spcPct val="0"/>
              </a:spcBef>
            </a:pPr>
          </a:p>
          <a:p>
            <a:pPr algn="l">
              <a:lnSpc>
                <a:spcPts val="6240"/>
              </a:lnSpc>
              <a:spcBef>
                <a:spcPct val="0"/>
              </a:spcBef>
            </a:pPr>
          </a:p>
          <a:p>
            <a:pPr algn="l">
              <a:lnSpc>
                <a:spcPts val="624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1372407"/>
            <a:ext cx="3489749" cy="2861594"/>
          </a:xfrm>
          <a:custGeom>
            <a:avLst/>
            <a:gdLst/>
            <a:ahLst/>
            <a:cxnLst/>
            <a:rect r="r" b="b" t="t" l="l"/>
            <a:pathLst>
              <a:path h="2861594" w="3489749">
                <a:moveTo>
                  <a:pt x="0" y="0"/>
                </a:moveTo>
                <a:lnTo>
                  <a:pt x="3489749" y="0"/>
                </a:lnTo>
                <a:lnTo>
                  <a:pt x="3489749" y="2861593"/>
                </a:lnTo>
                <a:lnTo>
                  <a:pt x="0" y="2861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4452" y="4234000"/>
            <a:ext cx="4618653" cy="4114800"/>
          </a:xfrm>
          <a:custGeom>
            <a:avLst/>
            <a:gdLst/>
            <a:ahLst/>
            <a:cxnLst/>
            <a:rect r="r" b="b" t="t" l="l"/>
            <a:pathLst>
              <a:path h="4114800" w="4618653">
                <a:moveTo>
                  <a:pt x="0" y="0"/>
                </a:moveTo>
                <a:lnTo>
                  <a:pt x="4618653" y="0"/>
                </a:lnTo>
                <a:lnTo>
                  <a:pt x="461865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194256" y="1618407"/>
            <a:ext cx="14105752" cy="7766448"/>
          </a:xfrm>
          <a:prstGeom prst="rect">
            <a:avLst/>
          </a:prstGeom>
        </p:spPr>
        <p:txBody>
          <a:bodyPr anchor="t" rtlCol="false" tIns="0" lIns="0" bIns="0" rIns="0">
            <a:spAutoFit/>
          </a:bodyPr>
          <a:lstStyle/>
          <a:p>
            <a:pPr algn="l">
              <a:lnSpc>
                <a:spcPts val="4777"/>
              </a:lnSpc>
            </a:pPr>
            <a:r>
              <a:rPr lang="en-US" sz="3004" spc="96">
                <a:solidFill>
                  <a:srgbClr val="2B4B82"/>
                </a:solidFill>
                <a:latin typeface="DejaVu Serif"/>
                <a:ea typeface="DejaVu Serif"/>
                <a:cs typeface="DejaVu Serif"/>
                <a:sym typeface="DejaVu Serif"/>
              </a:rPr>
              <a:t>+) </a:t>
            </a:r>
            <a:r>
              <a:rPr lang="en-US" sz="3004" spc="96">
                <a:solidFill>
                  <a:srgbClr val="2B4B82"/>
                </a:solidFill>
                <a:latin typeface="DejaVu Serif"/>
                <a:ea typeface="DejaVu Serif"/>
                <a:cs typeface="DejaVu Serif"/>
                <a:sym typeface="DejaVu Serif"/>
              </a:rPr>
              <a:t>LDR: Xử lý cây con bên trái ⟶ dữ liệu nút hiện tại ⟶  xử lý cây con bên phải.</a:t>
            </a:r>
          </a:p>
          <a:p>
            <a:pPr algn="l">
              <a:lnSpc>
                <a:spcPts val="4777"/>
              </a:lnSpc>
            </a:pPr>
            <a:r>
              <a:rPr lang="en-US" sz="3004" spc="96">
                <a:solidFill>
                  <a:srgbClr val="2B4B82"/>
                </a:solidFill>
                <a:latin typeface="DejaVu Serif"/>
                <a:ea typeface="DejaVu Serif"/>
                <a:cs typeface="DejaVu Serif"/>
                <a:sym typeface="DejaVu Serif"/>
              </a:rPr>
              <a:t>+) LRD: Xử lý cây con bên trái ⟶ cây con bên phải ⟶ xử lý dữ liệu nút hiện tại.</a:t>
            </a:r>
          </a:p>
          <a:p>
            <a:pPr algn="l">
              <a:lnSpc>
                <a:spcPts val="4777"/>
              </a:lnSpc>
            </a:pPr>
            <a:r>
              <a:rPr lang="en-US" sz="3004" spc="96">
                <a:solidFill>
                  <a:srgbClr val="2B4B82"/>
                </a:solidFill>
                <a:latin typeface="DejaVu Serif"/>
                <a:ea typeface="DejaVu Serif"/>
                <a:cs typeface="DejaVu Serif"/>
                <a:sym typeface="DejaVu Serif"/>
              </a:rPr>
              <a:t>+) DLR: Xử lý dữ liệu nút hiện tại ⟶ cây con bên trái ⟶ xử lý cây con bên phải.</a:t>
            </a:r>
          </a:p>
          <a:p>
            <a:pPr algn="l">
              <a:lnSpc>
                <a:spcPts val="4777"/>
              </a:lnSpc>
            </a:pPr>
            <a:r>
              <a:rPr lang="en-US" sz="3004" spc="96">
                <a:solidFill>
                  <a:srgbClr val="2B4B82"/>
                </a:solidFill>
                <a:latin typeface="DejaVu Serif"/>
                <a:ea typeface="DejaVu Serif"/>
                <a:cs typeface="DejaVu Serif"/>
                <a:sym typeface="DejaVu Serif"/>
              </a:rPr>
              <a:t>+) DRL: Xử lý dữ liệu nút hiện tại ⟶ cây con bên phải ⟶ xử lý cây con bên trái.</a:t>
            </a:r>
          </a:p>
          <a:p>
            <a:pPr algn="l">
              <a:lnSpc>
                <a:spcPts val="4777"/>
              </a:lnSpc>
            </a:pPr>
            <a:r>
              <a:rPr lang="en-US" sz="3004" spc="96">
                <a:solidFill>
                  <a:srgbClr val="2B4B82"/>
                </a:solidFill>
                <a:latin typeface="DejaVu Serif"/>
                <a:ea typeface="DejaVu Serif"/>
                <a:cs typeface="DejaVu Serif"/>
                <a:sym typeface="DejaVu Serif"/>
              </a:rPr>
              <a:t>+) RDL: Xử lý cây con bên phải ⟶ dữ liệu nút hiện tại ⟶ xử lý cây con bên trái.</a:t>
            </a:r>
          </a:p>
          <a:p>
            <a:pPr algn="l">
              <a:lnSpc>
                <a:spcPts val="4777"/>
              </a:lnSpc>
            </a:pPr>
            <a:r>
              <a:rPr lang="en-US" sz="3004" spc="96">
                <a:solidFill>
                  <a:srgbClr val="2B4B82"/>
                </a:solidFill>
                <a:latin typeface="DejaVu Serif"/>
                <a:ea typeface="DejaVu Serif"/>
                <a:cs typeface="DejaVu Serif"/>
                <a:sym typeface="DejaVu Serif"/>
              </a:rPr>
              <a:t>+) RLD: Xử lý cây con bên phải ⟶ cây con bên trái ⟶ xử lý dữ liệu nút hiện tại.</a:t>
            </a:r>
          </a:p>
          <a:p>
            <a:pPr algn="l">
              <a:lnSpc>
                <a:spcPts val="4777"/>
              </a:lnSpc>
            </a:pPr>
          </a:p>
        </p:txBody>
      </p:sp>
      <p:sp>
        <p:nvSpPr>
          <p:cNvPr name="TextBox 5" id="5"/>
          <p:cNvSpPr txBox="true"/>
          <p:nvPr/>
        </p:nvSpPr>
        <p:spPr>
          <a:xfrm rot="0">
            <a:off x="4194256" y="321636"/>
            <a:ext cx="13965697" cy="913130"/>
          </a:xfrm>
          <a:prstGeom prst="rect">
            <a:avLst/>
          </a:prstGeom>
        </p:spPr>
        <p:txBody>
          <a:bodyPr anchor="t" rtlCol="false" tIns="0" lIns="0" bIns="0" rIns="0">
            <a:spAutoFit/>
          </a:bodyPr>
          <a:lstStyle/>
          <a:p>
            <a:pPr algn="l">
              <a:lnSpc>
                <a:spcPts val="7419"/>
              </a:lnSpc>
            </a:pPr>
            <a:r>
              <a:rPr lang="en-US" sz="5299">
                <a:solidFill>
                  <a:srgbClr val="2B4B82"/>
                </a:solidFill>
                <a:latin typeface="Paytone One"/>
                <a:ea typeface="Paytone One"/>
                <a:cs typeface="Paytone One"/>
                <a:sym typeface="Paytone One"/>
              </a:rPr>
              <a:t>Dựa trên định nghĩa trên, có 6 khả năng</a:t>
            </a:r>
            <a:r>
              <a:rPr lang="en-US" sz="5299">
                <a:solidFill>
                  <a:srgbClr val="000000"/>
                </a:solidFill>
                <a:latin typeface="Paytone One"/>
                <a:ea typeface="Paytone One"/>
                <a:cs typeface="Paytone One"/>
                <a:sym typeface="Paytone One"/>
              </a:rPr>
              <a: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978747" y="6172200"/>
            <a:ext cx="4454452" cy="4114800"/>
          </a:xfrm>
          <a:custGeom>
            <a:avLst/>
            <a:gdLst/>
            <a:ahLst/>
            <a:cxnLst/>
            <a:rect r="r" b="b" t="t" l="l"/>
            <a:pathLst>
              <a:path h="4114800" w="4454452">
                <a:moveTo>
                  <a:pt x="0" y="0"/>
                </a:moveTo>
                <a:lnTo>
                  <a:pt x="4454452" y="0"/>
                </a:lnTo>
                <a:lnTo>
                  <a:pt x="44544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6329949"/>
            <a:ext cx="4759753" cy="4114800"/>
          </a:xfrm>
          <a:custGeom>
            <a:avLst/>
            <a:gdLst/>
            <a:ahLst/>
            <a:cxnLst/>
            <a:rect r="r" b="b" t="t" l="l"/>
            <a:pathLst>
              <a:path h="4114800" w="4759753">
                <a:moveTo>
                  <a:pt x="0" y="0"/>
                </a:moveTo>
                <a:lnTo>
                  <a:pt x="4759753" y="0"/>
                </a:lnTo>
                <a:lnTo>
                  <a:pt x="475975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24756"/>
            <a:ext cx="16230600" cy="6718651"/>
          </a:xfrm>
          <a:prstGeom prst="rect">
            <a:avLst/>
          </a:prstGeom>
        </p:spPr>
        <p:txBody>
          <a:bodyPr anchor="t" rtlCol="false" tIns="0" lIns="0" bIns="0" rIns="0">
            <a:spAutoFit/>
          </a:bodyPr>
          <a:lstStyle/>
          <a:p>
            <a:pPr algn="just">
              <a:lnSpc>
                <a:spcPts val="5364"/>
              </a:lnSpc>
            </a:pPr>
            <a:r>
              <a:rPr lang="en-US" sz="3831" b="true">
                <a:solidFill>
                  <a:srgbClr val="2B4B82"/>
                </a:solidFill>
                <a:latin typeface="DejaVu Serif Bold"/>
                <a:ea typeface="DejaVu Serif Bold"/>
                <a:cs typeface="DejaVu Serif Bold"/>
                <a:sym typeface="DejaVu Serif Bold"/>
              </a:rPr>
              <a:t>*Lưu ý quan trọng: </a:t>
            </a:r>
          </a:p>
          <a:p>
            <a:pPr algn="just">
              <a:lnSpc>
                <a:spcPts val="5364"/>
              </a:lnSpc>
            </a:pPr>
            <a:r>
              <a:rPr lang="en-US" sz="3831">
                <a:solidFill>
                  <a:srgbClr val="2B4B82"/>
                </a:solidFill>
                <a:latin typeface="DejaVu Serif"/>
                <a:ea typeface="DejaVu Serif"/>
                <a:cs typeface="DejaVu Serif"/>
                <a:sym typeface="DejaVu Serif"/>
              </a:rPr>
              <a:t>Vị trí tương đối của L so với R( L bên trái D hay bên phải D, hoặc L nằm bên phải D hay R nằm bên phải D) là không quan trọng. Chỉ quan trọng thứ tự của D, L, R.</a:t>
            </a:r>
          </a:p>
          <a:p>
            <a:pPr algn="just">
              <a:lnSpc>
                <a:spcPts val="5364"/>
              </a:lnSpc>
            </a:pPr>
          </a:p>
          <a:p>
            <a:pPr algn="just">
              <a:lnSpc>
                <a:spcPts val="5364"/>
              </a:lnSpc>
            </a:pPr>
            <a:r>
              <a:rPr lang="en-US" sz="3831">
                <a:solidFill>
                  <a:srgbClr val="2B4B82"/>
                </a:solidFill>
                <a:latin typeface="DejaVu Serif"/>
                <a:ea typeface="DejaVu Serif"/>
                <a:cs typeface="DejaVu Serif"/>
                <a:sym typeface="DejaVu Serif"/>
              </a:rPr>
              <a:t>=&gt; Tổng số 6 khả năng được giảm xuống còn 3 kiểu cơ bản:</a:t>
            </a:r>
          </a:p>
          <a:p>
            <a:pPr algn="just">
              <a:lnSpc>
                <a:spcPts val="5364"/>
              </a:lnSpc>
            </a:pPr>
            <a:r>
              <a:rPr lang="en-US" sz="3831">
                <a:solidFill>
                  <a:srgbClr val="2B4B82"/>
                </a:solidFill>
                <a:latin typeface="DejaVu Serif"/>
                <a:ea typeface="DejaVu Serif"/>
                <a:cs typeface="DejaVu Serif"/>
                <a:sym typeface="DejaVu Serif"/>
              </a:rPr>
              <a:t>   1. Preorder (DLR) Traversal</a:t>
            </a:r>
          </a:p>
          <a:p>
            <a:pPr algn="just">
              <a:lnSpc>
                <a:spcPts val="5364"/>
              </a:lnSpc>
            </a:pPr>
            <a:r>
              <a:rPr lang="en-US" sz="3831">
                <a:solidFill>
                  <a:srgbClr val="2B4B82"/>
                </a:solidFill>
                <a:latin typeface="DejaVu Serif"/>
                <a:ea typeface="DejaVu Serif"/>
                <a:cs typeface="DejaVu Serif"/>
                <a:sym typeface="DejaVu Serif"/>
              </a:rPr>
              <a:t>   2. Inorder (LDR) Traversal</a:t>
            </a:r>
          </a:p>
          <a:p>
            <a:pPr algn="just">
              <a:lnSpc>
                <a:spcPts val="5364"/>
              </a:lnSpc>
            </a:pPr>
            <a:r>
              <a:rPr lang="en-US" sz="3831">
                <a:solidFill>
                  <a:srgbClr val="2B4B82"/>
                </a:solidFill>
                <a:latin typeface="DejaVu Serif"/>
                <a:ea typeface="DejaVu Serif"/>
                <a:cs typeface="DejaVu Serif"/>
                <a:sym typeface="DejaVu Serif"/>
              </a:rPr>
              <a:t>   3. Postorder (LRD) Traversal</a:t>
            </a:r>
          </a:p>
          <a:p>
            <a:pPr algn="just">
              <a:lnSpc>
                <a:spcPts val="536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0256187" y="1607591"/>
            <a:ext cx="7709075" cy="6022715"/>
          </a:xfrm>
          <a:custGeom>
            <a:avLst/>
            <a:gdLst/>
            <a:ahLst/>
            <a:cxnLst/>
            <a:rect r="r" b="b" t="t" l="l"/>
            <a:pathLst>
              <a:path h="6022715" w="7709075">
                <a:moveTo>
                  <a:pt x="0" y="0"/>
                </a:moveTo>
                <a:lnTo>
                  <a:pt x="7709075" y="0"/>
                </a:lnTo>
                <a:lnTo>
                  <a:pt x="7709075" y="6022715"/>
                </a:lnTo>
                <a:lnTo>
                  <a:pt x="0" y="6022715"/>
                </a:lnTo>
                <a:lnTo>
                  <a:pt x="0" y="0"/>
                </a:lnTo>
                <a:close/>
              </a:path>
            </a:pathLst>
          </a:custGeom>
          <a:blipFill>
            <a:blip r:embed="rId2"/>
            <a:stretch>
              <a:fillRect l="0" t="0" r="0" b="0"/>
            </a:stretch>
          </a:blipFill>
          <a:ln w="38100" cap="rnd">
            <a:solidFill>
              <a:srgbClr val="000000"/>
            </a:solidFill>
            <a:prstDash val="solid"/>
            <a:round/>
          </a:ln>
        </p:spPr>
      </p:sp>
      <p:sp>
        <p:nvSpPr>
          <p:cNvPr name="TextBox 3" id="3"/>
          <p:cNvSpPr txBox="true"/>
          <p:nvPr/>
        </p:nvSpPr>
        <p:spPr>
          <a:xfrm rot="0">
            <a:off x="681387" y="1685136"/>
            <a:ext cx="9015016" cy="7501887"/>
          </a:xfrm>
          <a:prstGeom prst="rect">
            <a:avLst/>
          </a:prstGeom>
        </p:spPr>
        <p:txBody>
          <a:bodyPr anchor="t" rtlCol="false" tIns="0" lIns="0" bIns="0" rIns="0">
            <a:spAutoFit/>
          </a:bodyPr>
          <a:lstStyle/>
          <a:p>
            <a:pPr algn="l">
              <a:lnSpc>
                <a:spcPts val="5985"/>
              </a:lnSpc>
            </a:pPr>
            <a:r>
              <a:rPr lang="en-US" sz="4275">
                <a:solidFill>
                  <a:srgbClr val="FFFFFF"/>
                </a:solidFill>
                <a:latin typeface="DejaVu Serif"/>
                <a:ea typeface="DejaVu Serif"/>
                <a:cs typeface="DejaVu Serif"/>
                <a:sym typeface="DejaVu Serif"/>
              </a:rPr>
              <a:t>Ngoài ra, có một phương pháp duyệt khác không phụ thuộc vào các đơn đặt hàng ở trên và đó là:</a:t>
            </a:r>
          </a:p>
          <a:p>
            <a:pPr algn="l">
              <a:lnSpc>
                <a:spcPts val="5985"/>
              </a:lnSpc>
            </a:pPr>
            <a:r>
              <a:rPr lang="en-US" sz="4275">
                <a:solidFill>
                  <a:srgbClr val="FFFFFF"/>
                </a:solidFill>
                <a:latin typeface="DejaVu Serif"/>
                <a:ea typeface="DejaVu Serif"/>
                <a:cs typeface="DejaVu Serif"/>
                <a:sym typeface="DejaVu Serif"/>
              </a:rPr>
              <a:t>  +) Level Order Traversal (Duyệt theo cấp độ): </a:t>
            </a:r>
          </a:p>
          <a:p>
            <a:pPr algn="l">
              <a:lnSpc>
                <a:spcPts val="5985"/>
              </a:lnSpc>
            </a:pPr>
            <a:r>
              <a:rPr lang="en-US" sz="4275">
                <a:solidFill>
                  <a:srgbClr val="FFFFFF"/>
                </a:solidFill>
                <a:latin typeface="DejaVu Serif"/>
                <a:ea typeface="DejaVu Serif"/>
                <a:cs typeface="DejaVu Serif"/>
                <a:sym typeface="DejaVu Serif"/>
              </a:rPr>
              <a:t>Phương pháp này được lấy cảm hứng từ Breadth First Traversal (BFS của các thuật toán Đồ thị).</a:t>
            </a:r>
          </a:p>
          <a:p>
            <a:pPr algn="l">
              <a:lnSpc>
                <a:spcPts val="5985"/>
              </a:lnSpc>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67431" y="847725"/>
            <a:ext cx="16427632" cy="7982269"/>
          </a:xfrm>
          <a:prstGeom prst="rect">
            <a:avLst/>
          </a:prstGeom>
        </p:spPr>
        <p:txBody>
          <a:bodyPr anchor="t" rtlCol="false" tIns="0" lIns="0" bIns="0" rIns="0">
            <a:spAutoFit/>
          </a:bodyPr>
          <a:lstStyle/>
          <a:p>
            <a:pPr algn="just">
              <a:lnSpc>
                <a:spcPts val="6333"/>
              </a:lnSpc>
            </a:pPr>
            <a:r>
              <a:rPr lang="en-US" sz="3769">
                <a:solidFill>
                  <a:srgbClr val="000000"/>
                </a:solidFill>
                <a:latin typeface="Paytone One"/>
                <a:ea typeface="Paytone One"/>
                <a:cs typeface="Paytone One"/>
                <a:sym typeface="Paytone One"/>
              </a:rPr>
              <a:t>3.1) PreOrder Traversal (Duyệt tiền thứ tự)</a:t>
            </a:r>
          </a:p>
          <a:p>
            <a:pPr algn="just">
              <a:lnSpc>
                <a:spcPts val="6333"/>
              </a:lnSpc>
            </a:pPr>
          </a:p>
          <a:p>
            <a:pPr algn="just" marL="749122" indent="-374561" lvl="1">
              <a:lnSpc>
                <a:spcPts val="5829"/>
              </a:lnSpc>
              <a:buFont typeface="Arial"/>
              <a:buChar char="•"/>
            </a:pPr>
            <a:r>
              <a:rPr lang="en-US" sz="3469">
                <a:solidFill>
                  <a:srgbClr val="000000"/>
                </a:solidFill>
                <a:latin typeface="Arial MT Pro"/>
                <a:ea typeface="Arial MT Pro"/>
                <a:cs typeface="Arial MT Pro"/>
                <a:sym typeface="Arial MT Pro"/>
              </a:rPr>
              <a:t>Nguyên tắc: Mỗi nút được xử lý</a:t>
            </a:r>
            <a:r>
              <a:rPr lang="en-US" sz="3469">
                <a:solidFill>
                  <a:srgbClr val="000000"/>
                </a:solidFill>
                <a:latin typeface="Arial MT Pro"/>
                <a:ea typeface="Arial MT Pro"/>
                <a:cs typeface="Arial MT Pro"/>
                <a:sym typeface="Arial MT Pro"/>
              </a:rPr>
              <a:t> trước (tiền) khi xử lý các cây con của nó. </a:t>
            </a:r>
          </a:p>
          <a:p>
            <a:pPr algn="just" marL="749122" indent="-374561" lvl="1">
              <a:lnSpc>
                <a:spcPts val="5829"/>
              </a:lnSpc>
              <a:buFont typeface="Arial"/>
              <a:buChar char="•"/>
            </a:pPr>
            <a:r>
              <a:rPr lang="en-US" sz="3469">
                <a:solidFill>
                  <a:srgbClr val="000000"/>
                </a:solidFill>
                <a:latin typeface="Arial MT Pro"/>
                <a:ea typeface="Arial MT Pro"/>
                <a:cs typeface="Arial MT Pro"/>
                <a:sym typeface="Arial MT Pro"/>
              </a:rPr>
              <a:t>Thứ tự xử lý</a:t>
            </a:r>
          </a:p>
          <a:p>
            <a:pPr algn="just">
              <a:lnSpc>
                <a:spcPts val="5829"/>
              </a:lnSpc>
            </a:pPr>
            <a:r>
              <a:rPr lang="en-US" sz="3469">
                <a:solidFill>
                  <a:srgbClr val="000000"/>
                </a:solidFill>
                <a:latin typeface="Arial MT Pro"/>
                <a:ea typeface="Arial MT Pro"/>
                <a:cs typeface="Arial MT Pro"/>
                <a:sym typeface="Arial MT Pro"/>
              </a:rPr>
              <a:t>     1. D (Data/ Nút gốc): Xử lý nút hiện tại (nút gốc của cây con đang xét)</a:t>
            </a:r>
          </a:p>
          <a:p>
            <a:pPr algn="just">
              <a:lnSpc>
                <a:spcPts val="5829"/>
              </a:lnSpc>
            </a:pPr>
            <a:r>
              <a:rPr lang="en-US" sz="3469">
                <a:solidFill>
                  <a:srgbClr val="000000"/>
                </a:solidFill>
                <a:latin typeface="Arial MT Pro"/>
                <a:ea typeface="Arial MT Pro"/>
                <a:cs typeface="Arial MT Pro"/>
                <a:sym typeface="Arial MT Pro"/>
              </a:rPr>
              <a:t>     2. L (Left/ Cây con trái): Duyệt đệ quy cây con bên trái theo PreOder</a:t>
            </a:r>
          </a:p>
          <a:p>
            <a:pPr algn="just">
              <a:lnSpc>
                <a:spcPts val="5829"/>
              </a:lnSpc>
            </a:pPr>
            <a:r>
              <a:rPr lang="en-US" sz="3469">
                <a:solidFill>
                  <a:srgbClr val="000000"/>
                </a:solidFill>
                <a:latin typeface="Arial MT Pro"/>
                <a:ea typeface="Arial MT Pro"/>
                <a:cs typeface="Arial MT Pro"/>
                <a:sym typeface="Arial MT Pro"/>
              </a:rPr>
              <a:t>     3. R (Right/ Cây con phải): Duyệt đệ quy cây con bên phải theo PreOder</a:t>
            </a:r>
          </a:p>
          <a:p>
            <a:pPr algn="just" marL="749122" indent="-374561" lvl="1">
              <a:lnSpc>
                <a:spcPts val="5829"/>
              </a:lnSpc>
              <a:buFont typeface="Arial"/>
              <a:buChar char="•"/>
            </a:pPr>
            <a:r>
              <a:rPr lang="en-US" sz="3469">
                <a:solidFill>
                  <a:srgbClr val="000000"/>
                </a:solidFill>
                <a:latin typeface="Arial MT Pro"/>
                <a:ea typeface="Arial MT Pro"/>
                <a:cs typeface="Arial MT Pro"/>
                <a:sym typeface="Arial MT Pro"/>
              </a:rPr>
              <a:t>Thường dùng khi cần xử lý nút gốc trước các con của nó (ví dụ như tạo bản sao của cây)</a:t>
            </a:r>
          </a:p>
          <a:p>
            <a:pPr algn="just" marL="749122" indent="-374561" lvl="1">
              <a:lnSpc>
                <a:spcPts val="5829"/>
              </a:lnSpc>
              <a:buFont typeface="Arial"/>
              <a:buChar char="•"/>
            </a:pPr>
            <a:r>
              <a:rPr lang="en-US" sz="3469">
                <a:solidFill>
                  <a:srgbClr val="000000"/>
                </a:solidFill>
                <a:latin typeface="Arial MT Pro"/>
                <a:ea typeface="Arial MT Pro"/>
                <a:cs typeface="Arial MT Pro"/>
                <a:sym typeface="Arial MT Pro"/>
              </a:rPr>
              <a:t>Việc quản lý thông tin quay lại cây con phải thường dùng cấu trúc LIFO (Stack)</a:t>
            </a:r>
          </a:p>
          <a:p>
            <a:pPr algn="just">
              <a:lnSpc>
                <a:spcPts val="414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585254" y="-651711"/>
            <a:ext cx="11554723" cy="10378242"/>
          </a:xfrm>
          <a:custGeom>
            <a:avLst/>
            <a:gdLst/>
            <a:ahLst/>
            <a:cxnLst/>
            <a:rect r="r" b="b" t="t" l="l"/>
            <a:pathLst>
              <a:path h="10378242" w="11554723">
                <a:moveTo>
                  <a:pt x="0" y="0"/>
                </a:moveTo>
                <a:lnTo>
                  <a:pt x="11554723" y="0"/>
                </a:lnTo>
                <a:lnTo>
                  <a:pt x="11554723" y="10378242"/>
                </a:lnTo>
                <a:lnTo>
                  <a:pt x="0" y="10378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32252" y="8632557"/>
            <a:ext cx="8580191" cy="2187949"/>
          </a:xfrm>
          <a:custGeom>
            <a:avLst/>
            <a:gdLst/>
            <a:ahLst/>
            <a:cxnLst/>
            <a:rect r="r" b="b" t="t" l="l"/>
            <a:pathLst>
              <a:path h="2187949" w="8580191">
                <a:moveTo>
                  <a:pt x="0" y="0"/>
                </a:moveTo>
                <a:lnTo>
                  <a:pt x="8580190" y="0"/>
                </a:lnTo>
                <a:lnTo>
                  <a:pt x="8580190" y="2187949"/>
                </a:lnTo>
                <a:lnTo>
                  <a:pt x="0" y="2187949"/>
                </a:lnTo>
                <a:lnTo>
                  <a:pt x="0" y="0"/>
                </a:lnTo>
                <a:close/>
              </a:path>
            </a:pathLst>
          </a:custGeom>
          <a:blipFill>
            <a:blip r:embed="rId4"/>
            <a:stretch>
              <a:fillRect l="0" t="0" r="0" b="0"/>
            </a:stretch>
          </a:blipFill>
        </p:spPr>
      </p:sp>
      <p:sp>
        <p:nvSpPr>
          <p:cNvPr name="TextBox 4" id="4"/>
          <p:cNvSpPr txBox="true"/>
          <p:nvPr/>
        </p:nvSpPr>
        <p:spPr>
          <a:xfrm rot="0">
            <a:off x="4777090" y="1169826"/>
            <a:ext cx="10090515" cy="6368436"/>
          </a:xfrm>
          <a:prstGeom prst="rect">
            <a:avLst/>
          </a:prstGeom>
        </p:spPr>
        <p:txBody>
          <a:bodyPr anchor="t" rtlCol="false" tIns="0" lIns="0" bIns="0" rIns="0">
            <a:spAutoFit/>
          </a:bodyPr>
          <a:lstStyle/>
          <a:p>
            <a:pPr algn="just">
              <a:lnSpc>
                <a:spcPts val="5051"/>
              </a:lnSpc>
            </a:pPr>
            <a:r>
              <a:rPr lang="en-US" sz="3006">
                <a:solidFill>
                  <a:srgbClr val="000000"/>
                </a:solidFill>
                <a:latin typeface="DejaVu Serif"/>
                <a:ea typeface="DejaVu Serif"/>
                <a:cs typeface="DejaVu Serif"/>
                <a:sym typeface="DejaVu Serif"/>
              </a:rPr>
              <a:t>void DuyetNLR(TREE t) //Duyet theo cach DLR </a:t>
            </a:r>
          </a:p>
          <a:p>
            <a:pPr algn="just">
              <a:lnSpc>
                <a:spcPts val="5051"/>
              </a:lnSpc>
            </a:pPr>
            <a:r>
              <a:rPr lang="en-US" sz="3006">
                <a:solidFill>
                  <a:srgbClr val="000000"/>
                </a:solidFill>
                <a:latin typeface="DejaVu Serif"/>
                <a:ea typeface="DejaVu Serif"/>
                <a:cs typeface="DejaVu Serif"/>
                <a:sym typeface="DejaVu Serif"/>
              </a:rPr>
              <a:t>{</a:t>
            </a:r>
          </a:p>
          <a:p>
            <a:pPr algn="just">
              <a:lnSpc>
                <a:spcPts val="5051"/>
              </a:lnSpc>
            </a:pPr>
            <a:r>
              <a:rPr lang="en-US" sz="3006">
                <a:solidFill>
                  <a:srgbClr val="000000"/>
                </a:solidFill>
                <a:latin typeface="DejaVu Serif"/>
                <a:ea typeface="DejaVu Serif"/>
                <a:cs typeface="DejaVu Serif"/>
                <a:sym typeface="DejaVu Serif"/>
              </a:rPr>
              <a:t>  </a:t>
            </a:r>
            <a:r>
              <a:rPr lang="en-US" sz="3006">
                <a:solidFill>
                  <a:srgbClr val="000000"/>
                </a:solidFill>
                <a:latin typeface="DejaVu Serif"/>
                <a:ea typeface="DejaVu Serif"/>
                <a:cs typeface="DejaVu Serif"/>
                <a:sym typeface="DejaVu Serif"/>
              </a:rPr>
              <a:t>if (t != NULL){</a:t>
            </a:r>
          </a:p>
          <a:p>
            <a:pPr algn="just">
              <a:lnSpc>
                <a:spcPts val="5051"/>
              </a:lnSpc>
            </a:pPr>
            <a:r>
              <a:rPr lang="en-US" sz="3006">
                <a:solidFill>
                  <a:srgbClr val="000000"/>
                </a:solidFill>
                <a:latin typeface="DejaVu Serif"/>
                <a:ea typeface="DejaVu Serif"/>
                <a:cs typeface="DejaVu Serif"/>
                <a:sym typeface="DejaVu Serif"/>
              </a:rPr>
              <a:t>      cout &lt;&lt; t-&gt;data &lt;&lt; " ";</a:t>
            </a:r>
          </a:p>
          <a:p>
            <a:pPr algn="just">
              <a:lnSpc>
                <a:spcPts val="5051"/>
              </a:lnSpc>
            </a:pPr>
            <a:r>
              <a:rPr lang="en-US" sz="3006">
                <a:solidFill>
                  <a:srgbClr val="000000"/>
                </a:solidFill>
                <a:latin typeface="DejaVu Serif"/>
                <a:ea typeface="DejaVu Serif"/>
                <a:cs typeface="DejaVu Serif"/>
                <a:sym typeface="DejaVu Serif"/>
              </a:rPr>
              <a:t>      DuyetNLR(t-&gt;Trai);</a:t>
            </a:r>
          </a:p>
          <a:p>
            <a:pPr algn="just">
              <a:lnSpc>
                <a:spcPts val="5051"/>
              </a:lnSpc>
            </a:pPr>
            <a:r>
              <a:rPr lang="en-US" sz="3006">
                <a:solidFill>
                  <a:srgbClr val="000000"/>
                </a:solidFill>
                <a:latin typeface="DejaVu Serif"/>
                <a:ea typeface="DejaVu Serif"/>
                <a:cs typeface="DejaVu Serif"/>
                <a:sym typeface="DejaVu Serif"/>
              </a:rPr>
              <a:t>      DuyetNLR(t-&gt;Phai);</a:t>
            </a:r>
          </a:p>
          <a:p>
            <a:pPr algn="just">
              <a:lnSpc>
                <a:spcPts val="5051"/>
              </a:lnSpc>
            </a:pPr>
            <a:r>
              <a:rPr lang="en-US" sz="3006">
                <a:solidFill>
                  <a:srgbClr val="000000"/>
                </a:solidFill>
                <a:latin typeface="DejaVu Serif"/>
                <a:ea typeface="DejaVu Serif"/>
                <a:cs typeface="DejaVu Serif"/>
                <a:sym typeface="DejaVu Serif"/>
              </a:rPr>
              <a:t>   }</a:t>
            </a:r>
          </a:p>
          <a:p>
            <a:pPr algn="just">
              <a:lnSpc>
                <a:spcPts val="5051"/>
              </a:lnSpc>
            </a:pPr>
            <a:r>
              <a:rPr lang="en-US" sz="3006">
                <a:solidFill>
                  <a:srgbClr val="000000"/>
                </a:solidFill>
                <a:latin typeface="DejaVu Serif"/>
                <a:ea typeface="DejaVu Serif"/>
                <a:cs typeface="DejaVu Serif"/>
                <a:sym typeface="DejaVu Serif"/>
              </a:rPr>
              <a:t> }</a:t>
            </a:r>
          </a:p>
          <a:p>
            <a:pPr algn="just">
              <a:lnSpc>
                <a:spcPts val="5051"/>
              </a:lnSpc>
            </a:pPr>
          </a:p>
          <a:p>
            <a:pPr algn="just">
              <a:lnSpc>
                <a:spcPts val="5051"/>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2443088" y="-1095217"/>
            <a:ext cx="6414740" cy="6631780"/>
          </a:xfrm>
          <a:custGeom>
            <a:avLst/>
            <a:gdLst/>
            <a:ahLst/>
            <a:cxnLst/>
            <a:rect r="r" b="b" t="t" l="l"/>
            <a:pathLst>
              <a:path h="6631780" w="641474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93843" y="251550"/>
            <a:ext cx="11949245" cy="9183370"/>
          </a:xfrm>
          <a:prstGeom prst="rect">
            <a:avLst/>
          </a:prstGeom>
        </p:spPr>
        <p:txBody>
          <a:bodyPr anchor="t" rtlCol="false" tIns="0" lIns="0" bIns="0" rIns="0">
            <a:spAutoFit/>
          </a:bodyPr>
          <a:lstStyle/>
          <a:p>
            <a:pPr algn="l">
              <a:lnSpc>
                <a:spcPts val="5599"/>
              </a:lnSpc>
            </a:pPr>
            <a:r>
              <a:rPr lang="en-US" sz="3999">
                <a:solidFill>
                  <a:srgbClr val="2B4B82"/>
                </a:solidFill>
                <a:latin typeface="Paytone One"/>
                <a:ea typeface="Paytone One"/>
                <a:cs typeface="Paytone One"/>
                <a:sym typeface="Paytone One"/>
              </a:rPr>
              <a:t>3.3 PostOrder Traversal  (Duyệt Hậu Thứ Tự)</a:t>
            </a:r>
          </a:p>
          <a:p>
            <a:pPr algn="l">
              <a:lnSpc>
                <a:spcPts val="5599"/>
              </a:lnSpc>
            </a:pPr>
          </a:p>
          <a:p>
            <a:pPr algn="l" marL="734059" indent="-367030" lvl="1">
              <a:lnSpc>
                <a:spcPts val="4759"/>
              </a:lnSpc>
              <a:buFont typeface="Arial"/>
              <a:buChar char="•"/>
            </a:pPr>
            <a:r>
              <a:rPr lang="en-US" sz="3399">
                <a:solidFill>
                  <a:srgbClr val="2B4B82"/>
                </a:solidFill>
                <a:latin typeface="DejaVu Serif"/>
                <a:ea typeface="DejaVu Serif"/>
                <a:cs typeface="DejaVu Serif"/>
                <a:sym typeface="DejaVu Serif"/>
              </a:rPr>
              <a:t>Nguyên tắc: Mỗi nút được xử lý sau (hậu) khi xử lý tất cả các cây con của nó</a:t>
            </a:r>
          </a:p>
          <a:p>
            <a:pPr algn="l">
              <a:lnSpc>
                <a:spcPts val="4759"/>
              </a:lnSpc>
            </a:pPr>
          </a:p>
          <a:p>
            <a:pPr algn="l" marL="734059" indent="-367030" lvl="1">
              <a:lnSpc>
                <a:spcPts val="4759"/>
              </a:lnSpc>
              <a:buFont typeface="Arial"/>
              <a:buChar char="•"/>
            </a:pPr>
            <a:r>
              <a:rPr lang="en-US" sz="3399">
                <a:solidFill>
                  <a:srgbClr val="2B4B82"/>
                </a:solidFill>
                <a:latin typeface="DejaVu Serif"/>
                <a:ea typeface="DejaVu Serif"/>
                <a:cs typeface="DejaVu Serif"/>
                <a:sym typeface="DejaVu Serif"/>
              </a:rPr>
              <a:t>Thứ tự xử lý (LRD):</a:t>
            </a:r>
          </a:p>
          <a:p>
            <a:pPr algn="l">
              <a:lnSpc>
                <a:spcPts val="4759"/>
              </a:lnSpc>
            </a:pPr>
            <a:r>
              <a:rPr lang="en-US" sz="3399">
                <a:solidFill>
                  <a:srgbClr val="2B4B82"/>
                </a:solidFill>
                <a:latin typeface="DejaVu Serif"/>
                <a:ea typeface="DejaVu Serif"/>
                <a:cs typeface="DejaVu Serif"/>
                <a:sym typeface="DejaVu Serif"/>
              </a:rPr>
              <a:t>     1. L (Left/Cây con trái): Duyệt đệ quy cây con bên   trái theo PostOrder.</a:t>
            </a:r>
          </a:p>
          <a:p>
            <a:pPr algn="l">
              <a:lnSpc>
                <a:spcPts val="4759"/>
              </a:lnSpc>
            </a:pPr>
            <a:r>
              <a:rPr lang="en-US" sz="3399">
                <a:solidFill>
                  <a:srgbClr val="2B4B82"/>
                </a:solidFill>
                <a:latin typeface="DejaVu Serif"/>
                <a:ea typeface="DejaVu Serif"/>
                <a:cs typeface="DejaVu Serif"/>
                <a:sym typeface="DejaVu Serif"/>
              </a:rPr>
              <a:t>     2. </a:t>
            </a:r>
            <a:r>
              <a:rPr lang="en-US" sz="3399">
                <a:solidFill>
                  <a:srgbClr val="2B4B82"/>
                </a:solidFill>
                <a:latin typeface="DejaVu Serif"/>
                <a:ea typeface="DejaVu Serif"/>
                <a:cs typeface="DejaVu Serif"/>
                <a:sym typeface="DejaVu Serif"/>
              </a:rPr>
              <a:t>R (Right/Cây con phải): Duyệt đệ quy cây con bên phải theo PostOrder.</a:t>
            </a:r>
          </a:p>
          <a:p>
            <a:pPr algn="l">
              <a:lnSpc>
                <a:spcPts val="4759"/>
              </a:lnSpc>
            </a:pPr>
            <a:r>
              <a:rPr lang="en-US" sz="3399">
                <a:solidFill>
                  <a:srgbClr val="2B4B82"/>
                </a:solidFill>
                <a:latin typeface="DejaVu Serif"/>
                <a:ea typeface="DejaVu Serif"/>
                <a:cs typeface="DejaVu Serif"/>
                <a:sym typeface="DejaVu Serif"/>
              </a:rPr>
              <a:t>     3. </a:t>
            </a:r>
            <a:r>
              <a:rPr lang="en-US" sz="3399">
                <a:solidFill>
                  <a:srgbClr val="2B4B82"/>
                </a:solidFill>
                <a:latin typeface="DejaVu Serif"/>
                <a:ea typeface="DejaVu Serif"/>
                <a:cs typeface="DejaVu Serif"/>
                <a:sym typeface="DejaVu Serif"/>
              </a:rPr>
              <a:t>D (Data/Nút gốc): Xử lý nút hiện tại (nút gốc của cây con đang xét).</a:t>
            </a:r>
          </a:p>
          <a:p>
            <a:pPr algn="l">
              <a:lnSpc>
                <a:spcPts val="4759"/>
              </a:lnSpc>
            </a:pPr>
          </a:p>
          <a:p>
            <a:pPr algn="l" marL="734059" indent="-367030" lvl="1">
              <a:lnSpc>
                <a:spcPts val="4759"/>
              </a:lnSpc>
              <a:buFont typeface="Arial"/>
              <a:buChar char="•"/>
            </a:pPr>
            <a:r>
              <a:rPr lang="en-US" sz="3399">
                <a:solidFill>
                  <a:srgbClr val="2B4B82"/>
                </a:solidFill>
                <a:latin typeface="DejaVu Serif"/>
                <a:ea typeface="DejaVu Serif"/>
                <a:cs typeface="DejaVu Serif"/>
                <a:sym typeface="DejaVu Serif"/>
              </a:rPr>
              <a:t>Thường dùng để giải phóng bộ nhớ của cây, tính toán biểu thức).</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585254" y="-651711"/>
            <a:ext cx="11554723" cy="10378242"/>
          </a:xfrm>
          <a:custGeom>
            <a:avLst/>
            <a:gdLst/>
            <a:ahLst/>
            <a:cxnLst/>
            <a:rect r="r" b="b" t="t" l="l"/>
            <a:pathLst>
              <a:path h="10378242" w="11554723">
                <a:moveTo>
                  <a:pt x="0" y="0"/>
                </a:moveTo>
                <a:lnTo>
                  <a:pt x="11554723" y="0"/>
                </a:lnTo>
                <a:lnTo>
                  <a:pt x="11554723" y="10378242"/>
                </a:lnTo>
                <a:lnTo>
                  <a:pt x="0" y="10378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32252" y="8632557"/>
            <a:ext cx="8580191" cy="2187949"/>
          </a:xfrm>
          <a:custGeom>
            <a:avLst/>
            <a:gdLst/>
            <a:ahLst/>
            <a:cxnLst/>
            <a:rect r="r" b="b" t="t" l="l"/>
            <a:pathLst>
              <a:path h="2187949" w="8580191">
                <a:moveTo>
                  <a:pt x="0" y="0"/>
                </a:moveTo>
                <a:lnTo>
                  <a:pt x="8580190" y="0"/>
                </a:lnTo>
                <a:lnTo>
                  <a:pt x="8580190" y="2187949"/>
                </a:lnTo>
                <a:lnTo>
                  <a:pt x="0" y="2187949"/>
                </a:lnTo>
                <a:lnTo>
                  <a:pt x="0" y="0"/>
                </a:lnTo>
                <a:close/>
              </a:path>
            </a:pathLst>
          </a:custGeom>
          <a:blipFill>
            <a:blip r:embed="rId4"/>
            <a:stretch>
              <a:fillRect l="0" t="0" r="0" b="0"/>
            </a:stretch>
          </a:blipFill>
        </p:spPr>
      </p:sp>
      <p:sp>
        <p:nvSpPr>
          <p:cNvPr name="TextBox 4" id="4"/>
          <p:cNvSpPr txBox="true"/>
          <p:nvPr/>
        </p:nvSpPr>
        <p:spPr>
          <a:xfrm rot="0">
            <a:off x="4500833" y="79784"/>
            <a:ext cx="10165345" cy="7498771"/>
          </a:xfrm>
          <a:prstGeom prst="rect">
            <a:avLst/>
          </a:prstGeom>
        </p:spPr>
        <p:txBody>
          <a:bodyPr anchor="t" rtlCol="false" tIns="0" lIns="0" bIns="0" rIns="0">
            <a:spAutoFit/>
          </a:bodyPr>
          <a:lstStyle/>
          <a:p>
            <a:pPr algn="just">
              <a:lnSpc>
                <a:spcPts val="5440"/>
              </a:lnSpc>
            </a:pPr>
            <a:r>
              <a:rPr lang="en-US" sz="3238" spc="-32">
                <a:solidFill>
                  <a:srgbClr val="000000"/>
                </a:solidFill>
                <a:latin typeface="DejaVu Serif"/>
                <a:ea typeface="DejaVu Serif"/>
                <a:cs typeface="DejaVu Serif"/>
                <a:sym typeface="DejaVu Serif"/>
              </a:rPr>
              <a:t>void DuyetLRN(TREE t) //Duyet theo cach LRN </a:t>
            </a:r>
          </a:p>
          <a:p>
            <a:pPr algn="just">
              <a:lnSpc>
                <a:spcPts val="5440"/>
              </a:lnSpc>
            </a:pPr>
            <a:r>
              <a:rPr lang="en-US" sz="3238" spc="-32">
                <a:solidFill>
                  <a:srgbClr val="000000"/>
                </a:solidFill>
                <a:latin typeface="DejaVu Serif"/>
                <a:ea typeface="DejaVu Serif"/>
                <a:cs typeface="DejaVu Serif"/>
                <a:sym typeface="DejaVu Serif"/>
              </a:rPr>
              <a:t>{</a:t>
            </a:r>
          </a:p>
          <a:p>
            <a:pPr algn="just">
              <a:lnSpc>
                <a:spcPts val="5440"/>
              </a:lnSpc>
            </a:pPr>
            <a:r>
              <a:rPr lang="en-US" sz="3238" spc="-32">
                <a:solidFill>
                  <a:srgbClr val="000000"/>
                </a:solidFill>
                <a:latin typeface="DejaVu Serif"/>
                <a:ea typeface="DejaVu Serif"/>
                <a:cs typeface="DejaVu Serif"/>
                <a:sym typeface="DejaVu Serif"/>
              </a:rPr>
              <a:t> if (t != NULL)</a:t>
            </a:r>
          </a:p>
          <a:p>
            <a:pPr algn="just">
              <a:lnSpc>
                <a:spcPts val="5440"/>
              </a:lnSpc>
            </a:pPr>
            <a:r>
              <a:rPr lang="en-US" sz="3238" spc="-32">
                <a:solidFill>
                  <a:srgbClr val="000000"/>
                </a:solidFill>
                <a:latin typeface="DejaVu Serif"/>
                <a:ea typeface="DejaVu Serif"/>
                <a:cs typeface="DejaVu Serif"/>
                <a:sym typeface="DejaVu Serif"/>
              </a:rPr>
              <a:t> {</a:t>
            </a:r>
          </a:p>
          <a:p>
            <a:pPr algn="just">
              <a:lnSpc>
                <a:spcPts val="5440"/>
              </a:lnSpc>
            </a:pPr>
            <a:r>
              <a:rPr lang="en-US" sz="3238" spc="-32">
                <a:solidFill>
                  <a:srgbClr val="000000"/>
                </a:solidFill>
                <a:latin typeface="DejaVu Serif"/>
                <a:ea typeface="DejaVu Serif"/>
                <a:cs typeface="DejaVu Serif"/>
                <a:sym typeface="DejaVu Serif"/>
              </a:rPr>
              <a:t> DuyetLRN(t-&gt;Trai);</a:t>
            </a:r>
          </a:p>
          <a:p>
            <a:pPr algn="just">
              <a:lnSpc>
                <a:spcPts val="5440"/>
              </a:lnSpc>
            </a:pPr>
            <a:r>
              <a:rPr lang="en-US" sz="3238" spc="-32">
                <a:solidFill>
                  <a:srgbClr val="000000"/>
                </a:solidFill>
                <a:latin typeface="DejaVu Serif"/>
                <a:ea typeface="DejaVu Serif"/>
                <a:cs typeface="DejaVu Serif"/>
                <a:sym typeface="DejaVu Serif"/>
              </a:rPr>
              <a:t> DuyetLRN(t-&gt;Phai);</a:t>
            </a:r>
          </a:p>
          <a:p>
            <a:pPr algn="just">
              <a:lnSpc>
                <a:spcPts val="5440"/>
              </a:lnSpc>
            </a:pPr>
            <a:r>
              <a:rPr lang="en-US" sz="3238" spc="-32">
                <a:solidFill>
                  <a:srgbClr val="000000"/>
                </a:solidFill>
                <a:latin typeface="DejaVu Serif"/>
                <a:ea typeface="DejaVu Serif"/>
                <a:cs typeface="DejaVu Serif"/>
                <a:sym typeface="DejaVu Serif"/>
              </a:rPr>
              <a:t> cout &lt;&lt; t-&gt;data &lt;&lt; " ";</a:t>
            </a:r>
          </a:p>
          <a:p>
            <a:pPr algn="just">
              <a:lnSpc>
                <a:spcPts val="5440"/>
              </a:lnSpc>
            </a:pPr>
            <a:r>
              <a:rPr lang="en-US" sz="3238" spc="-32">
                <a:solidFill>
                  <a:srgbClr val="000000"/>
                </a:solidFill>
                <a:latin typeface="DejaVu Serif"/>
                <a:ea typeface="DejaVu Serif"/>
                <a:cs typeface="DejaVu Serif"/>
                <a:sym typeface="DejaVu Serif"/>
              </a:rPr>
              <a:t> }</a:t>
            </a:r>
          </a:p>
          <a:p>
            <a:pPr algn="just">
              <a:lnSpc>
                <a:spcPts val="5440"/>
              </a:lnSpc>
            </a:pPr>
            <a:r>
              <a:rPr lang="en-US" sz="3238" spc="-32">
                <a:solidFill>
                  <a:srgbClr val="000000"/>
                </a:solidFill>
                <a:latin typeface="DejaVu Serif"/>
                <a:ea typeface="DejaVu Serif"/>
                <a:cs typeface="DejaVu Serif"/>
                <a:sym typeface="DejaVu Serif"/>
              </a:rPr>
              <a:t>}</a:t>
            </a:r>
          </a:p>
          <a:p>
            <a:pPr algn="just">
              <a:lnSpc>
                <a:spcPts val="5440"/>
              </a:lnSpc>
            </a:pPr>
          </a:p>
          <a:p>
            <a:pPr algn="just">
              <a:lnSpc>
                <a:spcPts val="544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445239" y="1921834"/>
            <a:ext cx="11600810" cy="7906063"/>
          </a:xfrm>
          <a:prstGeom prst="rect">
            <a:avLst/>
          </a:prstGeom>
        </p:spPr>
        <p:txBody>
          <a:bodyPr anchor="t" rtlCol="false" tIns="0" lIns="0" bIns="0" rIns="0">
            <a:spAutoFit/>
          </a:bodyPr>
          <a:lstStyle/>
          <a:p>
            <a:pPr algn="just" marL="678310" indent="-339155" lvl="1">
              <a:lnSpc>
                <a:spcPts val="5278"/>
              </a:lnSpc>
              <a:buFont typeface="Arial"/>
              <a:buChar char="•"/>
            </a:pPr>
            <a:r>
              <a:rPr lang="en-US" sz="3141">
                <a:solidFill>
                  <a:srgbClr val="000000"/>
                </a:solidFill>
                <a:latin typeface="DejaVu Serif"/>
                <a:ea typeface="DejaVu Serif"/>
                <a:cs typeface="DejaVu Serif"/>
                <a:sym typeface="DejaVu Serif"/>
              </a:rPr>
              <a:t>Nguyên</a:t>
            </a:r>
            <a:r>
              <a:rPr lang="en-US" sz="3141">
                <a:solidFill>
                  <a:srgbClr val="000000"/>
                </a:solidFill>
                <a:latin typeface="DejaVu Serif"/>
                <a:ea typeface="DejaVu Serif"/>
                <a:cs typeface="DejaVu Serif"/>
                <a:sym typeface="DejaVu Serif"/>
              </a:rPr>
              <a:t> tắc: Mỗi nút được xử lý giữa (trung) cây con trái và cây con phải của nó.</a:t>
            </a:r>
          </a:p>
          <a:p>
            <a:pPr algn="just" marL="678310" indent="-339155" lvl="1">
              <a:lnSpc>
                <a:spcPts val="5278"/>
              </a:lnSpc>
              <a:buFont typeface="Arial"/>
              <a:buChar char="•"/>
            </a:pPr>
            <a:r>
              <a:rPr lang="en-US" sz="3141">
                <a:solidFill>
                  <a:srgbClr val="000000"/>
                </a:solidFill>
                <a:latin typeface="DejaVu Serif"/>
                <a:ea typeface="DejaVu Serif"/>
                <a:cs typeface="DejaVu Serif"/>
                <a:sym typeface="DejaVu Serif"/>
              </a:rPr>
              <a:t>Thứ tự xử lý (LDR):</a:t>
            </a:r>
          </a:p>
          <a:p>
            <a:pPr algn="just">
              <a:lnSpc>
                <a:spcPts val="5278"/>
              </a:lnSpc>
            </a:pPr>
            <a:r>
              <a:rPr lang="en-US" sz="3141">
                <a:solidFill>
                  <a:srgbClr val="000000"/>
                </a:solidFill>
                <a:latin typeface="DejaVu Serif"/>
                <a:ea typeface="DejaVu Serif"/>
                <a:cs typeface="DejaVu Serif"/>
                <a:sym typeface="DejaVu Serif"/>
              </a:rPr>
              <a:t>     1. L (Left/Cây con trái): Duyệt đệ quy cây con bên trái theo InOrder.</a:t>
            </a:r>
          </a:p>
          <a:p>
            <a:pPr algn="just">
              <a:lnSpc>
                <a:spcPts val="5278"/>
              </a:lnSpc>
            </a:pPr>
            <a:r>
              <a:rPr lang="en-US" sz="3141">
                <a:solidFill>
                  <a:srgbClr val="000000"/>
                </a:solidFill>
                <a:latin typeface="DejaVu Serif"/>
                <a:ea typeface="DejaVu Serif"/>
                <a:cs typeface="DejaVu Serif"/>
                <a:sym typeface="DejaVu Serif"/>
              </a:rPr>
              <a:t>    2. </a:t>
            </a:r>
            <a:r>
              <a:rPr lang="en-US" sz="3141">
                <a:solidFill>
                  <a:srgbClr val="000000"/>
                </a:solidFill>
                <a:latin typeface="DejaVu Serif"/>
                <a:ea typeface="DejaVu Serif"/>
                <a:cs typeface="DejaVu Serif"/>
                <a:sym typeface="DejaVu Serif"/>
              </a:rPr>
              <a:t>D (Data/Nút gốc): Xử lý nút hiện tại (nút gốc của cây con đang xét).</a:t>
            </a:r>
          </a:p>
          <a:p>
            <a:pPr algn="just">
              <a:lnSpc>
                <a:spcPts val="5278"/>
              </a:lnSpc>
            </a:pPr>
            <a:r>
              <a:rPr lang="en-US" sz="3141">
                <a:solidFill>
                  <a:srgbClr val="000000"/>
                </a:solidFill>
                <a:latin typeface="DejaVu Serif"/>
                <a:ea typeface="DejaVu Serif"/>
                <a:cs typeface="DejaVu Serif"/>
                <a:sym typeface="DejaVu Serif"/>
              </a:rPr>
              <a:t>     3. </a:t>
            </a:r>
            <a:r>
              <a:rPr lang="en-US" sz="3141">
                <a:solidFill>
                  <a:srgbClr val="000000"/>
                </a:solidFill>
                <a:latin typeface="DejaVu Serif"/>
                <a:ea typeface="DejaVu Serif"/>
                <a:cs typeface="DejaVu Serif"/>
                <a:sym typeface="DejaVu Serif"/>
              </a:rPr>
              <a:t>R (Right/Cây con phải): Duyệt đệ quy cây con bên phải theo InOrder.</a:t>
            </a:r>
          </a:p>
          <a:p>
            <a:pPr algn="just" marL="678310" indent="-339155" lvl="1">
              <a:lnSpc>
                <a:spcPts val="5278"/>
              </a:lnSpc>
              <a:buFont typeface="Arial"/>
              <a:buChar char="•"/>
            </a:pPr>
            <a:r>
              <a:rPr lang="en-US" sz="3141">
                <a:solidFill>
                  <a:srgbClr val="000000"/>
                </a:solidFill>
                <a:latin typeface="DejaVu Serif"/>
                <a:ea typeface="DejaVu Serif"/>
                <a:cs typeface="DejaVu Serif"/>
                <a:sym typeface="DejaVu Serif"/>
              </a:rPr>
              <a:t>Thường dùng để lấy ra danh sách các phần tử đã sắp xếp từ BST hoặc để kiểm tra xem một cây có phải là BST hợp lệ không</a:t>
            </a:r>
          </a:p>
        </p:txBody>
      </p:sp>
      <p:sp>
        <p:nvSpPr>
          <p:cNvPr name="Freeform 3" id="3"/>
          <p:cNvSpPr/>
          <p:nvPr/>
        </p:nvSpPr>
        <p:spPr>
          <a:xfrm flipH="false" flipV="false" rot="0">
            <a:off x="12046049" y="3028633"/>
            <a:ext cx="6507825" cy="4229733"/>
          </a:xfrm>
          <a:custGeom>
            <a:avLst/>
            <a:gdLst/>
            <a:ahLst/>
            <a:cxnLst/>
            <a:rect r="r" b="b" t="t" l="l"/>
            <a:pathLst>
              <a:path h="4229733" w="6507825">
                <a:moveTo>
                  <a:pt x="0" y="0"/>
                </a:moveTo>
                <a:lnTo>
                  <a:pt x="6507825" y="0"/>
                </a:lnTo>
                <a:lnTo>
                  <a:pt x="6507825" y="4229734"/>
                </a:lnTo>
                <a:lnTo>
                  <a:pt x="0" y="4229734"/>
                </a:lnTo>
                <a:lnTo>
                  <a:pt x="0" y="0"/>
                </a:lnTo>
                <a:close/>
              </a:path>
            </a:pathLst>
          </a:custGeom>
          <a:blipFill>
            <a:blip r:embed="rId2"/>
            <a:stretch>
              <a:fillRect l="-976" t="0" r="-976" b="0"/>
            </a:stretch>
          </a:blipFill>
        </p:spPr>
      </p:sp>
      <p:sp>
        <p:nvSpPr>
          <p:cNvPr name="TextBox 4" id="4"/>
          <p:cNvSpPr txBox="true"/>
          <p:nvPr/>
        </p:nvSpPr>
        <p:spPr>
          <a:xfrm rot="0">
            <a:off x="445239" y="838200"/>
            <a:ext cx="13645659" cy="828284"/>
          </a:xfrm>
          <a:prstGeom prst="rect">
            <a:avLst/>
          </a:prstGeom>
        </p:spPr>
        <p:txBody>
          <a:bodyPr anchor="t" rtlCol="false" tIns="0" lIns="0" bIns="0" rIns="0">
            <a:spAutoFit/>
          </a:bodyPr>
          <a:lstStyle/>
          <a:p>
            <a:pPr algn="just">
              <a:lnSpc>
                <a:spcPts val="7098"/>
              </a:lnSpc>
            </a:pPr>
            <a:r>
              <a:rPr lang="en-US" sz="4225">
                <a:solidFill>
                  <a:srgbClr val="000000"/>
                </a:solidFill>
                <a:latin typeface="Paytone One"/>
                <a:ea typeface="Paytone One"/>
                <a:cs typeface="Paytone One"/>
                <a:sym typeface="Paytone One"/>
              </a:rPr>
              <a:t>3.4  InOrder Traversal (Duyệt Trung Thứ Tự)</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585254" y="-651711"/>
            <a:ext cx="11554723" cy="10378242"/>
          </a:xfrm>
          <a:custGeom>
            <a:avLst/>
            <a:gdLst/>
            <a:ahLst/>
            <a:cxnLst/>
            <a:rect r="r" b="b" t="t" l="l"/>
            <a:pathLst>
              <a:path h="10378242" w="11554723">
                <a:moveTo>
                  <a:pt x="0" y="0"/>
                </a:moveTo>
                <a:lnTo>
                  <a:pt x="11554723" y="0"/>
                </a:lnTo>
                <a:lnTo>
                  <a:pt x="11554723" y="10378242"/>
                </a:lnTo>
                <a:lnTo>
                  <a:pt x="0" y="10378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32252" y="8632557"/>
            <a:ext cx="8580191" cy="2187949"/>
          </a:xfrm>
          <a:custGeom>
            <a:avLst/>
            <a:gdLst/>
            <a:ahLst/>
            <a:cxnLst/>
            <a:rect r="r" b="b" t="t" l="l"/>
            <a:pathLst>
              <a:path h="2187949" w="8580191">
                <a:moveTo>
                  <a:pt x="0" y="0"/>
                </a:moveTo>
                <a:lnTo>
                  <a:pt x="8580190" y="0"/>
                </a:lnTo>
                <a:lnTo>
                  <a:pt x="8580190" y="2187949"/>
                </a:lnTo>
                <a:lnTo>
                  <a:pt x="0" y="2187949"/>
                </a:lnTo>
                <a:lnTo>
                  <a:pt x="0" y="0"/>
                </a:lnTo>
                <a:close/>
              </a:path>
            </a:pathLst>
          </a:custGeom>
          <a:blipFill>
            <a:blip r:embed="rId4"/>
            <a:stretch>
              <a:fillRect l="0" t="0" r="0" b="0"/>
            </a:stretch>
          </a:blipFill>
        </p:spPr>
      </p:sp>
      <p:sp>
        <p:nvSpPr>
          <p:cNvPr name="TextBox 4" id="4"/>
          <p:cNvSpPr txBox="true"/>
          <p:nvPr/>
        </p:nvSpPr>
        <p:spPr>
          <a:xfrm rot="0">
            <a:off x="4061327" y="447986"/>
            <a:ext cx="10165345" cy="7498771"/>
          </a:xfrm>
          <a:prstGeom prst="rect">
            <a:avLst/>
          </a:prstGeom>
        </p:spPr>
        <p:txBody>
          <a:bodyPr anchor="t" rtlCol="false" tIns="0" lIns="0" bIns="0" rIns="0">
            <a:spAutoFit/>
          </a:bodyPr>
          <a:lstStyle/>
          <a:p>
            <a:pPr algn="just">
              <a:lnSpc>
                <a:spcPts val="5440"/>
              </a:lnSpc>
            </a:pPr>
            <a:r>
              <a:rPr lang="en-US" sz="3238" spc="-32">
                <a:solidFill>
                  <a:srgbClr val="000000"/>
                </a:solidFill>
                <a:latin typeface="DejaVu Serif"/>
                <a:ea typeface="DejaVu Serif"/>
                <a:cs typeface="DejaVu Serif"/>
                <a:sym typeface="DejaVu Serif"/>
              </a:rPr>
              <a:t>void DuyetLNR(TREE t) //Duyet theo cach LNR </a:t>
            </a:r>
          </a:p>
          <a:p>
            <a:pPr algn="just">
              <a:lnSpc>
                <a:spcPts val="5440"/>
              </a:lnSpc>
            </a:pPr>
            <a:r>
              <a:rPr lang="en-US" sz="3238" spc="-32">
                <a:solidFill>
                  <a:srgbClr val="000000"/>
                </a:solidFill>
                <a:latin typeface="DejaVu Serif"/>
                <a:ea typeface="DejaVu Serif"/>
                <a:cs typeface="DejaVu Serif"/>
                <a:sym typeface="DejaVu Serif"/>
              </a:rPr>
              <a:t>{</a:t>
            </a:r>
          </a:p>
          <a:p>
            <a:pPr algn="just">
              <a:lnSpc>
                <a:spcPts val="5440"/>
              </a:lnSpc>
            </a:pPr>
            <a:r>
              <a:rPr lang="en-US" sz="3238" spc="-32">
                <a:solidFill>
                  <a:srgbClr val="000000"/>
                </a:solidFill>
                <a:latin typeface="DejaVu Serif"/>
                <a:ea typeface="DejaVu Serif"/>
                <a:cs typeface="DejaVu Serif"/>
                <a:sym typeface="DejaVu Serif"/>
              </a:rPr>
              <a:t>    </a:t>
            </a:r>
            <a:r>
              <a:rPr lang="en-US" sz="3238" spc="-32">
                <a:solidFill>
                  <a:srgbClr val="000000"/>
                </a:solidFill>
                <a:latin typeface="DejaVu Serif"/>
                <a:ea typeface="DejaVu Serif"/>
                <a:cs typeface="DejaVu Serif"/>
                <a:sym typeface="DejaVu Serif"/>
              </a:rPr>
              <a:t>if (t != NULL)</a:t>
            </a:r>
          </a:p>
          <a:p>
            <a:pPr algn="just">
              <a:lnSpc>
                <a:spcPts val="5440"/>
              </a:lnSpc>
            </a:pPr>
            <a:r>
              <a:rPr lang="en-US" sz="3238" spc="-32">
                <a:solidFill>
                  <a:srgbClr val="000000"/>
                </a:solidFill>
                <a:latin typeface="DejaVu Serif"/>
                <a:ea typeface="DejaVu Serif"/>
                <a:cs typeface="DejaVu Serif"/>
                <a:sym typeface="DejaVu Serif"/>
              </a:rPr>
              <a:t>   {</a:t>
            </a:r>
          </a:p>
          <a:p>
            <a:pPr algn="just">
              <a:lnSpc>
                <a:spcPts val="5440"/>
              </a:lnSpc>
            </a:pPr>
            <a:r>
              <a:rPr lang="en-US" sz="3238" spc="-32">
                <a:solidFill>
                  <a:srgbClr val="000000"/>
                </a:solidFill>
                <a:latin typeface="DejaVu Serif"/>
                <a:ea typeface="DejaVu Serif"/>
                <a:cs typeface="DejaVu Serif"/>
                <a:sym typeface="DejaVu Serif"/>
              </a:rPr>
              <a:t>      Duy</a:t>
            </a:r>
            <a:r>
              <a:rPr lang="en-US" sz="3238" spc="-32">
                <a:solidFill>
                  <a:srgbClr val="000000"/>
                </a:solidFill>
                <a:latin typeface="DejaVu Serif"/>
                <a:ea typeface="DejaVu Serif"/>
                <a:cs typeface="DejaVu Serif"/>
                <a:sym typeface="DejaVu Serif"/>
              </a:rPr>
              <a:t>etLNR(t-&gt;Trai);</a:t>
            </a:r>
          </a:p>
          <a:p>
            <a:pPr algn="just">
              <a:lnSpc>
                <a:spcPts val="5440"/>
              </a:lnSpc>
            </a:pPr>
            <a:r>
              <a:rPr lang="en-US" sz="3238" spc="-32">
                <a:solidFill>
                  <a:srgbClr val="000000"/>
                </a:solidFill>
                <a:latin typeface="DejaVu Serif"/>
                <a:ea typeface="DejaVu Serif"/>
                <a:cs typeface="DejaVu Serif"/>
                <a:sym typeface="DejaVu Serif"/>
              </a:rPr>
              <a:t>      cout &lt;&lt;</a:t>
            </a:r>
            <a:r>
              <a:rPr lang="en-US" sz="3238" spc="-32">
                <a:solidFill>
                  <a:srgbClr val="000000"/>
                </a:solidFill>
                <a:latin typeface="DejaVu Serif"/>
                <a:ea typeface="DejaVu Serif"/>
                <a:cs typeface="DejaVu Serif"/>
                <a:sym typeface="DejaVu Serif"/>
              </a:rPr>
              <a:t> t-&gt;data &lt;&lt; " ";</a:t>
            </a:r>
          </a:p>
          <a:p>
            <a:pPr algn="just">
              <a:lnSpc>
                <a:spcPts val="5440"/>
              </a:lnSpc>
            </a:pPr>
            <a:r>
              <a:rPr lang="en-US" sz="3238" spc="-32">
                <a:solidFill>
                  <a:srgbClr val="000000"/>
                </a:solidFill>
                <a:latin typeface="DejaVu Serif"/>
                <a:ea typeface="DejaVu Serif"/>
                <a:cs typeface="DejaVu Serif"/>
                <a:sym typeface="DejaVu Serif"/>
              </a:rPr>
              <a:t>      DuyetLNR(t-&gt;Phai);</a:t>
            </a:r>
          </a:p>
          <a:p>
            <a:pPr algn="just">
              <a:lnSpc>
                <a:spcPts val="5440"/>
              </a:lnSpc>
            </a:pPr>
            <a:r>
              <a:rPr lang="en-US" sz="3238" spc="-32">
                <a:solidFill>
                  <a:srgbClr val="000000"/>
                </a:solidFill>
                <a:latin typeface="DejaVu Serif"/>
                <a:ea typeface="DejaVu Serif"/>
                <a:cs typeface="DejaVu Serif"/>
                <a:sym typeface="DejaVu Serif"/>
              </a:rPr>
              <a:t>   </a:t>
            </a:r>
            <a:r>
              <a:rPr lang="en-US" sz="3238" spc="-32">
                <a:solidFill>
                  <a:srgbClr val="000000"/>
                </a:solidFill>
                <a:latin typeface="DejaVu Serif"/>
                <a:ea typeface="DejaVu Serif"/>
                <a:cs typeface="DejaVu Serif"/>
                <a:sym typeface="DejaVu Serif"/>
              </a:rPr>
              <a:t>}</a:t>
            </a:r>
          </a:p>
          <a:p>
            <a:pPr algn="just">
              <a:lnSpc>
                <a:spcPts val="5440"/>
              </a:lnSpc>
            </a:pPr>
            <a:r>
              <a:rPr lang="en-US" sz="3238" spc="-32">
                <a:solidFill>
                  <a:srgbClr val="000000"/>
                </a:solidFill>
                <a:latin typeface="DejaVu Serif"/>
                <a:ea typeface="DejaVu Serif"/>
                <a:cs typeface="DejaVu Serif"/>
                <a:sym typeface="DejaVu Serif"/>
              </a:rPr>
              <a:t>}</a:t>
            </a:r>
          </a:p>
          <a:p>
            <a:pPr algn="just">
              <a:lnSpc>
                <a:spcPts val="5440"/>
              </a:lnSpc>
            </a:pPr>
          </a:p>
          <a:p>
            <a:pPr algn="just">
              <a:lnSpc>
                <a:spcPts val="544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0476342" y="1951228"/>
            <a:ext cx="6338112" cy="6384545"/>
          </a:xfrm>
          <a:custGeom>
            <a:avLst/>
            <a:gdLst/>
            <a:ahLst/>
            <a:cxnLst/>
            <a:rect r="r" b="b" t="t" l="l"/>
            <a:pathLst>
              <a:path h="6384545" w="6338112">
                <a:moveTo>
                  <a:pt x="0" y="0"/>
                </a:moveTo>
                <a:lnTo>
                  <a:pt x="6338112" y="0"/>
                </a:lnTo>
                <a:lnTo>
                  <a:pt x="6338112" y="6384544"/>
                </a:lnTo>
                <a:lnTo>
                  <a:pt x="0" y="6384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8466" y="2185988"/>
            <a:ext cx="9847876" cy="5915025"/>
          </a:xfrm>
          <a:prstGeom prst="rect">
            <a:avLst/>
          </a:prstGeom>
        </p:spPr>
        <p:txBody>
          <a:bodyPr anchor="t" rtlCol="false" tIns="0" lIns="0" bIns="0" rIns="0">
            <a:spAutoFit/>
          </a:bodyPr>
          <a:lstStyle/>
          <a:p>
            <a:pPr algn="l">
              <a:lnSpc>
                <a:spcPts val="15598"/>
              </a:lnSpc>
            </a:pPr>
            <a:r>
              <a:rPr lang="en-US" sz="12998">
                <a:solidFill>
                  <a:srgbClr val="F7B4A7"/>
                </a:solidFill>
                <a:latin typeface="Paytone One"/>
                <a:ea typeface="Paytone One"/>
                <a:cs typeface="Paytone One"/>
                <a:sym typeface="Paytone One"/>
              </a:rPr>
              <a:t>4. Các phép biến đổi và xử lý BST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1028700" y="798981"/>
            <a:ext cx="10546020" cy="1390590"/>
            <a:chOff x="0" y="0"/>
            <a:chExt cx="14061360" cy="1854120"/>
          </a:xfrm>
        </p:grpSpPr>
        <p:sp>
          <p:nvSpPr>
            <p:cNvPr name="TextBox 3" id="3"/>
            <p:cNvSpPr txBox="true"/>
            <p:nvPr/>
          </p:nvSpPr>
          <p:spPr>
            <a:xfrm rot="0">
              <a:off x="0" y="133350"/>
              <a:ext cx="14061360" cy="983072"/>
            </a:xfrm>
            <a:prstGeom prst="rect">
              <a:avLst/>
            </a:prstGeom>
          </p:spPr>
          <p:txBody>
            <a:bodyPr anchor="t" rtlCol="false" tIns="0" lIns="0" bIns="0" rIns="0">
              <a:spAutoFit/>
            </a:bodyPr>
            <a:lstStyle/>
            <a:p>
              <a:pPr algn="l">
                <a:lnSpc>
                  <a:spcPts val="5266"/>
                </a:lnSpc>
              </a:pPr>
              <a:r>
                <a:rPr lang="en-US" sz="5543" spc="-55">
                  <a:solidFill>
                    <a:srgbClr val="2B4B82"/>
                  </a:solidFill>
                  <a:latin typeface="Paytone One"/>
                  <a:ea typeface="Paytone One"/>
                  <a:cs typeface="Paytone One"/>
                  <a:sym typeface="Paytone One"/>
                </a:rPr>
                <a:t>4.1.Phép chèn:</a:t>
              </a:r>
            </a:p>
          </p:txBody>
        </p:sp>
        <p:sp>
          <p:nvSpPr>
            <p:cNvPr name="TextBox 4" id="4"/>
            <p:cNvSpPr txBox="true"/>
            <p:nvPr/>
          </p:nvSpPr>
          <p:spPr>
            <a:xfrm rot="0">
              <a:off x="0" y="1196297"/>
              <a:ext cx="14061360" cy="660155"/>
            </a:xfrm>
            <a:prstGeom prst="rect">
              <a:avLst/>
            </a:prstGeom>
          </p:spPr>
          <p:txBody>
            <a:bodyPr anchor="t" rtlCol="false" tIns="0" lIns="0" bIns="0" rIns="0">
              <a:spAutoFit/>
            </a:bodyPr>
            <a:lstStyle/>
            <a:p>
              <a:pPr algn="l">
                <a:lnSpc>
                  <a:spcPts val="4469"/>
                </a:lnSpc>
              </a:pPr>
            </a:p>
          </p:txBody>
        </p:sp>
      </p:grpSp>
      <p:sp>
        <p:nvSpPr>
          <p:cNvPr name="Freeform 5" id="5"/>
          <p:cNvSpPr/>
          <p:nvPr/>
        </p:nvSpPr>
        <p:spPr>
          <a:xfrm flipH="false" flipV="false" rot="0">
            <a:off x="12746849" y="491029"/>
            <a:ext cx="6414740" cy="6631780"/>
          </a:xfrm>
          <a:custGeom>
            <a:avLst/>
            <a:gdLst/>
            <a:ahLst/>
            <a:cxnLst/>
            <a:rect r="r" b="b" t="t" l="l"/>
            <a:pathLst>
              <a:path h="6631780" w="641474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32303" y="1645229"/>
            <a:ext cx="11603518" cy="6741309"/>
          </a:xfrm>
          <a:prstGeom prst="rect">
            <a:avLst/>
          </a:prstGeom>
        </p:spPr>
        <p:txBody>
          <a:bodyPr anchor="t" rtlCol="false" tIns="0" lIns="0" bIns="0" rIns="0">
            <a:spAutoFit/>
          </a:bodyPr>
          <a:lstStyle/>
          <a:p>
            <a:pPr algn="l">
              <a:lnSpc>
                <a:spcPts val="5381"/>
              </a:lnSpc>
            </a:pPr>
          </a:p>
          <a:p>
            <a:pPr algn="l" marL="829948" indent="-414974" lvl="1">
              <a:lnSpc>
                <a:spcPts val="5381"/>
              </a:lnSpc>
              <a:buFont typeface="Arial"/>
              <a:buChar char="•"/>
            </a:pPr>
            <a:r>
              <a:rPr lang="en-US" b="true" sz="3844">
                <a:solidFill>
                  <a:srgbClr val="2B4B82"/>
                </a:solidFill>
                <a:latin typeface="DejaVu Serif Bold"/>
                <a:ea typeface="DejaVu Serif Bold"/>
                <a:cs typeface="DejaVu Serif Bold"/>
                <a:sym typeface="DejaVu Serif Bold"/>
              </a:rPr>
              <a:t>Mục đích:</a:t>
            </a:r>
            <a:r>
              <a:rPr lang="en-US" sz="3844">
                <a:solidFill>
                  <a:srgbClr val="2B4B82"/>
                </a:solidFill>
                <a:latin typeface="DejaVu Serif"/>
                <a:ea typeface="DejaVu Serif"/>
                <a:cs typeface="DejaVu Serif"/>
                <a:sym typeface="DejaVu Serif"/>
              </a:rPr>
              <a:t> thêm một phần tử mới vào BST, nhưng vẫn phải đảm bảo tính chất BST.</a:t>
            </a:r>
          </a:p>
          <a:p>
            <a:pPr algn="l">
              <a:lnSpc>
                <a:spcPts val="5381"/>
              </a:lnSpc>
            </a:pPr>
          </a:p>
          <a:p>
            <a:pPr algn="l" marL="829948" indent="-414974" lvl="1">
              <a:lnSpc>
                <a:spcPts val="5381"/>
              </a:lnSpc>
              <a:buFont typeface="Arial"/>
              <a:buChar char="•"/>
            </a:pPr>
            <a:r>
              <a:rPr lang="en-US" b="true" sz="3844">
                <a:solidFill>
                  <a:srgbClr val="2B4B82"/>
                </a:solidFill>
                <a:latin typeface="DejaVu Serif Bold"/>
                <a:ea typeface="DejaVu Serif Bold"/>
                <a:cs typeface="DejaVu Serif Bold"/>
                <a:sym typeface="DejaVu Serif Bold"/>
              </a:rPr>
              <a:t>Ý tưởng thuật toán:</a:t>
            </a:r>
          </a:p>
          <a:p>
            <a:pPr algn="l">
              <a:lnSpc>
                <a:spcPts val="5381"/>
              </a:lnSpc>
            </a:pPr>
            <a:r>
              <a:rPr lang="en-US" sz="3844">
                <a:solidFill>
                  <a:srgbClr val="2B4B82"/>
                </a:solidFill>
                <a:latin typeface="DejaVu Serif"/>
                <a:ea typeface="DejaVu Serif"/>
                <a:cs typeface="DejaVu Serif"/>
                <a:sym typeface="DejaVu Serif"/>
              </a:rPr>
              <a:t>     1. </a:t>
            </a:r>
            <a:r>
              <a:rPr lang="en-US" sz="3844">
                <a:solidFill>
                  <a:srgbClr val="2B4B82"/>
                </a:solidFill>
                <a:latin typeface="DejaVu Serif"/>
                <a:ea typeface="DejaVu Serif"/>
                <a:cs typeface="DejaVu Serif"/>
                <a:sym typeface="DejaVu Serif"/>
              </a:rPr>
              <a:t>Bắt đầu từ gốc.</a:t>
            </a:r>
          </a:p>
          <a:p>
            <a:pPr algn="ctr">
              <a:lnSpc>
                <a:spcPts val="5381"/>
              </a:lnSpc>
            </a:pPr>
            <a:r>
              <a:rPr lang="en-US" sz="3844">
                <a:solidFill>
                  <a:srgbClr val="2B4B82"/>
                </a:solidFill>
                <a:latin typeface="DejaVu Serif"/>
                <a:ea typeface="DejaVu Serif"/>
                <a:cs typeface="DejaVu Serif"/>
                <a:sym typeface="DejaVu Serif"/>
              </a:rPr>
              <a:t>   2. </a:t>
            </a:r>
            <a:r>
              <a:rPr lang="en-US" sz="3844">
                <a:solidFill>
                  <a:srgbClr val="2B4B82"/>
                </a:solidFill>
                <a:latin typeface="DejaVu Serif"/>
                <a:ea typeface="DejaVu Serif"/>
                <a:cs typeface="DejaVu Serif"/>
                <a:sym typeface="DejaVu Serif"/>
              </a:rPr>
              <a:t>So sánh giá trị cần chèn với nút hiện tại:</a:t>
            </a:r>
          </a:p>
          <a:p>
            <a:pPr algn="l" marL="829948" indent="-414974" lvl="1">
              <a:lnSpc>
                <a:spcPts val="5381"/>
              </a:lnSpc>
              <a:buFont typeface="Arial"/>
              <a:buChar char="•"/>
            </a:pPr>
            <a:r>
              <a:rPr lang="en-US" sz="3844">
                <a:solidFill>
                  <a:srgbClr val="2B4B82"/>
                </a:solidFill>
                <a:latin typeface="DejaVu Serif"/>
                <a:ea typeface="DejaVu Serif"/>
                <a:cs typeface="DejaVu Serif"/>
                <a:sym typeface="DejaVu Serif"/>
              </a:rPr>
              <a:t> Nếu nhỏ hơn → đi sang cây con trái.</a:t>
            </a:r>
          </a:p>
          <a:p>
            <a:pPr algn="l" marL="829948" indent="-414974" lvl="1">
              <a:lnSpc>
                <a:spcPts val="5381"/>
              </a:lnSpc>
              <a:buFont typeface="Arial"/>
              <a:buChar char="•"/>
            </a:pPr>
            <a:r>
              <a:rPr lang="en-US" sz="3844">
                <a:solidFill>
                  <a:srgbClr val="2B4B82"/>
                </a:solidFill>
                <a:latin typeface="DejaVu Serif"/>
                <a:ea typeface="DejaVu Serif"/>
                <a:cs typeface="DejaVu Serif"/>
                <a:sym typeface="DejaVu Serif"/>
              </a:rPr>
              <a:t> Nếu lớn hơn → đi sang cây con phải.</a:t>
            </a:r>
          </a:p>
          <a:p>
            <a:pPr algn="l">
              <a:lnSpc>
                <a:spcPts val="5381"/>
              </a:lnSpc>
            </a:pPr>
            <a:r>
              <a:rPr lang="en-US" sz="3844">
                <a:solidFill>
                  <a:srgbClr val="2B4B82"/>
                </a:solidFill>
                <a:latin typeface="DejaVu Serif"/>
                <a:ea typeface="DejaVu Serif"/>
                <a:cs typeface="DejaVu Serif"/>
                <a:sym typeface="DejaVu Serif"/>
              </a:rPr>
              <a:t>   3.   Khi gặp vị trí null gán nút mới tại đó.</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1028700" y="443596"/>
            <a:ext cx="7714897" cy="1170207"/>
            <a:chOff x="0" y="0"/>
            <a:chExt cx="10286529" cy="1560276"/>
          </a:xfrm>
        </p:grpSpPr>
        <p:sp>
          <p:nvSpPr>
            <p:cNvPr name="TextBox 3" id="3"/>
            <p:cNvSpPr txBox="true"/>
            <p:nvPr/>
          </p:nvSpPr>
          <p:spPr>
            <a:xfrm rot="0">
              <a:off x="0" y="-66675"/>
              <a:ext cx="10286529" cy="795655"/>
            </a:xfrm>
            <a:prstGeom prst="rect">
              <a:avLst/>
            </a:prstGeom>
          </p:spPr>
          <p:txBody>
            <a:bodyPr anchor="t" rtlCol="false" tIns="0" lIns="0" bIns="0" rIns="0">
              <a:spAutoFit/>
            </a:bodyPr>
            <a:lstStyle/>
            <a:p>
              <a:pPr algn="l">
                <a:lnSpc>
                  <a:spcPts val="5040"/>
                </a:lnSpc>
              </a:pPr>
              <a:r>
                <a:rPr lang="en-US" sz="3600">
                  <a:solidFill>
                    <a:srgbClr val="FF66C4"/>
                  </a:solidFill>
                  <a:latin typeface="Paytone One"/>
                  <a:ea typeface="Paytone One"/>
                  <a:cs typeface="Paytone One"/>
                  <a:sym typeface="Paytone One"/>
                </a:rPr>
                <a:t>Các bước chèn nút</a:t>
              </a:r>
            </a:p>
          </p:txBody>
        </p:sp>
        <p:sp>
          <p:nvSpPr>
            <p:cNvPr name="TextBox 4" id="4"/>
            <p:cNvSpPr txBox="true"/>
            <p:nvPr/>
          </p:nvSpPr>
          <p:spPr>
            <a:xfrm rot="0">
              <a:off x="0" y="1055451"/>
              <a:ext cx="10286529" cy="525145"/>
            </a:xfrm>
            <a:prstGeom prst="rect">
              <a:avLst/>
            </a:prstGeom>
          </p:spPr>
          <p:txBody>
            <a:bodyPr anchor="t" rtlCol="false" tIns="0" lIns="0" bIns="0" rIns="0">
              <a:spAutoFit/>
            </a:bodyPr>
            <a:lstStyle/>
            <a:p>
              <a:pPr algn="l">
                <a:lnSpc>
                  <a:spcPts val="3359"/>
                </a:lnSpc>
              </a:pPr>
            </a:p>
          </p:txBody>
        </p:sp>
      </p:grpSp>
      <p:sp>
        <p:nvSpPr>
          <p:cNvPr name="TextBox 5" id="5"/>
          <p:cNvSpPr txBox="true"/>
          <p:nvPr/>
        </p:nvSpPr>
        <p:spPr>
          <a:xfrm rot="0">
            <a:off x="1028700" y="1957328"/>
            <a:ext cx="7714897" cy="405765"/>
          </a:xfrm>
          <a:prstGeom prst="rect">
            <a:avLst/>
          </a:prstGeom>
        </p:spPr>
        <p:txBody>
          <a:bodyPr anchor="t" rtlCol="false" tIns="0" lIns="0" bIns="0" rIns="0">
            <a:spAutoFit/>
          </a:bodyPr>
          <a:lstStyle/>
          <a:p>
            <a:pPr algn="l">
              <a:lnSpc>
                <a:spcPts val="3359"/>
              </a:lnSpc>
            </a:pPr>
          </a:p>
        </p:txBody>
      </p:sp>
      <p:sp>
        <p:nvSpPr>
          <p:cNvPr name="TextBox 6" id="6"/>
          <p:cNvSpPr txBox="true"/>
          <p:nvPr/>
        </p:nvSpPr>
        <p:spPr>
          <a:xfrm rot="0">
            <a:off x="1028700" y="1012090"/>
            <a:ext cx="12863028" cy="1768193"/>
          </a:xfrm>
          <a:prstGeom prst="rect">
            <a:avLst/>
          </a:prstGeom>
        </p:spPr>
        <p:txBody>
          <a:bodyPr anchor="t" rtlCol="false" tIns="0" lIns="0" bIns="0" rIns="0">
            <a:spAutoFit/>
          </a:bodyPr>
          <a:lstStyle/>
          <a:p>
            <a:pPr algn="l" marL="703879" indent="-351940" lvl="1">
              <a:lnSpc>
                <a:spcPts val="4564"/>
              </a:lnSpc>
              <a:buFont typeface="Arial"/>
              <a:buChar char="•"/>
            </a:pPr>
            <a:r>
              <a:rPr lang="en-US" sz="3260">
                <a:solidFill>
                  <a:srgbClr val="FFFFFF"/>
                </a:solidFill>
                <a:latin typeface="Arial MT Pro"/>
                <a:ea typeface="Arial MT Pro"/>
                <a:cs typeface="Arial MT Pro"/>
                <a:sym typeface="Arial MT Pro"/>
              </a:rPr>
              <a:t>  TaoNode(): tạo một nút mới chứa dữ liệu.</a:t>
            </a:r>
          </a:p>
          <a:p>
            <a:pPr algn="l" marL="703879" indent="-351940" lvl="1">
              <a:lnSpc>
                <a:spcPts val="4564"/>
              </a:lnSpc>
              <a:buFont typeface="Arial"/>
              <a:buChar char="•"/>
            </a:pPr>
            <a:r>
              <a:rPr lang="en-US" sz="3260">
                <a:solidFill>
                  <a:srgbClr val="FFFFFF"/>
                </a:solidFill>
                <a:latin typeface="Arial MT Pro"/>
                <a:ea typeface="Arial MT Pro"/>
                <a:cs typeface="Arial MT Pro"/>
                <a:sym typeface="Arial MT Pro"/>
              </a:rPr>
              <a:t>  TimVitriChen(): duyệt từ gốc để xác định vị trí thích hợp.</a:t>
            </a:r>
          </a:p>
          <a:p>
            <a:pPr algn="l" marL="703879" indent="-351940" lvl="1">
              <a:lnSpc>
                <a:spcPts val="4564"/>
              </a:lnSpc>
              <a:buFont typeface="Arial"/>
              <a:buChar char="•"/>
            </a:pPr>
            <a:r>
              <a:rPr lang="en-US" sz="3260">
                <a:solidFill>
                  <a:srgbClr val="FFFFFF"/>
                </a:solidFill>
                <a:latin typeface="Arial MT Pro"/>
                <a:ea typeface="Arial MT Pro"/>
                <a:cs typeface="Arial MT Pro"/>
                <a:sym typeface="Arial MT Pro"/>
              </a:rPr>
              <a:t>  ChenNode(): sử dụng hai hàm trên để thực hiện việc chèn.</a:t>
            </a:r>
          </a:p>
        </p:txBody>
      </p:sp>
      <p:sp>
        <p:nvSpPr>
          <p:cNvPr name="TextBox 7" id="7"/>
          <p:cNvSpPr txBox="true"/>
          <p:nvPr/>
        </p:nvSpPr>
        <p:spPr>
          <a:xfrm rot="0">
            <a:off x="1028700" y="3419836"/>
            <a:ext cx="16565075" cy="6786183"/>
          </a:xfrm>
          <a:prstGeom prst="rect">
            <a:avLst/>
          </a:prstGeom>
        </p:spPr>
        <p:txBody>
          <a:bodyPr anchor="t" rtlCol="false" tIns="0" lIns="0" bIns="0" rIns="0">
            <a:spAutoFit/>
          </a:bodyPr>
          <a:lstStyle/>
          <a:p>
            <a:pPr algn="l">
              <a:lnSpc>
                <a:spcPts val="4483"/>
              </a:lnSpc>
            </a:pPr>
            <a:r>
              <a:rPr lang="en-US" sz="3202">
                <a:solidFill>
                  <a:srgbClr val="FFFFFF"/>
                </a:solidFill>
                <a:latin typeface="Arial MT Pro"/>
                <a:ea typeface="Arial MT Pro"/>
                <a:cs typeface="Arial MT Pro"/>
                <a:sym typeface="Arial MT Pro"/>
              </a:rPr>
              <a:t>void ChenNode(BSTNode* &amp;GOC, int du_lieu) // Chèn node</a:t>
            </a:r>
          </a:p>
          <a:p>
            <a:pPr algn="l">
              <a:lnSpc>
                <a:spcPts val="4483"/>
              </a:lnSpc>
            </a:pPr>
            <a:r>
              <a:rPr lang="en-US" sz="3202">
                <a:solidFill>
                  <a:srgbClr val="FFFFFF"/>
                </a:solidFill>
                <a:latin typeface="Arial MT Pro"/>
                <a:ea typeface="Arial MT Pro"/>
                <a:cs typeface="Arial MT Pro"/>
                <a:sym typeface="Arial MT Pro"/>
              </a:rPr>
              <a:t> { BSTNode* p = TaoNode(du_lieu);  //Tạo node mới với dữ liệu đã cho  </a:t>
            </a:r>
          </a:p>
          <a:p>
            <a:pPr algn="l">
              <a:lnSpc>
                <a:spcPts val="4483"/>
              </a:lnSpc>
            </a:pPr>
            <a:r>
              <a:rPr lang="en-US" sz="3202">
                <a:solidFill>
                  <a:srgbClr val="FFFFFF"/>
                </a:solidFill>
                <a:latin typeface="Arial MT Pro"/>
                <a:ea typeface="Arial MT Pro"/>
                <a:cs typeface="Arial MT Pro"/>
                <a:sym typeface="Arial MT Pro"/>
              </a:rPr>
              <a:t>   if (GOC == NULL)</a:t>
            </a:r>
          </a:p>
          <a:p>
            <a:pPr algn="l">
              <a:lnSpc>
                <a:spcPts val="4483"/>
              </a:lnSpc>
            </a:pPr>
            <a:r>
              <a:rPr lang="en-US" sz="3202">
                <a:solidFill>
                  <a:srgbClr val="FFFFFF"/>
                </a:solidFill>
                <a:latin typeface="Arial MT Pro"/>
                <a:ea typeface="Arial MT Pro"/>
                <a:cs typeface="Arial MT Pro"/>
                <a:sym typeface="Arial MT Pro"/>
              </a:rPr>
              <a:t>      { GOC = p ;    return; }</a:t>
            </a:r>
          </a:p>
          <a:p>
            <a:pPr algn="l">
              <a:lnSpc>
                <a:spcPts val="4483"/>
              </a:lnSpc>
            </a:pPr>
            <a:r>
              <a:rPr lang="en-US" sz="3202">
                <a:solidFill>
                  <a:srgbClr val="FFFFFF"/>
                </a:solidFill>
                <a:latin typeface="Arial MT Pro"/>
                <a:ea typeface="Arial MT Pro"/>
                <a:cs typeface="Arial MT Pro"/>
                <a:sym typeface="Arial MT Pro"/>
              </a:rPr>
              <a:t>   else</a:t>
            </a:r>
          </a:p>
          <a:p>
            <a:pPr algn="l">
              <a:lnSpc>
                <a:spcPts val="4483"/>
              </a:lnSpc>
            </a:pPr>
            <a:r>
              <a:rPr lang="en-US" sz="3202">
                <a:solidFill>
                  <a:srgbClr val="FFFFFF"/>
                </a:solidFill>
                <a:latin typeface="Arial MT Pro"/>
                <a:ea typeface="Arial MT Pro"/>
                <a:cs typeface="Arial MT Pro"/>
                <a:sym typeface="Arial MT Pro"/>
              </a:rPr>
              <a:t>      { BSTNode* f = TimVitriChen(GOC, du_lieu);  // tìm vị trí f để chèn nút p vào trái||phải</a:t>
            </a:r>
          </a:p>
          <a:p>
            <a:pPr algn="l">
              <a:lnSpc>
                <a:spcPts val="4483"/>
              </a:lnSpc>
            </a:pPr>
            <a:r>
              <a:rPr lang="en-US" sz="3202">
                <a:solidFill>
                  <a:srgbClr val="FFFFFF"/>
                </a:solidFill>
                <a:latin typeface="Arial MT Pro"/>
                <a:ea typeface="Arial MT Pro"/>
                <a:cs typeface="Arial MT Pro"/>
                <a:sym typeface="Arial MT Pro"/>
              </a:rPr>
              <a:t>   if (f != NULL)</a:t>
            </a:r>
          </a:p>
          <a:p>
            <a:pPr algn="l">
              <a:lnSpc>
                <a:spcPts val="4483"/>
              </a:lnSpc>
            </a:pPr>
            <a:r>
              <a:rPr lang="en-US" sz="3202">
                <a:solidFill>
                  <a:srgbClr val="FFFFFF"/>
                </a:solidFill>
                <a:latin typeface="Arial MT Pro"/>
                <a:ea typeface="Arial MT Pro"/>
                <a:cs typeface="Arial MT Pro"/>
                <a:sym typeface="Arial MT Pro"/>
              </a:rPr>
              <a:t>         { if (f-&gt;du_lieu &gt; du_lieu) </a:t>
            </a:r>
          </a:p>
          <a:p>
            <a:pPr algn="l">
              <a:lnSpc>
                <a:spcPts val="4483"/>
              </a:lnSpc>
            </a:pPr>
            <a:r>
              <a:rPr lang="en-US" sz="3202">
                <a:solidFill>
                  <a:srgbClr val="FFFFFF"/>
                </a:solidFill>
                <a:latin typeface="Arial MT Pro"/>
                <a:ea typeface="Arial MT Pro"/>
                <a:cs typeface="Arial MT Pro"/>
                <a:sym typeface="Arial MT Pro"/>
              </a:rPr>
              <a:t>              {f-&gt;Lchild = p; }   // chèn p vào bên trái f</a:t>
            </a:r>
          </a:p>
          <a:p>
            <a:pPr algn="l">
              <a:lnSpc>
                <a:spcPts val="4483"/>
              </a:lnSpc>
            </a:pPr>
            <a:r>
              <a:rPr lang="en-US" sz="3202">
                <a:solidFill>
                  <a:srgbClr val="FFFFFF"/>
                </a:solidFill>
                <a:latin typeface="Arial MT Pro"/>
                <a:ea typeface="Arial MT Pro"/>
                <a:cs typeface="Arial MT Pro"/>
                <a:sym typeface="Arial MT Pro"/>
              </a:rPr>
              <a:t>            else </a:t>
            </a:r>
          </a:p>
          <a:p>
            <a:pPr algn="l">
              <a:lnSpc>
                <a:spcPts val="4483"/>
              </a:lnSpc>
            </a:pPr>
            <a:r>
              <a:rPr lang="en-US" sz="3202">
                <a:solidFill>
                  <a:srgbClr val="FFFFFF"/>
                </a:solidFill>
                <a:latin typeface="Arial MT Pro"/>
                <a:ea typeface="Arial MT Pro"/>
                <a:cs typeface="Arial MT Pro"/>
                <a:sym typeface="Arial MT Pro"/>
              </a:rPr>
              <a:t>                 {  f-&gt;Rchild = p; }   //chèn p vào bên phải f        </a:t>
            </a:r>
          </a:p>
          <a:p>
            <a:pPr algn="l">
              <a:lnSpc>
                <a:spcPts val="4483"/>
              </a:lnSpc>
            </a:pPr>
            <a:r>
              <a:rPr lang="en-US" sz="3202">
                <a:solidFill>
                  <a:srgbClr val="FFFFFF"/>
                </a:solidFill>
                <a:latin typeface="Arial MT Pro"/>
                <a:ea typeface="Arial MT Pro"/>
                <a:cs typeface="Arial MT Pro"/>
                <a:sym typeface="Arial MT Pro"/>
              </a:rPr>
              <a:t> }         }      }</a:t>
            </a:r>
          </a:p>
        </p:txBody>
      </p:sp>
      <p:sp>
        <p:nvSpPr>
          <p:cNvPr name="TextBox 8" id="8"/>
          <p:cNvSpPr txBox="true"/>
          <p:nvPr/>
        </p:nvSpPr>
        <p:spPr>
          <a:xfrm rot="0">
            <a:off x="1028700" y="2823341"/>
            <a:ext cx="1518196" cy="580390"/>
          </a:xfrm>
          <a:prstGeom prst="rect">
            <a:avLst/>
          </a:prstGeom>
        </p:spPr>
        <p:txBody>
          <a:bodyPr anchor="t" rtlCol="false" tIns="0" lIns="0" bIns="0" rIns="0">
            <a:spAutoFit/>
          </a:bodyPr>
          <a:lstStyle/>
          <a:p>
            <a:pPr algn="ctr">
              <a:lnSpc>
                <a:spcPts val="4759"/>
              </a:lnSpc>
            </a:pPr>
            <a:r>
              <a:rPr lang="en-US" sz="3399" b="true">
                <a:solidFill>
                  <a:srgbClr val="FF66C4"/>
                </a:solidFill>
                <a:latin typeface="DejaVu Serif Bold"/>
                <a:ea typeface="DejaVu Serif Bold"/>
                <a:cs typeface="DejaVu Serif Bold"/>
                <a:sym typeface="DejaVu Serif Bold"/>
              </a:rPr>
              <a:t>Code: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0598115" y="5143500"/>
            <a:ext cx="7392635" cy="5005031"/>
          </a:xfrm>
          <a:custGeom>
            <a:avLst/>
            <a:gdLst/>
            <a:ahLst/>
            <a:cxnLst/>
            <a:rect r="r" b="b" t="t" l="l"/>
            <a:pathLst>
              <a:path h="5005031" w="7392635">
                <a:moveTo>
                  <a:pt x="0" y="0"/>
                </a:moveTo>
                <a:lnTo>
                  <a:pt x="7392636" y="0"/>
                </a:lnTo>
                <a:lnTo>
                  <a:pt x="7392636" y="5005031"/>
                </a:lnTo>
                <a:lnTo>
                  <a:pt x="0" y="5005031"/>
                </a:lnTo>
                <a:lnTo>
                  <a:pt x="0" y="0"/>
                </a:lnTo>
                <a:close/>
              </a:path>
            </a:pathLst>
          </a:custGeom>
          <a:blipFill>
            <a:blip r:embed="rId2"/>
            <a:stretch>
              <a:fillRect l="0" t="0" r="0" b="0"/>
            </a:stretch>
          </a:blipFill>
        </p:spPr>
      </p:sp>
      <p:sp>
        <p:nvSpPr>
          <p:cNvPr name="TextBox 3" id="3"/>
          <p:cNvSpPr txBox="true"/>
          <p:nvPr/>
        </p:nvSpPr>
        <p:spPr>
          <a:xfrm rot="0">
            <a:off x="1028700" y="1283521"/>
            <a:ext cx="9569415" cy="670877"/>
          </a:xfrm>
          <a:prstGeom prst="rect">
            <a:avLst/>
          </a:prstGeom>
        </p:spPr>
        <p:txBody>
          <a:bodyPr anchor="t" rtlCol="false" tIns="0" lIns="0" bIns="0" rIns="0">
            <a:spAutoFit/>
          </a:bodyPr>
          <a:lstStyle/>
          <a:p>
            <a:pPr algn="l">
              <a:lnSpc>
                <a:spcPts val="4968"/>
              </a:lnSpc>
            </a:pPr>
            <a:r>
              <a:rPr lang="en-US" sz="5229" spc="-52">
                <a:solidFill>
                  <a:srgbClr val="2B4B82"/>
                </a:solidFill>
                <a:latin typeface="Paytone One"/>
                <a:ea typeface="Paytone One"/>
                <a:cs typeface="Paytone One"/>
                <a:sym typeface="Paytone One"/>
              </a:rPr>
              <a:t>4.2. Tạo cây BST:</a:t>
            </a:r>
          </a:p>
        </p:txBody>
      </p:sp>
      <p:sp>
        <p:nvSpPr>
          <p:cNvPr name="TextBox 4" id="4"/>
          <p:cNvSpPr txBox="true"/>
          <p:nvPr/>
        </p:nvSpPr>
        <p:spPr>
          <a:xfrm rot="0">
            <a:off x="1028700" y="2255071"/>
            <a:ext cx="16230600" cy="1766203"/>
          </a:xfrm>
          <a:prstGeom prst="rect">
            <a:avLst/>
          </a:prstGeom>
        </p:spPr>
        <p:txBody>
          <a:bodyPr anchor="t" rtlCol="false" tIns="0" lIns="0" bIns="0" rIns="0">
            <a:spAutoFit/>
          </a:bodyPr>
          <a:lstStyle/>
          <a:p>
            <a:pPr algn="just" marL="693998" indent="-346999" lvl="1">
              <a:lnSpc>
                <a:spcPts val="4500"/>
              </a:lnSpc>
              <a:buFont typeface="Arial"/>
              <a:buChar char="•"/>
            </a:pPr>
            <a:r>
              <a:rPr lang="en-US" b="true" sz="3214">
                <a:solidFill>
                  <a:srgbClr val="2B4B82"/>
                </a:solidFill>
                <a:latin typeface="Arial MT Pro Bold"/>
                <a:ea typeface="Arial MT Pro Bold"/>
                <a:cs typeface="Arial MT Pro Bold"/>
                <a:sym typeface="Arial MT Pro Bold"/>
              </a:rPr>
              <a:t>Mục đích: xây dựng cây BST từ một tập dữ liệu cho trước (mảng, danh sách).</a:t>
            </a:r>
          </a:p>
          <a:p>
            <a:pPr algn="just" marL="693998" indent="-346999" lvl="1">
              <a:lnSpc>
                <a:spcPts val="4500"/>
              </a:lnSpc>
              <a:buFont typeface="Arial"/>
              <a:buChar char="•"/>
            </a:pPr>
            <a:r>
              <a:rPr lang="en-US" b="true" sz="3214">
                <a:solidFill>
                  <a:srgbClr val="2B4B82"/>
                </a:solidFill>
                <a:latin typeface="Arial MT Pro Bold"/>
                <a:ea typeface="Arial MT Pro Bold"/>
                <a:cs typeface="Arial MT Pro Bold"/>
                <a:sym typeface="Arial MT Pro Bold"/>
              </a:rPr>
              <a:t>Để tạo cây, ta cần tạo một nút để nhận dữ liệu bằng hàm TaoNode(int du_lieu), sau đó tìm vị trí nút cần chèn và chèn nút.</a:t>
            </a:r>
          </a:p>
        </p:txBody>
      </p:sp>
      <p:sp>
        <p:nvSpPr>
          <p:cNvPr name="Freeform 5" id="5"/>
          <p:cNvSpPr/>
          <p:nvPr/>
        </p:nvSpPr>
        <p:spPr>
          <a:xfrm flipH="false" flipV="false" rot="0">
            <a:off x="13734379" y="331021"/>
            <a:ext cx="3289448" cy="2057400"/>
          </a:xfrm>
          <a:custGeom>
            <a:avLst/>
            <a:gdLst/>
            <a:ahLst/>
            <a:cxnLst/>
            <a:rect r="r" b="b" t="t" l="l"/>
            <a:pathLst>
              <a:path h="2057400" w="3289448">
                <a:moveTo>
                  <a:pt x="0" y="0"/>
                </a:moveTo>
                <a:lnTo>
                  <a:pt x="3289447" y="0"/>
                </a:lnTo>
                <a:lnTo>
                  <a:pt x="3289447"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966865" y="4335599"/>
            <a:ext cx="9693084" cy="5202450"/>
          </a:xfrm>
          <a:prstGeom prst="rect">
            <a:avLst/>
          </a:prstGeom>
        </p:spPr>
        <p:txBody>
          <a:bodyPr anchor="t" rtlCol="false" tIns="0" lIns="0" bIns="0" rIns="0">
            <a:spAutoFit/>
          </a:bodyPr>
          <a:lstStyle/>
          <a:p>
            <a:pPr algn="l" marL="724156" indent="-362078" lvl="1">
              <a:lnSpc>
                <a:spcPts val="4695"/>
              </a:lnSpc>
              <a:buFont typeface="Arial"/>
              <a:buChar char="•"/>
            </a:pPr>
            <a:r>
              <a:rPr lang="en-US" b="true" sz="3354">
                <a:solidFill>
                  <a:srgbClr val="2B4B82"/>
                </a:solidFill>
                <a:latin typeface="Arial MT Pro Bold"/>
                <a:ea typeface="Arial MT Pro Bold"/>
                <a:cs typeface="Arial MT Pro Bold"/>
                <a:sym typeface="Arial MT Pro Bold"/>
              </a:rPr>
              <a:t>Hàm tạo cây</a:t>
            </a:r>
          </a:p>
          <a:p>
            <a:pPr algn="l">
              <a:lnSpc>
                <a:spcPts val="4555"/>
              </a:lnSpc>
            </a:pPr>
          </a:p>
          <a:p>
            <a:pPr algn="l">
              <a:lnSpc>
                <a:spcPts val="4555"/>
              </a:lnSpc>
            </a:pPr>
            <a:r>
              <a:rPr lang="en-US" sz="3254" b="true">
                <a:solidFill>
                  <a:srgbClr val="2B4B82"/>
                </a:solidFill>
                <a:latin typeface="Arial MT Pro Bold"/>
                <a:ea typeface="Arial MT Pro Bold"/>
                <a:cs typeface="Arial MT Pro Bold"/>
                <a:sym typeface="Arial MT Pro Bold"/>
              </a:rPr>
              <a:t> void TaoCay(BSTNode* &amp;GOC, int a[], int n)</a:t>
            </a:r>
          </a:p>
          <a:p>
            <a:pPr algn="l">
              <a:lnSpc>
                <a:spcPts val="4555"/>
              </a:lnSpc>
            </a:pPr>
            <a:r>
              <a:rPr lang="en-US" sz="3254" b="true">
                <a:solidFill>
                  <a:srgbClr val="2B4B82"/>
                </a:solidFill>
                <a:latin typeface="Arial MT Pro Bold"/>
                <a:ea typeface="Arial MT Pro Bold"/>
                <a:cs typeface="Arial MT Pro Bold"/>
                <a:sym typeface="Arial MT Pro Bold"/>
              </a:rPr>
              <a:t> { </a:t>
            </a:r>
          </a:p>
          <a:p>
            <a:pPr algn="l">
              <a:lnSpc>
                <a:spcPts val="4555"/>
              </a:lnSpc>
            </a:pPr>
            <a:r>
              <a:rPr lang="en-US" sz="3254" b="true">
                <a:solidFill>
                  <a:srgbClr val="2B4B82"/>
                </a:solidFill>
                <a:latin typeface="Arial MT Pro Bold"/>
                <a:ea typeface="Arial MT Pro Bold"/>
                <a:cs typeface="Arial MT Pro Bold"/>
                <a:sym typeface="Arial MT Pro Bold"/>
              </a:rPr>
              <a:t>    for(int i = 0; i &lt; n; i++) </a:t>
            </a:r>
          </a:p>
          <a:p>
            <a:pPr algn="l">
              <a:lnSpc>
                <a:spcPts val="4555"/>
              </a:lnSpc>
            </a:pPr>
            <a:r>
              <a:rPr lang="en-US" sz="3254" b="true">
                <a:solidFill>
                  <a:srgbClr val="2B4B82"/>
                </a:solidFill>
                <a:latin typeface="Arial MT Pro Bold"/>
                <a:ea typeface="Arial MT Pro Bold"/>
                <a:cs typeface="Arial MT Pro Bold"/>
                <a:sym typeface="Arial MT Pro Bold"/>
              </a:rPr>
              <a:t>  {</a:t>
            </a:r>
          </a:p>
          <a:p>
            <a:pPr algn="l">
              <a:lnSpc>
                <a:spcPts val="4555"/>
              </a:lnSpc>
            </a:pPr>
            <a:r>
              <a:rPr lang="en-US" sz="3254" b="true">
                <a:solidFill>
                  <a:srgbClr val="2B4B82"/>
                </a:solidFill>
                <a:latin typeface="Arial MT Pro Bold"/>
                <a:ea typeface="Arial MT Pro Bold"/>
                <a:cs typeface="Arial MT Pro Bold"/>
                <a:sym typeface="Arial MT Pro Bold"/>
              </a:rPr>
              <a:t>        ChenNode(GOC, a[i]);</a:t>
            </a:r>
          </a:p>
          <a:p>
            <a:pPr algn="l">
              <a:lnSpc>
                <a:spcPts val="4555"/>
              </a:lnSpc>
            </a:pPr>
            <a:r>
              <a:rPr lang="en-US" sz="3254" b="true">
                <a:solidFill>
                  <a:srgbClr val="2B4B82"/>
                </a:solidFill>
                <a:latin typeface="Arial MT Pro Bold"/>
                <a:ea typeface="Arial MT Pro Bold"/>
                <a:cs typeface="Arial MT Pro Bold"/>
                <a:sym typeface="Arial MT Pro Bold"/>
              </a:rPr>
              <a:t>   } </a:t>
            </a:r>
          </a:p>
          <a:p>
            <a:pPr algn="l">
              <a:lnSpc>
                <a:spcPts val="4555"/>
              </a:lnSpc>
            </a:pPr>
            <a:r>
              <a:rPr lang="en-US" sz="3254" b="true">
                <a:solidFill>
                  <a:srgbClr val="2B4B82"/>
                </a:solidFill>
                <a:latin typeface="Arial MT Pro Bold"/>
                <a:ea typeface="Arial MT Pro Bold"/>
                <a:cs typeface="Arial MT Pro Bold"/>
                <a:sym typeface="Arial MT Pro Bold"/>
              </a:rPr>
              <a: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028700" y="983918"/>
            <a:ext cx="10578305" cy="812482"/>
          </a:xfrm>
          <a:prstGeom prst="rect">
            <a:avLst/>
          </a:prstGeom>
        </p:spPr>
        <p:txBody>
          <a:bodyPr anchor="t" rtlCol="false" tIns="0" lIns="0" bIns="0" rIns="0">
            <a:spAutoFit/>
          </a:bodyPr>
          <a:lstStyle/>
          <a:p>
            <a:pPr algn="l">
              <a:lnSpc>
                <a:spcPts val="6532"/>
              </a:lnSpc>
            </a:pPr>
            <a:r>
              <a:rPr lang="en-US" sz="5025">
                <a:solidFill>
                  <a:srgbClr val="EFEFEF"/>
                </a:solidFill>
                <a:latin typeface="Paytone One"/>
                <a:ea typeface="Paytone One"/>
                <a:cs typeface="Paytone One"/>
                <a:sym typeface="Paytone One"/>
              </a:rPr>
              <a:t>4.3.Đếm số nút trong cây</a:t>
            </a:r>
          </a:p>
        </p:txBody>
      </p:sp>
      <p:sp>
        <p:nvSpPr>
          <p:cNvPr name="TextBox 3" id="3"/>
          <p:cNvSpPr txBox="true"/>
          <p:nvPr/>
        </p:nvSpPr>
        <p:spPr>
          <a:xfrm rot="0">
            <a:off x="1028700" y="1958326"/>
            <a:ext cx="11455540" cy="1526540"/>
          </a:xfrm>
          <a:prstGeom prst="rect">
            <a:avLst/>
          </a:prstGeom>
        </p:spPr>
        <p:txBody>
          <a:bodyPr anchor="t" rtlCol="false" tIns="0" lIns="0" bIns="0" rIns="0">
            <a:spAutoFit/>
          </a:bodyPr>
          <a:lstStyle/>
          <a:p>
            <a:pPr algn="l" marL="626109" indent="-313054" lvl="1">
              <a:lnSpc>
                <a:spcPts val="4059"/>
              </a:lnSpc>
              <a:buFont typeface="Arial"/>
              <a:buChar char="•"/>
            </a:pPr>
            <a:r>
              <a:rPr lang="en-US" sz="2899">
                <a:solidFill>
                  <a:srgbClr val="FFFFFF"/>
                </a:solidFill>
                <a:latin typeface="Noto Serif Display"/>
                <a:ea typeface="Noto Serif Display"/>
                <a:cs typeface="Noto Serif Display"/>
                <a:sym typeface="Noto Serif Display"/>
              </a:rPr>
              <a:t>Mục đích: xác địn</a:t>
            </a:r>
            <a:r>
              <a:rPr lang="en-US" sz="2899">
                <a:solidFill>
                  <a:srgbClr val="FFFFFF"/>
                </a:solidFill>
                <a:latin typeface="Noto Serif Display"/>
                <a:ea typeface="Noto Serif Display"/>
                <a:cs typeface="Noto Serif Display"/>
                <a:sym typeface="Noto Serif Display"/>
              </a:rPr>
              <a:t>h số phần tử hiện có trong cây.</a:t>
            </a:r>
          </a:p>
          <a:p>
            <a:pPr algn="l" marL="626109" indent="-313054" lvl="1">
              <a:lnSpc>
                <a:spcPts val="4059"/>
              </a:lnSpc>
              <a:buFont typeface="Arial"/>
              <a:buChar char="•"/>
            </a:pPr>
            <a:r>
              <a:rPr lang="en-US" sz="2899">
                <a:solidFill>
                  <a:srgbClr val="FFFFFF"/>
                </a:solidFill>
                <a:latin typeface="Noto Serif Display"/>
                <a:ea typeface="Noto Serif Display"/>
                <a:cs typeface="Noto Serif Display"/>
                <a:sym typeface="Noto Serif Display"/>
              </a:rPr>
              <a:t>Để đếm số nút trong cây, phải đi từ gốc =&gt; Chuyển hướng lên cây con trái =&gt; Chuyển hướng lên cây con phải </a:t>
            </a:r>
          </a:p>
        </p:txBody>
      </p:sp>
      <p:sp>
        <p:nvSpPr>
          <p:cNvPr name="TextBox 4" id="4"/>
          <p:cNvSpPr txBox="true"/>
          <p:nvPr/>
        </p:nvSpPr>
        <p:spPr>
          <a:xfrm rot="0">
            <a:off x="1028700" y="3747770"/>
            <a:ext cx="6938463" cy="3069590"/>
          </a:xfrm>
          <a:prstGeom prst="rect">
            <a:avLst/>
          </a:prstGeom>
        </p:spPr>
        <p:txBody>
          <a:bodyPr anchor="t" rtlCol="false" tIns="0" lIns="0" bIns="0" rIns="0">
            <a:spAutoFit/>
          </a:bodyPr>
          <a:lstStyle/>
          <a:p>
            <a:pPr algn="l">
              <a:lnSpc>
                <a:spcPts val="4059"/>
              </a:lnSpc>
            </a:pPr>
            <a:r>
              <a:rPr lang="en-US" sz="2899">
                <a:solidFill>
                  <a:srgbClr val="FFFFFF"/>
                </a:solidFill>
                <a:latin typeface="Noto Serif Display"/>
                <a:ea typeface="Noto Serif Display"/>
                <a:cs typeface="Noto Serif Display"/>
                <a:sym typeface="Noto Serif Display"/>
              </a:rPr>
              <a:t>1. //Chuyển </a:t>
            </a:r>
            <a:r>
              <a:rPr lang="en-US" sz="2899">
                <a:solidFill>
                  <a:srgbClr val="FFFFFF"/>
                </a:solidFill>
                <a:latin typeface="Noto Serif Display"/>
                <a:ea typeface="Noto Serif Display"/>
                <a:cs typeface="Noto Serif Display"/>
                <a:sym typeface="Noto Serif Display"/>
              </a:rPr>
              <a:t>hướng lên cây con trái</a:t>
            </a:r>
          </a:p>
          <a:p>
            <a:pPr algn="l">
              <a:lnSpc>
                <a:spcPts val="4059"/>
              </a:lnSpc>
            </a:pPr>
            <a:r>
              <a:rPr lang="en-US" sz="2899">
                <a:solidFill>
                  <a:srgbClr val="FFFFFF"/>
                </a:solidFill>
                <a:latin typeface="Noto Serif Display"/>
                <a:ea typeface="Noto Serif Display"/>
                <a:cs typeface="Noto Serif Display"/>
                <a:sym typeface="Noto Serif Display"/>
              </a:rPr>
              <a:t>BSTNode* Lchild(BSTNode* GOC)</a:t>
            </a:r>
          </a:p>
          <a:p>
            <a:pPr algn="l">
              <a:lnSpc>
                <a:spcPts val="4059"/>
              </a:lnSpc>
            </a:pPr>
            <a:r>
              <a:rPr lang="en-US" sz="2899">
                <a:solidFill>
                  <a:srgbClr val="FFFFFF"/>
                </a:solidFill>
                <a:latin typeface="Noto Serif Display"/>
                <a:ea typeface="Noto Serif Display"/>
                <a:cs typeface="Noto Serif Display"/>
                <a:sym typeface="Noto Serif Display"/>
              </a:rPr>
              <a:t>{ if(GOC!=NULL) return GOC-&gt;Lchild;</a:t>
            </a:r>
          </a:p>
          <a:p>
            <a:pPr algn="l">
              <a:lnSpc>
                <a:spcPts val="4059"/>
              </a:lnSpc>
            </a:pPr>
            <a:r>
              <a:rPr lang="en-US" sz="2899">
                <a:solidFill>
                  <a:srgbClr val="FFFFFF"/>
                </a:solidFill>
                <a:latin typeface="Noto Serif Display"/>
                <a:ea typeface="Noto Serif Display"/>
                <a:cs typeface="Noto Serif Display"/>
                <a:sym typeface="Noto Serif Display"/>
              </a:rPr>
              <a:t> else return NULL;</a:t>
            </a:r>
          </a:p>
          <a:p>
            <a:pPr algn="l">
              <a:lnSpc>
                <a:spcPts val="4059"/>
              </a:lnSpc>
            </a:pPr>
            <a:r>
              <a:rPr lang="en-US" sz="2899">
                <a:solidFill>
                  <a:srgbClr val="FFFFFF"/>
                </a:solidFill>
                <a:latin typeface="Noto Serif Display"/>
                <a:ea typeface="Noto Serif Display"/>
                <a:cs typeface="Noto Serif Display"/>
                <a:sym typeface="Noto Serif Display"/>
              </a:rPr>
              <a:t>}</a:t>
            </a:r>
          </a:p>
          <a:p>
            <a:pPr algn="l">
              <a:lnSpc>
                <a:spcPts val="4059"/>
              </a:lnSpc>
            </a:pPr>
          </a:p>
        </p:txBody>
      </p:sp>
      <p:sp>
        <p:nvSpPr>
          <p:cNvPr name="TextBox 5" id="5"/>
          <p:cNvSpPr txBox="true"/>
          <p:nvPr/>
        </p:nvSpPr>
        <p:spPr>
          <a:xfrm rot="0">
            <a:off x="1028700" y="6567170"/>
            <a:ext cx="6539210" cy="3069590"/>
          </a:xfrm>
          <a:prstGeom prst="rect">
            <a:avLst/>
          </a:prstGeom>
        </p:spPr>
        <p:txBody>
          <a:bodyPr anchor="t" rtlCol="false" tIns="0" lIns="0" bIns="0" rIns="0">
            <a:spAutoFit/>
          </a:bodyPr>
          <a:lstStyle/>
          <a:p>
            <a:pPr algn="l">
              <a:lnSpc>
                <a:spcPts val="4059"/>
              </a:lnSpc>
            </a:pPr>
            <a:r>
              <a:rPr lang="en-US" sz="2899">
                <a:solidFill>
                  <a:srgbClr val="FFFFFF"/>
                </a:solidFill>
                <a:latin typeface="Noto Serif Display"/>
                <a:ea typeface="Noto Serif Display"/>
                <a:cs typeface="Noto Serif Display"/>
                <a:sym typeface="Noto Serif Display"/>
              </a:rPr>
              <a:t>2. //C</a:t>
            </a:r>
            <a:r>
              <a:rPr lang="en-US" sz="2899">
                <a:solidFill>
                  <a:srgbClr val="FFFFFF"/>
                </a:solidFill>
                <a:latin typeface="Noto Serif Display"/>
                <a:ea typeface="Noto Serif Display"/>
                <a:cs typeface="Noto Serif Display"/>
                <a:sym typeface="Noto Serif Display"/>
              </a:rPr>
              <a:t>huyển hướng đến cây con phải</a:t>
            </a:r>
          </a:p>
          <a:p>
            <a:pPr algn="l">
              <a:lnSpc>
                <a:spcPts val="4059"/>
              </a:lnSpc>
            </a:pPr>
            <a:r>
              <a:rPr lang="en-US" sz="2899">
                <a:solidFill>
                  <a:srgbClr val="FFFFFF"/>
                </a:solidFill>
                <a:latin typeface="Noto Serif Display"/>
                <a:ea typeface="Noto Serif Display"/>
                <a:cs typeface="Noto Serif Display"/>
                <a:sym typeface="Noto Serif Display"/>
              </a:rPr>
              <a:t>BSTNode* Rchild(BSTNode* GOC)</a:t>
            </a:r>
          </a:p>
          <a:p>
            <a:pPr algn="l">
              <a:lnSpc>
                <a:spcPts val="4059"/>
              </a:lnSpc>
            </a:pPr>
            <a:r>
              <a:rPr lang="en-US" sz="2899">
                <a:solidFill>
                  <a:srgbClr val="FFFFFF"/>
                </a:solidFill>
                <a:latin typeface="Noto Serif Display"/>
                <a:ea typeface="Noto Serif Display"/>
                <a:cs typeface="Noto Serif Display"/>
                <a:sym typeface="Noto Serif Display"/>
              </a:rPr>
              <a:t> { if(GOC!=NULL) return GOC-&gt;Rchild;</a:t>
            </a:r>
          </a:p>
          <a:p>
            <a:pPr algn="l">
              <a:lnSpc>
                <a:spcPts val="4059"/>
              </a:lnSpc>
            </a:pPr>
            <a:r>
              <a:rPr lang="en-US" sz="2899">
                <a:solidFill>
                  <a:srgbClr val="FFFFFF"/>
                </a:solidFill>
                <a:latin typeface="Noto Serif Display"/>
                <a:ea typeface="Noto Serif Display"/>
                <a:cs typeface="Noto Serif Display"/>
                <a:sym typeface="Noto Serif Display"/>
              </a:rPr>
              <a:t>   else return NULL; </a:t>
            </a:r>
          </a:p>
          <a:p>
            <a:pPr algn="l">
              <a:lnSpc>
                <a:spcPts val="4059"/>
              </a:lnSpc>
            </a:pPr>
            <a:r>
              <a:rPr lang="en-US" sz="2899">
                <a:solidFill>
                  <a:srgbClr val="FFFFFF"/>
                </a:solidFill>
                <a:latin typeface="Noto Serif Display"/>
                <a:ea typeface="Noto Serif Display"/>
                <a:cs typeface="Noto Serif Display"/>
                <a:sym typeface="Noto Serif Display"/>
              </a:rPr>
              <a:t> }</a:t>
            </a:r>
          </a:p>
          <a:p>
            <a:pPr algn="l">
              <a:lnSpc>
                <a:spcPts val="4059"/>
              </a:lnSpc>
            </a:pPr>
          </a:p>
        </p:txBody>
      </p:sp>
      <p:sp>
        <p:nvSpPr>
          <p:cNvPr name="TextBox 6" id="6"/>
          <p:cNvSpPr txBox="true"/>
          <p:nvPr/>
        </p:nvSpPr>
        <p:spPr>
          <a:xfrm rot="0">
            <a:off x="8711571" y="6071870"/>
            <a:ext cx="9264326" cy="3069590"/>
          </a:xfrm>
          <a:prstGeom prst="rect">
            <a:avLst/>
          </a:prstGeom>
        </p:spPr>
        <p:txBody>
          <a:bodyPr anchor="t" rtlCol="false" tIns="0" lIns="0" bIns="0" rIns="0">
            <a:spAutoFit/>
          </a:bodyPr>
          <a:lstStyle/>
          <a:p>
            <a:pPr algn="l">
              <a:lnSpc>
                <a:spcPts val="4059"/>
              </a:lnSpc>
            </a:pPr>
            <a:r>
              <a:rPr lang="en-US" sz="2899">
                <a:solidFill>
                  <a:srgbClr val="FFFFFF"/>
                </a:solidFill>
                <a:latin typeface="Noto Serif Display"/>
                <a:ea typeface="Noto Serif Display"/>
                <a:cs typeface="Noto Serif Display"/>
                <a:sym typeface="Noto Serif Display"/>
              </a:rPr>
              <a:t>3. //Hà</a:t>
            </a:r>
            <a:r>
              <a:rPr lang="en-US" sz="2899">
                <a:solidFill>
                  <a:srgbClr val="FFFFFF"/>
                </a:solidFill>
                <a:latin typeface="Noto Serif Display"/>
                <a:ea typeface="Noto Serif Display"/>
                <a:cs typeface="Noto Serif Display"/>
                <a:sym typeface="Noto Serif Display"/>
              </a:rPr>
              <a:t>m đếm số nút</a:t>
            </a:r>
          </a:p>
          <a:p>
            <a:pPr algn="l">
              <a:lnSpc>
                <a:spcPts val="4059"/>
              </a:lnSpc>
            </a:pPr>
            <a:r>
              <a:rPr lang="en-US" sz="2899">
                <a:solidFill>
                  <a:srgbClr val="FFFFFF"/>
                </a:solidFill>
                <a:latin typeface="Noto Serif Display"/>
                <a:ea typeface="Noto Serif Display"/>
                <a:cs typeface="Noto Serif Display"/>
                <a:sym typeface="Noto Serif Display"/>
              </a:rPr>
              <a:t>int DemNode(BSTNode* GOC) //Đếm số nút trong cây </a:t>
            </a:r>
          </a:p>
          <a:p>
            <a:pPr algn="l">
              <a:lnSpc>
                <a:spcPts val="4059"/>
              </a:lnSpc>
            </a:pPr>
            <a:r>
              <a:rPr lang="en-US" sz="2899">
                <a:solidFill>
                  <a:srgbClr val="FFFFFF"/>
                </a:solidFill>
                <a:latin typeface="Noto Serif Display"/>
                <a:ea typeface="Noto Serif Display"/>
                <a:cs typeface="Noto Serif Display"/>
                <a:sym typeface="Noto Serif Display"/>
              </a:rPr>
              <a:t>{   if(GOC==NULL) return 0;</a:t>
            </a:r>
          </a:p>
          <a:p>
            <a:pPr algn="l">
              <a:lnSpc>
                <a:spcPts val="4059"/>
              </a:lnSpc>
            </a:pPr>
            <a:r>
              <a:rPr lang="en-US" sz="2899">
                <a:solidFill>
                  <a:srgbClr val="FFFFFF"/>
                </a:solidFill>
                <a:latin typeface="Noto Serif Display"/>
                <a:ea typeface="Noto Serif Display"/>
                <a:cs typeface="Noto Serif Display"/>
                <a:sym typeface="Noto Serif Display"/>
              </a:rPr>
              <a:t>     else return (1+DemNode(Lchild(GOC))+ DemNode(Rchild(GOC))); </a:t>
            </a:r>
          </a:p>
          <a:p>
            <a:pPr algn="l">
              <a:lnSpc>
                <a:spcPts val="4059"/>
              </a:lnSpc>
            </a:pPr>
            <a:r>
              <a:rPr lang="en-US" sz="2899">
                <a:solidFill>
                  <a:srgbClr val="FFFFFF"/>
                </a:solidFill>
                <a:latin typeface="Noto Serif Display"/>
                <a:ea typeface="Noto Serif Display"/>
                <a:cs typeface="Noto Serif Display"/>
                <a:sym typeface="Noto Serif Display"/>
              </a:rPr>
              <a:t>}</a:t>
            </a:r>
          </a:p>
        </p:txBody>
      </p:sp>
      <p:sp>
        <p:nvSpPr>
          <p:cNvPr name="Freeform 7" id="7"/>
          <p:cNvSpPr/>
          <p:nvPr/>
        </p:nvSpPr>
        <p:spPr>
          <a:xfrm flipH="false" flipV="false" rot="0">
            <a:off x="13639462" y="-1114074"/>
            <a:ext cx="3489749" cy="2861594"/>
          </a:xfrm>
          <a:custGeom>
            <a:avLst/>
            <a:gdLst/>
            <a:ahLst/>
            <a:cxnLst/>
            <a:rect r="r" b="b" t="t" l="l"/>
            <a:pathLst>
              <a:path h="2861594" w="3489749">
                <a:moveTo>
                  <a:pt x="0" y="0"/>
                </a:moveTo>
                <a:lnTo>
                  <a:pt x="3489749" y="0"/>
                </a:lnTo>
                <a:lnTo>
                  <a:pt x="3489749" y="2861594"/>
                </a:lnTo>
                <a:lnTo>
                  <a:pt x="0" y="2861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075010" y="1747520"/>
            <a:ext cx="4618653" cy="4114800"/>
          </a:xfrm>
          <a:custGeom>
            <a:avLst/>
            <a:gdLst/>
            <a:ahLst/>
            <a:cxnLst/>
            <a:rect r="r" b="b" t="t" l="l"/>
            <a:pathLst>
              <a:path h="4114800" w="4618653">
                <a:moveTo>
                  <a:pt x="0" y="0"/>
                </a:moveTo>
                <a:lnTo>
                  <a:pt x="4618653" y="0"/>
                </a:lnTo>
                <a:lnTo>
                  <a:pt x="461865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963412"/>
            <a:ext cx="4597438" cy="2842053"/>
          </a:xfrm>
          <a:custGeom>
            <a:avLst/>
            <a:gdLst/>
            <a:ahLst/>
            <a:cxnLst/>
            <a:rect r="r" b="b" t="t" l="l"/>
            <a:pathLst>
              <a:path h="2842053" w="4597438">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551837" y="390596"/>
            <a:ext cx="2076668" cy="1276207"/>
          </a:xfrm>
          <a:custGeom>
            <a:avLst/>
            <a:gdLst/>
            <a:ahLst/>
            <a:cxnLst/>
            <a:rect r="r" b="b" t="t" l="l"/>
            <a:pathLst>
              <a:path h="1276207" w="2076668">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38681" y="-2447996"/>
            <a:ext cx="3837986" cy="4114800"/>
          </a:xfrm>
          <a:custGeom>
            <a:avLst/>
            <a:gdLst/>
            <a:ahLst/>
            <a:cxnLst/>
            <a:rect r="r" b="b" t="t" l="l"/>
            <a:pathLst>
              <a:path h="4114800" w="3837986">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994246" y="-3759204"/>
            <a:ext cx="5357753" cy="5591583"/>
          </a:xfrm>
          <a:custGeom>
            <a:avLst/>
            <a:gdLst/>
            <a:ahLst/>
            <a:cxnLst/>
            <a:rect r="r" b="b" t="t" l="l"/>
            <a:pathLst>
              <a:path h="5591583" w="535775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905602" y="1764340"/>
            <a:ext cx="7762875" cy="881888"/>
          </a:xfrm>
          <a:prstGeom prst="rect">
            <a:avLst/>
          </a:prstGeom>
        </p:spPr>
        <p:txBody>
          <a:bodyPr anchor="t" rtlCol="false" tIns="0" lIns="0" bIns="0" rIns="0">
            <a:spAutoFit/>
          </a:bodyPr>
          <a:lstStyle/>
          <a:p>
            <a:pPr algn="ctr">
              <a:lnSpc>
                <a:spcPts val="7042"/>
              </a:lnSpc>
            </a:pPr>
            <a:r>
              <a:rPr lang="en-US" sz="5030" b="true">
                <a:solidFill>
                  <a:srgbClr val="000000"/>
                </a:solidFill>
                <a:latin typeface="DejaVu Serif Bold"/>
                <a:ea typeface="DejaVu Serif Bold"/>
                <a:cs typeface="DejaVu Serif Bold"/>
                <a:sym typeface="DejaVu Serif Bold"/>
              </a:rPr>
              <a:t>4.4.Tìm kiếm(Search)</a:t>
            </a:r>
          </a:p>
        </p:txBody>
      </p:sp>
      <p:sp>
        <p:nvSpPr>
          <p:cNvPr name="TextBox 7" id="7"/>
          <p:cNvSpPr txBox="true"/>
          <p:nvPr/>
        </p:nvSpPr>
        <p:spPr>
          <a:xfrm rot="0">
            <a:off x="1028700" y="3055415"/>
            <a:ext cx="7516679" cy="537845"/>
          </a:xfrm>
          <a:prstGeom prst="rect">
            <a:avLst/>
          </a:prstGeom>
        </p:spPr>
        <p:txBody>
          <a:bodyPr anchor="t" rtlCol="false" tIns="0" lIns="0" bIns="0" rIns="0">
            <a:spAutoFit/>
          </a:bodyPr>
          <a:lstStyle/>
          <a:p>
            <a:pPr algn="ctr">
              <a:lnSpc>
                <a:spcPts val="4480"/>
              </a:lnSpc>
            </a:pPr>
            <a:r>
              <a:rPr lang="en-US" sz="3200">
                <a:solidFill>
                  <a:srgbClr val="000000"/>
                </a:solidFill>
                <a:latin typeface="Noto Serif Display"/>
                <a:ea typeface="Noto Serif Display"/>
                <a:cs typeface="Noto Serif Display"/>
                <a:sym typeface="Noto Serif Display"/>
              </a:rPr>
              <a:t>Mục đích: Tìm một giá trị trong BST</a:t>
            </a:r>
          </a:p>
        </p:txBody>
      </p:sp>
      <p:sp>
        <p:nvSpPr>
          <p:cNvPr name="TextBox 8" id="8"/>
          <p:cNvSpPr txBox="true"/>
          <p:nvPr/>
        </p:nvSpPr>
        <p:spPr>
          <a:xfrm rot="0">
            <a:off x="1356649" y="3992921"/>
            <a:ext cx="14623656" cy="4813874"/>
          </a:xfrm>
          <a:prstGeom prst="rect">
            <a:avLst/>
          </a:prstGeom>
        </p:spPr>
        <p:txBody>
          <a:bodyPr anchor="t" rtlCol="false" tIns="0" lIns="0" bIns="0" rIns="0">
            <a:spAutoFit/>
          </a:bodyPr>
          <a:lstStyle/>
          <a:p>
            <a:pPr algn="l">
              <a:lnSpc>
                <a:spcPts val="4782"/>
              </a:lnSpc>
            </a:pPr>
            <a:r>
              <a:rPr lang="en-US" sz="3415">
                <a:solidFill>
                  <a:srgbClr val="000000"/>
                </a:solidFill>
                <a:latin typeface="Noto Serif Display"/>
                <a:ea typeface="Noto Serif Display"/>
                <a:cs typeface="Noto Serif Display"/>
                <a:sym typeface="Noto Serif Display"/>
              </a:rPr>
              <a:t> </a:t>
            </a:r>
            <a:r>
              <a:rPr lang="en-US" sz="3415">
                <a:solidFill>
                  <a:srgbClr val="000000"/>
                </a:solidFill>
                <a:latin typeface="Noto Serif Display"/>
                <a:ea typeface="Noto Serif Display"/>
                <a:cs typeface="Noto Serif Display"/>
                <a:sym typeface="Noto Serif Display"/>
              </a:rPr>
              <a:t>Thuật toán tìm nút như sau:</a:t>
            </a:r>
          </a:p>
          <a:p>
            <a:pPr algn="l">
              <a:lnSpc>
                <a:spcPts val="4782"/>
              </a:lnSpc>
            </a:pPr>
            <a:r>
              <a:rPr lang="en-US" sz="3415">
                <a:solidFill>
                  <a:srgbClr val="000000"/>
                </a:solidFill>
                <a:latin typeface="Noto Serif Display"/>
                <a:ea typeface="Noto Serif Display"/>
                <a:cs typeface="Noto Serif Display"/>
                <a:sym typeface="Noto Serif Display"/>
              </a:rPr>
              <a:t> ➢ Nếu Node hiện tại có giá trị = giá trị cần tìm, trả về true và kết thúc.</a:t>
            </a:r>
          </a:p>
          <a:p>
            <a:pPr algn="l">
              <a:lnSpc>
                <a:spcPts val="4782"/>
              </a:lnSpc>
            </a:pPr>
            <a:r>
              <a:rPr lang="en-US" sz="3415">
                <a:solidFill>
                  <a:srgbClr val="000000"/>
                </a:solidFill>
                <a:latin typeface="Noto Serif Display"/>
                <a:ea typeface="Noto Serif Display"/>
                <a:cs typeface="Noto Serif Display"/>
                <a:sym typeface="Noto Serif Display"/>
              </a:rPr>
              <a:t> ➢ Nếu Node hiện tại có giá trị &gt; giá trị cần tìm, gọi đệ quy tìm ở cây con bên trái.</a:t>
            </a:r>
          </a:p>
          <a:p>
            <a:pPr algn="l">
              <a:lnSpc>
                <a:spcPts val="4782"/>
              </a:lnSpc>
            </a:pPr>
            <a:r>
              <a:rPr lang="en-US" sz="3415">
                <a:solidFill>
                  <a:srgbClr val="000000"/>
                </a:solidFill>
                <a:latin typeface="Noto Serif Display"/>
                <a:ea typeface="Noto Serif Display"/>
                <a:cs typeface="Noto Serif Display"/>
                <a:sym typeface="Noto Serif Display"/>
              </a:rPr>
              <a:t> ➢ Nếu Node hiện tại có giá trị &lt; giá trị cần tìm, gọi đệ quy tìm ở cây con bên phải</a:t>
            </a:r>
          </a:p>
          <a:p>
            <a:pPr algn="l">
              <a:lnSpc>
                <a:spcPts val="4782"/>
              </a:lnSpc>
            </a:pPr>
            <a:r>
              <a:rPr lang="en-US" sz="3415">
                <a:solidFill>
                  <a:srgbClr val="000000"/>
                </a:solidFill>
                <a:latin typeface="Noto Serif Display"/>
                <a:ea typeface="Noto Serif Display"/>
                <a:cs typeface="Noto Serif Display"/>
                <a:sym typeface="Noto Serif Display"/>
              </a:rPr>
              <a:t> ➢ Nếu tìm đến hết cây(Node đó = NULL) mà không tìm thấy, trả về false, thông báo “không tìm thấy” và kết thúc..</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4997723" cy="10287000"/>
          </a:xfrm>
          <a:custGeom>
            <a:avLst/>
            <a:gdLst/>
            <a:ahLst/>
            <a:cxnLst/>
            <a:rect r="r" b="b" t="t" l="l"/>
            <a:pathLst>
              <a:path h="10287000" w="4997723">
                <a:moveTo>
                  <a:pt x="0" y="0"/>
                </a:moveTo>
                <a:lnTo>
                  <a:pt x="4997723" y="0"/>
                </a:lnTo>
                <a:lnTo>
                  <a:pt x="4997723" y="10287000"/>
                </a:lnTo>
                <a:lnTo>
                  <a:pt x="0" y="10287000"/>
                </a:lnTo>
                <a:lnTo>
                  <a:pt x="0" y="0"/>
                </a:lnTo>
                <a:close/>
              </a:path>
            </a:pathLst>
          </a:custGeom>
          <a:blipFill>
            <a:blip r:embed="rId2"/>
            <a:stretch>
              <a:fillRect l="-36273" t="0" r="-172477" b="0"/>
            </a:stretch>
          </a:blipFill>
        </p:spPr>
      </p:sp>
      <p:sp>
        <p:nvSpPr>
          <p:cNvPr name="TextBox 3" id="3"/>
          <p:cNvSpPr txBox="true"/>
          <p:nvPr/>
        </p:nvSpPr>
        <p:spPr>
          <a:xfrm rot="0">
            <a:off x="5399264" y="249555"/>
            <a:ext cx="12888736" cy="9721216"/>
          </a:xfrm>
          <a:prstGeom prst="rect">
            <a:avLst/>
          </a:prstGeom>
        </p:spPr>
        <p:txBody>
          <a:bodyPr anchor="t" rtlCol="false" tIns="0" lIns="0" bIns="0" rIns="0">
            <a:spAutoFit/>
          </a:bodyPr>
          <a:lstStyle/>
          <a:p>
            <a:pPr algn="l" marL="863593" indent="-431796" lvl="1">
              <a:lnSpc>
                <a:spcPts val="5599"/>
              </a:lnSpc>
              <a:buFont typeface="Arial"/>
              <a:buChar char="•"/>
            </a:pPr>
            <a:r>
              <a:rPr lang="en-US" sz="3999">
                <a:solidFill>
                  <a:srgbClr val="2B4B82"/>
                </a:solidFill>
                <a:latin typeface="Paytone One"/>
                <a:ea typeface="Paytone One"/>
                <a:cs typeface="Paytone One"/>
                <a:sym typeface="Paytone One"/>
              </a:rPr>
              <a:t>Hàm tìm kiếm:</a:t>
            </a:r>
          </a:p>
          <a:p>
            <a:pPr algn="l">
              <a:lnSpc>
                <a:spcPts val="5319"/>
              </a:lnSpc>
            </a:pPr>
          </a:p>
          <a:p>
            <a:pPr algn="l">
              <a:lnSpc>
                <a:spcPts val="5599"/>
              </a:lnSpc>
            </a:pPr>
            <a:r>
              <a:rPr lang="en-US" sz="3999">
                <a:solidFill>
                  <a:srgbClr val="2B4B82"/>
                </a:solidFill>
                <a:latin typeface="Arial MT Pro"/>
                <a:ea typeface="Arial MT Pro"/>
                <a:cs typeface="Arial MT Pro"/>
                <a:sym typeface="Arial MT Pro"/>
              </a:rPr>
              <a:t>BSTNode* TimNode(BSTNode* GOC, int du_lieu)</a:t>
            </a:r>
          </a:p>
          <a:p>
            <a:pPr algn="l">
              <a:lnSpc>
                <a:spcPts val="5599"/>
              </a:lnSpc>
            </a:pPr>
            <a:r>
              <a:rPr lang="en-US" sz="3999">
                <a:solidFill>
                  <a:srgbClr val="2B4B82"/>
                </a:solidFill>
                <a:latin typeface="Arial MT Pro"/>
                <a:ea typeface="Arial MT Pro"/>
                <a:cs typeface="Arial MT Pro"/>
                <a:sym typeface="Arial MT Pro"/>
              </a:rPr>
              <a:t>//tìm theo dữ liệu đã cho</a:t>
            </a:r>
          </a:p>
          <a:p>
            <a:pPr algn="l">
              <a:lnSpc>
                <a:spcPts val="5599"/>
              </a:lnSpc>
            </a:pPr>
            <a:r>
              <a:rPr lang="en-US" sz="3999">
                <a:solidFill>
                  <a:srgbClr val="2B4B82"/>
                </a:solidFill>
                <a:latin typeface="Arial MT Pro"/>
                <a:ea typeface="Arial MT Pro"/>
                <a:cs typeface="Arial MT Pro"/>
                <a:sym typeface="Arial MT Pro"/>
              </a:rPr>
              <a:t> {  if(GOC == NULL)</a:t>
            </a:r>
          </a:p>
          <a:p>
            <a:pPr algn="l">
              <a:lnSpc>
                <a:spcPts val="5599"/>
              </a:lnSpc>
            </a:pPr>
            <a:r>
              <a:rPr lang="en-US" sz="3999">
                <a:solidFill>
                  <a:srgbClr val="2B4B82"/>
                </a:solidFill>
                <a:latin typeface="Arial MT Pro"/>
                <a:ea typeface="Arial MT Pro"/>
                <a:cs typeface="Arial MT Pro"/>
                <a:sym typeface="Arial MT Pro"/>
              </a:rPr>
              <a:t>        {</a:t>
            </a:r>
            <a:r>
              <a:rPr lang="en-US" sz="3999">
                <a:solidFill>
                  <a:srgbClr val="2B4B82"/>
                </a:solidFill>
                <a:latin typeface="Arial MT Pro"/>
                <a:ea typeface="Arial MT Pro"/>
                <a:cs typeface="Arial MT Pro"/>
                <a:sym typeface="Arial MT Pro"/>
              </a:rPr>
              <a:t> return NULL;}</a:t>
            </a:r>
          </a:p>
          <a:p>
            <a:pPr algn="l">
              <a:lnSpc>
                <a:spcPts val="5599"/>
              </a:lnSpc>
            </a:pPr>
            <a:r>
              <a:rPr lang="en-US" sz="3999">
                <a:solidFill>
                  <a:srgbClr val="2B4B82"/>
                </a:solidFill>
                <a:latin typeface="Arial MT Pro"/>
                <a:ea typeface="Arial MT Pro"/>
                <a:cs typeface="Arial MT Pro"/>
                <a:sym typeface="Arial MT Pro"/>
              </a:rPr>
              <a:t>     if</a:t>
            </a:r>
            <a:r>
              <a:rPr lang="en-US" sz="3999">
                <a:solidFill>
                  <a:srgbClr val="2B4B82"/>
                </a:solidFill>
                <a:latin typeface="Arial MT Pro"/>
                <a:ea typeface="Arial MT Pro"/>
                <a:cs typeface="Arial MT Pro"/>
                <a:sym typeface="Arial MT Pro"/>
              </a:rPr>
              <a:t> (GOC-&gt;du_lieu == du_lieu)</a:t>
            </a:r>
          </a:p>
          <a:p>
            <a:pPr algn="l">
              <a:lnSpc>
                <a:spcPts val="5599"/>
              </a:lnSpc>
            </a:pPr>
            <a:r>
              <a:rPr lang="en-US" sz="3999">
                <a:solidFill>
                  <a:srgbClr val="2B4B82"/>
                </a:solidFill>
                <a:latin typeface="Arial MT Pro"/>
                <a:ea typeface="Arial MT Pro"/>
                <a:cs typeface="Arial MT Pro"/>
                <a:sym typeface="Arial MT Pro"/>
              </a:rPr>
              <a:t><![CDATA[      { cout<<" Da tim thay nut "<<GOC >du_lieu<<"\n";  ]]></a:t>
            </a:r>
          </a:p>
          <a:p>
            <a:pPr algn="l">
              <a:lnSpc>
                <a:spcPts val="5599"/>
              </a:lnSpc>
            </a:pPr>
            <a:r>
              <a:rPr lang="en-US" sz="3999">
                <a:solidFill>
                  <a:srgbClr val="2B4B82"/>
                </a:solidFill>
                <a:latin typeface="Arial MT Pro"/>
                <a:ea typeface="Arial MT Pro"/>
                <a:cs typeface="Arial MT Pro"/>
                <a:sym typeface="Arial MT Pro"/>
              </a:rPr>
              <a:t>        return GOC;}</a:t>
            </a:r>
          </a:p>
          <a:p>
            <a:pPr algn="l">
              <a:lnSpc>
                <a:spcPts val="5599"/>
              </a:lnSpc>
            </a:pPr>
            <a:r>
              <a:rPr lang="en-US" sz="3999">
                <a:solidFill>
                  <a:srgbClr val="2B4B82"/>
                </a:solidFill>
                <a:latin typeface="Arial MT Pro"/>
                <a:ea typeface="Arial MT Pro"/>
                <a:cs typeface="Arial MT Pro"/>
                <a:sym typeface="Arial MT Pro"/>
              </a:rPr>
              <a:t>     if (GOC-&gt;du_lieu &gt; du_lieu)</a:t>
            </a:r>
          </a:p>
          <a:p>
            <a:pPr algn="l">
              <a:lnSpc>
                <a:spcPts val="5599"/>
              </a:lnSpc>
            </a:pPr>
            <a:r>
              <a:rPr lang="en-US" sz="3999">
                <a:solidFill>
                  <a:srgbClr val="2B4B82"/>
                </a:solidFill>
                <a:latin typeface="Arial MT Pro"/>
                <a:ea typeface="Arial MT Pro"/>
                <a:cs typeface="Arial MT Pro"/>
                <a:sym typeface="Arial MT Pro"/>
              </a:rPr>
              <a:t>         { TimNode(GOC-&gt;Lchild, du_lieu); }</a:t>
            </a:r>
          </a:p>
          <a:p>
            <a:pPr algn="l">
              <a:lnSpc>
                <a:spcPts val="5599"/>
              </a:lnSpc>
            </a:pPr>
            <a:r>
              <a:rPr lang="en-US" sz="3999">
                <a:solidFill>
                  <a:srgbClr val="2B4B82"/>
                </a:solidFill>
                <a:latin typeface="Arial MT Pro"/>
                <a:ea typeface="Arial MT Pro"/>
                <a:cs typeface="Arial MT Pro"/>
                <a:sym typeface="Arial MT Pro"/>
              </a:rPr>
              <a:t>     el</a:t>
            </a:r>
            <a:r>
              <a:rPr lang="en-US" sz="3999">
                <a:solidFill>
                  <a:srgbClr val="2B4B82"/>
                </a:solidFill>
                <a:latin typeface="Arial MT Pro"/>
                <a:ea typeface="Arial MT Pro"/>
                <a:cs typeface="Arial MT Pro"/>
                <a:sym typeface="Arial MT Pro"/>
              </a:rPr>
              <a:t>se  { TimNode(GOC-&gt;Rchild, du_lieu); }</a:t>
            </a:r>
          </a:p>
          <a:p>
            <a:pPr algn="l">
              <a:lnSpc>
                <a:spcPts val="5319"/>
              </a:lnSpc>
            </a:pPr>
            <a:r>
              <a:rPr lang="en-US" sz="3799">
                <a:solidFill>
                  <a:srgbClr val="2B4B82"/>
                </a:solidFill>
                <a:latin typeface="Paytone One"/>
                <a:ea typeface="Paytone One"/>
                <a:cs typeface="Paytone One"/>
                <a:sym typeface="Paytone One"/>
              </a:rPr>
              <a:t>  }</a:t>
            </a:r>
          </a:p>
          <a:p>
            <a:pPr algn="l">
              <a:lnSpc>
                <a:spcPts val="5319"/>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5377350" y="423862"/>
            <a:ext cx="8187413" cy="838314"/>
          </a:xfrm>
          <a:prstGeom prst="rect">
            <a:avLst/>
          </a:prstGeom>
        </p:spPr>
        <p:txBody>
          <a:bodyPr anchor="t" rtlCol="false" tIns="0" lIns="0" bIns="0" rIns="0">
            <a:spAutoFit/>
          </a:bodyPr>
          <a:lstStyle/>
          <a:p>
            <a:pPr algn="l">
              <a:lnSpc>
                <a:spcPts val="5885"/>
              </a:lnSpc>
            </a:pPr>
            <a:r>
              <a:rPr lang="en-US" sz="5030" spc="25">
                <a:solidFill>
                  <a:srgbClr val="F7B4A7"/>
                </a:solidFill>
                <a:latin typeface="Bungee"/>
                <a:ea typeface="Bungee"/>
                <a:cs typeface="Bungee"/>
                <a:sym typeface="Bungee"/>
              </a:rPr>
              <a:t>4.5.Xóa nút (Delete)</a:t>
            </a:r>
          </a:p>
        </p:txBody>
      </p:sp>
      <p:sp>
        <p:nvSpPr>
          <p:cNvPr name="TextBox 3" id="3"/>
          <p:cNvSpPr txBox="true"/>
          <p:nvPr/>
        </p:nvSpPr>
        <p:spPr>
          <a:xfrm rot="0">
            <a:off x="4493382" y="1994688"/>
            <a:ext cx="13346795" cy="7633335"/>
          </a:xfrm>
          <a:prstGeom prst="rect">
            <a:avLst/>
          </a:prstGeom>
        </p:spPr>
        <p:txBody>
          <a:bodyPr anchor="t" rtlCol="false" tIns="0" lIns="0" bIns="0" rIns="0">
            <a:spAutoFit/>
          </a:bodyPr>
          <a:lstStyle/>
          <a:p>
            <a:pPr algn="just" marL="777240" indent="-388620" lvl="1">
              <a:lnSpc>
                <a:spcPts val="5040"/>
              </a:lnSpc>
              <a:buAutoNum type="arabicPeriod" startAt="1"/>
            </a:pPr>
            <a:r>
              <a:rPr lang="en-US" sz="3600">
                <a:solidFill>
                  <a:srgbClr val="94DDDE"/>
                </a:solidFill>
                <a:latin typeface="Paytone One"/>
                <a:ea typeface="Paytone One"/>
                <a:cs typeface="Paytone One"/>
                <a:sym typeface="Paytone One"/>
              </a:rPr>
              <a:t>Mục đích: loại bỏ một nút khỏi cây mà vẫn giữ đúng tính chất BST.</a:t>
            </a:r>
          </a:p>
          <a:p>
            <a:pPr algn="just" marL="777240" indent="-388620" lvl="1">
              <a:lnSpc>
                <a:spcPts val="5040"/>
              </a:lnSpc>
              <a:buAutoNum type="arabicPeriod" startAt="1"/>
            </a:pPr>
            <a:r>
              <a:rPr lang="en-US" sz="3600">
                <a:solidFill>
                  <a:srgbClr val="94DDDE"/>
                </a:solidFill>
                <a:latin typeface="Paytone One"/>
                <a:ea typeface="Paytone One"/>
                <a:cs typeface="Paytone One"/>
                <a:sym typeface="Paytone One"/>
              </a:rPr>
              <a:t>3 trường hợp:</a:t>
            </a:r>
          </a:p>
          <a:p>
            <a:pPr algn="just" marL="777240" indent="-388620" lvl="1">
              <a:lnSpc>
                <a:spcPts val="5040"/>
              </a:lnSpc>
              <a:buFont typeface="Arial"/>
              <a:buChar char="•"/>
            </a:pPr>
            <a:r>
              <a:rPr lang="en-US" sz="3600">
                <a:solidFill>
                  <a:srgbClr val="94DDDE"/>
                </a:solidFill>
                <a:latin typeface="Paytone One"/>
                <a:ea typeface="Paytone One"/>
                <a:cs typeface="Paytone One"/>
                <a:sym typeface="Paytone One"/>
              </a:rPr>
              <a:t>  Nút cần xóa là nút lá: xóa trực tiếp.</a:t>
            </a:r>
          </a:p>
          <a:p>
            <a:pPr algn="just" marL="777240" indent="-388620" lvl="1">
              <a:lnSpc>
                <a:spcPts val="5040"/>
              </a:lnSpc>
              <a:buFont typeface="Arial"/>
              <a:buChar char="•"/>
            </a:pPr>
            <a:r>
              <a:rPr lang="en-US" sz="3600">
                <a:solidFill>
                  <a:srgbClr val="94DDDE"/>
                </a:solidFill>
                <a:latin typeface="Paytone One"/>
                <a:ea typeface="Paytone One"/>
                <a:cs typeface="Paytone One"/>
                <a:sym typeface="Paytone One"/>
              </a:rPr>
              <a:t> Nếu nó có 1 nút con thì thay nó bằng nút con rồi xóa nút con</a:t>
            </a:r>
          </a:p>
          <a:p>
            <a:pPr algn="just" marL="777240" indent="-388620" lvl="1">
              <a:lnSpc>
                <a:spcPts val="5040"/>
              </a:lnSpc>
              <a:buFont typeface="Arial"/>
              <a:buChar char="•"/>
            </a:pPr>
            <a:r>
              <a:rPr lang="en-US" sz="3600">
                <a:solidFill>
                  <a:srgbClr val="94DDDE"/>
                </a:solidFill>
                <a:latin typeface="Paytone One"/>
                <a:ea typeface="Paytone One"/>
                <a:cs typeface="Paytone One"/>
                <a:sym typeface="Paytone One"/>
              </a:rPr>
              <a:t>  Nếu nút cần xóa có 2 nút con thì :</a:t>
            </a:r>
          </a:p>
          <a:p>
            <a:pPr algn="just">
              <a:lnSpc>
                <a:spcPts val="5040"/>
              </a:lnSpc>
            </a:pPr>
            <a:r>
              <a:rPr lang="en-US" sz="3600">
                <a:solidFill>
                  <a:srgbClr val="94DDDE"/>
                </a:solidFill>
                <a:latin typeface="Paytone One"/>
                <a:ea typeface="Paytone One"/>
                <a:cs typeface="Paytone One"/>
                <a:sym typeface="Paytone One"/>
              </a:rPr>
              <a:t>               Tìm nút thay thế (Successor: nhỏ nhất bên phải hoặc                                                            Predecessor: lớn nhất bên trái).</a:t>
            </a:r>
          </a:p>
          <a:p>
            <a:pPr algn="just">
              <a:lnSpc>
                <a:spcPts val="5040"/>
              </a:lnSpc>
            </a:pPr>
            <a:r>
              <a:rPr lang="en-US" sz="3600">
                <a:solidFill>
                  <a:srgbClr val="94DDDE"/>
                </a:solidFill>
                <a:latin typeface="Paytone One"/>
                <a:ea typeface="Paytone One"/>
                <a:cs typeface="Paytone One"/>
                <a:sym typeface="Paytone One"/>
              </a:rPr>
              <a:t>                Sao chép giá trị từ nút thay thế vào nút cần xóa.</a:t>
            </a:r>
          </a:p>
          <a:p>
            <a:pPr algn="just">
              <a:lnSpc>
                <a:spcPts val="5040"/>
              </a:lnSpc>
            </a:pPr>
            <a:r>
              <a:rPr lang="en-US" sz="3600">
                <a:solidFill>
                  <a:srgbClr val="94DDDE"/>
                </a:solidFill>
                <a:latin typeface="Paytone One"/>
                <a:ea typeface="Paytone One"/>
                <a:cs typeface="Paytone One"/>
                <a:sym typeface="Paytone One"/>
              </a:rPr>
              <a:t>                 Gọi đệ quy Xóa nút nút thay thế</a:t>
            </a:r>
          </a:p>
          <a:p>
            <a:pPr algn="just">
              <a:lnSpc>
                <a:spcPts val="5040"/>
              </a:lnSpc>
            </a:pPr>
          </a:p>
        </p:txBody>
      </p:sp>
      <p:sp>
        <p:nvSpPr>
          <p:cNvPr name="Freeform 4" id="4"/>
          <p:cNvSpPr/>
          <p:nvPr/>
        </p:nvSpPr>
        <p:spPr>
          <a:xfrm flipH="false" flipV="false" rot="0">
            <a:off x="189880" y="731866"/>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65298" y="2331554"/>
            <a:ext cx="3874545" cy="5122596"/>
          </a:xfrm>
          <a:custGeom>
            <a:avLst/>
            <a:gdLst/>
            <a:ahLst/>
            <a:cxnLst/>
            <a:rect r="r" b="b" t="t" l="l"/>
            <a:pathLst>
              <a:path h="5122596" w="3874545">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65298" y="4135704"/>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0873089" y="4824774"/>
            <a:ext cx="7117661" cy="4818866"/>
          </a:xfrm>
          <a:custGeom>
            <a:avLst/>
            <a:gdLst/>
            <a:ahLst/>
            <a:cxnLst/>
            <a:rect r="r" b="b" t="t" l="l"/>
            <a:pathLst>
              <a:path h="4818866" w="7117661">
                <a:moveTo>
                  <a:pt x="0" y="0"/>
                </a:moveTo>
                <a:lnTo>
                  <a:pt x="7117662" y="0"/>
                </a:lnTo>
                <a:lnTo>
                  <a:pt x="7117662" y="4818866"/>
                </a:lnTo>
                <a:lnTo>
                  <a:pt x="0" y="4818866"/>
                </a:lnTo>
                <a:lnTo>
                  <a:pt x="0" y="0"/>
                </a:lnTo>
                <a:close/>
              </a:path>
            </a:pathLst>
          </a:custGeom>
          <a:blipFill>
            <a:blip r:embed="rId2"/>
            <a:stretch>
              <a:fillRect l="0" t="0" r="0" b="0"/>
            </a:stretch>
          </a:blipFill>
        </p:spPr>
      </p:sp>
      <p:sp>
        <p:nvSpPr>
          <p:cNvPr name="TextBox 3" id="3"/>
          <p:cNvSpPr txBox="true"/>
          <p:nvPr/>
        </p:nvSpPr>
        <p:spPr>
          <a:xfrm rot="0">
            <a:off x="1028700" y="1283521"/>
            <a:ext cx="9569415" cy="635953"/>
          </a:xfrm>
          <a:prstGeom prst="rect">
            <a:avLst/>
          </a:prstGeom>
        </p:spPr>
        <p:txBody>
          <a:bodyPr anchor="t" rtlCol="false" tIns="0" lIns="0" bIns="0" rIns="0">
            <a:spAutoFit/>
          </a:bodyPr>
          <a:lstStyle/>
          <a:p>
            <a:pPr algn="l">
              <a:lnSpc>
                <a:spcPts val="4778"/>
              </a:lnSpc>
            </a:pPr>
            <a:r>
              <a:rPr lang="en-US" sz="5030" spc="-50">
                <a:solidFill>
                  <a:srgbClr val="2B4B82"/>
                </a:solidFill>
                <a:latin typeface="Paytone One"/>
                <a:ea typeface="Paytone One"/>
                <a:cs typeface="Paytone One"/>
                <a:sym typeface="Paytone One"/>
              </a:rPr>
              <a:t>4.6.Quay cây</a:t>
            </a:r>
          </a:p>
        </p:txBody>
      </p:sp>
      <p:sp>
        <p:nvSpPr>
          <p:cNvPr name="TextBox 4" id="4"/>
          <p:cNvSpPr txBox="true"/>
          <p:nvPr/>
        </p:nvSpPr>
        <p:spPr>
          <a:xfrm rot="0">
            <a:off x="1028700" y="2328545"/>
            <a:ext cx="9279675" cy="6929755"/>
          </a:xfrm>
          <a:prstGeom prst="rect">
            <a:avLst/>
          </a:prstGeom>
        </p:spPr>
        <p:txBody>
          <a:bodyPr anchor="t" rtlCol="false" tIns="0" lIns="0" bIns="0" rIns="0">
            <a:spAutoFit/>
          </a:bodyPr>
          <a:lstStyle/>
          <a:p>
            <a:pPr algn="just">
              <a:lnSpc>
                <a:spcPts val="3919"/>
              </a:lnSpc>
            </a:pPr>
            <a:r>
              <a:rPr lang="en-US" sz="2799">
                <a:solidFill>
                  <a:srgbClr val="2B4B82"/>
                </a:solidFill>
                <a:latin typeface="DejaVu Serif"/>
                <a:ea typeface="DejaVu Serif"/>
                <a:cs typeface="DejaVu Serif"/>
                <a:sym typeface="DejaVu Serif"/>
              </a:rPr>
              <a:t>- Mục đích: khắc phục tình</a:t>
            </a:r>
            <a:r>
              <a:rPr lang="en-US" sz="2799">
                <a:solidFill>
                  <a:srgbClr val="2B4B82"/>
                </a:solidFill>
                <a:latin typeface="DejaVu Serif"/>
                <a:ea typeface="DejaVu Serif"/>
                <a:cs typeface="DejaVu Serif"/>
                <a:sym typeface="DejaVu Serif"/>
              </a:rPr>
              <a:t> trạng mất cân bằng trong cây.</a:t>
            </a:r>
          </a:p>
          <a:p>
            <a:pPr algn="just">
              <a:lnSpc>
                <a:spcPts val="3919"/>
              </a:lnSpc>
            </a:pPr>
            <a:r>
              <a:rPr lang="en-US" sz="2799">
                <a:solidFill>
                  <a:srgbClr val="2B4B82"/>
                </a:solidFill>
                <a:latin typeface="DejaVu Serif"/>
                <a:ea typeface="DejaVu Serif"/>
                <a:cs typeface="DejaVu Serif"/>
                <a:sym typeface="DejaVu Serif"/>
              </a:rPr>
              <a:t>- Các loại quay:</a:t>
            </a:r>
          </a:p>
          <a:p>
            <a:pPr algn="just">
              <a:lnSpc>
                <a:spcPts val="3919"/>
              </a:lnSpc>
            </a:pPr>
            <a:r>
              <a:rPr lang="en-US" sz="2799">
                <a:solidFill>
                  <a:srgbClr val="2B4B82"/>
                </a:solidFill>
                <a:latin typeface="DejaVu Serif"/>
                <a:ea typeface="DejaVu Serif"/>
                <a:cs typeface="DejaVu Serif"/>
                <a:sym typeface="DejaVu Serif"/>
              </a:rPr>
              <a:t>    + Quay phải đơn (Right Rotation): dùng khi cây bị lệch trái.</a:t>
            </a:r>
          </a:p>
          <a:p>
            <a:pPr algn="just">
              <a:lnSpc>
                <a:spcPts val="3919"/>
              </a:lnSpc>
            </a:pPr>
            <a:r>
              <a:rPr lang="en-US" sz="2799">
                <a:solidFill>
                  <a:srgbClr val="2B4B82"/>
                </a:solidFill>
                <a:latin typeface="DejaVu Serif"/>
                <a:ea typeface="DejaVu Serif"/>
                <a:cs typeface="DejaVu Serif"/>
                <a:sym typeface="DejaVu Serif"/>
              </a:rPr>
              <a:t>    + Quay trái đơn (Left Rotation): dùng khi cây bị lệch phải.</a:t>
            </a:r>
          </a:p>
          <a:p>
            <a:pPr algn="just">
              <a:lnSpc>
                <a:spcPts val="3919"/>
              </a:lnSpc>
            </a:pPr>
            <a:r>
              <a:rPr lang="en-US" sz="2799">
                <a:solidFill>
                  <a:srgbClr val="2B4B82"/>
                </a:solidFill>
                <a:latin typeface="DejaVu Serif"/>
                <a:ea typeface="DejaVu Serif"/>
                <a:cs typeface="DejaVu Serif"/>
                <a:sym typeface="DejaVu Serif"/>
              </a:rPr>
              <a:t>  + Quay kép trái-phải (Left-Right Rotation): trường hợp zigzag.</a:t>
            </a:r>
          </a:p>
          <a:p>
            <a:pPr algn="just">
              <a:lnSpc>
                <a:spcPts val="3919"/>
              </a:lnSpc>
            </a:pPr>
            <a:r>
              <a:rPr lang="en-US" sz="2799">
                <a:solidFill>
                  <a:srgbClr val="2B4B82"/>
                </a:solidFill>
                <a:latin typeface="DejaVu Serif"/>
                <a:ea typeface="DejaVu Serif"/>
                <a:cs typeface="DejaVu Serif"/>
                <a:sym typeface="DejaVu Serif"/>
              </a:rPr>
              <a:t>  + Quay kép phải-trái (Right-Left Rotation): trường hợp zigzag ngược.</a:t>
            </a:r>
          </a:p>
          <a:p>
            <a:pPr algn="just">
              <a:lnSpc>
                <a:spcPts val="3919"/>
              </a:lnSpc>
            </a:pPr>
            <a:r>
              <a:rPr lang="en-US" sz="2799">
                <a:solidFill>
                  <a:srgbClr val="2B4B82"/>
                </a:solidFill>
                <a:latin typeface="DejaVu Serif"/>
                <a:ea typeface="DejaVu Serif"/>
                <a:cs typeface="DejaVu Serif"/>
                <a:sym typeface="DejaVu Serif"/>
              </a:rPr>
              <a:t>- Độ phức tạp: O(1).</a:t>
            </a:r>
          </a:p>
          <a:p>
            <a:pPr algn="just">
              <a:lnSpc>
                <a:spcPts val="3919"/>
              </a:lnSpc>
            </a:pPr>
            <a:r>
              <a:rPr lang="en-US" sz="2799">
                <a:solidFill>
                  <a:srgbClr val="2B4B82"/>
                </a:solidFill>
                <a:latin typeface="DejaVu Serif"/>
                <a:ea typeface="DejaVu Serif"/>
                <a:cs typeface="DejaVu Serif"/>
                <a:sym typeface="DejaVu Serif"/>
              </a:rPr>
              <a:t>- Ứng dụng: trong cây AVL, cây đỏ-đen.</a:t>
            </a:r>
          </a:p>
          <a:p>
            <a:pPr algn="just">
              <a:lnSpc>
                <a:spcPts val="3919"/>
              </a:lnSpc>
            </a:pPr>
          </a:p>
        </p:txBody>
      </p:sp>
      <p:sp>
        <p:nvSpPr>
          <p:cNvPr name="Freeform 5" id="5"/>
          <p:cNvSpPr/>
          <p:nvPr/>
        </p:nvSpPr>
        <p:spPr>
          <a:xfrm flipH="false" flipV="false" rot="0">
            <a:off x="13734379" y="331021"/>
            <a:ext cx="3289448" cy="2057400"/>
          </a:xfrm>
          <a:custGeom>
            <a:avLst/>
            <a:gdLst/>
            <a:ahLst/>
            <a:cxnLst/>
            <a:rect r="r" b="b" t="t" l="l"/>
            <a:pathLst>
              <a:path h="2057400" w="3289448">
                <a:moveTo>
                  <a:pt x="0" y="0"/>
                </a:moveTo>
                <a:lnTo>
                  <a:pt x="3289447" y="0"/>
                </a:lnTo>
                <a:lnTo>
                  <a:pt x="3289447"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666750" y="923925"/>
            <a:ext cx="7915275" cy="906145"/>
          </a:xfrm>
          <a:prstGeom prst="rect">
            <a:avLst/>
          </a:prstGeom>
        </p:spPr>
        <p:txBody>
          <a:bodyPr anchor="t" rtlCol="false" tIns="0" lIns="0" bIns="0" rIns="0">
            <a:spAutoFit/>
          </a:bodyPr>
          <a:lstStyle/>
          <a:p>
            <a:pPr algn="ctr">
              <a:lnSpc>
                <a:spcPts val="7279"/>
              </a:lnSpc>
            </a:pPr>
            <a:r>
              <a:rPr lang="en-US" sz="5199" b="true">
                <a:solidFill>
                  <a:srgbClr val="000000"/>
                </a:solidFill>
                <a:latin typeface="DejaVu Serif Bold"/>
                <a:ea typeface="DejaVu Serif Bold"/>
                <a:cs typeface="DejaVu Serif Bold"/>
                <a:sym typeface="DejaVu Serif Bold"/>
              </a:rPr>
              <a:t>4.7.Các phép bổ sung</a:t>
            </a:r>
          </a:p>
        </p:txBody>
      </p:sp>
      <p:sp>
        <p:nvSpPr>
          <p:cNvPr name="TextBox 4" id="4"/>
          <p:cNvSpPr txBox="true"/>
          <p:nvPr/>
        </p:nvSpPr>
        <p:spPr>
          <a:xfrm rot="0">
            <a:off x="666750" y="2374418"/>
            <a:ext cx="12025417" cy="5981065"/>
          </a:xfrm>
          <a:prstGeom prst="rect">
            <a:avLst/>
          </a:prstGeom>
        </p:spPr>
        <p:txBody>
          <a:bodyPr anchor="t" rtlCol="false" tIns="0" lIns="0" bIns="0" rIns="0">
            <a:spAutoFit/>
          </a:bodyPr>
          <a:lstStyle/>
          <a:p>
            <a:pPr algn="l">
              <a:lnSpc>
                <a:spcPts val="4759"/>
              </a:lnSpc>
            </a:pPr>
            <a:r>
              <a:rPr lang="en-US" sz="3399">
                <a:solidFill>
                  <a:srgbClr val="000000"/>
                </a:solidFill>
                <a:latin typeface="Noto Serif Display"/>
                <a:ea typeface="Noto Serif Display"/>
                <a:cs typeface="Noto Serif Display"/>
                <a:sym typeface="Noto Serif Display"/>
              </a:rPr>
              <a:t>- </a:t>
            </a:r>
            <a:r>
              <a:rPr lang="en-US" sz="3399">
                <a:solidFill>
                  <a:srgbClr val="000000"/>
                </a:solidFill>
                <a:latin typeface="Noto Serif Display"/>
                <a:ea typeface="Noto Serif Display"/>
                <a:cs typeface="Noto Serif Display"/>
                <a:sym typeface="Noto Serif Display"/>
              </a:rPr>
              <a:t>Tính độ cao (Height): chiều dài đường đi dài nhất từ gốc đến lá.</a:t>
            </a:r>
          </a:p>
          <a:p>
            <a:pPr algn="l">
              <a:lnSpc>
                <a:spcPts val="4759"/>
              </a:lnSpc>
            </a:pPr>
            <a:r>
              <a:rPr lang="en-US" sz="3399">
                <a:solidFill>
                  <a:srgbClr val="000000"/>
                </a:solidFill>
                <a:latin typeface="Noto Serif Display"/>
                <a:ea typeface="Noto Serif Display"/>
                <a:cs typeface="Noto Serif Display"/>
                <a:sym typeface="Noto Serif Display"/>
              </a:rPr>
              <a:t>- Kiểm tra BST hợp lệ: dùng khoảng [min, max] để đảm bảo mọi nút thỏa điều kiện.</a:t>
            </a:r>
          </a:p>
          <a:p>
            <a:pPr algn="l">
              <a:lnSpc>
                <a:spcPts val="4759"/>
              </a:lnSpc>
            </a:pPr>
            <a:r>
              <a:rPr lang="en-US" sz="3399">
                <a:solidFill>
                  <a:srgbClr val="000000"/>
                </a:solidFill>
                <a:latin typeface="Noto Serif Display"/>
                <a:ea typeface="Noto Serif Display"/>
                <a:cs typeface="Noto Serif Display"/>
                <a:sym typeface="Noto Serif Display"/>
              </a:rPr>
              <a:t>- Tìm giá trị nhỏ nhất (Min): đi hết nhánh trái.</a:t>
            </a:r>
          </a:p>
          <a:p>
            <a:pPr algn="l">
              <a:lnSpc>
                <a:spcPts val="4759"/>
              </a:lnSpc>
            </a:pPr>
            <a:r>
              <a:rPr lang="en-US" sz="3399">
                <a:solidFill>
                  <a:srgbClr val="000000"/>
                </a:solidFill>
                <a:latin typeface="Noto Serif Display"/>
                <a:ea typeface="Noto Serif Display"/>
                <a:cs typeface="Noto Serif Display"/>
                <a:sym typeface="Noto Serif Display"/>
              </a:rPr>
              <a:t>- Tìm giá trị lớn nhất (Max): đi hết nhánh phải.</a:t>
            </a:r>
          </a:p>
          <a:p>
            <a:pPr algn="l">
              <a:lnSpc>
                <a:spcPts val="4759"/>
              </a:lnSpc>
            </a:pPr>
            <a:r>
              <a:rPr lang="en-US" sz="3399">
                <a:solidFill>
                  <a:srgbClr val="000000"/>
                </a:solidFill>
                <a:latin typeface="Noto Serif Display"/>
                <a:ea typeface="Noto Serif Display"/>
                <a:cs typeface="Noto Serif Display"/>
                <a:sym typeface="Noto Serif Display"/>
              </a:rPr>
              <a:t>- Successor: nút kế tiếp (nhỏ nhất trong cây con phải).</a:t>
            </a:r>
          </a:p>
          <a:p>
            <a:pPr algn="l">
              <a:lnSpc>
                <a:spcPts val="4759"/>
              </a:lnSpc>
            </a:pPr>
            <a:r>
              <a:rPr lang="en-US" sz="3399">
                <a:solidFill>
                  <a:srgbClr val="000000"/>
                </a:solidFill>
                <a:latin typeface="Noto Serif Display"/>
                <a:ea typeface="Noto Serif Display"/>
                <a:cs typeface="Noto Serif Display"/>
                <a:sym typeface="Noto Serif Display"/>
              </a:rPr>
              <a:t>- Predecessor: nút trước đó (lớn nhất trong cây con trái).</a:t>
            </a:r>
          </a:p>
          <a:p>
            <a:pPr algn="l">
              <a:lnSpc>
                <a:spcPts val="4759"/>
              </a:lnSpc>
            </a:pPr>
            <a:r>
              <a:rPr lang="en-US" sz="3399">
                <a:solidFill>
                  <a:srgbClr val="000000"/>
                </a:solidFill>
                <a:latin typeface="Noto Serif Display"/>
                <a:ea typeface="Noto Serif Display"/>
                <a:cs typeface="Noto Serif Display"/>
                <a:sym typeface="Noto Serif Display"/>
              </a:rPr>
              <a:t>- Độ phức tạp: O(h).</a:t>
            </a:r>
          </a:p>
          <a:p>
            <a:pPr algn="l">
              <a:lnSpc>
                <a:spcPts val="4759"/>
              </a:lnSpc>
            </a:pPr>
          </a:p>
        </p:txBody>
      </p:sp>
      <p:sp>
        <p:nvSpPr>
          <p:cNvPr name="Freeform 5" id="5"/>
          <p:cNvSpPr/>
          <p:nvPr/>
        </p:nvSpPr>
        <p:spPr>
          <a:xfrm flipH="false" flipV="false" rot="0">
            <a:off x="12692167" y="2525157"/>
            <a:ext cx="6414740" cy="6631780"/>
          </a:xfrm>
          <a:custGeom>
            <a:avLst/>
            <a:gdLst/>
            <a:ahLst/>
            <a:cxnLst/>
            <a:rect r="r" b="b" t="t" l="l"/>
            <a:pathLst>
              <a:path h="6631780" w="641474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537968" y="383693"/>
            <a:ext cx="3289448" cy="2057400"/>
          </a:xfrm>
          <a:custGeom>
            <a:avLst/>
            <a:gdLst/>
            <a:ahLst/>
            <a:cxnLst/>
            <a:rect r="r" b="b" t="t" l="l"/>
            <a:pathLst>
              <a:path h="2057400" w="3289448">
                <a:moveTo>
                  <a:pt x="0" y="0"/>
                </a:moveTo>
                <a:lnTo>
                  <a:pt x="3289448" y="0"/>
                </a:lnTo>
                <a:lnTo>
                  <a:pt x="3289448"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998034"/>
            <a:ext cx="15958711" cy="5380990"/>
          </a:xfrm>
          <a:prstGeom prst="rect">
            <a:avLst/>
          </a:prstGeom>
        </p:spPr>
        <p:txBody>
          <a:bodyPr anchor="t" rtlCol="false" tIns="0" lIns="0" bIns="0" rIns="0">
            <a:spAutoFit/>
          </a:bodyPr>
          <a:lstStyle/>
          <a:p>
            <a:pPr algn="l">
              <a:lnSpc>
                <a:spcPts val="4759"/>
              </a:lnSpc>
            </a:pPr>
            <a:r>
              <a:rPr lang="en-US" sz="3399">
                <a:solidFill>
                  <a:srgbClr val="000000"/>
                </a:solidFill>
                <a:latin typeface="Noto Serif Display"/>
                <a:ea typeface="Noto Serif Display"/>
                <a:cs typeface="Noto Serif Display"/>
                <a:sym typeface="Noto Serif Display"/>
              </a:rPr>
              <a:t>- Cân bằng cây:</a:t>
            </a:r>
          </a:p>
          <a:p>
            <a:pPr algn="l">
              <a:lnSpc>
                <a:spcPts val="4759"/>
              </a:lnSpc>
            </a:pPr>
            <a:r>
              <a:rPr lang="en-US" sz="3399">
                <a:solidFill>
                  <a:srgbClr val="000000"/>
                </a:solidFill>
                <a:latin typeface="Noto Serif Display"/>
                <a:ea typeface="Noto Serif Display"/>
                <a:cs typeface="Noto Serif Display"/>
                <a:sym typeface="Noto Serif Display"/>
              </a:rPr>
              <a:t>  + Duyệt InOrder để có danh sách tăng dần → xây lại cây cân bằng.</a:t>
            </a:r>
          </a:p>
          <a:p>
            <a:pPr algn="l">
              <a:lnSpc>
                <a:spcPts val="4759"/>
              </a:lnSpc>
            </a:pPr>
            <a:r>
              <a:rPr lang="en-US" sz="3399">
                <a:solidFill>
                  <a:srgbClr val="000000"/>
                </a:solidFill>
                <a:latin typeface="Noto Serif Display"/>
                <a:ea typeface="Noto Serif Display"/>
                <a:cs typeface="Noto Serif Display"/>
                <a:sym typeface="Noto Serif Display"/>
              </a:rPr>
              <a:t>  + Hoặc dùng cấu trúc AVL/Red-Black để tự cân bằng khi chèn/xóa.</a:t>
            </a:r>
          </a:p>
          <a:p>
            <a:pPr algn="l">
              <a:lnSpc>
                <a:spcPts val="4759"/>
              </a:lnSpc>
            </a:pPr>
            <a:r>
              <a:rPr lang="en-US" sz="3399">
                <a:solidFill>
                  <a:srgbClr val="000000"/>
                </a:solidFill>
                <a:latin typeface="Noto Serif Display"/>
                <a:ea typeface="Noto Serif Display"/>
                <a:cs typeface="Noto Serif Display"/>
                <a:sym typeface="Noto Serif Display"/>
              </a:rPr>
              <a:t>- Phản chiếu cây (Mirror): đổi cây con trái ↔ cây con phải.</a:t>
            </a:r>
          </a:p>
          <a:p>
            <a:pPr algn="l">
              <a:lnSpc>
                <a:spcPts val="4759"/>
              </a:lnSpc>
            </a:pPr>
            <a:r>
              <a:rPr lang="en-US" sz="3399">
                <a:solidFill>
                  <a:srgbClr val="000000"/>
                </a:solidFill>
                <a:latin typeface="Noto Serif Display"/>
                <a:ea typeface="Noto Serif Display"/>
                <a:cs typeface="Noto Serif Display"/>
                <a:sym typeface="Noto Serif Display"/>
              </a:rPr>
              <a:t>- </a:t>
            </a:r>
            <a:r>
              <a:rPr lang="en-US" sz="3399">
                <a:solidFill>
                  <a:srgbClr val="000000"/>
                </a:solidFill>
                <a:latin typeface="Noto Serif Display"/>
                <a:ea typeface="Noto Serif Display"/>
                <a:cs typeface="Noto Serif Display"/>
                <a:sym typeface="Noto Serif Display"/>
              </a:rPr>
              <a:t>Tìm đường đi từ gốc đến một nút: lưu lại các nút đi qua khi tìm kiếm.</a:t>
            </a:r>
          </a:p>
          <a:p>
            <a:pPr algn="l">
              <a:lnSpc>
                <a:spcPts val="4759"/>
              </a:lnSpc>
            </a:pPr>
            <a:r>
              <a:rPr lang="en-US" sz="3399">
                <a:solidFill>
                  <a:srgbClr val="000000"/>
                </a:solidFill>
                <a:latin typeface="Noto Serif Display"/>
                <a:ea typeface="Noto Serif Display"/>
                <a:cs typeface="Noto Serif Display"/>
                <a:sym typeface="Noto Serif Display"/>
              </a:rPr>
              <a:t>- Tìm LCA (Lowest Common Ancestor): tổ tiên chung thấp nhất của hai nút.</a:t>
            </a:r>
          </a:p>
          <a:p>
            <a:pPr algn="l">
              <a:lnSpc>
                <a:spcPts val="4759"/>
              </a:lnSpc>
            </a:pPr>
            <a:r>
              <a:rPr lang="en-US" sz="3399">
                <a:solidFill>
                  <a:srgbClr val="000000"/>
                </a:solidFill>
                <a:latin typeface="Noto Serif Display"/>
                <a:ea typeface="Noto Serif Display"/>
                <a:cs typeface="Noto Serif Display"/>
                <a:sym typeface="Noto Serif Display"/>
              </a:rPr>
              <a:t>- Ứng dụng trong bài toán mạng, quản lý dữ liệu phân cấp.</a:t>
            </a:r>
          </a:p>
          <a:p>
            <a:pPr algn="l">
              <a:lnSpc>
                <a:spcPts val="4759"/>
              </a:lnSpc>
            </a:pPr>
          </a:p>
          <a:p>
            <a:pPr algn="l">
              <a:lnSpc>
                <a:spcPts val="4759"/>
              </a:lnSpc>
            </a:pPr>
          </a:p>
        </p:txBody>
      </p:sp>
      <p:sp>
        <p:nvSpPr>
          <p:cNvPr name="TextBox 3" id="3"/>
          <p:cNvSpPr txBox="true"/>
          <p:nvPr/>
        </p:nvSpPr>
        <p:spPr>
          <a:xfrm rot="0">
            <a:off x="1028700" y="923925"/>
            <a:ext cx="9695920" cy="906145"/>
          </a:xfrm>
          <a:prstGeom prst="rect">
            <a:avLst/>
          </a:prstGeom>
        </p:spPr>
        <p:txBody>
          <a:bodyPr anchor="t" rtlCol="false" tIns="0" lIns="0" bIns="0" rIns="0">
            <a:spAutoFit/>
          </a:bodyPr>
          <a:lstStyle/>
          <a:p>
            <a:pPr algn="l">
              <a:lnSpc>
                <a:spcPts val="7279"/>
              </a:lnSpc>
            </a:pPr>
            <a:r>
              <a:rPr lang="en-US" sz="5199" b="true">
                <a:solidFill>
                  <a:srgbClr val="000000"/>
                </a:solidFill>
                <a:latin typeface="DejaVu Serif Bold"/>
                <a:ea typeface="DejaVu Serif Bold"/>
                <a:cs typeface="DejaVu Serif Bold"/>
                <a:sym typeface="DejaVu Serif Bold"/>
              </a:rPr>
              <a:t>4.8.Một số các phép khác</a:t>
            </a:r>
          </a:p>
        </p:txBody>
      </p:sp>
      <p:sp>
        <p:nvSpPr>
          <p:cNvPr name="TextBox 4" id="4"/>
          <p:cNvSpPr txBox="true"/>
          <p:nvPr/>
        </p:nvSpPr>
        <p:spPr>
          <a:xfrm rot="0">
            <a:off x="378405" y="6895731"/>
            <a:ext cx="17259300" cy="1180465"/>
          </a:xfrm>
          <a:prstGeom prst="rect">
            <a:avLst/>
          </a:prstGeom>
        </p:spPr>
        <p:txBody>
          <a:bodyPr anchor="t" rtlCol="false" tIns="0" lIns="0" bIns="0" rIns="0">
            <a:spAutoFit/>
          </a:bodyPr>
          <a:lstStyle/>
          <a:p>
            <a:pPr algn="ctr">
              <a:lnSpc>
                <a:spcPts val="4759"/>
              </a:lnSpc>
            </a:pPr>
            <a:r>
              <a:rPr lang="en-US" sz="3399">
                <a:solidFill>
                  <a:srgbClr val="000000"/>
                </a:solidFill>
                <a:latin typeface="Noto Serif Display"/>
                <a:ea typeface="Noto Serif Display"/>
                <a:cs typeface="Noto Serif Display"/>
                <a:sym typeface="Noto Serif Display"/>
              </a:rPr>
              <a:t>=&gt; BST là một trong những cấu trúc dữ liệu quan trọng nhất trong khoa học máy tính,   vừa đơn giản, vừa mạnh mẽ, áp dụng rộng rãi trong các hệ thống lớn.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grpSp>
        <p:nvGrpSpPr>
          <p:cNvPr name="Group 2" id="2"/>
          <p:cNvGrpSpPr/>
          <p:nvPr/>
        </p:nvGrpSpPr>
        <p:grpSpPr>
          <a:xfrm rot="0">
            <a:off x="1565158" y="3173939"/>
            <a:ext cx="7312717" cy="3939121"/>
            <a:chOff x="0" y="0"/>
            <a:chExt cx="9750289" cy="5252162"/>
          </a:xfrm>
        </p:grpSpPr>
        <p:sp>
          <p:nvSpPr>
            <p:cNvPr name="TextBox 3" id="3"/>
            <p:cNvSpPr txBox="true"/>
            <p:nvPr/>
          </p:nvSpPr>
          <p:spPr>
            <a:xfrm rot="0">
              <a:off x="0" y="196638"/>
              <a:ext cx="9750289" cy="2692188"/>
            </a:xfrm>
            <a:prstGeom prst="rect">
              <a:avLst/>
            </a:prstGeom>
          </p:spPr>
          <p:txBody>
            <a:bodyPr anchor="t" rtlCol="false" tIns="0" lIns="0" bIns="0" rIns="0">
              <a:spAutoFit/>
            </a:bodyPr>
            <a:lstStyle/>
            <a:p>
              <a:pPr algn="l">
                <a:lnSpc>
                  <a:spcPts val="7519"/>
                </a:lnSpc>
              </a:pPr>
              <a:r>
                <a:rPr lang="en-US" sz="8000" spc="-88">
                  <a:solidFill>
                    <a:srgbClr val="2B4B82"/>
                  </a:solidFill>
                  <a:latin typeface="Paytone One"/>
                  <a:ea typeface="Paytone One"/>
                  <a:cs typeface="Paytone One"/>
                  <a:sym typeface="Paytone One"/>
                </a:rPr>
                <a:t>Bạn có câu hỏi nào không?</a:t>
              </a:r>
            </a:p>
          </p:txBody>
        </p:sp>
        <p:sp>
          <p:nvSpPr>
            <p:cNvPr name="TextBox 4" id="4"/>
            <p:cNvSpPr txBox="true"/>
            <p:nvPr/>
          </p:nvSpPr>
          <p:spPr>
            <a:xfrm rot="0">
              <a:off x="0" y="3874212"/>
              <a:ext cx="9750289" cy="1377950"/>
            </a:xfrm>
            <a:prstGeom prst="rect">
              <a:avLst/>
            </a:prstGeom>
          </p:spPr>
          <p:txBody>
            <a:bodyPr anchor="t" rtlCol="false" tIns="0" lIns="0" bIns="0" rIns="0">
              <a:spAutoFit/>
            </a:bodyPr>
            <a:lstStyle/>
            <a:p>
              <a:pPr algn="l">
                <a:lnSpc>
                  <a:spcPts val="4200"/>
                </a:lnSpc>
              </a:pPr>
              <a:r>
                <a:rPr lang="en-US" sz="3000">
                  <a:solidFill>
                    <a:srgbClr val="2B4B82"/>
                  </a:solidFill>
                  <a:latin typeface="Paytone One"/>
                  <a:ea typeface="Paytone One"/>
                  <a:cs typeface="Paytone One"/>
                  <a:sym typeface="Paytone One"/>
                </a:rPr>
                <a:t>Hãy gửi cho chúng tôi! Hy vọng bạn đã học được thêm điều mới mẻ.</a:t>
              </a:r>
            </a:p>
          </p:txBody>
        </p:sp>
      </p:grpSp>
      <p:sp>
        <p:nvSpPr>
          <p:cNvPr name="Freeform 5" id="5"/>
          <p:cNvSpPr/>
          <p:nvPr/>
        </p:nvSpPr>
        <p:spPr>
          <a:xfrm flipH="false" flipV="false" rot="0">
            <a:off x="9854137" y="3018272"/>
            <a:ext cx="7411325" cy="4635447"/>
          </a:xfrm>
          <a:custGeom>
            <a:avLst/>
            <a:gdLst/>
            <a:ahLst/>
            <a:cxnLst/>
            <a:rect r="r" b="b" t="t" l="l"/>
            <a:pathLst>
              <a:path h="4635447" w="7411325">
                <a:moveTo>
                  <a:pt x="0" y="0"/>
                </a:moveTo>
                <a:lnTo>
                  <a:pt x="7411325" y="0"/>
                </a:lnTo>
                <a:lnTo>
                  <a:pt x="7411325" y="4635447"/>
                </a:lnTo>
                <a:lnTo>
                  <a:pt x="0" y="46354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DAGwhnqPOuQ</dc:identifier>
  <dcterms:modified xsi:type="dcterms:W3CDTF">2011-08-01T06:04:30Z</dcterms:modified>
  <cp:revision>1</cp:revision>
  <dc:title>Cẩm nang thông tin ngắn gọn</dc:title>
</cp:coreProperties>
</file>