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1"/>
  </p:notesMasterIdLst>
  <p:sldIdLst>
    <p:sldId id="256" r:id="rId2"/>
    <p:sldId id="259" r:id="rId3"/>
    <p:sldId id="298" r:id="rId4"/>
    <p:sldId id="269" r:id="rId5"/>
    <p:sldId id="258" r:id="rId6"/>
    <p:sldId id="297" r:id="rId7"/>
    <p:sldId id="299" r:id="rId8"/>
    <p:sldId id="300" r:id="rId9"/>
    <p:sldId id="303" r:id="rId10"/>
    <p:sldId id="260" r:id="rId11"/>
    <p:sldId id="302" r:id="rId12"/>
    <p:sldId id="267" r:id="rId13"/>
    <p:sldId id="305" r:id="rId14"/>
    <p:sldId id="306" r:id="rId15"/>
    <p:sldId id="270" r:id="rId16"/>
    <p:sldId id="308" r:id="rId17"/>
    <p:sldId id="309" r:id="rId18"/>
    <p:sldId id="310" r:id="rId19"/>
    <p:sldId id="311" r:id="rId20"/>
  </p:sldIdLst>
  <p:sldSz cx="9144000" cy="5143500" type="screen16x9"/>
  <p:notesSz cx="6858000" cy="9144000"/>
  <p:embeddedFontLst>
    <p:embeddedFont>
      <p:font typeface="Anaheim" panose="020B0604020202020204" charset="0"/>
      <p:regular r:id="rId22"/>
      <p:bold r:id="rId23"/>
    </p:embeddedFont>
    <p:embeddedFont>
      <p:font typeface="Cairo" panose="020B0604020202020204" charset="-78"/>
      <p:regular r:id="rId24"/>
      <p:bold r:id="rId25"/>
    </p:embeddedFont>
    <p:embeddedFont>
      <p:font typeface="Nunito Light" pitchFamily="2" charset="0"/>
      <p:regular r:id="rId26"/>
      <p:italic r:id="rId27"/>
    </p:embeddedFont>
    <p:embeddedFont>
      <p:font typeface="Open Sans" panose="020B0606030504020204" pitchFamily="34" charset="0"/>
      <p:regular r:id="rId28"/>
      <p:bold r:id="rId29"/>
      <p:italic r:id="rId30"/>
      <p:boldItalic r:id="rId31"/>
    </p:embeddedFont>
    <p:embeddedFont>
      <p:font typeface="Raleway" pitchFamily="2" charset="0"/>
      <p:regular r:id="rId32"/>
      <p:bold r:id="rId33"/>
      <p:italic r:id="rId34"/>
      <p:boldItalic r:id="rId35"/>
    </p:embeddedFont>
    <p:embeddedFont>
      <p:font typeface="Space Grotesk" panose="020B0604020202020204" charset="0"/>
      <p:regular r:id="rId36"/>
      <p:bold r:id="rId37"/>
    </p:embeddedFont>
    <p:embeddedFont>
      <p:font typeface="Space Grotesk Medium" panose="020B060402020202020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29FFCF-5F27-481C-92FF-0E2ACB6D031C}" v="10" dt="2025-08-19T07:13:03.499"/>
  </p1510:revLst>
</p1510:revInfo>
</file>

<file path=ppt/tableStyles.xml><?xml version="1.0" encoding="utf-8"?>
<a:tblStyleLst xmlns:a="http://schemas.openxmlformats.org/drawingml/2006/main" def="{337E6546-3B27-4349-B1F3-F91B3558E00F}">
  <a:tblStyle styleId="{337E6546-3B27-4349-B1F3-F91B3558E00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AB3790B-A2FD-4482-83F3-4F6B67C4D16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6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i khánh" userId="455981448d62c209" providerId="LiveId" clId="{0E29FFCF-5F27-481C-92FF-0E2ACB6D031C}"/>
    <pc:docChg chg="custSel modSld">
      <pc:chgData name="vii khánh" userId="455981448d62c209" providerId="LiveId" clId="{0E29FFCF-5F27-481C-92FF-0E2ACB6D031C}" dt="2025-08-19T07:16:53.022" v="121" actId="5793"/>
      <pc:docMkLst>
        <pc:docMk/>
      </pc:docMkLst>
      <pc:sldChg chg="modSp mod">
        <pc:chgData name="vii khánh" userId="455981448d62c209" providerId="LiveId" clId="{0E29FFCF-5F27-481C-92FF-0E2ACB6D031C}" dt="2025-08-19T03:44:26.708" v="5" actId="1076"/>
        <pc:sldMkLst>
          <pc:docMk/>
          <pc:sldMk cId="0" sldId="256"/>
        </pc:sldMkLst>
        <pc:spChg chg="mod">
          <ac:chgData name="vii khánh" userId="455981448d62c209" providerId="LiveId" clId="{0E29FFCF-5F27-481C-92FF-0E2ACB6D031C}" dt="2025-08-19T03:44:14.549" v="3" actId="113"/>
          <ac:spMkLst>
            <pc:docMk/>
            <pc:sldMk cId="0" sldId="256"/>
            <ac:spMk id="253" creationId="{00000000-0000-0000-0000-000000000000}"/>
          </ac:spMkLst>
        </pc:spChg>
        <pc:spChg chg="mod">
          <ac:chgData name="vii khánh" userId="455981448d62c209" providerId="LiveId" clId="{0E29FFCF-5F27-481C-92FF-0E2ACB6D031C}" dt="2025-08-19T03:44:26.708" v="5" actId="1076"/>
          <ac:spMkLst>
            <pc:docMk/>
            <pc:sldMk cId="0" sldId="256"/>
            <ac:spMk id="254" creationId="{00000000-0000-0000-0000-000000000000}"/>
          </ac:spMkLst>
        </pc:spChg>
      </pc:sldChg>
      <pc:sldChg chg="modSp mod">
        <pc:chgData name="vii khánh" userId="455981448d62c209" providerId="LiveId" clId="{0E29FFCF-5F27-481C-92FF-0E2ACB6D031C}" dt="2025-08-19T06:59:12.184" v="88" actId="113"/>
        <pc:sldMkLst>
          <pc:docMk/>
          <pc:sldMk cId="0" sldId="258"/>
        </pc:sldMkLst>
        <pc:spChg chg="mod">
          <ac:chgData name="vii khánh" userId="455981448d62c209" providerId="LiveId" clId="{0E29FFCF-5F27-481C-92FF-0E2ACB6D031C}" dt="2025-08-19T06:58:59.576" v="82" actId="113"/>
          <ac:spMkLst>
            <pc:docMk/>
            <pc:sldMk cId="0" sldId="258"/>
            <ac:spMk id="23" creationId="{096CBC93-6A67-54C0-A511-F9103CD46A7D}"/>
          </ac:spMkLst>
        </pc:spChg>
        <pc:spChg chg="mod">
          <ac:chgData name="vii khánh" userId="455981448d62c209" providerId="LiveId" clId="{0E29FFCF-5F27-481C-92FF-0E2ACB6D031C}" dt="2025-08-19T06:59:12.184" v="88" actId="113"/>
          <ac:spMkLst>
            <pc:docMk/>
            <pc:sldMk cId="0" sldId="258"/>
            <ac:spMk id="29" creationId="{929C7BA9-9C16-3F50-C0E1-EA719B6F7D4C}"/>
          </ac:spMkLst>
        </pc:spChg>
      </pc:sldChg>
      <pc:sldChg chg="modSp mod">
        <pc:chgData name="vii khánh" userId="455981448d62c209" providerId="LiveId" clId="{0E29FFCF-5F27-481C-92FF-0E2ACB6D031C}" dt="2025-08-19T07:16:21.728" v="120" actId="14100"/>
        <pc:sldMkLst>
          <pc:docMk/>
          <pc:sldMk cId="0" sldId="259"/>
        </pc:sldMkLst>
        <pc:spChg chg="mod">
          <ac:chgData name="vii khánh" userId="455981448d62c209" providerId="LiveId" clId="{0E29FFCF-5F27-481C-92FF-0E2ACB6D031C}" dt="2025-08-19T03:48:02.918" v="19" actId="12"/>
          <ac:spMkLst>
            <pc:docMk/>
            <pc:sldMk cId="0" sldId="259"/>
            <ac:spMk id="287" creationId="{00000000-0000-0000-0000-000000000000}"/>
          </ac:spMkLst>
        </pc:spChg>
        <pc:picChg chg="mod">
          <ac:chgData name="vii khánh" userId="455981448d62c209" providerId="LiveId" clId="{0E29FFCF-5F27-481C-92FF-0E2ACB6D031C}" dt="2025-08-19T07:16:21.728" v="120" actId="14100"/>
          <ac:picMkLst>
            <pc:docMk/>
            <pc:sldMk cId="0" sldId="259"/>
            <ac:picMk id="2" creationId="{D1055BA0-A0E9-D783-CDB1-0A8E11A1D070}"/>
          </ac:picMkLst>
        </pc:picChg>
      </pc:sldChg>
      <pc:sldChg chg="addSp delSp modSp mod">
        <pc:chgData name="vii khánh" userId="455981448d62c209" providerId="LiveId" clId="{0E29FFCF-5F27-481C-92FF-0E2ACB6D031C}" dt="2025-08-19T03:53:08.121" v="61" actId="1076"/>
        <pc:sldMkLst>
          <pc:docMk/>
          <pc:sldMk cId="0" sldId="269"/>
        </pc:sldMkLst>
        <pc:spChg chg="mod">
          <ac:chgData name="vii khánh" userId="455981448d62c209" providerId="LiveId" clId="{0E29FFCF-5F27-481C-92FF-0E2ACB6D031C}" dt="2025-08-19T03:53:01.002" v="60" actId="14100"/>
          <ac:spMkLst>
            <pc:docMk/>
            <pc:sldMk cId="0" sldId="269"/>
            <ac:spMk id="444" creationId="{00000000-0000-0000-0000-000000000000}"/>
          </ac:spMkLst>
        </pc:spChg>
        <pc:spChg chg="mod">
          <ac:chgData name="vii khánh" userId="455981448d62c209" providerId="LiveId" clId="{0E29FFCF-5F27-481C-92FF-0E2ACB6D031C}" dt="2025-08-19T03:53:01.002" v="60" actId="14100"/>
          <ac:spMkLst>
            <pc:docMk/>
            <pc:sldMk cId="0" sldId="269"/>
            <ac:spMk id="445" creationId="{00000000-0000-0000-0000-000000000000}"/>
          </ac:spMkLst>
        </pc:spChg>
        <pc:spChg chg="del">
          <ac:chgData name="vii khánh" userId="455981448d62c209" providerId="LiveId" clId="{0E29FFCF-5F27-481C-92FF-0E2ACB6D031C}" dt="2025-08-19T03:50:29.082" v="28" actId="478"/>
          <ac:spMkLst>
            <pc:docMk/>
            <pc:sldMk cId="0" sldId="269"/>
            <ac:spMk id="446" creationId="{00000000-0000-0000-0000-000000000000}"/>
          </ac:spMkLst>
        </pc:spChg>
        <pc:spChg chg="del topLvl">
          <ac:chgData name="vii khánh" userId="455981448d62c209" providerId="LiveId" clId="{0E29FFCF-5F27-481C-92FF-0E2ACB6D031C}" dt="2025-08-19T03:50:27.473" v="27" actId="478"/>
          <ac:spMkLst>
            <pc:docMk/>
            <pc:sldMk cId="0" sldId="269"/>
            <ac:spMk id="448" creationId="{00000000-0000-0000-0000-000000000000}"/>
          </ac:spMkLst>
        </pc:spChg>
        <pc:spChg chg="del topLvl">
          <ac:chgData name="vii khánh" userId="455981448d62c209" providerId="LiveId" clId="{0E29FFCF-5F27-481C-92FF-0E2ACB6D031C}" dt="2025-08-19T03:50:05.798" v="24" actId="478"/>
          <ac:spMkLst>
            <pc:docMk/>
            <pc:sldMk cId="0" sldId="269"/>
            <ac:spMk id="449" creationId="{00000000-0000-0000-0000-000000000000}"/>
          </ac:spMkLst>
        </pc:spChg>
        <pc:grpChg chg="del">
          <ac:chgData name="vii khánh" userId="455981448d62c209" providerId="LiveId" clId="{0E29FFCF-5F27-481C-92FF-0E2ACB6D031C}" dt="2025-08-19T03:50:05.798" v="24" actId="478"/>
          <ac:grpSpMkLst>
            <pc:docMk/>
            <pc:sldMk cId="0" sldId="269"/>
            <ac:grpSpMk id="447" creationId="{00000000-0000-0000-0000-000000000000}"/>
          </ac:grpSpMkLst>
        </pc:grpChg>
        <pc:picChg chg="add mod">
          <ac:chgData name="vii khánh" userId="455981448d62c209" providerId="LiveId" clId="{0E29FFCF-5F27-481C-92FF-0E2ACB6D031C}" dt="2025-08-19T03:53:08.121" v="61" actId="1076"/>
          <ac:picMkLst>
            <pc:docMk/>
            <pc:sldMk cId="0" sldId="269"/>
            <ac:picMk id="3" creationId="{62984F12-B844-5CC5-8E0F-6A5FB5EA97FE}"/>
          </ac:picMkLst>
        </pc:picChg>
        <pc:picChg chg="add mod">
          <ac:chgData name="vii khánh" userId="455981448d62c209" providerId="LiveId" clId="{0E29FFCF-5F27-481C-92FF-0E2ACB6D031C}" dt="2025-08-19T03:53:08.121" v="61" actId="1076"/>
          <ac:picMkLst>
            <pc:docMk/>
            <pc:sldMk cId="0" sldId="269"/>
            <ac:picMk id="5" creationId="{E34F5D98-D61A-F7CF-D654-8F18142E0D73}"/>
          </ac:picMkLst>
        </pc:picChg>
        <pc:picChg chg="add mod">
          <ac:chgData name="vii khánh" userId="455981448d62c209" providerId="LiveId" clId="{0E29FFCF-5F27-481C-92FF-0E2ACB6D031C}" dt="2025-08-19T03:53:08.121" v="61" actId="1076"/>
          <ac:picMkLst>
            <pc:docMk/>
            <pc:sldMk cId="0" sldId="269"/>
            <ac:picMk id="7" creationId="{AC67C166-AF1D-7375-D04B-53F471ADE80E}"/>
          </ac:picMkLst>
        </pc:picChg>
        <pc:picChg chg="del">
          <ac:chgData name="vii khánh" userId="455981448d62c209" providerId="LiveId" clId="{0E29FFCF-5F27-481C-92FF-0E2ACB6D031C}" dt="2025-08-19T03:49:57.135" v="23" actId="478"/>
          <ac:picMkLst>
            <pc:docMk/>
            <pc:sldMk cId="0" sldId="269"/>
            <ac:picMk id="450" creationId="{00000000-0000-0000-0000-000000000000}"/>
          </ac:picMkLst>
        </pc:picChg>
        <pc:picChg chg="del">
          <ac:chgData name="vii khánh" userId="455981448d62c209" providerId="LiveId" clId="{0E29FFCF-5F27-481C-92FF-0E2ACB6D031C}" dt="2025-08-19T03:49:55.080" v="22" actId="478"/>
          <ac:picMkLst>
            <pc:docMk/>
            <pc:sldMk cId="0" sldId="269"/>
            <ac:picMk id="451" creationId="{00000000-0000-0000-0000-000000000000}"/>
          </ac:picMkLst>
        </pc:picChg>
      </pc:sldChg>
      <pc:sldChg chg="modSp mod">
        <pc:chgData name="vii khánh" userId="455981448d62c209" providerId="LiveId" clId="{0E29FFCF-5F27-481C-92FF-0E2ACB6D031C}" dt="2025-08-19T03:48:12.928" v="21" actId="12"/>
        <pc:sldMkLst>
          <pc:docMk/>
          <pc:sldMk cId="1498849513" sldId="298"/>
        </pc:sldMkLst>
        <pc:spChg chg="mod">
          <ac:chgData name="vii khánh" userId="455981448d62c209" providerId="LiveId" clId="{0E29FFCF-5F27-481C-92FF-0E2ACB6D031C}" dt="2025-08-19T03:48:12.928" v="21" actId="12"/>
          <ac:spMkLst>
            <pc:docMk/>
            <pc:sldMk cId="1498849513" sldId="298"/>
            <ac:spMk id="3" creationId="{3809FF3F-9FC9-153C-D5BE-876EB8BEFAEC}"/>
          </ac:spMkLst>
        </pc:spChg>
      </pc:sldChg>
      <pc:sldChg chg="modSp mod">
        <pc:chgData name="vii khánh" userId="455981448d62c209" providerId="LiveId" clId="{0E29FFCF-5F27-481C-92FF-0E2ACB6D031C}" dt="2025-08-19T07:16:53.022" v="121" actId="5793"/>
        <pc:sldMkLst>
          <pc:docMk/>
          <pc:sldMk cId="3520878270" sldId="300"/>
        </pc:sldMkLst>
        <pc:spChg chg="mod">
          <ac:chgData name="vii khánh" userId="455981448d62c209" providerId="LiveId" clId="{0E29FFCF-5F27-481C-92FF-0E2ACB6D031C}" dt="2025-08-19T07:16:53.022" v="121" actId="5793"/>
          <ac:spMkLst>
            <pc:docMk/>
            <pc:sldMk cId="3520878270" sldId="300"/>
            <ac:spMk id="5" creationId="{714262E2-F049-84D1-38CC-633224D14538}"/>
          </ac:spMkLst>
        </pc:spChg>
      </pc:sldChg>
      <pc:sldChg chg="addSp delSp modSp mod">
        <pc:chgData name="vii khánh" userId="455981448d62c209" providerId="LiveId" clId="{0E29FFCF-5F27-481C-92FF-0E2ACB6D031C}" dt="2025-08-19T07:16:01.801" v="119" actId="1076"/>
        <pc:sldMkLst>
          <pc:docMk/>
          <pc:sldMk cId="2918217127" sldId="308"/>
        </pc:sldMkLst>
        <pc:spChg chg="mod">
          <ac:chgData name="vii khánh" userId="455981448d62c209" providerId="LiveId" clId="{0E29FFCF-5F27-481C-92FF-0E2ACB6D031C}" dt="2025-08-19T07:16:01.801" v="119" actId="1076"/>
          <ac:spMkLst>
            <pc:docMk/>
            <pc:sldMk cId="2918217127" sldId="308"/>
            <ac:spMk id="4" creationId="{74E60A5A-2DF8-820F-52F9-DBCE9286E1DA}"/>
          </ac:spMkLst>
        </pc:spChg>
        <pc:picChg chg="add del mod">
          <ac:chgData name="vii khánh" userId="455981448d62c209" providerId="LiveId" clId="{0E29FFCF-5F27-481C-92FF-0E2ACB6D031C}" dt="2025-08-19T03:55:23.269" v="62" actId="478"/>
          <ac:picMkLst>
            <pc:docMk/>
            <pc:sldMk cId="2918217127" sldId="308"/>
            <ac:picMk id="5" creationId="{0C183426-5CBF-D077-9893-5D860EC897C6}"/>
          </ac:picMkLst>
        </pc:picChg>
        <pc:picChg chg="add mod">
          <ac:chgData name="vii khánh" userId="455981448d62c209" providerId="LiveId" clId="{0E29FFCF-5F27-481C-92FF-0E2ACB6D031C}" dt="2025-08-19T07:08:24.025" v="105" actId="1076"/>
          <ac:picMkLst>
            <pc:docMk/>
            <pc:sldMk cId="2918217127" sldId="308"/>
            <ac:picMk id="6" creationId="{1908981E-9503-BD9F-D919-A32DEACEAB38}"/>
          </ac:picMkLst>
        </pc:picChg>
        <pc:picChg chg="add del mod">
          <ac:chgData name="vii khánh" userId="455981448d62c209" providerId="LiveId" clId="{0E29FFCF-5F27-481C-92FF-0E2ACB6D031C}" dt="2025-08-19T03:58:32.579" v="67" actId="478"/>
          <ac:picMkLst>
            <pc:docMk/>
            <pc:sldMk cId="2918217127" sldId="308"/>
            <ac:picMk id="6" creationId="{A044CDC7-F87D-ED92-69FD-BD8399E84B53}"/>
          </ac:picMkLst>
        </pc:picChg>
        <pc:picChg chg="add mod modCrop">
          <ac:chgData name="vii khánh" userId="455981448d62c209" providerId="LiveId" clId="{0E29FFCF-5F27-481C-92FF-0E2ACB6D031C}" dt="2025-08-19T07:08:31.873" v="106" actId="1076"/>
          <ac:picMkLst>
            <pc:docMk/>
            <pc:sldMk cId="2918217127" sldId="308"/>
            <ac:picMk id="8" creationId="{6788D9E3-4317-EFC3-9F67-58B4619331FD}"/>
          </ac:picMkLst>
        </pc:picChg>
        <pc:picChg chg="del">
          <ac:chgData name="vii khánh" userId="455981448d62c209" providerId="LiveId" clId="{0E29FFCF-5F27-481C-92FF-0E2ACB6D031C}" dt="2025-08-19T03:46:52.520" v="9" actId="478"/>
          <ac:picMkLst>
            <pc:docMk/>
            <pc:sldMk cId="2918217127" sldId="308"/>
            <ac:picMk id="13" creationId="{76DC3165-967E-C4DB-E1A6-97BFA2879DB3}"/>
          </ac:picMkLst>
        </pc:picChg>
        <pc:picChg chg="del">
          <ac:chgData name="vii khánh" userId="455981448d62c209" providerId="LiveId" clId="{0E29FFCF-5F27-481C-92FF-0E2ACB6D031C}" dt="2025-08-19T07:06:41.411" v="89" actId="478"/>
          <ac:picMkLst>
            <pc:docMk/>
            <pc:sldMk cId="2918217127" sldId="308"/>
            <ac:picMk id="19" creationId="{D5DA94E6-DE1F-9601-77FA-EBA31E819D91}"/>
          </ac:picMkLst>
        </pc:picChg>
        <pc:cxnChg chg="del mod">
          <ac:chgData name="vii khánh" userId="455981448d62c209" providerId="LiveId" clId="{0E29FFCF-5F27-481C-92FF-0E2ACB6D031C}" dt="2025-08-19T07:07:30.883" v="97" actId="478"/>
          <ac:cxnSpMkLst>
            <pc:docMk/>
            <pc:sldMk cId="2918217127" sldId="308"/>
            <ac:cxnSpMk id="15" creationId="{E5C70035-05EC-DE30-9292-983449A83BFC}"/>
          </ac:cxnSpMkLst>
        </pc:cxnChg>
      </pc:sldChg>
      <pc:sldChg chg="modSp mod">
        <pc:chgData name="vii khánh" userId="455981448d62c209" providerId="LiveId" clId="{0E29FFCF-5F27-481C-92FF-0E2ACB6D031C}" dt="2025-08-19T03:47:31.656" v="15" actId="1076"/>
        <pc:sldMkLst>
          <pc:docMk/>
          <pc:sldMk cId="216717848" sldId="310"/>
        </pc:sldMkLst>
        <pc:picChg chg="mod">
          <ac:chgData name="vii khánh" userId="455981448d62c209" providerId="LiveId" clId="{0E29FFCF-5F27-481C-92FF-0E2ACB6D031C}" dt="2025-08-19T03:47:31.656" v="15" actId="1076"/>
          <ac:picMkLst>
            <pc:docMk/>
            <pc:sldMk cId="216717848" sldId="310"/>
            <ac:picMk id="9" creationId="{0E1FC94E-BC2A-58C1-DC46-92AA90811C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F0373DF8-73D0-BFD9-37B4-0033B9CB170A}"/>
            </a:ext>
          </a:extLst>
        </p:cNvPr>
        <p:cNvGrpSpPr/>
        <p:nvPr/>
      </p:nvGrpSpPr>
      <p:grpSpPr>
        <a:xfrm>
          <a:off x="0" y="0"/>
          <a:ext cx="0" cy="0"/>
          <a:chOff x="0" y="0"/>
          <a:chExt cx="0" cy="0"/>
        </a:xfrm>
      </p:grpSpPr>
      <p:sp>
        <p:nvSpPr>
          <p:cNvPr id="265" name="Google Shape;265;gd431007ba2_0_215:notes">
            <a:extLst>
              <a:ext uri="{FF2B5EF4-FFF2-40B4-BE49-F238E27FC236}">
                <a16:creationId xmlns:a16="http://schemas.microsoft.com/office/drawing/2014/main" id="{F3D615DF-936D-9088-B5E1-6006DA7395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d431007ba2_0_215:notes">
            <a:extLst>
              <a:ext uri="{FF2B5EF4-FFF2-40B4-BE49-F238E27FC236}">
                <a16:creationId xmlns:a16="http://schemas.microsoft.com/office/drawing/2014/main" id="{878EDD2E-92F9-25BA-B3D4-0C0BE2E3A7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703642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184d99d1a72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184d99d1a72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7313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9C9C-397C-332C-4484-B7DDA3C0D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BBCC2-BB4E-3E95-7ECF-610F67649A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85A6202-D650-1E74-D697-A4A8A1F07D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09995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2205375"/>
            <a:ext cx="5257800" cy="1614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solidFill>
                  <a:srgbClr val="241160"/>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885650"/>
            <a:ext cx="3690600" cy="468600"/>
          </a:xfrm>
          <a:prstGeom prst="rect">
            <a:avLst/>
          </a:prstGeom>
          <a:solidFill>
            <a:schemeClr val="dk2"/>
          </a:solid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1" name="Google Shape;11;p2"/>
          <p:cNvPicPr preferRelativeResize="0"/>
          <p:nvPr/>
        </p:nvPicPr>
        <p:blipFill>
          <a:blip r:embed="rId2">
            <a:alphaModFix/>
          </a:blip>
          <a:stretch>
            <a:fillRect/>
          </a:stretch>
        </p:blipFill>
        <p:spPr>
          <a:xfrm rot="10800000" flipH="1">
            <a:off x="0" y="0"/>
            <a:ext cx="4727801" cy="2256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4047175" y="2388500"/>
            <a:ext cx="4383600" cy="1626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4047175" y="1438750"/>
            <a:ext cx="1230300" cy="8814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pic>
        <p:nvPicPr>
          <p:cNvPr id="15" name="Google Shape;15;p3"/>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9" name="Google Shape;39;p6"/>
          <p:cNvGrpSpPr/>
          <p:nvPr/>
        </p:nvGrpSpPr>
        <p:grpSpPr>
          <a:xfrm>
            <a:off x="0" y="4"/>
            <a:ext cx="9144004" cy="5143496"/>
            <a:chOff x="0" y="4"/>
            <a:chExt cx="9144004" cy="5143496"/>
          </a:xfrm>
        </p:grpSpPr>
        <p:pic>
          <p:nvPicPr>
            <p:cNvPr id="40" name="Google Shape;40;p6"/>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41" name="Google Shape;41;p6"/>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42" name="Google Shape;42;p6"/>
          <p:cNvGrpSpPr/>
          <p:nvPr/>
        </p:nvGrpSpPr>
        <p:grpSpPr>
          <a:xfrm rot="-10539848" flipH="1">
            <a:off x="6108563" y="4049075"/>
            <a:ext cx="4573901" cy="3479217"/>
            <a:chOff x="1522650" y="1117750"/>
            <a:chExt cx="4574075" cy="3479350"/>
          </a:xfrm>
        </p:grpSpPr>
        <p:sp>
          <p:nvSpPr>
            <p:cNvPr id="43" name="Google Shape;43;p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11975" y="829350"/>
            <a:ext cx="3993300" cy="989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 name="Google Shape;47;p7"/>
          <p:cNvSpPr txBox="1">
            <a:spLocks noGrp="1"/>
          </p:cNvSpPr>
          <p:nvPr>
            <p:ph type="subTitle" idx="1"/>
          </p:nvPr>
        </p:nvSpPr>
        <p:spPr>
          <a:xfrm>
            <a:off x="811975" y="1878550"/>
            <a:ext cx="39933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Open Sans"/>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48" name="Google Shape;48;p7"/>
          <p:cNvSpPr>
            <a:spLocks noGrp="1"/>
          </p:cNvSpPr>
          <p:nvPr>
            <p:ph type="pic" idx="2"/>
          </p:nvPr>
        </p:nvSpPr>
        <p:spPr>
          <a:xfrm>
            <a:off x="5088475" y="770400"/>
            <a:ext cx="3081600" cy="3602700"/>
          </a:xfrm>
          <a:prstGeom prst="roundRect">
            <a:avLst>
              <a:gd name="adj" fmla="val 16667"/>
            </a:avLst>
          </a:prstGeom>
          <a:noFill/>
          <a:ln>
            <a:noFill/>
          </a:ln>
        </p:spPr>
      </p:sp>
      <p:grpSp>
        <p:nvGrpSpPr>
          <p:cNvPr id="49" name="Google Shape;49;p7"/>
          <p:cNvGrpSpPr/>
          <p:nvPr/>
        </p:nvGrpSpPr>
        <p:grpSpPr>
          <a:xfrm>
            <a:off x="0" y="0"/>
            <a:ext cx="9144001" cy="5143500"/>
            <a:chOff x="0" y="0"/>
            <a:chExt cx="9144001" cy="5143500"/>
          </a:xfrm>
        </p:grpSpPr>
        <p:pic>
          <p:nvPicPr>
            <p:cNvPr id="50" name="Google Shape;50;p7"/>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51" name="Google Shape;51;p7"/>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52" name="Google Shape;52;p7"/>
          <p:cNvGrpSpPr/>
          <p:nvPr/>
        </p:nvGrpSpPr>
        <p:grpSpPr>
          <a:xfrm rot="10800000">
            <a:off x="6704226" y="3811697"/>
            <a:ext cx="4574075" cy="3479350"/>
            <a:chOff x="1522650" y="1117750"/>
            <a:chExt cx="4574075" cy="3479350"/>
          </a:xfrm>
        </p:grpSpPr>
        <p:sp>
          <p:nvSpPr>
            <p:cNvPr id="53" name="Google Shape;53;p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grpSp>
        <p:nvGrpSpPr>
          <p:cNvPr id="56" name="Google Shape;56;p8"/>
          <p:cNvGrpSpPr/>
          <p:nvPr/>
        </p:nvGrpSpPr>
        <p:grpSpPr>
          <a:xfrm>
            <a:off x="10" y="0"/>
            <a:ext cx="9143991" cy="5143500"/>
            <a:chOff x="10" y="0"/>
            <a:chExt cx="9143991" cy="5143500"/>
          </a:xfrm>
        </p:grpSpPr>
        <p:pic>
          <p:nvPicPr>
            <p:cNvPr id="57" name="Google Shape;57;p8"/>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58" name="Google Shape;58;p8"/>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59" name="Google Shape;59;p8"/>
          <p:cNvGrpSpPr/>
          <p:nvPr/>
        </p:nvGrpSpPr>
        <p:grpSpPr>
          <a:xfrm rot="756538">
            <a:off x="5159567" y="-1927047"/>
            <a:ext cx="4574157" cy="3479412"/>
            <a:chOff x="1522650" y="1117750"/>
            <a:chExt cx="4574075" cy="3479350"/>
          </a:xfrm>
        </p:grpSpPr>
        <p:sp>
          <p:nvSpPr>
            <p:cNvPr id="60" name="Google Shape;60;p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8"/>
          <p:cNvSpPr txBox="1">
            <a:spLocks noGrp="1"/>
          </p:cNvSpPr>
          <p:nvPr>
            <p:ph type="title"/>
          </p:nvPr>
        </p:nvSpPr>
        <p:spPr>
          <a:xfrm>
            <a:off x="3830000" y="1716400"/>
            <a:ext cx="45081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3"/>
        <p:cNvGrpSpPr/>
        <p:nvPr/>
      </p:nvGrpSpPr>
      <p:grpSpPr>
        <a:xfrm>
          <a:off x="0" y="0"/>
          <a:ext cx="0" cy="0"/>
          <a:chOff x="0" y="0"/>
          <a:chExt cx="0" cy="0"/>
        </a:xfrm>
      </p:grpSpPr>
      <p:grpSp>
        <p:nvGrpSpPr>
          <p:cNvPr id="64" name="Google Shape;64;p9"/>
          <p:cNvGrpSpPr/>
          <p:nvPr/>
        </p:nvGrpSpPr>
        <p:grpSpPr>
          <a:xfrm rot="756538">
            <a:off x="-714808" y="-2409347"/>
            <a:ext cx="4574157" cy="3479412"/>
            <a:chOff x="1522650" y="1117750"/>
            <a:chExt cx="4574075" cy="3479350"/>
          </a:xfrm>
        </p:grpSpPr>
        <p:sp>
          <p:nvSpPr>
            <p:cNvPr id="65" name="Google Shape;65;p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9"/>
          <p:cNvGrpSpPr/>
          <p:nvPr/>
        </p:nvGrpSpPr>
        <p:grpSpPr>
          <a:xfrm>
            <a:off x="0" y="0"/>
            <a:ext cx="9144001" cy="5143500"/>
            <a:chOff x="0" y="0"/>
            <a:chExt cx="9144001" cy="5143500"/>
          </a:xfrm>
        </p:grpSpPr>
        <p:pic>
          <p:nvPicPr>
            <p:cNvPr id="68" name="Google Shape;68;p9"/>
            <p:cNvPicPr preferRelativeResize="0"/>
            <p:nvPr/>
          </p:nvPicPr>
          <p:blipFill>
            <a:blip r:embed="rId2">
              <a:alphaModFix/>
            </a:blip>
            <a:stretch>
              <a:fillRect/>
            </a:stretch>
          </p:blipFill>
          <p:spPr>
            <a:xfrm rot="10800000" flipH="1">
              <a:off x="5738810" y="0"/>
              <a:ext cx="3405191" cy="5143500"/>
            </a:xfrm>
            <a:prstGeom prst="rect">
              <a:avLst/>
            </a:prstGeom>
            <a:noFill/>
            <a:ln>
              <a:noFill/>
            </a:ln>
          </p:spPr>
        </p:pic>
        <p:pic>
          <p:nvPicPr>
            <p:cNvPr id="69" name="Google Shape;69;p9"/>
            <p:cNvPicPr preferRelativeResize="0"/>
            <p:nvPr/>
          </p:nvPicPr>
          <p:blipFill>
            <a:blip r:embed="rId3">
              <a:alphaModFix/>
            </a:blip>
            <a:stretch>
              <a:fillRect/>
            </a:stretch>
          </p:blipFill>
          <p:spPr>
            <a:xfrm rot="10800000" flipH="1">
              <a:off x="0" y="0"/>
              <a:ext cx="4727801" cy="2256875"/>
            </a:xfrm>
            <a:prstGeom prst="rect">
              <a:avLst/>
            </a:prstGeom>
            <a:noFill/>
            <a:ln>
              <a:noFill/>
            </a:ln>
          </p:spPr>
        </p:pic>
      </p:grpSp>
      <p:sp>
        <p:nvSpPr>
          <p:cNvPr id="70" name="Google Shape;70;p9"/>
          <p:cNvSpPr txBox="1">
            <a:spLocks noGrp="1"/>
          </p:cNvSpPr>
          <p:nvPr>
            <p:ph type="title"/>
          </p:nvPr>
        </p:nvSpPr>
        <p:spPr>
          <a:xfrm>
            <a:off x="713225" y="1528900"/>
            <a:ext cx="4872900" cy="1964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1" name="Google Shape;71;p9"/>
          <p:cNvSpPr txBox="1">
            <a:spLocks noGrp="1"/>
          </p:cNvSpPr>
          <p:nvPr>
            <p:ph type="subTitle" idx="1"/>
          </p:nvPr>
        </p:nvSpPr>
        <p:spPr>
          <a:xfrm>
            <a:off x="713225" y="3640050"/>
            <a:ext cx="4872900" cy="45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2"/>
        <p:cNvGrpSpPr/>
        <p:nvPr/>
      </p:nvGrpSpPr>
      <p:grpSpPr>
        <a:xfrm>
          <a:off x="0" y="0"/>
          <a:ext cx="0" cy="0"/>
          <a:chOff x="0" y="0"/>
          <a:chExt cx="0" cy="0"/>
        </a:xfrm>
      </p:grpSpPr>
      <p:sp>
        <p:nvSpPr>
          <p:cNvPr id="73" name="Google Shape;73;p10"/>
          <p:cNvSpPr>
            <a:spLocks noGrp="1"/>
          </p:cNvSpPr>
          <p:nvPr>
            <p:ph type="pic" idx="2"/>
          </p:nvPr>
        </p:nvSpPr>
        <p:spPr>
          <a:xfrm>
            <a:off x="0" y="0"/>
            <a:ext cx="9144000" cy="5143500"/>
          </a:xfrm>
          <a:prstGeom prst="rect">
            <a:avLst/>
          </a:prstGeom>
          <a:noFill/>
          <a:ln>
            <a:noFill/>
          </a:ln>
        </p:spPr>
      </p:sp>
      <p:sp>
        <p:nvSpPr>
          <p:cNvPr id="74" name="Google Shape;74;p10"/>
          <p:cNvSpPr txBox="1">
            <a:spLocks noGrp="1"/>
          </p:cNvSpPr>
          <p:nvPr>
            <p:ph type="title"/>
          </p:nvPr>
        </p:nvSpPr>
        <p:spPr>
          <a:xfrm>
            <a:off x="720000" y="4014450"/>
            <a:ext cx="5713200" cy="5727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75" name="Google Shape;75;p10"/>
          <p:cNvGrpSpPr/>
          <p:nvPr/>
        </p:nvGrpSpPr>
        <p:grpSpPr>
          <a:xfrm>
            <a:off x="0" y="4"/>
            <a:ext cx="9144004" cy="5143496"/>
            <a:chOff x="0" y="4"/>
            <a:chExt cx="9144004" cy="5143496"/>
          </a:xfrm>
        </p:grpSpPr>
        <p:pic>
          <p:nvPicPr>
            <p:cNvPr id="76" name="Google Shape;76;p1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77" name="Google Shape;77;p1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78" name="Google Shape;78;p10"/>
          <p:cNvGrpSpPr/>
          <p:nvPr/>
        </p:nvGrpSpPr>
        <p:grpSpPr>
          <a:xfrm>
            <a:off x="-896231" y="-2525369"/>
            <a:ext cx="11703669" cy="10221582"/>
            <a:chOff x="-896231" y="-2525369"/>
            <a:chExt cx="11703669" cy="10221582"/>
          </a:xfrm>
        </p:grpSpPr>
        <p:grpSp>
          <p:nvGrpSpPr>
            <p:cNvPr id="79" name="Google Shape;79;p10"/>
            <p:cNvGrpSpPr/>
            <p:nvPr/>
          </p:nvGrpSpPr>
          <p:grpSpPr>
            <a:xfrm rot="-10539848" flipH="1">
              <a:off x="6108563" y="4049075"/>
              <a:ext cx="4573901" cy="3479217"/>
              <a:chOff x="1522650" y="1117750"/>
              <a:chExt cx="4574075" cy="3479350"/>
            </a:xfrm>
          </p:grpSpPr>
          <p:sp>
            <p:nvSpPr>
              <p:cNvPr id="80" name="Google Shape;80;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10"/>
            <p:cNvGrpSpPr/>
            <p:nvPr/>
          </p:nvGrpSpPr>
          <p:grpSpPr>
            <a:xfrm>
              <a:off x="-896231" y="-2525369"/>
              <a:ext cx="4573618" cy="3479002"/>
              <a:chOff x="1522650" y="1117750"/>
              <a:chExt cx="4574075" cy="3479350"/>
            </a:xfrm>
          </p:grpSpPr>
          <p:sp>
            <p:nvSpPr>
              <p:cNvPr id="83" name="Google Shape;83;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 name="Google Shape;92;p13"/>
          <p:cNvSpPr txBox="1">
            <a:spLocks noGrp="1"/>
          </p:cNvSpPr>
          <p:nvPr>
            <p:ph type="title" idx="2" hasCustomPrompt="1"/>
          </p:nvPr>
        </p:nvSpPr>
        <p:spPr>
          <a:xfrm>
            <a:off x="720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3" hasCustomPrompt="1"/>
          </p:nvPr>
        </p:nvSpPr>
        <p:spPr>
          <a:xfrm>
            <a:off x="720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title" idx="4" hasCustomPrompt="1"/>
          </p:nvPr>
        </p:nvSpPr>
        <p:spPr>
          <a:xfrm>
            <a:off x="3306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a:spLocks noGrp="1"/>
          </p:cNvSpPr>
          <p:nvPr>
            <p:ph type="title" idx="5" hasCustomPrompt="1"/>
          </p:nvPr>
        </p:nvSpPr>
        <p:spPr>
          <a:xfrm>
            <a:off x="3306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3"/>
          <p:cNvSpPr txBox="1">
            <a:spLocks noGrp="1"/>
          </p:cNvSpPr>
          <p:nvPr>
            <p:ph type="title" idx="6" hasCustomPrompt="1"/>
          </p:nvPr>
        </p:nvSpPr>
        <p:spPr>
          <a:xfrm>
            <a:off x="5892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a:spLocks noGrp="1"/>
          </p:cNvSpPr>
          <p:nvPr>
            <p:ph type="title" idx="7" hasCustomPrompt="1"/>
          </p:nvPr>
        </p:nvSpPr>
        <p:spPr>
          <a:xfrm>
            <a:off x="5892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3"/>
          <p:cNvSpPr txBox="1">
            <a:spLocks noGrp="1"/>
          </p:cNvSpPr>
          <p:nvPr>
            <p:ph type="subTitle" idx="1"/>
          </p:nvPr>
        </p:nvSpPr>
        <p:spPr>
          <a:xfrm>
            <a:off x="720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9" name="Google Shape;99;p13"/>
          <p:cNvSpPr txBox="1">
            <a:spLocks noGrp="1"/>
          </p:cNvSpPr>
          <p:nvPr>
            <p:ph type="subTitle" idx="8"/>
          </p:nvPr>
        </p:nvSpPr>
        <p:spPr>
          <a:xfrm>
            <a:off x="3306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0" name="Google Shape;100;p13"/>
          <p:cNvSpPr txBox="1">
            <a:spLocks noGrp="1"/>
          </p:cNvSpPr>
          <p:nvPr>
            <p:ph type="subTitle" idx="9"/>
          </p:nvPr>
        </p:nvSpPr>
        <p:spPr>
          <a:xfrm>
            <a:off x="5892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1" name="Google Shape;101;p13"/>
          <p:cNvSpPr txBox="1">
            <a:spLocks noGrp="1"/>
          </p:cNvSpPr>
          <p:nvPr>
            <p:ph type="subTitle" idx="13"/>
          </p:nvPr>
        </p:nvSpPr>
        <p:spPr>
          <a:xfrm>
            <a:off x="720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2" name="Google Shape;102;p13"/>
          <p:cNvSpPr txBox="1">
            <a:spLocks noGrp="1"/>
          </p:cNvSpPr>
          <p:nvPr>
            <p:ph type="subTitle" idx="14"/>
          </p:nvPr>
        </p:nvSpPr>
        <p:spPr>
          <a:xfrm>
            <a:off x="3306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3" name="Google Shape;103;p13"/>
          <p:cNvSpPr txBox="1">
            <a:spLocks noGrp="1"/>
          </p:cNvSpPr>
          <p:nvPr>
            <p:ph type="subTitle" idx="15"/>
          </p:nvPr>
        </p:nvSpPr>
        <p:spPr>
          <a:xfrm>
            <a:off x="5892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104" name="Google Shape;104;p13"/>
          <p:cNvGrpSpPr/>
          <p:nvPr/>
        </p:nvGrpSpPr>
        <p:grpSpPr>
          <a:xfrm>
            <a:off x="0" y="4"/>
            <a:ext cx="9144004" cy="5143496"/>
            <a:chOff x="0" y="4"/>
            <a:chExt cx="9144004" cy="5143496"/>
          </a:xfrm>
        </p:grpSpPr>
        <p:pic>
          <p:nvPicPr>
            <p:cNvPr id="105" name="Google Shape;105;p13"/>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06" name="Google Shape;106;p13"/>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07" name="Google Shape;107;p13"/>
          <p:cNvGrpSpPr/>
          <p:nvPr/>
        </p:nvGrpSpPr>
        <p:grpSpPr>
          <a:xfrm rot="-10539848" flipH="1">
            <a:off x="6108563" y="4049075"/>
            <a:ext cx="4573901" cy="3479217"/>
            <a:chOff x="1522650" y="1117750"/>
            <a:chExt cx="4574075" cy="3479350"/>
          </a:xfrm>
        </p:grpSpPr>
        <p:sp>
          <p:nvSpPr>
            <p:cNvPr id="108" name="Google Shape;108;p13"/>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3"/>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10"/>
        <p:cNvGrpSpPr/>
        <p:nvPr/>
      </p:nvGrpSpPr>
      <p:grpSpPr>
        <a:xfrm>
          <a:off x="0" y="0"/>
          <a:ext cx="0" cy="0"/>
          <a:chOff x="0" y="0"/>
          <a:chExt cx="0" cy="0"/>
        </a:xfrm>
      </p:grpSpPr>
      <p:grpSp>
        <p:nvGrpSpPr>
          <p:cNvPr id="111" name="Google Shape;111;p14"/>
          <p:cNvGrpSpPr/>
          <p:nvPr/>
        </p:nvGrpSpPr>
        <p:grpSpPr>
          <a:xfrm>
            <a:off x="0" y="0"/>
            <a:ext cx="9144001" cy="5143500"/>
            <a:chOff x="0" y="0"/>
            <a:chExt cx="9144001" cy="5143500"/>
          </a:xfrm>
        </p:grpSpPr>
        <p:pic>
          <p:nvPicPr>
            <p:cNvPr id="112" name="Google Shape;112;p14"/>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13" name="Google Shape;113;p14"/>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14" name="Google Shape;114;p14"/>
          <p:cNvGrpSpPr/>
          <p:nvPr/>
        </p:nvGrpSpPr>
        <p:grpSpPr>
          <a:xfrm rot="10800000">
            <a:off x="6704226" y="3811697"/>
            <a:ext cx="4574075" cy="3479350"/>
            <a:chOff x="1522650" y="1117750"/>
            <a:chExt cx="4574075" cy="3479350"/>
          </a:xfrm>
        </p:grpSpPr>
        <p:sp>
          <p:nvSpPr>
            <p:cNvPr id="115" name="Google Shape;115;p1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 name="Google Shape;117;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18"/>
        <p:cNvGrpSpPr/>
        <p:nvPr/>
      </p:nvGrpSpPr>
      <p:grpSpPr>
        <a:xfrm>
          <a:off x="0" y="0"/>
          <a:ext cx="0" cy="0"/>
          <a:chOff x="0" y="0"/>
          <a:chExt cx="0" cy="0"/>
        </a:xfrm>
      </p:grpSpPr>
      <p:grpSp>
        <p:nvGrpSpPr>
          <p:cNvPr id="119" name="Google Shape;119;p15"/>
          <p:cNvGrpSpPr/>
          <p:nvPr/>
        </p:nvGrpSpPr>
        <p:grpSpPr>
          <a:xfrm>
            <a:off x="0" y="4"/>
            <a:ext cx="9144004" cy="5143496"/>
            <a:chOff x="0" y="4"/>
            <a:chExt cx="9144004" cy="5143496"/>
          </a:xfrm>
        </p:grpSpPr>
        <p:pic>
          <p:nvPicPr>
            <p:cNvPr id="120" name="Google Shape;120;p1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21" name="Google Shape;121;p1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22" name="Google Shape;122;p15"/>
          <p:cNvGrpSpPr/>
          <p:nvPr/>
        </p:nvGrpSpPr>
        <p:grpSpPr>
          <a:xfrm rot="-10539848" flipH="1">
            <a:off x="6108563" y="4049075"/>
            <a:ext cx="4573901" cy="3479217"/>
            <a:chOff x="1522650" y="1117750"/>
            <a:chExt cx="4574075" cy="3479350"/>
          </a:xfrm>
        </p:grpSpPr>
        <p:sp>
          <p:nvSpPr>
            <p:cNvPr id="123" name="Google Shape;123;p1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5"/>
          <p:cNvSpPr txBox="1">
            <a:spLocks noGrp="1"/>
          </p:cNvSpPr>
          <p:nvPr>
            <p:ph type="title"/>
          </p:nvPr>
        </p:nvSpPr>
        <p:spPr>
          <a:xfrm>
            <a:off x="3889175" y="1000050"/>
            <a:ext cx="3205500" cy="105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6" name="Google Shape;126;p15"/>
          <p:cNvSpPr txBox="1">
            <a:spLocks noGrp="1"/>
          </p:cNvSpPr>
          <p:nvPr>
            <p:ph type="subTitle" idx="1"/>
          </p:nvPr>
        </p:nvSpPr>
        <p:spPr>
          <a:xfrm>
            <a:off x="3889175" y="2131950"/>
            <a:ext cx="4185300" cy="201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p:cSld name="CUSTOM_4_2">
    <p:spTree>
      <p:nvGrpSpPr>
        <p:cNvPr id="1" name="Shape 140"/>
        <p:cNvGrpSpPr/>
        <p:nvPr/>
      </p:nvGrpSpPr>
      <p:grpSpPr>
        <a:xfrm>
          <a:off x="0" y="0"/>
          <a:ext cx="0" cy="0"/>
          <a:chOff x="0" y="0"/>
          <a:chExt cx="0" cy="0"/>
        </a:xfrm>
      </p:grpSpPr>
      <p:grpSp>
        <p:nvGrpSpPr>
          <p:cNvPr id="141" name="Google Shape;141;p17"/>
          <p:cNvGrpSpPr/>
          <p:nvPr/>
        </p:nvGrpSpPr>
        <p:grpSpPr>
          <a:xfrm>
            <a:off x="0" y="4"/>
            <a:ext cx="9144004" cy="5143496"/>
            <a:chOff x="0" y="4"/>
            <a:chExt cx="9144004" cy="5143496"/>
          </a:xfrm>
        </p:grpSpPr>
        <p:pic>
          <p:nvPicPr>
            <p:cNvPr id="142" name="Google Shape;142;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43" name="Google Shape;143;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44" name="Google Shape;144;p17"/>
          <p:cNvGrpSpPr/>
          <p:nvPr/>
        </p:nvGrpSpPr>
        <p:grpSpPr>
          <a:xfrm rot="-10539848" flipH="1">
            <a:off x="6108563" y="4049075"/>
            <a:ext cx="4573901" cy="3479217"/>
            <a:chOff x="1522650" y="1117750"/>
            <a:chExt cx="4574075" cy="3479350"/>
          </a:xfrm>
        </p:grpSpPr>
        <p:sp>
          <p:nvSpPr>
            <p:cNvPr id="145" name="Google Shape;145;p1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8" name="Google Shape;148;p17"/>
          <p:cNvSpPr txBox="1">
            <a:spLocks noGrp="1"/>
          </p:cNvSpPr>
          <p:nvPr>
            <p:ph type="subTitle" idx="1"/>
          </p:nvPr>
        </p:nvSpPr>
        <p:spPr>
          <a:xfrm>
            <a:off x="719975" y="1164450"/>
            <a:ext cx="3748800" cy="1188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3">
  <p:cSld name="CUSTOM_4_3">
    <p:spTree>
      <p:nvGrpSpPr>
        <p:cNvPr id="1" name="Shape 149"/>
        <p:cNvGrpSpPr/>
        <p:nvPr/>
      </p:nvGrpSpPr>
      <p:grpSpPr>
        <a:xfrm>
          <a:off x="0" y="0"/>
          <a:ext cx="0" cy="0"/>
          <a:chOff x="0" y="0"/>
          <a:chExt cx="0" cy="0"/>
        </a:xfrm>
      </p:grpSpPr>
      <p:grpSp>
        <p:nvGrpSpPr>
          <p:cNvPr id="150" name="Google Shape;150;p18"/>
          <p:cNvGrpSpPr/>
          <p:nvPr/>
        </p:nvGrpSpPr>
        <p:grpSpPr>
          <a:xfrm>
            <a:off x="0" y="0"/>
            <a:ext cx="9144001" cy="5143500"/>
            <a:chOff x="0" y="0"/>
            <a:chExt cx="9144001" cy="5143500"/>
          </a:xfrm>
        </p:grpSpPr>
        <p:pic>
          <p:nvPicPr>
            <p:cNvPr id="151" name="Google Shape;151;p18"/>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52" name="Google Shape;152;p18"/>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53" name="Google Shape;153;p18"/>
          <p:cNvGrpSpPr/>
          <p:nvPr/>
        </p:nvGrpSpPr>
        <p:grpSpPr>
          <a:xfrm rot="10800000">
            <a:off x="6704226" y="3811697"/>
            <a:ext cx="4574075" cy="3479350"/>
            <a:chOff x="1522650" y="1117750"/>
            <a:chExt cx="4574075" cy="3479350"/>
          </a:xfrm>
        </p:grpSpPr>
        <p:sp>
          <p:nvSpPr>
            <p:cNvPr id="154" name="Google Shape;154;p1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 name="Google Shape;156;p18"/>
          <p:cNvSpPr txBox="1">
            <a:spLocks noGrp="1"/>
          </p:cNvSpPr>
          <p:nvPr>
            <p:ph type="subTitle" idx="1"/>
          </p:nvPr>
        </p:nvSpPr>
        <p:spPr>
          <a:xfrm>
            <a:off x="719975" y="1393800"/>
            <a:ext cx="5015400" cy="2203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200"/>
              <a:buChar char="●"/>
              <a:defRPr/>
            </a:lvl1pPr>
            <a:lvl2pPr lvl="1" rtl="0">
              <a:spcBef>
                <a:spcPts val="0"/>
              </a:spcBef>
              <a:spcAft>
                <a:spcPts val="0"/>
              </a:spcAft>
              <a:buSzPts val="1200"/>
              <a:buChar char="○"/>
              <a:defRPr/>
            </a:lvl2pPr>
            <a:lvl3pPr lvl="2" rtl="0">
              <a:spcBef>
                <a:spcPts val="0"/>
              </a:spcBef>
              <a:spcAft>
                <a:spcPts val="0"/>
              </a:spcAft>
              <a:buSzPts val="1200"/>
              <a:buChar char="■"/>
              <a:defRPr/>
            </a:lvl3pPr>
            <a:lvl4pPr lvl="3" rtl="0">
              <a:spcBef>
                <a:spcPts val="0"/>
              </a:spcBef>
              <a:spcAft>
                <a:spcPts val="0"/>
              </a:spcAft>
              <a:buSzPts val="1200"/>
              <a:buChar char="●"/>
              <a:defRPr/>
            </a:lvl4pPr>
            <a:lvl5pPr lvl="4" rtl="0">
              <a:spcBef>
                <a:spcPts val="0"/>
              </a:spcBef>
              <a:spcAft>
                <a:spcPts val="0"/>
              </a:spcAft>
              <a:buSzPts val="1200"/>
              <a:buChar char="○"/>
              <a:defRPr/>
            </a:lvl5pPr>
            <a:lvl6pPr lvl="5" rtl="0">
              <a:spcBef>
                <a:spcPts val="0"/>
              </a:spcBef>
              <a:spcAft>
                <a:spcPts val="0"/>
              </a:spcAft>
              <a:buSzPts val="1200"/>
              <a:buChar char="■"/>
              <a:defRPr/>
            </a:lvl6pPr>
            <a:lvl7pPr lvl="6" rtl="0">
              <a:spcBef>
                <a:spcPts val="0"/>
              </a:spcBef>
              <a:spcAft>
                <a:spcPts val="0"/>
              </a:spcAft>
              <a:buSzPts val="1200"/>
              <a:buChar char="●"/>
              <a:defRPr/>
            </a:lvl7pPr>
            <a:lvl8pPr lvl="7" rtl="0">
              <a:spcBef>
                <a:spcPts val="0"/>
              </a:spcBef>
              <a:spcAft>
                <a:spcPts val="0"/>
              </a:spcAft>
              <a:buSzPts val="1200"/>
              <a:buChar char="○"/>
              <a:defRPr/>
            </a:lvl8pPr>
            <a:lvl9pPr lvl="8" rtl="0">
              <a:spcBef>
                <a:spcPts val="0"/>
              </a:spcBef>
              <a:spcAft>
                <a:spcPts val="0"/>
              </a:spcAft>
              <a:buSzPts val="1200"/>
              <a:buChar char="■"/>
              <a:defRPr/>
            </a:lvl9pPr>
          </a:lstStyle>
          <a:p>
            <a:endParaRPr/>
          </a:p>
        </p:txBody>
      </p:sp>
      <p:sp>
        <p:nvSpPr>
          <p:cNvPr id="157" name="Google Shape;15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2"/>
        <p:cNvGrpSpPr/>
        <p:nvPr/>
      </p:nvGrpSpPr>
      <p:grpSpPr>
        <a:xfrm>
          <a:off x="0" y="0"/>
          <a:ext cx="0" cy="0"/>
          <a:chOff x="0" y="0"/>
          <a:chExt cx="0" cy="0"/>
        </a:xfrm>
      </p:grpSpPr>
      <p:grpSp>
        <p:nvGrpSpPr>
          <p:cNvPr id="173" name="Google Shape;173;p20"/>
          <p:cNvGrpSpPr/>
          <p:nvPr/>
        </p:nvGrpSpPr>
        <p:grpSpPr>
          <a:xfrm>
            <a:off x="0" y="4"/>
            <a:ext cx="9144004" cy="5143496"/>
            <a:chOff x="0" y="4"/>
            <a:chExt cx="9144004" cy="5143496"/>
          </a:xfrm>
        </p:grpSpPr>
        <p:pic>
          <p:nvPicPr>
            <p:cNvPr id="174" name="Google Shape;174;p2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75" name="Google Shape;175;p2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76" name="Google Shape;176;p20"/>
          <p:cNvGrpSpPr/>
          <p:nvPr/>
        </p:nvGrpSpPr>
        <p:grpSpPr>
          <a:xfrm rot="-10539848" flipH="1">
            <a:off x="6108563" y="4049075"/>
            <a:ext cx="4573901" cy="3479217"/>
            <a:chOff x="1522650" y="1117750"/>
            <a:chExt cx="4574075" cy="3479350"/>
          </a:xfrm>
        </p:grpSpPr>
        <p:sp>
          <p:nvSpPr>
            <p:cNvPr id="177" name="Google Shape;177;p2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0" name="Google Shape;180;p20"/>
          <p:cNvSpPr txBox="1">
            <a:spLocks noGrp="1"/>
          </p:cNvSpPr>
          <p:nvPr>
            <p:ph type="subTitle" idx="1"/>
          </p:nvPr>
        </p:nvSpPr>
        <p:spPr>
          <a:xfrm>
            <a:off x="1225674" y="1659425"/>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1" name="Google Shape;181;p20"/>
          <p:cNvSpPr txBox="1">
            <a:spLocks noGrp="1"/>
          </p:cNvSpPr>
          <p:nvPr>
            <p:ph type="subTitle" idx="2"/>
          </p:nvPr>
        </p:nvSpPr>
        <p:spPr>
          <a:xfrm>
            <a:off x="5052125" y="1659425"/>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2" name="Google Shape;182;p20"/>
          <p:cNvSpPr txBox="1">
            <a:spLocks noGrp="1"/>
          </p:cNvSpPr>
          <p:nvPr>
            <p:ph type="subTitle" idx="3"/>
          </p:nvPr>
        </p:nvSpPr>
        <p:spPr>
          <a:xfrm>
            <a:off x="1225674" y="3320000"/>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3" name="Google Shape;183;p20"/>
          <p:cNvSpPr txBox="1">
            <a:spLocks noGrp="1"/>
          </p:cNvSpPr>
          <p:nvPr>
            <p:ph type="subTitle" idx="4"/>
          </p:nvPr>
        </p:nvSpPr>
        <p:spPr>
          <a:xfrm>
            <a:off x="5052125" y="3320000"/>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4" name="Google Shape;184;p20"/>
          <p:cNvSpPr txBox="1">
            <a:spLocks noGrp="1"/>
          </p:cNvSpPr>
          <p:nvPr>
            <p:ph type="subTitle" idx="5"/>
          </p:nvPr>
        </p:nvSpPr>
        <p:spPr>
          <a:xfrm>
            <a:off x="1225675" y="13316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5" name="Google Shape;185;p20"/>
          <p:cNvSpPr txBox="1">
            <a:spLocks noGrp="1"/>
          </p:cNvSpPr>
          <p:nvPr>
            <p:ph type="subTitle" idx="6"/>
          </p:nvPr>
        </p:nvSpPr>
        <p:spPr>
          <a:xfrm>
            <a:off x="1225675" y="29922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6" name="Google Shape;186;p20"/>
          <p:cNvSpPr txBox="1">
            <a:spLocks noGrp="1"/>
          </p:cNvSpPr>
          <p:nvPr>
            <p:ph type="subTitle" idx="7"/>
          </p:nvPr>
        </p:nvSpPr>
        <p:spPr>
          <a:xfrm>
            <a:off x="5052099" y="13316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7" name="Google Shape;187;p20"/>
          <p:cNvSpPr txBox="1">
            <a:spLocks noGrp="1"/>
          </p:cNvSpPr>
          <p:nvPr>
            <p:ph type="subTitle" idx="8"/>
          </p:nvPr>
        </p:nvSpPr>
        <p:spPr>
          <a:xfrm>
            <a:off x="5052099" y="29922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1"/>
        <p:cNvGrpSpPr/>
        <p:nvPr/>
      </p:nvGrpSpPr>
      <p:grpSpPr>
        <a:xfrm>
          <a:off x="0" y="0"/>
          <a:ext cx="0" cy="0"/>
          <a:chOff x="0" y="0"/>
          <a:chExt cx="0" cy="0"/>
        </a:xfrm>
      </p:grpSpPr>
      <p:grpSp>
        <p:nvGrpSpPr>
          <p:cNvPr id="222" name="Google Shape;222;p24"/>
          <p:cNvGrpSpPr/>
          <p:nvPr/>
        </p:nvGrpSpPr>
        <p:grpSpPr>
          <a:xfrm>
            <a:off x="0" y="0"/>
            <a:ext cx="9144001" cy="5143500"/>
            <a:chOff x="0" y="0"/>
            <a:chExt cx="9144001" cy="5143500"/>
          </a:xfrm>
        </p:grpSpPr>
        <p:pic>
          <p:nvPicPr>
            <p:cNvPr id="223" name="Google Shape;223;p24"/>
            <p:cNvPicPr preferRelativeResize="0"/>
            <p:nvPr/>
          </p:nvPicPr>
          <p:blipFill>
            <a:blip r:embed="rId2">
              <a:alphaModFix/>
            </a:blip>
            <a:stretch>
              <a:fillRect/>
            </a:stretch>
          </p:blipFill>
          <p:spPr>
            <a:xfrm rot="10800000" flipH="1">
              <a:off x="0" y="0"/>
              <a:ext cx="4727801" cy="2256875"/>
            </a:xfrm>
            <a:prstGeom prst="rect">
              <a:avLst/>
            </a:prstGeom>
            <a:noFill/>
            <a:ln>
              <a:noFill/>
            </a:ln>
          </p:spPr>
        </p:pic>
        <p:pic>
          <p:nvPicPr>
            <p:cNvPr id="224" name="Google Shape;224;p24"/>
            <p:cNvPicPr preferRelativeResize="0"/>
            <p:nvPr/>
          </p:nvPicPr>
          <p:blipFill>
            <a:blip r:embed="rId3">
              <a:alphaModFix/>
            </a:blip>
            <a:stretch>
              <a:fillRect/>
            </a:stretch>
          </p:blipFill>
          <p:spPr>
            <a:xfrm rot="10800000" flipH="1">
              <a:off x="5738810" y="0"/>
              <a:ext cx="3405191" cy="5143500"/>
            </a:xfrm>
            <a:prstGeom prst="rect">
              <a:avLst/>
            </a:prstGeom>
            <a:noFill/>
            <a:ln>
              <a:noFill/>
            </a:ln>
          </p:spPr>
        </p:pic>
      </p:grpSp>
      <p:grpSp>
        <p:nvGrpSpPr>
          <p:cNvPr id="225" name="Google Shape;225;p24"/>
          <p:cNvGrpSpPr/>
          <p:nvPr/>
        </p:nvGrpSpPr>
        <p:grpSpPr>
          <a:xfrm rot="756538">
            <a:off x="-1069833" y="-1842572"/>
            <a:ext cx="4574157" cy="3479412"/>
            <a:chOff x="1522650" y="1117750"/>
            <a:chExt cx="4574075" cy="3479350"/>
          </a:xfrm>
        </p:grpSpPr>
        <p:sp>
          <p:nvSpPr>
            <p:cNvPr id="226" name="Google Shape;226;p2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8"/>
        <p:cNvGrpSpPr/>
        <p:nvPr/>
      </p:nvGrpSpPr>
      <p:grpSpPr>
        <a:xfrm>
          <a:off x="0" y="0"/>
          <a:ext cx="0" cy="0"/>
          <a:chOff x="0" y="0"/>
          <a:chExt cx="0" cy="0"/>
        </a:xfrm>
      </p:grpSpPr>
      <p:grpSp>
        <p:nvGrpSpPr>
          <p:cNvPr id="229" name="Google Shape;229;p25"/>
          <p:cNvGrpSpPr/>
          <p:nvPr/>
        </p:nvGrpSpPr>
        <p:grpSpPr>
          <a:xfrm>
            <a:off x="0" y="0"/>
            <a:ext cx="9144001" cy="5143500"/>
            <a:chOff x="0" y="0"/>
            <a:chExt cx="9144001" cy="5143500"/>
          </a:xfrm>
        </p:grpSpPr>
        <p:pic>
          <p:nvPicPr>
            <p:cNvPr id="230" name="Google Shape;230;p25"/>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231" name="Google Shape;231;p25"/>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232" name="Google Shape;232;p25"/>
          <p:cNvGrpSpPr/>
          <p:nvPr/>
        </p:nvGrpSpPr>
        <p:grpSpPr>
          <a:xfrm>
            <a:off x="-1845124" y="-2180828"/>
            <a:ext cx="12652562" cy="9877041"/>
            <a:chOff x="-1845124" y="-2180828"/>
            <a:chExt cx="12652562" cy="9877041"/>
          </a:xfrm>
        </p:grpSpPr>
        <p:grpSp>
          <p:nvGrpSpPr>
            <p:cNvPr id="233" name="Google Shape;233;p25"/>
            <p:cNvGrpSpPr/>
            <p:nvPr/>
          </p:nvGrpSpPr>
          <p:grpSpPr>
            <a:xfrm>
              <a:off x="-1845124" y="-2180828"/>
              <a:ext cx="4574075" cy="3479350"/>
              <a:chOff x="1522650" y="1117750"/>
              <a:chExt cx="4574075" cy="3479350"/>
            </a:xfrm>
          </p:grpSpPr>
          <p:sp>
            <p:nvSpPr>
              <p:cNvPr id="234" name="Google Shape;234;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 name="Google Shape;236;p25"/>
            <p:cNvGrpSpPr/>
            <p:nvPr/>
          </p:nvGrpSpPr>
          <p:grpSpPr>
            <a:xfrm rot="-10539848" flipH="1">
              <a:off x="6108563" y="4049075"/>
              <a:ext cx="4573901" cy="3479217"/>
              <a:chOff x="1522650" y="1117750"/>
              <a:chExt cx="4574075" cy="3479350"/>
            </a:xfrm>
          </p:grpSpPr>
          <p:sp>
            <p:nvSpPr>
              <p:cNvPr id="237" name="Google Shape;237;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marL="914400" lvl="1"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marL="1371600" lvl="2"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marL="1828800" lvl="3"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marL="2286000" lvl="4"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marL="2743200" lvl="5"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marL="3200400" lvl="6"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marL="3657600" lvl="7"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marL="4114800" lvl="8"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6" r:id="rId7"/>
    <p:sldLayoutId id="2147483658" r:id="rId8"/>
    <p:sldLayoutId id="2147483659" r:id="rId9"/>
    <p:sldLayoutId id="2147483660" r:id="rId10"/>
    <p:sldLayoutId id="2147483661" r:id="rId11"/>
    <p:sldLayoutId id="2147483663" r:id="rId12"/>
    <p:sldLayoutId id="2147483664" r:id="rId13"/>
    <p:sldLayoutId id="2147483666" r:id="rId14"/>
    <p:sldLayoutId id="2147483670" r:id="rId15"/>
    <p:sldLayoutId id="2147483671"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grpSp>
        <p:nvGrpSpPr>
          <p:cNvPr id="249" name="Google Shape;249;p29"/>
          <p:cNvGrpSpPr/>
          <p:nvPr/>
        </p:nvGrpSpPr>
        <p:grpSpPr>
          <a:xfrm rot="756538">
            <a:off x="-943408" y="-1494947"/>
            <a:ext cx="4574157" cy="3479412"/>
            <a:chOff x="1522650" y="1117750"/>
            <a:chExt cx="4574075" cy="3479350"/>
          </a:xfrm>
        </p:grpSpPr>
        <p:sp>
          <p:nvSpPr>
            <p:cNvPr id="250" name="Google Shape;250;p2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 name="Google Shape;251;p2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252" name="Google Shape;252;p29"/>
          <p:cNvPicPr preferRelativeResize="0"/>
          <p:nvPr/>
        </p:nvPicPr>
        <p:blipFill>
          <a:blip r:embed="rId3">
            <a:alphaModFix/>
          </a:blip>
          <a:stretch>
            <a:fillRect/>
          </a:stretch>
        </p:blipFill>
        <p:spPr>
          <a:xfrm rot="10800000" flipH="1">
            <a:off x="5738810" y="0"/>
            <a:ext cx="3405191" cy="5143500"/>
          </a:xfrm>
          <a:prstGeom prst="rect">
            <a:avLst/>
          </a:prstGeom>
          <a:noFill/>
          <a:ln>
            <a:noFill/>
          </a:ln>
        </p:spPr>
      </p:pic>
      <p:sp>
        <p:nvSpPr>
          <p:cNvPr id="253" name="Google Shape;253;p29"/>
          <p:cNvSpPr txBox="1">
            <a:spLocks noGrp="1"/>
          </p:cNvSpPr>
          <p:nvPr>
            <p:ph type="ctrTitle"/>
          </p:nvPr>
        </p:nvSpPr>
        <p:spPr>
          <a:xfrm>
            <a:off x="713224" y="1694985"/>
            <a:ext cx="4475417" cy="156055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b="1" dirty="0">
                <a:solidFill>
                  <a:schemeClr val="dk1"/>
                </a:solidFill>
              </a:rPr>
              <a:t>Tìm hiểu về Cây (Tree)</a:t>
            </a:r>
            <a:endParaRPr b="1" dirty="0">
              <a:solidFill>
                <a:schemeClr val="dk1"/>
              </a:solidFill>
            </a:endParaRPr>
          </a:p>
        </p:txBody>
      </p:sp>
      <p:sp>
        <p:nvSpPr>
          <p:cNvPr id="254" name="Google Shape;254;p29"/>
          <p:cNvSpPr txBox="1">
            <a:spLocks noGrp="1"/>
          </p:cNvSpPr>
          <p:nvPr>
            <p:ph type="subTitle" idx="1"/>
          </p:nvPr>
        </p:nvSpPr>
        <p:spPr>
          <a:xfrm>
            <a:off x="805430" y="3632859"/>
            <a:ext cx="4041655" cy="37393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Nhóm 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285" name="Google Shape;285;p32"/>
          <p:cNvPicPr preferRelativeResize="0">
            <a:picLocks noGrp="1"/>
          </p:cNvPicPr>
          <p:nvPr>
            <p:ph type="pic" idx="2"/>
          </p:nvPr>
        </p:nvPicPr>
        <p:blipFill rotWithShape="1">
          <a:blip r:embed="rId3">
            <a:alphaModFix/>
          </a:blip>
          <a:srcRect l="19788" r="27582"/>
          <a:stretch/>
        </p:blipFill>
        <p:spPr>
          <a:xfrm>
            <a:off x="5088475" y="770400"/>
            <a:ext cx="3081600" cy="3602700"/>
          </a:xfrm>
          <a:prstGeom prst="roundRect">
            <a:avLst>
              <a:gd name="adj" fmla="val 8416"/>
            </a:avLst>
          </a:prstGeom>
        </p:spPr>
      </p:pic>
      <p:sp>
        <p:nvSpPr>
          <p:cNvPr id="286" name="Google Shape;286;p32"/>
          <p:cNvSpPr txBox="1">
            <a:spLocks noGrp="1"/>
          </p:cNvSpPr>
          <p:nvPr>
            <p:ph type="title"/>
          </p:nvPr>
        </p:nvSpPr>
        <p:spPr>
          <a:xfrm>
            <a:off x="811975" y="829350"/>
            <a:ext cx="3993300" cy="989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b="1" dirty="0"/>
              <a:t>Khái niệm:</a:t>
            </a:r>
            <a:endParaRPr b="1" dirty="0"/>
          </a:p>
        </p:txBody>
      </p:sp>
      <p:sp>
        <p:nvSpPr>
          <p:cNvPr id="287" name="Google Shape;287;p32"/>
          <p:cNvSpPr txBox="1">
            <a:spLocks noGrp="1"/>
          </p:cNvSpPr>
          <p:nvPr>
            <p:ph type="subTitle" idx="1"/>
          </p:nvPr>
        </p:nvSpPr>
        <p:spPr>
          <a:xfrm>
            <a:off x="811975" y="1878550"/>
            <a:ext cx="3993300" cy="2298300"/>
          </a:xfrm>
          <a:prstGeom prst="rect">
            <a:avLst/>
          </a:prstGeom>
        </p:spPr>
        <p:txBody>
          <a:bodyPr spcFirstLastPara="1" wrap="square" lIns="91425" tIns="91425" rIns="91425" bIns="91425" anchor="t" anchorCtr="0">
            <a:noAutofit/>
          </a:bodyPr>
          <a:lstStyle/>
          <a:p>
            <a:pPr marL="438150" lvl="0" indent="-285750">
              <a:spcBef>
                <a:spcPts val="1000"/>
              </a:spcBef>
              <a:buFont typeface="Arial" panose="020B0604020202020204" pitchFamily="34" charset="0"/>
              <a:buChar char="•"/>
            </a:pPr>
            <a:r>
              <a:rPr lang="en-US" sz="1800" dirty="0" err="1"/>
              <a:t>Là</a:t>
            </a:r>
            <a:r>
              <a:rPr lang="en-US" sz="1800" dirty="0"/>
              <a:t> </a:t>
            </a:r>
            <a:r>
              <a:rPr lang="en-US" sz="1800" dirty="0" err="1"/>
              <a:t>cấu</a:t>
            </a:r>
            <a:r>
              <a:rPr lang="en-US" sz="1800" dirty="0"/>
              <a:t> </a:t>
            </a:r>
            <a:r>
              <a:rPr lang="en-US" sz="1800" dirty="0" err="1"/>
              <a:t>trúc</a:t>
            </a:r>
            <a:r>
              <a:rPr lang="en-US" sz="1800" dirty="0"/>
              <a:t> </a:t>
            </a:r>
            <a:r>
              <a:rPr lang="en-US" sz="1800" dirty="0" err="1"/>
              <a:t>dữ</a:t>
            </a:r>
            <a:r>
              <a:rPr lang="en-US" sz="1800" dirty="0"/>
              <a:t> </a:t>
            </a:r>
            <a:r>
              <a:rPr lang="en-US" sz="1800" dirty="0" err="1"/>
              <a:t>liệu</a:t>
            </a:r>
            <a:r>
              <a:rPr lang="en-US" sz="1800" dirty="0"/>
              <a:t> </a:t>
            </a:r>
            <a:r>
              <a:rPr lang="en-US" sz="1800" dirty="0" err="1"/>
              <a:t>cây</a:t>
            </a:r>
            <a:r>
              <a:rPr lang="en-US" sz="1800" dirty="0"/>
              <a:t> </a:t>
            </a:r>
            <a:r>
              <a:rPr lang="en-US" sz="1800" dirty="0" err="1"/>
              <a:t>mà</a:t>
            </a:r>
            <a:r>
              <a:rPr lang="en-US" sz="1800" dirty="0"/>
              <a:t> </a:t>
            </a:r>
            <a:r>
              <a:rPr lang="en-US" sz="1800" dirty="0" err="1"/>
              <a:t>không</a:t>
            </a:r>
            <a:r>
              <a:rPr lang="en-US" sz="1800" dirty="0"/>
              <a:t> </a:t>
            </a:r>
            <a:r>
              <a:rPr lang="en-US" sz="1800" dirty="0" err="1"/>
              <a:t>có</a:t>
            </a:r>
            <a:r>
              <a:rPr lang="en-US" sz="1800" dirty="0"/>
              <a:t> </a:t>
            </a:r>
            <a:r>
              <a:rPr lang="en-US" sz="1800" dirty="0" err="1"/>
              <a:t>ràng</a:t>
            </a:r>
            <a:r>
              <a:rPr lang="en-US" sz="1800" dirty="0"/>
              <a:t> </a:t>
            </a:r>
            <a:r>
              <a:rPr lang="en-US" sz="1800" dirty="0" err="1"/>
              <a:t>buộc</a:t>
            </a:r>
            <a:r>
              <a:rPr lang="en-US" sz="1800" dirty="0"/>
              <a:t> </a:t>
            </a:r>
            <a:r>
              <a:rPr lang="en-US" sz="1800" dirty="0" err="1"/>
              <a:t>giữa</a:t>
            </a:r>
            <a:r>
              <a:rPr lang="en-US" sz="1800" dirty="0"/>
              <a:t> </a:t>
            </a:r>
            <a:r>
              <a:rPr lang="en-US" sz="1800" dirty="0" err="1"/>
              <a:t>các</a:t>
            </a:r>
            <a:r>
              <a:rPr lang="en-US" sz="1800" dirty="0"/>
              <a:t> node. </a:t>
            </a:r>
            <a:r>
              <a:rPr lang="en-US" sz="1800" dirty="0" err="1"/>
              <a:t>Một</a:t>
            </a:r>
            <a:r>
              <a:rPr lang="en-US" sz="1800" dirty="0"/>
              <a:t> node cha </a:t>
            </a:r>
            <a:r>
              <a:rPr lang="en-US" sz="1800" dirty="0" err="1"/>
              <a:t>có</a:t>
            </a:r>
            <a:r>
              <a:rPr lang="en-US" sz="1800" dirty="0"/>
              <a:t> </a:t>
            </a:r>
            <a:r>
              <a:rPr lang="en-US" sz="1800" dirty="0" err="1"/>
              <a:t>thể</a:t>
            </a:r>
            <a:r>
              <a:rPr lang="en-US" sz="1800" dirty="0"/>
              <a:t> </a:t>
            </a:r>
            <a:r>
              <a:rPr lang="en-US" sz="1800" dirty="0" err="1"/>
              <a:t>có</a:t>
            </a:r>
            <a:r>
              <a:rPr lang="en-US" sz="1800" dirty="0"/>
              <a:t> </a:t>
            </a:r>
            <a:r>
              <a:rPr lang="en-US" sz="1800" dirty="0" err="1"/>
              <a:t>nhiều</a:t>
            </a:r>
            <a:r>
              <a:rPr lang="en-US" sz="1800" dirty="0"/>
              <a:t> node con. </a:t>
            </a:r>
            <a:endParaRPr lang="vi-VN" sz="1800" dirty="0"/>
          </a:p>
          <a:p>
            <a:pPr lvl="0"/>
            <a:endParaRPr lang="vi-VN" sz="1800" dirty="0"/>
          </a:p>
          <a:p>
            <a:pPr marL="438150" lvl="0" indent="-285750">
              <a:buFont typeface="Arial" panose="020B0604020202020204" pitchFamily="34" charset="0"/>
              <a:buChar char="•"/>
            </a:pPr>
            <a:r>
              <a:rPr lang="vi-VN" sz="1800" dirty="0"/>
              <a:t>Cây cơ bản được sử dụng trong việc biểu diễn dữ liệu có dạng cấp bậc như cấu trúc folder,...</a:t>
            </a:r>
            <a:endParaRPr sz="1800" dirty="0"/>
          </a:p>
        </p:txBody>
      </p:sp>
      <p:pic>
        <p:nvPicPr>
          <p:cNvPr id="2" name="Picture 1">
            <a:extLst>
              <a:ext uri="{FF2B5EF4-FFF2-40B4-BE49-F238E27FC236}">
                <a16:creationId xmlns:a16="http://schemas.microsoft.com/office/drawing/2014/main" id="{D1055BA0-A0E9-D783-CDB1-0A8E11A1D070}"/>
              </a:ext>
            </a:extLst>
          </p:cNvPr>
          <p:cNvPicPr>
            <a:picLocks noChangeAspect="1"/>
          </p:cNvPicPr>
          <p:nvPr/>
        </p:nvPicPr>
        <p:blipFill>
          <a:blip r:embed="rId4"/>
          <a:stretch>
            <a:fillRect/>
          </a:stretch>
        </p:blipFill>
        <p:spPr>
          <a:xfrm>
            <a:off x="4735551" y="505523"/>
            <a:ext cx="3709639" cy="41928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55652-62A2-C3D2-5F4D-2ED537ECBB12}"/>
              </a:ext>
            </a:extLst>
          </p:cNvPr>
          <p:cNvSpPr>
            <a:spLocks noGrp="1"/>
          </p:cNvSpPr>
          <p:nvPr>
            <p:ph type="title"/>
          </p:nvPr>
        </p:nvSpPr>
        <p:spPr>
          <a:xfrm>
            <a:off x="502921" y="637760"/>
            <a:ext cx="4270565" cy="626070"/>
          </a:xfrm>
        </p:spPr>
        <p:txBody>
          <a:bodyPr/>
          <a:lstStyle/>
          <a:p>
            <a:r>
              <a:rPr lang="en-US" sz="2800" b="1" dirty="0" err="1"/>
              <a:t>Cây</a:t>
            </a:r>
            <a:r>
              <a:rPr lang="en-US" sz="2800" b="1" dirty="0"/>
              <a:t> </a:t>
            </a:r>
            <a:r>
              <a:rPr lang="en-US" sz="2800" b="1" dirty="0" err="1"/>
              <a:t>nhị</a:t>
            </a:r>
            <a:r>
              <a:rPr lang="en-US" sz="2800" b="1" dirty="0"/>
              <a:t> </a:t>
            </a:r>
            <a:r>
              <a:rPr lang="en-US" sz="2800" b="1" dirty="0" err="1"/>
              <a:t>phân</a:t>
            </a:r>
            <a:r>
              <a:rPr lang="en-US" sz="2800" b="1" dirty="0"/>
              <a:t> </a:t>
            </a:r>
            <a:r>
              <a:rPr lang="en-US" sz="2800" b="1" dirty="0" err="1"/>
              <a:t>tìm</a:t>
            </a:r>
            <a:r>
              <a:rPr lang="en-US" sz="2800" b="1" dirty="0"/>
              <a:t> </a:t>
            </a:r>
            <a:r>
              <a:rPr lang="en-US" sz="2800" b="1" dirty="0" err="1"/>
              <a:t>kiếm</a:t>
            </a:r>
            <a:endParaRPr lang="en-US" sz="2800" b="1" dirty="0"/>
          </a:p>
        </p:txBody>
      </p:sp>
      <p:sp>
        <p:nvSpPr>
          <p:cNvPr id="3" name="Subtitle 2">
            <a:extLst>
              <a:ext uri="{FF2B5EF4-FFF2-40B4-BE49-F238E27FC236}">
                <a16:creationId xmlns:a16="http://schemas.microsoft.com/office/drawing/2014/main" id="{3809FF3F-9FC9-153C-D5BE-876EB8BEFAEC}"/>
              </a:ext>
            </a:extLst>
          </p:cNvPr>
          <p:cNvSpPr>
            <a:spLocks noGrp="1"/>
          </p:cNvSpPr>
          <p:nvPr>
            <p:ph type="subTitle" idx="1"/>
          </p:nvPr>
        </p:nvSpPr>
        <p:spPr>
          <a:xfrm>
            <a:off x="84474" y="1506965"/>
            <a:ext cx="4956366" cy="2129570"/>
          </a:xfrm>
        </p:spPr>
        <p:txBody>
          <a:bodyPr/>
          <a:lstStyle/>
          <a:p>
            <a:pPr marL="438150" indent="-285750">
              <a:buFont typeface="Wingdings" panose="05000000000000000000" pitchFamily="2" charset="2"/>
              <a:buChar char="q"/>
            </a:pPr>
            <a:r>
              <a:rPr lang="vi-VN" sz="1400" dirty="0"/>
              <a:t>Là một loại cây nhị phân có ràng buộc giữa các node như sau: giá trị node con trái &lt; giá trị node cha &lt; giá trị node con phải. </a:t>
            </a:r>
          </a:p>
          <a:p>
            <a:pPr marL="152400" indent="0">
              <a:buNone/>
            </a:pPr>
            <a:r>
              <a:rPr lang="vi-VN" sz="1400" dirty="0"/>
              <a:t>Ứng dụng: </a:t>
            </a:r>
          </a:p>
          <a:p>
            <a:pPr marL="152400" indent="0">
              <a:buNone/>
            </a:pPr>
            <a:r>
              <a:rPr lang="vi-VN" sz="1400" dirty="0"/>
              <a:t>• Lưu trữ dữ liệu dưới dạng sắp xếp, giúp cho việc tìm kiếm một node bất kì trở nên dễ dàng hơn. </a:t>
            </a:r>
          </a:p>
          <a:p>
            <a:pPr marL="152400" indent="0">
              <a:buNone/>
            </a:pPr>
            <a:r>
              <a:rPr lang="vi-VN" sz="1400" dirty="0"/>
              <a:t>• Biểu diễn các biểu thức số học. </a:t>
            </a:r>
          </a:p>
          <a:p>
            <a:pPr marL="152400" indent="0">
              <a:buNone/>
            </a:pPr>
            <a:r>
              <a:rPr lang="vi-VN" sz="1400" dirty="0"/>
              <a:t>• Được dùng trong nhân Unix để quản lý vùng nhớ ảo</a:t>
            </a:r>
            <a:r>
              <a:rPr lang="vi-VN" dirty="0"/>
              <a:t>.</a:t>
            </a:r>
            <a:endParaRPr lang="en-US" dirty="0"/>
          </a:p>
        </p:txBody>
      </p:sp>
      <p:pic>
        <p:nvPicPr>
          <p:cNvPr id="8" name="image2.jpeg">
            <a:extLst>
              <a:ext uri="{FF2B5EF4-FFF2-40B4-BE49-F238E27FC236}">
                <a16:creationId xmlns:a16="http://schemas.microsoft.com/office/drawing/2014/main" id="{00000000-0008-0000-0000-0000030000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6404" y="829350"/>
            <a:ext cx="3364675" cy="328470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98849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2"/>
          <p:cNvSpPr txBox="1">
            <a:spLocks noGrp="1"/>
          </p:cNvSpPr>
          <p:nvPr>
            <p:ph type="title"/>
          </p:nvPr>
        </p:nvSpPr>
        <p:spPr>
          <a:xfrm>
            <a:off x="3041681" y="371707"/>
            <a:ext cx="5433245" cy="2483005"/>
          </a:xfrm>
          <a:prstGeom prst="rect">
            <a:avLst/>
          </a:prstGeom>
        </p:spPr>
        <p:txBody>
          <a:bodyPr spcFirstLastPara="1" wrap="square" lIns="91425" tIns="91425" rIns="91425" bIns="91425" anchor="t" anchorCtr="0">
            <a:noAutofit/>
          </a:bodyPr>
          <a:lstStyle/>
          <a:p>
            <a:pPr lvl="0"/>
            <a:r>
              <a:rPr lang="vi-VN" b="1" dirty="0"/>
              <a:t>Phân loại:</a:t>
            </a:r>
            <a:br>
              <a:rPr lang="vi-VN" dirty="0"/>
            </a:br>
            <a:r>
              <a:rPr lang="vi-VN" dirty="0"/>
              <a:t> </a:t>
            </a:r>
            <a:r>
              <a:rPr lang="en-US" sz="1600" b="1" dirty="0"/>
              <a:t>- </a:t>
            </a:r>
            <a:r>
              <a:rPr lang="en-US" sz="1600" b="1" dirty="0" err="1"/>
              <a:t>Cây</a:t>
            </a:r>
            <a:r>
              <a:rPr lang="en-US" sz="1600" b="1" dirty="0"/>
              <a:t> </a:t>
            </a:r>
            <a:r>
              <a:rPr lang="en-US" sz="1600" b="1" dirty="0" err="1"/>
              <a:t>nhị</a:t>
            </a:r>
            <a:r>
              <a:rPr lang="en-US" sz="1600" b="1" dirty="0"/>
              <a:t> </a:t>
            </a:r>
            <a:r>
              <a:rPr lang="en-US" sz="1600" b="1" dirty="0" err="1"/>
              <a:t>phân</a:t>
            </a:r>
            <a:r>
              <a:rPr lang="en-US" sz="1600" b="1" dirty="0"/>
              <a:t> </a:t>
            </a:r>
            <a:br>
              <a:rPr lang="vi-VN" sz="1600" dirty="0"/>
            </a:br>
            <a:r>
              <a:rPr lang="vi-VN" sz="1600" dirty="0"/>
              <a:t>Một cây mà mỗi node có không quá 2 node con thì được gọi là cây nhị phân.</a:t>
            </a:r>
            <a:br>
              <a:rPr lang="vi-VN" sz="1600" dirty="0"/>
            </a:br>
            <a:r>
              <a:rPr lang="vi-VN" sz="1600" dirty="0"/>
              <a:t>Node con bên trái được gọi là Node con trái (left child), node con bên phải được gọi là Node con phải (right child). </a:t>
            </a:r>
            <a:endParaRPr sz="1600" dirty="0"/>
          </a:p>
        </p:txBody>
      </p:sp>
      <p:sp>
        <p:nvSpPr>
          <p:cNvPr id="445" name="Google Shape;445;p42"/>
          <p:cNvSpPr txBox="1">
            <a:spLocks noGrp="1"/>
          </p:cNvSpPr>
          <p:nvPr>
            <p:ph type="subTitle" idx="1"/>
          </p:nvPr>
        </p:nvSpPr>
        <p:spPr>
          <a:xfrm>
            <a:off x="3041681" y="2623789"/>
            <a:ext cx="5277506" cy="2011500"/>
          </a:xfrm>
          <a:prstGeom prst="rect">
            <a:avLst/>
          </a:prstGeom>
        </p:spPr>
        <p:txBody>
          <a:bodyPr spcFirstLastPara="1" wrap="square" lIns="91425" tIns="91425" rIns="91425" bIns="91425" anchor="t" anchorCtr="0">
            <a:noAutofit/>
          </a:bodyPr>
          <a:lstStyle/>
          <a:p>
            <a:pPr lvl="0"/>
            <a:r>
              <a:rPr lang="vi-VN" sz="1400" dirty="0"/>
              <a:t>Cây nhị phân mà mỗi đỉnh trong có đúng hai con được gọi là "cây nhị phân đầy đủ" (full binary tree). </a:t>
            </a:r>
          </a:p>
          <a:p>
            <a:pPr lvl="0"/>
            <a:endParaRPr lang="vi-VN" sz="1400" dirty="0"/>
          </a:p>
          <a:p>
            <a:pPr lvl="0"/>
            <a:r>
              <a:rPr lang="vi-VN" sz="1400" dirty="0"/>
              <a:t>Cây nhị phân đầy đủ mà tất cả các lá có cùng độ sâu được gọi là “cây nhị phân hoàn chỉnh” (perfect binary tree).</a:t>
            </a:r>
          </a:p>
          <a:p>
            <a:pPr lvl="0"/>
            <a:endParaRPr lang="vi-VN" sz="1400" dirty="0"/>
          </a:p>
          <a:p>
            <a:pPr lvl="0"/>
            <a:r>
              <a:rPr lang="vi-VN" sz="1400" dirty="0"/>
              <a:t>Cây nhị phân mà mỗi đỉnh của nó đã có con phải thì cũng có con trái được gọi là cây nhị phân gần hoàn chỉnh (almost complete binary tree).</a:t>
            </a:r>
            <a:endParaRPr sz="1400" dirty="0"/>
          </a:p>
        </p:txBody>
      </p:sp>
      <p:pic>
        <p:nvPicPr>
          <p:cNvPr id="3" name="Picture 2">
            <a:extLst>
              <a:ext uri="{FF2B5EF4-FFF2-40B4-BE49-F238E27FC236}">
                <a16:creationId xmlns:a16="http://schemas.microsoft.com/office/drawing/2014/main" id="{62984F12-B844-5CC5-8E0F-6A5FB5EA97FE}"/>
              </a:ext>
            </a:extLst>
          </p:cNvPr>
          <p:cNvPicPr>
            <a:picLocks noChangeAspect="1"/>
          </p:cNvPicPr>
          <p:nvPr/>
        </p:nvPicPr>
        <p:blipFill>
          <a:blip r:embed="rId3"/>
          <a:stretch>
            <a:fillRect/>
          </a:stretch>
        </p:blipFill>
        <p:spPr>
          <a:xfrm>
            <a:off x="1033346" y="503556"/>
            <a:ext cx="1192625" cy="1325139"/>
          </a:xfrm>
          <a:prstGeom prst="rect">
            <a:avLst/>
          </a:prstGeom>
        </p:spPr>
      </p:pic>
      <p:pic>
        <p:nvPicPr>
          <p:cNvPr id="5" name="Picture 4">
            <a:extLst>
              <a:ext uri="{FF2B5EF4-FFF2-40B4-BE49-F238E27FC236}">
                <a16:creationId xmlns:a16="http://schemas.microsoft.com/office/drawing/2014/main" id="{E34F5D98-D61A-F7CF-D654-8F18142E0D73}"/>
              </a:ext>
            </a:extLst>
          </p:cNvPr>
          <p:cNvPicPr>
            <a:picLocks noChangeAspect="1"/>
          </p:cNvPicPr>
          <p:nvPr/>
        </p:nvPicPr>
        <p:blipFill>
          <a:blip r:embed="rId4"/>
          <a:stretch>
            <a:fillRect/>
          </a:stretch>
        </p:blipFill>
        <p:spPr>
          <a:xfrm>
            <a:off x="1033346" y="1683345"/>
            <a:ext cx="1358125" cy="1325139"/>
          </a:xfrm>
          <a:prstGeom prst="rect">
            <a:avLst/>
          </a:prstGeom>
        </p:spPr>
      </p:pic>
      <p:pic>
        <p:nvPicPr>
          <p:cNvPr id="7" name="Picture 6">
            <a:extLst>
              <a:ext uri="{FF2B5EF4-FFF2-40B4-BE49-F238E27FC236}">
                <a16:creationId xmlns:a16="http://schemas.microsoft.com/office/drawing/2014/main" id="{AC67C166-AF1D-7375-D04B-53F471ADE80E}"/>
              </a:ext>
            </a:extLst>
          </p:cNvPr>
          <p:cNvPicPr>
            <a:picLocks noChangeAspect="1"/>
          </p:cNvPicPr>
          <p:nvPr/>
        </p:nvPicPr>
        <p:blipFill>
          <a:blip r:embed="rId5"/>
          <a:stretch>
            <a:fillRect/>
          </a:stretch>
        </p:blipFill>
        <p:spPr>
          <a:xfrm>
            <a:off x="1033346" y="3186904"/>
            <a:ext cx="1356177" cy="13744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1"/>
          <p:cNvSpPr txBox="1">
            <a:spLocks noGrp="1"/>
          </p:cNvSpPr>
          <p:nvPr>
            <p:ph type="title"/>
          </p:nvPr>
        </p:nvSpPr>
        <p:spPr>
          <a:xfrm>
            <a:off x="720000" y="158808"/>
            <a:ext cx="7704000" cy="572700"/>
          </a:xfrm>
          <a:prstGeom prst="rect">
            <a:avLst/>
          </a:prstGeom>
        </p:spPr>
        <p:txBody>
          <a:bodyPr spcFirstLastPara="1" wrap="square" lIns="91425" tIns="91425" rIns="91425" bIns="91425" anchor="t" anchorCtr="0">
            <a:noAutofit/>
          </a:bodyPr>
          <a:lstStyle/>
          <a:p>
            <a:pPr lvl="0"/>
            <a:r>
              <a:rPr lang="en-US" dirty="0"/>
              <a:t>Các </a:t>
            </a:r>
            <a:r>
              <a:rPr lang="en-US" dirty="0" err="1"/>
              <a:t>thành</a:t>
            </a:r>
            <a:r>
              <a:rPr lang="en-US" dirty="0"/>
              <a:t> </a:t>
            </a:r>
            <a:r>
              <a:rPr lang="en-US" dirty="0" err="1"/>
              <a:t>phần</a:t>
            </a:r>
            <a:r>
              <a:rPr lang="en-US" dirty="0"/>
              <a:t> </a:t>
            </a:r>
            <a:r>
              <a:rPr lang="en-US" dirty="0" err="1"/>
              <a:t>trong</a:t>
            </a:r>
            <a:r>
              <a:rPr lang="en-US" dirty="0"/>
              <a:t> </a:t>
            </a:r>
            <a:r>
              <a:rPr lang="en-US" dirty="0" err="1"/>
              <a:t>cây</a:t>
            </a:r>
            <a:endParaRPr dirty="0"/>
          </a:p>
        </p:txBody>
      </p:sp>
      <p:sp>
        <p:nvSpPr>
          <p:cNvPr id="269" name="Google Shape;269;p31"/>
          <p:cNvSpPr txBox="1">
            <a:spLocks noGrp="1"/>
          </p:cNvSpPr>
          <p:nvPr>
            <p:ph type="title" idx="2"/>
          </p:nvPr>
        </p:nvSpPr>
        <p:spPr>
          <a:xfrm>
            <a:off x="776931" y="1023040"/>
            <a:ext cx="1827555" cy="439968"/>
          </a:xfrm>
          <a:prstGeom prst="rect">
            <a:avLst/>
          </a:prstGeom>
        </p:spPr>
        <p:txBody>
          <a:bodyPr spcFirstLastPara="1" wrap="square" lIns="91425" tIns="91425" rIns="91425" bIns="91425" anchor="ctr" anchorCtr="0">
            <a:noAutofit/>
          </a:bodyPr>
          <a:lstStyle/>
          <a:p>
            <a:pPr lvl="0"/>
            <a:r>
              <a:rPr lang="vi-VN" sz="1400" b="1" dirty="0"/>
              <a:t>01. </a:t>
            </a:r>
            <a:r>
              <a:rPr lang="en-US" sz="1400" dirty="0"/>
              <a:t>Root (</a:t>
            </a:r>
            <a:r>
              <a:rPr lang="en-US" sz="1400" dirty="0" err="1"/>
              <a:t>Nút</a:t>
            </a:r>
            <a:r>
              <a:rPr lang="en-US" sz="1400" dirty="0"/>
              <a:t> </a:t>
            </a:r>
            <a:r>
              <a:rPr lang="en-US" sz="1400" dirty="0" err="1"/>
              <a:t>gốc</a:t>
            </a:r>
            <a:r>
              <a:rPr lang="en-US" sz="1400" dirty="0"/>
              <a:t>)</a:t>
            </a:r>
            <a:r>
              <a:rPr lang="vi-VN" sz="1400" dirty="0"/>
              <a:t>.</a:t>
            </a:r>
            <a:endParaRPr sz="1400" b="1" dirty="0"/>
          </a:p>
        </p:txBody>
      </p:sp>
      <p:sp>
        <p:nvSpPr>
          <p:cNvPr id="275" name="Google Shape;275;p31"/>
          <p:cNvSpPr txBox="1">
            <a:spLocks noGrp="1"/>
          </p:cNvSpPr>
          <p:nvPr>
            <p:ph type="subTitle" idx="1"/>
          </p:nvPr>
        </p:nvSpPr>
        <p:spPr>
          <a:xfrm>
            <a:off x="778117" y="1601281"/>
            <a:ext cx="1923014" cy="494227"/>
          </a:xfrm>
          <a:prstGeom prst="rect">
            <a:avLst/>
          </a:prstGeom>
        </p:spPr>
        <p:txBody>
          <a:bodyPr spcFirstLastPara="1" wrap="square" lIns="91425" tIns="91425" rIns="91425" bIns="91425" anchor="t" anchorCtr="0">
            <a:noAutofit/>
          </a:bodyPr>
          <a:lstStyle/>
          <a:p>
            <a:pPr marL="0" lvl="0" indent="0"/>
            <a:r>
              <a:rPr lang="vi-VN" sz="1000" dirty="0"/>
              <a:t>+ Là nút đầu tiên của cây. </a:t>
            </a:r>
          </a:p>
          <a:p>
            <a:pPr marL="0" lvl="0" indent="0"/>
            <a:r>
              <a:rPr lang="vi-VN" sz="1000" dirty="0"/>
              <a:t>+ Trong hình: P là gốc (Root). </a:t>
            </a:r>
          </a:p>
          <a:p>
            <a:pPr marL="0" lvl="0" indent="0"/>
            <a:r>
              <a:rPr lang="vi-VN" sz="1000" dirty="0"/>
              <a:t>+ Mọi đường đi trong cây đều bắt đầu từ đây.</a:t>
            </a:r>
            <a:endParaRPr sz="1000" dirty="0"/>
          </a:p>
        </p:txBody>
      </p:sp>
      <p:sp>
        <p:nvSpPr>
          <p:cNvPr id="23" name="Google Shape;269;p31">
            <a:extLst>
              <a:ext uri="{FF2B5EF4-FFF2-40B4-BE49-F238E27FC236}">
                <a16:creationId xmlns:a16="http://schemas.microsoft.com/office/drawing/2014/main" id="{096CBC93-6A67-54C0-A511-F9103CD46A7D}"/>
              </a:ext>
            </a:extLst>
          </p:cNvPr>
          <p:cNvSpPr txBox="1">
            <a:spLocks/>
          </p:cNvSpPr>
          <p:nvPr/>
        </p:nvSpPr>
        <p:spPr>
          <a:xfrm>
            <a:off x="1861425" y="2708359"/>
            <a:ext cx="2281930" cy="562935"/>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r>
              <a:rPr lang="vi-VN" sz="1400" b="1" dirty="0"/>
              <a:t>0</a:t>
            </a:r>
            <a:r>
              <a:rPr lang="fr-FR" sz="1400" b="1" dirty="0"/>
              <a:t>4. </a:t>
            </a:r>
            <a:r>
              <a:rPr lang="fr-FR" sz="1400" dirty="0"/>
              <a:t>Parent (</a:t>
            </a:r>
            <a:r>
              <a:rPr lang="fr-FR" sz="1400" dirty="0" err="1"/>
              <a:t>Cha</a:t>
            </a:r>
            <a:r>
              <a:rPr lang="fr-FR" sz="1400" dirty="0"/>
              <a:t> / </a:t>
            </a:r>
            <a:r>
              <a:rPr lang="fr-FR" sz="1400" dirty="0" err="1"/>
              <a:t>Nút</a:t>
            </a:r>
            <a:r>
              <a:rPr lang="fr-FR" sz="1400" dirty="0"/>
              <a:t> </a:t>
            </a:r>
            <a:r>
              <a:rPr lang="fr-FR" sz="1400" dirty="0" err="1"/>
              <a:t>cha</a:t>
            </a:r>
            <a:r>
              <a:rPr lang="fr-FR" sz="1400" dirty="0"/>
              <a:t>) </a:t>
            </a:r>
            <a:endParaRPr lang="en" sz="1400" b="1" dirty="0"/>
          </a:p>
        </p:txBody>
      </p:sp>
      <p:sp>
        <p:nvSpPr>
          <p:cNvPr id="24" name="Google Shape;275;p31">
            <a:extLst>
              <a:ext uri="{FF2B5EF4-FFF2-40B4-BE49-F238E27FC236}">
                <a16:creationId xmlns:a16="http://schemas.microsoft.com/office/drawing/2014/main" id="{58B3BFF9-A608-04DB-870F-60DC33CBBD68}"/>
              </a:ext>
            </a:extLst>
          </p:cNvPr>
          <p:cNvSpPr txBox="1">
            <a:spLocks/>
          </p:cNvSpPr>
          <p:nvPr/>
        </p:nvSpPr>
        <p:spPr>
          <a:xfrm>
            <a:off x="1779238" y="3419579"/>
            <a:ext cx="2446303" cy="7665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Space Grotesk Medium"/>
                <a:ea typeface="Space Grotesk Medium"/>
                <a:cs typeface="Space Grotesk Medium"/>
                <a:sym typeface="Space Grotesk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US" sz="1200" dirty="0"/>
              <a:t>+ </a:t>
            </a:r>
            <a:r>
              <a:rPr lang="en-US" sz="1200" dirty="0" err="1"/>
              <a:t>Nút</a:t>
            </a:r>
            <a:r>
              <a:rPr lang="en-US" sz="1200" dirty="0"/>
              <a:t> </a:t>
            </a:r>
            <a:r>
              <a:rPr lang="en-US" sz="1200" dirty="0" err="1"/>
              <a:t>có</a:t>
            </a:r>
            <a:r>
              <a:rPr lang="en-US" sz="1200" dirty="0"/>
              <a:t> con </a:t>
            </a:r>
            <a:r>
              <a:rPr lang="en-US" sz="1200" dirty="0" err="1"/>
              <a:t>gọi</a:t>
            </a:r>
            <a:r>
              <a:rPr lang="en-US" sz="1200" dirty="0"/>
              <a:t> </a:t>
            </a:r>
            <a:r>
              <a:rPr lang="en-US" sz="1200" dirty="0" err="1"/>
              <a:t>là</a:t>
            </a:r>
            <a:r>
              <a:rPr lang="en-US" sz="1200" dirty="0"/>
              <a:t> parent. + Trong </a:t>
            </a:r>
            <a:r>
              <a:rPr lang="en-US" sz="1200" dirty="0" err="1"/>
              <a:t>hình</a:t>
            </a:r>
            <a:r>
              <a:rPr lang="en-US" sz="1200" dirty="0"/>
              <a:t>: L </a:t>
            </a:r>
            <a:r>
              <a:rPr lang="en-US" sz="1200" dirty="0" err="1"/>
              <a:t>là</a:t>
            </a:r>
            <a:r>
              <a:rPr lang="en-US" sz="1200" dirty="0"/>
              <a:t> cha </a:t>
            </a:r>
            <a:r>
              <a:rPr lang="en-US" sz="1200" dirty="0" err="1"/>
              <a:t>của</a:t>
            </a:r>
            <a:r>
              <a:rPr lang="en-US" sz="1200" dirty="0"/>
              <a:t> E, F, G. </a:t>
            </a:r>
          </a:p>
        </p:txBody>
      </p:sp>
      <p:sp>
        <p:nvSpPr>
          <p:cNvPr id="25" name="Google Shape;269;p31">
            <a:extLst>
              <a:ext uri="{FF2B5EF4-FFF2-40B4-BE49-F238E27FC236}">
                <a16:creationId xmlns:a16="http://schemas.microsoft.com/office/drawing/2014/main" id="{1DD64CCD-49EE-78C9-F52F-4B99C3881A64}"/>
              </a:ext>
            </a:extLst>
          </p:cNvPr>
          <p:cNvSpPr txBox="1">
            <a:spLocks/>
          </p:cNvSpPr>
          <p:nvPr/>
        </p:nvSpPr>
        <p:spPr>
          <a:xfrm>
            <a:off x="3469476" y="1044444"/>
            <a:ext cx="2183011" cy="439968"/>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r>
              <a:rPr lang="vi-VN" sz="1400" b="1" dirty="0"/>
              <a:t>02. </a:t>
            </a:r>
            <a:r>
              <a:rPr lang="en-US" sz="1400" dirty="0"/>
              <a:t>Key (</a:t>
            </a:r>
            <a:r>
              <a:rPr lang="en-US" sz="1400" dirty="0" err="1"/>
              <a:t>Khóa</a:t>
            </a:r>
            <a:r>
              <a:rPr lang="en-US" sz="1400" dirty="0"/>
              <a:t> / </a:t>
            </a:r>
            <a:r>
              <a:rPr lang="en-US" sz="1400" dirty="0" err="1"/>
              <a:t>Giá</a:t>
            </a:r>
            <a:r>
              <a:rPr lang="en-US" sz="1400" dirty="0"/>
              <a:t> </a:t>
            </a:r>
            <a:r>
              <a:rPr lang="en-US" sz="1400" dirty="0" err="1"/>
              <a:t>trị</a:t>
            </a:r>
            <a:r>
              <a:rPr lang="en-US" sz="1400" dirty="0"/>
              <a:t>) </a:t>
            </a:r>
            <a:r>
              <a:rPr lang="vi-VN" sz="1400" dirty="0"/>
              <a:t>.</a:t>
            </a:r>
            <a:endParaRPr lang="en" sz="1400" b="1" dirty="0"/>
          </a:p>
        </p:txBody>
      </p:sp>
      <p:sp>
        <p:nvSpPr>
          <p:cNvPr id="26" name="Google Shape;275;p31">
            <a:extLst>
              <a:ext uri="{FF2B5EF4-FFF2-40B4-BE49-F238E27FC236}">
                <a16:creationId xmlns:a16="http://schemas.microsoft.com/office/drawing/2014/main" id="{57925ED5-7C0A-5C0C-F6FF-6722210007D0}"/>
              </a:ext>
            </a:extLst>
          </p:cNvPr>
          <p:cNvSpPr txBox="1">
            <a:spLocks/>
          </p:cNvSpPr>
          <p:nvPr/>
        </p:nvSpPr>
        <p:spPr>
          <a:xfrm>
            <a:off x="3441301" y="1614471"/>
            <a:ext cx="2183010" cy="10779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Space Grotesk Medium"/>
                <a:ea typeface="Space Grotesk Medium"/>
                <a:cs typeface="Space Grotesk Medium"/>
                <a:sym typeface="Space Grotesk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US" sz="1200" dirty="0"/>
              <a:t>+ </a:t>
            </a:r>
            <a:r>
              <a:rPr lang="en-US" sz="1200" dirty="0" err="1"/>
              <a:t>Mỗi</a:t>
            </a:r>
            <a:r>
              <a:rPr lang="en-US" sz="1200" dirty="0"/>
              <a:t> </a:t>
            </a:r>
            <a:r>
              <a:rPr lang="en-US" sz="1200" dirty="0" err="1"/>
              <a:t>nút</a:t>
            </a:r>
            <a:r>
              <a:rPr lang="en-US" sz="1200" dirty="0"/>
              <a:t> </a:t>
            </a:r>
            <a:r>
              <a:rPr lang="en-US" sz="1200" dirty="0" err="1"/>
              <a:t>có</a:t>
            </a:r>
            <a:r>
              <a:rPr lang="en-US" sz="1200" dirty="0"/>
              <a:t> </a:t>
            </a:r>
            <a:r>
              <a:rPr lang="en-US" sz="1200" dirty="0" err="1"/>
              <a:t>một</a:t>
            </a:r>
            <a:r>
              <a:rPr lang="en-US" sz="1200" dirty="0"/>
              <a:t> </a:t>
            </a:r>
            <a:r>
              <a:rPr lang="en-US" sz="1200" dirty="0" err="1"/>
              <a:t>giá</a:t>
            </a:r>
            <a:r>
              <a:rPr lang="en-US" sz="1200" dirty="0"/>
              <a:t> </a:t>
            </a:r>
            <a:r>
              <a:rPr lang="en-US" sz="1200" dirty="0" err="1"/>
              <a:t>trị</a:t>
            </a:r>
            <a:r>
              <a:rPr lang="en-US" sz="1200" dirty="0"/>
              <a:t> (key) </a:t>
            </a:r>
            <a:r>
              <a:rPr lang="en-US" sz="1200" dirty="0" err="1"/>
              <a:t>để</a:t>
            </a:r>
            <a:r>
              <a:rPr lang="en-US" sz="1200" dirty="0"/>
              <a:t> </a:t>
            </a:r>
            <a:r>
              <a:rPr lang="en-US" sz="1200" dirty="0" err="1"/>
              <a:t>nhận</a:t>
            </a:r>
            <a:r>
              <a:rPr lang="en-US" sz="1200" dirty="0"/>
              <a:t> </a:t>
            </a:r>
            <a:r>
              <a:rPr lang="en-US" sz="1200" dirty="0" err="1"/>
              <a:t>diện</a:t>
            </a:r>
            <a:r>
              <a:rPr lang="en-US" sz="1200" dirty="0"/>
              <a:t>. + </a:t>
            </a:r>
            <a:r>
              <a:rPr lang="en-US" sz="1200" dirty="0" err="1"/>
              <a:t>Ví</a:t>
            </a:r>
            <a:r>
              <a:rPr lang="en-US" sz="1200" dirty="0"/>
              <a:t> </a:t>
            </a:r>
            <a:r>
              <a:rPr lang="en-US" sz="1200" dirty="0" err="1"/>
              <a:t>dụ</a:t>
            </a:r>
            <a:r>
              <a:rPr lang="en-US" sz="1200" dirty="0"/>
              <a:t>: P, Q, R, A, B, L, C, D... </a:t>
            </a:r>
            <a:r>
              <a:rPr lang="en-US" sz="1200" dirty="0" err="1"/>
              <a:t>đều</a:t>
            </a:r>
            <a:r>
              <a:rPr lang="en-US" sz="1200" dirty="0"/>
              <a:t> </a:t>
            </a:r>
            <a:r>
              <a:rPr lang="en-US" sz="1200" dirty="0" err="1"/>
              <a:t>là</a:t>
            </a:r>
            <a:r>
              <a:rPr lang="en-US" sz="1200" dirty="0"/>
              <a:t> key.</a:t>
            </a:r>
          </a:p>
        </p:txBody>
      </p:sp>
      <p:sp>
        <p:nvSpPr>
          <p:cNvPr id="27" name="Google Shape;269;p31">
            <a:extLst>
              <a:ext uri="{FF2B5EF4-FFF2-40B4-BE49-F238E27FC236}">
                <a16:creationId xmlns:a16="http://schemas.microsoft.com/office/drawing/2014/main" id="{4B25BDEF-4DB2-0E88-209B-E1932F2131DE}"/>
              </a:ext>
            </a:extLst>
          </p:cNvPr>
          <p:cNvSpPr txBox="1">
            <a:spLocks/>
          </p:cNvSpPr>
          <p:nvPr/>
        </p:nvSpPr>
        <p:spPr>
          <a:xfrm>
            <a:off x="6476373" y="1025875"/>
            <a:ext cx="2183011" cy="514961"/>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r>
              <a:rPr lang="vi-VN" sz="1400" b="1" dirty="0"/>
              <a:t>0</a:t>
            </a:r>
            <a:r>
              <a:rPr lang="en-US" sz="1400" b="1" dirty="0"/>
              <a:t>3</a:t>
            </a:r>
            <a:r>
              <a:rPr lang="en-US" sz="1400" dirty="0"/>
              <a:t>. Edge (Cạnh / </a:t>
            </a:r>
            <a:r>
              <a:rPr lang="en-US" sz="1400" dirty="0" err="1"/>
              <a:t>Nhánh</a:t>
            </a:r>
            <a:r>
              <a:rPr lang="en-US" sz="1400" dirty="0"/>
              <a:t>)</a:t>
            </a:r>
            <a:endParaRPr lang="en" sz="1400" b="1" dirty="0"/>
          </a:p>
        </p:txBody>
      </p:sp>
      <p:sp>
        <p:nvSpPr>
          <p:cNvPr id="28" name="Google Shape;275;p31">
            <a:extLst>
              <a:ext uri="{FF2B5EF4-FFF2-40B4-BE49-F238E27FC236}">
                <a16:creationId xmlns:a16="http://schemas.microsoft.com/office/drawing/2014/main" id="{864AEB09-3626-6E1D-F959-0A2D00EA4F64}"/>
              </a:ext>
            </a:extLst>
          </p:cNvPr>
          <p:cNvSpPr txBox="1">
            <a:spLocks/>
          </p:cNvSpPr>
          <p:nvPr/>
        </p:nvSpPr>
        <p:spPr>
          <a:xfrm>
            <a:off x="6476373" y="1602542"/>
            <a:ext cx="2500943" cy="8746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Space Grotesk Medium"/>
                <a:ea typeface="Space Grotesk Medium"/>
                <a:cs typeface="Space Grotesk Medium"/>
                <a:sym typeface="Space Grotesk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vi-VN" sz="1200" dirty="0"/>
              <a:t>+ Đường nối giữa cha → con. + Ví dụ: đường nối P → Q, P → R là các Edge.</a:t>
            </a:r>
            <a:endParaRPr lang="en-US" sz="1200" dirty="0"/>
          </a:p>
        </p:txBody>
      </p:sp>
      <p:sp>
        <p:nvSpPr>
          <p:cNvPr id="29" name="Google Shape;269;p31">
            <a:extLst>
              <a:ext uri="{FF2B5EF4-FFF2-40B4-BE49-F238E27FC236}">
                <a16:creationId xmlns:a16="http://schemas.microsoft.com/office/drawing/2014/main" id="{929C7BA9-9C16-3F50-C0E1-EA719B6F7D4C}"/>
              </a:ext>
            </a:extLst>
          </p:cNvPr>
          <p:cNvSpPr txBox="1">
            <a:spLocks/>
          </p:cNvSpPr>
          <p:nvPr/>
        </p:nvSpPr>
        <p:spPr>
          <a:xfrm>
            <a:off x="5537898" y="2704806"/>
            <a:ext cx="2609925" cy="358062"/>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r>
              <a:rPr lang="vi-VN" sz="1400" b="1" dirty="0"/>
              <a:t>0</a:t>
            </a:r>
            <a:r>
              <a:rPr lang="es-ES" sz="1400" b="1" dirty="0"/>
              <a:t>5. </a:t>
            </a:r>
            <a:r>
              <a:rPr lang="es-ES" sz="1400" dirty="0" err="1"/>
              <a:t>Children</a:t>
            </a:r>
            <a:r>
              <a:rPr lang="es-ES" sz="1400" dirty="0"/>
              <a:t> (Con / </a:t>
            </a:r>
            <a:r>
              <a:rPr lang="es-ES" sz="1400" dirty="0" err="1"/>
              <a:t>Nút</a:t>
            </a:r>
            <a:r>
              <a:rPr lang="es-ES" sz="1400" dirty="0"/>
              <a:t> con) </a:t>
            </a:r>
            <a:endParaRPr lang="en" sz="1400" b="1" dirty="0"/>
          </a:p>
        </p:txBody>
      </p:sp>
      <p:sp>
        <p:nvSpPr>
          <p:cNvPr id="30" name="Google Shape;275;p31">
            <a:extLst>
              <a:ext uri="{FF2B5EF4-FFF2-40B4-BE49-F238E27FC236}">
                <a16:creationId xmlns:a16="http://schemas.microsoft.com/office/drawing/2014/main" id="{6E9CCBAB-F4CA-DCFF-F5B5-87110D78D5A6}"/>
              </a:ext>
            </a:extLst>
          </p:cNvPr>
          <p:cNvSpPr txBox="1">
            <a:spLocks/>
          </p:cNvSpPr>
          <p:nvPr/>
        </p:nvSpPr>
        <p:spPr>
          <a:xfrm>
            <a:off x="5537899" y="3365501"/>
            <a:ext cx="2779982" cy="8746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Space Grotesk Medium"/>
                <a:ea typeface="Space Grotesk Medium"/>
                <a:cs typeface="Space Grotesk Medium"/>
                <a:sym typeface="Space Grotesk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US" sz="1200" dirty="0"/>
              <a:t>+ </a:t>
            </a:r>
            <a:r>
              <a:rPr lang="en-US" sz="1200" dirty="0" err="1"/>
              <a:t>Nút</a:t>
            </a:r>
            <a:r>
              <a:rPr lang="en-US" sz="1200" dirty="0"/>
              <a:t> </a:t>
            </a:r>
            <a:r>
              <a:rPr lang="en-US" sz="1200" dirty="0" err="1"/>
              <a:t>bị</a:t>
            </a:r>
            <a:r>
              <a:rPr lang="en-US" sz="1200" dirty="0"/>
              <a:t> </a:t>
            </a:r>
            <a:r>
              <a:rPr lang="en-US" sz="1200" dirty="0" err="1"/>
              <a:t>nối</a:t>
            </a:r>
            <a:r>
              <a:rPr lang="en-US" sz="1200" dirty="0"/>
              <a:t> </a:t>
            </a:r>
            <a:r>
              <a:rPr lang="en-US" sz="1200" dirty="0" err="1"/>
              <a:t>xuống</a:t>
            </a:r>
            <a:r>
              <a:rPr lang="en-US" sz="1200" dirty="0"/>
              <a:t> </a:t>
            </a:r>
            <a:r>
              <a:rPr lang="en-US" sz="1200" dirty="0" err="1"/>
              <a:t>từ</a:t>
            </a:r>
            <a:r>
              <a:rPr lang="en-US" sz="1200" dirty="0"/>
              <a:t> cha </a:t>
            </a:r>
            <a:r>
              <a:rPr lang="en-US" sz="1200" dirty="0" err="1"/>
              <a:t>gọi</a:t>
            </a:r>
            <a:r>
              <a:rPr lang="en-US" sz="1200" dirty="0"/>
              <a:t> </a:t>
            </a:r>
            <a:r>
              <a:rPr lang="en-US" sz="1200" dirty="0" err="1"/>
              <a:t>là</a:t>
            </a:r>
            <a:r>
              <a:rPr lang="en-US" sz="1200" dirty="0"/>
              <a:t> con. + Trong </a:t>
            </a:r>
            <a:r>
              <a:rPr lang="en-US" sz="1200" dirty="0" err="1"/>
              <a:t>hình</a:t>
            </a:r>
            <a:r>
              <a:rPr lang="en-US" sz="1200" dirty="0"/>
              <a:t>: E, F, G </a:t>
            </a:r>
            <a:r>
              <a:rPr lang="en-US" sz="1200" dirty="0" err="1"/>
              <a:t>là</a:t>
            </a:r>
            <a:r>
              <a:rPr lang="en-US" sz="1200" dirty="0"/>
              <a:t> con </a:t>
            </a:r>
            <a:r>
              <a:rPr lang="en-US" sz="1200" dirty="0" err="1"/>
              <a:t>của</a:t>
            </a:r>
            <a:r>
              <a:rPr lang="en-US" sz="1200" dirty="0"/>
              <a:t> L.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C5C0CBE9-DF8F-3A7F-126A-7BD55A713271}"/>
            </a:ext>
          </a:extLst>
        </p:cNvPr>
        <p:cNvGrpSpPr/>
        <p:nvPr/>
      </p:nvGrpSpPr>
      <p:grpSpPr>
        <a:xfrm>
          <a:off x="0" y="0"/>
          <a:ext cx="0" cy="0"/>
          <a:chOff x="0" y="0"/>
          <a:chExt cx="0" cy="0"/>
        </a:xfrm>
      </p:grpSpPr>
      <p:sp>
        <p:nvSpPr>
          <p:cNvPr id="268" name="Google Shape;268;p31">
            <a:extLst>
              <a:ext uri="{FF2B5EF4-FFF2-40B4-BE49-F238E27FC236}">
                <a16:creationId xmlns:a16="http://schemas.microsoft.com/office/drawing/2014/main" id="{3C3F6D94-C35C-A0A9-B6D1-3C47606B2556}"/>
              </a:ext>
            </a:extLst>
          </p:cNvPr>
          <p:cNvSpPr txBox="1">
            <a:spLocks noGrp="1"/>
          </p:cNvSpPr>
          <p:nvPr>
            <p:ph type="title"/>
          </p:nvPr>
        </p:nvSpPr>
        <p:spPr>
          <a:xfrm>
            <a:off x="816644" y="299114"/>
            <a:ext cx="7704000" cy="572700"/>
          </a:xfrm>
          <a:prstGeom prst="rect">
            <a:avLst/>
          </a:prstGeom>
        </p:spPr>
        <p:txBody>
          <a:bodyPr spcFirstLastPara="1" wrap="square" lIns="91425" tIns="91425" rIns="91425" bIns="91425" anchor="t" anchorCtr="0">
            <a:noAutofit/>
          </a:bodyPr>
          <a:lstStyle/>
          <a:p>
            <a:pPr lvl="0"/>
            <a:r>
              <a:rPr lang="en-US" dirty="0"/>
              <a:t>Các </a:t>
            </a:r>
            <a:r>
              <a:rPr lang="en-US" dirty="0" err="1"/>
              <a:t>thành</a:t>
            </a:r>
            <a:r>
              <a:rPr lang="en-US" dirty="0"/>
              <a:t> </a:t>
            </a:r>
            <a:r>
              <a:rPr lang="en-US" dirty="0" err="1"/>
              <a:t>phần</a:t>
            </a:r>
            <a:r>
              <a:rPr lang="en-US" dirty="0"/>
              <a:t> </a:t>
            </a:r>
            <a:r>
              <a:rPr lang="en-US" dirty="0" err="1"/>
              <a:t>trong</a:t>
            </a:r>
            <a:r>
              <a:rPr lang="en-US" dirty="0"/>
              <a:t> </a:t>
            </a:r>
            <a:r>
              <a:rPr lang="en-US" dirty="0" err="1"/>
              <a:t>cây</a:t>
            </a:r>
            <a:endParaRPr dirty="0"/>
          </a:p>
        </p:txBody>
      </p:sp>
      <p:sp>
        <p:nvSpPr>
          <p:cNvPr id="269" name="Google Shape;269;p31">
            <a:extLst>
              <a:ext uri="{FF2B5EF4-FFF2-40B4-BE49-F238E27FC236}">
                <a16:creationId xmlns:a16="http://schemas.microsoft.com/office/drawing/2014/main" id="{BA30BD30-6285-23F3-C27A-52E68EE24056}"/>
              </a:ext>
            </a:extLst>
          </p:cNvPr>
          <p:cNvSpPr txBox="1">
            <a:spLocks noGrp="1"/>
          </p:cNvSpPr>
          <p:nvPr>
            <p:ph type="title" idx="2"/>
          </p:nvPr>
        </p:nvSpPr>
        <p:spPr>
          <a:xfrm>
            <a:off x="1118742" y="1229009"/>
            <a:ext cx="2363206" cy="572567"/>
          </a:xfrm>
          <a:prstGeom prst="rect">
            <a:avLst/>
          </a:prstGeom>
        </p:spPr>
        <p:txBody>
          <a:bodyPr spcFirstLastPara="1" wrap="square" lIns="91425" tIns="91425" rIns="91425" bIns="91425" anchor="ctr" anchorCtr="0">
            <a:noAutofit/>
          </a:bodyPr>
          <a:lstStyle/>
          <a:p>
            <a:pPr lvl="0"/>
            <a:r>
              <a:rPr lang="vi-VN" sz="1400" b="1" dirty="0"/>
              <a:t>0</a:t>
            </a:r>
            <a:r>
              <a:rPr lang="sv-SE" sz="1400" b="1" dirty="0"/>
              <a:t>6</a:t>
            </a:r>
            <a:r>
              <a:rPr lang="sv-SE" sz="1400" dirty="0"/>
              <a:t>. Siblings (Anh chị em)</a:t>
            </a:r>
            <a:r>
              <a:rPr lang="vi-VN" sz="1400" dirty="0"/>
              <a:t>.</a:t>
            </a:r>
            <a:endParaRPr sz="1400" b="1" dirty="0"/>
          </a:p>
        </p:txBody>
      </p:sp>
      <p:sp>
        <p:nvSpPr>
          <p:cNvPr id="275" name="Google Shape;275;p31">
            <a:extLst>
              <a:ext uri="{FF2B5EF4-FFF2-40B4-BE49-F238E27FC236}">
                <a16:creationId xmlns:a16="http://schemas.microsoft.com/office/drawing/2014/main" id="{1CA4A2FA-D253-3229-4584-7BAD5A66546A}"/>
              </a:ext>
            </a:extLst>
          </p:cNvPr>
          <p:cNvSpPr txBox="1">
            <a:spLocks noGrp="1"/>
          </p:cNvSpPr>
          <p:nvPr>
            <p:ph type="subTitle" idx="1"/>
          </p:nvPr>
        </p:nvSpPr>
        <p:spPr>
          <a:xfrm>
            <a:off x="1126593" y="1943266"/>
            <a:ext cx="2459850" cy="964637"/>
          </a:xfrm>
          <a:prstGeom prst="rect">
            <a:avLst/>
          </a:prstGeom>
        </p:spPr>
        <p:txBody>
          <a:bodyPr spcFirstLastPara="1" wrap="square" lIns="91425" tIns="91425" rIns="91425" bIns="91425" anchor="t" anchorCtr="0">
            <a:noAutofit/>
          </a:bodyPr>
          <a:lstStyle/>
          <a:p>
            <a:pPr marL="0" lvl="0" indent="0"/>
            <a:r>
              <a:rPr lang="en-US" sz="1000" dirty="0"/>
              <a:t>+ Các </a:t>
            </a:r>
            <a:r>
              <a:rPr lang="en-US" sz="1000" dirty="0" err="1"/>
              <a:t>nút</a:t>
            </a:r>
            <a:r>
              <a:rPr lang="en-US" sz="1000" dirty="0"/>
              <a:t> </a:t>
            </a:r>
            <a:r>
              <a:rPr lang="en-US" sz="1000" dirty="0" err="1"/>
              <a:t>có</a:t>
            </a:r>
            <a:r>
              <a:rPr lang="en-US" sz="1000" dirty="0"/>
              <a:t> </a:t>
            </a:r>
            <a:r>
              <a:rPr lang="en-US" sz="1000" dirty="0" err="1"/>
              <a:t>cùng</a:t>
            </a:r>
            <a:r>
              <a:rPr lang="en-US" sz="1000" dirty="0"/>
              <a:t> cha </a:t>
            </a:r>
            <a:r>
              <a:rPr lang="en-US" sz="1000" dirty="0" err="1"/>
              <a:t>gọi</a:t>
            </a:r>
            <a:r>
              <a:rPr lang="en-US" sz="1000" dirty="0"/>
              <a:t> </a:t>
            </a:r>
            <a:r>
              <a:rPr lang="en-US" sz="1000" dirty="0" err="1"/>
              <a:t>là</a:t>
            </a:r>
            <a:r>
              <a:rPr lang="en-US" sz="1000" dirty="0"/>
              <a:t> </a:t>
            </a:r>
            <a:r>
              <a:rPr lang="en-US" sz="1000" dirty="0" err="1"/>
              <a:t>anh</a:t>
            </a:r>
            <a:r>
              <a:rPr lang="en-US" sz="1000" dirty="0"/>
              <a:t> </a:t>
            </a:r>
            <a:r>
              <a:rPr lang="en-US" sz="1000" dirty="0" err="1"/>
              <a:t>chị</a:t>
            </a:r>
            <a:r>
              <a:rPr lang="en-US" sz="1000" dirty="0"/>
              <a:t> </a:t>
            </a:r>
            <a:r>
              <a:rPr lang="en-US" sz="1000" dirty="0" err="1"/>
              <a:t>em</a:t>
            </a:r>
            <a:r>
              <a:rPr lang="en-US" sz="1000" dirty="0"/>
              <a:t> (siblings). + </a:t>
            </a:r>
            <a:r>
              <a:rPr lang="en-US" sz="1000" dirty="0" err="1"/>
              <a:t>Ví</a:t>
            </a:r>
            <a:r>
              <a:rPr lang="en-US" sz="1000" dirty="0"/>
              <a:t> </a:t>
            </a:r>
            <a:r>
              <a:rPr lang="en-US" sz="1000" dirty="0" err="1"/>
              <a:t>dụ</a:t>
            </a:r>
            <a:r>
              <a:rPr lang="en-US" sz="1000" dirty="0"/>
              <a:t>: A </a:t>
            </a:r>
            <a:r>
              <a:rPr lang="en-US" sz="1000" dirty="0" err="1"/>
              <a:t>và</a:t>
            </a:r>
            <a:r>
              <a:rPr lang="en-US" sz="1000" dirty="0"/>
              <a:t> B </a:t>
            </a:r>
            <a:r>
              <a:rPr lang="en-US" sz="1000" dirty="0" err="1"/>
              <a:t>là</a:t>
            </a:r>
            <a:r>
              <a:rPr lang="en-US" sz="1000" dirty="0"/>
              <a:t> </a:t>
            </a:r>
            <a:r>
              <a:rPr lang="en-US" sz="1000" dirty="0" err="1"/>
              <a:t>anh</a:t>
            </a:r>
            <a:r>
              <a:rPr lang="en-US" sz="1000" dirty="0"/>
              <a:t> </a:t>
            </a:r>
            <a:r>
              <a:rPr lang="en-US" sz="1000" dirty="0" err="1"/>
              <a:t>em</a:t>
            </a:r>
            <a:r>
              <a:rPr lang="en-US" sz="1000" dirty="0"/>
              <a:t> (</a:t>
            </a:r>
            <a:r>
              <a:rPr lang="en-US" sz="1000" dirty="0" err="1"/>
              <a:t>cùng</a:t>
            </a:r>
            <a:r>
              <a:rPr lang="en-US" sz="1000" dirty="0"/>
              <a:t> cha Q). + E, F, G </a:t>
            </a:r>
            <a:r>
              <a:rPr lang="en-US" sz="1000" dirty="0" err="1"/>
              <a:t>cũng</a:t>
            </a:r>
            <a:r>
              <a:rPr lang="en-US" sz="1000" dirty="0"/>
              <a:t> </a:t>
            </a:r>
            <a:r>
              <a:rPr lang="en-US" sz="1000" dirty="0" err="1"/>
              <a:t>là</a:t>
            </a:r>
            <a:r>
              <a:rPr lang="en-US" sz="1000" dirty="0"/>
              <a:t> siblings (</a:t>
            </a:r>
            <a:r>
              <a:rPr lang="en-US" sz="1000" dirty="0" err="1"/>
              <a:t>cùng</a:t>
            </a:r>
            <a:r>
              <a:rPr lang="en-US" sz="1000" dirty="0"/>
              <a:t> cha L).</a:t>
            </a:r>
            <a:endParaRPr sz="1000" dirty="0"/>
          </a:p>
        </p:txBody>
      </p:sp>
      <p:sp>
        <p:nvSpPr>
          <p:cNvPr id="23" name="Google Shape;269;p31">
            <a:extLst>
              <a:ext uri="{FF2B5EF4-FFF2-40B4-BE49-F238E27FC236}">
                <a16:creationId xmlns:a16="http://schemas.microsoft.com/office/drawing/2014/main" id="{2C63D7F2-134D-8634-8265-C6A8B6FB859B}"/>
              </a:ext>
            </a:extLst>
          </p:cNvPr>
          <p:cNvSpPr txBox="1">
            <a:spLocks/>
          </p:cNvSpPr>
          <p:nvPr/>
        </p:nvSpPr>
        <p:spPr>
          <a:xfrm>
            <a:off x="1118741" y="2909055"/>
            <a:ext cx="2363205" cy="551816"/>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r>
              <a:rPr lang="vi-VN" sz="1400" b="1" dirty="0"/>
              <a:t>08</a:t>
            </a:r>
            <a:r>
              <a:rPr lang="en-US" sz="1400" dirty="0"/>
              <a:t>. Subtree (</a:t>
            </a:r>
            <a:r>
              <a:rPr lang="en-US" sz="1400" dirty="0" err="1"/>
              <a:t>Cây</a:t>
            </a:r>
            <a:r>
              <a:rPr lang="en-US" sz="1400" dirty="0"/>
              <a:t> con) </a:t>
            </a:r>
            <a:endParaRPr lang="en" sz="1400" b="1" dirty="0"/>
          </a:p>
        </p:txBody>
      </p:sp>
      <p:sp>
        <p:nvSpPr>
          <p:cNvPr id="24" name="Google Shape;275;p31">
            <a:extLst>
              <a:ext uri="{FF2B5EF4-FFF2-40B4-BE49-F238E27FC236}">
                <a16:creationId xmlns:a16="http://schemas.microsoft.com/office/drawing/2014/main" id="{85FCBDD9-F396-FE2C-69C8-5F7E848FDB5B}"/>
              </a:ext>
            </a:extLst>
          </p:cNvPr>
          <p:cNvSpPr txBox="1">
            <a:spLocks/>
          </p:cNvSpPr>
          <p:nvPr/>
        </p:nvSpPr>
        <p:spPr>
          <a:xfrm>
            <a:off x="1036966" y="3532041"/>
            <a:ext cx="2863652" cy="105895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Space Grotesk Medium"/>
                <a:ea typeface="Space Grotesk Medium"/>
                <a:cs typeface="Space Grotesk Medium"/>
                <a:sym typeface="Space Grotesk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US" sz="1000" dirty="0"/>
              <a:t>+ </a:t>
            </a:r>
            <a:r>
              <a:rPr lang="en-US" sz="1000" dirty="0" err="1"/>
              <a:t>Một</a:t>
            </a:r>
            <a:r>
              <a:rPr lang="en-US" sz="1000" dirty="0"/>
              <a:t> </a:t>
            </a:r>
            <a:r>
              <a:rPr lang="en-US" sz="1000" dirty="0" err="1"/>
              <a:t>nút</a:t>
            </a:r>
            <a:r>
              <a:rPr lang="en-US" sz="1000" dirty="0"/>
              <a:t> </a:t>
            </a:r>
            <a:r>
              <a:rPr lang="en-US" sz="1000" dirty="0" err="1"/>
              <a:t>cùng</a:t>
            </a:r>
            <a:r>
              <a:rPr lang="en-US" sz="1000" dirty="0"/>
              <a:t> </a:t>
            </a:r>
            <a:r>
              <a:rPr lang="en-US" sz="1000" dirty="0" err="1"/>
              <a:t>toàn</a:t>
            </a:r>
            <a:r>
              <a:rPr lang="en-US" sz="1000" dirty="0"/>
              <a:t> </a:t>
            </a:r>
            <a:r>
              <a:rPr lang="en-US" sz="1000" dirty="0" err="1"/>
              <a:t>bộ</a:t>
            </a:r>
            <a:r>
              <a:rPr lang="en-US" sz="1000" dirty="0"/>
              <a:t> con </a:t>
            </a:r>
            <a:r>
              <a:rPr lang="en-US" sz="1000" dirty="0" err="1"/>
              <a:t>cháu</a:t>
            </a:r>
            <a:r>
              <a:rPr lang="en-US" sz="1000" dirty="0"/>
              <a:t> </a:t>
            </a:r>
            <a:r>
              <a:rPr lang="en-US" sz="1000" dirty="0" err="1"/>
              <a:t>của</a:t>
            </a:r>
            <a:r>
              <a:rPr lang="en-US" sz="1000" dirty="0"/>
              <a:t> </a:t>
            </a:r>
            <a:r>
              <a:rPr lang="en-US" sz="1000" dirty="0" err="1"/>
              <a:t>nó</a:t>
            </a:r>
            <a:r>
              <a:rPr lang="en-US" sz="1000" dirty="0"/>
              <a:t> → </a:t>
            </a:r>
            <a:r>
              <a:rPr lang="en-US" sz="1000" dirty="0" err="1"/>
              <a:t>tạo</a:t>
            </a:r>
            <a:r>
              <a:rPr lang="en-US" sz="1000" dirty="0"/>
              <a:t> </a:t>
            </a:r>
            <a:r>
              <a:rPr lang="en-US" sz="1000" dirty="0" err="1"/>
              <a:t>thành</a:t>
            </a:r>
            <a:r>
              <a:rPr lang="en-US" sz="1000" dirty="0"/>
              <a:t> </a:t>
            </a:r>
            <a:r>
              <a:rPr lang="en-US" sz="1000" dirty="0" err="1"/>
              <a:t>một</a:t>
            </a:r>
            <a:r>
              <a:rPr lang="en-US" sz="1000" dirty="0"/>
              <a:t> </a:t>
            </a:r>
            <a:r>
              <a:rPr lang="en-US" sz="1000" dirty="0" err="1"/>
              <a:t>cây</a:t>
            </a:r>
            <a:r>
              <a:rPr lang="en-US" sz="1000" dirty="0"/>
              <a:t> con. + Trong </a:t>
            </a:r>
            <a:r>
              <a:rPr lang="en-US" sz="1000" dirty="0" err="1"/>
              <a:t>hình</a:t>
            </a:r>
            <a:r>
              <a:rPr lang="en-US" sz="1000" dirty="0"/>
              <a:t>: L </a:t>
            </a:r>
            <a:r>
              <a:rPr lang="en-US" sz="1000" dirty="0" err="1"/>
              <a:t>và</a:t>
            </a:r>
            <a:r>
              <a:rPr lang="en-US" sz="1000" dirty="0"/>
              <a:t> </a:t>
            </a:r>
            <a:r>
              <a:rPr lang="en-US" sz="1000" dirty="0" err="1"/>
              <a:t>các</a:t>
            </a:r>
            <a:r>
              <a:rPr lang="en-US" sz="1000" dirty="0"/>
              <a:t> con E, F, G </a:t>
            </a:r>
            <a:r>
              <a:rPr lang="en-US" sz="1000" dirty="0" err="1"/>
              <a:t>tạo</a:t>
            </a:r>
            <a:r>
              <a:rPr lang="en-US" sz="1000" dirty="0"/>
              <a:t> </a:t>
            </a:r>
            <a:r>
              <a:rPr lang="en-US" sz="1000" dirty="0" err="1"/>
              <a:t>thành</a:t>
            </a:r>
            <a:r>
              <a:rPr lang="en-US" sz="1000" dirty="0"/>
              <a:t> </a:t>
            </a:r>
            <a:r>
              <a:rPr lang="en-US" sz="1000" dirty="0" err="1"/>
              <a:t>một</a:t>
            </a:r>
            <a:r>
              <a:rPr lang="en-US" sz="1000" dirty="0"/>
              <a:t> subtree.</a:t>
            </a:r>
          </a:p>
        </p:txBody>
      </p:sp>
      <p:sp>
        <p:nvSpPr>
          <p:cNvPr id="25" name="Google Shape;269;p31">
            <a:extLst>
              <a:ext uri="{FF2B5EF4-FFF2-40B4-BE49-F238E27FC236}">
                <a16:creationId xmlns:a16="http://schemas.microsoft.com/office/drawing/2014/main" id="{B17AFF02-D685-E12D-8922-45181143DFCD}"/>
              </a:ext>
            </a:extLst>
          </p:cNvPr>
          <p:cNvSpPr txBox="1">
            <a:spLocks/>
          </p:cNvSpPr>
          <p:nvPr/>
        </p:nvSpPr>
        <p:spPr>
          <a:xfrm>
            <a:off x="5114638" y="1229009"/>
            <a:ext cx="2363205" cy="572566"/>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r>
              <a:rPr lang="vi-VN" sz="1400" b="1" dirty="0"/>
              <a:t>0</a:t>
            </a:r>
            <a:r>
              <a:rPr lang="pt-BR" sz="1400" b="1" dirty="0"/>
              <a:t>7</a:t>
            </a:r>
            <a:r>
              <a:rPr lang="pt-BR" sz="1400" dirty="0"/>
              <a:t>. Leaf nodes (Nút lá) </a:t>
            </a:r>
            <a:endParaRPr lang="en" sz="1400" b="1" dirty="0"/>
          </a:p>
        </p:txBody>
      </p:sp>
      <p:sp>
        <p:nvSpPr>
          <p:cNvPr id="27" name="Google Shape;269;p31">
            <a:extLst>
              <a:ext uri="{FF2B5EF4-FFF2-40B4-BE49-F238E27FC236}">
                <a16:creationId xmlns:a16="http://schemas.microsoft.com/office/drawing/2014/main" id="{8C4B63BB-6500-D864-25D2-735D536CFDA6}"/>
              </a:ext>
            </a:extLst>
          </p:cNvPr>
          <p:cNvSpPr txBox="1">
            <a:spLocks/>
          </p:cNvSpPr>
          <p:nvPr/>
        </p:nvSpPr>
        <p:spPr>
          <a:xfrm>
            <a:off x="5114639" y="2860641"/>
            <a:ext cx="2363204" cy="600230"/>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r>
              <a:rPr lang="vi-VN" sz="1400" b="1" dirty="0"/>
              <a:t>09</a:t>
            </a:r>
            <a:r>
              <a:rPr lang="en-US" sz="1400" dirty="0"/>
              <a:t>. Height of the tree (</a:t>
            </a:r>
            <a:r>
              <a:rPr lang="en-US" sz="1400" dirty="0" err="1"/>
              <a:t>Chiều</a:t>
            </a:r>
            <a:r>
              <a:rPr lang="en-US" sz="1400" dirty="0"/>
              <a:t> </a:t>
            </a:r>
            <a:r>
              <a:rPr lang="en-US" sz="1400" dirty="0" err="1"/>
              <a:t>cao</a:t>
            </a:r>
            <a:r>
              <a:rPr lang="en-US" sz="1400" dirty="0"/>
              <a:t> </a:t>
            </a:r>
            <a:r>
              <a:rPr lang="en-US" sz="1400" dirty="0" err="1"/>
              <a:t>của</a:t>
            </a:r>
            <a:r>
              <a:rPr lang="en-US" sz="1400" dirty="0"/>
              <a:t> </a:t>
            </a:r>
            <a:r>
              <a:rPr lang="en-US" sz="1400" dirty="0" err="1"/>
              <a:t>cây</a:t>
            </a:r>
            <a:r>
              <a:rPr lang="en-US" sz="1400" dirty="0"/>
              <a:t>)</a:t>
            </a:r>
            <a:endParaRPr lang="en" sz="1400" b="1" dirty="0"/>
          </a:p>
        </p:txBody>
      </p:sp>
      <p:sp>
        <p:nvSpPr>
          <p:cNvPr id="28" name="Google Shape;275;p31">
            <a:extLst>
              <a:ext uri="{FF2B5EF4-FFF2-40B4-BE49-F238E27FC236}">
                <a16:creationId xmlns:a16="http://schemas.microsoft.com/office/drawing/2014/main" id="{5C42F579-23FF-C2FD-EB63-EEC7D02EA5E8}"/>
              </a:ext>
            </a:extLst>
          </p:cNvPr>
          <p:cNvSpPr txBox="1">
            <a:spLocks/>
          </p:cNvSpPr>
          <p:nvPr/>
        </p:nvSpPr>
        <p:spPr>
          <a:xfrm>
            <a:off x="5114639" y="1914482"/>
            <a:ext cx="2626272" cy="7773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Space Grotesk Medium"/>
                <a:ea typeface="Space Grotesk Medium"/>
                <a:cs typeface="Space Grotesk Medium"/>
                <a:sym typeface="Space Grotesk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US" sz="1000" dirty="0"/>
              <a:t>+ </a:t>
            </a:r>
            <a:r>
              <a:rPr lang="en-US" sz="1000" dirty="0" err="1"/>
              <a:t>Là</a:t>
            </a:r>
            <a:r>
              <a:rPr lang="en-US" sz="1000" dirty="0"/>
              <a:t> </a:t>
            </a:r>
            <a:r>
              <a:rPr lang="en-US" sz="1000" dirty="0" err="1"/>
              <a:t>nút</a:t>
            </a:r>
            <a:r>
              <a:rPr lang="en-US" sz="1000" dirty="0"/>
              <a:t> </a:t>
            </a:r>
            <a:r>
              <a:rPr lang="en-US" sz="1000" dirty="0" err="1"/>
              <a:t>không</a:t>
            </a:r>
            <a:r>
              <a:rPr lang="en-US" sz="1000" dirty="0"/>
              <a:t> </a:t>
            </a:r>
            <a:r>
              <a:rPr lang="en-US" sz="1000" dirty="0" err="1"/>
              <a:t>có</a:t>
            </a:r>
            <a:r>
              <a:rPr lang="en-US" sz="1000" dirty="0"/>
              <a:t> con </a:t>
            </a:r>
            <a:r>
              <a:rPr lang="en-US" sz="1000" dirty="0" err="1"/>
              <a:t>nào</a:t>
            </a:r>
            <a:r>
              <a:rPr lang="en-US" sz="1000" dirty="0"/>
              <a:t> </a:t>
            </a:r>
            <a:r>
              <a:rPr lang="en-US" sz="1000" dirty="0" err="1"/>
              <a:t>nữa</a:t>
            </a:r>
            <a:r>
              <a:rPr lang="en-US" sz="1000" dirty="0"/>
              <a:t> (</a:t>
            </a:r>
            <a:r>
              <a:rPr lang="en-US" sz="1000" dirty="0" err="1"/>
              <a:t>nút</a:t>
            </a:r>
            <a:r>
              <a:rPr lang="en-US" sz="1000" dirty="0"/>
              <a:t> </a:t>
            </a:r>
            <a:r>
              <a:rPr lang="en-US" sz="1000" dirty="0" err="1"/>
              <a:t>tận</a:t>
            </a:r>
            <a:r>
              <a:rPr lang="en-US" sz="1000" dirty="0"/>
              <a:t> </a:t>
            </a:r>
            <a:r>
              <a:rPr lang="en-US" sz="1000" dirty="0" err="1"/>
              <a:t>cùng</a:t>
            </a:r>
            <a:r>
              <a:rPr lang="en-US" sz="1000" dirty="0"/>
              <a:t>). + Trong </a:t>
            </a:r>
            <a:r>
              <a:rPr lang="en-US" sz="1000" dirty="0" err="1"/>
              <a:t>hình</a:t>
            </a:r>
            <a:r>
              <a:rPr lang="en-US" sz="1000" dirty="0"/>
              <a:t>: E, F, G, B, D, H, I. </a:t>
            </a:r>
          </a:p>
        </p:txBody>
      </p:sp>
      <p:sp>
        <p:nvSpPr>
          <p:cNvPr id="30" name="Google Shape;275;p31">
            <a:extLst>
              <a:ext uri="{FF2B5EF4-FFF2-40B4-BE49-F238E27FC236}">
                <a16:creationId xmlns:a16="http://schemas.microsoft.com/office/drawing/2014/main" id="{6BE48D0E-E8F6-DF17-B84F-2F2162D5CC44}"/>
              </a:ext>
            </a:extLst>
          </p:cNvPr>
          <p:cNvSpPr txBox="1">
            <a:spLocks/>
          </p:cNvSpPr>
          <p:nvPr/>
        </p:nvSpPr>
        <p:spPr>
          <a:xfrm>
            <a:off x="5091199" y="3558717"/>
            <a:ext cx="2532000" cy="502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Space Grotesk Medium"/>
                <a:ea typeface="Space Grotesk Medium"/>
                <a:cs typeface="Space Grotesk Medium"/>
                <a:sym typeface="Space Grotesk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US" sz="1000" dirty="0"/>
              <a:t>+ </a:t>
            </a:r>
            <a:r>
              <a:rPr lang="en-US" sz="1000" dirty="0" err="1"/>
              <a:t>Là</a:t>
            </a:r>
            <a:r>
              <a:rPr lang="en-US" sz="1000" dirty="0"/>
              <a:t> </a:t>
            </a:r>
            <a:r>
              <a:rPr lang="en-US" sz="1000" dirty="0" err="1"/>
              <a:t>số</a:t>
            </a:r>
            <a:r>
              <a:rPr lang="en-US" sz="1000" dirty="0"/>
              <a:t> </a:t>
            </a:r>
            <a:r>
              <a:rPr lang="en-US" sz="1000" dirty="0" err="1"/>
              <a:t>cạnh</a:t>
            </a:r>
            <a:r>
              <a:rPr lang="en-US" sz="1000" dirty="0"/>
              <a:t> </a:t>
            </a:r>
            <a:r>
              <a:rPr lang="en-US" sz="1000" dirty="0" err="1"/>
              <a:t>dài</a:t>
            </a:r>
            <a:r>
              <a:rPr lang="en-US" sz="1000" dirty="0"/>
              <a:t> </a:t>
            </a:r>
            <a:r>
              <a:rPr lang="en-US" sz="1000" dirty="0" err="1"/>
              <a:t>nhất</a:t>
            </a:r>
            <a:r>
              <a:rPr lang="en-US" sz="1000" dirty="0"/>
              <a:t> </a:t>
            </a:r>
            <a:r>
              <a:rPr lang="en-US" sz="1000" dirty="0" err="1"/>
              <a:t>từ</a:t>
            </a:r>
            <a:r>
              <a:rPr lang="en-US" sz="1000" dirty="0"/>
              <a:t> </a:t>
            </a:r>
            <a:r>
              <a:rPr lang="en-US" sz="1000" dirty="0" err="1"/>
              <a:t>gốc</a:t>
            </a:r>
            <a:r>
              <a:rPr lang="en-US" sz="1000" dirty="0"/>
              <a:t> </a:t>
            </a:r>
            <a:r>
              <a:rPr lang="en-US" sz="1000" dirty="0" err="1"/>
              <a:t>đến</a:t>
            </a:r>
            <a:r>
              <a:rPr lang="en-US" sz="1000" dirty="0"/>
              <a:t> </a:t>
            </a:r>
            <a:r>
              <a:rPr lang="en-US" sz="1000" dirty="0" err="1"/>
              <a:t>một</a:t>
            </a:r>
            <a:r>
              <a:rPr lang="en-US" sz="1000" dirty="0"/>
              <a:t> </a:t>
            </a:r>
            <a:r>
              <a:rPr lang="en-US" sz="1000" dirty="0" err="1"/>
              <a:t>lá</a:t>
            </a:r>
            <a:r>
              <a:rPr lang="en-US" sz="1000" dirty="0"/>
              <a:t>. + </a:t>
            </a:r>
            <a:r>
              <a:rPr lang="en-US" sz="1000" dirty="0" err="1"/>
              <a:t>Ví</a:t>
            </a:r>
            <a:r>
              <a:rPr lang="en-US" sz="1000" dirty="0"/>
              <a:t> </a:t>
            </a:r>
            <a:r>
              <a:rPr lang="en-US" sz="1000" dirty="0" err="1"/>
              <a:t>dụ</a:t>
            </a:r>
            <a:r>
              <a:rPr lang="en-US" sz="1000" dirty="0"/>
              <a:t>: P → Q → A → L → E (</a:t>
            </a:r>
            <a:r>
              <a:rPr lang="en-US" sz="1000" dirty="0" err="1"/>
              <a:t>có</a:t>
            </a:r>
            <a:r>
              <a:rPr lang="en-US" sz="1000" dirty="0"/>
              <a:t> 4 </a:t>
            </a:r>
            <a:r>
              <a:rPr lang="en-US" sz="1000" dirty="0" err="1"/>
              <a:t>cạnh</a:t>
            </a:r>
            <a:r>
              <a:rPr lang="en-US" sz="1000" dirty="0"/>
              <a:t>) → </a:t>
            </a:r>
            <a:r>
              <a:rPr lang="en-US" sz="1000" dirty="0" err="1"/>
              <a:t>đây</a:t>
            </a:r>
            <a:r>
              <a:rPr lang="en-US" sz="1000" dirty="0"/>
              <a:t> </a:t>
            </a:r>
            <a:r>
              <a:rPr lang="en-US" sz="1000" dirty="0" err="1"/>
              <a:t>là</a:t>
            </a:r>
            <a:r>
              <a:rPr lang="en-US" sz="1000" dirty="0"/>
              <a:t> </a:t>
            </a:r>
            <a:r>
              <a:rPr lang="en-US" sz="1000" dirty="0" err="1"/>
              <a:t>chiều</a:t>
            </a:r>
            <a:r>
              <a:rPr lang="en-US" sz="1000" dirty="0"/>
              <a:t> </a:t>
            </a:r>
            <a:r>
              <a:rPr lang="en-US" sz="1000" dirty="0" err="1"/>
              <a:t>cao</a:t>
            </a:r>
            <a:r>
              <a:rPr lang="en-US" sz="1000" dirty="0"/>
              <a:t>.</a:t>
            </a:r>
          </a:p>
        </p:txBody>
      </p:sp>
    </p:spTree>
    <p:extLst>
      <p:ext uri="{BB962C8B-B14F-4D97-AF65-F5344CB8AC3E}">
        <p14:creationId xmlns:p14="http://schemas.microsoft.com/office/powerpoint/2010/main" val="1356993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DB083-5B2E-D01F-50EA-FED957E15B0E}"/>
              </a:ext>
            </a:extLst>
          </p:cNvPr>
          <p:cNvSpPr>
            <a:spLocks noGrp="1"/>
          </p:cNvSpPr>
          <p:nvPr>
            <p:ph type="title"/>
          </p:nvPr>
        </p:nvSpPr>
        <p:spPr>
          <a:xfrm>
            <a:off x="2825337" y="351992"/>
            <a:ext cx="3493325" cy="664170"/>
          </a:xfrm>
        </p:spPr>
        <p:txBody>
          <a:bodyPr/>
          <a:lstStyle/>
          <a:p>
            <a:r>
              <a:rPr lang="en-US" sz="2800" b="1" dirty="0" err="1"/>
              <a:t>Đống</a:t>
            </a:r>
            <a:r>
              <a:rPr lang="en-US" sz="2800" b="1" dirty="0"/>
              <a:t> (Heap) </a:t>
            </a:r>
          </a:p>
        </p:txBody>
      </p:sp>
      <p:sp>
        <p:nvSpPr>
          <p:cNvPr id="3" name="Subtitle 2">
            <a:extLst>
              <a:ext uri="{FF2B5EF4-FFF2-40B4-BE49-F238E27FC236}">
                <a16:creationId xmlns:a16="http://schemas.microsoft.com/office/drawing/2014/main" id="{0728A959-A73E-8A2E-C684-C1E0B922B20E}"/>
              </a:ext>
            </a:extLst>
          </p:cNvPr>
          <p:cNvSpPr>
            <a:spLocks noGrp="1"/>
          </p:cNvSpPr>
          <p:nvPr>
            <p:ph type="subTitle" idx="1"/>
          </p:nvPr>
        </p:nvSpPr>
        <p:spPr>
          <a:xfrm>
            <a:off x="83820" y="1303137"/>
            <a:ext cx="4686300" cy="2298300"/>
          </a:xfrm>
        </p:spPr>
        <p:txBody>
          <a:bodyPr/>
          <a:lstStyle/>
          <a:p>
            <a:pPr marL="323850" indent="-171450">
              <a:buFont typeface="Wingdings" panose="05000000000000000000" pitchFamily="2" charset="2"/>
              <a:buChar char="q"/>
            </a:pPr>
            <a:r>
              <a:rPr lang="vi-VN" b="1" dirty="0"/>
              <a:t>Khái niệm: </a:t>
            </a:r>
          </a:p>
          <a:p>
            <a:pPr marL="152400" indent="0">
              <a:buNone/>
            </a:pPr>
            <a:r>
              <a:rPr lang="vi-VN" dirty="0"/>
              <a:t>Cây nhị phân được gọi là đống nếu giá trị của các node thỏa mãn điều kiện sau: </a:t>
            </a:r>
          </a:p>
          <a:p>
            <a:pPr marL="323850" indent="-171450">
              <a:buSzPct val="100000"/>
              <a:buFont typeface="Arial" panose="020B0604020202020204" pitchFamily="34" charset="0"/>
              <a:buChar char="•"/>
            </a:pPr>
            <a:r>
              <a:rPr lang="vi-VN" dirty="0"/>
              <a:t>Giá trị của phần tử cha &gt; giá trị phần tử con (Đống cực đại) hoặc giá trị phần tử cha &lt; giá trị phần tử con (Đống cực tiểu) </a:t>
            </a:r>
          </a:p>
          <a:p>
            <a:pPr marL="323850" indent="-171450">
              <a:buFont typeface="Arial" panose="020B0604020202020204" pitchFamily="34" charset="0"/>
              <a:buChar char="•"/>
            </a:pPr>
            <a:r>
              <a:rPr lang="vi-VN" dirty="0"/>
              <a:t>Có 2 loại chính:</a:t>
            </a:r>
          </a:p>
          <a:p>
            <a:pPr lvl="1"/>
            <a:r>
              <a:rPr lang="vi-VN" b="1" dirty="0"/>
              <a:t>Max-Heap</a:t>
            </a:r>
            <a:r>
              <a:rPr lang="vi-VN" dirty="0"/>
              <a:t>: nút cha luôn lớn hơn hoặc bằng các nút con. </a:t>
            </a:r>
          </a:p>
          <a:p>
            <a:pPr lvl="1"/>
            <a:r>
              <a:rPr lang="vi-VN" b="1" dirty="0"/>
              <a:t>Min-Heap</a:t>
            </a:r>
            <a:r>
              <a:rPr lang="vi-VN" dirty="0"/>
              <a:t>: nút cha luôn nhỏ hơn hoặc bằng các nút con.</a:t>
            </a:r>
          </a:p>
          <a:p>
            <a:pPr marL="323850" indent="-171450">
              <a:buFont typeface="Wingdings" panose="05000000000000000000" pitchFamily="2" charset="2"/>
              <a:buChar char="q"/>
            </a:pPr>
            <a:r>
              <a:rPr lang="vi-VN" dirty="0"/>
              <a:t> </a:t>
            </a:r>
            <a:r>
              <a:rPr lang="vi-VN" b="1" dirty="0"/>
              <a:t>Ứng dụng: </a:t>
            </a:r>
          </a:p>
          <a:p>
            <a:pPr marL="152400" indent="0">
              <a:buNone/>
            </a:pPr>
            <a:r>
              <a:rPr lang="vi-VN" dirty="0"/>
              <a:t>Sử dụng trong thuật toán Dijkstra (tìm đường đi ngắn nhất). Sử dụng trong các bài toán cần tìm giá trị lớn nhất/nhỏ nhất một cách nhanh chóng.</a:t>
            </a:r>
            <a:endParaRPr lang="en-US" dirty="0"/>
          </a:p>
        </p:txBody>
      </p:sp>
      <p:pic>
        <p:nvPicPr>
          <p:cNvPr id="7" name="Picture 6">
            <a:extLst>
              <a:ext uri="{FF2B5EF4-FFF2-40B4-BE49-F238E27FC236}">
                <a16:creationId xmlns:a16="http://schemas.microsoft.com/office/drawing/2014/main" id="{E9AD51B3-8AA1-2F42-56F1-B89666B1EAD7}"/>
              </a:ext>
            </a:extLst>
          </p:cNvPr>
          <p:cNvPicPr>
            <a:picLocks noChangeAspect="1"/>
          </p:cNvPicPr>
          <p:nvPr/>
        </p:nvPicPr>
        <p:blipFill>
          <a:blip r:embed="rId2"/>
          <a:stretch>
            <a:fillRect/>
          </a:stretch>
        </p:blipFill>
        <p:spPr>
          <a:xfrm>
            <a:off x="5024893" y="1121134"/>
            <a:ext cx="3554564" cy="266230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 name="Google Shape;7707;p59">
            <a:extLst>
              <a:ext uri="{FF2B5EF4-FFF2-40B4-BE49-F238E27FC236}">
                <a16:creationId xmlns:a16="http://schemas.microsoft.com/office/drawing/2014/main" id="{0E899220-B1EA-043D-3832-1BD1307DD1C1}"/>
              </a:ext>
            </a:extLst>
          </p:cNvPr>
          <p:cNvGrpSpPr/>
          <p:nvPr/>
        </p:nvGrpSpPr>
        <p:grpSpPr>
          <a:xfrm>
            <a:off x="385143" y="311515"/>
            <a:ext cx="940737" cy="721067"/>
            <a:chOff x="6599718" y="2068734"/>
            <a:chExt cx="940737" cy="721067"/>
          </a:xfrm>
        </p:grpSpPr>
        <p:sp>
          <p:nvSpPr>
            <p:cNvPr id="9" name="Google Shape;7708;p59">
              <a:extLst>
                <a:ext uri="{FF2B5EF4-FFF2-40B4-BE49-F238E27FC236}">
                  <a16:creationId xmlns:a16="http://schemas.microsoft.com/office/drawing/2014/main" id="{06BC67CA-A3C2-82C5-33DC-A24FCA7B0EE7}"/>
                </a:ext>
              </a:extLst>
            </p:cNvPr>
            <p:cNvSpPr/>
            <p:nvPr/>
          </p:nvSpPr>
          <p:spPr>
            <a:xfrm>
              <a:off x="7138953" y="2569473"/>
              <a:ext cx="366935" cy="115933"/>
            </a:xfrm>
            <a:custGeom>
              <a:avLst/>
              <a:gdLst/>
              <a:ahLst/>
              <a:cxnLst/>
              <a:rect l="l" t="t" r="r" b="b"/>
              <a:pathLst>
                <a:path w="105517" h="33338" fill="none" extrusionOk="0">
                  <a:moveTo>
                    <a:pt x="8231" y="0"/>
                  </a:moveTo>
                  <a:cubicBezTo>
                    <a:pt x="6610" y="2526"/>
                    <a:pt x="5253" y="5215"/>
                    <a:pt x="4198" y="8042"/>
                  </a:cubicBezTo>
                  <a:cubicBezTo>
                    <a:pt x="3205" y="10656"/>
                    <a:pt x="2803" y="13182"/>
                    <a:pt x="2803" y="14991"/>
                  </a:cubicBezTo>
                  <a:cubicBezTo>
                    <a:pt x="2790" y="18636"/>
                    <a:pt x="2840" y="21274"/>
                    <a:pt x="1" y="23008"/>
                  </a:cubicBezTo>
                  <a:cubicBezTo>
                    <a:pt x="164" y="23549"/>
                    <a:pt x="239" y="24114"/>
                    <a:pt x="227" y="24667"/>
                  </a:cubicBezTo>
                  <a:lnTo>
                    <a:pt x="227" y="33338"/>
                  </a:lnTo>
                  <a:lnTo>
                    <a:pt x="105517" y="33338"/>
                  </a:lnTo>
                  <a:lnTo>
                    <a:pt x="105517" y="0"/>
                  </a:ln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709;p59">
              <a:extLst>
                <a:ext uri="{FF2B5EF4-FFF2-40B4-BE49-F238E27FC236}">
                  <a16:creationId xmlns:a16="http://schemas.microsoft.com/office/drawing/2014/main" id="{6B7B3C82-952D-AFC1-BFD1-3008C50AFB6C}"/>
                </a:ext>
              </a:extLst>
            </p:cNvPr>
            <p:cNvSpPr/>
            <p:nvPr/>
          </p:nvSpPr>
          <p:spPr>
            <a:xfrm>
              <a:off x="6650497" y="2579172"/>
              <a:ext cx="346397" cy="118079"/>
            </a:xfrm>
            <a:custGeom>
              <a:avLst/>
              <a:gdLst/>
              <a:ahLst/>
              <a:cxnLst/>
              <a:rect l="l" t="t" r="r" b="b"/>
              <a:pathLst>
                <a:path w="99611" h="33955" fill="none" extrusionOk="0">
                  <a:moveTo>
                    <a:pt x="99372" y="21891"/>
                  </a:moveTo>
                  <a:cubicBezTo>
                    <a:pt x="99359" y="21325"/>
                    <a:pt x="99435" y="20760"/>
                    <a:pt x="99611" y="20219"/>
                  </a:cubicBezTo>
                  <a:cubicBezTo>
                    <a:pt x="96758" y="18485"/>
                    <a:pt x="96808" y="15847"/>
                    <a:pt x="96796" y="12215"/>
                  </a:cubicBezTo>
                  <a:cubicBezTo>
                    <a:pt x="96796" y="10405"/>
                    <a:pt x="96394" y="7880"/>
                    <a:pt x="95414" y="5253"/>
                  </a:cubicBezTo>
                  <a:cubicBezTo>
                    <a:pt x="94735" y="3444"/>
                    <a:pt x="93931" y="1697"/>
                    <a:pt x="93014" y="1"/>
                  </a:cubicBezTo>
                  <a:lnTo>
                    <a:pt x="0" y="1"/>
                  </a:lnTo>
                  <a:lnTo>
                    <a:pt x="0" y="33954"/>
                  </a:lnTo>
                  <a:lnTo>
                    <a:pt x="99372" y="33954"/>
                  </a:ln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710;p59">
              <a:extLst>
                <a:ext uri="{FF2B5EF4-FFF2-40B4-BE49-F238E27FC236}">
                  <a16:creationId xmlns:a16="http://schemas.microsoft.com/office/drawing/2014/main" id="{C4501263-54E3-DC38-710D-5218EBF9430D}"/>
                </a:ext>
              </a:extLst>
            </p:cNvPr>
            <p:cNvSpPr/>
            <p:nvPr/>
          </p:nvSpPr>
          <p:spPr>
            <a:xfrm>
              <a:off x="7236268" y="2370428"/>
              <a:ext cx="304187" cy="115978"/>
            </a:xfrm>
            <a:custGeom>
              <a:avLst/>
              <a:gdLst/>
              <a:ahLst/>
              <a:cxnLst/>
              <a:rect l="l" t="t" r="r" b="b"/>
              <a:pathLst>
                <a:path w="87473" h="33351" fill="none" extrusionOk="0">
                  <a:moveTo>
                    <a:pt x="15181" y="0"/>
                  </a:moveTo>
                  <a:cubicBezTo>
                    <a:pt x="12114" y="11913"/>
                    <a:pt x="6975" y="23210"/>
                    <a:pt x="1" y="33350"/>
                  </a:cubicBezTo>
                  <a:lnTo>
                    <a:pt x="87472" y="33350"/>
                  </a:lnTo>
                  <a:lnTo>
                    <a:pt x="87472" y="0"/>
                  </a:ln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711;p59">
              <a:extLst>
                <a:ext uri="{FF2B5EF4-FFF2-40B4-BE49-F238E27FC236}">
                  <a16:creationId xmlns:a16="http://schemas.microsoft.com/office/drawing/2014/main" id="{A6EDBAB0-0BF5-8709-0E05-A94A93546C3C}"/>
                </a:ext>
              </a:extLst>
            </p:cNvPr>
            <p:cNvSpPr/>
            <p:nvPr/>
          </p:nvSpPr>
          <p:spPr>
            <a:xfrm>
              <a:off x="7252744" y="2161243"/>
              <a:ext cx="271454" cy="115982"/>
            </a:xfrm>
            <a:custGeom>
              <a:avLst/>
              <a:gdLst/>
              <a:ahLst/>
              <a:cxnLst/>
              <a:rect l="l" t="t" r="r" b="b"/>
              <a:pathLst>
                <a:path w="78060" h="33352" fill="none" extrusionOk="0">
                  <a:moveTo>
                    <a:pt x="0" y="1"/>
                  </a:moveTo>
                  <a:cubicBezTo>
                    <a:pt x="7288" y="9714"/>
                    <a:pt x="11762" y="21250"/>
                    <a:pt x="12918" y="33351"/>
                  </a:cubicBezTo>
                  <a:lnTo>
                    <a:pt x="78060" y="33351"/>
                  </a:lnTo>
                  <a:lnTo>
                    <a:pt x="78060" y="1"/>
                  </a:ln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712;p59">
              <a:extLst>
                <a:ext uri="{FF2B5EF4-FFF2-40B4-BE49-F238E27FC236}">
                  <a16:creationId xmlns:a16="http://schemas.microsoft.com/office/drawing/2014/main" id="{6C79330D-2374-393D-2E33-EDE427785714}"/>
                </a:ext>
              </a:extLst>
            </p:cNvPr>
            <p:cNvSpPr/>
            <p:nvPr/>
          </p:nvSpPr>
          <p:spPr>
            <a:xfrm>
              <a:off x="6599718" y="2199610"/>
              <a:ext cx="260051" cy="115978"/>
            </a:xfrm>
            <a:custGeom>
              <a:avLst/>
              <a:gdLst/>
              <a:ahLst/>
              <a:cxnLst/>
              <a:rect l="l" t="t" r="r" b="b"/>
              <a:pathLst>
                <a:path w="74781" h="33351" fill="none" extrusionOk="0">
                  <a:moveTo>
                    <a:pt x="68246" y="28752"/>
                  </a:moveTo>
                  <a:cubicBezTo>
                    <a:pt x="68234" y="18800"/>
                    <a:pt x="70471" y="8973"/>
                    <a:pt x="74781" y="1"/>
                  </a:cubicBezTo>
                  <a:lnTo>
                    <a:pt x="1" y="1"/>
                  </a:lnTo>
                  <a:lnTo>
                    <a:pt x="1" y="33351"/>
                  </a:lnTo>
                  <a:lnTo>
                    <a:pt x="68397" y="33351"/>
                  </a:lnTo>
                  <a:cubicBezTo>
                    <a:pt x="68284" y="31818"/>
                    <a:pt x="68221" y="30285"/>
                    <a:pt x="68246" y="28752"/>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713;p59">
              <a:extLst>
                <a:ext uri="{FF2B5EF4-FFF2-40B4-BE49-F238E27FC236}">
                  <a16:creationId xmlns:a16="http://schemas.microsoft.com/office/drawing/2014/main" id="{6671CF8A-8671-9448-28F9-D93BFF6B8C1C}"/>
                </a:ext>
              </a:extLst>
            </p:cNvPr>
            <p:cNvSpPr/>
            <p:nvPr/>
          </p:nvSpPr>
          <p:spPr>
            <a:xfrm>
              <a:off x="6605967" y="2389697"/>
              <a:ext cx="307727" cy="116023"/>
            </a:xfrm>
            <a:custGeom>
              <a:avLst/>
              <a:gdLst/>
              <a:ahLst/>
              <a:cxnLst/>
              <a:rect l="l" t="t" r="r" b="b"/>
              <a:pathLst>
                <a:path w="88491" h="33364" fill="none" extrusionOk="0">
                  <a:moveTo>
                    <a:pt x="70835" y="1"/>
                  </a:moveTo>
                  <a:lnTo>
                    <a:pt x="1" y="1"/>
                  </a:lnTo>
                  <a:lnTo>
                    <a:pt x="1" y="33363"/>
                  </a:lnTo>
                  <a:lnTo>
                    <a:pt x="88490" y="33363"/>
                  </a:lnTo>
                  <a:cubicBezTo>
                    <a:pt x="80662" y="23386"/>
                    <a:pt x="74680" y="12089"/>
                    <a:pt x="70835" y="1"/>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7714;p59">
              <a:extLst>
                <a:ext uri="{FF2B5EF4-FFF2-40B4-BE49-F238E27FC236}">
                  <a16:creationId xmlns:a16="http://schemas.microsoft.com/office/drawing/2014/main" id="{C6C6F3A0-4EE2-B087-1295-8FCAFC589381}"/>
                </a:ext>
              </a:extLst>
            </p:cNvPr>
            <p:cNvGrpSpPr/>
            <p:nvPr/>
          </p:nvGrpSpPr>
          <p:grpSpPr>
            <a:xfrm>
              <a:off x="6836957" y="2068734"/>
              <a:ext cx="461892" cy="721067"/>
              <a:chOff x="6836957" y="2068734"/>
              <a:chExt cx="461892" cy="721067"/>
            </a:xfrm>
          </p:grpSpPr>
          <p:sp>
            <p:nvSpPr>
              <p:cNvPr id="16" name="Google Shape;7715;p59">
                <a:extLst>
                  <a:ext uri="{FF2B5EF4-FFF2-40B4-BE49-F238E27FC236}">
                    <a16:creationId xmlns:a16="http://schemas.microsoft.com/office/drawing/2014/main" id="{6396F91A-99D8-0898-A396-C81239ED6CAE}"/>
                  </a:ext>
                </a:extLst>
              </p:cNvPr>
              <p:cNvSpPr/>
              <p:nvPr/>
            </p:nvSpPr>
            <p:spPr>
              <a:xfrm>
                <a:off x="7080441" y="2287271"/>
                <a:ext cx="187336" cy="123319"/>
              </a:xfrm>
              <a:custGeom>
                <a:avLst/>
                <a:gdLst/>
                <a:ahLst/>
                <a:cxnLst/>
                <a:rect l="l" t="t" r="r" b="b"/>
                <a:pathLst>
                  <a:path w="53871" h="35462" fill="none" extrusionOk="0">
                    <a:moveTo>
                      <a:pt x="1" y="35461"/>
                    </a:moveTo>
                    <a:lnTo>
                      <a:pt x="47249" y="35461"/>
                    </a:lnTo>
                    <a:cubicBezTo>
                      <a:pt x="51018" y="26213"/>
                      <a:pt x="52665" y="18083"/>
                      <a:pt x="53368" y="12453"/>
                    </a:cubicBezTo>
                    <a:lnTo>
                      <a:pt x="53368" y="12415"/>
                    </a:lnTo>
                    <a:cubicBezTo>
                      <a:pt x="53381" y="12315"/>
                      <a:pt x="53381" y="12227"/>
                      <a:pt x="53393" y="12139"/>
                    </a:cubicBezTo>
                    <a:lnTo>
                      <a:pt x="53419" y="11950"/>
                    </a:lnTo>
                    <a:lnTo>
                      <a:pt x="53469" y="11548"/>
                    </a:lnTo>
                    <a:cubicBezTo>
                      <a:pt x="53506" y="11171"/>
                      <a:pt x="53544" y="10807"/>
                      <a:pt x="53582" y="10455"/>
                    </a:cubicBezTo>
                    <a:cubicBezTo>
                      <a:pt x="53620" y="10091"/>
                      <a:pt x="53645" y="9789"/>
                      <a:pt x="53670" y="9487"/>
                    </a:cubicBezTo>
                    <a:lnTo>
                      <a:pt x="53682" y="9362"/>
                    </a:lnTo>
                    <a:lnTo>
                      <a:pt x="53682" y="9324"/>
                    </a:lnTo>
                    <a:cubicBezTo>
                      <a:pt x="53871" y="6899"/>
                      <a:pt x="53846" y="5441"/>
                      <a:pt x="53846" y="5253"/>
                    </a:cubicBezTo>
                    <a:lnTo>
                      <a:pt x="53833" y="5077"/>
                    </a:lnTo>
                    <a:lnTo>
                      <a:pt x="53833" y="4951"/>
                    </a:lnTo>
                    <a:cubicBezTo>
                      <a:pt x="53833" y="3280"/>
                      <a:pt x="53758" y="1634"/>
                      <a:pt x="53620" y="0"/>
                    </a:cubicBezTo>
                    <a:lnTo>
                      <a:pt x="1" y="0"/>
                    </a:ln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716;p59">
                <a:extLst>
                  <a:ext uri="{FF2B5EF4-FFF2-40B4-BE49-F238E27FC236}">
                    <a16:creationId xmlns:a16="http://schemas.microsoft.com/office/drawing/2014/main" id="{778C0105-A665-95BF-1693-82E384968578}"/>
                  </a:ext>
                </a:extLst>
              </p:cNvPr>
              <p:cNvSpPr/>
              <p:nvPr/>
            </p:nvSpPr>
            <p:spPr>
              <a:xfrm>
                <a:off x="7080441" y="2105091"/>
                <a:ext cx="182750" cy="157141"/>
              </a:xfrm>
              <a:custGeom>
                <a:avLst/>
                <a:gdLst/>
                <a:ahLst/>
                <a:cxnLst/>
                <a:rect l="l" t="t" r="r" b="b"/>
                <a:pathLst>
                  <a:path w="52552" h="45188" fill="none" extrusionOk="0">
                    <a:moveTo>
                      <a:pt x="1" y="45188"/>
                    </a:moveTo>
                    <a:lnTo>
                      <a:pt x="52551" y="45188"/>
                    </a:lnTo>
                    <a:cubicBezTo>
                      <a:pt x="47211" y="20458"/>
                      <a:pt x="25899" y="1609"/>
                      <a:pt x="1" y="1"/>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717;p59">
                <a:extLst>
                  <a:ext uri="{FF2B5EF4-FFF2-40B4-BE49-F238E27FC236}">
                    <a16:creationId xmlns:a16="http://schemas.microsoft.com/office/drawing/2014/main" id="{6F46A38C-35A9-5D7A-2DD4-E30D9FFE6D0D}"/>
                  </a:ext>
                </a:extLst>
              </p:cNvPr>
              <p:cNvSpPr/>
              <p:nvPr/>
            </p:nvSpPr>
            <p:spPr>
              <a:xfrm>
                <a:off x="6872702" y="2287006"/>
                <a:ext cx="187378" cy="123364"/>
              </a:xfrm>
              <a:custGeom>
                <a:avLst/>
                <a:gdLst/>
                <a:ahLst/>
                <a:cxnLst/>
                <a:rect l="l" t="t" r="r" b="b"/>
                <a:pathLst>
                  <a:path w="53883" h="35475" fill="none" extrusionOk="0">
                    <a:moveTo>
                      <a:pt x="53883" y="1"/>
                    </a:moveTo>
                    <a:lnTo>
                      <a:pt x="239" y="1"/>
                    </a:lnTo>
                    <a:cubicBezTo>
                      <a:pt x="101" y="1634"/>
                      <a:pt x="13" y="3293"/>
                      <a:pt x="13" y="4964"/>
                    </a:cubicBezTo>
                    <a:lnTo>
                      <a:pt x="13" y="5266"/>
                    </a:lnTo>
                    <a:cubicBezTo>
                      <a:pt x="13" y="5454"/>
                      <a:pt x="0" y="6912"/>
                      <a:pt x="189" y="9312"/>
                    </a:cubicBezTo>
                    <a:lnTo>
                      <a:pt x="189" y="9375"/>
                    </a:lnTo>
                    <a:lnTo>
                      <a:pt x="189" y="9488"/>
                    </a:lnTo>
                    <a:lnTo>
                      <a:pt x="189" y="9488"/>
                    </a:lnTo>
                    <a:cubicBezTo>
                      <a:pt x="214" y="9802"/>
                      <a:pt x="252" y="10116"/>
                      <a:pt x="277" y="10443"/>
                    </a:cubicBezTo>
                    <a:cubicBezTo>
                      <a:pt x="314" y="10820"/>
                      <a:pt x="352" y="11185"/>
                      <a:pt x="390" y="11536"/>
                    </a:cubicBezTo>
                    <a:lnTo>
                      <a:pt x="440" y="11964"/>
                    </a:lnTo>
                    <a:lnTo>
                      <a:pt x="465" y="12140"/>
                    </a:lnTo>
                    <a:lnTo>
                      <a:pt x="503" y="12416"/>
                    </a:lnTo>
                    <a:lnTo>
                      <a:pt x="503" y="12466"/>
                    </a:lnTo>
                    <a:cubicBezTo>
                      <a:pt x="1194" y="18083"/>
                      <a:pt x="2840" y="26226"/>
                      <a:pt x="6610" y="35475"/>
                    </a:cubicBezTo>
                    <a:lnTo>
                      <a:pt x="53883" y="35475"/>
                    </a:ln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718;p59">
                <a:extLst>
                  <a:ext uri="{FF2B5EF4-FFF2-40B4-BE49-F238E27FC236}">
                    <a16:creationId xmlns:a16="http://schemas.microsoft.com/office/drawing/2014/main" id="{31D26EDF-906C-8BB8-2F01-67D5BEA2B010}"/>
                  </a:ext>
                </a:extLst>
              </p:cNvPr>
              <p:cNvSpPr/>
              <p:nvPr/>
            </p:nvSpPr>
            <p:spPr>
              <a:xfrm>
                <a:off x="6902504" y="2430686"/>
                <a:ext cx="152902" cy="185984"/>
              </a:xfrm>
              <a:custGeom>
                <a:avLst/>
                <a:gdLst/>
                <a:ahLst/>
                <a:cxnLst/>
                <a:rect l="l" t="t" r="r" b="b"/>
                <a:pathLst>
                  <a:path w="43969" h="53482" fill="none" extrusionOk="0">
                    <a:moveTo>
                      <a:pt x="43968" y="1"/>
                    </a:moveTo>
                    <a:lnTo>
                      <a:pt x="0" y="1"/>
                    </a:lnTo>
                    <a:cubicBezTo>
                      <a:pt x="4235" y="8319"/>
                      <a:pt x="10254" y="17191"/>
                      <a:pt x="18837" y="25723"/>
                    </a:cubicBezTo>
                    <a:cubicBezTo>
                      <a:pt x="24454" y="31315"/>
                      <a:pt x="28638" y="37724"/>
                      <a:pt x="31302" y="44823"/>
                    </a:cubicBezTo>
                    <a:cubicBezTo>
                      <a:pt x="31792" y="46130"/>
                      <a:pt x="32194" y="47462"/>
                      <a:pt x="32508" y="48819"/>
                    </a:cubicBezTo>
                    <a:cubicBezTo>
                      <a:pt x="33111" y="51534"/>
                      <a:pt x="35524" y="53469"/>
                      <a:pt x="38301" y="53481"/>
                    </a:cubicBezTo>
                    <a:lnTo>
                      <a:pt x="43968" y="53481"/>
                    </a:ln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719;p59">
                <a:extLst>
                  <a:ext uri="{FF2B5EF4-FFF2-40B4-BE49-F238E27FC236}">
                    <a16:creationId xmlns:a16="http://schemas.microsoft.com/office/drawing/2014/main" id="{54D9A8F4-EDCB-71A1-FB34-6EEDCE1B7651}"/>
                  </a:ext>
                </a:extLst>
              </p:cNvPr>
              <p:cNvSpPr/>
              <p:nvPr/>
            </p:nvSpPr>
            <p:spPr>
              <a:xfrm>
                <a:off x="6877289" y="2104831"/>
                <a:ext cx="182791" cy="157141"/>
              </a:xfrm>
              <a:custGeom>
                <a:avLst/>
                <a:gdLst/>
                <a:ahLst/>
                <a:cxnLst/>
                <a:rect l="l" t="t" r="r" b="b"/>
                <a:pathLst>
                  <a:path w="52564" h="45188" fill="none" extrusionOk="0">
                    <a:moveTo>
                      <a:pt x="52564" y="45187"/>
                    </a:moveTo>
                    <a:lnTo>
                      <a:pt x="52564" y="0"/>
                    </a:lnTo>
                    <a:cubicBezTo>
                      <a:pt x="26653" y="1621"/>
                      <a:pt x="5354" y="20470"/>
                      <a:pt x="1" y="45187"/>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720;p59">
                <a:extLst>
                  <a:ext uri="{FF2B5EF4-FFF2-40B4-BE49-F238E27FC236}">
                    <a16:creationId xmlns:a16="http://schemas.microsoft.com/office/drawing/2014/main" id="{0166E3A7-CC84-A734-92FD-157BBFC16D61}"/>
                  </a:ext>
                </a:extLst>
              </p:cNvPr>
              <p:cNvSpPr/>
              <p:nvPr/>
            </p:nvSpPr>
            <p:spPr>
              <a:xfrm>
                <a:off x="7080441" y="2430686"/>
                <a:ext cx="152860" cy="185938"/>
              </a:xfrm>
              <a:custGeom>
                <a:avLst/>
                <a:gdLst/>
                <a:ahLst/>
                <a:cxnLst/>
                <a:rect l="l" t="t" r="r" b="b"/>
                <a:pathLst>
                  <a:path w="43957" h="53469" fill="none" extrusionOk="0">
                    <a:moveTo>
                      <a:pt x="1" y="1"/>
                    </a:moveTo>
                    <a:lnTo>
                      <a:pt x="1" y="53469"/>
                    </a:lnTo>
                    <a:lnTo>
                      <a:pt x="5668" y="53469"/>
                    </a:lnTo>
                    <a:cubicBezTo>
                      <a:pt x="8445" y="53456"/>
                      <a:pt x="10845" y="51521"/>
                      <a:pt x="11448" y="48819"/>
                    </a:cubicBezTo>
                    <a:cubicBezTo>
                      <a:pt x="11762" y="47450"/>
                      <a:pt x="12165" y="46118"/>
                      <a:pt x="12655" y="44811"/>
                    </a:cubicBezTo>
                    <a:cubicBezTo>
                      <a:pt x="15319" y="37724"/>
                      <a:pt x="19503" y="31302"/>
                      <a:pt x="25120" y="25723"/>
                    </a:cubicBezTo>
                    <a:cubicBezTo>
                      <a:pt x="33703" y="17191"/>
                      <a:pt x="39722" y="8319"/>
                      <a:pt x="43956" y="1"/>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7721;p59">
                <a:extLst>
                  <a:ext uri="{FF2B5EF4-FFF2-40B4-BE49-F238E27FC236}">
                    <a16:creationId xmlns:a16="http://schemas.microsoft.com/office/drawing/2014/main" id="{6DF8F0FE-4EA8-A3B0-9CB8-AA1B033F7C40}"/>
                  </a:ext>
                </a:extLst>
              </p:cNvPr>
              <p:cNvGrpSpPr/>
              <p:nvPr/>
            </p:nvGrpSpPr>
            <p:grpSpPr>
              <a:xfrm>
                <a:off x="6836957" y="2068734"/>
                <a:ext cx="461892" cy="721067"/>
                <a:chOff x="6836957" y="2068734"/>
                <a:chExt cx="461892" cy="721067"/>
              </a:xfrm>
            </p:grpSpPr>
            <p:sp>
              <p:nvSpPr>
                <p:cNvPr id="23" name="Google Shape;7722;p59">
                  <a:extLst>
                    <a:ext uri="{FF2B5EF4-FFF2-40B4-BE49-F238E27FC236}">
                      <a16:creationId xmlns:a16="http://schemas.microsoft.com/office/drawing/2014/main" id="{47820D8F-5FD1-3934-D79E-410CFCF082DC}"/>
                    </a:ext>
                  </a:extLst>
                </p:cNvPr>
                <p:cNvSpPr/>
                <p:nvPr/>
              </p:nvSpPr>
              <p:spPr>
                <a:xfrm>
                  <a:off x="6996059" y="2711098"/>
                  <a:ext cx="143729" cy="78703"/>
                </a:xfrm>
                <a:custGeom>
                  <a:avLst/>
                  <a:gdLst/>
                  <a:ahLst/>
                  <a:cxnLst/>
                  <a:rect l="l" t="t" r="r" b="b"/>
                  <a:pathLst>
                    <a:path w="41331" h="22632" fill="none" extrusionOk="0">
                      <a:moveTo>
                        <a:pt x="20659" y="22632"/>
                      </a:moveTo>
                      <a:lnTo>
                        <a:pt x="20659" y="22632"/>
                      </a:lnTo>
                      <a:cubicBezTo>
                        <a:pt x="19252" y="22632"/>
                        <a:pt x="1" y="15658"/>
                        <a:pt x="1" y="5253"/>
                      </a:cubicBezTo>
                      <a:lnTo>
                        <a:pt x="1" y="0"/>
                      </a:lnTo>
                      <a:lnTo>
                        <a:pt x="41318" y="0"/>
                      </a:lnTo>
                      <a:lnTo>
                        <a:pt x="41318" y="5253"/>
                      </a:lnTo>
                      <a:cubicBezTo>
                        <a:pt x="41330" y="14125"/>
                        <a:pt x="22079" y="22632"/>
                        <a:pt x="20659" y="22632"/>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723;p59">
                  <a:extLst>
                    <a:ext uri="{FF2B5EF4-FFF2-40B4-BE49-F238E27FC236}">
                      <a16:creationId xmlns:a16="http://schemas.microsoft.com/office/drawing/2014/main" id="{6F23A3FE-FDF6-DBB0-6842-8EEF44532369}"/>
                    </a:ext>
                  </a:extLst>
                </p:cNvPr>
                <p:cNvSpPr/>
                <p:nvPr/>
              </p:nvSpPr>
              <p:spPr>
                <a:xfrm>
                  <a:off x="6996059" y="2647693"/>
                  <a:ext cx="143683" cy="88753"/>
                </a:xfrm>
                <a:custGeom>
                  <a:avLst/>
                  <a:gdLst/>
                  <a:ahLst/>
                  <a:cxnLst/>
                  <a:rect l="l" t="t" r="r" b="b"/>
                  <a:pathLst>
                    <a:path w="41318" h="25522" fill="none" extrusionOk="0">
                      <a:moveTo>
                        <a:pt x="667" y="0"/>
                      </a:moveTo>
                      <a:lnTo>
                        <a:pt x="40652" y="0"/>
                      </a:lnTo>
                      <a:cubicBezTo>
                        <a:pt x="41016" y="0"/>
                        <a:pt x="41318" y="980"/>
                        <a:pt x="41318" y="2199"/>
                      </a:cubicBezTo>
                      <a:lnTo>
                        <a:pt x="41318" y="23323"/>
                      </a:lnTo>
                      <a:cubicBezTo>
                        <a:pt x="41318" y="24542"/>
                        <a:pt x="41016" y="25522"/>
                        <a:pt x="40652" y="25522"/>
                      </a:cubicBezTo>
                      <a:lnTo>
                        <a:pt x="667" y="25522"/>
                      </a:lnTo>
                      <a:cubicBezTo>
                        <a:pt x="302" y="25522"/>
                        <a:pt x="1" y="24542"/>
                        <a:pt x="1" y="23323"/>
                      </a:cubicBezTo>
                      <a:lnTo>
                        <a:pt x="1" y="2187"/>
                      </a:lnTo>
                      <a:cubicBezTo>
                        <a:pt x="1" y="980"/>
                        <a:pt x="302" y="0"/>
                        <a:pt x="667" y="0"/>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724;p59">
                  <a:extLst>
                    <a:ext uri="{FF2B5EF4-FFF2-40B4-BE49-F238E27FC236}">
                      <a16:creationId xmlns:a16="http://schemas.microsoft.com/office/drawing/2014/main" id="{2F513A98-6E80-0442-EEF2-13592E083BDC}"/>
                    </a:ext>
                  </a:extLst>
                </p:cNvPr>
                <p:cNvSpPr/>
                <p:nvPr/>
              </p:nvSpPr>
              <p:spPr>
                <a:xfrm>
                  <a:off x="6990467" y="2723683"/>
                  <a:ext cx="154870" cy="12721"/>
                </a:xfrm>
                <a:custGeom>
                  <a:avLst/>
                  <a:gdLst/>
                  <a:ahLst/>
                  <a:cxnLst/>
                  <a:rect l="l" t="t" r="r" b="b"/>
                  <a:pathLst>
                    <a:path w="44535" h="3658" fill="none" extrusionOk="0">
                      <a:moveTo>
                        <a:pt x="327" y="0"/>
                      </a:moveTo>
                      <a:lnTo>
                        <a:pt x="44207" y="0"/>
                      </a:lnTo>
                      <a:cubicBezTo>
                        <a:pt x="44383" y="0"/>
                        <a:pt x="44534" y="139"/>
                        <a:pt x="44534" y="327"/>
                      </a:cubicBezTo>
                      <a:lnTo>
                        <a:pt x="44534" y="3343"/>
                      </a:lnTo>
                      <a:cubicBezTo>
                        <a:pt x="44534" y="3519"/>
                        <a:pt x="44383" y="3657"/>
                        <a:pt x="44207" y="3657"/>
                      </a:cubicBezTo>
                      <a:lnTo>
                        <a:pt x="327" y="3657"/>
                      </a:lnTo>
                      <a:cubicBezTo>
                        <a:pt x="151" y="3657"/>
                        <a:pt x="0" y="3519"/>
                        <a:pt x="0" y="3343"/>
                      </a:cubicBezTo>
                      <a:lnTo>
                        <a:pt x="0" y="327"/>
                      </a:lnTo>
                      <a:cubicBezTo>
                        <a:pt x="0" y="139"/>
                        <a:pt x="151" y="0"/>
                        <a:pt x="327" y="0"/>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725;p59">
                  <a:extLst>
                    <a:ext uri="{FF2B5EF4-FFF2-40B4-BE49-F238E27FC236}">
                      <a16:creationId xmlns:a16="http://schemas.microsoft.com/office/drawing/2014/main" id="{C7062105-5908-1115-156F-E8B1FBCA743B}"/>
                    </a:ext>
                  </a:extLst>
                </p:cNvPr>
                <p:cNvSpPr/>
                <p:nvPr/>
              </p:nvSpPr>
              <p:spPr>
                <a:xfrm>
                  <a:off x="6990467" y="2698339"/>
                  <a:ext cx="154870" cy="12762"/>
                </a:xfrm>
                <a:custGeom>
                  <a:avLst/>
                  <a:gdLst/>
                  <a:ahLst/>
                  <a:cxnLst/>
                  <a:rect l="l" t="t" r="r" b="b"/>
                  <a:pathLst>
                    <a:path w="44535" h="3670" fill="none" extrusionOk="0">
                      <a:moveTo>
                        <a:pt x="42700" y="3669"/>
                      </a:moveTo>
                      <a:lnTo>
                        <a:pt x="1835" y="3669"/>
                      </a:lnTo>
                      <a:cubicBezTo>
                        <a:pt x="830" y="3657"/>
                        <a:pt x="13" y="2840"/>
                        <a:pt x="0" y="1835"/>
                      </a:cubicBezTo>
                      <a:lnTo>
                        <a:pt x="0" y="1835"/>
                      </a:lnTo>
                      <a:cubicBezTo>
                        <a:pt x="13" y="817"/>
                        <a:pt x="830" y="0"/>
                        <a:pt x="1835" y="0"/>
                      </a:cubicBezTo>
                      <a:lnTo>
                        <a:pt x="42700" y="0"/>
                      </a:lnTo>
                      <a:cubicBezTo>
                        <a:pt x="43717" y="0"/>
                        <a:pt x="44534" y="817"/>
                        <a:pt x="44534" y="1835"/>
                      </a:cubicBezTo>
                      <a:lnTo>
                        <a:pt x="44534" y="1835"/>
                      </a:lnTo>
                      <a:cubicBezTo>
                        <a:pt x="44534" y="2840"/>
                        <a:pt x="43717" y="3657"/>
                        <a:pt x="42700" y="3669"/>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726;p59">
                  <a:extLst>
                    <a:ext uri="{FF2B5EF4-FFF2-40B4-BE49-F238E27FC236}">
                      <a16:creationId xmlns:a16="http://schemas.microsoft.com/office/drawing/2014/main" id="{AD5FF9B0-9F0F-923E-1C02-008EE3C1B8CE}"/>
                    </a:ext>
                  </a:extLst>
                </p:cNvPr>
                <p:cNvSpPr/>
                <p:nvPr/>
              </p:nvSpPr>
              <p:spPr>
                <a:xfrm>
                  <a:off x="6990467" y="2647648"/>
                  <a:ext cx="154870" cy="12762"/>
                </a:xfrm>
                <a:custGeom>
                  <a:avLst/>
                  <a:gdLst/>
                  <a:ahLst/>
                  <a:cxnLst/>
                  <a:rect l="l" t="t" r="r" b="b"/>
                  <a:pathLst>
                    <a:path w="44535" h="3670" fill="none" extrusionOk="0">
                      <a:moveTo>
                        <a:pt x="42700" y="3670"/>
                      </a:moveTo>
                      <a:lnTo>
                        <a:pt x="1835" y="3670"/>
                      </a:lnTo>
                      <a:cubicBezTo>
                        <a:pt x="830" y="3670"/>
                        <a:pt x="13" y="2853"/>
                        <a:pt x="0" y="1835"/>
                      </a:cubicBezTo>
                      <a:lnTo>
                        <a:pt x="0" y="1835"/>
                      </a:lnTo>
                      <a:cubicBezTo>
                        <a:pt x="13" y="830"/>
                        <a:pt x="830" y="13"/>
                        <a:pt x="1835" y="1"/>
                      </a:cubicBezTo>
                      <a:lnTo>
                        <a:pt x="42700" y="1"/>
                      </a:lnTo>
                      <a:cubicBezTo>
                        <a:pt x="43717" y="13"/>
                        <a:pt x="44534" y="830"/>
                        <a:pt x="44534" y="1835"/>
                      </a:cubicBezTo>
                      <a:lnTo>
                        <a:pt x="44534" y="1835"/>
                      </a:lnTo>
                      <a:cubicBezTo>
                        <a:pt x="44534" y="2853"/>
                        <a:pt x="43717" y="3670"/>
                        <a:pt x="42700" y="3670"/>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727;p59">
                  <a:extLst>
                    <a:ext uri="{FF2B5EF4-FFF2-40B4-BE49-F238E27FC236}">
                      <a16:creationId xmlns:a16="http://schemas.microsoft.com/office/drawing/2014/main" id="{C2BCDC01-703A-CFE6-0F62-4472375428FC}"/>
                    </a:ext>
                  </a:extLst>
                </p:cNvPr>
                <p:cNvSpPr/>
                <p:nvPr/>
              </p:nvSpPr>
              <p:spPr>
                <a:xfrm>
                  <a:off x="6990467" y="2672992"/>
                  <a:ext cx="154870" cy="12766"/>
                </a:xfrm>
                <a:custGeom>
                  <a:avLst/>
                  <a:gdLst/>
                  <a:ahLst/>
                  <a:cxnLst/>
                  <a:rect l="l" t="t" r="r" b="b"/>
                  <a:pathLst>
                    <a:path w="44535" h="3671" fill="none" extrusionOk="0">
                      <a:moveTo>
                        <a:pt x="42700" y="3670"/>
                      </a:moveTo>
                      <a:lnTo>
                        <a:pt x="1835" y="3670"/>
                      </a:lnTo>
                      <a:cubicBezTo>
                        <a:pt x="817" y="3670"/>
                        <a:pt x="0" y="2841"/>
                        <a:pt x="0" y="1836"/>
                      </a:cubicBezTo>
                      <a:lnTo>
                        <a:pt x="0" y="1836"/>
                      </a:lnTo>
                      <a:cubicBezTo>
                        <a:pt x="13" y="818"/>
                        <a:pt x="830" y="1"/>
                        <a:pt x="1835" y="1"/>
                      </a:cubicBezTo>
                      <a:lnTo>
                        <a:pt x="42700" y="1"/>
                      </a:lnTo>
                      <a:cubicBezTo>
                        <a:pt x="43717" y="1"/>
                        <a:pt x="44534" y="818"/>
                        <a:pt x="44534" y="1836"/>
                      </a:cubicBezTo>
                      <a:lnTo>
                        <a:pt x="44534" y="1836"/>
                      </a:lnTo>
                      <a:cubicBezTo>
                        <a:pt x="44534" y="2841"/>
                        <a:pt x="43717" y="3670"/>
                        <a:pt x="42700" y="3670"/>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728;p59">
                  <a:extLst>
                    <a:ext uri="{FF2B5EF4-FFF2-40B4-BE49-F238E27FC236}">
                      <a16:creationId xmlns:a16="http://schemas.microsoft.com/office/drawing/2014/main" id="{13B2C4AE-B256-0052-9F97-957D1F16DC34}"/>
                    </a:ext>
                  </a:extLst>
                </p:cNvPr>
                <p:cNvSpPr/>
                <p:nvPr/>
              </p:nvSpPr>
              <p:spPr>
                <a:xfrm>
                  <a:off x="6836957" y="2068734"/>
                  <a:ext cx="461892" cy="589756"/>
                </a:xfrm>
                <a:custGeom>
                  <a:avLst/>
                  <a:gdLst/>
                  <a:ahLst/>
                  <a:cxnLst/>
                  <a:rect l="l" t="t" r="r" b="b"/>
                  <a:pathLst>
                    <a:path w="132823" h="169592" fill="none" extrusionOk="0">
                      <a:moveTo>
                        <a:pt x="132307" y="74442"/>
                      </a:moveTo>
                      <a:cubicBezTo>
                        <a:pt x="132332" y="74278"/>
                        <a:pt x="132345" y="74127"/>
                        <a:pt x="132357" y="73977"/>
                      </a:cubicBezTo>
                      <a:cubicBezTo>
                        <a:pt x="132408" y="73562"/>
                        <a:pt x="132458" y="73135"/>
                        <a:pt x="132496" y="72720"/>
                      </a:cubicBezTo>
                      <a:cubicBezTo>
                        <a:pt x="132533" y="72343"/>
                        <a:pt x="132558" y="71991"/>
                        <a:pt x="132584" y="71639"/>
                      </a:cubicBezTo>
                      <a:cubicBezTo>
                        <a:pt x="132584" y="71577"/>
                        <a:pt x="132596" y="71501"/>
                        <a:pt x="132609" y="71438"/>
                      </a:cubicBezTo>
                      <a:cubicBezTo>
                        <a:pt x="132759" y="69754"/>
                        <a:pt x="132822" y="68071"/>
                        <a:pt x="132797" y="66387"/>
                      </a:cubicBezTo>
                      <a:cubicBezTo>
                        <a:pt x="132797" y="29719"/>
                        <a:pt x="103079" y="1"/>
                        <a:pt x="66411" y="1"/>
                      </a:cubicBezTo>
                      <a:cubicBezTo>
                        <a:pt x="29744" y="1"/>
                        <a:pt x="25" y="29719"/>
                        <a:pt x="25" y="66387"/>
                      </a:cubicBezTo>
                      <a:cubicBezTo>
                        <a:pt x="0" y="68071"/>
                        <a:pt x="63" y="69754"/>
                        <a:pt x="214" y="71438"/>
                      </a:cubicBezTo>
                      <a:cubicBezTo>
                        <a:pt x="214" y="71501"/>
                        <a:pt x="226" y="71577"/>
                        <a:pt x="239" y="71639"/>
                      </a:cubicBezTo>
                      <a:cubicBezTo>
                        <a:pt x="264" y="71991"/>
                        <a:pt x="289" y="72343"/>
                        <a:pt x="327" y="72720"/>
                      </a:cubicBezTo>
                      <a:cubicBezTo>
                        <a:pt x="365" y="73135"/>
                        <a:pt x="415" y="73562"/>
                        <a:pt x="465" y="73977"/>
                      </a:cubicBezTo>
                      <a:cubicBezTo>
                        <a:pt x="478" y="74127"/>
                        <a:pt x="490" y="74278"/>
                        <a:pt x="515" y="74442"/>
                      </a:cubicBezTo>
                      <a:cubicBezTo>
                        <a:pt x="528" y="74617"/>
                        <a:pt x="553" y="74806"/>
                        <a:pt x="578" y="74994"/>
                      </a:cubicBezTo>
                      <a:cubicBezTo>
                        <a:pt x="2187" y="87887"/>
                        <a:pt x="8306" y="113182"/>
                        <a:pt x="31390" y="136140"/>
                      </a:cubicBezTo>
                      <a:cubicBezTo>
                        <a:pt x="35926" y="140652"/>
                        <a:pt x="39545" y="146030"/>
                        <a:pt x="41782" y="152036"/>
                      </a:cubicBezTo>
                      <a:cubicBezTo>
                        <a:pt x="42775" y="154650"/>
                        <a:pt x="43164" y="157176"/>
                        <a:pt x="43177" y="158985"/>
                      </a:cubicBezTo>
                      <a:cubicBezTo>
                        <a:pt x="43202" y="166299"/>
                        <a:pt x="42976" y="169591"/>
                        <a:pt x="66411" y="169591"/>
                      </a:cubicBezTo>
                      <a:cubicBezTo>
                        <a:pt x="89834" y="169591"/>
                        <a:pt x="89621" y="166286"/>
                        <a:pt x="89646" y="158985"/>
                      </a:cubicBezTo>
                      <a:cubicBezTo>
                        <a:pt x="89646" y="157176"/>
                        <a:pt x="90048" y="154650"/>
                        <a:pt x="91041" y="152036"/>
                      </a:cubicBezTo>
                      <a:cubicBezTo>
                        <a:pt x="93277" y="146042"/>
                        <a:pt x="96896" y="140652"/>
                        <a:pt x="101433" y="136140"/>
                      </a:cubicBezTo>
                      <a:cubicBezTo>
                        <a:pt x="124516" y="113182"/>
                        <a:pt x="130636" y="87887"/>
                        <a:pt x="132244" y="74994"/>
                      </a:cubicBezTo>
                      <a:cubicBezTo>
                        <a:pt x="132269" y="74806"/>
                        <a:pt x="132295" y="74617"/>
                        <a:pt x="132307" y="74442"/>
                      </a:cubicBezTo>
                      <a:close/>
                    </a:path>
                  </a:pathLst>
                </a:custGeom>
                <a:noFill/>
                <a:ln w="9525" cap="flat" cmpd="sng">
                  <a:solidFill>
                    <a:schemeClr val="tx1"/>
                  </a:solidFill>
                  <a:prstDash val="solid"/>
                  <a:miter lim="125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1155985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54808-1525-75B4-1CB8-234707299152}"/>
              </a:ext>
            </a:extLst>
          </p:cNvPr>
          <p:cNvSpPr>
            <a:spLocks noGrp="1"/>
          </p:cNvSpPr>
          <p:nvPr>
            <p:ph type="title"/>
          </p:nvPr>
        </p:nvSpPr>
        <p:spPr>
          <a:xfrm>
            <a:off x="713225" y="445025"/>
            <a:ext cx="7717500" cy="572700"/>
          </a:xfrm>
        </p:spPr>
        <p:txBody>
          <a:bodyPr wrap="square" anchor="ctr">
            <a:normAutofit/>
          </a:bodyPr>
          <a:lstStyle/>
          <a:p>
            <a:pPr>
              <a:lnSpc>
                <a:spcPct val="90000"/>
              </a:lnSpc>
            </a:pPr>
            <a:r>
              <a:rPr lang="en-US" sz="2800" b="1" dirty="0" err="1"/>
              <a:t>Cây</a:t>
            </a:r>
            <a:r>
              <a:rPr lang="en-US" sz="2800" b="1" dirty="0"/>
              <a:t> </a:t>
            </a:r>
            <a:r>
              <a:rPr lang="vi-VN" sz="2800" b="1" dirty="0"/>
              <a:t>AVL:</a:t>
            </a:r>
            <a:endParaRPr lang="en-US" sz="2800" dirty="0"/>
          </a:p>
        </p:txBody>
      </p:sp>
      <p:sp>
        <p:nvSpPr>
          <p:cNvPr id="5" name="Title 1">
            <a:extLst>
              <a:ext uri="{FF2B5EF4-FFF2-40B4-BE49-F238E27FC236}">
                <a16:creationId xmlns:a16="http://schemas.microsoft.com/office/drawing/2014/main" id="{714262E2-F049-84D1-38CC-633224D14538}"/>
              </a:ext>
            </a:extLst>
          </p:cNvPr>
          <p:cNvSpPr txBox="1">
            <a:spLocks/>
          </p:cNvSpPr>
          <p:nvPr/>
        </p:nvSpPr>
        <p:spPr>
          <a:xfrm>
            <a:off x="713225" y="1208225"/>
            <a:ext cx="5135550" cy="3264408"/>
          </a:xfrm>
          <a:prstGeom prst="rect">
            <a:avLst/>
          </a:prstGeom>
          <a:noFill/>
          <a:ln>
            <a:noFill/>
          </a:ln>
        </p:spPr>
        <p:txBody>
          <a:bodyPr spcFirstLastPara="1"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pPr>
              <a:spcAft>
                <a:spcPts val="600"/>
              </a:spcAft>
              <a:buClr>
                <a:srgbClr val="000000"/>
              </a:buClr>
              <a:buSzPct val="100000"/>
            </a:pPr>
            <a:r>
              <a:rPr lang="en-US" sz="1200" b="0" i="0" u="none" strike="noStrike" cap="none" dirty="0" err="1"/>
              <a:t>Giới</a:t>
            </a:r>
            <a:r>
              <a:rPr lang="en-US" sz="1200" b="0" i="0" u="none" strike="noStrike" cap="none" dirty="0"/>
              <a:t> </a:t>
            </a:r>
            <a:r>
              <a:rPr lang="en-US" sz="1200" b="0" i="0" u="none" strike="noStrike" cap="none" dirty="0" err="1"/>
              <a:t>thiệu</a:t>
            </a:r>
            <a:r>
              <a:rPr lang="en-US" sz="1200" b="0" i="0" u="none" strike="noStrike" cap="none" dirty="0"/>
              <a:t> </a:t>
            </a:r>
            <a:r>
              <a:rPr lang="en-US" sz="1200" b="0" i="0" u="none" strike="noStrike" cap="none" dirty="0" err="1"/>
              <a:t>về</a:t>
            </a:r>
            <a:r>
              <a:rPr lang="en-US" sz="1200" b="0" i="0" u="none" strike="noStrike" cap="none" dirty="0"/>
              <a:t> </a:t>
            </a:r>
            <a:r>
              <a:rPr lang="en-US" sz="1200" b="0" i="0" u="none" strike="noStrike" cap="none" dirty="0" err="1"/>
              <a:t>cây</a:t>
            </a:r>
            <a:r>
              <a:rPr lang="en-US" sz="1200" b="0" i="0" u="none" strike="noStrike" cap="none" dirty="0"/>
              <a:t> AVT: </a:t>
            </a:r>
          </a:p>
        </p:txBody>
      </p:sp>
      <p:sp>
        <p:nvSpPr>
          <p:cNvPr id="3" name="Subtitle 2">
            <a:extLst>
              <a:ext uri="{FF2B5EF4-FFF2-40B4-BE49-F238E27FC236}">
                <a16:creationId xmlns:a16="http://schemas.microsoft.com/office/drawing/2014/main" id="{4F679C2B-4A6B-5EAF-D51C-700988CD0173}"/>
              </a:ext>
            </a:extLst>
          </p:cNvPr>
          <p:cNvSpPr>
            <a:spLocks noGrp="1"/>
          </p:cNvSpPr>
          <p:nvPr>
            <p:ph type="subTitle" idx="4294967295"/>
          </p:nvPr>
        </p:nvSpPr>
        <p:spPr>
          <a:xfrm>
            <a:off x="533400" y="1600200"/>
            <a:ext cx="4465320" cy="2576650"/>
          </a:xfrm>
        </p:spPr>
        <p:txBody>
          <a:bodyPr/>
          <a:lstStyle/>
          <a:p>
            <a:pPr marL="323850" indent="-171450">
              <a:spcAft>
                <a:spcPts val="600"/>
              </a:spcAft>
              <a:buFont typeface="Arial" panose="020B0604020202020204" pitchFamily="34" charset="0"/>
              <a:buChar char="•"/>
            </a:pPr>
            <a:r>
              <a:rPr lang="vi-VN" dirty="0"/>
              <a:t>Cây AVL (tên ba nhà phát minh Adelson, Velski và Landis) là cây tìm kiếm nhị phân có tính chất tự cân bằng.</a:t>
            </a:r>
            <a:endParaRPr lang="vi-VN"/>
          </a:p>
          <a:p>
            <a:pPr marL="152400" indent="0">
              <a:spcAft>
                <a:spcPts val="600"/>
              </a:spcAft>
              <a:buNone/>
            </a:pPr>
            <a:endParaRPr lang="vi-VN"/>
          </a:p>
          <a:p>
            <a:pPr marL="323850" indent="-171450">
              <a:spcAft>
                <a:spcPts val="600"/>
              </a:spcAft>
              <a:buFont typeface="Arial" panose="020B0604020202020204" pitchFamily="34" charset="0"/>
              <a:buChar char="•"/>
            </a:pPr>
            <a:r>
              <a:rPr lang="vi-VN" dirty="0"/>
              <a:t>Hiệu số của độ cao của các cây con bên trái và cây con bên phải được gọi là Balance Factor (Nhân tố cân bằng). Cây AVL đảm bảo rằng Balance Factor không lớn hơn 1. </a:t>
            </a:r>
            <a:endParaRPr lang="vi-VN"/>
          </a:p>
          <a:p>
            <a:pPr marL="152400" indent="0">
              <a:spcAft>
                <a:spcPts val="600"/>
              </a:spcAft>
              <a:buNone/>
            </a:pPr>
            <a:endParaRPr lang="vi-VN"/>
          </a:p>
          <a:p>
            <a:pPr marL="152400" indent="0">
              <a:spcAft>
                <a:spcPts val="600"/>
              </a:spcAft>
              <a:buNone/>
            </a:pPr>
            <a:r>
              <a:rPr lang="vi-VN" dirty="0"/>
              <a:t>	</a:t>
            </a:r>
            <a:r>
              <a:rPr lang="vi-VN" b="1" dirty="0"/>
              <a:t>|chiều cao cây con trái - chiều cao cây con phải| ≤ 1 </a:t>
            </a:r>
            <a:endParaRPr lang="vi-VN" b="1"/>
          </a:p>
          <a:p>
            <a:pPr marL="152400" indent="0">
              <a:spcAft>
                <a:spcPts val="600"/>
              </a:spcAft>
              <a:buNone/>
            </a:pPr>
            <a:endParaRPr lang="vi-VN"/>
          </a:p>
          <a:p>
            <a:pPr marL="323850" indent="-171450">
              <a:spcAft>
                <a:spcPts val="600"/>
              </a:spcAft>
              <a:buFont typeface="Arial" panose="020B0604020202020204" pitchFamily="34" charset="0"/>
              <a:buChar char="•"/>
            </a:pPr>
            <a:r>
              <a:rPr lang="vi-VN" dirty="0"/>
              <a:t>Trong cây AVL, phép chèn (insertion), và xóa (deletion) luôn chỉ tốn thời gian O(log n) trong cả trường hợp trung bình và trường hợp xấu nhất.</a:t>
            </a:r>
            <a:endParaRPr lang="en-US"/>
          </a:p>
        </p:txBody>
      </p:sp>
      <p:pic>
        <p:nvPicPr>
          <p:cNvPr id="8" name="Picture 7">
            <a:extLst>
              <a:ext uri="{FF2B5EF4-FFF2-40B4-BE49-F238E27FC236}">
                <a16:creationId xmlns:a16="http://schemas.microsoft.com/office/drawing/2014/main" id="{240C78E4-C691-81F8-7B95-FCD85E4520D5}"/>
              </a:ext>
            </a:extLst>
          </p:cNvPr>
          <p:cNvPicPr>
            <a:picLocks noChangeAspect="1"/>
          </p:cNvPicPr>
          <p:nvPr/>
        </p:nvPicPr>
        <p:blipFill>
          <a:blip r:embed="rId2"/>
          <a:stretch>
            <a:fillRect/>
          </a:stretch>
        </p:blipFill>
        <p:spPr>
          <a:xfrm>
            <a:off x="5178545" y="950884"/>
            <a:ext cx="3607646" cy="3521750"/>
          </a:xfrm>
          <a:prstGeom prst="rect">
            <a:avLst/>
          </a:prstGeom>
        </p:spPr>
      </p:pic>
    </p:spTree>
    <p:extLst>
      <p:ext uri="{BB962C8B-B14F-4D97-AF65-F5344CB8AC3E}">
        <p14:creationId xmlns:p14="http://schemas.microsoft.com/office/powerpoint/2010/main" val="3520878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6F4F1-D670-49D4-2F1A-2E049E536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17DEA-B5DB-0DF2-30C1-8E9A410AA69C}"/>
              </a:ext>
            </a:extLst>
          </p:cNvPr>
          <p:cNvSpPr>
            <a:spLocks noGrp="1"/>
          </p:cNvSpPr>
          <p:nvPr>
            <p:ph type="title"/>
          </p:nvPr>
        </p:nvSpPr>
        <p:spPr>
          <a:xfrm>
            <a:off x="683461" y="328440"/>
            <a:ext cx="4165195" cy="532620"/>
          </a:xfrm>
        </p:spPr>
        <p:txBody>
          <a:bodyPr/>
          <a:lstStyle/>
          <a:p>
            <a:r>
              <a:rPr lang="en-US" sz="2400" b="1" dirty="0" err="1"/>
              <a:t>Cây</a:t>
            </a:r>
            <a:r>
              <a:rPr lang="en-US" sz="2400" b="1" dirty="0"/>
              <a:t> </a:t>
            </a:r>
            <a:r>
              <a:rPr lang="vi-VN" sz="2400" b="1" dirty="0"/>
              <a:t>AVL:</a:t>
            </a:r>
            <a:endParaRPr lang="en-US" sz="2000" dirty="0"/>
          </a:p>
        </p:txBody>
      </p:sp>
      <p:sp>
        <p:nvSpPr>
          <p:cNvPr id="3" name="Subtitle 2">
            <a:extLst>
              <a:ext uri="{FF2B5EF4-FFF2-40B4-BE49-F238E27FC236}">
                <a16:creationId xmlns:a16="http://schemas.microsoft.com/office/drawing/2014/main" id="{58521139-3801-DFEC-4927-4566C455F5DF}"/>
              </a:ext>
            </a:extLst>
          </p:cNvPr>
          <p:cNvSpPr>
            <a:spLocks noGrp="1"/>
          </p:cNvSpPr>
          <p:nvPr>
            <p:ph type="subTitle" idx="1"/>
          </p:nvPr>
        </p:nvSpPr>
        <p:spPr>
          <a:xfrm>
            <a:off x="533400" y="1545770"/>
            <a:ext cx="4165195" cy="3140530"/>
          </a:xfrm>
        </p:spPr>
        <p:txBody>
          <a:bodyPr/>
          <a:lstStyle/>
          <a:p>
            <a:pPr marL="323850" indent="-171450">
              <a:buFont typeface="Arial" panose="020B0604020202020204" pitchFamily="34" charset="0"/>
              <a:buChar char="•"/>
            </a:pPr>
            <a:r>
              <a:rPr lang="en-US" dirty="0" err="1"/>
              <a:t>Vẫn</a:t>
            </a:r>
            <a:r>
              <a:rPr lang="en-US" dirty="0"/>
              <a:t> </a:t>
            </a:r>
            <a:r>
              <a:rPr lang="en-US" dirty="0" err="1"/>
              <a:t>giữ</a:t>
            </a:r>
            <a:r>
              <a:rPr lang="en-US" dirty="0"/>
              <a:t> </a:t>
            </a:r>
            <a:r>
              <a:rPr lang="en-US" dirty="0" err="1"/>
              <a:t>tính</a:t>
            </a:r>
            <a:r>
              <a:rPr lang="en-US" dirty="0"/>
              <a:t> </a:t>
            </a:r>
            <a:r>
              <a:rPr lang="en-US" dirty="0" err="1"/>
              <a:t>chất</a:t>
            </a:r>
            <a:r>
              <a:rPr lang="en-US" dirty="0"/>
              <a:t> BST (Binary Search Tree – </a:t>
            </a:r>
            <a:r>
              <a:rPr lang="en-US" dirty="0" err="1"/>
              <a:t>Cây</a:t>
            </a:r>
            <a:r>
              <a:rPr lang="en-US" dirty="0"/>
              <a:t> </a:t>
            </a:r>
            <a:r>
              <a:rPr lang="en-US" dirty="0" err="1"/>
              <a:t>nhị</a:t>
            </a:r>
            <a:r>
              <a:rPr lang="en-US" dirty="0"/>
              <a:t> </a:t>
            </a:r>
            <a:r>
              <a:rPr lang="en-US" dirty="0" err="1"/>
              <a:t>phân</a:t>
            </a:r>
            <a:r>
              <a:rPr lang="en-US" dirty="0"/>
              <a:t> </a:t>
            </a:r>
            <a:r>
              <a:rPr lang="en-US" dirty="0" err="1"/>
              <a:t>tìm</a:t>
            </a:r>
            <a:r>
              <a:rPr lang="en-US" dirty="0"/>
              <a:t> </a:t>
            </a:r>
            <a:r>
              <a:rPr lang="en-US" dirty="0" err="1"/>
              <a:t>kiếm</a:t>
            </a:r>
            <a:r>
              <a:rPr lang="en-US" dirty="0"/>
              <a:t>): </a:t>
            </a:r>
            <a:endParaRPr lang="vi-VN" dirty="0"/>
          </a:p>
          <a:p>
            <a:pPr marL="152400" indent="0">
              <a:buNone/>
            </a:pPr>
            <a:r>
              <a:rPr lang="vi-VN" b="1" dirty="0"/>
              <a:t>	</a:t>
            </a:r>
            <a:r>
              <a:rPr lang="en-US" b="1" dirty="0" err="1"/>
              <a:t>Mọi</a:t>
            </a:r>
            <a:r>
              <a:rPr lang="en-US" b="1" dirty="0"/>
              <a:t> </a:t>
            </a:r>
            <a:r>
              <a:rPr lang="en-US" b="1" dirty="0" err="1"/>
              <a:t>nút</a:t>
            </a:r>
            <a:r>
              <a:rPr lang="en-US" b="1" dirty="0"/>
              <a:t> </a:t>
            </a:r>
            <a:r>
              <a:rPr lang="en-US" b="1" dirty="0" err="1"/>
              <a:t>bên</a:t>
            </a:r>
            <a:r>
              <a:rPr lang="en-US" b="1" dirty="0"/>
              <a:t> </a:t>
            </a:r>
            <a:r>
              <a:rPr lang="en-US" b="1" dirty="0" err="1"/>
              <a:t>trái</a:t>
            </a:r>
            <a:r>
              <a:rPr lang="en-US" b="1" dirty="0"/>
              <a:t> &lt; </a:t>
            </a:r>
            <a:r>
              <a:rPr lang="en-US" b="1" dirty="0" err="1"/>
              <a:t>nút</a:t>
            </a:r>
            <a:r>
              <a:rPr lang="en-US" b="1" dirty="0"/>
              <a:t> </a:t>
            </a:r>
            <a:r>
              <a:rPr lang="en-US" b="1" dirty="0" err="1"/>
              <a:t>gốc</a:t>
            </a:r>
            <a:r>
              <a:rPr lang="en-US" b="1" dirty="0"/>
              <a:t> &lt; </a:t>
            </a:r>
            <a:r>
              <a:rPr lang="en-US" b="1" dirty="0" err="1"/>
              <a:t>mọi</a:t>
            </a:r>
            <a:r>
              <a:rPr lang="en-US" b="1" dirty="0"/>
              <a:t> </a:t>
            </a:r>
            <a:r>
              <a:rPr lang="en-US" b="1" dirty="0" err="1"/>
              <a:t>nút</a:t>
            </a:r>
            <a:r>
              <a:rPr lang="en-US" b="1" dirty="0"/>
              <a:t> </a:t>
            </a:r>
            <a:r>
              <a:rPr lang="en-US" b="1" dirty="0" err="1"/>
              <a:t>bên</a:t>
            </a:r>
            <a:r>
              <a:rPr lang="en-US" b="1" dirty="0"/>
              <a:t> </a:t>
            </a:r>
            <a:r>
              <a:rPr lang="en-US" b="1" dirty="0" err="1"/>
              <a:t>phải</a:t>
            </a:r>
            <a:r>
              <a:rPr lang="en-US" b="1" dirty="0"/>
              <a:t>. </a:t>
            </a:r>
            <a:endParaRPr lang="vi-VN" b="1" dirty="0"/>
          </a:p>
          <a:p>
            <a:pPr marL="323850" indent="-171450">
              <a:buFont typeface="Arial" panose="020B0604020202020204" pitchFamily="34" charset="0"/>
              <a:buChar char="•"/>
            </a:pPr>
            <a:r>
              <a:rPr lang="en-US" dirty="0"/>
              <a:t>Cân </a:t>
            </a:r>
            <a:r>
              <a:rPr lang="en-US" dirty="0" err="1"/>
              <a:t>bằng</a:t>
            </a:r>
            <a:r>
              <a:rPr lang="en-US" dirty="0"/>
              <a:t> </a:t>
            </a:r>
            <a:r>
              <a:rPr lang="en-US" dirty="0" err="1"/>
              <a:t>chiều</a:t>
            </a:r>
            <a:r>
              <a:rPr lang="en-US" dirty="0"/>
              <a:t> </a:t>
            </a:r>
            <a:r>
              <a:rPr lang="en-US" dirty="0" err="1"/>
              <a:t>cao</a:t>
            </a:r>
            <a:r>
              <a:rPr lang="en-US" dirty="0"/>
              <a:t> → </a:t>
            </a:r>
            <a:r>
              <a:rPr lang="en-US" dirty="0" err="1"/>
              <a:t>tìm</a:t>
            </a:r>
            <a:r>
              <a:rPr lang="en-US" dirty="0"/>
              <a:t> </a:t>
            </a:r>
            <a:r>
              <a:rPr lang="en-US" dirty="0" err="1"/>
              <a:t>kiếm</a:t>
            </a:r>
            <a:r>
              <a:rPr lang="en-US" dirty="0"/>
              <a:t>, </a:t>
            </a:r>
            <a:r>
              <a:rPr lang="en-US" dirty="0" err="1"/>
              <a:t>chèn</a:t>
            </a:r>
            <a:r>
              <a:rPr lang="en-US" dirty="0"/>
              <a:t>, </a:t>
            </a:r>
            <a:r>
              <a:rPr lang="en-US" dirty="0" err="1"/>
              <a:t>xóa</a:t>
            </a:r>
            <a:r>
              <a:rPr lang="en-US" dirty="0"/>
              <a:t> </a:t>
            </a:r>
            <a:r>
              <a:rPr lang="en-US" dirty="0" err="1"/>
              <a:t>đều</a:t>
            </a:r>
            <a:r>
              <a:rPr lang="en-US" dirty="0"/>
              <a:t> </a:t>
            </a:r>
            <a:r>
              <a:rPr lang="en-US" dirty="0" err="1"/>
              <a:t>có</a:t>
            </a:r>
            <a:r>
              <a:rPr lang="en-US" dirty="0"/>
              <a:t> </a:t>
            </a:r>
            <a:r>
              <a:rPr lang="en-US" dirty="0" err="1"/>
              <a:t>độ</a:t>
            </a:r>
            <a:r>
              <a:rPr lang="en-US" dirty="0"/>
              <a:t> </a:t>
            </a:r>
            <a:r>
              <a:rPr lang="en-US" dirty="0" err="1"/>
              <a:t>phức</a:t>
            </a:r>
            <a:r>
              <a:rPr lang="en-US" dirty="0"/>
              <a:t> </a:t>
            </a:r>
            <a:r>
              <a:rPr lang="en-US" dirty="0" err="1"/>
              <a:t>tạp</a:t>
            </a:r>
            <a:r>
              <a:rPr lang="en-US" dirty="0"/>
              <a:t> O(log n). </a:t>
            </a:r>
            <a:endParaRPr lang="vi-VN" dirty="0"/>
          </a:p>
          <a:p>
            <a:pPr marL="323850" indent="-171450">
              <a:buFont typeface="Arial" panose="020B0604020202020204" pitchFamily="34" charset="0"/>
              <a:buChar char="•"/>
            </a:pPr>
            <a:r>
              <a:rPr lang="en-US" dirty="0"/>
              <a:t>Khi </a:t>
            </a:r>
            <a:r>
              <a:rPr lang="en-US" dirty="0" err="1"/>
              <a:t>mất</a:t>
            </a:r>
            <a:r>
              <a:rPr lang="en-US" dirty="0"/>
              <a:t> </a:t>
            </a:r>
            <a:r>
              <a:rPr lang="en-US" dirty="0" err="1"/>
              <a:t>cân</a:t>
            </a:r>
            <a:r>
              <a:rPr lang="en-US" dirty="0"/>
              <a:t> </a:t>
            </a:r>
            <a:r>
              <a:rPr lang="en-US" dirty="0" err="1"/>
              <a:t>bằng</a:t>
            </a:r>
            <a:r>
              <a:rPr lang="en-US" dirty="0"/>
              <a:t> </a:t>
            </a:r>
            <a:r>
              <a:rPr lang="en-US" dirty="0" err="1"/>
              <a:t>sau</a:t>
            </a:r>
            <a:r>
              <a:rPr lang="en-US" dirty="0"/>
              <a:t> </a:t>
            </a:r>
            <a:r>
              <a:rPr lang="en-US" dirty="0" err="1"/>
              <a:t>khi</a:t>
            </a:r>
            <a:r>
              <a:rPr lang="en-US" dirty="0"/>
              <a:t> insert </a:t>
            </a:r>
            <a:r>
              <a:rPr lang="en-US" dirty="0" err="1"/>
              <a:t>hoặc</a:t>
            </a:r>
            <a:r>
              <a:rPr lang="en-US" dirty="0"/>
              <a:t> delete, </a:t>
            </a:r>
            <a:r>
              <a:rPr lang="en-US" dirty="0" err="1"/>
              <a:t>cây</a:t>
            </a:r>
            <a:r>
              <a:rPr lang="en-US" dirty="0"/>
              <a:t> </a:t>
            </a:r>
            <a:r>
              <a:rPr lang="en-US" dirty="0" err="1"/>
              <a:t>sẽ</a:t>
            </a:r>
            <a:r>
              <a:rPr lang="en-US" dirty="0"/>
              <a:t> </a:t>
            </a:r>
            <a:r>
              <a:rPr lang="en-US" dirty="0" err="1"/>
              <a:t>tự</a:t>
            </a:r>
            <a:r>
              <a:rPr lang="en-US" dirty="0"/>
              <a:t> </a:t>
            </a:r>
            <a:r>
              <a:rPr lang="en-US" dirty="0" err="1"/>
              <a:t>xoay</a:t>
            </a:r>
            <a:r>
              <a:rPr lang="en-US" dirty="0"/>
              <a:t> (rotation) </a:t>
            </a:r>
            <a:r>
              <a:rPr lang="en-US" dirty="0" err="1"/>
              <a:t>để</a:t>
            </a:r>
            <a:r>
              <a:rPr lang="en-US" dirty="0"/>
              <a:t> </a:t>
            </a:r>
            <a:r>
              <a:rPr lang="en-US" dirty="0" err="1"/>
              <a:t>cân</a:t>
            </a:r>
            <a:r>
              <a:rPr lang="en-US" dirty="0"/>
              <a:t> </a:t>
            </a:r>
            <a:r>
              <a:rPr lang="en-US" dirty="0" err="1"/>
              <a:t>bằng</a:t>
            </a:r>
            <a:r>
              <a:rPr lang="en-US" dirty="0"/>
              <a:t> </a:t>
            </a:r>
            <a:r>
              <a:rPr lang="en-US" dirty="0" err="1"/>
              <a:t>lại</a:t>
            </a:r>
            <a:r>
              <a:rPr lang="en-US" dirty="0"/>
              <a:t>.</a:t>
            </a:r>
          </a:p>
        </p:txBody>
      </p:sp>
      <p:sp>
        <p:nvSpPr>
          <p:cNvPr id="5" name="Title 1">
            <a:extLst>
              <a:ext uri="{FF2B5EF4-FFF2-40B4-BE49-F238E27FC236}">
                <a16:creationId xmlns:a16="http://schemas.microsoft.com/office/drawing/2014/main" id="{E6D205AC-CBF8-28BF-F240-C77E97844D8D}"/>
              </a:ext>
            </a:extLst>
          </p:cNvPr>
          <p:cNvSpPr txBox="1">
            <a:spLocks/>
          </p:cNvSpPr>
          <p:nvPr/>
        </p:nvSpPr>
        <p:spPr>
          <a:xfrm>
            <a:off x="533400" y="966650"/>
            <a:ext cx="4165195" cy="47353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pPr marL="342900" indent="-342900">
              <a:buSzPct val="100000"/>
              <a:buFont typeface="Wingdings" panose="05000000000000000000" pitchFamily="2" charset="2"/>
              <a:buChar char="q"/>
            </a:pPr>
            <a:r>
              <a:rPr lang="vi-VN" sz="2000" dirty="0"/>
              <a:t>Đặc điểm của cây AVT:</a:t>
            </a:r>
            <a:r>
              <a:rPr lang="en-US" sz="2000" dirty="0"/>
              <a:t> </a:t>
            </a:r>
          </a:p>
        </p:txBody>
      </p:sp>
      <p:pic>
        <p:nvPicPr>
          <p:cNvPr id="6" name="Picture 5">
            <a:extLst>
              <a:ext uri="{FF2B5EF4-FFF2-40B4-BE49-F238E27FC236}">
                <a16:creationId xmlns:a16="http://schemas.microsoft.com/office/drawing/2014/main" id="{43EC9538-05A7-F16E-660D-9CCCA8FD8E4C}"/>
              </a:ext>
            </a:extLst>
          </p:cNvPr>
          <p:cNvPicPr>
            <a:picLocks noChangeAspect="1"/>
          </p:cNvPicPr>
          <p:nvPr/>
        </p:nvPicPr>
        <p:blipFill>
          <a:blip r:embed="rId2"/>
          <a:stretch>
            <a:fillRect/>
          </a:stretch>
        </p:blipFill>
        <p:spPr>
          <a:xfrm>
            <a:off x="4848656" y="690280"/>
            <a:ext cx="3609145" cy="3523793"/>
          </a:xfrm>
          <a:prstGeom prst="rect">
            <a:avLst/>
          </a:prstGeom>
        </p:spPr>
      </p:pic>
    </p:spTree>
    <p:extLst>
      <p:ext uri="{BB962C8B-B14F-4D97-AF65-F5344CB8AC3E}">
        <p14:creationId xmlns:p14="http://schemas.microsoft.com/office/powerpoint/2010/main" val="406041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33"/>
          <p:cNvPicPr preferRelativeResize="0"/>
          <p:nvPr/>
        </p:nvPicPr>
        <p:blipFill>
          <a:blip r:embed="rId3">
            <a:alphaModFix/>
          </a:blip>
          <a:stretch>
            <a:fillRect/>
          </a:stretch>
        </p:blipFill>
        <p:spPr>
          <a:xfrm flipH="1">
            <a:off x="16296" y="0"/>
            <a:ext cx="3405191" cy="5143500"/>
          </a:xfrm>
          <a:prstGeom prst="rect">
            <a:avLst/>
          </a:prstGeom>
          <a:noFill/>
          <a:ln>
            <a:noFill/>
          </a:ln>
        </p:spPr>
      </p:pic>
      <p:sp>
        <p:nvSpPr>
          <p:cNvPr id="293" name="Google Shape;293;p33"/>
          <p:cNvSpPr txBox="1">
            <a:spLocks noGrp="1"/>
          </p:cNvSpPr>
          <p:nvPr>
            <p:ph type="title"/>
          </p:nvPr>
        </p:nvSpPr>
        <p:spPr>
          <a:xfrm>
            <a:off x="441287" y="449520"/>
            <a:ext cx="3276122" cy="1251373"/>
          </a:xfrm>
          <a:prstGeom prst="rect">
            <a:avLst/>
          </a:prstGeom>
        </p:spPr>
        <p:txBody>
          <a:bodyPr spcFirstLastPara="1" wrap="square" lIns="91425" tIns="91425" rIns="91425" bIns="91425" anchor="t" anchorCtr="0">
            <a:noAutofit/>
          </a:bodyPr>
          <a:lstStyle/>
          <a:p>
            <a:pPr lvl="0"/>
            <a:r>
              <a:rPr lang="en-US" sz="2400" b="1" dirty="0" err="1"/>
              <a:t>Cây</a:t>
            </a:r>
            <a:r>
              <a:rPr lang="en-US" sz="2400" b="1" dirty="0"/>
              <a:t> </a:t>
            </a:r>
            <a:r>
              <a:rPr lang="en-US" sz="2400" b="1" dirty="0" err="1"/>
              <a:t>đỏ</a:t>
            </a:r>
            <a:r>
              <a:rPr lang="en-US" sz="2400" b="1" dirty="0"/>
              <a:t> </a:t>
            </a:r>
            <a:r>
              <a:rPr lang="vi-VN" sz="2400" b="1" dirty="0"/>
              <a:t>đen</a:t>
            </a:r>
            <a:br>
              <a:rPr lang="vi-VN" sz="2400" b="1" dirty="0"/>
            </a:br>
            <a:r>
              <a:rPr lang="en-US" sz="2400" b="1" dirty="0"/>
              <a:t>(Red-Black Tree)</a:t>
            </a:r>
            <a:r>
              <a:rPr lang="vi-VN" sz="2400" b="1" dirty="0"/>
              <a:t>:</a:t>
            </a:r>
            <a:br>
              <a:rPr lang="vi-VN" sz="2400" b="1" dirty="0"/>
            </a:br>
            <a:endParaRPr lang="en-US" sz="2400" b="1" dirty="0"/>
          </a:p>
        </p:txBody>
      </p:sp>
      <p:grpSp>
        <p:nvGrpSpPr>
          <p:cNvPr id="295" name="Google Shape;295;p33"/>
          <p:cNvGrpSpPr/>
          <p:nvPr/>
        </p:nvGrpSpPr>
        <p:grpSpPr>
          <a:xfrm rot="756538">
            <a:off x="5159567" y="-1610422"/>
            <a:ext cx="4574157" cy="3479412"/>
            <a:chOff x="1522650" y="1117750"/>
            <a:chExt cx="4574075" cy="3479350"/>
          </a:xfrm>
        </p:grpSpPr>
        <p:sp>
          <p:nvSpPr>
            <p:cNvPr id="296" name="Google Shape;296;p33"/>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3"/>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2B9C9E24-F68D-179C-ACC7-17A7F9C6C972}"/>
              </a:ext>
            </a:extLst>
          </p:cNvPr>
          <p:cNvPicPr>
            <a:picLocks noChangeAspect="1"/>
          </p:cNvPicPr>
          <p:nvPr/>
        </p:nvPicPr>
        <p:blipFill>
          <a:blip r:embed="rId4"/>
          <a:stretch>
            <a:fillRect/>
          </a:stretch>
        </p:blipFill>
        <p:spPr>
          <a:xfrm>
            <a:off x="3289264" y="294929"/>
            <a:ext cx="5681534" cy="3281440"/>
          </a:xfrm>
          <a:prstGeom prst="rect">
            <a:avLst/>
          </a:prstGeom>
        </p:spPr>
      </p:pic>
      <p:sp>
        <p:nvSpPr>
          <p:cNvPr id="3" name="Google Shape;293;p33">
            <a:extLst>
              <a:ext uri="{FF2B5EF4-FFF2-40B4-BE49-F238E27FC236}">
                <a16:creationId xmlns:a16="http://schemas.microsoft.com/office/drawing/2014/main" id="{49990AB6-C5A6-C695-E3AA-545CCADCBBC7}"/>
              </a:ext>
            </a:extLst>
          </p:cNvPr>
          <p:cNvSpPr txBox="1">
            <a:spLocks/>
          </p:cNvSpPr>
          <p:nvPr/>
        </p:nvSpPr>
        <p:spPr>
          <a:xfrm>
            <a:off x="238865" y="1383056"/>
            <a:ext cx="3182622" cy="6873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Space Grotesk"/>
              <a:buNone/>
              <a:defRPr sz="4800" b="0" i="0" u="none" strike="noStrike" cap="none">
                <a:solidFill>
                  <a:schemeClr val="dk1"/>
                </a:solidFill>
                <a:latin typeface="Space Grotesk"/>
                <a:ea typeface="Space Grotesk"/>
                <a:cs typeface="Space Grotesk"/>
                <a:sym typeface="Space Grotesk"/>
              </a:defRPr>
            </a:lvl1pPr>
            <a:lvl2pPr marR="0" lvl="1"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2pPr>
            <a:lvl3pPr marR="0" lvl="2"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3pPr>
            <a:lvl4pPr marR="0" lvl="3"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4pPr>
            <a:lvl5pPr marR="0" lvl="4"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5pPr>
            <a:lvl6pPr marR="0" lvl="5"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6pPr>
            <a:lvl7pPr marR="0" lvl="6"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7pPr>
            <a:lvl8pPr marR="0" lvl="7"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8pPr>
            <a:lvl9pPr marR="0" lvl="8"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9pPr>
          </a:lstStyle>
          <a:p>
            <a:pPr marL="285750" indent="-285750">
              <a:buSzPct val="100000"/>
              <a:buFont typeface="Wingdings" panose="05000000000000000000" pitchFamily="2" charset="2"/>
              <a:buChar char="q"/>
            </a:pPr>
            <a:r>
              <a:rPr lang="en-US" sz="1400" dirty="0"/>
              <a:t>NIL </a:t>
            </a:r>
            <a:r>
              <a:rPr lang="en-US" sz="1400" dirty="0" err="1"/>
              <a:t>là</a:t>
            </a:r>
            <a:r>
              <a:rPr lang="en-US" sz="1400" dirty="0"/>
              <a:t> </a:t>
            </a:r>
            <a:r>
              <a:rPr lang="en-US" sz="1400" dirty="0" err="1"/>
              <a:t>nút</a:t>
            </a:r>
            <a:r>
              <a:rPr lang="en-US" sz="1400" dirty="0"/>
              <a:t> </a:t>
            </a:r>
            <a:r>
              <a:rPr lang="en-US" sz="1400" dirty="0" err="1"/>
              <a:t>giả</a:t>
            </a:r>
            <a:r>
              <a:rPr lang="en-US" sz="1400" dirty="0"/>
              <a:t> (sentinel node), </a:t>
            </a:r>
            <a:r>
              <a:rPr lang="en-US" sz="1400" dirty="0" err="1"/>
              <a:t>đóng</a:t>
            </a:r>
            <a:r>
              <a:rPr lang="en-US" sz="1400" dirty="0"/>
              <a:t> </a:t>
            </a:r>
            <a:r>
              <a:rPr lang="en-US" sz="1400" dirty="0" err="1"/>
              <a:t>vai</a:t>
            </a:r>
            <a:r>
              <a:rPr lang="en-US" sz="1400" dirty="0"/>
              <a:t> </a:t>
            </a:r>
            <a:r>
              <a:rPr lang="en-US" sz="1400" dirty="0" err="1"/>
              <a:t>trò</a:t>
            </a:r>
            <a:r>
              <a:rPr lang="en-US" sz="1400" dirty="0"/>
              <a:t> </a:t>
            </a:r>
            <a:r>
              <a:rPr lang="en-US" sz="1400" dirty="0" err="1"/>
              <a:t>là</a:t>
            </a:r>
            <a:r>
              <a:rPr lang="en-US" sz="1400" dirty="0"/>
              <a:t> con </a:t>
            </a:r>
            <a:r>
              <a:rPr lang="en-US" sz="1400" dirty="0" err="1"/>
              <a:t>trỏ</a:t>
            </a:r>
            <a:r>
              <a:rPr lang="en-US" sz="1400" dirty="0"/>
              <a:t> NULL </a:t>
            </a:r>
            <a:r>
              <a:rPr lang="en-US" sz="1400" dirty="0" err="1"/>
              <a:t>trong</a:t>
            </a:r>
            <a:r>
              <a:rPr lang="en-US" sz="1400" dirty="0"/>
              <a:t> </a:t>
            </a:r>
            <a:r>
              <a:rPr lang="en-US" sz="1400" dirty="0" err="1"/>
              <a:t>cây</a:t>
            </a:r>
            <a:r>
              <a:rPr lang="en-US" sz="1400" dirty="0"/>
              <a:t> </a:t>
            </a:r>
            <a:r>
              <a:rPr lang="en-US" sz="1400" dirty="0" err="1"/>
              <a:t>nhị</a:t>
            </a:r>
            <a:r>
              <a:rPr lang="en-US" sz="1400" dirty="0"/>
              <a:t> </a:t>
            </a:r>
            <a:r>
              <a:rPr lang="en-US" sz="1400" dirty="0" err="1"/>
              <a:t>phân</a:t>
            </a:r>
            <a:r>
              <a:rPr lang="en-US" sz="1400" dirty="0"/>
              <a:t>.</a:t>
            </a:r>
            <a:br>
              <a:rPr lang="vi-VN" sz="2400" b="1" dirty="0"/>
            </a:br>
            <a:endParaRPr lang="en-US" sz="2400" b="1" dirty="0"/>
          </a:p>
        </p:txBody>
      </p:sp>
      <p:sp>
        <p:nvSpPr>
          <p:cNvPr id="4" name="Google Shape;293;p33">
            <a:extLst>
              <a:ext uri="{FF2B5EF4-FFF2-40B4-BE49-F238E27FC236}">
                <a16:creationId xmlns:a16="http://schemas.microsoft.com/office/drawing/2014/main" id="{72CCF671-2412-FE33-FD20-86D6D4114609}"/>
              </a:ext>
            </a:extLst>
          </p:cNvPr>
          <p:cNvSpPr txBox="1">
            <a:spLocks/>
          </p:cNvSpPr>
          <p:nvPr/>
        </p:nvSpPr>
        <p:spPr>
          <a:xfrm>
            <a:off x="5095062" y="3871298"/>
            <a:ext cx="3182622" cy="6873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Space Grotesk"/>
              <a:buNone/>
              <a:defRPr sz="4800" b="0" i="0" u="none" strike="noStrike" cap="none">
                <a:solidFill>
                  <a:schemeClr val="dk1"/>
                </a:solidFill>
                <a:latin typeface="Space Grotesk"/>
                <a:ea typeface="Space Grotesk"/>
                <a:cs typeface="Space Grotesk"/>
                <a:sym typeface="Space Grotesk"/>
              </a:defRPr>
            </a:lvl1pPr>
            <a:lvl2pPr marR="0" lvl="1"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2pPr>
            <a:lvl3pPr marR="0" lvl="2"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3pPr>
            <a:lvl4pPr marR="0" lvl="3"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4pPr>
            <a:lvl5pPr marR="0" lvl="4"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5pPr>
            <a:lvl6pPr marR="0" lvl="5"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6pPr>
            <a:lvl7pPr marR="0" lvl="6"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7pPr>
            <a:lvl8pPr marR="0" lvl="7"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8pPr>
            <a:lvl9pPr marR="0" lvl="8" algn="ctr" rtl="0">
              <a:lnSpc>
                <a:spcPct val="100000"/>
              </a:lnSpc>
              <a:spcBef>
                <a:spcPts val="0"/>
              </a:spcBef>
              <a:spcAft>
                <a:spcPts val="0"/>
              </a:spcAft>
              <a:buClr>
                <a:schemeClr val="dk1"/>
              </a:buClr>
              <a:buSzPts val="3600"/>
              <a:buFont typeface="Space Grotesk"/>
              <a:buNone/>
              <a:defRPr sz="3600" b="1" i="0" u="none" strike="noStrike" cap="none">
                <a:solidFill>
                  <a:schemeClr val="dk1"/>
                </a:solidFill>
                <a:latin typeface="Space Grotesk"/>
                <a:ea typeface="Space Grotesk"/>
                <a:cs typeface="Space Grotesk"/>
                <a:sym typeface="Space Grotesk"/>
              </a:defRPr>
            </a:lvl9pPr>
          </a:lstStyle>
          <a:p>
            <a:pPr>
              <a:buSzPct val="150000"/>
            </a:pPr>
            <a:r>
              <a:rPr lang="vi-VN" sz="1100" dirty="0"/>
              <a:t>Hình ảnh minh họa</a:t>
            </a:r>
            <a:br>
              <a:rPr lang="vi-VN" sz="2400" b="1" dirty="0"/>
            </a:br>
            <a:endParaRPr lang="en-US" sz="2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78CE-651E-EA02-CDF1-34FC49CA8AFE}"/>
              </a:ext>
            </a:extLst>
          </p:cNvPr>
          <p:cNvSpPr>
            <a:spLocks noGrp="1"/>
          </p:cNvSpPr>
          <p:nvPr>
            <p:ph type="title"/>
          </p:nvPr>
        </p:nvSpPr>
        <p:spPr>
          <a:xfrm>
            <a:off x="341972" y="520390"/>
            <a:ext cx="5887843" cy="559006"/>
          </a:xfrm>
        </p:spPr>
        <p:txBody>
          <a:bodyPr/>
          <a:lstStyle/>
          <a:p>
            <a:r>
              <a:rPr lang="en-US" sz="2800" b="1" dirty="0" err="1"/>
              <a:t>Cây</a:t>
            </a:r>
            <a:r>
              <a:rPr lang="en-US" sz="2800" b="1" dirty="0"/>
              <a:t> </a:t>
            </a:r>
            <a:r>
              <a:rPr lang="en-US" sz="2800" b="1" dirty="0" err="1"/>
              <a:t>đỏ</a:t>
            </a:r>
            <a:r>
              <a:rPr lang="en-US" sz="2800" b="1" dirty="0"/>
              <a:t> </a:t>
            </a:r>
            <a:r>
              <a:rPr lang="vi-VN" sz="2800" b="1" dirty="0"/>
              <a:t>đen </a:t>
            </a:r>
            <a:r>
              <a:rPr lang="en-US" sz="2800" b="1" dirty="0"/>
              <a:t>(Red-Black Tree)</a:t>
            </a:r>
            <a:r>
              <a:rPr lang="vi-VN" sz="2800" b="1" dirty="0"/>
              <a:t>:</a:t>
            </a:r>
            <a:endParaRPr lang="en-US" sz="2800" dirty="0"/>
          </a:p>
        </p:txBody>
      </p:sp>
      <p:sp>
        <p:nvSpPr>
          <p:cNvPr id="3" name="Subtitle 2">
            <a:extLst>
              <a:ext uri="{FF2B5EF4-FFF2-40B4-BE49-F238E27FC236}">
                <a16:creationId xmlns:a16="http://schemas.microsoft.com/office/drawing/2014/main" id="{26799FD2-110E-5431-9CDB-24680588770B}"/>
              </a:ext>
            </a:extLst>
          </p:cNvPr>
          <p:cNvSpPr>
            <a:spLocks noGrp="1"/>
          </p:cNvSpPr>
          <p:nvPr>
            <p:ph type="subTitle" idx="1"/>
          </p:nvPr>
        </p:nvSpPr>
        <p:spPr>
          <a:xfrm>
            <a:off x="341972" y="1752583"/>
            <a:ext cx="8571570" cy="1949621"/>
          </a:xfrm>
        </p:spPr>
        <p:txBody>
          <a:bodyPr numCol="2"/>
          <a:lstStyle/>
          <a:p>
            <a:pPr marL="152400" indent="0">
              <a:buNone/>
            </a:pPr>
            <a:r>
              <a:rPr lang="en-US" dirty="0" err="1"/>
              <a:t>Cây</a:t>
            </a:r>
            <a:r>
              <a:rPr lang="en-US" dirty="0"/>
              <a:t> </a:t>
            </a:r>
            <a:r>
              <a:rPr lang="en-US" dirty="0" err="1"/>
              <a:t>đỏ</a:t>
            </a:r>
            <a:r>
              <a:rPr lang="en-US" dirty="0"/>
              <a:t> </a:t>
            </a:r>
            <a:r>
              <a:rPr lang="en-US" dirty="0" err="1"/>
              <a:t>đen</a:t>
            </a:r>
            <a:r>
              <a:rPr lang="en-US" dirty="0"/>
              <a:t> </a:t>
            </a:r>
            <a:r>
              <a:rPr lang="en-US" dirty="0" err="1"/>
              <a:t>là</a:t>
            </a:r>
            <a:r>
              <a:rPr lang="en-US" dirty="0"/>
              <a:t> </a:t>
            </a:r>
            <a:r>
              <a:rPr lang="en-US" dirty="0" err="1"/>
              <a:t>một</a:t>
            </a:r>
            <a:r>
              <a:rPr lang="en-US" dirty="0"/>
              <a:t> </a:t>
            </a:r>
            <a:r>
              <a:rPr lang="en-US" dirty="0" err="1"/>
              <a:t>dạng</a:t>
            </a:r>
            <a:r>
              <a:rPr lang="en-US" dirty="0"/>
              <a:t> </a:t>
            </a:r>
            <a:r>
              <a:rPr lang="en-US" dirty="0" err="1"/>
              <a:t>cây</a:t>
            </a:r>
            <a:r>
              <a:rPr lang="en-US" dirty="0"/>
              <a:t> </a:t>
            </a:r>
            <a:r>
              <a:rPr lang="en-US" dirty="0" err="1"/>
              <a:t>tìm</a:t>
            </a:r>
            <a:r>
              <a:rPr lang="en-US" dirty="0"/>
              <a:t> </a:t>
            </a:r>
            <a:r>
              <a:rPr lang="en-US" dirty="0" err="1"/>
              <a:t>kiếm</a:t>
            </a:r>
            <a:r>
              <a:rPr lang="en-US" dirty="0"/>
              <a:t> </a:t>
            </a:r>
            <a:r>
              <a:rPr lang="en-US" dirty="0" err="1"/>
              <a:t>nhị</a:t>
            </a:r>
            <a:r>
              <a:rPr lang="en-US" dirty="0"/>
              <a:t> </a:t>
            </a:r>
            <a:r>
              <a:rPr lang="en-US" dirty="0" err="1"/>
              <a:t>phân</a:t>
            </a:r>
            <a:r>
              <a:rPr lang="en-US" dirty="0"/>
              <a:t> </a:t>
            </a:r>
            <a:r>
              <a:rPr lang="en-US" dirty="0" err="1"/>
              <a:t>tự</a:t>
            </a:r>
            <a:r>
              <a:rPr lang="en-US" dirty="0"/>
              <a:t> </a:t>
            </a:r>
            <a:r>
              <a:rPr lang="en-US" dirty="0" err="1"/>
              <a:t>cân</a:t>
            </a:r>
            <a:r>
              <a:rPr lang="en-US" dirty="0"/>
              <a:t> </a:t>
            </a:r>
            <a:r>
              <a:rPr lang="en-US" dirty="0" err="1"/>
              <a:t>bằng</a:t>
            </a:r>
            <a:r>
              <a:rPr lang="en-US" dirty="0"/>
              <a:t>, </a:t>
            </a:r>
            <a:r>
              <a:rPr lang="en-US" dirty="0" err="1"/>
              <a:t>đảm</a:t>
            </a:r>
            <a:r>
              <a:rPr lang="en-US" dirty="0"/>
              <a:t> </a:t>
            </a:r>
            <a:r>
              <a:rPr lang="en-US" dirty="0" err="1"/>
              <a:t>bảo</a:t>
            </a:r>
            <a:r>
              <a:rPr lang="en-US" dirty="0"/>
              <a:t> </a:t>
            </a:r>
            <a:r>
              <a:rPr lang="en-US" dirty="0" err="1"/>
              <a:t>một</a:t>
            </a:r>
            <a:r>
              <a:rPr lang="en-US" dirty="0"/>
              <a:t> </a:t>
            </a:r>
            <a:r>
              <a:rPr lang="en-US" dirty="0" err="1"/>
              <a:t>số</a:t>
            </a:r>
            <a:r>
              <a:rPr lang="en-US" dirty="0"/>
              <a:t> </a:t>
            </a:r>
            <a:r>
              <a:rPr lang="en-US" dirty="0" err="1"/>
              <a:t>tính</a:t>
            </a:r>
            <a:r>
              <a:rPr lang="en-US" dirty="0"/>
              <a:t> </a:t>
            </a:r>
            <a:r>
              <a:rPr lang="en-US" dirty="0" err="1"/>
              <a:t>chất</a:t>
            </a:r>
            <a:r>
              <a:rPr lang="en-US" dirty="0"/>
              <a:t> </a:t>
            </a:r>
            <a:r>
              <a:rPr lang="en-US" dirty="0" err="1"/>
              <a:t>sau</a:t>
            </a:r>
            <a:r>
              <a:rPr lang="en-US" dirty="0"/>
              <a:t>: </a:t>
            </a:r>
            <a:endParaRPr lang="vi-VN" dirty="0"/>
          </a:p>
          <a:p>
            <a:pPr marL="152400" indent="0">
              <a:buNone/>
            </a:pPr>
            <a:endParaRPr lang="vi-VN" dirty="0"/>
          </a:p>
          <a:p>
            <a:pPr marL="323850" indent="-171450">
              <a:buFont typeface="Arial" panose="020B0604020202020204" pitchFamily="34" charset="0"/>
              <a:buChar char="•"/>
            </a:pPr>
            <a:r>
              <a:rPr lang="en-US" dirty="0" err="1"/>
              <a:t>Mọi</a:t>
            </a:r>
            <a:r>
              <a:rPr lang="en-US" dirty="0"/>
              <a:t> node </a:t>
            </a:r>
            <a:r>
              <a:rPr lang="en-US" dirty="0" err="1"/>
              <a:t>trong</a:t>
            </a:r>
            <a:r>
              <a:rPr lang="en-US" dirty="0"/>
              <a:t> </a:t>
            </a:r>
            <a:r>
              <a:rPr lang="en-US" dirty="0" err="1"/>
              <a:t>cây</a:t>
            </a:r>
            <a:r>
              <a:rPr lang="en-US" dirty="0"/>
              <a:t> </a:t>
            </a:r>
            <a:r>
              <a:rPr lang="en-US" dirty="0" err="1"/>
              <a:t>phải</a:t>
            </a:r>
            <a:r>
              <a:rPr lang="en-US" dirty="0"/>
              <a:t> </a:t>
            </a:r>
            <a:r>
              <a:rPr lang="en-US" dirty="0" err="1"/>
              <a:t>là</a:t>
            </a:r>
            <a:r>
              <a:rPr lang="en-US" dirty="0"/>
              <a:t> </a:t>
            </a:r>
            <a:r>
              <a:rPr lang="en-US" dirty="0" err="1"/>
              <a:t>đỏ</a:t>
            </a:r>
            <a:r>
              <a:rPr lang="en-US" dirty="0"/>
              <a:t> </a:t>
            </a:r>
            <a:r>
              <a:rPr lang="en-US" dirty="0" err="1"/>
              <a:t>hoặc</a:t>
            </a:r>
            <a:r>
              <a:rPr lang="en-US" dirty="0"/>
              <a:t> </a:t>
            </a:r>
            <a:r>
              <a:rPr lang="en-US" dirty="0" err="1"/>
              <a:t>đen</a:t>
            </a:r>
            <a:r>
              <a:rPr lang="en-US" dirty="0"/>
              <a:t>.</a:t>
            </a:r>
            <a:endParaRPr lang="vi-VN" dirty="0"/>
          </a:p>
          <a:p>
            <a:pPr marL="323850" indent="-171450">
              <a:buFont typeface="Arial" panose="020B0604020202020204" pitchFamily="34" charset="0"/>
              <a:buChar char="•"/>
            </a:pPr>
            <a:r>
              <a:rPr lang="vi-VN" dirty="0"/>
              <a:t>Node gốc là đen.</a:t>
            </a:r>
          </a:p>
          <a:p>
            <a:pPr marL="323850" indent="-171450">
              <a:buFont typeface="Arial" panose="020B0604020202020204" pitchFamily="34" charset="0"/>
              <a:buChar char="•"/>
            </a:pPr>
            <a:r>
              <a:rPr lang="vi-VN" dirty="0"/>
              <a:t>Tất cả các lá (NULL) là đen. </a:t>
            </a:r>
          </a:p>
          <a:p>
            <a:pPr marL="323850" indent="-171450">
              <a:buFont typeface="Arial" panose="020B0604020202020204" pitchFamily="34" charset="0"/>
              <a:buChar char="•"/>
            </a:pPr>
            <a:r>
              <a:rPr lang="vi-VN" dirty="0"/>
              <a:t>Mọi node đỏ đều có node con là đen.</a:t>
            </a:r>
          </a:p>
          <a:p>
            <a:pPr marL="323850" indent="-171450">
              <a:buFont typeface="Arial" panose="020B0604020202020204" pitchFamily="34" charset="0"/>
              <a:buChar char="•"/>
            </a:pPr>
            <a:r>
              <a:rPr lang="vi-VN" dirty="0"/>
              <a:t> Tất cả các đường đi từ một nút bất kỳ tới các lá phải đi qua số nút đen bằng nhau. </a:t>
            </a:r>
          </a:p>
          <a:p>
            <a:pPr marL="323850" indent="-171450">
              <a:buFont typeface="Arial" panose="020B0604020202020204" pitchFamily="34" charset="0"/>
              <a:buChar char="•"/>
            </a:pPr>
            <a:r>
              <a:rPr lang="vi-VN" dirty="0"/>
              <a:t>Được sử dụng trong Completely Fair Scheduler (bộ lập lịch được sử dụng trong nhân Linux). </a:t>
            </a:r>
          </a:p>
          <a:p>
            <a:pPr marL="323850" indent="-171450">
              <a:buFont typeface="Arial" panose="020B0604020202020204" pitchFamily="34" charset="0"/>
              <a:buChar char="•"/>
            </a:pPr>
            <a:r>
              <a:rPr lang="vi-VN" dirty="0"/>
              <a:t>Mysql sử dụng cây đỏ đen cho chỉ mục ở trong bảng.</a:t>
            </a:r>
          </a:p>
          <a:p>
            <a:pPr marL="323850" indent="-171450">
              <a:buFont typeface="Arial" panose="020B0604020202020204" pitchFamily="34" charset="0"/>
              <a:buChar char="•"/>
            </a:pPr>
            <a:r>
              <a:rPr lang="vi-VN" dirty="0"/>
              <a:t> Được sử dụng trong thuật toán phân cụm K-mean để giảm độ phức tạp về thời gian.</a:t>
            </a:r>
          </a:p>
        </p:txBody>
      </p:sp>
      <p:sp>
        <p:nvSpPr>
          <p:cNvPr id="6" name="Title 1">
            <a:extLst>
              <a:ext uri="{FF2B5EF4-FFF2-40B4-BE49-F238E27FC236}">
                <a16:creationId xmlns:a16="http://schemas.microsoft.com/office/drawing/2014/main" id="{C095A977-4063-1060-3D55-5AA8661E2810}"/>
              </a:ext>
            </a:extLst>
          </p:cNvPr>
          <p:cNvSpPr txBox="1">
            <a:spLocks/>
          </p:cNvSpPr>
          <p:nvPr/>
        </p:nvSpPr>
        <p:spPr>
          <a:xfrm>
            <a:off x="578700" y="1281475"/>
            <a:ext cx="8565300" cy="454884"/>
          </a:xfrm>
          <a:prstGeom prst="rect">
            <a:avLst/>
          </a:prstGeom>
          <a:noFill/>
          <a:ln>
            <a:noFill/>
          </a:ln>
        </p:spPr>
        <p:txBody>
          <a:bodyPr spcFirstLastPara="1" wrap="square" lIns="91425" tIns="91425" rIns="91425" bIns="91425" numCol="2"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pPr marL="171450" indent="-171450">
              <a:buSzPct val="100000"/>
              <a:buFont typeface="Wingdings" panose="05000000000000000000" pitchFamily="2" charset="2"/>
              <a:buChar char="q"/>
            </a:pPr>
            <a:r>
              <a:rPr lang="vi-VN" sz="2000" dirty="0"/>
              <a:t>  Định nghĩa: </a:t>
            </a:r>
          </a:p>
          <a:p>
            <a:pPr marL="171450" indent="-171450">
              <a:buSzPct val="100000"/>
              <a:buFont typeface="Wingdings" panose="05000000000000000000" pitchFamily="2" charset="2"/>
              <a:buChar char="q"/>
            </a:pPr>
            <a:r>
              <a:rPr lang="vi-VN" sz="2000" dirty="0"/>
              <a:t> Ứng dụng</a:t>
            </a:r>
            <a:endParaRPr lang="en-US" sz="2000" dirty="0"/>
          </a:p>
        </p:txBody>
      </p:sp>
      <p:cxnSp>
        <p:nvCxnSpPr>
          <p:cNvPr id="12" name="Straight Connector 11">
            <a:extLst>
              <a:ext uri="{FF2B5EF4-FFF2-40B4-BE49-F238E27FC236}">
                <a16:creationId xmlns:a16="http://schemas.microsoft.com/office/drawing/2014/main" id="{83EF590B-2E56-D3D4-2976-3012CEB9D84D}"/>
              </a:ext>
            </a:extLst>
          </p:cNvPr>
          <p:cNvCxnSpPr>
            <a:cxnSpLocks/>
          </p:cNvCxnSpPr>
          <p:nvPr/>
        </p:nvCxnSpPr>
        <p:spPr>
          <a:xfrm>
            <a:off x="4586868" y="1265207"/>
            <a:ext cx="0" cy="256337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7233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474673" y="196041"/>
            <a:ext cx="3703317" cy="572700"/>
          </a:xfrm>
          <a:prstGeom prst="rect">
            <a:avLst/>
          </a:prstGeom>
        </p:spPr>
        <p:txBody>
          <a:bodyPr spcFirstLastPara="1" wrap="square" lIns="91425" tIns="91425" rIns="91425" bIns="91425" anchor="t" anchorCtr="0">
            <a:noAutofit/>
          </a:bodyPr>
          <a:lstStyle/>
          <a:p>
            <a:r>
              <a:rPr lang="en-US" b="1" dirty="0" err="1"/>
              <a:t>Phép</a:t>
            </a:r>
            <a:r>
              <a:rPr lang="en-US" b="1" dirty="0"/>
              <a:t> </a:t>
            </a:r>
            <a:r>
              <a:rPr lang="en-US" b="1" dirty="0" err="1"/>
              <a:t>duyệt</a:t>
            </a:r>
            <a:r>
              <a:rPr lang="en-US" b="1" dirty="0"/>
              <a:t> </a:t>
            </a:r>
            <a:r>
              <a:rPr lang="en-US" b="1" dirty="0" err="1"/>
              <a:t>cây</a:t>
            </a:r>
            <a:r>
              <a:rPr lang="en-US" b="1" dirty="0"/>
              <a:t> </a:t>
            </a:r>
            <a:endParaRPr lang="en-US" dirty="0"/>
          </a:p>
        </p:txBody>
      </p:sp>
      <p:sp>
        <p:nvSpPr>
          <p:cNvPr id="430" name="Google Shape;430;p40"/>
          <p:cNvSpPr txBox="1">
            <a:spLocks noGrp="1"/>
          </p:cNvSpPr>
          <p:nvPr>
            <p:ph type="title" idx="4294967295"/>
          </p:nvPr>
        </p:nvSpPr>
        <p:spPr>
          <a:xfrm>
            <a:off x="5570749" y="1156737"/>
            <a:ext cx="2359200" cy="817200"/>
          </a:xfrm>
          <a:prstGeom prst="rect">
            <a:avLst/>
          </a:prstGeom>
        </p:spPr>
        <p:txBody>
          <a:bodyPr spcFirstLastPara="1" wrap="square" lIns="91425" tIns="91425" rIns="91425" bIns="91425" anchor="b" anchorCtr="0">
            <a:noAutofit/>
          </a:bodyPr>
          <a:lstStyle/>
          <a:p>
            <a:r>
              <a:rPr lang="en-US" sz="2000" b="1" dirty="0"/>
              <a:t>Các </a:t>
            </a:r>
            <a:r>
              <a:rPr lang="en-US" sz="2000" b="1" dirty="0" err="1"/>
              <a:t>thao</a:t>
            </a:r>
            <a:r>
              <a:rPr lang="en-US" sz="2000" b="1" dirty="0"/>
              <a:t> </a:t>
            </a:r>
            <a:r>
              <a:rPr lang="en-US" sz="2000" b="1" dirty="0" err="1"/>
              <a:t>tác</a:t>
            </a:r>
            <a:r>
              <a:rPr lang="en-US" sz="2000" b="1" dirty="0"/>
              <a:t> </a:t>
            </a:r>
            <a:endParaRPr lang="en-US" sz="2000" dirty="0"/>
          </a:p>
        </p:txBody>
      </p:sp>
      <p:sp>
        <p:nvSpPr>
          <p:cNvPr id="431" name="Google Shape;431;p40"/>
          <p:cNvSpPr txBox="1">
            <a:spLocks noGrp="1"/>
          </p:cNvSpPr>
          <p:nvPr>
            <p:ph type="subTitle" idx="4294967295"/>
          </p:nvPr>
        </p:nvSpPr>
        <p:spPr>
          <a:xfrm>
            <a:off x="5468250" y="2153930"/>
            <a:ext cx="2231241" cy="1434908"/>
          </a:xfrm>
          <a:prstGeom prst="rect">
            <a:avLst/>
          </a:prstGeom>
        </p:spPr>
        <p:txBody>
          <a:bodyPr spcFirstLastPara="1" wrap="square" lIns="91425" tIns="91425" rIns="91425" bIns="91425" anchor="t" anchorCtr="0">
            <a:noAutofit/>
          </a:bodyPr>
          <a:lstStyle/>
          <a:p>
            <a:pPr lvl="0">
              <a:lnSpc>
                <a:spcPct val="150000"/>
              </a:lnSpc>
            </a:pPr>
            <a:r>
              <a:rPr lang="en-US" sz="1400" dirty="0" err="1"/>
              <a:t>Tìm</a:t>
            </a:r>
            <a:r>
              <a:rPr lang="en-US" sz="1400" dirty="0"/>
              <a:t> cha </a:t>
            </a:r>
            <a:r>
              <a:rPr lang="en-US" sz="1400" dirty="0" err="1"/>
              <a:t>một</a:t>
            </a:r>
            <a:r>
              <a:rPr lang="en-US" sz="1400" dirty="0"/>
              <a:t> </a:t>
            </a:r>
            <a:r>
              <a:rPr lang="en-US" sz="1400" dirty="0" err="1"/>
              <a:t>đỉnh</a:t>
            </a:r>
            <a:r>
              <a:rPr lang="en-US" sz="1400" dirty="0"/>
              <a:t> Parent(x) </a:t>
            </a:r>
          </a:p>
          <a:p>
            <a:pPr lvl="0">
              <a:lnSpc>
                <a:spcPct val="150000"/>
              </a:lnSpc>
            </a:pPr>
            <a:r>
              <a:rPr lang="en-US" sz="1400" dirty="0" err="1"/>
              <a:t>Tìm</a:t>
            </a:r>
            <a:r>
              <a:rPr lang="en-US" sz="1400" dirty="0"/>
              <a:t> </a:t>
            </a:r>
            <a:r>
              <a:rPr lang="en-US" sz="1400" dirty="0" err="1"/>
              <a:t>đỉnh</a:t>
            </a:r>
            <a:r>
              <a:rPr lang="en-US" sz="1400" dirty="0"/>
              <a:t> con </a:t>
            </a:r>
            <a:r>
              <a:rPr lang="en-US" sz="1400" dirty="0" err="1"/>
              <a:t>trái</a:t>
            </a:r>
            <a:r>
              <a:rPr lang="en-US" sz="1400" dirty="0"/>
              <a:t> </a:t>
            </a:r>
            <a:r>
              <a:rPr lang="en-US" sz="1400" dirty="0" err="1"/>
              <a:t>nhất</a:t>
            </a:r>
            <a:r>
              <a:rPr lang="en-US" sz="1400" dirty="0"/>
              <a:t> </a:t>
            </a:r>
            <a:r>
              <a:rPr lang="en-US" sz="1400" dirty="0" err="1"/>
              <a:t>EldestChild</a:t>
            </a:r>
            <a:r>
              <a:rPr lang="en-US" sz="1400" dirty="0"/>
              <a:t>(x) </a:t>
            </a:r>
          </a:p>
          <a:p>
            <a:pPr lvl="0">
              <a:lnSpc>
                <a:spcPct val="150000"/>
              </a:lnSpc>
            </a:pPr>
            <a:r>
              <a:rPr lang="en-US" sz="1400" dirty="0" err="1"/>
              <a:t>Tìm</a:t>
            </a:r>
            <a:r>
              <a:rPr lang="en-US" sz="1400" dirty="0"/>
              <a:t> </a:t>
            </a:r>
            <a:r>
              <a:rPr lang="en-US" sz="1400" dirty="0" err="1"/>
              <a:t>đỉnh</a:t>
            </a:r>
            <a:r>
              <a:rPr lang="en-US" sz="1400" dirty="0"/>
              <a:t> </a:t>
            </a:r>
            <a:r>
              <a:rPr lang="en-US" sz="1400" dirty="0" err="1"/>
              <a:t>kề</a:t>
            </a:r>
            <a:r>
              <a:rPr lang="en-US" sz="1400" dirty="0"/>
              <a:t> </a:t>
            </a:r>
            <a:r>
              <a:rPr lang="en-US" sz="1400" dirty="0" err="1"/>
              <a:t>phải</a:t>
            </a:r>
            <a:endParaRPr lang="vi-VN" sz="1400" dirty="0"/>
          </a:p>
          <a:p>
            <a:pPr lvl="0">
              <a:lnSpc>
                <a:spcPct val="150000"/>
              </a:lnSpc>
            </a:pPr>
            <a:r>
              <a:rPr lang="en-US" sz="1400" dirty="0" err="1"/>
              <a:t>NextSibling</a:t>
            </a:r>
            <a:r>
              <a:rPr lang="en-US" sz="1400" dirty="0"/>
              <a:t>(x) </a:t>
            </a:r>
          </a:p>
        </p:txBody>
      </p:sp>
      <p:sp>
        <p:nvSpPr>
          <p:cNvPr id="2" name="Google Shape;430;p40">
            <a:extLst>
              <a:ext uri="{FF2B5EF4-FFF2-40B4-BE49-F238E27FC236}">
                <a16:creationId xmlns:a16="http://schemas.microsoft.com/office/drawing/2014/main" id="{6C0E68D8-6766-C5E3-CE00-FFFE19C8F552}"/>
              </a:ext>
            </a:extLst>
          </p:cNvPr>
          <p:cNvSpPr txBox="1">
            <a:spLocks/>
          </p:cNvSpPr>
          <p:nvPr/>
        </p:nvSpPr>
        <p:spPr>
          <a:xfrm>
            <a:off x="474673" y="820356"/>
            <a:ext cx="5794547"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pPr marL="171450" lvl="0" indent="-171450">
              <a:buSzPct val="100000"/>
              <a:buFont typeface="Arial" panose="020B0604020202020204" pitchFamily="34" charset="0"/>
              <a:buChar char="•"/>
            </a:pPr>
            <a:r>
              <a:rPr lang="en-US" sz="1200" dirty="0" err="1"/>
              <a:t>Đảm</a:t>
            </a:r>
            <a:r>
              <a:rPr lang="en-US" sz="1200" dirty="0"/>
              <a:t> </a:t>
            </a:r>
            <a:r>
              <a:rPr lang="en-US" sz="1200" dirty="0" err="1"/>
              <a:t>bảo</a:t>
            </a:r>
            <a:r>
              <a:rPr lang="en-US" sz="1200" dirty="0"/>
              <a:t> </a:t>
            </a:r>
            <a:r>
              <a:rPr lang="en-US" sz="1200" dirty="0" err="1"/>
              <a:t>đến</a:t>
            </a:r>
            <a:r>
              <a:rPr lang="en-US" sz="1200" dirty="0"/>
              <a:t> </a:t>
            </a:r>
            <a:r>
              <a:rPr lang="en-US" sz="1200" dirty="0" err="1"/>
              <a:t>mỗi</a:t>
            </a:r>
            <a:r>
              <a:rPr lang="en-US" sz="1200" dirty="0"/>
              <a:t> node </a:t>
            </a:r>
            <a:r>
              <a:rPr lang="en-US" sz="1200" dirty="0" err="1"/>
              <a:t>trên</a:t>
            </a:r>
            <a:r>
              <a:rPr lang="en-US" sz="1200" dirty="0"/>
              <a:t> </a:t>
            </a:r>
            <a:r>
              <a:rPr lang="en-US" sz="1200" dirty="0" err="1"/>
              <a:t>cây</a:t>
            </a:r>
            <a:r>
              <a:rPr lang="en-US" sz="1200" dirty="0"/>
              <a:t> </a:t>
            </a:r>
            <a:r>
              <a:rPr lang="en-US" sz="1200" dirty="0" err="1"/>
              <a:t>chính</a:t>
            </a:r>
            <a:r>
              <a:rPr lang="en-US" sz="1200" dirty="0"/>
              <a:t> </a:t>
            </a:r>
            <a:r>
              <a:rPr lang="en-US" sz="1200" dirty="0" err="1"/>
              <a:t>xác</a:t>
            </a:r>
            <a:r>
              <a:rPr lang="en-US" sz="1200" dirty="0"/>
              <a:t> </a:t>
            </a:r>
            <a:r>
              <a:rPr lang="en-US" sz="1200" dirty="0" err="1"/>
              <a:t>một</a:t>
            </a:r>
            <a:r>
              <a:rPr lang="en-US" sz="1200" dirty="0"/>
              <a:t> </a:t>
            </a:r>
            <a:r>
              <a:rPr lang="en-US" sz="1200" dirty="0" err="1"/>
              <a:t>lần</a:t>
            </a:r>
            <a:r>
              <a:rPr lang="en-US" sz="1200" dirty="0"/>
              <a:t> </a:t>
            </a:r>
            <a:r>
              <a:rPr lang="en-US" sz="1200" dirty="0" err="1"/>
              <a:t>một</a:t>
            </a:r>
            <a:r>
              <a:rPr lang="en-US" sz="1200" dirty="0"/>
              <a:t> </a:t>
            </a:r>
            <a:r>
              <a:rPr lang="en-US" sz="1200" dirty="0" err="1"/>
              <a:t>cách</a:t>
            </a:r>
            <a:r>
              <a:rPr lang="en-US" sz="1200" dirty="0"/>
              <a:t> </a:t>
            </a:r>
            <a:r>
              <a:rPr lang="en-US" sz="1200" dirty="0" err="1"/>
              <a:t>có</a:t>
            </a:r>
            <a:r>
              <a:rPr lang="en-US" sz="1200" dirty="0"/>
              <a:t> </a:t>
            </a:r>
            <a:r>
              <a:rPr lang="en-US" sz="1200" dirty="0" err="1"/>
              <a:t>hệ</a:t>
            </a:r>
            <a:r>
              <a:rPr lang="en-US" sz="1200" dirty="0"/>
              <a:t> </a:t>
            </a:r>
            <a:r>
              <a:rPr lang="en-US" sz="1200" dirty="0" err="1"/>
              <a:t>thống</a:t>
            </a:r>
            <a:endParaRPr lang="vi-VN" sz="1200" dirty="0"/>
          </a:p>
          <a:p>
            <a:pPr marL="171450" lvl="0" indent="-171450">
              <a:buSzPct val="100000"/>
              <a:buFont typeface="Arial" panose="020B0604020202020204" pitchFamily="34" charset="0"/>
              <a:buChar char="•"/>
            </a:pPr>
            <a:r>
              <a:rPr lang="en-US" sz="1200" dirty="0" err="1"/>
              <a:t>Nhiều</a:t>
            </a:r>
            <a:r>
              <a:rPr lang="en-US" sz="1200" dirty="0"/>
              <a:t> </a:t>
            </a:r>
            <a:r>
              <a:rPr lang="en-US" sz="1200" dirty="0" err="1"/>
              <a:t>thao</a:t>
            </a:r>
            <a:r>
              <a:rPr lang="en-US" sz="1200" dirty="0"/>
              <a:t> </a:t>
            </a:r>
            <a:r>
              <a:rPr lang="en-US" sz="1200" dirty="0" err="1"/>
              <a:t>tác</a:t>
            </a:r>
            <a:r>
              <a:rPr lang="en-US" sz="1200" dirty="0"/>
              <a:t> </a:t>
            </a:r>
            <a:r>
              <a:rPr lang="en-US" sz="1200" dirty="0" err="1"/>
              <a:t>xử</a:t>
            </a:r>
            <a:r>
              <a:rPr lang="en-US" sz="1200" dirty="0"/>
              <a:t> </a:t>
            </a:r>
            <a:r>
              <a:rPr lang="en-US" sz="1200" dirty="0" err="1"/>
              <a:t>lý</a:t>
            </a:r>
            <a:r>
              <a:rPr lang="en-US" sz="1200" dirty="0"/>
              <a:t> </a:t>
            </a:r>
            <a:r>
              <a:rPr lang="en-US" sz="1200" dirty="0" err="1"/>
              <a:t>trên</a:t>
            </a:r>
            <a:r>
              <a:rPr lang="en-US" sz="1200" dirty="0"/>
              <a:t> </a:t>
            </a:r>
            <a:r>
              <a:rPr lang="en-US" sz="1200" dirty="0" err="1"/>
              <a:t>cây</a:t>
            </a:r>
            <a:r>
              <a:rPr lang="en-US" sz="1200" dirty="0"/>
              <a:t> </a:t>
            </a:r>
            <a:r>
              <a:rPr lang="en-US" sz="1200" dirty="0" err="1"/>
              <a:t>cần</a:t>
            </a:r>
            <a:r>
              <a:rPr lang="en-US" sz="1200" dirty="0"/>
              <a:t> </a:t>
            </a:r>
            <a:r>
              <a:rPr lang="en-US" sz="1200" dirty="0" err="1"/>
              <a:t>phải</a:t>
            </a:r>
            <a:r>
              <a:rPr lang="en-US" sz="1200" dirty="0"/>
              <a:t> </a:t>
            </a:r>
            <a:r>
              <a:rPr lang="en-US" sz="1200" dirty="0" err="1"/>
              <a:t>sử</a:t>
            </a:r>
            <a:r>
              <a:rPr lang="en-US" sz="1200" dirty="0"/>
              <a:t> </a:t>
            </a:r>
            <a:r>
              <a:rPr lang="en-US" sz="1200" dirty="0" err="1"/>
              <a:t>dụng</a:t>
            </a:r>
            <a:r>
              <a:rPr lang="en-US" sz="1200" dirty="0"/>
              <a:t> </a:t>
            </a:r>
            <a:r>
              <a:rPr lang="en-US" sz="1200" dirty="0" err="1"/>
              <a:t>đến</a:t>
            </a:r>
            <a:r>
              <a:rPr lang="en-US" sz="1200" dirty="0"/>
              <a:t> </a:t>
            </a:r>
            <a:r>
              <a:rPr lang="en-US" sz="1200" dirty="0" err="1"/>
              <a:t>phép</a:t>
            </a:r>
            <a:r>
              <a:rPr lang="en-US" sz="1200" dirty="0"/>
              <a:t> </a:t>
            </a:r>
            <a:r>
              <a:rPr lang="en-US" sz="1200" dirty="0" err="1"/>
              <a:t>duyệt</a:t>
            </a:r>
            <a:r>
              <a:rPr lang="en-US" sz="1200" dirty="0"/>
              <a:t> </a:t>
            </a:r>
            <a:r>
              <a:rPr lang="en-US" sz="1200" dirty="0" err="1"/>
              <a:t>cây</a:t>
            </a:r>
            <a:r>
              <a:rPr lang="en-US" sz="1200" dirty="0"/>
              <a:t> </a:t>
            </a:r>
          </a:p>
        </p:txBody>
      </p:sp>
      <p:pic>
        <p:nvPicPr>
          <p:cNvPr id="4" name="Picture 3">
            <a:extLst>
              <a:ext uri="{FF2B5EF4-FFF2-40B4-BE49-F238E27FC236}">
                <a16:creationId xmlns:a16="http://schemas.microsoft.com/office/drawing/2014/main" id="{82AC99B2-6DEA-D627-E5A7-448E2E663A53}"/>
              </a:ext>
            </a:extLst>
          </p:cNvPr>
          <p:cNvPicPr>
            <a:picLocks noChangeAspect="1"/>
          </p:cNvPicPr>
          <p:nvPr/>
        </p:nvPicPr>
        <p:blipFill>
          <a:blip r:embed="rId3"/>
          <a:stretch>
            <a:fillRect/>
          </a:stretch>
        </p:blipFill>
        <p:spPr>
          <a:xfrm>
            <a:off x="1444509" y="1573049"/>
            <a:ext cx="3253581" cy="32889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951D3-A673-7699-D9F9-06991BADB488}"/>
              </a:ext>
            </a:extLst>
          </p:cNvPr>
          <p:cNvSpPr>
            <a:spLocks noGrp="1"/>
          </p:cNvSpPr>
          <p:nvPr>
            <p:ph type="title"/>
          </p:nvPr>
        </p:nvSpPr>
        <p:spPr>
          <a:xfrm>
            <a:off x="321321" y="291129"/>
            <a:ext cx="5172512" cy="735981"/>
          </a:xfrm>
        </p:spPr>
        <p:txBody>
          <a:bodyPr/>
          <a:lstStyle/>
          <a:p>
            <a:r>
              <a:rPr lang="en-US" b="1" dirty="0"/>
              <a:t>Các </a:t>
            </a:r>
            <a:r>
              <a:rPr lang="en-US" b="1" dirty="0" err="1"/>
              <a:t>phép</a:t>
            </a:r>
            <a:r>
              <a:rPr lang="en-US" b="1" dirty="0"/>
              <a:t> </a:t>
            </a:r>
            <a:r>
              <a:rPr lang="en-US" b="1" dirty="0" err="1"/>
              <a:t>duyệt</a:t>
            </a:r>
            <a:r>
              <a:rPr lang="en-US" b="1" dirty="0"/>
              <a:t> </a:t>
            </a:r>
            <a:r>
              <a:rPr lang="en-US" b="1" dirty="0" err="1"/>
              <a:t>cơ</a:t>
            </a:r>
            <a:r>
              <a:rPr lang="en-US" b="1" dirty="0"/>
              <a:t> </a:t>
            </a:r>
            <a:r>
              <a:rPr lang="en-US" b="1" dirty="0" err="1"/>
              <a:t>bản</a:t>
            </a:r>
            <a:r>
              <a:rPr lang="en-US" b="1" dirty="0"/>
              <a:t> </a:t>
            </a:r>
            <a:endParaRPr lang="en-US" dirty="0"/>
          </a:p>
        </p:txBody>
      </p:sp>
      <p:sp>
        <p:nvSpPr>
          <p:cNvPr id="3" name="Subtitle 2">
            <a:extLst>
              <a:ext uri="{FF2B5EF4-FFF2-40B4-BE49-F238E27FC236}">
                <a16:creationId xmlns:a16="http://schemas.microsoft.com/office/drawing/2014/main" id="{532FD778-111A-05C7-5258-E8C892D2C848}"/>
              </a:ext>
            </a:extLst>
          </p:cNvPr>
          <p:cNvSpPr>
            <a:spLocks noGrp="1"/>
          </p:cNvSpPr>
          <p:nvPr>
            <p:ph type="subTitle" idx="1"/>
          </p:nvPr>
        </p:nvSpPr>
        <p:spPr>
          <a:xfrm>
            <a:off x="267629" y="1737302"/>
            <a:ext cx="4820846" cy="834914"/>
          </a:xfrm>
        </p:spPr>
        <p:txBody>
          <a:bodyPr/>
          <a:lstStyle/>
          <a:p>
            <a:pPr lvl="0">
              <a:buFont typeface="Wingdings" panose="05000000000000000000" pitchFamily="2" charset="2"/>
              <a:buChar char="v"/>
            </a:pPr>
            <a:r>
              <a:rPr lang="en-US" dirty="0" err="1"/>
              <a:t>Duyệt</a:t>
            </a:r>
            <a:r>
              <a:rPr lang="en-US" dirty="0"/>
              <a:t> </a:t>
            </a:r>
            <a:r>
              <a:rPr lang="en-US" dirty="0" err="1"/>
              <a:t>tiền</a:t>
            </a:r>
            <a:r>
              <a:rPr lang="en-US" dirty="0"/>
              <a:t> </a:t>
            </a:r>
            <a:r>
              <a:rPr lang="en-US" dirty="0" err="1"/>
              <a:t>thứ</a:t>
            </a:r>
            <a:r>
              <a:rPr lang="en-US" dirty="0"/>
              <a:t> </a:t>
            </a:r>
            <a:r>
              <a:rPr lang="en-US" dirty="0" err="1"/>
              <a:t>tự</a:t>
            </a:r>
            <a:r>
              <a:rPr lang="en-US" dirty="0"/>
              <a:t> (Pre-order): </a:t>
            </a:r>
            <a:r>
              <a:rPr lang="en-US" dirty="0" err="1"/>
              <a:t>nút</a:t>
            </a:r>
            <a:r>
              <a:rPr lang="en-US" dirty="0"/>
              <a:t> </a:t>
            </a:r>
            <a:r>
              <a:rPr lang="en-US" dirty="0" err="1"/>
              <a:t>gốc</a:t>
            </a:r>
            <a:r>
              <a:rPr lang="en-US" dirty="0"/>
              <a:t> </a:t>
            </a:r>
            <a:r>
              <a:rPr lang="en-US" dirty="0" err="1"/>
              <a:t>được</a:t>
            </a:r>
            <a:r>
              <a:rPr lang="en-US" dirty="0"/>
              <a:t> </a:t>
            </a:r>
            <a:r>
              <a:rPr lang="en-US" dirty="0" err="1"/>
              <a:t>duyệt</a:t>
            </a:r>
            <a:r>
              <a:rPr lang="en-US" dirty="0"/>
              <a:t> </a:t>
            </a:r>
            <a:r>
              <a:rPr lang="en-US" dirty="0" err="1"/>
              <a:t>đầu</a:t>
            </a:r>
            <a:r>
              <a:rPr lang="en-US" dirty="0"/>
              <a:t> </a:t>
            </a:r>
            <a:r>
              <a:rPr lang="en-US" dirty="0" err="1"/>
              <a:t>tiên</a:t>
            </a:r>
            <a:r>
              <a:rPr lang="en-US" dirty="0"/>
              <a:t>, </a:t>
            </a:r>
            <a:r>
              <a:rPr lang="en-US" dirty="0" err="1"/>
              <a:t>sau</a:t>
            </a:r>
            <a:r>
              <a:rPr lang="en-US" dirty="0"/>
              <a:t> </a:t>
            </a:r>
            <a:r>
              <a:rPr lang="en-US" dirty="0" err="1"/>
              <a:t>đó</a:t>
            </a:r>
            <a:r>
              <a:rPr lang="en-US" dirty="0"/>
              <a:t> </a:t>
            </a:r>
            <a:r>
              <a:rPr lang="en-US" dirty="0" err="1"/>
              <a:t>sẽ</a:t>
            </a:r>
            <a:r>
              <a:rPr lang="en-US" dirty="0"/>
              <a:t> </a:t>
            </a:r>
            <a:r>
              <a:rPr lang="en-US" dirty="0" err="1"/>
              <a:t>duyệt</a:t>
            </a:r>
            <a:r>
              <a:rPr lang="en-US" dirty="0"/>
              <a:t> </a:t>
            </a:r>
            <a:r>
              <a:rPr lang="en-US" dirty="0" err="1"/>
              <a:t>cây</a:t>
            </a:r>
            <a:r>
              <a:rPr lang="en-US" dirty="0"/>
              <a:t> con </a:t>
            </a:r>
            <a:r>
              <a:rPr lang="en-US" dirty="0" err="1"/>
              <a:t>bên</a:t>
            </a:r>
            <a:r>
              <a:rPr lang="en-US" dirty="0"/>
              <a:t> </a:t>
            </a:r>
            <a:r>
              <a:rPr lang="en-US" dirty="0" err="1"/>
              <a:t>trái</a:t>
            </a:r>
            <a:r>
              <a:rPr lang="en-US" dirty="0"/>
              <a:t> </a:t>
            </a:r>
            <a:r>
              <a:rPr lang="en-US" dirty="0" err="1"/>
              <a:t>và</a:t>
            </a:r>
            <a:r>
              <a:rPr lang="en-US" dirty="0"/>
              <a:t> </a:t>
            </a:r>
            <a:r>
              <a:rPr lang="en-US" dirty="0" err="1"/>
              <a:t>cuối</a:t>
            </a:r>
            <a:r>
              <a:rPr lang="en-US" dirty="0"/>
              <a:t> </a:t>
            </a:r>
            <a:r>
              <a:rPr lang="en-US" dirty="0" err="1"/>
              <a:t>cùng</a:t>
            </a:r>
            <a:r>
              <a:rPr lang="en-US" dirty="0"/>
              <a:t> </a:t>
            </a:r>
            <a:r>
              <a:rPr lang="en-US" dirty="0" err="1"/>
              <a:t>sẽ</a:t>
            </a:r>
            <a:r>
              <a:rPr lang="en-US" dirty="0"/>
              <a:t> </a:t>
            </a:r>
            <a:r>
              <a:rPr lang="en-US" dirty="0" err="1"/>
              <a:t>duyệt</a:t>
            </a:r>
            <a:r>
              <a:rPr lang="en-US" dirty="0"/>
              <a:t> </a:t>
            </a:r>
            <a:r>
              <a:rPr lang="en-US" dirty="0" err="1"/>
              <a:t>cây</a:t>
            </a:r>
            <a:r>
              <a:rPr lang="en-US" dirty="0"/>
              <a:t> con </a:t>
            </a:r>
            <a:r>
              <a:rPr lang="en-US" dirty="0" err="1"/>
              <a:t>bên</a:t>
            </a:r>
            <a:r>
              <a:rPr lang="en-US" dirty="0"/>
              <a:t> </a:t>
            </a:r>
            <a:r>
              <a:rPr lang="en-US" dirty="0" err="1"/>
              <a:t>phải</a:t>
            </a:r>
            <a:r>
              <a:rPr lang="en-US" dirty="0"/>
              <a:t>. </a:t>
            </a:r>
            <a:endParaRPr lang="vi-VN" dirty="0"/>
          </a:p>
          <a:p>
            <a:pPr marL="323850" indent="-171450">
              <a:buFont typeface="Arial" panose="020B0604020202020204" pitchFamily="34" charset="0"/>
              <a:buChar char="•"/>
            </a:pPr>
            <a:r>
              <a:rPr lang="vi-VN" dirty="0"/>
              <a:t>    </a:t>
            </a:r>
            <a:r>
              <a:rPr lang="en-US" dirty="0"/>
              <a:t>a b d e </a:t>
            </a:r>
            <a:r>
              <a:rPr lang="en-US" dirty="0" err="1"/>
              <a:t>i</a:t>
            </a:r>
            <a:r>
              <a:rPr lang="en-US" dirty="0"/>
              <a:t> j c f g k h </a:t>
            </a:r>
          </a:p>
          <a:p>
            <a:pPr lvl="0">
              <a:buFont typeface="Wingdings" panose="05000000000000000000" pitchFamily="2" charset="2"/>
              <a:buChar char="v"/>
            </a:pPr>
            <a:endParaRPr lang="vi-VN" dirty="0"/>
          </a:p>
          <a:p>
            <a:pPr lvl="0">
              <a:buFont typeface="Wingdings" panose="05000000000000000000" pitchFamily="2" charset="2"/>
              <a:buChar char="v"/>
            </a:pPr>
            <a:r>
              <a:rPr lang="en-US" dirty="0" err="1"/>
              <a:t>Duyệt</a:t>
            </a:r>
            <a:r>
              <a:rPr lang="en-US" dirty="0"/>
              <a:t> </a:t>
            </a:r>
            <a:r>
              <a:rPr lang="en-US" dirty="0" err="1"/>
              <a:t>trung</a:t>
            </a:r>
            <a:r>
              <a:rPr lang="en-US" dirty="0"/>
              <a:t> </a:t>
            </a:r>
            <a:r>
              <a:rPr lang="en-US" dirty="0" err="1"/>
              <a:t>thứ</a:t>
            </a:r>
            <a:r>
              <a:rPr lang="en-US" dirty="0"/>
              <a:t> </a:t>
            </a:r>
            <a:r>
              <a:rPr lang="en-US" dirty="0" err="1"/>
              <a:t>tự</a:t>
            </a:r>
            <a:r>
              <a:rPr lang="en-US" dirty="0"/>
              <a:t> (In-order): </a:t>
            </a:r>
            <a:r>
              <a:rPr lang="en-US" dirty="0" err="1"/>
              <a:t>thăm</a:t>
            </a:r>
            <a:r>
              <a:rPr lang="en-US" dirty="0"/>
              <a:t> </a:t>
            </a:r>
            <a:r>
              <a:rPr lang="en-US" dirty="0" err="1"/>
              <a:t>cây</a:t>
            </a:r>
            <a:r>
              <a:rPr lang="en-US" dirty="0"/>
              <a:t> con </a:t>
            </a:r>
            <a:r>
              <a:rPr lang="en-US" dirty="0" err="1"/>
              <a:t>bên</a:t>
            </a:r>
            <a:r>
              <a:rPr lang="en-US" dirty="0"/>
              <a:t> </a:t>
            </a:r>
            <a:r>
              <a:rPr lang="en-US" dirty="0" err="1"/>
              <a:t>trái</a:t>
            </a:r>
            <a:r>
              <a:rPr lang="en-US" dirty="0"/>
              <a:t> </a:t>
            </a:r>
            <a:r>
              <a:rPr lang="en-US" dirty="0" err="1"/>
              <a:t>trước</a:t>
            </a:r>
            <a:r>
              <a:rPr lang="en-US" dirty="0"/>
              <a:t>, </a:t>
            </a:r>
            <a:r>
              <a:rPr lang="en-US" dirty="0" err="1"/>
              <a:t>sau</a:t>
            </a:r>
            <a:r>
              <a:rPr lang="en-US" dirty="0"/>
              <a:t> </a:t>
            </a:r>
            <a:r>
              <a:rPr lang="en-US" dirty="0" err="1"/>
              <a:t>đó</a:t>
            </a:r>
            <a:r>
              <a:rPr lang="en-US" dirty="0"/>
              <a:t> </a:t>
            </a:r>
            <a:r>
              <a:rPr lang="en-US" dirty="0" err="1"/>
              <a:t>gốc</a:t>
            </a:r>
            <a:r>
              <a:rPr lang="en-US" dirty="0"/>
              <a:t>, </a:t>
            </a:r>
            <a:r>
              <a:rPr lang="en-US" dirty="0" err="1"/>
              <a:t>rồi</a:t>
            </a:r>
            <a:r>
              <a:rPr lang="en-US" dirty="0"/>
              <a:t> </a:t>
            </a:r>
            <a:r>
              <a:rPr lang="en-US" dirty="0" err="1"/>
              <a:t>cây</a:t>
            </a:r>
            <a:r>
              <a:rPr lang="en-US" dirty="0"/>
              <a:t> con </a:t>
            </a:r>
            <a:r>
              <a:rPr lang="en-US" dirty="0" err="1"/>
              <a:t>bên</a:t>
            </a:r>
            <a:r>
              <a:rPr lang="en-US" dirty="0"/>
              <a:t> </a:t>
            </a:r>
            <a:r>
              <a:rPr lang="en-US" dirty="0" err="1"/>
              <a:t>phải</a:t>
            </a:r>
            <a:r>
              <a:rPr lang="en-US" dirty="0"/>
              <a:t>. Thường </a:t>
            </a:r>
            <a:r>
              <a:rPr lang="en-US" dirty="0" err="1"/>
              <a:t>dùng</a:t>
            </a:r>
            <a:r>
              <a:rPr lang="en-US" dirty="0"/>
              <a:t> </a:t>
            </a:r>
            <a:r>
              <a:rPr lang="en-US" dirty="0" err="1"/>
              <a:t>cho</a:t>
            </a:r>
            <a:r>
              <a:rPr lang="en-US" dirty="0"/>
              <a:t> </a:t>
            </a:r>
            <a:r>
              <a:rPr lang="en-US" dirty="0" err="1"/>
              <a:t>cây</a:t>
            </a:r>
            <a:r>
              <a:rPr lang="en-US" dirty="0"/>
              <a:t> </a:t>
            </a:r>
            <a:r>
              <a:rPr lang="en-US" dirty="0" err="1"/>
              <a:t>tìm</a:t>
            </a:r>
            <a:r>
              <a:rPr lang="en-US" dirty="0"/>
              <a:t> </a:t>
            </a:r>
            <a:r>
              <a:rPr lang="en-US" dirty="0" err="1"/>
              <a:t>kiếm</a:t>
            </a:r>
            <a:r>
              <a:rPr lang="en-US" dirty="0"/>
              <a:t> </a:t>
            </a:r>
            <a:r>
              <a:rPr lang="en-US" dirty="0" err="1"/>
              <a:t>nhị</a:t>
            </a:r>
            <a:r>
              <a:rPr lang="en-US" dirty="0"/>
              <a:t> </a:t>
            </a:r>
            <a:r>
              <a:rPr lang="en-US" dirty="0" err="1"/>
              <a:t>phân</a:t>
            </a:r>
            <a:r>
              <a:rPr lang="en-US" dirty="0"/>
              <a:t> </a:t>
            </a:r>
            <a:r>
              <a:rPr lang="en-US" dirty="0" err="1"/>
              <a:t>để</a:t>
            </a:r>
            <a:r>
              <a:rPr lang="en-US" dirty="0"/>
              <a:t> </a:t>
            </a:r>
            <a:r>
              <a:rPr lang="en-US" dirty="0" err="1"/>
              <a:t>lấy</a:t>
            </a:r>
            <a:r>
              <a:rPr lang="en-US" dirty="0"/>
              <a:t> </a:t>
            </a:r>
            <a:r>
              <a:rPr lang="en-US" dirty="0" err="1"/>
              <a:t>thứ</a:t>
            </a:r>
            <a:r>
              <a:rPr lang="en-US" dirty="0"/>
              <a:t> </a:t>
            </a:r>
            <a:r>
              <a:rPr lang="en-US" dirty="0" err="1"/>
              <a:t>tự</a:t>
            </a:r>
            <a:r>
              <a:rPr lang="en-US" dirty="0"/>
              <a:t> </a:t>
            </a:r>
            <a:r>
              <a:rPr lang="en-US" dirty="0" err="1"/>
              <a:t>tăng</a:t>
            </a:r>
            <a:r>
              <a:rPr lang="en-US" dirty="0"/>
              <a:t> </a:t>
            </a:r>
            <a:r>
              <a:rPr lang="en-US" dirty="0" err="1"/>
              <a:t>dần</a:t>
            </a:r>
            <a:r>
              <a:rPr lang="en-US" dirty="0"/>
              <a:t>. </a:t>
            </a:r>
          </a:p>
          <a:p>
            <a:pPr lvl="0">
              <a:buFont typeface="Arial" panose="020B0604020202020204" pitchFamily="34" charset="0"/>
              <a:buChar char="•"/>
            </a:pPr>
            <a:r>
              <a:rPr lang="en-US" dirty="0"/>
              <a:t>d b </a:t>
            </a:r>
            <a:r>
              <a:rPr lang="en-US" dirty="0" err="1"/>
              <a:t>i</a:t>
            </a:r>
            <a:r>
              <a:rPr lang="en-US" dirty="0"/>
              <a:t> e j a f c k g h</a:t>
            </a:r>
          </a:p>
          <a:p>
            <a:pPr lvl="0">
              <a:buFont typeface="Wingdings" panose="05000000000000000000" pitchFamily="2" charset="2"/>
              <a:buChar char="v"/>
            </a:pPr>
            <a:endParaRPr lang="vi-VN" dirty="0"/>
          </a:p>
          <a:p>
            <a:pPr lvl="0">
              <a:buFont typeface="Wingdings" panose="05000000000000000000" pitchFamily="2" charset="2"/>
              <a:buChar char="v"/>
            </a:pPr>
            <a:r>
              <a:rPr lang="en-US" dirty="0" err="1"/>
              <a:t>Duyệt</a:t>
            </a:r>
            <a:r>
              <a:rPr lang="en-US" dirty="0"/>
              <a:t> </a:t>
            </a:r>
            <a:r>
              <a:rPr lang="en-US" dirty="0" err="1"/>
              <a:t>hậu</a:t>
            </a:r>
            <a:r>
              <a:rPr lang="en-US" dirty="0"/>
              <a:t> </a:t>
            </a:r>
            <a:r>
              <a:rPr lang="en-US" dirty="0" err="1"/>
              <a:t>thứ</a:t>
            </a:r>
            <a:r>
              <a:rPr lang="en-US" dirty="0"/>
              <a:t> </a:t>
            </a:r>
            <a:r>
              <a:rPr lang="en-US" dirty="0" err="1"/>
              <a:t>tự</a:t>
            </a:r>
            <a:r>
              <a:rPr lang="en-US" dirty="0"/>
              <a:t> (Post-order): </a:t>
            </a:r>
            <a:r>
              <a:rPr lang="en-US" dirty="0" err="1"/>
              <a:t>thăm</a:t>
            </a:r>
            <a:r>
              <a:rPr lang="en-US" dirty="0"/>
              <a:t> </a:t>
            </a:r>
            <a:r>
              <a:rPr lang="en-US" dirty="0" err="1"/>
              <a:t>cây</a:t>
            </a:r>
            <a:r>
              <a:rPr lang="en-US" dirty="0"/>
              <a:t> con </a:t>
            </a:r>
            <a:r>
              <a:rPr lang="en-US" dirty="0" err="1"/>
              <a:t>bên</a:t>
            </a:r>
            <a:r>
              <a:rPr lang="en-US" dirty="0"/>
              <a:t> </a:t>
            </a:r>
            <a:r>
              <a:rPr lang="en-US" dirty="0" err="1"/>
              <a:t>trái</a:t>
            </a:r>
            <a:r>
              <a:rPr lang="en-US" dirty="0"/>
              <a:t>, </a:t>
            </a:r>
            <a:r>
              <a:rPr lang="en-US" dirty="0" err="1"/>
              <a:t>cây</a:t>
            </a:r>
            <a:r>
              <a:rPr lang="en-US" dirty="0"/>
              <a:t> con </a:t>
            </a:r>
            <a:r>
              <a:rPr lang="en-US" dirty="0" err="1"/>
              <a:t>bên</a:t>
            </a:r>
            <a:r>
              <a:rPr lang="en-US" dirty="0"/>
              <a:t> </a:t>
            </a:r>
            <a:r>
              <a:rPr lang="en-US" dirty="0" err="1"/>
              <a:t>phải</a:t>
            </a:r>
            <a:r>
              <a:rPr lang="en-US" dirty="0"/>
              <a:t>, </a:t>
            </a:r>
            <a:r>
              <a:rPr lang="en-US" dirty="0" err="1"/>
              <a:t>rồi</a:t>
            </a:r>
            <a:r>
              <a:rPr lang="en-US" dirty="0"/>
              <a:t> </a:t>
            </a:r>
            <a:r>
              <a:rPr lang="en-US" dirty="0" err="1"/>
              <a:t>gốc</a:t>
            </a:r>
            <a:r>
              <a:rPr lang="en-US" dirty="0"/>
              <a:t> </a:t>
            </a:r>
            <a:r>
              <a:rPr lang="en-US" dirty="0" err="1"/>
              <a:t>sau</a:t>
            </a:r>
            <a:r>
              <a:rPr lang="en-US" dirty="0"/>
              <a:t> </a:t>
            </a:r>
            <a:r>
              <a:rPr lang="en-US" dirty="0" err="1"/>
              <a:t>cùng</a:t>
            </a:r>
            <a:r>
              <a:rPr lang="en-US" dirty="0"/>
              <a:t>. </a:t>
            </a:r>
          </a:p>
          <a:p>
            <a:pPr lvl="0">
              <a:buFont typeface="Arial" panose="020B0604020202020204" pitchFamily="34" charset="0"/>
              <a:buChar char="•"/>
            </a:pPr>
            <a:r>
              <a:rPr lang="en-US" dirty="0"/>
              <a:t>d </a:t>
            </a:r>
            <a:r>
              <a:rPr lang="en-US" dirty="0" err="1"/>
              <a:t>i</a:t>
            </a:r>
            <a:r>
              <a:rPr lang="en-US" dirty="0"/>
              <a:t> j e b f k g h c a </a:t>
            </a:r>
          </a:p>
          <a:p>
            <a:pPr marL="152400" indent="0">
              <a:buNone/>
            </a:pPr>
            <a:endParaRPr lang="vi-VN" dirty="0"/>
          </a:p>
        </p:txBody>
      </p:sp>
      <p:sp>
        <p:nvSpPr>
          <p:cNvPr id="5" name="Title 1">
            <a:extLst>
              <a:ext uri="{FF2B5EF4-FFF2-40B4-BE49-F238E27FC236}">
                <a16:creationId xmlns:a16="http://schemas.microsoft.com/office/drawing/2014/main" id="{ADE50842-021F-E58C-2AF6-C7B07CDE9C1D}"/>
              </a:ext>
            </a:extLst>
          </p:cNvPr>
          <p:cNvSpPr txBox="1">
            <a:spLocks/>
          </p:cNvSpPr>
          <p:nvPr/>
        </p:nvSpPr>
        <p:spPr>
          <a:xfrm>
            <a:off x="267629" y="1142570"/>
            <a:ext cx="4461651" cy="5947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pPr marL="171450" indent="-171450">
              <a:buSzPct val="100000"/>
              <a:buFont typeface="Wingdings" panose="05000000000000000000" pitchFamily="2" charset="2"/>
              <a:buChar char="q"/>
            </a:pPr>
            <a:r>
              <a:rPr lang="en-US" sz="1200" b="1" dirty="0" err="1"/>
              <a:t>Duyệt</a:t>
            </a:r>
            <a:r>
              <a:rPr lang="en-US" sz="1200" b="1" dirty="0"/>
              <a:t> </a:t>
            </a:r>
            <a:r>
              <a:rPr lang="en-US" sz="1200" b="1" dirty="0" err="1"/>
              <a:t>theo</a:t>
            </a:r>
            <a:r>
              <a:rPr lang="en-US" sz="1200" b="1" dirty="0"/>
              <a:t> </a:t>
            </a:r>
            <a:r>
              <a:rPr lang="en-US" sz="1200" b="1" dirty="0" err="1"/>
              <a:t>chiều</a:t>
            </a:r>
            <a:r>
              <a:rPr lang="en-US" sz="1200" b="1" dirty="0"/>
              <a:t> </a:t>
            </a:r>
            <a:r>
              <a:rPr lang="en-US" sz="1200" b="1" dirty="0" err="1"/>
              <a:t>sâu</a:t>
            </a:r>
            <a:r>
              <a:rPr lang="en-US" sz="1200" b="1" dirty="0"/>
              <a:t> (DFS): </a:t>
            </a:r>
            <a:r>
              <a:rPr lang="en-US" sz="1200" b="1" dirty="0" err="1"/>
              <a:t>sử</a:t>
            </a:r>
            <a:r>
              <a:rPr lang="en-US" sz="1200" b="1" dirty="0"/>
              <a:t> </a:t>
            </a:r>
            <a:r>
              <a:rPr lang="en-US" sz="1200" b="1" dirty="0" err="1"/>
              <a:t>dụng</a:t>
            </a:r>
            <a:r>
              <a:rPr lang="en-US" sz="1200" b="1" dirty="0"/>
              <a:t> 1 </a:t>
            </a:r>
            <a:r>
              <a:rPr lang="en-US" sz="1200" b="1" dirty="0" err="1"/>
              <a:t>ngăn</a:t>
            </a:r>
            <a:r>
              <a:rPr lang="en-US" sz="1200" b="1" dirty="0"/>
              <a:t> </a:t>
            </a:r>
            <a:r>
              <a:rPr lang="en-US" sz="1200" b="1" dirty="0" err="1"/>
              <a:t>xếp</a:t>
            </a:r>
            <a:r>
              <a:rPr lang="en-US" sz="1200" b="1" dirty="0"/>
              <a:t> (stack) </a:t>
            </a:r>
            <a:r>
              <a:rPr lang="en-US" sz="1200" b="1" dirty="0" err="1"/>
              <a:t>để</a:t>
            </a:r>
            <a:r>
              <a:rPr lang="en-US" sz="1200" b="1" dirty="0"/>
              <a:t> </a:t>
            </a:r>
            <a:r>
              <a:rPr lang="en-US" sz="1200" b="1" dirty="0" err="1"/>
              <a:t>duyệt</a:t>
            </a:r>
            <a:r>
              <a:rPr lang="en-US" sz="1200" b="1" dirty="0"/>
              <a:t> </a:t>
            </a:r>
            <a:r>
              <a:rPr lang="en-US" sz="1200" b="1" dirty="0" err="1"/>
              <a:t>cây</a:t>
            </a:r>
            <a:r>
              <a:rPr lang="en-US" sz="1200" b="1" dirty="0"/>
              <a:t>, </a:t>
            </a:r>
            <a:r>
              <a:rPr lang="en-US" sz="1200" b="1" dirty="0" err="1"/>
              <a:t>đisâu</a:t>
            </a:r>
            <a:r>
              <a:rPr lang="en-US" sz="1200" b="1" dirty="0"/>
              <a:t> </a:t>
            </a:r>
            <a:r>
              <a:rPr lang="en-US" sz="1200" b="1" dirty="0" err="1"/>
              <a:t>vào</a:t>
            </a:r>
            <a:r>
              <a:rPr lang="en-US" sz="1200" b="1" dirty="0"/>
              <a:t> 1 </a:t>
            </a:r>
            <a:r>
              <a:rPr lang="en-US" sz="1200" b="1" dirty="0" err="1"/>
              <a:t>nhánh</a:t>
            </a:r>
            <a:r>
              <a:rPr lang="en-US" sz="1200" b="1" dirty="0"/>
              <a:t> </a:t>
            </a:r>
            <a:r>
              <a:rPr lang="en-US" sz="1200" b="1" dirty="0" err="1"/>
              <a:t>trước</a:t>
            </a:r>
            <a:r>
              <a:rPr lang="en-US" sz="1200" b="1" dirty="0"/>
              <a:t> </a:t>
            </a:r>
            <a:r>
              <a:rPr lang="en-US" sz="1200" b="1" dirty="0" err="1"/>
              <a:t>khi</a:t>
            </a:r>
            <a:r>
              <a:rPr lang="en-US" sz="1200" b="1" dirty="0"/>
              <a:t> quay </a:t>
            </a:r>
            <a:r>
              <a:rPr lang="en-US" sz="1200" b="1" dirty="0" err="1"/>
              <a:t>lại</a:t>
            </a:r>
            <a:r>
              <a:rPr lang="en-US" sz="1200" b="1" dirty="0"/>
              <a:t> </a:t>
            </a:r>
            <a:r>
              <a:rPr lang="en-US" sz="1200" b="1" dirty="0" err="1"/>
              <a:t>các</a:t>
            </a:r>
            <a:r>
              <a:rPr lang="en-US" sz="1200" b="1" dirty="0"/>
              <a:t> </a:t>
            </a:r>
            <a:r>
              <a:rPr lang="en-US" sz="1200" b="1" dirty="0" err="1"/>
              <a:t>nhánh</a:t>
            </a:r>
            <a:r>
              <a:rPr lang="en-US" sz="1200" b="1" dirty="0"/>
              <a:t> </a:t>
            </a:r>
            <a:r>
              <a:rPr lang="en-US" sz="1200" b="1" dirty="0" err="1"/>
              <a:t>khác</a:t>
            </a:r>
            <a:r>
              <a:rPr lang="en-US" sz="1200" b="1" dirty="0"/>
              <a:t> </a:t>
            </a:r>
          </a:p>
        </p:txBody>
      </p:sp>
      <p:pic>
        <p:nvPicPr>
          <p:cNvPr id="6" name="Picture 5" descr="A diagram of a tree&#10;&#10;AI-generated content may be incorrect.">
            <a:extLst>
              <a:ext uri="{FF2B5EF4-FFF2-40B4-BE49-F238E27FC236}">
                <a16:creationId xmlns:a16="http://schemas.microsoft.com/office/drawing/2014/main" id="{3BD6A29F-DA56-0184-EDF9-4823E5B7799E}"/>
              </a:ext>
            </a:extLst>
          </p:cNvPr>
          <p:cNvPicPr>
            <a:picLocks noChangeAspect="1"/>
          </p:cNvPicPr>
          <p:nvPr/>
        </p:nvPicPr>
        <p:blipFill>
          <a:blip r:embed="rId3"/>
          <a:stretch>
            <a:fillRect/>
          </a:stretch>
        </p:blipFill>
        <p:spPr>
          <a:xfrm>
            <a:off x="5034155" y="873814"/>
            <a:ext cx="3539545" cy="3171663"/>
          </a:xfrm>
          <a:prstGeom prst="rect">
            <a:avLst/>
          </a:prstGeom>
        </p:spPr>
      </p:pic>
    </p:spTree>
    <p:extLst>
      <p:ext uri="{BB962C8B-B14F-4D97-AF65-F5344CB8AC3E}">
        <p14:creationId xmlns:p14="http://schemas.microsoft.com/office/powerpoint/2010/main" val="2532433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4F278-109A-2F89-0B35-291396E3C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0FFF0-3A55-B75D-D2A3-195D223EB43F}"/>
              </a:ext>
            </a:extLst>
          </p:cNvPr>
          <p:cNvSpPr>
            <a:spLocks noGrp="1"/>
          </p:cNvSpPr>
          <p:nvPr>
            <p:ph type="title"/>
          </p:nvPr>
        </p:nvSpPr>
        <p:spPr>
          <a:xfrm>
            <a:off x="189922" y="133154"/>
            <a:ext cx="5172512" cy="735981"/>
          </a:xfrm>
        </p:spPr>
        <p:txBody>
          <a:bodyPr/>
          <a:lstStyle/>
          <a:p>
            <a:r>
              <a:rPr lang="en-US" b="1" dirty="0"/>
              <a:t>Các </a:t>
            </a:r>
            <a:r>
              <a:rPr lang="en-US" b="1" dirty="0" err="1"/>
              <a:t>phép</a:t>
            </a:r>
            <a:r>
              <a:rPr lang="en-US" b="1" dirty="0"/>
              <a:t> </a:t>
            </a:r>
            <a:r>
              <a:rPr lang="en-US" b="1" dirty="0" err="1"/>
              <a:t>duyệt</a:t>
            </a:r>
            <a:r>
              <a:rPr lang="en-US" b="1" dirty="0"/>
              <a:t> </a:t>
            </a:r>
            <a:r>
              <a:rPr lang="en-US" b="1" dirty="0" err="1"/>
              <a:t>cơ</a:t>
            </a:r>
            <a:r>
              <a:rPr lang="en-US" b="1" dirty="0"/>
              <a:t> </a:t>
            </a:r>
            <a:r>
              <a:rPr lang="en-US" b="1" dirty="0" err="1"/>
              <a:t>bản</a:t>
            </a:r>
            <a:r>
              <a:rPr lang="en-US" b="1" dirty="0"/>
              <a:t> </a:t>
            </a:r>
            <a:endParaRPr lang="en-US" dirty="0"/>
          </a:p>
        </p:txBody>
      </p:sp>
      <p:sp>
        <p:nvSpPr>
          <p:cNvPr id="5" name="Title 1">
            <a:extLst>
              <a:ext uri="{FF2B5EF4-FFF2-40B4-BE49-F238E27FC236}">
                <a16:creationId xmlns:a16="http://schemas.microsoft.com/office/drawing/2014/main" id="{E67BB82B-6E51-CACD-B65C-6C125CC9C440}"/>
              </a:ext>
            </a:extLst>
          </p:cNvPr>
          <p:cNvSpPr txBox="1">
            <a:spLocks/>
          </p:cNvSpPr>
          <p:nvPr/>
        </p:nvSpPr>
        <p:spPr>
          <a:xfrm>
            <a:off x="212256" y="717894"/>
            <a:ext cx="4461651" cy="90135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pPr marL="171450" indent="-171450">
              <a:buSzPct val="100000"/>
              <a:buFont typeface="Wingdings" panose="05000000000000000000" pitchFamily="2" charset="2"/>
              <a:buChar char="q"/>
            </a:pPr>
            <a:r>
              <a:rPr lang="en-US" sz="1200" b="1" dirty="0" err="1"/>
              <a:t>Duyệt</a:t>
            </a:r>
            <a:r>
              <a:rPr lang="en-US" sz="1200" b="1" dirty="0"/>
              <a:t> </a:t>
            </a:r>
            <a:r>
              <a:rPr lang="en-US" sz="1200" b="1" dirty="0" err="1"/>
              <a:t>theo</a:t>
            </a:r>
            <a:r>
              <a:rPr lang="en-US" sz="1200" b="1" dirty="0"/>
              <a:t> </a:t>
            </a:r>
            <a:r>
              <a:rPr lang="en-US" sz="1200" b="1" dirty="0" err="1"/>
              <a:t>chiều</a:t>
            </a:r>
            <a:r>
              <a:rPr lang="en-US" sz="1200" b="1" dirty="0"/>
              <a:t> </a:t>
            </a:r>
            <a:r>
              <a:rPr lang="en-US" sz="1200" b="1" dirty="0" err="1"/>
              <a:t>rộng</a:t>
            </a:r>
            <a:r>
              <a:rPr lang="en-US" sz="1200" b="1" dirty="0"/>
              <a:t> (BFS): </a:t>
            </a:r>
            <a:r>
              <a:rPr lang="en-US" sz="1200" b="1" dirty="0" err="1"/>
              <a:t>sử</a:t>
            </a:r>
            <a:r>
              <a:rPr lang="en-US" sz="1200" b="1" dirty="0"/>
              <a:t> </a:t>
            </a:r>
            <a:r>
              <a:rPr lang="en-US" sz="1200" b="1" dirty="0" err="1"/>
              <a:t>dụng</a:t>
            </a:r>
            <a:r>
              <a:rPr lang="en-US" sz="1200" b="1" dirty="0"/>
              <a:t> </a:t>
            </a:r>
            <a:r>
              <a:rPr lang="en-US" sz="1200" b="1" dirty="0" err="1"/>
              <a:t>hàng</a:t>
            </a:r>
            <a:r>
              <a:rPr lang="en-US" sz="1200" b="1" dirty="0"/>
              <a:t> </a:t>
            </a:r>
            <a:r>
              <a:rPr lang="en-US" sz="1200" b="1" dirty="0" err="1"/>
              <a:t>đợi</a:t>
            </a:r>
            <a:r>
              <a:rPr lang="en-US" sz="1200" b="1" dirty="0"/>
              <a:t> (queue) </a:t>
            </a:r>
            <a:r>
              <a:rPr lang="en-US" sz="1200" b="1" dirty="0" err="1"/>
              <a:t>để</a:t>
            </a:r>
            <a:r>
              <a:rPr lang="en-US" sz="1200" b="1" dirty="0"/>
              <a:t> </a:t>
            </a:r>
            <a:r>
              <a:rPr lang="en-US" sz="1200" b="1" dirty="0" err="1"/>
              <a:t>duyệt</a:t>
            </a:r>
            <a:r>
              <a:rPr lang="en-US" sz="1200" b="1" dirty="0"/>
              <a:t> </a:t>
            </a:r>
            <a:r>
              <a:rPr lang="en-US" sz="1200" b="1" dirty="0" err="1"/>
              <a:t>cây</a:t>
            </a:r>
            <a:r>
              <a:rPr lang="en-US" sz="1200" b="1" dirty="0"/>
              <a:t>, </a:t>
            </a:r>
            <a:r>
              <a:rPr lang="en-US" sz="1200" b="1" dirty="0" err="1"/>
              <a:t>bắt</a:t>
            </a:r>
            <a:r>
              <a:rPr lang="en-US" sz="1200" b="1" dirty="0"/>
              <a:t> </a:t>
            </a:r>
            <a:r>
              <a:rPr lang="en-US" sz="1200" b="1" dirty="0" err="1"/>
              <a:t>đầu</a:t>
            </a:r>
            <a:r>
              <a:rPr lang="en-US" sz="1200" b="1" dirty="0"/>
              <a:t> </a:t>
            </a:r>
            <a:r>
              <a:rPr lang="en-US" sz="1200" b="1" dirty="0" err="1"/>
              <a:t>từ</a:t>
            </a:r>
            <a:r>
              <a:rPr lang="en-US" sz="1200" b="1" dirty="0"/>
              <a:t> </a:t>
            </a:r>
            <a:r>
              <a:rPr lang="en-US" sz="1200" b="1" dirty="0" err="1"/>
              <a:t>gốc</a:t>
            </a:r>
            <a:r>
              <a:rPr lang="en-US" sz="1200" b="1" dirty="0"/>
              <a:t> </a:t>
            </a:r>
            <a:r>
              <a:rPr lang="en-US" sz="1200" b="1" dirty="0" err="1"/>
              <a:t>sau</a:t>
            </a:r>
            <a:r>
              <a:rPr lang="en-US" sz="1200" b="1" dirty="0"/>
              <a:t> </a:t>
            </a:r>
            <a:r>
              <a:rPr lang="en-US" sz="1200" b="1" dirty="0" err="1"/>
              <a:t>đó</a:t>
            </a:r>
            <a:r>
              <a:rPr lang="en-US" sz="1200" b="1" dirty="0"/>
              <a:t> </a:t>
            </a:r>
            <a:r>
              <a:rPr lang="en-US" sz="1200" b="1" dirty="0" err="1"/>
              <a:t>là</a:t>
            </a:r>
            <a:r>
              <a:rPr lang="en-US" sz="1200" b="1" dirty="0"/>
              <a:t> </a:t>
            </a:r>
            <a:r>
              <a:rPr lang="en-US" sz="1200" b="1" dirty="0" err="1"/>
              <a:t>các</a:t>
            </a:r>
            <a:r>
              <a:rPr lang="en-US" sz="1200" b="1" dirty="0"/>
              <a:t> </a:t>
            </a:r>
            <a:r>
              <a:rPr lang="en-US" sz="1200" b="1" dirty="0" err="1"/>
              <a:t>đỉnh</a:t>
            </a:r>
            <a:r>
              <a:rPr lang="en-US" sz="1200" b="1" dirty="0"/>
              <a:t> ở </a:t>
            </a:r>
            <a:r>
              <a:rPr lang="en-US" sz="1200" b="1" dirty="0" err="1"/>
              <a:t>cấp</a:t>
            </a:r>
            <a:r>
              <a:rPr lang="en-US" sz="1200" b="1" dirty="0"/>
              <a:t> 1, </a:t>
            </a:r>
            <a:r>
              <a:rPr lang="en-US" sz="1200" b="1" dirty="0" err="1"/>
              <a:t>rồi</a:t>
            </a:r>
            <a:r>
              <a:rPr lang="en-US" sz="1200" b="1" dirty="0"/>
              <a:t> </a:t>
            </a:r>
            <a:r>
              <a:rPr lang="en-US" sz="1200" b="1" dirty="0" err="1"/>
              <a:t>cấp</a:t>
            </a:r>
            <a:r>
              <a:rPr lang="en-US" sz="1200" b="1" dirty="0"/>
              <a:t> 2,… </a:t>
            </a:r>
          </a:p>
        </p:txBody>
      </p:sp>
      <p:pic>
        <p:nvPicPr>
          <p:cNvPr id="4" name="Picture 3">
            <a:extLst>
              <a:ext uri="{FF2B5EF4-FFF2-40B4-BE49-F238E27FC236}">
                <a16:creationId xmlns:a16="http://schemas.microsoft.com/office/drawing/2014/main" id="{6E4FFBA4-4A4A-DD70-C300-E67516B39691}"/>
              </a:ext>
            </a:extLst>
          </p:cNvPr>
          <p:cNvPicPr>
            <a:picLocks noChangeAspect="1"/>
          </p:cNvPicPr>
          <p:nvPr/>
        </p:nvPicPr>
        <p:blipFill>
          <a:blip r:embed="rId3"/>
          <a:stretch>
            <a:fillRect/>
          </a:stretch>
        </p:blipFill>
        <p:spPr>
          <a:xfrm>
            <a:off x="1552554" y="1516887"/>
            <a:ext cx="6303666" cy="3240405"/>
          </a:xfrm>
          <a:prstGeom prst="rect">
            <a:avLst/>
          </a:prstGeom>
        </p:spPr>
      </p:pic>
    </p:spTree>
    <p:extLst>
      <p:ext uri="{BB962C8B-B14F-4D97-AF65-F5344CB8AC3E}">
        <p14:creationId xmlns:p14="http://schemas.microsoft.com/office/powerpoint/2010/main" val="3645876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3"/>
          <p:cNvSpPr txBox="1">
            <a:spLocks noGrp="1"/>
          </p:cNvSpPr>
          <p:nvPr>
            <p:ph type="title"/>
          </p:nvPr>
        </p:nvSpPr>
        <p:spPr>
          <a:xfrm>
            <a:off x="653279" y="445025"/>
            <a:ext cx="7704000" cy="572700"/>
          </a:xfrm>
          <a:prstGeom prst="rect">
            <a:avLst/>
          </a:prstGeom>
        </p:spPr>
        <p:txBody>
          <a:bodyPr spcFirstLastPara="1" wrap="square" lIns="91425" tIns="91425" rIns="91425" bIns="91425" anchor="t" anchorCtr="0">
            <a:noAutofit/>
          </a:bodyPr>
          <a:lstStyle/>
          <a:p>
            <a:r>
              <a:rPr lang="en-US" b="1" dirty="0" err="1"/>
              <a:t>Biểu</a:t>
            </a:r>
            <a:r>
              <a:rPr lang="en-US" b="1" dirty="0"/>
              <a:t> </a:t>
            </a:r>
            <a:r>
              <a:rPr lang="en-US" b="1" dirty="0" err="1"/>
              <a:t>diễn</a:t>
            </a:r>
            <a:r>
              <a:rPr lang="en-US" b="1" dirty="0"/>
              <a:t> </a:t>
            </a:r>
            <a:r>
              <a:rPr lang="en-US" b="1" dirty="0" err="1"/>
              <a:t>cây</a:t>
            </a:r>
            <a:r>
              <a:rPr lang="en-US" b="1" dirty="0"/>
              <a:t> </a:t>
            </a:r>
            <a:endParaRPr lang="en-US" dirty="0"/>
          </a:p>
        </p:txBody>
      </p:sp>
      <p:sp>
        <p:nvSpPr>
          <p:cNvPr id="457" name="Google Shape;457;p43"/>
          <p:cNvSpPr/>
          <p:nvPr/>
        </p:nvSpPr>
        <p:spPr>
          <a:xfrm>
            <a:off x="1696104" y="1925685"/>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 name="Google Shape;458;p43"/>
          <p:cNvSpPr/>
          <p:nvPr/>
        </p:nvSpPr>
        <p:spPr>
          <a:xfrm>
            <a:off x="3859757" y="1925685"/>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 name="Google Shape;459;p43"/>
          <p:cNvSpPr/>
          <p:nvPr/>
        </p:nvSpPr>
        <p:spPr>
          <a:xfrm>
            <a:off x="6204930" y="1925685"/>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3"/>
          <p:cNvSpPr txBox="1"/>
          <p:nvPr/>
        </p:nvSpPr>
        <p:spPr>
          <a:xfrm flipH="1">
            <a:off x="878153" y="2697791"/>
            <a:ext cx="1812300" cy="379945"/>
          </a:xfrm>
          <a:prstGeom prst="rect">
            <a:avLst/>
          </a:prstGeom>
          <a:noFill/>
          <a:ln>
            <a:noFill/>
          </a:ln>
        </p:spPr>
        <p:txBody>
          <a:bodyPr spcFirstLastPara="1" wrap="square" lIns="91425" tIns="91425" rIns="91425" bIns="91425" anchor="t" anchorCtr="0">
            <a:noAutofit/>
          </a:bodyPr>
          <a:lstStyle/>
          <a:p>
            <a:pPr lvl="0" algn="ctr"/>
            <a:r>
              <a:rPr lang="vi-VN" sz="1600" dirty="0">
                <a:solidFill>
                  <a:schemeClr val="dk1"/>
                </a:solidFill>
                <a:latin typeface="Cairo"/>
                <a:ea typeface="Cairo"/>
                <a:cs typeface="Cairo"/>
                <a:sym typeface="Cairo"/>
              </a:rPr>
              <a:t>1.  Mảng (Array)</a:t>
            </a:r>
            <a:endParaRPr sz="1600" dirty="0">
              <a:solidFill>
                <a:schemeClr val="dk1"/>
              </a:solidFill>
              <a:latin typeface="Cairo"/>
              <a:ea typeface="Cairo"/>
              <a:cs typeface="Cairo"/>
              <a:sym typeface="Cairo"/>
            </a:endParaRPr>
          </a:p>
        </p:txBody>
      </p:sp>
      <p:sp>
        <p:nvSpPr>
          <p:cNvPr id="462" name="Google Shape;462;p43"/>
          <p:cNvSpPr txBox="1"/>
          <p:nvPr/>
        </p:nvSpPr>
        <p:spPr>
          <a:xfrm flipH="1">
            <a:off x="3032210" y="2697790"/>
            <a:ext cx="1812301" cy="852000"/>
          </a:xfrm>
          <a:prstGeom prst="rect">
            <a:avLst/>
          </a:prstGeom>
          <a:noFill/>
          <a:ln>
            <a:noFill/>
          </a:ln>
        </p:spPr>
        <p:txBody>
          <a:bodyPr spcFirstLastPara="1" wrap="square" lIns="91425" tIns="91425" rIns="91425" bIns="91425" anchor="t" anchorCtr="0">
            <a:noAutofit/>
          </a:bodyPr>
          <a:lstStyle/>
          <a:p>
            <a:pPr lvl="0" algn="ctr"/>
            <a:r>
              <a:rPr lang="vi-VN" sz="1600" dirty="0">
                <a:solidFill>
                  <a:schemeClr val="tx1"/>
                </a:solidFill>
                <a:latin typeface="cảio"/>
                <a:cs typeface="Cairo" panose="020B0604020202020204" charset="-78"/>
              </a:rPr>
              <a:t>2.  </a:t>
            </a:r>
            <a:r>
              <a:rPr lang="en-US" sz="1600" dirty="0">
                <a:solidFill>
                  <a:schemeClr val="tx1"/>
                </a:solidFill>
                <a:latin typeface="cảio"/>
                <a:cs typeface="Cairo" panose="020B0604020202020204" charset="-78"/>
              </a:rPr>
              <a:t>Danh </a:t>
            </a:r>
            <a:r>
              <a:rPr lang="en-US" sz="1600" dirty="0" err="1">
                <a:solidFill>
                  <a:schemeClr val="tx1"/>
                </a:solidFill>
                <a:latin typeface="cảio"/>
                <a:cs typeface="Cairo" panose="020B0604020202020204" charset="-78"/>
              </a:rPr>
              <a:t>sách</a:t>
            </a:r>
            <a:r>
              <a:rPr lang="en-US" sz="1600" dirty="0">
                <a:solidFill>
                  <a:schemeClr val="tx1"/>
                </a:solidFill>
                <a:latin typeface="cảio"/>
                <a:cs typeface="Cairo" panose="020B0604020202020204" charset="-78"/>
              </a:rPr>
              <a:t> con (Lists of Children) </a:t>
            </a:r>
            <a:endParaRPr sz="1600" dirty="0">
              <a:solidFill>
                <a:schemeClr val="tx1"/>
              </a:solidFill>
              <a:latin typeface="cảio"/>
              <a:ea typeface="Cairo"/>
              <a:cs typeface="Cairo" panose="020B0604020202020204" charset="-78"/>
              <a:sym typeface="Cairo"/>
            </a:endParaRPr>
          </a:p>
        </p:txBody>
      </p:sp>
      <p:sp>
        <p:nvSpPr>
          <p:cNvPr id="463" name="Google Shape;463;p43"/>
          <p:cNvSpPr txBox="1"/>
          <p:nvPr/>
        </p:nvSpPr>
        <p:spPr>
          <a:xfrm flipH="1">
            <a:off x="5186268" y="2726721"/>
            <a:ext cx="2203486" cy="1576843"/>
          </a:xfrm>
          <a:prstGeom prst="rect">
            <a:avLst/>
          </a:prstGeom>
          <a:noFill/>
          <a:ln>
            <a:noFill/>
          </a:ln>
        </p:spPr>
        <p:txBody>
          <a:bodyPr spcFirstLastPara="1" wrap="square" lIns="91425" tIns="91425" rIns="91425" bIns="91425" anchor="t" anchorCtr="0">
            <a:noAutofit/>
          </a:bodyPr>
          <a:lstStyle/>
          <a:p>
            <a:r>
              <a:rPr lang="vi-VN" sz="1600" dirty="0">
                <a:solidFill>
                  <a:schemeClr val="tx1"/>
                </a:solidFill>
                <a:latin typeface="Cairo" panose="020B0604020202020204" charset="-78"/>
                <a:cs typeface="Cairo" panose="020B0604020202020204" charset="-78"/>
              </a:rPr>
              <a:t>3.  </a:t>
            </a:r>
            <a:r>
              <a:rPr lang="en-US" sz="1600" dirty="0" err="1">
                <a:solidFill>
                  <a:schemeClr val="tx1"/>
                </a:solidFill>
                <a:latin typeface="Cairo" panose="020B0604020202020204" charset="-78"/>
                <a:cs typeface="Cairo" panose="020B0604020202020204" charset="-78"/>
              </a:rPr>
              <a:t>Biểu</a:t>
            </a:r>
            <a:r>
              <a:rPr lang="en-US" sz="1600" dirty="0">
                <a:solidFill>
                  <a:schemeClr val="tx1"/>
                </a:solidFill>
                <a:latin typeface="Cairo" panose="020B0604020202020204" charset="-78"/>
                <a:cs typeface="Cairo" panose="020B0604020202020204" charset="-78"/>
              </a:rPr>
              <a:t> </a:t>
            </a:r>
            <a:r>
              <a:rPr lang="en-US" sz="1600" dirty="0" err="1">
                <a:solidFill>
                  <a:schemeClr val="tx1"/>
                </a:solidFill>
                <a:latin typeface="Cairo" panose="020B0604020202020204" charset="-78"/>
                <a:cs typeface="Cairo" panose="020B0604020202020204" charset="-78"/>
              </a:rPr>
              <a:t>diễn</a:t>
            </a:r>
            <a:r>
              <a:rPr lang="en-US" sz="1600" dirty="0">
                <a:solidFill>
                  <a:schemeClr val="tx1"/>
                </a:solidFill>
                <a:latin typeface="Cairo" panose="020B0604020202020204" charset="-78"/>
                <a:cs typeface="Cairo" panose="020B0604020202020204" charset="-78"/>
              </a:rPr>
              <a:t> con </a:t>
            </a:r>
            <a:r>
              <a:rPr lang="en-US" sz="1600" dirty="0" err="1">
                <a:solidFill>
                  <a:schemeClr val="tx1"/>
                </a:solidFill>
                <a:latin typeface="Cairo" panose="020B0604020202020204" charset="-78"/>
                <a:cs typeface="Cairo" panose="020B0604020202020204" charset="-78"/>
              </a:rPr>
              <a:t>trái</a:t>
            </a:r>
            <a:r>
              <a:rPr lang="en-US" sz="1600" dirty="0">
                <a:solidFill>
                  <a:schemeClr val="tx1"/>
                </a:solidFill>
                <a:latin typeface="Cairo" panose="020B0604020202020204" charset="-78"/>
                <a:cs typeface="Cairo" panose="020B0604020202020204" charset="-78"/>
              </a:rPr>
              <a:t> </a:t>
            </a:r>
            <a:r>
              <a:rPr lang="en-US" sz="1600" dirty="0" err="1">
                <a:solidFill>
                  <a:schemeClr val="tx1"/>
                </a:solidFill>
                <a:latin typeface="Cairo" panose="020B0604020202020204" charset="-78"/>
                <a:cs typeface="Cairo" panose="020B0604020202020204" charset="-78"/>
              </a:rPr>
              <a:t>nhất</a:t>
            </a:r>
            <a:r>
              <a:rPr lang="en-US" sz="1600" dirty="0">
                <a:solidFill>
                  <a:schemeClr val="tx1"/>
                </a:solidFill>
                <a:latin typeface="Cairo" panose="020B0604020202020204" charset="-78"/>
                <a:cs typeface="Cairo" panose="020B0604020202020204" charset="-78"/>
              </a:rPr>
              <a:t>, </a:t>
            </a:r>
            <a:r>
              <a:rPr lang="en-US" sz="1600" dirty="0" err="1">
                <a:solidFill>
                  <a:schemeClr val="tx1"/>
                </a:solidFill>
                <a:latin typeface="Cairo" panose="020B0604020202020204" charset="-78"/>
                <a:cs typeface="Cairo" panose="020B0604020202020204" charset="-78"/>
              </a:rPr>
              <a:t>anh</a:t>
            </a:r>
            <a:r>
              <a:rPr lang="en-US" sz="1600" dirty="0">
                <a:solidFill>
                  <a:schemeClr val="tx1"/>
                </a:solidFill>
                <a:latin typeface="Cairo" panose="020B0604020202020204" charset="-78"/>
                <a:cs typeface="Cairo" panose="020B0604020202020204" charset="-78"/>
              </a:rPr>
              <a:t> </a:t>
            </a:r>
            <a:r>
              <a:rPr lang="en-US" sz="1600" dirty="0" err="1">
                <a:solidFill>
                  <a:schemeClr val="tx1"/>
                </a:solidFill>
                <a:latin typeface="Cairo" panose="020B0604020202020204" charset="-78"/>
                <a:cs typeface="Cairo" panose="020B0604020202020204" charset="-78"/>
              </a:rPr>
              <a:t>em</a:t>
            </a:r>
            <a:r>
              <a:rPr lang="en-US" sz="1600" dirty="0">
                <a:solidFill>
                  <a:schemeClr val="tx1"/>
                </a:solidFill>
                <a:latin typeface="Cairo" panose="020B0604020202020204" charset="-78"/>
                <a:cs typeface="Cairo" panose="020B0604020202020204" charset="-78"/>
              </a:rPr>
              <a:t> </a:t>
            </a:r>
            <a:r>
              <a:rPr lang="en-US" sz="1600" dirty="0" err="1">
                <a:solidFill>
                  <a:schemeClr val="tx1"/>
                </a:solidFill>
                <a:latin typeface="Cairo" panose="020B0604020202020204" charset="-78"/>
                <a:cs typeface="Cairo" panose="020B0604020202020204" charset="-78"/>
              </a:rPr>
              <a:t>phải</a:t>
            </a:r>
            <a:r>
              <a:rPr lang="en-US" sz="1600" dirty="0">
                <a:solidFill>
                  <a:schemeClr val="tx1"/>
                </a:solidFill>
                <a:latin typeface="Cairo" panose="020B0604020202020204" charset="-78"/>
                <a:cs typeface="Cairo" panose="020B0604020202020204" charset="-78"/>
              </a:rPr>
              <a:t> (Leftmost-Child, Right-Sibling)</a:t>
            </a:r>
            <a:r>
              <a:rPr lang="vi-VN" sz="1600" dirty="0">
                <a:solidFill>
                  <a:schemeClr val="tx1"/>
                </a:solidFill>
                <a:latin typeface="Cairo" panose="020B0604020202020204" charset="-78"/>
                <a:cs typeface="Cairo" panose="020B0604020202020204" charset="-78"/>
              </a:rPr>
              <a:t> </a:t>
            </a:r>
            <a:r>
              <a:rPr lang="en-US" sz="1600" dirty="0">
                <a:solidFill>
                  <a:schemeClr val="tx1"/>
                </a:solidFill>
                <a:latin typeface="Cairo" panose="020B0604020202020204" charset="-78"/>
                <a:cs typeface="Cairo" panose="020B0604020202020204" charset="-78"/>
              </a:rPr>
              <a:t>representation) </a:t>
            </a:r>
          </a:p>
        </p:txBody>
      </p:sp>
      <p:cxnSp>
        <p:nvCxnSpPr>
          <p:cNvPr id="465" name="Google Shape;465;p43"/>
          <p:cNvCxnSpPr>
            <a:cxnSpLocks/>
            <a:stCxn id="457" idx="6"/>
            <a:endCxn id="458" idx="2"/>
          </p:cNvCxnSpPr>
          <p:nvPr/>
        </p:nvCxnSpPr>
        <p:spPr>
          <a:xfrm>
            <a:off x="1872504" y="2013885"/>
            <a:ext cx="1987253" cy="0"/>
          </a:xfrm>
          <a:prstGeom prst="straightConnector1">
            <a:avLst/>
          </a:prstGeom>
          <a:noFill/>
          <a:ln w="9525" cap="flat" cmpd="sng">
            <a:solidFill>
              <a:schemeClr val="dk1"/>
            </a:solidFill>
            <a:prstDash val="solid"/>
            <a:round/>
            <a:headEnd type="none" w="med" len="med"/>
            <a:tailEnd type="none" w="med" len="med"/>
          </a:ln>
        </p:spPr>
      </p:cxnSp>
      <p:cxnSp>
        <p:nvCxnSpPr>
          <p:cNvPr id="466" name="Google Shape;466;p43"/>
          <p:cNvCxnSpPr>
            <a:cxnSpLocks/>
            <a:stCxn id="458" idx="6"/>
            <a:endCxn id="459" idx="2"/>
          </p:cNvCxnSpPr>
          <p:nvPr/>
        </p:nvCxnSpPr>
        <p:spPr>
          <a:xfrm>
            <a:off x="4036157" y="2013885"/>
            <a:ext cx="2168773" cy="0"/>
          </a:xfrm>
          <a:prstGeom prst="straightConnector1">
            <a:avLst/>
          </a:prstGeom>
          <a:noFill/>
          <a:ln w="9525" cap="flat" cmpd="sng">
            <a:solidFill>
              <a:schemeClr val="dk1"/>
            </a:solidFill>
            <a:prstDash val="solid"/>
            <a:round/>
            <a:headEnd type="none" w="med" len="med"/>
            <a:tailEnd type="none" w="med" len="med"/>
          </a:ln>
        </p:spPr>
      </p:cxnSp>
      <p:cxnSp>
        <p:nvCxnSpPr>
          <p:cNvPr id="468" name="Google Shape;468;p43"/>
          <p:cNvCxnSpPr>
            <a:cxnSpLocks/>
            <a:stCxn id="457" idx="4"/>
            <a:endCxn id="461" idx="0"/>
          </p:cNvCxnSpPr>
          <p:nvPr/>
        </p:nvCxnSpPr>
        <p:spPr>
          <a:xfrm flipH="1">
            <a:off x="1784303" y="2102085"/>
            <a:ext cx="1" cy="595706"/>
          </a:xfrm>
          <a:prstGeom prst="straightConnector1">
            <a:avLst/>
          </a:prstGeom>
          <a:noFill/>
          <a:ln w="9525" cap="flat" cmpd="sng">
            <a:solidFill>
              <a:schemeClr val="dk1"/>
            </a:solidFill>
            <a:prstDash val="solid"/>
            <a:round/>
            <a:headEnd type="none" w="med" len="med"/>
            <a:tailEnd type="none" w="med" len="med"/>
          </a:ln>
        </p:spPr>
      </p:cxnSp>
      <p:cxnSp>
        <p:nvCxnSpPr>
          <p:cNvPr id="469" name="Google Shape;469;p43"/>
          <p:cNvCxnSpPr>
            <a:cxnSpLocks/>
            <a:stCxn id="458" idx="4"/>
            <a:endCxn id="462" idx="0"/>
          </p:cNvCxnSpPr>
          <p:nvPr/>
        </p:nvCxnSpPr>
        <p:spPr>
          <a:xfrm flipH="1">
            <a:off x="3938360" y="2102085"/>
            <a:ext cx="9597" cy="595705"/>
          </a:xfrm>
          <a:prstGeom prst="straightConnector1">
            <a:avLst/>
          </a:prstGeom>
          <a:noFill/>
          <a:ln w="9525" cap="flat" cmpd="sng">
            <a:solidFill>
              <a:schemeClr val="dk1"/>
            </a:solidFill>
            <a:prstDash val="solid"/>
            <a:round/>
            <a:headEnd type="none" w="med" len="med"/>
            <a:tailEnd type="none" w="med" len="med"/>
          </a:ln>
        </p:spPr>
      </p:cxnSp>
      <p:cxnSp>
        <p:nvCxnSpPr>
          <p:cNvPr id="470" name="Google Shape;470;p43"/>
          <p:cNvCxnSpPr>
            <a:cxnSpLocks/>
            <a:stCxn id="459" idx="4"/>
            <a:endCxn id="463" idx="0"/>
          </p:cNvCxnSpPr>
          <p:nvPr/>
        </p:nvCxnSpPr>
        <p:spPr>
          <a:xfrm flipH="1">
            <a:off x="6288011" y="2102085"/>
            <a:ext cx="5119" cy="624636"/>
          </a:xfrm>
          <a:prstGeom prst="straightConnector1">
            <a:avLst/>
          </a:prstGeom>
          <a:noFill/>
          <a:ln w="9525" cap="flat" cmpd="sng">
            <a:solidFill>
              <a:schemeClr val="dk1"/>
            </a:solidFill>
            <a:prstDash val="solid"/>
            <a:round/>
            <a:headEnd type="none" w="med" len="med"/>
            <a:tailEnd type="none" w="med" len="med"/>
          </a:ln>
        </p:spPr>
      </p:cxnSp>
      <p:sp>
        <p:nvSpPr>
          <p:cNvPr id="39" name="Google Shape;456;p43">
            <a:extLst>
              <a:ext uri="{FF2B5EF4-FFF2-40B4-BE49-F238E27FC236}">
                <a16:creationId xmlns:a16="http://schemas.microsoft.com/office/drawing/2014/main" id="{F6381598-EE40-8B85-8E85-523D53D5E38F}"/>
              </a:ext>
            </a:extLst>
          </p:cNvPr>
          <p:cNvSpPr txBox="1">
            <a:spLocks/>
          </p:cNvSpPr>
          <p:nvPr/>
        </p:nvSpPr>
        <p:spPr>
          <a:xfrm>
            <a:off x="653279" y="1122238"/>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1" i="0" u="none" strike="noStrike" cap="none">
                <a:solidFill>
                  <a:schemeClr val="dk1"/>
                </a:solidFill>
                <a:latin typeface="Space Grotesk"/>
                <a:ea typeface="Space Grotesk"/>
                <a:cs typeface="Space Grotesk"/>
                <a:sym typeface="Space Grotesk"/>
              </a:defRPr>
            </a:lvl9pPr>
          </a:lstStyle>
          <a:p>
            <a:pPr lvl="0"/>
            <a:r>
              <a:rPr lang="en-US" sz="2000" dirty="0" err="1"/>
              <a:t>Cây</a:t>
            </a:r>
            <a:r>
              <a:rPr lang="en-US" sz="2000" dirty="0"/>
              <a:t> </a:t>
            </a:r>
            <a:r>
              <a:rPr lang="en-US" sz="2000" dirty="0" err="1"/>
              <a:t>có</a:t>
            </a:r>
            <a:r>
              <a:rPr lang="en-US" sz="2000" dirty="0"/>
              <a:t> </a:t>
            </a:r>
            <a:r>
              <a:rPr lang="en-US" sz="2000" dirty="0" err="1"/>
              <a:t>thể</a:t>
            </a:r>
            <a:r>
              <a:rPr lang="en-US" sz="2000" dirty="0"/>
              <a:t> </a:t>
            </a:r>
            <a:r>
              <a:rPr lang="en-US" sz="2000" dirty="0" err="1"/>
              <a:t>được</a:t>
            </a:r>
            <a:r>
              <a:rPr lang="en-US" sz="2000" dirty="0"/>
              <a:t> </a:t>
            </a:r>
            <a:r>
              <a:rPr lang="en-US" sz="2000" dirty="0" err="1"/>
              <a:t>biểu</a:t>
            </a:r>
            <a:r>
              <a:rPr lang="en-US" sz="2000" dirty="0"/>
              <a:t> </a:t>
            </a:r>
            <a:r>
              <a:rPr lang="en-US" sz="2000" dirty="0" err="1"/>
              <a:t>diễn</a:t>
            </a:r>
            <a:r>
              <a:rPr lang="en-US" sz="2000" dirty="0"/>
              <a:t> </a:t>
            </a:r>
            <a:r>
              <a:rPr lang="en-US" sz="2000" dirty="0" err="1"/>
              <a:t>trong</a:t>
            </a:r>
            <a:r>
              <a:rPr lang="en-US" sz="2000" dirty="0"/>
              <a:t> </a:t>
            </a:r>
            <a:r>
              <a:rPr lang="en-US" sz="2000" dirty="0" err="1"/>
              <a:t>bộ</a:t>
            </a:r>
            <a:r>
              <a:rPr lang="en-US" sz="2000" dirty="0"/>
              <a:t> </a:t>
            </a:r>
            <a:r>
              <a:rPr lang="en-US" sz="2000" dirty="0" err="1"/>
              <a:t>nhớ</a:t>
            </a:r>
            <a:r>
              <a:rPr lang="en-US" sz="2000" dirty="0"/>
              <a:t> </a:t>
            </a:r>
            <a:r>
              <a:rPr lang="en-US" sz="2000" dirty="0" err="1"/>
              <a:t>theo</a:t>
            </a:r>
            <a:r>
              <a:rPr lang="en-US" sz="2000" dirty="0"/>
              <a:t> </a:t>
            </a:r>
            <a:r>
              <a:rPr lang="en-US" sz="2000" dirty="0" err="1"/>
              <a:t>nhiều</a:t>
            </a:r>
            <a:r>
              <a:rPr lang="en-US" sz="2000" dirty="0"/>
              <a:t> </a:t>
            </a:r>
            <a:r>
              <a:rPr lang="en-US" sz="2000" dirty="0" err="1"/>
              <a:t>cách</a:t>
            </a:r>
            <a:r>
              <a:rPr lang="en-US" sz="2000"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27D90-2ECA-6C1D-30F1-89FF86844A89}"/>
              </a:ext>
            </a:extLst>
          </p:cNvPr>
          <p:cNvSpPr>
            <a:spLocks noGrp="1"/>
          </p:cNvSpPr>
          <p:nvPr>
            <p:ph type="title"/>
          </p:nvPr>
        </p:nvSpPr>
        <p:spPr/>
        <p:txBody>
          <a:bodyPr/>
          <a:lstStyle/>
          <a:p>
            <a:r>
              <a:rPr lang="vi-VN" sz="2400" b="1" dirty="0"/>
              <a:t>1.  </a:t>
            </a:r>
            <a:r>
              <a:rPr lang="en-US" sz="2400" b="1" dirty="0" err="1"/>
              <a:t>Mảng</a:t>
            </a:r>
            <a:r>
              <a:rPr lang="en-US" sz="2400" b="1" dirty="0"/>
              <a:t> (Array) </a:t>
            </a:r>
            <a:br>
              <a:rPr lang="en-US" sz="2400" b="1" dirty="0"/>
            </a:br>
            <a:endParaRPr lang="en-US" sz="2400" b="1" dirty="0"/>
          </a:p>
        </p:txBody>
      </p:sp>
      <p:sp>
        <p:nvSpPr>
          <p:cNvPr id="3" name="Subtitle 2">
            <a:extLst>
              <a:ext uri="{FF2B5EF4-FFF2-40B4-BE49-F238E27FC236}">
                <a16:creationId xmlns:a16="http://schemas.microsoft.com/office/drawing/2014/main" id="{8D69FA52-6009-7239-21D3-256E1B9DDA88}"/>
              </a:ext>
            </a:extLst>
          </p:cNvPr>
          <p:cNvSpPr>
            <a:spLocks noGrp="1"/>
          </p:cNvSpPr>
          <p:nvPr>
            <p:ph type="subTitle" idx="1"/>
          </p:nvPr>
        </p:nvSpPr>
        <p:spPr>
          <a:xfrm>
            <a:off x="358400" y="1503255"/>
            <a:ext cx="3931101" cy="740194"/>
          </a:xfrm>
        </p:spPr>
        <p:txBody>
          <a:bodyPr/>
          <a:lstStyle/>
          <a:p>
            <a:pPr>
              <a:buFont typeface="Wingdings" panose="05000000000000000000" pitchFamily="2" charset="2"/>
              <a:buChar char="Ø"/>
            </a:pPr>
            <a:r>
              <a:rPr lang="vi-VN" dirty="0"/>
              <a:t>Đối với một cây nhị phân đầy đủ, ta có thể đánh số cho các nút của cây theo thứ tự lần lượt từ mức 1, hết mức này tới mức khác và từ trái qua phải đối với các nút ở mỗi mức:</a:t>
            </a:r>
            <a:endParaRPr lang="en-US" dirty="0"/>
          </a:p>
        </p:txBody>
      </p:sp>
      <p:sp>
        <p:nvSpPr>
          <p:cNvPr id="4" name="Subtitle 3">
            <a:extLst>
              <a:ext uri="{FF2B5EF4-FFF2-40B4-BE49-F238E27FC236}">
                <a16:creationId xmlns:a16="http://schemas.microsoft.com/office/drawing/2014/main" id="{74E60A5A-2DF8-820F-52F9-DBCE9286E1DA}"/>
              </a:ext>
            </a:extLst>
          </p:cNvPr>
          <p:cNvSpPr>
            <a:spLocks noGrp="1"/>
          </p:cNvSpPr>
          <p:nvPr>
            <p:ph type="subTitle" idx="2"/>
          </p:nvPr>
        </p:nvSpPr>
        <p:spPr>
          <a:xfrm>
            <a:off x="358400" y="3661410"/>
            <a:ext cx="3218700" cy="1207800"/>
          </a:xfrm>
        </p:spPr>
        <p:txBody>
          <a:bodyPr/>
          <a:lstStyle/>
          <a:p>
            <a:pPr>
              <a:buFont typeface="Wingdings" panose="05000000000000000000" pitchFamily="2" charset="2"/>
              <a:buChar char="Ø"/>
            </a:pPr>
            <a:r>
              <a:rPr lang="vi-VN" dirty="0"/>
              <a:t>Chẳng hạn với cây ở hình bên trên, thì mảng tree sẽ như sau:</a:t>
            </a:r>
            <a:endParaRPr lang="en-US" dirty="0"/>
          </a:p>
        </p:txBody>
      </p:sp>
      <p:sp>
        <p:nvSpPr>
          <p:cNvPr id="7" name="Subtitle 6">
            <a:extLst>
              <a:ext uri="{FF2B5EF4-FFF2-40B4-BE49-F238E27FC236}">
                <a16:creationId xmlns:a16="http://schemas.microsoft.com/office/drawing/2014/main" id="{EB9470C0-4E4B-11B7-3824-B3295CA18EA1}"/>
              </a:ext>
            </a:extLst>
          </p:cNvPr>
          <p:cNvSpPr>
            <a:spLocks noGrp="1"/>
          </p:cNvSpPr>
          <p:nvPr>
            <p:ph type="subTitle" idx="5"/>
          </p:nvPr>
        </p:nvSpPr>
        <p:spPr>
          <a:xfrm>
            <a:off x="609601" y="772776"/>
            <a:ext cx="7129346" cy="572699"/>
          </a:xfrm>
        </p:spPr>
        <p:txBody>
          <a:bodyPr/>
          <a:lstStyle/>
          <a:p>
            <a:pPr lvl="0">
              <a:buSzPct val="100000"/>
              <a:buFont typeface="Wingdings" panose="05000000000000000000" pitchFamily="2" charset="2"/>
              <a:buChar char="q"/>
            </a:pPr>
            <a:r>
              <a:rPr lang="vi-VN" sz="1400" dirty="0"/>
              <a:t>Để </a:t>
            </a:r>
            <a:r>
              <a:rPr lang="en-US" sz="1400" dirty="0" err="1"/>
              <a:t>biểu</a:t>
            </a:r>
            <a:r>
              <a:rPr lang="en-US" sz="1400" dirty="0"/>
              <a:t> </a:t>
            </a:r>
            <a:r>
              <a:rPr lang="en-US" sz="1400" dirty="0" err="1"/>
              <a:t>diễn</a:t>
            </a:r>
            <a:r>
              <a:rPr lang="en-US" sz="1400" dirty="0"/>
              <a:t> </a:t>
            </a:r>
            <a:r>
              <a:rPr lang="en-US" sz="1400" dirty="0" err="1"/>
              <a:t>cây</a:t>
            </a:r>
            <a:r>
              <a:rPr lang="en-US" sz="1400" dirty="0"/>
              <a:t> </a:t>
            </a:r>
            <a:r>
              <a:rPr lang="en-US" sz="1400" dirty="0" err="1"/>
              <a:t>nhi</a:t>
            </a:r>
            <a:r>
              <a:rPr lang="en-US" sz="1400" dirty="0"/>
              <a:t>̣ </a:t>
            </a:r>
            <a:r>
              <a:rPr lang="en-US" sz="1400" dirty="0" err="1"/>
              <a:t>phân</a:t>
            </a:r>
            <a:r>
              <a:rPr lang="en-US" sz="1400" dirty="0"/>
              <a:t>, </a:t>
            </a:r>
            <a:r>
              <a:rPr lang="en-US" sz="1400" dirty="0" err="1"/>
              <a:t>cách</a:t>
            </a:r>
            <a:r>
              <a:rPr lang="en-US" sz="1400" dirty="0"/>
              <a:t> </a:t>
            </a:r>
            <a:r>
              <a:rPr lang="vi-VN" sz="1400" dirty="0"/>
              <a:t>phổ </a:t>
            </a:r>
            <a:r>
              <a:rPr lang="en-US" sz="1400" dirty="0" err="1"/>
              <a:t>biến</a:t>
            </a:r>
            <a:r>
              <a:rPr lang="en-US" sz="1400" dirty="0"/>
              <a:t> </a:t>
            </a:r>
            <a:r>
              <a:rPr lang="en-US" sz="1400" dirty="0" err="1"/>
              <a:t>nhất</a:t>
            </a:r>
            <a:r>
              <a:rPr lang="en-US" sz="1400" dirty="0"/>
              <a:t> là </a:t>
            </a:r>
            <a:r>
              <a:rPr lang="vi-VN" sz="1400" dirty="0"/>
              <a:t>sử </a:t>
            </a:r>
            <a:r>
              <a:rPr lang="en-US" sz="1400" dirty="0" err="1"/>
              <a:t>dụng</a:t>
            </a:r>
            <a:r>
              <a:rPr lang="en-US" sz="1400" dirty="0"/>
              <a:t> </a:t>
            </a:r>
            <a:r>
              <a:rPr lang="en-US" sz="1400" dirty="0" err="1"/>
              <a:t>mảng</a:t>
            </a:r>
            <a:r>
              <a:rPr lang="en-US" sz="1400" dirty="0"/>
              <a:t>.</a:t>
            </a:r>
          </a:p>
        </p:txBody>
      </p:sp>
      <p:pic>
        <p:nvPicPr>
          <p:cNvPr id="8" name="Picture 7">
            <a:extLst>
              <a:ext uri="{FF2B5EF4-FFF2-40B4-BE49-F238E27FC236}">
                <a16:creationId xmlns:a16="http://schemas.microsoft.com/office/drawing/2014/main" id="{6788D9E3-4317-EFC3-9F67-58B4619331FD}"/>
              </a:ext>
            </a:extLst>
          </p:cNvPr>
          <p:cNvPicPr>
            <a:picLocks noChangeAspect="1"/>
          </p:cNvPicPr>
          <p:nvPr/>
        </p:nvPicPr>
        <p:blipFill>
          <a:blip r:embed="rId2"/>
          <a:srcRect l="-1" t="-1548" r="382" b="-1"/>
          <a:stretch>
            <a:fillRect/>
          </a:stretch>
        </p:blipFill>
        <p:spPr>
          <a:xfrm>
            <a:off x="4342272" y="1422779"/>
            <a:ext cx="3396675" cy="2025813"/>
          </a:xfrm>
          <a:prstGeom prst="flowChartAlternateProcess">
            <a:avLst/>
          </a:prstGeom>
        </p:spPr>
      </p:pic>
      <p:pic>
        <p:nvPicPr>
          <p:cNvPr id="6" name="Picture 5">
            <a:extLst>
              <a:ext uri="{FF2B5EF4-FFF2-40B4-BE49-F238E27FC236}">
                <a16:creationId xmlns:a16="http://schemas.microsoft.com/office/drawing/2014/main" id="{1908981E-9503-BD9F-D919-A32DEACEAB38}"/>
              </a:ext>
            </a:extLst>
          </p:cNvPr>
          <p:cNvPicPr>
            <a:picLocks noChangeAspect="1"/>
          </p:cNvPicPr>
          <p:nvPr/>
        </p:nvPicPr>
        <p:blipFill>
          <a:blip r:embed="rId3"/>
          <a:stretch>
            <a:fillRect/>
          </a:stretch>
        </p:blipFill>
        <p:spPr>
          <a:xfrm>
            <a:off x="3956081" y="3661410"/>
            <a:ext cx="4467919" cy="740194"/>
          </a:xfrm>
          <a:prstGeom prst="rect">
            <a:avLst/>
          </a:prstGeom>
        </p:spPr>
      </p:pic>
    </p:spTree>
    <p:extLst>
      <p:ext uri="{BB962C8B-B14F-4D97-AF65-F5344CB8AC3E}">
        <p14:creationId xmlns:p14="http://schemas.microsoft.com/office/powerpoint/2010/main" val="2918217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56336-42D9-4C3B-2B3F-9C03627F8DA9}"/>
              </a:ext>
            </a:extLst>
          </p:cNvPr>
          <p:cNvSpPr>
            <a:spLocks noGrp="1"/>
          </p:cNvSpPr>
          <p:nvPr>
            <p:ph type="title"/>
          </p:nvPr>
        </p:nvSpPr>
        <p:spPr/>
        <p:txBody>
          <a:bodyPr/>
          <a:lstStyle/>
          <a:p>
            <a:r>
              <a:rPr lang="vi-VN" sz="2400" b="1" dirty="0"/>
              <a:t>2.  </a:t>
            </a:r>
            <a:r>
              <a:rPr lang="en-US" sz="2400" b="1" dirty="0"/>
              <a:t>Danh </a:t>
            </a:r>
            <a:r>
              <a:rPr lang="en-US" sz="2400" b="1" dirty="0" err="1"/>
              <a:t>sách</a:t>
            </a:r>
            <a:r>
              <a:rPr lang="en-US" sz="2400" b="1" dirty="0"/>
              <a:t> con (Lists of Children) </a:t>
            </a:r>
          </a:p>
        </p:txBody>
      </p:sp>
      <p:sp>
        <p:nvSpPr>
          <p:cNvPr id="3" name="Subtitle 2">
            <a:extLst>
              <a:ext uri="{FF2B5EF4-FFF2-40B4-BE49-F238E27FC236}">
                <a16:creationId xmlns:a16="http://schemas.microsoft.com/office/drawing/2014/main" id="{0504FCD5-E50A-66BB-EBD9-0DEBD27F7759}"/>
              </a:ext>
            </a:extLst>
          </p:cNvPr>
          <p:cNvSpPr>
            <a:spLocks noGrp="1"/>
          </p:cNvSpPr>
          <p:nvPr>
            <p:ph type="subTitle" idx="1"/>
          </p:nvPr>
        </p:nvSpPr>
        <p:spPr>
          <a:xfrm>
            <a:off x="720000" y="941425"/>
            <a:ext cx="7933371" cy="850204"/>
          </a:xfrm>
        </p:spPr>
        <p:txBody>
          <a:bodyPr/>
          <a:lstStyle/>
          <a:p>
            <a:pPr>
              <a:buClr>
                <a:schemeClr val="tx1"/>
              </a:buClr>
            </a:pPr>
            <a:r>
              <a:rPr lang="en-US" sz="1400" dirty="0"/>
              <a:t>Header : </a:t>
            </a:r>
            <a:r>
              <a:rPr lang="en-US" sz="1400" dirty="0" err="1"/>
              <a:t>mảng</a:t>
            </a:r>
            <a:r>
              <a:rPr lang="en-US" sz="1400" dirty="0"/>
              <a:t> </a:t>
            </a:r>
            <a:r>
              <a:rPr lang="en-US" sz="1400" dirty="0" err="1"/>
              <a:t>các</a:t>
            </a:r>
            <a:r>
              <a:rPr lang="en-US" sz="1400" dirty="0"/>
              <a:t> con </a:t>
            </a:r>
            <a:r>
              <a:rPr lang="en-US" sz="1400" dirty="0" err="1"/>
              <a:t>trỏ</a:t>
            </a:r>
            <a:r>
              <a:rPr lang="en-US" sz="1400" dirty="0"/>
              <a:t> </a:t>
            </a:r>
          </a:p>
          <a:p>
            <a:pPr lvl="0">
              <a:buClr>
                <a:schemeClr val="tx1"/>
              </a:buClr>
            </a:pPr>
            <a:r>
              <a:rPr lang="en-US" sz="1400" dirty="0" err="1"/>
              <a:t>Mỗi</a:t>
            </a:r>
            <a:r>
              <a:rPr lang="en-US" sz="1400" dirty="0"/>
              <a:t> con </a:t>
            </a:r>
            <a:r>
              <a:rPr lang="en-US" sz="1400" dirty="0" err="1"/>
              <a:t>trỏ</a:t>
            </a:r>
            <a:r>
              <a:rPr lang="en-US" sz="1400" dirty="0"/>
              <a:t> header[</a:t>
            </a:r>
            <a:r>
              <a:rPr lang="en-US" sz="1400" dirty="0" err="1"/>
              <a:t>i</a:t>
            </a:r>
            <a:r>
              <a:rPr lang="en-US" sz="1400" dirty="0"/>
              <a:t>] </a:t>
            </a:r>
            <a:r>
              <a:rPr lang="en-US" sz="1400" dirty="0" err="1"/>
              <a:t>trỏ</a:t>
            </a:r>
            <a:r>
              <a:rPr lang="en-US" sz="1400" dirty="0"/>
              <a:t> </a:t>
            </a:r>
            <a:r>
              <a:rPr lang="en-US" sz="1400" dirty="0" err="1"/>
              <a:t>đến</a:t>
            </a:r>
            <a:r>
              <a:rPr lang="en-US" sz="1400" dirty="0"/>
              <a:t> </a:t>
            </a:r>
            <a:r>
              <a:rPr lang="en-US" sz="1400" dirty="0" err="1"/>
              <a:t>đầu</a:t>
            </a:r>
            <a:r>
              <a:rPr lang="en-US" sz="1400" dirty="0"/>
              <a:t> </a:t>
            </a:r>
            <a:r>
              <a:rPr lang="en-US" sz="1400" dirty="0" err="1"/>
              <a:t>danh</a:t>
            </a:r>
            <a:r>
              <a:rPr lang="en-US" sz="1400" dirty="0"/>
              <a:t> </a:t>
            </a:r>
            <a:r>
              <a:rPr lang="en-US" sz="1400" dirty="0" err="1"/>
              <a:t>sách</a:t>
            </a:r>
            <a:r>
              <a:rPr lang="en-US" sz="1400" dirty="0"/>
              <a:t> </a:t>
            </a:r>
            <a:r>
              <a:rPr lang="en-US" sz="1400" dirty="0" err="1"/>
              <a:t>chứa</a:t>
            </a:r>
            <a:r>
              <a:rPr lang="en-US" sz="1400" dirty="0"/>
              <a:t> </a:t>
            </a:r>
            <a:r>
              <a:rPr lang="en-US" sz="1400" dirty="0" err="1"/>
              <a:t>các</a:t>
            </a:r>
            <a:r>
              <a:rPr lang="en-US" sz="1400" dirty="0"/>
              <a:t> con </a:t>
            </a:r>
            <a:r>
              <a:rPr lang="en-US" sz="1400" dirty="0" err="1"/>
              <a:t>của</a:t>
            </a:r>
            <a:r>
              <a:rPr lang="en-US" sz="1400" dirty="0"/>
              <a:t> </a:t>
            </a:r>
            <a:r>
              <a:rPr lang="en-US" sz="1400" dirty="0" err="1"/>
              <a:t>nút</a:t>
            </a:r>
            <a:r>
              <a:rPr lang="en-US" sz="1400" dirty="0"/>
              <a:t> </a:t>
            </a:r>
            <a:r>
              <a:rPr lang="en-US" sz="1400" dirty="0" err="1"/>
              <a:t>i</a:t>
            </a:r>
            <a:r>
              <a:rPr lang="en-US" sz="1400" dirty="0"/>
              <a:t> </a:t>
            </a:r>
            <a:r>
              <a:rPr lang="en-US" sz="1400" dirty="0" err="1"/>
              <a:t>trên</a:t>
            </a:r>
            <a:r>
              <a:rPr lang="en-US" sz="1400" dirty="0"/>
              <a:t> </a:t>
            </a:r>
            <a:r>
              <a:rPr lang="en-US" sz="1400" dirty="0" err="1"/>
              <a:t>cây</a:t>
            </a:r>
            <a:r>
              <a:rPr lang="en-US" sz="1400" dirty="0"/>
              <a:t> </a:t>
            </a:r>
          </a:p>
          <a:p>
            <a:pPr lvl="0">
              <a:buClr>
                <a:schemeClr val="tx1"/>
              </a:buClr>
            </a:pPr>
            <a:r>
              <a:rPr lang="en-US" sz="1400" dirty="0"/>
              <a:t>Danh </a:t>
            </a:r>
            <a:r>
              <a:rPr lang="en-US" sz="1400" dirty="0" err="1"/>
              <a:t>sách</a:t>
            </a:r>
            <a:r>
              <a:rPr lang="en-US" sz="1400" dirty="0"/>
              <a:t> </a:t>
            </a:r>
            <a:r>
              <a:rPr lang="en-US" sz="1400" dirty="0" err="1"/>
              <a:t>các</a:t>
            </a:r>
            <a:r>
              <a:rPr lang="en-US" sz="1400" dirty="0"/>
              <a:t> con </a:t>
            </a:r>
            <a:r>
              <a:rPr lang="en-US" sz="1400" dirty="0" err="1"/>
              <a:t>của</a:t>
            </a:r>
            <a:r>
              <a:rPr lang="en-US" sz="1400" dirty="0"/>
              <a:t> </a:t>
            </a:r>
            <a:r>
              <a:rPr lang="en-US" sz="1400" dirty="0" err="1"/>
              <a:t>nút</a:t>
            </a:r>
            <a:r>
              <a:rPr lang="en-US" sz="1400" dirty="0"/>
              <a:t> i: </a:t>
            </a:r>
            <a:r>
              <a:rPr lang="en-US" sz="1400" dirty="0" err="1"/>
              <a:t>được</a:t>
            </a:r>
            <a:r>
              <a:rPr lang="en-US" sz="1400" dirty="0"/>
              <a:t> </a:t>
            </a:r>
            <a:r>
              <a:rPr lang="en-US" sz="1400" dirty="0" err="1"/>
              <a:t>biểu</a:t>
            </a:r>
            <a:r>
              <a:rPr lang="en-US" sz="1400" dirty="0"/>
              <a:t> </a:t>
            </a:r>
            <a:r>
              <a:rPr lang="en-US" sz="1400" dirty="0" err="1"/>
              <a:t>diễn</a:t>
            </a:r>
            <a:r>
              <a:rPr lang="en-US" sz="1400" dirty="0"/>
              <a:t> </a:t>
            </a:r>
            <a:r>
              <a:rPr lang="en-US" sz="1400" dirty="0" err="1"/>
              <a:t>bởi</a:t>
            </a:r>
            <a:r>
              <a:rPr lang="en-US" sz="1400" dirty="0"/>
              <a:t> 1 </a:t>
            </a:r>
            <a:r>
              <a:rPr lang="en-US" sz="1400" dirty="0" err="1"/>
              <a:t>danh</a:t>
            </a:r>
            <a:r>
              <a:rPr lang="en-US" sz="1400" dirty="0"/>
              <a:t> </a:t>
            </a:r>
            <a:r>
              <a:rPr lang="en-US" sz="1400" dirty="0" err="1"/>
              <a:t>sách</a:t>
            </a:r>
            <a:r>
              <a:rPr lang="en-US" sz="1400" dirty="0"/>
              <a:t> </a:t>
            </a:r>
            <a:r>
              <a:rPr lang="en-US" sz="1400" dirty="0" err="1"/>
              <a:t>liên</a:t>
            </a:r>
            <a:r>
              <a:rPr lang="en-US" sz="1400" dirty="0"/>
              <a:t> </a:t>
            </a:r>
            <a:r>
              <a:rPr lang="en-US" sz="1400" dirty="0" err="1"/>
              <a:t>kết</a:t>
            </a:r>
            <a:r>
              <a:rPr lang="en-US" sz="1400" dirty="0"/>
              <a:t> </a:t>
            </a:r>
          </a:p>
          <a:p>
            <a:endParaRPr lang="en-US" dirty="0"/>
          </a:p>
        </p:txBody>
      </p:sp>
      <p:pic>
        <p:nvPicPr>
          <p:cNvPr id="4" name="Picture 3" descr="A diagram of a diagram of a diagram&#10;&#10;AI-generated content may be incorrect.">
            <a:extLst>
              <a:ext uri="{FF2B5EF4-FFF2-40B4-BE49-F238E27FC236}">
                <a16:creationId xmlns:a16="http://schemas.microsoft.com/office/drawing/2014/main" id="{99F1CFEE-BBCE-F575-0E7B-D6DBB71506B2}"/>
              </a:ext>
            </a:extLst>
          </p:cNvPr>
          <p:cNvPicPr>
            <a:picLocks noChangeAspect="1"/>
          </p:cNvPicPr>
          <p:nvPr/>
        </p:nvPicPr>
        <p:blipFill>
          <a:blip r:embed="rId2"/>
          <a:stretch>
            <a:fillRect/>
          </a:stretch>
        </p:blipFill>
        <p:spPr>
          <a:xfrm>
            <a:off x="1236028" y="1971358"/>
            <a:ext cx="6671944" cy="2909709"/>
          </a:xfrm>
          <a:prstGeom prst="rect">
            <a:avLst/>
          </a:prstGeom>
        </p:spPr>
      </p:pic>
    </p:spTree>
    <p:extLst>
      <p:ext uri="{BB962C8B-B14F-4D97-AF65-F5344CB8AC3E}">
        <p14:creationId xmlns:p14="http://schemas.microsoft.com/office/powerpoint/2010/main" val="3261817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761DD68-F604-1589-2F10-1A4188041D3E}"/>
              </a:ext>
            </a:extLst>
          </p:cNvPr>
          <p:cNvSpPr>
            <a:spLocks noGrp="1"/>
          </p:cNvSpPr>
          <p:nvPr>
            <p:ph type="subTitle" idx="1"/>
          </p:nvPr>
        </p:nvSpPr>
        <p:spPr>
          <a:xfrm>
            <a:off x="526687" y="1259985"/>
            <a:ext cx="4469058" cy="1177950"/>
          </a:xfrm>
        </p:spPr>
        <p:txBody>
          <a:bodyPr/>
          <a:lstStyle/>
          <a:p>
            <a:pPr>
              <a:buClr>
                <a:schemeClr val="tx1"/>
              </a:buClr>
              <a:buFont typeface="Wingdings" panose="05000000000000000000" pitchFamily="2" charset="2"/>
              <a:buChar char="q"/>
            </a:pPr>
            <a:r>
              <a:rPr lang="en-US" b="1" dirty="0" err="1"/>
              <a:t>Mỗi</a:t>
            </a:r>
            <a:r>
              <a:rPr lang="en-US" b="1" dirty="0"/>
              <a:t> </a:t>
            </a:r>
            <a:r>
              <a:rPr lang="en-US" b="1" dirty="0" err="1"/>
              <a:t>nút</a:t>
            </a:r>
            <a:r>
              <a:rPr lang="en-US" b="1" dirty="0"/>
              <a:t> </a:t>
            </a:r>
            <a:r>
              <a:rPr lang="en-US" b="1" dirty="0" err="1"/>
              <a:t>trên</a:t>
            </a:r>
            <a:r>
              <a:rPr lang="en-US" b="1" dirty="0"/>
              <a:t> </a:t>
            </a:r>
            <a:r>
              <a:rPr lang="en-US" b="1" dirty="0" err="1"/>
              <a:t>cây</a:t>
            </a:r>
            <a:r>
              <a:rPr lang="en-US" b="1" dirty="0"/>
              <a:t>, </a:t>
            </a:r>
            <a:r>
              <a:rPr lang="en-US" b="1" dirty="0" err="1"/>
              <a:t>có</a:t>
            </a:r>
            <a:r>
              <a:rPr lang="en-US" b="1" dirty="0"/>
              <a:t> </a:t>
            </a:r>
            <a:r>
              <a:rPr lang="en-US" b="1" dirty="0" err="1"/>
              <a:t>thể</a:t>
            </a:r>
            <a:r>
              <a:rPr lang="en-US" b="1" dirty="0"/>
              <a:t>: </a:t>
            </a:r>
            <a:endParaRPr lang="vi-VN" b="1" dirty="0"/>
          </a:p>
          <a:p>
            <a:pPr>
              <a:buClr>
                <a:schemeClr val="tx1"/>
              </a:buClr>
              <a:buFont typeface="Courier New" panose="02070309020205020404" pitchFamily="49" charset="0"/>
              <a:buChar char="o"/>
            </a:pPr>
            <a:r>
              <a:rPr lang="en-US" dirty="0" err="1"/>
              <a:t>Không</a:t>
            </a:r>
            <a:r>
              <a:rPr lang="en-US" dirty="0"/>
              <a:t> </a:t>
            </a:r>
            <a:r>
              <a:rPr lang="en-US" dirty="0" err="1"/>
              <a:t>có</a:t>
            </a:r>
            <a:r>
              <a:rPr lang="en-US" dirty="0"/>
              <a:t> con </a:t>
            </a:r>
            <a:r>
              <a:rPr lang="en-US" dirty="0" err="1"/>
              <a:t>nào</a:t>
            </a:r>
            <a:r>
              <a:rPr lang="en-US" dirty="0"/>
              <a:t>, </a:t>
            </a:r>
            <a:r>
              <a:rPr lang="en-US" dirty="0" err="1"/>
              <a:t>hoặc</a:t>
            </a:r>
            <a:r>
              <a:rPr lang="en-US" dirty="0"/>
              <a:t> </a:t>
            </a:r>
            <a:r>
              <a:rPr lang="en-US" dirty="0" err="1"/>
              <a:t>có</a:t>
            </a:r>
            <a:r>
              <a:rPr lang="en-US" dirty="0"/>
              <a:t> </a:t>
            </a:r>
            <a:r>
              <a:rPr lang="en-US" dirty="0" err="1"/>
              <a:t>duy</a:t>
            </a:r>
            <a:r>
              <a:rPr lang="en-US" dirty="0"/>
              <a:t> </a:t>
            </a:r>
            <a:r>
              <a:rPr lang="en-US" dirty="0" err="1"/>
              <a:t>nhất</a:t>
            </a:r>
            <a:r>
              <a:rPr lang="en-US" dirty="0"/>
              <a:t> 1 con </a:t>
            </a:r>
            <a:r>
              <a:rPr lang="en-US" dirty="0" err="1"/>
              <a:t>trái</a:t>
            </a:r>
            <a:r>
              <a:rPr lang="en-US" dirty="0"/>
              <a:t> </a:t>
            </a:r>
            <a:r>
              <a:rPr lang="en-US" dirty="0" err="1"/>
              <a:t>nhất</a:t>
            </a:r>
            <a:r>
              <a:rPr lang="en-US" dirty="0"/>
              <a:t> </a:t>
            </a:r>
            <a:endParaRPr lang="vi-VN" dirty="0"/>
          </a:p>
          <a:p>
            <a:pPr>
              <a:buClr>
                <a:schemeClr val="tx1"/>
              </a:buClr>
              <a:buFont typeface="Courier New" panose="02070309020205020404" pitchFamily="49" charset="0"/>
              <a:buChar char="o"/>
            </a:pPr>
            <a:r>
              <a:rPr lang="en-US" dirty="0" err="1"/>
              <a:t>Không</a:t>
            </a:r>
            <a:r>
              <a:rPr lang="en-US" dirty="0"/>
              <a:t> </a:t>
            </a:r>
            <a:r>
              <a:rPr lang="en-US" dirty="0" err="1"/>
              <a:t>có</a:t>
            </a:r>
            <a:r>
              <a:rPr lang="en-US" dirty="0"/>
              <a:t> </a:t>
            </a:r>
            <a:r>
              <a:rPr lang="en-US" dirty="0" err="1"/>
              <a:t>anh</a:t>
            </a:r>
            <a:r>
              <a:rPr lang="en-US" dirty="0"/>
              <a:t> </a:t>
            </a:r>
            <a:r>
              <a:rPr lang="en-US" dirty="0" err="1"/>
              <a:t>em</a:t>
            </a:r>
            <a:r>
              <a:rPr lang="en-US" dirty="0"/>
              <a:t> </a:t>
            </a:r>
            <a:r>
              <a:rPr lang="en-US" dirty="0" err="1"/>
              <a:t>nào</a:t>
            </a:r>
            <a:r>
              <a:rPr lang="en-US" dirty="0"/>
              <a:t>, </a:t>
            </a:r>
            <a:r>
              <a:rPr lang="en-US" dirty="0" err="1"/>
              <a:t>hoặc</a:t>
            </a:r>
            <a:r>
              <a:rPr lang="en-US" dirty="0"/>
              <a:t> </a:t>
            </a:r>
            <a:r>
              <a:rPr lang="en-US" dirty="0" err="1"/>
              <a:t>có</a:t>
            </a:r>
            <a:r>
              <a:rPr lang="en-US" dirty="0"/>
              <a:t> </a:t>
            </a:r>
            <a:r>
              <a:rPr lang="en-US" dirty="0" err="1"/>
              <a:t>duy</a:t>
            </a:r>
            <a:r>
              <a:rPr lang="en-US" dirty="0"/>
              <a:t> </a:t>
            </a:r>
            <a:r>
              <a:rPr lang="en-US" dirty="0" err="1"/>
              <a:t>nhất</a:t>
            </a:r>
            <a:r>
              <a:rPr lang="en-US" dirty="0"/>
              <a:t> 1 </a:t>
            </a:r>
            <a:r>
              <a:rPr lang="en-US" dirty="0" err="1"/>
              <a:t>anh</a:t>
            </a:r>
            <a:r>
              <a:rPr lang="en-US" dirty="0"/>
              <a:t> </a:t>
            </a:r>
            <a:r>
              <a:rPr lang="en-US" dirty="0" err="1"/>
              <a:t>em</a:t>
            </a:r>
            <a:r>
              <a:rPr lang="en-US" dirty="0"/>
              <a:t> </a:t>
            </a:r>
            <a:r>
              <a:rPr lang="en-US" dirty="0" err="1"/>
              <a:t>bên</a:t>
            </a:r>
            <a:r>
              <a:rPr lang="en-US" dirty="0"/>
              <a:t> </a:t>
            </a:r>
            <a:r>
              <a:rPr lang="en-US" dirty="0" err="1"/>
              <a:t>phải</a:t>
            </a:r>
            <a:r>
              <a:rPr lang="en-US" dirty="0"/>
              <a:t> </a:t>
            </a:r>
          </a:p>
          <a:p>
            <a:pPr lvl="0">
              <a:buClr>
                <a:schemeClr val="tx1"/>
              </a:buClr>
              <a:buFont typeface="Wingdings" panose="05000000000000000000" pitchFamily="2" charset="2"/>
              <a:buChar char="q"/>
            </a:pPr>
            <a:endParaRPr lang="vi-VN" dirty="0"/>
          </a:p>
          <a:p>
            <a:pPr lvl="0">
              <a:buClr>
                <a:schemeClr val="tx1"/>
              </a:buClr>
              <a:buFont typeface="Wingdings" panose="05000000000000000000" pitchFamily="2" charset="2"/>
              <a:buChar char="q"/>
            </a:pPr>
            <a:r>
              <a:rPr lang="en-US" b="1" dirty="0"/>
              <a:t>Do </a:t>
            </a:r>
            <a:r>
              <a:rPr lang="en-US" b="1" dirty="0" err="1"/>
              <a:t>đó</a:t>
            </a:r>
            <a:r>
              <a:rPr lang="en-US" b="1" dirty="0"/>
              <a:t>, </a:t>
            </a:r>
            <a:r>
              <a:rPr lang="en-US" b="1" dirty="0" err="1"/>
              <a:t>để</a:t>
            </a:r>
            <a:r>
              <a:rPr lang="en-US" b="1" dirty="0"/>
              <a:t> </a:t>
            </a:r>
            <a:r>
              <a:rPr lang="en-US" b="1" dirty="0" err="1"/>
              <a:t>biểu</a:t>
            </a:r>
            <a:r>
              <a:rPr lang="en-US" b="1" dirty="0"/>
              <a:t> </a:t>
            </a:r>
            <a:r>
              <a:rPr lang="en-US" b="1" dirty="0" err="1"/>
              <a:t>diễn</a:t>
            </a:r>
            <a:r>
              <a:rPr lang="en-US" b="1" dirty="0"/>
              <a:t> </a:t>
            </a:r>
            <a:r>
              <a:rPr lang="en-US" b="1" dirty="0" err="1"/>
              <a:t>cây</a:t>
            </a:r>
            <a:r>
              <a:rPr lang="en-US" b="1" dirty="0"/>
              <a:t>, ta </a:t>
            </a:r>
            <a:r>
              <a:rPr lang="en-US" b="1" dirty="0" err="1"/>
              <a:t>sẽ</a:t>
            </a:r>
            <a:r>
              <a:rPr lang="en-US" b="1" dirty="0"/>
              <a:t> </a:t>
            </a:r>
            <a:r>
              <a:rPr lang="en-US" b="1" dirty="0" err="1"/>
              <a:t>lưu</a:t>
            </a:r>
            <a:r>
              <a:rPr lang="en-US" b="1" dirty="0"/>
              <a:t> </a:t>
            </a:r>
            <a:r>
              <a:rPr lang="en-US" b="1" dirty="0" err="1"/>
              <a:t>trữ</a:t>
            </a:r>
            <a:r>
              <a:rPr lang="en-US" b="1" dirty="0"/>
              <a:t> </a:t>
            </a:r>
            <a:r>
              <a:rPr lang="en-US" b="1" dirty="0" err="1"/>
              <a:t>các</a:t>
            </a:r>
            <a:r>
              <a:rPr lang="en-US" b="1" dirty="0"/>
              <a:t> </a:t>
            </a:r>
            <a:r>
              <a:rPr lang="en-US" b="1" dirty="0" err="1"/>
              <a:t>thông</a:t>
            </a:r>
            <a:r>
              <a:rPr lang="en-US" b="1" dirty="0"/>
              <a:t> tin </a:t>
            </a:r>
            <a:r>
              <a:rPr lang="en-US" b="1" dirty="0" err="1"/>
              <a:t>về</a:t>
            </a:r>
            <a:r>
              <a:rPr lang="en-US" b="1" dirty="0"/>
              <a:t> con </a:t>
            </a:r>
            <a:r>
              <a:rPr lang="en-US" b="1" dirty="0" err="1"/>
              <a:t>trái</a:t>
            </a:r>
            <a:r>
              <a:rPr lang="en-US" b="1" dirty="0"/>
              <a:t> </a:t>
            </a:r>
            <a:r>
              <a:rPr lang="en-US" b="1" dirty="0" err="1"/>
              <a:t>nhất</a:t>
            </a:r>
            <a:r>
              <a:rPr lang="en-US" b="1" dirty="0"/>
              <a:t> </a:t>
            </a:r>
            <a:r>
              <a:rPr lang="en-US" b="1" dirty="0" err="1"/>
              <a:t>và</a:t>
            </a:r>
            <a:r>
              <a:rPr lang="en-US" b="1" dirty="0"/>
              <a:t> </a:t>
            </a:r>
            <a:r>
              <a:rPr lang="en-US" b="1" dirty="0" err="1"/>
              <a:t>anh</a:t>
            </a:r>
            <a:r>
              <a:rPr lang="en-US" b="1" dirty="0"/>
              <a:t> </a:t>
            </a:r>
            <a:r>
              <a:rPr lang="en-US" b="1" dirty="0" err="1"/>
              <a:t>em</a:t>
            </a:r>
            <a:r>
              <a:rPr lang="en-US" b="1" dirty="0"/>
              <a:t> </a:t>
            </a:r>
            <a:r>
              <a:rPr lang="en-US" b="1" dirty="0" err="1"/>
              <a:t>bên</a:t>
            </a:r>
            <a:r>
              <a:rPr lang="en-US" b="1" dirty="0"/>
              <a:t> </a:t>
            </a:r>
            <a:r>
              <a:rPr lang="en-US" b="1" dirty="0" err="1"/>
              <a:t>phải</a:t>
            </a:r>
            <a:r>
              <a:rPr lang="en-US" b="1" dirty="0"/>
              <a:t> </a:t>
            </a:r>
            <a:r>
              <a:rPr lang="en-US" b="1" dirty="0" err="1"/>
              <a:t>của</a:t>
            </a:r>
            <a:r>
              <a:rPr lang="en-US" b="1" dirty="0"/>
              <a:t> </a:t>
            </a:r>
            <a:r>
              <a:rPr lang="en-US" b="1" dirty="0" err="1"/>
              <a:t>mỗi</a:t>
            </a:r>
            <a:r>
              <a:rPr lang="en-US" b="1" dirty="0"/>
              <a:t> </a:t>
            </a:r>
            <a:r>
              <a:rPr lang="en-US" b="1" dirty="0" err="1"/>
              <a:t>nút</a:t>
            </a:r>
            <a:r>
              <a:rPr lang="en-US" b="1" dirty="0"/>
              <a:t> </a:t>
            </a:r>
          </a:p>
          <a:p>
            <a:pPr>
              <a:buClr>
                <a:schemeClr val="tx1"/>
              </a:buClr>
              <a:buFont typeface="Wingdings" panose="05000000000000000000" pitchFamily="2" charset="2"/>
              <a:buChar char="q"/>
            </a:pPr>
            <a:endParaRPr lang="en-US" dirty="0"/>
          </a:p>
          <a:p>
            <a:pPr marL="152400" indent="0">
              <a:buNone/>
            </a:pPr>
            <a:endParaRPr lang="en-US" dirty="0"/>
          </a:p>
        </p:txBody>
      </p:sp>
      <p:sp>
        <p:nvSpPr>
          <p:cNvPr id="3" name="Title 2">
            <a:extLst>
              <a:ext uri="{FF2B5EF4-FFF2-40B4-BE49-F238E27FC236}">
                <a16:creationId xmlns:a16="http://schemas.microsoft.com/office/drawing/2014/main" id="{FB49B706-7C75-FC31-C673-72BADCC689E2}"/>
              </a:ext>
            </a:extLst>
          </p:cNvPr>
          <p:cNvSpPr>
            <a:spLocks noGrp="1"/>
          </p:cNvSpPr>
          <p:nvPr>
            <p:ph type="title"/>
          </p:nvPr>
        </p:nvSpPr>
        <p:spPr>
          <a:xfrm>
            <a:off x="444911" y="363250"/>
            <a:ext cx="5985600" cy="572700"/>
          </a:xfrm>
        </p:spPr>
        <p:txBody>
          <a:bodyPr/>
          <a:lstStyle/>
          <a:p>
            <a:r>
              <a:rPr lang="vi-VN" sz="2400" b="1" dirty="0"/>
              <a:t>3.  </a:t>
            </a:r>
            <a:r>
              <a:rPr lang="en-US" sz="2400" b="1" dirty="0" err="1"/>
              <a:t>Biểu</a:t>
            </a:r>
            <a:r>
              <a:rPr lang="en-US" sz="2400" b="1" dirty="0"/>
              <a:t> </a:t>
            </a:r>
            <a:r>
              <a:rPr lang="en-US" sz="2400" b="1" dirty="0" err="1"/>
              <a:t>diễn</a:t>
            </a:r>
            <a:r>
              <a:rPr lang="en-US" sz="2400" b="1" dirty="0"/>
              <a:t> con </a:t>
            </a:r>
            <a:r>
              <a:rPr lang="en-US" sz="2400" b="1" dirty="0" err="1"/>
              <a:t>trái</a:t>
            </a:r>
            <a:r>
              <a:rPr lang="en-US" sz="2400" b="1" dirty="0"/>
              <a:t> </a:t>
            </a:r>
            <a:r>
              <a:rPr lang="en-US" sz="2400" b="1" dirty="0" err="1"/>
              <a:t>nhất</a:t>
            </a:r>
            <a:r>
              <a:rPr lang="en-US" sz="2400" b="1" dirty="0"/>
              <a:t>, </a:t>
            </a:r>
            <a:r>
              <a:rPr lang="en-US" sz="2400" b="1" dirty="0" err="1"/>
              <a:t>anh</a:t>
            </a:r>
            <a:r>
              <a:rPr lang="en-US" sz="2400" b="1" dirty="0"/>
              <a:t> </a:t>
            </a:r>
            <a:r>
              <a:rPr lang="en-US" sz="2400" b="1" dirty="0" err="1"/>
              <a:t>em</a:t>
            </a:r>
            <a:r>
              <a:rPr lang="en-US" sz="2400" b="1" dirty="0"/>
              <a:t> </a:t>
            </a:r>
            <a:r>
              <a:rPr lang="en-US" sz="2400" b="1" dirty="0" err="1"/>
              <a:t>phải</a:t>
            </a:r>
            <a:r>
              <a:rPr lang="en-US" sz="2400" b="1" dirty="0"/>
              <a:t> (Leftmost-Child, Right-Sibling) </a:t>
            </a:r>
          </a:p>
        </p:txBody>
      </p:sp>
      <p:cxnSp>
        <p:nvCxnSpPr>
          <p:cNvPr id="6" name="Straight Connector 5">
            <a:extLst>
              <a:ext uri="{FF2B5EF4-FFF2-40B4-BE49-F238E27FC236}">
                <a16:creationId xmlns:a16="http://schemas.microsoft.com/office/drawing/2014/main" id="{BB6CE543-E774-2937-2D5E-E20FB03F6C7E}"/>
              </a:ext>
            </a:extLst>
          </p:cNvPr>
          <p:cNvCxnSpPr/>
          <p:nvPr/>
        </p:nvCxnSpPr>
        <p:spPr>
          <a:xfrm>
            <a:off x="5098687" y="1345116"/>
            <a:ext cx="0" cy="3382564"/>
          </a:xfrm>
          <a:prstGeom prst="line">
            <a:avLst/>
          </a:prstGeom>
        </p:spPr>
        <p:style>
          <a:lnRef idx="1">
            <a:schemeClr val="dk1"/>
          </a:lnRef>
          <a:fillRef idx="0">
            <a:schemeClr val="dk1"/>
          </a:fillRef>
          <a:effectRef idx="0">
            <a:schemeClr val="dk1"/>
          </a:effectRef>
          <a:fontRef idx="minor">
            <a:schemeClr val="tx1"/>
          </a:fontRef>
        </p:style>
      </p:cxnSp>
      <p:sp>
        <p:nvSpPr>
          <p:cNvPr id="7" name="Subtitle 1">
            <a:extLst>
              <a:ext uri="{FF2B5EF4-FFF2-40B4-BE49-F238E27FC236}">
                <a16:creationId xmlns:a16="http://schemas.microsoft.com/office/drawing/2014/main" id="{317C47F1-4C7E-06B1-E9C4-AB44744521E4}"/>
              </a:ext>
            </a:extLst>
          </p:cNvPr>
          <p:cNvSpPr txBox="1">
            <a:spLocks/>
          </p:cNvSpPr>
          <p:nvPr/>
        </p:nvSpPr>
        <p:spPr>
          <a:xfrm>
            <a:off x="5098687" y="1259985"/>
            <a:ext cx="4045313" cy="11779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Cairo"/>
              <a:buChar char="●"/>
              <a:defRPr sz="1200" b="0" i="0" u="none" strike="noStrike" cap="none">
                <a:solidFill>
                  <a:schemeClr val="dk1"/>
                </a:solidFill>
                <a:latin typeface="Cairo"/>
                <a:ea typeface="Cairo"/>
                <a:cs typeface="Cairo"/>
                <a:sym typeface="Cairo"/>
              </a:defRPr>
            </a:lvl1pPr>
            <a:lvl2pPr marL="914400" marR="0" lvl="1"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2pPr>
            <a:lvl3pPr marL="1371600" marR="0" lvl="2"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3pPr>
            <a:lvl4pPr marL="1828800" marR="0" lvl="3"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4pPr>
            <a:lvl5pPr marL="2286000" marR="0" lvl="4"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5pPr>
            <a:lvl6pPr marL="2743200" marR="0" lvl="5"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6pPr>
            <a:lvl7pPr marL="3200400" marR="0" lvl="6"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7pPr>
            <a:lvl8pPr marL="3657600" marR="0" lvl="7"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8pPr>
            <a:lvl9pPr marL="4114800" marR="0" lvl="8" indent="-304800" algn="l" rtl="0">
              <a:lnSpc>
                <a:spcPct val="100000"/>
              </a:lnSpc>
              <a:spcBef>
                <a:spcPts val="0"/>
              </a:spcBef>
              <a:spcAft>
                <a:spcPts val="0"/>
              </a:spcAft>
              <a:buClr>
                <a:schemeClr val="dk1"/>
              </a:buClr>
              <a:buSzPts val="1200"/>
              <a:buFont typeface="Cairo"/>
              <a:buChar char="■"/>
              <a:defRPr sz="1200" b="0" i="0" u="none" strike="noStrike" cap="none">
                <a:solidFill>
                  <a:schemeClr val="dk1"/>
                </a:solidFill>
                <a:latin typeface="Cairo"/>
                <a:ea typeface="Cairo"/>
                <a:cs typeface="Cairo"/>
                <a:sym typeface="Cairo"/>
              </a:defRPr>
            </a:lvl9pPr>
          </a:lstStyle>
          <a:p>
            <a:pPr lvl="0">
              <a:buClr>
                <a:schemeClr val="tx1"/>
              </a:buClr>
              <a:buFont typeface="Wingdings" panose="05000000000000000000" pitchFamily="2" charset="2"/>
              <a:buChar char="q"/>
            </a:pPr>
            <a:r>
              <a:rPr lang="vi-VN" b="1" dirty="0"/>
              <a:t>Biểu diễn cây với hình bên trái:</a:t>
            </a:r>
            <a:endParaRPr lang="en-US" b="1" dirty="0"/>
          </a:p>
          <a:p>
            <a:pPr marL="152400" indent="0">
              <a:buFont typeface="Cairo"/>
              <a:buNone/>
            </a:pPr>
            <a:endParaRPr lang="en-US" dirty="0"/>
          </a:p>
        </p:txBody>
      </p:sp>
      <p:pic>
        <p:nvPicPr>
          <p:cNvPr id="8" name="Picture 7">
            <a:extLst>
              <a:ext uri="{FF2B5EF4-FFF2-40B4-BE49-F238E27FC236}">
                <a16:creationId xmlns:a16="http://schemas.microsoft.com/office/drawing/2014/main" id="{DE513133-E8E4-08AE-D1EA-F7DA23D16BF7}"/>
              </a:ext>
            </a:extLst>
          </p:cNvPr>
          <p:cNvPicPr>
            <a:picLocks noChangeAspect="1"/>
          </p:cNvPicPr>
          <p:nvPr/>
        </p:nvPicPr>
        <p:blipFill>
          <a:blip r:embed="rId2"/>
          <a:stretch>
            <a:fillRect/>
          </a:stretch>
        </p:blipFill>
        <p:spPr>
          <a:xfrm>
            <a:off x="5668228" y="1643597"/>
            <a:ext cx="2159923" cy="3136653"/>
          </a:xfrm>
          <a:prstGeom prst="rect">
            <a:avLst/>
          </a:prstGeom>
        </p:spPr>
      </p:pic>
      <p:pic>
        <p:nvPicPr>
          <p:cNvPr id="9" name="Picture 8" descr="A diagram of a diagram&#10;&#10;AI-generated content may be incorrect.">
            <a:extLst>
              <a:ext uri="{FF2B5EF4-FFF2-40B4-BE49-F238E27FC236}">
                <a16:creationId xmlns:a16="http://schemas.microsoft.com/office/drawing/2014/main" id="{0E1FC94E-BC2A-58C1-DC46-92AA90811CFD}"/>
              </a:ext>
            </a:extLst>
          </p:cNvPr>
          <p:cNvPicPr>
            <a:picLocks noChangeAspect="1"/>
          </p:cNvPicPr>
          <p:nvPr/>
        </p:nvPicPr>
        <p:blipFill>
          <a:blip r:embed="rId3"/>
          <a:stretch>
            <a:fillRect/>
          </a:stretch>
        </p:blipFill>
        <p:spPr>
          <a:xfrm>
            <a:off x="1268017" y="2705566"/>
            <a:ext cx="3261130" cy="195053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6717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41;p48">
            <a:extLst>
              <a:ext uri="{FF2B5EF4-FFF2-40B4-BE49-F238E27FC236}">
                <a16:creationId xmlns:a16="http://schemas.microsoft.com/office/drawing/2014/main" id="{0C918799-2CB9-931D-CEB6-82B4E625869B}"/>
              </a:ext>
            </a:extLst>
          </p:cNvPr>
          <p:cNvSpPr txBox="1">
            <a:spLocks/>
          </p:cNvSpPr>
          <p:nvPr/>
        </p:nvSpPr>
        <p:spPr>
          <a:xfrm>
            <a:off x="512502" y="1122555"/>
            <a:ext cx="5754483" cy="981689"/>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sz="4000" b="1" dirty="0"/>
              <a:t>Cảm ơn đã lắng nghe!</a:t>
            </a:r>
          </a:p>
        </p:txBody>
      </p:sp>
      <p:sp>
        <p:nvSpPr>
          <p:cNvPr id="3" name="Google Shape;542;p48">
            <a:extLst>
              <a:ext uri="{FF2B5EF4-FFF2-40B4-BE49-F238E27FC236}">
                <a16:creationId xmlns:a16="http://schemas.microsoft.com/office/drawing/2014/main" id="{9EAE12DF-F8CE-A3F3-261E-7C521F5CC508}"/>
              </a:ext>
            </a:extLst>
          </p:cNvPr>
          <p:cNvSpPr txBox="1">
            <a:spLocks/>
          </p:cNvSpPr>
          <p:nvPr/>
        </p:nvSpPr>
        <p:spPr>
          <a:xfrm>
            <a:off x="3384492" y="2360578"/>
            <a:ext cx="3491544" cy="895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b="1" dirty="0"/>
              <a:t>Các bạn có thắc mắc nào không ?</a:t>
            </a:r>
          </a:p>
        </p:txBody>
      </p:sp>
      <p:sp>
        <p:nvSpPr>
          <p:cNvPr id="4" name="Google Shape;544;p48">
            <a:extLst>
              <a:ext uri="{FF2B5EF4-FFF2-40B4-BE49-F238E27FC236}">
                <a16:creationId xmlns:a16="http://schemas.microsoft.com/office/drawing/2014/main" id="{7F016166-88F8-BDC3-EEB5-095F148108F8}"/>
              </a:ext>
            </a:extLst>
          </p:cNvPr>
          <p:cNvSpPr/>
          <p:nvPr/>
        </p:nvSpPr>
        <p:spPr>
          <a:xfrm>
            <a:off x="3515626" y="2808540"/>
            <a:ext cx="407383" cy="407383"/>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 name="Google Shape;545;p48">
            <a:extLst>
              <a:ext uri="{FF2B5EF4-FFF2-40B4-BE49-F238E27FC236}">
                <a16:creationId xmlns:a16="http://schemas.microsoft.com/office/drawing/2014/main" id="{3487AE66-C787-7957-F5E3-8C072680F976}"/>
              </a:ext>
            </a:extLst>
          </p:cNvPr>
          <p:cNvGrpSpPr/>
          <p:nvPr/>
        </p:nvGrpSpPr>
        <p:grpSpPr>
          <a:xfrm>
            <a:off x="4036166" y="2808478"/>
            <a:ext cx="407432" cy="407391"/>
            <a:chOff x="812101" y="2571761"/>
            <a:chExt cx="417066" cy="417024"/>
          </a:xfrm>
        </p:grpSpPr>
        <p:sp>
          <p:nvSpPr>
            <p:cNvPr id="6" name="Google Shape;546;p48">
              <a:extLst>
                <a:ext uri="{FF2B5EF4-FFF2-40B4-BE49-F238E27FC236}">
                  <a16:creationId xmlns:a16="http://schemas.microsoft.com/office/drawing/2014/main" id="{E11C6B3A-9DB7-7D56-3A9C-3BEFDF3669AB}"/>
                </a:ext>
              </a:extLst>
            </p:cNvPr>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47;p48">
              <a:extLst>
                <a:ext uri="{FF2B5EF4-FFF2-40B4-BE49-F238E27FC236}">
                  <a16:creationId xmlns:a16="http://schemas.microsoft.com/office/drawing/2014/main" id="{A2B9CEE8-3552-EC7F-305F-D8ECEF2438CC}"/>
                </a:ext>
              </a:extLst>
            </p:cNvPr>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48;p48">
              <a:extLst>
                <a:ext uri="{FF2B5EF4-FFF2-40B4-BE49-F238E27FC236}">
                  <a16:creationId xmlns:a16="http://schemas.microsoft.com/office/drawing/2014/main" id="{CB6C4108-797A-CCE8-A376-C04CAF219F00}"/>
                </a:ext>
              </a:extLst>
            </p:cNvPr>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49;p48">
              <a:extLst>
                <a:ext uri="{FF2B5EF4-FFF2-40B4-BE49-F238E27FC236}">
                  <a16:creationId xmlns:a16="http://schemas.microsoft.com/office/drawing/2014/main" id="{326EA91C-C5F8-0488-D33D-93B05B98A6E9}"/>
                </a:ext>
              </a:extLst>
            </p:cNvPr>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550;p48">
            <a:extLst>
              <a:ext uri="{FF2B5EF4-FFF2-40B4-BE49-F238E27FC236}">
                <a16:creationId xmlns:a16="http://schemas.microsoft.com/office/drawing/2014/main" id="{2B2BC2F0-59C9-6135-750E-08CD4CD989C7}"/>
              </a:ext>
            </a:extLst>
          </p:cNvPr>
          <p:cNvGrpSpPr/>
          <p:nvPr/>
        </p:nvGrpSpPr>
        <p:grpSpPr>
          <a:xfrm>
            <a:off x="4556760" y="2808478"/>
            <a:ext cx="407391" cy="407391"/>
            <a:chOff x="1323129" y="2571761"/>
            <a:chExt cx="417024" cy="417024"/>
          </a:xfrm>
        </p:grpSpPr>
        <p:sp>
          <p:nvSpPr>
            <p:cNvPr id="11" name="Google Shape;551;p48">
              <a:extLst>
                <a:ext uri="{FF2B5EF4-FFF2-40B4-BE49-F238E27FC236}">
                  <a16:creationId xmlns:a16="http://schemas.microsoft.com/office/drawing/2014/main" id="{9476489D-2598-0520-D975-D862F9BD46B5}"/>
                </a:ext>
              </a:extLst>
            </p:cNvPr>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52;p48">
              <a:extLst>
                <a:ext uri="{FF2B5EF4-FFF2-40B4-BE49-F238E27FC236}">
                  <a16:creationId xmlns:a16="http://schemas.microsoft.com/office/drawing/2014/main" id="{83296C4D-C64C-52E4-FEDB-17F9D9D9FBB6}"/>
                </a:ext>
              </a:extLst>
            </p:cNvPr>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53;p48">
              <a:extLst>
                <a:ext uri="{FF2B5EF4-FFF2-40B4-BE49-F238E27FC236}">
                  <a16:creationId xmlns:a16="http://schemas.microsoft.com/office/drawing/2014/main" id="{26A6818C-86E7-8521-D06B-45EE57488F0B}"/>
                </a:ext>
              </a:extLst>
            </p:cNvPr>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54;p48">
              <a:extLst>
                <a:ext uri="{FF2B5EF4-FFF2-40B4-BE49-F238E27FC236}">
                  <a16:creationId xmlns:a16="http://schemas.microsoft.com/office/drawing/2014/main" id="{DD4C2231-31AF-9814-0568-9FD688627723}"/>
                </a:ext>
              </a:extLst>
            </p:cNvPr>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555;p48">
            <a:extLst>
              <a:ext uri="{FF2B5EF4-FFF2-40B4-BE49-F238E27FC236}">
                <a16:creationId xmlns:a16="http://schemas.microsoft.com/office/drawing/2014/main" id="{10FBF56B-56FF-2EDE-F5E3-5F89A350CD5C}"/>
              </a:ext>
            </a:extLst>
          </p:cNvPr>
          <p:cNvSpPr/>
          <p:nvPr/>
        </p:nvSpPr>
        <p:spPr>
          <a:xfrm>
            <a:off x="5130264" y="2845290"/>
            <a:ext cx="409401" cy="333886"/>
          </a:xfrm>
          <a:custGeom>
            <a:avLst/>
            <a:gdLst/>
            <a:ahLst/>
            <a:cxnLst/>
            <a:rect l="l" t="t" r="r" b="b"/>
            <a:pathLst>
              <a:path w="20081" h="16377" extrusionOk="0">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48">
            <a:extLst>
              <a:ext uri="{FF2B5EF4-FFF2-40B4-BE49-F238E27FC236}">
                <a16:creationId xmlns:a16="http://schemas.microsoft.com/office/drawing/2014/main" id="{996CCCD0-BE4C-2CA2-B044-25334B6E766F}"/>
              </a:ext>
            </a:extLst>
          </p:cNvPr>
          <p:cNvSpPr txBox="1"/>
          <p:nvPr/>
        </p:nvSpPr>
        <p:spPr>
          <a:xfrm>
            <a:off x="571368" y="2095188"/>
            <a:ext cx="2102249" cy="26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VN" sz="1000" b="1" dirty="0">
                <a:solidFill>
                  <a:schemeClr val="dk1"/>
                </a:solidFill>
                <a:latin typeface="Cairo"/>
                <a:ea typeface="Cairo"/>
                <a:cs typeface="Cairo"/>
                <a:sym typeface="Cairo"/>
              </a:rPr>
              <a:t>Tụi mình là nhóm 1:</a:t>
            </a:r>
          </a:p>
          <a:p>
            <a:pPr marL="0" lvl="0" indent="0" algn="l" rtl="0">
              <a:spcBef>
                <a:spcPts val="0"/>
              </a:spcBef>
              <a:spcAft>
                <a:spcPts val="0"/>
              </a:spcAft>
              <a:buNone/>
            </a:pPr>
            <a:endParaRPr sz="1000" dirty="0">
              <a:solidFill>
                <a:schemeClr val="dk1"/>
              </a:solidFill>
              <a:latin typeface="Cairo"/>
              <a:ea typeface="Cairo"/>
              <a:cs typeface="Cairo"/>
              <a:sym typeface="Cairo"/>
            </a:endParaRPr>
          </a:p>
        </p:txBody>
      </p:sp>
      <p:sp>
        <p:nvSpPr>
          <p:cNvPr id="17" name="Google Shape;543;p48">
            <a:extLst>
              <a:ext uri="{FF2B5EF4-FFF2-40B4-BE49-F238E27FC236}">
                <a16:creationId xmlns:a16="http://schemas.microsoft.com/office/drawing/2014/main" id="{BA276FCB-23A4-8E29-9CEA-C90F290BEC0F}"/>
              </a:ext>
            </a:extLst>
          </p:cNvPr>
          <p:cNvSpPr txBox="1"/>
          <p:nvPr/>
        </p:nvSpPr>
        <p:spPr>
          <a:xfrm>
            <a:off x="571368" y="2355588"/>
            <a:ext cx="2391810" cy="1720561"/>
          </a:xfrm>
          <a:prstGeom prst="rect">
            <a:avLst/>
          </a:prstGeom>
          <a:noFill/>
          <a:ln>
            <a:noFill/>
          </a:ln>
        </p:spPr>
        <p:txBody>
          <a:bodyPr spcFirstLastPara="1" wrap="square" lIns="91425" tIns="91425" rIns="91425" bIns="91425" anchor="t" anchorCtr="0">
            <a:noAutofit/>
          </a:bodyPr>
          <a:lstStyle/>
          <a:p>
            <a:pPr marL="228600" lvl="0" indent="-228600">
              <a:buFont typeface="+mj-lt"/>
              <a:buAutoNum type="arabicPeriod"/>
            </a:pPr>
            <a:r>
              <a:rPr lang="vi-VN" sz="1000" dirty="0">
                <a:solidFill>
                  <a:schemeClr val="dk1"/>
                </a:solidFill>
                <a:latin typeface="Cairo"/>
                <a:ea typeface="Cairo"/>
                <a:cs typeface="Cairo"/>
                <a:sym typeface="Cairo"/>
              </a:rPr>
              <a:t>Lưu Phạm Văn Dương – 0386069</a:t>
            </a:r>
          </a:p>
          <a:p>
            <a:pPr marL="228600" lvl="0" indent="-228600">
              <a:buFont typeface="+mj-lt"/>
              <a:buAutoNum type="arabicPeriod"/>
            </a:pPr>
            <a:r>
              <a:rPr lang="vi-VN" sz="1000" dirty="0">
                <a:solidFill>
                  <a:schemeClr val="dk1"/>
                </a:solidFill>
                <a:latin typeface="Cairo"/>
                <a:ea typeface="Cairo"/>
                <a:cs typeface="Cairo"/>
                <a:sym typeface="Cairo"/>
              </a:rPr>
              <a:t>Nguyễn Lương An – 0379769</a:t>
            </a:r>
          </a:p>
          <a:p>
            <a:pPr marL="228600" lvl="0" indent="-228600">
              <a:buFont typeface="+mj-lt"/>
              <a:buAutoNum type="arabicPeriod"/>
            </a:pPr>
            <a:r>
              <a:rPr lang="vi-VN" sz="1000" dirty="0">
                <a:solidFill>
                  <a:schemeClr val="dk1"/>
                </a:solidFill>
                <a:latin typeface="Cairo"/>
                <a:ea typeface="Cairo"/>
                <a:cs typeface="Cairo"/>
                <a:sym typeface="Cairo"/>
              </a:rPr>
              <a:t>Lê Trọng Tấn – 0402769</a:t>
            </a:r>
          </a:p>
          <a:p>
            <a:pPr marL="228600" lvl="0" indent="-228600">
              <a:buFont typeface="+mj-lt"/>
              <a:buAutoNum type="arabicPeriod"/>
            </a:pPr>
            <a:r>
              <a:rPr lang="vi-VN" sz="1000" dirty="0">
                <a:solidFill>
                  <a:schemeClr val="dk1"/>
                </a:solidFill>
                <a:latin typeface="Cairo"/>
                <a:ea typeface="Cairo"/>
                <a:cs typeface="Cairo"/>
                <a:sym typeface="Cairo"/>
              </a:rPr>
              <a:t>Ngô Duy Mạnh – 0396169</a:t>
            </a:r>
          </a:p>
          <a:p>
            <a:pPr marL="228600" lvl="0" indent="-228600">
              <a:buFont typeface="+mj-lt"/>
              <a:buAutoNum type="arabicPeriod"/>
            </a:pPr>
            <a:r>
              <a:rPr lang="vi-VN" sz="1000" dirty="0">
                <a:solidFill>
                  <a:schemeClr val="dk1"/>
                </a:solidFill>
                <a:latin typeface="Cairo"/>
                <a:ea typeface="Cairo"/>
                <a:cs typeface="Cairo"/>
                <a:sym typeface="Cairo"/>
              </a:rPr>
              <a:t>Nguyễn Xuân Vinh – 0407269</a:t>
            </a:r>
          </a:p>
          <a:p>
            <a:pPr marL="228600" lvl="0" indent="-228600">
              <a:buFont typeface="+mj-lt"/>
              <a:buAutoNum type="arabicPeriod"/>
            </a:pPr>
            <a:r>
              <a:rPr lang="vi-VN" sz="1000" dirty="0">
                <a:solidFill>
                  <a:schemeClr val="dk1"/>
                </a:solidFill>
                <a:latin typeface="Cairo"/>
                <a:ea typeface="Cairo"/>
                <a:cs typeface="Cairo"/>
                <a:sym typeface="Cairo"/>
              </a:rPr>
              <a:t>Lương Hà Minh Anh – 0380969</a:t>
            </a:r>
          </a:p>
          <a:p>
            <a:pPr marL="228600" lvl="0" indent="-228600">
              <a:buFont typeface="+mj-lt"/>
              <a:buAutoNum type="arabicPeriod"/>
            </a:pPr>
            <a:r>
              <a:rPr lang="vi-VN" sz="1000" dirty="0">
                <a:solidFill>
                  <a:schemeClr val="dk1"/>
                </a:solidFill>
                <a:latin typeface="Cairo"/>
                <a:ea typeface="Cairo"/>
                <a:cs typeface="Cairo"/>
                <a:sym typeface="Cairo"/>
              </a:rPr>
              <a:t>Đặng Sỹ Huy – 0392769</a:t>
            </a:r>
          </a:p>
          <a:p>
            <a:pPr marL="228600" lvl="0" indent="-228600">
              <a:buFont typeface="+mj-lt"/>
              <a:buAutoNum type="arabicPeriod"/>
            </a:pPr>
            <a:r>
              <a:rPr lang="vi-VN" sz="1000" dirty="0">
                <a:solidFill>
                  <a:schemeClr val="dk1"/>
                </a:solidFill>
                <a:latin typeface="Cairo"/>
                <a:ea typeface="Cairo"/>
                <a:cs typeface="Cairo"/>
                <a:sym typeface="Cairo"/>
              </a:rPr>
              <a:t>Bùi Thị Phương Ly - 0395969</a:t>
            </a:r>
          </a:p>
          <a:p>
            <a:pPr marL="228600" lvl="0" indent="-228600">
              <a:buFont typeface="+mj-lt"/>
              <a:buAutoNum type="arabicPeriod"/>
            </a:pPr>
            <a:r>
              <a:rPr lang="vi-VN" sz="1000" dirty="0">
                <a:solidFill>
                  <a:schemeClr val="dk1"/>
                </a:solidFill>
                <a:latin typeface="Cairo"/>
                <a:ea typeface="Cairo"/>
                <a:cs typeface="Cairo"/>
                <a:sym typeface="Cairo"/>
              </a:rPr>
              <a:t>Mai Thị Khánh Vy – 0407769</a:t>
            </a:r>
          </a:p>
          <a:p>
            <a:pPr marL="228600" lvl="0" indent="-228600">
              <a:buFont typeface="+mj-lt"/>
              <a:buAutoNum type="arabicPeriod"/>
            </a:pPr>
            <a:r>
              <a:rPr lang="vi-VN" sz="1000" dirty="0">
                <a:solidFill>
                  <a:schemeClr val="dk1"/>
                </a:solidFill>
                <a:latin typeface="Cairo"/>
                <a:ea typeface="Cairo"/>
                <a:cs typeface="Cairo"/>
                <a:sym typeface="Cairo"/>
              </a:rPr>
              <a:t>Đặng Trung Kiên - 0394396</a:t>
            </a:r>
          </a:p>
          <a:p>
            <a:pPr marL="228600" lvl="0" indent="-228600">
              <a:buFont typeface="+mj-lt"/>
              <a:buAutoNum type="arabicPeriod"/>
            </a:pPr>
            <a:endParaRPr lang="vi-VN" sz="1000" dirty="0">
              <a:solidFill>
                <a:schemeClr val="dk1"/>
              </a:solidFill>
              <a:latin typeface="Cairo"/>
              <a:ea typeface="Cairo"/>
              <a:cs typeface="Cairo"/>
              <a:sym typeface="Cairo"/>
            </a:endParaRPr>
          </a:p>
        </p:txBody>
      </p:sp>
    </p:spTree>
    <p:extLst>
      <p:ext uri="{BB962C8B-B14F-4D97-AF65-F5344CB8AC3E}">
        <p14:creationId xmlns:p14="http://schemas.microsoft.com/office/powerpoint/2010/main" val="3747773808"/>
      </p:ext>
    </p:extLst>
  </p:cSld>
  <p:clrMapOvr>
    <a:masterClrMapping/>
  </p:clrMapOvr>
</p:sld>
</file>

<file path=ppt/theme/theme1.xml><?xml version="1.0" encoding="utf-8"?>
<a:theme xmlns:a="http://schemas.openxmlformats.org/drawingml/2006/main"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1804</Words>
  <Application>Microsoft Office PowerPoint</Application>
  <PresentationFormat>On-screen Show (16:9)</PresentationFormat>
  <Paragraphs>133</Paragraphs>
  <Slides>19</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Anaheim</vt:lpstr>
      <vt:lpstr>Wingdings</vt:lpstr>
      <vt:lpstr>Space Grotesk Medium</vt:lpstr>
      <vt:lpstr>Space Grotesk</vt:lpstr>
      <vt:lpstr>Open Sans</vt:lpstr>
      <vt:lpstr>Nunito Light</vt:lpstr>
      <vt:lpstr>cảio</vt:lpstr>
      <vt:lpstr>Courier New</vt:lpstr>
      <vt:lpstr>Raleway</vt:lpstr>
      <vt:lpstr>Arial</vt:lpstr>
      <vt:lpstr>Cairo</vt:lpstr>
      <vt:lpstr>Data Migration Project Proposal by Slidesgo</vt:lpstr>
      <vt:lpstr>Tìm hiểu về Cây (Tree)</vt:lpstr>
      <vt:lpstr>Khái niệm:</vt:lpstr>
      <vt:lpstr>Cây nhị phân tìm kiếm</vt:lpstr>
      <vt:lpstr>Phân loại:  - Cây nhị phân  Một cây mà mỗi node có không quá 2 node con thì được gọi là cây nhị phân. Node con bên trái được gọi là Node con trái (left child), node con bên phải được gọi là Node con phải (right child). </vt:lpstr>
      <vt:lpstr>Các thành phần trong cây</vt:lpstr>
      <vt:lpstr>Các thành phần trong cây</vt:lpstr>
      <vt:lpstr>Đống (Heap) </vt:lpstr>
      <vt:lpstr>Cây AVL:</vt:lpstr>
      <vt:lpstr>Cây AVL:</vt:lpstr>
      <vt:lpstr>Cây đỏ đen (Red-Black Tree): </vt:lpstr>
      <vt:lpstr>Cây đỏ đen (Red-Black Tree):</vt:lpstr>
      <vt:lpstr>Phép duyệt cây </vt:lpstr>
      <vt:lpstr>Các phép duyệt cơ bản </vt:lpstr>
      <vt:lpstr>Các phép duyệt cơ bản </vt:lpstr>
      <vt:lpstr>Biểu diễn cây </vt:lpstr>
      <vt:lpstr>1.  Mảng (Array)  </vt:lpstr>
      <vt:lpstr>2.  Danh sách con (Lists of Children) </vt:lpstr>
      <vt:lpstr>3.  Biểu diễn con trái nhất, anh em phải (Leftmost-Child, Right-Sibling)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vii khánh</cp:lastModifiedBy>
  <cp:revision>2</cp:revision>
  <dcterms:modified xsi:type="dcterms:W3CDTF">2025-08-19T07:17:01Z</dcterms:modified>
</cp:coreProperties>
</file>