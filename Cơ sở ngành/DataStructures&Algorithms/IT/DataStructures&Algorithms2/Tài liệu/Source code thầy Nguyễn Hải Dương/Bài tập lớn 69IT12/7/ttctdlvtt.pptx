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58" r:id="rId4"/>
    <p:sldId id="260" r:id="rId5"/>
    <p:sldId id="262" r:id="rId6"/>
    <p:sldId id="266" r:id="rId7"/>
    <p:sldId id="261" r:id="rId8"/>
    <p:sldId id="263" r:id="rId9"/>
    <p:sldId id="264" r:id="rId10"/>
    <p:sldId id="267" r:id="rId11"/>
    <p:sldId id="268" r:id="rId12"/>
    <p:sldId id="269" r:id="rId13"/>
    <p:sldId id="270" r:id="rId14"/>
    <p:sldId id="275" r:id="rId15"/>
    <p:sldId id="276" r:id="rId16"/>
    <p:sldId id="277" r:id="rId17"/>
    <p:sldId id="278" r:id="rId18"/>
    <p:sldId id="279" r:id="rId19"/>
    <p:sldId id="273" r:id="rId20"/>
    <p:sldId id="274" r:id="rId21"/>
    <p:sldId id="265" r:id="rId22"/>
  </p:sldIdLst>
  <p:sldSz cx="14630400" cy="8229600"/>
  <p:notesSz cx="8229600" cy="14630400"/>
  <p:embeddedFontLst>
    <p:embeddedFont>
      <p:font typeface="Consolas" panose="020B0609020204030204" pitchFamily="49" charset="0"/>
      <p:regular r:id="rId24"/>
      <p:bold r:id="rId25"/>
      <p:italic r:id="rId26"/>
      <p:boldItalic r:id="rId27"/>
    </p:embeddedFont>
    <p:embeddedFont>
      <p:font typeface="Instrument Sans Medium" pitchFamily="2" charset="0"/>
      <p:regular r:id="rId28"/>
      <p:italic r:id="rId29"/>
    </p:embeddedFont>
    <p:embeddedFont>
      <p:font typeface="Instrument Sans Semi 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33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9655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0.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787024" y="2065409"/>
            <a:ext cx="4902346" cy="1197855"/>
          </a:xfrm>
          <a:prstGeom prst="rect">
            <a:avLst/>
          </a:prstGeom>
          <a:noFill/>
          <a:ln/>
        </p:spPr>
        <p:txBody>
          <a:bodyPr wrap="square" lIns="0" tIns="0" rIns="0" bIns="0" rtlCol="0" anchor="t"/>
          <a:lstStyle/>
          <a:p>
            <a:pPr marL="0" indent="0" algn="l">
              <a:lnSpc>
                <a:spcPts val="5550"/>
              </a:lnSpc>
              <a:buNone/>
            </a:pPr>
            <a:r>
              <a:rPr lang="en-US" sz="6600" dirty="0" err="1">
                <a:solidFill>
                  <a:srgbClr val="0540AD"/>
                </a:solidFill>
                <a:latin typeface="Instrument Sans Semi Bold" pitchFamily="34" charset="0"/>
                <a:ea typeface="Instrument Sans Semi Bold" pitchFamily="34" charset="-122"/>
                <a:cs typeface="Instrument Sans Semi Bold" pitchFamily="34" charset="-120"/>
              </a:rPr>
              <a:t>Băm</a:t>
            </a:r>
            <a:r>
              <a:rPr lang="en-US" sz="6600" dirty="0">
                <a:solidFill>
                  <a:srgbClr val="0540AD"/>
                </a:solidFill>
                <a:latin typeface="Instrument Sans Semi Bold" pitchFamily="34" charset="0"/>
                <a:ea typeface="Instrument Sans Semi Bold" pitchFamily="34" charset="-122"/>
                <a:cs typeface="Instrument Sans Semi Bold" pitchFamily="34" charset="-120"/>
              </a:rPr>
              <a:t> (Hash )</a:t>
            </a:r>
            <a:endParaRPr lang="en-US" sz="6600" dirty="0"/>
          </a:p>
        </p:txBody>
      </p:sp>
      <p:sp>
        <p:nvSpPr>
          <p:cNvPr id="4" name="Text 1"/>
          <p:cNvSpPr/>
          <p:nvPr/>
        </p:nvSpPr>
        <p:spPr>
          <a:xfrm>
            <a:off x="6616557" y="3164440"/>
            <a:ext cx="7243281" cy="2337439"/>
          </a:xfrm>
          <a:prstGeom prst="rect">
            <a:avLst/>
          </a:prstGeom>
          <a:noFill/>
          <a:ln/>
        </p:spPr>
        <p:txBody>
          <a:bodyPr wrap="square" lIns="0" tIns="0" rIns="0" bIns="0" rtlCol="0" anchor="t"/>
          <a:lstStyle/>
          <a:p>
            <a:r>
              <a:rPr lang="vi-VN" sz="2800" dirty="0"/>
              <a:t>Băm là kỹ thuật ánh xạ dữ liệu sang một giá trị đại diện giúp tìm kiếm, lưu trữ nhanh chóng, mang lại hiệu suất vượt trội trong nhiều ứng dụng.</a:t>
            </a:r>
          </a:p>
        </p:txBody>
      </p:sp>
      <p:pic>
        <p:nvPicPr>
          <p:cNvPr id="5" name="Picture 4">
            <a:extLst>
              <a:ext uri="{FF2B5EF4-FFF2-40B4-BE49-F238E27FC236}">
                <a16:creationId xmlns:a16="http://schemas.microsoft.com/office/drawing/2014/main" id="{93A231F2-4E42-5C90-1392-B57514202F9A}"/>
              </a:ext>
            </a:extLst>
          </p:cNvPr>
          <p:cNvPicPr>
            <a:picLocks noChangeAspect="1"/>
          </p:cNvPicPr>
          <p:nvPr/>
        </p:nvPicPr>
        <p:blipFill>
          <a:blip r:embed="rId3"/>
          <a:stretch>
            <a:fillRect/>
          </a:stretch>
        </p:blipFill>
        <p:spPr>
          <a:xfrm>
            <a:off x="345725" y="0"/>
            <a:ext cx="5760720" cy="8229600"/>
          </a:xfrm>
          <a:prstGeom prst="rect">
            <a:avLst/>
          </a:prstGeom>
        </p:spPr>
      </p:pic>
      <p:sp>
        <p:nvSpPr>
          <p:cNvPr id="2" name="Rectangle 1">
            <a:extLst>
              <a:ext uri="{FF2B5EF4-FFF2-40B4-BE49-F238E27FC236}">
                <a16:creationId xmlns:a16="http://schemas.microsoft.com/office/drawing/2014/main" id="{D73388B8-7CC7-89D6-A53B-56C5BE16C297}"/>
              </a:ext>
            </a:extLst>
          </p:cNvPr>
          <p:cNvSpPr/>
          <p:nvPr/>
        </p:nvSpPr>
        <p:spPr>
          <a:xfrm>
            <a:off x="12689370" y="7620000"/>
            <a:ext cx="1941030"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nvSpPr>
        <p:spPr>
          <a:xfrm>
            <a:off x="793790" y="1325047"/>
            <a:ext cx="7749421" cy="708779"/>
          </a:xfrm>
          <a:prstGeom prst="rect">
            <a:avLst/>
          </a:prstGeom>
          <a:noFill/>
          <a:ln/>
        </p:spPr>
        <p:txBody>
          <a:bodyPr wrap="non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Chúng Ta Sẽ Cùng Khám Phá</a:t>
            </a:r>
            <a:endParaRPr lang="en-US" sz="4450" dirty="0"/>
          </a:p>
        </p:txBody>
      </p:sp>
      <p:sp>
        <p:nvSpPr>
          <p:cNvPr id="4" name="Text 2"/>
          <p:cNvSpPr/>
          <p:nvPr/>
        </p:nvSpPr>
        <p:spPr>
          <a:xfrm>
            <a:off x="793790" y="237398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01</a:t>
            </a:r>
            <a:endParaRPr lang="en-US" sz="1750" dirty="0"/>
          </a:p>
        </p:txBody>
      </p:sp>
      <p:sp>
        <p:nvSpPr>
          <p:cNvPr id="5" name="Shape 3"/>
          <p:cNvSpPr/>
          <p:nvPr/>
        </p:nvSpPr>
        <p:spPr>
          <a:xfrm>
            <a:off x="793790" y="2729032"/>
            <a:ext cx="6407944" cy="30480"/>
          </a:xfrm>
          <a:prstGeom prst="rect">
            <a:avLst/>
          </a:prstGeom>
          <a:solidFill>
            <a:srgbClr val="84C1FA"/>
          </a:solidFill>
          <a:ln/>
        </p:spPr>
        <p:txBody>
          <a:bodyPr/>
          <a:lstStyle/>
          <a:p>
            <a:endParaRPr lang="en-US"/>
          </a:p>
        </p:txBody>
      </p:sp>
      <p:sp>
        <p:nvSpPr>
          <p:cNvPr id="6" name="Text 4"/>
          <p:cNvSpPr/>
          <p:nvPr/>
        </p:nvSpPr>
        <p:spPr>
          <a:xfrm>
            <a:off x="793790" y="2903339"/>
            <a:ext cx="2835235" cy="354330"/>
          </a:xfrm>
          <a:prstGeom prst="rect">
            <a:avLst/>
          </a:prstGeom>
          <a:noFill/>
          <a:ln/>
        </p:spPr>
        <p:txBody>
          <a:bodyPr wrap="none" lIns="0" tIns="0" rIns="0" bIns="0" rtlCol="0" anchor="t"/>
          <a:lstStyle/>
          <a:p>
            <a:pPr marL="0" indent="0" algn="l">
              <a:lnSpc>
                <a:spcPts val="2750"/>
              </a:lnSpc>
              <a:buNone/>
            </a:pPr>
            <a:r>
              <a:rPr lang="en-US" sz="2200" dirty="0" err="1">
                <a:solidFill>
                  <a:srgbClr val="1E3063"/>
                </a:solidFill>
                <a:latin typeface="Instrument Sans Semi Bold" pitchFamily="34" charset="0"/>
                <a:ea typeface="Instrument Sans Semi Bold" pitchFamily="34" charset="-122"/>
                <a:cs typeface="Instrument Sans Semi Bold" pitchFamily="34" charset="-120"/>
              </a:rPr>
              <a:t>Băm</a:t>
            </a:r>
            <a:r>
              <a:rPr lang="en-US" sz="2200" dirty="0">
                <a:solidFill>
                  <a:srgbClr val="1E3063"/>
                </a:solidFill>
                <a:latin typeface="Instrument Sans Semi Bold" pitchFamily="34" charset="0"/>
                <a:ea typeface="Instrument Sans Semi Bold" pitchFamily="34" charset="-122"/>
                <a:cs typeface="Instrument Sans Semi Bold" pitchFamily="34" charset="-120"/>
              </a:rPr>
              <a:t> là gì?</a:t>
            </a:r>
            <a:endParaRPr lang="en-US" sz="2200" dirty="0"/>
          </a:p>
        </p:txBody>
      </p:sp>
      <p:sp>
        <p:nvSpPr>
          <p:cNvPr id="7" name="Text 5"/>
          <p:cNvSpPr/>
          <p:nvPr/>
        </p:nvSpPr>
        <p:spPr>
          <a:xfrm>
            <a:off x="793790" y="3393758"/>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Tổng quan về cấu trúc dữ liệu quan trọng này.</a:t>
            </a:r>
            <a:endParaRPr lang="en-US" sz="1750" dirty="0"/>
          </a:p>
        </p:txBody>
      </p:sp>
      <p:sp>
        <p:nvSpPr>
          <p:cNvPr id="8" name="Text 6"/>
          <p:cNvSpPr/>
          <p:nvPr/>
        </p:nvSpPr>
        <p:spPr>
          <a:xfrm>
            <a:off x="7428548" y="237398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02</a:t>
            </a:r>
            <a:endParaRPr lang="en-US" sz="1750" dirty="0"/>
          </a:p>
        </p:txBody>
      </p:sp>
      <p:sp>
        <p:nvSpPr>
          <p:cNvPr id="9" name="Shape 7"/>
          <p:cNvSpPr/>
          <p:nvPr/>
        </p:nvSpPr>
        <p:spPr>
          <a:xfrm>
            <a:off x="7428548" y="2729032"/>
            <a:ext cx="6408063" cy="30480"/>
          </a:xfrm>
          <a:prstGeom prst="rect">
            <a:avLst/>
          </a:prstGeom>
          <a:solidFill>
            <a:srgbClr val="84C1FA"/>
          </a:solidFill>
          <a:ln/>
        </p:spPr>
        <p:txBody>
          <a:bodyPr/>
          <a:lstStyle/>
          <a:p>
            <a:endParaRPr lang="en-US"/>
          </a:p>
        </p:txBody>
      </p:sp>
      <p:sp>
        <p:nvSpPr>
          <p:cNvPr id="10" name="Text 8"/>
          <p:cNvSpPr/>
          <p:nvPr/>
        </p:nvSpPr>
        <p:spPr>
          <a:xfrm>
            <a:off x="7428548" y="2903339"/>
            <a:ext cx="4087178"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rPr>
              <a:t>Các </a:t>
            </a:r>
            <a:r>
              <a:rPr lang="en-US" sz="2200" dirty="0" err="1">
                <a:solidFill>
                  <a:srgbClr val="1E3063"/>
                </a:solidFill>
                <a:latin typeface="Instrument Sans Semi Bold" pitchFamily="34" charset="0"/>
              </a:rPr>
              <a:t>thành</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phần</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cấu</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tạo</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nên</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bảng</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băm</a:t>
            </a:r>
            <a:endParaRPr lang="en-US" sz="2200" dirty="0"/>
          </a:p>
        </p:txBody>
      </p:sp>
      <p:sp>
        <p:nvSpPr>
          <p:cNvPr id="11" name="Text 9"/>
          <p:cNvSpPr/>
          <p:nvPr/>
        </p:nvSpPr>
        <p:spPr>
          <a:xfrm>
            <a:off x="7428548" y="3393758"/>
            <a:ext cx="6408063" cy="362903"/>
          </a:xfrm>
          <a:prstGeom prst="rect">
            <a:avLst/>
          </a:prstGeom>
          <a:noFill/>
          <a:ln/>
        </p:spPr>
        <p:txBody>
          <a:bodyPr wrap="none" lIns="0" tIns="0" rIns="0" bIns="0" rtlCol="0" anchor="t"/>
          <a:lstStyle/>
          <a:p>
            <a:pPr>
              <a:lnSpc>
                <a:spcPts val="2850"/>
              </a:lnSpc>
            </a:pPr>
            <a:r>
              <a:rPr lang="en-US" sz="1750" dirty="0">
                <a:solidFill>
                  <a:srgbClr val="1E3063"/>
                </a:solidFill>
                <a:latin typeface="Instrument Sans Medium" pitchFamily="34" charset="0"/>
                <a:ea typeface="Instrument Sans Medium" pitchFamily="34" charset="-122"/>
                <a:cs typeface="Instrument Sans Medium" pitchFamily="34" charset="-120"/>
              </a:rPr>
              <a:t>Key, Value, Hash Function </a:t>
            </a:r>
            <a:r>
              <a:rPr lang="en-US" sz="1750" dirty="0" err="1">
                <a:solidFill>
                  <a:srgbClr val="1E3063"/>
                </a:solidFill>
                <a:latin typeface="Instrument Sans Medium" pitchFamily="34" charset="0"/>
                <a:ea typeface="Instrument Sans Medium" pitchFamily="34" charset="-122"/>
                <a:cs typeface="Instrument Sans Medium" pitchFamily="34" charset="-120"/>
              </a:rPr>
              <a:t>và</a:t>
            </a:r>
            <a:r>
              <a:rPr lang="en-US" sz="1750" dirty="0">
                <a:solidFill>
                  <a:srgbClr val="1E3063"/>
                </a:solidFill>
                <a:latin typeface="Instrument Sans Medium" pitchFamily="34" charset="0"/>
                <a:ea typeface="Instrument Sans Medium" pitchFamily="34" charset="-122"/>
                <a:cs typeface="Instrument Sans Medium" pitchFamily="34" charset="-120"/>
              </a:rPr>
              <a:t> Bucket.</a:t>
            </a:r>
            <a:endParaRPr lang="en-US" sz="1750" dirty="0"/>
          </a:p>
        </p:txBody>
      </p:sp>
      <p:sp>
        <p:nvSpPr>
          <p:cNvPr id="12" name="Text 10"/>
          <p:cNvSpPr/>
          <p:nvPr/>
        </p:nvSpPr>
        <p:spPr>
          <a:xfrm>
            <a:off x="793790" y="415349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03</a:t>
            </a:r>
            <a:endParaRPr lang="en-US" sz="1750" dirty="0"/>
          </a:p>
        </p:txBody>
      </p:sp>
      <p:sp>
        <p:nvSpPr>
          <p:cNvPr id="13" name="Shape 11"/>
          <p:cNvSpPr/>
          <p:nvPr/>
        </p:nvSpPr>
        <p:spPr>
          <a:xfrm>
            <a:off x="793790" y="4508540"/>
            <a:ext cx="6407944" cy="30480"/>
          </a:xfrm>
          <a:prstGeom prst="rect">
            <a:avLst/>
          </a:prstGeom>
          <a:solidFill>
            <a:srgbClr val="84C1FA"/>
          </a:solidFill>
          <a:ln/>
        </p:spPr>
        <p:txBody>
          <a:bodyPr/>
          <a:lstStyle/>
          <a:p>
            <a:endParaRPr lang="en-US"/>
          </a:p>
        </p:txBody>
      </p:sp>
      <p:sp>
        <p:nvSpPr>
          <p:cNvPr id="14" name="Text 12"/>
          <p:cNvSpPr/>
          <p:nvPr/>
        </p:nvSpPr>
        <p:spPr>
          <a:xfrm>
            <a:off x="793790" y="4682847"/>
            <a:ext cx="3126700" cy="354330"/>
          </a:xfrm>
          <a:prstGeom prst="rect">
            <a:avLst/>
          </a:prstGeom>
          <a:noFill/>
          <a:ln/>
        </p:spPr>
        <p:txBody>
          <a:bodyPr wrap="none" lIns="0" tIns="0" rIns="0" bIns="0" rtlCol="0" anchor="t"/>
          <a:lstStyle/>
          <a:p>
            <a:pPr marL="0" indent="0" algn="l">
              <a:lnSpc>
                <a:spcPts val="2750"/>
              </a:lnSpc>
              <a:buNone/>
            </a:pPr>
            <a:r>
              <a:rPr lang="en-US" sz="2200" dirty="0" err="1">
                <a:solidFill>
                  <a:srgbClr val="1E3063"/>
                </a:solidFill>
                <a:latin typeface="Instrument Sans Semi Bold" pitchFamily="34" charset="0"/>
                <a:ea typeface="Instrument Sans Semi Bold" pitchFamily="34" charset="-122"/>
                <a:cs typeface="Instrument Sans Semi Bold" pitchFamily="34" charset="-120"/>
              </a:rPr>
              <a:t>Cách</a:t>
            </a:r>
            <a:r>
              <a:rPr lang="en-US" sz="2200" dirty="0">
                <a:solidFill>
                  <a:srgbClr val="1E3063"/>
                </a:solidFill>
                <a:latin typeface="Instrument Sans Semi Bold" pitchFamily="34" charset="0"/>
                <a:ea typeface="Instrument Sans Semi Bold" pitchFamily="34" charset="-122"/>
                <a:cs typeface="Instrument Sans Semi Bold" pitchFamily="34" charset="-120"/>
              </a:rPr>
              <a:t> </a:t>
            </a:r>
            <a:r>
              <a:rPr lang="en-US" sz="2200" dirty="0" err="1">
                <a:solidFill>
                  <a:srgbClr val="1E3063"/>
                </a:solidFill>
                <a:latin typeface="Instrument Sans Semi Bold" pitchFamily="34" charset="0"/>
                <a:ea typeface="Instrument Sans Semi Bold" pitchFamily="34" charset="-122"/>
                <a:cs typeface="Instrument Sans Semi Bold" pitchFamily="34" charset="-120"/>
              </a:rPr>
              <a:t>thức</a:t>
            </a:r>
            <a:r>
              <a:rPr lang="en-US" sz="2200" dirty="0">
                <a:solidFill>
                  <a:srgbClr val="1E3063"/>
                </a:solidFill>
                <a:latin typeface="Instrument Sans Semi Bold" pitchFamily="34" charset="0"/>
                <a:ea typeface="Instrument Sans Semi Bold" pitchFamily="34" charset="-122"/>
                <a:cs typeface="Instrument Sans Semi Bold" pitchFamily="34" charset="-120"/>
              </a:rPr>
              <a:t> </a:t>
            </a:r>
            <a:r>
              <a:rPr lang="en-US" sz="2200" dirty="0" err="1">
                <a:solidFill>
                  <a:srgbClr val="1E3063"/>
                </a:solidFill>
                <a:latin typeface="Instrument Sans Semi Bold" pitchFamily="34" charset="0"/>
                <a:ea typeface="Instrument Sans Semi Bold" pitchFamily="34" charset="-122"/>
                <a:cs typeface="Instrument Sans Semi Bold" pitchFamily="34" charset="-120"/>
              </a:rPr>
              <a:t>hoạt</a:t>
            </a:r>
            <a:r>
              <a:rPr lang="en-US" sz="2200" dirty="0">
                <a:solidFill>
                  <a:srgbClr val="1E3063"/>
                </a:solidFill>
                <a:latin typeface="Instrument Sans Semi Bold" pitchFamily="34" charset="0"/>
                <a:ea typeface="Instrument Sans Semi Bold" pitchFamily="34" charset="-122"/>
                <a:cs typeface="Instrument Sans Semi Bold" pitchFamily="34" charset="-120"/>
              </a:rPr>
              <a:t> </a:t>
            </a:r>
            <a:r>
              <a:rPr lang="en-US" sz="2200" dirty="0" err="1">
                <a:solidFill>
                  <a:srgbClr val="1E3063"/>
                </a:solidFill>
                <a:latin typeface="Instrument Sans Semi Bold" pitchFamily="34" charset="0"/>
                <a:ea typeface="Instrument Sans Semi Bold" pitchFamily="34" charset="-122"/>
                <a:cs typeface="Instrument Sans Semi Bold" pitchFamily="34" charset="-120"/>
              </a:rPr>
              <a:t>động</a:t>
            </a:r>
            <a:endParaRPr lang="en-US" sz="2200" dirty="0"/>
          </a:p>
        </p:txBody>
      </p:sp>
      <p:sp>
        <p:nvSpPr>
          <p:cNvPr id="15" name="Text 13"/>
          <p:cNvSpPr/>
          <p:nvPr/>
        </p:nvSpPr>
        <p:spPr>
          <a:xfrm>
            <a:off x="793790" y="5173266"/>
            <a:ext cx="6407944" cy="362903"/>
          </a:xfrm>
          <a:prstGeom prst="rect">
            <a:avLst/>
          </a:prstGeom>
          <a:noFill/>
          <a:ln/>
        </p:spPr>
        <p:txBody>
          <a:bodyPr wrap="none" lIns="0" tIns="0" rIns="0" bIns="0" rtlCol="0" anchor="t"/>
          <a:lstStyle/>
          <a:p>
            <a:pPr>
              <a:lnSpc>
                <a:spcPts val="2850"/>
              </a:lnSpc>
            </a:pPr>
            <a:r>
              <a:rPr lang="en-US" sz="1750" dirty="0">
                <a:solidFill>
                  <a:srgbClr val="1E3063"/>
                </a:solidFill>
                <a:latin typeface="Instrument Sans Medium" pitchFamily="34" charset="0"/>
                <a:ea typeface="Instrument Sans Medium" pitchFamily="34" charset="-122"/>
                <a:cs typeface="Instrument Sans Medium" pitchFamily="34" charset="-120"/>
              </a:rPr>
              <a:t>Minh </a:t>
            </a:r>
            <a:r>
              <a:rPr lang="en-US" sz="1750" dirty="0" err="1">
                <a:solidFill>
                  <a:srgbClr val="1E3063"/>
                </a:solidFill>
                <a:latin typeface="Instrument Sans Medium" pitchFamily="34" charset="0"/>
                <a:ea typeface="Instrument Sans Medium" pitchFamily="34" charset="-122"/>
                <a:cs typeface="Instrument Sans Medium" pitchFamily="34" charset="-120"/>
              </a:rPr>
              <a:t>họa</a:t>
            </a:r>
            <a:r>
              <a:rPr lang="en-US" sz="1750" dirty="0">
                <a:solidFill>
                  <a:srgbClr val="1E3063"/>
                </a:solidFill>
                <a:latin typeface="Instrument Sans Medium" pitchFamily="34" charset="0"/>
                <a:ea typeface="Instrument Sans Medium" pitchFamily="34" charset="-122"/>
                <a:cs typeface="Instrument Sans Medium" pitchFamily="34" charset="-120"/>
              </a:rPr>
              <a:t> chi </a:t>
            </a:r>
            <a:r>
              <a:rPr lang="en-US" sz="1750" dirty="0" err="1">
                <a:solidFill>
                  <a:srgbClr val="1E3063"/>
                </a:solidFill>
                <a:latin typeface="Instrument Sans Medium" pitchFamily="34" charset="0"/>
                <a:ea typeface="Instrument Sans Medium" pitchFamily="34" charset="-122"/>
                <a:cs typeface="Instrument Sans Medium" pitchFamily="34" charset="-120"/>
              </a:rPr>
              <a:t>tiết</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các</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thao</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tác</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cơ</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bản</a:t>
            </a:r>
            <a:r>
              <a:rPr lang="en-US" sz="1750" dirty="0">
                <a:solidFill>
                  <a:srgbClr val="1E3063"/>
                </a:solidFill>
                <a:latin typeface="Instrument Sans Medium" pitchFamily="34" charset="0"/>
                <a:ea typeface="Instrument Sans Medium" pitchFamily="34" charset="-122"/>
                <a:cs typeface="Instrument Sans Medium" pitchFamily="34" charset="-120"/>
              </a:rPr>
              <a:t>.</a:t>
            </a:r>
            <a:endParaRPr lang="en-US" sz="1750" dirty="0"/>
          </a:p>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t>
            </a:r>
            <a:endParaRPr lang="en-US" sz="1750" dirty="0"/>
          </a:p>
        </p:txBody>
      </p:sp>
      <p:sp>
        <p:nvSpPr>
          <p:cNvPr id="16" name="Text 14"/>
          <p:cNvSpPr/>
          <p:nvPr/>
        </p:nvSpPr>
        <p:spPr>
          <a:xfrm>
            <a:off x="7428548" y="415349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04</a:t>
            </a:r>
            <a:endParaRPr lang="en-US" sz="1750" dirty="0"/>
          </a:p>
        </p:txBody>
      </p:sp>
      <p:sp>
        <p:nvSpPr>
          <p:cNvPr id="17" name="Shape 15"/>
          <p:cNvSpPr/>
          <p:nvPr/>
        </p:nvSpPr>
        <p:spPr>
          <a:xfrm>
            <a:off x="7428548" y="4508540"/>
            <a:ext cx="6408063" cy="30480"/>
          </a:xfrm>
          <a:prstGeom prst="rect">
            <a:avLst/>
          </a:prstGeom>
          <a:solidFill>
            <a:srgbClr val="84C1FA"/>
          </a:solidFill>
          <a:ln/>
        </p:spPr>
        <p:txBody>
          <a:bodyPr/>
          <a:lstStyle/>
          <a:p>
            <a:endParaRPr lang="en-US"/>
          </a:p>
        </p:txBody>
      </p:sp>
      <p:sp>
        <p:nvSpPr>
          <p:cNvPr id="18" name="Text 16"/>
          <p:cNvSpPr/>
          <p:nvPr/>
        </p:nvSpPr>
        <p:spPr>
          <a:xfrm>
            <a:off x="7428548" y="468284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rPr>
              <a:t>Các </a:t>
            </a:r>
            <a:r>
              <a:rPr lang="en-US" sz="2200" dirty="0" err="1">
                <a:solidFill>
                  <a:srgbClr val="1E3063"/>
                </a:solidFill>
                <a:latin typeface="Instrument Sans Semi Bold" pitchFamily="34" charset="0"/>
              </a:rPr>
              <a:t>vấn</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đề</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khi</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xây</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dựng</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hàm</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băm</a:t>
            </a:r>
            <a:endParaRPr lang="en-US" sz="2200" dirty="0"/>
          </a:p>
        </p:txBody>
      </p:sp>
      <p:sp>
        <p:nvSpPr>
          <p:cNvPr id="19" name="Text 17"/>
          <p:cNvSpPr/>
          <p:nvPr/>
        </p:nvSpPr>
        <p:spPr>
          <a:xfrm>
            <a:off x="7428548" y="5173266"/>
            <a:ext cx="6408063" cy="362903"/>
          </a:xfrm>
          <a:prstGeom prst="rect">
            <a:avLst/>
          </a:prstGeom>
          <a:noFill/>
          <a:ln/>
        </p:spPr>
        <p:txBody>
          <a:bodyPr wrap="none" lIns="0" tIns="0" rIns="0" bIns="0" rtlCol="0" anchor="t"/>
          <a:lstStyle/>
          <a:p>
            <a:pPr marL="0" indent="0" algn="l">
              <a:lnSpc>
                <a:spcPts val="2850"/>
              </a:lnSpc>
              <a:buNone/>
            </a:pPr>
            <a:r>
              <a:rPr lang="en-US" sz="1750" dirty="0" err="1">
                <a:solidFill>
                  <a:srgbClr val="1E3063"/>
                </a:solidFill>
                <a:latin typeface="Instrument Sans Medium" pitchFamily="34" charset="0"/>
              </a:rPr>
              <a:t>Phân</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tích</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tiêu</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chí</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của</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hàm</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băm</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và</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cách</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xử</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lý</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xung</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đột</a:t>
            </a:r>
            <a:endParaRPr lang="en-US" sz="1750" dirty="0"/>
          </a:p>
        </p:txBody>
      </p:sp>
      <p:sp>
        <p:nvSpPr>
          <p:cNvPr id="20" name="Text 18"/>
          <p:cNvSpPr/>
          <p:nvPr/>
        </p:nvSpPr>
        <p:spPr>
          <a:xfrm>
            <a:off x="793790" y="593300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05</a:t>
            </a:r>
            <a:endParaRPr lang="en-US" sz="1750" dirty="0"/>
          </a:p>
        </p:txBody>
      </p:sp>
      <p:sp>
        <p:nvSpPr>
          <p:cNvPr id="21" name="Shape 19"/>
          <p:cNvSpPr/>
          <p:nvPr/>
        </p:nvSpPr>
        <p:spPr>
          <a:xfrm>
            <a:off x="793790" y="6288048"/>
            <a:ext cx="6407944" cy="30480"/>
          </a:xfrm>
          <a:prstGeom prst="rect">
            <a:avLst/>
          </a:prstGeom>
          <a:solidFill>
            <a:srgbClr val="84C1FA"/>
          </a:solidFill>
          <a:ln/>
        </p:spPr>
        <p:txBody>
          <a:bodyPr/>
          <a:lstStyle/>
          <a:p>
            <a:endParaRPr lang="en-US"/>
          </a:p>
        </p:txBody>
      </p:sp>
      <p:sp>
        <p:nvSpPr>
          <p:cNvPr id="22" name="Text 20"/>
          <p:cNvSpPr/>
          <p:nvPr/>
        </p:nvSpPr>
        <p:spPr>
          <a:xfrm>
            <a:off x="793790" y="6462355"/>
            <a:ext cx="2835235" cy="354330"/>
          </a:xfrm>
          <a:prstGeom prst="rect">
            <a:avLst/>
          </a:prstGeom>
          <a:noFill/>
          <a:ln/>
        </p:spPr>
        <p:txBody>
          <a:bodyPr wrap="none" lIns="0" tIns="0" rIns="0" bIns="0" rtlCol="0" anchor="t"/>
          <a:lstStyle/>
          <a:p>
            <a:pPr marL="0" indent="0" algn="l">
              <a:lnSpc>
                <a:spcPts val="2750"/>
              </a:lnSpc>
              <a:buNone/>
            </a:pPr>
            <a:r>
              <a:rPr lang="en-US" sz="2200" dirty="0" err="1">
                <a:solidFill>
                  <a:srgbClr val="1E3063"/>
                </a:solidFill>
                <a:latin typeface="Instrument Sans Semi Bold" pitchFamily="34" charset="0"/>
              </a:rPr>
              <a:t>Ứng</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dụng</a:t>
            </a:r>
            <a:r>
              <a:rPr lang="en-US" sz="2200" dirty="0">
                <a:solidFill>
                  <a:srgbClr val="1E3063"/>
                </a:solidFill>
                <a:latin typeface="Instrument Sans Semi Bold" pitchFamily="34" charset="0"/>
              </a:rPr>
              <a:t> </a:t>
            </a:r>
            <a:endParaRPr lang="en-US" sz="2200" dirty="0"/>
          </a:p>
        </p:txBody>
      </p:sp>
      <p:sp>
        <p:nvSpPr>
          <p:cNvPr id="23" name="Text 21"/>
          <p:cNvSpPr/>
          <p:nvPr/>
        </p:nvSpPr>
        <p:spPr>
          <a:xfrm>
            <a:off x="793790" y="6952774"/>
            <a:ext cx="6407944" cy="362903"/>
          </a:xfrm>
          <a:prstGeom prst="rect">
            <a:avLst/>
          </a:prstGeom>
          <a:noFill/>
          <a:ln/>
        </p:spPr>
        <p:txBody>
          <a:bodyPr wrap="none" lIns="0" tIns="0" rIns="0" bIns="0" rtlCol="0" anchor="t"/>
          <a:lstStyle/>
          <a:p>
            <a:pPr marL="0" indent="0" algn="l">
              <a:lnSpc>
                <a:spcPts val="2850"/>
              </a:lnSpc>
              <a:buNone/>
            </a:pPr>
            <a:r>
              <a:rPr lang="en-US" sz="1750" dirty="0" err="1">
                <a:solidFill>
                  <a:srgbClr val="1E3063"/>
                </a:solidFill>
                <a:latin typeface="Instrument Sans Medium" pitchFamily="34" charset="0"/>
              </a:rPr>
              <a:t>Giới</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thiệu</a:t>
            </a:r>
            <a:r>
              <a:rPr lang="en-US" sz="1750" dirty="0">
                <a:solidFill>
                  <a:srgbClr val="1E3063"/>
                </a:solidFill>
                <a:latin typeface="Instrument Sans Medium" pitchFamily="34" charset="0"/>
              </a:rPr>
              <a:t> Hash </a:t>
            </a:r>
            <a:r>
              <a:rPr lang="en-US" sz="1750" dirty="0" err="1">
                <a:solidFill>
                  <a:srgbClr val="1E3063"/>
                </a:solidFill>
                <a:latin typeface="Instrument Sans Medium" pitchFamily="34" charset="0"/>
              </a:rPr>
              <a:t>trong</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thực</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tế</a:t>
            </a:r>
            <a:r>
              <a:rPr lang="en-US" sz="1750" dirty="0">
                <a:solidFill>
                  <a:srgbClr val="1E3063"/>
                </a:solidFill>
                <a:latin typeface="Instrument Sans Medium" pitchFamily="34" charset="0"/>
              </a:rPr>
              <a:t> </a:t>
            </a:r>
            <a:endParaRPr lang="en-US" sz="1750" dirty="0"/>
          </a:p>
        </p:txBody>
      </p:sp>
      <p:sp>
        <p:nvSpPr>
          <p:cNvPr id="24" name="Text 22"/>
          <p:cNvSpPr/>
          <p:nvPr/>
        </p:nvSpPr>
        <p:spPr>
          <a:xfrm>
            <a:off x="7428548" y="593300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06</a:t>
            </a:r>
            <a:endParaRPr lang="en-US" sz="1750" dirty="0"/>
          </a:p>
        </p:txBody>
      </p:sp>
      <p:sp>
        <p:nvSpPr>
          <p:cNvPr id="25" name="Shape 23"/>
          <p:cNvSpPr/>
          <p:nvPr/>
        </p:nvSpPr>
        <p:spPr>
          <a:xfrm>
            <a:off x="7428548" y="6288048"/>
            <a:ext cx="6408063" cy="30480"/>
          </a:xfrm>
          <a:prstGeom prst="rect">
            <a:avLst/>
          </a:prstGeom>
          <a:solidFill>
            <a:srgbClr val="84C1FA"/>
          </a:solidFill>
          <a:ln/>
        </p:spPr>
        <p:txBody>
          <a:bodyPr/>
          <a:lstStyle/>
          <a:p>
            <a:endParaRPr lang="en-US"/>
          </a:p>
        </p:txBody>
      </p:sp>
      <p:sp>
        <p:nvSpPr>
          <p:cNvPr id="26" name="Text 24"/>
          <p:cNvSpPr/>
          <p:nvPr/>
        </p:nvSpPr>
        <p:spPr>
          <a:xfrm>
            <a:off x="7428548" y="6462355"/>
            <a:ext cx="2835235" cy="354330"/>
          </a:xfrm>
          <a:prstGeom prst="rect">
            <a:avLst/>
          </a:prstGeom>
          <a:noFill/>
          <a:ln/>
        </p:spPr>
        <p:txBody>
          <a:bodyPr wrap="none" lIns="0" tIns="0" rIns="0" bIns="0" rtlCol="0" anchor="t"/>
          <a:lstStyle/>
          <a:p>
            <a:pPr marL="0" indent="0" algn="l">
              <a:lnSpc>
                <a:spcPts val="2750"/>
              </a:lnSpc>
              <a:buNone/>
            </a:pPr>
            <a:r>
              <a:rPr lang="en-US" sz="2200" dirty="0" err="1">
                <a:solidFill>
                  <a:srgbClr val="1E3063"/>
                </a:solidFill>
                <a:latin typeface="Instrument Sans Semi Bold" pitchFamily="34" charset="0"/>
                <a:ea typeface="Instrument Sans Semi Bold" pitchFamily="34" charset="-122"/>
                <a:cs typeface="Instrument Sans Semi Bold" pitchFamily="34" charset="-120"/>
              </a:rPr>
              <a:t>Tổng</a:t>
            </a:r>
            <a:r>
              <a:rPr lang="en-US" sz="2200" dirty="0">
                <a:solidFill>
                  <a:srgbClr val="1E3063"/>
                </a:solidFill>
                <a:latin typeface="Instrument Sans Semi Bold" pitchFamily="34" charset="0"/>
                <a:ea typeface="Instrument Sans Semi Bold" pitchFamily="34" charset="-122"/>
                <a:cs typeface="Instrument Sans Semi Bold" pitchFamily="34" charset="-120"/>
              </a:rPr>
              <a:t> </a:t>
            </a:r>
            <a:r>
              <a:rPr lang="en-US" sz="2200" dirty="0" err="1">
                <a:solidFill>
                  <a:srgbClr val="1E3063"/>
                </a:solidFill>
                <a:latin typeface="Instrument Sans Semi Bold" pitchFamily="34" charset="0"/>
                <a:ea typeface="Instrument Sans Semi Bold" pitchFamily="34" charset="-122"/>
                <a:cs typeface="Instrument Sans Semi Bold" pitchFamily="34" charset="-120"/>
              </a:rPr>
              <a:t>kết</a:t>
            </a:r>
            <a:endParaRPr lang="en-US" sz="2200" dirty="0"/>
          </a:p>
        </p:txBody>
      </p:sp>
      <p:sp>
        <p:nvSpPr>
          <p:cNvPr id="27" name="Text 25"/>
          <p:cNvSpPr/>
          <p:nvPr/>
        </p:nvSpPr>
        <p:spPr>
          <a:xfrm>
            <a:off x="7428547" y="6991040"/>
            <a:ext cx="6408063" cy="362903"/>
          </a:xfrm>
          <a:prstGeom prst="rect">
            <a:avLst/>
          </a:prstGeom>
          <a:noFill/>
          <a:ln/>
        </p:spPr>
        <p:txBody>
          <a:bodyPr wrap="none" lIns="0" tIns="0" rIns="0" bIns="0" rtlCol="0" anchor="t"/>
          <a:lstStyle/>
          <a:p>
            <a:pPr marL="0" indent="0" algn="l">
              <a:lnSpc>
                <a:spcPts val="2850"/>
              </a:lnSpc>
              <a:buNone/>
            </a:pPr>
            <a:r>
              <a:rPr lang="en-US" sz="1750" dirty="0" err="1">
                <a:solidFill>
                  <a:srgbClr val="1E3063"/>
                </a:solidFill>
                <a:latin typeface="Instrument Sans Medium" pitchFamily="34" charset="0"/>
                <a:ea typeface="Instrument Sans Medium" pitchFamily="34" charset="-122"/>
                <a:cs typeface="Instrument Sans Medium" pitchFamily="34" charset="-120"/>
              </a:rPr>
              <a:t>Tóm</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tắt</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lại</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nội</a:t>
            </a:r>
            <a:r>
              <a:rPr lang="en-US" sz="1750" dirty="0">
                <a:solidFill>
                  <a:srgbClr val="1E3063"/>
                </a:solidFill>
                <a:latin typeface="Instrument Sans Medium" pitchFamily="34" charset="0"/>
                <a:ea typeface="Instrument Sans Medium" pitchFamily="34" charset="-122"/>
                <a:cs typeface="Instrument Sans Medium" pitchFamily="34" charset="-120"/>
              </a:rPr>
              <a:t> dung </a:t>
            </a:r>
            <a:r>
              <a:rPr lang="en-US" sz="1750" dirty="0" err="1">
                <a:solidFill>
                  <a:srgbClr val="1E3063"/>
                </a:solidFill>
                <a:latin typeface="Instrument Sans Medium" pitchFamily="34" charset="0"/>
                <a:ea typeface="Instrument Sans Medium" pitchFamily="34" charset="-122"/>
                <a:cs typeface="Instrument Sans Medium" pitchFamily="34" charset="-120"/>
              </a:rPr>
              <a:t>chính</a:t>
            </a:r>
            <a:endParaRPr lang="en-US" sz="1750" dirty="0"/>
          </a:p>
        </p:txBody>
      </p:sp>
      <p:sp>
        <p:nvSpPr>
          <p:cNvPr id="28" name="Rectangle 27">
            <a:extLst>
              <a:ext uri="{FF2B5EF4-FFF2-40B4-BE49-F238E27FC236}">
                <a16:creationId xmlns:a16="http://schemas.microsoft.com/office/drawing/2014/main" id="{78175F96-4635-895F-0D6E-E0CFA513A2C1}"/>
              </a:ext>
            </a:extLst>
          </p:cNvPr>
          <p:cNvSpPr/>
          <p:nvPr/>
        </p:nvSpPr>
        <p:spPr>
          <a:xfrm>
            <a:off x="12763500" y="7696200"/>
            <a:ext cx="1866900" cy="533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278843" y="384539"/>
            <a:ext cx="4997529" cy="447080"/>
          </a:xfrm>
          <a:prstGeom prst="rect">
            <a:avLst/>
          </a:prstGeom>
          <a:noFill/>
          <a:ln/>
        </p:spPr>
        <p:txBody>
          <a:bodyPr wrap="none" lIns="0" tIns="0" rIns="0" bIns="0" rtlCol="0" anchor="t"/>
          <a:lstStyle/>
          <a:p>
            <a:pPr marL="0" indent="0" algn="l">
              <a:lnSpc>
                <a:spcPts val="3500"/>
              </a:lnSpc>
              <a:buNone/>
            </a:pPr>
            <a:r>
              <a:rPr lang="en-US" sz="3600" dirty="0" err="1">
                <a:solidFill>
                  <a:srgbClr val="091C53"/>
                </a:solidFill>
                <a:latin typeface="Instrument Sans Semi Bold" pitchFamily="34" charset="0"/>
                <a:ea typeface="Instrument Sans Semi Bold" pitchFamily="34" charset="-122"/>
                <a:cs typeface="Instrument Sans Semi Bold" pitchFamily="34" charset="-120"/>
              </a:rPr>
              <a:t>Băm</a:t>
            </a:r>
            <a:r>
              <a:rPr lang="en-US" sz="3600" dirty="0">
                <a:solidFill>
                  <a:srgbClr val="091C53"/>
                </a:solidFill>
                <a:latin typeface="Instrument Sans Semi Bold" pitchFamily="34" charset="0"/>
                <a:ea typeface="Instrument Sans Semi Bold" pitchFamily="34" charset="-122"/>
                <a:cs typeface="Instrument Sans Semi Bold" pitchFamily="34" charset="-120"/>
              </a:rPr>
              <a:t> (Hash) Là Gì?</a:t>
            </a:r>
            <a:endParaRPr lang="en-US" sz="3600" dirty="0"/>
          </a:p>
        </p:txBody>
      </p:sp>
      <p:sp>
        <p:nvSpPr>
          <p:cNvPr id="3" name="Text 1"/>
          <p:cNvSpPr/>
          <p:nvPr/>
        </p:nvSpPr>
        <p:spPr>
          <a:xfrm>
            <a:off x="356939" y="936240"/>
            <a:ext cx="13669883" cy="1965953"/>
          </a:xfrm>
          <a:prstGeom prst="rect">
            <a:avLst/>
          </a:prstGeom>
          <a:noFill/>
          <a:ln/>
        </p:spPr>
        <p:txBody>
          <a:bodyPr wrap="square" lIns="0" tIns="0" rIns="0" bIns="0" rtlCol="0" anchor="t"/>
          <a:lstStyle/>
          <a:p>
            <a:pPr marL="0" indent="0" algn="just">
              <a:lnSpc>
                <a:spcPct val="150000"/>
              </a:lnSpc>
              <a:buNone/>
            </a:pPr>
            <a:r>
              <a:rPr lang="en-US" sz="2400" dirty="0">
                <a:solidFill>
                  <a:srgbClr val="1E3063"/>
                </a:solidFill>
                <a:latin typeface="Instrument Sans Medium" pitchFamily="34" charset="0"/>
                <a:ea typeface="Instrument Sans Medium" pitchFamily="34" charset="-122"/>
                <a:cs typeface="Instrument Sans Medium" pitchFamily="34" charset="-120"/>
              </a:rPr>
              <a:t>Bảng băm là một cấu trúc dữ liệu được thiết kế để lưu trữ thông tin dưới dạng các cặp khóa – giá trị (key – value). Điểm đặc biệt của nó là sử dụng một hàm băm (hash function) để tính toán ra một vị trí (chỉ số - index) gần như duy nhất trong bộ nhớ cho mỗi khóa.</a:t>
            </a:r>
            <a:endParaRPr lang="en-US" sz="2400" dirty="0"/>
          </a:p>
        </p:txBody>
      </p:sp>
      <p:sp>
        <p:nvSpPr>
          <p:cNvPr id="4" name="Text 2"/>
          <p:cNvSpPr/>
          <p:nvPr/>
        </p:nvSpPr>
        <p:spPr>
          <a:xfrm>
            <a:off x="516017" y="3385964"/>
            <a:ext cx="13414296" cy="228957"/>
          </a:xfrm>
          <a:prstGeom prst="rect">
            <a:avLst/>
          </a:prstGeom>
          <a:noFill/>
          <a:ln/>
        </p:spPr>
        <p:txBody>
          <a:bodyPr wrap="none" lIns="0" tIns="0" rIns="0" bIns="0" rtlCol="0" anchor="t"/>
          <a:lstStyle/>
          <a:p>
            <a:pPr marL="0" indent="0" algn="l">
              <a:lnSpc>
                <a:spcPts val="1800"/>
              </a:lnSpc>
              <a:buNone/>
            </a:pPr>
            <a:r>
              <a:rPr lang="en-US" sz="2400" dirty="0">
                <a:solidFill>
                  <a:srgbClr val="1E3063"/>
                </a:solidFill>
                <a:latin typeface="Instrument Sans Medium" pitchFamily="34" charset="0"/>
                <a:ea typeface="Instrument Sans Medium" pitchFamily="34" charset="-122"/>
                <a:cs typeface="Instrument Sans Medium" pitchFamily="34" charset="-120"/>
              </a:rPr>
              <a:t>Điều này cho phép việc thêm, xóa và đặc biệt là tìm kiếm dữ liệu diễn ra cực kỳ nhanh chóng.</a:t>
            </a:r>
            <a:endParaRPr lang="en-US" sz="2400" dirty="0"/>
          </a:p>
        </p:txBody>
      </p:sp>
      <p:sp>
        <p:nvSpPr>
          <p:cNvPr id="5" name="Shape 3"/>
          <p:cNvSpPr/>
          <p:nvPr/>
        </p:nvSpPr>
        <p:spPr>
          <a:xfrm>
            <a:off x="407707" y="3196372"/>
            <a:ext cx="45719" cy="550664"/>
          </a:xfrm>
          <a:prstGeom prst="rect">
            <a:avLst/>
          </a:prstGeom>
          <a:solidFill>
            <a:srgbClr val="84C1FA"/>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356939" y="3758139"/>
            <a:ext cx="3866556" cy="3866555"/>
          </a:xfrm>
          <a:prstGeom prst="rect">
            <a:avLst/>
          </a:prstGeom>
        </p:spPr>
      </p:pic>
      <p:sp>
        <p:nvSpPr>
          <p:cNvPr id="7" name="Text 4"/>
          <p:cNvSpPr/>
          <p:nvPr/>
        </p:nvSpPr>
        <p:spPr>
          <a:xfrm>
            <a:off x="6622431" y="4271244"/>
            <a:ext cx="7307882" cy="686872"/>
          </a:xfrm>
          <a:prstGeom prst="rect">
            <a:avLst/>
          </a:prstGeom>
          <a:noFill/>
          <a:ln/>
        </p:spPr>
        <p:txBody>
          <a:bodyPr wrap="square" lIns="0" tIns="0" rIns="0" bIns="0" rtlCol="0" anchor="t"/>
          <a:lstStyle/>
          <a:p>
            <a:pPr marL="0" indent="0" algn="just">
              <a:lnSpc>
                <a:spcPct val="150000"/>
              </a:lnSpc>
              <a:buNone/>
            </a:pPr>
            <a:r>
              <a:rPr lang="en-US" sz="2400" dirty="0">
                <a:solidFill>
                  <a:srgbClr val="1E3063"/>
                </a:solidFill>
                <a:latin typeface="Instrument Sans Medium" pitchFamily="34" charset="0"/>
                <a:ea typeface="Instrument Sans Medium" pitchFamily="34" charset="-122"/>
                <a:cs typeface="Instrument Sans Medium" pitchFamily="34" charset="-120"/>
              </a:rPr>
              <a:t>Nếu so sánh với mảng, </a:t>
            </a:r>
            <a:r>
              <a:rPr lang="en-US" sz="2400" dirty="0" err="1">
                <a:solidFill>
                  <a:srgbClr val="1E3063"/>
                </a:solidFill>
                <a:latin typeface="Instrument Sans Medium" pitchFamily="34" charset="0"/>
                <a:ea typeface="Instrument Sans Medium" pitchFamily="34" charset="-122"/>
                <a:cs typeface="Instrument Sans Medium" pitchFamily="34" charset="-120"/>
              </a:rPr>
              <a:t>khóa</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của</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bảng</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băm</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giống</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như</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chỉ</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số</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của</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mảng</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giá</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trị</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thì</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giống</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dữ</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liệu</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tại</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vị</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trí</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đó</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Nhưng</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bảng</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băm</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cho</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phép</a:t>
            </a:r>
            <a:r>
              <a:rPr lang="en-US" sz="2400" dirty="0">
                <a:solidFill>
                  <a:srgbClr val="1E3063"/>
                </a:solidFill>
                <a:latin typeface="Instrument Sans Medium" pitchFamily="34" charset="0"/>
                <a:ea typeface="Instrument Sans Medium" pitchFamily="34" charset="-122"/>
                <a:cs typeface="Instrument Sans Medium" pitchFamily="34" charset="-120"/>
              </a:rPr>
              <a:t> ta </a:t>
            </a:r>
            <a:r>
              <a:rPr lang="en-US" sz="2400" dirty="0" err="1">
                <a:solidFill>
                  <a:srgbClr val="1E3063"/>
                </a:solidFill>
                <a:latin typeface="Instrument Sans Medium" pitchFamily="34" charset="0"/>
                <a:ea typeface="Instrument Sans Medium" pitchFamily="34" charset="-122"/>
                <a:cs typeface="Instrument Sans Medium" pitchFamily="34" charset="-120"/>
              </a:rPr>
              <a:t>tìm</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giá</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trị</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thông</a:t>
            </a:r>
            <a:r>
              <a:rPr lang="en-US" sz="2400" dirty="0">
                <a:solidFill>
                  <a:srgbClr val="1E3063"/>
                </a:solidFill>
                <a:latin typeface="Instrument Sans Medium" pitchFamily="34" charset="0"/>
                <a:ea typeface="Instrument Sans Medium" pitchFamily="34" charset="-122"/>
                <a:cs typeface="Instrument Sans Medium" pitchFamily="34" charset="-120"/>
              </a:rPr>
              <a:t> qua </a:t>
            </a:r>
            <a:r>
              <a:rPr lang="en-US" sz="2400" dirty="0" err="1">
                <a:solidFill>
                  <a:srgbClr val="1E3063"/>
                </a:solidFill>
                <a:latin typeface="Instrument Sans Medium" pitchFamily="34" charset="0"/>
                <a:ea typeface="Instrument Sans Medium" pitchFamily="34" charset="-122"/>
                <a:cs typeface="Instrument Sans Medium" pitchFamily="34" charset="-120"/>
              </a:rPr>
              <a:t>khóa</a:t>
            </a:r>
            <a:r>
              <a:rPr lang="en-US" sz="2400" dirty="0">
                <a:solidFill>
                  <a:srgbClr val="1E3063"/>
                </a:solidFill>
                <a:latin typeface="Instrument Sans Medium" pitchFamily="34" charset="0"/>
                <a:ea typeface="Instrument Sans Medium" pitchFamily="34" charset="-122"/>
                <a:cs typeface="Instrument Sans Medium" pitchFamily="34" charset="-120"/>
              </a:rPr>
              <a:t> </a:t>
            </a:r>
            <a:endParaRPr lang="en-US" sz="2400" dirty="0"/>
          </a:p>
        </p:txBody>
      </p:sp>
      <p:sp>
        <p:nvSpPr>
          <p:cNvPr id="8" name="Rectangle 7">
            <a:extLst>
              <a:ext uri="{FF2B5EF4-FFF2-40B4-BE49-F238E27FC236}">
                <a16:creationId xmlns:a16="http://schemas.microsoft.com/office/drawing/2014/main" id="{BC6A8F49-14CB-35DF-CF3E-3A66BDBD4A0B}"/>
              </a:ext>
            </a:extLst>
          </p:cNvPr>
          <p:cNvSpPr/>
          <p:nvPr/>
        </p:nvSpPr>
        <p:spPr>
          <a:xfrm>
            <a:off x="12725400" y="7624694"/>
            <a:ext cx="1905000" cy="604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169075"/>
            <a:ext cx="10887432" cy="708779"/>
          </a:xfrm>
          <a:prstGeom prst="rect">
            <a:avLst/>
          </a:prstGeom>
          <a:noFill/>
          <a:ln/>
        </p:spPr>
        <p:txBody>
          <a:bodyPr wrap="non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Các Thành Phần Cấu Tạo </a:t>
            </a:r>
            <a:r>
              <a:rPr lang="en-US" sz="4450" dirty="0" err="1">
                <a:solidFill>
                  <a:srgbClr val="091C53"/>
                </a:solidFill>
                <a:latin typeface="Instrument Sans Semi Bold" pitchFamily="34" charset="0"/>
                <a:ea typeface="Instrument Sans Semi Bold" pitchFamily="34" charset="-122"/>
                <a:cs typeface="Instrument Sans Semi Bold" pitchFamily="34" charset="-120"/>
              </a:rPr>
              <a:t>Nên</a:t>
            </a:r>
            <a:r>
              <a:rPr lang="en-US" sz="4450" dirty="0">
                <a:solidFill>
                  <a:srgbClr val="091C53"/>
                </a:solidFill>
                <a:latin typeface="Instrument Sans Semi Bold" pitchFamily="34" charset="0"/>
                <a:ea typeface="Instrument Sans Semi Bold" pitchFamily="34" charset="-122"/>
                <a:cs typeface="Instrument Sans Semi Bold" pitchFamily="34" charset="-120"/>
              </a:rPr>
              <a:t> </a:t>
            </a:r>
            <a:r>
              <a:rPr lang="en-US" sz="4450" dirty="0" err="1">
                <a:solidFill>
                  <a:srgbClr val="091C53"/>
                </a:solidFill>
                <a:latin typeface="Instrument Sans Semi Bold" pitchFamily="34" charset="0"/>
                <a:ea typeface="Instrument Sans Semi Bold" pitchFamily="34" charset="-122"/>
                <a:cs typeface="Instrument Sans Semi Bold" pitchFamily="34" charset="-120"/>
              </a:rPr>
              <a:t>Bảng</a:t>
            </a:r>
            <a:r>
              <a:rPr lang="en-US" sz="4450" dirty="0">
                <a:solidFill>
                  <a:srgbClr val="091C53"/>
                </a:solidFill>
                <a:latin typeface="Instrument Sans Semi Bold" pitchFamily="34" charset="0"/>
                <a:ea typeface="Instrument Sans Semi Bold" pitchFamily="34" charset="-122"/>
                <a:cs typeface="Instrument Sans Semi Bold" pitchFamily="34" charset="-120"/>
              </a:rPr>
              <a:t> </a:t>
            </a:r>
            <a:r>
              <a:rPr lang="en-US" sz="4450" dirty="0" err="1">
                <a:solidFill>
                  <a:srgbClr val="091C53"/>
                </a:solidFill>
                <a:latin typeface="Instrument Sans Semi Bold" pitchFamily="34" charset="0"/>
                <a:ea typeface="Instrument Sans Semi Bold" pitchFamily="34" charset="-122"/>
                <a:cs typeface="Instrument Sans Semi Bold" pitchFamily="34" charset="-120"/>
              </a:rPr>
              <a:t>Băm</a:t>
            </a:r>
            <a:endParaRPr lang="en-US" sz="4450" dirty="0"/>
          </a:p>
        </p:txBody>
      </p:sp>
      <p:pic>
        <p:nvPicPr>
          <p:cNvPr id="3" name="Image 0" descr="preencoded.png"/>
          <p:cNvPicPr>
            <a:picLocks noChangeAspect="1"/>
          </p:cNvPicPr>
          <p:nvPr/>
        </p:nvPicPr>
        <p:blipFill>
          <a:blip r:embed="rId3"/>
          <a:stretch>
            <a:fillRect/>
          </a:stretch>
        </p:blipFill>
        <p:spPr>
          <a:xfrm>
            <a:off x="793790" y="2331482"/>
            <a:ext cx="566976" cy="566976"/>
          </a:xfrm>
          <a:prstGeom prst="rect">
            <a:avLst/>
          </a:prstGeom>
        </p:spPr>
      </p:pic>
      <p:sp>
        <p:nvSpPr>
          <p:cNvPr id="4" name="Text 1"/>
          <p:cNvSpPr/>
          <p:nvPr/>
        </p:nvSpPr>
        <p:spPr>
          <a:xfrm>
            <a:off x="793790" y="3181945"/>
            <a:ext cx="3402330" cy="425291"/>
          </a:xfrm>
          <a:prstGeom prst="rect">
            <a:avLst/>
          </a:prstGeom>
          <a:noFill/>
          <a:ln/>
        </p:spPr>
        <p:txBody>
          <a:bodyPr wrap="none" lIns="0" tIns="0" rIns="0" bIns="0" rtlCol="0" anchor="t"/>
          <a:lstStyle/>
          <a:p>
            <a:pPr marL="0" indent="0" algn="l">
              <a:lnSpc>
                <a:spcPts val="3300"/>
              </a:lnSpc>
              <a:buNone/>
            </a:pPr>
            <a:r>
              <a:rPr lang="en-US" sz="2400" dirty="0">
                <a:solidFill>
                  <a:srgbClr val="1E3063"/>
                </a:solidFill>
                <a:latin typeface="Instrument Sans Semi Bold" pitchFamily="34" charset="0"/>
                <a:ea typeface="Instrument Sans Semi Bold" pitchFamily="34" charset="-122"/>
                <a:cs typeface="Instrument Sans Semi Bold" pitchFamily="34" charset="-120"/>
              </a:rPr>
              <a:t>Khóa (Key)</a:t>
            </a:r>
            <a:endParaRPr lang="en-US" sz="2400" dirty="0"/>
          </a:p>
        </p:txBody>
      </p:sp>
      <p:sp>
        <p:nvSpPr>
          <p:cNvPr id="5" name="Text 2"/>
          <p:cNvSpPr/>
          <p:nvPr/>
        </p:nvSpPr>
        <p:spPr>
          <a:xfrm>
            <a:off x="793791" y="3743325"/>
            <a:ext cx="5327610" cy="725805"/>
          </a:xfrm>
          <a:prstGeom prst="rect">
            <a:avLst/>
          </a:prstGeom>
          <a:noFill/>
          <a:ln/>
        </p:spPr>
        <p:txBody>
          <a:bodyPr wrap="square" lIns="0" tIns="0" rIns="0" bIns="0" rtlCol="0" anchor="t"/>
          <a:lstStyle/>
          <a:p>
            <a:pPr marL="0" indent="0" algn="l">
              <a:lnSpc>
                <a:spcPct val="15000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Dùng để định vị dữ liệu, mỗi giá trị bạn lưu trữ sẽ được liên kết với một khóa duy nhất.</a:t>
            </a:r>
            <a:endParaRPr lang="en-US" sz="2000" dirty="0"/>
          </a:p>
        </p:txBody>
      </p:sp>
      <p:pic>
        <p:nvPicPr>
          <p:cNvPr id="6" name="Image 1" descr="preencoded.png"/>
          <p:cNvPicPr>
            <a:picLocks noChangeAspect="1"/>
          </p:cNvPicPr>
          <p:nvPr/>
        </p:nvPicPr>
        <p:blipFill>
          <a:blip r:embed="rId4"/>
          <a:stretch>
            <a:fillRect/>
          </a:stretch>
        </p:blipFill>
        <p:spPr>
          <a:xfrm>
            <a:off x="7456884" y="2331482"/>
            <a:ext cx="566976" cy="566976"/>
          </a:xfrm>
          <a:prstGeom prst="rect">
            <a:avLst/>
          </a:prstGeom>
        </p:spPr>
      </p:pic>
      <p:sp>
        <p:nvSpPr>
          <p:cNvPr id="7" name="Text 3"/>
          <p:cNvSpPr/>
          <p:nvPr/>
        </p:nvSpPr>
        <p:spPr>
          <a:xfrm>
            <a:off x="7456884" y="3181945"/>
            <a:ext cx="3402330" cy="425291"/>
          </a:xfrm>
          <a:prstGeom prst="rect">
            <a:avLst/>
          </a:prstGeom>
          <a:noFill/>
          <a:ln/>
        </p:spPr>
        <p:txBody>
          <a:bodyPr wrap="none" lIns="0" tIns="0" rIns="0" bIns="0" rtlCol="0" anchor="t"/>
          <a:lstStyle/>
          <a:p>
            <a:pPr marL="0" indent="0" algn="l">
              <a:lnSpc>
                <a:spcPts val="3300"/>
              </a:lnSpc>
              <a:buNone/>
            </a:pPr>
            <a:r>
              <a:rPr lang="en-US" sz="2400" dirty="0">
                <a:solidFill>
                  <a:srgbClr val="1E3063"/>
                </a:solidFill>
                <a:latin typeface="Instrument Sans Semi Bold" pitchFamily="34" charset="0"/>
                <a:ea typeface="Instrument Sans Semi Bold" pitchFamily="34" charset="-122"/>
                <a:cs typeface="Instrument Sans Semi Bold" pitchFamily="34" charset="-120"/>
              </a:rPr>
              <a:t>Giá trị (Value)</a:t>
            </a:r>
            <a:endParaRPr lang="en-US" sz="2400" dirty="0"/>
          </a:p>
        </p:txBody>
      </p:sp>
      <p:sp>
        <p:nvSpPr>
          <p:cNvPr id="8" name="Text 4"/>
          <p:cNvSpPr/>
          <p:nvPr/>
        </p:nvSpPr>
        <p:spPr>
          <a:xfrm>
            <a:off x="7456884" y="3743325"/>
            <a:ext cx="6379726" cy="725805"/>
          </a:xfrm>
          <a:prstGeom prst="rect">
            <a:avLst/>
          </a:prstGeom>
          <a:noFill/>
          <a:ln/>
        </p:spPr>
        <p:txBody>
          <a:bodyPr wrap="square" lIns="0" tIns="0" rIns="0" bIns="0" rtlCol="0" anchor="t"/>
          <a:lstStyle/>
          <a:p>
            <a:pPr marL="0" indent="0" algn="l">
              <a:lnSpc>
                <a:spcPct val="15000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Dữ liệu thực tế mà bạn muốn lưu trữ và liên kết với một khóa cụ thể. Giá trị có thể là bất cứ thứ gì.</a:t>
            </a:r>
            <a:endParaRPr lang="en-US" sz="2000" dirty="0"/>
          </a:p>
        </p:txBody>
      </p:sp>
      <p:pic>
        <p:nvPicPr>
          <p:cNvPr id="9" name="Image 2" descr="preencoded.png"/>
          <p:cNvPicPr>
            <a:picLocks noChangeAspect="1"/>
          </p:cNvPicPr>
          <p:nvPr/>
        </p:nvPicPr>
        <p:blipFill>
          <a:blip r:embed="rId5"/>
          <a:stretch>
            <a:fillRect/>
          </a:stretch>
        </p:blipFill>
        <p:spPr>
          <a:xfrm>
            <a:off x="793790" y="4922758"/>
            <a:ext cx="566976" cy="566976"/>
          </a:xfrm>
          <a:prstGeom prst="rect">
            <a:avLst/>
          </a:prstGeom>
        </p:spPr>
      </p:pic>
      <p:sp>
        <p:nvSpPr>
          <p:cNvPr id="10" name="Text 5"/>
          <p:cNvSpPr/>
          <p:nvPr/>
        </p:nvSpPr>
        <p:spPr>
          <a:xfrm>
            <a:off x="793790" y="5773222"/>
            <a:ext cx="4181951" cy="425291"/>
          </a:xfrm>
          <a:prstGeom prst="rect">
            <a:avLst/>
          </a:prstGeom>
          <a:noFill/>
          <a:ln/>
        </p:spPr>
        <p:txBody>
          <a:bodyPr wrap="none" lIns="0" tIns="0" rIns="0" bIns="0" rtlCol="0" anchor="t"/>
          <a:lstStyle/>
          <a:p>
            <a:pPr marL="0" indent="0" algn="l">
              <a:lnSpc>
                <a:spcPts val="3300"/>
              </a:lnSpc>
              <a:buNone/>
            </a:pPr>
            <a:r>
              <a:rPr lang="en-US" sz="2400" dirty="0">
                <a:solidFill>
                  <a:srgbClr val="1E3063"/>
                </a:solidFill>
                <a:latin typeface="Instrument Sans Semi Bold" pitchFamily="34" charset="0"/>
                <a:ea typeface="Instrument Sans Semi Bold" pitchFamily="34" charset="-122"/>
                <a:cs typeface="Instrument Sans Semi Bold" pitchFamily="34" charset="-120"/>
              </a:rPr>
              <a:t>Hàm băm (Hash Function)</a:t>
            </a:r>
            <a:endParaRPr lang="en-US" sz="2400" dirty="0"/>
          </a:p>
        </p:txBody>
      </p:sp>
      <p:sp>
        <p:nvSpPr>
          <p:cNvPr id="11" name="Text 6"/>
          <p:cNvSpPr/>
          <p:nvPr/>
        </p:nvSpPr>
        <p:spPr>
          <a:xfrm>
            <a:off x="793791" y="6334601"/>
            <a:ext cx="5543510" cy="725805"/>
          </a:xfrm>
          <a:prstGeom prst="rect">
            <a:avLst/>
          </a:prstGeom>
          <a:noFill/>
          <a:ln/>
        </p:spPr>
        <p:txBody>
          <a:bodyPr wrap="square" lIns="0" tIns="0" rIns="0" bIns="0" rtlCol="0" anchor="t"/>
          <a:lstStyle/>
          <a:p>
            <a:pPr marL="0" indent="0" algn="l">
              <a:lnSpc>
                <a:spcPct val="15000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Bộ </a:t>
            </a:r>
            <a:r>
              <a:rPr lang="en-US" sz="2000" dirty="0" err="1">
                <a:solidFill>
                  <a:srgbClr val="1E3063"/>
                </a:solidFill>
                <a:latin typeface="Instrument Sans Medium" pitchFamily="34" charset="0"/>
                <a:ea typeface="Instrument Sans Medium" pitchFamily="34" charset="-122"/>
                <a:cs typeface="Instrument Sans Medium" pitchFamily="34" charset="-120"/>
              </a:rPr>
              <a:t>não</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của</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bảng</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băm</a:t>
            </a:r>
            <a:r>
              <a:rPr lang="en-US" sz="2000" dirty="0">
                <a:solidFill>
                  <a:srgbClr val="1E3063"/>
                </a:solidFill>
                <a:latin typeface="Instrument Sans Medium" pitchFamily="34" charset="0"/>
                <a:ea typeface="Instrument Sans Medium" pitchFamily="34" charset="-122"/>
                <a:cs typeface="Instrument Sans Medium" pitchFamily="34" charset="-120"/>
              </a:rPr>
              <a:t>. Nhận đầu vào là Khóa và tạo ra một mã băm.</a:t>
            </a:r>
            <a:endParaRPr lang="en-US" sz="2000" dirty="0"/>
          </a:p>
        </p:txBody>
      </p:sp>
      <p:pic>
        <p:nvPicPr>
          <p:cNvPr id="12" name="Image 3" descr="preencoded.png"/>
          <p:cNvPicPr>
            <a:picLocks noChangeAspect="1"/>
          </p:cNvPicPr>
          <p:nvPr/>
        </p:nvPicPr>
        <p:blipFill>
          <a:blip r:embed="rId6"/>
          <a:stretch>
            <a:fillRect/>
          </a:stretch>
        </p:blipFill>
        <p:spPr>
          <a:xfrm>
            <a:off x="7456884" y="4922758"/>
            <a:ext cx="566976" cy="566976"/>
          </a:xfrm>
          <a:prstGeom prst="rect">
            <a:avLst/>
          </a:prstGeom>
        </p:spPr>
      </p:pic>
      <p:sp>
        <p:nvSpPr>
          <p:cNvPr id="13" name="Text 7"/>
          <p:cNvSpPr/>
          <p:nvPr/>
        </p:nvSpPr>
        <p:spPr>
          <a:xfrm>
            <a:off x="7456884" y="5773222"/>
            <a:ext cx="3402330" cy="425291"/>
          </a:xfrm>
          <a:prstGeom prst="rect">
            <a:avLst/>
          </a:prstGeom>
          <a:noFill/>
          <a:ln/>
        </p:spPr>
        <p:txBody>
          <a:bodyPr wrap="none" lIns="0" tIns="0" rIns="0" bIns="0" rtlCol="0" anchor="t"/>
          <a:lstStyle/>
          <a:p>
            <a:pPr marL="0" indent="0" algn="l">
              <a:lnSpc>
                <a:spcPts val="3300"/>
              </a:lnSpc>
              <a:buNone/>
            </a:pPr>
            <a:r>
              <a:rPr lang="en-US" sz="2400" dirty="0">
                <a:solidFill>
                  <a:srgbClr val="1E3063"/>
                </a:solidFill>
                <a:latin typeface="Instrument Sans Semi Bold" pitchFamily="34" charset="0"/>
                <a:ea typeface="Instrument Sans Semi Bold" pitchFamily="34" charset="-122"/>
                <a:cs typeface="Instrument Sans Semi Bold" pitchFamily="34" charset="-120"/>
              </a:rPr>
              <a:t>Bucket (Ngăn chứa)</a:t>
            </a:r>
            <a:endParaRPr lang="en-US" sz="2400" dirty="0"/>
          </a:p>
        </p:txBody>
      </p:sp>
      <p:sp>
        <p:nvSpPr>
          <p:cNvPr id="14" name="Text 8"/>
          <p:cNvSpPr/>
          <p:nvPr/>
        </p:nvSpPr>
        <p:spPr>
          <a:xfrm>
            <a:off x="7456884" y="6334601"/>
            <a:ext cx="6379726" cy="725805"/>
          </a:xfrm>
          <a:prstGeom prst="rect">
            <a:avLst/>
          </a:prstGeom>
          <a:noFill/>
          <a:ln/>
        </p:spPr>
        <p:txBody>
          <a:bodyPr wrap="square" lIns="0" tIns="0" rIns="0" bIns="0" rtlCol="0" anchor="t"/>
          <a:lstStyle/>
          <a:p>
            <a:pPr marL="0" indent="0" algn="l">
              <a:lnSpc>
                <a:spcPct val="15000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Các vị trí thực tế trong bộ nhớ nơi dữ </a:t>
            </a:r>
            <a:r>
              <a:rPr lang="en-US" sz="2000" dirty="0" err="1">
                <a:solidFill>
                  <a:srgbClr val="1E3063"/>
                </a:solidFill>
                <a:latin typeface="Instrument Sans Medium" pitchFamily="34" charset="0"/>
                <a:ea typeface="Instrument Sans Medium" pitchFamily="34" charset="-122"/>
                <a:cs typeface="Instrument Sans Medium" pitchFamily="34" charset="-120"/>
              </a:rPr>
              <a:t>liệu</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được</a:t>
            </a:r>
            <a:r>
              <a:rPr lang="en-US" sz="2000" dirty="0">
                <a:solidFill>
                  <a:srgbClr val="1E3063"/>
                </a:solidFill>
                <a:latin typeface="Instrument Sans Medium" pitchFamily="34" charset="0"/>
                <a:ea typeface="Instrument Sans Medium" pitchFamily="34" charset="-122"/>
                <a:cs typeface="Instrument Sans Medium" pitchFamily="34" charset="-120"/>
              </a:rPr>
              <a:t> lưu trữ.</a:t>
            </a:r>
            <a:endParaRPr lang="en-US" sz="2000" dirty="0"/>
          </a:p>
        </p:txBody>
      </p:sp>
      <p:sp>
        <p:nvSpPr>
          <p:cNvPr id="15" name="Rectangle 14">
            <a:extLst>
              <a:ext uri="{FF2B5EF4-FFF2-40B4-BE49-F238E27FC236}">
                <a16:creationId xmlns:a16="http://schemas.microsoft.com/office/drawing/2014/main" id="{07733849-DC66-DD7B-BB83-4ADEEF9AD633}"/>
              </a:ext>
            </a:extLst>
          </p:cNvPr>
          <p:cNvSpPr/>
          <p:nvPr/>
        </p:nvSpPr>
        <p:spPr>
          <a:xfrm>
            <a:off x="12687300" y="7620000"/>
            <a:ext cx="1943100" cy="60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nvSpPr>
        <p:spPr>
          <a:xfrm>
            <a:off x="4522456" y="207933"/>
            <a:ext cx="4831794" cy="354330"/>
          </a:xfrm>
          <a:prstGeom prst="rect">
            <a:avLst/>
          </a:prstGeom>
          <a:noFill/>
          <a:ln/>
        </p:spPr>
        <p:txBody>
          <a:bodyPr wrap="none" lIns="0" tIns="0" rIns="0" bIns="0" rtlCol="0" anchor="t"/>
          <a:lstStyle/>
          <a:p>
            <a:pPr marL="0" indent="0" algn="l">
              <a:lnSpc>
                <a:spcPts val="2750"/>
              </a:lnSpc>
              <a:buNone/>
            </a:pPr>
            <a:r>
              <a:rPr lang="en-US" sz="3200" b="1" dirty="0">
                <a:solidFill>
                  <a:srgbClr val="091C53"/>
                </a:solidFill>
                <a:latin typeface="Instrument Sans Semi Bold" pitchFamily="34" charset="0"/>
                <a:ea typeface="Instrument Sans Semi Bold" pitchFamily="34" charset="-122"/>
                <a:cs typeface="Instrument Sans Semi Bold" pitchFamily="34" charset="-120"/>
              </a:rPr>
              <a:t>Hàm Băm (Hash Function)</a:t>
            </a:r>
            <a:r>
              <a:rPr lang="en-US" sz="3200" dirty="0">
                <a:solidFill>
                  <a:srgbClr val="091C53"/>
                </a:solidFill>
                <a:latin typeface="Instrument Sans Semi Bold" pitchFamily="34" charset="0"/>
                <a:ea typeface="Instrument Sans Semi Bold" pitchFamily="34" charset="-122"/>
                <a:cs typeface="Instrument Sans Semi Bold" pitchFamily="34" charset="-120"/>
              </a:rPr>
              <a:t> </a:t>
            </a:r>
            <a:endParaRPr lang="en-US" sz="3200" dirty="0"/>
          </a:p>
        </p:txBody>
      </p:sp>
      <p:sp>
        <p:nvSpPr>
          <p:cNvPr id="14" name="Shape 7">
            <a:extLst>
              <a:ext uri="{FF2B5EF4-FFF2-40B4-BE49-F238E27FC236}">
                <a16:creationId xmlns:a16="http://schemas.microsoft.com/office/drawing/2014/main" id="{4DC4FA8D-485E-2CBE-0073-EEE359737A10}"/>
              </a:ext>
            </a:extLst>
          </p:cNvPr>
          <p:cNvSpPr/>
          <p:nvPr/>
        </p:nvSpPr>
        <p:spPr>
          <a:xfrm>
            <a:off x="2687840" y="4676079"/>
            <a:ext cx="9927662" cy="3187738"/>
          </a:xfrm>
          <a:prstGeom prst="roundRect">
            <a:avLst>
              <a:gd name="adj" fmla="val 6081"/>
            </a:avLst>
          </a:prstGeom>
          <a:solidFill>
            <a:srgbClr val="84C1FA"/>
          </a:solidFill>
          <a:ln/>
        </p:spPr>
        <p:txBody>
          <a:bodyPr/>
          <a:lstStyle/>
          <a:p>
            <a:endParaRPr lang="en-US"/>
          </a:p>
        </p:txBody>
      </p:sp>
      <p:pic>
        <p:nvPicPr>
          <p:cNvPr id="15" name="Image 1" descr="preencoded.png">
            <a:extLst>
              <a:ext uri="{FF2B5EF4-FFF2-40B4-BE49-F238E27FC236}">
                <a16:creationId xmlns:a16="http://schemas.microsoft.com/office/drawing/2014/main" id="{DFDDCFD8-1DF9-5513-F6BF-3A1481F8DDB7}"/>
              </a:ext>
            </a:extLst>
          </p:cNvPr>
          <p:cNvPicPr>
            <a:picLocks noChangeAspect="1"/>
          </p:cNvPicPr>
          <p:nvPr/>
        </p:nvPicPr>
        <p:blipFill>
          <a:blip r:embed="rId3"/>
          <a:stretch>
            <a:fillRect/>
          </a:stretch>
        </p:blipFill>
        <p:spPr>
          <a:xfrm>
            <a:off x="3157204" y="5036336"/>
            <a:ext cx="192167" cy="153710"/>
          </a:xfrm>
          <a:prstGeom prst="rect">
            <a:avLst/>
          </a:prstGeom>
        </p:spPr>
      </p:pic>
      <p:sp>
        <p:nvSpPr>
          <p:cNvPr id="16" name="Text 8">
            <a:extLst>
              <a:ext uri="{FF2B5EF4-FFF2-40B4-BE49-F238E27FC236}">
                <a16:creationId xmlns:a16="http://schemas.microsoft.com/office/drawing/2014/main" id="{402905FD-6F27-D81E-280B-5F98758816DE}"/>
              </a:ext>
            </a:extLst>
          </p:cNvPr>
          <p:cNvSpPr/>
          <p:nvPr/>
        </p:nvSpPr>
        <p:spPr>
          <a:xfrm>
            <a:off x="3493849" y="5080211"/>
            <a:ext cx="2267304" cy="192286"/>
          </a:xfrm>
          <a:prstGeom prst="rect">
            <a:avLst/>
          </a:prstGeom>
          <a:noFill/>
          <a:ln/>
        </p:spPr>
        <p:txBody>
          <a:bodyPr wrap="none" lIns="0" tIns="0" rIns="0" bIns="0" rtlCol="0" anchor="t"/>
          <a:lstStyle/>
          <a:p>
            <a:pPr marL="0" indent="0" algn="l">
              <a:lnSpc>
                <a:spcPts val="1500"/>
              </a:lnSpc>
              <a:buNone/>
            </a:pPr>
            <a:r>
              <a:rPr lang="en-US" sz="2400" dirty="0">
                <a:solidFill>
                  <a:srgbClr val="000000"/>
                </a:solidFill>
                <a:latin typeface="Instrument Sans Semi Bold" pitchFamily="34" charset="0"/>
                <a:ea typeface="Instrument Sans Semi Bold" pitchFamily="34" charset="-122"/>
                <a:cs typeface="Instrument Sans Semi Bold" pitchFamily="34" charset="-120"/>
              </a:rPr>
              <a:t>Ví dụ minh họa</a:t>
            </a:r>
            <a:endParaRPr lang="en-US" sz="2400" dirty="0"/>
          </a:p>
        </p:txBody>
      </p:sp>
      <p:sp>
        <p:nvSpPr>
          <p:cNvPr id="17" name="Text 9">
            <a:extLst>
              <a:ext uri="{FF2B5EF4-FFF2-40B4-BE49-F238E27FC236}">
                <a16:creationId xmlns:a16="http://schemas.microsoft.com/office/drawing/2014/main" id="{B2D875B6-4BED-E97F-ED21-D6F99C99D045}"/>
              </a:ext>
            </a:extLst>
          </p:cNvPr>
          <p:cNvSpPr/>
          <p:nvPr/>
        </p:nvSpPr>
        <p:spPr>
          <a:xfrm>
            <a:off x="3253288" y="5568455"/>
            <a:ext cx="9100460" cy="211931"/>
          </a:xfrm>
          <a:prstGeom prst="rect">
            <a:avLst/>
          </a:prstGeom>
          <a:noFill/>
          <a:ln/>
        </p:spPr>
        <p:txBody>
          <a:bodyPr wrap="none" lIns="0" tIns="0" rIns="0" bIns="0" rtlCol="0" anchor="t"/>
          <a:lstStyle/>
          <a:p>
            <a:pPr marL="0" indent="0" algn="l">
              <a:lnSpc>
                <a:spcPts val="1550"/>
              </a:lnSpc>
              <a:buNone/>
            </a:pPr>
            <a:r>
              <a:rPr lang="en-US" sz="2400" dirty="0">
                <a:solidFill>
                  <a:srgbClr val="000000"/>
                </a:solidFill>
                <a:latin typeface="Instrument Sans Medium" pitchFamily="34" charset="0"/>
                <a:ea typeface="Instrument Sans Medium" pitchFamily="34" charset="-122"/>
                <a:cs typeface="Instrument Sans Medium" pitchFamily="34" charset="-120"/>
              </a:rPr>
              <a:t>Giả sử chúng ta có key = </a:t>
            </a:r>
            <a:r>
              <a:rPr lang="en-US" sz="2400" dirty="0">
                <a:solidFill>
                  <a:srgbClr val="000000"/>
                </a:solidFill>
                <a:highlight>
                  <a:srgbClr val="F2F2F2"/>
                </a:highlight>
                <a:latin typeface="Consolas" pitchFamily="34" charset="0"/>
                <a:ea typeface="Consolas" pitchFamily="34" charset="-122"/>
                <a:cs typeface="Consolas" pitchFamily="34" charset="-120"/>
              </a:rPr>
              <a:t>"12"</a:t>
            </a:r>
            <a:r>
              <a:rPr lang="en-US" sz="2400" dirty="0">
                <a:solidFill>
                  <a:srgbClr val="000000"/>
                </a:solidFill>
                <a:latin typeface="Instrument Sans Medium" pitchFamily="34" charset="0"/>
                <a:ea typeface="Instrument Sans Medium" pitchFamily="34" charset="-122"/>
                <a:cs typeface="Instrument Sans Medium" pitchFamily="34" charset="-120"/>
              </a:rPr>
              <a:t> và bảng băm có kích thước </a:t>
            </a:r>
            <a:r>
              <a:rPr lang="en-US" sz="2400" dirty="0">
                <a:solidFill>
                  <a:srgbClr val="000000"/>
                </a:solidFill>
                <a:highlight>
                  <a:srgbClr val="F2F2F2"/>
                </a:highlight>
                <a:latin typeface="Consolas" pitchFamily="34" charset="0"/>
                <a:ea typeface="Consolas" pitchFamily="34" charset="-122"/>
                <a:cs typeface="Consolas" pitchFamily="34" charset="-120"/>
              </a:rPr>
              <a:t>m = 7</a:t>
            </a:r>
            <a:r>
              <a:rPr lang="en-US" sz="2400" dirty="0">
                <a:solidFill>
                  <a:srgbClr val="000000"/>
                </a:solidFill>
                <a:latin typeface="Instrument Sans Medium" pitchFamily="34" charset="0"/>
                <a:ea typeface="Instrument Sans Medium" pitchFamily="34" charset="-122"/>
                <a:cs typeface="Instrument Sans Medium" pitchFamily="34" charset="-120"/>
              </a:rPr>
              <a:t>.</a:t>
            </a:r>
            <a:endParaRPr lang="en-US" sz="2400" dirty="0"/>
          </a:p>
        </p:txBody>
      </p:sp>
      <p:sp>
        <p:nvSpPr>
          <p:cNvPr id="18" name="Text 10">
            <a:extLst>
              <a:ext uri="{FF2B5EF4-FFF2-40B4-BE49-F238E27FC236}">
                <a16:creationId xmlns:a16="http://schemas.microsoft.com/office/drawing/2014/main" id="{4A5F2612-5DCE-1600-8C1F-F8C318DFD9F3}"/>
              </a:ext>
            </a:extLst>
          </p:cNvPr>
          <p:cNvSpPr/>
          <p:nvPr/>
        </p:nvSpPr>
        <p:spPr>
          <a:xfrm>
            <a:off x="3274773" y="6124010"/>
            <a:ext cx="9100460" cy="211931"/>
          </a:xfrm>
          <a:prstGeom prst="rect">
            <a:avLst/>
          </a:prstGeom>
          <a:noFill/>
          <a:ln/>
        </p:spPr>
        <p:txBody>
          <a:bodyPr wrap="none" lIns="0" tIns="0" rIns="0" bIns="0" rtlCol="0" anchor="t"/>
          <a:lstStyle/>
          <a:p>
            <a:pPr marL="0" indent="0" algn="l">
              <a:lnSpc>
                <a:spcPts val="1550"/>
              </a:lnSpc>
              <a:buNone/>
            </a:pPr>
            <a:r>
              <a:rPr lang="en-US" sz="2400" dirty="0">
                <a:solidFill>
                  <a:srgbClr val="000000"/>
                </a:solidFill>
                <a:latin typeface="Instrument Sans Medium" pitchFamily="34" charset="0"/>
                <a:ea typeface="Instrument Sans Medium" pitchFamily="34" charset="-122"/>
                <a:cs typeface="Instrument Sans Medium" pitchFamily="34" charset="-120"/>
              </a:rPr>
              <a:t>Hàm băm đơn giản: </a:t>
            </a:r>
            <a:r>
              <a:rPr lang="en-US" sz="2400" dirty="0">
                <a:solidFill>
                  <a:srgbClr val="000000"/>
                </a:solidFill>
                <a:highlight>
                  <a:srgbClr val="F2F2F2"/>
                </a:highlight>
                <a:latin typeface="Consolas" pitchFamily="34" charset="0"/>
                <a:ea typeface="Consolas" pitchFamily="34" charset="-122"/>
                <a:cs typeface="Consolas" pitchFamily="34" charset="-120"/>
              </a:rPr>
              <a:t>h(key) = key % m</a:t>
            </a:r>
            <a:endParaRPr lang="en-US" sz="2400" dirty="0"/>
          </a:p>
        </p:txBody>
      </p:sp>
      <p:sp>
        <p:nvSpPr>
          <p:cNvPr id="19" name="Text 11">
            <a:extLst>
              <a:ext uri="{FF2B5EF4-FFF2-40B4-BE49-F238E27FC236}">
                <a16:creationId xmlns:a16="http://schemas.microsoft.com/office/drawing/2014/main" id="{7DD6D1AD-E2C0-D1E1-DAE5-2338D526E87F}"/>
              </a:ext>
            </a:extLst>
          </p:cNvPr>
          <p:cNvSpPr/>
          <p:nvPr/>
        </p:nvSpPr>
        <p:spPr>
          <a:xfrm>
            <a:off x="3253288" y="6679565"/>
            <a:ext cx="9100460" cy="211931"/>
          </a:xfrm>
          <a:prstGeom prst="rect">
            <a:avLst/>
          </a:prstGeom>
          <a:noFill/>
          <a:ln/>
        </p:spPr>
        <p:txBody>
          <a:bodyPr wrap="none" lIns="0" tIns="0" rIns="0" bIns="0" rtlCol="0" anchor="t"/>
          <a:lstStyle/>
          <a:p>
            <a:pPr marL="0" indent="0" algn="l">
              <a:lnSpc>
                <a:spcPts val="1550"/>
              </a:lnSpc>
              <a:buNone/>
            </a:pPr>
            <a:r>
              <a:rPr lang="en-US" sz="2400" dirty="0">
                <a:solidFill>
                  <a:srgbClr val="000000"/>
                </a:solidFill>
                <a:latin typeface="Instrument Sans Medium" pitchFamily="34" charset="0"/>
                <a:ea typeface="Instrument Sans Medium" pitchFamily="34" charset="-122"/>
                <a:cs typeface="Instrument Sans Medium" pitchFamily="34" charset="-120"/>
              </a:rPr>
              <a:t>Tính toán: </a:t>
            </a:r>
            <a:r>
              <a:rPr lang="en-US" sz="2400" dirty="0">
                <a:solidFill>
                  <a:srgbClr val="000000"/>
                </a:solidFill>
                <a:highlight>
                  <a:srgbClr val="F2F2F2"/>
                </a:highlight>
                <a:latin typeface="Consolas" pitchFamily="34" charset="0"/>
                <a:ea typeface="Consolas" pitchFamily="34" charset="-122"/>
                <a:cs typeface="Consolas" pitchFamily="34" charset="-120"/>
              </a:rPr>
              <a:t>h(12) = 12 % 7 = 5</a:t>
            </a:r>
            <a:endParaRPr lang="en-US" sz="2400" dirty="0"/>
          </a:p>
        </p:txBody>
      </p:sp>
      <p:sp>
        <p:nvSpPr>
          <p:cNvPr id="20" name="Text 12">
            <a:extLst>
              <a:ext uri="{FF2B5EF4-FFF2-40B4-BE49-F238E27FC236}">
                <a16:creationId xmlns:a16="http://schemas.microsoft.com/office/drawing/2014/main" id="{1E841AA9-8889-920D-6CAA-88DA4C7F0CE1}"/>
              </a:ext>
            </a:extLst>
          </p:cNvPr>
          <p:cNvSpPr/>
          <p:nvPr/>
        </p:nvSpPr>
        <p:spPr>
          <a:xfrm>
            <a:off x="3274773" y="7318314"/>
            <a:ext cx="9100460" cy="211931"/>
          </a:xfrm>
          <a:prstGeom prst="rect">
            <a:avLst/>
          </a:prstGeom>
          <a:noFill/>
          <a:ln/>
        </p:spPr>
        <p:txBody>
          <a:bodyPr wrap="none" lIns="0" tIns="0" rIns="0" bIns="0" rtlCol="0" anchor="t"/>
          <a:lstStyle/>
          <a:p>
            <a:pPr marL="0" indent="0" algn="l">
              <a:lnSpc>
                <a:spcPts val="1550"/>
              </a:lnSpc>
              <a:buNone/>
            </a:pPr>
            <a:r>
              <a:rPr lang="en-US" sz="2400" dirty="0">
                <a:solidFill>
                  <a:srgbClr val="000000"/>
                </a:solidFill>
                <a:latin typeface="Instrument Sans Medium" pitchFamily="34" charset="0"/>
                <a:ea typeface="Instrument Sans Medium" pitchFamily="34" charset="-122"/>
                <a:cs typeface="Instrument Sans Medium" pitchFamily="34" charset="-120"/>
              </a:rPr>
              <a:t>Vậy, key </a:t>
            </a:r>
            <a:r>
              <a:rPr lang="en-US" sz="2400" dirty="0">
                <a:solidFill>
                  <a:srgbClr val="000000"/>
                </a:solidFill>
                <a:highlight>
                  <a:srgbClr val="F2F2F2"/>
                </a:highlight>
                <a:latin typeface="Consolas" pitchFamily="34" charset="0"/>
                <a:ea typeface="Consolas" pitchFamily="34" charset="-122"/>
                <a:cs typeface="Consolas" pitchFamily="34" charset="-120"/>
              </a:rPr>
              <a:t>"12"</a:t>
            </a:r>
            <a:r>
              <a:rPr lang="en-US" sz="2400" dirty="0">
                <a:solidFill>
                  <a:srgbClr val="000000"/>
                </a:solidFill>
                <a:latin typeface="Instrument Sans Medium" pitchFamily="34" charset="0"/>
                <a:ea typeface="Instrument Sans Medium" pitchFamily="34" charset="-122"/>
                <a:cs typeface="Instrument Sans Medium" pitchFamily="34" charset="-120"/>
              </a:rPr>
              <a:t> sẽ được lưu tại chỉ số </a:t>
            </a:r>
            <a:r>
              <a:rPr lang="en-US" sz="2400" dirty="0">
                <a:solidFill>
                  <a:srgbClr val="000000"/>
                </a:solidFill>
                <a:highlight>
                  <a:srgbClr val="F2F2F2"/>
                </a:highlight>
                <a:latin typeface="Consolas" pitchFamily="34" charset="0"/>
                <a:ea typeface="Consolas" pitchFamily="34" charset="-122"/>
                <a:cs typeface="Consolas" pitchFamily="34" charset="-120"/>
              </a:rPr>
              <a:t>5</a:t>
            </a:r>
            <a:r>
              <a:rPr lang="en-US" sz="2400" dirty="0">
                <a:solidFill>
                  <a:srgbClr val="000000"/>
                </a:solidFill>
                <a:latin typeface="Instrument Sans Medium" pitchFamily="34" charset="0"/>
                <a:ea typeface="Instrument Sans Medium" pitchFamily="34" charset="-122"/>
                <a:cs typeface="Instrument Sans Medium" pitchFamily="34" charset="-120"/>
              </a:rPr>
              <a:t> trong bảng băm.</a:t>
            </a:r>
            <a:endParaRPr lang="en-US" sz="2400" dirty="0"/>
          </a:p>
        </p:txBody>
      </p:sp>
      <p:sp>
        <p:nvSpPr>
          <p:cNvPr id="21" name="Shape 2">
            <a:extLst>
              <a:ext uri="{FF2B5EF4-FFF2-40B4-BE49-F238E27FC236}">
                <a16:creationId xmlns:a16="http://schemas.microsoft.com/office/drawing/2014/main" id="{CB51D76B-1033-53A6-E4F3-BF9947C3B605}"/>
              </a:ext>
            </a:extLst>
          </p:cNvPr>
          <p:cNvSpPr/>
          <p:nvPr/>
        </p:nvSpPr>
        <p:spPr>
          <a:xfrm>
            <a:off x="452356" y="1021788"/>
            <a:ext cx="4196358" cy="3341370"/>
          </a:xfrm>
          <a:prstGeom prst="roundRect">
            <a:avLst>
              <a:gd name="adj" fmla="val 4379"/>
            </a:avLst>
          </a:prstGeom>
          <a:solidFill>
            <a:srgbClr val="FFFFFF"/>
          </a:solidFill>
          <a:ln w="30480">
            <a:solidFill>
              <a:srgbClr val="B4CCE3"/>
            </a:solidFill>
            <a:prstDash val="solid"/>
          </a:ln>
        </p:spPr>
        <p:txBody>
          <a:bodyPr/>
          <a:lstStyle/>
          <a:p>
            <a:endParaRPr lang="en-US" dirty="0"/>
          </a:p>
        </p:txBody>
      </p:sp>
      <p:sp>
        <p:nvSpPr>
          <p:cNvPr id="25" name="Shape 7">
            <a:extLst>
              <a:ext uri="{FF2B5EF4-FFF2-40B4-BE49-F238E27FC236}">
                <a16:creationId xmlns:a16="http://schemas.microsoft.com/office/drawing/2014/main" id="{D080F2EB-4ADE-A6BB-695D-5B67A410443B}"/>
              </a:ext>
            </a:extLst>
          </p:cNvPr>
          <p:cNvSpPr/>
          <p:nvPr/>
        </p:nvSpPr>
        <p:spPr>
          <a:xfrm>
            <a:off x="10108460" y="1036050"/>
            <a:ext cx="4196358" cy="3341370"/>
          </a:xfrm>
          <a:prstGeom prst="roundRect">
            <a:avLst>
              <a:gd name="adj" fmla="val 4379"/>
            </a:avLst>
          </a:prstGeom>
          <a:solidFill>
            <a:srgbClr val="FFFFFF"/>
          </a:solidFill>
          <a:ln w="30480">
            <a:solidFill>
              <a:srgbClr val="B4CCE3"/>
            </a:solidFill>
            <a:prstDash val="solid"/>
          </a:ln>
        </p:spPr>
        <p:txBody>
          <a:bodyPr/>
          <a:lstStyle/>
          <a:p>
            <a:endParaRPr lang="en-US" dirty="0"/>
          </a:p>
        </p:txBody>
      </p:sp>
      <p:sp>
        <p:nvSpPr>
          <p:cNvPr id="26" name="Text 9">
            <a:extLst>
              <a:ext uri="{FF2B5EF4-FFF2-40B4-BE49-F238E27FC236}">
                <a16:creationId xmlns:a16="http://schemas.microsoft.com/office/drawing/2014/main" id="{4A72C2C1-8895-7393-BDF4-F16EA3F1A3CF}"/>
              </a:ext>
            </a:extLst>
          </p:cNvPr>
          <p:cNvSpPr/>
          <p:nvPr/>
        </p:nvSpPr>
        <p:spPr>
          <a:xfrm>
            <a:off x="10520506" y="1228380"/>
            <a:ext cx="2835235" cy="354330"/>
          </a:xfrm>
          <a:prstGeom prst="rect">
            <a:avLst/>
          </a:prstGeom>
          <a:noFill/>
          <a:ln/>
        </p:spPr>
        <p:txBody>
          <a:bodyPr wrap="none" lIns="0" tIns="0" rIns="0" bIns="0" rtlCol="0" anchor="t"/>
          <a:lstStyle/>
          <a:p>
            <a:pPr marL="0" indent="0" algn="l">
              <a:lnSpc>
                <a:spcPts val="2750"/>
              </a:lnSpc>
              <a:buNone/>
            </a:pPr>
            <a:r>
              <a:rPr lang="en-US" sz="2200" dirty="0" err="1">
                <a:solidFill>
                  <a:srgbClr val="1E3063"/>
                </a:solidFill>
                <a:latin typeface="Instrument Sans Semi Bold" pitchFamily="34" charset="0"/>
              </a:rPr>
              <a:t>Vì</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sao</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cần</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hàm</a:t>
            </a:r>
            <a:r>
              <a:rPr lang="en-US" sz="2200" dirty="0">
                <a:solidFill>
                  <a:srgbClr val="1E3063"/>
                </a:solidFill>
                <a:latin typeface="Instrument Sans Semi Bold" pitchFamily="34" charset="0"/>
              </a:rPr>
              <a:t> </a:t>
            </a:r>
            <a:r>
              <a:rPr lang="en-US" sz="2200" dirty="0" err="1">
                <a:solidFill>
                  <a:srgbClr val="1E3063"/>
                </a:solidFill>
                <a:latin typeface="Instrument Sans Semi Bold" pitchFamily="34" charset="0"/>
              </a:rPr>
              <a:t>băm</a:t>
            </a:r>
            <a:endParaRPr lang="en-US" sz="2200" dirty="0"/>
          </a:p>
        </p:txBody>
      </p:sp>
      <p:sp>
        <p:nvSpPr>
          <p:cNvPr id="27" name="Text 10">
            <a:extLst>
              <a:ext uri="{FF2B5EF4-FFF2-40B4-BE49-F238E27FC236}">
                <a16:creationId xmlns:a16="http://schemas.microsoft.com/office/drawing/2014/main" id="{7AC915FC-C9F7-FDFE-533F-D181957C15A3}"/>
              </a:ext>
            </a:extLst>
          </p:cNvPr>
          <p:cNvSpPr/>
          <p:nvPr/>
        </p:nvSpPr>
        <p:spPr>
          <a:xfrm>
            <a:off x="6459548" y="5292198"/>
            <a:ext cx="3590330"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28" name="Text 11">
            <a:extLst>
              <a:ext uri="{FF2B5EF4-FFF2-40B4-BE49-F238E27FC236}">
                <a16:creationId xmlns:a16="http://schemas.microsoft.com/office/drawing/2014/main" id="{C60AB583-940F-2604-60E5-76DB12469E44}"/>
              </a:ext>
            </a:extLst>
          </p:cNvPr>
          <p:cNvSpPr/>
          <p:nvPr/>
        </p:nvSpPr>
        <p:spPr>
          <a:xfrm>
            <a:off x="10411474" y="3168675"/>
            <a:ext cx="3590330" cy="1088708"/>
          </a:xfrm>
          <a:prstGeom prst="rect">
            <a:avLst/>
          </a:prstGeom>
          <a:noFill/>
          <a:ln/>
        </p:spPr>
        <p:txBody>
          <a:bodyPr wrap="square" lIns="0" tIns="0" rIns="0" bIns="0" rtlCol="0" anchor="t"/>
          <a:lstStyle/>
          <a:p>
            <a:pPr marL="0" indent="0" algn="just">
              <a:lnSpc>
                <a:spcPts val="2850"/>
              </a:lnSpc>
              <a:buNone/>
            </a:pPr>
            <a:r>
              <a:rPr lang="en-US" sz="1750" dirty="0" err="1">
                <a:solidFill>
                  <a:srgbClr val="1E3063"/>
                </a:solidFill>
                <a:latin typeface="Instrument Sans Medium" pitchFamily="34" charset="0"/>
                <a:ea typeface="Instrument Sans Medium" pitchFamily="34" charset="-122"/>
                <a:cs typeface="Instrument Sans Medium" pitchFamily="34" charset="-120"/>
              </a:rPr>
              <a:t>Nhưng</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bảng</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có</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hàm</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băm</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tốt</a:t>
            </a:r>
            <a:r>
              <a:rPr lang="en-US" sz="1750" dirty="0">
                <a:solidFill>
                  <a:srgbClr val="1E3063"/>
                </a:solidFill>
                <a:latin typeface="Instrument Sans Medium" pitchFamily="34" charset="0"/>
                <a:ea typeface="Instrument Sans Medium" pitchFamily="34" charset="-122"/>
                <a:cs typeface="Instrument Sans Medium" pitchFamily="34" charset="-120"/>
              </a:rPr>
              <a:t>, ta </a:t>
            </a:r>
            <a:r>
              <a:rPr lang="en-US" sz="1750" dirty="0" err="1">
                <a:solidFill>
                  <a:srgbClr val="1E3063"/>
                </a:solidFill>
                <a:latin typeface="Instrument Sans Medium" pitchFamily="34" charset="0"/>
                <a:ea typeface="Instrument Sans Medium" pitchFamily="34" charset="-122"/>
                <a:cs typeface="Instrument Sans Medium" pitchFamily="34" charset="-120"/>
              </a:rPr>
              <a:t>có</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thể</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chỉ</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tốn</a:t>
            </a:r>
            <a:r>
              <a:rPr lang="en-US" sz="1750" dirty="0">
                <a:solidFill>
                  <a:srgbClr val="1E3063"/>
                </a:solidFill>
                <a:latin typeface="Instrument Sans Medium" pitchFamily="34" charset="0"/>
                <a:ea typeface="Instrument Sans Medium" pitchFamily="34" charset="-122"/>
                <a:cs typeface="Instrument Sans Medium" pitchFamily="34" charset="-120"/>
              </a:rPr>
              <a:t> O(1) </a:t>
            </a:r>
            <a:r>
              <a:rPr lang="en-US" sz="1750" dirty="0" err="1">
                <a:solidFill>
                  <a:srgbClr val="1E3063"/>
                </a:solidFill>
                <a:latin typeface="Instrument Sans Medium" pitchFamily="34" charset="0"/>
                <a:ea typeface="Instrument Sans Medium" pitchFamily="34" charset="-122"/>
                <a:cs typeface="Instrument Sans Medium" pitchFamily="34" charset="-120"/>
              </a:rPr>
              <a:t>trung</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bình</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khi</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tìm</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kiếm</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chèn</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xóa</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cực</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kỳ</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nhanh</a:t>
            </a:r>
            <a:endParaRPr lang="en-US" sz="1750" dirty="0"/>
          </a:p>
        </p:txBody>
      </p:sp>
      <p:sp>
        <p:nvSpPr>
          <p:cNvPr id="29" name="Shape 12">
            <a:extLst>
              <a:ext uri="{FF2B5EF4-FFF2-40B4-BE49-F238E27FC236}">
                <a16:creationId xmlns:a16="http://schemas.microsoft.com/office/drawing/2014/main" id="{5DFB37F3-7D75-2F02-2CEA-C448097D4F7E}"/>
              </a:ext>
            </a:extLst>
          </p:cNvPr>
          <p:cNvSpPr/>
          <p:nvPr/>
        </p:nvSpPr>
        <p:spPr>
          <a:xfrm>
            <a:off x="5311648" y="1047494"/>
            <a:ext cx="4196358" cy="3341370"/>
          </a:xfrm>
          <a:prstGeom prst="roundRect">
            <a:avLst>
              <a:gd name="adj" fmla="val 4379"/>
            </a:avLst>
          </a:prstGeom>
          <a:solidFill>
            <a:srgbClr val="FFFFFF"/>
          </a:solidFill>
          <a:ln w="30480">
            <a:solidFill>
              <a:srgbClr val="B4CCE3"/>
            </a:solidFill>
            <a:prstDash val="solid"/>
          </a:ln>
        </p:spPr>
        <p:txBody>
          <a:bodyPr/>
          <a:lstStyle/>
          <a:p>
            <a:endParaRPr lang="en-US" dirty="0"/>
          </a:p>
        </p:txBody>
      </p:sp>
      <p:sp>
        <p:nvSpPr>
          <p:cNvPr id="30" name="Text 14">
            <a:extLst>
              <a:ext uri="{FF2B5EF4-FFF2-40B4-BE49-F238E27FC236}">
                <a16:creationId xmlns:a16="http://schemas.microsoft.com/office/drawing/2014/main" id="{15879956-787A-0EB8-093A-922BB5047313}"/>
              </a:ext>
            </a:extLst>
          </p:cNvPr>
          <p:cNvSpPr/>
          <p:nvPr/>
        </p:nvSpPr>
        <p:spPr>
          <a:xfrm>
            <a:off x="5905224" y="1170093"/>
            <a:ext cx="2883932" cy="354330"/>
          </a:xfrm>
          <a:prstGeom prst="rect">
            <a:avLst/>
          </a:prstGeom>
          <a:noFill/>
          <a:ln/>
        </p:spPr>
        <p:txBody>
          <a:bodyPr wrap="none" lIns="0" tIns="0" rIns="0" bIns="0" rtlCol="0" anchor="t"/>
          <a:lstStyle/>
          <a:p>
            <a:pPr algn="just">
              <a:lnSpc>
                <a:spcPct val="150000"/>
              </a:lnSpc>
              <a:buSzPct val="100000"/>
            </a:pPr>
            <a:r>
              <a:rPr lang="en-US" sz="2000" b="1" dirty="0" err="1">
                <a:solidFill>
                  <a:srgbClr val="1E3063"/>
                </a:solidFill>
                <a:latin typeface="Instrument Sans Medium" pitchFamily="34" charset="0"/>
              </a:rPr>
              <a:t>Đặc</a:t>
            </a:r>
            <a:r>
              <a:rPr lang="en-US" sz="2000" b="1" dirty="0">
                <a:solidFill>
                  <a:srgbClr val="1E3063"/>
                </a:solidFill>
                <a:latin typeface="Instrument Sans Medium" pitchFamily="34" charset="0"/>
              </a:rPr>
              <a:t> </a:t>
            </a:r>
            <a:r>
              <a:rPr lang="en-US" sz="2000" b="1" dirty="0" err="1">
                <a:solidFill>
                  <a:srgbClr val="1E3063"/>
                </a:solidFill>
                <a:latin typeface="Instrument Sans Medium" pitchFamily="34" charset="0"/>
              </a:rPr>
              <a:t>điểm</a:t>
            </a:r>
            <a:r>
              <a:rPr lang="en-US" sz="2000" b="1" dirty="0">
                <a:solidFill>
                  <a:srgbClr val="1E3063"/>
                </a:solidFill>
                <a:latin typeface="Instrument Sans Medium" pitchFamily="34" charset="0"/>
              </a:rPr>
              <a:t> </a:t>
            </a:r>
            <a:r>
              <a:rPr lang="en-US" sz="2000" b="1" dirty="0" err="1">
                <a:solidFill>
                  <a:srgbClr val="1E3063"/>
                </a:solidFill>
                <a:latin typeface="Instrument Sans Medium" pitchFamily="34" charset="0"/>
              </a:rPr>
              <a:t>của</a:t>
            </a:r>
            <a:r>
              <a:rPr lang="en-US" sz="2000" b="1" dirty="0">
                <a:solidFill>
                  <a:srgbClr val="1E3063"/>
                </a:solidFill>
                <a:latin typeface="Instrument Sans Medium" pitchFamily="34" charset="0"/>
              </a:rPr>
              <a:t> </a:t>
            </a:r>
            <a:r>
              <a:rPr lang="en-US" sz="2000" b="1" dirty="0" err="1">
                <a:solidFill>
                  <a:srgbClr val="1E3063"/>
                </a:solidFill>
                <a:latin typeface="Instrument Sans Medium" pitchFamily="34" charset="0"/>
              </a:rPr>
              <a:t>hàm</a:t>
            </a:r>
            <a:r>
              <a:rPr lang="en-US" sz="2000" b="1" dirty="0">
                <a:solidFill>
                  <a:srgbClr val="1E3063"/>
                </a:solidFill>
                <a:latin typeface="Instrument Sans Medium" pitchFamily="34" charset="0"/>
              </a:rPr>
              <a:t> </a:t>
            </a:r>
            <a:r>
              <a:rPr lang="en-US" sz="2000" b="1" dirty="0" err="1">
                <a:solidFill>
                  <a:srgbClr val="1E3063"/>
                </a:solidFill>
                <a:latin typeface="Instrument Sans Medium" pitchFamily="34" charset="0"/>
              </a:rPr>
              <a:t>băm</a:t>
            </a:r>
            <a:endParaRPr lang="en-US" sz="2000" dirty="0"/>
          </a:p>
        </p:txBody>
      </p:sp>
      <p:sp>
        <p:nvSpPr>
          <p:cNvPr id="31" name="Text 15">
            <a:extLst>
              <a:ext uri="{FF2B5EF4-FFF2-40B4-BE49-F238E27FC236}">
                <a16:creationId xmlns:a16="http://schemas.microsoft.com/office/drawing/2014/main" id="{AD1426CB-9F54-E6D7-8E77-BEE45A11A59F}"/>
              </a:ext>
            </a:extLst>
          </p:cNvPr>
          <p:cNvSpPr/>
          <p:nvPr/>
        </p:nvSpPr>
        <p:spPr>
          <a:xfrm>
            <a:off x="10882720" y="5324408"/>
            <a:ext cx="3590330" cy="1451610"/>
          </a:xfrm>
          <a:prstGeom prst="rect">
            <a:avLst/>
          </a:prstGeom>
          <a:noFill/>
          <a:ln/>
        </p:spPr>
        <p:txBody>
          <a:bodyPr wrap="square" lIns="0" tIns="0" rIns="0" bIns="0" rtlCol="0" anchor="t"/>
          <a:lstStyle/>
          <a:p>
            <a:pPr algn="l">
              <a:lnSpc>
                <a:spcPts val="2850"/>
              </a:lnSpc>
            </a:pPr>
            <a:endParaRPr lang="en-US" sz="1750" dirty="0"/>
          </a:p>
        </p:txBody>
      </p:sp>
      <p:sp>
        <p:nvSpPr>
          <p:cNvPr id="32" name="Text 16">
            <a:extLst>
              <a:ext uri="{FF2B5EF4-FFF2-40B4-BE49-F238E27FC236}">
                <a16:creationId xmlns:a16="http://schemas.microsoft.com/office/drawing/2014/main" id="{86312759-485E-2398-B1B7-FFF60554EC30}"/>
              </a:ext>
            </a:extLst>
          </p:cNvPr>
          <p:cNvSpPr/>
          <p:nvPr/>
        </p:nvSpPr>
        <p:spPr>
          <a:xfrm>
            <a:off x="5657813" y="1687493"/>
            <a:ext cx="3590330" cy="725805"/>
          </a:xfrm>
          <a:prstGeom prst="rect">
            <a:avLst/>
          </a:prstGeom>
          <a:noFill/>
          <a:ln/>
        </p:spPr>
        <p:txBody>
          <a:bodyPr wrap="square" lIns="0" tIns="0" rIns="0" bIns="0" rtlCol="0" anchor="t"/>
          <a:lstStyle/>
          <a:p>
            <a:pPr marL="285750" indent="-285750" algn="just">
              <a:lnSpc>
                <a:spcPts val="2850"/>
              </a:lnSpc>
              <a:buFont typeface="Arial" panose="020B0604020202020204" pitchFamily="34" charset="0"/>
              <a:buChar char="•"/>
            </a:pPr>
            <a:r>
              <a:rPr lang="en-US" b="1" dirty="0" err="1">
                <a:solidFill>
                  <a:srgbClr val="1E3063"/>
                </a:solidFill>
                <a:latin typeface="Instrument Sans Medium" pitchFamily="34" charset="0"/>
                <a:ea typeface="Instrument Sans Medium" pitchFamily="34" charset="-122"/>
                <a:cs typeface="Instrument Sans Medium" pitchFamily="34" charset="-120"/>
              </a:rPr>
              <a:t>Tính</a:t>
            </a:r>
            <a:r>
              <a:rPr lang="en-US" b="1" dirty="0">
                <a:solidFill>
                  <a:srgbClr val="1E3063"/>
                </a:solidFill>
                <a:latin typeface="Instrument Sans Medium" pitchFamily="34" charset="0"/>
                <a:ea typeface="Instrument Sans Medium" pitchFamily="34" charset="-122"/>
                <a:cs typeface="Instrument Sans Medium" pitchFamily="34" charset="-120"/>
              </a:rPr>
              <a:t> </a:t>
            </a:r>
            <a:r>
              <a:rPr lang="en-US" b="1" dirty="0" err="1">
                <a:solidFill>
                  <a:srgbClr val="1E3063"/>
                </a:solidFill>
                <a:latin typeface="Instrument Sans Medium" pitchFamily="34" charset="0"/>
                <a:ea typeface="Instrument Sans Medium" pitchFamily="34" charset="-122"/>
                <a:cs typeface="Instrument Sans Medium" pitchFamily="34" charset="-120"/>
              </a:rPr>
              <a:t>xác</a:t>
            </a:r>
            <a:r>
              <a:rPr lang="en-US" b="1" dirty="0">
                <a:solidFill>
                  <a:srgbClr val="1E3063"/>
                </a:solidFill>
                <a:latin typeface="Instrument Sans Medium" pitchFamily="34" charset="0"/>
                <a:ea typeface="Instrument Sans Medium" pitchFamily="34" charset="-122"/>
                <a:cs typeface="Instrument Sans Medium" pitchFamily="34" charset="-120"/>
              </a:rPr>
              <a:t> </a:t>
            </a:r>
            <a:r>
              <a:rPr lang="en-US" b="1" dirty="0" err="1">
                <a:solidFill>
                  <a:srgbClr val="1E3063"/>
                </a:solidFill>
                <a:latin typeface="Instrument Sans Medium" pitchFamily="34" charset="0"/>
                <a:ea typeface="Instrument Sans Medium" pitchFamily="34" charset="-122"/>
                <a:cs typeface="Instrument Sans Medium" pitchFamily="34" charset="-120"/>
              </a:rPr>
              <a:t>định</a:t>
            </a:r>
            <a:r>
              <a:rPr lang="en-US" b="1" dirty="0">
                <a:solidFill>
                  <a:srgbClr val="1E3063"/>
                </a:solidFill>
                <a:latin typeface="Instrument Sans Medium" pitchFamily="34" charset="0"/>
                <a:ea typeface="Instrument Sans Medium" pitchFamily="34" charset="-122"/>
                <a:cs typeface="Instrument Sans Medium" pitchFamily="34" charset="-120"/>
              </a:rPr>
              <a:t>:</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Cùng</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một</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khóa</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luôn</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cho</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cùng</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mã</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băm</a:t>
            </a:r>
            <a:endParaRPr lang="en-US" dirty="0">
              <a:solidFill>
                <a:srgbClr val="1E3063"/>
              </a:solidFill>
              <a:latin typeface="Instrument Sans Medium" pitchFamily="34" charset="0"/>
              <a:ea typeface="Instrument Sans Medium" pitchFamily="34" charset="-122"/>
              <a:cs typeface="Instrument Sans Medium" pitchFamily="34" charset="-120"/>
            </a:endParaRPr>
          </a:p>
          <a:p>
            <a:pPr marL="285750" indent="-285750" algn="just">
              <a:lnSpc>
                <a:spcPts val="2850"/>
              </a:lnSpc>
              <a:buFont typeface="Arial" panose="020B0604020202020204" pitchFamily="34" charset="0"/>
              <a:buChar char="•"/>
            </a:pPr>
            <a:r>
              <a:rPr lang="en-US" b="1" dirty="0" err="1">
                <a:solidFill>
                  <a:srgbClr val="1E3063"/>
                </a:solidFill>
                <a:latin typeface="Instrument Sans Medium" pitchFamily="34" charset="0"/>
                <a:ea typeface="Instrument Sans Medium" pitchFamily="34" charset="-122"/>
                <a:cs typeface="Instrument Sans Medium" pitchFamily="34" charset="-120"/>
              </a:rPr>
              <a:t>Phân</a:t>
            </a:r>
            <a:r>
              <a:rPr lang="en-US" b="1" dirty="0">
                <a:solidFill>
                  <a:srgbClr val="1E3063"/>
                </a:solidFill>
                <a:latin typeface="Instrument Sans Medium" pitchFamily="34" charset="0"/>
                <a:ea typeface="Instrument Sans Medium" pitchFamily="34" charset="-122"/>
                <a:cs typeface="Instrument Sans Medium" pitchFamily="34" charset="-120"/>
              </a:rPr>
              <a:t> </a:t>
            </a:r>
            <a:r>
              <a:rPr lang="en-US" b="1" dirty="0" err="1">
                <a:solidFill>
                  <a:srgbClr val="1E3063"/>
                </a:solidFill>
                <a:latin typeface="Instrument Sans Medium" pitchFamily="34" charset="0"/>
                <a:ea typeface="Instrument Sans Medium" pitchFamily="34" charset="-122"/>
                <a:cs typeface="Instrument Sans Medium" pitchFamily="34" charset="-120"/>
              </a:rPr>
              <a:t>bố</a:t>
            </a:r>
            <a:r>
              <a:rPr lang="en-US" b="1" dirty="0">
                <a:solidFill>
                  <a:srgbClr val="1E3063"/>
                </a:solidFill>
                <a:latin typeface="Instrument Sans Medium" pitchFamily="34" charset="0"/>
                <a:ea typeface="Instrument Sans Medium" pitchFamily="34" charset="-122"/>
                <a:cs typeface="Instrument Sans Medium" pitchFamily="34" charset="-120"/>
              </a:rPr>
              <a:t> </a:t>
            </a:r>
            <a:r>
              <a:rPr lang="en-US" b="1" dirty="0" err="1">
                <a:solidFill>
                  <a:srgbClr val="1E3063"/>
                </a:solidFill>
                <a:latin typeface="Instrument Sans Medium" pitchFamily="34" charset="0"/>
                <a:ea typeface="Instrument Sans Medium" pitchFamily="34" charset="-122"/>
                <a:cs typeface="Instrument Sans Medium" pitchFamily="34" charset="-120"/>
              </a:rPr>
              <a:t>đều</a:t>
            </a:r>
            <a:r>
              <a:rPr lang="en-US" b="1" dirty="0">
                <a:solidFill>
                  <a:srgbClr val="1E3063"/>
                </a:solidFill>
                <a:latin typeface="Instrument Sans Medium" pitchFamily="34" charset="0"/>
                <a:ea typeface="Instrument Sans Medium" pitchFamily="34" charset="-122"/>
                <a:cs typeface="Instrument Sans Medium" pitchFamily="34" charset="-120"/>
              </a:rPr>
              <a:t>:</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Phân</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phối</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khóa</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đồng</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đều</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vào</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các</a:t>
            </a:r>
            <a:r>
              <a:rPr lang="en-US" dirty="0">
                <a:solidFill>
                  <a:srgbClr val="1E3063"/>
                </a:solidFill>
                <a:latin typeface="Instrument Sans Medium" pitchFamily="34" charset="0"/>
                <a:ea typeface="Instrument Sans Medium" pitchFamily="34" charset="-122"/>
                <a:cs typeface="Instrument Sans Medium" pitchFamily="34" charset="-120"/>
              </a:rPr>
              <a:t> bucket</a:t>
            </a:r>
          </a:p>
          <a:p>
            <a:pPr marL="285750" indent="-285750" algn="just">
              <a:lnSpc>
                <a:spcPts val="2850"/>
              </a:lnSpc>
              <a:buFont typeface="Arial" panose="020B0604020202020204" pitchFamily="34" charset="0"/>
              <a:buChar char="•"/>
            </a:pPr>
            <a:r>
              <a:rPr lang="en-US" b="1" dirty="0">
                <a:solidFill>
                  <a:srgbClr val="1E3063"/>
                </a:solidFill>
                <a:latin typeface="Instrument Sans Medium" pitchFamily="34" charset="0"/>
                <a:ea typeface="Instrument Sans Medium" pitchFamily="34" charset="-122"/>
                <a:cs typeface="Instrument Sans Medium" pitchFamily="34" charset="-120"/>
              </a:rPr>
              <a:t>Nhanh </a:t>
            </a:r>
            <a:r>
              <a:rPr lang="en-US" b="1" dirty="0" err="1">
                <a:solidFill>
                  <a:srgbClr val="1E3063"/>
                </a:solidFill>
                <a:latin typeface="Instrument Sans Medium" pitchFamily="34" charset="0"/>
                <a:ea typeface="Instrument Sans Medium" pitchFamily="34" charset="-122"/>
                <a:cs typeface="Instrument Sans Medium" pitchFamily="34" charset="-120"/>
              </a:rPr>
              <a:t>chóng</a:t>
            </a:r>
            <a:r>
              <a:rPr lang="en-US" b="1" dirty="0">
                <a:solidFill>
                  <a:srgbClr val="1E3063"/>
                </a:solidFill>
                <a:latin typeface="Instrument Sans Medium" pitchFamily="34" charset="0"/>
                <a:ea typeface="Instrument Sans Medium" pitchFamily="34" charset="-122"/>
                <a:cs typeface="Instrument Sans Medium" pitchFamily="34" charset="-120"/>
              </a:rPr>
              <a:t>:</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Dễ</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dàng</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tính</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giá</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trị</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băm</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cho</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dữ</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liệu</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bất</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kỳ</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ngay</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cả</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với</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dữ</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liệu</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dirty="0" err="1">
                <a:solidFill>
                  <a:srgbClr val="1E3063"/>
                </a:solidFill>
                <a:latin typeface="Instrument Sans Medium" pitchFamily="34" charset="0"/>
                <a:ea typeface="Instrument Sans Medium" pitchFamily="34" charset="-122"/>
                <a:cs typeface="Instrument Sans Medium" pitchFamily="34" charset="-120"/>
              </a:rPr>
              <a:t>lớn</a:t>
            </a:r>
            <a:endParaRPr lang="en-US" dirty="0">
              <a:solidFill>
                <a:srgbClr val="1E3063"/>
              </a:solidFill>
              <a:latin typeface="Instrument Sans Medium" pitchFamily="34" charset="0"/>
              <a:ea typeface="Instrument Sans Medium" pitchFamily="34" charset="-122"/>
              <a:cs typeface="Instrument Sans Medium" pitchFamily="34" charset="-120"/>
            </a:endParaRPr>
          </a:p>
          <a:p>
            <a:pPr algn="just">
              <a:lnSpc>
                <a:spcPts val="2850"/>
              </a:lnSpc>
            </a:pPr>
            <a:endParaRPr lang="en-US" sz="1750" dirty="0"/>
          </a:p>
        </p:txBody>
      </p:sp>
      <p:sp>
        <p:nvSpPr>
          <p:cNvPr id="33" name="Text 2">
            <a:extLst>
              <a:ext uri="{FF2B5EF4-FFF2-40B4-BE49-F238E27FC236}">
                <a16:creationId xmlns:a16="http://schemas.microsoft.com/office/drawing/2014/main" id="{561E4F9F-2534-21B7-56BD-1CD6648F1470}"/>
              </a:ext>
            </a:extLst>
          </p:cNvPr>
          <p:cNvSpPr/>
          <p:nvPr/>
        </p:nvSpPr>
        <p:spPr>
          <a:xfrm>
            <a:off x="682728" y="1186930"/>
            <a:ext cx="3615574" cy="608076"/>
          </a:xfrm>
          <a:prstGeom prst="rect">
            <a:avLst/>
          </a:prstGeom>
          <a:noFill/>
          <a:ln/>
        </p:spPr>
        <p:txBody>
          <a:bodyPr wrap="square" lIns="0" tIns="0" rIns="0" bIns="0" rtlCol="0" anchor="t"/>
          <a:lstStyle/>
          <a:p>
            <a:pPr algn="just">
              <a:lnSpc>
                <a:spcPct val="150000"/>
              </a:lnSpc>
              <a:buSzPct val="100000"/>
            </a:pPr>
            <a:r>
              <a:rPr lang="en-US" b="1" dirty="0">
                <a:solidFill>
                  <a:srgbClr val="1E3063"/>
                </a:solidFill>
                <a:latin typeface="Instrument Sans Medium" pitchFamily="34" charset="0"/>
                <a:ea typeface="Instrument Sans Medium" pitchFamily="34" charset="-122"/>
                <a:cs typeface="Instrument Sans Medium" pitchFamily="34" charset="-120"/>
              </a:rPr>
              <a:t>Hàm Băm (Hash Function)</a:t>
            </a:r>
            <a:r>
              <a:rPr lang="en-US" dirty="0">
                <a:solidFill>
                  <a:srgbClr val="1E3063"/>
                </a:solidFill>
                <a:latin typeface="Instrument Sans Medium" pitchFamily="34" charset="0"/>
                <a:ea typeface="Instrument Sans Medium" pitchFamily="34" charset="-122"/>
                <a:cs typeface="Instrument Sans Medium" pitchFamily="34" charset="-120"/>
              </a:rPr>
              <a:t> </a:t>
            </a:r>
            <a:r>
              <a:rPr lang="en-US" b="1" dirty="0">
                <a:solidFill>
                  <a:srgbClr val="1E3063"/>
                </a:solidFill>
                <a:latin typeface="Instrument Sans Medium" pitchFamily="34" charset="0"/>
                <a:ea typeface="Instrument Sans Medium" pitchFamily="34" charset="-122"/>
                <a:cs typeface="Instrument Sans Medium" pitchFamily="34" charset="-120"/>
              </a:rPr>
              <a:t>"Bộ não" của Hash Table:</a:t>
            </a:r>
            <a:r>
              <a:rPr lang="en-US" dirty="0">
                <a:solidFill>
                  <a:srgbClr val="1E3063"/>
                </a:solidFill>
                <a:latin typeface="Instrument Sans Medium" pitchFamily="34" charset="0"/>
                <a:ea typeface="Instrument Sans Medium" pitchFamily="34" charset="-122"/>
                <a:cs typeface="Instrument Sans Medium" pitchFamily="34" charset="-120"/>
              </a:rPr>
              <a:t> Thuật toán nhận Khóa (Key) và tạo ra một số nguyên (mã băm), sau đó chuyển thành chỉ số trong mảng bucket.</a:t>
            </a:r>
          </a:p>
          <a:p>
            <a:pPr algn="just">
              <a:lnSpc>
                <a:spcPct val="150000"/>
              </a:lnSpc>
              <a:buSzPct val="100000"/>
            </a:pPr>
            <a:endParaRPr lang="en-US" dirty="0"/>
          </a:p>
          <a:p>
            <a:pPr algn="just">
              <a:lnSpc>
                <a:spcPct val="150000"/>
              </a:lnSpc>
              <a:buSzPct val="100000"/>
            </a:pPr>
            <a:endParaRPr lang="en-US" dirty="0"/>
          </a:p>
        </p:txBody>
      </p:sp>
      <p:sp>
        <p:nvSpPr>
          <p:cNvPr id="35" name="Text 11">
            <a:extLst>
              <a:ext uri="{FF2B5EF4-FFF2-40B4-BE49-F238E27FC236}">
                <a16:creationId xmlns:a16="http://schemas.microsoft.com/office/drawing/2014/main" id="{E5F1013B-2C39-DB79-09B1-391AFA5B5339}"/>
              </a:ext>
            </a:extLst>
          </p:cNvPr>
          <p:cNvSpPr/>
          <p:nvPr/>
        </p:nvSpPr>
        <p:spPr>
          <a:xfrm>
            <a:off x="10474786" y="1649889"/>
            <a:ext cx="3590330" cy="1502180"/>
          </a:xfrm>
          <a:prstGeom prst="rect">
            <a:avLst/>
          </a:prstGeom>
          <a:noFill/>
          <a:ln/>
        </p:spPr>
        <p:txBody>
          <a:bodyPr wrap="square" lIns="0" tIns="0" rIns="0" bIns="0" rtlCol="0" anchor="t"/>
          <a:lstStyle/>
          <a:p>
            <a:pPr marL="0" indent="0" algn="just">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Trong </a:t>
            </a:r>
            <a:r>
              <a:rPr lang="en-US" sz="1750" dirty="0" err="1">
                <a:solidFill>
                  <a:srgbClr val="1E3063"/>
                </a:solidFill>
                <a:latin typeface="Instrument Sans Medium" pitchFamily="34" charset="0"/>
                <a:ea typeface="Instrument Sans Medium" pitchFamily="34" charset="-122"/>
                <a:cs typeface="Instrument Sans Medium" pitchFamily="34" charset="-120"/>
              </a:rPr>
              <a:t>cấu</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trúc</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dữ</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liệu</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việc</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tìm</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kiếm</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thường</a:t>
            </a:r>
            <a:r>
              <a:rPr lang="en-US" sz="1750" dirty="0">
                <a:solidFill>
                  <a:srgbClr val="1E3063"/>
                </a:solidFill>
                <a:latin typeface="Instrument Sans Medium" pitchFamily="34" charset="0"/>
                <a:ea typeface="Instrument Sans Medium" pitchFamily="34" charset="-122"/>
                <a:cs typeface="Instrument Sans Medium" pitchFamily="34" charset="-120"/>
              </a:rPr>
              <a:t> </a:t>
            </a:r>
            <a:r>
              <a:rPr lang="en-US" sz="1750" dirty="0" err="1">
                <a:solidFill>
                  <a:srgbClr val="1E3063"/>
                </a:solidFill>
                <a:latin typeface="Instrument Sans Medium" pitchFamily="34" charset="0"/>
                <a:ea typeface="Instrument Sans Medium" pitchFamily="34" charset="-122"/>
                <a:cs typeface="Instrument Sans Medium" pitchFamily="34" charset="-120"/>
              </a:rPr>
              <a:t>tốn</a:t>
            </a:r>
            <a:r>
              <a:rPr lang="en-US" sz="1750" dirty="0">
                <a:solidFill>
                  <a:srgbClr val="1E3063"/>
                </a:solidFill>
                <a:latin typeface="Instrument Sans Medium" pitchFamily="34" charset="0"/>
                <a:ea typeface="Instrument Sans Medium" pitchFamily="34" charset="-122"/>
                <a:cs typeface="Instrument Sans Medium" pitchFamily="34" charset="-120"/>
              </a:rPr>
              <a:t>:</a:t>
            </a:r>
          </a:p>
          <a:p>
            <a:pPr marL="285750" indent="-285750" algn="just">
              <a:lnSpc>
                <a:spcPts val="2850"/>
              </a:lnSpc>
              <a:buFont typeface="Arial" panose="020B0604020202020204" pitchFamily="34" charset="0"/>
              <a:buChar char="•"/>
            </a:pPr>
            <a:r>
              <a:rPr lang="en-US" sz="1750" dirty="0">
                <a:solidFill>
                  <a:srgbClr val="1E3063"/>
                </a:solidFill>
                <a:latin typeface="Instrument Sans Medium" pitchFamily="34" charset="0"/>
              </a:rPr>
              <a:t>O(n) </a:t>
            </a:r>
            <a:r>
              <a:rPr lang="en-US" sz="1750" dirty="0" err="1">
                <a:solidFill>
                  <a:srgbClr val="1E3063"/>
                </a:solidFill>
                <a:latin typeface="Instrument Sans Medium" pitchFamily="34" charset="0"/>
              </a:rPr>
              <a:t>với</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danh</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sách</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tuyến</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tính</a:t>
            </a:r>
            <a:endParaRPr lang="en-US" sz="1750" dirty="0">
              <a:solidFill>
                <a:srgbClr val="1E3063"/>
              </a:solidFill>
              <a:latin typeface="Instrument Sans Medium" pitchFamily="34" charset="0"/>
            </a:endParaRPr>
          </a:p>
          <a:p>
            <a:pPr marL="285750" indent="-285750" algn="just">
              <a:lnSpc>
                <a:spcPts val="2850"/>
              </a:lnSpc>
              <a:buFont typeface="Arial" panose="020B0604020202020204" pitchFamily="34" charset="0"/>
              <a:buChar char="•"/>
            </a:pPr>
            <a:r>
              <a:rPr lang="en-US" sz="1750" dirty="0">
                <a:solidFill>
                  <a:srgbClr val="1E3063"/>
                </a:solidFill>
                <a:latin typeface="Instrument Sans Medium" pitchFamily="34" charset="0"/>
              </a:rPr>
              <a:t>O(log n) </a:t>
            </a:r>
            <a:r>
              <a:rPr lang="en-US" sz="1750" dirty="0" err="1">
                <a:solidFill>
                  <a:srgbClr val="1E3063"/>
                </a:solidFill>
                <a:latin typeface="Instrument Sans Medium" pitchFamily="34" charset="0"/>
              </a:rPr>
              <a:t>với</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cây</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cân</a:t>
            </a:r>
            <a:r>
              <a:rPr lang="en-US" sz="1750" dirty="0">
                <a:solidFill>
                  <a:srgbClr val="1E3063"/>
                </a:solidFill>
                <a:latin typeface="Instrument Sans Medium" pitchFamily="34" charset="0"/>
              </a:rPr>
              <a:t> </a:t>
            </a:r>
            <a:r>
              <a:rPr lang="en-US" sz="1750" dirty="0" err="1">
                <a:solidFill>
                  <a:srgbClr val="1E3063"/>
                </a:solidFill>
                <a:latin typeface="Instrument Sans Medium" pitchFamily="34" charset="0"/>
              </a:rPr>
              <a:t>bằng</a:t>
            </a:r>
            <a:endParaRPr lang="en-US" sz="1750" dirty="0">
              <a:solidFill>
                <a:srgbClr val="1E3063"/>
              </a:solidFill>
              <a:latin typeface="Instrument Sans Medium" pitchFamily="34" charset="0"/>
            </a:endParaRPr>
          </a:p>
          <a:p>
            <a:pPr marL="285750" indent="-285750" algn="l">
              <a:lnSpc>
                <a:spcPts val="2850"/>
              </a:lnSpc>
              <a:buFont typeface="Arial" panose="020B0604020202020204" pitchFamily="34" charset="0"/>
              <a:buChar char="•"/>
            </a:pPr>
            <a:endParaRPr lang="en-US" sz="1750" dirty="0"/>
          </a:p>
        </p:txBody>
      </p:sp>
      <p:sp>
        <p:nvSpPr>
          <p:cNvPr id="36" name="Arrow: Right 35">
            <a:extLst>
              <a:ext uri="{FF2B5EF4-FFF2-40B4-BE49-F238E27FC236}">
                <a16:creationId xmlns:a16="http://schemas.microsoft.com/office/drawing/2014/main" id="{318423DB-74C1-6927-599F-8568FD2C4919}"/>
              </a:ext>
            </a:extLst>
          </p:cNvPr>
          <p:cNvSpPr/>
          <p:nvPr/>
        </p:nvSpPr>
        <p:spPr>
          <a:xfrm>
            <a:off x="12103792" y="4071684"/>
            <a:ext cx="308283" cy="988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Shape 3">
            <a:extLst>
              <a:ext uri="{FF2B5EF4-FFF2-40B4-BE49-F238E27FC236}">
                <a16:creationId xmlns:a16="http://schemas.microsoft.com/office/drawing/2014/main" id="{970731D7-BB15-A858-7337-B0817BFC0F67}"/>
              </a:ext>
            </a:extLst>
          </p:cNvPr>
          <p:cNvSpPr/>
          <p:nvPr/>
        </p:nvSpPr>
        <p:spPr>
          <a:xfrm>
            <a:off x="359239" y="1041612"/>
            <a:ext cx="121920" cy="3341370"/>
          </a:xfrm>
          <a:prstGeom prst="roundRect">
            <a:avLst>
              <a:gd name="adj" fmla="val 167442"/>
            </a:avLst>
          </a:prstGeom>
          <a:solidFill>
            <a:srgbClr val="84C1FA"/>
          </a:solidFill>
          <a:ln/>
        </p:spPr>
        <p:txBody>
          <a:bodyPr/>
          <a:lstStyle/>
          <a:p>
            <a:endParaRPr lang="en-US"/>
          </a:p>
        </p:txBody>
      </p:sp>
      <p:sp>
        <p:nvSpPr>
          <p:cNvPr id="38" name="Shape 3">
            <a:extLst>
              <a:ext uri="{FF2B5EF4-FFF2-40B4-BE49-F238E27FC236}">
                <a16:creationId xmlns:a16="http://schemas.microsoft.com/office/drawing/2014/main" id="{42BA9C12-2119-0FFA-492C-F6E532BA88F6}"/>
              </a:ext>
            </a:extLst>
          </p:cNvPr>
          <p:cNvSpPr/>
          <p:nvPr/>
        </p:nvSpPr>
        <p:spPr>
          <a:xfrm>
            <a:off x="9986540" y="1047494"/>
            <a:ext cx="121920" cy="3341370"/>
          </a:xfrm>
          <a:prstGeom prst="roundRect">
            <a:avLst>
              <a:gd name="adj" fmla="val 167442"/>
            </a:avLst>
          </a:prstGeom>
          <a:solidFill>
            <a:srgbClr val="84C1FA"/>
          </a:solidFill>
          <a:ln/>
        </p:spPr>
        <p:txBody>
          <a:bodyPr/>
          <a:lstStyle/>
          <a:p>
            <a:endParaRPr lang="en-US"/>
          </a:p>
        </p:txBody>
      </p:sp>
      <p:sp>
        <p:nvSpPr>
          <p:cNvPr id="39" name="Shape 3">
            <a:extLst>
              <a:ext uri="{FF2B5EF4-FFF2-40B4-BE49-F238E27FC236}">
                <a16:creationId xmlns:a16="http://schemas.microsoft.com/office/drawing/2014/main" id="{5993A646-9212-64EB-BE21-6DE5D9E1412E}"/>
              </a:ext>
            </a:extLst>
          </p:cNvPr>
          <p:cNvSpPr/>
          <p:nvPr/>
        </p:nvSpPr>
        <p:spPr>
          <a:xfrm>
            <a:off x="5197030" y="1047494"/>
            <a:ext cx="121920" cy="3341370"/>
          </a:xfrm>
          <a:prstGeom prst="roundRect">
            <a:avLst>
              <a:gd name="adj" fmla="val 167442"/>
            </a:avLst>
          </a:prstGeom>
          <a:solidFill>
            <a:srgbClr val="84C1FA"/>
          </a:solidFill>
          <a:ln/>
        </p:spPr>
        <p:txBody>
          <a:bodyPr/>
          <a:lstStyle/>
          <a:p>
            <a:endParaRPr lang="en-US"/>
          </a:p>
        </p:txBody>
      </p:sp>
      <p:sp>
        <p:nvSpPr>
          <p:cNvPr id="7" name="Rectangle 6">
            <a:extLst>
              <a:ext uri="{FF2B5EF4-FFF2-40B4-BE49-F238E27FC236}">
                <a16:creationId xmlns:a16="http://schemas.microsoft.com/office/drawing/2014/main" id="{FFC13E93-47BB-84DD-341C-67ACFB156D66}"/>
              </a:ext>
            </a:extLst>
          </p:cNvPr>
          <p:cNvSpPr/>
          <p:nvPr/>
        </p:nvSpPr>
        <p:spPr>
          <a:xfrm>
            <a:off x="12852400" y="7530245"/>
            <a:ext cx="1778000" cy="6993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anim calcmode="lin" valueType="num">
                                      <p:cBhvr>
                                        <p:cTn id="18" dur="1000" fill="hold"/>
                                        <p:tgtEl>
                                          <p:spTgt spid="17"/>
                                        </p:tgtEl>
                                        <p:attrNameLst>
                                          <p:attrName>ppt_x</p:attrName>
                                        </p:attrNameLst>
                                      </p:cBhvr>
                                      <p:tavLst>
                                        <p:tav tm="0">
                                          <p:val>
                                            <p:strVal val="#ppt_x"/>
                                          </p:val>
                                        </p:tav>
                                        <p:tav tm="100000">
                                          <p:val>
                                            <p:strVal val="#ppt_x"/>
                                          </p:val>
                                        </p:tav>
                                      </p:tavLst>
                                    </p:anim>
                                    <p:anim calcmode="lin" valueType="num">
                                      <p:cBhvr>
                                        <p:cTn id="19" dur="1000" fill="hold"/>
                                        <p:tgtEl>
                                          <p:spTgt spid="1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1000"/>
                                        <p:tgtEl>
                                          <p:spTgt spid="14"/>
                                        </p:tgtEl>
                                      </p:cBhvr>
                                    </p:animEffect>
                                    <p:anim calcmode="lin" valueType="num">
                                      <p:cBhvr>
                                        <p:cTn id="23" dur="1000" fill="hold"/>
                                        <p:tgtEl>
                                          <p:spTgt spid="14"/>
                                        </p:tgtEl>
                                        <p:attrNameLst>
                                          <p:attrName>ppt_x</p:attrName>
                                        </p:attrNameLst>
                                      </p:cBhvr>
                                      <p:tavLst>
                                        <p:tav tm="0">
                                          <p:val>
                                            <p:strVal val="#ppt_x"/>
                                          </p:val>
                                        </p:tav>
                                        <p:tav tm="100000">
                                          <p:val>
                                            <p:strVal val="#ppt_x"/>
                                          </p:val>
                                        </p:tav>
                                      </p:tavLst>
                                    </p:anim>
                                    <p:anim calcmode="lin" valueType="num">
                                      <p:cBhvr>
                                        <p:cTn id="24" dur="1000" fill="hold"/>
                                        <p:tgtEl>
                                          <p:spTgt spid="1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1000"/>
                                        <p:tgtEl>
                                          <p:spTgt spid="18"/>
                                        </p:tgtEl>
                                      </p:cBhvr>
                                    </p:animEffect>
                                    <p:anim calcmode="lin" valueType="num">
                                      <p:cBhvr>
                                        <p:cTn id="28" dur="1000" fill="hold"/>
                                        <p:tgtEl>
                                          <p:spTgt spid="18"/>
                                        </p:tgtEl>
                                        <p:attrNameLst>
                                          <p:attrName>ppt_x</p:attrName>
                                        </p:attrNameLst>
                                      </p:cBhvr>
                                      <p:tavLst>
                                        <p:tav tm="0">
                                          <p:val>
                                            <p:strVal val="#ppt_x"/>
                                          </p:val>
                                        </p:tav>
                                        <p:tav tm="100000">
                                          <p:val>
                                            <p:strVal val="#ppt_x"/>
                                          </p:val>
                                        </p:tav>
                                      </p:tavLst>
                                    </p:anim>
                                    <p:anim calcmode="lin" valueType="num">
                                      <p:cBhvr>
                                        <p:cTn id="29" dur="1000" fill="hold"/>
                                        <p:tgtEl>
                                          <p:spTgt spid="1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8" grpId="0" animBg="1"/>
      <p:bldP spid="19"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7">
            <a:extLst>
              <a:ext uri="{FF2B5EF4-FFF2-40B4-BE49-F238E27FC236}">
                <a16:creationId xmlns:a16="http://schemas.microsoft.com/office/drawing/2014/main" id="{F2DFB287-7FB7-A1C8-61F5-42BE3B471F0D}"/>
              </a:ext>
            </a:extLst>
          </p:cNvPr>
          <p:cNvSpPr/>
          <p:nvPr/>
        </p:nvSpPr>
        <p:spPr>
          <a:xfrm>
            <a:off x="1628919" y="2322319"/>
            <a:ext cx="11372562" cy="601038"/>
          </a:xfrm>
          <a:prstGeom prst="rect">
            <a:avLst/>
          </a:prstGeom>
          <a:noFill/>
          <a:ln/>
        </p:spPr>
        <p:txBody>
          <a:bodyPr wrap="square" lIns="0" tIns="0" rIns="0" bIns="0" rtlCol="0" anchor="t"/>
          <a:lstStyle/>
          <a:p>
            <a:pPr marL="685800" lvl="1" indent="-342900" algn="l">
              <a:lnSpc>
                <a:spcPct val="150000"/>
              </a:lnSpc>
              <a:buSzPct val="100000"/>
              <a:buChar char="•"/>
            </a:pPr>
            <a:r>
              <a:rPr lang="en-US" sz="2400" b="1" dirty="0">
                <a:solidFill>
                  <a:srgbClr val="1E3063"/>
                </a:solidFill>
                <a:latin typeface="Instrument Sans Medium" pitchFamily="34" charset="0"/>
                <a:ea typeface="Instrument Sans Medium" pitchFamily="34" charset="-122"/>
                <a:cs typeface="Instrument Sans Medium" pitchFamily="34" charset="-120"/>
              </a:rPr>
              <a:t>Chứa dữ liệu:</a:t>
            </a:r>
            <a:r>
              <a:rPr lang="en-US" sz="2400" dirty="0">
                <a:solidFill>
                  <a:srgbClr val="1E3063"/>
                </a:solidFill>
                <a:latin typeface="Instrument Sans Medium" pitchFamily="34" charset="0"/>
                <a:ea typeface="Instrument Sans Medium" pitchFamily="34" charset="-122"/>
                <a:cs typeface="Instrument Sans Medium" pitchFamily="34" charset="-120"/>
              </a:rPr>
              <a:t> Nếu xảy ra xung đột (nhiều khóa cùng băm vào một bucket), cách tổ chức bên trong bucket sẽ tùy thuộc vào kỹ thuật xử lý xung đột.</a:t>
            </a:r>
            <a:endParaRPr lang="en-US" sz="2400" dirty="0"/>
          </a:p>
        </p:txBody>
      </p:sp>
      <p:sp>
        <p:nvSpPr>
          <p:cNvPr id="4" name="Text 8">
            <a:extLst>
              <a:ext uri="{FF2B5EF4-FFF2-40B4-BE49-F238E27FC236}">
                <a16:creationId xmlns:a16="http://schemas.microsoft.com/office/drawing/2014/main" id="{F8E9E969-F94A-AFA7-C32E-639DC33E6F3A}"/>
              </a:ext>
            </a:extLst>
          </p:cNvPr>
          <p:cNvSpPr/>
          <p:nvPr/>
        </p:nvSpPr>
        <p:spPr>
          <a:xfrm>
            <a:off x="1628919" y="3656816"/>
            <a:ext cx="6780014" cy="181451"/>
          </a:xfrm>
          <a:prstGeom prst="rect">
            <a:avLst/>
          </a:prstGeom>
          <a:noFill/>
          <a:ln/>
        </p:spPr>
        <p:txBody>
          <a:bodyPr wrap="none" lIns="0" tIns="0" rIns="0" bIns="0" rtlCol="0" anchor="t"/>
          <a:lstStyle/>
          <a:p>
            <a:pPr marL="685800" lvl="1" indent="-342900" algn="l">
              <a:lnSpc>
                <a:spcPts val="1400"/>
              </a:lnSpc>
              <a:buSzPct val="100000"/>
              <a:buChar char="•"/>
            </a:pPr>
            <a:r>
              <a:rPr lang="en-US" sz="2400" b="1" dirty="0">
                <a:solidFill>
                  <a:srgbClr val="1E3063"/>
                </a:solidFill>
                <a:latin typeface="Instrument Sans Medium" pitchFamily="34" charset="0"/>
                <a:ea typeface="Instrument Sans Medium" pitchFamily="34" charset="-122"/>
                <a:cs typeface="Instrument Sans Medium" pitchFamily="34" charset="-120"/>
              </a:rPr>
              <a:t>Quản lý quan trọng:</a:t>
            </a:r>
            <a:r>
              <a:rPr lang="en-US" sz="2400" dirty="0">
                <a:solidFill>
                  <a:srgbClr val="1E3063"/>
                </a:solidFill>
                <a:latin typeface="Instrument Sans Medium" pitchFamily="34" charset="0"/>
                <a:ea typeface="Instrument Sans Medium" pitchFamily="34" charset="-122"/>
                <a:cs typeface="Instrument Sans Medium" pitchFamily="34" charset="-120"/>
              </a:rPr>
              <a:t> Cân bằng giữa bộ nhớ và hiệu suất truy xuất.</a:t>
            </a:r>
            <a:endParaRPr lang="en-US" sz="2400" dirty="0"/>
          </a:p>
        </p:txBody>
      </p:sp>
      <p:sp>
        <p:nvSpPr>
          <p:cNvPr id="6" name="TextBox 5">
            <a:extLst>
              <a:ext uri="{FF2B5EF4-FFF2-40B4-BE49-F238E27FC236}">
                <a16:creationId xmlns:a16="http://schemas.microsoft.com/office/drawing/2014/main" id="{13338DBE-E330-0D7F-3882-7D1F6596389C}"/>
              </a:ext>
            </a:extLst>
          </p:cNvPr>
          <p:cNvSpPr txBox="1"/>
          <p:nvPr/>
        </p:nvSpPr>
        <p:spPr>
          <a:xfrm>
            <a:off x="1828800" y="627688"/>
            <a:ext cx="10078948" cy="1694631"/>
          </a:xfrm>
          <a:prstGeom prst="rect">
            <a:avLst/>
          </a:prstGeom>
          <a:noFill/>
        </p:spPr>
        <p:txBody>
          <a:bodyPr wrap="square">
            <a:spAutoFit/>
          </a:bodyPr>
          <a:lstStyle/>
          <a:p>
            <a:pPr algn="l">
              <a:lnSpc>
                <a:spcPct val="150000"/>
              </a:lnSpc>
              <a:buSzPct val="100000"/>
            </a:pPr>
            <a:r>
              <a:rPr lang="en-US" sz="2400" b="1" dirty="0">
                <a:solidFill>
                  <a:srgbClr val="1E3063"/>
                </a:solidFill>
                <a:latin typeface="Instrument Sans Medium" pitchFamily="34" charset="0"/>
                <a:ea typeface="Instrument Sans Medium" pitchFamily="34" charset="-122"/>
                <a:cs typeface="Instrument Sans Medium" pitchFamily="34" charset="-120"/>
              </a:rPr>
              <a:t>Bucket (</a:t>
            </a:r>
            <a:r>
              <a:rPr lang="en-US" sz="2400" b="1" dirty="0" err="1">
                <a:solidFill>
                  <a:srgbClr val="1E3063"/>
                </a:solidFill>
                <a:latin typeface="Instrument Sans Medium" pitchFamily="34" charset="0"/>
                <a:ea typeface="Instrument Sans Medium" pitchFamily="34" charset="-122"/>
                <a:cs typeface="Instrument Sans Medium" pitchFamily="34" charset="-120"/>
              </a:rPr>
              <a:t>Ngăn</a:t>
            </a:r>
            <a:r>
              <a:rPr lang="en-US" sz="2400" b="1" dirty="0">
                <a:solidFill>
                  <a:srgbClr val="1E3063"/>
                </a:solidFill>
                <a:latin typeface="Instrument Sans Medium" pitchFamily="34" charset="0"/>
                <a:ea typeface="Instrument Sans Medium" pitchFamily="34" charset="-122"/>
                <a:cs typeface="Instrument Sans Medium" pitchFamily="34" charset="-120"/>
              </a:rPr>
              <a:t> </a:t>
            </a:r>
            <a:r>
              <a:rPr lang="en-US" sz="2400" b="1" dirty="0" err="1">
                <a:solidFill>
                  <a:srgbClr val="1E3063"/>
                </a:solidFill>
                <a:latin typeface="Instrument Sans Medium" pitchFamily="34" charset="0"/>
                <a:ea typeface="Instrument Sans Medium" pitchFamily="34" charset="-122"/>
                <a:cs typeface="Instrument Sans Medium" pitchFamily="34" charset="-120"/>
              </a:rPr>
              <a:t>chứa</a:t>
            </a:r>
            <a:r>
              <a:rPr lang="en-US" sz="2400" b="1" dirty="0">
                <a:solidFill>
                  <a:srgbClr val="1E3063"/>
                </a:solidFill>
                <a:latin typeface="Instrument Sans Medium" pitchFamily="34" charset="0"/>
                <a:ea typeface="Instrument Sans Medium" pitchFamily="34" charset="-122"/>
                <a:cs typeface="Instrument Sans Medium" pitchFamily="34" charset="-120"/>
              </a:rPr>
              <a:t> / Slot)</a:t>
            </a:r>
            <a:r>
              <a:rPr lang="en-US" sz="2400" dirty="0">
                <a:solidFill>
                  <a:srgbClr val="1E3063"/>
                </a:solidFill>
                <a:latin typeface="Instrument Sans Medium" pitchFamily="34" charset="0"/>
                <a:ea typeface="Instrument Sans Medium" pitchFamily="34" charset="-122"/>
                <a:cs typeface="Instrument Sans Medium" pitchFamily="34" charset="-120"/>
              </a:rPr>
              <a:t> </a:t>
            </a:r>
          </a:p>
          <a:p>
            <a:pPr marL="342900" indent="-342900" algn="l">
              <a:lnSpc>
                <a:spcPct val="150000"/>
              </a:lnSpc>
              <a:buSzPct val="100000"/>
              <a:buChar char="•"/>
            </a:pPr>
            <a:r>
              <a:rPr lang="en-US" sz="2400" b="1" dirty="0" err="1">
                <a:solidFill>
                  <a:srgbClr val="1E3063"/>
                </a:solidFill>
                <a:latin typeface="Instrument Sans Medium" pitchFamily="34" charset="0"/>
                <a:ea typeface="Instrument Sans Medium" pitchFamily="34" charset="-122"/>
                <a:cs typeface="Instrument Sans Medium" pitchFamily="34" charset="-120"/>
              </a:rPr>
              <a:t>Vị</a:t>
            </a:r>
            <a:r>
              <a:rPr lang="en-US" sz="2400" b="1" dirty="0">
                <a:solidFill>
                  <a:srgbClr val="1E3063"/>
                </a:solidFill>
                <a:latin typeface="Instrument Sans Medium" pitchFamily="34" charset="0"/>
                <a:ea typeface="Instrument Sans Medium" pitchFamily="34" charset="-122"/>
                <a:cs typeface="Instrument Sans Medium" pitchFamily="34" charset="-120"/>
              </a:rPr>
              <a:t> </a:t>
            </a:r>
            <a:r>
              <a:rPr lang="en-US" sz="2400" b="1" dirty="0" err="1">
                <a:solidFill>
                  <a:srgbClr val="1E3063"/>
                </a:solidFill>
                <a:latin typeface="Instrument Sans Medium" pitchFamily="34" charset="0"/>
                <a:ea typeface="Instrument Sans Medium" pitchFamily="34" charset="-122"/>
                <a:cs typeface="Instrument Sans Medium" pitchFamily="34" charset="-120"/>
              </a:rPr>
              <a:t>trí</a:t>
            </a:r>
            <a:r>
              <a:rPr lang="en-US" sz="2400" b="1" dirty="0">
                <a:solidFill>
                  <a:srgbClr val="1E3063"/>
                </a:solidFill>
                <a:latin typeface="Instrument Sans Medium" pitchFamily="34" charset="0"/>
                <a:ea typeface="Instrument Sans Medium" pitchFamily="34" charset="-122"/>
                <a:cs typeface="Instrument Sans Medium" pitchFamily="34" charset="-120"/>
              </a:rPr>
              <a:t> </a:t>
            </a:r>
            <a:r>
              <a:rPr lang="en-US" sz="2400" b="1" dirty="0" err="1">
                <a:solidFill>
                  <a:srgbClr val="1E3063"/>
                </a:solidFill>
                <a:latin typeface="Instrument Sans Medium" pitchFamily="34" charset="0"/>
                <a:ea typeface="Instrument Sans Medium" pitchFamily="34" charset="-122"/>
                <a:cs typeface="Instrument Sans Medium" pitchFamily="34" charset="-120"/>
              </a:rPr>
              <a:t>lưu</a:t>
            </a:r>
            <a:r>
              <a:rPr lang="en-US" sz="2400" b="1" dirty="0">
                <a:solidFill>
                  <a:srgbClr val="1E3063"/>
                </a:solidFill>
                <a:latin typeface="Instrument Sans Medium" pitchFamily="34" charset="0"/>
                <a:ea typeface="Instrument Sans Medium" pitchFamily="34" charset="-122"/>
                <a:cs typeface="Instrument Sans Medium" pitchFamily="34" charset="-120"/>
              </a:rPr>
              <a:t> </a:t>
            </a:r>
            <a:r>
              <a:rPr lang="en-US" sz="2400" b="1" dirty="0" err="1">
                <a:solidFill>
                  <a:srgbClr val="1E3063"/>
                </a:solidFill>
                <a:latin typeface="Instrument Sans Medium" pitchFamily="34" charset="0"/>
                <a:ea typeface="Instrument Sans Medium" pitchFamily="34" charset="-122"/>
                <a:cs typeface="Instrument Sans Medium" pitchFamily="34" charset="-120"/>
              </a:rPr>
              <a:t>trữ</a:t>
            </a:r>
            <a:r>
              <a:rPr lang="en-US" sz="2400" b="1" dirty="0">
                <a:solidFill>
                  <a:srgbClr val="1E3063"/>
                </a:solidFill>
                <a:latin typeface="Instrument Sans Medium" pitchFamily="34" charset="0"/>
                <a:ea typeface="Instrument Sans Medium" pitchFamily="34" charset="-122"/>
                <a:cs typeface="Instrument Sans Medium" pitchFamily="34" charset="-120"/>
              </a:rPr>
              <a:t>:</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Là</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các</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vị</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trí</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thực</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tế</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trong</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bộ</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nhớ</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thường</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là</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các</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phần</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tử</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của</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một</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mảng</a:t>
            </a:r>
            <a:r>
              <a:rPr lang="en-US" sz="2400" dirty="0">
                <a:solidFill>
                  <a:srgbClr val="1E3063"/>
                </a:solidFill>
                <a:latin typeface="Instrument Sans Medium" pitchFamily="34" charset="0"/>
                <a:ea typeface="Instrument Sans Medium" pitchFamily="34" charset="-122"/>
                <a:cs typeface="Instrument Sans Medium" pitchFamily="34" charset="-120"/>
              </a:rPr>
              <a:t>.</a:t>
            </a:r>
            <a:endParaRPr lang="en-US" sz="2400" dirty="0"/>
          </a:p>
        </p:txBody>
      </p:sp>
      <p:pic>
        <p:nvPicPr>
          <p:cNvPr id="7" name="Picture 6">
            <a:extLst>
              <a:ext uri="{FF2B5EF4-FFF2-40B4-BE49-F238E27FC236}">
                <a16:creationId xmlns:a16="http://schemas.microsoft.com/office/drawing/2014/main" id="{B6EE6BA4-03B6-957C-4BD4-5EF973D7CBD3}"/>
              </a:ext>
            </a:extLst>
          </p:cNvPr>
          <p:cNvPicPr>
            <a:picLocks noChangeAspect="1"/>
          </p:cNvPicPr>
          <p:nvPr/>
        </p:nvPicPr>
        <p:blipFill>
          <a:blip r:embed="rId2"/>
          <a:stretch>
            <a:fillRect/>
          </a:stretch>
        </p:blipFill>
        <p:spPr>
          <a:xfrm>
            <a:off x="3534524" y="4016950"/>
            <a:ext cx="6667499" cy="3869750"/>
          </a:xfrm>
          <a:prstGeom prst="rect">
            <a:avLst/>
          </a:prstGeom>
        </p:spPr>
      </p:pic>
      <p:sp>
        <p:nvSpPr>
          <p:cNvPr id="8" name="Rectangle 7">
            <a:extLst>
              <a:ext uri="{FF2B5EF4-FFF2-40B4-BE49-F238E27FC236}">
                <a16:creationId xmlns:a16="http://schemas.microsoft.com/office/drawing/2014/main" id="{EA14B628-754D-C5BF-F509-295039375F33}"/>
              </a:ext>
            </a:extLst>
          </p:cNvPr>
          <p:cNvSpPr/>
          <p:nvPr/>
        </p:nvSpPr>
        <p:spPr>
          <a:xfrm>
            <a:off x="12839700" y="7658100"/>
            <a:ext cx="1790700" cy="571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59350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nvSpPr>
        <p:spPr>
          <a:xfrm>
            <a:off x="793790" y="1257181"/>
            <a:ext cx="7483197" cy="708779"/>
          </a:xfrm>
          <a:prstGeom prst="rect">
            <a:avLst/>
          </a:prstGeom>
          <a:noFill/>
          <a:ln/>
        </p:spPr>
        <p:txBody>
          <a:bodyPr wrap="non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Khóa (Key) và Giá Trị (Value)</a:t>
            </a:r>
            <a:endParaRPr lang="en-US" sz="4450" dirty="0"/>
          </a:p>
        </p:txBody>
      </p:sp>
      <p:sp>
        <p:nvSpPr>
          <p:cNvPr id="4" name="Shape 2"/>
          <p:cNvSpPr/>
          <p:nvPr/>
        </p:nvSpPr>
        <p:spPr>
          <a:xfrm>
            <a:off x="793790" y="2561273"/>
            <a:ext cx="6244709" cy="4119086"/>
          </a:xfrm>
          <a:prstGeom prst="roundRect">
            <a:avLst>
              <a:gd name="adj" fmla="val 4956"/>
            </a:avLst>
          </a:prstGeom>
          <a:solidFill>
            <a:srgbClr val="E8EEFC"/>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20604" y="2870954"/>
            <a:ext cx="354330" cy="283488"/>
          </a:xfrm>
          <a:prstGeom prst="rect">
            <a:avLst/>
          </a:prstGeom>
        </p:spPr>
      </p:pic>
      <p:sp>
        <p:nvSpPr>
          <p:cNvPr id="6" name="Text 3"/>
          <p:cNvSpPr/>
          <p:nvPr/>
        </p:nvSpPr>
        <p:spPr>
          <a:xfrm>
            <a:off x="1601748" y="2844760"/>
            <a:ext cx="2835235" cy="354330"/>
          </a:xfrm>
          <a:prstGeom prst="rect">
            <a:avLst/>
          </a:prstGeom>
          <a:noFill/>
          <a:ln/>
        </p:spPr>
        <p:txBody>
          <a:bodyPr wrap="none" lIns="0" tIns="0" rIns="0" bIns="0" rtlCol="0" anchor="t"/>
          <a:lstStyle/>
          <a:p>
            <a:pPr marL="0" indent="0" algn="l">
              <a:lnSpc>
                <a:spcPts val="2750"/>
              </a:lnSpc>
              <a:buNone/>
            </a:pPr>
            <a:r>
              <a:rPr lang="en-US" sz="2400" dirty="0">
                <a:solidFill>
                  <a:srgbClr val="000000"/>
                </a:solidFill>
                <a:latin typeface="Instrument Sans Semi Bold" pitchFamily="34" charset="0"/>
                <a:ea typeface="Instrument Sans Semi Bold" pitchFamily="34" charset="-122"/>
                <a:cs typeface="Instrument Sans Semi Bold" pitchFamily="34" charset="-120"/>
              </a:rPr>
              <a:t>Khóa (Key)</a:t>
            </a:r>
            <a:endParaRPr lang="en-US" sz="2400" dirty="0"/>
          </a:p>
        </p:txBody>
      </p:sp>
      <p:sp>
        <p:nvSpPr>
          <p:cNvPr id="7" name="Text 4"/>
          <p:cNvSpPr/>
          <p:nvPr/>
        </p:nvSpPr>
        <p:spPr>
          <a:xfrm>
            <a:off x="1601748" y="3425904"/>
            <a:ext cx="5209937" cy="1088708"/>
          </a:xfrm>
          <a:prstGeom prst="rect">
            <a:avLst/>
          </a:prstGeom>
          <a:noFill/>
          <a:ln/>
        </p:spPr>
        <p:txBody>
          <a:bodyPr wrap="square" lIns="0" tIns="0" rIns="0" bIns="0" rtlCol="0" anchor="t"/>
          <a:lstStyle/>
          <a:p>
            <a:pPr marL="342900" indent="-342900" algn="just">
              <a:lnSpc>
                <a:spcPts val="2850"/>
              </a:lnSpc>
              <a:buSzPct val="100000"/>
              <a:buChar char="•"/>
            </a:pPr>
            <a:r>
              <a:rPr lang="en-US" sz="2000" b="1" dirty="0">
                <a:solidFill>
                  <a:srgbClr val="000000"/>
                </a:solidFill>
                <a:latin typeface="Instrument Sans Medium" pitchFamily="34" charset="0"/>
                <a:ea typeface="Instrument Sans Medium" pitchFamily="34" charset="-122"/>
                <a:cs typeface="Instrument Sans Medium" pitchFamily="34" charset="-120"/>
              </a:rPr>
              <a:t>Trái tim của định vị dữ liệu:</a:t>
            </a:r>
            <a:r>
              <a:rPr lang="en-US" sz="2000" dirty="0">
                <a:solidFill>
                  <a:srgbClr val="000000"/>
                </a:solidFill>
                <a:latin typeface="Instrument Sans Medium" pitchFamily="34" charset="0"/>
                <a:ea typeface="Instrument Sans Medium" pitchFamily="34" charset="-122"/>
                <a:cs typeface="Instrument Sans Medium" pitchFamily="34" charset="-120"/>
              </a:rPr>
              <a:t> Mỗi giá trị (Value) bạn lưu trữ sẽ được liên kết với một khóa duy nhất.</a:t>
            </a:r>
            <a:endParaRPr lang="en-US" sz="2000" dirty="0"/>
          </a:p>
        </p:txBody>
      </p:sp>
      <p:sp>
        <p:nvSpPr>
          <p:cNvPr id="8" name="Text 5"/>
          <p:cNvSpPr/>
          <p:nvPr/>
        </p:nvSpPr>
        <p:spPr>
          <a:xfrm>
            <a:off x="1601748" y="4593908"/>
            <a:ext cx="5209937" cy="1088708"/>
          </a:xfrm>
          <a:prstGeom prst="rect">
            <a:avLst/>
          </a:prstGeom>
          <a:noFill/>
          <a:ln/>
        </p:spPr>
        <p:txBody>
          <a:bodyPr wrap="square" lIns="0" tIns="0" rIns="0" bIns="0" rtlCol="0" anchor="t"/>
          <a:lstStyle/>
          <a:p>
            <a:pPr marL="342900" indent="-342900" algn="just">
              <a:lnSpc>
                <a:spcPts val="2850"/>
              </a:lnSpc>
              <a:buSzPct val="100000"/>
              <a:buChar char="•"/>
            </a:pPr>
            <a:r>
              <a:rPr lang="en-US" sz="1750" b="1" dirty="0">
                <a:solidFill>
                  <a:srgbClr val="000000"/>
                </a:solidFill>
                <a:latin typeface="Instrument Sans Medium" pitchFamily="34" charset="0"/>
                <a:ea typeface="Instrument Sans Medium" pitchFamily="34" charset="-122"/>
                <a:cs typeface="Instrument Sans Medium" pitchFamily="34" charset="-120"/>
              </a:rPr>
              <a:t>"</a:t>
            </a:r>
            <a:r>
              <a:rPr lang="en-US" sz="2000" b="1" dirty="0">
                <a:solidFill>
                  <a:srgbClr val="000000"/>
                </a:solidFill>
                <a:latin typeface="Instrument Sans Medium" pitchFamily="34" charset="0"/>
                <a:ea typeface="Instrument Sans Medium" pitchFamily="34" charset="-122"/>
                <a:cs typeface="Instrument Sans Medium" pitchFamily="34" charset="-120"/>
              </a:rPr>
              <a:t>Hashable":</a:t>
            </a:r>
            <a:r>
              <a:rPr lang="en-US" sz="2000" dirty="0">
                <a:solidFill>
                  <a:srgbClr val="000000"/>
                </a:solidFill>
                <a:latin typeface="Instrument Sans Medium" pitchFamily="34" charset="0"/>
                <a:ea typeface="Instrument Sans Medium" pitchFamily="34" charset="-122"/>
                <a:cs typeface="Instrument Sans Medium" pitchFamily="34" charset="-120"/>
              </a:rPr>
              <a:t> Khóa phải là </a:t>
            </a:r>
            <a:r>
              <a:rPr lang="en-US" sz="2000" dirty="0" err="1">
                <a:solidFill>
                  <a:srgbClr val="000000"/>
                </a:solidFill>
                <a:latin typeface="Instrument Sans Medium" pitchFamily="34" charset="0"/>
                <a:ea typeface="Instrument Sans Medium" pitchFamily="34" charset="-122"/>
                <a:cs typeface="Instrument Sans Medium" pitchFamily="34" charset="-120"/>
              </a:rPr>
              <a:t>bất</a:t>
            </a:r>
            <a:r>
              <a:rPr lang="en-US" sz="2000" dirty="0">
                <a:solidFill>
                  <a:srgbClr val="000000"/>
                </a:solidFill>
                <a:latin typeface="Instrument Sans Medium" pitchFamily="34" charset="0"/>
                <a:ea typeface="Instrument Sans Medium" pitchFamily="34" charset="-122"/>
                <a:cs typeface="Instrument Sans Medium" pitchFamily="34" charset="-120"/>
              </a:rPr>
              <a:t> </a:t>
            </a:r>
            <a:r>
              <a:rPr lang="en-US" sz="2000" dirty="0" err="1">
                <a:solidFill>
                  <a:srgbClr val="000000"/>
                </a:solidFill>
                <a:latin typeface="Instrument Sans Medium" pitchFamily="34" charset="0"/>
                <a:ea typeface="Instrument Sans Medium" pitchFamily="34" charset="-122"/>
                <a:cs typeface="Instrument Sans Medium" pitchFamily="34" charset="-120"/>
              </a:rPr>
              <a:t>biến</a:t>
            </a:r>
            <a:r>
              <a:rPr lang="en-US" sz="2000" dirty="0">
                <a:solidFill>
                  <a:srgbClr val="000000"/>
                </a:solidFill>
                <a:latin typeface="Instrument Sans Medium" pitchFamily="34" charset="0"/>
                <a:ea typeface="Instrument Sans Medium" pitchFamily="34" charset="-122"/>
                <a:cs typeface="Instrument Sans Medium" pitchFamily="34" charset="-120"/>
              </a:rPr>
              <a:t> để hàm băm có thể xử lý nó một cách nhất quán.</a:t>
            </a:r>
            <a:endParaRPr lang="en-US" sz="2000" dirty="0"/>
          </a:p>
        </p:txBody>
      </p:sp>
      <p:sp>
        <p:nvSpPr>
          <p:cNvPr id="9" name="Text 6"/>
          <p:cNvSpPr/>
          <p:nvPr/>
        </p:nvSpPr>
        <p:spPr>
          <a:xfrm>
            <a:off x="1601747" y="5639634"/>
            <a:ext cx="5209937" cy="725805"/>
          </a:xfrm>
          <a:prstGeom prst="rect">
            <a:avLst/>
          </a:prstGeom>
          <a:noFill/>
          <a:ln/>
        </p:spPr>
        <p:txBody>
          <a:bodyPr wrap="square" lIns="0" tIns="0" rIns="0" bIns="0" rtlCol="0" anchor="t"/>
          <a:lstStyle/>
          <a:p>
            <a:pPr marL="342900" indent="-342900" algn="just">
              <a:lnSpc>
                <a:spcPts val="2850"/>
              </a:lnSpc>
              <a:buSzPct val="100000"/>
              <a:buChar char="•"/>
            </a:pPr>
            <a:r>
              <a:rPr lang="en-US" sz="2000" b="1" dirty="0">
                <a:solidFill>
                  <a:srgbClr val="000000"/>
                </a:solidFill>
                <a:latin typeface="Instrument Sans Medium" pitchFamily="34" charset="0"/>
                <a:ea typeface="Instrument Sans Medium" pitchFamily="34" charset="-122"/>
                <a:cs typeface="Instrument Sans Medium" pitchFamily="34" charset="-120"/>
              </a:rPr>
              <a:t>Ví dụ:</a:t>
            </a:r>
            <a:r>
              <a:rPr lang="en-US" sz="2000" dirty="0">
                <a:solidFill>
                  <a:srgbClr val="000000"/>
                </a:solidFill>
                <a:latin typeface="Instrument Sans Medium" pitchFamily="34" charset="0"/>
                <a:ea typeface="Instrument Sans Medium" pitchFamily="34" charset="-122"/>
                <a:cs typeface="Instrument Sans Medium" pitchFamily="34" charset="-120"/>
              </a:rPr>
              <a:t> Trong Python, số, chuỗi, tuple có thể làm khóa; danh sách (list) thì không.</a:t>
            </a:r>
            <a:endParaRPr lang="en-US" sz="2000" dirty="0"/>
          </a:p>
        </p:txBody>
      </p:sp>
      <p:sp>
        <p:nvSpPr>
          <p:cNvPr id="10" name="Shape 7"/>
          <p:cNvSpPr/>
          <p:nvPr/>
        </p:nvSpPr>
        <p:spPr>
          <a:xfrm>
            <a:off x="7599521" y="2561273"/>
            <a:ext cx="6244709" cy="4119086"/>
          </a:xfrm>
          <a:prstGeom prst="roundRect">
            <a:avLst>
              <a:gd name="adj" fmla="val 5435"/>
            </a:avLst>
          </a:prstGeom>
          <a:solidFill>
            <a:srgbClr val="CDDAFA"/>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826335" y="2870954"/>
            <a:ext cx="354330" cy="283488"/>
          </a:xfrm>
          <a:prstGeom prst="rect">
            <a:avLst/>
          </a:prstGeom>
        </p:spPr>
      </p:pic>
      <p:sp>
        <p:nvSpPr>
          <p:cNvPr id="12" name="Text 8"/>
          <p:cNvSpPr/>
          <p:nvPr/>
        </p:nvSpPr>
        <p:spPr>
          <a:xfrm>
            <a:off x="8407479" y="2844760"/>
            <a:ext cx="2835235" cy="354330"/>
          </a:xfrm>
          <a:prstGeom prst="rect">
            <a:avLst/>
          </a:prstGeom>
          <a:noFill/>
          <a:ln/>
        </p:spPr>
        <p:txBody>
          <a:bodyPr wrap="none" lIns="0" tIns="0" rIns="0" bIns="0" rtlCol="0" anchor="t"/>
          <a:lstStyle/>
          <a:p>
            <a:pPr marL="0" indent="0" algn="l">
              <a:lnSpc>
                <a:spcPts val="2750"/>
              </a:lnSpc>
              <a:buNone/>
            </a:pPr>
            <a:r>
              <a:rPr lang="en-US" sz="2400" dirty="0">
                <a:solidFill>
                  <a:srgbClr val="000000"/>
                </a:solidFill>
                <a:latin typeface="Instrument Sans Semi Bold" pitchFamily="34" charset="0"/>
                <a:ea typeface="Instrument Sans Semi Bold" pitchFamily="34" charset="-122"/>
                <a:cs typeface="Instrument Sans Semi Bold" pitchFamily="34" charset="-120"/>
              </a:rPr>
              <a:t>Giá Trị (Value)</a:t>
            </a:r>
            <a:endParaRPr lang="en-US" sz="2400" dirty="0"/>
          </a:p>
        </p:txBody>
      </p:sp>
      <p:sp>
        <p:nvSpPr>
          <p:cNvPr id="13" name="Text 9"/>
          <p:cNvSpPr/>
          <p:nvPr/>
        </p:nvSpPr>
        <p:spPr>
          <a:xfrm>
            <a:off x="8407478" y="3385899"/>
            <a:ext cx="5209937" cy="725805"/>
          </a:xfrm>
          <a:prstGeom prst="rect">
            <a:avLst/>
          </a:prstGeom>
          <a:noFill/>
          <a:ln/>
        </p:spPr>
        <p:txBody>
          <a:bodyPr wrap="square" lIns="0" tIns="0" rIns="0" bIns="0" rtlCol="0" anchor="t"/>
          <a:lstStyle/>
          <a:p>
            <a:pPr marL="342900" indent="-342900" algn="just">
              <a:lnSpc>
                <a:spcPts val="2850"/>
              </a:lnSpc>
              <a:buSzPct val="100000"/>
              <a:buChar char="•"/>
            </a:pPr>
            <a:r>
              <a:rPr lang="en-US" sz="2000" b="1" dirty="0">
                <a:solidFill>
                  <a:srgbClr val="000000"/>
                </a:solidFill>
                <a:latin typeface="Instrument Sans Medium" pitchFamily="34" charset="0"/>
                <a:ea typeface="Instrument Sans Medium" pitchFamily="34" charset="-122"/>
                <a:cs typeface="Instrument Sans Medium" pitchFamily="34" charset="-120"/>
              </a:rPr>
              <a:t>Dữ liệu thực tế:</a:t>
            </a:r>
            <a:r>
              <a:rPr lang="en-US" sz="2000" dirty="0">
                <a:solidFill>
                  <a:srgbClr val="000000"/>
                </a:solidFill>
                <a:latin typeface="Instrument Sans Medium" pitchFamily="34" charset="0"/>
                <a:ea typeface="Instrument Sans Medium" pitchFamily="34" charset="-122"/>
                <a:cs typeface="Instrument Sans Medium" pitchFamily="34" charset="-120"/>
              </a:rPr>
              <a:t> Là nội dung bạn muốn lưu trữ và liên kết với một khóa.</a:t>
            </a:r>
            <a:endParaRPr lang="en-US" sz="2000" dirty="0"/>
          </a:p>
        </p:txBody>
      </p:sp>
      <p:sp>
        <p:nvSpPr>
          <p:cNvPr id="14" name="Text 10"/>
          <p:cNvSpPr/>
          <p:nvPr/>
        </p:nvSpPr>
        <p:spPr>
          <a:xfrm>
            <a:off x="8407479" y="4162663"/>
            <a:ext cx="5209937" cy="1088708"/>
          </a:xfrm>
          <a:prstGeom prst="rect">
            <a:avLst/>
          </a:prstGeom>
          <a:noFill/>
          <a:ln/>
        </p:spPr>
        <p:txBody>
          <a:bodyPr wrap="square" lIns="0" tIns="0" rIns="0" bIns="0" rtlCol="0" anchor="t"/>
          <a:lstStyle/>
          <a:p>
            <a:pPr marL="342900" indent="-342900" algn="just">
              <a:lnSpc>
                <a:spcPts val="2850"/>
              </a:lnSpc>
              <a:buSzPct val="100000"/>
              <a:buChar char="•"/>
            </a:pPr>
            <a:r>
              <a:rPr lang="en-US" sz="2000" b="1" dirty="0">
                <a:solidFill>
                  <a:srgbClr val="000000"/>
                </a:solidFill>
                <a:latin typeface="Instrument Sans Medium" pitchFamily="34" charset="0"/>
                <a:ea typeface="Instrument Sans Medium" pitchFamily="34" charset="-122"/>
                <a:cs typeface="Instrument Sans Medium" pitchFamily="34" charset="-120"/>
              </a:rPr>
              <a:t>Linh hoạt:</a:t>
            </a:r>
            <a:r>
              <a:rPr lang="en-US" sz="2000" dirty="0">
                <a:solidFill>
                  <a:srgbClr val="000000"/>
                </a:solidFill>
                <a:latin typeface="Instrument Sans Medium" pitchFamily="34" charset="0"/>
                <a:ea typeface="Instrument Sans Medium" pitchFamily="34" charset="-122"/>
                <a:cs typeface="Instrument Sans Medium" pitchFamily="34" charset="-120"/>
              </a:rPr>
              <a:t> Có thể là số, chuỗi, đối tượng phức tạp (như thông tin người dùng), hoặc cấu trúc dữ liệu khác.</a:t>
            </a:r>
            <a:endParaRPr lang="en-US" sz="2000" dirty="0"/>
          </a:p>
        </p:txBody>
      </p:sp>
      <p:sp>
        <p:nvSpPr>
          <p:cNvPr id="15" name="Text 11"/>
          <p:cNvSpPr/>
          <p:nvPr/>
        </p:nvSpPr>
        <p:spPr>
          <a:xfrm>
            <a:off x="8407477" y="5322154"/>
            <a:ext cx="5209937" cy="725805"/>
          </a:xfrm>
          <a:prstGeom prst="rect">
            <a:avLst/>
          </a:prstGeom>
          <a:noFill/>
          <a:ln/>
        </p:spPr>
        <p:txBody>
          <a:bodyPr wrap="square" lIns="0" tIns="0" rIns="0" bIns="0" rtlCol="0" anchor="t"/>
          <a:lstStyle/>
          <a:p>
            <a:pPr marL="342900" indent="-342900" algn="just">
              <a:lnSpc>
                <a:spcPts val="2850"/>
              </a:lnSpc>
              <a:buSzPct val="100000"/>
              <a:buChar char="•"/>
            </a:pPr>
            <a:r>
              <a:rPr lang="en-US" sz="2000" b="1" dirty="0">
                <a:solidFill>
                  <a:srgbClr val="000000"/>
                </a:solidFill>
                <a:latin typeface="Instrument Sans Medium" pitchFamily="34" charset="0"/>
                <a:ea typeface="Instrument Sans Medium" pitchFamily="34" charset="-122"/>
                <a:cs typeface="Instrument Sans Medium" pitchFamily="34" charset="-120"/>
              </a:rPr>
              <a:t>Mối liên kết:</a:t>
            </a:r>
            <a:r>
              <a:rPr lang="en-US" sz="2000" dirty="0">
                <a:solidFill>
                  <a:srgbClr val="000000"/>
                </a:solidFill>
                <a:latin typeface="Instrument Sans Medium" pitchFamily="34" charset="0"/>
                <a:ea typeface="Instrument Sans Medium" pitchFamily="34" charset="-122"/>
                <a:cs typeface="Instrument Sans Medium" pitchFamily="34" charset="-120"/>
              </a:rPr>
              <a:t> Nền tảng của hash table là mối liên kết chặt chẽ giữa khóa và giá trị.</a:t>
            </a:r>
            <a:endParaRPr lang="en-US" sz="2000" dirty="0"/>
          </a:p>
        </p:txBody>
      </p:sp>
      <p:sp>
        <p:nvSpPr>
          <p:cNvPr id="16" name="Text 12"/>
          <p:cNvSpPr/>
          <p:nvPr/>
        </p:nvSpPr>
        <p:spPr>
          <a:xfrm>
            <a:off x="801409" y="7076957"/>
            <a:ext cx="13042821" cy="362903"/>
          </a:xfrm>
          <a:prstGeom prst="rect">
            <a:avLst/>
          </a:prstGeom>
          <a:noFill/>
          <a:ln/>
        </p:spPr>
        <p:txBody>
          <a:bodyPr wrap="none" lIns="0" tIns="0" rIns="0" bIns="0" rtlCol="0" anchor="t"/>
          <a:lstStyle/>
          <a:p>
            <a:pPr marL="0" indent="0" algn="l">
              <a:lnSpc>
                <a:spcPts val="285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Sự linh hoạt của giá trị và tính duy nhất của khóa làm cho hash table trở nên cực kỳ hữu dụng.</a:t>
            </a:r>
            <a:endParaRPr lang="en-US" sz="2000" dirty="0"/>
          </a:p>
        </p:txBody>
      </p:sp>
      <p:sp>
        <p:nvSpPr>
          <p:cNvPr id="2" name="Rectangle 1">
            <a:extLst>
              <a:ext uri="{FF2B5EF4-FFF2-40B4-BE49-F238E27FC236}">
                <a16:creationId xmlns:a16="http://schemas.microsoft.com/office/drawing/2014/main" id="{892E1D24-47E1-FB70-A080-6CA017673ACA}"/>
              </a:ext>
            </a:extLst>
          </p:cNvPr>
          <p:cNvSpPr/>
          <p:nvPr/>
        </p:nvSpPr>
        <p:spPr>
          <a:xfrm>
            <a:off x="12649200" y="7696200"/>
            <a:ext cx="1981200" cy="533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354415" y="298653"/>
            <a:ext cx="10106501" cy="708779"/>
          </a:xfrm>
          <a:prstGeom prst="rect">
            <a:avLst/>
          </a:prstGeom>
          <a:noFill/>
          <a:ln/>
        </p:spPr>
        <p:txBody>
          <a:bodyPr wrap="non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Cách Thức Hoạt Động Của Hash Table</a:t>
            </a:r>
            <a:endParaRPr lang="en-US" sz="4450" dirty="0"/>
          </a:p>
        </p:txBody>
      </p:sp>
      <p:sp>
        <p:nvSpPr>
          <p:cNvPr id="3" name="Text 1"/>
          <p:cNvSpPr/>
          <p:nvPr/>
        </p:nvSpPr>
        <p:spPr>
          <a:xfrm>
            <a:off x="987856" y="1007432"/>
            <a:ext cx="4868823" cy="354330"/>
          </a:xfrm>
          <a:prstGeom prst="rect">
            <a:avLst/>
          </a:prstGeom>
          <a:noFill/>
          <a:ln/>
        </p:spPr>
        <p:txBody>
          <a:bodyPr wrap="none" lIns="0" tIns="0" rIns="0" bIns="0" rtlCol="0" anchor="t"/>
          <a:lstStyle/>
          <a:p>
            <a:pPr marL="0" indent="0" algn="l">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Minh họa với ví dụ danh bạ điện thoại</a:t>
            </a:r>
            <a:endParaRPr lang="en-US" sz="2200" dirty="0"/>
          </a:p>
        </p:txBody>
      </p:sp>
      <p:sp>
        <p:nvSpPr>
          <p:cNvPr id="4" name="Text 2"/>
          <p:cNvSpPr/>
          <p:nvPr/>
        </p:nvSpPr>
        <p:spPr>
          <a:xfrm>
            <a:off x="886257" y="1310827"/>
            <a:ext cx="13042821" cy="1872615"/>
          </a:xfrm>
          <a:prstGeom prst="rect">
            <a:avLst/>
          </a:prstGeom>
          <a:noFill/>
          <a:ln/>
        </p:spPr>
        <p:txBody>
          <a:bodyPr wrap="square" lIns="0" tIns="0" rIns="0" bIns="0" rtlCol="0" anchor="t"/>
          <a:lstStyle/>
          <a:p>
            <a:pPr marL="342900" indent="-342900" algn="just">
              <a:lnSpc>
                <a:spcPct val="150000"/>
              </a:lnSpc>
              <a:buSzPct val="100000"/>
              <a:buChar char="•"/>
            </a:pPr>
            <a:r>
              <a:rPr lang="en-US" sz="2000" b="1" dirty="0">
                <a:solidFill>
                  <a:srgbClr val="1E3063"/>
                </a:solidFill>
                <a:latin typeface="Instrument Sans Medium" pitchFamily="34" charset="0"/>
                <a:ea typeface="Instrument Sans Medium" pitchFamily="34" charset="-122"/>
                <a:cs typeface="Instrument Sans Medium" pitchFamily="34" charset="-120"/>
              </a:rPr>
              <a:t>Thêm (Insert / Put)</a:t>
            </a:r>
            <a:r>
              <a:rPr lang="en-US" sz="2000" dirty="0">
                <a:solidFill>
                  <a:srgbClr val="1E3063"/>
                </a:solidFill>
                <a:latin typeface="Instrument Sans Medium" pitchFamily="34" charset="0"/>
                <a:ea typeface="Instrument Sans Medium" pitchFamily="34" charset="-122"/>
                <a:cs typeface="Instrument Sans Medium" pitchFamily="34" charset="-120"/>
              </a:rPr>
              <a:t> Để thêm một cặp </a:t>
            </a:r>
            <a:r>
              <a:rPr lang="en-US" sz="2000" dirty="0">
                <a:solidFill>
                  <a:srgbClr val="1E3063"/>
                </a:solidFill>
                <a:highlight>
                  <a:srgbClr val="F2F2F2"/>
                </a:highlight>
                <a:latin typeface="Consolas" pitchFamily="34" charset="0"/>
                <a:ea typeface="Consolas" pitchFamily="34" charset="-122"/>
                <a:cs typeface="Consolas" pitchFamily="34" charset="-120"/>
              </a:rPr>
              <a:t>("An", "090123456")</a:t>
            </a:r>
            <a:r>
              <a:rPr lang="en-US" sz="2000" dirty="0">
                <a:solidFill>
                  <a:srgbClr val="1E3063"/>
                </a:solidFill>
                <a:latin typeface="Instrument Sans Medium" pitchFamily="34" charset="0"/>
                <a:ea typeface="Instrument Sans Medium" pitchFamily="34" charset="-122"/>
                <a:cs typeface="Instrument Sans Medium" pitchFamily="34" charset="-120"/>
              </a:rPr>
              <a:t>: </a:t>
            </a:r>
          </a:p>
          <a:p>
            <a:pPr algn="just">
              <a:lnSpc>
                <a:spcPct val="150000"/>
              </a:lnSpc>
              <a:buSzPct val="100000"/>
            </a:pPr>
            <a:r>
              <a:rPr lang="en-US" sz="2000" b="1" dirty="0">
                <a:solidFill>
                  <a:srgbClr val="1E3063"/>
                </a:solidFill>
                <a:latin typeface="Instrument Sans Medium" pitchFamily="34" charset="0"/>
                <a:ea typeface="Instrument Sans Medium" pitchFamily="34" charset="-122"/>
                <a:cs typeface="Instrument Sans Medium" pitchFamily="34" charset="-120"/>
              </a:rPr>
              <a:t>       1. Băm Khóa:</a:t>
            </a:r>
            <a:r>
              <a:rPr lang="en-US" sz="2000" dirty="0">
                <a:solidFill>
                  <a:srgbClr val="1E3063"/>
                </a:solidFill>
                <a:latin typeface="Instrument Sans Medium" pitchFamily="34" charset="0"/>
                <a:ea typeface="Instrument Sans Medium" pitchFamily="34" charset="-122"/>
                <a:cs typeface="Instrument Sans Medium" pitchFamily="34" charset="-120"/>
              </a:rPr>
              <a:t> Khóa là “An” (ASCII của ‘A’ là 65). </a:t>
            </a:r>
          </a:p>
          <a:p>
            <a:pPr algn="just">
              <a:lnSpc>
                <a:spcPct val="150000"/>
              </a:lnSpc>
              <a:buSzPct val="100000"/>
            </a:pPr>
            <a:r>
              <a:rPr lang="en-US" sz="2000" b="1" dirty="0">
                <a:solidFill>
                  <a:srgbClr val="1E3063"/>
                </a:solidFill>
                <a:latin typeface="Instrument Sans Medium" pitchFamily="34" charset="0"/>
                <a:ea typeface="Instrument Sans Medium" pitchFamily="34" charset="-122"/>
                <a:cs typeface="Instrument Sans Medium" pitchFamily="34" charset="-120"/>
              </a:rPr>
              <a:t>       2. Tính Chỉ số:</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i="1" dirty="0">
                <a:solidFill>
                  <a:srgbClr val="1E3063"/>
                </a:solidFill>
                <a:latin typeface="Instrument Sans Medium" pitchFamily="34" charset="0"/>
                <a:ea typeface="Instrument Sans Medium" pitchFamily="34" charset="-122"/>
                <a:cs typeface="Instrument Sans Medium" pitchFamily="34" charset="-120"/>
              </a:rPr>
              <a:t>index = 65 % 10 = 5</a:t>
            </a:r>
            <a:r>
              <a:rPr lang="en-US" sz="2000" dirty="0">
                <a:solidFill>
                  <a:srgbClr val="1E3063"/>
                </a:solidFill>
                <a:latin typeface="Instrument Sans Medium" pitchFamily="34" charset="0"/>
                <a:ea typeface="Instrument Sans Medium" pitchFamily="34" charset="-122"/>
                <a:cs typeface="Instrument Sans Medium" pitchFamily="34" charset="-120"/>
              </a:rPr>
              <a:t>. </a:t>
            </a:r>
          </a:p>
          <a:p>
            <a:pPr algn="just">
              <a:lnSpc>
                <a:spcPct val="150000"/>
              </a:lnSpc>
              <a:buSzPct val="100000"/>
            </a:pPr>
            <a:r>
              <a:rPr lang="en-US" sz="2000" b="1" dirty="0">
                <a:solidFill>
                  <a:srgbClr val="1E3063"/>
                </a:solidFill>
                <a:latin typeface="Instrument Sans Medium" pitchFamily="34" charset="0"/>
                <a:ea typeface="Instrument Sans Medium" pitchFamily="34" charset="-122"/>
                <a:cs typeface="Instrument Sans Medium" pitchFamily="34" charset="-120"/>
              </a:rPr>
              <a:t>       3. Lưu trữ:</a:t>
            </a:r>
            <a:r>
              <a:rPr lang="en-US" sz="2000" dirty="0">
                <a:solidFill>
                  <a:srgbClr val="1E3063"/>
                </a:solidFill>
                <a:latin typeface="Instrument Sans Medium" pitchFamily="34" charset="0"/>
                <a:ea typeface="Instrument Sans Medium" pitchFamily="34" charset="-122"/>
                <a:cs typeface="Instrument Sans Medium" pitchFamily="34" charset="-120"/>
              </a:rPr>
              <a:t> Đặt cặp </a:t>
            </a:r>
            <a:r>
              <a:rPr lang="en-US" sz="2000" dirty="0">
                <a:solidFill>
                  <a:srgbClr val="1E3063"/>
                </a:solidFill>
                <a:highlight>
                  <a:srgbClr val="F2F2F2"/>
                </a:highlight>
                <a:latin typeface="Consolas" pitchFamily="34" charset="0"/>
                <a:ea typeface="Consolas" pitchFamily="34" charset="-122"/>
                <a:cs typeface="Consolas" pitchFamily="34" charset="-120"/>
              </a:rPr>
              <a:t>("An", "090123456")</a:t>
            </a:r>
            <a:r>
              <a:rPr lang="en-US" sz="2000" dirty="0">
                <a:solidFill>
                  <a:srgbClr val="1E3063"/>
                </a:solidFill>
                <a:latin typeface="Instrument Sans Medium" pitchFamily="34" charset="0"/>
                <a:ea typeface="Instrument Sans Medium" pitchFamily="34" charset="-122"/>
                <a:cs typeface="Instrument Sans Medium" pitchFamily="34" charset="-120"/>
              </a:rPr>
              <a:t> vào bucket thứ 5. Nếu thêm </a:t>
            </a:r>
            <a:r>
              <a:rPr lang="en-US" sz="2000" dirty="0">
                <a:solidFill>
                  <a:srgbClr val="1E3063"/>
                </a:solidFill>
                <a:highlight>
                  <a:srgbClr val="F2F2F2"/>
                </a:highlight>
                <a:latin typeface="Consolas" pitchFamily="34" charset="0"/>
                <a:ea typeface="Consolas" pitchFamily="34" charset="-122"/>
                <a:cs typeface="Consolas" pitchFamily="34" charset="-120"/>
              </a:rPr>
              <a:t>("Anh", "098765432")</a:t>
            </a:r>
            <a:r>
              <a:rPr lang="en-US" sz="2000" dirty="0">
                <a:solidFill>
                  <a:srgbClr val="1E3063"/>
                </a:solidFill>
                <a:latin typeface="Instrument Sans Medium" pitchFamily="34" charset="0"/>
                <a:ea typeface="Instrument Sans Medium" pitchFamily="34" charset="-122"/>
                <a:cs typeface="Instrument Sans Medium" pitchFamily="34" charset="-120"/>
              </a:rPr>
              <a:t> (cũng ra index 5): Xử lý xung đột (ví dụ, thêm vào danh sách liên kết trong bucket 5).</a:t>
            </a:r>
            <a:endParaRPr lang="en-US" sz="2000" dirty="0"/>
          </a:p>
        </p:txBody>
      </p:sp>
      <p:sp>
        <p:nvSpPr>
          <p:cNvPr id="5" name="Text 3"/>
          <p:cNvSpPr/>
          <p:nvPr/>
        </p:nvSpPr>
        <p:spPr>
          <a:xfrm>
            <a:off x="886254" y="3705514"/>
            <a:ext cx="13042821" cy="1474470"/>
          </a:xfrm>
          <a:prstGeom prst="rect">
            <a:avLst/>
          </a:prstGeom>
          <a:noFill/>
          <a:ln/>
        </p:spPr>
        <p:txBody>
          <a:bodyPr wrap="square" lIns="0" tIns="0" rIns="0" bIns="0" rtlCol="0" anchor="t"/>
          <a:lstStyle/>
          <a:p>
            <a:pPr marL="342900" indent="-342900" algn="just">
              <a:lnSpc>
                <a:spcPct val="150000"/>
              </a:lnSpc>
              <a:buSzPct val="100000"/>
              <a:buChar char="•"/>
            </a:pPr>
            <a:r>
              <a:rPr lang="en-US" sz="2000" b="1" dirty="0">
                <a:solidFill>
                  <a:srgbClr val="1E3063"/>
                </a:solidFill>
                <a:latin typeface="Instrument Sans Medium" pitchFamily="34" charset="0"/>
                <a:ea typeface="Instrument Sans Medium" pitchFamily="34" charset="-122"/>
                <a:cs typeface="Instrument Sans Medium" pitchFamily="34" charset="-120"/>
              </a:rPr>
              <a:t>Tìm kiếm (Search / Get)</a:t>
            </a:r>
            <a:r>
              <a:rPr lang="en-US" sz="2000" dirty="0">
                <a:solidFill>
                  <a:srgbClr val="1E3063"/>
                </a:solidFill>
                <a:latin typeface="Instrument Sans Medium" pitchFamily="34" charset="0"/>
                <a:ea typeface="Instrument Sans Medium" pitchFamily="34" charset="-122"/>
                <a:cs typeface="Instrument Sans Medium" pitchFamily="34" charset="-120"/>
              </a:rPr>
              <a:t> Để tìm số điện thoại của “An”: </a:t>
            </a:r>
          </a:p>
          <a:p>
            <a:pPr algn="just">
              <a:lnSpc>
                <a:spcPct val="150000"/>
              </a:lnSpc>
              <a:buSzPct val="100000"/>
            </a:pPr>
            <a:r>
              <a:rPr lang="en-US" sz="2000" b="1" dirty="0">
                <a:solidFill>
                  <a:srgbClr val="1E3063"/>
                </a:solidFill>
                <a:latin typeface="Instrument Sans Medium" pitchFamily="34" charset="0"/>
                <a:ea typeface="Instrument Sans Medium" pitchFamily="34" charset="-122"/>
                <a:cs typeface="Instrument Sans Medium" pitchFamily="34" charset="-120"/>
              </a:rPr>
              <a:t>       1. Băm Khóa:</a:t>
            </a:r>
            <a:r>
              <a:rPr lang="en-US" sz="2000" dirty="0">
                <a:solidFill>
                  <a:srgbClr val="1E3063"/>
                </a:solidFill>
                <a:latin typeface="Instrument Sans Medium" pitchFamily="34" charset="0"/>
                <a:ea typeface="Instrument Sans Medium" pitchFamily="34" charset="-122"/>
                <a:cs typeface="Instrument Sans Medium" pitchFamily="34" charset="-120"/>
              </a:rPr>
              <a:t> “An” (index 5). </a:t>
            </a:r>
          </a:p>
          <a:p>
            <a:pPr algn="just">
              <a:lnSpc>
                <a:spcPct val="150000"/>
              </a:lnSpc>
              <a:buSzPct val="100000"/>
            </a:pPr>
            <a:r>
              <a:rPr lang="en-US" sz="2000" b="1" dirty="0">
                <a:solidFill>
                  <a:srgbClr val="1E3063"/>
                </a:solidFill>
                <a:latin typeface="Instrument Sans Medium" pitchFamily="34" charset="0"/>
                <a:ea typeface="Instrument Sans Medium" pitchFamily="34" charset="-122"/>
                <a:cs typeface="Instrument Sans Medium" pitchFamily="34" charset="-120"/>
              </a:rPr>
              <a:t>       2. Truy cập Bucket:</a:t>
            </a:r>
            <a:r>
              <a:rPr lang="en-US" sz="2000" dirty="0">
                <a:solidFill>
                  <a:srgbClr val="1E3063"/>
                </a:solidFill>
                <a:latin typeface="Instrument Sans Medium" pitchFamily="34" charset="0"/>
                <a:ea typeface="Instrument Sans Medium" pitchFamily="34" charset="-122"/>
                <a:cs typeface="Instrument Sans Medium" pitchFamily="34" charset="-120"/>
              </a:rPr>
              <a:t> Đến bucket thứ 5. </a:t>
            </a:r>
          </a:p>
          <a:p>
            <a:pPr algn="just">
              <a:lnSpc>
                <a:spcPct val="150000"/>
              </a:lnSpc>
              <a:buSzPct val="100000"/>
            </a:pPr>
            <a:r>
              <a:rPr lang="en-US" sz="2000" b="1" dirty="0">
                <a:solidFill>
                  <a:srgbClr val="1E3063"/>
                </a:solidFill>
                <a:latin typeface="Instrument Sans Medium" pitchFamily="34" charset="0"/>
                <a:ea typeface="Instrument Sans Medium" pitchFamily="34" charset="-122"/>
                <a:cs typeface="Instrument Sans Medium" pitchFamily="34" charset="-120"/>
              </a:rPr>
              <a:t>       3. Tìm chính xác Key:</a:t>
            </a:r>
            <a:r>
              <a:rPr lang="en-US" sz="2000" dirty="0">
                <a:solidFill>
                  <a:srgbClr val="1E3063"/>
                </a:solidFill>
                <a:latin typeface="Instrument Sans Medium" pitchFamily="34" charset="0"/>
                <a:ea typeface="Instrument Sans Medium" pitchFamily="34" charset="-122"/>
                <a:cs typeface="Instrument Sans Medium" pitchFamily="34" charset="-120"/>
              </a:rPr>
              <a:t> Duyệt các phần tử trong bucket 5, tìm thấy “An” và trả về </a:t>
            </a:r>
            <a:r>
              <a:rPr lang="en-US" sz="2000" dirty="0">
                <a:solidFill>
                  <a:srgbClr val="1E3063"/>
                </a:solidFill>
                <a:highlight>
                  <a:srgbClr val="F2F2F2"/>
                </a:highlight>
                <a:latin typeface="Consolas" pitchFamily="34" charset="0"/>
                <a:ea typeface="Consolas" pitchFamily="34" charset="-122"/>
                <a:cs typeface="Consolas" pitchFamily="34" charset="-120"/>
              </a:rPr>
              <a:t>"090123456"</a:t>
            </a:r>
            <a:r>
              <a:rPr lang="en-US" sz="2000" dirty="0">
                <a:solidFill>
                  <a:srgbClr val="1E3063"/>
                </a:solidFill>
                <a:latin typeface="Instrument Sans Medium" pitchFamily="34" charset="0"/>
                <a:ea typeface="Instrument Sans Medium" pitchFamily="34" charset="-122"/>
                <a:cs typeface="Instrument Sans Medium" pitchFamily="34" charset="-120"/>
              </a:rPr>
              <a:t>.</a:t>
            </a:r>
            <a:endParaRPr lang="en-US" sz="2000" dirty="0"/>
          </a:p>
        </p:txBody>
      </p:sp>
      <p:sp>
        <p:nvSpPr>
          <p:cNvPr id="6" name="Text 4"/>
          <p:cNvSpPr/>
          <p:nvPr/>
        </p:nvSpPr>
        <p:spPr>
          <a:xfrm>
            <a:off x="886253" y="5544926"/>
            <a:ext cx="13042821" cy="1451610"/>
          </a:xfrm>
          <a:prstGeom prst="rect">
            <a:avLst/>
          </a:prstGeom>
          <a:noFill/>
          <a:ln/>
        </p:spPr>
        <p:txBody>
          <a:bodyPr wrap="square" lIns="0" tIns="0" rIns="0" bIns="0" rtlCol="0" anchor="t"/>
          <a:lstStyle/>
          <a:p>
            <a:pPr marL="342900" indent="-342900" algn="just">
              <a:lnSpc>
                <a:spcPct val="150000"/>
              </a:lnSpc>
              <a:buSzPct val="100000"/>
              <a:buChar char="•"/>
            </a:pPr>
            <a:r>
              <a:rPr lang="en-US" sz="2400" b="1" dirty="0">
                <a:solidFill>
                  <a:srgbClr val="1E3063"/>
                </a:solidFill>
                <a:latin typeface="Instrument Sans Medium" pitchFamily="34" charset="0"/>
                <a:ea typeface="Instrument Sans Medium" pitchFamily="34" charset="-122"/>
                <a:cs typeface="Instrument Sans Medium" pitchFamily="34" charset="-120"/>
              </a:rPr>
              <a:t>Xóa (Delete / Remove)</a:t>
            </a:r>
            <a:r>
              <a:rPr lang="en-US" sz="2400" dirty="0">
                <a:solidFill>
                  <a:srgbClr val="1E3063"/>
                </a:solidFill>
                <a:latin typeface="Instrument Sans Medium" pitchFamily="34" charset="0"/>
                <a:ea typeface="Instrument Sans Medium" pitchFamily="34" charset="-122"/>
                <a:cs typeface="Instrument Sans Medium" pitchFamily="34" charset="-120"/>
              </a:rPr>
              <a:t> Để xóa thông tin của “An”: </a:t>
            </a:r>
          </a:p>
          <a:p>
            <a:pPr algn="just">
              <a:lnSpc>
                <a:spcPct val="150000"/>
              </a:lnSpc>
              <a:buSzPct val="100000"/>
            </a:pPr>
            <a:r>
              <a:rPr lang="en-US" sz="2400" b="1" dirty="0">
                <a:solidFill>
                  <a:srgbClr val="1E3063"/>
                </a:solidFill>
                <a:latin typeface="Instrument Sans Medium" pitchFamily="34" charset="0"/>
                <a:ea typeface="Instrument Sans Medium" pitchFamily="34" charset="-122"/>
                <a:cs typeface="Instrument Sans Medium" pitchFamily="34" charset="-120"/>
              </a:rPr>
              <a:t>      1. Băm Khóa:</a:t>
            </a:r>
            <a:r>
              <a:rPr lang="en-US" sz="2400" dirty="0">
                <a:solidFill>
                  <a:srgbClr val="1E3063"/>
                </a:solidFill>
                <a:latin typeface="Instrument Sans Medium" pitchFamily="34" charset="0"/>
                <a:ea typeface="Instrument Sans Medium" pitchFamily="34" charset="-122"/>
                <a:cs typeface="Instrument Sans Medium" pitchFamily="34" charset="-120"/>
              </a:rPr>
              <a:t> “An” (index 5). </a:t>
            </a:r>
          </a:p>
          <a:p>
            <a:pPr algn="just">
              <a:lnSpc>
                <a:spcPct val="150000"/>
              </a:lnSpc>
              <a:buSzPct val="100000"/>
            </a:pPr>
            <a:r>
              <a:rPr lang="en-US" sz="2400" b="1" dirty="0">
                <a:solidFill>
                  <a:srgbClr val="1E3063"/>
                </a:solidFill>
                <a:latin typeface="Instrument Sans Medium" pitchFamily="34" charset="0"/>
                <a:ea typeface="Instrument Sans Medium" pitchFamily="34" charset="-122"/>
                <a:cs typeface="Instrument Sans Medium" pitchFamily="34" charset="-120"/>
              </a:rPr>
              <a:t>      2. Truy cập Bucket:</a:t>
            </a:r>
            <a:r>
              <a:rPr lang="en-US" sz="2400" dirty="0">
                <a:solidFill>
                  <a:srgbClr val="1E3063"/>
                </a:solidFill>
                <a:latin typeface="Instrument Sans Medium" pitchFamily="34" charset="0"/>
                <a:ea typeface="Instrument Sans Medium" pitchFamily="34" charset="-122"/>
                <a:cs typeface="Instrument Sans Medium" pitchFamily="34" charset="-120"/>
              </a:rPr>
              <a:t> Đến bucket thứ 5. </a:t>
            </a:r>
          </a:p>
          <a:p>
            <a:pPr algn="just">
              <a:lnSpc>
                <a:spcPct val="150000"/>
              </a:lnSpc>
              <a:buSzPct val="100000"/>
            </a:pPr>
            <a:r>
              <a:rPr lang="en-US" sz="2400" b="1" dirty="0">
                <a:solidFill>
                  <a:srgbClr val="1E3063"/>
                </a:solidFill>
                <a:latin typeface="Instrument Sans Medium" pitchFamily="34" charset="0"/>
                <a:ea typeface="Instrument Sans Medium" pitchFamily="34" charset="-122"/>
                <a:cs typeface="Instrument Sans Medium" pitchFamily="34" charset="-120"/>
              </a:rPr>
              <a:t>     3. Tìm và Xóa:</a:t>
            </a:r>
            <a:r>
              <a:rPr lang="en-US" sz="2400" dirty="0">
                <a:solidFill>
                  <a:srgbClr val="1E3063"/>
                </a:solidFill>
                <a:latin typeface="Instrument Sans Medium" pitchFamily="34" charset="0"/>
                <a:ea typeface="Instrument Sans Medium" pitchFamily="34" charset="-122"/>
                <a:cs typeface="Instrument Sans Medium" pitchFamily="34" charset="-120"/>
              </a:rPr>
              <a:t> Tìm phần tử “An” trong bucket 5 và xóa nó.</a:t>
            </a:r>
            <a:endParaRPr lang="en-US" sz="2400" dirty="0"/>
          </a:p>
        </p:txBody>
      </p:sp>
      <p:sp>
        <p:nvSpPr>
          <p:cNvPr id="7" name="Rectangle 6">
            <a:extLst>
              <a:ext uri="{FF2B5EF4-FFF2-40B4-BE49-F238E27FC236}">
                <a16:creationId xmlns:a16="http://schemas.microsoft.com/office/drawing/2014/main" id="{F158815C-CD06-6B9C-A867-84CD293E3D61}"/>
              </a:ext>
            </a:extLst>
          </p:cNvPr>
          <p:cNvSpPr/>
          <p:nvPr/>
        </p:nvSpPr>
        <p:spPr>
          <a:xfrm>
            <a:off x="12877800" y="7645400"/>
            <a:ext cx="1752600" cy="584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134100" y="139422"/>
            <a:ext cx="7534989" cy="578287"/>
          </a:xfrm>
          <a:prstGeom prst="rect">
            <a:avLst/>
          </a:prstGeom>
          <a:noFill/>
          <a:ln/>
        </p:spPr>
        <p:txBody>
          <a:bodyPr wrap="none" lIns="0" tIns="0" rIns="0" bIns="0" rtlCol="0" anchor="t"/>
          <a:lstStyle/>
          <a:p>
            <a:pPr marL="0" indent="0" algn="l">
              <a:lnSpc>
                <a:spcPts val="4550"/>
              </a:lnSpc>
              <a:buNone/>
            </a:pPr>
            <a:r>
              <a:rPr lang="en-US" sz="3600" dirty="0">
                <a:solidFill>
                  <a:srgbClr val="091C53"/>
                </a:solidFill>
                <a:latin typeface="Instrument Sans Semi Bold" pitchFamily="34" charset="0"/>
                <a:ea typeface="Instrument Sans Semi Bold" pitchFamily="34" charset="-122"/>
                <a:cs typeface="Instrument Sans Semi Bold" pitchFamily="34" charset="-120"/>
              </a:rPr>
              <a:t>Các </a:t>
            </a:r>
            <a:r>
              <a:rPr lang="en-US" sz="3600" dirty="0" err="1">
                <a:solidFill>
                  <a:srgbClr val="091C53"/>
                </a:solidFill>
                <a:latin typeface="Instrument Sans Semi Bold" pitchFamily="34" charset="0"/>
                <a:ea typeface="Instrument Sans Semi Bold" pitchFamily="34" charset="-122"/>
                <a:cs typeface="Instrument Sans Semi Bold" pitchFamily="34" charset="-120"/>
              </a:rPr>
              <a:t>vấn</a:t>
            </a:r>
            <a:r>
              <a:rPr lang="en-US" sz="3600" dirty="0">
                <a:solidFill>
                  <a:srgbClr val="091C53"/>
                </a:solidFill>
                <a:latin typeface="Instrument Sans Semi Bold" pitchFamily="34" charset="0"/>
                <a:ea typeface="Instrument Sans Semi Bold" pitchFamily="34" charset="-122"/>
                <a:cs typeface="Instrument Sans Semi Bold" pitchFamily="34" charset="-120"/>
              </a:rPr>
              <a:t> </a:t>
            </a:r>
            <a:r>
              <a:rPr lang="en-US" sz="3600" dirty="0" err="1">
                <a:solidFill>
                  <a:srgbClr val="091C53"/>
                </a:solidFill>
                <a:latin typeface="Instrument Sans Semi Bold" pitchFamily="34" charset="0"/>
                <a:ea typeface="Instrument Sans Semi Bold" pitchFamily="34" charset="-122"/>
                <a:cs typeface="Instrument Sans Semi Bold" pitchFamily="34" charset="-120"/>
              </a:rPr>
              <a:t>đề</a:t>
            </a:r>
            <a:r>
              <a:rPr lang="en-US" sz="3600" dirty="0">
                <a:solidFill>
                  <a:srgbClr val="091C53"/>
                </a:solidFill>
                <a:latin typeface="Instrument Sans Semi Bold" pitchFamily="34" charset="0"/>
                <a:ea typeface="Instrument Sans Semi Bold" pitchFamily="34" charset="-122"/>
                <a:cs typeface="Instrument Sans Semi Bold" pitchFamily="34" charset="-120"/>
              </a:rPr>
              <a:t> </a:t>
            </a:r>
            <a:r>
              <a:rPr lang="en-US" sz="3600" dirty="0" err="1">
                <a:solidFill>
                  <a:srgbClr val="091C53"/>
                </a:solidFill>
                <a:latin typeface="Instrument Sans Semi Bold" pitchFamily="34" charset="0"/>
                <a:ea typeface="Instrument Sans Semi Bold" pitchFamily="34" charset="-122"/>
                <a:cs typeface="Instrument Sans Semi Bold" pitchFamily="34" charset="-120"/>
              </a:rPr>
              <a:t>khi</a:t>
            </a:r>
            <a:r>
              <a:rPr lang="en-US" sz="3600" dirty="0">
                <a:solidFill>
                  <a:srgbClr val="091C53"/>
                </a:solidFill>
                <a:latin typeface="Instrument Sans Semi Bold" pitchFamily="34" charset="0"/>
                <a:ea typeface="Instrument Sans Semi Bold" pitchFamily="34" charset="-122"/>
                <a:cs typeface="Instrument Sans Semi Bold" pitchFamily="34" charset="-120"/>
              </a:rPr>
              <a:t> </a:t>
            </a:r>
            <a:r>
              <a:rPr lang="en-US" sz="3600" dirty="0" err="1">
                <a:solidFill>
                  <a:srgbClr val="091C53"/>
                </a:solidFill>
                <a:latin typeface="Instrument Sans Semi Bold" pitchFamily="34" charset="0"/>
                <a:ea typeface="Instrument Sans Semi Bold" pitchFamily="34" charset="-122"/>
                <a:cs typeface="Instrument Sans Semi Bold" pitchFamily="34" charset="-120"/>
              </a:rPr>
              <a:t>xây</a:t>
            </a:r>
            <a:r>
              <a:rPr lang="en-US" sz="3600" dirty="0">
                <a:solidFill>
                  <a:srgbClr val="091C53"/>
                </a:solidFill>
                <a:latin typeface="Instrument Sans Semi Bold" pitchFamily="34" charset="0"/>
                <a:ea typeface="Instrument Sans Semi Bold" pitchFamily="34" charset="-122"/>
                <a:cs typeface="Instrument Sans Semi Bold" pitchFamily="34" charset="-120"/>
              </a:rPr>
              <a:t> </a:t>
            </a:r>
            <a:r>
              <a:rPr lang="en-US" sz="3600" dirty="0" err="1">
                <a:solidFill>
                  <a:srgbClr val="091C53"/>
                </a:solidFill>
                <a:latin typeface="Instrument Sans Semi Bold" pitchFamily="34" charset="0"/>
                <a:ea typeface="Instrument Sans Semi Bold" pitchFamily="34" charset="-122"/>
                <a:cs typeface="Instrument Sans Semi Bold" pitchFamily="34" charset="-120"/>
              </a:rPr>
              <a:t>dựng</a:t>
            </a:r>
            <a:r>
              <a:rPr lang="en-US" sz="3600" dirty="0">
                <a:solidFill>
                  <a:srgbClr val="091C53"/>
                </a:solidFill>
                <a:latin typeface="Instrument Sans Semi Bold" pitchFamily="34" charset="0"/>
                <a:ea typeface="Instrument Sans Semi Bold" pitchFamily="34" charset="-122"/>
                <a:cs typeface="Instrument Sans Semi Bold" pitchFamily="34" charset="-120"/>
              </a:rPr>
              <a:t> </a:t>
            </a:r>
            <a:r>
              <a:rPr lang="en-US" sz="3600" dirty="0" err="1">
                <a:solidFill>
                  <a:srgbClr val="091C53"/>
                </a:solidFill>
                <a:latin typeface="Instrument Sans Semi Bold" pitchFamily="34" charset="0"/>
                <a:ea typeface="Instrument Sans Semi Bold" pitchFamily="34" charset="-122"/>
                <a:cs typeface="Instrument Sans Semi Bold" pitchFamily="34" charset="-120"/>
              </a:rPr>
              <a:t>hàm</a:t>
            </a:r>
            <a:r>
              <a:rPr lang="en-US" sz="3600" dirty="0">
                <a:solidFill>
                  <a:srgbClr val="091C53"/>
                </a:solidFill>
                <a:latin typeface="Instrument Sans Semi Bold" pitchFamily="34" charset="0"/>
                <a:ea typeface="Instrument Sans Semi Bold" pitchFamily="34" charset="-122"/>
                <a:cs typeface="Instrument Sans Semi Bold" pitchFamily="34" charset="-120"/>
              </a:rPr>
              <a:t> </a:t>
            </a:r>
            <a:r>
              <a:rPr lang="en-US" sz="3600" dirty="0" err="1">
                <a:solidFill>
                  <a:srgbClr val="091C53"/>
                </a:solidFill>
                <a:latin typeface="Instrument Sans Semi Bold" pitchFamily="34" charset="0"/>
                <a:ea typeface="Instrument Sans Semi Bold" pitchFamily="34" charset="-122"/>
                <a:cs typeface="Instrument Sans Semi Bold" pitchFamily="34" charset="-120"/>
              </a:rPr>
              <a:t>băm</a:t>
            </a:r>
            <a:endParaRPr lang="en-US" sz="3600" dirty="0"/>
          </a:p>
        </p:txBody>
      </p:sp>
      <p:sp>
        <p:nvSpPr>
          <p:cNvPr id="4" name="Text 1"/>
          <p:cNvSpPr/>
          <p:nvPr/>
        </p:nvSpPr>
        <p:spPr>
          <a:xfrm>
            <a:off x="6134100" y="927973"/>
            <a:ext cx="7848600" cy="591979"/>
          </a:xfrm>
          <a:prstGeom prst="rect">
            <a:avLst/>
          </a:prstGeom>
          <a:noFill/>
          <a:ln/>
        </p:spPr>
        <p:txBody>
          <a:bodyPr wrap="square" lIns="0" tIns="0" rIns="0" bIns="0" rtlCol="0" anchor="t"/>
          <a:lstStyle/>
          <a:p>
            <a:pPr marL="0" indent="0" algn="l">
              <a:lnSpc>
                <a:spcPct val="150000"/>
              </a:lnSpc>
              <a:buNone/>
            </a:pPr>
            <a:r>
              <a:rPr lang="en-US" sz="2400" dirty="0" err="1">
                <a:solidFill>
                  <a:srgbClr val="1E3063"/>
                </a:solidFill>
                <a:latin typeface="Instrument Sans Medium" pitchFamily="34" charset="0"/>
                <a:ea typeface="Instrument Sans Medium" pitchFamily="34" charset="-122"/>
                <a:cs typeface="Instrument Sans Medium" pitchFamily="34" charset="-120"/>
              </a:rPr>
              <a:t>Xây</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dựng</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hàm</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băm</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tưởng</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đơn</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giản</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nhưng</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thực</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tế</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còn</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gặp</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nhiều</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vấn</a:t>
            </a:r>
            <a:r>
              <a:rPr lang="en-US" sz="2400" dirty="0">
                <a:solidFill>
                  <a:srgbClr val="1E3063"/>
                </a:solidFill>
                <a:latin typeface="Instrument Sans Medium" pitchFamily="34" charset="0"/>
                <a:ea typeface="Instrument Sans Medium" pitchFamily="34" charset="-122"/>
                <a:cs typeface="Instrument Sans Medium" pitchFamily="34" charset="-120"/>
              </a:rPr>
              <a:t> </a:t>
            </a:r>
            <a:r>
              <a:rPr lang="en-US" sz="2400" dirty="0" err="1">
                <a:solidFill>
                  <a:srgbClr val="1E3063"/>
                </a:solidFill>
                <a:latin typeface="Instrument Sans Medium" pitchFamily="34" charset="0"/>
                <a:ea typeface="Instrument Sans Medium" pitchFamily="34" charset="-122"/>
                <a:cs typeface="Instrument Sans Medium" pitchFamily="34" charset="-120"/>
              </a:rPr>
              <a:t>đề</a:t>
            </a:r>
            <a:r>
              <a:rPr lang="en-US" sz="2400" dirty="0">
                <a:solidFill>
                  <a:srgbClr val="1E3063"/>
                </a:solidFill>
                <a:latin typeface="Instrument Sans Medium" pitchFamily="34" charset="0"/>
                <a:ea typeface="Instrument Sans Medium" pitchFamily="34" charset="-122"/>
                <a:cs typeface="Instrument Sans Medium" pitchFamily="34" charset="-120"/>
              </a:rPr>
              <a:t>:</a:t>
            </a:r>
            <a:endParaRPr lang="en-US" sz="2400" dirty="0"/>
          </a:p>
        </p:txBody>
      </p:sp>
      <p:sp>
        <p:nvSpPr>
          <p:cNvPr id="5" name="Shape 2"/>
          <p:cNvSpPr/>
          <p:nvPr/>
        </p:nvSpPr>
        <p:spPr>
          <a:xfrm>
            <a:off x="6134100" y="2217268"/>
            <a:ext cx="7848600" cy="1066087"/>
          </a:xfrm>
          <a:prstGeom prst="roundRect">
            <a:avLst>
              <a:gd name="adj" fmla="val 32071"/>
            </a:avLst>
          </a:prstGeom>
          <a:solidFill>
            <a:srgbClr val="CEE6FD"/>
          </a:solidFill>
          <a:ln/>
        </p:spPr>
        <p:txBody>
          <a:bodyPr/>
          <a:lstStyle/>
          <a:p>
            <a:endParaRPr lang="en-US"/>
          </a:p>
        </p:txBody>
      </p:sp>
      <p:sp>
        <p:nvSpPr>
          <p:cNvPr id="6" name="Text 3"/>
          <p:cNvSpPr/>
          <p:nvPr/>
        </p:nvSpPr>
        <p:spPr>
          <a:xfrm>
            <a:off x="6319123" y="2558653"/>
            <a:ext cx="7349966" cy="759900"/>
          </a:xfrm>
          <a:prstGeom prst="rect">
            <a:avLst/>
          </a:prstGeom>
          <a:noFill/>
          <a:ln/>
        </p:spPr>
        <p:txBody>
          <a:bodyPr wrap="none" lIns="0" tIns="0" rIns="0" bIns="0" rtlCol="0" anchor="t"/>
          <a:lstStyle/>
          <a:p>
            <a:pPr marL="0" indent="0" algn="ctr">
              <a:lnSpc>
                <a:spcPts val="2250"/>
              </a:lnSpc>
              <a:buNone/>
            </a:pPr>
            <a:r>
              <a:rPr lang="en-US" sz="2400" dirty="0" err="1">
                <a:solidFill>
                  <a:srgbClr val="1E3063"/>
                </a:solidFill>
                <a:latin typeface="Instrument Sans Semi Bold" pitchFamily="34" charset="0"/>
                <a:ea typeface="Instrument Sans Semi Bold" pitchFamily="34" charset="-122"/>
                <a:cs typeface="Instrument Sans Semi Bold" pitchFamily="34" charset="-120"/>
              </a:rPr>
              <a:t>Vấn</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đề</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xung</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đột</a:t>
            </a:r>
            <a:r>
              <a:rPr lang="en-US" sz="2400" dirty="0">
                <a:solidFill>
                  <a:srgbClr val="1E3063"/>
                </a:solidFill>
                <a:latin typeface="Instrument Sans Semi Bold" pitchFamily="34" charset="0"/>
                <a:ea typeface="Instrument Sans Semi Bold" pitchFamily="34" charset="-122"/>
                <a:cs typeface="Instrument Sans Semi Bold" pitchFamily="34" charset="-120"/>
              </a:rPr>
              <a:t> (Collision)</a:t>
            </a:r>
            <a:endParaRPr lang="en-US" sz="2400" dirty="0"/>
          </a:p>
        </p:txBody>
      </p:sp>
      <p:sp>
        <p:nvSpPr>
          <p:cNvPr id="7" name="Text 4"/>
          <p:cNvSpPr/>
          <p:nvPr/>
        </p:nvSpPr>
        <p:spPr>
          <a:xfrm>
            <a:off x="6319123" y="2958703"/>
            <a:ext cx="7478554" cy="614839"/>
          </a:xfrm>
          <a:prstGeom prst="rect">
            <a:avLst/>
          </a:prstGeom>
          <a:noFill/>
          <a:ln/>
        </p:spPr>
        <p:txBody>
          <a:bodyPr wrap="square" lIns="0" tIns="0" rIns="0" bIns="0" rtlCol="0" anchor="t"/>
          <a:lstStyle/>
          <a:p>
            <a:pPr marL="0" indent="0" algn="l">
              <a:lnSpc>
                <a:spcPts val="2300"/>
              </a:lnSpc>
              <a:buNone/>
            </a:pPr>
            <a:endParaRPr lang="en-US" sz="1450" dirty="0"/>
          </a:p>
        </p:txBody>
      </p:sp>
      <p:sp>
        <p:nvSpPr>
          <p:cNvPr id="8" name="Shape 5"/>
          <p:cNvSpPr/>
          <p:nvPr/>
        </p:nvSpPr>
        <p:spPr>
          <a:xfrm>
            <a:off x="6134100" y="3610571"/>
            <a:ext cx="7848600" cy="1066086"/>
          </a:xfrm>
          <a:prstGeom prst="roundRect">
            <a:avLst>
              <a:gd name="adj" fmla="val 41664"/>
            </a:avLst>
          </a:prstGeom>
          <a:solidFill>
            <a:srgbClr val="CEE6FD"/>
          </a:solidFill>
          <a:ln/>
        </p:spPr>
        <p:txBody>
          <a:bodyPr/>
          <a:lstStyle/>
          <a:p>
            <a:endParaRPr lang="en-US"/>
          </a:p>
        </p:txBody>
      </p:sp>
      <p:sp>
        <p:nvSpPr>
          <p:cNvPr id="9" name="Text 6"/>
          <p:cNvSpPr/>
          <p:nvPr/>
        </p:nvSpPr>
        <p:spPr>
          <a:xfrm>
            <a:off x="6319123" y="3995619"/>
            <a:ext cx="6903717" cy="400050"/>
          </a:xfrm>
          <a:prstGeom prst="rect">
            <a:avLst/>
          </a:prstGeom>
          <a:noFill/>
          <a:ln/>
        </p:spPr>
        <p:txBody>
          <a:bodyPr wrap="none" lIns="0" tIns="0" rIns="0" bIns="0" rtlCol="0" anchor="t"/>
          <a:lstStyle/>
          <a:p>
            <a:pPr marL="0" indent="0" algn="ctr">
              <a:lnSpc>
                <a:spcPts val="2250"/>
              </a:lnSpc>
              <a:buNone/>
            </a:pPr>
            <a:r>
              <a:rPr lang="en-US" sz="2400" dirty="0" err="1">
                <a:solidFill>
                  <a:srgbClr val="1E3063"/>
                </a:solidFill>
                <a:latin typeface="Instrument Sans Semi Bold" pitchFamily="34" charset="0"/>
                <a:ea typeface="Instrument Sans Semi Bold" pitchFamily="34" charset="-122"/>
                <a:cs typeface="Instrument Sans Semi Bold" pitchFamily="34" charset="-120"/>
              </a:rPr>
              <a:t>Phân</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phối</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không</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đều</a:t>
            </a:r>
            <a:endParaRPr lang="en-US" sz="2400" dirty="0"/>
          </a:p>
        </p:txBody>
      </p:sp>
      <p:sp>
        <p:nvSpPr>
          <p:cNvPr id="11" name="Shape 8"/>
          <p:cNvSpPr/>
          <p:nvPr/>
        </p:nvSpPr>
        <p:spPr>
          <a:xfrm>
            <a:off x="6134100" y="4951809"/>
            <a:ext cx="7848600" cy="1066086"/>
          </a:xfrm>
          <a:prstGeom prst="roundRect">
            <a:avLst>
              <a:gd name="adj" fmla="val 41664"/>
            </a:avLst>
          </a:prstGeom>
          <a:solidFill>
            <a:srgbClr val="CEE6FD"/>
          </a:solidFill>
          <a:ln/>
        </p:spPr>
        <p:txBody>
          <a:bodyPr/>
          <a:lstStyle/>
          <a:p>
            <a:endParaRPr lang="en-US"/>
          </a:p>
        </p:txBody>
      </p:sp>
      <p:sp>
        <p:nvSpPr>
          <p:cNvPr id="12" name="Text 9"/>
          <p:cNvSpPr/>
          <p:nvPr/>
        </p:nvSpPr>
        <p:spPr>
          <a:xfrm>
            <a:off x="7014858" y="5336857"/>
            <a:ext cx="5958495" cy="400050"/>
          </a:xfrm>
          <a:prstGeom prst="rect">
            <a:avLst/>
          </a:prstGeom>
          <a:noFill/>
          <a:ln/>
        </p:spPr>
        <p:txBody>
          <a:bodyPr wrap="none" lIns="0" tIns="0" rIns="0" bIns="0" rtlCol="0" anchor="t"/>
          <a:lstStyle/>
          <a:p>
            <a:pPr marL="0" indent="0" algn="ctr">
              <a:lnSpc>
                <a:spcPts val="2250"/>
              </a:lnSpc>
              <a:buNone/>
            </a:pPr>
            <a:r>
              <a:rPr lang="en-US" sz="2400" dirty="0">
                <a:solidFill>
                  <a:srgbClr val="1E3063"/>
                </a:solidFill>
                <a:latin typeface="Instrument Sans Semi Bold" pitchFamily="34" charset="0"/>
                <a:ea typeface="Instrument Sans Semi Bold" pitchFamily="34" charset="-122"/>
                <a:cs typeface="Instrument Sans Semi Bold" pitchFamily="34" charset="-120"/>
              </a:rPr>
              <a:t>Hiệu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năng</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và</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khả</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năng</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mở</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rộng</a:t>
            </a:r>
            <a:endParaRPr lang="en-US" sz="2400" dirty="0"/>
          </a:p>
        </p:txBody>
      </p:sp>
      <p:sp>
        <p:nvSpPr>
          <p:cNvPr id="14" name="Shape 11"/>
          <p:cNvSpPr/>
          <p:nvPr/>
        </p:nvSpPr>
        <p:spPr>
          <a:xfrm>
            <a:off x="6134100" y="6517725"/>
            <a:ext cx="7848600" cy="1066086"/>
          </a:xfrm>
          <a:prstGeom prst="roundRect">
            <a:avLst>
              <a:gd name="adj" fmla="val 41664"/>
            </a:avLst>
          </a:prstGeom>
          <a:solidFill>
            <a:srgbClr val="CEE6FD"/>
          </a:solidFill>
          <a:ln/>
        </p:spPr>
        <p:txBody>
          <a:bodyPr/>
          <a:lstStyle/>
          <a:p>
            <a:endParaRPr lang="en-US"/>
          </a:p>
        </p:txBody>
      </p:sp>
      <p:sp>
        <p:nvSpPr>
          <p:cNvPr id="15" name="Text 12"/>
          <p:cNvSpPr/>
          <p:nvPr/>
        </p:nvSpPr>
        <p:spPr>
          <a:xfrm>
            <a:off x="6319123" y="6727989"/>
            <a:ext cx="7349966" cy="679678"/>
          </a:xfrm>
          <a:prstGeom prst="rect">
            <a:avLst/>
          </a:prstGeom>
          <a:noFill/>
          <a:ln/>
        </p:spPr>
        <p:txBody>
          <a:bodyPr wrap="none" lIns="0" tIns="0" rIns="0" bIns="0" rtlCol="0" anchor="t"/>
          <a:lstStyle/>
          <a:p>
            <a:pPr marL="0" indent="0" algn="ctr">
              <a:lnSpc>
                <a:spcPts val="2250"/>
              </a:lnSpc>
              <a:buNone/>
            </a:pPr>
            <a:r>
              <a:rPr lang="en-US" sz="2400" dirty="0" err="1">
                <a:solidFill>
                  <a:srgbClr val="1E3063"/>
                </a:solidFill>
                <a:latin typeface="Instrument Sans Semi Bold" pitchFamily="34" charset="0"/>
                <a:ea typeface="Instrument Sans Semi Bold" pitchFamily="34" charset="-122"/>
                <a:cs typeface="Instrument Sans Semi Bold" pitchFamily="34" charset="-120"/>
              </a:rPr>
              <a:t>Tối</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ưu</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hóa</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kích</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thước</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bảng</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r>
              <a:rPr lang="en-US" sz="2400" dirty="0" err="1">
                <a:solidFill>
                  <a:srgbClr val="1E3063"/>
                </a:solidFill>
                <a:latin typeface="Instrument Sans Semi Bold" pitchFamily="34" charset="0"/>
                <a:ea typeface="Instrument Sans Semi Bold" pitchFamily="34" charset="-122"/>
                <a:cs typeface="Instrument Sans Semi Bold" pitchFamily="34" charset="-120"/>
              </a:rPr>
              <a:t>băm</a:t>
            </a:r>
            <a:r>
              <a:rPr lang="en-US" sz="2400" dirty="0">
                <a:solidFill>
                  <a:srgbClr val="1E3063"/>
                </a:solidFill>
                <a:latin typeface="Instrument Sans Semi Bold" pitchFamily="34" charset="0"/>
                <a:ea typeface="Instrument Sans Semi Bold" pitchFamily="34" charset="-122"/>
                <a:cs typeface="Instrument Sans Semi Bold" pitchFamily="34" charset="-120"/>
              </a:rPr>
              <a:t> </a:t>
            </a:r>
            <a:endParaRPr lang="en-US" sz="2400" dirty="0"/>
          </a:p>
        </p:txBody>
      </p:sp>
      <p:sp>
        <p:nvSpPr>
          <p:cNvPr id="10" name="Rectangle 9">
            <a:extLst>
              <a:ext uri="{FF2B5EF4-FFF2-40B4-BE49-F238E27FC236}">
                <a16:creationId xmlns:a16="http://schemas.microsoft.com/office/drawing/2014/main" id="{1DF0C2A0-A405-E43E-B3E9-77D3F3A42D71}"/>
              </a:ext>
            </a:extLst>
          </p:cNvPr>
          <p:cNvSpPr/>
          <p:nvPr/>
        </p:nvSpPr>
        <p:spPr>
          <a:xfrm>
            <a:off x="12814300" y="7721600"/>
            <a:ext cx="1816100" cy="50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4138" y="722590"/>
            <a:ext cx="6577608" cy="646509"/>
          </a:xfrm>
          <a:prstGeom prst="rect">
            <a:avLst/>
          </a:prstGeom>
          <a:noFill/>
          <a:ln/>
        </p:spPr>
        <p:txBody>
          <a:bodyPr wrap="none" lIns="0" tIns="0" rIns="0" bIns="0" rtlCol="0" anchor="t"/>
          <a:lstStyle/>
          <a:p>
            <a:pPr marL="0" marR="0" lvl="0" indent="0" algn="l" defTabSz="914400" rtl="0" eaLnBrk="1" fontAlgn="auto" latinLnBrk="0" hangingPunct="1">
              <a:lnSpc>
                <a:spcPts val="5050"/>
              </a:lnSpc>
              <a:spcBef>
                <a:spcPts val="0"/>
              </a:spcBef>
              <a:spcAft>
                <a:spcPts val="0"/>
              </a:spcAft>
              <a:buClrTx/>
              <a:buSzTx/>
              <a:buFontTx/>
              <a:buNone/>
              <a:tabLst/>
              <a:defRPr/>
            </a:pPr>
            <a:r>
              <a:rPr kumimoji="0" lang="en-US" sz="4050" b="0" i="0" u="none" strike="noStrike" kern="1200" cap="none" spc="0" normalizeH="0" baseline="0" noProof="0" dirty="0">
                <a:ln>
                  <a:noFill/>
                </a:ln>
                <a:solidFill>
                  <a:srgbClr val="091C53"/>
                </a:solidFill>
                <a:effectLst/>
                <a:uLnTx/>
                <a:uFillTx/>
                <a:latin typeface="Instrument Sans Semi Bold" pitchFamily="34" charset="0"/>
                <a:ea typeface="Instrument Sans Semi Bold" pitchFamily="34" charset="-122"/>
                <a:cs typeface="Instrument Sans Semi Bold" pitchFamily="34" charset="-120"/>
              </a:rPr>
              <a:t>1. </a:t>
            </a:r>
            <a:r>
              <a:rPr kumimoji="0" lang="en-US" sz="4050" b="0" i="0" u="none" strike="noStrike" kern="1200" cap="none" spc="0" normalizeH="0" baseline="0" noProof="0" dirty="0" err="1">
                <a:ln>
                  <a:noFill/>
                </a:ln>
                <a:solidFill>
                  <a:srgbClr val="091C53"/>
                </a:solidFill>
                <a:effectLst/>
                <a:uLnTx/>
                <a:uFillTx/>
                <a:latin typeface="Instrument Sans Semi Bold" pitchFamily="34" charset="0"/>
                <a:ea typeface="Instrument Sans Semi Bold" pitchFamily="34" charset="-122"/>
                <a:cs typeface="Instrument Sans Semi Bold" pitchFamily="34" charset="-120"/>
              </a:rPr>
              <a:t>Vấn</a:t>
            </a:r>
            <a:r>
              <a:rPr kumimoji="0" lang="en-US" sz="4050" b="0" i="0" u="none" strike="noStrike" kern="1200" cap="none" spc="0" normalizeH="0" baseline="0" noProof="0" dirty="0">
                <a:ln>
                  <a:noFill/>
                </a:ln>
                <a:solidFill>
                  <a:srgbClr val="091C53"/>
                </a:solidFill>
                <a:effectLst/>
                <a:uLnTx/>
                <a:uFillTx/>
                <a:latin typeface="Instrument Sans Semi Bold" pitchFamily="34" charset="0"/>
                <a:ea typeface="Instrument Sans Semi Bold" pitchFamily="34" charset="-122"/>
                <a:cs typeface="Instrument Sans Semi Bold" pitchFamily="34" charset="-120"/>
              </a:rPr>
              <a:t> đề Xung đột (Collision)</a:t>
            </a:r>
            <a:endParaRPr kumimoji="0" lang="en-US" sz="4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0226" y="1659529"/>
            <a:ext cx="13182124" cy="330994"/>
          </a:xfrm>
          <a:prstGeom prst="rect">
            <a:avLst/>
          </a:prstGeom>
          <a:noFill/>
          <a:ln/>
        </p:spPr>
        <p:txBody>
          <a:bodyPr wrap="none" lIns="0" tIns="0" rIns="0" bIns="0" rtlCol="0" anchor="t"/>
          <a:lstStyle/>
          <a:p>
            <a:pPr marL="0" marR="0" lvl="0" indent="0" algn="l" defTabSz="914400" rtl="0" eaLnBrk="1" fontAlgn="auto" latinLnBrk="0" hangingPunct="1">
              <a:lnSpc>
                <a:spcPts val="26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Xung đột là không thể tránh khỏi trong hashing. Hiểu rõ nguyên nhân giúp chúng ta lựa chọn phương pháp xử lý phù hợp.</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2008346" y="3967520"/>
            <a:ext cx="2586276" cy="323255"/>
          </a:xfrm>
          <a:prstGeom prst="rect">
            <a:avLst/>
          </a:prstGeom>
          <a:noFill/>
          <a:ln/>
        </p:spPr>
        <p:txBody>
          <a:bodyPr wrap="none" lIns="0" tIns="0" rIns="0" bIns="0" rtlCol="0" anchor="t"/>
          <a:lstStyle/>
          <a:p>
            <a:pPr marL="0" marR="0" lvl="0" indent="0" algn="r" defTabSz="914400" rtl="0" eaLnBrk="1" fontAlgn="auto" latinLnBrk="0" hangingPunct="1">
              <a:lnSpc>
                <a:spcPts val="25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Semi Bold" pitchFamily="34" charset="0"/>
                <a:ea typeface="Instrument Sans Semi Bold" pitchFamily="34" charset="-122"/>
                <a:cs typeface="Instrument Sans Semi Bold" pitchFamily="34" charset="-120"/>
              </a:rPr>
              <a:t>Định nghĩa Xung đột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24138" y="4414838"/>
            <a:ext cx="3870484" cy="992981"/>
          </a:xfrm>
          <a:prstGeom prst="rect">
            <a:avLst/>
          </a:prstGeom>
          <a:noFill/>
          <a:ln/>
        </p:spPr>
        <p:txBody>
          <a:bodyPr wrap="square" lIns="0" tIns="0" rIns="0" bIns="0" rtlCol="0" anchor="t"/>
          <a:lstStyle/>
          <a:p>
            <a:pPr marL="0" marR="0" lvl="0" indent="0" algn="just" defTabSz="914400" rtl="0" eaLnBrk="1" fontAlgn="auto" latinLnBrk="0" hangingPunct="1">
              <a:lnSpc>
                <a:spcPts val="26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Xảy ra khi hai hoặc nhiều key khác nhau được ánh xạ tới cùng một chỉ số trong bảng băm.</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24138" y="5531882"/>
            <a:ext cx="3870484" cy="353854"/>
          </a:xfrm>
          <a:prstGeom prst="rect">
            <a:avLst/>
          </a:prstGeom>
          <a:noFill/>
          <a:ln/>
        </p:spPr>
        <p:txBody>
          <a:bodyPr wrap="none" lIns="0" tIns="0" rIns="0" bIns="0" rtlCol="0" anchor="t"/>
          <a:lstStyle/>
          <a:p>
            <a:pPr marL="0" marR="0" lvl="0" indent="0" algn="just" defTabSz="914400" rtl="0" eaLnBrk="1" fontAlgn="auto" latinLnBrk="0" hangingPunct="1">
              <a:lnSpc>
                <a:spcPts val="26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Ví dụ: </a:t>
            </a:r>
            <a:r>
              <a:rPr kumimoji="0" lang="en-US" sz="1600" b="0" i="0" u="none" strike="noStrike" kern="1200" cap="none" spc="0" normalizeH="0" baseline="0" noProof="0" dirty="0">
                <a:ln>
                  <a:noFill/>
                </a:ln>
                <a:solidFill>
                  <a:srgbClr val="1E3063"/>
                </a:solidFill>
                <a:effectLst/>
                <a:highlight>
                  <a:srgbClr val="F2F2F2"/>
                </a:highlight>
                <a:uLnTx/>
                <a:uFillTx/>
                <a:latin typeface="Consolas" pitchFamily="34" charset="0"/>
                <a:ea typeface="Consolas" pitchFamily="34" charset="-122"/>
                <a:cs typeface="Consolas" pitchFamily="34" charset="-120"/>
              </a:rPr>
              <a:t>h(key1) = index</a:t>
            </a: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và </a:t>
            </a:r>
            <a:r>
              <a:rPr kumimoji="0" lang="en-US" sz="1600" b="0" i="0" u="none" strike="noStrike" kern="1200" cap="none" spc="0" normalizeH="0" baseline="0" noProof="0" dirty="0">
                <a:ln>
                  <a:noFill/>
                </a:ln>
                <a:solidFill>
                  <a:srgbClr val="1E3063"/>
                </a:solidFill>
                <a:effectLst/>
                <a:highlight>
                  <a:srgbClr val="F2F2F2"/>
                </a:highlight>
                <a:uLnTx/>
                <a:uFillTx/>
                <a:latin typeface="Consolas" pitchFamily="34" charset="0"/>
                <a:ea typeface="Consolas" pitchFamily="34" charset="-122"/>
                <a:cs typeface="Consolas" pitchFamily="34" charset="-120"/>
              </a:rPr>
              <a:t>h(key2) = index</a:t>
            </a: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Image 0" descr="preencoded.png"/>
          <p:cNvPicPr>
            <a:picLocks noChangeAspect="1"/>
          </p:cNvPicPr>
          <p:nvPr/>
        </p:nvPicPr>
        <p:blipFill>
          <a:blip r:embed="rId3"/>
          <a:stretch>
            <a:fillRect/>
          </a:stretch>
        </p:blipFill>
        <p:spPr>
          <a:xfrm>
            <a:off x="5008364" y="2619851"/>
            <a:ext cx="4613672" cy="4613672"/>
          </a:xfrm>
          <a:prstGeom prst="rect">
            <a:avLst/>
          </a:prstGeom>
        </p:spPr>
      </p:pic>
      <p:pic>
        <p:nvPicPr>
          <p:cNvPr id="8" name="Image 1" descr="preencoded.png"/>
          <p:cNvPicPr>
            <a:picLocks noChangeAspect="1"/>
          </p:cNvPicPr>
          <p:nvPr/>
        </p:nvPicPr>
        <p:blipFill>
          <a:blip r:embed="rId4"/>
          <a:stretch>
            <a:fillRect/>
          </a:stretch>
        </p:blipFill>
        <p:spPr>
          <a:xfrm>
            <a:off x="5545574" y="4733211"/>
            <a:ext cx="309562" cy="386953"/>
          </a:xfrm>
          <a:prstGeom prst="rect">
            <a:avLst/>
          </a:prstGeom>
        </p:spPr>
      </p:pic>
      <p:sp>
        <p:nvSpPr>
          <p:cNvPr id="9" name="Text 5"/>
          <p:cNvSpPr/>
          <p:nvPr/>
        </p:nvSpPr>
        <p:spPr>
          <a:xfrm>
            <a:off x="9932313" y="2346484"/>
            <a:ext cx="2586276" cy="323255"/>
          </a:xfrm>
          <a:prstGeom prst="rect">
            <a:avLst/>
          </a:prstGeom>
          <a:noFill/>
          <a:ln/>
        </p:spPr>
        <p:txBody>
          <a:bodyPr wrap="none" lIns="0" tIns="0" rIns="0" bIns="0" rtlCol="0" anchor="t"/>
          <a:lstStyle/>
          <a:p>
            <a:pPr marL="0" marR="0" lvl="0" indent="0" algn="l" defTabSz="914400" rtl="0" eaLnBrk="1" fontAlgn="auto" latinLnBrk="0" hangingPunct="1">
              <a:lnSpc>
                <a:spcPts val="25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Semi Bold" pitchFamily="34" charset="0"/>
                <a:ea typeface="Instrument Sans Semi Bold" pitchFamily="34" charset="-122"/>
                <a:cs typeface="Instrument Sans Semi Bold" pitchFamily="34" charset="-120"/>
              </a:rPr>
              <a:t>Nguyên nhân chính</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6"/>
          <p:cNvSpPr/>
          <p:nvPr/>
        </p:nvSpPr>
        <p:spPr>
          <a:xfrm>
            <a:off x="9932313" y="2793802"/>
            <a:ext cx="3973949" cy="661988"/>
          </a:xfrm>
          <a:prstGeom prst="rect">
            <a:avLst/>
          </a:prstGeom>
          <a:noFill/>
          <a:ln/>
        </p:spPr>
        <p:txBody>
          <a:bodyPr wrap="square" lIns="0" tIns="0" rIns="0" bIns="0" rtlCol="0" anchor="t"/>
          <a:lstStyle/>
          <a:p>
            <a:pPr marL="342900" marR="0" lvl="0" indent="-342900" algn="just" defTabSz="914400" rtl="0" eaLnBrk="1" fontAlgn="auto" latinLnBrk="0" hangingPunct="1">
              <a:lnSpc>
                <a:spcPts val="2600"/>
              </a:lnSpc>
              <a:spcBef>
                <a:spcPts val="0"/>
              </a:spcBef>
              <a:spcAft>
                <a:spcPts val="0"/>
              </a:spcAft>
              <a:buClrTx/>
              <a:buSzPct val="100000"/>
              <a:buFontTx/>
              <a:buChar char="•"/>
              <a:tabLst/>
              <a:defRPr/>
            </a:pP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Số lượng key cần lưu trữ quá lớn so với kích thước bảng băm.</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7"/>
          <p:cNvSpPr/>
          <p:nvPr/>
        </p:nvSpPr>
        <p:spPr>
          <a:xfrm>
            <a:off x="9932313" y="3528179"/>
            <a:ext cx="3973949" cy="661988"/>
          </a:xfrm>
          <a:prstGeom prst="rect">
            <a:avLst/>
          </a:prstGeom>
          <a:noFill/>
          <a:ln/>
        </p:spPr>
        <p:txBody>
          <a:bodyPr wrap="square" lIns="0" tIns="0" rIns="0" bIns="0" rtlCol="0" anchor="t"/>
          <a:lstStyle/>
          <a:p>
            <a:pPr marL="342900" marR="0" lvl="0" indent="-342900" algn="just" defTabSz="914400" rtl="0" eaLnBrk="1" fontAlgn="auto" latinLnBrk="0" hangingPunct="1">
              <a:lnSpc>
                <a:spcPts val="2600"/>
              </a:lnSpc>
              <a:spcBef>
                <a:spcPts val="0"/>
              </a:spcBef>
              <a:spcAft>
                <a:spcPts val="0"/>
              </a:spcAft>
              <a:buClrTx/>
              <a:buSzPct val="100000"/>
              <a:buFontTx/>
              <a:buChar char="•"/>
              <a:tabLst/>
              <a:defRPr/>
            </a:pP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Kích thước bảng băm </a:t>
            </a:r>
            <a:r>
              <a:rPr kumimoji="0" lang="en-US" sz="1600" b="0" i="0" u="none" strike="noStrike" kern="1200" cap="none" spc="0" normalizeH="0" baseline="0" noProof="0" dirty="0">
                <a:ln>
                  <a:noFill/>
                </a:ln>
                <a:solidFill>
                  <a:srgbClr val="921653"/>
                </a:solidFill>
                <a:effectLst/>
                <a:uLnTx/>
                <a:uFillTx/>
                <a:latin typeface="Instrument Sans Medium" pitchFamily="34" charset="0"/>
                <a:ea typeface="Instrument Sans Medium" pitchFamily="34" charset="-122"/>
                <a:cs typeface="Instrument Sans Medium" pitchFamily="34" charset="-120"/>
              </a:rPr>
              <a:t>quá nhỏ</a:t>
            </a: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hoặc </a:t>
            </a:r>
            <a:r>
              <a:rPr kumimoji="0" lang="en-US" sz="1600" b="0" i="0" u="none" strike="noStrike" kern="1200" cap="none" spc="0" normalizeH="0" baseline="0" noProof="0" dirty="0">
                <a:ln>
                  <a:noFill/>
                </a:ln>
                <a:solidFill>
                  <a:srgbClr val="921653"/>
                </a:solidFill>
                <a:effectLst/>
                <a:uLnTx/>
                <a:uFillTx/>
                <a:latin typeface="Instrument Sans Medium" pitchFamily="34" charset="0"/>
                <a:ea typeface="Instrument Sans Medium" pitchFamily="34" charset="-122"/>
                <a:cs typeface="Instrument Sans Medium" pitchFamily="34" charset="-120"/>
              </a:rPr>
              <a:t>không phù hợp</a:t>
            </a: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9932313" y="4262557"/>
            <a:ext cx="3973949" cy="661988"/>
          </a:xfrm>
          <a:prstGeom prst="rect">
            <a:avLst/>
          </a:prstGeom>
          <a:noFill/>
          <a:ln/>
        </p:spPr>
        <p:txBody>
          <a:bodyPr wrap="square" lIns="0" tIns="0" rIns="0" bIns="0" rtlCol="0" anchor="t"/>
          <a:lstStyle/>
          <a:p>
            <a:pPr marL="342900" marR="0" lvl="0" indent="-342900" algn="just" defTabSz="914400" rtl="0" eaLnBrk="1" fontAlgn="auto" latinLnBrk="0" hangingPunct="1">
              <a:lnSpc>
                <a:spcPts val="2600"/>
              </a:lnSpc>
              <a:spcBef>
                <a:spcPts val="0"/>
              </a:spcBef>
              <a:spcAft>
                <a:spcPts val="0"/>
              </a:spcAft>
              <a:buClrTx/>
              <a:buSzPct val="100000"/>
              <a:buFontTx/>
              <a:buChar char="•"/>
              <a:tabLst/>
              <a:defRPr/>
            </a:pP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Hàm băm </a:t>
            </a:r>
            <a:r>
              <a:rPr kumimoji="0" lang="en-US" sz="1600" b="0" i="0" u="none" strike="noStrike" kern="1200" cap="none" spc="0" normalizeH="0" baseline="0" noProof="0" dirty="0">
                <a:ln>
                  <a:noFill/>
                </a:ln>
                <a:solidFill>
                  <a:srgbClr val="921653"/>
                </a:solidFill>
                <a:effectLst/>
                <a:uLnTx/>
                <a:uFillTx/>
                <a:latin typeface="Instrument Sans Medium" pitchFamily="34" charset="0"/>
                <a:ea typeface="Instrument Sans Medium" pitchFamily="34" charset="-122"/>
                <a:cs typeface="Instrument Sans Medium" pitchFamily="34" charset="-120"/>
              </a:rPr>
              <a:t>chưa đủ tốt</a:t>
            </a: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không phân tán dữ liệu đồng đều.</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Image 2" descr="preencoded.png"/>
          <p:cNvPicPr>
            <a:picLocks noChangeAspect="1"/>
          </p:cNvPicPr>
          <p:nvPr/>
        </p:nvPicPr>
        <p:blipFill>
          <a:blip r:embed="rId5"/>
          <a:stretch>
            <a:fillRect/>
          </a:stretch>
        </p:blipFill>
        <p:spPr>
          <a:xfrm>
            <a:off x="5008364" y="2619851"/>
            <a:ext cx="4613672" cy="4613672"/>
          </a:xfrm>
          <a:prstGeom prst="rect">
            <a:avLst/>
          </a:prstGeom>
        </p:spPr>
      </p:pic>
      <p:pic>
        <p:nvPicPr>
          <p:cNvPr id="14" name="Image 3" descr="preencoded.png"/>
          <p:cNvPicPr>
            <a:picLocks noChangeAspect="1"/>
          </p:cNvPicPr>
          <p:nvPr/>
        </p:nvPicPr>
        <p:blipFill>
          <a:blip r:embed="rId6"/>
          <a:stretch>
            <a:fillRect/>
          </a:stretch>
        </p:blipFill>
        <p:spPr>
          <a:xfrm>
            <a:off x="7967782" y="3334703"/>
            <a:ext cx="309562" cy="386953"/>
          </a:xfrm>
          <a:prstGeom prst="rect">
            <a:avLst/>
          </a:prstGeom>
        </p:spPr>
      </p:pic>
      <p:sp>
        <p:nvSpPr>
          <p:cNvPr id="15" name="Text 9"/>
          <p:cNvSpPr/>
          <p:nvPr/>
        </p:nvSpPr>
        <p:spPr>
          <a:xfrm>
            <a:off x="9932313" y="5234821"/>
            <a:ext cx="2586276" cy="323255"/>
          </a:xfrm>
          <a:prstGeom prst="rect">
            <a:avLst/>
          </a:prstGeom>
          <a:noFill/>
          <a:ln/>
        </p:spPr>
        <p:txBody>
          <a:bodyPr wrap="none" lIns="0" tIns="0" rIns="0" bIns="0" rtlCol="0" anchor="t"/>
          <a:lstStyle/>
          <a:p>
            <a:pPr marL="0" marR="0" lvl="0" indent="0" algn="l" defTabSz="914400" rtl="0" eaLnBrk="1" fontAlgn="auto" latinLnBrk="0" hangingPunct="1">
              <a:lnSpc>
                <a:spcPts val="25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Semi Bold" pitchFamily="34" charset="0"/>
                <a:ea typeface="Instrument Sans Semi Bold" pitchFamily="34" charset="-122"/>
                <a:cs typeface="Instrument Sans Semi Bold" pitchFamily="34" charset="-120"/>
              </a:rPr>
              <a:t>Tác động</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0"/>
          <p:cNvSpPr/>
          <p:nvPr/>
        </p:nvSpPr>
        <p:spPr>
          <a:xfrm>
            <a:off x="9932313" y="5682139"/>
            <a:ext cx="3973949" cy="1038701"/>
          </a:xfrm>
          <a:prstGeom prst="rect">
            <a:avLst/>
          </a:prstGeom>
          <a:noFill/>
          <a:ln/>
        </p:spPr>
        <p:txBody>
          <a:bodyPr wrap="square" lIns="0" tIns="0" rIns="0" bIns="0" rtlCol="0" anchor="t"/>
          <a:lstStyle/>
          <a:p>
            <a:pPr marL="0" marR="0" lvl="0" indent="0" algn="just" defTabSz="914400" rtl="0" eaLnBrk="1" fontAlgn="auto" latinLnBrk="0" hangingPunct="1">
              <a:lnSpc>
                <a:spcPts val="26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Nếu không được xử lý, xung đột làm giảm hiệu suất của bảng băm, biến </a:t>
            </a:r>
            <a:r>
              <a:rPr kumimoji="0" lang="en-US" sz="1600" b="0" i="0" u="none" strike="noStrike" kern="1200" cap="none" spc="0" normalizeH="0" baseline="0" noProof="0" dirty="0">
                <a:ln>
                  <a:noFill/>
                </a:ln>
                <a:solidFill>
                  <a:srgbClr val="1E3063"/>
                </a:solidFill>
                <a:effectLst/>
                <a:highlight>
                  <a:srgbClr val="F2F2F2"/>
                </a:highlight>
                <a:uLnTx/>
                <a:uFillTx/>
                <a:latin typeface="Consolas" pitchFamily="34" charset="0"/>
                <a:ea typeface="Consolas" pitchFamily="34" charset="-122"/>
                <a:cs typeface="Consolas" pitchFamily="34" charset="-120"/>
              </a:rPr>
              <a:t>O(1)</a:t>
            </a: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thành </a:t>
            </a:r>
            <a:r>
              <a:rPr kumimoji="0" lang="en-US" sz="1600" b="0" i="0" u="none" strike="noStrike" kern="1200" cap="none" spc="0" normalizeH="0" baseline="0" noProof="0" dirty="0">
                <a:ln>
                  <a:noFill/>
                </a:ln>
                <a:solidFill>
                  <a:srgbClr val="1E3063"/>
                </a:solidFill>
                <a:effectLst/>
                <a:highlight>
                  <a:srgbClr val="F2F2F2"/>
                </a:highlight>
                <a:uLnTx/>
                <a:uFillTx/>
                <a:latin typeface="Consolas" pitchFamily="34" charset="0"/>
                <a:ea typeface="Consolas" pitchFamily="34" charset="-122"/>
                <a:cs typeface="Consolas" pitchFamily="34" charset="-120"/>
              </a:rPr>
              <a:t>O(N)</a:t>
            </a: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trong trường hợp xấu nhất.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1"/>
          <p:cNvSpPr/>
          <p:nvPr/>
        </p:nvSpPr>
        <p:spPr>
          <a:xfrm>
            <a:off x="9932313" y="6844903"/>
            <a:ext cx="3973949" cy="661988"/>
          </a:xfrm>
          <a:prstGeom prst="rect">
            <a:avLst/>
          </a:prstGeom>
          <a:noFill/>
          <a:ln/>
        </p:spPr>
        <p:txBody>
          <a:bodyPr wrap="square" lIns="0" tIns="0" rIns="0" bIns="0" rtlCol="0" anchor="t"/>
          <a:lstStyle/>
          <a:p>
            <a:pPr marL="0" marR="0" lvl="0" indent="0" algn="just" defTabSz="914400" rtl="0" eaLnBrk="1" fontAlgn="auto" latinLnBrk="0" hangingPunct="1">
              <a:lnSpc>
                <a:spcPts val="26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Việc xử lý xung đột hiệu quả là cực kỳ quan trọng.</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Image 4" descr="preencoded.png"/>
          <p:cNvPicPr>
            <a:picLocks noChangeAspect="1"/>
          </p:cNvPicPr>
          <p:nvPr/>
        </p:nvPicPr>
        <p:blipFill>
          <a:blip r:embed="rId7"/>
          <a:stretch>
            <a:fillRect/>
          </a:stretch>
        </p:blipFill>
        <p:spPr>
          <a:xfrm>
            <a:off x="5008364" y="2619851"/>
            <a:ext cx="4613672" cy="4613672"/>
          </a:xfrm>
          <a:prstGeom prst="rect">
            <a:avLst/>
          </a:prstGeom>
        </p:spPr>
      </p:pic>
      <p:pic>
        <p:nvPicPr>
          <p:cNvPr id="19" name="Image 5" descr="preencoded.png"/>
          <p:cNvPicPr>
            <a:picLocks noChangeAspect="1"/>
          </p:cNvPicPr>
          <p:nvPr/>
        </p:nvPicPr>
        <p:blipFill>
          <a:blip r:embed="rId8"/>
          <a:stretch>
            <a:fillRect/>
          </a:stretch>
        </p:blipFill>
        <p:spPr>
          <a:xfrm>
            <a:off x="7967782" y="6131600"/>
            <a:ext cx="309562" cy="386953"/>
          </a:xfrm>
          <a:prstGeom prst="rect">
            <a:avLst/>
          </a:prstGeom>
        </p:spPr>
      </p:pic>
      <p:sp>
        <p:nvSpPr>
          <p:cNvPr id="20" name="Rectangle 19">
            <a:extLst>
              <a:ext uri="{FF2B5EF4-FFF2-40B4-BE49-F238E27FC236}">
                <a16:creationId xmlns:a16="http://schemas.microsoft.com/office/drawing/2014/main" id="{518438C0-12A4-A8B0-724C-CC64AF20C77B}"/>
              </a:ext>
            </a:extLst>
          </p:cNvPr>
          <p:cNvSpPr/>
          <p:nvPr/>
        </p:nvSpPr>
        <p:spPr>
          <a:xfrm>
            <a:off x="12814300" y="7607300"/>
            <a:ext cx="1816100" cy="622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0098" y="612934"/>
            <a:ext cx="12432863" cy="696516"/>
          </a:xfrm>
          <a:prstGeom prst="rect">
            <a:avLst/>
          </a:prstGeom>
          <a:noFill/>
          <a:ln/>
        </p:spPr>
        <p:txBody>
          <a:bodyPr wrap="none" lIns="0" tIns="0" rIns="0" bIns="0" rtlCol="0" anchor="t"/>
          <a:lstStyle/>
          <a:p>
            <a:pPr marL="0" marR="0" lvl="0" indent="0" algn="l" defTabSz="914400" rtl="0" eaLnBrk="1" fontAlgn="auto" latinLnBrk="0" hangingPunct="1">
              <a:lnSpc>
                <a:spcPts val="5450"/>
              </a:lnSpc>
              <a:spcBef>
                <a:spcPts val="0"/>
              </a:spcBef>
              <a:spcAft>
                <a:spcPts val="0"/>
              </a:spcAft>
              <a:buClrTx/>
              <a:buSzTx/>
              <a:buFontTx/>
              <a:buNone/>
              <a:tabLst/>
              <a:defRPr/>
            </a:pPr>
            <a:r>
              <a:rPr kumimoji="0" lang="en-US" sz="4350" b="0" i="0" u="none" strike="noStrike" kern="1200" cap="none" spc="0" normalizeH="0" baseline="0" noProof="0" dirty="0">
                <a:ln>
                  <a:noFill/>
                </a:ln>
                <a:solidFill>
                  <a:srgbClr val="091C53"/>
                </a:solidFill>
                <a:effectLst/>
                <a:uLnTx/>
                <a:uFillTx/>
                <a:latin typeface="Instrument Sans Semi Bold" pitchFamily="34" charset="0"/>
                <a:ea typeface="Instrument Sans Semi Bold" pitchFamily="34" charset="-122"/>
                <a:cs typeface="Instrument Sans Semi Bold" pitchFamily="34" charset="-120"/>
              </a:rPr>
              <a:t>2. Phân Phối Đồng Đều: Nền Tảng Của Hiệu Suất</a:t>
            </a:r>
            <a:endParaRPr kumimoji="0" lang="en-US" sz="4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80098" y="1537931"/>
            <a:ext cx="6943844" cy="713184"/>
          </a:xfrm>
          <a:prstGeom prst="rect">
            <a:avLst/>
          </a:prstGeom>
          <a:noFill/>
          <a:ln/>
        </p:spPr>
        <p:txBody>
          <a:bodyPr wrap="square" lIns="0" tIns="0" rIns="0" bIns="0" rtlCol="0" anchor="t"/>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Một hàm băm lý tưởng cần đảm bảo rằng dữ liệu được phân tán một cách đồng đều trên toàn bộ bảng băm.</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055847" y="4329113"/>
            <a:ext cx="6943844" cy="713184"/>
          </a:xfrm>
          <a:prstGeom prst="rect">
            <a:avLst/>
          </a:prstGeom>
          <a:noFill/>
          <a:ln/>
        </p:spPr>
        <p:txBody>
          <a:bodyPr wrap="square" lIns="0" tIns="0" rIns="0" bIns="0" rtlCol="0" anchor="t"/>
          <a:lstStyle/>
          <a:p>
            <a:pPr marL="342900" marR="0" lvl="0" indent="-342900" algn="just" defTabSz="914400" rtl="0" eaLnBrk="1" fontAlgn="auto" latinLnBrk="0" hangingPunct="1">
              <a:lnSpc>
                <a:spcPct val="150000"/>
              </a:lnSpc>
              <a:spcBef>
                <a:spcPts val="0"/>
              </a:spcBef>
              <a:spcAft>
                <a:spcPts val="0"/>
              </a:spcAft>
              <a:buClrTx/>
              <a:buSzPct val="100000"/>
              <a:buFontTx/>
              <a:buChar char="•"/>
              <a:tabLst/>
              <a:defRPr/>
            </a:pPr>
            <a:r>
              <a:rPr kumimoji="0" lang="en-US" sz="24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Tránh tình trạng "tập trung": Khi nhiều khóa khác nhau lại có cùng giá trị băm, dẫn đến quá tải ở một số bucket nhất định.</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56807" y="6055886"/>
            <a:ext cx="6943844" cy="713184"/>
          </a:xfrm>
          <a:prstGeom prst="rect">
            <a:avLst/>
          </a:prstGeom>
          <a:noFill/>
          <a:ln/>
        </p:spPr>
        <p:txBody>
          <a:bodyPr wrap="square" lIns="0" tIns="0" rIns="0" bIns="0" rtlCol="0" anchor="t"/>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Việc phân phối không đồng đều là nguyên nhân chính gây giảm hiệu suất của cấu trúc dữ liệu băm.</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Image 0" descr="preencoded.png"/>
          <p:cNvPicPr>
            <a:picLocks noChangeAspect="1"/>
          </p:cNvPicPr>
          <p:nvPr/>
        </p:nvPicPr>
        <p:blipFill>
          <a:blip r:embed="rId3"/>
          <a:stretch>
            <a:fillRect/>
          </a:stretch>
        </p:blipFill>
        <p:spPr>
          <a:xfrm>
            <a:off x="8275439" y="1894523"/>
            <a:ext cx="5582364" cy="5582364"/>
          </a:xfrm>
          <a:prstGeom prst="rect">
            <a:avLst/>
          </a:prstGeom>
        </p:spPr>
      </p:pic>
      <p:sp>
        <p:nvSpPr>
          <p:cNvPr id="8" name="Text 2">
            <a:extLst>
              <a:ext uri="{FF2B5EF4-FFF2-40B4-BE49-F238E27FC236}">
                <a16:creationId xmlns:a16="http://schemas.microsoft.com/office/drawing/2014/main" id="{D477538A-2A10-0B05-F5E2-30E53A978C90}"/>
              </a:ext>
            </a:extLst>
          </p:cNvPr>
          <p:cNvSpPr/>
          <p:nvPr/>
        </p:nvSpPr>
        <p:spPr>
          <a:xfrm>
            <a:off x="1036951" y="3113926"/>
            <a:ext cx="7139053" cy="713184"/>
          </a:xfrm>
          <a:prstGeom prst="rect">
            <a:avLst/>
          </a:prstGeom>
          <a:noFill/>
          <a:ln/>
        </p:spPr>
        <p:txBody>
          <a:bodyPr wrap="square" lIns="0" tIns="0" rIns="0" bIns="0" rtlCol="0" anchor="t"/>
          <a:lstStyle/>
          <a:p>
            <a:pPr marL="342900" marR="0" lvl="0" indent="-342900" algn="just" defTabSz="914400" rtl="0" eaLnBrk="1" fontAlgn="auto" latinLnBrk="0" hangingPunct="1">
              <a:lnSpc>
                <a:spcPct val="150000"/>
              </a:lnSpc>
              <a:spcBef>
                <a:spcPts val="0"/>
              </a:spcBef>
              <a:spcAft>
                <a:spcPts val="0"/>
              </a:spcAft>
              <a:buClrTx/>
              <a:buSzPct val="100000"/>
              <a:buFontTx/>
              <a:buChar char="•"/>
              <a:tabLst/>
              <a:defRPr/>
            </a:pPr>
            <a:r>
              <a:rPr kumimoji="0" lang="en-US" sz="24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Mục tiêu: Đảm bảo mỗi "bucket" (ô chứa dữ liệu) nhận được số lượng khóa tương đương.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ADC08C7C-FE6F-B591-2560-890860791F70}"/>
              </a:ext>
            </a:extLst>
          </p:cNvPr>
          <p:cNvSpPr/>
          <p:nvPr/>
        </p:nvSpPr>
        <p:spPr>
          <a:xfrm>
            <a:off x="12687300" y="7658100"/>
            <a:ext cx="1943100" cy="571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96532" y="810186"/>
            <a:ext cx="9246037" cy="708779"/>
          </a:xfrm>
          <a:prstGeom prst="rect">
            <a:avLst/>
          </a:prstGeom>
          <a:noFill/>
          <a:ln/>
        </p:spPr>
        <p:txBody>
          <a:bodyPr wrap="none" lIns="0" tIns="0" rIns="0" bIns="0" rtlCol="0" anchor="t"/>
          <a:lstStyle/>
          <a:p>
            <a:pPr marL="0" marR="0" lvl="0" indent="0" algn="l" defTabSz="914400" rtl="0" eaLnBrk="1" fontAlgn="auto" latinLnBrk="0" hangingPunct="1">
              <a:lnSpc>
                <a:spcPts val="5550"/>
              </a:lnSpc>
              <a:spcBef>
                <a:spcPts val="0"/>
              </a:spcBef>
              <a:spcAft>
                <a:spcPts val="0"/>
              </a:spcAft>
              <a:buClrTx/>
              <a:buSzTx/>
              <a:buFontTx/>
              <a:buNone/>
              <a:tabLst/>
              <a:defRPr/>
            </a:pPr>
            <a:r>
              <a:rPr kumimoji="0" lang="en-US" sz="4450" b="0" i="0" u="none" strike="noStrike" kern="1200" cap="none" spc="0" normalizeH="0" baseline="0" noProof="0" dirty="0">
                <a:ln>
                  <a:noFill/>
                </a:ln>
                <a:solidFill>
                  <a:srgbClr val="091C53"/>
                </a:solidFill>
                <a:effectLst/>
                <a:uLnTx/>
                <a:uFillTx/>
                <a:latin typeface="Instrument Sans Semi Bold" pitchFamily="34" charset="0"/>
                <a:ea typeface="Instrument Sans Semi Bold" pitchFamily="34" charset="-122"/>
                <a:cs typeface="Instrument Sans Semi Bold" pitchFamily="34" charset="-120"/>
              </a:rPr>
              <a:t>3. Hiệu Năng và Khả Năng Mở Rộng</a:t>
            </a:r>
            <a:endParaRPr kumimoji="0" lang="en-US" sz="4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93790" y="2429470"/>
            <a:ext cx="3207187" cy="354330"/>
          </a:xfrm>
          <a:prstGeom prst="rect">
            <a:avLst/>
          </a:prstGeom>
          <a:noFill/>
          <a:ln/>
        </p:spPr>
        <p:txBody>
          <a:bodyPr wrap="non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91C53"/>
                </a:solidFill>
                <a:effectLst/>
                <a:uLnTx/>
                <a:uFillTx/>
                <a:latin typeface="Instrument Sans Semi Bold" pitchFamily="34" charset="0"/>
                <a:ea typeface="Instrument Sans Semi Bold" pitchFamily="34" charset="-122"/>
                <a:cs typeface="Instrument Sans Semi Bold" pitchFamily="34" charset="-120"/>
              </a:rPr>
              <a:t>Tính Toán Nhanh Chóng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93790" y="3010614"/>
            <a:ext cx="6244709" cy="725805"/>
          </a:xfrm>
          <a:prstGeom prst="rect">
            <a:avLst/>
          </a:prstGeom>
          <a:noFill/>
          <a:ln/>
        </p:spPr>
        <p:txBody>
          <a:bodyPr wrap="square" lIns="0" tIns="0" rIns="0" bIns="0" rtlCol="0" anchor="t"/>
          <a:lstStyle/>
          <a:p>
            <a:pPr marL="0" marR="0" lvl="0" indent="0" algn="just" defTabSz="914400" rtl="0" eaLnBrk="1" fontAlgn="auto" latinLnBrk="0" hangingPunct="1">
              <a:lnSpc>
                <a:spcPts val="285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Hàm băm lý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tưởng</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tính</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toán</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nhanh</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là</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a:ln>
                  <a:noFill/>
                </a:ln>
                <a:solidFill>
                  <a:srgbClr val="FF5000"/>
                </a:solidFill>
                <a:effectLst/>
                <a:uLnTx/>
                <a:uFillTx/>
                <a:latin typeface="Instrument Sans Medium" pitchFamily="34" charset="0"/>
                <a:ea typeface="Instrument Sans Medium" pitchFamily="34" charset="-122"/>
                <a:cs typeface="Instrument Sans Medium" pitchFamily="34" charset="-120"/>
              </a:rPr>
              <a:t>O(1)</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(hằng số), không phụ thuộc vào kích thước dữ liệu.</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96532" y="4056760"/>
            <a:ext cx="6244709" cy="725805"/>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Sự phức tạp trong tính toán hàm băm sẽ làm giảm đáng kể tốc độ tra cứu và thêm/xóa dữ liệu.</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896532" y="5173723"/>
            <a:ext cx="6244709" cy="725805"/>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Đánh đổi: Cân bằng giữa độ phức tạp của hàm băm và khả năng phân phối.</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599521" y="2429470"/>
            <a:ext cx="2835235" cy="354330"/>
          </a:xfrm>
          <a:prstGeom prst="rect">
            <a:avLst/>
          </a:prstGeom>
          <a:noFill/>
          <a:ln/>
        </p:spPr>
        <p:txBody>
          <a:bodyPr wrap="non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91C53"/>
                </a:solidFill>
                <a:effectLst/>
                <a:uLnTx/>
                <a:uFillTx/>
                <a:latin typeface="Instrument Sans Semi Bold" pitchFamily="34" charset="0"/>
                <a:ea typeface="Instrument Sans Semi Bold" pitchFamily="34" charset="-122"/>
                <a:cs typeface="Instrument Sans Semi Bold" pitchFamily="34" charset="-120"/>
              </a:rPr>
              <a:t>Khả Năng Mở Rộng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7599521" y="3010614"/>
            <a:ext cx="6244709" cy="725805"/>
          </a:xfrm>
          <a:prstGeom prst="rect">
            <a:avLst/>
          </a:prstGeom>
          <a:noFill/>
          <a:ln/>
        </p:spPr>
        <p:txBody>
          <a:bodyPr wrap="square" lIns="0" tIns="0" rIns="0" bIns="0" rtlCol="0" anchor="t"/>
          <a:lstStyle/>
          <a:p>
            <a:pPr marL="0" marR="0" lvl="0" indent="0" algn="just" defTabSz="914400" rtl="0" eaLnBrk="1" fontAlgn="auto" latinLnBrk="0" hangingPunct="1">
              <a:lnSpc>
                <a:spcPts val="285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Khi số lượng dữ liệu tăng lên vượt quá một ngưỡng nhất định, bảng băm cần được mở rộng.</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7599521" y="3940493"/>
            <a:ext cx="6244709" cy="1088708"/>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000" b="0" i="0" u="none" strike="noStrike" kern="1200" cap="none" spc="0" normalizeH="0" baseline="0" noProof="0" dirty="0">
                <a:ln>
                  <a:noFill/>
                </a:ln>
                <a:solidFill>
                  <a:srgbClr val="921653"/>
                </a:solidFill>
                <a:effectLst/>
                <a:uLnTx/>
                <a:uFillTx/>
                <a:latin typeface="Instrument Sans Medium" pitchFamily="34" charset="0"/>
                <a:ea typeface="Instrument Sans Medium" pitchFamily="34" charset="-122"/>
                <a:cs typeface="Instrument Sans Medium" pitchFamily="34" charset="-120"/>
              </a:rPr>
              <a:t>Rehashing (Tái băm)</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Quá trình tạo một bảng băm mới lớn hơn và tính toán lại giá trị băm cho tất cả các khóa hiện có.</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599521" y="5108496"/>
            <a:ext cx="6244709" cy="725805"/>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Tối ưu hóa: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Cần</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chọn</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thời</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điểm</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rehasing</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hợp</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lý</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để</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giảm</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tác</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động</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đến</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hiệu</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suất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37B5DA1-D9DE-44B3-5920-F3492E4C16ED}"/>
              </a:ext>
            </a:extLst>
          </p:cNvPr>
          <p:cNvSpPr/>
          <p:nvPr/>
        </p:nvSpPr>
        <p:spPr>
          <a:xfrm>
            <a:off x="12725400" y="7581900"/>
            <a:ext cx="1905000" cy="64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5709" y="1057427"/>
            <a:ext cx="10595491" cy="708779"/>
          </a:xfrm>
          <a:prstGeom prst="rect">
            <a:avLst/>
          </a:prstGeom>
          <a:noFill/>
          <a:ln/>
        </p:spPr>
        <p:txBody>
          <a:bodyPr wrap="none" lIns="0" tIns="0" rIns="0" bIns="0" rtlCol="0" anchor="t"/>
          <a:lstStyle/>
          <a:p>
            <a:pPr marL="0" marR="0" lvl="0" indent="0" algn="l" defTabSz="914400" rtl="0" eaLnBrk="1" fontAlgn="auto" latinLnBrk="0" hangingPunct="1">
              <a:lnSpc>
                <a:spcPts val="5550"/>
              </a:lnSpc>
              <a:spcBef>
                <a:spcPts val="0"/>
              </a:spcBef>
              <a:spcAft>
                <a:spcPts val="0"/>
              </a:spcAft>
              <a:buClrTx/>
              <a:buSzTx/>
              <a:buFontTx/>
              <a:buNone/>
              <a:tabLst/>
              <a:defRPr/>
            </a:pPr>
            <a:r>
              <a:rPr kumimoji="0" lang="en-US" sz="4450" b="0" i="0" u="none" strike="noStrike" kern="1200" cap="none" spc="0" normalizeH="0" baseline="0" noProof="0" dirty="0">
                <a:ln>
                  <a:noFill/>
                </a:ln>
                <a:solidFill>
                  <a:srgbClr val="091C53"/>
                </a:solidFill>
                <a:effectLst/>
                <a:uLnTx/>
                <a:uFillTx/>
                <a:latin typeface="Instrument Sans Semi Bold" pitchFamily="34" charset="0"/>
                <a:ea typeface="Instrument Sans Semi Bold" pitchFamily="34" charset="-122"/>
                <a:cs typeface="Instrument Sans Semi Bold" pitchFamily="34" charset="-120"/>
              </a:rPr>
              <a:t>4. Tối Ưu Hóa Kích Thước Bảng Băm (m)</a:t>
            </a:r>
            <a:endParaRPr kumimoji="0" lang="en-US" sz="4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651867" y="2476689"/>
            <a:ext cx="6407944" cy="2032754"/>
          </a:xfrm>
          <a:prstGeom prst="roundRect">
            <a:avLst>
              <a:gd name="adj" fmla="val 10043"/>
            </a:avLst>
          </a:prstGeom>
          <a:solidFill>
            <a:srgbClr val="CEE6F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878681" y="2703503"/>
            <a:ext cx="2835235" cy="354330"/>
          </a:xfrm>
          <a:prstGeom prst="rect">
            <a:avLst/>
          </a:prstGeom>
          <a:noFill/>
          <a:ln/>
        </p:spPr>
        <p:txBody>
          <a:bodyPr wrap="non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E3063"/>
                </a:solidFill>
                <a:effectLst/>
                <a:uLnTx/>
                <a:uFillTx/>
                <a:latin typeface="Instrument Sans Semi Bold" pitchFamily="34" charset="0"/>
                <a:ea typeface="Instrument Sans Semi Bold" pitchFamily="34" charset="-122"/>
                <a:cs typeface="Instrument Sans Semi Bold" pitchFamily="34" charset="-120"/>
              </a:rPr>
              <a:t>Chọn Số Nguyên Tố</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878681" y="3193922"/>
            <a:ext cx="5954316" cy="1088708"/>
          </a:xfrm>
          <a:prstGeom prst="rect">
            <a:avLst/>
          </a:prstGeom>
          <a:noFill/>
          <a:ln/>
        </p:spPr>
        <p:txBody>
          <a:bodyPr wrap="square" lIns="0" tIns="0" rIns="0" bIns="0" rtlCol="0" anchor="t"/>
          <a:lstStyle/>
          <a:p>
            <a:pPr marL="0" marR="0" lvl="0" indent="0" algn="just" defTabSz="914400" rtl="0" eaLnBrk="1" fontAlgn="auto" latinLnBrk="0" hangingPunct="1">
              <a:lnSpc>
                <a:spcPts val="285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Kích thước bảng băm </a:t>
            </a:r>
            <a:r>
              <a:rPr kumimoji="0" lang="en-US" sz="2000" b="1"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(m)</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nên là một số nguyên tố. Điều này giúp giảm thiểu xung đột và tránh các chu kỳ lặp lại không mong muốn trong quá trình băm.</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7286625" y="2476689"/>
            <a:ext cx="6408063" cy="2032754"/>
          </a:xfrm>
          <a:prstGeom prst="roundRect">
            <a:avLst>
              <a:gd name="adj" fmla="val 10043"/>
            </a:avLst>
          </a:prstGeom>
          <a:solidFill>
            <a:srgbClr val="CEE6F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7513439" y="2703503"/>
            <a:ext cx="2835235" cy="354330"/>
          </a:xfrm>
          <a:prstGeom prst="rect">
            <a:avLst/>
          </a:prstGeom>
          <a:noFill/>
          <a:ln/>
        </p:spPr>
        <p:txBody>
          <a:bodyPr wrap="non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E3063"/>
                </a:solidFill>
                <a:effectLst/>
                <a:uLnTx/>
                <a:uFillTx/>
                <a:latin typeface="Instrument Sans Semi Bold" pitchFamily="34" charset="0"/>
                <a:ea typeface="Instrument Sans Semi Bold" pitchFamily="34" charset="-122"/>
                <a:cs typeface="Instrument Sans Semi Bold" pitchFamily="34" charset="-120"/>
              </a:rPr>
              <a:t>Tránh Lặp Lại</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7513439" y="3193922"/>
            <a:ext cx="5954435" cy="725805"/>
          </a:xfrm>
          <a:prstGeom prst="rect">
            <a:avLst/>
          </a:prstGeom>
          <a:noFill/>
          <a:ln/>
        </p:spPr>
        <p:txBody>
          <a:bodyPr wrap="square" lIns="0" tIns="0" rIns="0" bIns="0" rtlCol="0" anchor="t"/>
          <a:lstStyle/>
          <a:p>
            <a:pPr marL="0" marR="0" lvl="0" indent="0" algn="just" defTabSz="914400" rtl="0" eaLnBrk="1" fontAlgn="auto" latinLnBrk="0" hangingPunct="1">
              <a:lnSpc>
                <a:spcPts val="285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Nếu </a:t>
            </a:r>
            <a:r>
              <a:rPr kumimoji="0" lang="en-US" sz="2000" b="1"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m</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là hợp số, các mẫu băm có thể lặp lại sớm, làm giảm hiệu quả phân phối và tăng khả năng xung đột.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7">
            <a:extLst>
              <a:ext uri="{FF2B5EF4-FFF2-40B4-BE49-F238E27FC236}">
                <a16:creationId xmlns:a16="http://schemas.microsoft.com/office/drawing/2014/main" id="{6AEE986B-3359-D63E-B7DD-D7D1397CC3B5}"/>
              </a:ext>
            </a:extLst>
          </p:cNvPr>
          <p:cNvSpPr/>
          <p:nvPr/>
        </p:nvSpPr>
        <p:spPr>
          <a:xfrm>
            <a:off x="280948" y="5259052"/>
            <a:ext cx="12900897" cy="708779"/>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Việc</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lựa</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chọn</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kích</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thước</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1"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m</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ban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đầu</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và</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chiến</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lược</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rehashing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là</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yếu</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tố</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quan</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trọng</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quyết</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định</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hiệu</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suất</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lâu</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dài</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của</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bảng</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err="1">
                <a:ln>
                  <a:noFill/>
                </a:ln>
                <a:solidFill>
                  <a:srgbClr val="1E3063"/>
                </a:solidFill>
                <a:effectLst/>
                <a:uLnTx/>
                <a:uFillTx/>
                <a:latin typeface="Instrument Sans Medium" pitchFamily="34" charset="0"/>
                <a:ea typeface="Instrument Sans Medium" pitchFamily="34" charset="-122"/>
                <a:cs typeface="Instrument Sans Medium" pitchFamily="34" charset="-120"/>
              </a:rPr>
              <a:t>băm</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EAE8FC0-8E13-640C-1B17-0B292968CA14}"/>
              </a:ext>
            </a:extLst>
          </p:cNvPr>
          <p:cNvSpPr/>
          <p:nvPr/>
        </p:nvSpPr>
        <p:spPr>
          <a:xfrm>
            <a:off x="12611100" y="7556500"/>
            <a:ext cx="2019300" cy="673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3054429"/>
            <a:ext cx="7556421" cy="1417558"/>
          </a:xfrm>
          <a:prstGeom prst="rect">
            <a:avLst/>
          </a:prstGeom>
          <a:noFill/>
          <a:ln/>
        </p:spPr>
        <p:txBody>
          <a:bodyPr wrap="square" lIns="0" tIns="0" rIns="0" bIns="0" rtlCol="0" anchor="t"/>
          <a:lstStyle/>
          <a:p>
            <a:pPr marL="0" indent="0" algn="ctr">
              <a:lnSpc>
                <a:spcPts val="5550"/>
              </a:lnSpc>
              <a:buNone/>
            </a:pPr>
            <a:r>
              <a:rPr lang="en-US" sz="4450" dirty="0">
                <a:latin typeface="Instrument Sans Semi Bold" pitchFamily="34" charset="0"/>
                <a:ea typeface="Instrument Sans Semi Bold" pitchFamily="34" charset="-122"/>
                <a:cs typeface="Instrument Sans Semi Bold" pitchFamily="34" charset="-120"/>
              </a:rPr>
              <a:t>Xử lý Xung đột </a:t>
            </a:r>
            <a:r>
              <a:rPr lang="en-US" sz="4450" dirty="0">
                <a:solidFill>
                  <a:srgbClr val="091C53"/>
                </a:solidFill>
                <a:latin typeface="Instrument Sans Semi Bold" pitchFamily="34" charset="0"/>
                <a:ea typeface="Instrument Sans Semi Bold" pitchFamily="34" charset="-122"/>
                <a:cs typeface="Instrument Sans Semi Bold" pitchFamily="34" charset="-120"/>
              </a:rPr>
              <a:t>trong Bảng Băm</a:t>
            </a:r>
            <a:endParaRPr lang="en-US" sz="4450" dirty="0"/>
          </a:p>
        </p:txBody>
      </p:sp>
      <p:sp>
        <p:nvSpPr>
          <p:cNvPr id="5" name="Rectangle 4">
            <a:extLst>
              <a:ext uri="{FF2B5EF4-FFF2-40B4-BE49-F238E27FC236}">
                <a16:creationId xmlns:a16="http://schemas.microsoft.com/office/drawing/2014/main" id="{B0EDF6DB-4E2D-6537-D420-6DA788D8D36A}"/>
              </a:ext>
            </a:extLst>
          </p:cNvPr>
          <p:cNvSpPr/>
          <p:nvPr/>
        </p:nvSpPr>
        <p:spPr>
          <a:xfrm>
            <a:off x="12623800" y="7531100"/>
            <a:ext cx="2006600" cy="698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10160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139904"/>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Chaining: Giải quyết xung đột bằng Danh sách liên kết</a:t>
            </a:r>
            <a:endParaRPr lang="en-US" sz="4450" dirty="0"/>
          </a:p>
        </p:txBody>
      </p:sp>
      <p:sp>
        <p:nvSpPr>
          <p:cNvPr id="3" name="Text 1"/>
          <p:cNvSpPr/>
          <p:nvPr/>
        </p:nvSpPr>
        <p:spPr>
          <a:xfrm>
            <a:off x="763310" y="2881033"/>
            <a:ext cx="13042821" cy="362903"/>
          </a:xfrm>
          <a:prstGeom prst="rect">
            <a:avLst/>
          </a:prstGeom>
          <a:noFill/>
          <a:ln/>
        </p:spPr>
        <p:txBody>
          <a:bodyPr wrap="none" lIns="0" tIns="0" rIns="0" bIns="0" rtlCol="0" anchor="t"/>
          <a:lstStyle/>
          <a:p>
            <a:pPr marL="0" indent="0" algn="l">
              <a:lnSpc>
                <a:spcPts val="285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Chaining là một phương pháp hiệu quả để xử lý xung đột khi nhiều khóa băm về cùng một vị trí trong bảng băm.</a:t>
            </a:r>
            <a:endParaRPr lang="en-US" sz="2000" dirty="0"/>
          </a:p>
        </p:txBody>
      </p:sp>
      <p:sp>
        <p:nvSpPr>
          <p:cNvPr id="4" name="Shape 2"/>
          <p:cNvSpPr/>
          <p:nvPr/>
        </p:nvSpPr>
        <p:spPr>
          <a:xfrm>
            <a:off x="793790" y="3629144"/>
            <a:ext cx="4196358" cy="2456617"/>
          </a:xfrm>
          <a:prstGeom prst="roundRect">
            <a:avLst>
              <a:gd name="adj" fmla="val 5956"/>
            </a:avLst>
          </a:prstGeom>
          <a:solidFill>
            <a:srgbClr val="FFFFFF"/>
          </a:solidFill>
          <a:ln w="30480">
            <a:solidFill>
              <a:srgbClr val="B4CCE3"/>
            </a:solidFill>
            <a:prstDash val="solid"/>
          </a:ln>
        </p:spPr>
        <p:txBody>
          <a:bodyPr/>
          <a:lstStyle/>
          <a:p>
            <a:endParaRPr lang="en-US"/>
          </a:p>
        </p:txBody>
      </p:sp>
      <p:sp>
        <p:nvSpPr>
          <p:cNvPr id="5" name="Shape 3"/>
          <p:cNvSpPr/>
          <p:nvPr/>
        </p:nvSpPr>
        <p:spPr>
          <a:xfrm>
            <a:off x="763310" y="3629144"/>
            <a:ext cx="121920" cy="2456617"/>
          </a:xfrm>
          <a:prstGeom prst="roundRect">
            <a:avLst>
              <a:gd name="adj" fmla="val 167442"/>
            </a:avLst>
          </a:prstGeom>
          <a:solidFill>
            <a:srgbClr val="84C1FA"/>
          </a:solidFill>
          <a:ln/>
        </p:spPr>
        <p:txBody>
          <a:bodyPr/>
          <a:lstStyle/>
          <a:p>
            <a:endParaRPr lang="en-US"/>
          </a:p>
        </p:txBody>
      </p:sp>
      <p:sp>
        <p:nvSpPr>
          <p:cNvPr id="6" name="Text 4"/>
          <p:cNvSpPr/>
          <p:nvPr/>
        </p:nvSpPr>
        <p:spPr>
          <a:xfrm>
            <a:off x="1142524" y="38864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Ý tưởng đơn giản</a:t>
            </a:r>
            <a:endParaRPr lang="en-US" sz="2200" dirty="0"/>
          </a:p>
        </p:txBody>
      </p:sp>
      <p:sp>
        <p:nvSpPr>
          <p:cNvPr id="7" name="Text 5"/>
          <p:cNvSpPr/>
          <p:nvPr/>
        </p:nvSpPr>
        <p:spPr>
          <a:xfrm>
            <a:off x="1142524" y="4376857"/>
            <a:ext cx="3590330" cy="1451610"/>
          </a:xfrm>
          <a:prstGeom prst="rect">
            <a:avLst/>
          </a:prstGeom>
          <a:noFill/>
          <a:ln/>
        </p:spPr>
        <p:txBody>
          <a:bodyPr wrap="square" lIns="0" tIns="0" rIns="0" bIns="0" rtlCol="0" anchor="t"/>
          <a:lstStyle/>
          <a:p>
            <a:pPr marL="0" indent="0" algn="just">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Thay vì tìm một ô trống khác, tất cả các phần tử băm về cùng một ô sẽ được lưu trữ trong một danh sách tại ô đó.</a:t>
            </a:r>
            <a:endParaRPr lang="en-US" sz="1750" dirty="0"/>
          </a:p>
        </p:txBody>
      </p:sp>
      <p:sp>
        <p:nvSpPr>
          <p:cNvPr id="8" name="Shape 6"/>
          <p:cNvSpPr/>
          <p:nvPr/>
        </p:nvSpPr>
        <p:spPr>
          <a:xfrm>
            <a:off x="5216962" y="3629144"/>
            <a:ext cx="4196358" cy="2456617"/>
          </a:xfrm>
          <a:prstGeom prst="roundRect">
            <a:avLst>
              <a:gd name="adj" fmla="val 5956"/>
            </a:avLst>
          </a:prstGeom>
          <a:solidFill>
            <a:srgbClr val="FFFFFF"/>
          </a:solidFill>
          <a:ln w="30480">
            <a:solidFill>
              <a:srgbClr val="B4CCE3"/>
            </a:solidFill>
            <a:prstDash val="solid"/>
          </a:ln>
        </p:spPr>
        <p:txBody>
          <a:bodyPr/>
          <a:lstStyle/>
          <a:p>
            <a:endParaRPr lang="en-US"/>
          </a:p>
        </p:txBody>
      </p:sp>
      <p:sp>
        <p:nvSpPr>
          <p:cNvPr id="9" name="Shape 7"/>
          <p:cNvSpPr/>
          <p:nvPr/>
        </p:nvSpPr>
        <p:spPr>
          <a:xfrm>
            <a:off x="5186482" y="3629144"/>
            <a:ext cx="121920" cy="2456617"/>
          </a:xfrm>
          <a:prstGeom prst="roundRect">
            <a:avLst>
              <a:gd name="adj" fmla="val 167442"/>
            </a:avLst>
          </a:prstGeom>
          <a:solidFill>
            <a:srgbClr val="84C1FA"/>
          </a:solidFill>
          <a:ln/>
        </p:spPr>
        <p:txBody>
          <a:bodyPr/>
          <a:lstStyle/>
          <a:p>
            <a:endParaRPr lang="en-US"/>
          </a:p>
        </p:txBody>
      </p:sp>
      <p:sp>
        <p:nvSpPr>
          <p:cNvPr id="10" name="Text 8"/>
          <p:cNvSpPr/>
          <p:nvPr/>
        </p:nvSpPr>
        <p:spPr>
          <a:xfrm>
            <a:off x="5565696" y="38864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Giống như tủ đồ</a:t>
            </a:r>
            <a:endParaRPr lang="en-US" sz="2200" dirty="0"/>
          </a:p>
        </p:txBody>
      </p:sp>
      <p:sp>
        <p:nvSpPr>
          <p:cNvPr id="11" name="Text 9"/>
          <p:cNvSpPr/>
          <p:nvPr/>
        </p:nvSpPr>
        <p:spPr>
          <a:xfrm>
            <a:off x="5565696" y="4376857"/>
            <a:ext cx="3590330" cy="1451610"/>
          </a:xfrm>
          <a:prstGeom prst="rect">
            <a:avLst/>
          </a:prstGeom>
          <a:noFill/>
          <a:ln/>
        </p:spPr>
        <p:txBody>
          <a:bodyPr wrap="square" lIns="0" tIns="0" rIns="0" bIns="0" rtlCol="0" anchor="t"/>
          <a:lstStyle/>
          <a:p>
            <a:pPr marL="0" indent="0" algn="just">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Hãy tưởng tượng một chiếc tủ có nhiều ngăn kéo. Khi có nhiều món đồ cần cho vào ngăn số 1, bạn cứ xếp chồng chúng vào đó.</a:t>
            </a:r>
            <a:endParaRPr lang="en-US" sz="1750" dirty="0"/>
          </a:p>
        </p:txBody>
      </p:sp>
      <p:sp>
        <p:nvSpPr>
          <p:cNvPr id="12" name="Shape 10"/>
          <p:cNvSpPr/>
          <p:nvPr/>
        </p:nvSpPr>
        <p:spPr>
          <a:xfrm>
            <a:off x="9640133" y="3629144"/>
            <a:ext cx="4196358" cy="2456617"/>
          </a:xfrm>
          <a:prstGeom prst="roundRect">
            <a:avLst>
              <a:gd name="adj" fmla="val 5956"/>
            </a:avLst>
          </a:prstGeom>
          <a:solidFill>
            <a:srgbClr val="FFFFFF"/>
          </a:solidFill>
          <a:ln w="30480">
            <a:solidFill>
              <a:srgbClr val="B4CCE3"/>
            </a:solidFill>
            <a:prstDash val="solid"/>
          </a:ln>
        </p:spPr>
        <p:txBody>
          <a:bodyPr/>
          <a:lstStyle/>
          <a:p>
            <a:endParaRPr lang="en-US"/>
          </a:p>
        </p:txBody>
      </p:sp>
      <p:sp>
        <p:nvSpPr>
          <p:cNvPr id="13" name="Shape 11"/>
          <p:cNvSpPr/>
          <p:nvPr/>
        </p:nvSpPr>
        <p:spPr>
          <a:xfrm>
            <a:off x="9609653" y="3629144"/>
            <a:ext cx="121920" cy="2456617"/>
          </a:xfrm>
          <a:prstGeom prst="roundRect">
            <a:avLst>
              <a:gd name="adj" fmla="val 167442"/>
            </a:avLst>
          </a:prstGeom>
          <a:solidFill>
            <a:srgbClr val="84C1FA"/>
          </a:solidFill>
          <a:ln/>
        </p:spPr>
        <p:txBody>
          <a:bodyPr/>
          <a:lstStyle/>
          <a:p>
            <a:endParaRPr lang="en-US"/>
          </a:p>
        </p:txBody>
      </p:sp>
      <p:sp>
        <p:nvSpPr>
          <p:cNvPr id="14" name="Text 12"/>
          <p:cNvSpPr/>
          <p:nvPr/>
        </p:nvSpPr>
        <p:spPr>
          <a:xfrm>
            <a:off x="9988868" y="38864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Danh sách liên kết</a:t>
            </a:r>
            <a:endParaRPr lang="en-US" sz="2200" dirty="0"/>
          </a:p>
        </p:txBody>
      </p:sp>
      <p:sp>
        <p:nvSpPr>
          <p:cNvPr id="15" name="Text 13"/>
          <p:cNvSpPr/>
          <p:nvPr/>
        </p:nvSpPr>
        <p:spPr>
          <a:xfrm>
            <a:off x="9988868" y="4376857"/>
            <a:ext cx="3590330" cy="1451610"/>
          </a:xfrm>
          <a:prstGeom prst="rect">
            <a:avLst/>
          </a:prstGeom>
          <a:noFill/>
          <a:ln/>
        </p:spPr>
        <p:txBody>
          <a:bodyPr wrap="square" lIns="0" tIns="0" rIns="0" bIns="0" rtlCol="0" anchor="t"/>
          <a:lstStyle/>
          <a:p>
            <a:pPr marL="0" indent="0" algn="just">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Mỗi "ngăn kéo" (bucket) này có thể chứa một Danh sách liên kết (Linked List), nơi mỗi phần tử mới được thêm vào cuối danh sách.</a:t>
            </a:r>
            <a:endParaRPr lang="en-US" sz="1750" dirty="0"/>
          </a:p>
        </p:txBody>
      </p:sp>
      <p:sp>
        <p:nvSpPr>
          <p:cNvPr id="16" name="Text 14"/>
          <p:cNvSpPr/>
          <p:nvPr/>
        </p:nvSpPr>
        <p:spPr>
          <a:xfrm>
            <a:off x="793790" y="6340912"/>
            <a:ext cx="13042821" cy="748665"/>
          </a:xfrm>
          <a:prstGeom prst="rect">
            <a:avLst/>
          </a:prstGeom>
          <a:noFill/>
          <a:ln/>
        </p:spPr>
        <p:txBody>
          <a:bodyPr wrap="square" lIns="0" tIns="0" rIns="0" bIns="0" rtlCol="0" anchor="t"/>
          <a:lstStyle/>
          <a:p>
            <a:pPr marL="0" indent="0" algn="just">
              <a:lnSpc>
                <a:spcPts val="2850"/>
              </a:lnSpc>
              <a:buNone/>
            </a:pPr>
            <a:r>
              <a:rPr lang="en-US" sz="2000" dirty="0">
                <a:solidFill>
                  <a:srgbClr val="0540AD"/>
                </a:solidFill>
                <a:latin typeface="Instrument Sans Medium" pitchFamily="34" charset="0"/>
                <a:ea typeface="Instrument Sans Medium" pitchFamily="34" charset="-122"/>
                <a:cs typeface="Instrument Sans Medium" pitchFamily="34" charset="-120"/>
              </a:rPr>
              <a:t>Nguyên lý:</a:t>
            </a:r>
            <a:r>
              <a:rPr lang="en-US" sz="2000" dirty="0">
                <a:solidFill>
                  <a:srgbClr val="1E3063"/>
                </a:solidFill>
                <a:latin typeface="Instrument Sans Medium" pitchFamily="34" charset="0"/>
                <a:ea typeface="Instrument Sans Medium" pitchFamily="34" charset="-122"/>
                <a:cs typeface="Instrument Sans Medium" pitchFamily="34" charset="-120"/>
              </a:rPr>
              <a:t> Bảng băm là một mảng các bucket. Mỗi bucket chứa một danh sách (có thể là Danh sách liên kết hoặc Vector). Khi chèn một phần tử mới, ta tính vị trí bằng hàm băm </a:t>
            </a:r>
            <a:r>
              <a:rPr lang="en-US" sz="2000" dirty="0">
                <a:solidFill>
                  <a:srgbClr val="1E3063"/>
                </a:solidFill>
                <a:highlight>
                  <a:srgbClr val="F2F2F2"/>
                </a:highlight>
                <a:latin typeface="Consolas" pitchFamily="34" charset="0"/>
                <a:ea typeface="Consolas" pitchFamily="34" charset="-122"/>
                <a:cs typeface="Consolas" pitchFamily="34" charset="-120"/>
              </a:rPr>
              <a:t>h(key) = key % m</a:t>
            </a:r>
            <a:r>
              <a:rPr lang="en-US" sz="2000" dirty="0">
                <a:solidFill>
                  <a:srgbClr val="1E3063"/>
                </a:solidFill>
                <a:latin typeface="Instrument Sans Medium" pitchFamily="34" charset="0"/>
                <a:ea typeface="Instrument Sans Medium" pitchFamily="34" charset="-122"/>
                <a:cs typeface="Instrument Sans Medium" pitchFamily="34" charset="-120"/>
              </a:rPr>
              <a:t> và thêm phần tử đó vào cuối danh sách tương ứng.</a:t>
            </a:r>
            <a:endParaRPr lang="en-US" sz="2000" dirty="0"/>
          </a:p>
        </p:txBody>
      </p:sp>
      <p:sp>
        <p:nvSpPr>
          <p:cNvPr id="17" name="Rectangle 16">
            <a:extLst>
              <a:ext uri="{FF2B5EF4-FFF2-40B4-BE49-F238E27FC236}">
                <a16:creationId xmlns:a16="http://schemas.microsoft.com/office/drawing/2014/main" id="{7665018B-A6A1-290B-AFE5-9B67D39F0E5C}"/>
              </a:ext>
            </a:extLst>
          </p:cNvPr>
          <p:cNvSpPr/>
          <p:nvPr/>
        </p:nvSpPr>
        <p:spPr>
          <a:xfrm>
            <a:off x="12687300" y="7594600"/>
            <a:ext cx="1943100" cy="635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05178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2075" y="323731"/>
            <a:ext cx="3347323" cy="367903"/>
          </a:xfrm>
          <a:prstGeom prst="rect">
            <a:avLst/>
          </a:prstGeom>
          <a:noFill/>
          <a:ln/>
        </p:spPr>
        <p:txBody>
          <a:bodyPr wrap="none" lIns="0" tIns="0" rIns="0" bIns="0" rtlCol="0" anchor="t"/>
          <a:lstStyle/>
          <a:p>
            <a:pPr marL="0" indent="0" algn="l">
              <a:lnSpc>
                <a:spcPts val="285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Ví dụ Minh họa Chaining</a:t>
            </a:r>
            <a:endParaRPr lang="en-US" sz="2400" dirty="0"/>
          </a:p>
        </p:txBody>
      </p:sp>
      <p:sp>
        <p:nvSpPr>
          <p:cNvPr id="3" name="Text 1"/>
          <p:cNvSpPr/>
          <p:nvPr/>
        </p:nvSpPr>
        <p:spPr>
          <a:xfrm>
            <a:off x="412075" y="985837"/>
            <a:ext cx="1471732" cy="183952"/>
          </a:xfrm>
          <a:prstGeom prst="rect">
            <a:avLst/>
          </a:prstGeom>
          <a:noFill/>
          <a:ln/>
        </p:spPr>
        <p:txBody>
          <a:bodyPr wrap="none" lIns="0" tIns="0" rIns="0" bIns="0" rtlCol="0" anchor="t"/>
          <a:lstStyle/>
          <a:p>
            <a:pPr marL="0" indent="0" algn="l">
              <a:lnSpc>
                <a:spcPts val="140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Thiết lập</a:t>
            </a:r>
            <a:endParaRPr lang="en-US" sz="2400" dirty="0"/>
          </a:p>
        </p:txBody>
      </p:sp>
      <p:sp>
        <p:nvSpPr>
          <p:cNvPr id="4" name="Text 2"/>
          <p:cNvSpPr/>
          <p:nvPr/>
        </p:nvSpPr>
        <p:spPr>
          <a:xfrm>
            <a:off x="379620" y="1390545"/>
            <a:ext cx="6759535" cy="18835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latin typeface="Instrument Sans Medium" pitchFamily="34" charset="0"/>
                <a:ea typeface="Instrument Sans Medium" pitchFamily="34" charset="-122"/>
                <a:cs typeface="Instrument Sans Medium" pitchFamily="34" charset="-120"/>
              </a:rPr>
              <a:t>Bảng băm có 7 ô (từ 0 đến 6)</a:t>
            </a:r>
            <a:endParaRPr lang="en-US" sz="2000" dirty="0"/>
          </a:p>
        </p:txBody>
      </p:sp>
      <p:sp>
        <p:nvSpPr>
          <p:cNvPr id="5" name="Text 3"/>
          <p:cNvSpPr/>
          <p:nvPr/>
        </p:nvSpPr>
        <p:spPr>
          <a:xfrm>
            <a:off x="379621" y="1813668"/>
            <a:ext cx="6759535" cy="19597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latin typeface="Instrument Sans Medium" pitchFamily="34" charset="0"/>
                <a:ea typeface="Instrument Sans Medium" pitchFamily="34" charset="-122"/>
                <a:cs typeface="Instrument Sans Medium" pitchFamily="34" charset="-120"/>
              </a:rPr>
              <a:t>Hàm băm: </a:t>
            </a:r>
            <a:r>
              <a:rPr lang="en-US" sz="2000" dirty="0">
                <a:solidFill>
                  <a:srgbClr val="1E3063"/>
                </a:solidFill>
                <a:highlight>
                  <a:srgbClr val="F2F2F2"/>
                </a:highlight>
                <a:latin typeface="Consolas" pitchFamily="34" charset="0"/>
                <a:ea typeface="Consolas" pitchFamily="34" charset="-122"/>
                <a:cs typeface="Consolas" pitchFamily="34" charset="-120"/>
              </a:rPr>
              <a:t>h(key) = key % 7</a:t>
            </a:r>
            <a:endParaRPr lang="en-US" sz="2000" dirty="0"/>
          </a:p>
        </p:txBody>
      </p:sp>
      <p:sp>
        <p:nvSpPr>
          <p:cNvPr id="6" name="Text 4"/>
          <p:cNvSpPr/>
          <p:nvPr/>
        </p:nvSpPr>
        <p:spPr>
          <a:xfrm>
            <a:off x="379622" y="2216974"/>
            <a:ext cx="6759535" cy="18835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latin typeface="Instrument Sans Medium" pitchFamily="34" charset="0"/>
                <a:ea typeface="Instrument Sans Medium" pitchFamily="34" charset="-122"/>
                <a:cs typeface="Instrument Sans Medium" pitchFamily="34" charset="-120"/>
              </a:rPr>
              <a:t>Các khóa cần chèn: 12, 22, 32, 19</a:t>
            </a:r>
            <a:endParaRPr lang="en-US" sz="2000" dirty="0"/>
          </a:p>
        </p:txBody>
      </p:sp>
      <p:sp>
        <p:nvSpPr>
          <p:cNvPr id="7" name="Text 5"/>
          <p:cNvSpPr/>
          <p:nvPr/>
        </p:nvSpPr>
        <p:spPr>
          <a:xfrm>
            <a:off x="379630" y="2562246"/>
            <a:ext cx="1471732" cy="183952"/>
          </a:xfrm>
          <a:prstGeom prst="rect">
            <a:avLst/>
          </a:prstGeom>
          <a:noFill/>
          <a:ln/>
        </p:spPr>
        <p:txBody>
          <a:bodyPr wrap="none" lIns="0" tIns="0" rIns="0" bIns="0" rtlCol="0" anchor="t"/>
          <a:lstStyle/>
          <a:p>
            <a:pPr marL="0" indent="0" algn="l">
              <a:lnSpc>
                <a:spcPts val="1400"/>
              </a:lnSpc>
              <a:buNone/>
            </a:pPr>
            <a:r>
              <a:rPr lang="en-US" sz="2000" dirty="0">
                <a:solidFill>
                  <a:srgbClr val="091C53"/>
                </a:solidFill>
                <a:latin typeface="Instrument Sans Semi Bold" pitchFamily="34" charset="0"/>
                <a:ea typeface="Instrument Sans Semi Bold" pitchFamily="34" charset="-122"/>
                <a:cs typeface="Instrument Sans Semi Bold" pitchFamily="34" charset="-120"/>
              </a:rPr>
              <a:t>Tính toán vị trí</a:t>
            </a:r>
            <a:endParaRPr lang="en-US" sz="2000" dirty="0"/>
          </a:p>
        </p:txBody>
      </p:sp>
      <p:sp>
        <p:nvSpPr>
          <p:cNvPr id="8" name="Text 6"/>
          <p:cNvSpPr/>
          <p:nvPr/>
        </p:nvSpPr>
        <p:spPr>
          <a:xfrm>
            <a:off x="379623" y="2971888"/>
            <a:ext cx="6759535" cy="19597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highlight>
                  <a:srgbClr val="F2F2F2"/>
                </a:highlight>
                <a:latin typeface="Consolas" pitchFamily="34" charset="0"/>
                <a:ea typeface="Consolas" pitchFamily="34" charset="-122"/>
                <a:cs typeface="Consolas" pitchFamily="34" charset="-120"/>
              </a:rPr>
              <a:t>12 % 7 = 5</a:t>
            </a:r>
            <a:r>
              <a:rPr lang="en-US" sz="2000" dirty="0">
                <a:solidFill>
                  <a:srgbClr val="1E3063"/>
                </a:solidFill>
                <a:latin typeface="Instrument Sans Medium" pitchFamily="34" charset="0"/>
                <a:ea typeface="Instrument Sans Medium" pitchFamily="34" charset="-122"/>
                <a:cs typeface="Instrument Sans Medium" pitchFamily="34" charset="-120"/>
              </a:rPr>
              <a:t> -&gt; Ô số 5</a:t>
            </a:r>
            <a:endParaRPr lang="en-US" sz="2000" dirty="0"/>
          </a:p>
        </p:txBody>
      </p:sp>
      <p:sp>
        <p:nvSpPr>
          <p:cNvPr id="9" name="Text 7"/>
          <p:cNvSpPr/>
          <p:nvPr/>
        </p:nvSpPr>
        <p:spPr>
          <a:xfrm>
            <a:off x="379624" y="3377921"/>
            <a:ext cx="6759535" cy="19597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highlight>
                  <a:srgbClr val="F2F2F2"/>
                </a:highlight>
                <a:latin typeface="Consolas" pitchFamily="34" charset="0"/>
                <a:ea typeface="Consolas" pitchFamily="34" charset="-122"/>
                <a:cs typeface="Consolas" pitchFamily="34" charset="-120"/>
              </a:rPr>
              <a:t>22 % 7 = 1</a:t>
            </a:r>
            <a:r>
              <a:rPr lang="en-US" sz="2000" dirty="0">
                <a:solidFill>
                  <a:srgbClr val="1E3063"/>
                </a:solidFill>
                <a:latin typeface="Instrument Sans Medium" pitchFamily="34" charset="0"/>
                <a:ea typeface="Instrument Sans Medium" pitchFamily="34" charset="-122"/>
                <a:cs typeface="Instrument Sans Medium" pitchFamily="34" charset="-120"/>
              </a:rPr>
              <a:t> -&gt; Ô số 1</a:t>
            </a:r>
            <a:endParaRPr lang="en-US" sz="2000" dirty="0"/>
          </a:p>
        </p:txBody>
      </p:sp>
      <p:sp>
        <p:nvSpPr>
          <p:cNvPr id="10" name="Text 8"/>
          <p:cNvSpPr/>
          <p:nvPr/>
        </p:nvSpPr>
        <p:spPr>
          <a:xfrm>
            <a:off x="379630" y="3811744"/>
            <a:ext cx="6759535" cy="19597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highlight>
                  <a:srgbClr val="F2F2F2"/>
                </a:highlight>
                <a:latin typeface="Consolas" pitchFamily="34" charset="0"/>
                <a:ea typeface="Consolas" pitchFamily="34" charset="-122"/>
                <a:cs typeface="Consolas" pitchFamily="34" charset="-120"/>
              </a:rPr>
              <a:t>32 % 7 = 4</a:t>
            </a:r>
            <a:r>
              <a:rPr lang="en-US" sz="2000" dirty="0">
                <a:solidFill>
                  <a:srgbClr val="1E3063"/>
                </a:solidFill>
                <a:latin typeface="Instrument Sans Medium" pitchFamily="34" charset="0"/>
                <a:ea typeface="Instrument Sans Medium" pitchFamily="34" charset="-122"/>
                <a:cs typeface="Instrument Sans Medium" pitchFamily="34" charset="-120"/>
              </a:rPr>
              <a:t> -&gt; Ô số 4</a:t>
            </a:r>
            <a:endParaRPr lang="en-US" sz="2000" dirty="0"/>
          </a:p>
        </p:txBody>
      </p:sp>
      <p:sp>
        <p:nvSpPr>
          <p:cNvPr id="11" name="Text 9"/>
          <p:cNvSpPr/>
          <p:nvPr/>
        </p:nvSpPr>
        <p:spPr>
          <a:xfrm>
            <a:off x="379625" y="4294436"/>
            <a:ext cx="6759535" cy="19597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highlight>
                  <a:srgbClr val="F2F2F2"/>
                </a:highlight>
                <a:latin typeface="Consolas" pitchFamily="34" charset="0"/>
                <a:ea typeface="Consolas" pitchFamily="34" charset="-122"/>
                <a:cs typeface="Consolas" pitchFamily="34" charset="-120"/>
              </a:rPr>
              <a:t>19 % 7 = 5</a:t>
            </a:r>
            <a:r>
              <a:rPr lang="en-US" sz="2000" dirty="0">
                <a:solidFill>
                  <a:srgbClr val="1E3063"/>
                </a:solidFill>
                <a:latin typeface="Instrument Sans Medium" pitchFamily="34" charset="0"/>
                <a:ea typeface="Instrument Sans Medium" pitchFamily="34" charset="-122"/>
                <a:cs typeface="Instrument Sans Medium" pitchFamily="34" charset="-120"/>
              </a:rPr>
              <a:t> -&gt; Ô số 5 (Xung đột với 12!)</a:t>
            </a:r>
            <a:endParaRPr lang="en-US" sz="2000" dirty="0"/>
          </a:p>
        </p:txBody>
      </p:sp>
      <p:sp>
        <p:nvSpPr>
          <p:cNvPr id="19" name="Text 16"/>
          <p:cNvSpPr/>
          <p:nvPr/>
        </p:nvSpPr>
        <p:spPr>
          <a:xfrm>
            <a:off x="7139165" y="4598113"/>
            <a:ext cx="6759535" cy="18835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latin typeface="Instrument Sans Medium" pitchFamily="34" charset="0"/>
                <a:ea typeface="Instrument Sans Medium" pitchFamily="34" charset="-122"/>
                <a:cs typeface="Instrument Sans Medium" pitchFamily="34" charset="-120"/>
              </a:rPr>
              <a:t>Ô 5: </a:t>
            </a:r>
            <a:r>
              <a:rPr lang="en-US" sz="2000" dirty="0">
                <a:solidFill>
                  <a:srgbClr val="FF5000"/>
                </a:solidFill>
                <a:latin typeface="Instrument Sans Medium" pitchFamily="34" charset="0"/>
                <a:ea typeface="Instrument Sans Medium" pitchFamily="34" charset="-122"/>
                <a:cs typeface="Instrument Sans Medium" pitchFamily="34" charset="-120"/>
              </a:rPr>
              <a:t>12</a:t>
            </a:r>
            <a:r>
              <a:rPr lang="en-US" sz="2000" dirty="0">
                <a:solidFill>
                  <a:srgbClr val="1E3063"/>
                </a:solidFill>
                <a:latin typeface="Instrument Sans Medium" pitchFamily="34" charset="0"/>
                <a:ea typeface="Instrument Sans Medium" pitchFamily="34" charset="-122"/>
                <a:cs typeface="Instrument Sans Medium" pitchFamily="34" charset="-120"/>
              </a:rPr>
              <a:t> -&gt; </a:t>
            </a:r>
            <a:r>
              <a:rPr lang="en-US" sz="2000" dirty="0">
                <a:solidFill>
                  <a:srgbClr val="FF5000"/>
                </a:solidFill>
                <a:latin typeface="Instrument Sans Medium" pitchFamily="34" charset="0"/>
                <a:ea typeface="Instrument Sans Medium" pitchFamily="34" charset="-122"/>
                <a:cs typeface="Instrument Sans Medium" pitchFamily="34" charset="-120"/>
              </a:rPr>
              <a:t>19</a:t>
            </a:r>
            <a:r>
              <a:rPr lang="en-US" sz="2000" dirty="0">
                <a:solidFill>
                  <a:srgbClr val="1E3063"/>
                </a:solidFill>
                <a:latin typeface="Instrument Sans Medium" pitchFamily="34" charset="0"/>
                <a:ea typeface="Instrument Sans Medium" pitchFamily="34" charset="-122"/>
                <a:cs typeface="Instrument Sans Medium" pitchFamily="34" charset="-120"/>
              </a:rPr>
              <a:t> -&gt; null</a:t>
            </a:r>
            <a:endParaRPr lang="en-US" sz="2000" dirty="0"/>
          </a:p>
        </p:txBody>
      </p:sp>
      <p:sp>
        <p:nvSpPr>
          <p:cNvPr id="20" name="Text 17"/>
          <p:cNvSpPr/>
          <p:nvPr/>
        </p:nvSpPr>
        <p:spPr>
          <a:xfrm>
            <a:off x="7139165" y="5000138"/>
            <a:ext cx="6759535" cy="18835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latin typeface="Instrument Sans Medium" pitchFamily="34" charset="0"/>
                <a:ea typeface="Instrument Sans Medium" pitchFamily="34" charset="-122"/>
                <a:cs typeface="Instrument Sans Medium" pitchFamily="34" charset="-120"/>
              </a:rPr>
              <a:t>Ô 6: null</a:t>
            </a:r>
            <a:endParaRPr lang="en-US" sz="2000" dirty="0"/>
          </a:p>
        </p:txBody>
      </p:sp>
      <p:sp>
        <p:nvSpPr>
          <p:cNvPr id="21" name="Text 18"/>
          <p:cNvSpPr/>
          <p:nvPr/>
        </p:nvSpPr>
        <p:spPr>
          <a:xfrm>
            <a:off x="412074" y="5531605"/>
            <a:ext cx="13806249" cy="188357"/>
          </a:xfrm>
          <a:prstGeom prst="rect">
            <a:avLst/>
          </a:prstGeom>
          <a:noFill/>
          <a:ln/>
        </p:spPr>
        <p:txBody>
          <a:bodyPr wrap="none" lIns="0" tIns="0" rIns="0" bIns="0" rtlCol="0" anchor="t"/>
          <a:lstStyle/>
          <a:p>
            <a:pPr marL="0" indent="0" algn="l">
              <a:lnSpc>
                <a:spcPts val="1450"/>
              </a:lnSpc>
              <a:buNone/>
            </a:pPr>
            <a:r>
              <a:rPr lang="en-US" sz="2000" dirty="0">
                <a:solidFill>
                  <a:srgbClr val="1E3063"/>
                </a:solidFill>
                <a:latin typeface="Instrument Sans Medium" pitchFamily="34" charset="0"/>
                <a:ea typeface="Instrument Sans Medium" pitchFamily="34" charset="-122"/>
                <a:cs typeface="Instrument Sans Medium" pitchFamily="34" charset="-120"/>
              </a:rPr>
              <a:t>Khi 19 băm về ô số 5 đã có 12, ta chỉ cần thêm 19 vào cuối danh sách liên kết tại ô 5.</a:t>
            </a:r>
            <a:endParaRPr lang="en-US" sz="2000" dirty="0"/>
          </a:p>
        </p:txBody>
      </p:sp>
      <p:sp>
        <p:nvSpPr>
          <p:cNvPr id="22" name="Text 10">
            <a:extLst>
              <a:ext uri="{FF2B5EF4-FFF2-40B4-BE49-F238E27FC236}">
                <a16:creationId xmlns:a16="http://schemas.microsoft.com/office/drawing/2014/main" id="{AF57F488-8AFC-806D-4254-BB892895B4EB}"/>
              </a:ext>
            </a:extLst>
          </p:cNvPr>
          <p:cNvSpPr/>
          <p:nvPr/>
        </p:nvSpPr>
        <p:spPr>
          <a:xfrm>
            <a:off x="7139165" y="2581184"/>
            <a:ext cx="1471732" cy="183952"/>
          </a:xfrm>
          <a:prstGeom prst="rect">
            <a:avLst/>
          </a:prstGeom>
          <a:noFill/>
          <a:ln/>
        </p:spPr>
        <p:txBody>
          <a:bodyPr wrap="none" lIns="0" tIns="0" rIns="0" bIns="0" rtlCol="0" anchor="t"/>
          <a:lstStyle/>
          <a:p>
            <a:pPr marL="0" indent="0" algn="l">
              <a:lnSpc>
                <a:spcPts val="140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Kết quả Bảng Băm</a:t>
            </a:r>
            <a:endParaRPr lang="en-US" sz="2400" dirty="0"/>
          </a:p>
        </p:txBody>
      </p:sp>
      <p:sp>
        <p:nvSpPr>
          <p:cNvPr id="23" name="Text 11">
            <a:extLst>
              <a:ext uri="{FF2B5EF4-FFF2-40B4-BE49-F238E27FC236}">
                <a16:creationId xmlns:a16="http://schemas.microsoft.com/office/drawing/2014/main" id="{A5C16EF4-6CCB-771A-F388-F1090D71CE36}"/>
              </a:ext>
            </a:extLst>
          </p:cNvPr>
          <p:cNvSpPr/>
          <p:nvPr/>
        </p:nvSpPr>
        <p:spPr>
          <a:xfrm>
            <a:off x="7139154" y="2874103"/>
            <a:ext cx="6759535" cy="18835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latin typeface="Instrument Sans Medium" pitchFamily="34" charset="0"/>
                <a:ea typeface="Instrument Sans Medium" pitchFamily="34" charset="-122"/>
                <a:cs typeface="Instrument Sans Medium" pitchFamily="34" charset="-120"/>
              </a:rPr>
              <a:t>Ô 0: null</a:t>
            </a:r>
            <a:endParaRPr lang="en-US" sz="2000" dirty="0"/>
          </a:p>
        </p:txBody>
      </p:sp>
      <p:sp>
        <p:nvSpPr>
          <p:cNvPr id="24" name="Text 12">
            <a:extLst>
              <a:ext uri="{FF2B5EF4-FFF2-40B4-BE49-F238E27FC236}">
                <a16:creationId xmlns:a16="http://schemas.microsoft.com/office/drawing/2014/main" id="{4B5D3B10-DA6D-7C2B-4FCE-86DE41EFDB98}"/>
              </a:ext>
            </a:extLst>
          </p:cNvPr>
          <p:cNvSpPr/>
          <p:nvPr/>
        </p:nvSpPr>
        <p:spPr>
          <a:xfrm>
            <a:off x="7139165" y="3201626"/>
            <a:ext cx="6759535" cy="18835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latin typeface="Instrument Sans Medium" pitchFamily="34" charset="0"/>
                <a:ea typeface="Instrument Sans Medium" pitchFamily="34" charset="-122"/>
                <a:cs typeface="Instrument Sans Medium" pitchFamily="34" charset="-120"/>
              </a:rPr>
              <a:t>Ô 1: </a:t>
            </a:r>
            <a:r>
              <a:rPr lang="en-US" sz="2000" dirty="0">
                <a:solidFill>
                  <a:srgbClr val="FF5000"/>
                </a:solidFill>
                <a:latin typeface="Instrument Sans Medium" pitchFamily="34" charset="0"/>
                <a:ea typeface="Instrument Sans Medium" pitchFamily="34" charset="-122"/>
                <a:cs typeface="Instrument Sans Medium" pitchFamily="34" charset="-120"/>
              </a:rPr>
              <a:t>22</a:t>
            </a:r>
            <a:r>
              <a:rPr lang="en-US" sz="2000" dirty="0">
                <a:solidFill>
                  <a:srgbClr val="1E3063"/>
                </a:solidFill>
                <a:latin typeface="Instrument Sans Medium" pitchFamily="34" charset="0"/>
                <a:ea typeface="Instrument Sans Medium" pitchFamily="34" charset="-122"/>
                <a:cs typeface="Instrument Sans Medium" pitchFamily="34" charset="-120"/>
              </a:rPr>
              <a:t> -&gt; null</a:t>
            </a:r>
            <a:endParaRPr lang="en-US" sz="2000" dirty="0"/>
          </a:p>
        </p:txBody>
      </p:sp>
      <p:sp>
        <p:nvSpPr>
          <p:cNvPr id="25" name="Text 13">
            <a:extLst>
              <a:ext uri="{FF2B5EF4-FFF2-40B4-BE49-F238E27FC236}">
                <a16:creationId xmlns:a16="http://schemas.microsoft.com/office/drawing/2014/main" id="{8B4A4FE5-0BE8-DC68-5364-8189D271D43B}"/>
              </a:ext>
            </a:extLst>
          </p:cNvPr>
          <p:cNvSpPr/>
          <p:nvPr/>
        </p:nvSpPr>
        <p:spPr>
          <a:xfrm>
            <a:off x="7139165" y="3517087"/>
            <a:ext cx="6759535" cy="18835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latin typeface="Instrument Sans Medium" pitchFamily="34" charset="0"/>
                <a:ea typeface="Instrument Sans Medium" pitchFamily="34" charset="-122"/>
                <a:cs typeface="Instrument Sans Medium" pitchFamily="34" charset="-120"/>
              </a:rPr>
              <a:t>Ô 2: null</a:t>
            </a:r>
            <a:endParaRPr lang="en-US" sz="2000" dirty="0"/>
          </a:p>
        </p:txBody>
      </p:sp>
      <p:sp>
        <p:nvSpPr>
          <p:cNvPr id="26" name="Text 14">
            <a:extLst>
              <a:ext uri="{FF2B5EF4-FFF2-40B4-BE49-F238E27FC236}">
                <a16:creationId xmlns:a16="http://schemas.microsoft.com/office/drawing/2014/main" id="{54E6780C-22F8-D9EC-6133-9BD5DE35577D}"/>
              </a:ext>
            </a:extLst>
          </p:cNvPr>
          <p:cNvSpPr/>
          <p:nvPr/>
        </p:nvSpPr>
        <p:spPr>
          <a:xfrm>
            <a:off x="7139165" y="3824726"/>
            <a:ext cx="6759535" cy="18835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latin typeface="Instrument Sans Medium" pitchFamily="34" charset="0"/>
                <a:ea typeface="Instrument Sans Medium" pitchFamily="34" charset="-122"/>
                <a:cs typeface="Instrument Sans Medium" pitchFamily="34" charset="-120"/>
              </a:rPr>
              <a:t>Ô 3: null</a:t>
            </a:r>
            <a:endParaRPr lang="en-US" sz="2000" dirty="0"/>
          </a:p>
        </p:txBody>
      </p:sp>
      <p:sp>
        <p:nvSpPr>
          <p:cNvPr id="27" name="Text 15">
            <a:extLst>
              <a:ext uri="{FF2B5EF4-FFF2-40B4-BE49-F238E27FC236}">
                <a16:creationId xmlns:a16="http://schemas.microsoft.com/office/drawing/2014/main" id="{85DBFD3E-1334-35E4-EBA6-CE846B87D003}"/>
              </a:ext>
            </a:extLst>
          </p:cNvPr>
          <p:cNvSpPr/>
          <p:nvPr/>
        </p:nvSpPr>
        <p:spPr>
          <a:xfrm>
            <a:off x="7139165" y="4205204"/>
            <a:ext cx="6759535" cy="188357"/>
          </a:xfrm>
          <a:prstGeom prst="rect">
            <a:avLst/>
          </a:prstGeom>
          <a:noFill/>
          <a:ln/>
        </p:spPr>
        <p:txBody>
          <a:bodyPr wrap="none" lIns="0" tIns="0" rIns="0" bIns="0" rtlCol="0" anchor="t"/>
          <a:lstStyle/>
          <a:p>
            <a:pPr marL="342900" indent="-342900" algn="l">
              <a:lnSpc>
                <a:spcPts val="1450"/>
              </a:lnSpc>
              <a:buSzPct val="100000"/>
              <a:buChar char="•"/>
            </a:pPr>
            <a:r>
              <a:rPr lang="en-US" sz="2000" dirty="0">
                <a:solidFill>
                  <a:srgbClr val="1E3063"/>
                </a:solidFill>
                <a:latin typeface="Instrument Sans Medium" pitchFamily="34" charset="0"/>
                <a:ea typeface="Instrument Sans Medium" pitchFamily="34" charset="-122"/>
                <a:cs typeface="Instrument Sans Medium" pitchFamily="34" charset="-120"/>
              </a:rPr>
              <a:t>Ô 4: </a:t>
            </a:r>
            <a:r>
              <a:rPr lang="en-US" sz="2000" dirty="0">
                <a:solidFill>
                  <a:srgbClr val="FF5000"/>
                </a:solidFill>
                <a:latin typeface="Instrument Sans Medium" pitchFamily="34" charset="0"/>
                <a:ea typeface="Instrument Sans Medium" pitchFamily="34" charset="-122"/>
                <a:cs typeface="Instrument Sans Medium" pitchFamily="34" charset="-120"/>
              </a:rPr>
              <a:t>32</a:t>
            </a:r>
            <a:r>
              <a:rPr lang="en-US" sz="2000" dirty="0">
                <a:solidFill>
                  <a:srgbClr val="1E3063"/>
                </a:solidFill>
                <a:latin typeface="Instrument Sans Medium" pitchFamily="34" charset="0"/>
                <a:ea typeface="Instrument Sans Medium" pitchFamily="34" charset="-122"/>
                <a:cs typeface="Instrument Sans Medium" pitchFamily="34" charset="-120"/>
              </a:rPr>
              <a:t> -&gt; null</a:t>
            </a:r>
            <a:endParaRPr lang="en-US" sz="2000" dirty="0"/>
          </a:p>
        </p:txBody>
      </p:sp>
      <p:sp>
        <p:nvSpPr>
          <p:cNvPr id="28" name="Arrow: Right 27">
            <a:extLst>
              <a:ext uri="{FF2B5EF4-FFF2-40B4-BE49-F238E27FC236}">
                <a16:creationId xmlns:a16="http://schemas.microsoft.com/office/drawing/2014/main" id="{56948B1B-54BB-91D6-2210-3D02A9005CC2}"/>
              </a:ext>
            </a:extLst>
          </p:cNvPr>
          <p:cNvSpPr/>
          <p:nvPr/>
        </p:nvSpPr>
        <p:spPr>
          <a:xfrm>
            <a:off x="5270643" y="3327659"/>
            <a:ext cx="1273996" cy="4204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EB2933E-29CA-88DE-3DBA-4C18D35B98C8}"/>
              </a:ext>
            </a:extLst>
          </p:cNvPr>
          <p:cNvSpPr/>
          <p:nvPr/>
        </p:nvSpPr>
        <p:spPr>
          <a:xfrm>
            <a:off x="12763500" y="7658100"/>
            <a:ext cx="1866900" cy="571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33405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82955" y="615196"/>
            <a:ext cx="8344733" cy="699135"/>
          </a:xfrm>
          <a:prstGeom prst="rect">
            <a:avLst/>
          </a:prstGeom>
          <a:noFill/>
          <a:ln/>
        </p:spPr>
        <p:txBody>
          <a:bodyPr wrap="none" lIns="0" tIns="0" rIns="0" bIns="0" rtlCol="0" anchor="t"/>
          <a:lstStyle/>
          <a:p>
            <a:pPr marL="0" indent="0" algn="l">
              <a:lnSpc>
                <a:spcPts val="5500"/>
              </a:lnSpc>
              <a:buNone/>
            </a:pPr>
            <a:r>
              <a:rPr lang="en-US" sz="4400" dirty="0">
                <a:solidFill>
                  <a:srgbClr val="091C53"/>
                </a:solidFill>
                <a:latin typeface="Instrument Sans Semi Bold" pitchFamily="34" charset="0"/>
                <a:ea typeface="Instrument Sans Semi Bold" pitchFamily="34" charset="-122"/>
                <a:cs typeface="Instrument Sans Semi Bold" pitchFamily="34" charset="-120"/>
              </a:rPr>
              <a:t>Ưu và Nhược điểm của Chaining</a:t>
            </a:r>
            <a:endParaRPr lang="en-US" sz="4400" dirty="0"/>
          </a:p>
        </p:txBody>
      </p:sp>
      <p:sp>
        <p:nvSpPr>
          <p:cNvPr id="3" name="Text 1"/>
          <p:cNvSpPr/>
          <p:nvPr/>
        </p:nvSpPr>
        <p:spPr>
          <a:xfrm>
            <a:off x="782955" y="1873568"/>
            <a:ext cx="2796421" cy="349568"/>
          </a:xfrm>
          <a:prstGeom prst="rect">
            <a:avLst/>
          </a:prstGeom>
          <a:noFill/>
          <a:ln/>
        </p:spPr>
        <p:txBody>
          <a:bodyPr wrap="none" lIns="0" tIns="0" rIns="0" bIns="0" rtlCol="0" anchor="t"/>
          <a:lstStyle/>
          <a:p>
            <a:pPr marL="0" indent="0" algn="l">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Ưu điểm</a:t>
            </a:r>
            <a:endParaRPr lang="en-US" sz="2200" dirty="0"/>
          </a:p>
        </p:txBody>
      </p:sp>
      <p:sp>
        <p:nvSpPr>
          <p:cNvPr id="4" name="Shape 2"/>
          <p:cNvSpPr/>
          <p:nvPr/>
        </p:nvSpPr>
        <p:spPr>
          <a:xfrm>
            <a:off x="782955" y="2597765"/>
            <a:ext cx="111800" cy="111800"/>
          </a:xfrm>
          <a:prstGeom prst="roundRect">
            <a:avLst>
              <a:gd name="adj" fmla="val 408945"/>
            </a:avLst>
          </a:prstGeom>
          <a:solidFill>
            <a:srgbClr val="84C1FA"/>
          </a:solidFill>
          <a:ln/>
        </p:spPr>
        <p:txBody>
          <a:bodyPr/>
          <a:lstStyle/>
          <a:p>
            <a:endParaRPr lang="en-US"/>
          </a:p>
        </p:txBody>
      </p:sp>
      <p:sp>
        <p:nvSpPr>
          <p:cNvPr id="5" name="Text 3"/>
          <p:cNvSpPr/>
          <p:nvPr/>
        </p:nvSpPr>
        <p:spPr>
          <a:xfrm>
            <a:off x="1118473" y="2474714"/>
            <a:ext cx="5923836" cy="357902"/>
          </a:xfrm>
          <a:prstGeom prst="rect">
            <a:avLst/>
          </a:prstGeom>
          <a:noFill/>
          <a:ln/>
        </p:spPr>
        <p:txBody>
          <a:bodyPr wrap="none" lIns="0" tIns="0" rIns="0" bIns="0" rtlCol="0" anchor="t"/>
          <a:lstStyle/>
          <a:p>
            <a:pPr marL="0" indent="0" algn="l">
              <a:lnSpc>
                <a:spcPts val="2800"/>
              </a:lnSpc>
              <a:buNone/>
            </a:pPr>
            <a:r>
              <a:rPr lang="en-US" sz="2000" b="1" dirty="0">
                <a:solidFill>
                  <a:srgbClr val="1E3063"/>
                </a:solidFill>
                <a:latin typeface="Instrument Sans Medium" pitchFamily="34" charset="0"/>
                <a:ea typeface="Instrument Sans Medium" pitchFamily="34" charset="-122"/>
                <a:cs typeface="Instrument Sans Medium" pitchFamily="34" charset="-120"/>
              </a:rPr>
              <a:t>Dễ cài đặt:</a:t>
            </a:r>
            <a:r>
              <a:rPr lang="en-US" sz="2000" dirty="0">
                <a:solidFill>
                  <a:srgbClr val="1E3063"/>
                </a:solidFill>
                <a:latin typeface="Instrument Sans Medium" pitchFamily="34" charset="0"/>
                <a:ea typeface="Instrument Sans Medium" pitchFamily="34" charset="-122"/>
                <a:cs typeface="Instrument Sans Medium" pitchFamily="34" charset="-120"/>
              </a:rPr>
              <a:t> Cơ chế đơn giản, dễ hiểu và triển khai.</a:t>
            </a:r>
            <a:endParaRPr lang="en-US" sz="2000" dirty="0"/>
          </a:p>
        </p:txBody>
      </p:sp>
      <p:sp>
        <p:nvSpPr>
          <p:cNvPr id="6" name="Shape 4"/>
          <p:cNvSpPr/>
          <p:nvPr/>
        </p:nvSpPr>
        <p:spPr>
          <a:xfrm>
            <a:off x="782955" y="3237706"/>
            <a:ext cx="111800" cy="111800"/>
          </a:xfrm>
          <a:prstGeom prst="roundRect">
            <a:avLst>
              <a:gd name="adj" fmla="val 408945"/>
            </a:avLst>
          </a:prstGeom>
          <a:solidFill>
            <a:srgbClr val="84C1FA"/>
          </a:solidFill>
          <a:ln/>
        </p:spPr>
        <p:txBody>
          <a:bodyPr/>
          <a:lstStyle/>
          <a:p>
            <a:endParaRPr lang="en-US"/>
          </a:p>
        </p:txBody>
      </p:sp>
      <p:sp>
        <p:nvSpPr>
          <p:cNvPr id="7" name="Text 5"/>
          <p:cNvSpPr/>
          <p:nvPr/>
        </p:nvSpPr>
        <p:spPr>
          <a:xfrm>
            <a:off x="1118473" y="3112834"/>
            <a:ext cx="5923836" cy="715804"/>
          </a:xfrm>
          <a:prstGeom prst="rect">
            <a:avLst/>
          </a:prstGeom>
          <a:noFill/>
          <a:ln/>
        </p:spPr>
        <p:txBody>
          <a:bodyPr wrap="square" lIns="0" tIns="0" rIns="0" bIns="0" rtlCol="0" anchor="t"/>
          <a:lstStyle/>
          <a:p>
            <a:pPr marL="0" indent="0" algn="l">
              <a:lnSpc>
                <a:spcPts val="2800"/>
              </a:lnSpc>
              <a:buNone/>
            </a:pPr>
            <a:r>
              <a:rPr lang="en-US" sz="2000" b="1" dirty="0">
                <a:solidFill>
                  <a:srgbClr val="1E3063"/>
                </a:solidFill>
                <a:latin typeface="Instrument Sans Medium" pitchFamily="34" charset="0"/>
                <a:ea typeface="Instrument Sans Medium" pitchFamily="34" charset="-122"/>
                <a:cs typeface="Instrument Sans Medium" pitchFamily="34" charset="-120"/>
              </a:rPr>
              <a:t>Không lo Load Factor:</a:t>
            </a:r>
            <a:r>
              <a:rPr lang="en-US" sz="2000" dirty="0">
                <a:solidFill>
                  <a:srgbClr val="1E3063"/>
                </a:solidFill>
                <a:latin typeface="Instrument Sans Medium" pitchFamily="34" charset="0"/>
                <a:ea typeface="Instrument Sans Medium" pitchFamily="34" charset="-122"/>
                <a:cs typeface="Instrument Sans Medium" pitchFamily="34" charset="-120"/>
              </a:rPr>
              <a:t> Có thể lưu nhiều phần tử trong cùng một bucket mà không cần lo lắng về việc hết chỗ.</a:t>
            </a:r>
            <a:endParaRPr lang="en-US" sz="2000" dirty="0"/>
          </a:p>
        </p:txBody>
      </p:sp>
      <p:sp>
        <p:nvSpPr>
          <p:cNvPr id="8" name="Shape 6"/>
          <p:cNvSpPr/>
          <p:nvPr/>
        </p:nvSpPr>
        <p:spPr>
          <a:xfrm>
            <a:off x="782955" y="4449966"/>
            <a:ext cx="111800" cy="111800"/>
          </a:xfrm>
          <a:prstGeom prst="roundRect">
            <a:avLst>
              <a:gd name="adj" fmla="val 408945"/>
            </a:avLst>
          </a:prstGeom>
          <a:solidFill>
            <a:srgbClr val="84C1FA"/>
          </a:solidFill>
          <a:ln/>
        </p:spPr>
        <p:txBody>
          <a:bodyPr/>
          <a:lstStyle/>
          <a:p>
            <a:endParaRPr lang="en-US"/>
          </a:p>
        </p:txBody>
      </p:sp>
      <p:sp>
        <p:nvSpPr>
          <p:cNvPr id="9" name="Text 7"/>
          <p:cNvSpPr/>
          <p:nvPr/>
        </p:nvSpPr>
        <p:spPr>
          <a:xfrm>
            <a:off x="1118473" y="4313228"/>
            <a:ext cx="5923836" cy="715804"/>
          </a:xfrm>
          <a:prstGeom prst="rect">
            <a:avLst/>
          </a:prstGeom>
          <a:noFill/>
          <a:ln/>
        </p:spPr>
        <p:txBody>
          <a:bodyPr wrap="square" lIns="0" tIns="0" rIns="0" bIns="0" rtlCol="0" anchor="t"/>
          <a:lstStyle/>
          <a:p>
            <a:pPr marL="0" indent="0" algn="l">
              <a:lnSpc>
                <a:spcPts val="2800"/>
              </a:lnSpc>
              <a:buNone/>
            </a:pPr>
            <a:r>
              <a:rPr lang="en-US" sz="2000" b="1" dirty="0">
                <a:solidFill>
                  <a:srgbClr val="1E3063"/>
                </a:solidFill>
                <a:latin typeface="Instrument Sans Medium" pitchFamily="34" charset="0"/>
                <a:ea typeface="Instrument Sans Medium" pitchFamily="34" charset="-122"/>
                <a:cs typeface="Instrument Sans Medium" pitchFamily="34" charset="-120"/>
              </a:rPr>
              <a:t>Thao tác linh hoạt:</a:t>
            </a:r>
            <a:r>
              <a:rPr lang="en-US" sz="2000" dirty="0">
                <a:solidFill>
                  <a:srgbClr val="1E3063"/>
                </a:solidFill>
                <a:latin typeface="Instrument Sans Medium" pitchFamily="34" charset="0"/>
                <a:ea typeface="Instrument Sans Medium" pitchFamily="34" charset="-122"/>
                <a:cs typeface="Instrument Sans Medium" pitchFamily="34" charset="-120"/>
              </a:rPr>
              <a:t> Xóa và chèn phần tử dễ dàng vì chỉ cần thao tác trên danh sách liên kết.</a:t>
            </a:r>
            <a:endParaRPr lang="en-US" sz="2000" dirty="0"/>
          </a:p>
        </p:txBody>
      </p:sp>
      <p:sp>
        <p:nvSpPr>
          <p:cNvPr id="10" name="Text 8"/>
          <p:cNvSpPr/>
          <p:nvPr/>
        </p:nvSpPr>
        <p:spPr>
          <a:xfrm>
            <a:off x="7595711" y="1873568"/>
            <a:ext cx="2796421" cy="349568"/>
          </a:xfrm>
          <a:prstGeom prst="rect">
            <a:avLst/>
          </a:prstGeom>
          <a:noFill/>
          <a:ln/>
        </p:spPr>
        <p:txBody>
          <a:bodyPr wrap="none" lIns="0" tIns="0" rIns="0" bIns="0" rtlCol="0" anchor="t"/>
          <a:lstStyle/>
          <a:p>
            <a:pPr marL="0" indent="0" algn="l">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Nhược điểm</a:t>
            </a:r>
            <a:endParaRPr lang="en-US" sz="2200" dirty="0"/>
          </a:p>
        </p:txBody>
      </p:sp>
      <p:sp>
        <p:nvSpPr>
          <p:cNvPr id="11" name="Shape 9"/>
          <p:cNvSpPr/>
          <p:nvPr/>
        </p:nvSpPr>
        <p:spPr>
          <a:xfrm>
            <a:off x="7595711" y="2597765"/>
            <a:ext cx="111800" cy="111800"/>
          </a:xfrm>
          <a:prstGeom prst="roundRect">
            <a:avLst>
              <a:gd name="adj" fmla="val 408945"/>
            </a:avLst>
          </a:prstGeom>
          <a:solidFill>
            <a:srgbClr val="84C1FA"/>
          </a:solidFill>
          <a:ln/>
        </p:spPr>
        <p:txBody>
          <a:bodyPr/>
          <a:lstStyle/>
          <a:p>
            <a:endParaRPr lang="en-US"/>
          </a:p>
        </p:txBody>
      </p:sp>
      <p:sp>
        <p:nvSpPr>
          <p:cNvPr id="12" name="Text 10"/>
          <p:cNvSpPr/>
          <p:nvPr/>
        </p:nvSpPr>
        <p:spPr>
          <a:xfrm>
            <a:off x="7931229" y="2474714"/>
            <a:ext cx="5923836" cy="715804"/>
          </a:xfrm>
          <a:prstGeom prst="rect">
            <a:avLst/>
          </a:prstGeom>
          <a:noFill/>
          <a:ln/>
        </p:spPr>
        <p:txBody>
          <a:bodyPr wrap="square" lIns="0" tIns="0" rIns="0" bIns="0" rtlCol="0" anchor="t"/>
          <a:lstStyle/>
          <a:p>
            <a:pPr marL="0" indent="0" algn="l">
              <a:lnSpc>
                <a:spcPts val="2800"/>
              </a:lnSpc>
              <a:buNone/>
            </a:pPr>
            <a:r>
              <a:rPr lang="en-US" sz="2000" b="1" dirty="0">
                <a:solidFill>
                  <a:srgbClr val="1E3063"/>
                </a:solidFill>
                <a:latin typeface="Instrument Sans Medium" pitchFamily="34" charset="0"/>
                <a:ea typeface="Instrument Sans Medium" pitchFamily="34" charset="-122"/>
                <a:cs typeface="Instrument Sans Medium" pitchFamily="34" charset="-120"/>
              </a:rPr>
              <a:t>Tốn thêm bộ nhớ:</a:t>
            </a:r>
            <a:r>
              <a:rPr lang="en-US" sz="2000" dirty="0">
                <a:solidFill>
                  <a:srgbClr val="1E3063"/>
                </a:solidFill>
                <a:latin typeface="Instrument Sans Medium" pitchFamily="34" charset="0"/>
                <a:ea typeface="Instrument Sans Medium" pitchFamily="34" charset="-122"/>
                <a:cs typeface="Instrument Sans Medium" pitchFamily="34" charset="-120"/>
              </a:rPr>
              <a:t> Mỗi node trong danh sách liên kết cần lưu trữ con trỏ, làm tăng chi phí bộ nhớ.</a:t>
            </a:r>
            <a:endParaRPr lang="en-US" sz="2000" dirty="0"/>
          </a:p>
        </p:txBody>
      </p:sp>
      <p:sp>
        <p:nvSpPr>
          <p:cNvPr id="13" name="Shape 11"/>
          <p:cNvSpPr/>
          <p:nvPr/>
        </p:nvSpPr>
        <p:spPr>
          <a:xfrm>
            <a:off x="7595711" y="3761006"/>
            <a:ext cx="111800" cy="111800"/>
          </a:xfrm>
          <a:prstGeom prst="roundRect">
            <a:avLst>
              <a:gd name="adj" fmla="val 408945"/>
            </a:avLst>
          </a:prstGeom>
          <a:solidFill>
            <a:srgbClr val="84C1FA"/>
          </a:solidFill>
          <a:ln/>
        </p:spPr>
        <p:txBody>
          <a:bodyPr/>
          <a:lstStyle/>
          <a:p>
            <a:endParaRPr lang="en-US"/>
          </a:p>
        </p:txBody>
      </p:sp>
      <p:sp>
        <p:nvSpPr>
          <p:cNvPr id="14" name="Text 12"/>
          <p:cNvSpPr/>
          <p:nvPr/>
        </p:nvSpPr>
        <p:spPr>
          <a:xfrm>
            <a:off x="7931229" y="3637955"/>
            <a:ext cx="5923836" cy="1454467"/>
          </a:xfrm>
          <a:prstGeom prst="rect">
            <a:avLst/>
          </a:prstGeom>
          <a:noFill/>
          <a:ln/>
        </p:spPr>
        <p:txBody>
          <a:bodyPr wrap="square" lIns="0" tIns="0" rIns="0" bIns="0" rtlCol="0" anchor="t"/>
          <a:lstStyle/>
          <a:p>
            <a:pPr marL="0" indent="0" algn="l">
              <a:lnSpc>
                <a:spcPts val="2800"/>
              </a:lnSpc>
              <a:buNone/>
            </a:pPr>
            <a:r>
              <a:rPr lang="en-US" sz="2000" b="1" dirty="0">
                <a:solidFill>
                  <a:srgbClr val="1E3063"/>
                </a:solidFill>
                <a:latin typeface="Instrument Sans Medium" pitchFamily="34" charset="0"/>
                <a:ea typeface="Instrument Sans Medium" pitchFamily="34" charset="-122"/>
                <a:cs typeface="Instrument Sans Medium" pitchFamily="34" charset="-120"/>
              </a:rPr>
              <a:t>Hiệu suất giảm khi có nhiều xung đột:</a:t>
            </a:r>
            <a:r>
              <a:rPr lang="en-US" sz="2000" dirty="0">
                <a:solidFill>
                  <a:srgbClr val="1E3063"/>
                </a:solidFill>
                <a:latin typeface="Instrument Sans Medium" pitchFamily="34" charset="0"/>
                <a:ea typeface="Instrument Sans Medium" pitchFamily="34" charset="-122"/>
                <a:cs typeface="Instrument Sans Medium" pitchFamily="34" charset="-120"/>
              </a:rPr>
              <a:t> Nếu quá nhiều khóa băm vào cùng một bucket, độ phức tạp của các thao tác có thể tăng lên </a:t>
            </a:r>
            <a:r>
              <a:rPr lang="en-US" sz="2000" dirty="0">
                <a:solidFill>
                  <a:srgbClr val="1E3063"/>
                </a:solidFill>
                <a:highlight>
                  <a:srgbClr val="F2F2F2"/>
                </a:highlight>
                <a:latin typeface="Consolas" pitchFamily="34" charset="0"/>
                <a:ea typeface="Consolas" pitchFamily="34" charset="-122"/>
                <a:cs typeface="Consolas" pitchFamily="34" charset="-120"/>
              </a:rPr>
              <a:t>O(n)</a:t>
            </a:r>
            <a:r>
              <a:rPr lang="en-US" sz="2000" dirty="0">
                <a:solidFill>
                  <a:srgbClr val="1E3063"/>
                </a:solidFill>
                <a:latin typeface="Instrument Sans Medium" pitchFamily="34" charset="0"/>
                <a:ea typeface="Instrument Sans Medium" pitchFamily="34" charset="-122"/>
                <a:cs typeface="Instrument Sans Medium" pitchFamily="34" charset="-120"/>
              </a:rPr>
              <a:t>, nơi </a:t>
            </a:r>
            <a:r>
              <a:rPr lang="en-US" sz="2000" dirty="0">
                <a:solidFill>
                  <a:srgbClr val="1E3063"/>
                </a:solidFill>
                <a:highlight>
                  <a:srgbClr val="F2F2F2"/>
                </a:highlight>
                <a:latin typeface="Consolas" pitchFamily="34" charset="0"/>
                <a:ea typeface="Consolas" pitchFamily="34" charset="-122"/>
                <a:cs typeface="Consolas" pitchFamily="34" charset="-120"/>
              </a:rPr>
              <a:t>n</a:t>
            </a:r>
            <a:r>
              <a:rPr lang="en-US" sz="2000" dirty="0">
                <a:solidFill>
                  <a:srgbClr val="1E3063"/>
                </a:solidFill>
                <a:latin typeface="Instrument Sans Medium" pitchFamily="34" charset="0"/>
                <a:ea typeface="Instrument Sans Medium" pitchFamily="34" charset="-122"/>
                <a:cs typeface="Instrument Sans Medium" pitchFamily="34" charset="-120"/>
              </a:rPr>
              <a:t> là số phần tử trong danh sách đó.</a:t>
            </a:r>
            <a:endParaRPr lang="en-US" sz="2000" dirty="0"/>
          </a:p>
        </p:txBody>
      </p:sp>
      <p:sp>
        <p:nvSpPr>
          <p:cNvPr id="15" name="Shape 13"/>
          <p:cNvSpPr/>
          <p:nvPr/>
        </p:nvSpPr>
        <p:spPr>
          <a:xfrm>
            <a:off x="782955" y="5774026"/>
            <a:ext cx="13064490" cy="35481"/>
          </a:xfrm>
          <a:prstGeom prst="rect">
            <a:avLst/>
          </a:prstGeom>
          <a:solidFill>
            <a:srgbClr val="1E3063">
              <a:alpha val="50000"/>
            </a:srgbClr>
          </a:solidFill>
          <a:ln/>
        </p:spPr>
        <p:txBody>
          <a:bodyPr/>
          <a:lstStyle/>
          <a:p>
            <a:endParaRPr lang="en-US"/>
          </a:p>
        </p:txBody>
      </p:sp>
      <p:sp>
        <p:nvSpPr>
          <p:cNvPr id="18" name="Rectangle 17">
            <a:extLst>
              <a:ext uri="{FF2B5EF4-FFF2-40B4-BE49-F238E27FC236}">
                <a16:creationId xmlns:a16="http://schemas.microsoft.com/office/drawing/2014/main" id="{5F14D1E4-ADAA-E93F-006F-AD2B45496E48}"/>
              </a:ext>
            </a:extLst>
          </p:cNvPr>
          <p:cNvSpPr/>
          <p:nvPr/>
        </p:nvSpPr>
        <p:spPr>
          <a:xfrm>
            <a:off x="12623800" y="7505700"/>
            <a:ext cx="2006600" cy="6803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51773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8862" y="329089"/>
            <a:ext cx="4760595" cy="373975"/>
          </a:xfrm>
          <a:prstGeom prst="rect">
            <a:avLst/>
          </a:prstGeom>
          <a:noFill/>
          <a:ln/>
        </p:spPr>
        <p:txBody>
          <a:bodyPr wrap="none" lIns="0" tIns="0" rIns="0" bIns="0" rtlCol="0" anchor="t"/>
          <a:lstStyle/>
          <a:p>
            <a:pPr marL="0" indent="0" algn="l">
              <a:lnSpc>
                <a:spcPts val="290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Open Addressing: Tìm một ô khác</a:t>
            </a:r>
            <a:endParaRPr lang="en-US" sz="2400" dirty="0"/>
          </a:p>
        </p:txBody>
      </p:sp>
      <p:pic>
        <p:nvPicPr>
          <p:cNvPr id="4" name="Image 0" descr="preencoded.png"/>
          <p:cNvPicPr>
            <a:picLocks noChangeAspect="1"/>
          </p:cNvPicPr>
          <p:nvPr/>
        </p:nvPicPr>
        <p:blipFill>
          <a:blip r:embed="rId3"/>
          <a:stretch>
            <a:fillRect/>
          </a:stretch>
        </p:blipFill>
        <p:spPr>
          <a:xfrm>
            <a:off x="418862" y="1859724"/>
            <a:ext cx="5499053" cy="3539770"/>
          </a:xfrm>
          <a:prstGeom prst="rect">
            <a:avLst/>
          </a:prstGeom>
        </p:spPr>
      </p:pic>
      <p:sp>
        <p:nvSpPr>
          <p:cNvPr id="5" name="Text 2"/>
          <p:cNvSpPr/>
          <p:nvPr/>
        </p:nvSpPr>
        <p:spPr>
          <a:xfrm>
            <a:off x="418862" y="5562592"/>
            <a:ext cx="1496139" cy="187047"/>
          </a:xfrm>
          <a:prstGeom prst="rect">
            <a:avLst/>
          </a:prstGeom>
          <a:noFill/>
          <a:ln/>
        </p:spPr>
        <p:txBody>
          <a:bodyPr wrap="none" lIns="0" tIns="0" rIns="0" bIns="0" rtlCol="0" anchor="t"/>
          <a:lstStyle/>
          <a:p>
            <a:pPr marL="0" indent="0" algn="l">
              <a:lnSpc>
                <a:spcPts val="1450"/>
              </a:lnSpc>
              <a:buNone/>
            </a:pPr>
            <a:r>
              <a:rPr lang="en-US" sz="2000" dirty="0" err="1">
                <a:solidFill>
                  <a:srgbClr val="091C53"/>
                </a:solidFill>
                <a:latin typeface="Instrument Sans Semi Bold" pitchFamily="34" charset="0"/>
                <a:ea typeface="Instrument Sans Semi Bold" pitchFamily="34" charset="-122"/>
                <a:cs typeface="Instrument Sans Semi Bold" pitchFamily="34" charset="-120"/>
              </a:rPr>
              <a:t>Tương</a:t>
            </a:r>
            <a:r>
              <a:rPr lang="en-US" sz="2000" dirty="0">
                <a:solidFill>
                  <a:srgbClr val="091C53"/>
                </a:solidFill>
                <a:latin typeface="Instrument Sans Semi Bold" pitchFamily="34" charset="0"/>
                <a:ea typeface="Instrument Sans Semi Bold" pitchFamily="34" charset="-122"/>
                <a:cs typeface="Instrument Sans Semi Bold" pitchFamily="34" charset="-120"/>
              </a:rPr>
              <a:t> </a:t>
            </a:r>
            <a:r>
              <a:rPr lang="en-US" sz="2000" dirty="0" err="1">
                <a:solidFill>
                  <a:srgbClr val="091C53"/>
                </a:solidFill>
                <a:latin typeface="Instrument Sans Semi Bold" pitchFamily="34" charset="0"/>
                <a:ea typeface="Instrument Sans Semi Bold" pitchFamily="34" charset="-122"/>
                <a:cs typeface="Instrument Sans Semi Bold" pitchFamily="34" charset="-120"/>
              </a:rPr>
              <a:t>tự</a:t>
            </a:r>
            <a:r>
              <a:rPr lang="en-US" sz="2000" dirty="0">
                <a:solidFill>
                  <a:srgbClr val="091C53"/>
                </a:solidFill>
                <a:latin typeface="Instrument Sans Semi Bold" pitchFamily="34" charset="0"/>
                <a:ea typeface="Instrument Sans Semi Bold" pitchFamily="34" charset="-122"/>
                <a:cs typeface="Instrument Sans Semi Bold" pitchFamily="34" charset="-120"/>
              </a:rPr>
              <a:t>: Đi gửi xe</a:t>
            </a:r>
            <a:endParaRPr lang="en-US" sz="2000" dirty="0"/>
          </a:p>
        </p:txBody>
      </p:sp>
      <p:sp>
        <p:nvSpPr>
          <p:cNvPr id="7" name="Text 4"/>
          <p:cNvSpPr/>
          <p:nvPr/>
        </p:nvSpPr>
        <p:spPr>
          <a:xfrm>
            <a:off x="8648968" y="2327156"/>
            <a:ext cx="1496139" cy="187047"/>
          </a:xfrm>
          <a:prstGeom prst="rect">
            <a:avLst/>
          </a:prstGeom>
          <a:noFill/>
          <a:ln/>
        </p:spPr>
        <p:txBody>
          <a:bodyPr wrap="none" lIns="0" tIns="0" rIns="0" bIns="0" rtlCol="0" anchor="t"/>
          <a:lstStyle/>
          <a:p>
            <a:pPr marL="0" indent="0" algn="l">
              <a:lnSpc>
                <a:spcPts val="1450"/>
              </a:lnSpc>
              <a:buNone/>
            </a:pPr>
            <a:r>
              <a:rPr lang="en-US" sz="2000" dirty="0">
                <a:solidFill>
                  <a:srgbClr val="091C53"/>
                </a:solidFill>
                <a:latin typeface="Instrument Sans Semi Bold" pitchFamily="34" charset="0"/>
                <a:ea typeface="Instrument Sans Semi Bold" pitchFamily="34" charset="-122"/>
                <a:cs typeface="Instrument Sans Semi Bold" pitchFamily="34" charset="-120"/>
              </a:rPr>
              <a:t>Các kỹ thuật dò tìm</a:t>
            </a:r>
            <a:endParaRPr lang="en-US" sz="2000" dirty="0"/>
          </a:p>
        </p:txBody>
      </p:sp>
      <p:sp>
        <p:nvSpPr>
          <p:cNvPr id="8" name="Text 5"/>
          <p:cNvSpPr/>
          <p:nvPr/>
        </p:nvSpPr>
        <p:spPr>
          <a:xfrm>
            <a:off x="6175373" y="2683659"/>
            <a:ext cx="6750368" cy="206693"/>
          </a:xfrm>
          <a:prstGeom prst="rect">
            <a:avLst/>
          </a:prstGeom>
          <a:noFill/>
          <a:ln/>
        </p:spPr>
        <p:txBody>
          <a:bodyPr wrap="none" lIns="0" tIns="0" rIns="0" bIns="0" rtlCol="0" anchor="t"/>
          <a:lstStyle/>
          <a:p>
            <a:pPr marL="342900" indent="-342900" algn="l">
              <a:lnSpc>
                <a:spcPts val="1500"/>
              </a:lnSpc>
              <a:buSzPct val="100000"/>
              <a:buChar char="•"/>
            </a:pPr>
            <a:r>
              <a:rPr lang="en-US" sz="2000" b="1" dirty="0">
                <a:solidFill>
                  <a:srgbClr val="1E3063"/>
                </a:solidFill>
                <a:latin typeface="Instrument Sans Medium" pitchFamily="34" charset="0"/>
                <a:ea typeface="Instrument Sans Medium" pitchFamily="34" charset="-122"/>
                <a:cs typeface="Instrument Sans Medium" pitchFamily="34" charset="-120"/>
              </a:rPr>
              <a:t>Dò tuyến tính (Linear Probing):</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a:solidFill>
                  <a:srgbClr val="1E3063"/>
                </a:solidFill>
                <a:highlight>
                  <a:srgbClr val="F2F2F2"/>
                </a:highlight>
                <a:latin typeface="Consolas" pitchFamily="34" charset="0"/>
                <a:ea typeface="Consolas" pitchFamily="34" charset="-122"/>
                <a:cs typeface="Consolas" pitchFamily="34" charset="-120"/>
              </a:rPr>
              <a:t>h_i(key) = (h(key) + i) % m</a:t>
            </a:r>
            <a:endParaRPr lang="en-US" sz="2000" dirty="0"/>
          </a:p>
        </p:txBody>
      </p:sp>
      <p:sp>
        <p:nvSpPr>
          <p:cNvPr id="9" name="Text 6"/>
          <p:cNvSpPr/>
          <p:nvPr/>
        </p:nvSpPr>
        <p:spPr>
          <a:xfrm>
            <a:off x="6175373" y="3221278"/>
            <a:ext cx="6750368" cy="206693"/>
          </a:xfrm>
          <a:prstGeom prst="rect">
            <a:avLst/>
          </a:prstGeom>
          <a:noFill/>
          <a:ln/>
        </p:spPr>
        <p:txBody>
          <a:bodyPr wrap="none" lIns="0" tIns="0" rIns="0" bIns="0" rtlCol="0" anchor="t"/>
          <a:lstStyle/>
          <a:p>
            <a:pPr marL="342900" indent="-342900" algn="l">
              <a:lnSpc>
                <a:spcPts val="1500"/>
              </a:lnSpc>
              <a:buSzPct val="100000"/>
              <a:buChar char="•"/>
            </a:pPr>
            <a:r>
              <a:rPr lang="en-US" sz="2000" b="1" dirty="0">
                <a:solidFill>
                  <a:srgbClr val="1E3063"/>
                </a:solidFill>
                <a:latin typeface="Instrument Sans Medium" pitchFamily="34" charset="0"/>
                <a:ea typeface="Instrument Sans Medium" pitchFamily="34" charset="-122"/>
                <a:cs typeface="Instrument Sans Medium" pitchFamily="34" charset="-120"/>
              </a:rPr>
              <a:t>Dò bậc hai (Quadratic Probing):</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a:solidFill>
                  <a:srgbClr val="1E3063"/>
                </a:solidFill>
                <a:highlight>
                  <a:srgbClr val="F2F2F2"/>
                </a:highlight>
                <a:latin typeface="Consolas" pitchFamily="34" charset="0"/>
                <a:ea typeface="Consolas" pitchFamily="34" charset="-122"/>
                <a:cs typeface="Consolas" pitchFamily="34" charset="-120"/>
              </a:rPr>
              <a:t>h_i(key) = (h(key) + i^2) % m</a:t>
            </a:r>
            <a:endParaRPr lang="en-US" sz="2000" dirty="0"/>
          </a:p>
        </p:txBody>
      </p:sp>
      <p:sp>
        <p:nvSpPr>
          <p:cNvPr id="10" name="Text 7"/>
          <p:cNvSpPr/>
          <p:nvPr/>
        </p:nvSpPr>
        <p:spPr>
          <a:xfrm>
            <a:off x="6180811" y="3807570"/>
            <a:ext cx="6750368" cy="206693"/>
          </a:xfrm>
          <a:prstGeom prst="rect">
            <a:avLst/>
          </a:prstGeom>
          <a:noFill/>
          <a:ln/>
        </p:spPr>
        <p:txBody>
          <a:bodyPr wrap="none" lIns="0" tIns="0" rIns="0" bIns="0" rtlCol="0" anchor="t"/>
          <a:lstStyle/>
          <a:p>
            <a:pPr marL="342900" indent="-342900" algn="l">
              <a:lnSpc>
                <a:spcPts val="1500"/>
              </a:lnSpc>
              <a:buSzPct val="100000"/>
              <a:buChar char="•"/>
            </a:pPr>
            <a:r>
              <a:rPr lang="en-US" sz="2000" b="1" dirty="0">
                <a:solidFill>
                  <a:srgbClr val="1E3063"/>
                </a:solidFill>
                <a:latin typeface="Instrument Sans Medium" pitchFamily="34" charset="0"/>
                <a:ea typeface="Instrument Sans Medium" pitchFamily="34" charset="-122"/>
                <a:cs typeface="Instrument Sans Medium" pitchFamily="34" charset="-120"/>
              </a:rPr>
              <a:t>Băm kép (Double Hashing):</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a:solidFill>
                  <a:srgbClr val="1E3063"/>
                </a:solidFill>
                <a:highlight>
                  <a:srgbClr val="F2F2F2"/>
                </a:highlight>
                <a:latin typeface="Consolas" pitchFamily="34" charset="0"/>
                <a:ea typeface="Consolas" pitchFamily="34" charset="-122"/>
                <a:cs typeface="Consolas" pitchFamily="34" charset="-120"/>
              </a:rPr>
              <a:t>h_i(key)=(h(key)+</a:t>
            </a:r>
            <a:r>
              <a:rPr lang="en-US" sz="2000" dirty="0" err="1">
                <a:solidFill>
                  <a:srgbClr val="1E3063"/>
                </a:solidFill>
                <a:highlight>
                  <a:srgbClr val="F2F2F2"/>
                </a:highlight>
                <a:latin typeface="Consolas" pitchFamily="34" charset="0"/>
                <a:ea typeface="Consolas" pitchFamily="34" charset="-122"/>
                <a:cs typeface="Consolas" pitchFamily="34" charset="-120"/>
              </a:rPr>
              <a:t>i</a:t>
            </a:r>
            <a:r>
              <a:rPr lang="en-US" sz="2000" dirty="0">
                <a:solidFill>
                  <a:srgbClr val="1E3063"/>
                </a:solidFill>
                <a:highlight>
                  <a:srgbClr val="F2F2F2"/>
                </a:highlight>
                <a:latin typeface="Consolas" pitchFamily="34" charset="0"/>
                <a:ea typeface="Consolas" pitchFamily="34" charset="-122"/>
                <a:cs typeface="Consolas" pitchFamily="34" charset="-120"/>
              </a:rPr>
              <a:t>*h_2(key)) % m</a:t>
            </a:r>
            <a:endParaRPr lang="en-US" sz="2000" dirty="0"/>
          </a:p>
        </p:txBody>
      </p:sp>
      <p:sp>
        <p:nvSpPr>
          <p:cNvPr id="11" name="Text 8"/>
          <p:cNvSpPr/>
          <p:nvPr/>
        </p:nvSpPr>
        <p:spPr>
          <a:xfrm>
            <a:off x="9081717" y="4368963"/>
            <a:ext cx="1496139" cy="187047"/>
          </a:xfrm>
          <a:prstGeom prst="rect">
            <a:avLst/>
          </a:prstGeom>
          <a:noFill/>
          <a:ln/>
        </p:spPr>
        <p:txBody>
          <a:bodyPr wrap="none" lIns="0" tIns="0" rIns="0" bIns="0" rtlCol="0" anchor="t"/>
          <a:lstStyle/>
          <a:p>
            <a:pPr marL="0" indent="0" algn="l">
              <a:lnSpc>
                <a:spcPts val="1450"/>
              </a:lnSpc>
              <a:buNone/>
            </a:pPr>
            <a:r>
              <a:rPr lang="en-US" sz="2000" dirty="0">
                <a:solidFill>
                  <a:srgbClr val="091C53"/>
                </a:solidFill>
                <a:latin typeface="Instrument Sans Semi Bold" pitchFamily="34" charset="0"/>
                <a:ea typeface="Instrument Sans Semi Bold" pitchFamily="34" charset="-122"/>
                <a:cs typeface="Instrument Sans Semi Bold" pitchFamily="34" charset="-120"/>
              </a:rPr>
              <a:t>Ưu điểm:</a:t>
            </a:r>
            <a:endParaRPr lang="en-US" sz="2000" dirty="0"/>
          </a:p>
        </p:txBody>
      </p:sp>
      <p:sp>
        <p:nvSpPr>
          <p:cNvPr id="12" name="Text 9"/>
          <p:cNvSpPr/>
          <p:nvPr/>
        </p:nvSpPr>
        <p:spPr>
          <a:xfrm>
            <a:off x="6175373" y="5395740"/>
            <a:ext cx="6750368" cy="191453"/>
          </a:xfrm>
          <a:prstGeom prst="rect">
            <a:avLst/>
          </a:prstGeom>
          <a:noFill/>
          <a:ln/>
        </p:spPr>
        <p:txBody>
          <a:bodyPr wrap="none" lIns="0" tIns="0" rIns="0" bIns="0" rtlCol="0" anchor="t"/>
          <a:lstStyle/>
          <a:p>
            <a:pPr marL="342900" indent="-342900" algn="l">
              <a:lnSpc>
                <a:spcPts val="1500"/>
              </a:lnSpc>
              <a:buSzPct val="100000"/>
              <a:buChar char="•"/>
            </a:pPr>
            <a:r>
              <a:rPr lang="en-US" sz="2000" b="1" dirty="0">
                <a:solidFill>
                  <a:srgbClr val="1E3063"/>
                </a:solidFill>
                <a:latin typeface="Instrument Sans Medium" pitchFamily="34" charset="0"/>
                <a:ea typeface="Instrument Sans Medium" pitchFamily="34" charset="-122"/>
                <a:cs typeface="Instrument Sans Medium" pitchFamily="34" charset="-120"/>
              </a:rPr>
              <a:t>Tiết kiệm bộ nhớ:</a:t>
            </a:r>
            <a:r>
              <a:rPr lang="en-US" sz="2000" dirty="0">
                <a:solidFill>
                  <a:srgbClr val="1E3063"/>
                </a:solidFill>
                <a:latin typeface="Instrument Sans Medium" pitchFamily="34" charset="0"/>
                <a:ea typeface="Instrument Sans Medium" pitchFamily="34" charset="-122"/>
                <a:cs typeface="Instrument Sans Medium" pitchFamily="34" charset="-120"/>
              </a:rPr>
              <a:t> Không cần con trỏ như Chaining.</a:t>
            </a:r>
            <a:endParaRPr lang="en-US" sz="2000" dirty="0"/>
          </a:p>
        </p:txBody>
      </p:sp>
      <p:sp>
        <p:nvSpPr>
          <p:cNvPr id="13" name="Text 10"/>
          <p:cNvSpPr/>
          <p:nvPr/>
        </p:nvSpPr>
        <p:spPr>
          <a:xfrm>
            <a:off x="6175373" y="4871484"/>
            <a:ext cx="6750368" cy="191453"/>
          </a:xfrm>
          <a:prstGeom prst="rect">
            <a:avLst/>
          </a:prstGeom>
          <a:noFill/>
          <a:ln/>
        </p:spPr>
        <p:txBody>
          <a:bodyPr wrap="none" lIns="0" tIns="0" rIns="0" bIns="0" rtlCol="0" anchor="t"/>
          <a:lstStyle/>
          <a:p>
            <a:pPr marL="342900" indent="-342900" algn="l">
              <a:lnSpc>
                <a:spcPts val="1500"/>
              </a:lnSpc>
              <a:buSzPct val="100000"/>
              <a:buChar char="•"/>
            </a:pPr>
            <a:r>
              <a:rPr lang="en-US" sz="2000" b="1" dirty="0">
                <a:solidFill>
                  <a:srgbClr val="1E3063"/>
                </a:solidFill>
                <a:latin typeface="Instrument Sans Medium" pitchFamily="34" charset="0"/>
                <a:ea typeface="Instrument Sans Medium" pitchFamily="34" charset="-122"/>
                <a:cs typeface="Instrument Sans Medium" pitchFamily="34" charset="-120"/>
              </a:rPr>
              <a:t>Hiệu suất tốt:</a:t>
            </a:r>
            <a:r>
              <a:rPr lang="en-US" sz="2000" dirty="0">
                <a:solidFill>
                  <a:srgbClr val="1E3063"/>
                </a:solidFill>
                <a:latin typeface="Instrument Sans Medium" pitchFamily="34" charset="0"/>
                <a:ea typeface="Instrument Sans Medium" pitchFamily="34" charset="-122"/>
                <a:cs typeface="Instrument Sans Medium" pitchFamily="34" charset="-120"/>
              </a:rPr>
              <a:t> Khi bảng còn thưa, truy xuất nhanh chóng.</a:t>
            </a:r>
            <a:endParaRPr lang="en-US" sz="2000" dirty="0"/>
          </a:p>
        </p:txBody>
      </p:sp>
      <p:sp>
        <p:nvSpPr>
          <p:cNvPr id="14" name="Text 11"/>
          <p:cNvSpPr/>
          <p:nvPr/>
        </p:nvSpPr>
        <p:spPr>
          <a:xfrm>
            <a:off x="9081716" y="5810189"/>
            <a:ext cx="1496139" cy="187047"/>
          </a:xfrm>
          <a:prstGeom prst="rect">
            <a:avLst/>
          </a:prstGeom>
          <a:noFill/>
          <a:ln/>
        </p:spPr>
        <p:txBody>
          <a:bodyPr wrap="none" lIns="0" tIns="0" rIns="0" bIns="0" rtlCol="0" anchor="t"/>
          <a:lstStyle/>
          <a:p>
            <a:pPr marL="0" indent="0" algn="l">
              <a:lnSpc>
                <a:spcPts val="1450"/>
              </a:lnSpc>
              <a:buNone/>
            </a:pPr>
            <a:r>
              <a:rPr lang="en-US" sz="2000" dirty="0">
                <a:solidFill>
                  <a:srgbClr val="091C53"/>
                </a:solidFill>
                <a:latin typeface="Instrument Sans Semi Bold" pitchFamily="34" charset="0"/>
                <a:ea typeface="Instrument Sans Semi Bold" pitchFamily="34" charset="-122"/>
                <a:cs typeface="Instrument Sans Semi Bold" pitchFamily="34" charset="-120"/>
              </a:rPr>
              <a:t>Nhược điểm:</a:t>
            </a:r>
            <a:endParaRPr lang="en-US" sz="2000" dirty="0"/>
          </a:p>
        </p:txBody>
      </p:sp>
      <p:sp>
        <p:nvSpPr>
          <p:cNvPr id="17" name="TextBox 16">
            <a:extLst>
              <a:ext uri="{FF2B5EF4-FFF2-40B4-BE49-F238E27FC236}">
                <a16:creationId xmlns:a16="http://schemas.microsoft.com/office/drawing/2014/main" id="{6EDBA04E-9DDE-6EEB-C410-6B7CF88F795C}"/>
              </a:ext>
            </a:extLst>
          </p:cNvPr>
          <p:cNvSpPr txBox="1"/>
          <p:nvPr/>
        </p:nvSpPr>
        <p:spPr>
          <a:xfrm>
            <a:off x="595900" y="710669"/>
            <a:ext cx="13917542" cy="1292662"/>
          </a:xfrm>
          <a:prstGeom prst="rect">
            <a:avLst/>
          </a:prstGeom>
          <a:noFill/>
        </p:spPr>
        <p:txBody>
          <a:bodyPr wrap="square" rtlCol="0">
            <a:spAutoFit/>
          </a:bodyPr>
          <a:lstStyle/>
          <a:p>
            <a:pPr algn="just">
              <a:lnSpc>
                <a:spcPct val="150000"/>
              </a:lnSpc>
            </a:pPr>
            <a:r>
              <a:rPr lang="en-US" sz="2000" dirty="0">
                <a:solidFill>
                  <a:srgbClr val="1E3063"/>
                </a:solidFill>
                <a:latin typeface="Instrument Sans Medium" pitchFamily="34" charset="0"/>
                <a:ea typeface="Instrument Sans Medium" pitchFamily="34" charset="-122"/>
                <a:cs typeface="Instrument Sans Medium" pitchFamily="34" charset="-120"/>
              </a:rPr>
              <a:t>Trong Open Addressing, </a:t>
            </a:r>
            <a:r>
              <a:rPr lang="en-US" sz="2000" dirty="0" err="1">
                <a:solidFill>
                  <a:srgbClr val="1E3063"/>
                </a:solidFill>
                <a:latin typeface="Instrument Sans Medium" pitchFamily="34" charset="0"/>
                <a:ea typeface="Instrument Sans Medium" pitchFamily="34" charset="-122"/>
                <a:cs typeface="Instrument Sans Medium" pitchFamily="34" charset="-120"/>
              </a:rPr>
              <a:t>mỗi</a:t>
            </a:r>
            <a:r>
              <a:rPr lang="en-US" sz="2000" dirty="0">
                <a:solidFill>
                  <a:srgbClr val="1E3063"/>
                </a:solidFill>
                <a:latin typeface="Instrument Sans Medium" pitchFamily="34" charset="0"/>
                <a:ea typeface="Instrument Sans Medium" pitchFamily="34" charset="-122"/>
                <a:cs typeface="Instrument Sans Medium" pitchFamily="34" charset="-120"/>
              </a:rPr>
              <a:t> ô </a:t>
            </a:r>
            <a:r>
              <a:rPr lang="en-US" sz="2000" dirty="0" err="1">
                <a:solidFill>
                  <a:srgbClr val="1E3063"/>
                </a:solidFill>
                <a:latin typeface="Instrument Sans Medium" pitchFamily="34" charset="0"/>
                <a:ea typeface="Instrument Sans Medium" pitchFamily="34" charset="-122"/>
                <a:cs typeface="Instrument Sans Medium" pitchFamily="34" charset="-120"/>
              </a:rPr>
              <a:t>trong</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bảng</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băm</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chỉ</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được</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phép</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chứa</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một</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phần</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tử</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duy</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nhất</a:t>
            </a:r>
            <a:r>
              <a:rPr lang="en-US" sz="2000" dirty="0">
                <a:solidFill>
                  <a:srgbClr val="1E3063"/>
                </a:solidFill>
                <a:latin typeface="Instrument Sans Medium" pitchFamily="34" charset="0"/>
                <a:ea typeface="Instrument Sans Medium" pitchFamily="34" charset="-122"/>
                <a:cs typeface="Instrument Sans Medium" pitchFamily="34" charset="-120"/>
              </a:rPr>
              <a:t>. Khi </a:t>
            </a:r>
            <a:r>
              <a:rPr lang="en-US" sz="2000" dirty="0" err="1">
                <a:solidFill>
                  <a:srgbClr val="1E3063"/>
                </a:solidFill>
                <a:latin typeface="Instrument Sans Medium" pitchFamily="34" charset="0"/>
                <a:ea typeface="Instrument Sans Medium" pitchFamily="34" charset="-122"/>
                <a:cs typeface="Instrument Sans Medium" pitchFamily="34" charset="-120"/>
              </a:rPr>
              <a:t>xảy</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ra</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xung</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đột</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chúng</a:t>
            </a:r>
            <a:r>
              <a:rPr lang="en-US" sz="2000" dirty="0">
                <a:solidFill>
                  <a:srgbClr val="1E3063"/>
                </a:solidFill>
                <a:latin typeface="Instrument Sans Medium" pitchFamily="34" charset="0"/>
                <a:ea typeface="Instrument Sans Medium" pitchFamily="34" charset="-122"/>
                <a:cs typeface="Instrument Sans Medium" pitchFamily="34" charset="-120"/>
              </a:rPr>
              <a:t> ta </a:t>
            </a:r>
            <a:r>
              <a:rPr lang="en-US" sz="2000" dirty="0" err="1">
                <a:solidFill>
                  <a:srgbClr val="1E3063"/>
                </a:solidFill>
                <a:latin typeface="Instrument Sans Medium" pitchFamily="34" charset="0"/>
                <a:ea typeface="Instrument Sans Medium" pitchFamily="34" charset="-122"/>
                <a:cs typeface="Instrument Sans Medium" pitchFamily="34" charset="-120"/>
              </a:rPr>
              <a:t>sẽ</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tìm</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một</a:t>
            </a:r>
            <a:r>
              <a:rPr lang="en-US" sz="2000" dirty="0">
                <a:solidFill>
                  <a:srgbClr val="1E3063"/>
                </a:solidFill>
                <a:latin typeface="Instrument Sans Medium" pitchFamily="34" charset="0"/>
                <a:ea typeface="Instrument Sans Medium" pitchFamily="34" charset="-122"/>
                <a:cs typeface="Instrument Sans Medium" pitchFamily="34" charset="-120"/>
              </a:rPr>
              <a:t> ô </a:t>
            </a:r>
            <a:r>
              <a:rPr lang="en-US" sz="2000" dirty="0" err="1">
                <a:solidFill>
                  <a:srgbClr val="1E3063"/>
                </a:solidFill>
                <a:latin typeface="Instrument Sans Medium" pitchFamily="34" charset="0"/>
                <a:ea typeface="Instrument Sans Medium" pitchFamily="34" charset="-122"/>
                <a:cs typeface="Instrument Sans Medium" pitchFamily="34" charset="-120"/>
              </a:rPr>
              <a:t>trống</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khác</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trong</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chính</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bảng</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băm</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để</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lưu</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trữ</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phần</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tử</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đó</a:t>
            </a:r>
            <a:r>
              <a:rPr lang="en-US" sz="2000" dirty="0">
                <a:solidFill>
                  <a:srgbClr val="1E3063"/>
                </a:solidFill>
                <a:latin typeface="Instrument Sans Medium" pitchFamily="34" charset="0"/>
                <a:ea typeface="Instrument Sans Medium" pitchFamily="34" charset="-122"/>
                <a:cs typeface="Instrument Sans Medium" pitchFamily="34" charset="-120"/>
              </a:rPr>
              <a:t>.</a:t>
            </a:r>
            <a:endParaRPr lang="en-US" sz="2000" dirty="0"/>
          </a:p>
          <a:p>
            <a:endParaRPr lang="en-US" dirty="0"/>
          </a:p>
        </p:txBody>
      </p:sp>
      <p:sp>
        <p:nvSpPr>
          <p:cNvPr id="18" name="TextBox 17">
            <a:extLst>
              <a:ext uri="{FF2B5EF4-FFF2-40B4-BE49-F238E27FC236}">
                <a16:creationId xmlns:a16="http://schemas.microsoft.com/office/drawing/2014/main" id="{E100C63E-9D10-7D2B-FBAA-9D30FD9167D2}"/>
              </a:ext>
            </a:extLst>
          </p:cNvPr>
          <p:cNvSpPr txBox="1"/>
          <p:nvPr/>
        </p:nvSpPr>
        <p:spPr>
          <a:xfrm>
            <a:off x="6694116" y="5997236"/>
            <a:ext cx="7150100" cy="1754326"/>
          </a:xfrm>
          <a:prstGeom prst="rect">
            <a:avLst/>
          </a:prstGeom>
          <a:noFill/>
        </p:spPr>
        <p:txBody>
          <a:bodyPr wrap="square" rtlCol="0">
            <a:spAutoFit/>
          </a:bodyPr>
          <a:lstStyle/>
          <a:p>
            <a:pPr algn="just">
              <a:lnSpc>
                <a:spcPct val="150000"/>
              </a:lnSpc>
            </a:pPr>
            <a:r>
              <a:rPr lang="en-US" sz="2000" dirty="0">
                <a:solidFill>
                  <a:srgbClr val="1E3063"/>
                </a:solidFill>
                <a:latin typeface="Instrument Sans Medium" pitchFamily="34" charset="0"/>
                <a:ea typeface="Instrument Sans Medium" pitchFamily="34" charset="-122"/>
                <a:cs typeface="Instrument Sans Medium" pitchFamily="34" charset="-120"/>
              </a:rPr>
              <a:t>Hiệu </a:t>
            </a:r>
            <a:r>
              <a:rPr lang="en-US" sz="2000" dirty="0" err="1">
                <a:solidFill>
                  <a:srgbClr val="1E3063"/>
                </a:solidFill>
                <a:latin typeface="Instrument Sans Medium" pitchFamily="34" charset="0"/>
                <a:ea typeface="Instrument Sans Medium" pitchFamily="34" charset="-122"/>
                <a:cs typeface="Instrument Sans Medium" pitchFamily="34" charset="-120"/>
              </a:rPr>
              <a:t>suất</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giảm</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mạnh</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khi</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bảng</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đầy</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dần</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Việc</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xóa</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phần</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tử</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phức</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tạp</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và</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có</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thể</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dẫn</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đến</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hiện</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tượng</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cụm</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hóa</a:t>
            </a:r>
            <a:r>
              <a:rPr lang="en-US" sz="2000" dirty="0">
                <a:solidFill>
                  <a:srgbClr val="1E3063"/>
                </a:solidFill>
                <a:latin typeface="Instrument Sans Medium" pitchFamily="34" charset="0"/>
                <a:ea typeface="Instrument Sans Medium" pitchFamily="34" charset="-122"/>
                <a:cs typeface="Instrument Sans Medium" pitchFamily="34" charset="-120"/>
              </a:rPr>
              <a:t>" (clustering), </a:t>
            </a:r>
            <a:r>
              <a:rPr lang="en-US" sz="2000" dirty="0" err="1">
                <a:solidFill>
                  <a:srgbClr val="1E3063"/>
                </a:solidFill>
                <a:latin typeface="Instrument Sans Medium" pitchFamily="34" charset="0"/>
                <a:ea typeface="Instrument Sans Medium" pitchFamily="34" charset="-122"/>
                <a:cs typeface="Instrument Sans Medium" pitchFamily="34" charset="-120"/>
              </a:rPr>
              <a:t>đặc</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biệt</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với</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dò</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tuyến</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tính</a:t>
            </a:r>
            <a:r>
              <a:rPr lang="en-US" sz="2000" dirty="0">
                <a:solidFill>
                  <a:srgbClr val="1E3063"/>
                </a:solidFill>
                <a:latin typeface="Instrument Sans Medium" pitchFamily="34" charset="0"/>
                <a:ea typeface="Instrument Sans Medium" pitchFamily="34" charset="-122"/>
                <a:cs typeface="Instrument Sans Medium" pitchFamily="34" charset="-120"/>
              </a:rPr>
              <a:t>.</a:t>
            </a:r>
            <a:endParaRPr lang="en-US" sz="2000" dirty="0"/>
          </a:p>
          <a:p>
            <a:endParaRPr lang="en-US" dirty="0"/>
          </a:p>
        </p:txBody>
      </p:sp>
      <p:sp>
        <p:nvSpPr>
          <p:cNvPr id="20" name="TextBox 19">
            <a:extLst>
              <a:ext uri="{FF2B5EF4-FFF2-40B4-BE49-F238E27FC236}">
                <a16:creationId xmlns:a16="http://schemas.microsoft.com/office/drawing/2014/main" id="{D26FD5B6-5963-BB38-B636-68D7215748A2}"/>
              </a:ext>
            </a:extLst>
          </p:cNvPr>
          <p:cNvSpPr txBox="1"/>
          <p:nvPr/>
        </p:nvSpPr>
        <p:spPr>
          <a:xfrm>
            <a:off x="259061" y="5873973"/>
            <a:ext cx="5818654" cy="1754326"/>
          </a:xfrm>
          <a:prstGeom prst="rect">
            <a:avLst/>
          </a:prstGeom>
          <a:noFill/>
        </p:spPr>
        <p:txBody>
          <a:bodyPr wrap="square" rtlCol="0">
            <a:spAutoFit/>
          </a:bodyPr>
          <a:lstStyle/>
          <a:p>
            <a:pPr algn="just">
              <a:lnSpc>
                <a:spcPct val="150000"/>
              </a:lnSpc>
            </a:pPr>
            <a:r>
              <a:rPr lang="en-US" sz="2000" dirty="0" err="1">
                <a:solidFill>
                  <a:srgbClr val="1E3063"/>
                </a:solidFill>
                <a:latin typeface="Instrument Sans Medium" pitchFamily="34" charset="0"/>
                <a:ea typeface="Instrument Sans Medium" pitchFamily="34" charset="-122"/>
                <a:cs typeface="Instrument Sans Medium" pitchFamily="34" charset="-120"/>
              </a:rPr>
              <a:t>Nếu</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chỗ</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số</a:t>
            </a:r>
            <a:r>
              <a:rPr lang="en-US" sz="2000" dirty="0">
                <a:solidFill>
                  <a:srgbClr val="1E3063"/>
                </a:solidFill>
                <a:latin typeface="Instrument Sans Medium" pitchFamily="34" charset="0"/>
                <a:ea typeface="Instrument Sans Medium" pitchFamily="34" charset="-122"/>
                <a:cs typeface="Instrument Sans Medium" pitchFamily="34" charset="-120"/>
              </a:rPr>
              <a:t> 5 </a:t>
            </a:r>
            <a:r>
              <a:rPr lang="en-US" sz="2000" dirty="0" err="1">
                <a:solidFill>
                  <a:srgbClr val="1E3063"/>
                </a:solidFill>
                <a:latin typeface="Instrument Sans Medium" pitchFamily="34" charset="0"/>
                <a:ea typeface="Instrument Sans Medium" pitchFamily="34" charset="-122"/>
                <a:cs typeface="Instrument Sans Medium" pitchFamily="34" charset="-120"/>
              </a:rPr>
              <a:t>đã</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có</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xe</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bạn</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sẽ</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tìm</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chỗ</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số</a:t>
            </a:r>
            <a:r>
              <a:rPr lang="en-US" sz="2000" dirty="0">
                <a:solidFill>
                  <a:srgbClr val="1E3063"/>
                </a:solidFill>
                <a:latin typeface="Instrument Sans Medium" pitchFamily="34" charset="0"/>
                <a:ea typeface="Instrument Sans Medium" pitchFamily="34" charset="-122"/>
                <a:cs typeface="Instrument Sans Medium" pitchFamily="34" charset="-120"/>
              </a:rPr>
              <a:t> 6. </a:t>
            </a:r>
            <a:r>
              <a:rPr lang="en-US" sz="2000" dirty="0" err="1">
                <a:solidFill>
                  <a:srgbClr val="1E3063"/>
                </a:solidFill>
                <a:latin typeface="Instrument Sans Medium" pitchFamily="34" charset="0"/>
                <a:ea typeface="Instrument Sans Medium" pitchFamily="34" charset="-122"/>
                <a:cs typeface="Instrument Sans Medium" pitchFamily="34" charset="-120"/>
              </a:rPr>
              <a:t>Nếu</a:t>
            </a:r>
            <a:r>
              <a:rPr lang="en-US" sz="2000" dirty="0">
                <a:solidFill>
                  <a:srgbClr val="1E3063"/>
                </a:solidFill>
                <a:latin typeface="Instrument Sans Medium" pitchFamily="34" charset="0"/>
                <a:ea typeface="Instrument Sans Medium" pitchFamily="34" charset="-122"/>
                <a:cs typeface="Instrument Sans Medium" pitchFamily="34" charset="-120"/>
              </a:rPr>
              <a:t> 6 </a:t>
            </a:r>
            <a:r>
              <a:rPr lang="en-US" sz="2000" dirty="0" err="1">
                <a:solidFill>
                  <a:srgbClr val="1E3063"/>
                </a:solidFill>
                <a:latin typeface="Instrument Sans Medium" pitchFamily="34" charset="0"/>
                <a:ea typeface="Instrument Sans Medium" pitchFamily="34" charset="-122"/>
                <a:cs typeface="Instrument Sans Medium" pitchFamily="34" charset="-120"/>
              </a:rPr>
              <a:t>đầy</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bạn</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tiếp</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tục</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tìm</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chỗ</a:t>
            </a:r>
            <a:r>
              <a:rPr lang="en-US" sz="2000" dirty="0">
                <a:solidFill>
                  <a:srgbClr val="1E3063"/>
                </a:solidFill>
                <a:latin typeface="Instrument Sans Medium" pitchFamily="34" charset="0"/>
                <a:ea typeface="Instrument Sans Medium" pitchFamily="34" charset="-122"/>
                <a:cs typeface="Instrument Sans Medium" pitchFamily="34" charset="-120"/>
              </a:rPr>
              <a:t> 7, </a:t>
            </a:r>
            <a:r>
              <a:rPr lang="en-US" sz="2000" dirty="0" err="1">
                <a:solidFill>
                  <a:srgbClr val="1E3063"/>
                </a:solidFill>
                <a:latin typeface="Instrument Sans Medium" pitchFamily="34" charset="0"/>
                <a:ea typeface="Instrument Sans Medium" pitchFamily="34" charset="-122"/>
                <a:cs typeface="Instrument Sans Medium" pitchFamily="34" charset="-120"/>
              </a:rPr>
              <a:t>cho</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đến</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khi</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tìm</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thấy</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chỗ</a:t>
            </a:r>
            <a:r>
              <a:rPr lang="en-US" sz="2000" dirty="0">
                <a:solidFill>
                  <a:srgbClr val="1E3063"/>
                </a:solidFill>
                <a:latin typeface="Instrument Sans Medium" pitchFamily="34" charset="0"/>
                <a:ea typeface="Instrument Sans Medium" pitchFamily="34" charset="-122"/>
                <a:cs typeface="Instrument Sans Medium" pitchFamily="34" charset="-120"/>
              </a:rPr>
              <a:t> </a:t>
            </a:r>
            <a:r>
              <a:rPr lang="en-US" sz="2000" dirty="0" err="1">
                <a:solidFill>
                  <a:srgbClr val="1E3063"/>
                </a:solidFill>
                <a:latin typeface="Instrument Sans Medium" pitchFamily="34" charset="0"/>
                <a:ea typeface="Instrument Sans Medium" pitchFamily="34" charset="-122"/>
                <a:cs typeface="Instrument Sans Medium" pitchFamily="34" charset="-120"/>
              </a:rPr>
              <a:t>trống</a:t>
            </a:r>
            <a:r>
              <a:rPr lang="en-US" sz="2000" dirty="0">
                <a:solidFill>
                  <a:srgbClr val="1E3063"/>
                </a:solidFill>
                <a:latin typeface="Instrument Sans Medium" pitchFamily="34" charset="0"/>
                <a:ea typeface="Instrument Sans Medium" pitchFamily="34" charset="-122"/>
                <a:cs typeface="Instrument Sans Medium" pitchFamily="34" charset="-120"/>
              </a:rPr>
              <a:t>.</a:t>
            </a:r>
            <a:endParaRPr lang="en-US" sz="2000" dirty="0"/>
          </a:p>
          <a:p>
            <a:endParaRPr lang="en-US" dirty="0"/>
          </a:p>
        </p:txBody>
      </p:sp>
      <p:sp>
        <p:nvSpPr>
          <p:cNvPr id="21" name="Rectangle 20">
            <a:extLst>
              <a:ext uri="{FF2B5EF4-FFF2-40B4-BE49-F238E27FC236}">
                <a16:creationId xmlns:a16="http://schemas.microsoft.com/office/drawing/2014/main" id="{39B96506-C7F8-0D67-F9FA-0229672393A8}"/>
              </a:ext>
            </a:extLst>
          </p:cNvPr>
          <p:cNvSpPr/>
          <p:nvPr/>
        </p:nvSpPr>
        <p:spPr>
          <a:xfrm>
            <a:off x="12827000" y="7628299"/>
            <a:ext cx="1686442" cy="52815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07956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06078"/>
            <a:ext cx="8334375" cy="708779"/>
          </a:xfrm>
          <a:prstGeom prst="rect">
            <a:avLst/>
          </a:prstGeom>
          <a:noFill/>
          <a:ln/>
        </p:spPr>
        <p:txBody>
          <a:bodyPr wrap="none" lIns="0" tIns="0" rIns="0" bIns="0" rtlCol="0" anchor="t"/>
          <a:lstStyle/>
          <a:p>
            <a:pPr marL="0" marR="0" lvl="0" indent="0" algn="l" defTabSz="914400" rtl="0" eaLnBrk="1" fontAlgn="auto" latinLnBrk="0" hangingPunct="1">
              <a:lnSpc>
                <a:spcPts val="5550"/>
              </a:lnSpc>
              <a:spcBef>
                <a:spcPts val="0"/>
              </a:spcBef>
              <a:spcAft>
                <a:spcPts val="0"/>
              </a:spcAft>
              <a:buClrTx/>
              <a:buSzTx/>
              <a:buFontTx/>
              <a:buNone/>
              <a:tabLst/>
              <a:defRPr/>
            </a:pPr>
            <a:r>
              <a:rPr kumimoji="0" lang="en-US" sz="4450" b="0" i="0" u="none" strike="noStrike" kern="1200" cap="none" spc="0" normalizeH="0" baseline="0" noProof="0" dirty="0">
                <a:ln>
                  <a:noFill/>
                </a:ln>
                <a:solidFill>
                  <a:srgbClr val="091C53"/>
                </a:solidFill>
                <a:effectLst/>
                <a:uLnTx/>
                <a:uFillTx/>
                <a:latin typeface="Instrument Sans Semi Bold" pitchFamily="34" charset="0"/>
                <a:ea typeface="Instrument Sans Semi Bold" pitchFamily="34" charset="-122"/>
                <a:cs typeface="Instrument Sans Semi Bold" pitchFamily="34" charset="-120"/>
              </a:rPr>
              <a:t>Ứng dụng Rộng rãi của Hashing</a:t>
            </a:r>
            <a:endParaRPr kumimoji="0" lang="en-US" sz="4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93790" y="2168485"/>
            <a:ext cx="13042821" cy="362903"/>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Hashing không chỉ là một khái niệm lý thuyết mà còn là nền tảng của nhiều công nghệ chúng ta sử dụng hàng ngày.</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93790" y="3013353"/>
            <a:ext cx="4631769" cy="354330"/>
          </a:xfrm>
          <a:prstGeom prst="rect">
            <a:avLst/>
          </a:prstGeom>
          <a:noFill/>
          <a:ln/>
        </p:spPr>
        <p:txBody>
          <a:bodyPr wrap="non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91C53"/>
                </a:solidFill>
                <a:effectLst/>
                <a:uLnTx/>
                <a:uFillTx/>
                <a:latin typeface="Instrument Sans Semi Bold" pitchFamily="34" charset="0"/>
                <a:ea typeface="Instrument Sans Semi Bold" pitchFamily="34" charset="-122"/>
                <a:cs typeface="Instrument Sans Semi Bold" pitchFamily="34" charset="-120"/>
              </a:rPr>
              <a:t>Trong thực tế phát triển phần mềm</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93790" y="3594497"/>
            <a:ext cx="6244709" cy="1134427"/>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Lưu trữ dữ liệu nhanh:</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Các cấu trúc như </a:t>
            </a:r>
            <a:r>
              <a:rPr kumimoji="0" lang="en-US" sz="2000" b="0" i="0" u="none" strike="noStrike" kern="1200" cap="none" spc="0" normalizeH="0" baseline="0" noProof="0" dirty="0">
                <a:ln>
                  <a:noFill/>
                </a:ln>
                <a:solidFill>
                  <a:srgbClr val="1E3063"/>
                </a:solidFill>
                <a:effectLst/>
                <a:highlight>
                  <a:srgbClr val="F2F2F2"/>
                </a:highlight>
                <a:uLnTx/>
                <a:uFillTx/>
                <a:latin typeface="Consolas" pitchFamily="34" charset="0"/>
                <a:ea typeface="Consolas" pitchFamily="34" charset="-122"/>
                <a:cs typeface="Consolas" pitchFamily="34" charset="-120"/>
              </a:rPr>
              <a:t>HashMap</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a:ln>
                  <a:noFill/>
                </a:ln>
                <a:solidFill>
                  <a:srgbClr val="1E3063"/>
                </a:solidFill>
                <a:effectLst/>
                <a:highlight>
                  <a:srgbClr val="F2F2F2"/>
                </a:highlight>
                <a:uLnTx/>
                <a:uFillTx/>
                <a:latin typeface="Consolas" pitchFamily="34" charset="0"/>
                <a:ea typeface="Consolas" pitchFamily="34" charset="-122"/>
                <a:cs typeface="Consolas" pitchFamily="34" charset="-120"/>
              </a:rPr>
              <a:t>Dictionary</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a:ln>
                  <a:noFill/>
                </a:ln>
                <a:solidFill>
                  <a:srgbClr val="1E3063"/>
                </a:solidFill>
                <a:effectLst/>
                <a:highlight>
                  <a:srgbClr val="F2F2F2"/>
                </a:highlight>
                <a:uLnTx/>
                <a:uFillTx/>
                <a:latin typeface="Consolas" pitchFamily="34" charset="0"/>
                <a:ea typeface="Consolas" pitchFamily="34" charset="-122"/>
                <a:cs typeface="Consolas" pitchFamily="34" charset="-120"/>
              </a:rPr>
              <a:t>HashTable</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trong nhiều ngôn ngữ lập trình đều dựa trên hashing để truy cập dữ liệu O(1).</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93790" y="4808220"/>
            <a:ext cx="6244709" cy="725805"/>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Tìm kiếm:</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Các hệ thống tìm kiếm người dùng, mật khẩu, file trong hệ điều hành.</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93790" y="5613321"/>
            <a:ext cx="6244709" cy="725805"/>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400" b="1"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Cơ sở dữ liệu:</a:t>
            </a:r>
            <a:r>
              <a:rPr kumimoji="0" lang="en-US" sz="24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Index trong database giúp tăng tốc độ truy vấn.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793790" y="6418421"/>
            <a:ext cx="6244709" cy="725805"/>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Compiler:</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Bảng ký hiệu (symbol table) trong trình biên dịch sử dụng hashing.</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7599521" y="3013353"/>
            <a:ext cx="3034903" cy="354330"/>
          </a:xfrm>
          <a:prstGeom prst="rect">
            <a:avLst/>
          </a:prstGeom>
          <a:noFill/>
          <a:ln/>
        </p:spPr>
        <p:txBody>
          <a:bodyPr wrap="none" lIns="0" tIns="0" rIns="0" bIns="0" rtlCol="0" anchor="t"/>
          <a:lstStyle/>
          <a:p>
            <a:pPr marL="0" marR="0" lvl="0" indent="0" algn="l" defTabSz="914400" rtl="0" eaLnBrk="1" fontAlgn="auto" latinLnBrk="0" hangingPunct="1">
              <a:lnSpc>
                <a:spcPts val="275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91C53"/>
                </a:solidFill>
                <a:effectLst/>
                <a:uLnTx/>
                <a:uFillTx/>
                <a:latin typeface="Instrument Sans Semi Bold" pitchFamily="34" charset="0"/>
                <a:ea typeface="Instrument Sans Semi Bold" pitchFamily="34" charset="-122"/>
                <a:cs typeface="Instrument Sans Semi Bold" pitchFamily="34" charset="-120"/>
              </a:rPr>
              <a:t>Trong lĩnh vực bảo mật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599521" y="3594497"/>
            <a:ext cx="6244709" cy="748665"/>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Mã hóa mật khẩu:</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Lưu trữ </a:t>
            </a:r>
            <a:r>
              <a:rPr kumimoji="0" lang="en-US" sz="2000" b="0" i="0" u="none" strike="noStrike" kern="1200" cap="none" spc="0" normalizeH="0" baseline="0" noProof="0" dirty="0">
                <a:ln>
                  <a:noFill/>
                </a:ln>
                <a:solidFill>
                  <a:srgbClr val="F578DE"/>
                </a:solidFill>
                <a:effectLst/>
                <a:uLnTx/>
                <a:uFillTx/>
                <a:latin typeface="Instrument Sans Medium" pitchFamily="34" charset="0"/>
                <a:ea typeface="Instrument Sans Medium" pitchFamily="34" charset="-122"/>
                <a:cs typeface="Instrument Sans Medium" pitchFamily="34" charset="-120"/>
              </a:rPr>
              <a:t>hash</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của mật khẩu thay vì mật khẩu gốc (</a:t>
            </a:r>
            <a:r>
              <a:rPr kumimoji="0" lang="en-US" sz="2000" b="0" i="0" u="none" strike="noStrike" kern="1200" cap="none" spc="0" normalizeH="0" baseline="0" noProof="0" dirty="0">
                <a:ln>
                  <a:noFill/>
                </a:ln>
                <a:solidFill>
                  <a:srgbClr val="1E3063"/>
                </a:solidFill>
                <a:effectLst/>
                <a:highlight>
                  <a:srgbClr val="F2F2F2"/>
                </a:highlight>
                <a:uLnTx/>
                <a:uFillTx/>
                <a:latin typeface="Consolas" pitchFamily="34" charset="0"/>
                <a:ea typeface="Consolas" pitchFamily="34" charset="-122"/>
                <a:cs typeface="Consolas" pitchFamily="34" charset="-120"/>
              </a:rPr>
              <a:t>SHA-256</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a:t>
            </a:r>
            <a:r>
              <a:rPr kumimoji="0" lang="en-US" sz="2000" b="0" i="0" u="none" strike="noStrike" kern="1200" cap="none" spc="0" normalizeH="0" baseline="0" noProof="0" dirty="0">
                <a:ln>
                  <a:noFill/>
                </a:ln>
                <a:solidFill>
                  <a:srgbClr val="1E3063"/>
                </a:solidFill>
                <a:effectLst/>
                <a:highlight>
                  <a:srgbClr val="F2F2F2"/>
                </a:highlight>
                <a:uLnTx/>
                <a:uFillTx/>
                <a:latin typeface="Consolas" pitchFamily="34" charset="0"/>
                <a:ea typeface="Consolas" pitchFamily="34" charset="-122"/>
                <a:cs typeface="Consolas" pitchFamily="34" charset="-120"/>
              </a:rPr>
              <a:t>bcrypt</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tăng cường bảo mật.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7591901" y="4718446"/>
            <a:ext cx="6244709" cy="725805"/>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Kiểm tra toàn vẹn dữ liệu:</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Phát hiện thay đổi dữ liệu bằng cách so sánh giá trị hash trước và sau.</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7599521" y="5534025"/>
            <a:ext cx="6244709" cy="725805"/>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Chữ ký số:</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Đảm bảo tính xác thực và không thể chối bỏ của tài liệu điện tử.</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7599521" y="6412547"/>
            <a:ext cx="6244709" cy="1088708"/>
          </a:xfrm>
          <a:prstGeom prst="rect">
            <a:avLst/>
          </a:prstGeom>
          <a:noFill/>
          <a:ln/>
        </p:spPr>
        <p:txBody>
          <a:bodyPr wrap="square" lIns="0" tIns="0" rIns="0" bIns="0" rtlCol="0" anchor="t"/>
          <a:lstStyle/>
          <a:p>
            <a:pPr marL="342900" marR="0" lvl="0" indent="-342900" algn="l" defTabSz="914400" rtl="0" eaLnBrk="1" fontAlgn="auto" latinLnBrk="0" hangingPunct="1">
              <a:lnSpc>
                <a:spcPts val="2850"/>
              </a:lnSpc>
              <a:spcBef>
                <a:spcPts val="0"/>
              </a:spcBef>
              <a:spcAft>
                <a:spcPts val="0"/>
              </a:spcAft>
              <a:buClrTx/>
              <a:buSzPct val="100000"/>
              <a:buFontTx/>
              <a:buChar char="•"/>
              <a:tabLst/>
              <a:defRPr/>
            </a:pPr>
            <a:r>
              <a:rPr kumimoji="0" lang="en-US" sz="2000" b="1"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Blockchain:</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Mỗi khối (block) trong chuỗi chứa hash của khối trước đó, tạo nên tính bất biến và an toàn của chuỗi.</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27C1BAC2-2899-01B1-155D-D1C22DC1D149}"/>
              </a:ext>
            </a:extLst>
          </p:cNvPr>
          <p:cNvSpPr/>
          <p:nvPr/>
        </p:nvSpPr>
        <p:spPr>
          <a:xfrm>
            <a:off x="12865100" y="7658100"/>
            <a:ext cx="1765300" cy="571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5569" y="590312"/>
            <a:ext cx="8091607" cy="665678"/>
          </a:xfrm>
          <a:prstGeom prst="rect">
            <a:avLst/>
          </a:prstGeom>
          <a:noFill/>
          <a:ln/>
        </p:spPr>
        <p:txBody>
          <a:bodyPr wrap="none" lIns="0" tIns="0" rIns="0" bIns="0" rtlCol="0" anchor="t"/>
          <a:lstStyle/>
          <a:p>
            <a:pPr marL="0" marR="0" lvl="0" indent="0" algn="l" defTabSz="914400" rtl="0" eaLnBrk="1" fontAlgn="auto" latinLnBrk="0" hangingPunct="1">
              <a:lnSpc>
                <a:spcPts val="5200"/>
              </a:lnSpc>
              <a:spcBef>
                <a:spcPts val="0"/>
              </a:spcBef>
              <a:spcAft>
                <a:spcPts val="0"/>
              </a:spcAft>
              <a:buClrTx/>
              <a:buSzTx/>
              <a:buFontTx/>
              <a:buNone/>
              <a:tabLst/>
              <a:defRPr/>
            </a:pPr>
            <a:r>
              <a:rPr kumimoji="0" lang="en-US" sz="4150" b="0" i="0" u="none" strike="noStrike" kern="1200" cap="none" spc="0" normalizeH="0" baseline="0" noProof="0" dirty="0">
                <a:ln>
                  <a:noFill/>
                </a:ln>
                <a:solidFill>
                  <a:srgbClr val="091C53"/>
                </a:solidFill>
                <a:effectLst/>
                <a:uLnTx/>
                <a:uFillTx/>
                <a:latin typeface="Instrument Sans Semi Bold" pitchFamily="34" charset="0"/>
                <a:ea typeface="Instrument Sans Semi Bold" pitchFamily="34" charset="-122"/>
                <a:cs typeface="Instrument Sans Semi Bold" pitchFamily="34" charset="-120"/>
              </a:rPr>
              <a:t>Ưu điểm và Hạn chế của Hashing</a:t>
            </a:r>
            <a:endParaRPr kumimoji="0" lang="en-US" sz="4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45569" y="1681996"/>
            <a:ext cx="13139261" cy="340757"/>
          </a:xfrm>
          <a:prstGeom prst="rect">
            <a:avLst/>
          </a:prstGeom>
          <a:noFill/>
          <a:ln/>
        </p:spPr>
        <p:txBody>
          <a:bodyPr wrap="non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Mỗi kỹ thuật đều có hai mặt. Nắm rõ ưu và nhược điểm giúp chúng ta áp dụng hashing một cách thông minh.</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745569" y="2581751"/>
            <a:ext cx="6463070" cy="2273975"/>
          </a:xfrm>
          <a:prstGeom prst="roundRect">
            <a:avLst>
              <a:gd name="adj" fmla="val 4825"/>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745569" y="2558891"/>
            <a:ext cx="6463070" cy="91440"/>
          </a:xfrm>
          <a:prstGeom prst="roundRect">
            <a:avLst>
              <a:gd name="adj" fmla="val 209666"/>
            </a:avLst>
          </a:prstGeom>
          <a:solidFill>
            <a:srgbClr val="84C1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3657540" y="2262307"/>
            <a:ext cx="639008" cy="639008"/>
          </a:xfrm>
          <a:prstGeom prst="roundRect">
            <a:avLst>
              <a:gd name="adj" fmla="val 143097"/>
            </a:avLst>
          </a:prstGeom>
          <a:solidFill>
            <a:srgbClr val="84C1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0" descr="preencoded.png"/>
          <p:cNvPicPr>
            <a:picLocks noChangeAspect="1"/>
          </p:cNvPicPr>
          <p:nvPr/>
        </p:nvPicPr>
        <p:blipFill>
          <a:blip r:embed="rId3"/>
          <a:stretch>
            <a:fillRect/>
          </a:stretch>
        </p:blipFill>
        <p:spPr>
          <a:xfrm>
            <a:off x="3849231" y="2422088"/>
            <a:ext cx="255508" cy="319445"/>
          </a:xfrm>
          <a:prstGeom prst="rect">
            <a:avLst/>
          </a:prstGeom>
        </p:spPr>
      </p:pic>
      <p:sp>
        <p:nvSpPr>
          <p:cNvPr id="8" name="Text 5"/>
          <p:cNvSpPr/>
          <p:nvPr/>
        </p:nvSpPr>
        <p:spPr>
          <a:xfrm>
            <a:off x="981432" y="3114199"/>
            <a:ext cx="2662714" cy="332780"/>
          </a:xfrm>
          <a:prstGeom prst="rect">
            <a:avLst/>
          </a:prstGeom>
          <a:noFill/>
          <a:ln/>
        </p:spPr>
        <p:txBody>
          <a:bodyPr wrap="none" lIns="0" tIns="0" rIns="0" bIns="0" rtlCol="0" anchor="t"/>
          <a:lstStyle/>
          <a:p>
            <a:pPr marL="0" marR="0" lvl="0" indent="0" algn="l" defTabSz="914400" rtl="0" eaLnBrk="1" fontAlgn="auto" latinLnBrk="0" hangingPunct="1">
              <a:lnSpc>
                <a:spcPts val="2600"/>
              </a:lnSpc>
              <a:spcBef>
                <a:spcPts val="0"/>
              </a:spcBef>
              <a:spcAft>
                <a:spcPts val="0"/>
              </a:spcAft>
              <a:buClrTx/>
              <a:buSzTx/>
              <a:buFontTx/>
              <a:buNone/>
              <a:tabLst/>
              <a:defRPr/>
            </a:pPr>
            <a:r>
              <a:rPr kumimoji="0" lang="en-US" sz="2050" b="0" i="0" u="none" strike="noStrike" kern="1200" cap="none" spc="0" normalizeH="0" baseline="0" noProof="0" dirty="0">
                <a:ln>
                  <a:noFill/>
                </a:ln>
                <a:solidFill>
                  <a:srgbClr val="1E3063"/>
                </a:solidFill>
                <a:effectLst/>
                <a:uLnTx/>
                <a:uFillTx/>
                <a:latin typeface="Instrument Sans Semi Bold" pitchFamily="34" charset="0"/>
                <a:ea typeface="Instrument Sans Semi Bold" pitchFamily="34" charset="-122"/>
                <a:cs typeface="Instrument Sans Semi Bold" pitchFamily="34" charset="-120"/>
              </a:rPr>
              <a:t>Tốc độ cao</a:t>
            </a:r>
            <a:endParaRPr kumimoji="0" lang="en-US" sz="2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981432" y="3574733"/>
            <a:ext cx="5991344" cy="1045131"/>
          </a:xfrm>
          <a:prstGeom prst="rect">
            <a:avLst/>
          </a:prstGeom>
          <a:noFill/>
          <a:ln/>
        </p:spPr>
        <p:txBody>
          <a:bodyPr wrap="square" lIns="0" tIns="0" rIns="0" bIns="0" rtlCol="0" anchor="t"/>
          <a:lstStyle/>
          <a:p>
            <a:pPr marL="0" marR="0" lvl="0" indent="0" algn="just" defTabSz="914400" rtl="0" eaLnBrk="1" fontAlgn="auto" latinLnBrk="0" hangingPunct="1">
              <a:lnSpc>
                <a:spcPts val="265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Tốc độ truy xuất, chèn, xóa dữ liệu trung bình </a:t>
            </a:r>
            <a:r>
              <a:rPr kumimoji="0" lang="en-US" sz="2000" b="0" i="0" u="none" strike="noStrike" kern="1200" cap="none" spc="0" normalizeH="0" baseline="0" noProof="0" dirty="0">
                <a:ln>
                  <a:noFill/>
                </a:ln>
                <a:solidFill>
                  <a:srgbClr val="1E3063"/>
                </a:solidFill>
                <a:effectLst/>
                <a:highlight>
                  <a:srgbClr val="F2F2F2"/>
                </a:highlight>
                <a:uLnTx/>
                <a:uFillTx/>
                <a:latin typeface="Consolas" pitchFamily="34" charset="0"/>
                <a:ea typeface="Consolas" pitchFamily="34" charset="-122"/>
                <a:cs typeface="Consolas" pitchFamily="34" charset="-120"/>
              </a:rPr>
              <a:t>O(1)</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là ưu điểm lớn nhất, mang lại hiệu suất vượt trội cho các ứng dụng đòi hỏi xử lý nhanh.</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7421642" y="2581751"/>
            <a:ext cx="6463189" cy="2273975"/>
          </a:xfrm>
          <a:prstGeom prst="roundRect">
            <a:avLst>
              <a:gd name="adj" fmla="val 4825"/>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7421642" y="2558891"/>
            <a:ext cx="6463189" cy="91440"/>
          </a:xfrm>
          <a:prstGeom prst="roundRect">
            <a:avLst>
              <a:gd name="adj" fmla="val 209666"/>
            </a:avLst>
          </a:prstGeom>
          <a:solidFill>
            <a:srgbClr val="84C1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10333732" y="2262307"/>
            <a:ext cx="639008" cy="639008"/>
          </a:xfrm>
          <a:prstGeom prst="roundRect">
            <a:avLst>
              <a:gd name="adj" fmla="val 143097"/>
            </a:avLst>
          </a:prstGeom>
          <a:solidFill>
            <a:srgbClr val="84C1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1" descr="preencoded.png"/>
          <p:cNvPicPr>
            <a:picLocks noChangeAspect="1"/>
          </p:cNvPicPr>
          <p:nvPr/>
        </p:nvPicPr>
        <p:blipFill>
          <a:blip r:embed="rId4"/>
          <a:stretch>
            <a:fillRect/>
          </a:stretch>
        </p:blipFill>
        <p:spPr>
          <a:xfrm>
            <a:off x="10525423" y="2422088"/>
            <a:ext cx="255508" cy="319445"/>
          </a:xfrm>
          <a:prstGeom prst="rect">
            <a:avLst/>
          </a:prstGeom>
        </p:spPr>
      </p:pic>
      <p:sp>
        <p:nvSpPr>
          <p:cNvPr id="14" name="Text 10"/>
          <p:cNvSpPr/>
          <p:nvPr/>
        </p:nvSpPr>
        <p:spPr>
          <a:xfrm>
            <a:off x="7657505" y="3114199"/>
            <a:ext cx="3461266" cy="332780"/>
          </a:xfrm>
          <a:prstGeom prst="rect">
            <a:avLst/>
          </a:prstGeom>
          <a:noFill/>
          <a:ln/>
        </p:spPr>
        <p:txBody>
          <a:bodyPr wrap="none" lIns="0" tIns="0" rIns="0" bIns="0" rtlCol="0" anchor="t"/>
          <a:lstStyle/>
          <a:p>
            <a:pPr marL="0" marR="0" lvl="0" indent="0" algn="l" defTabSz="914400" rtl="0" eaLnBrk="1" fontAlgn="auto" latinLnBrk="0" hangingPunct="1">
              <a:lnSpc>
                <a:spcPts val="2600"/>
              </a:lnSpc>
              <a:spcBef>
                <a:spcPts val="0"/>
              </a:spcBef>
              <a:spcAft>
                <a:spcPts val="0"/>
              </a:spcAft>
              <a:buClrTx/>
              <a:buSzTx/>
              <a:buFontTx/>
              <a:buNone/>
              <a:tabLst/>
              <a:defRPr/>
            </a:pPr>
            <a:r>
              <a:rPr kumimoji="0" lang="en-US" sz="2050" b="0" i="0" u="none" strike="noStrike" kern="1200" cap="none" spc="0" normalizeH="0" baseline="0" noProof="0" dirty="0">
                <a:ln>
                  <a:noFill/>
                </a:ln>
                <a:solidFill>
                  <a:srgbClr val="1E3063"/>
                </a:solidFill>
                <a:effectLst/>
                <a:uLnTx/>
                <a:uFillTx/>
                <a:latin typeface="Instrument Sans Semi Bold" pitchFamily="34" charset="0"/>
                <a:ea typeface="Instrument Sans Semi Bold" pitchFamily="34" charset="-122"/>
                <a:cs typeface="Instrument Sans Semi Bold" pitchFamily="34" charset="-120"/>
              </a:rPr>
              <a:t>Tiết kiệm thời gian tìm kiếm</a:t>
            </a:r>
            <a:endParaRPr kumimoji="0" lang="en-US" sz="2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7657505" y="3574733"/>
            <a:ext cx="5991463" cy="681514"/>
          </a:xfrm>
          <a:prstGeom prst="rect">
            <a:avLst/>
          </a:prstGeom>
          <a:noFill/>
          <a:ln/>
        </p:spPr>
        <p:txBody>
          <a:bodyPr wrap="square" lIns="0" tIns="0" rIns="0" bIns="0" rtlCol="0" anchor="t"/>
          <a:lstStyle/>
          <a:p>
            <a:pPr marL="0" marR="0" lvl="0" indent="0" algn="just" defTabSz="914400" rtl="0" eaLnBrk="1" fontAlgn="auto" latinLnBrk="0" hangingPunct="1">
              <a:lnSpc>
                <a:spcPts val="265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Không cần duyệt qua toàn bộ dữ liệu, giúp giảm đáng kể thời gian tìm kiếm, đặc biệt với tập dữ liệu lớn.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745569" y="5388173"/>
            <a:ext cx="6463070" cy="2251115"/>
          </a:xfrm>
          <a:prstGeom prst="roundRect">
            <a:avLst>
              <a:gd name="adj" fmla="val 4874"/>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745569" y="5365313"/>
            <a:ext cx="6463070" cy="91440"/>
          </a:xfrm>
          <a:prstGeom prst="roundRect">
            <a:avLst>
              <a:gd name="adj" fmla="val 209666"/>
            </a:avLst>
          </a:prstGeom>
          <a:solidFill>
            <a:srgbClr val="84C1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4"/>
          <p:cNvSpPr/>
          <p:nvPr/>
        </p:nvSpPr>
        <p:spPr>
          <a:xfrm>
            <a:off x="3657540" y="5068729"/>
            <a:ext cx="639008" cy="639008"/>
          </a:xfrm>
          <a:prstGeom prst="roundRect">
            <a:avLst>
              <a:gd name="adj" fmla="val 143097"/>
            </a:avLst>
          </a:prstGeom>
          <a:solidFill>
            <a:srgbClr val="84C1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9" name="Image 2" descr="preencoded.png"/>
          <p:cNvPicPr>
            <a:picLocks noChangeAspect="1"/>
          </p:cNvPicPr>
          <p:nvPr/>
        </p:nvPicPr>
        <p:blipFill>
          <a:blip r:embed="rId5"/>
          <a:stretch>
            <a:fillRect/>
          </a:stretch>
        </p:blipFill>
        <p:spPr>
          <a:xfrm>
            <a:off x="3849231" y="5228511"/>
            <a:ext cx="255508" cy="319445"/>
          </a:xfrm>
          <a:prstGeom prst="rect">
            <a:avLst/>
          </a:prstGeom>
        </p:spPr>
      </p:pic>
      <p:sp>
        <p:nvSpPr>
          <p:cNvPr id="20" name="Text 15"/>
          <p:cNvSpPr/>
          <p:nvPr/>
        </p:nvSpPr>
        <p:spPr>
          <a:xfrm>
            <a:off x="981432" y="5920621"/>
            <a:ext cx="2662714" cy="332780"/>
          </a:xfrm>
          <a:prstGeom prst="rect">
            <a:avLst/>
          </a:prstGeom>
          <a:noFill/>
          <a:ln/>
        </p:spPr>
        <p:txBody>
          <a:bodyPr wrap="none" lIns="0" tIns="0" rIns="0" bIns="0" rtlCol="0" anchor="t"/>
          <a:lstStyle/>
          <a:p>
            <a:pPr marL="0" marR="0" lvl="0" indent="0" algn="l" defTabSz="914400" rtl="0" eaLnBrk="1" fontAlgn="auto" latinLnBrk="0" hangingPunct="1">
              <a:lnSpc>
                <a:spcPts val="2600"/>
              </a:lnSpc>
              <a:spcBef>
                <a:spcPts val="0"/>
              </a:spcBef>
              <a:spcAft>
                <a:spcPts val="0"/>
              </a:spcAft>
              <a:buClrTx/>
              <a:buSzTx/>
              <a:buFontTx/>
              <a:buNone/>
              <a:tabLst/>
              <a:defRPr/>
            </a:pPr>
            <a:r>
              <a:rPr kumimoji="0" lang="en-US" sz="2050" b="0" i="0" u="none" strike="noStrike" kern="1200" cap="none" spc="0" normalizeH="0" baseline="0" noProof="0" dirty="0">
                <a:ln>
                  <a:noFill/>
                </a:ln>
                <a:solidFill>
                  <a:srgbClr val="921653"/>
                </a:solidFill>
                <a:effectLst/>
                <a:uLnTx/>
                <a:uFillTx/>
                <a:latin typeface="Instrument Sans Semi Bold" pitchFamily="34" charset="0"/>
                <a:ea typeface="Instrument Sans Semi Bold" pitchFamily="34" charset="-122"/>
                <a:cs typeface="Instrument Sans Semi Bold" pitchFamily="34" charset="-120"/>
              </a:rPr>
              <a:t>Cần hàm băm tốt</a:t>
            </a:r>
            <a:endParaRPr kumimoji="0" lang="en-US" sz="2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981432" y="6381155"/>
            <a:ext cx="5991344" cy="1022271"/>
          </a:xfrm>
          <a:prstGeom prst="rect">
            <a:avLst/>
          </a:prstGeom>
          <a:noFill/>
          <a:ln/>
        </p:spPr>
        <p:txBody>
          <a:bodyPr wrap="square" lIns="0" tIns="0" rIns="0" bIns="0" rtlCol="0" anchor="t"/>
          <a:lstStyle/>
          <a:p>
            <a:pPr marL="0" marR="0" lvl="0" indent="0" algn="just" defTabSz="914400" rtl="0" eaLnBrk="1" fontAlgn="auto" latinLnBrk="0" hangingPunct="1">
              <a:lnSpc>
                <a:spcPts val="265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Hiệu quả phụ thuộc rất nhiều vào chất lượng của hàm băm. Một hàm băm tồi có thể dẫn đến xung đột liên tục và giảm hiệu suất.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7"/>
          <p:cNvSpPr/>
          <p:nvPr/>
        </p:nvSpPr>
        <p:spPr>
          <a:xfrm>
            <a:off x="7421642" y="5388173"/>
            <a:ext cx="6463189" cy="2251115"/>
          </a:xfrm>
          <a:prstGeom prst="roundRect">
            <a:avLst>
              <a:gd name="adj" fmla="val 4874"/>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7421642" y="5365313"/>
            <a:ext cx="6463189" cy="91440"/>
          </a:xfrm>
          <a:prstGeom prst="roundRect">
            <a:avLst>
              <a:gd name="adj" fmla="val 209666"/>
            </a:avLst>
          </a:prstGeom>
          <a:solidFill>
            <a:srgbClr val="84C1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10333732" y="5068729"/>
            <a:ext cx="639008" cy="639008"/>
          </a:xfrm>
          <a:prstGeom prst="roundRect">
            <a:avLst>
              <a:gd name="adj" fmla="val 143097"/>
            </a:avLst>
          </a:prstGeom>
          <a:solidFill>
            <a:srgbClr val="84C1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tretch>
            <a:fillRect/>
          </a:stretch>
        </p:blipFill>
        <p:spPr>
          <a:xfrm>
            <a:off x="10525423" y="5228511"/>
            <a:ext cx="255508" cy="319445"/>
          </a:xfrm>
          <a:prstGeom prst="rect">
            <a:avLst/>
          </a:prstGeom>
        </p:spPr>
      </p:pic>
      <p:sp>
        <p:nvSpPr>
          <p:cNvPr id="26" name="Text 20"/>
          <p:cNvSpPr/>
          <p:nvPr/>
        </p:nvSpPr>
        <p:spPr>
          <a:xfrm>
            <a:off x="7657505" y="5920621"/>
            <a:ext cx="3297912" cy="332780"/>
          </a:xfrm>
          <a:prstGeom prst="rect">
            <a:avLst/>
          </a:prstGeom>
          <a:noFill/>
          <a:ln/>
        </p:spPr>
        <p:txBody>
          <a:bodyPr wrap="none" lIns="0" tIns="0" rIns="0" bIns="0" rtlCol="0" anchor="t"/>
          <a:lstStyle/>
          <a:p>
            <a:pPr marL="0" marR="0" lvl="0" indent="0" algn="l" defTabSz="914400" rtl="0" eaLnBrk="1" fontAlgn="auto" latinLnBrk="0" hangingPunct="1">
              <a:lnSpc>
                <a:spcPts val="2600"/>
              </a:lnSpc>
              <a:spcBef>
                <a:spcPts val="0"/>
              </a:spcBef>
              <a:spcAft>
                <a:spcPts val="0"/>
              </a:spcAft>
              <a:buClrTx/>
              <a:buSzTx/>
              <a:buFontTx/>
              <a:buNone/>
              <a:tabLst/>
              <a:defRPr/>
            </a:pPr>
            <a:r>
              <a:rPr kumimoji="0" lang="en-US" sz="2050" b="0" i="0" u="none" strike="noStrike" kern="1200" cap="none" spc="0" normalizeH="0" baseline="0" noProof="0" dirty="0">
                <a:ln>
                  <a:noFill/>
                </a:ln>
                <a:solidFill>
                  <a:srgbClr val="921653"/>
                </a:solidFill>
                <a:effectLst/>
                <a:uLnTx/>
                <a:uFillTx/>
                <a:latin typeface="Instrument Sans Semi Bold" pitchFamily="34" charset="0"/>
                <a:ea typeface="Instrument Sans Semi Bold" pitchFamily="34" charset="-122"/>
                <a:cs typeface="Instrument Sans Semi Bold" pitchFamily="34" charset="-120"/>
              </a:rPr>
              <a:t>Dễ xung đột khi dữ liệu lớn</a:t>
            </a:r>
            <a:endParaRPr kumimoji="0" lang="en-US" sz="2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1"/>
          <p:cNvSpPr/>
          <p:nvPr/>
        </p:nvSpPr>
        <p:spPr>
          <a:xfrm>
            <a:off x="7657505" y="6381155"/>
            <a:ext cx="5991463" cy="1022271"/>
          </a:xfrm>
          <a:prstGeom prst="rect">
            <a:avLst/>
          </a:prstGeom>
          <a:noFill/>
          <a:ln/>
        </p:spPr>
        <p:txBody>
          <a:bodyPr wrap="square" lIns="0" tIns="0" rIns="0" bIns="0" rtlCol="0" anchor="t"/>
          <a:lstStyle/>
          <a:p>
            <a:pPr marL="0" marR="0" lvl="0" indent="0" algn="just" defTabSz="914400" rtl="0" eaLnBrk="1" fontAlgn="auto" latinLnBrk="0" hangingPunct="1">
              <a:lnSpc>
                <a:spcPts val="265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Khi số lượng dữ liệu tăng lên, khả năng xảy ra xung đột cũng tăng theo, đòi hỏi các phương pháp xử lý xung đột phức tạp hơn.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262FDBF5-8C09-1F19-FB6F-1A229A9DAFB7}"/>
              </a:ext>
            </a:extLst>
          </p:cNvPr>
          <p:cNvSpPr/>
          <p:nvPr/>
        </p:nvSpPr>
        <p:spPr>
          <a:xfrm>
            <a:off x="12801600" y="7639288"/>
            <a:ext cx="1701800" cy="498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736050"/>
            <a:ext cx="5670590" cy="708779"/>
          </a:xfrm>
          <a:prstGeom prst="rect">
            <a:avLst/>
          </a:prstGeom>
          <a:noFill/>
          <a:ln/>
        </p:spPr>
        <p:txBody>
          <a:bodyPr wrap="none" lIns="0" tIns="0" rIns="0" bIns="0" rtlCol="0" anchor="t"/>
          <a:lstStyle/>
          <a:p>
            <a:pPr marL="0" marR="0" lvl="0" indent="0" algn="l" defTabSz="914400" rtl="0" eaLnBrk="1" fontAlgn="auto" latinLnBrk="0" hangingPunct="1">
              <a:lnSpc>
                <a:spcPts val="5550"/>
              </a:lnSpc>
              <a:spcBef>
                <a:spcPts val="0"/>
              </a:spcBef>
              <a:spcAft>
                <a:spcPts val="0"/>
              </a:spcAft>
              <a:buClrTx/>
              <a:buSzTx/>
              <a:buFontTx/>
              <a:buNone/>
              <a:tabLst/>
              <a:defRPr/>
            </a:pPr>
            <a:r>
              <a:rPr kumimoji="0" lang="en-US" sz="4450" b="0" i="0" u="none" strike="noStrike" kern="1200" cap="none" spc="0" normalizeH="0" baseline="0" noProof="0" dirty="0">
                <a:ln>
                  <a:noFill/>
                </a:ln>
                <a:solidFill>
                  <a:srgbClr val="091C53"/>
                </a:solidFill>
                <a:effectLst/>
                <a:uLnTx/>
                <a:uFillTx/>
                <a:latin typeface="Instrument Sans Semi Bold" pitchFamily="34" charset="0"/>
                <a:ea typeface="Instrument Sans Semi Bold" pitchFamily="34" charset="-122"/>
                <a:cs typeface="Instrument Sans Semi Bold" pitchFamily="34" charset="-120"/>
              </a:rPr>
              <a:t>Tổng kết và Kết luận</a:t>
            </a:r>
            <a:endParaRPr kumimoji="0" lang="en-US" sz="4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93790" y="2898457"/>
            <a:ext cx="13042821" cy="362903"/>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Hashing là một kỹ thuật nền tảng không thể thiếu trong khoa học máy tính và lập trình hiện đại.</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793790" y="3516511"/>
            <a:ext cx="13042821" cy="725805"/>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Hiệu quả của hashing phụ thuộc vào hai yếu tố then chốt: </a:t>
            </a:r>
            <a:r>
              <a:rPr kumimoji="0" lang="en-US" sz="2000" b="1" i="0" u="none" strike="noStrike" kern="1200" cap="none" spc="0" normalizeH="0" baseline="0" noProof="0" dirty="0">
                <a:ln>
                  <a:noFill/>
                </a:ln>
                <a:solidFill>
                  <a:srgbClr val="84C1FA"/>
                </a:solidFill>
                <a:effectLst/>
                <a:uLnTx/>
                <a:uFillTx/>
                <a:latin typeface="Instrument Sans Medium" pitchFamily="34" charset="0"/>
                <a:ea typeface="Instrument Sans Medium" pitchFamily="34" charset="-122"/>
                <a:cs typeface="Instrument Sans Medium" pitchFamily="34" charset="-120"/>
              </a:rPr>
              <a:t>chất lượng của hàm băm</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và </a:t>
            </a:r>
            <a:r>
              <a:rPr kumimoji="0" lang="en-US" sz="2000" b="1" i="0" u="none" strike="noStrike" kern="1200" cap="none" spc="0" normalizeH="0" baseline="0" noProof="0" dirty="0">
                <a:ln>
                  <a:noFill/>
                </a:ln>
                <a:solidFill>
                  <a:srgbClr val="84C1FA"/>
                </a:solidFill>
                <a:effectLst/>
                <a:uLnTx/>
                <a:uFillTx/>
                <a:latin typeface="Instrument Sans Medium" pitchFamily="34" charset="0"/>
                <a:ea typeface="Instrument Sans Medium" pitchFamily="34" charset="-122"/>
                <a:cs typeface="Instrument Sans Medium" pitchFamily="34" charset="-120"/>
              </a:rPr>
              <a:t>chiến lược xử lý xung đột</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được lựa chọn.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793790" y="4321612"/>
            <a:ext cx="13042821" cy="748665"/>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Từ việc lưu trữ dữ liệu hiệu quả trong </a:t>
            </a:r>
            <a:r>
              <a:rPr kumimoji="0" lang="en-US" sz="2000" b="0" i="0" u="none" strike="noStrike" kern="1200" cap="none" spc="0" normalizeH="0" baseline="0" noProof="0" dirty="0">
                <a:ln>
                  <a:noFill/>
                </a:ln>
                <a:solidFill>
                  <a:srgbClr val="1E3063"/>
                </a:solidFill>
                <a:effectLst/>
                <a:highlight>
                  <a:srgbClr val="F2F2F2"/>
                </a:highlight>
                <a:uLnTx/>
                <a:uFillTx/>
                <a:latin typeface="Consolas" pitchFamily="34" charset="0"/>
                <a:ea typeface="Consolas" pitchFamily="34" charset="-122"/>
                <a:cs typeface="Consolas" pitchFamily="34" charset="-120"/>
              </a:rPr>
              <a:t>HashMap</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đến đảm bảo an toàn cho các giao dịch trong </a:t>
            </a:r>
            <a:r>
              <a:rPr kumimoji="0" lang="en-US" sz="2000" b="0" i="0" u="none" strike="noStrike" kern="1200" cap="none" spc="0" normalizeH="0" baseline="0" noProof="0" dirty="0">
                <a:ln>
                  <a:noFill/>
                </a:ln>
                <a:solidFill>
                  <a:srgbClr val="1E3063"/>
                </a:solidFill>
                <a:effectLst/>
                <a:highlight>
                  <a:srgbClr val="F2F2F2"/>
                </a:highlight>
                <a:uLnTx/>
                <a:uFillTx/>
                <a:latin typeface="Consolas" pitchFamily="34" charset="0"/>
                <a:ea typeface="Consolas" pitchFamily="34" charset="-122"/>
                <a:cs typeface="Consolas" pitchFamily="34" charset="-120"/>
              </a:rPr>
              <a:t>Blockchain</a:t>
            </a: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 hashing có vô vàn ứng dụng thực tiễn quan trọng.</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93790" y="5149572"/>
            <a:ext cx="13042821" cy="725805"/>
          </a:xfrm>
          <a:prstGeom prst="rect">
            <a:avLst/>
          </a:prstGeom>
          <a:noFill/>
          <a:ln/>
        </p:spPr>
        <p:txBody>
          <a:bodyPr wrap="square" lIns="0" tIns="0" rIns="0" bIns="0" rtlCol="0" anchor="t"/>
          <a:lstStyle/>
          <a:p>
            <a:pPr marL="342900" marR="0" lvl="0" indent="-342900" algn="just" defTabSz="914400" rtl="0" eaLnBrk="1" fontAlgn="auto" latinLnBrk="0" hangingPunct="1">
              <a:lnSpc>
                <a:spcPts val="2850"/>
              </a:lnSpc>
              <a:spcBef>
                <a:spcPts val="0"/>
              </a:spcBef>
              <a:spcAft>
                <a:spcPts val="0"/>
              </a:spcAft>
              <a:buClrTx/>
              <a:buSzPct val="100000"/>
              <a:buFontTx/>
              <a:buChar char="•"/>
              <a:tabLst/>
              <a:defRPr/>
            </a:pPr>
            <a:r>
              <a:rPr kumimoji="0" lang="en-US" sz="2000" b="0" i="0" u="none" strike="noStrike" kern="1200" cap="none" spc="0" normalizeH="0" baseline="0" noProof="0" dirty="0">
                <a:ln>
                  <a:noFill/>
                </a:ln>
                <a:solidFill>
                  <a:srgbClr val="1E3063"/>
                </a:solidFill>
                <a:effectLst/>
                <a:uLnTx/>
                <a:uFillTx/>
                <a:latin typeface="Instrument Sans Medium" pitchFamily="34" charset="0"/>
                <a:ea typeface="Instrument Sans Medium" pitchFamily="34" charset="-122"/>
                <a:cs typeface="Instrument Sans Medium" pitchFamily="34" charset="-120"/>
              </a:rPr>
              <a:t>Với sự hiểu biết sâu sắc về hashing, các bạn sinh viên và lập trình viên mới ra trường sẽ có trong tay một công cụ mạnh mẽ để giải quyết nhiều bài toán phức tạp.</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93790" y="6130528"/>
            <a:ext cx="13042821" cy="362903"/>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B4E3C1AC-010E-D358-FFAE-7615978DE7A3}"/>
              </a:ext>
            </a:extLst>
          </p:cNvPr>
          <p:cNvSpPr/>
          <p:nvPr/>
        </p:nvSpPr>
        <p:spPr>
          <a:xfrm>
            <a:off x="12712700" y="7581900"/>
            <a:ext cx="1917700" cy="64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1386</TotalTime>
  <Words>3003</Words>
  <Application>Microsoft Office PowerPoint</Application>
  <PresentationFormat>Custom</PresentationFormat>
  <Paragraphs>214</Paragraphs>
  <Slides>21</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Instrument Sans Semi Bold</vt:lpstr>
      <vt:lpstr>Consolas</vt:lpstr>
      <vt:lpstr>Aptos</vt:lpstr>
      <vt:lpstr>Calibri</vt:lpstr>
      <vt:lpstr>Instrument Sans Light</vt:lpstr>
      <vt:lpstr>Arial</vt:lpstr>
      <vt:lpstr>Instrument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Kiên</dc:creator>
  <cp:lastModifiedBy>Trần Trung Kiên - 69IT1</cp:lastModifiedBy>
  <cp:revision>21</cp:revision>
  <dcterms:created xsi:type="dcterms:W3CDTF">2025-09-18T05:02:55Z</dcterms:created>
  <dcterms:modified xsi:type="dcterms:W3CDTF">2025-09-19T17:10:24Z</dcterms:modified>
</cp:coreProperties>
</file>