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Roboto Slab"/>
      <p:regular r:id="rId20"/>
    </p:embeddedFont>
    <p:embeddedFont>
      <p:font typeface="Roboto Slab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  <p:embeddedFont>
      <p:font typeface="Roboto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127" y="498277"/>
            <a:ext cx="4529852" cy="56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NHÓM 2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4127" y="1336238"/>
            <a:ext cx="6764060" cy="33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Bài tập tuần môn học: Cấu trúc dữ liệu và giải thuật 2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34127" y="1947624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Đề tài: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4127" y="2441377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Cây AA và cách xây dựng cây cân bằng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4127" y="2794635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trường hợp mất cân bằng và phương pháp xử lý mất cân bằng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4127" y="3147893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phép thao tác tìm kiếm và xóa phần tử trên cây AA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4127" y="3709511"/>
            <a:ext cx="2377083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Thành viên thực hiện: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34127" y="4264223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Trương Đức Mạnh - 0396369 - 69IT2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4127" y="4617482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Đặng Quang Anh - 0380469 - 69IT2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4127" y="4970740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Lê Thành Đạt - 0386969 - 69IT2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4127" y="5323999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Cao Thanh Phong - 0399369 - 69IT2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4127" y="5677257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Bùi Xuân Nhất - 0399169 - 69IT2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4127" y="6030516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Hải Nam - 0397769 - 69IT2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4127" y="6383774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Trương Anh Tuấn - 0405969 - 69IT2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4127" y="6737033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Tạ Duy Thái - 0402969 - 69IT2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4127" y="7090291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Phùng Thanh Nam - 0397869 - 69IT2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4127" y="7443549"/>
            <a:ext cx="787574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Phùng Đình Hoài An - 0379869 - 69IT2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745" y="492443"/>
            <a:ext cx="6178034" cy="77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Mục lục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745" y="1622822"/>
            <a:ext cx="895350" cy="10744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1165" y="1801892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Cây AA là gì?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" y="2697242"/>
            <a:ext cx="895350" cy="10744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01165" y="2876312"/>
            <a:ext cx="5493901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Cách xây dựng cây cân bằng (nguyên tắc hoạt động)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" y="3771662"/>
            <a:ext cx="895350" cy="10744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01165" y="3950732"/>
            <a:ext cx="4564023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Các trường hợp mất cân bằng và cách xử lý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1701165" y="4337923"/>
            <a:ext cx="1230249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Thao tác cân bằng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" y="4846082"/>
            <a:ext cx="895350" cy="1819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01165" y="5025152"/>
            <a:ext cx="3917156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Các phép thao tác cơ bản trên cây AA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701165" y="5412343"/>
            <a:ext cx="1230249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Tìm kiếm (Search)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701165" y="5806202"/>
            <a:ext cx="1230249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Xóa (Delete)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701165" y="6200061"/>
            <a:ext cx="12302490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Chèn (Insert)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45" y="6665595"/>
            <a:ext cx="895350" cy="10744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01165" y="6844665"/>
            <a:ext cx="2277666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Ứng dụng vào thực tế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007632"/>
            <a:ext cx="4919305" cy="42142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9409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Cây AA là gì?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1989892"/>
            <a:ext cx="7556421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1989892"/>
            <a:ext cx="121920" cy="245661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2524" y="2247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Định nghĩa</a:t>
            </a:r>
            <a:endParaRPr lang="en-US" sz="2200" dirty="0"/>
          </a:p>
        </p:txBody>
      </p:sp>
      <p:sp>
        <p:nvSpPr>
          <p:cNvPr id="8" name="Text 3"/>
          <p:cNvSpPr/>
          <p:nvPr/>
        </p:nvSpPr>
        <p:spPr>
          <a:xfrm>
            <a:off x="1142524" y="2737604"/>
            <a:ext cx="695039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Cây AA (AA Tree) là một dạng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cây tìm kiếm nhị phân cân bằng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(Balanced Binary Search Tree) được phát triển bởi Arne Andersson vào năm 1993. Nó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tương tự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như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cây đỏ-đen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nhưng đơn giản và dễ triển khai hơn nhờ việc giảm số lượng trường hợp xử lý cân bằng.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793790" y="4673322"/>
            <a:ext cx="7556421" cy="2615208"/>
          </a:xfrm>
          <a:prstGeom prst="roundRect">
            <a:avLst>
              <a:gd name="adj" fmla="val 5594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673322"/>
            <a:ext cx="121920" cy="26152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2524" y="4930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Đặc điểm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42524" y="542103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Dựa trên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cây tìm kiếm nhị phân (BST)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thỏa mãn thuộc tính: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Nút bên trái &lt; nút gốc &lt; nút bên phải.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42524" y="622613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Cân bằng dựa trên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cấp độ (level)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thay vì màu như cây đỏ-đen.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142524" y="6668333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Cấu trúc đơn giản hơn so với cây AVL hay cây đỏ-đen.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609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Cách xây dựng cây cân bằng (nguyên tắc hoạt động)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77277"/>
            <a:ext cx="4196358" cy="4146113"/>
          </a:xfrm>
          <a:prstGeom prst="roundRect">
            <a:avLst>
              <a:gd name="adj" fmla="val 3529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2977277"/>
            <a:ext cx="121920" cy="4146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7185" y="3234571"/>
            <a:ext cx="3300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Mỗi nút trong cây AA có: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724989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(giá trị)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để so sánh.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142524" y="4167188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Left, Right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(con trái, con phải).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2524" y="460938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(mức, tương tự độ cao nhưng được quy định chặt chẽ).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977277"/>
            <a:ext cx="4196358" cy="4146113"/>
          </a:xfrm>
          <a:prstGeom prst="roundRect">
            <a:avLst>
              <a:gd name="adj" fmla="val 3529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2977277"/>
            <a:ext cx="121920" cy="41461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66805" y="3234571"/>
            <a:ext cx="2987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Quy tắc về mức (level):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3724989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của nút lá = 1.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565696" y="416718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của nút con phải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mức của nút cha.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565696" y="4972288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Mức của nút con trái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mức của nút cha.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5565696" y="577738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Không có hai nút con phải liên tiếp có cùng mức (hạn chế cây lệch phải).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2977277"/>
            <a:ext cx="4196358" cy="4146113"/>
          </a:xfrm>
          <a:prstGeom prst="roundRect">
            <a:avLst>
              <a:gd name="adj" fmla="val 3529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977277"/>
            <a:ext cx="121920" cy="41461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6415" y="3234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Cân bằng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988868" y="372498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Khi chèn (insert) hoặc xóa (delete) có thể làm mất cân bằng, cần thao tác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skew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và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để phục hồi.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8569"/>
            <a:ext cx="12150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Các trường hợp mất cân bằng và cách xử lý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509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Sau khi thêm hoặc xóa một nút, cây có thể vi phạm quy tắc cân bằng. Hai thao tác cơ bản dùng để phục hồi: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69030"/>
            <a:ext cx="6407944" cy="2672001"/>
          </a:xfrm>
          <a:prstGeom prst="roundRect">
            <a:avLst>
              <a:gd name="adj" fmla="val 547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669030"/>
            <a:ext cx="121920" cy="2672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8416" y="3926324"/>
            <a:ext cx="2950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Mất cân bằng do chèn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441674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trái cùng level với cha ⟶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Skew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(Xoay phải).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2524" y="4858941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phải phải cùng level với cha ⟶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(Xoay trái và tăng level).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2524" y="5720834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8548" y="3669030"/>
            <a:ext cx="6408063" cy="2672001"/>
          </a:xfrm>
          <a:prstGeom prst="roundRect">
            <a:avLst>
              <a:gd name="adj" fmla="val 5475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067" y="3669030"/>
            <a:ext cx="121920" cy="26720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60681" y="39263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Mất cân bằng do xóa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777282" y="441674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 của nút quá cao so với con ⟶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giảm level + Skew + Split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(giảm độ cao và phục hồi cân bằng).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18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Ví Dụ: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979" y="2960251"/>
            <a:ext cx="5103495" cy="34023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926" y="2960251"/>
            <a:ext cx="5103495" cy="3402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48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Thao tác cân bằng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05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Skew (Xoay phải):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72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Khi con trái có cùng mức (level) với cha → thực hiện xoay phải để cân bằng.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332684"/>
            <a:ext cx="6244709" cy="16891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2770584"/>
            <a:ext cx="3906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Split (Xoay trái và tăng level):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335172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Khi con phải và con phải của con phải cùng mức với cha → thực hiện xoay trái, sau đó tăng level nút mới lên 1.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4332684"/>
            <a:ext cx="6244709" cy="2146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763" y="582692"/>
            <a:ext cx="767976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 Các phép thao tác cơ bản trên cây AA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78763" y="1678067"/>
            <a:ext cx="6653808" cy="2513290"/>
          </a:xfrm>
          <a:prstGeom prst="roundRect">
            <a:avLst>
              <a:gd name="adj" fmla="val 4366"/>
            </a:avLst>
          </a:prstGeom>
          <a:solidFill>
            <a:srgbClr val="2027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763" y="1655207"/>
            <a:ext cx="6653808" cy="914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30060"/>
            <a:ext cx="496014" cy="4960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06428" y="1554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66882" y="2091452"/>
            <a:ext cx="2067044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Tìm kiếm (Search)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66882" y="2448997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 tắc giống cây nhị phân tìm kiếm: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6882" y="2771418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giá trị nhỏ hơn nút hiện tại → đi sang trái.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66882" y="3093839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lớn hơn → đi sang phải.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66882" y="3416260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bằng → trả về nút tìm được.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97829" y="1678067"/>
            <a:ext cx="6653808" cy="2513290"/>
          </a:xfrm>
          <a:prstGeom prst="roundRect">
            <a:avLst>
              <a:gd name="adj" fmla="val 4366"/>
            </a:avLst>
          </a:prstGeom>
          <a:solidFill>
            <a:srgbClr val="20273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829" y="1655207"/>
            <a:ext cx="6653808" cy="9144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667" y="1430060"/>
            <a:ext cx="496014" cy="4960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25495" y="15540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585948" y="2091452"/>
            <a:ext cx="2067044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Xóa (Delete)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585948" y="2448997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bước chính: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585948" y="2771418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Tìm nút cần xóa.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585948" y="3093839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có hai con: thay bằng nút kế nhiệm (successor).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585948" y="3416260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Giảm mức (level) nếu cần.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585948" y="3738682"/>
            <a:ext cx="6277570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Sau đó, thực hiện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Skew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và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trên đường đi về gốc để duy trì cân bằng.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78763" y="4604623"/>
            <a:ext cx="13472874" cy="3042285"/>
          </a:xfrm>
          <a:prstGeom prst="roundRect">
            <a:avLst>
              <a:gd name="adj" fmla="val 3607"/>
            </a:avLst>
          </a:prstGeom>
          <a:solidFill>
            <a:srgbClr val="20273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63" y="4581763"/>
            <a:ext cx="13472874" cy="91440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193" y="4356616"/>
            <a:ext cx="496014" cy="49601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16021" y="448056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766882" y="5018008"/>
            <a:ext cx="2067044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Chèn (Insert)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66882" y="5375553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•Chèn như BST thường: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766882" y="5739289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•Nếu key nhỏ hơn → đi sang trái.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66882" y="6103025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•Nếu key lớn hơn → đi sang phải.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766882" y="6466761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•Sau khi chèn xong: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766882" y="6830497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•Gọi Skew để xử lý trường hợp có liên kết ngang trái.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66882" y="7194233"/>
            <a:ext cx="13096637" cy="264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•Gọi Split để xử lý trường hợp có hai liên kết ngang phải liên tiếp.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88" y="1476732"/>
            <a:ext cx="4919305" cy="52760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437084"/>
            <a:ext cx="59519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4.1. Tìm kiếm (Search)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24860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 tắc giống cây nhị phân tìm kiếm: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80190" y="3104078"/>
            <a:ext cx="3664744" cy="1730812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10" y="3104078"/>
            <a:ext cx="121920" cy="17308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40604" y="3361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Bước 1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628924" y="3851791"/>
            <a:ext cx="30587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giá trị nhỏ hơn nút hiện tại → đi sang trái.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10171748" y="3104078"/>
            <a:ext cx="3664863" cy="1730812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68" y="3104078"/>
            <a:ext cx="121920" cy="17308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632281" y="3361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Bước 2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520482" y="3851791"/>
            <a:ext cx="30588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lớn hơn → đi sang phải.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8225909" y="5061704"/>
            <a:ext cx="3664863" cy="1730812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429" y="5061704"/>
            <a:ext cx="121920" cy="17308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443" y="53189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Bước 3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574643" y="5809417"/>
            <a:ext cx="30588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Nếu bằng → trả về nút tìm được.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128" y="2251472"/>
            <a:ext cx="4970145" cy="372760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22828" y="567928"/>
            <a:ext cx="5163860" cy="64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4.2. Xóa (Delete)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722828" y="1523167"/>
            <a:ext cx="7698343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Các bước chính:</a:t>
            </a:r>
            <a:endParaRPr lang="en-US" sz="16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28" y="2085975"/>
            <a:ext cx="619601" cy="1143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48884" y="2292429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Tìm nút cần xóa.</a:t>
            </a:r>
            <a:endParaRPr lang="en-US" sz="2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29" y="3531751"/>
            <a:ext cx="619601" cy="1143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858685" y="3738205"/>
            <a:ext cx="6327457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Nếu có hai con: thay bằng nút kế nhiệm (successor).</a:t>
            </a:r>
            <a:endParaRPr lang="en-US" sz="20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430" y="4977527"/>
            <a:ext cx="619601" cy="11430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68485" y="5183981"/>
            <a:ext cx="3158133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Giảm mức (level) nếu cần.</a:t>
            </a:r>
            <a:endParaRPr lang="en-US" sz="2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230" y="6423303"/>
            <a:ext cx="619601" cy="11430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478286" y="6629757"/>
            <a:ext cx="5942886" cy="645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Sau đó, thực hiện 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Skew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và 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Split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trên đường đi về gốc để duy trì cân bằng.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572333"/>
            <a:ext cx="5203269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4.3. Chèn (Insert)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8424" y="1722120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01. Chèn như BST thường: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8424" y="2242304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•Nếu key nhỏ hơn → đi sang trái.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8424" y="2762488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•Nếu key lớn hơn → đi sang phải.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8424" y="3282672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02. Sau khi chèn xong: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8424" y="3802856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•Gọi Skew để xử lý trường hợp có liên kết ngang trái.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8424" y="4323040"/>
            <a:ext cx="5511998" cy="66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•Gọi Split để xử lý trường hợp có hai liên kết ngang phải liên tiếp.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8424" y="5176123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03. Trả về nút đã cân bằng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8424" y="5696307"/>
            <a:ext cx="5511998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VD: Insert 45 vào cây AA đã cho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3345" y="1732836"/>
            <a:ext cx="7138511" cy="249757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45" y="4396859"/>
            <a:ext cx="7138511" cy="24975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424" y="7326511"/>
            <a:ext cx="13173551" cy="332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766882"/>
            <a:ext cx="6122313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5. Ứng dụng vào thực tế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53" y="1887855"/>
            <a:ext cx="546735" cy="5467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5555" y="1983462"/>
            <a:ext cx="5592961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Sử dụng cây AA trong </a:t>
            </a:r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cấu trúc Set/Map có thứ tự (trong RAM)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585555" y="2935010"/>
            <a:ext cx="5592961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Khi cần duyệt theo thứ tự tăng dần, tìm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 x / &gt;= x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hoặc tìm “hàng xóm” (tiền nhiệm/kế nhiệm).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85555" y="3726537"/>
            <a:ext cx="5592961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 Danh bạ sinh viên theo mã số; cần in ra từ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MSSV_20200001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đến 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MSSV_20200050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rất nhanh.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84" y="1887855"/>
            <a:ext cx="546735" cy="5467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71986" y="1983462"/>
            <a:ext cx="5592961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Sử dụng cây AA trong </a:t>
            </a:r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bộ lập lịch Timer có hủy giữa chừng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8271986" y="2935010"/>
            <a:ext cx="55929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Lưu timer theo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thời điểm hết hạn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cần lấy timer sắp hết hạn nhất và có thể xóa tùy ý.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71986" y="3711297"/>
            <a:ext cx="55929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 App chat đặt “đã xem” sau 5s; nếu người dùng đóng cửa sổ, timer đó bị hủy.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53" y="4879062"/>
            <a:ext cx="546735" cy="5467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85555" y="4974669"/>
            <a:ext cx="5592961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Sử dụng cây AA trong </a:t>
            </a:r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quản lý vùng nhớ trống (Best-fit Memory Allocator)</a:t>
            </a:r>
            <a:endParaRPr lang="en-US" sz="2550" dirty="0"/>
          </a:p>
        </p:txBody>
      </p:sp>
      <p:sp>
        <p:nvSpPr>
          <p:cNvPr id="13" name="Text 8"/>
          <p:cNvSpPr/>
          <p:nvPr/>
        </p:nvSpPr>
        <p:spPr>
          <a:xfrm>
            <a:off x="1585555" y="6336387"/>
            <a:ext cx="55929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Lưu các khoảng trống theo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kích thước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hoặc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địa chỉ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để tìm khoảng vừa khít nhất.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585555" y="7112675"/>
            <a:ext cx="5592961" cy="34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 Hệ điều hành cần phân bổ bộ nhớ cho tiến trình.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884" y="4879062"/>
            <a:ext cx="546735" cy="54673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71986" y="4974669"/>
            <a:ext cx="5592961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Sử dụng cây AA trong </a:t>
            </a:r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index trên RAM cho cơ sở dữ liệu</a:t>
            </a:r>
            <a:endParaRPr lang="en-US" sz="2550" dirty="0"/>
          </a:p>
        </p:txBody>
      </p:sp>
      <p:sp>
        <p:nvSpPr>
          <p:cNvPr id="17" name="Text 11"/>
          <p:cNvSpPr/>
          <p:nvPr/>
        </p:nvSpPr>
        <p:spPr>
          <a:xfrm>
            <a:off x="8271986" y="5926217"/>
            <a:ext cx="55929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Dùng để tìm kiếm nhanh các bản ghi theo điều kiện giá trị có thứ tự.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8271986" y="6702504"/>
            <a:ext cx="5592961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Ví dụ: Bảng “user last_login” để lấy tất cả user đăng nhập từ ngày 01/08 đến 10/08.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136583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Cảm ơn thầy và các bạn đã lắng nghe phần trình bày của nhóm em.</a:t>
            </a:r>
            <a:endParaRPr lang="en-US" sz="6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2025-10-04T05:31:53Z</dcterms:created>
  <dcterms:modified xsi:type="dcterms:W3CDTF">2025-10-04T05:31:53Z</dcterms:modified>
</cp:coreProperties>
</file>