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0" r:id="rId4"/>
    <p:sldId id="258" r:id="rId5"/>
    <p:sldId id="277" r:id="rId6"/>
    <p:sldId id="279" r:id="rId7"/>
    <p:sldId id="266" r:id="rId8"/>
    <p:sldId id="280" r:id="rId9"/>
    <p:sldId id="281" r:id="rId10"/>
    <p:sldId id="282" r:id="rId11"/>
    <p:sldId id="283" r:id="rId12"/>
    <p:sldId id="284" r:id="rId13"/>
    <p:sldId id="285" r:id="rId14"/>
    <p:sldId id="259" r:id="rId15"/>
    <p:sldId id="286" r:id="rId16"/>
    <p:sldId id="287" r:id="rId17"/>
    <p:sldId id="288" r:id="rId18"/>
    <p:sldId id="289" r:id="rId19"/>
    <p:sldId id="290" r:id="rId20"/>
    <p:sldId id="291" r:id="rId21"/>
    <p:sldId id="292" r:id="rId22"/>
    <p:sldId id="293" r:id="rId23"/>
    <p:sldId id="294" r:id="rId24"/>
    <p:sldId id="295" r:id="rId25"/>
    <p:sldId id="296" r:id="rId26"/>
    <p:sldId id="297" r:id="rId27"/>
    <p:sldId id="273" r:id="rId28"/>
  </p:sldIdLst>
  <p:sldSz cx="18288000" cy="10287000"/>
  <p:notesSz cx="6858000" cy="9144000"/>
  <p:embeddedFontLst>
    <p:embeddedFont>
      <p:font typeface="Crimson Roman" panose="020B0604020202020204" charset="0"/>
      <p:regular r:id="rId29"/>
    </p:embeddedFont>
    <p:embeddedFont>
      <p:font typeface="Calibri" panose="020F0502020204030204" pitchFamily="34" charset="0"/>
      <p:regular r:id="rId30"/>
      <p:bold r:id="rId31"/>
      <p:italic r:id="rId32"/>
      <p:boldItalic r:id="rId33"/>
    </p:embeddedFont>
    <p:embeddedFont>
      <p:font typeface="Cambria Math" panose="02040503050406030204" pitchFamily="18"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28" d="100"/>
          <a:sy n="28" d="100"/>
        </p:scale>
        <p:origin x="102" y="7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6.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4.sv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4.sv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4.sv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6.sv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4.sv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4.sv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46.svg"/></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4.sv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4.sv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46.svg"/></Relationships>
</file>

<file path=ppt/slides/_rels/slide2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4.sv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4.svg"/><Relationship Id="rId4" Type="http://schemas.openxmlformats.org/officeDocument/2006/relationships/image" Target="../media/image10.png"/><Relationship Id="rId9" Type="http://schemas.openxmlformats.org/officeDocument/2006/relationships/image" Target="../media/image27.png"/></Relationships>
</file>

<file path=ppt/slides/_rels/slide2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4.svg"/><Relationship Id="rId4" Type="http://schemas.openxmlformats.org/officeDocument/2006/relationships/image" Target="../media/image10.png"/><Relationship Id="rId9" Type="http://schemas.openxmlformats.org/officeDocument/2006/relationships/image" Target="../media/image28.png"/></Relationships>
</file>

<file path=ppt/slides/_rels/slide2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34.sv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grpSp>
        <p:nvGrpSpPr>
          <p:cNvPr id="2" name="Group 2"/>
          <p:cNvGrpSpPr/>
          <p:nvPr/>
        </p:nvGrpSpPr>
        <p:grpSpPr>
          <a:xfrm>
            <a:off x="3156190" y="2248410"/>
            <a:ext cx="11975621" cy="5335391"/>
            <a:chOff x="0" y="0"/>
            <a:chExt cx="15967494" cy="7113855"/>
          </a:xfrm>
        </p:grpSpPr>
        <p:sp>
          <p:nvSpPr>
            <p:cNvPr id="3" name="AutoShape 3"/>
            <p:cNvSpPr/>
            <p:nvPr/>
          </p:nvSpPr>
          <p:spPr>
            <a:xfrm>
              <a:off x="790755" y="6119235"/>
              <a:ext cx="14385985" cy="12752"/>
            </a:xfrm>
            <a:prstGeom prst="rect">
              <a:avLst/>
            </a:prstGeom>
            <a:solidFill>
              <a:srgbClr val="3D3D3D"/>
            </a:solidFill>
          </p:spPr>
        </p:sp>
        <p:sp>
          <p:nvSpPr>
            <p:cNvPr id="4" name="TextBox 4"/>
            <p:cNvSpPr txBox="1"/>
            <p:nvPr/>
          </p:nvSpPr>
          <p:spPr>
            <a:xfrm>
              <a:off x="0" y="3003344"/>
              <a:ext cx="15967494" cy="2326277"/>
            </a:xfrm>
            <a:prstGeom prst="rect">
              <a:avLst/>
            </a:prstGeom>
          </p:spPr>
          <p:txBody>
            <a:bodyPr lIns="0" tIns="0" rIns="0" bIns="0" rtlCol="0" anchor="t">
              <a:spAutoFit/>
            </a:bodyPr>
            <a:lstStyle/>
            <a:p>
              <a:pPr algn="ctr">
                <a:lnSpc>
                  <a:spcPts val="14300"/>
                </a:lnSpc>
              </a:pPr>
              <a:r>
                <a:rPr lang="en-US" sz="9600" dirty="0" smtClean="0">
                  <a:solidFill>
                    <a:srgbClr val="3849A2"/>
                  </a:solidFill>
                  <a:latin typeface="Crimson Roman" panose="020B0604020202020204" charset="0"/>
                </a:rPr>
                <a:t>Phương pháp đếm</a:t>
              </a:r>
              <a:endParaRPr lang="en-US" sz="9600" dirty="0">
                <a:solidFill>
                  <a:srgbClr val="3849A2"/>
                </a:solidFill>
                <a:latin typeface="Crimson Roman" panose="020B0604020202020204" charset="0"/>
              </a:endParaRPr>
            </a:p>
          </p:txBody>
        </p:sp>
        <p:sp>
          <p:nvSpPr>
            <p:cNvPr id="5" name="TextBox 5"/>
            <p:cNvSpPr txBox="1"/>
            <p:nvPr/>
          </p:nvSpPr>
          <p:spPr>
            <a:xfrm>
              <a:off x="0" y="6484570"/>
              <a:ext cx="15967494" cy="629285"/>
            </a:xfrm>
            <a:prstGeom prst="rect">
              <a:avLst/>
            </a:prstGeom>
          </p:spPr>
          <p:txBody>
            <a:bodyPr lIns="0" tIns="0" rIns="0" bIns="0" rtlCol="0" anchor="t">
              <a:spAutoFit/>
            </a:bodyPr>
            <a:lstStyle/>
            <a:p>
              <a:pPr algn="ctr">
                <a:lnSpc>
                  <a:spcPts val="3779"/>
                </a:lnSpc>
              </a:pPr>
              <a:r>
                <a:rPr lang="en-US" sz="2700" spc="189" dirty="0" smtClean="0">
                  <a:solidFill>
                    <a:srgbClr val="202020"/>
                  </a:solidFill>
                  <a:latin typeface="Crimson Roman"/>
                </a:rPr>
                <a:t>Chủ đề báo cáo lần 3</a:t>
              </a:r>
              <a:endParaRPr lang="en-US" sz="2700" spc="189" dirty="0">
                <a:solidFill>
                  <a:srgbClr val="202020"/>
                </a:solidFill>
                <a:latin typeface="Crimson Roman"/>
              </a:endParaRPr>
            </a:p>
          </p:txBody>
        </p:sp>
        <p:pic>
          <p:nvPicPr>
            <p:cNvPr id="6" name="Picture 6"/>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8996493" y="0"/>
              <a:ext cx="2137503" cy="2338238"/>
            </a:xfrm>
            <a:prstGeom prst="rect">
              <a:avLst/>
            </a:prstGeom>
          </p:spPr>
        </p:pic>
        <p:pic>
          <p:nvPicPr>
            <p:cNvPr id="7" name="Picture 7"/>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7273858" y="0"/>
              <a:ext cx="1056425" cy="2338238"/>
            </a:xfrm>
            <a:prstGeom prst="rect">
              <a:avLst/>
            </a:prstGeom>
          </p:spPr>
        </p:pic>
        <p:pic>
          <p:nvPicPr>
            <p:cNvPr id="8" name="Picture 8"/>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4833498" y="0"/>
              <a:ext cx="1774150" cy="2338238"/>
            </a:xfrm>
            <a:prstGeom prst="rect">
              <a:avLst/>
            </a:prstGeom>
          </p:spPr>
        </p:pic>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520410" y="1888946"/>
            <a:ext cx="3964858" cy="6509109"/>
          </a:xfrm>
          <a:prstGeom prst="rect">
            <a:avLst/>
          </a:prstGeom>
        </p:spPr>
      </p:pic>
      <p:sp>
        <p:nvSpPr>
          <p:cNvPr id="3" name="AutoShape 3"/>
          <p:cNvSpPr/>
          <p:nvPr/>
        </p:nvSpPr>
        <p:spPr>
          <a:xfrm>
            <a:off x="7703258" y="1028700"/>
            <a:ext cx="9525" cy="8229600"/>
          </a:xfrm>
          <a:prstGeom prst="rect">
            <a:avLst/>
          </a:prstGeom>
          <a:solidFill>
            <a:srgbClr val="3D3D3D"/>
          </a:solidFill>
        </p:spPr>
      </p:sp>
      <p:grpSp>
        <p:nvGrpSpPr>
          <p:cNvPr id="4" name="Group 4"/>
          <p:cNvGrpSpPr/>
          <p:nvPr/>
        </p:nvGrpSpPr>
        <p:grpSpPr>
          <a:xfrm>
            <a:off x="9498379" y="2640647"/>
            <a:ext cx="7579983" cy="3158334"/>
            <a:chOff x="-33867" y="1194886"/>
            <a:chExt cx="10106644" cy="4211110"/>
          </a:xfrm>
        </p:grpSpPr>
        <p:sp>
          <p:nvSpPr>
            <p:cNvPr id="6" name="TextBox 6"/>
            <p:cNvSpPr txBox="1"/>
            <p:nvPr/>
          </p:nvSpPr>
          <p:spPr>
            <a:xfrm>
              <a:off x="-33867" y="3148969"/>
              <a:ext cx="10072777" cy="2257027"/>
            </a:xfrm>
            <a:prstGeom prst="rect">
              <a:avLst/>
            </a:prstGeom>
          </p:spPr>
          <p:txBody>
            <a:bodyPr lIns="0" tIns="0" rIns="0" bIns="0" rtlCol="0" anchor="t">
              <a:spAutoFit/>
            </a:bodyPr>
            <a:lstStyle/>
            <a:p>
              <a:pPr>
                <a:lnSpc>
                  <a:spcPts val="3299"/>
                </a:lnSpc>
              </a:pPr>
              <a:r>
                <a:rPr lang="en-US" sz="2199" dirty="0" smtClean="0">
                  <a:solidFill>
                    <a:srgbClr val="202020"/>
                  </a:solidFill>
                  <a:latin typeface="Crimson Roman"/>
                </a:rPr>
                <a:t>Trần Anh Dũng</a:t>
              </a:r>
              <a:br>
                <a:rPr lang="en-US" sz="2199" dirty="0" smtClean="0">
                  <a:solidFill>
                    <a:srgbClr val="202020"/>
                  </a:solidFill>
                  <a:latin typeface="Crimson Roman"/>
                </a:rPr>
              </a:br>
              <a:r>
                <a:rPr lang="en-US" sz="2199" dirty="0" smtClean="0">
                  <a:solidFill>
                    <a:srgbClr val="202020"/>
                  </a:solidFill>
                  <a:latin typeface="Crimson Roman"/>
                </a:rPr>
                <a:t>Hoàng Đình Vinh</a:t>
              </a:r>
              <a:br>
                <a:rPr lang="en-US" sz="2199" dirty="0" smtClean="0">
                  <a:solidFill>
                    <a:srgbClr val="202020"/>
                  </a:solidFill>
                  <a:latin typeface="Crimson Roman"/>
                </a:rPr>
              </a:br>
              <a:r>
                <a:rPr lang="en-US" sz="2199" dirty="0" smtClean="0">
                  <a:solidFill>
                    <a:srgbClr val="202020"/>
                  </a:solidFill>
                  <a:latin typeface="Crimson Roman"/>
                </a:rPr>
                <a:t>Nguyễn Đình Hải</a:t>
              </a:r>
              <a:br>
                <a:rPr lang="en-US" sz="2199" dirty="0" smtClean="0">
                  <a:solidFill>
                    <a:srgbClr val="202020"/>
                  </a:solidFill>
                  <a:latin typeface="Crimson Roman"/>
                </a:rPr>
              </a:br>
              <a:r>
                <a:rPr lang="en-US" sz="2199" dirty="0" smtClean="0">
                  <a:solidFill>
                    <a:srgbClr val="202020"/>
                  </a:solidFill>
                  <a:latin typeface="Crimson Roman"/>
                </a:rPr>
                <a:t>Phạm Trung Nguyên</a:t>
              </a:r>
              <a:endParaRPr lang="en-US" sz="2199" dirty="0">
                <a:solidFill>
                  <a:srgbClr val="202020"/>
                </a:solidFill>
                <a:latin typeface="Crimson Roman"/>
              </a:endParaRPr>
            </a:p>
          </p:txBody>
        </p:sp>
        <p:sp>
          <p:nvSpPr>
            <p:cNvPr id="7" name="TextBox 7"/>
            <p:cNvSpPr txBox="1"/>
            <p:nvPr/>
          </p:nvSpPr>
          <p:spPr>
            <a:xfrm>
              <a:off x="0" y="1194886"/>
              <a:ext cx="10072777" cy="1923604"/>
            </a:xfrm>
            <a:prstGeom prst="rect">
              <a:avLst/>
            </a:prstGeom>
          </p:spPr>
          <p:txBody>
            <a:bodyPr lIns="0" tIns="0" rIns="0" bIns="0" rtlCol="0" anchor="t">
              <a:spAutoFit/>
            </a:bodyPr>
            <a:lstStyle/>
            <a:p>
              <a:pPr>
                <a:lnSpc>
                  <a:spcPts val="11000"/>
                </a:lnSpc>
              </a:pPr>
              <a:r>
                <a:rPr lang="en-US" sz="10000" dirty="0" smtClean="0">
                  <a:solidFill>
                    <a:srgbClr val="3849A2"/>
                  </a:solidFill>
                  <a:latin typeface="Crimson Roman" panose="020B0604020202020204" charset="0"/>
                </a:rPr>
                <a:t>Nhóm 9</a:t>
              </a:r>
              <a:endParaRPr lang="en-US" sz="10000" dirty="0">
                <a:solidFill>
                  <a:srgbClr val="3849A2"/>
                </a:solidFill>
                <a:latin typeface="Crimson Roman" panose="020B0604020202020204" charset="0"/>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7474427" y="5701772"/>
            <a:ext cx="3217003" cy="5346227"/>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4518085" y="7002013"/>
            <a:ext cx="2806087" cy="4045985"/>
          </a:xfrm>
          <a:prstGeom prst="rect">
            <a:avLst/>
          </a:prstGeom>
        </p:spPr>
      </p:pic>
      <p:sp>
        <p:nvSpPr>
          <p:cNvPr id="4" name="TextBox 4"/>
          <p:cNvSpPr txBox="1"/>
          <p:nvPr/>
        </p:nvSpPr>
        <p:spPr>
          <a:xfrm>
            <a:off x="2426718" y="1592951"/>
            <a:ext cx="13434563" cy="1442703"/>
          </a:xfrm>
          <a:prstGeom prst="rect">
            <a:avLst/>
          </a:prstGeom>
        </p:spPr>
        <p:txBody>
          <a:bodyPr lIns="0" tIns="0" rIns="0" bIns="0" rtlCol="0" anchor="t">
            <a:spAutoFit/>
          </a:bodyPr>
          <a:lstStyle/>
          <a:p>
            <a:pPr algn="ctr">
              <a:lnSpc>
                <a:spcPts val="11000"/>
              </a:lnSpc>
            </a:pPr>
            <a:r>
              <a:rPr lang="en-US" sz="10000" dirty="0" smtClean="0">
                <a:solidFill>
                  <a:srgbClr val="3849A2"/>
                </a:solidFill>
                <a:latin typeface="Crimson Roman" panose="020B0604020202020204" charset="0"/>
              </a:rPr>
              <a:t>Nguyên lý đếm cơ bản</a:t>
            </a:r>
            <a:endParaRPr lang="en-US" sz="10000" dirty="0">
              <a:solidFill>
                <a:srgbClr val="3849A2"/>
              </a:solidFill>
              <a:latin typeface="Crimson Roman" panose="020B0604020202020204" charset="0"/>
            </a:endParaRPr>
          </a:p>
        </p:txBody>
      </p:sp>
      <p:pic>
        <p:nvPicPr>
          <p:cNvPr id="5" name="Picture 5"/>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0841685" y="7002013"/>
            <a:ext cx="2928230" cy="3999398"/>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sp>
        <p:nvSpPr>
          <p:cNvPr id="2" name="TextBox 2"/>
          <p:cNvSpPr txBox="1"/>
          <p:nvPr/>
        </p:nvSpPr>
        <p:spPr>
          <a:xfrm>
            <a:off x="1168878" y="2299183"/>
            <a:ext cx="11861322" cy="2539157"/>
          </a:xfrm>
          <a:prstGeom prst="rect">
            <a:avLst/>
          </a:prstGeom>
        </p:spPr>
        <p:txBody>
          <a:bodyPr wrap="square" lIns="0" tIns="0" rIns="0" bIns="0" rtlCol="0" anchor="t">
            <a:spAutoFit/>
          </a:bodyPr>
          <a:lstStyle/>
          <a:p>
            <a:pPr marL="457200" lvl="0" indent="-457200" algn="l">
              <a:lnSpc>
                <a:spcPts val="3300"/>
              </a:lnSpc>
              <a:spcBef>
                <a:spcPct val="0"/>
              </a:spcBef>
              <a:buFontTx/>
              <a:buChar char="-"/>
            </a:pPr>
            <a:r>
              <a:rPr lang="en-US" sz="3200" u="none" dirty="0" smtClean="0">
                <a:solidFill>
                  <a:srgbClr val="202020"/>
                </a:solidFill>
                <a:latin typeface="Crimson Roman"/>
              </a:rPr>
              <a:t>Nếu 1 công việc có thể thực hiện bằng một trong hai phương án,</a:t>
            </a:r>
          </a:p>
          <a:p>
            <a:pPr lvl="0" algn="l">
              <a:lnSpc>
                <a:spcPts val="3300"/>
              </a:lnSpc>
              <a:spcBef>
                <a:spcPct val="0"/>
              </a:spcBef>
            </a:pPr>
            <a:r>
              <a:rPr lang="en-US" sz="3200" dirty="0">
                <a:solidFill>
                  <a:srgbClr val="202020"/>
                </a:solidFill>
                <a:latin typeface="Crimson Roman"/>
              </a:rPr>
              <a:t>p</a:t>
            </a:r>
            <a:r>
              <a:rPr lang="en-US" sz="3200" dirty="0" smtClean="0">
                <a:solidFill>
                  <a:srgbClr val="202020"/>
                </a:solidFill>
                <a:latin typeface="Crimson Roman"/>
              </a:rPr>
              <a:t>hương án 1 có n</a:t>
            </a:r>
            <a:r>
              <a:rPr lang="en-US" sz="3200" baseline="-25000" dirty="0" smtClean="0">
                <a:solidFill>
                  <a:srgbClr val="202020"/>
                </a:solidFill>
                <a:latin typeface="Crimson Roman"/>
              </a:rPr>
              <a:t>1</a:t>
            </a:r>
            <a:r>
              <a:rPr lang="en-US" sz="3200" dirty="0" smtClean="0">
                <a:solidFill>
                  <a:srgbClr val="202020"/>
                </a:solidFill>
                <a:latin typeface="Crimson Roman"/>
              </a:rPr>
              <a:t> cách thực hiện</a:t>
            </a:r>
          </a:p>
          <a:p>
            <a:pPr lvl="0" algn="l">
              <a:lnSpc>
                <a:spcPts val="3300"/>
              </a:lnSpc>
              <a:spcBef>
                <a:spcPct val="0"/>
              </a:spcBef>
            </a:pPr>
            <a:r>
              <a:rPr lang="en-US" sz="3200" dirty="0">
                <a:solidFill>
                  <a:srgbClr val="202020"/>
                </a:solidFill>
                <a:latin typeface="Crimson Roman"/>
              </a:rPr>
              <a:t>p</a:t>
            </a:r>
            <a:r>
              <a:rPr lang="en-US" sz="3200" u="none" dirty="0" smtClean="0">
                <a:solidFill>
                  <a:srgbClr val="202020"/>
                </a:solidFill>
                <a:latin typeface="Crimson Roman"/>
              </a:rPr>
              <a:t>hương án 2 có n</a:t>
            </a:r>
            <a:r>
              <a:rPr lang="en-US" sz="3200" u="none" baseline="-25000" dirty="0" smtClean="0">
                <a:solidFill>
                  <a:srgbClr val="202020"/>
                </a:solidFill>
                <a:latin typeface="Crimson Roman"/>
              </a:rPr>
              <a:t>2</a:t>
            </a:r>
            <a:r>
              <a:rPr lang="en-US" sz="3200" u="none" dirty="0" smtClean="0">
                <a:solidFill>
                  <a:srgbClr val="202020"/>
                </a:solidFill>
                <a:latin typeface="Crimson Roman"/>
              </a:rPr>
              <a:t> cách thực hiện</a:t>
            </a:r>
          </a:p>
          <a:p>
            <a:pPr lvl="0" algn="l">
              <a:lnSpc>
                <a:spcPts val="3300"/>
              </a:lnSpc>
              <a:spcBef>
                <a:spcPct val="0"/>
              </a:spcBef>
            </a:pPr>
            <a:r>
              <a:rPr lang="en-US" sz="3200" dirty="0" smtClean="0">
                <a:solidFill>
                  <a:srgbClr val="202020"/>
                </a:solidFill>
                <a:latin typeface="Crimson Roman"/>
              </a:rPr>
              <a:t>trong đó không có cách nào trong n</a:t>
            </a:r>
            <a:r>
              <a:rPr lang="en-US" sz="3200" baseline="-25000" dirty="0" smtClean="0">
                <a:solidFill>
                  <a:srgbClr val="202020"/>
                </a:solidFill>
                <a:latin typeface="Crimson Roman"/>
              </a:rPr>
              <a:t>1</a:t>
            </a:r>
            <a:r>
              <a:rPr lang="en-US" sz="3200" dirty="0" smtClean="0">
                <a:solidFill>
                  <a:srgbClr val="202020"/>
                </a:solidFill>
                <a:latin typeface="Crimson Roman"/>
              </a:rPr>
              <a:t> cách thực hiện phương án 1 là giống với bất kỳ cách nào trong số n</a:t>
            </a:r>
            <a:r>
              <a:rPr lang="en-US" sz="3200" baseline="-25000" dirty="0" smtClean="0">
                <a:solidFill>
                  <a:srgbClr val="202020"/>
                </a:solidFill>
                <a:latin typeface="Crimson Roman"/>
              </a:rPr>
              <a:t>2</a:t>
            </a:r>
            <a:r>
              <a:rPr lang="en-US" sz="3200" dirty="0" smtClean="0">
                <a:solidFill>
                  <a:srgbClr val="202020"/>
                </a:solidFill>
                <a:latin typeface="Crimson Roman"/>
              </a:rPr>
              <a:t> cách thực hiện phương án 2</a:t>
            </a:r>
          </a:p>
          <a:p>
            <a:pPr lvl="0" algn="l">
              <a:lnSpc>
                <a:spcPts val="3300"/>
              </a:lnSpc>
              <a:spcBef>
                <a:spcPct val="0"/>
              </a:spcBef>
            </a:pPr>
            <a:r>
              <a:rPr lang="en-US" sz="3200" u="none" dirty="0" smtClean="0">
                <a:solidFill>
                  <a:srgbClr val="202020"/>
                </a:solidFill>
                <a:latin typeface="Crimson Roman"/>
              </a:rPr>
              <a:t>→ có n</a:t>
            </a:r>
            <a:r>
              <a:rPr lang="en-US" sz="3200" u="none" baseline="-25000" dirty="0" smtClean="0">
                <a:solidFill>
                  <a:srgbClr val="202020"/>
                </a:solidFill>
                <a:latin typeface="Crimson Roman"/>
              </a:rPr>
              <a:t>1</a:t>
            </a:r>
            <a:r>
              <a:rPr lang="en-US" sz="3200" u="none" dirty="0" smtClean="0">
                <a:solidFill>
                  <a:srgbClr val="202020"/>
                </a:solidFill>
                <a:latin typeface="Crimson Roman"/>
              </a:rPr>
              <a:t> + n</a:t>
            </a:r>
            <a:r>
              <a:rPr lang="en-US" sz="3200" u="none" baseline="-25000" dirty="0" smtClean="0">
                <a:solidFill>
                  <a:srgbClr val="202020"/>
                </a:solidFill>
                <a:latin typeface="Crimson Roman"/>
              </a:rPr>
              <a:t>2</a:t>
            </a:r>
            <a:r>
              <a:rPr lang="en-US" sz="3200" u="none" dirty="0" smtClean="0">
                <a:solidFill>
                  <a:srgbClr val="202020"/>
                </a:solidFill>
                <a:latin typeface="Crimson Roman"/>
              </a:rPr>
              <a:t> cách thực hiện công việc đó.</a:t>
            </a:r>
            <a:endParaRPr lang="en-US" sz="3200" u="none" dirty="0">
              <a:solidFill>
                <a:srgbClr val="202020"/>
              </a:solidFill>
              <a:latin typeface="Crimson Roman"/>
            </a:endParaRPr>
          </a:p>
        </p:txBody>
      </p:sp>
      <p:pic>
        <p:nvPicPr>
          <p:cNvPr id="7" name="Picture 7"/>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3850143" y="2431763"/>
            <a:ext cx="3409157" cy="6194233"/>
          </a:xfrm>
          <a:prstGeom prst="rect">
            <a:avLst/>
          </a:prstGeom>
        </p:spPr>
      </p:pic>
      <p:sp>
        <p:nvSpPr>
          <p:cNvPr id="8" name="TextBox 6"/>
          <p:cNvSpPr txBox="1"/>
          <p:nvPr/>
        </p:nvSpPr>
        <p:spPr>
          <a:xfrm>
            <a:off x="1168879" y="723900"/>
            <a:ext cx="11479602" cy="1442703"/>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Nguyên lý cộng</a:t>
            </a:r>
            <a:endParaRPr lang="en-US" sz="8800" dirty="0">
              <a:solidFill>
                <a:srgbClr val="3849A2"/>
              </a:solidFill>
              <a:latin typeface="Crimson Roman" panose="020B0604020202020204" charset="0"/>
            </a:endParaRPr>
          </a:p>
        </p:txBody>
      </p:sp>
      <p:sp>
        <p:nvSpPr>
          <p:cNvPr id="9" name="TextBox 6"/>
          <p:cNvSpPr txBox="1"/>
          <p:nvPr/>
        </p:nvSpPr>
        <p:spPr>
          <a:xfrm>
            <a:off x="1168879" y="4970920"/>
            <a:ext cx="11479602" cy="1288814"/>
          </a:xfrm>
          <a:prstGeom prst="rect">
            <a:avLst/>
          </a:prstGeom>
        </p:spPr>
        <p:txBody>
          <a:bodyPr lIns="0" tIns="0" rIns="0" bIns="0" rtlCol="0" anchor="t">
            <a:spAutoFit/>
          </a:bodyPr>
          <a:lstStyle/>
          <a:p>
            <a:pPr>
              <a:lnSpc>
                <a:spcPts val="11000"/>
              </a:lnSpc>
            </a:pPr>
            <a:r>
              <a:rPr lang="en-US" sz="6000" dirty="0" smtClean="0">
                <a:solidFill>
                  <a:srgbClr val="3849A2"/>
                </a:solidFill>
                <a:latin typeface="Crimson Roman" panose="020B0604020202020204" charset="0"/>
              </a:rPr>
              <a:t>Mở rộng nguyên lý cộng</a:t>
            </a:r>
            <a:endParaRPr lang="en-US" sz="6000" dirty="0">
              <a:solidFill>
                <a:srgbClr val="3849A2"/>
              </a:solidFill>
              <a:latin typeface="Crimson Roman" panose="020B0604020202020204" charset="0"/>
            </a:endParaRPr>
          </a:p>
        </p:txBody>
      </p:sp>
      <p:sp>
        <p:nvSpPr>
          <p:cNvPr id="10" name="TextBox 2"/>
          <p:cNvSpPr txBox="1"/>
          <p:nvPr/>
        </p:nvSpPr>
        <p:spPr>
          <a:xfrm>
            <a:off x="1179038" y="6392314"/>
            <a:ext cx="11851162" cy="3385542"/>
          </a:xfrm>
          <a:prstGeom prst="rect">
            <a:avLst/>
          </a:prstGeom>
        </p:spPr>
        <p:txBody>
          <a:bodyPr wrap="square" lIns="0" tIns="0" rIns="0" bIns="0" rtlCol="0" anchor="t">
            <a:spAutoFit/>
          </a:bodyPr>
          <a:lstStyle/>
          <a:p>
            <a:pPr marL="457200" lvl="0" indent="-457200" algn="l">
              <a:lnSpc>
                <a:spcPts val="3300"/>
              </a:lnSpc>
              <a:spcBef>
                <a:spcPct val="0"/>
              </a:spcBef>
              <a:buFontTx/>
              <a:buChar char="-"/>
            </a:pPr>
            <a:r>
              <a:rPr lang="en-US" sz="3200" u="none" dirty="0" smtClean="0">
                <a:solidFill>
                  <a:srgbClr val="202020"/>
                </a:solidFill>
                <a:latin typeface="Crimson Roman"/>
              </a:rPr>
              <a:t>Giả sử rằng 1 công việc có thể thực hiện theo m phương án khác nhau:</a:t>
            </a:r>
          </a:p>
          <a:p>
            <a:pPr lvl="0" algn="l">
              <a:lnSpc>
                <a:spcPts val="3300"/>
              </a:lnSpc>
              <a:spcBef>
                <a:spcPct val="0"/>
              </a:spcBef>
            </a:pPr>
            <a:r>
              <a:rPr lang="en-US" sz="3200" dirty="0" smtClean="0">
                <a:solidFill>
                  <a:srgbClr val="202020"/>
                </a:solidFill>
                <a:latin typeface="Crimson Roman"/>
              </a:rPr>
              <a:t>theo phương án 1 có n</a:t>
            </a:r>
            <a:r>
              <a:rPr lang="en-US" sz="3200" baseline="-25000" dirty="0" smtClean="0">
                <a:solidFill>
                  <a:srgbClr val="202020"/>
                </a:solidFill>
                <a:latin typeface="Crimson Roman"/>
              </a:rPr>
              <a:t>1</a:t>
            </a:r>
            <a:r>
              <a:rPr lang="en-US" sz="3200" dirty="0" smtClean="0">
                <a:solidFill>
                  <a:srgbClr val="202020"/>
                </a:solidFill>
                <a:latin typeface="Crimson Roman"/>
              </a:rPr>
              <a:t> cách,</a:t>
            </a:r>
          </a:p>
          <a:p>
            <a:pPr lvl="0" algn="l">
              <a:lnSpc>
                <a:spcPts val="3300"/>
              </a:lnSpc>
              <a:spcBef>
                <a:spcPct val="0"/>
              </a:spcBef>
            </a:pPr>
            <a:r>
              <a:rPr lang="en-US" sz="3200" u="none" dirty="0" smtClean="0">
                <a:solidFill>
                  <a:srgbClr val="202020"/>
                </a:solidFill>
                <a:latin typeface="Crimson Roman"/>
              </a:rPr>
              <a:t>theo phương án 2 có n</a:t>
            </a:r>
            <a:r>
              <a:rPr lang="en-US" sz="3200" u="none" baseline="-25000" dirty="0" smtClean="0">
                <a:solidFill>
                  <a:srgbClr val="202020"/>
                </a:solidFill>
                <a:latin typeface="Crimson Roman"/>
              </a:rPr>
              <a:t>2</a:t>
            </a:r>
            <a:r>
              <a:rPr lang="en-US" sz="3200" u="none" dirty="0" smtClean="0">
                <a:solidFill>
                  <a:srgbClr val="202020"/>
                </a:solidFill>
                <a:latin typeface="Crimson Roman"/>
              </a:rPr>
              <a:t> cách,</a:t>
            </a:r>
          </a:p>
          <a:p>
            <a:pPr lvl="0" algn="l">
              <a:lnSpc>
                <a:spcPts val="3300"/>
              </a:lnSpc>
              <a:spcBef>
                <a:spcPct val="0"/>
              </a:spcBef>
            </a:pPr>
            <a:r>
              <a:rPr lang="en-US" sz="3200" dirty="0" smtClean="0">
                <a:solidFill>
                  <a:srgbClr val="202020"/>
                </a:solidFill>
                <a:latin typeface="Crimson Roman"/>
              </a:rPr>
              <a:t>...</a:t>
            </a:r>
          </a:p>
          <a:p>
            <a:pPr lvl="0" algn="l">
              <a:lnSpc>
                <a:spcPts val="3300"/>
              </a:lnSpc>
              <a:spcBef>
                <a:spcPct val="0"/>
              </a:spcBef>
            </a:pPr>
            <a:r>
              <a:rPr lang="en-US" sz="3200" u="none" dirty="0" smtClean="0">
                <a:solidFill>
                  <a:srgbClr val="202020"/>
                </a:solidFill>
                <a:latin typeface="Crimson Roman"/>
              </a:rPr>
              <a:t>theo phương án m có n</a:t>
            </a:r>
            <a:r>
              <a:rPr lang="en-US" sz="3200" u="none" baseline="-25000" dirty="0" smtClean="0">
                <a:solidFill>
                  <a:srgbClr val="202020"/>
                </a:solidFill>
                <a:latin typeface="Crimson Roman"/>
              </a:rPr>
              <a:t>m</a:t>
            </a:r>
            <a:r>
              <a:rPr lang="en-US" sz="3200" u="none" dirty="0" smtClean="0">
                <a:solidFill>
                  <a:srgbClr val="202020"/>
                </a:solidFill>
                <a:latin typeface="Crimson Roman"/>
              </a:rPr>
              <a:t> cách,</a:t>
            </a:r>
          </a:p>
          <a:p>
            <a:pPr lvl="0" algn="l">
              <a:lnSpc>
                <a:spcPts val="3300"/>
              </a:lnSpc>
              <a:spcBef>
                <a:spcPct val="0"/>
              </a:spcBef>
            </a:pPr>
            <a:r>
              <a:rPr lang="en-US" sz="3200" dirty="0" smtClean="0">
                <a:solidFill>
                  <a:srgbClr val="202020"/>
                </a:solidFill>
                <a:latin typeface="Crimson Roman"/>
              </a:rPr>
              <a:t>trong đó không có cách thực hiện nào theo phương án i giống với bất kỳ cách thực hiện nào phương án j, với mọi cặp giá trị i và j</a:t>
            </a:r>
          </a:p>
          <a:p>
            <a:pPr lvl="0" algn="l">
              <a:lnSpc>
                <a:spcPts val="3300"/>
              </a:lnSpc>
              <a:spcBef>
                <a:spcPct val="0"/>
              </a:spcBef>
            </a:pPr>
            <a:r>
              <a:rPr lang="en-US" sz="3200" u="none" dirty="0" smtClean="0">
                <a:solidFill>
                  <a:srgbClr val="202020"/>
                </a:solidFill>
                <a:latin typeface="Crimson Roman"/>
              </a:rPr>
              <a:t>→ số cách thực hiện công việc là n</a:t>
            </a:r>
            <a:r>
              <a:rPr lang="en-US" sz="3200" u="none" baseline="-25000" dirty="0" smtClean="0">
                <a:solidFill>
                  <a:srgbClr val="202020"/>
                </a:solidFill>
                <a:latin typeface="Crimson Roman"/>
              </a:rPr>
              <a:t>1</a:t>
            </a:r>
            <a:r>
              <a:rPr lang="en-US" sz="3200" u="none" dirty="0" smtClean="0">
                <a:solidFill>
                  <a:srgbClr val="202020"/>
                </a:solidFill>
                <a:latin typeface="Crimson Roman"/>
              </a:rPr>
              <a:t> + n</a:t>
            </a:r>
            <a:r>
              <a:rPr lang="en-US" sz="3200" u="none" baseline="-25000" dirty="0" smtClean="0">
                <a:solidFill>
                  <a:srgbClr val="202020"/>
                </a:solidFill>
                <a:latin typeface="Crimson Roman"/>
              </a:rPr>
              <a:t>2</a:t>
            </a:r>
            <a:r>
              <a:rPr lang="en-US" sz="3200" u="none" dirty="0" smtClean="0">
                <a:solidFill>
                  <a:srgbClr val="202020"/>
                </a:solidFill>
                <a:latin typeface="Crimson Roman"/>
              </a:rPr>
              <a:t> + ... + n</a:t>
            </a:r>
            <a:r>
              <a:rPr lang="en-US" sz="3200" u="none" baseline="-25000" dirty="0" smtClean="0">
                <a:solidFill>
                  <a:srgbClr val="202020"/>
                </a:solidFill>
                <a:latin typeface="Crimson Roman"/>
              </a:rPr>
              <a:t>m</a:t>
            </a:r>
            <a:endParaRPr lang="en-US" sz="3200" u="none" baseline="-25000" dirty="0">
              <a:solidFill>
                <a:srgbClr val="202020"/>
              </a:solidFill>
              <a:latin typeface="Crimson Roman"/>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sp>
        <p:nvSpPr>
          <p:cNvPr id="2" name="TextBox 2"/>
          <p:cNvSpPr txBox="1"/>
          <p:nvPr/>
        </p:nvSpPr>
        <p:spPr>
          <a:xfrm>
            <a:off x="1168878" y="2299183"/>
            <a:ext cx="11861322" cy="1286891"/>
          </a:xfrm>
          <a:prstGeom prst="rect">
            <a:avLst/>
          </a:prstGeom>
        </p:spPr>
        <p:txBody>
          <a:bodyPr wrap="square" lIns="0" tIns="0" rIns="0" bIns="0" rtlCol="0" anchor="t">
            <a:spAutoFit/>
          </a:bodyPr>
          <a:lstStyle/>
          <a:p>
            <a:pPr marL="457200" lvl="0" indent="-457200" algn="l">
              <a:lnSpc>
                <a:spcPts val="3300"/>
              </a:lnSpc>
              <a:spcBef>
                <a:spcPct val="0"/>
              </a:spcBef>
              <a:buFontTx/>
              <a:buChar char="-"/>
            </a:pPr>
            <a:r>
              <a:rPr lang="en-US" sz="3200" u="none" dirty="0" smtClean="0">
                <a:solidFill>
                  <a:srgbClr val="202020"/>
                </a:solidFill>
                <a:latin typeface="Crimson Roman"/>
              </a:rPr>
              <a:t>Nếu 1 công việc có thể thực hiện bằng 1 trong 2 phương án, phương án 1 có n</a:t>
            </a:r>
            <a:r>
              <a:rPr lang="en-US" sz="3200" u="none" baseline="-25000" dirty="0" smtClean="0">
                <a:solidFill>
                  <a:srgbClr val="202020"/>
                </a:solidFill>
                <a:latin typeface="Crimson Roman"/>
              </a:rPr>
              <a:t>1</a:t>
            </a:r>
            <a:r>
              <a:rPr lang="en-US" sz="3200" u="none" dirty="0" smtClean="0">
                <a:solidFill>
                  <a:srgbClr val="202020"/>
                </a:solidFill>
                <a:latin typeface="Crimson Roman"/>
              </a:rPr>
              <a:t> cách phương án 2 có n</a:t>
            </a:r>
            <a:r>
              <a:rPr lang="en-US" sz="3200" u="none" baseline="-25000" dirty="0" smtClean="0">
                <a:solidFill>
                  <a:srgbClr val="202020"/>
                </a:solidFill>
                <a:latin typeface="Crimson Roman"/>
              </a:rPr>
              <a:t>2</a:t>
            </a:r>
            <a:r>
              <a:rPr lang="en-US" sz="3200" u="none" dirty="0" smtClean="0">
                <a:solidFill>
                  <a:srgbClr val="202020"/>
                </a:solidFill>
                <a:latin typeface="Crimson Roman"/>
              </a:rPr>
              <a:t> cách thì số cách thực hiện công việc là:  n</a:t>
            </a:r>
            <a:r>
              <a:rPr lang="en-US" sz="3200" u="none" baseline="-25000" dirty="0" smtClean="0">
                <a:solidFill>
                  <a:srgbClr val="202020"/>
                </a:solidFill>
                <a:latin typeface="Crimson Roman"/>
              </a:rPr>
              <a:t>1</a:t>
            </a:r>
            <a:r>
              <a:rPr lang="en-US" sz="3200" u="none" dirty="0" smtClean="0">
                <a:solidFill>
                  <a:srgbClr val="202020"/>
                </a:solidFill>
                <a:latin typeface="Crimson Roman"/>
              </a:rPr>
              <a:t> + n</a:t>
            </a:r>
            <a:r>
              <a:rPr lang="en-US" sz="3200" u="none" baseline="-25000" dirty="0" smtClean="0">
                <a:solidFill>
                  <a:srgbClr val="202020"/>
                </a:solidFill>
                <a:latin typeface="Crimson Roman"/>
              </a:rPr>
              <a:t>2</a:t>
            </a:r>
            <a:r>
              <a:rPr lang="en-US" sz="3200" u="none" dirty="0" smtClean="0">
                <a:solidFill>
                  <a:srgbClr val="202020"/>
                </a:solidFill>
                <a:latin typeface="Crimson Roman"/>
              </a:rPr>
              <a:t> – số cách chung cho 2 phương án</a:t>
            </a:r>
            <a:endParaRPr lang="en-US" sz="3200" u="none" dirty="0">
              <a:solidFill>
                <a:srgbClr val="202020"/>
              </a:solidFill>
              <a:latin typeface="Crimson Roman"/>
            </a:endParaRPr>
          </a:p>
        </p:txBody>
      </p:sp>
      <p:pic>
        <p:nvPicPr>
          <p:cNvPr id="7" name="Picture 7"/>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3850143" y="2431763"/>
            <a:ext cx="3409157" cy="6194233"/>
          </a:xfrm>
          <a:prstGeom prst="rect">
            <a:avLst/>
          </a:prstGeom>
        </p:spPr>
      </p:pic>
      <p:sp>
        <p:nvSpPr>
          <p:cNvPr id="8" name="TextBox 6"/>
          <p:cNvSpPr txBox="1"/>
          <p:nvPr/>
        </p:nvSpPr>
        <p:spPr>
          <a:xfrm>
            <a:off x="1168878" y="723900"/>
            <a:ext cx="16814321" cy="1410643"/>
          </a:xfrm>
          <a:prstGeom prst="rect">
            <a:avLst/>
          </a:prstGeom>
        </p:spPr>
        <p:txBody>
          <a:bodyPr wrap="square" lIns="0" tIns="0" rIns="0" bIns="0" rtlCol="0" anchor="t">
            <a:spAutoFit/>
          </a:bodyPr>
          <a:lstStyle/>
          <a:p>
            <a:pPr>
              <a:lnSpc>
                <a:spcPts val="11000"/>
              </a:lnSpc>
            </a:pPr>
            <a:r>
              <a:rPr lang="en-US" sz="8800" dirty="0" smtClean="0">
                <a:solidFill>
                  <a:srgbClr val="3849A2"/>
                </a:solidFill>
                <a:latin typeface="Crimson Roman" panose="020B0604020202020204" charset="0"/>
              </a:rPr>
              <a:t>Nguyên lý trừ</a:t>
            </a:r>
            <a:endParaRPr lang="en-US" sz="8800" dirty="0">
              <a:solidFill>
                <a:srgbClr val="3849A2"/>
              </a:solidFill>
              <a:latin typeface="Crimson Roman" panose="020B0604020202020204" charset="0"/>
            </a:endParaRPr>
          </a:p>
        </p:txBody>
      </p:sp>
    </p:spTree>
    <p:extLst>
      <p:ext uri="{BB962C8B-B14F-4D97-AF65-F5344CB8AC3E}">
        <p14:creationId xmlns:p14="http://schemas.microsoft.com/office/powerpoint/2010/main" val="37627156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sp>
        <p:nvSpPr>
          <p:cNvPr id="2" name="TextBox 2"/>
          <p:cNvSpPr txBox="1"/>
          <p:nvPr/>
        </p:nvSpPr>
        <p:spPr>
          <a:xfrm>
            <a:off x="1168878" y="2299183"/>
            <a:ext cx="11861322" cy="2133276"/>
          </a:xfrm>
          <a:prstGeom prst="rect">
            <a:avLst/>
          </a:prstGeom>
        </p:spPr>
        <p:txBody>
          <a:bodyPr wrap="square" lIns="0" tIns="0" rIns="0" bIns="0" rtlCol="0" anchor="t">
            <a:spAutoFit/>
          </a:bodyPr>
          <a:lstStyle/>
          <a:p>
            <a:pPr marL="457200" lvl="0" indent="-457200">
              <a:lnSpc>
                <a:spcPts val="3300"/>
              </a:lnSpc>
              <a:spcBef>
                <a:spcPct val="0"/>
              </a:spcBef>
              <a:buFontTx/>
              <a:buChar char="-"/>
            </a:pPr>
            <a:r>
              <a:rPr lang="en-US" sz="3200" dirty="0">
                <a:solidFill>
                  <a:srgbClr val="202020"/>
                </a:solidFill>
                <a:latin typeface="Crimson Roman"/>
              </a:rPr>
              <a:t>Giả sử rằng 1 công việc A có thể được chia nhỏ </a:t>
            </a:r>
            <a:r>
              <a:rPr lang="en-US" sz="3200" dirty="0" smtClean="0">
                <a:solidFill>
                  <a:srgbClr val="202020"/>
                </a:solidFill>
                <a:latin typeface="Crimson Roman"/>
              </a:rPr>
              <a:t>thành </a:t>
            </a:r>
            <a:r>
              <a:rPr lang="en-US" sz="3200" dirty="0">
                <a:solidFill>
                  <a:srgbClr val="202020"/>
                </a:solidFill>
                <a:latin typeface="Crimson Roman"/>
              </a:rPr>
              <a:t>hai công việc thành phần ( kí hiệu A</a:t>
            </a:r>
            <a:r>
              <a:rPr lang="en-US" sz="3200" baseline="-25000" dirty="0">
                <a:solidFill>
                  <a:srgbClr val="202020"/>
                </a:solidFill>
                <a:latin typeface="Crimson Roman"/>
              </a:rPr>
              <a:t>1</a:t>
            </a:r>
            <a:r>
              <a:rPr lang="en-US" sz="3200" dirty="0">
                <a:solidFill>
                  <a:srgbClr val="202020"/>
                </a:solidFill>
                <a:latin typeface="Crimson Roman"/>
              </a:rPr>
              <a:t>, A</a:t>
            </a:r>
            <a:r>
              <a:rPr lang="en-US" sz="3200" baseline="-25000" dirty="0">
                <a:solidFill>
                  <a:srgbClr val="202020"/>
                </a:solidFill>
                <a:latin typeface="Crimson Roman"/>
              </a:rPr>
              <a:t>2</a:t>
            </a:r>
            <a:r>
              <a:rPr lang="en-US" sz="3200" dirty="0">
                <a:solidFill>
                  <a:srgbClr val="202020"/>
                </a:solidFill>
                <a:latin typeface="Crimson Roman"/>
              </a:rPr>
              <a:t>) thực hiện có thứ tự</a:t>
            </a:r>
          </a:p>
          <a:p>
            <a:pPr marL="457200" lvl="0" indent="-457200">
              <a:lnSpc>
                <a:spcPts val="3300"/>
              </a:lnSpc>
              <a:spcBef>
                <a:spcPct val="0"/>
              </a:spcBef>
              <a:buFontTx/>
              <a:buChar char="-"/>
            </a:pPr>
            <a:r>
              <a:rPr lang="en-US" sz="3200" dirty="0">
                <a:solidFill>
                  <a:srgbClr val="202020"/>
                </a:solidFill>
                <a:latin typeface="Crimson Roman"/>
              </a:rPr>
              <a:t>Nếu A</a:t>
            </a:r>
            <a:r>
              <a:rPr lang="en-US" sz="3200" baseline="-25000" dirty="0">
                <a:solidFill>
                  <a:srgbClr val="202020"/>
                </a:solidFill>
                <a:latin typeface="Crimson Roman"/>
              </a:rPr>
              <a:t>1</a:t>
            </a:r>
            <a:r>
              <a:rPr lang="en-US" sz="3200" dirty="0">
                <a:solidFill>
                  <a:srgbClr val="202020"/>
                </a:solidFill>
                <a:latin typeface="Crimson Roman"/>
              </a:rPr>
              <a:t> có n</a:t>
            </a:r>
            <a:r>
              <a:rPr lang="en-US" sz="3200" baseline="-25000" dirty="0">
                <a:solidFill>
                  <a:srgbClr val="202020"/>
                </a:solidFill>
                <a:latin typeface="Crimson Roman"/>
              </a:rPr>
              <a:t>1</a:t>
            </a:r>
            <a:r>
              <a:rPr lang="en-US" sz="3200" dirty="0">
                <a:solidFill>
                  <a:srgbClr val="202020"/>
                </a:solidFill>
                <a:latin typeface="Crimson Roman"/>
              </a:rPr>
              <a:t> cách thực hiện và A</a:t>
            </a:r>
            <a:r>
              <a:rPr lang="en-US" sz="3200" baseline="-25000" dirty="0">
                <a:solidFill>
                  <a:srgbClr val="202020"/>
                </a:solidFill>
                <a:latin typeface="Crimson Roman"/>
              </a:rPr>
              <a:t>2 </a:t>
            </a:r>
            <a:r>
              <a:rPr lang="en-US" sz="3200" dirty="0">
                <a:solidFill>
                  <a:srgbClr val="202020"/>
                </a:solidFill>
                <a:latin typeface="Crimson Roman"/>
              </a:rPr>
              <a:t>có n</a:t>
            </a:r>
            <a:r>
              <a:rPr lang="en-US" sz="3200" baseline="-25000" dirty="0">
                <a:solidFill>
                  <a:srgbClr val="202020"/>
                </a:solidFill>
                <a:latin typeface="Crimson Roman"/>
              </a:rPr>
              <a:t>2</a:t>
            </a:r>
            <a:r>
              <a:rPr lang="en-US" sz="3200" dirty="0">
                <a:solidFill>
                  <a:srgbClr val="202020"/>
                </a:solidFill>
                <a:latin typeface="Crimson Roman"/>
              </a:rPr>
              <a:t> cách thực hiện, thì số cách thực hiện công việc A là n</a:t>
            </a:r>
            <a:r>
              <a:rPr lang="en-US" sz="3200" baseline="-25000" dirty="0">
                <a:solidFill>
                  <a:srgbClr val="202020"/>
                </a:solidFill>
                <a:latin typeface="Crimson Roman"/>
              </a:rPr>
              <a:t>1</a:t>
            </a:r>
            <a:r>
              <a:rPr lang="en-US" sz="3200" dirty="0">
                <a:solidFill>
                  <a:srgbClr val="202020"/>
                </a:solidFill>
                <a:latin typeface="Crimson Roman"/>
              </a:rPr>
              <a:t>.n</a:t>
            </a:r>
            <a:r>
              <a:rPr lang="en-US" sz="3200" baseline="-25000" dirty="0">
                <a:solidFill>
                  <a:srgbClr val="202020"/>
                </a:solidFill>
                <a:latin typeface="Crimson Roman"/>
              </a:rPr>
              <a:t>2</a:t>
            </a:r>
          </a:p>
          <a:p>
            <a:pPr marL="457200" lvl="0" indent="-457200" algn="l">
              <a:lnSpc>
                <a:spcPts val="3300"/>
              </a:lnSpc>
              <a:spcBef>
                <a:spcPct val="0"/>
              </a:spcBef>
              <a:buFontTx/>
              <a:buChar char="-"/>
            </a:pPr>
            <a:endParaRPr lang="en-US" sz="3200" u="none" dirty="0">
              <a:solidFill>
                <a:srgbClr val="202020"/>
              </a:solidFill>
              <a:latin typeface="Crimson Roman"/>
            </a:endParaRPr>
          </a:p>
        </p:txBody>
      </p:sp>
      <p:pic>
        <p:nvPicPr>
          <p:cNvPr id="7" name="Picture 7"/>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3850143" y="2431763"/>
            <a:ext cx="3409157" cy="6194233"/>
          </a:xfrm>
          <a:prstGeom prst="rect">
            <a:avLst/>
          </a:prstGeom>
        </p:spPr>
      </p:pic>
      <p:sp>
        <p:nvSpPr>
          <p:cNvPr id="8" name="TextBox 6"/>
          <p:cNvSpPr txBox="1"/>
          <p:nvPr/>
        </p:nvSpPr>
        <p:spPr>
          <a:xfrm>
            <a:off x="1168879" y="723900"/>
            <a:ext cx="11479602" cy="1442703"/>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Nguyên lý nhân</a:t>
            </a:r>
            <a:endParaRPr lang="en-US" sz="8800" dirty="0">
              <a:solidFill>
                <a:srgbClr val="3849A2"/>
              </a:solidFill>
              <a:latin typeface="Crimson Roman" panose="020B0604020202020204" charset="0"/>
            </a:endParaRPr>
          </a:p>
        </p:txBody>
      </p:sp>
      <p:sp>
        <p:nvSpPr>
          <p:cNvPr id="9" name="TextBox 6"/>
          <p:cNvSpPr txBox="1"/>
          <p:nvPr/>
        </p:nvSpPr>
        <p:spPr>
          <a:xfrm>
            <a:off x="1168879" y="4970920"/>
            <a:ext cx="11479602" cy="1410643"/>
          </a:xfrm>
          <a:prstGeom prst="rect">
            <a:avLst/>
          </a:prstGeom>
        </p:spPr>
        <p:txBody>
          <a:bodyPr lIns="0" tIns="0" rIns="0" bIns="0" rtlCol="0" anchor="t">
            <a:spAutoFit/>
          </a:bodyPr>
          <a:lstStyle/>
          <a:p>
            <a:pPr>
              <a:lnSpc>
                <a:spcPts val="11000"/>
              </a:lnSpc>
            </a:pPr>
            <a:r>
              <a:rPr lang="en-US" sz="6000" dirty="0" smtClean="0">
                <a:solidFill>
                  <a:srgbClr val="3849A2"/>
                </a:solidFill>
                <a:latin typeface="Crimson Roman" panose="020B0604020202020204" charset="0"/>
              </a:rPr>
              <a:t>Mở rộng nguyên lý nhân</a:t>
            </a:r>
            <a:endParaRPr lang="en-US" sz="6000" dirty="0">
              <a:solidFill>
                <a:srgbClr val="3849A2"/>
              </a:solidFill>
              <a:latin typeface="Crimson Roman" panose="020B0604020202020204" charset="0"/>
            </a:endParaRPr>
          </a:p>
        </p:txBody>
      </p:sp>
      <p:sp>
        <p:nvSpPr>
          <p:cNvPr id="10" name="TextBox 2"/>
          <p:cNvSpPr txBox="1"/>
          <p:nvPr/>
        </p:nvSpPr>
        <p:spPr>
          <a:xfrm>
            <a:off x="1179038" y="6392314"/>
            <a:ext cx="11851162" cy="1710084"/>
          </a:xfrm>
          <a:prstGeom prst="rect">
            <a:avLst/>
          </a:prstGeom>
        </p:spPr>
        <p:txBody>
          <a:bodyPr wrap="square" lIns="0" tIns="0" rIns="0" bIns="0" rtlCol="0" anchor="t">
            <a:spAutoFit/>
          </a:bodyPr>
          <a:lstStyle/>
          <a:p>
            <a:pPr marL="457200" lvl="0" indent="-457200" algn="l">
              <a:lnSpc>
                <a:spcPts val="3300"/>
              </a:lnSpc>
              <a:spcBef>
                <a:spcPct val="0"/>
              </a:spcBef>
              <a:buFontTx/>
              <a:buChar char="-"/>
            </a:pPr>
            <a:r>
              <a:rPr lang="en-US" sz="3200" dirty="0" smtClean="0">
                <a:solidFill>
                  <a:srgbClr val="202020"/>
                </a:solidFill>
                <a:latin typeface="Crimson Roman"/>
              </a:rPr>
              <a:t>Giả sử rằng 1 công việc A được thực hiện bằng các công việc thành phần A</a:t>
            </a:r>
            <a:r>
              <a:rPr lang="en-US" sz="3200" baseline="-25000" dirty="0" smtClean="0">
                <a:solidFill>
                  <a:srgbClr val="202020"/>
                </a:solidFill>
                <a:latin typeface="Crimson Roman"/>
              </a:rPr>
              <a:t>1</a:t>
            </a:r>
            <a:r>
              <a:rPr lang="en-US" sz="3200" dirty="0" smtClean="0">
                <a:solidFill>
                  <a:srgbClr val="202020"/>
                </a:solidFill>
                <a:latin typeface="Crimson Roman"/>
              </a:rPr>
              <a:t>, A</a:t>
            </a:r>
            <a:r>
              <a:rPr lang="en-US" sz="3200" baseline="-25000" dirty="0" smtClean="0">
                <a:solidFill>
                  <a:srgbClr val="202020"/>
                </a:solidFill>
                <a:latin typeface="Crimson Roman"/>
              </a:rPr>
              <a:t>2</a:t>
            </a:r>
            <a:r>
              <a:rPr lang="en-US" sz="3200" dirty="0" smtClean="0">
                <a:solidFill>
                  <a:srgbClr val="202020"/>
                </a:solidFill>
                <a:latin typeface="Crimson Roman"/>
              </a:rPr>
              <a:t>, ..., A</a:t>
            </a:r>
            <a:r>
              <a:rPr lang="en-US" sz="3200" baseline="-25000" dirty="0" smtClean="0">
                <a:solidFill>
                  <a:srgbClr val="202020"/>
                </a:solidFill>
                <a:latin typeface="Crimson Roman"/>
              </a:rPr>
              <a:t>m</a:t>
            </a:r>
            <a:r>
              <a:rPr lang="en-US" sz="3200" dirty="0" smtClean="0">
                <a:solidFill>
                  <a:srgbClr val="202020"/>
                </a:solidFill>
                <a:latin typeface="Crimson Roman"/>
              </a:rPr>
              <a:t> theo thứ tự</a:t>
            </a:r>
          </a:p>
          <a:p>
            <a:pPr marL="457200" lvl="0" indent="-457200" algn="l">
              <a:lnSpc>
                <a:spcPts val="3300"/>
              </a:lnSpc>
              <a:spcBef>
                <a:spcPct val="0"/>
              </a:spcBef>
              <a:buFontTx/>
              <a:buChar char="-"/>
            </a:pPr>
            <a:r>
              <a:rPr lang="en-US" sz="3200" u="none" dirty="0" smtClean="0">
                <a:solidFill>
                  <a:srgbClr val="202020"/>
                </a:solidFill>
                <a:latin typeface="Crimson Roman"/>
              </a:rPr>
              <a:t>Nếu công việc thành phần A</a:t>
            </a:r>
            <a:r>
              <a:rPr lang="en-US" sz="3200" u="none" baseline="-25000" dirty="0" smtClean="0">
                <a:solidFill>
                  <a:srgbClr val="202020"/>
                </a:solidFill>
                <a:latin typeface="Crimson Roman"/>
              </a:rPr>
              <a:t>i</a:t>
            </a:r>
            <a:r>
              <a:rPr lang="en-US" sz="3200" u="none" dirty="0" smtClean="0">
                <a:solidFill>
                  <a:srgbClr val="202020"/>
                </a:solidFill>
                <a:latin typeface="Crimson Roman"/>
              </a:rPr>
              <a:t>, i = 1, 2, ..., m được thực hiện theo ni cách thì số cách thực hiện công việc A là n</a:t>
            </a:r>
            <a:r>
              <a:rPr lang="en-US" sz="3200" u="none" baseline="-25000" dirty="0" smtClean="0">
                <a:solidFill>
                  <a:srgbClr val="202020"/>
                </a:solidFill>
                <a:latin typeface="Crimson Roman"/>
              </a:rPr>
              <a:t>1</a:t>
            </a:r>
            <a:r>
              <a:rPr lang="en-US" sz="3200" u="none" dirty="0" smtClean="0">
                <a:solidFill>
                  <a:srgbClr val="202020"/>
                </a:solidFill>
                <a:latin typeface="Crimson Roman"/>
              </a:rPr>
              <a:t>.n</a:t>
            </a:r>
            <a:r>
              <a:rPr lang="en-US" sz="3200" u="none" baseline="-25000" dirty="0" smtClean="0">
                <a:solidFill>
                  <a:srgbClr val="202020"/>
                </a:solidFill>
                <a:latin typeface="Crimson Roman"/>
              </a:rPr>
              <a:t>2</a:t>
            </a:r>
            <a:r>
              <a:rPr lang="en-US" sz="3200" u="none" dirty="0" smtClean="0">
                <a:solidFill>
                  <a:srgbClr val="202020"/>
                </a:solidFill>
                <a:latin typeface="Crimson Roman"/>
              </a:rPr>
              <a:t>....n</a:t>
            </a:r>
            <a:r>
              <a:rPr lang="en-US" sz="3200" u="none" baseline="-25000" dirty="0" smtClean="0">
                <a:solidFill>
                  <a:srgbClr val="202020"/>
                </a:solidFill>
                <a:latin typeface="Crimson Roman"/>
              </a:rPr>
              <a:t>m</a:t>
            </a:r>
            <a:r>
              <a:rPr lang="en-US" sz="3200" u="none" dirty="0" smtClean="0">
                <a:solidFill>
                  <a:srgbClr val="202020"/>
                </a:solidFill>
                <a:latin typeface="Crimson Roman"/>
              </a:rPr>
              <a:t> cách</a:t>
            </a:r>
            <a:endParaRPr lang="en-US" sz="3200" u="none" dirty="0">
              <a:solidFill>
                <a:srgbClr val="202020"/>
              </a:solidFill>
              <a:latin typeface="Crimson Roman"/>
            </a:endParaRPr>
          </a:p>
        </p:txBody>
      </p:sp>
    </p:spTree>
    <p:extLst>
      <p:ext uri="{BB962C8B-B14F-4D97-AF65-F5344CB8AC3E}">
        <p14:creationId xmlns:p14="http://schemas.microsoft.com/office/powerpoint/2010/main" val="6195172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4215781" y="6899719"/>
            <a:ext cx="2418104" cy="2358581"/>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4215781" y="3837048"/>
            <a:ext cx="2418104" cy="2554230"/>
          </a:xfrm>
          <a:prstGeom prst="rect">
            <a:avLst/>
          </a:prstGeom>
        </p:spPr>
      </p:pic>
      <p:pic>
        <p:nvPicPr>
          <p:cNvPr id="4" name="Picture 4"/>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4215781" y="1028700"/>
            <a:ext cx="2418104" cy="2299907"/>
          </a:xfrm>
          <a:prstGeom prst="rect">
            <a:avLst/>
          </a:prstGeom>
        </p:spPr>
      </p:pic>
      <p:sp>
        <p:nvSpPr>
          <p:cNvPr id="5" name="AutoShape 5"/>
          <p:cNvSpPr/>
          <p:nvPr/>
        </p:nvSpPr>
        <p:spPr>
          <a:xfrm>
            <a:off x="12387478" y="1028700"/>
            <a:ext cx="9525" cy="8229600"/>
          </a:xfrm>
          <a:prstGeom prst="rect">
            <a:avLst/>
          </a:prstGeom>
          <a:solidFill>
            <a:srgbClr val="3D3D3D"/>
          </a:solidFill>
        </p:spPr>
      </p:sp>
      <p:grpSp>
        <p:nvGrpSpPr>
          <p:cNvPr id="6" name="Group 6"/>
          <p:cNvGrpSpPr/>
          <p:nvPr/>
        </p:nvGrpSpPr>
        <p:grpSpPr>
          <a:xfrm>
            <a:off x="1028700" y="1028700"/>
            <a:ext cx="9539999" cy="2480167"/>
            <a:chOff x="0" y="0"/>
            <a:chExt cx="12719999" cy="3306890"/>
          </a:xfrm>
        </p:grpSpPr>
        <p:sp>
          <p:nvSpPr>
            <p:cNvPr id="7" name="TextBox 7"/>
            <p:cNvSpPr txBox="1"/>
            <p:nvPr/>
          </p:nvSpPr>
          <p:spPr>
            <a:xfrm>
              <a:off x="0" y="0"/>
              <a:ext cx="12719999" cy="1880858"/>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Ví dụ</a:t>
              </a:r>
              <a:endParaRPr lang="en-US" sz="8800" dirty="0">
                <a:solidFill>
                  <a:srgbClr val="3849A2"/>
                </a:solidFill>
                <a:latin typeface="Crimson Roman" panose="020B0604020202020204" charset="0"/>
              </a:endParaRPr>
            </a:p>
          </p:txBody>
        </p:sp>
        <p:sp>
          <p:nvSpPr>
            <p:cNvPr id="8" name="TextBox 8"/>
            <p:cNvSpPr txBox="1"/>
            <p:nvPr/>
          </p:nvSpPr>
          <p:spPr>
            <a:xfrm>
              <a:off x="0" y="2745198"/>
              <a:ext cx="12719999" cy="561692"/>
            </a:xfrm>
            <a:prstGeom prst="rect">
              <a:avLst/>
            </a:prstGeom>
          </p:spPr>
          <p:txBody>
            <a:bodyPr lIns="0" tIns="0" rIns="0" bIns="0" rtlCol="0" anchor="t">
              <a:spAutoFit/>
            </a:bodyPr>
            <a:lstStyle/>
            <a:p>
              <a:pPr>
                <a:lnSpc>
                  <a:spcPts val="3120"/>
                </a:lnSpc>
              </a:pPr>
              <a:r>
                <a:rPr lang="en-US" sz="3200" dirty="0" smtClean="0">
                  <a:solidFill>
                    <a:srgbClr val="202020"/>
                  </a:solidFill>
                  <a:latin typeface="Crimson Roman" panose="020B0604020202020204" charset="0"/>
                </a:rPr>
                <a:t>Có bao nhiêu chuỗi bit với độ dài là 7?</a:t>
              </a:r>
              <a:endParaRPr lang="en-US" sz="3200" dirty="0">
                <a:solidFill>
                  <a:srgbClr val="202020"/>
                </a:solidFill>
                <a:latin typeface="Crimson Roman" panose="020B0604020202020204" charset="0"/>
              </a:endParaRPr>
            </a:p>
          </p:txBody>
        </p:sp>
      </p:grpSp>
      <mc:AlternateContent xmlns:mc="http://schemas.openxmlformats.org/markup-compatibility/2006" xmlns:a14="http://schemas.microsoft.com/office/drawing/2010/main">
        <mc:Choice Requires="a14">
          <p:sp>
            <p:nvSpPr>
              <p:cNvPr id="9" name="TextBox 8"/>
              <p:cNvSpPr txBox="1"/>
              <p:nvPr/>
            </p:nvSpPr>
            <p:spPr>
              <a:xfrm>
                <a:off x="1028700" y="4295778"/>
                <a:ext cx="12496800" cy="1611852"/>
              </a:xfrm>
              <a:prstGeom prst="rect">
                <a:avLst/>
              </a:prstGeom>
              <a:noFill/>
            </p:spPr>
            <p:txBody>
              <a:bodyPr wrap="square" rtlCol="0">
                <a:spAutoFit/>
              </a:bodyPr>
              <a:lstStyle/>
              <a:p>
                <a:r>
                  <a:rPr lang="en-US" sz="3200" u="sng" dirty="0" smtClean="0">
                    <a:latin typeface="Crimson Roman" panose="020B0604020202020204" charset="0"/>
                  </a:rPr>
                  <a:t>Giải:</a:t>
                </a:r>
                <a:r>
                  <a:rPr lang="en-US" sz="3200" dirty="0">
                    <a:latin typeface="Crimson Roman" panose="020B0604020202020204" charset="0"/>
                  </a:rPr>
                  <a:t> </a:t>
                </a:r>
                <a:r>
                  <a:rPr lang="en-US" sz="3200" i="1" dirty="0" smtClean="0">
                    <a:latin typeface="Crimson Roman" panose="020B0604020202020204" charset="0"/>
                  </a:rPr>
                  <a:t>b</a:t>
                </a:r>
                <a:r>
                  <a:rPr lang="en-US" sz="3200" i="1" baseline="-25000" dirty="0" smtClean="0">
                    <a:latin typeface="Crimson Roman" panose="020B0604020202020204" charset="0"/>
                  </a:rPr>
                  <a:t>1</a:t>
                </a:r>
                <a:r>
                  <a:rPr lang="en-US" sz="3200" i="1" dirty="0" smtClean="0">
                    <a:latin typeface="Crimson Roman" panose="020B0604020202020204" charset="0"/>
                  </a:rPr>
                  <a:t>b</a:t>
                </a:r>
                <a:r>
                  <a:rPr lang="en-US" sz="3200" i="1" baseline="-25000" dirty="0" smtClean="0">
                    <a:latin typeface="Crimson Roman" panose="020B0604020202020204" charset="0"/>
                  </a:rPr>
                  <a:t>2</a:t>
                </a:r>
                <a:r>
                  <a:rPr lang="en-US" sz="3200" i="1" dirty="0" smtClean="0">
                    <a:latin typeface="Crimson Roman" panose="020B0604020202020204" charset="0"/>
                  </a:rPr>
                  <a:t>b</a:t>
                </a:r>
                <a:r>
                  <a:rPr lang="en-US" sz="3200" i="1" baseline="-25000" dirty="0" smtClean="0">
                    <a:latin typeface="Crimson Roman" panose="020B0604020202020204" charset="0"/>
                  </a:rPr>
                  <a:t>3</a:t>
                </a:r>
                <a:r>
                  <a:rPr lang="en-US" sz="3200" i="1" dirty="0" smtClean="0">
                    <a:latin typeface="Crimson Roman" panose="020B0604020202020204" charset="0"/>
                  </a:rPr>
                  <a:t>b</a:t>
                </a:r>
                <a:r>
                  <a:rPr lang="en-US" sz="3200" i="1" baseline="-25000" dirty="0" smtClean="0">
                    <a:latin typeface="Crimson Roman" panose="020B0604020202020204" charset="0"/>
                  </a:rPr>
                  <a:t>4</a:t>
                </a:r>
                <a:r>
                  <a:rPr lang="en-US" sz="3200" i="1" dirty="0" smtClean="0">
                    <a:latin typeface="Crimson Roman" panose="020B0604020202020204" charset="0"/>
                  </a:rPr>
                  <a:t>b</a:t>
                </a:r>
                <a:r>
                  <a:rPr lang="en-US" sz="3200" i="1" baseline="-25000" dirty="0" smtClean="0">
                    <a:latin typeface="Crimson Roman" panose="020B0604020202020204" charset="0"/>
                  </a:rPr>
                  <a:t>5</a:t>
                </a:r>
                <a:r>
                  <a:rPr lang="en-US" sz="3200" i="1" dirty="0" smtClean="0">
                    <a:latin typeface="Crimson Roman" panose="020B0604020202020204" charset="0"/>
                  </a:rPr>
                  <a:t>b</a:t>
                </a:r>
                <a:r>
                  <a:rPr lang="en-US" sz="3200" i="1" baseline="-25000" dirty="0" smtClean="0">
                    <a:latin typeface="Crimson Roman" panose="020B0604020202020204" charset="0"/>
                  </a:rPr>
                  <a:t>6</a:t>
                </a:r>
                <a:r>
                  <a:rPr lang="en-US" sz="3200" i="1" dirty="0" smtClean="0">
                    <a:latin typeface="Crimson Roman" panose="020B0604020202020204" charset="0"/>
                  </a:rPr>
                  <a:t>b</a:t>
                </a:r>
                <a:r>
                  <a:rPr lang="en-US" sz="3200" i="1" baseline="-25000" dirty="0" smtClean="0">
                    <a:latin typeface="Crimson Roman" panose="020B0604020202020204" charset="0"/>
                  </a:rPr>
                  <a:t>7</a:t>
                </a:r>
                <a:endParaRPr lang="en-US" sz="3200" baseline="-25000" dirty="0" smtClean="0">
                  <a:latin typeface="Crimson Roman" panose="020B0604020202020204" charset="0"/>
                </a:endParaRPr>
              </a:p>
              <a:p>
                <a:r>
                  <a:rPr lang="en-US" sz="3200" dirty="0" smtClean="0">
                    <a:latin typeface="Crimson Roman" panose="020B0604020202020204" charset="0"/>
                  </a:rPr>
                  <a:t>Mỗi bit trong chuỗi 7 bit có thể được chọn theo 2 cách ( 0; 1)</a:t>
                </a:r>
              </a:p>
              <a:p>
                <a:r>
                  <a:rPr lang="en-US" sz="3200" dirty="0" smtClean="0">
                    <a:latin typeface="Crimson Roman" panose="020B0604020202020204" charset="0"/>
                  </a:rPr>
                  <a:t>→ Áp dụng nguyên lý nhân có: </a:t>
                </a:r>
                <a14:m>
                  <m:oMath xmlns:m="http://schemas.openxmlformats.org/officeDocument/2006/math">
                    <m:sSup>
                      <m:sSupPr>
                        <m:ctrlPr>
                          <a:rPr lang="en-US" sz="320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7</m:t>
                        </m:r>
                      </m:sup>
                    </m:sSup>
                    <m:r>
                      <a:rPr lang="en-US" sz="3200" b="0" i="1" smtClean="0">
                        <a:latin typeface="Cambria Math" panose="02040503050406030204" pitchFamily="18" charset="0"/>
                      </a:rPr>
                      <m:t>=128</m:t>
                    </m:r>
                  </m:oMath>
                </a14:m>
                <a:r>
                  <a:rPr lang="en-US" sz="3200" dirty="0" smtClean="0">
                    <a:latin typeface="Crimson Roman" panose="020B0604020202020204" charset="0"/>
                  </a:rPr>
                  <a:t> chuỗi bit khác nhau</a:t>
                </a:r>
              </a:p>
            </p:txBody>
          </p:sp>
        </mc:Choice>
        <mc:Fallback xmlns="">
          <p:sp>
            <p:nvSpPr>
              <p:cNvPr id="9" name="TextBox 8"/>
              <p:cNvSpPr txBox="1">
                <a:spLocks noRot="1" noChangeAspect="1" noMove="1" noResize="1" noEditPoints="1" noAdjustHandles="1" noChangeArrowheads="1" noChangeShapeType="1" noTextEdit="1"/>
              </p:cNvSpPr>
              <p:nvPr/>
            </p:nvSpPr>
            <p:spPr>
              <a:xfrm>
                <a:off x="1028700" y="4295778"/>
                <a:ext cx="12496800" cy="1611852"/>
              </a:xfrm>
              <a:prstGeom prst="rect">
                <a:avLst/>
              </a:prstGeom>
              <a:blipFill>
                <a:blip r:embed="rId8"/>
                <a:stretch>
                  <a:fillRect l="-1268" t="-4924" b="-9848"/>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2"/>
              <p:cNvSpPr txBox="1"/>
              <p:nvPr/>
            </p:nvSpPr>
            <p:spPr>
              <a:xfrm>
                <a:off x="1168878" y="2299183"/>
                <a:ext cx="12013722" cy="3590727"/>
              </a:xfrm>
              <a:prstGeom prst="rect">
                <a:avLst/>
              </a:prstGeom>
            </p:spPr>
            <p:txBody>
              <a:bodyPr wrap="square" lIns="0" tIns="0" rIns="0" bIns="0" rtlCol="0" anchor="t">
                <a:spAutoFit/>
              </a:bodyPr>
              <a:lstStyle/>
              <a:p>
                <a:pPr marL="457200" lvl="0" indent="-457200" algn="l">
                  <a:lnSpc>
                    <a:spcPts val="4000"/>
                  </a:lnSpc>
                  <a:spcBef>
                    <a:spcPct val="0"/>
                  </a:spcBef>
                  <a:buFontTx/>
                  <a:buChar char="-"/>
                </a:pPr>
                <a:r>
                  <a:rPr lang="en-US" sz="3200" u="none" dirty="0" smtClean="0">
                    <a:solidFill>
                      <a:srgbClr val="202020"/>
                    </a:solidFill>
                    <a:latin typeface="Crimson Roman"/>
                  </a:rPr>
                  <a:t>Một công việc A có n cách thực hiện, đồng thời nó cũng được thực hiện theo </a:t>
                </a:r>
                <a14:m>
                  <m:oMath xmlns:m="http://schemas.openxmlformats.org/officeDocument/2006/math">
                    <m:r>
                      <a:rPr lang="en-US" sz="3200" b="0" i="1" u="none" smtClean="0">
                        <a:solidFill>
                          <a:srgbClr val="202020"/>
                        </a:solidFill>
                        <a:latin typeface="Cambria Math" panose="02040503050406030204" pitchFamily="18" charset="0"/>
                      </a:rPr>
                      <m:t>𝑘</m:t>
                    </m:r>
                  </m:oMath>
                </a14:m>
                <a:r>
                  <a:rPr lang="en-US" sz="3200" u="none" dirty="0" smtClean="0">
                    <a:solidFill>
                      <a:srgbClr val="202020"/>
                    </a:solidFill>
                    <a:latin typeface="Crimson Roman"/>
                  </a:rPr>
                  <a:t> (</a:t>
                </a:r>
                <a14:m>
                  <m:oMath xmlns:m="http://schemas.openxmlformats.org/officeDocument/2006/math">
                    <m:r>
                      <a:rPr lang="en-US" sz="3200" b="0" i="0" u="none" dirty="0" smtClean="0">
                        <a:solidFill>
                          <a:srgbClr val="202020"/>
                        </a:solidFill>
                        <a:latin typeface="Cambria Math" panose="02040503050406030204" pitchFamily="18" charset="0"/>
                      </a:rPr>
                      <m:t> </m:t>
                    </m:r>
                    <m:r>
                      <a:rPr lang="en-US" sz="3200" b="0" i="1" u="none" dirty="0" smtClean="0">
                        <a:solidFill>
                          <a:srgbClr val="202020"/>
                        </a:solidFill>
                        <a:latin typeface="Cambria Math" panose="02040503050406030204" pitchFamily="18" charset="0"/>
                      </a:rPr>
                      <m:t>𝑘</m:t>
                    </m:r>
                    <m:r>
                      <a:rPr lang="en-US" sz="3200" b="0" i="1" u="none" dirty="0" smtClean="0">
                        <a:solidFill>
                          <a:srgbClr val="202020"/>
                        </a:solidFill>
                        <a:latin typeface="Cambria Math" panose="02040503050406030204" pitchFamily="18" charset="0"/>
                      </a:rPr>
                      <m:t> </m:t>
                    </m:r>
                  </m:oMath>
                </a14:m>
                <a:r>
                  <a:rPr lang="en-US" sz="3200" u="none" dirty="0" smtClean="0">
                    <a:solidFill>
                      <a:srgbClr val="202020"/>
                    </a:solidFill>
                    <a:latin typeface="Crimson Roman"/>
                  </a:rPr>
                  <a:t>là giá trị chưa biết) phương án khác nhau, mỗi phương án có d cách thực hiện. </a:t>
                </a:r>
              </a:p>
              <a:p>
                <a:pPr lvl="0" algn="l">
                  <a:lnSpc>
                    <a:spcPts val="4000"/>
                  </a:lnSpc>
                  <a:spcBef>
                    <a:spcPct val="0"/>
                  </a:spcBef>
                </a:pPr>
                <a:r>
                  <a:rPr lang="en-US" sz="3200" dirty="0" smtClean="0">
                    <a:solidFill>
                      <a:srgbClr val="202020"/>
                    </a:solidFill>
                    <a:latin typeface="Crimson Roman"/>
                  </a:rPr>
                  <a:t>→ </a:t>
                </a:r>
                <a:r>
                  <a:rPr lang="en-US" sz="3200" dirty="0">
                    <a:solidFill>
                      <a:srgbClr val="202020"/>
                    </a:solidFill>
                    <a:latin typeface="Crimson Roman"/>
                  </a:rPr>
                  <a:t>S</a:t>
                </a:r>
                <a:r>
                  <a:rPr lang="en-US" sz="3200" u="none" dirty="0" smtClean="0">
                    <a:solidFill>
                      <a:srgbClr val="202020"/>
                    </a:solidFill>
                    <a:latin typeface="Crimson Roman"/>
                  </a:rPr>
                  <a:t>ố phương án khác nhau để thực hiện A là </a:t>
                </a:r>
                <a14:m>
                  <m:oMath xmlns:m="http://schemas.openxmlformats.org/officeDocument/2006/math">
                    <m:r>
                      <a:rPr lang="en-US" sz="3200" b="0" i="1" u="none" smtClean="0">
                        <a:solidFill>
                          <a:srgbClr val="202020"/>
                        </a:solidFill>
                        <a:latin typeface="Cambria Math" panose="02040503050406030204" pitchFamily="18" charset="0"/>
                      </a:rPr>
                      <m:t>𝑘</m:t>
                    </m:r>
                    <m:r>
                      <a:rPr lang="en-US" sz="3200" b="0" i="1" u="none" smtClean="0">
                        <a:solidFill>
                          <a:srgbClr val="202020"/>
                        </a:solidFill>
                        <a:latin typeface="Cambria Math" panose="02040503050406030204" pitchFamily="18" charset="0"/>
                      </a:rPr>
                      <m:t>=</m:t>
                    </m:r>
                    <m:f>
                      <m:fPr>
                        <m:ctrlPr>
                          <a:rPr lang="en-US" sz="3200" b="0" i="1" u="none" smtClean="0">
                            <a:solidFill>
                              <a:srgbClr val="202020"/>
                            </a:solidFill>
                            <a:latin typeface="Cambria Math" panose="02040503050406030204" pitchFamily="18" charset="0"/>
                          </a:rPr>
                        </m:ctrlPr>
                      </m:fPr>
                      <m:num>
                        <m:r>
                          <a:rPr lang="en-US" sz="3200" b="0" i="1" u="none" smtClean="0">
                            <a:solidFill>
                              <a:srgbClr val="202020"/>
                            </a:solidFill>
                            <a:latin typeface="Cambria Math" panose="02040503050406030204" pitchFamily="18" charset="0"/>
                          </a:rPr>
                          <m:t>𝑛</m:t>
                        </m:r>
                      </m:num>
                      <m:den>
                        <m:r>
                          <a:rPr lang="en-US" sz="3200" b="0" i="1" u="none" smtClean="0">
                            <a:solidFill>
                              <a:srgbClr val="202020"/>
                            </a:solidFill>
                            <a:latin typeface="Cambria Math" panose="02040503050406030204" pitchFamily="18" charset="0"/>
                          </a:rPr>
                          <m:t>𝑑</m:t>
                        </m:r>
                      </m:den>
                    </m:f>
                  </m:oMath>
                </a14:m>
                <a:endParaRPr lang="en-US" sz="3200" u="none" dirty="0" smtClean="0">
                  <a:solidFill>
                    <a:srgbClr val="202020"/>
                  </a:solidFill>
                  <a:latin typeface="Crimson Roman"/>
                </a:endParaRPr>
              </a:p>
              <a:p>
                <a:pPr marL="457200" lvl="0" indent="-457200">
                  <a:lnSpc>
                    <a:spcPts val="4000"/>
                  </a:lnSpc>
                  <a:spcBef>
                    <a:spcPct val="0"/>
                  </a:spcBef>
                  <a:buFontTx/>
                  <a:buChar char="-"/>
                </a:pPr>
                <a:r>
                  <a:rPr lang="en-US" sz="3200" dirty="0" smtClean="0">
                    <a:solidFill>
                      <a:srgbClr val="202020"/>
                    </a:solidFill>
                    <a:latin typeface="Crimson Roman"/>
                  </a:rPr>
                  <a:t>Phát biểu nguyên lý chia theo nghĩa tập: “ Nếu 1 tập hữu hạn A là tập hợp của </a:t>
                </a:r>
                <a14:m>
                  <m:oMath xmlns:m="http://schemas.openxmlformats.org/officeDocument/2006/math">
                    <m:r>
                      <a:rPr lang="en-US" sz="3200" i="1">
                        <a:solidFill>
                          <a:srgbClr val="202020"/>
                        </a:solidFill>
                        <a:latin typeface="Cambria Math" panose="02040503050406030204" pitchFamily="18" charset="0"/>
                      </a:rPr>
                      <m:t>𝑘</m:t>
                    </m:r>
                  </m:oMath>
                </a14:m>
                <a:r>
                  <a:rPr lang="en-US" sz="3200" u="none" dirty="0" smtClean="0">
                    <a:solidFill>
                      <a:srgbClr val="202020"/>
                    </a:solidFill>
                    <a:latin typeface="Crimson Roman"/>
                  </a:rPr>
                  <a:t> tập hợp con rời nhau từng đôi một, mỗi tập có </a:t>
                </a:r>
                <a14:m>
                  <m:oMath xmlns:m="http://schemas.openxmlformats.org/officeDocument/2006/math">
                    <m:r>
                      <a:rPr lang="en-US" sz="3200" b="0" i="1" u="none" smtClean="0">
                        <a:solidFill>
                          <a:srgbClr val="202020"/>
                        </a:solidFill>
                        <a:latin typeface="Cambria Math" panose="02040503050406030204" pitchFamily="18" charset="0"/>
                      </a:rPr>
                      <m:t>𝑑</m:t>
                    </m:r>
                  </m:oMath>
                </a14:m>
                <a:r>
                  <a:rPr lang="en-US" sz="3200" u="none" dirty="0" smtClean="0">
                    <a:solidFill>
                      <a:srgbClr val="202020"/>
                    </a:solidFill>
                    <a:latin typeface="Crimson Roman"/>
                  </a:rPr>
                  <a:t> phần tử, thì số tập con là </a:t>
                </a:r>
                <a14:m>
                  <m:oMath xmlns:m="http://schemas.openxmlformats.org/officeDocument/2006/math">
                    <m:r>
                      <a:rPr lang="en-US" sz="3200" b="0" i="1" u="none" smtClean="0">
                        <a:solidFill>
                          <a:srgbClr val="202020"/>
                        </a:solidFill>
                        <a:latin typeface="Cambria Math" panose="02040503050406030204" pitchFamily="18" charset="0"/>
                      </a:rPr>
                      <m:t>𝑘</m:t>
                    </m:r>
                    <m:r>
                      <a:rPr lang="en-US" sz="3200" b="0" i="1" u="none" smtClean="0">
                        <a:solidFill>
                          <a:srgbClr val="202020"/>
                        </a:solidFill>
                        <a:latin typeface="Cambria Math" panose="02040503050406030204" pitchFamily="18" charset="0"/>
                      </a:rPr>
                      <m:t>= </m:t>
                    </m:r>
                    <m:f>
                      <m:fPr>
                        <m:ctrlPr>
                          <a:rPr lang="en-US" sz="3200" b="0" i="1" u="none" smtClean="0">
                            <a:solidFill>
                              <a:srgbClr val="202020"/>
                            </a:solidFill>
                            <a:latin typeface="Cambria Math" panose="02040503050406030204" pitchFamily="18" charset="0"/>
                          </a:rPr>
                        </m:ctrlPr>
                      </m:fPr>
                      <m:num>
                        <m:d>
                          <m:dPr>
                            <m:begChr m:val="|"/>
                            <m:endChr m:val="|"/>
                            <m:ctrlPr>
                              <a:rPr lang="en-US" sz="3200" b="0" i="1" u="none" smtClean="0">
                                <a:solidFill>
                                  <a:srgbClr val="202020"/>
                                </a:solidFill>
                                <a:latin typeface="Cambria Math" panose="02040503050406030204" pitchFamily="18" charset="0"/>
                              </a:rPr>
                            </m:ctrlPr>
                          </m:dPr>
                          <m:e>
                            <m:r>
                              <a:rPr lang="en-US" sz="3200" b="0" i="1" u="none" smtClean="0">
                                <a:solidFill>
                                  <a:srgbClr val="202020"/>
                                </a:solidFill>
                                <a:latin typeface="Cambria Math" panose="02040503050406030204" pitchFamily="18" charset="0"/>
                              </a:rPr>
                              <m:t>𝐴</m:t>
                            </m:r>
                          </m:e>
                        </m:d>
                      </m:num>
                      <m:den>
                        <m:r>
                          <a:rPr lang="en-US" sz="3200" b="0" i="1" u="none" smtClean="0">
                            <a:solidFill>
                              <a:srgbClr val="202020"/>
                            </a:solidFill>
                            <a:latin typeface="Cambria Math" panose="02040503050406030204" pitchFamily="18" charset="0"/>
                          </a:rPr>
                          <m:t>𝑑</m:t>
                        </m:r>
                      </m:den>
                    </m:f>
                  </m:oMath>
                </a14:m>
                <a:r>
                  <a:rPr lang="en-US" sz="3200" u="none" dirty="0" smtClean="0">
                    <a:solidFill>
                      <a:srgbClr val="202020"/>
                    </a:solidFill>
                    <a:latin typeface="Crimson Roman"/>
                  </a:rPr>
                  <a:t>”</a:t>
                </a:r>
                <a:endParaRPr lang="en-US" sz="3200" u="none" dirty="0">
                  <a:solidFill>
                    <a:srgbClr val="202020"/>
                  </a:solidFill>
                  <a:latin typeface="Crimson Roman"/>
                </a:endParaRPr>
              </a:p>
            </p:txBody>
          </p:sp>
        </mc:Choice>
        <mc:Fallback xmlns="">
          <p:sp>
            <p:nvSpPr>
              <p:cNvPr id="2" name="TextBox 2"/>
              <p:cNvSpPr txBox="1">
                <a:spLocks noRot="1" noChangeAspect="1" noMove="1" noResize="1" noEditPoints="1" noAdjustHandles="1" noChangeArrowheads="1" noChangeShapeType="1" noTextEdit="1"/>
              </p:cNvSpPr>
              <p:nvPr/>
            </p:nvSpPr>
            <p:spPr>
              <a:xfrm>
                <a:off x="1168878" y="2299183"/>
                <a:ext cx="12013722" cy="3590727"/>
              </a:xfrm>
              <a:prstGeom prst="rect">
                <a:avLst/>
              </a:prstGeom>
              <a:blipFill>
                <a:blip r:embed="rId2"/>
                <a:stretch>
                  <a:fillRect l="-2689" t="-6791" r="-2029" b="-5433"/>
                </a:stretch>
              </a:blipFill>
            </p:spPr>
            <p:txBody>
              <a:bodyPr/>
              <a:lstStyle/>
              <a:p>
                <a:r>
                  <a:rPr lang="en-US">
                    <a:noFill/>
                  </a:rPr>
                  <a:t> </a:t>
                </a:r>
              </a:p>
            </p:txBody>
          </p:sp>
        </mc:Fallback>
      </mc:AlternateContent>
      <p:pic>
        <p:nvPicPr>
          <p:cNvPr id="7" name="Picture 7"/>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a:stretch>
            <a:fillRect/>
          </a:stretch>
        </p:blipFill>
        <p:spPr>
          <a:xfrm>
            <a:off x="13850143" y="2431763"/>
            <a:ext cx="3409157" cy="6194233"/>
          </a:xfrm>
          <a:prstGeom prst="rect">
            <a:avLst/>
          </a:prstGeom>
        </p:spPr>
      </p:pic>
      <p:sp>
        <p:nvSpPr>
          <p:cNvPr id="8" name="TextBox 6"/>
          <p:cNvSpPr txBox="1"/>
          <p:nvPr/>
        </p:nvSpPr>
        <p:spPr>
          <a:xfrm>
            <a:off x="1168879" y="723900"/>
            <a:ext cx="11479602" cy="1442703"/>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Nguyên lý chia</a:t>
            </a:r>
            <a:endParaRPr lang="en-US" sz="8800" dirty="0">
              <a:solidFill>
                <a:srgbClr val="3849A2"/>
              </a:solidFill>
              <a:latin typeface="Crimson Roman" panose="020B0604020202020204" charset="0"/>
            </a:endParaRPr>
          </a:p>
        </p:txBody>
      </p:sp>
    </p:spTree>
    <p:extLst>
      <p:ext uri="{BB962C8B-B14F-4D97-AF65-F5344CB8AC3E}">
        <p14:creationId xmlns:p14="http://schemas.microsoft.com/office/powerpoint/2010/main" val="28038346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4215781" y="6899719"/>
            <a:ext cx="2418104" cy="2358581"/>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4215781" y="3837048"/>
            <a:ext cx="2418104" cy="2554230"/>
          </a:xfrm>
          <a:prstGeom prst="rect">
            <a:avLst/>
          </a:prstGeom>
        </p:spPr>
      </p:pic>
      <p:pic>
        <p:nvPicPr>
          <p:cNvPr id="4" name="Picture 4"/>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4215781" y="1028700"/>
            <a:ext cx="2418104" cy="2299907"/>
          </a:xfrm>
          <a:prstGeom prst="rect">
            <a:avLst/>
          </a:prstGeom>
        </p:spPr>
      </p:pic>
      <p:sp>
        <p:nvSpPr>
          <p:cNvPr id="5" name="AutoShape 5"/>
          <p:cNvSpPr/>
          <p:nvPr/>
        </p:nvSpPr>
        <p:spPr>
          <a:xfrm>
            <a:off x="12387478" y="1028700"/>
            <a:ext cx="9525" cy="8229600"/>
          </a:xfrm>
          <a:prstGeom prst="rect">
            <a:avLst/>
          </a:prstGeom>
          <a:solidFill>
            <a:srgbClr val="3D3D3D"/>
          </a:solidFill>
        </p:spPr>
      </p:sp>
      <p:grpSp>
        <p:nvGrpSpPr>
          <p:cNvPr id="6" name="Group 6"/>
          <p:cNvGrpSpPr/>
          <p:nvPr/>
        </p:nvGrpSpPr>
        <p:grpSpPr>
          <a:xfrm>
            <a:off x="1028700" y="1028700"/>
            <a:ext cx="9539999" cy="3649077"/>
            <a:chOff x="0" y="0"/>
            <a:chExt cx="12719999" cy="4865437"/>
          </a:xfrm>
        </p:grpSpPr>
        <p:sp>
          <p:nvSpPr>
            <p:cNvPr id="7" name="TextBox 7"/>
            <p:cNvSpPr txBox="1"/>
            <p:nvPr/>
          </p:nvSpPr>
          <p:spPr>
            <a:xfrm>
              <a:off x="0" y="0"/>
              <a:ext cx="12719999" cy="1880858"/>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Ví dụ</a:t>
              </a:r>
              <a:endParaRPr lang="en-US" sz="8800" dirty="0">
                <a:solidFill>
                  <a:srgbClr val="3849A2"/>
                </a:solidFill>
                <a:latin typeface="Crimson Roman" panose="020B0604020202020204" charset="0"/>
              </a:endParaRPr>
            </a:p>
          </p:txBody>
        </p:sp>
        <p:sp>
          <p:nvSpPr>
            <p:cNvPr id="8" name="TextBox 8"/>
            <p:cNvSpPr txBox="1"/>
            <p:nvPr/>
          </p:nvSpPr>
          <p:spPr>
            <a:xfrm>
              <a:off x="0" y="2745198"/>
              <a:ext cx="12719999" cy="2120239"/>
            </a:xfrm>
            <a:prstGeom prst="rect">
              <a:avLst/>
            </a:prstGeom>
          </p:spPr>
          <p:txBody>
            <a:bodyPr lIns="0" tIns="0" rIns="0" bIns="0" rtlCol="0" anchor="t">
              <a:spAutoFit/>
            </a:bodyPr>
            <a:lstStyle/>
            <a:p>
              <a:pPr>
                <a:lnSpc>
                  <a:spcPts val="3120"/>
                </a:lnSpc>
              </a:pPr>
              <a:r>
                <a:rPr lang="en-US" sz="3200" dirty="0" smtClean="0">
                  <a:solidFill>
                    <a:srgbClr val="202020"/>
                  </a:solidFill>
                  <a:latin typeface="Crimson Roman" panose="020B0604020202020204" charset="0"/>
                </a:rPr>
                <a:t>Có bao nhiêu phương án khác nhau để xếp chỗ cho bốn người xung quanh bàn tròn, trong đó có 2 phương án sắp xếp được gọi là như nhau lến mỗi người có cùng người bến trái và bên phải giống nhau?</a:t>
              </a:r>
              <a:endParaRPr lang="en-US" sz="3200" dirty="0">
                <a:solidFill>
                  <a:srgbClr val="202020"/>
                </a:solidFill>
                <a:latin typeface="Crimson Roman" panose="020B0604020202020204" charset="0"/>
              </a:endParaRPr>
            </a:p>
          </p:txBody>
        </p:sp>
      </p:grpSp>
      <mc:AlternateContent xmlns:mc="http://schemas.openxmlformats.org/markup-compatibility/2006" xmlns:a14="http://schemas.microsoft.com/office/drawing/2010/main">
        <mc:Choice Requires="a14">
          <p:sp>
            <p:nvSpPr>
              <p:cNvPr id="9" name="TextBox 8"/>
              <p:cNvSpPr txBox="1"/>
              <p:nvPr/>
            </p:nvSpPr>
            <p:spPr>
              <a:xfrm>
                <a:off x="1028700" y="5259927"/>
                <a:ext cx="11358778" cy="4728282"/>
              </a:xfrm>
              <a:prstGeom prst="rect">
                <a:avLst/>
              </a:prstGeom>
              <a:noFill/>
            </p:spPr>
            <p:txBody>
              <a:bodyPr wrap="square" rtlCol="0">
                <a:spAutoFit/>
              </a:bodyPr>
              <a:lstStyle/>
              <a:p>
                <a:r>
                  <a:rPr lang="en-US" sz="3200" u="sng" dirty="0" smtClean="0">
                    <a:latin typeface="Crimson Roman" panose="020B0604020202020204" charset="0"/>
                  </a:rPr>
                  <a:t>Giải:</a:t>
                </a:r>
              </a:p>
              <a:p>
                <a:pPr marL="457200" indent="-457200">
                  <a:buFont typeface="Arial" panose="020B0604020202020204" pitchFamily="34" charset="0"/>
                  <a:buChar char="•"/>
                </a:pPr>
                <a:r>
                  <a:rPr lang="en-US" sz="3200" dirty="0" smtClean="0">
                    <a:latin typeface="Crimson Roman" panose="020B0604020202020204" charset="0"/>
                  </a:rPr>
                  <a:t>Ghế 1: có 4 cách sắp xếp</a:t>
                </a:r>
              </a:p>
              <a:p>
                <a:r>
                  <a:rPr lang="en-US" sz="3200" dirty="0">
                    <a:latin typeface="Crimson Roman" panose="020B0604020202020204" charset="0"/>
                  </a:rPr>
                  <a:t> </a:t>
                </a:r>
                <a:r>
                  <a:rPr lang="en-US" sz="3200" dirty="0" smtClean="0">
                    <a:latin typeface="Crimson Roman" panose="020B0604020202020204" charset="0"/>
                  </a:rPr>
                  <a:t>    Ghế 2: có 3 cách sắp xếp</a:t>
                </a:r>
              </a:p>
              <a:p>
                <a:r>
                  <a:rPr lang="en-US" sz="3200" dirty="0">
                    <a:latin typeface="Crimson Roman" panose="020B0604020202020204" charset="0"/>
                  </a:rPr>
                  <a:t> </a:t>
                </a:r>
                <a:r>
                  <a:rPr lang="en-US" sz="3200" dirty="0" smtClean="0">
                    <a:latin typeface="Crimson Roman" panose="020B0604020202020204" charset="0"/>
                  </a:rPr>
                  <a:t>    Ghế 3: có 2 cách sắp xếp</a:t>
                </a:r>
              </a:p>
              <a:p>
                <a:r>
                  <a:rPr lang="en-US" sz="3200" dirty="0">
                    <a:latin typeface="Crimson Roman" panose="020B0604020202020204" charset="0"/>
                  </a:rPr>
                  <a:t> </a:t>
                </a:r>
                <a:r>
                  <a:rPr lang="en-US" sz="3200" dirty="0" smtClean="0">
                    <a:latin typeface="Crimson Roman" panose="020B0604020202020204" charset="0"/>
                  </a:rPr>
                  <a:t>    Ghế 4: có 1 cách sắp xếp</a:t>
                </a:r>
              </a:p>
              <a:p>
                <a:r>
                  <a:rPr lang="en-US" sz="3200" dirty="0" smtClean="0">
                    <a:latin typeface="Crimson Roman" panose="020B0604020202020204" charset="0"/>
                  </a:rPr>
                  <a:t>→ Có 24 cách sắp xếp thự tự cho 4 người.</a:t>
                </a:r>
              </a:p>
              <a:p>
                <a:pPr marL="457200" indent="-457200">
                  <a:buFont typeface="Arial" panose="020B0604020202020204" pitchFamily="34" charset="0"/>
                  <a:buChar char="•"/>
                </a:pPr>
                <a:r>
                  <a:rPr lang="en-US" sz="3200" dirty="0" smtClean="0">
                    <a:latin typeface="Crimson Roman" panose="020B0604020202020204" charset="0"/>
                  </a:rPr>
                  <a:t>Với 1 phương án sắp xếp thì có 4 cách chọn vị trí ngồi</a:t>
                </a:r>
              </a:p>
              <a:p>
                <a:pPr marL="457200" indent="-457200">
                  <a:buFont typeface="Arial" panose="020B0604020202020204" pitchFamily="34" charset="0"/>
                  <a:buChar char="•"/>
                </a:pPr>
                <a:r>
                  <a:rPr lang="en-US" sz="3200" dirty="0" smtClean="0">
                    <a:latin typeface="Crimson Roman" panose="020B0604020202020204" charset="0"/>
                  </a:rPr>
                  <a:t>Theo nguyên lý chia → </a:t>
                </a:r>
                <a14:m>
                  <m:oMath xmlns:m="http://schemas.openxmlformats.org/officeDocument/2006/math">
                    <m:f>
                      <m:fPr>
                        <m:ctrlPr>
                          <a:rPr lang="en-US" sz="3200" i="1" smtClean="0">
                            <a:latin typeface="Cambria Math" panose="02040503050406030204" pitchFamily="18" charset="0"/>
                          </a:rPr>
                        </m:ctrlPr>
                      </m:fPr>
                      <m:num>
                        <m:r>
                          <a:rPr lang="en-US" sz="3200" b="0" i="1" smtClean="0">
                            <a:latin typeface="Cambria Math" panose="02040503050406030204" pitchFamily="18" charset="0"/>
                          </a:rPr>
                          <m:t>24</m:t>
                        </m:r>
                      </m:num>
                      <m:den>
                        <m:r>
                          <a:rPr lang="en-US" sz="3200" b="0" i="1" smtClean="0">
                            <a:latin typeface="Cambria Math" panose="02040503050406030204" pitchFamily="18" charset="0"/>
                          </a:rPr>
                          <m:t>4</m:t>
                        </m:r>
                      </m:den>
                    </m:f>
                    <m:r>
                      <a:rPr lang="en-US" sz="3200" b="0" i="1" smtClean="0">
                        <a:latin typeface="Cambria Math" panose="02040503050406030204" pitchFamily="18" charset="0"/>
                      </a:rPr>
                      <m:t>=6</m:t>
                    </m:r>
                  </m:oMath>
                </a14:m>
                <a:r>
                  <a:rPr lang="en-US" sz="3200" dirty="0" smtClean="0">
                    <a:latin typeface="Crimson Roman" panose="020B0604020202020204" charset="0"/>
                  </a:rPr>
                  <a:t> cách sắp xếp chỗ ngồi khác nhau cho 4 người quanh bàn trong</a:t>
                </a:r>
              </a:p>
            </p:txBody>
          </p:sp>
        </mc:Choice>
        <mc:Fallback xmlns="">
          <p:sp>
            <p:nvSpPr>
              <p:cNvPr id="9" name="TextBox 8"/>
              <p:cNvSpPr txBox="1">
                <a:spLocks noRot="1" noChangeAspect="1" noMove="1" noResize="1" noEditPoints="1" noAdjustHandles="1" noChangeArrowheads="1" noChangeShapeType="1" noTextEdit="1"/>
              </p:cNvSpPr>
              <p:nvPr/>
            </p:nvSpPr>
            <p:spPr>
              <a:xfrm>
                <a:off x="1028700" y="5259927"/>
                <a:ext cx="11358778" cy="4728282"/>
              </a:xfrm>
              <a:prstGeom prst="rect">
                <a:avLst/>
              </a:prstGeom>
              <a:blipFill>
                <a:blip r:embed="rId8"/>
                <a:stretch>
                  <a:fillRect l="-1396" t="-1677" b="-3355"/>
                </a:stretch>
              </a:blipFill>
            </p:spPr>
            <p:txBody>
              <a:bodyPr/>
              <a:lstStyle/>
              <a:p>
                <a:r>
                  <a:rPr lang="en-US">
                    <a:noFill/>
                  </a:rPr>
                  <a:t> </a:t>
                </a:r>
              </a:p>
            </p:txBody>
          </p:sp>
        </mc:Fallback>
      </mc:AlternateContent>
    </p:spTree>
    <p:extLst>
      <p:ext uri="{BB962C8B-B14F-4D97-AF65-F5344CB8AC3E}">
        <p14:creationId xmlns:p14="http://schemas.microsoft.com/office/powerpoint/2010/main" val="42297280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2"/>
              <p:cNvSpPr txBox="1"/>
              <p:nvPr/>
            </p:nvSpPr>
            <p:spPr>
              <a:xfrm>
                <a:off x="1168878" y="2299183"/>
                <a:ext cx="11861322" cy="4043351"/>
              </a:xfrm>
              <a:prstGeom prst="rect">
                <a:avLst/>
              </a:prstGeom>
            </p:spPr>
            <p:txBody>
              <a:bodyPr wrap="square" lIns="0" tIns="0" rIns="0" bIns="0" rtlCol="0" anchor="t">
                <a:spAutoFit/>
              </a:bodyPr>
              <a:lstStyle/>
              <a:p>
                <a:pPr marL="457200" lvl="0" indent="-457200">
                  <a:lnSpc>
                    <a:spcPts val="3300"/>
                  </a:lnSpc>
                  <a:spcBef>
                    <a:spcPct val="0"/>
                  </a:spcBef>
                  <a:buFontTx/>
                  <a:buChar char="-"/>
                </a:pPr>
                <a:r>
                  <a:rPr lang="en-US" sz="3200" dirty="0" smtClean="0">
                    <a:solidFill>
                      <a:srgbClr val="202020"/>
                    </a:solidFill>
                    <a:latin typeface="Crimson Roman"/>
                  </a:rPr>
                  <a:t>Giả sử </a:t>
                </a:r>
                <a14:m>
                  <m:oMath xmlns:m="http://schemas.openxmlformats.org/officeDocument/2006/math">
                    <m:r>
                      <a:rPr lang="en-US" sz="3200" b="0" i="1" smtClean="0">
                        <a:solidFill>
                          <a:srgbClr val="202020"/>
                        </a:solidFill>
                        <a:latin typeface="Cambria Math" panose="02040503050406030204" pitchFamily="18" charset="0"/>
                      </a:rPr>
                      <m:t>𝑘</m:t>
                    </m:r>
                  </m:oMath>
                </a14:m>
                <a:r>
                  <a:rPr lang="en-US" sz="3200" dirty="0" smtClean="0">
                    <a:solidFill>
                      <a:srgbClr val="202020"/>
                    </a:solidFill>
                    <a:latin typeface="Crimson Roman"/>
                  </a:rPr>
                  <a:t> là 1 số nguyên dương thì định lý phát biểu như sau: “ Nếu cho </a:t>
                </a:r>
                <a14:m>
                  <m:oMath xmlns:m="http://schemas.openxmlformats.org/officeDocument/2006/math">
                    <m:r>
                      <a:rPr lang="en-US" sz="3200" b="0" i="1" smtClean="0">
                        <a:solidFill>
                          <a:srgbClr val="202020"/>
                        </a:solidFill>
                        <a:latin typeface="Cambria Math" panose="02040503050406030204" pitchFamily="18" charset="0"/>
                      </a:rPr>
                      <m:t>𝑘</m:t>
                    </m:r>
                    <m:r>
                      <a:rPr lang="en-US" sz="3200" b="0" i="1" smtClean="0">
                        <a:solidFill>
                          <a:srgbClr val="202020"/>
                        </a:solidFill>
                        <a:latin typeface="Cambria Math" panose="02040503050406030204" pitchFamily="18" charset="0"/>
                      </a:rPr>
                      <m:t>+1</m:t>
                    </m:r>
                  </m:oMath>
                </a14:m>
                <a:r>
                  <a:rPr lang="en-US" sz="3200" u="none" dirty="0" smtClean="0">
                    <a:solidFill>
                      <a:srgbClr val="202020"/>
                    </a:solidFill>
                    <a:latin typeface="Crimson Roman"/>
                  </a:rPr>
                  <a:t> đồ vật hoặc nhiều hơn được đặt vào trong </a:t>
                </a:r>
                <a14:m>
                  <m:oMath xmlns:m="http://schemas.openxmlformats.org/officeDocument/2006/math">
                    <m:r>
                      <a:rPr lang="en-US" sz="3200" i="1">
                        <a:solidFill>
                          <a:srgbClr val="202020"/>
                        </a:solidFill>
                        <a:latin typeface="Cambria Math" panose="02040503050406030204" pitchFamily="18" charset="0"/>
                      </a:rPr>
                      <m:t>𝑘</m:t>
                    </m:r>
                  </m:oMath>
                </a14:m>
                <a:r>
                  <a:rPr lang="en-US" sz="3200" u="none" dirty="0" smtClean="0">
                    <a:solidFill>
                      <a:srgbClr val="202020"/>
                    </a:solidFill>
                    <a:latin typeface="Crimson Roman"/>
                  </a:rPr>
                  <a:t> hộp, thì có ít nhất 1 hộp chứa 2 đồ vật”</a:t>
                </a:r>
              </a:p>
              <a:p>
                <a:pPr lvl="0">
                  <a:lnSpc>
                    <a:spcPts val="3300"/>
                  </a:lnSpc>
                  <a:spcBef>
                    <a:spcPct val="0"/>
                  </a:spcBef>
                </a:pPr>
                <a:endParaRPr lang="en-US" sz="3200" dirty="0">
                  <a:solidFill>
                    <a:srgbClr val="202020"/>
                  </a:solidFill>
                  <a:latin typeface="Crimson Roman"/>
                </a:endParaRPr>
              </a:p>
              <a:p>
                <a:pPr lvl="0">
                  <a:lnSpc>
                    <a:spcPts val="3300"/>
                  </a:lnSpc>
                  <a:spcBef>
                    <a:spcPct val="0"/>
                  </a:spcBef>
                </a:pPr>
                <a:r>
                  <a:rPr lang="en-US" sz="3200" u="sng" dirty="0" smtClean="0">
                    <a:solidFill>
                      <a:srgbClr val="202020"/>
                    </a:solidFill>
                    <a:latin typeface="Crimson Roman"/>
                  </a:rPr>
                  <a:t>Hệ quả:</a:t>
                </a:r>
                <a:r>
                  <a:rPr lang="en-US" sz="3200" dirty="0" smtClean="0">
                    <a:solidFill>
                      <a:srgbClr val="202020"/>
                    </a:solidFill>
                    <a:latin typeface="Crimson Roman"/>
                  </a:rPr>
                  <a:t> Hếu hàm </a:t>
                </a:r>
                <a14:m>
                  <m:oMath xmlns:m="http://schemas.openxmlformats.org/officeDocument/2006/math">
                    <m:r>
                      <a:rPr lang="en-US" sz="3200" b="0" i="1" smtClean="0">
                        <a:solidFill>
                          <a:srgbClr val="202020"/>
                        </a:solidFill>
                        <a:latin typeface="Cambria Math" panose="02040503050406030204" pitchFamily="18" charset="0"/>
                      </a:rPr>
                      <m:t>𝑓</m:t>
                    </m:r>
                    <m:r>
                      <a:rPr lang="en-US" sz="3200" b="0" i="1" smtClean="0">
                        <a:solidFill>
                          <a:srgbClr val="202020"/>
                        </a:solidFill>
                        <a:latin typeface="Cambria Math" panose="02040503050406030204" pitchFamily="18" charset="0"/>
                      </a:rPr>
                      <m:t>:</m:t>
                    </m:r>
                    <m:r>
                      <a:rPr lang="en-US" sz="3200" b="0" i="1" smtClean="0">
                        <a:solidFill>
                          <a:srgbClr val="202020"/>
                        </a:solidFill>
                        <a:latin typeface="Cambria Math" panose="02040503050406030204" pitchFamily="18" charset="0"/>
                      </a:rPr>
                      <m:t>𝐴</m:t>
                    </m:r>
                    <m:r>
                      <a:rPr lang="en-US" sz="3200" b="0" i="1" smtClean="0">
                        <a:solidFill>
                          <a:srgbClr val="202020"/>
                        </a:solidFill>
                        <a:latin typeface="Cambria Math" panose="02040503050406030204" pitchFamily="18" charset="0"/>
                      </a:rPr>
                      <m:t> →</m:t>
                    </m:r>
                    <m:r>
                      <a:rPr lang="en-US" sz="3200" b="0" i="1" smtClean="0">
                        <a:solidFill>
                          <a:srgbClr val="202020"/>
                        </a:solidFill>
                        <a:latin typeface="Cambria Math" panose="02040503050406030204" pitchFamily="18" charset="0"/>
                      </a:rPr>
                      <m:t>𝐵</m:t>
                    </m:r>
                  </m:oMath>
                </a14:m>
                <a:r>
                  <a:rPr lang="en-US" sz="3200" dirty="0" smtClean="0">
                    <a:solidFill>
                      <a:srgbClr val="202020"/>
                    </a:solidFill>
                    <a:latin typeface="Crimson Roman"/>
                  </a:rPr>
                  <a:t>, với </a:t>
                </a:r>
                <a14:m>
                  <m:oMath xmlns:m="http://schemas.openxmlformats.org/officeDocument/2006/math">
                    <m:d>
                      <m:dPr>
                        <m:begChr m:val="|"/>
                        <m:endChr m:val="|"/>
                        <m:ctrlPr>
                          <a:rPr lang="en-US" sz="3200" i="1" smtClean="0">
                            <a:solidFill>
                              <a:srgbClr val="202020"/>
                            </a:solidFill>
                            <a:latin typeface="Cambria Math" panose="02040503050406030204" pitchFamily="18" charset="0"/>
                          </a:rPr>
                        </m:ctrlPr>
                      </m:dPr>
                      <m:e>
                        <m:r>
                          <a:rPr lang="en-US" sz="3200" b="0" i="1" smtClean="0">
                            <a:solidFill>
                              <a:srgbClr val="202020"/>
                            </a:solidFill>
                            <a:latin typeface="Cambria Math" panose="02040503050406030204" pitchFamily="18" charset="0"/>
                          </a:rPr>
                          <m:t>𝐴</m:t>
                        </m:r>
                      </m:e>
                    </m:d>
                    <m:r>
                      <a:rPr lang="en-US" sz="3200" b="0" i="1" smtClean="0">
                        <a:solidFill>
                          <a:srgbClr val="202020"/>
                        </a:solidFill>
                        <a:latin typeface="Cambria Math" panose="02040503050406030204" pitchFamily="18" charset="0"/>
                      </a:rPr>
                      <m:t> </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𝑘</m:t>
                    </m:r>
                    <m:r>
                      <a:rPr lang="en-US" sz="3200" b="0" i="1" smtClean="0">
                        <a:solidFill>
                          <a:srgbClr val="202020"/>
                        </a:solidFill>
                        <a:latin typeface="Cambria Math" panose="02040503050406030204" pitchFamily="18" charset="0"/>
                        <a:ea typeface="Cambria Math" panose="02040503050406030204" pitchFamily="18" charset="0"/>
                      </a:rPr>
                      <m:t>+1, </m:t>
                    </m:r>
                    <m:d>
                      <m:dPr>
                        <m:begChr m:val="|"/>
                        <m:endChr m:val="|"/>
                        <m:ctrlPr>
                          <a:rPr lang="en-US" sz="3200" b="0" i="1" smtClean="0">
                            <a:solidFill>
                              <a:srgbClr val="202020"/>
                            </a:solidFill>
                            <a:latin typeface="Cambria Math" panose="02040503050406030204" pitchFamily="18" charset="0"/>
                            <a:ea typeface="Cambria Math" panose="02040503050406030204" pitchFamily="18" charset="0"/>
                          </a:rPr>
                        </m:ctrlPr>
                      </m:dPr>
                      <m:e>
                        <m:r>
                          <a:rPr lang="en-US" sz="3200" b="0" i="1" smtClean="0">
                            <a:solidFill>
                              <a:srgbClr val="202020"/>
                            </a:solidFill>
                            <a:latin typeface="Cambria Math" panose="02040503050406030204" pitchFamily="18" charset="0"/>
                            <a:ea typeface="Cambria Math" panose="02040503050406030204" pitchFamily="18" charset="0"/>
                          </a:rPr>
                          <m:t>𝐵</m:t>
                        </m:r>
                      </m:e>
                    </m:d>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𝑘</m:t>
                    </m:r>
                  </m:oMath>
                </a14:m>
                <a:r>
                  <a:rPr lang="en-US" sz="3200" dirty="0" smtClean="0">
                    <a:solidFill>
                      <a:srgbClr val="202020"/>
                    </a:solidFill>
                    <a:latin typeface="Crimson Roman"/>
                  </a:rPr>
                  <a:t>, thì </a:t>
                </a:r>
                <a14:m>
                  <m:oMath xmlns:m="http://schemas.openxmlformats.org/officeDocument/2006/math">
                    <m:r>
                      <a:rPr lang="en-US" sz="3200" b="0" i="1" smtClean="0">
                        <a:solidFill>
                          <a:srgbClr val="202020"/>
                        </a:solidFill>
                        <a:latin typeface="Cambria Math" panose="02040503050406030204" pitchFamily="18" charset="0"/>
                      </a:rPr>
                      <m:t>𝑓</m:t>
                    </m:r>
                  </m:oMath>
                </a14:m>
                <a:r>
                  <a:rPr lang="en-US" sz="3200" dirty="0" smtClean="0">
                    <a:solidFill>
                      <a:srgbClr val="202020"/>
                    </a:solidFill>
                    <a:latin typeface="Crimson Roman"/>
                  </a:rPr>
                  <a:t> không là đơn ánh</a:t>
                </a:r>
              </a:p>
              <a:p>
                <a:pPr lvl="0">
                  <a:lnSpc>
                    <a:spcPts val="3300"/>
                  </a:lnSpc>
                  <a:spcBef>
                    <a:spcPct val="0"/>
                  </a:spcBef>
                </a:pPr>
                <a:endParaRPr lang="en-US" sz="3200" dirty="0">
                  <a:solidFill>
                    <a:srgbClr val="202020"/>
                  </a:solidFill>
                  <a:latin typeface="Crimson Roman"/>
                </a:endParaRPr>
              </a:p>
              <a:p>
                <a:pPr lvl="0">
                  <a:lnSpc>
                    <a:spcPts val="4000"/>
                  </a:lnSpc>
                  <a:spcBef>
                    <a:spcPct val="0"/>
                  </a:spcBef>
                </a:pPr>
                <a:r>
                  <a:rPr lang="en-US" sz="3200" u="sng" dirty="0" smtClean="0">
                    <a:solidFill>
                      <a:srgbClr val="202020"/>
                    </a:solidFill>
                    <a:latin typeface="Crimson Roman"/>
                  </a:rPr>
                  <a:t>Tổng quát: </a:t>
                </a:r>
                <a:r>
                  <a:rPr lang="en-US" sz="3200" dirty="0" smtClean="0">
                    <a:solidFill>
                      <a:srgbClr val="202020"/>
                    </a:solidFill>
                    <a:latin typeface="Crimson Roman"/>
                  </a:rPr>
                  <a:t>Nếu N đồ vật được đặt vào trong </a:t>
                </a:r>
                <a14:m>
                  <m:oMath xmlns:m="http://schemas.openxmlformats.org/officeDocument/2006/math">
                    <m:r>
                      <a:rPr lang="en-US" sz="3200" i="1">
                        <a:solidFill>
                          <a:srgbClr val="202020"/>
                        </a:solidFill>
                        <a:latin typeface="Cambria Math" panose="02040503050406030204" pitchFamily="18" charset="0"/>
                      </a:rPr>
                      <m:t>𝑘</m:t>
                    </m:r>
                  </m:oMath>
                </a14:m>
                <a:r>
                  <a:rPr lang="en-US" sz="3200" dirty="0" smtClean="0">
                    <a:solidFill>
                      <a:srgbClr val="202020"/>
                    </a:solidFill>
                    <a:latin typeface="Crimson Roman"/>
                  </a:rPr>
                  <a:t> hộp, thì có ít nhất 1 hộp chứa ít nhất </a:t>
                </a:r>
                <a14:m>
                  <m:oMath xmlns:m="http://schemas.openxmlformats.org/officeDocument/2006/math">
                    <m:d>
                      <m:dPr>
                        <m:begChr m:val="⌈"/>
                        <m:endChr m:val="⌉"/>
                        <m:ctrlPr>
                          <a:rPr lang="en-US" sz="3200" i="1" smtClean="0">
                            <a:solidFill>
                              <a:srgbClr val="202020"/>
                            </a:solidFill>
                            <a:latin typeface="Cambria Math" panose="02040503050406030204" pitchFamily="18" charset="0"/>
                          </a:rPr>
                        </m:ctrlPr>
                      </m:dPr>
                      <m:e>
                        <m:f>
                          <m:fPr>
                            <m:ctrlPr>
                              <a:rPr lang="en-US" sz="3200" i="1" smtClean="0">
                                <a:solidFill>
                                  <a:srgbClr val="202020"/>
                                </a:solidFill>
                                <a:latin typeface="Cambria Math" panose="02040503050406030204" pitchFamily="18" charset="0"/>
                              </a:rPr>
                            </m:ctrlPr>
                          </m:fPr>
                          <m:num>
                            <m:r>
                              <a:rPr lang="en-US" sz="3200" b="0" i="1" smtClean="0">
                                <a:solidFill>
                                  <a:srgbClr val="202020"/>
                                </a:solidFill>
                                <a:latin typeface="Cambria Math" panose="02040503050406030204" pitchFamily="18" charset="0"/>
                              </a:rPr>
                              <m:t>𝑁</m:t>
                            </m:r>
                          </m:num>
                          <m:den>
                            <m:r>
                              <a:rPr lang="en-US" sz="3200" b="0" i="1" smtClean="0">
                                <a:solidFill>
                                  <a:srgbClr val="202020"/>
                                </a:solidFill>
                                <a:latin typeface="Cambria Math" panose="02040503050406030204" pitchFamily="18" charset="0"/>
                              </a:rPr>
                              <m:t>𝑘</m:t>
                            </m:r>
                          </m:den>
                        </m:f>
                      </m:e>
                    </m:d>
                  </m:oMath>
                </a14:m>
                <a:r>
                  <a:rPr lang="en-US" sz="3200" dirty="0" smtClean="0">
                    <a:solidFill>
                      <a:srgbClr val="202020"/>
                    </a:solidFill>
                    <a:latin typeface="Crimson Roman"/>
                  </a:rPr>
                  <a:t> đồ vật.</a:t>
                </a:r>
                <a:endParaRPr lang="en-US" sz="3200" dirty="0">
                  <a:solidFill>
                    <a:srgbClr val="202020"/>
                  </a:solidFill>
                  <a:latin typeface="Crimson Roman"/>
                </a:endParaRPr>
              </a:p>
            </p:txBody>
          </p:sp>
        </mc:Choice>
        <mc:Fallback xmlns="">
          <p:sp>
            <p:nvSpPr>
              <p:cNvPr id="2" name="TextBox 2"/>
              <p:cNvSpPr txBox="1">
                <a:spLocks noRot="1" noChangeAspect="1" noMove="1" noResize="1" noEditPoints="1" noAdjustHandles="1" noChangeArrowheads="1" noChangeShapeType="1" noTextEdit="1"/>
              </p:cNvSpPr>
              <p:nvPr/>
            </p:nvSpPr>
            <p:spPr>
              <a:xfrm>
                <a:off x="1168878" y="2299183"/>
                <a:ext cx="11861322" cy="4043351"/>
              </a:xfrm>
              <a:prstGeom prst="rect">
                <a:avLst/>
              </a:prstGeom>
              <a:blipFill>
                <a:blip r:embed="rId2"/>
                <a:stretch>
                  <a:fillRect l="-2724" t="-7541" b="-3167"/>
                </a:stretch>
              </a:blipFill>
            </p:spPr>
            <p:txBody>
              <a:bodyPr/>
              <a:lstStyle/>
              <a:p>
                <a:r>
                  <a:rPr lang="en-US">
                    <a:noFill/>
                  </a:rPr>
                  <a:t> </a:t>
                </a:r>
              </a:p>
            </p:txBody>
          </p:sp>
        </mc:Fallback>
      </mc:AlternateContent>
      <p:pic>
        <p:nvPicPr>
          <p:cNvPr id="7" name="Picture 7"/>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a:stretch>
            <a:fillRect/>
          </a:stretch>
        </p:blipFill>
        <p:spPr>
          <a:xfrm>
            <a:off x="13850143" y="2431763"/>
            <a:ext cx="3409157" cy="6194233"/>
          </a:xfrm>
          <a:prstGeom prst="rect">
            <a:avLst/>
          </a:prstGeom>
        </p:spPr>
      </p:pic>
      <p:sp>
        <p:nvSpPr>
          <p:cNvPr id="8" name="TextBox 6"/>
          <p:cNvSpPr txBox="1"/>
          <p:nvPr/>
        </p:nvSpPr>
        <p:spPr>
          <a:xfrm>
            <a:off x="1168879" y="723900"/>
            <a:ext cx="11479602" cy="1442703"/>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Nguyên lý Dirichle</a:t>
            </a:r>
            <a:endParaRPr lang="en-US" sz="8800" dirty="0">
              <a:solidFill>
                <a:srgbClr val="3849A2"/>
              </a:solidFill>
              <a:latin typeface="Crimson Roman" panose="020B0604020202020204" charset="0"/>
            </a:endParaRPr>
          </a:p>
        </p:txBody>
      </p:sp>
    </p:spTree>
    <p:extLst>
      <p:ext uri="{BB962C8B-B14F-4D97-AF65-F5344CB8AC3E}">
        <p14:creationId xmlns:p14="http://schemas.microsoft.com/office/powerpoint/2010/main" val="41860061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4215781" y="6899719"/>
            <a:ext cx="2418104" cy="2358581"/>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4215781" y="3837048"/>
            <a:ext cx="2418104" cy="2554230"/>
          </a:xfrm>
          <a:prstGeom prst="rect">
            <a:avLst/>
          </a:prstGeom>
        </p:spPr>
      </p:pic>
      <p:pic>
        <p:nvPicPr>
          <p:cNvPr id="4" name="Picture 4"/>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4215781" y="1028700"/>
            <a:ext cx="2418104" cy="2299907"/>
          </a:xfrm>
          <a:prstGeom prst="rect">
            <a:avLst/>
          </a:prstGeom>
        </p:spPr>
      </p:pic>
      <p:sp>
        <p:nvSpPr>
          <p:cNvPr id="5" name="AutoShape 5"/>
          <p:cNvSpPr/>
          <p:nvPr/>
        </p:nvSpPr>
        <p:spPr>
          <a:xfrm>
            <a:off x="12387478" y="1028700"/>
            <a:ext cx="9525" cy="8229600"/>
          </a:xfrm>
          <a:prstGeom prst="rect">
            <a:avLst/>
          </a:prstGeom>
          <a:solidFill>
            <a:srgbClr val="3D3D3D"/>
          </a:solidFill>
        </p:spPr>
      </p:sp>
      <p:grpSp>
        <p:nvGrpSpPr>
          <p:cNvPr id="6" name="Group 6"/>
          <p:cNvGrpSpPr/>
          <p:nvPr/>
        </p:nvGrpSpPr>
        <p:grpSpPr>
          <a:xfrm>
            <a:off x="1028700" y="1028700"/>
            <a:ext cx="9539999" cy="2877712"/>
            <a:chOff x="0" y="0"/>
            <a:chExt cx="12719999" cy="3836950"/>
          </a:xfrm>
        </p:grpSpPr>
        <p:sp>
          <p:nvSpPr>
            <p:cNvPr id="7" name="TextBox 7"/>
            <p:cNvSpPr txBox="1"/>
            <p:nvPr/>
          </p:nvSpPr>
          <p:spPr>
            <a:xfrm>
              <a:off x="0" y="0"/>
              <a:ext cx="12719999" cy="1880858"/>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Ví dụ</a:t>
              </a:r>
              <a:endParaRPr lang="en-US" sz="8800" dirty="0">
                <a:solidFill>
                  <a:srgbClr val="3849A2"/>
                </a:solidFill>
                <a:latin typeface="Crimson Roman" panose="020B0604020202020204" charset="0"/>
              </a:endParaRPr>
            </a:p>
          </p:txBody>
        </p:sp>
        <p:sp>
          <p:nvSpPr>
            <p:cNvPr id="8" name="TextBox 8"/>
            <p:cNvSpPr txBox="1"/>
            <p:nvPr/>
          </p:nvSpPr>
          <p:spPr>
            <a:xfrm>
              <a:off x="0" y="2745198"/>
              <a:ext cx="12719999" cy="1091752"/>
            </a:xfrm>
            <a:prstGeom prst="rect">
              <a:avLst/>
            </a:prstGeom>
          </p:spPr>
          <p:txBody>
            <a:bodyPr lIns="0" tIns="0" rIns="0" bIns="0" rtlCol="0" anchor="t">
              <a:spAutoFit/>
            </a:bodyPr>
            <a:lstStyle/>
            <a:p>
              <a:pPr>
                <a:lnSpc>
                  <a:spcPts val="3120"/>
                </a:lnSpc>
              </a:pPr>
              <a:r>
                <a:rPr lang="en-US" sz="3200" dirty="0" smtClean="0">
                  <a:solidFill>
                    <a:srgbClr val="202020"/>
                  </a:solidFill>
                  <a:latin typeface="Crimson Roman" panose="020B0604020202020204" charset="0"/>
                </a:rPr>
                <a:t>Cần bao nhiêu người để chọn 1 cách tùy ý thì có ít nhất hai ngời có cùng ngày sinh nhật?</a:t>
              </a:r>
              <a:endParaRPr lang="en-US" sz="3200" dirty="0">
                <a:solidFill>
                  <a:srgbClr val="202020"/>
                </a:solidFill>
                <a:latin typeface="Crimson Roman" panose="020B0604020202020204" charset="0"/>
              </a:endParaRPr>
            </a:p>
          </p:txBody>
        </p:sp>
      </p:grpSp>
      <p:sp>
        <p:nvSpPr>
          <p:cNvPr id="9" name="TextBox 8"/>
          <p:cNvSpPr txBox="1"/>
          <p:nvPr/>
        </p:nvSpPr>
        <p:spPr>
          <a:xfrm>
            <a:off x="1028700" y="4587687"/>
            <a:ext cx="12496800" cy="1569660"/>
          </a:xfrm>
          <a:prstGeom prst="rect">
            <a:avLst/>
          </a:prstGeom>
          <a:noFill/>
        </p:spPr>
        <p:txBody>
          <a:bodyPr wrap="square" rtlCol="0">
            <a:spAutoFit/>
          </a:bodyPr>
          <a:lstStyle/>
          <a:p>
            <a:r>
              <a:rPr lang="en-US" sz="3200" u="sng" dirty="0" smtClean="0">
                <a:latin typeface="Crimson Roman" panose="020B0604020202020204" charset="0"/>
              </a:rPr>
              <a:t>Giải:</a:t>
            </a:r>
            <a:endParaRPr lang="en-US" sz="3200" dirty="0" smtClean="0">
              <a:latin typeface="Crimson Roman" panose="020B0604020202020204" charset="0"/>
            </a:endParaRPr>
          </a:p>
          <a:p>
            <a:pPr marL="457200" indent="-457200">
              <a:buFontTx/>
              <a:buChar char="-"/>
            </a:pPr>
            <a:r>
              <a:rPr lang="en-US" sz="3200" dirty="0" smtClean="0">
                <a:latin typeface="Crimson Roman" panose="020B0604020202020204" charset="0"/>
              </a:rPr>
              <a:t>Có thể có 366 ngày sinh nhật</a:t>
            </a:r>
          </a:p>
          <a:p>
            <a:r>
              <a:rPr lang="en-US" sz="3200" dirty="0" smtClean="0">
                <a:latin typeface="Crimson Roman" panose="020B0604020202020204" charset="0"/>
              </a:rPr>
              <a:t>→ Cần 367 người để có 2 người cùng ngày sinh nhật.</a:t>
            </a:r>
          </a:p>
        </p:txBody>
      </p:sp>
    </p:spTree>
    <p:extLst>
      <p:ext uri="{BB962C8B-B14F-4D97-AF65-F5344CB8AC3E}">
        <p14:creationId xmlns:p14="http://schemas.microsoft.com/office/powerpoint/2010/main" val="18203446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7474427" y="5701772"/>
            <a:ext cx="3217003" cy="5346227"/>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4518085" y="7002013"/>
            <a:ext cx="2806087" cy="4045985"/>
          </a:xfrm>
          <a:prstGeom prst="rect">
            <a:avLst/>
          </a:prstGeom>
        </p:spPr>
      </p:pic>
      <p:sp>
        <p:nvSpPr>
          <p:cNvPr id="4" name="TextBox 4"/>
          <p:cNvSpPr txBox="1"/>
          <p:nvPr/>
        </p:nvSpPr>
        <p:spPr>
          <a:xfrm>
            <a:off x="2426718" y="1592951"/>
            <a:ext cx="13434563" cy="1442703"/>
          </a:xfrm>
          <a:prstGeom prst="rect">
            <a:avLst/>
          </a:prstGeom>
        </p:spPr>
        <p:txBody>
          <a:bodyPr lIns="0" tIns="0" rIns="0" bIns="0" rtlCol="0" anchor="t">
            <a:spAutoFit/>
          </a:bodyPr>
          <a:lstStyle/>
          <a:p>
            <a:pPr algn="ctr">
              <a:lnSpc>
                <a:spcPts val="11000"/>
              </a:lnSpc>
            </a:pPr>
            <a:r>
              <a:rPr lang="en-US" sz="10000" dirty="0" smtClean="0">
                <a:solidFill>
                  <a:srgbClr val="3849A2"/>
                </a:solidFill>
                <a:latin typeface="Crimson Roman" panose="020B0604020202020204" charset="0"/>
              </a:rPr>
              <a:t>Đại số tổ hợp</a:t>
            </a:r>
            <a:endParaRPr lang="en-US" sz="10000" dirty="0">
              <a:solidFill>
                <a:srgbClr val="3849A2"/>
              </a:solidFill>
              <a:latin typeface="Crimson Roman" panose="020B0604020202020204" charset="0"/>
            </a:endParaRPr>
          </a:p>
        </p:txBody>
      </p:sp>
      <p:pic>
        <p:nvPicPr>
          <p:cNvPr id="5" name="Picture 5"/>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0841685" y="7002013"/>
            <a:ext cx="2928230" cy="3999398"/>
          </a:xfrm>
          <a:prstGeom prst="rect">
            <a:avLst/>
          </a:prstGeom>
        </p:spPr>
      </p:pic>
    </p:spTree>
    <p:extLst>
      <p:ext uri="{BB962C8B-B14F-4D97-AF65-F5344CB8AC3E}">
        <p14:creationId xmlns:p14="http://schemas.microsoft.com/office/powerpoint/2010/main" val="18551431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2"/>
              <p:cNvSpPr txBox="1"/>
              <p:nvPr/>
            </p:nvSpPr>
            <p:spPr>
              <a:xfrm>
                <a:off x="1168878" y="2299183"/>
                <a:ext cx="11861322" cy="7194277"/>
              </a:xfrm>
              <a:prstGeom prst="rect">
                <a:avLst/>
              </a:prstGeom>
            </p:spPr>
            <p:txBody>
              <a:bodyPr wrap="square" lIns="0" tIns="0" rIns="0" bIns="0" rtlCol="0" anchor="t">
                <a:spAutoFit/>
              </a:bodyPr>
              <a:lstStyle/>
              <a:p>
                <a:pPr marL="457200" lvl="0" indent="-457200">
                  <a:lnSpc>
                    <a:spcPts val="3300"/>
                  </a:lnSpc>
                  <a:spcBef>
                    <a:spcPct val="0"/>
                  </a:spcBef>
                  <a:buFontTx/>
                  <a:buChar char="-"/>
                </a:pPr>
                <a:r>
                  <a:rPr lang="en-US" sz="3200" dirty="0" smtClean="0">
                    <a:solidFill>
                      <a:srgbClr val="202020"/>
                    </a:solidFill>
                    <a:latin typeface="Crimson Roman"/>
                  </a:rPr>
                  <a:t>Một </a:t>
                </a:r>
                <a:r>
                  <a:rPr lang="en-US" sz="3200" b="1" i="1" u="sng" dirty="0" smtClean="0">
                    <a:solidFill>
                      <a:srgbClr val="202020"/>
                    </a:solidFill>
                    <a:latin typeface="Crimson Roman"/>
                  </a:rPr>
                  <a:t>hoán vị</a:t>
                </a:r>
                <a:r>
                  <a:rPr lang="en-US" sz="3200" dirty="0" smtClean="0">
                    <a:solidFill>
                      <a:srgbClr val="202020"/>
                    </a:solidFill>
                    <a:latin typeface="Crimson Roman"/>
                  </a:rPr>
                  <a:t> của tập A là 1 sự sắp xếp có thự tự của tất cả các phần tử trong A.</a:t>
                </a:r>
              </a:p>
              <a:p>
                <a:pPr marL="457200" lvl="0" indent="-457200">
                  <a:lnSpc>
                    <a:spcPts val="3300"/>
                  </a:lnSpc>
                  <a:spcBef>
                    <a:spcPct val="0"/>
                  </a:spcBef>
                  <a:buFontTx/>
                  <a:buChar char="-"/>
                </a:pPr>
                <a:r>
                  <a:rPr lang="en-US" sz="3200" dirty="0" smtClean="0">
                    <a:solidFill>
                      <a:srgbClr val="202020"/>
                    </a:solidFill>
                    <a:latin typeface="Crimson Roman"/>
                  </a:rPr>
                  <a:t>Một </a:t>
                </a:r>
                <a:r>
                  <a:rPr lang="en-US" sz="3200" b="1" i="1" u="sng" dirty="0" smtClean="0">
                    <a:solidFill>
                      <a:srgbClr val="202020"/>
                    </a:solidFill>
                    <a:latin typeface="Crimson Roman"/>
                  </a:rPr>
                  <a:t>chỉnh hợp</a:t>
                </a:r>
                <a:r>
                  <a:rPr lang="en-US" sz="3200" b="1" i="1" u="sng" dirty="0">
                    <a:solidFill>
                      <a:srgbClr val="202020"/>
                    </a:solidFill>
                    <a:latin typeface="Crimson Roman"/>
                  </a:rPr>
                  <a:t> </a:t>
                </a:r>
                <a:r>
                  <a:rPr lang="en-US" sz="3200" b="1" i="1" u="sng" dirty="0" smtClean="0">
                    <a:solidFill>
                      <a:srgbClr val="202020"/>
                    </a:solidFill>
                    <a:latin typeface="Crimson Roman"/>
                  </a:rPr>
                  <a:t>chập r</a:t>
                </a:r>
                <a:r>
                  <a:rPr lang="en-US" sz="3200" dirty="0" smtClean="0">
                    <a:solidFill>
                      <a:srgbClr val="202020"/>
                    </a:solidFill>
                    <a:latin typeface="Crimson Roman"/>
                  </a:rPr>
                  <a:t> của tập A là 1 cách sắp xếp theo thứ tự của r phần tử được lấy từ tập A.</a:t>
                </a:r>
              </a:p>
              <a:p>
                <a:pPr lvl="0">
                  <a:lnSpc>
                    <a:spcPts val="3300"/>
                  </a:lnSpc>
                  <a:spcBef>
                    <a:spcPct val="0"/>
                  </a:spcBef>
                </a:pPr>
                <a:endParaRPr lang="en-US" sz="3200" b="1" u="sng" dirty="0" smtClean="0">
                  <a:solidFill>
                    <a:srgbClr val="202020"/>
                  </a:solidFill>
                  <a:latin typeface="Crimson Roman"/>
                </a:endParaRPr>
              </a:p>
              <a:p>
                <a:pPr lvl="0">
                  <a:lnSpc>
                    <a:spcPts val="3300"/>
                  </a:lnSpc>
                  <a:spcBef>
                    <a:spcPct val="0"/>
                  </a:spcBef>
                </a:pPr>
                <a:r>
                  <a:rPr lang="en-US" sz="3200" b="1" u="sng" dirty="0" smtClean="0">
                    <a:solidFill>
                      <a:srgbClr val="202020"/>
                    </a:solidFill>
                    <a:latin typeface="Crimson Roman"/>
                  </a:rPr>
                  <a:t>Chỉnh hợp:</a:t>
                </a:r>
                <a:r>
                  <a:rPr lang="en-US" sz="3200" dirty="0" smtClean="0">
                    <a:solidFill>
                      <a:srgbClr val="202020"/>
                    </a:solidFill>
                    <a:latin typeface="Crimson Roman"/>
                  </a:rPr>
                  <a:t> </a:t>
                </a:r>
                <a14:m>
                  <m:oMath xmlns:m="http://schemas.openxmlformats.org/officeDocument/2006/math">
                    <m:sSubSup>
                      <m:sSubSupPr>
                        <m:ctrlPr>
                          <a:rPr lang="en-US" sz="3200" i="1" smtClean="0">
                            <a:solidFill>
                              <a:srgbClr val="202020"/>
                            </a:solidFill>
                            <a:latin typeface="Cambria Math" panose="02040503050406030204" pitchFamily="18" charset="0"/>
                          </a:rPr>
                        </m:ctrlPr>
                      </m:sSubSupPr>
                      <m:e>
                        <m:r>
                          <a:rPr lang="en-US" sz="3200" b="0" i="1" smtClean="0">
                            <a:solidFill>
                              <a:srgbClr val="202020"/>
                            </a:solidFill>
                            <a:latin typeface="Cambria Math" panose="02040503050406030204" pitchFamily="18" charset="0"/>
                          </a:rPr>
                          <m:t>𝐴</m:t>
                        </m:r>
                      </m:e>
                      <m:sub>
                        <m:r>
                          <a:rPr lang="en-US" sz="3200" b="0" i="1" smtClean="0">
                            <a:solidFill>
                              <a:srgbClr val="202020"/>
                            </a:solidFill>
                            <a:latin typeface="Cambria Math" panose="02040503050406030204" pitchFamily="18" charset="0"/>
                          </a:rPr>
                          <m:t>𝑛</m:t>
                        </m:r>
                      </m:sub>
                      <m:sup>
                        <m:r>
                          <a:rPr lang="en-US" sz="3200" b="0" i="1" smtClean="0">
                            <a:solidFill>
                              <a:srgbClr val="202020"/>
                            </a:solidFill>
                            <a:latin typeface="Cambria Math" panose="02040503050406030204" pitchFamily="18" charset="0"/>
                          </a:rPr>
                          <m:t>𝑚</m:t>
                        </m:r>
                      </m:sup>
                    </m:sSubSup>
                    <m:r>
                      <a:rPr lang="en-US" sz="3200" b="0" i="1" smtClean="0">
                        <a:solidFill>
                          <a:srgbClr val="202020"/>
                        </a:solidFill>
                        <a:latin typeface="Cambria Math" panose="02040503050406030204" pitchFamily="18" charset="0"/>
                      </a:rPr>
                      <m:t>=</m:t>
                    </m:r>
                    <m:f>
                      <m:fPr>
                        <m:ctrlPr>
                          <a:rPr lang="en-US" sz="3200" b="0" i="1" smtClean="0">
                            <a:solidFill>
                              <a:srgbClr val="202020"/>
                            </a:solidFill>
                            <a:latin typeface="Cambria Math" panose="02040503050406030204" pitchFamily="18" charset="0"/>
                          </a:rPr>
                        </m:ctrlPr>
                      </m:fPr>
                      <m:num>
                        <m:r>
                          <a:rPr lang="en-US" sz="3200" b="0" i="1" smtClean="0">
                            <a:solidFill>
                              <a:srgbClr val="202020"/>
                            </a:solidFill>
                            <a:latin typeface="Cambria Math" panose="02040503050406030204" pitchFamily="18" charset="0"/>
                          </a:rPr>
                          <m:t>𝑛</m:t>
                        </m:r>
                        <m:r>
                          <a:rPr lang="en-US" sz="3200" b="0" i="1" smtClean="0">
                            <a:solidFill>
                              <a:srgbClr val="202020"/>
                            </a:solidFill>
                            <a:latin typeface="Cambria Math" panose="02040503050406030204" pitchFamily="18" charset="0"/>
                          </a:rPr>
                          <m:t>!</m:t>
                        </m:r>
                      </m:num>
                      <m:den>
                        <m:d>
                          <m:dPr>
                            <m:ctrlPr>
                              <a:rPr lang="en-US" sz="3200" b="0" i="1" smtClean="0">
                                <a:solidFill>
                                  <a:srgbClr val="202020"/>
                                </a:solidFill>
                                <a:latin typeface="Cambria Math" panose="02040503050406030204" pitchFamily="18" charset="0"/>
                              </a:rPr>
                            </m:ctrlPr>
                          </m:dPr>
                          <m:e>
                            <m:r>
                              <a:rPr lang="en-US" sz="3200" b="0" i="1" smtClean="0">
                                <a:solidFill>
                                  <a:srgbClr val="202020"/>
                                </a:solidFill>
                                <a:latin typeface="Cambria Math" panose="02040503050406030204" pitchFamily="18" charset="0"/>
                              </a:rPr>
                              <m:t>𝑛</m:t>
                            </m:r>
                            <m:r>
                              <a:rPr lang="en-US" sz="3200" b="0" i="1" smtClean="0">
                                <a:solidFill>
                                  <a:srgbClr val="202020"/>
                                </a:solidFill>
                                <a:latin typeface="Cambria Math" panose="02040503050406030204" pitchFamily="18" charset="0"/>
                              </a:rPr>
                              <m:t>−</m:t>
                            </m:r>
                            <m:r>
                              <a:rPr lang="en-US" sz="3200" b="0" i="1" smtClean="0">
                                <a:solidFill>
                                  <a:srgbClr val="202020"/>
                                </a:solidFill>
                                <a:latin typeface="Cambria Math" panose="02040503050406030204" pitchFamily="18" charset="0"/>
                              </a:rPr>
                              <m:t>𝑚</m:t>
                            </m:r>
                          </m:e>
                        </m:d>
                        <m:r>
                          <a:rPr lang="en-US" sz="3200" b="0" i="1" smtClean="0">
                            <a:solidFill>
                              <a:srgbClr val="202020"/>
                            </a:solidFill>
                            <a:latin typeface="Cambria Math" panose="02040503050406030204" pitchFamily="18" charset="0"/>
                          </a:rPr>
                          <m:t>!</m:t>
                        </m:r>
                      </m:den>
                    </m:f>
                  </m:oMath>
                </a14:m>
                <a:r>
                  <a:rPr lang="en-US" sz="3200" dirty="0" smtClean="0">
                    <a:solidFill>
                      <a:srgbClr val="202020"/>
                    </a:solidFill>
                    <a:latin typeface="Crimson Roman"/>
                  </a:rPr>
                  <a:t> , điều kiện: </a:t>
                </a:r>
                <a14:m>
                  <m:oMath xmlns:m="http://schemas.openxmlformats.org/officeDocument/2006/math">
                    <m:r>
                      <a:rPr lang="en-US" sz="3200" b="0" i="1" smtClean="0">
                        <a:solidFill>
                          <a:srgbClr val="202020"/>
                        </a:solidFill>
                        <a:latin typeface="Cambria Math" panose="02040503050406030204" pitchFamily="18" charset="0"/>
                      </a:rPr>
                      <m:t>𝑛</m:t>
                    </m:r>
                    <m:r>
                      <a:rPr lang="en-US" sz="3200" b="0" i="1" smtClean="0">
                        <a:solidFill>
                          <a:srgbClr val="202020"/>
                        </a:solidFill>
                        <a:latin typeface="Cambria Math" panose="02040503050406030204" pitchFamily="18" charset="0"/>
                      </a:rPr>
                      <m:t> ≥</m:t>
                    </m:r>
                    <m:r>
                      <a:rPr lang="en-US" sz="3200" b="0" i="1" smtClean="0">
                        <a:solidFill>
                          <a:srgbClr val="202020"/>
                        </a:solidFill>
                        <a:latin typeface="Cambria Math" panose="02040503050406030204" pitchFamily="18" charset="0"/>
                        <a:ea typeface="Cambria Math" panose="02040503050406030204" pitchFamily="18" charset="0"/>
                      </a:rPr>
                      <m:t>𝑚</m:t>
                    </m:r>
                  </m:oMath>
                </a14:m>
                <a:r>
                  <a:rPr lang="en-US" sz="3200" dirty="0" smtClean="0">
                    <a:solidFill>
                      <a:srgbClr val="202020"/>
                    </a:solidFill>
                    <a:latin typeface="Crimson Roman"/>
                  </a:rPr>
                  <a:t> và </a:t>
                </a:r>
                <a14:m>
                  <m:oMath xmlns:m="http://schemas.openxmlformats.org/officeDocument/2006/math">
                    <m:r>
                      <a:rPr lang="en-US" sz="3200" b="0" i="1" smtClean="0">
                        <a:solidFill>
                          <a:srgbClr val="202020"/>
                        </a:solidFill>
                        <a:latin typeface="Cambria Math" panose="02040503050406030204" pitchFamily="18" charset="0"/>
                      </a:rPr>
                      <m:t>𝑛</m:t>
                    </m:r>
                    <m:r>
                      <a:rPr lang="en-US" sz="3200" b="0" i="1" smtClean="0">
                        <a:solidFill>
                          <a:srgbClr val="202020"/>
                        </a:solidFill>
                        <a:latin typeface="Cambria Math" panose="02040503050406030204" pitchFamily="18" charset="0"/>
                      </a:rPr>
                      <m:t>;</m:t>
                    </m:r>
                    <m:r>
                      <a:rPr lang="en-US" sz="3200" b="0" i="1" smtClean="0">
                        <a:solidFill>
                          <a:srgbClr val="202020"/>
                        </a:solidFill>
                        <a:latin typeface="Cambria Math" panose="02040503050406030204" pitchFamily="18" charset="0"/>
                      </a:rPr>
                      <m:t>𝑚</m:t>
                    </m:r>
                  </m:oMath>
                </a14:m>
                <a:r>
                  <a:rPr lang="en-US" sz="3200" dirty="0" smtClean="0">
                    <a:solidFill>
                      <a:srgbClr val="202020"/>
                    </a:solidFill>
                    <a:latin typeface="Crimson Roman"/>
                  </a:rPr>
                  <a:t> nguyên dương</a:t>
                </a:r>
              </a:p>
              <a:p>
                <a:pPr marL="457200" lvl="0" indent="-457200">
                  <a:lnSpc>
                    <a:spcPts val="3300"/>
                  </a:lnSpc>
                  <a:spcBef>
                    <a:spcPct val="0"/>
                  </a:spcBef>
                  <a:buFontTx/>
                  <a:buChar char="-"/>
                </a:pPr>
                <a:endParaRPr lang="en-US" sz="3200" b="1" i="1" u="sng" dirty="0" smtClean="0">
                  <a:solidFill>
                    <a:srgbClr val="202020"/>
                  </a:solidFill>
                  <a:latin typeface="Crimson Roman"/>
                </a:endParaRPr>
              </a:p>
              <a:p>
                <a:pPr marL="457200" lvl="0" indent="-457200">
                  <a:lnSpc>
                    <a:spcPts val="3300"/>
                  </a:lnSpc>
                  <a:spcBef>
                    <a:spcPct val="0"/>
                  </a:spcBef>
                  <a:buFontTx/>
                  <a:buChar char="-"/>
                </a:pPr>
                <a:r>
                  <a:rPr lang="en-US" sz="3200" b="1" i="1" u="sng" dirty="0" smtClean="0">
                    <a:solidFill>
                      <a:srgbClr val="202020"/>
                    </a:solidFill>
                    <a:latin typeface="Crimson Roman"/>
                  </a:rPr>
                  <a:t>Tổ hợp chập r</a:t>
                </a:r>
                <a:r>
                  <a:rPr lang="en-US" sz="3200" dirty="0" smtClean="0">
                    <a:solidFill>
                      <a:srgbClr val="202020"/>
                    </a:solidFill>
                    <a:latin typeface="Crimson Roman"/>
                  </a:rPr>
                  <a:t> của A là một tập con có r phần tử khác nhau lấy từ A.</a:t>
                </a:r>
              </a:p>
              <a:p>
                <a:pPr marL="457200" lvl="0" indent="-457200">
                  <a:lnSpc>
                    <a:spcPts val="3300"/>
                  </a:lnSpc>
                  <a:spcBef>
                    <a:spcPct val="0"/>
                  </a:spcBef>
                  <a:buFontTx/>
                  <a:buChar char="-"/>
                </a:pPr>
                <a:endParaRPr lang="en-US" sz="3200" b="1" i="1" u="sng" dirty="0">
                  <a:solidFill>
                    <a:srgbClr val="202020"/>
                  </a:solidFill>
                  <a:latin typeface="Crimson Roman"/>
                </a:endParaRPr>
              </a:p>
              <a:p>
                <a:pPr lvl="0">
                  <a:lnSpc>
                    <a:spcPts val="3300"/>
                  </a:lnSpc>
                  <a:spcBef>
                    <a:spcPct val="0"/>
                  </a:spcBef>
                </a:pPr>
                <a:r>
                  <a:rPr lang="en-US" sz="3200" b="1" u="sng" dirty="0" smtClean="0">
                    <a:solidFill>
                      <a:srgbClr val="202020"/>
                    </a:solidFill>
                    <a:latin typeface="Crimson Roman"/>
                  </a:rPr>
                  <a:t>Tổ hợp:</a:t>
                </a:r>
                <a:r>
                  <a:rPr lang="en-US" sz="3200" dirty="0" smtClean="0">
                    <a:solidFill>
                      <a:srgbClr val="202020"/>
                    </a:solidFill>
                    <a:latin typeface="Crimson Roman"/>
                  </a:rPr>
                  <a:t> </a:t>
                </a:r>
                <a14:m>
                  <m:oMath xmlns:m="http://schemas.openxmlformats.org/officeDocument/2006/math">
                    <m:sSubSup>
                      <m:sSubSupPr>
                        <m:ctrlPr>
                          <a:rPr lang="en-US" sz="3200" i="1" smtClean="0">
                            <a:solidFill>
                              <a:srgbClr val="202020"/>
                            </a:solidFill>
                            <a:latin typeface="Cambria Math" panose="02040503050406030204" pitchFamily="18" charset="0"/>
                          </a:rPr>
                        </m:ctrlPr>
                      </m:sSubSupPr>
                      <m:e>
                        <m:r>
                          <a:rPr lang="en-US" sz="3200" b="0" i="1" smtClean="0">
                            <a:solidFill>
                              <a:srgbClr val="202020"/>
                            </a:solidFill>
                            <a:latin typeface="Cambria Math" panose="02040503050406030204" pitchFamily="18" charset="0"/>
                          </a:rPr>
                          <m:t>𝐶</m:t>
                        </m:r>
                      </m:e>
                      <m:sub>
                        <m:r>
                          <a:rPr lang="en-US" sz="3200" b="0" i="1" smtClean="0">
                            <a:solidFill>
                              <a:srgbClr val="202020"/>
                            </a:solidFill>
                            <a:latin typeface="Cambria Math" panose="02040503050406030204" pitchFamily="18" charset="0"/>
                          </a:rPr>
                          <m:t>𝑛</m:t>
                        </m:r>
                      </m:sub>
                      <m:sup>
                        <m:r>
                          <a:rPr lang="en-US" sz="3200" b="0" i="1" smtClean="0">
                            <a:solidFill>
                              <a:srgbClr val="202020"/>
                            </a:solidFill>
                            <a:latin typeface="Cambria Math" panose="02040503050406030204" pitchFamily="18" charset="0"/>
                          </a:rPr>
                          <m:t>𝑚</m:t>
                        </m:r>
                      </m:sup>
                    </m:sSubSup>
                    <m:r>
                      <a:rPr lang="en-US" sz="3200" b="0" i="1" smtClean="0">
                        <a:solidFill>
                          <a:srgbClr val="202020"/>
                        </a:solidFill>
                        <a:latin typeface="Cambria Math" panose="02040503050406030204" pitchFamily="18" charset="0"/>
                      </a:rPr>
                      <m:t>=</m:t>
                    </m:r>
                    <m:f>
                      <m:fPr>
                        <m:ctrlPr>
                          <a:rPr lang="en-US" sz="3200" b="0" i="1" smtClean="0">
                            <a:solidFill>
                              <a:srgbClr val="202020"/>
                            </a:solidFill>
                            <a:latin typeface="Cambria Math" panose="02040503050406030204" pitchFamily="18" charset="0"/>
                          </a:rPr>
                        </m:ctrlPr>
                      </m:fPr>
                      <m:num>
                        <m:r>
                          <a:rPr lang="en-US" sz="3200" b="0" i="1" smtClean="0">
                            <a:solidFill>
                              <a:srgbClr val="202020"/>
                            </a:solidFill>
                            <a:latin typeface="Cambria Math" panose="02040503050406030204" pitchFamily="18" charset="0"/>
                          </a:rPr>
                          <m:t>𝑛</m:t>
                        </m:r>
                        <m:r>
                          <a:rPr lang="en-US" sz="3200" b="0" i="1" smtClean="0">
                            <a:solidFill>
                              <a:srgbClr val="202020"/>
                            </a:solidFill>
                            <a:latin typeface="Cambria Math" panose="02040503050406030204" pitchFamily="18" charset="0"/>
                            <a:ea typeface="Cambria Math" panose="02040503050406030204" pitchFamily="18" charset="0"/>
                          </a:rPr>
                          <m:t>!</m:t>
                        </m:r>
                      </m:num>
                      <m:den>
                        <m:r>
                          <a:rPr lang="en-US" sz="3200" b="0" i="1" smtClean="0">
                            <a:solidFill>
                              <a:srgbClr val="202020"/>
                            </a:solidFill>
                            <a:latin typeface="Cambria Math" panose="02040503050406030204" pitchFamily="18" charset="0"/>
                          </a:rPr>
                          <m:t>𝑚</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𝑛</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𝑚</m:t>
                        </m:r>
                        <m:r>
                          <a:rPr lang="en-US" sz="3200" b="0" i="1" smtClean="0">
                            <a:solidFill>
                              <a:srgbClr val="202020"/>
                            </a:solidFill>
                            <a:latin typeface="Cambria Math" panose="02040503050406030204" pitchFamily="18" charset="0"/>
                            <a:ea typeface="Cambria Math" panose="02040503050406030204" pitchFamily="18" charset="0"/>
                          </a:rPr>
                          <m:t>)!</m:t>
                        </m:r>
                      </m:den>
                    </m:f>
                  </m:oMath>
                </a14:m>
                <a:r>
                  <a:rPr lang="en-US" sz="3200" dirty="0" smtClean="0">
                    <a:solidFill>
                      <a:srgbClr val="202020"/>
                    </a:solidFill>
                    <a:latin typeface="Crimson Roman"/>
                  </a:rPr>
                  <a:t> , điều kiện: </a:t>
                </a:r>
                <a14:m>
                  <m:oMath xmlns:m="http://schemas.openxmlformats.org/officeDocument/2006/math">
                    <m:d>
                      <m:dPr>
                        <m:begChr m:val="{"/>
                        <m:endChr m:val=""/>
                        <m:ctrlPr>
                          <a:rPr lang="en-US" sz="3200" i="1" smtClean="0">
                            <a:solidFill>
                              <a:srgbClr val="202020"/>
                            </a:solidFill>
                            <a:latin typeface="Cambria Math" panose="02040503050406030204" pitchFamily="18" charset="0"/>
                          </a:rPr>
                        </m:ctrlPr>
                      </m:dPr>
                      <m:e>
                        <m:eqArr>
                          <m:eqArrPr>
                            <m:ctrlPr>
                              <a:rPr lang="en-US" sz="3200" i="1" smtClean="0">
                                <a:solidFill>
                                  <a:srgbClr val="202020"/>
                                </a:solidFill>
                                <a:latin typeface="Cambria Math" panose="02040503050406030204" pitchFamily="18" charset="0"/>
                              </a:rPr>
                            </m:ctrlPr>
                          </m:eqArrPr>
                          <m:e>
                            <m:r>
                              <a:rPr lang="en-US" sz="3200" b="0" i="1" smtClean="0">
                                <a:solidFill>
                                  <a:srgbClr val="202020"/>
                                </a:solidFill>
                                <a:latin typeface="Cambria Math" panose="02040503050406030204" pitchFamily="18" charset="0"/>
                              </a:rPr>
                              <m:t>𝑛</m:t>
                            </m:r>
                            <m:r>
                              <a:rPr lang="en-US" sz="3200" b="0" i="1" smtClean="0">
                                <a:solidFill>
                                  <a:srgbClr val="202020"/>
                                </a:solidFill>
                                <a:latin typeface="Cambria Math" panose="02040503050406030204" pitchFamily="18" charset="0"/>
                              </a:rPr>
                              <m:t> ≥</m:t>
                            </m:r>
                            <m:r>
                              <a:rPr lang="en-US" sz="3200" b="0" i="1" smtClean="0">
                                <a:solidFill>
                                  <a:srgbClr val="202020"/>
                                </a:solidFill>
                                <a:latin typeface="Cambria Math" panose="02040503050406030204" pitchFamily="18" charset="0"/>
                                <a:ea typeface="Cambria Math" panose="02040503050406030204" pitchFamily="18" charset="0"/>
                              </a:rPr>
                              <m:t>𝑚</m:t>
                            </m:r>
                          </m:e>
                          <m:e>
                            <m:r>
                              <a:rPr lang="en-US" sz="3200" b="0" i="1" smtClean="0">
                                <a:solidFill>
                                  <a:srgbClr val="202020"/>
                                </a:solidFill>
                                <a:latin typeface="Cambria Math" panose="02040503050406030204" pitchFamily="18" charset="0"/>
                              </a:rPr>
                              <m:t>𝑛</m:t>
                            </m:r>
                            <m:r>
                              <a:rPr lang="en-US" sz="3200" b="0" i="1" smtClean="0">
                                <a:solidFill>
                                  <a:srgbClr val="202020"/>
                                </a:solidFill>
                                <a:latin typeface="Cambria Math" panose="02040503050406030204" pitchFamily="18" charset="0"/>
                              </a:rPr>
                              <m:t>;</m:t>
                            </m:r>
                            <m:r>
                              <a:rPr lang="en-US" sz="3200" b="0" i="1" smtClean="0">
                                <a:solidFill>
                                  <a:srgbClr val="202020"/>
                                </a:solidFill>
                                <a:latin typeface="Cambria Math" panose="02040503050406030204" pitchFamily="18" charset="0"/>
                              </a:rPr>
                              <m:t>𝑚</m:t>
                            </m:r>
                            <m:r>
                              <a:rPr lang="en-US" sz="3200" b="0" i="1" smtClean="0">
                                <a:solidFill>
                                  <a:srgbClr val="202020"/>
                                </a:solidFill>
                                <a:latin typeface="Cambria Math" panose="02040503050406030204" pitchFamily="18" charset="0"/>
                              </a:rPr>
                              <m:t> </m:t>
                            </m:r>
                            <m:r>
                              <a:rPr lang="en-US" sz="3200" b="0" i="1" smtClean="0">
                                <a:solidFill>
                                  <a:srgbClr val="202020"/>
                                </a:solidFill>
                                <a:latin typeface="Cambria Math" panose="02040503050406030204" pitchFamily="18" charset="0"/>
                              </a:rPr>
                              <m:t>𝑛𝑔𝑢𝑦</m:t>
                            </m:r>
                            <m:r>
                              <a:rPr lang="en-US" sz="3200" b="0" i="1" smtClean="0">
                                <a:solidFill>
                                  <a:srgbClr val="202020"/>
                                </a:solidFill>
                                <a:latin typeface="Cambria Math" panose="02040503050406030204" pitchFamily="18" charset="0"/>
                              </a:rPr>
                              <m:t>ê</m:t>
                            </m:r>
                            <m:r>
                              <a:rPr lang="en-US" sz="3200" b="0" i="1" smtClean="0">
                                <a:solidFill>
                                  <a:srgbClr val="202020"/>
                                </a:solidFill>
                                <a:latin typeface="Cambria Math" panose="02040503050406030204" pitchFamily="18" charset="0"/>
                              </a:rPr>
                              <m:t>𝑛</m:t>
                            </m:r>
                            <m:r>
                              <a:rPr lang="en-US" sz="3200" b="0" i="1" smtClean="0">
                                <a:solidFill>
                                  <a:srgbClr val="202020"/>
                                </a:solidFill>
                                <a:latin typeface="Cambria Math" panose="02040503050406030204" pitchFamily="18" charset="0"/>
                              </a:rPr>
                              <m:t> </m:t>
                            </m:r>
                            <m:r>
                              <a:rPr lang="en-US" sz="3200" b="0" i="1" smtClean="0">
                                <a:solidFill>
                                  <a:srgbClr val="202020"/>
                                </a:solidFill>
                                <a:latin typeface="Cambria Math" panose="02040503050406030204" pitchFamily="18" charset="0"/>
                              </a:rPr>
                              <m:t>𝑑</m:t>
                            </m:r>
                            <m:r>
                              <a:rPr lang="en-US" sz="3200" b="0" i="1" smtClean="0">
                                <a:solidFill>
                                  <a:srgbClr val="202020"/>
                                </a:solidFill>
                                <a:latin typeface="Cambria Math" panose="02040503050406030204" pitchFamily="18" charset="0"/>
                              </a:rPr>
                              <m:t>ươ</m:t>
                            </m:r>
                            <m:r>
                              <a:rPr lang="en-US" sz="3200" b="0" i="1" smtClean="0">
                                <a:solidFill>
                                  <a:srgbClr val="202020"/>
                                </a:solidFill>
                                <a:latin typeface="Cambria Math" panose="02040503050406030204" pitchFamily="18" charset="0"/>
                              </a:rPr>
                              <m:t>𝑛𝑔</m:t>
                            </m:r>
                          </m:e>
                        </m:eqArr>
                      </m:e>
                    </m:d>
                  </m:oMath>
                </a14:m>
                <a:endParaRPr lang="en-US" sz="3200" dirty="0" smtClean="0">
                  <a:solidFill>
                    <a:srgbClr val="202020"/>
                  </a:solidFill>
                  <a:latin typeface="Crimson Roman"/>
                </a:endParaRPr>
              </a:p>
              <a:p>
                <a:pPr lvl="0">
                  <a:lnSpc>
                    <a:spcPts val="3300"/>
                  </a:lnSpc>
                  <a:spcBef>
                    <a:spcPct val="0"/>
                  </a:spcBef>
                </a:pPr>
                <a:endParaRPr lang="en-US" sz="3200" b="1" dirty="0" smtClean="0">
                  <a:solidFill>
                    <a:srgbClr val="202020"/>
                  </a:solidFill>
                  <a:latin typeface="Crimson Roman"/>
                </a:endParaRPr>
              </a:p>
              <a:p>
                <a:pPr lvl="0">
                  <a:lnSpc>
                    <a:spcPts val="3300"/>
                  </a:lnSpc>
                  <a:spcBef>
                    <a:spcPct val="0"/>
                  </a:spcBef>
                </a:pPr>
                <a:r>
                  <a:rPr lang="en-US" sz="3200" b="1" u="sng" dirty="0" smtClean="0">
                    <a:solidFill>
                      <a:srgbClr val="202020"/>
                    </a:solidFill>
                    <a:latin typeface="Crimson Roman"/>
                  </a:rPr>
                  <a:t>Một số công thức:</a:t>
                </a:r>
                <a:r>
                  <a:rPr lang="en-US" sz="3200" dirty="0" smtClean="0">
                    <a:solidFill>
                      <a:srgbClr val="202020"/>
                    </a:solidFill>
                    <a:latin typeface="Crimson Roman"/>
                  </a:rPr>
                  <a:t> </a:t>
                </a:r>
              </a:p>
              <a:p>
                <a:pPr marL="457200" lvl="0" indent="-457200">
                  <a:lnSpc>
                    <a:spcPts val="3300"/>
                  </a:lnSpc>
                  <a:spcBef>
                    <a:spcPct val="0"/>
                  </a:spcBef>
                  <a:buFont typeface="Arial" panose="020B0604020202020204" pitchFamily="34" charset="0"/>
                  <a:buChar char="•"/>
                </a:pPr>
                <a14:m>
                  <m:oMath xmlns:m="http://schemas.openxmlformats.org/officeDocument/2006/math">
                    <m:sSubSup>
                      <m:sSubSupPr>
                        <m:ctrlPr>
                          <a:rPr lang="en-US" sz="3200" i="1" smtClean="0">
                            <a:solidFill>
                              <a:srgbClr val="202020"/>
                            </a:solidFill>
                            <a:latin typeface="Cambria Math" panose="02040503050406030204" pitchFamily="18" charset="0"/>
                          </a:rPr>
                        </m:ctrlPr>
                      </m:sSubSupPr>
                      <m:e>
                        <m:r>
                          <a:rPr lang="en-US" sz="3200" b="0" i="1" smtClean="0">
                            <a:solidFill>
                              <a:srgbClr val="202020"/>
                            </a:solidFill>
                            <a:latin typeface="Cambria Math" panose="02040503050406030204" pitchFamily="18" charset="0"/>
                          </a:rPr>
                          <m:t>𝐶</m:t>
                        </m:r>
                      </m:e>
                      <m:sub>
                        <m:r>
                          <a:rPr lang="en-US" sz="3200" b="0" i="1" smtClean="0">
                            <a:solidFill>
                              <a:srgbClr val="202020"/>
                            </a:solidFill>
                            <a:latin typeface="Cambria Math" panose="02040503050406030204" pitchFamily="18" charset="0"/>
                          </a:rPr>
                          <m:t>𝑛</m:t>
                        </m:r>
                      </m:sub>
                      <m:sup>
                        <m:r>
                          <a:rPr lang="en-US" sz="3200" b="0" i="1" smtClean="0">
                            <a:solidFill>
                              <a:srgbClr val="202020"/>
                            </a:solidFill>
                            <a:latin typeface="Cambria Math" panose="02040503050406030204" pitchFamily="18" charset="0"/>
                          </a:rPr>
                          <m:t>𝑚</m:t>
                        </m:r>
                      </m:sup>
                    </m:sSubSup>
                    <m:r>
                      <a:rPr lang="en-US" sz="3200" b="0" i="1" smtClean="0">
                        <a:solidFill>
                          <a:srgbClr val="202020"/>
                        </a:solidFill>
                        <a:latin typeface="Cambria Math" panose="02040503050406030204" pitchFamily="18" charset="0"/>
                      </a:rPr>
                      <m:t>=</m:t>
                    </m:r>
                    <m:sSubSup>
                      <m:sSubSupPr>
                        <m:ctrlPr>
                          <a:rPr lang="en-US" sz="3200" b="0" i="1" smtClean="0">
                            <a:solidFill>
                              <a:srgbClr val="202020"/>
                            </a:solidFill>
                            <a:latin typeface="Cambria Math" panose="02040503050406030204" pitchFamily="18" charset="0"/>
                          </a:rPr>
                        </m:ctrlPr>
                      </m:sSubSupPr>
                      <m:e>
                        <m:r>
                          <a:rPr lang="en-US" sz="3200" b="0" i="1" smtClean="0">
                            <a:solidFill>
                              <a:srgbClr val="202020"/>
                            </a:solidFill>
                            <a:latin typeface="Cambria Math" panose="02040503050406030204" pitchFamily="18" charset="0"/>
                          </a:rPr>
                          <m:t>𝐶</m:t>
                        </m:r>
                      </m:e>
                      <m:sub>
                        <m:r>
                          <a:rPr lang="en-US" sz="3200" b="0" i="1" smtClean="0">
                            <a:solidFill>
                              <a:srgbClr val="202020"/>
                            </a:solidFill>
                            <a:latin typeface="Cambria Math" panose="02040503050406030204" pitchFamily="18" charset="0"/>
                          </a:rPr>
                          <m:t>𝑛</m:t>
                        </m:r>
                      </m:sub>
                      <m:sup>
                        <m:r>
                          <a:rPr lang="en-US" sz="3200" b="0" i="1" smtClean="0">
                            <a:solidFill>
                              <a:srgbClr val="202020"/>
                            </a:solidFill>
                            <a:latin typeface="Cambria Math" panose="02040503050406030204" pitchFamily="18" charset="0"/>
                          </a:rPr>
                          <m:t>𝑛</m:t>
                        </m:r>
                        <m:r>
                          <a:rPr lang="en-US" sz="3200" b="0" i="1" smtClean="0">
                            <a:solidFill>
                              <a:srgbClr val="202020"/>
                            </a:solidFill>
                            <a:latin typeface="Cambria Math" panose="02040503050406030204" pitchFamily="18" charset="0"/>
                          </a:rPr>
                          <m:t> −</m:t>
                        </m:r>
                        <m:r>
                          <a:rPr lang="en-US" sz="3200" b="0" i="1" smtClean="0">
                            <a:solidFill>
                              <a:srgbClr val="202020"/>
                            </a:solidFill>
                            <a:latin typeface="Cambria Math" panose="02040503050406030204" pitchFamily="18" charset="0"/>
                          </a:rPr>
                          <m:t>𝑚</m:t>
                        </m:r>
                      </m:sup>
                    </m:sSubSup>
                  </m:oMath>
                </a14:m>
                <a:endParaRPr lang="en-US" sz="3200" dirty="0" smtClean="0">
                  <a:solidFill>
                    <a:srgbClr val="202020"/>
                  </a:solidFill>
                  <a:latin typeface="Crimson Roman"/>
                </a:endParaRPr>
              </a:p>
              <a:p>
                <a:pPr marL="457200" lvl="0" indent="-457200">
                  <a:lnSpc>
                    <a:spcPts val="3300"/>
                  </a:lnSpc>
                  <a:spcBef>
                    <a:spcPct val="0"/>
                  </a:spcBef>
                  <a:buFont typeface="Arial" panose="020B0604020202020204" pitchFamily="34" charset="0"/>
                  <a:buChar char="•"/>
                </a:pPr>
                <a:endParaRPr lang="en-US" sz="3200" i="1" dirty="0" smtClean="0">
                  <a:solidFill>
                    <a:srgbClr val="202020"/>
                  </a:solidFill>
                  <a:latin typeface="Cambria Math" panose="02040503050406030204" pitchFamily="18" charset="0"/>
                </a:endParaRPr>
              </a:p>
              <a:p>
                <a:pPr marL="457200" lvl="0" indent="-457200">
                  <a:lnSpc>
                    <a:spcPts val="3300"/>
                  </a:lnSpc>
                  <a:spcBef>
                    <a:spcPct val="0"/>
                  </a:spcBef>
                  <a:buFont typeface="Arial" panose="020B0604020202020204" pitchFamily="34" charset="0"/>
                  <a:buChar char="•"/>
                </a:pPr>
                <a14:m>
                  <m:oMath xmlns:m="http://schemas.openxmlformats.org/officeDocument/2006/math">
                    <m:sSubSup>
                      <m:sSubSupPr>
                        <m:ctrlPr>
                          <a:rPr lang="en-US" sz="3200" i="1" smtClean="0">
                            <a:solidFill>
                              <a:srgbClr val="202020"/>
                            </a:solidFill>
                            <a:latin typeface="Cambria Math" panose="02040503050406030204" pitchFamily="18" charset="0"/>
                          </a:rPr>
                        </m:ctrlPr>
                      </m:sSubSupPr>
                      <m:e>
                        <m:r>
                          <a:rPr lang="en-US" sz="3200" b="0" i="1" smtClean="0">
                            <a:solidFill>
                              <a:srgbClr val="202020"/>
                            </a:solidFill>
                            <a:latin typeface="Cambria Math" panose="02040503050406030204" pitchFamily="18" charset="0"/>
                          </a:rPr>
                          <m:t>𝐶</m:t>
                        </m:r>
                      </m:e>
                      <m:sub>
                        <m:r>
                          <a:rPr lang="en-US" sz="3200" b="0" i="1" smtClean="0">
                            <a:solidFill>
                              <a:srgbClr val="202020"/>
                            </a:solidFill>
                            <a:latin typeface="Cambria Math" panose="02040503050406030204" pitchFamily="18" charset="0"/>
                          </a:rPr>
                          <m:t>𝑛</m:t>
                        </m:r>
                        <m:r>
                          <a:rPr lang="en-US" sz="3200" b="0" i="1" smtClean="0">
                            <a:solidFill>
                              <a:srgbClr val="202020"/>
                            </a:solidFill>
                            <a:latin typeface="Cambria Math" panose="02040503050406030204" pitchFamily="18" charset="0"/>
                          </a:rPr>
                          <m:t> −1</m:t>
                        </m:r>
                      </m:sub>
                      <m:sup>
                        <m:r>
                          <a:rPr lang="en-US" sz="3200" b="0" i="1" smtClean="0">
                            <a:solidFill>
                              <a:srgbClr val="202020"/>
                            </a:solidFill>
                            <a:latin typeface="Cambria Math" panose="02040503050406030204" pitchFamily="18" charset="0"/>
                          </a:rPr>
                          <m:t>𝑚</m:t>
                        </m:r>
                        <m:r>
                          <a:rPr lang="en-US" sz="3200" b="0" i="1" smtClean="0">
                            <a:solidFill>
                              <a:srgbClr val="202020"/>
                            </a:solidFill>
                            <a:latin typeface="Cambria Math" panose="02040503050406030204" pitchFamily="18" charset="0"/>
                          </a:rPr>
                          <m:t> − 1</m:t>
                        </m:r>
                      </m:sup>
                    </m:sSubSup>
                    <m:r>
                      <a:rPr lang="en-US" sz="3200" b="0" i="1" smtClean="0">
                        <a:solidFill>
                          <a:srgbClr val="202020"/>
                        </a:solidFill>
                        <a:latin typeface="Cambria Math" panose="02040503050406030204" pitchFamily="18" charset="0"/>
                      </a:rPr>
                      <m:t>+ </m:t>
                    </m:r>
                    <m:sSubSup>
                      <m:sSubSupPr>
                        <m:ctrlPr>
                          <a:rPr lang="en-US" sz="3200" b="0" i="1" smtClean="0">
                            <a:solidFill>
                              <a:srgbClr val="202020"/>
                            </a:solidFill>
                            <a:latin typeface="Cambria Math" panose="02040503050406030204" pitchFamily="18" charset="0"/>
                          </a:rPr>
                        </m:ctrlPr>
                      </m:sSubSupPr>
                      <m:e>
                        <m:r>
                          <a:rPr lang="en-US" sz="3200" b="0" i="1" smtClean="0">
                            <a:solidFill>
                              <a:srgbClr val="202020"/>
                            </a:solidFill>
                            <a:latin typeface="Cambria Math" panose="02040503050406030204" pitchFamily="18" charset="0"/>
                          </a:rPr>
                          <m:t>𝐶</m:t>
                        </m:r>
                      </m:e>
                      <m:sub>
                        <m:r>
                          <a:rPr lang="en-US" sz="3200" b="0" i="1" smtClean="0">
                            <a:solidFill>
                              <a:srgbClr val="202020"/>
                            </a:solidFill>
                            <a:latin typeface="Cambria Math" panose="02040503050406030204" pitchFamily="18" charset="0"/>
                          </a:rPr>
                          <m:t>𝑛</m:t>
                        </m:r>
                        <m:r>
                          <a:rPr lang="en-US" sz="3200" b="0" i="1" smtClean="0">
                            <a:solidFill>
                              <a:srgbClr val="202020"/>
                            </a:solidFill>
                            <a:latin typeface="Cambria Math" panose="02040503050406030204" pitchFamily="18" charset="0"/>
                          </a:rPr>
                          <m:t> −1</m:t>
                        </m:r>
                      </m:sub>
                      <m:sup>
                        <m:r>
                          <a:rPr lang="en-US" sz="3200" b="0" i="1" smtClean="0">
                            <a:solidFill>
                              <a:srgbClr val="202020"/>
                            </a:solidFill>
                            <a:latin typeface="Cambria Math" panose="02040503050406030204" pitchFamily="18" charset="0"/>
                          </a:rPr>
                          <m:t>𝑚</m:t>
                        </m:r>
                      </m:sup>
                    </m:sSubSup>
                    <m:r>
                      <a:rPr lang="en-US" sz="3200" b="0" i="1" smtClean="0">
                        <a:solidFill>
                          <a:srgbClr val="202020"/>
                        </a:solidFill>
                        <a:latin typeface="Cambria Math" panose="02040503050406030204" pitchFamily="18" charset="0"/>
                      </a:rPr>
                      <m:t>= </m:t>
                    </m:r>
                    <m:sSubSup>
                      <m:sSubSupPr>
                        <m:ctrlPr>
                          <a:rPr lang="en-US" sz="3200" b="0" i="1" smtClean="0">
                            <a:solidFill>
                              <a:srgbClr val="202020"/>
                            </a:solidFill>
                            <a:latin typeface="Cambria Math" panose="02040503050406030204" pitchFamily="18" charset="0"/>
                          </a:rPr>
                        </m:ctrlPr>
                      </m:sSubSupPr>
                      <m:e>
                        <m:r>
                          <a:rPr lang="en-US" sz="3200" b="0" i="1" smtClean="0">
                            <a:solidFill>
                              <a:srgbClr val="202020"/>
                            </a:solidFill>
                            <a:latin typeface="Cambria Math" panose="02040503050406030204" pitchFamily="18" charset="0"/>
                          </a:rPr>
                          <m:t>𝐶</m:t>
                        </m:r>
                      </m:e>
                      <m:sub>
                        <m:r>
                          <a:rPr lang="en-US" sz="3200" b="0" i="1" smtClean="0">
                            <a:solidFill>
                              <a:srgbClr val="202020"/>
                            </a:solidFill>
                            <a:latin typeface="Cambria Math" panose="02040503050406030204" pitchFamily="18" charset="0"/>
                          </a:rPr>
                          <m:t>𝑛</m:t>
                        </m:r>
                      </m:sub>
                      <m:sup>
                        <m:r>
                          <a:rPr lang="en-US" sz="3200" b="0" i="1" smtClean="0">
                            <a:solidFill>
                              <a:srgbClr val="202020"/>
                            </a:solidFill>
                            <a:latin typeface="Cambria Math" panose="02040503050406030204" pitchFamily="18" charset="0"/>
                          </a:rPr>
                          <m:t>𝑚</m:t>
                        </m:r>
                      </m:sup>
                    </m:sSubSup>
                  </m:oMath>
                </a14:m>
                <a:endParaRPr lang="en-US" sz="3200" dirty="0" smtClean="0">
                  <a:solidFill>
                    <a:srgbClr val="202020"/>
                  </a:solidFill>
                  <a:latin typeface="Crimson Roman"/>
                </a:endParaRPr>
              </a:p>
              <a:p>
                <a:pPr marL="457200" lvl="0" indent="-457200">
                  <a:lnSpc>
                    <a:spcPts val="3300"/>
                  </a:lnSpc>
                  <a:spcBef>
                    <a:spcPct val="0"/>
                  </a:spcBef>
                  <a:buFont typeface="Arial" panose="020B0604020202020204" pitchFamily="34" charset="0"/>
                  <a:buChar char="•"/>
                </a:pPr>
                <a:endParaRPr lang="en-US" sz="3200" i="1" dirty="0" smtClean="0">
                  <a:solidFill>
                    <a:srgbClr val="202020"/>
                  </a:solidFill>
                  <a:latin typeface="Cambria Math" panose="02040503050406030204" pitchFamily="18" charset="0"/>
                </a:endParaRPr>
              </a:p>
              <a:p>
                <a:pPr marL="457200" lvl="0" indent="-457200">
                  <a:lnSpc>
                    <a:spcPts val="3300"/>
                  </a:lnSpc>
                  <a:spcBef>
                    <a:spcPct val="0"/>
                  </a:spcBef>
                  <a:buFont typeface="Arial" panose="020B0604020202020204" pitchFamily="34" charset="0"/>
                  <a:buChar char="•"/>
                </a:pPr>
                <a14:m>
                  <m:oMath xmlns:m="http://schemas.openxmlformats.org/officeDocument/2006/math">
                    <m:sSubSup>
                      <m:sSubSupPr>
                        <m:ctrlPr>
                          <a:rPr lang="en-US" sz="3200" i="1" smtClean="0">
                            <a:solidFill>
                              <a:srgbClr val="202020"/>
                            </a:solidFill>
                            <a:latin typeface="Cambria Math" panose="02040503050406030204" pitchFamily="18" charset="0"/>
                          </a:rPr>
                        </m:ctrlPr>
                      </m:sSubSupPr>
                      <m:e>
                        <m:r>
                          <a:rPr lang="en-US" sz="3200" b="0" i="1" smtClean="0">
                            <a:solidFill>
                              <a:srgbClr val="202020"/>
                            </a:solidFill>
                            <a:latin typeface="Cambria Math" panose="02040503050406030204" pitchFamily="18" charset="0"/>
                          </a:rPr>
                          <m:t>𝐶</m:t>
                        </m:r>
                      </m:e>
                      <m:sub>
                        <m:r>
                          <a:rPr lang="en-US" sz="3200" b="0" i="1" smtClean="0">
                            <a:solidFill>
                              <a:srgbClr val="202020"/>
                            </a:solidFill>
                            <a:latin typeface="Cambria Math" panose="02040503050406030204" pitchFamily="18" charset="0"/>
                          </a:rPr>
                          <m:t>𝑛</m:t>
                        </m:r>
                      </m:sub>
                      <m:sup>
                        <m:r>
                          <a:rPr lang="en-US" sz="3200" b="0" i="1" smtClean="0">
                            <a:solidFill>
                              <a:srgbClr val="202020"/>
                            </a:solidFill>
                            <a:latin typeface="Cambria Math" panose="02040503050406030204" pitchFamily="18" charset="0"/>
                          </a:rPr>
                          <m:t>0</m:t>
                        </m:r>
                      </m:sup>
                    </m:sSubSup>
                    <m:r>
                      <a:rPr lang="en-US" sz="3200" b="0" i="1" smtClean="0">
                        <a:solidFill>
                          <a:srgbClr val="202020"/>
                        </a:solidFill>
                        <a:latin typeface="Cambria Math" panose="02040503050406030204" pitchFamily="18" charset="0"/>
                      </a:rPr>
                      <m:t>+ </m:t>
                    </m:r>
                    <m:sSubSup>
                      <m:sSubSupPr>
                        <m:ctrlPr>
                          <a:rPr lang="en-US" sz="3200" b="0" i="1" smtClean="0">
                            <a:solidFill>
                              <a:srgbClr val="202020"/>
                            </a:solidFill>
                            <a:latin typeface="Cambria Math" panose="02040503050406030204" pitchFamily="18" charset="0"/>
                          </a:rPr>
                        </m:ctrlPr>
                      </m:sSubSupPr>
                      <m:e>
                        <m:r>
                          <a:rPr lang="en-US" sz="3200" b="0" i="1" smtClean="0">
                            <a:solidFill>
                              <a:srgbClr val="202020"/>
                            </a:solidFill>
                            <a:latin typeface="Cambria Math" panose="02040503050406030204" pitchFamily="18" charset="0"/>
                          </a:rPr>
                          <m:t>𝐶</m:t>
                        </m:r>
                      </m:e>
                      <m:sub>
                        <m:r>
                          <a:rPr lang="en-US" sz="3200" b="0" i="1" smtClean="0">
                            <a:solidFill>
                              <a:srgbClr val="202020"/>
                            </a:solidFill>
                            <a:latin typeface="Cambria Math" panose="02040503050406030204" pitchFamily="18" charset="0"/>
                          </a:rPr>
                          <m:t>𝑛</m:t>
                        </m:r>
                      </m:sub>
                      <m:sup>
                        <m:r>
                          <a:rPr lang="en-US" sz="3200" b="0" i="1" smtClean="0">
                            <a:solidFill>
                              <a:srgbClr val="202020"/>
                            </a:solidFill>
                            <a:latin typeface="Cambria Math" panose="02040503050406030204" pitchFamily="18" charset="0"/>
                          </a:rPr>
                          <m:t>1</m:t>
                        </m:r>
                      </m:sup>
                    </m:sSubSup>
                    <m:r>
                      <a:rPr lang="en-US" sz="3200" b="0" i="1" smtClean="0">
                        <a:solidFill>
                          <a:srgbClr val="202020"/>
                        </a:solidFill>
                        <a:latin typeface="Cambria Math" panose="02040503050406030204" pitchFamily="18" charset="0"/>
                      </a:rPr>
                      <m:t>+ … + </m:t>
                    </m:r>
                    <m:sSubSup>
                      <m:sSubSupPr>
                        <m:ctrlPr>
                          <a:rPr lang="en-US" sz="3200" b="0" i="1" smtClean="0">
                            <a:solidFill>
                              <a:srgbClr val="202020"/>
                            </a:solidFill>
                            <a:latin typeface="Cambria Math" panose="02040503050406030204" pitchFamily="18" charset="0"/>
                          </a:rPr>
                        </m:ctrlPr>
                      </m:sSubSupPr>
                      <m:e>
                        <m:r>
                          <a:rPr lang="en-US" sz="3200" b="0" i="1" smtClean="0">
                            <a:solidFill>
                              <a:srgbClr val="202020"/>
                            </a:solidFill>
                            <a:latin typeface="Cambria Math" panose="02040503050406030204" pitchFamily="18" charset="0"/>
                          </a:rPr>
                          <m:t>𝐶</m:t>
                        </m:r>
                      </m:e>
                      <m:sub>
                        <m:r>
                          <a:rPr lang="en-US" sz="3200" b="0" i="1" smtClean="0">
                            <a:solidFill>
                              <a:srgbClr val="202020"/>
                            </a:solidFill>
                            <a:latin typeface="Cambria Math" panose="02040503050406030204" pitchFamily="18" charset="0"/>
                          </a:rPr>
                          <m:t>𝑛</m:t>
                        </m:r>
                      </m:sub>
                      <m:sup>
                        <m:r>
                          <a:rPr lang="en-US" sz="3200" b="0" i="1" smtClean="0">
                            <a:solidFill>
                              <a:srgbClr val="202020"/>
                            </a:solidFill>
                            <a:latin typeface="Cambria Math" panose="02040503050406030204" pitchFamily="18" charset="0"/>
                          </a:rPr>
                          <m:t>𝑛</m:t>
                        </m:r>
                      </m:sup>
                    </m:sSubSup>
                    <m:r>
                      <a:rPr lang="en-US" sz="3200" b="0" i="1" smtClean="0">
                        <a:solidFill>
                          <a:srgbClr val="202020"/>
                        </a:solidFill>
                        <a:latin typeface="Cambria Math" panose="02040503050406030204" pitchFamily="18" charset="0"/>
                      </a:rPr>
                      <m:t>= </m:t>
                    </m:r>
                    <m:sSup>
                      <m:sSupPr>
                        <m:ctrlPr>
                          <a:rPr lang="en-US" sz="3200" b="0" i="1" smtClean="0">
                            <a:solidFill>
                              <a:srgbClr val="202020"/>
                            </a:solidFill>
                            <a:latin typeface="Cambria Math" panose="02040503050406030204" pitchFamily="18" charset="0"/>
                          </a:rPr>
                        </m:ctrlPr>
                      </m:sSupPr>
                      <m:e>
                        <m:r>
                          <a:rPr lang="en-US" sz="3200" b="0" i="1" smtClean="0">
                            <a:solidFill>
                              <a:srgbClr val="202020"/>
                            </a:solidFill>
                            <a:latin typeface="Cambria Math" panose="02040503050406030204" pitchFamily="18" charset="0"/>
                          </a:rPr>
                          <m:t>2</m:t>
                        </m:r>
                      </m:e>
                      <m:sup>
                        <m:r>
                          <a:rPr lang="en-US" sz="3200" b="0" i="1" smtClean="0">
                            <a:solidFill>
                              <a:srgbClr val="202020"/>
                            </a:solidFill>
                            <a:latin typeface="Cambria Math" panose="02040503050406030204" pitchFamily="18" charset="0"/>
                          </a:rPr>
                          <m:t>𝑛</m:t>
                        </m:r>
                      </m:sup>
                    </m:sSup>
                  </m:oMath>
                </a14:m>
                <a:endParaRPr lang="en-US" sz="3200" dirty="0">
                  <a:solidFill>
                    <a:srgbClr val="202020"/>
                  </a:solidFill>
                  <a:latin typeface="Crimson Roman"/>
                </a:endParaRPr>
              </a:p>
            </p:txBody>
          </p:sp>
        </mc:Choice>
        <mc:Fallback xmlns="">
          <p:sp>
            <p:nvSpPr>
              <p:cNvPr id="2" name="TextBox 2"/>
              <p:cNvSpPr txBox="1">
                <a:spLocks noRot="1" noChangeAspect="1" noMove="1" noResize="1" noEditPoints="1" noAdjustHandles="1" noChangeArrowheads="1" noChangeShapeType="1" noTextEdit="1"/>
              </p:cNvSpPr>
              <p:nvPr/>
            </p:nvSpPr>
            <p:spPr>
              <a:xfrm>
                <a:off x="1168878" y="2299183"/>
                <a:ext cx="11861322" cy="7194277"/>
              </a:xfrm>
              <a:prstGeom prst="rect">
                <a:avLst/>
              </a:prstGeom>
              <a:blipFill>
                <a:blip r:embed="rId2"/>
                <a:stretch>
                  <a:fillRect l="-2724" t="-4322" r="-1285"/>
                </a:stretch>
              </a:blipFill>
            </p:spPr>
            <p:txBody>
              <a:bodyPr/>
              <a:lstStyle/>
              <a:p>
                <a:r>
                  <a:rPr lang="en-US">
                    <a:noFill/>
                  </a:rPr>
                  <a:t> </a:t>
                </a:r>
              </a:p>
            </p:txBody>
          </p:sp>
        </mc:Fallback>
      </mc:AlternateContent>
      <p:pic>
        <p:nvPicPr>
          <p:cNvPr id="7" name="Picture 7"/>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a:stretch>
            <a:fillRect/>
          </a:stretch>
        </p:blipFill>
        <p:spPr>
          <a:xfrm>
            <a:off x="13850143" y="2431763"/>
            <a:ext cx="3409157" cy="6194233"/>
          </a:xfrm>
          <a:prstGeom prst="rect">
            <a:avLst/>
          </a:prstGeom>
        </p:spPr>
      </p:pic>
      <p:sp>
        <p:nvSpPr>
          <p:cNvPr id="8" name="TextBox 6"/>
          <p:cNvSpPr txBox="1"/>
          <p:nvPr/>
        </p:nvSpPr>
        <p:spPr>
          <a:xfrm>
            <a:off x="1168879" y="723900"/>
            <a:ext cx="11479602" cy="1442703"/>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Đại số tổ hợp</a:t>
            </a:r>
            <a:endParaRPr lang="en-US" sz="8800" dirty="0">
              <a:solidFill>
                <a:srgbClr val="3849A2"/>
              </a:solidFill>
              <a:latin typeface="Crimson Roman" panose="020B0604020202020204" charset="0"/>
            </a:endParaRPr>
          </a:p>
        </p:txBody>
      </p:sp>
    </p:spTree>
    <p:extLst>
      <p:ext uri="{BB962C8B-B14F-4D97-AF65-F5344CB8AC3E}">
        <p14:creationId xmlns:p14="http://schemas.microsoft.com/office/powerpoint/2010/main" val="33688466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grpSp>
        <p:nvGrpSpPr>
          <p:cNvPr id="2" name="Group 2"/>
          <p:cNvGrpSpPr/>
          <p:nvPr/>
        </p:nvGrpSpPr>
        <p:grpSpPr>
          <a:xfrm>
            <a:off x="9561451" y="1785578"/>
            <a:ext cx="7144828" cy="2946996"/>
            <a:chOff x="0" y="-95251"/>
            <a:chExt cx="9526438" cy="3929328"/>
          </a:xfrm>
        </p:grpSpPr>
        <p:sp>
          <p:nvSpPr>
            <p:cNvPr id="3" name="TextBox 3"/>
            <p:cNvSpPr txBox="1"/>
            <p:nvPr/>
          </p:nvSpPr>
          <p:spPr>
            <a:xfrm>
              <a:off x="0" y="3298033"/>
              <a:ext cx="9526438" cy="536044"/>
            </a:xfrm>
            <a:prstGeom prst="rect">
              <a:avLst/>
            </a:prstGeom>
          </p:spPr>
          <p:txBody>
            <a:bodyPr lIns="0" tIns="0" rIns="0" bIns="0" rtlCol="0" anchor="t">
              <a:spAutoFit/>
            </a:bodyPr>
            <a:lstStyle/>
            <a:p>
              <a:pPr>
                <a:lnSpc>
                  <a:spcPts val="3300"/>
                </a:lnSpc>
              </a:pPr>
              <a:r>
                <a:rPr lang="en-US" sz="2200" dirty="0" smtClean="0">
                  <a:solidFill>
                    <a:srgbClr val="202020"/>
                  </a:solidFill>
                  <a:latin typeface="Crimson Roman"/>
                </a:rPr>
                <a:t>Trường hợp đặc biệt và các phương pháp khác</a:t>
              </a:r>
              <a:endParaRPr lang="en-US" sz="2200" dirty="0">
                <a:solidFill>
                  <a:srgbClr val="202020"/>
                </a:solidFill>
                <a:latin typeface="Crimson Roman"/>
              </a:endParaRPr>
            </a:p>
          </p:txBody>
        </p:sp>
        <p:sp>
          <p:nvSpPr>
            <p:cNvPr id="4" name="TextBox 4"/>
            <p:cNvSpPr txBox="1"/>
            <p:nvPr/>
          </p:nvSpPr>
          <p:spPr>
            <a:xfrm>
              <a:off x="0" y="-95251"/>
              <a:ext cx="9526438" cy="2026196"/>
            </a:xfrm>
            <a:prstGeom prst="rect">
              <a:avLst/>
            </a:prstGeom>
          </p:spPr>
          <p:txBody>
            <a:bodyPr lIns="0" tIns="0" rIns="0" bIns="0" rtlCol="0" anchor="t">
              <a:spAutoFit/>
            </a:bodyPr>
            <a:lstStyle/>
            <a:p>
              <a:pPr>
                <a:lnSpc>
                  <a:spcPts val="11000"/>
                </a:lnSpc>
              </a:pPr>
              <a:r>
                <a:rPr lang="en-US" sz="12000" dirty="0" smtClean="0">
                  <a:solidFill>
                    <a:srgbClr val="3849A2"/>
                  </a:solidFill>
                  <a:latin typeface="Crimson Roman" panose="020B0604020202020204" charset="0"/>
                </a:rPr>
                <a:t>Đặc biệt</a:t>
              </a:r>
              <a:endParaRPr lang="en-US" sz="12000" dirty="0">
                <a:solidFill>
                  <a:srgbClr val="3849A2"/>
                </a:solidFill>
                <a:latin typeface="Crimson Roman" panose="020B0604020202020204" charset="0"/>
              </a:endParaRPr>
            </a:p>
          </p:txBody>
        </p:sp>
      </p:grpSp>
      <p:pic>
        <p:nvPicPr>
          <p:cNvPr id="5" name="Picture 5"/>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581722" y="2234968"/>
            <a:ext cx="4703290" cy="6195017"/>
          </a:xfrm>
          <a:prstGeom prst="rect">
            <a:avLst/>
          </a:prstGeom>
        </p:spPr>
      </p:pic>
      <p:sp>
        <p:nvSpPr>
          <p:cNvPr id="7" name="AutoShape 7"/>
          <p:cNvSpPr/>
          <p:nvPr/>
        </p:nvSpPr>
        <p:spPr>
          <a:xfrm>
            <a:off x="7918469" y="1028700"/>
            <a:ext cx="9525" cy="8229600"/>
          </a:xfrm>
          <a:prstGeom prst="rect">
            <a:avLst/>
          </a:prstGeom>
          <a:solidFill>
            <a:srgbClr val="3D3D3D"/>
          </a:solidFill>
        </p:spPr>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sp>
        <p:nvSpPr>
          <p:cNvPr id="2" name="TextBox 2"/>
          <p:cNvSpPr txBox="1"/>
          <p:nvPr/>
        </p:nvSpPr>
        <p:spPr>
          <a:xfrm>
            <a:off x="1168879" y="2299183"/>
            <a:ext cx="11861322" cy="2115964"/>
          </a:xfrm>
          <a:prstGeom prst="rect">
            <a:avLst/>
          </a:prstGeom>
        </p:spPr>
        <p:txBody>
          <a:bodyPr wrap="square" lIns="0" tIns="0" rIns="0" bIns="0" rtlCol="0" anchor="t">
            <a:spAutoFit/>
          </a:bodyPr>
          <a:lstStyle/>
          <a:p>
            <a:pPr marL="457200" lvl="0" indent="-457200">
              <a:lnSpc>
                <a:spcPts val="3300"/>
              </a:lnSpc>
              <a:spcBef>
                <a:spcPct val="0"/>
              </a:spcBef>
              <a:buFontTx/>
              <a:buChar char="-"/>
            </a:pPr>
            <a:r>
              <a:rPr lang="en-US" sz="3200" b="1" dirty="0" smtClean="0">
                <a:solidFill>
                  <a:srgbClr val="202020"/>
                </a:solidFill>
                <a:latin typeface="Crimson Roman" panose="020B0604020202020204" charset="0"/>
              </a:rPr>
              <a:t>Định nghĩa. </a:t>
            </a:r>
            <a:r>
              <a:rPr lang="en-US" sz="3200" dirty="0" smtClean="0">
                <a:solidFill>
                  <a:srgbClr val="202020"/>
                </a:solidFill>
                <a:latin typeface="Crimson Roman" panose="020B0604020202020204" charset="0"/>
              </a:rPr>
              <a:t>Một chỉnh hợp chập k của n phần tử là bộ có thứ tự gồm k thành phần lấy từ n phần tử của tập đã cho, có thể lặp.</a:t>
            </a:r>
          </a:p>
          <a:p>
            <a:pPr lvl="0">
              <a:lnSpc>
                <a:spcPts val="3300"/>
              </a:lnSpc>
              <a:spcBef>
                <a:spcPct val="0"/>
              </a:spcBef>
            </a:pPr>
            <a:r>
              <a:rPr lang="en-US" sz="3200" dirty="0" smtClean="0">
                <a:solidFill>
                  <a:srgbClr val="202020"/>
                </a:solidFill>
                <a:latin typeface="Crimson Roman" panose="020B0604020202020204" charset="0"/>
              </a:rPr>
              <a:t>Như vậy, một chỉnh hợp chập k của n phần tử có thể xem là phần tử của tích đề các A</a:t>
            </a:r>
            <a:r>
              <a:rPr lang="en-US" sz="3200" baseline="30000" dirty="0" smtClean="0">
                <a:solidFill>
                  <a:srgbClr val="202020"/>
                </a:solidFill>
                <a:latin typeface="Crimson Roman" panose="020B0604020202020204" charset="0"/>
              </a:rPr>
              <a:t>k</a:t>
            </a:r>
            <a:r>
              <a:rPr lang="en-US" sz="3200" dirty="0" smtClean="0">
                <a:solidFill>
                  <a:srgbClr val="202020"/>
                </a:solidFill>
                <a:latin typeface="Crimson Roman" panose="020B0604020202020204" charset="0"/>
              </a:rPr>
              <a:t> với A là tập đã cho. Theo nguyên lý nhân, số các tất cả các chỉnh hợp chập k của n sẽ là n</a:t>
            </a:r>
            <a:r>
              <a:rPr lang="en-US" sz="3200" baseline="30000" dirty="0" smtClean="0">
                <a:solidFill>
                  <a:srgbClr val="202020"/>
                </a:solidFill>
                <a:latin typeface="Crimson Roman" panose="020B0604020202020204" charset="0"/>
              </a:rPr>
              <a:t>k</a:t>
            </a:r>
            <a:r>
              <a:rPr lang="en-US" sz="3200" dirty="0" smtClean="0">
                <a:solidFill>
                  <a:srgbClr val="202020"/>
                </a:solidFill>
                <a:latin typeface="Crimson Roman" panose="020B0604020202020204" charset="0"/>
              </a:rPr>
              <a:t>.</a:t>
            </a:r>
            <a:endParaRPr lang="en-US" sz="3200" baseline="30000" dirty="0">
              <a:solidFill>
                <a:srgbClr val="202020"/>
              </a:solidFill>
              <a:latin typeface="Crimson Roman" panose="020B0604020202020204" charset="0"/>
            </a:endParaRPr>
          </a:p>
        </p:txBody>
      </p:sp>
      <p:sp>
        <p:nvSpPr>
          <p:cNvPr id="8" name="TextBox 6"/>
          <p:cNvSpPr txBox="1"/>
          <p:nvPr/>
        </p:nvSpPr>
        <p:spPr>
          <a:xfrm>
            <a:off x="1168879" y="723900"/>
            <a:ext cx="11479602" cy="1442703"/>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Chỉnh hợp lặp</a:t>
            </a:r>
            <a:endParaRPr lang="en-US" sz="8800" dirty="0">
              <a:solidFill>
                <a:srgbClr val="3849A2"/>
              </a:solidFill>
              <a:latin typeface="Crimson Roman" panose="020B0604020202020204" charset="0"/>
            </a:endParaRPr>
          </a:p>
        </p:txBody>
      </p:sp>
      <p:pic>
        <p:nvPicPr>
          <p:cNvPr id="5" name="Picture 11"/>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4401800" y="2299183"/>
            <a:ext cx="2957966" cy="6301154"/>
          </a:xfrm>
          <a:prstGeom prst="rect">
            <a:avLst/>
          </a:prstGeom>
        </p:spPr>
      </p:pic>
    </p:spTree>
    <p:extLst>
      <p:ext uri="{BB962C8B-B14F-4D97-AF65-F5344CB8AC3E}">
        <p14:creationId xmlns:p14="http://schemas.microsoft.com/office/powerpoint/2010/main" val="20389210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4215781" y="6899719"/>
            <a:ext cx="2418104" cy="2358581"/>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4215781" y="3837048"/>
            <a:ext cx="2418104" cy="2554230"/>
          </a:xfrm>
          <a:prstGeom prst="rect">
            <a:avLst/>
          </a:prstGeom>
        </p:spPr>
      </p:pic>
      <p:pic>
        <p:nvPicPr>
          <p:cNvPr id="4" name="Picture 4"/>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4215781" y="1028700"/>
            <a:ext cx="2418104" cy="2299907"/>
          </a:xfrm>
          <a:prstGeom prst="rect">
            <a:avLst/>
          </a:prstGeom>
        </p:spPr>
      </p:pic>
      <p:sp>
        <p:nvSpPr>
          <p:cNvPr id="5" name="AutoShape 5"/>
          <p:cNvSpPr/>
          <p:nvPr/>
        </p:nvSpPr>
        <p:spPr>
          <a:xfrm>
            <a:off x="12387478" y="1028700"/>
            <a:ext cx="9525" cy="8229600"/>
          </a:xfrm>
          <a:prstGeom prst="rect">
            <a:avLst/>
          </a:prstGeom>
          <a:solidFill>
            <a:srgbClr val="3D3D3D"/>
          </a:solidFill>
        </p:spPr>
      </p:sp>
      <p:grpSp>
        <p:nvGrpSpPr>
          <p:cNvPr id="6" name="Group 6"/>
          <p:cNvGrpSpPr/>
          <p:nvPr/>
        </p:nvGrpSpPr>
        <p:grpSpPr>
          <a:xfrm>
            <a:off x="1028700" y="1028700"/>
            <a:ext cx="9539999" cy="2877712"/>
            <a:chOff x="0" y="0"/>
            <a:chExt cx="12719999" cy="3836950"/>
          </a:xfrm>
        </p:grpSpPr>
        <p:sp>
          <p:nvSpPr>
            <p:cNvPr id="7" name="TextBox 7"/>
            <p:cNvSpPr txBox="1"/>
            <p:nvPr/>
          </p:nvSpPr>
          <p:spPr>
            <a:xfrm>
              <a:off x="0" y="0"/>
              <a:ext cx="12719999" cy="1880858"/>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Ví dụ 1</a:t>
              </a:r>
              <a:endParaRPr lang="en-US" sz="8800" dirty="0">
                <a:solidFill>
                  <a:srgbClr val="3849A2"/>
                </a:solidFill>
                <a:latin typeface="Crimson Roman" panose="020B0604020202020204" charset="0"/>
              </a:endParaRPr>
            </a:p>
          </p:txBody>
        </p:sp>
        <p:sp>
          <p:nvSpPr>
            <p:cNvPr id="8" name="TextBox 8"/>
            <p:cNvSpPr txBox="1"/>
            <p:nvPr/>
          </p:nvSpPr>
          <p:spPr>
            <a:xfrm>
              <a:off x="0" y="2745198"/>
              <a:ext cx="12719999" cy="1091752"/>
            </a:xfrm>
            <a:prstGeom prst="rect">
              <a:avLst/>
            </a:prstGeom>
          </p:spPr>
          <p:txBody>
            <a:bodyPr lIns="0" tIns="0" rIns="0" bIns="0" rtlCol="0" anchor="t">
              <a:spAutoFit/>
            </a:bodyPr>
            <a:lstStyle/>
            <a:p>
              <a:pPr>
                <a:lnSpc>
                  <a:spcPts val="3120"/>
                </a:lnSpc>
              </a:pPr>
              <a:r>
                <a:rPr lang="en-US" sz="3200" dirty="0" smtClean="0">
                  <a:solidFill>
                    <a:srgbClr val="202020"/>
                  </a:solidFill>
                  <a:latin typeface="Crimson Roman" panose="020B0604020202020204" charset="0"/>
                </a:rPr>
                <a:t>Từ bảng chữ cái tiếng Anh có thể tạo ra được bao nhiêu xâu có độ dài m</a:t>
              </a:r>
              <a:endParaRPr lang="en-US" sz="3200" dirty="0">
                <a:solidFill>
                  <a:srgbClr val="202020"/>
                </a:solidFill>
                <a:latin typeface="Crimson Roman" panose="020B0604020202020204" charset="0"/>
              </a:endParaRPr>
            </a:p>
          </p:txBody>
        </p:sp>
      </p:grpSp>
      <p:sp>
        <p:nvSpPr>
          <p:cNvPr id="9" name="TextBox 8"/>
          <p:cNvSpPr txBox="1"/>
          <p:nvPr/>
        </p:nvSpPr>
        <p:spPr>
          <a:xfrm>
            <a:off x="1028700" y="4587687"/>
            <a:ext cx="11358778" cy="2062103"/>
          </a:xfrm>
          <a:prstGeom prst="rect">
            <a:avLst/>
          </a:prstGeom>
          <a:noFill/>
        </p:spPr>
        <p:txBody>
          <a:bodyPr wrap="square" rtlCol="0">
            <a:spAutoFit/>
          </a:bodyPr>
          <a:lstStyle/>
          <a:p>
            <a:r>
              <a:rPr lang="en-US" sz="3200" u="sng" dirty="0" smtClean="0">
                <a:latin typeface="Crimson Roman" panose="020B0604020202020204" charset="0"/>
              </a:rPr>
              <a:t>Giải:</a:t>
            </a:r>
            <a:endParaRPr lang="en-US" sz="3200" dirty="0" smtClean="0">
              <a:latin typeface="Crimson Roman" panose="020B0604020202020204" charset="0"/>
            </a:endParaRPr>
          </a:p>
          <a:p>
            <a:r>
              <a:rPr lang="en-US" sz="3200" dirty="0" smtClean="0">
                <a:latin typeface="Crimson Roman" panose="020B0604020202020204" charset="0"/>
              </a:rPr>
              <a:t>- Bảng chữ cái tiếng Anh gồm 26 chữ cái [A, B, ..., Z]</a:t>
            </a:r>
          </a:p>
          <a:p>
            <a:r>
              <a:rPr lang="en-US" sz="3200" dirty="0" smtClean="0">
                <a:latin typeface="Crimson Roman" panose="020B0604020202020204" charset="0"/>
              </a:rPr>
              <a:t>→Số các xâu có độ dài m được chọn từ 26 chữ cái chính là chỉnh hợp lặp m của 26 phần tử và bằng 26m.</a:t>
            </a:r>
          </a:p>
        </p:txBody>
      </p:sp>
    </p:spTree>
    <p:extLst>
      <p:ext uri="{BB962C8B-B14F-4D97-AF65-F5344CB8AC3E}">
        <p14:creationId xmlns:p14="http://schemas.microsoft.com/office/powerpoint/2010/main" val="7869764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sp>
        <p:nvSpPr>
          <p:cNvPr id="2" name="TextBox 2"/>
          <p:cNvSpPr txBox="1"/>
          <p:nvPr/>
        </p:nvSpPr>
        <p:spPr>
          <a:xfrm>
            <a:off x="1168879" y="2299183"/>
            <a:ext cx="11861322" cy="1692771"/>
          </a:xfrm>
          <a:prstGeom prst="rect">
            <a:avLst/>
          </a:prstGeom>
        </p:spPr>
        <p:txBody>
          <a:bodyPr wrap="square" lIns="0" tIns="0" rIns="0" bIns="0" rtlCol="0" anchor="t">
            <a:spAutoFit/>
          </a:bodyPr>
          <a:lstStyle/>
          <a:p>
            <a:pPr marL="457200" lvl="0" indent="-457200">
              <a:lnSpc>
                <a:spcPts val="3300"/>
              </a:lnSpc>
              <a:spcBef>
                <a:spcPct val="0"/>
              </a:spcBef>
              <a:buFontTx/>
              <a:buChar char="-"/>
            </a:pPr>
            <a:r>
              <a:rPr lang="en-US" sz="3200" b="1" dirty="0" smtClean="0">
                <a:solidFill>
                  <a:srgbClr val="202020"/>
                </a:solidFill>
                <a:latin typeface="Crimson Roman" panose="020B0604020202020204" charset="0"/>
              </a:rPr>
              <a:t>Định nghĩa. </a:t>
            </a:r>
            <a:r>
              <a:rPr lang="en-US" sz="3200" dirty="0" smtClean="0">
                <a:solidFill>
                  <a:srgbClr val="202020"/>
                </a:solidFill>
                <a:latin typeface="Crimson Roman" panose="020B0604020202020204" charset="0"/>
              </a:rPr>
              <a:t>Một tổ hợp lặp chập k của một tập hợp n loại phần tử là một cách chọn không có thứ tự k phần tử có thể lặp lại của tập đã cho. Như vậy một tổ hợp lặp kiểu này là một dãy không kể thứ tự gồm k thành phần lấy từ tập n loại phần tử. Do đó có thể là k &gt; n.</a:t>
            </a:r>
            <a:endParaRPr lang="en-US" sz="3200" baseline="30000" dirty="0">
              <a:solidFill>
                <a:srgbClr val="202020"/>
              </a:solidFill>
              <a:latin typeface="Crimson Roman" panose="020B0604020202020204" charset="0"/>
            </a:endParaRPr>
          </a:p>
        </p:txBody>
      </p:sp>
      <p:sp>
        <p:nvSpPr>
          <p:cNvPr id="8" name="TextBox 6"/>
          <p:cNvSpPr txBox="1"/>
          <p:nvPr/>
        </p:nvSpPr>
        <p:spPr>
          <a:xfrm>
            <a:off x="1168879" y="723900"/>
            <a:ext cx="11479602" cy="1442703"/>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Tổ hợp lặp</a:t>
            </a:r>
            <a:endParaRPr lang="en-US" sz="8800" dirty="0">
              <a:solidFill>
                <a:srgbClr val="3849A2"/>
              </a:solidFill>
              <a:latin typeface="Crimson Roman" panose="020B0604020202020204" charset="0"/>
            </a:endParaRPr>
          </a:p>
        </p:txBody>
      </p:sp>
      <p:pic>
        <p:nvPicPr>
          <p:cNvPr id="5" name="Picture 11"/>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4401800" y="2299183"/>
            <a:ext cx="2957966" cy="6301154"/>
          </a:xfrm>
          <a:prstGeom prst="rect">
            <a:avLst/>
          </a:prstGeom>
        </p:spPr>
      </p:pic>
    </p:spTree>
    <p:extLst>
      <p:ext uri="{BB962C8B-B14F-4D97-AF65-F5344CB8AC3E}">
        <p14:creationId xmlns:p14="http://schemas.microsoft.com/office/powerpoint/2010/main" val="10993789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4215781" y="6899719"/>
            <a:ext cx="2418104" cy="2358581"/>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4215781" y="3837048"/>
            <a:ext cx="2418104" cy="2554230"/>
          </a:xfrm>
          <a:prstGeom prst="rect">
            <a:avLst/>
          </a:prstGeom>
        </p:spPr>
      </p:pic>
      <p:pic>
        <p:nvPicPr>
          <p:cNvPr id="4" name="Picture 4"/>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4215781" y="1028700"/>
            <a:ext cx="2418104" cy="2299907"/>
          </a:xfrm>
          <a:prstGeom prst="rect">
            <a:avLst/>
          </a:prstGeom>
        </p:spPr>
      </p:pic>
      <p:sp>
        <p:nvSpPr>
          <p:cNvPr id="5" name="AutoShape 5"/>
          <p:cNvSpPr/>
          <p:nvPr/>
        </p:nvSpPr>
        <p:spPr>
          <a:xfrm>
            <a:off x="12387478" y="1028700"/>
            <a:ext cx="9525" cy="8229600"/>
          </a:xfrm>
          <a:prstGeom prst="rect">
            <a:avLst/>
          </a:prstGeom>
          <a:solidFill>
            <a:srgbClr val="3D3D3D"/>
          </a:solidFill>
        </p:spPr>
      </p:sp>
      <p:grpSp>
        <p:nvGrpSpPr>
          <p:cNvPr id="6" name="Group 6"/>
          <p:cNvGrpSpPr/>
          <p:nvPr/>
        </p:nvGrpSpPr>
        <p:grpSpPr>
          <a:xfrm>
            <a:off x="1028700" y="1028700"/>
            <a:ext cx="9539999" cy="2877712"/>
            <a:chOff x="0" y="0"/>
            <a:chExt cx="12719999" cy="3836950"/>
          </a:xfrm>
        </p:grpSpPr>
        <p:sp>
          <p:nvSpPr>
            <p:cNvPr id="7" name="TextBox 7"/>
            <p:cNvSpPr txBox="1"/>
            <p:nvPr/>
          </p:nvSpPr>
          <p:spPr>
            <a:xfrm>
              <a:off x="0" y="0"/>
              <a:ext cx="12719999" cy="1880858"/>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Ví dụ 2</a:t>
              </a:r>
              <a:endParaRPr lang="en-US" sz="8800" dirty="0">
                <a:solidFill>
                  <a:srgbClr val="3849A2"/>
                </a:solidFill>
                <a:latin typeface="Crimson Roman" panose="020B0604020202020204" charset="0"/>
              </a:endParaRPr>
            </a:p>
          </p:txBody>
        </p:sp>
        <p:sp>
          <p:nvSpPr>
            <p:cNvPr id="8" name="TextBox 8"/>
            <p:cNvSpPr txBox="1"/>
            <p:nvPr/>
          </p:nvSpPr>
          <p:spPr>
            <a:xfrm>
              <a:off x="0" y="2745198"/>
              <a:ext cx="12719999" cy="1091752"/>
            </a:xfrm>
            <a:prstGeom prst="rect">
              <a:avLst/>
            </a:prstGeom>
          </p:spPr>
          <p:txBody>
            <a:bodyPr lIns="0" tIns="0" rIns="0" bIns="0" rtlCol="0" anchor="t">
              <a:spAutoFit/>
            </a:bodyPr>
            <a:lstStyle/>
            <a:p>
              <a:pPr>
                <a:lnSpc>
                  <a:spcPts val="3120"/>
                </a:lnSpc>
              </a:pPr>
              <a:r>
                <a:rPr lang="en-US" sz="3200" dirty="0" smtClean="0">
                  <a:solidFill>
                    <a:srgbClr val="202020"/>
                  </a:solidFill>
                  <a:latin typeface="Crimson Roman" panose="020B0604020202020204" charset="0"/>
                </a:rPr>
                <a:t>Có bao nhiêu số với các chữ số lớn hơn 1 có tích các chữ số bằng 2000?</a:t>
              </a:r>
              <a:endParaRPr lang="en-US" sz="3200" dirty="0">
                <a:solidFill>
                  <a:srgbClr val="202020"/>
                </a:solidFill>
                <a:latin typeface="Crimson Roman" panose="020B0604020202020204" charset="0"/>
              </a:endParaRPr>
            </a:p>
          </p:txBody>
        </p:sp>
      </p:grpSp>
      <mc:AlternateContent xmlns:mc="http://schemas.openxmlformats.org/markup-compatibility/2006" xmlns:a14="http://schemas.microsoft.com/office/drawing/2010/main">
        <mc:Choice Requires="a14">
          <p:sp>
            <p:nvSpPr>
              <p:cNvPr id="9" name="TextBox 8"/>
              <p:cNvSpPr txBox="1"/>
              <p:nvPr/>
            </p:nvSpPr>
            <p:spPr>
              <a:xfrm>
                <a:off x="1028700" y="4587687"/>
                <a:ext cx="11358778" cy="4996304"/>
              </a:xfrm>
              <a:prstGeom prst="rect">
                <a:avLst/>
              </a:prstGeom>
              <a:noFill/>
            </p:spPr>
            <p:txBody>
              <a:bodyPr wrap="square" rtlCol="0">
                <a:spAutoFit/>
              </a:bodyPr>
              <a:lstStyle/>
              <a:p>
                <a:r>
                  <a:rPr lang="en-US" sz="3200" u="sng" dirty="0" smtClean="0">
                    <a:latin typeface="Crimson Roman" panose="020B0604020202020204" charset="0"/>
                  </a:rPr>
                  <a:t>Giải:</a:t>
                </a:r>
              </a:p>
              <a:p>
                <a:r>
                  <a:rPr lang="en-US" sz="3200" dirty="0" smtClean="0">
                    <a:latin typeface="Crimson Roman" panose="020B0604020202020204" charset="0"/>
                  </a:rPr>
                  <a:t>- Vì </a:t>
                </a:r>
                <a14:m>
                  <m:oMath xmlns:m="http://schemas.openxmlformats.org/officeDocument/2006/math">
                    <m:r>
                      <a:rPr lang="en-US" sz="3200" b="0" i="1" smtClean="0">
                        <a:latin typeface="Cambria Math" panose="02040503050406030204" pitchFamily="18" charset="0"/>
                      </a:rPr>
                      <m:t>2000= </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e>
                      <m:sup>
                        <m:r>
                          <a:rPr lang="en-US" sz="3200" b="0" i="1" smtClean="0">
                            <a:latin typeface="Cambria Math" panose="02040503050406030204" pitchFamily="18" charset="0"/>
                          </a:rPr>
                          <m:t>4</m:t>
                        </m:r>
                      </m:sup>
                    </m:sSup>
                    <m:r>
                      <a:rPr lang="en-US" sz="3200" b="0" i="1" smtClean="0">
                        <a:latin typeface="Cambria Math" panose="02040503050406030204" pitchFamily="18" charset="0"/>
                      </a:rPr>
                      <m:t> </m:t>
                    </m:r>
                    <m:r>
                      <a:rPr lang="en-US" sz="3200" b="0" i="1" smtClean="0">
                        <a:latin typeface="Cambria Math" panose="02040503050406030204" pitchFamily="18" charset="0"/>
                        <a:ea typeface="Cambria Math" panose="02040503050406030204" pitchFamily="18" charset="0"/>
                      </a:rPr>
                      <m:t>× </m:t>
                    </m:r>
                    <m:sSup>
                      <m:sSupPr>
                        <m:ctrlPr>
                          <a:rPr lang="en-US" sz="3200" b="0" i="1" smtClean="0">
                            <a:latin typeface="Cambria Math" panose="02040503050406030204" pitchFamily="18" charset="0"/>
                            <a:ea typeface="Cambria Math" panose="02040503050406030204" pitchFamily="18" charset="0"/>
                          </a:rPr>
                        </m:ctrlPr>
                      </m:sSupPr>
                      <m:e>
                        <m:r>
                          <a:rPr lang="en-US" sz="3200" b="0" i="1" smtClean="0">
                            <a:latin typeface="Cambria Math" panose="02040503050406030204" pitchFamily="18" charset="0"/>
                            <a:ea typeface="Cambria Math" panose="02040503050406030204" pitchFamily="18" charset="0"/>
                          </a:rPr>
                          <m:t>5</m:t>
                        </m:r>
                      </m:e>
                      <m:sup>
                        <m:r>
                          <a:rPr lang="en-US" sz="3200" b="0" i="1" smtClean="0">
                            <a:latin typeface="Cambria Math" panose="02040503050406030204" pitchFamily="18" charset="0"/>
                            <a:ea typeface="Cambria Math" panose="02040503050406030204" pitchFamily="18" charset="0"/>
                          </a:rPr>
                          <m:t>3</m:t>
                        </m:r>
                      </m:sup>
                    </m:sSup>
                  </m:oMath>
                </a14:m>
                <a:r>
                  <a:rPr lang="en-US" sz="3200" dirty="0" smtClean="0">
                    <a:latin typeface="Crimson Roman" panose="020B0604020202020204" charset="0"/>
                  </a:rPr>
                  <a:t> nên số phải tìm phải chứ 3 chữ số 5</a:t>
                </a:r>
                <a:br>
                  <a:rPr lang="en-US" sz="3200" dirty="0" smtClean="0">
                    <a:latin typeface="Crimson Roman" panose="020B0604020202020204" charset="0"/>
                  </a:rPr>
                </a:br>
                <a:r>
                  <a:rPr lang="en-US" sz="3200" dirty="0" smtClean="0">
                    <a:latin typeface="Crimson Roman" panose="020B0604020202020204" charset="0"/>
                  </a:rPr>
                  <a:t>Và có thể có các trường hợp sau:</a:t>
                </a:r>
              </a:p>
              <a:p>
                <a:r>
                  <a:rPr lang="en-US" sz="3200" dirty="0" smtClean="0">
                    <a:latin typeface="Crimson Roman" panose="020B0604020202020204" charset="0"/>
                  </a:rPr>
                  <a:t> + Số này chứa 4 chữ số 2</a:t>
                </a:r>
              </a:p>
              <a:p>
                <a:r>
                  <a:rPr lang="en-US" sz="3200" dirty="0" smtClean="0">
                    <a:latin typeface="Crimson Roman" panose="020B0604020202020204" charset="0"/>
                  </a:rPr>
                  <a:t> + Số này chứa 2 chữ số 2 và 1 chữ số 4</a:t>
                </a:r>
                <a:br>
                  <a:rPr lang="en-US" sz="3200" dirty="0" smtClean="0">
                    <a:latin typeface="Crimson Roman" panose="020B0604020202020204" charset="0"/>
                  </a:rPr>
                </a:br>
                <a:r>
                  <a:rPr lang="en-US" sz="3200" dirty="0" smtClean="0">
                    <a:latin typeface="Crimson Roman" panose="020B0604020202020204" charset="0"/>
                  </a:rPr>
                  <a:t> + Số này chứa 1 chữ số 2 và 1 chữ số 8</a:t>
                </a:r>
              </a:p>
              <a:p>
                <a:r>
                  <a:rPr lang="en-US" sz="3200" dirty="0">
                    <a:latin typeface="Crimson Roman" panose="020B0604020202020204" charset="0"/>
                  </a:rPr>
                  <a:t> </a:t>
                </a:r>
                <a:r>
                  <a:rPr lang="en-US" sz="3200" dirty="0" smtClean="0">
                    <a:latin typeface="Crimson Roman" panose="020B0604020202020204" charset="0"/>
                  </a:rPr>
                  <a:t>+ Số này chứa 2 chữ số 4</a:t>
                </a:r>
              </a:p>
              <a:p>
                <a:r>
                  <a:rPr lang="en-US" sz="3200" dirty="0" smtClean="0">
                    <a:latin typeface="Crimson Roman" panose="020B0604020202020204" charset="0"/>
                  </a:rPr>
                  <a:t>Áp dụng hoán vị lặp, ta có đáp án cho từng trường hợp:</a:t>
                </a:r>
              </a:p>
              <a:p>
                <a:pPr/>
                <a14:m>
                  <m:oMathPara xmlns:m="http://schemas.openxmlformats.org/officeDocument/2006/math">
                    <m:oMathParaPr>
                      <m:jc m:val="centerGroup"/>
                    </m:oMathParaPr>
                    <m:oMath xmlns:m="http://schemas.openxmlformats.org/officeDocument/2006/math">
                      <m:f>
                        <m:fPr>
                          <m:ctrlPr>
                            <a:rPr lang="en-US" sz="3200" i="1" smtClean="0">
                              <a:latin typeface="Cambria Math" panose="02040503050406030204" pitchFamily="18" charset="0"/>
                            </a:rPr>
                          </m:ctrlPr>
                        </m:fPr>
                        <m:num>
                          <m:r>
                            <a:rPr lang="en-US" sz="3200" b="0" i="1" smtClean="0">
                              <a:latin typeface="Cambria Math" panose="02040503050406030204" pitchFamily="18" charset="0"/>
                            </a:rPr>
                            <m:t>7!</m:t>
                          </m:r>
                        </m:num>
                        <m:den>
                          <m:r>
                            <a:rPr lang="en-US" sz="3200" b="0" i="1" smtClean="0">
                              <a:latin typeface="Cambria Math" panose="02040503050406030204" pitchFamily="18" charset="0"/>
                            </a:rPr>
                            <m:t>4!.3!</m:t>
                          </m:r>
                        </m:den>
                      </m:f>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6!</m:t>
                          </m:r>
                        </m:num>
                        <m:den>
                          <m:r>
                            <a:rPr lang="en-US" sz="3200" b="0" i="1" smtClean="0">
                              <a:latin typeface="Cambria Math" panose="02040503050406030204" pitchFamily="18" charset="0"/>
                            </a:rPr>
                            <m:t>2!.3!</m:t>
                          </m:r>
                        </m:den>
                      </m:f>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5!</m:t>
                          </m:r>
                        </m:num>
                        <m:den>
                          <m:r>
                            <a:rPr lang="en-US" sz="3200" b="0" i="1" smtClean="0">
                              <a:latin typeface="Cambria Math" panose="02040503050406030204" pitchFamily="18" charset="0"/>
                            </a:rPr>
                            <m:t>3!</m:t>
                          </m:r>
                        </m:den>
                      </m:f>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5!</m:t>
                          </m:r>
                        </m:num>
                        <m:den>
                          <m:r>
                            <a:rPr lang="en-US" sz="3200" b="0" i="1" smtClean="0">
                              <a:latin typeface="Cambria Math" panose="02040503050406030204" pitchFamily="18" charset="0"/>
                            </a:rPr>
                            <m:t>3!.2!</m:t>
                          </m:r>
                        </m:den>
                      </m:f>
                      <m:r>
                        <a:rPr lang="en-US" sz="3200" b="0" i="1" smtClean="0">
                          <a:latin typeface="Cambria Math" panose="02040503050406030204" pitchFamily="18" charset="0"/>
                        </a:rPr>
                        <m:t>=35+60+20+10=125</m:t>
                      </m:r>
                    </m:oMath>
                  </m:oMathPara>
                </a14:m>
                <a:endParaRPr lang="en-US" sz="3200" dirty="0" smtClean="0">
                  <a:latin typeface="Crimson Roman" panose="020B060402020202020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028700" y="4587687"/>
                <a:ext cx="11358778" cy="4996304"/>
              </a:xfrm>
              <a:prstGeom prst="rect">
                <a:avLst/>
              </a:prstGeom>
              <a:blipFill>
                <a:blip r:embed="rId8"/>
                <a:stretch>
                  <a:fillRect l="-1396" t="-1587"/>
                </a:stretch>
              </a:blipFill>
            </p:spPr>
            <p:txBody>
              <a:bodyPr/>
              <a:lstStyle/>
              <a:p>
                <a:r>
                  <a:rPr lang="en-US">
                    <a:noFill/>
                  </a:rPr>
                  <a:t> </a:t>
                </a:r>
              </a:p>
            </p:txBody>
          </p:sp>
        </mc:Fallback>
      </mc:AlternateContent>
    </p:spTree>
    <p:extLst>
      <p:ext uri="{BB962C8B-B14F-4D97-AF65-F5344CB8AC3E}">
        <p14:creationId xmlns:p14="http://schemas.microsoft.com/office/powerpoint/2010/main" val="15737317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2"/>
              <p:cNvSpPr txBox="1"/>
              <p:nvPr/>
            </p:nvSpPr>
            <p:spPr>
              <a:xfrm>
                <a:off x="1168879" y="2299183"/>
                <a:ext cx="11861322" cy="4672433"/>
              </a:xfrm>
              <a:prstGeom prst="rect">
                <a:avLst/>
              </a:prstGeom>
            </p:spPr>
            <p:txBody>
              <a:bodyPr wrap="square" lIns="0" tIns="0" rIns="0" bIns="0" rtlCol="0" anchor="t">
                <a:spAutoFit/>
              </a:bodyPr>
              <a:lstStyle/>
              <a:p>
                <a:pPr marL="457200" lvl="0" indent="-457200">
                  <a:lnSpc>
                    <a:spcPts val="3300"/>
                  </a:lnSpc>
                  <a:spcBef>
                    <a:spcPct val="0"/>
                  </a:spcBef>
                  <a:buFontTx/>
                  <a:buChar char="-"/>
                </a:pPr>
                <a:r>
                  <a:rPr lang="en-US" sz="3200" dirty="0" smtClean="0">
                    <a:solidFill>
                      <a:srgbClr val="202020"/>
                    </a:solidFill>
                    <a:latin typeface="Crimson Roman" panose="020B0604020202020204" charset="0"/>
                  </a:rPr>
                  <a:t>Nhiều bài toán đếm phức tạp hơn có thể giải quyết bằng nguyên lý bù trừ. Về bản chất, nguyên lý bù trừ là trường hợp tổng quát của nguyên lý cộng.</a:t>
                </a:r>
              </a:p>
              <a:p>
                <a:pPr lvl="0">
                  <a:lnSpc>
                    <a:spcPts val="3300"/>
                  </a:lnSpc>
                  <a:spcBef>
                    <a:spcPct val="0"/>
                  </a:spcBef>
                </a:pPr>
                <a:r>
                  <a:rPr lang="en-US" sz="3200" dirty="0" smtClean="0">
                    <a:solidFill>
                      <a:srgbClr val="202020"/>
                    </a:solidFill>
                    <a:latin typeface="Crimson Roman" panose="020B0604020202020204" charset="0"/>
                  </a:rPr>
                  <a:t>Nguyên lý bù trừ được phát biểu như sau: Nếu A và B là hai tập hợp, khi đó:</a:t>
                </a:r>
              </a:p>
              <a:p>
                <a:pPr lvl="0">
                  <a:lnSpc>
                    <a:spcPts val="3300"/>
                  </a:lnSpc>
                  <a:spcBef>
                    <a:spcPct val="0"/>
                  </a:spcBef>
                </a:pPr>
                <a14:m>
                  <m:oMathPara xmlns:m="http://schemas.openxmlformats.org/officeDocument/2006/math">
                    <m:oMathParaPr>
                      <m:jc m:val="centerGroup"/>
                    </m:oMathParaPr>
                    <m:oMath xmlns:m="http://schemas.openxmlformats.org/officeDocument/2006/math">
                      <m:r>
                        <a:rPr lang="en-US" sz="3200" b="0" i="1" smtClean="0">
                          <a:solidFill>
                            <a:srgbClr val="202020"/>
                          </a:solidFill>
                          <a:latin typeface="Cambria Math" panose="02040503050406030204" pitchFamily="18" charset="0"/>
                        </a:rPr>
                        <m:t>𝑁</m:t>
                      </m:r>
                      <m:d>
                        <m:dPr>
                          <m:ctrlPr>
                            <a:rPr lang="en-US" sz="3200" b="0" i="1" smtClean="0">
                              <a:solidFill>
                                <a:srgbClr val="202020"/>
                              </a:solidFill>
                              <a:latin typeface="Cambria Math" panose="02040503050406030204" pitchFamily="18" charset="0"/>
                            </a:rPr>
                          </m:ctrlPr>
                        </m:dPr>
                        <m:e>
                          <m:r>
                            <a:rPr lang="en-US" sz="3200" b="0" i="1" smtClean="0">
                              <a:solidFill>
                                <a:srgbClr val="202020"/>
                              </a:solidFill>
                              <a:latin typeface="Cambria Math" panose="02040503050406030204" pitchFamily="18" charset="0"/>
                            </a:rPr>
                            <m:t>𝐴</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𝐵</m:t>
                          </m:r>
                        </m:e>
                      </m:d>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𝑁</m:t>
                      </m:r>
                      <m:d>
                        <m:dPr>
                          <m:ctrlPr>
                            <a:rPr lang="en-US" sz="3200" b="0" i="1" smtClean="0">
                              <a:solidFill>
                                <a:srgbClr val="202020"/>
                              </a:solidFill>
                              <a:latin typeface="Cambria Math" panose="02040503050406030204" pitchFamily="18" charset="0"/>
                              <a:ea typeface="Cambria Math" panose="02040503050406030204" pitchFamily="18" charset="0"/>
                            </a:rPr>
                          </m:ctrlPr>
                        </m:dPr>
                        <m:e>
                          <m:r>
                            <a:rPr lang="en-US" sz="3200" b="0" i="1" smtClean="0">
                              <a:solidFill>
                                <a:srgbClr val="202020"/>
                              </a:solidFill>
                              <a:latin typeface="Cambria Math" panose="02040503050406030204" pitchFamily="18" charset="0"/>
                              <a:ea typeface="Cambria Math" panose="02040503050406030204" pitchFamily="18" charset="0"/>
                            </a:rPr>
                            <m:t>𝐴</m:t>
                          </m:r>
                        </m:e>
                      </m:d>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𝑁</m:t>
                      </m:r>
                      <m:d>
                        <m:dPr>
                          <m:ctrlPr>
                            <a:rPr lang="en-US" sz="3200" b="0" i="1" smtClean="0">
                              <a:solidFill>
                                <a:srgbClr val="202020"/>
                              </a:solidFill>
                              <a:latin typeface="Cambria Math" panose="02040503050406030204" pitchFamily="18" charset="0"/>
                              <a:ea typeface="Cambria Math" panose="02040503050406030204" pitchFamily="18" charset="0"/>
                            </a:rPr>
                          </m:ctrlPr>
                        </m:dPr>
                        <m:e>
                          <m:r>
                            <a:rPr lang="en-US" sz="3200" b="0" i="1" smtClean="0">
                              <a:solidFill>
                                <a:srgbClr val="202020"/>
                              </a:solidFill>
                              <a:latin typeface="Cambria Math" panose="02040503050406030204" pitchFamily="18" charset="0"/>
                              <a:ea typeface="Cambria Math" panose="02040503050406030204" pitchFamily="18" charset="0"/>
                            </a:rPr>
                            <m:t>𝐵</m:t>
                          </m:r>
                        </m:e>
                      </m:d>
                      <m:r>
                        <a:rPr lang="en-US" sz="3200" b="0" i="1" smtClean="0">
                          <a:solidFill>
                            <a:srgbClr val="202020"/>
                          </a:solidFill>
                          <a:latin typeface="Cambria Math" panose="02040503050406030204" pitchFamily="18" charset="0"/>
                          <a:ea typeface="Cambria Math" panose="02040503050406030204" pitchFamily="18" charset="0"/>
                        </a:rPr>
                        <m:t> −</m:t>
                      </m:r>
                      <m:r>
                        <a:rPr lang="en-US" sz="3200" b="0" i="1" smtClean="0">
                          <a:solidFill>
                            <a:srgbClr val="202020"/>
                          </a:solidFill>
                          <a:latin typeface="Cambria Math" panose="02040503050406030204" pitchFamily="18" charset="0"/>
                          <a:ea typeface="Cambria Math" panose="02040503050406030204" pitchFamily="18" charset="0"/>
                        </a:rPr>
                        <m:t>𝑁</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𝐵</m:t>
                      </m:r>
                      <m:r>
                        <a:rPr lang="en-US" sz="3200" b="0" i="1" smtClean="0">
                          <a:solidFill>
                            <a:srgbClr val="202020"/>
                          </a:solidFill>
                          <a:latin typeface="Cambria Math" panose="02040503050406030204" pitchFamily="18" charset="0"/>
                          <a:ea typeface="Cambria Math" panose="02040503050406030204" pitchFamily="18" charset="0"/>
                        </a:rPr>
                        <m:t>)</m:t>
                      </m:r>
                    </m:oMath>
                  </m:oMathPara>
                </a14:m>
                <a:endParaRPr lang="en-US" sz="3200" dirty="0" smtClean="0">
                  <a:solidFill>
                    <a:srgbClr val="202020"/>
                  </a:solidFill>
                  <a:latin typeface="Crimson Roman" panose="020B0604020202020204" charset="0"/>
                </a:endParaRPr>
              </a:p>
              <a:p>
                <a:pPr lvl="0">
                  <a:lnSpc>
                    <a:spcPts val="3300"/>
                  </a:lnSpc>
                  <a:spcBef>
                    <a:spcPct val="0"/>
                  </a:spcBef>
                </a:pPr>
                <a:r>
                  <a:rPr lang="en-US" sz="3200" u="sng" dirty="0" smtClean="0">
                    <a:solidFill>
                      <a:srgbClr val="202020"/>
                    </a:solidFill>
                    <a:latin typeface="Crimson Roman" panose="020B0604020202020204" charset="0"/>
                  </a:rPr>
                  <a:t>Tổng quát:</a:t>
                </a:r>
                <a:r>
                  <a:rPr lang="en-US" sz="3200" dirty="0" smtClean="0">
                    <a:solidFill>
                      <a:srgbClr val="202020"/>
                    </a:solidFill>
                    <a:latin typeface="Crimson Roman" panose="020B0604020202020204" charset="0"/>
                  </a:rPr>
                  <a:t> Nếu A</a:t>
                </a:r>
                <a:r>
                  <a:rPr lang="en-US" sz="3200" baseline="-25000" dirty="0" smtClean="0">
                    <a:solidFill>
                      <a:srgbClr val="202020"/>
                    </a:solidFill>
                    <a:latin typeface="Crimson Roman" panose="020B0604020202020204" charset="0"/>
                  </a:rPr>
                  <a:t>1</a:t>
                </a:r>
                <a:r>
                  <a:rPr lang="en-US" sz="3200" dirty="0" smtClean="0">
                    <a:solidFill>
                      <a:srgbClr val="202020"/>
                    </a:solidFill>
                    <a:latin typeface="Crimson Roman" panose="020B0604020202020204" charset="0"/>
                  </a:rPr>
                  <a:t>, A</a:t>
                </a:r>
                <a:r>
                  <a:rPr lang="en-US" sz="3200" baseline="-25000" dirty="0" smtClean="0">
                    <a:solidFill>
                      <a:srgbClr val="202020"/>
                    </a:solidFill>
                    <a:latin typeface="Crimson Roman" panose="020B0604020202020204" charset="0"/>
                  </a:rPr>
                  <a:t>2</a:t>
                </a:r>
                <a:r>
                  <a:rPr lang="en-US" sz="3200" dirty="0" smtClean="0">
                    <a:solidFill>
                      <a:srgbClr val="202020"/>
                    </a:solidFill>
                    <a:latin typeface="Crimson Roman" panose="020B0604020202020204" charset="0"/>
                  </a:rPr>
                  <a:t>, ..., A</a:t>
                </a:r>
                <a:r>
                  <a:rPr lang="en-US" sz="3200" baseline="-25000" dirty="0" smtClean="0">
                    <a:solidFill>
                      <a:srgbClr val="202020"/>
                    </a:solidFill>
                    <a:latin typeface="Crimson Roman" panose="020B0604020202020204" charset="0"/>
                  </a:rPr>
                  <a:t>k</a:t>
                </a:r>
                <a:r>
                  <a:rPr lang="en-US" sz="3200" dirty="0" smtClean="0">
                    <a:solidFill>
                      <a:srgbClr val="202020"/>
                    </a:solidFill>
                    <a:latin typeface="Crimson Roman" panose="020B0604020202020204" charset="0"/>
                  </a:rPr>
                  <a:t> là các tập hợp hữu hạn, khi đó:</a:t>
                </a:r>
              </a:p>
              <a:p>
                <a:pPr lvl="0">
                  <a:lnSpc>
                    <a:spcPts val="3300"/>
                  </a:lnSpc>
                  <a:spcBef>
                    <a:spcPct val="0"/>
                  </a:spcBef>
                </a:pPr>
                <a14:m>
                  <m:oMathPara xmlns:m="http://schemas.openxmlformats.org/officeDocument/2006/math">
                    <m:oMathParaPr>
                      <m:jc m:val="centerGroup"/>
                    </m:oMathParaPr>
                    <m:oMath xmlns:m="http://schemas.openxmlformats.org/officeDocument/2006/math">
                      <m:r>
                        <a:rPr lang="en-US" sz="3200" b="0" i="1" smtClean="0">
                          <a:solidFill>
                            <a:srgbClr val="202020"/>
                          </a:solidFill>
                          <a:latin typeface="Cambria Math" panose="02040503050406030204" pitchFamily="18" charset="0"/>
                        </a:rPr>
                        <m:t>𝑁</m:t>
                      </m:r>
                      <m:d>
                        <m:dPr>
                          <m:ctrlPr>
                            <a:rPr lang="en-US" sz="3200" b="0" i="1" smtClean="0">
                              <a:solidFill>
                                <a:srgbClr val="202020"/>
                              </a:solidFill>
                              <a:latin typeface="Cambria Math" panose="02040503050406030204" pitchFamily="18" charset="0"/>
                            </a:rPr>
                          </m:ctrlPr>
                        </m:dPr>
                        <m:e>
                          <m:r>
                            <a:rPr lang="en-US" sz="3200" b="0" i="1" smtClean="0">
                              <a:solidFill>
                                <a:srgbClr val="202020"/>
                              </a:solidFill>
                              <a:latin typeface="Cambria Math" panose="02040503050406030204" pitchFamily="18" charset="0"/>
                            </a:rPr>
                            <m:t>𝐴</m:t>
                          </m:r>
                          <m:r>
                            <a:rPr lang="en-US" sz="3200" b="0" i="1" baseline="-25000" smtClean="0">
                              <a:solidFill>
                                <a:srgbClr val="202020"/>
                              </a:solidFill>
                              <a:latin typeface="Cambria Math" panose="02040503050406030204" pitchFamily="18" charset="0"/>
                            </a:rPr>
                            <m:t>1</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2</m:t>
                          </m:r>
                          <m:r>
                            <a:rPr lang="en-US" sz="3200" b="0" i="1" smtClean="0">
                              <a:solidFill>
                                <a:srgbClr val="202020"/>
                              </a:solidFill>
                              <a:latin typeface="Cambria Math" panose="02040503050406030204" pitchFamily="18" charset="0"/>
                              <a:ea typeface="Cambria Math" panose="02040503050406030204" pitchFamily="18" charset="0"/>
                            </a:rPr>
                            <m:t> ∪ … ∪</m:t>
                          </m:r>
                          <m:r>
                            <a:rPr lang="en-US" sz="3200" b="0" i="1" smtClean="0">
                              <a:solidFill>
                                <a:srgbClr val="202020"/>
                              </a:solidFill>
                              <a:latin typeface="Cambria Math" panose="02040503050406030204" pitchFamily="18" charset="0"/>
                              <a:ea typeface="Cambria Math" panose="02040503050406030204" pitchFamily="18" charset="0"/>
                            </a:rPr>
                            <m:t>𝐴𝑘</m:t>
                          </m:r>
                        </m:e>
                      </m:d>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𝑁</m:t>
                      </m:r>
                      <m:r>
                        <a:rPr lang="en-US" sz="3200" b="0" i="1" baseline="-25000" smtClean="0">
                          <a:solidFill>
                            <a:srgbClr val="202020"/>
                          </a:solidFill>
                          <a:latin typeface="Cambria Math" panose="02040503050406030204" pitchFamily="18" charset="0"/>
                          <a:ea typeface="Cambria Math" panose="02040503050406030204" pitchFamily="18" charset="0"/>
                        </a:rPr>
                        <m:t>1</m:t>
                      </m:r>
                      <m:r>
                        <a:rPr lang="en-US" sz="3200" b="0" i="1" smtClean="0">
                          <a:solidFill>
                            <a:srgbClr val="202020"/>
                          </a:solidFill>
                          <a:latin typeface="Cambria Math" panose="02040503050406030204" pitchFamily="18" charset="0"/>
                          <a:ea typeface="Cambria Math" panose="02040503050406030204" pitchFamily="18" charset="0"/>
                        </a:rPr>
                        <m:t> −</m:t>
                      </m:r>
                      <m:r>
                        <a:rPr lang="en-US" sz="3200" b="0" i="1" smtClean="0">
                          <a:solidFill>
                            <a:srgbClr val="202020"/>
                          </a:solidFill>
                          <a:latin typeface="Cambria Math" panose="02040503050406030204" pitchFamily="18" charset="0"/>
                          <a:ea typeface="Cambria Math" panose="02040503050406030204" pitchFamily="18" charset="0"/>
                        </a:rPr>
                        <m:t>𝑁</m:t>
                      </m:r>
                      <m:r>
                        <a:rPr lang="en-US" sz="3200" b="0" i="1" baseline="-25000" smtClean="0">
                          <a:solidFill>
                            <a:srgbClr val="202020"/>
                          </a:solidFill>
                          <a:latin typeface="Cambria Math" panose="02040503050406030204" pitchFamily="18" charset="0"/>
                          <a:ea typeface="Cambria Math" panose="02040503050406030204" pitchFamily="18" charset="0"/>
                        </a:rPr>
                        <m:t>2</m:t>
                      </m:r>
                      <m:r>
                        <a:rPr lang="en-US" sz="3200" b="0" i="1" smtClean="0">
                          <a:solidFill>
                            <a:srgbClr val="202020"/>
                          </a:solidFill>
                          <a:latin typeface="Cambria Math" panose="02040503050406030204" pitchFamily="18" charset="0"/>
                          <a:ea typeface="Cambria Math" panose="02040503050406030204" pitchFamily="18" charset="0"/>
                        </a:rPr>
                        <m:t>+ …+</m:t>
                      </m:r>
                      <m:sSup>
                        <m:sSupPr>
                          <m:ctrlPr>
                            <a:rPr lang="en-US" sz="3200" b="0" i="1" smtClean="0">
                              <a:solidFill>
                                <a:srgbClr val="202020"/>
                              </a:solidFill>
                              <a:latin typeface="Cambria Math" panose="02040503050406030204" pitchFamily="18" charset="0"/>
                              <a:ea typeface="Cambria Math" panose="02040503050406030204" pitchFamily="18" charset="0"/>
                            </a:rPr>
                          </m:ctrlPr>
                        </m:sSupPr>
                        <m:e>
                          <m:r>
                            <a:rPr lang="en-US" sz="3200" b="0" i="1" smtClean="0">
                              <a:solidFill>
                                <a:srgbClr val="202020"/>
                              </a:solidFill>
                              <a:latin typeface="Cambria Math" panose="02040503050406030204" pitchFamily="18" charset="0"/>
                              <a:ea typeface="Cambria Math" panose="02040503050406030204" pitchFamily="18" charset="0"/>
                            </a:rPr>
                            <m:t>(−1)</m:t>
                          </m:r>
                        </m:e>
                        <m:sup>
                          <m:r>
                            <a:rPr lang="en-US" sz="3200" b="0" i="1" smtClean="0">
                              <a:solidFill>
                                <a:srgbClr val="202020"/>
                              </a:solidFill>
                              <a:latin typeface="Cambria Math" panose="02040503050406030204" pitchFamily="18" charset="0"/>
                              <a:ea typeface="Cambria Math" panose="02040503050406030204" pitchFamily="18" charset="0"/>
                            </a:rPr>
                            <m:t>𝑘</m:t>
                          </m:r>
                          <m:r>
                            <a:rPr lang="en-US" sz="3200" b="0" i="1" smtClean="0">
                              <a:solidFill>
                                <a:srgbClr val="202020"/>
                              </a:solidFill>
                              <a:latin typeface="Cambria Math" panose="02040503050406030204" pitchFamily="18" charset="0"/>
                              <a:ea typeface="Cambria Math" panose="02040503050406030204" pitchFamily="18" charset="0"/>
                            </a:rPr>
                            <m:t>−1</m:t>
                          </m:r>
                        </m:sup>
                      </m:sSup>
                      <m:sSub>
                        <m:sSubPr>
                          <m:ctrlPr>
                            <a:rPr lang="en-US" sz="3200" b="0" i="1" smtClean="0">
                              <a:solidFill>
                                <a:srgbClr val="202020"/>
                              </a:solidFill>
                              <a:latin typeface="Cambria Math" panose="02040503050406030204" pitchFamily="18" charset="0"/>
                              <a:ea typeface="Cambria Math" panose="02040503050406030204" pitchFamily="18" charset="0"/>
                            </a:rPr>
                          </m:ctrlPr>
                        </m:sSubPr>
                        <m:e>
                          <m:r>
                            <a:rPr lang="en-US" sz="3200" b="0" i="1" smtClean="0">
                              <a:solidFill>
                                <a:srgbClr val="202020"/>
                              </a:solidFill>
                              <a:latin typeface="Cambria Math" panose="02040503050406030204" pitchFamily="18" charset="0"/>
                              <a:ea typeface="Cambria Math" panose="02040503050406030204" pitchFamily="18" charset="0"/>
                            </a:rPr>
                            <m:t>𝑁</m:t>
                          </m:r>
                        </m:e>
                        <m:sub>
                          <m:r>
                            <a:rPr lang="en-US" sz="3200" b="0" i="1" smtClean="0">
                              <a:solidFill>
                                <a:srgbClr val="202020"/>
                              </a:solidFill>
                              <a:latin typeface="Cambria Math" panose="02040503050406030204" pitchFamily="18" charset="0"/>
                              <a:ea typeface="Cambria Math" panose="02040503050406030204" pitchFamily="18" charset="0"/>
                            </a:rPr>
                            <m:t>𝑘</m:t>
                          </m:r>
                        </m:sub>
                      </m:sSub>
                    </m:oMath>
                  </m:oMathPara>
                </a14:m>
                <a:endParaRPr lang="en-US" sz="3200" dirty="0" smtClean="0">
                  <a:solidFill>
                    <a:srgbClr val="202020"/>
                  </a:solidFill>
                  <a:latin typeface="Crimson Roman" panose="020B0604020202020204" charset="0"/>
                </a:endParaRPr>
              </a:p>
              <a:p>
                <a:pPr lvl="0">
                  <a:lnSpc>
                    <a:spcPts val="3300"/>
                  </a:lnSpc>
                  <a:spcBef>
                    <a:spcPct val="0"/>
                  </a:spcBef>
                </a:pPr>
                <a:r>
                  <a:rPr lang="en-US" sz="3200" dirty="0" smtClean="0">
                    <a:solidFill>
                      <a:srgbClr val="202020"/>
                    </a:solidFill>
                    <a:latin typeface="Crimson Roman" panose="020B0604020202020204" charset="0"/>
                  </a:rPr>
                  <a:t>Trong đó, Ni là tổng của tất cả các giao của i tập lấy từ k tập đã cho.</a:t>
                </a:r>
              </a:p>
              <a:p>
                <a:pPr lvl="0">
                  <a:lnSpc>
                    <a:spcPts val="3300"/>
                  </a:lnSpc>
                  <a:spcBef>
                    <a:spcPct val="0"/>
                  </a:spcBef>
                </a:pPr>
                <a14:m>
                  <m:oMathPara xmlns:m="http://schemas.openxmlformats.org/officeDocument/2006/math">
                    <m:oMathParaPr>
                      <m:jc m:val="centerGroup"/>
                    </m:oMathParaPr>
                    <m:oMath xmlns:m="http://schemas.openxmlformats.org/officeDocument/2006/math">
                      <m:r>
                        <a:rPr lang="en-US" sz="3200" b="0" i="1" smtClean="0">
                          <a:solidFill>
                            <a:srgbClr val="202020"/>
                          </a:solidFill>
                          <a:latin typeface="Cambria Math" panose="02040503050406030204" pitchFamily="18" charset="0"/>
                        </a:rPr>
                        <m:t>𝑁</m:t>
                      </m:r>
                      <m:r>
                        <a:rPr lang="en-US" sz="3200" b="0" i="1" smtClean="0">
                          <a:solidFill>
                            <a:srgbClr val="202020"/>
                          </a:solidFill>
                          <a:latin typeface="Cambria Math" panose="02040503050406030204" pitchFamily="18" charset="0"/>
                        </a:rPr>
                        <m:t>=</m:t>
                      </m:r>
                      <m:r>
                        <a:rPr lang="en-US" sz="3200" b="0" i="1" smtClean="0">
                          <a:solidFill>
                            <a:srgbClr val="202020"/>
                          </a:solidFill>
                          <a:latin typeface="Cambria Math" panose="02040503050406030204" pitchFamily="18" charset="0"/>
                        </a:rPr>
                        <m:t>𝑁</m:t>
                      </m:r>
                      <m:d>
                        <m:dPr>
                          <m:ctrlPr>
                            <a:rPr lang="en-US" sz="3200" b="0" i="1" smtClean="0">
                              <a:solidFill>
                                <a:srgbClr val="202020"/>
                              </a:solidFill>
                              <a:latin typeface="Cambria Math" panose="02040503050406030204" pitchFamily="18" charset="0"/>
                            </a:rPr>
                          </m:ctrlPr>
                        </m:dPr>
                        <m:e>
                          <m:r>
                            <a:rPr lang="en-US" sz="3200" b="0" i="1" smtClean="0">
                              <a:solidFill>
                                <a:srgbClr val="202020"/>
                              </a:solidFill>
                              <a:latin typeface="Cambria Math" panose="02040503050406030204" pitchFamily="18" charset="0"/>
                            </a:rPr>
                            <m:t>𝐴</m:t>
                          </m:r>
                          <m:r>
                            <a:rPr lang="en-US" sz="3200" b="0" i="1" baseline="-25000" smtClean="0">
                              <a:solidFill>
                                <a:srgbClr val="202020"/>
                              </a:solidFill>
                              <a:latin typeface="Cambria Math" panose="02040503050406030204" pitchFamily="18" charset="0"/>
                            </a:rPr>
                            <m:t>1</m:t>
                          </m:r>
                        </m:e>
                      </m:d>
                      <m:r>
                        <a:rPr lang="en-US" sz="3200" b="0" i="1" smtClean="0">
                          <a:solidFill>
                            <a:srgbClr val="202020"/>
                          </a:solidFill>
                          <a:latin typeface="Cambria Math" panose="02040503050406030204" pitchFamily="18" charset="0"/>
                        </a:rPr>
                        <m:t>+</m:t>
                      </m:r>
                      <m:r>
                        <a:rPr lang="en-US" sz="3200" b="0" i="1" smtClean="0">
                          <a:solidFill>
                            <a:srgbClr val="202020"/>
                          </a:solidFill>
                          <a:latin typeface="Cambria Math" panose="02040503050406030204" pitchFamily="18" charset="0"/>
                        </a:rPr>
                        <m:t>𝑁</m:t>
                      </m:r>
                      <m:d>
                        <m:dPr>
                          <m:ctrlPr>
                            <a:rPr lang="en-US" sz="3200" b="0" i="1" smtClean="0">
                              <a:solidFill>
                                <a:srgbClr val="202020"/>
                              </a:solidFill>
                              <a:latin typeface="Cambria Math" panose="02040503050406030204" pitchFamily="18" charset="0"/>
                            </a:rPr>
                          </m:ctrlPr>
                        </m:dPr>
                        <m:e>
                          <m:r>
                            <a:rPr lang="en-US" sz="3200" b="0" i="1" smtClean="0">
                              <a:solidFill>
                                <a:srgbClr val="202020"/>
                              </a:solidFill>
                              <a:latin typeface="Cambria Math" panose="02040503050406030204" pitchFamily="18" charset="0"/>
                            </a:rPr>
                            <m:t>𝐴</m:t>
                          </m:r>
                          <m:r>
                            <a:rPr lang="en-US" sz="3200" b="0" i="1" baseline="-25000" smtClean="0">
                              <a:solidFill>
                                <a:srgbClr val="202020"/>
                              </a:solidFill>
                              <a:latin typeface="Cambria Math" panose="02040503050406030204" pitchFamily="18" charset="0"/>
                            </a:rPr>
                            <m:t>2</m:t>
                          </m:r>
                        </m:e>
                      </m:d>
                      <m:r>
                        <a:rPr lang="en-US" sz="3200" b="0" i="1" smtClean="0">
                          <a:solidFill>
                            <a:srgbClr val="202020"/>
                          </a:solidFill>
                          <a:latin typeface="Cambria Math" panose="02040503050406030204" pitchFamily="18" charset="0"/>
                        </a:rPr>
                        <m:t>+ …+</m:t>
                      </m:r>
                      <m:r>
                        <a:rPr lang="en-US" sz="3200" b="0" i="1" smtClean="0">
                          <a:solidFill>
                            <a:srgbClr val="202020"/>
                          </a:solidFill>
                          <a:latin typeface="Cambria Math" panose="02040503050406030204" pitchFamily="18" charset="0"/>
                        </a:rPr>
                        <m:t>𝑁</m:t>
                      </m:r>
                      <m:r>
                        <a:rPr lang="en-US" sz="3200" b="0" i="1" smtClean="0">
                          <a:solidFill>
                            <a:srgbClr val="202020"/>
                          </a:solidFill>
                          <a:latin typeface="Cambria Math" panose="02040503050406030204" pitchFamily="18" charset="0"/>
                        </a:rPr>
                        <m:t>(</m:t>
                      </m:r>
                      <m:r>
                        <a:rPr lang="en-US" sz="3200" b="0" i="1" smtClean="0">
                          <a:solidFill>
                            <a:srgbClr val="202020"/>
                          </a:solidFill>
                          <a:latin typeface="Cambria Math" panose="02040503050406030204" pitchFamily="18" charset="0"/>
                        </a:rPr>
                        <m:t>𝐴𝑘</m:t>
                      </m:r>
                      <m:r>
                        <a:rPr lang="en-US" sz="3200" b="0" i="1" smtClean="0">
                          <a:solidFill>
                            <a:srgbClr val="202020"/>
                          </a:solidFill>
                          <a:latin typeface="Cambria Math" panose="02040503050406030204" pitchFamily="18" charset="0"/>
                        </a:rPr>
                        <m:t>)</m:t>
                      </m:r>
                    </m:oMath>
                  </m:oMathPara>
                </a14:m>
                <a:endParaRPr lang="en-US" sz="3200" dirty="0" smtClean="0">
                  <a:solidFill>
                    <a:srgbClr val="202020"/>
                  </a:solidFill>
                  <a:latin typeface="Crimson Roman" panose="020B0604020202020204" charset="0"/>
                </a:endParaRPr>
              </a:p>
              <a:p>
                <a:pPr lvl="0">
                  <a:lnSpc>
                    <a:spcPts val="3300"/>
                  </a:lnSpc>
                  <a:spcBef>
                    <a:spcPct val="0"/>
                  </a:spcBef>
                </a:pPr>
                <a14:m>
                  <m:oMathPara xmlns:m="http://schemas.openxmlformats.org/officeDocument/2006/math">
                    <m:oMathParaPr>
                      <m:jc m:val="centerGroup"/>
                    </m:oMathParaPr>
                    <m:oMath xmlns:m="http://schemas.openxmlformats.org/officeDocument/2006/math">
                      <m:r>
                        <a:rPr lang="en-US" sz="3200" b="0" i="1" smtClean="0">
                          <a:solidFill>
                            <a:srgbClr val="202020"/>
                          </a:solidFill>
                          <a:latin typeface="Cambria Math" panose="02040503050406030204" pitchFamily="18" charset="0"/>
                        </a:rPr>
                        <m:t>𝑁𝑘</m:t>
                      </m:r>
                      <m:r>
                        <a:rPr lang="en-US" sz="3200" b="0" i="1" smtClean="0">
                          <a:solidFill>
                            <a:srgbClr val="202020"/>
                          </a:solidFill>
                          <a:latin typeface="Cambria Math" panose="02040503050406030204" pitchFamily="18" charset="0"/>
                        </a:rPr>
                        <m:t>=</m:t>
                      </m:r>
                      <m:r>
                        <a:rPr lang="en-US" sz="3200" b="0" i="1" smtClean="0">
                          <a:solidFill>
                            <a:srgbClr val="202020"/>
                          </a:solidFill>
                          <a:latin typeface="Cambria Math" panose="02040503050406030204" pitchFamily="18" charset="0"/>
                        </a:rPr>
                        <m:t>𝑁</m:t>
                      </m:r>
                      <m:r>
                        <a:rPr lang="en-US" sz="3200" b="0" i="1" smtClean="0">
                          <a:solidFill>
                            <a:srgbClr val="202020"/>
                          </a:solidFill>
                          <a:latin typeface="Cambria Math" panose="02040503050406030204" pitchFamily="18" charset="0"/>
                        </a:rPr>
                        <m:t>(</m:t>
                      </m:r>
                      <m:r>
                        <a:rPr lang="en-US" sz="3200" b="0" i="1" smtClean="0">
                          <a:solidFill>
                            <a:srgbClr val="202020"/>
                          </a:solidFill>
                          <a:latin typeface="Cambria Math" panose="02040503050406030204" pitchFamily="18" charset="0"/>
                        </a:rPr>
                        <m:t>𝐴</m:t>
                      </m:r>
                      <m:r>
                        <a:rPr lang="en-US" sz="3200" b="0" i="1" baseline="-25000" smtClean="0">
                          <a:solidFill>
                            <a:srgbClr val="202020"/>
                          </a:solidFill>
                          <a:latin typeface="Cambria Math" panose="02040503050406030204" pitchFamily="18" charset="0"/>
                        </a:rPr>
                        <m:t>1</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2</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𝐴𝑘</m:t>
                      </m:r>
                      <m:r>
                        <a:rPr lang="en-US" sz="3200" b="0" i="1" smtClean="0">
                          <a:solidFill>
                            <a:srgbClr val="202020"/>
                          </a:solidFill>
                          <a:latin typeface="Cambria Math" panose="02040503050406030204" pitchFamily="18" charset="0"/>
                          <a:ea typeface="Cambria Math" panose="02040503050406030204" pitchFamily="18" charset="0"/>
                        </a:rPr>
                        <m:t>)</m:t>
                      </m:r>
                    </m:oMath>
                  </m:oMathPara>
                </a14:m>
                <a:endParaRPr lang="en-US" sz="3200" dirty="0" smtClean="0">
                  <a:solidFill>
                    <a:srgbClr val="202020"/>
                  </a:solidFill>
                  <a:latin typeface="Crimson Roman" panose="020B0604020202020204" charset="0"/>
                </a:endParaRPr>
              </a:p>
            </p:txBody>
          </p:sp>
        </mc:Choice>
        <mc:Fallback xmlns="">
          <p:sp>
            <p:nvSpPr>
              <p:cNvPr id="2" name="TextBox 2"/>
              <p:cNvSpPr txBox="1">
                <a:spLocks noRot="1" noChangeAspect="1" noMove="1" noResize="1" noEditPoints="1" noAdjustHandles="1" noChangeArrowheads="1" noChangeShapeType="1" noTextEdit="1"/>
              </p:cNvSpPr>
              <p:nvPr/>
            </p:nvSpPr>
            <p:spPr>
              <a:xfrm>
                <a:off x="1168879" y="2299183"/>
                <a:ext cx="11861322" cy="4672433"/>
              </a:xfrm>
              <a:prstGeom prst="rect">
                <a:avLst/>
              </a:prstGeom>
              <a:blipFill>
                <a:blip r:embed="rId2"/>
                <a:stretch>
                  <a:fillRect l="-2724" t="-6649" r="-2004" b="-2347"/>
                </a:stretch>
              </a:blipFill>
            </p:spPr>
            <p:txBody>
              <a:bodyPr/>
              <a:lstStyle/>
              <a:p>
                <a:r>
                  <a:rPr lang="en-US">
                    <a:noFill/>
                  </a:rPr>
                  <a:t> </a:t>
                </a:r>
              </a:p>
            </p:txBody>
          </p:sp>
        </mc:Fallback>
      </mc:AlternateContent>
      <p:sp>
        <p:nvSpPr>
          <p:cNvPr id="8" name="TextBox 6"/>
          <p:cNvSpPr txBox="1"/>
          <p:nvPr/>
        </p:nvSpPr>
        <p:spPr>
          <a:xfrm>
            <a:off x="1168879" y="723900"/>
            <a:ext cx="11479602" cy="1442703"/>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Nguyên lý bù trừ</a:t>
            </a:r>
            <a:endParaRPr lang="en-US" sz="8800" dirty="0">
              <a:solidFill>
                <a:srgbClr val="3849A2"/>
              </a:solidFill>
              <a:latin typeface="Crimson Roman" panose="020B0604020202020204" charset="0"/>
            </a:endParaRPr>
          </a:p>
        </p:txBody>
      </p:sp>
      <p:pic>
        <p:nvPicPr>
          <p:cNvPr id="5" name="Picture 11"/>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a:stretch>
            <a:fillRect/>
          </a:stretch>
        </p:blipFill>
        <p:spPr>
          <a:xfrm>
            <a:off x="14401800" y="2299183"/>
            <a:ext cx="2957966" cy="6301154"/>
          </a:xfrm>
          <a:prstGeom prst="rect">
            <a:avLst/>
          </a:prstGeom>
        </p:spPr>
      </p:pic>
    </p:spTree>
    <p:extLst>
      <p:ext uri="{BB962C8B-B14F-4D97-AF65-F5344CB8AC3E}">
        <p14:creationId xmlns:p14="http://schemas.microsoft.com/office/powerpoint/2010/main" val="26482062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4215781" y="6899719"/>
            <a:ext cx="2418104" cy="2358581"/>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4215781" y="3837048"/>
            <a:ext cx="2418104" cy="2554230"/>
          </a:xfrm>
          <a:prstGeom prst="rect">
            <a:avLst/>
          </a:prstGeom>
        </p:spPr>
      </p:pic>
      <p:pic>
        <p:nvPicPr>
          <p:cNvPr id="4" name="Picture 4"/>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4215781" y="1028700"/>
            <a:ext cx="2418104" cy="2299907"/>
          </a:xfrm>
          <a:prstGeom prst="rect">
            <a:avLst/>
          </a:prstGeom>
        </p:spPr>
      </p:pic>
      <p:sp>
        <p:nvSpPr>
          <p:cNvPr id="5" name="AutoShape 5"/>
          <p:cNvSpPr/>
          <p:nvPr/>
        </p:nvSpPr>
        <p:spPr>
          <a:xfrm>
            <a:off x="12387478" y="1028700"/>
            <a:ext cx="9525" cy="8229600"/>
          </a:xfrm>
          <a:prstGeom prst="rect">
            <a:avLst/>
          </a:prstGeom>
          <a:solidFill>
            <a:srgbClr val="3D3D3D"/>
          </a:solidFill>
        </p:spPr>
      </p:sp>
      <p:grpSp>
        <p:nvGrpSpPr>
          <p:cNvPr id="6" name="Group 6"/>
          <p:cNvGrpSpPr/>
          <p:nvPr/>
        </p:nvGrpSpPr>
        <p:grpSpPr>
          <a:xfrm>
            <a:off x="1028700" y="1028700"/>
            <a:ext cx="9539999" cy="2853987"/>
            <a:chOff x="0" y="0"/>
            <a:chExt cx="12719999" cy="3805317"/>
          </a:xfrm>
        </p:grpSpPr>
        <p:sp>
          <p:nvSpPr>
            <p:cNvPr id="7" name="TextBox 7"/>
            <p:cNvSpPr txBox="1"/>
            <p:nvPr/>
          </p:nvSpPr>
          <p:spPr>
            <a:xfrm>
              <a:off x="0" y="0"/>
              <a:ext cx="12719999" cy="1880858"/>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Ví dụ 3</a:t>
              </a:r>
              <a:endParaRPr lang="en-US" sz="8800" dirty="0">
                <a:solidFill>
                  <a:srgbClr val="3849A2"/>
                </a:solidFill>
                <a:latin typeface="Crimson Roman" panose="020B0604020202020204" charset="0"/>
              </a:endParaRPr>
            </a:p>
          </p:txBody>
        </p:sp>
        <p:sp>
          <p:nvSpPr>
            <p:cNvPr id="8" name="TextBox 8"/>
            <p:cNvSpPr txBox="1"/>
            <p:nvPr/>
          </p:nvSpPr>
          <p:spPr>
            <a:xfrm>
              <a:off x="0" y="2745198"/>
              <a:ext cx="12719999" cy="1060119"/>
            </a:xfrm>
            <a:prstGeom prst="rect">
              <a:avLst/>
            </a:prstGeom>
          </p:spPr>
          <p:txBody>
            <a:bodyPr lIns="0" tIns="0" rIns="0" bIns="0" rtlCol="0" anchor="t">
              <a:spAutoFit/>
            </a:bodyPr>
            <a:lstStyle/>
            <a:p>
              <a:pPr>
                <a:lnSpc>
                  <a:spcPts val="3120"/>
                </a:lnSpc>
              </a:pPr>
              <a:r>
                <a:rPr lang="en-US" sz="3200" dirty="0" smtClean="0">
                  <a:solidFill>
                    <a:srgbClr val="202020"/>
                  </a:solidFill>
                  <a:latin typeface="Crimson Roman" panose="020B0604020202020204" charset="0"/>
                </a:rPr>
                <a:t>Trong tập hợp X = { 1, 2, ..., 10000} có bao nhiêu số không chia hết cho 3, 4, 7?</a:t>
              </a:r>
              <a:endParaRPr lang="en-US" sz="3200" dirty="0">
                <a:solidFill>
                  <a:srgbClr val="202020"/>
                </a:solidFill>
                <a:latin typeface="Crimson Roman" panose="020B0604020202020204" charset="0"/>
              </a:endParaRPr>
            </a:p>
          </p:txBody>
        </p:sp>
      </p:grpSp>
      <mc:AlternateContent xmlns:mc="http://schemas.openxmlformats.org/markup-compatibility/2006" xmlns:a14="http://schemas.microsoft.com/office/drawing/2010/main">
        <mc:Choice Requires="a14">
          <p:sp>
            <p:nvSpPr>
              <p:cNvPr id="9" name="TextBox 8"/>
              <p:cNvSpPr txBox="1"/>
              <p:nvPr/>
            </p:nvSpPr>
            <p:spPr>
              <a:xfrm>
                <a:off x="1028700" y="4587687"/>
                <a:ext cx="11358778" cy="3516732"/>
              </a:xfrm>
              <a:prstGeom prst="rect">
                <a:avLst/>
              </a:prstGeom>
              <a:noFill/>
            </p:spPr>
            <p:txBody>
              <a:bodyPr wrap="square" rtlCol="0">
                <a:spAutoFit/>
              </a:bodyPr>
              <a:lstStyle/>
              <a:p>
                <a:r>
                  <a:rPr lang="en-US" sz="3200" u="sng" dirty="0" smtClean="0">
                    <a:latin typeface="Crimson Roman" panose="020B0604020202020204" charset="0"/>
                  </a:rPr>
                  <a:t>Giải:</a:t>
                </a:r>
              </a:p>
              <a:p>
                <a:pPr marL="457200" indent="-457200">
                  <a:buFontTx/>
                  <a:buChar char="-"/>
                </a:pPr>
                <a:r>
                  <a:rPr lang="en-US" sz="3200" dirty="0" smtClean="0">
                    <a:latin typeface="Crimson Roman" panose="020B0604020202020204" charset="0"/>
                  </a:rPr>
                  <a:t>Gọi A1 là tập các số chia hết cho 3, A2 là tập các số chia hết cho 4, A3 là tập các số chia hết cho 7. Khi đó:</a:t>
                </a:r>
              </a:p>
              <a:p>
                <a:pPr/>
                <a14:m>
                  <m:oMathPara xmlns:m="http://schemas.openxmlformats.org/officeDocument/2006/math">
                    <m:oMathParaPr>
                      <m:jc m:val="centerGroup"/>
                    </m:oMathParaPr>
                    <m:oMath xmlns:m="http://schemas.openxmlformats.org/officeDocument/2006/math">
                      <m:r>
                        <a:rPr lang="en-US" sz="3200" i="1">
                          <a:solidFill>
                            <a:srgbClr val="202020"/>
                          </a:solidFill>
                          <a:latin typeface="Cambria Math" panose="02040503050406030204" pitchFamily="18" charset="0"/>
                        </a:rPr>
                        <m:t>𝑁</m:t>
                      </m:r>
                      <m:d>
                        <m:dPr>
                          <m:ctrlPr>
                            <a:rPr lang="en-US" sz="3200" i="1">
                              <a:solidFill>
                                <a:srgbClr val="202020"/>
                              </a:solidFill>
                              <a:latin typeface="Cambria Math" panose="02040503050406030204" pitchFamily="18" charset="0"/>
                            </a:rPr>
                          </m:ctrlPr>
                        </m:dPr>
                        <m:e>
                          <m:r>
                            <a:rPr lang="en-US" sz="3200" i="1">
                              <a:solidFill>
                                <a:srgbClr val="202020"/>
                              </a:solidFill>
                              <a:latin typeface="Cambria Math" panose="02040503050406030204" pitchFamily="18" charset="0"/>
                            </a:rPr>
                            <m:t>𝐴</m:t>
                          </m:r>
                          <m:r>
                            <a:rPr lang="en-US" sz="3200" i="1" baseline="-25000">
                              <a:solidFill>
                                <a:srgbClr val="202020"/>
                              </a:solidFill>
                              <a:latin typeface="Cambria Math" panose="02040503050406030204" pitchFamily="18" charset="0"/>
                            </a:rPr>
                            <m:t>1</m:t>
                          </m:r>
                          <m:r>
                            <a:rPr lang="en-US" sz="3200" i="1">
                              <a:solidFill>
                                <a:srgbClr val="202020"/>
                              </a:solidFill>
                              <a:latin typeface="Cambria Math" panose="02040503050406030204" pitchFamily="18" charset="0"/>
                              <a:ea typeface="Cambria Math" panose="02040503050406030204" pitchFamily="18" charset="0"/>
                            </a:rPr>
                            <m:t>∪</m:t>
                          </m:r>
                          <m:r>
                            <a:rPr lang="en-US" sz="3200" i="1">
                              <a:solidFill>
                                <a:srgbClr val="202020"/>
                              </a:solidFill>
                              <a:latin typeface="Cambria Math" panose="02040503050406030204" pitchFamily="18" charset="0"/>
                              <a:ea typeface="Cambria Math" panose="02040503050406030204" pitchFamily="18" charset="0"/>
                            </a:rPr>
                            <m:t>𝐴</m:t>
                          </m:r>
                          <m:r>
                            <a:rPr lang="en-US" sz="3200" i="1" baseline="-25000">
                              <a:solidFill>
                                <a:srgbClr val="202020"/>
                              </a:solidFill>
                              <a:latin typeface="Cambria Math" panose="02040503050406030204" pitchFamily="18" charset="0"/>
                              <a:ea typeface="Cambria Math" panose="02040503050406030204" pitchFamily="18" charset="0"/>
                            </a:rPr>
                            <m:t>2</m:t>
                          </m:r>
                          <m:r>
                            <a:rPr lang="en-US" sz="3200" i="1">
                              <a:solidFill>
                                <a:srgbClr val="202020"/>
                              </a:solidFill>
                              <a:latin typeface="Cambria Math" panose="02040503050406030204" pitchFamily="18" charset="0"/>
                              <a:ea typeface="Cambria Math" panose="02040503050406030204" pitchFamily="18" charset="0"/>
                            </a:rPr>
                            <m:t>∪</m:t>
                          </m:r>
                          <m:r>
                            <a:rPr lang="en-US" sz="3200" i="1">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3</m:t>
                          </m:r>
                        </m:e>
                      </m:d>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𝑁</m:t>
                      </m:r>
                      <m:d>
                        <m:dPr>
                          <m:ctrlPr>
                            <a:rPr lang="en-US" sz="3200" b="0" i="1" smtClean="0">
                              <a:solidFill>
                                <a:srgbClr val="202020"/>
                              </a:solidFill>
                              <a:latin typeface="Cambria Math" panose="02040503050406030204" pitchFamily="18" charset="0"/>
                              <a:ea typeface="Cambria Math" panose="02040503050406030204" pitchFamily="18" charset="0"/>
                            </a:rPr>
                          </m:ctrlPr>
                        </m:dPr>
                        <m:e>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1</m:t>
                          </m:r>
                        </m:e>
                      </m:d>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𝑁</m:t>
                      </m:r>
                      <m:d>
                        <m:dPr>
                          <m:ctrlPr>
                            <a:rPr lang="en-US" sz="3200" b="0" i="1" smtClean="0">
                              <a:solidFill>
                                <a:srgbClr val="202020"/>
                              </a:solidFill>
                              <a:latin typeface="Cambria Math" panose="02040503050406030204" pitchFamily="18" charset="0"/>
                              <a:ea typeface="Cambria Math" panose="02040503050406030204" pitchFamily="18" charset="0"/>
                            </a:rPr>
                          </m:ctrlPr>
                        </m:dPr>
                        <m:e>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2</m:t>
                          </m:r>
                        </m:e>
                      </m:d>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𝑁</m:t>
                      </m:r>
                      <m:d>
                        <m:dPr>
                          <m:ctrlPr>
                            <a:rPr lang="en-US" sz="3200" b="0" i="1" smtClean="0">
                              <a:solidFill>
                                <a:srgbClr val="202020"/>
                              </a:solidFill>
                              <a:latin typeface="Cambria Math" panose="02040503050406030204" pitchFamily="18" charset="0"/>
                              <a:ea typeface="Cambria Math" panose="02040503050406030204" pitchFamily="18" charset="0"/>
                            </a:rPr>
                          </m:ctrlPr>
                        </m:dPr>
                        <m:e>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3</m:t>
                          </m:r>
                        </m:e>
                      </m:d>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𝑁</m:t>
                      </m:r>
                      <m:d>
                        <m:dPr>
                          <m:ctrlPr>
                            <a:rPr lang="en-US" sz="3200" b="0" i="1" smtClean="0">
                              <a:solidFill>
                                <a:srgbClr val="202020"/>
                              </a:solidFill>
                              <a:latin typeface="Cambria Math" panose="02040503050406030204" pitchFamily="18" charset="0"/>
                              <a:ea typeface="Cambria Math" panose="02040503050406030204" pitchFamily="18" charset="0"/>
                            </a:rPr>
                          </m:ctrlPr>
                        </m:dPr>
                        <m:e>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1</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2</m:t>
                          </m:r>
                        </m:e>
                      </m:d>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𝑁</m:t>
                      </m:r>
                      <m:d>
                        <m:dPr>
                          <m:ctrlPr>
                            <a:rPr lang="en-US" sz="3200" b="0" i="1" smtClean="0">
                              <a:solidFill>
                                <a:srgbClr val="202020"/>
                              </a:solidFill>
                              <a:latin typeface="Cambria Math" panose="02040503050406030204" pitchFamily="18" charset="0"/>
                              <a:ea typeface="Cambria Math" panose="02040503050406030204" pitchFamily="18" charset="0"/>
                            </a:rPr>
                          </m:ctrlPr>
                        </m:dPr>
                        <m:e>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1</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3</m:t>
                          </m:r>
                        </m:e>
                      </m:d>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𝑁</m:t>
                      </m:r>
                      <m:d>
                        <m:dPr>
                          <m:ctrlPr>
                            <a:rPr lang="en-US" sz="3200" b="0" i="1" smtClean="0">
                              <a:solidFill>
                                <a:srgbClr val="202020"/>
                              </a:solidFill>
                              <a:latin typeface="Cambria Math" panose="02040503050406030204" pitchFamily="18" charset="0"/>
                              <a:ea typeface="Cambria Math" panose="02040503050406030204" pitchFamily="18" charset="0"/>
                            </a:rPr>
                          </m:ctrlPr>
                        </m:dPr>
                        <m:e>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2</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3</m:t>
                          </m:r>
                        </m:e>
                      </m:d>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𝑁</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1</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2</m:t>
                      </m:r>
                      <m:r>
                        <a:rPr lang="en-US" sz="3200" b="0" i="1" smtClean="0">
                          <a:solidFill>
                            <a:srgbClr val="202020"/>
                          </a:solidFill>
                          <a:latin typeface="Cambria Math" panose="02040503050406030204" pitchFamily="18" charset="0"/>
                          <a:ea typeface="Cambria Math" panose="02040503050406030204" pitchFamily="18" charset="0"/>
                        </a:rPr>
                        <m:t>∩</m:t>
                      </m:r>
                      <m:r>
                        <a:rPr lang="en-US" sz="3200" b="0" i="1" smtClean="0">
                          <a:solidFill>
                            <a:srgbClr val="202020"/>
                          </a:solidFill>
                          <a:latin typeface="Cambria Math" panose="02040503050406030204" pitchFamily="18" charset="0"/>
                          <a:ea typeface="Cambria Math" panose="02040503050406030204" pitchFamily="18" charset="0"/>
                        </a:rPr>
                        <m:t>𝐴</m:t>
                      </m:r>
                      <m:r>
                        <a:rPr lang="en-US" sz="3200" b="0" i="1" baseline="-25000" smtClean="0">
                          <a:solidFill>
                            <a:srgbClr val="202020"/>
                          </a:solidFill>
                          <a:latin typeface="Cambria Math" panose="02040503050406030204" pitchFamily="18" charset="0"/>
                          <a:ea typeface="Cambria Math" panose="02040503050406030204" pitchFamily="18" charset="0"/>
                        </a:rPr>
                        <m:t>3</m:t>
                      </m:r>
                      <m:r>
                        <a:rPr lang="en-US" sz="3200" b="0" i="1" smtClean="0">
                          <a:solidFill>
                            <a:srgbClr val="202020"/>
                          </a:solidFill>
                          <a:latin typeface="Cambria Math" panose="02040503050406030204" pitchFamily="18" charset="0"/>
                          <a:ea typeface="Cambria Math" panose="02040503050406030204" pitchFamily="18" charset="0"/>
                        </a:rPr>
                        <m:t>)</m:t>
                      </m:r>
                    </m:oMath>
                  </m:oMathPara>
                </a14:m>
                <a:endParaRPr lang="en-US" sz="3200" dirty="0" smtClean="0">
                  <a:latin typeface="Crimson Roman" panose="020B0604020202020204" charset="0"/>
                </a:endParaRPr>
              </a:p>
              <a:p>
                <a:endParaRPr lang="en-US" sz="3200" dirty="0" smtClean="0">
                  <a:latin typeface="Crimson Roman" panose="020B060402020202020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028700" y="4587687"/>
                <a:ext cx="11358778" cy="3516732"/>
              </a:xfrm>
              <a:prstGeom prst="rect">
                <a:avLst/>
              </a:prstGeom>
              <a:blipFill>
                <a:blip r:embed="rId8"/>
                <a:stretch>
                  <a:fillRect l="-2040" t="-2257" r="-1932"/>
                </a:stretch>
              </a:blipFill>
            </p:spPr>
            <p:txBody>
              <a:bodyPr/>
              <a:lstStyle/>
              <a:p>
                <a:r>
                  <a:rPr lang="en-US">
                    <a:noFill/>
                  </a:rPr>
                  <a:t> </a:t>
                </a:r>
              </a:p>
            </p:txBody>
          </p:sp>
        </mc:Fallback>
      </mc:AlternateContent>
    </p:spTree>
    <p:extLst>
      <p:ext uri="{BB962C8B-B14F-4D97-AF65-F5344CB8AC3E}">
        <p14:creationId xmlns:p14="http://schemas.microsoft.com/office/powerpoint/2010/main" val="5995123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4215781" y="6899719"/>
            <a:ext cx="2418104" cy="2358581"/>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4215781" y="3837048"/>
            <a:ext cx="2418104" cy="2554230"/>
          </a:xfrm>
          <a:prstGeom prst="rect">
            <a:avLst/>
          </a:prstGeom>
        </p:spPr>
      </p:pic>
      <p:pic>
        <p:nvPicPr>
          <p:cNvPr id="4" name="Picture 4"/>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4215781" y="1028700"/>
            <a:ext cx="2418104" cy="2299907"/>
          </a:xfrm>
          <a:prstGeom prst="rect">
            <a:avLst/>
          </a:prstGeom>
        </p:spPr>
      </p:pic>
      <p:sp>
        <p:nvSpPr>
          <p:cNvPr id="5" name="AutoShape 5"/>
          <p:cNvSpPr/>
          <p:nvPr/>
        </p:nvSpPr>
        <p:spPr>
          <a:xfrm>
            <a:off x="12387478" y="1028700"/>
            <a:ext cx="9525" cy="8229600"/>
          </a:xfrm>
          <a:prstGeom prst="rect">
            <a:avLst/>
          </a:prstGeom>
          <a:solidFill>
            <a:srgbClr val="3D3D3D"/>
          </a:solidFill>
        </p:spPr>
      </p:sp>
      <p:sp>
        <p:nvSpPr>
          <p:cNvPr id="7" name="TextBox 7"/>
          <p:cNvSpPr txBox="1"/>
          <p:nvPr/>
        </p:nvSpPr>
        <p:spPr>
          <a:xfrm>
            <a:off x="1028700" y="539514"/>
            <a:ext cx="9539999" cy="1410643"/>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Ví dụ 3</a:t>
            </a:r>
            <a:endParaRPr lang="en-US" sz="8800" dirty="0">
              <a:solidFill>
                <a:srgbClr val="3849A2"/>
              </a:solidFill>
              <a:latin typeface="Crimson Roman" panose="020B0604020202020204" charset="0"/>
            </a:endParaRPr>
          </a:p>
        </p:txBody>
      </p:sp>
      <mc:AlternateContent xmlns:mc="http://schemas.openxmlformats.org/markup-compatibility/2006" xmlns:a14="http://schemas.microsoft.com/office/drawing/2010/main">
        <mc:Choice Requires="a14">
          <p:sp>
            <p:nvSpPr>
              <p:cNvPr id="9" name="TextBox 8"/>
              <p:cNvSpPr txBox="1"/>
              <p:nvPr/>
            </p:nvSpPr>
            <p:spPr>
              <a:xfrm>
                <a:off x="1028700" y="1953088"/>
                <a:ext cx="11358778" cy="7914474"/>
              </a:xfrm>
              <a:prstGeom prst="rect">
                <a:avLst/>
              </a:prstGeom>
              <a:noFill/>
            </p:spPr>
            <p:txBody>
              <a:bodyPr wrap="square" rtlCol="0">
                <a:spAutoFit/>
              </a:bodyPr>
              <a:lstStyle/>
              <a:p>
                <a:r>
                  <a:rPr lang="en-US" sz="3200" u="sng" dirty="0" smtClean="0">
                    <a:latin typeface="Crimson Roman" panose="020B0604020202020204" charset="0"/>
                  </a:rPr>
                  <a:t>Giải:</a:t>
                </a:r>
              </a:p>
              <a:p>
                <a:r>
                  <a:rPr lang="en-US" sz="3200" dirty="0" smtClean="0">
                    <a:latin typeface="Crimson Roman" panose="020B0604020202020204" charset="0"/>
                  </a:rPr>
                  <a:t>Tính toán trực tiếp các giá trị ta có:</a:t>
                </a:r>
              </a:p>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𝑁</m:t>
                      </m:r>
                      <m:r>
                        <a:rPr lang="en-US" sz="3200" b="0" i="1" baseline="-25000" smtClean="0">
                          <a:latin typeface="Cambria Math" panose="02040503050406030204" pitchFamily="18" charset="0"/>
                        </a:rPr>
                        <m:t>1</m:t>
                      </m:r>
                      <m:r>
                        <a:rPr lang="en-US" sz="3200" b="0" i="1" smtClean="0">
                          <a:latin typeface="Cambria Math" panose="02040503050406030204" pitchFamily="18" charset="0"/>
                        </a:rPr>
                        <m:t>=</m:t>
                      </m:r>
                      <m:r>
                        <a:rPr lang="en-US" sz="3200" b="0" i="1" smtClean="0">
                          <a:latin typeface="Cambria Math" panose="02040503050406030204" pitchFamily="18" charset="0"/>
                        </a:rPr>
                        <m:t>𝑁</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𝐴</m:t>
                          </m:r>
                          <m:r>
                            <a:rPr lang="en-US" sz="3200" b="0" i="1" baseline="-25000" smtClean="0">
                              <a:latin typeface="Cambria Math" panose="02040503050406030204" pitchFamily="18" charset="0"/>
                            </a:rPr>
                            <m:t>1</m:t>
                          </m:r>
                        </m:e>
                      </m:d>
                      <m:r>
                        <a:rPr lang="en-US" sz="3200" b="0" i="1" smtClean="0">
                          <a:latin typeface="Cambria Math" panose="02040503050406030204" pitchFamily="18" charset="0"/>
                        </a:rPr>
                        <m:t>+</m:t>
                      </m:r>
                      <m:r>
                        <a:rPr lang="en-US" sz="3200" b="0" i="1" smtClean="0">
                          <a:latin typeface="Cambria Math" panose="02040503050406030204" pitchFamily="18" charset="0"/>
                        </a:rPr>
                        <m:t>𝑁</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𝐴</m:t>
                          </m:r>
                          <m:r>
                            <a:rPr lang="en-US" sz="3200" b="0" i="1" baseline="-25000" smtClean="0">
                              <a:latin typeface="Cambria Math" panose="02040503050406030204" pitchFamily="18" charset="0"/>
                            </a:rPr>
                            <m:t>2</m:t>
                          </m:r>
                        </m:e>
                      </m:d>
                      <m:r>
                        <a:rPr lang="en-US" sz="3200" b="0" i="1" smtClean="0">
                          <a:latin typeface="Cambria Math" panose="02040503050406030204" pitchFamily="18" charset="0"/>
                        </a:rPr>
                        <m:t>+</m:t>
                      </m:r>
                      <m:r>
                        <a:rPr lang="en-US" sz="3200" b="0" i="1" smtClean="0">
                          <a:latin typeface="Cambria Math" panose="02040503050406030204" pitchFamily="18" charset="0"/>
                        </a:rPr>
                        <m:t>𝑁</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𝐴</m:t>
                          </m:r>
                          <m:r>
                            <a:rPr lang="en-US" sz="3200" b="0" i="1" baseline="-25000" smtClean="0">
                              <a:latin typeface="Cambria Math" panose="02040503050406030204" pitchFamily="18" charset="0"/>
                            </a:rPr>
                            <m:t>3</m:t>
                          </m:r>
                        </m:e>
                      </m:d>
                    </m:oMath>
                  </m:oMathPara>
                </a14:m>
                <a:endParaRPr lang="en-US" sz="3200" b="0" i="1" dirty="0" smtClean="0">
                  <a:latin typeface="Cambria Math" panose="02040503050406030204" pitchFamily="18" charset="0"/>
                </a:endParaRPr>
              </a:p>
              <a:p>
                <a:r>
                  <a:rPr lang="en-US" sz="3200" b="0" dirty="0" smtClean="0"/>
                  <a:t>                                      </a:t>
                </a:r>
                <a14:m>
                  <m:oMath xmlns:m="http://schemas.openxmlformats.org/officeDocument/2006/math">
                    <m:r>
                      <a:rPr lang="en-US" sz="3200" b="0" i="1" smtClean="0">
                        <a:latin typeface="Cambria Math" panose="02040503050406030204" pitchFamily="18" charset="0"/>
                      </a:rPr>
                      <m:t>= </m:t>
                    </m:r>
                    <m:d>
                      <m:dPr>
                        <m:begChr m:val="["/>
                        <m:endChr m:val="]"/>
                        <m:ctrlPr>
                          <a:rPr lang="en-US" sz="3200" b="0" i="1" smtClean="0">
                            <a:latin typeface="Cambria Math" panose="02040503050406030204" pitchFamily="18" charset="0"/>
                          </a:rPr>
                        </m:ctrlPr>
                      </m:dPr>
                      <m:e>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10000</m:t>
                            </m:r>
                          </m:num>
                          <m:den>
                            <m:r>
                              <a:rPr lang="en-US" sz="3200" b="0" i="1" smtClean="0">
                                <a:latin typeface="Cambria Math" panose="02040503050406030204" pitchFamily="18" charset="0"/>
                              </a:rPr>
                              <m:t>3</m:t>
                            </m:r>
                          </m:den>
                        </m:f>
                      </m:e>
                    </m:d>
                    <m:r>
                      <a:rPr lang="en-US" sz="3200" b="0" i="1" smtClean="0">
                        <a:latin typeface="Cambria Math" panose="02040503050406030204" pitchFamily="18" charset="0"/>
                      </a:rPr>
                      <m:t>+</m:t>
                    </m:r>
                    <m:d>
                      <m:dPr>
                        <m:begChr m:val="["/>
                        <m:endChr m:val="]"/>
                        <m:ctrlPr>
                          <a:rPr lang="en-US"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10000</m:t>
                            </m:r>
                          </m:num>
                          <m:den>
                            <m:r>
                              <a:rPr lang="en-US" sz="3200" b="0" i="1" smtClean="0">
                                <a:latin typeface="Cambria Math" panose="02040503050406030204" pitchFamily="18" charset="0"/>
                              </a:rPr>
                              <m:t>4</m:t>
                            </m:r>
                          </m:den>
                        </m:f>
                      </m:e>
                    </m:d>
                  </m:oMath>
                </a14:m>
                <a:r>
                  <a:rPr lang="en-US" sz="3200" dirty="0" smtClean="0">
                    <a:latin typeface="Crimson Roman" panose="020B0604020202020204" charset="0"/>
                  </a:rPr>
                  <a:t> + </a:t>
                </a:r>
                <a14:m>
                  <m:oMath xmlns:m="http://schemas.openxmlformats.org/officeDocument/2006/math">
                    <m:d>
                      <m:dPr>
                        <m:begChr m:val="["/>
                        <m:endChr m:val="]"/>
                        <m:ctrlPr>
                          <a:rPr lang="en-US"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10000</m:t>
                            </m:r>
                          </m:num>
                          <m:den>
                            <m:r>
                              <a:rPr lang="en-US" sz="3200" b="0" i="1" smtClean="0">
                                <a:latin typeface="Cambria Math" panose="02040503050406030204" pitchFamily="18" charset="0"/>
                              </a:rPr>
                              <m:t>7</m:t>
                            </m:r>
                          </m:den>
                        </m:f>
                      </m:e>
                    </m:d>
                  </m:oMath>
                </a14:m>
                <a:endParaRPr lang="en-US" sz="3200" dirty="0" smtClean="0">
                  <a:latin typeface="Crimson Roman" panose="020B0604020202020204" charset="0"/>
                </a:endParaRPr>
              </a:p>
              <a:p>
                <a:r>
                  <a:rPr lang="en-US" sz="3200" dirty="0">
                    <a:latin typeface="Crimson Roman" panose="020B0604020202020204" charset="0"/>
                  </a:rPr>
                  <a:t> </a:t>
                </a:r>
                <a:r>
                  <a:rPr lang="en-US" sz="3200" dirty="0" smtClean="0">
                    <a:latin typeface="Crimson Roman" panose="020B0604020202020204" charset="0"/>
                  </a:rPr>
                  <a:t>                                      </a:t>
                </a:r>
                <a14:m>
                  <m:oMath xmlns:m="http://schemas.openxmlformats.org/officeDocument/2006/math">
                    <m:r>
                      <a:rPr lang="en-US" sz="3200" b="0" i="1" smtClean="0">
                        <a:latin typeface="Cambria Math" panose="02040503050406030204" pitchFamily="18" charset="0"/>
                      </a:rPr>
                      <m:t>=3333+2500+1428=7261</m:t>
                    </m:r>
                  </m:oMath>
                </a14:m>
                <a:endParaRPr lang="en-US" sz="3200" dirty="0" smtClean="0">
                  <a:latin typeface="Crimson Roman" panose="020B0604020202020204" charset="0"/>
                </a:endParaRPr>
              </a:p>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𝑁</m:t>
                      </m:r>
                      <m:r>
                        <a:rPr lang="en-US" sz="3200" b="0" i="1" baseline="-25000" smtClean="0">
                          <a:latin typeface="Cambria Math" panose="02040503050406030204" pitchFamily="18" charset="0"/>
                        </a:rPr>
                        <m:t>2</m:t>
                      </m:r>
                      <m:r>
                        <a:rPr lang="en-US" sz="3200" i="1">
                          <a:latin typeface="Cambria Math" panose="02040503050406030204" pitchFamily="18" charset="0"/>
                        </a:rPr>
                        <m:t>=</m:t>
                      </m:r>
                      <m:r>
                        <a:rPr lang="en-US" sz="3200" i="1">
                          <a:latin typeface="Cambria Math" panose="02040503050406030204" pitchFamily="18" charset="0"/>
                        </a:rPr>
                        <m:t>𝑁</m:t>
                      </m:r>
                      <m:d>
                        <m:dPr>
                          <m:ctrlPr>
                            <a:rPr lang="en-US" sz="3200" i="1" smtClean="0">
                              <a:latin typeface="Cambria Math" panose="02040503050406030204" pitchFamily="18" charset="0"/>
                            </a:rPr>
                          </m:ctrlPr>
                        </m:dPr>
                        <m:e>
                          <m:r>
                            <a:rPr lang="en-US" sz="3200" i="1">
                              <a:latin typeface="Cambria Math" panose="02040503050406030204" pitchFamily="18" charset="0"/>
                            </a:rPr>
                            <m:t>𝐴</m:t>
                          </m:r>
                          <m:r>
                            <a:rPr lang="en-US" sz="3200" i="1" baseline="-25000">
                              <a:latin typeface="Cambria Math" panose="02040503050406030204" pitchFamily="18" charset="0"/>
                            </a:rPr>
                            <m:t>1</m:t>
                          </m:r>
                          <m:r>
                            <a:rPr lang="en-US" sz="320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𝐴</m:t>
                          </m:r>
                          <m:r>
                            <a:rPr lang="en-US" sz="3200" b="0" i="1" baseline="-25000" smtClean="0">
                              <a:latin typeface="Cambria Math" panose="02040503050406030204" pitchFamily="18" charset="0"/>
                              <a:ea typeface="Cambria Math" panose="02040503050406030204" pitchFamily="18" charset="0"/>
                            </a:rPr>
                            <m:t>2</m:t>
                          </m:r>
                        </m:e>
                      </m:d>
                      <m:r>
                        <a:rPr lang="en-US" sz="3200" i="1">
                          <a:latin typeface="Cambria Math" panose="02040503050406030204" pitchFamily="18" charset="0"/>
                        </a:rPr>
                        <m:t>+</m:t>
                      </m:r>
                      <m:r>
                        <a:rPr lang="en-US" sz="3200" i="1">
                          <a:latin typeface="Cambria Math" panose="02040503050406030204" pitchFamily="18" charset="0"/>
                        </a:rPr>
                        <m:t>𝑁</m:t>
                      </m:r>
                      <m:d>
                        <m:dPr>
                          <m:ctrlPr>
                            <a:rPr lang="en-US" sz="3200" i="1">
                              <a:latin typeface="Cambria Math" panose="02040503050406030204" pitchFamily="18" charset="0"/>
                            </a:rPr>
                          </m:ctrlPr>
                        </m:dPr>
                        <m:e>
                          <m:r>
                            <a:rPr lang="en-US" sz="3200" i="1">
                              <a:latin typeface="Cambria Math" panose="02040503050406030204" pitchFamily="18" charset="0"/>
                            </a:rPr>
                            <m:t>𝐴</m:t>
                          </m:r>
                          <m:r>
                            <a:rPr lang="en-US" sz="3200" b="0" i="1" baseline="-25000" smtClean="0">
                              <a:latin typeface="Cambria Math" panose="02040503050406030204" pitchFamily="18" charset="0"/>
                            </a:rPr>
                            <m:t>1</m:t>
                          </m:r>
                          <m:r>
                            <a:rPr lang="en-US" sz="320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𝐴</m:t>
                          </m:r>
                          <m:r>
                            <a:rPr lang="en-US" sz="3200" b="0" i="1" baseline="-25000" smtClean="0">
                              <a:latin typeface="Cambria Math" panose="02040503050406030204" pitchFamily="18" charset="0"/>
                              <a:ea typeface="Cambria Math" panose="02040503050406030204" pitchFamily="18" charset="0"/>
                            </a:rPr>
                            <m:t>3</m:t>
                          </m:r>
                        </m:e>
                      </m:d>
                      <m:r>
                        <a:rPr lang="en-US" sz="3200" i="1">
                          <a:latin typeface="Cambria Math" panose="02040503050406030204" pitchFamily="18" charset="0"/>
                        </a:rPr>
                        <m:t>+</m:t>
                      </m:r>
                      <m:r>
                        <a:rPr lang="en-US" sz="3200" i="1">
                          <a:latin typeface="Cambria Math" panose="02040503050406030204" pitchFamily="18" charset="0"/>
                        </a:rPr>
                        <m:t>𝑁</m:t>
                      </m:r>
                      <m:d>
                        <m:dPr>
                          <m:ctrlPr>
                            <a:rPr lang="en-US" sz="3200" i="1">
                              <a:latin typeface="Cambria Math" panose="02040503050406030204" pitchFamily="18" charset="0"/>
                            </a:rPr>
                          </m:ctrlPr>
                        </m:dPr>
                        <m:e>
                          <m:r>
                            <a:rPr lang="en-US" sz="3200" i="1">
                              <a:latin typeface="Cambria Math" panose="02040503050406030204" pitchFamily="18" charset="0"/>
                            </a:rPr>
                            <m:t>𝐴</m:t>
                          </m:r>
                          <m:r>
                            <a:rPr lang="en-US" sz="3200" b="0" i="1" baseline="-25000" smtClean="0">
                              <a:latin typeface="Cambria Math" panose="02040503050406030204" pitchFamily="18" charset="0"/>
                            </a:rPr>
                            <m:t>2</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𝐴</m:t>
                          </m:r>
                          <m:r>
                            <a:rPr lang="en-US" sz="3200" b="0" i="1" baseline="-25000" smtClean="0">
                              <a:latin typeface="Cambria Math" panose="02040503050406030204" pitchFamily="18" charset="0"/>
                              <a:ea typeface="Cambria Math" panose="02040503050406030204" pitchFamily="18" charset="0"/>
                            </a:rPr>
                            <m:t>3</m:t>
                          </m:r>
                        </m:e>
                      </m:d>
                    </m:oMath>
                  </m:oMathPara>
                </a14:m>
                <a:endParaRPr lang="en-US" sz="3200" i="1" dirty="0">
                  <a:latin typeface="Cambria Math" panose="02040503050406030204" pitchFamily="18" charset="0"/>
                </a:endParaRPr>
              </a:p>
              <a:p>
                <a:r>
                  <a:rPr lang="en-US" sz="3200" dirty="0"/>
                  <a:t>                                      </a:t>
                </a:r>
                <a14:m>
                  <m:oMath xmlns:m="http://schemas.openxmlformats.org/officeDocument/2006/math">
                    <m:r>
                      <a:rPr lang="en-US" sz="3200" i="1">
                        <a:latin typeface="Cambria Math" panose="02040503050406030204" pitchFamily="18" charset="0"/>
                      </a:rPr>
                      <m:t>= </m:t>
                    </m:r>
                    <m:d>
                      <m:dPr>
                        <m:begChr m:val="["/>
                        <m:endChr m:val="]"/>
                        <m:ctrlPr>
                          <a:rPr lang="en-US"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10000</m:t>
                            </m:r>
                          </m:num>
                          <m:den>
                            <m:r>
                              <a:rPr lang="en-US" sz="3200" i="1">
                                <a:latin typeface="Cambria Math" panose="02040503050406030204" pitchFamily="18" charset="0"/>
                              </a:rPr>
                              <m:t>3</m:t>
                            </m:r>
                            <m:r>
                              <a:rPr lang="en-US" sz="3200" b="0" i="1" smtClean="0">
                                <a:latin typeface="Cambria Math" panose="02040503050406030204" pitchFamily="18" charset="0"/>
                              </a:rPr>
                              <m:t>.4</m:t>
                            </m:r>
                          </m:den>
                        </m:f>
                      </m:e>
                    </m:d>
                    <m:r>
                      <a:rPr lang="en-US" sz="3200" i="1">
                        <a:latin typeface="Cambria Math" panose="02040503050406030204" pitchFamily="18" charset="0"/>
                      </a:rPr>
                      <m:t>+</m:t>
                    </m:r>
                    <m:d>
                      <m:dPr>
                        <m:begChr m:val="["/>
                        <m:endChr m:val="]"/>
                        <m:ctrlPr>
                          <a:rPr lang="en-US"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10000</m:t>
                            </m:r>
                          </m:num>
                          <m:den>
                            <m:r>
                              <a:rPr lang="en-US" sz="3200" b="0" i="1" smtClean="0">
                                <a:latin typeface="Cambria Math" panose="02040503050406030204" pitchFamily="18" charset="0"/>
                              </a:rPr>
                              <m:t>3.7</m:t>
                            </m:r>
                          </m:den>
                        </m:f>
                      </m:e>
                    </m:d>
                  </m:oMath>
                </a14:m>
                <a:r>
                  <a:rPr lang="en-US" sz="3200" dirty="0">
                    <a:latin typeface="Crimson Roman" panose="020B0604020202020204" charset="0"/>
                  </a:rPr>
                  <a:t> + </a:t>
                </a:r>
                <a14:m>
                  <m:oMath xmlns:m="http://schemas.openxmlformats.org/officeDocument/2006/math">
                    <m:d>
                      <m:dPr>
                        <m:begChr m:val="["/>
                        <m:endChr m:val="]"/>
                        <m:ctrlPr>
                          <a:rPr lang="en-US"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10000</m:t>
                            </m:r>
                          </m:num>
                          <m:den>
                            <m:r>
                              <a:rPr lang="en-US" sz="3200" b="0" i="1" smtClean="0">
                                <a:latin typeface="Cambria Math" panose="02040503050406030204" pitchFamily="18" charset="0"/>
                              </a:rPr>
                              <m:t>4.7</m:t>
                            </m:r>
                          </m:den>
                        </m:f>
                      </m:e>
                    </m:d>
                  </m:oMath>
                </a14:m>
                <a:endParaRPr lang="en-US" sz="3200" dirty="0">
                  <a:latin typeface="Crimson Roman" panose="020B0604020202020204" charset="0"/>
                </a:endParaRPr>
              </a:p>
              <a:p>
                <a:r>
                  <a:rPr lang="en-US" sz="3200" dirty="0">
                    <a:latin typeface="Crimson Roman" panose="020B0604020202020204" charset="0"/>
                  </a:rPr>
                  <a:t>                                       </a:t>
                </a:r>
                <a14:m>
                  <m:oMath xmlns:m="http://schemas.openxmlformats.org/officeDocument/2006/math">
                    <m:r>
                      <a:rPr lang="en-US" sz="3200" i="1">
                        <a:latin typeface="Cambria Math" panose="02040503050406030204" pitchFamily="18" charset="0"/>
                      </a:rPr>
                      <m:t>=</m:t>
                    </m:r>
                    <m:r>
                      <a:rPr lang="en-US" sz="3200" b="0" i="1" smtClean="0">
                        <a:latin typeface="Cambria Math" panose="02040503050406030204" pitchFamily="18" charset="0"/>
                      </a:rPr>
                      <m:t>833</m:t>
                    </m:r>
                    <m:r>
                      <a:rPr lang="en-US" sz="3200" i="1">
                        <a:latin typeface="Cambria Math" panose="02040503050406030204" pitchFamily="18" charset="0"/>
                      </a:rPr>
                      <m:t>+</m:t>
                    </m:r>
                    <m:r>
                      <a:rPr lang="en-US" sz="3200" b="0" i="1" smtClean="0">
                        <a:latin typeface="Cambria Math" panose="02040503050406030204" pitchFamily="18" charset="0"/>
                      </a:rPr>
                      <m:t>476</m:t>
                    </m:r>
                    <m:r>
                      <a:rPr lang="en-US" sz="3200" i="1">
                        <a:latin typeface="Cambria Math" panose="02040503050406030204" pitchFamily="18" charset="0"/>
                      </a:rPr>
                      <m:t>+</m:t>
                    </m:r>
                    <m:r>
                      <a:rPr lang="en-US" sz="3200" b="0" i="1" smtClean="0">
                        <a:latin typeface="Cambria Math" panose="02040503050406030204" pitchFamily="18" charset="0"/>
                      </a:rPr>
                      <m:t>357</m:t>
                    </m:r>
                    <m:r>
                      <a:rPr lang="en-US" sz="3200" i="1">
                        <a:latin typeface="Cambria Math" panose="02040503050406030204" pitchFamily="18" charset="0"/>
                      </a:rPr>
                      <m:t>=</m:t>
                    </m:r>
                    <m:r>
                      <a:rPr lang="en-US" sz="3200" b="0" i="1" smtClean="0">
                        <a:latin typeface="Cambria Math" panose="02040503050406030204" pitchFamily="18" charset="0"/>
                      </a:rPr>
                      <m:t>1666</m:t>
                    </m:r>
                  </m:oMath>
                </a14:m>
                <a:endParaRPr lang="en-US" sz="3200" dirty="0">
                  <a:latin typeface="Crimson Roman" panose="020B0604020202020204" charset="0"/>
                </a:endParaRPr>
              </a:p>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𝑁</m:t>
                      </m:r>
                      <m:r>
                        <a:rPr lang="en-US" sz="3200" b="0" i="1" baseline="-25000" smtClean="0">
                          <a:latin typeface="Cambria Math" panose="02040503050406030204" pitchFamily="18" charset="0"/>
                        </a:rPr>
                        <m:t>3</m:t>
                      </m:r>
                      <m:r>
                        <a:rPr lang="en-US" sz="3200" i="1">
                          <a:latin typeface="Cambria Math" panose="02040503050406030204" pitchFamily="18" charset="0"/>
                        </a:rPr>
                        <m:t>=</m:t>
                      </m:r>
                      <m:r>
                        <a:rPr lang="en-US" sz="3200" i="1">
                          <a:latin typeface="Cambria Math" panose="02040503050406030204" pitchFamily="18" charset="0"/>
                        </a:rPr>
                        <m:t>𝑁</m:t>
                      </m:r>
                      <m:d>
                        <m:dPr>
                          <m:ctrlPr>
                            <a:rPr lang="en-US" sz="3200" i="1">
                              <a:latin typeface="Cambria Math" panose="02040503050406030204" pitchFamily="18" charset="0"/>
                            </a:rPr>
                          </m:ctrlPr>
                        </m:dPr>
                        <m:e>
                          <m:r>
                            <a:rPr lang="en-US" sz="3200" i="1">
                              <a:latin typeface="Cambria Math" panose="02040503050406030204" pitchFamily="18" charset="0"/>
                            </a:rPr>
                            <m:t>𝐴</m:t>
                          </m:r>
                          <m:r>
                            <a:rPr lang="en-US" sz="3200" i="1" baseline="-25000">
                              <a:latin typeface="Cambria Math" panose="02040503050406030204" pitchFamily="18" charset="0"/>
                            </a:rPr>
                            <m:t>1</m:t>
                          </m:r>
                          <m:r>
                            <a:rPr lang="en-US" sz="320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𝐴</m:t>
                          </m:r>
                          <m:r>
                            <a:rPr lang="en-US" sz="3200" b="0" i="1" baseline="-25000" smtClean="0">
                              <a:latin typeface="Cambria Math" panose="02040503050406030204" pitchFamily="18" charset="0"/>
                              <a:ea typeface="Cambria Math" panose="02040503050406030204" pitchFamily="18" charset="0"/>
                            </a:rPr>
                            <m:t>2</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𝐴</m:t>
                          </m:r>
                          <m:r>
                            <a:rPr lang="en-US" sz="3200" b="0" i="1" baseline="-25000" smtClean="0">
                              <a:latin typeface="Cambria Math" panose="02040503050406030204" pitchFamily="18" charset="0"/>
                              <a:ea typeface="Cambria Math" panose="02040503050406030204" pitchFamily="18" charset="0"/>
                            </a:rPr>
                            <m:t>3</m:t>
                          </m:r>
                        </m:e>
                      </m:d>
                      <m:r>
                        <a:rPr lang="en-US" sz="3200" i="1">
                          <a:latin typeface="Cambria Math" panose="02040503050406030204" pitchFamily="18" charset="0"/>
                        </a:rPr>
                        <m:t>=</m:t>
                      </m:r>
                      <m:d>
                        <m:dPr>
                          <m:begChr m:val="["/>
                          <m:endChr m:val="]"/>
                          <m:ctrlPr>
                            <a:rPr lang="en-US" sz="3200" i="1">
                              <a:latin typeface="Cambria Math" panose="02040503050406030204" pitchFamily="18" charset="0"/>
                            </a:rPr>
                          </m:ctrlPr>
                        </m:dPr>
                        <m:e>
                          <m:f>
                            <m:fPr>
                              <m:ctrlPr>
                                <a:rPr lang="en-US" sz="3200" i="1">
                                  <a:latin typeface="Cambria Math" panose="02040503050406030204" pitchFamily="18" charset="0"/>
                                </a:rPr>
                              </m:ctrlPr>
                            </m:fPr>
                            <m:num>
                              <m:r>
                                <a:rPr lang="en-US" sz="3200" i="1">
                                  <a:latin typeface="Cambria Math" panose="02040503050406030204" pitchFamily="18" charset="0"/>
                                </a:rPr>
                                <m:t>10000</m:t>
                              </m:r>
                            </m:num>
                            <m:den>
                              <m:r>
                                <a:rPr lang="en-US" sz="3200" i="1">
                                  <a:latin typeface="Cambria Math" panose="02040503050406030204" pitchFamily="18" charset="0"/>
                                </a:rPr>
                                <m:t>3</m:t>
                              </m:r>
                              <m:r>
                                <a:rPr lang="en-US" sz="3200" b="0" i="1" smtClean="0">
                                  <a:latin typeface="Cambria Math" panose="02040503050406030204" pitchFamily="18" charset="0"/>
                                </a:rPr>
                                <m:t>.4.7</m:t>
                              </m:r>
                            </m:den>
                          </m:f>
                        </m:e>
                      </m:d>
                      <m:r>
                        <a:rPr lang="en-US" sz="3200" b="0" i="1" smtClean="0">
                          <a:latin typeface="Cambria Math" panose="02040503050406030204" pitchFamily="18" charset="0"/>
                        </a:rPr>
                        <m:t>=119</m:t>
                      </m:r>
                    </m:oMath>
                  </m:oMathPara>
                </a14:m>
                <a:endParaRPr lang="en-US" sz="3200" dirty="0">
                  <a:latin typeface="Crimson Roman" panose="020B0604020202020204" charset="0"/>
                </a:endParaRPr>
              </a:p>
              <a:p>
                <a:r>
                  <a:rPr lang="en-US" sz="3200" dirty="0" smtClean="0">
                    <a:latin typeface="Cambria Math" panose="02040503050406030204" pitchFamily="18" charset="0"/>
                  </a:rPr>
                  <a:t>Từ đó ta có số các số chia hết cho 3, hoặc chia hết cho 4, hoặc chai hết cho 7 là:</a:t>
                </a:r>
              </a:p>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𝑁</m:t>
                      </m:r>
                      <m:r>
                        <a:rPr lang="en-US" sz="3200" b="0" i="1" smtClean="0">
                          <a:latin typeface="Cambria Math" panose="02040503050406030204" pitchFamily="18" charset="0"/>
                        </a:rPr>
                        <m:t>=</m:t>
                      </m:r>
                      <m:r>
                        <a:rPr lang="en-US" sz="3200" b="0" i="1" smtClean="0">
                          <a:latin typeface="Cambria Math" panose="02040503050406030204" pitchFamily="18" charset="0"/>
                        </a:rPr>
                        <m:t>𝑁</m:t>
                      </m:r>
                      <m:r>
                        <a:rPr lang="en-US" sz="3200" b="0" i="1" baseline="-25000" smtClean="0">
                          <a:latin typeface="Cambria Math" panose="02040503050406030204" pitchFamily="18" charset="0"/>
                        </a:rPr>
                        <m:t>1</m:t>
                      </m:r>
                      <m:r>
                        <a:rPr lang="en-US" sz="3200" b="0" i="1" smtClean="0">
                          <a:latin typeface="Cambria Math" panose="02040503050406030204" pitchFamily="18" charset="0"/>
                        </a:rPr>
                        <m:t> −</m:t>
                      </m:r>
                      <m:r>
                        <a:rPr lang="en-US" sz="3200" b="0" i="1" smtClean="0">
                          <a:latin typeface="Cambria Math" panose="02040503050406030204" pitchFamily="18" charset="0"/>
                        </a:rPr>
                        <m:t>𝑁</m:t>
                      </m:r>
                      <m:r>
                        <a:rPr lang="en-US" sz="3200" b="0" i="1" baseline="-25000" smtClean="0">
                          <a:latin typeface="Cambria Math" panose="02040503050406030204" pitchFamily="18" charset="0"/>
                        </a:rPr>
                        <m:t>2</m:t>
                      </m:r>
                      <m:r>
                        <a:rPr lang="en-US" sz="3200" b="0" i="1" smtClean="0">
                          <a:latin typeface="Cambria Math" panose="02040503050406030204" pitchFamily="18" charset="0"/>
                        </a:rPr>
                        <m:t>+</m:t>
                      </m:r>
                      <m:r>
                        <a:rPr lang="en-US" sz="3200" b="0" i="1" smtClean="0">
                          <a:latin typeface="Cambria Math" panose="02040503050406030204" pitchFamily="18" charset="0"/>
                        </a:rPr>
                        <m:t>𝑁</m:t>
                      </m:r>
                      <m:r>
                        <a:rPr lang="en-US" sz="3200" b="0" i="1" baseline="-25000" smtClean="0">
                          <a:latin typeface="Cambria Math" panose="02040503050406030204" pitchFamily="18" charset="0"/>
                        </a:rPr>
                        <m:t>3</m:t>
                      </m:r>
                      <m:r>
                        <a:rPr lang="en-US" sz="3200" b="0" i="1" smtClean="0">
                          <a:latin typeface="Cambria Math" panose="02040503050406030204" pitchFamily="18" charset="0"/>
                        </a:rPr>
                        <m:t>=7261 −1666+119</m:t>
                      </m:r>
                    </m:oMath>
                  </m:oMathPara>
                </a14:m>
                <a:endParaRPr lang="en-US" sz="3200" b="0" dirty="0" smtClean="0">
                  <a:latin typeface="Cambria Math" panose="02040503050406030204" pitchFamily="18" charset="0"/>
                </a:endParaRPr>
              </a:p>
              <a:p>
                <a:r>
                  <a:rPr lang="en-US" sz="3200" dirty="0" smtClean="0">
                    <a:latin typeface="Cambria Math" panose="02040503050406030204" pitchFamily="18" charset="0"/>
                  </a:rPr>
                  <a:t>Như vậy, số các số không chia hết cho bất kỳ số 3, 4, 7 là:</a:t>
                </a:r>
              </a:p>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𝐾</m:t>
                      </m:r>
                      <m:r>
                        <a:rPr lang="en-US" sz="3200" b="0" i="1" smtClean="0">
                          <a:latin typeface="Cambria Math" panose="02040503050406030204" pitchFamily="18" charset="0"/>
                        </a:rPr>
                        <m:t>=10000 −7261+1666 −119=4286</m:t>
                      </m:r>
                    </m:oMath>
                  </m:oMathPara>
                </a14:m>
                <a:endParaRPr lang="en-US" sz="3200" b="0" dirty="0" smtClean="0">
                  <a:latin typeface="Cambria Math" panose="02040503050406030204"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028700" y="1953088"/>
                <a:ext cx="11358778" cy="7914474"/>
              </a:xfrm>
              <a:prstGeom prst="rect">
                <a:avLst/>
              </a:prstGeom>
              <a:blipFill>
                <a:blip r:embed="rId8"/>
                <a:stretch>
                  <a:fillRect l="-1396" t="-1001"/>
                </a:stretch>
              </a:blipFill>
            </p:spPr>
            <p:txBody>
              <a:bodyPr/>
              <a:lstStyle/>
              <a:p>
                <a:r>
                  <a:rPr lang="en-US">
                    <a:noFill/>
                  </a:rPr>
                  <a:t> </a:t>
                </a:r>
              </a:p>
            </p:txBody>
          </p:sp>
        </mc:Fallback>
      </mc:AlternateContent>
    </p:spTree>
    <p:extLst>
      <p:ext uri="{BB962C8B-B14F-4D97-AF65-F5344CB8AC3E}">
        <p14:creationId xmlns:p14="http://schemas.microsoft.com/office/powerpoint/2010/main" val="3397573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2"/>
              <p:cNvSpPr txBox="1"/>
              <p:nvPr/>
            </p:nvSpPr>
            <p:spPr>
              <a:xfrm>
                <a:off x="1168879" y="2299183"/>
                <a:ext cx="11861322" cy="2115964"/>
              </a:xfrm>
              <a:prstGeom prst="rect">
                <a:avLst/>
              </a:prstGeom>
            </p:spPr>
            <p:txBody>
              <a:bodyPr wrap="square" lIns="0" tIns="0" rIns="0" bIns="0" rtlCol="0" anchor="t">
                <a:spAutoFit/>
              </a:bodyPr>
              <a:lstStyle/>
              <a:p>
                <a:pPr lvl="0">
                  <a:lnSpc>
                    <a:spcPts val="3300"/>
                  </a:lnSpc>
                  <a:spcBef>
                    <a:spcPct val="0"/>
                  </a:spcBef>
                </a:pPr>
                <a:r>
                  <a:rPr lang="en-US" sz="3200" b="1" dirty="0" smtClean="0">
                    <a:solidFill>
                      <a:srgbClr val="202020"/>
                    </a:solidFill>
                    <a:latin typeface="Crimson Roman" panose="020B0604020202020204" charset="0"/>
                  </a:rPr>
                  <a:t>Đình nghĩa.</a:t>
                </a:r>
                <a:r>
                  <a:rPr lang="en-US" sz="3200" dirty="0" smtClean="0">
                    <a:solidFill>
                      <a:srgbClr val="202020"/>
                    </a:solidFill>
                    <a:latin typeface="Crimson Roman" panose="020B0604020202020204" charset="0"/>
                  </a:rPr>
                  <a:t> Hệ thức truy hồi đối với dãy số {a</a:t>
                </a:r>
                <a:r>
                  <a:rPr lang="en-US" sz="3200" baseline="-25000" dirty="0" smtClean="0">
                    <a:solidFill>
                      <a:srgbClr val="202020"/>
                    </a:solidFill>
                    <a:latin typeface="Crimson Roman" panose="020B0604020202020204" charset="0"/>
                  </a:rPr>
                  <a:t>n</a:t>
                </a:r>
                <a:r>
                  <a:rPr lang="en-US" sz="3200" dirty="0" smtClean="0">
                    <a:solidFill>
                      <a:srgbClr val="202020"/>
                    </a:solidFill>
                    <a:latin typeface="Crimson Roman" panose="020B0604020202020204" charset="0"/>
                  </a:rPr>
                  <a:t>} là công thức biểu diễn an qua một hay nhiều số hạng đi trước của dãy, cụ thể là a</a:t>
                </a:r>
                <a:r>
                  <a:rPr lang="en-US" sz="3200" baseline="-25000" dirty="0" smtClean="0">
                    <a:solidFill>
                      <a:srgbClr val="202020"/>
                    </a:solidFill>
                    <a:latin typeface="Crimson Roman" panose="020B0604020202020204" charset="0"/>
                  </a:rPr>
                  <a:t>1</a:t>
                </a:r>
                <a:r>
                  <a:rPr lang="en-US" sz="3200" dirty="0" smtClean="0">
                    <a:solidFill>
                      <a:srgbClr val="202020"/>
                    </a:solidFill>
                    <a:latin typeface="Crimson Roman" panose="020B0604020202020204" charset="0"/>
                  </a:rPr>
                  <a:t>, a</a:t>
                </a:r>
                <a:r>
                  <a:rPr lang="en-US" sz="3200" baseline="-25000" dirty="0" smtClean="0">
                    <a:solidFill>
                      <a:srgbClr val="202020"/>
                    </a:solidFill>
                    <a:latin typeface="Crimson Roman" panose="020B0604020202020204" charset="0"/>
                  </a:rPr>
                  <a:t>2</a:t>
                </a:r>
                <a:r>
                  <a:rPr lang="en-US" sz="3200" dirty="0" smtClean="0">
                    <a:solidFill>
                      <a:srgbClr val="202020"/>
                    </a:solidFill>
                    <a:latin typeface="Crimson Roman" panose="020B0604020202020204" charset="0"/>
                  </a:rPr>
                  <a:t>, ..., a</a:t>
                </a:r>
                <a:r>
                  <a:rPr lang="en-US" sz="3200" baseline="-25000" dirty="0" smtClean="0">
                    <a:solidFill>
                      <a:srgbClr val="202020"/>
                    </a:solidFill>
                    <a:latin typeface="Crimson Roman" panose="020B0604020202020204" charset="0"/>
                  </a:rPr>
                  <a:t>n-1</a:t>
                </a:r>
                <a:r>
                  <a:rPr lang="en-US" sz="3200" dirty="0" smtClean="0">
                    <a:solidFill>
                      <a:srgbClr val="202020"/>
                    </a:solidFill>
                    <a:latin typeface="Crimson Roman" panose="020B0604020202020204" charset="0"/>
                  </a:rPr>
                  <a:t>, với n nguyên và </a:t>
                </a:r>
                <a14:m>
                  <m:oMath xmlns:m="http://schemas.openxmlformats.org/officeDocument/2006/math">
                    <m:r>
                      <m:rPr>
                        <m:sty m:val="p"/>
                      </m:rPr>
                      <a:rPr lang="en-US" sz="3200" b="0" i="0" smtClean="0">
                        <a:solidFill>
                          <a:srgbClr val="202020"/>
                        </a:solidFill>
                        <a:latin typeface="Cambria Math" panose="02040503050406030204" pitchFamily="18" charset="0"/>
                      </a:rPr>
                      <m:t>n</m:t>
                    </m:r>
                    <m:r>
                      <a:rPr lang="en-US" sz="3200" b="0" i="0" smtClean="0">
                        <a:solidFill>
                          <a:srgbClr val="202020"/>
                        </a:solidFill>
                        <a:latin typeface="Cambria Math" panose="02040503050406030204" pitchFamily="18" charset="0"/>
                        <a:ea typeface="Cambria Math" panose="02040503050406030204" pitchFamily="18" charset="0"/>
                      </a:rPr>
                      <m:t>≥</m:t>
                    </m:r>
                    <m:r>
                      <m:rPr>
                        <m:sty m:val="p"/>
                      </m:rPr>
                      <a:rPr lang="en-US" sz="3200" b="0" i="0" smtClean="0">
                        <a:solidFill>
                          <a:srgbClr val="202020"/>
                        </a:solidFill>
                        <a:latin typeface="Cambria Math" panose="02040503050406030204" pitchFamily="18" charset="0"/>
                        <a:ea typeface="Cambria Math" panose="02040503050406030204" pitchFamily="18" charset="0"/>
                      </a:rPr>
                      <m:t>n</m:t>
                    </m:r>
                    <m:r>
                      <a:rPr lang="en-US" sz="3200" b="0" i="0" baseline="-25000" smtClean="0">
                        <a:solidFill>
                          <a:srgbClr val="202020"/>
                        </a:solidFill>
                        <a:latin typeface="Cambria Math" panose="02040503050406030204" pitchFamily="18" charset="0"/>
                        <a:ea typeface="Cambria Math" panose="02040503050406030204" pitchFamily="18" charset="0"/>
                      </a:rPr>
                      <m:t>0</m:t>
                    </m:r>
                  </m:oMath>
                </a14:m>
                <a:r>
                  <a:rPr lang="en-US" sz="3200" b="1" dirty="0" smtClean="0">
                    <a:solidFill>
                      <a:srgbClr val="202020"/>
                    </a:solidFill>
                    <a:latin typeface="Crimson Roman" panose="020B0604020202020204" charset="0"/>
                  </a:rPr>
                  <a:t>, </a:t>
                </a:r>
                <a:r>
                  <a:rPr lang="en-US" sz="3200" dirty="0" smtClean="0">
                    <a:solidFill>
                      <a:srgbClr val="202020"/>
                    </a:solidFill>
                    <a:latin typeface="Crimson Roman" panose="020B0604020202020204" charset="0"/>
                  </a:rPr>
                  <a:t>trong nó n</a:t>
                </a:r>
                <a:r>
                  <a:rPr lang="en-US" sz="3200" baseline="-25000" dirty="0" smtClean="0">
                    <a:solidFill>
                      <a:srgbClr val="202020"/>
                    </a:solidFill>
                    <a:latin typeface="Crimson Roman" panose="020B0604020202020204" charset="0"/>
                  </a:rPr>
                  <a:t>0</a:t>
                </a:r>
                <a:r>
                  <a:rPr lang="en-US" sz="3200" dirty="0" smtClean="0">
                    <a:solidFill>
                      <a:srgbClr val="202020"/>
                    </a:solidFill>
                    <a:latin typeface="Crimson Roman" panose="020B0604020202020204" charset="0"/>
                  </a:rPr>
                  <a:t> là nguyên không âm. Dãy số được gọi là lời giải hay nghiệm của hệ thức truy hồi nếu các số hạng của nó thỏa mãn hệ thức truy hồi này.</a:t>
                </a:r>
                <a:endParaRPr lang="en-US" sz="3200" b="1" dirty="0" smtClean="0">
                  <a:solidFill>
                    <a:srgbClr val="202020"/>
                  </a:solidFill>
                  <a:latin typeface="Crimson Roman" panose="020B0604020202020204" charset="0"/>
                </a:endParaRPr>
              </a:p>
            </p:txBody>
          </p:sp>
        </mc:Choice>
        <mc:Fallback xmlns="">
          <p:sp>
            <p:nvSpPr>
              <p:cNvPr id="2" name="TextBox 2"/>
              <p:cNvSpPr txBox="1">
                <a:spLocks noRot="1" noChangeAspect="1" noMove="1" noResize="1" noEditPoints="1" noAdjustHandles="1" noChangeArrowheads="1" noChangeShapeType="1" noTextEdit="1"/>
              </p:cNvSpPr>
              <p:nvPr/>
            </p:nvSpPr>
            <p:spPr>
              <a:xfrm>
                <a:off x="1168879" y="2299183"/>
                <a:ext cx="11861322" cy="2115964"/>
              </a:xfrm>
              <a:prstGeom prst="rect">
                <a:avLst/>
              </a:prstGeom>
              <a:blipFill>
                <a:blip r:embed="rId2"/>
                <a:stretch>
                  <a:fillRect l="-2107" t="-8069" b="-11816"/>
                </a:stretch>
              </a:blipFill>
            </p:spPr>
            <p:txBody>
              <a:bodyPr/>
              <a:lstStyle/>
              <a:p>
                <a:r>
                  <a:rPr lang="en-US">
                    <a:noFill/>
                  </a:rPr>
                  <a:t> </a:t>
                </a:r>
              </a:p>
            </p:txBody>
          </p:sp>
        </mc:Fallback>
      </mc:AlternateContent>
      <p:sp>
        <p:nvSpPr>
          <p:cNvPr id="8" name="TextBox 6"/>
          <p:cNvSpPr txBox="1"/>
          <p:nvPr/>
        </p:nvSpPr>
        <p:spPr>
          <a:xfrm>
            <a:off x="1168879" y="723900"/>
            <a:ext cx="11479602" cy="1442703"/>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Hệ thức truy hồi</a:t>
            </a:r>
            <a:endParaRPr lang="en-US" sz="8800" dirty="0">
              <a:solidFill>
                <a:srgbClr val="3849A2"/>
              </a:solidFill>
              <a:latin typeface="Crimson Roman" panose="020B0604020202020204" charset="0"/>
            </a:endParaRPr>
          </a:p>
        </p:txBody>
      </p:sp>
      <p:pic>
        <p:nvPicPr>
          <p:cNvPr id="5" name="Picture 11"/>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a:stretch>
            <a:fillRect/>
          </a:stretch>
        </p:blipFill>
        <p:spPr>
          <a:xfrm>
            <a:off x="14401800" y="2299183"/>
            <a:ext cx="2957966" cy="6301154"/>
          </a:xfrm>
          <a:prstGeom prst="rect">
            <a:avLst/>
          </a:prstGeom>
        </p:spPr>
      </p:pic>
      <mc:AlternateContent xmlns:mc="http://schemas.openxmlformats.org/markup-compatibility/2006" xmlns:a14="http://schemas.microsoft.com/office/drawing/2010/main">
        <mc:Choice Requires="a14">
          <p:sp>
            <p:nvSpPr>
              <p:cNvPr id="6" name="TextBox 2"/>
              <p:cNvSpPr txBox="1"/>
              <p:nvPr/>
            </p:nvSpPr>
            <p:spPr>
              <a:xfrm>
                <a:off x="1168879" y="5143500"/>
                <a:ext cx="11861322" cy="2556469"/>
              </a:xfrm>
              <a:prstGeom prst="rect">
                <a:avLst/>
              </a:prstGeom>
            </p:spPr>
            <p:txBody>
              <a:bodyPr wrap="square" lIns="0" tIns="0" rIns="0" bIns="0" rtlCol="0" anchor="t">
                <a:spAutoFit/>
              </a:bodyPr>
              <a:lstStyle/>
              <a:p>
                <a:pPr lvl="0">
                  <a:lnSpc>
                    <a:spcPts val="3300"/>
                  </a:lnSpc>
                  <a:spcBef>
                    <a:spcPct val="0"/>
                  </a:spcBef>
                </a:pPr>
                <a:r>
                  <a:rPr lang="en-US" sz="3200" b="1" dirty="0" smtClean="0">
                    <a:solidFill>
                      <a:srgbClr val="202020"/>
                    </a:solidFill>
                    <a:latin typeface="Crimson Roman" panose="020B0604020202020204" charset="0"/>
                  </a:rPr>
                  <a:t>Ví dụ:</a:t>
                </a:r>
                <a:r>
                  <a:rPr lang="en-US" sz="3200" dirty="0" smtClean="0">
                    <a:solidFill>
                      <a:srgbClr val="202020"/>
                    </a:solidFill>
                    <a:latin typeface="Crimson Roman" panose="020B0604020202020204" charset="0"/>
                  </a:rPr>
                  <a:t> Cho {a</a:t>
                </a:r>
                <a:r>
                  <a:rPr lang="en-US" sz="3200" baseline="-25000" dirty="0" smtClean="0">
                    <a:solidFill>
                      <a:srgbClr val="202020"/>
                    </a:solidFill>
                    <a:latin typeface="Crimson Roman" panose="020B0604020202020204" charset="0"/>
                  </a:rPr>
                  <a:t>n</a:t>
                </a:r>
                <a:r>
                  <a:rPr lang="en-US" sz="3200" dirty="0" smtClean="0">
                    <a:solidFill>
                      <a:srgbClr val="202020"/>
                    </a:solidFill>
                    <a:latin typeface="Crimson Roman" panose="020B0604020202020204" charset="0"/>
                  </a:rPr>
                  <a:t>} là dãy số thỏa mãn hệ thức truy hồi </a:t>
                </a:r>
                <a14:m>
                  <m:oMath xmlns:m="http://schemas.openxmlformats.org/officeDocument/2006/math">
                    <m:r>
                      <m:rPr>
                        <m:sty m:val="p"/>
                      </m:rPr>
                      <a:rPr lang="en-US" sz="3200" b="0" i="0" smtClean="0">
                        <a:solidFill>
                          <a:srgbClr val="202020"/>
                        </a:solidFill>
                        <a:latin typeface="Cambria Math" panose="02040503050406030204" pitchFamily="18" charset="0"/>
                      </a:rPr>
                      <m:t>a</m:t>
                    </m:r>
                    <m:r>
                      <m:rPr>
                        <m:sty m:val="p"/>
                      </m:rPr>
                      <a:rPr lang="en-US" sz="3200" b="0" i="0" baseline="-25000" smtClean="0">
                        <a:solidFill>
                          <a:srgbClr val="202020"/>
                        </a:solidFill>
                        <a:latin typeface="Cambria Math" panose="02040503050406030204" pitchFamily="18" charset="0"/>
                      </a:rPr>
                      <m:t>n</m:t>
                    </m:r>
                    <m:r>
                      <a:rPr lang="en-US" sz="3200" b="0" i="0" smtClean="0">
                        <a:solidFill>
                          <a:srgbClr val="202020"/>
                        </a:solidFill>
                        <a:latin typeface="Cambria Math" panose="02040503050406030204" pitchFamily="18" charset="0"/>
                      </a:rPr>
                      <m:t>=</m:t>
                    </m:r>
                    <m:sSub>
                      <m:sSubPr>
                        <m:ctrlPr>
                          <a:rPr lang="en-US" sz="3200" b="0" i="1" smtClean="0">
                            <a:solidFill>
                              <a:srgbClr val="202020"/>
                            </a:solidFill>
                            <a:latin typeface="Cambria Math" panose="02040503050406030204" pitchFamily="18" charset="0"/>
                          </a:rPr>
                        </m:ctrlPr>
                      </m:sSubPr>
                      <m:e>
                        <m:r>
                          <m:rPr>
                            <m:sty m:val="p"/>
                          </m:rPr>
                          <a:rPr lang="en-US" sz="3200" b="0" i="0" smtClean="0">
                            <a:solidFill>
                              <a:srgbClr val="202020"/>
                            </a:solidFill>
                            <a:latin typeface="Cambria Math" panose="02040503050406030204" pitchFamily="18" charset="0"/>
                          </a:rPr>
                          <m:t>a</m:t>
                        </m:r>
                      </m:e>
                      <m:sub>
                        <m:r>
                          <m:rPr>
                            <m:sty m:val="p"/>
                          </m:rPr>
                          <a:rPr lang="en-US" sz="3200" b="0" i="0" smtClean="0">
                            <a:solidFill>
                              <a:srgbClr val="202020"/>
                            </a:solidFill>
                            <a:latin typeface="Cambria Math" panose="02040503050406030204" pitchFamily="18" charset="0"/>
                          </a:rPr>
                          <m:t>n</m:t>
                        </m:r>
                        <m:r>
                          <a:rPr lang="en-US" sz="3200" b="0" i="0" smtClean="0">
                            <a:solidFill>
                              <a:srgbClr val="202020"/>
                            </a:solidFill>
                            <a:latin typeface="Cambria Math" panose="02040503050406030204" pitchFamily="18" charset="0"/>
                          </a:rPr>
                          <m:t>−1</m:t>
                        </m:r>
                      </m:sub>
                    </m:sSub>
                    <m:r>
                      <a:rPr lang="en-US" sz="3200" b="0" i="0" smtClean="0">
                        <a:solidFill>
                          <a:srgbClr val="202020"/>
                        </a:solidFill>
                        <a:latin typeface="Cambria Math" panose="02040503050406030204" pitchFamily="18" charset="0"/>
                      </a:rPr>
                      <m:t>−</m:t>
                    </m:r>
                    <m:sSub>
                      <m:sSubPr>
                        <m:ctrlPr>
                          <a:rPr lang="en-US" sz="3200" b="0" i="1" smtClean="0">
                            <a:solidFill>
                              <a:srgbClr val="202020"/>
                            </a:solidFill>
                            <a:latin typeface="Cambria Math" panose="02040503050406030204" pitchFamily="18" charset="0"/>
                          </a:rPr>
                        </m:ctrlPr>
                      </m:sSubPr>
                      <m:e>
                        <m:r>
                          <m:rPr>
                            <m:sty m:val="p"/>
                          </m:rPr>
                          <a:rPr lang="en-US" sz="3200" b="0" i="0" smtClean="0">
                            <a:solidFill>
                              <a:srgbClr val="202020"/>
                            </a:solidFill>
                            <a:latin typeface="Cambria Math" panose="02040503050406030204" pitchFamily="18" charset="0"/>
                          </a:rPr>
                          <m:t>a</m:t>
                        </m:r>
                      </m:e>
                      <m:sub>
                        <m:r>
                          <m:rPr>
                            <m:sty m:val="p"/>
                          </m:rPr>
                          <a:rPr lang="en-US" sz="3200" b="0" i="0" smtClean="0">
                            <a:solidFill>
                              <a:srgbClr val="202020"/>
                            </a:solidFill>
                            <a:latin typeface="Cambria Math" panose="02040503050406030204" pitchFamily="18" charset="0"/>
                          </a:rPr>
                          <m:t>n</m:t>
                        </m:r>
                        <m:r>
                          <a:rPr lang="en-US" sz="3200" b="0" i="0" smtClean="0">
                            <a:solidFill>
                              <a:srgbClr val="202020"/>
                            </a:solidFill>
                            <a:latin typeface="Cambria Math" panose="02040503050406030204" pitchFamily="18" charset="0"/>
                          </a:rPr>
                          <m:t>−2</m:t>
                        </m:r>
                      </m:sub>
                    </m:sSub>
                  </m:oMath>
                </a14:m>
                <a:r>
                  <a:rPr lang="en-US" sz="3200" b="1" dirty="0" smtClean="0">
                    <a:solidFill>
                      <a:srgbClr val="202020"/>
                    </a:solidFill>
                    <a:latin typeface="Crimson Roman" panose="020B0604020202020204" charset="0"/>
                  </a:rPr>
                  <a:t>, </a:t>
                </a:r>
                <a:r>
                  <a:rPr lang="en-US" sz="3200" dirty="0" smtClean="0">
                    <a:solidFill>
                      <a:srgbClr val="202020"/>
                    </a:solidFill>
                    <a:latin typeface="Crimson Roman" panose="020B0604020202020204" charset="0"/>
                  </a:rPr>
                  <a:t>với n = 2, 3, ..., và giả sử a</a:t>
                </a:r>
                <a:r>
                  <a:rPr lang="en-US" sz="3200" baseline="-25000" dirty="0" smtClean="0">
                    <a:solidFill>
                      <a:srgbClr val="202020"/>
                    </a:solidFill>
                    <a:latin typeface="Crimson Roman" panose="020B0604020202020204" charset="0"/>
                  </a:rPr>
                  <a:t>0</a:t>
                </a:r>
                <a:r>
                  <a:rPr lang="en-US" sz="3200" dirty="0" smtClean="0">
                    <a:solidFill>
                      <a:srgbClr val="202020"/>
                    </a:solidFill>
                    <a:latin typeface="Crimson Roman" panose="020B0604020202020204" charset="0"/>
                  </a:rPr>
                  <a:t> = 3, a</a:t>
                </a:r>
                <a:r>
                  <a:rPr lang="en-US" sz="3200" baseline="-25000" dirty="0" smtClean="0">
                    <a:solidFill>
                      <a:srgbClr val="202020"/>
                    </a:solidFill>
                    <a:latin typeface="Crimson Roman" panose="020B0604020202020204" charset="0"/>
                  </a:rPr>
                  <a:t>1</a:t>
                </a:r>
                <a:r>
                  <a:rPr lang="en-US" sz="3200" dirty="0" smtClean="0">
                    <a:solidFill>
                      <a:srgbClr val="202020"/>
                    </a:solidFill>
                    <a:latin typeface="Crimson Roman" panose="020B0604020202020204" charset="0"/>
                  </a:rPr>
                  <a:t> = 5. Tìm a</a:t>
                </a:r>
                <a:r>
                  <a:rPr lang="en-US" sz="3200" baseline="-25000" dirty="0" smtClean="0">
                    <a:solidFill>
                      <a:srgbClr val="202020"/>
                    </a:solidFill>
                    <a:latin typeface="Crimson Roman" panose="020B0604020202020204" charset="0"/>
                  </a:rPr>
                  <a:t>2</a:t>
                </a:r>
                <a:r>
                  <a:rPr lang="en-US" sz="3200" dirty="0" smtClean="0">
                    <a:solidFill>
                      <a:srgbClr val="202020"/>
                    </a:solidFill>
                    <a:latin typeface="Crimson Roman" panose="020B0604020202020204" charset="0"/>
                  </a:rPr>
                  <a:t> và a</a:t>
                </a:r>
                <a:r>
                  <a:rPr lang="en-US" sz="3200" baseline="-25000" dirty="0" smtClean="0">
                    <a:solidFill>
                      <a:srgbClr val="202020"/>
                    </a:solidFill>
                    <a:latin typeface="Crimson Roman" panose="020B0604020202020204" charset="0"/>
                  </a:rPr>
                  <a:t>3</a:t>
                </a:r>
                <a:r>
                  <a:rPr lang="en-US" sz="3200" dirty="0" smtClean="0">
                    <a:solidFill>
                      <a:srgbClr val="202020"/>
                    </a:solidFill>
                    <a:latin typeface="Crimson Roman" panose="020B0604020202020204" charset="0"/>
                  </a:rPr>
                  <a:t>?</a:t>
                </a:r>
              </a:p>
              <a:p>
                <a:pPr lvl="0">
                  <a:lnSpc>
                    <a:spcPts val="3300"/>
                  </a:lnSpc>
                  <a:spcBef>
                    <a:spcPct val="0"/>
                  </a:spcBef>
                </a:pPr>
                <a:r>
                  <a:rPr lang="en-US" sz="3200" u="sng" dirty="0" smtClean="0">
                    <a:solidFill>
                      <a:srgbClr val="202020"/>
                    </a:solidFill>
                    <a:latin typeface="Crimson Roman" panose="020B0604020202020204" charset="0"/>
                  </a:rPr>
                  <a:t>Giải:</a:t>
                </a:r>
                <a:r>
                  <a:rPr lang="en-US" sz="3200" dirty="0" smtClean="0">
                    <a:solidFill>
                      <a:srgbClr val="202020"/>
                    </a:solidFill>
                    <a:latin typeface="Crimson Roman" panose="020B0604020202020204" charset="0"/>
                  </a:rPr>
                  <a:t> </a:t>
                </a:r>
              </a:p>
              <a:p>
                <a:pPr lvl="0">
                  <a:lnSpc>
                    <a:spcPts val="3300"/>
                  </a:lnSpc>
                  <a:spcBef>
                    <a:spcPct val="0"/>
                  </a:spcBef>
                </a:pPr>
                <a:r>
                  <a:rPr lang="en-US" sz="3200" dirty="0" smtClean="0">
                    <a:solidFill>
                      <a:srgbClr val="202020"/>
                    </a:solidFill>
                    <a:latin typeface="Crimson Roman" panose="020B0604020202020204" charset="0"/>
                  </a:rPr>
                  <a:t>Từ hệ thức truy hồi, ta có:</a:t>
                </a:r>
              </a:p>
              <a:p>
                <a:pPr lvl="0">
                  <a:lnSpc>
                    <a:spcPts val="3300"/>
                  </a:lnSpc>
                  <a:spcBef>
                    <a:spcPct val="0"/>
                  </a:spcBef>
                </a:pPr>
                <a14:m>
                  <m:oMathPara xmlns:m="http://schemas.openxmlformats.org/officeDocument/2006/math">
                    <m:oMathParaPr>
                      <m:jc m:val="centerGroup"/>
                    </m:oMathParaPr>
                    <m:oMath xmlns:m="http://schemas.openxmlformats.org/officeDocument/2006/math">
                      <m:r>
                        <a:rPr lang="en-US" sz="3200" b="0" i="1" smtClean="0">
                          <a:solidFill>
                            <a:srgbClr val="202020"/>
                          </a:solidFill>
                          <a:latin typeface="Cambria Math" panose="02040503050406030204" pitchFamily="18" charset="0"/>
                        </a:rPr>
                        <m:t>𝑎</m:t>
                      </m:r>
                      <m:r>
                        <a:rPr lang="en-US" sz="3200" b="0" i="1" baseline="-25000" smtClean="0">
                          <a:solidFill>
                            <a:srgbClr val="202020"/>
                          </a:solidFill>
                          <a:latin typeface="Cambria Math" panose="02040503050406030204" pitchFamily="18" charset="0"/>
                        </a:rPr>
                        <m:t>2</m:t>
                      </m:r>
                      <m:r>
                        <a:rPr lang="en-US" sz="3200" b="0" i="1" smtClean="0">
                          <a:solidFill>
                            <a:srgbClr val="202020"/>
                          </a:solidFill>
                          <a:latin typeface="Cambria Math" panose="02040503050406030204" pitchFamily="18" charset="0"/>
                        </a:rPr>
                        <m:t>=</m:t>
                      </m:r>
                      <m:r>
                        <a:rPr lang="en-US" sz="3200" b="0" i="1" smtClean="0">
                          <a:solidFill>
                            <a:srgbClr val="202020"/>
                          </a:solidFill>
                          <a:latin typeface="Cambria Math" panose="02040503050406030204" pitchFamily="18" charset="0"/>
                        </a:rPr>
                        <m:t>𝑎</m:t>
                      </m:r>
                      <m:r>
                        <a:rPr lang="en-US" sz="3200" b="0" i="1" baseline="-25000" smtClean="0">
                          <a:solidFill>
                            <a:srgbClr val="202020"/>
                          </a:solidFill>
                          <a:latin typeface="Cambria Math" panose="02040503050406030204" pitchFamily="18" charset="0"/>
                        </a:rPr>
                        <m:t>1</m:t>
                      </m:r>
                      <m:r>
                        <a:rPr lang="en-US" sz="3200" b="0" i="1" smtClean="0">
                          <a:solidFill>
                            <a:srgbClr val="202020"/>
                          </a:solidFill>
                          <a:latin typeface="Cambria Math" panose="02040503050406030204" pitchFamily="18" charset="0"/>
                        </a:rPr>
                        <m:t> −</m:t>
                      </m:r>
                      <m:r>
                        <a:rPr lang="en-US" sz="3200" b="0" i="1" smtClean="0">
                          <a:solidFill>
                            <a:srgbClr val="202020"/>
                          </a:solidFill>
                          <a:latin typeface="Cambria Math" panose="02040503050406030204" pitchFamily="18" charset="0"/>
                        </a:rPr>
                        <m:t>𝑎</m:t>
                      </m:r>
                      <m:r>
                        <a:rPr lang="en-US" sz="3200" b="0" i="1" baseline="-25000" smtClean="0">
                          <a:solidFill>
                            <a:srgbClr val="202020"/>
                          </a:solidFill>
                          <a:latin typeface="Cambria Math" panose="02040503050406030204" pitchFamily="18" charset="0"/>
                        </a:rPr>
                        <m:t>0</m:t>
                      </m:r>
                      <m:r>
                        <a:rPr lang="en-US" sz="3200" b="0" i="1" smtClean="0">
                          <a:solidFill>
                            <a:srgbClr val="202020"/>
                          </a:solidFill>
                          <a:latin typeface="Cambria Math" panose="02040503050406030204" pitchFamily="18" charset="0"/>
                        </a:rPr>
                        <m:t>=5 −3=2</m:t>
                      </m:r>
                    </m:oMath>
                  </m:oMathPara>
                </a14:m>
                <a:endParaRPr lang="en-US" sz="3200" dirty="0" smtClean="0">
                  <a:solidFill>
                    <a:srgbClr val="202020"/>
                  </a:solidFill>
                  <a:latin typeface="Crimson Roman" panose="020B0604020202020204" charset="0"/>
                </a:endParaRPr>
              </a:p>
              <a:p>
                <a:pPr lvl="0">
                  <a:lnSpc>
                    <a:spcPts val="3300"/>
                  </a:lnSpc>
                  <a:spcBef>
                    <a:spcPct val="0"/>
                  </a:spcBef>
                </a:pPr>
                <a14:m>
                  <m:oMathPara xmlns:m="http://schemas.openxmlformats.org/officeDocument/2006/math">
                    <m:oMathParaPr>
                      <m:jc m:val="centerGroup"/>
                    </m:oMathParaPr>
                    <m:oMath xmlns:m="http://schemas.openxmlformats.org/officeDocument/2006/math">
                      <m:r>
                        <a:rPr lang="en-US" sz="3200" b="0" i="1" smtClean="0">
                          <a:solidFill>
                            <a:srgbClr val="202020"/>
                          </a:solidFill>
                          <a:latin typeface="Cambria Math" panose="02040503050406030204" pitchFamily="18" charset="0"/>
                        </a:rPr>
                        <m:t>𝑎</m:t>
                      </m:r>
                      <m:r>
                        <a:rPr lang="en-US" sz="3200" b="0" i="1" baseline="-25000" smtClean="0">
                          <a:solidFill>
                            <a:srgbClr val="202020"/>
                          </a:solidFill>
                          <a:latin typeface="Cambria Math" panose="02040503050406030204" pitchFamily="18" charset="0"/>
                        </a:rPr>
                        <m:t>3</m:t>
                      </m:r>
                      <m:r>
                        <a:rPr lang="en-US" sz="3200" b="0" i="1" smtClean="0">
                          <a:solidFill>
                            <a:srgbClr val="202020"/>
                          </a:solidFill>
                          <a:latin typeface="Cambria Math" panose="02040503050406030204" pitchFamily="18" charset="0"/>
                        </a:rPr>
                        <m:t>=</m:t>
                      </m:r>
                      <m:r>
                        <a:rPr lang="en-US" sz="3200" b="0" i="1" smtClean="0">
                          <a:solidFill>
                            <a:srgbClr val="202020"/>
                          </a:solidFill>
                          <a:latin typeface="Cambria Math" panose="02040503050406030204" pitchFamily="18" charset="0"/>
                        </a:rPr>
                        <m:t>𝑎</m:t>
                      </m:r>
                      <m:r>
                        <a:rPr lang="en-US" sz="3200" b="0" i="1" baseline="-25000" smtClean="0">
                          <a:solidFill>
                            <a:srgbClr val="202020"/>
                          </a:solidFill>
                          <a:latin typeface="Cambria Math" panose="02040503050406030204" pitchFamily="18" charset="0"/>
                        </a:rPr>
                        <m:t>2</m:t>
                      </m:r>
                      <m:r>
                        <a:rPr lang="en-US" sz="3200" b="0" i="1" smtClean="0">
                          <a:solidFill>
                            <a:srgbClr val="202020"/>
                          </a:solidFill>
                          <a:latin typeface="Cambria Math" panose="02040503050406030204" pitchFamily="18" charset="0"/>
                        </a:rPr>
                        <m:t> −</m:t>
                      </m:r>
                      <m:r>
                        <a:rPr lang="en-US" sz="3200" b="0" i="1" smtClean="0">
                          <a:solidFill>
                            <a:srgbClr val="202020"/>
                          </a:solidFill>
                          <a:latin typeface="Cambria Math" panose="02040503050406030204" pitchFamily="18" charset="0"/>
                        </a:rPr>
                        <m:t>𝑎</m:t>
                      </m:r>
                      <m:r>
                        <a:rPr lang="en-US" sz="3200" b="0" i="1" baseline="-25000" smtClean="0">
                          <a:solidFill>
                            <a:srgbClr val="202020"/>
                          </a:solidFill>
                          <a:latin typeface="Cambria Math" panose="02040503050406030204" pitchFamily="18" charset="0"/>
                        </a:rPr>
                        <m:t>1</m:t>
                      </m:r>
                      <m:r>
                        <a:rPr lang="en-US" sz="3200" b="0" i="1" smtClean="0">
                          <a:solidFill>
                            <a:srgbClr val="202020"/>
                          </a:solidFill>
                          <a:latin typeface="Cambria Math" panose="02040503050406030204" pitchFamily="18" charset="0"/>
                        </a:rPr>
                        <m:t>=2 −5=−3</m:t>
                      </m:r>
                    </m:oMath>
                  </m:oMathPara>
                </a14:m>
                <a:endParaRPr lang="en-US" sz="3200" dirty="0" smtClean="0">
                  <a:solidFill>
                    <a:srgbClr val="202020"/>
                  </a:solidFill>
                  <a:latin typeface="Crimson Roman" panose="020B0604020202020204" charset="0"/>
                </a:endParaRPr>
              </a:p>
            </p:txBody>
          </p:sp>
        </mc:Choice>
        <mc:Fallback xmlns="">
          <p:sp>
            <p:nvSpPr>
              <p:cNvPr id="6" name="TextBox 2"/>
              <p:cNvSpPr txBox="1">
                <a:spLocks noRot="1" noChangeAspect="1" noMove="1" noResize="1" noEditPoints="1" noAdjustHandles="1" noChangeArrowheads="1" noChangeShapeType="1" noTextEdit="1"/>
              </p:cNvSpPr>
              <p:nvPr/>
            </p:nvSpPr>
            <p:spPr>
              <a:xfrm>
                <a:off x="1168879" y="5143500"/>
                <a:ext cx="11861322" cy="2556469"/>
              </a:xfrm>
              <a:prstGeom prst="rect">
                <a:avLst/>
              </a:prstGeom>
              <a:blipFill>
                <a:blip r:embed="rId5"/>
                <a:stretch>
                  <a:fillRect l="-2107" t="-6683" b="-1671"/>
                </a:stretch>
              </a:blipFill>
            </p:spPr>
            <p:txBody>
              <a:bodyPr/>
              <a:lstStyle/>
              <a:p>
                <a:r>
                  <a:rPr lang="en-US">
                    <a:noFill/>
                  </a:rPr>
                  <a:t> </a:t>
                </a:r>
              </a:p>
            </p:txBody>
          </p:sp>
        </mc:Fallback>
      </mc:AlternateContent>
    </p:spTree>
    <p:extLst>
      <p:ext uri="{BB962C8B-B14F-4D97-AF65-F5344CB8AC3E}">
        <p14:creationId xmlns:p14="http://schemas.microsoft.com/office/powerpoint/2010/main" val="6975626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4215781" y="6899719"/>
            <a:ext cx="2418104" cy="2358581"/>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4215781" y="3837048"/>
            <a:ext cx="2418104" cy="2554230"/>
          </a:xfrm>
          <a:prstGeom prst="rect">
            <a:avLst/>
          </a:prstGeom>
        </p:spPr>
      </p:pic>
      <p:pic>
        <p:nvPicPr>
          <p:cNvPr id="4" name="Picture 4"/>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4215781" y="1028700"/>
            <a:ext cx="2418104" cy="2299907"/>
          </a:xfrm>
          <a:prstGeom prst="rect">
            <a:avLst/>
          </a:prstGeom>
        </p:spPr>
      </p:pic>
      <p:sp>
        <p:nvSpPr>
          <p:cNvPr id="5" name="AutoShape 5"/>
          <p:cNvSpPr/>
          <p:nvPr/>
        </p:nvSpPr>
        <p:spPr>
          <a:xfrm>
            <a:off x="12387478" y="1028700"/>
            <a:ext cx="9525" cy="8229600"/>
          </a:xfrm>
          <a:prstGeom prst="rect">
            <a:avLst/>
          </a:prstGeom>
          <a:solidFill>
            <a:srgbClr val="3D3D3D"/>
          </a:solidFill>
        </p:spPr>
      </p:sp>
      <p:grpSp>
        <p:nvGrpSpPr>
          <p:cNvPr id="6" name="Group 6"/>
          <p:cNvGrpSpPr/>
          <p:nvPr/>
        </p:nvGrpSpPr>
        <p:grpSpPr>
          <a:xfrm>
            <a:off x="1028700" y="1028700"/>
            <a:ext cx="9539999" cy="3251532"/>
            <a:chOff x="0" y="0"/>
            <a:chExt cx="12719999" cy="4335377"/>
          </a:xfrm>
        </p:grpSpPr>
        <p:sp>
          <p:nvSpPr>
            <p:cNvPr id="7" name="TextBox 7"/>
            <p:cNvSpPr txBox="1"/>
            <p:nvPr/>
          </p:nvSpPr>
          <p:spPr>
            <a:xfrm>
              <a:off x="0" y="0"/>
              <a:ext cx="12719999" cy="1880858"/>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Ví dụ 4</a:t>
              </a:r>
              <a:endParaRPr lang="en-US" sz="8800" dirty="0">
                <a:solidFill>
                  <a:srgbClr val="3849A2"/>
                </a:solidFill>
                <a:latin typeface="Crimson Roman" panose="020B0604020202020204" charset="0"/>
              </a:endParaRPr>
            </a:p>
          </p:txBody>
        </p:sp>
        <p:sp>
          <p:nvSpPr>
            <p:cNvPr id="8" name="TextBox 8"/>
            <p:cNvSpPr txBox="1"/>
            <p:nvPr/>
          </p:nvSpPr>
          <p:spPr>
            <a:xfrm>
              <a:off x="0" y="2745198"/>
              <a:ext cx="12719999" cy="1590179"/>
            </a:xfrm>
            <a:prstGeom prst="rect">
              <a:avLst/>
            </a:prstGeom>
          </p:spPr>
          <p:txBody>
            <a:bodyPr lIns="0" tIns="0" rIns="0" bIns="0" rtlCol="0" anchor="t">
              <a:spAutoFit/>
            </a:bodyPr>
            <a:lstStyle/>
            <a:p>
              <a:pPr>
                <a:lnSpc>
                  <a:spcPts val="3120"/>
                </a:lnSpc>
              </a:pPr>
              <a:r>
                <a:rPr lang="en-US" sz="3200" dirty="0" smtClean="0">
                  <a:solidFill>
                    <a:srgbClr val="202020"/>
                  </a:solidFill>
                  <a:latin typeface="Crimson Roman" panose="020B0604020202020204" charset="0"/>
                </a:rPr>
                <a:t>Bài toán dân số. Giả sử năm 1995, dân số thế giới là 7 tỉ người. Mỗi năm, dân số thế giới tăng 3%. Đến năm 2020, dân số thế giới là bao nhiêu người?</a:t>
              </a:r>
              <a:endParaRPr lang="en-US" sz="3200" dirty="0">
                <a:solidFill>
                  <a:srgbClr val="202020"/>
                </a:solidFill>
                <a:latin typeface="Crimson Roman" panose="020B0604020202020204" charset="0"/>
              </a:endParaRPr>
            </a:p>
          </p:txBody>
        </p:sp>
      </p:grpSp>
      <mc:AlternateContent xmlns:mc="http://schemas.openxmlformats.org/markup-compatibility/2006" xmlns:a14="http://schemas.microsoft.com/office/drawing/2010/main">
        <mc:Choice Requires="a14">
          <p:sp>
            <p:nvSpPr>
              <p:cNvPr id="9" name="TextBox 8"/>
              <p:cNvSpPr txBox="1"/>
              <p:nvPr/>
            </p:nvSpPr>
            <p:spPr>
              <a:xfrm>
                <a:off x="1028700" y="4587687"/>
                <a:ext cx="11358778" cy="5628079"/>
              </a:xfrm>
              <a:prstGeom prst="rect">
                <a:avLst/>
              </a:prstGeom>
              <a:noFill/>
            </p:spPr>
            <p:txBody>
              <a:bodyPr wrap="square" rtlCol="0">
                <a:spAutoFit/>
              </a:bodyPr>
              <a:lstStyle/>
              <a:p>
                <a:r>
                  <a:rPr lang="en-US" sz="3200" u="sng" dirty="0" smtClean="0">
                    <a:latin typeface="Crimson Roman" panose="020B0604020202020204" charset="0"/>
                  </a:rPr>
                  <a:t>Giải:</a:t>
                </a:r>
                <a:r>
                  <a:rPr lang="en-US" sz="3200" dirty="0" smtClean="0">
                    <a:latin typeface="Crimson Roman" panose="020B0604020202020204" charset="0"/>
                  </a:rPr>
                  <a:t> (Bài có lập trình thuật toán)</a:t>
                </a:r>
                <a:endParaRPr lang="en-US" sz="3200" u="sng" dirty="0" smtClean="0">
                  <a:latin typeface="Crimson Roman" panose="020B0604020202020204" charset="0"/>
                </a:endParaRPr>
              </a:p>
              <a:p>
                <a:r>
                  <a:rPr lang="en-US" sz="3200" dirty="0" smtClean="0">
                    <a:latin typeface="Crimson Roman" panose="020B0604020202020204" charset="0"/>
                  </a:rPr>
                  <a:t>Gọi dân số thế giới sau n năm là P</a:t>
                </a:r>
                <a:r>
                  <a:rPr lang="en-US" sz="3200" baseline="-25000" dirty="0" smtClean="0">
                    <a:latin typeface="Crimson Roman" panose="020B0604020202020204" charset="0"/>
                  </a:rPr>
                  <a:t>n</a:t>
                </a:r>
                <a:r>
                  <a:rPr lang="en-US" sz="3200" dirty="0" smtClean="0">
                    <a:latin typeface="Crimson Roman" panose="020B0604020202020204" charset="0"/>
                  </a:rPr>
                  <a:t>. </a:t>
                </a:r>
              </a:p>
              <a:p>
                <a:r>
                  <a:rPr lang="en-US" sz="3200" dirty="0" smtClean="0">
                    <a:latin typeface="Crimson Roman" panose="020B0604020202020204" charset="0"/>
                  </a:rPr>
                  <a:t>Khi đó, dân số năm thứ n bằng 1,03 dân số thế giới năm (n -1).</a:t>
                </a:r>
              </a:p>
              <a:p>
                <a:r>
                  <a:rPr lang="en-US" sz="3200" dirty="0" smtClean="0">
                    <a:latin typeface="Crimson Roman" panose="020B0604020202020204" charset="0"/>
                  </a:rPr>
                  <a:t>Từ đó ta có công thức truy hồi cho dãy {P</a:t>
                </a:r>
                <a:r>
                  <a:rPr lang="en-US" sz="3200" baseline="-25000" dirty="0" smtClean="0">
                    <a:latin typeface="Crimson Roman" panose="020B0604020202020204" charset="0"/>
                  </a:rPr>
                  <a:t>n</a:t>
                </a:r>
                <a:r>
                  <a:rPr lang="en-US" sz="3200" dirty="0" smtClean="0">
                    <a:latin typeface="Crimson Roman" panose="020B0604020202020204" charset="0"/>
                  </a:rPr>
                  <a:t>}.</a:t>
                </a:r>
              </a:p>
              <a:p>
                <a14:m>
                  <m:oMath xmlns:m="http://schemas.openxmlformats.org/officeDocument/2006/math">
                    <m:r>
                      <a:rPr lang="en-US" sz="3200" b="0" i="1" smtClean="0">
                        <a:latin typeface="Cambria Math" panose="02040503050406030204" pitchFamily="18" charset="0"/>
                      </a:rPr>
                      <m:t>𝑃</m:t>
                    </m:r>
                    <m:r>
                      <a:rPr lang="en-US" sz="3200" b="0" i="1" baseline="-25000" smtClean="0">
                        <a:latin typeface="Cambria Math" panose="02040503050406030204" pitchFamily="18" charset="0"/>
                      </a:rPr>
                      <m:t>𝑛</m:t>
                    </m:r>
                    <m:r>
                      <a:rPr lang="en-US" sz="3200" b="0" i="1" smtClean="0">
                        <a:latin typeface="Cambria Math" panose="02040503050406030204" pitchFamily="18" charset="0"/>
                      </a:rPr>
                      <m:t>=1,03.</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𝑛</m:t>
                        </m:r>
                        <m:r>
                          <a:rPr lang="en-US" sz="3200" b="0" i="1" smtClean="0">
                            <a:latin typeface="Cambria Math" panose="02040503050406030204" pitchFamily="18" charset="0"/>
                          </a:rPr>
                          <m:t>−1</m:t>
                        </m:r>
                      </m:sub>
                    </m:sSub>
                  </m:oMath>
                </a14:m>
                <a:r>
                  <a:rPr lang="en-US" sz="3200" dirty="0" smtClean="0">
                    <a:latin typeface="Crimson Roman" panose="020B0604020202020204" charset="0"/>
                  </a:rPr>
                  <a:t>, với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 ≥1</m:t>
                    </m:r>
                  </m:oMath>
                </a14:m>
                <a:r>
                  <a:rPr lang="en-US" sz="3200" dirty="0" smtClean="0">
                    <a:latin typeface="Crimson Roman" panose="020B0604020202020204" charset="0"/>
                  </a:rPr>
                  <a:t> và P</a:t>
                </a:r>
                <a:r>
                  <a:rPr lang="en-US" sz="3200" baseline="-25000" dirty="0" smtClean="0">
                    <a:latin typeface="Crimson Roman" panose="020B0604020202020204" charset="0"/>
                  </a:rPr>
                  <a:t>0</a:t>
                </a:r>
                <a:r>
                  <a:rPr lang="en-US" sz="3200" dirty="0" smtClean="0">
                    <a:latin typeface="Crimson Roman" panose="020B0604020202020204" charset="0"/>
                  </a:rPr>
                  <a:t> = 7</a:t>
                </a:r>
              </a:p>
              <a:p>
                <a:r>
                  <a:rPr lang="en-US" sz="3200" dirty="0" smtClean="0">
                    <a:latin typeface="Crimson Roman" panose="020B0604020202020204" charset="0"/>
                  </a:rPr>
                  <a:t>Để tính Pn ta có thể sử dụng phương pháp lặp như sau:</a:t>
                </a:r>
              </a:p>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r>
                        <a:rPr lang="en-US" sz="3200" b="0" i="1" baseline="-25000" smtClean="0">
                          <a:latin typeface="Cambria Math" panose="02040503050406030204" pitchFamily="18" charset="0"/>
                        </a:rPr>
                        <m:t>1</m:t>
                      </m:r>
                      <m:r>
                        <a:rPr lang="en-US" sz="3200" b="0" i="1" smtClean="0">
                          <a:latin typeface="Cambria Math" panose="02040503050406030204" pitchFamily="18" charset="0"/>
                        </a:rPr>
                        <m:t>=1,03.</m:t>
                      </m:r>
                      <m:r>
                        <a:rPr lang="en-US" sz="3200" b="0" i="1" smtClean="0">
                          <a:latin typeface="Cambria Math" panose="02040503050406030204" pitchFamily="18" charset="0"/>
                        </a:rPr>
                        <m:t>𝑃</m:t>
                      </m:r>
                      <m:r>
                        <a:rPr lang="en-US" sz="3200" b="0" i="1" baseline="-25000" smtClean="0">
                          <a:latin typeface="Cambria Math" panose="02040503050406030204" pitchFamily="18" charset="0"/>
                        </a:rPr>
                        <m:t>0</m:t>
                      </m:r>
                      <m:r>
                        <a:rPr lang="en-US" sz="3200" b="0" i="1" smtClean="0">
                          <a:latin typeface="Cambria Math" panose="02040503050406030204" pitchFamily="18" charset="0"/>
                        </a:rPr>
                        <m:t>=1,03.7</m:t>
                      </m:r>
                    </m:oMath>
                  </m:oMathPara>
                </a14:m>
                <a:endParaRPr lang="en-US" sz="3200" b="0" dirty="0" smtClean="0">
                  <a:latin typeface="Crimson Roman" panose="020B0604020202020204" charset="0"/>
                </a:endParaRPr>
              </a:p>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r>
                        <a:rPr lang="en-US" sz="3200" b="0" i="1" baseline="-25000" smtClean="0">
                          <a:latin typeface="Cambria Math" panose="02040503050406030204" pitchFamily="18" charset="0"/>
                        </a:rPr>
                        <m:t>2</m:t>
                      </m:r>
                      <m:r>
                        <a:rPr lang="en-US" sz="3200" b="0" i="1" smtClean="0">
                          <a:latin typeface="Cambria Math" panose="02040503050406030204" pitchFamily="18" charset="0"/>
                        </a:rPr>
                        <m:t>=1,03.</m:t>
                      </m:r>
                      <m:r>
                        <a:rPr lang="en-US" sz="3200" b="0" i="1" smtClean="0">
                          <a:latin typeface="Cambria Math" panose="02040503050406030204" pitchFamily="18" charset="0"/>
                        </a:rPr>
                        <m:t>𝑃</m:t>
                      </m:r>
                      <m:r>
                        <a:rPr lang="en-US" sz="3200" b="0" i="1" baseline="-25000" smtClean="0">
                          <a:latin typeface="Cambria Math" panose="02040503050406030204" pitchFamily="18" charset="0"/>
                        </a:rPr>
                        <m:t>1</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(1,03)</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.7</m:t>
                      </m:r>
                    </m:oMath>
                  </m:oMathPara>
                </a14:m>
                <a:endParaRPr lang="en-US" sz="3200" b="0" dirty="0" smtClean="0">
                  <a:latin typeface="Crimson Roman" panose="020B0604020202020204" charset="0"/>
                </a:endParaRPr>
              </a:p>
              <a:p>
                <a:r>
                  <a:rPr lang="en-US" sz="3200" dirty="0" smtClean="0">
                    <a:latin typeface="Crimson Roman" panose="020B0604020202020204" charset="0"/>
                  </a:rPr>
                  <a:t>                                     ............................................</a:t>
                </a:r>
                <a:endParaRPr lang="en-US" sz="3200" dirty="0">
                  <a:latin typeface="Crimson Roman" panose="020B0604020202020204" charset="0"/>
                </a:endParaRPr>
              </a:p>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r>
                        <a:rPr lang="en-US" sz="3200" b="0" i="1" baseline="-25000" smtClean="0">
                          <a:latin typeface="Cambria Math" panose="02040503050406030204" pitchFamily="18" charset="0"/>
                        </a:rPr>
                        <m:t>𝑛</m:t>
                      </m:r>
                      <m:r>
                        <a:rPr lang="en-US" sz="3200" b="0" i="1" smtClean="0">
                          <a:latin typeface="Cambria Math" panose="02040503050406030204" pitchFamily="18" charset="0"/>
                        </a:rPr>
                        <m:t>=1,03.</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𝑃</m:t>
                          </m:r>
                        </m:e>
                        <m:sub>
                          <m:r>
                            <a:rPr lang="en-US" sz="3200" b="0" i="1" smtClean="0">
                              <a:latin typeface="Cambria Math" panose="02040503050406030204" pitchFamily="18" charset="0"/>
                            </a:rPr>
                            <m:t>𝑛</m:t>
                          </m:r>
                          <m:r>
                            <a:rPr lang="en-US" sz="3200" b="0" i="1" smtClean="0">
                              <a:latin typeface="Cambria Math" panose="02040503050406030204" pitchFamily="18" charset="0"/>
                            </a:rPr>
                            <m:t>−1</m:t>
                          </m:r>
                        </m:sub>
                      </m:sSub>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(1,03)</m:t>
                          </m:r>
                        </m:e>
                        <m:sup>
                          <m:r>
                            <a:rPr lang="en-US" sz="3200" b="0" i="1" smtClean="0">
                              <a:latin typeface="Cambria Math" panose="02040503050406030204" pitchFamily="18" charset="0"/>
                            </a:rPr>
                            <m:t>𝑛</m:t>
                          </m:r>
                        </m:sup>
                      </m:sSup>
                      <m:r>
                        <a:rPr lang="en-US" sz="3200" b="0" i="1" smtClean="0">
                          <a:latin typeface="Cambria Math" panose="02040503050406030204" pitchFamily="18" charset="0"/>
                        </a:rPr>
                        <m:t>.7</m:t>
                      </m:r>
                    </m:oMath>
                  </m:oMathPara>
                </a14:m>
                <a:endParaRPr lang="en-US" sz="3200" dirty="0" smtClean="0">
                  <a:latin typeface="Crimson Roman" panose="020B0604020202020204" charset="0"/>
                </a:endParaRPr>
              </a:p>
              <a:p>
                <a:r>
                  <a:rPr lang="en-US" sz="3200" dirty="0" smtClean="0">
                    <a:latin typeface="Crimson Roman" panose="020B0604020202020204" charset="0"/>
                  </a:rPr>
                  <a:t>Từ đó ta có </a:t>
                </a:r>
                <a14:m>
                  <m:oMath xmlns:m="http://schemas.openxmlformats.org/officeDocument/2006/math">
                    <m:r>
                      <a:rPr lang="en-US" sz="3200" b="0" i="1" smtClean="0">
                        <a:latin typeface="Cambria Math" panose="02040503050406030204" pitchFamily="18" charset="0"/>
                      </a:rPr>
                      <m:t>𝑃</m:t>
                    </m:r>
                    <m:r>
                      <a:rPr lang="en-US" sz="3200" b="0" i="1" smtClean="0">
                        <a:latin typeface="Cambria Math" panose="02040503050406030204" pitchFamily="18" charset="0"/>
                      </a:rPr>
                      <m:t>25=</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(1,03)</m:t>
                        </m:r>
                      </m:e>
                      <m:sup>
                        <m:r>
                          <a:rPr lang="en-US" sz="3200" b="0" i="1" smtClean="0">
                            <a:latin typeface="Cambria Math" panose="02040503050406030204" pitchFamily="18" charset="0"/>
                          </a:rPr>
                          <m:t>25</m:t>
                        </m:r>
                      </m:sup>
                    </m:sSup>
                    <m:r>
                      <a:rPr lang="en-US" sz="3200" b="0" i="1" smtClean="0">
                        <a:latin typeface="Cambria Math" panose="02040503050406030204" pitchFamily="18" charset="0"/>
                      </a:rPr>
                      <m:t>.7</m:t>
                    </m:r>
                  </m:oMath>
                </a14:m>
                <a:endParaRPr lang="en-US" sz="3200" dirty="0" smtClean="0">
                  <a:latin typeface="Crimson Roman" panose="020B0604020202020204"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028700" y="4587687"/>
                <a:ext cx="11358778" cy="5628079"/>
              </a:xfrm>
              <a:prstGeom prst="rect">
                <a:avLst/>
              </a:prstGeom>
              <a:blipFill>
                <a:blip r:embed="rId8"/>
                <a:stretch>
                  <a:fillRect l="-1396" t="-1408" b="-867"/>
                </a:stretch>
              </a:blipFill>
            </p:spPr>
            <p:txBody>
              <a:bodyPr/>
              <a:lstStyle/>
              <a:p>
                <a:r>
                  <a:rPr lang="en-US">
                    <a:noFill/>
                  </a:rPr>
                  <a:t> </a:t>
                </a:r>
              </a:p>
            </p:txBody>
          </p:sp>
        </mc:Fallback>
      </mc:AlternateContent>
    </p:spTree>
    <p:extLst>
      <p:ext uri="{BB962C8B-B14F-4D97-AF65-F5344CB8AC3E}">
        <p14:creationId xmlns:p14="http://schemas.microsoft.com/office/powerpoint/2010/main" val="8328879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4215781" y="6899719"/>
            <a:ext cx="2418104" cy="2358581"/>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4215781" y="3837048"/>
            <a:ext cx="2418104" cy="2554230"/>
          </a:xfrm>
          <a:prstGeom prst="rect">
            <a:avLst/>
          </a:prstGeom>
        </p:spPr>
      </p:pic>
      <p:pic>
        <p:nvPicPr>
          <p:cNvPr id="4" name="Picture 4"/>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4215781" y="1028700"/>
            <a:ext cx="2418104" cy="2299907"/>
          </a:xfrm>
          <a:prstGeom prst="rect">
            <a:avLst/>
          </a:prstGeom>
        </p:spPr>
      </p:pic>
      <p:sp>
        <p:nvSpPr>
          <p:cNvPr id="5" name="AutoShape 5"/>
          <p:cNvSpPr/>
          <p:nvPr/>
        </p:nvSpPr>
        <p:spPr>
          <a:xfrm>
            <a:off x="12387478" y="1028700"/>
            <a:ext cx="9525" cy="8229600"/>
          </a:xfrm>
          <a:prstGeom prst="rect">
            <a:avLst/>
          </a:prstGeom>
          <a:solidFill>
            <a:srgbClr val="3D3D3D"/>
          </a:solidFill>
        </p:spPr>
      </p:sp>
      <p:grpSp>
        <p:nvGrpSpPr>
          <p:cNvPr id="6" name="Group 6"/>
          <p:cNvGrpSpPr/>
          <p:nvPr/>
        </p:nvGrpSpPr>
        <p:grpSpPr>
          <a:xfrm>
            <a:off x="1028700" y="1028700"/>
            <a:ext cx="9539999" cy="2877712"/>
            <a:chOff x="0" y="0"/>
            <a:chExt cx="12719999" cy="3836950"/>
          </a:xfrm>
        </p:grpSpPr>
        <p:sp>
          <p:nvSpPr>
            <p:cNvPr id="7" name="TextBox 7"/>
            <p:cNvSpPr txBox="1"/>
            <p:nvPr/>
          </p:nvSpPr>
          <p:spPr>
            <a:xfrm>
              <a:off x="0" y="0"/>
              <a:ext cx="12719999" cy="1880858"/>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Ví dụ </a:t>
              </a:r>
              <a:r>
                <a:rPr lang="en-US" sz="8800" dirty="0" smtClean="0">
                  <a:solidFill>
                    <a:srgbClr val="3849A2"/>
                  </a:solidFill>
                  <a:latin typeface="Crimson Roman" panose="020B0604020202020204" charset="0"/>
                </a:rPr>
                <a:t>5</a:t>
              </a:r>
              <a:endParaRPr lang="en-US" sz="8800" dirty="0">
                <a:solidFill>
                  <a:srgbClr val="3849A2"/>
                </a:solidFill>
                <a:latin typeface="Crimson Roman" panose="020B0604020202020204" charset="0"/>
              </a:endParaRPr>
            </a:p>
          </p:txBody>
        </p:sp>
        <mc:AlternateContent xmlns:mc="http://schemas.openxmlformats.org/markup-compatibility/2006">
          <mc:Choice xmlns:a14="http://schemas.microsoft.com/office/drawing/2010/main" Requires="a14">
            <p:sp>
              <p:nvSpPr>
                <p:cNvPr id="8" name="TextBox 8"/>
                <p:cNvSpPr txBox="1"/>
                <p:nvPr/>
              </p:nvSpPr>
              <p:spPr>
                <a:xfrm>
                  <a:off x="0" y="2745198"/>
                  <a:ext cx="12719999" cy="1091752"/>
                </a:xfrm>
                <a:prstGeom prst="rect">
                  <a:avLst/>
                </a:prstGeom>
              </p:spPr>
              <p:txBody>
                <a:bodyPr lIns="0" tIns="0" rIns="0" bIns="0" rtlCol="0" anchor="t">
                  <a:spAutoFit/>
                </a:bodyPr>
                <a:lstStyle/>
                <a:p>
                  <a:pPr>
                    <a:lnSpc>
                      <a:spcPts val="3120"/>
                    </a:lnSpc>
                  </a:pPr>
                  <a:r>
                    <a:rPr lang="en-US" sz="3200" dirty="0" smtClean="0">
                      <a:solidFill>
                        <a:srgbClr val="202020"/>
                      </a:solidFill>
                      <a:latin typeface="Crimson Roman" panose="020B0604020202020204" charset="0"/>
                    </a:rPr>
                    <a:t>Phương trình </a:t>
                  </a:r>
                  <a14:m>
                    <m:oMath xmlns:m="http://schemas.openxmlformats.org/officeDocument/2006/math">
                      <m:r>
                        <a:rPr lang="en-US" sz="3200" b="0" i="1" smtClean="0">
                          <a:solidFill>
                            <a:srgbClr val="202020"/>
                          </a:solidFill>
                          <a:latin typeface="Cambria Math" panose="02040503050406030204" pitchFamily="18" charset="0"/>
                        </a:rPr>
                        <m:t>𝑥</m:t>
                      </m:r>
                      <m:r>
                        <a:rPr lang="en-US" sz="3200" b="0" i="1" smtClean="0">
                          <a:solidFill>
                            <a:srgbClr val="202020"/>
                          </a:solidFill>
                          <a:latin typeface="Cambria Math" panose="02040503050406030204" pitchFamily="18" charset="0"/>
                        </a:rPr>
                        <m:t>1+</m:t>
                      </m:r>
                      <m:r>
                        <a:rPr lang="en-US" sz="3200" b="0" i="1" smtClean="0">
                          <a:solidFill>
                            <a:srgbClr val="202020"/>
                          </a:solidFill>
                          <a:latin typeface="Cambria Math" panose="02040503050406030204" pitchFamily="18" charset="0"/>
                        </a:rPr>
                        <m:t>𝑥</m:t>
                      </m:r>
                      <m:r>
                        <a:rPr lang="en-US" sz="3200" b="0" i="1" smtClean="0">
                          <a:solidFill>
                            <a:srgbClr val="202020"/>
                          </a:solidFill>
                          <a:latin typeface="Cambria Math" panose="02040503050406030204" pitchFamily="18" charset="0"/>
                        </a:rPr>
                        <m:t>2+</m:t>
                      </m:r>
                      <m:r>
                        <a:rPr lang="en-US" sz="3200" b="0" i="1" smtClean="0">
                          <a:solidFill>
                            <a:srgbClr val="202020"/>
                          </a:solidFill>
                          <a:latin typeface="Cambria Math" panose="02040503050406030204" pitchFamily="18" charset="0"/>
                        </a:rPr>
                        <m:t>𝑥</m:t>
                      </m:r>
                      <m:r>
                        <a:rPr lang="en-US" sz="3200" b="0" i="1" smtClean="0">
                          <a:solidFill>
                            <a:srgbClr val="202020"/>
                          </a:solidFill>
                          <a:latin typeface="Cambria Math" panose="02040503050406030204" pitchFamily="18" charset="0"/>
                        </a:rPr>
                        <m:t>3=11</m:t>
                      </m:r>
                    </m:oMath>
                  </a14:m>
                  <a:r>
                    <a:rPr lang="en-US" sz="3200" dirty="0" smtClean="0">
                      <a:solidFill>
                        <a:srgbClr val="202020"/>
                      </a:solidFill>
                      <a:latin typeface="Crimson Roman" panose="020B0604020202020204" charset="0"/>
                    </a:rPr>
                    <a:t> có bao nhiêu nghiệm nguyên không âm?</a:t>
                  </a:r>
                  <a:endParaRPr lang="en-US" sz="3200" dirty="0">
                    <a:solidFill>
                      <a:srgbClr val="202020"/>
                    </a:solidFill>
                    <a:latin typeface="Crimson Roman" panose="020B0604020202020204" charset="0"/>
                  </a:endParaRPr>
                </a:p>
              </p:txBody>
            </p:sp>
          </mc:Choice>
          <mc:Fallback>
            <p:sp>
              <p:nvSpPr>
                <p:cNvPr id="8" name="TextBox 8"/>
                <p:cNvSpPr txBox="1">
                  <a:spLocks noRot="1" noChangeAspect="1" noMove="1" noResize="1" noEditPoints="1" noAdjustHandles="1" noChangeArrowheads="1" noChangeShapeType="1" noTextEdit="1"/>
                </p:cNvSpPr>
                <p:nvPr/>
              </p:nvSpPr>
              <p:spPr>
                <a:xfrm>
                  <a:off x="0" y="2745198"/>
                  <a:ext cx="12719999" cy="1091752"/>
                </a:xfrm>
                <a:prstGeom prst="rect">
                  <a:avLst/>
                </a:prstGeom>
                <a:blipFill>
                  <a:blip r:embed="rId8"/>
                  <a:stretch>
                    <a:fillRect l="-2620" t="-22222" b="-28889"/>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9" name="TextBox 8"/>
              <p:cNvSpPr txBox="1"/>
              <p:nvPr/>
            </p:nvSpPr>
            <p:spPr>
              <a:xfrm>
                <a:off x="1028700" y="4587687"/>
                <a:ext cx="11358778" cy="3539430"/>
              </a:xfrm>
              <a:prstGeom prst="rect">
                <a:avLst/>
              </a:prstGeom>
              <a:noFill/>
            </p:spPr>
            <p:txBody>
              <a:bodyPr wrap="square" rtlCol="0">
                <a:spAutoFit/>
              </a:bodyPr>
              <a:lstStyle/>
              <a:p>
                <a:r>
                  <a:rPr lang="en-US" sz="3200" u="sng" dirty="0" smtClean="0">
                    <a:latin typeface="Crimson Roman" panose="020B0604020202020204" charset="0"/>
                  </a:rPr>
                  <a:t>Giải:</a:t>
                </a:r>
                <a:r>
                  <a:rPr lang="en-US" sz="3200" dirty="0" smtClean="0">
                    <a:latin typeface="Crimson Roman" panose="020B0604020202020204" charset="0"/>
                  </a:rPr>
                  <a:t> (Bài có lập trình thuật toán</a:t>
                </a:r>
                <a:r>
                  <a:rPr lang="en-US" sz="3200" dirty="0" smtClean="0">
                    <a:latin typeface="Crimson Roman" panose="020B0604020202020204" charset="0"/>
                  </a:rPr>
                  <a:t>)</a:t>
                </a:r>
              </a:p>
              <a:p>
                <a:r>
                  <a:rPr lang="en-US" sz="3200" dirty="0" smtClean="0">
                    <a:latin typeface="Crimson Roman" panose="020B0604020202020204" charset="0"/>
                  </a:rPr>
                  <a:t>Một nghiệm của phương trình là tương ứng với một cách lấy ra 11 phần tử từ một tập có 3 loại phần tử sao cho có</a:t>
                </a:r>
              </a:p>
              <a:p>
                <a14:m>
                  <m:oMath xmlns:m="http://schemas.openxmlformats.org/officeDocument/2006/math">
                    <m:r>
                      <a:rPr lang="en-US" sz="3200" i="1">
                        <a:solidFill>
                          <a:srgbClr val="202020"/>
                        </a:solidFill>
                        <a:latin typeface="Cambria Math" panose="02040503050406030204" pitchFamily="18" charset="0"/>
                      </a:rPr>
                      <m:t>𝑥</m:t>
                    </m:r>
                    <m:r>
                      <a:rPr lang="en-US" sz="3200" i="1">
                        <a:solidFill>
                          <a:srgbClr val="202020"/>
                        </a:solidFill>
                        <a:latin typeface="Cambria Math" panose="02040503050406030204" pitchFamily="18" charset="0"/>
                      </a:rPr>
                      <m:t>1</m:t>
                    </m:r>
                  </m:oMath>
                </a14:m>
                <a:r>
                  <a:rPr lang="en-US" sz="3200" dirty="0" smtClean="0">
                    <a:latin typeface="Cambria Math" panose="02040503050406030204" pitchFamily="18" charset="0"/>
                    <a:ea typeface="Cambria Math" panose="02040503050406030204" pitchFamily="18" charset="0"/>
                  </a:rPr>
                  <a:t> phần tử loại một,</a:t>
                </a:r>
              </a:p>
              <a:p>
                <a14:m>
                  <m:oMath xmlns:m="http://schemas.openxmlformats.org/officeDocument/2006/math">
                    <m:r>
                      <a:rPr lang="en-US" sz="3200" b="0" i="1" smtClean="0">
                        <a:latin typeface="Cambria Math" panose="02040503050406030204" pitchFamily="18" charset="0"/>
                        <a:ea typeface="Cambria Math" panose="02040503050406030204" pitchFamily="18" charset="0"/>
                      </a:rPr>
                      <m:t>𝑥</m:t>
                    </m:r>
                    <m:r>
                      <a:rPr lang="en-US" sz="3200" b="0" i="1" smtClean="0">
                        <a:latin typeface="Cambria Math" panose="02040503050406030204" pitchFamily="18" charset="0"/>
                        <a:ea typeface="Cambria Math" panose="02040503050406030204" pitchFamily="18" charset="0"/>
                      </a:rPr>
                      <m:t>2</m:t>
                    </m:r>
                  </m:oMath>
                </a14:m>
                <a:r>
                  <a:rPr lang="en-US" sz="3200" dirty="0" smtClean="0">
                    <a:latin typeface="Cambria Math" panose="02040503050406030204" pitchFamily="18" charset="0"/>
                    <a:ea typeface="Cambria Math" panose="02040503050406030204" pitchFamily="18" charset="0"/>
                  </a:rPr>
                  <a:t> phần tử loại hai,</a:t>
                </a:r>
              </a:p>
              <a:p>
                <a14:m>
                  <m:oMath xmlns:m="http://schemas.openxmlformats.org/officeDocument/2006/math">
                    <m:r>
                      <a:rPr lang="en-US" sz="3200" b="0" i="1" smtClean="0">
                        <a:latin typeface="Cambria Math" panose="02040503050406030204" pitchFamily="18" charset="0"/>
                        <a:ea typeface="Cambria Math" panose="02040503050406030204" pitchFamily="18" charset="0"/>
                      </a:rPr>
                      <m:t>𝑥</m:t>
                    </m:r>
                    <m:r>
                      <a:rPr lang="en-US" sz="3200" b="0" i="1" smtClean="0">
                        <a:latin typeface="Cambria Math" panose="02040503050406030204" pitchFamily="18" charset="0"/>
                        <a:ea typeface="Cambria Math" panose="02040503050406030204" pitchFamily="18" charset="0"/>
                      </a:rPr>
                      <m:t>3</m:t>
                    </m:r>
                  </m:oMath>
                </a14:m>
                <a:r>
                  <a:rPr lang="en-US" sz="3200" dirty="0" smtClean="0">
                    <a:latin typeface="Cambria Math" panose="02040503050406030204" pitchFamily="18" charset="0"/>
                    <a:ea typeface="Cambria Math" panose="02040503050406030204" pitchFamily="18" charset="0"/>
                  </a:rPr>
                  <a:t> phần tử loại ba.</a:t>
                </a:r>
              </a:p>
              <a:p>
                <a:endParaRPr lang="en-US" sz="3200" dirty="0" smtClean="0">
                  <a:latin typeface="Cambria Math" panose="02040503050406030204" pitchFamily="18" charset="0"/>
                  <a:ea typeface="Cambria Math" panose="02040503050406030204" pitchFamily="18"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1028700" y="4587687"/>
                <a:ext cx="11358778" cy="3539430"/>
              </a:xfrm>
              <a:prstGeom prst="rect">
                <a:avLst/>
              </a:prstGeom>
              <a:blipFill>
                <a:blip r:embed="rId9"/>
                <a:stretch>
                  <a:fillRect l="-1396" t="-2241"/>
                </a:stretch>
              </a:blipFill>
            </p:spPr>
            <p:txBody>
              <a:bodyPr/>
              <a:lstStyle/>
              <a:p>
                <a:r>
                  <a:rPr lang="en-US">
                    <a:noFill/>
                  </a:rPr>
                  <a:t> </a:t>
                </a:r>
              </a:p>
            </p:txBody>
          </p:sp>
        </mc:Fallback>
      </mc:AlternateContent>
    </p:spTree>
    <p:extLst>
      <p:ext uri="{BB962C8B-B14F-4D97-AF65-F5344CB8AC3E}">
        <p14:creationId xmlns:p14="http://schemas.microsoft.com/office/powerpoint/2010/main" val="17735584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4215781" y="6899719"/>
            <a:ext cx="2418104" cy="2358581"/>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4215781" y="3837048"/>
            <a:ext cx="2418104" cy="2554230"/>
          </a:xfrm>
          <a:prstGeom prst="rect">
            <a:avLst/>
          </a:prstGeom>
        </p:spPr>
      </p:pic>
      <p:pic>
        <p:nvPicPr>
          <p:cNvPr id="4" name="Picture 4"/>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4215781" y="1028700"/>
            <a:ext cx="2418104" cy="2299907"/>
          </a:xfrm>
          <a:prstGeom prst="rect">
            <a:avLst/>
          </a:prstGeom>
        </p:spPr>
      </p:pic>
      <p:sp>
        <p:nvSpPr>
          <p:cNvPr id="5" name="AutoShape 5"/>
          <p:cNvSpPr/>
          <p:nvPr/>
        </p:nvSpPr>
        <p:spPr>
          <a:xfrm>
            <a:off x="12387478" y="1028700"/>
            <a:ext cx="9525" cy="8229600"/>
          </a:xfrm>
          <a:prstGeom prst="rect">
            <a:avLst/>
          </a:prstGeom>
          <a:solidFill>
            <a:srgbClr val="3D3D3D"/>
          </a:solidFill>
        </p:spPr>
      </p:sp>
      <p:grpSp>
        <p:nvGrpSpPr>
          <p:cNvPr id="6" name="Group 6"/>
          <p:cNvGrpSpPr/>
          <p:nvPr/>
        </p:nvGrpSpPr>
        <p:grpSpPr>
          <a:xfrm>
            <a:off x="1028700" y="1028700"/>
            <a:ext cx="9539999" cy="2877712"/>
            <a:chOff x="0" y="0"/>
            <a:chExt cx="12719999" cy="3836950"/>
          </a:xfrm>
        </p:grpSpPr>
        <p:sp>
          <p:nvSpPr>
            <p:cNvPr id="7" name="TextBox 7"/>
            <p:cNvSpPr txBox="1"/>
            <p:nvPr/>
          </p:nvSpPr>
          <p:spPr>
            <a:xfrm>
              <a:off x="0" y="0"/>
              <a:ext cx="12719999" cy="1880858"/>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Ví dụ </a:t>
              </a:r>
              <a:r>
                <a:rPr lang="en-US" sz="8800" dirty="0" smtClean="0">
                  <a:solidFill>
                    <a:srgbClr val="3849A2"/>
                  </a:solidFill>
                  <a:latin typeface="Crimson Roman" panose="020B0604020202020204" charset="0"/>
                </a:rPr>
                <a:t>5</a:t>
              </a:r>
              <a:endParaRPr lang="en-US" sz="8800" dirty="0">
                <a:solidFill>
                  <a:srgbClr val="3849A2"/>
                </a:solidFill>
                <a:latin typeface="Crimson Roman" panose="020B0604020202020204" charset="0"/>
              </a:endParaRPr>
            </a:p>
          </p:txBody>
        </p:sp>
        <mc:AlternateContent xmlns:mc="http://schemas.openxmlformats.org/markup-compatibility/2006">
          <mc:Choice xmlns:a14="http://schemas.microsoft.com/office/drawing/2010/main" Requires="a14">
            <p:sp>
              <p:nvSpPr>
                <p:cNvPr id="8" name="TextBox 8"/>
                <p:cNvSpPr txBox="1"/>
                <p:nvPr/>
              </p:nvSpPr>
              <p:spPr>
                <a:xfrm>
                  <a:off x="0" y="2745198"/>
                  <a:ext cx="12719999" cy="1091752"/>
                </a:xfrm>
                <a:prstGeom prst="rect">
                  <a:avLst/>
                </a:prstGeom>
              </p:spPr>
              <p:txBody>
                <a:bodyPr lIns="0" tIns="0" rIns="0" bIns="0" rtlCol="0" anchor="t">
                  <a:spAutoFit/>
                </a:bodyPr>
                <a:lstStyle/>
                <a:p>
                  <a:pPr>
                    <a:lnSpc>
                      <a:spcPts val="3120"/>
                    </a:lnSpc>
                  </a:pPr>
                  <a:r>
                    <a:rPr lang="en-US" sz="3200" dirty="0" smtClean="0">
                      <a:solidFill>
                        <a:srgbClr val="202020"/>
                      </a:solidFill>
                      <a:latin typeface="Crimson Roman" panose="020B0604020202020204" charset="0"/>
                    </a:rPr>
                    <a:t>Phương trình </a:t>
                  </a:r>
                  <a14:m>
                    <m:oMath xmlns:m="http://schemas.openxmlformats.org/officeDocument/2006/math">
                      <m:r>
                        <a:rPr lang="en-US" sz="3200" b="0" i="1" smtClean="0">
                          <a:solidFill>
                            <a:srgbClr val="202020"/>
                          </a:solidFill>
                          <a:latin typeface="Cambria Math" panose="02040503050406030204" pitchFamily="18" charset="0"/>
                        </a:rPr>
                        <m:t>𝑥</m:t>
                      </m:r>
                      <m:r>
                        <a:rPr lang="en-US" sz="3200" b="0" i="1" smtClean="0">
                          <a:solidFill>
                            <a:srgbClr val="202020"/>
                          </a:solidFill>
                          <a:latin typeface="Cambria Math" panose="02040503050406030204" pitchFamily="18" charset="0"/>
                        </a:rPr>
                        <m:t>1+</m:t>
                      </m:r>
                      <m:r>
                        <a:rPr lang="en-US" sz="3200" b="0" i="1" smtClean="0">
                          <a:solidFill>
                            <a:srgbClr val="202020"/>
                          </a:solidFill>
                          <a:latin typeface="Cambria Math" panose="02040503050406030204" pitchFamily="18" charset="0"/>
                        </a:rPr>
                        <m:t>𝑥</m:t>
                      </m:r>
                      <m:r>
                        <a:rPr lang="en-US" sz="3200" b="0" i="1" smtClean="0">
                          <a:solidFill>
                            <a:srgbClr val="202020"/>
                          </a:solidFill>
                          <a:latin typeface="Cambria Math" panose="02040503050406030204" pitchFamily="18" charset="0"/>
                        </a:rPr>
                        <m:t>2+</m:t>
                      </m:r>
                      <m:r>
                        <a:rPr lang="en-US" sz="3200" b="0" i="1" smtClean="0">
                          <a:solidFill>
                            <a:srgbClr val="202020"/>
                          </a:solidFill>
                          <a:latin typeface="Cambria Math" panose="02040503050406030204" pitchFamily="18" charset="0"/>
                        </a:rPr>
                        <m:t>𝑥</m:t>
                      </m:r>
                      <m:r>
                        <a:rPr lang="en-US" sz="3200" b="0" i="1" smtClean="0">
                          <a:solidFill>
                            <a:srgbClr val="202020"/>
                          </a:solidFill>
                          <a:latin typeface="Cambria Math" panose="02040503050406030204" pitchFamily="18" charset="0"/>
                        </a:rPr>
                        <m:t>3=11</m:t>
                      </m:r>
                    </m:oMath>
                  </a14:m>
                  <a:r>
                    <a:rPr lang="en-US" sz="3200" dirty="0" smtClean="0">
                      <a:solidFill>
                        <a:srgbClr val="202020"/>
                      </a:solidFill>
                      <a:latin typeface="Crimson Roman" panose="020B0604020202020204" charset="0"/>
                    </a:rPr>
                    <a:t> có bao nhiêu nghiệm nguyên không âm?</a:t>
                  </a:r>
                  <a:endParaRPr lang="en-US" sz="3200" dirty="0">
                    <a:solidFill>
                      <a:srgbClr val="202020"/>
                    </a:solidFill>
                    <a:latin typeface="Crimson Roman" panose="020B0604020202020204" charset="0"/>
                  </a:endParaRPr>
                </a:p>
              </p:txBody>
            </p:sp>
          </mc:Choice>
          <mc:Fallback>
            <p:sp>
              <p:nvSpPr>
                <p:cNvPr id="8" name="TextBox 8"/>
                <p:cNvSpPr txBox="1">
                  <a:spLocks noRot="1" noChangeAspect="1" noMove="1" noResize="1" noEditPoints="1" noAdjustHandles="1" noChangeArrowheads="1" noChangeShapeType="1" noTextEdit="1"/>
                </p:cNvSpPr>
                <p:nvPr/>
              </p:nvSpPr>
              <p:spPr>
                <a:xfrm>
                  <a:off x="0" y="2745198"/>
                  <a:ext cx="12719999" cy="1091752"/>
                </a:xfrm>
                <a:prstGeom prst="rect">
                  <a:avLst/>
                </a:prstGeom>
                <a:blipFill>
                  <a:blip r:embed="rId8"/>
                  <a:stretch>
                    <a:fillRect l="-2620" t="-22222" b="-28889"/>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9" name="TextBox 8"/>
              <p:cNvSpPr txBox="1"/>
              <p:nvPr/>
            </p:nvSpPr>
            <p:spPr>
              <a:xfrm>
                <a:off x="1028700" y="4587687"/>
                <a:ext cx="11358778" cy="4524315"/>
              </a:xfrm>
              <a:prstGeom prst="rect">
                <a:avLst/>
              </a:prstGeom>
              <a:noFill/>
            </p:spPr>
            <p:txBody>
              <a:bodyPr wrap="square" rtlCol="0">
                <a:spAutoFit/>
              </a:bodyPr>
              <a:lstStyle/>
              <a:p>
                <a:r>
                  <a:rPr lang="en-US" sz="3200" u="sng" dirty="0" smtClean="0">
                    <a:latin typeface="Crimson Roman" panose="020B0604020202020204" charset="0"/>
                  </a:rPr>
                  <a:t>Giải:</a:t>
                </a:r>
                <a:r>
                  <a:rPr lang="en-US" sz="3200" dirty="0" smtClean="0">
                    <a:latin typeface="Crimson Roman" panose="020B0604020202020204" charset="0"/>
                  </a:rPr>
                  <a:t> (Bài có lập trình thuật toán</a:t>
                </a:r>
                <a:r>
                  <a:rPr lang="en-US" sz="3200" dirty="0" smtClean="0">
                    <a:latin typeface="Crimson Roman" panose="020B0604020202020204" charset="0"/>
                  </a:rPr>
                  <a:t>)</a:t>
                </a:r>
              </a:p>
              <a:p>
                <a:r>
                  <a:rPr lang="en-US" sz="3200" dirty="0" smtClean="0">
                    <a:latin typeface="Crimson Roman" panose="020B0604020202020204" charset="0"/>
                  </a:rPr>
                  <a:t>Một nghiệm của phương trình là tương ứng với một cách lấy ra 11 phần tử từ một tập có 3 loại phần tử sao cho có</a:t>
                </a:r>
              </a:p>
              <a:p>
                <a14:m>
                  <m:oMath xmlns:m="http://schemas.openxmlformats.org/officeDocument/2006/math">
                    <m:r>
                      <a:rPr lang="en-US" sz="3200" i="1">
                        <a:solidFill>
                          <a:srgbClr val="202020"/>
                        </a:solidFill>
                        <a:latin typeface="Cambria Math" panose="02040503050406030204" pitchFamily="18" charset="0"/>
                      </a:rPr>
                      <m:t>𝑥</m:t>
                    </m:r>
                    <m:r>
                      <a:rPr lang="en-US" sz="3200" i="1">
                        <a:solidFill>
                          <a:srgbClr val="202020"/>
                        </a:solidFill>
                        <a:latin typeface="Cambria Math" panose="02040503050406030204" pitchFamily="18" charset="0"/>
                      </a:rPr>
                      <m:t>1</m:t>
                    </m:r>
                  </m:oMath>
                </a14:m>
                <a:r>
                  <a:rPr lang="en-US" sz="3200" dirty="0" smtClean="0">
                    <a:latin typeface="Cambria Math" panose="02040503050406030204" pitchFamily="18" charset="0"/>
                    <a:ea typeface="Cambria Math" panose="02040503050406030204" pitchFamily="18" charset="0"/>
                  </a:rPr>
                  <a:t> phần tử loại một,</a:t>
                </a:r>
              </a:p>
              <a:p>
                <a14:m>
                  <m:oMath xmlns:m="http://schemas.openxmlformats.org/officeDocument/2006/math">
                    <m:r>
                      <a:rPr lang="en-US" sz="3200" b="0" i="1" smtClean="0">
                        <a:latin typeface="Cambria Math" panose="02040503050406030204" pitchFamily="18" charset="0"/>
                        <a:ea typeface="Cambria Math" panose="02040503050406030204" pitchFamily="18" charset="0"/>
                      </a:rPr>
                      <m:t>𝑥</m:t>
                    </m:r>
                    <m:r>
                      <a:rPr lang="en-US" sz="3200" b="0" i="1" smtClean="0">
                        <a:latin typeface="Cambria Math" panose="02040503050406030204" pitchFamily="18" charset="0"/>
                        <a:ea typeface="Cambria Math" panose="02040503050406030204" pitchFamily="18" charset="0"/>
                      </a:rPr>
                      <m:t>2</m:t>
                    </m:r>
                  </m:oMath>
                </a14:m>
                <a:r>
                  <a:rPr lang="en-US" sz="3200" dirty="0" smtClean="0">
                    <a:latin typeface="Cambria Math" panose="02040503050406030204" pitchFamily="18" charset="0"/>
                    <a:ea typeface="Cambria Math" panose="02040503050406030204" pitchFamily="18" charset="0"/>
                  </a:rPr>
                  <a:t> phần tử loại hai,</a:t>
                </a:r>
              </a:p>
              <a:p>
                <a14:m>
                  <m:oMath xmlns:m="http://schemas.openxmlformats.org/officeDocument/2006/math">
                    <m:r>
                      <a:rPr lang="en-US" sz="3200" b="0" i="1" smtClean="0">
                        <a:latin typeface="Cambria Math" panose="02040503050406030204" pitchFamily="18" charset="0"/>
                        <a:ea typeface="Cambria Math" panose="02040503050406030204" pitchFamily="18" charset="0"/>
                      </a:rPr>
                      <m:t>𝑥</m:t>
                    </m:r>
                    <m:r>
                      <a:rPr lang="en-US" sz="3200" b="0" i="1" smtClean="0">
                        <a:latin typeface="Cambria Math" panose="02040503050406030204" pitchFamily="18" charset="0"/>
                        <a:ea typeface="Cambria Math" panose="02040503050406030204" pitchFamily="18" charset="0"/>
                      </a:rPr>
                      <m:t>3</m:t>
                    </m:r>
                  </m:oMath>
                </a14:m>
                <a:r>
                  <a:rPr lang="en-US" sz="3200" dirty="0" smtClean="0">
                    <a:latin typeface="Cambria Math" panose="02040503050406030204" pitchFamily="18" charset="0"/>
                    <a:ea typeface="Cambria Math" panose="02040503050406030204" pitchFamily="18" charset="0"/>
                  </a:rPr>
                  <a:t> phần tử loại ba.</a:t>
                </a:r>
              </a:p>
              <a:p>
                <a:r>
                  <a:rPr lang="en-US" sz="3200" dirty="0" smtClean="0">
                    <a:latin typeface="Cambria Math" panose="02040503050406030204" pitchFamily="18" charset="0"/>
                    <a:ea typeface="Cambria Math" panose="02040503050406030204" pitchFamily="18" charset="0"/>
                  </a:rPr>
                  <a:t>Do đó, số nghiệm của phương trình là bằng số tổ hợp lặp chập 11 từ một tập có 3 phần tử.</a:t>
                </a:r>
                <a:endParaRPr lang="en-US" sz="3200" dirty="0" smtClean="0">
                  <a:latin typeface="Cambria Math" panose="02040503050406030204" pitchFamily="18" charset="0"/>
                  <a:ea typeface="Cambria Math" panose="02040503050406030204" pitchFamily="18" charset="0"/>
                </a:endParaRPr>
              </a:p>
              <a:p>
                <a:endParaRPr lang="en-US" sz="3200" dirty="0" smtClean="0">
                  <a:latin typeface="Cambria Math" panose="02040503050406030204" pitchFamily="18" charset="0"/>
                  <a:ea typeface="Cambria Math" panose="02040503050406030204" pitchFamily="18"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1028700" y="4587687"/>
                <a:ext cx="11358778" cy="4524315"/>
              </a:xfrm>
              <a:prstGeom prst="rect">
                <a:avLst/>
              </a:prstGeom>
              <a:blipFill>
                <a:blip r:embed="rId9"/>
                <a:stretch>
                  <a:fillRect l="-1396" t="-1752"/>
                </a:stretch>
              </a:blipFill>
            </p:spPr>
            <p:txBody>
              <a:bodyPr/>
              <a:lstStyle/>
              <a:p>
                <a:r>
                  <a:rPr lang="en-US">
                    <a:noFill/>
                  </a:rPr>
                  <a:t> </a:t>
                </a:r>
              </a:p>
            </p:txBody>
          </p:sp>
        </mc:Fallback>
      </mc:AlternateContent>
    </p:spTree>
    <p:extLst>
      <p:ext uri="{BB962C8B-B14F-4D97-AF65-F5344CB8AC3E}">
        <p14:creationId xmlns:p14="http://schemas.microsoft.com/office/powerpoint/2010/main" val="10448887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4215781" y="6899719"/>
            <a:ext cx="2418104" cy="2358581"/>
          </a:xfrm>
          <a:prstGeom prst="rect">
            <a:avLst/>
          </a:prstGeom>
        </p:spPr>
      </p:pic>
      <p:pic>
        <p:nvPicPr>
          <p:cNvPr id="3" name="Picture 3"/>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rcRect/>
          <a:stretch>
            <a:fillRect/>
          </a:stretch>
        </p:blipFill>
        <p:spPr>
          <a:xfrm>
            <a:off x="14215781" y="3837048"/>
            <a:ext cx="2418104" cy="2554230"/>
          </a:xfrm>
          <a:prstGeom prst="rect">
            <a:avLst/>
          </a:prstGeom>
        </p:spPr>
      </p:pic>
      <p:pic>
        <p:nvPicPr>
          <p:cNvPr id="4" name="Picture 4"/>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a:stretch>
            <a:fillRect/>
          </a:stretch>
        </p:blipFill>
        <p:spPr>
          <a:xfrm>
            <a:off x="14215781" y="1028700"/>
            <a:ext cx="2418104" cy="2299907"/>
          </a:xfrm>
          <a:prstGeom prst="rect">
            <a:avLst/>
          </a:prstGeom>
        </p:spPr>
      </p:pic>
      <p:sp>
        <p:nvSpPr>
          <p:cNvPr id="5" name="AutoShape 5"/>
          <p:cNvSpPr/>
          <p:nvPr/>
        </p:nvSpPr>
        <p:spPr>
          <a:xfrm>
            <a:off x="12387478" y="1028700"/>
            <a:ext cx="9525" cy="8229600"/>
          </a:xfrm>
          <a:prstGeom prst="rect">
            <a:avLst/>
          </a:prstGeom>
          <a:solidFill>
            <a:srgbClr val="3D3D3D"/>
          </a:solidFill>
        </p:spPr>
      </p:sp>
      <p:sp>
        <p:nvSpPr>
          <p:cNvPr id="7" name="TextBox 7"/>
          <p:cNvSpPr txBox="1"/>
          <p:nvPr/>
        </p:nvSpPr>
        <p:spPr>
          <a:xfrm>
            <a:off x="1028700" y="1028700"/>
            <a:ext cx="9539999" cy="1410643"/>
          </a:xfrm>
          <a:prstGeom prst="rect">
            <a:avLst/>
          </a:prstGeom>
        </p:spPr>
        <p:txBody>
          <a:bodyPr lIns="0" tIns="0" rIns="0" bIns="0" rtlCol="0" anchor="t">
            <a:spAutoFit/>
          </a:bodyPr>
          <a:lstStyle/>
          <a:p>
            <a:pPr>
              <a:lnSpc>
                <a:spcPts val="11000"/>
              </a:lnSpc>
            </a:pPr>
            <a:r>
              <a:rPr lang="en-US" sz="8800" dirty="0" smtClean="0">
                <a:solidFill>
                  <a:srgbClr val="3849A2"/>
                </a:solidFill>
                <a:latin typeface="Crimson Roman" panose="020B0604020202020204" charset="0"/>
              </a:rPr>
              <a:t>Ví dụ </a:t>
            </a:r>
            <a:r>
              <a:rPr lang="en-US" sz="8800" dirty="0" smtClean="0">
                <a:solidFill>
                  <a:srgbClr val="3849A2"/>
                </a:solidFill>
                <a:latin typeface="Crimson Roman" panose="020B0604020202020204" charset="0"/>
              </a:rPr>
              <a:t>5</a:t>
            </a:r>
            <a:endParaRPr lang="en-US" sz="8800" dirty="0">
              <a:solidFill>
                <a:srgbClr val="3849A2"/>
              </a:solidFill>
              <a:latin typeface="Crimson Roman" panose="020B0604020202020204" charset="0"/>
            </a:endParaRPr>
          </a:p>
        </p:txBody>
      </p:sp>
      <mc:AlternateContent xmlns:mc="http://schemas.openxmlformats.org/markup-compatibility/2006">
        <mc:Choice xmlns:a14="http://schemas.microsoft.com/office/drawing/2010/main" Requires="a14">
          <p:sp>
            <p:nvSpPr>
              <p:cNvPr id="9" name="TextBox 8"/>
              <p:cNvSpPr txBox="1"/>
              <p:nvPr/>
            </p:nvSpPr>
            <p:spPr>
              <a:xfrm>
                <a:off x="1028700" y="2852005"/>
                <a:ext cx="11358778" cy="1578830"/>
              </a:xfrm>
              <a:prstGeom prst="rect">
                <a:avLst/>
              </a:prstGeom>
              <a:noFill/>
            </p:spPr>
            <p:txBody>
              <a:bodyPr wrap="square" rtlCol="0">
                <a:spAutoFit/>
              </a:bodyPr>
              <a:lstStyle/>
              <a:p>
                <a:r>
                  <a:rPr lang="en-US" sz="3200" dirty="0" smtClean="0">
                    <a:latin typeface="Cambria Math" panose="02040503050406030204" pitchFamily="18" charset="0"/>
                    <a:ea typeface="Cambria Math" panose="02040503050406030204" pitchFamily="18" charset="0"/>
                  </a:rPr>
                  <a:t>Theo định lý về tổ hợp lặp, nó bằng:</a:t>
                </a:r>
              </a:p>
              <a:p>
                <a14:m>
                  <m:oMathPara xmlns:m="http://schemas.openxmlformats.org/officeDocument/2006/math">
                    <m:oMathParaPr>
                      <m:jc m:val="centerGroup"/>
                    </m:oMathParaPr>
                    <m:oMath xmlns:m="http://schemas.openxmlformats.org/officeDocument/2006/math">
                      <m:sSubSup>
                        <m:sSubSupPr>
                          <m:ctrlPr>
                            <a:rPr lang="en-US" sz="3200" i="1" smtClean="0">
                              <a:latin typeface="Cambria Math" panose="02040503050406030204" pitchFamily="18" charset="0"/>
                              <a:ea typeface="Cambria Math" panose="02040503050406030204" pitchFamily="18" charset="0"/>
                            </a:rPr>
                          </m:ctrlPr>
                        </m:sSubSupPr>
                        <m:e>
                          <m:r>
                            <a:rPr lang="en-US" sz="3200" b="0" i="1" smtClean="0">
                              <a:latin typeface="Cambria Math" panose="02040503050406030204" pitchFamily="18" charset="0"/>
                              <a:ea typeface="Cambria Math" panose="02040503050406030204" pitchFamily="18" charset="0"/>
                            </a:rPr>
                            <m:t>𝐶</m:t>
                          </m:r>
                        </m:e>
                        <m:sub>
                          <m:r>
                            <a:rPr lang="en-US" sz="3200" b="0" i="1" smtClean="0">
                              <a:latin typeface="Cambria Math" panose="02040503050406030204" pitchFamily="18" charset="0"/>
                              <a:ea typeface="Cambria Math" panose="02040503050406030204" pitchFamily="18" charset="0"/>
                            </a:rPr>
                            <m:t>3+11−1</m:t>
                          </m:r>
                        </m:sub>
                        <m:sup>
                          <m:r>
                            <a:rPr lang="en-US" sz="3200" b="0" i="1" smtClean="0">
                              <a:latin typeface="Cambria Math" panose="02040503050406030204" pitchFamily="18" charset="0"/>
                              <a:ea typeface="Cambria Math" panose="02040503050406030204" pitchFamily="18" charset="0"/>
                            </a:rPr>
                            <m:t>11</m:t>
                          </m:r>
                        </m:sup>
                      </m:sSubSup>
                      <m:r>
                        <a:rPr lang="en-US" sz="3200" b="0" i="1" smtClean="0">
                          <a:latin typeface="Cambria Math" panose="02040503050406030204" pitchFamily="18" charset="0"/>
                          <a:ea typeface="Cambria Math" panose="02040503050406030204" pitchFamily="18" charset="0"/>
                        </a:rPr>
                        <m:t>=</m:t>
                      </m:r>
                      <m:sSubSup>
                        <m:sSubSupPr>
                          <m:ctrlPr>
                            <a:rPr lang="en-US" sz="3200" b="0" i="1" smtClean="0">
                              <a:latin typeface="Cambria Math" panose="02040503050406030204" pitchFamily="18" charset="0"/>
                              <a:ea typeface="Cambria Math" panose="02040503050406030204" pitchFamily="18" charset="0"/>
                            </a:rPr>
                          </m:ctrlPr>
                        </m:sSubSupPr>
                        <m:e>
                          <m:r>
                            <a:rPr lang="en-US" sz="3200" b="0" i="1" smtClean="0">
                              <a:latin typeface="Cambria Math" panose="02040503050406030204" pitchFamily="18" charset="0"/>
                              <a:ea typeface="Cambria Math" panose="02040503050406030204" pitchFamily="18" charset="0"/>
                            </a:rPr>
                            <m:t>𝐶</m:t>
                          </m:r>
                        </m:e>
                        <m:sub>
                          <m:r>
                            <a:rPr lang="en-US" sz="3200" b="0" i="1" smtClean="0">
                              <a:latin typeface="Cambria Math" panose="02040503050406030204" pitchFamily="18" charset="0"/>
                              <a:ea typeface="Cambria Math" panose="02040503050406030204" pitchFamily="18" charset="0"/>
                            </a:rPr>
                            <m:t>13</m:t>
                          </m:r>
                        </m:sub>
                        <m:sup>
                          <m:r>
                            <a:rPr lang="en-US" sz="3200" b="0" i="1" smtClean="0">
                              <a:latin typeface="Cambria Math" panose="02040503050406030204" pitchFamily="18" charset="0"/>
                              <a:ea typeface="Cambria Math" panose="02040503050406030204" pitchFamily="18" charset="0"/>
                            </a:rPr>
                            <m:t>11</m:t>
                          </m:r>
                        </m:sup>
                      </m:sSubSup>
                      <m:r>
                        <a:rPr lang="en-US" sz="3200" b="0" i="1" smtClean="0">
                          <a:latin typeface="Cambria Math" panose="02040503050406030204" pitchFamily="18" charset="0"/>
                          <a:ea typeface="Cambria Math" panose="02040503050406030204" pitchFamily="18" charset="0"/>
                        </a:rPr>
                        <m:t>=</m:t>
                      </m:r>
                      <m:sSubSup>
                        <m:sSubSupPr>
                          <m:ctrlPr>
                            <a:rPr lang="en-US" sz="3200" b="0" i="1" smtClean="0">
                              <a:latin typeface="Cambria Math" panose="02040503050406030204" pitchFamily="18" charset="0"/>
                              <a:ea typeface="Cambria Math" panose="02040503050406030204" pitchFamily="18" charset="0"/>
                            </a:rPr>
                          </m:ctrlPr>
                        </m:sSubSupPr>
                        <m:e>
                          <m:r>
                            <a:rPr lang="en-US" sz="3200" b="0" i="1" smtClean="0">
                              <a:latin typeface="Cambria Math" panose="02040503050406030204" pitchFamily="18" charset="0"/>
                              <a:ea typeface="Cambria Math" panose="02040503050406030204" pitchFamily="18" charset="0"/>
                            </a:rPr>
                            <m:t>𝐶</m:t>
                          </m:r>
                        </m:e>
                        <m:sub>
                          <m:r>
                            <a:rPr lang="en-US" sz="3200" b="0" i="1" smtClean="0">
                              <a:latin typeface="Cambria Math" panose="02040503050406030204" pitchFamily="18" charset="0"/>
                              <a:ea typeface="Cambria Math" panose="02040503050406030204" pitchFamily="18" charset="0"/>
                            </a:rPr>
                            <m:t>13</m:t>
                          </m:r>
                        </m:sub>
                        <m:sup>
                          <m:r>
                            <a:rPr lang="en-US" sz="3200" b="0" i="1" smtClean="0">
                              <a:latin typeface="Cambria Math" panose="02040503050406030204" pitchFamily="18" charset="0"/>
                              <a:ea typeface="Cambria Math" panose="02040503050406030204" pitchFamily="18" charset="0"/>
                            </a:rPr>
                            <m:t>2</m:t>
                          </m:r>
                        </m:sup>
                      </m:sSubSup>
                      <m:r>
                        <a:rPr lang="en-US" sz="3200" b="0" i="1" smtClean="0">
                          <a:latin typeface="Cambria Math" panose="02040503050406030204" pitchFamily="18" charset="0"/>
                          <a:ea typeface="Cambria Math" panose="02040503050406030204" pitchFamily="18" charset="0"/>
                        </a:rPr>
                        <m:t>=78</m:t>
                      </m:r>
                    </m:oMath>
                  </m:oMathPara>
                </a14:m>
                <a:endParaRPr lang="en-US" sz="3200" dirty="0" smtClean="0">
                  <a:latin typeface="Cambria Math" panose="02040503050406030204" pitchFamily="18" charset="0"/>
                  <a:ea typeface="Cambria Math" panose="02040503050406030204" pitchFamily="18" charset="0"/>
                </a:endParaRPr>
              </a:p>
              <a:p>
                <a:r>
                  <a:rPr lang="en-US" sz="3200" dirty="0" smtClean="0">
                    <a:latin typeface="Cambria Math" panose="02040503050406030204" pitchFamily="18" charset="0"/>
                    <a:ea typeface="Cambria Math" panose="02040503050406030204" pitchFamily="18" charset="0"/>
                  </a:rPr>
                  <a:t>Kết luận: Phương trình có 78 nghiệm nguyên không âm.</a:t>
                </a:r>
                <a:endParaRPr lang="en-US" sz="3200" dirty="0" smtClean="0">
                  <a:latin typeface="Cambria Math" panose="02040503050406030204" pitchFamily="18" charset="0"/>
                  <a:ea typeface="Cambria Math" panose="02040503050406030204" pitchFamily="18" charset="0"/>
                </a:endParaRPr>
              </a:p>
            </p:txBody>
          </p:sp>
        </mc:Choice>
        <mc:Fallback>
          <p:sp>
            <p:nvSpPr>
              <p:cNvPr id="9" name="TextBox 8"/>
              <p:cNvSpPr txBox="1">
                <a:spLocks noRot="1" noChangeAspect="1" noMove="1" noResize="1" noEditPoints="1" noAdjustHandles="1" noChangeArrowheads="1" noChangeShapeType="1" noTextEdit="1"/>
              </p:cNvSpPr>
              <p:nvPr/>
            </p:nvSpPr>
            <p:spPr>
              <a:xfrm>
                <a:off x="1028700" y="2852005"/>
                <a:ext cx="11358778" cy="1578830"/>
              </a:xfrm>
              <a:prstGeom prst="rect">
                <a:avLst/>
              </a:prstGeom>
              <a:blipFill>
                <a:blip r:embed="rId8"/>
                <a:stretch>
                  <a:fillRect l="-1396" t="-5019" b="-11583"/>
                </a:stretch>
              </a:blipFill>
            </p:spPr>
            <p:txBody>
              <a:bodyPr/>
              <a:lstStyle/>
              <a:p>
                <a:r>
                  <a:rPr lang="en-US">
                    <a:noFill/>
                  </a:rPr>
                  <a:t> </a:t>
                </a:r>
              </a:p>
            </p:txBody>
          </p:sp>
        </mc:Fallback>
      </mc:AlternateContent>
    </p:spTree>
    <p:extLst>
      <p:ext uri="{BB962C8B-B14F-4D97-AF65-F5344CB8AC3E}">
        <p14:creationId xmlns:p14="http://schemas.microsoft.com/office/powerpoint/2010/main" val="6442750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3F1"/>
        </a:solidFill>
        <a:effectLst/>
      </p:bgPr>
    </p:bg>
    <p:spTree>
      <p:nvGrpSpPr>
        <p:cNvPr id="1" name=""/>
        <p:cNvGrpSpPr/>
        <p:nvPr/>
      </p:nvGrpSpPr>
      <p:grpSpPr>
        <a:xfrm>
          <a:off x="0" y="0"/>
          <a:ext cx="0" cy="0"/>
          <a:chOff x="0" y="0"/>
          <a:chExt cx="0" cy="0"/>
        </a:xfrm>
      </p:grpSpPr>
      <p:sp>
        <p:nvSpPr>
          <p:cNvPr id="2" name="AutoShape 2"/>
          <p:cNvSpPr/>
          <p:nvPr/>
        </p:nvSpPr>
        <p:spPr>
          <a:xfrm>
            <a:off x="7288514" y="1610983"/>
            <a:ext cx="9525" cy="7065034"/>
          </a:xfrm>
          <a:prstGeom prst="rect">
            <a:avLst/>
          </a:prstGeom>
          <a:solidFill>
            <a:srgbClr val="3D3D3D"/>
          </a:solidFill>
        </p:spPr>
      </p:sp>
      <p:sp>
        <p:nvSpPr>
          <p:cNvPr id="4" name="TextBox 4"/>
          <p:cNvSpPr txBox="1"/>
          <p:nvPr/>
        </p:nvSpPr>
        <p:spPr>
          <a:xfrm>
            <a:off x="7772400" y="3027536"/>
            <a:ext cx="9220200" cy="2821285"/>
          </a:xfrm>
          <a:prstGeom prst="rect">
            <a:avLst/>
          </a:prstGeom>
        </p:spPr>
        <p:txBody>
          <a:bodyPr wrap="square" lIns="0" tIns="0" rIns="0" bIns="0" rtlCol="0" anchor="t">
            <a:spAutoFit/>
          </a:bodyPr>
          <a:lstStyle/>
          <a:p>
            <a:pPr>
              <a:lnSpc>
                <a:spcPts val="11000"/>
              </a:lnSpc>
            </a:pPr>
            <a:r>
              <a:rPr lang="en-US" sz="10000" dirty="0">
                <a:solidFill>
                  <a:srgbClr val="3849A2"/>
                </a:solidFill>
                <a:latin typeface="Crimson Roman" panose="020B0604020202020204" charset="0"/>
              </a:rPr>
              <a:t>Cảm </a:t>
            </a:r>
            <a:r>
              <a:rPr lang="en-US" sz="10000" dirty="0" smtClean="0">
                <a:solidFill>
                  <a:srgbClr val="3849A2"/>
                </a:solidFill>
                <a:latin typeface="Crimson Roman" panose="020B0604020202020204" charset="0"/>
              </a:rPr>
              <a:t>ơn các bạn đã lắng nghe!</a:t>
            </a:r>
            <a:endParaRPr lang="en-US" sz="10000" dirty="0">
              <a:solidFill>
                <a:srgbClr val="3849A2"/>
              </a:solidFill>
              <a:latin typeface="Crimson Roman" panose="020B0604020202020204" charset="0"/>
            </a:endParaRPr>
          </a:p>
        </p:txBody>
      </p:sp>
      <p:pic>
        <p:nvPicPr>
          <p:cNvPr id="6" name="Picture 6"/>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rcRect/>
          <a:stretch>
            <a:fillRect/>
          </a:stretch>
        </p:blipFill>
        <p:spPr>
          <a:xfrm>
            <a:off x="1858514" y="2309086"/>
            <a:ext cx="4242665" cy="5668828"/>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543</TotalTime>
  <Words>1581</Words>
  <Application>Microsoft Office PowerPoint</Application>
  <PresentationFormat>Custom</PresentationFormat>
  <Paragraphs>163</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Crimson Roman</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Nevol</cp:lastModifiedBy>
  <cp:revision>32</cp:revision>
  <dcterms:created xsi:type="dcterms:W3CDTF">2006-08-16T00:00:00Z</dcterms:created>
  <dcterms:modified xsi:type="dcterms:W3CDTF">2021-11-08T15:03:16Z</dcterms:modified>
  <dc:identifier>DAEvDOv8wk0</dc:identifier>
</cp:coreProperties>
</file>