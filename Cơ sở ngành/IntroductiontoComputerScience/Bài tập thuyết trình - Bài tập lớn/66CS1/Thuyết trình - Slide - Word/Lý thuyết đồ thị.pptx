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48" r:id="rId5"/>
  </p:sldMasterIdLst>
  <p:notesMasterIdLst>
    <p:notesMasterId r:id="rId59"/>
  </p:notesMasterIdLst>
  <p:sldIdLst>
    <p:sldId id="259" r:id="rId6"/>
    <p:sldId id="256" r:id="rId7"/>
    <p:sldId id="258"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83" r:id="rId24"/>
    <p:sldId id="284" r:id="rId25"/>
    <p:sldId id="285" r:id="rId26"/>
    <p:sldId id="286" r:id="rId27"/>
    <p:sldId id="287" r:id="rId28"/>
    <p:sldId id="288" r:id="rId29"/>
    <p:sldId id="275" r:id="rId30"/>
    <p:sldId id="276" r:id="rId31"/>
    <p:sldId id="277" r:id="rId32"/>
    <p:sldId id="278" r:id="rId33"/>
    <p:sldId id="279" r:id="rId34"/>
    <p:sldId id="280" r:id="rId35"/>
    <p:sldId id="281" r:id="rId36"/>
    <p:sldId id="282" r:id="rId37"/>
    <p:sldId id="289" r:id="rId38"/>
    <p:sldId id="290" r:id="rId39"/>
    <p:sldId id="298" r:id="rId40"/>
    <p:sldId id="299" r:id="rId41"/>
    <p:sldId id="300" r:id="rId42"/>
    <p:sldId id="314" r:id="rId43"/>
    <p:sldId id="291" r:id="rId44"/>
    <p:sldId id="292" r:id="rId45"/>
    <p:sldId id="293" r:id="rId46"/>
    <p:sldId id="303" r:id="rId47"/>
    <p:sldId id="294" r:id="rId48"/>
    <p:sldId id="305" r:id="rId49"/>
    <p:sldId id="295" r:id="rId50"/>
    <p:sldId id="296" r:id="rId51"/>
    <p:sldId id="306" r:id="rId52"/>
    <p:sldId id="307" r:id="rId53"/>
    <p:sldId id="308" r:id="rId54"/>
    <p:sldId id="309" r:id="rId55"/>
    <p:sldId id="310" r:id="rId56"/>
    <p:sldId id="312" r:id="rId57"/>
    <p:sldId id="313"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EBE9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730" autoAdjust="0"/>
    <p:restoredTop sz="81099" autoAdjust="0"/>
  </p:normalViewPr>
  <p:slideViewPr>
    <p:cSldViewPr snapToGrid="0">
      <p:cViewPr>
        <p:scale>
          <a:sx n="75" d="100"/>
          <a:sy n="75" d="100"/>
        </p:scale>
        <p:origin x="1110" y="24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5" Type="http://schemas.openxmlformats.org/officeDocument/2006/relationships/slideMaster" Target="slideMasters/slideMaster2.xml"/><Relationship Id="rId61" Type="http://schemas.openxmlformats.org/officeDocument/2006/relationships/viewProps" Target="view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2B9B32-E20F-4D7F-8449-58DFFFBCE970}" type="datetimeFigureOut">
              <a:rPr lang="en-US" smtClean="0"/>
              <a:t>11/15/2021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F16316-BFD4-473C-8453-4C939CF3CE6D}" type="slidenum">
              <a:rPr lang="en-US" smtClean="0"/>
              <a:t>‹#›</a:t>
            </a:fld>
            <a:endParaRPr lang="en-US"/>
          </a:p>
        </p:txBody>
      </p:sp>
    </p:spTree>
    <p:extLst>
      <p:ext uri="{BB962C8B-B14F-4D97-AF65-F5344CB8AC3E}">
        <p14:creationId xmlns:p14="http://schemas.microsoft.com/office/powerpoint/2010/main" val="3540052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9" name="Google Shape;28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3" name="Google Shape;33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4" name="Google Shape;36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351FD-46B4-4515-977C-35C9D7CD05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1663D50-9141-472C-B844-EAF22B4FC0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EED2CAE-906B-4050-BA54-77B0F18F0617}"/>
              </a:ext>
            </a:extLst>
          </p:cNvPr>
          <p:cNvSpPr>
            <a:spLocks noGrp="1"/>
          </p:cNvSpPr>
          <p:nvPr>
            <p:ph type="dt" sz="half" idx="10"/>
          </p:nvPr>
        </p:nvSpPr>
        <p:spPr/>
        <p:txBody>
          <a:bodyPr/>
          <a:lstStyle/>
          <a:p>
            <a:fld id="{4EE1E85B-CAB8-4DBA-A54D-72CB2ABD439F}" type="datetimeFigureOut">
              <a:rPr lang="en-US" smtClean="0"/>
              <a:t>11/15/2021</a:t>
            </a:fld>
            <a:endParaRPr lang="en-US"/>
          </a:p>
        </p:txBody>
      </p:sp>
      <p:sp>
        <p:nvSpPr>
          <p:cNvPr id="5" name="Footer Placeholder 4">
            <a:extLst>
              <a:ext uri="{FF2B5EF4-FFF2-40B4-BE49-F238E27FC236}">
                <a16:creationId xmlns:a16="http://schemas.microsoft.com/office/drawing/2014/main" id="{A81826A0-A612-47DB-B62B-0AC8F1F908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179FE7-FE86-4452-B920-7649C4AD8D80}"/>
              </a:ext>
            </a:extLst>
          </p:cNvPr>
          <p:cNvSpPr>
            <a:spLocks noGrp="1"/>
          </p:cNvSpPr>
          <p:nvPr>
            <p:ph type="sldNum" sz="quarter" idx="12"/>
          </p:nvPr>
        </p:nvSpPr>
        <p:spPr/>
        <p:txBody>
          <a:bodyPr/>
          <a:lstStyle/>
          <a:p>
            <a:fld id="{26ABBCDA-BC7E-45B8-87A3-8CFEB3DB28DA}" type="slidenum">
              <a:rPr lang="en-US" smtClean="0"/>
              <a:t>‹#›</a:t>
            </a:fld>
            <a:endParaRPr lang="en-US"/>
          </a:p>
        </p:txBody>
      </p:sp>
    </p:spTree>
    <p:extLst>
      <p:ext uri="{BB962C8B-B14F-4D97-AF65-F5344CB8AC3E}">
        <p14:creationId xmlns:p14="http://schemas.microsoft.com/office/powerpoint/2010/main" val="493919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525A7-4AFA-4A2B-8B60-F56702EC25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917452-6AF4-427C-8D1E-039973E3E2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EC2632-E02E-42A2-A357-94ABE31AFDD7}"/>
              </a:ext>
            </a:extLst>
          </p:cNvPr>
          <p:cNvSpPr>
            <a:spLocks noGrp="1"/>
          </p:cNvSpPr>
          <p:nvPr>
            <p:ph type="dt" sz="half" idx="10"/>
          </p:nvPr>
        </p:nvSpPr>
        <p:spPr/>
        <p:txBody>
          <a:bodyPr/>
          <a:lstStyle/>
          <a:p>
            <a:fld id="{4EE1E85B-CAB8-4DBA-A54D-72CB2ABD439F}" type="datetimeFigureOut">
              <a:rPr lang="en-US" smtClean="0"/>
              <a:t>11/15/2021</a:t>
            </a:fld>
            <a:endParaRPr lang="en-US"/>
          </a:p>
        </p:txBody>
      </p:sp>
      <p:sp>
        <p:nvSpPr>
          <p:cNvPr id="5" name="Footer Placeholder 4">
            <a:extLst>
              <a:ext uri="{FF2B5EF4-FFF2-40B4-BE49-F238E27FC236}">
                <a16:creationId xmlns:a16="http://schemas.microsoft.com/office/drawing/2014/main" id="{0980E2DD-AFB0-4E14-9C33-BEE469B40F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F2E8C1-3230-4EDA-81C3-DA6D36E48686}"/>
              </a:ext>
            </a:extLst>
          </p:cNvPr>
          <p:cNvSpPr>
            <a:spLocks noGrp="1"/>
          </p:cNvSpPr>
          <p:nvPr>
            <p:ph type="sldNum" sz="quarter" idx="12"/>
          </p:nvPr>
        </p:nvSpPr>
        <p:spPr/>
        <p:txBody>
          <a:bodyPr/>
          <a:lstStyle/>
          <a:p>
            <a:fld id="{26ABBCDA-BC7E-45B8-87A3-8CFEB3DB28DA}" type="slidenum">
              <a:rPr lang="en-US" smtClean="0"/>
              <a:t>‹#›</a:t>
            </a:fld>
            <a:endParaRPr lang="en-US"/>
          </a:p>
        </p:txBody>
      </p:sp>
    </p:spTree>
    <p:extLst>
      <p:ext uri="{BB962C8B-B14F-4D97-AF65-F5344CB8AC3E}">
        <p14:creationId xmlns:p14="http://schemas.microsoft.com/office/powerpoint/2010/main" val="37726950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D61D4-D825-4F8C-81E2-53F35CD172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2125232-8CB5-4ECB-8CC7-D481F6BF73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D559BC-059E-41C6-953D-626CF888E34E}"/>
              </a:ext>
            </a:extLst>
          </p:cNvPr>
          <p:cNvSpPr>
            <a:spLocks noGrp="1"/>
          </p:cNvSpPr>
          <p:nvPr>
            <p:ph type="dt" sz="half" idx="10"/>
          </p:nvPr>
        </p:nvSpPr>
        <p:spPr/>
        <p:txBody>
          <a:bodyPr/>
          <a:lstStyle/>
          <a:p>
            <a:fld id="{4EE1E85B-CAB8-4DBA-A54D-72CB2ABD439F}" type="datetimeFigureOut">
              <a:rPr lang="en-US" smtClean="0"/>
              <a:t>11/15/2021</a:t>
            </a:fld>
            <a:endParaRPr lang="en-US"/>
          </a:p>
        </p:txBody>
      </p:sp>
      <p:sp>
        <p:nvSpPr>
          <p:cNvPr id="5" name="Footer Placeholder 4">
            <a:extLst>
              <a:ext uri="{FF2B5EF4-FFF2-40B4-BE49-F238E27FC236}">
                <a16:creationId xmlns:a16="http://schemas.microsoft.com/office/drawing/2014/main" id="{768ACCF3-7C25-41F6-A43A-14649BBF9F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239A5C-96FD-481E-B943-396F2577933C}"/>
              </a:ext>
            </a:extLst>
          </p:cNvPr>
          <p:cNvSpPr>
            <a:spLocks noGrp="1"/>
          </p:cNvSpPr>
          <p:nvPr>
            <p:ph type="sldNum" sz="quarter" idx="12"/>
          </p:nvPr>
        </p:nvSpPr>
        <p:spPr/>
        <p:txBody>
          <a:bodyPr/>
          <a:lstStyle/>
          <a:p>
            <a:fld id="{26ABBCDA-BC7E-45B8-87A3-8CFEB3DB28DA}" type="slidenum">
              <a:rPr lang="en-US" smtClean="0"/>
              <a:t>‹#›</a:t>
            </a:fld>
            <a:endParaRPr lang="en-US"/>
          </a:p>
        </p:txBody>
      </p:sp>
    </p:spTree>
    <p:extLst>
      <p:ext uri="{BB962C8B-B14F-4D97-AF65-F5344CB8AC3E}">
        <p14:creationId xmlns:p14="http://schemas.microsoft.com/office/powerpoint/2010/main" val="26318808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81564-79E4-4624-A286-36955D5782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A2074F-9A5B-4BB9-B53D-B509C6A54F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7204F43-1597-45C3-AE0C-3D1F6447F1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56F8A7-69EC-4304-A041-C6DC43143957}"/>
              </a:ext>
            </a:extLst>
          </p:cNvPr>
          <p:cNvSpPr>
            <a:spLocks noGrp="1"/>
          </p:cNvSpPr>
          <p:nvPr>
            <p:ph type="dt" sz="half" idx="10"/>
          </p:nvPr>
        </p:nvSpPr>
        <p:spPr/>
        <p:txBody>
          <a:bodyPr/>
          <a:lstStyle/>
          <a:p>
            <a:fld id="{4EE1E85B-CAB8-4DBA-A54D-72CB2ABD439F}" type="datetimeFigureOut">
              <a:rPr lang="en-US" smtClean="0"/>
              <a:t>11/15/2021</a:t>
            </a:fld>
            <a:endParaRPr lang="en-US"/>
          </a:p>
        </p:txBody>
      </p:sp>
      <p:sp>
        <p:nvSpPr>
          <p:cNvPr id="6" name="Footer Placeholder 5">
            <a:extLst>
              <a:ext uri="{FF2B5EF4-FFF2-40B4-BE49-F238E27FC236}">
                <a16:creationId xmlns:a16="http://schemas.microsoft.com/office/drawing/2014/main" id="{994C6995-5E13-496F-893D-48C5772B44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CAEF5E-6134-4E39-A610-1D6291FCAB93}"/>
              </a:ext>
            </a:extLst>
          </p:cNvPr>
          <p:cNvSpPr>
            <a:spLocks noGrp="1"/>
          </p:cNvSpPr>
          <p:nvPr>
            <p:ph type="sldNum" sz="quarter" idx="12"/>
          </p:nvPr>
        </p:nvSpPr>
        <p:spPr/>
        <p:txBody>
          <a:bodyPr/>
          <a:lstStyle/>
          <a:p>
            <a:fld id="{26ABBCDA-BC7E-45B8-87A3-8CFEB3DB28DA}" type="slidenum">
              <a:rPr lang="en-US" smtClean="0"/>
              <a:t>‹#›</a:t>
            </a:fld>
            <a:endParaRPr lang="en-US"/>
          </a:p>
        </p:txBody>
      </p:sp>
    </p:spTree>
    <p:extLst>
      <p:ext uri="{BB962C8B-B14F-4D97-AF65-F5344CB8AC3E}">
        <p14:creationId xmlns:p14="http://schemas.microsoft.com/office/powerpoint/2010/main" val="24279921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BF8BD-E3B7-4778-BC60-D3A4D9B9809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0BBD6D0-3B1D-47B5-B985-F0BA9B4381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A63D6F-A92A-4251-B80B-34395B0F7E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4DE966-582B-4094-82D4-09F3ACDACB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8BB154-1553-4B64-808A-A1BD3B6E2C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7063970-2F9A-4281-8CD1-7F21F30EED1C}"/>
              </a:ext>
            </a:extLst>
          </p:cNvPr>
          <p:cNvSpPr>
            <a:spLocks noGrp="1"/>
          </p:cNvSpPr>
          <p:nvPr>
            <p:ph type="dt" sz="half" idx="10"/>
          </p:nvPr>
        </p:nvSpPr>
        <p:spPr/>
        <p:txBody>
          <a:bodyPr/>
          <a:lstStyle/>
          <a:p>
            <a:fld id="{4EE1E85B-CAB8-4DBA-A54D-72CB2ABD439F}" type="datetimeFigureOut">
              <a:rPr lang="en-US" smtClean="0"/>
              <a:t>11/15/2021</a:t>
            </a:fld>
            <a:endParaRPr lang="en-US"/>
          </a:p>
        </p:txBody>
      </p:sp>
      <p:sp>
        <p:nvSpPr>
          <p:cNvPr id="8" name="Footer Placeholder 7">
            <a:extLst>
              <a:ext uri="{FF2B5EF4-FFF2-40B4-BE49-F238E27FC236}">
                <a16:creationId xmlns:a16="http://schemas.microsoft.com/office/drawing/2014/main" id="{42995560-31E3-4CA3-B0A7-C96E0D686DC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4B59786-0F97-4D6A-92B2-E1F9F56BD630}"/>
              </a:ext>
            </a:extLst>
          </p:cNvPr>
          <p:cNvSpPr>
            <a:spLocks noGrp="1"/>
          </p:cNvSpPr>
          <p:nvPr>
            <p:ph type="sldNum" sz="quarter" idx="12"/>
          </p:nvPr>
        </p:nvSpPr>
        <p:spPr/>
        <p:txBody>
          <a:bodyPr/>
          <a:lstStyle/>
          <a:p>
            <a:fld id="{26ABBCDA-BC7E-45B8-87A3-8CFEB3DB28DA}" type="slidenum">
              <a:rPr lang="en-US" smtClean="0"/>
              <a:t>‹#›</a:t>
            </a:fld>
            <a:endParaRPr lang="en-US"/>
          </a:p>
        </p:txBody>
      </p:sp>
    </p:spTree>
    <p:extLst>
      <p:ext uri="{BB962C8B-B14F-4D97-AF65-F5344CB8AC3E}">
        <p14:creationId xmlns:p14="http://schemas.microsoft.com/office/powerpoint/2010/main" val="11072454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7E7F4-96D7-41E5-A82B-95FEFC844FF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E9EC00-C4D0-4B12-ABDF-3815075736A1}"/>
              </a:ext>
            </a:extLst>
          </p:cNvPr>
          <p:cNvSpPr>
            <a:spLocks noGrp="1"/>
          </p:cNvSpPr>
          <p:nvPr>
            <p:ph type="dt" sz="half" idx="10"/>
          </p:nvPr>
        </p:nvSpPr>
        <p:spPr/>
        <p:txBody>
          <a:bodyPr/>
          <a:lstStyle/>
          <a:p>
            <a:fld id="{4EE1E85B-CAB8-4DBA-A54D-72CB2ABD439F}" type="datetimeFigureOut">
              <a:rPr lang="en-US" smtClean="0"/>
              <a:t>11/15/2021</a:t>
            </a:fld>
            <a:endParaRPr lang="en-US"/>
          </a:p>
        </p:txBody>
      </p:sp>
      <p:sp>
        <p:nvSpPr>
          <p:cNvPr id="4" name="Footer Placeholder 3">
            <a:extLst>
              <a:ext uri="{FF2B5EF4-FFF2-40B4-BE49-F238E27FC236}">
                <a16:creationId xmlns:a16="http://schemas.microsoft.com/office/drawing/2014/main" id="{02FD6E2F-8CD6-41EE-A9C7-A6F41D173BC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58A346-8165-453F-B7ED-63595494E668}"/>
              </a:ext>
            </a:extLst>
          </p:cNvPr>
          <p:cNvSpPr>
            <a:spLocks noGrp="1"/>
          </p:cNvSpPr>
          <p:nvPr>
            <p:ph type="sldNum" sz="quarter" idx="12"/>
          </p:nvPr>
        </p:nvSpPr>
        <p:spPr/>
        <p:txBody>
          <a:bodyPr/>
          <a:lstStyle/>
          <a:p>
            <a:fld id="{26ABBCDA-BC7E-45B8-87A3-8CFEB3DB28DA}" type="slidenum">
              <a:rPr lang="en-US" smtClean="0"/>
              <a:t>‹#›</a:t>
            </a:fld>
            <a:endParaRPr lang="en-US"/>
          </a:p>
        </p:txBody>
      </p:sp>
    </p:spTree>
    <p:extLst>
      <p:ext uri="{BB962C8B-B14F-4D97-AF65-F5344CB8AC3E}">
        <p14:creationId xmlns:p14="http://schemas.microsoft.com/office/powerpoint/2010/main" val="3099560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86EFEB-B549-4E65-BC9A-AD395A4AA9EC}"/>
              </a:ext>
            </a:extLst>
          </p:cNvPr>
          <p:cNvSpPr>
            <a:spLocks noGrp="1"/>
          </p:cNvSpPr>
          <p:nvPr>
            <p:ph type="dt" sz="half" idx="10"/>
          </p:nvPr>
        </p:nvSpPr>
        <p:spPr/>
        <p:txBody>
          <a:bodyPr/>
          <a:lstStyle/>
          <a:p>
            <a:fld id="{4EE1E85B-CAB8-4DBA-A54D-72CB2ABD439F}" type="datetimeFigureOut">
              <a:rPr lang="en-US" smtClean="0"/>
              <a:t>11/15/2021</a:t>
            </a:fld>
            <a:endParaRPr lang="en-US"/>
          </a:p>
        </p:txBody>
      </p:sp>
      <p:sp>
        <p:nvSpPr>
          <p:cNvPr id="3" name="Footer Placeholder 2">
            <a:extLst>
              <a:ext uri="{FF2B5EF4-FFF2-40B4-BE49-F238E27FC236}">
                <a16:creationId xmlns:a16="http://schemas.microsoft.com/office/drawing/2014/main" id="{C0E51C11-F742-4528-8D08-5D047ED81B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11AC21-9267-44CA-AA2B-9311435BCA21}"/>
              </a:ext>
            </a:extLst>
          </p:cNvPr>
          <p:cNvSpPr>
            <a:spLocks noGrp="1"/>
          </p:cNvSpPr>
          <p:nvPr>
            <p:ph type="sldNum" sz="quarter" idx="12"/>
          </p:nvPr>
        </p:nvSpPr>
        <p:spPr/>
        <p:txBody>
          <a:bodyPr/>
          <a:lstStyle/>
          <a:p>
            <a:fld id="{26ABBCDA-BC7E-45B8-87A3-8CFEB3DB28DA}" type="slidenum">
              <a:rPr lang="en-US" smtClean="0"/>
              <a:t>‹#›</a:t>
            </a:fld>
            <a:endParaRPr lang="en-US"/>
          </a:p>
        </p:txBody>
      </p:sp>
    </p:spTree>
    <p:extLst>
      <p:ext uri="{BB962C8B-B14F-4D97-AF65-F5344CB8AC3E}">
        <p14:creationId xmlns:p14="http://schemas.microsoft.com/office/powerpoint/2010/main" val="19048110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E9396-8121-4478-89CE-F92989E636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59F17FF-A62D-4142-8AC1-B8D840CA6A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9F4777B-7FA9-4202-AC96-23157A56D7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1C82B3-E24C-4E4B-BB77-8C5B7CFC8B49}"/>
              </a:ext>
            </a:extLst>
          </p:cNvPr>
          <p:cNvSpPr>
            <a:spLocks noGrp="1"/>
          </p:cNvSpPr>
          <p:nvPr>
            <p:ph type="dt" sz="half" idx="10"/>
          </p:nvPr>
        </p:nvSpPr>
        <p:spPr/>
        <p:txBody>
          <a:bodyPr/>
          <a:lstStyle/>
          <a:p>
            <a:fld id="{4EE1E85B-CAB8-4DBA-A54D-72CB2ABD439F}" type="datetimeFigureOut">
              <a:rPr lang="en-US" smtClean="0"/>
              <a:t>11/15/2021</a:t>
            </a:fld>
            <a:endParaRPr lang="en-US"/>
          </a:p>
        </p:txBody>
      </p:sp>
      <p:sp>
        <p:nvSpPr>
          <p:cNvPr id="6" name="Footer Placeholder 5">
            <a:extLst>
              <a:ext uri="{FF2B5EF4-FFF2-40B4-BE49-F238E27FC236}">
                <a16:creationId xmlns:a16="http://schemas.microsoft.com/office/drawing/2014/main" id="{6451E845-9EDF-453C-B99A-9C46D0F2F9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789B82-4902-49E7-BAB7-BE7F65636E8E}"/>
              </a:ext>
            </a:extLst>
          </p:cNvPr>
          <p:cNvSpPr>
            <a:spLocks noGrp="1"/>
          </p:cNvSpPr>
          <p:nvPr>
            <p:ph type="sldNum" sz="quarter" idx="12"/>
          </p:nvPr>
        </p:nvSpPr>
        <p:spPr/>
        <p:txBody>
          <a:bodyPr/>
          <a:lstStyle/>
          <a:p>
            <a:fld id="{26ABBCDA-BC7E-45B8-87A3-8CFEB3DB28DA}" type="slidenum">
              <a:rPr lang="en-US" smtClean="0"/>
              <a:t>‹#›</a:t>
            </a:fld>
            <a:endParaRPr lang="en-US"/>
          </a:p>
        </p:txBody>
      </p:sp>
    </p:spTree>
    <p:extLst>
      <p:ext uri="{BB962C8B-B14F-4D97-AF65-F5344CB8AC3E}">
        <p14:creationId xmlns:p14="http://schemas.microsoft.com/office/powerpoint/2010/main" val="2713548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85529-25E8-43E3-BC7F-D122FB6E9A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9AEAD1-C7E0-4BFC-B49F-85835BF02A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2EEB32-7163-4F26-9C6D-0819B6CC0B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1005CE-39DB-44E5-8D4B-225183172370}"/>
              </a:ext>
            </a:extLst>
          </p:cNvPr>
          <p:cNvSpPr>
            <a:spLocks noGrp="1"/>
          </p:cNvSpPr>
          <p:nvPr>
            <p:ph type="dt" sz="half" idx="10"/>
          </p:nvPr>
        </p:nvSpPr>
        <p:spPr/>
        <p:txBody>
          <a:bodyPr/>
          <a:lstStyle/>
          <a:p>
            <a:fld id="{4EE1E85B-CAB8-4DBA-A54D-72CB2ABD439F}" type="datetimeFigureOut">
              <a:rPr lang="en-US" smtClean="0"/>
              <a:t>11/15/2021</a:t>
            </a:fld>
            <a:endParaRPr lang="en-US"/>
          </a:p>
        </p:txBody>
      </p:sp>
      <p:sp>
        <p:nvSpPr>
          <p:cNvPr id="6" name="Footer Placeholder 5">
            <a:extLst>
              <a:ext uri="{FF2B5EF4-FFF2-40B4-BE49-F238E27FC236}">
                <a16:creationId xmlns:a16="http://schemas.microsoft.com/office/drawing/2014/main" id="{257C944A-E70B-472A-94E3-86C6265B0C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05DDC7-0356-4341-B347-B886BFB7C921}"/>
              </a:ext>
            </a:extLst>
          </p:cNvPr>
          <p:cNvSpPr>
            <a:spLocks noGrp="1"/>
          </p:cNvSpPr>
          <p:nvPr>
            <p:ph type="sldNum" sz="quarter" idx="12"/>
          </p:nvPr>
        </p:nvSpPr>
        <p:spPr/>
        <p:txBody>
          <a:bodyPr/>
          <a:lstStyle/>
          <a:p>
            <a:fld id="{26ABBCDA-BC7E-45B8-87A3-8CFEB3DB28DA}" type="slidenum">
              <a:rPr lang="en-US" smtClean="0"/>
              <a:t>‹#›</a:t>
            </a:fld>
            <a:endParaRPr lang="en-US"/>
          </a:p>
        </p:txBody>
      </p:sp>
    </p:spTree>
    <p:extLst>
      <p:ext uri="{BB962C8B-B14F-4D97-AF65-F5344CB8AC3E}">
        <p14:creationId xmlns:p14="http://schemas.microsoft.com/office/powerpoint/2010/main" val="15208083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5EA4A-21D6-4A3E-93AF-99FA6645860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71B4420-0D66-415C-B7FC-ECBB4A7999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EC315B-3113-4329-99D5-8A3D81917947}"/>
              </a:ext>
            </a:extLst>
          </p:cNvPr>
          <p:cNvSpPr>
            <a:spLocks noGrp="1"/>
          </p:cNvSpPr>
          <p:nvPr>
            <p:ph type="dt" sz="half" idx="10"/>
          </p:nvPr>
        </p:nvSpPr>
        <p:spPr/>
        <p:txBody>
          <a:bodyPr/>
          <a:lstStyle/>
          <a:p>
            <a:fld id="{4EE1E85B-CAB8-4DBA-A54D-72CB2ABD439F}" type="datetimeFigureOut">
              <a:rPr lang="en-US" smtClean="0"/>
              <a:t>11/15/2021</a:t>
            </a:fld>
            <a:endParaRPr lang="en-US"/>
          </a:p>
        </p:txBody>
      </p:sp>
      <p:sp>
        <p:nvSpPr>
          <p:cNvPr id="5" name="Footer Placeholder 4">
            <a:extLst>
              <a:ext uri="{FF2B5EF4-FFF2-40B4-BE49-F238E27FC236}">
                <a16:creationId xmlns:a16="http://schemas.microsoft.com/office/drawing/2014/main" id="{2B25D044-04FF-4180-8154-AD8E4C4B61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0A5A53-C409-4705-BFE4-959F57504209}"/>
              </a:ext>
            </a:extLst>
          </p:cNvPr>
          <p:cNvSpPr>
            <a:spLocks noGrp="1"/>
          </p:cNvSpPr>
          <p:nvPr>
            <p:ph type="sldNum" sz="quarter" idx="12"/>
          </p:nvPr>
        </p:nvSpPr>
        <p:spPr/>
        <p:txBody>
          <a:bodyPr/>
          <a:lstStyle/>
          <a:p>
            <a:fld id="{26ABBCDA-BC7E-45B8-87A3-8CFEB3DB28DA}" type="slidenum">
              <a:rPr lang="en-US" smtClean="0"/>
              <a:t>‹#›</a:t>
            </a:fld>
            <a:endParaRPr lang="en-US"/>
          </a:p>
        </p:txBody>
      </p:sp>
    </p:spTree>
    <p:extLst>
      <p:ext uri="{BB962C8B-B14F-4D97-AF65-F5344CB8AC3E}">
        <p14:creationId xmlns:p14="http://schemas.microsoft.com/office/powerpoint/2010/main" val="2683831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5799E6-DCB1-41D7-B5E3-AD6A26BF6DB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27F469-FF4D-412C-BADE-6A5AA4BE77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8A22E2-0460-4C61-9CFA-01664331563D}"/>
              </a:ext>
            </a:extLst>
          </p:cNvPr>
          <p:cNvSpPr>
            <a:spLocks noGrp="1"/>
          </p:cNvSpPr>
          <p:nvPr>
            <p:ph type="dt" sz="half" idx="10"/>
          </p:nvPr>
        </p:nvSpPr>
        <p:spPr/>
        <p:txBody>
          <a:bodyPr/>
          <a:lstStyle/>
          <a:p>
            <a:fld id="{4EE1E85B-CAB8-4DBA-A54D-72CB2ABD439F}" type="datetimeFigureOut">
              <a:rPr lang="en-US" smtClean="0"/>
              <a:t>11/15/2021</a:t>
            </a:fld>
            <a:endParaRPr lang="en-US"/>
          </a:p>
        </p:txBody>
      </p:sp>
      <p:sp>
        <p:nvSpPr>
          <p:cNvPr id="5" name="Footer Placeholder 4">
            <a:extLst>
              <a:ext uri="{FF2B5EF4-FFF2-40B4-BE49-F238E27FC236}">
                <a16:creationId xmlns:a16="http://schemas.microsoft.com/office/drawing/2014/main" id="{D7A90183-35F4-479E-8799-F0EBE44EF2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92E293-17B9-432B-8E87-90A7DEE3C65D}"/>
              </a:ext>
            </a:extLst>
          </p:cNvPr>
          <p:cNvSpPr>
            <a:spLocks noGrp="1"/>
          </p:cNvSpPr>
          <p:nvPr>
            <p:ph type="sldNum" sz="quarter" idx="12"/>
          </p:nvPr>
        </p:nvSpPr>
        <p:spPr/>
        <p:txBody>
          <a:bodyPr/>
          <a:lstStyle/>
          <a:p>
            <a:fld id="{26ABBCDA-BC7E-45B8-87A3-8CFEB3DB28DA}" type="slidenum">
              <a:rPr lang="en-US" smtClean="0"/>
              <a:t>‹#›</a:t>
            </a:fld>
            <a:endParaRPr lang="en-US"/>
          </a:p>
        </p:txBody>
      </p:sp>
    </p:spTree>
    <p:extLst>
      <p:ext uri="{BB962C8B-B14F-4D97-AF65-F5344CB8AC3E}">
        <p14:creationId xmlns:p14="http://schemas.microsoft.com/office/powerpoint/2010/main" val="4676937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8"/>
          <p:cNvSpPr>
            <a:spLocks noGrp="1"/>
          </p:cNvSpPr>
          <p:nvPr>
            <p:ph type="pic" idx="2"/>
          </p:nvPr>
        </p:nvSpPr>
        <p:spPr>
          <a:xfrm>
            <a:off x="5183188" y="987425"/>
            <a:ext cx="6172200" cy="4873625"/>
          </a:xfrm>
          <a:prstGeom prst="rect">
            <a:avLst/>
          </a:prstGeom>
          <a:noFill/>
          <a:ln>
            <a:noFill/>
          </a:ln>
        </p:spPr>
      </p:sp>
      <p:sp>
        <p:nvSpPr>
          <p:cNvPr id="64" name="Google Shape;64;p1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584F36-69B1-4FCC-A038-58415BB3E5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B908FF-5C44-46E1-83CF-DD9C0350E5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CEC364-590B-45BA-8E34-679E079F99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E1E85B-CAB8-4DBA-A54D-72CB2ABD439F}" type="datetimeFigureOut">
              <a:rPr lang="en-US" smtClean="0"/>
              <a:t>11/15/2021</a:t>
            </a:fld>
            <a:endParaRPr lang="en-US"/>
          </a:p>
        </p:txBody>
      </p:sp>
      <p:sp>
        <p:nvSpPr>
          <p:cNvPr id="5" name="Footer Placeholder 4">
            <a:extLst>
              <a:ext uri="{FF2B5EF4-FFF2-40B4-BE49-F238E27FC236}">
                <a16:creationId xmlns:a16="http://schemas.microsoft.com/office/drawing/2014/main" id="{606BA8A2-E88C-439F-839F-D115AD670F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43F4888-973D-43D0-8C64-440F156D61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ABBCDA-BC7E-45B8-87A3-8CFEB3DB28DA}" type="slidenum">
              <a:rPr lang="en-US" smtClean="0"/>
              <a:t>‹#›</a:t>
            </a:fld>
            <a:endParaRPr lang="en-US"/>
          </a:p>
        </p:txBody>
      </p:sp>
    </p:spTree>
    <p:extLst>
      <p:ext uri="{BB962C8B-B14F-4D97-AF65-F5344CB8AC3E}">
        <p14:creationId xmlns:p14="http://schemas.microsoft.com/office/powerpoint/2010/main" val="30409363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vi.wikipedia.org/wiki/S%E1%BB%91_th%E1%BB%B1c" TargetMode="Externa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e Algorithm Did It: The Evolving Legal Landscape of the Internet&amp;#39;s  Favorite Tool">
            <a:extLst>
              <a:ext uri="{FF2B5EF4-FFF2-40B4-BE49-F238E27FC236}">
                <a16:creationId xmlns:a16="http://schemas.microsoft.com/office/drawing/2014/main" id="{E3D1DBDB-30F6-4C55-9DF8-D1640AE2EF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7929" y="-771586"/>
            <a:ext cx="11427904" cy="843618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5C67EA6-6E6A-4DFC-BEBE-24873378B64A}"/>
              </a:ext>
            </a:extLst>
          </p:cNvPr>
          <p:cNvSpPr/>
          <p:nvPr/>
        </p:nvSpPr>
        <p:spPr>
          <a:xfrm>
            <a:off x="-2609677" y="1740"/>
            <a:ext cx="12191846" cy="6858000"/>
          </a:xfrm>
          <a:prstGeom prst="rect">
            <a:avLst/>
          </a:prstGeom>
          <a:solidFill>
            <a:schemeClr val="tx1">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C37250A9-AAB7-48CC-9D8E-E71C5FCA1A43}"/>
              </a:ext>
            </a:extLst>
          </p:cNvPr>
          <p:cNvSpPr txBox="1"/>
          <p:nvPr/>
        </p:nvSpPr>
        <p:spPr>
          <a:xfrm>
            <a:off x="5741859" y="6178350"/>
            <a:ext cx="2034330" cy="4404026"/>
          </a:xfrm>
          <a:prstGeom prst="rect">
            <a:avLst/>
          </a:prstGeom>
          <a:noFill/>
        </p:spPr>
        <p:txBody>
          <a:bodyPr wrap="square" rtlCol="0">
            <a:spAutoFit/>
          </a:bodyPr>
          <a:lstStyle/>
          <a:p>
            <a:pPr algn="r">
              <a:lnSpc>
                <a:spcPct val="80000"/>
              </a:lnSpc>
            </a:pPr>
            <a:r>
              <a:rPr lang="en-US" sz="4000" dirty="0" err="1">
                <a:solidFill>
                  <a:schemeClr val="bg1">
                    <a:alpha val="42000"/>
                  </a:schemeClr>
                </a:solidFill>
                <a:latin typeface="JetBrains Mono Medium" panose="02000009000000000000" pitchFamily="49" charset="0"/>
                <a:cs typeface="JetBrains Mono Medium" panose="02000009000000000000" pitchFamily="49" charset="0"/>
              </a:rPr>
              <a:t>rd</a:t>
            </a:r>
            <a:endParaRPr lang="en-US" sz="4000" dirty="0">
              <a:solidFill>
                <a:schemeClr val="bg1">
                  <a:alpha val="42000"/>
                </a:schemeClr>
              </a:solidFill>
              <a:latin typeface="JetBrains Mono Medium" panose="02000009000000000000" pitchFamily="49" charset="0"/>
              <a:cs typeface="JetBrains Mono Medium" panose="02000009000000000000" pitchFamily="49" charset="0"/>
            </a:endParaRPr>
          </a:p>
          <a:p>
            <a:pPr>
              <a:lnSpc>
                <a:spcPct val="80000"/>
              </a:lnSpc>
            </a:pPr>
            <a:r>
              <a:rPr lang="en-US" sz="30000" dirty="0">
                <a:solidFill>
                  <a:schemeClr val="bg1">
                    <a:alpha val="42000"/>
                  </a:schemeClr>
                </a:solidFill>
                <a:latin typeface="JetBrains Mono Medium" panose="02000009000000000000" pitchFamily="49" charset="0"/>
                <a:cs typeface="JetBrains Mono Medium" panose="02000009000000000000" pitchFamily="49" charset="0"/>
              </a:rPr>
              <a:t>3</a:t>
            </a:r>
          </a:p>
        </p:txBody>
      </p:sp>
      <p:sp>
        <p:nvSpPr>
          <p:cNvPr id="6" name="Flowchart: Data 5">
            <a:extLst>
              <a:ext uri="{FF2B5EF4-FFF2-40B4-BE49-F238E27FC236}">
                <a16:creationId xmlns:a16="http://schemas.microsoft.com/office/drawing/2014/main" id="{7B24D025-5870-470F-A5E4-292FB6395CA3}"/>
              </a:ext>
            </a:extLst>
          </p:cNvPr>
          <p:cNvSpPr/>
          <p:nvPr/>
        </p:nvSpPr>
        <p:spPr>
          <a:xfrm>
            <a:off x="-2609677" y="-61"/>
            <a:ext cx="12825259" cy="6867738"/>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1828"/>
              <a:gd name="connsiteY0" fmla="*/ 11576 h 11576"/>
              <a:gd name="connsiteX1" fmla="*/ 2000 w 11828"/>
              <a:gd name="connsiteY1" fmla="*/ 1576 h 11576"/>
              <a:gd name="connsiteX2" fmla="*/ 11828 w 11828"/>
              <a:gd name="connsiteY2" fmla="*/ 0 h 11576"/>
              <a:gd name="connsiteX3" fmla="*/ 8000 w 11828"/>
              <a:gd name="connsiteY3" fmla="*/ 11576 h 11576"/>
              <a:gd name="connsiteX4" fmla="*/ 0 w 11828"/>
              <a:gd name="connsiteY4" fmla="*/ 11576 h 11576"/>
              <a:gd name="connsiteX0" fmla="*/ 0 w 11828"/>
              <a:gd name="connsiteY0" fmla="*/ 11592 h 11592"/>
              <a:gd name="connsiteX1" fmla="*/ 4151 w 11828"/>
              <a:gd name="connsiteY1" fmla="*/ 0 h 11592"/>
              <a:gd name="connsiteX2" fmla="*/ 11828 w 11828"/>
              <a:gd name="connsiteY2" fmla="*/ 16 h 11592"/>
              <a:gd name="connsiteX3" fmla="*/ 8000 w 11828"/>
              <a:gd name="connsiteY3" fmla="*/ 11592 h 11592"/>
              <a:gd name="connsiteX4" fmla="*/ 0 w 11828"/>
              <a:gd name="connsiteY4" fmla="*/ 11592 h 11592"/>
              <a:gd name="connsiteX0" fmla="*/ 0 w 12330"/>
              <a:gd name="connsiteY0" fmla="*/ 11656 h 11656"/>
              <a:gd name="connsiteX1" fmla="*/ 4653 w 12330"/>
              <a:gd name="connsiteY1" fmla="*/ 0 h 11656"/>
              <a:gd name="connsiteX2" fmla="*/ 12330 w 12330"/>
              <a:gd name="connsiteY2" fmla="*/ 16 h 11656"/>
              <a:gd name="connsiteX3" fmla="*/ 8502 w 12330"/>
              <a:gd name="connsiteY3" fmla="*/ 11592 h 11656"/>
              <a:gd name="connsiteX4" fmla="*/ 0 w 12330"/>
              <a:gd name="connsiteY4" fmla="*/ 11656 h 11656"/>
              <a:gd name="connsiteX0" fmla="*/ 0 w 12330"/>
              <a:gd name="connsiteY0" fmla="*/ 11592 h 11592"/>
              <a:gd name="connsiteX1" fmla="*/ 4653 w 12330"/>
              <a:gd name="connsiteY1" fmla="*/ 0 h 11592"/>
              <a:gd name="connsiteX2" fmla="*/ 12330 w 12330"/>
              <a:gd name="connsiteY2" fmla="*/ 16 h 11592"/>
              <a:gd name="connsiteX3" fmla="*/ 8502 w 12330"/>
              <a:gd name="connsiteY3" fmla="*/ 11592 h 11592"/>
              <a:gd name="connsiteX4" fmla="*/ 0 w 12330"/>
              <a:gd name="connsiteY4" fmla="*/ 11592 h 11592"/>
              <a:gd name="connsiteX0" fmla="*/ 0 w 12366"/>
              <a:gd name="connsiteY0" fmla="*/ 11560 h 11592"/>
              <a:gd name="connsiteX1" fmla="*/ 4689 w 12366"/>
              <a:gd name="connsiteY1" fmla="*/ 0 h 11592"/>
              <a:gd name="connsiteX2" fmla="*/ 12366 w 12366"/>
              <a:gd name="connsiteY2" fmla="*/ 16 h 11592"/>
              <a:gd name="connsiteX3" fmla="*/ 8538 w 12366"/>
              <a:gd name="connsiteY3" fmla="*/ 11592 h 11592"/>
              <a:gd name="connsiteX4" fmla="*/ 0 w 12366"/>
              <a:gd name="connsiteY4" fmla="*/ 11560 h 11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66" h="11592">
                <a:moveTo>
                  <a:pt x="0" y="11560"/>
                </a:moveTo>
                <a:lnTo>
                  <a:pt x="4689" y="0"/>
                </a:lnTo>
                <a:lnTo>
                  <a:pt x="12366" y="16"/>
                </a:lnTo>
                <a:lnTo>
                  <a:pt x="8538" y="11592"/>
                </a:lnTo>
                <a:lnTo>
                  <a:pt x="0" y="11560"/>
                </a:lnTo>
                <a:close/>
              </a:path>
            </a:pathLst>
          </a:custGeom>
          <a:solidFill>
            <a:schemeClr val="tx1">
              <a:lumMod val="95000"/>
              <a:lumOff val="5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5E891ED-2E39-4D9F-A0B0-15F96276ABF6}"/>
              </a:ext>
            </a:extLst>
          </p:cNvPr>
          <p:cNvSpPr txBox="1"/>
          <p:nvPr/>
        </p:nvSpPr>
        <p:spPr>
          <a:xfrm>
            <a:off x="-62305" y="7272436"/>
            <a:ext cx="9600048" cy="1154162"/>
          </a:xfrm>
          <a:prstGeom prst="rect">
            <a:avLst/>
          </a:prstGeom>
          <a:noFill/>
        </p:spPr>
        <p:txBody>
          <a:bodyPr wrap="square" rtlCol="0">
            <a:spAutoFit/>
          </a:bodyPr>
          <a:lstStyle/>
          <a:p>
            <a:r>
              <a:rPr lang="en-US" sz="6900" spc="-300" dirty="0">
                <a:solidFill>
                  <a:schemeClr val="bg1">
                    <a:lumMod val="95000"/>
                  </a:schemeClr>
                </a:solidFill>
                <a:latin typeface="JetBrains Mono Medium" panose="02000009000000000000" pitchFamily="49" charset="0"/>
                <a:cs typeface="JetBrains Mono Medium" panose="02000009000000000000" pitchFamily="49" charset="0"/>
              </a:rPr>
              <a:t>COMPUTER_SCIENCE</a:t>
            </a:r>
          </a:p>
        </p:txBody>
      </p:sp>
      <p:sp>
        <p:nvSpPr>
          <p:cNvPr id="16" name="TextBox 15">
            <a:extLst>
              <a:ext uri="{FF2B5EF4-FFF2-40B4-BE49-F238E27FC236}">
                <a16:creationId xmlns:a16="http://schemas.microsoft.com/office/drawing/2014/main" id="{20377ABB-4575-4831-847C-4995173350F9}"/>
              </a:ext>
            </a:extLst>
          </p:cNvPr>
          <p:cNvSpPr txBox="1"/>
          <p:nvPr/>
        </p:nvSpPr>
        <p:spPr>
          <a:xfrm rot="16844211">
            <a:off x="-290640" y="-5850287"/>
            <a:ext cx="6294876" cy="707886"/>
          </a:xfrm>
          <a:prstGeom prst="rect">
            <a:avLst/>
          </a:prstGeom>
          <a:solidFill>
            <a:schemeClr val="tx1"/>
          </a:solidFill>
        </p:spPr>
        <p:txBody>
          <a:bodyPr wrap="square" rtlCol="0">
            <a:spAutoFit/>
          </a:bodyPr>
          <a:lstStyle/>
          <a:p>
            <a:r>
              <a:rPr lang="en-US" sz="4000" dirty="0">
                <a:solidFill>
                  <a:schemeClr val="bg1">
                    <a:lumMod val="95000"/>
                  </a:schemeClr>
                </a:solidFill>
                <a:latin typeface="JetBrains Mono Thin" panose="02000009000000000000" pitchFamily="49" charset="0"/>
                <a:cs typeface="JetBrains Mono Thin" panose="02000009000000000000" pitchFamily="49" charset="0"/>
              </a:rPr>
              <a:t>GRAPH_THEORIES:\\</a:t>
            </a:r>
          </a:p>
        </p:txBody>
      </p:sp>
      <p:sp>
        <p:nvSpPr>
          <p:cNvPr id="5" name="Flowchart: Manual Input 4">
            <a:extLst>
              <a:ext uri="{FF2B5EF4-FFF2-40B4-BE49-F238E27FC236}">
                <a16:creationId xmlns:a16="http://schemas.microsoft.com/office/drawing/2014/main" id="{36840BA7-017D-40A8-8316-55E4F8D756E5}"/>
              </a:ext>
            </a:extLst>
          </p:cNvPr>
          <p:cNvSpPr/>
          <p:nvPr/>
        </p:nvSpPr>
        <p:spPr>
          <a:xfrm>
            <a:off x="-2622175" y="-12700"/>
            <a:ext cx="14826893" cy="68772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4992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4992 w 10000"/>
              <a:gd name="connsiteY4" fmla="*/ 0 h 10000"/>
              <a:gd name="connsiteX0" fmla="*/ 4992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4992 w 10000"/>
              <a:gd name="connsiteY4" fmla="*/ 0 h 10000"/>
              <a:gd name="connsiteX0" fmla="*/ 6210 w 11218"/>
              <a:gd name="connsiteY0" fmla="*/ 0 h 10208"/>
              <a:gd name="connsiteX1" fmla="*/ 11218 w 11218"/>
              <a:gd name="connsiteY1" fmla="*/ 0 h 10208"/>
              <a:gd name="connsiteX2" fmla="*/ 11218 w 11218"/>
              <a:gd name="connsiteY2" fmla="*/ 10000 h 10208"/>
              <a:gd name="connsiteX3" fmla="*/ 0 w 11218"/>
              <a:gd name="connsiteY3" fmla="*/ 10208 h 10208"/>
              <a:gd name="connsiteX4" fmla="*/ 6210 w 11218"/>
              <a:gd name="connsiteY4" fmla="*/ 0 h 10208"/>
              <a:gd name="connsiteX0" fmla="*/ 6544 w 11552"/>
              <a:gd name="connsiteY0" fmla="*/ 0 h 10000"/>
              <a:gd name="connsiteX1" fmla="*/ 11552 w 11552"/>
              <a:gd name="connsiteY1" fmla="*/ 0 h 10000"/>
              <a:gd name="connsiteX2" fmla="*/ 11552 w 11552"/>
              <a:gd name="connsiteY2" fmla="*/ 10000 h 10000"/>
              <a:gd name="connsiteX3" fmla="*/ 0 w 11552"/>
              <a:gd name="connsiteY3" fmla="*/ 10000 h 10000"/>
              <a:gd name="connsiteX4" fmla="*/ 6544 w 11552"/>
              <a:gd name="connsiteY4" fmla="*/ 0 h 10000"/>
              <a:gd name="connsiteX0" fmla="*/ 6544 w 14766"/>
              <a:gd name="connsiteY0" fmla="*/ 0 h 10000"/>
              <a:gd name="connsiteX1" fmla="*/ 14766 w 14766"/>
              <a:gd name="connsiteY1" fmla="*/ 42 h 10000"/>
              <a:gd name="connsiteX2" fmla="*/ 11552 w 14766"/>
              <a:gd name="connsiteY2" fmla="*/ 10000 h 10000"/>
              <a:gd name="connsiteX3" fmla="*/ 0 w 14766"/>
              <a:gd name="connsiteY3" fmla="*/ 10000 h 10000"/>
              <a:gd name="connsiteX4" fmla="*/ 6544 w 14766"/>
              <a:gd name="connsiteY4" fmla="*/ 0 h 10000"/>
              <a:gd name="connsiteX0" fmla="*/ 6544 w 14718"/>
              <a:gd name="connsiteY0" fmla="*/ 0 h 10000"/>
              <a:gd name="connsiteX1" fmla="*/ 14718 w 14718"/>
              <a:gd name="connsiteY1" fmla="*/ 0 h 10000"/>
              <a:gd name="connsiteX2" fmla="*/ 11552 w 14718"/>
              <a:gd name="connsiteY2" fmla="*/ 10000 h 10000"/>
              <a:gd name="connsiteX3" fmla="*/ 0 w 14718"/>
              <a:gd name="connsiteY3" fmla="*/ 10000 h 10000"/>
              <a:gd name="connsiteX4" fmla="*/ 6544 w 14718"/>
              <a:gd name="connsiteY4" fmla="*/ 0 h 10000"/>
              <a:gd name="connsiteX0" fmla="*/ 6544 w 14718"/>
              <a:gd name="connsiteY0" fmla="*/ 0 h 10028"/>
              <a:gd name="connsiteX1" fmla="*/ 14718 w 14718"/>
              <a:gd name="connsiteY1" fmla="*/ 0 h 10028"/>
              <a:gd name="connsiteX2" fmla="*/ 14718 w 14718"/>
              <a:gd name="connsiteY2" fmla="*/ 10028 h 10028"/>
              <a:gd name="connsiteX3" fmla="*/ 0 w 14718"/>
              <a:gd name="connsiteY3" fmla="*/ 10000 h 10028"/>
              <a:gd name="connsiteX4" fmla="*/ 6544 w 14718"/>
              <a:gd name="connsiteY4" fmla="*/ 0 h 10028"/>
              <a:gd name="connsiteX0" fmla="*/ 3306 w 11480"/>
              <a:gd name="connsiteY0" fmla="*/ 0 h 10028"/>
              <a:gd name="connsiteX1" fmla="*/ 11480 w 11480"/>
              <a:gd name="connsiteY1" fmla="*/ 0 h 10028"/>
              <a:gd name="connsiteX2" fmla="*/ 11480 w 11480"/>
              <a:gd name="connsiteY2" fmla="*/ 10028 h 10028"/>
              <a:gd name="connsiteX3" fmla="*/ 0 w 11480"/>
              <a:gd name="connsiteY3" fmla="*/ 10000 h 10028"/>
              <a:gd name="connsiteX4" fmla="*/ 3306 w 11480"/>
              <a:gd name="connsiteY4" fmla="*/ 0 h 10028"/>
              <a:gd name="connsiteX0" fmla="*/ 29161 w 37335"/>
              <a:gd name="connsiteY0" fmla="*/ 0 h 10028"/>
              <a:gd name="connsiteX1" fmla="*/ 37335 w 37335"/>
              <a:gd name="connsiteY1" fmla="*/ 0 h 10028"/>
              <a:gd name="connsiteX2" fmla="*/ 37335 w 37335"/>
              <a:gd name="connsiteY2" fmla="*/ 10028 h 10028"/>
              <a:gd name="connsiteX3" fmla="*/ 0 w 37335"/>
              <a:gd name="connsiteY3" fmla="*/ 10028 h 10028"/>
              <a:gd name="connsiteX4" fmla="*/ 29161 w 37335"/>
              <a:gd name="connsiteY4" fmla="*/ 0 h 10028"/>
              <a:gd name="connsiteX0" fmla="*/ 92 w 37335"/>
              <a:gd name="connsiteY0" fmla="*/ 0 h 10028"/>
              <a:gd name="connsiteX1" fmla="*/ 37335 w 37335"/>
              <a:gd name="connsiteY1" fmla="*/ 0 h 10028"/>
              <a:gd name="connsiteX2" fmla="*/ 37335 w 37335"/>
              <a:gd name="connsiteY2" fmla="*/ 10028 h 10028"/>
              <a:gd name="connsiteX3" fmla="*/ 0 w 37335"/>
              <a:gd name="connsiteY3" fmla="*/ 10028 h 10028"/>
              <a:gd name="connsiteX4" fmla="*/ 92 w 37335"/>
              <a:gd name="connsiteY4" fmla="*/ 0 h 10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35" h="10028">
                <a:moveTo>
                  <a:pt x="92" y="0"/>
                </a:moveTo>
                <a:lnTo>
                  <a:pt x="37335" y="0"/>
                </a:lnTo>
                <a:lnTo>
                  <a:pt x="37335" y="10028"/>
                </a:lnTo>
                <a:lnTo>
                  <a:pt x="0" y="10028"/>
                </a:lnTo>
                <a:cubicBezTo>
                  <a:pt x="31" y="6685"/>
                  <a:pt x="61" y="3343"/>
                  <a:pt x="92"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JetBrains Mono Medium" panose="02000009000000000000" pitchFamily="49" charset="0"/>
              <a:cs typeface="JetBrains Mono Medium" panose="02000009000000000000" pitchFamily="49" charset="0"/>
            </a:endParaRPr>
          </a:p>
        </p:txBody>
      </p:sp>
      <p:sp>
        <p:nvSpPr>
          <p:cNvPr id="13" name="nhóm num">
            <a:extLst>
              <a:ext uri="{FF2B5EF4-FFF2-40B4-BE49-F238E27FC236}">
                <a16:creationId xmlns:a16="http://schemas.microsoft.com/office/drawing/2014/main" id="{63E400E0-563E-4F08-9BCF-58F5DF3C40E4}"/>
              </a:ext>
            </a:extLst>
          </p:cNvPr>
          <p:cNvSpPr txBox="1"/>
          <p:nvPr/>
        </p:nvSpPr>
        <p:spPr>
          <a:xfrm>
            <a:off x="13476904" y="341210"/>
            <a:ext cx="3194050" cy="8556188"/>
          </a:xfrm>
          <a:prstGeom prst="rect">
            <a:avLst/>
          </a:prstGeom>
          <a:noFill/>
        </p:spPr>
        <p:txBody>
          <a:bodyPr wrap="square" rtlCol="0">
            <a:spAutoFit/>
          </a:bodyPr>
          <a:lstStyle/>
          <a:p>
            <a:r>
              <a:rPr lang="en-US" sz="55000" dirty="0">
                <a:solidFill>
                  <a:schemeClr val="bg1">
                    <a:alpha val="21000"/>
                  </a:schemeClr>
                </a:solidFill>
                <a:latin typeface="JetBrains Mono Medium" panose="02000009000000000000" pitchFamily="49" charset="0"/>
                <a:cs typeface="JetBrains Mono Medium" panose="02000009000000000000" pitchFamily="49" charset="0"/>
              </a:rPr>
              <a:t>5</a:t>
            </a:r>
          </a:p>
        </p:txBody>
      </p:sp>
      <p:sp>
        <p:nvSpPr>
          <p:cNvPr id="12" name="nhóm text">
            <a:extLst>
              <a:ext uri="{FF2B5EF4-FFF2-40B4-BE49-F238E27FC236}">
                <a16:creationId xmlns:a16="http://schemas.microsoft.com/office/drawing/2014/main" id="{BC8F49E1-53B5-4EAC-A916-0DFBD966D7EA}"/>
              </a:ext>
            </a:extLst>
          </p:cNvPr>
          <p:cNvSpPr txBox="1"/>
          <p:nvPr/>
        </p:nvSpPr>
        <p:spPr>
          <a:xfrm>
            <a:off x="14083689" y="1049592"/>
            <a:ext cx="1502705" cy="1323439"/>
          </a:xfrm>
          <a:prstGeom prst="rect">
            <a:avLst/>
          </a:prstGeom>
          <a:noFill/>
        </p:spPr>
        <p:txBody>
          <a:bodyPr wrap="square" rtlCol="0">
            <a:spAutoFit/>
          </a:bodyPr>
          <a:lstStyle/>
          <a:p>
            <a:r>
              <a:rPr lang="en-US" sz="4000" dirty="0">
                <a:solidFill>
                  <a:schemeClr val="bg1">
                    <a:alpha val="30000"/>
                  </a:schemeClr>
                </a:solidFill>
                <a:latin typeface="JetBrains Mono Light" panose="02000009000000000000" pitchFamily="49" charset="0"/>
                <a:cs typeface="JetBrains Mono Light" panose="02000009000000000000" pitchFamily="49" charset="0"/>
              </a:rPr>
              <a:t>NHÓM</a:t>
            </a:r>
          </a:p>
          <a:p>
            <a:pPr algn="r"/>
            <a:endParaRPr lang="en-US" sz="4000" dirty="0">
              <a:solidFill>
                <a:schemeClr val="bg1"/>
              </a:solidFill>
              <a:latin typeface="JetBrains Mono Light" panose="02000009000000000000" pitchFamily="49" charset="0"/>
              <a:cs typeface="JetBrains Mono Light" panose="02000009000000000000" pitchFamily="49" charset="0"/>
            </a:endParaRPr>
          </a:p>
        </p:txBody>
      </p:sp>
      <p:sp>
        <p:nvSpPr>
          <p:cNvPr id="3" name="TextBox 2">
            <a:extLst>
              <a:ext uri="{FF2B5EF4-FFF2-40B4-BE49-F238E27FC236}">
                <a16:creationId xmlns:a16="http://schemas.microsoft.com/office/drawing/2014/main" id="{268F61C0-3951-4187-A544-C64F8D8308B0}"/>
              </a:ext>
            </a:extLst>
          </p:cNvPr>
          <p:cNvSpPr txBox="1"/>
          <p:nvPr/>
        </p:nvSpPr>
        <p:spPr>
          <a:xfrm>
            <a:off x="89084" y="6018542"/>
            <a:ext cx="914400" cy="861774"/>
          </a:xfrm>
          <a:prstGeom prst="rect">
            <a:avLst/>
          </a:prstGeom>
          <a:noFill/>
        </p:spPr>
        <p:txBody>
          <a:bodyPr wrap="square" rtlCol="0">
            <a:spAutoFit/>
          </a:bodyPr>
          <a:lstStyle/>
          <a:p>
            <a:r>
              <a:rPr lang="en-US" sz="5000" dirty="0">
                <a:solidFill>
                  <a:schemeClr val="bg1">
                    <a:lumMod val="50000"/>
                  </a:schemeClr>
                </a:solidFill>
                <a:latin typeface="JetBrains Mono Medium" panose="02000009000000000000" pitchFamily="49" charset="0"/>
                <a:cs typeface="JetBrains Mono Medium" panose="02000009000000000000" pitchFamily="49" charset="0"/>
              </a:rPr>
              <a:t>0</a:t>
            </a:r>
          </a:p>
        </p:txBody>
      </p:sp>
      <p:sp>
        <p:nvSpPr>
          <p:cNvPr id="7" name="TextBox 6">
            <a:extLst>
              <a:ext uri="{FF2B5EF4-FFF2-40B4-BE49-F238E27FC236}">
                <a16:creationId xmlns:a16="http://schemas.microsoft.com/office/drawing/2014/main" id="{8B7FF396-4F8D-4915-A339-C5885CFF6DA8}"/>
              </a:ext>
            </a:extLst>
          </p:cNvPr>
          <p:cNvSpPr txBox="1"/>
          <p:nvPr/>
        </p:nvSpPr>
        <p:spPr>
          <a:xfrm>
            <a:off x="438932" y="6018603"/>
            <a:ext cx="914400" cy="861774"/>
          </a:xfrm>
          <a:prstGeom prst="rect">
            <a:avLst/>
          </a:prstGeom>
          <a:noFill/>
        </p:spPr>
        <p:txBody>
          <a:bodyPr wrap="square" rtlCol="0">
            <a:spAutoFit/>
          </a:bodyPr>
          <a:lstStyle/>
          <a:p>
            <a:r>
              <a:rPr lang="en-US" sz="5000" dirty="0">
                <a:solidFill>
                  <a:schemeClr val="bg1"/>
                </a:solidFill>
                <a:latin typeface="JetBrains Mono Medium" panose="02000009000000000000" pitchFamily="49" charset="0"/>
                <a:cs typeface="JetBrains Mono Medium" panose="02000009000000000000" pitchFamily="49" charset="0"/>
              </a:rPr>
              <a:t>1</a:t>
            </a:r>
          </a:p>
        </p:txBody>
      </p:sp>
      <p:sp>
        <p:nvSpPr>
          <p:cNvPr id="40" name="Flowchart: Connector 39">
            <a:extLst>
              <a:ext uri="{FF2B5EF4-FFF2-40B4-BE49-F238E27FC236}">
                <a16:creationId xmlns:a16="http://schemas.microsoft.com/office/drawing/2014/main" id="{8D799BDA-DACC-4422-9CC0-C95191521BF9}"/>
              </a:ext>
            </a:extLst>
          </p:cNvPr>
          <p:cNvSpPr/>
          <p:nvPr/>
        </p:nvSpPr>
        <p:spPr>
          <a:xfrm>
            <a:off x="9734550" y="1790521"/>
            <a:ext cx="2756341" cy="2751420"/>
          </a:xfrm>
          <a:prstGeom prst="flowChartConnector">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lowchart: Connector 45">
            <a:extLst>
              <a:ext uri="{FF2B5EF4-FFF2-40B4-BE49-F238E27FC236}">
                <a16:creationId xmlns:a16="http://schemas.microsoft.com/office/drawing/2014/main" id="{E05D8559-CA2F-4D7E-80B0-098A77195071}"/>
              </a:ext>
            </a:extLst>
          </p:cNvPr>
          <p:cNvSpPr/>
          <p:nvPr/>
        </p:nvSpPr>
        <p:spPr>
          <a:xfrm>
            <a:off x="9227931" y="3326864"/>
            <a:ext cx="733007" cy="742653"/>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PAGE NUM 0">
            <a:extLst>
              <a:ext uri="{FF2B5EF4-FFF2-40B4-BE49-F238E27FC236}">
                <a16:creationId xmlns:a16="http://schemas.microsoft.com/office/drawing/2014/main" id="{3BC064CA-2E2C-4144-BA30-0CDD9E58B0C1}"/>
              </a:ext>
            </a:extLst>
          </p:cNvPr>
          <p:cNvSpPr txBox="1"/>
          <p:nvPr/>
        </p:nvSpPr>
        <p:spPr>
          <a:xfrm>
            <a:off x="15416426" y="-11455"/>
            <a:ext cx="468851" cy="369332"/>
          </a:xfrm>
          <a:prstGeom prst="rect">
            <a:avLst/>
          </a:prstGeom>
          <a:noFill/>
          <a:ln>
            <a:noFill/>
          </a:ln>
        </p:spPr>
        <p:txBody>
          <a:bodyPr wrap="square" rtlCol="0">
            <a:spAutoFit/>
          </a:bodyPr>
          <a:lstStyle/>
          <a:p>
            <a:pPr algn="r"/>
            <a:r>
              <a:rPr lang="en-US" dirty="0">
                <a:solidFill>
                  <a:schemeClr val="bg1">
                    <a:lumMod val="50000"/>
                  </a:schemeClr>
                </a:solidFill>
                <a:latin typeface="JetBrains Mono Light" panose="02000009000000000000" pitchFamily="49" charset="0"/>
                <a:cs typeface="JetBrains Mono Light" panose="02000009000000000000" pitchFamily="49" charset="0"/>
              </a:rPr>
              <a:t>0</a:t>
            </a:r>
            <a:endParaRPr lang="en-US" dirty="0">
              <a:solidFill>
                <a:schemeClr val="bg1"/>
              </a:solidFill>
              <a:latin typeface="JetBrains Mono Light" panose="02000009000000000000" pitchFamily="49" charset="0"/>
              <a:cs typeface="JetBrains Mono Light" panose="02000009000000000000" pitchFamily="49" charset="0"/>
            </a:endParaRPr>
          </a:p>
        </p:txBody>
      </p:sp>
      <p:sp>
        <p:nvSpPr>
          <p:cNvPr id="2" name="PAGE NUM 1">
            <a:extLst>
              <a:ext uri="{FF2B5EF4-FFF2-40B4-BE49-F238E27FC236}">
                <a16:creationId xmlns:a16="http://schemas.microsoft.com/office/drawing/2014/main" id="{EF095864-E387-45E6-B28F-11232623EC5E}"/>
              </a:ext>
            </a:extLst>
          </p:cNvPr>
          <p:cNvSpPr txBox="1"/>
          <p:nvPr/>
        </p:nvSpPr>
        <p:spPr>
          <a:xfrm>
            <a:off x="17313087"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2</a:t>
            </a:r>
            <a:endParaRPr lang="en-US" dirty="0"/>
          </a:p>
        </p:txBody>
      </p:sp>
    </p:spTree>
    <p:extLst>
      <p:ext uri="{BB962C8B-B14F-4D97-AF65-F5344CB8AC3E}">
        <p14:creationId xmlns:p14="http://schemas.microsoft.com/office/powerpoint/2010/main" val="19469825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accel="50000" decel="50000" autoRev="1" fill="hold" grpId="0" nodeType="withEffect">
                                  <p:stCondLst>
                                    <p:cond delay="0"/>
                                  </p:stCondLst>
                                  <p:childTnLst>
                                    <p:animMotion origin="layout" path="M 1.66667E-6 -4.07407E-6 L 0.00039 0.01181 " pathEditMode="relative" rAng="0" ptsTypes="AA">
                                      <p:cBhvr>
                                        <p:cTn id="6" dur="2000" fill="hold"/>
                                        <p:tgtEl>
                                          <p:spTgt spid="40"/>
                                        </p:tgtEl>
                                        <p:attrNameLst>
                                          <p:attrName>ppt_x</p:attrName>
                                          <p:attrName>ppt_y</p:attrName>
                                        </p:attrNameLst>
                                      </p:cBhvr>
                                      <p:rCtr x="13" y="579"/>
                                    </p:animMotion>
                                  </p:childTnLst>
                                </p:cTn>
                              </p:par>
                              <p:par>
                                <p:cTn id="7" presetID="42" presetClass="path" presetSubtype="0" repeatCount="indefinite" accel="22000" decel="78000" autoRev="1" fill="hold" grpId="0" nodeType="withEffect">
                                  <p:stCondLst>
                                    <p:cond delay="0"/>
                                  </p:stCondLst>
                                  <p:childTnLst>
                                    <p:animMotion origin="layout" path="M 8.33333E-7 -3.7037E-7 L 8.33333E-7 0.12315 " pathEditMode="relative" rAng="0" ptsTypes="AA">
                                      <p:cBhvr>
                                        <p:cTn id="8" dur="2000" fill="hold"/>
                                        <p:tgtEl>
                                          <p:spTgt spid="46"/>
                                        </p:tgtEl>
                                        <p:attrNameLst>
                                          <p:attrName>ppt_x</p:attrName>
                                          <p:attrName>ppt_y</p:attrName>
                                        </p:attrNameLst>
                                      </p:cBhvr>
                                      <p:rCtr x="0" y="615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e Algorithm Did It: The Evolving Legal Landscape of the Internet&amp;#39;s  Favorite Tool">
            <a:extLst>
              <a:ext uri="{FF2B5EF4-FFF2-40B4-BE49-F238E27FC236}">
                <a16:creationId xmlns:a16="http://schemas.microsoft.com/office/drawing/2014/main" id="{E3D1DBDB-30F6-4C55-9DF8-D1640AE2EF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77" y="-12700"/>
            <a:ext cx="9290051" cy="688016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5C67EA6-6E6A-4DFC-BEBE-24873378B64A}"/>
              </a:ext>
            </a:extLst>
          </p:cNvPr>
          <p:cNvSpPr/>
          <p:nvPr/>
        </p:nvSpPr>
        <p:spPr>
          <a:xfrm>
            <a:off x="-18877" y="-17462"/>
            <a:ext cx="12191846" cy="6877202"/>
          </a:xfrm>
          <a:prstGeom prst="rect">
            <a:avLst/>
          </a:prstGeom>
          <a:solidFill>
            <a:schemeClr val="tx1">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C37250A9-AAB7-48CC-9D8E-E71C5FCA1A43}"/>
              </a:ext>
            </a:extLst>
          </p:cNvPr>
          <p:cNvSpPr txBox="1"/>
          <p:nvPr/>
        </p:nvSpPr>
        <p:spPr>
          <a:xfrm>
            <a:off x="5795084" y="3483274"/>
            <a:ext cx="2034330" cy="4404026"/>
          </a:xfrm>
          <a:prstGeom prst="rect">
            <a:avLst/>
          </a:prstGeom>
          <a:noFill/>
        </p:spPr>
        <p:txBody>
          <a:bodyPr wrap="square" rtlCol="0">
            <a:spAutoFit/>
          </a:bodyPr>
          <a:lstStyle/>
          <a:p>
            <a:pPr algn="r">
              <a:lnSpc>
                <a:spcPct val="80000"/>
              </a:lnSpc>
            </a:pPr>
            <a:r>
              <a:rPr lang="en-US" sz="4000" dirty="0" err="1">
                <a:solidFill>
                  <a:schemeClr val="bg1">
                    <a:alpha val="42000"/>
                  </a:schemeClr>
                </a:solidFill>
                <a:latin typeface="JetBrains Mono Medium" panose="02000009000000000000" pitchFamily="49" charset="0"/>
                <a:cs typeface="JetBrains Mono Medium" panose="02000009000000000000" pitchFamily="49" charset="0"/>
              </a:rPr>
              <a:t>rd</a:t>
            </a:r>
            <a:endParaRPr lang="en-US" sz="4000" dirty="0">
              <a:solidFill>
                <a:schemeClr val="bg1">
                  <a:alpha val="42000"/>
                </a:schemeClr>
              </a:solidFill>
              <a:latin typeface="JetBrains Mono Medium" panose="02000009000000000000" pitchFamily="49" charset="0"/>
              <a:cs typeface="JetBrains Mono Medium" panose="02000009000000000000" pitchFamily="49" charset="0"/>
            </a:endParaRPr>
          </a:p>
          <a:p>
            <a:pPr>
              <a:lnSpc>
                <a:spcPct val="80000"/>
              </a:lnSpc>
            </a:pPr>
            <a:r>
              <a:rPr lang="en-US" sz="30000" dirty="0">
                <a:solidFill>
                  <a:schemeClr val="bg1">
                    <a:alpha val="42000"/>
                  </a:schemeClr>
                </a:solidFill>
                <a:latin typeface="JetBrains Mono Medium" panose="02000009000000000000" pitchFamily="49" charset="0"/>
                <a:cs typeface="JetBrains Mono Medium" panose="02000009000000000000" pitchFamily="49" charset="0"/>
              </a:rPr>
              <a:t>3</a:t>
            </a:r>
          </a:p>
        </p:txBody>
      </p:sp>
      <p:sp>
        <p:nvSpPr>
          <p:cNvPr id="6" name="Flowchart: Data 5">
            <a:extLst>
              <a:ext uri="{FF2B5EF4-FFF2-40B4-BE49-F238E27FC236}">
                <a16:creationId xmlns:a16="http://schemas.microsoft.com/office/drawing/2014/main" id="{7B24D025-5870-470F-A5E4-292FB6395CA3}"/>
              </a:ext>
            </a:extLst>
          </p:cNvPr>
          <p:cNvSpPr/>
          <p:nvPr/>
        </p:nvSpPr>
        <p:spPr>
          <a:xfrm>
            <a:off x="6929349" y="-61"/>
            <a:ext cx="3286233" cy="6867738"/>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1828"/>
              <a:gd name="connsiteY0" fmla="*/ 11576 h 11576"/>
              <a:gd name="connsiteX1" fmla="*/ 2000 w 11828"/>
              <a:gd name="connsiteY1" fmla="*/ 1576 h 11576"/>
              <a:gd name="connsiteX2" fmla="*/ 11828 w 11828"/>
              <a:gd name="connsiteY2" fmla="*/ 0 h 11576"/>
              <a:gd name="connsiteX3" fmla="*/ 8000 w 11828"/>
              <a:gd name="connsiteY3" fmla="*/ 11576 h 11576"/>
              <a:gd name="connsiteX4" fmla="*/ 0 w 11828"/>
              <a:gd name="connsiteY4" fmla="*/ 11576 h 11576"/>
              <a:gd name="connsiteX0" fmla="*/ 0 w 11828"/>
              <a:gd name="connsiteY0" fmla="*/ 11592 h 11592"/>
              <a:gd name="connsiteX1" fmla="*/ 4151 w 11828"/>
              <a:gd name="connsiteY1" fmla="*/ 0 h 11592"/>
              <a:gd name="connsiteX2" fmla="*/ 11828 w 11828"/>
              <a:gd name="connsiteY2" fmla="*/ 16 h 11592"/>
              <a:gd name="connsiteX3" fmla="*/ 8000 w 11828"/>
              <a:gd name="connsiteY3" fmla="*/ 11592 h 11592"/>
              <a:gd name="connsiteX4" fmla="*/ 0 w 11828"/>
              <a:gd name="connsiteY4" fmla="*/ 11592 h 11592"/>
              <a:gd name="connsiteX0" fmla="*/ 0 w 12330"/>
              <a:gd name="connsiteY0" fmla="*/ 11656 h 11656"/>
              <a:gd name="connsiteX1" fmla="*/ 4653 w 12330"/>
              <a:gd name="connsiteY1" fmla="*/ 0 h 11656"/>
              <a:gd name="connsiteX2" fmla="*/ 12330 w 12330"/>
              <a:gd name="connsiteY2" fmla="*/ 16 h 11656"/>
              <a:gd name="connsiteX3" fmla="*/ 8502 w 12330"/>
              <a:gd name="connsiteY3" fmla="*/ 11592 h 11656"/>
              <a:gd name="connsiteX4" fmla="*/ 0 w 12330"/>
              <a:gd name="connsiteY4" fmla="*/ 11656 h 11656"/>
              <a:gd name="connsiteX0" fmla="*/ 0 w 12330"/>
              <a:gd name="connsiteY0" fmla="*/ 11592 h 11592"/>
              <a:gd name="connsiteX1" fmla="*/ 4653 w 12330"/>
              <a:gd name="connsiteY1" fmla="*/ 0 h 11592"/>
              <a:gd name="connsiteX2" fmla="*/ 12330 w 12330"/>
              <a:gd name="connsiteY2" fmla="*/ 16 h 11592"/>
              <a:gd name="connsiteX3" fmla="*/ 8502 w 12330"/>
              <a:gd name="connsiteY3" fmla="*/ 11592 h 11592"/>
              <a:gd name="connsiteX4" fmla="*/ 0 w 12330"/>
              <a:gd name="connsiteY4" fmla="*/ 11592 h 11592"/>
              <a:gd name="connsiteX0" fmla="*/ 0 w 12366"/>
              <a:gd name="connsiteY0" fmla="*/ 11560 h 11592"/>
              <a:gd name="connsiteX1" fmla="*/ 4689 w 12366"/>
              <a:gd name="connsiteY1" fmla="*/ 0 h 11592"/>
              <a:gd name="connsiteX2" fmla="*/ 12366 w 12366"/>
              <a:gd name="connsiteY2" fmla="*/ 16 h 11592"/>
              <a:gd name="connsiteX3" fmla="*/ 8538 w 12366"/>
              <a:gd name="connsiteY3" fmla="*/ 11592 h 11592"/>
              <a:gd name="connsiteX4" fmla="*/ 0 w 12366"/>
              <a:gd name="connsiteY4" fmla="*/ 11560 h 11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66" h="11592">
                <a:moveTo>
                  <a:pt x="0" y="11560"/>
                </a:moveTo>
                <a:lnTo>
                  <a:pt x="4689" y="0"/>
                </a:lnTo>
                <a:lnTo>
                  <a:pt x="12366" y="16"/>
                </a:lnTo>
                <a:lnTo>
                  <a:pt x="8538" y="11592"/>
                </a:lnTo>
                <a:lnTo>
                  <a:pt x="0" y="11560"/>
                </a:lnTo>
                <a:close/>
              </a:path>
            </a:pathLst>
          </a:custGeom>
          <a:solidFill>
            <a:schemeClr val="tx1">
              <a:lumMod val="95000"/>
              <a:lumOff val="5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5E891ED-2E39-4D9F-A0B0-15F96276ABF6}"/>
              </a:ext>
            </a:extLst>
          </p:cNvPr>
          <p:cNvSpPr txBox="1"/>
          <p:nvPr/>
        </p:nvSpPr>
        <p:spPr>
          <a:xfrm>
            <a:off x="-50273" y="5710336"/>
            <a:ext cx="9600048" cy="1154162"/>
          </a:xfrm>
          <a:prstGeom prst="rect">
            <a:avLst/>
          </a:prstGeom>
          <a:noFill/>
        </p:spPr>
        <p:txBody>
          <a:bodyPr wrap="square" rtlCol="0">
            <a:spAutoFit/>
          </a:bodyPr>
          <a:lstStyle/>
          <a:p>
            <a:r>
              <a:rPr lang="en-US" sz="6900" spc="-300" dirty="0">
                <a:solidFill>
                  <a:schemeClr val="bg1">
                    <a:lumMod val="95000"/>
                  </a:schemeClr>
                </a:solidFill>
                <a:latin typeface="JetBrains Mono Medium" panose="02000009000000000000" pitchFamily="49" charset="0"/>
                <a:cs typeface="JetBrains Mono Medium" panose="02000009000000000000" pitchFamily="49" charset="0"/>
              </a:rPr>
              <a:t>COMPUTER_SCIENCE</a:t>
            </a:r>
          </a:p>
        </p:txBody>
      </p:sp>
      <p:sp>
        <p:nvSpPr>
          <p:cNvPr id="21" name="TextBox 20">
            <a:extLst>
              <a:ext uri="{FF2B5EF4-FFF2-40B4-BE49-F238E27FC236}">
                <a16:creationId xmlns:a16="http://schemas.microsoft.com/office/drawing/2014/main" id="{4D7BE26D-B103-4C7C-9DB3-BEB964C6878D}"/>
              </a:ext>
            </a:extLst>
          </p:cNvPr>
          <p:cNvSpPr txBox="1"/>
          <p:nvPr/>
        </p:nvSpPr>
        <p:spPr>
          <a:xfrm rot="16844211">
            <a:off x="4986210" y="2036413"/>
            <a:ext cx="6294876" cy="707886"/>
          </a:xfrm>
          <a:prstGeom prst="rect">
            <a:avLst/>
          </a:prstGeom>
          <a:noFill/>
        </p:spPr>
        <p:txBody>
          <a:bodyPr wrap="square" rtlCol="0">
            <a:spAutoFit/>
          </a:bodyPr>
          <a:lstStyle/>
          <a:p>
            <a:r>
              <a:rPr lang="en-US" sz="4000" dirty="0">
                <a:solidFill>
                  <a:schemeClr val="bg1">
                    <a:lumMod val="95000"/>
                  </a:schemeClr>
                </a:solidFill>
                <a:latin typeface="JetBrains Mono Thin" panose="02000009000000000000" pitchFamily="49" charset="0"/>
                <a:cs typeface="JetBrains Mono Thin" panose="02000009000000000000" pitchFamily="49" charset="0"/>
              </a:rPr>
              <a:t>GRAPH_THEORIES:\\</a:t>
            </a:r>
          </a:p>
        </p:txBody>
      </p:sp>
      <p:sp>
        <p:nvSpPr>
          <p:cNvPr id="5" name="Flowchart: Manual Input 4">
            <a:extLst>
              <a:ext uri="{FF2B5EF4-FFF2-40B4-BE49-F238E27FC236}">
                <a16:creationId xmlns:a16="http://schemas.microsoft.com/office/drawing/2014/main" id="{36840BA7-017D-40A8-8316-55E4F8D756E5}"/>
              </a:ext>
            </a:extLst>
          </p:cNvPr>
          <p:cNvSpPr/>
          <p:nvPr/>
        </p:nvSpPr>
        <p:spPr>
          <a:xfrm>
            <a:off x="7645653" y="-12700"/>
            <a:ext cx="4559066" cy="68772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4992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4992 w 10000"/>
              <a:gd name="connsiteY4" fmla="*/ 0 h 10000"/>
              <a:gd name="connsiteX0" fmla="*/ 4992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4992 w 10000"/>
              <a:gd name="connsiteY4" fmla="*/ 0 h 10000"/>
              <a:gd name="connsiteX0" fmla="*/ 6210 w 11218"/>
              <a:gd name="connsiteY0" fmla="*/ 0 h 10208"/>
              <a:gd name="connsiteX1" fmla="*/ 11218 w 11218"/>
              <a:gd name="connsiteY1" fmla="*/ 0 h 10208"/>
              <a:gd name="connsiteX2" fmla="*/ 11218 w 11218"/>
              <a:gd name="connsiteY2" fmla="*/ 10000 h 10208"/>
              <a:gd name="connsiteX3" fmla="*/ 0 w 11218"/>
              <a:gd name="connsiteY3" fmla="*/ 10208 h 10208"/>
              <a:gd name="connsiteX4" fmla="*/ 6210 w 11218"/>
              <a:gd name="connsiteY4" fmla="*/ 0 h 10208"/>
              <a:gd name="connsiteX0" fmla="*/ 6544 w 11552"/>
              <a:gd name="connsiteY0" fmla="*/ 0 h 10000"/>
              <a:gd name="connsiteX1" fmla="*/ 11552 w 11552"/>
              <a:gd name="connsiteY1" fmla="*/ 0 h 10000"/>
              <a:gd name="connsiteX2" fmla="*/ 11552 w 11552"/>
              <a:gd name="connsiteY2" fmla="*/ 10000 h 10000"/>
              <a:gd name="connsiteX3" fmla="*/ 0 w 11552"/>
              <a:gd name="connsiteY3" fmla="*/ 10000 h 10000"/>
              <a:gd name="connsiteX4" fmla="*/ 6544 w 11552"/>
              <a:gd name="connsiteY4" fmla="*/ 0 h 10000"/>
              <a:gd name="connsiteX0" fmla="*/ 6544 w 14766"/>
              <a:gd name="connsiteY0" fmla="*/ 0 h 10000"/>
              <a:gd name="connsiteX1" fmla="*/ 14766 w 14766"/>
              <a:gd name="connsiteY1" fmla="*/ 42 h 10000"/>
              <a:gd name="connsiteX2" fmla="*/ 11552 w 14766"/>
              <a:gd name="connsiteY2" fmla="*/ 10000 h 10000"/>
              <a:gd name="connsiteX3" fmla="*/ 0 w 14766"/>
              <a:gd name="connsiteY3" fmla="*/ 10000 h 10000"/>
              <a:gd name="connsiteX4" fmla="*/ 6544 w 14766"/>
              <a:gd name="connsiteY4" fmla="*/ 0 h 10000"/>
              <a:gd name="connsiteX0" fmla="*/ 6544 w 14718"/>
              <a:gd name="connsiteY0" fmla="*/ 0 h 10000"/>
              <a:gd name="connsiteX1" fmla="*/ 14718 w 14718"/>
              <a:gd name="connsiteY1" fmla="*/ 0 h 10000"/>
              <a:gd name="connsiteX2" fmla="*/ 11552 w 14718"/>
              <a:gd name="connsiteY2" fmla="*/ 10000 h 10000"/>
              <a:gd name="connsiteX3" fmla="*/ 0 w 14718"/>
              <a:gd name="connsiteY3" fmla="*/ 10000 h 10000"/>
              <a:gd name="connsiteX4" fmla="*/ 6544 w 14718"/>
              <a:gd name="connsiteY4" fmla="*/ 0 h 10000"/>
              <a:gd name="connsiteX0" fmla="*/ 6544 w 14718"/>
              <a:gd name="connsiteY0" fmla="*/ 0 h 10028"/>
              <a:gd name="connsiteX1" fmla="*/ 14718 w 14718"/>
              <a:gd name="connsiteY1" fmla="*/ 0 h 10028"/>
              <a:gd name="connsiteX2" fmla="*/ 14718 w 14718"/>
              <a:gd name="connsiteY2" fmla="*/ 10028 h 10028"/>
              <a:gd name="connsiteX3" fmla="*/ 0 w 14718"/>
              <a:gd name="connsiteY3" fmla="*/ 10000 h 10028"/>
              <a:gd name="connsiteX4" fmla="*/ 6544 w 14718"/>
              <a:gd name="connsiteY4" fmla="*/ 0 h 10028"/>
              <a:gd name="connsiteX0" fmla="*/ 3306 w 11480"/>
              <a:gd name="connsiteY0" fmla="*/ 0 h 10028"/>
              <a:gd name="connsiteX1" fmla="*/ 11480 w 11480"/>
              <a:gd name="connsiteY1" fmla="*/ 0 h 10028"/>
              <a:gd name="connsiteX2" fmla="*/ 11480 w 11480"/>
              <a:gd name="connsiteY2" fmla="*/ 10028 h 10028"/>
              <a:gd name="connsiteX3" fmla="*/ 0 w 11480"/>
              <a:gd name="connsiteY3" fmla="*/ 10000 h 10028"/>
              <a:gd name="connsiteX4" fmla="*/ 3306 w 11480"/>
              <a:gd name="connsiteY4" fmla="*/ 0 h 10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80" h="10028">
                <a:moveTo>
                  <a:pt x="3306" y="0"/>
                </a:moveTo>
                <a:lnTo>
                  <a:pt x="11480" y="0"/>
                </a:lnTo>
                <a:lnTo>
                  <a:pt x="11480" y="10028"/>
                </a:lnTo>
                <a:lnTo>
                  <a:pt x="0" y="10000"/>
                </a:lnTo>
                <a:lnTo>
                  <a:pt x="3306" y="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JetBrains Mono Medium" panose="02000009000000000000" pitchFamily="49" charset="0"/>
              <a:cs typeface="JetBrains Mono Medium" panose="02000009000000000000" pitchFamily="49" charset="0"/>
            </a:endParaRPr>
          </a:p>
        </p:txBody>
      </p:sp>
      <p:sp>
        <p:nvSpPr>
          <p:cNvPr id="13" name="nhóm num">
            <a:extLst>
              <a:ext uri="{FF2B5EF4-FFF2-40B4-BE49-F238E27FC236}">
                <a16:creationId xmlns:a16="http://schemas.microsoft.com/office/drawing/2014/main" id="{63E400E0-563E-4F08-9BCF-58F5DF3C40E4}"/>
              </a:ext>
            </a:extLst>
          </p:cNvPr>
          <p:cNvSpPr txBox="1"/>
          <p:nvPr/>
        </p:nvSpPr>
        <p:spPr>
          <a:xfrm>
            <a:off x="8453234" y="341210"/>
            <a:ext cx="3194050" cy="8556188"/>
          </a:xfrm>
          <a:prstGeom prst="rect">
            <a:avLst/>
          </a:prstGeom>
          <a:noFill/>
        </p:spPr>
        <p:txBody>
          <a:bodyPr wrap="square" rtlCol="0">
            <a:spAutoFit/>
          </a:bodyPr>
          <a:lstStyle/>
          <a:p>
            <a:r>
              <a:rPr lang="en-US" sz="55000" dirty="0">
                <a:solidFill>
                  <a:schemeClr val="bg1">
                    <a:alpha val="21000"/>
                  </a:schemeClr>
                </a:solidFill>
                <a:latin typeface="JetBrains Mono Medium" panose="02000009000000000000" pitchFamily="49" charset="0"/>
                <a:cs typeface="JetBrains Mono Medium" panose="02000009000000000000" pitchFamily="49" charset="0"/>
              </a:rPr>
              <a:t>5</a:t>
            </a:r>
          </a:p>
        </p:txBody>
      </p:sp>
      <p:sp>
        <p:nvSpPr>
          <p:cNvPr id="7" name="bảng tên">
            <a:extLst>
              <a:ext uri="{FF2B5EF4-FFF2-40B4-BE49-F238E27FC236}">
                <a16:creationId xmlns:a16="http://schemas.microsoft.com/office/drawing/2014/main" id="{A5A01369-C6AA-49DB-8714-A3F2A3E7B036}"/>
              </a:ext>
            </a:extLst>
          </p:cNvPr>
          <p:cNvSpPr txBox="1"/>
          <p:nvPr/>
        </p:nvSpPr>
        <p:spPr>
          <a:xfrm>
            <a:off x="8331201" y="4404852"/>
            <a:ext cx="3658802" cy="497187"/>
          </a:xfrm>
          <a:prstGeom prst="rect">
            <a:avLst/>
          </a:prstGeom>
          <a:noFill/>
        </p:spPr>
        <p:txBody>
          <a:bodyPr wrap="square" rtlCol="0">
            <a:spAutoFit/>
          </a:bodyPr>
          <a:lstStyle/>
          <a:p>
            <a:pPr algn="r">
              <a:lnSpc>
                <a:spcPct val="110000"/>
              </a:lnSpc>
            </a:pPr>
            <a:r>
              <a:rPr lang="en-US" sz="2500" spc="120" dirty="0" err="1">
                <a:solidFill>
                  <a:schemeClr val="bg1">
                    <a:lumMod val="95000"/>
                  </a:schemeClr>
                </a:solidFill>
                <a:latin typeface="JetBrains Mono Light" panose="02000009000000000000" pitchFamily="49" charset="0"/>
                <a:cs typeface="JetBrains Mono Light" panose="02000009000000000000" pitchFamily="49" charset="0"/>
              </a:rPr>
              <a:t>Vũ</a:t>
            </a:r>
            <a:r>
              <a:rPr lang="en-US" sz="2500" spc="120" dirty="0">
                <a:solidFill>
                  <a:schemeClr val="bg1">
                    <a:lumMod val="95000"/>
                  </a:schemeClr>
                </a:solidFill>
                <a:latin typeface="JetBrains Mono Light" panose="02000009000000000000" pitchFamily="49" charset="0"/>
                <a:cs typeface="JetBrains Mono Light" panose="02000009000000000000" pitchFamily="49" charset="0"/>
              </a:rPr>
              <a:t> </a:t>
            </a:r>
            <a:r>
              <a:rPr lang="en-US" sz="2500" spc="120" dirty="0" err="1">
                <a:solidFill>
                  <a:schemeClr val="bg1">
                    <a:lumMod val="95000"/>
                  </a:schemeClr>
                </a:solidFill>
                <a:latin typeface="JetBrains Mono Light" panose="02000009000000000000" pitchFamily="49" charset="0"/>
                <a:cs typeface="JetBrains Mono Light" panose="02000009000000000000" pitchFamily="49" charset="0"/>
              </a:rPr>
              <a:t>Thùy</a:t>
            </a:r>
            <a:r>
              <a:rPr lang="en-US" sz="2500" spc="120" dirty="0">
                <a:solidFill>
                  <a:schemeClr val="bg1">
                    <a:lumMod val="95000"/>
                  </a:schemeClr>
                </a:solidFill>
                <a:latin typeface="JetBrains Mono Light" panose="02000009000000000000" pitchFamily="49" charset="0"/>
                <a:cs typeface="JetBrains Mono Light" panose="02000009000000000000" pitchFamily="49" charset="0"/>
              </a:rPr>
              <a:t> </a:t>
            </a:r>
            <a:r>
              <a:rPr lang="en-US" sz="2500" spc="120" dirty="0" err="1">
                <a:solidFill>
                  <a:schemeClr val="bg1">
                    <a:lumMod val="95000"/>
                  </a:schemeClr>
                </a:solidFill>
                <a:latin typeface="JetBrains Mono Light" panose="02000009000000000000" pitchFamily="49" charset="0"/>
                <a:cs typeface="JetBrains Mono Light" panose="02000009000000000000" pitchFamily="49" charset="0"/>
              </a:rPr>
              <a:t>Dương</a:t>
            </a:r>
            <a:endParaRPr lang="en-US" sz="2500" spc="120" dirty="0">
              <a:solidFill>
                <a:schemeClr val="bg1">
                  <a:lumMod val="95000"/>
                </a:schemeClr>
              </a:solidFill>
              <a:latin typeface="JetBrains Mono Light" panose="02000009000000000000" pitchFamily="49" charset="0"/>
              <a:cs typeface="JetBrains Mono Light" panose="02000009000000000000" pitchFamily="49" charset="0"/>
            </a:endParaRPr>
          </a:p>
        </p:txBody>
      </p:sp>
      <p:sp>
        <p:nvSpPr>
          <p:cNvPr id="10" name="TextBox 9">
            <a:extLst>
              <a:ext uri="{FF2B5EF4-FFF2-40B4-BE49-F238E27FC236}">
                <a16:creationId xmlns:a16="http://schemas.microsoft.com/office/drawing/2014/main" id="{57D56C3B-49FA-46F0-B017-1173792DF96F}"/>
              </a:ext>
            </a:extLst>
          </p:cNvPr>
          <p:cNvSpPr txBox="1"/>
          <p:nvPr/>
        </p:nvSpPr>
        <p:spPr>
          <a:xfrm>
            <a:off x="-6177" y="5078654"/>
            <a:ext cx="4825329" cy="707886"/>
          </a:xfrm>
          <a:prstGeom prst="rect">
            <a:avLst/>
          </a:prstGeom>
          <a:solidFill>
            <a:schemeClr val="tx1"/>
          </a:solidFill>
        </p:spPr>
        <p:txBody>
          <a:bodyPr wrap="square" rtlCol="0">
            <a:spAutoFit/>
          </a:bodyPr>
          <a:lstStyle/>
          <a:p>
            <a:r>
              <a:rPr lang="en-US" sz="4000" dirty="0">
                <a:solidFill>
                  <a:schemeClr val="bg1">
                    <a:lumMod val="95000"/>
                  </a:schemeClr>
                </a:solidFill>
                <a:latin typeface="JetBrains Mono Thin" panose="02000009000000000000" pitchFamily="49" charset="0"/>
                <a:cs typeface="JetBrains Mono Thin" panose="02000009000000000000" pitchFamily="49" charset="0"/>
              </a:rPr>
              <a:t>PRESENTATION://</a:t>
            </a:r>
          </a:p>
        </p:txBody>
      </p:sp>
      <p:sp>
        <p:nvSpPr>
          <p:cNvPr id="12" name="nhóm text">
            <a:extLst>
              <a:ext uri="{FF2B5EF4-FFF2-40B4-BE49-F238E27FC236}">
                <a16:creationId xmlns:a16="http://schemas.microsoft.com/office/drawing/2014/main" id="{BC8F49E1-53B5-4EAC-A916-0DFBD966D7EA}"/>
              </a:ext>
            </a:extLst>
          </p:cNvPr>
          <p:cNvSpPr txBox="1"/>
          <p:nvPr/>
        </p:nvSpPr>
        <p:spPr>
          <a:xfrm>
            <a:off x="10717369" y="1049592"/>
            <a:ext cx="1502705" cy="1323439"/>
          </a:xfrm>
          <a:prstGeom prst="rect">
            <a:avLst/>
          </a:prstGeom>
          <a:noFill/>
        </p:spPr>
        <p:txBody>
          <a:bodyPr wrap="square" rtlCol="0">
            <a:spAutoFit/>
          </a:bodyPr>
          <a:lstStyle/>
          <a:p>
            <a:r>
              <a:rPr lang="en-US" sz="4000" dirty="0">
                <a:solidFill>
                  <a:schemeClr val="bg1">
                    <a:alpha val="30000"/>
                  </a:schemeClr>
                </a:solidFill>
                <a:latin typeface="JetBrains Mono Light" panose="02000009000000000000" pitchFamily="49" charset="0"/>
                <a:cs typeface="JetBrains Mono Light" panose="02000009000000000000" pitchFamily="49" charset="0"/>
              </a:rPr>
              <a:t>NHÓM</a:t>
            </a:r>
          </a:p>
          <a:p>
            <a:pPr algn="r"/>
            <a:endParaRPr lang="en-US" sz="4000" dirty="0">
              <a:solidFill>
                <a:schemeClr val="bg1"/>
              </a:solidFill>
              <a:latin typeface="JetBrains Mono Light" panose="02000009000000000000" pitchFamily="49" charset="0"/>
              <a:cs typeface="JetBrains Mono Light" panose="02000009000000000000" pitchFamily="49" charset="0"/>
            </a:endParaRPr>
          </a:p>
        </p:txBody>
      </p:sp>
      <p:sp>
        <p:nvSpPr>
          <p:cNvPr id="14" name="PAGE NUM 0">
            <a:extLst>
              <a:ext uri="{FF2B5EF4-FFF2-40B4-BE49-F238E27FC236}">
                <a16:creationId xmlns:a16="http://schemas.microsoft.com/office/drawing/2014/main" id="{570B91A5-6C82-4666-AF75-B65549F0643B}"/>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lumMod val="50000"/>
                  </a:schemeClr>
                </a:solidFill>
                <a:latin typeface="JetBrains Mono Light" panose="02000009000000000000" pitchFamily="49" charset="0"/>
                <a:cs typeface="JetBrains Mono Light" panose="02000009000000000000" pitchFamily="49" charset="0"/>
              </a:rPr>
              <a:t>0</a:t>
            </a:r>
            <a:endParaRPr lang="en-US" dirty="0">
              <a:solidFill>
                <a:schemeClr val="bg1"/>
              </a:solidFill>
              <a:latin typeface="JetBrains Mono Light" panose="02000009000000000000" pitchFamily="49" charset="0"/>
              <a:cs typeface="JetBrains Mono Light" panose="02000009000000000000" pitchFamily="49" charset="0"/>
            </a:endParaRPr>
          </a:p>
        </p:txBody>
      </p:sp>
      <p:sp>
        <p:nvSpPr>
          <p:cNvPr id="16" name="PAGE NUM 1">
            <a:extLst>
              <a:ext uri="{FF2B5EF4-FFF2-40B4-BE49-F238E27FC236}">
                <a16:creationId xmlns:a16="http://schemas.microsoft.com/office/drawing/2014/main" id="{6AB93123-D092-49D8-8959-B0EF7148A3A6}"/>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2</a:t>
            </a:r>
            <a:endParaRPr lang="en-US" dirty="0"/>
          </a:p>
        </p:txBody>
      </p:sp>
      <p:sp>
        <p:nvSpPr>
          <p:cNvPr id="15" name="bảng tên">
            <a:extLst>
              <a:ext uri="{FF2B5EF4-FFF2-40B4-BE49-F238E27FC236}">
                <a16:creationId xmlns:a16="http://schemas.microsoft.com/office/drawing/2014/main" id="{FCE8F028-842F-452D-8782-2E4282E5CC2F}"/>
              </a:ext>
            </a:extLst>
          </p:cNvPr>
          <p:cNvSpPr txBox="1"/>
          <p:nvPr/>
        </p:nvSpPr>
        <p:spPr>
          <a:xfrm>
            <a:off x="8347076" y="4842092"/>
            <a:ext cx="3658802" cy="497187"/>
          </a:xfrm>
          <a:prstGeom prst="rect">
            <a:avLst/>
          </a:prstGeom>
          <a:noFill/>
        </p:spPr>
        <p:txBody>
          <a:bodyPr wrap="square" rtlCol="0">
            <a:spAutoFit/>
          </a:bodyPr>
          <a:lstStyle/>
          <a:p>
            <a:pPr algn="r">
              <a:lnSpc>
                <a:spcPct val="110000"/>
              </a:lnSpc>
            </a:pPr>
            <a:r>
              <a:rPr lang="en-US" sz="2500" spc="120" dirty="0">
                <a:solidFill>
                  <a:schemeClr val="bg1">
                    <a:lumMod val="95000"/>
                  </a:schemeClr>
                </a:solidFill>
                <a:latin typeface="JetBrains Mono Light" panose="02000009000000000000" pitchFamily="49" charset="0"/>
                <a:cs typeface="JetBrains Mono Light" panose="02000009000000000000" pitchFamily="49" charset="0"/>
              </a:rPr>
              <a:t>Phạm Trung Hiếu</a:t>
            </a:r>
          </a:p>
        </p:txBody>
      </p:sp>
      <p:sp>
        <p:nvSpPr>
          <p:cNvPr id="17" name="bảng tên">
            <a:extLst>
              <a:ext uri="{FF2B5EF4-FFF2-40B4-BE49-F238E27FC236}">
                <a16:creationId xmlns:a16="http://schemas.microsoft.com/office/drawing/2014/main" id="{D422C448-5546-4132-B66E-77615FDA5458}"/>
              </a:ext>
            </a:extLst>
          </p:cNvPr>
          <p:cNvSpPr txBox="1"/>
          <p:nvPr/>
        </p:nvSpPr>
        <p:spPr>
          <a:xfrm>
            <a:off x="8346095" y="5263953"/>
            <a:ext cx="3658802" cy="497187"/>
          </a:xfrm>
          <a:prstGeom prst="rect">
            <a:avLst/>
          </a:prstGeom>
          <a:noFill/>
        </p:spPr>
        <p:txBody>
          <a:bodyPr wrap="square" rtlCol="0">
            <a:spAutoFit/>
          </a:bodyPr>
          <a:lstStyle/>
          <a:p>
            <a:pPr algn="r">
              <a:lnSpc>
                <a:spcPct val="110000"/>
              </a:lnSpc>
            </a:pPr>
            <a:r>
              <a:rPr lang="en-US" sz="2500" spc="120" dirty="0" err="1">
                <a:solidFill>
                  <a:schemeClr val="bg1">
                    <a:lumMod val="95000"/>
                  </a:schemeClr>
                </a:solidFill>
                <a:latin typeface="JetBrains Mono Light" panose="02000009000000000000" pitchFamily="49" charset="0"/>
                <a:cs typeface="JetBrains Mono Light" panose="02000009000000000000" pitchFamily="49" charset="0"/>
              </a:rPr>
              <a:t>Đỗ</a:t>
            </a:r>
            <a:r>
              <a:rPr lang="en-US" sz="2500" spc="120" dirty="0">
                <a:solidFill>
                  <a:schemeClr val="bg1">
                    <a:lumMod val="95000"/>
                  </a:schemeClr>
                </a:solidFill>
                <a:latin typeface="JetBrains Mono Light" panose="02000009000000000000" pitchFamily="49" charset="0"/>
                <a:cs typeface="JetBrains Mono Light" panose="02000009000000000000" pitchFamily="49" charset="0"/>
              </a:rPr>
              <a:t> </a:t>
            </a:r>
            <a:r>
              <a:rPr lang="en-US" sz="2500" spc="120" dirty="0" err="1">
                <a:solidFill>
                  <a:schemeClr val="bg1">
                    <a:lumMod val="95000"/>
                  </a:schemeClr>
                </a:solidFill>
                <a:latin typeface="JetBrains Mono Light" panose="02000009000000000000" pitchFamily="49" charset="0"/>
                <a:cs typeface="JetBrains Mono Light" panose="02000009000000000000" pitchFamily="49" charset="0"/>
              </a:rPr>
              <a:t>Duy</a:t>
            </a:r>
            <a:r>
              <a:rPr lang="en-US" sz="2500" spc="120" dirty="0">
                <a:solidFill>
                  <a:schemeClr val="bg1">
                    <a:lumMod val="95000"/>
                  </a:schemeClr>
                </a:solidFill>
                <a:latin typeface="JetBrains Mono Light" panose="02000009000000000000" pitchFamily="49" charset="0"/>
                <a:cs typeface="JetBrains Mono Light" panose="02000009000000000000" pitchFamily="49" charset="0"/>
              </a:rPr>
              <a:t> </a:t>
            </a:r>
            <a:r>
              <a:rPr lang="en-US" sz="2500" spc="120" dirty="0" err="1">
                <a:solidFill>
                  <a:schemeClr val="bg1">
                    <a:lumMod val="95000"/>
                  </a:schemeClr>
                </a:solidFill>
                <a:latin typeface="JetBrains Mono Light" panose="02000009000000000000" pitchFamily="49" charset="0"/>
                <a:cs typeface="JetBrains Mono Light" panose="02000009000000000000" pitchFamily="49" charset="0"/>
              </a:rPr>
              <a:t>Khánh</a:t>
            </a:r>
            <a:endParaRPr lang="en-US" sz="2500" spc="120" dirty="0">
              <a:solidFill>
                <a:schemeClr val="bg1">
                  <a:lumMod val="95000"/>
                </a:schemeClr>
              </a:solidFill>
              <a:latin typeface="JetBrains Mono Light" panose="02000009000000000000" pitchFamily="49" charset="0"/>
              <a:cs typeface="JetBrains Mono Light" panose="02000009000000000000" pitchFamily="49" charset="0"/>
            </a:endParaRPr>
          </a:p>
        </p:txBody>
      </p:sp>
      <p:sp>
        <p:nvSpPr>
          <p:cNvPr id="18" name="bảng tên">
            <a:extLst>
              <a:ext uri="{FF2B5EF4-FFF2-40B4-BE49-F238E27FC236}">
                <a16:creationId xmlns:a16="http://schemas.microsoft.com/office/drawing/2014/main" id="{8C10123A-919F-4E35-A591-0052A5F81CC6}"/>
              </a:ext>
            </a:extLst>
          </p:cNvPr>
          <p:cNvSpPr txBox="1"/>
          <p:nvPr/>
        </p:nvSpPr>
        <p:spPr>
          <a:xfrm>
            <a:off x="8346095" y="5685329"/>
            <a:ext cx="3658802" cy="497187"/>
          </a:xfrm>
          <a:prstGeom prst="rect">
            <a:avLst/>
          </a:prstGeom>
          <a:noFill/>
        </p:spPr>
        <p:txBody>
          <a:bodyPr wrap="square" rtlCol="0">
            <a:spAutoFit/>
          </a:bodyPr>
          <a:lstStyle/>
          <a:p>
            <a:pPr algn="r">
              <a:lnSpc>
                <a:spcPct val="110000"/>
              </a:lnSpc>
            </a:pPr>
            <a:r>
              <a:rPr lang="en-US" sz="2500" spc="120" dirty="0">
                <a:solidFill>
                  <a:schemeClr val="bg1">
                    <a:lumMod val="95000"/>
                  </a:schemeClr>
                </a:solidFill>
                <a:latin typeface="JetBrains Mono Light" panose="02000009000000000000" pitchFamily="49" charset="0"/>
                <a:cs typeface="JetBrains Mono Light" panose="02000009000000000000" pitchFamily="49" charset="0"/>
              </a:rPr>
              <a:t>Phạm </a:t>
            </a:r>
            <a:r>
              <a:rPr lang="en-US" sz="2500" spc="120" dirty="0" err="1">
                <a:solidFill>
                  <a:schemeClr val="bg1">
                    <a:lumMod val="95000"/>
                  </a:schemeClr>
                </a:solidFill>
                <a:latin typeface="JetBrains Mono Light" panose="02000009000000000000" pitchFamily="49" charset="0"/>
                <a:cs typeface="JetBrains Mono Light" panose="02000009000000000000" pitchFamily="49" charset="0"/>
              </a:rPr>
              <a:t>Hoàng</a:t>
            </a:r>
            <a:r>
              <a:rPr lang="en-US" sz="2500" spc="120" dirty="0">
                <a:solidFill>
                  <a:schemeClr val="bg1">
                    <a:lumMod val="95000"/>
                  </a:schemeClr>
                </a:solidFill>
                <a:latin typeface="JetBrains Mono Light" panose="02000009000000000000" pitchFamily="49" charset="0"/>
                <a:cs typeface="JetBrains Mono Light" panose="02000009000000000000" pitchFamily="49" charset="0"/>
              </a:rPr>
              <a:t> </a:t>
            </a:r>
            <a:r>
              <a:rPr lang="en-US" sz="2500" spc="120" dirty="0" err="1">
                <a:solidFill>
                  <a:schemeClr val="bg1">
                    <a:lumMod val="95000"/>
                  </a:schemeClr>
                </a:solidFill>
                <a:latin typeface="JetBrains Mono Light" panose="02000009000000000000" pitchFamily="49" charset="0"/>
                <a:cs typeface="JetBrains Mono Light" panose="02000009000000000000" pitchFamily="49" charset="0"/>
              </a:rPr>
              <a:t>Phong</a:t>
            </a:r>
            <a:endParaRPr lang="en-US" sz="2500" spc="120" dirty="0">
              <a:solidFill>
                <a:schemeClr val="bg1">
                  <a:lumMod val="95000"/>
                </a:schemeClr>
              </a:solidFill>
              <a:latin typeface="JetBrains Mono Light" panose="02000009000000000000" pitchFamily="49" charset="0"/>
              <a:cs typeface="JetBrains Mono Light" panose="02000009000000000000" pitchFamily="49" charset="0"/>
            </a:endParaRPr>
          </a:p>
        </p:txBody>
      </p:sp>
      <p:sp>
        <p:nvSpPr>
          <p:cNvPr id="20" name="bảng tên">
            <a:extLst>
              <a:ext uri="{FF2B5EF4-FFF2-40B4-BE49-F238E27FC236}">
                <a16:creationId xmlns:a16="http://schemas.microsoft.com/office/drawing/2014/main" id="{1EA8CC31-99FB-420A-BC81-E6918EDB16C8}"/>
              </a:ext>
            </a:extLst>
          </p:cNvPr>
          <p:cNvSpPr txBox="1"/>
          <p:nvPr/>
        </p:nvSpPr>
        <p:spPr>
          <a:xfrm>
            <a:off x="8346095" y="6092875"/>
            <a:ext cx="3658802" cy="497187"/>
          </a:xfrm>
          <a:prstGeom prst="rect">
            <a:avLst/>
          </a:prstGeom>
          <a:noFill/>
        </p:spPr>
        <p:txBody>
          <a:bodyPr wrap="square" rtlCol="0">
            <a:spAutoFit/>
          </a:bodyPr>
          <a:lstStyle/>
          <a:p>
            <a:pPr algn="r">
              <a:lnSpc>
                <a:spcPct val="110000"/>
              </a:lnSpc>
            </a:pPr>
            <a:r>
              <a:rPr lang="en-US" sz="2500" spc="120" dirty="0">
                <a:solidFill>
                  <a:schemeClr val="bg1">
                    <a:lumMod val="95000"/>
                  </a:schemeClr>
                </a:solidFill>
                <a:latin typeface="JetBrains Mono Light" panose="02000009000000000000" pitchFamily="49" charset="0"/>
                <a:cs typeface="JetBrains Mono Light" panose="02000009000000000000" pitchFamily="49" charset="0"/>
              </a:rPr>
              <a:t>Phạm </a:t>
            </a:r>
            <a:r>
              <a:rPr lang="en-US" sz="2500" spc="120" dirty="0" err="1">
                <a:solidFill>
                  <a:schemeClr val="bg1">
                    <a:lumMod val="95000"/>
                  </a:schemeClr>
                </a:solidFill>
                <a:latin typeface="JetBrains Mono Light" panose="02000009000000000000" pitchFamily="49" charset="0"/>
                <a:cs typeface="JetBrains Mono Light" panose="02000009000000000000" pitchFamily="49" charset="0"/>
              </a:rPr>
              <a:t>Văn</a:t>
            </a:r>
            <a:r>
              <a:rPr lang="en-US" sz="2500" spc="120" dirty="0">
                <a:solidFill>
                  <a:schemeClr val="bg1">
                    <a:lumMod val="95000"/>
                  </a:schemeClr>
                </a:solidFill>
                <a:latin typeface="JetBrains Mono Light" panose="02000009000000000000" pitchFamily="49" charset="0"/>
                <a:cs typeface="JetBrains Mono Light" panose="02000009000000000000" pitchFamily="49" charset="0"/>
              </a:rPr>
              <a:t> </a:t>
            </a:r>
            <a:r>
              <a:rPr lang="en-US" sz="2500" spc="120" dirty="0" err="1">
                <a:solidFill>
                  <a:schemeClr val="bg1">
                    <a:lumMod val="95000"/>
                  </a:schemeClr>
                </a:solidFill>
                <a:latin typeface="JetBrains Mono Light" panose="02000009000000000000" pitchFamily="49" charset="0"/>
                <a:cs typeface="JetBrains Mono Light" panose="02000009000000000000" pitchFamily="49" charset="0"/>
              </a:rPr>
              <a:t>Quyết</a:t>
            </a:r>
            <a:endParaRPr lang="en-US" sz="2500" spc="120" dirty="0">
              <a:solidFill>
                <a:schemeClr val="bg1">
                  <a:lumMod val="95000"/>
                </a:schemeClr>
              </a:solidFill>
              <a:latin typeface="JetBrains Mono Light" panose="02000009000000000000" pitchFamily="49" charset="0"/>
              <a:cs typeface="JetBrains Mono Light" panose="02000009000000000000" pitchFamily="49" charset="0"/>
            </a:endParaRPr>
          </a:p>
        </p:txBody>
      </p:sp>
    </p:spTree>
    <p:extLst>
      <p:ext uri="{BB962C8B-B14F-4D97-AF65-F5344CB8AC3E}">
        <p14:creationId xmlns:p14="http://schemas.microsoft.com/office/powerpoint/2010/main" val="10405506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e Algorithm Did It: The Evolving Legal Landscape of the Internet&amp;#39;s  Favorite Tool">
            <a:extLst>
              <a:ext uri="{FF2B5EF4-FFF2-40B4-BE49-F238E27FC236}">
                <a16:creationId xmlns:a16="http://schemas.microsoft.com/office/drawing/2014/main" id="{E3D1DBDB-30F6-4C55-9DF8-D1640AE2EF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1287" y="-885886"/>
            <a:ext cx="11238462" cy="829633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5C67EA6-6E6A-4DFC-BEBE-24873378B64A}"/>
              </a:ext>
            </a:extLst>
          </p:cNvPr>
          <p:cNvSpPr/>
          <p:nvPr/>
        </p:nvSpPr>
        <p:spPr>
          <a:xfrm>
            <a:off x="-2609677" y="1740"/>
            <a:ext cx="12191846" cy="6858000"/>
          </a:xfrm>
          <a:prstGeom prst="rect">
            <a:avLst/>
          </a:prstGeom>
          <a:solidFill>
            <a:schemeClr val="tx1">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C37250A9-AAB7-48CC-9D8E-E71C5FCA1A43}"/>
              </a:ext>
            </a:extLst>
          </p:cNvPr>
          <p:cNvSpPr txBox="1"/>
          <p:nvPr/>
        </p:nvSpPr>
        <p:spPr>
          <a:xfrm>
            <a:off x="4538692" y="3483274"/>
            <a:ext cx="2034330" cy="4404026"/>
          </a:xfrm>
          <a:prstGeom prst="rect">
            <a:avLst/>
          </a:prstGeom>
          <a:noFill/>
        </p:spPr>
        <p:txBody>
          <a:bodyPr wrap="square" rtlCol="0">
            <a:spAutoFit/>
          </a:bodyPr>
          <a:lstStyle/>
          <a:p>
            <a:pPr algn="r">
              <a:lnSpc>
                <a:spcPct val="80000"/>
              </a:lnSpc>
            </a:pPr>
            <a:r>
              <a:rPr lang="en-US" sz="4000" dirty="0" err="1">
                <a:solidFill>
                  <a:schemeClr val="bg1">
                    <a:alpha val="42000"/>
                  </a:schemeClr>
                </a:solidFill>
                <a:latin typeface="JetBrains Mono Medium" panose="02000009000000000000" pitchFamily="49" charset="0"/>
                <a:cs typeface="JetBrains Mono Medium" panose="02000009000000000000" pitchFamily="49" charset="0"/>
              </a:rPr>
              <a:t>rd</a:t>
            </a:r>
            <a:endParaRPr lang="en-US" sz="4000" dirty="0">
              <a:solidFill>
                <a:schemeClr val="bg1">
                  <a:alpha val="42000"/>
                </a:schemeClr>
              </a:solidFill>
              <a:latin typeface="JetBrains Mono Medium" panose="02000009000000000000" pitchFamily="49" charset="0"/>
              <a:cs typeface="JetBrains Mono Medium" panose="02000009000000000000" pitchFamily="49" charset="0"/>
            </a:endParaRPr>
          </a:p>
          <a:p>
            <a:pPr>
              <a:lnSpc>
                <a:spcPct val="80000"/>
              </a:lnSpc>
            </a:pPr>
            <a:r>
              <a:rPr lang="en-US" sz="30000" dirty="0">
                <a:solidFill>
                  <a:schemeClr val="bg1">
                    <a:alpha val="42000"/>
                  </a:schemeClr>
                </a:solidFill>
                <a:latin typeface="JetBrains Mono Medium" panose="02000009000000000000" pitchFamily="49" charset="0"/>
                <a:cs typeface="JetBrains Mono Medium" panose="02000009000000000000" pitchFamily="49" charset="0"/>
              </a:rPr>
              <a:t>3</a:t>
            </a:r>
          </a:p>
        </p:txBody>
      </p:sp>
      <p:sp>
        <p:nvSpPr>
          <p:cNvPr id="6" name="Flowchart: Data 5">
            <a:extLst>
              <a:ext uri="{FF2B5EF4-FFF2-40B4-BE49-F238E27FC236}">
                <a16:creationId xmlns:a16="http://schemas.microsoft.com/office/drawing/2014/main" id="{7B24D025-5870-470F-A5E4-292FB6395CA3}"/>
              </a:ext>
            </a:extLst>
          </p:cNvPr>
          <p:cNvSpPr/>
          <p:nvPr/>
        </p:nvSpPr>
        <p:spPr>
          <a:xfrm>
            <a:off x="-2609677" y="-61"/>
            <a:ext cx="12825259" cy="6867738"/>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1828"/>
              <a:gd name="connsiteY0" fmla="*/ 11576 h 11576"/>
              <a:gd name="connsiteX1" fmla="*/ 2000 w 11828"/>
              <a:gd name="connsiteY1" fmla="*/ 1576 h 11576"/>
              <a:gd name="connsiteX2" fmla="*/ 11828 w 11828"/>
              <a:gd name="connsiteY2" fmla="*/ 0 h 11576"/>
              <a:gd name="connsiteX3" fmla="*/ 8000 w 11828"/>
              <a:gd name="connsiteY3" fmla="*/ 11576 h 11576"/>
              <a:gd name="connsiteX4" fmla="*/ 0 w 11828"/>
              <a:gd name="connsiteY4" fmla="*/ 11576 h 11576"/>
              <a:gd name="connsiteX0" fmla="*/ 0 w 11828"/>
              <a:gd name="connsiteY0" fmla="*/ 11592 h 11592"/>
              <a:gd name="connsiteX1" fmla="*/ 4151 w 11828"/>
              <a:gd name="connsiteY1" fmla="*/ 0 h 11592"/>
              <a:gd name="connsiteX2" fmla="*/ 11828 w 11828"/>
              <a:gd name="connsiteY2" fmla="*/ 16 h 11592"/>
              <a:gd name="connsiteX3" fmla="*/ 8000 w 11828"/>
              <a:gd name="connsiteY3" fmla="*/ 11592 h 11592"/>
              <a:gd name="connsiteX4" fmla="*/ 0 w 11828"/>
              <a:gd name="connsiteY4" fmla="*/ 11592 h 11592"/>
              <a:gd name="connsiteX0" fmla="*/ 0 w 12330"/>
              <a:gd name="connsiteY0" fmla="*/ 11656 h 11656"/>
              <a:gd name="connsiteX1" fmla="*/ 4653 w 12330"/>
              <a:gd name="connsiteY1" fmla="*/ 0 h 11656"/>
              <a:gd name="connsiteX2" fmla="*/ 12330 w 12330"/>
              <a:gd name="connsiteY2" fmla="*/ 16 h 11656"/>
              <a:gd name="connsiteX3" fmla="*/ 8502 w 12330"/>
              <a:gd name="connsiteY3" fmla="*/ 11592 h 11656"/>
              <a:gd name="connsiteX4" fmla="*/ 0 w 12330"/>
              <a:gd name="connsiteY4" fmla="*/ 11656 h 11656"/>
              <a:gd name="connsiteX0" fmla="*/ 0 w 12330"/>
              <a:gd name="connsiteY0" fmla="*/ 11592 h 11592"/>
              <a:gd name="connsiteX1" fmla="*/ 4653 w 12330"/>
              <a:gd name="connsiteY1" fmla="*/ 0 h 11592"/>
              <a:gd name="connsiteX2" fmla="*/ 12330 w 12330"/>
              <a:gd name="connsiteY2" fmla="*/ 16 h 11592"/>
              <a:gd name="connsiteX3" fmla="*/ 8502 w 12330"/>
              <a:gd name="connsiteY3" fmla="*/ 11592 h 11592"/>
              <a:gd name="connsiteX4" fmla="*/ 0 w 12330"/>
              <a:gd name="connsiteY4" fmla="*/ 11592 h 11592"/>
              <a:gd name="connsiteX0" fmla="*/ 0 w 12366"/>
              <a:gd name="connsiteY0" fmla="*/ 11560 h 11592"/>
              <a:gd name="connsiteX1" fmla="*/ 4689 w 12366"/>
              <a:gd name="connsiteY1" fmla="*/ 0 h 11592"/>
              <a:gd name="connsiteX2" fmla="*/ 12366 w 12366"/>
              <a:gd name="connsiteY2" fmla="*/ 16 h 11592"/>
              <a:gd name="connsiteX3" fmla="*/ 8538 w 12366"/>
              <a:gd name="connsiteY3" fmla="*/ 11592 h 11592"/>
              <a:gd name="connsiteX4" fmla="*/ 0 w 12366"/>
              <a:gd name="connsiteY4" fmla="*/ 11560 h 11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66" h="11592">
                <a:moveTo>
                  <a:pt x="0" y="11560"/>
                </a:moveTo>
                <a:lnTo>
                  <a:pt x="4689" y="0"/>
                </a:lnTo>
                <a:lnTo>
                  <a:pt x="12366" y="16"/>
                </a:lnTo>
                <a:lnTo>
                  <a:pt x="8538" y="11592"/>
                </a:lnTo>
                <a:lnTo>
                  <a:pt x="0" y="11560"/>
                </a:lnTo>
                <a:close/>
              </a:path>
            </a:pathLst>
          </a:custGeom>
          <a:solidFill>
            <a:schemeClr val="tx1">
              <a:lumMod val="95000"/>
              <a:lumOff val="5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5E891ED-2E39-4D9F-A0B0-15F96276ABF6}"/>
              </a:ext>
            </a:extLst>
          </p:cNvPr>
          <p:cNvSpPr txBox="1"/>
          <p:nvPr/>
        </p:nvSpPr>
        <p:spPr>
          <a:xfrm>
            <a:off x="-50273" y="7272436"/>
            <a:ext cx="9600048" cy="1154162"/>
          </a:xfrm>
          <a:prstGeom prst="rect">
            <a:avLst/>
          </a:prstGeom>
          <a:noFill/>
        </p:spPr>
        <p:txBody>
          <a:bodyPr wrap="square" rtlCol="0">
            <a:spAutoFit/>
          </a:bodyPr>
          <a:lstStyle/>
          <a:p>
            <a:r>
              <a:rPr lang="en-US" sz="6900" spc="-300" dirty="0">
                <a:solidFill>
                  <a:schemeClr val="bg1">
                    <a:lumMod val="95000"/>
                  </a:schemeClr>
                </a:solidFill>
                <a:latin typeface="JetBrains Mono Medium" panose="02000009000000000000" pitchFamily="49" charset="0"/>
                <a:cs typeface="JetBrains Mono Medium" panose="02000009000000000000" pitchFamily="49" charset="0"/>
              </a:rPr>
              <a:t>COMPUTER_SCIENCE</a:t>
            </a:r>
          </a:p>
        </p:txBody>
      </p:sp>
      <p:sp>
        <p:nvSpPr>
          <p:cNvPr id="46" name="TextBox 45">
            <a:extLst>
              <a:ext uri="{FF2B5EF4-FFF2-40B4-BE49-F238E27FC236}">
                <a16:creationId xmlns:a16="http://schemas.microsoft.com/office/drawing/2014/main" id="{CC16E74D-B605-493D-B405-4800CB9EEA79}"/>
              </a:ext>
            </a:extLst>
          </p:cNvPr>
          <p:cNvSpPr txBox="1"/>
          <p:nvPr/>
        </p:nvSpPr>
        <p:spPr>
          <a:xfrm rot="16844211">
            <a:off x="-1700340" y="10018363"/>
            <a:ext cx="6294876" cy="707886"/>
          </a:xfrm>
          <a:prstGeom prst="rect">
            <a:avLst/>
          </a:prstGeom>
          <a:solidFill>
            <a:schemeClr val="tx1"/>
          </a:solidFill>
        </p:spPr>
        <p:txBody>
          <a:bodyPr wrap="square" rtlCol="0">
            <a:spAutoFit/>
          </a:bodyPr>
          <a:lstStyle/>
          <a:p>
            <a:r>
              <a:rPr lang="en-US" sz="4000" dirty="0">
                <a:solidFill>
                  <a:schemeClr val="bg1">
                    <a:lumMod val="95000"/>
                  </a:schemeClr>
                </a:solidFill>
                <a:latin typeface="JetBrains Mono Thin" panose="02000009000000000000" pitchFamily="49" charset="0"/>
                <a:cs typeface="JetBrains Mono Thin" panose="02000009000000000000" pitchFamily="49" charset="0"/>
              </a:rPr>
              <a:t>GRAPH_THEORIES:\\</a:t>
            </a:r>
          </a:p>
        </p:txBody>
      </p:sp>
      <p:sp>
        <p:nvSpPr>
          <p:cNvPr id="5" name="Flowchart: Manual Input 4">
            <a:extLst>
              <a:ext uri="{FF2B5EF4-FFF2-40B4-BE49-F238E27FC236}">
                <a16:creationId xmlns:a16="http://schemas.microsoft.com/office/drawing/2014/main" id="{36840BA7-017D-40A8-8316-55E4F8D756E5}"/>
              </a:ext>
            </a:extLst>
          </p:cNvPr>
          <p:cNvSpPr/>
          <p:nvPr/>
        </p:nvSpPr>
        <p:spPr>
          <a:xfrm>
            <a:off x="-2622175" y="-12700"/>
            <a:ext cx="14826893" cy="68772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4992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4992 w 10000"/>
              <a:gd name="connsiteY4" fmla="*/ 0 h 10000"/>
              <a:gd name="connsiteX0" fmla="*/ 4992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4992 w 10000"/>
              <a:gd name="connsiteY4" fmla="*/ 0 h 10000"/>
              <a:gd name="connsiteX0" fmla="*/ 6210 w 11218"/>
              <a:gd name="connsiteY0" fmla="*/ 0 h 10208"/>
              <a:gd name="connsiteX1" fmla="*/ 11218 w 11218"/>
              <a:gd name="connsiteY1" fmla="*/ 0 h 10208"/>
              <a:gd name="connsiteX2" fmla="*/ 11218 w 11218"/>
              <a:gd name="connsiteY2" fmla="*/ 10000 h 10208"/>
              <a:gd name="connsiteX3" fmla="*/ 0 w 11218"/>
              <a:gd name="connsiteY3" fmla="*/ 10208 h 10208"/>
              <a:gd name="connsiteX4" fmla="*/ 6210 w 11218"/>
              <a:gd name="connsiteY4" fmla="*/ 0 h 10208"/>
              <a:gd name="connsiteX0" fmla="*/ 6544 w 11552"/>
              <a:gd name="connsiteY0" fmla="*/ 0 h 10000"/>
              <a:gd name="connsiteX1" fmla="*/ 11552 w 11552"/>
              <a:gd name="connsiteY1" fmla="*/ 0 h 10000"/>
              <a:gd name="connsiteX2" fmla="*/ 11552 w 11552"/>
              <a:gd name="connsiteY2" fmla="*/ 10000 h 10000"/>
              <a:gd name="connsiteX3" fmla="*/ 0 w 11552"/>
              <a:gd name="connsiteY3" fmla="*/ 10000 h 10000"/>
              <a:gd name="connsiteX4" fmla="*/ 6544 w 11552"/>
              <a:gd name="connsiteY4" fmla="*/ 0 h 10000"/>
              <a:gd name="connsiteX0" fmla="*/ 6544 w 14766"/>
              <a:gd name="connsiteY0" fmla="*/ 0 h 10000"/>
              <a:gd name="connsiteX1" fmla="*/ 14766 w 14766"/>
              <a:gd name="connsiteY1" fmla="*/ 42 h 10000"/>
              <a:gd name="connsiteX2" fmla="*/ 11552 w 14766"/>
              <a:gd name="connsiteY2" fmla="*/ 10000 h 10000"/>
              <a:gd name="connsiteX3" fmla="*/ 0 w 14766"/>
              <a:gd name="connsiteY3" fmla="*/ 10000 h 10000"/>
              <a:gd name="connsiteX4" fmla="*/ 6544 w 14766"/>
              <a:gd name="connsiteY4" fmla="*/ 0 h 10000"/>
              <a:gd name="connsiteX0" fmla="*/ 6544 w 14718"/>
              <a:gd name="connsiteY0" fmla="*/ 0 h 10000"/>
              <a:gd name="connsiteX1" fmla="*/ 14718 w 14718"/>
              <a:gd name="connsiteY1" fmla="*/ 0 h 10000"/>
              <a:gd name="connsiteX2" fmla="*/ 11552 w 14718"/>
              <a:gd name="connsiteY2" fmla="*/ 10000 h 10000"/>
              <a:gd name="connsiteX3" fmla="*/ 0 w 14718"/>
              <a:gd name="connsiteY3" fmla="*/ 10000 h 10000"/>
              <a:gd name="connsiteX4" fmla="*/ 6544 w 14718"/>
              <a:gd name="connsiteY4" fmla="*/ 0 h 10000"/>
              <a:gd name="connsiteX0" fmla="*/ 6544 w 14718"/>
              <a:gd name="connsiteY0" fmla="*/ 0 h 10028"/>
              <a:gd name="connsiteX1" fmla="*/ 14718 w 14718"/>
              <a:gd name="connsiteY1" fmla="*/ 0 h 10028"/>
              <a:gd name="connsiteX2" fmla="*/ 14718 w 14718"/>
              <a:gd name="connsiteY2" fmla="*/ 10028 h 10028"/>
              <a:gd name="connsiteX3" fmla="*/ 0 w 14718"/>
              <a:gd name="connsiteY3" fmla="*/ 10000 h 10028"/>
              <a:gd name="connsiteX4" fmla="*/ 6544 w 14718"/>
              <a:gd name="connsiteY4" fmla="*/ 0 h 10028"/>
              <a:gd name="connsiteX0" fmla="*/ 3306 w 11480"/>
              <a:gd name="connsiteY0" fmla="*/ 0 h 10028"/>
              <a:gd name="connsiteX1" fmla="*/ 11480 w 11480"/>
              <a:gd name="connsiteY1" fmla="*/ 0 h 10028"/>
              <a:gd name="connsiteX2" fmla="*/ 11480 w 11480"/>
              <a:gd name="connsiteY2" fmla="*/ 10028 h 10028"/>
              <a:gd name="connsiteX3" fmla="*/ 0 w 11480"/>
              <a:gd name="connsiteY3" fmla="*/ 10000 h 10028"/>
              <a:gd name="connsiteX4" fmla="*/ 3306 w 11480"/>
              <a:gd name="connsiteY4" fmla="*/ 0 h 10028"/>
              <a:gd name="connsiteX0" fmla="*/ 29161 w 37335"/>
              <a:gd name="connsiteY0" fmla="*/ 0 h 10028"/>
              <a:gd name="connsiteX1" fmla="*/ 37335 w 37335"/>
              <a:gd name="connsiteY1" fmla="*/ 0 h 10028"/>
              <a:gd name="connsiteX2" fmla="*/ 37335 w 37335"/>
              <a:gd name="connsiteY2" fmla="*/ 10028 h 10028"/>
              <a:gd name="connsiteX3" fmla="*/ 0 w 37335"/>
              <a:gd name="connsiteY3" fmla="*/ 10028 h 10028"/>
              <a:gd name="connsiteX4" fmla="*/ 29161 w 37335"/>
              <a:gd name="connsiteY4" fmla="*/ 0 h 10028"/>
              <a:gd name="connsiteX0" fmla="*/ 92 w 37335"/>
              <a:gd name="connsiteY0" fmla="*/ 0 h 10028"/>
              <a:gd name="connsiteX1" fmla="*/ 37335 w 37335"/>
              <a:gd name="connsiteY1" fmla="*/ 0 h 10028"/>
              <a:gd name="connsiteX2" fmla="*/ 37335 w 37335"/>
              <a:gd name="connsiteY2" fmla="*/ 10028 h 10028"/>
              <a:gd name="connsiteX3" fmla="*/ 0 w 37335"/>
              <a:gd name="connsiteY3" fmla="*/ 10028 h 10028"/>
              <a:gd name="connsiteX4" fmla="*/ 92 w 37335"/>
              <a:gd name="connsiteY4" fmla="*/ 0 h 10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35" h="10028">
                <a:moveTo>
                  <a:pt x="92" y="0"/>
                </a:moveTo>
                <a:lnTo>
                  <a:pt x="37335" y="0"/>
                </a:lnTo>
                <a:lnTo>
                  <a:pt x="37335" y="10028"/>
                </a:lnTo>
                <a:lnTo>
                  <a:pt x="0" y="10028"/>
                </a:lnTo>
                <a:cubicBezTo>
                  <a:pt x="31" y="6685"/>
                  <a:pt x="61" y="3343"/>
                  <a:pt x="92"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JetBrains Mono Medium" panose="02000009000000000000" pitchFamily="49" charset="0"/>
              <a:cs typeface="JetBrains Mono Medium" panose="02000009000000000000" pitchFamily="49" charset="0"/>
            </a:endParaRPr>
          </a:p>
        </p:txBody>
      </p:sp>
      <p:sp>
        <p:nvSpPr>
          <p:cNvPr id="13" name="nhóm num">
            <a:extLst>
              <a:ext uri="{FF2B5EF4-FFF2-40B4-BE49-F238E27FC236}">
                <a16:creationId xmlns:a16="http://schemas.microsoft.com/office/drawing/2014/main" id="{63E400E0-563E-4F08-9BCF-58F5DF3C40E4}"/>
              </a:ext>
            </a:extLst>
          </p:cNvPr>
          <p:cNvSpPr txBox="1"/>
          <p:nvPr/>
        </p:nvSpPr>
        <p:spPr>
          <a:xfrm>
            <a:off x="11825084" y="341210"/>
            <a:ext cx="3194050" cy="8556188"/>
          </a:xfrm>
          <a:prstGeom prst="rect">
            <a:avLst/>
          </a:prstGeom>
          <a:noFill/>
        </p:spPr>
        <p:txBody>
          <a:bodyPr wrap="square" rtlCol="0">
            <a:spAutoFit/>
          </a:bodyPr>
          <a:lstStyle/>
          <a:p>
            <a:r>
              <a:rPr lang="en-US" sz="55000" dirty="0">
                <a:solidFill>
                  <a:schemeClr val="bg1">
                    <a:alpha val="21000"/>
                  </a:schemeClr>
                </a:solidFill>
                <a:latin typeface="JetBrains Mono Medium" panose="02000009000000000000" pitchFamily="49" charset="0"/>
                <a:cs typeface="JetBrains Mono Medium" panose="02000009000000000000" pitchFamily="49" charset="0"/>
              </a:rPr>
              <a:t>5</a:t>
            </a:r>
          </a:p>
        </p:txBody>
      </p:sp>
      <p:sp>
        <p:nvSpPr>
          <p:cNvPr id="12" name="nhóm text">
            <a:extLst>
              <a:ext uri="{FF2B5EF4-FFF2-40B4-BE49-F238E27FC236}">
                <a16:creationId xmlns:a16="http://schemas.microsoft.com/office/drawing/2014/main" id="{BC8F49E1-53B5-4EAC-A916-0DFBD966D7EA}"/>
              </a:ext>
            </a:extLst>
          </p:cNvPr>
          <p:cNvSpPr txBox="1"/>
          <p:nvPr/>
        </p:nvSpPr>
        <p:spPr>
          <a:xfrm>
            <a:off x="12431869" y="1049592"/>
            <a:ext cx="1502705" cy="1323439"/>
          </a:xfrm>
          <a:prstGeom prst="rect">
            <a:avLst/>
          </a:prstGeom>
          <a:noFill/>
        </p:spPr>
        <p:txBody>
          <a:bodyPr wrap="square" rtlCol="0">
            <a:spAutoFit/>
          </a:bodyPr>
          <a:lstStyle/>
          <a:p>
            <a:r>
              <a:rPr lang="en-US" sz="4000" dirty="0">
                <a:solidFill>
                  <a:schemeClr val="bg1">
                    <a:alpha val="30000"/>
                  </a:schemeClr>
                </a:solidFill>
                <a:latin typeface="JetBrains Mono Light" panose="02000009000000000000" pitchFamily="49" charset="0"/>
                <a:cs typeface="JetBrains Mono Light" panose="02000009000000000000" pitchFamily="49" charset="0"/>
              </a:rPr>
              <a:t>NHÓM</a:t>
            </a:r>
          </a:p>
          <a:p>
            <a:pPr algn="r"/>
            <a:endParaRPr lang="en-US" sz="4000" dirty="0">
              <a:solidFill>
                <a:schemeClr val="bg1"/>
              </a:solidFill>
              <a:latin typeface="JetBrains Mono Light" panose="02000009000000000000" pitchFamily="49" charset="0"/>
              <a:cs typeface="JetBrains Mono Light" panose="02000009000000000000" pitchFamily="49" charset="0"/>
            </a:endParaRPr>
          </a:p>
        </p:txBody>
      </p:sp>
      <p:sp>
        <p:nvSpPr>
          <p:cNvPr id="3" name="Credit INTRO">
            <a:extLst>
              <a:ext uri="{FF2B5EF4-FFF2-40B4-BE49-F238E27FC236}">
                <a16:creationId xmlns:a16="http://schemas.microsoft.com/office/drawing/2014/main" id="{2FF8B945-2A87-4259-8220-8A95612CD516}"/>
              </a:ext>
            </a:extLst>
          </p:cNvPr>
          <p:cNvSpPr txBox="1"/>
          <p:nvPr/>
        </p:nvSpPr>
        <p:spPr>
          <a:xfrm>
            <a:off x="50878" y="6420549"/>
            <a:ext cx="2235122" cy="369332"/>
          </a:xfrm>
          <a:prstGeom prst="rect">
            <a:avLst/>
          </a:prstGeom>
          <a:noFill/>
        </p:spPr>
        <p:txBody>
          <a:bodyPr wrap="square" rtlCol="0">
            <a:spAutoFit/>
          </a:bodyPr>
          <a:lstStyle/>
          <a:p>
            <a:r>
              <a:rPr lang="en-US" sz="1800" spc="120" dirty="0" err="1">
                <a:solidFill>
                  <a:schemeClr val="bg1">
                    <a:lumMod val="95000"/>
                  </a:schemeClr>
                </a:solidFill>
                <a:latin typeface="JetBrains Mono Light" panose="02000009000000000000" pitchFamily="49" charset="0"/>
                <a:cs typeface="JetBrains Mono Light" panose="02000009000000000000" pitchFamily="49" charset="0"/>
              </a:rPr>
              <a:t>Vũ</a:t>
            </a:r>
            <a:r>
              <a:rPr lang="en-US" sz="1800" spc="120" dirty="0">
                <a:solidFill>
                  <a:schemeClr val="bg1">
                    <a:lumMod val="95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schemeClr>
                </a:solidFill>
                <a:latin typeface="JetBrains Mono Light" panose="02000009000000000000" pitchFamily="49" charset="0"/>
                <a:cs typeface="JetBrains Mono Light" panose="02000009000000000000" pitchFamily="49" charset="0"/>
              </a:rPr>
              <a:t>Thùy</a:t>
            </a:r>
            <a:r>
              <a:rPr lang="en-US" sz="1800" spc="120" dirty="0">
                <a:solidFill>
                  <a:schemeClr val="bg1">
                    <a:lumMod val="95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schemeClr>
                </a:solidFill>
                <a:latin typeface="JetBrains Mono Light" panose="02000009000000000000" pitchFamily="49" charset="0"/>
                <a:cs typeface="JetBrains Mono Light" panose="02000009000000000000" pitchFamily="49" charset="0"/>
              </a:rPr>
              <a:t>Dương</a:t>
            </a:r>
            <a:endParaRPr lang="en-US" dirty="0"/>
          </a:p>
        </p:txBody>
      </p:sp>
      <p:sp>
        <p:nvSpPr>
          <p:cNvPr id="16" name="Credit MAIN">
            <a:extLst>
              <a:ext uri="{FF2B5EF4-FFF2-40B4-BE49-F238E27FC236}">
                <a16:creationId xmlns:a16="http://schemas.microsoft.com/office/drawing/2014/main" id="{2518DECB-C7B9-41A5-9FB6-89C9AA3086AA}"/>
              </a:ext>
            </a:extLst>
          </p:cNvPr>
          <p:cNvSpPr txBox="1"/>
          <p:nvPr/>
        </p:nvSpPr>
        <p:spPr>
          <a:xfrm>
            <a:off x="50878" y="6420549"/>
            <a:ext cx="2235122"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Vũ</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Thùy</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Dương</a:t>
            </a:r>
            <a:endParaRPr lang="en-US" dirty="0">
              <a:solidFill>
                <a:schemeClr val="bg1">
                  <a:lumMod val="95000"/>
                  <a:alpha val="46000"/>
                </a:schemeClr>
              </a:solidFill>
            </a:endParaRPr>
          </a:p>
        </p:txBody>
      </p:sp>
      <p:sp>
        <p:nvSpPr>
          <p:cNvPr id="11" name="Header">
            <a:extLst>
              <a:ext uri="{FF2B5EF4-FFF2-40B4-BE49-F238E27FC236}">
                <a16:creationId xmlns:a16="http://schemas.microsoft.com/office/drawing/2014/main" id="{6A39F230-06D2-4140-8DA2-357C0B9B6D12}"/>
              </a:ext>
            </a:extLst>
          </p:cNvPr>
          <p:cNvSpPr txBox="1"/>
          <p:nvPr/>
        </p:nvSpPr>
        <p:spPr>
          <a:xfrm>
            <a:off x="50878" y="68119"/>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7" name="Footer: Part">
            <a:extLst>
              <a:ext uri="{FF2B5EF4-FFF2-40B4-BE49-F238E27FC236}">
                <a16:creationId xmlns:a16="http://schemas.microsoft.com/office/drawing/2014/main" id="{553347E6-1341-4BA1-A396-FC4741F3FAF1}"/>
              </a:ext>
            </a:extLst>
          </p:cNvPr>
          <p:cNvSpPr txBox="1"/>
          <p:nvPr/>
        </p:nvSpPr>
        <p:spPr>
          <a:xfrm>
            <a:off x="10668000" y="6413178"/>
            <a:ext cx="1451903" cy="369332"/>
          </a:xfrm>
          <a:prstGeom prst="rect">
            <a:avLst/>
          </a:prstGeom>
          <a:noFill/>
        </p:spPr>
        <p:txBody>
          <a:bodyPr wrap="square" rtlCol="0">
            <a:spAutoFit/>
          </a:bodyPr>
          <a:lstStyle/>
          <a:p>
            <a:pPr algn="r"/>
            <a:r>
              <a:rPr lang="en-US" dirty="0" err="1">
                <a:solidFill>
                  <a:schemeClr val="bg1"/>
                </a:solidFill>
                <a:latin typeface="JetBrains Mono Light" panose="02000009000000000000" pitchFamily="49" charset="0"/>
                <a:cs typeface="JetBrains Mono Light" panose="02000009000000000000" pitchFamily="49" charset="0"/>
              </a:rPr>
              <a:t>Khái</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niệm</a:t>
            </a:r>
            <a:endParaRPr lang="en-US" dirty="0">
              <a:solidFill>
                <a:schemeClr val="bg1"/>
              </a:solidFill>
              <a:latin typeface="JetBrains Mono Light" panose="02000009000000000000" pitchFamily="49" charset="0"/>
              <a:cs typeface="JetBrains Mono Light" panose="02000009000000000000" pitchFamily="49" charset="0"/>
            </a:endParaRPr>
          </a:p>
        </p:txBody>
      </p:sp>
      <p:sp>
        <p:nvSpPr>
          <p:cNvPr id="19" name="Footer: Title">
            <a:extLst>
              <a:ext uri="{FF2B5EF4-FFF2-40B4-BE49-F238E27FC236}">
                <a16:creationId xmlns:a16="http://schemas.microsoft.com/office/drawing/2014/main" id="{FD144244-98B6-4C54-A114-16CD65E0D522}"/>
              </a:ext>
            </a:extLst>
          </p:cNvPr>
          <p:cNvSpPr txBox="1"/>
          <p:nvPr/>
        </p:nvSpPr>
        <p:spPr>
          <a:xfrm>
            <a:off x="9672286" y="6414047"/>
            <a:ext cx="1143350" cy="369332"/>
          </a:xfrm>
          <a:prstGeom prst="rect">
            <a:avLst/>
          </a:prstGeom>
          <a:no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Light" panose="02000009000000000000" pitchFamily="49" charset="0"/>
                <a:cs typeface="JetBrains Mono Light" panose="02000009000000000000" pitchFamily="49" charset="0"/>
              </a:rPr>
              <a:t>:</a:t>
            </a:r>
          </a:p>
        </p:txBody>
      </p:sp>
      <p:sp>
        <p:nvSpPr>
          <p:cNvPr id="18" name="TextBox 17">
            <a:extLst>
              <a:ext uri="{FF2B5EF4-FFF2-40B4-BE49-F238E27FC236}">
                <a16:creationId xmlns:a16="http://schemas.microsoft.com/office/drawing/2014/main" id="{BAE1B031-9EEB-474A-BC2C-86CF328CC380}"/>
              </a:ext>
            </a:extLst>
          </p:cNvPr>
          <p:cNvSpPr txBox="1"/>
          <p:nvPr/>
        </p:nvSpPr>
        <p:spPr>
          <a:xfrm>
            <a:off x="782054" y="1119209"/>
            <a:ext cx="1600200" cy="400110"/>
          </a:xfrm>
          <a:prstGeom prst="rect">
            <a:avLst/>
          </a:prstGeom>
          <a:solidFill>
            <a:schemeClr val="bg1"/>
          </a:solidFill>
        </p:spPr>
        <p:txBody>
          <a:bodyPr wrap="square" rtlCol="0">
            <a:spAutoFit/>
          </a:bodyPr>
          <a:lstStyle/>
          <a:p>
            <a:r>
              <a:rPr lang="en-US" sz="2000">
                <a:latin typeface="JetBrains Mono Light" panose="02000009000000000000" pitchFamily="49" charset="0"/>
                <a:cs typeface="JetBrains Mono Light" panose="02000009000000000000" pitchFamily="49" charset="0"/>
              </a:rPr>
              <a:t>Khái niệm</a:t>
            </a:r>
            <a:endParaRPr lang="en-US" sz="2000" dirty="0">
              <a:latin typeface="JetBrains Mono Light" panose="02000009000000000000" pitchFamily="49" charset="0"/>
              <a:cs typeface="JetBrains Mono Light" panose="02000009000000000000" pitchFamily="49" charset="0"/>
            </a:endParaRPr>
          </a:p>
        </p:txBody>
      </p:sp>
      <p:sp>
        <p:nvSpPr>
          <p:cNvPr id="20" name="TextBox 19">
            <a:extLst>
              <a:ext uri="{FF2B5EF4-FFF2-40B4-BE49-F238E27FC236}">
                <a16:creationId xmlns:a16="http://schemas.microsoft.com/office/drawing/2014/main" id="{0A5C43E5-F852-464D-AFD3-68FF34E1D2CC}"/>
              </a:ext>
            </a:extLst>
          </p:cNvPr>
          <p:cNvSpPr txBox="1"/>
          <p:nvPr/>
        </p:nvSpPr>
        <p:spPr>
          <a:xfrm>
            <a:off x="782054" y="1589874"/>
            <a:ext cx="8710693" cy="646331"/>
          </a:xfrm>
          <a:prstGeom prst="rect">
            <a:avLst/>
          </a:prstGeom>
          <a:noFill/>
        </p:spPr>
        <p:txBody>
          <a:bodyPr wrap="square" rtlCol="0">
            <a:spAutoFit/>
          </a:bodyPr>
          <a:lstStyle/>
          <a:p>
            <a:r>
              <a:rPr lang="en-US" b="1" dirty="0">
                <a:solidFill>
                  <a:schemeClr val="bg1"/>
                </a:solidFill>
                <a:latin typeface="JetBrains Mono Regular" panose="02000009000000000000" pitchFamily="49" charset="0"/>
                <a:cs typeface="JetBrains Mono Regular" panose="02000009000000000000" pitchFamily="49" charset="0"/>
              </a:rPr>
              <a:t>M</a:t>
            </a:r>
            <a:r>
              <a:rPr lang="vi-VN" b="1" dirty="0">
                <a:solidFill>
                  <a:schemeClr val="bg1"/>
                </a:solidFill>
                <a:latin typeface="JetBrains Mono Regular" panose="02000009000000000000" pitchFamily="49" charset="0"/>
                <a:cs typeface="JetBrains Mono Regular" panose="02000009000000000000" pitchFamily="49" charset="0"/>
              </a:rPr>
              <a:t>ột tập các đối tượng g</a:t>
            </a:r>
            <a:r>
              <a:rPr lang="en-US" b="1" dirty="0" err="1">
                <a:solidFill>
                  <a:schemeClr val="bg1"/>
                </a:solidFill>
                <a:latin typeface="JetBrains Mono Regular" panose="02000009000000000000" pitchFamily="49" charset="0"/>
                <a:cs typeface="JetBrains Mono Regular" panose="02000009000000000000" pitchFamily="49" charset="0"/>
              </a:rPr>
              <a:t>ồm</a:t>
            </a:r>
            <a:r>
              <a:rPr lang="vi-VN" b="1" dirty="0">
                <a:solidFill>
                  <a:schemeClr val="bg1"/>
                </a:solidFill>
                <a:latin typeface="JetBrains Mono Regular" panose="02000009000000000000" pitchFamily="49" charset="0"/>
                <a:cs typeface="JetBrains Mono Regular" panose="02000009000000000000" pitchFamily="49" charset="0"/>
              </a:rPr>
              <a:t> đỉnh nối với nhau bởi các cạnh</a:t>
            </a:r>
            <a:r>
              <a:rPr lang="en-US" b="1" dirty="0">
                <a:solidFill>
                  <a:schemeClr val="bg1"/>
                </a:solidFill>
                <a:latin typeface="JetBrains Mono Regular" panose="02000009000000000000" pitchFamily="49" charset="0"/>
                <a:cs typeface="JetBrains Mono Regular" panose="02000009000000000000" pitchFamily="49" charset="0"/>
              </a:rPr>
              <a:t>.</a:t>
            </a:r>
            <a:endParaRPr lang="vi-VN" dirty="0">
              <a:solidFill>
                <a:schemeClr val="bg1"/>
              </a:solidFill>
              <a:latin typeface="JetBrains Mono Regular" panose="02000009000000000000" pitchFamily="49" charset="0"/>
              <a:cs typeface="JetBrains Mono Regular" panose="02000009000000000000" pitchFamily="49" charset="0"/>
            </a:endParaRPr>
          </a:p>
          <a:p>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21" name="TextBox 20">
            <a:extLst>
              <a:ext uri="{FF2B5EF4-FFF2-40B4-BE49-F238E27FC236}">
                <a16:creationId xmlns:a16="http://schemas.microsoft.com/office/drawing/2014/main" id="{26E41DDD-D9FA-4F81-B69A-D3D91EE849D1}"/>
              </a:ext>
            </a:extLst>
          </p:cNvPr>
          <p:cNvSpPr txBox="1"/>
          <p:nvPr/>
        </p:nvSpPr>
        <p:spPr>
          <a:xfrm>
            <a:off x="826113" y="3257875"/>
            <a:ext cx="5235075" cy="923330"/>
          </a:xfrm>
          <a:prstGeom prst="rect">
            <a:avLst/>
          </a:prstGeom>
          <a:noFill/>
        </p:spPr>
        <p:txBody>
          <a:bodyPr wrap="square" rtlCol="0">
            <a:spAutoFit/>
          </a:bodyPr>
          <a:lstStyle/>
          <a:p>
            <a:r>
              <a:rPr lang="vi-VN" dirty="0">
                <a:solidFill>
                  <a:schemeClr val="bg1"/>
                </a:solidFill>
                <a:latin typeface="JetBrains Mono Regular" panose="02000009000000000000" pitchFamily="49" charset="0"/>
                <a:cs typeface="JetBrains Mono Regular" panose="02000009000000000000" pitchFamily="49" charset="0"/>
              </a:rPr>
              <a:t>Thông thường, đồ thị được vẽ dưới dạng một tập các điểm (đỉnh, nút) nối với nhau bởi các đoạn thẳng (cạnh). </a:t>
            </a:r>
          </a:p>
        </p:txBody>
      </p:sp>
      <p:sp>
        <p:nvSpPr>
          <p:cNvPr id="32" name="PAGE NUM 0">
            <a:extLst>
              <a:ext uri="{FF2B5EF4-FFF2-40B4-BE49-F238E27FC236}">
                <a16:creationId xmlns:a16="http://schemas.microsoft.com/office/drawing/2014/main" id="{4AF2F7B9-CA24-418F-8693-5C6FDF5B0017}"/>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lumMod val="50000"/>
                  </a:schemeClr>
                </a:solidFill>
                <a:latin typeface="JetBrains Mono Light" panose="02000009000000000000" pitchFamily="49" charset="0"/>
                <a:cs typeface="JetBrains Mono Light" panose="02000009000000000000" pitchFamily="49" charset="0"/>
              </a:rPr>
              <a:t>0</a:t>
            </a:r>
            <a:endParaRPr lang="en-US" dirty="0">
              <a:solidFill>
                <a:schemeClr val="bg1"/>
              </a:solidFill>
              <a:latin typeface="JetBrains Mono Light" panose="02000009000000000000" pitchFamily="49" charset="0"/>
              <a:cs typeface="JetBrains Mono Light" panose="02000009000000000000" pitchFamily="49" charset="0"/>
            </a:endParaRPr>
          </a:p>
        </p:txBody>
      </p:sp>
      <p:sp>
        <p:nvSpPr>
          <p:cNvPr id="33" name="PAGE NUM 1">
            <a:extLst>
              <a:ext uri="{FF2B5EF4-FFF2-40B4-BE49-F238E27FC236}">
                <a16:creationId xmlns:a16="http://schemas.microsoft.com/office/drawing/2014/main" id="{7DB06822-3092-4DBE-88ED-F314B66C9A82}"/>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3</a:t>
            </a:r>
            <a:endParaRPr lang="en-US" dirty="0"/>
          </a:p>
        </p:txBody>
      </p:sp>
      <p:sp>
        <p:nvSpPr>
          <p:cNvPr id="2" name="TextBox 1">
            <a:extLst>
              <a:ext uri="{FF2B5EF4-FFF2-40B4-BE49-F238E27FC236}">
                <a16:creationId xmlns:a16="http://schemas.microsoft.com/office/drawing/2014/main" id="{0A379B67-BDC4-4D6E-8242-538A46AFD6FB}"/>
              </a:ext>
            </a:extLst>
          </p:cNvPr>
          <p:cNvSpPr txBox="1"/>
          <p:nvPr/>
        </p:nvSpPr>
        <p:spPr>
          <a:xfrm>
            <a:off x="826113" y="4284353"/>
            <a:ext cx="4938366" cy="369332"/>
          </a:xfrm>
          <a:prstGeom prst="rect">
            <a:avLst/>
          </a:prstGeom>
          <a:noFill/>
        </p:spPr>
        <p:txBody>
          <a:bodyPr wrap="square" rtlCol="0">
            <a:spAutoFit/>
          </a:bodyPr>
          <a:lstStyle/>
          <a:p>
            <a:endParaRPr lang="en-US" dirty="0"/>
          </a:p>
        </p:txBody>
      </p:sp>
      <p:sp>
        <p:nvSpPr>
          <p:cNvPr id="36" name="TextBox 35">
            <a:extLst>
              <a:ext uri="{FF2B5EF4-FFF2-40B4-BE49-F238E27FC236}">
                <a16:creationId xmlns:a16="http://schemas.microsoft.com/office/drawing/2014/main" id="{E0B22CBE-F42E-4E45-846C-143251C92F18}"/>
              </a:ext>
            </a:extLst>
          </p:cNvPr>
          <p:cNvSpPr txBox="1"/>
          <p:nvPr/>
        </p:nvSpPr>
        <p:spPr>
          <a:xfrm>
            <a:off x="822438" y="4262798"/>
            <a:ext cx="5235075" cy="646331"/>
          </a:xfrm>
          <a:prstGeom prst="rect">
            <a:avLst/>
          </a:prstGeom>
          <a:noFill/>
        </p:spPr>
        <p:txBody>
          <a:bodyPr wrap="square" rtlCol="0">
            <a:spAutoFit/>
          </a:bodyPr>
          <a:lstStyle/>
          <a:p>
            <a:r>
              <a:rPr lang="vi-VN" dirty="0">
                <a:solidFill>
                  <a:schemeClr val="bg1"/>
                </a:solidFill>
                <a:latin typeface="JetBrains Mono Regular" panose="02000009000000000000" pitchFamily="49" charset="0"/>
                <a:cs typeface="JetBrains Mono Regular" panose="02000009000000000000" pitchFamily="49" charset="0"/>
              </a:rPr>
              <a:t>Tùy theo ứng dụng mà một số cạnh có thể có hướng.</a:t>
            </a:r>
            <a:endParaRPr lang="en-US" dirty="0"/>
          </a:p>
        </p:txBody>
      </p:sp>
      <p:sp>
        <p:nvSpPr>
          <p:cNvPr id="7" name="Oval 6">
            <a:extLst>
              <a:ext uri="{FF2B5EF4-FFF2-40B4-BE49-F238E27FC236}">
                <a16:creationId xmlns:a16="http://schemas.microsoft.com/office/drawing/2014/main" id="{C6BFA44D-03A6-4E87-B6ED-FF6AB3DBE771}"/>
              </a:ext>
            </a:extLst>
          </p:cNvPr>
          <p:cNvSpPr/>
          <p:nvPr/>
        </p:nvSpPr>
        <p:spPr>
          <a:xfrm>
            <a:off x="6910909" y="2205638"/>
            <a:ext cx="668986" cy="646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5214B6C-64D5-4918-AA63-C85F30DAF28B}"/>
              </a:ext>
            </a:extLst>
          </p:cNvPr>
          <p:cNvSpPr/>
          <p:nvPr/>
        </p:nvSpPr>
        <p:spPr>
          <a:xfrm>
            <a:off x="9271830" y="1913039"/>
            <a:ext cx="668986" cy="646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B8B5B1E0-431A-4D92-9F8C-20E29F13C52D}"/>
              </a:ext>
            </a:extLst>
          </p:cNvPr>
          <p:cNvSpPr/>
          <p:nvPr/>
        </p:nvSpPr>
        <p:spPr>
          <a:xfrm>
            <a:off x="8272071" y="2933563"/>
            <a:ext cx="668986" cy="646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82D7D81E-428B-4BC2-A0C2-8904DC48616D}"/>
              </a:ext>
            </a:extLst>
          </p:cNvPr>
          <p:cNvSpPr/>
          <p:nvPr/>
        </p:nvSpPr>
        <p:spPr>
          <a:xfrm>
            <a:off x="10146877" y="3797320"/>
            <a:ext cx="668986" cy="646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88DDAC10-0FA8-4AB7-8320-F7334FF0AFFC}"/>
              </a:ext>
            </a:extLst>
          </p:cNvPr>
          <p:cNvSpPr/>
          <p:nvPr/>
        </p:nvSpPr>
        <p:spPr>
          <a:xfrm>
            <a:off x="8941426" y="5206573"/>
            <a:ext cx="668986" cy="646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13A605B3-B0EC-454C-904B-6710B659C1DC}"/>
              </a:ext>
            </a:extLst>
          </p:cNvPr>
          <p:cNvCxnSpPr>
            <a:cxnSpLocks/>
            <a:stCxn id="7" idx="6"/>
            <a:endCxn id="37" idx="1"/>
          </p:cNvCxnSpPr>
          <p:nvPr/>
        </p:nvCxnSpPr>
        <p:spPr>
          <a:xfrm>
            <a:off x="7579895" y="2528804"/>
            <a:ext cx="790147" cy="49941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AE2BAA7-0363-4F4A-BFE4-136465AC744A}"/>
              </a:ext>
            </a:extLst>
          </p:cNvPr>
          <p:cNvCxnSpPr>
            <a:stCxn id="7" idx="6"/>
            <a:endCxn id="35" idx="2"/>
          </p:cNvCxnSpPr>
          <p:nvPr/>
        </p:nvCxnSpPr>
        <p:spPr>
          <a:xfrm flipV="1">
            <a:off x="7579895" y="2236205"/>
            <a:ext cx="1691935" cy="29259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806A4DB-A8D8-445B-AC2D-EA9540A09AC5}"/>
              </a:ext>
            </a:extLst>
          </p:cNvPr>
          <p:cNvCxnSpPr>
            <a:cxnSpLocks/>
            <a:stCxn id="35" idx="4"/>
          </p:cNvCxnSpPr>
          <p:nvPr/>
        </p:nvCxnSpPr>
        <p:spPr>
          <a:xfrm>
            <a:off x="9606323" y="2559370"/>
            <a:ext cx="760153" cy="12432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0E0EC8A-4A4E-4E9D-9239-4A33C7EB8401}"/>
              </a:ext>
            </a:extLst>
          </p:cNvPr>
          <p:cNvCxnSpPr>
            <a:cxnSpLocks/>
            <a:stCxn id="7" idx="5"/>
            <a:endCxn id="39" idx="1"/>
          </p:cNvCxnSpPr>
          <p:nvPr/>
        </p:nvCxnSpPr>
        <p:spPr>
          <a:xfrm>
            <a:off x="7481924" y="2757316"/>
            <a:ext cx="1557473" cy="254391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7849224C-AFA8-4121-9663-6C0FBC3B5334}"/>
              </a:ext>
            </a:extLst>
          </p:cNvPr>
          <p:cNvCxnSpPr>
            <a:cxnSpLocks/>
            <a:stCxn id="35" idx="4"/>
            <a:endCxn id="39" idx="0"/>
          </p:cNvCxnSpPr>
          <p:nvPr/>
        </p:nvCxnSpPr>
        <p:spPr>
          <a:xfrm flipH="1">
            <a:off x="9275919" y="2559370"/>
            <a:ext cx="330404" cy="2647203"/>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2" name="Oval 71">
            <a:extLst>
              <a:ext uri="{FF2B5EF4-FFF2-40B4-BE49-F238E27FC236}">
                <a16:creationId xmlns:a16="http://schemas.microsoft.com/office/drawing/2014/main" id="{60C9CDB2-28B3-4C23-AC11-9773568BCA5E}"/>
              </a:ext>
            </a:extLst>
          </p:cNvPr>
          <p:cNvSpPr/>
          <p:nvPr/>
        </p:nvSpPr>
        <p:spPr>
          <a:xfrm>
            <a:off x="7100113" y="5261143"/>
            <a:ext cx="668986" cy="646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3" name="Straight Connector 72">
            <a:extLst>
              <a:ext uri="{FF2B5EF4-FFF2-40B4-BE49-F238E27FC236}">
                <a16:creationId xmlns:a16="http://schemas.microsoft.com/office/drawing/2014/main" id="{69334784-85C2-45BD-8D5A-5F29657384B1}"/>
              </a:ext>
            </a:extLst>
          </p:cNvPr>
          <p:cNvCxnSpPr>
            <a:cxnSpLocks/>
            <a:stCxn id="72" idx="6"/>
            <a:endCxn id="39" idx="2"/>
          </p:cNvCxnSpPr>
          <p:nvPr/>
        </p:nvCxnSpPr>
        <p:spPr>
          <a:xfrm flipV="1">
            <a:off x="7769099" y="5529739"/>
            <a:ext cx="1172327" cy="54570"/>
          </a:xfrm>
          <a:prstGeom prst="line">
            <a:avLst/>
          </a:prstGeom>
          <a:ln w="38100">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40" name="bảng tên">
            <a:extLst>
              <a:ext uri="{FF2B5EF4-FFF2-40B4-BE49-F238E27FC236}">
                <a16:creationId xmlns:a16="http://schemas.microsoft.com/office/drawing/2014/main" id="{3CEDAA36-8A92-4AB2-84E6-3A21E4994532}"/>
              </a:ext>
            </a:extLst>
          </p:cNvPr>
          <p:cNvSpPr txBox="1"/>
          <p:nvPr/>
        </p:nvSpPr>
        <p:spPr>
          <a:xfrm>
            <a:off x="13036551" y="4404852"/>
            <a:ext cx="3658802" cy="497187"/>
          </a:xfrm>
          <a:prstGeom prst="rect">
            <a:avLst/>
          </a:prstGeom>
          <a:noFill/>
        </p:spPr>
        <p:txBody>
          <a:bodyPr wrap="square" rtlCol="0">
            <a:spAutoFit/>
          </a:bodyPr>
          <a:lstStyle/>
          <a:p>
            <a:pPr algn="r">
              <a:lnSpc>
                <a:spcPct val="110000"/>
              </a:lnSpc>
            </a:pPr>
            <a:r>
              <a:rPr lang="en-US" sz="2500" spc="120" dirty="0" err="1">
                <a:solidFill>
                  <a:schemeClr val="bg1">
                    <a:lumMod val="95000"/>
                  </a:schemeClr>
                </a:solidFill>
                <a:latin typeface="JetBrains Mono Light" panose="02000009000000000000" pitchFamily="49" charset="0"/>
                <a:cs typeface="JetBrains Mono Light" panose="02000009000000000000" pitchFamily="49" charset="0"/>
              </a:rPr>
              <a:t>Vũ</a:t>
            </a:r>
            <a:r>
              <a:rPr lang="en-US" sz="2500" spc="120" dirty="0">
                <a:solidFill>
                  <a:schemeClr val="bg1">
                    <a:lumMod val="95000"/>
                  </a:schemeClr>
                </a:solidFill>
                <a:latin typeface="JetBrains Mono Light" panose="02000009000000000000" pitchFamily="49" charset="0"/>
                <a:cs typeface="JetBrains Mono Light" panose="02000009000000000000" pitchFamily="49" charset="0"/>
              </a:rPr>
              <a:t> </a:t>
            </a:r>
            <a:r>
              <a:rPr lang="en-US" sz="2500" spc="120" dirty="0" err="1">
                <a:solidFill>
                  <a:schemeClr val="bg1">
                    <a:lumMod val="95000"/>
                  </a:schemeClr>
                </a:solidFill>
                <a:latin typeface="JetBrains Mono Light" panose="02000009000000000000" pitchFamily="49" charset="0"/>
                <a:cs typeface="JetBrains Mono Light" panose="02000009000000000000" pitchFamily="49" charset="0"/>
              </a:rPr>
              <a:t>Thùy</a:t>
            </a:r>
            <a:r>
              <a:rPr lang="en-US" sz="2500" spc="120" dirty="0">
                <a:solidFill>
                  <a:schemeClr val="bg1">
                    <a:lumMod val="95000"/>
                  </a:schemeClr>
                </a:solidFill>
                <a:latin typeface="JetBrains Mono Light" panose="02000009000000000000" pitchFamily="49" charset="0"/>
                <a:cs typeface="JetBrains Mono Light" panose="02000009000000000000" pitchFamily="49" charset="0"/>
              </a:rPr>
              <a:t> </a:t>
            </a:r>
            <a:r>
              <a:rPr lang="en-US" sz="2500" spc="120" dirty="0" err="1">
                <a:solidFill>
                  <a:schemeClr val="bg1">
                    <a:lumMod val="95000"/>
                  </a:schemeClr>
                </a:solidFill>
                <a:latin typeface="JetBrains Mono Light" panose="02000009000000000000" pitchFamily="49" charset="0"/>
                <a:cs typeface="JetBrains Mono Light" panose="02000009000000000000" pitchFamily="49" charset="0"/>
              </a:rPr>
              <a:t>Dương</a:t>
            </a:r>
            <a:endParaRPr lang="en-US" sz="2500" spc="120" dirty="0">
              <a:solidFill>
                <a:schemeClr val="bg1">
                  <a:lumMod val="95000"/>
                </a:schemeClr>
              </a:solidFill>
              <a:latin typeface="JetBrains Mono Light" panose="02000009000000000000" pitchFamily="49" charset="0"/>
              <a:cs typeface="JetBrains Mono Light" panose="02000009000000000000" pitchFamily="49" charset="0"/>
            </a:endParaRPr>
          </a:p>
        </p:txBody>
      </p:sp>
      <p:sp>
        <p:nvSpPr>
          <p:cNvPr id="41" name="bảng tên">
            <a:extLst>
              <a:ext uri="{FF2B5EF4-FFF2-40B4-BE49-F238E27FC236}">
                <a16:creationId xmlns:a16="http://schemas.microsoft.com/office/drawing/2014/main" id="{92DB7DB2-5945-4448-B034-379441CDCEBB}"/>
              </a:ext>
            </a:extLst>
          </p:cNvPr>
          <p:cNvSpPr txBox="1"/>
          <p:nvPr/>
        </p:nvSpPr>
        <p:spPr>
          <a:xfrm>
            <a:off x="14290676" y="4842092"/>
            <a:ext cx="3658802" cy="497187"/>
          </a:xfrm>
          <a:prstGeom prst="rect">
            <a:avLst/>
          </a:prstGeom>
          <a:noFill/>
        </p:spPr>
        <p:txBody>
          <a:bodyPr wrap="square" rtlCol="0">
            <a:spAutoFit/>
          </a:bodyPr>
          <a:lstStyle/>
          <a:p>
            <a:pPr algn="r">
              <a:lnSpc>
                <a:spcPct val="110000"/>
              </a:lnSpc>
            </a:pPr>
            <a:r>
              <a:rPr lang="en-US" sz="2500" spc="120" dirty="0">
                <a:solidFill>
                  <a:schemeClr val="bg1">
                    <a:lumMod val="95000"/>
                  </a:schemeClr>
                </a:solidFill>
                <a:latin typeface="JetBrains Mono Light" panose="02000009000000000000" pitchFamily="49" charset="0"/>
                <a:cs typeface="JetBrains Mono Light" panose="02000009000000000000" pitchFamily="49" charset="0"/>
              </a:rPr>
              <a:t>Phạm Trung Hiếu</a:t>
            </a:r>
          </a:p>
        </p:txBody>
      </p:sp>
      <p:sp>
        <p:nvSpPr>
          <p:cNvPr id="42" name="bảng tên">
            <a:extLst>
              <a:ext uri="{FF2B5EF4-FFF2-40B4-BE49-F238E27FC236}">
                <a16:creationId xmlns:a16="http://schemas.microsoft.com/office/drawing/2014/main" id="{41409C65-436A-440D-88C8-A439570AA87F}"/>
              </a:ext>
            </a:extLst>
          </p:cNvPr>
          <p:cNvSpPr txBox="1"/>
          <p:nvPr/>
        </p:nvSpPr>
        <p:spPr>
          <a:xfrm>
            <a:off x="14975495" y="5263953"/>
            <a:ext cx="3658802" cy="497187"/>
          </a:xfrm>
          <a:prstGeom prst="rect">
            <a:avLst/>
          </a:prstGeom>
          <a:noFill/>
        </p:spPr>
        <p:txBody>
          <a:bodyPr wrap="square" rtlCol="0">
            <a:spAutoFit/>
          </a:bodyPr>
          <a:lstStyle/>
          <a:p>
            <a:pPr algn="r">
              <a:lnSpc>
                <a:spcPct val="110000"/>
              </a:lnSpc>
            </a:pPr>
            <a:r>
              <a:rPr lang="en-US" sz="2500" spc="120" dirty="0" err="1">
                <a:solidFill>
                  <a:schemeClr val="bg1">
                    <a:lumMod val="95000"/>
                  </a:schemeClr>
                </a:solidFill>
                <a:latin typeface="JetBrains Mono Light" panose="02000009000000000000" pitchFamily="49" charset="0"/>
                <a:cs typeface="JetBrains Mono Light" panose="02000009000000000000" pitchFamily="49" charset="0"/>
              </a:rPr>
              <a:t>Đỗ</a:t>
            </a:r>
            <a:r>
              <a:rPr lang="en-US" sz="2500" spc="120" dirty="0">
                <a:solidFill>
                  <a:schemeClr val="bg1">
                    <a:lumMod val="95000"/>
                  </a:schemeClr>
                </a:solidFill>
                <a:latin typeface="JetBrains Mono Light" panose="02000009000000000000" pitchFamily="49" charset="0"/>
                <a:cs typeface="JetBrains Mono Light" panose="02000009000000000000" pitchFamily="49" charset="0"/>
              </a:rPr>
              <a:t> </a:t>
            </a:r>
            <a:r>
              <a:rPr lang="en-US" sz="2500" spc="120" dirty="0" err="1">
                <a:solidFill>
                  <a:schemeClr val="bg1">
                    <a:lumMod val="95000"/>
                  </a:schemeClr>
                </a:solidFill>
                <a:latin typeface="JetBrains Mono Light" panose="02000009000000000000" pitchFamily="49" charset="0"/>
                <a:cs typeface="JetBrains Mono Light" panose="02000009000000000000" pitchFamily="49" charset="0"/>
              </a:rPr>
              <a:t>Duy</a:t>
            </a:r>
            <a:r>
              <a:rPr lang="en-US" sz="2500" spc="120" dirty="0">
                <a:solidFill>
                  <a:schemeClr val="bg1">
                    <a:lumMod val="95000"/>
                  </a:schemeClr>
                </a:solidFill>
                <a:latin typeface="JetBrains Mono Light" panose="02000009000000000000" pitchFamily="49" charset="0"/>
                <a:cs typeface="JetBrains Mono Light" panose="02000009000000000000" pitchFamily="49" charset="0"/>
              </a:rPr>
              <a:t> </a:t>
            </a:r>
            <a:r>
              <a:rPr lang="en-US" sz="2500" spc="120" dirty="0" err="1">
                <a:solidFill>
                  <a:schemeClr val="bg1">
                    <a:lumMod val="95000"/>
                  </a:schemeClr>
                </a:solidFill>
                <a:latin typeface="JetBrains Mono Light" panose="02000009000000000000" pitchFamily="49" charset="0"/>
                <a:cs typeface="JetBrains Mono Light" panose="02000009000000000000" pitchFamily="49" charset="0"/>
              </a:rPr>
              <a:t>Khánh</a:t>
            </a:r>
            <a:endParaRPr lang="en-US" sz="2500" spc="120" dirty="0">
              <a:solidFill>
                <a:schemeClr val="bg1">
                  <a:lumMod val="95000"/>
                </a:schemeClr>
              </a:solidFill>
              <a:latin typeface="JetBrains Mono Light" panose="02000009000000000000" pitchFamily="49" charset="0"/>
              <a:cs typeface="JetBrains Mono Light" panose="02000009000000000000" pitchFamily="49" charset="0"/>
            </a:endParaRPr>
          </a:p>
        </p:txBody>
      </p:sp>
      <p:sp>
        <p:nvSpPr>
          <p:cNvPr id="43" name="bảng tên">
            <a:extLst>
              <a:ext uri="{FF2B5EF4-FFF2-40B4-BE49-F238E27FC236}">
                <a16:creationId xmlns:a16="http://schemas.microsoft.com/office/drawing/2014/main" id="{91F280EA-A559-42F9-AACB-05305A48B393}"/>
              </a:ext>
            </a:extLst>
          </p:cNvPr>
          <p:cNvSpPr txBox="1"/>
          <p:nvPr/>
        </p:nvSpPr>
        <p:spPr>
          <a:xfrm>
            <a:off x="16251845" y="5685329"/>
            <a:ext cx="3658802" cy="497187"/>
          </a:xfrm>
          <a:prstGeom prst="rect">
            <a:avLst/>
          </a:prstGeom>
          <a:noFill/>
        </p:spPr>
        <p:txBody>
          <a:bodyPr wrap="square" rtlCol="0">
            <a:spAutoFit/>
          </a:bodyPr>
          <a:lstStyle/>
          <a:p>
            <a:pPr algn="r">
              <a:lnSpc>
                <a:spcPct val="110000"/>
              </a:lnSpc>
            </a:pPr>
            <a:r>
              <a:rPr lang="en-US" sz="2500" spc="120" dirty="0">
                <a:solidFill>
                  <a:schemeClr val="bg1">
                    <a:lumMod val="95000"/>
                  </a:schemeClr>
                </a:solidFill>
                <a:latin typeface="JetBrains Mono Light" panose="02000009000000000000" pitchFamily="49" charset="0"/>
                <a:cs typeface="JetBrains Mono Light" panose="02000009000000000000" pitchFamily="49" charset="0"/>
              </a:rPr>
              <a:t>Phạm </a:t>
            </a:r>
            <a:r>
              <a:rPr lang="en-US" sz="2500" spc="120" dirty="0" err="1">
                <a:solidFill>
                  <a:schemeClr val="bg1">
                    <a:lumMod val="95000"/>
                  </a:schemeClr>
                </a:solidFill>
                <a:latin typeface="JetBrains Mono Light" panose="02000009000000000000" pitchFamily="49" charset="0"/>
                <a:cs typeface="JetBrains Mono Light" panose="02000009000000000000" pitchFamily="49" charset="0"/>
              </a:rPr>
              <a:t>Hoàng</a:t>
            </a:r>
            <a:r>
              <a:rPr lang="en-US" sz="2500" spc="120" dirty="0">
                <a:solidFill>
                  <a:schemeClr val="bg1">
                    <a:lumMod val="95000"/>
                  </a:schemeClr>
                </a:solidFill>
                <a:latin typeface="JetBrains Mono Light" panose="02000009000000000000" pitchFamily="49" charset="0"/>
                <a:cs typeface="JetBrains Mono Light" panose="02000009000000000000" pitchFamily="49" charset="0"/>
              </a:rPr>
              <a:t> </a:t>
            </a:r>
            <a:r>
              <a:rPr lang="en-US" sz="2500" spc="120" dirty="0" err="1">
                <a:solidFill>
                  <a:schemeClr val="bg1">
                    <a:lumMod val="95000"/>
                  </a:schemeClr>
                </a:solidFill>
                <a:latin typeface="JetBrains Mono Light" panose="02000009000000000000" pitchFamily="49" charset="0"/>
                <a:cs typeface="JetBrains Mono Light" panose="02000009000000000000" pitchFamily="49" charset="0"/>
              </a:rPr>
              <a:t>Phong</a:t>
            </a:r>
            <a:endParaRPr lang="en-US" sz="2500" spc="120" dirty="0">
              <a:solidFill>
                <a:schemeClr val="bg1">
                  <a:lumMod val="95000"/>
                </a:schemeClr>
              </a:solidFill>
              <a:latin typeface="JetBrains Mono Light" panose="02000009000000000000" pitchFamily="49" charset="0"/>
              <a:cs typeface="JetBrains Mono Light" panose="02000009000000000000" pitchFamily="49" charset="0"/>
            </a:endParaRPr>
          </a:p>
        </p:txBody>
      </p:sp>
      <p:sp>
        <p:nvSpPr>
          <p:cNvPr id="44" name="bảng tên">
            <a:extLst>
              <a:ext uri="{FF2B5EF4-FFF2-40B4-BE49-F238E27FC236}">
                <a16:creationId xmlns:a16="http://schemas.microsoft.com/office/drawing/2014/main" id="{69F2B057-99C2-45C2-B30D-D007B8575D9A}"/>
              </a:ext>
            </a:extLst>
          </p:cNvPr>
          <p:cNvSpPr txBox="1"/>
          <p:nvPr/>
        </p:nvSpPr>
        <p:spPr>
          <a:xfrm>
            <a:off x="17090045" y="6092875"/>
            <a:ext cx="3658802" cy="497187"/>
          </a:xfrm>
          <a:prstGeom prst="rect">
            <a:avLst/>
          </a:prstGeom>
          <a:noFill/>
        </p:spPr>
        <p:txBody>
          <a:bodyPr wrap="square" rtlCol="0">
            <a:spAutoFit/>
          </a:bodyPr>
          <a:lstStyle/>
          <a:p>
            <a:pPr algn="r">
              <a:lnSpc>
                <a:spcPct val="110000"/>
              </a:lnSpc>
            </a:pPr>
            <a:r>
              <a:rPr lang="en-US" sz="2500" spc="120" dirty="0">
                <a:solidFill>
                  <a:schemeClr val="bg1">
                    <a:lumMod val="95000"/>
                  </a:schemeClr>
                </a:solidFill>
                <a:latin typeface="JetBrains Mono Light" panose="02000009000000000000" pitchFamily="49" charset="0"/>
                <a:cs typeface="JetBrains Mono Light" panose="02000009000000000000" pitchFamily="49" charset="0"/>
              </a:rPr>
              <a:t>Phạm </a:t>
            </a:r>
            <a:r>
              <a:rPr lang="en-US" sz="2500" spc="120" dirty="0" err="1">
                <a:solidFill>
                  <a:schemeClr val="bg1">
                    <a:lumMod val="95000"/>
                  </a:schemeClr>
                </a:solidFill>
                <a:latin typeface="JetBrains Mono Light" panose="02000009000000000000" pitchFamily="49" charset="0"/>
                <a:cs typeface="JetBrains Mono Light" panose="02000009000000000000" pitchFamily="49" charset="0"/>
              </a:rPr>
              <a:t>Văn</a:t>
            </a:r>
            <a:r>
              <a:rPr lang="en-US" sz="2500" spc="120" dirty="0">
                <a:solidFill>
                  <a:schemeClr val="bg1">
                    <a:lumMod val="95000"/>
                  </a:schemeClr>
                </a:solidFill>
                <a:latin typeface="JetBrains Mono Light" panose="02000009000000000000" pitchFamily="49" charset="0"/>
                <a:cs typeface="JetBrains Mono Light" panose="02000009000000000000" pitchFamily="49" charset="0"/>
              </a:rPr>
              <a:t> </a:t>
            </a:r>
            <a:r>
              <a:rPr lang="en-US" sz="2500" spc="120" dirty="0" err="1">
                <a:solidFill>
                  <a:schemeClr val="bg1">
                    <a:lumMod val="95000"/>
                  </a:schemeClr>
                </a:solidFill>
                <a:latin typeface="JetBrains Mono Light" panose="02000009000000000000" pitchFamily="49" charset="0"/>
                <a:cs typeface="JetBrains Mono Light" panose="02000009000000000000" pitchFamily="49" charset="0"/>
              </a:rPr>
              <a:t>Quyết</a:t>
            </a:r>
            <a:endParaRPr lang="en-US" sz="2500" spc="120" dirty="0">
              <a:solidFill>
                <a:schemeClr val="bg1">
                  <a:lumMod val="95000"/>
                </a:schemeClr>
              </a:solidFill>
              <a:latin typeface="JetBrains Mono Light" panose="02000009000000000000" pitchFamily="49" charset="0"/>
              <a:cs typeface="JetBrains Mono Light" panose="02000009000000000000" pitchFamily="49" charset="0"/>
            </a:endParaRPr>
          </a:p>
        </p:txBody>
      </p:sp>
    </p:spTree>
    <p:extLst>
      <p:ext uri="{BB962C8B-B14F-4D97-AF65-F5344CB8AC3E}">
        <p14:creationId xmlns:p14="http://schemas.microsoft.com/office/powerpoint/2010/main" val="6908079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80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xit" presetSubtype="0" fill="hold" grpId="1" nodeType="withEffect">
                                  <p:stCondLst>
                                    <p:cond delay="1000"/>
                                  </p:stCondLst>
                                  <p:childTnLst>
                                    <p:animEffect transition="out" filter="fade">
                                      <p:cBhvr>
                                        <p:cTn id="12" dur="300"/>
                                        <p:tgtEl>
                                          <p:spTgt spid="3"/>
                                        </p:tgtEl>
                                      </p:cBhvr>
                                    </p:animEffect>
                                    <p:set>
                                      <p:cBhvr>
                                        <p:cTn id="13" dur="1" fill="hold">
                                          <p:stCondLst>
                                            <p:cond delay="299"/>
                                          </p:stCondLst>
                                        </p:cTn>
                                        <p:tgtEl>
                                          <p:spTgt spid="3"/>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40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fade">
                                      <p:cBhvr>
                                        <p:cTn id="30" dur="300"/>
                                        <p:tgtEl>
                                          <p:spTgt spid="35"/>
                                        </p:tgtEl>
                                      </p:cBhvr>
                                    </p:animEffect>
                                  </p:childTnLst>
                                </p:cTn>
                              </p:par>
                            </p:childTnLst>
                          </p:cTn>
                        </p:par>
                        <p:par>
                          <p:cTn id="31" fill="hold">
                            <p:stCondLst>
                              <p:cond delay="800"/>
                            </p:stCondLst>
                            <p:childTnLst>
                              <p:par>
                                <p:cTn id="32" presetID="10" presetClass="entr" presetSubtype="0" fill="hold" grpId="0" nodeType="after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300"/>
                                        <p:tgtEl>
                                          <p:spTgt spid="37"/>
                                        </p:tgtEl>
                                      </p:cBhvr>
                                    </p:animEffect>
                                  </p:childTnLst>
                                </p:cTn>
                              </p:par>
                            </p:childTnLst>
                          </p:cTn>
                        </p:par>
                        <p:par>
                          <p:cTn id="35" fill="hold">
                            <p:stCondLst>
                              <p:cond delay="1100"/>
                            </p:stCondLst>
                            <p:childTnLst>
                              <p:par>
                                <p:cTn id="36" presetID="10" presetClass="entr" presetSubtype="0" fill="hold" grpId="0" nodeType="after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300"/>
                                        <p:tgtEl>
                                          <p:spTgt spid="38"/>
                                        </p:tgtEl>
                                      </p:cBhvr>
                                    </p:animEffect>
                                  </p:childTnLst>
                                </p:cTn>
                              </p:par>
                            </p:childTnLst>
                          </p:cTn>
                        </p:par>
                        <p:par>
                          <p:cTn id="39" fill="hold">
                            <p:stCondLst>
                              <p:cond delay="1400"/>
                            </p:stCondLst>
                            <p:childTnLst>
                              <p:par>
                                <p:cTn id="40" presetID="10" presetClass="entr" presetSubtype="0" fill="hold" grpId="0" nodeType="after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fade">
                                      <p:cBhvr>
                                        <p:cTn id="42" dur="300"/>
                                        <p:tgtEl>
                                          <p:spTgt spid="39"/>
                                        </p:tgtEl>
                                      </p:cBhvr>
                                    </p:animEffect>
                                  </p:childTnLst>
                                </p:cTn>
                              </p:par>
                            </p:childTnLst>
                          </p:cTn>
                        </p:par>
                        <p:par>
                          <p:cTn id="43" fill="hold">
                            <p:stCondLst>
                              <p:cond delay="1700"/>
                            </p:stCondLst>
                            <p:childTnLst>
                              <p:par>
                                <p:cTn id="44" presetID="10" presetClass="entr" presetSubtype="0" fill="hold" grpId="0" nodeType="after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fade">
                                      <p:cBhvr>
                                        <p:cTn id="46" dur="300"/>
                                        <p:tgtEl>
                                          <p:spTgt spid="7"/>
                                        </p:tgtEl>
                                      </p:cBhvr>
                                    </p:animEffect>
                                  </p:childTnLst>
                                </p:cTn>
                              </p:par>
                            </p:childTnLst>
                          </p:cTn>
                        </p:par>
                        <p:par>
                          <p:cTn id="47" fill="hold">
                            <p:stCondLst>
                              <p:cond delay="2000"/>
                            </p:stCondLst>
                            <p:childTnLst>
                              <p:par>
                                <p:cTn id="48" presetID="10" presetClass="entr" presetSubtype="0" fill="hold" nodeType="after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100"/>
                                        <p:tgtEl>
                                          <p:spTgt spid="27"/>
                                        </p:tgtEl>
                                      </p:cBhvr>
                                    </p:animEffect>
                                  </p:childTnLst>
                                </p:cTn>
                              </p:par>
                              <p:par>
                                <p:cTn id="51" presetID="10" presetClass="entr" presetSubtype="0" fill="hold"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100"/>
                                        <p:tgtEl>
                                          <p:spTgt spid="14"/>
                                        </p:tgtEl>
                                      </p:cBhvr>
                                    </p:animEffect>
                                  </p:childTnLst>
                                </p:cTn>
                              </p:par>
                              <p:par>
                                <p:cTn id="54" presetID="10" presetClass="entr" presetSubtype="0" fill="hold" nodeType="withEffect">
                                  <p:stCondLst>
                                    <p:cond delay="0"/>
                                  </p:stCondLst>
                                  <p:childTnLst>
                                    <p:set>
                                      <p:cBhvr>
                                        <p:cTn id="55" dur="1" fill="hold">
                                          <p:stCondLst>
                                            <p:cond delay="0"/>
                                          </p:stCondLst>
                                        </p:cTn>
                                        <p:tgtEl>
                                          <p:spTgt spid="29"/>
                                        </p:tgtEl>
                                        <p:attrNameLst>
                                          <p:attrName>style.visibility</p:attrName>
                                        </p:attrNameLst>
                                      </p:cBhvr>
                                      <p:to>
                                        <p:strVal val="visible"/>
                                      </p:to>
                                    </p:set>
                                    <p:animEffect transition="in" filter="fade">
                                      <p:cBhvr>
                                        <p:cTn id="56" dur="100"/>
                                        <p:tgtEl>
                                          <p:spTgt spid="29"/>
                                        </p:tgtEl>
                                      </p:cBhvr>
                                    </p:animEffect>
                                  </p:childTnLst>
                                </p:cTn>
                              </p:par>
                              <p:par>
                                <p:cTn id="57" presetID="10" presetClass="entr" presetSubtype="0" fill="hold" nodeType="with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100"/>
                                        <p:tgtEl>
                                          <p:spTgt spid="34"/>
                                        </p:tgtEl>
                                      </p:cBhvr>
                                    </p:animEffect>
                                  </p:childTnLst>
                                </p:cTn>
                              </p:par>
                              <p:par>
                                <p:cTn id="60" presetID="10" presetClass="entr" presetSubtype="0" fill="hold" nodeType="withEffect">
                                  <p:stCondLst>
                                    <p:cond delay="0"/>
                                  </p:stCondLst>
                                  <p:childTnLst>
                                    <p:set>
                                      <p:cBhvr>
                                        <p:cTn id="61" dur="1" fill="hold">
                                          <p:stCondLst>
                                            <p:cond delay="0"/>
                                          </p:stCondLst>
                                        </p:cTn>
                                        <p:tgtEl>
                                          <p:spTgt spid="45"/>
                                        </p:tgtEl>
                                        <p:attrNameLst>
                                          <p:attrName>style.visibility</p:attrName>
                                        </p:attrNameLst>
                                      </p:cBhvr>
                                      <p:to>
                                        <p:strVal val="visible"/>
                                      </p:to>
                                    </p:set>
                                    <p:animEffect transition="in" filter="fade">
                                      <p:cBhvr>
                                        <p:cTn id="62" dur="100"/>
                                        <p:tgtEl>
                                          <p:spTgt spid="45"/>
                                        </p:tgtEl>
                                      </p:cBhvr>
                                    </p:animEffect>
                                  </p:childTnLst>
                                </p:cTn>
                              </p:par>
                            </p:childTnLst>
                          </p:cTn>
                        </p:par>
                        <p:par>
                          <p:cTn id="63" fill="hold">
                            <p:stCondLst>
                              <p:cond delay="2100"/>
                            </p:stCondLst>
                            <p:childTnLst>
                              <p:par>
                                <p:cTn id="64" presetID="10" presetClass="exit" presetSubtype="0" fill="hold" nodeType="afterEffect">
                                  <p:stCondLst>
                                    <p:cond delay="0"/>
                                  </p:stCondLst>
                                  <p:childTnLst>
                                    <p:animEffect transition="out" filter="fade">
                                      <p:cBhvr>
                                        <p:cTn id="65" dur="100"/>
                                        <p:tgtEl>
                                          <p:spTgt spid="27"/>
                                        </p:tgtEl>
                                      </p:cBhvr>
                                    </p:animEffect>
                                    <p:set>
                                      <p:cBhvr>
                                        <p:cTn id="66" dur="1" fill="hold">
                                          <p:stCondLst>
                                            <p:cond delay="99"/>
                                          </p:stCondLst>
                                        </p:cTn>
                                        <p:tgtEl>
                                          <p:spTgt spid="27"/>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100"/>
                                        <p:tgtEl>
                                          <p:spTgt spid="14"/>
                                        </p:tgtEl>
                                      </p:cBhvr>
                                    </p:animEffect>
                                    <p:set>
                                      <p:cBhvr>
                                        <p:cTn id="69" dur="1" fill="hold">
                                          <p:stCondLst>
                                            <p:cond delay="99"/>
                                          </p:stCondLst>
                                        </p:cTn>
                                        <p:tgtEl>
                                          <p:spTgt spid="14"/>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100"/>
                                        <p:tgtEl>
                                          <p:spTgt spid="29"/>
                                        </p:tgtEl>
                                      </p:cBhvr>
                                    </p:animEffect>
                                    <p:set>
                                      <p:cBhvr>
                                        <p:cTn id="72" dur="1" fill="hold">
                                          <p:stCondLst>
                                            <p:cond delay="99"/>
                                          </p:stCondLst>
                                        </p:cTn>
                                        <p:tgtEl>
                                          <p:spTgt spid="29"/>
                                        </p:tgtEl>
                                        <p:attrNameLst>
                                          <p:attrName>style.visibility</p:attrName>
                                        </p:attrNameLst>
                                      </p:cBhvr>
                                      <p:to>
                                        <p:strVal val="hidden"/>
                                      </p:to>
                                    </p:set>
                                  </p:childTnLst>
                                </p:cTn>
                              </p:par>
                              <p:par>
                                <p:cTn id="73" presetID="10" presetClass="exit" presetSubtype="0" fill="hold" nodeType="withEffect">
                                  <p:stCondLst>
                                    <p:cond delay="0"/>
                                  </p:stCondLst>
                                  <p:childTnLst>
                                    <p:animEffect transition="out" filter="fade">
                                      <p:cBhvr>
                                        <p:cTn id="74" dur="100"/>
                                        <p:tgtEl>
                                          <p:spTgt spid="34"/>
                                        </p:tgtEl>
                                      </p:cBhvr>
                                    </p:animEffect>
                                    <p:set>
                                      <p:cBhvr>
                                        <p:cTn id="75" dur="1" fill="hold">
                                          <p:stCondLst>
                                            <p:cond delay="99"/>
                                          </p:stCondLst>
                                        </p:cTn>
                                        <p:tgtEl>
                                          <p:spTgt spid="34"/>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100"/>
                                        <p:tgtEl>
                                          <p:spTgt spid="45"/>
                                        </p:tgtEl>
                                      </p:cBhvr>
                                    </p:animEffect>
                                    <p:set>
                                      <p:cBhvr>
                                        <p:cTn id="78" dur="1" fill="hold">
                                          <p:stCondLst>
                                            <p:cond delay="99"/>
                                          </p:stCondLst>
                                        </p:cTn>
                                        <p:tgtEl>
                                          <p:spTgt spid="45"/>
                                        </p:tgtEl>
                                        <p:attrNameLst>
                                          <p:attrName>style.visibility</p:attrName>
                                        </p:attrNameLst>
                                      </p:cBhvr>
                                      <p:to>
                                        <p:strVal val="hidden"/>
                                      </p:to>
                                    </p:set>
                                  </p:childTnLst>
                                </p:cTn>
                              </p:par>
                            </p:childTnLst>
                          </p:cTn>
                        </p:par>
                        <p:par>
                          <p:cTn id="79" fill="hold">
                            <p:stCondLst>
                              <p:cond delay="2200"/>
                            </p:stCondLst>
                            <p:childTnLst>
                              <p:par>
                                <p:cTn id="80" presetID="10" presetClass="entr" presetSubtype="0" fill="hold" nodeType="after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100"/>
                                        <p:tgtEl>
                                          <p:spTgt spid="27"/>
                                        </p:tgtEl>
                                      </p:cBhvr>
                                    </p:animEffect>
                                  </p:childTnLst>
                                </p:cTn>
                              </p:par>
                              <p:par>
                                <p:cTn id="83" presetID="10" presetClass="entr" presetSubtype="0" fill="hold" nodeType="withEffect">
                                  <p:stCondLst>
                                    <p:cond delay="0"/>
                                  </p:stCondLst>
                                  <p:childTnLst>
                                    <p:set>
                                      <p:cBhvr>
                                        <p:cTn id="84" dur="1" fill="hold">
                                          <p:stCondLst>
                                            <p:cond delay="0"/>
                                          </p:stCondLst>
                                        </p:cTn>
                                        <p:tgtEl>
                                          <p:spTgt spid="14"/>
                                        </p:tgtEl>
                                        <p:attrNameLst>
                                          <p:attrName>style.visibility</p:attrName>
                                        </p:attrNameLst>
                                      </p:cBhvr>
                                      <p:to>
                                        <p:strVal val="visible"/>
                                      </p:to>
                                    </p:set>
                                    <p:animEffect transition="in" filter="fade">
                                      <p:cBhvr>
                                        <p:cTn id="85" dur="100"/>
                                        <p:tgtEl>
                                          <p:spTgt spid="14"/>
                                        </p:tgtEl>
                                      </p:cBhvr>
                                    </p:animEffect>
                                  </p:childTnLst>
                                </p:cTn>
                              </p:par>
                              <p:par>
                                <p:cTn id="86" presetID="10" presetClass="entr" presetSubtype="0" fill="hold" nodeType="with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100"/>
                                        <p:tgtEl>
                                          <p:spTgt spid="29"/>
                                        </p:tgtEl>
                                      </p:cBhvr>
                                    </p:animEffect>
                                  </p:childTnLst>
                                </p:cTn>
                              </p:par>
                              <p:par>
                                <p:cTn id="89" presetID="10" presetClass="entr" presetSubtype="0" fill="hold"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100"/>
                                        <p:tgtEl>
                                          <p:spTgt spid="34"/>
                                        </p:tgtEl>
                                      </p:cBhvr>
                                    </p:animEffect>
                                  </p:childTnLst>
                                </p:cTn>
                              </p:par>
                              <p:par>
                                <p:cTn id="92" presetID="10" presetClass="entr" presetSubtype="0" fill="hold" nodeType="withEffect">
                                  <p:stCondLst>
                                    <p:cond delay="0"/>
                                  </p:stCondLst>
                                  <p:childTnLst>
                                    <p:set>
                                      <p:cBhvr>
                                        <p:cTn id="93" dur="1" fill="hold">
                                          <p:stCondLst>
                                            <p:cond delay="0"/>
                                          </p:stCondLst>
                                        </p:cTn>
                                        <p:tgtEl>
                                          <p:spTgt spid="45"/>
                                        </p:tgtEl>
                                        <p:attrNameLst>
                                          <p:attrName>style.visibility</p:attrName>
                                        </p:attrNameLst>
                                      </p:cBhvr>
                                      <p:to>
                                        <p:strVal val="visible"/>
                                      </p:to>
                                    </p:set>
                                    <p:animEffect transition="in" filter="fade">
                                      <p:cBhvr>
                                        <p:cTn id="94" dur="100"/>
                                        <p:tgtEl>
                                          <p:spTgt spid="45"/>
                                        </p:tgtEl>
                                      </p:cBhvr>
                                    </p:animEffect>
                                  </p:childTnLst>
                                </p:cTn>
                              </p:par>
                            </p:childTnLst>
                          </p:cTn>
                        </p:par>
                        <p:par>
                          <p:cTn id="95" fill="hold">
                            <p:stCondLst>
                              <p:cond delay="2300"/>
                            </p:stCondLst>
                            <p:childTnLst>
                              <p:par>
                                <p:cTn id="96" presetID="10" presetClass="exit" presetSubtype="0" fill="hold" nodeType="afterEffect">
                                  <p:stCondLst>
                                    <p:cond delay="0"/>
                                  </p:stCondLst>
                                  <p:childTnLst>
                                    <p:animEffect transition="out" filter="fade">
                                      <p:cBhvr>
                                        <p:cTn id="97" dur="100"/>
                                        <p:tgtEl>
                                          <p:spTgt spid="27"/>
                                        </p:tgtEl>
                                      </p:cBhvr>
                                    </p:animEffect>
                                    <p:set>
                                      <p:cBhvr>
                                        <p:cTn id="98" dur="1" fill="hold">
                                          <p:stCondLst>
                                            <p:cond delay="99"/>
                                          </p:stCondLst>
                                        </p:cTn>
                                        <p:tgtEl>
                                          <p:spTgt spid="27"/>
                                        </p:tgtEl>
                                        <p:attrNameLst>
                                          <p:attrName>style.visibility</p:attrName>
                                        </p:attrNameLst>
                                      </p:cBhvr>
                                      <p:to>
                                        <p:strVal val="hidden"/>
                                      </p:to>
                                    </p:set>
                                  </p:childTnLst>
                                </p:cTn>
                              </p:par>
                              <p:par>
                                <p:cTn id="99" presetID="10" presetClass="exit" presetSubtype="0" fill="hold" nodeType="withEffect">
                                  <p:stCondLst>
                                    <p:cond delay="0"/>
                                  </p:stCondLst>
                                  <p:childTnLst>
                                    <p:animEffect transition="out" filter="fade">
                                      <p:cBhvr>
                                        <p:cTn id="100" dur="100"/>
                                        <p:tgtEl>
                                          <p:spTgt spid="14"/>
                                        </p:tgtEl>
                                      </p:cBhvr>
                                    </p:animEffect>
                                    <p:set>
                                      <p:cBhvr>
                                        <p:cTn id="101" dur="1" fill="hold">
                                          <p:stCondLst>
                                            <p:cond delay="99"/>
                                          </p:stCondLst>
                                        </p:cTn>
                                        <p:tgtEl>
                                          <p:spTgt spid="14"/>
                                        </p:tgtEl>
                                        <p:attrNameLst>
                                          <p:attrName>style.visibility</p:attrName>
                                        </p:attrNameLst>
                                      </p:cBhvr>
                                      <p:to>
                                        <p:strVal val="hidden"/>
                                      </p:to>
                                    </p:set>
                                  </p:childTnLst>
                                </p:cTn>
                              </p:par>
                              <p:par>
                                <p:cTn id="102" presetID="10" presetClass="exit" presetSubtype="0" fill="hold" nodeType="withEffect">
                                  <p:stCondLst>
                                    <p:cond delay="0"/>
                                  </p:stCondLst>
                                  <p:childTnLst>
                                    <p:animEffect transition="out" filter="fade">
                                      <p:cBhvr>
                                        <p:cTn id="103" dur="100"/>
                                        <p:tgtEl>
                                          <p:spTgt spid="29"/>
                                        </p:tgtEl>
                                      </p:cBhvr>
                                    </p:animEffect>
                                    <p:set>
                                      <p:cBhvr>
                                        <p:cTn id="104" dur="1" fill="hold">
                                          <p:stCondLst>
                                            <p:cond delay="99"/>
                                          </p:stCondLst>
                                        </p:cTn>
                                        <p:tgtEl>
                                          <p:spTgt spid="29"/>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100"/>
                                        <p:tgtEl>
                                          <p:spTgt spid="34"/>
                                        </p:tgtEl>
                                      </p:cBhvr>
                                    </p:animEffect>
                                    <p:set>
                                      <p:cBhvr>
                                        <p:cTn id="107" dur="1" fill="hold">
                                          <p:stCondLst>
                                            <p:cond delay="99"/>
                                          </p:stCondLst>
                                        </p:cTn>
                                        <p:tgtEl>
                                          <p:spTgt spid="34"/>
                                        </p:tgtEl>
                                        <p:attrNameLst>
                                          <p:attrName>style.visibility</p:attrName>
                                        </p:attrNameLst>
                                      </p:cBhvr>
                                      <p:to>
                                        <p:strVal val="hidden"/>
                                      </p:to>
                                    </p:set>
                                  </p:childTnLst>
                                </p:cTn>
                              </p:par>
                              <p:par>
                                <p:cTn id="108" presetID="10" presetClass="exit" presetSubtype="0" fill="hold" nodeType="withEffect">
                                  <p:stCondLst>
                                    <p:cond delay="0"/>
                                  </p:stCondLst>
                                  <p:childTnLst>
                                    <p:animEffect transition="out" filter="fade">
                                      <p:cBhvr>
                                        <p:cTn id="109" dur="100"/>
                                        <p:tgtEl>
                                          <p:spTgt spid="45"/>
                                        </p:tgtEl>
                                      </p:cBhvr>
                                    </p:animEffect>
                                    <p:set>
                                      <p:cBhvr>
                                        <p:cTn id="110" dur="1" fill="hold">
                                          <p:stCondLst>
                                            <p:cond delay="99"/>
                                          </p:stCondLst>
                                        </p:cTn>
                                        <p:tgtEl>
                                          <p:spTgt spid="45"/>
                                        </p:tgtEl>
                                        <p:attrNameLst>
                                          <p:attrName>style.visibility</p:attrName>
                                        </p:attrNameLst>
                                      </p:cBhvr>
                                      <p:to>
                                        <p:strVal val="hidden"/>
                                      </p:to>
                                    </p:set>
                                  </p:childTnLst>
                                </p:cTn>
                              </p:par>
                            </p:childTnLst>
                          </p:cTn>
                        </p:par>
                        <p:par>
                          <p:cTn id="111" fill="hold">
                            <p:stCondLst>
                              <p:cond delay="2400"/>
                            </p:stCondLst>
                            <p:childTnLst>
                              <p:par>
                                <p:cTn id="112" presetID="10" presetClass="entr" presetSubtype="0" fill="hold" nodeType="afterEffect">
                                  <p:stCondLst>
                                    <p:cond delay="0"/>
                                  </p:stCondLst>
                                  <p:childTnLst>
                                    <p:set>
                                      <p:cBhvr>
                                        <p:cTn id="113" dur="1" fill="hold">
                                          <p:stCondLst>
                                            <p:cond delay="0"/>
                                          </p:stCondLst>
                                        </p:cTn>
                                        <p:tgtEl>
                                          <p:spTgt spid="27"/>
                                        </p:tgtEl>
                                        <p:attrNameLst>
                                          <p:attrName>style.visibility</p:attrName>
                                        </p:attrNameLst>
                                      </p:cBhvr>
                                      <p:to>
                                        <p:strVal val="visible"/>
                                      </p:to>
                                    </p:set>
                                    <p:animEffect transition="in" filter="fade">
                                      <p:cBhvr>
                                        <p:cTn id="114" dur="500"/>
                                        <p:tgtEl>
                                          <p:spTgt spid="27"/>
                                        </p:tgtEl>
                                      </p:cBhvr>
                                    </p:animEffect>
                                  </p:childTnLst>
                                </p:cTn>
                              </p:par>
                              <p:par>
                                <p:cTn id="115" presetID="10" presetClass="entr" presetSubtype="0" fill="hold" nodeType="withEffect">
                                  <p:stCondLst>
                                    <p:cond delay="0"/>
                                  </p:stCondLst>
                                  <p:childTnLst>
                                    <p:set>
                                      <p:cBhvr>
                                        <p:cTn id="116" dur="1" fill="hold">
                                          <p:stCondLst>
                                            <p:cond delay="0"/>
                                          </p:stCondLst>
                                        </p:cTn>
                                        <p:tgtEl>
                                          <p:spTgt spid="14"/>
                                        </p:tgtEl>
                                        <p:attrNameLst>
                                          <p:attrName>style.visibility</p:attrName>
                                        </p:attrNameLst>
                                      </p:cBhvr>
                                      <p:to>
                                        <p:strVal val="visible"/>
                                      </p:to>
                                    </p:set>
                                    <p:animEffect transition="in" filter="fade">
                                      <p:cBhvr>
                                        <p:cTn id="117" dur="500"/>
                                        <p:tgtEl>
                                          <p:spTgt spid="14"/>
                                        </p:tgtEl>
                                      </p:cBhvr>
                                    </p:animEffect>
                                  </p:childTnLst>
                                </p:cTn>
                              </p:par>
                              <p:par>
                                <p:cTn id="118" presetID="10" presetClass="entr" presetSubtype="0" fill="hold" nodeType="withEffect">
                                  <p:stCondLst>
                                    <p:cond delay="0"/>
                                  </p:stCondLst>
                                  <p:childTnLst>
                                    <p:set>
                                      <p:cBhvr>
                                        <p:cTn id="119" dur="1" fill="hold">
                                          <p:stCondLst>
                                            <p:cond delay="0"/>
                                          </p:stCondLst>
                                        </p:cTn>
                                        <p:tgtEl>
                                          <p:spTgt spid="29"/>
                                        </p:tgtEl>
                                        <p:attrNameLst>
                                          <p:attrName>style.visibility</p:attrName>
                                        </p:attrNameLst>
                                      </p:cBhvr>
                                      <p:to>
                                        <p:strVal val="visible"/>
                                      </p:to>
                                    </p:set>
                                    <p:animEffect transition="in" filter="fade">
                                      <p:cBhvr>
                                        <p:cTn id="120" dur="500"/>
                                        <p:tgtEl>
                                          <p:spTgt spid="29"/>
                                        </p:tgtEl>
                                      </p:cBhvr>
                                    </p:animEffect>
                                  </p:childTnLst>
                                </p:cTn>
                              </p:par>
                              <p:par>
                                <p:cTn id="121" presetID="10" presetClass="entr" presetSubtype="0" fill="hold" nodeType="withEffect">
                                  <p:stCondLst>
                                    <p:cond delay="0"/>
                                  </p:stCondLst>
                                  <p:childTnLst>
                                    <p:set>
                                      <p:cBhvr>
                                        <p:cTn id="122" dur="1" fill="hold">
                                          <p:stCondLst>
                                            <p:cond delay="0"/>
                                          </p:stCondLst>
                                        </p:cTn>
                                        <p:tgtEl>
                                          <p:spTgt spid="34"/>
                                        </p:tgtEl>
                                        <p:attrNameLst>
                                          <p:attrName>style.visibility</p:attrName>
                                        </p:attrNameLst>
                                      </p:cBhvr>
                                      <p:to>
                                        <p:strVal val="visible"/>
                                      </p:to>
                                    </p:set>
                                    <p:animEffect transition="in" filter="fade">
                                      <p:cBhvr>
                                        <p:cTn id="123" dur="500"/>
                                        <p:tgtEl>
                                          <p:spTgt spid="34"/>
                                        </p:tgtEl>
                                      </p:cBhvr>
                                    </p:animEffect>
                                  </p:childTnLst>
                                </p:cTn>
                              </p:par>
                              <p:par>
                                <p:cTn id="124" presetID="10" presetClass="entr" presetSubtype="0" fill="hold" nodeType="withEffect">
                                  <p:stCondLst>
                                    <p:cond delay="0"/>
                                  </p:stCondLst>
                                  <p:childTnLst>
                                    <p:set>
                                      <p:cBhvr>
                                        <p:cTn id="125" dur="1" fill="hold">
                                          <p:stCondLst>
                                            <p:cond delay="0"/>
                                          </p:stCondLst>
                                        </p:cTn>
                                        <p:tgtEl>
                                          <p:spTgt spid="45"/>
                                        </p:tgtEl>
                                        <p:attrNameLst>
                                          <p:attrName>style.visibility</p:attrName>
                                        </p:attrNameLst>
                                      </p:cBhvr>
                                      <p:to>
                                        <p:strVal val="visible"/>
                                      </p:to>
                                    </p:set>
                                    <p:animEffect transition="in" filter="fade">
                                      <p:cBhvr>
                                        <p:cTn id="126" dur="500"/>
                                        <p:tgtEl>
                                          <p:spTgt spid="45"/>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grpId="0" nodeType="clickEffect">
                                  <p:stCondLst>
                                    <p:cond delay="0"/>
                                  </p:stCondLst>
                                  <p:childTnLst>
                                    <p:set>
                                      <p:cBhvr>
                                        <p:cTn id="130" dur="1" fill="hold">
                                          <p:stCondLst>
                                            <p:cond delay="0"/>
                                          </p:stCondLst>
                                        </p:cTn>
                                        <p:tgtEl>
                                          <p:spTgt spid="36"/>
                                        </p:tgtEl>
                                        <p:attrNameLst>
                                          <p:attrName>style.visibility</p:attrName>
                                        </p:attrNameLst>
                                      </p:cBhvr>
                                      <p:to>
                                        <p:strVal val="visible"/>
                                      </p:to>
                                    </p:set>
                                    <p:animEffect transition="in" filter="fade">
                                      <p:cBhvr>
                                        <p:cTn id="131" dur="500"/>
                                        <p:tgtEl>
                                          <p:spTgt spid="36"/>
                                        </p:tgtEl>
                                      </p:cBhvr>
                                    </p:animEffect>
                                  </p:childTnLst>
                                </p:cTn>
                              </p:par>
                            </p:childTnLst>
                          </p:cTn>
                        </p:par>
                        <p:par>
                          <p:cTn id="132" fill="hold">
                            <p:stCondLst>
                              <p:cond delay="500"/>
                            </p:stCondLst>
                            <p:childTnLst>
                              <p:par>
                                <p:cTn id="133" presetID="10" presetClass="entr" presetSubtype="0" fill="hold" grpId="0" nodeType="afterEffect">
                                  <p:stCondLst>
                                    <p:cond delay="0"/>
                                  </p:stCondLst>
                                  <p:childTnLst>
                                    <p:set>
                                      <p:cBhvr>
                                        <p:cTn id="134" dur="1" fill="hold">
                                          <p:stCondLst>
                                            <p:cond delay="0"/>
                                          </p:stCondLst>
                                        </p:cTn>
                                        <p:tgtEl>
                                          <p:spTgt spid="72"/>
                                        </p:tgtEl>
                                        <p:attrNameLst>
                                          <p:attrName>style.visibility</p:attrName>
                                        </p:attrNameLst>
                                      </p:cBhvr>
                                      <p:to>
                                        <p:strVal val="visible"/>
                                      </p:to>
                                    </p:set>
                                    <p:animEffect transition="in" filter="fade">
                                      <p:cBhvr>
                                        <p:cTn id="135" dur="300"/>
                                        <p:tgtEl>
                                          <p:spTgt spid="72"/>
                                        </p:tgtEl>
                                      </p:cBhvr>
                                    </p:animEffect>
                                  </p:childTnLst>
                                </p:cTn>
                              </p:par>
                            </p:childTnLst>
                          </p:cTn>
                        </p:par>
                        <p:par>
                          <p:cTn id="136" fill="hold">
                            <p:stCondLst>
                              <p:cond delay="800"/>
                            </p:stCondLst>
                            <p:childTnLst>
                              <p:par>
                                <p:cTn id="137" presetID="10" presetClass="entr" presetSubtype="0" fill="hold" nodeType="afterEffect">
                                  <p:stCondLst>
                                    <p:cond delay="0"/>
                                  </p:stCondLst>
                                  <p:childTnLst>
                                    <p:set>
                                      <p:cBhvr>
                                        <p:cTn id="138" dur="1" fill="hold">
                                          <p:stCondLst>
                                            <p:cond delay="0"/>
                                          </p:stCondLst>
                                        </p:cTn>
                                        <p:tgtEl>
                                          <p:spTgt spid="73"/>
                                        </p:tgtEl>
                                        <p:attrNameLst>
                                          <p:attrName>style.visibility</p:attrName>
                                        </p:attrNameLst>
                                      </p:cBhvr>
                                      <p:to>
                                        <p:strVal val="visible"/>
                                      </p:to>
                                    </p:set>
                                    <p:animEffect transition="in" filter="fade">
                                      <p:cBhvr>
                                        <p:cTn id="139" dur="100"/>
                                        <p:tgtEl>
                                          <p:spTgt spid="73"/>
                                        </p:tgtEl>
                                      </p:cBhvr>
                                    </p:animEffect>
                                  </p:childTnLst>
                                </p:cTn>
                              </p:par>
                            </p:childTnLst>
                          </p:cTn>
                        </p:par>
                        <p:par>
                          <p:cTn id="140" fill="hold">
                            <p:stCondLst>
                              <p:cond delay="900"/>
                            </p:stCondLst>
                            <p:childTnLst>
                              <p:par>
                                <p:cTn id="141" presetID="10" presetClass="exit" presetSubtype="0" fill="hold" nodeType="afterEffect">
                                  <p:stCondLst>
                                    <p:cond delay="0"/>
                                  </p:stCondLst>
                                  <p:childTnLst>
                                    <p:animEffect transition="out" filter="fade">
                                      <p:cBhvr>
                                        <p:cTn id="142" dur="100"/>
                                        <p:tgtEl>
                                          <p:spTgt spid="73"/>
                                        </p:tgtEl>
                                      </p:cBhvr>
                                    </p:animEffect>
                                    <p:set>
                                      <p:cBhvr>
                                        <p:cTn id="143" dur="1" fill="hold">
                                          <p:stCondLst>
                                            <p:cond delay="99"/>
                                          </p:stCondLst>
                                        </p:cTn>
                                        <p:tgtEl>
                                          <p:spTgt spid="73"/>
                                        </p:tgtEl>
                                        <p:attrNameLst>
                                          <p:attrName>style.visibility</p:attrName>
                                        </p:attrNameLst>
                                      </p:cBhvr>
                                      <p:to>
                                        <p:strVal val="hidden"/>
                                      </p:to>
                                    </p:set>
                                  </p:childTnLst>
                                </p:cTn>
                              </p:par>
                            </p:childTnLst>
                          </p:cTn>
                        </p:par>
                        <p:par>
                          <p:cTn id="144" fill="hold">
                            <p:stCondLst>
                              <p:cond delay="1000"/>
                            </p:stCondLst>
                            <p:childTnLst>
                              <p:par>
                                <p:cTn id="145" presetID="10" presetClass="entr" presetSubtype="0" fill="hold" nodeType="afterEffect">
                                  <p:stCondLst>
                                    <p:cond delay="0"/>
                                  </p:stCondLst>
                                  <p:childTnLst>
                                    <p:set>
                                      <p:cBhvr>
                                        <p:cTn id="146" dur="1" fill="hold">
                                          <p:stCondLst>
                                            <p:cond delay="0"/>
                                          </p:stCondLst>
                                        </p:cTn>
                                        <p:tgtEl>
                                          <p:spTgt spid="73"/>
                                        </p:tgtEl>
                                        <p:attrNameLst>
                                          <p:attrName>style.visibility</p:attrName>
                                        </p:attrNameLst>
                                      </p:cBhvr>
                                      <p:to>
                                        <p:strVal val="visible"/>
                                      </p:to>
                                    </p:set>
                                    <p:animEffect transition="in" filter="fade">
                                      <p:cBhvr>
                                        <p:cTn id="147" dur="100"/>
                                        <p:tgtEl>
                                          <p:spTgt spid="73"/>
                                        </p:tgtEl>
                                      </p:cBhvr>
                                    </p:animEffect>
                                  </p:childTnLst>
                                </p:cTn>
                              </p:par>
                            </p:childTnLst>
                          </p:cTn>
                        </p:par>
                        <p:par>
                          <p:cTn id="148" fill="hold">
                            <p:stCondLst>
                              <p:cond delay="1100"/>
                            </p:stCondLst>
                            <p:childTnLst>
                              <p:par>
                                <p:cTn id="149" presetID="10" presetClass="exit" presetSubtype="0" fill="hold" nodeType="afterEffect">
                                  <p:stCondLst>
                                    <p:cond delay="0"/>
                                  </p:stCondLst>
                                  <p:childTnLst>
                                    <p:animEffect transition="out" filter="fade">
                                      <p:cBhvr>
                                        <p:cTn id="150" dur="100"/>
                                        <p:tgtEl>
                                          <p:spTgt spid="73"/>
                                        </p:tgtEl>
                                      </p:cBhvr>
                                    </p:animEffect>
                                    <p:set>
                                      <p:cBhvr>
                                        <p:cTn id="151" dur="1" fill="hold">
                                          <p:stCondLst>
                                            <p:cond delay="99"/>
                                          </p:stCondLst>
                                        </p:cTn>
                                        <p:tgtEl>
                                          <p:spTgt spid="73"/>
                                        </p:tgtEl>
                                        <p:attrNameLst>
                                          <p:attrName>style.visibility</p:attrName>
                                        </p:attrNameLst>
                                      </p:cBhvr>
                                      <p:to>
                                        <p:strVal val="hidden"/>
                                      </p:to>
                                    </p:set>
                                  </p:childTnLst>
                                </p:cTn>
                              </p:par>
                            </p:childTnLst>
                          </p:cTn>
                        </p:par>
                        <p:par>
                          <p:cTn id="152" fill="hold">
                            <p:stCondLst>
                              <p:cond delay="1200"/>
                            </p:stCondLst>
                            <p:childTnLst>
                              <p:par>
                                <p:cTn id="153" presetID="10" presetClass="entr" presetSubtype="0" fill="hold" nodeType="afterEffect">
                                  <p:stCondLst>
                                    <p:cond delay="0"/>
                                  </p:stCondLst>
                                  <p:childTnLst>
                                    <p:set>
                                      <p:cBhvr>
                                        <p:cTn id="154" dur="1" fill="hold">
                                          <p:stCondLst>
                                            <p:cond delay="0"/>
                                          </p:stCondLst>
                                        </p:cTn>
                                        <p:tgtEl>
                                          <p:spTgt spid="73"/>
                                        </p:tgtEl>
                                        <p:attrNameLst>
                                          <p:attrName>style.visibility</p:attrName>
                                        </p:attrNameLst>
                                      </p:cBhvr>
                                      <p:to>
                                        <p:strVal val="visible"/>
                                      </p:to>
                                    </p:set>
                                    <p:animEffect transition="in" filter="fade">
                                      <p:cBhvr>
                                        <p:cTn id="155"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16" grpId="0"/>
      <p:bldP spid="18" grpId="0" animBg="1"/>
      <p:bldP spid="20" grpId="0"/>
      <p:bldP spid="21" grpId="0"/>
      <p:bldP spid="36" grpId="0"/>
      <p:bldP spid="7" grpId="0" animBg="1"/>
      <p:bldP spid="35" grpId="0" animBg="1"/>
      <p:bldP spid="37" grpId="0" animBg="1"/>
      <p:bldP spid="38" grpId="0" animBg="1"/>
      <p:bldP spid="39" grpId="0" animBg="1"/>
      <p:bldP spid="7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lowchart: Manual Input 4">
            <a:extLst>
              <a:ext uri="{FF2B5EF4-FFF2-40B4-BE49-F238E27FC236}">
                <a16:creationId xmlns:a16="http://schemas.microsoft.com/office/drawing/2014/main" id="{F1686DF5-F534-4C80-BEB8-68056F67CE72}"/>
              </a:ext>
            </a:extLst>
          </p:cNvPr>
          <p:cNvSpPr/>
          <p:nvPr/>
        </p:nvSpPr>
        <p:spPr>
          <a:xfrm>
            <a:off x="0" y="-12700"/>
            <a:ext cx="12204718" cy="68772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4992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4992 w 10000"/>
              <a:gd name="connsiteY4" fmla="*/ 0 h 10000"/>
              <a:gd name="connsiteX0" fmla="*/ 4992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4992 w 10000"/>
              <a:gd name="connsiteY4" fmla="*/ 0 h 10000"/>
              <a:gd name="connsiteX0" fmla="*/ 6210 w 11218"/>
              <a:gd name="connsiteY0" fmla="*/ 0 h 10208"/>
              <a:gd name="connsiteX1" fmla="*/ 11218 w 11218"/>
              <a:gd name="connsiteY1" fmla="*/ 0 h 10208"/>
              <a:gd name="connsiteX2" fmla="*/ 11218 w 11218"/>
              <a:gd name="connsiteY2" fmla="*/ 10000 h 10208"/>
              <a:gd name="connsiteX3" fmla="*/ 0 w 11218"/>
              <a:gd name="connsiteY3" fmla="*/ 10208 h 10208"/>
              <a:gd name="connsiteX4" fmla="*/ 6210 w 11218"/>
              <a:gd name="connsiteY4" fmla="*/ 0 h 10208"/>
              <a:gd name="connsiteX0" fmla="*/ 6544 w 11552"/>
              <a:gd name="connsiteY0" fmla="*/ 0 h 10000"/>
              <a:gd name="connsiteX1" fmla="*/ 11552 w 11552"/>
              <a:gd name="connsiteY1" fmla="*/ 0 h 10000"/>
              <a:gd name="connsiteX2" fmla="*/ 11552 w 11552"/>
              <a:gd name="connsiteY2" fmla="*/ 10000 h 10000"/>
              <a:gd name="connsiteX3" fmla="*/ 0 w 11552"/>
              <a:gd name="connsiteY3" fmla="*/ 10000 h 10000"/>
              <a:gd name="connsiteX4" fmla="*/ 6544 w 11552"/>
              <a:gd name="connsiteY4" fmla="*/ 0 h 10000"/>
              <a:gd name="connsiteX0" fmla="*/ 6544 w 14766"/>
              <a:gd name="connsiteY0" fmla="*/ 0 h 10000"/>
              <a:gd name="connsiteX1" fmla="*/ 14766 w 14766"/>
              <a:gd name="connsiteY1" fmla="*/ 42 h 10000"/>
              <a:gd name="connsiteX2" fmla="*/ 11552 w 14766"/>
              <a:gd name="connsiteY2" fmla="*/ 10000 h 10000"/>
              <a:gd name="connsiteX3" fmla="*/ 0 w 14766"/>
              <a:gd name="connsiteY3" fmla="*/ 10000 h 10000"/>
              <a:gd name="connsiteX4" fmla="*/ 6544 w 14766"/>
              <a:gd name="connsiteY4" fmla="*/ 0 h 10000"/>
              <a:gd name="connsiteX0" fmla="*/ 6544 w 14718"/>
              <a:gd name="connsiteY0" fmla="*/ 0 h 10000"/>
              <a:gd name="connsiteX1" fmla="*/ 14718 w 14718"/>
              <a:gd name="connsiteY1" fmla="*/ 0 h 10000"/>
              <a:gd name="connsiteX2" fmla="*/ 11552 w 14718"/>
              <a:gd name="connsiteY2" fmla="*/ 10000 h 10000"/>
              <a:gd name="connsiteX3" fmla="*/ 0 w 14718"/>
              <a:gd name="connsiteY3" fmla="*/ 10000 h 10000"/>
              <a:gd name="connsiteX4" fmla="*/ 6544 w 14718"/>
              <a:gd name="connsiteY4" fmla="*/ 0 h 10000"/>
              <a:gd name="connsiteX0" fmla="*/ 6544 w 14718"/>
              <a:gd name="connsiteY0" fmla="*/ 0 h 10028"/>
              <a:gd name="connsiteX1" fmla="*/ 14718 w 14718"/>
              <a:gd name="connsiteY1" fmla="*/ 0 h 10028"/>
              <a:gd name="connsiteX2" fmla="*/ 14718 w 14718"/>
              <a:gd name="connsiteY2" fmla="*/ 10028 h 10028"/>
              <a:gd name="connsiteX3" fmla="*/ 0 w 14718"/>
              <a:gd name="connsiteY3" fmla="*/ 10000 h 10028"/>
              <a:gd name="connsiteX4" fmla="*/ 6544 w 14718"/>
              <a:gd name="connsiteY4" fmla="*/ 0 h 10028"/>
              <a:gd name="connsiteX0" fmla="*/ 3306 w 11480"/>
              <a:gd name="connsiteY0" fmla="*/ 0 h 10028"/>
              <a:gd name="connsiteX1" fmla="*/ 11480 w 11480"/>
              <a:gd name="connsiteY1" fmla="*/ 0 h 10028"/>
              <a:gd name="connsiteX2" fmla="*/ 11480 w 11480"/>
              <a:gd name="connsiteY2" fmla="*/ 10028 h 10028"/>
              <a:gd name="connsiteX3" fmla="*/ 0 w 11480"/>
              <a:gd name="connsiteY3" fmla="*/ 10000 h 10028"/>
              <a:gd name="connsiteX4" fmla="*/ 3306 w 11480"/>
              <a:gd name="connsiteY4" fmla="*/ 0 h 10028"/>
              <a:gd name="connsiteX0" fmla="*/ 29161 w 37335"/>
              <a:gd name="connsiteY0" fmla="*/ 0 h 10028"/>
              <a:gd name="connsiteX1" fmla="*/ 37335 w 37335"/>
              <a:gd name="connsiteY1" fmla="*/ 0 h 10028"/>
              <a:gd name="connsiteX2" fmla="*/ 37335 w 37335"/>
              <a:gd name="connsiteY2" fmla="*/ 10028 h 10028"/>
              <a:gd name="connsiteX3" fmla="*/ 0 w 37335"/>
              <a:gd name="connsiteY3" fmla="*/ 10028 h 10028"/>
              <a:gd name="connsiteX4" fmla="*/ 29161 w 37335"/>
              <a:gd name="connsiteY4" fmla="*/ 0 h 10028"/>
              <a:gd name="connsiteX0" fmla="*/ 92 w 37335"/>
              <a:gd name="connsiteY0" fmla="*/ 0 h 10028"/>
              <a:gd name="connsiteX1" fmla="*/ 37335 w 37335"/>
              <a:gd name="connsiteY1" fmla="*/ 0 h 10028"/>
              <a:gd name="connsiteX2" fmla="*/ 37335 w 37335"/>
              <a:gd name="connsiteY2" fmla="*/ 10028 h 10028"/>
              <a:gd name="connsiteX3" fmla="*/ 0 w 37335"/>
              <a:gd name="connsiteY3" fmla="*/ 10028 h 10028"/>
              <a:gd name="connsiteX4" fmla="*/ 92 w 37335"/>
              <a:gd name="connsiteY4" fmla="*/ 0 h 10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35" h="10028">
                <a:moveTo>
                  <a:pt x="92" y="0"/>
                </a:moveTo>
                <a:lnTo>
                  <a:pt x="37335" y="0"/>
                </a:lnTo>
                <a:lnTo>
                  <a:pt x="37335" y="10028"/>
                </a:lnTo>
                <a:lnTo>
                  <a:pt x="0" y="10028"/>
                </a:lnTo>
                <a:cubicBezTo>
                  <a:pt x="31" y="6685"/>
                  <a:pt x="61" y="3343"/>
                  <a:pt x="92"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JetBrains Mono Medium" panose="02000009000000000000" pitchFamily="49" charset="0"/>
              <a:cs typeface="JetBrains Mono Medium" panose="02000009000000000000" pitchFamily="49" charset="0"/>
            </a:endParaRPr>
          </a:p>
        </p:txBody>
      </p:sp>
      <p:sp>
        <p:nvSpPr>
          <p:cNvPr id="14" name="Rectangle 13">
            <a:extLst>
              <a:ext uri="{FF2B5EF4-FFF2-40B4-BE49-F238E27FC236}">
                <a16:creationId xmlns:a16="http://schemas.microsoft.com/office/drawing/2014/main" id="{9ADCB1D2-71BF-4442-85AC-20706F44BBA0}"/>
              </a:ext>
            </a:extLst>
          </p:cNvPr>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16" name="Credit MAIN">
            <a:extLst>
              <a:ext uri="{FF2B5EF4-FFF2-40B4-BE49-F238E27FC236}">
                <a16:creationId xmlns:a16="http://schemas.microsoft.com/office/drawing/2014/main" id="{2518DECB-C7B9-41A5-9FB6-89C9AA3086AA}"/>
              </a:ext>
            </a:extLst>
          </p:cNvPr>
          <p:cNvSpPr txBox="1"/>
          <p:nvPr/>
        </p:nvSpPr>
        <p:spPr>
          <a:xfrm>
            <a:off x="50878" y="6420549"/>
            <a:ext cx="2235122"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Vũ</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Thùy</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Dương</a:t>
            </a:r>
            <a:endParaRPr lang="en-US" dirty="0">
              <a:solidFill>
                <a:schemeClr val="bg1">
                  <a:lumMod val="95000"/>
                  <a:alpha val="46000"/>
                </a:schemeClr>
              </a:solidFill>
            </a:endParaRPr>
          </a:p>
        </p:txBody>
      </p:sp>
      <p:sp>
        <p:nvSpPr>
          <p:cNvPr id="11" name="Header">
            <a:extLst>
              <a:ext uri="{FF2B5EF4-FFF2-40B4-BE49-F238E27FC236}">
                <a16:creationId xmlns:a16="http://schemas.microsoft.com/office/drawing/2014/main" id="{6A39F230-06D2-4140-8DA2-357C0B9B6D12}"/>
              </a:ext>
            </a:extLst>
          </p:cNvPr>
          <p:cNvSpPr txBox="1"/>
          <p:nvPr/>
        </p:nvSpPr>
        <p:spPr>
          <a:xfrm>
            <a:off x="50878" y="68119"/>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7" name="Footer: Part">
            <a:extLst>
              <a:ext uri="{FF2B5EF4-FFF2-40B4-BE49-F238E27FC236}">
                <a16:creationId xmlns:a16="http://schemas.microsoft.com/office/drawing/2014/main" id="{553347E6-1341-4BA1-A396-FC4741F3FAF1}"/>
              </a:ext>
            </a:extLst>
          </p:cNvPr>
          <p:cNvSpPr txBox="1"/>
          <p:nvPr/>
        </p:nvSpPr>
        <p:spPr>
          <a:xfrm>
            <a:off x="10914743" y="6413178"/>
            <a:ext cx="1205160" cy="369332"/>
          </a:xfrm>
          <a:prstGeom prst="rect">
            <a:avLst/>
          </a:prstGeom>
          <a:noFill/>
        </p:spPr>
        <p:txBody>
          <a:bodyPr wrap="square" rtlCol="0">
            <a:spAutoFit/>
          </a:bodyPr>
          <a:lstStyle/>
          <a:p>
            <a:pPr algn="r"/>
            <a:r>
              <a:rPr lang="en-US" dirty="0" err="1">
                <a:solidFill>
                  <a:schemeClr val="bg1"/>
                </a:solidFill>
                <a:latin typeface="JetBrains Mono Light" panose="02000009000000000000" pitchFamily="49" charset="0"/>
                <a:cs typeface="JetBrains Mono Light" panose="02000009000000000000" pitchFamily="49" charset="0"/>
              </a:rPr>
              <a:t>Ví</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dụ</a:t>
            </a:r>
            <a:r>
              <a:rPr lang="en-US" dirty="0">
                <a:solidFill>
                  <a:schemeClr val="bg1"/>
                </a:solidFill>
                <a:latin typeface="JetBrains Mono Light" panose="02000009000000000000" pitchFamily="49" charset="0"/>
                <a:cs typeface="JetBrains Mono Light" panose="02000009000000000000" pitchFamily="49" charset="0"/>
              </a:rPr>
              <a:t> </a:t>
            </a:r>
          </a:p>
        </p:txBody>
      </p:sp>
      <p:sp>
        <p:nvSpPr>
          <p:cNvPr id="19" name="Footer: Title">
            <a:extLst>
              <a:ext uri="{FF2B5EF4-FFF2-40B4-BE49-F238E27FC236}">
                <a16:creationId xmlns:a16="http://schemas.microsoft.com/office/drawing/2014/main" id="{FD144244-98B6-4C54-A114-16CD65E0D522}"/>
              </a:ext>
            </a:extLst>
          </p:cNvPr>
          <p:cNvSpPr txBox="1"/>
          <p:nvPr/>
        </p:nvSpPr>
        <p:spPr>
          <a:xfrm>
            <a:off x="10173144" y="6414047"/>
            <a:ext cx="1178275"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Light" panose="02000009000000000000" pitchFamily="49" charset="0"/>
                <a:cs typeface="JetBrains Mono Light" panose="02000009000000000000" pitchFamily="49" charset="0"/>
              </a:rPr>
              <a:t>:</a:t>
            </a:r>
          </a:p>
        </p:txBody>
      </p:sp>
      <p:sp>
        <p:nvSpPr>
          <p:cNvPr id="18" name="TextBox 17">
            <a:extLst>
              <a:ext uri="{FF2B5EF4-FFF2-40B4-BE49-F238E27FC236}">
                <a16:creationId xmlns:a16="http://schemas.microsoft.com/office/drawing/2014/main" id="{BAE1B031-9EEB-474A-BC2C-86CF328CC380}"/>
              </a:ext>
            </a:extLst>
          </p:cNvPr>
          <p:cNvSpPr txBox="1"/>
          <p:nvPr/>
        </p:nvSpPr>
        <p:spPr>
          <a:xfrm>
            <a:off x="736793" y="1946624"/>
            <a:ext cx="995946" cy="400110"/>
          </a:xfrm>
          <a:prstGeom prst="rect">
            <a:avLst/>
          </a:prstGeom>
          <a:solidFill>
            <a:schemeClr val="bg1"/>
          </a:solidFill>
        </p:spPr>
        <p:txBody>
          <a:bodyPr wrap="square" rtlCol="0">
            <a:spAutoFit/>
          </a:bodyPr>
          <a:lstStyle/>
          <a:p>
            <a:r>
              <a:rPr lang="en-US" sz="2000" dirty="0" err="1">
                <a:latin typeface="JetBrains Mono Light" panose="02000009000000000000" pitchFamily="49" charset="0"/>
                <a:cs typeface="JetBrains Mono Light" panose="02000009000000000000" pitchFamily="49" charset="0"/>
              </a:rPr>
              <a:t>Ví</a:t>
            </a:r>
            <a:r>
              <a:rPr lang="en-US" sz="2000" dirty="0">
                <a:latin typeface="JetBrains Mono Light" panose="02000009000000000000" pitchFamily="49" charset="0"/>
                <a:cs typeface="JetBrains Mono Light" panose="02000009000000000000" pitchFamily="49" charset="0"/>
              </a:rPr>
              <a:t> </a:t>
            </a:r>
            <a:r>
              <a:rPr lang="en-US" sz="2000" dirty="0" err="1">
                <a:latin typeface="JetBrains Mono Light" panose="02000009000000000000" pitchFamily="49" charset="0"/>
                <a:cs typeface="JetBrains Mono Light" panose="02000009000000000000" pitchFamily="49" charset="0"/>
              </a:rPr>
              <a:t>dụ</a:t>
            </a:r>
            <a:endParaRPr lang="en-US" sz="2000" dirty="0">
              <a:latin typeface="JetBrains Mono Light" panose="02000009000000000000" pitchFamily="49" charset="0"/>
              <a:cs typeface="JetBrains Mono Light" panose="02000009000000000000" pitchFamily="49" charset="0"/>
            </a:endParaRPr>
          </a:p>
        </p:txBody>
      </p:sp>
      <p:sp>
        <p:nvSpPr>
          <p:cNvPr id="2" name="TextBox 1">
            <a:extLst>
              <a:ext uri="{FF2B5EF4-FFF2-40B4-BE49-F238E27FC236}">
                <a16:creationId xmlns:a16="http://schemas.microsoft.com/office/drawing/2014/main" id="{A77F674C-5EEA-4AF7-95E8-35563625CDF9}"/>
              </a:ext>
            </a:extLst>
          </p:cNvPr>
          <p:cNvSpPr txBox="1"/>
          <p:nvPr/>
        </p:nvSpPr>
        <p:spPr>
          <a:xfrm>
            <a:off x="728514" y="2565468"/>
            <a:ext cx="4928700" cy="1631216"/>
          </a:xfrm>
          <a:prstGeom prst="rect">
            <a:avLst/>
          </a:prstGeom>
          <a:noFill/>
        </p:spPr>
        <p:txBody>
          <a:bodyPr wrap="square" rtlCol="0">
            <a:spAutoFit/>
          </a:bodyPr>
          <a:lstStyle/>
          <a:p>
            <a:r>
              <a:rPr lang="en-US" sz="2000" dirty="0">
                <a:solidFill>
                  <a:schemeClr val="bg1"/>
                </a:solidFill>
                <a:latin typeface="JetBrains Mono Light" panose="02000009000000000000" pitchFamily="49" charset="0"/>
                <a:ea typeface="Calibri" panose="020F0502020204030204" pitchFamily="34" charset="0"/>
                <a:cs typeface="JetBrains Mono Light" panose="02000009000000000000" pitchFamily="49" charset="0"/>
              </a:rPr>
              <a:t>C</a:t>
            </a:r>
            <a:r>
              <a:rPr lang="vi-VN" sz="20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ấu trúc liên kết của một website có thể được biểu diễn bằng một đồ thị có hướng như sau: </a:t>
            </a:r>
            <a:endParaRPr lang="en-US" sz="20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endParaRPr>
          </a:p>
          <a:p>
            <a:r>
              <a:rPr lang="vi-VN" sz="20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endParaRPr lang="en-US" sz="2000" dirty="0">
              <a:solidFill>
                <a:schemeClr val="bg1"/>
              </a:solidFill>
              <a:latin typeface="JetBrains Mono Light" panose="02000009000000000000" pitchFamily="49" charset="0"/>
              <a:cs typeface="JetBrains Mono Light" panose="02000009000000000000" pitchFamily="49" charset="0"/>
            </a:endParaRPr>
          </a:p>
        </p:txBody>
      </p:sp>
      <p:sp>
        <p:nvSpPr>
          <p:cNvPr id="7" name="TextBox 6">
            <a:extLst>
              <a:ext uri="{FF2B5EF4-FFF2-40B4-BE49-F238E27FC236}">
                <a16:creationId xmlns:a16="http://schemas.microsoft.com/office/drawing/2014/main" id="{D6B597DB-BD31-4117-86E8-DE464D24722B}"/>
              </a:ext>
            </a:extLst>
          </p:cNvPr>
          <p:cNvSpPr txBox="1"/>
          <p:nvPr/>
        </p:nvSpPr>
        <p:spPr>
          <a:xfrm>
            <a:off x="736794" y="5473575"/>
            <a:ext cx="10103239" cy="707886"/>
          </a:xfrm>
          <a:prstGeom prst="rect">
            <a:avLst/>
          </a:prstGeom>
          <a:noFill/>
          <a:ln>
            <a:solidFill>
              <a:schemeClr val="bg1">
                <a:lumMod val="85000"/>
              </a:schemeClr>
            </a:solidFill>
          </a:ln>
        </p:spPr>
        <p:txBody>
          <a:bodyPr wrap="square" rtlCol="0">
            <a:spAutoFit/>
          </a:bodyPr>
          <a:lstStyle/>
          <a:p>
            <a:r>
              <a:rPr lang="vi-VN" sz="20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Do vậy, sự phát triển của các thuật toán xử lý đồ thị là một trong các mối quan tâm chính của khoa học máy tính.</a:t>
            </a:r>
            <a:endParaRPr lang="vi-VN" sz="2000" dirty="0">
              <a:solidFill>
                <a:schemeClr val="bg1"/>
              </a:solidFill>
              <a:effectLst/>
              <a:latin typeface="JetBrains Mono Light" panose="02000009000000000000" pitchFamily="49" charset="0"/>
              <a:cs typeface="JetBrains Mono Light" panose="02000009000000000000" pitchFamily="49" charset="0"/>
            </a:endParaRPr>
          </a:p>
        </p:txBody>
      </p:sp>
      <p:cxnSp>
        <p:nvCxnSpPr>
          <p:cNvPr id="24" name="Straight Arrow Connector 23">
            <a:extLst>
              <a:ext uri="{FF2B5EF4-FFF2-40B4-BE49-F238E27FC236}">
                <a16:creationId xmlns:a16="http://schemas.microsoft.com/office/drawing/2014/main" id="{B58D2950-6F0A-48AD-BD03-8FB07A45839E}"/>
              </a:ext>
            </a:extLst>
          </p:cNvPr>
          <p:cNvCxnSpPr>
            <a:cxnSpLocks/>
            <a:endCxn id="35" idx="1"/>
          </p:cNvCxnSpPr>
          <p:nvPr/>
        </p:nvCxnSpPr>
        <p:spPr>
          <a:xfrm flipV="1">
            <a:off x="6951785" y="1446030"/>
            <a:ext cx="1581418" cy="1748824"/>
          </a:xfrm>
          <a:prstGeom prst="straightConnector1">
            <a:avLst/>
          </a:prstGeom>
          <a:ln w="57150">
            <a:solidFill>
              <a:schemeClr val="bg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7AD40843-CA1D-411A-B08D-7C817F12BA1B}"/>
              </a:ext>
            </a:extLst>
          </p:cNvPr>
          <p:cNvCxnSpPr>
            <a:cxnSpLocks/>
            <a:endCxn id="34" idx="1"/>
          </p:cNvCxnSpPr>
          <p:nvPr/>
        </p:nvCxnSpPr>
        <p:spPr>
          <a:xfrm>
            <a:off x="6951785" y="3194854"/>
            <a:ext cx="1198714" cy="864453"/>
          </a:xfrm>
          <a:prstGeom prst="straightConnector1">
            <a:avLst/>
          </a:prstGeom>
          <a:ln w="57150">
            <a:solidFill>
              <a:schemeClr val="bg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B3288541-6127-43E8-B5F5-819653EBEA3A}"/>
              </a:ext>
            </a:extLst>
          </p:cNvPr>
          <p:cNvCxnSpPr>
            <a:cxnSpLocks/>
            <a:endCxn id="36" idx="1"/>
          </p:cNvCxnSpPr>
          <p:nvPr/>
        </p:nvCxnSpPr>
        <p:spPr>
          <a:xfrm flipV="1">
            <a:off x="9006284" y="2501107"/>
            <a:ext cx="1769440" cy="1583890"/>
          </a:xfrm>
          <a:prstGeom prst="straightConnector1">
            <a:avLst/>
          </a:prstGeom>
          <a:ln w="57150">
            <a:solidFill>
              <a:schemeClr val="bg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E5565A3E-ACED-4A14-BC65-9295F2233796}"/>
              </a:ext>
            </a:extLst>
          </p:cNvPr>
          <p:cNvCxnSpPr>
            <a:cxnSpLocks/>
            <a:endCxn id="34" idx="0"/>
          </p:cNvCxnSpPr>
          <p:nvPr/>
        </p:nvCxnSpPr>
        <p:spPr>
          <a:xfrm flipH="1">
            <a:off x="8578392" y="1896634"/>
            <a:ext cx="324732" cy="1731786"/>
          </a:xfrm>
          <a:prstGeom prst="straightConnector1">
            <a:avLst/>
          </a:prstGeom>
          <a:ln w="57150">
            <a:solidFill>
              <a:schemeClr val="bg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F086696-63BE-4B39-9F29-3ACE93C25BD0}"/>
              </a:ext>
            </a:extLst>
          </p:cNvPr>
          <p:cNvSpPr txBox="1"/>
          <p:nvPr/>
        </p:nvSpPr>
        <p:spPr>
          <a:xfrm>
            <a:off x="6096000" y="2766646"/>
            <a:ext cx="855785" cy="861774"/>
          </a:xfrm>
          <a:prstGeom prst="rect">
            <a:avLst/>
          </a:prstGeom>
          <a:solidFill>
            <a:schemeClr val="tx1"/>
          </a:solidFill>
          <a:ln>
            <a:solidFill>
              <a:schemeClr val="bg1"/>
            </a:solidFill>
          </a:ln>
        </p:spPr>
        <p:txBody>
          <a:bodyPr wrap="square" rtlCol="0">
            <a:spAutoFit/>
          </a:bodyPr>
          <a:lstStyle/>
          <a:p>
            <a:pPr algn="ctr"/>
            <a:r>
              <a:rPr lang="en-US" sz="5000" dirty="0">
                <a:solidFill>
                  <a:schemeClr val="bg1"/>
                </a:solidFill>
                <a:latin typeface="JetBrains Mono Light" panose="02000009000000000000" pitchFamily="49" charset="0"/>
                <a:cs typeface="JetBrains Mono Light" panose="02000009000000000000" pitchFamily="49" charset="0"/>
              </a:rPr>
              <a:t>A</a:t>
            </a:r>
          </a:p>
        </p:txBody>
      </p:sp>
      <p:sp>
        <p:nvSpPr>
          <p:cNvPr id="34" name="TextBox 33">
            <a:extLst>
              <a:ext uri="{FF2B5EF4-FFF2-40B4-BE49-F238E27FC236}">
                <a16:creationId xmlns:a16="http://schemas.microsoft.com/office/drawing/2014/main" id="{4293F75D-A113-40E2-9722-03E0A7456109}"/>
              </a:ext>
            </a:extLst>
          </p:cNvPr>
          <p:cNvSpPr txBox="1"/>
          <p:nvPr/>
        </p:nvSpPr>
        <p:spPr>
          <a:xfrm>
            <a:off x="8150499" y="3628420"/>
            <a:ext cx="855785" cy="861774"/>
          </a:xfrm>
          <a:prstGeom prst="rect">
            <a:avLst/>
          </a:prstGeom>
          <a:solidFill>
            <a:schemeClr val="tx1"/>
          </a:solidFill>
          <a:ln>
            <a:solidFill>
              <a:schemeClr val="bg1"/>
            </a:solidFill>
          </a:ln>
        </p:spPr>
        <p:txBody>
          <a:bodyPr wrap="square" rtlCol="0">
            <a:spAutoFit/>
          </a:bodyPr>
          <a:lstStyle/>
          <a:p>
            <a:pPr algn="ctr"/>
            <a:r>
              <a:rPr lang="en-US" sz="5000" dirty="0">
                <a:solidFill>
                  <a:schemeClr val="bg1"/>
                </a:solidFill>
                <a:latin typeface="JetBrains Mono Light" panose="02000009000000000000" pitchFamily="49" charset="0"/>
                <a:cs typeface="JetBrains Mono Light" panose="02000009000000000000" pitchFamily="49" charset="0"/>
              </a:rPr>
              <a:t>C</a:t>
            </a:r>
          </a:p>
        </p:txBody>
      </p:sp>
      <p:sp>
        <p:nvSpPr>
          <p:cNvPr id="35" name="TextBox 34">
            <a:extLst>
              <a:ext uri="{FF2B5EF4-FFF2-40B4-BE49-F238E27FC236}">
                <a16:creationId xmlns:a16="http://schemas.microsoft.com/office/drawing/2014/main" id="{7E2FF8D5-E930-4E33-B208-1906FF8A59B9}"/>
              </a:ext>
            </a:extLst>
          </p:cNvPr>
          <p:cNvSpPr txBox="1"/>
          <p:nvPr/>
        </p:nvSpPr>
        <p:spPr>
          <a:xfrm>
            <a:off x="8533203" y="1015143"/>
            <a:ext cx="855785" cy="861774"/>
          </a:xfrm>
          <a:prstGeom prst="rect">
            <a:avLst/>
          </a:prstGeom>
          <a:solidFill>
            <a:schemeClr val="tx1"/>
          </a:solidFill>
          <a:ln>
            <a:solidFill>
              <a:schemeClr val="bg1"/>
            </a:solidFill>
          </a:ln>
        </p:spPr>
        <p:txBody>
          <a:bodyPr wrap="square" rtlCol="0">
            <a:spAutoFit/>
          </a:bodyPr>
          <a:lstStyle/>
          <a:p>
            <a:pPr algn="ctr"/>
            <a:r>
              <a:rPr lang="en-US" sz="5000" dirty="0">
                <a:solidFill>
                  <a:schemeClr val="bg1"/>
                </a:solidFill>
                <a:latin typeface="JetBrains Mono Light" panose="02000009000000000000" pitchFamily="49" charset="0"/>
                <a:cs typeface="JetBrains Mono Light" panose="02000009000000000000" pitchFamily="49" charset="0"/>
              </a:rPr>
              <a:t>B</a:t>
            </a:r>
          </a:p>
        </p:txBody>
      </p:sp>
      <p:sp>
        <p:nvSpPr>
          <p:cNvPr id="36" name="TextBox 35">
            <a:extLst>
              <a:ext uri="{FF2B5EF4-FFF2-40B4-BE49-F238E27FC236}">
                <a16:creationId xmlns:a16="http://schemas.microsoft.com/office/drawing/2014/main" id="{AEB25273-AD20-4548-B8AA-CAD4DAFF4581}"/>
              </a:ext>
            </a:extLst>
          </p:cNvPr>
          <p:cNvSpPr txBox="1"/>
          <p:nvPr/>
        </p:nvSpPr>
        <p:spPr>
          <a:xfrm>
            <a:off x="10775724" y="2070220"/>
            <a:ext cx="855785" cy="861774"/>
          </a:xfrm>
          <a:prstGeom prst="rect">
            <a:avLst/>
          </a:prstGeom>
          <a:solidFill>
            <a:schemeClr val="tx1"/>
          </a:solidFill>
          <a:ln>
            <a:solidFill>
              <a:schemeClr val="bg1"/>
            </a:solidFill>
          </a:ln>
        </p:spPr>
        <p:txBody>
          <a:bodyPr wrap="square" rtlCol="0">
            <a:spAutoFit/>
          </a:bodyPr>
          <a:lstStyle/>
          <a:p>
            <a:pPr algn="ctr"/>
            <a:r>
              <a:rPr lang="en-US" sz="5000" dirty="0">
                <a:solidFill>
                  <a:schemeClr val="bg1"/>
                </a:solidFill>
                <a:latin typeface="JetBrains Mono Light" panose="02000009000000000000" pitchFamily="49" charset="0"/>
                <a:cs typeface="JetBrains Mono Light" panose="02000009000000000000" pitchFamily="49" charset="0"/>
              </a:rPr>
              <a:t>D</a:t>
            </a:r>
          </a:p>
        </p:txBody>
      </p:sp>
      <p:sp>
        <p:nvSpPr>
          <p:cNvPr id="31" name="TextBox 30">
            <a:extLst>
              <a:ext uri="{FF2B5EF4-FFF2-40B4-BE49-F238E27FC236}">
                <a16:creationId xmlns:a16="http://schemas.microsoft.com/office/drawing/2014/main" id="{65CCAB43-C42C-412E-9DB9-C758A50C3C1F}"/>
              </a:ext>
            </a:extLst>
          </p:cNvPr>
          <p:cNvSpPr txBox="1"/>
          <p:nvPr/>
        </p:nvSpPr>
        <p:spPr>
          <a:xfrm>
            <a:off x="6602831" y="2408293"/>
            <a:ext cx="468851" cy="369332"/>
          </a:xfrm>
          <a:prstGeom prst="rect">
            <a:avLst/>
          </a:prstGeom>
          <a:noFill/>
        </p:spPr>
        <p:txBody>
          <a:bodyPr wrap="square" rtlCol="0">
            <a:spAutoFit/>
          </a:bodyPr>
          <a:lstStyle/>
          <a:p>
            <a:pPr algn="r"/>
            <a:r>
              <a:rPr lang="en-US" dirty="0">
                <a:solidFill>
                  <a:schemeClr val="bg1">
                    <a:lumMod val="50000"/>
                  </a:schemeClr>
                </a:solidFill>
                <a:latin typeface="JetBrains Mono Light" panose="02000009000000000000" pitchFamily="49" charset="0"/>
                <a:cs typeface="JetBrains Mono Light" panose="02000009000000000000" pitchFamily="49" charset="0"/>
              </a:rPr>
              <a:t>0</a:t>
            </a:r>
            <a:r>
              <a:rPr lang="en-US" dirty="0">
                <a:solidFill>
                  <a:schemeClr val="bg1"/>
                </a:solidFill>
                <a:latin typeface="JetBrains Mono Light" panose="02000009000000000000" pitchFamily="49" charset="0"/>
                <a:cs typeface="JetBrains Mono Light" panose="02000009000000000000" pitchFamily="49" charset="0"/>
              </a:rPr>
              <a:t>2</a:t>
            </a:r>
          </a:p>
        </p:txBody>
      </p:sp>
      <p:sp>
        <p:nvSpPr>
          <p:cNvPr id="47" name="TextBox 46">
            <a:extLst>
              <a:ext uri="{FF2B5EF4-FFF2-40B4-BE49-F238E27FC236}">
                <a16:creationId xmlns:a16="http://schemas.microsoft.com/office/drawing/2014/main" id="{81373412-57BE-473B-B347-591BF3552747}"/>
              </a:ext>
            </a:extLst>
          </p:cNvPr>
          <p:cNvSpPr txBox="1"/>
          <p:nvPr/>
        </p:nvSpPr>
        <p:spPr>
          <a:xfrm>
            <a:off x="9006284" y="645811"/>
            <a:ext cx="468851" cy="369332"/>
          </a:xfrm>
          <a:prstGeom prst="rect">
            <a:avLst/>
          </a:prstGeom>
          <a:noFill/>
        </p:spPr>
        <p:txBody>
          <a:bodyPr wrap="square" rtlCol="0">
            <a:spAutoFit/>
          </a:bodyPr>
          <a:lstStyle/>
          <a:p>
            <a:pPr algn="r"/>
            <a:r>
              <a:rPr lang="en-US" dirty="0">
                <a:solidFill>
                  <a:schemeClr val="bg1">
                    <a:lumMod val="50000"/>
                  </a:schemeClr>
                </a:solidFill>
                <a:latin typeface="JetBrains Mono Light" panose="02000009000000000000" pitchFamily="49" charset="0"/>
                <a:cs typeface="JetBrains Mono Light" panose="02000009000000000000" pitchFamily="49" charset="0"/>
              </a:rPr>
              <a:t>0</a:t>
            </a:r>
            <a:r>
              <a:rPr lang="en-US" dirty="0">
                <a:solidFill>
                  <a:schemeClr val="bg1"/>
                </a:solidFill>
                <a:latin typeface="JetBrains Mono Light" panose="02000009000000000000" pitchFamily="49" charset="0"/>
                <a:cs typeface="JetBrains Mono Light" panose="02000009000000000000" pitchFamily="49" charset="0"/>
              </a:rPr>
              <a:t>2</a:t>
            </a:r>
          </a:p>
        </p:txBody>
      </p:sp>
      <p:sp>
        <p:nvSpPr>
          <p:cNvPr id="48" name="TextBox 47">
            <a:extLst>
              <a:ext uri="{FF2B5EF4-FFF2-40B4-BE49-F238E27FC236}">
                <a16:creationId xmlns:a16="http://schemas.microsoft.com/office/drawing/2014/main" id="{4E73E390-514E-473B-A94A-BA77BFE42DB8}"/>
              </a:ext>
            </a:extLst>
          </p:cNvPr>
          <p:cNvSpPr txBox="1"/>
          <p:nvPr/>
        </p:nvSpPr>
        <p:spPr>
          <a:xfrm>
            <a:off x="8601801" y="4504804"/>
            <a:ext cx="468851" cy="369332"/>
          </a:xfrm>
          <a:prstGeom prst="rect">
            <a:avLst/>
          </a:prstGeom>
          <a:noFill/>
        </p:spPr>
        <p:txBody>
          <a:bodyPr wrap="square" rtlCol="0">
            <a:spAutoFit/>
          </a:bodyPr>
          <a:lstStyle/>
          <a:p>
            <a:pPr algn="r"/>
            <a:r>
              <a:rPr lang="en-US" dirty="0">
                <a:solidFill>
                  <a:schemeClr val="bg1">
                    <a:lumMod val="50000"/>
                  </a:schemeClr>
                </a:solidFill>
                <a:latin typeface="JetBrains Mono Light" panose="02000009000000000000" pitchFamily="49" charset="0"/>
                <a:cs typeface="JetBrains Mono Light" panose="02000009000000000000" pitchFamily="49" charset="0"/>
              </a:rPr>
              <a:t>0</a:t>
            </a:r>
            <a:r>
              <a:rPr lang="en-US" dirty="0">
                <a:solidFill>
                  <a:schemeClr val="bg1"/>
                </a:solidFill>
                <a:latin typeface="JetBrains Mono Light" panose="02000009000000000000" pitchFamily="49" charset="0"/>
                <a:cs typeface="JetBrains Mono Light" panose="02000009000000000000" pitchFamily="49" charset="0"/>
              </a:rPr>
              <a:t>3</a:t>
            </a:r>
          </a:p>
        </p:txBody>
      </p:sp>
      <p:sp>
        <p:nvSpPr>
          <p:cNvPr id="49" name="TextBox 48">
            <a:extLst>
              <a:ext uri="{FF2B5EF4-FFF2-40B4-BE49-F238E27FC236}">
                <a16:creationId xmlns:a16="http://schemas.microsoft.com/office/drawing/2014/main" id="{03AA9E5D-6B0C-4A61-BFE0-4819E76B9187}"/>
              </a:ext>
            </a:extLst>
          </p:cNvPr>
          <p:cNvSpPr txBox="1"/>
          <p:nvPr/>
        </p:nvSpPr>
        <p:spPr>
          <a:xfrm>
            <a:off x="11282897" y="1711968"/>
            <a:ext cx="468851" cy="369332"/>
          </a:xfrm>
          <a:prstGeom prst="rect">
            <a:avLst/>
          </a:prstGeom>
          <a:noFill/>
        </p:spPr>
        <p:txBody>
          <a:bodyPr wrap="square" rtlCol="0">
            <a:spAutoFit/>
          </a:bodyPr>
          <a:lstStyle/>
          <a:p>
            <a:pPr algn="r"/>
            <a:r>
              <a:rPr lang="en-US" dirty="0">
                <a:solidFill>
                  <a:schemeClr val="bg1">
                    <a:lumMod val="50000"/>
                  </a:schemeClr>
                </a:solidFill>
                <a:latin typeface="JetBrains Mono Light" panose="02000009000000000000" pitchFamily="49" charset="0"/>
                <a:cs typeface="JetBrains Mono Light" panose="02000009000000000000" pitchFamily="49" charset="0"/>
              </a:rPr>
              <a:t>0</a:t>
            </a:r>
            <a:r>
              <a:rPr lang="en-US" dirty="0">
                <a:solidFill>
                  <a:schemeClr val="bg1"/>
                </a:solidFill>
                <a:latin typeface="JetBrains Mono Light" panose="02000009000000000000" pitchFamily="49" charset="0"/>
                <a:cs typeface="JetBrains Mono Light" panose="02000009000000000000" pitchFamily="49" charset="0"/>
              </a:rPr>
              <a:t>1</a:t>
            </a:r>
          </a:p>
        </p:txBody>
      </p:sp>
      <p:sp>
        <p:nvSpPr>
          <p:cNvPr id="32" name="TextBox 31">
            <a:extLst>
              <a:ext uri="{FF2B5EF4-FFF2-40B4-BE49-F238E27FC236}">
                <a16:creationId xmlns:a16="http://schemas.microsoft.com/office/drawing/2014/main" id="{AF38056E-0276-4538-9071-EDB2DA6AC6EA}"/>
              </a:ext>
            </a:extLst>
          </p:cNvPr>
          <p:cNvSpPr txBox="1"/>
          <p:nvPr/>
        </p:nvSpPr>
        <p:spPr>
          <a:xfrm>
            <a:off x="736793" y="4023152"/>
            <a:ext cx="5359207" cy="1200329"/>
          </a:xfrm>
          <a:prstGeom prst="rect">
            <a:avLst/>
          </a:prstGeom>
          <a:noFill/>
        </p:spPr>
        <p:txBody>
          <a:bodyPr wrap="square" rtlCol="0">
            <a:spAutoFit/>
          </a:bodyPr>
          <a:lstStyle/>
          <a:p>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C</a:t>
            </a:r>
            <a:r>
              <a:rPr lang="vi-VN"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ác đỉnh là các trang web hiện có tại website, tồn tại một cạnh có hướng nối từ trang A tới trang B khi và chỉ khi A có chứa 1 liên kết tới B.</a:t>
            </a:r>
            <a:endParaRPr lang="en-US" dirty="0"/>
          </a:p>
        </p:txBody>
      </p:sp>
      <p:sp>
        <p:nvSpPr>
          <p:cNvPr id="60" name="TextBox 59">
            <a:extLst>
              <a:ext uri="{FF2B5EF4-FFF2-40B4-BE49-F238E27FC236}">
                <a16:creationId xmlns:a16="http://schemas.microsoft.com/office/drawing/2014/main" id="{130A9AF5-76D1-45E7-A9C4-A8850D59594E}"/>
              </a:ext>
            </a:extLst>
          </p:cNvPr>
          <p:cNvSpPr txBox="1"/>
          <p:nvPr/>
        </p:nvSpPr>
        <p:spPr>
          <a:xfrm>
            <a:off x="661159" y="603563"/>
            <a:ext cx="5800755" cy="1072922"/>
          </a:xfrm>
          <a:prstGeom prst="rect">
            <a:avLst/>
          </a:prstGeom>
          <a:noFill/>
        </p:spPr>
        <p:txBody>
          <a:bodyPr wrap="square">
            <a:spAutoFit/>
          </a:bodyPr>
          <a:lstStyle/>
          <a:p>
            <a:pPr>
              <a:lnSpc>
                <a:spcPct val="107000"/>
              </a:lnSpc>
              <a:spcAft>
                <a:spcPts val="800"/>
              </a:spcAft>
            </a:pPr>
            <a:r>
              <a:rPr lang="vi-VN" sz="1800" dirty="0">
                <a:solidFill>
                  <a:schemeClr val="bg1"/>
                </a:solidFill>
                <a:effectLst/>
                <a:latin typeface="JetBrains Mono Medium" panose="02000009000000000000" pitchFamily="49" charset="0"/>
                <a:ea typeface="Calibri" panose="020F0502020204030204" pitchFamily="34" charset="0"/>
                <a:cs typeface="JetBrains Mono Medium" panose="02000009000000000000" pitchFamily="49" charset="0"/>
              </a:rPr>
              <a:t>Đồ thị biểu diễn được rất nhiều cấu trúc</a:t>
            </a:r>
            <a:r>
              <a:rPr lang="en-US" sz="1800" dirty="0">
                <a:solidFill>
                  <a:schemeClr val="bg1"/>
                </a:solidFill>
                <a:effectLst/>
                <a:latin typeface="JetBrains Mono Medium" panose="02000009000000000000" pitchFamily="49" charset="0"/>
                <a:ea typeface="Calibri" panose="020F0502020204030204" pitchFamily="34" charset="0"/>
                <a:cs typeface="JetBrains Mono Medium" panose="02000009000000000000" pitchFamily="49" charset="0"/>
              </a:rPr>
              <a:t>.</a:t>
            </a:r>
            <a:r>
              <a:rPr lang="vi-VN" sz="1800" dirty="0">
                <a:solidFill>
                  <a:schemeClr val="bg1"/>
                </a:solidFill>
                <a:effectLst/>
                <a:latin typeface="JetBrains Mono Medium" panose="02000009000000000000" pitchFamily="49" charset="0"/>
                <a:ea typeface="Calibri" panose="020F0502020204030204" pitchFamily="34" charset="0"/>
                <a:cs typeface="JetBrains Mono Medium" panose="02000009000000000000" pitchFamily="49" charset="0"/>
              </a:rPr>
              <a:t> </a:t>
            </a:r>
            <a:endParaRPr lang="en-US" sz="1800" dirty="0">
              <a:solidFill>
                <a:schemeClr val="bg1"/>
              </a:solidFill>
              <a:effectLst/>
              <a:latin typeface="JetBrains Mono Medium" panose="02000009000000000000" pitchFamily="49" charset="0"/>
              <a:ea typeface="Calibri" panose="020F0502020204030204" pitchFamily="34" charset="0"/>
              <a:cs typeface="JetBrains Mono Medium" panose="02000009000000000000" pitchFamily="49" charset="0"/>
            </a:endParaRPr>
          </a:p>
          <a:p>
            <a:pPr>
              <a:lnSpc>
                <a:spcPct val="107000"/>
              </a:lnSpc>
              <a:spcAft>
                <a:spcPts val="800"/>
              </a:spcAft>
            </a:pPr>
            <a:r>
              <a:rPr lang="en-US" sz="1800" dirty="0">
                <a:solidFill>
                  <a:schemeClr val="bg1"/>
                </a:solidFill>
                <a:effectLst/>
                <a:latin typeface="JetBrains Mono Medium" panose="02000009000000000000" pitchFamily="49" charset="0"/>
                <a:ea typeface="Calibri" panose="020F0502020204030204" pitchFamily="34" charset="0"/>
                <a:cs typeface="JetBrains Mono Medium" panose="02000009000000000000" pitchFamily="49" charset="0"/>
              </a:rPr>
              <a:t>N</a:t>
            </a:r>
            <a:r>
              <a:rPr lang="vi-VN" sz="1800" dirty="0">
                <a:solidFill>
                  <a:schemeClr val="bg1"/>
                </a:solidFill>
                <a:effectLst/>
                <a:latin typeface="JetBrains Mono Medium" panose="02000009000000000000" pitchFamily="49" charset="0"/>
                <a:ea typeface="Calibri" panose="020F0502020204030204" pitchFamily="34" charset="0"/>
                <a:cs typeface="JetBrains Mono Medium" panose="02000009000000000000" pitchFamily="49" charset="0"/>
              </a:rPr>
              <a:t>hiều bài toán thực tế có thể được biểu diễn bằng đồ thị.</a:t>
            </a:r>
            <a:endParaRPr lang="vi-VN" sz="1400" dirty="0">
              <a:solidFill>
                <a:schemeClr val="bg1"/>
              </a:solidFill>
              <a:effectLst/>
              <a:latin typeface="JetBrains Mono Medium" panose="02000009000000000000" pitchFamily="49" charset="0"/>
              <a:cs typeface="JetBrains Mono Medium" panose="02000009000000000000" pitchFamily="49" charset="0"/>
            </a:endParaRPr>
          </a:p>
        </p:txBody>
      </p:sp>
      <p:sp>
        <p:nvSpPr>
          <p:cNvPr id="25" name="PAGE NUM 0">
            <a:extLst>
              <a:ext uri="{FF2B5EF4-FFF2-40B4-BE49-F238E27FC236}">
                <a16:creationId xmlns:a16="http://schemas.microsoft.com/office/drawing/2014/main" id="{CA8E8643-0820-44FC-9D06-02F2A0A63536}"/>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lumMod val="50000"/>
                  </a:schemeClr>
                </a:solidFill>
                <a:latin typeface="JetBrains Mono Light" panose="02000009000000000000" pitchFamily="49" charset="0"/>
                <a:cs typeface="JetBrains Mono Light" panose="02000009000000000000" pitchFamily="49" charset="0"/>
              </a:rPr>
              <a:t>0</a:t>
            </a:r>
            <a:endParaRPr lang="en-US" dirty="0">
              <a:solidFill>
                <a:schemeClr val="bg1"/>
              </a:solidFill>
              <a:latin typeface="JetBrains Mono Light" panose="02000009000000000000" pitchFamily="49" charset="0"/>
              <a:cs typeface="JetBrains Mono Light" panose="02000009000000000000" pitchFamily="49" charset="0"/>
            </a:endParaRPr>
          </a:p>
        </p:txBody>
      </p:sp>
      <p:sp>
        <p:nvSpPr>
          <p:cNvPr id="26" name="PAGE NUM 1">
            <a:extLst>
              <a:ext uri="{FF2B5EF4-FFF2-40B4-BE49-F238E27FC236}">
                <a16:creationId xmlns:a16="http://schemas.microsoft.com/office/drawing/2014/main" id="{6BF8CF33-13C7-458E-A4F5-0A19700195D0}"/>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4</a:t>
            </a:r>
            <a:endParaRPr lang="en-US" dirty="0"/>
          </a:p>
        </p:txBody>
      </p:sp>
      <p:sp>
        <p:nvSpPr>
          <p:cNvPr id="27" name="TextBox 80">
            <a:extLst>
              <a:ext uri="{FF2B5EF4-FFF2-40B4-BE49-F238E27FC236}">
                <a16:creationId xmlns:a16="http://schemas.microsoft.com/office/drawing/2014/main" id="{BBBA152B-9AAE-4C2F-A51E-20AE27880331}"/>
              </a:ext>
            </a:extLst>
          </p:cNvPr>
          <p:cNvSpPr txBox="1"/>
          <p:nvPr/>
        </p:nvSpPr>
        <p:spPr>
          <a:xfrm>
            <a:off x="12924148" y="-157000"/>
            <a:ext cx="2607859" cy="4708981"/>
          </a:xfrm>
          <a:prstGeom prst="rect">
            <a:avLst/>
          </a:prstGeom>
          <a:noFill/>
        </p:spPr>
        <p:txBody>
          <a:bodyPr wrap="square" rtlCol="0">
            <a:spAutoFit/>
          </a:bodyPr>
          <a:lstStyle/>
          <a:p>
            <a:r>
              <a:rPr lang="en-US" sz="30000" dirty="0">
                <a:solidFill>
                  <a:schemeClr val="bg1">
                    <a:lumMod val="95000"/>
                    <a:alpha val="23000"/>
                  </a:schemeClr>
                </a:solidFill>
                <a:latin typeface="JetBrains Mono Regular" panose="02000009000000000000" pitchFamily="49" charset="0"/>
                <a:cs typeface="JetBrains Mono Regular" panose="02000009000000000000" pitchFamily="49" charset="0"/>
              </a:rPr>
              <a:t>1</a:t>
            </a:r>
          </a:p>
        </p:txBody>
      </p:sp>
    </p:spTree>
    <p:extLst>
      <p:ext uri="{BB962C8B-B14F-4D97-AF65-F5344CB8AC3E}">
        <p14:creationId xmlns:p14="http://schemas.microsoft.com/office/powerpoint/2010/main" val="32937400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3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50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500"/>
                                        <p:tgtEl>
                                          <p:spTgt spid="32"/>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nodeType="withEffect">
                                  <p:stCondLst>
                                    <p:cond delay="20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900"/>
                                        <p:tgtEl>
                                          <p:spTgt spid="24"/>
                                        </p:tgtEl>
                                      </p:cBhvr>
                                    </p:animEffect>
                                  </p:childTnLst>
                                </p:cTn>
                              </p:par>
                              <p:par>
                                <p:cTn id="28" presetID="10" presetClass="entr" presetSubtype="0" fill="hold" grpId="0" nodeType="withEffect">
                                  <p:stCondLst>
                                    <p:cond delay="600"/>
                                  </p:stCondLst>
                                  <p:childTnLst>
                                    <p:set>
                                      <p:cBhvr>
                                        <p:cTn id="29" dur="1" fill="hold">
                                          <p:stCondLst>
                                            <p:cond delay="0"/>
                                          </p:stCondLst>
                                        </p:cTn>
                                        <p:tgtEl>
                                          <p:spTgt spid="35"/>
                                        </p:tgtEl>
                                        <p:attrNameLst>
                                          <p:attrName>style.visibility</p:attrName>
                                        </p:attrNameLst>
                                      </p:cBhvr>
                                      <p:to>
                                        <p:strVal val="visible"/>
                                      </p:to>
                                    </p:set>
                                    <p:animEffect transition="in" filter="fade">
                                      <p:cBhvr>
                                        <p:cTn id="30" dur="500"/>
                                        <p:tgtEl>
                                          <p:spTgt spid="35"/>
                                        </p:tgtEl>
                                      </p:cBhvr>
                                    </p:animEffect>
                                  </p:childTnLst>
                                </p:cTn>
                              </p:par>
                              <p:par>
                                <p:cTn id="31" presetID="10" presetClass="entr" presetSubtype="0" fill="hold" nodeType="withEffect">
                                  <p:stCondLst>
                                    <p:cond delay="800"/>
                                  </p:stCondLst>
                                  <p:childTnLst>
                                    <p:set>
                                      <p:cBhvr>
                                        <p:cTn id="32" dur="1" fill="hold">
                                          <p:stCondLst>
                                            <p:cond delay="0"/>
                                          </p:stCondLst>
                                        </p:cTn>
                                        <p:tgtEl>
                                          <p:spTgt spid="44"/>
                                        </p:tgtEl>
                                        <p:attrNameLst>
                                          <p:attrName>style.visibility</p:attrName>
                                        </p:attrNameLst>
                                      </p:cBhvr>
                                      <p:to>
                                        <p:strVal val="visible"/>
                                      </p:to>
                                    </p:set>
                                    <p:animEffect transition="in" filter="fade">
                                      <p:cBhvr>
                                        <p:cTn id="33" dur="900"/>
                                        <p:tgtEl>
                                          <p:spTgt spid="44"/>
                                        </p:tgtEl>
                                      </p:cBhvr>
                                    </p:animEffect>
                                  </p:childTnLst>
                                </p:cTn>
                              </p:par>
                              <p:par>
                                <p:cTn id="34" presetID="10" presetClass="entr" presetSubtype="0" fill="hold" grpId="0" nodeType="withEffect">
                                  <p:stCondLst>
                                    <p:cond delay="1200"/>
                                  </p:stCondLst>
                                  <p:childTnLst>
                                    <p:set>
                                      <p:cBhvr>
                                        <p:cTn id="35" dur="1" fill="hold">
                                          <p:stCondLst>
                                            <p:cond delay="0"/>
                                          </p:stCondLst>
                                        </p:cTn>
                                        <p:tgtEl>
                                          <p:spTgt spid="47"/>
                                        </p:tgtEl>
                                        <p:attrNameLst>
                                          <p:attrName>style.visibility</p:attrName>
                                        </p:attrNameLst>
                                      </p:cBhvr>
                                      <p:to>
                                        <p:strVal val="visible"/>
                                      </p:to>
                                    </p:set>
                                    <p:animEffect transition="in" filter="fade">
                                      <p:cBhvr>
                                        <p:cTn id="36" dur="500"/>
                                        <p:tgtEl>
                                          <p:spTgt spid="47"/>
                                        </p:tgtEl>
                                      </p:cBhvr>
                                    </p:animEffect>
                                  </p:childTnLst>
                                </p:cTn>
                              </p:par>
                              <p:par>
                                <p:cTn id="37" presetID="10" presetClass="entr" presetSubtype="0" fill="hold" nodeType="withEffect">
                                  <p:stCondLst>
                                    <p:cond delay="300"/>
                                  </p:stCondLst>
                                  <p:childTnLst>
                                    <p:set>
                                      <p:cBhvr>
                                        <p:cTn id="38" dur="1" fill="hold">
                                          <p:stCondLst>
                                            <p:cond delay="0"/>
                                          </p:stCondLst>
                                        </p:cTn>
                                        <p:tgtEl>
                                          <p:spTgt spid="40"/>
                                        </p:tgtEl>
                                        <p:attrNameLst>
                                          <p:attrName>style.visibility</p:attrName>
                                        </p:attrNameLst>
                                      </p:cBhvr>
                                      <p:to>
                                        <p:strVal val="visible"/>
                                      </p:to>
                                    </p:set>
                                    <p:animEffect transition="in" filter="fade">
                                      <p:cBhvr>
                                        <p:cTn id="39" dur="1100"/>
                                        <p:tgtEl>
                                          <p:spTgt spid="40"/>
                                        </p:tgtEl>
                                      </p:cBhvr>
                                    </p:animEffect>
                                  </p:childTnLst>
                                </p:cTn>
                              </p:par>
                              <p:par>
                                <p:cTn id="40" presetID="10" presetClass="entr" presetSubtype="0" fill="hold" grpId="0" nodeType="withEffect">
                                  <p:stCondLst>
                                    <p:cond delay="90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500"/>
                                        <p:tgtEl>
                                          <p:spTgt spid="34"/>
                                        </p:tgtEl>
                                      </p:cBhvr>
                                    </p:animEffect>
                                  </p:childTnLst>
                                </p:cTn>
                              </p:par>
                              <p:par>
                                <p:cTn id="43" presetID="10" presetClass="entr" presetSubtype="0" fill="hold" grpId="0" nodeType="withEffect">
                                  <p:stCondLst>
                                    <p:cond delay="30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500"/>
                                        <p:tgtEl>
                                          <p:spTgt spid="31"/>
                                        </p:tgtEl>
                                      </p:cBhvr>
                                    </p:animEffect>
                                  </p:childTnLst>
                                </p:cTn>
                              </p:par>
                              <p:par>
                                <p:cTn id="46" presetID="10" presetClass="entr" presetSubtype="0" fill="hold" nodeType="withEffect">
                                  <p:stCondLst>
                                    <p:cond delay="1300"/>
                                  </p:stCondLst>
                                  <p:childTnLst>
                                    <p:set>
                                      <p:cBhvr>
                                        <p:cTn id="47" dur="1" fill="hold">
                                          <p:stCondLst>
                                            <p:cond delay="0"/>
                                          </p:stCondLst>
                                        </p:cTn>
                                        <p:tgtEl>
                                          <p:spTgt spid="42"/>
                                        </p:tgtEl>
                                        <p:attrNameLst>
                                          <p:attrName>style.visibility</p:attrName>
                                        </p:attrNameLst>
                                      </p:cBhvr>
                                      <p:to>
                                        <p:strVal val="visible"/>
                                      </p:to>
                                    </p:set>
                                    <p:animEffect transition="in" filter="fade">
                                      <p:cBhvr>
                                        <p:cTn id="48" dur="900"/>
                                        <p:tgtEl>
                                          <p:spTgt spid="42"/>
                                        </p:tgtEl>
                                      </p:cBhvr>
                                    </p:animEffect>
                                  </p:childTnLst>
                                </p:cTn>
                              </p:par>
                              <p:par>
                                <p:cTn id="49" presetID="10" presetClass="entr" presetSubtype="0" fill="hold" grpId="0" nodeType="withEffect">
                                  <p:stCondLst>
                                    <p:cond delay="150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500"/>
                                        <p:tgtEl>
                                          <p:spTgt spid="36"/>
                                        </p:tgtEl>
                                      </p:cBhvr>
                                    </p:animEffect>
                                  </p:childTnLst>
                                </p:cTn>
                              </p:par>
                              <p:par>
                                <p:cTn id="52" presetID="10" presetClass="entr" presetSubtype="0" fill="hold" grpId="0" nodeType="withEffect">
                                  <p:stCondLst>
                                    <p:cond delay="1700"/>
                                  </p:stCondLst>
                                  <p:childTnLst>
                                    <p:set>
                                      <p:cBhvr>
                                        <p:cTn id="53" dur="1" fill="hold">
                                          <p:stCondLst>
                                            <p:cond delay="0"/>
                                          </p:stCondLst>
                                        </p:cTn>
                                        <p:tgtEl>
                                          <p:spTgt spid="49"/>
                                        </p:tgtEl>
                                        <p:attrNameLst>
                                          <p:attrName>style.visibility</p:attrName>
                                        </p:attrNameLst>
                                      </p:cBhvr>
                                      <p:to>
                                        <p:strVal val="visible"/>
                                      </p:to>
                                    </p:set>
                                    <p:animEffect transition="in" filter="fade">
                                      <p:cBhvr>
                                        <p:cTn id="54" dur="500"/>
                                        <p:tgtEl>
                                          <p:spTgt spid="49"/>
                                        </p:tgtEl>
                                      </p:cBhvr>
                                    </p:animEffect>
                                  </p:childTnLst>
                                </p:cTn>
                              </p:par>
                              <p:par>
                                <p:cTn id="55" presetID="10" presetClass="entr" presetSubtype="0" fill="hold" grpId="0" nodeType="withEffect">
                                  <p:stCondLst>
                                    <p:cond delay="1700"/>
                                  </p:stCondLst>
                                  <p:childTnLst>
                                    <p:set>
                                      <p:cBhvr>
                                        <p:cTn id="56" dur="1" fill="hold">
                                          <p:stCondLst>
                                            <p:cond delay="0"/>
                                          </p:stCondLst>
                                        </p:cTn>
                                        <p:tgtEl>
                                          <p:spTgt spid="48"/>
                                        </p:tgtEl>
                                        <p:attrNameLst>
                                          <p:attrName>style.visibility</p:attrName>
                                        </p:attrNameLst>
                                      </p:cBhvr>
                                      <p:to>
                                        <p:strVal val="visible"/>
                                      </p:to>
                                    </p:set>
                                    <p:animEffect transition="in" filter="fade">
                                      <p:cBhvr>
                                        <p:cTn id="57" dur="500"/>
                                        <p:tgtEl>
                                          <p:spTgt spid="4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fade">
                                      <p:cBhvr>
                                        <p:cTn id="6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 grpId="0"/>
      <p:bldP spid="7" grpId="0" animBg="1"/>
      <p:bldP spid="15" grpId="0" animBg="1"/>
      <p:bldP spid="34" grpId="0" animBg="1"/>
      <p:bldP spid="35" grpId="0" animBg="1"/>
      <p:bldP spid="36" grpId="0" animBg="1"/>
      <p:bldP spid="31" grpId="0"/>
      <p:bldP spid="47" grpId="0"/>
      <p:bldP spid="48" grpId="0"/>
      <p:bldP spid="49" grpId="0"/>
      <p:bldP spid="32" grpId="0"/>
      <p:bldP spid="6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ADCB1D2-71BF-4442-85AC-20706F44BBA0}"/>
              </a:ext>
            </a:extLst>
          </p:cNvPr>
          <p:cNvSpPr/>
          <p:nvPr/>
        </p:nvSpPr>
        <p:spPr>
          <a:xfrm>
            <a:off x="2632" y="-1434"/>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16" name="Credit MAIN">
            <a:extLst>
              <a:ext uri="{FF2B5EF4-FFF2-40B4-BE49-F238E27FC236}">
                <a16:creationId xmlns:a16="http://schemas.microsoft.com/office/drawing/2014/main" id="{2518DECB-C7B9-41A5-9FB6-89C9AA3086AA}"/>
              </a:ext>
            </a:extLst>
          </p:cNvPr>
          <p:cNvSpPr txBox="1"/>
          <p:nvPr/>
        </p:nvSpPr>
        <p:spPr>
          <a:xfrm>
            <a:off x="50878" y="6420549"/>
            <a:ext cx="2235122"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Vũ</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Thùy</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Dương</a:t>
            </a:r>
            <a:endParaRPr lang="en-US" dirty="0">
              <a:solidFill>
                <a:schemeClr val="bg1">
                  <a:lumMod val="95000"/>
                  <a:alpha val="46000"/>
                </a:schemeClr>
              </a:solidFill>
            </a:endParaRPr>
          </a:p>
        </p:txBody>
      </p:sp>
      <p:sp>
        <p:nvSpPr>
          <p:cNvPr id="11" name="Header">
            <a:extLst>
              <a:ext uri="{FF2B5EF4-FFF2-40B4-BE49-F238E27FC236}">
                <a16:creationId xmlns:a16="http://schemas.microsoft.com/office/drawing/2014/main" id="{6A39F230-06D2-4140-8DA2-357C0B9B6D12}"/>
              </a:ext>
            </a:extLst>
          </p:cNvPr>
          <p:cNvSpPr txBox="1"/>
          <p:nvPr/>
        </p:nvSpPr>
        <p:spPr>
          <a:xfrm>
            <a:off x="50878" y="68119"/>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7" name="Footer: Part">
            <a:extLst>
              <a:ext uri="{FF2B5EF4-FFF2-40B4-BE49-F238E27FC236}">
                <a16:creationId xmlns:a16="http://schemas.microsoft.com/office/drawing/2014/main" id="{553347E6-1341-4BA1-A396-FC4741F3FAF1}"/>
              </a:ext>
            </a:extLst>
          </p:cNvPr>
          <p:cNvSpPr txBox="1"/>
          <p:nvPr/>
        </p:nvSpPr>
        <p:spPr>
          <a:xfrm>
            <a:off x="8915400" y="6413178"/>
            <a:ext cx="3204503" cy="369332"/>
          </a:xfrm>
          <a:prstGeom prst="rect">
            <a:avLst/>
          </a:prstGeom>
          <a:noFill/>
        </p:spPr>
        <p:txBody>
          <a:bodyPr wrap="square" rtlCol="0">
            <a:spAutoFit/>
          </a:bodyPr>
          <a:lstStyle/>
          <a:p>
            <a:pPr algn="r"/>
            <a:r>
              <a:rPr lang="en-US" dirty="0" err="1">
                <a:solidFill>
                  <a:schemeClr val="bg1"/>
                </a:solidFill>
                <a:latin typeface="JetBrains Mono Regular" panose="02000009000000000000" pitchFamily="49" charset="0"/>
                <a:cs typeface="JetBrains Mono Regular" panose="02000009000000000000" pitchFamily="49" charset="0"/>
              </a:rPr>
              <a:t>Danh</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sách</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liên</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thuộc</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19" name="Footer: Title">
            <a:extLst>
              <a:ext uri="{FF2B5EF4-FFF2-40B4-BE49-F238E27FC236}">
                <a16:creationId xmlns:a16="http://schemas.microsoft.com/office/drawing/2014/main" id="{FD144244-98B6-4C54-A114-16CD65E0D522}"/>
              </a:ext>
            </a:extLst>
          </p:cNvPr>
          <p:cNvSpPr txBox="1"/>
          <p:nvPr/>
        </p:nvSpPr>
        <p:spPr>
          <a:xfrm>
            <a:off x="8153051" y="6414047"/>
            <a:ext cx="1162400"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Light" panose="02000009000000000000" pitchFamily="49" charset="0"/>
                <a:cs typeface="JetBrains Mono Light" panose="02000009000000000000" pitchFamily="49" charset="0"/>
              </a:rPr>
              <a:t>:</a:t>
            </a:r>
          </a:p>
        </p:txBody>
      </p:sp>
      <p:sp>
        <p:nvSpPr>
          <p:cNvPr id="25" name="PAGE NUM 0">
            <a:extLst>
              <a:ext uri="{FF2B5EF4-FFF2-40B4-BE49-F238E27FC236}">
                <a16:creationId xmlns:a16="http://schemas.microsoft.com/office/drawing/2014/main" id="{CA8E8643-0820-44FC-9D06-02F2A0A63536}"/>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lumMod val="50000"/>
                  </a:schemeClr>
                </a:solidFill>
                <a:latin typeface="JetBrains Mono Light" panose="02000009000000000000" pitchFamily="49" charset="0"/>
                <a:cs typeface="JetBrains Mono Light" panose="02000009000000000000" pitchFamily="49" charset="0"/>
              </a:rPr>
              <a:t>0</a:t>
            </a:r>
            <a:endParaRPr lang="en-US" dirty="0">
              <a:solidFill>
                <a:schemeClr val="bg1"/>
              </a:solidFill>
              <a:latin typeface="JetBrains Mono Light" panose="02000009000000000000" pitchFamily="49" charset="0"/>
              <a:cs typeface="JetBrains Mono Light" panose="02000009000000000000" pitchFamily="49" charset="0"/>
            </a:endParaRPr>
          </a:p>
        </p:txBody>
      </p:sp>
      <p:sp>
        <p:nvSpPr>
          <p:cNvPr id="26" name="PAGE NUM 1">
            <a:extLst>
              <a:ext uri="{FF2B5EF4-FFF2-40B4-BE49-F238E27FC236}">
                <a16:creationId xmlns:a16="http://schemas.microsoft.com/office/drawing/2014/main" id="{6BF8CF33-13C7-458E-A4F5-0A19700195D0}"/>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5</a:t>
            </a:r>
            <a:endParaRPr lang="en-US" dirty="0"/>
          </a:p>
        </p:txBody>
      </p:sp>
      <p:sp>
        <p:nvSpPr>
          <p:cNvPr id="3" name="TextBox 2">
            <a:extLst>
              <a:ext uri="{FF2B5EF4-FFF2-40B4-BE49-F238E27FC236}">
                <a16:creationId xmlns:a16="http://schemas.microsoft.com/office/drawing/2014/main" id="{0DCF76D3-76B8-418E-89D0-5A5DE06812BC}"/>
              </a:ext>
            </a:extLst>
          </p:cNvPr>
          <p:cNvSpPr txBox="1"/>
          <p:nvPr/>
        </p:nvSpPr>
        <p:spPr>
          <a:xfrm>
            <a:off x="723679" y="1048729"/>
            <a:ext cx="2977663" cy="369332"/>
          </a:xfrm>
          <a:prstGeom prst="rect">
            <a:avLst/>
          </a:prstGeom>
          <a:solidFill>
            <a:schemeClr val="bg1"/>
          </a:solid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Danh</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sách</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liên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thuộc</a:t>
            </a:r>
            <a:endParaRPr lang="en-US" dirty="0">
              <a:latin typeface="JetBrains Mono Regular" panose="02000009000000000000" pitchFamily="49" charset="0"/>
              <a:cs typeface="JetBrains Mono Regular" panose="02000009000000000000" pitchFamily="49" charset="0"/>
            </a:endParaRPr>
          </a:p>
        </p:txBody>
      </p:sp>
      <p:sp>
        <p:nvSpPr>
          <p:cNvPr id="4" name="TextBox 3">
            <a:extLst>
              <a:ext uri="{FF2B5EF4-FFF2-40B4-BE49-F238E27FC236}">
                <a16:creationId xmlns:a16="http://schemas.microsoft.com/office/drawing/2014/main" id="{B2B46108-81E9-491C-B353-2C151D70D107}"/>
              </a:ext>
            </a:extLst>
          </p:cNvPr>
          <p:cNvSpPr txBox="1"/>
          <p:nvPr/>
        </p:nvSpPr>
        <p:spPr>
          <a:xfrm>
            <a:off x="603738" y="575950"/>
            <a:ext cx="3827586" cy="646331"/>
          </a:xfrm>
          <a:prstGeom prst="rect">
            <a:avLst/>
          </a:prstGeom>
          <a:noFill/>
        </p:spPr>
        <p:txBody>
          <a:bodyPr wrap="square" rtlCol="0">
            <a:spAutoFit/>
          </a:bodyPr>
          <a:lstStyle/>
          <a:p>
            <a:r>
              <a:rPr lang="en-US" sz="1800" dirty="0" err="1">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Các</a:t>
            </a:r>
            <a:r>
              <a:rPr lang="en-US" sz="1800" dirty="0">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cách</a:t>
            </a:r>
            <a:r>
              <a:rPr lang="en-US" sz="1800" dirty="0">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biểu</a:t>
            </a:r>
            <a:r>
              <a:rPr lang="en-US" sz="1800" dirty="0">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diễn</a:t>
            </a:r>
            <a:r>
              <a:rPr lang="en-US" sz="1800" dirty="0">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đồ</a:t>
            </a:r>
            <a:r>
              <a:rPr lang="en-US" sz="1800" dirty="0">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thị</a:t>
            </a:r>
            <a:r>
              <a:rPr lang="en-US" sz="1800" dirty="0">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a:t>
            </a:r>
            <a:endParaRPr lang="en-US" sz="1800" dirty="0">
              <a:solidFill>
                <a:schemeClr val="bg1">
                  <a:lumMod val="95000"/>
                </a:schemeClr>
              </a:solidFill>
              <a:effectLst/>
              <a:latin typeface="JetBrains Mono Light" panose="02000009000000000000" pitchFamily="49" charset="0"/>
              <a:cs typeface="JetBrains Mono Light" panose="02000009000000000000" pitchFamily="49" charset="0"/>
            </a:endParaRPr>
          </a:p>
          <a:p>
            <a:endParaRPr lang="en-US" dirty="0">
              <a:solidFill>
                <a:schemeClr val="bg1">
                  <a:lumMod val="95000"/>
                </a:schemeClr>
              </a:solidFill>
              <a:latin typeface="JetBrains Mono Light" panose="02000009000000000000" pitchFamily="49" charset="0"/>
              <a:cs typeface="JetBrains Mono Light" panose="02000009000000000000" pitchFamily="49" charset="0"/>
            </a:endParaRPr>
          </a:p>
        </p:txBody>
      </p:sp>
      <p:sp>
        <p:nvSpPr>
          <p:cNvPr id="74" name="TextBox 73">
            <a:extLst>
              <a:ext uri="{FF2B5EF4-FFF2-40B4-BE49-F238E27FC236}">
                <a16:creationId xmlns:a16="http://schemas.microsoft.com/office/drawing/2014/main" id="{0678F9F4-81F6-442A-9E71-126001518182}"/>
              </a:ext>
            </a:extLst>
          </p:cNvPr>
          <p:cNvSpPr txBox="1"/>
          <p:nvPr/>
        </p:nvSpPr>
        <p:spPr>
          <a:xfrm>
            <a:off x="723678" y="1667797"/>
            <a:ext cx="3629101" cy="923330"/>
          </a:xfrm>
          <a:prstGeom prst="rect">
            <a:avLst/>
          </a:prstGeom>
          <a:noFill/>
        </p:spPr>
        <p:txBody>
          <a:bodyPr wrap="square" rtlCol="0">
            <a:spAutoFit/>
          </a:bodyPr>
          <a:lstStyle/>
          <a:p>
            <a:r>
              <a:rPr lang="en-US" sz="1800" b="1" dirty="0" err="1">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Mỗi</a:t>
            </a:r>
            <a:r>
              <a:rPr lang="en-US" sz="1800" b="1" dirty="0">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 </a:t>
            </a:r>
            <a:r>
              <a:rPr lang="en-US" sz="1800" b="1" dirty="0" err="1">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đỉnh</a:t>
            </a:r>
            <a:r>
              <a:rPr lang="en-US" sz="1800" b="1" dirty="0">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 </a:t>
            </a:r>
            <a:r>
              <a:rPr lang="en-US" sz="1800" b="1" dirty="0" err="1">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có</a:t>
            </a:r>
            <a:r>
              <a:rPr lang="en-US" sz="1800" b="1" dirty="0">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 </a:t>
            </a:r>
            <a:r>
              <a:rPr lang="en-US" sz="1800" b="1" dirty="0" err="1">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một</a:t>
            </a:r>
            <a:r>
              <a:rPr lang="en-US" sz="1800" b="1" dirty="0">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 </a:t>
            </a:r>
            <a:r>
              <a:rPr lang="en-US" sz="1800" b="1" dirty="0" err="1">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danh</a:t>
            </a:r>
            <a:r>
              <a:rPr lang="en-US" sz="1800" b="1" dirty="0">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 </a:t>
            </a:r>
            <a:r>
              <a:rPr lang="en-US" sz="1800" b="1" dirty="0" err="1">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sách</a:t>
            </a:r>
            <a:r>
              <a:rPr lang="en-US" sz="1800" b="1" dirty="0">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 </a:t>
            </a:r>
            <a:r>
              <a:rPr lang="en-US" sz="1800" b="1" dirty="0" err="1">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các</a:t>
            </a:r>
            <a:r>
              <a:rPr lang="en-US" sz="1800" b="1" dirty="0">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 </a:t>
            </a:r>
            <a:r>
              <a:rPr lang="en-US" sz="1800" b="1" dirty="0" err="1">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cạnh</a:t>
            </a:r>
            <a:r>
              <a:rPr lang="en-US" sz="1800" b="1" dirty="0">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 </a:t>
            </a:r>
            <a:r>
              <a:rPr lang="en-US" sz="1800" b="1" dirty="0" err="1">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nối</a:t>
            </a:r>
            <a:r>
              <a:rPr lang="en-US" sz="1800" b="1" dirty="0">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 </a:t>
            </a:r>
            <a:r>
              <a:rPr lang="en-US" sz="1800" b="1" dirty="0" err="1">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với</a:t>
            </a:r>
            <a:r>
              <a:rPr lang="en-US" sz="1800" b="1" dirty="0">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 </a:t>
            </a:r>
            <a:r>
              <a:rPr lang="en-US" sz="1800" b="1" dirty="0" err="1">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đỉnh</a:t>
            </a:r>
            <a:r>
              <a:rPr lang="en-US" sz="1800" b="1" dirty="0">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 </a:t>
            </a:r>
            <a:r>
              <a:rPr lang="en-US" sz="1800" b="1" dirty="0" err="1">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đó</a:t>
            </a:r>
            <a:r>
              <a:rPr lang="en-US" sz="1800" b="1" dirty="0">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a:t>
            </a:r>
            <a:endParaRPr lang="en-US" sz="1800" dirty="0">
              <a:solidFill>
                <a:schemeClr val="bg1">
                  <a:lumMod val="95000"/>
                </a:schemeClr>
              </a:solidFill>
              <a:effectLst/>
              <a:latin typeface="JetBrains Mono Thin" panose="02000009000000000000" pitchFamily="49" charset="0"/>
              <a:cs typeface="JetBrains Mono Thin" panose="02000009000000000000" pitchFamily="49" charset="0"/>
            </a:endParaRPr>
          </a:p>
          <a:p>
            <a:endParaRPr lang="en-US" dirty="0">
              <a:solidFill>
                <a:schemeClr val="bg1">
                  <a:lumMod val="95000"/>
                </a:schemeClr>
              </a:solidFill>
              <a:latin typeface="JetBrains Mono Thin" panose="02000009000000000000" pitchFamily="49" charset="0"/>
              <a:cs typeface="JetBrains Mono Thin" panose="02000009000000000000" pitchFamily="49" charset="0"/>
            </a:endParaRPr>
          </a:p>
        </p:txBody>
      </p:sp>
      <p:sp>
        <p:nvSpPr>
          <p:cNvPr id="75" name="TextBox 74">
            <a:extLst>
              <a:ext uri="{FF2B5EF4-FFF2-40B4-BE49-F238E27FC236}">
                <a16:creationId xmlns:a16="http://schemas.microsoft.com/office/drawing/2014/main" id="{184E118F-A276-436A-B04F-421CDA1A5A28}"/>
              </a:ext>
            </a:extLst>
          </p:cNvPr>
          <p:cNvSpPr txBox="1"/>
          <p:nvPr/>
        </p:nvSpPr>
        <p:spPr>
          <a:xfrm>
            <a:off x="5592497" y="2411903"/>
            <a:ext cx="6007411" cy="2031325"/>
          </a:xfrm>
          <a:prstGeom prst="rect">
            <a:avLst/>
          </a:prstGeom>
          <a:noFill/>
        </p:spPr>
        <p:txBody>
          <a:bodyPr wrap="square" rtlCol="0">
            <a:spAutoFit/>
          </a:bodyPr>
          <a:lstStyle/>
          <a:p>
            <a:r>
              <a:rPr lang="vi-VN" sz="1800" dirty="0">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Các cạnh của đồ thị được có thể được lưu trong một danh sách riêng (có thể cài đặt bằng mảng hoặc danh sách liên kết động), trong đó mỗi phần tử ghi thông tin về một cạnh, bao gồm </a:t>
            </a:r>
            <a:r>
              <a:rPr lang="vi-VN" sz="1800" u="sng" dirty="0">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cặp đỉnh mà cạnh đó nối</a:t>
            </a:r>
            <a:r>
              <a:rPr lang="vi-VN" sz="1800" dirty="0">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 (sẽ có thứ tự nếu đồ thị có hướng), </a:t>
            </a:r>
            <a:r>
              <a:rPr lang="vi-VN" sz="1800" u="sng" dirty="0">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trọng số</a:t>
            </a:r>
            <a:r>
              <a:rPr lang="vi-VN" sz="1800" dirty="0">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 và </a:t>
            </a:r>
            <a:r>
              <a:rPr lang="vi-VN" sz="1800" u="sng" dirty="0">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các dữ liệu khác</a:t>
            </a:r>
            <a:r>
              <a:rPr lang="vi-VN" sz="1800" dirty="0">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 </a:t>
            </a:r>
            <a:endParaRPr lang="en-US" sz="1800" dirty="0">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endParaRPr>
          </a:p>
        </p:txBody>
      </p:sp>
      <p:sp>
        <p:nvSpPr>
          <p:cNvPr id="77" name="TextBox 76">
            <a:extLst>
              <a:ext uri="{FF2B5EF4-FFF2-40B4-BE49-F238E27FC236}">
                <a16:creationId xmlns:a16="http://schemas.microsoft.com/office/drawing/2014/main" id="{72E14B94-14EB-4A83-8036-2791EE13B4A8}"/>
              </a:ext>
            </a:extLst>
          </p:cNvPr>
          <p:cNvSpPr txBox="1"/>
          <p:nvPr/>
        </p:nvSpPr>
        <p:spPr>
          <a:xfrm>
            <a:off x="733358" y="4889316"/>
            <a:ext cx="6291556" cy="1200329"/>
          </a:xfrm>
          <a:prstGeom prst="rect">
            <a:avLst/>
          </a:prstGeom>
          <a:noFill/>
        </p:spPr>
        <p:txBody>
          <a:bodyPr wrap="square" rtlCol="0">
            <a:spAutoFit/>
          </a:bodyPr>
          <a:lstStyle/>
          <a:p>
            <a:r>
              <a:rPr lang="vi-VN" sz="1800" dirty="0">
                <a:solidFill>
                  <a:schemeClr val="bg1">
                    <a:lumMod val="95000"/>
                  </a:schemeClr>
                </a:solidFill>
                <a:effectLst/>
                <a:latin typeface="JetBrains Mono Thin" panose="02000009000000000000" pitchFamily="49" charset="0"/>
                <a:ea typeface="Calibri" panose="020F0502020204030204" pitchFamily="34" charset="0"/>
                <a:cs typeface="JetBrains Mono Thin" panose="02000009000000000000" pitchFamily="49" charset="0"/>
              </a:rPr>
              <a:t>Danh sách liên thuộc của mỗi đỉnh sẽ chiếu tới vị trí của các cạnh tương ứng tại danh sách cạnh này.</a:t>
            </a:r>
            <a:endParaRPr lang="vi-VN" sz="1800" dirty="0">
              <a:solidFill>
                <a:schemeClr val="bg1">
                  <a:lumMod val="95000"/>
                </a:schemeClr>
              </a:solidFill>
              <a:effectLst/>
              <a:latin typeface="JetBrains Mono Thin" panose="02000009000000000000" pitchFamily="49" charset="0"/>
              <a:cs typeface="JetBrains Mono Thin" panose="02000009000000000000" pitchFamily="49" charset="0"/>
            </a:endParaRPr>
          </a:p>
          <a:p>
            <a:endParaRPr lang="en-US" b="1" dirty="0"/>
          </a:p>
        </p:txBody>
      </p:sp>
      <p:sp>
        <p:nvSpPr>
          <p:cNvPr id="2" name="Oval 1">
            <a:extLst>
              <a:ext uri="{FF2B5EF4-FFF2-40B4-BE49-F238E27FC236}">
                <a16:creationId xmlns:a16="http://schemas.microsoft.com/office/drawing/2014/main" id="{1A514D5E-E8B3-4579-8D03-E952A22C8A63}"/>
              </a:ext>
            </a:extLst>
          </p:cNvPr>
          <p:cNvSpPr/>
          <p:nvPr/>
        </p:nvSpPr>
        <p:spPr>
          <a:xfrm>
            <a:off x="3902583" y="3086762"/>
            <a:ext cx="879231" cy="92333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solidFill>
                  <a:schemeClr val="tx1"/>
                </a:solidFill>
                <a:latin typeface="JetBrains Mono Light" panose="02000009000000000000" pitchFamily="49" charset="0"/>
                <a:cs typeface="JetBrains Mono Light" panose="02000009000000000000" pitchFamily="49" charset="0"/>
              </a:rPr>
              <a:t>A</a:t>
            </a:r>
          </a:p>
        </p:txBody>
      </p:sp>
      <p:sp>
        <p:nvSpPr>
          <p:cNvPr id="5" name="TextBox 4">
            <a:extLst>
              <a:ext uri="{FF2B5EF4-FFF2-40B4-BE49-F238E27FC236}">
                <a16:creationId xmlns:a16="http://schemas.microsoft.com/office/drawing/2014/main" id="{315D1D6C-58C8-4E45-B69F-5113BE16B829}"/>
              </a:ext>
            </a:extLst>
          </p:cNvPr>
          <p:cNvSpPr txBox="1"/>
          <p:nvPr/>
        </p:nvSpPr>
        <p:spPr>
          <a:xfrm>
            <a:off x="1336431" y="3357795"/>
            <a:ext cx="1872699" cy="461665"/>
          </a:xfrm>
          <a:prstGeom prst="rect">
            <a:avLst/>
          </a:prstGeom>
          <a:noFill/>
        </p:spPr>
        <p:txBody>
          <a:bodyPr wrap="square" rtlCol="0">
            <a:spAutoFit/>
          </a:bodyPr>
          <a:lstStyle/>
          <a:p>
            <a:r>
              <a:rPr lang="en-US" sz="2400" dirty="0">
                <a:solidFill>
                  <a:schemeClr val="bg1"/>
                </a:solidFill>
                <a:latin typeface="JetBrains Mono Light" panose="02000009000000000000" pitchFamily="49" charset="0"/>
                <a:cs typeface="JetBrains Mono Light" panose="02000009000000000000" pitchFamily="49" charset="0"/>
              </a:rPr>
              <a:t>[...,C,B]</a:t>
            </a:r>
          </a:p>
        </p:txBody>
      </p:sp>
      <p:sp>
        <p:nvSpPr>
          <p:cNvPr id="6" name="Arrow: Right 5">
            <a:extLst>
              <a:ext uri="{FF2B5EF4-FFF2-40B4-BE49-F238E27FC236}">
                <a16:creationId xmlns:a16="http://schemas.microsoft.com/office/drawing/2014/main" id="{465FA793-2C1B-4057-9124-EC6E455DBA33}"/>
              </a:ext>
            </a:extLst>
          </p:cNvPr>
          <p:cNvSpPr/>
          <p:nvPr/>
        </p:nvSpPr>
        <p:spPr>
          <a:xfrm rot="10800000">
            <a:off x="3261727" y="3010267"/>
            <a:ext cx="879230" cy="1076661"/>
          </a:xfrm>
          <a:prstGeom prst="rightArrow">
            <a:avLst>
              <a:gd name="adj1" fmla="val 45736"/>
              <a:gd name="adj2" fmla="val 61628"/>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B650BEC6-383E-4A43-A7E7-CD4AD1AB1C3F}"/>
              </a:ext>
            </a:extLst>
          </p:cNvPr>
          <p:cNvSpPr txBox="1"/>
          <p:nvPr/>
        </p:nvSpPr>
        <p:spPr>
          <a:xfrm>
            <a:off x="12089252" y="-157000"/>
            <a:ext cx="2607859" cy="4708981"/>
          </a:xfrm>
          <a:prstGeom prst="rect">
            <a:avLst/>
          </a:prstGeom>
          <a:noFill/>
        </p:spPr>
        <p:txBody>
          <a:bodyPr wrap="square" rtlCol="0">
            <a:spAutoFit/>
          </a:bodyPr>
          <a:lstStyle/>
          <a:p>
            <a:r>
              <a:rPr lang="en-US" sz="30000" dirty="0">
                <a:solidFill>
                  <a:schemeClr val="bg1">
                    <a:lumMod val="95000"/>
                    <a:alpha val="23000"/>
                  </a:schemeClr>
                </a:solidFill>
                <a:latin typeface="JetBrains Mono Regular" panose="02000009000000000000" pitchFamily="49" charset="0"/>
                <a:cs typeface="JetBrains Mono Regular" panose="02000009000000000000" pitchFamily="49" charset="0"/>
              </a:rPr>
              <a:t>1</a:t>
            </a:r>
          </a:p>
        </p:txBody>
      </p:sp>
    </p:spTree>
    <p:extLst>
      <p:ext uri="{BB962C8B-B14F-4D97-AF65-F5344CB8AC3E}">
        <p14:creationId xmlns:p14="http://schemas.microsoft.com/office/powerpoint/2010/main" val="20740662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35" presetClass="path" presetSubtype="0" decel="100000" fill="hold" grpId="0" nodeType="withEffect">
                                  <p:stCondLst>
                                    <p:cond delay="0"/>
                                  </p:stCondLst>
                                  <p:childTnLst>
                                    <p:animMotion origin="layout" path="M 2.5E-6 -3.7037E-7 L -0.19649 0.00324 " pathEditMode="relative" rAng="0" ptsTypes="AA">
                                      <p:cBhvr>
                                        <p:cTn id="14" dur="800" fill="hold"/>
                                        <p:tgtEl>
                                          <p:spTgt spid="36"/>
                                        </p:tgtEl>
                                        <p:attrNameLst>
                                          <p:attrName>ppt_x</p:attrName>
                                          <p:attrName>ppt_y</p:attrName>
                                        </p:attrNameLst>
                                      </p:cBhvr>
                                      <p:rCtr x="-9831" y="162"/>
                                    </p:animMotion>
                                  </p:childTnLst>
                                </p:cTn>
                              </p:par>
                              <p:par>
                                <p:cTn id="15" presetID="10" presetClass="entr" presetSubtype="0" fill="hold" grpId="0" nodeType="withEffect">
                                  <p:stCondLst>
                                    <p:cond delay="500"/>
                                  </p:stCondLst>
                                  <p:childTnLst>
                                    <p:set>
                                      <p:cBhvr>
                                        <p:cTn id="16" dur="1" fill="hold">
                                          <p:stCondLst>
                                            <p:cond delay="0"/>
                                          </p:stCondLst>
                                        </p:cTn>
                                        <p:tgtEl>
                                          <p:spTgt spid="74"/>
                                        </p:tgtEl>
                                        <p:attrNameLst>
                                          <p:attrName>style.visibility</p:attrName>
                                        </p:attrNameLst>
                                      </p:cBhvr>
                                      <p:to>
                                        <p:strVal val="visible"/>
                                      </p:to>
                                    </p:set>
                                    <p:animEffect transition="in" filter="fade">
                                      <p:cBhvr>
                                        <p:cTn id="17" dur="500"/>
                                        <p:tgtEl>
                                          <p:spTgt spid="7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5"/>
                                        </p:tgtEl>
                                        <p:attrNameLst>
                                          <p:attrName>style.visibility</p:attrName>
                                        </p:attrNameLst>
                                      </p:cBhvr>
                                      <p:to>
                                        <p:strVal val="visible"/>
                                      </p:to>
                                    </p:set>
                                    <p:animEffect transition="in" filter="fade">
                                      <p:cBhvr>
                                        <p:cTn id="22" dur="500"/>
                                        <p:tgtEl>
                                          <p:spTgt spid="75"/>
                                        </p:tgtEl>
                                      </p:cBhvr>
                                    </p:animEffect>
                                  </p:childTnLst>
                                </p:cTn>
                              </p:par>
                              <p:par>
                                <p:cTn id="23" presetID="10" presetClass="entr" presetSubtype="0" fill="hold" grpId="0" nodeType="withEffect">
                                  <p:stCondLst>
                                    <p:cond delay="0"/>
                                  </p:stCondLst>
                                  <p:iterate type="lt">
                                    <p:tmPct val="10000"/>
                                  </p:iterate>
                                  <p:childTnLst>
                                    <p:set>
                                      <p:cBhvr>
                                        <p:cTn id="24" dur="1" fill="hold">
                                          <p:stCondLst>
                                            <p:cond delay="0"/>
                                          </p:stCondLst>
                                        </p:cTn>
                                        <p:tgtEl>
                                          <p:spTgt spid="2"/>
                                        </p:tgtEl>
                                        <p:attrNameLst>
                                          <p:attrName>style.visibility</p:attrName>
                                        </p:attrNameLst>
                                      </p:cBhvr>
                                      <p:to>
                                        <p:strVal val="visible"/>
                                      </p:to>
                                    </p:set>
                                    <p:animEffect transition="in" filter="fade">
                                      <p:cBhvr>
                                        <p:cTn id="25" dur="500"/>
                                        <p:tgtEl>
                                          <p:spTgt spid="2"/>
                                        </p:tgtEl>
                                      </p:cBhvr>
                                    </p:animEffect>
                                  </p:childTnLst>
                                </p:cTn>
                              </p:par>
                              <p:par>
                                <p:cTn id="26" presetID="22" presetClass="entr" presetSubtype="2" fill="hold" grpId="0" nodeType="withEffect">
                                  <p:stCondLst>
                                    <p:cond delay="300"/>
                                  </p:stCondLst>
                                  <p:childTnLst>
                                    <p:set>
                                      <p:cBhvr>
                                        <p:cTn id="27" dur="1" fill="hold">
                                          <p:stCondLst>
                                            <p:cond delay="0"/>
                                          </p:stCondLst>
                                        </p:cTn>
                                        <p:tgtEl>
                                          <p:spTgt spid="6"/>
                                        </p:tgtEl>
                                        <p:attrNameLst>
                                          <p:attrName>style.visibility</p:attrName>
                                        </p:attrNameLst>
                                      </p:cBhvr>
                                      <p:to>
                                        <p:strVal val="visible"/>
                                      </p:to>
                                    </p:set>
                                    <p:animEffect transition="in" filter="wipe(right)">
                                      <p:cBhvr>
                                        <p:cTn id="28" dur="500"/>
                                        <p:tgtEl>
                                          <p:spTgt spid="6"/>
                                        </p:tgtEl>
                                      </p:cBhvr>
                                    </p:animEffect>
                                  </p:childTnLst>
                                </p:cTn>
                              </p:par>
                              <p:par>
                                <p:cTn id="29" presetID="10" presetClass="entr" presetSubtype="0" fill="hold" grpId="0" nodeType="withEffect">
                                  <p:stCondLst>
                                    <p:cond delay="300"/>
                                  </p:stCondLst>
                                  <p:iterate type="lt">
                                    <p:tmPct val="10000"/>
                                  </p:iterate>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77"/>
                                        </p:tgtEl>
                                        <p:attrNameLst>
                                          <p:attrName>style.visibility</p:attrName>
                                        </p:attrNameLst>
                                      </p:cBhvr>
                                      <p:to>
                                        <p:strVal val="visible"/>
                                      </p:to>
                                    </p:set>
                                    <p:animEffect transition="in" filter="fade">
                                      <p:cBhvr>
                                        <p:cTn id="36"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74" grpId="0"/>
      <p:bldP spid="75" grpId="0"/>
      <p:bldP spid="77" grpId="0"/>
      <p:bldP spid="2" grpId="0" animBg="1"/>
      <p:bldP spid="5" grpId="0"/>
      <p:bldP spid="6" grpId="0" animBg="1"/>
      <p:bldP spid="3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ADCB1D2-71BF-4442-85AC-20706F44BBA0}"/>
              </a:ext>
            </a:extLst>
          </p:cNvPr>
          <p:cNvSpPr/>
          <p:nvPr/>
        </p:nvSpPr>
        <p:spPr>
          <a:xfrm>
            <a:off x="1815" y="1731"/>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16" name="Credit MAIN">
            <a:extLst>
              <a:ext uri="{FF2B5EF4-FFF2-40B4-BE49-F238E27FC236}">
                <a16:creationId xmlns:a16="http://schemas.microsoft.com/office/drawing/2014/main" id="{2518DECB-C7B9-41A5-9FB6-89C9AA3086AA}"/>
              </a:ext>
            </a:extLst>
          </p:cNvPr>
          <p:cNvSpPr txBox="1"/>
          <p:nvPr/>
        </p:nvSpPr>
        <p:spPr>
          <a:xfrm>
            <a:off x="50878" y="6420549"/>
            <a:ext cx="2235122"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Vũ</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Thùy</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Dương</a:t>
            </a:r>
            <a:endParaRPr lang="en-US" dirty="0">
              <a:solidFill>
                <a:schemeClr val="bg1">
                  <a:lumMod val="95000"/>
                  <a:alpha val="46000"/>
                </a:schemeClr>
              </a:solidFill>
            </a:endParaRPr>
          </a:p>
        </p:txBody>
      </p:sp>
      <p:sp>
        <p:nvSpPr>
          <p:cNvPr id="11" name="Header">
            <a:extLst>
              <a:ext uri="{FF2B5EF4-FFF2-40B4-BE49-F238E27FC236}">
                <a16:creationId xmlns:a16="http://schemas.microsoft.com/office/drawing/2014/main" id="{6A39F230-06D2-4140-8DA2-357C0B9B6D12}"/>
              </a:ext>
            </a:extLst>
          </p:cNvPr>
          <p:cNvSpPr txBox="1"/>
          <p:nvPr/>
        </p:nvSpPr>
        <p:spPr>
          <a:xfrm>
            <a:off x="50878" y="68119"/>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7" name="Footer: Part">
            <a:extLst>
              <a:ext uri="{FF2B5EF4-FFF2-40B4-BE49-F238E27FC236}">
                <a16:creationId xmlns:a16="http://schemas.microsoft.com/office/drawing/2014/main" id="{553347E6-1341-4BA1-A396-FC4741F3FAF1}"/>
              </a:ext>
            </a:extLst>
          </p:cNvPr>
          <p:cNvSpPr txBox="1"/>
          <p:nvPr/>
        </p:nvSpPr>
        <p:spPr>
          <a:xfrm>
            <a:off x="10236201" y="6413178"/>
            <a:ext cx="1883702" cy="369332"/>
          </a:xfrm>
          <a:prstGeom prst="rect">
            <a:avLst/>
          </a:prstGeom>
          <a:noFill/>
        </p:spPr>
        <p:txBody>
          <a:bodyPr wrap="square" rtlCol="0">
            <a:spAutoFit/>
          </a:bodyPr>
          <a:lstStyle/>
          <a:p>
            <a:r>
              <a:rPr lang="en-US" dirty="0" err="1">
                <a:solidFill>
                  <a:schemeClr val="bg1">
                    <a:lumMod val="95000"/>
                  </a:schemeClr>
                </a:solidFill>
                <a:latin typeface="JetBrains Mono Regular" panose="02000009000000000000" pitchFamily="49" charset="0"/>
                <a:cs typeface="JetBrains Mono Regular" panose="02000009000000000000" pitchFamily="49" charset="0"/>
              </a:rPr>
              <a:t>Danh</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sách</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kề</a:t>
            </a:r>
            <a:endParaRPr lang="en-US" dirty="0">
              <a:solidFill>
                <a:schemeClr val="bg1">
                  <a:lumMod val="95000"/>
                </a:schemeClr>
              </a:solidFill>
              <a:latin typeface="JetBrains Mono Regular" panose="02000009000000000000" pitchFamily="49" charset="0"/>
              <a:cs typeface="JetBrains Mono Regular" panose="02000009000000000000" pitchFamily="49" charset="0"/>
            </a:endParaRPr>
          </a:p>
        </p:txBody>
      </p:sp>
      <p:sp>
        <p:nvSpPr>
          <p:cNvPr id="19" name="Footer: Title">
            <a:extLst>
              <a:ext uri="{FF2B5EF4-FFF2-40B4-BE49-F238E27FC236}">
                <a16:creationId xmlns:a16="http://schemas.microsoft.com/office/drawing/2014/main" id="{FD144244-98B6-4C54-A114-16CD65E0D522}"/>
              </a:ext>
            </a:extLst>
          </p:cNvPr>
          <p:cNvSpPr txBox="1"/>
          <p:nvPr/>
        </p:nvSpPr>
        <p:spPr>
          <a:xfrm>
            <a:off x="9184132" y="6414047"/>
            <a:ext cx="1160019"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Light" panose="02000009000000000000" pitchFamily="49" charset="0"/>
                <a:cs typeface="JetBrains Mono Light" panose="02000009000000000000" pitchFamily="49" charset="0"/>
              </a:rPr>
              <a:t>:</a:t>
            </a:r>
          </a:p>
        </p:txBody>
      </p:sp>
      <p:sp>
        <p:nvSpPr>
          <p:cNvPr id="25" name="PAGE NUM 0">
            <a:extLst>
              <a:ext uri="{FF2B5EF4-FFF2-40B4-BE49-F238E27FC236}">
                <a16:creationId xmlns:a16="http://schemas.microsoft.com/office/drawing/2014/main" id="{CA8E8643-0820-44FC-9D06-02F2A0A63536}"/>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lumMod val="50000"/>
                  </a:schemeClr>
                </a:solidFill>
                <a:latin typeface="JetBrains Mono Light" panose="02000009000000000000" pitchFamily="49" charset="0"/>
                <a:cs typeface="JetBrains Mono Light" panose="02000009000000000000" pitchFamily="49" charset="0"/>
              </a:rPr>
              <a:t>0</a:t>
            </a:r>
            <a:endParaRPr lang="en-US" dirty="0">
              <a:solidFill>
                <a:schemeClr val="bg1"/>
              </a:solidFill>
              <a:latin typeface="JetBrains Mono Light" panose="02000009000000000000" pitchFamily="49" charset="0"/>
              <a:cs typeface="JetBrains Mono Light" panose="02000009000000000000" pitchFamily="49" charset="0"/>
            </a:endParaRPr>
          </a:p>
        </p:txBody>
      </p:sp>
      <p:sp>
        <p:nvSpPr>
          <p:cNvPr id="26" name="PAGE NUM 1">
            <a:extLst>
              <a:ext uri="{FF2B5EF4-FFF2-40B4-BE49-F238E27FC236}">
                <a16:creationId xmlns:a16="http://schemas.microsoft.com/office/drawing/2014/main" id="{6BF8CF33-13C7-458E-A4F5-0A19700195D0}"/>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6</a:t>
            </a:r>
            <a:endParaRPr lang="en-US" dirty="0"/>
          </a:p>
        </p:txBody>
      </p:sp>
      <p:sp>
        <p:nvSpPr>
          <p:cNvPr id="3" name="TextBox 2">
            <a:extLst>
              <a:ext uri="{FF2B5EF4-FFF2-40B4-BE49-F238E27FC236}">
                <a16:creationId xmlns:a16="http://schemas.microsoft.com/office/drawing/2014/main" id="{0DCF76D3-76B8-418E-89D0-5A5DE06812BC}"/>
              </a:ext>
            </a:extLst>
          </p:cNvPr>
          <p:cNvSpPr txBox="1"/>
          <p:nvPr/>
        </p:nvSpPr>
        <p:spPr>
          <a:xfrm>
            <a:off x="723679" y="1048729"/>
            <a:ext cx="1867121" cy="369332"/>
          </a:xfrm>
          <a:prstGeom prst="rect">
            <a:avLst/>
          </a:prstGeom>
          <a:solidFill>
            <a:schemeClr val="bg1"/>
          </a:solid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Danh</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sách</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kề</a:t>
            </a:r>
            <a:endParaRPr lang="en-US" dirty="0">
              <a:latin typeface="JetBrains Mono Regular" panose="02000009000000000000" pitchFamily="49" charset="0"/>
              <a:cs typeface="JetBrains Mono Regular" panose="02000009000000000000" pitchFamily="49" charset="0"/>
            </a:endParaRPr>
          </a:p>
        </p:txBody>
      </p:sp>
      <p:sp>
        <p:nvSpPr>
          <p:cNvPr id="4" name="TextBox 3">
            <a:extLst>
              <a:ext uri="{FF2B5EF4-FFF2-40B4-BE49-F238E27FC236}">
                <a16:creationId xmlns:a16="http://schemas.microsoft.com/office/drawing/2014/main" id="{B2B46108-81E9-491C-B353-2C151D70D107}"/>
              </a:ext>
            </a:extLst>
          </p:cNvPr>
          <p:cNvSpPr txBox="1"/>
          <p:nvPr/>
        </p:nvSpPr>
        <p:spPr>
          <a:xfrm>
            <a:off x="603738" y="575950"/>
            <a:ext cx="3827586" cy="646331"/>
          </a:xfrm>
          <a:prstGeom prst="rect">
            <a:avLst/>
          </a:prstGeom>
          <a:noFill/>
        </p:spPr>
        <p:txBody>
          <a:bodyPr wrap="square" rtlCol="0">
            <a:spAutoFit/>
          </a:bodyPr>
          <a:lstStyle/>
          <a:p>
            <a:r>
              <a:rPr lang="en-US" sz="1800" dirty="0" err="1">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Các</a:t>
            </a:r>
            <a:r>
              <a:rPr lang="en-US" sz="1800" dirty="0">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cách</a:t>
            </a:r>
            <a:r>
              <a:rPr lang="en-US" sz="1800" dirty="0">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biểu</a:t>
            </a:r>
            <a:r>
              <a:rPr lang="en-US" sz="1800" dirty="0">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diễn</a:t>
            </a:r>
            <a:r>
              <a:rPr lang="en-US" sz="1800" dirty="0">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đồ</a:t>
            </a:r>
            <a:r>
              <a:rPr lang="en-US" sz="1800" dirty="0">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thị</a:t>
            </a:r>
            <a:r>
              <a:rPr lang="en-US" sz="1800" dirty="0">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a:t>
            </a:r>
            <a:endParaRPr lang="en-US" sz="1800" dirty="0">
              <a:solidFill>
                <a:schemeClr val="bg1">
                  <a:lumMod val="95000"/>
                </a:schemeClr>
              </a:solidFill>
              <a:effectLst/>
              <a:latin typeface="JetBrains Mono Light" panose="02000009000000000000" pitchFamily="49" charset="0"/>
              <a:cs typeface="JetBrains Mono Light" panose="02000009000000000000" pitchFamily="49" charset="0"/>
            </a:endParaRPr>
          </a:p>
          <a:p>
            <a:endParaRPr lang="en-US" dirty="0">
              <a:solidFill>
                <a:schemeClr val="bg1">
                  <a:lumMod val="95000"/>
                </a:schemeClr>
              </a:solidFill>
              <a:latin typeface="JetBrains Mono Light" panose="02000009000000000000" pitchFamily="49" charset="0"/>
              <a:cs typeface="JetBrains Mono Light" panose="02000009000000000000" pitchFamily="49" charset="0"/>
            </a:endParaRPr>
          </a:p>
        </p:txBody>
      </p:sp>
      <p:sp>
        <p:nvSpPr>
          <p:cNvPr id="81" name="TextBox 80">
            <a:extLst>
              <a:ext uri="{FF2B5EF4-FFF2-40B4-BE49-F238E27FC236}">
                <a16:creationId xmlns:a16="http://schemas.microsoft.com/office/drawing/2014/main" id="{FD5956F9-5EF1-4CAD-9AAA-D3C01AA2DDFB}"/>
              </a:ext>
            </a:extLst>
          </p:cNvPr>
          <p:cNvSpPr txBox="1"/>
          <p:nvPr/>
        </p:nvSpPr>
        <p:spPr>
          <a:xfrm>
            <a:off x="12089252" y="-157000"/>
            <a:ext cx="2607859" cy="4708981"/>
          </a:xfrm>
          <a:prstGeom prst="rect">
            <a:avLst/>
          </a:prstGeom>
          <a:noFill/>
        </p:spPr>
        <p:txBody>
          <a:bodyPr wrap="square" rtlCol="0">
            <a:spAutoFit/>
          </a:bodyPr>
          <a:lstStyle/>
          <a:p>
            <a:r>
              <a:rPr lang="en-US" sz="30000" dirty="0">
                <a:solidFill>
                  <a:schemeClr val="bg1">
                    <a:lumMod val="95000"/>
                    <a:alpha val="23000"/>
                  </a:schemeClr>
                </a:solidFill>
                <a:latin typeface="JetBrains Mono Regular" panose="02000009000000000000" pitchFamily="49" charset="0"/>
                <a:cs typeface="JetBrains Mono Regular" panose="02000009000000000000" pitchFamily="49" charset="0"/>
              </a:rPr>
              <a:t>1</a:t>
            </a:r>
          </a:p>
        </p:txBody>
      </p:sp>
      <p:sp>
        <p:nvSpPr>
          <p:cNvPr id="34" name="TextBox 80-2">
            <a:extLst>
              <a:ext uri="{FF2B5EF4-FFF2-40B4-BE49-F238E27FC236}">
                <a16:creationId xmlns:a16="http://schemas.microsoft.com/office/drawing/2014/main" id="{54635654-7014-4635-A396-5D59BCCB1AA6}"/>
              </a:ext>
            </a:extLst>
          </p:cNvPr>
          <p:cNvSpPr txBox="1"/>
          <p:nvPr/>
        </p:nvSpPr>
        <p:spPr>
          <a:xfrm>
            <a:off x="9787946" y="-154940"/>
            <a:ext cx="2607859" cy="4708981"/>
          </a:xfrm>
          <a:prstGeom prst="rect">
            <a:avLst/>
          </a:prstGeom>
          <a:noFill/>
        </p:spPr>
        <p:txBody>
          <a:bodyPr wrap="square" rtlCol="0">
            <a:spAutoFit/>
          </a:bodyPr>
          <a:lstStyle/>
          <a:p>
            <a:r>
              <a:rPr lang="en-US" sz="30000" dirty="0">
                <a:solidFill>
                  <a:schemeClr val="bg1">
                    <a:lumMod val="95000"/>
                    <a:alpha val="23000"/>
                  </a:schemeClr>
                </a:solidFill>
                <a:latin typeface="JetBrains Mono Regular" panose="02000009000000000000" pitchFamily="49" charset="0"/>
                <a:cs typeface="JetBrains Mono Regular" panose="02000009000000000000" pitchFamily="49" charset="0"/>
              </a:rPr>
              <a:t>2</a:t>
            </a:r>
          </a:p>
        </p:txBody>
      </p:sp>
      <p:sp>
        <p:nvSpPr>
          <p:cNvPr id="2" name="TextBox 1">
            <a:extLst>
              <a:ext uri="{FF2B5EF4-FFF2-40B4-BE49-F238E27FC236}">
                <a16:creationId xmlns:a16="http://schemas.microsoft.com/office/drawing/2014/main" id="{AE9ED8D0-81F3-45FC-B98F-67AFF26CDD03}"/>
              </a:ext>
            </a:extLst>
          </p:cNvPr>
          <p:cNvSpPr txBox="1"/>
          <p:nvPr/>
        </p:nvSpPr>
        <p:spPr>
          <a:xfrm>
            <a:off x="933339" y="1877753"/>
            <a:ext cx="3213321" cy="923330"/>
          </a:xfrm>
          <a:prstGeom prst="rect">
            <a:avLst/>
          </a:prstGeom>
          <a:noFill/>
        </p:spPr>
        <p:txBody>
          <a:bodyPr wrap="square" rtlCol="0">
            <a:spAutoFit/>
          </a:bodyPr>
          <a:lstStyle/>
          <a:p>
            <a:r>
              <a:rPr lang="en-US" dirty="0">
                <a:solidFill>
                  <a:schemeClr val="bg1">
                    <a:lumMod val="95000"/>
                  </a:schemeClr>
                </a:solidFill>
                <a:latin typeface="JetBrains Mono Light" panose="02000009000000000000" pitchFamily="49" charset="0"/>
                <a:ea typeface="Calibri" panose="020F0502020204030204" pitchFamily="34" charset="0"/>
                <a:cs typeface="JetBrains Mono Light" panose="02000009000000000000" pitchFamily="49" charset="0"/>
              </a:rPr>
              <a:t>B</a:t>
            </a:r>
            <a:r>
              <a:rPr lang="vi-VN" sz="1800" dirty="0">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iểu diễn đồ thị dưới dạng một mảng các danh sách liên kết. </a:t>
            </a:r>
            <a:endParaRPr lang="en-US" dirty="0">
              <a:solidFill>
                <a:schemeClr val="bg1">
                  <a:lumMod val="95000"/>
                </a:schemeClr>
              </a:solidFill>
              <a:latin typeface="JetBrains Mono Light" panose="02000009000000000000" pitchFamily="49" charset="0"/>
              <a:cs typeface="JetBrains Mono Light" panose="02000009000000000000" pitchFamily="49" charset="0"/>
            </a:endParaRPr>
          </a:p>
        </p:txBody>
      </p:sp>
      <p:sp>
        <p:nvSpPr>
          <p:cNvPr id="5" name="TextBox 4">
            <a:extLst>
              <a:ext uri="{FF2B5EF4-FFF2-40B4-BE49-F238E27FC236}">
                <a16:creationId xmlns:a16="http://schemas.microsoft.com/office/drawing/2014/main" id="{DFAC1AD6-C72C-467E-90EB-630BE1CC9C63}"/>
              </a:ext>
            </a:extLst>
          </p:cNvPr>
          <p:cNvSpPr txBox="1"/>
          <p:nvPr/>
        </p:nvSpPr>
        <p:spPr>
          <a:xfrm>
            <a:off x="8068224" y="4020634"/>
            <a:ext cx="3772711" cy="1754326"/>
          </a:xfrm>
          <a:prstGeom prst="rect">
            <a:avLst/>
          </a:prstGeom>
          <a:noFill/>
        </p:spPr>
        <p:txBody>
          <a:bodyPr wrap="square" rtlCol="0">
            <a:spAutoFit/>
          </a:bodyPr>
          <a:lstStyle/>
          <a:p>
            <a:r>
              <a:rPr lang="vi-VN" sz="1800" dirty="0">
                <a:solidFill>
                  <a:schemeClr val="bg1">
                    <a:lumMod val="95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Trong đó, chỉ số mảng đại diện cho đỉnh của đồ thị và các phần tử trong danh sách liên kết của đỉnh đó là các đỉnh có kết nối với đỉnh đó.</a:t>
            </a:r>
            <a:endParaRPr lang="vi-VN" sz="1800" dirty="0">
              <a:solidFill>
                <a:schemeClr val="bg1">
                  <a:lumMod val="95000"/>
                </a:schemeClr>
              </a:solidFill>
              <a:effectLst/>
              <a:latin typeface="JetBrains Mono Light" panose="02000009000000000000" pitchFamily="49" charset="0"/>
              <a:cs typeface="JetBrains Mono Light" panose="02000009000000000000" pitchFamily="49" charset="0"/>
            </a:endParaRPr>
          </a:p>
        </p:txBody>
      </p:sp>
      <p:cxnSp>
        <p:nvCxnSpPr>
          <p:cNvPr id="9" name="Straight Arrow Connector 8">
            <a:extLst>
              <a:ext uri="{FF2B5EF4-FFF2-40B4-BE49-F238E27FC236}">
                <a16:creationId xmlns:a16="http://schemas.microsoft.com/office/drawing/2014/main" id="{81E8321C-AF00-4312-BA1F-48AF9A15E8F0}"/>
              </a:ext>
            </a:extLst>
          </p:cNvPr>
          <p:cNvCxnSpPr>
            <a:stCxn id="7" idx="3"/>
            <a:endCxn id="52" idx="1"/>
          </p:cNvCxnSpPr>
          <p:nvPr/>
        </p:nvCxnSpPr>
        <p:spPr>
          <a:xfrm flipV="1">
            <a:off x="2492683" y="3691417"/>
            <a:ext cx="677309" cy="1"/>
          </a:xfrm>
          <a:prstGeom prst="straightConnector1">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AF0E2F54-9B1F-4163-949E-2BA492BADE1D}"/>
              </a:ext>
            </a:extLst>
          </p:cNvPr>
          <p:cNvCxnSpPr>
            <a:cxnSpLocks/>
            <a:stCxn id="40" idx="3"/>
            <a:endCxn id="53" idx="1"/>
          </p:cNvCxnSpPr>
          <p:nvPr/>
        </p:nvCxnSpPr>
        <p:spPr>
          <a:xfrm flipV="1">
            <a:off x="2493442" y="4150423"/>
            <a:ext cx="675495" cy="1"/>
          </a:xfrm>
          <a:prstGeom prst="straightConnector1">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99AF092A-D8F4-4941-A585-7DA3B751EEAB}"/>
              </a:ext>
            </a:extLst>
          </p:cNvPr>
          <p:cNvCxnSpPr>
            <a:cxnSpLocks/>
            <a:stCxn id="42" idx="3"/>
            <a:endCxn id="54" idx="1"/>
          </p:cNvCxnSpPr>
          <p:nvPr/>
        </p:nvCxnSpPr>
        <p:spPr>
          <a:xfrm flipV="1">
            <a:off x="2493739" y="4610919"/>
            <a:ext cx="675495" cy="1"/>
          </a:xfrm>
          <a:prstGeom prst="straightConnector1">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08495A75-404F-405A-B2D9-AE7129DBC268}"/>
              </a:ext>
            </a:extLst>
          </p:cNvPr>
          <p:cNvCxnSpPr>
            <a:cxnSpLocks/>
            <a:stCxn id="44" idx="3"/>
            <a:endCxn id="55" idx="1"/>
          </p:cNvCxnSpPr>
          <p:nvPr/>
        </p:nvCxnSpPr>
        <p:spPr>
          <a:xfrm flipV="1">
            <a:off x="2493432" y="5072585"/>
            <a:ext cx="675495" cy="1"/>
          </a:xfrm>
          <a:prstGeom prst="straightConnector1">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1B8EFC90-D9DE-4AE0-8651-F290E46BBB81}"/>
              </a:ext>
            </a:extLst>
          </p:cNvPr>
          <p:cNvCxnSpPr>
            <a:cxnSpLocks/>
            <a:stCxn id="52" idx="3"/>
            <a:endCxn id="62" idx="1"/>
          </p:cNvCxnSpPr>
          <p:nvPr/>
        </p:nvCxnSpPr>
        <p:spPr>
          <a:xfrm>
            <a:off x="4084392" y="3691417"/>
            <a:ext cx="676550" cy="0"/>
          </a:xfrm>
          <a:prstGeom prst="straightConnector1">
            <a:avLst/>
          </a:prstGeom>
          <a:ln w="3810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E956DD2F-BD8A-461F-BF2F-8C24CC67DAE9}"/>
              </a:ext>
            </a:extLst>
          </p:cNvPr>
          <p:cNvCxnSpPr>
            <a:cxnSpLocks/>
            <a:stCxn id="53" idx="3"/>
            <a:endCxn id="66" idx="1"/>
          </p:cNvCxnSpPr>
          <p:nvPr/>
        </p:nvCxnSpPr>
        <p:spPr>
          <a:xfrm>
            <a:off x="4083337" y="4150423"/>
            <a:ext cx="676550" cy="0"/>
          </a:xfrm>
          <a:prstGeom prst="straightConnector1">
            <a:avLst/>
          </a:prstGeom>
          <a:ln w="3810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91F1EB0C-1FE5-418F-A89E-4B68CF373AF3}"/>
              </a:ext>
            </a:extLst>
          </p:cNvPr>
          <p:cNvCxnSpPr>
            <a:cxnSpLocks/>
            <a:stCxn id="54" idx="3"/>
            <a:endCxn id="69" idx="1"/>
          </p:cNvCxnSpPr>
          <p:nvPr/>
        </p:nvCxnSpPr>
        <p:spPr>
          <a:xfrm flipV="1">
            <a:off x="4083634" y="4610918"/>
            <a:ext cx="676550" cy="1"/>
          </a:xfrm>
          <a:prstGeom prst="straightConnector1">
            <a:avLst/>
          </a:prstGeom>
          <a:ln w="3810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1125F6AA-FDEE-4B7E-B39C-B59E52ADF046}"/>
              </a:ext>
            </a:extLst>
          </p:cNvPr>
          <p:cNvCxnSpPr>
            <a:cxnSpLocks/>
            <a:stCxn id="62" idx="3"/>
            <a:endCxn id="70" idx="1"/>
          </p:cNvCxnSpPr>
          <p:nvPr/>
        </p:nvCxnSpPr>
        <p:spPr>
          <a:xfrm flipV="1">
            <a:off x="5675342" y="3683062"/>
            <a:ext cx="675198" cy="8355"/>
          </a:xfrm>
          <a:prstGeom prst="straightConnector1">
            <a:avLst/>
          </a:prstGeom>
          <a:ln w="3810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58C1B1F-00BA-454D-95F6-5309CD4BB55F}"/>
              </a:ext>
            </a:extLst>
          </p:cNvPr>
          <p:cNvCxnSpPr>
            <a:cxnSpLocks/>
          </p:cNvCxnSpPr>
          <p:nvPr/>
        </p:nvCxnSpPr>
        <p:spPr>
          <a:xfrm flipV="1">
            <a:off x="4758515" y="4839091"/>
            <a:ext cx="915651" cy="460496"/>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17038CA-E5FD-4870-95DF-430D36522430}"/>
              </a:ext>
            </a:extLst>
          </p:cNvPr>
          <p:cNvCxnSpPr>
            <a:cxnSpLocks/>
          </p:cNvCxnSpPr>
          <p:nvPr/>
        </p:nvCxnSpPr>
        <p:spPr>
          <a:xfrm flipV="1">
            <a:off x="6348234" y="3914601"/>
            <a:ext cx="915651" cy="460496"/>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BBE952F6-AA70-44D1-AB07-53EE9244E604}"/>
              </a:ext>
            </a:extLst>
          </p:cNvPr>
          <p:cNvSpPr txBox="1"/>
          <p:nvPr/>
        </p:nvSpPr>
        <p:spPr>
          <a:xfrm>
            <a:off x="6349485" y="3917537"/>
            <a:ext cx="914400" cy="461665"/>
          </a:xfrm>
          <a:prstGeom prst="rect">
            <a:avLst/>
          </a:prstGeom>
          <a:noFill/>
          <a:ln>
            <a:solidFill>
              <a:schemeClr val="bg1">
                <a:lumMod val="50000"/>
              </a:schemeClr>
            </a:solidFill>
          </a:ln>
        </p:spPr>
        <p:txBody>
          <a:bodyPr wrap="square" rtlCol="0">
            <a:spAutoFit/>
          </a:bodyPr>
          <a:lstStyle/>
          <a:p>
            <a:pPr algn="r"/>
            <a:endParaRPr lang="en-US" sz="2400" dirty="0">
              <a:solidFill>
                <a:schemeClr val="bg1">
                  <a:lumMod val="95000"/>
                </a:schemeClr>
              </a:solidFill>
              <a:latin typeface="JetBrains Mono Light" panose="02000009000000000000" pitchFamily="49" charset="0"/>
              <a:cs typeface="JetBrains Mono Light" panose="02000009000000000000" pitchFamily="49" charset="0"/>
            </a:endParaRPr>
          </a:p>
        </p:txBody>
      </p:sp>
      <p:cxnSp>
        <p:nvCxnSpPr>
          <p:cNvPr id="87" name="Straight Connector 86">
            <a:extLst>
              <a:ext uri="{FF2B5EF4-FFF2-40B4-BE49-F238E27FC236}">
                <a16:creationId xmlns:a16="http://schemas.microsoft.com/office/drawing/2014/main" id="{E0758749-862D-40AD-A753-7DF635824564}"/>
              </a:ext>
            </a:extLst>
          </p:cNvPr>
          <p:cNvCxnSpPr>
            <a:cxnSpLocks/>
            <a:stCxn id="66" idx="3"/>
            <a:endCxn id="86" idx="1"/>
          </p:cNvCxnSpPr>
          <p:nvPr/>
        </p:nvCxnSpPr>
        <p:spPr>
          <a:xfrm flipV="1">
            <a:off x="5674287" y="4148370"/>
            <a:ext cx="675198" cy="205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180E125-3636-4AF9-9D29-8A4308DBB7A9}"/>
              </a:ext>
            </a:extLst>
          </p:cNvPr>
          <p:cNvCxnSpPr>
            <a:cxnSpLocks/>
          </p:cNvCxnSpPr>
          <p:nvPr/>
        </p:nvCxnSpPr>
        <p:spPr>
          <a:xfrm flipV="1">
            <a:off x="6348234" y="4374389"/>
            <a:ext cx="915651" cy="460496"/>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D16476D3-13B5-4970-9F50-0D2A7A52F885}"/>
              </a:ext>
            </a:extLst>
          </p:cNvPr>
          <p:cNvSpPr txBox="1"/>
          <p:nvPr/>
        </p:nvSpPr>
        <p:spPr>
          <a:xfrm>
            <a:off x="6349485" y="4377325"/>
            <a:ext cx="914400" cy="461665"/>
          </a:xfrm>
          <a:prstGeom prst="rect">
            <a:avLst/>
          </a:prstGeom>
          <a:noFill/>
          <a:ln>
            <a:solidFill>
              <a:schemeClr val="bg1">
                <a:lumMod val="50000"/>
              </a:schemeClr>
            </a:solidFill>
          </a:ln>
        </p:spPr>
        <p:txBody>
          <a:bodyPr wrap="square" rtlCol="0">
            <a:spAutoFit/>
          </a:bodyPr>
          <a:lstStyle/>
          <a:p>
            <a:pPr algn="r"/>
            <a:endParaRPr lang="en-US" sz="2400" dirty="0">
              <a:solidFill>
                <a:schemeClr val="bg1">
                  <a:lumMod val="95000"/>
                </a:schemeClr>
              </a:solidFill>
              <a:latin typeface="JetBrains Mono Light" panose="02000009000000000000" pitchFamily="49" charset="0"/>
              <a:cs typeface="JetBrains Mono Light" panose="02000009000000000000" pitchFamily="49" charset="0"/>
            </a:endParaRPr>
          </a:p>
        </p:txBody>
      </p:sp>
      <p:cxnSp>
        <p:nvCxnSpPr>
          <p:cNvPr id="98" name="Straight Connector 97">
            <a:extLst>
              <a:ext uri="{FF2B5EF4-FFF2-40B4-BE49-F238E27FC236}">
                <a16:creationId xmlns:a16="http://schemas.microsoft.com/office/drawing/2014/main" id="{2F08DC80-37F7-4CFC-911E-4F475508688F}"/>
              </a:ext>
            </a:extLst>
          </p:cNvPr>
          <p:cNvCxnSpPr>
            <a:cxnSpLocks/>
            <a:stCxn id="69" idx="3"/>
            <a:endCxn id="97" idx="1"/>
          </p:cNvCxnSpPr>
          <p:nvPr/>
        </p:nvCxnSpPr>
        <p:spPr>
          <a:xfrm flipV="1">
            <a:off x="5674584" y="4608158"/>
            <a:ext cx="674901" cy="276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1782530C-BFDE-4155-A79E-F06C8F56F7FB}"/>
              </a:ext>
            </a:extLst>
          </p:cNvPr>
          <p:cNvCxnSpPr>
            <a:cxnSpLocks/>
          </p:cNvCxnSpPr>
          <p:nvPr/>
        </p:nvCxnSpPr>
        <p:spPr>
          <a:xfrm flipV="1">
            <a:off x="6348234" y="4838816"/>
            <a:ext cx="915651" cy="460496"/>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CA6CEB42-9073-450B-8A6D-C27486E47140}"/>
              </a:ext>
            </a:extLst>
          </p:cNvPr>
          <p:cNvSpPr txBox="1"/>
          <p:nvPr/>
        </p:nvSpPr>
        <p:spPr>
          <a:xfrm>
            <a:off x="6349485" y="4841752"/>
            <a:ext cx="914400" cy="461665"/>
          </a:xfrm>
          <a:prstGeom prst="rect">
            <a:avLst/>
          </a:prstGeom>
          <a:noFill/>
          <a:ln>
            <a:solidFill>
              <a:schemeClr val="bg1">
                <a:lumMod val="50000"/>
              </a:schemeClr>
            </a:solidFill>
          </a:ln>
        </p:spPr>
        <p:txBody>
          <a:bodyPr wrap="square" rtlCol="0">
            <a:spAutoFit/>
          </a:bodyPr>
          <a:lstStyle/>
          <a:p>
            <a:pPr algn="r"/>
            <a:endParaRPr lang="en-US" sz="2400" dirty="0">
              <a:solidFill>
                <a:schemeClr val="bg1">
                  <a:lumMod val="95000"/>
                </a:schemeClr>
              </a:solidFill>
              <a:latin typeface="JetBrains Mono Light" panose="02000009000000000000" pitchFamily="49" charset="0"/>
              <a:cs typeface="JetBrains Mono Light" panose="02000009000000000000" pitchFamily="49" charset="0"/>
            </a:endParaRPr>
          </a:p>
        </p:txBody>
      </p:sp>
      <p:cxnSp>
        <p:nvCxnSpPr>
          <p:cNvPr id="101" name="Straight Connector 100">
            <a:extLst>
              <a:ext uri="{FF2B5EF4-FFF2-40B4-BE49-F238E27FC236}">
                <a16:creationId xmlns:a16="http://schemas.microsoft.com/office/drawing/2014/main" id="{9D8A9892-35BD-4FC5-91DA-131600E69CB7}"/>
              </a:ext>
            </a:extLst>
          </p:cNvPr>
          <p:cNvCxnSpPr>
            <a:cxnSpLocks/>
            <a:stCxn id="38" idx="3"/>
            <a:endCxn id="100" idx="1"/>
          </p:cNvCxnSpPr>
          <p:nvPr/>
        </p:nvCxnSpPr>
        <p:spPr>
          <a:xfrm flipV="1">
            <a:off x="5674166" y="5072585"/>
            <a:ext cx="675319" cy="27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5C598C8C-179D-45D8-AC8E-7266881134EA}"/>
              </a:ext>
            </a:extLst>
          </p:cNvPr>
          <p:cNvSpPr txBox="1"/>
          <p:nvPr/>
        </p:nvSpPr>
        <p:spPr>
          <a:xfrm>
            <a:off x="4759766" y="4842027"/>
            <a:ext cx="914400" cy="461665"/>
          </a:xfrm>
          <a:prstGeom prst="rect">
            <a:avLst/>
          </a:prstGeom>
          <a:noFill/>
          <a:ln>
            <a:solidFill>
              <a:schemeClr val="bg1">
                <a:lumMod val="50000"/>
              </a:schemeClr>
            </a:solidFill>
          </a:ln>
        </p:spPr>
        <p:txBody>
          <a:bodyPr wrap="square" rtlCol="0">
            <a:spAutoFit/>
          </a:bodyPr>
          <a:lstStyle/>
          <a:p>
            <a:pPr algn="r"/>
            <a:endParaRPr lang="en-US" sz="2400" dirty="0">
              <a:solidFill>
                <a:schemeClr val="bg1">
                  <a:lumMod val="95000"/>
                </a:schemeClr>
              </a:solidFill>
              <a:latin typeface="JetBrains Mono Light" panose="02000009000000000000" pitchFamily="49" charset="0"/>
              <a:cs typeface="JetBrains Mono Light" panose="02000009000000000000" pitchFamily="49" charset="0"/>
            </a:endParaRPr>
          </a:p>
        </p:txBody>
      </p:sp>
      <p:cxnSp>
        <p:nvCxnSpPr>
          <p:cNvPr id="12" name="Straight Connector 11">
            <a:extLst>
              <a:ext uri="{FF2B5EF4-FFF2-40B4-BE49-F238E27FC236}">
                <a16:creationId xmlns:a16="http://schemas.microsoft.com/office/drawing/2014/main" id="{0BB7DA48-E8D3-4223-A8B4-6FF3B3E98B01}"/>
              </a:ext>
            </a:extLst>
          </p:cNvPr>
          <p:cNvCxnSpPr>
            <a:stCxn id="55" idx="3"/>
            <a:endCxn id="38" idx="1"/>
          </p:cNvCxnSpPr>
          <p:nvPr/>
        </p:nvCxnSpPr>
        <p:spPr>
          <a:xfrm flipV="1">
            <a:off x="4083327" y="5069924"/>
            <a:ext cx="668219" cy="266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E8343D8-B9C3-4D72-9265-FDB3FD28B3E8}"/>
              </a:ext>
            </a:extLst>
          </p:cNvPr>
          <p:cNvSpPr txBox="1"/>
          <p:nvPr/>
        </p:nvSpPr>
        <p:spPr>
          <a:xfrm>
            <a:off x="1578283" y="3460585"/>
            <a:ext cx="914400" cy="461665"/>
          </a:xfrm>
          <a:prstGeom prst="rect">
            <a:avLst/>
          </a:prstGeom>
          <a:noFill/>
          <a:ln>
            <a:solidFill>
              <a:schemeClr val="bg1"/>
            </a:solidFill>
          </a:ln>
        </p:spPr>
        <p:txBody>
          <a:bodyPr wrap="square" rtlCol="0">
            <a:spAutoFit/>
          </a:bodyPr>
          <a:lstStyle/>
          <a:p>
            <a:pPr algn="r"/>
            <a:r>
              <a:rPr lang="en-US" sz="2400" dirty="0">
                <a:solidFill>
                  <a:schemeClr val="bg1">
                    <a:lumMod val="95000"/>
                  </a:schemeClr>
                </a:solidFill>
                <a:latin typeface="JetBrains Mono Light" panose="02000009000000000000" pitchFamily="49" charset="0"/>
                <a:cs typeface="JetBrains Mono Light" panose="02000009000000000000" pitchFamily="49" charset="0"/>
              </a:rPr>
              <a:t>1</a:t>
            </a:r>
          </a:p>
        </p:txBody>
      </p:sp>
      <p:sp>
        <p:nvSpPr>
          <p:cNvPr id="40" name="TextBox 39">
            <a:extLst>
              <a:ext uri="{FF2B5EF4-FFF2-40B4-BE49-F238E27FC236}">
                <a16:creationId xmlns:a16="http://schemas.microsoft.com/office/drawing/2014/main" id="{AEE41CA6-6419-4788-8D23-6DA93259E052}"/>
              </a:ext>
            </a:extLst>
          </p:cNvPr>
          <p:cNvSpPr txBox="1"/>
          <p:nvPr/>
        </p:nvSpPr>
        <p:spPr>
          <a:xfrm>
            <a:off x="1579042" y="3919591"/>
            <a:ext cx="914400" cy="461665"/>
          </a:xfrm>
          <a:prstGeom prst="rect">
            <a:avLst/>
          </a:prstGeom>
          <a:noFill/>
          <a:ln>
            <a:solidFill>
              <a:schemeClr val="bg1"/>
            </a:solidFill>
          </a:ln>
        </p:spPr>
        <p:txBody>
          <a:bodyPr wrap="square" rtlCol="0">
            <a:spAutoFit/>
          </a:bodyPr>
          <a:lstStyle/>
          <a:p>
            <a:pPr algn="r"/>
            <a:r>
              <a:rPr lang="en-US" sz="2400" dirty="0">
                <a:solidFill>
                  <a:schemeClr val="bg1">
                    <a:lumMod val="95000"/>
                  </a:schemeClr>
                </a:solidFill>
                <a:latin typeface="JetBrains Mono Light" panose="02000009000000000000" pitchFamily="49" charset="0"/>
                <a:cs typeface="JetBrains Mono Light" panose="02000009000000000000" pitchFamily="49" charset="0"/>
              </a:rPr>
              <a:t>2</a:t>
            </a:r>
          </a:p>
        </p:txBody>
      </p:sp>
      <p:sp>
        <p:nvSpPr>
          <p:cNvPr id="42" name="TextBox 41">
            <a:extLst>
              <a:ext uri="{FF2B5EF4-FFF2-40B4-BE49-F238E27FC236}">
                <a16:creationId xmlns:a16="http://schemas.microsoft.com/office/drawing/2014/main" id="{1055712B-1622-4EF5-AF87-D1D469E8EFDF}"/>
              </a:ext>
            </a:extLst>
          </p:cNvPr>
          <p:cNvSpPr txBox="1"/>
          <p:nvPr/>
        </p:nvSpPr>
        <p:spPr>
          <a:xfrm>
            <a:off x="1579339" y="4380087"/>
            <a:ext cx="914400" cy="461665"/>
          </a:xfrm>
          <a:prstGeom prst="rect">
            <a:avLst/>
          </a:prstGeom>
          <a:noFill/>
          <a:ln>
            <a:solidFill>
              <a:schemeClr val="bg1"/>
            </a:solidFill>
          </a:ln>
        </p:spPr>
        <p:txBody>
          <a:bodyPr wrap="square" rtlCol="0">
            <a:spAutoFit/>
          </a:bodyPr>
          <a:lstStyle/>
          <a:p>
            <a:pPr algn="r"/>
            <a:r>
              <a:rPr lang="en-US" sz="2400" dirty="0">
                <a:solidFill>
                  <a:schemeClr val="bg1">
                    <a:lumMod val="95000"/>
                  </a:schemeClr>
                </a:solidFill>
                <a:latin typeface="JetBrains Mono Light" panose="02000009000000000000" pitchFamily="49" charset="0"/>
                <a:cs typeface="JetBrains Mono Light" panose="02000009000000000000" pitchFamily="49" charset="0"/>
              </a:rPr>
              <a:t>3</a:t>
            </a:r>
          </a:p>
        </p:txBody>
      </p:sp>
      <p:sp>
        <p:nvSpPr>
          <p:cNvPr id="44" name="TextBox 43">
            <a:extLst>
              <a:ext uri="{FF2B5EF4-FFF2-40B4-BE49-F238E27FC236}">
                <a16:creationId xmlns:a16="http://schemas.microsoft.com/office/drawing/2014/main" id="{F20AE632-C844-4A3F-B77A-E832B8520B8B}"/>
              </a:ext>
            </a:extLst>
          </p:cNvPr>
          <p:cNvSpPr txBox="1"/>
          <p:nvPr/>
        </p:nvSpPr>
        <p:spPr>
          <a:xfrm>
            <a:off x="1579032" y="4841753"/>
            <a:ext cx="914400" cy="461665"/>
          </a:xfrm>
          <a:prstGeom prst="rect">
            <a:avLst/>
          </a:prstGeom>
          <a:noFill/>
          <a:ln>
            <a:solidFill>
              <a:schemeClr val="bg1"/>
            </a:solidFill>
          </a:ln>
        </p:spPr>
        <p:txBody>
          <a:bodyPr wrap="square" rtlCol="0">
            <a:spAutoFit/>
          </a:bodyPr>
          <a:lstStyle/>
          <a:p>
            <a:pPr algn="r"/>
            <a:r>
              <a:rPr lang="en-US" sz="2400" dirty="0">
                <a:solidFill>
                  <a:schemeClr val="bg1">
                    <a:lumMod val="95000"/>
                  </a:schemeClr>
                </a:solidFill>
                <a:latin typeface="JetBrains Mono Light" panose="02000009000000000000" pitchFamily="49" charset="0"/>
                <a:cs typeface="JetBrains Mono Light" panose="02000009000000000000" pitchFamily="49" charset="0"/>
              </a:rPr>
              <a:t>4</a:t>
            </a:r>
          </a:p>
        </p:txBody>
      </p:sp>
      <p:sp>
        <p:nvSpPr>
          <p:cNvPr id="52" name="TextBox 51">
            <a:extLst>
              <a:ext uri="{FF2B5EF4-FFF2-40B4-BE49-F238E27FC236}">
                <a16:creationId xmlns:a16="http://schemas.microsoft.com/office/drawing/2014/main" id="{042768DD-A95C-4417-ADAB-F7E9981CC133}"/>
              </a:ext>
            </a:extLst>
          </p:cNvPr>
          <p:cNvSpPr txBox="1"/>
          <p:nvPr/>
        </p:nvSpPr>
        <p:spPr>
          <a:xfrm>
            <a:off x="3169992" y="3460584"/>
            <a:ext cx="914400" cy="461665"/>
          </a:xfrm>
          <a:prstGeom prst="rect">
            <a:avLst/>
          </a:prstGeom>
          <a:noFill/>
          <a:ln>
            <a:solidFill>
              <a:schemeClr val="bg1"/>
            </a:solidFill>
          </a:ln>
        </p:spPr>
        <p:txBody>
          <a:bodyPr wrap="square" rtlCol="0">
            <a:spAutoFit/>
          </a:bodyPr>
          <a:lstStyle/>
          <a:p>
            <a:pPr algn="r"/>
            <a:r>
              <a:rPr lang="en-US" sz="2400" dirty="0">
                <a:solidFill>
                  <a:schemeClr val="bg1"/>
                </a:solidFill>
                <a:latin typeface="JetBrains Mono Light" panose="02000009000000000000" pitchFamily="49" charset="0"/>
                <a:cs typeface="JetBrains Mono Light" panose="02000009000000000000" pitchFamily="49" charset="0"/>
              </a:rPr>
              <a:t>2</a:t>
            </a:r>
          </a:p>
        </p:txBody>
      </p:sp>
      <p:sp>
        <p:nvSpPr>
          <p:cNvPr id="53" name="TextBox 52">
            <a:extLst>
              <a:ext uri="{FF2B5EF4-FFF2-40B4-BE49-F238E27FC236}">
                <a16:creationId xmlns:a16="http://schemas.microsoft.com/office/drawing/2014/main" id="{9DB7F84C-CE0B-4708-98F8-701F4E01A8CF}"/>
              </a:ext>
            </a:extLst>
          </p:cNvPr>
          <p:cNvSpPr txBox="1"/>
          <p:nvPr/>
        </p:nvSpPr>
        <p:spPr>
          <a:xfrm>
            <a:off x="3168937" y="3919590"/>
            <a:ext cx="914400" cy="461665"/>
          </a:xfrm>
          <a:prstGeom prst="rect">
            <a:avLst/>
          </a:prstGeom>
          <a:noFill/>
          <a:ln>
            <a:solidFill>
              <a:schemeClr val="bg1"/>
            </a:solidFill>
          </a:ln>
        </p:spPr>
        <p:txBody>
          <a:bodyPr wrap="square" rtlCol="0">
            <a:spAutoFit/>
          </a:bodyPr>
          <a:lstStyle/>
          <a:p>
            <a:pPr algn="r"/>
            <a:r>
              <a:rPr lang="en-US" sz="2400" dirty="0">
                <a:solidFill>
                  <a:schemeClr val="bg1">
                    <a:lumMod val="95000"/>
                  </a:schemeClr>
                </a:solidFill>
                <a:latin typeface="JetBrains Mono Light" panose="02000009000000000000" pitchFamily="49" charset="0"/>
                <a:cs typeface="JetBrains Mono Light" panose="02000009000000000000" pitchFamily="49" charset="0"/>
              </a:rPr>
              <a:t>1</a:t>
            </a:r>
          </a:p>
        </p:txBody>
      </p:sp>
      <p:sp>
        <p:nvSpPr>
          <p:cNvPr id="54" name="TextBox 53">
            <a:extLst>
              <a:ext uri="{FF2B5EF4-FFF2-40B4-BE49-F238E27FC236}">
                <a16:creationId xmlns:a16="http://schemas.microsoft.com/office/drawing/2014/main" id="{5939033D-D598-4B00-B5D9-A7DE26034C54}"/>
              </a:ext>
            </a:extLst>
          </p:cNvPr>
          <p:cNvSpPr txBox="1"/>
          <p:nvPr/>
        </p:nvSpPr>
        <p:spPr>
          <a:xfrm>
            <a:off x="3169234" y="4380086"/>
            <a:ext cx="914400" cy="461665"/>
          </a:xfrm>
          <a:prstGeom prst="rect">
            <a:avLst/>
          </a:prstGeom>
          <a:noFill/>
          <a:ln>
            <a:solidFill>
              <a:schemeClr val="bg1"/>
            </a:solidFill>
          </a:ln>
        </p:spPr>
        <p:txBody>
          <a:bodyPr wrap="square" rtlCol="0">
            <a:spAutoFit/>
          </a:bodyPr>
          <a:lstStyle/>
          <a:p>
            <a:pPr algn="r"/>
            <a:r>
              <a:rPr lang="en-US" sz="2400" dirty="0">
                <a:solidFill>
                  <a:schemeClr val="bg1">
                    <a:lumMod val="95000"/>
                  </a:schemeClr>
                </a:solidFill>
                <a:latin typeface="JetBrains Mono Light" panose="02000009000000000000" pitchFamily="49" charset="0"/>
                <a:cs typeface="JetBrains Mono Light" panose="02000009000000000000" pitchFamily="49" charset="0"/>
              </a:rPr>
              <a:t>1</a:t>
            </a:r>
          </a:p>
        </p:txBody>
      </p:sp>
      <p:sp>
        <p:nvSpPr>
          <p:cNvPr id="55" name="TextBox 54">
            <a:extLst>
              <a:ext uri="{FF2B5EF4-FFF2-40B4-BE49-F238E27FC236}">
                <a16:creationId xmlns:a16="http://schemas.microsoft.com/office/drawing/2014/main" id="{5833F6BC-5CC1-44E9-84BC-A96205745121}"/>
              </a:ext>
            </a:extLst>
          </p:cNvPr>
          <p:cNvSpPr txBox="1"/>
          <p:nvPr/>
        </p:nvSpPr>
        <p:spPr>
          <a:xfrm>
            <a:off x="3168927" y="4841752"/>
            <a:ext cx="914400" cy="461665"/>
          </a:xfrm>
          <a:prstGeom prst="rect">
            <a:avLst/>
          </a:prstGeom>
          <a:noFill/>
          <a:ln>
            <a:solidFill>
              <a:schemeClr val="bg1"/>
            </a:solidFill>
          </a:ln>
        </p:spPr>
        <p:txBody>
          <a:bodyPr wrap="square" rtlCol="0">
            <a:spAutoFit/>
          </a:bodyPr>
          <a:lstStyle/>
          <a:p>
            <a:pPr algn="r"/>
            <a:r>
              <a:rPr lang="en-US" sz="2400" dirty="0">
                <a:solidFill>
                  <a:schemeClr val="bg1">
                    <a:lumMod val="95000"/>
                  </a:schemeClr>
                </a:solidFill>
                <a:latin typeface="JetBrains Mono Light" panose="02000009000000000000" pitchFamily="49" charset="0"/>
                <a:cs typeface="JetBrains Mono Light" panose="02000009000000000000" pitchFamily="49" charset="0"/>
              </a:rPr>
              <a:t>1</a:t>
            </a:r>
          </a:p>
        </p:txBody>
      </p:sp>
      <p:sp>
        <p:nvSpPr>
          <p:cNvPr id="62" name="TextBox 61">
            <a:extLst>
              <a:ext uri="{FF2B5EF4-FFF2-40B4-BE49-F238E27FC236}">
                <a16:creationId xmlns:a16="http://schemas.microsoft.com/office/drawing/2014/main" id="{161E1882-AD11-4484-A9B7-0EC7B7625A91}"/>
              </a:ext>
            </a:extLst>
          </p:cNvPr>
          <p:cNvSpPr txBox="1"/>
          <p:nvPr/>
        </p:nvSpPr>
        <p:spPr>
          <a:xfrm>
            <a:off x="4760942" y="3460584"/>
            <a:ext cx="914400" cy="461665"/>
          </a:xfrm>
          <a:prstGeom prst="rect">
            <a:avLst/>
          </a:prstGeom>
          <a:noFill/>
          <a:ln>
            <a:solidFill>
              <a:schemeClr val="bg1"/>
            </a:solidFill>
          </a:ln>
        </p:spPr>
        <p:txBody>
          <a:bodyPr wrap="square" rtlCol="0">
            <a:spAutoFit/>
          </a:bodyPr>
          <a:lstStyle/>
          <a:p>
            <a:pPr algn="r"/>
            <a:r>
              <a:rPr lang="en-US" sz="2400" dirty="0">
                <a:solidFill>
                  <a:schemeClr val="bg1">
                    <a:lumMod val="95000"/>
                  </a:schemeClr>
                </a:solidFill>
                <a:latin typeface="JetBrains Mono Light" panose="02000009000000000000" pitchFamily="49" charset="0"/>
                <a:cs typeface="JetBrains Mono Light" panose="02000009000000000000" pitchFamily="49" charset="0"/>
              </a:rPr>
              <a:t>3</a:t>
            </a:r>
          </a:p>
        </p:txBody>
      </p:sp>
      <p:sp>
        <p:nvSpPr>
          <p:cNvPr id="66" name="TextBox 65">
            <a:extLst>
              <a:ext uri="{FF2B5EF4-FFF2-40B4-BE49-F238E27FC236}">
                <a16:creationId xmlns:a16="http://schemas.microsoft.com/office/drawing/2014/main" id="{C3DD13DC-0A70-49B7-8D10-11861DA7EB3B}"/>
              </a:ext>
            </a:extLst>
          </p:cNvPr>
          <p:cNvSpPr txBox="1"/>
          <p:nvPr/>
        </p:nvSpPr>
        <p:spPr>
          <a:xfrm>
            <a:off x="4759887" y="3919590"/>
            <a:ext cx="914400" cy="461665"/>
          </a:xfrm>
          <a:prstGeom prst="rect">
            <a:avLst/>
          </a:prstGeom>
          <a:noFill/>
          <a:ln>
            <a:solidFill>
              <a:schemeClr val="bg1"/>
            </a:solidFill>
          </a:ln>
        </p:spPr>
        <p:txBody>
          <a:bodyPr wrap="square" rtlCol="0">
            <a:spAutoFit/>
          </a:bodyPr>
          <a:lstStyle/>
          <a:p>
            <a:pPr algn="r"/>
            <a:r>
              <a:rPr lang="en-US" sz="2400" dirty="0">
                <a:solidFill>
                  <a:schemeClr val="bg1">
                    <a:lumMod val="95000"/>
                  </a:schemeClr>
                </a:solidFill>
                <a:latin typeface="JetBrains Mono Light" panose="02000009000000000000" pitchFamily="49" charset="0"/>
                <a:cs typeface="JetBrains Mono Light" panose="02000009000000000000" pitchFamily="49" charset="0"/>
              </a:rPr>
              <a:t>3</a:t>
            </a:r>
          </a:p>
        </p:txBody>
      </p:sp>
      <p:sp>
        <p:nvSpPr>
          <p:cNvPr id="69" name="TextBox 68">
            <a:extLst>
              <a:ext uri="{FF2B5EF4-FFF2-40B4-BE49-F238E27FC236}">
                <a16:creationId xmlns:a16="http://schemas.microsoft.com/office/drawing/2014/main" id="{A08647D0-5B0A-42B7-BF8B-CFF0B8C29488}"/>
              </a:ext>
            </a:extLst>
          </p:cNvPr>
          <p:cNvSpPr txBox="1"/>
          <p:nvPr/>
        </p:nvSpPr>
        <p:spPr>
          <a:xfrm>
            <a:off x="4760184" y="4380085"/>
            <a:ext cx="914400" cy="461665"/>
          </a:xfrm>
          <a:prstGeom prst="rect">
            <a:avLst/>
          </a:prstGeom>
          <a:noFill/>
          <a:ln>
            <a:solidFill>
              <a:schemeClr val="bg1"/>
            </a:solidFill>
          </a:ln>
        </p:spPr>
        <p:txBody>
          <a:bodyPr wrap="square" rtlCol="0">
            <a:spAutoFit/>
          </a:bodyPr>
          <a:lstStyle/>
          <a:p>
            <a:pPr algn="r"/>
            <a:r>
              <a:rPr lang="en-US" sz="2400" dirty="0">
                <a:solidFill>
                  <a:schemeClr val="bg1">
                    <a:lumMod val="95000"/>
                  </a:schemeClr>
                </a:solidFill>
                <a:latin typeface="JetBrains Mono Light" panose="02000009000000000000" pitchFamily="49" charset="0"/>
                <a:cs typeface="JetBrains Mono Light" panose="02000009000000000000" pitchFamily="49" charset="0"/>
              </a:rPr>
              <a:t>2</a:t>
            </a:r>
          </a:p>
        </p:txBody>
      </p:sp>
      <p:sp>
        <p:nvSpPr>
          <p:cNvPr id="70" name="TextBox 69">
            <a:extLst>
              <a:ext uri="{FF2B5EF4-FFF2-40B4-BE49-F238E27FC236}">
                <a16:creationId xmlns:a16="http://schemas.microsoft.com/office/drawing/2014/main" id="{06D951B1-5BCB-445A-B62A-BA4C17D0C757}"/>
              </a:ext>
            </a:extLst>
          </p:cNvPr>
          <p:cNvSpPr txBox="1"/>
          <p:nvPr/>
        </p:nvSpPr>
        <p:spPr>
          <a:xfrm>
            <a:off x="6350540" y="3452229"/>
            <a:ext cx="914400" cy="461665"/>
          </a:xfrm>
          <a:prstGeom prst="rect">
            <a:avLst/>
          </a:prstGeom>
          <a:noFill/>
          <a:ln>
            <a:solidFill>
              <a:schemeClr val="bg1"/>
            </a:solidFill>
          </a:ln>
        </p:spPr>
        <p:txBody>
          <a:bodyPr wrap="square" rtlCol="0">
            <a:spAutoFit/>
          </a:bodyPr>
          <a:lstStyle/>
          <a:p>
            <a:pPr algn="r"/>
            <a:r>
              <a:rPr lang="en-US" sz="2400" dirty="0">
                <a:solidFill>
                  <a:schemeClr val="bg1">
                    <a:lumMod val="95000"/>
                  </a:schemeClr>
                </a:solidFill>
                <a:latin typeface="JetBrains Mono Light" panose="02000009000000000000" pitchFamily="49" charset="0"/>
                <a:cs typeface="JetBrains Mono Light" panose="02000009000000000000" pitchFamily="49" charset="0"/>
              </a:rPr>
              <a:t>4</a:t>
            </a:r>
          </a:p>
        </p:txBody>
      </p:sp>
      <p:sp>
        <p:nvSpPr>
          <p:cNvPr id="103" name="TextBox 102">
            <a:extLst>
              <a:ext uri="{FF2B5EF4-FFF2-40B4-BE49-F238E27FC236}">
                <a16:creationId xmlns:a16="http://schemas.microsoft.com/office/drawing/2014/main" id="{FB3E0C7B-B189-4532-B56D-560C0117396F}"/>
              </a:ext>
            </a:extLst>
          </p:cNvPr>
          <p:cNvSpPr txBox="1"/>
          <p:nvPr/>
        </p:nvSpPr>
        <p:spPr>
          <a:xfrm>
            <a:off x="2492683" y="5452824"/>
            <a:ext cx="1568345" cy="261610"/>
          </a:xfrm>
          <a:prstGeom prst="rect">
            <a:avLst/>
          </a:prstGeom>
          <a:noFill/>
        </p:spPr>
        <p:txBody>
          <a:bodyPr wrap="square" rtlCol="0">
            <a:spAutoFit/>
          </a:bodyPr>
          <a:lstStyle/>
          <a:p>
            <a:pPr algn="r"/>
            <a:r>
              <a:rPr lang="en-US" sz="1100" dirty="0" err="1">
                <a:solidFill>
                  <a:schemeClr val="bg1">
                    <a:lumMod val="50000"/>
                  </a:schemeClr>
                </a:solidFill>
                <a:latin typeface="JetBrains Mono Light" panose="02000009000000000000" pitchFamily="49" charset="0"/>
                <a:cs typeface="JetBrains Mono Light" panose="02000009000000000000" pitchFamily="49" charset="0"/>
              </a:rPr>
              <a:t>possible_paths</a:t>
            </a:r>
            <a:endParaRPr lang="en-US" sz="1100" dirty="0">
              <a:solidFill>
                <a:schemeClr val="bg1"/>
              </a:solidFill>
              <a:latin typeface="JetBrains Mono Light" panose="02000009000000000000" pitchFamily="49" charset="0"/>
              <a:cs typeface="JetBrains Mono Light" panose="02000009000000000000" pitchFamily="49" charset="0"/>
            </a:endParaRPr>
          </a:p>
        </p:txBody>
      </p:sp>
      <p:sp>
        <p:nvSpPr>
          <p:cNvPr id="107" name="TextBox 106">
            <a:extLst>
              <a:ext uri="{FF2B5EF4-FFF2-40B4-BE49-F238E27FC236}">
                <a16:creationId xmlns:a16="http://schemas.microsoft.com/office/drawing/2014/main" id="{5C7B778F-583F-4B54-9FC0-3D43C7B011D0}"/>
              </a:ext>
            </a:extLst>
          </p:cNvPr>
          <p:cNvSpPr txBox="1"/>
          <p:nvPr/>
        </p:nvSpPr>
        <p:spPr>
          <a:xfrm>
            <a:off x="1921065" y="5315399"/>
            <a:ext cx="675495" cy="261610"/>
          </a:xfrm>
          <a:prstGeom prst="rect">
            <a:avLst/>
          </a:prstGeom>
          <a:noFill/>
        </p:spPr>
        <p:txBody>
          <a:bodyPr wrap="square" rtlCol="0">
            <a:spAutoFit/>
          </a:bodyPr>
          <a:lstStyle/>
          <a:p>
            <a:pPr algn="r"/>
            <a:r>
              <a:rPr lang="en-US" sz="1100" dirty="0">
                <a:solidFill>
                  <a:schemeClr val="bg1">
                    <a:lumMod val="50000"/>
                  </a:schemeClr>
                </a:solidFill>
                <a:latin typeface="JetBrains Mono Light" panose="02000009000000000000" pitchFamily="49" charset="0"/>
                <a:cs typeface="JetBrains Mono Light" panose="02000009000000000000" pitchFamily="49" charset="0"/>
              </a:rPr>
              <a:t>node</a:t>
            </a:r>
            <a:endParaRPr lang="en-US" sz="1100" dirty="0">
              <a:solidFill>
                <a:schemeClr val="bg1"/>
              </a:solidFill>
              <a:latin typeface="JetBrains Mono Light" panose="02000009000000000000" pitchFamily="49" charset="0"/>
              <a:cs typeface="JetBrains Mono Light" panose="02000009000000000000" pitchFamily="49" charset="0"/>
            </a:endParaRPr>
          </a:p>
        </p:txBody>
      </p:sp>
      <p:cxnSp>
        <p:nvCxnSpPr>
          <p:cNvPr id="126" name="Straight Arrow Connector 125">
            <a:extLst>
              <a:ext uri="{FF2B5EF4-FFF2-40B4-BE49-F238E27FC236}">
                <a16:creationId xmlns:a16="http://schemas.microsoft.com/office/drawing/2014/main" id="{59742C2F-2E39-4F3D-AFBA-D7E72EB23DC3}"/>
              </a:ext>
            </a:extLst>
          </p:cNvPr>
          <p:cNvCxnSpPr>
            <a:cxnSpLocks/>
            <a:stCxn id="130" idx="3"/>
            <a:endCxn id="132" idx="1"/>
          </p:cNvCxnSpPr>
          <p:nvPr/>
        </p:nvCxnSpPr>
        <p:spPr>
          <a:xfrm>
            <a:off x="6577268" y="1482605"/>
            <a:ext cx="3796338" cy="754794"/>
          </a:xfrm>
          <a:prstGeom prst="straightConnector1">
            <a:avLst/>
          </a:prstGeom>
          <a:ln w="57150">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5661398B-7A27-4843-B690-656DF8485009}"/>
              </a:ext>
            </a:extLst>
          </p:cNvPr>
          <p:cNvCxnSpPr>
            <a:cxnSpLocks/>
            <a:stCxn id="130" idx="3"/>
            <a:endCxn id="131" idx="1"/>
          </p:cNvCxnSpPr>
          <p:nvPr/>
        </p:nvCxnSpPr>
        <p:spPr>
          <a:xfrm>
            <a:off x="6577268" y="1482605"/>
            <a:ext cx="664970" cy="1198526"/>
          </a:xfrm>
          <a:prstGeom prst="straightConnector1">
            <a:avLst/>
          </a:prstGeom>
          <a:ln w="57150">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AFC8E77A-4157-41FA-B267-1557D33D8D6D}"/>
              </a:ext>
            </a:extLst>
          </p:cNvPr>
          <p:cNvCxnSpPr>
            <a:cxnSpLocks/>
            <a:stCxn id="132" idx="1"/>
            <a:endCxn id="131" idx="3"/>
          </p:cNvCxnSpPr>
          <p:nvPr/>
        </p:nvCxnSpPr>
        <p:spPr>
          <a:xfrm flipH="1">
            <a:off x="8098023" y="2237399"/>
            <a:ext cx="2275583" cy="443732"/>
          </a:xfrm>
          <a:prstGeom prst="straightConnector1">
            <a:avLst/>
          </a:prstGeom>
          <a:ln w="57150">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9B09A0E5-4A81-4A21-8989-FEFBB5FBB1E2}"/>
              </a:ext>
            </a:extLst>
          </p:cNvPr>
          <p:cNvCxnSpPr>
            <a:cxnSpLocks/>
            <a:stCxn id="130" idx="3"/>
            <a:endCxn id="133" idx="1"/>
          </p:cNvCxnSpPr>
          <p:nvPr/>
        </p:nvCxnSpPr>
        <p:spPr>
          <a:xfrm flipV="1">
            <a:off x="6577268" y="727797"/>
            <a:ext cx="2337172" cy="754808"/>
          </a:xfrm>
          <a:prstGeom prst="straightConnector1">
            <a:avLst/>
          </a:prstGeom>
          <a:ln w="57150">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0" name="TextBox 129">
            <a:extLst>
              <a:ext uri="{FF2B5EF4-FFF2-40B4-BE49-F238E27FC236}">
                <a16:creationId xmlns:a16="http://schemas.microsoft.com/office/drawing/2014/main" id="{2E2A58AC-8C7A-47AC-8A88-2E758E0301BF}"/>
              </a:ext>
            </a:extLst>
          </p:cNvPr>
          <p:cNvSpPr txBox="1"/>
          <p:nvPr/>
        </p:nvSpPr>
        <p:spPr>
          <a:xfrm>
            <a:off x="5721483" y="1051718"/>
            <a:ext cx="855785" cy="861774"/>
          </a:xfrm>
          <a:prstGeom prst="rect">
            <a:avLst/>
          </a:prstGeom>
          <a:solidFill>
            <a:schemeClr val="tx1"/>
          </a:solidFill>
          <a:ln>
            <a:solidFill>
              <a:schemeClr val="bg1"/>
            </a:solidFill>
          </a:ln>
        </p:spPr>
        <p:txBody>
          <a:bodyPr wrap="square" rtlCol="0">
            <a:spAutoFit/>
          </a:bodyPr>
          <a:lstStyle/>
          <a:p>
            <a:pPr algn="ctr"/>
            <a:r>
              <a:rPr lang="en-US" sz="5000" dirty="0">
                <a:solidFill>
                  <a:schemeClr val="bg1"/>
                </a:solidFill>
                <a:latin typeface="JetBrains Mono Light" panose="02000009000000000000" pitchFamily="49" charset="0"/>
                <a:cs typeface="JetBrains Mono Light" panose="02000009000000000000" pitchFamily="49" charset="0"/>
              </a:rPr>
              <a:t>1</a:t>
            </a:r>
          </a:p>
        </p:txBody>
      </p:sp>
      <p:sp>
        <p:nvSpPr>
          <p:cNvPr id="131" name="TextBox 130">
            <a:extLst>
              <a:ext uri="{FF2B5EF4-FFF2-40B4-BE49-F238E27FC236}">
                <a16:creationId xmlns:a16="http://schemas.microsoft.com/office/drawing/2014/main" id="{E105FC87-4C17-4CB7-8DA2-FBE7A9B44ACE}"/>
              </a:ext>
            </a:extLst>
          </p:cNvPr>
          <p:cNvSpPr txBox="1"/>
          <p:nvPr/>
        </p:nvSpPr>
        <p:spPr>
          <a:xfrm>
            <a:off x="7242238" y="2250244"/>
            <a:ext cx="855785" cy="861774"/>
          </a:xfrm>
          <a:prstGeom prst="rect">
            <a:avLst/>
          </a:prstGeom>
          <a:solidFill>
            <a:schemeClr val="tx1"/>
          </a:solidFill>
          <a:ln>
            <a:solidFill>
              <a:schemeClr val="bg1"/>
            </a:solidFill>
          </a:ln>
        </p:spPr>
        <p:txBody>
          <a:bodyPr wrap="square" rtlCol="0">
            <a:spAutoFit/>
          </a:bodyPr>
          <a:lstStyle/>
          <a:p>
            <a:pPr algn="ctr"/>
            <a:r>
              <a:rPr lang="en-US" sz="5000" dirty="0">
                <a:solidFill>
                  <a:schemeClr val="bg1"/>
                </a:solidFill>
                <a:latin typeface="JetBrains Mono Light" panose="02000009000000000000" pitchFamily="49" charset="0"/>
                <a:cs typeface="JetBrains Mono Light" panose="02000009000000000000" pitchFamily="49" charset="0"/>
              </a:rPr>
              <a:t>3</a:t>
            </a:r>
          </a:p>
        </p:txBody>
      </p:sp>
      <p:sp>
        <p:nvSpPr>
          <p:cNvPr id="132" name="TextBox 131">
            <a:extLst>
              <a:ext uri="{FF2B5EF4-FFF2-40B4-BE49-F238E27FC236}">
                <a16:creationId xmlns:a16="http://schemas.microsoft.com/office/drawing/2014/main" id="{7D8B9534-00E5-4D47-888E-4712262ADFC2}"/>
              </a:ext>
            </a:extLst>
          </p:cNvPr>
          <p:cNvSpPr txBox="1"/>
          <p:nvPr/>
        </p:nvSpPr>
        <p:spPr>
          <a:xfrm>
            <a:off x="10373606" y="1806512"/>
            <a:ext cx="855785" cy="861774"/>
          </a:xfrm>
          <a:prstGeom prst="rect">
            <a:avLst/>
          </a:prstGeom>
          <a:solidFill>
            <a:schemeClr val="tx1"/>
          </a:solidFill>
          <a:ln>
            <a:solidFill>
              <a:schemeClr val="bg1"/>
            </a:solidFill>
          </a:ln>
        </p:spPr>
        <p:txBody>
          <a:bodyPr wrap="square" rtlCol="0">
            <a:spAutoFit/>
          </a:bodyPr>
          <a:lstStyle/>
          <a:p>
            <a:pPr algn="ctr"/>
            <a:r>
              <a:rPr lang="en-US" sz="5000" dirty="0">
                <a:solidFill>
                  <a:schemeClr val="bg1"/>
                </a:solidFill>
                <a:latin typeface="JetBrains Mono Light" panose="02000009000000000000" pitchFamily="49" charset="0"/>
                <a:cs typeface="JetBrains Mono Light" panose="02000009000000000000" pitchFamily="49" charset="0"/>
              </a:rPr>
              <a:t>2</a:t>
            </a:r>
          </a:p>
        </p:txBody>
      </p:sp>
      <p:sp>
        <p:nvSpPr>
          <p:cNvPr id="133" name="TextBox 132">
            <a:extLst>
              <a:ext uri="{FF2B5EF4-FFF2-40B4-BE49-F238E27FC236}">
                <a16:creationId xmlns:a16="http://schemas.microsoft.com/office/drawing/2014/main" id="{25EF49E8-E27A-44D3-A99F-7980CBBFC6B5}"/>
              </a:ext>
            </a:extLst>
          </p:cNvPr>
          <p:cNvSpPr txBox="1"/>
          <p:nvPr/>
        </p:nvSpPr>
        <p:spPr>
          <a:xfrm>
            <a:off x="8914440" y="296910"/>
            <a:ext cx="855785" cy="861774"/>
          </a:xfrm>
          <a:prstGeom prst="rect">
            <a:avLst/>
          </a:prstGeom>
          <a:solidFill>
            <a:schemeClr val="tx1"/>
          </a:solidFill>
          <a:ln>
            <a:solidFill>
              <a:schemeClr val="bg1"/>
            </a:solidFill>
          </a:ln>
        </p:spPr>
        <p:txBody>
          <a:bodyPr wrap="square" rtlCol="0">
            <a:spAutoFit/>
          </a:bodyPr>
          <a:lstStyle/>
          <a:p>
            <a:pPr algn="ctr"/>
            <a:r>
              <a:rPr lang="en-US" sz="5000" dirty="0">
                <a:solidFill>
                  <a:schemeClr val="bg1"/>
                </a:solidFill>
                <a:latin typeface="JetBrains Mono Light" panose="02000009000000000000" pitchFamily="49" charset="0"/>
                <a:cs typeface="JetBrains Mono Light" panose="02000009000000000000" pitchFamily="49" charset="0"/>
              </a:rPr>
              <a:t>4</a:t>
            </a:r>
          </a:p>
        </p:txBody>
      </p:sp>
      <p:sp>
        <p:nvSpPr>
          <p:cNvPr id="134" name="TextBox 133">
            <a:extLst>
              <a:ext uri="{FF2B5EF4-FFF2-40B4-BE49-F238E27FC236}">
                <a16:creationId xmlns:a16="http://schemas.microsoft.com/office/drawing/2014/main" id="{11061842-72B0-4C5F-A9AF-6CA520B8F83D}"/>
              </a:ext>
            </a:extLst>
          </p:cNvPr>
          <p:cNvSpPr txBox="1"/>
          <p:nvPr/>
        </p:nvSpPr>
        <p:spPr>
          <a:xfrm>
            <a:off x="6240136" y="691209"/>
            <a:ext cx="468851" cy="369332"/>
          </a:xfrm>
          <a:prstGeom prst="rect">
            <a:avLst/>
          </a:prstGeom>
          <a:noFill/>
        </p:spPr>
        <p:txBody>
          <a:bodyPr wrap="square" rtlCol="0">
            <a:spAutoFit/>
          </a:bodyPr>
          <a:lstStyle/>
          <a:p>
            <a:pPr algn="r"/>
            <a:r>
              <a:rPr lang="en-US" dirty="0">
                <a:solidFill>
                  <a:schemeClr val="bg1">
                    <a:lumMod val="50000"/>
                  </a:schemeClr>
                </a:solidFill>
                <a:latin typeface="JetBrains Mono Light" panose="02000009000000000000" pitchFamily="49" charset="0"/>
                <a:cs typeface="JetBrains Mono Light" panose="02000009000000000000" pitchFamily="49" charset="0"/>
              </a:rPr>
              <a:t>0</a:t>
            </a:r>
            <a:r>
              <a:rPr lang="en-US" dirty="0">
                <a:solidFill>
                  <a:schemeClr val="bg1"/>
                </a:solidFill>
                <a:latin typeface="JetBrains Mono Light" panose="02000009000000000000" pitchFamily="49" charset="0"/>
                <a:cs typeface="JetBrains Mono Light" panose="02000009000000000000" pitchFamily="49" charset="0"/>
              </a:rPr>
              <a:t>3</a:t>
            </a:r>
          </a:p>
        </p:txBody>
      </p:sp>
      <p:sp>
        <p:nvSpPr>
          <p:cNvPr id="135" name="TextBox 134">
            <a:extLst>
              <a:ext uri="{FF2B5EF4-FFF2-40B4-BE49-F238E27FC236}">
                <a16:creationId xmlns:a16="http://schemas.microsoft.com/office/drawing/2014/main" id="{175F7DC6-152B-47F9-82C7-BE4B447EB7CA}"/>
              </a:ext>
            </a:extLst>
          </p:cNvPr>
          <p:cNvSpPr txBox="1"/>
          <p:nvPr/>
        </p:nvSpPr>
        <p:spPr>
          <a:xfrm>
            <a:off x="10868891" y="1469905"/>
            <a:ext cx="468851" cy="369332"/>
          </a:xfrm>
          <a:prstGeom prst="rect">
            <a:avLst/>
          </a:prstGeom>
          <a:noFill/>
        </p:spPr>
        <p:txBody>
          <a:bodyPr wrap="square" rtlCol="0">
            <a:spAutoFit/>
          </a:bodyPr>
          <a:lstStyle/>
          <a:p>
            <a:pPr algn="r"/>
            <a:r>
              <a:rPr lang="en-US" dirty="0">
                <a:solidFill>
                  <a:schemeClr val="bg1">
                    <a:lumMod val="50000"/>
                  </a:schemeClr>
                </a:solidFill>
                <a:latin typeface="JetBrains Mono Light" panose="02000009000000000000" pitchFamily="49" charset="0"/>
                <a:cs typeface="JetBrains Mono Light" panose="02000009000000000000" pitchFamily="49" charset="0"/>
              </a:rPr>
              <a:t>0</a:t>
            </a:r>
            <a:r>
              <a:rPr lang="en-US" dirty="0">
                <a:solidFill>
                  <a:schemeClr val="bg1"/>
                </a:solidFill>
                <a:latin typeface="JetBrains Mono Light" panose="02000009000000000000" pitchFamily="49" charset="0"/>
                <a:cs typeface="JetBrains Mono Light" panose="02000009000000000000" pitchFamily="49" charset="0"/>
              </a:rPr>
              <a:t>2</a:t>
            </a:r>
          </a:p>
        </p:txBody>
      </p:sp>
      <p:sp>
        <p:nvSpPr>
          <p:cNvPr id="136" name="TextBox 135">
            <a:extLst>
              <a:ext uri="{FF2B5EF4-FFF2-40B4-BE49-F238E27FC236}">
                <a16:creationId xmlns:a16="http://schemas.microsoft.com/office/drawing/2014/main" id="{6726F33E-C448-4110-9F7A-0F2FB61EE360}"/>
              </a:ext>
            </a:extLst>
          </p:cNvPr>
          <p:cNvSpPr txBox="1"/>
          <p:nvPr/>
        </p:nvSpPr>
        <p:spPr>
          <a:xfrm>
            <a:off x="7730167" y="3097458"/>
            <a:ext cx="468851" cy="369332"/>
          </a:xfrm>
          <a:prstGeom prst="rect">
            <a:avLst/>
          </a:prstGeom>
          <a:noFill/>
        </p:spPr>
        <p:txBody>
          <a:bodyPr wrap="square" rtlCol="0">
            <a:spAutoFit/>
          </a:bodyPr>
          <a:lstStyle/>
          <a:p>
            <a:pPr algn="r"/>
            <a:r>
              <a:rPr lang="en-US" dirty="0">
                <a:solidFill>
                  <a:schemeClr val="bg1">
                    <a:lumMod val="50000"/>
                  </a:schemeClr>
                </a:solidFill>
                <a:latin typeface="JetBrains Mono Light" panose="02000009000000000000" pitchFamily="49" charset="0"/>
                <a:cs typeface="JetBrains Mono Light" panose="02000009000000000000" pitchFamily="49" charset="0"/>
              </a:rPr>
              <a:t>0</a:t>
            </a:r>
            <a:r>
              <a:rPr lang="en-US" dirty="0">
                <a:solidFill>
                  <a:schemeClr val="bg1"/>
                </a:solidFill>
                <a:latin typeface="JetBrains Mono Light" panose="02000009000000000000" pitchFamily="49" charset="0"/>
                <a:cs typeface="JetBrains Mono Light" panose="02000009000000000000" pitchFamily="49" charset="0"/>
              </a:rPr>
              <a:t>2</a:t>
            </a:r>
          </a:p>
        </p:txBody>
      </p:sp>
      <p:sp>
        <p:nvSpPr>
          <p:cNvPr id="137" name="TextBox 136">
            <a:extLst>
              <a:ext uri="{FF2B5EF4-FFF2-40B4-BE49-F238E27FC236}">
                <a16:creationId xmlns:a16="http://schemas.microsoft.com/office/drawing/2014/main" id="{B92267B3-C323-4927-8311-EE2A6437E10D}"/>
              </a:ext>
            </a:extLst>
          </p:cNvPr>
          <p:cNvSpPr txBox="1"/>
          <p:nvPr/>
        </p:nvSpPr>
        <p:spPr>
          <a:xfrm>
            <a:off x="9444224" y="1134157"/>
            <a:ext cx="468851" cy="369332"/>
          </a:xfrm>
          <a:prstGeom prst="rect">
            <a:avLst/>
          </a:prstGeom>
          <a:noFill/>
        </p:spPr>
        <p:txBody>
          <a:bodyPr wrap="square" rtlCol="0">
            <a:spAutoFit/>
          </a:bodyPr>
          <a:lstStyle/>
          <a:p>
            <a:pPr algn="r"/>
            <a:r>
              <a:rPr lang="en-US" dirty="0">
                <a:solidFill>
                  <a:schemeClr val="bg1">
                    <a:lumMod val="50000"/>
                  </a:schemeClr>
                </a:solidFill>
                <a:latin typeface="JetBrains Mono Light" panose="02000009000000000000" pitchFamily="49" charset="0"/>
                <a:cs typeface="JetBrains Mono Light" panose="02000009000000000000" pitchFamily="49" charset="0"/>
              </a:rPr>
              <a:t>0</a:t>
            </a:r>
            <a:r>
              <a:rPr lang="en-US" dirty="0">
                <a:solidFill>
                  <a:schemeClr val="bg1"/>
                </a:solidFill>
                <a:latin typeface="JetBrains Mono Light" panose="02000009000000000000" pitchFamily="49" charset="0"/>
                <a:cs typeface="JetBrains Mono Light" panose="02000009000000000000" pitchFamily="49" charset="0"/>
              </a:rPr>
              <a:t>1</a:t>
            </a:r>
          </a:p>
        </p:txBody>
      </p:sp>
      <p:cxnSp>
        <p:nvCxnSpPr>
          <p:cNvPr id="166" name="Straight Connector 165">
            <a:extLst>
              <a:ext uri="{FF2B5EF4-FFF2-40B4-BE49-F238E27FC236}">
                <a16:creationId xmlns:a16="http://schemas.microsoft.com/office/drawing/2014/main" id="{A9D83224-E242-4F3F-B6AD-5A983470836F}"/>
              </a:ext>
            </a:extLst>
          </p:cNvPr>
          <p:cNvCxnSpPr/>
          <p:nvPr/>
        </p:nvCxnSpPr>
        <p:spPr>
          <a:xfrm>
            <a:off x="2820644" y="3219863"/>
            <a:ext cx="0" cy="222634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33F9FE01-0928-409F-9BDD-571506CBE08A}"/>
              </a:ext>
            </a:extLst>
          </p:cNvPr>
          <p:cNvCxnSpPr/>
          <p:nvPr/>
        </p:nvCxnSpPr>
        <p:spPr>
          <a:xfrm>
            <a:off x="2820644" y="3219863"/>
            <a:ext cx="0" cy="2226341"/>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35232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400"/>
                                  </p:stCondLst>
                                  <p:childTnLst>
                                    <p:set>
                                      <p:cBhvr>
                                        <p:cTn id="10" dur="1" fill="hold">
                                          <p:stCondLst>
                                            <p:cond delay="0"/>
                                          </p:stCondLst>
                                        </p:cTn>
                                        <p:tgtEl>
                                          <p:spTgt spid="103"/>
                                        </p:tgtEl>
                                        <p:attrNameLst>
                                          <p:attrName>style.visibility</p:attrName>
                                        </p:attrNameLst>
                                      </p:cBhvr>
                                      <p:to>
                                        <p:strVal val="visible"/>
                                      </p:to>
                                    </p:set>
                                    <p:animEffect transition="in" filter="fade">
                                      <p:cBhvr>
                                        <p:cTn id="11" dur="400"/>
                                        <p:tgtEl>
                                          <p:spTgt spid="10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7"/>
                                        </p:tgtEl>
                                        <p:attrNameLst>
                                          <p:attrName>style.visibility</p:attrName>
                                        </p:attrNameLst>
                                      </p:cBhvr>
                                      <p:to>
                                        <p:strVal val="visible"/>
                                      </p:to>
                                    </p:set>
                                    <p:animEffect transition="in" filter="fade">
                                      <p:cBhvr>
                                        <p:cTn id="17" dur="400"/>
                                        <p:tgtEl>
                                          <p:spTgt spid="107"/>
                                        </p:tgtEl>
                                      </p:cBhvr>
                                    </p:animEffect>
                                  </p:childTnLst>
                                </p:cTn>
                              </p:par>
                              <p:par>
                                <p:cTn id="18" presetID="22" presetClass="entr" presetSubtype="4" fill="hold" nodeType="withEffect">
                                  <p:stCondLst>
                                    <p:cond delay="300"/>
                                  </p:stCondLst>
                                  <p:childTnLst>
                                    <p:set>
                                      <p:cBhvr>
                                        <p:cTn id="19" dur="1" fill="hold">
                                          <p:stCondLst>
                                            <p:cond delay="0"/>
                                          </p:stCondLst>
                                        </p:cTn>
                                        <p:tgtEl>
                                          <p:spTgt spid="165"/>
                                        </p:tgtEl>
                                        <p:attrNameLst>
                                          <p:attrName>style.visibility</p:attrName>
                                        </p:attrNameLst>
                                      </p:cBhvr>
                                      <p:to>
                                        <p:strVal val="visible"/>
                                      </p:to>
                                    </p:set>
                                    <p:animEffect transition="in" filter="wipe(down)">
                                      <p:cBhvr>
                                        <p:cTn id="20" dur="500"/>
                                        <p:tgtEl>
                                          <p:spTgt spid="165"/>
                                        </p:tgtEl>
                                      </p:cBhvr>
                                    </p:animEffect>
                                  </p:childTnLst>
                                </p:cTn>
                              </p:par>
                              <p:par>
                                <p:cTn id="21" presetID="22" presetClass="entr" presetSubtype="4" fill="hold" nodeType="withEffect">
                                  <p:stCondLst>
                                    <p:cond delay="300"/>
                                  </p:stCondLst>
                                  <p:childTnLst>
                                    <p:set>
                                      <p:cBhvr>
                                        <p:cTn id="22" dur="1" fill="hold">
                                          <p:stCondLst>
                                            <p:cond delay="0"/>
                                          </p:stCondLst>
                                        </p:cTn>
                                        <p:tgtEl>
                                          <p:spTgt spid="166"/>
                                        </p:tgtEl>
                                        <p:attrNameLst>
                                          <p:attrName>style.visibility</p:attrName>
                                        </p:attrNameLst>
                                      </p:cBhvr>
                                      <p:to>
                                        <p:strVal val="visible"/>
                                      </p:to>
                                    </p:set>
                                    <p:animEffect transition="in" filter="wipe(down)">
                                      <p:cBhvr>
                                        <p:cTn id="23" dur="500"/>
                                        <p:tgtEl>
                                          <p:spTgt spid="166"/>
                                        </p:tgtEl>
                                      </p:cBhvr>
                                    </p:animEffect>
                                  </p:childTnLst>
                                </p:cTn>
                              </p:par>
                              <p:par>
                                <p:cTn id="24" presetID="10" presetClass="entr" presetSubtype="0" fill="hold" grpId="0" nodeType="withEffect">
                                  <p:stCondLst>
                                    <p:cond delay="100"/>
                                  </p:stCondLst>
                                  <p:childTnLst>
                                    <p:set>
                                      <p:cBhvr>
                                        <p:cTn id="25" dur="1" fill="hold">
                                          <p:stCondLst>
                                            <p:cond delay="0"/>
                                          </p:stCondLst>
                                        </p:cTn>
                                        <p:tgtEl>
                                          <p:spTgt spid="40"/>
                                        </p:tgtEl>
                                        <p:attrNameLst>
                                          <p:attrName>style.visibility</p:attrName>
                                        </p:attrNameLst>
                                      </p:cBhvr>
                                      <p:to>
                                        <p:strVal val="visible"/>
                                      </p:to>
                                    </p:set>
                                    <p:animEffect transition="in" filter="fade">
                                      <p:cBhvr>
                                        <p:cTn id="26" dur="500"/>
                                        <p:tgtEl>
                                          <p:spTgt spid="40"/>
                                        </p:tgtEl>
                                      </p:cBhvr>
                                    </p:animEffect>
                                  </p:childTnLst>
                                </p:cTn>
                              </p:par>
                              <p:par>
                                <p:cTn id="27" presetID="10" presetClass="entr" presetSubtype="0" fill="hold" grpId="0" nodeType="withEffect">
                                  <p:stCondLst>
                                    <p:cond delay="200"/>
                                  </p:stCondLst>
                                  <p:childTnLst>
                                    <p:set>
                                      <p:cBhvr>
                                        <p:cTn id="28" dur="1" fill="hold">
                                          <p:stCondLst>
                                            <p:cond delay="0"/>
                                          </p:stCondLst>
                                        </p:cTn>
                                        <p:tgtEl>
                                          <p:spTgt spid="42"/>
                                        </p:tgtEl>
                                        <p:attrNameLst>
                                          <p:attrName>style.visibility</p:attrName>
                                        </p:attrNameLst>
                                      </p:cBhvr>
                                      <p:to>
                                        <p:strVal val="visible"/>
                                      </p:to>
                                    </p:set>
                                    <p:animEffect transition="in" filter="fade">
                                      <p:cBhvr>
                                        <p:cTn id="29" dur="500"/>
                                        <p:tgtEl>
                                          <p:spTgt spid="42"/>
                                        </p:tgtEl>
                                      </p:cBhvr>
                                    </p:animEffect>
                                  </p:childTnLst>
                                </p:cTn>
                              </p:par>
                              <p:par>
                                <p:cTn id="30" presetID="10" presetClass="entr" presetSubtype="0" fill="hold" grpId="0" nodeType="withEffect">
                                  <p:stCondLst>
                                    <p:cond delay="30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500"/>
                                        <p:tgtEl>
                                          <p:spTgt spid="44"/>
                                        </p:tgtEl>
                                      </p:cBhvr>
                                    </p:animEffect>
                                  </p:childTnLst>
                                </p:cTn>
                              </p:par>
                              <p:par>
                                <p:cTn id="33" presetID="22" presetClass="entr" presetSubtype="8" fill="hold" nodeType="withEffect">
                                  <p:stCondLst>
                                    <p:cond delay="40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300"/>
                                        <p:tgtEl>
                                          <p:spTgt spid="9"/>
                                        </p:tgtEl>
                                      </p:cBhvr>
                                    </p:animEffect>
                                  </p:childTnLst>
                                </p:cTn>
                              </p:par>
                              <p:par>
                                <p:cTn id="36" presetID="22" presetClass="entr" presetSubtype="8" fill="hold" nodeType="withEffect">
                                  <p:stCondLst>
                                    <p:cond delay="500"/>
                                  </p:stCondLst>
                                  <p:childTnLst>
                                    <p:set>
                                      <p:cBhvr>
                                        <p:cTn id="37" dur="1" fill="hold">
                                          <p:stCondLst>
                                            <p:cond delay="0"/>
                                          </p:stCondLst>
                                        </p:cTn>
                                        <p:tgtEl>
                                          <p:spTgt spid="76"/>
                                        </p:tgtEl>
                                        <p:attrNameLst>
                                          <p:attrName>style.visibility</p:attrName>
                                        </p:attrNameLst>
                                      </p:cBhvr>
                                      <p:to>
                                        <p:strVal val="visible"/>
                                      </p:to>
                                    </p:set>
                                    <p:animEffect transition="in" filter="wipe(left)">
                                      <p:cBhvr>
                                        <p:cTn id="38" dur="300"/>
                                        <p:tgtEl>
                                          <p:spTgt spid="76"/>
                                        </p:tgtEl>
                                      </p:cBhvr>
                                    </p:animEffect>
                                  </p:childTnLst>
                                </p:cTn>
                              </p:par>
                              <p:par>
                                <p:cTn id="39" presetID="22" presetClass="entr" presetSubtype="8" fill="hold" nodeType="withEffect">
                                  <p:stCondLst>
                                    <p:cond delay="600"/>
                                  </p:stCondLst>
                                  <p:childTnLst>
                                    <p:set>
                                      <p:cBhvr>
                                        <p:cTn id="40" dur="1" fill="hold">
                                          <p:stCondLst>
                                            <p:cond delay="0"/>
                                          </p:stCondLst>
                                        </p:cTn>
                                        <p:tgtEl>
                                          <p:spTgt spid="78"/>
                                        </p:tgtEl>
                                        <p:attrNameLst>
                                          <p:attrName>style.visibility</p:attrName>
                                        </p:attrNameLst>
                                      </p:cBhvr>
                                      <p:to>
                                        <p:strVal val="visible"/>
                                      </p:to>
                                    </p:set>
                                    <p:animEffect transition="in" filter="wipe(left)">
                                      <p:cBhvr>
                                        <p:cTn id="41" dur="300"/>
                                        <p:tgtEl>
                                          <p:spTgt spid="78"/>
                                        </p:tgtEl>
                                      </p:cBhvr>
                                    </p:animEffect>
                                  </p:childTnLst>
                                </p:cTn>
                              </p:par>
                              <p:par>
                                <p:cTn id="42" presetID="22" presetClass="entr" presetSubtype="8" fill="hold" nodeType="withEffect">
                                  <p:stCondLst>
                                    <p:cond delay="700"/>
                                  </p:stCondLst>
                                  <p:childTnLst>
                                    <p:set>
                                      <p:cBhvr>
                                        <p:cTn id="43" dur="1" fill="hold">
                                          <p:stCondLst>
                                            <p:cond delay="0"/>
                                          </p:stCondLst>
                                        </p:cTn>
                                        <p:tgtEl>
                                          <p:spTgt spid="79"/>
                                        </p:tgtEl>
                                        <p:attrNameLst>
                                          <p:attrName>style.visibility</p:attrName>
                                        </p:attrNameLst>
                                      </p:cBhvr>
                                      <p:to>
                                        <p:strVal val="visible"/>
                                      </p:to>
                                    </p:set>
                                    <p:animEffect transition="in" filter="wipe(left)">
                                      <p:cBhvr>
                                        <p:cTn id="44" dur="300"/>
                                        <p:tgtEl>
                                          <p:spTgt spid="79"/>
                                        </p:tgtEl>
                                      </p:cBhvr>
                                    </p:animEffect>
                                  </p:childTnLst>
                                </p:cTn>
                              </p:par>
                            </p:childTnLst>
                          </p:cTn>
                        </p:par>
                        <p:par>
                          <p:cTn id="45" fill="hold">
                            <p:stCondLst>
                              <p:cond delay="1500"/>
                            </p:stCondLst>
                            <p:childTnLst>
                              <p:par>
                                <p:cTn id="46" presetID="10" presetClass="entr" presetSubtype="0" fill="hold" grpId="0" nodeType="afterEffect">
                                  <p:stCondLst>
                                    <p:cond delay="0"/>
                                  </p:stCondLst>
                                  <p:childTnLst>
                                    <p:set>
                                      <p:cBhvr>
                                        <p:cTn id="47" dur="1" fill="hold">
                                          <p:stCondLst>
                                            <p:cond delay="0"/>
                                          </p:stCondLst>
                                        </p:cTn>
                                        <p:tgtEl>
                                          <p:spTgt spid="52"/>
                                        </p:tgtEl>
                                        <p:attrNameLst>
                                          <p:attrName>style.visibility</p:attrName>
                                        </p:attrNameLst>
                                      </p:cBhvr>
                                      <p:to>
                                        <p:strVal val="visible"/>
                                      </p:to>
                                    </p:set>
                                    <p:animEffect transition="in" filter="fade">
                                      <p:cBhvr>
                                        <p:cTn id="48" dur="500"/>
                                        <p:tgtEl>
                                          <p:spTgt spid="5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30"/>
                                        </p:tgtEl>
                                        <p:attrNameLst>
                                          <p:attrName>style.visibility</p:attrName>
                                        </p:attrNameLst>
                                      </p:cBhvr>
                                      <p:to>
                                        <p:strVal val="visible"/>
                                      </p:to>
                                    </p:set>
                                    <p:animEffect transition="in" filter="fade">
                                      <p:cBhvr>
                                        <p:cTn id="51" dur="500"/>
                                        <p:tgtEl>
                                          <p:spTgt spid="130"/>
                                        </p:tgtEl>
                                      </p:cBhvr>
                                    </p:animEffect>
                                  </p:childTnLst>
                                </p:cTn>
                              </p:par>
                              <p:par>
                                <p:cTn id="52" presetID="10" presetClass="entr" presetSubtype="0" fill="hold" nodeType="withEffect">
                                  <p:stCondLst>
                                    <p:cond delay="0"/>
                                  </p:stCondLst>
                                  <p:childTnLst>
                                    <p:set>
                                      <p:cBhvr>
                                        <p:cTn id="53" dur="1" fill="hold">
                                          <p:stCondLst>
                                            <p:cond delay="0"/>
                                          </p:stCondLst>
                                        </p:cTn>
                                        <p:tgtEl>
                                          <p:spTgt spid="126"/>
                                        </p:tgtEl>
                                        <p:attrNameLst>
                                          <p:attrName>style.visibility</p:attrName>
                                        </p:attrNameLst>
                                      </p:cBhvr>
                                      <p:to>
                                        <p:strVal val="visible"/>
                                      </p:to>
                                    </p:set>
                                    <p:animEffect transition="in" filter="fade">
                                      <p:cBhvr>
                                        <p:cTn id="54" dur="900"/>
                                        <p:tgtEl>
                                          <p:spTgt spid="126"/>
                                        </p:tgtEl>
                                      </p:cBhvr>
                                    </p:animEffect>
                                  </p:childTnLst>
                                </p:cTn>
                              </p:par>
                              <p:par>
                                <p:cTn id="55" presetID="10" presetClass="entr" presetSubtype="0" fill="hold" grpId="0" nodeType="withEffect">
                                  <p:stCondLst>
                                    <p:cond delay="400"/>
                                  </p:stCondLst>
                                  <p:childTnLst>
                                    <p:set>
                                      <p:cBhvr>
                                        <p:cTn id="56" dur="1" fill="hold">
                                          <p:stCondLst>
                                            <p:cond delay="0"/>
                                          </p:stCondLst>
                                        </p:cTn>
                                        <p:tgtEl>
                                          <p:spTgt spid="132"/>
                                        </p:tgtEl>
                                        <p:attrNameLst>
                                          <p:attrName>style.visibility</p:attrName>
                                        </p:attrNameLst>
                                      </p:cBhvr>
                                      <p:to>
                                        <p:strVal val="visible"/>
                                      </p:to>
                                    </p:set>
                                    <p:animEffect transition="in" filter="fade">
                                      <p:cBhvr>
                                        <p:cTn id="57" dur="500"/>
                                        <p:tgtEl>
                                          <p:spTgt spid="132"/>
                                        </p:tgtEl>
                                      </p:cBhvr>
                                    </p:animEffect>
                                  </p:childTnLst>
                                </p:cTn>
                              </p:par>
                              <p:par>
                                <p:cTn id="58" presetID="10" presetClass="entr" presetSubtype="0" fill="hold" nodeType="withEffect">
                                  <p:stCondLst>
                                    <p:cond delay="600"/>
                                  </p:stCondLst>
                                  <p:childTnLst>
                                    <p:set>
                                      <p:cBhvr>
                                        <p:cTn id="59" dur="1" fill="hold">
                                          <p:stCondLst>
                                            <p:cond delay="0"/>
                                          </p:stCondLst>
                                        </p:cTn>
                                        <p:tgtEl>
                                          <p:spTgt spid="128"/>
                                        </p:tgtEl>
                                        <p:attrNameLst>
                                          <p:attrName>style.visibility</p:attrName>
                                        </p:attrNameLst>
                                      </p:cBhvr>
                                      <p:to>
                                        <p:strVal val="visible"/>
                                      </p:to>
                                    </p:set>
                                    <p:animEffect transition="in" filter="fade">
                                      <p:cBhvr>
                                        <p:cTn id="60" dur="900"/>
                                        <p:tgtEl>
                                          <p:spTgt spid="128"/>
                                        </p:tgtEl>
                                      </p:cBhvr>
                                    </p:animEffect>
                                  </p:childTnLst>
                                </p:cTn>
                              </p:par>
                              <p:par>
                                <p:cTn id="61" presetID="10" presetClass="entr" presetSubtype="0" fill="hold" grpId="0" nodeType="withEffect">
                                  <p:stCondLst>
                                    <p:cond delay="1000"/>
                                  </p:stCondLst>
                                  <p:childTnLst>
                                    <p:set>
                                      <p:cBhvr>
                                        <p:cTn id="62" dur="1" fill="hold">
                                          <p:stCondLst>
                                            <p:cond delay="0"/>
                                          </p:stCondLst>
                                        </p:cTn>
                                        <p:tgtEl>
                                          <p:spTgt spid="135"/>
                                        </p:tgtEl>
                                        <p:attrNameLst>
                                          <p:attrName>style.visibility</p:attrName>
                                        </p:attrNameLst>
                                      </p:cBhvr>
                                      <p:to>
                                        <p:strVal val="visible"/>
                                      </p:to>
                                    </p:set>
                                    <p:animEffect transition="in" filter="fade">
                                      <p:cBhvr>
                                        <p:cTn id="63" dur="500"/>
                                        <p:tgtEl>
                                          <p:spTgt spid="135"/>
                                        </p:tgtEl>
                                      </p:cBhvr>
                                    </p:animEffect>
                                  </p:childTnLst>
                                </p:cTn>
                              </p:par>
                              <p:par>
                                <p:cTn id="64" presetID="10" presetClass="entr" presetSubtype="0" fill="hold" nodeType="withEffect">
                                  <p:stCondLst>
                                    <p:cond delay="100"/>
                                  </p:stCondLst>
                                  <p:childTnLst>
                                    <p:set>
                                      <p:cBhvr>
                                        <p:cTn id="65" dur="1" fill="hold">
                                          <p:stCondLst>
                                            <p:cond delay="0"/>
                                          </p:stCondLst>
                                        </p:cTn>
                                        <p:tgtEl>
                                          <p:spTgt spid="127"/>
                                        </p:tgtEl>
                                        <p:attrNameLst>
                                          <p:attrName>style.visibility</p:attrName>
                                        </p:attrNameLst>
                                      </p:cBhvr>
                                      <p:to>
                                        <p:strVal val="visible"/>
                                      </p:to>
                                    </p:set>
                                    <p:animEffect transition="in" filter="fade">
                                      <p:cBhvr>
                                        <p:cTn id="66" dur="1100"/>
                                        <p:tgtEl>
                                          <p:spTgt spid="127"/>
                                        </p:tgtEl>
                                      </p:cBhvr>
                                    </p:animEffect>
                                  </p:childTnLst>
                                </p:cTn>
                              </p:par>
                              <p:par>
                                <p:cTn id="67" presetID="10" presetClass="entr" presetSubtype="0" fill="hold" nodeType="withEffect">
                                  <p:stCondLst>
                                    <p:cond delay="1400"/>
                                  </p:stCondLst>
                                  <p:childTnLst>
                                    <p:set>
                                      <p:cBhvr>
                                        <p:cTn id="68" dur="1" fill="hold">
                                          <p:stCondLst>
                                            <p:cond delay="0"/>
                                          </p:stCondLst>
                                        </p:cTn>
                                        <p:tgtEl>
                                          <p:spTgt spid="129"/>
                                        </p:tgtEl>
                                        <p:attrNameLst>
                                          <p:attrName>style.visibility</p:attrName>
                                        </p:attrNameLst>
                                      </p:cBhvr>
                                      <p:to>
                                        <p:strVal val="visible"/>
                                      </p:to>
                                    </p:set>
                                    <p:animEffect transition="in" filter="fade">
                                      <p:cBhvr>
                                        <p:cTn id="69" dur="900"/>
                                        <p:tgtEl>
                                          <p:spTgt spid="129"/>
                                        </p:tgtEl>
                                      </p:cBhvr>
                                    </p:animEffect>
                                  </p:childTnLst>
                                </p:cTn>
                              </p:par>
                              <p:par>
                                <p:cTn id="70" presetID="10" presetClass="entr" presetSubtype="0" fill="hold" grpId="0" nodeType="withEffect">
                                  <p:stCondLst>
                                    <p:cond delay="700"/>
                                  </p:stCondLst>
                                  <p:childTnLst>
                                    <p:set>
                                      <p:cBhvr>
                                        <p:cTn id="71" dur="1" fill="hold">
                                          <p:stCondLst>
                                            <p:cond delay="0"/>
                                          </p:stCondLst>
                                        </p:cTn>
                                        <p:tgtEl>
                                          <p:spTgt spid="131"/>
                                        </p:tgtEl>
                                        <p:attrNameLst>
                                          <p:attrName>style.visibility</p:attrName>
                                        </p:attrNameLst>
                                      </p:cBhvr>
                                      <p:to>
                                        <p:strVal val="visible"/>
                                      </p:to>
                                    </p:set>
                                    <p:animEffect transition="in" filter="fade">
                                      <p:cBhvr>
                                        <p:cTn id="72" dur="500"/>
                                        <p:tgtEl>
                                          <p:spTgt spid="131"/>
                                        </p:tgtEl>
                                      </p:cBhvr>
                                    </p:animEffect>
                                  </p:childTnLst>
                                </p:cTn>
                              </p:par>
                              <p:par>
                                <p:cTn id="73" presetID="10" presetClass="entr" presetSubtype="0" fill="hold" grpId="0" nodeType="withEffect">
                                  <p:stCondLst>
                                    <p:cond delay="1400"/>
                                  </p:stCondLst>
                                  <p:childTnLst>
                                    <p:set>
                                      <p:cBhvr>
                                        <p:cTn id="74" dur="1" fill="hold">
                                          <p:stCondLst>
                                            <p:cond delay="0"/>
                                          </p:stCondLst>
                                        </p:cTn>
                                        <p:tgtEl>
                                          <p:spTgt spid="134"/>
                                        </p:tgtEl>
                                        <p:attrNameLst>
                                          <p:attrName>style.visibility</p:attrName>
                                        </p:attrNameLst>
                                      </p:cBhvr>
                                      <p:to>
                                        <p:strVal val="visible"/>
                                      </p:to>
                                    </p:set>
                                    <p:animEffect transition="in" filter="fade">
                                      <p:cBhvr>
                                        <p:cTn id="75" dur="500"/>
                                        <p:tgtEl>
                                          <p:spTgt spid="134"/>
                                        </p:tgtEl>
                                      </p:cBhvr>
                                    </p:animEffect>
                                  </p:childTnLst>
                                </p:cTn>
                              </p:par>
                              <p:par>
                                <p:cTn id="76" presetID="10" presetClass="entr" presetSubtype="0" fill="hold" grpId="0" nodeType="withEffect">
                                  <p:stCondLst>
                                    <p:cond delay="1300"/>
                                  </p:stCondLst>
                                  <p:childTnLst>
                                    <p:set>
                                      <p:cBhvr>
                                        <p:cTn id="77" dur="1" fill="hold">
                                          <p:stCondLst>
                                            <p:cond delay="0"/>
                                          </p:stCondLst>
                                        </p:cTn>
                                        <p:tgtEl>
                                          <p:spTgt spid="133"/>
                                        </p:tgtEl>
                                        <p:attrNameLst>
                                          <p:attrName>style.visibility</p:attrName>
                                        </p:attrNameLst>
                                      </p:cBhvr>
                                      <p:to>
                                        <p:strVal val="visible"/>
                                      </p:to>
                                    </p:set>
                                    <p:animEffect transition="in" filter="fade">
                                      <p:cBhvr>
                                        <p:cTn id="78" dur="500"/>
                                        <p:tgtEl>
                                          <p:spTgt spid="133"/>
                                        </p:tgtEl>
                                      </p:cBhvr>
                                    </p:animEffect>
                                  </p:childTnLst>
                                </p:cTn>
                              </p:par>
                              <p:par>
                                <p:cTn id="79" presetID="10" presetClass="entr" presetSubtype="0" fill="hold" grpId="0" nodeType="withEffect">
                                  <p:stCondLst>
                                    <p:cond delay="10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500"/>
                                        <p:tgtEl>
                                          <p:spTgt spid="53"/>
                                        </p:tgtEl>
                                      </p:cBhvr>
                                    </p:animEffect>
                                  </p:childTnLst>
                                </p:cTn>
                              </p:par>
                              <p:par>
                                <p:cTn id="82" presetID="10" presetClass="entr" presetSubtype="0" fill="hold" grpId="0" nodeType="withEffect">
                                  <p:stCondLst>
                                    <p:cond delay="20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500"/>
                                        <p:tgtEl>
                                          <p:spTgt spid="54"/>
                                        </p:tgtEl>
                                      </p:cBhvr>
                                    </p:animEffect>
                                  </p:childTnLst>
                                </p:cTn>
                              </p:par>
                              <p:par>
                                <p:cTn id="85" presetID="10" presetClass="entr" presetSubtype="0" fill="hold" grpId="0" nodeType="withEffect">
                                  <p:stCondLst>
                                    <p:cond delay="30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500"/>
                                        <p:tgtEl>
                                          <p:spTgt spid="55"/>
                                        </p:tgtEl>
                                      </p:cBhvr>
                                    </p:animEffect>
                                  </p:childTnLst>
                                </p:cTn>
                              </p:par>
                              <p:par>
                                <p:cTn id="88" presetID="10" presetClass="entr" presetSubtype="0" fill="hold" grpId="0" nodeType="withEffect">
                                  <p:stCondLst>
                                    <p:cond delay="300"/>
                                  </p:stCondLst>
                                  <p:childTnLst>
                                    <p:set>
                                      <p:cBhvr>
                                        <p:cTn id="89" dur="1" fill="hold">
                                          <p:stCondLst>
                                            <p:cond delay="0"/>
                                          </p:stCondLst>
                                        </p:cTn>
                                        <p:tgtEl>
                                          <p:spTgt spid="5"/>
                                        </p:tgtEl>
                                        <p:attrNameLst>
                                          <p:attrName>style.visibility</p:attrName>
                                        </p:attrNameLst>
                                      </p:cBhvr>
                                      <p:to>
                                        <p:strVal val="visible"/>
                                      </p:to>
                                    </p:set>
                                    <p:animEffect transition="in" filter="fade">
                                      <p:cBhvr>
                                        <p:cTn id="90" dur="500"/>
                                        <p:tgtEl>
                                          <p:spTgt spid="5"/>
                                        </p:tgtEl>
                                      </p:cBhvr>
                                    </p:animEffect>
                                  </p:childTnLst>
                                </p:cTn>
                              </p:par>
                              <p:par>
                                <p:cTn id="91" presetID="22" presetClass="entr" presetSubtype="8" fill="hold" nodeType="withEffect">
                                  <p:stCondLst>
                                    <p:cond delay="400"/>
                                  </p:stCondLst>
                                  <p:childTnLst>
                                    <p:set>
                                      <p:cBhvr>
                                        <p:cTn id="92" dur="1" fill="hold">
                                          <p:stCondLst>
                                            <p:cond delay="0"/>
                                          </p:stCondLst>
                                        </p:cTn>
                                        <p:tgtEl>
                                          <p:spTgt spid="80"/>
                                        </p:tgtEl>
                                        <p:attrNameLst>
                                          <p:attrName>style.visibility</p:attrName>
                                        </p:attrNameLst>
                                      </p:cBhvr>
                                      <p:to>
                                        <p:strVal val="visible"/>
                                      </p:to>
                                    </p:set>
                                    <p:animEffect transition="in" filter="wipe(left)">
                                      <p:cBhvr>
                                        <p:cTn id="93" dur="300"/>
                                        <p:tgtEl>
                                          <p:spTgt spid="80"/>
                                        </p:tgtEl>
                                      </p:cBhvr>
                                    </p:animEffect>
                                  </p:childTnLst>
                                </p:cTn>
                              </p:par>
                              <p:par>
                                <p:cTn id="94" presetID="22" presetClass="entr" presetSubtype="8" fill="hold" nodeType="withEffect">
                                  <p:stCondLst>
                                    <p:cond delay="500"/>
                                  </p:stCondLst>
                                  <p:childTnLst>
                                    <p:set>
                                      <p:cBhvr>
                                        <p:cTn id="95" dur="1" fill="hold">
                                          <p:stCondLst>
                                            <p:cond delay="0"/>
                                          </p:stCondLst>
                                        </p:cTn>
                                        <p:tgtEl>
                                          <p:spTgt spid="82"/>
                                        </p:tgtEl>
                                        <p:attrNameLst>
                                          <p:attrName>style.visibility</p:attrName>
                                        </p:attrNameLst>
                                      </p:cBhvr>
                                      <p:to>
                                        <p:strVal val="visible"/>
                                      </p:to>
                                    </p:set>
                                    <p:animEffect transition="in" filter="wipe(left)">
                                      <p:cBhvr>
                                        <p:cTn id="96" dur="300"/>
                                        <p:tgtEl>
                                          <p:spTgt spid="82"/>
                                        </p:tgtEl>
                                      </p:cBhvr>
                                    </p:animEffect>
                                  </p:childTnLst>
                                </p:cTn>
                              </p:par>
                              <p:par>
                                <p:cTn id="97" presetID="22" presetClass="entr" presetSubtype="8" fill="hold" nodeType="withEffect">
                                  <p:stCondLst>
                                    <p:cond delay="600"/>
                                  </p:stCondLst>
                                  <p:childTnLst>
                                    <p:set>
                                      <p:cBhvr>
                                        <p:cTn id="98" dur="1" fill="hold">
                                          <p:stCondLst>
                                            <p:cond delay="0"/>
                                          </p:stCondLst>
                                        </p:cTn>
                                        <p:tgtEl>
                                          <p:spTgt spid="83"/>
                                        </p:tgtEl>
                                        <p:attrNameLst>
                                          <p:attrName>style.visibility</p:attrName>
                                        </p:attrNameLst>
                                      </p:cBhvr>
                                      <p:to>
                                        <p:strVal val="visible"/>
                                      </p:to>
                                    </p:set>
                                    <p:animEffect transition="in" filter="wipe(left)">
                                      <p:cBhvr>
                                        <p:cTn id="99" dur="300"/>
                                        <p:tgtEl>
                                          <p:spTgt spid="83"/>
                                        </p:tgtEl>
                                      </p:cBhvr>
                                    </p:animEffect>
                                  </p:childTnLst>
                                </p:cTn>
                              </p:par>
                              <p:par>
                                <p:cTn id="100" presetID="10" presetClass="entr" presetSubtype="0" fill="hold" nodeType="withEffect">
                                  <p:stCondLst>
                                    <p:cond delay="1300"/>
                                  </p:stCondLst>
                                  <p:childTnLst>
                                    <p:set>
                                      <p:cBhvr>
                                        <p:cTn id="101" dur="1" fill="hold">
                                          <p:stCondLst>
                                            <p:cond delay="0"/>
                                          </p:stCondLst>
                                        </p:cTn>
                                        <p:tgtEl>
                                          <p:spTgt spid="12"/>
                                        </p:tgtEl>
                                        <p:attrNameLst>
                                          <p:attrName>style.visibility</p:attrName>
                                        </p:attrNameLst>
                                      </p:cBhvr>
                                      <p:to>
                                        <p:strVal val="visible"/>
                                      </p:to>
                                    </p:set>
                                    <p:animEffect transition="in" filter="fade">
                                      <p:cBhvr>
                                        <p:cTn id="102" dur="100"/>
                                        <p:tgtEl>
                                          <p:spTgt spid="12"/>
                                        </p:tgtEl>
                                      </p:cBhvr>
                                    </p:animEffect>
                                  </p:childTnLst>
                                </p:cTn>
                              </p:par>
                              <p:par>
                                <p:cTn id="103" presetID="10" presetClass="exit" presetSubtype="0" fill="hold" nodeType="withEffect">
                                  <p:stCondLst>
                                    <p:cond delay="1400"/>
                                  </p:stCondLst>
                                  <p:childTnLst>
                                    <p:animEffect transition="out" filter="fade">
                                      <p:cBhvr>
                                        <p:cTn id="104" dur="100"/>
                                        <p:tgtEl>
                                          <p:spTgt spid="12"/>
                                        </p:tgtEl>
                                      </p:cBhvr>
                                    </p:animEffect>
                                    <p:set>
                                      <p:cBhvr>
                                        <p:cTn id="105" dur="1" fill="hold">
                                          <p:stCondLst>
                                            <p:cond delay="99"/>
                                          </p:stCondLst>
                                        </p:cTn>
                                        <p:tgtEl>
                                          <p:spTgt spid="12"/>
                                        </p:tgtEl>
                                        <p:attrNameLst>
                                          <p:attrName>style.visibility</p:attrName>
                                        </p:attrNameLst>
                                      </p:cBhvr>
                                      <p:to>
                                        <p:strVal val="hidden"/>
                                      </p:to>
                                    </p:set>
                                  </p:childTnLst>
                                </p:cTn>
                              </p:par>
                              <p:par>
                                <p:cTn id="106" presetID="10" presetClass="entr" presetSubtype="0" fill="hold" nodeType="withEffect">
                                  <p:stCondLst>
                                    <p:cond delay="1500"/>
                                  </p:stCondLst>
                                  <p:childTnLst>
                                    <p:set>
                                      <p:cBhvr>
                                        <p:cTn id="107" dur="1" fill="hold">
                                          <p:stCondLst>
                                            <p:cond delay="0"/>
                                          </p:stCondLst>
                                        </p:cTn>
                                        <p:tgtEl>
                                          <p:spTgt spid="12"/>
                                        </p:tgtEl>
                                        <p:attrNameLst>
                                          <p:attrName>style.visibility</p:attrName>
                                        </p:attrNameLst>
                                      </p:cBhvr>
                                      <p:to>
                                        <p:strVal val="visible"/>
                                      </p:to>
                                    </p:set>
                                    <p:animEffect transition="in" filter="fade">
                                      <p:cBhvr>
                                        <p:cTn id="108" dur="100"/>
                                        <p:tgtEl>
                                          <p:spTgt spid="12"/>
                                        </p:tgtEl>
                                      </p:cBhvr>
                                    </p:animEffect>
                                  </p:childTnLst>
                                </p:cTn>
                              </p:par>
                              <p:par>
                                <p:cTn id="109" presetID="10" presetClass="exit" presetSubtype="0" fill="hold" nodeType="withEffect">
                                  <p:stCondLst>
                                    <p:cond delay="1600"/>
                                  </p:stCondLst>
                                  <p:childTnLst>
                                    <p:animEffect transition="out" filter="fade">
                                      <p:cBhvr>
                                        <p:cTn id="110" dur="100"/>
                                        <p:tgtEl>
                                          <p:spTgt spid="12"/>
                                        </p:tgtEl>
                                      </p:cBhvr>
                                    </p:animEffect>
                                    <p:set>
                                      <p:cBhvr>
                                        <p:cTn id="111" dur="1" fill="hold">
                                          <p:stCondLst>
                                            <p:cond delay="99"/>
                                          </p:stCondLst>
                                        </p:cTn>
                                        <p:tgtEl>
                                          <p:spTgt spid="12"/>
                                        </p:tgtEl>
                                        <p:attrNameLst>
                                          <p:attrName>style.visibility</p:attrName>
                                        </p:attrNameLst>
                                      </p:cBhvr>
                                      <p:to>
                                        <p:strVal val="hidden"/>
                                      </p:to>
                                    </p:set>
                                  </p:childTnLst>
                                </p:cTn>
                              </p:par>
                              <p:par>
                                <p:cTn id="112" presetID="10" presetClass="entr" presetSubtype="0" fill="hold" nodeType="withEffect">
                                  <p:stCondLst>
                                    <p:cond delay="1800"/>
                                  </p:stCondLst>
                                  <p:childTnLst>
                                    <p:set>
                                      <p:cBhvr>
                                        <p:cTn id="113" dur="1" fill="hold">
                                          <p:stCondLst>
                                            <p:cond delay="0"/>
                                          </p:stCondLst>
                                        </p:cTn>
                                        <p:tgtEl>
                                          <p:spTgt spid="12"/>
                                        </p:tgtEl>
                                        <p:attrNameLst>
                                          <p:attrName>style.visibility</p:attrName>
                                        </p:attrNameLst>
                                      </p:cBhvr>
                                      <p:to>
                                        <p:strVal val="visible"/>
                                      </p:to>
                                    </p:set>
                                    <p:animEffect transition="in" filter="fade">
                                      <p:cBhvr>
                                        <p:cTn id="114" dur="100"/>
                                        <p:tgtEl>
                                          <p:spTgt spid="12"/>
                                        </p:tgtEl>
                                      </p:cBhvr>
                                    </p:animEffect>
                                  </p:childTnLst>
                                </p:cTn>
                              </p:par>
                              <p:par>
                                <p:cTn id="115" presetID="10" presetClass="entr" presetSubtype="0" fill="hold" grpId="0" nodeType="withEffect">
                                  <p:stCondLst>
                                    <p:cond delay="900"/>
                                  </p:stCondLst>
                                  <p:childTnLst>
                                    <p:set>
                                      <p:cBhvr>
                                        <p:cTn id="116" dur="1" fill="hold">
                                          <p:stCondLst>
                                            <p:cond delay="0"/>
                                          </p:stCondLst>
                                        </p:cTn>
                                        <p:tgtEl>
                                          <p:spTgt spid="62"/>
                                        </p:tgtEl>
                                        <p:attrNameLst>
                                          <p:attrName>style.visibility</p:attrName>
                                        </p:attrNameLst>
                                      </p:cBhvr>
                                      <p:to>
                                        <p:strVal val="visible"/>
                                      </p:to>
                                    </p:set>
                                    <p:animEffect transition="in" filter="fade">
                                      <p:cBhvr>
                                        <p:cTn id="117" dur="500"/>
                                        <p:tgtEl>
                                          <p:spTgt spid="62"/>
                                        </p:tgtEl>
                                      </p:cBhvr>
                                    </p:animEffect>
                                  </p:childTnLst>
                                </p:cTn>
                              </p:par>
                              <p:par>
                                <p:cTn id="118" presetID="10" presetClass="entr" presetSubtype="0" fill="hold" grpId="0" nodeType="withEffect">
                                  <p:stCondLst>
                                    <p:cond delay="1000"/>
                                  </p:stCondLst>
                                  <p:childTnLst>
                                    <p:set>
                                      <p:cBhvr>
                                        <p:cTn id="119" dur="1" fill="hold">
                                          <p:stCondLst>
                                            <p:cond delay="0"/>
                                          </p:stCondLst>
                                        </p:cTn>
                                        <p:tgtEl>
                                          <p:spTgt spid="66"/>
                                        </p:tgtEl>
                                        <p:attrNameLst>
                                          <p:attrName>style.visibility</p:attrName>
                                        </p:attrNameLst>
                                      </p:cBhvr>
                                      <p:to>
                                        <p:strVal val="visible"/>
                                      </p:to>
                                    </p:set>
                                    <p:animEffect transition="in" filter="fade">
                                      <p:cBhvr>
                                        <p:cTn id="120" dur="500"/>
                                        <p:tgtEl>
                                          <p:spTgt spid="66"/>
                                        </p:tgtEl>
                                      </p:cBhvr>
                                    </p:animEffect>
                                  </p:childTnLst>
                                </p:cTn>
                              </p:par>
                              <p:par>
                                <p:cTn id="121" presetID="10" presetClass="entr" presetSubtype="0" fill="hold" grpId="0" nodeType="withEffect">
                                  <p:stCondLst>
                                    <p:cond delay="1100"/>
                                  </p:stCondLst>
                                  <p:childTnLst>
                                    <p:set>
                                      <p:cBhvr>
                                        <p:cTn id="122" dur="1" fill="hold">
                                          <p:stCondLst>
                                            <p:cond delay="0"/>
                                          </p:stCondLst>
                                        </p:cTn>
                                        <p:tgtEl>
                                          <p:spTgt spid="69"/>
                                        </p:tgtEl>
                                        <p:attrNameLst>
                                          <p:attrName>style.visibility</p:attrName>
                                        </p:attrNameLst>
                                      </p:cBhvr>
                                      <p:to>
                                        <p:strVal val="visible"/>
                                      </p:to>
                                    </p:set>
                                    <p:animEffect transition="in" filter="fade">
                                      <p:cBhvr>
                                        <p:cTn id="123" dur="500"/>
                                        <p:tgtEl>
                                          <p:spTgt spid="69"/>
                                        </p:tgtEl>
                                      </p:cBhvr>
                                    </p:animEffect>
                                  </p:childTnLst>
                                </p:cTn>
                              </p:par>
                              <p:par>
                                <p:cTn id="124" presetID="10" presetClass="entr" presetSubtype="0" fill="hold" grpId="0" nodeType="withEffect">
                                  <p:stCondLst>
                                    <p:cond delay="1900"/>
                                  </p:stCondLst>
                                  <p:childTnLst>
                                    <p:set>
                                      <p:cBhvr>
                                        <p:cTn id="125" dur="1" fill="hold">
                                          <p:stCondLst>
                                            <p:cond delay="0"/>
                                          </p:stCondLst>
                                        </p:cTn>
                                        <p:tgtEl>
                                          <p:spTgt spid="38"/>
                                        </p:tgtEl>
                                        <p:attrNameLst>
                                          <p:attrName>style.visibility</p:attrName>
                                        </p:attrNameLst>
                                      </p:cBhvr>
                                      <p:to>
                                        <p:strVal val="visible"/>
                                      </p:to>
                                    </p:set>
                                    <p:animEffect transition="in" filter="fade">
                                      <p:cBhvr>
                                        <p:cTn id="126" dur="500"/>
                                        <p:tgtEl>
                                          <p:spTgt spid="38"/>
                                        </p:tgtEl>
                                      </p:cBhvr>
                                    </p:animEffect>
                                  </p:childTnLst>
                                </p:cTn>
                              </p:par>
                              <p:par>
                                <p:cTn id="127" presetID="22" presetClass="entr" presetSubtype="4" fill="hold" nodeType="withEffect">
                                  <p:stCondLst>
                                    <p:cond delay="2200"/>
                                  </p:stCondLst>
                                  <p:childTnLst>
                                    <p:set>
                                      <p:cBhvr>
                                        <p:cTn id="128" dur="1" fill="hold">
                                          <p:stCondLst>
                                            <p:cond delay="0"/>
                                          </p:stCondLst>
                                        </p:cTn>
                                        <p:tgtEl>
                                          <p:spTgt spid="24"/>
                                        </p:tgtEl>
                                        <p:attrNameLst>
                                          <p:attrName>style.visibility</p:attrName>
                                        </p:attrNameLst>
                                      </p:cBhvr>
                                      <p:to>
                                        <p:strVal val="visible"/>
                                      </p:to>
                                    </p:set>
                                    <p:animEffect transition="in" filter="wipe(down)">
                                      <p:cBhvr>
                                        <p:cTn id="129" dur="300"/>
                                        <p:tgtEl>
                                          <p:spTgt spid="24"/>
                                        </p:tgtEl>
                                      </p:cBhvr>
                                    </p:animEffect>
                                  </p:childTnLst>
                                </p:cTn>
                              </p:par>
                              <p:par>
                                <p:cTn id="130" presetID="22" presetClass="entr" presetSubtype="8" fill="hold" nodeType="withEffect">
                                  <p:stCondLst>
                                    <p:cond delay="2500"/>
                                  </p:stCondLst>
                                  <p:childTnLst>
                                    <p:set>
                                      <p:cBhvr>
                                        <p:cTn id="131" dur="1" fill="hold">
                                          <p:stCondLst>
                                            <p:cond delay="0"/>
                                          </p:stCondLst>
                                        </p:cTn>
                                        <p:tgtEl>
                                          <p:spTgt spid="85"/>
                                        </p:tgtEl>
                                        <p:attrNameLst>
                                          <p:attrName>style.visibility</p:attrName>
                                        </p:attrNameLst>
                                      </p:cBhvr>
                                      <p:to>
                                        <p:strVal val="visible"/>
                                      </p:to>
                                    </p:set>
                                    <p:animEffect transition="in" filter="wipe(left)">
                                      <p:cBhvr>
                                        <p:cTn id="132" dur="300"/>
                                        <p:tgtEl>
                                          <p:spTgt spid="85"/>
                                        </p:tgtEl>
                                      </p:cBhvr>
                                    </p:animEffect>
                                  </p:childTnLst>
                                </p:cTn>
                              </p:par>
                              <p:par>
                                <p:cTn id="133" presetID="10" presetClass="entr" presetSubtype="0" fill="hold" grpId="0" nodeType="withEffect">
                                  <p:stCondLst>
                                    <p:cond delay="2800"/>
                                  </p:stCondLst>
                                  <p:childTnLst>
                                    <p:set>
                                      <p:cBhvr>
                                        <p:cTn id="134" dur="1" fill="hold">
                                          <p:stCondLst>
                                            <p:cond delay="0"/>
                                          </p:stCondLst>
                                        </p:cTn>
                                        <p:tgtEl>
                                          <p:spTgt spid="70"/>
                                        </p:tgtEl>
                                        <p:attrNameLst>
                                          <p:attrName>style.visibility</p:attrName>
                                        </p:attrNameLst>
                                      </p:cBhvr>
                                      <p:to>
                                        <p:strVal val="visible"/>
                                      </p:to>
                                    </p:set>
                                    <p:animEffect transition="in" filter="fade">
                                      <p:cBhvr>
                                        <p:cTn id="135" dur="500"/>
                                        <p:tgtEl>
                                          <p:spTgt spid="70"/>
                                        </p:tgtEl>
                                      </p:cBhvr>
                                    </p:animEffect>
                                  </p:childTnLst>
                                </p:cTn>
                              </p:par>
                              <p:par>
                                <p:cTn id="136" presetID="10" presetClass="entr" presetSubtype="0" fill="hold" nodeType="withEffect">
                                  <p:stCondLst>
                                    <p:cond delay="2700"/>
                                  </p:stCondLst>
                                  <p:childTnLst>
                                    <p:set>
                                      <p:cBhvr>
                                        <p:cTn id="137" dur="1" fill="hold">
                                          <p:stCondLst>
                                            <p:cond delay="0"/>
                                          </p:stCondLst>
                                        </p:cTn>
                                        <p:tgtEl>
                                          <p:spTgt spid="87"/>
                                        </p:tgtEl>
                                        <p:attrNameLst>
                                          <p:attrName>style.visibility</p:attrName>
                                        </p:attrNameLst>
                                      </p:cBhvr>
                                      <p:to>
                                        <p:strVal val="visible"/>
                                      </p:to>
                                    </p:set>
                                    <p:animEffect transition="in" filter="fade">
                                      <p:cBhvr>
                                        <p:cTn id="138" dur="100"/>
                                        <p:tgtEl>
                                          <p:spTgt spid="87"/>
                                        </p:tgtEl>
                                      </p:cBhvr>
                                    </p:animEffect>
                                  </p:childTnLst>
                                </p:cTn>
                              </p:par>
                              <p:par>
                                <p:cTn id="139" presetID="10" presetClass="exit" presetSubtype="0" fill="hold" nodeType="withEffect">
                                  <p:stCondLst>
                                    <p:cond delay="2800"/>
                                  </p:stCondLst>
                                  <p:childTnLst>
                                    <p:animEffect transition="out" filter="fade">
                                      <p:cBhvr>
                                        <p:cTn id="140" dur="100"/>
                                        <p:tgtEl>
                                          <p:spTgt spid="87"/>
                                        </p:tgtEl>
                                      </p:cBhvr>
                                    </p:animEffect>
                                    <p:set>
                                      <p:cBhvr>
                                        <p:cTn id="141" dur="1" fill="hold">
                                          <p:stCondLst>
                                            <p:cond delay="99"/>
                                          </p:stCondLst>
                                        </p:cTn>
                                        <p:tgtEl>
                                          <p:spTgt spid="87"/>
                                        </p:tgtEl>
                                        <p:attrNameLst>
                                          <p:attrName>style.visibility</p:attrName>
                                        </p:attrNameLst>
                                      </p:cBhvr>
                                      <p:to>
                                        <p:strVal val="hidden"/>
                                      </p:to>
                                    </p:set>
                                  </p:childTnLst>
                                </p:cTn>
                              </p:par>
                              <p:par>
                                <p:cTn id="142" presetID="10" presetClass="entr" presetSubtype="0" fill="hold" nodeType="withEffect">
                                  <p:stCondLst>
                                    <p:cond delay="2900"/>
                                  </p:stCondLst>
                                  <p:childTnLst>
                                    <p:set>
                                      <p:cBhvr>
                                        <p:cTn id="143" dur="1" fill="hold">
                                          <p:stCondLst>
                                            <p:cond delay="0"/>
                                          </p:stCondLst>
                                        </p:cTn>
                                        <p:tgtEl>
                                          <p:spTgt spid="87"/>
                                        </p:tgtEl>
                                        <p:attrNameLst>
                                          <p:attrName>style.visibility</p:attrName>
                                        </p:attrNameLst>
                                      </p:cBhvr>
                                      <p:to>
                                        <p:strVal val="visible"/>
                                      </p:to>
                                    </p:set>
                                    <p:animEffect transition="in" filter="fade">
                                      <p:cBhvr>
                                        <p:cTn id="144" dur="100"/>
                                        <p:tgtEl>
                                          <p:spTgt spid="87"/>
                                        </p:tgtEl>
                                      </p:cBhvr>
                                    </p:animEffect>
                                  </p:childTnLst>
                                </p:cTn>
                              </p:par>
                              <p:par>
                                <p:cTn id="145" presetID="10" presetClass="exit" presetSubtype="0" fill="hold" nodeType="withEffect">
                                  <p:stCondLst>
                                    <p:cond delay="3000"/>
                                  </p:stCondLst>
                                  <p:childTnLst>
                                    <p:animEffect transition="out" filter="fade">
                                      <p:cBhvr>
                                        <p:cTn id="146" dur="100"/>
                                        <p:tgtEl>
                                          <p:spTgt spid="87"/>
                                        </p:tgtEl>
                                      </p:cBhvr>
                                    </p:animEffect>
                                    <p:set>
                                      <p:cBhvr>
                                        <p:cTn id="147" dur="1" fill="hold">
                                          <p:stCondLst>
                                            <p:cond delay="99"/>
                                          </p:stCondLst>
                                        </p:cTn>
                                        <p:tgtEl>
                                          <p:spTgt spid="87"/>
                                        </p:tgtEl>
                                        <p:attrNameLst>
                                          <p:attrName>style.visibility</p:attrName>
                                        </p:attrNameLst>
                                      </p:cBhvr>
                                      <p:to>
                                        <p:strVal val="hidden"/>
                                      </p:to>
                                    </p:set>
                                  </p:childTnLst>
                                </p:cTn>
                              </p:par>
                              <p:par>
                                <p:cTn id="148" presetID="10" presetClass="entr" presetSubtype="0" fill="hold" nodeType="withEffect">
                                  <p:stCondLst>
                                    <p:cond delay="3200"/>
                                  </p:stCondLst>
                                  <p:childTnLst>
                                    <p:set>
                                      <p:cBhvr>
                                        <p:cTn id="149" dur="1" fill="hold">
                                          <p:stCondLst>
                                            <p:cond delay="0"/>
                                          </p:stCondLst>
                                        </p:cTn>
                                        <p:tgtEl>
                                          <p:spTgt spid="87"/>
                                        </p:tgtEl>
                                        <p:attrNameLst>
                                          <p:attrName>style.visibility</p:attrName>
                                        </p:attrNameLst>
                                      </p:cBhvr>
                                      <p:to>
                                        <p:strVal val="visible"/>
                                      </p:to>
                                    </p:set>
                                    <p:animEffect transition="in" filter="fade">
                                      <p:cBhvr>
                                        <p:cTn id="150" dur="100"/>
                                        <p:tgtEl>
                                          <p:spTgt spid="87"/>
                                        </p:tgtEl>
                                      </p:cBhvr>
                                    </p:animEffect>
                                  </p:childTnLst>
                                </p:cTn>
                              </p:par>
                              <p:par>
                                <p:cTn id="151" presetID="10" presetClass="entr" presetSubtype="0" fill="hold" grpId="0" nodeType="withEffect">
                                  <p:stCondLst>
                                    <p:cond delay="3100"/>
                                  </p:stCondLst>
                                  <p:childTnLst>
                                    <p:set>
                                      <p:cBhvr>
                                        <p:cTn id="152" dur="1" fill="hold">
                                          <p:stCondLst>
                                            <p:cond delay="0"/>
                                          </p:stCondLst>
                                        </p:cTn>
                                        <p:tgtEl>
                                          <p:spTgt spid="86"/>
                                        </p:tgtEl>
                                        <p:attrNameLst>
                                          <p:attrName>style.visibility</p:attrName>
                                        </p:attrNameLst>
                                      </p:cBhvr>
                                      <p:to>
                                        <p:strVal val="visible"/>
                                      </p:to>
                                    </p:set>
                                    <p:animEffect transition="in" filter="fade">
                                      <p:cBhvr>
                                        <p:cTn id="153" dur="500"/>
                                        <p:tgtEl>
                                          <p:spTgt spid="86"/>
                                        </p:tgtEl>
                                      </p:cBhvr>
                                    </p:animEffect>
                                  </p:childTnLst>
                                </p:cTn>
                              </p:par>
                              <p:par>
                                <p:cTn id="154" presetID="22" presetClass="entr" presetSubtype="4" fill="hold" nodeType="withEffect">
                                  <p:stCondLst>
                                    <p:cond delay="3400"/>
                                  </p:stCondLst>
                                  <p:childTnLst>
                                    <p:set>
                                      <p:cBhvr>
                                        <p:cTn id="155" dur="1" fill="hold">
                                          <p:stCondLst>
                                            <p:cond delay="0"/>
                                          </p:stCondLst>
                                        </p:cTn>
                                        <p:tgtEl>
                                          <p:spTgt spid="84"/>
                                        </p:tgtEl>
                                        <p:attrNameLst>
                                          <p:attrName>style.visibility</p:attrName>
                                        </p:attrNameLst>
                                      </p:cBhvr>
                                      <p:to>
                                        <p:strVal val="visible"/>
                                      </p:to>
                                    </p:set>
                                    <p:animEffect transition="in" filter="wipe(down)">
                                      <p:cBhvr>
                                        <p:cTn id="156" dur="300"/>
                                        <p:tgtEl>
                                          <p:spTgt spid="84"/>
                                        </p:tgtEl>
                                      </p:cBhvr>
                                    </p:animEffect>
                                  </p:childTnLst>
                                </p:cTn>
                              </p:par>
                              <p:par>
                                <p:cTn id="157" presetID="10" presetClass="entr" presetSubtype="0" fill="hold" nodeType="withEffect">
                                  <p:stCondLst>
                                    <p:cond delay="2700"/>
                                  </p:stCondLst>
                                  <p:childTnLst>
                                    <p:set>
                                      <p:cBhvr>
                                        <p:cTn id="158" dur="1" fill="hold">
                                          <p:stCondLst>
                                            <p:cond delay="0"/>
                                          </p:stCondLst>
                                        </p:cTn>
                                        <p:tgtEl>
                                          <p:spTgt spid="98"/>
                                        </p:tgtEl>
                                        <p:attrNameLst>
                                          <p:attrName>style.visibility</p:attrName>
                                        </p:attrNameLst>
                                      </p:cBhvr>
                                      <p:to>
                                        <p:strVal val="visible"/>
                                      </p:to>
                                    </p:set>
                                    <p:animEffect transition="in" filter="fade">
                                      <p:cBhvr>
                                        <p:cTn id="159" dur="100"/>
                                        <p:tgtEl>
                                          <p:spTgt spid="98"/>
                                        </p:tgtEl>
                                      </p:cBhvr>
                                    </p:animEffect>
                                  </p:childTnLst>
                                </p:cTn>
                              </p:par>
                              <p:par>
                                <p:cTn id="160" presetID="10" presetClass="exit" presetSubtype="0" fill="hold" nodeType="withEffect">
                                  <p:stCondLst>
                                    <p:cond delay="2800"/>
                                  </p:stCondLst>
                                  <p:childTnLst>
                                    <p:animEffect transition="out" filter="fade">
                                      <p:cBhvr>
                                        <p:cTn id="161" dur="100"/>
                                        <p:tgtEl>
                                          <p:spTgt spid="98"/>
                                        </p:tgtEl>
                                      </p:cBhvr>
                                    </p:animEffect>
                                    <p:set>
                                      <p:cBhvr>
                                        <p:cTn id="162" dur="1" fill="hold">
                                          <p:stCondLst>
                                            <p:cond delay="99"/>
                                          </p:stCondLst>
                                        </p:cTn>
                                        <p:tgtEl>
                                          <p:spTgt spid="98"/>
                                        </p:tgtEl>
                                        <p:attrNameLst>
                                          <p:attrName>style.visibility</p:attrName>
                                        </p:attrNameLst>
                                      </p:cBhvr>
                                      <p:to>
                                        <p:strVal val="hidden"/>
                                      </p:to>
                                    </p:set>
                                  </p:childTnLst>
                                </p:cTn>
                              </p:par>
                              <p:par>
                                <p:cTn id="163" presetID="10" presetClass="entr" presetSubtype="0" fill="hold" nodeType="withEffect">
                                  <p:stCondLst>
                                    <p:cond delay="2900"/>
                                  </p:stCondLst>
                                  <p:childTnLst>
                                    <p:set>
                                      <p:cBhvr>
                                        <p:cTn id="164" dur="1" fill="hold">
                                          <p:stCondLst>
                                            <p:cond delay="0"/>
                                          </p:stCondLst>
                                        </p:cTn>
                                        <p:tgtEl>
                                          <p:spTgt spid="98"/>
                                        </p:tgtEl>
                                        <p:attrNameLst>
                                          <p:attrName>style.visibility</p:attrName>
                                        </p:attrNameLst>
                                      </p:cBhvr>
                                      <p:to>
                                        <p:strVal val="visible"/>
                                      </p:to>
                                    </p:set>
                                    <p:animEffect transition="in" filter="fade">
                                      <p:cBhvr>
                                        <p:cTn id="165" dur="100"/>
                                        <p:tgtEl>
                                          <p:spTgt spid="98"/>
                                        </p:tgtEl>
                                      </p:cBhvr>
                                    </p:animEffect>
                                  </p:childTnLst>
                                </p:cTn>
                              </p:par>
                              <p:par>
                                <p:cTn id="166" presetID="10" presetClass="exit" presetSubtype="0" fill="hold" nodeType="withEffect">
                                  <p:stCondLst>
                                    <p:cond delay="3000"/>
                                  </p:stCondLst>
                                  <p:childTnLst>
                                    <p:animEffect transition="out" filter="fade">
                                      <p:cBhvr>
                                        <p:cTn id="167" dur="100"/>
                                        <p:tgtEl>
                                          <p:spTgt spid="98"/>
                                        </p:tgtEl>
                                      </p:cBhvr>
                                    </p:animEffect>
                                    <p:set>
                                      <p:cBhvr>
                                        <p:cTn id="168" dur="1" fill="hold">
                                          <p:stCondLst>
                                            <p:cond delay="99"/>
                                          </p:stCondLst>
                                        </p:cTn>
                                        <p:tgtEl>
                                          <p:spTgt spid="98"/>
                                        </p:tgtEl>
                                        <p:attrNameLst>
                                          <p:attrName>style.visibility</p:attrName>
                                        </p:attrNameLst>
                                      </p:cBhvr>
                                      <p:to>
                                        <p:strVal val="hidden"/>
                                      </p:to>
                                    </p:set>
                                  </p:childTnLst>
                                </p:cTn>
                              </p:par>
                              <p:par>
                                <p:cTn id="169" presetID="10" presetClass="entr" presetSubtype="0" fill="hold" nodeType="withEffect">
                                  <p:stCondLst>
                                    <p:cond delay="3200"/>
                                  </p:stCondLst>
                                  <p:childTnLst>
                                    <p:set>
                                      <p:cBhvr>
                                        <p:cTn id="170" dur="1" fill="hold">
                                          <p:stCondLst>
                                            <p:cond delay="0"/>
                                          </p:stCondLst>
                                        </p:cTn>
                                        <p:tgtEl>
                                          <p:spTgt spid="98"/>
                                        </p:tgtEl>
                                        <p:attrNameLst>
                                          <p:attrName>style.visibility</p:attrName>
                                        </p:attrNameLst>
                                      </p:cBhvr>
                                      <p:to>
                                        <p:strVal val="visible"/>
                                      </p:to>
                                    </p:set>
                                    <p:animEffect transition="in" filter="fade">
                                      <p:cBhvr>
                                        <p:cTn id="171" dur="100"/>
                                        <p:tgtEl>
                                          <p:spTgt spid="98"/>
                                        </p:tgtEl>
                                      </p:cBhvr>
                                    </p:animEffect>
                                  </p:childTnLst>
                                </p:cTn>
                              </p:par>
                              <p:par>
                                <p:cTn id="172" presetID="10" presetClass="entr" presetSubtype="0" fill="hold" grpId="0" nodeType="withEffect">
                                  <p:stCondLst>
                                    <p:cond delay="3100"/>
                                  </p:stCondLst>
                                  <p:childTnLst>
                                    <p:set>
                                      <p:cBhvr>
                                        <p:cTn id="173" dur="1" fill="hold">
                                          <p:stCondLst>
                                            <p:cond delay="0"/>
                                          </p:stCondLst>
                                        </p:cTn>
                                        <p:tgtEl>
                                          <p:spTgt spid="97"/>
                                        </p:tgtEl>
                                        <p:attrNameLst>
                                          <p:attrName>style.visibility</p:attrName>
                                        </p:attrNameLst>
                                      </p:cBhvr>
                                      <p:to>
                                        <p:strVal val="visible"/>
                                      </p:to>
                                    </p:set>
                                    <p:animEffect transition="in" filter="fade">
                                      <p:cBhvr>
                                        <p:cTn id="174" dur="500"/>
                                        <p:tgtEl>
                                          <p:spTgt spid="97"/>
                                        </p:tgtEl>
                                      </p:cBhvr>
                                    </p:animEffect>
                                  </p:childTnLst>
                                </p:cTn>
                              </p:par>
                              <p:par>
                                <p:cTn id="175" presetID="22" presetClass="entr" presetSubtype="4" fill="hold" nodeType="withEffect">
                                  <p:stCondLst>
                                    <p:cond delay="3400"/>
                                  </p:stCondLst>
                                  <p:childTnLst>
                                    <p:set>
                                      <p:cBhvr>
                                        <p:cTn id="176" dur="1" fill="hold">
                                          <p:stCondLst>
                                            <p:cond delay="0"/>
                                          </p:stCondLst>
                                        </p:cTn>
                                        <p:tgtEl>
                                          <p:spTgt spid="96"/>
                                        </p:tgtEl>
                                        <p:attrNameLst>
                                          <p:attrName>style.visibility</p:attrName>
                                        </p:attrNameLst>
                                      </p:cBhvr>
                                      <p:to>
                                        <p:strVal val="visible"/>
                                      </p:to>
                                    </p:set>
                                    <p:animEffect transition="in" filter="wipe(down)">
                                      <p:cBhvr>
                                        <p:cTn id="177" dur="300"/>
                                        <p:tgtEl>
                                          <p:spTgt spid="96"/>
                                        </p:tgtEl>
                                      </p:cBhvr>
                                    </p:animEffect>
                                  </p:childTnLst>
                                </p:cTn>
                              </p:par>
                              <p:par>
                                <p:cTn id="178" presetID="10" presetClass="entr" presetSubtype="0" fill="hold" nodeType="withEffect">
                                  <p:stCondLst>
                                    <p:cond delay="2700"/>
                                  </p:stCondLst>
                                  <p:childTnLst>
                                    <p:set>
                                      <p:cBhvr>
                                        <p:cTn id="179" dur="1" fill="hold">
                                          <p:stCondLst>
                                            <p:cond delay="0"/>
                                          </p:stCondLst>
                                        </p:cTn>
                                        <p:tgtEl>
                                          <p:spTgt spid="101"/>
                                        </p:tgtEl>
                                        <p:attrNameLst>
                                          <p:attrName>style.visibility</p:attrName>
                                        </p:attrNameLst>
                                      </p:cBhvr>
                                      <p:to>
                                        <p:strVal val="visible"/>
                                      </p:to>
                                    </p:set>
                                    <p:animEffect transition="in" filter="fade">
                                      <p:cBhvr>
                                        <p:cTn id="180" dur="100"/>
                                        <p:tgtEl>
                                          <p:spTgt spid="101"/>
                                        </p:tgtEl>
                                      </p:cBhvr>
                                    </p:animEffect>
                                  </p:childTnLst>
                                </p:cTn>
                              </p:par>
                              <p:par>
                                <p:cTn id="181" presetID="10" presetClass="exit" presetSubtype="0" fill="hold" nodeType="withEffect">
                                  <p:stCondLst>
                                    <p:cond delay="2800"/>
                                  </p:stCondLst>
                                  <p:childTnLst>
                                    <p:animEffect transition="out" filter="fade">
                                      <p:cBhvr>
                                        <p:cTn id="182" dur="100"/>
                                        <p:tgtEl>
                                          <p:spTgt spid="101"/>
                                        </p:tgtEl>
                                      </p:cBhvr>
                                    </p:animEffect>
                                    <p:set>
                                      <p:cBhvr>
                                        <p:cTn id="183" dur="1" fill="hold">
                                          <p:stCondLst>
                                            <p:cond delay="99"/>
                                          </p:stCondLst>
                                        </p:cTn>
                                        <p:tgtEl>
                                          <p:spTgt spid="101"/>
                                        </p:tgtEl>
                                        <p:attrNameLst>
                                          <p:attrName>style.visibility</p:attrName>
                                        </p:attrNameLst>
                                      </p:cBhvr>
                                      <p:to>
                                        <p:strVal val="hidden"/>
                                      </p:to>
                                    </p:set>
                                  </p:childTnLst>
                                </p:cTn>
                              </p:par>
                              <p:par>
                                <p:cTn id="184" presetID="10" presetClass="entr" presetSubtype="0" fill="hold" nodeType="withEffect">
                                  <p:stCondLst>
                                    <p:cond delay="2900"/>
                                  </p:stCondLst>
                                  <p:childTnLst>
                                    <p:set>
                                      <p:cBhvr>
                                        <p:cTn id="185" dur="1" fill="hold">
                                          <p:stCondLst>
                                            <p:cond delay="0"/>
                                          </p:stCondLst>
                                        </p:cTn>
                                        <p:tgtEl>
                                          <p:spTgt spid="101"/>
                                        </p:tgtEl>
                                        <p:attrNameLst>
                                          <p:attrName>style.visibility</p:attrName>
                                        </p:attrNameLst>
                                      </p:cBhvr>
                                      <p:to>
                                        <p:strVal val="visible"/>
                                      </p:to>
                                    </p:set>
                                    <p:animEffect transition="in" filter="fade">
                                      <p:cBhvr>
                                        <p:cTn id="186" dur="100"/>
                                        <p:tgtEl>
                                          <p:spTgt spid="101"/>
                                        </p:tgtEl>
                                      </p:cBhvr>
                                    </p:animEffect>
                                  </p:childTnLst>
                                </p:cTn>
                              </p:par>
                              <p:par>
                                <p:cTn id="187" presetID="10" presetClass="exit" presetSubtype="0" fill="hold" nodeType="withEffect">
                                  <p:stCondLst>
                                    <p:cond delay="3000"/>
                                  </p:stCondLst>
                                  <p:childTnLst>
                                    <p:animEffect transition="out" filter="fade">
                                      <p:cBhvr>
                                        <p:cTn id="188" dur="100"/>
                                        <p:tgtEl>
                                          <p:spTgt spid="101"/>
                                        </p:tgtEl>
                                      </p:cBhvr>
                                    </p:animEffect>
                                    <p:set>
                                      <p:cBhvr>
                                        <p:cTn id="189" dur="1" fill="hold">
                                          <p:stCondLst>
                                            <p:cond delay="99"/>
                                          </p:stCondLst>
                                        </p:cTn>
                                        <p:tgtEl>
                                          <p:spTgt spid="101"/>
                                        </p:tgtEl>
                                        <p:attrNameLst>
                                          <p:attrName>style.visibility</p:attrName>
                                        </p:attrNameLst>
                                      </p:cBhvr>
                                      <p:to>
                                        <p:strVal val="hidden"/>
                                      </p:to>
                                    </p:set>
                                  </p:childTnLst>
                                </p:cTn>
                              </p:par>
                              <p:par>
                                <p:cTn id="190" presetID="10" presetClass="entr" presetSubtype="0" fill="hold" nodeType="withEffect">
                                  <p:stCondLst>
                                    <p:cond delay="3200"/>
                                  </p:stCondLst>
                                  <p:childTnLst>
                                    <p:set>
                                      <p:cBhvr>
                                        <p:cTn id="191" dur="1" fill="hold">
                                          <p:stCondLst>
                                            <p:cond delay="0"/>
                                          </p:stCondLst>
                                        </p:cTn>
                                        <p:tgtEl>
                                          <p:spTgt spid="101"/>
                                        </p:tgtEl>
                                        <p:attrNameLst>
                                          <p:attrName>style.visibility</p:attrName>
                                        </p:attrNameLst>
                                      </p:cBhvr>
                                      <p:to>
                                        <p:strVal val="visible"/>
                                      </p:to>
                                    </p:set>
                                    <p:animEffect transition="in" filter="fade">
                                      <p:cBhvr>
                                        <p:cTn id="192" dur="100"/>
                                        <p:tgtEl>
                                          <p:spTgt spid="101"/>
                                        </p:tgtEl>
                                      </p:cBhvr>
                                    </p:animEffect>
                                  </p:childTnLst>
                                </p:cTn>
                              </p:par>
                              <p:par>
                                <p:cTn id="193" presetID="10" presetClass="entr" presetSubtype="0" fill="hold" grpId="0" nodeType="withEffect">
                                  <p:stCondLst>
                                    <p:cond delay="3100"/>
                                  </p:stCondLst>
                                  <p:childTnLst>
                                    <p:set>
                                      <p:cBhvr>
                                        <p:cTn id="194" dur="1" fill="hold">
                                          <p:stCondLst>
                                            <p:cond delay="0"/>
                                          </p:stCondLst>
                                        </p:cTn>
                                        <p:tgtEl>
                                          <p:spTgt spid="100"/>
                                        </p:tgtEl>
                                        <p:attrNameLst>
                                          <p:attrName>style.visibility</p:attrName>
                                        </p:attrNameLst>
                                      </p:cBhvr>
                                      <p:to>
                                        <p:strVal val="visible"/>
                                      </p:to>
                                    </p:set>
                                    <p:animEffect transition="in" filter="fade">
                                      <p:cBhvr>
                                        <p:cTn id="195" dur="500"/>
                                        <p:tgtEl>
                                          <p:spTgt spid="100"/>
                                        </p:tgtEl>
                                      </p:cBhvr>
                                    </p:animEffect>
                                  </p:childTnLst>
                                </p:cTn>
                              </p:par>
                              <p:par>
                                <p:cTn id="196" presetID="22" presetClass="entr" presetSubtype="4" fill="hold" nodeType="withEffect">
                                  <p:stCondLst>
                                    <p:cond delay="3400"/>
                                  </p:stCondLst>
                                  <p:childTnLst>
                                    <p:set>
                                      <p:cBhvr>
                                        <p:cTn id="197" dur="1" fill="hold">
                                          <p:stCondLst>
                                            <p:cond delay="0"/>
                                          </p:stCondLst>
                                        </p:cTn>
                                        <p:tgtEl>
                                          <p:spTgt spid="99"/>
                                        </p:tgtEl>
                                        <p:attrNameLst>
                                          <p:attrName>style.visibility</p:attrName>
                                        </p:attrNameLst>
                                      </p:cBhvr>
                                      <p:to>
                                        <p:strVal val="visible"/>
                                      </p:to>
                                    </p:set>
                                    <p:animEffect transition="in" filter="wipe(down)">
                                      <p:cBhvr>
                                        <p:cTn id="198" dur="300"/>
                                        <p:tgtEl>
                                          <p:spTgt spid="99"/>
                                        </p:tgtEl>
                                      </p:cBhvr>
                                    </p:animEffect>
                                  </p:childTnLst>
                                </p:cTn>
                              </p:par>
                              <p:par>
                                <p:cTn id="199" presetID="10" presetClass="entr" presetSubtype="0" fill="hold" grpId="0" nodeType="withEffect">
                                  <p:stCondLst>
                                    <p:cond delay="1700"/>
                                  </p:stCondLst>
                                  <p:childTnLst>
                                    <p:set>
                                      <p:cBhvr>
                                        <p:cTn id="200" dur="1" fill="hold">
                                          <p:stCondLst>
                                            <p:cond delay="0"/>
                                          </p:stCondLst>
                                        </p:cTn>
                                        <p:tgtEl>
                                          <p:spTgt spid="137"/>
                                        </p:tgtEl>
                                        <p:attrNameLst>
                                          <p:attrName>style.visibility</p:attrName>
                                        </p:attrNameLst>
                                      </p:cBhvr>
                                      <p:to>
                                        <p:strVal val="visible"/>
                                      </p:to>
                                    </p:set>
                                    <p:animEffect transition="in" filter="fade">
                                      <p:cBhvr>
                                        <p:cTn id="201" dur="500"/>
                                        <p:tgtEl>
                                          <p:spTgt spid="137"/>
                                        </p:tgtEl>
                                      </p:cBhvr>
                                    </p:animEffect>
                                  </p:childTnLst>
                                </p:cTn>
                              </p:par>
                              <p:par>
                                <p:cTn id="202" presetID="10" presetClass="entr" presetSubtype="0" fill="hold" grpId="0" nodeType="withEffect">
                                  <p:stCondLst>
                                    <p:cond delay="2000"/>
                                  </p:stCondLst>
                                  <p:childTnLst>
                                    <p:set>
                                      <p:cBhvr>
                                        <p:cTn id="203" dur="1" fill="hold">
                                          <p:stCondLst>
                                            <p:cond delay="0"/>
                                          </p:stCondLst>
                                        </p:cTn>
                                        <p:tgtEl>
                                          <p:spTgt spid="136"/>
                                        </p:tgtEl>
                                        <p:attrNameLst>
                                          <p:attrName>style.visibility</p:attrName>
                                        </p:attrNameLst>
                                      </p:cBhvr>
                                      <p:to>
                                        <p:strVal val="visible"/>
                                      </p:to>
                                    </p:set>
                                    <p:animEffect transition="in" filter="fade">
                                      <p:cBhvr>
                                        <p:cTn id="204" dur="5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86" grpId="0" animBg="1"/>
      <p:bldP spid="97" grpId="0" animBg="1"/>
      <p:bldP spid="100" grpId="0" animBg="1"/>
      <p:bldP spid="38" grpId="0" animBg="1"/>
      <p:bldP spid="7" grpId="0" animBg="1"/>
      <p:bldP spid="40" grpId="0" animBg="1"/>
      <p:bldP spid="42" grpId="0" animBg="1"/>
      <p:bldP spid="44" grpId="0" animBg="1"/>
      <p:bldP spid="52" grpId="0" animBg="1"/>
      <p:bldP spid="53" grpId="0" animBg="1"/>
      <p:bldP spid="54" grpId="0" animBg="1"/>
      <p:bldP spid="55" grpId="0" animBg="1"/>
      <p:bldP spid="62" grpId="0" animBg="1"/>
      <p:bldP spid="66" grpId="0" animBg="1"/>
      <p:bldP spid="69" grpId="0" animBg="1"/>
      <p:bldP spid="70" grpId="0" animBg="1"/>
      <p:bldP spid="103" grpId="0"/>
      <p:bldP spid="107" grpId="0"/>
      <p:bldP spid="130" grpId="0" animBg="1"/>
      <p:bldP spid="131" grpId="0" animBg="1"/>
      <p:bldP spid="132" grpId="0" animBg="1"/>
      <p:bldP spid="133" grpId="0" animBg="1"/>
      <p:bldP spid="134" grpId="0"/>
      <p:bldP spid="135" grpId="0"/>
      <p:bldP spid="136" grpId="0"/>
      <p:bldP spid="13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ADCB1D2-71BF-4442-85AC-20706F44BBA0}"/>
              </a:ext>
            </a:extLst>
          </p:cNvPr>
          <p:cNvSpPr/>
          <p:nvPr/>
        </p:nvSpPr>
        <p:spPr>
          <a:xfrm>
            <a:off x="-2585" y="-1434"/>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16" name="Credit MAIN">
            <a:extLst>
              <a:ext uri="{FF2B5EF4-FFF2-40B4-BE49-F238E27FC236}">
                <a16:creationId xmlns:a16="http://schemas.microsoft.com/office/drawing/2014/main" id="{2518DECB-C7B9-41A5-9FB6-89C9AA3086AA}"/>
              </a:ext>
            </a:extLst>
          </p:cNvPr>
          <p:cNvSpPr txBox="1"/>
          <p:nvPr/>
        </p:nvSpPr>
        <p:spPr>
          <a:xfrm>
            <a:off x="50878" y="6420549"/>
            <a:ext cx="2235122"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Vũ</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Thùy</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Dương</a:t>
            </a:r>
            <a:endParaRPr lang="en-US" dirty="0">
              <a:solidFill>
                <a:schemeClr val="bg1">
                  <a:lumMod val="95000"/>
                  <a:alpha val="46000"/>
                </a:schemeClr>
              </a:solidFill>
            </a:endParaRPr>
          </a:p>
        </p:txBody>
      </p:sp>
      <p:sp>
        <p:nvSpPr>
          <p:cNvPr id="11" name="Header">
            <a:extLst>
              <a:ext uri="{FF2B5EF4-FFF2-40B4-BE49-F238E27FC236}">
                <a16:creationId xmlns:a16="http://schemas.microsoft.com/office/drawing/2014/main" id="{6A39F230-06D2-4140-8DA2-357C0B9B6D12}"/>
              </a:ext>
            </a:extLst>
          </p:cNvPr>
          <p:cNvSpPr txBox="1"/>
          <p:nvPr/>
        </p:nvSpPr>
        <p:spPr>
          <a:xfrm>
            <a:off x="50878" y="68119"/>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7" name="Footer: Part">
            <a:extLst>
              <a:ext uri="{FF2B5EF4-FFF2-40B4-BE49-F238E27FC236}">
                <a16:creationId xmlns:a16="http://schemas.microsoft.com/office/drawing/2014/main" id="{553347E6-1341-4BA1-A396-FC4741F3FAF1}"/>
              </a:ext>
            </a:extLst>
          </p:cNvPr>
          <p:cNvSpPr txBox="1"/>
          <p:nvPr/>
        </p:nvSpPr>
        <p:spPr>
          <a:xfrm>
            <a:off x="10236201" y="6413178"/>
            <a:ext cx="1883702" cy="369332"/>
          </a:xfrm>
          <a:prstGeom prst="rect">
            <a:avLst/>
          </a:prstGeom>
          <a:noFill/>
        </p:spPr>
        <p:txBody>
          <a:bodyPr wrap="square" rtlCol="0">
            <a:spAutoFit/>
          </a:bodyPr>
          <a:lstStyle/>
          <a:p>
            <a:r>
              <a:rPr lang="en-US" dirty="0" err="1">
                <a:solidFill>
                  <a:schemeClr val="bg1">
                    <a:lumMod val="95000"/>
                  </a:schemeClr>
                </a:solidFill>
                <a:latin typeface="JetBrains Mono Regular" panose="02000009000000000000" pitchFamily="49" charset="0"/>
                <a:cs typeface="JetBrains Mono Regular" panose="02000009000000000000" pitchFamily="49" charset="0"/>
              </a:rPr>
              <a:t>Danh</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sách</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kề</a:t>
            </a:r>
            <a:endParaRPr lang="en-US" dirty="0">
              <a:solidFill>
                <a:schemeClr val="bg1">
                  <a:lumMod val="95000"/>
                </a:schemeClr>
              </a:solidFill>
              <a:latin typeface="JetBrains Mono Regular" panose="02000009000000000000" pitchFamily="49" charset="0"/>
              <a:cs typeface="JetBrains Mono Regular" panose="02000009000000000000" pitchFamily="49" charset="0"/>
            </a:endParaRPr>
          </a:p>
        </p:txBody>
      </p:sp>
      <p:sp>
        <p:nvSpPr>
          <p:cNvPr id="19" name="Footer: Title">
            <a:extLst>
              <a:ext uri="{FF2B5EF4-FFF2-40B4-BE49-F238E27FC236}">
                <a16:creationId xmlns:a16="http://schemas.microsoft.com/office/drawing/2014/main" id="{FD144244-98B6-4C54-A114-16CD65E0D522}"/>
              </a:ext>
            </a:extLst>
          </p:cNvPr>
          <p:cNvSpPr txBox="1"/>
          <p:nvPr/>
        </p:nvSpPr>
        <p:spPr>
          <a:xfrm>
            <a:off x="9184132" y="6414047"/>
            <a:ext cx="1160019"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Light" panose="02000009000000000000" pitchFamily="49" charset="0"/>
                <a:cs typeface="JetBrains Mono Light" panose="02000009000000000000" pitchFamily="49" charset="0"/>
              </a:rPr>
              <a:t>:</a:t>
            </a:r>
          </a:p>
        </p:txBody>
      </p:sp>
      <p:sp>
        <p:nvSpPr>
          <p:cNvPr id="25" name="PAGE NUM 0">
            <a:extLst>
              <a:ext uri="{FF2B5EF4-FFF2-40B4-BE49-F238E27FC236}">
                <a16:creationId xmlns:a16="http://schemas.microsoft.com/office/drawing/2014/main" id="{CA8E8643-0820-44FC-9D06-02F2A0A63536}"/>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lumMod val="50000"/>
                  </a:schemeClr>
                </a:solidFill>
                <a:latin typeface="JetBrains Mono Light" panose="02000009000000000000" pitchFamily="49" charset="0"/>
                <a:cs typeface="JetBrains Mono Light" panose="02000009000000000000" pitchFamily="49" charset="0"/>
              </a:rPr>
              <a:t>0</a:t>
            </a:r>
            <a:endParaRPr lang="en-US" dirty="0">
              <a:solidFill>
                <a:schemeClr val="bg1"/>
              </a:solidFill>
              <a:latin typeface="JetBrains Mono Light" panose="02000009000000000000" pitchFamily="49" charset="0"/>
              <a:cs typeface="JetBrains Mono Light" panose="02000009000000000000" pitchFamily="49" charset="0"/>
            </a:endParaRPr>
          </a:p>
        </p:txBody>
      </p:sp>
      <p:sp>
        <p:nvSpPr>
          <p:cNvPr id="26" name="PAGE NUM 1">
            <a:extLst>
              <a:ext uri="{FF2B5EF4-FFF2-40B4-BE49-F238E27FC236}">
                <a16:creationId xmlns:a16="http://schemas.microsoft.com/office/drawing/2014/main" id="{6BF8CF33-13C7-458E-A4F5-0A19700195D0}"/>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7</a:t>
            </a:r>
            <a:endParaRPr lang="en-US" dirty="0"/>
          </a:p>
        </p:txBody>
      </p:sp>
      <p:sp>
        <p:nvSpPr>
          <p:cNvPr id="3" name="TextBox 2">
            <a:extLst>
              <a:ext uri="{FF2B5EF4-FFF2-40B4-BE49-F238E27FC236}">
                <a16:creationId xmlns:a16="http://schemas.microsoft.com/office/drawing/2014/main" id="{0DCF76D3-76B8-418E-89D0-5A5DE06812BC}"/>
              </a:ext>
            </a:extLst>
          </p:cNvPr>
          <p:cNvSpPr txBox="1"/>
          <p:nvPr/>
        </p:nvSpPr>
        <p:spPr>
          <a:xfrm>
            <a:off x="603362" y="591527"/>
            <a:ext cx="1867121" cy="369332"/>
          </a:xfrm>
          <a:prstGeom prst="rect">
            <a:avLst/>
          </a:prstGeom>
          <a:solidFill>
            <a:schemeClr val="bg1"/>
          </a:solid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Danh</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sách</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kề</a:t>
            </a:r>
            <a:endParaRPr lang="en-US" dirty="0">
              <a:latin typeface="JetBrains Mono Regular" panose="02000009000000000000" pitchFamily="49" charset="0"/>
              <a:cs typeface="JetBrains Mono Regular" panose="02000009000000000000" pitchFamily="49" charset="0"/>
            </a:endParaRPr>
          </a:p>
        </p:txBody>
      </p:sp>
      <p:sp>
        <p:nvSpPr>
          <p:cNvPr id="34" name="TextBox 80-2">
            <a:extLst>
              <a:ext uri="{FF2B5EF4-FFF2-40B4-BE49-F238E27FC236}">
                <a16:creationId xmlns:a16="http://schemas.microsoft.com/office/drawing/2014/main" id="{54635654-7014-4635-A396-5D59BCCB1AA6}"/>
              </a:ext>
            </a:extLst>
          </p:cNvPr>
          <p:cNvSpPr txBox="1"/>
          <p:nvPr/>
        </p:nvSpPr>
        <p:spPr>
          <a:xfrm>
            <a:off x="12326609" y="-154940"/>
            <a:ext cx="2607859" cy="4708981"/>
          </a:xfrm>
          <a:prstGeom prst="rect">
            <a:avLst/>
          </a:prstGeom>
          <a:noFill/>
        </p:spPr>
        <p:txBody>
          <a:bodyPr wrap="square" rtlCol="0">
            <a:spAutoFit/>
          </a:bodyPr>
          <a:lstStyle/>
          <a:p>
            <a:r>
              <a:rPr lang="en-US" sz="30000" dirty="0">
                <a:solidFill>
                  <a:schemeClr val="bg1">
                    <a:lumMod val="95000"/>
                    <a:alpha val="23000"/>
                  </a:schemeClr>
                </a:solidFill>
                <a:latin typeface="JetBrains Mono Regular" panose="02000009000000000000" pitchFamily="49" charset="0"/>
                <a:cs typeface="JetBrains Mono Regular" panose="02000009000000000000" pitchFamily="49" charset="0"/>
              </a:rPr>
              <a:t>2</a:t>
            </a:r>
          </a:p>
        </p:txBody>
      </p:sp>
      <p:sp>
        <p:nvSpPr>
          <p:cNvPr id="12" name="TextBox 11">
            <a:extLst>
              <a:ext uri="{FF2B5EF4-FFF2-40B4-BE49-F238E27FC236}">
                <a16:creationId xmlns:a16="http://schemas.microsoft.com/office/drawing/2014/main" id="{6737CED5-1784-4A43-B4E9-D00BCCEF937C}"/>
              </a:ext>
            </a:extLst>
          </p:cNvPr>
          <p:cNvSpPr txBox="1"/>
          <p:nvPr/>
        </p:nvSpPr>
        <p:spPr>
          <a:xfrm>
            <a:off x="1068583" y="1299601"/>
            <a:ext cx="1217417" cy="369332"/>
          </a:xfrm>
          <a:prstGeom prst="rect">
            <a:avLst/>
          </a:prstGeom>
          <a:solidFill>
            <a:schemeClr val="accent6">
              <a:lumMod val="75000"/>
            </a:schemeClr>
          </a:solidFill>
        </p:spPr>
        <p:txBody>
          <a:bodyPr wrap="square" rtlCol="0">
            <a:spAutoFit/>
          </a:bodyPr>
          <a:lstStyle/>
          <a:p>
            <a:pPr algn="ctr"/>
            <a:r>
              <a:rPr lang="en-US" dirty="0" err="1">
                <a:solidFill>
                  <a:schemeClr val="bg1"/>
                </a:solidFill>
                <a:latin typeface="JetBrains Mono Regular" panose="02000009000000000000" pitchFamily="49" charset="0"/>
                <a:cs typeface="JetBrains Mono Regular" panose="02000009000000000000" pitchFamily="49" charset="0"/>
              </a:rPr>
              <a:t>Ưu</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điểm</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2" name="TextBox 1">
            <a:extLst>
              <a:ext uri="{FF2B5EF4-FFF2-40B4-BE49-F238E27FC236}">
                <a16:creationId xmlns:a16="http://schemas.microsoft.com/office/drawing/2014/main" id="{FD86D89B-4BF9-4D73-98A2-B870C204A2B2}"/>
              </a:ext>
            </a:extLst>
          </p:cNvPr>
          <p:cNvSpPr txBox="1"/>
          <p:nvPr/>
        </p:nvSpPr>
        <p:spPr>
          <a:xfrm>
            <a:off x="1500605" y="1884752"/>
            <a:ext cx="9954795" cy="1015663"/>
          </a:xfrm>
          <a:prstGeom prst="rect">
            <a:avLst/>
          </a:prstGeom>
          <a:noFill/>
        </p:spPr>
        <p:txBody>
          <a:bodyPr wrap="square" rtlCol="0">
            <a:spAutoFit/>
          </a:bodyPr>
          <a:lstStyle/>
          <a:p>
            <a:r>
              <a:rPr lang="vi-VN" sz="2000" dirty="0">
                <a:solidFill>
                  <a:schemeClr val="bg1">
                    <a:lumMod val="95000"/>
                  </a:schemeClr>
                </a:solidFill>
                <a:effectLst/>
                <a:latin typeface="JetBrains Mono Light" panose="02000009000000000000" pitchFamily="49" charset="0"/>
                <a:cs typeface="JetBrains Mono Light" panose="02000009000000000000" pitchFamily="49" charset="0"/>
              </a:rPr>
              <a:t>So với ma trận kề</a:t>
            </a:r>
            <a:r>
              <a:rPr lang="en-US" sz="2000" dirty="0">
                <a:solidFill>
                  <a:schemeClr val="bg1">
                    <a:lumMod val="95000"/>
                  </a:schemeClr>
                </a:solidFill>
                <a:effectLst/>
                <a:latin typeface="JetBrains Mono Light" panose="02000009000000000000" pitchFamily="49" charset="0"/>
                <a:cs typeface="JetBrains Mono Light" panose="02000009000000000000" pitchFamily="49" charset="0"/>
              </a:rPr>
              <a:t>, </a:t>
            </a:r>
            <a:r>
              <a:rPr lang="en-US" sz="2000" dirty="0" err="1">
                <a:solidFill>
                  <a:schemeClr val="bg1">
                    <a:lumMod val="95000"/>
                  </a:schemeClr>
                </a:solidFill>
                <a:effectLst/>
                <a:latin typeface="JetBrains Mono Light" panose="02000009000000000000" pitchFamily="49" charset="0"/>
                <a:cs typeface="JetBrains Mono Light" panose="02000009000000000000" pitchFamily="49" charset="0"/>
              </a:rPr>
              <a:t>việc</a:t>
            </a:r>
            <a:r>
              <a:rPr lang="vi-VN" sz="2000" dirty="0">
                <a:solidFill>
                  <a:schemeClr val="bg1">
                    <a:lumMod val="95000"/>
                  </a:schemeClr>
                </a:solidFill>
                <a:effectLst/>
                <a:latin typeface="JetBrains Mono Light" panose="02000009000000000000" pitchFamily="49" charset="0"/>
                <a:cs typeface="JetBrains Mono Light" panose="02000009000000000000" pitchFamily="49" charset="0"/>
              </a:rPr>
              <a:t> biểu diễn đồ thị dưới dạng danh sách kề giúp tiết kiệm bộ nhớ hơn.</a:t>
            </a:r>
            <a:r>
              <a:rPr lang="en-US" sz="2000" dirty="0">
                <a:solidFill>
                  <a:schemeClr val="bg1">
                    <a:lumMod val="95000"/>
                  </a:schemeClr>
                </a:solidFill>
                <a:effectLst/>
                <a:latin typeface="JetBrains Mono Light" panose="02000009000000000000" pitchFamily="49" charset="0"/>
                <a:cs typeface="JetBrains Mono Light" panose="02000009000000000000" pitchFamily="49" charset="0"/>
              </a:rPr>
              <a:t> Đ</a:t>
            </a:r>
            <a:r>
              <a:rPr lang="vi-VN" sz="2000" dirty="0">
                <a:solidFill>
                  <a:schemeClr val="bg1">
                    <a:lumMod val="95000"/>
                  </a:schemeClr>
                </a:solidFill>
                <a:effectLst/>
                <a:latin typeface="JetBrains Mono Light" panose="02000009000000000000" pitchFamily="49" charset="0"/>
                <a:cs typeface="JetBrains Mono Light" panose="02000009000000000000" pitchFamily="49" charset="0"/>
              </a:rPr>
              <a:t>iều này</a:t>
            </a:r>
            <a:r>
              <a:rPr lang="en-US" sz="2000" dirty="0">
                <a:solidFill>
                  <a:schemeClr val="bg1">
                    <a:lumMod val="95000"/>
                  </a:schemeClr>
                </a:solidFill>
                <a:effectLst/>
                <a:latin typeface="JetBrains Mono Light" panose="02000009000000000000" pitchFamily="49" charset="0"/>
                <a:cs typeface="JetBrains Mono Light" panose="02000009000000000000" pitchFamily="49" charset="0"/>
              </a:rPr>
              <a:t> </a:t>
            </a:r>
            <a:r>
              <a:rPr lang="en-US" sz="2000" dirty="0" err="1">
                <a:solidFill>
                  <a:schemeClr val="bg1">
                    <a:lumMod val="95000"/>
                  </a:schemeClr>
                </a:solidFill>
                <a:effectLst/>
                <a:latin typeface="JetBrains Mono Light" panose="02000009000000000000" pitchFamily="49" charset="0"/>
                <a:cs typeface="JetBrains Mono Light" panose="02000009000000000000" pitchFamily="49" charset="0"/>
              </a:rPr>
              <a:t>được</a:t>
            </a:r>
            <a:r>
              <a:rPr lang="en-US" sz="2000" dirty="0">
                <a:solidFill>
                  <a:schemeClr val="bg1">
                    <a:lumMod val="95000"/>
                  </a:schemeClr>
                </a:solidFill>
                <a:effectLst/>
                <a:latin typeface="JetBrains Mono Light" panose="02000009000000000000" pitchFamily="49" charset="0"/>
                <a:cs typeface="JetBrains Mono Light" panose="02000009000000000000" pitchFamily="49" charset="0"/>
              </a:rPr>
              <a:t> </a:t>
            </a:r>
            <a:r>
              <a:rPr lang="en-US" sz="2000" dirty="0" err="1">
                <a:solidFill>
                  <a:schemeClr val="bg1">
                    <a:lumMod val="95000"/>
                  </a:schemeClr>
                </a:solidFill>
                <a:effectLst/>
                <a:latin typeface="JetBrains Mono Light" panose="02000009000000000000" pitchFamily="49" charset="0"/>
                <a:cs typeface="JetBrains Mono Light" panose="02000009000000000000" pitchFamily="49" charset="0"/>
              </a:rPr>
              <a:t>thấy</a:t>
            </a:r>
            <a:r>
              <a:rPr lang="en-US" sz="2000" dirty="0">
                <a:solidFill>
                  <a:schemeClr val="bg1">
                    <a:lumMod val="95000"/>
                  </a:schemeClr>
                </a:solidFill>
                <a:effectLst/>
                <a:latin typeface="JetBrains Mono Light" panose="02000009000000000000" pitchFamily="49" charset="0"/>
                <a:cs typeface="JetBrains Mono Light" panose="02000009000000000000" pitchFamily="49" charset="0"/>
              </a:rPr>
              <a:t> </a:t>
            </a:r>
            <a:r>
              <a:rPr lang="en-US" sz="2000" dirty="0" err="1">
                <a:solidFill>
                  <a:schemeClr val="bg1">
                    <a:lumMod val="95000"/>
                  </a:schemeClr>
                </a:solidFill>
                <a:effectLst/>
                <a:latin typeface="JetBrains Mono Light" panose="02000009000000000000" pitchFamily="49" charset="0"/>
                <a:cs typeface="JetBrains Mono Light" panose="02000009000000000000" pitchFamily="49" charset="0"/>
              </a:rPr>
              <a:t>rõ</a:t>
            </a:r>
            <a:r>
              <a:rPr lang="vi-VN" sz="2000" dirty="0">
                <a:solidFill>
                  <a:schemeClr val="bg1">
                    <a:lumMod val="95000"/>
                  </a:schemeClr>
                </a:solidFill>
                <a:effectLst/>
                <a:latin typeface="JetBrains Mono Light" panose="02000009000000000000" pitchFamily="49" charset="0"/>
                <a:cs typeface="JetBrains Mono Light" panose="02000009000000000000" pitchFamily="49" charset="0"/>
              </a:rPr>
              <a:t> khi biểu diễn đồ thị có số lượng lớn đỉnh nhưng có ít số cạnh (kết nối).</a:t>
            </a:r>
          </a:p>
        </p:txBody>
      </p:sp>
      <p:sp>
        <p:nvSpPr>
          <p:cNvPr id="5" name="TextBox 4">
            <a:extLst>
              <a:ext uri="{FF2B5EF4-FFF2-40B4-BE49-F238E27FC236}">
                <a16:creationId xmlns:a16="http://schemas.microsoft.com/office/drawing/2014/main" id="{DC2EC6E9-0BB5-4C55-BE76-7E453B735B2D}"/>
              </a:ext>
            </a:extLst>
          </p:cNvPr>
          <p:cNvSpPr txBox="1"/>
          <p:nvPr/>
        </p:nvSpPr>
        <p:spPr>
          <a:xfrm>
            <a:off x="1081322" y="2195017"/>
            <a:ext cx="914400" cy="477054"/>
          </a:xfrm>
          <a:prstGeom prst="rect">
            <a:avLst/>
          </a:prstGeom>
          <a:noFill/>
        </p:spPr>
        <p:txBody>
          <a:bodyPr wrap="square" rtlCol="0">
            <a:spAutoFit/>
          </a:bodyPr>
          <a:lstStyle/>
          <a:p>
            <a:r>
              <a:rPr lang="en-US" sz="2500" dirty="0">
                <a:solidFill>
                  <a:schemeClr val="accent6">
                    <a:lumMod val="60000"/>
                    <a:lumOff val="40000"/>
                  </a:schemeClr>
                </a:solidFill>
                <a:latin typeface="JetBrains Mono Light" panose="02000009000000000000" pitchFamily="49" charset="0"/>
                <a:cs typeface="JetBrains Mono Light" panose="02000009000000000000" pitchFamily="49" charset="0"/>
              </a:rPr>
              <a:t>+</a:t>
            </a:r>
          </a:p>
        </p:txBody>
      </p:sp>
      <p:sp>
        <p:nvSpPr>
          <p:cNvPr id="20" name="TextBox 19">
            <a:extLst>
              <a:ext uri="{FF2B5EF4-FFF2-40B4-BE49-F238E27FC236}">
                <a16:creationId xmlns:a16="http://schemas.microsoft.com/office/drawing/2014/main" id="{AEAF2D5A-3800-485A-8F8E-8D41AEB69BFF}"/>
              </a:ext>
            </a:extLst>
          </p:cNvPr>
          <p:cNvSpPr txBox="1"/>
          <p:nvPr/>
        </p:nvSpPr>
        <p:spPr>
          <a:xfrm>
            <a:off x="1500605" y="3220742"/>
            <a:ext cx="9192795" cy="738600"/>
          </a:xfrm>
          <a:prstGeom prst="rect">
            <a:avLst/>
          </a:prstGeom>
          <a:noFill/>
        </p:spPr>
        <p:txBody>
          <a:bodyPr wrap="square" rtlCol="0">
            <a:spAutoFit/>
          </a:bodyPr>
          <a:lstStyle/>
          <a:p>
            <a:pPr>
              <a:lnSpc>
                <a:spcPct val="107000"/>
              </a:lnSpc>
              <a:spcAft>
                <a:spcPts val="800"/>
              </a:spcAft>
            </a:pPr>
            <a:r>
              <a:rPr lang="en-US" sz="2000" dirty="0" err="1">
                <a:solidFill>
                  <a:schemeClr val="bg1"/>
                </a:solidFill>
                <a:effectLst/>
                <a:latin typeface="JetBrains Mono Light" panose="02000009000000000000" pitchFamily="49" charset="0"/>
                <a:cs typeface="JetBrains Mono Light" panose="02000009000000000000" pitchFamily="49" charset="0"/>
              </a:rPr>
              <a:t>Việc</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duyệt</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các</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đỉnh</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kề</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với</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một</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đỉnh</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nào</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đó</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cũng</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cực</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kỳ</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nhanh</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chóng</a:t>
            </a:r>
            <a:r>
              <a:rPr lang="en-US" sz="2000" dirty="0">
                <a:solidFill>
                  <a:schemeClr val="bg1"/>
                </a:solidFill>
                <a:effectLst/>
                <a:latin typeface="JetBrains Mono Light" panose="02000009000000000000" pitchFamily="49" charset="0"/>
                <a:cs typeface="JetBrains Mono Light" panose="02000009000000000000" pitchFamily="49" charset="0"/>
              </a:rPr>
              <a:t> do </a:t>
            </a:r>
            <a:r>
              <a:rPr lang="en-US" sz="2000" dirty="0" err="1">
                <a:solidFill>
                  <a:schemeClr val="bg1"/>
                </a:solidFill>
                <a:effectLst/>
                <a:latin typeface="JetBrains Mono Light" panose="02000009000000000000" pitchFamily="49" charset="0"/>
                <a:cs typeface="JetBrains Mono Light" panose="02000009000000000000" pitchFamily="49" charset="0"/>
              </a:rPr>
              <a:t>mỗi</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đỉnh</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chỉ</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kết</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nối</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tới</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các</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đỉnh</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kề</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với</a:t>
            </a:r>
            <a:r>
              <a:rPr lang="en-US" sz="2000" dirty="0">
                <a:solidFill>
                  <a:schemeClr val="bg1"/>
                </a:solidFill>
                <a:effectLst/>
                <a:latin typeface="JetBrains Mono Light" panose="02000009000000000000" pitchFamily="49" charset="0"/>
                <a:cs typeface="JetBrains Mono Light" panose="02000009000000000000" pitchFamily="49" charset="0"/>
              </a:rPr>
              <a:t> </a:t>
            </a:r>
            <a:r>
              <a:rPr lang="en-US" sz="2000" dirty="0" err="1">
                <a:solidFill>
                  <a:schemeClr val="bg1"/>
                </a:solidFill>
                <a:effectLst/>
                <a:latin typeface="JetBrains Mono Light" panose="02000009000000000000" pitchFamily="49" charset="0"/>
                <a:cs typeface="JetBrains Mono Light" panose="02000009000000000000" pitchFamily="49" charset="0"/>
              </a:rPr>
              <a:t>nó</a:t>
            </a:r>
            <a:r>
              <a:rPr lang="en-US" sz="2000" dirty="0">
                <a:solidFill>
                  <a:schemeClr val="bg1"/>
                </a:solidFill>
                <a:effectLst/>
                <a:latin typeface="JetBrains Mono Light" panose="02000009000000000000" pitchFamily="49" charset="0"/>
                <a:cs typeface="JetBrains Mono Light" panose="02000009000000000000" pitchFamily="49" charset="0"/>
              </a:rPr>
              <a:t>.</a:t>
            </a:r>
          </a:p>
        </p:txBody>
      </p:sp>
      <p:sp>
        <p:nvSpPr>
          <p:cNvPr id="21" name="TextBox 20">
            <a:extLst>
              <a:ext uri="{FF2B5EF4-FFF2-40B4-BE49-F238E27FC236}">
                <a16:creationId xmlns:a16="http://schemas.microsoft.com/office/drawing/2014/main" id="{4E29147F-5C80-4934-B149-A62F6A12E578}"/>
              </a:ext>
            </a:extLst>
          </p:cNvPr>
          <p:cNvSpPr txBox="1"/>
          <p:nvPr/>
        </p:nvSpPr>
        <p:spPr>
          <a:xfrm>
            <a:off x="1081322" y="3378607"/>
            <a:ext cx="914400" cy="477054"/>
          </a:xfrm>
          <a:prstGeom prst="rect">
            <a:avLst/>
          </a:prstGeom>
          <a:noFill/>
        </p:spPr>
        <p:txBody>
          <a:bodyPr wrap="square" rtlCol="0">
            <a:spAutoFit/>
          </a:bodyPr>
          <a:lstStyle/>
          <a:p>
            <a:r>
              <a:rPr lang="en-US" sz="2500" dirty="0">
                <a:solidFill>
                  <a:schemeClr val="accent6">
                    <a:lumMod val="60000"/>
                    <a:lumOff val="40000"/>
                  </a:schemeClr>
                </a:solidFill>
                <a:latin typeface="JetBrains Mono Light" panose="02000009000000000000" pitchFamily="49" charset="0"/>
                <a:cs typeface="JetBrains Mono Light" panose="02000009000000000000" pitchFamily="49" charset="0"/>
              </a:rPr>
              <a:t>+</a:t>
            </a:r>
          </a:p>
        </p:txBody>
      </p:sp>
      <p:sp>
        <p:nvSpPr>
          <p:cNvPr id="23" name="TextBox 22">
            <a:extLst>
              <a:ext uri="{FF2B5EF4-FFF2-40B4-BE49-F238E27FC236}">
                <a16:creationId xmlns:a16="http://schemas.microsoft.com/office/drawing/2014/main" id="{8E97E595-F8F6-4671-ADD3-26220A8DDA49}"/>
              </a:ext>
            </a:extLst>
          </p:cNvPr>
          <p:cNvSpPr txBox="1"/>
          <p:nvPr/>
        </p:nvSpPr>
        <p:spPr>
          <a:xfrm>
            <a:off x="1068583" y="4361644"/>
            <a:ext cx="1801617" cy="369332"/>
          </a:xfrm>
          <a:prstGeom prst="rect">
            <a:avLst/>
          </a:prstGeom>
          <a:solidFill>
            <a:srgbClr val="C00000"/>
          </a:solidFill>
        </p:spPr>
        <p:txBody>
          <a:bodyPr wrap="square" rtlCol="0">
            <a:spAutoFit/>
          </a:bodyPr>
          <a:lstStyle/>
          <a:p>
            <a:pPr algn="ctr"/>
            <a:r>
              <a:rPr lang="en-US" dirty="0" err="1">
                <a:solidFill>
                  <a:schemeClr val="bg1"/>
                </a:solidFill>
                <a:latin typeface="JetBrains Mono Regular" panose="02000009000000000000" pitchFamily="49" charset="0"/>
                <a:cs typeface="JetBrains Mono Regular" panose="02000009000000000000" pitchFamily="49" charset="0"/>
              </a:rPr>
              <a:t>Nhược</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điểm</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24" name="TextBox 23">
            <a:extLst>
              <a:ext uri="{FF2B5EF4-FFF2-40B4-BE49-F238E27FC236}">
                <a16:creationId xmlns:a16="http://schemas.microsoft.com/office/drawing/2014/main" id="{F4864DD4-A9CE-439F-9CD9-E6BD5F9BBE92}"/>
              </a:ext>
            </a:extLst>
          </p:cNvPr>
          <p:cNvSpPr txBox="1"/>
          <p:nvPr/>
        </p:nvSpPr>
        <p:spPr>
          <a:xfrm>
            <a:off x="1106723" y="5186864"/>
            <a:ext cx="328378" cy="477054"/>
          </a:xfrm>
          <a:prstGeom prst="rect">
            <a:avLst/>
          </a:prstGeom>
          <a:noFill/>
        </p:spPr>
        <p:txBody>
          <a:bodyPr wrap="square" rtlCol="0">
            <a:spAutoFit/>
          </a:bodyPr>
          <a:lstStyle/>
          <a:p>
            <a:pPr algn="ctr"/>
            <a:r>
              <a:rPr lang="en-US" sz="2500" dirty="0">
                <a:solidFill>
                  <a:srgbClr val="C00000"/>
                </a:solidFill>
                <a:latin typeface="JetBrains Mono" panose="02000009000000000000" pitchFamily="49" charset="0"/>
                <a:cs typeface="JetBrains Mono" panose="02000009000000000000" pitchFamily="49" charset="0"/>
              </a:rPr>
              <a:t>-</a:t>
            </a:r>
          </a:p>
        </p:txBody>
      </p:sp>
      <p:sp>
        <p:nvSpPr>
          <p:cNvPr id="8" name="TextBox 7">
            <a:extLst>
              <a:ext uri="{FF2B5EF4-FFF2-40B4-BE49-F238E27FC236}">
                <a16:creationId xmlns:a16="http://schemas.microsoft.com/office/drawing/2014/main" id="{ECBEDE8F-6E2C-4FAA-A039-2CA0DCBBE9A9}"/>
              </a:ext>
            </a:extLst>
          </p:cNvPr>
          <p:cNvSpPr txBox="1"/>
          <p:nvPr/>
        </p:nvSpPr>
        <p:spPr>
          <a:xfrm>
            <a:off x="1487905" y="4963392"/>
            <a:ext cx="9597372" cy="1067921"/>
          </a:xfrm>
          <a:prstGeom prst="rect">
            <a:avLst/>
          </a:prstGeom>
          <a:noFill/>
        </p:spPr>
        <p:txBody>
          <a:bodyPr wrap="square" rtlCol="0">
            <a:spAutoFit/>
          </a:bodyPr>
          <a:lstStyle/>
          <a:p>
            <a:pPr>
              <a:lnSpc>
                <a:spcPct val="107000"/>
              </a:lnSpc>
              <a:spcAft>
                <a:spcPts val="800"/>
              </a:spcAft>
            </a:pPr>
            <a:r>
              <a:rPr lang="en-US" sz="2000" dirty="0">
                <a:solidFill>
                  <a:schemeClr val="bg1"/>
                </a:solidFill>
                <a:latin typeface="JetBrains Mono Light" panose="02000009000000000000" pitchFamily="49" charset="0"/>
                <a:cs typeface="JetBrains Mono Light" panose="02000009000000000000" pitchFamily="49" charset="0"/>
              </a:rPr>
              <a:t>V</a:t>
            </a:r>
            <a:r>
              <a:rPr lang="vi-VN" sz="2000" dirty="0">
                <a:solidFill>
                  <a:schemeClr val="bg1"/>
                </a:solidFill>
                <a:effectLst/>
                <a:latin typeface="JetBrains Mono Light" panose="02000009000000000000" pitchFamily="49" charset="0"/>
                <a:cs typeface="JetBrains Mono Light" panose="02000009000000000000" pitchFamily="49" charset="0"/>
              </a:rPr>
              <a:t>iệc kiểm tra 2 đỉnh bất kỳ có kết nối hay không</a:t>
            </a:r>
            <a:r>
              <a:rPr lang="en-US" sz="2000" dirty="0">
                <a:solidFill>
                  <a:schemeClr val="bg1"/>
                </a:solidFill>
                <a:effectLst/>
                <a:latin typeface="JetBrains Mono Light" panose="02000009000000000000" pitchFamily="49" charset="0"/>
                <a:cs typeface="JetBrains Mono Light" panose="02000009000000000000" pitchFamily="49" charset="0"/>
              </a:rPr>
              <a:t>,</a:t>
            </a:r>
            <a:r>
              <a:rPr lang="vi-VN" sz="2000" dirty="0">
                <a:solidFill>
                  <a:schemeClr val="bg1"/>
                </a:solidFill>
                <a:effectLst/>
                <a:latin typeface="JetBrains Mono Light" panose="02000009000000000000" pitchFamily="49" charset="0"/>
                <a:cs typeface="JetBrains Mono Light" panose="02000009000000000000" pitchFamily="49" charset="0"/>
              </a:rPr>
              <a:t> cần phải duyệt tuần tự từ </a:t>
            </a:r>
            <a:r>
              <a:rPr lang="en-US" sz="2000" dirty="0" err="1">
                <a:solidFill>
                  <a:schemeClr val="bg1"/>
                </a:solidFill>
                <a:latin typeface="JetBrains Mono Light" panose="02000009000000000000" pitchFamily="49" charset="0"/>
                <a:cs typeface="JetBrains Mono Light" panose="02000009000000000000" pitchFamily="49" charset="0"/>
              </a:rPr>
              <a:t>điểm</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đầu</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a:solidFill>
                  <a:schemeClr val="bg1"/>
                </a:solidFill>
                <a:effectLst/>
                <a:latin typeface="JetBrains Mono Light" panose="02000009000000000000" pitchFamily="49" charset="0"/>
                <a:cs typeface="JetBrains Mono Light" panose="02000009000000000000" pitchFamily="49" charset="0"/>
              </a:rPr>
              <a:t>(n</a:t>
            </a:r>
            <a:r>
              <a:rPr lang="vi-VN" sz="2000" dirty="0">
                <a:solidFill>
                  <a:schemeClr val="bg1"/>
                </a:solidFill>
                <a:effectLst/>
                <a:latin typeface="JetBrains Mono Light" panose="02000009000000000000" pitchFamily="49" charset="0"/>
                <a:cs typeface="JetBrains Mono Light" panose="02000009000000000000" pitchFamily="49" charset="0"/>
              </a:rPr>
              <a:t>ode head</a:t>
            </a:r>
            <a:r>
              <a:rPr lang="en-US" sz="2000" dirty="0">
                <a:solidFill>
                  <a:schemeClr val="bg1"/>
                </a:solidFill>
                <a:effectLst/>
                <a:latin typeface="JetBrains Mono Light" panose="02000009000000000000" pitchFamily="49" charset="0"/>
                <a:cs typeface="JetBrains Mono Light" panose="02000009000000000000" pitchFamily="49" charset="0"/>
              </a:rPr>
              <a:t>)</a:t>
            </a:r>
            <a:r>
              <a:rPr lang="vi-VN" sz="2000" dirty="0">
                <a:solidFill>
                  <a:schemeClr val="bg1"/>
                </a:solidFill>
                <a:effectLst/>
                <a:latin typeface="JetBrains Mono Light" panose="02000009000000000000" pitchFamily="49" charset="0"/>
                <a:cs typeface="JetBrains Mono Light" panose="02000009000000000000" pitchFamily="49" charset="0"/>
              </a:rPr>
              <a:t>, sẽ chậm hơn so với việc kiểm tra bằng ma trận kề.</a:t>
            </a:r>
          </a:p>
        </p:txBody>
      </p:sp>
    </p:spTree>
    <p:extLst>
      <p:ext uri="{BB962C8B-B14F-4D97-AF65-F5344CB8AC3E}">
        <p14:creationId xmlns:p14="http://schemas.microsoft.com/office/powerpoint/2010/main" val="34656730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00"/>
                                        <p:tgtEl>
                                          <p:spTgt spid="2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 grpId="0"/>
      <p:bldP spid="5" grpId="0"/>
      <p:bldP spid="20" grpId="0"/>
      <p:bldP spid="21" grpId="0"/>
      <p:bldP spid="23" grpId="0" animBg="1"/>
      <p:bldP spid="24"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ADCB1D2-71BF-4442-85AC-20706F44BBA0}"/>
              </a:ext>
            </a:extLst>
          </p:cNvPr>
          <p:cNvSpPr/>
          <p:nvPr/>
        </p:nvSpPr>
        <p:spPr>
          <a:xfrm>
            <a:off x="0" y="-2556"/>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16" name="Credit MAIN">
            <a:extLst>
              <a:ext uri="{FF2B5EF4-FFF2-40B4-BE49-F238E27FC236}">
                <a16:creationId xmlns:a16="http://schemas.microsoft.com/office/drawing/2014/main" id="{2518DECB-C7B9-41A5-9FB6-89C9AA3086AA}"/>
              </a:ext>
            </a:extLst>
          </p:cNvPr>
          <p:cNvSpPr txBox="1"/>
          <p:nvPr/>
        </p:nvSpPr>
        <p:spPr>
          <a:xfrm>
            <a:off x="50878" y="6420549"/>
            <a:ext cx="2235122"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Vũ</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Thùy</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Dương</a:t>
            </a:r>
            <a:endParaRPr lang="en-US" dirty="0">
              <a:solidFill>
                <a:schemeClr val="bg1">
                  <a:lumMod val="95000"/>
                  <a:alpha val="46000"/>
                </a:schemeClr>
              </a:solidFill>
            </a:endParaRPr>
          </a:p>
        </p:txBody>
      </p:sp>
      <p:sp>
        <p:nvSpPr>
          <p:cNvPr id="11" name="Header">
            <a:extLst>
              <a:ext uri="{FF2B5EF4-FFF2-40B4-BE49-F238E27FC236}">
                <a16:creationId xmlns:a16="http://schemas.microsoft.com/office/drawing/2014/main" id="{6A39F230-06D2-4140-8DA2-357C0B9B6D12}"/>
              </a:ext>
            </a:extLst>
          </p:cNvPr>
          <p:cNvSpPr txBox="1"/>
          <p:nvPr/>
        </p:nvSpPr>
        <p:spPr>
          <a:xfrm>
            <a:off x="50878" y="68119"/>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25" name="PAGE NUM 0">
            <a:extLst>
              <a:ext uri="{FF2B5EF4-FFF2-40B4-BE49-F238E27FC236}">
                <a16:creationId xmlns:a16="http://schemas.microsoft.com/office/drawing/2014/main" id="{CA8E8643-0820-44FC-9D06-02F2A0A63536}"/>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lumMod val="50000"/>
                  </a:schemeClr>
                </a:solidFill>
                <a:latin typeface="JetBrains Mono Light" panose="02000009000000000000" pitchFamily="49" charset="0"/>
                <a:cs typeface="JetBrains Mono Light" panose="02000009000000000000" pitchFamily="49" charset="0"/>
              </a:rPr>
              <a:t>0</a:t>
            </a:r>
            <a:endParaRPr lang="en-US" dirty="0">
              <a:solidFill>
                <a:schemeClr val="bg1"/>
              </a:solidFill>
              <a:latin typeface="JetBrains Mono Light" panose="02000009000000000000" pitchFamily="49" charset="0"/>
              <a:cs typeface="JetBrains Mono Light" panose="02000009000000000000" pitchFamily="49" charset="0"/>
            </a:endParaRPr>
          </a:p>
        </p:txBody>
      </p:sp>
      <p:sp>
        <p:nvSpPr>
          <p:cNvPr id="26" name="PAGE NUM 1">
            <a:extLst>
              <a:ext uri="{FF2B5EF4-FFF2-40B4-BE49-F238E27FC236}">
                <a16:creationId xmlns:a16="http://schemas.microsoft.com/office/drawing/2014/main" id="{6BF8CF33-13C7-458E-A4F5-0A19700195D0}"/>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8</a:t>
            </a:r>
            <a:endParaRPr lang="en-US" dirty="0"/>
          </a:p>
        </p:txBody>
      </p:sp>
      <p:sp>
        <p:nvSpPr>
          <p:cNvPr id="75" name="Rectangle 74">
            <a:extLst>
              <a:ext uri="{FF2B5EF4-FFF2-40B4-BE49-F238E27FC236}">
                <a16:creationId xmlns:a16="http://schemas.microsoft.com/office/drawing/2014/main" id="{E639F35F-4918-4FFB-B9E0-5C76217C3D9E}"/>
              </a:ext>
            </a:extLst>
          </p:cNvPr>
          <p:cNvSpPr/>
          <p:nvPr/>
        </p:nvSpPr>
        <p:spPr>
          <a:xfrm>
            <a:off x="591458" y="591772"/>
            <a:ext cx="2654661"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8B8DADB3-9039-47AC-9842-A9CCB4D725AB}"/>
              </a:ext>
            </a:extLst>
          </p:cNvPr>
          <p:cNvSpPr txBox="1"/>
          <p:nvPr/>
        </p:nvSpPr>
        <p:spPr>
          <a:xfrm>
            <a:off x="603363" y="591246"/>
            <a:ext cx="2642757" cy="369332"/>
          </a:xfrm>
          <a:prstGeom prst="rect">
            <a:avLst/>
          </a:prstGeom>
          <a:noFill/>
        </p:spPr>
        <p:txBody>
          <a:bodyPr wrap="square" rtlCol="0">
            <a:spAutoFit/>
          </a:bodyPr>
          <a:lstStyle/>
          <a:p>
            <a:r>
              <a:rPr lang="en-US" dirty="0">
                <a:latin typeface="JetBrains Mono Regular" panose="02000009000000000000" pitchFamily="49" charset="0"/>
                <a:cs typeface="JetBrains Mono Regular" panose="02000009000000000000" pitchFamily="49" charset="0"/>
              </a:rPr>
              <a:t>Ma </a:t>
            </a:r>
            <a:r>
              <a:rPr lang="en-US" dirty="0" err="1">
                <a:latin typeface="JetBrains Mono Regular" panose="02000009000000000000" pitchFamily="49" charset="0"/>
                <a:cs typeface="JetBrains Mono Regular" panose="02000009000000000000" pitchFamily="49" charset="0"/>
              </a:rPr>
              <a:t>trận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liên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thuộc</a:t>
            </a:r>
            <a:endParaRPr lang="en-US" dirty="0">
              <a:latin typeface="JetBrains Mono Regular" panose="02000009000000000000" pitchFamily="49" charset="0"/>
              <a:cs typeface="JetBrains Mono Regular" panose="02000009000000000000" pitchFamily="49" charset="0"/>
            </a:endParaRPr>
          </a:p>
        </p:txBody>
      </p:sp>
      <p:sp>
        <p:nvSpPr>
          <p:cNvPr id="3" name="TextBox 2">
            <a:extLst>
              <a:ext uri="{FF2B5EF4-FFF2-40B4-BE49-F238E27FC236}">
                <a16:creationId xmlns:a16="http://schemas.microsoft.com/office/drawing/2014/main" id="{0DCF76D3-76B8-418E-89D0-5A5DE06812BC}"/>
              </a:ext>
            </a:extLst>
          </p:cNvPr>
          <p:cNvSpPr txBox="1"/>
          <p:nvPr/>
        </p:nvSpPr>
        <p:spPr>
          <a:xfrm>
            <a:off x="603363" y="591527"/>
            <a:ext cx="1149238" cy="369332"/>
          </a:xfrm>
          <a:prstGeom prst="rect">
            <a:avLst/>
          </a:prstGeom>
          <a:solidFill>
            <a:schemeClr val="bg1"/>
          </a:solidFill>
        </p:spPr>
        <p:txBody>
          <a:bodyPr wrap="square" rtlCol="0">
            <a:spAutoFit/>
          </a:bodyPr>
          <a:lstStyle/>
          <a:p>
            <a:r>
              <a:rPr lang="en-US" dirty="0">
                <a:latin typeface="JetBrains Mono Regular" panose="02000009000000000000" pitchFamily="49" charset="0"/>
                <a:cs typeface="JetBrains Mono Regular" panose="02000009000000000000" pitchFamily="49" charset="0"/>
              </a:rPr>
              <a:t>Ma </a:t>
            </a:r>
            <a:r>
              <a:rPr lang="en-US" dirty="0" err="1">
                <a:latin typeface="JetBrains Mono Regular" panose="02000009000000000000" pitchFamily="49" charset="0"/>
                <a:cs typeface="JetBrains Mono Regular" panose="02000009000000000000" pitchFamily="49" charset="0"/>
              </a:rPr>
              <a:t>trận</a:t>
            </a:r>
            <a:endParaRPr lang="en-US" dirty="0">
              <a:latin typeface="JetBrains Mono Regular" panose="02000009000000000000" pitchFamily="49" charset="0"/>
              <a:cs typeface="JetBrains Mono Regular" panose="02000009000000000000" pitchFamily="49" charset="0"/>
            </a:endParaRPr>
          </a:p>
        </p:txBody>
      </p:sp>
      <p:sp>
        <p:nvSpPr>
          <p:cNvPr id="13" name="TextBox 12">
            <a:extLst>
              <a:ext uri="{FF2B5EF4-FFF2-40B4-BE49-F238E27FC236}">
                <a16:creationId xmlns:a16="http://schemas.microsoft.com/office/drawing/2014/main" id="{5AF70085-702D-4AD2-BA51-4593C5AB8847}"/>
              </a:ext>
            </a:extLst>
          </p:cNvPr>
          <p:cNvSpPr txBox="1"/>
          <p:nvPr/>
        </p:nvSpPr>
        <p:spPr>
          <a:xfrm>
            <a:off x="955352" y="1174940"/>
            <a:ext cx="8194014" cy="369332"/>
          </a:xfrm>
          <a:prstGeom prst="rect">
            <a:avLst/>
          </a:prstGeom>
          <a:noFill/>
        </p:spPr>
        <p:txBody>
          <a:bodyPr wrap="square" rtlCol="0">
            <a:spAutoFit/>
          </a:bodyPr>
          <a:lstStyle/>
          <a:p>
            <a:r>
              <a:rPr lang="en-US" dirty="0" err="1">
                <a:solidFill>
                  <a:schemeClr val="bg1"/>
                </a:solidFill>
                <a:latin typeface="JetBrains Mono Light" panose="02000009000000000000" pitchFamily="49" charset="0"/>
                <a:cs typeface="JetBrains Mono Light" panose="02000009000000000000" pitchFamily="49" charset="0"/>
              </a:rPr>
              <a:t>Đồ</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thị</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được</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biểu</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diễn</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bằng</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một</a:t>
            </a:r>
            <a:r>
              <a:rPr lang="en-US" dirty="0">
                <a:solidFill>
                  <a:schemeClr val="bg1"/>
                </a:solidFill>
                <a:latin typeface="JetBrains Mono Light" panose="02000009000000000000" pitchFamily="49" charset="0"/>
                <a:cs typeface="JetBrains Mono Light" panose="02000009000000000000" pitchFamily="49" charset="0"/>
              </a:rPr>
              <a:t> ma </a:t>
            </a:r>
            <a:r>
              <a:rPr lang="en-US" dirty="0" err="1">
                <a:solidFill>
                  <a:schemeClr val="bg1"/>
                </a:solidFill>
                <a:latin typeface="JetBrains Mono Light" panose="02000009000000000000" pitchFamily="49" charset="0"/>
                <a:cs typeface="JetBrains Mono Light" panose="02000009000000000000" pitchFamily="49" charset="0"/>
              </a:rPr>
              <a:t>trận</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A</a:t>
            </a:r>
            <a:r>
              <a:rPr lang="en-US" baseline="-25000" dirty="0" err="1">
                <a:solidFill>
                  <a:schemeClr val="bg1"/>
                </a:solidFill>
                <a:latin typeface="JetBrains Mono Light" panose="02000009000000000000" pitchFamily="49" charset="0"/>
                <a:cs typeface="JetBrains Mono Light" panose="02000009000000000000" pitchFamily="49" charset="0"/>
              </a:rPr>
              <a:t>ij</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kích</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thước</a:t>
            </a:r>
            <a:r>
              <a:rPr lang="en-US" dirty="0">
                <a:solidFill>
                  <a:schemeClr val="bg1"/>
                </a:solidFill>
                <a:latin typeface="JetBrains Mono Light" panose="02000009000000000000" pitchFamily="49" charset="0"/>
                <a:cs typeface="JetBrains Mono Light" panose="02000009000000000000" pitchFamily="49" charset="0"/>
              </a:rPr>
              <a:t> p x q</a:t>
            </a:r>
            <a:endParaRPr lang="en-US" dirty="0">
              <a:solidFill>
                <a:schemeClr val="bg1"/>
              </a:solidFill>
            </a:endParaRPr>
          </a:p>
        </p:txBody>
      </p:sp>
      <p:sp>
        <p:nvSpPr>
          <p:cNvPr id="33" name="TextBox 32">
            <a:extLst>
              <a:ext uri="{FF2B5EF4-FFF2-40B4-BE49-F238E27FC236}">
                <a16:creationId xmlns:a16="http://schemas.microsoft.com/office/drawing/2014/main" id="{FBB1CA56-DDD6-4CF1-8126-D3B0AD9106B9}"/>
              </a:ext>
            </a:extLst>
          </p:cNvPr>
          <p:cNvSpPr txBox="1"/>
          <p:nvPr/>
        </p:nvSpPr>
        <p:spPr>
          <a:xfrm>
            <a:off x="8978478" y="899851"/>
            <a:ext cx="914400" cy="1015663"/>
          </a:xfrm>
          <a:prstGeom prst="rect">
            <a:avLst/>
          </a:prstGeom>
          <a:noFill/>
        </p:spPr>
        <p:txBody>
          <a:bodyPr wrap="square" rtlCol="0">
            <a:spAutoFit/>
          </a:bodyPr>
          <a:lstStyle/>
          <a:p>
            <a:r>
              <a:rPr lang="en-US" sz="6000" dirty="0">
                <a:solidFill>
                  <a:schemeClr val="bg1"/>
                </a:solidFill>
                <a:latin typeface="JetBrains Mono Light" panose="02000009000000000000" pitchFamily="49" charset="0"/>
                <a:cs typeface="JetBrains Mono Light" panose="02000009000000000000" pitchFamily="49" charset="0"/>
              </a:rPr>
              <a:t>{</a:t>
            </a:r>
          </a:p>
        </p:txBody>
      </p:sp>
      <p:sp>
        <p:nvSpPr>
          <p:cNvPr id="35" name="TextBox 34">
            <a:extLst>
              <a:ext uri="{FF2B5EF4-FFF2-40B4-BE49-F238E27FC236}">
                <a16:creationId xmlns:a16="http://schemas.microsoft.com/office/drawing/2014/main" id="{F265EC44-8553-4ED1-BC3A-0C7ED175A30E}"/>
              </a:ext>
            </a:extLst>
          </p:cNvPr>
          <p:cNvSpPr txBox="1"/>
          <p:nvPr/>
        </p:nvSpPr>
        <p:spPr>
          <a:xfrm>
            <a:off x="9474672" y="1072793"/>
            <a:ext cx="1241815" cy="646331"/>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P </a:t>
            </a:r>
            <a:r>
              <a:rPr lang="en-US" dirty="0" err="1">
                <a:solidFill>
                  <a:schemeClr val="bg1"/>
                </a:solidFill>
                <a:latin typeface="JetBrains Mono Light" panose="02000009000000000000" pitchFamily="49" charset="0"/>
                <a:cs typeface="JetBrains Mono Light" panose="02000009000000000000" pitchFamily="49" charset="0"/>
              </a:rPr>
              <a:t>đỉnh</a:t>
            </a:r>
            <a:r>
              <a:rPr lang="en-US" dirty="0">
                <a:solidFill>
                  <a:schemeClr val="bg1"/>
                </a:solidFill>
                <a:latin typeface="JetBrains Mono Light" panose="02000009000000000000" pitchFamily="49" charset="0"/>
                <a:cs typeface="JetBrains Mono Light" panose="02000009000000000000" pitchFamily="49" charset="0"/>
              </a:rPr>
              <a:t> </a:t>
            </a:r>
          </a:p>
          <a:p>
            <a:r>
              <a:rPr lang="en-US" dirty="0">
                <a:solidFill>
                  <a:schemeClr val="bg1"/>
                </a:solidFill>
                <a:latin typeface="JetBrains Mono Light" panose="02000009000000000000" pitchFamily="49" charset="0"/>
                <a:cs typeface="JetBrains Mono Light" panose="02000009000000000000" pitchFamily="49" charset="0"/>
              </a:rPr>
              <a:t>Q </a:t>
            </a:r>
            <a:r>
              <a:rPr lang="en-US" dirty="0" err="1">
                <a:solidFill>
                  <a:schemeClr val="bg1"/>
                </a:solidFill>
                <a:latin typeface="JetBrains Mono Light" panose="02000009000000000000" pitchFamily="49" charset="0"/>
                <a:cs typeface="JetBrains Mono Light" panose="02000009000000000000" pitchFamily="49" charset="0"/>
              </a:rPr>
              <a:t>cạnh</a:t>
            </a:r>
            <a:endParaRPr lang="en-US" dirty="0">
              <a:solidFill>
                <a:schemeClr val="bg1"/>
              </a:solidFill>
              <a:latin typeface="JetBrains Mono Light" panose="02000009000000000000" pitchFamily="49" charset="0"/>
              <a:cs typeface="JetBrains Mono Light" panose="02000009000000000000" pitchFamily="49" charset="0"/>
            </a:endParaRPr>
          </a:p>
        </p:txBody>
      </p:sp>
      <p:sp>
        <p:nvSpPr>
          <p:cNvPr id="36" name="TextBox 35">
            <a:extLst>
              <a:ext uri="{FF2B5EF4-FFF2-40B4-BE49-F238E27FC236}">
                <a16:creationId xmlns:a16="http://schemas.microsoft.com/office/drawing/2014/main" id="{EBF34A05-A41B-4C96-B130-BB17F79C5728}"/>
              </a:ext>
            </a:extLst>
          </p:cNvPr>
          <p:cNvSpPr txBox="1"/>
          <p:nvPr/>
        </p:nvSpPr>
        <p:spPr>
          <a:xfrm>
            <a:off x="967075" y="1512081"/>
            <a:ext cx="7707975" cy="369332"/>
          </a:xfrm>
          <a:prstGeom prst="rect">
            <a:avLst/>
          </a:prstGeom>
          <a:noFill/>
        </p:spPr>
        <p:txBody>
          <a:bodyPr wrap="square" rtlCol="0">
            <a:spAutoFit/>
          </a:bodyPr>
          <a:lstStyle/>
          <a:p>
            <a:r>
              <a:rPr lang="en-US" dirty="0" err="1">
                <a:solidFill>
                  <a:schemeClr val="bg1"/>
                </a:solidFill>
                <a:latin typeface="JetBrains Mono Light" panose="02000009000000000000" pitchFamily="49" charset="0"/>
                <a:cs typeface="JetBrains Mono Light" panose="02000009000000000000" pitchFamily="49" charset="0"/>
              </a:rPr>
              <a:t>A</a:t>
            </a:r>
            <a:r>
              <a:rPr lang="en-US" baseline="-25000" dirty="0" err="1">
                <a:solidFill>
                  <a:schemeClr val="bg1"/>
                </a:solidFill>
                <a:latin typeface="JetBrains Mono Light" panose="02000009000000000000" pitchFamily="49" charset="0"/>
                <a:cs typeface="JetBrains Mono Light" panose="02000009000000000000" pitchFamily="49" charset="0"/>
              </a:rPr>
              <a:t>ij</a:t>
            </a:r>
            <a:r>
              <a:rPr lang="en-US" spc="-300"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chứa</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dữ</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liệu</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về</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quan</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hệ</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giữa</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đỉnh</a:t>
            </a:r>
            <a:r>
              <a:rPr lang="en-US" dirty="0">
                <a:solidFill>
                  <a:schemeClr val="bg1"/>
                </a:solidFill>
                <a:latin typeface="JetBrains Mono Light" panose="02000009000000000000" pitchFamily="49" charset="0"/>
                <a:cs typeface="JetBrains Mono Light" panose="02000009000000000000" pitchFamily="49" charset="0"/>
              </a:rPr>
              <a:t> v</a:t>
            </a:r>
            <a:r>
              <a:rPr lang="en-US" baseline="-25000" dirty="0">
                <a:solidFill>
                  <a:schemeClr val="bg1"/>
                </a:solidFill>
                <a:latin typeface="JetBrains Mono Light" panose="02000009000000000000" pitchFamily="49" charset="0"/>
                <a:cs typeface="JetBrains Mono Light" panose="02000009000000000000" pitchFamily="49" charset="0"/>
              </a:rPr>
              <a:t>i</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và</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cạnh</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x</a:t>
            </a:r>
            <a:r>
              <a:rPr lang="en-US" baseline="-25000" dirty="0" err="1">
                <a:solidFill>
                  <a:schemeClr val="bg1"/>
                </a:solidFill>
                <a:latin typeface="JetBrains Mono Light" panose="02000009000000000000" pitchFamily="49" charset="0"/>
                <a:cs typeface="JetBrains Mono Light" panose="02000009000000000000" pitchFamily="49" charset="0"/>
              </a:rPr>
              <a:t>j</a:t>
            </a:r>
            <a:r>
              <a:rPr lang="en-US" dirty="0">
                <a:solidFill>
                  <a:schemeClr val="bg1"/>
                </a:solidFill>
                <a:latin typeface="JetBrains Mono Light" panose="02000009000000000000" pitchFamily="49" charset="0"/>
                <a:cs typeface="JetBrains Mono Light" panose="02000009000000000000" pitchFamily="49" charset="0"/>
              </a:rPr>
              <a:t>. </a:t>
            </a:r>
            <a:endParaRPr lang="en-US" dirty="0"/>
          </a:p>
        </p:txBody>
      </p:sp>
      <p:graphicFrame>
        <p:nvGraphicFramePr>
          <p:cNvPr id="37" name="Table 37">
            <a:extLst>
              <a:ext uri="{FF2B5EF4-FFF2-40B4-BE49-F238E27FC236}">
                <a16:creationId xmlns:a16="http://schemas.microsoft.com/office/drawing/2014/main" id="{1214CA39-589C-4CC5-B654-0387CF4C8F0C}"/>
              </a:ext>
            </a:extLst>
          </p:cNvPr>
          <p:cNvGraphicFramePr>
            <a:graphicFrameLocks noGrp="1"/>
          </p:cNvGraphicFramePr>
          <p:nvPr>
            <p:extLst>
              <p:ext uri="{D42A27DB-BD31-4B8C-83A1-F6EECF244321}">
                <p14:modId xmlns:p14="http://schemas.microsoft.com/office/powerpoint/2010/main" val="1365515762"/>
              </p:ext>
            </p:extLst>
          </p:nvPr>
        </p:nvGraphicFramePr>
        <p:xfrm>
          <a:off x="5943601" y="2989741"/>
          <a:ext cx="5596294" cy="2647056"/>
        </p:xfrm>
        <a:graphic>
          <a:graphicData uri="http://schemas.openxmlformats.org/drawingml/2006/table">
            <a:tbl>
              <a:tblPr firstRow="1" bandRow="1">
                <a:tableStyleId>{5C22544A-7EE6-4342-B048-85BDC9FD1C3A}</a:tableStyleId>
              </a:tblPr>
              <a:tblGrid>
                <a:gridCol w="785959">
                  <a:extLst>
                    <a:ext uri="{9D8B030D-6E8A-4147-A177-3AD203B41FA5}">
                      <a16:colId xmlns:a16="http://schemas.microsoft.com/office/drawing/2014/main" val="1491892926"/>
                    </a:ext>
                  </a:extLst>
                </a:gridCol>
                <a:gridCol w="962067">
                  <a:extLst>
                    <a:ext uri="{9D8B030D-6E8A-4147-A177-3AD203B41FA5}">
                      <a16:colId xmlns:a16="http://schemas.microsoft.com/office/drawing/2014/main" val="229636460"/>
                    </a:ext>
                  </a:extLst>
                </a:gridCol>
                <a:gridCol w="962067">
                  <a:extLst>
                    <a:ext uri="{9D8B030D-6E8A-4147-A177-3AD203B41FA5}">
                      <a16:colId xmlns:a16="http://schemas.microsoft.com/office/drawing/2014/main" val="2258858154"/>
                    </a:ext>
                  </a:extLst>
                </a:gridCol>
                <a:gridCol w="962067">
                  <a:extLst>
                    <a:ext uri="{9D8B030D-6E8A-4147-A177-3AD203B41FA5}">
                      <a16:colId xmlns:a16="http://schemas.microsoft.com/office/drawing/2014/main" val="3714069001"/>
                    </a:ext>
                  </a:extLst>
                </a:gridCol>
                <a:gridCol w="962067">
                  <a:extLst>
                    <a:ext uri="{9D8B030D-6E8A-4147-A177-3AD203B41FA5}">
                      <a16:colId xmlns:a16="http://schemas.microsoft.com/office/drawing/2014/main" val="2614713054"/>
                    </a:ext>
                  </a:extLst>
                </a:gridCol>
                <a:gridCol w="962067">
                  <a:extLst>
                    <a:ext uri="{9D8B030D-6E8A-4147-A177-3AD203B41FA5}">
                      <a16:colId xmlns:a16="http://schemas.microsoft.com/office/drawing/2014/main" val="498275377"/>
                    </a:ext>
                  </a:extLst>
                </a:gridCol>
              </a:tblGrid>
              <a:tr h="630252">
                <a:tc>
                  <a:txBody>
                    <a:bodyPr/>
                    <a:lstStyle/>
                    <a:p>
                      <a:r>
                        <a:rPr lang="en-US" sz="1200" b="0" dirty="0">
                          <a:solidFill>
                            <a:schemeClr val="bg1">
                              <a:lumMod val="50000"/>
                            </a:schemeClr>
                          </a:solidFill>
                          <a:latin typeface="JetBrains Mono Light" panose="02000009000000000000" pitchFamily="49" charset="0"/>
                          <a:cs typeface="JetBrains Mono Light" panose="02000009000000000000" pitchFamily="49" charset="0"/>
                        </a:rPr>
                        <a:t> </a:t>
                      </a:r>
                      <a:r>
                        <a:rPr lang="en-US" sz="1200" b="0" dirty="0" err="1">
                          <a:solidFill>
                            <a:schemeClr val="bg1">
                              <a:lumMod val="50000"/>
                            </a:schemeClr>
                          </a:solidFill>
                          <a:latin typeface="JetBrains Mono Light" panose="02000009000000000000" pitchFamily="49" charset="0"/>
                          <a:cs typeface="JetBrains Mono Light" panose="02000009000000000000" pitchFamily="49" charset="0"/>
                        </a:rPr>
                        <a:t>dirct</a:t>
                      </a:r>
                      <a:endParaRPr lang="en-US" sz="1200" b="0" dirty="0">
                        <a:solidFill>
                          <a:schemeClr val="bg1">
                            <a:lumMod val="50000"/>
                          </a:schemeClr>
                        </a:solidFill>
                        <a:latin typeface="JetBrains Mono Light" panose="02000009000000000000" pitchFamily="49" charset="0"/>
                        <a:cs typeface="JetBrains Mono Light" panose="02000009000000000000"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bg1">
                              <a:lumMod val="50000"/>
                            </a:schemeClr>
                          </a:solidFill>
                          <a:latin typeface="JetBrains Mono Light" panose="02000009000000000000" pitchFamily="49" charset="0"/>
                          <a:cs typeface="JetBrains Mono Light" panose="02000009000000000000" pitchFamily="49" charset="0"/>
                        </a:rPr>
                        <a:t>node</a:t>
                      </a:r>
                    </a:p>
                  </a:txBody>
                  <a:tcPr>
                    <a:noFill/>
                  </a:tcPr>
                </a:tc>
                <a:tc>
                  <a:txBody>
                    <a:bodyPr/>
                    <a:lstStyle/>
                    <a:p>
                      <a:pPr algn="ctr"/>
                      <a:r>
                        <a:rPr lang="en-US" b="0" i="0" dirty="0">
                          <a:solidFill>
                            <a:schemeClr val="bg1">
                              <a:lumMod val="50000"/>
                            </a:schemeClr>
                          </a:solidFill>
                          <a:latin typeface="JetBrains Mono Light" panose="02000009000000000000" pitchFamily="49" charset="0"/>
                          <a:cs typeface="JetBrains Mono Light" panose="02000009000000000000" pitchFamily="49" charset="0"/>
                        </a:rPr>
                        <a:t>1,2</a:t>
                      </a:r>
                    </a:p>
                  </a:txBody>
                  <a:tcPr>
                    <a:noFill/>
                  </a:tcPr>
                </a:tc>
                <a:tc>
                  <a:txBody>
                    <a:bodyPr/>
                    <a:lstStyle/>
                    <a:p>
                      <a:pPr algn="ctr"/>
                      <a:r>
                        <a:rPr lang="en-US" b="0" i="0" dirty="0">
                          <a:solidFill>
                            <a:schemeClr val="bg1">
                              <a:lumMod val="50000"/>
                            </a:schemeClr>
                          </a:solidFill>
                          <a:latin typeface="JetBrains Mono Light" panose="02000009000000000000" pitchFamily="49" charset="0"/>
                          <a:cs typeface="JetBrains Mono Light" panose="02000009000000000000" pitchFamily="49" charset="0"/>
                        </a:rPr>
                        <a:t>1,3</a:t>
                      </a:r>
                    </a:p>
                  </a:txBody>
                  <a:tcPr>
                    <a:noFill/>
                  </a:tcPr>
                </a:tc>
                <a:tc>
                  <a:txBody>
                    <a:bodyPr/>
                    <a:lstStyle/>
                    <a:p>
                      <a:pPr algn="ctr"/>
                      <a:r>
                        <a:rPr lang="en-US" b="0" i="0" dirty="0">
                          <a:solidFill>
                            <a:schemeClr val="bg1">
                              <a:lumMod val="50000"/>
                            </a:schemeClr>
                          </a:solidFill>
                          <a:latin typeface="JetBrains Mono Light" panose="02000009000000000000" pitchFamily="49" charset="0"/>
                          <a:cs typeface="JetBrains Mono Light" panose="02000009000000000000" pitchFamily="49" charset="0"/>
                        </a:rPr>
                        <a:t>1,4</a:t>
                      </a:r>
                    </a:p>
                  </a:txBody>
                  <a:tcPr>
                    <a:noFill/>
                  </a:tcPr>
                </a:tc>
                <a:tc>
                  <a:txBody>
                    <a:bodyPr/>
                    <a:lstStyle/>
                    <a:p>
                      <a:pPr algn="ctr"/>
                      <a:r>
                        <a:rPr lang="en-US" b="0" i="0" dirty="0">
                          <a:solidFill>
                            <a:schemeClr val="bg1">
                              <a:lumMod val="50000"/>
                            </a:schemeClr>
                          </a:solidFill>
                          <a:latin typeface="JetBrains Mono Light" panose="02000009000000000000" pitchFamily="49" charset="0"/>
                          <a:cs typeface="JetBrains Mono Light" panose="02000009000000000000" pitchFamily="49" charset="0"/>
                        </a:rPr>
                        <a:t>2,3</a:t>
                      </a:r>
                    </a:p>
                  </a:txBody>
                  <a:tcPr>
                    <a:noFill/>
                  </a:tcPr>
                </a:tc>
                <a:tc>
                  <a:txBody>
                    <a:bodyPr/>
                    <a:lstStyle/>
                    <a:p>
                      <a:pPr algn="ctr"/>
                      <a:r>
                        <a:rPr lang="en-US" b="0" i="0" dirty="0">
                          <a:solidFill>
                            <a:schemeClr val="bg1">
                              <a:lumMod val="50000"/>
                            </a:schemeClr>
                          </a:solidFill>
                          <a:latin typeface="JetBrains Mono Light" panose="02000009000000000000" pitchFamily="49" charset="0"/>
                          <a:cs typeface="JetBrains Mono Light" panose="02000009000000000000" pitchFamily="49" charset="0"/>
                        </a:rPr>
                        <a:t>2,4</a:t>
                      </a:r>
                    </a:p>
                  </a:txBody>
                  <a:tcPr>
                    <a:noFill/>
                  </a:tcPr>
                </a:tc>
                <a:extLst>
                  <a:ext uri="{0D108BD9-81ED-4DB2-BD59-A6C34878D82A}">
                    <a16:rowId xmlns:a16="http://schemas.microsoft.com/office/drawing/2014/main" val="4057429763"/>
                  </a:ext>
                </a:extLst>
              </a:tr>
              <a:tr h="50420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extLst>
                  <a:ext uri="{0D108BD9-81ED-4DB2-BD59-A6C34878D82A}">
                    <a16:rowId xmlns:a16="http://schemas.microsoft.com/office/drawing/2014/main" val="2017443693"/>
                  </a:ext>
                </a:extLst>
              </a:tr>
              <a:tr h="50420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JetBrains Mono Light" panose="02000009000000000000" pitchFamily="49" charset="0"/>
                          <a:cs typeface="JetBrains Mono Light" panose="02000009000000000000" pitchFamily="49" charset="0"/>
                        </a:rPr>
                        <a:t>2</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extLst>
                  <a:ext uri="{0D108BD9-81ED-4DB2-BD59-A6C34878D82A}">
                    <a16:rowId xmlns:a16="http://schemas.microsoft.com/office/drawing/2014/main" val="861742431"/>
                  </a:ext>
                </a:extLst>
              </a:tr>
              <a:tr h="50420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JetBrains Mono Light" panose="02000009000000000000" pitchFamily="49" charset="0"/>
                          <a:cs typeface="JetBrains Mono Light" panose="02000009000000000000" pitchFamily="49" charset="0"/>
                        </a:rPr>
                        <a:t>3</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extLst>
                  <a:ext uri="{0D108BD9-81ED-4DB2-BD59-A6C34878D82A}">
                    <a16:rowId xmlns:a16="http://schemas.microsoft.com/office/drawing/2014/main" val="538378108"/>
                  </a:ext>
                </a:extLst>
              </a:tr>
              <a:tr h="50420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JetBrains Mono Light" panose="02000009000000000000" pitchFamily="49" charset="0"/>
                          <a:cs typeface="JetBrains Mono Light" panose="02000009000000000000" pitchFamily="49" charset="0"/>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extLst>
                  <a:ext uri="{0D108BD9-81ED-4DB2-BD59-A6C34878D82A}">
                    <a16:rowId xmlns:a16="http://schemas.microsoft.com/office/drawing/2014/main" val="1243298535"/>
                  </a:ext>
                </a:extLst>
              </a:tr>
            </a:tbl>
          </a:graphicData>
        </a:graphic>
      </p:graphicFrame>
      <p:sp>
        <p:nvSpPr>
          <p:cNvPr id="42" name="TextBox 41">
            <a:extLst>
              <a:ext uri="{FF2B5EF4-FFF2-40B4-BE49-F238E27FC236}">
                <a16:creationId xmlns:a16="http://schemas.microsoft.com/office/drawing/2014/main" id="{3D42866F-5A9B-484B-9318-BFC3B27AD6F7}"/>
              </a:ext>
            </a:extLst>
          </p:cNvPr>
          <p:cNvSpPr txBox="1"/>
          <p:nvPr/>
        </p:nvSpPr>
        <p:spPr>
          <a:xfrm>
            <a:off x="974928" y="2218554"/>
            <a:ext cx="1311071" cy="369332"/>
          </a:xfrm>
          <a:prstGeom prst="rect">
            <a:avLst/>
          </a:prstGeom>
          <a:solidFill>
            <a:schemeClr val="bg1"/>
          </a:solid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Vô</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hướng</a:t>
            </a:r>
            <a:endParaRPr lang="en-US" dirty="0">
              <a:latin typeface="JetBrains Mono Regular" panose="02000009000000000000" pitchFamily="49" charset="0"/>
              <a:cs typeface="JetBrains Mono Regular" panose="02000009000000000000" pitchFamily="49" charset="0"/>
            </a:endParaRPr>
          </a:p>
        </p:txBody>
      </p:sp>
      <p:sp>
        <p:nvSpPr>
          <p:cNvPr id="39" name="TextBox 38">
            <a:extLst>
              <a:ext uri="{FF2B5EF4-FFF2-40B4-BE49-F238E27FC236}">
                <a16:creationId xmlns:a16="http://schemas.microsoft.com/office/drawing/2014/main" id="{C23F2A78-0D77-47AE-82A1-9D12A73C9F3E}"/>
              </a:ext>
            </a:extLst>
          </p:cNvPr>
          <p:cNvSpPr txBox="1"/>
          <p:nvPr/>
        </p:nvSpPr>
        <p:spPr>
          <a:xfrm>
            <a:off x="2280139" y="2218220"/>
            <a:ext cx="6359770" cy="369332"/>
          </a:xfrm>
          <a:prstGeom prst="rect">
            <a:avLst/>
          </a:prstGeom>
          <a:noFill/>
          <a:ln w="6350">
            <a:noFill/>
          </a:ln>
        </p:spPr>
        <p:txBody>
          <a:bodyPr wrap="square" rtlCol="0">
            <a:spAutoFit/>
          </a:bodyPr>
          <a:lstStyle/>
          <a:p>
            <a:r>
              <a:rPr lang="en-US" dirty="0" err="1">
                <a:solidFill>
                  <a:schemeClr val="bg1"/>
                </a:solidFill>
                <a:latin typeface="JetBrains Mono Light" panose="02000009000000000000" pitchFamily="49" charset="0"/>
                <a:cs typeface="JetBrains Mono Light" panose="02000009000000000000" pitchFamily="49" charset="0"/>
              </a:rPr>
              <a:t>A</a:t>
            </a:r>
            <a:r>
              <a:rPr lang="en-US" baseline="-25000" dirty="0" err="1">
                <a:solidFill>
                  <a:schemeClr val="bg1"/>
                </a:solidFill>
                <a:latin typeface="JetBrains Mono Light" panose="02000009000000000000" pitchFamily="49" charset="0"/>
                <a:cs typeface="JetBrains Mono Light" panose="02000009000000000000" pitchFamily="49" charset="0"/>
              </a:rPr>
              <a:t>ij</a:t>
            </a:r>
            <a:r>
              <a:rPr lang="en-US" spc="-300" baseline="-25000" dirty="0">
                <a:solidFill>
                  <a:schemeClr val="bg1"/>
                </a:solidFill>
                <a:latin typeface="JetBrains Mono Light" panose="02000009000000000000" pitchFamily="49" charset="0"/>
                <a:cs typeface="JetBrains Mono Light" panose="02000009000000000000" pitchFamily="49" charset="0"/>
              </a:rPr>
              <a:t> </a:t>
            </a:r>
            <a:r>
              <a:rPr lang="en-US" spc="-300" dirty="0">
                <a:solidFill>
                  <a:schemeClr val="bg1"/>
                </a:solidFill>
                <a:latin typeface="JetBrains Mono Light" panose="02000009000000000000" pitchFamily="49" charset="0"/>
                <a:cs typeface="JetBrains Mono Light" panose="02000009000000000000" pitchFamily="49" charset="0"/>
              </a:rPr>
              <a:t>= 1 </a:t>
            </a:r>
            <a:r>
              <a:rPr lang="en-US" dirty="0" err="1">
                <a:solidFill>
                  <a:schemeClr val="bg1"/>
                </a:solidFill>
                <a:latin typeface="JetBrains Mono Light" panose="02000009000000000000" pitchFamily="49" charset="0"/>
                <a:cs typeface="JetBrains Mono Light" panose="02000009000000000000" pitchFamily="49" charset="0"/>
              </a:rPr>
              <a:t>nếu</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i</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kề</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cạnh</a:t>
            </a:r>
            <a:r>
              <a:rPr lang="en-US" dirty="0">
                <a:solidFill>
                  <a:schemeClr val="bg1"/>
                </a:solidFill>
                <a:latin typeface="JetBrains Mono Light" panose="02000009000000000000" pitchFamily="49" charset="0"/>
                <a:cs typeface="JetBrains Mono Light" panose="02000009000000000000" pitchFamily="49" charset="0"/>
              </a:rPr>
              <a:t> j; </a:t>
            </a:r>
            <a:r>
              <a:rPr lang="en-US" dirty="0" err="1">
                <a:solidFill>
                  <a:schemeClr val="bg1"/>
                </a:solidFill>
                <a:latin typeface="JetBrains Mono Light" panose="02000009000000000000" pitchFamily="49" charset="0"/>
                <a:cs typeface="JetBrains Mono Light" panose="02000009000000000000" pitchFamily="49" charset="0"/>
              </a:rPr>
              <a:t>A</a:t>
            </a:r>
            <a:r>
              <a:rPr lang="en-US" baseline="-25000" dirty="0" err="1">
                <a:solidFill>
                  <a:schemeClr val="bg1"/>
                </a:solidFill>
                <a:latin typeface="JetBrains Mono Light" panose="02000009000000000000" pitchFamily="49" charset="0"/>
                <a:cs typeface="JetBrains Mono Light" panose="02000009000000000000" pitchFamily="49" charset="0"/>
              </a:rPr>
              <a:t>ij</a:t>
            </a:r>
            <a:r>
              <a:rPr lang="en-US" spc="-300" baseline="-25000" dirty="0">
                <a:solidFill>
                  <a:schemeClr val="bg1"/>
                </a:solidFill>
                <a:latin typeface="JetBrains Mono Light" panose="02000009000000000000" pitchFamily="49" charset="0"/>
                <a:cs typeface="JetBrains Mono Light" panose="02000009000000000000" pitchFamily="49" charset="0"/>
              </a:rPr>
              <a:t> </a:t>
            </a:r>
            <a:r>
              <a:rPr lang="en-US" spc="-300" dirty="0">
                <a:solidFill>
                  <a:schemeClr val="bg1"/>
                </a:solidFill>
                <a:latin typeface="JetBrains Mono Light" panose="02000009000000000000" pitchFamily="49" charset="0"/>
                <a:cs typeface="JetBrains Mono Light" panose="02000009000000000000" pitchFamily="49" charset="0"/>
              </a:rPr>
              <a:t>= 0 </a:t>
            </a:r>
            <a:r>
              <a:rPr lang="en-US" dirty="0" err="1">
                <a:solidFill>
                  <a:schemeClr val="bg1"/>
                </a:solidFill>
                <a:latin typeface="JetBrains Mono Light" panose="02000009000000000000" pitchFamily="49" charset="0"/>
                <a:cs typeface="JetBrains Mono Light" panose="02000009000000000000" pitchFamily="49" charset="0"/>
              </a:rPr>
              <a:t>nếu</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i</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không</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kề</a:t>
            </a:r>
            <a:r>
              <a:rPr lang="en-US" dirty="0">
                <a:solidFill>
                  <a:schemeClr val="bg1"/>
                </a:solidFill>
                <a:latin typeface="JetBrains Mono Light" panose="02000009000000000000" pitchFamily="49" charset="0"/>
                <a:cs typeface="JetBrains Mono Light" panose="02000009000000000000" pitchFamily="49" charset="0"/>
              </a:rPr>
              <a:t> j</a:t>
            </a:r>
            <a:endParaRPr lang="en-US" dirty="0"/>
          </a:p>
        </p:txBody>
      </p:sp>
      <p:sp>
        <p:nvSpPr>
          <p:cNvPr id="1031" name="Rectangle 1030">
            <a:extLst>
              <a:ext uri="{FF2B5EF4-FFF2-40B4-BE49-F238E27FC236}">
                <a16:creationId xmlns:a16="http://schemas.microsoft.com/office/drawing/2014/main" id="{C4C95487-2756-47E7-9AAD-739A7C246E6D}"/>
              </a:ext>
            </a:extLst>
          </p:cNvPr>
          <p:cNvSpPr/>
          <p:nvPr/>
        </p:nvSpPr>
        <p:spPr>
          <a:xfrm>
            <a:off x="2280139" y="2226431"/>
            <a:ext cx="6394911" cy="356007"/>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7D9B18E6-029E-4F70-ABE0-B677806BE78E}"/>
              </a:ext>
            </a:extLst>
          </p:cNvPr>
          <p:cNvCxnSpPr>
            <a:cxnSpLocks/>
            <a:stCxn id="41" idx="2"/>
            <a:endCxn id="49" idx="6"/>
          </p:cNvCxnSpPr>
          <p:nvPr/>
        </p:nvCxnSpPr>
        <p:spPr>
          <a:xfrm flipH="1">
            <a:off x="1752601" y="3476249"/>
            <a:ext cx="1450422" cy="241197"/>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E78D632-D29F-4F7B-A9DE-9CAB58D26FE5}"/>
              </a:ext>
            </a:extLst>
          </p:cNvPr>
          <p:cNvCxnSpPr>
            <a:cxnSpLocks/>
            <a:stCxn id="41" idx="3"/>
            <a:endCxn id="50" idx="7"/>
          </p:cNvCxnSpPr>
          <p:nvPr/>
        </p:nvCxnSpPr>
        <p:spPr>
          <a:xfrm flipH="1">
            <a:off x="2612045" y="3820261"/>
            <a:ext cx="728458" cy="1017705"/>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3B701AB-566C-420D-9894-895E91FF7667}"/>
              </a:ext>
            </a:extLst>
          </p:cNvPr>
          <p:cNvCxnSpPr>
            <a:cxnSpLocks/>
            <a:stCxn id="50" idx="1"/>
            <a:endCxn id="49" idx="5"/>
          </p:cNvCxnSpPr>
          <p:nvPr/>
        </p:nvCxnSpPr>
        <p:spPr>
          <a:xfrm flipH="1" flipV="1">
            <a:off x="1615121" y="4061458"/>
            <a:ext cx="333112" cy="776508"/>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25" name="Straight Connector 1024">
            <a:extLst>
              <a:ext uri="{FF2B5EF4-FFF2-40B4-BE49-F238E27FC236}">
                <a16:creationId xmlns:a16="http://schemas.microsoft.com/office/drawing/2014/main" id="{2023EC96-C1B6-424E-912C-FDE4A3F7F570}"/>
              </a:ext>
            </a:extLst>
          </p:cNvPr>
          <p:cNvCxnSpPr>
            <a:stCxn id="50" idx="6"/>
            <a:endCxn id="51" idx="2"/>
          </p:cNvCxnSpPr>
          <p:nvPr/>
        </p:nvCxnSpPr>
        <p:spPr>
          <a:xfrm flipV="1">
            <a:off x="2749525" y="5150290"/>
            <a:ext cx="1332420" cy="31689"/>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29" name="Straight Connector 1028">
            <a:extLst>
              <a:ext uri="{FF2B5EF4-FFF2-40B4-BE49-F238E27FC236}">
                <a16:creationId xmlns:a16="http://schemas.microsoft.com/office/drawing/2014/main" id="{19ADF768-0C49-415A-B195-F0CA3F0F80E1}"/>
              </a:ext>
            </a:extLst>
          </p:cNvPr>
          <p:cNvCxnSpPr>
            <a:stCxn id="41" idx="5"/>
            <a:endCxn id="51" idx="0"/>
          </p:cNvCxnSpPr>
          <p:nvPr/>
        </p:nvCxnSpPr>
        <p:spPr>
          <a:xfrm>
            <a:off x="4004315" y="3820261"/>
            <a:ext cx="547016" cy="843521"/>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9396B186-511E-4B22-83E2-22A2C889D433}"/>
              </a:ext>
            </a:extLst>
          </p:cNvPr>
          <p:cNvSpPr/>
          <p:nvPr/>
        </p:nvSpPr>
        <p:spPr>
          <a:xfrm>
            <a:off x="3203023" y="2989741"/>
            <a:ext cx="938772" cy="97301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500" dirty="0">
                <a:solidFill>
                  <a:schemeClr val="tx1"/>
                </a:solidFill>
                <a:latin typeface="JetBrains Mono Light" panose="02000009000000000000" pitchFamily="49" charset="0"/>
                <a:cs typeface="JetBrains Mono Light" panose="02000009000000000000" pitchFamily="49" charset="0"/>
              </a:rPr>
              <a:t>1</a:t>
            </a:r>
          </a:p>
        </p:txBody>
      </p:sp>
      <p:sp>
        <p:nvSpPr>
          <p:cNvPr id="49" name="Oval 48">
            <a:extLst>
              <a:ext uri="{FF2B5EF4-FFF2-40B4-BE49-F238E27FC236}">
                <a16:creationId xmlns:a16="http://schemas.microsoft.com/office/drawing/2014/main" id="{965E448F-3840-4589-B282-19165229E005}"/>
              </a:ext>
            </a:extLst>
          </p:cNvPr>
          <p:cNvSpPr/>
          <p:nvPr/>
        </p:nvSpPr>
        <p:spPr>
          <a:xfrm>
            <a:off x="813829" y="3230938"/>
            <a:ext cx="938772" cy="97301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500" dirty="0">
                <a:solidFill>
                  <a:schemeClr val="tx1"/>
                </a:solidFill>
                <a:latin typeface="JetBrains Mono Light" panose="02000009000000000000" pitchFamily="49" charset="0"/>
                <a:cs typeface="JetBrains Mono Light" panose="02000009000000000000" pitchFamily="49" charset="0"/>
              </a:rPr>
              <a:t>3</a:t>
            </a:r>
          </a:p>
        </p:txBody>
      </p:sp>
      <p:sp>
        <p:nvSpPr>
          <p:cNvPr id="50" name="Oval 49">
            <a:extLst>
              <a:ext uri="{FF2B5EF4-FFF2-40B4-BE49-F238E27FC236}">
                <a16:creationId xmlns:a16="http://schemas.microsoft.com/office/drawing/2014/main" id="{E410087C-B671-4EBB-9B60-72A77DAB37FF}"/>
              </a:ext>
            </a:extLst>
          </p:cNvPr>
          <p:cNvSpPr/>
          <p:nvPr/>
        </p:nvSpPr>
        <p:spPr>
          <a:xfrm>
            <a:off x="1810753" y="4695471"/>
            <a:ext cx="938772" cy="97301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500" dirty="0">
                <a:solidFill>
                  <a:schemeClr val="tx1"/>
                </a:solidFill>
                <a:latin typeface="JetBrains Mono Light" panose="02000009000000000000" pitchFamily="49" charset="0"/>
                <a:cs typeface="JetBrains Mono Light" panose="02000009000000000000" pitchFamily="49" charset="0"/>
              </a:rPr>
              <a:t>2</a:t>
            </a:r>
          </a:p>
        </p:txBody>
      </p:sp>
      <p:sp>
        <p:nvSpPr>
          <p:cNvPr id="51" name="Oval 50">
            <a:extLst>
              <a:ext uri="{FF2B5EF4-FFF2-40B4-BE49-F238E27FC236}">
                <a16:creationId xmlns:a16="http://schemas.microsoft.com/office/drawing/2014/main" id="{0A3551AB-8BB2-49BF-8EF6-E2CB465F1F23}"/>
              </a:ext>
            </a:extLst>
          </p:cNvPr>
          <p:cNvSpPr/>
          <p:nvPr/>
        </p:nvSpPr>
        <p:spPr>
          <a:xfrm>
            <a:off x="4081945" y="4663782"/>
            <a:ext cx="938772" cy="97301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500" dirty="0">
                <a:solidFill>
                  <a:schemeClr val="tx1"/>
                </a:solidFill>
                <a:latin typeface="JetBrains Mono Light" panose="02000009000000000000" pitchFamily="49" charset="0"/>
                <a:cs typeface="JetBrains Mono Light" panose="02000009000000000000" pitchFamily="49" charset="0"/>
              </a:rPr>
              <a:t>4</a:t>
            </a:r>
          </a:p>
        </p:txBody>
      </p:sp>
      <p:sp>
        <p:nvSpPr>
          <p:cNvPr id="72" name="Footer: Part">
            <a:extLst>
              <a:ext uri="{FF2B5EF4-FFF2-40B4-BE49-F238E27FC236}">
                <a16:creationId xmlns:a16="http://schemas.microsoft.com/office/drawing/2014/main" id="{C0635DA3-0840-4BEF-874E-8BBB036AC257}"/>
              </a:ext>
            </a:extLst>
          </p:cNvPr>
          <p:cNvSpPr txBox="1"/>
          <p:nvPr/>
        </p:nvSpPr>
        <p:spPr>
          <a:xfrm>
            <a:off x="10959883" y="6413178"/>
            <a:ext cx="1160019" cy="369332"/>
          </a:xfrm>
          <a:prstGeom prst="rect">
            <a:avLst/>
          </a:prstGeom>
          <a:noFill/>
        </p:spPr>
        <p:txBody>
          <a:bodyPr wrap="square" rtlCol="0">
            <a:spAutoFit/>
          </a:bodyPr>
          <a:lstStyle/>
          <a:p>
            <a:pPr algn="r"/>
            <a:r>
              <a:rPr lang="en-US" dirty="0">
                <a:solidFill>
                  <a:schemeClr val="bg1">
                    <a:lumMod val="95000"/>
                  </a:schemeClr>
                </a:solidFill>
                <a:latin typeface="JetBrains Mono Regular" panose="02000009000000000000" pitchFamily="49" charset="0"/>
                <a:cs typeface="JetBrains Mono Regular" panose="02000009000000000000" pitchFamily="49" charset="0"/>
              </a:rPr>
              <a:t>Ma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trận</a:t>
            </a:r>
            <a:endParaRPr lang="en-US" dirty="0">
              <a:solidFill>
                <a:schemeClr val="bg1">
                  <a:lumMod val="95000"/>
                </a:schemeClr>
              </a:solidFill>
              <a:latin typeface="JetBrains Mono Regular" panose="02000009000000000000" pitchFamily="49" charset="0"/>
              <a:cs typeface="JetBrains Mono Regular" panose="02000009000000000000" pitchFamily="49" charset="0"/>
            </a:endParaRPr>
          </a:p>
        </p:txBody>
      </p:sp>
      <p:sp>
        <p:nvSpPr>
          <p:cNvPr id="73" name="Footer: Title">
            <a:extLst>
              <a:ext uri="{FF2B5EF4-FFF2-40B4-BE49-F238E27FC236}">
                <a16:creationId xmlns:a16="http://schemas.microsoft.com/office/drawing/2014/main" id="{7866ABCF-1166-4D8B-8488-C3994CBEE3A3}"/>
              </a:ext>
            </a:extLst>
          </p:cNvPr>
          <p:cNvSpPr txBox="1"/>
          <p:nvPr/>
        </p:nvSpPr>
        <p:spPr>
          <a:xfrm>
            <a:off x="9906025" y="6414047"/>
            <a:ext cx="1160019"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Light" panose="02000009000000000000" pitchFamily="49" charset="0"/>
                <a:cs typeface="JetBrains Mono Light" panose="02000009000000000000" pitchFamily="49" charset="0"/>
              </a:rPr>
              <a:t>:</a:t>
            </a:r>
          </a:p>
        </p:txBody>
      </p:sp>
    </p:spTree>
    <p:extLst>
      <p:ext uri="{BB962C8B-B14F-4D97-AF65-F5344CB8AC3E}">
        <p14:creationId xmlns:p14="http://schemas.microsoft.com/office/powerpoint/2010/main" val="12823354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30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500"/>
                                        <p:tgtEl>
                                          <p:spTgt spid="3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fade">
                                      <p:cBhvr>
                                        <p:cTn id="26" dur="500"/>
                                        <p:tgtEl>
                                          <p:spTgt spid="42"/>
                                        </p:tgtEl>
                                      </p:cBhvr>
                                    </p:animEffect>
                                  </p:childTnLst>
                                </p:cTn>
                              </p:par>
                              <p:par>
                                <p:cTn id="27" presetID="10" presetClass="entr" presetSubtype="0" fill="hold" grpId="0" nodeType="withEffect">
                                  <p:stCondLst>
                                    <p:cond delay="500"/>
                                  </p:stCondLst>
                                  <p:childTnLst>
                                    <p:set>
                                      <p:cBhvr>
                                        <p:cTn id="28" dur="1" fill="hold">
                                          <p:stCondLst>
                                            <p:cond delay="0"/>
                                          </p:stCondLst>
                                        </p:cTn>
                                        <p:tgtEl>
                                          <p:spTgt spid="39"/>
                                        </p:tgtEl>
                                        <p:attrNameLst>
                                          <p:attrName>style.visibility</p:attrName>
                                        </p:attrNameLst>
                                      </p:cBhvr>
                                      <p:to>
                                        <p:strVal val="visible"/>
                                      </p:to>
                                    </p:set>
                                    <p:animEffect transition="in" filter="fade">
                                      <p:cBhvr>
                                        <p:cTn id="29" dur="500"/>
                                        <p:tgtEl>
                                          <p:spTgt spid="39"/>
                                        </p:tgtEl>
                                      </p:cBhvr>
                                    </p:animEffect>
                                  </p:childTnLst>
                                </p:cTn>
                              </p:par>
                              <p:par>
                                <p:cTn id="30" presetID="10" presetClass="entr" presetSubtype="0" fill="hold" grpId="0" nodeType="withEffect">
                                  <p:stCondLst>
                                    <p:cond delay="500"/>
                                  </p:stCondLst>
                                  <p:childTnLst>
                                    <p:set>
                                      <p:cBhvr>
                                        <p:cTn id="31" dur="1" fill="hold">
                                          <p:stCondLst>
                                            <p:cond delay="0"/>
                                          </p:stCondLst>
                                        </p:cTn>
                                        <p:tgtEl>
                                          <p:spTgt spid="1031"/>
                                        </p:tgtEl>
                                        <p:attrNameLst>
                                          <p:attrName>style.visibility</p:attrName>
                                        </p:attrNameLst>
                                      </p:cBhvr>
                                      <p:to>
                                        <p:strVal val="visible"/>
                                      </p:to>
                                    </p:set>
                                    <p:animEffect transition="in" filter="fade">
                                      <p:cBhvr>
                                        <p:cTn id="32" dur="500"/>
                                        <p:tgtEl>
                                          <p:spTgt spid="1031"/>
                                        </p:tgtEl>
                                      </p:cBhvr>
                                    </p:animEffect>
                                  </p:childTnLst>
                                </p:cTn>
                              </p:par>
                            </p:childTnLst>
                          </p:cTn>
                        </p:par>
                        <p:par>
                          <p:cTn id="33" fill="hold">
                            <p:stCondLst>
                              <p:cond delay="1000"/>
                            </p:stCondLst>
                            <p:childTnLst>
                              <p:par>
                                <p:cTn id="34" presetID="10" presetClass="entr" presetSubtype="0" fill="hold" grpId="0" nodeType="afterEffect">
                                  <p:stCondLst>
                                    <p:cond delay="0"/>
                                  </p:stCondLst>
                                  <p:childTnLst>
                                    <p:set>
                                      <p:cBhvr>
                                        <p:cTn id="35" dur="1" fill="hold">
                                          <p:stCondLst>
                                            <p:cond delay="0"/>
                                          </p:stCondLst>
                                        </p:cTn>
                                        <p:tgtEl>
                                          <p:spTgt spid="41"/>
                                        </p:tgtEl>
                                        <p:attrNameLst>
                                          <p:attrName>style.visibility</p:attrName>
                                        </p:attrNameLst>
                                      </p:cBhvr>
                                      <p:to>
                                        <p:strVal val="visible"/>
                                      </p:to>
                                    </p:set>
                                    <p:animEffect transition="in" filter="fade">
                                      <p:cBhvr>
                                        <p:cTn id="36" dur="200"/>
                                        <p:tgtEl>
                                          <p:spTgt spid="41"/>
                                        </p:tgtEl>
                                      </p:cBhvr>
                                    </p:animEffect>
                                  </p:childTnLst>
                                </p:cTn>
                              </p:par>
                            </p:childTnLst>
                          </p:cTn>
                        </p:par>
                        <p:par>
                          <p:cTn id="37" fill="hold">
                            <p:stCondLst>
                              <p:cond delay="1200"/>
                            </p:stCondLst>
                            <p:childTnLst>
                              <p:par>
                                <p:cTn id="38" presetID="10" presetClass="entr" presetSubtype="0" fill="hold" grpId="0" nodeType="afterEffect">
                                  <p:stCondLst>
                                    <p:cond delay="0"/>
                                  </p:stCondLst>
                                  <p:childTnLst>
                                    <p:set>
                                      <p:cBhvr>
                                        <p:cTn id="39" dur="1" fill="hold">
                                          <p:stCondLst>
                                            <p:cond delay="0"/>
                                          </p:stCondLst>
                                        </p:cTn>
                                        <p:tgtEl>
                                          <p:spTgt spid="50"/>
                                        </p:tgtEl>
                                        <p:attrNameLst>
                                          <p:attrName>style.visibility</p:attrName>
                                        </p:attrNameLst>
                                      </p:cBhvr>
                                      <p:to>
                                        <p:strVal val="visible"/>
                                      </p:to>
                                    </p:set>
                                    <p:animEffect transition="in" filter="fade">
                                      <p:cBhvr>
                                        <p:cTn id="40" dur="200"/>
                                        <p:tgtEl>
                                          <p:spTgt spid="50"/>
                                        </p:tgtEl>
                                      </p:cBhvr>
                                    </p:animEffect>
                                  </p:childTnLst>
                                </p:cTn>
                              </p:par>
                            </p:childTnLst>
                          </p:cTn>
                        </p:par>
                        <p:par>
                          <p:cTn id="41" fill="hold">
                            <p:stCondLst>
                              <p:cond delay="1400"/>
                            </p:stCondLst>
                            <p:childTnLst>
                              <p:par>
                                <p:cTn id="42" presetID="10" presetClass="entr" presetSubtype="0" fill="hold" nodeType="afterEffect">
                                  <p:stCondLst>
                                    <p:cond delay="0"/>
                                  </p:stCondLst>
                                  <p:childTnLst>
                                    <p:set>
                                      <p:cBhvr>
                                        <p:cTn id="43" dur="1" fill="hold">
                                          <p:stCondLst>
                                            <p:cond delay="0"/>
                                          </p:stCondLst>
                                        </p:cTn>
                                        <p:tgtEl>
                                          <p:spTgt spid="56"/>
                                        </p:tgtEl>
                                        <p:attrNameLst>
                                          <p:attrName>style.visibility</p:attrName>
                                        </p:attrNameLst>
                                      </p:cBhvr>
                                      <p:to>
                                        <p:strVal val="visible"/>
                                      </p:to>
                                    </p:set>
                                    <p:animEffect transition="in" filter="fade">
                                      <p:cBhvr>
                                        <p:cTn id="44" dur="200"/>
                                        <p:tgtEl>
                                          <p:spTgt spid="56"/>
                                        </p:tgtEl>
                                      </p:cBhvr>
                                    </p:animEffect>
                                  </p:childTnLst>
                                </p:cTn>
                              </p:par>
                            </p:childTnLst>
                          </p:cTn>
                        </p:par>
                        <p:par>
                          <p:cTn id="45" fill="hold">
                            <p:stCondLst>
                              <p:cond delay="1600"/>
                            </p:stCondLst>
                            <p:childTnLst>
                              <p:par>
                                <p:cTn id="46" presetID="10" presetClass="entr" presetSubtype="0" fill="hold" grpId="0" nodeType="afterEffect">
                                  <p:stCondLst>
                                    <p:cond delay="0"/>
                                  </p:stCondLst>
                                  <p:childTnLst>
                                    <p:set>
                                      <p:cBhvr>
                                        <p:cTn id="47" dur="1" fill="hold">
                                          <p:stCondLst>
                                            <p:cond delay="0"/>
                                          </p:stCondLst>
                                        </p:cTn>
                                        <p:tgtEl>
                                          <p:spTgt spid="49"/>
                                        </p:tgtEl>
                                        <p:attrNameLst>
                                          <p:attrName>style.visibility</p:attrName>
                                        </p:attrNameLst>
                                      </p:cBhvr>
                                      <p:to>
                                        <p:strVal val="visible"/>
                                      </p:to>
                                    </p:set>
                                    <p:animEffect transition="in" filter="fade">
                                      <p:cBhvr>
                                        <p:cTn id="48" dur="200"/>
                                        <p:tgtEl>
                                          <p:spTgt spid="49"/>
                                        </p:tgtEl>
                                      </p:cBhvr>
                                    </p:animEffect>
                                  </p:childTnLst>
                                </p:cTn>
                              </p:par>
                            </p:childTnLst>
                          </p:cTn>
                        </p:par>
                        <p:par>
                          <p:cTn id="49" fill="hold">
                            <p:stCondLst>
                              <p:cond delay="1800"/>
                            </p:stCondLst>
                            <p:childTnLst>
                              <p:par>
                                <p:cTn id="50" presetID="10" presetClass="entr" presetSubtype="0" fill="hold" nodeType="afterEffect">
                                  <p:stCondLst>
                                    <p:cond delay="0"/>
                                  </p:stCondLst>
                                  <p:childTnLst>
                                    <p:set>
                                      <p:cBhvr>
                                        <p:cTn id="51" dur="1" fill="hold">
                                          <p:stCondLst>
                                            <p:cond delay="0"/>
                                          </p:stCondLst>
                                        </p:cTn>
                                        <p:tgtEl>
                                          <p:spTgt spid="44"/>
                                        </p:tgtEl>
                                        <p:attrNameLst>
                                          <p:attrName>style.visibility</p:attrName>
                                        </p:attrNameLst>
                                      </p:cBhvr>
                                      <p:to>
                                        <p:strVal val="visible"/>
                                      </p:to>
                                    </p:set>
                                    <p:animEffect transition="in" filter="fade">
                                      <p:cBhvr>
                                        <p:cTn id="52" dur="200"/>
                                        <p:tgtEl>
                                          <p:spTgt spid="44"/>
                                        </p:tgtEl>
                                      </p:cBhvr>
                                    </p:animEffect>
                                  </p:childTnLst>
                                </p:cTn>
                              </p:par>
                            </p:childTnLst>
                          </p:cTn>
                        </p:par>
                        <p:par>
                          <p:cTn id="53" fill="hold">
                            <p:stCondLst>
                              <p:cond delay="2000"/>
                            </p:stCondLst>
                            <p:childTnLst>
                              <p:par>
                                <p:cTn id="54" presetID="10" presetClass="entr" presetSubtype="0" fill="hold" grpId="0" nodeType="afterEffect">
                                  <p:stCondLst>
                                    <p:cond delay="0"/>
                                  </p:stCondLst>
                                  <p:childTnLst>
                                    <p:set>
                                      <p:cBhvr>
                                        <p:cTn id="55" dur="1" fill="hold">
                                          <p:stCondLst>
                                            <p:cond delay="0"/>
                                          </p:stCondLst>
                                        </p:cTn>
                                        <p:tgtEl>
                                          <p:spTgt spid="51"/>
                                        </p:tgtEl>
                                        <p:attrNameLst>
                                          <p:attrName>style.visibility</p:attrName>
                                        </p:attrNameLst>
                                      </p:cBhvr>
                                      <p:to>
                                        <p:strVal val="visible"/>
                                      </p:to>
                                    </p:set>
                                    <p:animEffect transition="in" filter="fade">
                                      <p:cBhvr>
                                        <p:cTn id="56" dur="200"/>
                                        <p:tgtEl>
                                          <p:spTgt spid="51"/>
                                        </p:tgtEl>
                                      </p:cBhvr>
                                    </p:animEffect>
                                  </p:childTnLst>
                                </p:cTn>
                              </p:par>
                            </p:childTnLst>
                          </p:cTn>
                        </p:par>
                        <p:par>
                          <p:cTn id="57" fill="hold">
                            <p:stCondLst>
                              <p:cond delay="2200"/>
                            </p:stCondLst>
                            <p:childTnLst>
                              <p:par>
                                <p:cTn id="58" presetID="10" presetClass="entr" presetSubtype="0" fill="hold" nodeType="afterEffect">
                                  <p:stCondLst>
                                    <p:cond delay="0"/>
                                  </p:stCondLst>
                                  <p:childTnLst>
                                    <p:set>
                                      <p:cBhvr>
                                        <p:cTn id="59" dur="1" fill="hold">
                                          <p:stCondLst>
                                            <p:cond delay="0"/>
                                          </p:stCondLst>
                                        </p:cTn>
                                        <p:tgtEl>
                                          <p:spTgt spid="57"/>
                                        </p:tgtEl>
                                        <p:attrNameLst>
                                          <p:attrName>style.visibility</p:attrName>
                                        </p:attrNameLst>
                                      </p:cBhvr>
                                      <p:to>
                                        <p:strVal val="visible"/>
                                      </p:to>
                                    </p:set>
                                    <p:animEffect transition="in" filter="fade">
                                      <p:cBhvr>
                                        <p:cTn id="60" dur="200"/>
                                        <p:tgtEl>
                                          <p:spTgt spid="57"/>
                                        </p:tgtEl>
                                      </p:cBhvr>
                                    </p:animEffect>
                                  </p:childTnLst>
                                </p:cTn>
                              </p:par>
                            </p:childTnLst>
                          </p:cTn>
                        </p:par>
                        <p:par>
                          <p:cTn id="61" fill="hold">
                            <p:stCondLst>
                              <p:cond delay="2400"/>
                            </p:stCondLst>
                            <p:childTnLst>
                              <p:par>
                                <p:cTn id="62" presetID="10" presetClass="entr" presetSubtype="0" fill="hold" nodeType="afterEffect">
                                  <p:stCondLst>
                                    <p:cond delay="0"/>
                                  </p:stCondLst>
                                  <p:childTnLst>
                                    <p:set>
                                      <p:cBhvr>
                                        <p:cTn id="63" dur="1" fill="hold">
                                          <p:stCondLst>
                                            <p:cond delay="0"/>
                                          </p:stCondLst>
                                        </p:cTn>
                                        <p:tgtEl>
                                          <p:spTgt spid="1029"/>
                                        </p:tgtEl>
                                        <p:attrNameLst>
                                          <p:attrName>style.visibility</p:attrName>
                                        </p:attrNameLst>
                                      </p:cBhvr>
                                      <p:to>
                                        <p:strVal val="visible"/>
                                      </p:to>
                                    </p:set>
                                    <p:animEffect transition="in" filter="fade">
                                      <p:cBhvr>
                                        <p:cTn id="64" dur="200"/>
                                        <p:tgtEl>
                                          <p:spTgt spid="1029"/>
                                        </p:tgtEl>
                                      </p:cBhvr>
                                    </p:animEffect>
                                  </p:childTnLst>
                                </p:cTn>
                              </p:par>
                            </p:childTnLst>
                          </p:cTn>
                        </p:par>
                        <p:par>
                          <p:cTn id="65" fill="hold">
                            <p:stCondLst>
                              <p:cond delay="2600"/>
                            </p:stCondLst>
                            <p:childTnLst>
                              <p:par>
                                <p:cTn id="66" presetID="10" presetClass="entr" presetSubtype="0" fill="hold" nodeType="afterEffect">
                                  <p:stCondLst>
                                    <p:cond delay="0"/>
                                  </p:stCondLst>
                                  <p:childTnLst>
                                    <p:set>
                                      <p:cBhvr>
                                        <p:cTn id="67" dur="1" fill="hold">
                                          <p:stCondLst>
                                            <p:cond delay="0"/>
                                          </p:stCondLst>
                                        </p:cTn>
                                        <p:tgtEl>
                                          <p:spTgt spid="1025"/>
                                        </p:tgtEl>
                                        <p:attrNameLst>
                                          <p:attrName>style.visibility</p:attrName>
                                        </p:attrNameLst>
                                      </p:cBhvr>
                                      <p:to>
                                        <p:strVal val="visible"/>
                                      </p:to>
                                    </p:set>
                                    <p:animEffect transition="in" filter="fade">
                                      <p:cBhvr>
                                        <p:cTn id="68" dur="200"/>
                                        <p:tgtEl>
                                          <p:spTgt spid="1025"/>
                                        </p:tgtEl>
                                      </p:cBhvr>
                                    </p:animEffect>
                                  </p:childTnLst>
                                </p:cTn>
                              </p:par>
                              <p:par>
                                <p:cTn id="69" presetID="10" presetClass="entr" presetSubtype="0" fill="hold" nodeType="with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fade">
                                      <p:cBhvr>
                                        <p:cTn id="7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3" grpId="0"/>
      <p:bldP spid="33" grpId="0"/>
      <p:bldP spid="35" grpId="0"/>
      <p:bldP spid="36" grpId="0"/>
      <p:bldP spid="42" grpId="0" animBg="1"/>
      <p:bldP spid="39" grpId="0"/>
      <p:bldP spid="1031" grpId="0" animBg="1"/>
      <p:bldP spid="41" grpId="0" animBg="1"/>
      <p:bldP spid="49" grpId="0" animBg="1"/>
      <p:bldP spid="50" grpId="0" animBg="1"/>
      <p:bldP spid="5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ADCB1D2-71BF-4442-85AC-20706F44BBA0}"/>
              </a:ext>
            </a:extLst>
          </p:cNvPr>
          <p:cNvSpPr/>
          <p:nvPr/>
        </p:nvSpPr>
        <p:spPr>
          <a:xfrm>
            <a:off x="0" y="-2556"/>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16" name="Credit MAIN">
            <a:extLst>
              <a:ext uri="{FF2B5EF4-FFF2-40B4-BE49-F238E27FC236}">
                <a16:creationId xmlns:a16="http://schemas.microsoft.com/office/drawing/2014/main" id="{2518DECB-C7B9-41A5-9FB6-89C9AA3086AA}"/>
              </a:ext>
            </a:extLst>
          </p:cNvPr>
          <p:cNvSpPr txBox="1"/>
          <p:nvPr/>
        </p:nvSpPr>
        <p:spPr>
          <a:xfrm>
            <a:off x="50878" y="6420549"/>
            <a:ext cx="2235122"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Vũ</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Thùy</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Dương</a:t>
            </a:r>
            <a:endParaRPr lang="en-US" dirty="0">
              <a:solidFill>
                <a:schemeClr val="bg1">
                  <a:lumMod val="95000"/>
                  <a:alpha val="46000"/>
                </a:schemeClr>
              </a:solidFill>
            </a:endParaRPr>
          </a:p>
        </p:txBody>
      </p:sp>
      <p:sp>
        <p:nvSpPr>
          <p:cNvPr id="11" name="Header">
            <a:extLst>
              <a:ext uri="{FF2B5EF4-FFF2-40B4-BE49-F238E27FC236}">
                <a16:creationId xmlns:a16="http://schemas.microsoft.com/office/drawing/2014/main" id="{6A39F230-06D2-4140-8DA2-357C0B9B6D12}"/>
              </a:ext>
            </a:extLst>
          </p:cNvPr>
          <p:cNvSpPr txBox="1"/>
          <p:nvPr/>
        </p:nvSpPr>
        <p:spPr>
          <a:xfrm>
            <a:off x="50878" y="68119"/>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7" name="Footer: Part">
            <a:extLst>
              <a:ext uri="{FF2B5EF4-FFF2-40B4-BE49-F238E27FC236}">
                <a16:creationId xmlns:a16="http://schemas.microsoft.com/office/drawing/2014/main" id="{553347E6-1341-4BA1-A396-FC4741F3FAF1}"/>
              </a:ext>
            </a:extLst>
          </p:cNvPr>
          <p:cNvSpPr txBox="1"/>
          <p:nvPr/>
        </p:nvSpPr>
        <p:spPr>
          <a:xfrm>
            <a:off x="10959883" y="6413178"/>
            <a:ext cx="1160019" cy="369332"/>
          </a:xfrm>
          <a:prstGeom prst="rect">
            <a:avLst/>
          </a:prstGeom>
          <a:noFill/>
        </p:spPr>
        <p:txBody>
          <a:bodyPr wrap="square" rtlCol="0">
            <a:spAutoFit/>
          </a:bodyPr>
          <a:lstStyle/>
          <a:p>
            <a:pPr algn="r"/>
            <a:r>
              <a:rPr lang="en-US" dirty="0">
                <a:solidFill>
                  <a:schemeClr val="bg1">
                    <a:lumMod val="95000"/>
                  </a:schemeClr>
                </a:solidFill>
                <a:latin typeface="JetBrains Mono Regular" panose="02000009000000000000" pitchFamily="49" charset="0"/>
                <a:cs typeface="JetBrains Mono Regular" panose="02000009000000000000" pitchFamily="49" charset="0"/>
              </a:rPr>
              <a:t>Ma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trận</a:t>
            </a:r>
            <a:endParaRPr lang="en-US" dirty="0">
              <a:solidFill>
                <a:schemeClr val="bg1">
                  <a:lumMod val="95000"/>
                </a:schemeClr>
              </a:solidFill>
              <a:latin typeface="JetBrains Mono Regular" panose="02000009000000000000" pitchFamily="49" charset="0"/>
              <a:cs typeface="JetBrains Mono Regular" panose="02000009000000000000" pitchFamily="49" charset="0"/>
            </a:endParaRPr>
          </a:p>
        </p:txBody>
      </p:sp>
      <p:sp>
        <p:nvSpPr>
          <p:cNvPr id="19" name="Footer: Title">
            <a:extLst>
              <a:ext uri="{FF2B5EF4-FFF2-40B4-BE49-F238E27FC236}">
                <a16:creationId xmlns:a16="http://schemas.microsoft.com/office/drawing/2014/main" id="{FD144244-98B6-4C54-A114-16CD65E0D522}"/>
              </a:ext>
            </a:extLst>
          </p:cNvPr>
          <p:cNvSpPr txBox="1"/>
          <p:nvPr/>
        </p:nvSpPr>
        <p:spPr>
          <a:xfrm>
            <a:off x="9906025" y="6414047"/>
            <a:ext cx="1160019"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Light" panose="02000009000000000000" pitchFamily="49" charset="0"/>
                <a:cs typeface="JetBrains Mono Light" panose="02000009000000000000" pitchFamily="49" charset="0"/>
              </a:rPr>
              <a:t>:</a:t>
            </a:r>
          </a:p>
        </p:txBody>
      </p:sp>
      <p:sp>
        <p:nvSpPr>
          <p:cNvPr id="25" name="PAGE NUM 0">
            <a:extLst>
              <a:ext uri="{FF2B5EF4-FFF2-40B4-BE49-F238E27FC236}">
                <a16:creationId xmlns:a16="http://schemas.microsoft.com/office/drawing/2014/main" id="{CA8E8643-0820-44FC-9D06-02F2A0A63536}"/>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lumMod val="50000"/>
                  </a:schemeClr>
                </a:solidFill>
                <a:latin typeface="JetBrains Mono Light" panose="02000009000000000000" pitchFamily="49" charset="0"/>
                <a:cs typeface="JetBrains Mono Light" panose="02000009000000000000" pitchFamily="49" charset="0"/>
              </a:rPr>
              <a:t>0</a:t>
            </a:r>
            <a:endParaRPr lang="en-US" dirty="0">
              <a:solidFill>
                <a:schemeClr val="bg1"/>
              </a:solidFill>
              <a:latin typeface="JetBrains Mono Light" panose="02000009000000000000" pitchFamily="49" charset="0"/>
              <a:cs typeface="JetBrains Mono Light" panose="02000009000000000000" pitchFamily="49" charset="0"/>
            </a:endParaRPr>
          </a:p>
        </p:txBody>
      </p:sp>
      <p:sp>
        <p:nvSpPr>
          <p:cNvPr id="26" name="PAGE NUM 1">
            <a:extLst>
              <a:ext uri="{FF2B5EF4-FFF2-40B4-BE49-F238E27FC236}">
                <a16:creationId xmlns:a16="http://schemas.microsoft.com/office/drawing/2014/main" id="{6BF8CF33-13C7-458E-A4F5-0A19700195D0}"/>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9</a:t>
            </a:r>
            <a:endParaRPr lang="en-US" dirty="0"/>
          </a:p>
        </p:txBody>
      </p:sp>
      <p:sp>
        <p:nvSpPr>
          <p:cNvPr id="4" name="Rectangle 3">
            <a:extLst>
              <a:ext uri="{FF2B5EF4-FFF2-40B4-BE49-F238E27FC236}">
                <a16:creationId xmlns:a16="http://schemas.microsoft.com/office/drawing/2014/main" id="{CB38D6F8-B45F-44CF-A0B3-4EECDAC74C1C}"/>
              </a:ext>
            </a:extLst>
          </p:cNvPr>
          <p:cNvSpPr/>
          <p:nvPr/>
        </p:nvSpPr>
        <p:spPr>
          <a:xfrm>
            <a:off x="591458" y="591772"/>
            <a:ext cx="2654661"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3252814-A59F-4DD2-85FD-AF3B5B3FB847}"/>
              </a:ext>
            </a:extLst>
          </p:cNvPr>
          <p:cNvSpPr txBox="1"/>
          <p:nvPr/>
        </p:nvSpPr>
        <p:spPr>
          <a:xfrm>
            <a:off x="603363" y="591246"/>
            <a:ext cx="2642757" cy="369332"/>
          </a:xfrm>
          <a:prstGeom prst="rect">
            <a:avLst/>
          </a:prstGeom>
          <a:noFill/>
        </p:spPr>
        <p:txBody>
          <a:bodyPr wrap="square" rtlCol="0">
            <a:spAutoFit/>
          </a:bodyPr>
          <a:lstStyle/>
          <a:p>
            <a:r>
              <a:rPr lang="en-US" dirty="0">
                <a:latin typeface="JetBrains Mono Regular" panose="02000009000000000000" pitchFamily="49" charset="0"/>
                <a:cs typeface="JetBrains Mono Regular" panose="02000009000000000000" pitchFamily="49" charset="0"/>
              </a:rPr>
              <a:t>Ma </a:t>
            </a:r>
            <a:r>
              <a:rPr lang="en-US" dirty="0" err="1">
                <a:latin typeface="JetBrains Mono Regular" panose="02000009000000000000" pitchFamily="49" charset="0"/>
                <a:cs typeface="JetBrains Mono Regular" panose="02000009000000000000" pitchFamily="49" charset="0"/>
              </a:rPr>
              <a:t>trận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liên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thuộc</a:t>
            </a:r>
            <a:endParaRPr lang="en-US" dirty="0">
              <a:latin typeface="JetBrains Mono Regular" panose="02000009000000000000" pitchFamily="49" charset="0"/>
              <a:cs typeface="JetBrains Mono Regular" panose="02000009000000000000" pitchFamily="49" charset="0"/>
            </a:endParaRPr>
          </a:p>
        </p:txBody>
      </p:sp>
      <p:sp>
        <p:nvSpPr>
          <p:cNvPr id="3" name="TextBox 2">
            <a:extLst>
              <a:ext uri="{FF2B5EF4-FFF2-40B4-BE49-F238E27FC236}">
                <a16:creationId xmlns:a16="http://schemas.microsoft.com/office/drawing/2014/main" id="{0DCF76D3-76B8-418E-89D0-5A5DE06812BC}"/>
              </a:ext>
            </a:extLst>
          </p:cNvPr>
          <p:cNvSpPr txBox="1"/>
          <p:nvPr/>
        </p:nvSpPr>
        <p:spPr>
          <a:xfrm>
            <a:off x="603363" y="591527"/>
            <a:ext cx="1149238" cy="369332"/>
          </a:xfrm>
          <a:prstGeom prst="rect">
            <a:avLst/>
          </a:prstGeom>
          <a:solidFill>
            <a:schemeClr val="bg1"/>
          </a:solidFill>
        </p:spPr>
        <p:txBody>
          <a:bodyPr wrap="square" rtlCol="0">
            <a:spAutoFit/>
          </a:bodyPr>
          <a:lstStyle/>
          <a:p>
            <a:r>
              <a:rPr lang="en-US" dirty="0">
                <a:latin typeface="JetBrains Mono Regular" panose="02000009000000000000" pitchFamily="49" charset="0"/>
                <a:cs typeface="JetBrains Mono Regular" panose="02000009000000000000" pitchFamily="49" charset="0"/>
              </a:rPr>
              <a:t>Ma </a:t>
            </a:r>
            <a:r>
              <a:rPr lang="en-US" dirty="0" err="1">
                <a:latin typeface="JetBrains Mono Regular" panose="02000009000000000000" pitchFamily="49" charset="0"/>
                <a:cs typeface="JetBrains Mono Regular" panose="02000009000000000000" pitchFamily="49" charset="0"/>
              </a:rPr>
              <a:t>trận</a:t>
            </a:r>
            <a:endParaRPr lang="en-US" dirty="0">
              <a:latin typeface="JetBrains Mono Regular" panose="02000009000000000000" pitchFamily="49" charset="0"/>
              <a:cs typeface="JetBrains Mono Regular" panose="02000009000000000000" pitchFamily="49" charset="0"/>
            </a:endParaRPr>
          </a:p>
        </p:txBody>
      </p:sp>
      <p:sp>
        <p:nvSpPr>
          <p:cNvPr id="31" name="Footer: Part sub">
            <a:extLst>
              <a:ext uri="{FF2B5EF4-FFF2-40B4-BE49-F238E27FC236}">
                <a16:creationId xmlns:a16="http://schemas.microsoft.com/office/drawing/2014/main" id="{A379016A-F45E-4474-87E7-A7EDDF7B735C}"/>
              </a:ext>
            </a:extLst>
          </p:cNvPr>
          <p:cNvSpPr txBox="1"/>
          <p:nvPr/>
        </p:nvSpPr>
        <p:spPr>
          <a:xfrm>
            <a:off x="12198643" y="6417028"/>
            <a:ext cx="1303020" cy="369332"/>
          </a:xfrm>
          <a:prstGeom prst="rect">
            <a:avLst/>
          </a:prstGeom>
          <a:noFill/>
        </p:spPr>
        <p:txBody>
          <a:bodyPr wrap="square" rtlCol="0">
            <a:spAutoFit/>
          </a:bodyPr>
          <a:lstStyle/>
          <a:p>
            <a:pPr algn="r"/>
            <a:r>
              <a:rPr lang="en-US" dirty="0" err="1">
                <a:solidFill>
                  <a:schemeClr val="bg1">
                    <a:lumMod val="95000"/>
                  </a:schemeClr>
                </a:solidFill>
                <a:latin typeface="JetBrains Mono Regular" panose="02000009000000000000" pitchFamily="49" charset="0"/>
                <a:cs typeface="JetBrains Mono Regular" panose="02000009000000000000" pitchFamily="49" charset="0"/>
              </a:rPr>
              <a:t>liên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hợp</a:t>
            </a:r>
            <a:endParaRPr lang="en-US" dirty="0">
              <a:solidFill>
                <a:schemeClr val="bg1">
                  <a:lumMod val="95000"/>
                </a:schemeClr>
              </a:solidFill>
              <a:latin typeface="JetBrains Mono Regular" panose="02000009000000000000" pitchFamily="49" charset="0"/>
              <a:cs typeface="JetBrains Mono Regular" panose="02000009000000000000" pitchFamily="49" charset="0"/>
            </a:endParaRPr>
          </a:p>
        </p:txBody>
      </p:sp>
      <p:sp>
        <p:nvSpPr>
          <p:cNvPr id="13" name="TextBox 12">
            <a:extLst>
              <a:ext uri="{FF2B5EF4-FFF2-40B4-BE49-F238E27FC236}">
                <a16:creationId xmlns:a16="http://schemas.microsoft.com/office/drawing/2014/main" id="{5AF70085-702D-4AD2-BA51-4593C5AB8847}"/>
              </a:ext>
            </a:extLst>
          </p:cNvPr>
          <p:cNvSpPr txBox="1"/>
          <p:nvPr/>
        </p:nvSpPr>
        <p:spPr>
          <a:xfrm>
            <a:off x="955352" y="1174940"/>
            <a:ext cx="8194014" cy="369332"/>
          </a:xfrm>
          <a:prstGeom prst="rect">
            <a:avLst/>
          </a:prstGeom>
          <a:noFill/>
        </p:spPr>
        <p:txBody>
          <a:bodyPr wrap="square" rtlCol="0">
            <a:spAutoFit/>
          </a:bodyPr>
          <a:lstStyle/>
          <a:p>
            <a:r>
              <a:rPr lang="en-US" dirty="0" err="1">
                <a:solidFill>
                  <a:schemeClr val="bg1"/>
                </a:solidFill>
                <a:latin typeface="JetBrains Mono Light" panose="02000009000000000000" pitchFamily="49" charset="0"/>
                <a:cs typeface="JetBrains Mono Light" panose="02000009000000000000" pitchFamily="49" charset="0"/>
              </a:rPr>
              <a:t>Đồ</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thị</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được</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biểu</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diễn</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bằng</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một</a:t>
            </a:r>
            <a:r>
              <a:rPr lang="en-US" dirty="0">
                <a:solidFill>
                  <a:schemeClr val="bg1"/>
                </a:solidFill>
                <a:latin typeface="JetBrains Mono Light" panose="02000009000000000000" pitchFamily="49" charset="0"/>
                <a:cs typeface="JetBrains Mono Light" panose="02000009000000000000" pitchFamily="49" charset="0"/>
              </a:rPr>
              <a:t> ma </a:t>
            </a:r>
            <a:r>
              <a:rPr lang="en-US" dirty="0" err="1">
                <a:solidFill>
                  <a:schemeClr val="bg1"/>
                </a:solidFill>
                <a:latin typeface="JetBrains Mono Light" panose="02000009000000000000" pitchFamily="49" charset="0"/>
                <a:cs typeface="JetBrains Mono Light" panose="02000009000000000000" pitchFamily="49" charset="0"/>
              </a:rPr>
              <a:t>trận</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A</a:t>
            </a:r>
            <a:r>
              <a:rPr lang="en-US" baseline="-25000" dirty="0" err="1">
                <a:solidFill>
                  <a:schemeClr val="bg1"/>
                </a:solidFill>
                <a:latin typeface="JetBrains Mono Light" panose="02000009000000000000" pitchFamily="49" charset="0"/>
                <a:cs typeface="JetBrains Mono Light" panose="02000009000000000000" pitchFamily="49" charset="0"/>
              </a:rPr>
              <a:t>ij</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kích</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thước</a:t>
            </a:r>
            <a:r>
              <a:rPr lang="en-US" dirty="0">
                <a:solidFill>
                  <a:schemeClr val="bg1"/>
                </a:solidFill>
                <a:latin typeface="JetBrains Mono Light" panose="02000009000000000000" pitchFamily="49" charset="0"/>
                <a:cs typeface="JetBrains Mono Light" panose="02000009000000000000" pitchFamily="49" charset="0"/>
              </a:rPr>
              <a:t> p x q</a:t>
            </a:r>
            <a:endParaRPr lang="en-US" dirty="0">
              <a:solidFill>
                <a:schemeClr val="bg1"/>
              </a:solidFill>
            </a:endParaRPr>
          </a:p>
        </p:txBody>
      </p:sp>
      <p:sp>
        <p:nvSpPr>
          <p:cNvPr id="33" name="TextBox 32">
            <a:extLst>
              <a:ext uri="{FF2B5EF4-FFF2-40B4-BE49-F238E27FC236}">
                <a16:creationId xmlns:a16="http://schemas.microsoft.com/office/drawing/2014/main" id="{FBB1CA56-DDD6-4CF1-8126-D3B0AD9106B9}"/>
              </a:ext>
            </a:extLst>
          </p:cNvPr>
          <p:cNvSpPr txBox="1"/>
          <p:nvPr/>
        </p:nvSpPr>
        <p:spPr>
          <a:xfrm>
            <a:off x="8978478" y="899851"/>
            <a:ext cx="914400" cy="1015663"/>
          </a:xfrm>
          <a:prstGeom prst="rect">
            <a:avLst/>
          </a:prstGeom>
          <a:noFill/>
        </p:spPr>
        <p:txBody>
          <a:bodyPr wrap="square" rtlCol="0">
            <a:spAutoFit/>
          </a:bodyPr>
          <a:lstStyle/>
          <a:p>
            <a:r>
              <a:rPr lang="en-US" sz="6000" dirty="0">
                <a:solidFill>
                  <a:schemeClr val="bg1"/>
                </a:solidFill>
                <a:latin typeface="JetBrains Mono Light" panose="02000009000000000000" pitchFamily="49" charset="0"/>
                <a:cs typeface="JetBrains Mono Light" panose="02000009000000000000" pitchFamily="49" charset="0"/>
              </a:rPr>
              <a:t>{</a:t>
            </a:r>
          </a:p>
        </p:txBody>
      </p:sp>
      <p:sp>
        <p:nvSpPr>
          <p:cNvPr id="35" name="TextBox 34">
            <a:extLst>
              <a:ext uri="{FF2B5EF4-FFF2-40B4-BE49-F238E27FC236}">
                <a16:creationId xmlns:a16="http://schemas.microsoft.com/office/drawing/2014/main" id="{F265EC44-8553-4ED1-BC3A-0C7ED175A30E}"/>
              </a:ext>
            </a:extLst>
          </p:cNvPr>
          <p:cNvSpPr txBox="1"/>
          <p:nvPr/>
        </p:nvSpPr>
        <p:spPr>
          <a:xfrm>
            <a:off x="9474672" y="1072793"/>
            <a:ext cx="1241815" cy="646331"/>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P </a:t>
            </a:r>
            <a:r>
              <a:rPr lang="en-US" dirty="0" err="1">
                <a:solidFill>
                  <a:schemeClr val="bg1"/>
                </a:solidFill>
                <a:latin typeface="JetBrains Mono Light" panose="02000009000000000000" pitchFamily="49" charset="0"/>
                <a:cs typeface="JetBrains Mono Light" panose="02000009000000000000" pitchFamily="49" charset="0"/>
              </a:rPr>
              <a:t>đỉnh</a:t>
            </a:r>
            <a:r>
              <a:rPr lang="en-US" dirty="0">
                <a:solidFill>
                  <a:schemeClr val="bg1"/>
                </a:solidFill>
                <a:latin typeface="JetBrains Mono Light" panose="02000009000000000000" pitchFamily="49" charset="0"/>
                <a:cs typeface="JetBrains Mono Light" panose="02000009000000000000" pitchFamily="49" charset="0"/>
              </a:rPr>
              <a:t> </a:t>
            </a:r>
          </a:p>
          <a:p>
            <a:r>
              <a:rPr lang="en-US" dirty="0">
                <a:solidFill>
                  <a:schemeClr val="bg1"/>
                </a:solidFill>
                <a:latin typeface="JetBrains Mono Light" panose="02000009000000000000" pitchFamily="49" charset="0"/>
                <a:cs typeface="JetBrains Mono Light" panose="02000009000000000000" pitchFamily="49" charset="0"/>
              </a:rPr>
              <a:t>Q </a:t>
            </a:r>
            <a:r>
              <a:rPr lang="en-US" dirty="0" err="1">
                <a:solidFill>
                  <a:schemeClr val="bg1"/>
                </a:solidFill>
                <a:latin typeface="JetBrains Mono Light" panose="02000009000000000000" pitchFamily="49" charset="0"/>
                <a:cs typeface="JetBrains Mono Light" panose="02000009000000000000" pitchFamily="49" charset="0"/>
              </a:rPr>
              <a:t>cạnh</a:t>
            </a:r>
            <a:endParaRPr lang="en-US" dirty="0">
              <a:solidFill>
                <a:schemeClr val="bg1"/>
              </a:solidFill>
              <a:latin typeface="JetBrains Mono Light" panose="02000009000000000000" pitchFamily="49" charset="0"/>
              <a:cs typeface="JetBrains Mono Light" panose="02000009000000000000" pitchFamily="49" charset="0"/>
            </a:endParaRPr>
          </a:p>
        </p:txBody>
      </p:sp>
      <p:sp>
        <p:nvSpPr>
          <p:cNvPr id="36" name="TextBox 35">
            <a:extLst>
              <a:ext uri="{FF2B5EF4-FFF2-40B4-BE49-F238E27FC236}">
                <a16:creationId xmlns:a16="http://schemas.microsoft.com/office/drawing/2014/main" id="{EBF34A05-A41B-4C96-B130-BB17F79C5728}"/>
              </a:ext>
            </a:extLst>
          </p:cNvPr>
          <p:cNvSpPr txBox="1"/>
          <p:nvPr/>
        </p:nvSpPr>
        <p:spPr>
          <a:xfrm>
            <a:off x="967075" y="1512081"/>
            <a:ext cx="7707975" cy="369332"/>
          </a:xfrm>
          <a:prstGeom prst="rect">
            <a:avLst/>
          </a:prstGeom>
          <a:noFill/>
        </p:spPr>
        <p:txBody>
          <a:bodyPr wrap="square" rtlCol="0">
            <a:spAutoFit/>
          </a:bodyPr>
          <a:lstStyle/>
          <a:p>
            <a:r>
              <a:rPr lang="en-US" dirty="0" err="1">
                <a:solidFill>
                  <a:schemeClr val="bg1"/>
                </a:solidFill>
                <a:latin typeface="JetBrains Mono Light" panose="02000009000000000000" pitchFamily="49" charset="0"/>
                <a:cs typeface="JetBrains Mono Light" panose="02000009000000000000" pitchFamily="49" charset="0"/>
              </a:rPr>
              <a:t>A</a:t>
            </a:r>
            <a:r>
              <a:rPr lang="en-US" baseline="-25000" dirty="0" err="1">
                <a:solidFill>
                  <a:schemeClr val="bg1"/>
                </a:solidFill>
                <a:latin typeface="JetBrains Mono Light" panose="02000009000000000000" pitchFamily="49" charset="0"/>
                <a:cs typeface="JetBrains Mono Light" panose="02000009000000000000" pitchFamily="49" charset="0"/>
              </a:rPr>
              <a:t>ij</a:t>
            </a:r>
            <a:r>
              <a:rPr lang="en-US" spc="-300" baseline="-25000" dirty="0">
                <a:solidFill>
                  <a:schemeClr val="bg1"/>
                </a:solidFill>
                <a:latin typeface="JetBrains Mono Light" panose="02000009000000000000" pitchFamily="49" charset="0"/>
                <a:cs typeface="JetBrains Mono Light" panose="02000009000000000000" pitchFamily="49" charset="0"/>
              </a:rPr>
              <a:t> </a:t>
            </a:r>
            <a:r>
              <a:rPr lang="en-US" spc="-300" dirty="0">
                <a:solidFill>
                  <a:schemeClr val="bg1"/>
                </a:solidFill>
                <a:latin typeface="JetBrains Mono Light" panose="02000009000000000000" pitchFamily="49" charset="0"/>
                <a:cs typeface="JetBrains Mono Light" panose="02000009000000000000" pitchFamily="49" charset="0"/>
              </a:rPr>
              <a:t>= 1</a:t>
            </a:r>
            <a:r>
              <a:rPr lang="en-US" spc="300"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chứa</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dữ</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liệu</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về</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quan</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hệ</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giữa</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đỉnh</a:t>
            </a:r>
            <a:r>
              <a:rPr lang="en-US" dirty="0">
                <a:solidFill>
                  <a:schemeClr val="bg1"/>
                </a:solidFill>
                <a:latin typeface="JetBrains Mono Light" panose="02000009000000000000" pitchFamily="49" charset="0"/>
                <a:cs typeface="JetBrains Mono Light" panose="02000009000000000000" pitchFamily="49" charset="0"/>
              </a:rPr>
              <a:t> v</a:t>
            </a:r>
            <a:r>
              <a:rPr lang="en-US" baseline="-25000" dirty="0">
                <a:solidFill>
                  <a:schemeClr val="bg1"/>
                </a:solidFill>
                <a:latin typeface="JetBrains Mono Light" panose="02000009000000000000" pitchFamily="49" charset="0"/>
                <a:cs typeface="JetBrains Mono Light" panose="02000009000000000000" pitchFamily="49" charset="0"/>
              </a:rPr>
              <a:t>i</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và</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cạnh</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x</a:t>
            </a:r>
            <a:r>
              <a:rPr lang="en-US" baseline="-25000" dirty="0" err="1">
                <a:solidFill>
                  <a:schemeClr val="bg1"/>
                </a:solidFill>
                <a:latin typeface="JetBrains Mono Light" panose="02000009000000000000" pitchFamily="49" charset="0"/>
                <a:cs typeface="JetBrains Mono Light" panose="02000009000000000000" pitchFamily="49" charset="0"/>
              </a:rPr>
              <a:t>j</a:t>
            </a:r>
            <a:r>
              <a:rPr lang="en-US" dirty="0">
                <a:solidFill>
                  <a:schemeClr val="bg1"/>
                </a:solidFill>
                <a:latin typeface="JetBrains Mono Light" panose="02000009000000000000" pitchFamily="49" charset="0"/>
                <a:cs typeface="JetBrains Mono Light" panose="02000009000000000000" pitchFamily="49" charset="0"/>
              </a:rPr>
              <a:t>. </a:t>
            </a:r>
            <a:endParaRPr lang="en-US" dirty="0"/>
          </a:p>
        </p:txBody>
      </p:sp>
      <p:graphicFrame>
        <p:nvGraphicFramePr>
          <p:cNvPr id="37" name="Table 37">
            <a:extLst>
              <a:ext uri="{FF2B5EF4-FFF2-40B4-BE49-F238E27FC236}">
                <a16:creationId xmlns:a16="http://schemas.microsoft.com/office/drawing/2014/main" id="{1214CA39-589C-4CC5-B654-0387CF4C8F0C}"/>
              </a:ext>
            </a:extLst>
          </p:cNvPr>
          <p:cNvGraphicFramePr>
            <a:graphicFrameLocks noGrp="1"/>
          </p:cNvGraphicFramePr>
          <p:nvPr>
            <p:extLst>
              <p:ext uri="{D42A27DB-BD31-4B8C-83A1-F6EECF244321}">
                <p14:modId xmlns:p14="http://schemas.microsoft.com/office/powerpoint/2010/main" val="4116730287"/>
              </p:ext>
            </p:extLst>
          </p:nvPr>
        </p:nvGraphicFramePr>
        <p:xfrm>
          <a:off x="6003614" y="3249226"/>
          <a:ext cx="5596294" cy="2647056"/>
        </p:xfrm>
        <a:graphic>
          <a:graphicData uri="http://schemas.openxmlformats.org/drawingml/2006/table">
            <a:tbl>
              <a:tblPr firstRow="1" bandRow="1">
                <a:tableStyleId>{5C22544A-7EE6-4342-B048-85BDC9FD1C3A}</a:tableStyleId>
              </a:tblPr>
              <a:tblGrid>
                <a:gridCol w="785959">
                  <a:extLst>
                    <a:ext uri="{9D8B030D-6E8A-4147-A177-3AD203B41FA5}">
                      <a16:colId xmlns:a16="http://schemas.microsoft.com/office/drawing/2014/main" val="1491892926"/>
                    </a:ext>
                  </a:extLst>
                </a:gridCol>
                <a:gridCol w="962067">
                  <a:extLst>
                    <a:ext uri="{9D8B030D-6E8A-4147-A177-3AD203B41FA5}">
                      <a16:colId xmlns:a16="http://schemas.microsoft.com/office/drawing/2014/main" val="229636460"/>
                    </a:ext>
                  </a:extLst>
                </a:gridCol>
                <a:gridCol w="962067">
                  <a:extLst>
                    <a:ext uri="{9D8B030D-6E8A-4147-A177-3AD203B41FA5}">
                      <a16:colId xmlns:a16="http://schemas.microsoft.com/office/drawing/2014/main" val="2258858154"/>
                    </a:ext>
                  </a:extLst>
                </a:gridCol>
                <a:gridCol w="962067">
                  <a:extLst>
                    <a:ext uri="{9D8B030D-6E8A-4147-A177-3AD203B41FA5}">
                      <a16:colId xmlns:a16="http://schemas.microsoft.com/office/drawing/2014/main" val="3714069001"/>
                    </a:ext>
                  </a:extLst>
                </a:gridCol>
                <a:gridCol w="962067">
                  <a:extLst>
                    <a:ext uri="{9D8B030D-6E8A-4147-A177-3AD203B41FA5}">
                      <a16:colId xmlns:a16="http://schemas.microsoft.com/office/drawing/2014/main" val="2614713054"/>
                    </a:ext>
                  </a:extLst>
                </a:gridCol>
                <a:gridCol w="962067">
                  <a:extLst>
                    <a:ext uri="{9D8B030D-6E8A-4147-A177-3AD203B41FA5}">
                      <a16:colId xmlns:a16="http://schemas.microsoft.com/office/drawing/2014/main" val="498275377"/>
                    </a:ext>
                  </a:extLst>
                </a:gridCol>
              </a:tblGrid>
              <a:tr h="630252">
                <a:tc>
                  <a:txBody>
                    <a:bodyPr/>
                    <a:lstStyle/>
                    <a:p>
                      <a:r>
                        <a:rPr lang="en-US" sz="1200" b="0" dirty="0">
                          <a:solidFill>
                            <a:schemeClr val="bg1">
                              <a:lumMod val="50000"/>
                            </a:schemeClr>
                          </a:solidFill>
                          <a:latin typeface="JetBrains Mono Light" panose="02000009000000000000" pitchFamily="49" charset="0"/>
                          <a:cs typeface="JetBrains Mono Light" panose="02000009000000000000" pitchFamily="49" charset="0"/>
                        </a:rPr>
                        <a:t> </a:t>
                      </a:r>
                      <a:r>
                        <a:rPr lang="en-US" sz="1200" b="0" dirty="0" err="1">
                          <a:solidFill>
                            <a:schemeClr val="bg1">
                              <a:lumMod val="50000"/>
                            </a:schemeClr>
                          </a:solidFill>
                          <a:latin typeface="JetBrains Mono Light" panose="02000009000000000000" pitchFamily="49" charset="0"/>
                          <a:cs typeface="JetBrains Mono Light" panose="02000009000000000000" pitchFamily="49" charset="0"/>
                        </a:rPr>
                        <a:t>dirct</a:t>
                      </a:r>
                      <a:endParaRPr lang="en-US" sz="1200" b="0" dirty="0">
                        <a:solidFill>
                          <a:schemeClr val="bg1">
                            <a:lumMod val="50000"/>
                          </a:schemeClr>
                        </a:solidFill>
                        <a:latin typeface="JetBrains Mono Light" panose="02000009000000000000" pitchFamily="49" charset="0"/>
                        <a:cs typeface="JetBrains Mono Light" panose="02000009000000000000"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bg1">
                              <a:lumMod val="50000"/>
                            </a:schemeClr>
                          </a:solidFill>
                          <a:latin typeface="JetBrains Mono Light" panose="02000009000000000000" pitchFamily="49" charset="0"/>
                          <a:cs typeface="JetBrains Mono Light" panose="02000009000000000000" pitchFamily="49" charset="0"/>
                        </a:rPr>
                        <a:t>node</a:t>
                      </a:r>
                    </a:p>
                  </a:txBody>
                  <a:tcPr>
                    <a:noFill/>
                  </a:tcPr>
                </a:tc>
                <a:tc>
                  <a:txBody>
                    <a:bodyPr/>
                    <a:lstStyle/>
                    <a:p>
                      <a:pPr algn="ctr"/>
                      <a:r>
                        <a:rPr lang="en-US" b="0" i="0" dirty="0">
                          <a:solidFill>
                            <a:schemeClr val="bg1">
                              <a:lumMod val="50000"/>
                            </a:schemeClr>
                          </a:solidFill>
                          <a:latin typeface="JetBrains Mono Light" panose="02000009000000000000" pitchFamily="49" charset="0"/>
                          <a:cs typeface="JetBrains Mono Light" panose="02000009000000000000" pitchFamily="49" charset="0"/>
                        </a:rPr>
                        <a:t>1,2</a:t>
                      </a:r>
                    </a:p>
                  </a:txBody>
                  <a:tcPr>
                    <a:noFill/>
                  </a:tcPr>
                </a:tc>
                <a:tc>
                  <a:txBody>
                    <a:bodyPr/>
                    <a:lstStyle/>
                    <a:p>
                      <a:pPr algn="ctr"/>
                      <a:r>
                        <a:rPr lang="en-US" b="0" i="0" dirty="0">
                          <a:solidFill>
                            <a:schemeClr val="bg1">
                              <a:lumMod val="50000"/>
                            </a:schemeClr>
                          </a:solidFill>
                          <a:latin typeface="JetBrains Mono Light" panose="02000009000000000000" pitchFamily="49" charset="0"/>
                          <a:cs typeface="JetBrains Mono Light" panose="02000009000000000000" pitchFamily="49" charset="0"/>
                        </a:rPr>
                        <a:t>1,3</a:t>
                      </a:r>
                    </a:p>
                  </a:txBody>
                  <a:tcPr>
                    <a:noFill/>
                  </a:tcPr>
                </a:tc>
                <a:tc>
                  <a:txBody>
                    <a:bodyPr/>
                    <a:lstStyle/>
                    <a:p>
                      <a:pPr algn="ctr"/>
                      <a:r>
                        <a:rPr lang="en-US" b="0" i="0" dirty="0">
                          <a:solidFill>
                            <a:schemeClr val="bg1">
                              <a:lumMod val="50000"/>
                            </a:schemeClr>
                          </a:solidFill>
                          <a:latin typeface="JetBrains Mono Light" panose="02000009000000000000" pitchFamily="49" charset="0"/>
                          <a:cs typeface="JetBrains Mono Light" panose="02000009000000000000" pitchFamily="49" charset="0"/>
                        </a:rPr>
                        <a:t>1,4</a:t>
                      </a:r>
                    </a:p>
                  </a:txBody>
                  <a:tcPr>
                    <a:noFill/>
                  </a:tcPr>
                </a:tc>
                <a:tc>
                  <a:txBody>
                    <a:bodyPr/>
                    <a:lstStyle/>
                    <a:p>
                      <a:pPr algn="ctr"/>
                      <a:r>
                        <a:rPr lang="en-US" b="0" i="0" dirty="0">
                          <a:solidFill>
                            <a:schemeClr val="bg1">
                              <a:lumMod val="50000"/>
                            </a:schemeClr>
                          </a:solidFill>
                          <a:latin typeface="JetBrains Mono Light" panose="02000009000000000000" pitchFamily="49" charset="0"/>
                          <a:cs typeface="JetBrains Mono Light" panose="02000009000000000000" pitchFamily="49" charset="0"/>
                        </a:rPr>
                        <a:t>2,3</a:t>
                      </a:r>
                    </a:p>
                  </a:txBody>
                  <a:tcPr>
                    <a:noFill/>
                  </a:tcPr>
                </a:tc>
                <a:tc>
                  <a:txBody>
                    <a:bodyPr/>
                    <a:lstStyle/>
                    <a:p>
                      <a:pPr algn="ctr"/>
                      <a:r>
                        <a:rPr lang="en-US" b="0" i="0" dirty="0">
                          <a:solidFill>
                            <a:schemeClr val="bg1">
                              <a:lumMod val="50000"/>
                            </a:schemeClr>
                          </a:solidFill>
                          <a:latin typeface="JetBrains Mono Light" panose="02000009000000000000" pitchFamily="49" charset="0"/>
                          <a:cs typeface="JetBrains Mono Light" panose="02000009000000000000" pitchFamily="49" charset="0"/>
                        </a:rPr>
                        <a:t>2,4</a:t>
                      </a:r>
                    </a:p>
                  </a:txBody>
                  <a:tcPr>
                    <a:noFill/>
                  </a:tcPr>
                </a:tc>
                <a:extLst>
                  <a:ext uri="{0D108BD9-81ED-4DB2-BD59-A6C34878D82A}">
                    <a16:rowId xmlns:a16="http://schemas.microsoft.com/office/drawing/2014/main" val="4057429763"/>
                  </a:ext>
                </a:extLst>
              </a:tr>
              <a:tr h="50420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extLst>
                  <a:ext uri="{0D108BD9-81ED-4DB2-BD59-A6C34878D82A}">
                    <a16:rowId xmlns:a16="http://schemas.microsoft.com/office/drawing/2014/main" val="2017443693"/>
                  </a:ext>
                </a:extLst>
              </a:tr>
              <a:tr h="50420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JetBrains Mono Light" panose="02000009000000000000" pitchFamily="49" charset="0"/>
                          <a:cs typeface="JetBrains Mono Light" panose="02000009000000000000" pitchFamily="49" charset="0"/>
                        </a:rPr>
                        <a:t>2</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extLst>
                  <a:ext uri="{0D108BD9-81ED-4DB2-BD59-A6C34878D82A}">
                    <a16:rowId xmlns:a16="http://schemas.microsoft.com/office/drawing/2014/main" val="861742431"/>
                  </a:ext>
                </a:extLst>
              </a:tr>
              <a:tr h="50420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JetBrains Mono Light" panose="02000009000000000000" pitchFamily="49" charset="0"/>
                          <a:cs typeface="JetBrains Mono Light" panose="02000009000000000000" pitchFamily="49" charset="0"/>
                        </a:rPr>
                        <a:t>3</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extLst>
                  <a:ext uri="{0D108BD9-81ED-4DB2-BD59-A6C34878D82A}">
                    <a16:rowId xmlns:a16="http://schemas.microsoft.com/office/drawing/2014/main" val="538378108"/>
                  </a:ext>
                </a:extLst>
              </a:tr>
              <a:tr h="50420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JetBrains Mono Light" panose="02000009000000000000" pitchFamily="49" charset="0"/>
                          <a:cs typeface="JetBrains Mono Light" panose="02000009000000000000" pitchFamily="49" charset="0"/>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extLst>
                  <a:ext uri="{0D108BD9-81ED-4DB2-BD59-A6C34878D82A}">
                    <a16:rowId xmlns:a16="http://schemas.microsoft.com/office/drawing/2014/main" val="1243298535"/>
                  </a:ext>
                </a:extLst>
              </a:tr>
            </a:tbl>
          </a:graphicData>
        </a:graphic>
      </p:graphicFrame>
      <p:sp>
        <p:nvSpPr>
          <p:cNvPr id="1031" name="Rectangle 1030">
            <a:extLst>
              <a:ext uri="{FF2B5EF4-FFF2-40B4-BE49-F238E27FC236}">
                <a16:creationId xmlns:a16="http://schemas.microsoft.com/office/drawing/2014/main" id="{C4C95487-2756-47E7-9AAD-739A7C246E6D}"/>
              </a:ext>
            </a:extLst>
          </p:cNvPr>
          <p:cNvSpPr/>
          <p:nvPr/>
        </p:nvSpPr>
        <p:spPr>
          <a:xfrm>
            <a:off x="2289167" y="2067988"/>
            <a:ext cx="9680095" cy="714278"/>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0256EE4F-6DB2-473D-A822-1BEB4F55CE95}"/>
              </a:ext>
            </a:extLst>
          </p:cNvPr>
          <p:cNvSpPr txBox="1"/>
          <p:nvPr/>
        </p:nvSpPr>
        <p:spPr>
          <a:xfrm>
            <a:off x="979420" y="2229811"/>
            <a:ext cx="1311071" cy="369332"/>
          </a:xfrm>
          <a:prstGeom prst="rect">
            <a:avLst/>
          </a:prstGeom>
          <a:solidFill>
            <a:schemeClr val="bg1"/>
          </a:solidFill>
        </p:spPr>
        <p:txBody>
          <a:bodyPr wrap="square" rtlCol="0">
            <a:spAutoFit/>
          </a:bodyPr>
          <a:lstStyle/>
          <a:p>
            <a:r>
              <a:rPr lang="en-US" dirty="0" err="1">
                <a:latin typeface="JetBrains Mono" panose="02000009000000000000" pitchFamily="49" charset="0"/>
                <a:cs typeface="JetBrains Mono" panose="02000009000000000000" pitchFamily="49" charset="0"/>
              </a:rPr>
              <a:t>Vô</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hướng</a:t>
            </a:r>
            <a:endParaRPr lang="en-US" dirty="0">
              <a:latin typeface="JetBrains Mono" panose="02000009000000000000" pitchFamily="49" charset="0"/>
              <a:cs typeface="JetBrains Mono" panose="02000009000000000000" pitchFamily="49" charset="0"/>
            </a:endParaRPr>
          </a:p>
        </p:txBody>
      </p:sp>
      <p:sp>
        <p:nvSpPr>
          <p:cNvPr id="42" name="TextBox 41">
            <a:extLst>
              <a:ext uri="{FF2B5EF4-FFF2-40B4-BE49-F238E27FC236}">
                <a16:creationId xmlns:a16="http://schemas.microsoft.com/office/drawing/2014/main" id="{3D42866F-5A9B-484B-9318-BFC3B27AD6F7}"/>
              </a:ext>
            </a:extLst>
          </p:cNvPr>
          <p:cNvSpPr txBox="1"/>
          <p:nvPr/>
        </p:nvSpPr>
        <p:spPr>
          <a:xfrm>
            <a:off x="969068" y="2226431"/>
            <a:ext cx="1311071" cy="369332"/>
          </a:xfrm>
          <a:prstGeom prst="rect">
            <a:avLst/>
          </a:prstGeom>
          <a:solidFill>
            <a:schemeClr val="bg1"/>
          </a:solid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Có</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hướng</a:t>
            </a:r>
            <a:endParaRPr lang="en-US" dirty="0">
              <a:latin typeface="JetBrains Mono Regular" panose="02000009000000000000" pitchFamily="49" charset="0"/>
              <a:cs typeface="JetBrains Mono Regular" panose="02000009000000000000" pitchFamily="49" charset="0"/>
            </a:endParaRPr>
          </a:p>
        </p:txBody>
      </p:sp>
      <p:sp>
        <p:nvSpPr>
          <p:cNvPr id="39" name="TextBox 38">
            <a:extLst>
              <a:ext uri="{FF2B5EF4-FFF2-40B4-BE49-F238E27FC236}">
                <a16:creationId xmlns:a16="http://schemas.microsoft.com/office/drawing/2014/main" id="{C23F2A78-0D77-47AE-82A1-9D12A73C9F3E}"/>
              </a:ext>
            </a:extLst>
          </p:cNvPr>
          <p:cNvSpPr txBox="1"/>
          <p:nvPr/>
        </p:nvSpPr>
        <p:spPr>
          <a:xfrm>
            <a:off x="2280138" y="2076764"/>
            <a:ext cx="9788621" cy="688073"/>
          </a:xfrm>
          <a:prstGeom prst="rect">
            <a:avLst/>
          </a:prstGeom>
          <a:noFill/>
          <a:ln w="6350">
            <a:noFill/>
          </a:ln>
        </p:spPr>
        <p:txBody>
          <a:bodyPr wrap="square" rtlCol="0">
            <a:spAutoFit/>
          </a:bodyPr>
          <a:lstStyle/>
          <a:p>
            <a:pPr>
              <a:lnSpc>
                <a:spcPct val="110000"/>
              </a:lnSpc>
            </a:pPr>
            <a:r>
              <a:rPr lang="en-US" dirty="0" err="1">
                <a:solidFill>
                  <a:schemeClr val="bg1"/>
                </a:solidFill>
                <a:latin typeface="JetBrains Mono Light" panose="02000009000000000000" pitchFamily="49" charset="0"/>
                <a:cs typeface="JetBrains Mono Light" panose="02000009000000000000" pitchFamily="49" charset="0"/>
              </a:rPr>
              <a:t>A</a:t>
            </a:r>
            <a:r>
              <a:rPr lang="en-US" baseline="-25000" dirty="0" err="1">
                <a:solidFill>
                  <a:schemeClr val="bg1"/>
                </a:solidFill>
                <a:latin typeface="JetBrains Mono Light" panose="02000009000000000000" pitchFamily="49" charset="0"/>
                <a:cs typeface="JetBrains Mono Light" panose="02000009000000000000" pitchFamily="49" charset="0"/>
              </a:rPr>
              <a:t>ij</a:t>
            </a:r>
            <a:r>
              <a:rPr lang="en-US" spc="-300" baseline="-25000" dirty="0">
                <a:solidFill>
                  <a:schemeClr val="bg1"/>
                </a:solidFill>
                <a:latin typeface="JetBrains Mono Light" panose="02000009000000000000" pitchFamily="49" charset="0"/>
                <a:cs typeface="JetBrains Mono Light" panose="02000009000000000000" pitchFamily="49" charset="0"/>
              </a:rPr>
              <a:t> </a:t>
            </a:r>
            <a:r>
              <a:rPr lang="en-US" spc="-300" dirty="0">
                <a:solidFill>
                  <a:schemeClr val="bg1"/>
                </a:solidFill>
                <a:latin typeface="JetBrains Mono Light" panose="02000009000000000000" pitchFamily="49" charset="0"/>
                <a:cs typeface="JetBrains Mono Light" panose="02000009000000000000" pitchFamily="49" charset="0"/>
              </a:rPr>
              <a:t>= 1 </a:t>
            </a:r>
            <a:r>
              <a:rPr lang="en-US" dirty="0" err="1">
                <a:solidFill>
                  <a:schemeClr val="bg1"/>
                </a:solidFill>
                <a:latin typeface="JetBrains Mono Light" panose="02000009000000000000" pitchFamily="49" charset="0"/>
                <a:cs typeface="JetBrains Mono Light" panose="02000009000000000000" pitchFamily="49" charset="0"/>
              </a:rPr>
              <a:t>nếu</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cạnh</a:t>
            </a:r>
            <a:r>
              <a:rPr lang="en-US" dirty="0">
                <a:solidFill>
                  <a:schemeClr val="bg1"/>
                </a:solidFill>
                <a:latin typeface="JetBrains Mono Light" panose="02000009000000000000" pitchFamily="49" charset="0"/>
                <a:cs typeface="JetBrains Mono Light" panose="02000009000000000000" pitchFamily="49" charset="0"/>
              </a:rPr>
              <a:t> j </a:t>
            </a:r>
            <a:r>
              <a:rPr lang="en-US" dirty="0" err="1">
                <a:solidFill>
                  <a:schemeClr val="bg1"/>
                </a:solidFill>
                <a:latin typeface="JetBrains Mono Light" panose="02000009000000000000" pitchFamily="49" charset="0"/>
                <a:cs typeface="JetBrains Mono Light" panose="02000009000000000000" pitchFamily="49" charset="0"/>
              </a:rPr>
              <a:t>hướng</a:t>
            </a:r>
            <a:r>
              <a:rPr lang="en-US" dirty="0">
                <a:solidFill>
                  <a:schemeClr val="bg1"/>
                </a:solidFill>
                <a:latin typeface="JetBrains Mono Light" panose="02000009000000000000" pitchFamily="49" charset="0"/>
                <a:cs typeface="JetBrains Mono Light" panose="02000009000000000000" pitchFamily="49" charset="0"/>
              </a:rPr>
              <a:t> ra </a:t>
            </a:r>
            <a:r>
              <a:rPr lang="en-US" dirty="0" err="1">
                <a:solidFill>
                  <a:schemeClr val="bg1"/>
                </a:solidFill>
                <a:latin typeface="JetBrains Mono Light" panose="02000009000000000000" pitchFamily="49" charset="0"/>
                <a:cs typeface="JetBrains Mono Light" panose="02000009000000000000" pitchFamily="49" charset="0"/>
              </a:rPr>
              <a:t>khỏi</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đỉnh</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i</a:t>
            </a:r>
            <a:r>
              <a:rPr lang="en-US" dirty="0">
                <a:solidFill>
                  <a:schemeClr val="bg1"/>
                </a:solidFill>
                <a:latin typeface="JetBrains Mono Light" panose="02000009000000000000" pitchFamily="49" charset="0"/>
                <a:cs typeface="JetBrains Mono Light" panose="02000009000000000000" pitchFamily="49" charset="0"/>
              </a:rPr>
              <a:t>, -1 </a:t>
            </a:r>
            <a:r>
              <a:rPr lang="en-US" dirty="0" err="1">
                <a:solidFill>
                  <a:schemeClr val="bg1"/>
                </a:solidFill>
                <a:latin typeface="JetBrains Mono Light" panose="02000009000000000000" pitchFamily="49" charset="0"/>
                <a:cs typeface="JetBrains Mono Light" panose="02000009000000000000" pitchFamily="49" charset="0"/>
              </a:rPr>
              <a:t>nếu</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cạnh</a:t>
            </a:r>
            <a:r>
              <a:rPr lang="en-US" dirty="0">
                <a:solidFill>
                  <a:schemeClr val="bg1"/>
                </a:solidFill>
                <a:latin typeface="JetBrains Mono Light" panose="02000009000000000000" pitchFamily="49" charset="0"/>
                <a:cs typeface="JetBrains Mono Light" panose="02000009000000000000" pitchFamily="49" charset="0"/>
              </a:rPr>
              <a:t> j </a:t>
            </a:r>
            <a:r>
              <a:rPr lang="en-US" dirty="0" err="1">
                <a:solidFill>
                  <a:schemeClr val="bg1"/>
                </a:solidFill>
                <a:latin typeface="JetBrains Mono Light" panose="02000009000000000000" pitchFamily="49" charset="0"/>
                <a:cs typeface="JetBrains Mono Light" panose="02000009000000000000" pitchFamily="49" charset="0"/>
              </a:rPr>
              <a:t>hướng</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vào</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đỉnh</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i</a:t>
            </a:r>
            <a:r>
              <a:rPr lang="en-US" dirty="0">
                <a:solidFill>
                  <a:schemeClr val="bg1"/>
                </a:solidFill>
                <a:latin typeface="JetBrains Mono Light" panose="02000009000000000000" pitchFamily="49" charset="0"/>
                <a:cs typeface="JetBrains Mono Light" panose="02000009000000000000" pitchFamily="49" charset="0"/>
              </a:rPr>
              <a:t>; </a:t>
            </a:r>
          </a:p>
          <a:p>
            <a:pPr>
              <a:lnSpc>
                <a:spcPct val="110000"/>
              </a:lnSpc>
            </a:pPr>
            <a:r>
              <a:rPr lang="en-US" dirty="0" err="1">
                <a:solidFill>
                  <a:schemeClr val="bg1"/>
                </a:solidFill>
                <a:latin typeface="JetBrains Mono Light" panose="02000009000000000000" pitchFamily="49" charset="0"/>
                <a:cs typeface="JetBrains Mono Light" panose="02000009000000000000" pitchFamily="49" charset="0"/>
              </a:rPr>
              <a:t>A</a:t>
            </a:r>
            <a:r>
              <a:rPr lang="en-US" baseline="-25000" dirty="0" err="1">
                <a:solidFill>
                  <a:schemeClr val="bg1"/>
                </a:solidFill>
                <a:latin typeface="JetBrains Mono Light" panose="02000009000000000000" pitchFamily="49" charset="0"/>
                <a:cs typeface="JetBrains Mono Light" panose="02000009000000000000" pitchFamily="49" charset="0"/>
              </a:rPr>
              <a:t>ij</a:t>
            </a:r>
            <a:r>
              <a:rPr lang="en-US" spc="-300" baseline="-25000" dirty="0">
                <a:solidFill>
                  <a:schemeClr val="bg1"/>
                </a:solidFill>
                <a:latin typeface="JetBrains Mono Light" panose="02000009000000000000" pitchFamily="49" charset="0"/>
                <a:cs typeface="JetBrains Mono Light" panose="02000009000000000000" pitchFamily="49" charset="0"/>
              </a:rPr>
              <a:t> </a:t>
            </a:r>
            <a:r>
              <a:rPr lang="en-US" spc="-300" dirty="0">
                <a:solidFill>
                  <a:schemeClr val="bg1"/>
                </a:solidFill>
                <a:latin typeface="JetBrains Mono Light" panose="02000009000000000000" pitchFamily="49" charset="0"/>
                <a:cs typeface="JetBrains Mono Light" panose="02000009000000000000" pitchFamily="49" charset="0"/>
              </a:rPr>
              <a:t>= 0 </a:t>
            </a:r>
            <a:r>
              <a:rPr lang="en-US" dirty="0" err="1">
                <a:solidFill>
                  <a:schemeClr val="bg1"/>
                </a:solidFill>
                <a:latin typeface="JetBrains Mono Light" panose="02000009000000000000" pitchFamily="49" charset="0"/>
                <a:cs typeface="JetBrains Mono Light" panose="02000009000000000000" pitchFamily="49" charset="0"/>
              </a:rPr>
              <a:t>nếu</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i</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không</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kề</a:t>
            </a:r>
            <a:r>
              <a:rPr lang="en-US" dirty="0">
                <a:solidFill>
                  <a:schemeClr val="bg1"/>
                </a:solidFill>
                <a:latin typeface="JetBrains Mono Light" panose="02000009000000000000" pitchFamily="49" charset="0"/>
                <a:cs typeface="JetBrains Mono Light" panose="02000009000000000000" pitchFamily="49" charset="0"/>
              </a:rPr>
              <a:t> j.</a:t>
            </a:r>
            <a:endParaRPr lang="en-US" dirty="0"/>
          </a:p>
        </p:txBody>
      </p:sp>
      <p:cxnSp>
        <p:nvCxnSpPr>
          <p:cNvPr id="44" name="Straight Connector 43">
            <a:extLst>
              <a:ext uri="{FF2B5EF4-FFF2-40B4-BE49-F238E27FC236}">
                <a16:creationId xmlns:a16="http://schemas.microsoft.com/office/drawing/2014/main" id="{7D9B18E6-029E-4F70-ABE0-B677806BE78E}"/>
              </a:ext>
            </a:extLst>
          </p:cNvPr>
          <p:cNvCxnSpPr>
            <a:cxnSpLocks/>
            <a:stCxn id="41" idx="2"/>
            <a:endCxn id="49" idx="6"/>
          </p:cNvCxnSpPr>
          <p:nvPr/>
        </p:nvCxnSpPr>
        <p:spPr>
          <a:xfrm flipH="1">
            <a:off x="1786399" y="3793984"/>
            <a:ext cx="1450422" cy="241197"/>
          </a:xfrm>
          <a:prstGeom prst="line">
            <a:avLst/>
          </a:prstGeom>
          <a:ln w="57150">
            <a:solidFill>
              <a:schemeClr val="bg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E78D632-D29F-4F7B-A9DE-9CAB58D26FE5}"/>
              </a:ext>
            </a:extLst>
          </p:cNvPr>
          <p:cNvCxnSpPr>
            <a:cxnSpLocks/>
            <a:stCxn id="41" idx="3"/>
            <a:endCxn id="50" idx="7"/>
          </p:cNvCxnSpPr>
          <p:nvPr/>
        </p:nvCxnSpPr>
        <p:spPr>
          <a:xfrm flipH="1">
            <a:off x="2645843" y="4137996"/>
            <a:ext cx="728458" cy="1017705"/>
          </a:xfrm>
          <a:prstGeom prst="line">
            <a:avLst/>
          </a:prstGeom>
          <a:ln w="57150">
            <a:solidFill>
              <a:schemeClr val="bg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3B701AB-566C-420D-9894-895E91FF7667}"/>
              </a:ext>
            </a:extLst>
          </p:cNvPr>
          <p:cNvCxnSpPr>
            <a:cxnSpLocks/>
            <a:stCxn id="50" idx="1"/>
            <a:endCxn id="49" idx="5"/>
          </p:cNvCxnSpPr>
          <p:nvPr/>
        </p:nvCxnSpPr>
        <p:spPr>
          <a:xfrm flipH="1" flipV="1">
            <a:off x="1648919" y="4379193"/>
            <a:ext cx="333112" cy="776508"/>
          </a:xfrm>
          <a:prstGeom prst="line">
            <a:avLst/>
          </a:prstGeom>
          <a:ln w="57150">
            <a:solidFill>
              <a:schemeClr val="bg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25" name="Straight Connector 1024">
            <a:extLst>
              <a:ext uri="{FF2B5EF4-FFF2-40B4-BE49-F238E27FC236}">
                <a16:creationId xmlns:a16="http://schemas.microsoft.com/office/drawing/2014/main" id="{2023EC96-C1B6-424E-912C-FDE4A3F7F570}"/>
              </a:ext>
            </a:extLst>
          </p:cNvPr>
          <p:cNvCxnSpPr>
            <a:stCxn id="50" idx="6"/>
            <a:endCxn id="51" idx="2"/>
          </p:cNvCxnSpPr>
          <p:nvPr/>
        </p:nvCxnSpPr>
        <p:spPr>
          <a:xfrm flipV="1">
            <a:off x="2783323" y="5468025"/>
            <a:ext cx="1332420" cy="31689"/>
          </a:xfrm>
          <a:prstGeom prst="line">
            <a:avLst/>
          </a:prstGeom>
          <a:ln w="57150">
            <a:solidFill>
              <a:schemeClr val="bg1">
                <a:lumMod val="50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9" name="Straight Connector 1028">
            <a:extLst>
              <a:ext uri="{FF2B5EF4-FFF2-40B4-BE49-F238E27FC236}">
                <a16:creationId xmlns:a16="http://schemas.microsoft.com/office/drawing/2014/main" id="{19ADF768-0C49-415A-B195-F0CA3F0F80E1}"/>
              </a:ext>
            </a:extLst>
          </p:cNvPr>
          <p:cNvCxnSpPr>
            <a:cxnSpLocks/>
            <a:stCxn id="41" idx="5"/>
            <a:endCxn id="51" idx="0"/>
          </p:cNvCxnSpPr>
          <p:nvPr/>
        </p:nvCxnSpPr>
        <p:spPr>
          <a:xfrm>
            <a:off x="4038113" y="4137996"/>
            <a:ext cx="547016" cy="843521"/>
          </a:xfrm>
          <a:prstGeom prst="line">
            <a:avLst/>
          </a:prstGeom>
          <a:ln w="57150">
            <a:solidFill>
              <a:schemeClr val="bg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9396B186-511E-4B22-83E2-22A2C889D433}"/>
              </a:ext>
            </a:extLst>
          </p:cNvPr>
          <p:cNvSpPr/>
          <p:nvPr/>
        </p:nvSpPr>
        <p:spPr>
          <a:xfrm>
            <a:off x="3236821" y="3307476"/>
            <a:ext cx="938772" cy="97301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500" dirty="0">
                <a:solidFill>
                  <a:schemeClr val="tx1"/>
                </a:solidFill>
                <a:latin typeface="JetBrains Mono Light" panose="02000009000000000000" pitchFamily="49" charset="0"/>
                <a:cs typeface="JetBrains Mono Light" panose="02000009000000000000" pitchFamily="49" charset="0"/>
              </a:rPr>
              <a:t>1</a:t>
            </a:r>
          </a:p>
        </p:txBody>
      </p:sp>
      <p:sp>
        <p:nvSpPr>
          <p:cNvPr id="49" name="Oval 48">
            <a:extLst>
              <a:ext uri="{FF2B5EF4-FFF2-40B4-BE49-F238E27FC236}">
                <a16:creationId xmlns:a16="http://schemas.microsoft.com/office/drawing/2014/main" id="{965E448F-3840-4589-B282-19165229E005}"/>
              </a:ext>
            </a:extLst>
          </p:cNvPr>
          <p:cNvSpPr/>
          <p:nvPr/>
        </p:nvSpPr>
        <p:spPr>
          <a:xfrm>
            <a:off x="847627" y="3548673"/>
            <a:ext cx="938772" cy="97301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500" dirty="0">
                <a:solidFill>
                  <a:schemeClr val="tx1"/>
                </a:solidFill>
                <a:latin typeface="JetBrains Mono Light" panose="02000009000000000000" pitchFamily="49" charset="0"/>
                <a:cs typeface="JetBrains Mono Light" panose="02000009000000000000" pitchFamily="49" charset="0"/>
              </a:rPr>
              <a:t>3</a:t>
            </a:r>
          </a:p>
        </p:txBody>
      </p:sp>
      <p:sp>
        <p:nvSpPr>
          <p:cNvPr id="50" name="Oval 49">
            <a:extLst>
              <a:ext uri="{FF2B5EF4-FFF2-40B4-BE49-F238E27FC236}">
                <a16:creationId xmlns:a16="http://schemas.microsoft.com/office/drawing/2014/main" id="{E410087C-B671-4EBB-9B60-72A77DAB37FF}"/>
              </a:ext>
            </a:extLst>
          </p:cNvPr>
          <p:cNvSpPr/>
          <p:nvPr/>
        </p:nvSpPr>
        <p:spPr>
          <a:xfrm>
            <a:off x="1844551" y="5013206"/>
            <a:ext cx="938772" cy="97301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500" dirty="0">
                <a:solidFill>
                  <a:schemeClr val="tx1"/>
                </a:solidFill>
                <a:latin typeface="JetBrains Mono Light" panose="02000009000000000000" pitchFamily="49" charset="0"/>
                <a:cs typeface="JetBrains Mono Light" panose="02000009000000000000" pitchFamily="49" charset="0"/>
              </a:rPr>
              <a:t>2</a:t>
            </a:r>
          </a:p>
        </p:txBody>
      </p:sp>
      <p:sp>
        <p:nvSpPr>
          <p:cNvPr id="51" name="Oval 50">
            <a:extLst>
              <a:ext uri="{FF2B5EF4-FFF2-40B4-BE49-F238E27FC236}">
                <a16:creationId xmlns:a16="http://schemas.microsoft.com/office/drawing/2014/main" id="{0A3551AB-8BB2-49BF-8EF6-E2CB465F1F23}"/>
              </a:ext>
            </a:extLst>
          </p:cNvPr>
          <p:cNvSpPr/>
          <p:nvPr/>
        </p:nvSpPr>
        <p:spPr>
          <a:xfrm>
            <a:off x="4115743" y="4981517"/>
            <a:ext cx="938772" cy="97301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500" dirty="0">
                <a:solidFill>
                  <a:schemeClr val="tx1"/>
                </a:solidFill>
                <a:latin typeface="JetBrains Mono Light" panose="02000009000000000000" pitchFamily="49" charset="0"/>
                <a:cs typeface="JetBrains Mono Light" panose="02000009000000000000" pitchFamily="49" charset="0"/>
              </a:rPr>
              <a:t>4</a:t>
            </a:r>
          </a:p>
        </p:txBody>
      </p:sp>
    </p:spTree>
    <p:extLst>
      <p:ext uri="{BB962C8B-B14F-4D97-AF65-F5344CB8AC3E}">
        <p14:creationId xmlns:p14="http://schemas.microsoft.com/office/powerpoint/2010/main" val="12047055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ADCB1D2-71BF-4442-85AC-20706F44BBA0}"/>
              </a:ext>
            </a:extLst>
          </p:cNvPr>
          <p:cNvSpPr/>
          <p:nvPr/>
        </p:nvSpPr>
        <p:spPr>
          <a:xfrm>
            <a:off x="0" y="-2556"/>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16" name="Credit MAIN">
            <a:extLst>
              <a:ext uri="{FF2B5EF4-FFF2-40B4-BE49-F238E27FC236}">
                <a16:creationId xmlns:a16="http://schemas.microsoft.com/office/drawing/2014/main" id="{2518DECB-C7B9-41A5-9FB6-89C9AA3086AA}"/>
              </a:ext>
            </a:extLst>
          </p:cNvPr>
          <p:cNvSpPr txBox="1"/>
          <p:nvPr/>
        </p:nvSpPr>
        <p:spPr>
          <a:xfrm>
            <a:off x="50878" y="6420549"/>
            <a:ext cx="2235122"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Vũ</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Thùy</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Dương</a:t>
            </a:r>
            <a:endParaRPr lang="en-US" dirty="0">
              <a:solidFill>
                <a:schemeClr val="bg1">
                  <a:lumMod val="95000"/>
                  <a:alpha val="46000"/>
                </a:schemeClr>
              </a:solidFill>
            </a:endParaRPr>
          </a:p>
        </p:txBody>
      </p:sp>
      <p:sp>
        <p:nvSpPr>
          <p:cNvPr id="11" name="Header">
            <a:extLst>
              <a:ext uri="{FF2B5EF4-FFF2-40B4-BE49-F238E27FC236}">
                <a16:creationId xmlns:a16="http://schemas.microsoft.com/office/drawing/2014/main" id="{6A39F230-06D2-4140-8DA2-357C0B9B6D12}"/>
              </a:ext>
            </a:extLst>
          </p:cNvPr>
          <p:cNvSpPr txBox="1"/>
          <p:nvPr/>
        </p:nvSpPr>
        <p:spPr>
          <a:xfrm>
            <a:off x="50878" y="68119"/>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7" name="Footer: Part">
            <a:extLst>
              <a:ext uri="{FF2B5EF4-FFF2-40B4-BE49-F238E27FC236}">
                <a16:creationId xmlns:a16="http://schemas.microsoft.com/office/drawing/2014/main" id="{553347E6-1341-4BA1-A396-FC4741F3FAF1}"/>
              </a:ext>
            </a:extLst>
          </p:cNvPr>
          <p:cNvSpPr txBox="1"/>
          <p:nvPr/>
        </p:nvSpPr>
        <p:spPr>
          <a:xfrm>
            <a:off x="10959883" y="6413178"/>
            <a:ext cx="1160019" cy="369332"/>
          </a:xfrm>
          <a:prstGeom prst="rect">
            <a:avLst/>
          </a:prstGeom>
          <a:noFill/>
        </p:spPr>
        <p:txBody>
          <a:bodyPr wrap="square" rtlCol="0">
            <a:spAutoFit/>
          </a:bodyPr>
          <a:lstStyle/>
          <a:p>
            <a:pPr algn="r"/>
            <a:r>
              <a:rPr lang="en-US" dirty="0">
                <a:solidFill>
                  <a:schemeClr val="bg1">
                    <a:lumMod val="95000"/>
                  </a:schemeClr>
                </a:solidFill>
                <a:latin typeface="JetBrains Mono Regular" panose="02000009000000000000" pitchFamily="49" charset="0"/>
                <a:cs typeface="JetBrains Mono Regular" panose="02000009000000000000" pitchFamily="49" charset="0"/>
              </a:rPr>
              <a:t>Ma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trận</a:t>
            </a:r>
            <a:endParaRPr lang="en-US" dirty="0">
              <a:solidFill>
                <a:schemeClr val="bg1">
                  <a:lumMod val="95000"/>
                </a:schemeClr>
              </a:solidFill>
              <a:latin typeface="JetBrains Mono Regular" panose="02000009000000000000" pitchFamily="49" charset="0"/>
              <a:cs typeface="JetBrains Mono Regular" panose="02000009000000000000" pitchFamily="49" charset="0"/>
            </a:endParaRPr>
          </a:p>
        </p:txBody>
      </p:sp>
      <p:sp>
        <p:nvSpPr>
          <p:cNvPr id="19" name="Footer: Title">
            <a:extLst>
              <a:ext uri="{FF2B5EF4-FFF2-40B4-BE49-F238E27FC236}">
                <a16:creationId xmlns:a16="http://schemas.microsoft.com/office/drawing/2014/main" id="{FD144244-98B6-4C54-A114-16CD65E0D522}"/>
              </a:ext>
            </a:extLst>
          </p:cNvPr>
          <p:cNvSpPr txBox="1"/>
          <p:nvPr/>
        </p:nvSpPr>
        <p:spPr>
          <a:xfrm>
            <a:off x="9906025" y="6414047"/>
            <a:ext cx="1160019"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Light" panose="02000009000000000000" pitchFamily="49" charset="0"/>
                <a:cs typeface="JetBrains Mono Light" panose="02000009000000000000" pitchFamily="49" charset="0"/>
              </a:rPr>
              <a:t>:</a:t>
            </a:r>
          </a:p>
        </p:txBody>
      </p:sp>
      <p:sp>
        <p:nvSpPr>
          <p:cNvPr id="25" name="PAGE NUM 0">
            <a:extLst>
              <a:ext uri="{FF2B5EF4-FFF2-40B4-BE49-F238E27FC236}">
                <a16:creationId xmlns:a16="http://schemas.microsoft.com/office/drawing/2014/main" id="{CA8E8643-0820-44FC-9D06-02F2A0A63536}"/>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1</a:t>
            </a:r>
          </a:p>
        </p:txBody>
      </p:sp>
      <p:sp>
        <p:nvSpPr>
          <p:cNvPr id="26" name="PAGE NUM 1">
            <a:extLst>
              <a:ext uri="{FF2B5EF4-FFF2-40B4-BE49-F238E27FC236}">
                <a16:creationId xmlns:a16="http://schemas.microsoft.com/office/drawing/2014/main" id="{6BF8CF33-13C7-458E-A4F5-0A19700195D0}"/>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0</a:t>
            </a:r>
            <a:endParaRPr lang="en-US" dirty="0"/>
          </a:p>
        </p:txBody>
      </p:sp>
      <p:sp>
        <p:nvSpPr>
          <p:cNvPr id="4" name="Rectangle 3">
            <a:extLst>
              <a:ext uri="{FF2B5EF4-FFF2-40B4-BE49-F238E27FC236}">
                <a16:creationId xmlns:a16="http://schemas.microsoft.com/office/drawing/2014/main" id="{CB38D6F8-B45F-44CF-A0B3-4EECDAC74C1C}"/>
              </a:ext>
            </a:extLst>
          </p:cNvPr>
          <p:cNvSpPr/>
          <p:nvPr/>
        </p:nvSpPr>
        <p:spPr>
          <a:xfrm>
            <a:off x="591459" y="591772"/>
            <a:ext cx="1577862"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3252814-A59F-4DD2-85FD-AF3B5B3FB847}"/>
              </a:ext>
            </a:extLst>
          </p:cNvPr>
          <p:cNvSpPr txBox="1"/>
          <p:nvPr/>
        </p:nvSpPr>
        <p:spPr>
          <a:xfrm>
            <a:off x="603364" y="591246"/>
            <a:ext cx="1577862" cy="369332"/>
          </a:xfrm>
          <a:prstGeom prst="rect">
            <a:avLst/>
          </a:prstGeom>
          <a:noFill/>
        </p:spPr>
        <p:txBody>
          <a:bodyPr wrap="square" rtlCol="0">
            <a:spAutoFit/>
          </a:bodyPr>
          <a:lstStyle/>
          <a:p>
            <a:r>
              <a:rPr lang="en-US" dirty="0">
                <a:latin typeface="JetBrains Mono Regular" panose="02000009000000000000" pitchFamily="49" charset="0"/>
                <a:cs typeface="JetBrains Mono Regular" panose="02000009000000000000" pitchFamily="49" charset="0"/>
              </a:rPr>
              <a:t>Ma </a:t>
            </a:r>
            <a:r>
              <a:rPr lang="en-US" dirty="0" err="1">
                <a:latin typeface="JetBrains Mono Regular" panose="02000009000000000000" pitchFamily="49" charset="0"/>
                <a:cs typeface="JetBrains Mono Regular" panose="02000009000000000000" pitchFamily="49" charset="0"/>
              </a:rPr>
              <a:t>trận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kề</a:t>
            </a:r>
            <a:endParaRPr lang="en-US" dirty="0">
              <a:latin typeface="JetBrains Mono Regular" panose="02000009000000000000" pitchFamily="49" charset="0"/>
              <a:cs typeface="JetBrains Mono Regular" panose="02000009000000000000" pitchFamily="49" charset="0"/>
            </a:endParaRPr>
          </a:p>
        </p:txBody>
      </p:sp>
      <p:sp>
        <p:nvSpPr>
          <p:cNvPr id="3" name="TextBox 2">
            <a:extLst>
              <a:ext uri="{FF2B5EF4-FFF2-40B4-BE49-F238E27FC236}">
                <a16:creationId xmlns:a16="http://schemas.microsoft.com/office/drawing/2014/main" id="{0DCF76D3-76B8-418E-89D0-5A5DE06812BC}"/>
              </a:ext>
            </a:extLst>
          </p:cNvPr>
          <p:cNvSpPr txBox="1"/>
          <p:nvPr/>
        </p:nvSpPr>
        <p:spPr>
          <a:xfrm>
            <a:off x="603363" y="591527"/>
            <a:ext cx="1149238" cy="369332"/>
          </a:xfrm>
          <a:prstGeom prst="rect">
            <a:avLst/>
          </a:prstGeom>
          <a:solidFill>
            <a:schemeClr val="bg1"/>
          </a:solidFill>
        </p:spPr>
        <p:txBody>
          <a:bodyPr wrap="square" rtlCol="0">
            <a:spAutoFit/>
          </a:bodyPr>
          <a:lstStyle/>
          <a:p>
            <a:r>
              <a:rPr lang="en-US" dirty="0">
                <a:latin typeface="JetBrains Mono Regular" panose="02000009000000000000" pitchFamily="49" charset="0"/>
                <a:cs typeface="JetBrains Mono Regular" panose="02000009000000000000" pitchFamily="49" charset="0"/>
              </a:rPr>
              <a:t>Ma </a:t>
            </a:r>
            <a:r>
              <a:rPr lang="en-US" dirty="0" err="1">
                <a:latin typeface="JetBrains Mono Regular" panose="02000009000000000000" pitchFamily="49" charset="0"/>
                <a:cs typeface="JetBrains Mono Regular" panose="02000009000000000000" pitchFamily="49" charset="0"/>
              </a:rPr>
              <a:t>trận</a:t>
            </a:r>
            <a:endParaRPr lang="en-US" dirty="0">
              <a:latin typeface="JetBrains Mono Regular" panose="02000009000000000000" pitchFamily="49" charset="0"/>
              <a:cs typeface="JetBrains Mono Regular" panose="02000009000000000000" pitchFamily="49" charset="0"/>
            </a:endParaRPr>
          </a:p>
        </p:txBody>
      </p:sp>
      <p:sp>
        <p:nvSpPr>
          <p:cNvPr id="31" name="Footer: Part sub">
            <a:extLst>
              <a:ext uri="{FF2B5EF4-FFF2-40B4-BE49-F238E27FC236}">
                <a16:creationId xmlns:a16="http://schemas.microsoft.com/office/drawing/2014/main" id="{A379016A-F45E-4474-87E7-A7EDDF7B735C}"/>
              </a:ext>
            </a:extLst>
          </p:cNvPr>
          <p:cNvSpPr txBox="1"/>
          <p:nvPr/>
        </p:nvSpPr>
        <p:spPr>
          <a:xfrm>
            <a:off x="12198643" y="6417028"/>
            <a:ext cx="1303020" cy="369332"/>
          </a:xfrm>
          <a:prstGeom prst="rect">
            <a:avLst/>
          </a:prstGeom>
          <a:noFill/>
        </p:spPr>
        <p:txBody>
          <a:bodyPr wrap="square" rtlCol="0">
            <a:spAutoFit/>
          </a:bodyPr>
          <a:lstStyle/>
          <a:p>
            <a:pPr algn="r"/>
            <a:r>
              <a:rPr lang="en-US" dirty="0" err="1">
                <a:solidFill>
                  <a:schemeClr val="bg1">
                    <a:lumMod val="95000"/>
                  </a:schemeClr>
                </a:solidFill>
                <a:latin typeface="JetBrains Mono Regular" panose="02000009000000000000" pitchFamily="49" charset="0"/>
                <a:cs typeface="JetBrains Mono Regular" panose="02000009000000000000" pitchFamily="49" charset="0"/>
              </a:rPr>
              <a:t>liên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hợp</a:t>
            </a:r>
            <a:endParaRPr lang="en-US" dirty="0">
              <a:solidFill>
                <a:schemeClr val="bg1">
                  <a:lumMod val="95000"/>
                </a:schemeClr>
              </a:solidFill>
              <a:latin typeface="JetBrains Mono Regular" panose="02000009000000000000" pitchFamily="49" charset="0"/>
              <a:cs typeface="JetBrains Mono Regular" panose="02000009000000000000" pitchFamily="49" charset="0"/>
            </a:endParaRPr>
          </a:p>
        </p:txBody>
      </p:sp>
      <p:sp>
        <p:nvSpPr>
          <p:cNvPr id="13" name="TextBox 12">
            <a:extLst>
              <a:ext uri="{FF2B5EF4-FFF2-40B4-BE49-F238E27FC236}">
                <a16:creationId xmlns:a16="http://schemas.microsoft.com/office/drawing/2014/main" id="{5AF70085-702D-4AD2-BA51-4593C5AB8847}"/>
              </a:ext>
            </a:extLst>
          </p:cNvPr>
          <p:cNvSpPr txBox="1"/>
          <p:nvPr/>
        </p:nvSpPr>
        <p:spPr>
          <a:xfrm>
            <a:off x="955352" y="1174940"/>
            <a:ext cx="10644556" cy="369332"/>
          </a:xfrm>
          <a:prstGeom prst="rect">
            <a:avLst/>
          </a:prstGeom>
          <a:noFill/>
        </p:spPr>
        <p:txBody>
          <a:bodyPr wrap="square" rtlCol="0">
            <a:spAutoFit/>
          </a:bodyPr>
          <a:lstStyle/>
          <a:p>
            <a:r>
              <a:rPr lang="en-US" dirty="0" err="1">
                <a:solidFill>
                  <a:schemeClr val="bg1"/>
                </a:solidFill>
                <a:latin typeface="JetBrains Mono Light" panose="02000009000000000000" pitchFamily="49" charset="0"/>
                <a:cs typeface="JetBrains Mono Light" panose="02000009000000000000" pitchFamily="49" charset="0"/>
              </a:rPr>
              <a:t>Đồ</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thị</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được</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biểu</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diễn</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bằng</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một</a:t>
            </a:r>
            <a:r>
              <a:rPr lang="en-US" dirty="0">
                <a:solidFill>
                  <a:schemeClr val="bg1"/>
                </a:solidFill>
                <a:latin typeface="JetBrains Mono Light" panose="02000009000000000000" pitchFamily="49" charset="0"/>
                <a:cs typeface="JetBrains Mono Light" panose="02000009000000000000" pitchFamily="49" charset="0"/>
              </a:rPr>
              <a:t> ma </a:t>
            </a:r>
            <a:r>
              <a:rPr lang="en-US" dirty="0" err="1">
                <a:solidFill>
                  <a:schemeClr val="bg1"/>
                </a:solidFill>
                <a:latin typeface="JetBrains Mono Light" panose="02000009000000000000" pitchFamily="49" charset="0"/>
                <a:cs typeface="JetBrains Mono Light" panose="02000009000000000000" pitchFamily="49" charset="0"/>
              </a:rPr>
              <a:t>trận</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vuông</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cấp</a:t>
            </a:r>
            <a:r>
              <a:rPr lang="en-US" dirty="0">
                <a:solidFill>
                  <a:schemeClr val="bg1"/>
                </a:solidFill>
                <a:latin typeface="JetBrains Mono Light" panose="02000009000000000000" pitchFamily="49" charset="0"/>
                <a:cs typeface="JetBrains Mono Light" panose="02000009000000000000" pitchFamily="49" charset="0"/>
              </a:rPr>
              <a:t> N, N </a:t>
            </a:r>
            <a:r>
              <a:rPr lang="en-US" dirty="0" err="1">
                <a:solidFill>
                  <a:schemeClr val="bg1"/>
                </a:solidFill>
                <a:latin typeface="JetBrains Mono Light" panose="02000009000000000000" pitchFamily="49" charset="0"/>
                <a:cs typeface="JetBrains Mono Light" panose="02000009000000000000" pitchFamily="49" charset="0"/>
              </a:rPr>
              <a:t>là</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số</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đỉnh</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của</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đồ</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thị</a:t>
            </a:r>
            <a:r>
              <a:rPr lang="en-US" dirty="0">
                <a:solidFill>
                  <a:schemeClr val="bg1"/>
                </a:solidFill>
                <a:latin typeface="JetBrains Mono Light" panose="02000009000000000000" pitchFamily="49" charset="0"/>
                <a:cs typeface="JetBrains Mono Light" panose="02000009000000000000" pitchFamily="49" charset="0"/>
              </a:rPr>
              <a:t>.</a:t>
            </a:r>
            <a:endParaRPr lang="en-US" dirty="0">
              <a:solidFill>
                <a:schemeClr val="bg1"/>
              </a:solidFill>
            </a:endParaRPr>
          </a:p>
        </p:txBody>
      </p:sp>
      <p:sp>
        <p:nvSpPr>
          <p:cNvPr id="36" name="TextBox 35">
            <a:extLst>
              <a:ext uri="{FF2B5EF4-FFF2-40B4-BE49-F238E27FC236}">
                <a16:creationId xmlns:a16="http://schemas.microsoft.com/office/drawing/2014/main" id="{EBF34A05-A41B-4C96-B130-BB17F79C5728}"/>
              </a:ext>
            </a:extLst>
          </p:cNvPr>
          <p:cNvSpPr txBox="1"/>
          <p:nvPr/>
        </p:nvSpPr>
        <p:spPr>
          <a:xfrm>
            <a:off x="967075" y="1512081"/>
            <a:ext cx="10916763" cy="369332"/>
          </a:xfrm>
          <a:prstGeom prst="rect">
            <a:avLst/>
          </a:prstGeom>
          <a:noFill/>
        </p:spPr>
        <p:txBody>
          <a:bodyPr wrap="square" rtlCol="0">
            <a:spAutoFit/>
          </a:bodyPr>
          <a:lstStyle/>
          <a:p>
            <a:r>
              <a:rPr lang="en-US" dirty="0" err="1">
                <a:solidFill>
                  <a:schemeClr val="bg1"/>
                </a:solidFill>
                <a:latin typeface="JetBrains Mono Light" panose="02000009000000000000" pitchFamily="49" charset="0"/>
                <a:cs typeface="JetBrains Mono Light" panose="02000009000000000000" pitchFamily="49" charset="0"/>
              </a:rPr>
              <a:t>A</a:t>
            </a:r>
            <a:r>
              <a:rPr lang="en-US" baseline="-25000" dirty="0" err="1">
                <a:solidFill>
                  <a:schemeClr val="bg1"/>
                </a:solidFill>
                <a:latin typeface="JetBrains Mono Light" panose="02000009000000000000" pitchFamily="49" charset="0"/>
                <a:cs typeface="JetBrains Mono Light" panose="02000009000000000000" pitchFamily="49" charset="0"/>
              </a:rPr>
              <a:t>ij</a:t>
            </a:r>
            <a:r>
              <a:rPr lang="en-US" spc="-300" baseline="-25000" dirty="0">
                <a:solidFill>
                  <a:schemeClr val="bg1"/>
                </a:solidFill>
                <a:latin typeface="JetBrains Mono Light" panose="02000009000000000000" pitchFamily="49" charset="0"/>
                <a:cs typeface="JetBrains Mono Light" panose="02000009000000000000" pitchFamily="49" charset="0"/>
              </a:rPr>
              <a:t> </a:t>
            </a:r>
            <a:r>
              <a:rPr lang="en-US" spc="-300" dirty="0">
                <a:solidFill>
                  <a:schemeClr val="bg1"/>
                </a:solidFill>
                <a:latin typeface="JetBrains Mono Light" panose="02000009000000000000" pitchFamily="49" charset="0"/>
                <a:cs typeface="JetBrains Mono Light" panose="02000009000000000000" pitchFamily="49" charset="0"/>
              </a:rPr>
              <a:t>= 1</a:t>
            </a:r>
            <a:r>
              <a:rPr lang="en-US" spc="300"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chỉ</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quan</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hệ</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giữa</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đỉnh</a:t>
            </a:r>
            <a:r>
              <a:rPr lang="en-US" dirty="0">
                <a:solidFill>
                  <a:schemeClr val="bg1"/>
                </a:solidFill>
                <a:latin typeface="JetBrains Mono Light" panose="02000009000000000000" pitchFamily="49" charset="0"/>
                <a:cs typeface="JetBrains Mono Light" panose="02000009000000000000" pitchFamily="49" charset="0"/>
              </a:rPr>
              <a:t> v</a:t>
            </a:r>
            <a:r>
              <a:rPr lang="en-US" baseline="-25000" dirty="0">
                <a:solidFill>
                  <a:schemeClr val="bg1"/>
                </a:solidFill>
                <a:latin typeface="JetBrains Mono Light" panose="02000009000000000000" pitchFamily="49" charset="0"/>
                <a:cs typeface="JetBrains Mono Light" panose="02000009000000000000" pitchFamily="49" charset="0"/>
              </a:rPr>
              <a:t>i</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và</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đỉnh</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v</a:t>
            </a:r>
            <a:r>
              <a:rPr lang="en-US" baseline="-25000" dirty="0" err="1">
                <a:solidFill>
                  <a:schemeClr val="bg1"/>
                </a:solidFill>
                <a:latin typeface="JetBrains Mono Light" panose="02000009000000000000" pitchFamily="49" charset="0"/>
                <a:cs typeface="JetBrains Mono Light" panose="02000009000000000000" pitchFamily="49" charset="0"/>
              </a:rPr>
              <a:t>j</a:t>
            </a:r>
            <a:r>
              <a:rPr lang="en-US" dirty="0">
                <a:solidFill>
                  <a:schemeClr val="bg1"/>
                </a:solidFill>
                <a:latin typeface="JetBrains Mono Light" panose="02000009000000000000" pitchFamily="49" charset="0"/>
                <a:cs typeface="JetBrains Mono Light" panose="02000009000000000000" pitchFamily="49" charset="0"/>
              </a:rPr>
              <a:t>: 1 </a:t>
            </a:r>
            <a:r>
              <a:rPr lang="en-US" dirty="0" err="1">
                <a:solidFill>
                  <a:schemeClr val="bg1"/>
                </a:solidFill>
                <a:latin typeface="JetBrains Mono Light" panose="02000009000000000000" pitchFamily="49" charset="0"/>
                <a:cs typeface="JetBrains Mono Light" panose="02000009000000000000" pitchFamily="49" charset="0"/>
              </a:rPr>
              <a:t>nếu</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có</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cạnh</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nối</a:t>
            </a:r>
            <a:r>
              <a:rPr lang="en-US" dirty="0">
                <a:solidFill>
                  <a:schemeClr val="bg1"/>
                </a:solidFill>
                <a:latin typeface="JetBrains Mono Light" panose="02000009000000000000" pitchFamily="49" charset="0"/>
                <a:cs typeface="JetBrains Mono Light" panose="02000009000000000000" pitchFamily="49" charset="0"/>
              </a:rPr>
              <a:t>, 0 </a:t>
            </a:r>
            <a:r>
              <a:rPr lang="en-US" dirty="0" err="1">
                <a:solidFill>
                  <a:schemeClr val="bg1"/>
                </a:solidFill>
                <a:latin typeface="JetBrains Mono Light" panose="02000009000000000000" pitchFamily="49" charset="0"/>
                <a:cs typeface="JetBrains Mono Light" panose="02000009000000000000" pitchFamily="49" charset="0"/>
              </a:rPr>
              <a:t>nếu</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không</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có</a:t>
            </a:r>
            <a:r>
              <a:rPr lang="en-US" dirty="0">
                <a:solidFill>
                  <a:schemeClr val="bg1"/>
                </a:solidFill>
                <a:latin typeface="JetBrains Mono Light" panose="02000009000000000000" pitchFamily="49" charset="0"/>
                <a:cs typeface="JetBrains Mono Light" panose="02000009000000000000" pitchFamily="49" charset="0"/>
              </a:rPr>
              <a:t>. </a:t>
            </a:r>
            <a:endParaRPr lang="en-US" dirty="0"/>
          </a:p>
        </p:txBody>
      </p:sp>
      <p:graphicFrame>
        <p:nvGraphicFramePr>
          <p:cNvPr id="37" name="Table 37">
            <a:extLst>
              <a:ext uri="{FF2B5EF4-FFF2-40B4-BE49-F238E27FC236}">
                <a16:creationId xmlns:a16="http://schemas.microsoft.com/office/drawing/2014/main" id="{1214CA39-589C-4CC5-B654-0387CF4C8F0C}"/>
              </a:ext>
            </a:extLst>
          </p:cNvPr>
          <p:cNvGraphicFramePr>
            <a:graphicFrameLocks noGrp="1"/>
          </p:cNvGraphicFramePr>
          <p:nvPr>
            <p:extLst>
              <p:ext uri="{D42A27DB-BD31-4B8C-83A1-F6EECF244321}">
                <p14:modId xmlns:p14="http://schemas.microsoft.com/office/powerpoint/2010/main" val="2870673691"/>
              </p:ext>
            </p:extLst>
          </p:nvPr>
        </p:nvGraphicFramePr>
        <p:xfrm>
          <a:off x="6003614" y="3249226"/>
          <a:ext cx="4634227" cy="2647056"/>
        </p:xfrm>
        <a:graphic>
          <a:graphicData uri="http://schemas.openxmlformats.org/drawingml/2006/table">
            <a:tbl>
              <a:tblPr firstRow="1" bandRow="1">
                <a:tableStyleId>{5C22544A-7EE6-4342-B048-85BDC9FD1C3A}</a:tableStyleId>
              </a:tblPr>
              <a:tblGrid>
                <a:gridCol w="785959">
                  <a:extLst>
                    <a:ext uri="{9D8B030D-6E8A-4147-A177-3AD203B41FA5}">
                      <a16:colId xmlns:a16="http://schemas.microsoft.com/office/drawing/2014/main" val="1491892926"/>
                    </a:ext>
                  </a:extLst>
                </a:gridCol>
                <a:gridCol w="962067">
                  <a:extLst>
                    <a:ext uri="{9D8B030D-6E8A-4147-A177-3AD203B41FA5}">
                      <a16:colId xmlns:a16="http://schemas.microsoft.com/office/drawing/2014/main" val="229636460"/>
                    </a:ext>
                  </a:extLst>
                </a:gridCol>
                <a:gridCol w="962067">
                  <a:extLst>
                    <a:ext uri="{9D8B030D-6E8A-4147-A177-3AD203B41FA5}">
                      <a16:colId xmlns:a16="http://schemas.microsoft.com/office/drawing/2014/main" val="2258858154"/>
                    </a:ext>
                  </a:extLst>
                </a:gridCol>
                <a:gridCol w="962067">
                  <a:extLst>
                    <a:ext uri="{9D8B030D-6E8A-4147-A177-3AD203B41FA5}">
                      <a16:colId xmlns:a16="http://schemas.microsoft.com/office/drawing/2014/main" val="3714069001"/>
                    </a:ext>
                  </a:extLst>
                </a:gridCol>
                <a:gridCol w="962067">
                  <a:extLst>
                    <a:ext uri="{9D8B030D-6E8A-4147-A177-3AD203B41FA5}">
                      <a16:colId xmlns:a16="http://schemas.microsoft.com/office/drawing/2014/main" val="2614713054"/>
                    </a:ext>
                  </a:extLst>
                </a:gridCol>
              </a:tblGrid>
              <a:tr h="6302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bg1">
                            <a:lumMod val="50000"/>
                          </a:schemeClr>
                        </a:solidFill>
                        <a:latin typeface="JetBrains Mono Light" panose="02000009000000000000" pitchFamily="49" charset="0"/>
                        <a:cs typeface="JetBrains Mono Light" panose="02000009000000000000"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bg1">
                              <a:lumMod val="50000"/>
                            </a:schemeClr>
                          </a:solidFill>
                          <a:latin typeface="JetBrains Mono Light" panose="02000009000000000000" pitchFamily="49" charset="0"/>
                          <a:cs typeface="JetBrains Mono Light" panose="02000009000000000000" pitchFamily="49" charset="0"/>
                        </a:rPr>
                        <a:t> node</a:t>
                      </a:r>
                    </a:p>
                  </a:txBody>
                  <a:tcPr>
                    <a:noFill/>
                  </a:tcPr>
                </a:tc>
                <a:tc>
                  <a:txBody>
                    <a:bodyPr/>
                    <a:lstStyle/>
                    <a:p>
                      <a:pPr algn="ctr"/>
                      <a:r>
                        <a:rPr lang="en-US" sz="2400" b="0" i="0" dirty="0">
                          <a:solidFill>
                            <a:schemeClr val="bg1">
                              <a:lumMod val="50000"/>
                            </a:schemeClr>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b="0" i="0" dirty="0">
                          <a:solidFill>
                            <a:schemeClr val="bg1">
                              <a:lumMod val="50000"/>
                            </a:schemeClr>
                          </a:solidFill>
                          <a:latin typeface="JetBrains Mono Light" panose="02000009000000000000" pitchFamily="49" charset="0"/>
                          <a:cs typeface="JetBrains Mono Light" panose="02000009000000000000" pitchFamily="49" charset="0"/>
                        </a:rPr>
                        <a:t>2</a:t>
                      </a:r>
                    </a:p>
                  </a:txBody>
                  <a:tcPr>
                    <a:noFill/>
                  </a:tcPr>
                </a:tc>
                <a:tc>
                  <a:txBody>
                    <a:bodyPr/>
                    <a:lstStyle/>
                    <a:p>
                      <a:pPr algn="ctr"/>
                      <a:r>
                        <a:rPr lang="en-US" sz="2400" b="0" i="0" dirty="0">
                          <a:solidFill>
                            <a:schemeClr val="bg1">
                              <a:lumMod val="50000"/>
                            </a:schemeClr>
                          </a:solidFill>
                          <a:latin typeface="JetBrains Mono Light" panose="02000009000000000000" pitchFamily="49" charset="0"/>
                          <a:cs typeface="JetBrains Mono Light" panose="02000009000000000000" pitchFamily="49" charset="0"/>
                        </a:rPr>
                        <a:t>3</a:t>
                      </a:r>
                    </a:p>
                  </a:txBody>
                  <a:tcPr>
                    <a:noFill/>
                  </a:tcPr>
                </a:tc>
                <a:tc>
                  <a:txBody>
                    <a:bodyPr/>
                    <a:lstStyle/>
                    <a:p>
                      <a:pPr algn="ctr"/>
                      <a:r>
                        <a:rPr lang="en-US" sz="2400" b="0" i="0" dirty="0">
                          <a:solidFill>
                            <a:schemeClr val="bg1">
                              <a:lumMod val="50000"/>
                            </a:schemeClr>
                          </a:solidFill>
                          <a:latin typeface="JetBrains Mono Light" panose="02000009000000000000" pitchFamily="49" charset="0"/>
                          <a:cs typeface="JetBrains Mono Light" panose="02000009000000000000" pitchFamily="49" charset="0"/>
                        </a:rPr>
                        <a:t>4</a:t>
                      </a:r>
                    </a:p>
                  </a:txBody>
                  <a:tcPr>
                    <a:noFill/>
                  </a:tcPr>
                </a:tc>
                <a:extLst>
                  <a:ext uri="{0D108BD9-81ED-4DB2-BD59-A6C34878D82A}">
                    <a16:rowId xmlns:a16="http://schemas.microsoft.com/office/drawing/2014/main" val="4057429763"/>
                  </a:ext>
                </a:extLst>
              </a:tr>
              <a:tr h="50420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solidFill>
                            <a:schemeClr val="bg1">
                              <a:lumMod val="50000"/>
                            </a:schemeClr>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extLst>
                  <a:ext uri="{0D108BD9-81ED-4DB2-BD59-A6C34878D82A}">
                    <a16:rowId xmlns:a16="http://schemas.microsoft.com/office/drawing/2014/main" val="2017443693"/>
                  </a:ext>
                </a:extLst>
              </a:tr>
              <a:tr h="50420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solidFill>
                            <a:schemeClr val="bg1">
                              <a:lumMod val="50000"/>
                            </a:schemeClr>
                          </a:solidFill>
                          <a:latin typeface="JetBrains Mono Light" panose="02000009000000000000" pitchFamily="49" charset="0"/>
                          <a:cs typeface="JetBrains Mono Light" panose="02000009000000000000" pitchFamily="49" charset="0"/>
                        </a:rPr>
                        <a:t>2</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extLst>
                  <a:ext uri="{0D108BD9-81ED-4DB2-BD59-A6C34878D82A}">
                    <a16:rowId xmlns:a16="http://schemas.microsoft.com/office/drawing/2014/main" val="861742431"/>
                  </a:ext>
                </a:extLst>
              </a:tr>
              <a:tr h="50420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solidFill>
                            <a:schemeClr val="bg1">
                              <a:lumMod val="50000"/>
                            </a:schemeClr>
                          </a:solidFill>
                          <a:latin typeface="JetBrains Mono Light" panose="02000009000000000000" pitchFamily="49" charset="0"/>
                          <a:cs typeface="JetBrains Mono Light" panose="02000009000000000000" pitchFamily="49" charset="0"/>
                        </a:rPr>
                        <a:t>3</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extLst>
                  <a:ext uri="{0D108BD9-81ED-4DB2-BD59-A6C34878D82A}">
                    <a16:rowId xmlns:a16="http://schemas.microsoft.com/office/drawing/2014/main" val="538378108"/>
                  </a:ext>
                </a:extLst>
              </a:tr>
              <a:tr h="50420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solidFill>
                            <a:schemeClr val="bg1">
                              <a:lumMod val="50000"/>
                            </a:schemeClr>
                          </a:solidFill>
                          <a:latin typeface="JetBrains Mono Light" panose="02000009000000000000" pitchFamily="49" charset="0"/>
                          <a:cs typeface="JetBrains Mono Light" panose="02000009000000000000" pitchFamily="49" charset="0"/>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extLst>
                  <a:ext uri="{0D108BD9-81ED-4DB2-BD59-A6C34878D82A}">
                    <a16:rowId xmlns:a16="http://schemas.microsoft.com/office/drawing/2014/main" val="1243298535"/>
                  </a:ext>
                </a:extLst>
              </a:tr>
            </a:tbl>
          </a:graphicData>
        </a:graphic>
      </p:graphicFrame>
      <p:sp>
        <p:nvSpPr>
          <p:cNvPr id="42" name="TextBox 31">
            <a:extLst>
              <a:ext uri="{FF2B5EF4-FFF2-40B4-BE49-F238E27FC236}">
                <a16:creationId xmlns:a16="http://schemas.microsoft.com/office/drawing/2014/main" id="{3D42866F-5A9B-484B-9318-BFC3B27AD6F7}"/>
              </a:ext>
            </a:extLst>
          </p:cNvPr>
          <p:cNvSpPr txBox="1"/>
          <p:nvPr/>
        </p:nvSpPr>
        <p:spPr>
          <a:xfrm>
            <a:off x="925965" y="2850610"/>
            <a:ext cx="1311071" cy="369332"/>
          </a:xfrm>
          <a:prstGeom prst="rect">
            <a:avLst/>
          </a:prstGeom>
          <a:solidFill>
            <a:schemeClr val="bg1"/>
          </a:solid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Vô</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hướng</a:t>
            </a:r>
            <a:endParaRPr lang="en-US" dirty="0">
              <a:latin typeface="JetBrains Mono Regular" panose="02000009000000000000" pitchFamily="49" charset="0"/>
              <a:cs typeface="JetBrains Mono Regular" panose="02000009000000000000" pitchFamily="49" charset="0"/>
            </a:endParaRPr>
          </a:p>
        </p:txBody>
      </p:sp>
      <p:sp>
        <p:nvSpPr>
          <p:cNvPr id="1031" name="Rectangle 1030">
            <a:extLst>
              <a:ext uri="{FF2B5EF4-FFF2-40B4-BE49-F238E27FC236}">
                <a16:creationId xmlns:a16="http://schemas.microsoft.com/office/drawing/2014/main" id="{C4C95487-2756-47E7-9AAD-739A7C246E6D}"/>
              </a:ext>
            </a:extLst>
          </p:cNvPr>
          <p:cNvSpPr/>
          <p:nvPr/>
        </p:nvSpPr>
        <p:spPr>
          <a:xfrm>
            <a:off x="971567" y="1950495"/>
            <a:ext cx="8102096" cy="377896"/>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C23F2A78-0D77-47AE-82A1-9D12A73C9F3E}"/>
              </a:ext>
            </a:extLst>
          </p:cNvPr>
          <p:cNvSpPr txBox="1"/>
          <p:nvPr/>
        </p:nvSpPr>
        <p:spPr>
          <a:xfrm>
            <a:off x="971567" y="1970838"/>
            <a:ext cx="8102096" cy="369332"/>
          </a:xfrm>
          <a:prstGeom prst="rect">
            <a:avLst/>
          </a:prstGeom>
          <a:noFill/>
          <a:ln w="6350">
            <a:noFill/>
          </a:ln>
        </p:spPr>
        <p:txBody>
          <a:bodyPr wrap="square" rtlCol="0">
            <a:spAutoFit/>
          </a:bodyPr>
          <a:lstStyle/>
          <a:p>
            <a:r>
              <a:rPr lang="en-US" dirty="0" err="1">
                <a:solidFill>
                  <a:schemeClr val="bg1"/>
                </a:solidFill>
                <a:latin typeface="JetBrains Mono Light" panose="02000009000000000000" pitchFamily="49" charset="0"/>
                <a:cs typeface="JetBrains Mono Light" panose="02000009000000000000" pitchFamily="49" charset="0"/>
              </a:rPr>
              <a:t>Thuận</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lợi</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cho</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việc</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tìm</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các</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đồ</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thị</a:t>
            </a:r>
            <a:r>
              <a:rPr lang="en-US" dirty="0">
                <a:solidFill>
                  <a:schemeClr val="bg1"/>
                </a:solidFill>
                <a:latin typeface="JetBrains Mono Light" panose="02000009000000000000" pitchFamily="49" charset="0"/>
                <a:cs typeface="JetBrains Mono Light" panose="02000009000000000000" pitchFamily="49" charset="0"/>
              </a:rPr>
              <a:t> con </a:t>
            </a:r>
            <a:r>
              <a:rPr lang="en-US" dirty="0" err="1">
                <a:solidFill>
                  <a:schemeClr val="bg1"/>
                </a:solidFill>
                <a:latin typeface="JetBrains Mono Light" panose="02000009000000000000" pitchFamily="49" charset="0"/>
                <a:cs typeface="JetBrains Mono Light" panose="02000009000000000000" pitchFamily="49" charset="0"/>
              </a:rPr>
              <a:t>hoặc</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đảo</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các</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đồ</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thị</a:t>
            </a:r>
            <a:r>
              <a:rPr lang="en-US" dirty="0">
                <a:solidFill>
                  <a:schemeClr val="bg1"/>
                </a:solidFill>
                <a:latin typeface="JetBrains Mono Light" panose="02000009000000000000" pitchFamily="49" charset="0"/>
                <a:cs typeface="JetBrains Mono Light" panose="02000009000000000000" pitchFamily="49" charset="0"/>
              </a:rPr>
              <a:t>.</a:t>
            </a:r>
            <a:endParaRPr lang="en-US" dirty="0"/>
          </a:p>
        </p:txBody>
      </p:sp>
      <p:cxnSp>
        <p:nvCxnSpPr>
          <p:cNvPr id="44" name="Straight Connector 43">
            <a:extLst>
              <a:ext uri="{FF2B5EF4-FFF2-40B4-BE49-F238E27FC236}">
                <a16:creationId xmlns:a16="http://schemas.microsoft.com/office/drawing/2014/main" id="{7D9B18E6-029E-4F70-ABE0-B677806BE78E}"/>
              </a:ext>
            </a:extLst>
          </p:cNvPr>
          <p:cNvCxnSpPr>
            <a:cxnSpLocks/>
            <a:stCxn id="41" idx="2"/>
            <a:endCxn id="49" idx="6"/>
          </p:cNvCxnSpPr>
          <p:nvPr/>
        </p:nvCxnSpPr>
        <p:spPr>
          <a:xfrm flipH="1">
            <a:off x="1786399" y="3793984"/>
            <a:ext cx="1450422" cy="241197"/>
          </a:xfrm>
          <a:prstGeom prst="line">
            <a:avLst/>
          </a:prstGeom>
          <a:ln w="571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E78D632-D29F-4F7B-A9DE-9CAB58D26FE5}"/>
              </a:ext>
            </a:extLst>
          </p:cNvPr>
          <p:cNvCxnSpPr>
            <a:cxnSpLocks/>
            <a:stCxn id="41" idx="3"/>
            <a:endCxn id="50" idx="7"/>
          </p:cNvCxnSpPr>
          <p:nvPr/>
        </p:nvCxnSpPr>
        <p:spPr>
          <a:xfrm flipH="1">
            <a:off x="2645843" y="4137996"/>
            <a:ext cx="728458" cy="1017705"/>
          </a:xfrm>
          <a:prstGeom prst="line">
            <a:avLst/>
          </a:prstGeom>
          <a:ln w="571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3B701AB-566C-420D-9894-895E91FF7667}"/>
              </a:ext>
            </a:extLst>
          </p:cNvPr>
          <p:cNvCxnSpPr>
            <a:cxnSpLocks/>
            <a:stCxn id="50" idx="1"/>
            <a:endCxn id="49" idx="5"/>
          </p:cNvCxnSpPr>
          <p:nvPr/>
        </p:nvCxnSpPr>
        <p:spPr>
          <a:xfrm flipH="1" flipV="1">
            <a:off x="1648919" y="4379193"/>
            <a:ext cx="333112" cy="776508"/>
          </a:xfrm>
          <a:prstGeom prst="line">
            <a:avLst/>
          </a:prstGeom>
          <a:ln w="571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9" name="Straight Connector 1028">
            <a:extLst>
              <a:ext uri="{FF2B5EF4-FFF2-40B4-BE49-F238E27FC236}">
                <a16:creationId xmlns:a16="http://schemas.microsoft.com/office/drawing/2014/main" id="{19ADF768-0C49-415A-B195-F0CA3F0F80E1}"/>
              </a:ext>
            </a:extLst>
          </p:cNvPr>
          <p:cNvCxnSpPr>
            <a:cxnSpLocks/>
            <a:stCxn id="41" idx="5"/>
          </p:cNvCxnSpPr>
          <p:nvPr/>
        </p:nvCxnSpPr>
        <p:spPr>
          <a:xfrm>
            <a:off x="4038113" y="4137996"/>
            <a:ext cx="358041" cy="875210"/>
          </a:xfrm>
          <a:prstGeom prst="line">
            <a:avLst/>
          </a:prstGeom>
          <a:ln w="571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9396B186-511E-4B22-83E2-22A2C889D433}"/>
              </a:ext>
            </a:extLst>
          </p:cNvPr>
          <p:cNvSpPr/>
          <p:nvPr/>
        </p:nvSpPr>
        <p:spPr>
          <a:xfrm>
            <a:off x="3236821" y="3307476"/>
            <a:ext cx="938772" cy="97301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500" dirty="0">
                <a:solidFill>
                  <a:schemeClr val="tx1"/>
                </a:solidFill>
                <a:latin typeface="JetBrains Mono Light" panose="02000009000000000000" pitchFamily="49" charset="0"/>
                <a:cs typeface="JetBrains Mono Light" panose="02000009000000000000" pitchFamily="49" charset="0"/>
              </a:rPr>
              <a:t>1</a:t>
            </a:r>
          </a:p>
        </p:txBody>
      </p:sp>
      <p:sp>
        <p:nvSpPr>
          <p:cNvPr id="49" name="Oval 48">
            <a:extLst>
              <a:ext uri="{FF2B5EF4-FFF2-40B4-BE49-F238E27FC236}">
                <a16:creationId xmlns:a16="http://schemas.microsoft.com/office/drawing/2014/main" id="{965E448F-3840-4589-B282-19165229E005}"/>
              </a:ext>
            </a:extLst>
          </p:cNvPr>
          <p:cNvSpPr/>
          <p:nvPr/>
        </p:nvSpPr>
        <p:spPr>
          <a:xfrm>
            <a:off x="847627" y="3548673"/>
            <a:ext cx="938772" cy="97301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500" dirty="0">
                <a:solidFill>
                  <a:schemeClr val="tx1"/>
                </a:solidFill>
                <a:latin typeface="JetBrains Mono Light" panose="02000009000000000000" pitchFamily="49" charset="0"/>
                <a:cs typeface="JetBrains Mono Light" panose="02000009000000000000" pitchFamily="49" charset="0"/>
              </a:rPr>
              <a:t>3</a:t>
            </a:r>
          </a:p>
        </p:txBody>
      </p:sp>
      <p:sp>
        <p:nvSpPr>
          <p:cNvPr id="50" name="Oval 49">
            <a:extLst>
              <a:ext uri="{FF2B5EF4-FFF2-40B4-BE49-F238E27FC236}">
                <a16:creationId xmlns:a16="http://schemas.microsoft.com/office/drawing/2014/main" id="{E410087C-B671-4EBB-9B60-72A77DAB37FF}"/>
              </a:ext>
            </a:extLst>
          </p:cNvPr>
          <p:cNvSpPr/>
          <p:nvPr/>
        </p:nvSpPr>
        <p:spPr>
          <a:xfrm>
            <a:off x="1844551" y="5013206"/>
            <a:ext cx="938772" cy="97301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500" dirty="0">
                <a:solidFill>
                  <a:schemeClr val="tx1"/>
                </a:solidFill>
                <a:latin typeface="JetBrains Mono Light" panose="02000009000000000000" pitchFamily="49" charset="0"/>
                <a:cs typeface="JetBrains Mono Light" panose="02000009000000000000" pitchFamily="49" charset="0"/>
              </a:rPr>
              <a:t>2</a:t>
            </a:r>
          </a:p>
        </p:txBody>
      </p:sp>
      <p:sp>
        <p:nvSpPr>
          <p:cNvPr id="51" name="Oval 50">
            <a:extLst>
              <a:ext uri="{FF2B5EF4-FFF2-40B4-BE49-F238E27FC236}">
                <a16:creationId xmlns:a16="http://schemas.microsoft.com/office/drawing/2014/main" id="{0A3551AB-8BB2-49BF-8EF6-E2CB465F1F23}"/>
              </a:ext>
            </a:extLst>
          </p:cNvPr>
          <p:cNvSpPr/>
          <p:nvPr/>
        </p:nvSpPr>
        <p:spPr>
          <a:xfrm>
            <a:off x="4115743" y="4981517"/>
            <a:ext cx="938772" cy="97301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500" dirty="0">
                <a:solidFill>
                  <a:schemeClr val="tx1"/>
                </a:solidFill>
                <a:latin typeface="JetBrains Mono Light" panose="02000009000000000000" pitchFamily="49" charset="0"/>
                <a:cs typeface="JetBrains Mono Light" panose="02000009000000000000" pitchFamily="49" charset="0"/>
              </a:rPr>
              <a:t>4</a:t>
            </a:r>
          </a:p>
        </p:txBody>
      </p:sp>
    </p:spTree>
    <p:extLst>
      <p:ext uri="{BB962C8B-B14F-4D97-AF65-F5344CB8AC3E}">
        <p14:creationId xmlns:p14="http://schemas.microsoft.com/office/powerpoint/2010/main" val="19595612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500"/>
                                        <p:tgtEl>
                                          <p:spTgt spid="3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31"/>
                                        </p:tgtEl>
                                        <p:attrNameLst>
                                          <p:attrName>style.visibility</p:attrName>
                                        </p:attrNameLst>
                                      </p:cBhvr>
                                      <p:to>
                                        <p:strVal val="visible"/>
                                      </p:to>
                                    </p:set>
                                    <p:animEffect transition="in" filter="fade">
                                      <p:cBhvr>
                                        <p:cTn id="15" dur="500"/>
                                        <p:tgtEl>
                                          <p:spTgt spid="103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2"/>
                                        </p:tgtEl>
                                        <p:attrNameLst>
                                          <p:attrName>style.visibility</p:attrName>
                                        </p:attrNameLst>
                                      </p:cBhvr>
                                      <p:to>
                                        <p:strVal val="visible"/>
                                      </p:to>
                                    </p:set>
                                    <p:animEffect transition="in" filter="fade">
                                      <p:cBhvr>
                                        <p:cTn id="20" dur="500"/>
                                        <p:tgtEl>
                                          <p:spTgt spid="42"/>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41"/>
                                        </p:tgtEl>
                                        <p:attrNameLst>
                                          <p:attrName>style.visibility</p:attrName>
                                        </p:attrNameLst>
                                      </p:cBhvr>
                                      <p:to>
                                        <p:strVal val="visible"/>
                                      </p:to>
                                    </p:set>
                                    <p:animEffect transition="in" filter="fade">
                                      <p:cBhvr>
                                        <p:cTn id="24" dur="250"/>
                                        <p:tgtEl>
                                          <p:spTgt spid="41"/>
                                        </p:tgtEl>
                                      </p:cBhvr>
                                    </p:animEffect>
                                  </p:childTnLst>
                                </p:cTn>
                              </p:par>
                            </p:childTnLst>
                          </p:cTn>
                        </p:par>
                        <p:par>
                          <p:cTn id="25" fill="hold">
                            <p:stCondLst>
                              <p:cond delay="750"/>
                            </p:stCondLst>
                            <p:childTnLst>
                              <p:par>
                                <p:cTn id="26" presetID="10" presetClass="entr" presetSubtype="0" fill="hold" grpId="0" nodeType="after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fade">
                                      <p:cBhvr>
                                        <p:cTn id="28" dur="250"/>
                                        <p:tgtEl>
                                          <p:spTgt spid="50"/>
                                        </p:tgtEl>
                                      </p:cBhvr>
                                    </p:animEffect>
                                  </p:childTnLst>
                                </p:cTn>
                              </p:par>
                            </p:childTnLst>
                          </p:cTn>
                        </p:par>
                        <p:par>
                          <p:cTn id="29" fill="hold">
                            <p:stCondLst>
                              <p:cond delay="1000"/>
                            </p:stCondLst>
                            <p:childTnLst>
                              <p:par>
                                <p:cTn id="30" presetID="10" presetClass="entr" presetSubtype="0" fill="hold" nodeType="afterEffect">
                                  <p:stCondLst>
                                    <p:cond delay="0"/>
                                  </p:stCondLst>
                                  <p:childTnLst>
                                    <p:set>
                                      <p:cBhvr>
                                        <p:cTn id="31" dur="1" fill="hold">
                                          <p:stCondLst>
                                            <p:cond delay="0"/>
                                          </p:stCondLst>
                                        </p:cTn>
                                        <p:tgtEl>
                                          <p:spTgt spid="56"/>
                                        </p:tgtEl>
                                        <p:attrNameLst>
                                          <p:attrName>style.visibility</p:attrName>
                                        </p:attrNameLst>
                                      </p:cBhvr>
                                      <p:to>
                                        <p:strVal val="visible"/>
                                      </p:to>
                                    </p:set>
                                    <p:animEffect transition="in" filter="fade">
                                      <p:cBhvr>
                                        <p:cTn id="32" dur="250"/>
                                        <p:tgtEl>
                                          <p:spTgt spid="56"/>
                                        </p:tgtEl>
                                      </p:cBhvr>
                                    </p:animEffect>
                                  </p:childTnLst>
                                </p:cTn>
                              </p:par>
                            </p:childTnLst>
                          </p:cTn>
                        </p:par>
                        <p:par>
                          <p:cTn id="33" fill="hold">
                            <p:stCondLst>
                              <p:cond delay="1250"/>
                            </p:stCondLst>
                            <p:childTnLst>
                              <p:par>
                                <p:cTn id="34" presetID="10" presetClass="entr" presetSubtype="0" fill="hold" grpId="0" nodeType="afterEffect">
                                  <p:stCondLst>
                                    <p:cond delay="0"/>
                                  </p:stCondLst>
                                  <p:childTnLst>
                                    <p:set>
                                      <p:cBhvr>
                                        <p:cTn id="35" dur="1" fill="hold">
                                          <p:stCondLst>
                                            <p:cond delay="0"/>
                                          </p:stCondLst>
                                        </p:cTn>
                                        <p:tgtEl>
                                          <p:spTgt spid="49"/>
                                        </p:tgtEl>
                                        <p:attrNameLst>
                                          <p:attrName>style.visibility</p:attrName>
                                        </p:attrNameLst>
                                      </p:cBhvr>
                                      <p:to>
                                        <p:strVal val="visible"/>
                                      </p:to>
                                    </p:set>
                                    <p:animEffect transition="in" filter="fade">
                                      <p:cBhvr>
                                        <p:cTn id="36" dur="250"/>
                                        <p:tgtEl>
                                          <p:spTgt spid="49"/>
                                        </p:tgtEl>
                                      </p:cBhvr>
                                    </p:animEffect>
                                  </p:childTnLst>
                                </p:cTn>
                              </p:par>
                            </p:childTnLst>
                          </p:cTn>
                        </p:par>
                        <p:par>
                          <p:cTn id="37" fill="hold">
                            <p:stCondLst>
                              <p:cond delay="1500"/>
                            </p:stCondLst>
                            <p:childTnLst>
                              <p:par>
                                <p:cTn id="38" presetID="10" presetClass="entr" presetSubtype="0" fill="hold" nodeType="after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fade">
                                      <p:cBhvr>
                                        <p:cTn id="40" dur="250"/>
                                        <p:tgtEl>
                                          <p:spTgt spid="44"/>
                                        </p:tgtEl>
                                      </p:cBhvr>
                                    </p:animEffect>
                                  </p:childTnLst>
                                </p:cTn>
                              </p:par>
                            </p:childTnLst>
                          </p:cTn>
                        </p:par>
                        <p:par>
                          <p:cTn id="41" fill="hold">
                            <p:stCondLst>
                              <p:cond delay="1750"/>
                            </p:stCondLst>
                            <p:childTnLst>
                              <p:par>
                                <p:cTn id="42" presetID="10" presetClass="entr" presetSubtype="0" fill="hold" nodeType="afterEffect">
                                  <p:stCondLst>
                                    <p:cond delay="0"/>
                                  </p:stCondLst>
                                  <p:childTnLst>
                                    <p:set>
                                      <p:cBhvr>
                                        <p:cTn id="43" dur="1" fill="hold">
                                          <p:stCondLst>
                                            <p:cond delay="0"/>
                                          </p:stCondLst>
                                        </p:cTn>
                                        <p:tgtEl>
                                          <p:spTgt spid="57"/>
                                        </p:tgtEl>
                                        <p:attrNameLst>
                                          <p:attrName>style.visibility</p:attrName>
                                        </p:attrNameLst>
                                      </p:cBhvr>
                                      <p:to>
                                        <p:strVal val="visible"/>
                                      </p:to>
                                    </p:set>
                                    <p:animEffect transition="in" filter="fade">
                                      <p:cBhvr>
                                        <p:cTn id="44" dur="250"/>
                                        <p:tgtEl>
                                          <p:spTgt spid="57"/>
                                        </p:tgtEl>
                                      </p:cBhvr>
                                    </p:animEffect>
                                  </p:childTnLst>
                                </p:cTn>
                              </p:par>
                            </p:childTnLst>
                          </p:cTn>
                        </p:par>
                        <p:par>
                          <p:cTn id="45" fill="hold">
                            <p:stCondLst>
                              <p:cond delay="2000"/>
                            </p:stCondLst>
                            <p:childTnLst>
                              <p:par>
                                <p:cTn id="46" presetID="10" presetClass="entr" presetSubtype="0" fill="hold" grpId="0" nodeType="afterEffect">
                                  <p:stCondLst>
                                    <p:cond delay="0"/>
                                  </p:stCondLst>
                                  <p:childTnLst>
                                    <p:set>
                                      <p:cBhvr>
                                        <p:cTn id="47" dur="1" fill="hold">
                                          <p:stCondLst>
                                            <p:cond delay="0"/>
                                          </p:stCondLst>
                                        </p:cTn>
                                        <p:tgtEl>
                                          <p:spTgt spid="51"/>
                                        </p:tgtEl>
                                        <p:attrNameLst>
                                          <p:attrName>style.visibility</p:attrName>
                                        </p:attrNameLst>
                                      </p:cBhvr>
                                      <p:to>
                                        <p:strVal val="visible"/>
                                      </p:to>
                                    </p:set>
                                    <p:animEffect transition="in" filter="fade">
                                      <p:cBhvr>
                                        <p:cTn id="48" dur="250"/>
                                        <p:tgtEl>
                                          <p:spTgt spid="51"/>
                                        </p:tgtEl>
                                      </p:cBhvr>
                                    </p:animEffect>
                                  </p:childTnLst>
                                </p:cTn>
                              </p:par>
                            </p:childTnLst>
                          </p:cTn>
                        </p:par>
                        <p:par>
                          <p:cTn id="49" fill="hold">
                            <p:stCondLst>
                              <p:cond delay="2250"/>
                            </p:stCondLst>
                            <p:childTnLst>
                              <p:par>
                                <p:cTn id="50" presetID="10" presetClass="entr" presetSubtype="0" fill="hold" nodeType="afterEffect">
                                  <p:stCondLst>
                                    <p:cond delay="0"/>
                                  </p:stCondLst>
                                  <p:childTnLst>
                                    <p:set>
                                      <p:cBhvr>
                                        <p:cTn id="51" dur="1" fill="hold">
                                          <p:stCondLst>
                                            <p:cond delay="0"/>
                                          </p:stCondLst>
                                        </p:cTn>
                                        <p:tgtEl>
                                          <p:spTgt spid="1029"/>
                                        </p:tgtEl>
                                        <p:attrNameLst>
                                          <p:attrName>style.visibility</p:attrName>
                                        </p:attrNameLst>
                                      </p:cBhvr>
                                      <p:to>
                                        <p:strVal val="visible"/>
                                      </p:to>
                                    </p:set>
                                    <p:animEffect transition="in" filter="fade">
                                      <p:cBhvr>
                                        <p:cTn id="52" dur="250"/>
                                        <p:tgtEl>
                                          <p:spTgt spid="1029"/>
                                        </p:tgtEl>
                                      </p:cBhvr>
                                    </p:animEffect>
                                  </p:childTnLst>
                                </p:cTn>
                              </p:par>
                              <p:par>
                                <p:cTn id="53" presetID="10" presetClass="entr" presetSubtype="0" fill="hold"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2" grpId="0" animBg="1"/>
      <p:bldP spid="1031" grpId="0" animBg="1"/>
      <p:bldP spid="39" grpId="0"/>
      <p:bldP spid="41" grpId="0" animBg="1"/>
      <p:bldP spid="49" grpId="0" animBg="1"/>
      <p:bldP spid="50" grpId="0" animBg="1"/>
      <p:bldP spid="5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ADCB1D2-71BF-4442-85AC-20706F44BBA0}"/>
              </a:ext>
            </a:extLst>
          </p:cNvPr>
          <p:cNvSpPr/>
          <p:nvPr/>
        </p:nvSpPr>
        <p:spPr>
          <a:xfrm>
            <a:off x="0" y="-2556"/>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16" name="Credit MAIN">
            <a:extLst>
              <a:ext uri="{FF2B5EF4-FFF2-40B4-BE49-F238E27FC236}">
                <a16:creationId xmlns:a16="http://schemas.microsoft.com/office/drawing/2014/main" id="{2518DECB-C7B9-41A5-9FB6-89C9AA3086AA}"/>
              </a:ext>
            </a:extLst>
          </p:cNvPr>
          <p:cNvSpPr txBox="1"/>
          <p:nvPr/>
        </p:nvSpPr>
        <p:spPr>
          <a:xfrm>
            <a:off x="50878" y="6420549"/>
            <a:ext cx="2235122"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Vũ</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Thùy</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Dương</a:t>
            </a:r>
            <a:endParaRPr lang="en-US" dirty="0">
              <a:solidFill>
                <a:schemeClr val="bg1">
                  <a:lumMod val="95000"/>
                  <a:alpha val="46000"/>
                </a:schemeClr>
              </a:solidFill>
            </a:endParaRPr>
          </a:p>
        </p:txBody>
      </p:sp>
      <p:sp>
        <p:nvSpPr>
          <p:cNvPr id="11" name="Header">
            <a:extLst>
              <a:ext uri="{FF2B5EF4-FFF2-40B4-BE49-F238E27FC236}">
                <a16:creationId xmlns:a16="http://schemas.microsoft.com/office/drawing/2014/main" id="{6A39F230-06D2-4140-8DA2-357C0B9B6D12}"/>
              </a:ext>
            </a:extLst>
          </p:cNvPr>
          <p:cNvSpPr txBox="1"/>
          <p:nvPr/>
        </p:nvSpPr>
        <p:spPr>
          <a:xfrm>
            <a:off x="50878" y="68119"/>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7" name="Footer: Part">
            <a:extLst>
              <a:ext uri="{FF2B5EF4-FFF2-40B4-BE49-F238E27FC236}">
                <a16:creationId xmlns:a16="http://schemas.microsoft.com/office/drawing/2014/main" id="{553347E6-1341-4BA1-A396-FC4741F3FAF1}"/>
              </a:ext>
            </a:extLst>
          </p:cNvPr>
          <p:cNvSpPr txBox="1"/>
          <p:nvPr/>
        </p:nvSpPr>
        <p:spPr>
          <a:xfrm>
            <a:off x="10959883" y="6413178"/>
            <a:ext cx="1160019" cy="369332"/>
          </a:xfrm>
          <a:prstGeom prst="rect">
            <a:avLst/>
          </a:prstGeom>
          <a:noFill/>
        </p:spPr>
        <p:txBody>
          <a:bodyPr wrap="square" rtlCol="0">
            <a:spAutoFit/>
          </a:bodyPr>
          <a:lstStyle/>
          <a:p>
            <a:pPr algn="r"/>
            <a:r>
              <a:rPr lang="en-US" dirty="0">
                <a:solidFill>
                  <a:schemeClr val="bg1">
                    <a:lumMod val="95000"/>
                  </a:schemeClr>
                </a:solidFill>
                <a:latin typeface="JetBrains Mono Regular" panose="02000009000000000000" pitchFamily="49" charset="0"/>
                <a:cs typeface="JetBrains Mono Regular" panose="02000009000000000000" pitchFamily="49" charset="0"/>
              </a:rPr>
              <a:t>Ma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trận</a:t>
            </a:r>
            <a:endParaRPr lang="en-US" dirty="0">
              <a:solidFill>
                <a:schemeClr val="bg1">
                  <a:lumMod val="95000"/>
                </a:schemeClr>
              </a:solidFill>
              <a:latin typeface="JetBrains Mono Regular" panose="02000009000000000000" pitchFamily="49" charset="0"/>
              <a:cs typeface="JetBrains Mono Regular" panose="02000009000000000000" pitchFamily="49" charset="0"/>
            </a:endParaRPr>
          </a:p>
        </p:txBody>
      </p:sp>
      <p:sp>
        <p:nvSpPr>
          <p:cNvPr id="19" name="Footer: Title">
            <a:extLst>
              <a:ext uri="{FF2B5EF4-FFF2-40B4-BE49-F238E27FC236}">
                <a16:creationId xmlns:a16="http://schemas.microsoft.com/office/drawing/2014/main" id="{FD144244-98B6-4C54-A114-16CD65E0D522}"/>
              </a:ext>
            </a:extLst>
          </p:cNvPr>
          <p:cNvSpPr txBox="1"/>
          <p:nvPr/>
        </p:nvSpPr>
        <p:spPr>
          <a:xfrm>
            <a:off x="9906025" y="6414047"/>
            <a:ext cx="1160019"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Light" panose="02000009000000000000" pitchFamily="49" charset="0"/>
                <a:cs typeface="JetBrains Mono Light" panose="02000009000000000000" pitchFamily="49" charset="0"/>
              </a:rPr>
              <a:t>:</a:t>
            </a:r>
          </a:p>
        </p:txBody>
      </p:sp>
      <p:sp>
        <p:nvSpPr>
          <p:cNvPr id="25" name="PAGE NUM 0">
            <a:extLst>
              <a:ext uri="{FF2B5EF4-FFF2-40B4-BE49-F238E27FC236}">
                <a16:creationId xmlns:a16="http://schemas.microsoft.com/office/drawing/2014/main" id="{CA8E8643-0820-44FC-9D06-02F2A0A63536}"/>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1</a:t>
            </a:r>
          </a:p>
        </p:txBody>
      </p:sp>
      <p:sp>
        <p:nvSpPr>
          <p:cNvPr id="26" name="PAGE NUM 1">
            <a:extLst>
              <a:ext uri="{FF2B5EF4-FFF2-40B4-BE49-F238E27FC236}">
                <a16:creationId xmlns:a16="http://schemas.microsoft.com/office/drawing/2014/main" id="{6BF8CF33-13C7-458E-A4F5-0A19700195D0}"/>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1</a:t>
            </a:r>
            <a:endParaRPr lang="en-US" dirty="0"/>
          </a:p>
        </p:txBody>
      </p:sp>
      <p:sp>
        <p:nvSpPr>
          <p:cNvPr id="4" name="Rectangle 3">
            <a:extLst>
              <a:ext uri="{FF2B5EF4-FFF2-40B4-BE49-F238E27FC236}">
                <a16:creationId xmlns:a16="http://schemas.microsoft.com/office/drawing/2014/main" id="{CB38D6F8-B45F-44CF-A0B3-4EECDAC74C1C}"/>
              </a:ext>
            </a:extLst>
          </p:cNvPr>
          <p:cNvSpPr/>
          <p:nvPr/>
        </p:nvSpPr>
        <p:spPr>
          <a:xfrm>
            <a:off x="591459" y="591772"/>
            <a:ext cx="1577862"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3252814-A59F-4DD2-85FD-AF3B5B3FB847}"/>
              </a:ext>
            </a:extLst>
          </p:cNvPr>
          <p:cNvSpPr txBox="1"/>
          <p:nvPr/>
        </p:nvSpPr>
        <p:spPr>
          <a:xfrm>
            <a:off x="603364" y="591246"/>
            <a:ext cx="1577862" cy="369332"/>
          </a:xfrm>
          <a:prstGeom prst="rect">
            <a:avLst/>
          </a:prstGeom>
          <a:noFill/>
        </p:spPr>
        <p:txBody>
          <a:bodyPr wrap="square" rtlCol="0">
            <a:spAutoFit/>
          </a:bodyPr>
          <a:lstStyle/>
          <a:p>
            <a:r>
              <a:rPr lang="en-US" dirty="0">
                <a:latin typeface="JetBrains Mono Regular" panose="02000009000000000000" pitchFamily="49" charset="0"/>
                <a:cs typeface="JetBrains Mono Regular" panose="02000009000000000000" pitchFamily="49" charset="0"/>
              </a:rPr>
              <a:t>Ma </a:t>
            </a:r>
            <a:r>
              <a:rPr lang="en-US" dirty="0" err="1">
                <a:latin typeface="JetBrains Mono Regular" panose="02000009000000000000" pitchFamily="49" charset="0"/>
                <a:cs typeface="JetBrains Mono Regular" panose="02000009000000000000" pitchFamily="49" charset="0"/>
              </a:rPr>
              <a:t>trận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kề</a:t>
            </a:r>
            <a:endParaRPr lang="en-US" dirty="0">
              <a:latin typeface="JetBrains Mono Regular" panose="02000009000000000000" pitchFamily="49" charset="0"/>
              <a:cs typeface="JetBrains Mono Regular" panose="02000009000000000000" pitchFamily="49" charset="0"/>
            </a:endParaRPr>
          </a:p>
        </p:txBody>
      </p:sp>
      <p:sp>
        <p:nvSpPr>
          <p:cNvPr id="3" name="TextBox 2">
            <a:extLst>
              <a:ext uri="{FF2B5EF4-FFF2-40B4-BE49-F238E27FC236}">
                <a16:creationId xmlns:a16="http://schemas.microsoft.com/office/drawing/2014/main" id="{0DCF76D3-76B8-418E-89D0-5A5DE06812BC}"/>
              </a:ext>
            </a:extLst>
          </p:cNvPr>
          <p:cNvSpPr txBox="1"/>
          <p:nvPr/>
        </p:nvSpPr>
        <p:spPr>
          <a:xfrm>
            <a:off x="603363" y="591527"/>
            <a:ext cx="1149238" cy="369332"/>
          </a:xfrm>
          <a:prstGeom prst="rect">
            <a:avLst/>
          </a:prstGeom>
          <a:solidFill>
            <a:schemeClr val="bg1"/>
          </a:solidFill>
        </p:spPr>
        <p:txBody>
          <a:bodyPr wrap="square" rtlCol="0">
            <a:spAutoFit/>
          </a:bodyPr>
          <a:lstStyle/>
          <a:p>
            <a:r>
              <a:rPr lang="en-US" dirty="0">
                <a:latin typeface="JetBrains Mono Regular" panose="02000009000000000000" pitchFamily="49" charset="0"/>
                <a:cs typeface="JetBrains Mono Regular" panose="02000009000000000000" pitchFamily="49" charset="0"/>
              </a:rPr>
              <a:t>Ma </a:t>
            </a:r>
            <a:r>
              <a:rPr lang="en-US" dirty="0" err="1">
                <a:latin typeface="JetBrains Mono Regular" panose="02000009000000000000" pitchFamily="49" charset="0"/>
                <a:cs typeface="JetBrains Mono Regular" panose="02000009000000000000" pitchFamily="49" charset="0"/>
              </a:rPr>
              <a:t>trận</a:t>
            </a:r>
            <a:endParaRPr lang="en-US" dirty="0">
              <a:latin typeface="JetBrains Mono Regular" panose="02000009000000000000" pitchFamily="49" charset="0"/>
              <a:cs typeface="JetBrains Mono Regular" panose="02000009000000000000" pitchFamily="49" charset="0"/>
            </a:endParaRPr>
          </a:p>
        </p:txBody>
      </p:sp>
      <p:sp>
        <p:nvSpPr>
          <p:cNvPr id="31" name="Footer: Part sub">
            <a:extLst>
              <a:ext uri="{FF2B5EF4-FFF2-40B4-BE49-F238E27FC236}">
                <a16:creationId xmlns:a16="http://schemas.microsoft.com/office/drawing/2014/main" id="{A379016A-F45E-4474-87E7-A7EDDF7B735C}"/>
              </a:ext>
            </a:extLst>
          </p:cNvPr>
          <p:cNvSpPr txBox="1"/>
          <p:nvPr/>
        </p:nvSpPr>
        <p:spPr>
          <a:xfrm>
            <a:off x="12198643" y="6417028"/>
            <a:ext cx="1303020" cy="369332"/>
          </a:xfrm>
          <a:prstGeom prst="rect">
            <a:avLst/>
          </a:prstGeom>
          <a:noFill/>
        </p:spPr>
        <p:txBody>
          <a:bodyPr wrap="square" rtlCol="0">
            <a:spAutoFit/>
          </a:bodyPr>
          <a:lstStyle/>
          <a:p>
            <a:pPr algn="r"/>
            <a:r>
              <a:rPr lang="en-US" dirty="0" err="1">
                <a:solidFill>
                  <a:schemeClr val="bg1">
                    <a:lumMod val="95000"/>
                  </a:schemeClr>
                </a:solidFill>
                <a:latin typeface="JetBrains Mono Regular" panose="02000009000000000000" pitchFamily="49" charset="0"/>
                <a:cs typeface="JetBrains Mono Regular" panose="02000009000000000000" pitchFamily="49" charset="0"/>
              </a:rPr>
              <a:t>liên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hợp</a:t>
            </a:r>
            <a:endParaRPr lang="en-US" dirty="0">
              <a:solidFill>
                <a:schemeClr val="bg1">
                  <a:lumMod val="95000"/>
                </a:schemeClr>
              </a:solidFill>
              <a:latin typeface="JetBrains Mono Regular" panose="02000009000000000000" pitchFamily="49" charset="0"/>
              <a:cs typeface="JetBrains Mono Regular" panose="02000009000000000000" pitchFamily="49" charset="0"/>
            </a:endParaRPr>
          </a:p>
        </p:txBody>
      </p:sp>
      <p:sp>
        <p:nvSpPr>
          <p:cNvPr id="13" name="TextBox 12">
            <a:extLst>
              <a:ext uri="{FF2B5EF4-FFF2-40B4-BE49-F238E27FC236}">
                <a16:creationId xmlns:a16="http://schemas.microsoft.com/office/drawing/2014/main" id="{5AF70085-702D-4AD2-BA51-4593C5AB8847}"/>
              </a:ext>
            </a:extLst>
          </p:cNvPr>
          <p:cNvSpPr txBox="1"/>
          <p:nvPr/>
        </p:nvSpPr>
        <p:spPr>
          <a:xfrm>
            <a:off x="955352" y="1174940"/>
            <a:ext cx="10644556" cy="369332"/>
          </a:xfrm>
          <a:prstGeom prst="rect">
            <a:avLst/>
          </a:prstGeom>
          <a:noFill/>
        </p:spPr>
        <p:txBody>
          <a:bodyPr wrap="square" rtlCol="0">
            <a:spAutoFit/>
          </a:bodyPr>
          <a:lstStyle/>
          <a:p>
            <a:r>
              <a:rPr lang="en-US" dirty="0" err="1">
                <a:solidFill>
                  <a:schemeClr val="bg1"/>
                </a:solidFill>
                <a:latin typeface="JetBrains Mono Light" panose="02000009000000000000" pitchFamily="49" charset="0"/>
                <a:cs typeface="JetBrains Mono Light" panose="02000009000000000000" pitchFamily="49" charset="0"/>
              </a:rPr>
              <a:t>Đồ</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thị</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được</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biểu</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diễn</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bằng</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một</a:t>
            </a:r>
            <a:r>
              <a:rPr lang="en-US" dirty="0">
                <a:solidFill>
                  <a:schemeClr val="bg1"/>
                </a:solidFill>
                <a:latin typeface="JetBrains Mono Light" panose="02000009000000000000" pitchFamily="49" charset="0"/>
                <a:cs typeface="JetBrains Mono Light" panose="02000009000000000000" pitchFamily="49" charset="0"/>
              </a:rPr>
              <a:t> ma </a:t>
            </a:r>
            <a:r>
              <a:rPr lang="en-US" dirty="0" err="1">
                <a:solidFill>
                  <a:schemeClr val="bg1"/>
                </a:solidFill>
                <a:latin typeface="JetBrains Mono Light" panose="02000009000000000000" pitchFamily="49" charset="0"/>
                <a:cs typeface="JetBrains Mono Light" panose="02000009000000000000" pitchFamily="49" charset="0"/>
              </a:rPr>
              <a:t>trận</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vuông</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cấp</a:t>
            </a:r>
            <a:r>
              <a:rPr lang="en-US" dirty="0">
                <a:solidFill>
                  <a:schemeClr val="bg1"/>
                </a:solidFill>
                <a:latin typeface="JetBrains Mono Light" panose="02000009000000000000" pitchFamily="49" charset="0"/>
                <a:cs typeface="JetBrains Mono Light" panose="02000009000000000000" pitchFamily="49" charset="0"/>
              </a:rPr>
              <a:t> N, N </a:t>
            </a:r>
            <a:r>
              <a:rPr lang="en-US" dirty="0" err="1">
                <a:solidFill>
                  <a:schemeClr val="bg1"/>
                </a:solidFill>
                <a:latin typeface="JetBrains Mono Light" panose="02000009000000000000" pitchFamily="49" charset="0"/>
                <a:cs typeface="JetBrains Mono Light" panose="02000009000000000000" pitchFamily="49" charset="0"/>
              </a:rPr>
              <a:t>là</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số</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đỉnh</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của</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đồ</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thị</a:t>
            </a:r>
            <a:r>
              <a:rPr lang="en-US" dirty="0">
                <a:solidFill>
                  <a:schemeClr val="bg1"/>
                </a:solidFill>
                <a:latin typeface="JetBrains Mono Light" panose="02000009000000000000" pitchFamily="49" charset="0"/>
                <a:cs typeface="JetBrains Mono Light" panose="02000009000000000000" pitchFamily="49" charset="0"/>
              </a:rPr>
              <a:t>.</a:t>
            </a:r>
            <a:endParaRPr lang="en-US" dirty="0">
              <a:solidFill>
                <a:schemeClr val="bg1"/>
              </a:solidFill>
            </a:endParaRPr>
          </a:p>
        </p:txBody>
      </p:sp>
      <p:sp>
        <p:nvSpPr>
          <p:cNvPr id="36" name="TextBox 35">
            <a:extLst>
              <a:ext uri="{FF2B5EF4-FFF2-40B4-BE49-F238E27FC236}">
                <a16:creationId xmlns:a16="http://schemas.microsoft.com/office/drawing/2014/main" id="{EBF34A05-A41B-4C96-B130-BB17F79C5728}"/>
              </a:ext>
            </a:extLst>
          </p:cNvPr>
          <p:cNvSpPr txBox="1"/>
          <p:nvPr/>
        </p:nvSpPr>
        <p:spPr>
          <a:xfrm>
            <a:off x="955352" y="1512081"/>
            <a:ext cx="10916763" cy="369332"/>
          </a:xfrm>
          <a:prstGeom prst="rect">
            <a:avLst/>
          </a:prstGeom>
          <a:noFill/>
        </p:spPr>
        <p:txBody>
          <a:bodyPr wrap="square" rtlCol="0">
            <a:spAutoFit/>
          </a:bodyPr>
          <a:lstStyle/>
          <a:p>
            <a:r>
              <a:rPr lang="en-US" dirty="0" err="1">
                <a:solidFill>
                  <a:schemeClr val="bg1"/>
                </a:solidFill>
                <a:latin typeface="JetBrains Mono Light" panose="02000009000000000000" pitchFamily="49" charset="0"/>
                <a:cs typeface="JetBrains Mono Light" panose="02000009000000000000" pitchFamily="49" charset="0"/>
              </a:rPr>
              <a:t>A</a:t>
            </a:r>
            <a:r>
              <a:rPr lang="en-US" baseline="-25000" dirty="0" err="1">
                <a:solidFill>
                  <a:schemeClr val="bg1"/>
                </a:solidFill>
                <a:latin typeface="JetBrains Mono Light" panose="02000009000000000000" pitchFamily="49" charset="0"/>
                <a:cs typeface="JetBrains Mono Light" panose="02000009000000000000" pitchFamily="49" charset="0"/>
              </a:rPr>
              <a:t>ij</a:t>
            </a:r>
            <a:r>
              <a:rPr lang="en-US" spc="-300" baseline="-25000" dirty="0">
                <a:solidFill>
                  <a:schemeClr val="bg1"/>
                </a:solidFill>
                <a:latin typeface="JetBrains Mono Light" panose="02000009000000000000" pitchFamily="49" charset="0"/>
                <a:cs typeface="JetBrains Mono Light" panose="02000009000000000000" pitchFamily="49" charset="0"/>
              </a:rPr>
              <a:t> </a:t>
            </a:r>
            <a:r>
              <a:rPr lang="en-US" spc="-300" dirty="0">
                <a:solidFill>
                  <a:schemeClr val="bg1"/>
                </a:solidFill>
                <a:latin typeface="JetBrains Mono Light" panose="02000009000000000000" pitchFamily="49" charset="0"/>
                <a:cs typeface="JetBrains Mono Light" panose="02000009000000000000" pitchFamily="49" charset="0"/>
              </a:rPr>
              <a:t>= 1</a:t>
            </a:r>
            <a:r>
              <a:rPr lang="en-US" spc="300"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chỉ</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quan</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hệ</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giữa</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đỉnh</a:t>
            </a:r>
            <a:r>
              <a:rPr lang="en-US" dirty="0">
                <a:solidFill>
                  <a:schemeClr val="bg1"/>
                </a:solidFill>
                <a:latin typeface="JetBrains Mono Light" panose="02000009000000000000" pitchFamily="49" charset="0"/>
                <a:cs typeface="JetBrains Mono Light" panose="02000009000000000000" pitchFamily="49" charset="0"/>
              </a:rPr>
              <a:t> v</a:t>
            </a:r>
            <a:r>
              <a:rPr lang="en-US" baseline="-25000" dirty="0">
                <a:solidFill>
                  <a:schemeClr val="bg1"/>
                </a:solidFill>
                <a:latin typeface="JetBrains Mono Light" panose="02000009000000000000" pitchFamily="49" charset="0"/>
                <a:cs typeface="JetBrains Mono Light" panose="02000009000000000000" pitchFamily="49" charset="0"/>
              </a:rPr>
              <a:t>i</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và</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đỉnh</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v</a:t>
            </a:r>
            <a:r>
              <a:rPr lang="en-US" baseline="-25000" dirty="0" err="1">
                <a:solidFill>
                  <a:schemeClr val="bg1"/>
                </a:solidFill>
                <a:latin typeface="JetBrains Mono Light" panose="02000009000000000000" pitchFamily="49" charset="0"/>
                <a:cs typeface="JetBrains Mono Light" panose="02000009000000000000" pitchFamily="49" charset="0"/>
              </a:rPr>
              <a:t>j</a:t>
            </a:r>
            <a:r>
              <a:rPr lang="en-US" dirty="0">
                <a:solidFill>
                  <a:schemeClr val="bg1"/>
                </a:solidFill>
                <a:latin typeface="JetBrains Mono Light" panose="02000009000000000000" pitchFamily="49" charset="0"/>
                <a:cs typeface="JetBrains Mono Light" panose="02000009000000000000" pitchFamily="49" charset="0"/>
              </a:rPr>
              <a:t>: 1 </a:t>
            </a:r>
            <a:r>
              <a:rPr lang="en-US" dirty="0" err="1">
                <a:solidFill>
                  <a:schemeClr val="bg1"/>
                </a:solidFill>
                <a:latin typeface="JetBrains Mono Light" panose="02000009000000000000" pitchFamily="49" charset="0"/>
                <a:cs typeface="JetBrains Mono Light" panose="02000009000000000000" pitchFamily="49" charset="0"/>
              </a:rPr>
              <a:t>nếu</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có</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cạnh</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nối</a:t>
            </a:r>
            <a:r>
              <a:rPr lang="en-US" dirty="0">
                <a:solidFill>
                  <a:schemeClr val="bg1"/>
                </a:solidFill>
                <a:latin typeface="JetBrains Mono Light" panose="02000009000000000000" pitchFamily="49" charset="0"/>
                <a:cs typeface="JetBrains Mono Light" panose="02000009000000000000" pitchFamily="49" charset="0"/>
              </a:rPr>
              <a:t>, 0 </a:t>
            </a:r>
            <a:r>
              <a:rPr lang="en-US" dirty="0" err="1">
                <a:solidFill>
                  <a:schemeClr val="bg1"/>
                </a:solidFill>
                <a:latin typeface="JetBrains Mono Light" panose="02000009000000000000" pitchFamily="49" charset="0"/>
                <a:cs typeface="JetBrains Mono Light" panose="02000009000000000000" pitchFamily="49" charset="0"/>
              </a:rPr>
              <a:t>nếu</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không</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có</a:t>
            </a:r>
            <a:r>
              <a:rPr lang="en-US" dirty="0">
                <a:solidFill>
                  <a:schemeClr val="bg1"/>
                </a:solidFill>
                <a:latin typeface="JetBrains Mono Light" panose="02000009000000000000" pitchFamily="49" charset="0"/>
                <a:cs typeface="JetBrains Mono Light" panose="02000009000000000000" pitchFamily="49" charset="0"/>
              </a:rPr>
              <a:t>. </a:t>
            </a:r>
            <a:endParaRPr lang="en-US" dirty="0"/>
          </a:p>
        </p:txBody>
      </p:sp>
      <p:graphicFrame>
        <p:nvGraphicFramePr>
          <p:cNvPr id="37" name="Table 37">
            <a:extLst>
              <a:ext uri="{FF2B5EF4-FFF2-40B4-BE49-F238E27FC236}">
                <a16:creationId xmlns:a16="http://schemas.microsoft.com/office/drawing/2014/main" id="{1214CA39-589C-4CC5-B654-0387CF4C8F0C}"/>
              </a:ext>
            </a:extLst>
          </p:cNvPr>
          <p:cNvGraphicFramePr>
            <a:graphicFrameLocks noGrp="1"/>
          </p:cNvGraphicFramePr>
          <p:nvPr>
            <p:extLst>
              <p:ext uri="{D42A27DB-BD31-4B8C-83A1-F6EECF244321}">
                <p14:modId xmlns:p14="http://schemas.microsoft.com/office/powerpoint/2010/main" val="520039503"/>
              </p:ext>
            </p:extLst>
          </p:nvPr>
        </p:nvGraphicFramePr>
        <p:xfrm>
          <a:off x="6003614" y="3249226"/>
          <a:ext cx="4634227" cy="2647056"/>
        </p:xfrm>
        <a:graphic>
          <a:graphicData uri="http://schemas.openxmlformats.org/drawingml/2006/table">
            <a:tbl>
              <a:tblPr firstRow="1" bandRow="1">
                <a:tableStyleId>{5C22544A-7EE6-4342-B048-85BDC9FD1C3A}</a:tableStyleId>
              </a:tblPr>
              <a:tblGrid>
                <a:gridCol w="785959">
                  <a:extLst>
                    <a:ext uri="{9D8B030D-6E8A-4147-A177-3AD203B41FA5}">
                      <a16:colId xmlns:a16="http://schemas.microsoft.com/office/drawing/2014/main" val="1491892926"/>
                    </a:ext>
                  </a:extLst>
                </a:gridCol>
                <a:gridCol w="962067">
                  <a:extLst>
                    <a:ext uri="{9D8B030D-6E8A-4147-A177-3AD203B41FA5}">
                      <a16:colId xmlns:a16="http://schemas.microsoft.com/office/drawing/2014/main" val="229636460"/>
                    </a:ext>
                  </a:extLst>
                </a:gridCol>
                <a:gridCol w="962067">
                  <a:extLst>
                    <a:ext uri="{9D8B030D-6E8A-4147-A177-3AD203B41FA5}">
                      <a16:colId xmlns:a16="http://schemas.microsoft.com/office/drawing/2014/main" val="2258858154"/>
                    </a:ext>
                  </a:extLst>
                </a:gridCol>
                <a:gridCol w="962067">
                  <a:extLst>
                    <a:ext uri="{9D8B030D-6E8A-4147-A177-3AD203B41FA5}">
                      <a16:colId xmlns:a16="http://schemas.microsoft.com/office/drawing/2014/main" val="3714069001"/>
                    </a:ext>
                  </a:extLst>
                </a:gridCol>
                <a:gridCol w="962067">
                  <a:extLst>
                    <a:ext uri="{9D8B030D-6E8A-4147-A177-3AD203B41FA5}">
                      <a16:colId xmlns:a16="http://schemas.microsoft.com/office/drawing/2014/main" val="2614713054"/>
                    </a:ext>
                  </a:extLst>
                </a:gridCol>
              </a:tblGrid>
              <a:tr h="6302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bg1">
                            <a:lumMod val="50000"/>
                          </a:schemeClr>
                        </a:solidFill>
                        <a:latin typeface="JetBrains Mono Light" panose="02000009000000000000" pitchFamily="49" charset="0"/>
                        <a:cs typeface="JetBrains Mono Light" panose="02000009000000000000"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bg1">
                              <a:lumMod val="50000"/>
                            </a:schemeClr>
                          </a:solidFill>
                          <a:latin typeface="JetBrains Mono Light" panose="02000009000000000000" pitchFamily="49" charset="0"/>
                          <a:cs typeface="JetBrains Mono Light" panose="02000009000000000000" pitchFamily="49" charset="0"/>
                        </a:rPr>
                        <a:t> node</a:t>
                      </a:r>
                    </a:p>
                  </a:txBody>
                  <a:tcPr>
                    <a:noFill/>
                  </a:tcPr>
                </a:tc>
                <a:tc>
                  <a:txBody>
                    <a:bodyPr/>
                    <a:lstStyle/>
                    <a:p>
                      <a:pPr algn="ctr"/>
                      <a:r>
                        <a:rPr lang="en-US" sz="2400" b="0" i="0" dirty="0">
                          <a:solidFill>
                            <a:schemeClr val="bg1">
                              <a:lumMod val="50000"/>
                            </a:schemeClr>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b="0" i="0" dirty="0">
                          <a:solidFill>
                            <a:schemeClr val="bg1">
                              <a:lumMod val="50000"/>
                            </a:schemeClr>
                          </a:solidFill>
                          <a:latin typeface="JetBrains Mono Light" panose="02000009000000000000" pitchFamily="49" charset="0"/>
                          <a:cs typeface="JetBrains Mono Light" panose="02000009000000000000" pitchFamily="49" charset="0"/>
                        </a:rPr>
                        <a:t>2</a:t>
                      </a:r>
                    </a:p>
                  </a:txBody>
                  <a:tcPr>
                    <a:noFill/>
                  </a:tcPr>
                </a:tc>
                <a:tc>
                  <a:txBody>
                    <a:bodyPr/>
                    <a:lstStyle/>
                    <a:p>
                      <a:pPr algn="ctr"/>
                      <a:r>
                        <a:rPr lang="en-US" sz="2400" b="0" i="0" dirty="0">
                          <a:solidFill>
                            <a:schemeClr val="bg1">
                              <a:lumMod val="50000"/>
                            </a:schemeClr>
                          </a:solidFill>
                          <a:latin typeface="JetBrains Mono Light" panose="02000009000000000000" pitchFamily="49" charset="0"/>
                          <a:cs typeface="JetBrains Mono Light" panose="02000009000000000000" pitchFamily="49" charset="0"/>
                        </a:rPr>
                        <a:t>3</a:t>
                      </a:r>
                    </a:p>
                  </a:txBody>
                  <a:tcPr>
                    <a:noFill/>
                  </a:tcPr>
                </a:tc>
                <a:tc>
                  <a:txBody>
                    <a:bodyPr/>
                    <a:lstStyle/>
                    <a:p>
                      <a:pPr algn="ctr"/>
                      <a:r>
                        <a:rPr lang="en-US" sz="2400" b="0" i="0" dirty="0">
                          <a:solidFill>
                            <a:schemeClr val="bg1">
                              <a:lumMod val="50000"/>
                            </a:schemeClr>
                          </a:solidFill>
                          <a:latin typeface="JetBrains Mono Light" panose="02000009000000000000" pitchFamily="49" charset="0"/>
                          <a:cs typeface="JetBrains Mono Light" panose="02000009000000000000" pitchFamily="49" charset="0"/>
                        </a:rPr>
                        <a:t>4</a:t>
                      </a:r>
                    </a:p>
                  </a:txBody>
                  <a:tcPr>
                    <a:noFill/>
                  </a:tcPr>
                </a:tc>
                <a:extLst>
                  <a:ext uri="{0D108BD9-81ED-4DB2-BD59-A6C34878D82A}">
                    <a16:rowId xmlns:a16="http://schemas.microsoft.com/office/drawing/2014/main" val="4057429763"/>
                  </a:ext>
                </a:extLst>
              </a:tr>
              <a:tr h="50420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solidFill>
                            <a:schemeClr val="bg1">
                              <a:lumMod val="50000"/>
                            </a:schemeClr>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extLst>
                  <a:ext uri="{0D108BD9-81ED-4DB2-BD59-A6C34878D82A}">
                    <a16:rowId xmlns:a16="http://schemas.microsoft.com/office/drawing/2014/main" val="2017443693"/>
                  </a:ext>
                </a:extLst>
              </a:tr>
              <a:tr h="50420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solidFill>
                            <a:schemeClr val="bg1">
                              <a:lumMod val="50000"/>
                            </a:schemeClr>
                          </a:solidFill>
                          <a:latin typeface="JetBrains Mono Light" panose="02000009000000000000" pitchFamily="49" charset="0"/>
                          <a:cs typeface="JetBrains Mono Light" panose="02000009000000000000" pitchFamily="49" charset="0"/>
                        </a:rPr>
                        <a:t>2</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extLst>
                  <a:ext uri="{0D108BD9-81ED-4DB2-BD59-A6C34878D82A}">
                    <a16:rowId xmlns:a16="http://schemas.microsoft.com/office/drawing/2014/main" val="861742431"/>
                  </a:ext>
                </a:extLst>
              </a:tr>
              <a:tr h="50420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solidFill>
                            <a:schemeClr val="bg1">
                              <a:lumMod val="50000"/>
                            </a:schemeClr>
                          </a:solidFill>
                          <a:latin typeface="JetBrains Mono Light" panose="02000009000000000000" pitchFamily="49" charset="0"/>
                          <a:cs typeface="JetBrains Mono Light" panose="02000009000000000000" pitchFamily="49" charset="0"/>
                        </a:rPr>
                        <a:t>3</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extLst>
                  <a:ext uri="{0D108BD9-81ED-4DB2-BD59-A6C34878D82A}">
                    <a16:rowId xmlns:a16="http://schemas.microsoft.com/office/drawing/2014/main" val="538378108"/>
                  </a:ext>
                </a:extLst>
              </a:tr>
              <a:tr h="50420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dirty="0">
                          <a:solidFill>
                            <a:schemeClr val="bg1">
                              <a:lumMod val="50000"/>
                            </a:schemeClr>
                          </a:solidFill>
                          <a:latin typeface="JetBrains Mono Light" panose="02000009000000000000" pitchFamily="49" charset="0"/>
                          <a:cs typeface="JetBrains Mono Light" panose="02000009000000000000" pitchFamily="49" charset="0"/>
                        </a:rPr>
                        <a:t>4</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JetBrains Mono Light" panose="02000009000000000000" pitchFamily="49" charset="0"/>
                          <a:cs typeface="JetBrains Mono Light" panose="02000009000000000000" pitchFamily="49" charset="0"/>
                        </a:rPr>
                        <a:t>1</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tc>
                  <a:txBody>
                    <a:bodyPr/>
                    <a:lstStyle/>
                    <a:p>
                      <a:pPr algn="ctr"/>
                      <a:r>
                        <a:rPr lang="en-US" sz="2400" dirty="0">
                          <a:solidFill>
                            <a:schemeClr val="bg1"/>
                          </a:solidFill>
                          <a:latin typeface="JetBrains Mono Light" panose="02000009000000000000" pitchFamily="49" charset="0"/>
                          <a:cs typeface="JetBrains Mono Light" panose="02000009000000000000" pitchFamily="49" charset="0"/>
                        </a:rPr>
                        <a:t>0</a:t>
                      </a:r>
                    </a:p>
                  </a:txBody>
                  <a:tcPr>
                    <a:noFill/>
                  </a:tcPr>
                </a:tc>
                <a:extLst>
                  <a:ext uri="{0D108BD9-81ED-4DB2-BD59-A6C34878D82A}">
                    <a16:rowId xmlns:a16="http://schemas.microsoft.com/office/drawing/2014/main" val="1243298535"/>
                  </a:ext>
                </a:extLst>
              </a:tr>
            </a:tbl>
          </a:graphicData>
        </a:graphic>
      </p:graphicFrame>
      <p:sp>
        <p:nvSpPr>
          <p:cNvPr id="42" name="TextBox 31">
            <a:extLst>
              <a:ext uri="{FF2B5EF4-FFF2-40B4-BE49-F238E27FC236}">
                <a16:creationId xmlns:a16="http://schemas.microsoft.com/office/drawing/2014/main" id="{3D42866F-5A9B-484B-9318-BFC3B27AD6F7}"/>
              </a:ext>
            </a:extLst>
          </p:cNvPr>
          <p:cNvSpPr txBox="1"/>
          <p:nvPr/>
        </p:nvSpPr>
        <p:spPr>
          <a:xfrm>
            <a:off x="925965" y="2850610"/>
            <a:ext cx="1311071" cy="369332"/>
          </a:xfrm>
          <a:prstGeom prst="rect">
            <a:avLst/>
          </a:prstGeom>
          <a:solidFill>
            <a:schemeClr val="bg1"/>
          </a:solid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Có</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hướng</a:t>
            </a:r>
            <a:endParaRPr lang="en-US" dirty="0">
              <a:latin typeface="JetBrains Mono Regular" panose="02000009000000000000" pitchFamily="49" charset="0"/>
              <a:cs typeface="JetBrains Mono Regular" panose="02000009000000000000" pitchFamily="49" charset="0"/>
            </a:endParaRPr>
          </a:p>
        </p:txBody>
      </p:sp>
      <p:sp>
        <p:nvSpPr>
          <p:cNvPr id="1031" name="Rectangle 1030">
            <a:extLst>
              <a:ext uri="{FF2B5EF4-FFF2-40B4-BE49-F238E27FC236}">
                <a16:creationId xmlns:a16="http://schemas.microsoft.com/office/drawing/2014/main" id="{C4C95487-2756-47E7-9AAD-739A7C246E6D}"/>
              </a:ext>
            </a:extLst>
          </p:cNvPr>
          <p:cNvSpPr/>
          <p:nvPr/>
        </p:nvSpPr>
        <p:spPr>
          <a:xfrm>
            <a:off x="971567" y="1950495"/>
            <a:ext cx="8102096" cy="377896"/>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C23F2A78-0D77-47AE-82A1-9D12A73C9F3E}"/>
              </a:ext>
            </a:extLst>
          </p:cNvPr>
          <p:cNvSpPr txBox="1"/>
          <p:nvPr/>
        </p:nvSpPr>
        <p:spPr>
          <a:xfrm>
            <a:off x="971567" y="1970838"/>
            <a:ext cx="8102096" cy="369332"/>
          </a:xfrm>
          <a:prstGeom prst="rect">
            <a:avLst/>
          </a:prstGeom>
          <a:noFill/>
          <a:ln w="6350">
            <a:noFill/>
          </a:ln>
        </p:spPr>
        <p:txBody>
          <a:bodyPr wrap="square" rtlCol="0">
            <a:spAutoFit/>
          </a:bodyPr>
          <a:lstStyle/>
          <a:p>
            <a:r>
              <a:rPr lang="en-US" dirty="0" err="1">
                <a:solidFill>
                  <a:schemeClr val="bg1"/>
                </a:solidFill>
                <a:latin typeface="JetBrains Mono Light" panose="02000009000000000000" pitchFamily="49" charset="0"/>
                <a:cs typeface="JetBrains Mono Light" panose="02000009000000000000" pitchFamily="49" charset="0"/>
              </a:rPr>
              <a:t>Thuận</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lợi</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cho</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việc</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tìm</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các</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đồ</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thị</a:t>
            </a:r>
            <a:r>
              <a:rPr lang="en-US" dirty="0">
                <a:solidFill>
                  <a:schemeClr val="bg1"/>
                </a:solidFill>
                <a:latin typeface="JetBrains Mono Light" panose="02000009000000000000" pitchFamily="49" charset="0"/>
                <a:cs typeface="JetBrains Mono Light" panose="02000009000000000000" pitchFamily="49" charset="0"/>
              </a:rPr>
              <a:t> con </a:t>
            </a:r>
            <a:r>
              <a:rPr lang="en-US" dirty="0" err="1">
                <a:solidFill>
                  <a:schemeClr val="bg1"/>
                </a:solidFill>
                <a:latin typeface="JetBrains Mono Light" panose="02000009000000000000" pitchFamily="49" charset="0"/>
                <a:cs typeface="JetBrains Mono Light" panose="02000009000000000000" pitchFamily="49" charset="0"/>
              </a:rPr>
              <a:t>hoặc</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đảo</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các</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đồ</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thị</a:t>
            </a:r>
            <a:r>
              <a:rPr lang="en-US" dirty="0">
                <a:solidFill>
                  <a:schemeClr val="bg1"/>
                </a:solidFill>
                <a:latin typeface="JetBrains Mono Light" panose="02000009000000000000" pitchFamily="49" charset="0"/>
                <a:cs typeface="JetBrains Mono Light" panose="02000009000000000000" pitchFamily="49" charset="0"/>
              </a:rPr>
              <a:t>.</a:t>
            </a:r>
            <a:endParaRPr lang="en-US" dirty="0"/>
          </a:p>
        </p:txBody>
      </p:sp>
      <p:cxnSp>
        <p:nvCxnSpPr>
          <p:cNvPr id="44" name="Straight Connector 43">
            <a:extLst>
              <a:ext uri="{FF2B5EF4-FFF2-40B4-BE49-F238E27FC236}">
                <a16:creationId xmlns:a16="http://schemas.microsoft.com/office/drawing/2014/main" id="{7D9B18E6-029E-4F70-ABE0-B677806BE78E}"/>
              </a:ext>
            </a:extLst>
          </p:cNvPr>
          <p:cNvCxnSpPr>
            <a:cxnSpLocks/>
            <a:stCxn id="41" idx="2"/>
            <a:endCxn id="49" idx="6"/>
          </p:cNvCxnSpPr>
          <p:nvPr/>
        </p:nvCxnSpPr>
        <p:spPr>
          <a:xfrm flipH="1">
            <a:off x="1786399" y="3793984"/>
            <a:ext cx="1450422" cy="241197"/>
          </a:xfrm>
          <a:prstGeom prst="line">
            <a:avLst/>
          </a:prstGeom>
          <a:ln w="57150">
            <a:solidFill>
              <a:schemeClr val="bg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E78D632-D29F-4F7B-A9DE-9CAB58D26FE5}"/>
              </a:ext>
            </a:extLst>
          </p:cNvPr>
          <p:cNvCxnSpPr>
            <a:cxnSpLocks/>
            <a:stCxn id="41" idx="3"/>
            <a:endCxn id="50" idx="7"/>
          </p:cNvCxnSpPr>
          <p:nvPr/>
        </p:nvCxnSpPr>
        <p:spPr>
          <a:xfrm flipH="1">
            <a:off x="2645843" y="4137996"/>
            <a:ext cx="728458" cy="1017705"/>
          </a:xfrm>
          <a:prstGeom prst="line">
            <a:avLst/>
          </a:prstGeom>
          <a:ln w="57150">
            <a:solidFill>
              <a:schemeClr val="bg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3B701AB-566C-420D-9894-895E91FF7667}"/>
              </a:ext>
            </a:extLst>
          </p:cNvPr>
          <p:cNvCxnSpPr>
            <a:cxnSpLocks/>
            <a:stCxn id="50" idx="1"/>
            <a:endCxn id="49" idx="5"/>
          </p:cNvCxnSpPr>
          <p:nvPr/>
        </p:nvCxnSpPr>
        <p:spPr>
          <a:xfrm flipH="1" flipV="1">
            <a:off x="1648919" y="4379193"/>
            <a:ext cx="333112" cy="776508"/>
          </a:xfrm>
          <a:prstGeom prst="line">
            <a:avLst/>
          </a:prstGeom>
          <a:ln w="57150">
            <a:solidFill>
              <a:schemeClr val="bg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29" name="Straight Connector 1028">
            <a:extLst>
              <a:ext uri="{FF2B5EF4-FFF2-40B4-BE49-F238E27FC236}">
                <a16:creationId xmlns:a16="http://schemas.microsoft.com/office/drawing/2014/main" id="{19ADF768-0C49-415A-B195-F0CA3F0F80E1}"/>
              </a:ext>
            </a:extLst>
          </p:cNvPr>
          <p:cNvCxnSpPr>
            <a:cxnSpLocks/>
            <a:stCxn id="41" idx="5"/>
          </p:cNvCxnSpPr>
          <p:nvPr/>
        </p:nvCxnSpPr>
        <p:spPr>
          <a:xfrm>
            <a:off x="4038113" y="4137996"/>
            <a:ext cx="381487" cy="875210"/>
          </a:xfrm>
          <a:prstGeom prst="line">
            <a:avLst/>
          </a:prstGeom>
          <a:ln w="57150">
            <a:solidFill>
              <a:schemeClr val="bg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9396B186-511E-4B22-83E2-22A2C889D433}"/>
              </a:ext>
            </a:extLst>
          </p:cNvPr>
          <p:cNvSpPr/>
          <p:nvPr/>
        </p:nvSpPr>
        <p:spPr>
          <a:xfrm>
            <a:off x="3236821" y="3307476"/>
            <a:ext cx="938772" cy="97301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500" dirty="0">
                <a:solidFill>
                  <a:schemeClr val="tx1"/>
                </a:solidFill>
                <a:latin typeface="JetBrains Mono Light" panose="02000009000000000000" pitchFamily="49" charset="0"/>
                <a:cs typeface="JetBrains Mono Light" panose="02000009000000000000" pitchFamily="49" charset="0"/>
              </a:rPr>
              <a:t>1</a:t>
            </a:r>
          </a:p>
        </p:txBody>
      </p:sp>
      <p:sp>
        <p:nvSpPr>
          <p:cNvPr id="49" name="Oval 48">
            <a:extLst>
              <a:ext uri="{FF2B5EF4-FFF2-40B4-BE49-F238E27FC236}">
                <a16:creationId xmlns:a16="http://schemas.microsoft.com/office/drawing/2014/main" id="{965E448F-3840-4589-B282-19165229E005}"/>
              </a:ext>
            </a:extLst>
          </p:cNvPr>
          <p:cNvSpPr/>
          <p:nvPr/>
        </p:nvSpPr>
        <p:spPr>
          <a:xfrm>
            <a:off x="847627" y="3548673"/>
            <a:ext cx="938772" cy="97301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500" dirty="0">
                <a:solidFill>
                  <a:schemeClr val="tx1"/>
                </a:solidFill>
                <a:latin typeface="JetBrains Mono Light" panose="02000009000000000000" pitchFamily="49" charset="0"/>
                <a:cs typeface="JetBrains Mono Light" panose="02000009000000000000" pitchFamily="49" charset="0"/>
              </a:rPr>
              <a:t>3</a:t>
            </a:r>
          </a:p>
        </p:txBody>
      </p:sp>
      <p:sp>
        <p:nvSpPr>
          <p:cNvPr id="50" name="Oval 49">
            <a:extLst>
              <a:ext uri="{FF2B5EF4-FFF2-40B4-BE49-F238E27FC236}">
                <a16:creationId xmlns:a16="http://schemas.microsoft.com/office/drawing/2014/main" id="{E410087C-B671-4EBB-9B60-72A77DAB37FF}"/>
              </a:ext>
            </a:extLst>
          </p:cNvPr>
          <p:cNvSpPr/>
          <p:nvPr/>
        </p:nvSpPr>
        <p:spPr>
          <a:xfrm>
            <a:off x="1844551" y="5013206"/>
            <a:ext cx="938772" cy="97301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500" dirty="0">
                <a:solidFill>
                  <a:schemeClr val="tx1"/>
                </a:solidFill>
                <a:latin typeface="JetBrains Mono Light" panose="02000009000000000000" pitchFamily="49" charset="0"/>
                <a:cs typeface="JetBrains Mono Light" panose="02000009000000000000" pitchFamily="49" charset="0"/>
              </a:rPr>
              <a:t>2</a:t>
            </a:r>
          </a:p>
        </p:txBody>
      </p:sp>
      <p:sp>
        <p:nvSpPr>
          <p:cNvPr id="51" name="Oval 50">
            <a:extLst>
              <a:ext uri="{FF2B5EF4-FFF2-40B4-BE49-F238E27FC236}">
                <a16:creationId xmlns:a16="http://schemas.microsoft.com/office/drawing/2014/main" id="{0A3551AB-8BB2-49BF-8EF6-E2CB465F1F23}"/>
              </a:ext>
            </a:extLst>
          </p:cNvPr>
          <p:cNvSpPr/>
          <p:nvPr/>
        </p:nvSpPr>
        <p:spPr>
          <a:xfrm>
            <a:off x="4115743" y="4981517"/>
            <a:ext cx="938772" cy="97301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500" dirty="0">
                <a:solidFill>
                  <a:schemeClr val="tx1"/>
                </a:solidFill>
                <a:latin typeface="JetBrains Mono Light" panose="02000009000000000000" pitchFamily="49" charset="0"/>
                <a:cs typeface="JetBrains Mono Light" panose="02000009000000000000" pitchFamily="49" charset="0"/>
              </a:rPr>
              <a:t>4</a:t>
            </a:r>
          </a:p>
        </p:txBody>
      </p:sp>
    </p:spTree>
    <p:extLst>
      <p:ext uri="{BB962C8B-B14F-4D97-AF65-F5344CB8AC3E}">
        <p14:creationId xmlns:p14="http://schemas.microsoft.com/office/powerpoint/2010/main" val="28647213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ADCB1D2-71BF-4442-85AC-20706F44BBA0}"/>
              </a:ext>
            </a:extLst>
          </p:cNvPr>
          <p:cNvSpPr/>
          <p:nvPr/>
        </p:nvSpPr>
        <p:spPr>
          <a:xfrm>
            <a:off x="0" y="-2556"/>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16" name="Credit MAIN">
            <a:extLst>
              <a:ext uri="{FF2B5EF4-FFF2-40B4-BE49-F238E27FC236}">
                <a16:creationId xmlns:a16="http://schemas.microsoft.com/office/drawing/2014/main" id="{2518DECB-C7B9-41A5-9FB6-89C9AA3086AA}"/>
              </a:ext>
            </a:extLst>
          </p:cNvPr>
          <p:cNvSpPr txBox="1"/>
          <p:nvPr/>
        </p:nvSpPr>
        <p:spPr>
          <a:xfrm>
            <a:off x="50878" y="6420549"/>
            <a:ext cx="2235122"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Vũ</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Thùy</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Dương</a:t>
            </a:r>
            <a:endParaRPr lang="en-US" dirty="0">
              <a:solidFill>
                <a:schemeClr val="bg1">
                  <a:lumMod val="95000"/>
                  <a:alpha val="46000"/>
                </a:schemeClr>
              </a:solidFill>
            </a:endParaRPr>
          </a:p>
        </p:txBody>
      </p:sp>
      <p:sp>
        <p:nvSpPr>
          <p:cNvPr id="11" name="Header">
            <a:extLst>
              <a:ext uri="{FF2B5EF4-FFF2-40B4-BE49-F238E27FC236}">
                <a16:creationId xmlns:a16="http://schemas.microsoft.com/office/drawing/2014/main" id="{6A39F230-06D2-4140-8DA2-357C0B9B6D12}"/>
              </a:ext>
            </a:extLst>
          </p:cNvPr>
          <p:cNvSpPr txBox="1"/>
          <p:nvPr/>
        </p:nvSpPr>
        <p:spPr>
          <a:xfrm>
            <a:off x="50878" y="68119"/>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7" name="Footer: Part">
            <a:extLst>
              <a:ext uri="{FF2B5EF4-FFF2-40B4-BE49-F238E27FC236}">
                <a16:creationId xmlns:a16="http://schemas.microsoft.com/office/drawing/2014/main" id="{553347E6-1341-4BA1-A396-FC4741F3FAF1}"/>
              </a:ext>
            </a:extLst>
          </p:cNvPr>
          <p:cNvSpPr txBox="1"/>
          <p:nvPr/>
        </p:nvSpPr>
        <p:spPr>
          <a:xfrm>
            <a:off x="10959883" y="6413178"/>
            <a:ext cx="1160019" cy="369332"/>
          </a:xfrm>
          <a:prstGeom prst="rect">
            <a:avLst/>
          </a:prstGeom>
          <a:noFill/>
        </p:spPr>
        <p:txBody>
          <a:bodyPr wrap="square" rtlCol="0">
            <a:spAutoFit/>
          </a:bodyPr>
          <a:lstStyle/>
          <a:p>
            <a:pPr algn="r"/>
            <a:r>
              <a:rPr lang="en-US" dirty="0">
                <a:solidFill>
                  <a:schemeClr val="bg1">
                    <a:lumMod val="95000"/>
                  </a:schemeClr>
                </a:solidFill>
                <a:latin typeface="JetBrains Mono Regular" panose="02000009000000000000" pitchFamily="49" charset="0"/>
                <a:cs typeface="JetBrains Mono Regular" panose="02000009000000000000" pitchFamily="49" charset="0"/>
              </a:rPr>
              <a:t>Ma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trận</a:t>
            </a:r>
            <a:endParaRPr lang="en-US" dirty="0">
              <a:solidFill>
                <a:schemeClr val="bg1">
                  <a:lumMod val="95000"/>
                </a:schemeClr>
              </a:solidFill>
              <a:latin typeface="JetBrains Mono Regular" panose="02000009000000000000" pitchFamily="49" charset="0"/>
              <a:cs typeface="JetBrains Mono Regular" panose="02000009000000000000" pitchFamily="49" charset="0"/>
            </a:endParaRPr>
          </a:p>
        </p:txBody>
      </p:sp>
      <p:sp>
        <p:nvSpPr>
          <p:cNvPr id="19" name="Footer: Title">
            <a:extLst>
              <a:ext uri="{FF2B5EF4-FFF2-40B4-BE49-F238E27FC236}">
                <a16:creationId xmlns:a16="http://schemas.microsoft.com/office/drawing/2014/main" id="{FD144244-98B6-4C54-A114-16CD65E0D522}"/>
              </a:ext>
            </a:extLst>
          </p:cNvPr>
          <p:cNvSpPr txBox="1"/>
          <p:nvPr/>
        </p:nvSpPr>
        <p:spPr>
          <a:xfrm>
            <a:off x="9906025" y="6414047"/>
            <a:ext cx="1160019"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Light" panose="02000009000000000000" pitchFamily="49" charset="0"/>
                <a:cs typeface="JetBrains Mono Light" panose="02000009000000000000" pitchFamily="49" charset="0"/>
              </a:rPr>
              <a:t>:</a:t>
            </a:r>
          </a:p>
        </p:txBody>
      </p:sp>
      <p:sp>
        <p:nvSpPr>
          <p:cNvPr id="25" name="PAGE NUM 0">
            <a:extLst>
              <a:ext uri="{FF2B5EF4-FFF2-40B4-BE49-F238E27FC236}">
                <a16:creationId xmlns:a16="http://schemas.microsoft.com/office/drawing/2014/main" id="{CA8E8643-0820-44FC-9D06-02F2A0A63536}"/>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1</a:t>
            </a:r>
          </a:p>
        </p:txBody>
      </p:sp>
      <p:sp>
        <p:nvSpPr>
          <p:cNvPr id="26" name="PAGE NUM 1">
            <a:extLst>
              <a:ext uri="{FF2B5EF4-FFF2-40B4-BE49-F238E27FC236}">
                <a16:creationId xmlns:a16="http://schemas.microsoft.com/office/drawing/2014/main" id="{6BF8CF33-13C7-458E-A4F5-0A19700195D0}"/>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2</a:t>
            </a:r>
            <a:endParaRPr lang="en-US" dirty="0"/>
          </a:p>
        </p:txBody>
      </p:sp>
      <p:sp>
        <p:nvSpPr>
          <p:cNvPr id="4" name="Rectangle 3">
            <a:extLst>
              <a:ext uri="{FF2B5EF4-FFF2-40B4-BE49-F238E27FC236}">
                <a16:creationId xmlns:a16="http://schemas.microsoft.com/office/drawing/2014/main" id="{CB38D6F8-B45F-44CF-A0B3-4EECDAC74C1C}"/>
              </a:ext>
            </a:extLst>
          </p:cNvPr>
          <p:cNvSpPr/>
          <p:nvPr/>
        </p:nvSpPr>
        <p:spPr>
          <a:xfrm>
            <a:off x="591459" y="591772"/>
            <a:ext cx="1577862"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3252814-A59F-4DD2-85FD-AF3B5B3FB847}"/>
              </a:ext>
            </a:extLst>
          </p:cNvPr>
          <p:cNvSpPr txBox="1"/>
          <p:nvPr/>
        </p:nvSpPr>
        <p:spPr>
          <a:xfrm>
            <a:off x="603364" y="591246"/>
            <a:ext cx="1577862" cy="369332"/>
          </a:xfrm>
          <a:prstGeom prst="rect">
            <a:avLst/>
          </a:prstGeom>
          <a:noFill/>
        </p:spPr>
        <p:txBody>
          <a:bodyPr wrap="square" rtlCol="0">
            <a:spAutoFit/>
          </a:bodyPr>
          <a:lstStyle/>
          <a:p>
            <a:r>
              <a:rPr lang="en-US" dirty="0">
                <a:latin typeface="JetBrains Mono" panose="02000009000000000000" pitchFamily="49" charset="0"/>
                <a:cs typeface="JetBrains Mono" panose="02000009000000000000" pitchFamily="49" charset="0"/>
              </a:rPr>
              <a:t>Ma </a:t>
            </a:r>
            <a:r>
              <a:rPr lang="en-US" dirty="0" err="1">
                <a:latin typeface="JetBrains Mono" panose="02000009000000000000" pitchFamily="49" charset="0"/>
                <a:cs typeface="JetBrains Mono" panose="02000009000000000000" pitchFamily="49" charset="0"/>
              </a:rPr>
              <a:t>trận</a:t>
            </a:r>
            <a:r>
              <a:rPr lang="en-US" dirty="0">
                <a:latin typeface="JetBrains Mono" panose="02000009000000000000" pitchFamily="49" charset="0"/>
                <a:cs typeface="JetBrains Mono" panose="02000009000000000000" pitchFamily="49" charset="0"/>
              </a:rPr>
              <a:t> </a:t>
            </a:r>
            <a:r>
              <a:rPr lang="en-US" dirty="0" err="1">
                <a:latin typeface="JetBrains Mono Regular" panose="02000009000000000000" pitchFamily="49" charset="0"/>
                <a:cs typeface="JetBrains Mono Regular" panose="02000009000000000000" pitchFamily="49" charset="0"/>
              </a:rPr>
              <a:t>kề</a:t>
            </a:r>
            <a:endParaRPr lang="en-US" dirty="0">
              <a:latin typeface="JetBrains Mono Regular" panose="02000009000000000000" pitchFamily="49" charset="0"/>
              <a:cs typeface="JetBrains Mono Regular" panose="02000009000000000000" pitchFamily="49" charset="0"/>
            </a:endParaRPr>
          </a:p>
        </p:txBody>
      </p:sp>
      <p:sp>
        <p:nvSpPr>
          <p:cNvPr id="3" name="TextBox 2">
            <a:extLst>
              <a:ext uri="{FF2B5EF4-FFF2-40B4-BE49-F238E27FC236}">
                <a16:creationId xmlns:a16="http://schemas.microsoft.com/office/drawing/2014/main" id="{0DCF76D3-76B8-418E-89D0-5A5DE06812BC}"/>
              </a:ext>
            </a:extLst>
          </p:cNvPr>
          <p:cNvSpPr txBox="1"/>
          <p:nvPr/>
        </p:nvSpPr>
        <p:spPr>
          <a:xfrm>
            <a:off x="603363" y="591527"/>
            <a:ext cx="1149238" cy="369332"/>
          </a:xfrm>
          <a:prstGeom prst="rect">
            <a:avLst/>
          </a:prstGeom>
          <a:solidFill>
            <a:schemeClr val="bg1"/>
          </a:solidFill>
        </p:spPr>
        <p:txBody>
          <a:bodyPr wrap="square" rtlCol="0">
            <a:spAutoFit/>
          </a:bodyPr>
          <a:lstStyle/>
          <a:p>
            <a:r>
              <a:rPr lang="en-US" dirty="0">
                <a:latin typeface="JetBrains Mono Regular" panose="02000009000000000000" pitchFamily="49" charset="0"/>
                <a:cs typeface="JetBrains Mono Regular" panose="02000009000000000000" pitchFamily="49" charset="0"/>
              </a:rPr>
              <a:t>Ma </a:t>
            </a:r>
            <a:r>
              <a:rPr lang="en-US" dirty="0" err="1">
                <a:latin typeface="JetBrains Mono Regular" panose="02000009000000000000" pitchFamily="49" charset="0"/>
                <a:cs typeface="JetBrains Mono Regular" panose="02000009000000000000" pitchFamily="49" charset="0"/>
              </a:rPr>
              <a:t>trận</a:t>
            </a:r>
            <a:endParaRPr lang="en-US" dirty="0">
              <a:latin typeface="JetBrains Mono Regular" panose="02000009000000000000" pitchFamily="49" charset="0"/>
              <a:cs typeface="JetBrains Mono Regular" panose="02000009000000000000" pitchFamily="49" charset="0"/>
            </a:endParaRPr>
          </a:p>
        </p:txBody>
      </p:sp>
      <p:sp>
        <p:nvSpPr>
          <p:cNvPr id="31" name="Footer: Part sub">
            <a:extLst>
              <a:ext uri="{FF2B5EF4-FFF2-40B4-BE49-F238E27FC236}">
                <a16:creationId xmlns:a16="http://schemas.microsoft.com/office/drawing/2014/main" id="{A379016A-F45E-4474-87E7-A7EDDF7B735C}"/>
              </a:ext>
            </a:extLst>
          </p:cNvPr>
          <p:cNvSpPr txBox="1"/>
          <p:nvPr/>
        </p:nvSpPr>
        <p:spPr>
          <a:xfrm>
            <a:off x="12198643" y="6417028"/>
            <a:ext cx="1303020" cy="369332"/>
          </a:xfrm>
          <a:prstGeom prst="rect">
            <a:avLst/>
          </a:prstGeom>
          <a:noFill/>
        </p:spPr>
        <p:txBody>
          <a:bodyPr wrap="square" rtlCol="0">
            <a:spAutoFit/>
          </a:bodyPr>
          <a:lstStyle/>
          <a:p>
            <a:pPr algn="r"/>
            <a:r>
              <a:rPr lang="en-US" dirty="0" err="1">
                <a:solidFill>
                  <a:schemeClr val="bg1">
                    <a:lumMod val="95000"/>
                  </a:schemeClr>
                </a:solidFill>
                <a:latin typeface="JetBrains Mono Regular" panose="02000009000000000000" pitchFamily="49" charset="0"/>
                <a:cs typeface="JetBrains Mono Regular" panose="02000009000000000000" pitchFamily="49" charset="0"/>
              </a:rPr>
              <a:t>liên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hợp</a:t>
            </a:r>
            <a:endParaRPr lang="en-US" dirty="0">
              <a:solidFill>
                <a:schemeClr val="bg1">
                  <a:lumMod val="95000"/>
                </a:schemeClr>
              </a:solidFill>
              <a:latin typeface="JetBrains Mono Regular" panose="02000009000000000000" pitchFamily="49" charset="0"/>
              <a:cs typeface="JetBrains Mono Regular" panose="02000009000000000000" pitchFamily="49" charset="0"/>
            </a:endParaRPr>
          </a:p>
        </p:txBody>
      </p:sp>
      <p:sp>
        <p:nvSpPr>
          <p:cNvPr id="2" name="Rectangle 1">
            <a:extLst>
              <a:ext uri="{FF2B5EF4-FFF2-40B4-BE49-F238E27FC236}">
                <a16:creationId xmlns:a16="http://schemas.microsoft.com/office/drawing/2014/main" id="{E389A61B-0B78-4EA8-8357-D9BB0CB884F8}"/>
              </a:ext>
            </a:extLst>
          </p:cNvPr>
          <p:cNvSpPr/>
          <p:nvPr/>
        </p:nvSpPr>
        <p:spPr>
          <a:xfrm>
            <a:off x="1083315" y="1164356"/>
            <a:ext cx="1202685" cy="346752"/>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A1C6E52F-6B6A-4506-89A0-509724044EE4}"/>
              </a:ext>
            </a:extLst>
          </p:cNvPr>
          <p:cNvSpPr txBox="1"/>
          <p:nvPr/>
        </p:nvSpPr>
        <p:spPr>
          <a:xfrm>
            <a:off x="1068583" y="1158925"/>
            <a:ext cx="1217417" cy="369332"/>
          </a:xfrm>
          <a:prstGeom prst="rect">
            <a:avLst/>
          </a:prstGeom>
          <a:noFill/>
        </p:spPr>
        <p:txBody>
          <a:bodyPr wrap="square" rtlCol="0">
            <a:spAutoFit/>
          </a:bodyPr>
          <a:lstStyle/>
          <a:p>
            <a:pPr algn="ctr"/>
            <a:r>
              <a:rPr lang="en-US" dirty="0" err="1">
                <a:solidFill>
                  <a:schemeClr val="bg1"/>
                </a:solidFill>
                <a:latin typeface="JetBrains Mono Regular" panose="02000009000000000000" pitchFamily="49" charset="0"/>
                <a:cs typeface="JetBrains Mono Regular" panose="02000009000000000000" pitchFamily="49" charset="0"/>
              </a:rPr>
              <a:t>Ưu</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điểm</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28" name="TextBox 27">
            <a:extLst>
              <a:ext uri="{FF2B5EF4-FFF2-40B4-BE49-F238E27FC236}">
                <a16:creationId xmlns:a16="http://schemas.microsoft.com/office/drawing/2014/main" id="{6B96C045-17A7-46F9-8551-0A67B9C41420}"/>
              </a:ext>
            </a:extLst>
          </p:cNvPr>
          <p:cNvSpPr txBox="1"/>
          <p:nvPr/>
        </p:nvSpPr>
        <p:spPr>
          <a:xfrm>
            <a:off x="1517875" y="1614459"/>
            <a:ext cx="9954795" cy="1015663"/>
          </a:xfrm>
          <a:prstGeom prst="rect">
            <a:avLst/>
          </a:prstGeom>
          <a:noFill/>
        </p:spPr>
        <p:txBody>
          <a:bodyPr wrap="square" rtlCol="0">
            <a:spAutoFit/>
          </a:bodyPr>
          <a:lstStyle/>
          <a:p>
            <a:pPr lvl="0"/>
            <a:r>
              <a:rPr lang="vi-VN" sz="2000" dirty="0">
                <a:solidFill>
                  <a:schemeClr val="bg1"/>
                </a:solidFill>
                <a:latin typeface="JetBrains Mono Light" panose="02000009000000000000" pitchFamily="49" charset="0"/>
                <a:cs typeface="JetBrains Mono Light" panose="02000009000000000000" pitchFamily="49" charset="0"/>
              </a:rPr>
              <a:t>Các phép toán cơ bản như thêm một cạnh, xóa một cạnh và kiểm tra xem có cạnh nào từ đỉnh i đến đỉnh j hay không là các thao tác hiệu quả về mặt thời gian và thời gian là không đổi.</a:t>
            </a:r>
          </a:p>
        </p:txBody>
      </p:sp>
      <p:sp>
        <p:nvSpPr>
          <p:cNvPr id="29" name="TextBox 28">
            <a:extLst>
              <a:ext uri="{FF2B5EF4-FFF2-40B4-BE49-F238E27FC236}">
                <a16:creationId xmlns:a16="http://schemas.microsoft.com/office/drawing/2014/main" id="{17D2F82C-0523-43A5-8C0E-D218A63B9D92}"/>
              </a:ext>
            </a:extLst>
          </p:cNvPr>
          <p:cNvSpPr txBox="1"/>
          <p:nvPr/>
        </p:nvSpPr>
        <p:spPr>
          <a:xfrm>
            <a:off x="1089176" y="1832088"/>
            <a:ext cx="914400" cy="477054"/>
          </a:xfrm>
          <a:prstGeom prst="rect">
            <a:avLst/>
          </a:prstGeom>
          <a:noFill/>
        </p:spPr>
        <p:txBody>
          <a:bodyPr wrap="square" rtlCol="0">
            <a:spAutoFit/>
          </a:bodyPr>
          <a:lstStyle/>
          <a:p>
            <a:r>
              <a:rPr lang="en-US" sz="2500" dirty="0">
                <a:solidFill>
                  <a:schemeClr val="accent6">
                    <a:lumMod val="60000"/>
                    <a:lumOff val="40000"/>
                  </a:schemeClr>
                </a:solidFill>
                <a:latin typeface="JetBrains Mono Light" panose="02000009000000000000" pitchFamily="49" charset="0"/>
                <a:cs typeface="JetBrains Mono Light" panose="02000009000000000000" pitchFamily="49" charset="0"/>
              </a:rPr>
              <a:t>+</a:t>
            </a:r>
          </a:p>
        </p:txBody>
      </p:sp>
      <p:sp>
        <p:nvSpPr>
          <p:cNvPr id="30" name="TextBox 29">
            <a:extLst>
              <a:ext uri="{FF2B5EF4-FFF2-40B4-BE49-F238E27FC236}">
                <a16:creationId xmlns:a16="http://schemas.microsoft.com/office/drawing/2014/main" id="{2EF97AD2-B8F0-4BF2-9DCA-EAA98CC0C5CB}"/>
              </a:ext>
            </a:extLst>
          </p:cNvPr>
          <p:cNvSpPr txBox="1"/>
          <p:nvPr/>
        </p:nvSpPr>
        <p:spPr>
          <a:xfrm>
            <a:off x="1534652" y="2660379"/>
            <a:ext cx="9766393" cy="1015663"/>
          </a:xfrm>
          <a:prstGeom prst="rect">
            <a:avLst/>
          </a:prstGeom>
          <a:noFill/>
        </p:spPr>
        <p:txBody>
          <a:bodyPr wrap="square" rtlCol="0">
            <a:spAutoFit/>
          </a:bodyPr>
          <a:lstStyle/>
          <a:p>
            <a:pPr lvl="0"/>
            <a:r>
              <a:rPr lang="en-US" sz="2000" dirty="0" err="1">
                <a:solidFill>
                  <a:schemeClr val="bg1"/>
                </a:solidFill>
                <a:latin typeface="JetBrains Mono Light" panose="02000009000000000000" pitchFamily="49" charset="0"/>
                <a:cs typeface="JetBrains Mono Light" panose="02000009000000000000" pitchFamily="49" charset="0"/>
              </a:rPr>
              <a:t>Tối</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ưu</a:t>
            </a:r>
            <a:r>
              <a:rPr lang="vi-VN" sz="2000" dirty="0">
                <a:solidFill>
                  <a:schemeClr val="bg1"/>
                </a:solidFill>
                <a:latin typeface="JetBrains Mono Light" panose="02000009000000000000" pitchFamily="49" charset="0"/>
                <a:cs typeface="JetBrains Mono Light" panose="02000009000000000000" pitchFamily="49" charset="0"/>
              </a:rPr>
              <a:t> đồ thị dày đặc và số lượng cạnh lớn</a:t>
            </a:r>
            <a:r>
              <a:rPr lang="en-US" sz="2000" dirty="0">
                <a:solidFill>
                  <a:schemeClr val="bg1"/>
                </a:solidFill>
                <a:latin typeface="JetBrains Mono Light" panose="02000009000000000000" pitchFamily="49" charset="0"/>
                <a:cs typeface="JetBrains Mono Light" panose="02000009000000000000" pitchFamily="49" charset="0"/>
              </a:rPr>
              <a:t>.</a:t>
            </a:r>
          </a:p>
          <a:p>
            <a:pPr lvl="0"/>
            <a:r>
              <a:rPr lang="vi-VN" sz="2000" dirty="0">
                <a:solidFill>
                  <a:schemeClr val="bg1"/>
                </a:solidFill>
                <a:latin typeface="JetBrains Mono Light" panose="02000009000000000000" pitchFamily="49" charset="0"/>
                <a:cs typeface="JetBrains Mono Light" panose="02000009000000000000" pitchFamily="49" charset="0"/>
              </a:rPr>
              <a:t>Ngay cả khi đồ thị và ma trận kề là thưa, chúng ta có thể biểu diễn nó bằng cách sử dụng cấu trúc dữ liệu cho ma trận thưa.</a:t>
            </a:r>
          </a:p>
        </p:txBody>
      </p:sp>
      <p:sp>
        <p:nvSpPr>
          <p:cNvPr id="32" name="TextBox 31">
            <a:extLst>
              <a:ext uri="{FF2B5EF4-FFF2-40B4-BE49-F238E27FC236}">
                <a16:creationId xmlns:a16="http://schemas.microsoft.com/office/drawing/2014/main" id="{781FAAF9-2276-49B8-ACE1-39B85690BB51}"/>
              </a:ext>
            </a:extLst>
          </p:cNvPr>
          <p:cNvSpPr txBox="1"/>
          <p:nvPr/>
        </p:nvSpPr>
        <p:spPr>
          <a:xfrm>
            <a:off x="1089176" y="2886514"/>
            <a:ext cx="914400" cy="477054"/>
          </a:xfrm>
          <a:prstGeom prst="rect">
            <a:avLst/>
          </a:prstGeom>
          <a:noFill/>
        </p:spPr>
        <p:txBody>
          <a:bodyPr wrap="square" rtlCol="0">
            <a:spAutoFit/>
          </a:bodyPr>
          <a:lstStyle/>
          <a:p>
            <a:r>
              <a:rPr lang="en-US" sz="2500" dirty="0">
                <a:solidFill>
                  <a:schemeClr val="accent6">
                    <a:lumMod val="60000"/>
                    <a:lumOff val="40000"/>
                  </a:schemeClr>
                </a:solidFill>
                <a:latin typeface="JetBrains Mono Light" panose="02000009000000000000" pitchFamily="49" charset="0"/>
                <a:cs typeface="JetBrains Mono Light" panose="02000009000000000000" pitchFamily="49" charset="0"/>
              </a:rPr>
              <a:t>+</a:t>
            </a:r>
          </a:p>
        </p:txBody>
      </p:sp>
      <p:sp>
        <p:nvSpPr>
          <p:cNvPr id="38" name="TextBox 37">
            <a:extLst>
              <a:ext uri="{FF2B5EF4-FFF2-40B4-BE49-F238E27FC236}">
                <a16:creationId xmlns:a16="http://schemas.microsoft.com/office/drawing/2014/main" id="{06D81EE5-A977-44D8-A5B2-C3B9E847B569}"/>
              </a:ext>
            </a:extLst>
          </p:cNvPr>
          <p:cNvSpPr txBox="1"/>
          <p:nvPr/>
        </p:nvSpPr>
        <p:spPr>
          <a:xfrm>
            <a:off x="1546376" y="3703816"/>
            <a:ext cx="9766393" cy="1015663"/>
          </a:xfrm>
          <a:prstGeom prst="rect">
            <a:avLst/>
          </a:prstGeom>
          <a:noFill/>
        </p:spPr>
        <p:txBody>
          <a:bodyPr wrap="square" rtlCol="0">
            <a:spAutoFit/>
          </a:bodyPr>
          <a:lstStyle/>
          <a:p>
            <a:pPr lvl="0"/>
            <a:r>
              <a:rPr lang="en-US" sz="2000" dirty="0" err="1">
                <a:solidFill>
                  <a:schemeClr val="bg1"/>
                </a:solidFill>
                <a:latin typeface="JetBrains Mono Light" panose="02000009000000000000" pitchFamily="49" charset="0"/>
                <a:cs typeface="JetBrains Mono Light" panose="02000009000000000000" pitchFamily="49" charset="0"/>
              </a:rPr>
              <a:t>Sử</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dụng</a:t>
            </a:r>
            <a:r>
              <a:rPr lang="en-US" sz="2000" dirty="0">
                <a:solidFill>
                  <a:schemeClr val="bg1"/>
                </a:solidFill>
                <a:latin typeface="JetBrains Mono Light" panose="02000009000000000000" pitchFamily="49" charset="0"/>
                <a:cs typeface="JetBrains Mono Light" panose="02000009000000000000" pitchFamily="49" charset="0"/>
              </a:rPr>
              <a:t> ma </a:t>
            </a:r>
            <a:r>
              <a:rPr lang="en-US" sz="2000" dirty="0" err="1">
                <a:solidFill>
                  <a:schemeClr val="bg1"/>
                </a:solidFill>
                <a:latin typeface="JetBrains Mono Light" panose="02000009000000000000" pitchFamily="49" charset="0"/>
                <a:cs typeface="JetBrains Mono Light" panose="02000009000000000000" pitchFamily="49" charset="0"/>
              </a:rPr>
              <a:t>trận</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Những</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tiến</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bộ</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gần</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đây</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trong</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phần</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cứng</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cho</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phép</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chúng</a:t>
            </a:r>
            <a:r>
              <a:rPr lang="en-US" sz="2000" dirty="0">
                <a:solidFill>
                  <a:schemeClr val="bg1"/>
                </a:solidFill>
                <a:latin typeface="JetBrains Mono Light" panose="02000009000000000000" pitchFamily="49" charset="0"/>
                <a:cs typeface="JetBrains Mono Light" panose="02000009000000000000" pitchFamily="49" charset="0"/>
              </a:rPr>
              <a:t> ta </a:t>
            </a:r>
            <a:r>
              <a:rPr lang="en-US" sz="2000" dirty="0" err="1">
                <a:solidFill>
                  <a:schemeClr val="bg1"/>
                </a:solidFill>
                <a:latin typeface="JetBrains Mono Light" panose="02000009000000000000" pitchFamily="49" charset="0"/>
                <a:cs typeface="JetBrains Mono Light" panose="02000009000000000000" pitchFamily="49" charset="0"/>
              </a:rPr>
              <a:t>thực</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hiện</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các</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phép</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toán</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với</a:t>
            </a:r>
            <a:r>
              <a:rPr lang="en-US" sz="2000" dirty="0">
                <a:solidFill>
                  <a:schemeClr val="bg1"/>
                </a:solidFill>
                <a:latin typeface="JetBrains Mono Light" panose="02000009000000000000" pitchFamily="49" charset="0"/>
                <a:cs typeface="JetBrains Mono Light" panose="02000009000000000000" pitchFamily="49" charset="0"/>
              </a:rPr>
              <a:t> ma </a:t>
            </a:r>
            <a:r>
              <a:rPr lang="en-US" sz="2000" dirty="0" err="1">
                <a:solidFill>
                  <a:schemeClr val="bg1"/>
                </a:solidFill>
                <a:latin typeface="JetBrains Mono Light" panose="02000009000000000000" pitchFamily="49" charset="0"/>
                <a:cs typeface="JetBrains Mono Light" panose="02000009000000000000" pitchFamily="49" charset="0"/>
              </a:rPr>
              <a:t>trận</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lớn</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trên</a:t>
            </a:r>
            <a:r>
              <a:rPr lang="en-US" sz="2000" dirty="0">
                <a:solidFill>
                  <a:schemeClr val="bg1"/>
                </a:solidFill>
                <a:latin typeface="JetBrains Mono Light" panose="02000009000000000000" pitchFamily="49" charset="0"/>
                <a:cs typeface="JetBrains Mono Light" panose="02000009000000000000" pitchFamily="49" charset="0"/>
              </a:rPr>
              <a:t> GPU.</a:t>
            </a:r>
          </a:p>
        </p:txBody>
      </p:sp>
      <p:sp>
        <p:nvSpPr>
          <p:cNvPr id="40" name="TextBox 39">
            <a:extLst>
              <a:ext uri="{FF2B5EF4-FFF2-40B4-BE49-F238E27FC236}">
                <a16:creationId xmlns:a16="http://schemas.microsoft.com/office/drawing/2014/main" id="{9E4AB707-5142-4AAD-9425-5E3D9931E8E6}"/>
              </a:ext>
            </a:extLst>
          </p:cNvPr>
          <p:cNvSpPr txBox="1"/>
          <p:nvPr/>
        </p:nvSpPr>
        <p:spPr>
          <a:xfrm>
            <a:off x="1089176" y="3894048"/>
            <a:ext cx="914400" cy="477054"/>
          </a:xfrm>
          <a:prstGeom prst="rect">
            <a:avLst/>
          </a:prstGeom>
          <a:noFill/>
        </p:spPr>
        <p:txBody>
          <a:bodyPr wrap="square" rtlCol="0">
            <a:spAutoFit/>
          </a:bodyPr>
          <a:lstStyle/>
          <a:p>
            <a:r>
              <a:rPr lang="en-US" sz="2500" dirty="0">
                <a:solidFill>
                  <a:schemeClr val="accent6">
                    <a:lumMod val="60000"/>
                    <a:lumOff val="40000"/>
                  </a:schemeClr>
                </a:solidFill>
                <a:latin typeface="JetBrains Mono Light" panose="02000009000000000000" pitchFamily="49" charset="0"/>
                <a:cs typeface="JetBrains Mono Light" panose="02000009000000000000" pitchFamily="49" charset="0"/>
              </a:rPr>
              <a:t>+</a:t>
            </a:r>
          </a:p>
        </p:txBody>
      </p:sp>
      <p:sp>
        <p:nvSpPr>
          <p:cNvPr id="43" name="TextBox 42">
            <a:extLst>
              <a:ext uri="{FF2B5EF4-FFF2-40B4-BE49-F238E27FC236}">
                <a16:creationId xmlns:a16="http://schemas.microsoft.com/office/drawing/2014/main" id="{BF9838FC-7911-4744-892B-B219C49C71EC}"/>
              </a:ext>
            </a:extLst>
          </p:cNvPr>
          <p:cNvSpPr txBox="1"/>
          <p:nvPr/>
        </p:nvSpPr>
        <p:spPr>
          <a:xfrm>
            <a:off x="1546376" y="4779689"/>
            <a:ext cx="9766393" cy="1015663"/>
          </a:xfrm>
          <a:prstGeom prst="rect">
            <a:avLst/>
          </a:prstGeom>
          <a:noFill/>
        </p:spPr>
        <p:txBody>
          <a:bodyPr wrap="square" rtlCol="0">
            <a:spAutoFit/>
          </a:bodyPr>
          <a:lstStyle/>
          <a:p>
            <a:pPr lvl="0"/>
            <a:r>
              <a:rPr lang="en-US" sz="2000" dirty="0" err="1">
                <a:solidFill>
                  <a:schemeClr val="bg1"/>
                </a:solidFill>
                <a:latin typeface="JetBrains Mono Light" panose="02000009000000000000" pitchFamily="49" charset="0"/>
                <a:cs typeface="JetBrains Mono Light" panose="02000009000000000000" pitchFamily="49" charset="0"/>
              </a:rPr>
              <a:t>Bằng</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cách</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thực</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hiện</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các</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thao</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tác</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trên</a:t>
            </a:r>
            <a:r>
              <a:rPr lang="en-US" sz="2000" dirty="0">
                <a:solidFill>
                  <a:schemeClr val="bg1"/>
                </a:solidFill>
                <a:latin typeface="JetBrains Mono Light" panose="02000009000000000000" pitchFamily="49" charset="0"/>
                <a:cs typeface="JetBrains Mono Light" panose="02000009000000000000" pitchFamily="49" charset="0"/>
              </a:rPr>
              <a:t> ma </a:t>
            </a:r>
            <a:r>
              <a:rPr lang="en-US" sz="2000" dirty="0" err="1">
                <a:solidFill>
                  <a:schemeClr val="bg1"/>
                </a:solidFill>
                <a:latin typeface="JetBrains Mono Light" panose="02000009000000000000" pitchFamily="49" charset="0"/>
                <a:cs typeface="JetBrains Mono Light" panose="02000009000000000000" pitchFamily="49" charset="0"/>
              </a:rPr>
              <a:t>trận</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kề</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chúng</a:t>
            </a:r>
            <a:r>
              <a:rPr lang="en-US" sz="2000" dirty="0">
                <a:solidFill>
                  <a:schemeClr val="bg1"/>
                </a:solidFill>
                <a:latin typeface="JetBrains Mono Light" panose="02000009000000000000" pitchFamily="49" charset="0"/>
                <a:cs typeface="JetBrains Mono Light" panose="02000009000000000000" pitchFamily="49" charset="0"/>
              </a:rPr>
              <a:t> ta </a:t>
            </a:r>
            <a:r>
              <a:rPr lang="en-US" sz="2000" dirty="0" err="1">
                <a:solidFill>
                  <a:schemeClr val="bg1"/>
                </a:solidFill>
                <a:latin typeface="JetBrains Mono Light" panose="02000009000000000000" pitchFamily="49" charset="0"/>
                <a:cs typeface="JetBrains Mono Light" panose="02000009000000000000" pitchFamily="49" charset="0"/>
              </a:rPr>
              <a:t>có</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thể</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có</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được</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những</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hiểu</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biết</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quan</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trọng</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về</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bản</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chất</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của</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đồ</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thị</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và</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mối</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quan</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hệ</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giữa</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các</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đỉnh</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của</a:t>
            </a:r>
            <a:r>
              <a:rPr lang="en-US" sz="2000" dirty="0">
                <a:solidFill>
                  <a:schemeClr val="bg1"/>
                </a:solidFill>
                <a:latin typeface="JetBrains Mono Light" panose="02000009000000000000" pitchFamily="49" charset="0"/>
                <a:cs typeface="JetBrains Mono Light" panose="02000009000000000000" pitchFamily="49" charset="0"/>
              </a:rPr>
              <a:t> </a:t>
            </a:r>
            <a:r>
              <a:rPr lang="en-US" sz="2000" dirty="0" err="1">
                <a:solidFill>
                  <a:schemeClr val="bg1"/>
                </a:solidFill>
                <a:latin typeface="JetBrains Mono Light" panose="02000009000000000000" pitchFamily="49" charset="0"/>
                <a:cs typeface="JetBrains Mono Light" panose="02000009000000000000" pitchFamily="49" charset="0"/>
              </a:rPr>
              <a:t>nó</a:t>
            </a:r>
            <a:r>
              <a:rPr lang="en-US" sz="2000" dirty="0">
                <a:solidFill>
                  <a:schemeClr val="bg1"/>
                </a:solidFill>
                <a:latin typeface="JetBrains Mono Light" panose="02000009000000000000" pitchFamily="49" charset="0"/>
                <a:cs typeface="JetBrains Mono Light" panose="02000009000000000000" pitchFamily="49" charset="0"/>
              </a:rPr>
              <a:t>.</a:t>
            </a:r>
          </a:p>
        </p:txBody>
      </p:sp>
      <p:sp>
        <p:nvSpPr>
          <p:cNvPr id="45" name="TextBox 44">
            <a:extLst>
              <a:ext uri="{FF2B5EF4-FFF2-40B4-BE49-F238E27FC236}">
                <a16:creationId xmlns:a16="http://schemas.microsoft.com/office/drawing/2014/main" id="{78CAC70A-F1FB-49F2-9B99-97ED25C575E4}"/>
              </a:ext>
            </a:extLst>
          </p:cNvPr>
          <p:cNvSpPr txBox="1"/>
          <p:nvPr/>
        </p:nvSpPr>
        <p:spPr>
          <a:xfrm>
            <a:off x="1083315" y="5012835"/>
            <a:ext cx="914400" cy="477054"/>
          </a:xfrm>
          <a:prstGeom prst="rect">
            <a:avLst/>
          </a:prstGeom>
          <a:noFill/>
        </p:spPr>
        <p:txBody>
          <a:bodyPr wrap="square" rtlCol="0">
            <a:spAutoFit/>
          </a:bodyPr>
          <a:lstStyle/>
          <a:p>
            <a:r>
              <a:rPr lang="en-US" sz="2500" dirty="0">
                <a:solidFill>
                  <a:schemeClr val="accent6">
                    <a:lumMod val="60000"/>
                    <a:lumOff val="40000"/>
                  </a:schemeClr>
                </a:solidFill>
                <a:latin typeface="JetBrains Mono Light" panose="02000009000000000000" pitchFamily="49" charset="0"/>
                <a:cs typeface="JetBrains Mono Light" panose="02000009000000000000" pitchFamily="49" charset="0"/>
              </a:rPr>
              <a:t>+</a:t>
            </a:r>
          </a:p>
        </p:txBody>
      </p:sp>
    </p:spTree>
    <p:extLst>
      <p:ext uri="{BB962C8B-B14F-4D97-AF65-F5344CB8AC3E}">
        <p14:creationId xmlns:p14="http://schemas.microsoft.com/office/powerpoint/2010/main" val="35941688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500"/>
                                        <p:tgtEl>
                                          <p:spTgt spid="2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500"/>
                                        <p:tgtEl>
                                          <p:spTgt spid="3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500"/>
                                        <p:tgtEl>
                                          <p:spTgt spid="3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500"/>
                                        <p:tgtEl>
                                          <p:spTgt spid="3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500"/>
                                        <p:tgtEl>
                                          <p:spTgt spid="4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43"/>
                                        </p:tgtEl>
                                        <p:attrNameLst>
                                          <p:attrName>style.visibility</p:attrName>
                                        </p:attrNameLst>
                                      </p:cBhvr>
                                      <p:to>
                                        <p:strVal val="visible"/>
                                      </p:to>
                                    </p:set>
                                    <p:animEffect transition="in" filter="fade">
                                      <p:cBhvr>
                                        <p:cTn id="39" dur="500"/>
                                        <p:tgtEl>
                                          <p:spTgt spid="4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7" grpId="0" animBg="1"/>
      <p:bldP spid="28" grpId="0"/>
      <p:bldP spid="29" grpId="0"/>
      <p:bldP spid="30" grpId="0"/>
      <p:bldP spid="32" grpId="0"/>
      <p:bldP spid="38" grpId="0"/>
      <p:bldP spid="40" grpId="0"/>
      <p:bldP spid="43" grpId="0"/>
      <p:bldP spid="4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ADCB1D2-71BF-4442-85AC-20706F44BBA0}"/>
              </a:ext>
            </a:extLst>
          </p:cNvPr>
          <p:cNvSpPr/>
          <p:nvPr/>
        </p:nvSpPr>
        <p:spPr>
          <a:xfrm>
            <a:off x="0" y="-2556"/>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16" name="Credit MAIN">
            <a:extLst>
              <a:ext uri="{FF2B5EF4-FFF2-40B4-BE49-F238E27FC236}">
                <a16:creationId xmlns:a16="http://schemas.microsoft.com/office/drawing/2014/main" id="{2518DECB-C7B9-41A5-9FB6-89C9AA3086AA}"/>
              </a:ext>
            </a:extLst>
          </p:cNvPr>
          <p:cNvSpPr txBox="1"/>
          <p:nvPr/>
        </p:nvSpPr>
        <p:spPr>
          <a:xfrm>
            <a:off x="50878" y="6420549"/>
            <a:ext cx="2235122"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Vũ</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Thùy</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Dương</a:t>
            </a:r>
            <a:endParaRPr lang="en-US" dirty="0">
              <a:solidFill>
                <a:schemeClr val="bg1">
                  <a:lumMod val="95000"/>
                  <a:alpha val="46000"/>
                </a:schemeClr>
              </a:solidFill>
            </a:endParaRPr>
          </a:p>
        </p:txBody>
      </p:sp>
      <p:sp>
        <p:nvSpPr>
          <p:cNvPr id="11" name="Header">
            <a:extLst>
              <a:ext uri="{FF2B5EF4-FFF2-40B4-BE49-F238E27FC236}">
                <a16:creationId xmlns:a16="http://schemas.microsoft.com/office/drawing/2014/main" id="{6A39F230-06D2-4140-8DA2-357C0B9B6D12}"/>
              </a:ext>
            </a:extLst>
          </p:cNvPr>
          <p:cNvSpPr txBox="1"/>
          <p:nvPr/>
        </p:nvSpPr>
        <p:spPr>
          <a:xfrm>
            <a:off x="50878" y="68119"/>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7" name="Footer: Part">
            <a:extLst>
              <a:ext uri="{FF2B5EF4-FFF2-40B4-BE49-F238E27FC236}">
                <a16:creationId xmlns:a16="http://schemas.microsoft.com/office/drawing/2014/main" id="{553347E6-1341-4BA1-A396-FC4741F3FAF1}"/>
              </a:ext>
            </a:extLst>
          </p:cNvPr>
          <p:cNvSpPr txBox="1"/>
          <p:nvPr/>
        </p:nvSpPr>
        <p:spPr>
          <a:xfrm>
            <a:off x="10959883" y="6413178"/>
            <a:ext cx="1160019" cy="369332"/>
          </a:xfrm>
          <a:prstGeom prst="rect">
            <a:avLst/>
          </a:prstGeom>
          <a:noFill/>
        </p:spPr>
        <p:txBody>
          <a:bodyPr wrap="square" rtlCol="0">
            <a:spAutoFit/>
          </a:bodyPr>
          <a:lstStyle/>
          <a:p>
            <a:pPr algn="r"/>
            <a:r>
              <a:rPr lang="en-US" dirty="0">
                <a:solidFill>
                  <a:schemeClr val="bg1">
                    <a:lumMod val="95000"/>
                  </a:schemeClr>
                </a:solidFill>
                <a:latin typeface="JetBrains Mono Regular" panose="02000009000000000000" pitchFamily="49" charset="0"/>
                <a:cs typeface="JetBrains Mono Regular" panose="02000009000000000000" pitchFamily="49" charset="0"/>
              </a:rPr>
              <a:t>Ma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trận</a:t>
            </a:r>
            <a:endParaRPr lang="en-US" dirty="0">
              <a:solidFill>
                <a:schemeClr val="bg1">
                  <a:lumMod val="95000"/>
                </a:schemeClr>
              </a:solidFill>
              <a:latin typeface="JetBrains Mono Regular" panose="02000009000000000000" pitchFamily="49" charset="0"/>
              <a:cs typeface="JetBrains Mono Regular" panose="02000009000000000000" pitchFamily="49" charset="0"/>
            </a:endParaRPr>
          </a:p>
        </p:txBody>
      </p:sp>
      <p:sp>
        <p:nvSpPr>
          <p:cNvPr id="19" name="Footer: Title">
            <a:extLst>
              <a:ext uri="{FF2B5EF4-FFF2-40B4-BE49-F238E27FC236}">
                <a16:creationId xmlns:a16="http://schemas.microsoft.com/office/drawing/2014/main" id="{FD144244-98B6-4C54-A114-16CD65E0D522}"/>
              </a:ext>
            </a:extLst>
          </p:cNvPr>
          <p:cNvSpPr txBox="1"/>
          <p:nvPr/>
        </p:nvSpPr>
        <p:spPr>
          <a:xfrm>
            <a:off x="9906025" y="6414047"/>
            <a:ext cx="1160019"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Light" panose="02000009000000000000" pitchFamily="49" charset="0"/>
                <a:cs typeface="JetBrains Mono Light" panose="02000009000000000000" pitchFamily="49" charset="0"/>
              </a:rPr>
              <a:t>:</a:t>
            </a:r>
          </a:p>
        </p:txBody>
      </p:sp>
      <p:sp>
        <p:nvSpPr>
          <p:cNvPr id="25" name="PAGE NUM 0">
            <a:extLst>
              <a:ext uri="{FF2B5EF4-FFF2-40B4-BE49-F238E27FC236}">
                <a16:creationId xmlns:a16="http://schemas.microsoft.com/office/drawing/2014/main" id="{CA8E8643-0820-44FC-9D06-02F2A0A63536}"/>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1</a:t>
            </a:r>
          </a:p>
        </p:txBody>
      </p:sp>
      <p:sp>
        <p:nvSpPr>
          <p:cNvPr id="26" name="PAGE NUM 1">
            <a:extLst>
              <a:ext uri="{FF2B5EF4-FFF2-40B4-BE49-F238E27FC236}">
                <a16:creationId xmlns:a16="http://schemas.microsoft.com/office/drawing/2014/main" id="{6BF8CF33-13C7-458E-A4F5-0A19700195D0}"/>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3</a:t>
            </a:r>
            <a:endParaRPr lang="en-US" dirty="0"/>
          </a:p>
        </p:txBody>
      </p:sp>
      <p:sp>
        <p:nvSpPr>
          <p:cNvPr id="4" name="Rectangle 3">
            <a:extLst>
              <a:ext uri="{FF2B5EF4-FFF2-40B4-BE49-F238E27FC236}">
                <a16:creationId xmlns:a16="http://schemas.microsoft.com/office/drawing/2014/main" id="{CB38D6F8-B45F-44CF-A0B3-4EECDAC74C1C}"/>
              </a:ext>
            </a:extLst>
          </p:cNvPr>
          <p:cNvSpPr/>
          <p:nvPr/>
        </p:nvSpPr>
        <p:spPr>
          <a:xfrm>
            <a:off x="591459" y="591772"/>
            <a:ext cx="1577862"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3252814-A59F-4DD2-85FD-AF3B5B3FB847}"/>
              </a:ext>
            </a:extLst>
          </p:cNvPr>
          <p:cNvSpPr txBox="1"/>
          <p:nvPr/>
        </p:nvSpPr>
        <p:spPr>
          <a:xfrm>
            <a:off x="603364" y="591246"/>
            <a:ext cx="1577862" cy="369332"/>
          </a:xfrm>
          <a:prstGeom prst="rect">
            <a:avLst/>
          </a:prstGeom>
          <a:noFill/>
        </p:spPr>
        <p:txBody>
          <a:bodyPr wrap="square" rtlCol="0">
            <a:spAutoFit/>
          </a:bodyPr>
          <a:lstStyle/>
          <a:p>
            <a:r>
              <a:rPr lang="en-US" dirty="0">
                <a:latin typeface="JetBrains Mono Regular" panose="02000009000000000000" pitchFamily="49" charset="0"/>
                <a:cs typeface="JetBrains Mono Regular" panose="02000009000000000000" pitchFamily="49" charset="0"/>
              </a:rPr>
              <a:t>Ma </a:t>
            </a:r>
            <a:r>
              <a:rPr lang="en-US" dirty="0" err="1">
                <a:latin typeface="JetBrains Mono Regular" panose="02000009000000000000" pitchFamily="49" charset="0"/>
                <a:cs typeface="JetBrains Mono Regular" panose="02000009000000000000" pitchFamily="49" charset="0"/>
              </a:rPr>
              <a:t>trận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kề</a:t>
            </a:r>
            <a:endParaRPr lang="en-US" dirty="0">
              <a:latin typeface="JetBrains Mono Regular" panose="02000009000000000000" pitchFamily="49" charset="0"/>
              <a:cs typeface="JetBrains Mono Regular" panose="02000009000000000000" pitchFamily="49" charset="0"/>
            </a:endParaRPr>
          </a:p>
        </p:txBody>
      </p:sp>
      <p:sp>
        <p:nvSpPr>
          <p:cNvPr id="3" name="TextBox 2">
            <a:extLst>
              <a:ext uri="{FF2B5EF4-FFF2-40B4-BE49-F238E27FC236}">
                <a16:creationId xmlns:a16="http://schemas.microsoft.com/office/drawing/2014/main" id="{0DCF76D3-76B8-418E-89D0-5A5DE06812BC}"/>
              </a:ext>
            </a:extLst>
          </p:cNvPr>
          <p:cNvSpPr txBox="1"/>
          <p:nvPr/>
        </p:nvSpPr>
        <p:spPr>
          <a:xfrm>
            <a:off x="603363" y="591527"/>
            <a:ext cx="1149238" cy="369332"/>
          </a:xfrm>
          <a:prstGeom prst="rect">
            <a:avLst/>
          </a:prstGeom>
          <a:solidFill>
            <a:schemeClr val="bg1"/>
          </a:solidFill>
        </p:spPr>
        <p:txBody>
          <a:bodyPr wrap="square" rtlCol="0">
            <a:spAutoFit/>
          </a:bodyPr>
          <a:lstStyle/>
          <a:p>
            <a:r>
              <a:rPr lang="en-US" dirty="0">
                <a:latin typeface="JetBrains Mono Regular" panose="02000009000000000000" pitchFamily="49" charset="0"/>
                <a:cs typeface="JetBrains Mono Regular" panose="02000009000000000000" pitchFamily="49" charset="0"/>
              </a:rPr>
              <a:t>Ma </a:t>
            </a:r>
            <a:r>
              <a:rPr lang="en-US" dirty="0" err="1">
                <a:latin typeface="JetBrains Mono Regular" panose="02000009000000000000" pitchFamily="49" charset="0"/>
                <a:cs typeface="JetBrains Mono Regular" panose="02000009000000000000" pitchFamily="49" charset="0"/>
              </a:rPr>
              <a:t>trận</a:t>
            </a:r>
            <a:endParaRPr lang="en-US" dirty="0">
              <a:latin typeface="JetBrains Mono Regular" panose="02000009000000000000" pitchFamily="49" charset="0"/>
              <a:cs typeface="JetBrains Mono Regular" panose="02000009000000000000" pitchFamily="49" charset="0"/>
            </a:endParaRPr>
          </a:p>
        </p:txBody>
      </p:sp>
      <p:sp>
        <p:nvSpPr>
          <p:cNvPr id="2" name="Rectangle 1">
            <a:extLst>
              <a:ext uri="{FF2B5EF4-FFF2-40B4-BE49-F238E27FC236}">
                <a16:creationId xmlns:a16="http://schemas.microsoft.com/office/drawing/2014/main" id="{E389A61B-0B78-4EA8-8357-D9BB0CB884F8}"/>
              </a:ext>
            </a:extLst>
          </p:cNvPr>
          <p:cNvSpPr/>
          <p:nvPr/>
        </p:nvSpPr>
        <p:spPr>
          <a:xfrm>
            <a:off x="1083315" y="1497643"/>
            <a:ext cx="1601270" cy="3467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A1C6E52F-6B6A-4506-89A0-509724044EE4}"/>
              </a:ext>
            </a:extLst>
          </p:cNvPr>
          <p:cNvSpPr txBox="1"/>
          <p:nvPr/>
        </p:nvSpPr>
        <p:spPr>
          <a:xfrm>
            <a:off x="1068583" y="1500758"/>
            <a:ext cx="1616002" cy="369332"/>
          </a:xfrm>
          <a:prstGeom prst="rect">
            <a:avLst/>
          </a:prstGeom>
          <a:noFill/>
        </p:spPr>
        <p:txBody>
          <a:bodyPr wrap="square" rtlCol="0">
            <a:spAutoFit/>
          </a:bodyPr>
          <a:lstStyle/>
          <a:p>
            <a:pPr algn="ctr"/>
            <a:r>
              <a:rPr lang="en-US" dirty="0" err="1">
                <a:solidFill>
                  <a:schemeClr val="bg1"/>
                </a:solidFill>
                <a:latin typeface="JetBrains Mono" panose="02000009000000000000" pitchFamily="49" charset="0"/>
                <a:cs typeface="JetBrains Mono" panose="02000009000000000000" pitchFamily="49" charset="0"/>
              </a:rPr>
              <a:t>Nhược</a:t>
            </a:r>
            <a:r>
              <a:rPr lang="en-US" dirty="0">
                <a:solidFill>
                  <a:schemeClr val="bg1"/>
                </a:solidFill>
                <a:latin typeface="JetBrains Mono" panose="02000009000000000000" pitchFamily="49" charset="0"/>
                <a:cs typeface="JetBrains Mono" panose="02000009000000000000" pitchFamily="49" charset="0"/>
              </a:rPr>
              <a:t> </a:t>
            </a:r>
            <a:r>
              <a:rPr lang="en-US" dirty="0" err="1">
                <a:solidFill>
                  <a:schemeClr val="bg1"/>
                </a:solidFill>
                <a:latin typeface="JetBrains Mono" panose="02000009000000000000" pitchFamily="49" charset="0"/>
                <a:cs typeface="JetBrains Mono" panose="02000009000000000000" pitchFamily="49" charset="0"/>
              </a:rPr>
              <a:t>điểm</a:t>
            </a:r>
            <a:endParaRPr lang="en-US" dirty="0">
              <a:solidFill>
                <a:schemeClr val="bg1"/>
              </a:solidFill>
              <a:latin typeface="JetBrains Mono" panose="02000009000000000000" pitchFamily="49" charset="0"/>
              <a:cs typeface="JetBrains Mono" panose="02000009000000000000" pitchFamily="49" charset="0"/>
            </a:endParaRPr>
          </a:p>
        </p:txBody>
      </p:sp>
      <p:sp>
        <p:nvSpPr>
          <p:cNvPr id="28" name="TextBox 27">
            <a:extLst>
              <a:ext uri="{FF2B5EF4-FFF2-40B4-BE49-F238E27FC236}">
                <a16:creationId xmlns:a16="http://schemas.microsoft.com/office/drawing/2014/main" id="{6B96C045-17A7-46F9-8551-0A67B9C41420}"/>
              </a:ext>
            </a:extLst>
          </p:cNvPr>
          <p:cNvSpPr txBox="1"/>
          <p:nvPr/>
        </p:nvSpPr>
        <p:spPr>
          <a:xfrm>
            <a:off x="1517875" y="2221210"/>
            <a:ext cx="9954795" cy="1200329"/>
          </a:xfrm>
          <a:prstGeom prst="rect">
            <a:avLst/>
          </a:prstGeom>
          <a:noFill/>
        </p:spPr>
        <p:txBody>
          <a:bodyPr wrap="square" rtlCol="0">
            <a:spAutoFit/>
          </a:bodyPr>
          <a:lstStyle/>
          <a:p>
            <a:pPr lvl="0"/>
            <a:r>
              <a:rPr lang="vi-VN" dirty="0">
                <a:solidFill>
                  <a:schemeClr val="bg1"/>
                </a:solidFill>
                <a:latin typeface="JetBrains Mono Light" panose="02000009000000000000" pitchFamily="49" charset="0"/>
                <a:cs typeface="JetBrains Mono Light" panose="02000009000000000000" pitchFamily="49" charset="0"/>
              </a:rPr>
              <a:t>Yêu cầu về không gian NxN của ma trận kề làm cho nó trở thành một đối tượng tiêu thụ lượng bộ nhớ lớn. </a:t>
            </a:r>
            <a:endParaRPr lang="en-US" dirty="0">
              <a:solidFill>
                <a:schemeClr val="bg1"/>
              </a:solidFill>
              <a:latin typeface="JetBrains Mono Light" panose="02000009000000000000" pitchFamily="49" charset="0"/>
              <a:cs typeface="JetBrains Mono Light" panose="02000009000000000000" pitchFamily="49" charset="0"/>
            </a:endParaRPr>
          </a:p>
          <a:p>
            <a:pPr lvl="0"/>
            <a:r>
              <a:rPr lang="vi-VN" dirty="0">
                <a:solidFill>
                  <a:schemeClr val="bg1"/>
                </a:solidFill>
                <a:latin typeface="JetBrains Mono Light" panose="02000009000000000000" pitchFamily="49" charset="0"/>
                <a:cs typeface="JetBrains Mono Light" panose="02000009000000000000" pitchFamily="49" charset="0"/>
              </a:rPr>
              <a:t>Các đồ thị thường sẽ không có quá nhiều liên kết và đây là lý do chính tại sao danh sách kề là lựa chọn tốt hơn cho hầu hết các nhiệm vụ.</a:t>
            </a:r>
          </a:p>
        </p:txBody>
      </p:sp>
      <p:sp>
        <p:nvSpPr>
          <p:cNvPr id="29" name="TextBox 28">
            <a:extLst>
              <a:ext uri="{FF2B5EF4-FFF2-40B4-BE49-F238E27FC236}">
                <a16:creationId xmlns:a16="http://schemas.microsoft.com/office/drawing/2014/main" id="{17D2F82C-0523-43A5-8C0E-D218A63B9D92}"/>
              </a:ext>
            </a:extLst>
          </p:cNvPr>
          <p:cNvSpPr txBox="1"/>
          <p:nvPr/>
        </p:nvSpPr>
        <p:spPr>
          <a:xfrm>
            <a:off x="1089176" y="2438839"/>
            <a:ext cx="914400" cy="477054"/>
          </a:xfrm>
          <a:prstGeom prst="rect">
            <a:avLst/>
          </a:prstGeom>
          <a:noFill/>
        </p:spPr>
        <p:txBody>
          <a:bodyPr wrap="square" rtlCol="0">
            <a:spAutoFit/>
          </a:bodyPr>
          <a:lstStyle/>
          <a:p>
            <a:r>
              <a:rPr lang="en-US" sz="2500" dirty="0">
                <a:solidFill>
                  <a:srgbClr val="C00000"/>
                </a:solidFill>
                <a:latin typeface="JetBrains Mono Light" panose="02000009000000000000" pitchFamily="49" charset="0"/>
                <a:cs typeface="JetBrains Mono Light" panose="02000009000000000000" pitchFamily="49" charset="0"/>
              </a:rPr>
              <a:t>-</a:t>
            </a:r>
          </a:p>
        </p:txBody>
      </p:sp>
      <p:sp>
        <p:nvSpPr>
          <p:cNvPr id="23" name="TextBox 22">
            <a:extLst>
              <a:ext uri="{FF2B5EF4-FFF2-40B4-BE49-F238E27FC236}">
                <a16:creationId xmlns:a16="http://schemas.microsoft.com/office/drawing/2014/main" id="{5C7952F2-2FA7-4DF5-8C05-1E1148014E5F}"/>
              </a:ext>
            </a:extLst>
          </p:cNvPr>
          <p:cNvSpPr txBox="1"/>
          <p:nvPr/>
        </p:nvSpPr>
        <p:spPr>
          <a:xfrm>
            <a:off x="1517875" y="4033023"/>
            <a:ext cx="9954795" cy="970330"/>
          </a:xfrm>
          <a:prstGeom prst="rect">
            <a:avLst/>
          </a:prstGeom>
          <a:noFill/>
        </p:spPr>
        <p:txBody>
          <a:bodyPr wrap="square" rtlCol="0">
            <a:spAutoFit/>
          </a:bodyPr>
          <a:lstStyle/>
          <a:p>
            <a:pPr lvl="0">
              <a:lnSpc>
                <a:spcPct val="107000"/>
              </a:lnSpc>
              <a:spcAft>
                <a:spcPts val="800"/>
              </a:spcAft>
            </a:pPr>
            <a:r>
              <a:rPr lang="vi-VN"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Trong khi các thao tác cơ bản được thực hiện dễ dàng, nhưng các thao tác như inEdges và outEdges sẽ rất tốn kém khi sử dụng biểu diễn ma trận kề.</a:t>
            </a:r>
          </a:p>
        </p:txBody>
      </p:sp>
      <p:sp>
        <p:nvSpPr>
          <p:cNvPr id="24" name="TextBox 23">
            <a:extLst>
              <a:ext uri="{FF2B5EF4-FFF2-40B4-BE49-F238E27FC236}">
                <a16:creationId xmlns:a16="http://schemas.microsoft.com/office/drawing/2014/main" id="{366BEA6D-CD6D-482E-AC0C-2B119C515338}"/>
              </a:ext>
            </a:extLst>
          </p:cNvPr>
          <p:cNvSpPr txBox="1"/>
          <p:nvPr/>
        </p:nvSpPr>
        <p:spPr>
          <a:xfrm>
            <a:off x="1089176" y="4250652"/>
            <a:ext cx="914400" cy="477054"/>
          </a:xfrm>
          <a:prstGeom prst="rect">
            <a:avLst/>
          </a:prstGeom>
          <a:noFill/>
        </p:spPr>
        <p:txBody>
          <a:bodyPr wrap="square" rtlCol="0">
            <a:spAutoFit/>
          </a:bodyPr>
          <a:lstStyle/>
          <a:p>
            <a:r>
              <a:rPr lang="en-US" sz="2500" dirty="0">
                <a:solidFill>
                  <a:srgbClr val="C00000"/>
                </a:solidFill>
                <a:latin typeface="JetBrains Mono Light" panose="02000009000000000000" pitchFamily="49" charset="0"/>
                <a:cs typeface="JetBrains Mono Light" panose="02000009000000000000" pitchFamily="49" charset="0"/>
              </a:rPr>
              <a:t>-</a:t>
            </a:r>
          </a:p>
        </p:txBody>
      </p:sp>
    </p:spTree>
    <p:extLst>
      <p:ext uri="{BB962C8B-B14F-4D97-AF65-F5344CB8AC3E}">
        <p14:creationId xmlns:p14="http://schemas.microsoft.com/office/powerpoint/2010/main" val="30867213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23" grpId="0"/>
      <p:bldP spid="2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ADCB1D2-71BF-4442-85AC-20706F44BBA0}"/>
              </a:ext>
            </a:extLst>
          </p:cNvPr>
          <p:cNvSpPr/>
          <p:nvPr/>
        </p:nvSpPr>
        <p:spPr>
          <a:xfrm>
            <a:off x="0" y="-2556"/>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16" name="Credit MAIN">
            <a:extLst>
              <a:ext uri="{FF2B5EF4-FFF2-40B4-BE49-F238E27FC236}">
                <a16:creationId xmlns:a16="http://schemas.microsoft.com/office/drawing/2014/main" id="{2518DECB-C7B9-41A5-9FB6-89C9AA3086AA}"/>
              </a:ext>
            </a:extLst>
          </p:cNvPr>
          <p:cNvSpPr txBox="1"/>
          <p:nvPr/>
        </p:nvSpPr>
        <p:spPr>
          <a:xfrm>
            <a:off x="50878" y="6983253"/>
            <a:ext cx="2235122"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Vũ</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Thùy</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Dương</a:t>
            </a:r>
            <a:endParaRPr lang="en-US" dirty="0">
              <a:solidFill>
                <a:schemeClr val="bg1">
                  <a:lumMod val="95000"/>
                  <a:alpha val="46000"/>
                </a:schemeClr>
              </a:solidFill>
            </a:endParaRPr>
          </a:p>
        </p:txBody>
      </p:sp>
      <p:sp>
        <p:nvSpPr>
          <p:cNvPr id="21" name="Credit MAIN">
            <a:extLst>
              <a:ext uri="{FF2B5EF4-FFF2-40B4-BE49-F238E27FC236}">
                <a16:creationId xmlns:a16="http://schemas.microsoft.com/office/drawing/2014/main" id="{A5F845F1-9489-426E-B1D3-2CCF2A9E61E3}"/>
              </a:ext>
            </a:extLst>
          </p:cNvPr>
          <p:cNvSpPr txBox="1"/>
          <p:nvPr/>
        </p:nvSpPr>
        <p:spPr>
          <a:xfrm>
            <a:off x="50878" y="6420549"/>
            <a:ext cx="2668876" cy="369332"/>
          </a:xfrm>
          <a:prstGeom prst="rect">
            <a:avLst/>
          </a:prstGeom>
          <a:noFill/>
        </p:spPr>
        <p:txBody>
          <a:bodyPr wrap="square" rtlCol="0">
            <a:spAutoFit/>
          </a:bodyPr>
          <a:lstStyle/>
          <a:p>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Phạm </a:t>
            </a:r>
            <a:r>
              <a:rPr lang="en-US"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H</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oàng</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Phong</a:t>
            </a:r>
            <a:endParaRPr lang="en-US" dirty="0">
              <a:solidFill>
                <a:schemeClr val="bg1">
                  <a:lumMod val="95000"/>
                  <a:alpha val="46000"/>
                </a:schemeClr>
              </a:solidFill>
            </a:endParaRPr>
          </a:p>
        </p:txBody>
      </p:sp>
      <p:sp>
        <p:nvSpPr>
          <p:cNvPr id="20" name="Credit INTRO">
            <a:extLst>
              <a:ext uri="{FF2B5EF4-FFF2-40B4-BE49-F238E27FC236}">
                <a16:creationId xmlns:a16="http://schemas.microsoft.com/office/drawing/2014/main" id="{D8147804-524C-4D96-9C90-181B6C7679DE}"/>
              </a:ext>
            </a:extLst>
          </p:cNvPr>
          <p:cNvSpPr txBox="1"/>
          <p:nvPr/>
        </p:nvSpPr>
        <p:spPr>
          <a:xfrm>
            <a:off x="50877" y="6420549"/>
            <a:ext cx="2668876" cy="369332"/>
          </a:xfrm>
          <a:prstGeom prst="rect">
            <a:avLst/>
          </a:prstGeom>
          <a:noFill/>
        </p:spPr>
        <p:txBody>
          <a:bodyPr wrap="square" rtlCol="0">
            <a:spAutoFit/>
          </a:bodyPr>
          <a:lstStyle/>
          <a:p>
            <a:r>
              <a:rPr lang="en-US" sz="1800" spc="120" dirty="0">
                <a:solidFill>
                  <a:schemeClr val="bg1">
                    <a:lumMod val="95000"/>
                  </a:schemeClr>
                </a:solidFill>
                <a:latin typeface="JetBrains Mono Light" panose="02000009000000000000" pitchFamily="49" charset="0"/>
                <a:cs typeface="JetBrains Mono Light" panose="02000009000000000000" pitchFamily="49" charset="0"/>
              </a:rPr>
              <a:t>Phạm </a:t>
            </a:r>
            <a:r>
              <a:rPr lang="en-US" sz="1800" spc="120" dirty="0" err="1">
                <a:solidFill>
                  <a:schemeClr val="bg1">
                    <a:lumMod val="95000"/>
                  </a:schemeClr>
                </a:solidFill>
                <a:latin typeface="JetBrains Mono Light" panose="02000009000000000000" pitchFamily="49" charset="0"/>
                <a:cs typeface="JetBrains Mono Light" panose="02000009000000000000" pitchFamily="49" charset="0"/>
              </a:rPr>
              <a:t>Hoàng</a:t>
            </a:r>
            <a:r>
              <a:rPr lang="en-US" sz="1800" spc="120" dirty="0">
                <a:solidFill>
                  <a:schemeClr val="bg1">
                    <a:lumMod val="95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schemeClr>
                </a:solidFill>
                <a:latin typeface="JetBrains Mono Light" panose="02000009000000000000" pitchFamily="49" charset="0"/>
                <a:cs typeface="JetBrains Mono Light" panose="02000009000000000000" pitchFamily="49" charset="0"/>
              </a:rPr>
              <a:t>Phong</a:t>
            </a:r>
            <a:endParaRPr lang="en-US" dirty="0"/>
          </a:p>
        </p:txBody>
      </p:sp>
      <p:sp>
        <p:nvSpPr>
          <p:cNvPr id="11" name="Header">
            <a:extLst>
              <a:ext uri="{FF2B5EF4-FFF2-40B4-BE49-F238E27FC236}">
                <a16:creationId xmlns:a16="http://schemas.microsoft.com/office/drawing/2014/main" id="{6A39F230-06D2-4140-8DA2-357C0B9B6D12}"/>
              </a:ext>
            </a:extLst>
          </p:cNvPr>
          <p:cNvSpPr txBox="1"/>
          <p:nvPr/>
        </p:nvSpPr>
        <p:spPr>
          <a:xfrm>
            <a:off x="50878" y="68119"/>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7" name="Footer: Part">
            <a:extLst>
              <a:ext uri="{FF2B5EF4-FFF2-40B4-BE49-F238E27FC236}">
                <a16:creationId xmlns:a16="http://schemas.microsoft.com/office/drawing/2014/main" id="{553347E6-1341-4BA1-A396-FC4741F3FAF1}"/>
              </a:ext>
            </a:extLst>
          </p:cNvPr>
          <p:cNvSpPr txBox="1"/>
          <p:nvPr/>
        </p:nvSpPr>
        <p:spPr>
          <a:xfrm>
            <a:off x="9800491" y="6413178"/>
            <a:ext cx="2319411" cy="369332"/>
          </a:xfrm>
          <a:prstGeom prst="rect">
            <a:avLst/>
          </a:prstGeom>
          <a:noFill/>
        </p:spPr>
        <p:txBody>
          <a:bodyPr wrap="square" rtlCol="0">
            <a:spAutoFit/>
          </a:bodyPr>
          <a:lstStyle/>
          <a:p>
            <a:pPr algn="r"/>
            <a:r>
              <a:rPr lang="en-US" dirty="0" err="1">
                <a:solidFill>
                  <a:schemeClr val="bg1">
                    <a:lumMod val="95000"/>
                  </a:schemeClr>
                </a:solidFill>
                <a:latin typeface="JetBrains Mono" panose="02000009000000000000" pitchFamily="49" charset="0"/>
                <a:cs typeface="JetBrains Mono" panose="02000009000000000000" pitchFamily="49" charset="0"/>
              </a:rPr>
              <a:t>Tính</a:t>
            </a:r>
            <a:r>
              <a:rPr lang="en-US" dirty="0">
                <a:solidFill>
                  <a:schemeClr val="bg1">
                    <a:lumMod val="95000"/>
                  </a:schemeClr>
                </a:solidFill>
                <a:latin typeface="JetBrains Mono" panose="02000009000000000000" pitchFamily="49" charset="0"/>
                <a:cs typeface="JetBrains Mono" panose="02000009000000000000" pitchFamily="49" charset="0"/>
              </a:rPr>
              <a:t> </a:t>
            </a:r>
            <a:r>
              <a:rPr lang="en-US" dirty="0" err="1">
                <a:solidFill>
                  <a:schemeClr val="bg1">
                    <a:lumMod val="95000"/>
                  </a:schemeClr>
                </a:solidFill>
                <a:latin typeface="JetBrains Mono" panose="02000009000000000000" pitchFamily="49" charset="0"/>
                <a:cs typeface="JetBrains Mono" panose="02000009000000000000" pitchFamily="49" charset="0"/>
              </a:rPr>
              <a:t>liên</a:t>
            </a:r>
            <a:r>
              <a:rPr lang="en-US" dirty="0">
                <a:solidFill>
                  <a:schemeClr val="bg1">
                    <a:lumMod val="95000"/>
                  </a:schemeClr>
                </a:solidFill>
                <a:latin typeface="JetBrains Mono" panose="02000009000000000000" pitchFamily="49" charset="0"/>
                <a:cs typeface="JetBrains Mono" panose="02000009000000000000" pitchFamily="49" charset="0"/>
              </a:rPr>
              <a:t> </a:t>
            </a:r>
            <a:r>
              <a:rPr lang="en-US" dirty="0" err="1">
                <a:solidFill>
                  <a:schemeClr val="bg1">
                    <a:lumMod val="95000"/>
                  </a:schemeClr>
                </a:solidFill>
                <a:latin typeface="JetBrains Mono" panose="02000009000000000000" pitchFamily="49" charset="0"/>
                <a:cs typeface="JetBrains Mono" panose="02000009000000000000" pitchFamily="49" charset="0"/>
              </a:rPr>
              <a:t>thông</a:t>
            </a:r>
            <a:r>
              <a:rPr lang="en-US" dirty="0">
                <a:solidFill>
                  <a:schemeClr val="bg1">
                    <a:lumMod val="95000"/>
                  </a:schemeClr>
                </a:solidFill>
                <a:latin typeface="JetBrains Mono" panose="02000009000000000000" pitchFamily="49" charset="0"/>
                <a:cs typeface="JetBrains Mono" panose="02000009000000000000" pitchFamily="49" charset="0"/>
              </a:rPr>
              <a:t> </a:t>
            </a:r>
          </a:p>
        </p:txBody>
      </p:sp>
      <p:sp>
        <p:nvSpPr>
          <p:cNvPr id="19" name="Footer: Title">
            <a:extLst>
              <a:ext uri="{FF2B5EF4-FFF2-40B4-BE49-F238E27FC236}">
                <a16:creationId xmlns:a16="http://schemas.microsoft.com/office/drawing/2014/main" id="{FD144244-98B6-4C54-A114-16CD65E0D522}"/>
              </a:ext>
            </a:extLst>
          </p:cNvPr>
          <p:cNvSpPr txBox="1"/>
          <p:nvPr/>
        </p:nvSpPr>
        <p:spPr>
          <a:xfrm>
            <a:off x="8815785" y="6414047"/>
            <a:ext cx="1160019"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Light" panose="02000009000000000000" pitchFamily="49" charset="0"/>
                <a:cs typeface="JetBrains Mono Light" panose="02000009000000000000" pitchFamily="49" charset="0"/>
              </a:rPr>
              <a:t>:</a:t>
            </a:r>
          </a:p>
        </p:txBody>
      </p:sp>
      <p:sp>
        <p:nvSpPr>
          <p:cNvPr id="25" name="PAGE NUM 0">
            <a:extLst>
              <a:ext uri="{FF2B5EF4-FFF2-40B4-BE49-F238E27FC236}">
                <a16:creationId xmlns:a16="http://schemas.microsoft.com/office/drawing/2014/main" id="{CA8E8643-0820-44FC-9D06-02F2A0A63536}"/>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1</a:t>
            </a:r>
          </a:p>
        </p:txBody>
      </p:sp>
      <p:sp>
        <p:nvSpPr>
          <p:cNvPr id="26" name="PAGE NUM 1">
            <a:extLst>
              <a:ext uri="{FF2B5EF4-FFF2-40B4-BE49-F238E27FC236}">
                <a16:creationId xmlns:a16="http://schemas.microsoft.com/office/drawing/2014/main" id="{6BF8CF33-13C7-458E-A4F5-0A19700195D0}"/>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4</a:t>
            </a:r>
            <a:endParaRPr lang="en-US" dirty="0"/>
          </a:p>
        </p:txBody>
      </p:sp>
      <p:sp>
        <p:nvSpPr>
          <p:cNvPr id="4" name="Rectangle 3">
            <a:extLst>
              <a:ext uri="{FF2B5EF4-FFF2-40B4-BE49-F238E27FC236}">
                <a16:creationId xmlns:a16="http://schemas.microsoft.com/office/drawing/2014/main" id="{CB38D6F8-B45F-44CF-A0B3-4EECDAC74C1C}"/>
              </a:ext>
            </a:extLst>
          </p:cNvPr>
          <p:cNvSpPr/>
          <p:nvPr/>
        </p:nvSpPr>
        <p:spPr>
          <a:xfrm>
            <a:off x="591458" y="591772"/>
            <a:ext cx="2597219"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3252814-A59F-4DD2-85FD-AF3B5B3FB847}"/>
              </a:ext>
            </a:extLst>
          </p:cNvPr>
          <p:cNvSpPr txBox="1"/>
          <p:nvPr/>
        </p:nvSpPr>
        <p:spPr>
          <a:xfrm>
            <a:off x="603364" y="591246"/>
            <a:ext cx="2585314" cy="369332"/>
          </a:xfrm>
          <a:prstGeom prst="rect">
            <a:avLst/>
          </a:prstGeom>
          <a:noFill/>
        </p:spPr>
        <p:txBody>
          <a:bodyPr wrap="square" rtlCol="0">
            <a:spAutoFit/>
          </a:bodyPr>
          <a:lstStyle/>
          <a:p>
            <a:r>
              <a:rPr lang="en-US" dirty="0" err="1">
                <a:latin typeface="JetBrains Mono" panose="02000009000000000000" pitchFamily="49" charset="0"/>
                <a:cs typeface="JetBrains Mono" panose="02000009000000000000" pitchFamily="49" charset="0"/>
              </a:rPr>
              <a:t>Đồ</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thị</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liên</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thông</a:t>
            </a:r>
            <a:endParaRPr lang="en-US" dirty="0">
              <a:latin typeface="JetBrains Mono" panose="02000009000000000000" pitchFamily="49" charset="0"/>
              <a:cs typeface="JetBrains Mono" panose="02000009000000000000" pitchFamily="49" charset="0"/>
            </a:endParaRPr>
          </a:p>
        </p:txBody>
      </p:sp>
      <p:sp>
        <p:nvSpPr>
          <p:cNvPr id="5" name="TextBox 4">
            <a:extLst>
              <a:ext uri="{FF2B5EF4-FFF2-40B4-BE49-F238E27FC236}">
                <a16:creationId xmlns:a16="http://schemas.microsoft.com/office/drawing/2014/main" id="{00FA2FF5-6B90-41AA-9789-E0A69DEA62E8}"/>
              </a:ext>
            </a:extLst>
          </p:cNvPr>
          <p:cNvSpPr txBox="1"/>
          <p:nvPr/>
        </p:nvSpPr>
        <p:spPr>
          <a:xfrm>
            <a:off x="928113" y="1068894"/>
            <a:ext cx="8872377" cy="369332"/>
          </a:xfrm>
          <a:prstGeom prst="rect">
            <a:avLst/>
          </a:prstGeom>
          <a:noFill/>
        </p:spPr>
        <p:txBody>
          <a:bodyPr wrap="square" rtlCol="0">
            <a:spAutoFit/>
          </a:bodyPr>
          <a:lstStyle/>
          <a:p>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Là</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kiểu</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đồ</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thị</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có</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đường</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đi</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giữa</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mọi</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cặp</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đỉnh</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phân</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biệt</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của</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nó</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a:t>
            </a:r>
            <a:endParaRPr lang="en-US" dirty="0">
              <a:solidFill>
                <a:schemeClr val="bg1"/>
              </a:solidFill>
              <a:latin typeface="JetBrains Mono Light" panose="02000009000000000000" pitchFamily="49" charset="0"/>
              <a:cs typeface="JetBrains Mono Light" panose="02000009000000000000" pitchFamily="49" charset="0"/>
            </a:endParaRPr>
          </a:p>
        </p:txBody>
      </p:sp>
      <p:sp>
        <p:nvSpPr>
          <p:cNvPr id="7" name="TextBox 6">
            <a:extLst>
              <a:ext uri="{FF2B5EF4-FFF2-40B4-BE49-F238E27FC236}">
                <a16:creationId xmlns:a16="http://schemas.microsoft.com/office/drawing/2014/main" id="{B3242089-5D0F-42F0-8550-63815279AFBC}"/>
              </a:ext>
            </a:extLst>
          </p:cNvPr>
          <p:cNvSpPr txBox="1"/>
          <p:nvPr/>
        </p:nvSpPr>
        <p:spPr>
          <a:xfrm>
            <a:off x="928114" y="1606909"/>
            <a:ext cx="8567577" cy="923330"/>
          </a:xfrm>
          <a:prstGeom prst="rect">
            <a:avLst/>
          </a:prstGeom>
          <a:noFill/>
        </p:spPr>
        <p:txBody>
          <a:bodyPr wrap="square" rtlCol="0">
            <a:spAutoFit/>
          </a:bodyPr>
          <a:lstStyle/>
          <a:p>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Cho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đồ</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thị</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G = (X,U)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vô</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hướng</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hay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có</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hướng</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Ta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định</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nghĩa</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một</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quan</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hệ</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&lt;=&gt;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như</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hệ</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sau</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trên</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tập</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đỉnh</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X:</a:t>
            </a:r>
            <a:endPar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endParaRPr>
          </a:p>
          <a:p>
            <a:endParaRPr lang="en-US" dirty="0">
              <a:solidFill>
                <a:schemeClr val="bg1"/>
              </a:solidFill>
              <a:latin typeface="JetBrains Mono Light" panose="02000009000000000000" pitchFamily="49" charset="0"/>
              <a:cs typeface="JetBrains Mono Light" panose="02000009000000000000" pitchFamily="49" charset="0"/>
            </a:endParaRPr>
          </a:p>
        </p:txBody>
      </p:sp>
      <p:sp>
        <p:nvSpPr>
          <p:cNvPr id="8" name="TextBox 7">
            <a:extLst>
              <a:ext uri="{FF2B5EF4-FFF2-40B4-BE49-F238E27FC236}">
                <a16:creationId xmlns:a16="http://schemas.microsoft.com/office/drawing/2014/main" id="{4DA56D53-6DBF-4CEF-8CA1-524F6B919C4F}"/>
              </a:ext>
            </a:extLst>
          </p:cNvPr>
          <p:cNvSpPr txBox="1"/>
          <p:nvPr/>
        </p:nvSpPr>
        <p:spPr>
          <a:xfrm>
            <a:off x="1168439" y="2303584"/>
            <a:ext cx="9030638" cy="923330"/>
          </a:xfrm>
          <a:prstGeom prst="rect">
            <a:avLst/>
          </a:prstGeom>
          <a:noFill/>
        </p:spPr>
        <p:txBody>
          <a:bodyPr wrap="square" rtlCol="0">
            <a:spAutoFit/>
          </a:bodyPr>
          <a:lstStyle/>
          <a:p>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Với</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mọi</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i</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j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thuộc</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X,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i</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xấp</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xỉ</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j &lt;=&gt;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i</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 j hay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có</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dây</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chuyền</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đỉnh</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đầu</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là</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i</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và</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đỉnh</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cuối</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là</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j.</a:t>
            </a:r>
            <a:endPar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endParaRPr>
          </a:p>
          <a:p>
            <a:endParaRPr lang="en-US" dirty="0">
              <a:solidFill>
                <a:schemeClr val="bg1"/>
              </a:solidFill>
              <a:latin typeface="JetBrains Mono Light" panose="02000009000000000000" pitchFamily="49" charset="0"/>
              <a:cs typeface="JetBrains Mono Light" panose="02000009000000000000" pitchFamily="49" charset="0"/>
            </a:endParaRPr>
          </a:p>
        </p:txBody>
      </p:sp>
      <p:sp>
        <p:nvSpPr>
          <p:cNvPr id="10" name="TextBox 9">
            <a:extLst>
              <a:ext uri="{FF2B5EF4-FFF2-40B4-BE49-F238E27FC236}">
                <a16:creationId xmlns:a16="http://schemas.microsoft.com/office/drawing/2014/main" id="{2C8B8CFF-5F8E-4EFC-A03F-E8B82A5E0DDA}"/>
              </a:ext>
            </a:extLst>
          </p:cNvPr>
          <p:cNvSpPr txBox="1"/>
          <p:nvPr/>
        </p:nvSpPr>
        <p:spPr>
          <a:xfrm>
            <a:off x="928115" y="3096562"/>
            <a:ext cx="4394162" cy="369332"/>
          </a:xfrm>
          <a:prstGeom prst="rect">
            <a:avLst/>
          </a:prstGeom>
          <a:noFill/>
          <a:ln>
            <a:solidFill>
              <a:schemeClr val="bg1"/>
            </a:solidFill>
          </a:ln>
        </p:spPr>
        <p:txBody>
          <a:bodyPr wrap="square" rtlCol="0">
            <a:spAutoFit/>
          </a:bodyPr>
          <a:lstStyle/>
          <a:p>
            <a:r>
              <a:rPr lang="en-US" dirty="0" err="1">
                <a:solidFill>
                  <a:schemeClr val="bg1"/>
                </a:solidFill>
                <a:latin typeface="JetBrains Mono Light" panose="02000009000000000000" pitchFamily="49" charset="0"/>
                <a:cs typeface="JetBrains Mono Light" panose="02000009000000000000" pitchFamily="49" charset="0"/>
              </a:rPr>
              <a:t>Từ</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đó</a:t>
            </a:r>
            <a:r>
              <a:rPr lang="en-US" dirty="0">
                <a:solidFill>
                  <a:schemeClr val="bg1"/>
                </a:solidFill>
                <a:latin typeface="JetBrains Mono Light" panose="02000009000000000000" pitchFamily="49" charset="0"/>
                <a:cs typeface="JetBrains Mono Light" panose="02000009000000000000" pitchFamily="49" charset="0"/>
              </a:rPr>
              <a:t> ta </a:t>
            </a:r>
            <a:r>
              <a:rPr lang="en-US" dirty="0" err="1">
                <a:solidFill>
                  <a:schemeClr val="bg1"/>
                </a:solidFill>
                <a:latin typeface="JetBrains Mono Light" panose="02000009000000000000" pitchFamily="49" charset="0"/>
                <a:cs typeface="JetBrains Mono Light" panose="02000009000000000000" pitchFamily="49" charset="0"/>
              </a:rPr>
              <a:t>có</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các</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tính</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chất</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sau</a:t>
            </a:r>
            <a:r>
              <a:rPr lang="en-US" dirty="0">
                <a:solidFill>
                  <a:schemeClr val="bg1"/>
                </a:solidFill>
                <a:latin typeface="JetBrains Mono Light" panose="02000009000000000000" pitchFamily="49" charset="0"/>
                <a:cs typeface="JetBrains Mono Light" panose="02000009000000000000" pitchFamily="49" charset="0"/>
              </a:rPr>
              <a:t>:</a:t>
            </a:r>
          </a:p>
        </p:txBody>
      </p:sp>
      <p:sp>
        <p:nvSpPr>
          <p:cNvPr id="30" name="TextBox 29">
            <a:extLst>
              <a:ext uri="{FF2B5EF4-FFF2-40B4-BE49-F238E27FC236}">
                <a16:creationId xmlns:a16="http://schemas.microsoft.com/office/drawing/2014/main" id="{A25C89B8-54D2-400D-BCF1-6998B8E799A8}"/>
              </a:ext>
            </a:extLst>
          </p:cNvPr>
          <p:cNvSpPr txBox="1"/>
          <p:nvPr/>
        </p:nvSpPr>
        <p:spPr>
          <a:xfrm>
            <a:off x="1196597" y="4044506"/>
            <a:ext cx="1603753" cy="492443"/>
          </a:xfrm>
          <a:prstGeom prst="rect">
            <a:avLst/>
          </a:prstGeom>
          <a:noFill/>
          <a:ln>
            <a:solidFill>
              <a:schemeClr val="bg1"/>
            </a:solidFill>
          </a:ln>
        </p:spPr>
        <p:txBody>
          <a:bodyPr wrap="square" rtlCol="0">
            <a:spAutoFit/>
          </a:bodyPr>
          <a:lstStyle/>
          <a:p>
            <a:r>
              <a:rPr lang="en-US" sz="2600" dirty="0" err="1">
                <a:solidFill>
                  <a:schemeClr val="bg1"/>
                </a:solidFill>
                <a:latin typeface="JetBrains Mono Light" panose="02000009000000000000" pitchFamily="49" charset="0"/>
                <a:cs typeface="JetBrains Mono Light" panose="02000009000000000000" pitchFamily="49" charset="0"/>
              </a:rPr>
              <a:t>Phản</a:t>
            </a:r>
            <a:r>
              <a:rPr lang="en-US" sz="2600" dirty="0">
                <a:solidFill>
                  <a:schemeClr val="bg1"/>
                </a:solidFill>
                <a:latin typeface="JetBrains Mono Light" panose="02000009000000000000" pitchFamily="49" charset="0"/>
                <a:cs typeface="JetBrains Mono Light" panose="02000009000000000000" pitchFamily="49" charset="0"/>
              </a:rPr>
              <a:t> </a:t>
            </a:r>
            <a:r>
              <a:rPr lang="en-US" sz="2600" dirty="0" err="1">
                <a:solidFill>
                  <a:schemeClr val="bg1"/>
                </a:solidFill>
                <a:latin typeface="JetBrains Mono Light" panose="02000009000000000000" pitchFamily="49" charset="0"/>
                <a:cs typeface="JetBrains Mono Light" panose="02000009000000000000" pitchFamily="49" charset="0"/>
              </a:rPr>
              <a:t>xạ</a:t>
            </a:r>
            <a:endParaRPr lang="en-US" sz="2600" dirty="0">
              <a:solidFill>
                <a:schemeClr val="bg1"/>
              </a:solidFill>
              <a:latin typeface="JetBrains Mono Light" panose="02000009000000000000" pitchFamily="49" charset="0"/>
              <a:cs typeface="JetBrains Mono Light" panose="02000009000000000000" pitchFamily="49" charset="0"/>
            </a:endParaRPr>
          </a:p>
        </p:txBody>
      </p:sp>
      <p:sp>
        <p:nvSpPr>
          <p:cNvPr id="31" name="TextBox 30">
            <a:extLst>
              <a:ext uri="{FF2B5EF4-FFF2-40B4-BE49-F238E27FC236}">
                <a16:creationId xmlns:a16="http://schemas.microsoft.com/office/drawing/2014/main" id="{B648525D-6845-483B-8A62-8D9BF5D4163A}"/>
              </a:ext>
            </a:extLst>
          </p:cNvPr>
          <p:cNvSpPr txBox="1"/>
          <p:nvPr/>
        </p:nvSpPr>
        <p:spPr>
          <a:xfrm>
            <a:off x="6553110" y="4096037"/>
            <a:ext cx="1886129" cy="492443"/>
          </a:xfrm>
          <a:prstGeom prst="rect">
            <a:avLst/>
          </a:prstGeom>
          <a:noFill/>
          <a:ln>
            <a:solidFill>
              <a:schemeClr val="bg1"/>
            </a:solidFill>
          </a:ln>
        </p:spPr>
        <p:txBody>
          <a:bodyPr wrap="square" rtlCol="0">
            <a:spAutoFit/>
          </a:bodyPr>
          <a:lstStyle/>
          <a:p>
            <a:pPr algn="ctr"/>
            <a:r>
              <a:rPr lang="en-US" sz="2600" dirty="0" err="1">
                <a:solidFill>
                  <a:schemeClr val="bg1"/>
                </a:solidFill>
                <a:latin typeface="JetBrains Mono Light" panose="02000009000000000000" pitchFamily="49" charset="0"/>
                <a:cs typeface="JetBrains Mono Light" panose="02000009000000000000" pitchFamily="49" charset="0"/>
              </a:rPr>
              <a:t>Đối</a:t>
            </a:r>
            <a:r>
              <a:rPr lang="en-US" sz="2600" dirty="0">
                <a:solidFill>
                  <a:schemeClr val="bg1"/>
                </a:solidFill>
                <a:latin typeface="JetBrains Mono Light" panose="02000009000000000000" pitchFamily="49" charset="0"/>
                <a:cs typeface="JetBrains Mono Light" panose="02000009000000000000" pitchFamily="49" charset="0"/>
              </a:rPr>
              <a:t> </a:t>
            </a:r>
            <a:r>
              <a:rPr lang="en-US" sz="2600" dirty="0" err="1">
                <a:solidFill>
                  <a:schemeClr val="bg1"/>
                </a:solidFill>
                <a:latin typeface="JetBrains Mono Light" panose="02000009000000000000" pitchFamily="49" charset="0"/>
                <a:cs typeface="JetBrains Mono Light" panose="02000009000000000000" pitchFamily="49" charset="0"/>
              </a:rPr>
              <a:t>xứng</a:t>
            </a:r>
            <a:endParaRPr lang="en-US" sz="2600" dirty="0">
              <a:solidFill>
                <a:schemeClr val="bg1"/>
              </a:solidFill>
              <a:latin typeface="JetBrains Mono Light" panose="02000009000000000000" pitchFamily="49" charset="0"/>
              <a:cs typeface="JetBrains Mono Light" panose="02000009000000000000" pitchFamily="49" charset="0"/>
            </a:endParaRPr>
          </a:p>
        </p:txBody>
      </p:sp>
      <p:sp>
        <p:nvSpPr>
          <p:cNvPr id="32" name="TextBox 31">
            <a:extLst>
              <a:ext uri="{FF2B5EF4-FFF2-40B4-BE49-F238E27FC236}">
                <a16:creationId xmlns:a16="http://schemas.microsoft.com/office/drawing/2014/main" id="{FE52DD99-DCA0-4916-A5DE-2A7B2C9DFB69}"/>
              </a:ext>
            </a:extLst>
          </p:cNvPr>
          <p:cNvSpPr txBox="1"/>
          <p:nvPr/>
        </p:nvSpPr>
        <p:spPr>
          <a:xfrm>
            <a:off x="3799587" y="5102167"/>
            <a:ext cx="1672299" cy="492443"/>
          </a:xfrm>
          <a:prstGeom prst="rect">
            <a:avLst/>
          </a:prstGeom>
          <a:noFill/>
          <a:ln>
            <a:solidFill>
              <a:schemeClr val="bg1"/>
            </a:solidFill>
          </a:ln>
        </p:spPr>
        <p:txBody>
          <a:bodyPr wrap="square" rtlCol="0">
            <a:spAutoFit/>
          </a:bodyPr>
          <a:lstStyle/>
          <a:p>
            <a:pPr algn="ctr"/>
            <a:r>
              <a:rPr lang="en-US" sz="2600" dirty="0" err="1">
                <a:solidFill>
                  <a:schemeClr val="bg1"/>
                </a:solidFill>
                <a:latin typeface="JetBrains Mono Light" panose="02000009000000000000" pitchFamily="49" charset="0"/>
                <a:cs typeface="JetBrains Mono Light" panose="02000009000000000000" pitchFamily="49" charset="0"/>
              </a:rPr>
              <a:t>Bắc</a:t>
            </a:r>
            <a:r>
              <a:rPr lang="en-US" sz="2600" dirty="0">
                <a:solidFill>
                  <a:schemeClr val="bg1"/>
                </a:solidFill>
                <a:latin typeface="JetBrains Mono Light" panose="02000009000000000000" pitchFamily="49" charset="0"/>
                <a:cs typeface="JetBrains Mono Light" panose="02000009000000000000" pitchFamily="49" charset="0"/>
              </a:rPr>
              <a:t> </a:t>
            </a:r>
            <a:r>
              <a:rPr lang="en-US" sz="2600" dirty="0" err="1">
                <a:solidFill>
                  <a:schemeClr val="bg1"/>
                </a:solidFill>
                <a:latin typeface="JetBrains Mono Light" panose="02000009000000000000" pitchFamily="49" charset="0"/>
                <a:cs typeface="JetBrains Mono Light" panose="02000009000000000000" pitchFamily="49" charset="0"/>
              </a:rPr>
              <a:t>cầu</a:t>
            </a:r>
            <a:endParaRPr lang="en-US" sz="2600" dirty="0">
              <a:solidFill>
                <a:schemeClr val="bg1"/>
              </a:solidFill>
              <a:latin typeface="JetBrains Mono Light" panose="02000009000000000000" pitchFamily="49" charset="0"/>
              <a:cs typeface="JetBrains Mono Light" panose="02000009000000000000" pitchFamily="49" charset="0"/>
            </a:endParaRPr>
          </a:p>
        </p:txBody>
      </p:sp>
    </p:spTree>
    <p:extLst>
      <p:ext uri="{BB962C8B-B14F-4D97-AF65-F5344CB8AC3E}">
        <p14:creationId xmlns:p14="http://schemas.microsoft.com/office/powerpoint/2010/main" val="16110795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grpId="0" nodeType="withEffect">
                                  <p:stCondLst>
                                    <p:cond delay="80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xit" presetSubtype="0" fill="hold" grpId="1" nodeType="withEffect">
                                  <p:stCondLst>
                                    <p:cond delay="1000"/>
                                  </p:stCondLst>
                                  <p:childTnLst>
                                    <p:animEffect transition="out" filter="fade">
                                      <p:cBhvr>
                                        <p:cTn id="12" dur="300"/>
                                        <p:tgtEl>
                                          <p:spTgt spid="20"/>
                                        </p:tgtEl>
                                      </p:cBhvr>
                                    </p:animEffect>
                                    <p:set>
                                      <p:cBhvr>
                                        <p:cTn id="13" dur="1" fill="hold">
                                          <p:stCondLst>
                                            <p:cond delay="299"/>
                                          </p:stCondLst>
                                        </p:cTn>
                                        <p:tgtEl>
                                          <p:spTgt spid="20"/>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500"/>
                                        <p:tgtEl>
                                          <p:spTgt spid="30"/>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500"/>
                                        <p:tgtEl>
                                          <p:spTgt spid="3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0" grpId="0"/>
      <p:bldP spid="20" grpId="1"/>
      <p:bldP spid="5" grpId="0"/>
      <p:bldP spid="7" grpId="0"/>
      <p:bldP spid="8" grpId="0"/>
      <p:bldP spid="10" grpId="0" animBg="1"/>
      <p:bldP spid="30" grpId="0" animBg="1"/>
      <p:bldP spid="31" grpId="0" animBg="1"/>
      <p:bldP spid="3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ADCB1D2-71BF-4442-85AC-20706F44BBA0}"/>
              </a:ext>
            </a:extLst>
          </p:cNvPr>
          <p:cNvSpPr/>
          <p:nvPr/>
        </p:nvSpPr>
        <p:spPr>
          <a:xfrm>
            <a:off x="0" y="-2556"/>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21" name="Credit MAIN">
            <a:extLst>
              <a:ext uri="{FF2B5EF4-FFF2-40B4-BE49-F238E27FC236}">
                <a16:creationId xmlns:a16="http://schemas.microsoft.com/office/drawing/2014/main" id="{A5F845F1-9489-426E-B1D3-2CCF2A9E61E3}"/>
              </a:ext>
            </a:extLst>
          </p:cNvPr>
          <p:cNvSpPr txBox="1"/>
          <p:nvPr/>
        </p:nvSpPr>
        <p:spPr>
          <a:xfrm>
            <a:off x="50878" y="6420549"/>
            <a:ext cx="2668876" cy="369332"/>
          </a:xfrm>
          <a:prstGeom prst="rect">
            <a:avLst/>
          </a:prstGeom>
          <a:noFill/>
        </p:spPr>
        <p:txBody>
          <a:bodyPr wrap="square" rtlCol="0">
            <a:spAutoFit/>
          </a:bodyPr>
          <a:lstStyle/>
          <a:p>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Phạm </a:t>
            </a:r>
            <a:r>
              <a:rPr lang="en-US"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H</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oàng</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Phong</a:t>
            </a:r>
            <a:endParaRPr lang="en-US" dirty="0">
              <a:solidFill>
                <a:schemeClr val="bg1">
                  <a:lumMod val="95000"/>
                  <a:alpha val="46000"/>
                </a:schemeClr>
              </a:solidFill>
            </a:endParaRPr>
          </a:p>
        </p:txBody>
      </p:sp>
      <p:sp>
        <p:nvSpPr>
          <p:cNvPr id="11" name="Header">
            <a:extLst>
              <a:ext uri="{FF2B5EF4-FFF2-40B4-BE49-F238E27FC236}">
                <a16:creationId xmlns:a16="http://schemas.microsoft.com/office/drawing/2014/main" id="{6A39F230-06D2-4140-8DA2-357C0B9B6D12}"/>
              </a:ext>
            </a:extLst>
          </p:cNvPr>
          <p:cNvSpPr txBox="1"/>
          <p:nvPr/>
        </p:nvSpPr>
        <p:spPr>
          <a:xfrm>
            <a:off x="50878" y="68119"/>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7" name="Footer: Part">
            <a:extLst>
              <a:ext uri="{FF2B5EF4-FFF2-40B4-BE49-F238E27FC236}">
                <a16:creationId xmlns:a16="http://schemas.microsoft.com/office/drawing/2014/main" id="{553347E6-1341-4BA1-A396-FC4741F3FAF1}"/>
              </a:ext>
            </a:extLst>
          </p:cNvPr>
          <p:cNvSpPr txBox="1"/>
          <p:nvPr/>
        </p:nvSpPr>
        <p:spPr>
          <a:xfrm>
            <a:off x="9800491" y="6413178"/>
            <a:ext cx="2319411" cy="369332"/>
          </a:xfrm>
          <a:prstGeom prst="rect">
            <a:avLst/>
          </a:prstGeom>
          <a:noFill/>
        </p:spPr>
        <p:txBody>
          <a:bodyPr wrap="square" rtlCol="0">
            <a:spAutoFit/>
          </a:bodyPr>
          <a:lstStyle/>
          <a:p>
            <a:pPr algn="r"/>
            <a:r>
              <a:rPr lang="en-US" dirty="0" err="1">
                <a:solidFill>
                  <a:schemeClr val="bg1">
                    <a:lumMod val="95000"/>
                  </a:schemeClr>
                </a:solidFill>
                <a:latin typeface="JetBrains Mono" panose="02000009000000000000" pitchFamily="49" charset="0"/>
                <a:cs typeface="JetBrains Mono" panose="02000009000000000000" pitchFamily="49" charset="0"/>
              </a:rPr>
              <a:t>Tính</a:t>
            </a:r>
            <a:r>
              <a:rPr lang="en-US" dirty="0">
                <a:solidFill>
                  <a:schemeClr val="bg1">
                    <a:lumMod val="95000"/>
                  </a:schemeClr>
                </a:solidFill>
                <a:latin typeface="JetBrains Mono" panose="02000009000000000000" pitchFamily="49" charset="0"/>
                <a:cs typeface="JetBrains Mono" panose="02000009000000000000" pitchFamily="49" charset="0"/>
              </a:rPr>
              <a:t> </a:t>
            </a:r>
            <a:r>
              <a:rPr lang="en-US" dirty="0" err="1">
                <a:solidFill>
                  <a:schemeClr val="bg1">
                    <a:lumMod val="95000"/>
                  </a:schemeClr>
                </a:solidFill>
                <a:latin typeface="JetBrains Mono" panose="02000009000000000000" pitchFamily="49" charset="0"/>
                <a:cs typeface="JetBrains Mono" panose="02000009000000000000" pitchFamily="49" charset="0"/>
              </a:rPr>
              <a:t>liên</a:t>
            </a:r>
            <a:r>
              <a:rPr lang="en-US" dirty="0">
                <a:solidFill>
                  <a:schemeClr val="bg1">
                    <a:lumMod val="95000"/>
                  </a:schemeClr>
                </a:solidFill>
                <a:latin typeface="JetBrains Mono" panose="02000009000000000000" pitchFamily="49" charset="0"/>
                <a:cs typeface="JetBrains Mono" panose="02000009000000000000" pitchFamily="49" charset="0"/>
              </a:rPr>
              <a:t> </a:t>
            </a:r>
            <a:r>
              <a:rPr lang="en-US" dirty="0" err="1">
                <a:solidFill>
                  <a:schemeClr val="bg1">
                    <a:lumMod val="95000"/>
                  </a:schemeClr>
                </a:solidFill>
                <a:latin typeface="JetBrains Mono" panose="02000009000000000000" pitchFamily="49" charset="0"/>
                <a:cs typeface="JetBrains Mono" panose="02000009000000000000" pitchFamily="49" charset="0"/>
              </a:rPr>
              <a:t>thông</a:t>
            </a:r>
            <a:r>
              <a:rPr lang="en-US" dirty="0">
                <a:solidFill>
                  <a:schemeClr val="bg1">
                    <a:lumMod val="95000"/>
                  </a:schemeClr>
                </a:solidFill>
                <a:latin typeface="JetBrains Mono" panose="02000009000000000000" pitchFamily="49" charset="0"/>
                <a:cs typeface="JetBrains Mono" panose="02000009000000000000" pitchFamily="49" charset="0"/>
              </a:rPr>
              <a:t> </a:t>
            </a:r>
          </a:p>
        </p:txBody>
      </p:sp>
      <p:sp>
        <p:nvSpPr>
          <p:cNvPr id="19" name="Footer: Title">
            <a:extLst>
              <a:ext uri="{FF2B5EF4-FFF2-40B4-BE49-F238E27FC236}">
                <a16:creationId xmlns:a16="http://schemas.microsoft.com/office/drawing/2014/main" id="{FD144244-98B6-4C54-A114-16CD65E0D522}"/>
              </a:ext>
            </a:extLst>
          </p:cNvPr>
          <p:cNvSpPr txBox="1"/>
          <p:nvPr/>
        </p:nvSpPr>
        <p:spPr>
          <a:xfrm>
            <a:off x="8815785" y="6414047"/>
            <a:ext cx="1160019"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Light" panose="02000009000000000000" pitchFamily="49" charset="0"/>
                <a:cs typeface="JetBrains Mono Light" panose="02000009000000000000" pitchFamily="49" charset="0"/>
              </a:rPr>
              <a:t>:</a:t>
            </a:r>
          </a:p>
        </p:txBody>
      </p:sp>
      <p:sp>
        <p:nvSpPr>
          <p:cNvPr id="25" name="PAGE NUM 0">
            <a:extLst>
              <a:ext uri="{FF2B5EF4-FFF2-40B4-BE49-F238E27FC236}">
                <a16:creationId xmlns:a16="http://schemas.microsoft.com/office/drawing/2014/main" id="{CA8E8643-0820-44FC-9D06-02F2A0A63536}"/>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1</a:t>
            </a:r>
          </a:p>
        </p:txBody>
      </p:sp>
      <p:sp>
        <p:nvSpPr>
          <p:cNvPr id="26" name="PAGE NUM 1">
            <a:extLst>
              <a:ext uri="{FF2B5EF4-FFF2-40B4-BE49-F238E27FC236}">
                <a16:creationId xmlns:a16="http://schemas.microsoft.com/office/drawing/2014/main" id="{6BF8CF33-13C7-458E-A4F5-0A19700195D0}"/>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5</a:t>
            </a:r>
            <a:endParaRPr lang="en-US" dirty="0"/>
          </a:p>
        </p:txBody>
      </p:sp>
      <p:sp>
        <p:nvSpPr>
          <p:cNvPr id="4" name="Rectangle 3">
            <a:extLst>
              <a:ext uri="{FF2B5EF4-FFF2-40B4-BE49-F238E27FC236}">
                <a16:creationId xmlns:a16="http://schemas.microsoft.com/office/drawing/2014/main" id="{CB38D6F8-B45F-44CF-A0B3-4EECDAC74C1C}"/>
              </a:ext>
            </a:extLst>
          </p:cNvPr>
          <p:cNvSpPr/>
          <p:nvPr/>
        </p:nvSpPr>
        <p:spPr>
          <a:xfrm>
            <a:off x="591458" y="591772"/>
            <a:ext cx="2597219"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3252814-A59F-4DD2-85FD-AF3B5B3FB847}"/>
              </a:ext>
            </a:extLst>
          </p:cNvPr>
          <p:cNvSpPr txBox="1"/>
          <p:nvPr/>
        </p:nvSpPr>
        <p:spPr>
          <a:xfrm>
            <a:off x="603364" y="591246"/>
            <a:ext cx="2585314" cy="369332"/>
          </a:xfrm>
          <a:prstGeom prst="rect">
            <a:avLst/>
          </a:prstGeom>
          <a:noFill/>
        </p:spPr>
        <p:txBody>
          <a:bodyPr wrap="square" rtlCol="0">
            <a:spAutoFit/>
          </a:bodyPr>
          <a:lstStyle/>
          <a:p>
            <a:r>
              <a:rPr lang="en-US" dirty="0" err="1">
                <a:latin typeface="JetBrains Mono" panose="02000009000000000000" pitchFamily="49" charset="0"/>
                <a:cs typeface="JetBrains Mono" panose="02000009000000000000" pitchFamily="49" charset="0"/>
              </a:rPr>
              <a:t>Đồ</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thị</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liên</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thông</a:t>
            </a:r>
            <a:endParaRPr lang="en-US" dirty="0">
              <a:latin typeface="JetBrains Mono" panose="02000009000000000000" pitchFamily="49" charset="0"/>
              <a:cs typeface="JetBrains Mono" panose="02000009000000000000" pitchFamily="49" charset="0"/>
            </a:endParaRPr>
          </a:p>
        </p:txBody>
      </p:sp>
      <p:sp>
        <p:nvSpPr>
          <p:cNvPr id="10" name="TextBox 9">
            <a:extLst>
              <a:ext uri="{FF2B5EF4-FFF2-40B4-BE49-F238E27FC236}">
                <a16:creationId xmlns:a16="http://schemas.microsoft.com/office/drawing/2014/main" id="{2C8B8CFF-5F8E-4EFC-A03F-E8B82A5E0DDA}"/>
              </a:ext>
            </a:extLst>
          </p:cNvPr>
          <p:cNvSpPr txBox="1"/>
          <p:nvPr/>
        </p:nvSpPr>
        <p:spPr>
          <a:xfrm>
            <a:off x="928115" y="1068476"/>
            <a:ext cx="4394162" cy="369332"/>
          </a:xfrm>
          <a:prstGeom prst="rect">
            <a:avLst/>
          </a:prstGeom>
          <a:noFill/>
        </p:spPr>
        <p:txBody>
          <a:bodyPr wrap="square" rtlCol="0">
            <a:spAutoFit/>
          </a:bodyPr>
          <a:lstStyle/>
          <a:p>
            <a:r>
              <a:rPr lang="en-US" dirty="0" err="1">
                <a:solidFill>
                  <a:schemeClr val="bg1"/>
                </a:solidFill>
                <a:latin typeface="JetBrains Mono Light" panose="02000009000000000000" pitchFamily="49" charset="0"/>
                <a:cs typeface="JetBrains Mono Light" panose="02000009000000000000" pitchFamily="49" charset="0"/>
              </a:rPr>
              <a:t>Từ</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đó</a:t>
            </a:r>
            <a:r>
              <a:rPr lang="en-US" dirty="0">
                <a:solidFill>
                  <a:schemeClr val="bg1"/>
                </a:solidFill>
                <a:latin typeface="JetBrains Mono Light" panose="02000009000000000000" pitchFamily="49" charset="0"/>
                <a:cs typeface="JetBrains Mono Light" panose="02000009000000000000" pitchFamily="49" charset="0"/>
              </a:rPr>
              <a:t> ta </a:t>
            </a:r>
            <a:r>
              <a:rPr lang="en-US" dirty="0" err="1">
                <a:solidFill>
                  <a:schemeClr val="bg1"/>
                </a:solidFill>
                <a:latin typeface="JetBrains Mono Light" panose="02000009000000000000" pitchFamily="49" charset="0"/>
                <a:cs typeface="JetBrains Mono Light" panose="02000009000000000000" pitchFamily="49" charset="0"/>
              </a:rPr>
              <a:t>có</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các</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tính</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chất</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sau</a:t>
            </a:r>
            <a:r>
              <a:rPr lang="en-US" dirty="0">
                <a:solidFill>
                  <a:schemeClr val="bg1"/>
                </a:solidFill>
                <a:latin typeface="JetBrains Mono Light" panose="02000009000000000000" pitchFamily="49" charset="0"/>
                <a:cs typeface="JetBrains Mono Light" panose="02000009000000000000" pitchFamily="49" charset="0"/>
              </a:rPr>
              <a:t>:</a:t>
            </a:r>
          </a:p>
        </p:txBody>
      </p:sp>
      <p:sp>
        <p:nvSpPr>
          <p:cNvPr id="30" name="TextBox 29">
            <a:extLst>
              <a:ext uri="{FF2B5EF4-FFF2-40B4-BE49-F238E27FC236}">
                <a16:creationId xmlns:a16="http://schemas.microsoft.com/office/drawing/2014/main" id="{A25C89B8-54D2-400D-BCF1-6998B8E799A8}"/>
              </a:ext>
            </a:extLst>
          </p:cNvPr>
          <p:cNvSpPr txBox="1"/>
          <p:nvPr/>
        </p:nvSpPr>
        <p:spPr>
          <a:xfrm>
            <a:off x="1117678" y="1583493"/>
            <a:ext cx="1180045" cy="369332"/>
          </a:xfrm>
          <a:prstGeom prst="rect">
            <a:avLst/>
          </a:prstGeom>
          <a:solidFill>
            <a:schemeClr val="bg1"/>
          </a:solidFill>
          <a:ln>
            <a:solidFill>
              <a:schemeClr val="bg1"/>
            </a:solidFill>
          </a:ln>
        </p:spPr>
        <p:txBody>
          <a:bodyPr wrap="square" rtlCol="0">
            <a:spAutoFit/>
          </a:bodyPr>
          <a:lstStyle/>
          <a:p>
            <a:r>
              <a:rPr lang="en-US" dirty="0" err="1">
                <a:latin typeface="JetBrains Mono Light" panose="02000009000000000000" pitchFamily="49" charset="0"/>
                <a:cs typeface="JetBrains Mono Light" panose="02000009000000000000" pitchFamily="49" charset="0"/>
              </a:rPr>
              <a:t>Phản</a:t>
            </a:r>
            <a:r>
              <a:rPr lang="en-US" dirty="0">
                <a:latin typeface="JetBrains Mono Light" panose="02000009000000000000" pitchFamily="49" charset="0"/>
                <a:cs typeface="JetBrains Mono Light" panose="02000009000000000000" pitchFamily="49" charset="0"/>
              </a:rPr>
              <a:t> </a:t>
            </a:r>
            <a:r>
              <a:rPr lang="en-US" dirty="0" err="1">
                <a:latin typeface="JetBrains Mono Light" panose="02000009000000000000" pitchFamily="49" charset="0"/>
                <a:cs typeface="JetBrains Mono Light" panose="02000009000000000000" pitchFamily="49" charset="0"/>
              </a:rPr>
              <a:t>xạ</a:t>
            </a:r>
            <a:endParaRPr lang="en-US" dirty="0">
              <a:latin typeface="JetBrains Mono Light" panose="02000009000000000000" pitchFamily="49" charset="0"/>
              <a:cs typeface="JetBrains Mono Light" panose="02000009000000000000" pitchFamily="49" charset="0"/>
            </a:endParaRPr>
          </a:p>
        </p:txBody>
      </p:sp>
      <p:sp>
        <p:nvSpPr>
          <p:cNvPr id="31" name="TextBox 30">
            <a:extLst>
              <a:ext uri="{FF2B5EF4-FFF2-40B4-BE49-F238E27FC236}">
                <a16:creationId xmlns:a16="http://schemas.microsoft.com/office/drawing/2014/main" id="{B648525D-6845-483B-8A62-8D9BF5D4163A}"/>
              </a:ext>
            </a:extLst>
          </p:cNvPr>
          <p:cNvSpPr txBox="1"/>
          <p:nvPr/>
        </p:nvSpPr>
        <p:spPr>
          <a:xfrm>
            <a:off x="1117678" y="5134784"/>
            <a:ext cx="1297276" cy="369332"/>
          </a:xfrm>
          <a:prstGeom prst="rect">
            <a:avLst/>
          </a:prstGeom>
          <a:noFill/>
          <a:ln>
            <a:solidFill>
              <a:schemeClr val="bg1">
                <a:lumMod val="50000"/>
                <a:alpha val="95000"/>
              </a:schemeClr>
            </a:solidFill>
          </a:ln>
        </p:spPr>
        <p:txBody>
          <a:bodyPr wrap="square" rtlCol="0">
            <a:spAutoFit/>
          </a:bodyPr>
          <a:lstStyle/>
          <a:p>
            <a:r>
              <a:rPr lang="en-US" dirty="0" err="1">
                <a:solidFill>
                  <a:schemeClr val="bg1">
                    <a:lumMod val="50000"/>
                  </a:schemeClr>
                </a:solidFill>
                <a:latin typeface="JetBrains Mono Light" panose="02000009000000000000" pitchFamily="49" charset="0"/>
                <a:cs typeface="JetBrains Mono Light" panose="02000009000000000000" pitchFamily="49" charset="0"/>
              </a:rPr>
              <a:t>Đối</a:t>
            </a:r>
            <a:r>
              <a:rPr lang="en-US" dirty="0">
                <a:solidFill>
                  <a:schemeClr val="bg1">
                    <a:lumMod val="50000"/>
                  </a:schemeClr>
                </a:solidFill>
                <a:latin typeface="JetBrains Mono Light" panose="02000009000000000000" pitchFamily="49" charset="0"/>
                <a:cs typeface="JetBrains Mono Light" panose="02000009000000000000" pitchFamily="49" charset="0"/>
              </a:rPr>
              <a:t> </a:t>
            </a:r>
            <a:r>
              <a:rPr lang="en-US" dirty="0" err="1">
                <a:solidFill>
                  <a:schemeClr val="bg1">
                    <a:lumMod val="50000"/>
                  </a:schemeClr>
                </a:solidFill>
                <a:latin typeface="JetBrains Mono Light" panose="02000009000000000000" pitchFamily="49" charset="0"/>
                <a:cs typeface="JetBrains Mono Light" panose="02000009000000000000" pitchFamily="49" charset="0"/>
              </a:rPr>
              <a:t>xứng</a:t>
            </a:r>
            <a:r>
              <a:rPr lang="en-US" dirty="0">
                <a:solidFill>
                  <a:schemeClr val="bg1">
                    <a:lumMod val="50000"/>
                  </a:schemeClr>
                </a:solidFill>
                <a:latin typeface="JetBrains Mono Light" panose="02000009000000000000" pitchFamily="49" charset="0"/>
                <a:cs typeface="JetBrains Mono Light" panose="02000009000000000000" pitchFamily="49" charset="0"/>
              </a:rPr>
              <a:t> </a:t>
            </a:r>
          </a:p>
        </p:txBody>
      </p:sp>
      <p:sp>
        <p:nvSpPr>
          <p:cNvPr id="32" name="TextBox 31">
            <a:extLst>
              <a:ext uri="{FF2B5EF4-FFF2-40B4-BE49-F238E27FC236}">
                <a16:creationId xmlns:a16="http://schemas.microsoft.com/office/drawing/2014/main" id="{FE52DD99-DCA0-4916-A5DE-2A7B2C9DFB69}"/>
              </a:ext>
            </a:extLst>
          </p:cNvPr>
          <p:cNvSpPr txBox="1"/>
          <p:nvPr/>
        </p:nvSpPr>
        <p:spPr>
          <a:xfrm>
            <a:off x="1117678" y="5584480"/>
            <a:ext cx="1180045" cy="369332"/>
          </a:xfrm>
          <a:prstGeom prst="rect">
            <a:avLst/>
          </a:prstGeom>
          <a:noFill/>
          <a:ln>
            <a:solidFill>
              <a:schemeClr val="bg1">
                <a:lumMod val="50000"/>
              </a:schemeClr>
            </a:solidFill>
          </a:ln>
        </p:spPr>
        <p:txBody>
          <a:bodyPr wrap="square" rtlCol="0">
            <a:spAutoFit/>
          </a:bodyPr>
          <a:lstStyle/>
          <a:p>
            <a:r>
              <a:rPr lang="en-US" dirty="0" err="1">
                <a:solidFill>
                  <a:schemeClr val="bg1">
                    <a:lumMod val="50000"/>
                  </a:schemeClr>
                </a:solidFill>
                <a:latin typeface="JetBrains Mono Light" panose="02000009000000000000" pitchFamily="49" charset="0"/>
                <a:cs typeface="JetBrains Mono Light" panose="02000009000000000000" pitchFamily="49" charset="0"/>
              </a:rPr>
              <a:t>Bắc</a:t>
            </a:r>
            <a:r>
              <a:rPr lang="en-US" dirty="0">
                <a:solidFill>
                  <a:schemeClr val="bg1">
                    <a:lumMod val="50000"/>
                  </a:schemeClr>
                </a:solidFill>
                <a:latin typeface="JetBrains Mono Light" panose="02000009000000000000" pitchFamily="49" charset="0"/>
                <a:cs typeface="JetBrains Mono Light" panose="02000009000000000000" pitchFamily="49" charset="0"/>
              </a:rPr>
              <a:t> </a:t>
            </a:r>
            <a:r>
              <a:rPr lang="en-US" dirty="0" err="1">
                <a:solidFill>
                  <a:schemeClr val="bg1">
                    <a:lumMod val="50000"/>
                  </a:schemeClr>
                </a:solidFill>
                <a:latin typeface="JetBrains Mono Light" panose="02000009000000000000" pitchFamily="49" charset="0"/>
                <a:cs typeface="JetBrains Mono Light" panose="02000009000000000000" pitchFamily="49" charset="0"/>
              </a:rPr>
              <a:t>cầu</a:t>
            </a:r>
            <a:endParaRPr lang="en-US"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23" name="TextBox 22">
            <a:extLst>
              <a:ext uri="{FF2B5EF4-FFF2-40B4-BE49-F238E27FC236}">
                <a16:creationId xmlns:a16="http://schemas.microsoft.com/office/drawing/2014/main" id="{14C8FC10-257C-45C7-98BC-F045783517EE}"/>
              </a:ext>
            </a:extLst>
          </p:cNvPr>
          <p:cNvSpPr txBox="1"/>
          <p:nvPr/>
        </p:nvSpPr>
        <p:spPr>
          <a:xfrm>
            <a:off x="1582615" y="2096210"/>
            <a:ext cx="7233169" cy="369332"/>
          </a:xfrm>
          <a:prstGeom prst="rect">
            <a:avLst/>
          </a:prstGeom>
          <a:noFill/>
          <a:ln>
            <a:noFill/>
          </a:ln>
        </p:spPr>
        <p:txBody>
          <a:bodyPr wrap="square" rtlCol="0">
            <a:spAutoFit/>
          </a:bodyPr>
          <a:lstStyle/>
          <a:p>
            <a:r>
              <a:rPr lang="en-US" dirty="0" err="1">
                <a:solidFill>
                  <a:schemeClr val="bg1"/>
                </a:solidFill>
                <a:latin typeface="JetBrains Mono Light" panose="02000009000000000000" pitchFamily="49" charset="0"/>
                <a:ea typeface="Calibri" panose="020F0502020204030204" pitchFamily="34" charset="0"/>
                <a:cs typeface="JetBrains Mono Light" panose="02000009000000000000" pitchFamily="49" charset="0"/>
              </a:rPr>
              <a:t>L</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uôn</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có</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đường</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đi</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độ</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dài</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0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từ</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một</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đỉnh</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đến</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chính</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nó</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a:t>
            </a:r>
            <a:endParaRPr lang="en-US" dirty="0">
              <a:solidFill>
                <a:schemeClr val="bg1"/>
              </a:solidFill>
              <a:latin typeface="JetBrains Mono Light" panose="02000009000000000000" pitchFamily="49" charset="0"/>
              <a:cs typeface="JetBrains Mono Light" panose="02000009000000000000" pitchFamily="49" charset="0"/>
            </a:endParaRPr>
          </a:p>
        </p:txBody>
      </p:sp>
    </p:spTree>
    <p:extLst>
      <p:ext uri="{BB962C8B-B14F-4D97-AF65-F5344CB8AC3E}">
        <p14:creationId xmlns:p14="http://schemas.microsoft.com/office/powerpoint/2010/main" val="144944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ADCB1D2-71BF-4442-85AC-20706F44BBA0}"/>
              </a:ext>
            </a:extLst>
          </p:cNvPr>
          <p:cNvSpPr/>
          <p:nvPr/>
        </p:nvSpPr>
        <p:spPr>
          <a:xfrm>
            <a:off x="0" y="-2556"/>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21" name="Credit MAIN">
            <a:extLst>
              <a:ext uri="{FF2B5EF4-FFF2-40B4-BE49-F238E27FC236}">
                <a16:creationId xmlns:a16="http://schemas.microsoft.com/office/drawing/2014/main" id="{A5F845F1-9489-426E-B1D3-2CCF2A9E61E3}"/>
              </a:ext>
            </a:extLst>
          </p:cNvPr>
          <p:cNvSpPr txBox="1"/>
          <p:nvPr/>
        </p:nvSpPr>
        <p:spPr>
          <a:xfrm>
            <a:off x="50878" y="6420549"/>
            <a:ext cx="2668876" cy="369332"/>
          </a:xfrm>
          <a:prstGeom prst="rect">
            <a:avLst/>
          </a:prstGeom>
          <a:noFill/>
        </p:spPr>
        <p:txBody>
          <a:bodyPr wrap="square" rtlCol="0">
            <a:spAutoFit/>
          </a:bodyPr>
          <a:lstStyle/>
          <a:p>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Phạm </a:t>
            </a:r>
            <a:r>
              <a:rPr lang="en-US"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H</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oàng</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Phong</a:t>
            </a:r>
            <a:endParaRPr lang="en-US" dirty="0">
              <a:solidFill>
                <a:schemeClr val="bg1">
                  <a:lumMod val="95000"/>
                  <a:alpha val="46000"/>
                </a:schemeClr>
              </a:solidFill>
            </a:endParaRPr>
          </a:p>
        </p:txBody>
      </p:sp>
      <p:sp>
        <p:nvSpPr>
          <p:cNvPr id="11" name="Header">
            <a:extLst>
              <a:ext uri="{FF2B5EF4-FFF2-40B4-BE49-F238E27FC236}">
                <a16:creationId xmlns:a16="http://schemas.microsoft.com/office/drawing/2014/main" id="{6A39F230-06D2-4140-8DA2-357C0B9B6D12}"/>
              </a:ext>
            </a:extLst>
          </p:cNvPr>
          <p:cNvSpPr txBox="1"/>
          <p:nvPr/>
        </p:nvSpPr>
        <p:spPr>
          <a:xfrm>
            <a:off x="50878" y="68119"/>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7" name="Footer: Part">
            <a:extLst>
              <a:ext uri="{FF2B5EF4-FFF2-40B4-BE49-F238E27FC236}">
                <a16:creationId xmlns:a16="http://schemas.microsoft.com/office/drawing/2014/main" id="{553347E6-1341-4BA1-A396-FC4741F3FAF1}"/>
              </a:ext>
            </a:extLst>
          </p:cNvPr>
          <p:cNvSpPr txBox="1"/>
          <p:nvPr/>
        </p:nvSpPr>
        <p:spPr>
          <a:xfrm>
            <a:off x="9800491" y="6413178"/>
            <a:ext cx="2319411" cy="369332"/>
          </a:xfrm>
          <a:prstGeom prst="rect">
            <a:avLst/>
          </a:prstGeom>
          <a:noFill/>
        </p:spPr>
        <p:txBody>
          <a:bodyPr wrap="square" rtlCol="0">
            <a:spAutoFit/>
          </a:bodyPr>
          <a:lstStyle/>
          <a:p>
            <a:pPr algn="r"/>
            <a:r>
              <a:rPr lang="en-US" dirty="0" err="1">
                <a:solidFill>
                  <a:schemeClr val="bg1">
                    <a:lumMod val="95000"/>
                  </a:schemeClr>
                </a:solidFill>
                <a:latin typeface="JetBrains Mono" panose="02000009000000000000" pitchFamily="49" charset="0"/>
                <a:cs typeface="JetBrains Mono" panose="02000009000000000000" pitchFamily="49" charset="0"/>
              </a:rPr>
              <a:t>Tính</a:t>
            </a:r>
            <a:r>
              <a:rPr lang="en-US" dirty="0">
                <a:solidFill>
                  <a:schemeClr val="bg1">
                    <a:lumMod val="95000"/>
                  </a:schemeClr>
                </a:solidFill>
                <a:latin typeface="JetBrains Mono" panose="02000009000000000000" pitchFamily="49" charset="0"/>
                <a:cs typeface="JetBrains Mono" panose="02000009000000000000" pitchFamily="49" charset="0"/>
              </a:rPr>
              <a:t> </a:t>
            </a:r>
            <a:r>
              <a:rPr lang="en-US" dirty="0" err="1">
                <a:solidFill>
                  <a:schemeClr val="bg1">
                    <a:lumMod val="95000"/>
                  </a:schemeClr>
                </a:solidFill>
                <a:latin typeface="JetBrains Mono" panose="02000009000000000000" pitchFamily="49" charset="0"/>
                <a:cs typeface="JetBrains Mono" panose="02000009000000000000" pitchFamily="49" charset="0"/>
              </a:rPr>
              <a:t>liên</a:t>
            </a:r>
            <a:r>
              <a:rPr lang="en-US" dirty="0">
                <a:solidFill>
                  <a:schemeClr val="bg1">
                    <a:lumMod val="95000"/>
                  </a:schemeClr>
                </a:solidFill>
                <a:latin typeface="JetBrains Mono" panose="02000009000000000000" pitchFamily="49" charset="0"/>
                <a:cs typeface="JetBrains Mono" panose="02000009000000000000" pitchFamily="49" charset="0"/>
              </a:rPr>
              <a:t> </a:t>
            </a:r>
            <a:r>
              <a:rPr lang="en-US" dirty="0" err="1">
                <a:solidFill>
                  <a:schemeClr val="bg1">
                    <a:lumMod val="95000"/>
                  </a:schemeClr>
                </a:solidFill>
                <a:latin typeface="JetBrains Mono" panose="02000009000000000000" pitchFamily="49" charset="0"/>
                <a:cs typeface="JetBrains Mono" panose="02000009000000000000" pitchFamily="49" charset="0"/>
              </a:rPr>
              <a:t>thông</a:t>
            </a:r>
            <a:r>
              <a:rPr lang="en-US" dirty="0">
                <a:solidFill>
                  <a:schemeClr val="bg1">
                    <a:lumMod val="95000"/>
                  </a:schemeClr>
                </a:solidFill>
                <a:latin typeface="JetBrains Mono" panose="02000009000000000000" pitchFamily="49" charset="0"/>
                <a:cs typeface="JetBrains Mono" panose="02000009000000000000" pitchFamily="49" charset="0"/>
              </a:rPr>
              <a:t> </a:t>
            </a:r>
          </a:p>
        </p:txBody>
      </p:sp>
      <p:sp>
        <p:nvSpPr>
          <p:cNvPr id="19" name="Footer: Title">
            <a:extLst>
              <a:ext uri="{FF2B5EF4-FFF2-40B4-BE49-F238E27FC236}">
                <a16:creationId xmlns:a16="http://schemas.microsoft.com/office/drawing/2014/main" id="{FD144244-98B6-4C54-A114-16CD65E0D522}"/>
              </a:ext>
            </a:extLst>
          </p:cNvPr>
          <p:cNvSpPr txBox="1"/>
          <p:nvPr/>
        </p:nvSpPr>
        <p:spPr>
          <a:xfrm>
            <a:off x="8815785" y="6414047"/>
            <a:ext cx="1160019"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Light" panose="02000009000000000000" pitchFamily="49" charset="0"/>
                <a:cs typeface="JetBrains Mono Light" panose="02000009000000000000" pitchFamily="49" charset="0"/>
              </a:rPr>
              <a:t>:</a:t>
            </a:r>
          </a:p>
        </p:txBody>
      </p:sp>
      <p:sp>
        <p:nvSpPr>
          <p:cNvPr id="25" name="PAGE NUM 0">
            <a:extLst>
              <a:ext uri="{FF2B5EF4-FFF2-40B4-BE49-F238E27FC236}">
                <a16:creationId xmlns:a16="http://schemas.microsoft.com/office/drawing/2014/main" id="{CA8E8643-0820-44FC-9D06-02F2A0A63536}"/>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1</a:t>
            </a:r>
          </a:p>
        </p:txBody>
      </p:sp>
      <p:sp>
        <p:nvSpPr>
          <p:cNvPr id="26" name="PAGE NUM 1">
            <a:extLst>
              <a:ext uri="{FF2B5EF4-FFF2-40B4-BE49-F238E27FC236}">
                <a16:creationId xmlns:a16="http://schemas.microsoft.com/office/drawing/2014/main" id="{6BF8CF33-13C7-458E-A4F5-0A19700195D0}"/>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6</a:t>
            </a:r>
            <a:endParaRPr lang="en-US" dirty="0"/>
          </a:p>
        </p:txBody>
      </p:sp>
      <p:sp>
        <p:nvSpPr>
          <p:cNvPr id="4" name="Rectangle 3">
            <a:extLst>
              <a:ext uri="{FF2B5EF4-FFF2-40B4-BE49-F238E27FC236}">
                <a16:creationId xmlns:a16="http://schemas.microsoft.com/office/drawing/2014/main" id="{CB38D6F8-B45F-44CF-A0B3-4EECDAC74C1C}"/>
              </a:ext>
            </a:extLst>
          </p:cNvPr>
          <p:cNvSpPr/>
          <p:nvPr/>
        </p:nvSpPr>
        <p:spPr>
          <a:xfrm>
            <a:off x="591458" y="591772"/>
            <a:ext cx="2597219"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3252814-A59F-4DD2-85FD-AF3B5B3FB847}"/>
              </a:ext>
            </a:extLst>
          </p:cNvPr>
          <p:cNvSpPr txBox="1"/>
          <p:nvPr/>
        </p:nvSpPr>
        <p:spPr>
          <a:xfrm>
            <a:off x="603364" y="591246"/>
            <a:ext cx="2585314" cy="369332"/>
          </a:xfrm>
          <a:prstGeom prst="rect">
            <a:avLst/>
          </a:prstGeom>
          <a:noFill/>
        </p:spPr>
        <p:txBody>
          <a:bodyPr wrap="square" rtlCol="0">
            <a:spAutoFit/>
          </a:bodyPr>
          <a:lstStyle/>
          <a:p>
            <a:r>
              <a:rPr lang="en-US" dirty="0" err="1">
                <a:latin typeface="JetBrains Mono" panose="02000009000000000000" pitchFamily="49" charset="0"/>
                <a:cs typeface="JetBrains Mono" panose="02000009000000000000" pitchFamily="49" charset="0"/>
              </a:rPr>
              <a:t>Đồ</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thị</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liên</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thông</a:t>
            </a:r>
            <a:endParaRPr lang="en-US" dirty="0">
              <a:latin typeface="JetBrains Mono" panose="02000009000000000000" pitchFamily="49" charset="0"/>
              <a:cs typeface="JetBrains Mono" panose="02000009000000000000" pitchFamily="49" charset="0"/>
            </a:endParaRPr>
          </a:p>
        </p:txBody>
      </p:sp>
      <p:sp>
        <p:nvSpPr>
          <p:cNvPr id="10" name="TextBox 9">
            <a:extLst>
              <a:ext uri="{FF2B5EF4-FFF2-40B4-BE49-F238E27FC236}">
                <a16:creationId xmlns:a16="http://schemas.microsoft.com/office/drawing/2014/main" id="{2C8B8CFF-5F8E-4EFC-A03F-E8B82A5E0DDA}"/>
              </a:ext>
            </a:extLst>
          </p:cNvPr>
          <p:cNvSpPr txBox="1"/>
          <p:nvPr/>
        </p:nvSpPr>
        <p:spPr>
          <a:xfrm>
            <a:off x="928115" y="1068476"/>
            <a:ext cx="4394162" cy="369332"/>
          </a:xfrm>
          <a:prstGeom prst="rect">
            <a:avLst/>
          </a:prstGeom>
          <a:noFill/>
        </p:spPr>
        <p:txBody>
          <a:bodyPr wrap="square" rtlCol="0">
            <a:spAutoFit/>
          </a:bodyPr>
          <a:lstStyle/>
          <a:p>
            <a:r>
              <a:rPr lang="en-US" dirty="0" err="1">
                <a:solidFill>
                  <a:schemeClr val="bg1"/>
                </a:solidFill>
                <a:latin typeface="JetBrains Mono Light" panose="02000009000000000000" pitchFamily="49" charset="0"/>
                <a:cs typeface="JetBrains Mono Light" panose="02000009000000000000" pitchFamily="49" charset="0"/>
              </a:rPr>
              <a:t>Từ</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đó</a:t>
            </a:r>
            <a:r>
              <a:rPr lang="en-US" dirty="0">
                <a:solidFill>
                  <a:schemeClr val="bg1"/>
                </a:solidFill>
                <a:latin typeface="JetBrains Mono Light" panose="02000009000000000000" pitchFamily="49" charset="0"/>
                <a:cs typeface="JetBrains Mono Light" panose="02000009000000000000" pitchFamily="49" charset="0"/>
              </a:rPr>
              <a:t> ta </a:t>
            </a:r>
            <a:r>
              <a:rPr lang="en-US" dirty="0" err="1">
                <a:solidFill>
                  <a:schemeClr val="bg1"/>
                </a:solidFill>
                <a:latin typeface="JetBrains Mono Light" panose="02000009000000000000" pitchFamily="49" charset="0"/>
                <a:cs typeface="JetBrains Mono Light" panose="02000009000000000000" pitchFamily="49" charset="0"/>
              </a:rPr>
              <a:t>có</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các</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tính</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chất</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sau</a:t>
            </a:r>
            <a:r>
              <a:rPr lang="en-US" dirty="0">
                <a:solidFill>
                  <a:schemeClr val="bg1"/>
                </a:solidFill>
                <a:latin typeface="JetBrains Mono Light" panose="02000009000000000000" pitchFamily="49" charset="0"/>
                <a:cs typeface="JetBrains Mono Light" panose="02000009000000000000" pitchFamily="49" charset="0"/>
              </a:rPr>
              <a:t>:</a:t>
            </a:r>
          </a:p>
        </p:txBody>
      </p:sp>
      <p:sp>
        <p:nvSpPr>
          <p:cNvPr id="30" name="TextBox 29">
            <a:extLst>
              <a:ext uri="{FF2B5EF4-FFF2-40B4-BE49-F238E27FC236}">
                <a16:creationId xmlns:a16="http://schemas.microsoft.com/office/drawing/2014/main" id="{A25C89B8-54D2-400D-BCF1-6998B8E799A8}"/>
              </a:ext>
            </a:extLst>
          </p:cNvPr>
          <p:cNvSpPr txBox="1"/>
          <p:nvPr/>
        </p:nvSpPr>
        <p:spPr>
          <a:xfrm>
            <a:off x="1117678" y="1583493"/>
            <a:ext cx="1156599" cy="369332"/>
          </a:xfrm>
          <a:prstGeom prst="rect">
            <a:avLst/>
          </a:prstGeom>
          <a:noFill/>
          <a:ln>
            <a:solidFill>
              <a:schemeClr val="bg1"/>
            </a:solidFill>
          </a:ln>
        </p:spPr>
        <p:txBody>
          <a:bodyPr wrap="square" rtlCol="0">
            <a:spAutoFit/>
          </a:bodyPr>
          <a:lstStyle/>
          <a:p>
            <a:r>
              <a:rPr lang="en-US" dirty="0" err="1">
                <a:solidFill>
                  <a:schemeClr val="bg1"/>
                </a:solidFill>
                <a:latin typeface="JetBrains Mono Light" panose="02000009000000000000" pitchFamily="49" charset="0"/>
                <a:cs typeface="JetBrains Mono Light" panose="02000009000000000000" pitchFamily="49" charset="0"/>
              </a:rPr>
              <a:t>Phản</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xạ</a:t>
            </a:r>
            <a:endParaRPr lang="en-US" dirty="0">
              <a:solidFill>
                <a:schemeClr val="bg1"/>
              </a:solidFill>
              <a:latin typeface="JetBrains Mono Light" panose="02000009000000000000" pitchFamily="49" charset="0"/>
              <a:cs typeface="JetBrains Mono Light" panose="02000009000000000000" pitchFamily="49" charset="0"/>
            </a:endParaRPr>
          </a:p>
        </p:txBody>
      </p:sp>
      <p:sp>
        <p:nvSpPr>
          <p:cNvPr id="31" name="TextBox 30">
            <a:extLst>
              <a:ext uri="{FF2B5EF4-FFF2-40B4-BE49-F238E27FC236}">
                <a16:creationId xmlns:a16="http://schemas.microsoft.com/office/drawing/2014/main" id="{B648525D-6845-483B-8A62-8D9BF5D4163A}"/>
              </a:ext>
            </a:extLst>
          </p:cNvPr>
          <p:cNvSpPr txBox="1"/>
          <p:nvPr/>
        </p:nvSpPr>
        <p:spPr>
          <a:xfrm>
            <a:off x="1117678" y="3121805"/>
            <a:ext cx="1308999" cy="335756"/>
          </a:xfrm>
          <a:prstGeom prst="rect">
            <a:avLst/>
          </a:prstGeom>
          <a:solidFill>
            <a:schemeClr val="bg1"/>
          </a:solidFill>
          <a:ln>
            <a:solidFill>
              <a:schemeClr val="bg1">
                <a:lumMod val="50000"/>
              </a:schemeClr>
            </a:solidFill>
          </a:ln>
        </p:spPr>
        <p:txBody>
          <a:bodyPr wrap="square" rtlCol="0">
            <a:spAutoFit/>
          </a:bodyPr>
          <a:lstStyle/>
          <a:p>
            <a:r>
              <a:rPr lang="en-US" dirty="0" err="1">
                <a:latin typeface="JetBrains Mono Light" panose="02000009000000000000" pitchFamily="49" charset="0"/>
                <a:cs typeface="JetBrains Mono Light" panose="02000009000000000000" pitchFamily="49" charset="0"/>
              </a:rPr>
              <a:t>Đối</a:t>
            </a:r>
            <a:r>
              <a:rPr lang="en-US" dirty="0">
                <a:latin typeface="JetBrains Mono Light" panose="02000009000000000000" pitchFamily="49" charset="0"/>
                <a:cs typeface="JetBrains Mono Light" panose="02000009000000000000" pitchFamily="49" charset="0"/>
              </a:rPr>
              <a:t> </a:t>
            </a:r>
            <a:r>
              <a:rPr lang="en-US" dirty="0" err="1">
                <a:latin typeface="JetBrains Mono Light" panose="02000009000000000000" pitchFamily="49" charset="0"/>
                <a:cs typeface="JetBrains Mono Light" panose="02000009000000000000" pitchFamily="49" charset="0"/>
              </a:rPr>
              <a:t>xứng</a:t>
            </a:r>
            <a:endParaRPr lang="en-US" dirty="0">
              <a:latin typeface="JetBrains Mono Light" panose="02000009000000000000" pitchFamily="49" charset="0"/>
              <a:cs typeface="JetBrains Mono Light" panose="02000009000000000000" pitchFamily="49" charset="0"/>
            </a:endParaRPr>
          </a:p>
        </p:txBody>
      </p:sp>
      <p:sp>
        <p:nvSpPr>
          <p:cNvPr id="32" name="TextBox 31">
            <a:extLst>
              <a:ext uri="{FF2B5EF4-FFF2-40B4-BE49-F238E27FC236}">
                <a16:creationId xmlns:a16="http://schemas.microsoft.com/office/drawing/2014/main" id="{FE52DD99-DCA0-4916-A5DE-2A7B2C9DFB69}"/>
              </a:ext>
            </a:extLst>
          </p:cNvPr>
          <p:cNvSpPr txBox="1"/>
          <p:nvPr/>
        </p:nvSpPr>
        <p:spPr>
          <a:xfrm>
            <a:off x="1117678" y="5584480"/>
            <a:ext cx="1156599" cy="369332"/>
          </a:xfrm>
          <a:prstGeom prst="rect">
            <a:avLst/>
          </a:prstGeom>
          <a:noFill/>
          <a:ln>
            <a:solidFill>
              <a:schemeClr val="bg1">
                <a:lumMod val="50000"/>
              </a:schemeClr>
            </a:solidFill>
          </a:ln>
        </p:spPr>
        <p:txBody>
          <a:bodyPr wrap="square" rtlCol="0">
            <a:spAutoFit/>
          </a:bodyPr>
          <a:lstStyle/>
          <a:p>
            <a:r>
              <a:rPr lang="en-US" dirty="0" err="1">
                <a:solidFill>
                  <a:schemeClr val="bg1">
                    <a:lumMod val="50000"/>
                  </a:schemeClr>
                </a:solidFill>
                <a:latin typeface="JetBrains Mono Light" panose="02000009000000000000" pitchFamily="49" charset="0"/>
                <a:cs typeface="JetBrains Mono Light" panose="02000009000000000000" pitchFamily="49" charset="0"/>
              </a:rPr>
              <a:t>Bắc</a:t>
            </a:r>
            <a:r>
              <a:rPr lang="en-US" dirty="0">
                <a:solidFill>
                  <a:schemeClr val="bg1">
                    <a:lumMod val="50000"/>
                  </a:schemeClr>
                </a:solidFill>
                <a:latin typeface="JetBrains Mono Light" panose="02000009000000000000" pitchFamily="49" charset="0"/>
                <a:cs typeface="JetBrains Mono Light" panose="02000009000000000000" pitchFamily="49" charset="0"/>
              </a:rPr>
              <a:t> </a:t>
            </a:r>
            <a:r>
              <a:rPr lang="en-US" dirty="0" err="1">
                <a:solidFill>
                  <a:schemeClr val="bg1">
                    <a:lumMod val="50000"/>
                  </a:schemeClr>
                </a:solidFill>
                <a:latin typeface="JetBrains Mono Light" panose="02000009000000000000" pitchFamily="49" charset="0"/>
                <a:cs typeface="JetBrains Mono Light" panose="02000009000000000000" pitchFamily="49" charset="0"/>
              </a:rPr>
              <a:t>cầu</a:t>
            </a:r>
            <a:endParaRPr lang="en-US"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23" name="TextBox 22">
            <a:extLst>
              <a:ext uri="{FF2B5EF4-FFF2-40B4-BE49-F238E27FC236}">
                <a16:creationId xmlns:a16="http://schemas.microsoft.com/office/drawing/2014/main" id="{14C8FC10-257C-45C7-98BC-F045783517EE}"/>
              </a:ext>
            </a:extLst>
          </p:cNvPr>
          <p:cNvSpPr txBox="1"/>
          <p:nvPr/>
        </p:nvSpPr>
        <p:spPr>
          <a:xfrm>
            <a:off x="1582615" y="2096210"/>
            <a:ext cx="7233169" cy="369332"/>
          </a:xfrm>
          <a:prstGeom prst="rect">
            <a:avLst/>
          </a:prstGeom>
          <a:noFill/>
          <a:ln>
            <a:noFill/>
          </a:ln>
        </p:spPr>
        <p:txBody>
          <a:bodyPr wrap="square" rtlCol="0">
            <a:spAutoFit/>
          </a:bodyPr>
          <a:lstStyle/>
          <a:p>
            <a:r>
              <a:rPr lang="en-US" dirty="0" err="1">
                <a:solidFill>
                  <a:schemeClr val="bg1"/>
                </a:solidFill>
                <a:latin typeface="JetBrains Mono Light" panose="02000009000000000000" pitchFamily="49" charset="0"/>
                <a:ea typeface="Calibri" panose="020F0502020204030204" pitchFamily="34" charset="0"/>
                <a:cs typeface="JetBrains Mono Light" panose="02000009000000000000" pitchFamily="49" charset="0"/>
              </a:rPr>
              <a:t>L</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uôn</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có</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đường</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đi</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độ</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dài</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0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từ</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một</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đỉnh</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đến</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chính</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nó</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a:t>
            </a:r>
            <a:endParaRPr lang="en-US" dirty="0">
              <a:solidFill>
                <a:schemeClr val="bg1"/>
              </a:solidFill>
              <a:latin typeface="JetBrains Mono Light" panose="02000009000000000000" pitchFamily="49" charset="0"/>
              <a:cs typeface="JetBrains Mono Light" panose="02000009000000000000" pitchFamily="49" charset="0"/>
            </a:endParaRPr>
          </a:p>
        </p:txBody>
      </p:sp>
      <p:sp>
        <p:nvSpPr>
          <p:cNvPr id="16" name="TextBox 15">
            <a:extLst>
              <a:ext uri="{FF2B5EF4-FFF2-40B4-BE49-F238E27FC236}">
                <a16:creationId xmlns:a16="http://schemas.microsoft.com/office/drawing/2014/main" id="{3E010D9B-638A-4920-9D12-DF13031D0AE0}"/>
              </a:ext>
            </a:extLst>
          </p:cNvPr>
          <p:cNvSpPr txBox="1"/>
          <p:nvPr/>
        </p:nvSpPr>
        <p:spPr>
          <a:xfrm>
            <a:off x="1582616" y="3647112"/>
            <a:ext cx="8217876" cy="587574"/>
          </a:xfrm>
          <a:prstGeom prst="rect">
            <a:avLst/>
          </a:prstGeom>
          <a:noFill/>
          <a:ln>
            <a:noFill/>
          </a:ln>
        </p:spPr>
        <p:txBody>
          <a:bodyPr wrap="square" rtlCol="0">
            <a:spAutoFit/>
          </a:bodyPr>
          <a:lstStyle/>
          <a:p>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Nếu</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có</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đường</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từ</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u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tới</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v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thì</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cũng</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có</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đường</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từ</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v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tới</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solidFill>
                <a:schemeClr val="bg1"/>
              </a:solidFill>
              <a:latin typeface="JetBrains Mono Light" panose="02000009000000000000" pitchFamily="49" charset="0"/>
              <a:cs typeface="JetBrains Mono Light" panose="02000009000000000000" pitchFamily="49" charset="0"/>
            </a:endParaRPr>
          </a:p>
        </p:txBody>
      </p:sp>
    </p:spTree>
    <p:extLst>
      <p:ext uri="{BB962C8B-B14F-4D97-AF65-F5344CB8AC3E}">
        <p14:creationId xmlns:p14="http://schemas.microsoft.com/office/powerpoint/2010/main" val="35682752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ADCB1D2-71BF-4442-85AC-20706F44BBA0}"/>
              </a:ext>
            </a:extLst>
          </p:cNvPr>
          <p:cNvSpPr/>
          <p:nvPr/>
        </p:nvSpPr>
        <p:spPr>
          <a:xfrm>
            <a:off x="0" y="-2556"/>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21" name="Credit MAIN">
            <a:extLst>
              <a:ext uri="{FF2B5EF4-FFF2-40B4-BE49-F238E27FC236}">
                <a16:creationId xmlns:a16="http://schemas.microsoft.com/office/drawing/2014/main" id="{A5F845F1-9489-426E-B1D3-2CCF2A9E61E3}"/>
              </a:ext>
            </a:extLst>
          </p:cNvPr>
          <p:cNvSpPr txBox="1"/>
          <p:nvPr/>
        </p:nvSpPr>
        <p:spPr>
          <a:xfrm>
            <a:off x="50878" y="6420549"/>
            <a:ext cx="2668876" cy="369332"/>
          </a:xfrm>
          <a:prstGeom prst="rect">
            <a:avLst/>
          </a:prstGeom>
          <a:noFill/>
        </p:spPr>
        <p:txBody>
          <a:bodyPr wrap="square" rtlCol="0">
            <a:spAutoFit/>
          </a:bodyPr>
          <a:lstStyle/>
          <a:p>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Phạm </a:t>
            </a:r>
            <a:r>
              <a:rPr lang="en-US"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H</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oàng</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Phong</a:t>
            </a:r>
            <a:endParaRPr lang="en-US" dirty="0">
              <a:solidFill>
                <a:schemeClr val="bg1">
                  <a:lumMod val="95000"/>
                  <a:alpha val="46000"/>
                </a:schemeClr>
              </a:solidFill>
            </a:endParaRPr>
          </a:p>
        </p:txBody>
      </p:sp>
      <p:sp>
        <p:nvSpPr>
          <p:cNvPr id="11" name="Header">
            <a:extLst>
              <a:ext uri="{FF2B5EF4-FFF2-40B4-BE49-F238E27FC236}">
                <a16:creationId xmlns:a16="http://schemas.microsoft.com/office/drawing/2014/main" id="{6A39F230-06D2-4140-8DA2-357C0B9B6D12}"/>
              </a:ext>
            </a:extLst>
          </p:cNvPr>
          <p:cNvSpPr txBox="1"/>
          <p:nvPr/>
        </p:nvSpPr>
        <p:spPr>
          <a:xfrm>
            <a:off x="50878" y="68119"/>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7" name="Footer: Part">
            <a:extLst>
              <a:ext uri="{FF2B5EF4-FFF2-40B4-BE49-F238E27FC236}">
                <a16:creationId xmlns:a16="http://schemas.microsoft.com/office/drawing/2014/main" id="{553347E6-1341-4BA1-A396-FC4741F3FAF1}"/>
              </a:ext>
            </a:extLst>
          </p:cNvPr>
          <p:cNvSpPr txBox="1"/>
          <p:nvPr/>
        </p:nvSpPr>
        <p:spPr>
          <a:xfrm>
            <a:off x="9800491" y="6413178"/>
            <a:ext cx="2319411" cy="369332"/>
          </a:xfrm>
          <a:prstGeom prst="rect">
            <a:avLst/>
          </a:prstGeom>
          <a:noFill/>
        </p:spPr>
        <p:txBody>
          <a:bodyPr wrap="square" rtlCol="0">
            <a:spAutoFit/>
          </a:bodyPr>
          <a:lstStyle/>
          <a:p>
            <a:pPr algn="r"/>
            <a:r>
              <a:rPr lang="en-US" dirty="0" err="1">
                <a:solidFill>
                  <a:schemeClr val="bg1">
                    <a:lumMod val="95000"/>
                  </a:schemeClr>
                </a:solidFill>
                <a:latin typeface="JetBrains Mono" panose="02000009000000000000" pitchFamily="49" charset="0"/>
                <a:cs typeface="JetBrains Mono" panose="02000009000000000000" pitchFamily="49" charset="0"/>
              </a:rPr>
              <a:t>Tính</a:t>
            </a:r>
            <a:r>
              <a:rPr lang="en-US" dirty="0">
                <a:solidFill>
                  <a:schemeClr val="bg1">
                    <a:lumMod val="95000"/>
                  </a:schemeClr>
                </a:solidFill>
                <a:latin typeface="JetBrains Mono" panose="02000009000000000000" pitchFamily="49" charset="0"/>
                <a:cs typeface="JetBrains Mono" panose="02000009000000000000" pitchFamily="49" charset="0"/>
              </a:rPr>
              <a:t> </a:t>
            </a:r>
            <a:r>
              <a:rPr lang="en-US" dirty="0" err="1">
                <a:solidFill>
                  <a:schemeClr val="bg1">
                    <a:lumMod val="95000"/>
                  </a:schemeClr>
                </a:solidFill>
                <a:latin typeface="JetBrains Mono" panose="02000009000000000000" pitchFamily="49" charset="0"/>
                <a:cs typeface="JetBrains Mono" panose="02000009000000000000" pitchFamily="49" charset="0"/>
              </a:rPr>
              <a:t>liên</a:t>
            </a:r>
            <a:r>
              <a:rPr lang="en-US" dirty="0">
                <a:solidFill>
                  <a:schemeClr val="bg1">
                    <a:lumMod val="95000"/>
                  </a:schemeClr>
                </a:solidFill>
                <a:latin typeface="JetBrains Mono" panose="02000009000000000000" pitchFamily="49" charset="0"/>
                <a:cs typeface="JetBrains Mono" panose="02000009000000000000" pitchFamily="49" charset="0"/>
              </a:rPr>
              <a:t> </a:t>
            </a:r>
            <a:r>
              <a:rPr lang="en-US" dirty="0" err="1">
                <a:solidFill>
                  <a:schemeClr val="bg1">
                    <a:lumMod val="95000"/>
                  </a:schemeClr>
                </a:solidFill>
                <a:latin typeface="JetBrains Mono" panose="02000009000000000000" pitchFamily="49" charset="0"/>
                <a:cs typeface="JetBrains Mono" panose="02000009000000000000" pitchFamily="49" charset="0"/>
              </a:rPr>
              <a:t>thông</a:t>
            </a:r>
            <a:r>
              <a:rPr lang="en-US" dirty="0">
                <a:solidFill>
                  <a:schemeClr val="bg1">
                    <a:lumMod val="95000"/>
                  </a:schemeClr>
                </a:solidFill>
                <a:latin typeface="JetBrains Mono" panose="02000009000000000000" pitchFamily="49" charset="0"/>
                <a:cs typeface="JetBrains Mono" panose="02000009000000000000" pitchFamily="49" charset="0"/>
              </a:rPr>
              <a:t> </a:t>
            </a:r>
          </a:p>
        </p:txBody>
      </p:sp>
      <p:sp>
        <p:nvSpPr>
          <p:cNvPr id="19" name="Footer: Title">
            <a:extLst>
              <a:ext uri="{FF2B5EF4-FFF2-40B4-BE49-F238E27FC236}">
                <a16:creationId xmlns:a16="http://schemas.microsoft.com/office/drawing/2014/main" id="{FD144244-98B6-4C54-A114-16CD65E0D522}"/>
              </a:ext>
            </a:extLst>
          </p:cNvPr>
          <p:cNvSpPr txBox="1"/>
          <p:nvPr/>
        </p:nvSpPr>
        <p:spPr>
          <a:xfrm>
            <a:off x="8815785" y="6414047"/>
            <a:ext cx="1160019"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Light" panose="02000009000000000000" pitchFamily="49" charset="0"/>
                <a:cs typeface="JetBrains Mono Light" panose="02000009000000000000" pitchFamily="49" charset="0"/>
              </a:rPr>
              <a:t>:</a:t>
            </a:r>
          </a:p>
        </p:txBody>
      </p:sp>
      <p:sp>
        <p:nvSpPr>
          <p:cNvPr id="25" name="PAGE NUM 0">
            <a:extLst>
              <a:ext uri="{FF2B5EF4-FFF2-40B4-BE49-F238E27FC236}">
                <a16:creationId xmlns:a16="http://schemas.microsoft.com/office/drawing/2014/main" id="{CA8E8643-0820-44FC-9D06-02F2A0A63536}"/>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1</a:t>
            </a:r>
          </a:p>
        </p:txBody>
      </p:sp>
      <p:sp>
        <p:nvSpPr>
          <p:cNvPr id="26" name="PAGE NUM 1">
            <a:extLst>
              <a:ext uri="{FF2B5EF4-FFF2-40B4-BE49-F238E27FC236}">
                <a16:creationId xmlns:a16="http://schemas.microsoft.com/office/drawing/2014/main" id="{6BF8CF33-13C7-458E-A4F5-0A19700195D0}"/>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7</a:t>
            </a:r>
            <a:endParaRPr lang="en-US" dirty="0"/>
          </a:p>
        </p:txBody>
      </p:sp>
      <p:sp>
        <p:nvSpPr>
          <p:cNvPr id="4" name="Rectangle 3">
            <a:extLst>
              <a:ext uri="{FF2B5EF4-FFF2-40B4-BE49-F238E27FC236}">
                <a16:creationId xmlns:a16="http://schemas.microsoft.com/office/drawing/2014/main" id="{CB38D6F8-B45F-44CF-A0B3-4EECDAC74C1C}"/>
              </a:ext>
            </a:extLst>
          </p:cNvPr>
          <p:cNvSpPr/>
          <p:nvPr/>
        </p:nvSpPr>
        <p:spPr>
          <a:xfrm>
            <a:off x="591458" y="591772"/>
            <a:ext cx="2597219"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3252814-A59F-4DD2-85FD-AF3B5B3FB847}"/>
              </a:ext>
            </a:extLst>
          </p:cNvPr>
          <p:cNvSpPr txBox="1"/>
          <p:nvPr/>
        </p:nvSpPr>
        <p:spPr>
          <a:xfrm>
            <a:off x="603364" y="591246"/>
            <a:ext cx="2585314" cy="369332"/>
          </a:xfrm>
          <a:prstGeom prst="rect">
            <a:avLst/>
          </a:prstGeom>
          <a:noFill/>
        </p:spPr>
        <p:txBody>
          <a:bodyPr wrap="square" rtlCol="0">
            <a:spAutoFit/>
          </a:bodyPr>
          <a:lstStyle/>
          <a:p>
            <a:r>
              <a:rPr lang="en-US" dirty="0" err="1">
                <a:latin typeface="JetBrains Mono" panose="02000009000000000000" pitchFamily="49" charset="0"/>
                <a:cs typeface="JetBrains Mono" panose="02000009000000000000" pitchFamily="49" charset="0"/>
              </a:rPr>
              <a:t>Đồ</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thị</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liên</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thông</a:t>
            </a:r>
            <a:endParaRPr lang="en-US" dirty="0">
              <a:latin typeface="JetBrains Mono" panose="02000009000000000000" pitchFamily="49" charset="0"/>
              <a:cs typeface="JetBrains Mono" panose="02000009000000000000" pitchFamily="49" charset="0"/>
            </a:endParaRPr>
          </a:p>
        </p:txBody>
      </p:sp>
      <p:sp>
        <p:nvSpPr>
          <p:cNvPr id="10" name="TextBox 9">
            <a:extLst>
              <a:ext uri="{FF2B5EF4-FFF2-40B4-BE49-F238E27FC236}">
                <a16:creationId xmlns:a16="http://schemas.microsoft.com/office/drawing/2014/main" id="{2C8B8CFF-5F8E-4EFC-A03F-E8B82A5E0DDA}"/>
              </a:ext>
            </a:extLst>
          </p:cNvPr>
          <p:cNvSpPr txBox="1"/>
          <p:nvPr/>
        </p:nvSpPr>
        <p:spPr>
          <a:xfrm>
            <a:off x="928115" y="1068476"/>
            <a:ext cx="4394162" cy="369332"/>
          </a:xfrm>
          <a:prstGeom prst="rect">
            <a:avLst/>
          </a:prstGeom>
          <a:noFill/>
        </p:spPr>
        <p:txBody>
          <a:bodyPr wrap="square" rtlCol="0">
            <a:spAutoFit/>
          </a:bodyPr>
          <a:lstStyle/>
          <a:p>
            <a:r>
              <a:rPr lang="en-US" dirty="0" err="1">
                <a:solidFill>
                  <a:schemeClr val="bg1"/>
                </a:solidFill>
                <a:latin typeface="JetBrains Mono Light" panose="02000009000000000000" pitchFamily="49" charset="0"/>
                <a:cs typeface="JetBrains Mono Light" panose="02000009000000000000" pitchFamily="49" charset="0"/>
              </a:rPr>
              <a:t>Từ</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đó</a:t>
            </a:r>
            <a:r>
              <a:rPr lang="en-US" dirty="0">
                <a:solidFill>
                  <a:schemeClr val="bg1"/>
                </a:solidFill>
                <a:latin typeface="JetBrains Mono Light" panose="02000009000000000000" pitchFamily="49" charset="0"/>
                <a:cs typeface="JetBrains Mono Light" panose="02000009000000000000" pitchFamily="49" charset="0"/>
              </a:rPr>
              <a:t> ta </a:t>
            </a:r>
            <a:r>
              <a:rPr lang="en-US" dirty="0" err="1">
                <a:solidFill>
                  <a:schemeClr val="bg1"/>
                </a:solidFill>
                <a:latin typeface="JetBrains Mono Light" panose="02000009000000000000" pitchFamily="49" charset="0"/>
                <a:cs typeface="JetBrains Mono Light" panose="02000009000000000000" pitchFamily="49" charset="0"/>
              </a:rPr>
              <a:t>có</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các</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tính</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chất</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sau</a:t>
            </a:r>
            <a:r>
              <a:rPr lang="en-US" dirty="0">
                <a:solidFill>
                  <a:schemeClr val="bg1"/>
                </a:solidFill>
                <a:latin typeface="JetBrains Mono Light" panose="02000009000000000000" pitchFamily="49" charset="0"/>
                <a:cs typeface="JetBrains Mono Light" panose="02000009000000000000" pitchFamily="49" charset="0"/>
              </a:rPr>
              <a:t>:</a:t>
            </a:r>
          </a:p>
        </p:txBody>
      </p:sp>
      <p:sp>
        <p:nvSpPr>
          <p:cNvPr id="30" name="TextBox 29">
            <a:extLst>
              <a:ext uri="{FF2B5EF4-FFF2-40B4-BE49-F238E27FC236}">
                <a16:creationId xmlns:a16="http://schemas.microsoft.com/office/drawing/2014/main" id="{A25C89B8-54D2-400D-BCF1-6998B8E799A8}"/>
              </a:ext>
            </a:extLst>
          </p:cNvPr>
          <p:cNvSpPr txBox="1"/>
          <p:nvPr/>
        </p:nvSpPr>
        <p:spPr>
          <a:xfrm>
            <a:off x="1117678" y="1583493"/>
            <a:ext cx="1140487" cy="369332"/>
          </a:xfrm>
          <a:prstGeom prst="rect">
            <a:avLst/>
          </a:prstGeom>
          <a:noFill/>
          <a:ln>
            <a:solidFill>
              <a:schemeClr val="bg1"/>
            </a:solidFill>
          </a:ln>
        </p:spPr>
        <p:txBody>
          <a:bodyPr wrap="square" rtlCol="0">
            <a:spAutoFit/>
          </a:bodyPr>
          <a:lstStyle/>
          <a:p>
            <a:r>
              <a:rPr lang="en-US" dirty="0" err="1">
                <a:solidFill>
                  <a:schemeClr val="bg1"/>
                </a:solidFill>
                <a:latin typeface="JetBrains Mono Light" panose="02000009000000000000" pitchFamily="49" charset="0"/>
                <a:cs typeface="JetBrains Mono Light" panose="02000009000000000000" pitchFamily="49" charset="0"/>
              </a:rPr>
              <a:t>Phản</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xạ</a:t>
            </a:r>
            <a:endParaRPr lang="en-US" dirty="0">
              <a:solidFill>
                <a:schemeClr val="bg1"/>
              </a:solidFill>
              <a:latin typeface="JetBrains Mono Light" panose="02000009000000000000" pitchFamily="49" charset="0"/>
              <a:cs typeface="JetBrains Mono Light" panose="02000009000000000000" pitchFamily="49" charset="0"/>
            </a:endParaRPr>
          </a:p>
        </p:txBody>
      </p:sp>
      <p:sp>
        <p:nvSpPr>
          <p:cNvPr id="31" name="TextBox 30">
            <a:extLst>
              <a:ext uri="{FF2B5EF4-FFF2-40B4-BE49-F238E27FC236}">
                <a16:creationId xmlns:a16="http://schemas.microsoft.com/office/drawing/2014/main" id="{B648525D-6845-483B-8A62-8D9BF5D4163A}"/>
              </a:ext>
            </a:extLst>
          </p:cNvPr>
          <p:cNvSpPr txBox="1"/>
          <p:nvPr/>
        </p:nvSpPr>
        <p:spPr>
          <a:xfrm>
            <a:off x="1117679" y="3075990"/>
            <a:ext cx="1301672"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Light" panose="02000009000000000000" pitchFamily="49" charset="0"/>
                <a:cs typeface="JetBrains Mono Light" panose="02000009000000000000" pitchFamily="49" charset="0"/>
              </a:rPr>
              <a:t>Đối</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xứng</a:t>
            </a:r>
            <a:endParaRPr lang="en-US" dirty="0">
              <a:solidFill>
                <a:schemeClr val="bg1"/>
              </a:solidFill>
              <a:latin typeface="JetBrains Mono Light" panose="02000009000000000000" pitchFamily="49" charset="0"/>
              <a:cs typeface="JetBrains Mono Light" panose="02000009000000000000" pitchFamily="49" charset="0"/>
            </a:endParaRPr>
          </a:p>
        </p:txBody>
      </p:sp>
      <p:sp>
        <p:nvSpPr>
          <p:cNvPr id="32" name="TextBox 31">
            <a:extLst>
              <a:ext uri="{FF2B5EF4-FFF2-40B4-BE49-F238E27FC236}">
                <a16:creationId xmlns:a16="http://schemas.microsoft.com/office/drawing/2014/main" id="{FE52DD99-DCA0-4916-A5DE-2A7B2C9DFB69}"/>
              </a:ext>
            </a:extLst>
          </p:cNvPr>
          <p:cNvSpPr txBox="1"/>
          <p:nvPr/>
        </p:nvSpPr>
        <p:spPr>
          <a:xfrm>
            <a:off x="1117678" y="4547266"/>
            <a:ext cx="1140487" cy="369332"/>
          </a:xfrm>
          <a:prstGeom prst="rect">
            <a:avLst/>
          </a:prstGeom>
          <a:solidFill>
            <a:schemeClr val="bg1"/>
          </a:solidFill>
          <a:ln>
            <a:solidFill>
              <a:schemeClr val="bg1">
                <a:lumMod val="50000"/>
              </a:schemeClr>
            </a:solidFill>
          </a:ln>
        </p:spPr>
        <p:txBody>
          <a:bodyPr wrap="square" rtlCol="0">
            <a:spAutoFit/>
          </a:bodyPr>
          <a:lstStyle/>
          <a:p>
            <a:r>
              <a:rPr lang="en-US" dirty="0" err="1">
                <a:latin typeface="JetBrains Mono Light" panose="02000009000000000000" pitchFamily="49" charset="0"/>
                <a:cs typeface="JetBrains Mono Light" panose="02000009000000000000" pitchFamily="49" charset="0"/>
              </a:rPr>
              <a:t>Bắc</a:t>
            </a:r>
            <a:r>
              <a:rPr lang="en-US" dirty="0">
                <a:latin typeface="JetBrains Mono Light" panose="02000009000000000000" pitchFamily="49" charset="0"/>
                <a:cs typeface="JetBrains Mono Light" panose="02000009000000000000" pitchFamily="49" charset="0"/>
              </a:rPr>
              <a:t> </a:t>
            </a:r>
            <a:r>
              <a:rPr lang="en-US" dirty="0" err="1">
                <a:latin typeface="JetBrains Mono Light" panose="02000009000000000000" pitchFamily="49" charset="0"/>
                <a:cs typeface="JetBrains Mono Light" panose="02000009000000000000" pitchFamily="49" charset="0"/>
              </a:rPr>
              <a:t>cầu</a:t>
            </a:r>
            <a:endParaRPr lang="en-US" dirty="0">
              <a:latin typeface="JetBrains Mono Light" panose="02000009000000000000" pitchFamily="49" charset="0"/>
              <a:cs typeface="JetBrains Mono Light" panose="02000009000000000000" pitchFamily="49" charset="0"/>
            </a:endParaRPr>
          </a:p>
        </p:txBody>
      </p:sp>
      <p:sp>
        <p:nvSpPr>
          <p:cNvPr id="23" name="TextBox 22">
            <a:extLst>
              <a:ext uri="{FF2B5EF4-FFF2-40B4-BE49-F238E27FC236}">
                <a16:creationId xmlns:a16="http://schemas.microsoft.com/office/drawing/2014/main" id="{14C8FC10-257C-45C7-98BC-F045783517EE}"/>
              </a:ext>
            </a:extLst>
          </p:cNvPr>
          <p:cNvSpPr txBox="1"/>
          <p:nvPr/>
        </p:nvSpPr>
        <p:spPr>
          <a:xfrm>
            <a:off x="1582615" y="2096210"/>
            <a:ext cx="7233169" cy="369332"/>
          </a:xfrm>
          <a:prstGeom prst="rect">
            <a:avLst/>
          </a:prstGeom>
          <a:noFill/>
          <a:ln>
            <a:noFill/>
          </a:ln>
        </p:spPr>
        <p:txBody>
          <a:bodyPr wrap="square" rtlCol="0">
            <a:spAutoFit/>
          </a:bodyPr>
          <a:lstStyle/>
          <a:p>
            <a:r>
              <a:rPr lang="en-US" dirty="0" err="1">
                <a:solidFill>
                  <a:schemeClr val="bg1"/>
                </a:solidFill>
                <a:latin typeface="JetBrains Mono Light" panose="02000009000000000000" pitchFamily="49" charset="0"/>
                <a:ea typeface="Calibri" panose="020F0502020204030204" pitchFamily="34" charset="0"/>
                <a:cs typeface="JetBrains Mono Light" panose="02000009000000000000" pitchFamily="49" charset="0"/>
              </a:rPr>
              <a:t>L</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uôn</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có</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đường</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đi</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độ</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dài</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0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từ</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một</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đỉnh</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đến</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chính</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nó</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a:t>
            </a:r>
            <a:endParaRPr lang="en-US" dirty="0">
              <a:solidFill>
                <a:schemeClr val="bg1"/>
              </a:solidFill>
              <a:latin typeface="JetBrains Mono Light" panose="02000009000000000000" pitchFamily="49" charset="0"/>
              <a:cs typeface="JetBrains Mono Light" panose="02000009000000000000" pitchFamily="49" charset="0"/>
            </a:endParaRPr>
          </a:p>
        </p:txBody>
      </p:sp>
      <p:sp>
        <p:nvSpPr>
          <p:cNvPr id="16" name="TextBox 15">
            <a:extLst>
              <a:ext uri="{FF2B5EF4-FFF2-40B4-BE49-F238E27FC236}">
                <a16:creationId xmlns:a16="http://schemas.microsoft.com/office/drawing/2014/main" id="{3E010D9B-638A-4920-9D12-DF13031D0AE0}"/>
              </a:ext>
            </a:extLst>
          </p:cNvPr>
          <p:cNvSpPr txBox="1"/>
          <p:nvPr/>
        </p:nvSpPr>
        <p:spPr>
          <a:xfrm>
            <a:off x="1582616" y="3588707"/>
            <a:ext cx="8217876" cy="646331"/>
          </a:xfrm>
          <a:prstGeom prst="rect">
            <a:avLst/>
          </a:prstGeom>
          <a:noFill/>
          <a:ln>
            <a:noFill/>
          </a:ln>
        </p:spPr>
        <p:txBody>
          <a:bodyPr wrap="square" rtlCol="0">
            <a:spAutoFit/>
          </a:bodyPr>
          <a:lstStyle/>
          <a:p>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Nếu</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có</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đường</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từ</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u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tới</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v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thì</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cũng</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có</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đường</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từ</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v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tới</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solidFill>
                <a:schemeClr val="bg1"/>
              </a:solidFill>
              <a:latin typeface="JetBrains Mono Light" panose="02000009000000000000" pitchFamily="49" charset="0"/>
              <a:cs typeface="JetBrains Mono Light" panose="02000009000000000000" pitchFamily="49" charset="0"/>
            </a:endParaRPr>
          </a:p>
        </p:txBody>
      </p:sp>
      <p:sp>
        <p:nvSpPr>
          <p:cNvPr id="18" name="TextBox 17">
            <a:extLst>
              <a:ext uri="{FF2B5EF4-FFF2-40B4-BE49-F238E27FC236}">
                <a16:creationId xmlns:a16="http://schemas.microsoft.com/office/drawing/2014/main" id="{3E3AB968-66F2-4AC6-BE79-44B4B32873A5}"/>
              </a:ext>
            </a:extLst>
          </p:cNvPr>
          <p:cNvSpPr txBox="1"/>
          <p:nvPr/>
        </p:nvSpPr>
        <p:spPr>
          <a:xfrm>
            <a:off x="1594340" y="5055760"/>
            <a:ext cx="8217876" cy="646331"/>
          </a:xfrm>
          <a:prstGeom prst="rect">
            <a:avLst/>
          </a:prstGeom>
          <a:noFill/>
          <a:ln>
            <a:noFill/>
          </a:ln>
        </p:spPr>
        <p:txBody>
          <a:bodyPr wrap="square" rtlCol="0">
            <a:spAutoFit/>
          </a:bodyPr>
          <a:lstStyle/>
          <a:p>
            <a:r>
              <a:rPr lang="en-US" dirty="0" err="1">
                <a:solidFill>
                  <a:schemeClr val="bg1"/>
                </a:solidFill>
                <a:latin typeface="JetBrains Mono Light" panose="02000009000000000000" pitchFamily="49" charset="0"/>
                <a:cs typeface="JetBrains Mono Light" panose="02000009000000000000" pitchFamily="49" charset="0"/>
              </a:rPr>
              <a:t>Nếu</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có</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đường</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từ</a:t>
            </a:r>
            <a:r>
              <a:rPr lang="en-US" dirty="0">
                <a:solidFill>
                  <a:schemeClr val="bg1"/>
                </a:solidFill>
                <a:latin typeface="JetBrains Mono Light" panose="02000009000000000000" pitchFamily="49" charset="0"/>
                <a:cs typeface="JetBrains Mono Light" panose="02000009000000000000" pitchFamily="49" charset="0"/>
              </a:rPr>
              <a:t> u </a:t>
            </a:r>
            <a:r>
              <a:rPr lang="en-US" dirty="0" err="1">
                <a:solidFill>
                  <a:schemeClr val="bg1"/>
                </a:solidFill>
                <a:latin typeface="JetBrains Mono Light" panose="02000009000000000000" pitchFamily="49" charset="0"/>
                <a:cs typeface="JetBrains Mono Light" panose="02000009000000000000" pitchFamily="49" charset="0"/>
              </a:rPr>
              <a:t>tới</a:t>
            </a:r>
            <a:r>
              <a:rPr lang="en-US" dirty="0">
                <a:solidFill>
                  <a:schemeClr val="bg1"/>
                </a:solidFill>
                <a:latin typeface="JetBrains Mono Light" panose="02000009000000000000" pitchFamily="49" charset="0"/>
                <a:cs typeface="JetBrains Mono Light" panose="02000009000000000000" pitchFamily="49" charset="0"/>
              </a:rPr>
              <a:t> v </a:t>
            </a:r>
            <a:r>
              <a:rPr lang="en-US" dirty="0" err="1">
                <a:solidFill>
                  <a:schemeClr val="bg1"/>
                </a:solidFill>
                <a:latin typeface="JetBrains Mono Light" panose="02000009000000000000" pitchFamily="49" charset="0"/>
                <a:cs typeface="JetBrains Mono Light" panose="02000009000000000000" pitchFamily="49" charset="0"/>
              </a:rPr>
              <a:t>và</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đường</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từ</a:t>
            </a:r>
            <a:r>
              <a:rPr lang="en-US" dirty="0">
                <a:solidFill>
                  <a:schemeClr val="bg1"/>
                </a:solidFill>
                <a:latin typeface="JetBrains Mono Light" panose="02000009000000000000" pitchFamily="49" charset="0"/>
                <a:cs typeface="JetBrains Mono Light" panose="02000009000000000000" pitchFamily="49" charset="0"/>
              </a:rPr>
              <a:t> v </a:t>
            </a:r>
            <a:r>
              <a:rPr lang="en-US" dirty="0" err="1">
                <a:solidFill>
                  <a:schemeClr val="bg1"/>
                </a:solidFill>
                <a:latin typeface="JetBrains Mono Light" panose="02000009000000000000" pitchFamily="49" charset="0"/>
                <a:cs typeface="JetBrains Mono Light" panose="02000009000000000000" pitchFamily="49" charset="0"/>
              </a:rPr>
              <a:t>tới</a:t>
            </a:r>
            <a:r>
              <a:rPr lang="en-US" dirty="0">
                <a:solidFill>
                  <a:schemeClr val="bg1"/>
                </a:solidFill>
                <a:latin typeface="JetBrains Mono Light" panose="02000009000000000000" pitchFamily="49" charset="0"/>
                <a:cs typeface="JetBrains Mono Light" panose="02000009000000000000" pitchFamily="49" charset="0"/>
              </a:rPr>
              <a:t> w </a:t>
            </a:r>
            <a:r>
              <a:rPr lang="en-US" dirty="0" err="1">
                <a:solidFill>
                  <a:schemeClr val="bg1"/>
                </a:solidFill>
                <a:latin typeface="JetBrains Mono Light" panose="02000009000000000000" pitchFamily="49" charset="0"/>
                <a:cs typeface="JetBrains Mono Light" panose="02000009000000000000" pitchFamily="49" charset="0"/>
              </a:rPr>
              <a:t>thì</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khi</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nối</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hai</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đường</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này</a:t>
            </a:r>
            <a:r>
              <a:rPr lang="en-US" dirty="0">
                <a:solidFill>
                  <a:schemeClr val="bg1"/>
                </a:solidFill>
                <a:latin typeface="JetBrains Mono Light" panose="02000009000000000000" pitchFamily="49" charset="0"/>
                <a:cs typeface="JetBrains Mono Light" panose="02000009000000000000" pitchFamily="49" charset="0"/>
              </a:rPr>
              <a:t>, ta </a:t>
            </a:r>
            <a:r>
              <a:rPr lang="en-US" dirty="0" err="1">
                <a:solidFill>
                  <a:schemeClr val="bg1"/>
                </a:solidFill>
                <a:latin typeface="JetBrains Mono Light" panose="02000009000000000000" pitchFamily="49" charset="0"/>
                <a:cs typeface="JetBrains Mono Light" panose="02000009000000000000" pitchFamily="49" charset="0"/>
              </a:rPr>
              <a:t>có</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đường</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từ</a:t>
            </a:r>
            <a:r>
              <a:rPr lang="en-US" dirty="0">
                <a:solidFill>
                  <a:schemeClr val="bg1"/>
                </a:solidFill>
                <a:latin typeface="JetBrains Mono Light" panose="02000009000000000000" pitchFamily="49" charset="0"/>
                <a:cs typeface="JetBrains Mono Light" panose="02000009000000000000" pitchFamily="49" charset="0"/>
              </a:rPr>
              <a:t> u </a:t>
            </a:r>
            <a:r>
              <a:rPr lang="en-US" dirty="0" err="1">
                <a:solidFill>
                  <a:schemeClr val="bg1"/>
                </a:solidFill>
                <a:latin typeface="JetBrains Mono Light" panose="02000009000000000000" pitchFamily="49" charset="0"/>
                <a:cs typeface="JetBrains Mono Light" panose="02000009000000000000" pitchFamily="49" charset="0"/>
              </a:rPr>
              <a:t>tới</a:t>
            </a:r>
            <a:r>
              <a:rPr lang="en-US" dirty="0">
                <a:solidFill>
                  <a:schemeClr val="bg1"/>
                </a:solidFill>
                <a:latin typeface="JetBrains Mono Light" panose="02000009000000000000" pitchFamily="49" charset="0"/>
                <a:cs typeface="JetBrains Mono Light" panose="02000009000000000000" pitchFamily="49" charset="0"/>
              </a:rPr>
              <a:t> w.</a:t>
            </a:r>
          </a:p>
        </p:txBody>
      </p:sp>
    </p:spTree>
    <p:extLst>
      <p:ext uri="{BB962C8B-B14F-4D97-AF65-F5344CB8AC3E}">
        <p14:creationId xmlns:p14="http://schemas.microsoft.com/office/powerpoint/2010/main" val="34994754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ADCB1D2-71BF-4442-85AC-20706F44BBA0}"/>
              </a:ext>
            </a:extLst>
          </p:cNvPr>
          <p:cNvSpPr/>
          <p:nvPr/>
        </p:nvSpPr>
        <p:spPr>
          <a:xfrm>
            <a:off x="0" y="-2556"/>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21" name="Credit MAIN">
            <a:extLst>
              <a:ext uri="{FF2B5EF4-FFF2-40B4-BE49-F238E27FC236}">
                <a16:creationId xmlns:a16="http://schemas.microsoft.com/office/drawing/2014/main" id="{A5F845F1-9489-426E-B1D3-2CCF2A9E61E3}"/>
              </a:ext>
            </a:extLst>
          </p:cNvPr>
          <p:cNvSpPr txBox="1"/>
          <p:nvPr/>
        </p:nvSpPr>
        <p:spPr>
          <a:xfrm>
            <a:off x="50878" y="6420549"/>
            <a:ext cx="2668876" cy="369332"/>
          </a:xfrm>
          <a:prstGeom prst="rect">
            <a:avLst/>
          </a:prstGeom>
          <a:noFill/>
        </p:spPr>
        <p:txBody>
          <a:bodyPr wrap="square" rtlCol="0">
            <a:spAutoFit/>
          </a:bodyPr>
          <a:lstStyle/>
          <a:p>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Phạm </a:t>
            </a:r>
            <a:r>
              <a:rPr lang="en-US"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H</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oàng</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Phong</a:t>
            </a:r>
            <a:endParaRPr lang="en-US" dirty="0">
              <a:solidFill>
                <a:schemeClr val="bg1">
                  <a:lumMod val="95000"/>
                  <a:alpha val="46000"/>
                </a:schemeClr>
              </a:solidFill>
            </a:endParaRPr>
          </a:p>
        </p:txBody>
      </p:sp>
      <p:sp>
        <p:nvSpPr>
          <p:cNvPr id="11" name="Header">
            <a:extLst>
              <a:ext uri="{FF2B5EF4-FFF2-40B4-BE49-F238E27FC236}">
                <a16:creationId xmlns:a16="http://schemas.microsoft.com/office/drawing/2014/main" id="{6A39F230-06D2-4140-8DA2-357C0B9B6D12}"/>
              </a:ext>
            </a:extLst>
          </p:cNvPr>
          <p:cNvSpPr txBox="1"/>
          <p:nvPr/>
        </p:nvSpPr>
        <p:spPr>
          <a:xfrm>
            <a:off x="50878" y="68119"/>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7" name="Footer: Part">
            <a:extLst>
              <a:ext uri="{FF2B5EF4-FFF2-40B4-BE49-F238E27FC236}">
                <a16:creationId xmlns:a16="http://schemas.microsoft.com/office/drawing/2014/main" id="{553347E6-1341-4BA1-A396-FC4741F3FAF1}"/>
              </a:ext>
            </a:extLst>
          </p:cNvPr>
          <p:cNvSpPr txBox="1"/>
          <p:nvPr/>
        </p:nvSpPr>
        <p:spPr>
          <a:xfrm>
            <a:off x="9800491" y="6413178"/>
            <a:ext cx="2319411" cy="369332"/>
          </a:xfrm>
          <a:prstGeom prst="rect">
            <a:avLst/>
          </a:prstGeom>
          <a:noFill/>
        </p:spPr>
        <p:txBody>
          <a:bodyPr wrap="square" rtlCol="0">
            <a:spAutoFit/>
          </a:bodyPr>
          <a:lstStyle/>
          <a:p>
            <a:pPr algn="r"/>
            <a:r>
              <a:rPr lang="en-US" dirty="0" err="1">
                <a:solidFill>
                  <a:schemeClr val="bg1">
                    <a:lumMod val="95000"/>
                  </a:schemeClr>
                </a:solidFill>
                <a:latin typeface="JetBrains Mono" panose="02000009000000000000" pitchFamily="49" charset="0"/>
                <a:cs typeface="JetBrains Mono" panose="02000009000000000000" pitchFamily="49" charset="0"/>
              </a:rPr>
              <a:t>Tính</a:t>
            </a:r>
            <a:r>
              <a:rPr lang="en-US" dirty="0">
                <a:solidFill>
                  <a:schemeClr val="bg1">
                    <a:lumMod val="95000"/>
                  </a:schemeClr>
                </a:solidFill>
                <a:latin typeface="JetBrains Mono" panose="02000009000000000000" pitchFamily="49" charset="0"/>
                <a:cs typeface="JetBrains Mono" panose="02000009000000000000" pitchFamily="49" charset="0"/>
              </a:rPr>
              <a:t> </a:t>
            </a:r>
            <a:r>
              <a:rPr lang="en-US" dirty="0" err="1">
                <a:solidFill>
                  <a:schemeClr val="bg1">
                    <a:lumMod val="95000"/>
                  </a:schemeClr>
                </a:solidFill>
                <a:latin typeface="JetBrains Mono" panose="02000009000000000000" pitchFamily="49" charset="0"/>
                <a:cs typeface="JetBrains Mono" panose="02000009000000000000" pitchFamily="49" charset="0"/>
              </a:rPr>
              <a:t>liên</a:t>
            </a:r>
            <a:r>
              <a:rPr lang="en-US" dirty="0">
                <a:solidFill>
                  <a:schemeClr val="bg1">
                    <a:lumMod val="95000"/>
                  </a:schemeClr>
                </a:solidFill>
                <a:latin typeface="JetBrains Mono" panose="02000009000000000000" pitchFamily="49" charset="0"/>
                <a:cs typeface="JetBrains Mono" panose="02000009000000000000" pitchFamily="49" charset="0"/>
              </a:rPr>
              <a:t> </a:t>
            </a:r>
            <a:r>
              <a:rPr lang="en-US" dirty="0" err="1">
                <a:solidFill>
                  <a:schemeClr val="bg1">
                    <a:lumMod val="95000"/>
                  </a:schemeClr>
                </a:solidFill>
                <a:latin typeface="JetBrains Mono" panose="02000009000000000000" pitchFamily="49" charset="0"/>
                <a:cs typeface="JetBrains Mono" panose="02000009000000000000" pitchFamily="49" charset="0"/>
              </a:rPr>
              <a:t>thông</a:t>
            </a:r>
            <a:r>
              <a:rPr lang="en-US" dirty="0">
                <a:solidFill>
                  <a:schemeClr val="bg1">
                    <a:lumMod val="95000"/>
                  </a:schemeClr>
                </a:solidFill>
                <a:latin typeface="JetBrains Mono" panose="02000009000000000000" pitchFamily="49" charset="0"/>
                <a:cs typeface="JetBrains Mono" panose="02000009000000000000" pitchFamily="49" charset="0"/>
              </a:rPr>
              <a:t> </a:t>
            </a:r>
          </a:p>
        </p:txBody>
      </p:sp>
      <p:sp>
        <p:nvSpPr>
          <p:cNvPr id="19" name="Footer: Title">
            <a:extLst>
              <a:ext uri="{FF2B5EF4-FFF2-40B4-BE49-F238E27FC236}">
                <a16:creationId xmlns:a16="http://schemas.microsoft.com/office/drawing/2014/main" id="{FD144244-98B6-4C54-A114-16CD65E0D522}"/>
              </a:ext>
            </a:extLst>
          </p:cNvPr>
          <p:cNvSpPr txBox="1"/>
          <p:nvPr/>
        </p:nvSpPr>
        <p:spPr>
          <a:xfrm>
            <a:off x="8815785" y="6414047"/>
            <a:ext cx="1160019"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Light" panose="02000009000000000000" pitchFamily="49" charset="0"/>
                <a:cs typeface="JetBrains Mono Light" panose="02000009000000000000" pitchFamily="49" charset="0"/>
              </a:rPr>
              <a:t>:</a:t>
            </a:r>
          </a:p>
        </p:txBody>
      </p:sp>
      <p:sp>
        <p:nvSpPr>
          <p:cNvPr id="25" name="PAGE NUM 0">
            <a:extLst>
              <a:ext uri="{FF2B5EF4-FFF2-40B4-BE49-F238E27FC236}">
                <a16:creationId xmlns:a16="http://schemas.microsoft.com/office/drawing/2014/main" id="{CA8E8643-0820-44FC-9D06-02F2A0A63536}"/>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1</a:t>
            </a:r>
          </a:p>
        </p:txBody>
      </p:sp>
      <p:sp>
        <p:nvSpPr>
          <p:cNvPr id="26" name="PAGE NUM 1">
            <a:extLst>
              <a:ext uri="{FF2B5EF4-FFF2-40B4-BE49-F238E27FC236}">
                <a16:creationId xmlns:a16="http://schemas.microsoft.com/office/drawing/2014/main" id="{6BF8CF33-13C7-458E-A4F5-0A19700195D0}"/>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8</a:t>
            </a:r>
            <a:endParaRPr lang="en-US" dirty="0"/>
          </a:p>
        </p:txBody>
      </p:sp>
      <p:sp>
        <p:nvSpPr>
          <p:cNvPr id="4" name="Rectangle 3">
            <a:extLst>
              <a:ext uri="{FF2B5EF4-FFF2-40B4-BE49-F238E27FC236}">
                <a16:creationId xmlns:a16="http://schemas.microsoft.com/office/drawing/2014/main" id="{CB38D6F8-B45F-44CF-A0B3-4EECDAC74C1C}"/>
              </a:ext>
            </a:extLst>
          </p:cNvPr>
          <p:cNvSpPr/>
          <p:nvPr/>
        </p:nvSpPr>
        <p:spPr>
          <a:xfrm>
            <a:off x="591458" y="591772"/>
            <a:ext cx="2597219"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3252814-A59F-4DD2-85FD-AF3B5B3FB847}"/>
              </a:ext>
            </a:extLst>
          </p:cNvPr>
          <p:cNvSpPr txBox="1"/>
          <p:nvPr/>
        </p:nvSpPr>
        <p:spPr>
          <a:xfrm>
            <a:off x="603364" y="591246"/>
            <a:ext cx="2585314" cy="369332"/>
          </a:xfrm>
          <a:prstGeom prst="rect">
            <a:avLst/>
          </a:prstGeom>
          <a:noFill/>
        </p:spPr>
        <p:txBody>
          <a:bodyPr wrap="square" rtlCol="0">
            <a:spAutoFit/>
          </a:bodyPr>
          <a:lstStyle/>
          <a:p>
            <a:r>
              <a:rPr lang="en-US" dirty="0" err="1">
                <a:latin typeface="JetBrains Mono" panose="02000009000000000000" pitchFamily="49" charset="0"/>
                <a:cs typeface="JetBrains Mono" panose="02000009000000000000" pitchFamily="49" charset="0"/>
              </a:rPr>
              <a:t>Đồ</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thị</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liên</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thông</a:t>
            </a:r>
            <a:endParaRPr lang="en-US" dirty="0">
              <a:latin typeface="JetBrains Mono" panose="02000009000000000000" pitchFamily="49" charset="0"/>
              <a:cs typeface="JetBrains Mono" panose="02000009000000000000" pitchFamily="49" charset="0"/>
            </a:endParaRPr>
          </a:p>
        </p:txBody>
      </p:sp>
      <p:sp>
        <p:nvSpPr>
          <p:cNvPr id="10" name="TextBox 9">
            <a:extLst>
              <a:ext uri="{FF2B5EF4-FFF2-40B4-BE49-F238E27FC236}">
                <a16:creationId xmlns:a16="http://schemas.microsoft.com/office/drawing/2014/main" id="{2C8B8CFF-5F8E-4EFC-A03F-E8B82A5E0DDA}"/>
              </a:ext>
            </a:extLst>
          </p:cNvPr>
          <p:cNvSpPr txBox="1"/>
          <p:nvPr/>
        </p:nvSpPr>
        <p:spPr>
          <a:xfrm>
            <a:off x="928115" y="1068476"/>
            <a:ext cx="3139793" cy="369332"/>
          </a:xfrm>
          <a:prstGeom prst="rect">
            <a:avLst/>
          </a:prstGeom>
          <a:noFill/>
        </p:spPr>
        <p:txBody>
          <a:bodyPr wrap="square" rtlCol="0">
            <a:spAutoFit/>
          </a:bodyPr>
          <a:lstStyle/>
          <a:p>
            <a:r>
              <a:rPr lang="en-US" dirty="0" err="1">
                <a:solidFill>
                  <a:schemeClr val="bg1"/>
                </a:solidFill>
                <a:latin typeface="JetBrains Mono Light" panose="02000009000000000000" pitchFamily="49" charset="0"/>
                <a:cs typeface="JetBrains Mono Light" panose="02000009000000000000" pitchFamily="49" charset="0"/>
              </a:rPr>
              <a:t>Từ</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các</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tính</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chất</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sau</a:t>
            </a:r>
            <a:r>
              <a:rPr lang="en-US" dirty="0">
                <a:solidFill>
                  <a:schemeClr val="bg1"/>
                </a:solidFill>
                <a:latin typeface="JetBrains Mono Light" panose="02000009000000000000" pitchFamily="49" charset="0"/>
                <a:cs typeface="JetBrains Mono Light" panose="02000009000000000000" pitchFamily="49" charset="0"/>
              </a:rPr>
              <a:t>:</a:t>
            </a:r>
          </a:p>
        </p:txBody>
      </p:sp>
      <p:sp>
        <p:nvSpPr>
          <p:cNvPr id="30" name="TextBox 29">
            <a:extLst>
              <a:ext uri="{FF2B5EF4-FFF2-40B4-BE49-F238E27FC236}">
                <a16:creationId xmlns:a16="http://schemas.microsoft.com/office/drawing/2014/main" id="{A25C89B8-54D2-400D-BCF1-6998B8E799A8}"/>
              </a:ext>
            </a:extLst>
          </p:cNvPr>
          <p:cNvSpPr txBox="1"/>
          <p:nvPr/>
        </p:nvSpPr>
        <p:spPr>
          <a:xfrm>
            <a:off x="4007144" y="1068476"/>
            <a:ext cx="1140487" cy="369332"/>
          </a:xfrm>
          <a:prstGeom prst="rect">
            <a:avLst/>
          </a:prstGeom>
          <a:noFill/>
          <a:ln>
            <a:solidFill>
              <a:schemeClr val="bg1">
                <a:lumMod val="50000"/>
              </a:schemeClr>
            </a:solidFill>
          </a:ln>
        </p:spPr>
        <p:txBody>
          <a:bodyPr wrap="square" rtlCol="0">
            <a:spAutoFit/>
          </a:bodyPr>
          <a:lstStyle/>
          <a:p>
            <a:r>
              <a:rPr lang="en-US" dirty="0" err="1">
                <a:solidFill>
                  <a:schemeClr val="bg1">
                    <a:lumMod val="50000"/>
                  </a:schemeClr>
                </a:solidFill>
                <a:latin typeface="JetBrains Mono Light" panose="02000009000000000000" pitchFamily="49" charset="0"/>
                <a:cs typeface="JetBrains Mono Light" panose="02000009000000000000" pitchFamily="49" charset="0"/>
              </a:rPr>
              <a:t>Phản</a:t>
            </a:r>
            <a:r>
              <a:rPr lang="en-US" dirty="0">
                <a:solidFill>
                  <a:schemeClr val="bg1">
                    <a:lumMod val="50000"/>
                  </a:schemeClr>
                </a:solidFill>
                <a:latin typeface="JetBrains Mono Light" panose="02000009000000000000" pitchFamily="49" charset="0"/>
                <a:cs typeface="JetBrains Mono Light" panose="02000009000000000000" pitchFamily="49" charset="0"/>
              </a:rPr>
              <a:t> </a:t>
            </a:r>
            <a:r>
              <a:rPr lang="en-US" dirty="0" err="1">
                <a:solidFill>
                  <a:schemeClr val="bg1">
                    <a:lumMod val="50000"/>
                  </a:schemeClr>
                </a:solidFill>
                <a:latin typeface="JetBrains Mono Light" panose="02000009000000000000" pitchFamily="49" charset="0"/>
                <a:cs typeface="JetBrains Mono Light" panose="02000009000000000000" pitchFamily="49" charset="0"/>
              </a:rPr>
              <a:t>xạ</a:t>
            </a:r>
            <a:endParaRPr lang="en-US"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31" name="TextBox 30">
            <a:extLst>
              <a:ext uri="{FF2B5EF4-FFF2-40B4-BE49-F238E27FC236}">
                <a16:creationId xmlns:a16="http://schemas.microsoft.com/office/drawing/2014/main" id="{B648525D-6845-483B-8A62-8D9BF5D4163A}"/>
              </a:ext>
            </a:extLst>
          </p:cNvPr>
          <p:cNvSpPr txBox="1"/>
          <p:nvPr/>
        </p:nvSpPr>
        <p:spPr>
          <a:xfrm>
            <a:off x="5420720" y="1068476"/>
            <a:ext cx="1301672" cy="369332"/>
          </a:xfrm>
          <a:prstGeom prst="rect">
            <a:avLst/>
          </a:prstGeom>
          <a:noFill/>
          <a:ln>
            <a:solidFill>
              <a:schemeClr val="bg1">
                <a:lumMod val="50000"/>
              </a:schemeClr>
            </a:solidFill>
          </a:ln>
        </p:spPr>
        <p:txBody>
          <a:bodyPr wrap="square" rtlCol="0">
            <a:spAutoFit/>
          </a:bodyPr>
          <a:lstStyle/>
          <a:p>
            <a:r>
              <a:rPr lang="en-US" dirty="0" err="1">
                <a:solidFill>
                  <a:schemeClr val="bg1">
                    <a:lumMod val="50000"/>
                  </a:schemeClr>
                </a:solidFill>
                <a:latin typeface="JetBrains Mono Light" panose="02000009000000000000" pitchFamily="49" charset="0"/>
                <a:cs typeface="JetBrains Mono Light" panose="02000009000000000000" pitchFamily="49" charset="0"/>
              </a:rPr>
              <a:t>Đối</a:t>
            </a:r>
            <a:r>
              <a:rPr lang="en-US" dirty="0">
                <a:solidFill>
                  <a:schemeClr val="bg1">
                    <a:lumMod val="50000"/>
                  </a:schemeClr>
                </a:solidFill>
                <a:latin typeface="JetBrains Mono Light" panose="02000009000000000000" pitchFamily="49" charset="0"/>
                <a:cs typeface="JetBrains Mono Light" panose="02000009000000000000" pitchFamily="49" charset="0"/>
              </a:rPr>
              <a:t> </a:t>
            </a:r>
            <a:r>
              <a:rPr lang="en-US" dirty="0" err="1">
                <a:solidFill>
                  <a:schemeClr val="bg1">
                    <a:lumMod val="50000"/>
                  </a:schemeClr>
                </a:solidFill>
                <a:latin typeface="JetBrains Mono Light" panose="02000009000000000000" pitchFamily="49" charset="0"/>
                <a:cs typeface="JetBrains Mono Light" panose="02000009000000000000" pitchFamily="49" charset="0"/>
              </a:rPr>
              <a:t>xứng</a:t>
            </a:r>
            <a:endParaRPr lang="en-US"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32" name="TextBox 31">
            <a:extLst>
              <a:ext uri="{FF2B5EF4-FFF2-40B4-BE49-F238E27FC236}">
                <a16:creationId xmlns:a16="http://schemas.microsoft.com/office/drawing/2014/main" id="{FE52DD99-DCA0-4916-A5DE-2A7B2C9DFB69}"/>
              </a:ext>
            </a:extLst>
          </p:cNvPr>
          <p:cNvSpPr txBox="1"/>
          <p:nvPr/>
        </p:nvSpPr>
        <p:spPr>
          <a:xfrm>
            <a:off x="6988387" y="1064732"/>
            <a:ext cx="1140487" cy="369332"/>
          </a:xfrm>
          <a:prstGeom prst="rect">
            <a:avLst/>
          </a:prstGeom>
          <a:noFill/>
          <a:ln>
            <a:solidFill>
              <a:schemeClr val="bg1">
                <a:lumMod val="50000"/>
              </a:schemeClr>
            </a:solidFill>
          </a:ln>
        </p:spPr>
        <p:txBody>
          <a:bodyPr wrap="square" rtlCol="0">
            <a:spAutoFit/>
          </a:bodyPr>
          <a:lstStyle/>
          <a:p>
            <a:r>
              <a:rPr lang="en-US" dirty="0" err="1">
                <a:solidFill>
                  <a:schemeClr val="bg1">
                    <a:lumMod val="50000"/>
                  </a:schemeClr>
                </a:solidFill>
                <a:latin typeface="JetBrains Mono Light" panose="02000009000000000000" pitchFamily="49" charset="0"/>
                <a:cs typeface="JetBrains Mono Light" panose="02000009000000000000" pitchFamily="49" charset="0"/>
              </a:rPr>
              <a:t>Bắc</a:t>
            </a:r>
            <a:r>
              <a:rPr lang="en-US" dirty="0">
                <a:solidFill>
                  <a:schemeClr val="bg1">
                    <a:lumMod val="50000"/>
                  </a:schemeClr>
                </a:solidFill>
                <a:latin typeface="JetBrains Mono Light" panose="02000009000000000000" pitchFamily="49" charset="0"/>
                <a:cs typeface="JetBrains Mono Light" panose="02000009000000000000" pitchFamily="49" charset="0"/>
              </a:rPr>
              <a:t> </a:t>
            </a:r>
            <a:r>
              <a:rPr lang="en-US" dirty="0" err="1">
                <a:solidFill>
                  <a:schemeClr val="bg1">
                    <a:lumMod val="50000"/>
                  </a:schemeClr>
                </a:solidFill>
                <a:latin typeface="JetBrains Mono Light" panose="02000009000000000000" pitchFamily="49" charset="0"/>
                <a:cs typeface="JetBrains Mono Light" panose="02000009000000000000" pitchFamily="49" charset="0"/>
              </a:rPr>
              <a:t>cầu</a:t>
            </a:r>
            <a:endParaRPr lang="en-US"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20" name="TextBox 19">
            <a:extLst>
              <a:ext uri="{FF2B5EF4-FFF2-40B4-BE49-F238E27FC236}">
                <a16:creationId xmlns:a16="http://schemas.microsoft.com/office/drawing/2014/main" id="{E77DF1A7-F677-4C47-AC48-3146323998DC}"/>
              </a:ext>
            </a:extLst>
          </p:cNvPr>
          <p:cNvSpPr txBox="1"/>
          <p:nvPr/>
        </p:nvSpPr>
        <p:spPr>
          <a:xfrm>
            <a:off x="928114" y="1682822"/>
            <a:ext cx="6680163" cy="369332"/>
          </a:xfrm>
          <a:prstGeom prst="rect">
            <a:avLst/>
          </a:prstGeom>
          <a:noFill/>
        </p:spPr>
        <p:txBody>
          <a:bodyPr wrap="square" rtlCol="0">
            <a:spAutoFit/>
          </a:bodyPr>
          <a:lstStyle/>
          <a:p>
            <a:r>
              <a:rPr lang="en-US" u="sng" dirty="0" err="1">
                <a:solidFill>
                  <a:schemeClr val="bg1"/>
                </a:solidFill>
                <a:latin typeface="JetBrains Mono Medium" panose="02000009000000000000" pitchFamily="49" charset="0"/>
                <a:cs typeface="JetBrains Mono Medium" panose="02000009000000000000" pitchFamily="49" charset="0"/>
              </a:rPr>
              <a:t>Kết</a:t>
            </a:r>
            <a:r>
              <a:rPr lang="en-US" u="sng" dirty="0">
                <a:solidFill>
                  <a:schemeClr val="bg1"/>
                </a:solidFill>
                <a:latin typeface="JetBrains Mono Medium" panose="02000009000000000000" pitchFamily="49" charset="0"/>
                <a:cs typeface="JetBrains Mono Medium" panose="02000009000000000000" pitchFamily="49" charset="0"/>
              </a:rPr>
              <a:t> </a:t>
            </a:r>
            <a:r>
              <a:rPr lang="en-US" u="sng" dirty="0" err="1">
                <a:solidFill>
                  <a:schemeClr val="bg1"/>
                </a:solidFill>
                <a:latin typeface="JetBrains Mono Medium" panose="02000009000000000000" pitchFamily="49" charset="0"/>
                <a:cs typeface="JetBrains Mono Medium" panose="02000009000000000000" pitchFamily="49" charset="0"/>
              </a:rPr>
              <a:t>luận</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Đây</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là</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một</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mối</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quan</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hệ</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tương</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đương</a:t>
            </a:r>
            <a:r>
              <a:rPr lang="en-US" dirty="0">
                <a:solidFill>
                  <a:schemeClr val="bg1"/>
                </a:solidFill>
                <a:latin typeface="JetBrains Mono Light" panose="02000009000000000000" pitchFamily="49" charset="0"/>
                <a:cs typeface="JetBrains Mono Light" panose="02000009000000000000" pitchFamily="49" charset="0"/>
              </a:rPr>
              <a:t>.</a:t>
            </a:r>
          </a:p>
        </p:txBody>
      </p:sp>
      <p:sp>
        <p:nvSpPr>
          <p:cNvPr id="24" name="TextBox 23">
            <a:extLst>
              <a:ext uri="{FF2B5EF4-FFF2-40B4-BE49-F238E27FC236}">
                <a16:creationId xmlns:a16="http://schemas.microsoft.com/office/drawing/2014/main" id="{9D760217-7F53-4E86-BB58-AC595119E42B}"/>
              </a:ext>
            </a:extLst>
          </p:cNvPr>
          <p:cNvSpPr txBox="1"/>
          <p:nvPr/>
        </p:nvSpPr>
        <p:spPr>
          <a:xfrm>
            <a:off x="928114" y="2056875"/>
            <a:ext cx="6680163"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=&gt; X </a:t>
            </a:r>
            <a:r>
              <a:rPr lang="en-US" dirty="0" err="1">
                <a:solidFill>
                  <a:schemeClr val="bg1"/>
                </a:solidFill>
                <a:latin typeface="JetBrains Mono Light" panose="02000009000000000000" pitchFamily="49" charset="0"/>
                <a:cs typeface="JetBrains Mono Light" panose="02000009000000000000" pitchFamily="49" charset="0"/>
              </a:rPr>
              <a:t>được</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phân</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hoạch</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thành</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các</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lớp</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tương</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đương</a:t>
            </a:r>
            <a:r>
              <a:rPr lang="en-US" dirty="0">
                <a:solidFill>
                  <a:schemeClr val="bg1"/>
                </a:solidFill>
                <a:latin typeface="JetBrains Mono Light" panose="02000009000000000000" pitchFamily="49" charset="0"/>
                <a:cs typeface="JetBrains Mono Light" panose="02000009000000000000" pitchFamily="49" charset="0"/>
              </a:rPr>
              <a:t>.</a:t>
            </a:r>
          </a:p>
        </p:txBody>
      </p:sp>
      <p:sp>
        <p:nvSpPr>
          <p:cNvPr id="27" name="TextBox 26">
            <a:extLst>
              <a:ext uri="{FF2B5EF4-FFF2-40B4-BE49-F238E27FC236}">
                <a16:creationId xmlns:a16="http://schemas.microsoft.com/office/drawing/2014/main" id="{5459A4B4-D32D-44B7-AA7D-BCB9370EB85D}"/>
              </a:ext>
            </a:extLst>
          </p:cNvPr>
          <p:cNvSpPr txBox="1"/>
          <p:nvPr/>
        </p:nvSpPr>
        <p:spPr>
          <a:xfrm>
            <a:off x="928114" y="2711621"/>
            <a:ext cx="2108163"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Ta </a:t>
            </a:r>
            <a:r>
              <a:rPr lang="en-US" dirty="0" err="1">
                <a:solidFill>
                  <a:schemeClr val="bg1"/>
                </a:solidFill>
                <a:latin typeface="JetBrains Mono Light" panose="02000009000000000000" pitchFamily="49" charset="0"/>
                <a:cs typeface="JetBrains Mono Light" panose="02000009000000000000" pitchFamily="49" charset="0"/>
              </a:rPr>
              <a:t>định</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nghĩa</a:t>
            </a:r>
            <a:r>
              <a:rPr lang="en-US" dirty="0">
                <a:solidFill>
                  <a:schemeClr val="bg1"/>
                </a:solidFill>
                <a:latin typeface="JetBrains Mono Light" panose="02000009000000000000" pitchFamily="49" charset="0"/>
                <a:cs typeface="JetBrains Mono Light" panose="02000009000000000000" pitchFamily="49" charset="0"/>
              </a:rPr>
              <a:t>:</a:t>
            </a:r>
          </a:p>
        </p:txBody>
      </p:sp>
      <p:sp>
        <p:nvSpPr>
          <p:cNvPr id="2" name="TextBox 1">
            <a:extLst>
              <a:ext uri="{FF2B5EF4-FFF2-40B4-BE49-F238E27FC236}">
                <a16:creationId xmlns:a16="http://schemas.microsoft.com/office/drawing/2014/main" id="{674A1753-CF32-456A-B8FD-B64E47CE770F}"/>
              </a:ext>
            </a:extLst>
          </p:cNvPr>
          <p:cNvSpPr txBox="1"/>
          <p:nvPr/>
        </p:nvSpPr>
        <p:spPr>
          <a:xfrm>
            <a:off x="1189891" y="3118819"/>
            <a:ext cx="9923586" cy="673967"/>
          </a:xfrm>
          <a:prstGeom prst="rect">
            <a:avLst/>
          </a:prstGeom>
          <a:noFill/>
        </p:spPr>
        <p:txBody>
          <a:bodyPr wrap="square" rtlCol="0">
            <a:spAutoFit/>
          </a:bodyPr>
          <a:lstStyle/>
          <a:p>
            <a:pPr marL="342900" marR="0" lvl="0" indent="-342900">
              <a:lnSpc>
                <a:spcPct val="107000"/>
              </a:lnSpc>
              <a:spcBef>
                <a:spcPts val="0"/>
              </a:spcBef>
              <a:spcAft>
                <a:spcPts val="720"/>
              </a:spcAft>
              <a:buSzPts val="1000"/>
              <a:buFont typeface="Symbol" panose="05050102010706020507" pitchFamily="18" charset="2"/>
              <a:buChar char=""/>
              <a:tabLst>
                <a:tab pos="457200" algn="l"/>
              </a:tabLst>
            </a:pP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Một</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thành</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phần</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liên</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thông</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của</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đồ</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thị</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là</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một</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lớp</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tương</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đương</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được</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xác</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định</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bởi</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quan</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hệ</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xấp</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xỉ</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nói</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trên</a:t>
            </a:r>
            <a:r>
              <a:rPr lang="en-US" dirty="0">
                <a:solidFill>
                  <a:schemeClr val="bg1"/>
                </a:solidFill>
                <a:latin typeface="JetBrains Mono Light" panose="02000009000000000000" pitchFamily="49" charset="0"/>
                <a:ea typeface="Times New Roman" panose="02020603050405020304" pitchFamily="18" charset="0"/>
                <a:cs typeface="JetBrains Mono Light" panose="02000009000000000000" pitchFamily="49" charset="0"/>
              </a:rPr>
              <a:t>.</a:t>
            </a:r>
            <a:endPar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endParaRPr>
          </a:p>
        </p:txBody>
      </p:sp>
      <p:sp>
        <p:nvSpPr>
          <p:cNvPr id="28" name="TextBox 27">
            <a:extLst>
              <a:ext uri="{FF2B5EF4-FFF2-40B4-BE49-F238E27FC236}">
                <a16:creationId xmlns:a16="http://schemas.microsoft.com/office/drawing/2014/main" id="{9B10AE4C-0A80-4CE6-BC34-57DB184050DA}"/>
              </a:ext>
            </a:extLst>
          </p:cNvPr>
          <p:cNvSpPr txBox="1"/>
          <p:nvPr/>
        </p:nvSpPr>
        <p:spPr>
          <a:xfrm>
            <a:off x="1189891" y="4114734"/>
            <a:ext cx="9923586" cy="374077"/>
          </a:xfrm>
          <a:prstGeom prst="rect">
            <a:avLst/>
          </a:prstGeom>
          <a:noFill/>
        </p:spPr>
        <p:txBody>
          <a:bodyPr wrap="square" rtlCol="0">
            <a:spAutoFit/>
          </a:bodyPr>
          <a:lstStyle/>
          <a:p>
            <a:pPr marL="342900" marR="0" lvl="0" indent="-342900">
              <a:lnSpc>
                <a:spcPct val="107000"/>
              </a:lnSpc>
              <a:spcBef>
                <a:spcPts val="0"/>
              </a:spcBef>
              <a:spcAft>
                <a:spcPts val="720"/>
              </a:spcAft>
              <a:buSzPts val="1000"/>
              <a:buFont typeface="Symbol" panose="05050102010706020507" pitchFamily="18" charset="2"/>
              <a:buChar char=""/>
              <a:tabLst>
                <a:tab pos="457200" algn="l"/>
              </a:tabLst>
            </a:pP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Số</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thành</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phần</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liên</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thông</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của</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đồ</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thị</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là</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số</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lượng</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các</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lớp</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tương</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đương</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a:t>
            </a:r>
            <a:endPar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endParaRPr>
          </a:p>
        </p:txBody>
      </p:sp>
      <p:sp>
        <p:nvSpPr>
          <p:cNvPr id="29" name="TextBox 28">
            <a:extLst>
              <a:ext uri="{FF2B5EF4-FFF2-40B4-BE49-F238E27FC236}">
                <a16:creationId xmlns:a16="http://schemas.microsoft.com/office/drawing/2014/main" id="{10FC1FB3-39A3-4366-ACD2-7CB93BD4FFB7}"/>
              </a:ext>
            </a:extLst>
          </p:cNvPr>
          <p:cNvSpPr txBox="1"/>
          <p:nvPr/>
        </p:nvSpPr>
        <p:spPr>
          <a:xfrm>
            <a:off x="1189891" y="4857316"/>
            <a:ext cx="9923586" cy="374077"/>
          </a:xfrm>
          <a:prstGeom prst="rect">
            <a:avLst/>
          </a:prstGeom>
          <a:noFill/>
        </p:spPr>
        <p:txBody>
          <a:bodyPr wrap="square" rtlCol="0">
            <a:spAutoFit/>
          </a:bodyPr>
          <a:lstStyle/>
          <a:p>
            <a:pPr marL="342900" marR="0" lvl="0" indent="-342900">
              <a:lnSpc>
                <a:spcPct val="107000"/>
              </a:lnSpc>
              <a:spcBef>
                <a:spcPts val="0"/>
              </a:spcBef>
              <a:spcAft>
                <a:spcPts val="720"/>
              </a:spcAft>
              <a:buSzPts val="1000"/>
              <a:buFont typeface="Symbol" panose="05050102010706020507" pitchFamily="18" charset="2"/>
              <a:buChar char=""/>
              <a:tabLst>
                <a:tab pos="457200" algn="l"/>
              </a:tabLst>
            </a:pP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Một</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đồ</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thị</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liên</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thông</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là</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1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đồ</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thị</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chỉ</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có</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1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thành</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phần</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liên</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thông</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a:t>
            </a:r>
            <a:endPar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endParaRPr>
          </a:p>
        </p:txBody>
      </p:sp>
    </p:spTree>
    <p:extLst>
      <p:ext uri="{BB962C8B-B14F-4D97-AF65-F5344CB8AC3E}">
        <p14:creationId xmlns:p14="http://schemas.microsoft.com/office/powerpoint/2010/main" val="40934986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4" grpId="0"/>
      <p:bldP spid="27" grpId="0"/>
      <p:bldP spid="2" grpId="0"/>
      <p:bldP spid="28" grpId="0"/>
      <p:bldP spid="2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ADCB1D2-71BF-4442-85AC-20706F44BBA0}"/>
              </a:ext>
            </a:extLst>
          </p:cNvPr>
          <p:cNvSpPr/>
          <p:nvPr/>
        </p:nvSpPr>
        <p:spPr>
          <a:xfrm>
            <a:off x="0" y="-2556"/>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21" name="Credit MAIN">
            <a:extLst>
              <a:ext uri="{FF2B5EF4-FFF2-40B4-BE49-F238E27FC236}">
                <a16:creationId xmlns:a16="http://schemas.microsoft.com/office/drawing/2014/main" id="{A5F845F1-9489-426E-B1D3-2CCF2A9E61E3}"/>
              </a:ext>
            </a:extLst>
          </p:cNvPr>
          <p:cNvSpPr txBox="1"/>
          <p:nvPr/>
        </p:nvSpPr>
        <p:spPr>
          <a:xfrm>
            <a:off x="50878" y="6420549"/>
            <a:ext cx="2668876" cy="369332"/>
          </a:xfrm>
          <a:prstGeom prst="rect">
            <a:avLst/>
          </a:prstGeom>
          <a:noFill/>
        </p:spPr>
        <p:txBody>
          <a:bodyPr wrap="square" rtlCol="0">
            <a:spAutoFit/>
          </a:bodyPr>
          <a:lstStyle/>
          <a:p>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Phạm </a:t>
            </a:r>
            <a:r>
              <a:rPr lang="en-US"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H</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oàng</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Phong</a:t>
            </a:r>
            <a:endParaRPr lang="en-US" dirty="0">
              <a:solidFill>
                <a:schemeClr val="bg1">
                  <a:lumMod val="95000"/>
                  <a:alpha val="46000"/>
                </a:schemeClr>
              </a:solidFill>
            </a:endParaRPr>
          </a:p>
        </p:txBody>
      </p:sp>
      <p:sp>
        <p:nvSpPr>
          <p:cNvPr id="11" name="Header">
            <a:extLst>
              <a:ext uri="{FF2B5EF4-FFF2-40B4-BE49-F238E27FC236}">
                <a16:creationId xmlns:a16="http://schemas.microsoft.com/office/drawing/2014/main" id="{6A39F230-06D2-4140-8DA2-357C0B9B6D12}"/>
              </a:ext>
            </a:extLst>
          </p:cNvPr>
          <p:cNvSpPr txBox="1"/>
          <p:nvPr/>
        </p:nvSpPr>
        <p:spPr>
          <a:xfrm>
            <a:off x="50878" y="68119"/>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7" name="Footer: Part">
            <a:extLst>
              <a:ext uri="{FF2B5EF4-FFF2-40B4-BE49-F238E27FC236}">
                <a16:creationId xmlns:a16="http://schemas.microsoft.com/office/drawing/2014/main" id="{553347E6-1341-4BA1-A396-FC4741F3FAF1}"/>
              </a:ext>
            </a:extLst>
          </p:cNvPr>
          <p:cNvSpPr txBox="1"/>
          <p:nvPr/>
        </p:nvSpPr>
        <p:spPr>
          <a:xfrm>
            <a:off x="9800491" y="6413178"/>
            <a:ext cx="2319411" cy="369332"/>
          </a:xfrm>
          <a:prstGeom prst="rect">
            <a:avLst/>
          </a:prstGeom>
          <a:noFill/>
        </p:spPr>
        <p:txBody>
          <a:bodyPr wrap="square" rtlCol="0">
            <a:spAutoFit/>
          </a:bodyPr>
          <a:lstStyle/>
          <a:p>
            <a:pPr algn="r"/>
            <a:r>
              <a:rPr lang="en-US" dirty="0" err="1">
                <a:solidFill>
                  <a:schemeClr val="bg1">
                    <a:lumMod val="95000"/>
                  </a:schemeClr>
                </a:solidFill>
                <a:latin typeface="JetBrains Mono" panose="02000009000000000000" pitchFamily="49" charset="0"/>
                <a:cs typeface="JetBrains Mono" panose="02000009000000000000" pitchFamily="49" charset="0"/>
              </a:rPr>
              <a:t>Tính</a:t>
            </a:r>
            <a:r>
              <a:rPr lang="en-US" dirty="0">
                <a:solidFill>
                  <a:schemeClr val="bg1">
                    <a:lumMod val="95000"/>
                  </a:schemeClr>
                </a:solidFill>
                <a:latin typeface="JetBrains Mono" panose="02000009000000000000" pitchFamily="49" charset="0"/>
                <a:cs typeface="JetBrains Mono" panose="02000009000000000000" pitchFamily="49" charset="0"/>
              </a:rPr>
              <a:t> </a:t>
            </a:r>
            <a:r>
              <a:rPr lang="en-US" dirty="0" err="1">
                <a:solidFill>
                  <a:schemeClr val="bg1">
                    <a:lumMod val="95000"/>
                  </a:schemeClr>
                </a:solidFill>
                <a:latin typeface="JetBrains Mono" panose="02000009000000000000" pitchFamily="49" charset="0"/>
                <a:cs typeface="JetBrains Mono" panose="02000009000000000000" pitchFamily="49" charset="0"/>
              </a:rPr>
              <a:t>liên</a:t>
            </a:r>
            <a:r>
              <a:rPr lang="en-US" dirty="0">
                <a:solidFill>
                  <a:schemeClr val="bg1">
                    <a:lumMod val="95000"/>
                  </a:schemeClr>
                </a:solidFill>
                <a:latin typeface="JetBrains Mono" panose="02000009000000000000" pitchFamily="49" charset="0"/>
                <a:cs typeface="JetBrains Mono" panose="02000009000000000000" pitchFamily="49" charset="0"/>
              </a:rPr>
              <a:t> </a:t>
            </a:r>
            <a:r>
              <a:rPr lang="en-US" dirty="0" err="1">
                <a:solidFill>
                  <a:schemeClr val="bg1">
                    <a:lumMod val="95000"/>
                  </a:schemeClr>
                </a:solidFill>
                <a:latin typeface="JetBrains Mono" panose="02000009000000000000" pitchFamily="49" charset="0"/>
                <a:cs typeface="JetBrains Mono" panose="02000009000000000000" pitchFamily="49" charset="0"/>
              </a:rPr>
              <a:t>thông</a:t>
            </a:r>
            <a:r>
              <a:rPr lang="en-US" dirty="0">
                <a:solidFill>
                  <a:schemeClr val="bg1">
                    <a:lumMod val="95000"/>
                  </a:schemeClr>
                </a:solidFill>
                <a:latin typeface="JetBrains Mono" panose="02000009000000000000" pitchFamily="49" charset="0"/>
                <a:cs typeface="JetBrains Mono" panose="02000009000000000000" pitchFamily="49" charset="0"/>
              </a:rPr>
              <a:t> </a:t>
            </a:r>
          </a:p>
        </p:txBody>
      </p:sp>
      <p:sp>
        <p:nvSpPr>
          <p:cNvPr id="19" name="Footer: Title">
            <a:extLst>
              <a:ext uri="{FF2B5EF4-FFF2-40B4-BE49-F238E27FC236}">
                <a16:creationId xmlns:a16="http://schemas.microsoft.com/office/drawing/2014/main" id="{FD144244-98B6-4C54-A114-16CD65E0D522}"/>
              </a:ext>
            </a:extLst>
          </p:cNvPr>
          <p:cNvSpPr txBox="1"/>
          <p:nvPr/>
        </p:nvSpPr>
        <p:spPr>
          <a:xfrm>
            <a:off x="8815785" y="6414047"/>
            <a:ext cx="1160019"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Light" panose="02000009000000000000" pitchFamily="49" charset="0"/>
                <a:cs typeface="JetBrains Mono Light" panose="02000009000000000000" pitchFamily="49" charset="0"/>
              </a:rPr>
              <a:t>:</a:t>
            </a:r>
          </a:p>
        </p:txBody>
      </p:sp>
      <p:sp>
        <p:nvSpPr>
          <p:cNvPr id="25" name="PAGE NUM 0">
            <a:extLst>
              <a:ext uri="{FF2B5EF4-FFF2-40B4-BE49-F238E27FC236}">
                <a16:creationId xmlns:a16="http://schemas.microsoft.com/office/drawing/2014/main" id="{CA8E8643-0820-44FC-9D06-02F2A0A63536}"/>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1</a:t>
            </a:r>
          </a:p>
        </p:txBody>
      </p:sp>
      <p:sp>
        <p:nvSpPr>
          <p:cNvPr id="26" name="PAGE NUM 1">
            <a:extLst>
              <a:ext uri="{FF2B5EF4-FFF2-40B4-BE49-F238E27FC236}">
                <a16:creationId xmlns:a16="http://schemas.microsoft.com/office/drawing/2014/main" id="{6BF8CF33-13C7-458E-A4F5-0A19700195D0}"/>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9</a:t>
            </a:r>
            <a:endParaRPr lang="en-US" dirty="0"/>
          </a:p>
        </p:txBody>
      </p:sp>
      <p:sp>
        <p:nvSpPr>
          <p:cNvPr id="4" name="Rectangle 3">
            <a:extLst>
              <a:ext uri="{FF2B5EF4-FFF2-40B4-BE49-F238E27FC236}">
                <a16:creationId xmlns:a16="http://schemas.microsoft.com/office/drawing/2014/main" id="{CB38D6F8-B45F-44CF-A0B3-4EECDAC74C1C}"/>
              </a:ext>
            </a:extLst>
          </p:cNvPr>
          <p:cNvSpPr/>
          <p:nvPr/>
        </p:nvSpPr>
        <p:spPr>
          <a:xfrm>
            <a:off x="591458" y="591772"/>
            <a:ext cx="3109884"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3252814-A59F-4DD2-85FD-AF3B5B3FB847}"/>
              </a:ext>
            </a:extLst>
          </p:cNvPr>
          <p:cNvSpPr txBox="1"/>
          <p:nvPr/>
        </p:nvSpPr>
        <p:spPr>
          <a:xfrm>
            <a:off x="603364" y="591246"/>
            <a:ext cx="3148856" cy="369332"/>
          </a:xfrm>
          <a:prstGeom prst="rect">
            <a:avLst/>
          </a:prstGeom>
          <a:noFill/>
        </p:spPr>
        <p:txBody>
          <a:bodyPr wrap="square" rtlCol="0">
            <a:spAutoFit/>
          </a:bodyPr>
          <a:lstStyle/>
          <a:p>
            <a:r>
              <a:rPr lang="en-US" dirty="0" err="1">
                <a:latin typeface="JetBrains Mono" panose="02000009000000000000" pitchFamily="49" charset="0"/>
                <a:cs typeface="JetBrains Mono" panose="02000009000000000000" pitchFamily="49" charset="0"/>
              </a:rPr>
              <a:t>Thành</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phần</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liên</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thông</a:t>
            </a:r>
            <a:endParaRPr lang="en-US" dirty="0">
              <a:latin typeface="JetBrains Mono" panose="02000009000000000000" pitchFamily="49" charset="0"/>
              <a:cs typeface="JetBrains Mono" panose="02000009000000000000" pitchFamily="49" charset="0"/>
            </a:endParaRPr>
          </a:p>
        </p:txBody>
      </p:sp>
      <p:sp>
        <p:nvSpPr>
          <p:cNvPr id="23" name="PAGE NUM 1">
            <a:extLst>
              <a:ext uri="{FF2B5EF4-FFF2-40B4-BE49-F238E27FC236}">
                <a16:creationId xmlns:a16="http://schemas.microsoft.com/office/drawing/2014/main" id="{CF9D2A3D-3034-4174-AB3D-FB864E5005FF}"/>
              </a:ext>
            </a:extLst>
          </p:cNvPr>
          <p:cNvSpPr txBox="1"/>
          <p:nvPr/>
        </p:nvSpPr>
        <p:spPr>
          <a:xfrm>
            <a:off x="12212083" y="-11113"/>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0</a:t>
            </a:r>
            <a:endParaRPr lang="en-US" dirty="0"/>
          </a:p>
        </p:txBody>
      </p:sp>
      <p:sp>
        <p:nvSpPr>
          <p:cNvPr id="33" name="TextBox 32">
            <a:extLst>
              <a:ext uri="{FF2B5EF4-FFF2-40B4-BE49-F238E27FC236}">
                <a16:creationId xmlns:a16="http://schemas.microsoft.com/office/drawing/2014/main" id="{648582B6-DFC3-4BDA-B686-F9E520B82BB5}"/>
              </a:ext>
            </a:extLst>
          </p:cNvPr>
          <p:cNvSpPr txBox="1"/>
          <p:nvPr/>
        </p:nvSpPr>
        <p:spPr>
          <a:xfrm>
            <a:off x="943333" y="1090927"/>
            <a:ext cx="5152667" cy="377604"/>
          </a:xfrm>
          <a:prstGeom prst="rect">
            <a:avLst/>
          </a:prstGeom>
          <a:noFill/>
        </p:spPr>
        <p:txBody>
          <a:bodyPr wrap="square" rtlCol="0">
            <a:spAutoFit/>
          </a:bodyPr>
          <a:lstStyle/>
          <a:p>
            <a:pPr marL="0" marR="0">
              <a:lnSpc>
                <a:spcPct val="107000"/>
              </a:lnSpc>
              <a:spcBef>
                <a:spcPts val="0"/>
              </a:spcBef>
              <a:spcAft>
                <a:spcPts val="800"/>
              </a:spcAft>
            </a:pPr>
            <a:r>
              <a:rPr lang="en-US" dirty="0" err="1">
                <a:solidFill>
                  <a:schemeClr val="bg1"/>
                </a:solidFill>
                <a:latin typeface="JetBrains Mono Light" panose="02000009000000000000" pitchFamily="49" charset="0"/>
                <a:ea typeface="Calibri" panose="020F0502020204030204" pitchFamily="34" charset="0"/>
                <a:cs typeface="JetBrains Mono Light" panose="02000009000000000000" pitchFamily="49" charset="0"/>
              </a:rPr>
              <a:t>Là</a:t>
            </a:r>
            <a:r>
              <a:rPr lang="en-US" dirty="0">
                <a:solidFill>
                  <a:schemeClr val="bg1"/>
                </a:solidFill>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đồ</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thị</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con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của</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đồ</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thị</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liên</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thông</a:t>
            </a:r>
            <a:r>
              <a:rPr lang="en-US" sz="1800"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a:t>
            </a:r>
          </a:p>
        </p:txBody>
      </p:sp>
      <p:sp>
        <p:nvSpPr>
          <p:cNvPr id="34" name="TextBox 33">
            <a:extLst>
              <a:ext uri="{FF2B5EF4-FFF2-40B4-BE49-F238E27FC236}">
                <a16:creationId xmlns:a16="http://schemas.microsoft.com/office/drawing/2014/main" id="{759AD20F-284B-4CED-8A21-7B8EA4920A5B}"/>
              </a:ext>
            </a:extLst>
          </p:cNvPr>
          <p:cNvSpPr txBox="1"/>
          <p:nvPr/>
        </p:nvSpPr>
        <p:spPr>
          <a:xfrm>
            <a:off x="943333" y="1503700"/>
            <a:ext cx="9771559" cy="377604"/>
          </a:xfrm>
          <a:prstGeom prst="rect">
            <a:avLst/>
          </a:prstGeom>
          <a:noFill/>
        </p:spPr>
        <p:txBody>
          <a:bodyPr wrap="square" rtlCol="0">
            <a:spAutoFit/>
          </a:bodyPr>
          <a:lstStyle/>
          <a:p>
            <a:pPr marL="0" marR="0">
              <a:lnSpc>
                <a:spcPct val="107000"/>
              </a:lnSpc>
              <a:spcBef>
                <a:spcPts val="0"/>
              </a:spcBef>
              <a:spcAft>
                <a:spcPts val="800"/>
              </a:spcAft>
            </a:pP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Một</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đồ</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thị</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không</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liên</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thông</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sẽ</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bao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gồm</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nhiều</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đồ</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thị</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con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liên</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thông</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a:t>
            </a:r>
            <a:endParaRPr lang="en-US" sz="1800" i="1" dirty="0">
              <a:solidFill>
                <a:schemeClr val="bg1"/>
              </a:solidFill>
              <a:effectLst/>
              <a:latin typeface="JetBrains Mono ExtraLight" panose="02000009000000000000" pitchFamily="49" charset="0"/>
              <a:ea typeface="Calibri" panose="020F0502020204030204" pitchFamily="34" charset="0"/>
              <a:cs typeface="JetBrains Mono ExtraLight" panose="02000009000000000000" pitchFamily="49" charset="0"/>
            </a:endParaRPr>
          </a:p>
        </p:txBody>
      </p:sp>
      <p:sp>
        <p:nvSpPr>
          <p:cNvPr id="35" name="TextBox 34">
            <a:extLst>
              <a:ext uri="{FF2B5EF4-FFF2-40B4-BE49-F238E27FC236}">
                <a16:creationId xmlns:a16="http://schemas.microsoft.com/office/drawing/2014/main" id="{8EDAC748-9453-4BC9-BDA4-88C8765BAFF4}"/>
              </a:ext>
            </a:extLst>
          </p:cNvPr>
          <p:cNvSpPr txBox="1"/>
          <p:nvPr/>
        </p:nvSpPr>
        <p:spPr>
          <a:xfrm>
            <a:off x="953374" y="1846135"/>
            <a:ext cx="9572267" cy="377604"/>
          </a:xfrm>
          <a:prstGeom prst="rect">
            <a:avLst/>
          </a:prstGeom>
          <a:noFill/>
        </p:spPr>
        <p:txBody>
          <a:bodyPr wrap="square" rtlCol="0">
            <a:spAutoFit/>
          </a:bodyPr>
          <a:lstStyle/>
          <a:p>
            <a:pPr marL="0" marR="0">
              <a:lnSpc>
                <a:spcPct val="107000"/>
              </a:lnSpc>
              <a:spcBef>
                <a:spcPts val="0"/>
              </a:spcBef>
              <a:spcAft>
                <a:spcPts val="800"/>
              </a:spcAft>
            </a:pP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Đồ</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thị</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liên</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thông</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khi</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và</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chỉ</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khi</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có</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một</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thành</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phần</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liên</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thông</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a:t>
            </a:r>
            <a:endParaRPr lang="en-US" sz="1800" i="1" dirty="0">
              <a:solidFill>
                <a:schemeClr val="bg1"/>
              </a:solidFill>
              <a:effectLst/>
              <a:latin typeface="JetBrains Mono ExtraLight" panose="02000009000000000000" pitchFamily="49" charset="0"/>
              <a:ea typeface="Calibri" panose="020F0502020204030204" pitchFamily="34" charset="0"/>
              <a:cs typeface="JetBrains Mono ExtraLight" panose="02000009000000000000" pitchFamily="49" charset="0"/>
            </a:endParaRPr>
          </a:p>
        </p:txBody>
      </p:sp>
      <p:sp>
        <p:nvSpPr>
          <p:cNvPr id="36" name="TextBox 35">
            <a:extLst>
              <a:ext uri="{FF2B5EF4-FFF2-40B4-BE49-F238E27FC236}">
                <a16:creationId xmlns:a16="http://schemas.microsoft.com/office/drawing/2014/main" id="{5190ECE4-A3D6-447D-9267-28075FDC5FF4}"/>
              </a:ext>
            </a:extLst>
          </p:cNvPr>
          <p:cNvSpPr txBox="1"/>
          <p:nvPr/>
        </p:nvSpPr>
        <p:spPr>
          <a:xfrm>
            <a:off x="1037305" y="2501299"/>
            <a:ext cx="1140487"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Định</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lí</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37" name="TextBox 36">
            <a:extLst>
              <a:ext uri="{FF2B5EF4-FFF2-40B4-BE49-F238E27FC236}">
                <a16:creationId xmlns:a16="http://schemas.microsoft.com/office/drawing/2014/main" id="{C6CAAED8-E7A0-4079-8B9C-52157153990B}"/>
              </a:ext>
            </a:extLst>
          </p:cNvPr>
          <p:cNvSpPr txBox="1"/>
          <p:nvPr/>
        </p:nvSpPr>
        <p:spPr>
          <a:xfrm>
            <a:off x="1294142" y="2993835"/>
            <a:ext cx="3992965" cy="369332"/>
          </a:xfrm>
          <a:prstGeom prst="rect">
            <a:avLst/>
          </a:prstGeom>
          <a:solidFill>
            <a:schemeClr val="bg1"/>
          </a:solidFill>
          <a:ln>
            <a:solidFill>
              <a:schemeClr val="bg1">
                <a:lumMod val="50000"/>
              </a:schemeClr>
            </a:solidFill>
          </a:ln>
        </p:spPr>
        <p:txBody>
          <a:bodyPr wrap="square" rtlCol="0">
            <a:spAutoFit/>
          </a:bodyPr>
          <a:lstStyle/>
          <a:p>
            <a:r>
              <a:rPr lang="en-US" sz="1800" dirty="0" err="1">
                <a:solidFill>
                  <a:srgbClr val="000000"/>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Đường</a:t>
            </a:r>
            <a:r>
              <a:rPr lang="en-US" sz="1800" dirty="0">
                <a:solidFill>
                  <a:srgbClr val="000000"/>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 </a:t>
            </a:r>
            <a:r>
              <a:rPr lang="en-US" sz="1800" dirty="0" err="1">
                <a:solidFill>
                  <a:srgbClr val="000000"/>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đi</a:t>
            </a:r>
            <a:r>
              <a:rPr lang="en-US" sz="1800" dirty="0">
                <a:solidFill>
                  <a:srgbClr val="000000"/>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 </a:t>
            </a:r>
            <a:r>
              <a:rPr lang="en-US" sz="1800" dirty="0" err="1">
                <a:solidFill>
                  <a:srgbClr val="000000"/>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giữa</a:t>
            </a:r>
            <a:r>
              <a:rPr lang="en-US" sz="1800" dirty="0">
                <a:solidFill>
                  <a:srgbClr val="000000"/>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 2 </a:t>
            </a:r>
            <a:r>
              <a:rPr lang="en-US" sz="1800" dirty="0" err="1">
                <a:solidFill>
                  <a:srgbClr val="000000"/>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đỉnh</a:t>
            </a:r>
            <a:r>
              <a:rPr lang="en-US" sz="1800" dirty="0">
                <a:solidFill>
                  <a:srgbClr val="000000"/>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 </a:t>
            </a:r>
            <a:r>
              <a:rPr lang="en-US" sz="1800" dirty="0" err="1">
                <a:solidFill>
                  <a:srgbClr val="000000"/>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bậc</a:t>
            </a:r>
            <a:r>
              <a:rPr lang="en-US" sz="1800" dirty="0">
                <a:solidFill>
                  <a:srgbClr val="000000"/>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 </a:t>
            </a:r>
            <a:r>
              <a:rPr lang="en-US" sz="1800" dirty="0" err="1">
                <a:solidFill>
                  <a:srgbClr val="000000"/>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lẻ</a:t>
            </a:r>
            <a:endParaRPr lang="en-US" dirty="0">
              <a:latin typeface="JetBrains Mono Regular" panose="02000009000000000000" pitchFamily="49" charset="0"/>
              <a:cs typeface="JetBrains Mono Regular" panose="02000009000000000000" pitchFamily="49" charset="0"/>
            </a:endParaRPr>
          </a:p>
        </p:txBody>
      </p:sp>
      <p:sp>
        <p:nvSpPr>
          <p:cNvPr id="38" name="TextBox 37">
            <a:extLst>
              <a:ext uri="{FF2B5EF4-FFF2-40B4-BE49-F238E27FC236}">
                <a16:creationId xmlns:a16="http://schemas.microsoft.com/office/drawing/2014/main" id="{9671CE9C-3C31-4C08-8ECF-6DF71292A2E1}"/>
              </a:ext>
            </a:extLst>
          </p:cNvPr>
          <p:cNvSpPr txBox="1"/>
          <p:nvPr/>
        </p:nvSpPr>
        <p:spPr>
          <a:xfrm>
            <a:off x="5436991" y="2793097"/>
            <a:ext cx="5880381" cy="1266693"/>
          </a:xfrm>
          <a:prstGeom prst="rect">
            <a:avLst/>
          </a:prstGeom>
          <a:noFill/>
          <a:ln>
            <a:noFill/>
          </a:ln>
        </p:spPr>
        <p:txBody>
          <a:bodyPr wrap="square" rtlCol="0">
            <a:spAutoFit/>
          </a:bodyPr>
          <a:lstStyle/>
          <a:p>
            <a:pPr marL="0" marR="0">
              <a:lnSpc>
                <a:spcPct val="107000"/>
              </a:lnSpc>
              <a:spcBef>
                <a:spcPts val="0"/>
              </a:spcBef>
              <a:spcAft>
                <a:spcPts val="720"/>
              </a:spcAft>
            </a:pP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Nếu</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một</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đồ</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thị</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G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không</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quan</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tâm</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liên</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thông</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hay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không</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có</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đúng</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2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đỉnh</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bậc</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lẻ</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chắc</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chắn</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sẽ</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có</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một</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đường</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đi</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nối</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2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đỉnh</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này</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a:t>
            </a:r>
            <a:endParaRPr lang="en-US" sz="1800" i="1"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endParaRPr>
          </a:p>
        </p:txBody>
      </p:sp>
      <p:sp>
        <p:nvSpPr>
          <p:cNvPr id="39" name="TextBox 38">
            <a:extLst>
              <a:ext uri="{FF2B5EF4-FFF2-40B4-BE49-F238E27FC236}">
                <a16:creationId xmlns:a16="http://schemas.microsoft.com/office/drawing/2014/main" id="{F7D83769-46E8-47C2-B48F-9E740EF93916}"/>
              </a:ext>
            </a:extLst>
          </p:cNvPr>
          <p:cNvSpPr txBox="1"/>
          <p:nvPr/>
        </p:nvSpPr>
        <p:spPr>
          <a:xfrm>
            <a:off x="2618231" y="4506687"/>
            <a:ext cx="2668876" cy="369332"/>
          </a:xfrm>
          <a:prstGeom prst="rect">
            <a:avLst/>
          </a:prstGeom>
          <a:solidFill>
            <a:schemeClr val="bg1"/>
          </a:solidFill>
          <a:ln>
            <a:solidFill>
              <a:schemeClr val="bg1">
                <a:lumMod val="50000"/>
              </a:schemeClr>
            </a:solidFill>
          </a:ln>
        </p:spPr>
        <p:txBody>
          <a:bodyPr wrap="square" rtlCol="0">
            <a:spAutoFit/>
          </a:bodyPr>
          <a:lstStyle/>
          <a:p>
            <a:pPr algn="r"/>
            <a:r>
              <a:rPr lang="en-US" sz="1800" dirty="0" err="1">
                <a:solidFill>
                  <a:srgbClr val="000000"/>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Số</a:t>
            </a:r>
            <a:r>
              <a:rPr lang="en-US" sz="1800" dirty="0">
                <a:solidFill>
                  <a:srgbClr val="000000"/>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 </a:t>
            </a:r>
            <a:r>
              <a:rPr lang="en-US" sz="1800" dirty="0" err="1">
                <a:solidFill>
                  <a:srgbClr val="000000"/>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cạnh</a:t>
            </a:r>
            <a:r>
              <a:rPr lang="en-US" sz="1800" dirty="0">
                <a:solidFill>
                  <a:srgbClr val="000000"/>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 </a:t>
            </a:r>
            <a:r>
              <a:rPr lang="en-US" sz="1800" dirty="0" err="1">
                <a:solidFill>
                  <a:srgbClr val="000000"/>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của</a:t>
            </a:r>
            <a:r>
              <a:rPr lang="en-US" sz="1800" dirty="0">
                <a:solidFill>
                  <a:srgbClr val="000000"/>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 </a:t>
            </a:r>
            <a:r>
              <a:rPr lang="en-US" sz="1800" dirty="0" err="1">
                <a:solidFill>
                  <a:srgbClr val="000000"/>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đồ</a:t>
            </a:r>
            <a:r>
              <a:rPr lang="en-US" sz="1800" dirty="0">
                <a:solidFill>
                  <a:srgbClr val="000000"/>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 </a:t>
            </a:r>
            <a:r>
              <a:rPr lang="en-US" sz="1800" dirty="0" err="1">
                <a:solidFill>
                  <a:srgbClr val="000000"/>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thị</a:t>
            </a:r>
            <a:endParaRPr lang="en-US" dirty="0">
              <a:latin typeface="JetBrains Mono Regular" panose="02000009000000000000" pitchFamily="49" charset="0"/>
              <a:cs typeface="JetBrains Mono Regular" panose="02000009000000000000" pitchFamily="49" charset="0"/>
            </a:endParaRPr>
          </a:p>
        </p:txBody>
      </p:sp>
      <p:sp>
        <p:nvSpPr>
          <p:cNvPr id="40" name="TextBox 39">
            <a:extLst>
              <a:ext uri="{FF2B5EF4-FFF2-40B4-BE49-F238E27FC236}">
                <a16:creationId xmlns:a16="http://schemas.microsoft.com/office/drawing/2014/main" id="{4F7FF274-8CAE-4053-A112-25FC41DD4F8E}"/>
              </a:ext>
            </a:extLst>
          </p:cNvPr>
          <p:cNvSpPr txBox="1"/>
          <p:nvPr/>
        </p:nvSpPr>
        <p:spPr>
          <a:xfrm>
            <a:off x="2676846" y="4888715"/>
            <a:ext cx="2668876" cy="369332"/>
          </a:xfrm>
          <a:prstGeom prst="rect">
            <a:avLst/>
          </a:prstGeom>
          <a:noFill/>
          <a:ln>
            <a:noFill/>
          </a:ln>
        </p:spPr>
        <p:txBody>
          <a:bodyPr wrap="square" rtlCol="0">
            <a:spAutoFit/>
          </a:bodyPr>
          <a:lstStyle/>
          <a:p>
            <a:pPr algn="r"/>
            <a:r>
              <a:rPr lang="en-US" sz="1800" i="1" dirty="0" err="1">
                <a:solidFill>
                  <a:schemeClr val="bg1">
                    <a:lumMod val="50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Định</a:t>
            </a:r>
            <a:r>
              <a:rPr lang="en-US" sz="1800" i="1" dirty="0">
                <a:solidFill>
                  <a:schemeClr val="bg1">
                    <a:lumMod val="50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i="1" dirty="0" err="1">
                <a:solidFill>
                  <a:schemeClr val="bg1">
                    <a:lumMod val="50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lý</a:t>
            </a:r>
            <a:r>
              <a:rPr lang="en-US" sz="1800" i="1" dirty="0">
                <a:solidFill>
                  <a:schemeClr val="bg1">
                    <a:lumMod val="50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i="1" dirty="0" err="1">
                <a:solidFill>
                  <a:schemeClr val="bg1">
                    <a:lumMod val="50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bắt</a:t>
            </a:r>
            <a:r>
              <a:rPr lang="en-US" sz="1800" i="1" dirty="0">
                <a:solidFill>
                  <a:schemeClr val="bg1">
                    <a:lumMod val="50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i="1" dirty="0" err="1">
                <a:solidFill>
                  <a:schemeClr val="bg1">
                    <a:lumMod val="50000"/>
                  </a:schemeClr>
                </a:solidFill>
                <a:effectLst/>
                <a:latin typeface="JetBrains Mono Light" panose="02000009000000000000" pitchFamily="49" charset="0"/>
                <a:ea typeface="Calibri" panose="020F0502020204030204" pitchFamily="34" charset="0"/>
                <a:cs typeface="JetBrains Mono Light" panose="02000009000000000000" pitchFamily="49" charset="0"/>
              </a:rPr>
              <a:t>tay</a:t>
            </a:r>
            <a:endParaRPr lang="en-US" i="1"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41" name="TextBox 40">
            <a:extLst>
              <a:ext uri="{FF2B5EF4-FFF2-40B4-BE49-F238E27FC236}">
                <a16:creationId xmlns:a16="http://schemas.microsoft.com/office/drawing/2014/main" id="{0A15F0C3-F02F-4B65-8B29-059E04226587}"/>
              </a:ext>
            </a:extLst>
          </p:cNvPr>
          <p:cNvSpPr txBox="1"/>
          <p:nvPr/>
        </p:nvSpPr>
        <p:spPr>
          <a:xfrm>
            <a:off x="5436991" y="4264184"/>
            <a:ext cx="5880381" cy="970330"/>
          </a:xfrm>
          <a:prstGeom prst="rect">
            <a:avLst/>
          </a:prstGeom>
          <a:noFill/>
          <a:ln>
            <a:noFill/>
          </a:ln>
        </p:spPr>
        <p:txBody>
          <a:bodyPr wrap="square" rtlCol="0">
            <a:spAutoFit/>
          </a:bodyPr>
          <a:lstStyle/>
          <a:p>
            <a:pPr marL="0" marR="0">
              <a:lnSpc>
                <a:spcPct val="107000"/>
              </a:lnSpc>
              <a:spcBef>
                <a:spcPts val="0"/>
              </a:spcBef>
              <a:spcAft>
                <a:spcPts val="720"/>
              </a:spcAft>
            </a:pPr>
            <a:r>
              <a:rPr lang="en-US" sz="1800" i="1"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Số</a:t>
            </a:r>
            <a:r>
              <a:rPr lang="en-US" sz="1800" i="1"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cạnh</a:t>
            </a:r>
            <a:r>
              <a:rPr lang="en-US" sz="1800" i="1"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tối</a:t>
            </a:r>
            <a:r>
              <a:rPr lang="en-US" sz="1800" i="1"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đa</a:t>
            </a:r>
            <a:r>
              <a:rPr lang="en-US" sz="1800" i="1"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của</a:t>
            </a:r>
            <a:r>
              <a:rPr lang="en-US" sz="1800" i="1"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một</a:t>
            </a:r>
            <a:r>
              <a:rPr lang="en-US" sz="1800" i="1"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đơn</a:t>
            </a:r>
            <a:r>
              <a:rPr lang="en-US" sz="1800" i="1"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đồ</a:t>
            </a:r>
            <a:r>
              <a:rPr lang="en-US" sz="1800" i="1"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thị</a:t>
            </a:r>
            <a:r>
              <a:rPr lang="en-US" sz="1800" i="1"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không</a:t>
            </a:r>
            <a:r>
              <a:rPr lang="en-US" sz="1800" i="1"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liên</a:t>
            </a:r>
            <a:r>
              <a:rPr lang="en-US" sz="1800" i="1"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thông</a:t>
            </a:r>
            <a:r>
              <a:rPr lang="en-US" sz="1800" i="1"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G </a:t>
            </a:r>
            <a:r>
              <a:rPr lang="en-US" sz="1800" i="1"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gồm</a:t>
            </a:r>
            <a:r>
              <a:rPr lang="en-US" sz="1800" i="1"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n </a:t>
            </a:r>
            <a:r>
              <a:rPr lang="en-US" sz="1800" i="1"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đỉnh</a:t>
            </a:r>
            <a:r>
              <a:rPr lang="en-US" sz="1800" i="1"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và</a:t>
            </a:r>
            <a:r>
              <a:rPr lang="en-US" sz="1800" i="1"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k </a:t>
            </a:r>
            <a:r>
              <a:rPr lang="en-US" sz="1800" i="1"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thành</a:t>
            </a:r>
            <a:r>
              <a:rPr lang="en-US" sz="1800" i="1"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phần</a:t>
            </a:r>
            <a:r>
              <a:rPr lang="en-US" sz="1800" i="1"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 </a:t>
            </a:r>
            <a:r>
              <a:rPr lang="en-US" sz="1800" i="1" dirty="0" err="1">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rPr>
              <a:t>là</a:t>
            </a:r>
            <a:endParaRPr lang="en-US" sz="1800" i="1" dirty="0">
              <a:solidFill>
                <a:schemeClr val="bg1"/>
              </a:solidFill>
              <a:effectLst/>
              <a:latin typeface="JetBrains Mono Light" panose="02000009000000000000" pitchFamily="49" charset="0"/>
              <a:ea typeface="Calibri" panose="020F0502020204030204" pitchFamily="34" charset="0"/>
              <a:cs typeface="JetBrains Mono Light" panose="02000009000000000000" pitchFamily="49"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4CB12A1-F6D2-46EE-8B0B-992CCC9DEE17}"/>
                  </a:ext>
                </a:extLst>
              </p:cNvPr>
              <p:cNvSpPr txBox="1"/>
              <p:nvPr/>
            </p:nvSpPr>
            <p:spPr>
              <a:xfrm>
                <a:off x="7099374" y="5195788"/>
                <a:ext cx="2072055" cy="628057"/>
              </a:xfrm>
              <a:prstGeom prst="rect">
                <a:avLst/>
              </a:prstGeom>
              <a:noFill/>
              <a:ln>
                <a:solidFill>
                  <a:schemeClr val="bg1">
                    <a:lumMod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pt-BR" i="1" dirty="0" smtClean="0">
                              <a:solidFill>
                                <a:schemeClr val="bg1"/>
                              </a:solidFill>
                              <a:latin typeface="Cambria Math" panose="02040503050406030204" pitchFamily="18" charset="0"/>
                            </a:rPr>
                          </m:ctrlPr>
                        </m:fPr>
                        <m:num>
                          <m:r>
                            <a:rPr lang="en-US" b="0" i="1" dirty="0" smtClean="0">
                              <a:solidFill>
                                <a:schemeClr val="bg1"/>
                              </a:solidFill>
                              <a:latin typeface="Cambria Math" panose="02040503050406030204" pitchFamily="18" charset="0"/>
                            </a:rPr>
                            <m:t>(</m:t>
                          </m:r>
                          <m:r>
                            <a:rPr lang="pt-BR" i="1" dirty="0" smtClean="0">
                              <a:solidFill>
                                <a:schemeClr val="bg1"/>
                              </a:solidFill>
                              <a:latin typeface="Cambria Math" panose="02040503050406030204" pitchFamily="18" charset="0"/>
                            </a:rPr>
                            <m:t>𝑛</m:t>
                          </m:r>
                          <m:r>
                            <a:rPr lang="en-US" b="0" i="1" dirty="0" smtClean="0">
                              <a:solidFill>
                                <a:schemeClr val="bg1"/>
                              </a:solidFill>
                              <a:latin typeface="Cambria Math" panose="02040503050406030204" pitchFamily="18" charset="0"/>
                            </a:rPr>
                            <m:t>−</m:t>
                          </m:r>
                          <m:r>
                            <a:rPr lang="en-US" b="0" i="1" dirty="0" smtClean="0">
                              <a:solidFill>
                                <a:schemeClr val="bg1"/>
                              </a:solidFill>
                              <a:latin typeface="Cambria Math" panose="02040503050406030204" pitchFamily="18" charset="0"/>
                            </a:rPr>
                            <m:t>𝑘</m:t>
                          </m:r>
                          <m:r>
                            <a:rPr lang="en-US" b="0" i="1" dirty="0" smtClean="0">
                              <a:solidFill>
                                <a:schemeClr val="bg1"/>
                              </a:solidFill>
                              <a:latin typeface="Cambria Math" panose="02040503050406030204" pitchFamily="18" charset="0"/>
                            </a:rPr>
                            <m:t>)</m:t>
                          </m:r>
                          <m:d>
                            <m:dPr>
                              <m:ctrlPr>
                                <a:rPr lang="pt-BR" i="1" dirty="0" smtClean="0">
                                  <a:solidFill>
                                    <a:schemeClr val="bg1"/>
                                  </a:solidFill>
                                  <a:latin typeface="Cambria Math" panose="02040503050406030204" pitchFamily="18" charset="0"/>
                                </a:rPr>
                              </m:ctrlPr>
                            </m:dPr>
                            <m:e>
                              <m:r>
                                <a:rPr lang="pt-BR" i="1" dirty="0" smtClean="0">
                                  <a:solidFill>
                                    <a:schemeClr val="bg1"/>
                                  </a:solidFill>
                                  <a:latin typeface="Cambria Math" panose="02040503050406030204" pitchFamily="18" charset="0"/>
                                </a:rPr>
                                <m:t>𝑛</m:t>
                              </m:r>
                              <m:r>
                                <a:rPr lang="pt-BR" i="1" dirty="0" smtClean="0">
                                  <a:solidFill>
                                    <a:schemeClr val="bg1"/>
                                  </a:solidFill>
                                  <a:latin typeface="Cambria Math" panose="02040503050406030204" pitchFamily="18" charset="0"/>
                                </a:rPr>
                                <m:t>−</m:t>
                              </m:r>
                              <m:r>
                                <a:rPr lang="en-US" b="0" i="1" dirty="0" smtClean="0">
                                  <a:solidFill>
                                    <a:schemeClr val="bg1"/>
                                  </a:solidFill>
                                  <a:latin typeface="Cambria Math" panose="02040503050406030204" pitchFamily="18" charset="0"/>
                                </a:rPr>
                                <m:t>𝑘</m:t>
                              </m:r>
                              <m:r>
                                <a:rPr lang="en-US" b="0" i="1" dirty="0" smtClean="0">
                                  <a:solidFill>
                                    <a:schemeClr val="bg1"/>
                                  </a:solidFill>
                                  <a:latin typeface="Cambria Math" panose="02040503050406030204" pitchFamily="18" charset="0"/>
                                </a:rPr>
                                <m:t>+1</m:t>
                              </m:r>
                            </m:e>
                          </m:d>
                        </m:num>
                        <m:den>
                          <m:r>
                            <a:rPr lang="pt-BR" i="1" dirty="0" smtClean="0">
                              <a:solidFill>
                                <a:schemeClr val="bg1"/>
                              </a:solidFill>
                              <a:latin typeface="Cambria Math" panose="02040503050406030204" pitchFamily="18" charset="0"/>
                            </a:rPr>
                            <m:t>2</m:t>
                          </m:r>
                        </m:den>
                      </m:f>
                    </m:oMath>
                  </m:oMathPara>
                </a14:m>
                <a:endParaRPr lang="en-US" dirty="0">
                  <a:solidFill>
                    <a:schemeClr val="bg1"/>
                  </a:solidFill>
                </a:endParaRPr>
              </a:p>
            </p:txBody>
          </p:sp>
        </mc:Choice>
        <mc:Fallback xmlns="">
          <p:sp>
            <p:nvSpPr>
              <p:cNvPr id="3" name="TextBox 2">
                <a:extLst>
                  <a:ext uri="{FF2B5EF4-FFF2-40B4-BE49-F238E27FC236}">
                    <a16:creationId xmlns:a16="http://schemas.microsoft.com/office/drawing/2014/main" id="{24CB12A1-F6D2-46EE-8B0B-992CCC9DEE17}"/>
                  </a:ext>
                </a:extLst>
              </p:cNvPr>
              <p:cNvSpPr txBox="1">
                <a:spLocks noRot="1" noChangeAspect="1" noMove="1" noResize="1" noEditPoints="1" noAdjustHandles="1" noChangeArrowheads="1" noChangeShapeType="1" noTextEdit="1"/>
              </p:cNvSpPr>
              <p:nvPr/>
            </p:nvSpPr>
            <p:spPr>
              <a:xfrm>
                <a:off x="7099374" y="5195788"/>
                <a:ext cx="2072055" cy="628057"/>
              </a:xfrm>
              <a:prstGeom prst="rect">
                <a:avLst/>
              </a:prstGeom>
              <a:blipFill>
                <a:blip r:embed="rId2"/>
                <a:stretch>
                  <a:fillRect/>
                </a:stretch>
              </a:blipFill>
              <a:ln>
                <a:solidFill>
                  <a:schemeClr val="bg1">
                    <a:lumMod val="50000"/>
                  </a:schemeClr>
                </a:solidFill>
              </a:ln>
            </p:spPr>
            <p:txBody>
              <a:bodyPr/>
              <a:lstStyle/>
              <a:p>
                <a:r>
                  <a:rPr lang="en-US">
                    <a:noFill/>
                  </a:rPr>
                  <a:t> </a:t>
                </a:r>
              </a:p>
            </p:txBody>
          </p:sp>
        </mc:Fallback>
      </mc:AlternateContent>
    </p:spTree>
    <p:extLst>
      <p:ext uri="{BB962C8B-B14F-4D97-AF65-F5344CB8AC3E}">
        <p14:creationId xmlns:p14="http://schemas.microsoft.com/office/powerpoint/2010/main" val="19128702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fade">
                                      <p:cBhvr>
                                        <p:cTn id="17" dur="5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500"/>
                                        <p:tgtEl>
                                          <p:spTgt spid="37"/>
                                        </p:tgtEl>
                                      </p:cBhvr>
                                    </p:animEffect>
                                  </p:childTnLst>
                                </p:cTn>
                              </p:par>
                              <p:par>
                                <p:cTn id="28" presetID="10" presetClass="entr" presetSubtype="0" fill="hold" grpId="0" nodeType="withEffect">
                                  <p:stCondLst>
                                    <p:cond delay="50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500"/>
                                        <p:tgtEl>
                                          <p:spTgt spid="3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500"/>
                                        <p:tgtEl>
                                          <p:spTgt spid="39"/>
                                        </p:tgtEl>
                                      </p:cBhvr>
                                    </p:animEffect>
                                  </p:childTnLst>
                                </p:cTn>
                              </p:par>
                              <p:par>
                                <p:cTn id="36" presetID="10" presetClass="entr" presetSubtype="0" fill="hold" grpId="0" nodeType="withEffect">
                                  <p:stCondLst>
                                    <p:cond delay="300"/>
                                  </p:stCondLst>
                                  <p:childTnLst>
                                    <p:set>
                                      <p:cBhvr>
                                        <p:cTn id="37" dur="1" fill="hold">
                                          <p:stCondLst>
                                            <p:cond delay="0"/>
                                          </p:stCondLst>
                                        </p:cTn>
                                        <p:tgtEl>
                                          <p:spTgt spid="40"/>
                                        </p:tgtEl>
                                        <p:attrNameLst>
                                          <p:attrName>style.visibility</p:attrName>
                                        </p:attrNameLst>
                                      </p:cBhvr>
                                      <p:to>
                                        <p:strVal val="visible"/>
                                      </p:to>
                                    </p:set>
                                    <p:animEffect transition="in" filter="fade">
                                      <p:cBhvr>
                                        <p:cTn id="38" dur="500"/>
                                        <p:tgtEl>
                                          <p:spTgt spid="40"/>
                                        </p:tgtEl>
                                      </p:cBhvr>
                                    </p:animEffect>
                                  </p:childTnLst>
                                </p:cTn>
                              </p:par>
                              <p:par>
                                <p:cTn id="39" presetID="10" presetClass="entr" presetSubtype="0" fill="hold" grpId="0" nodeType="withEffect">
                                  <p:stCondLst>
                                    <p:cond delay="600"/>
                                  </p:stCondLst>
                                  <p:childTnLst>
                                    <p:set>
                                      <p:cBhvr>
                                        <p:cTn id="40" dur="1" fill="hold">
                                          <p:stCondLst>
                                            <p:cond delay="0"/>
                                          </p:stCondLst>
                                        </p:cTn>
                                        <p:tgtEl>
                                          <p:spTgt spid="41"/>
                                        </p:tgtEl>
                                        <p:attrNameLst>
                                          <p:attrName>style.visibility</p:attrName>
                                        </p:attrNameLst>
                                      </p:cBhvr>
                                      <p:to>
                                        <p:strVal val="visible"/>
                                      </p:to>
                                    </p:set>
                                    <p:animEffect transition="in" filter="fade">
                                      <p:cBhvr>
                                        <p:cTn id="41" dur="500"/>
                                        <p:tgtEl>
                                          <p:spTgt spid="41"/>
                                        </p:tgtEl>
                                      </p:cBhvr>
                                    </p:animEffect>
                                  </p:childTnLst>
                                </p:cTn>
                              </p:par>
                              <p:par>
                                <p:cTn id="42" presetID="10" presetClass="entr" presetSubtype="0" fill="hold" grpId="0" nodeType="withEffect">
                                  <p:stCondLst>
                                    <p:cond delay="1100"/>
                                  </p:stCondLst>
                                  <p:childTnLst>
                                    <p:set>
                                      <p:cBhvr>
                                        <p:cTn id="43" dur="1" fill="hold">
                                          <p:stCondLst>
                                            <p:cond delay="0"/>
                                          </p:stCondLst>
                                        </p:cTn>
                                        <p:tgtEl>
                                          <p:spTgt spid="3"/>
                                        </p:tgtEl>
                                        <p:attrNameLst>
                                          <p:attrName>style.visibility</p:attrName>
                                        </p:attrNameLst>
                                      </p:cBhvr>
                                      <p:to>
                                        <p:strVal val="visible"/>
                                      </p:to>
                                    </p:set>
                                    <p:animEffect transition="in" filter="fade">
                                      <p:cBhvr>
                                        <p:cTn id="4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6" grpId="0" animBg="1"/>
      <p:bldP spid="37" grpId="0" animBg="1"/>
      <p:bldP spid="38" grpId="0"/>
      <p:bldP spid="39" grpId="0" animBg="1"/>
      <p:bldP spid="40" grpId="0"/>
      <p:bldP spid="41" grpId="0"/>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ADCB1D2-71BF-4442-85AC-20706F44BBA0}"/>
              </a:ext>
            </a:extLst>
          </p:cNvPr>
          <p:cNvSpPr/>
          <p:nvPr/>
        </p:nvSpPr>
        <p:spPr>
          <a:xfrm>
            <a:off x="0" y="-2556"/>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21" name="Credit MAIN">
            <a:extLst>
              <a:ext uri="{FF2B5EF4-FFF2-40B4-BE49-F238E27FC236}">
                <a16:creationId xmlns:a16="http://schemas.microsoft.com/office/drawing/2014/main" id="{A5F845F1-9489-426E-B1D3-2CCF2A9E61E3}"/>
              </a:ext>
            </a:extLst>
          </p:cNvPr>
          <p:cNvSpPr txBox="1"/>
          <p:nvPr/>
        </p:nvSpPr>
        <p:spPr>
          <a:xfrm>
            <a:off x="50878" y="6420549"/>
            <a:ext cx="2668876" cy="369332"/>
          </a:xfrm>
          <a:prstGeom prst="rect">
            <a:avLst/>
          </a:prstGeom>
          <a:noFill/>
        </p:spPr>
        <p:txBody>
          <a:bodyPr wrap="square" rtlCol="0">
            <a:spAutoFit/>
          </a:bodyPr>
          <a:lstStyle/>
          <a:p>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Phạm </a:t>
            </a:r>
            <a:r>
              <a:rPr lang="en-US"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H</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oàng</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Phong</a:t>
            </a:r>
            <a:endParaRPr lang="en-US" dirty="0">
              <a:solidFill>
                <a:schemeClr val="bg1">
                  <a:lumMod val="95000"/>
                  <a:alpha val="46000"/>
                </a:schemeClr>
              </a:solidFill>
            </a:endParaRPr>
          </a:p>
        </p:txBody>
      </p:sp>
      <p:sp>
        <p:nvSpPr>
          <p:cNvPr id="11" name="Header">
            <a:extLst>
              <a:ext uri="{FF2B5EF4-FFF2-40B4-BE49-F238E27FC236}">
                <a16:creationId xmlns:a16="http://schemas.microsoft.com/office/drawing/2014/main" id="{6A39F230-06D2-4140-8DA2-357C0B9B6D12}"/>
              </a:ext>
            </a:extLst>
          </p:cNvPr>
          <p:cNvSpPr txBox="1"/>
          <p:nvPr/>
        </p:nvSpPr>
        <p:spPr>
          <a:xfrm>
            <a:off x="50878" y="68119"/>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7" name="Footer: Part">
            <a:extLst>
              <a:ext uri="{FF2B5EF4-FFF2-40B4-BE49-F238E27FC236}">
                <a16:creationId xmlns:a16="http://schemas.microsoft.com/office/drawing/2014/main" id="{553347E6-1341-4BA1-A396-FC4741F3FAF1}"/>
              </a:ext>
            </a:extLst>
          </p:cNvPr>
          <p:cNvSpPr txBox="1"/>
          <p:nvPr/>
        </p:nvSpPr>
        <p:spPr>
          <a:xfrm>
            <a:off x="9800491" y="6413178"/>
            <a:ext cx="2319411" cy="369332"/>
          </a:xfrm>
          <a:prstGeom prst="rect">
            <a:avLst/>
          </a:prstGeom>
          <a:noFill/>
        </p:spPr>
        <p:txBody>
          <a:bodyPr wrap="square" rtlCol="0">
            <a:spAutoFit/>
          </a:bodyPr>
          <a:lstStyle/>
          <a:p>
            <a:pPr algn="r"/>
            <a:r>
              <a:rPr lang="en-US" dirty="0" err="1">
                <a:solidFill>
                  <a:schemeClr val="bg1">
                    <a:lumMod val="95000"/>
                  </a:schemeClr>
                </a:solidFill>
                <a:latin typeface="JetBrains Mono" panose="02000009000000000000" pitchFamily="49" charset="0"/>
                <a:cs typeface="JetBrains Mono" panose="02000009000000000000" pitchFamily="49" charset="0"/>
              </a:rPr>
              <a:t>Tính</a:t>
            </a:r>
            <a:r>
              <a:rPr lang="en-US" dirty="0">
                <a:solidFill>
                  <a:schemeClr val="bg1">
                    <a:lumMod val="95000"/>
                  </a:schemeClr>
                </a:solidFill>
                <a:latin typeface="JetBrains Mono" panose="02000009000000000000" pitchFamily="49" charset="0"/>
                <a:cs typeface="JetBrains Mono" panose="02000009000000000000" pitchFamily="49" charset="0"/>
              </a:rPr>
              <a:t> </a:t>
            </a:r>
            <a:r>
              <a:rPr lang="en-US" dirty="0" err="1">
                <a:solidFill>
                  <a:schemeClr val="bg1">
                    <a:lumMod val="95000"/>
                  </a:schemeClr>
                </a:solidFill>
                <a:latin typeface="JetBrains Mono" panose="02000009000000000000" pitchFamily="49" charset="0"/>
                <a:cs typeface="JetBrains Mono" panose="02000009000000000000" pitchFamily="49" charset="0"/>
              </a:rPr>
              <a:t>liên</a:t>
            </a:r>
            <a:r>
              <a:rPr lang="en-US" dirty="0">
                <a:solidFill>
                  <a:schemeClr val="bg1">
                    <a:lumMod val="95000"/>
                  </a:schemeClr>
                </a:solidFill>
                <a:latin typeface="JetBrains Mono" panose="02000009000000000000" pitchFamily="49" charset="0"/>
                <a:cs typeface="JetBrains Mono" panose="02000009000000000000" pitchFamily="49" charset="0"/>
              </a:rPr>
              <a:t> </a:t>
            </a:r>
            <a:r>
              <a:rPr lang="en-US" dirty="0" err="1">
                <a:solidFill>
                  <a:schemeClr val="bg1">
                    <a:lumMod val="95000"/>
                  </a:schemeClr>
                </a:solidFill>
                <a:latin typeface="JetBrains Mono" panose="02000009000000000000" pitchFamily="49" charset="0"/>
                <a:cs typeface="JetBrains Mono" panose="02000009000000000000" pitchFamily="49" charset="0"/>
              </a:rPr>
              <a:t>thông</a:t>
            </a:r>
            <a:r>
              <a:rPr lang="en-US" dirty="0">
                <a:solidFill>
                  <a:schemeClr val="bg1">
                    <a:lumMod val="95000"/>
                  </a:schemeClr>
                </a:solidFill>
                <a:latin typeface="JetBrains Mono" panose="02000009000000000000" pitchFamily="49" charset="0"/>
                <a:cs typeface="JetBrains Mono" panose="02000009000000000000" pitchFamily="49" charset="0"/>
              </a:rPr>
              <a:t> </a:t>
            </a:r>
          </a:p>
        </p:txBody>
      </p:sp>
      <p:sp>
        <p:nvSpPr>
          <p:cNvPr id="19" name="Footer: Title">
            <a:extLst>
              <a:ext uri="{FF2B5EF4-FFF2-40B4-BE49-F238E27FC236}">
                <a16:creationId xmlns:a16="http://schemas.microsoft.com/office/drawing/2014/main" id="{FD144244-98B6-4C54-A114-16CD65E0D522}"/>
              </a:ext>
            </a:extLst>
          </p:cNvPr>
          <p:cNvSpPr txBox="1"/>
          <p:nvPr/>
        </p:nvSpPr>
        <p:spPr>
          <a:xfrm>
            <a:off x="8815785" y="6414047"/>
            <a:ext cx="1160019"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Light" panose="02000009000000000000" pitchFamily="49" charset="0"/>
                <a:cs typeface="JetBrains Mono Light" panose="02000009000000000000" pitchFamily="49" charset="0"/>
              </a:rPr>
              <a:t>:</a:t>
            </a:r>
          </a:p>
        </p:txBody>
      </p:sp>
      <p:sp>
        <p:nvSpPr>
          <p:cNvPr id="25" name="PAGE NUM 0">
            <a:extLst>
              <a:ext uri="{FF2B5EF4-FFF2-40B4-BE49-F238E27FC236}">
                <a16:creationId xmlns:a16="http://schemas.microsoft.com/office/drawing/2014/main" id="{CA8E8643-0820-44FC-9D06-02F2A0A63536}"/>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2</a:t>
            </a:r>
          </a:p>
        </p:txBody>
      </p:sp>
      <p:sp>
        <p:nvSpPr>
          <p:cNvPr id="26" name="PAGE NUM 1">
            <a:extLst>
              <a:ext uri="{FF2B5EF4-FFF2-40B4-BE49-F238E27FC236}">
                <a16:creationId xmlns:a16="http://schemas.microsoft.com/office/drawing/2014/main" id="{6BF8CF33-13C7-458E-A4F5-0A19700195D0}"/>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0</a:t>
            </a:r>
            <a:endParaRPr lang="en-US" dirty="0"/>
          </a:p>
        </p:txBody>
      </p:sp>
      <p:sp>
        <p:nvSpPr>
          <p:cNvPr id="4" name="Rectangle 3">
            <a:extLst>
              <a:ext uri="{FF2B5EF4-FFF2-40B4-BE49-F238E27FC236}">
                <a16:creationId xmlns:a16="http://schemas.microsoft.com/office/drawing/2014/main" id="{CB38D6F8-B45F-44CF-A0B3-4EECDAC74C1C}"/>
              </a:ext>
            </a:extLst>
          </p:cNvPr>
          <p:cNvSpPr/>
          <p:nvPr/>
        </p:nvSpPr>
        <p:spPr>
          <a:xfrm>
            <a:off x="591458" y="591772"/>
            <a:ext cx="3109884"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3252814-A59F-4DD2-85FD-AF3B5B3FB847}"/>
              </a:ext>
            </a:extLst>
          </p:cNvPr>
          <p:cNvSpPr txBox="1"/>
          <p:nvPr/>
        </p:nvSpPr>
        <p:spPr>
          <a:xfrm>
            <a:off x="603364" y="591246"/>
            <a:ext cx="3148856" cy="369332"/>
          </a:xfrm>
          <a:prstGeom prst="rect">
            <a:avLst/>
          </a:prstGeom>
          <a:noFill/>
        </p:spPr>
        <p:txBody>
          <a:bodyPr wrap="square" rtlCol="0">
            <a:spAutoFit/>
          </a:bodyPr>
          <a:lstStyle/>
          <a:p>
            <a:r>
              <a:rPr lang="en-US" dirty="0" err="1">
                <a:latin typeface="JetBrains Mono" panose="02000009000000000000" pitchFamily="49" charset="0"/>
                <a:cs typeface="JetBrains Mono" panose="02000009000000000000" pitchFamily="49" charset="0"/>
              </a:rPr>
              <a:t>Thành</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phần</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liên</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thông</a:t>
            </a:r>
            <a:endParaRPr lang="en-US" dirty="0">
              <a:latin typeface="JetBrains Mono" panose="02000009000000000000" pitchFamily="49" charset="0"/>
              <a:cs typeface="JetBrains Mono" panose="02000009000000000000" pitchFamily="49" charset="0"/>
            </a:endParaRPr>
          </a:p>
        </p:txBody>
      </p:sp>
      <p:sp>
        <p:nvSpPr>
          <p:cNvPr id="12" name="TextBox 11">
            <a:extLst>
              <a:ext uri="{FF2B5EF4-FFF2-40B4-BE49-F238E27FC236}">
                <a16:creationId xmlns:a16="http://schemas.microsoft.com/office/drawing/2014/main" id="{912DD8A3-44F4-4E77-B8A5-F7F5BD841756}"/>
              </a:ext>
            </a:extLst>
          </p:cNvPr>
          <p:cNvSpPr txBox="1"/>
          <p:nvPr/>
        </p:nvSpPr>
        <p:spPr>
          <a:xfrm>
            <a:off x="1037306" y="1120941"/>
            <a:ext cx="1436264"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Tính</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chất</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13" name="TextBox 12">
            <a:extLst>
              <a:ext uri="{FF2B5EF4-FFF2-40B4-BE49-F238E27FC236}">
                <a16:creationId xmlns:a16="http://schemas.microsoft.com/office/drawing/2014/main" id="{64325985-41FF-4C1A-BA27-69273CD14277}"/>
              </a:ext>
            </a:extLst>
          </p:cNvPr>
          <p:cNvSpPr txBox="1"/>
          <p:nvPr/>
        </p:nvSpPr>
        <p:spPr>
          <a:xfrm>
            <a:off x="1514475" y="1773560"/>
            <a:ext cx="2237745" cy="369332"/>
          </a:xfrm>
          <a:prstGeom prst="rect">
            <a:avLst/>
          </a:prstGeom>
          <a:solidFill>
            <a:schemeClr val="bg1"/>
          </a:solidFill>
          <a:ln>
            <a:solidFill>
              <a:schemeClr val="bg1">
                <a:lumMod val="50000"/>
              </a:schemeClr>
            </a:solidFill>
          </a:ln>
        </p:spPr>
        <p:txBody>
          <a:bodyPr wrap="square" rtlCol="0">
            <a:spAutoFit/>
          </a:bodyPr>
          <a:lstStyle/>
          <a:p>
            <a:pPr algn="r"/>
            <a:r>
              <a:rPr lang="en-US" dirty="0" err="1">
                <a:latin typeface="JetBrains Mono Regular" panose="02000009000000000000" pitchFamily="49" charset="0"/>
                <a:cs typeface="JetBrains Mono Regular" panose="02000009000000000000" pitchFamily="49" charset="0"/>
              </a:rPr>
              <a:t>Liên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thông</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mạnh</a:t>
            </a:r>
            <a:endParaRPr lang="en-US" dirty="0">
              <a:latin typeface="JetBrains Mono Regular" panose="02000009000000000000" pitchFamily="49" charset="0"/>
              <a:cs typeface="JetBrains Mono Regular" panose="02000009000000000000" pitchFamily="49" charset="0"/>
            </a:endParaRPr>
          </a:p>
        </p:txBody>
      </p:sp>
      <p:sp>
        <p:nvSpPr>
          <p:cNvPr id="15" name="TextBox 14">
            <a:extLst>
              <a:ext uri="{FF2B5EF4-FFF2-40B4-BE49-F238E27FC236}">
                <a16:creationId xmlns:a16="http://schemas.microsoft.com/office/drawing/2014/main" id="{E7B62EA4-0366-444E-A0A9-63B9E4D85077}"/>
              </a:ext>
            </a:extLst>
          </p:cNvPr>
          <p:cNvSpPr txBox="1"/>
          <p:nvPr/>
        </p:nvSpPr>
        <p:spPr>
          <a:xfrm>
            <a:off x="4084646" y="1773560"/>
            <a:ext cx="6745277" cy="923330"/>
          </a:xfrm>
          <a:prstGeom prst="rect">
            <a:avLst/>
          </a:prstGeom>
          <a:noFill/>
          <a:ln>
            <a:solidFill>
              <a:schemeClr val="bg1">
                <a:lumMod val="50000"/>
              </a:schemeClr>
            </a:solidFill>
          </a:ln>
        </p:spPr>
        <p:txBody>
          <a:bodyPr wrap="square" rtlCol="0">
            <a:spAutoFit/>
          </a:bodyPr>
          <a:lstStyle/>
          <a:p>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Đồ</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thị</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có</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hướng</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gọi</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là</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liên</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thông</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mạnh</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nếu</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có</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đường</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đi</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từ</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tới</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b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và</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từ</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b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tới</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với</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mọi</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cặp</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đỉnh</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và</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b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của</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đồ</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thị</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a:t>
            </a:r>
            <a:endParaRPr lang="en-US" i="1" dirty="0">
              <a:solidFill>
                <a:schemeClr val="bg1"/>
              </a:solidFill>
              <a:latin typeface="JetBrains Mono Light" panose="02000009000000000000" pitchFamily="49" charset="0"/>
              <a:cs typeface="JetBrains Mono Light" panose="02000009000000000000" pitchFamily="49" charset="0"/>
            </a:endParaRPr>
          </a:p>
        </p:txBody>
      </p:sp>
      <p:sp>
        <p:nvSpPr>
          <p:cNvPr id="16" name="TextBox 15">
            <a:extLst>
              <a:ext uri="{FF2B5EF4-FFF2-40B4-BE49-F238E27FC236}">
                <a16:creationId xmlns:a16="http://schemas.microsoft.com/office/drawing/2014/main" id="{EB19C7B7-FB1F-4755-965E-E2147732A4D0}"/>
              </a:ext>
            </a:extLst>
          </p:cNvPr>
          <p:cNvSpPr txBox="1"/>
          <p:nvPr/>
        </p:nvSpPr>
        <p:spPr>
          <a:xfrm>
            <a:off x="1657350" y="3109280"/>
            <a:ext cx="2094870" cy="369332"/>
          </a:xfrm>
          <a:prstGeom prst="rect">
            <a:avLst/>
          </a:prstGeom>
          <a:solidFill>
            <a:schemeClr val="bg1"/>
          </a:solidFill>
          <a:ln>
            <a:solidFill>
              <a:schemeClr val="bg1">
                <a:lumMod val="50000"/>
              </a:schemeClr>
            </a:solidFill>
          </a:ln>
        </p:spPr>
        <p:txBody>
          <a:bodyPr wrap="square" rtlCol="0">
            <a:spAutoFit/>
          </a:bodyPr>
          <a:lstStyle/>
          <a:p>
            <a:pPr algn="r"/>
            <a:r>
              <a:rPr lang="en-US" dirty="0" err="1">
                <a:latin typeface="JetBrains Mono Regular" panose="02000009000000000000" pitchFamily="49" charset="0"/>
                <a:cs typeface="JetBrains Mono Regular" panose="02000009000000000000" pitchFamily="49" charset="0"/>
              </a:rPr>
              <a:t>Liên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thông</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yếu</a:t>
            </a:r>
            <a:endParaRPr lang="en-US" dirty="0">
              <a:latin typeface="JetBrains Mono Regular" panose="02000009000000000000" pitchFamily="49" charset="0"/>
              <a:cs typeface="JetBrains Mono Regular" panose="02000009000000000000" pitchFamily="49" charset="0"/>
            </a:endParaRPr>
          </a:p>
        </p:txBody>
      </p:sp>
      <p:sp>
        <p:nvSpPr>
          <p:cNvPr id="18" name="TextBox 17">
            <a:extLst>
              <a:ext uri="{FF2B5EF4-FFF2-40B4-BE49-F238E27FC236}">
                <a16:creationId xmlns:a16="http://schemas.microsoft.com/office/drawing/2014/main" id="{EDC7F168-E517-4F65-97B0-B3B1EC590880}"/>
              </a:ext>
            </a:extLst>
          </p:cNvPr>
          <p:cNvSpPr txBox="1"/>
          <p:nvPr/>
        </p:nvSpPr>
        <p:spPr>
          <a:xfrm>
            <a:off x="4084646" y="3109280"/>
            <a:ext cx="6745277" cy="1200329"/>
          </a:xfrm>
          <a:prstGeom prst="rect">
            <a:avLst/>
          </a:prstGeom>
          <a:noFill/>
          <a:ln>
            <a:solidFill>
              <a:schemeClr val="bg1">
                <a:lumMod val="50000"/>
              </a:schemeClr>
            </a:solidFill>
          </a:ln>
        </p:spPr>
        <p:txBody>
          <a:bodyPr wrap="square" rtlCol="0">
            <a:spAutoFit/>
          </a:bodyPr>
          <a:lstStyle/>
          <a:p>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Đồ</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thị</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có</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hướng</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gọi</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là</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liên</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thông</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yếu</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nếu</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có</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đường</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đi</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giữa</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2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đỉnh</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bất</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kỳ</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của</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đồ</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thị</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vô</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hướng</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tương</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ứng</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với</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đồ</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thị</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đã</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cho</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tức</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là</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hủy</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bỏ</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các</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hướng</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của</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các</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cạnh</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trong</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đồ</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thị</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a:t>
            </a:r>
            <a:endParaRPr lang="en-US" i="1" dirty="0">
              <a:solidFill>
                <a:schemeClr val="bg1"/>
              </a:solidFill>
              <a:latin typeface="JetBrains Mono Light" panose="02000009000000000000" pitchFamily="49" charset="0"/>
              <a:cs typeface="JetBrains Mono Light" panose="02000009000000000000" pitchFamily="49" charset="0"/>
            </a:endParaRPr>
          </a:p>
        </p:txBody>
      </p:sp>
      <p:sp>
        <p:nvSpPr>
          <p:cNvPr id="20" name="TextBox 19">
            <a:extLst>
              <a:ext uri="{FF2B5EF4-FFF2-40B4-BE49-F238E27FC236}">
                <a16:creationId xmlns:a16="http://schemas.microsoft.com/office/drawing/2014/main" id="{5DCC8478-D5B7-4C40-B006-EF1B765CB097}"/>
              </a:ext>
            </a:extLst>
          </p:cNvPr>
          <p:cNvSpPr txBox="1"/>
          <p:nvPr/>
        </p:nvSpPr>
        <p:spPr>
          <a:xfrm>
            <a:off x="952500" y="4679460"/>
            <a:ext cx="2799720" cy="369332"/>
          </a:xfrm>
          <a:prstGeom prst="rect">
            <a:avLst/>
          </a:prstGeom>
          <a:solidFill>
            <a:schemeClr val="bg1"/>
          </a:solidFill>
          <a:ln>
            <a:solidFill>
              <a:schemeClr val="bg1">
                <a:lumMod val="50000"/>
              </a:schemeClr>
            </a:solidFill>
          </a:ln>
        </p:spPr>
        <p:txBody>
          <a:bodyPr wrap="square" rtlCol="0">
            <a:spAutoFit/>
          </a:bodyPr>
          <a:lstStyle/>
          <a:p>
            <a:pPr algn="r"/>
            <a:r>
              <a:rPr lang="en-US" dirty="0" err="1">
                <a:latin typeface="JetBrains Mono Regular" panose="02000009000000000000"/>
                <a:ea typeface="Times New Roman" panose="02020603050405020304" pitchFamily="18" charset="0"/>
                <a:cs typeface="Times New Roman" panose="02020603050405020304" pitchFamily="18" charset="0"/>
              </a:rPr>
              <a:t>Liên</a:t>
            </a:r>
            <a:r>
              <a:rPr lang="en-US" dirty="0">
                <a:latin typeface="JetBrains Mono Regular" panose="02000009000000000000"/>
                <a:ea typeface="Times New Roman" panose="02020603050405020304" pitchFamily="18" charset="0"/>
                <a:cs typeface="Times New Roman" panose="02020603050405020304" pitchFamily="18" charset="0"/>
              </a:rPr>
              <a:t> </a:t>
            </a:r>
            <a:r>
              <a:rPr lang="en-US" dirty="0" err="1">
                <a:latin typeface="JetBrains Mono Regular" panose="02000009000000000000"/>
                <a:ea typeface="Times New Roman" panose="02020603050405020304" pitchFamily="18" charset="0"/>
                <a:cs typeface="Times New Roman" panose="02020603050405020304" pitchFamily="18" charset="0"/>
              </a:rPr>
              <a:t>thông</a:t>
            </a:r>
            <a:r>
              <a:rPr lang="en-US" dirty="0">
                <a:latin typeface="JetBrains Mono Regular" panose="02000009000000000000"/>
                <a:ea typeface="Times New Roman" panose="02020603050405020304" pitchFamily="18" charset="0"/>
                <a:cs typeface="Times New Roman" panose="02020603050405020304" pitchFamily="18" charset="0"/>
              </a:rPr>
              <a:t> </a:t>
            </a:r>
            <a:r>
              <a:rPr lang="en-US" dirty="0" err="1">
                <a:latin typeface="JetBrains Mono Regular" panose="02000009000000000000"/>
                <a:ea typeface="Times New Roman" panose="02020603050405020304" pitchFamily="18" charset="0"/>
                <a:cs typeface="Times New Roman" panose="02020603050405020304" pitchFamily="18" charset="0"/>
              </a:rPr>
              <a:t>một</a:t>
            </a:r>
            <a:r>
              <a:rPr lang="en-US" dirty="0">
                <a:latin typeface="JetBrains Mono Regular" panose="02000009000000000000"/>
                <a:ea typeface="Times New Roman" panose="02020603050405020304" pitchFamily="18" charset="0"/>
                <a:cs typeface="Times New Roman" panose="02020603050405020304" pitchFamily="18" charset="0"/>
              </a:rPr>
              <a:t> </a:t>
            </a:r>
            <a:r>
              <a:rPr lang="en-US" dirty="0" err="1">
                <a:latin typeface="JetBrains Mono Regular" panose="02000009000000000000"/>
                <a:ea typeface="Times New Roman" panose="02020603050405020304" pitchFamily="18" charset="0"/>
                <a:cs typeface="Times New Roman" panose="02020603050405020304" pitchFamily="18" charset="0"/>
              </a:rPr>
              <a:t>phần</a:t>
            </a:r>
            <a:endParaRPr lang="en-US" dirty="0">
              <a:latin typeface="JetBrains Mono Regular" panose="02000009000000000000" pitchFamily="49" charset="0"/>
              <a:cs typeface="JetBrains Mono Regular" panose="02000009000000000000" pitchFamily="49" charset="0"/>
            </a:endParaRPr>
          </a:p>
        </p:txBody>
      </p:sp>
      <p:sp>
        <p:nvSpPr>
          <p:cNvPr id="23" name="TextBox 22">
            <a:extLst>
              <a:ext uri="{FF2B5EF4-FFF2-40B4-BE49-F238E27FC236}">
                <a16:creationId xmlns:a16="http://schemas.microsoft.com/office/drawing/2014/main" id="{9E256D69-A1EA-49A8-BBCE-6C4BDB859BF0}"/>
              </a:ext>
            </a:extLst>
          </p:cNvPr>
          <p:cNvSpPr txBox="1"/>
          <p:nvPr/>
        </p:nvSpPr>
        <p:spPr>
          <a:xfrm>
            <a:off x="4084646" y="4679460"/>
            <a:ext cx="6745277" cy="970330"/>
          </a:xfrm>
          <a:prstGeom prst="rect">
            <a:avLst/>
          </a:prstGeom>
          <a:noFill/>
          <a:ln>
            <a:solidFill>
              <a:schemeClr val="bg1">
                <a:lumMod val="50000"/>
              </a:schemeClr>
            </a:solidFill>
          </a:ln>
        </p:spPr>
        <p:txBody>
          <a:bodyPr wrap="square" rtlCol="0">
            <a:spAutoFit/>
          </a:bodyPr>
          <a:lstStyle/>
          <a:p>
            <a:pPr>
              <a:lnSpc>
                <a:spcPct val="107000"/>
              </a:lnSpc>
              <a:spcAft>
                <a:spcPts val="720"/>
              </a:spcAft>
            </a:pP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Đồ</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thị</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có</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hướng</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gọi</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là</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liên</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thông</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một</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phần</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nếu</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với</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mọi</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cặp</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đỉnh</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 b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bất</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kỳ</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có</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ít</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nhất</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một</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đỉnh</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đến</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được</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đỉnh</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còn</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lại</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a:t>
            </a:r>
            <a:endParaRPr lang="en-US" i="1" dirty="0">
              <a:solidFill>
                <a:schemeClr val="bg1">
                  <a:lumMod val="85000"/>
                </a:schemeClr>
              </a:solidFill>
              <a:latin typeface="JetBrains Mono Light" panose="02000009000000000000" pitchFamily="49" charset="0"/>
              <a:ea typeface="Calibri" panose="020F0502020204030204" pitchFamily="34" charset="0"/>
              <a:cs typeface="JetBrains Mono Light" panose="02000009000000000000" pitchFamily="49" charset="0"/>
            </a:endParaRPr>
          </a:p>
        </p:txBody>
      </p:sp>
    </p:spTree>
    <p:extLst>
      <p:ext uri="{BB962C8B-B14F-4D97-AF65-F5344CB8AC3E}">
        <p14:creationId xmlns:p14="http://schemas.microsoft.com/office/powerpoint/2010/main" val="39485162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3" presetID="10" presetClass="entr" presetSubtype="0" fill="hold" grpId="0" nodeType="withEffect">
                                  <p:stCondLst>
                                    <p:cond delay="50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P spid="16" grpId="0" animBg="1"/>
      <p:bldP spid="18" grpId="0" animBg="1"/>
      <p:bldP spid="20" grpId="0" animBg="1"/>
      <p:bldP spid="2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ADCB1D2-71BF-4442-85AC-20706F44BBA0}"/>
              </a:ext>
            </a:extLst>
          </p:cNvPr>
          <p:cNvSpPr/>
          <p:nvPr/>
        </p:nvSpPr>
        <p:spPr>
          <a:xfrm>
            <a:off x="0" y="-2556"/>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21" name="Credit MAIN">
            <a:extLst>
              <a:ext uri="{FF2B5EF4-FFF2-40B4-BE49-F238E27FC236}">
                <a16:creationId xmlns:a16="http://schemas.microsoft.com/office/drawing/2014/main" id="{A5F845F1-9489-426E-B1D3-2CCF2A9E61E3}"/>
              </a:ext>
            </a:extLst>
          </p:cNvPr>
          <p:cNvSpPr txBox="1"/>
          <p:nvPr/>
        </p:nvSpPr>
        <p:spPr>
          <a:xfrm>
            <a:off x="50878" y="6420549"/>
            <a:ext cx="2668876" cy="369332"/>
          </a:xfrm>
          <a:prstGeom prst="rect">
            <a:avLst/>
          </a:prstGeom>
          <a:noFill/>
        </p:spPr>
        <p:txBody>
          <a:bodyPr wrap="square" rtlCol="0">
            <a:spAutoFit/>
          </a:bodyPr>
          <a:lstStyle/>
          <a:p>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Phạm </a:t>
            </a:r>
            <a:r>
              <a:rPr lang="en-US"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H</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oàng</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Phong</a:t>
            </a:r>
            <a:endParaRPr lang="en-US" dirty="0">
              <a:solidFill>
                <a:schemeClr val="bg1">
                  <a:lumMod val="95000"/>
                  <a:alpha val="46000"/>
                </a:schemeClr>
              </a:solidFill>
            </a:endParaRPr>
          </a:p>
        </p:txBody>
      </p:sp>
      <p:sp>
        <p:nvSpPr>
          <p:cNvPr id="11" name="Header">
            <a:extLst>
              <a:ext uri="{FF2B5EF4-FFF2-40B4-BE49-F238E27FC236}">
                <a16:creationId xmlns:a16="http://schemas.microsoft.com/office/drawing/2014/main" id="{6A39F230-06D2-4140-8DA2-357C0B9B6D12}"/>
              </a:ext>
            </a:extLst>
          </p:cNvPr>
          <p:cNvSpPr txBox="1"/>
          <p:nvPr/>
        </p:nvSpPr>
        <p:spPr>
          <a:xfrm>
            <a:off x="50878" y="68119"/>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7" name="Footer: Part">
            <a:extLst>
              <a:ext uri="{FF2B5EF4-FFF2-40B4-BE49-F238E27FC236}">
                <a16:creationId xmlns:a16="http://schemas.microsoft.com/office/drawing/2014/main" id="{553347E6-1341-4BA1-A396-FC4741F3FAF1}"/>
              </a:ext>
            </a:extLst>
          </p:cNvPr>
          <p:cNvSpPr txBox="1"/>
          <p:nvPr/>
        </p:nvSpPr>
        <p:spPr>
          <a:xfrm>
            <a:off x="9800491" y="6413178"/>
            <a:ext cx="2319411" cy="369332"/>
          </a:xfrm>
          <a:prstGeom prst="rect">
            <a:avLst/>
          </a:prstGeom>
          <a:noFill/>
        </p:spPr>
        <p:txBody>
          <a:bodyPr wrap="square" rtlCol="0">
            <a:spAutoFit/>
          </a:bodyPr>
          <a:lstStyle/>
          <a:p>
            <a:pPr algn="r"/>
            <a:r>
              <a:rPr lang="en-US" dirty="0" err="1">
                <a:solidFill>
                  <a:schemeClr val="bg1">
                    <a:lumMod val="95000"/>
                  </a:schemeClr>
                </a:solidFill>
                <a:latin typeface="JetBrains Mono" panose="02000009000000000000" pitchFamily="49" charset="0"/>
                <a:cs typeface="JetBrains Mono" panose="02000009000000000000" pitchFamily="49" charset="0"/>
              </a:rPr>
              <a:t>Tính</a:t>
            </a:r>
            <a:r>
              <a:rPr lang="en-US" dirty="0">
                <a:solidFill>
                  <a:schemeClr val="bg1">
                    <a:lumMod val="95000"/>
                  </a:schemeClr>
                </a:solidFill>
                <a:latin typeface="JetBrains Mono" panose="02000009000000000000" pitchFamily="49" charset="0"/>
                <a:cs typeface="JetBrains Mono" panose="02000009000000000000" pitchFamily="49" charset="0"/>
              </a:rPr>
              <a:t> </a:t>
            </a:r>
            <a:r>
              <a:rPr lang="en-US" dirty="0" err="1">
                <a:solidFill>
                  <a:schemeClr val="bg1">
                    <a:lumMod val="95000"/>
                  </a:schemeClr>
                </a:solidFill>
                <a:latin typeface="JetBrains Mono" panose="02000009000000000000" pitchFamily="49" charset="0"/>
                <a:cs typeface="JetBrains Mono" panose="02000009000000000000" pitchFamily="49" charset="0"/>
              </a:rPr>
              <a:t>liên</a:t>
            </a:r>
            <a:r>
              <a:rPr lang="en-US" dirty="0">
                <a:solidFill>
                  <a:schemeClr val="bg1">
                    <a:lumMod val="95000"/>
                  </a:schemeClr>
                </a:solidFill>
                <a:latin typeface="JetBrains Mono" panose="02000009000000000000" pitchFamily="49" charset="0"/>
                <a:cs typeface="JetBrains Mono" panose="02000009000000000000" pitchFamily="49" charset="0"/>
              </a:rPr>
              <a:t> </a:t>
            </a:r>
            <a:r>
              <a:rPr lang="en-US" dirty="0" err="1">
                <a:solidFill>
                  <a:schemeClr val="bg1">
                    <a:lumMod val="95000"/>
                  </a:schemeClr>
                </a:solidFill>
                <a:latin typeface="JetBrains Mono" panose="02000009000000000000" pitchFamily="49" charset="0"/>
                <a:cs typeface="JetBrains Mono" panose="02000009000000000000" pitchFamily="49" charset="0"/>
              </a:rPr>
              <a:t>thông</a:t>
            </a:r>
            <a:r>
              <a:rPr lang="en-US" dirty="0">
                <a:solidFill>
                  <a:schemeClr val="bg1">
                    <a:lumMod val="95000"/>
                  </a:schemeClr>
                </a:solidFill>
                <a:latin typeface="JetBrains Mono" panose="02000009000000000000" pitchFamily="49" charset="0"/>
                <a:cs typeface="JetBrains Mono" panose="02000009000000000000" pitchFamily="49" charset="0"/>
              </a:rPr>
              <a:t> </a:t>
            </a:r>
          </a:p>
        </p:txBody>
      </p:sp>
      <p:sp>
        <p:nvSpPr>
          <p:cNvPr id="19" name="Footer: Title">
            <a:extLst>
              <a:ext uri="{FF2B5EF4-FFF2-40B4-BE49-F238E27FC236}">
                <a16:creationId xmlns:a16="http://schemas.microsoft.com/office/drawing/2014/main" id="{FD144244-98B6-4C54-A114-16CD65E0D522}"/>
              </a:ext>
            </a:extLst>
          </p:cNvPr>
          <p:cNvSpPr txBox="1"/>
          <p:nvPr/>
        </p:nvSpPr>
        <p:spPr>
          <a:xfrm>
            <a:off x="8815785" y="6414047"/>
            <a:ext cx="1160019"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Light" panose="02000009000000000000" pitchFamily="49" charset="0"/>
                <a:cs typeface="JetBrains Mono Light" panose="02000009000000000000" pitchFamily="49" charset="0"/>
              </a:rPr>
              <a:t>:</a:t>
            </a:r>
          </a:p>
        </p:txBody>
      </p:sp>
      <p:sp>
        <p:nvSpPr>
          <p:cNvPr id="25" name="PAGE NUM 0">
            <a:extLst>
              <a:ext uri="{FF2B5EF4-FFF2-40B4-BE49-F238E27FC236}">
                <a16:creationId xmlns:a16="http://schemas.microsoft.com/office/drawing/2014/main" id="{CA8E8643-0820-44FC-9D06-02F2A0A63536}"/>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2</a:t>
            </a:r>
          </a:p>
        </p:txBody>
      </p:sp>
      <p:sp>
        <p:nvSpPr>
          <p:cNvPr id="26" name="PAGE NUM 1">
            <a:extLst>
              <a:ext uri="{FF2B5EF4-FFF2-40B4-BE49-F238E27FC236}">
                <a16:creationId xmlns:a16="http://schemas.microsoft.com/office/drawing/2014/main" id="{6BF8CF33-13C7-458E-A4F5-0A19700195D0}"/>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1</a:t>
            </a:r>
            <a:endParaRPr lang="en-US" dirty="0"/>
          </a:p>
        </p:txBody>
      </p:sp>
      <p:sp>
        <p:nvSpPr>
          <p:cNvPr id="4" name="Rectangle 3">
            <a:extLst>
              <a:ext uri="{FF2B5EF4-FFF2-40B4-BE49-F238E27FC236}">
                <a16:creationId xmlns:a16="http://schemas.microsoft.com/office/drawing/2014/main" id="{CB38D6F8-B45F-44CF-A0B3-4EECDAC74C1C}"/>
              </a:ext>
            </a:extLst>
          </p:cNvPr>
          <p:cNvSpPr/>
          <p:nvPr/>
        </p:nvSpPr>
        <p:spPr>
          <a:xfrm>
            <a:off x="591458" y="591772"/>
            <a:ext cx="3109884"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3252814-A59F-4DD2-85FD-AF3B5B3FB847}"/>
              </a:ext>
            </a:extLst>
          </p:cNvPr>
          <p:cNvSpPr txBox="1"/>
          <p:nvPr/>
        </p:nvSpPr>
        <p:spPr>
          <a:xfrm>
            <a:off x="603364" y="591246"/>
            <a:ext cx="3148856" cy="369332"/>
          </a:xfrm>
          <a:prstGeom prst="rect">
            <a:avLst/>
          </a:prstGeom>
          <a:noFill/>
        </p:spPr>
        <p:txBody>
          <a:bodyPr wrap="square" rtlCol="0">
            <a:spAutoFit/>
          </a:bodyPr>
          <a:lstStyle/>
          <a:p>
            <a:r>
              <a:rPr lang="en-US" dirty="0" err="1">
                <a:latin typeface="JetBrains Mono" panose="02000009000000000000" pitchFamily="49" charset="0"/>
                <a:cs typeface="JetBrains Mono" panose="02000009000000000000" pitchFamily="49" charset="0"/>
              </a:rPr>
              <a:t>Thành</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phần</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liên</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thông</a:t>
            </a:r>
            <a:endParaRPr lang="en-US" dirty="0">
              <a:latin typeface="JetBrains Mono" panose="02000009000000000000" pitchFamily="49" charset="0"/>
              <a:cs typeface="JetBrains Mono" panose="02000009000000000000" pitchFamily="49" charset="0"/>
            </a:endParaRPr>
          </a:p>
        </p:txBody>
      </p:sp>
      <p:sp>
        <p:nvSpPr>
          <p:cNvPr id="12" name="TextBox 11">
            <a:extLst>
              <a:ext uri="{FF2B5EF4-FFF2-40B4-BE49-F238E27FC236}">
                <a16:creationId xmlns:a16="http://schemas.microsoft.com/office/drawing/2014/main" id="{912DD8A3-44F4-4E77-B8A5-F7F5BD841756}"/>
              </a:ext>
            </a:extLst>
          </p:cNvPr>
          <p:cNvSpPr txBox="1"/>
          <p:nvPr/>
        </p:nvSpPr>
        <p:spPr>
          <a:xfrm>
            <a:off x="1037306" y="1120941"/>
            <a:ext cx="1436264"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Tính</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chất</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13" name="TextBox 12">
            <a:extLst>
              <a:ext uri="{FF2B5EF4-FFF2-40B4-BE49-F238E27FC236}">
                <a16:creationId xmlns:a16="http://schemas.microsoft.com/office/drawing/2014/main" id="{64325985-41FF-4C1A-BA27-69273CD14277}"/>
              </a:ext>
            </a:extLst>
          </p:cNvPr>
          <p:cNvSpPr txBox="1"/>
          <p:nvPr/>
        </p:nvSpPr>
        <p:spPr>
          <a:xfrm>
            <a:off x="2315956" y="1773560"/>
            <a:ext cx="1436264" cy="369332"/>
          </a:xfrm>
          <a:prstGeom prst="rect">
            <a:avLst/>
          </a:prstGeom>
          <a:solidFill>
            <a:schemeClr val="bg1"/>
          </a:solidFill>
          <a:ln>
            <a:solidFill>
              <a:schemeClr val="bg1">
                <a:lumMod val="50000"/>
              </a:schemeClr>
            </a:solidFill>
          </a:ln>
        </p:spPr>
        <p:txBody>
          <a:bodyPr wrap="square" rtlCol="0">
            <a:spAutoFit/>
          </a:bodyPr>
          <a:lstStyle/>
          <a:p>
            <a:pPr algn="r"/>
            <a:r>
              <a:rPr lang="en-US" dirty="0" err="1">
                <a:latin typeface="JetBrains Mono Regular" panose="02000009000000000000" pitchFamily="49" charset="0"/>
                <a:cs typeface="JetBrains Mono Regular" panose="02000009000000000000" pitchFamily="49" charset="0"/>
              </a:rPr>
              <a:t>Đỉnh</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khớp</a:t>
            </a:r>
            <a:endParaRPr lang="en-US" dirty="0">
              <a:latin typeface="JetBrains Mono Regular" panose="02000009000000000000" pitchFamily="49" charset="0"/>
              <a:cs typeface="JetBrains Mono Regular" panose="02000009000000000000" pitchFamily="49" charset="0"/>
            </a:endParaRPr>
          </a:p>
        </p:txBody>
      </p:sp>
      <p:sp>
        <p:nvSpPr>
          <p:cNvPr id="15" name="TextBox 14">
            <a:extLst>
              <a:ext uri="{FF2B5EF4-FFF2-40B4-BE49-F238E27FC236}">
                <a16:creationId xmlns:a16="http://schemas.microsoft.com/office/drawing/2014/main" id="{E7B62EA4-0366-444E-A0A9-63B9E4D85077}"/>
              </a:ext>
            </a:extLst>
          </p:cNvPr>
          <p:cNvSpPr txBox="1"/>
          <p:nvPr/>
        </p:nvSpPr>
        <p:spPr>
          <a:xfrm>
            <a:off x="4103386" y="4280878"/>
            <a:ext cx="4008983" cy="369332"/>
          </a:xfrm>
          <a:prstGeom prst="rect">
            <a:avLst/>
          </a:prstGeom>
          <a:noFill/>
          <a:ln>
            <a:solidFill>
              <a:schemeClr val="bg1">
                <a:lumMod val="50000"/>
              </a:schemeClr>
            </a:solidFill>
          </a:ln>
        </p:spPr>
        <p:txBody>
          <a:bodyPr wrap="square" rtlCol="0">
            <a:spAutoFit/>
          </a:bodyPr>
          <a:lstStyle/>
          <a:p>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Đồ</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thị</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không</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chứa</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đỉnh</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khớp</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a:t>
            </a:r>
            <a:endParaRPr lang="en-US" i="1" dirty="0">
              <a:solidFill>
                <a:schemeClr val="bg1"/>
              </a:solidFill>
              <a:latin typeface="JetBrains Mono Light" panose="02000009000000000000" pitchFamily="49" charset="0"/>
              <a:cs typeface="JetBrains Mono Light" panose="02000009000000000000" pitchFamily="49" charset="0"/>
            </a:endParaRPr>
          </a:p>
        </p:txBody>
      </p:sp>
      <p:sp>
        <p:nvSpPr>
          <p:cNvPr id="16" name="TextBox 15">
            <a:extLst>
              <a:ext uri="{FF2B5EF4-FFF2-40B4-BE49-F238E27FC236}">
                <a16:creationId xmlns:a16="http://schemas.microsoft.com/office/drawing/2014/main" id="{EB19C7B7-FB1F-4755-965E-E2147732A4D0}"/>
              </a:ext>
            </a:extLst>
          </p:cNvPr>
          <p:cNvSpPr txBox="1"/>
          <p:nvPr/>
        </p:nvSpPr>
        <p:spPr>
          <a:xfrm>
            <a:off x="2473570" y="3027219"/>
            <a:ext cx="1278650" cy="369332"/>
          </a:xfrm>
          <a:prstGeom prst="rect">
            <a:avLst/>
          </a:prstGeom>
          <a:solidFill>
            <a:schemeClr val="bg1"/>
          </a:solidFill>
          <a:ln>
            <a:solidFill>
              <a:schemeClr val="bg1">
                <a:lumMod val="50000"/>
              </a:schemeClr>
            </a:solidFill>
          </a:ln>
        </p:spPr>
        <p:txBody>
          <a:bodyPr wrap="square" rtlCol="0">
            <a:spAutoFit/>
          </a:bodyPr>
          <a:lstStyle/>
          <a:p>
            <a:pPr algn="r"/>
            <a:r>
              <a:rPr lang="en-US" dirty="0" err="1">
                <a:latin typeface="JetBrains Mono Regular" panose="02000009000000000000" pitchFamily="49" charset="0"/>
                <a:cs typeface="JetBrains Mono Regular" panose="02000009000000000000" pitchFamily="49" charset="0"/>
              </a:rPr>
              <a:t>Cạnh</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cầu</a:t>
            </a:r>
            <a:endParaRPr lang="en-US" dirty="0">
              <a:latin typeface="JetBrains Mono Regular" panose="02000009000000000000" pitchFamily="49" charset="0"/>
              <a:cs typeface="JetBrains Mono Regular" panose="02000009000000000000" pitchFamily="49" charset="0"/>
            </a:endParaRPr>
          </a:p>
        </p:txBody>
      </p:sp>
      <p:sp>
        <p:nvSpPr>
          <p:cNvPr id="18" name="TextBox 17">
            <a:extLst>
              <a:ext uri="{FF2B5EF4-FFF2-40B4-BE49-F238E27FC236}">
                <a16:creationId xmlns:a16="http://schemas.microsoft.com/office/drawing/2014/main" id="{EDC7F168-E517-4F65-97B0-B3B1EC590880}"/>
              </a:ext>
            </a:extLst>
          </p:cNvPr>
          <p:cNvSpPr txBox="1"/>
          <p:nvPr/>
        </p:nvSpPr>
        <p:spPr>
          <a:xfrm>
            <a:off x="4103386" y="3027219"/>
            <a:ext cx="6745277" cy="646331"/>
          </a:xfrm>
          <a:prstGeom prst="rect">
            <a:avLst/>
          </a:prstGeom>
          <a:noFill/>
          <a:ln>
            <a:solidFill>
              <a:schemeClr val="bg1">
                <a:lumMod val="50000"/>
              </a:schemeClr>
            </a:solidFill>
          </a:ln>
        </p:spPr>
        <p:txBody>
          <a:bodyPr wrap="square" rtlCol="0">
            <a:spAutoFit/>
          </a:bodyPr>
          <a:lstStyle/>
          <a:p>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Cạnh</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mà</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nếu</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xóa</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đi</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khỏi</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đồ</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thị</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thì</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số</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thành</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phần</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liên</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thông</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của</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đồ</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thị</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sẽ</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tăng</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thêm</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a:t>
            </a:r>
            <a:endParaRPr lang="en-US" i="1" dirty="0">
              <a:solidFill>
                <a:schemeClr val="bg1"/>
              </a:solidFill>
              <a:latin typeface="JetBrains Mono Light" panose="02000009000000000000" pitchFamily="49" charset="0"/>
              <a:cs typeface="JetBrains Mono Light" panose="02000009000000000000" pitchFamily="49" charset="0"/>
            </a:endParaRPr>
          </a:p>
        </p:txBody>
      </p:sp>
      <p:sp>
        <p:nvSpPr>
          <p:cNvPr id="20" name="TextBox 19">
            <a:extLst>
              <a:ext uri="{FF2B5EF4-FFF2-40B4-BE49-F238E27FC236}">
                <a16:creationId xmlns:a16="http://schemas.microsoft.com/office/drawing/2014/main" id="{5DCC8478-D5B7-4C40-B006-EF1B765CB097}"/>
              </a:ext>
            </a:extLst>
          </p:cNvPr>
          <p:cNvSpPr txBox="1"/>
          <p:nvPr/>
        </p:nvSpPr>
        <p:spPr>
          <a:xfrm>
            <a:off x="1083344" y="4280878"/>
            <a:ext cx="2668876" cy="369332"/>
          </a:xfrm>
          <a:prstGeom prst="rect">
            <a:avLst/>
          </a:prstGeom>
          <a:solidFill>
            <a:schemeClr val="bg1"/>
          </a:solidFill>
          <a:ln>
            <a:solidFill>
              <a:schemeClr val="bg1">
                <a:lumMod val="50000"/>
              </a:schemeClr>
            </a:solidFill>
          </a:ln>
        </p:spPr>
        <p:txBody>
          <a:bodyPr wrap="square" rtlCol="0">
            <a:spAutoFit/>
          </a:bodyPr>
          <a:lstStyle/>
          <a:p>
            <a:pPr algn="r"/>
            <a:r>
              <a:rPr lang="en-US" dirty="0">
                <a:latin typeface="JetBrains Mono Regular" panose="02000009000000000000"/>
                <a:ea typeface="Times New Roman" panose="02020603050405020304" pitchFamily="18" charset="0"/>
                <a:cs typeface="Times New Roman" panose="02020603050405020304" pitchFamily="18" charset="0"/>
              </a:rPr>
              <a:t>ĐT song </a:t>
            </a:r>
            <a:r>
              <a:rPr lang="en-US" dirty="0" err="1">
                <a:latin typeface="JetBrains Mono Regular" panose="02000009000000000000"/>
                <a:ea typeface="Times New Roman" panose="02020603050405020304" pitchFamily="18" charset="0"/>
                <a:cs typeface="Times New Roman" panose="02020603050405020304" pitchFamily="18" charset="0"/>
              </a:rPr>
              <a:t>liên</a:t>
            </a:r>
            <a:r>
              <a:rPr lang="en-US" dirty="0">
                <a:latin typeface="JetBrains Mono Regular" panose="02000009000000000000"/>
                <a:ea typeface="Times New Roman" panose="02020603050405020304" pitchFamily="18" charset="0"/>
                <a:cs typeface="Times New Roman" panose="02020603050405020304" pitchFamily="18" charset="0"/>
              </a:rPr>
              <a:t> </a:t>
            </a:r>
            <a:r>
              <a:rPr lang="en-US" dirty="0" err="1">
                <a:latin typeface="JetBrains Mono Regular" panose="02000009000000000000"/>
                <a:ea typeface="Times New Roman" panose="02020603050405020304" pitchFamily="18" charset="0"/>
                <a:cs typeface="Times New Roman" panose="02020603050405020304" pitchFamily="18" charset="0"/>
              </a:rPr>
              <a:t>thông</a:t>
            </a:r>
            <a:endParaRPr lang="en-US" dirty="0">
              <a:latin typeface="JetBrains Mono Regular" panose="02000009000000000000" pitchFamily="49" charset="0"/>
              <a:cs typeface="JetBrains Mono Regular" panose="02000009000000000000" pitchFamily="49" charset="0"/>
            </a:endParaRPr>
          </a:p>
        </p:txBody>
      </p:sp>
      <p:sp>
        <p:nvSpPr>
          <p:cNvPr id="23" name="TextBox 22">
            <a:extLst>
              <a:ext uri="{FF2B5EF4-FFF2-40B4-BE49-F238E27FC236}">
                <a16:creationId xmlns:a16="http://schemas.microsoft.com/office/drawing/2014/main" id="{9E256D69-A1EA-49A8-BBCE-6C4BDB859BF0}"/>
              </a:ext>
            </a:extLst>
          </p:cNvPr>
          <p:cNvSpPr txBox="1"/>
          <p:nvPr/>
        </p:nvSpPr>
        <p:spPr>
          <a:xfrm>
            <a:off x="4084646" y="1773560"/>
            <a:ext cx="6745277" cy="923330"/>
          </a:xfrm>
          <a:prstGeom prst="rect">
            <a:avLst/>
          </a:prstGeom>
          <a:noFill/>
          <a:ln>
            <a:solidFill>
              <a:schemeClr val="bg1">
                <a:lumMod val="50000"/>
              </a:schemeClr>
            </a:solidFill>
          </a:ln>
        </p:spPr>
        <p:txBody>
          <a:bodyPr wrap="square" rtlCol="0">
            <a:spAutoFit/>
          </a:bodyPr>
          <a:lstStyle/>
          <a:p>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Đỉnh</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mà</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nếu</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xóa</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đỉnh</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này</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khỏi</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đồ</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thị</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và</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các</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cạnh</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nối</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đến</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nó</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thì</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số</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thành</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phần</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liên</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thông</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của</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đồ</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thị</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sẽ</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tăng</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thêm</a:t>
            </a:r>
            <a:r>
              <a:rPr lang="en-US" i="1" dirty="0">
                <a:solidFill>
                  <a:schemeClr val="bg1">
                    <a:lumMod val="85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a:t>
            </a:r>
            <a:endParaRPr lang="en-US" i="1" dirty="0">
              <a:solidFill>
                <a:schemeClr val="bg1"/>
              </a:solidFill>
              <a:latin typeface="JetBrains Mono Light" panose="02000009000000000000" pitchFamily="49" charset="0"/>
              <a:cs typeface="JetBrains Mono Light" panose="02000009000000000000" pitchFamily="49" charset="0"/>
            </a:endParaRPr>
          </a:p>
        </p:txBody>
      </p:sp>
      <p:sp>
        <p:nvSpPr>
          <p:cNvPr id="27" name="TextBox 26">
            <a:extLst>
              <a:ext uri="{FF2B5EF4-FFF2-40B4-BE49-F238E27FC236}">
                <a16:creationId xmlns:a16="http://schemas.microsoft.com/office/drawing/2014/main" id="{45CCAEB7-6A8F-4E3A-AC93-A0B491905B03}"/>
              </a:ext>
            </a:extLst>
          </p:cNvPr>
          <p:cNvSpPr txBox="1"/>
          <p:nvPr/>
        </p:nvSpPr>
        <p:spPr>
          <a:xfrm>
            <a:off x="1375997" y="2118589"/>
            <a:ext cx="2445931" cy="369332"/>
          </a:xfrm>
          <a:prstGeom prst="rect">
            <a:avLst/>
          </a:prstGeom>
          <a:noFill/>
          <a:ln>
            <a:noFill/>
          </a:ln>
        </p:spPr>
        <p:txBody>
          <a:bodyPr wrap="square" rtlCol="0">
            <a:spAutoFit/>
          </a:bodyPr>
          <a:lstStyle/>
          <a:p>
            <a:pPr algn="r"/>
            <a:r>
              <a:rPr lang="en-US" i="1" dirty="0" err="1">
                <a:solidFill>
                  <a:schemeClr val="bg1">
                    <a:lumMod val="50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Đồ</a:t>
            </a:r>
            <a:r>
              <a:rPr lang="en-US" i="1" dirty="0">
                <a:solidFill>
                  <a:schemeClr val="bg1">
                    <a:lumMod val="50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thị</a:t>
            </a:r>
            <a:r>
              <a:rPr lang="en-US" i="1" dirty="0">
                <a:solidFill>
                  <a:schemeClr val="bg1">
                    <a:lumMod val="50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vô</a:t>
            </a:r>
            <a:r>
              <a:rPr lang="en-US" i="1" dirty="0">
                <a:solidFill>
                  <a:schemeClr val="bg1">
                    <a:lumMod val="50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hướng</a:t>
            </a:r>
            <a:endParaRPr lang="en-US" i="1"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28" name="TextBox 27">
            <a:extLst>
              <a:ext uri="{FF2B5EF4-FFF2-40B4-BE49-F238E27FC236}">
                <a16:creationId xmlns:a16="http://schemas.microsoft.com/office/drawing/2014/main" id="{FE1A3B4F-48EB-4787-8BC6-EC1923BCF0DC}"/>
              </a:ext>
            </a:extLst>
          </p:cNvPr>
          <p:cNvSpPr txBox="1"/>
          <p:nvPr/>
        </p:nvSpPr>
        <p:spPr>
          <a:xfrm>
            <a:off x="1375997" y="3451937"/>
            <a:ext cx="2445931" cy="369332"/>
          </a:xfrm>
          <a:prstGeom prst="rect">
            <a:avLst/>
          </a:prstGeom>
          <a:noFill/>
          <a:ln>
            <a:noFill/>
          </a:ln>
        </p:spPr>
        <p:txBody>
          <a:bodyPr wrap="square" rtlCol="0">
            <a:spAutoFit/>
          </a:bodyPr>
          <a:lstStyle/>
          <a:p>
            <a:pPr algn="r"/>
            <a:r>
              <a:rPr lang="en-US" i="1" dirty="0" err="1">
                <a:solidFill>
                  <a:schemeClr val="bg1">
                    <a:lumMod val="50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Đồ</a:t>
            </a:r>
            <a:r>
              <a:rPr lang="en-US" i="1" dirty="0">
                <a:solidFill>
                  <a:schemeClr val="bg1">
                    <a:lumMod val="50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thị</a:t>
            </a:r>
            <a:r>
              <a:rPr lang="en-US" i="1" dirty="0">
                <a:solidFill>
                  <a:schemeClr val="bg1">
                    <a:lumMod val="50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vô</a:t>
            </a:r>
            <a:r>
              <a:rPr lang="en-US" i="1" dirty="0">
                <a:solidFill>
                  <a:schemeClr val="bg1">
                    <a:lumMod val="50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ea typeface="Times New Roman" panose="02020603050405020304" pitchFamily="18" charset="0"/>
                <a:cs typeface="JetBrains Mono Light" panose="02000009000000000000" pitchFamily="49" charset="0"/>
              </a:rPr>
              <a:t>hướng</a:t>
            </a:r>
            <a:endParaRPr lang="en-US" i="1" dirty="0">
              <a:solidFill>
                <a:schemeClr val="bg1">
                  <a:lumMod val="50000"/>
                </a:schemeClr>
              </a:solidFill>
              <a:latin typeface="JetBrains Mono Light" panose="02000009000000000000" pitchFamily="49" charset="0"/>
              <a:cs typeface="JetBrains Mono Light" panose="02000009000000000000" pitchFamily="49" charset="0"/>
            </a:endParaRPr>
          </a:p>
        </p:txBody>
      </p:sp>
    </p:spTree>
    <p:extLst>
      <p:ext uri="{BB962C8B-B14F-4D97-AF65-F5344CB8AC3E}">
        <p14:creationId xmlns:p14="http://schemas.microsoft.com/office/powerpoint/2010/main" val="35372699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500"/>
                                        <p:tgtEl>
                                          <p:spTgt spid="2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500"/>
                                        <p:tgtEl>
                                          <p:spTgt spid="23"/>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childTnLst>
                          </p:cTn>
                        </p:par>
                        <p:par>
                          <p:cTn id="32" fill="hold">
                            <p:stCondLst>
                              <p:cond delay="500"/>
                            </p:stCondLst>
                            <p:childTnLst>
                              <p:par>
                                <p:cTn id="33" presetID="10" presetClass="entr" presetSubtype="0"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8" grpId="0" animBg="1"/>
      <p:bldP spid="20" grpId="0" animBg="1"/>
      <p:bldP spid="23" grpId="0" animBg="1"/>
      <p:bldP spid="27" grpId="0"/>
      <p:bldP spid="2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ADCB1D2-71BF-4442-85AC-20706F44BBA0}"/>
              </a:ext>
            </a:extLst>
          </p:cNvPr>
          <p:cNvSpPr/>
          <p:nvPr/>
        </p:nvSpPr>
        <p:spPr>
          <a:xfrm>
            <a:off x="0" y="-2556"/>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21" name="Credit MAIN">
            <a:extLst>
              <a:ext uri="{FF2B5EF4-FFF2-40B4-BE49-F238E27FC236}">
                <a16:creationId xmlns:a16="http://schemas.microsoft.com/office/drawing/2014/main" id="{A5F845F1-9489-426E-B1D3-2CCF2A9E61E3}"/>
              </a:ext>
            </a:extLst>
          </p:cNvPr>
          <p:cNvSpPr txBox="1"/>
          <p:nvPr/>
        </p:nvSpPr>
        <p:spPr>
          <a:xfrm>
            <a:off x="50878" y="6420549"/>
            <a:ext cx="2668876" cy="369332"/>
          </a:xfrm>
          <a:prstGeom prst="rect">
            <a:avLst/>
          </a:prstGeom>
          <a:noFill/>
        </p:spPr>
        <p:txBody>
          <a:bodyPr wrap="square" rtlCol="0">
            <a:spAutoFit/>
          </a:bodyPr>
          <a:lstStyle/>
          <a:p>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Phạm </a:t>
            </a:r>
            <a:r>
              <a:rPr lang="en-US"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H</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oàng</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Phong</a:t>
            </a:r>
            <a:endParaRPr lang="en-US" dirty="0">
              <a:solidFill>
                <a:schemeClr val="bg1">
                  <a:lumMod val="95000"/>
                  <a:alpha val="46000"/>
                </a:schemeClr>
              </a:solidFill>
            </a:endParaRPr>
          </a:p>
        </p:txBody>
      </p:sp>
      <p:sp>
        <p:nvSpPr>
          <p:cNvPr id="11" name="Header">
            <a:extLst>
              <a:ext uri="{FF2B5EF4-FFF2-40B4-BE49-F238E27FC236}">
                <a16:creationId xmlns:a16="http://schemas.microsoft.com/office/drawing/2014/main" id="{6A39F230-06D2-4140-8DA2-357C0B9B6D12}"/>
              </a:ext>
            </a:extLst>
          </p:cNvPr>
          <p:cNvSpPr txBox="1"/>
          <p:nvPr/>
        </p:nvSpPr>
        <p:spPr>
          <a:xfrm>
            <a:off x="50878" y="68119"/>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7" name="Footer: Part">
            <a:extLst>
              <a:ext uri="{FF2B5EF4-FFF2-40B4-BE49-F238E27FC236}">
                <a16:creationId xmlns:a16="http://schemas.microsoft.com/office/drawing/2014/main" id="{553347E6-1341-4BA1-A396-FC4741F3FAF1}"/>
              </a:ext>
            </a:extLst>
          </p:cNvPr>
          <p:cNvSpPr txBox="1"/>
          <p:nvPr/>
        </p:nvSpPr>
        <p:spPr>
          <a:xfrm>
            <a:off x="10829923" y="6413178"/>
            <a:ext cx="1289979" cy="369332"/>
          </a:xfrm>
          <a:prstGeom prst="rect">
            <a:avLst/>
          </a:prstGeom>
          <a:noFill/>
        </p:spPr>
        <p:txBody>
          <a:bodyPr wrap="square" rtlCol="0">
            <a:spAutoFit/>
          </a:bodyPr>
          <a:lstStyle/>
          <a:p>
            <a:pPr algn="r"/>
            <a:r>
              <a:rPr lang="en-US" dirty="0" err="1">
                <a:solidFill>
                  <a:schemeClr val="bg1">
                    <a:lumMod val="95000"/>
                  </a:schemeClr>
                </a:solidFill>
                <a:latin typeface="JetBrains Mono" panose="02000009000000000000" pitchFamily="49" charset="0"/>
                <a:cs typeface="JetBrains Mono" panose="02000009000000000000" pitchFamily="49" charset="0"/>
              </a:rPr>
              <a:t>Bài</a:t>
            </a:r>
            <a:r>
              <a:rPr lang="en-US" dirty="0">
                <a:solidFill>
                  <a:schemeClr val="bg1">
                    <a:lumMod val="95000"/>
                  </a:schemeClr>
                </a:solidFill>
                <a:latin typeface="JetBrains Mono" panose="02000009000000000000" pitchFamily="49" charset="0"/>
                <a:cs typeface="JetBrains Mono" panose="02000009000000000000" pitchFamily="49" charset="0"/>
              </a:rPr>
              <a:t> </a:t>
            </a:r>
            <a:r>
              <a:rPr lang="en-US" dirty="0" err="1">
                <a:solidFill>
                  <a:schemeClr val="bg1">
                    <a:lumMod val="95000"/>
                  </a:schemeClr>
                </a:solidFill>
                <a:latin typeface="JetBrains Mono" panose="02000009000000000000" pitchFamily="49" charset="0"/>
                <a:cs typeface="JetBrains Mono" panose="02000009000000000000" pitchFamily="49" charset="0"/>
              </a:rPr>
              <a:t>toán</a:t>
            </a:r>
            <a:endParaRPr lang="en-US" dirty="0">
              <a:solidFill>
                <a:schemeClr val="bg1">
                  <a:lumMod val="95000"/>
                </a:schemeClr>
              </a:solidFill>
              <a:latin typeface="JetBrains Mono" panose="02000009000000000000" pitchFamily="49" charset="0"/>
              <a:cs typeface="JetBrains Mono" panose="02000009000000000000" pitchFamily="49" charset="0"/>
            </a:endParaRPr>
          </a:p>
        </p:txBody>
      </p:sp>
      <p:sp>
        <p:nvSpPr>
          <p:cNvPr id="19" name="Footer: Title">
            <a:extLst>
              <a:ext uri="{FF2B5EF4-FFF2-40B4-BE49-F238E27FC236}">
                <a16:creationId xmlns:a16="http://schemas.microsoft.com/office/drawing/2014/main" id="{FD144244-98B6-4C54-A114-16CD65E0D522}"/>
              </a:ext>
            </a:extLst>
          </p:cNvPr>
          <p:cNvSpPr txBox="1"/>
          <p:nvPr/>
        </p:nvSpPr>
        <p:spPr>
          <a:xfrm>
            <a:off x="9777072" y="6414047"/>
            <a:ext cx="1160019"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Light" panose="02000009000000000000" pitchFamily="49" charset="0"/>
                <a:cs typeface="JetBrains Mono Light" panose="02000009000000000000" pitchFamily="49" charset="0"/>
              </a:rPr>
              <a:t>:</a:t>
            </a:r>
          </a:p>
        </p:txBody>
      </p:sp>
      <p:sp>
        <p:nvSpPr>
          <p:cNvPr id="25" name="PAGE NUM 0">
            <a:extLst>
              <a:ext uri="{FF2B5EF4-FFF2-40B4-BE49-F238E27FC236}">
                <a16:creationId xmlns:a16="http://schemas.microsoft.com/office/drawing/2014/main" id="{CA8E8643-0820-44FC-9D06-02F2A0A63536}"/>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2</a:t>
            </a:r>
          </a:p>
        </p:txBody>
      </p:sp>
      <p:sp>
        <p:nvSpPr>
          <p:cNvPr id="26" name="PAGE NUM 1">
            <a:extLst>
              <a:ext uri="{FF2B5EF4-FFF2-40B4-BE49-F238E27FC236}">
                <a16:creationId xmlns:a16="http://schemas.microsoft.com/office/drawing/2014/main" id="{6BF8CF33-13C7-458E-A4F5-0A19700195D0}"/>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2</a:t>
            </a:r>
            <a:endParaRPr lang="en-US" dirty="0"/>
          </a:p>
        </p:txBody>
      </p:sp>
      <p:sp>
        <p:nvSpPr>
          <p:cNvPr id="4" name="Rectangle 3">
            <a:extLst>
              <a:ext uri="{FF2B5EF4-FFF2-40B4-BE49-F238E27FC236}">
                <a16:creationId xmlns:a16="http://schemas.microsoft.com/office/drawing/2014/main" id="{CB38D6F8-B45F-44CF-A0B3-4EECDAC74C1C}"/>
              </a:ext>
            </a:extLst>
          </p:cNvPr>
          <p:cNvSpPr/>
          <p:nvPr/>
        </p:nvSpPr>
        <p:spPr>
          <a:xfrm>
            <a:off x="591458" y="591772"/>
            <a:ext cx="1882112"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3252814-A59F-4DD2-85FD-AF3B5B3FB847}"/>
              </a:ext>
            </a:extLst>
          </p:cNvPr>
          <p:cNvSpPr txBox="1"/>
          <p:nvPr/>
        </p:nvSpPr>
        <p:spPr>
          <a:xfrm>
            <a:off x="603364" y="591246"/>
            <a:ext cx="1987436" cy="369332"/>
          </a:xfrm>
          <a:prstGeom prst="rect">
            <a:avLst/>
          </a:prstGeom>
          <a:noFill/>
        </p:spPr>
        <p:txBody>
          <a:bodyPr wrap="square" rtlCol="0">
            <a:spAutoFit/>
          </a:bodyPr>
          <a:lstStyle/>
          <a:p>
            <a:r>
              <a:rPr lang="en-US" dirty="0" err="1">
                <a:latin typeface="JetBrains Mono" panose="02000009000000000000" pitchFamily="49" charset="0"/>
                <a:cs typeface="JetBrains Mono" panose="02000009000000000000" pitchFamily="49" charset="0"/>
              </a:rPr>
              <a:t>Tìm</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đường</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đi</a:t>
            </a:r>
            <a:endParaRPr lang="en-US" dirty="0">
              <a:latin typeface="JetBrains Mono" panose="02000009000000000000" pitchFamily="49" charset="0"/>
              <a:cs typeface="JetBrains Mono" panose="02000009000000000000" pitchFamily="49" charset="0"/>
            </a:endParaRPr>
          </a:p>
        </p:txBody>
      </p:sp>
      <p:sp>
        <p:nvSpPr>
          <p:cNvPr id="12" name="TextBox 11">
            <a:extLst>
              <a:ext uri="{FF2B5EF4-FFF2-40B4-BE49-F238E27FC236}">
                <a16:creationId xmlns:a16="http://schemas.microsoft.com/office/drawing/2014/main" id="{912DD8A3-44F4-4E77-B8A5-F7F5BD841756}"/>
              </a:ext>
            </a:extLst>
          </p:cNvPr>
          <p:cNvSpPr txBox="1"/>
          <p:nvPr/>
        </p:nvSpPr>
        <p:spPr>
          <a:xfrm>
            <a:off x="1037306" y="1120941"/>
            <a:ext cx="1553494"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Định</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nghĩa</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24" name="TextBox 23">
            <a:extLst>
              <a:ext uri="{FF2B5EF4-FFF2-40B4-BE49-F238E27FC236}">
                <a16:creationId xmlns:a16="http://schemas.microsoft.com/office/drawing/2014/main" id="{099810C1-243F-4AE1-9830-7AD99AC193E3}"/>
              </a:ext>
            </a:extLst>
          </p:cNvPr>
          <p:cNvSpPr txBox="1"/>
          <p:nvPr/>
        </p:nvSpPr>
        <p:spPr>
          <a:xfrm>
            <a:off x="1320653" y="1613310"/>
            <a:ext cx="3650464" cy="369332"/>
          </a:xfrm>
          <a:prstGeom prst="rect">
            <a:avLst/>
          </a:prstGeom>
          <a:noFill/>
          <a:ln>
            <a:noFill/>
          </a:ln>
        </p:spPr>
        <p:txBody>
          <a:bodyPr wrap="square" rtlCol="0">
            <a:spAutoFit/>
          </a:bodyPr>
          <a:lstStyle/>
          <a:p>
            <a:pPr marL="285750" indent="-285750">
              <a:buFont typeface="Arial" panose="020B0604020202020204" pitchFamily="34" charset="0"/>
              <a:buChar char="•"/>
            </a:pPr>
            <a:r>
              <a:rPr lang="en-US" dirty="0">
                <a:solidFill>
                  <a:schemeClr val="bg1"/>
                </a:solidFill>
                <a:latin typeface="JetBrains Mono Light" panose="02000009000000000000" pitchFamily="49" charset="0"/>
                <a:cs typeface="JetBrains Mono Light" panose="02000009000000000000" pitchFamily="49" charset="0"/>
              </a:rPr>
              <a:t>Cho </a:t>
            </a:r>
            <a:r>
              <a:rPr lang="en-US" dirty="0" err="1">
                <a:solidFill>
                  <a:schemeClr val="bg1"/>
                </a:solidFill>
                <a:latin typeface="JetBrains Mono Light" panose="02000009000000000000" pitchFamily="49" charset="0"/>
                <a:cs typeface="JetBrains Mono Light" panose="02000009000000000000" pitchFamily="49" charset="0"/>
              </a:rPr>
              <a:t>đồ</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thị</a:t>
            </a:r>
            <a:r>
              <a:rPr lang="en-US" dirty="0">
                <a:solidFill>
                  <a:schemeClr val="bg1"/>
                </a:solidFill>
                <a:latin typeface="JetBrains Mono Light" panose="02000009000000000000" pitchFamily="49" charset="0"/>
                <a:cs typeface="JetBrains Mono Light" panose="02000009000000000000" pitchFamily="49" charset="0"/>
              </a:rPr>
              <a:t> G = (X, U). </a:t>
            </a:r>
          </a:p>
        </p:txBody>
      </p:sp>
      <p:sp>
        <p:nvSpPr>
          <p:cNvPr id="29" name="TextBox 28">
            <a:extLst>
              <a:ext uri="{FF2B5EF4-FFF2-40B4-BE49-F238E27FC236}">
                <a16:creationId xmlns:a16="http://schemas.microsoft.com/office/drawing/2014/main" id="{E1FF21D9-9D97-4032-A805-DD68A54280AC}"/>
              </a:ext>
            </a:extLst>
          </p:cNvPr>
          <p:cNvSpPr txBox="1"/>
          <p:nvPr/>
        </p:nvSpPr>
        <p:spPr>
          <a:xfrm>
            <a:off x="1322645" y="1991200"/>
            <a:ext cx="8993663" cy="369332"/>
          </a:xfrm>
          <a:prstGeom prst="rect">
            <a:avLst/>
          </a:prstGeom>
          <a:noFill/>
          <a:ln>
            <a:noFill/>
          </a:ln>
        </p:spPr>
        <p:txBody>
          <a:bodyPr wrap="square" rtlCol="0">
            <a:spAutoFit/>
          </a:bodyPr>
          <a:lstStyle/>
          <a:p>
            <a:pPr marL="285750" lvl="0" indent="-285750">
              <a:buFont typeface="Arial" panose="020B0604020202020204" pitchFamily="34" charset="0"/>
              <a:buChar char="•"/>
            </a:pP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Một</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đường</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đi</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trong</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G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là</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một</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dãy</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luân</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phiên</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các</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đỉnh</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và</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cạnh</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a:t>
            </a:r>
          </a:p>
        </p:txBody>
      </p:sp>
      <p:sp>
        <p:nvSpPr>
          <p:cNvPr id="30" name="TextBox 29">
            <a:extLst>
              <a:ext uri="{FF2B5EF4-FFF2-40B4-BE49-F238E27FC236}">
                <a16:creationId xmlns:a16="http://schemas.microsoft.com/office/drawing/2014/main" id="{0251D0A3-ABBE-48B2-92B7-05657F4E3913}"/>
              </a:ext>
            </a:extLst>
          </p:cNvPr>
          <p:cNvSpPr txBox="1"/>
          <p:nvPr/>
        </p:nvSpPr>
        <p:spPr>
          <a:xfrm>
            <a:off x="2019529" y="2448492"/>
            <a:ext cx="8993663" cy="369332"/>
          </a:xfrm>
          <a:prstGeom prst="rect">
            <a:avLst/>
          </a:prstGeom>
          <a:noFill/>
          <a:ln>
            <a:noFill/>
          </a:ln>
        </p:spPr>
        <p:txBody>
          <a:bodyPr wrap="square" rtlCol="0">
            <a:spAutoFit/>
          </a:bodyPr>
          <a:lstStyle/>
          <a:p>
            <a:r>
              <a:rPr lang="en-US" sz="1800" dirty="0">
                <a:solidFill>
                  <a:schemeClr val="bg1">
                    <a:lumMod val="85000"/>
                  </a:schemeClr>
                </a:solidFill>
                <a:latin typeface="JetBrains Mono Light" panose="02000009000000000000" pitchFamily="49" charset="0"/>
                <a:cs typeface="JetBrains Mono Light" panose="02000009000000000000" pitchFamily="49" charset="0"/>
              </a:rPr>
              <a:t>x</a:t>
            </a:r>
            <a:r>
              <a:rPr lang="en-US" sz="1800" baseline="-25000" dirty="0">
                <a:solidFill>
                  <a:schemeClr val="bg1">
                    <a:lumMod val="85000"/>
                  </a:schemeClr>
                </a:solidFill>
                <a:latin typeface="JetBrains Mono Light" panose="02000009000000000000" pitchFamily="49" charset="0"/>
                <a:cs typeface="JetBrains Mono Light" panose="02000009000000000000" pitchFamily="49" charset="0"/>
              </a:rPr>
              <a:t>1</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u</a:t>
            </a:r>
            <a:r>
              <a:rPr lang="en-US" sz="1800" baseline="-25000" dirty="0">
                <a:solidFill>
                  <a:schemeClr val="bg1">
                    <a:lumMod val="85000"/>
                  </a:schemeClr>
                </a:solidFill>
                <a:latin typeface="JetBrains Mono Light" panose="02000009000000000000" pitchFamily="49" charset="0"/>
                <a:cs typeface="JetBrains Mono Light" panose="02000009000000000000" pitchFamily="49" charset="0"/>
              </a:rPr>
              <a:t>1 </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x</a:t>
            </a:r>
            <a:r>
              <a:rPr lang="en-US" sz="1800" baseline="-25000" dirty="0">
                <a:solidFill>
                  <a:schemeClr val="bg1">
                    <a:lumMod val="85000"/>
                  </a:schemeClr>
                </a:solidFill>
                <a:latin typeface="JetBrains Mono Light" panose="02000009000000000000" pitchFamily="49" charset="0"/>
                <a:cs typeface="JetBrains Mono Light" panose="02000009000000000000" pitchFamily="49" charset="0"/>
              </a:rPr>
              <a:t>2</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u</a:t>
            </a:r>
            <a:r>
              <a:rPr lang="en-US" baseline="-25000" dirty="0">
                <a:solidFill>
                  <a:schemeClr val="bg1">
                    <a:lumMod val="85000"/>
                  </a:schemeClr>
                </a:solidFill>
                <a:latin typeface="JetBrains Mono Light" panose="02000009000000000000" pitchFamily="49" charset="0"/>
                <a:cs typeface="JetBrains Mono Light" panose="02000009000000000000" pitchFamily="49" charset="0"/>
              </a:rPr>
              <a:t>2 </a:t>
            </a:r>
            <a:r>
              <a:rPr lang="en-US" dirty="0">
                <a:solidFill>
                  <a:schemeClr val="bg1">
                    <a:lumMod val="85000"/>
                  </a:schemeClr>
                </a:solidFill>
                <a:latin typeface="JetBrains Mono Light" panose="02000009000000000000" pitchFamily="49" charset="0"/>
                <a:cs typeface="JetBrains Mono Light" panose="02000009000000000000" pitchFamily="49" charset="0"/>
              </a:rPr>
              <a:t>, .... , </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x</a:t>
            </a:r>
            <a:r>
              <a:rPr lang="en-US" baseline="-25000" dirty="0">
                <a:solidFill>
                  <a:schemeClr val="bg1">
                    <a:lumMod val="85000"/>
                  </a:schemeClr>
                </a:solidFill>
                <a:latin typeface="JetBrains Mono Light" panose="02000009000000000000" pitchFamily="49" charset="0"/>
                <a:cs typeface="JetBrains Mono Light" panose="02000009000000000000" pitchFamily="49" charset="0"/>
              </a:rPr>
              <a:t>m-1</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u</a:t>
            </a:r>
            <a:r>
              <a:rPr lang="en-US" sz="1800" baseline="-25000" dirty="0">
                <a:solidFill>
                  <a:schemeClr val="bg1">
                    <a:lumMod val="85000"/>
                  </a:schemeClr>
                </a:solidFill>
                <a:latin typeface="JetBrains Mono Light" panose="02000009000000000000" pitchFamily="49" charset="0"/>
                <a:cs typeface="JetBrains Mono Light" panose="02000009000000000000" pitchFamily="49" charset="0"/>
              </a:rPr>
              <a:t>m-1 </a:t>
            </a:r>
            <a:r>
              <a:rPr lang="en-US"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x</a:t>
            </a:r>
            <a:r>
              <a:rPr lang="en-US" baseline="-25000" dirty="0" err="1">
                <a:solidFill>
                  <a:schemeClr val="bg1">
                    <a:lumMod val="85000"/>
                  </a:schemeClr>
                </a:solidFill>
                <a:latin typeface="JetBrains Mono Light" panose="02000009000000000000" pitchFamily="49" charset="0"/>
                <a:cs typeface="JetBrains Mono Light" panose="02000009000000000000" pitchFamily="49" charset="0"/>
              </a:rPr>
              <a:t>m</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u</a:t>
            </a:r>
            <a:r>
              <a:rPr lang="en-US" sz="1800" baseline="-25000" dirty="0" err="1">
                <a:solidFill>
                  <a:schemeClr val="bg1">
                    <a:lumMod val="85000"/>
                  </a:schemeClr>
                </a:solidFill>
                <a:latin typeface="JetBrains Mono Light" panose="02000009000000000000" pitchFamily="49" charset="0"/>
                <a:cs typeface="JetBrains Mono Light" panose="02000009000000000000" pitchFamily="49" charset="0"/>
              </a:rPr>
              <a:t>m</a:t>
            </a:r>
            <a:r>
              <a:rPr lang="en-US"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i="1" dirty="0">
                <a:solidFill>
                  <a:schemeClr val="bg1">
                    <a:lumMod val="50000"/>
                  </a:schemeClr>
                </a:solidFill>
                <a:latin typeface="JetBrains Mono Light" panose="02000009000000000000" pitchFamily="49" charset="0"/>
                <a:cs typeface="JetBrains Mono Light" panose="02000009000000000000" pitchFamily="49" charset="0"/>
              </a:rPr>
              <a:t>(xi </a:t>
            </a:r>
            <a:r>
              <a:rPr lang="en-US" sz="1800" i="1" dirty="0" err="1">
                <a:solidFill>
                  <a:schemeClr val="bg1">
                    <a:lumMod val="50000"/>
                  </a:schemeClr>
                </a:solidFill>
                <a:latin typeface="JetBrains Mono Light" panose="02000009000000000000" pitchFamily="49" charset="0"/>
                <a:cs typeface="JetBrains Mono Light" panose="02000009000000000000" pitchFamily="49" charset="0"/>
              </a:rPr>
              <a:t>là</a:t>
            </a:r>
            <a:r>
              <a:rPr lang="en-US" sz="1800" i="1" dirty="0">
                <a:solidFill>
                  <a:schemeClr val="bg1">
                    <a:lumMod val="50000"/>
                  </a:schemeClr>
                </a:solidFill>
                <a:latin typeface="JetBrains Mono Light" panose="02000009000000000000" pitchFamily="49" charset="0"/>
                <a:cs typeface="JetBrains Mono Light" panose="02000009000000000000" pitchFamily="49" charset="0"/>
              </a:rPr>
              <a:t> </a:t>
            </a:r>
            <a:r>
              <a:rPr lang="en-US" sz="1800" i="1" dirty="0" err="1">
                <a:solidFill>
                  <a:schemeClr val="bg1">
                    <a:lumMod val="50000"/>
                  </a:schemeClr>
                </a:solidFill>
                <a:latin typeface="JetBrains Mono Light" panose="02000009000000000000" pitchFamily="49" charset="0"/>
                <a:cs typeface="JetBrains Mono Light" panose="02000009000000000000" pitchFamily="49" charset="0"/>
              </a:rPr>
              <a:t>đỉnh</a:t>
            </a:r>
            <a:r>
              <a:rPr lang="en-US" sz="1800" i="1" dirty="0">
                <a:solidFill>
                  <a:schemeClr val="bg1">
                    <a:lumMod val="50000"/>
                  </a:schemeClr>
                </a:solidFill>
                <a:latin typeface="JetBrains Mono Light" panose="02000009000000000000" pitchFamily="49" charset="0"/>
                <a:cs typeface="JetBrains Mono Light" panose="02000009000000000000" pitchFamily="49" charset="0"/>
              </a:rPr>
              <a:t> </a:t>
            </a:r>
            <a:r>
              <a:rPr lang="en-US" sz="1800" i="1" dirty="0" err="1">
                <a:solidFill>
                  <a:schemeClr val="bg1">
                    <a:lumMod val="50000"/>
                  </a:schemeClr>
                </a:solidFill>
                <a:latin typeface="JetBrains Mono Light" panose="02000009000000000000" pitchFamily="49" charset="0"/>
                <a:cs typeface="JetBrains Mono Light" panose="02000009000000000000" pitchFamily="49" charset="0"/>
              </a:rPr>
              <a:t>và</a:t>
            </a:r>
            <a:r>
              <a:rPr lang="en-US" sz="1800" i="1" dirty="0">
                <a:solidFill>
                  <a:schemeClr val="bg1">
                    <a:lumMod val="50000"/>
                  </a:schemeClr>
                </a:solidFill>
                <a:latin typeface="JetBrains Mono Light" panose="02000009000000000000" pitchFamily="49" charset="0"/>
                <a:cs typeface="JetBrains Mono Light" panose="02000009000000000000" pitchFamily="49" charset="0"/>
              </a:rPr>
              <a:t> </a:t>
            </a:r>
            <a:r>
              <a:rPr lang="en-US" sz="1800" i="1" dirty="0" err="1">
                <a:solidFill>
                  <a:schemeClr val="bg1">
                    <a:lumMod val="50000"/>
                  </a:schemeClr>
                </a:solidFill>
                <a:latin typeface="JetBrains Mono Light" panose="02000009000000000000" pitchFamily="49" charset="0"/>
                <a:cs typeface="JetBrains Mono Light" panose="02000009000000000000" pitchFamily="49" charset="0"/>
              </a:rPr>
              <a:t>ui</a:t>
            </a:r>
            <a:r>
              <a:rPr lang="en-US" sz="1800" i="1" dirty="0">
                <a:solidFill>
                  <a:schemeClr val="bg1">
                    <a:lumMod val="50000"/>
                  </a:schemeClr>
                </a:solidFill>
                <a:latin typeface="JetBrains Mono Light" panose="02000009000000000000" pitchFamily="49" charset="0"/>
                <a:cs typeface="JetBrains Mono Light" panose="02000009000000000000" pitchFamily="49" charset="0"/>
              </a:rPr>
              <a:t> </a:t>
            </a:r>
            <a:r>
              <a:rPr lang="en-US" sz="1800" i="1" dirty="0" err="1">
                <a:solidFill>
                  <a:schemeClr val="bg1">
                    <a:lumMod val="50000"/>
                  </a:schemeClr>
                </a:solidFill>
                <a:latin typeface="JetBrains Mono Light" panose="02000009000000000000" pitchFamily="49" charset="0"/>
                <a:cs typeface="JetBrains Mono Light" panose="02000009000000000000" pitchFamily="49" charset="0"/>
              </a:rPr>
              <a:t>là</a:t>
            </a:r>
            <a:r>
              <a:rPr lang="en-US" sz="1800" i="1" dirty="0">
                <a:solidFill>
                  <a:schemeClr val="bg1">
                    <a:lumMod val="50000"/>
                  </a:schemeClr>
                </a:solidFill>
                <a:latin typeface="JetBrains Mono Light" panose="02000009000000000000" pitchFamily="49" charset="0"/>
                <a:cs typeface="JetBrains Mono Light" panose="02000009000000000000" pitchFamily="49" charset="0"/>
              </a:rPr>
              <a:t> </a:t>
            </a:r>
            <a:r>
              <a:rPr lang="en-US" sz="1800" i="1" dirty="0" err="1">
                <a:solidFill>
                  <a:schemeClr val="bg1">
                    <a:lumMod val="50000"/>
                  </a:schemeClr>
                </a:solidFill>
                <a:latin typeface="JetBrains Mono Light" panose="02000009000000000000" pitchFamily="49" charset="0"/>
                <a:cs typeface="JetBrains Mono Light" panose="02000009000000000000" pitchFamily="49" charset="0"/>
              </a:rPr>
              <a:t>cạnh</a:t>
            </a:r>
            <a:r>
              <a:rPr lang="en-US" sz="1800" i="1" dirty="0">
                <a:solidFill>
                  <a:schemeClr val="bg1">
                    <a:lumMod val="50000"/>
                  </a:schemeClr>
                </a:solidFill>
                <a:latin typeface="JetBrains Mono Light" panose="02000009000000000000" pitchFamily="49" charset="0"/>
                <a:cs typeface="JetBrains Mono Light" panose="02000009000000000000" pitchFamily="49" charset="0"/>
              </a:rPr>
              <a:t>)</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endParaRPr lang="en-US" sz="1800" i="1"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31" name="TextBox 30">
            <a:extLst>
              <a:ext uri="{FF2B5EF4-FFF2-40B4-BE49-F238E27FC236}">
                <a16:creationId xmlns:a16="http://schemas.microsoft.com/office/drawing/2014/main" id="{DAE0BB8F-241E-4236-978B-F56369F008CC}"/>
              </a:ext>
            </a:extLst>
          </p:cNvPr>
          <p:cNvSpPr txBox="1"/>
          <p:nvPr/>
        </p:nvSpPr>
        <p:spPr>
          <a:xfrm>
            <a:off x="1322645" y="3060842"/>
            <a:ext cx="9614446" cy="646331"/>
          </a:xfrm>
          <a:prstGeom prst="rect">
            <a:avLst/>
          </a:prstGeom>
          <a:noFill/>
          <a:ln>
            <a:noFill/>
          </a:ln>
        </p:spPr>
        <p:txBody>
          <a:bodyPr wrap="square" rtlCol="0">
            <a:spAutoFit/>
          </a:bodyPr>
          <a:lstStyle/>
          <a:p>
            <a:pPr marL="285750" indent="-285750">
              <a:buFont typeface="Arial" panose="020B0604020202020204" pitchFamily="34" charset="0"/>
              <a:buChar char="•"/>
            </a:pPr>
            <a:r>
              <a:rPr lang="en-US" dirty="0" err="1">
                <a:solidFill>
                  <a:schemeClr val="bg1">
                    <a:lumMod val="85000"/>
                  </a:schemeClr>
                </a:solidFill>
                <a:latin typeface="JetBrains Mono Light" panose="02000009000000000000" pitchFamily="49" charset="0"/>
                <a:cs typeface="JetBrains Mono Light" panose="02000009000000000000" pitchFamily="49" charset="0"/>
              </a:rPr>
              <a:t>T</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rong</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đồ</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thị</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thỏa</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mãn</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điều</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kiện</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u</a:t>
            </a:r>
            <a:r>
              <a:rPr lang="en-US" sz="1800" baseline="-25000" dirty="0" err="1">
                <a:solidFill>
                  <a:schemeClr val="bg1">
                    <a:lumMod val="85000"/>
                  </a:schemeClr>
                </a:solidFill>
                <a:latin typeface="JetBrains Mono Light" panose="02000009000000000000" pitchFamily="49" charset="0"/>
                <a:cs typeface="JetBrains Mono Light" panose="02000009000000000000" pitchFamily="49" charset="0"/>
              </a:rPr>
              <a:t>i</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liên</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kết</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với</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cặp</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đỉnh</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(x</a:t>
            </a:r>
            <a:r>
              <a:rPr lang="en-US" sz="1800" baseline="-25000" dirty="0">
                <a:solidFill>
                  <a:schemeClr val="bg1">
                    <a:lumMod val="85000"/>
                  </a:schemeClr>
                </a:solidFill>
                <a:latin typeface="JetBrains Mono Light" panose="02000009000000000000" pitchFamily="49" charset="0"/>
                <a:cs typeface="JetBrains Mono Light" panose="02000009000000000000" pitchFamily="49" charset="0"/>
              </a:rPr>
              <a:t>i</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x</a:t>
            </a:r>
            <a:r>
              <a:rPr lang="en-US" sz="1800" baseline="-25000" dirty="0">
                <a:solidFill>
                  <a:schemeClr val="bg1">
                    <a:lumMod val="85000"/>
                  </a:schemeClr>
                </a:solidFill>
                <a:latin typeface="JetBrains Mono Light" panose="02000009000000000000" pitchFamily="49" charset="0"/>
                <a:cs typeface="JetBrains Mono Light" panose="02000009000000000000" pitchFamily="49" charset="0"/>
              </a:rPr>
              <a:t>i+1</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nghĩa</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là</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a:t>
            </a:r>
          </a:p>
        </p:txBody>
      </p:sp>
      <p:sp>
        <p:nvSpPr>
          <p:cNvPr id="32" name="TextBox 31">
            <a:extLst>
              <a:ext uri="{FF2B5EF4-FFF2-40B4-BE49-F238E27FC236}">
                <a16:creationId xmlns:a16="http://schemas.microsoft.com/office/drawing/2014/main" id="{A57F77C9-040F-4A6F-AAFD-18B3A14D2222}"/>
              </a:ext>
            </a:extLst>
          </p:cNvPr>
          <p:cNvSpPr txBox="1"/>
          <p:nvPr/>
        </p:nvSpPr>
        <p:spPr>
          <a:xfrm>
            <a:off x="2019529" y="3744837"/>
            <a:ext cx="5204628" cy="369332"/>
          </a:xfrm>
          <a:prstGeom prst="rect">
            <a:avLst/>
          </a:prstGeom>
          <a:noFill/>
          <a:ln>
            <a:noFill/>
          </a:ln>
        </p:spPr>
        <p:txBody>
          <a:bodyPr wrap="square" rtlCol="0">
            <a:spAutoFit/>
          </a:bodyPr>
          <a:lstStyle/>
          <a:p>
            <a:r>
              <a:rPr lang="en-US" sz="1800" dirty="0">
                <a:solidFill>
                  <a:schemeClr val="bg1">
                    <a:lumMod val="85000"/>
                  </a:schemeClr>
                </a:solidFill>
                <a:latin typeface="JetBrains Mono Regular"/>
              </a:rPr>
              <a:t>+ </a:t>
            </a:r>
            <a:r>
              <a:rPr lang="en-US" sz="1800" dirty="0" err="1">
                <a:solidFill>
                  <a:schemeClr val="bg1">
                    <a:lumMod val="85000"/>
                  </a:schemeClr>
                </a:solidFill>
                <a:latin typeface="JetBrains Mono Regular"/>
              </a:rPr>
              <a:t>u</a:t>
            </a:r>
            <a:r>
              <a:rPr lang="en-US" sz="1800" baseline="-25000" dirty="0" err="1">
                <a:solidFill>
                  <a:schemeClr val="bg1">
                    <a:lumMod val="85000"/>
                  </a:schemeClr>
                </a:solidFill>
                <a:latin typeface="JetBrains Mono Regular"/>
              </a:rPr>
              <a:t>i</a:t>
            </a:r>
            <a:r>
              <a:rPr lang="en-US" sz="1800" baseline="-25000" dirty="0">
                <a:solidFill>
                  <a:schemeClr val="bg1">
                    <a:lumMod val="85000"/>
                  </a:schemeClr>
                </a:solidFill>
                <a:latin typeface="JetBrains Mono Regular"/>
              </a:rPr>
              <a:t> </a:t>
            </a:r>
            <a:r>
              <a:rPr lang="en-US" sz="1800" dirty="0">
                <a:solidFill>
                  <a:schemeClr val="bg1">
                    <a:lumMod val="85000"/>
                  </a:schemeClr>
                </a:solidFill>
                <a:latin typeface="JetBrains Mono Regular"/>
              </a:rPr>
              <a:t>= (x</a:t>
            </a:r>
            <a:r>
              <a:rPr lang="en-US" sz="1800" baseline="-25000" dirty="0">
                <a:solidFill>
                  <a:schemeClr val="bg1">
                    <a:lumMod val="85000"/>
                  </a:schemeClr>
                </a:solidFill>
                <a:latin typeface="JetBrains Mono Regular"/>
              </a:rPr>
              <a:t>i</a:t>
            </a:r>
            <a:r>
              <a:rPr lang="en-US" sz="1800" dirty="0">
                <a:solidFill>
                  <a:schemeClr val="bg1">
                    <a:lumMod val="85000"/>
                  </a:schemeClr>
                </a:solidFill>
                <a:latin typeface="JetBrains Mono Regular"/>
              </a:rPr>
              <a:t>, x</a:t>
            </a:r>
            <a:r>
              <a:rPr lang="en-US" sz="1800" baseline="-25000" dirty="0">
                <a:solidFill>
                  <a:schemeClr val="bg1">
                    <a:lumMod val="85000"/>
                  </a:schemeClr>
                </a:solidFill>
                <a:latin typeface="JetBrains Mono Regular"/>
              </a:rPr>
              <a:t>i+1</a:t>
            </a:r>
            <a:r>
              <a:rPr lang="en-US" sz="1800" dirty="0">
                <a:solidFill>
                  <a:schemeClr val="bg1">
                    <a:lumMod val="85000"/>
                  </a:schemeClr>
                </a:solidFill>
                <a:latin typeface="JetBrains Mono Regular"/>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nếu</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đồ</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thị</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Regular"/>
              </a:rPr>
              <a:t>có</a:t>
            </a:r>
            <a:r>
              <a:rPr lang="en-US" sz="1800" dirty="0">
                <a:solidFill>
                  <a:schemeClr val="bg1">
                    <a:lumMod val="85000"/>
                  </a:schemeClr>
                </a:solidFill>
                <a:latin typeface="JetBrains Mono Regular"/>
              </a:rPr>
              <a:t> </a:t>
            </a:r>
            <a:r>
              <a:rPr lang="en-US" sz="1800" dirty="0" err="1">
                <a:solidFill>
                  <a:schemeClr val="bg1">
                    <a:lumMod val="85000"/>
                  </a:schemeClr>
                </a:solidFill>
                <a:latin typeface="JetBrains Mono Regular"/>
              </a:rPr>
              <a:t>hướng</a:t>
            </a:r>
            <a:r>
              <a:rPr lang="en-US" sz="1800" dirty="0">
                <a:solidFill>
                  <a:schemeClr val="bg1">
                    <a:lumMod val="85000"/>
                  </a:schemeClr>
                </a:solidFill>
                <a:latin typeface="JetBrains Mono Regular"/>
              </a:rPr>
              <a:t>.</a:t>
            </a:r>
            <a:endParaRPr lang="en-US" sz="1800" dirty="0">
              <a:solidFill>
                <a:schemeClr val="bg1">
                  <a:lumMod val="85000"/>
                </a:schemeClr>
              </a:solidFill>
              <a:latin typeface="JetBrains Mono Light" panose="02000009000000000000" pitchFamily="49" charset="0"/>
              <a:cs typeface="JetBrains Mono Light" panose="02000009000000000000" pitchFamily="49" charset="0"/>
            </a:endParaRPr>
          </a:p>
        </p:txBody>
      </p:sp>
      <p:sp>
        <p:nvSpPr>
          <p:cNvPr id="33" name="TextBox 32">
            <a:extLst>
              <a:ext uri="{FF2B5EF4-FFF2-40B4-BE49-F238E27FC236}">
                <a16:creationId xmlns:a16="http://schemas.microsoft.com/office/drawing/2014/main" id="{8388B54A-618D-483B-AD35-2CB53E9E0D8F}"/>
              </a:ext>
            </a:extLst>
          </p:cNvPr>
          <p:cNvSpPr txBox="1"/>
          <p:nvPr/>
        </p:nvSpPr>
        <p:spPr>
          <a:xfrm>
            <a:off x="2019529" y="4173528"/>
            <a:ext cx="5204628" cy="369332"/>
          </a:xfrm>
          <a:prstGeom prst="rect">
            <a:avLst/>
          </a:prstGeom>
          <a:noFill/>
          <a:ln>
            <a:noFill/>
          </a:ln>
        </p:spPr>
        <p:txBody>
          <a:bodyPr wrap="square" rtlCol="0">
            <a:spAutoFit/>
          </a:bodyPr>
          <a:lstStyle/>
          <a:p>
            <a:r>
              <a:rPr lang="en-US" sz="1800" dirty="0">
                <a:solidFill>
                  <a:schemeClr val="bg1">
                    <a:lumMod val="85000"/>
                  </a:schemeClr>
                </a:solidFill>
                <a:latin typeface="JetBrains Mono Regular"/>
              </a:rPr>
              <a:t>+ </a:t>
            </a:r>
            <a:r>
              <a:rPr lang="en-US" sz="1800" dirty="0" err="1">
                <a:solidFill>
                  <a:schemeClr val="bg1">
                    <a:lumMod val="85000"/>
                  </a:schemeClr>
                </a:solidFill>
                <a:latin typeface="JetBrains Mono Regular"/>
              </a:rPr>
              <a:t>u</a:t>
            </a:r>
            <a:r>
              <a:rPr lang="en-US" sz="1800" baseline="-25000" dirty="0" err="1">
                <a:solidFill>
                  <a:schemeClr val="bg1">
                    <a:lumMod val="85000"/>
                  </a:schemeClr>
                </a:solidFill>
                <a:latin typeface="JetBrains Mono Regular"/>
              </a:rPr>
              <a:t>i</a:t>
            </a:r>
            <a:r>
              <a:rPr lang="en-US" sz="1800" baseline="-25000" dirty="0">
                <a:solidFill>
                  <a:schemeClr val="bg1">
                    <a:lumMod val="85000"/>
                  </a:schemeClr>
                </a:solidFill>
                <a:latin typeface="JetBrains Mono Regular"/>
              </a:rPr>
              <a:t> </a:t>
            </a:r>
            <a:r>
              <a:rPr lang="en-US" sz="1800" dirty="0">
                <a:solidFill>
                  <a:schemeClr val="bg1">
                    <a:lumMod val="85000"/>
                  </a:schemeClr>
                </a:solidFill>
                <a:latin typeface="JetBrains Mono Regular"/>
              </a:rPr>
              <a:t>= </a:t>
            </a:r>
            <a:r>
              <a:rPr lang="en-US" dirty="0">
                <a:solidFill>
                  <a:schemeClr val="bg1">
                    <a:lumMod val="85000"/>
                  </a:schemeClr>
                </a:solidFill>
                <a:latin typeface="JetBrains Mono Regular"/>
              </a:rPr>
              <a:t>{</a:t>
            </a:r>
            <a:r>
              <a:rPr lang="en-US" sz="1800" dirty="0">
                <a:solidFill>
                  <a:schemeClr val="bg1">
                    <a:lumMod val="85000"/>
                  </a:schemeClr>
                </a:solidFill>
                <a:latin typeface="JetBrains Mono Regular"/>
              </a:rPr>
              <a:t>x</a:t>
            </a:r>
            <a:r>
              <a:rPr lang="en-US" sz="1800" baseline="-25000" dirty="0">
                <a:solidFill>
                  <a:schemeClr val="bg1">
                    <a:lumMod val="85000"/>
                  </a:schemeClr>
                </a:solidFill>
                <a:latin typeface="JetBrains Mono Regular"/>
              </a:rPr>
              <a:t>i</a:t>
            </a:r>
            <a:r>
              <a:rPr lang="en-US" sz="1800" dirty="0">
                <a:solidFill>
                  <a:schemeClr val="bg1">
                    <a:lumMod val="85000"/>
                  </a:schemeClr>
                </a:solidFill>
                <a:latin typeface="JetBrains Mono Regular"/>
              </a:rPr>
              <a:t>, x</a:t>
            </a:r>
            <a:r>
              <a:rPr lang="en-US" sz="1800" baseline="-25000" dirty="0">
                <a:solidFill>
                  <a:schemeClr val="bg1">
                    <a:lumMod val="85000"/>
                  </a:schemeClr>
                </a:solidFill>
                <a:latin typeface="JetBrains Mono Regular"/>
              </a:rPr>
              <a:t>i+1</a:t>
            </a:r>
            <a:r>
              <a:rPr lang="en-US" sz="1800" dirty="0">
                <a:solidFill>
                  <a:schemeClr val="bg1">
                    <a:lumMod val="85000"/>
                  </a:schemeClr>
                </a:solidFill>
                <a:latin typeface="JetBrains Mono Regular"/>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nếu</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đồ</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thị</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Regular"/>
              </a:rPr>
              <a:t>vô</a:t>
            </a:r>
            <a:r>
              <a:rPr lang="en-US" sz="1800" dirty="0">
                <a:solidFill>
                  <a:schemeClr val="bg1">
                    <a:lumMod val="85000"/>
                  </a:schemeClr>
                </a:solidFill>
                <a:latin typeface="JetBrains Mono Regular"/>
              </a:rPr>
              <a:t> </a:t>
            </a:r>
            <a:r>
              <a:rPr lang="en-US" sz="1800" dirty="0" err="1">
                <a:solidFill>
                  <a:schemeClr val="bg1">
                    <a:lumMod val="85000"/>
                  </a:schemeClr>
                </a:solidFill>
                <a:latin typeface="JetBrains Mono Regular"/>
              </a:rPr>
              <a:t>hướng</a:t>
            </a:r>
            <a:r>
              <a:rPr lang="en-US" sz="1800" dirty="0">
                <a:solidFill>
                  <a:schemeClr val="bg1">
                    <a:lumMod val="85000"/>
                  </a:schemeClr>
                </a:solidFill>
                <a:latin typeface="JetBrains Mono Regular"/>
              </a:rPr>
              <a:t>.</a:t>
            </a:r>
            <a:endParaRPr lang="en-US" sz="1800" dirty="0">
              <a:solidFill>
                <a:schemeClr val="bg1">
                  <a:lumMod val="85000"/>
                </a:schemeClr>
              </a:solidFill>
              <a:latin typeface="JetBrains Mono Light" panose="02000009000000000000" pitchFamily="49" charset="0"/>
              <a:cs typeface="JetBrains Mono Light" panose="02000009000000000000" pitchFamily="49" charset="0"/>
            </a:endParaRPr>
          </a:p>
        </p:txBody>
      </p:sp>
      <p:sp>
        <p:nvSpPr>
          <p:cNvPr id="34" name="TextBox 33">
            <a:extLst>
              <a:ext uri="{FF2B5EF4-FFF2-40B4-BE49-F238E27FC236}">
                <a16:creationId xmlns:a16="http://schemas.microsoft.com/office/drawing/2014/main" id="{E194BF2B-AC26-44C6-AF08-26A9F44560F5}"/>
              </a:ext>
            </a:extLst>
          </p:cNvPr>
          <p:cNvSpPr txBox="1"/>
          <p:nvPr/>
        </p:nvSpPr>
        <p:spPr>
          <a:xfrm>
            <a:off x="1334368" y="4951152"/>
            <a:ext cx="8471352" cy="369332"/>
          </a:xfrm>
          <a:prstGeom prst="rect">
            <a:avLst/>
          </a:prstGeom>
          <a:noFill/>
          <a:ln>
            <a:solidFill>
              <a:schemeClr val="bg1">
                <a:lumMod val="50000"/>
              </a:schemeClr>
            </a:solidFill>
          </a:ln>
        </p:spPr>
        <p:txBody>
          <a:bodyPr wrap="square" rtlCol="0">
            <a:spAutoFit/>
          </a:bodyPr>
          <a:lstStyle/>
          <a:p>
            <a:pPr lvl="0"/>
            <a:r>
              <a:rPr lang="en-US" sz="1800" dirty="0">
                <a:solidFill>
                  <a:schemeClr val="bg1">
                    <a:lumMod val="85000"/>
                  </a:schemeClr>
                </a:solidFill>
                <a:latin typeface="JetBrains Mono Light" panose="02000009000000000000" pitchFamily="49" charset="0"/>
                <a:cs typeface="JetBrains Mono Light" panose="02000009000000000000" pitchFamily="49" charset="0"/>
              </a:rPr>
              <a:t>Khi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đó</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ta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gọi</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x</a:t>
            </a:r>
            <a:r>
              <a:rPr lang="en-US" sz="1800" baseline="-25000" dirty="0">
                <a:solidFill>
                  <a:schemeClr val="bg1">
                    <a:lumMod val="85000"/>
                  </a:schemeClr>
                </a:solidFill>
                <a:latin typeface="JetBrains Mono Light" panose="02000009000000000000" pitchFamily="49" charset="0"/>
                <a:cs typeface="JetBrains Mono Light" panose="02000009000000000000" pitchFamily="49" charset="0"/>
              </a:rPr>
              <a:t>1</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là</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Regular" panose="02000009000000000000" pitchFamily="49" charset="0"/>
                <a:cs typeface="JetBrains Mono Regular" panose="02000009000000000000" pitchFamily="49" charset="0"/>
              </a:rPr>
              <a:t>đỉnh</a:t>
            </a:r>
            <a:r>
              <a:rPr lang="en-US" sz="1800" dirty="0">
                <a:solidFill>
                  <a:schemeClr val="bg1">
                    <a:lumMod val="85000"/>
                  </a:schemeClr>
                </a:solidFill>
                <a:latin typeface="JetBrains Mono Regular" panose="02000009000000000000" pitchFamily="49" charset="0"/>
                <a:cs typeface="JetBrains Mono Regular" panose="02000009000000000000" pitchFamily="49" charset="0"/>
              </a:rPr>
              <a:t> </a:t>
            </a:r>
            <a:r>
              <a:rPr lang="en-US" sz="1800" dirty="0" err="1">
                <a:solidFill>
                  <a:schemeClr val="bg1">
                    <a:lumMod val="85000"/>
                  </a:schemeClr>
                </a:solidFill>
                <a:latin typeface="JetBrains Mono Regular" panose="02000009000000000000" pitchFamily="49" charset="0"/>
                <a:cs typeface="JetBrains Mono Regular" panose="02000009000000000000" pitchFamily="49" charset="0"/>
              </a:rPr>
              <a:t>đầu</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và</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x</a:t>
            </a:r>
            <a:r>
              <a:rPr lang="en-US" sz="1800" baseline="-25000" dirty="0" err="1">
                <a:solidFill>
                  <a:schemeClr val="bg1">
                    <a:lumMod val="85000"/>
                  </a:schemeClr>
                </a:solidFill>
                <a:latin typeface="JetBrains Mono Light" panose="02000009000000000000" pitchFamily="49" charset="0"/>
                <a:cs typeface="JetBrains Mono Light" panose="02000009000000000000" pitchFamily="49" charset="0"/>
              </a:rPr>
              <a:t>m</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là</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Regular" panose="02000009000000000000" pitchFamily="49" charset="0"/>
                <a:cs typeface="JetBrains Mono Regular" panose="02000009000000000000" pitchFamily="49" charset="0"/>
              </a:rPr>
              <a:t>đỉnh</a:t>
            </a:r>
            <a:r>
              <a:rPr lang="en-US" sz="1800" dirty="0">
                <a:solidFill>
                  <a:schemeClr val="bg1">
                    <a:lumMod val="85000"/>
                  </a:schemeClr>
                </a:solidFill>
                <a:latin typeface="JetBrains Mono Regular" panose="02000009000000000000" pitchFamily="49" charset="0"/>
                <a:cs typeface="JetBrains Mono Regular" panose="02000009000000000000" pitchFamily="49" charset="0"/>
              </a:rPr>
              <a:t> </a:t>
            </a:r>
            <a:r>
              <a:rPr lang="en-US" sz="1800" dirty="0" err="1">
                <a:solidFill>
                  <a:schemeClr val="bg1">
                    <a:lumMod val="85000"/>
                  </a:schemeClr>
                </a:solidFill>
                <a:latin typeface="JetBrains Mono Regular" panose="02000009000000000000" pitchFamily="49" charset="0"/>
                <a:cs typeface="JetBrains Mono Regular" panose="02000009000000000000" pitchFamily="49" charset="0"/>
              </a:rPr>
              <a:t>cuối</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của</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đường</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đi</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a:t>
            </a:r>
          </a:p>
        </p:txBody>
      </p:sp>
    </p:spTree>
    <p:extLst>
      <p:ext uri="{BB962C8B-B14F-4D97-AF65-F5344CB8AC3E}">
        <p14:creationId xmlns:p14="http://schemas.microsoft.com/office/powerpoint/2010/main" val="5202618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fade">
                                      <p:cBhvr>
                                        <p:cTn id="26" dur="500"/>
                                        <p:tgtEl>
                                          <p:spTgt spid="31"/>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fade">
                                      <p:cBhvr>
                                        <p:cTn id="30" dur="500"/>
                                        <p:tgtEl>
                                          <p:spTgt spid="32"/>
                                        </p:tgtEl>
                                      </p:cBhvr>
                                    </p:animEffect>
                                  </p:childTnLst>
                                </p:cTn>
                              </p:par>
                            </p:childTnLst>
                          </p:cTn>
                        </p:par>
                        <p:par>
                          <p:cTn id="31" fill="hold">
                            <p:stCondLst>
                              <p:cond delay="1000"/>
                            </p:stCondLst>
                            <p:childTnLst>
                              <p:par>
                                <p:cTn id="32" presetID="10" presetClass="entr" presetSubtype="0" fill="hold" grpId="0" nodeType="after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500"/>
                                        <p:tgtEl>
                                          <p:spTgt spid="3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4" grpId="0"/>
      <p:bldP spid="29" grpId="0"/>
      <p:bldP spid="30" grpId="0"/>
      <p:bldP spid="31" grpId="0"/>
      <p:bldP spid="32" grpId="0"/>
      <p:bldP spid="33" grpId="0"/>
      <p:bldP spid="3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ADCB1D2-71BF-4442-85AC-20706F44BBA0}"/>
              </a:ext>
            </a:extLst>
          </p:cNvPr>
          <p:cNvSpPr/>
          <p:nvPr/>
        </p:nvSpPr>
        <p:spPr>
          <a:xfrm>
            <a:off x="0" y="-2556"/>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21" name="Credit MAIN">
            <a:extLst>
              <a:ext uri="{FF2B5EF4-FFF2-40B4-BE49-F238E27FC236}">
                <a16:creationId xmlns:a16="http://schemas.microsoft.com/office/drawing/2014/main" id="{A5F845F1-9489-426E-B1D3-2CCF2A9E61E3}"/>
              </a:ext>
            </a:extLst>
          </p:cNvPr>
          <p:cNvSpPr txBox="1"/>
          <p:nvPr/>
        </p:nvSpPr>
        <p:spPr>
          <a:xfrm>
            <a:off x="50878" y="6420549"/>
            <a:ext cx="2668876" cy="369332"/>
          </a:xfrm>
          <a:prstGeom prst="rect">
            <a:avLst/>
          </a:prstGeom>
          <a:noFill/>
        </p:spPr>
        <p:txBody>
          <a:bodyPr wrap="square" rtlCol="0">
            <a:spAutoFit/>
          </a:bodyPr>
          <a:lstStyle/>
          <a:p>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Phạm </a:t>
            </a:r>
            <a:r>
              <a:rPr lang="en-US"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H</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oàng</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Phong</a:t>
            </a:r>
            <a:endParaRPr lang="en-US" dirty="0">
              <a:solidFill>
                <a:schemeClr val="bg1">
                  <a:lumMod val="95000"/>
                  <a:alpha val="46000"/>
                </a:schemeClr>
              </a:solidFill>
            </a:endParaRPr>
          </a:p>
        </p:txBody>
      </p:sp>
      <p:sp>
        <p:nvSpPr>
          <p:cNvPr id="11" name="Header">
            <a:extLst>
              <a:ext uri="{FF2B5EF4-FFF2-40B4-BE49-F238E27FC236}">
                <a16:creationId xmlns:a16="http://schemas.microsoft.com/office/drawing/2014/main" id="{6A39F230-06D2-4140-8DA2-357C0B9B6D12}"/>
              </a:ext>
            </a:extLst>
          </p:cNvPr>
          <p:cNvSpPr txBox="1"/>
          <p:nvPr/>
        </p:nvSpPr>
        <p:spPr>
          <a:xfrm>
            <a:off x="50878" y="68119"/>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7" name="Footer: Part">
            <a:extLst>
              <a:ext uri="{FF2B5EF4-FFF2-40B4-BE49-F238E27FC236}">
                <a16:creationId xmlns:a16="http://schemas.microsoft.com/office/drawing/2014/main" id="{553347E6-1341-4BA1-A396-FC4741F3FAF1}"/>
              </a:ext>
            </a:extLst>
          </p:cNvPr>
          <p:cNvSpPr txBox="1"/>
          <p:nvPr/>
        </p:nvSpPr>
        <p:spPr>
          <a:xfrm>
            <a:off x="10829923" y="6413178"/>
            <a:ext cx="1289979" cy="369332"/>
          </a:xfrm>
          <a:prstGeom prst="rect">
            <a:avLst/>
          </a:prstGeom>
          <a:noFill/>
        </p:spPr>
        <p:txBody>
          <a:bodyPr wrap="square" rtlCol="0">
            <a:spAutoFit/>
          </a:bodyPr>
          <a:lstStyle/>
          <a:p>
            <a:pPr algn="r"/>
            <a:r>
              <a:rPr lang="en-US" dirty="0" err="1">
                <a:solidFill>
                  <a:schemeClr val="bg1">
                    <a:lumMod val="95000"/>
                  </a:schemeClr>
                </a:solidFill>
                <a:latin typeface="JetBrains Mono" panose="02000009000000000000" pitchFamily="49" charset="0"/>
                <a:cs typeface="JetBrains Mono" panose="02000009000000000000" pitchFamily="49" charset="0"/>
              </a:rPr>
              <a:t>Bài</a:t>
            </a:r>
            <a:r>
              <a:rPr lang="en-US" dirty="0">
                <a:solidFill>
                  <a:schemeClr val="bg1">
                    <a:lumMod val="95000"/>
                  </a:schemeClr>
                </a:solidFill>
                <a:latin typeface="JetBrains Mono" panose="02000009000000000000" pitchFamily="49" charset="0"/>
                <a:cs typeface="JetBrains Mono" panose="02000009000000000000" pitchFamily="49" charset="0"/>
              </a:rPr>
              <a:t> </a:t>
            </a:r>
            <a:r>
              <a:rPr lang="en-US" dirty="0" err="1">
                <a:solidFill>
                  <a:schemeClr val="bg1">
                    <a:lumMod val="95000"/>
                  </a:schemeClr>
                </a:solidFill>
                <a:latin typeface="JetBrains Mono" panose="02000009000000000000" pitchFamily="49" charset="0"/>
                <a:cs typeface="JetBrains Mono" panose="02000009000000000000" pitchFamily="49" charset="0"/>
              </a:rPr>
              <a:t>toán</a:t>
            </a:r>
            <a:endParaRPr lang="en-US" dirty="0">
              <a:solidFill>
                <a:schemeClr val="bg1">
                  <a:lumMod val="95000"/>
                </a:schemeClr>
              </a:solidFill>
              <a:latin typeface="JetBrains Mono" panose="02000009000000000000" pitchFamily="49" charset="0"/>
              <a:cs typeface="JetBrains Mono" panose="02000009000000000000" pitchFamily="49" charset="0"/>
            </a:endParaRPr>
          </a:p>
        </p:txBody>
      </p:sp>
      <p:sp>
        <p:nvSpPr>
          <p:cNvPr id="19" name="Footer: Title">
            <a:extLst>
              <a:ext uri="{FF2B5EF4-FFF2-40B4-BE49-F238E27FC236}">
                <a16:creationId xmlns:a16="http://schemas.microsoft.com/office/drawing/2014/main" id="{FD144244-98B6-4C54-A114-16CD65E0D522}"/>
              </a:ext>
            </a:extLst>
          </p:cNvPr>
          <p:cNvSpPr txBox="1"/>
          <p:nvPr/>
        </p:nvSpPr>
        <p:spPr>
          <a:xfrm>
            <a:off x="9777072" y="6414047"/>
            <a:ext cx="1160019"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Light" panose="02000009000000000000" pitchFamily="49" charset="0"/>
                <a:cs typeface="JetBrains Mono Light" panose="02000009000000000000" pitchFamily="49" charset="0"/>
              </a:rPr>
              <a:t>:</a:t>
            </a:r>
          </a:p>
        </p:txBody>
      </p:sp>
      <p:sp>
        <p:nvSpPr>
          <p:cNvPr id="25" name="PAGE NUM 0">
            <a:extLst>
              <a:ext uri="{FF2B5EF4-FFF2-40B4-BE49-F238E27FC236}">
                <a16:creationId xmlns:a16="http://schemas.microsoft.com/office/drawing/2014/main" id="{CA8E8643-0820-44FC-9D06-02F2A0A63536}"/>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2</a:t>
            </a:r>
          </a:p>
        </p:txBody>
      </p:sp>
      <p:sp>
        <p:nvSpPr>
          <p:cNvPr id="26" name="PAGE NUM 1">
            <a:extLst>
              <a:ext uri="{FF2B5EF4-FFF2-40B4-BE49-F238E27FC236}">
                <a16:creationId xmlns:a16="http://schemas.microsoft.com/office/drawing/2014/main" id="{6BF8CF33-13C7-458E-A4F5-0A19700195D0}"/>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3</a:t>
            </a:r>
            <a:endParaRPr lang="en-US" dirty="0"/>
          </a:p>
        </p:txBody>
      </p:sp>
      <p:sp>
        <p:nvSpPr>
          <p:cNvPr id="4" name="Rectangle 3">
            <a:extLst>
              <a:ext uri="{FF2B5EF4-FFF2-40B4-BE49-F238E27FC236}">
                <a16:creationId xmlns:a16="http://schemas.microsoft.com/office/drawing/2014/main" id="{CB38D6F8-B45F-44CF-A0B3-4EECDAC74C1C}"/>
              </a:ext>
            </a:extLst>
          </p:cNvPr>
          <p:cNvSpPr/>
          <p:nvPr/>
        </p:nvSpPr>
        <p:spPr>
          <a:xfrm>
            <a:off x="591458" y="591772"/>
            <a:ext cx="3265434"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3252814-A59F-4DD2-85FD-AF3B5B3FB847}"/>
              </a:ext>
            </a:extLst>
          </p:cNvPr>
          <p:cNvSpPr txBox="1"/>
          <p:nvPr/>
        </p:nvSpPr>
        <p:spPr>
          <a:xfrm>
            <a:off x="603364" y="591246"/>
            <a:ext cx="1987436" cy="369332"/>
          </a:xfrm>
          <a:prstGeom prst="rect">
            <a:avLst/>
          </a:prstGeom>
          <a:noFill/>
        </p:spPr>
        <p:txBody>
          <a:bodyPr wrap="square" rtlCol="0">
            <a:spAutoFit/>
          </a:bodyPr>
          <a:lstStyle/>
          <a:p>
            <a:r>
              <a:rPr lang="en-US" dirty="0" err="1">
                <a:latin typeface="JetBrains Mono" panose="02000009000000000000" pitchFamily="49" charset="0"/>
                <a:cs typeface="JetBrains Mono" panose="02000009000000000000" pitchFamily="49" charset="0"/>
              </a:rPr>
              <a:t>Tìm</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đường</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đi</a:t>
            </a:r>
            <a:endParaRPr lang="en-US" dirty="0">
              <a:latin typeface="JetBrains Mono" panose="02000009000000000000" pitchFamily="49" charset="0"/>
              <a:cs typeface="JetBrains Mono" panose="02000009000000000000" pitchFamily="49" charset="0"/>
            </a:endParaRPr>
          </a:p>
        </p:txBody>
      </p:sp>
      <p:sp>
        <p:nvSpPr>
          <p:cNvPr id="12" name="TextBox 11">
            <a:extLst>
              <a:ext uri="{FF2B5EF4-FFF2-40B4-BE49-F238E27FC236}">
                <a16:creationId xmlns:a16="http://schemas.microsoft.com/office/drawing/2014/main" id="{912DD8A3-44F4-4E77-B8A5-F7F5BD841756}"/>
              </a:ext>
            </a:extLst>
          </p:cNvPr>
          <p:cNvSpPr txBox="1"/>
          <p:nvPr/>
        </p:nvSpPr>
        <p:spPr>
          <a:xfrm>
            <a:off x="1037306" y="1120941"/>
            <a:ext cx="1553494" cy="369332"/>
          </a:xfrm>
          <a:prstGeom prst="rect">
            <a:avLst/>
          </a:prstGeom>
          <a:solidFill>
            <a:schemeClr val="bg1"/>
          </a:solidFill>
          <a:ln>
            <a:solidFill>
              <a:schemeClr val="bg1">
                <a:lumMod val="50000"/>
              </a:schemeClr>
            </a:solidFill>
          </a:ln>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Định</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nghĩa</a:t>
            </a:r>
            <a:endParaRPr lang="en-US" dirty="0">
              <a:latin typeface="JetBrains Mono Regular" panose="02000009000000000000" pitchFamily="49" charset="0"/>
              <a:cs typeface="JetBrains Mono Regular" panose="02000009000000000000" pitchFamily="49" charset="0"/>
            </a:endParaRPr>
          </a:p>
        </p:txBody>
      </p:sp>
      <p:sp>
        <p:nvSpPr>
          <p:cNvPr id="24" name="TextBox 23">
            <a:extLst>
              <a:ext uri="{FF2B5EF4-FFF2-40B4-BE49-F238E27FC236}">
                <a16:creationId xmlns:a16="http://schemas.microsoft.com/office/drawing/2014/main" id="{099810C1-243F-4AE1-9830-7AD99AC193E3}"/>
              </a:ext>
            </a:extLst>
          </p:cNvPr>
          <p:cNvSpPr txBox="1"/>
          <p:nvPr/>
        </p:nvSpPr>
        <p:spPr>
          <a:xfrm>
            <a:off x="2649415" y="1120941"/>
            <a:ext cx="3650464" cy="369332"/>
          </a:xfrm>
          <a:prstGeom prst="rect">
            <a:avLst/>
          </a:prstGeom>
          <a:noFill/>
          <a:ln>
            <a:noFill/>
          </a:ln>
        </p:spPr>
        <p:txBody>
          <a:bodyPr wrap="square" rtlCol="0">
            <a:spAutoFit/>
          </a:bodyPr>
          <a:lstStyle/>
          <a:p>
            <a:pPr marL="285750" indent="-285750">
              <a:buFont typeface="Arial" panose="020B0604020202020204" pitchFamily="34" charset="0"/>
              <a:buChar char="•"/>
            </a:pPr>
            <a:r>
              <a:rPr lang="en-US" dirty="0">
                <a:solidFill>
                  <a:schemeClr val="bg1">
                    <a:lumMod val="50000"/>
                  </a:schemeClr>
                </a:solidFill>
                <a:latin typeface="JetBrains Mono Light" panose="02000009000000000000" pitchFamily="49" charset="0"/>
                <a:cs typeface="JetBrains Mono Light" panose="02000009000000000000" pitchFamily="49" charset="0"/>
              </a:rPr>
              <a:t>Cho </a:t>
            </a:r>
            <a:r>
              <a:rPr lang="en-US" dirty="0" err="1">
                <a:solidFill>
                  <a:schemeClr val="bg1">
                    <a:lumMod val="50000"/>
                  </a:schemeClr>
                </a:solidFill>
                <a:latin typeface="JetBrains Mono Light" panose="02000009000000000000" pitchFamily="49" charset="0"/>
                <a:cs typeface="JetBrains Mono Light" panose="02000009000000000000" pitchFamily="49" charset="0"/>
              </a:rPr>
              <a:t>đồ</a:t>
            </a:r>
            <a:r>
              <a:rPr lang="en-US" dirty="0">
                <a:solidFill>
                  <a:schemeClr val="bg1">
                    <a:lumMod val="50000"/>
                  </a:schemeClr>
                </a:solidFill>
                <a:latin typeface="JetBrains Mono Light" panose="02000009000000000000" pitchFamily="49" charset="0"/>
                <a:cs typeface="JetBrains Mono Light" panose="02000009000000000000" pitchFamily="49" charset="0"/>
              </a:rPr>
              <a:t> </a:t>
            </a:r>
            <a:r>
              <a:rPr lang="en-US" dirty="0" err="1">
                <a:solidFill>
                  <a:schemeClr val="bg1">
                    <a:lumMod val="50000"/>
                  </a:schemeClr>
                </a:solidFill>
                <a:latin typeface="JetBrains Mono Light" panose="02000009000000000000" pitchFamily="49" charset="0"/>
                <a:cs typeface="JetBrains Mono Light" panose="02000009000000000000" pitchFamily="49" charset="0"/>
              </a:rPr>
              <a:t>thị</a:t>
            </a:r>
            <a:r>
              <a:rPr lang="en-US" dirty="0">
                <a:solidFill>
                  <a:schemeClr val="bg1">
                    <a:lumMod val="50000"/>
                  </a:schemeClr>
                </a:solidFill>
                <a:latin typeface="JetBrains Mono Light" panose="02000009000000000000" pitchFamily="49" charset="0"/>
                <a:cs typeface="JetBrains Mono Light" panose="02000009000000000000" pitchFamily="49" charset="0"/>
              </a:rPr>
              <a:t> G = (X, U). </a:t>
            </a:r>
          </a:p>
        </p:txBody>
      </p:sp>
      <p:sp>
        <p:nvSpPr>
          <p:cNvPr id="20" name="TextBox 19">
            <a:extLst>
              <a:ext uri="{FF2B5EF4-FFF2-40B4-BE49-F238E27FC236}">
                <a16:creationId xmlns:a16="http://schemas.microsoft.com/office/drawing/2014/main" id="{839B5D86-34CC-4F54-8684-37BE63D5967C}"/>
              </a:ext>
            </a:extLst>
          </p:cNvPr>
          <p:cNvSpPr txBox="1"/>
          <p:nvPr/>
        </p:nvSpPr>
        <p:spPr>
          <a:xfrm>
            <a:off x="603547" y="592179"/>
            <a:ext cx="3980176" cy="369332"/>
          </a:xfrm>
          <a:prstGeom prst="rect">
            <a:avLst/>
          </a:prstGeom>
          <a:noFill/>
        </p:spPr>
        <p:txBody>
          <a:bodyPr wrap="square" rtlCol="0">
            <a:spAutoFit/>
          </a:bodyPr>
          <a:lstStyle/>
          <a:p>
            <a:r>
              <a:rPr lang="en-US" dirty="0" err="1">
                <a:latin typeface="JetBrains Mono" panose="02000009000000000000" pitchFamily="49" charset="0"/>
                <a:cs typeface="JetBrains Mono" panose="02000009000000000000" pitchFamily="49" charset="0"/>
              </a:rPr>
              <a:t>Tìm</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đường</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đi</a:t>
            </a:r>
            <a:r>
              <a:rPr lang="en-US" dirty="0">
                <a:latin typeface="JetBrains Mono" panose="02000009000000000000" pitchFamily="49" charset="0"/>
                <a:cs typeface="JetBrains Mono" panose="02000009000000000000" pitchFamily="49" charset="0"/>
              </a:rPr>
              <a:t> </a:t>
            </a:r>
            <a:r>
              <a:rPr lang="en-US" dirty="0" err="1">
                <a:latin typeface="JetBrains Mono Regular" panose="02000009000000000000" pitchFamily="49" charset="0"/>
                <a:cs typeface="JetBrains Mono Regular" panose="02000009000000000000" pitchFamily="49" charset="0"/>
              </a:rPr>
              <a:t>ngắn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nhất</a:t>
            </a:r>
            <a:endParaRPr lang="en-US" dirty="0">
              <a:latin typeface="JetBrains Mono Regular" panose="02000009000000000000" pitchFamily="49" charset="0"/>
              <a:cs typeface="JetBrains Mono Regular" panose="02000009000000000000" pitchFamily="49" charset="0"/>
            </a:endParaRPr>
          </a:p>
        </p:txBody>
      </p:sp>
      <p:sp>
        <p:nvSpPr>
          <p:cNvPr id="23" name="TextBox 22">
            <a:extLst>
              <a:ext uri="{FF2B5EF4-FFF2-40B4-BE49-F238E27FC236}">
                <a16:creationId xmlns:a16="http://schemas.microsoft.com/office/drawing/2014/main" id="{DC62BC0F-3141-4A65-A5AD-9FC34423F674}"/>
              </a:ext>
            </a:extLst>
          </p:cNvPr>
          <p:cNvSpPr txBox="1"/>
          <p:nvPr/>
        </p:nvSpPr>
        <p:spPr>
          <a:xfrm>
            <a:off x="5943600" y="1129670"/>
            <a:ext cx="473510" cy="369332"/>
          </a:xfrm>
          <a:prstGeom prst="rect">
            <a:avLst/>
          </a:prstGeom>
          <a:noFill/>
          <a:ln>
            <a:noFill/>
          </a:ln>
        </p:spPr>
        <p:txBody>
          <a:bodyPr wrap="square" rtlCol="0">
            <a:spAutoFit/>
          </a:bodyPr>
          <a:lstStyle/>
          <a:p>
            <a:r>
              <a:rPr lang="en-US" dirty="0">
                <a:solidFill>
                  <a:schemeClr val="bg1">
                    <a:lumMod val="50000"/>
                  </a:schemeClr>
                </a:solidFill>
                <a:latin typeface="JetBrains Mono Light" panose="02000009000000000000" pitchFamily="49" charset="0"/>
                <a:cs typeface="JetBrains Mono Light" panose="02000009000000000000" pitchFamily="49" charset="0"/>
              </a:rPr>
              <a:t>.. </a:t>
            </a:r>
          </a:p>
        </p:txBody>
      </p:sp>
      <p:sp>
        <p:nvSpPr>
          <p:cNvPr id="27" name="TextBox 26">
            <a:extLst>
              <a:ext uri="{FF2B5EF4-FFF2-40B4-BE49-F238E27FC236}">
                <a16:creationId xmlns:a16="http://schemas.microsoft.com/office/drawing/2014/main" id="{EB231E83-5C8E-4DF9-A056-7F9D79ADD596}"/>
              </a:ext>
            </a:extLst>
          </p:cNvPr>
          <p:cNvSpPr txBox="1"/>
          <p:nvPr/>
        </p:nvSpPr>
        <p:spPr>
          <a:xfrm>
            <a:off x="1238064" y="1678110"/>
            <a:ext cx="9884581" cy="673967"/>
          </a:xfrm>
          <a:prstGeom prst="rect">
            <a:avLst/>
          </a:prstGeom>
          <a:noFill/>
          <a:ln>
            <a:solidFill>
              <a:schemeClr val="bg1">
                <a:lumMod val="50000"/>
              </a:schemeClr>
            </a:solidFill>
          </a:ln>
        </p:spPr>
        <p:txBody>
          <a:bodyPr wrap="square" rtlCol="0">
            <a:spAutoFit/>
          </a:bodyPr>
          <a:lstStyle/>
          <a:p>
            <a:pPr marL="0" marR="0">
              <a:lnSpc>
                <a:spcPct val="107000"/>
              </a:lnSpc>
              <a:spcBef>
                <a:spcPts val="0"/>
              </a:spcBef>
              <a:spcAft>
                <a:spcPts val="800"/>
              </a:spcAft>
            </a:pPr>
            <a:r>
              <a:rPr lang="en-US" sz="1800"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Bài</a:t>
            </a:r>
            <a:r>
              <a:rPr lang="en-US" sz="1800"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toán</a:t>
            </a:r>
            <a:r>
              <a:rPr lang="en-US" sz="1800"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tìm</a:t>
            </a:r>
            <a:r>
              <a:rPr lang="en-US" sz="1800"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đường</a:t>
            </a:r>
            <a:r>
              <a:rPr lang="en-US" sz="1800"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đi</a:t>
            </a:r>
            <a:r>
              <a:rPr lang="en-US" sz="1800"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ngắn</a:t>
            </a:r>
            <a:r>
              <a:rPr lang="en-US" sz="1800"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nhất</a:t>
            </a:r>
            <a:r>
              <a:rPr lang="en-US" sz="1800"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là</a:t>
            </a:r>
            <a:r>
              <a:rPr lang="en-US" sz="1800"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bài</a:t>
            </a:r>
            <a:r>
              <a:rPr lang="en-US" sz="1800"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toán</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tìm</a:t>
            </a:r>
            <a:r>
              <a:rPr lang="en-US" sz="1800" dirty="0">
                <a:solidFill>
                  <a:schemeClr val="bg1"/>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 1 </a:t>
            </a:r>
            <a:r>
              <a:rPr lang="en-US" sz="1800" dirty="0" err="1">
                <a:solidFill>
                  <a:schemeClr val="bg1"/>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đường</a:t>
            </a:r>
            <a:r>
              <a:rPr lang="en-US" sz="1800" dirty="0">
                <a:solidFill>
                  <a:schemeClr val="bg1"/>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 </a:t>
            </a:r>
            <a:r>
              <a:rPr lang="en-US" sz="1800" dirty="0" err="1">
                <a:solidFill>
                  <a:schemeClr val="bg1"/>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đi</a:t>
            </a:r>
            <a:r>
              <a:rPr lang="en-US" sz="1800" dirty="0">
                <a:solidFill>
                  <a:schemeClr val="bg1"/>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 </a:t>
            </a:r>
            <a:r>
              <a:rPr lang="en-US" sz="1800" dirty="0" err="1">
                <a:solidFill>
                  <a:schemeClr val="bg1"/>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giữa</a:t>
            </a:r>
            <a:r>
              <a:rPr lang="en-US" sz="1800" dirty="0">
                <a:solidFill>
                  <a:schemeClr val="bg1"/>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 2 </a:t>
            </a:r>
            <a:r>
              <a:rPr lang="en-US" sz="1800" dirty="0" err="1">
                <a:solidFill>
                  <a:schemeClr val="bg1"/>
                </a:solidFill>
                <a:effectLst/>
                <a:latin typeface="JetBrains Mono Regular" panose="02000009000000000000" pitchFamily="49" charset="0"/>
                <a:ea typeface="Times New Roman" panose="02020603050405020304" pitchFamily="18" charset="0"/>
                <a:cs typeface="JetBrains Mono Regular" panose="02000009000000000000" pitchFamily="49" charset="0"/>
              </a:rPr>
              <a:t>đỉnh</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sao</a:t>
            </a:r>
            <a:r>
              <a:rPr lang="en-US" sz="1800"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cho</a:t>
            </a:r>
            <a:r>
              <a:rPr lang="en-US" sz="1800"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tổng</a:t>
            </a:r>
            <a:r>
              <a:rPr lang="en-US" sz="1800"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các</a:t>
            </a:r>
            <a:r>
              <a:rPr lang="en-US" sz="1800"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trọng</a:t>
            </a:r>
            <a:r>
              <a:rPr lang="en-US" sz="1800"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số</a:t>
            </a:r>
            <a:r>
              <a:rPr lang="en-US" sz="1800"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của</a:t>
            </a:r>
            <a:r>
              <a:rPr lang="en-US" sz="1800"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các</a:t>
            </a:r>
            <a:r>
              <a:rPr lang="en-US" sz="1800"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cạnh</a:t>
            </a:r>
            <a:r>
              <a:rPr lang="en-US" sz="1800"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tạo</a:t>
            </a:r>
            <a:r>
              <a:rPr lang="en-US" sz="1800"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ra </a:t>
            </a:r>
            <a:r>
              <a:rPr lang="en-US" sz="1800"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đường</a:t>
            </a:r>
            <a:r>
              <a:rPr lang="en-US" sz="1800"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đi</a:t>
            </a:r>
            <a:r>
              <a:rPr lang="en-US" sz="1800"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đó</a:t>
            </a:r>
            <a:r>
              <a:rPr lang="en-US" sz="1800"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nhỏ</a:t>
            </a:r>
            <a:r>
              <a:rPr lang="en-US" sz="1800"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nhất</a:t>
            </a:r>
            <a:r>
              <a:rPr lang="en-US" sz="1800"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a:t>
            </a:r>
            <a:endParaRPr lang="en-US" sz="1800" dirty="0">
              <a:solidFill>
                <a:schemeClr val="bg1"/>
              </a:solidFill>
              <a:effectLst/>
              <a:latin typeface="JetBrains Mono Medium" panose="02000009000000000000" pitchFamily="49" charset="0"/>
              <a:ea typeface="Calibri" panose="020F0502020204030204" pitchFamily="34" charset="0"/>
              <a:cs typeface="JetBrains Mono Medium" panose="02000009000000000000" pitchFamily="49" charset="0"/>
            </a:endParaRPr>
          </a:p>
        </p:txBody>
      </p:sp>
    </p:spTree>
    <p:extLst>
      <p:ext uri="{BB962C8B-B14F-4D97-AF65-F5344CB8AC3E}">
        <p14:creationId xmlns:p14="http://schemas.microsoft.com/office/powerpoint/2010/main" val="27623939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ADCB1D2-71BF-4442-85AC-20706F44BBA0}"/>
              </a:ext>
            </a:extLst>
          </p:cNvPr>
          <p:cNvSpPr/>
          <p:nvPr/>
        </p:nvSpPr>
        <p:spPr>
          <a:xfrm>
            <a:off x="0" y="-2556"/>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21" name="Credit MAIN">
            <a:extLst>
              <a:ext uri="{FF2B5EF4-FFF2-40B4-BE49-F238E27FC236}">
                <a16:creationId xmlns:a16="http://schemas.microsoft.com/office/drawing/2014/main" id="{A5F845F1-9489-426E-B1D3-2CCF2A9E61E3}"/>
              </a:ext>
            </a:extLst>
          </p:cNvPr>
          <p:cNvSpPr txBox="1"/>
          <p:nvPr/>
        </p:nvSpPr>
        <p:spPr>
          <a:xfrm>
            <a:off x="50878" y="6420549"/>
            <a:ext cx="2668876" cy="369332"/>
          </a:xfrm>
          <a:prstGeom prst="rect">
            <a:avLst/>
          </a:prstGeom>
          <a:noFill/>
        </p:spPr>
        <p:txBody>
          <a:bodyPr wrap="square" rtlCol="0">
            <a:spAutoFit/>
          </a:bodyPr>
          <a:lstStyle/>
          <a:p>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Phạm </a:t>
            </a:r>
            <a:r>
              <a:rPr lang="en-US"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H</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oàng</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Phong</a:t>
            </a:r>
            <a:endParaRPr lang="en-US" dirty="0">
              <a:solidFill>
                <a:schemeClr val="bg1">
                  <a:lumMod val="95000"/>
                  <a:alpha val="46000"/>
                </a:schemeClr>
              </a:solidFill>
            </a:endParaRPr>
          </a:p>
        </p:txBody>
      </p:sp>
      <p:sp>
        <p:nvSpPr>
          <p:cNvPr id="11" name="Header">
            <a:extLst>
              <a:ext uri="{FF2B5EF4-FFF2-40B4-BE49-F238E27FC236}">
                <a16:creationId xmlns:a16="http://schemas.microsoft.com/office/drawing/2014/main" id="{6A39F230-06D2-4140-8DA2-357C0B9B6D12}"/>
              </a:ext>
            </a:extLst>
          </p:cNvPr>
          <p:cNvSpPr txBox="1"/>
          <p:nvPr/>
        </p:nvSpPr>
        <p:spPr>
          <a:xfrm>
            <a:off x="50878" y="68119"/>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7" name="Footer: Part">
            <a:extLst>
              <a:ext uri="{FF2B5EF4-FFF2-40B4-BE49-F238E27FC236}">
                <a16:creationId xmlns:a16="http://schemas.microsoft.com/office/drawing/2014/main" id="{553347E6-1341-4BA1-A396-FC4741F3FAF1}"/>
              </a:ext>
            </a:extLst>
          </p:cNvPr>
          <p:cNvSpPr txBox="1"/>
          <p:nvPr/>
        </p:nvSpPr>
        <p:spPr>
          <a:xfrm>
            <a:off x="10829923" y="6413178"/>
            <a:ext cx="1289979" cy="369332"/>
          </a:xfrm>
          <a:prstGeom prst="rect">
            <a:avLst/>
          </a:prstGeom>
          <a:noFill/>
        </p:spPr>
        <p:txBody>
          <a:bodyPr wrap="square" rtlCol="0">
            <a:spAutoFit/>
          </a:bodyPr>
          <a:lstStyle/>
          <a:p>
            <a:pPr algn="r"/>
            <a:r>
              <a:rPr lang="en-US" dirty="0" err="1">
                <a:solidFill>
                  <a:schemeClr val="bg1">
                    <a:lumMod val="95000"/>
                  </a:schemeClr>
                </a:solidFill>
                <a:latin typeface="JetBrains Mono" panose="02000009000000000000" pitchFamily="49" charset="0"/>
                <a:cs typeface="JetBrains Mono" panose="02000009000000000000" pitchFamily="49" charset="0"/>
              </a:rPr>
              <a:t>Bài</a:t>
            </a:r>
            <a:r>
              <a:rPr lang="en-US" dirty="0">
                <a:solidFill>
                  <a:schemeClr val="bg1">
                    <a:lumMod val="95000"/>
                  </a:schemeClr>
                </a:solidFill>
                <a:latin typeface="JetBrains Mono" panose="02000009000000000000" pitchFamily="49" charset="0"/>
                <a:cs typeface="JetBrains Mono" panose="02000009000000000000" pitchFamily="49" charset="0"/>
              </a:rPr>
              <a:t> </a:t>
            </a:r>
            <a:r>
              <a:rPr lang="en-US" dirty="0" err="1">
                <a:solidFill>
                  <a:schemeClr val="bg1">
                    <a:lumMod val="95000"/>
                  </a:schemeClr>
                </a:solidFill>
                <a:latin typeface="JetBrains Mono" panose="02000009000000000000" pitchFamily="49" charset="0"/>
                <a:cs typeface="JetBrains Mono" panose="02000009000000000000" pitchFamily="49" charset="0"/>
              </a:rPr>
              <a:t>toán</a:t>
            </a:r>
            <a:endParaRPr lang="en-US" dirty="0">
              <a:solidFill>
                <a:schemeClr val="bg1">
                  <a:lumMod val="95000"/>
                </a:schemeClr>
              </a:solidFill>
              <a:latin typeface="JetBrains Mono" panose="02000009000000000000" pitchFamily="49" charset="0"/>
              <a:cs typeface="JetBrains Mono" panose="02000009000000000000" pitchFamily="49" charset="0"/>
            </a:endParaRPr>
          </a:p>
        </p:txBody>
      </p:sp>
      <p:sp>
        <p:nvSpPr>
          <p:cNvPr id="19" name="Footer: Title">
            <a:extLst>
              <a:ext uri="{FF2B5EF4-FFF2-40B4-BE49-F238E27FC236}">
                <a16:creationId xmlns:a16="http://schemas.microsoft.com/office/drawing/2014/main" id="{FD144244-98B6-4C54-A114-16CD65E0D522}"/>
              </a:ext>
            </a:extLst>
          </p:cNvPr>
          <p:cNvSpPr txBox="1"/>
          <p:nvPr/>
        </p:nvSpPr>
        <p:spPr>
          <a:xfrm>
            <a:off x="9777072" y="6414047"/>
            <a:ext cx="1160019"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Light" panose="02000009000000000000" pitchFamily="49" charset="0"/>
                <a:cs typeface="JetBrains Mono Light" panose="02000009000000000000" pitchFamily="49" charset="0"/>
              </a:rPr>
              <a:t>:</a:t>
            </a:r>
          </a:p>
        </p:txBody>
      </p:sp>
      <p:sp>
        <p:nvSpPr>
          <p:cNvPr id="25" name="PAGE NUM 0">
            <a:extLst>
              <a:ext uri="{FF2B5EF4-FFF2-40B4-BE49-F238E27FC236}">
                <a16:creationId xmlns:a16="http://schemas.microsoft.com/office/drawing/2014/main" id="{CA8E8643-0820-44FC-9D06-02F2A0A63536}"/>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2</a:t>
            </a:r>
          </a:p>
        </p:txBody>
      </p:sp>
      <p:sp>
        <p:nvSpPr>
          <p:cNvPr id="26" name="PAGE NUM 1">
            <a:extLst>
              <a:ext uri="{FF2B5EF4-FFF2-40B4-BE49-F238E27FC236}">
                <a16:creationId xmlns:a16="http://schemas.microsoft.com/office/drawing/2014/main" id="{6BF8CF33-13C7-458E-A4F5-0A19700195D0}"/>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4</a:t>
            </a:r>
            <a:endParaRPr lang="en-US" dirty="0"/>
          </a:p>
        </p:txBody>
      </p:sp>
      <p:sp>
        <p:nvSpPr>
          <p:cNvPr id="4" name="Rectangle 3">
            <a:extLst>
              <a:ext uri="{FF2B5EF4-FFF2-40B4-BE49-F238E27FC236}">
                <a16:creationId xmlns:a16="http://schemas.microsoft.com/office/drawing/2014/main" id="{CB38D6F8-B45F-44CF-A0B3-4EECDAC74C1C}"/>
              </a:ext>
            </a:extLst>
          </p:cNvPr>
          <p:cNvSpPr/>
          <p:nvPr/>
        </p:nvSpPr>
        <p:spPr>
          <a:xfrm>
            <a:off x="591458" y="591772"/>
            <a:ext cx="3265434"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3252814-A59F-4DD2-85FD-AF3B5B3FB847}"/>
              </a:ext>
            </a:extLst>
          </p:cNvPr>
          <p:cNvSpPr txBox="1"/>
          <p:nvPr/>
        </p:nvSpPr>
        <p:spPr>
          <a:xfrm>
            <a:off x="603364" y="591246"/>
            <a:ext cx="1987436" cy="369332"/>
          </a:xfrm>
          <a:prstGeom prst="rect">
            <a:avLst/>
          </a:prstGeom>
          <a:noFill/>
        </p:spPr>
        <p:txBody>
          <a:bodyPr wrap="square" rtlCol="0">
            <a:spAutoFit/>
          </a:bodyPr>
          <a:lstStyle/>
          <a:p>
            <a:r>
              <a:rPr lang="en-US" dirty="0" err="1">
                <a:latin typeface="JetBrains Mono" panose="02000009000000000000" pitchFamily="49" charset="0"/>
                <a:cs typeface="JetBrains Mono" panose="02000009000000000000" pitchFamily="49" charset="0"/>
              </a:rPr>
              <a:t>Tìm</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đường</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đi</a:t>
            </a:r>
            <a:endParaRPr lang="en-US" dirty="0">
              <a:latin typeface="JetBrains Mono" panose="02000009000000000000" pitchFamily="49" charset="0"/>
              <a:cs typeface="JetBrains Mono" panose="02000009000000000000" pitchFamily="49" charset="0"/>
            </a:endParaRPr>
          </a:p>
        </p:txBody>
      </p:sp>
      <p:sp>
        <p:nvSpPr>
          <p:cNvPr id="12" name="TextBox 11">
            <a:extLst>
              <a:ext uri="{FF2B5EF4-FFF2-40B4-BE49-F238E27FC236}">
                <a16:creationId xmlns:a16="http://schemas.microsoft.com/office/drawing/2014/main" id="{912DD8A3-44F4-4E77-B8A5-F7F5BD841756}"/>
              </a:ext>
            </a:extLst>
          </p:cNvPr>
          <p:cNvSpPr txBox="1"/>
          <p:nvPr/>
        </p:nvSpPr>
        <p:spPr>
          <a:xfrm>
            <a:off x="1037306" y="1120941"/>
            <a:ext cx="1553494"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Định</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nghĩa</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24" name="TextBox 23">
            <a:extLst>
              <a:ext uri="{FF2B5EF4-FFF2-40B4-BE49-F238E27FC236}">
                <a16:creationId xmlns:a16="http://schemas.microsoft.com/office/drawing/2014/main" id="{099810C1-243F-4AE1-9830-7AD99AC193E3}"/>
              </a:ext>
            </a:extLst>
          </p:cNvPr>
          <p:cNvSpPr txBox="1"/>
          <p:nvPr/>
        </p:nvSpPr>
        <p:spPr>
          <a:xfrm>
            <a:off x="2649415" y="1120941"/>
            <a:ext cx="3650464" cy="369332"/>
          </a:xfrm>
          <a:prstGeom prst="rect">
            <a:avLst/>
          </a:prstGeom>
          <a:noFill/>
          <a:ln>
            <a:noFill/>
          </a:ln>
        </p:spPr>
        <p:txBody>
          <a:bodyPr wrap="square" rtlCol="0">
            <a:spAutoFit/>
          </a:bodyPr>
          <a:lstStyle/>
          <a:p>
            <a:pPr marL="285750" indent="-285750">
              <a:buFont typeface="Arial" panose="020B0604020202020204" pitchFamily="34" charset="0"/>
              <a:buChar char="•"/>
            </a:pPr>
            <a:r>
              <a:rPr lang="en-US" dirty="0">
                <a:solidFill>
                  <a:schemeClr val="bg1">
                    <a:lumMod val="50000"/>
                  </a:schemeClr>
                </a:solidFill>
                <a:latin typeface="JetBrains Mono Light" panose="02000009000000000000" pitchFamily="49" charset="0"/>
                <a:cs typeface="JetBrains Mono Light" panose="02000009000000000000" pitchFamily="49" charset="0"/>
              </a:rPr>
              <a:t>Cho </a:t>
            </a:r>
            <a:r>
              <a:rPr lang="en-US" dirty="0" err="1">
                <a:solidFill>
                  <a:schemeClr val="bg1">
                    <a:lumMod val="50000"/>
                  </a:schemeClr>
                </a:solidFill>
                <a:latin typeface="JetBrains Mono Light" panose="02000009000000000000" pitchFamily="49" charset="0"/>
                <a:cs typeface="JetBrains Mono Light" panose="02000009000000000000" pitchFamily="49" charset="0"/>
              </a:rPr>
              <a:t>đồ</a:t>
            </a:r>
            <a:r>
              <a:rPr lang="en-US" dirty="0">
                <a:solidFill>
                  <a:schemeClr val="bg1">
                    <a:lumMod val="50000"/>
                  </a:schemeClr>
                </a:solidFill>
                <a:latin typeface="JetBrains Mono Light" panose="02000009000000000000" pitchFamily="49" charset="0"/>
                <a:cs typeface="JetBrains Mono Light" panose="02000009000000000000" pitchFamily="49" charset="0"/>
              </a:rPr>
              <a:t> </a:t>
            </a:r>
            <a:r>
              <a:rPr lang="en-US" dirty="0" err="1">
                <a:solidFill>
                  <a:schemeClr val="bg1">
                    <a:lumMod val="50000"/>
                  </a:schemeClr>
                </a:solidFill>
                <a:latin typeface="JetBrains Mono Light" panose="02000009000000000000" pitchFamily="49" charset="0"/>
                <a:cs typeface="JetBrains Mono Light" panose="02000009000000000000" pitchFamily="49" charset="0"/>
              </a:rPr>
              <a:t>thị</a:t>
            </a:r>
            <a:r>
              <a:rPr lang="en-US" dirty="0">
                <a:solidFill>
                  <a:schemeClr val="bg1">
                    <a:lumMod val="50000"/>
                  </a:schemeClr>
                </a:solidFill>
                <a:latin typeface="JetBrains Mono Light" panose="02000009000000000000" pitchFamily="49" charset="0"/>
                <a:cs typeface="JetBrains Mono Light" panose="02000009000000000000" pitchFamily="49" charset="0"/>
              </a:rPr>
              <a:t> G = (X, U). </a:t>
            </a:r>
          </a:p>
        </p:txBody>
      </p:sp>
      <p:sp>
        <p:nvSpPr>
          <p:cNvPr id="20" name="TextBox 19">
            <a:extLst>
              <a:ext uri="{FF2B5EF4-FFF2-40B4-BE49-F238E27FC236}">
                <a16:creationId xmlns:a16="http://schemas.microsoft.com/office/drawing/2014/main" id="{839B5D86-34CC-4F54-8684-37BE63D5967C}"/>
              </a:ext>
            </a:extLst>
          </p:cNvPr>
          <p:cNvSpPr txBox="1"/>
          <p:nvPr/>
        </p:nvSpPr>
        <p:spPr>
          <a:xfrm>
            <a:off x="603547" y="592179"/>
            <a:ext cx="3980176" cy="369332"/>
          </a:xfrm>
          <a:prstGeom prst="rect">
            <a:avLst/>
          </a:prstGeom>
          <a:noFill/>
        </p:spPr>
        <p:txBody>
          <a:bodyPr wrap="square" rtlCol="0">
            <a:spAutoFit/>
          </a:bodyPr>
          <a:lstStyle/>
          <a:p>
            <a:r>
              <a:rPr lang="en-US" dirty="0" err="1">
                <a:latin typeface="JetBrains Mono" panose="02000009000000000000" pitchFamily="49" charset="0"/>
                <a:cs typeface="JetBrains Mono" panose="02000009000000000000" pitchFamily="49" charset="0"/>
              </a:rPr>
              <a:t>Tìm</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đường</a:t>
            </a:r>
            <a:r>
              <a:rPr lang="en-US" dirty="0">
                <a:latin typeface="JetBrains Mono" panose="02000009000000000000" pitchFamily="49" charset="0"/>
                <a:cs typeface="JetBrains Mono" panose="02000009000000000000" pitchFamily="49" charset="0"/>
              </a:rPr>
              <a:t> </a:t>
            </a:r>
            <a:r>
              <a:rPr lang="en-US" dirty="0" err="1">
                <a:latin typeface="JetBrains Mono" panose="02000009000000000000" pitchFamily="49" charset="0"/>
                <a:cs typeface="JetBrains Mono" panose="02000009000000000000" pitchFamily="49" charset="0"/>
              </a:rPr>
              <a:t>đi</a:t>
            </a:r>
            <a:r>
              <a:rPr lang="en-US" dirty="0">
                <a:latin typeface="JetBrains Mono" panose="02000009000000000000" pitchFamily="49" charset="0"/>
                <a:cs typeface="JetBrains Mono" panose="02000009000000000000" pitchFamily="49" charset="0"/>
              </a:rPr>
              <a:t> </a:t>
            </a:r>
            <a:r>
              <a:rPr lang="en-US" dirty="0" err="1">
                <a:latin typeface="JetBrains Mono Regular" panose="02000009000000000000" pitchFamily="49" charset="0"/>
                <a:cs typeface="JetBrains Mono Regular" panose="02000009000000000000" pitchFamily="49" charset="0"/>
              </a:rPr>
              <a:t>ngắn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nhất</a:t>
            </a:r>
            <a:endParaRPr lang="en-US" dirty="0">
              <a:latin typeface="JetBrains Mono Regular" panose="02000009000000000000" pitchFamily="49" charset="0"/>
              <a:cs typeface="JetBrains Mono Regular" panose="02000009000000000000" pitchFamily="49" charset="0"/>
            </a:endParaRPr>
          </a:p>
        </p:txBody>
      </p:sp>
      <p:sp>
        <p:nvSpPr>
          <p:cNvPr id="23" name="TextBox 22">
            <a:extLst>
              <a:ext uri="{FF2B5EF4-FFF2-40B4-BE49-F238E27FC236}">
                <a16:creationId xmlns:a16="http://schemas.microsoft.com/office/drawing/2014/main" id="{DC62BC0F-3141-4A65-A5AD-9FC34423F674}"/>
              </a:ext>
            </a:extLst>
          </p:cNvPr>
          <p:cNvSpPr txBox="1"/>
          <p:nvPr/>
        </p:nvSpPr>
        <p:spPr>
          <a:xfrm>
            <a:off x="5937250" y="1123320"/>
            <a:ext cx="473510" cy="369332"/>
          </a:xfrm>
          <a:prstGeom prst="rect">
            <a:avLst/>
          </a:prstGeom>
          <a:noFill/>
          <a:ln>
            <a:noFill/>
          </a:ln>
        </p:spPr>
        <p:txBody>
          <a:bodyPr wrap="square" rtlCol="0">
            <a:spAutoFit/>
          </a:bodyPr>
          <a:lstStyle/>
          <a:p>
            <a:r>
              <a:rPr lang="en-US" dirty="0">
                <a:solidFill>
                  <a:schemeClr val="bg1">
                    <a:lumMod val="50000"/>
                  </a:schemeClr>
                </a:solidFill>
                <a:latin typeface="JetBrains Mono Light" panose="02000009000000000000" pitchFamily="49" charset="0"/>
                <a:cs typeface="JetBrains Mono Light" panose="02000009000000000000" pitchFamily="49" charset="0"/>
              </a:rPr>
              <a:t>.. </a:t>
            </a:r>
          </a:p>
        </p:txBody>
      </p:sp>
      <p:sp>
        <p:nvSpPr>
          <p:cNvPr id="27" name="TextBox 26">
            <a:extLst>
              <a:ext uri="{FF2B5EF4-FFF2-40B4-BE49-F238E27FC236}">
                <a16:creationId xmlns:a16="http://schemas.microsoft.com/office/drawing/2014/main" id="{EB231E83-5C8E-4DF9-A056-7F9D79ADD596}"/>
              </a:ext>
            </a:extLst>
          </p:cNvPr>
          <p:cNvSpPr txBox="1"/>
          <p:nvPr/>
        </p:nvSpPr>
        <p:spPr>
          <a:xfrm>
            <a:off x="1238064" y="1585041"/>
            <a:ext cx="9884581" cy="673967"/>
          </a:xfrm>
          <a:prstGeom prst="rect">
            <a:avLst/>
          </a:prstGeom>
          <a:noFill/>
          <a:ln>
            <a:noFill/>
          </a:ln>
        </p:spPr>
        <p:txBody>
          <a:bodyPr wrap="square" rtlCol="0">
            <a:spAutoFit/>
          </a:bodyPr>
          <a:lstStyle/>
          <a:p>
            <a:pPr marL="0" marR="0">
              <a:lnSpc>
                <a:spcPct val="107000"/>
              </a:lnSpc>
              <a:spcBef>
                <a:spcPts val="0"/>
              </a:spcBef>
              <a:spcAft>
                <a:spcPts val="800"/>
              </a:spcAft>
            </a:pPr>
            <a:r>
              <a:rPr lang="en-US" sz="1800" i="1"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Bài</a:t>
            </a:r>
            <a:r>
              <a:rPr lang="en-US" sz="1800" i="1"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i="1"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toán</a:t>
            </a:r>
            <a:r>
              <a:rPr lang="en-US" sz="1800" i="1"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i="1"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tìm</a:t>
            </a:r>
            <a:r>
              <a:rPr lang="en-US" sz="1800" i="1"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i="1"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đường</a:t>
            </a:r>
            <a:r>
              <a:rPr lang="en-US" sz="1800" i="1"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i="1"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đi</a:t>
            </a:r>
            <a:r>
              <a:rPr lang="en-US" sz="1800" i="1"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i="1"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ngắn</a:t>
            </a:r>
            <a:r>
              <a:rPr lang="en-US" sz="1800" i="1"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i="1"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nhất</a:t>
            </a:r>
            <a:r>
              <a:rPr lang="en-US" sz="1800" i="1"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là</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bài</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toán</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i="1" dirty="0" err="1">
                <a:solidFill>
                  <a:schemeClr val="bg1"/>
                </a:solidFill>
                <a:latin typeface="JetBrains Mono Medium" panose="02000009000000000000" pitchFamily="49" charset="0"/>
                <a:ea typeface="Times New Roman" panose="02020603050405020304" pitchFamily="18" charset="0"/>
                <a:cs typeface="JetBrains Mono Medium" panose="02000009000000000000" pitchFamily="49" charset="0"/>
              </a:rPr>
              <a:t>tìm</a:t>
            </a:r>
            <a:r>
              <a:rPr lang="en-US" sz="1800" i="1" dirty="0">
                <a:solidFill>
                  <a:schemeClr val="bg1"/>
                </a:solidFill>
                <a:latin typeface="JetBrains Mono Medium" panose="02000009000000000000" pitchFamily="49" charset="0"/>
                <a:ea typeface="Times New Roman" panose="02020603050405020304" pitchFamily="18" charset="0"/>
                <a:cs typeface="JetBrains Mono Medium" panose="02000009000000000000" pitchFamily="49" charset="0"/>
              </a:rPr>
              <a:t> 1 </a:t>
            </a:r>
            <a:r>
              <a:rPr lang="en-US" sz="1800" i="1" dirty="0" err="1">
                <a:solidFill>
                  <a:schemeClr val="bg1"/>
                </a:solidFill>
                <a:latin typeface="JetBrains Mono Medium" panose="02000009000000000000" pitchFamily="49" charset="0"/>
                <a:ea typeface="Times New Roman" panose="02020603050405020304" pitchFamily="18" charset="0"/>
                <a:cs typeface="JetBrains Mono Medium" panose="02000009000000000000" pitchFamily="49" charset="0"/>
              </a:rPr>
              <a:t>đường</a:t>
            </a:r>
            <a:r>
              <a:rPr lang="en-US" sz="1800" i="1" dirty="0">
                <a:solidFill>
                  <a:schemeClr val="bg1"/>
                </a:solidFill>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i="1" dirty="0" err="1">
                <a:solidFill>
                  <a:schemeClr val="bg1"/>
                </a:solidFill>
                <a:latin typeface="JetBrains Mono Medium" panose="02000009000000000000" pitchFamily="49" charset="0"/>
                <a:ea typeface="Times New Roman" panose="02020603050405020304" pitchFamily="18" charset="0"/>
                <a:cs typeface="JetBrains Mono Medium" panose="02000009000000000000" pitchFamily="49" charset="0"/>
              </a:rPr>
              <a:t>đi</a:t>
            </a:r>
            <a:r>
              <a:rPr lang="en-US" sz="1800" i="1" dirty="0">
                <a:solidFill>
                  <a:schemeClr val="bg1"/>
                </a:solidFill>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i="1" dirty="0" err="1">
                <a:solidFill>
                  <a:schemeClr val="bg1"/>
                </a:solidFill>
                <a:latin typeface="JetBrains Mono Medium" panose="02000009000000000000" pitchFamily="49" charset="0"/>
                <a:ea typeface="Times New Roman" panose="02020603050405020304" pitchFamily="18" charset="0"/>
                <a:cs typeface="JetBrains Mono Medium" panose="02000009000000000000" pitchFamily="49" charset="0"/>
              </a:rPr>
              <a:t>giữa</a:t>
            </a:r>
            <a:r>
              <a:rPr lang="en-US" sz="1800" i="1" dirty="0">
                <a:solidFill>
                  <a:schemeClr val="bg1"/>
                </a:solidFill>
                <a:latin typeface="JetBrains Mono Medium" panose="02000009000000000000" pitchFamily="49" charset="0"/>
                <a:ea typeface="Times New Roman" panose="02020603050405020304" pitchFamily="18" charset="0"/>
                <a:cs typeface="JetBrains Mono Medium" panose="02000009000000000000" pitchFamily="49" charset="0"/>
              </a:rPr>
              <a:t> 2 </a:t>
            </a:r>
            <a:r>
              <a:rPr lang="en-US" sz="1800" i="1" dirty="0" err="1">
                <a:solidFill>
                  <a:schemeClr val="bg1"/>
                </a:solidFill>
                <a:latin typeface="JetBrains Mono Medium" panose="02000009000000000000" pitchFamily="49" charset="0"/>
                <a:ea typeface="Times New Roman" panose="02020603050405020304" pitchFamily="18" charset="0"/>
                <a:cs typeface="JetBrains Mono Medium" panose="02000009000000000000" pitchFamily="49" charset="0"/>
              </a:rPr>
              <a:t>đỉnh</a:t>
            </a:r>
            <a:r>
              <a:rPr lang="en-US" sz="1800" i="1" dirty="0">
                <a:solidFill>
                  <a:schemeClr val="bg1"/>
                </a:solidFill>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sao</a:t>
            </a:r>
            <a:r>
              <a:rPr lang="en-US" sz="1800" i="1" dirty="0">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 </a:t>
            </a:r>
            <a:r>
              <a:rPr lang="en-US" sz="1800" i="1" dirty="0" err="1">
                <a:solidFill>
                  <a:schemeClr val="bg1"/>
                </a:solidFill>
                <a:effectLst/>
                <a:latin typeface="JetBrains Mono ExtraLight" panose="02000009000000000000" pitchFamily="49" charset="0"/>
                <a:ea typeface="Times New Roman" panose="02020603050405020304" pitchFamily="18" charset="0"/>
                <a:cs typeface="JetBrains Mono ExtraLight" panose="02000009000000000000" pitchFamily="49" charset="0"/>
              </a:rPr>
              <a:t>cho</a:t>
            </a:r>
            <a:r>
              <a:rPr lang="en-US" sz="1800" i="1" dirty="0">
                <a:solidFill>
                  <a:schemeClr val="bg1"/>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en-US" sz="1800" i="1"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tổng</a:t>
            </a:r>
            <a:r>
              <a:rPr lang="en-US" sz="1800" i="1"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i="1"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các</a:t>
            </a:r>
            <a:r>
              <a:rPr lang="en-US" sz="1800" i="1"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i="1"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trọng</a:t>
            </a:r>
            <a:r>
              <a:rPr lang="en-US" sz="1800" i="1"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i="1"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số</a:t>
            </a:r>
            <a:r>
              <a:rPr lang="en-US" sz="1800" i="1"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i="1"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của</a:t>
            </a:r>
            <a:r>
              <a:rPr lang="en-US" sz="1800" i="1"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i="1"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các</a:t>
            </a:r>
            <a:r>
              <a:rPr lang="en-US" sz="1800" i="1"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i="1"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cạnh</a:t>
            </a:r>
            <a:r>
              <a:rPr lang="en-US" sz="1800" i="1"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i="1"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tạo</a:t>
            </a:r>
            <a:r>
              <a:rPr lang="en-US" sz="1800" i="1"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ra </a:t>
            </a:r>
            <a:r>
              <a:rPr lang="en-US" sz="1800" i="1"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đường</a:t>
            </a:r>
            <a:r>
              <a:rPr lang="en-US" sz="1800" i="1"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i="1"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đi</a:t>
            </a:r>
            <a:r>
              <a:rPr lang="en-US" sz="1800" i="1"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i="1"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đó</a:t>
            </a:r>
            <a:r>
              <a:rPr lang="en-US" sz="1800" i="1"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i="1"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nhỏ</a:t>
            </a:r>
            <a:r>
              <a:rPr lang="en-US" sz="1800" i="1"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 </a:t>
            </a:r>
            <a:r>
              <a:rPr lang="en-US" sz="1800" i="1" dirty="0" err="1">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nhất</a:t>
            </a:r>
            <a:r>
              <a:rPr lang="en-US" sz="1800" i="1" dirty="0">
                <a:solidFill>
                  <a:schemeClr val="bg1"/>
                </a:solidFill>
                <a:effectLst/>
                <a:latin typeface="JetBrains Mono Medium" panose="02000009000000000000" pitchFamily="49" charset="0"/>
                <a:ea typeface="Times New Roman" panose="02020603050405020304" pitchFamily="18" charset="0"/>
                <a:cs typeface="JetBrains Mono Medium" panose="02000009000000000000" pitchFamily="49" charset="0"/>
              </a:rPr>
              <a:t>.</a:t>
            </a:r>
            <a:endParaRPr lang="en-US" sz="1800" i="1" dirty="0">
              <a:solidFill>
                <a:schemeClr val="bg1"/>
              </a:solidFill>
              <a:effectLst/>
              <a:latin typeface="JetBrains Mono Medium" panose="02000009000000000000" pitchFamily="49" charset="0"/>
              <a:ea typeface="Calibri" panose="020F0502020204030204" pitchFamily="34" charset="0"/>
              <a:cs typeface="JetBrains Mono Medium" panose="02000009000000000000" pitchFamily="49" charset="0"/>
            </a:endParaRPr>
          </a:p>
        </p:txBody>
      </p:sp>
      <p:sp>
        <p:nvSpPr>
          <p:cNvPr id="16" name="TextBox 15">
            <a:extLst>
              <a:ext uri="{FF2B5EF4-FFF2-40B4-BE49-F238E27FC236}">
                <a16:creationId xmlns:a16="http://schemas.microsoft.com/office/drawing/2014/main" id="{EF9CBC36-6BB3-425F-9524-576C7A879FE5}"/>
              </a:ext>
            </a:extLst>
          </p:cNvPr>
          <p:cNvSpPr txBox="1"/>
          <p:nvPr/>
        </p:nvSpPr>
        <p:spPr>
          <a:xfrm>
            <a:off x="1037306" y="2337591"/>
            <a:ext cx="1010569" cy="369332"/>
          </a:xfrm>
          <a:prstGeom prst="rect">
            <a:avLst/>
          </a:prstGeom>
          <a:solidFill>
            <a:schemeClr val="bg1"/>
          </a:solidFill>
          <a:ln>
            <a:solidFill>
              <a:schemeClr val="bg1">
                <a:lumMod val="50000"/>
              </a:schemeClr>
            </a:solidFill>
          </a:ln>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Cụ</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thể</a:t>
            </a:r>
            <a:endParaRPr lang="en-US" dirty="0">
              <a:latin typeface="JetBrains Mono Regular" panose="02000009000000000000" pitchFamily="49" charset="0"/>
              <a:cs typeface="JetBrains Mono Regular" panose="02000009000000000000" pitchFamily="49" charset="0"/>
            </a:endParaRPr>
          </a:p>
        </p:txBody>
      </p:sp>
      <p:sp>
        <p:nvSpPr>
          <p:cNvPr id="18" name="TextBox 17">
            <a:extLst>
              <a:ext uri="{FF2B5EF4-FFF2-40B4-BE49-F238E27FC236}">
                <a16:creationId xmlns:a16="http://schemas.microsoft.com/office/drawing/2014/main" id="{E7CC5C61-7415-45ED-9B60-F32EE6BA913B}"/>
              </a:ext>
            </a:extLst>
          </p:cNvPr>
          <p:cNvSpPr txBox="1"/>
          <p:nvPr/>
        </p:nvSpPr>
        <p:spPr>
          <a:xfrm>
            <a:off x="1238064" y="2807488"/>
            <a:ext cx="1598921" cy="377604"/>
          </a:xfrm>
          <a:prstGeom prst="rect">
            <a:avLst/>
          </a:prstGeom>
          <a:noFill/>
          <a:ln>
            <a:noFill/>
          </a:ln>
        </p:spPr>
        <p:txBody>
          <a:bodyPr wrap="square" rtlCol="0">
            <a:spAutoFit/>
          </a:bodyPr>
          <a:lstStyle/>
          <a:p>
            <a:pPr marL="0" marR="0">
              <a:lnSpc>
                <a:spcPct val="107000"/>
              </a:lnSpc>
              <a:spcBef>
                <a:spcPts val="0"/>
              </a:spcBef>
              <a:spcAft>
                <a:spcPts val="800"/>
              </a:spcAft>
            </a:pPr>
            <a:r>
              <a:rPr lang="en-US" sz="1800" dirty="0">
                <a:solidFill>
                  <a:schemeClr val="bg1"/>
                </a:solidFill>
                <a:effectLst/>
                <a:latin typeface="JetBrains Mono ExtraLight" panose="02000009000000000000" pitchFamily="49" charset="0"/>
                <a:ea typeface="Calibri" panose="020F0502020204030204" pitchFamily="34" charset="0"/>
                <a:cs typeface="JetBrains Mono ExtraLight" panose="02000009000000000000" pitchFamily="49" charset="0"/>
              </a:rPr>
              <a:t>Cho </a:t>
            </a:r>
            <a:r>
              <a:rPr lang="en-US" sz="1800" dirty="0" err="1">
                <a:solidFill>
                  <a:schemeClr val="bg1"/>
                </a:solidFill>
                <a:effectLst/>
                <a:latin typeface="JetBrains Mono ExtraLight" panose="02000009000000000000" pitchFamily="49" charset="0"/>
                <a:ea typeface="Calibri" panose="020F0502020204030204" pitchFamily="34" charset="0"/>
                <a:cs typeface="JetBrains Mono ExtraLight" panose="02000009000000000000" pitchFamily="49" charset="0"/>
              </a:rPr>
              <a:t>trước</a:t>
            </a:r>
            <a:r>
              <a:rPr lang="en-US" sz="1800" dirty="0">
                <a:solidFill>
                  <a:schemeClr val="bg1"/>
                </a:solidFill>
                <a:effectLst/>
                <a:latin typeface="JetBrains Mono ExtraLight" panose="02000009000000000000" pitchFamily="49" charset="0"/>
                <a:ea typeface="Calibri" panose="020F0502020204030204" pitchFamily="34" charset="0"/>
                <a:cs typeface="JetBrains Mono ExtraLight" panose="02000009000000000000" pitchFamily="49" charset="0"/>
              </a:rPr>
              <a:t>:</a:t>
            </a:r>
          </a:p>
        </p:txBody>
      </p:sp>
      <p:sp>
        <p:nvSpPr>
          <p:cNvPr id="2" name="TextBox 1">
            <a:extLst>
              <a:ext uri="{FF2B5EF4-FFF2-40B4-BE49-F238E27FC236}">
                <a16:creationId xmlns:a16="http://schemas.microsoft.com/office/drawing/2014/main" id="{90D511ED-085C-4488-B285-6CFA1E150F73}"/>
              </a:ext>
            </a:extLst>
          </p:cNvPr>
          <p:cNvSpPr txBox="1"/>
          <p:nvPr/>
        </p:nvSpPr>
        <p:spPr>
          <a:xfrm>
            <a:off x="2836985" y="2714497"/>
            <a:ext cx="8285660" cy="923330"/>
          </a:xfrm>
          <a:prstGeom prst="rect">
            <a:avLst/>
          </a:prstGeom>
          <a:noFill/>
        </p:spPr>
        <p:txBody>
          <a:bodyPr wrap="square" rtlCol="0">
            <a:spAutoFit/>
          </a:bodyPr>
          <a:lstStyle/>
          <a:p>
            <a:r>
              <a:rPr lang="en-US" sz="1800" dirty="0" err="1">
                <a:solidFill>
                  <a:schemeClr val="bg1">
                    <a:lumMod val="85000"/>
                  </a:schemeClr>
                </a:solidFill>
                <a:effectLst/>
                <a:latin typeface="JetBrains Mono Regular"/>
                <a:ea typeface="Times New Roman" panose="02020603050405020304" pitchFamily="18" charset="0"/>
              </a:rPr>
              <a:t>Một</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đồ</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thị</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có</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trọng</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số</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một</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tập</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đỉnh</a:t>
            </a:r>
            <a:r>
              <a:rPr lang="en-US" sz="1800" dirty="0">
                <a:solidFill>
                  <a:schemeClr val="bg1">
                    <a:lumMod val="85000"/>
                  </a:schemeClr>
                </a:solidFill>
                <a:effectLst/>
                <a:latin typeface="JetBrains Mono Regular"/>
                <a:ea typeface="Times New Roman" panose="02020603050405020304" pitchFamily="18" charset="0"/>
              </a:rPr>
              <a:t> </a:t>
            </a:r>
            <a:r>
              <a:rPr lang="en-US" sz="1800" i="1" dirty="0">
                <a:solidFill>
                  <a:schemeClr val="bg1">
                    <a:lumMod val="85000"/>
                  </a:schemeClr>
                </a:solidFill>
                <a:effectLst/>
                <a:latin typeface="JetBrains Mono Regular"/>
                <a:ea typeface="Times New Roman" panose="02020603050405020304" pitchFamily="18" charset="0"/>
              </a:rPr>
              <a:t>V</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một</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tập</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cạnh</a:t>
            </a:r>
            <a:r>
              <a:rPr lang="en-US" sz="1800" dirty="0">
                <a:solidFill>
                  <a:schemeClr val="bg1">
                    <a:lumMod val="85000"/>
                  </a:schemeClr>
                </a:solidFill>
                <a:effectLst/>
                <a:latin typeface="JetBrains Mono Regular"/>
                <a:ea typeface="Times New Roman" panose="02020603050405020304" pitchFamily="18" charset="0"/>
              </a:rPr>
              <a:t> </a:t>
            </a:r>
            <a:r>
              <a:rPr lang="en-US" sz="1800" i="1" dirty="0">
                <a:solidFill>
                  <a:schemeClr val="bg1">
                    <a:lumMod val="85000"/>
                  </a:schemeClr>
                </a:solidFill>
                <a:effectLst/>
                <a:latin typeface="JetBrains Mono Regular"/>
                <a:ea typeface="Times New Roman" panose="02020603050405020304" pitchFamily="18" charset="0"/>
              </a:rPr>
              <a:t>E</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một</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hàm</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trong</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số</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có</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giá</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trị</a:t>
            </a:r>
            <a:r>
              <a:rPr lang="en-US" sz="1800" dirty="0">
                <a:solidFill>
                  <a:schemeClr val="bg1">
                    <a:lumMod val="85000"/>
                  </a:schemeClr>
                </a:solidFill>
                <a:effectLst/>
                <a:latin typeface="JetBrains Mono Regular"/>
                <a:ea typeface="Times New Roman" panose="02020603050405020304" pitchFamily="18" charset="0"/>
              </a:rPr>
              <a:t> </a:t>
            </a:r>
            <a:r>
              <a:rPr lang="en-US" sz="1800" u="sng" dirty="0" err="1">
                <a:solidFill>
                  <a:schemeClr val="bg1">
                    <a:lumMod val="85000"/>
                  </a:schemeClr>
                </a:solidFill>
                <a:effectLst/>
                <a:latin typeface="JetBrains Mono Regular"/>
                <a:ea typeface="Times New Roman" panose="02020603050405020304" pitchFamily="18" charset="0"/>
                <a:hlinkClick r:id="rId2" tooltip="Số thực">
                  <a:extLst>
                    <a:ext uri="{A12FA001-AC4F-418D-AE19-62706E023703}">
                      <ahyp:hlinkClr xmlns:ahyp="http://schemas.microsoft.com/office/drawing/2018/hyperlinkcolor" val="tx"/>
                    </a:ext>
                  </a:extLst>
                </a:hlinkClick>
              </a:rPr>
              <a:t>thực</a:t>
            </a:r>
            <a:r>
              <a:rPr lang="en-US" sz="1800" dirty="0">
                <a:solidFill>
                  <a:schemeClr val="bg1">
                    <a:lumMod val="85000"/>
                  </a:schemeClr>
                </a:solidFill>
                <a:effectLst/>
                <a:latin typeface="JetBrains Mono Regular"/>
                <a:ea typeface="Times New Roman" panose="02020603050405020304" pitchFamily="18" charset="0"/>
              </a:rPr>
              <a:t> </a:t>
            </a:r>
            <a:r>
              <a:rPr lang="en-US" sz="1800" i="1" dirty="0">
                <a:solidFill>
                  <a:schemeClr val="bg1">
                    <a:lumMod val="85000"/>
                  </a:schemeClr>
                </a:solidFill>
                <a:effectLst/>
                <a:latin typeface="JetBrains Mono Regular"/>
                <a:ea typeface="Times New Roman" panose="02020603050405020304" pitchFamily="18" charset="0"/>
              </a:rPr>
              <a:t>f</a:t>
            </a:r>
            <a:r>
              <a:rPr lang="en-US" sz="1800" dirty="0">
                <a:solidFill>
                  <a:schemeClr val="bg1">
                    <a:lumMod val="85000"/>
                  </a:schemeClr>
                </a:solidFill>
                <a:effectLst/>
                <a:latin typeface="JetBrains Mono Regular"/>
                <a:ea typeface="Times New Roman" panose="02020603050405020304" pitchFamily="18" charset="0"/>
              </a:rPr>
              <a:t> : </a:t>
            </a:r>
            <a:r>
              <a:rPr lang="en-US" sz="1800" i="1" dirty="0">
                <a:solidFill>
                  <a:schemeClr val="bg1">
                    <a:lumMod val="85000"/>
                  </a:schemeClr>
                </a:solidFill>
                <a:effectLst/>
                <a:latin typeface="JetBrains Mono Regular"/>
                <a:ea typeface="Times New Roman" panose="02020603050405020304" pitchFamily="18" charset="0"/>
              </a:rPr>
              <a:t>E</a:t>
            </a:r>
            <a:r>
              <a:rPr lang="en-US" sz="1800" dirty="0">
                <a:solidFill>
                  <a:schemeClr val="bg1">
                    <a:lumMod val="85000"/>
                  </a:schemeClr>
                </a:solidFill>
                <a:effectLst/>
                <a:latin typeface="JetBrains Mono Regular"/>
                <a:ea typeface="Times New Roman" panose="02020603050405020304" pitchFamily="18" charset="0"/>
              </a:rPr>
              <a:t> -→ R), </a:t>
            </a:r>
          </a:p>
          <a:p>
            <a:r>
              <a:rPr lang="en-US" sz="1800" dirty="0" err="1">
                <a:solidFill>
                  <a:schemeClr val="bg1">
                    <a:lumMod val="85000"/>
                  </a:schemeClr>
                </a:solidFill>
                <a:effectLst/>
                <a:latin typeface="JetBrains Mono Regular"/>
                <a:ea typeface="Times New Roman" panose="02020603050405020304" pitchFamily="18" charset="0"/>
              </a:rPr>
              <a:t>và</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một</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đỉnh</a:t>
            </a:r>
            <a:r>
              <a:rPr lang="en-US" sz="1800" dirty="0">
                <a:solidFill>
                  <a:schemeClr val="bg1">
                    <a:lumMod val="85000"/>
                  </a:schemeClr>
                </a:solidFill>
                <a:effectLst/>
                <a:latin typeface="JetBrains Mono Regular"/>
                <a:ea typeface="Times New Roman" panose="02020603050405020304" pitchFamily="18" charset="0"/>
              </a:rPr>
              <a:t> </a:t>
            </a:r>
            <a:r>
              <a:rPr lang="en-US" sz="1800" i="1" dirty="0">
                <a:solidFill>
                  <a:schemeClr val="bg1">
                    <a:lumMod val="85000"/>
                  </a:schemeClr>
                </a:solidFill>
                <a:effectLst/>
                <a:latin typeface="JetBrains Mono Regular"/>
                <a:ea typeface="Times New Roman" panose="02020603050405020304" pitchFamily="18" charset="0"/>
              </a:rPr>
              <a:t>v</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thuộc</a:t>
            </a:r>
            <a:r>
              <a:rPr lang="en-US" sz="1800" dirty="0">
                <a:solidFill>
                  <a:schemeClr val="bg1">
                    <a:lumMod val="85000"/>
                  </a:schemeClr>
                </a:solidFill>
                <a:effectLst/>
                <a:latin typeface="JetBrains Mono Regular"/>
                <a:ea typeface="Times New Roman" panose="02020603050405020304" pitchFamily="18" charset="0"/>
              </a:rPr>
              <a:t> </a:t>
            </a:r>
            <a:r>
              <a:rPr lang="en-US" sz="1800" i="1" dirty="0">
                <a:solidFill>
                  <a:schemeClr val="bg1">
                    <a:lumMod val="85000"/>
                  </a:schemeClr>
                </a:solidFill>
                <a:effectLst/>
                <a:latin typeface="JetBrains Mono Regular"/>
                <a:ea typeface="Times New Roman" panose="02020603050405020304" pitchFamily="18" charset="0"/>
              </a:rPr>
              <a:t>V.</a:t>
            </a:r>
            <a:endParaRPr lang="en-US" dirty="0"/>
          </a:p>
        </p:txBody>
      </p:sp>
      <p:sp>
        <p:nvSpPr>
          <p:cNvPr id="3" name="TextBox 2">
            <a:extLst>
              <a:ext uri="{FF2B5EF4-FFF2-40B4-BE49-F238E27FC236}">
                <a16:creationId xmlns:a16="http://schemas.microsoft.com/office/drawing/2014/main" id="{268EF2B9-A01B-41ED-A0A9-6D50F88CB66C}"/>
              </a:ext>
            </a:extLst>
          </p:cNvPr>
          <p:cNvSpPr txBox="1"/>
          <p:nvPr/>
        </p:nvSpPr>
        <p:spPr>
          <a:xfrm>
            <a:off x="1238064" y="3792655"/>
            <a:ext cx="4001612" cy="646331"/>
          </a:xfrm>
          <a:prstGeom prst="rect">
            <a:avLst/>
          </a:prstGeom>
          <a:noFill/>
        </p:spPr>
        <p:txBody>
          <a:bodyPr wrap="square" rtlCol="0">
            <a:spAutoFit/>
          </a:bodyPr>
          <a:lstStyle/>
          <a:p>
            <a:r>
              <a:rPr lang="en-US" dirty="0" err="1">
                <a:solidFill>
                  <a:schemeClr val="bg1">
                    <a:lumMod val="85000"/>
                  </a:schemeClr>
                </a:solidFill>
                <a:latin typeface="JetBrains Mono Regular"/>
                <a:ea typeface="Times New Roman" panose="02020603050405020304" pitchFamily="18" charset="0"/>
              </a:rPr>
              <a:t>T</a:t>
            </a:r>
            <a:r>
              <a:rPr lang="en-US" sz="1800" dirty="0" err="1">
                <a:solidFill>
                  <a:schemeClr val="bg1">
                    <a:lumMod val="85000"/>
                  </a:schemeClr>
                </a:solidFill>
                <a:effectLst/>
                <a:latin typeface="JetBrains Mono Regular"/>
                <a:ea typeface="Times New Roman" panose="02020603050405020304" pitchFamily="18" charset="0"/>
              </a:rPr>
              <a:t>ìm</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một</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đường</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đi</a:t>
            </a:r>
            <a:r>
              <a:rPr lang="en-US" sz="1800" dirty="0">
                <a:solidFill>
                  <a:schemeClr val="bg1">
                    <a:lumMod val="85000"/>
                  </a:schemeClr>
                </a:solidFill>
                <a:effectLst/>
                <a:latin typeface="JetBrains Mono Regular"/>
                <a:ea typeface="Times New Roman" panose="02020603050405020304" pitchFamily="18" charset="0"/>
              </a:rPr>
              <a:t> </a:t>
            </a:r>
            <a:r>
              <a:rPr lang="en-US" sz="1800" i="1" dirty="0">
                <a:solidFill>
                  <a:schemeClr val="bg1">
                    <a:lumMod val="85000"/>
                  </a:schemeClr>
                </a:solidFill>
                <a:effectLst/>
                <a:latin typeface="JetBrains Mono Regular"/>
                <a:ea typeface="Times New Roman" panose="02020603050405020304" pitchFamily="18" charset="0"/>
              </a:rPr>
              <a:t>P</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từ</a:t>
            </a:r>
            <a:r>
              <a:rPr lang="en-US" sz="1800" dirty="0">
                <a:solidFill>
                  <a:schemeClr val="bg1">
                    <a:lumMod val="85000"/>
                  </a:schemeClr>
                </a:solidFill>
                <a:effectLst/>
                <a:latin typeface="JetBrains Mono Regular"/>
                <a:ea typeface="Times New Roman" panose="02020603050405020304" pitchFamily="18" charset="0"/>
              </a:rPr>
              <a:t> </a:t>
            </a:r>
            <a:r>
              <a:rPr lang="en-US" sz="1800" i="1" dirty="0">
                <a:solidFill>
                  <a:schemeClr val="bg1">
                    <a:lumMod val="85000"/>
                  </a:schemeClr>
                </a:solidFill>
                <a:effectLst/>
                <a:latin typeface="JetBrains Mono Regular"/>
                <a:ea typeface="Times New Roman" panose="02020603050405020304" pitchFamily="18" charset="0"/>
              </a:rPr>
              <a:t>v</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tới</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mỗi</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đỉnh</a:t>
            </a:r>
            <a:r>
              <a:rPr lang="en-US" sz="1800" dirty="0">
                <a:solidFill>
                  <a:schemeClr val="bg1">
                    <a:lumMod val="85000"/>
                  </a:schemeClr>
                </a:solidFill>
                <a:effectLst/>
                <a:latin typeface="JetBrains Mono Regular"/>
                <a:ea typeface="Times New Roman" panose="02020603050405020304" pitchFamily="18" charset="0"/>
              </a:rPr>
              <a:t> </a:t>
            </a:r>
            <a:r>
              <a:rPr lang="en-US" sz="1800" i="1" dirty="0">
                <a:solidFill>
                  <a:schemeClr val="bg1">
                    <a:lumMod val="85000"/>
                  </a:schemeClr>
                </a:solidFill>
                <a:effectLst/>
                <a:latin typeface="JetBrains Mono Regular"/>
                <a:ea typeface="Times New Roman" panose="02020603050405020304" pitchFamily="18" charset="0"/>
              </a:rPr>
              <a:t>v' </a:t>
            </a:r>
            <a:r>
              <a:rPr lang="en-US" sz="1800" dirty="0" err="1">
                <a:solidFill>
                  <a:schemeClr val="bg1">
                    <a:lumMod val="85000"/>
                  </a:schemeClr>
                </a:solidFill>
                <a:effectLst/>
                <a:latin typeface="JetBrains Mono Regular"/>
                <a:ea typeface="Times New Roman" panose="02020603050405020304" pitchFamily="18" charset="0"/>
              </a:rPr>
              <a:t>thuộc</a:t>
            </a:r>
            <a:r>
              <a:rPr lang="en-US" sz="1800" dirty="0">
                <a:solidFill>
                  <a:schemeClr val="bg1">
                    <a:lumMod val="85000"/>
                  </a:schemeClr>
                </a:solidFill>
                <a:effectLst/>
                <a:latin typeface="JetBrains Mono Regular"/>
                <a:ea typeface="Times New Roman" panose="02020603050405020304" pitchFamily="18" charset="0"/>
              </a:rPr>
              <a:t> </a:t>
            </a:r>
            <a:r>
              <a:rPr lang="en-US" sz="1800" i="1" dirty="0">
                <a:solidFill>
                  <a:schemeClr val="bg1">
                    <a:lumMod val="85000"/>
                  </a:schemeClr>
                </a:solidFill>
                <a:effectLst/>
                <a:latin typeface="JetBrains Mono Regular"/>
                <a:ea typeface="Times New Roman" panose="02020603050405020304" pitchFamily="18" charset="0"/>
              </a:rPr>
              <a:t>V</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sao</a:t>
            </a:r>
            <a:r>
              <a:rPr lang="en-US" sz="1800" dirty="0">
                <a:solidFill>
                  <a:schemeClr val="bg1">
                    <a:lumMod val="85000"/>
                  </a:schemeClr>
                </a:solidFill>
                <a:effectLst/>
                <a:latin typeface="JetBrains Mono Regular"/>
                <a:ea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rPr>
              <a:t>cho</a:t>
            </a:r>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503862E-F8E5-4B6A-9BCE-5EC2C4BE3E5A}"/>
                  </a:ext>
                </a:extLst>
              </p:cNvPr>
              <p:cNvSpPr txBox="1"/>
              <p:nvPr/>
            </p:nvSpPr>
            <p:spPr>
              <a:xfrm>
                <a:off x="5241361" y="3676340"/>
                <a:ext cx="1404477" cy="878959"/>
              </a:xfrm>
              <a:prstGeom prst="rect">
                <a:avLst/>
              </a:prstGeom>
              <a:noFill/>
              <a:ln>
                <a:solidFill>
                  <a:schemeClr val="bg1">
                    <a:lumMod val="50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grow m:val="on"/>
                          <m:ctrlPr>
                            <a:rPr lang="en-US" sz="1800" i="1" smtClean="0">
                              <a:solidFill>
                                <a:schemeClr val="bg1">
                                  <a:lumMod val="85000"/>
                                </a:schemeClr>
                              </a:solidFill>
                              <a:effectLst/>
                              <a:latin typeface="Cambria Math" panose="02040503050406030204" pitchFamily="18" charset="0"/>
                              <a:ea typeface="Times New Roman" panose="02020603050405020304" pitchFamily="18" charset="0"/>
                            </a:rPr>
                          </m:ctrlPr>
                        </m:naryPr>
                        <m:sub>
                          <m:r>
                            <a:rPr lang="en-US" sz="1800" i="1">
                              <a:solidFill>
                                <a:schemeClr val="bg1">
                                  <a:lumMod val="85000"/>
                                </a:schemeClr>
                              </a:solidFill>
                              <a:effectLst/>
                              <a:latin typeface="Cambria Math" panose="02040503050406030204" pitchFamily="18" charset="0"/>
                              <a:ea typeface="Times New Roman" panose="02020603050405020304" pitchFamily="18" charset="0"/>
                            </a:rPr>
                            <m:t>𝑝</m:t>
                          </m:r>
                          <m:r>
                            <a:rPr lang="en-US" sz="1800" i="1">
                              <a:solidFill>
                                <a:schemeClr val="bg1">
                                  <a:lumMod val="85000"/>
                                </a:schemeClr>
                              </a:solidFill>
                              <a:effectLst/>
                              <a:latin typeface="Cambria Math" panose="02040503050406030204" pitchFamily="18" charset="0"/>
                              <a:ea typeface="Times New Roman" panose="02020603050405020304" pitchFamily="18" charset="0"/>
                            </a:rPr>
                            <m:t>€</m:t>
                          </m:r>
                          <m:r>
                            <a:rPr lang="en-US" sz="1800" i="1">
                              <a:solidFill>
                                <a:schemeClr val="bg1">
                                  <a:lumMod val="85000"/>
                                </a:schemeClr>
                              </a:solidFill>
                              <a:effectLst/>
                              <a:latin typeface="Cambria Math" panose="02040503050406030204" pitchFamily="18" charset="0"/>
                              <a:ea typeface="Times New Roman" panose="02020603050405020304" pitchFamily="18" charset="0"/>
                            </a:rPr>
                            <m:t>𝑃</m:t>
                          </m:r>
                        </m:sub>
                        <m:sup>
                          <m:r>
                            <a:rPr lang="en-US" sz="1800" i="1">
                              <a:solidFill>
                                <a:schemeClr val="bg1">
                                  <a:lumMod val="85000"/>
                                </a:schemeClr>
                              </a:solidFill>
                              <a:effectLst/>
                              <a:latin typeface="Cambria Math" panose="02040503050406030204" pitchFamily="18" charset="0"/>
                              <a:ea typeface="Cambria Math" panose="02040503050406030204" pitchFamily="18" charset="0"/>
                            </a:rPr>
                            <m:t>𝑛</m:t>
                          </m:r>
                        </m:sup>
                        <m:e>
                          <m:r>
                            <a:rPr lang="en-US" sz="1800" i="1">
                              <a:solidFill>
                                <a:schemeClr val="bg1">
                                  <a:lumMod val="85000"/>
                                </a:schemeClr>
                              </a:solidFill>
                              <a:effectLst/>
                              <a:latin typeface="Cambria Math" panose="02040503050406030204" pitchFamily="18" charset="0"/>
                              <a:ea typeface="Times New Roman" panose="02020603050405020304" pitchFamily="18" charset="0"/>
                            </a:rPr>
                            <m:t>𝑓</m:t>
                          </m:r>
                          <m:r>
                            <a:rPr lang="en-US" sz="1800" i="1">
                              <a:solidFill>
                                <a:schemeClr val="bg1">
                                  <a:lumMod val="85000"/>
                                </a:schemeClr>
                              </a:solidFill>
                              <a:effectLst/>
                              <a:latin typeface="Cambria Math" panose="02040503050406030204" pitchFamily="18" charset="0"/>
                              <a:ea typeface="Times New Roman" panose="02020603050405020304" pitchFamily="18" charset="0"/>
                            </a:rPr>
                            <m:t>(</m:t>
                          </m:r>
                          <m:r>
                            <a:rPr lang="en-US" sz="1800" i="1">
                              <a:solidFill>
                                <a:schemeClr val="bg1">
                                  <a:lumMod val="85000"/>
                                </a:schemeClr>
                              </a:solidFill>
                              <a:effectLst/>
                              <a:latin typeface="Cambria Math" panose="02040503050406030204" pitchFamily="18" charset="0"/>
                              <a:ea typeface="Times New Roman" panose="02020603050405020304" pitchFamily="18" charset="0"/>
                            </a:rPr>
                            <m:t>𝑝</m:t>
                          </m:r>
                          <m:r>
                            <a:rPr lang="en-US" sz="1800" i="1">
                              <a:solidFill>
                                <a:schemeClr val="bg1">
                                  <a:lumMod val="85000"/>
                                </a:schemeClr>
                              </a:solidFill>
                              <a:effectLst/>
                              <a:latin typeface="Cambria Math" panose="02040503050406030204" pitchFamily="18" charset="0"/>
                              <a:ea typeface="Times New Roman" panose="02020603050405020304" pitchFamily="18" charset="0"/>
                            </a:rPr>
                            <m:t>)</m:t>
                          </m:r>
                        </m:e>
                      </m:nary>
                    </m:oMath>
                  </m:oMathPara>
                </a14:m>
                <a:endParaRPr lang="en-US" dirty="0"/>
              </a:p>
            </p:txBody>
          </p:sp>
        </mc:Choice>
        <mc:Fallback xmlns="">
          <p:sp>
            <p:nvSpPr>
              <p:cNvPr id="5" name="TextBox 4">
                <a:extLst>
                  <a:ext uri="{FF2B5EF4-FFF2-40B4-BE49-F238E27FC236}">
                    <a16:creationId xmlns:a16="http://schemas.microsoft.com/office/drawing/2014/main" id="{9503862E-F8E5-4B6A-9BCE-5EC2C4BE3E5A}"/>
                  </a:ext>
                </a:extLst>
              </p:cNvPr>
              <p:cNvSpPr txBox="1">
                <a:spLocks noRot="1" noChangeAspect="1" noMove="1" noResize="1" noEditPoints="1" noAdjustHandles="1" noChangeArrowheads="1" noChangeShapeType="1" noTextEdit="1"/>
              </p:cNvSpPr>
              <p:nvPr/>
            </p:nvSpPr>
            <p:spPr>
              <a:xfrm>
                <a:off x="5241361" y="3676340"/>
                <a:ext cx="1404477" cy="878959"/>
              </a:xfrm>
              <a:prstGeom prst="rect">
                <a:avLst/>
              </a:prstGeom>
              <a:blipFill>
                <a:blip r:embed="rId3"/>
                <a:stretch>
                  <a:fillRect/>
                </a:stretch>
              </a:blipFill>
              <a:ln>
                <a:solidFill>
                  <a:schemeClr val="bg1">
                    <a:lumMod val="50000"/>
                  </a:schemeClr>
                </a:solidFill>
              </a:ln>
            </p:spPr>
            <p:txBody>
              <a:bodyPr/>
              <a:lstStyle/>
              <a:p>
                <a:r>
                  <a:rPr lang="en-US">
                    <a:noFill/>
                  </a:rPr>
                  <a:t> </a:t>
                </a:r>
              </a:p>
            </p:txBody>
          </p:sp>
        </mc:Fallback>
      </mc:AlternateContent>
      <p:sp>
        <p:nvSpPr>
          <p:cNvPr id="28" name="TextBox 27">
            <a:extLst>
              <a:ext uri="{FF2B5EF4-FFF2-40B4-BE49-F238E27FC236}">
                <a16:creationId xmlns:a16="http://schemas.microsoft.com/office/drawing/2014/main" id="{84A587FF-B10E-4EAD-A044-01865CD92131}"/>
              </a:ext>
            </a:extLst>
          </p:cNvPr>
          <p:cNvSpPr txBox="1"/>
          <p:nvPr/>
        </p:nvSpPr>
        <p:spPr>
          <a:xfrm>
            <a:off x="6828310" y="3792655"/>
            <a:ext cx="4771598" cy="646331"/>
          </a:xfrm>
          <a:prstGeom prst="rect">
            <a:avLst/>
          </a:prstGeom>
          <a:noFill/>
        </p:spPr>
        <p:txBody>
          <a:bodyPr wrap="square" rtlCol="0">
            <a:spAutoFit/>
          </a:bodyPr>
          <a:lstStyle/>
          <a:p>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là</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nhỏ</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nhất</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trong</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tất</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cả</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các</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đường</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nối</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từ</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i="1"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v</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tới</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i="1"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v' </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a:t>
            </a:r>
            <a:endParaRPr lang="en-US" dirty="0"/>
          </a:p>
        </p:txBody>
      </p:sp>
      <p:sp>
        <p:nvSpPr>
          <p:cNvPr id="6" name="TextBox 5">
            <a:extLst>
              <a:ext uri="{FF2B5EF4-FFF2-40B4-BE49-F238E27FC236}">
                <a16:creationId xmlns:a16="http://schemas.microsoft.com/office/drawing/2014/main" id="{D4C5BEEE-F69F-436C-9D10-ED06AB73FA08}"/>
              </a:ext>
            </a:extLst>
          </p:cNvPr>
          <p:cNvSpPr txBox="1"/>
          <p:nvPr/>
        </p:nvSpPr>
        <p:spPr>
          <a:xfrm>
            <a:off x="1037306" y="5117196"/>
            <a:ext cx="9971074" cy="646331"/>
          </a:xfrm>
          <a:prstGeom prst="rect">
            <a:avLst/>
          </a:prstGeom>
          <a:noFill/>
          <a:ln>
            <a:solidFill>
              <a:schemeClr val="bg1">
                <a:lumMod val="50000"/>
              </a:schemeClr>
            </a:solidFill>
          </a:ln>
        </p:spPr>
        <p:txBody>
          <a:bodyPr wrap="square" rtlCol="0">
            <a:spAutoFit/>
          </a:bodyPr>
          <a:lstStyle/>
          <a:p>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Bài</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toán</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đường</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đi</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ngắn</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nhất</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giữa</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mọi</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cặp</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đỉnh</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là</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một</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bài</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toán</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tương</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tự</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trong</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đó</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ta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phải</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tìm</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các</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đường</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đi</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ngắn</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nhất</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cho</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mọi</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cặp</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đỉnh</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i="1"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v</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dirty="0" err="1">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và</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 </a:t>
            </a:r>
            <a:r>
              <a:rPr lang="en-US" sz="1800" i="1"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v' </a:t>
            </a:r>
            <a:r>
              <a:rPr lang="en-US" sz="1800" dirty="0">
                <a:solidFill>
                  <a:schemeClr val="bg1">
                    <a:lumMod val="85000"/>
                  </a:schemeClr>
                </a:solidFill>
                <a:effectLst/>
                <a:latin typeface="JetBrains Mono Regular"/>
                <a:ea typeface="Times New Roman" panose="02020603050405020304" pitchFamily="18" charset="0"/>
                <a:cs typeface="Times New Roman" panose="02020603050405020304" pitchFamily="18" charset="0"/>
              </a:rPr>
              <a:t>.</a:t>
            </a:r>
            <a:endParaRPr lang="en-US" dirty="0"/>
          </a:p>
        </p:txBody>
      </p:sp>
    </p:spTree>
    <p:extLst>
      <p:ext uri="{BB962C8B-B14F-4D97-AF65-F5344CB8AC3E}">
        <p14:creationId xmlns:p14="http://schemas.microsoft.com/office/powerpoint/2010/main" val="1453536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par>
                          <p:cTn id="22" fill="hold">
                            <p:stCondLst>
                              <p:cond delay="1000"/>
                            </p:stCondLst>
                            <p:childTnLst>
                              <p:par>
                                <p:cTn id="23" presetID="10" presetClass="entr" presetSubtype="0" fill="hold" grpId="0" nodeType="after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 grpId="0"/>
      <p:bldP spid="3" grpId="0"/>
      <p:bldP spid="5" grpId="0" animBg="1"/>
      <p:bldP spid="28"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rgbClr val="F6F9FC"/>
            </a:gs>
            <a:gs pos="74000">
              <a:srgbClr val="B3D1EC"/>
            </a:gs>
            <a:gs pos="83000">
              <a:srgbClr val="B3D1EC"/>
            </a:gs>
            <a:gs pos="100000">
              <a:srgbClr val="CCE0F2"/>
            </a:gs>
          </a:gsLst>
          <a:lin ang="5400000" scaled="0"/>
        </a:gradFill>
        <a:effectLst/>
      </p:bgPr>
    </p:bg>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 y="0"/>
            <a:ext cx="10454054" cy="94077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Calibri"/>
              <a:buNone/>
            </a:pPr>
            <a:r>
              <a:rPr lang="vi-VN" b="1" dirty="0"/>
              <a:t>Chu</a:t>
            </a:r>
            <a:r>
              <a:rPr lang="vi-VN" dirty="0"/>
              <a:t> </a:t>
            </a:r>
            <a:r>
              <a:rPr lang="vi-VN" b="1" dirty="0"/>
              <a:t>trình Hamilton</a:t>
            </a:r>
            <a:endParaRPr b="1" dirty="0"/>
          </a:p>
        </p:txBody>
      </p:sp>
      <p:sp>
        <p:nvSpPr>
          <p:cNvPr id="85" name="Google Shape;85;p1"/>
          <p:cNvSpPr txBox="1">
            <a:spLocks noGrp="1"/>
          </p:cNvSpPr>
          <p:nvPr>
            <p:ph type="subTitle" idx="1"/>
          </p:nvPr>
        </p:nvSpPr>
        <p:spPr>
          <a:xfrm>
            <a:off x="1" y="940776"/>
            <a:ext cx="7948246" cy="591722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FF0000"/>
              </a:buClr>
              <a:buSzPts val="2400"/>
              <a:buNone/>
            </a:pPr>
            <a:r>
              <a:rPr lang="vi-VN" b="1" i="1" u="sng" dirty="0">
                <a:solidFill>
                  <a:srgbClr val="FF0000"/>
                </a:solidFill>
              </a:rPr>
              <a:t>1 Khái niệm</a:t>
            </a:r>
            <a:r>
              <a:rPr lang="vi-VN" dirty="0"/>
              <a:t>:</a:t>
            </a:r>
            <a:endParaRPr dirty="0"/>
          </a:p>
          <a:p>
            <a:pPr marL="0" lvl="0" indent="0" algn="l" rtl="0">
              <a:lnSpc>
                <a:spcPct val="90000"/>
              </a:lnSpc>
              <a:spcBef>
                <a:spcPts val="1000"/>
              </a:spcBef>
              <a:spcAft>
                <a:spcPts val="0"/>
              </a:spcAft>
              <a:buClr>
                <a:schemeClr val="dk1"/>
              </a:buClr>
              <a:buSzPts val="2400"/>
              <a:buNone/>
            </a:pPr>
            <a:r>
              <a:rPr lang="vi-VN" dirty="0"/>
              <a:t>-Đường đi Hamilton: đi qua tất cả các đỉnh mỗi đỉnh 1 lần và quay về nơi xuất phát.</a:t>
            </a:r>
            <a:endParaRPr dirty="0"/>
          </a:p>
          <a:p>
            <a:pPr marL="0" lvl="0" indent="0" algn="l" rtl="0">
              <a:lnSpc>
                <a:spcPct val="90000"/>
              </a:lnSpc>
              <a:spcBef>
                <a:spcPts val="1000"/>
              </a:spcBef>
              <a:spcAft>
                <a:spcPts val="0"/>
              </a:spcAft>
              <a:buClr>
                <a:schemeClr val="dk1"/>
              </a:buClr>
              <a:buSzPts val="2400"/>
              <a:buNone/>
            </a:pPr>
            <a:r>
              <a:rPr lang="vi-VN" dirty="0"/>
              <a:t>-Đồ thị bán Hamilton:là đồ thị có chứa đường đi Hamilton.</a:t>
            </a:r>
            <a:endParaRPr dirty="0"/>
          </a:p>
          <a:p>
            <a:pPr marL="0" lvl="0" indent="0" algn="l" rtl="0">
              <a:lnSpc>
                <a:spcPct val="90000"/>
              </a:lnSpc>
              <a:spcBef>
                <a:spcPts val="1000"/>
              </a:spcBef>
              <a:spcAft>
                <a:spcPts val="0"/>
              </a:spcAft>
              <a:buClr>
                <a:schemeClr val="dk1"/>
              </a:buClr>
              <a:buSzPts val="2400"/>
              <a:buNone/>
            </a:pPr>
            <a:r>
              <a:rPr lang="vi-VN" dirty="0"/>
              <a:t>-Đồ thị Hamilton:là đồ thị chứa chu trình Hamilton.</a:t>
            </a:r>
            <a:endParaRPr dirty="0"/>
          </a:p>
        </p:txBody>
      </p:sp>
      <p:sp>
        <p:nvSpPr>
          <p:cNvPr id="86" name="Google Shape;86;p1"/>
          <p:cNvSpPr/>
          <p:nvPr/>
        </p:nvSpPr>
        <p:spPr>
          <a:xfrm>
            <a:off x="8493369" y="1019906"/>
            <a:ext cx="1046285" cy="94956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 name="Google Shape;87;p1"/>
          <p:cNvSpPr/>
          <p:nvPr/>
        </p:nvSpPr>
        <p:spPr>
          <a:xfrm>
            <a:off x="10032023" y="1037492"/>
            <a:ext cx="1081454" cy="94956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88" name="Google Shape;88;p1"/>
          <p:cNvCxnSpPr/>
          <p:nvPr/>
        </p:nvCxnSpPr>
        <p:spPr>
          <a:xfrm>
            <a:off x="8502167" y="1037492"/>
            <a:ext cx="1046285" cy="949569"/>
          </a:xfrm>
          <a:prstGeom prst="straightConnector1">
            <a:avLst/>
          </a:prstGeom>
          <a:noFill/>
          <a:ln w="9525" cap="flat" cmpd="sng">
            <a:solidFill>
              <a:schemeClr val="accent1"/>
            </a:solidFill>
            <a:prstDash val="solid"/>
            <a:miter lim="800000"/>
            <a:headEnd type="none" w="sm" len="sm"/>
            <a:tailEnd type="none" w="sm" len="sm"/>
          </a:ln>
        </p:spPr>
      </p:cxnSp>
      <p:cxnSp>
        <p:nvCxnSpPr>
          <p:cNvPr id="89" name="Google Shape;89;p1"/>
          <p:cNvCxnSpPr/>
          <p:nvPr/>
        </p:nvCxnSpPr>
        <p:spPr>
          <a:xfrm flipH="1">
            <a:off x="8493369" y="1028700"/>
            <a:ext cx="1046285" cy="949569"/>
          </a:xfrm>
          <a:prstGeom prst="straightConnector1">
            <a:avLst/>
          </a:prstGeom>
          <a:noFill/>
          <a:ln w="9525" cap="flat" cmpd="sng">
            <a:solidFill>
              <a:schemeClr val="accent1"/>
            </a:solidFill>
            <a:prstDash val="solid"/>
            <a:miter lim="800000"/>
            <a:headEnd type="none" w="sm" len="sm"/>
            <a:tailEnd type="none" w="sm" len="sm"/>
          </a:ln>
        </p:spPr>
      </p:cxnSp>
      <p:sp>
        <p:nvSpPr>
          <p:cNvPr id="90" name="Google Shape;90;p1"/>
          <p:cNvSpPr/>
          <p:nvPr/>
        </p:nvSpPr>
        <p:spPr>
          <a:xfrm>
            <a:off x="8493369" y="2277211"/>
            <a:ext cx="1134208" cy="1081453"/>
          </a:xfrm>
          <a:prstGeom prst="triangle">
            <a:avLst>
              <a:gd name="adj"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1" name="Google Shape;91;p1"/>
          <p:cNvSpPr/>
          <p:nvPr/>
        </p:nvSpPr>
        <p:spPr>
          <a:xfrm>
            <a:off x="10260623" y="2294795"/>
            <a:ext cx="1125414" cy="1081453"/>
          </a:xfrm>
          <a:prstGeom prst="triangle">
            <a:avLst>
              <a:gd name="adj" fmla="val 49219"/>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92" name="Google Shape;92;p1"/>
          <p:cNvCxnSpPr/>
          <p:nvPr/>
        </p:nvCxnSpPr>
        <p:spPr>
          <a:xfrm>
            <a:off x="10032023" y="1028700"/>
            <a:ext cx="1081454" cy="949569"/>
          </a:xfrm>
          <a:prstGeom prst="straightConnector1">
            <a:avLst/>
          </a:prstGeom>
          <a:noFill/>
          <a:ln w="9525" cap="flat" cmpd="sng">
            <a:solidFill>
              <a:schemeClr val="accent1"/>
            </a:solidFill>
            <a:prstDash val="solid"/>
            <a:miter lim="800000"/>
            <a:headEnd type="none" w="sm" len="sm"/>
            <a:tailEnd type="none" w="sm" len="sm"/>
          </a:ln>
        </p:spPr>
      </p:cxnSp>
      <p:cxnSp>
        <p:nvCxnSpPr>
          <p:cNvPr id="93" name="Google Shape;93;p1"/>
          <p:cNvCxnSpPr/>
          <p:nvPr/>
        </p:nvCxnSpPr>
        <p:spPr>
          <a:xfrm flipH="1">
            <a:off x="10032023" y="1028700"/>
            <a:ext cx="1081454" cy="949569"/>
          </a:xfrm>
          <a:prstGeom prst="straightConnector1">
            <a:avLst/>
          </a:prstGeom>
          <a:noFill/>
          <a:ln w="9525" cap="flat" cmpd="sng">
            <a:solidFill>
              <a:schemeClr val="accent1"/>
            </a:solidFill>
            <a:prstDash val="solid"/>
            <a:miter lim="800000"/>
            <a:headEnd type="none" w="sm" len="sm"/>
            <a:tailEnd type="none" w="sm" len="sm"/>
          </a:ln>
        </p:spPr>
      </p:cxnSp>
      <p:cxnSp>
        <p:nvCxnSpPr>
          <p:cNvPr id="94" name="Google Shape;94;p1"/>
          <p:cNvCxnSpPr>
            <a:stCxn id="90" idx="0"/>
            <a:endCxn id="90" idx="3"/>
          </p:cNvCxnSpPr>
          <p:nvPr/>
        </p:nvCxnSpPr>
        <p:spPr>
          <a:xfrm>
            <a:off x="9060473" y="2277211"/>
            <a:ext cx="0" cy="1081500"/>
          </a:xfrm>
          <a:prstGeom prst="straightConnector1">
            <a:avLst/>
          </a:prstGeom>
          <a:noFill/>
          <a:ln w="9525" cap="flat" cmpd="sng">
            <a:solidFill>
              <a:schemeClr val="accent1"/>
            </a:solidFill>
            <a:prstDash val="solid"/>
            <a:miter lim="800000"/>
            <a:headEnd type="none" w="sm" len="sm"/>
            <a:tailEnd type="none" w="sm" len="sm"/>
          </a:ln>
        </p:spPr>
      </p:cxnSp>
      <p:cxnSp>
        <p:nvCxnSpPr>
          <p:cNvPr id="95" name="Google Shape;95;p1"/>
          <p:cNvCxnSpPr>
            <a:stCxn id="90" idx="1"/>
            <a:endCxn id="90" idx="5"/>
          </p:cNvCxnSpPr>
          <p:nvPr/>
        </p:nvCxnSpPr>
        <p:spPr>
          <a:xfrm>
            <a:off x="8776921" y="2817937"/>
            <a:ext cx="567000" cy="0"/>
          </a:xfrm>
          <a:prstGeom prst="straightConnector1">
            <a:avLst/>
          </a:prstGeom>
          <a:noFill/>
          <a:ln w="9525" cap="flat" cmpd="sng">
            <a:solidFill>
              <a:schemeClr val="accent1"/>
            </a:solidFill>
            <a:prstDash val="solid"/>
            <a:miter lim="800000"/>
            <a:headEnd type="none" w="sm" len="sm"/>
            <a:tailEnd type="none" w="sm" len="sm"/>
          </a:ln>
        </p:spPr>
      </p:cxnSp>
      <p:cxnSp>
        <p:nvCxnSpPr>
          <p:cNvPr id="96" name="Google Shape;96;p1"/>
          <p:cNvCxnSpPr>
            <a:stCxn id="91" idx="0"/>
            <a:endCxn id="91" idx="3"/>
          </p:cNvCxnSpPr>
          <p:nvPr/>
        </p:nvCxnSpPr>
        <p:spPr>
          <a:xfrm>
            <a:off x="10814540" y="2294795"/>
            <a:ext cx="0" cy="1081500"/>
          </a:xfrm>
          <a:prstGeom prst="straightConnector1">
            <a:avLst/>
          </a:prstGeom>
          <a:noFill/>
          <a:ln w="19050" cap="flat" cmpd="sng">
            <a:solidFill>
              <a:schemeClr val="dk1"/>
            </a:solidFill>
            <a:prstDash val="solid"/>
            <a:miter lim="800000"/>
            <a:headEnd type="none" w="sm" len="sm"/>
            <a:tailEnd type="none" w="sm" len="sm"/>
          </a:ln>
        </p:spPr>
      </p:cxnSp>
      <p:cxnSp>
        <p:nvCxnSpPr>
          <p:cNvPr id="97" name="Google Shape;97;p1"/>
          <p:cNvCxnSpPr>
            <a:stCxn id="91" idx="1"/>
            <a:endCxn id="91" idx="5"/>
          </p:cNvCxnSpPr>
          <p:nvPr/>
        </p:nvCxnSpPr>
        <p:spPr>
          <a:xfrm>
            <a:off x="10537581" y="2835521"/>
            <a:ext cx="562800" cy="0"/>
          </a:xfrm>
          <a:prstGeom prst="straightConnector1">
            <a:avLst/>
          </a:prstGeom>
          <a:noFill/>
          <a:ln w="19050" cap="flat" cmpd="sng">
            <a:solidFill>
              <a:schemeClr val="dk1"/>
            </a:solidFill>
            <a:prstDash val="solid"/>
            <a:miter lim="800000"/>
            <a:headEnd type="none" w="sm" len="sm"/>
            <a:tailEnd type="none" w="sm" len="sm"/>
          </a:ln>
        </p:spPr>
      </p:cxnSp>
      <p:sp>
        <p:nvSpPr>
          <p:cNvPr id="98" name="Google Shape;98;p1"/>
          <p:cNvSpPr/>
          <p:nvPr/>
        </p:nvSpPr>
        <p:spPr>
          <a:xfrm>
            <a:off x="10898065" y="465991"/>
            <a:ext cx="703385" cy="37807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0"/>
                </a:moveTo>
                <a:close/>
                <a:lnTo>
                  <a:pt x="-10000" y="120000"/>
                </a:lnTo>
              </a:path>
              <a:path w="120000" h="120000" fill="none" extrusionOk="0">
                <a:moveTo>
                  <a:pt x="-10000" y="22500"/>
                </a:moveTo>
                <a:lnTo>
                  <a:pt x="-20000" y="22500"/>
                </a:lnTo>
                <a:lnTo>
                  <a:pt x="-74000" y="160117"/>
                </a:lnTo>
              </a:path>
            </a:pathLst>
          </a:cu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vi-VN" sz="1000" b="0" i="0" u="none" strike="noStrike" cap="none">
                <a:solidFill>
                  <a:schemeClr val="dk1"/>
                </a:solidFill>
                <a:latin typeface="Calibri"/>
                <a:ea typeface="Calibri"/>
                <a:cs typeface="Calibri"/>
                <a:sym typeface="Calibri"/>
              </a:rPr>
              <a:t>Là ct Hamilton</a:t>
            </a:r>
            <a:endParaRPr sz="1000" b="0" i="0" u="none" strike="noStrike" cap="none">
              <a:solidFill>
                <a:schemeClr val="dk1"/>
              </a:solidFill>
              <a:latin typeface="Calibri"/>
              <a:ea typeface="Calibri"/>
              <a:cs typeface="Calibri"/>
              <a:sym typeface="Calibri"/>
            </a:endParaRPr>
          </a:p>
        </p:txBody>
      </p:sp>
      <p:sp>
        <p:nvSpPr>
          <p:cNvPr id="99" name="Google Shape;99;p1"/>
          <p:cNvSpPr/>
          <p:nvPr/>
        </p:nvSpPr>
        <p:spPr>
          <a:xfrm>
            <a:off x="9074762" y="527537"/>
            <a:ext cx="630848" cy="351691"/>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20000" y="22500"/>
                </a:lnTo>
                <a:lnTo>
                  <a:pt x="-56000" y="135000"/>
                </a:lnTo>
              </a:path>
            </a:pathLst>
          </a:cu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0" name="Google Shape;100;p1"/>
          <p:cNvSpPr txBox="1"/>
          <p:nvPr/>
        </p:nvSpPr>
        <p:spPr>
          <a:xfrm>
            <a:off x="9074762" y="527537"/>
            <a:ext cx="83417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00" b="0" i="0" u="none" strike="noStrike" cap="none">
                <a:solidFill>
                  <a:schemeClr val="dk1"/>
                </a:solidFill>
                <a:latin typeface="Calibri"/>
                <a:ea typeface="Calibri"/>
                <a:cs typeface="Calibri"/>
                <a:sym typeface="Calibri"/>
              </a:rPr>
              <a:t>Là ct Hamilton</a:t>
            </a:r>
            <a:endParaRPr sz="1000">
              <a:solidFill>
                <a:schemeClr val="dk1"/>
              </a:solidFill>
              <a:latin typeface="Calibri"/>
              <a:ea typeface="Calibri"/>
              <a:cs typeface="Calibri"/>
              <a:sym typeface="Calibri"/>
            </a:endParaRPr>
          </a:p>
        </p:txBody>
      </p:sp>
      <p:sp>
        <p:nvSpPr>
          <p:cNvPr id="101" name="Google Shape;101;p1"/>
          <p:cNvSpPr/>
          <p:nvPr/>
        </p:nvSpPr>
        <p:spPr>
          <a:xfrm>
            <a:off x="8440616" y="967151"/>
            <a:ext cx="140676" cy="149472"/>
          </a:xfrm>
          <a:prstGeom prst="flowChartConnector">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2" name="Google Shape;102;p1"/>
          <p:cNvSpPr/>
          <p:nvPr/>
        </p:nvSpPr>
        <p:spPr>
          <a:xfrm>
            <a:off x="9463451" y="978878"/>
            <a:ext cx="140676" cy="149472"/>
          </a:xfrm>
          <a:prstGeom prst="flowChartConnector">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3" name="Google Shape;103;p1"/>
          <p:cNvSpPr/>
          <p:nvPr/>
        </p:nvSpPr>
        <p:spPr>
          <a:xfrm>
            <a:off x="8443550" y="1884479"/>
            <a:ext cx="140676" cy="149472"/>
          </a:xfrm>
          <a:prstGeom prst="flowChartConnector">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 name="Google Shape;104;p1"/>
          <p:cNvSpPr/>
          <p:nvPr/>
        </p:nvSpPr>
        <p:spPr>
          <a:xfrm>
            <a:off x="9472245" y="1884483"/>
            <a:ext cx="140676" cy="149472"/>
          </a:xfrm>
          <a:prstGeom prst="flowChartConnector">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 name="Google Shape;105;p1"/>
          <p:cNvSpPr/>
          <p:nvPr/>
        </p:nvSpPr>
        <p:spPr>
          <a:xfrm>
            <a:off x="11037274" y="987669"/>
            <a:ext cx="140676" cy="149472"/>
          </a:xfrm>
          <a:prstGeom prst="flowChartConnector">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 name="Google Shape;106;p1"/>
          <p:cNvSpPr/>
          <p:nvPr/>
        </p:nvSpPr>
        <p:spPr>
          <a:xfrm>
            <a:off x="9976335" y="973016"/>
            <a:ext cx="140676" cy="149472"/>
          </a:xfrm>
          <a:prstGeom prst="flowChartConnector">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 name="Google Shape;107;p1"/>
          <p:cNvSpPr/>
          <p:nvPr/>
        </p:nvSpPr>
        <p:spPr>
          <a:xfrm>
            <a:off x="10498017" y="1424351"/>
            <a:ext cx="140676" cy="149472"/>
          </a:xfrm>
          <a:prstGeom prst="flowChartConnector">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 name="Google Shape;108;p1"/>
          <p:cNvSpPr/>
          <p:nvPr/>
        </p:nvSpPr>
        <p:spPr>
          <a:xfrm>
            <a:off x="8689729" y="2746129"/>
            <a:ext cx="140676" cy="149472"/>
          </a:xfrm>
          <a:prstGeom prst="flowChartConnector">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 name="Google Shape;109;p1"/>
          <p:cNvSpPr/>
          <p:nvPr/>
        </p:nvSpPr>
        <p:spPr>
          <a:xfrm>
            <a:off x="9527931" y="3259016"/>
            <a:ext cx="140676" cy="149472"/>
          </a:xfrm>
          <a:prstGeom prst="flowChartConnector">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0" name="Google Shape;110;p1"/>
          <p:cNvSpPr/>
          <p:nvPr/>
        </p:nvSpPr>
        <p:spPr>
          <a:xfrm>
            <a:off x="8440617" y="3253149"/>
            <a:ext cx="140676" cy="149472"/>
          </a:xfrm>
          <a:prstGeom prst="flowChartConnector">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1" name="Google Shape;111;p1"/>
          <p:cNvSpPr/>
          <p:nvPr/>
        </p:nvSpPr>
        <p:spPr>
          <a:xfrm>
            <a:off x="8988671" y="2183421"/>
            <a:ext cx="140676" cy="149472"/>
          </a:xfrm>
          <a:prstGeom prst="flowChartConnector">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2" name="Google Shape;112;p1"/>
          <p:cNvSpPr/>
          <p:nvPr/>
        </p:nvSpPr>
        <p:spPr>
          <a:xfrm>
            <a:off x="11031415" y="1913791"/>
            <a:ext cx="140676" cy="149472"/>
          </a:xfrm>
          <a:prstGeom prst="flowChartConnector">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 name="Google Shape;113;p1"/>
          <p:cNvSpPr/>
          <p:nvPr/>
        </p:nvSpPr>
        <p:spPr>
          <a:xfrm>
            <a:off x="9961682" y="1881551"/>
            <a:ext cx="140676" cy="149472"/>
          </a:xfrm>
          <a:prstGeom prst="flowChartConnector">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 name="Google Shape;114;p1"/>
          <p:cNvSpPr/>
          <p:nvPr/>
        </p:nvSpPr>
        <p:spPr>
          <a:xfrm>
            <a:off x="10219596" y="3308836"/>
            <a:ext cx="140676" cy="149472"/>
          </a:xfrm>
          <a:prstGeom prst="flowChartConnector">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 name="Google Shape;115;p1"/>
          <p:cNvSpPr/>
          <p:nvPr/>
        </p:nvSpPr>
        <p:spPr>
          <a:xfrm>
            <a:off x="11303975" y="3285390"/>
            <a:ext cx="140676" cy="149472"/>
          </a:xfrm>
          <a:prstGeom prst="flowChartConnector">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 name="Google Shape;116;p1"/>
          <p:cNvSpPr/>
          <p:nvPr/>
        </p:nvSpPr>
        <p:spPr>
          <a:xfrm>
            <a:off x="11051931" y="2760784"/>
            <a:ext cx="140676" cy="149472"/>
          </a:xfrm>
          <a:prstGeom prst="flowChartConnector">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 name="Google Shape;117;p1"/>
          <p:cNvSpPr/>
          <p:nvPr/>
        </p:nvSpPr>
        <p:spPr>
          <a:xfrm>
            <a:off x="10448195" y="2763715"/>
            <a:ext cx="140676" cy="149472"/>
          </a:xfrm>
          <a:prstGeom prst="flowChartConnector">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 name="Google Shape;118;p1"/>
          <p:cNvSpPr/>
          <p:nvPr/>
        </p:nvSpPr>
        <p:spPr>
          <a:xfrm>
            <a:off x="10741270" y="2757852"/>
            <a:ext cx="140676" cy="149472"/>
          </a:xfrm>
          <a:prstGeom prst="flowChartConnector">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 name="Google Shape;119;p1"/>
          <p:cNvSpPr/>
          <p:nvPr/>
        </p:nvSpPr>
        <p:spPr>
          <a:xfrm>
            <a:off x="10744202" y="2198076"/>
            <a:ext cx="140676" cy="149472"/>
          </a:xfrm>
          <a:prstGeom prst="flowChartConnector">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 name="Google Shape;120;p1"/>
          <p:cNvSpPr/>
          <p:nvPr/>
        </p:nvSpPr>
        <p:spPr>
          <a:xfrm>
            <a:off x="8997464" y="3308843"/>
            <a:ext cx="140676" cy="149472"/>
          </a:xfrm>
          <a:prstGeom prst="flowChartConnector">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1" name="Google Shape;121;p1"/>
          <p:cNvSpPr/>
          <p:nvPr/>
        </p:nvSpPr>
        <p:spPr>
          <a:xfrm>
            <a:off x="9272957" y="2731477"/>
            <a:ext cx="140676" cy="149472"/>
          </a:xfrm>
          <a:prstGeom prst="flowChartConnector">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2" name="Google Shape;122;p1"/>
          <p:cNvSpPr/>
          <p:nvPr/>
        </p:nvSpPr>
        <p:spPr>
          <a:xfrm>
            <a:off x="10747131" y="3308842"/>
            <a:ext cx="140676" cy="149472"/>
          </a:xfrm>
          <a:prstGeom prst="flowChartConnector">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23" name="Google Shape;123;p1"/>
          <p:cNvCxnSpPr>
            <a:stCxn id="101" idx="1"/>
            <a:endCxn id="102" idx="7"/>
          </p:cNvCxnSpPr>
          <p:nvPr/>
        </p:nvCxnSpPr>
        <p:spPr>
          <a:xfrm>
            <a:off x="8461217" y="989041"/>
            <a:ext cx="1122300" cy="11700"/>
          </a:xfrm>
          <a:prstGeom prst="straightConnector1">
            <a:avLst/>
          </a:prstGeom>
          <a:noFill/>
          <a:ln w="19050" cap="flat" cmpd="sng">
            <a:solidFill>
              <a:schemeClr val="accent2"/>
            </a:solidFill>
            <a:prstDash val="solid"/>
            <a:miter lim="800000"/>
            <a:headEnd type="none" w="sm" len="sm"/>
            <a:tailEnd type="none" w="sm" len="sm"/>
          </a:ln>
        </p:spPr>
      </p:cxnSp>
      <p:cxnSp>
        <p:nvCxnSpPr>
          <p:cNvPr id="124" name="Google Shape;124;p1"/>
          <p:cNvCxnSpPr>
            <a:stCxn id="102" idx="5"/>
            <a:endCxn id="104" idx="5"/>
          </p:cNvCxnSpPr>
          <p:nvPr/>
        </p:nvCxnSpPr>
        <p:spPr>
          <a:xfrm>
            <a:off x="9583525" y="1106460"/>
            <a:ext cx="8700" cy="905700"/>
          </a:xfrm>
          <a:prstGeom prst="straightConnector1">
            <a:avLst/>
          </a:prstGeom>
          <a:noFill/>
          <a:ln w="19050" cap="flat" cmpd="sng">
            <a:solidFill>
              <a:schemeClr val="accent2"/>
            </a:solidFill>
            <a:prstDash val="solid"/>
            <a:miter lim="800000"/>
            <a:headEnd type="none" w="sm" len="sm"/>
            <a:tailEnd type="none" w="sm" len="sm"/>
          </a:ln>
        </p:spPr>
      </p:cxnSp>
      <p:cxnSp>
        <p:nvCxnSpPr>
          <p:cNvPr id="125" name="Google Shape;125;p1"/>
          <p:cNvCxnSpPr>
            <a:stCxn id="104" idx="3"/>
            <a:endCxn id="103" idx="3"/>
          </p:cNvCxnSpPr>
          <p:nvPr/>
        </p:nvCxnSpPr>
        <p:spPr>
          <a:xfrm rot="10800000">
            <a:off x="8464147" y="2012065"/>
            <a:ext cx="1028700" cy="0"/>
          </a:xfrm>
          <a:prstGeom prst="straightConnector1">
            <a:avLst/>
          </a:prstGeom>
          <a:noFill/>
          <a:ln w="19050" cap="flat" cmpd="sng">
            <a:solidFill>
              <a:schemeClr val="accent2"/>
            </a:solidFill>
            <a:prstDash val="solid"/>
            <a:miter lim="800000"/>
            <a:headEnd type="none" w="sm" len="sm"/>
            <a:tailEnd type="none" w="sm" len="sm"/>
          </a:ln>
        </p:spPr>
      </p:cxnSp>
      <p:cxnSp>
        <p:nvCxnSpPr>
          <p:cNvPr id="126" name="Google Shape;126;p1"/>
          <p:cNvCxnSpPr>
            <a:stCxn id="103" idx="3"/>
            <a:endCxn id="101" idx="1"/>
          </p:cNvCxnSpPr>
          <p:nvPr/>
        </p:nvCxnSpPr>
        <p:spPr>
          <a:xfrm rot="10800000">
            <a:off x="8461152" y="989061"/>
            <a:ext cx="3000" cy="1023000"/>
          </a:xfrm>
          <a:prstGeom prst="straightConnector1">
            <a:avLst/>
          </a:prstGeom>
          <a:noFill/>
          <a:ln w="19050" cap="flat" cmpd="sng">
            <a:solidFill>
              <a:schemeClr val="accent2"/>
            </a:solidFill>
            <a:prstDash val="solid"/>
            <a:miter lim="800000"/>
            <a:headEnd type="none" w="sm" len="sm"/>
            <a:tailEnd type="none" w="sm" len="sm"/>
          </a:ln>
        </p:spPr>
      </p:cxnSp>
      <p:cxnSp>
        <p:nvCxnSpPr>
          <p:cNvPr id="127" name="Google Shape;127;p1"/>
          <p:cNvCxnSpPr>
            <a:stCxn id="106" idx="7"/>
            <a:endCxn id="105" idx="1"/>
          </p:cNvCxnSpPr>
          <p:nvPr/>
        </p:nvCxnSpPr>
        <p:spPr>
          <a:xfrm>
            <a:off x="10096410" y="994906"/>
            <a:ext cx="961500" cy="14700"/>
          </a:xfrm>
          <a:prstGeom prst="straightConnector1">
            <a:avLst/>
          </a:prstGeom>
          <a:noFill/>
          <a:ln w="19050" cap="flat" cmpd="sng">
            <a:solidFill>
              <a:schemeClr val="accent2"/>
            </a:solidFill>
            <a:prstDash val="solid"/>
            <a:miter lim="800000"/>
            <a:headEnd type="none" w="sm" len="sm"/>
            <a:tailEnd type="none" w="sm" len="sm"/>
          </a:ln>
        </p:spPr>
      </p:cxnSp>
      <p:cxnSp>
        <p:nvCxnSpPr>
          <p:cNvPr id="128" name="Google Shape;128;p1"/>
          <p:cNvCxnSpPr>
            <a:stCxn id="105" idx="3"/>
            <a:endCxn id="107" idx="6"/>
          </p:cNvCxnSpPr>
          <p:nvPr/>
        </p:nvCxnSpPr>
        <p:spPr>
          <a:xfrm flipH="1">
            <a:off x="10638776" y="1115251"/>
            <a:ext cx="419100" cy="383700"/>
          </a:xfrm>
          <a:prstGeom prst="straightConnector1">
            <a:avLst/>
          </a:prstGeom>
          <a:noFill/>
          <a:ln w="19050" cap="flat" cmpd="sng">
            <a:solidFill>
              <a:schemeClr val="accent2"/>
            </a:solidFill>
            <a:prstDash val="solid"/>
            <a:miter lim="800000"/>
            <a:headEnd type="none" w="sm" len="sm"/>
            <a:tailEnd type="none" w="sm" len="sm"/>
          </a:ln>
        </p:spPr>
      </p:cxnSp>
      <p:cxnSp>
        <p:nvCxnSpPr>
          <p:cNvPr id="129" name="Google Shape;129;p1"/>
          <p:cNvCxnSpPr>
            <a:stCxn id="107" idx="6"/>
            <a:endCxn id="112" idx="6"/>
          </p:cNvCxnSpPr>
          <p:nvPr/>
        </p:nvCxnSpPr>
        <p:spPr>
          <a:xfrm>
            <a:off x="10638693" y="1499087"/>
            <a:ext cx="533400" cy="489300"/>
          </a:xfrm>
          <a:prstGeom prst="straightConnector1">
            <a:avLst/>
          </a:prstGeom>
          <a:noFill/>
          <a:ln w="19050" cap="flat" cmpd="sng">
            <a:solidFill>
              <a:schemeClr val="accent2"/>
            </a:solidFill>
            <a:prstDash val="solid"/>
            <a:miter lim="800000"/>
            <a:headEnd type="none" w="sm" len="sm"/>
            <a:tailEnd type="none" w="sm" len="sm"/>
          </a:ln>
        </p:spPr>
      </p:cxnSp>
      <p:cxnSp>
        <p:nvCxnSpPr>
          <p:cNvPr id="130" name="Google Shape;130;p1"/>
          <p:cNvCxnSpPr>
            <a:stCxn id="112" idx="3"/>
            <a:endCxn id="113" idx="4"/>
          </p:cNvCxnSpPr>
          <p:nvPr/>
        </p:nvCxnSpPr>
        <p:spPr>
          <a:xfrm rot="10800000">
            <a:off x="10032016" y="2030873"/>
            <a:ext cx="1020000" cy="10500"/>
          </a:xfrm>
          <a:prstGeom prst="straightConnector1">
            <a:avLst/>
          </a:prstGeom>
          <a:noFill/>
          <a:ln w="19050" cap="flat" cmpd="sng">
            <a:solidFill>
              <a:schemeClr val="accent2"/>
            </a:solidFill>
            <a:prstDash val="solid"/>
            <a:miter lim="800000"/>
            <a:headEnd type="none" w="sm" len="sm"/>
            <a:tailEnd type="none" w="sm" len="sm"/>
          </a:ln>
        </p:spPr>
      </p:cxnSp>
      <p:cxnSp>
        <p:nvCxnSpPr>
          <p:cNvPr id="131" name="Google Shape;131;p1"/>
          <p:cNvCxnSpPr>
            <a:stCxn id="113" idx="3"/>
            <a:endCxn id="106" idx="2"/>
          </p:cNvCxnSpPr>
          <p:nvPr/>
        </p:nvCxnSpPr>
        <p:spPr>
          <a:xfrm rot="10800000">
            <a:off x="9976284" y="1047633"/>
            <a:ext cx="6000" cy="961500"/>
          </a:xfrm>
          <a:prstGeom prst="straightConnector1">
            <a:avLst/>
          </a:prstGeom>
          <a:noFill/>
          <a:ln w="19050" cap="flat" cmpd="sng">
            <a:solidFill>
              <a:schemeClr val="accent2"/>
            </a:solidFill>
            <a:prstDash val="solid"/>
            <a:miter lim="800000"/>
            <a:headEnd type="none" w="sm" len="sm"/>
            <a:tailEnd type="none" w="sm" len="sm"/>
          </a:ln>
        </p:spPr>
      </p:cxnSp>
      <p:cxnSp>
        <p:nvCxnSpPr>
          <p:cNvPr id="132" name="Google Shape;132;p1"/>
          <p:cNvCxnSpPr>
            <a:stCxn id="111" idx="0"/>
            <a:endCxn id="110" idx="2"/>
          </p:cNvCxnSpPr>
          <p:nvPr/>
        </p:nvCxnSpPr>
        <p:spPr>
          <a:xfrm flipH="1">
            <a:off x="8440709" y="2183421"/>
            <a:ext cx="618300" cy="1144500"/>
          </a:xfrm>
          <a:prstGeom prst="straightConnector1">
            <a:avLst/>
          </a:prstGeom>
          <a:noFill/>
          <a:ln w="19050" cap="flat" cmpd="sng">
            <a:solidFill>
              <a:schemeClr val="accent2"/>
            </a:solidFill>
            <a:prstDash val="solid"/>
            <a:miter lim="800000"/>
            <a:headEnd type="none" w="sm" len="sm"/>
            <a:tailEnd type="none" w="sm" len="sm"/>
          </a:ln>
        </p:spPr>
      </p:cxnSp>
      <p:cxnSp>
        <p:nvCxnSpPr>
          <p:cNvPr id="133" name="Google Shape;133;p1"/>
          <p:cNvCxnSpPr>
            <a:stCxn id="111" idx="5"/>
            <a:endCxn id="109" idx="6"/>
          </p:cNvCxnSpPr>
          <p:nvPr/>
        </p:nvCxnSpPr>
        <p:spPr>
          <a:xfrm>
            <a:off x="9108746" y="2311003"/>
            <a:ext cx="559800" cy="1022700"/>
          </a:xfrm>
          <a:prstGeom prst="straightConnector1">
            <a:avLst/>
          </a:prstGeom>
          <a:noFill/>
          <a:ln w="19050" cap="flat" cmpd="sng">
            <a:solidFill>
              <a:schemeClr val="accent2"/>
            </a:solidFill>
            <a:prstDash val="solid"/>
            <a:miter lim="800000"/>
            <a:headEnd type="none" w="sm" len="sm"/>
            <a:tailEnd type="none" w="sm" len="sm"/>
          </a:ln>
        </p:spPr>
      </p:cxnSp>
      <p:cxnSp>
        <p:nvCxnSpPr>
          <p:cNvPr id="134" name="Google Shape;134;p1"/>
          <p:cNvCxnSpPr>
            <a:stCxn id="109" idx="3"/>
            <a:endCxn id="110" idx="4"/>
          </p:cNvCxnSpPr>
          <p:nvPr/>
        </p:nvCxnSpPr>
        <p:spPr>
          <a:xfrm flipH="1">
            <a:off x="8510833" y="3386598"/>
            <a:ext cx="1037700" cy="15900"/>
          </a:xfrm>
          <a:prstGeom prst="straightConnector1">
            <a:avLst/>
          </a:prstGeom>
          <a:noFill/>
          <a:ln w="19050" cap="flat" cmpd="sng">
            <a:solidFill>
              <a:schemeClr val="accent2"/>
            </a:solidFill>
            <a:prstDash val="solid"/>
            <a:miter lim="800000"/>
            <a:headEnd type="none" w="sm" len="sm"/>
            <a:tailEnd type="none" w="sm" len="sm"/>
          </a:ln>
        </p:spPr>
      </p:cxnSp>
      <p:sp>
        <p:nvSpPr>
          <p:cNvPr id="135" name="Google Shape;135;p1"/>
          <p:cNvSpPr/>
          <p:nvPr/>
        </p:nvSpPr>
        <p:spPr>
          <a:xfrm>
            <a:off x="9206965" y="3522693"/>
            <a:ext cx="753120" cy="325315"/>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0"/>
                </a:moveTo>
                <a:close/>
                <a:lnTo>
                  <a:pt x="-10000" y="120000"/>
                </a:lnTo>
              </a:path>
              <a:path w="120000" h="120000" fill="none" extrusionOk="0">
                <a:moveTo>
                  <a:pt x="-10000" y="22500"/>
                </a:moveTo>
                <a:lnTo>
                  <a:pt x="-68414" y="-16904"/>
                </a:lnTo>
              </a:path>
            </a:pathLst>
          </a:cu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36" name="Google Shape;136;p1"/>
          <p:cNvSpPr txBox="1"/>
          <p:nvPr/>
        </p:nvSpPr>
        <p:spPr>
          <a:xfrm>
            <a:off x="9148859" y="3499278"/>
            <a:ext cx="88692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00">
                <a:solidFill>
                  <a:schemeClr val="dk1"/>
                </a:solidFill>
                <a:latin typeface="Calibri"/>
                <a:ea typeface="Calibri"/>
                <a:cs typeface="Calibri"/>
                <a:sym typeface="Calibri"/>
              </a:rPr>
              <a:t>Là ct Hamilton</a:t>
            </a:r>
            <a:endParaRPr sz="1000">
              <a:solidFill>
                <a:schemeClr val="dk1"/>
              </a:solidFill>
              <a:latin typeface="Calibri"/>
              <a:ea typeface="Calibri"/>
              <a:cs typeface="Calibri"/>
              <a:sym typeface="Calibri"/>
            </a:endParaRPr>
          </a:p>
        </p:txBody>
      </p:sp>
      <p:sp>
        <p:nvSpPr>
          <p:cNvPr id="137" name="Google Shape;137;p1"/>
          <p:cNvSpPr/>
          <p:nvPr/>
        </p:nvSpPr>
        <p:spPr>
          <a:xfrm>
            <a:off x="10913129" y="3483215"/>
            <a:ext cx="782429" cy="359022"/>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0"/>
                </a:moveTo>
                <a:close/>
                <a:lnTo>
                  <a:pt x="-10000" y="120000"/>
                </a:lnTo>
              </a:path>
              <a:path w="120000" h="120000" fill="none" extrusionOk="0">
                <a:moveTo>
                  <a:pt x="-10000" y="22500"/>
                </a:moveTo>
                <a:lnTo>
                  <a:pt x="-20000" y="22500"/>
                </a:lnTo>
                <a:lnTo>
                  <a:pt x="-58697" y="-29570"/>
                </a:lnTo>
              </a:path>
            </a:pathLst>
          </a:cu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38" name="Google Shape;138;p1"/>
          <p:cNvSpPr txBox="1"/>
          <p:nvPr/>
        </p:nvSpPr>
        <p:spPr>
          <a:xfrm>
            <a:off x="10905392" y="3458129"/>
            <a:ext cx="101404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00">
                <a:solidFill>
                  <a:schemeClr val="dk1"/>
                </a:solidFill>
                <a:latin typeface="Calibri"/>
                <a:ea typeface="Calibri"/>
                <a:cs typeface="Calibri"/>
                <a:sym typeface="Calibri"/>
              </a:rPr>
              <a:t>Ko là ct Hamilton</a:t>
            </a:r>
            <a:endParaRPr sz="1000">
              <a:solidFill>
                <a:schemeClr val="dk1"/>
              </a:solidFill>
              <a:latin typeface="Calibri"/>
              <a:ea typeface="Calibri"/>
              <a:cs typeface="Calibri"/>
              <a:sym typeface="Calibri"/>
            </a:endParaRPr>
          </a:p>
        </p:txBody>
      </p:sp>
      <p:sp>
        <p:nvSpPr>
          <p:cNvPr id="139" name="Google Shape;139;p1"/>
          <p:cNvSpPr txBox="1"/>
          <p:nvPr/>
        </p:nvSpPr>
        <p:spPr>
          <a:xfrm>
            <a:off x="-496" y="3421204"/>
            <a:ext cx="12219336" cy="37856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400" b="1" i="1" u="sng" dirty="0">
                <a:solidFill>
                  <a:srgbClr val="FF0000"/>
                </a:solidFill>
                <a:latin typeface="Calibri"/>
                <a:ea typeface="Calibri"/>
                <a:cs typeface="Calibri"/>
                <a:sym typeface="Calibri"/>
              </a:rPr>
              <a:t>2 Kết quả</a:t>
            </a:r>
            <a:r>
              <a:rPr lang="vi-VN" sz="2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vi-VN" sz="2400" dirty="0">
                <a:solidFill>
                  <a:schemeClr val="dk1"/>
                </a:solidFill>
                <a:latin typeface="Calibri"/>
                <a:ea typeface="Calibri"/>
                <a:cs typeface="Calibri"/>
                <a:sym typeface="Calibri"/>
              </a:rPr>
              <a:t>-Đồ thị đủ luôn là đồ thị Hamilto.Với n lẻ x1,x2 và |x1|=|x2|=n.Nếu d(x)≥ n/2 với mọi đỉnh của x của G thì G là đồ thị Hamilton.</a:t>
            </a:r>
            <a:endParaRPr dirty="0"/>
          </a:p>
          <a:p>
            <a:pPr marL="0" marR="0" lvl="0" indent="0" algn="l" rtl="0">
              <a:spcBef>
                <a:spcPts val="0"/>
              </a:spcBef>
              <a:spcAft>
                <a:spcPts val="0"/>
              </a:spcAft>
              <a:buNone/>
            </a:pPr>
            <a:r>
              <a:rPr lang="vi-VN" sz="2400" dirty="0">
                <a:solidFill>
                  <a:schemeClr val="dk1"/>
                </a:solidFill>
                <a:latin typeface="Calibri"/>
                <a:ea typeface="Calibri"/>
                <a:cs typeface="Calibri"/>
                <a:sym typeface="Calibri"/>
              </a:rPr>
              <a:t>-Giả sử G là đồ thị vô hướng đơn gồm n đỉnh với n≥3.Nếu d(x)≥(n-1)/2 với mọi đỉnh x của G thì G có đường đi Haminton.</a:t>
            </a:r>
            <a:endParaRPr dirty="0"/>
          </a:p>
          <a:p>
            <a:pPr marL="0" marR="0" lvl="0" indent="0" algn="l" rtl="0">
              <a:spcBef>
                <a:spcPts val="0"/>
              </a:spcBef>
              <a:spcAft>
                <a:spcPts val="0"/>
              </a:spcAft>
              <a:buNone/>
            </a:pPr>
            <a:r>
              <a:rPr lang="vi-VN" sz="2400" dirty="0">
                <a:solidFill>
                  <a:schemeClr val="dk1"/>
                </a:solidFill>
                <a:latin typeface="Calibri"/>
                <a:ea typeface="Calibri"/>
                <a:cs typeface="Calibri"/>
                <a:sym typeface="Calibri"/>
              </a:rPr>
              <a:t>-Giả sử G là đồ thị vô hướng đơn gồm n đỉnh với n≥3.Nếu d(x) + d(y)≥ n với mọi cặp đỉnh x,y không kề nhau của G thì G là đồ thị Hamilton.</a:t>
            </a:r>
            <a:endParaRPr dirty="0"/>
          </a:p>
          <a:p>
            <a:pPr marL="0" marR="0" lvl="0" indent="0" algn="l" rtl="0">
              <a:spcBef>
                <a:spcPts val="0"/>
              </a:spcBef>
              <a:spcAft>
                <a:spcPts val="0"/>
              </a:spcAft>
              <a:buNone/>
            </a:pPr>
            <a:r>
              <a:rPr lang="vi-VN" sz="2400" dirty="0">
                <a:solidFill>
                  <a:schemeClr val="dk1"/>
                </a:solidFill>
                <a:latin typeface="Calibri"/>
                <a:ea typeface="Calibri"/>
                <a:cs typeface="Calibri"/>
                <a:sym typeface="Calibri"/>
              </a:rPr>
              <a:t>-Giả sử G là đồ thị vô hướng đơn gồm n đỉnh và m cạnh.Nếu m≥( n</a:t>
            </a:r>
            <a:r>
              <a:rPr lang="vi-VN" sz="2400" baseline="30000" dirty="0">
                <a:solidFill>
                  <a:schemeClr val="dk1"/>
                </a:solidFill>
                <a:latin typeface="Calibri"/>
                <a:ea typeface="Calibri"/>
                <a:cs typeface="Calibri"/>
                <a:sym typeface="Calibri"/>
              </a:rPr>
              <a:t>2</a:t>
            </a:r>
            <a:r>
              <a:rPr lang="vi-VN" sz="2400" dirty="0">
                <a:solidFill>
                  <a:schemeClr val="dk1"/>
                </a:solidFill>
                <a:latin typeface="Calibri"/>
                <a:ea typeface="Calibri"/>
                <a:cs typeface="Calibri"/>
                <a:sym typeface="Calibri"/>
              </a:rPr>
              <a:t> – 3n + 6)/2 thì G là đồ thị Hamilton.</a:t>
            </a:r>
            <a:endParaRPr dirty="0"/>
          </a:p>
          <a:p>
            <a:pPr marL="0" marR="0" lvl="0" indent="0" algn="l" rtl="0">
              <a:spcBef>
                <a:spcPts val="0"/>
              </a:spcBef>
              <a:spcAft>
                <a:spcPts val="0"/>
              </a:spcAft>
              <a:buNone/>
            </a:pPr>
            <a:endParaRPr sz="2400" dirty="0">
              <a:solidFill>
                <a:schemeClr val="dk1"/>
              </a:solidFill>
              <a:latin typeface="Calibri"/>
              <a:ea typeface="Calibri"/>
              <a:cs typeface="Calibri"/>
              <a:sym typeface="Calibri"/>
            </a:endParaRPr>
          </a:p>
        </p:txBody>
      </p:sp>
      <p:sp>
        <p:nvSpPr>
          <p:cNvPr id="58" name="PAGE NUM 0">
            <a:extLst>
              <a:ext uri="{FF2B5EF4-FFF2-40B4-BE49-F238E27FC236}">
                <a16:creationId xmlns:a16="http://schemas.microsoft.com/office/drawing/2014/main" id="{934601A8-592F-4549-9852-502356A96278}"/>
              </a:ext>
            </a:extLst>
          </p:cNvPr>
          <p:cNvSpPr txBox="1"/>
          <p:nvPr/>
        </p:nvSpPr>
        <p:spPr>
          <a:xfrm>
            <a:off x="11599908" y="-5105"/>
            <a:ext cx="468851" cy="369332"/>
          </a:xfrm>
          <a:prstGeom prst="rect">
            <a:avLst/>
          </a:prstGeom>
          <a:noFill/>
          <a:ln>
            <a:noFill/>
          </a:ln>
        </p:spPr>
        <p:txBody>
          <a:bodyPr wrap="square" rtlCol="0">
            <a:spAutoFit/>
          </a:bodyPr>
          <a:lstStyle/>
          <a:p>
            <a:pPr algn="r"/>
            <a:r>
              <a:rPr lang="en-US" strike="sngStrike" dirty="0">
                <a:solidFill>
                  <a:srgbClr val="C00000"/>
                </a:solidFill>
                <a:latin typeface="JetBrains Mono Light" panose="02000009000000000000" pitchFamily="49" charset="0"/>
                <a:cs typeface="JetBrains Mono Light" panose="02000009000000000000" pitchFamily="49" charset="0"/>
              </a:rPr>
              <a:t>2</a:t>
            </a:r>
          </a:p>
        </p:txBody>
      </p:sp>
      <p:sp>
        <p:nvSpPr>
          <p:cNvPr id="59" name="PAGE NUM 1">
            <a:extLst>
              <a:ext uri="{FF2B5EF4-FFF2-40B4-BE49-F238E27FC236}">
                <a16:creationId xmlns:a16="http://schemas.microsoft.com/office/drawing/2014/main" id="{077908A6-5B72-45CE-8909-2EED068C2068}"/>
              </a:ext>
            </a:extLst>
          </p:cNvPr>
          <p:cNvSpPr txBox="1"/>
          <p:nvPr/>
        </p:nvSpPr>
        <p:spPr>
          <a:xfrm>
            <a:off x="11883838" y="-11114"/>
            <a:ext cx="914400" cy="369332"/>
          </a:xfrm>
          <a:prstGeom prst="rect">
            <a:avLst/>
          </a:prstGeom>
          <a:noFill/>
        </p:spPr>
        <p:txBody>
          <a:bodyPr wrap="square" rtlCol="0">
            <a:spAutoFit/>
          </a:bodyPr>
          <a:lstStyle/>
          <a:p>
            <a:r>
              <a:rPr lang="en-US" strike="sngStrike" dirty="0">
                <a:solidFill>
                  <a:srgbClr val="C00000"/>
                </a:solidFill>
                <a:latin typeface="JetBrains Mono Light" panose="02000009000000000000" pitchFamily="49" charset="0"/>
                <a:cs typeface="JetBrains Mono Light" panose="02000009000000000000" pitchFamily="49" charset="0"/>
              </a:rPr>
              <a:t>5</a:t>
            </a:r>
            <a:endParaRPr lang="en-US" strike="sngStrike" dirty="0">
              <a:solidFill>
                <a:srgbClr val="C00000"/>
              </a:solidFill>
            </a:endParaRPr>
          </a:p>
        </p:txBody>
      </p:sp>
    </p:spTree>
    <p:extLst>
      <p:ext uri="{BB962C8B-B14F-4D97-AF65-F5344CB8AC3E}">
        <p14:creationId xmlns:p14="http://schemas.microsoft.com/office/powerpoint/2010/main" val="7237698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5">
                                            <p:txEl>
                                              <p:pRg st="0" end="0"/>
                                            </p:txEl>
                                          </p:spTgt>
                                        </p:tgtEl>
                                        <p:attrNameLst>
                                          <p:attrName>style.visibility</p:attrName>
                                        </p:attrNameLst>
                                      </p:cBhvr>
                                      <p:to>
                                        <p:strVal val="visible"/>
                                      </p:to>
                                    </p:set>
                                    <p:animEffect transition="in" filter="fade">
                                      <p:cBhvr>
                                        <p:cTn id="7" dur="500"/>
                                        <p:tgtEl>
                                          <p:spTgt spid="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5">
                                            <p:txEl>
                                              <p:pRg st="1" end="1"/>
                                            </p:txEl>
                                          </p:spTgt>
                                        </p:tgtEl>
                                        <p:attrNameLst>
                                          <p:attrName>style.visibility</p:attrName>
                                        </p:attrNameLst>
                                      </p:cBhvr>
                                      <p:to>
                                        <p:strVal val="visible"/>
                                      </p:to>
                                    </p:set>
                                    <p:animEffect transition="in" filter="fade">
                                      <p:cBhvr>
                                        <p:cTn id="12" dur="500"/>
                                        <p:tgtEl>
                                          <p:spTgt spid="8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5">
                                            <p:txEl>
                                              <p:pRg st="2" end="2"/>
                                            </p:txEl>
                                          </p:spTgt>
                                        </p:tgtEl>
                                        <p:attrNameLst>
                                          <p:attrName>style.visibility</p:attrName>
                                        </p:attrNameLst>
                                      </p:cBhvr>
                                      <p:to>
                                        <p:strVal val="visible"/>
                                      </p:to>
                                    </p:set>
                                    <p:animEffect transition="in" filter="fade">
                                      <p:cBhvr>
                                        <p:cTn id="17" dur="500"/>
                                        <p:tgtEl>
                                          <p:spTgt spid="8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5">
                                            <p:txEl>
                                              <p:pRg st="3" end="3"/>
                                            </p:txEl>
                                          </p:spTgt>
                                        </p:tgtEl>
                                        <p:attrNameLst>
                                          <p:attrName>style.visibility</p:attrName>
                                        </p:attrNameLst>
                                      </p:cBhvr>
                                      <p:to>
                                        <p:strVal val="visible"/>
                                      </p:to>
                                    </p:set>
                                    <p:animEffect transition="in" filter="fade">
                                      <p:cBhvr>
                                        <p:cTn id="22" dur="500"/>
                                        <p:tgtEl>
                                          <p:spTgt spid="8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6"/>
                                        </p:tgtEl>
                                        <p:attrNameLst>
                                          <p:attrName>style.visibility</p:attrName>
                                        </p:attrNameLst>
                                      </p:cBhvr>
                                      <p:to>
                                        <p:strVal val="visible"/>
                                      </p:to>
                                    </p:set>
                                    <p:animEffect transition="in" filter="fade">
                                      <p:cBhvr>
                                        <p:cTn id="27" dur="500"/>
                                        <p:tgtEl>
                                          <p:spTgt spid="86"/>
                                        </p:tgtEl>
                                      </p:cBhvr>
                                    </p:animEffect>
                                  </p:childTnLst>
                                </p:cTn>
                              </p:par>
                              <p:par>
                                <p:cTn id="28" presetID="10" presetClass="entr" presetSubtype="0" fill="hold" nodeType="withEffect">
                                  <p:stCondLst>
                                    <p:cond delay="0"/>
                                  </p:stCondLst>
                                  <p:childTnLst>
                                    <p:set>
                                      <p:cBhvr>
                                        <p:cTn id="29" dur="1" fill="hold">
                                          <p:stCondLst>
                                            <p:cond delay="0"/>
                                          </p:stCondLst>
                                        </p:cTn>
                                        <p:tgtEl>
                                          <p:spTgt spid="87"/>
                                        </p:tgtEl>
                                        <p:attrNameLst>
                                          <p:attrName>style.visibility</p:attrName>
                                        </p:attrNameLst>
                                      </p:cBhvr>
                                      <p:to>
                                        <p:strVal val="visible"/>
                                      </p:to>
                                    </p:set>
                                    <p:animEffect transition="in" filter="fade">
                                      <p:cBhvr>
                                        <p:cTn id="30" dur="500"/>
                                        <p:tgtEl>
                                          <p:spTgt spid="87"/>
                                        </p:tgtEl>
                                      </p:cBhvr>
                                    </p:animEffect>
                                  </p:childTnLst>
                                </p:cTn>
                              </p:par>
                              <p:par>
                                <p:cTn id="31" presetID="10" presetClass="entr" presetSubtype="0" fill="hold" nodeType="withEffect">
                                  <p:stCondLst>
                                    <p:cond delay="0"/>
                                  </p:stCondLst>
                                  <p:childTnLst>
                                    <p:set>
                                      <p:cBhvr>
                                        <p:cTn id="32" dur="1" fill="hold">
                                          <p:stCondLst>
                                            <p:cond delay="0"/>
                                          </p:stCondLst>
                                        </p:cTn>
                                        <p:tgtEl>
                                          <p:spTgt spid="98"/>
                                        </p:tgtEl>
                                        <p:attrNameLst>
                                          <p:attrName>style.visibility</p:attrName>
                                        </p:attrNameLst>
                                      </p:cBhvr>
                                      <p:to>
                                        <p:strVal val="visible"/>
                                      </p:to>
                                    </p:set>
                                    <p:animEffect transition="in" filter="fade">
                                      <p:cBhvr>
                                        <p:cTn id="33" dur="500"/>
                                        <p:tgtEl>
                                          <p:spTgt spid="98"/>
                                        </p:tgtEl>
                                      </p:cBhvr>
                                    </p:animEffect>
                                  </p:childTnLst>
                                </p:cTn>
                              </p:par>
                              <p:par>
                                <p:cTn id="34" presetID="10" presetClass="entr" presetSubtype="0" fill="hold" nodeType="withEffect">
                                  <p:stCondLst>
                                    <p:cond delay="0"/>
                                  </p:stCondLst>
                                  <p:childTnLst>
                                    <p:set>
                                      <p:cBhvr>
                                        <p:cTn id="35" dur="1" fill="hold">
                                          <p:stCondLst>
                                            <p:cond delay="0"/>
                                          </p:stCondLst>
                                        </p:cTn>
                                        <p:tgtEl>
                                          <p:spTgt spid="88"/>
                                        </p:tgtEl>
                                        <p:attrNameLst>
                                          <p:attrName>style.visibility</p:attrName>
                                        </p:attrNameLst>
                                      </p:cBhvr>
                                      <p:to>
                                        <p:strVal val="visible"/>
                                      </p:to>
                                    </p:set>
                                    <p:animEffect transition="in" filter="fade">
                                      <p:cBhvr>
                                        <p:cTn id="36" dur="500"/>
                                        <p:tgtEl>
                                          <p:spTgt spid="88"/>
                                        </p:tgtEl>
                                      </p:cBhvr>
                                    </p:animEffect>
                                  </p:childTnLst>
                                </p:cTn>
                              </p:par>
                              <p:par>
                                <p:cTn id="37" presetID="10" presetClass="entr" presetSubtype="0" fill="hold" nodeType="withEffect">
                                  <p:stCondLst>
                                    <p:cond delay="0"/>
                                  </p:stCondLst>
                                  <p:childTnLst>
                                    <p:set>
                                      <p:cBhvr>
                                        <p:cTn id="38" dur="1" fill="hold">
                                          <p:stCondLst>
                                            <p:cond delay="0"/>
                                          </p:stCondLst>
                                        </p:cTn>
                                        <p:tgtEl>
                                          <p:spTgt spid="89"/>
                                        </p:tgtEl>
                                        <p:attrNameLst>
                                          <p:attrName>style.visibility</p:attrName>
                                        </p:attrNameLst>
                                      </p:cBhvr>
                                      <p:to>
                                        <p:strVal val="visible"/>
                                      </p:to>
                                    </p:set>
                                    <p:animEffect transition="in" filter="fade">
                                      <p:cBhvr>
                                        <p:cTn id="39" dur="500"/>
                                        <p:tgtEl>
                                          <p:spTgt spid="89"/>
                                        </p:tgtEl>
                                      </p:cBhvr>
                                    </p:animEffect>
                                  </p:childTnLst>
                                </p:cTn>
                              </p:par>
                              <p:par>
                                <p:cTn id="40" presetID="10" presetClass="entr" presetSubtype="0" fill="hold" nodeType="withEffect">
                                  <p:stCondLst>
                                    <p:cond delay="0"/>
                                  </p:stCondLst>
                                  <p:childTnLst>
                                    <p:set>
                                      <p:cBhvr>
                                        <p:cTn id="41" dur="1" fill="hold">
                                          <p:stCondLst>
                                            <p:cond delay="0"/>
                                          </p:stCondLst>
                                        </p:cTn>
                                        <p:tgtEl>
                                          <p:spTgt spid="90"/>
                                        </p:tgtEl>
                                        <p:attrNameLst>
                                          <p:attrName>style.visibility</p:attrName>
                                        </p:attrNameLst>
                                      </p:cBhvr>
                                      <p:to>
                                        <p:strVal val="visible"/>
                                      </p:to>
                                    </p:set>
                                    <p:animEffect transition="in" filter="fade">
                                      <p:cBhvr>
                                        <p:cTn id="42" dur="500"/>
                                        <p:tgtEl>
                                          <p:spTgt spid="90"/>
                                        </p:tgtEl>
                                      </p:cBhvr>
                                    </p:animEffect>
                                  </p:childTnLst>
                                </p:cTn>
                              </p:par>
                              <p:par>
                                <p:cTn id="43" presetID="10" presetClass="entr" presetSubtype="0" fill="hold" nodeType="withEffect">
                                  <p:stCondLst>
                                    <p:cond delay="0"/>
                                  </p:stCondLst>
                                  <p:childTnLst>
                                    <p:set>
                                      <p:cBhvr>
                                        <p:cTn id="44" dur="1" fill="hold">
                                          <p:stCondLst>
                                            <p:cond delay="0"/>
                                          </p:stCondLst>
                                        </p:cTn>
                                        <p:tgtEl>
                                          <p:spTgt spid="91"/>
                                        </p:tgtEl>
                                        <p:attrNameLst>
                                          <p:attrName>style.visibility</p:attrName>
                                        </p:attrNameLst>
                                      </p:cBhvr>
                                      <p:to>
                                        <p:strVal val="visible"/>
                                      </p:to>
                                    </p:set>
                                    <p:animEffect transition="in" filter="fade">
                                      <p:cBhvr>
                                        <p:cTn id="45" dur="500"/>
                                        <p:tgtEl>
                                          <p:spTgt spid="91"/>
                                        </p:tgtEl>
                                      </p:cBhvr>
                                    </p:animEffect>
                                  </p:childTnLst>
                                </p:cTn>
                              </p:par>
                              <p:par>
                                <p:cTn id="46" presetID="10" presetClass="entr" presetSubtype="0" fill="hold" nodeType="withEffect">
                                  <p:stCondLst>
                                    <p:cond delay="0"/>
                                  </p:stCondLst>
                                  <p:childTnLst>
                                    <p:set>
                                      <p:cBhvr>
                                        <p:cTn id="47" dur="1" fill="hold">
                                          <p:stCondLst>
                                            <p:cond delay="0"/>
                                          </p:stCondLst>
                                        </p:cTn>
                                        <p:tgtEl>
                                          <p:spTgt spid="92"/>
                                        </p:tgtEl>
                                        <p:attrNameLst>
                                          <p:attrName>style.visibility</p:attrName>
                                        </p:attrNameLst>
                                      </p:cBhvr>
                                      <p:to>
                                        <p:strVal val="visible"/>
                                      </p:to>
                                    </p:set>
                                    <p:animEffect transition="in" filter="fade">
                                      <p:cBhvr>
                                        <p:cTn id="48" dur="500"/>
                                        <p:tgtEl>
                                          <p:spTgt spid="92"/>
                                        </p:tgtEl>
                                      </p:cBhvr>
                                    </p:animEffect>
                                  </p:childTnLst>
                                </p:cTn>
                              </p:par>
                              <p:par>
                                <p:cTn id="49" presetID="10" presetClass="entr" presetSubtype="0" fill="hold" nodeType="withEffect">
                                  <p:stCondLst>
                                    <p:cond delay="0"/>
                                  </p:stCondLst>
                                  <p:childTnLst>
                                    <p:set>
                                      <p:cBhvr>
                                        <p:cTn id="50" dur="1" fill="hold">
                                          <p:stCondLst>
                                            <p:cond delay="0"/>
                                          </p:stCondLst>
                                        </p:cTn>
                                        <p:tgtEl>
                                          <p:spTgt spid="93"/>
                                        </p:tgtEl>
                                        <p:attrNameLst>
                                          <p:attrName>style.visibility</p:attrName>
                                        </p:attrNameLst>
                                      </p:cBhvr>
                                      <p:to>
                                        <p:strVal val="visible"/>
                                      </p:to>
                                    </p:set>
                                    <p:animEffect transition="in" filter="fade">
                                      <p:cBhvr>
                                        <p:cTn id="51" dur="500"/>
                                        <p:tgtEl>
                                          <p:spTgt spid="93"/>
                                        </p:tgtEl>
                                      </p:cBhvr>
                                    </p:animEffect>
                                  </p:childTnLst>
                                </p:cTn>
                              </p:par>
                              <p:par>
                                <p:cTn id="52" presetID="10" presetClass="entr" presetSubtype="0" fill="hold" nodeType="withEffect">
                                  <p:stCondLst>
                                    <p:cond delay="0"/>
                                  </p:stCondLst>
                                  <p:childTnLst>
                                    <p:set>
                                      <p:cBhvr>
                                        <p:cTn id="53" dur="1" fill="hold">
                                          <p:stCondLst>
                                            <p:cond delay="0"/>
                                          </p:stCondLst>
                                        </p:cTn>
                                        <p:tgtEl>
                                          <p:spTgt spid="94"/>
                                        </p:tgtEl>
                                        <p:attrNameLst>
                                          <p:attrName>style.visibility</p:attrName>
                                        </p:attrNameLst>
                                      </p:cBhvr>
                                      <p:to>
                                        <p:strVal val="visible"/>
                                      </p:to>
                                    </p:set>
                                    <p:animEffect transition="in" filter="fade">
                                      <p:cBhvr>
                                        <p:cTn id="54" dur="500"/>
                                        <p:tgtEl>
                                          <p:spTgt spid="94"/>
                                        </p:tgtEl>
                                      </p:cBhvr>
                                    </p:animEffect>
                                  </p:childTnLst>
                                </p:cTn>
                              </p:par>
                              <p:par>
                                <p:cTn id="55" presetID="10" presetClass="entr" presetSubtype="0" fill="hold" nodeType="withEffect">
                                  <p:stCondLst>
                                    <p:cond delay="0"/>
                                  </p:stCondLst>
                                  <p:childTnLst>
                                    <p:set>
                                      <p:cBhvr>
                                        <p:cTn id="56" dur="1" fill="hold">
                                          <p:stCondLst>
                                            <p:cond delay="0"/>
                                          </p:stCondLst>
                                        </p:cTn>
                                        <p:tgtEl>
                                          <p:spTgt spid="95"/>
                                        </p:tgtEl>
                                        <p:attrNameLst>
                                          <p:attrName>style.visibility</p:attrName>
                                        </p:attrNameLst>
                                      </p:cBhvr>
                                      <p:to>
                                        <p:strVal val="visible"/>
                                      </p:to>
                                    </p:set>
                                    <p:animEffect transition="in" filter="fade">
                                      <p:cBhvr>
                                        <p:cTn id="57" dur="500"/>
                                        <p:tgtEl>
                                          <p:spTgt spid="95"/>
                                        </p:tgtEl>
                                      </p:cBhvr>
                                    </p:animEffect>
                                  </p:childTnLst>
                                </p:cTn>
                              </p:par>
                              <p:par>
                                <p:cTn id="58" presetID="10" presetClass="entr" presetSubtype="0" fill="hold" nodeType="withEffect">
                                  <p:stCondLst>
                                    <p:cond delay="0"/>
                                  </p:stCondLst>
                                  <p:childTnLst>
                                    <p:set>
                                      <p:cBhvr>
                                        <p:cTn id="59" dur="1" fill="hold">
                                          <p:stCondLst>
                                            <p:cond delay="0"/>
                                          </p:stCondLst>
                                        </p:cTn>
                                        <p:tgtEl>
                                          <p:spTgt spid="96"/>
                                        </p:tgtEl>
                                        <p:attrNameLst>
                                          <p:attrName>style.visibility</p:attrName>
                                        </p:attrNameLst>
                                      </p:cBhvr>
                                      <p:to>
                                        <p:strVal val="visible"/>
                                      </p:to>
                                    </p:set>
                                    <p:animEffect transition="in" filter="fade">
                                      <p:cBhvr>
                                        <p:cTn id="60" dur="500"/>
                                        <p:tgtEl>
                                          <p:spTgt spid="96"/>
                                        </p:tgtEl>
                                      </p:cBhvr>
                                    </p:animEffect>
                                  </p:childTnLst>
                                </p:cTn>
                              </p:par>
                              <p:par>
                                <p:cTn id="61" presetID="10" presetClass="entr" presetSubtype="0" fill="hold" nodeType="withEffect">
                                  <p:stCondLst>
                                    <p:cond delay="0"/>
                                  </p:stCondLst>
                                  <p:childTnLst>
                                    <p:set>
                                      <p:cBhvr>
                                        <p:cTn id="62" dur="1" fill="hold">
                                          <p:stCondLst>
                                            <p:cond delay="0"/>
                                          </p:stCondLst>
                                        </p:cTn>
                                        <p:tgtEl>
                                          <p:spTgt spid="97"/>
                                        </p:tgtEl>
                                        <p:attrNameLst>
                                          <p:attrName>style.visibility</p:attrName>
                                        </p:attrNameLst>
                                      </p:cBhvr>
                                      <p:to>
                                        <p:strVal val="visible"/>
                                      </p:to>
                                    </p:set>
                                    <p:animEffect transition="in" filter="fade">
                                      <p:cBhvr>
                                        <p:cTn id="63" dur="500"/>
                                        <p:tgtEl>
                                          <p:spTgt spid="97"/>
                                        </p:tgtEl>
                                      </p:cBhvr>
                                    </p:animEffect>
                                  </p:childTnLst>
                                </p:cTn>
                              </p:par>
                              <p:par>
                                <p:cTn id="64" presetID="10" presetClass="entr" presetSubtype="0" fill="hold" nodeType="withEffect">
                                  <p:stCondLst>
                                    <p:cond delay="0"/>
                                  </p:stCondLst>
                                  <p:childTnLst>
                                    <p:set>
                                      <p:cBhvr>
                                        <p:cTn id="65" dur="1" fill="hold">
                                          <p:stCondLst>
                                            <p:cond delay="0"/>
                                          </p:stCondLst>
                                        </p:cTn>
                                        <p:tgtEl>
                                          <p:spTgt spid="99"/>
                                        </p:tgtEl>
                                        <p:attrNameLst>
                                          <p:attrName>style.visibility</p:attrName>
                                        </p:attrNameLst>
                                      </p:cBhvr>
                                      <p:to>
                                        <p:strVal val="visible"/>
                                      </p:to>
                                    </p:set>
                                    <p:animEffect transition="in" filter="fade">
                                      <p:cBhvr>
                                        <p:cTn id="66" dur="500"/>
                                        <p:tgtEl>
                                          <p:spTgt spid="99"/>
                                        </p:tgtEl>
                                      </p:cBhvr>
                                    </p:animEffect>
                                  </p:childTnLst>
                                </p:cTn>
                              </p:par>
                              <p:par>
                                <p:cTn id="67" presetID="10" presetClass="entr" presetSubtype="0" fill="hold" nodeType="withEffect">
                                  <p:stCondLst>
                                    <p:cond delay="0"/>
                                  </p:stCondLst>
                                  <p:childTnLst>
                                    <p:set>
                                      <p:cBhvr>
                                        <p:cTn id="68" dur="1" fill="hold">
                                          <p:stCondLst>
                                            <p:cond delay="0"/>
                                          </p:stCondLst>
                                        </p:cTn>
                                        <p:tgtEl>
                                          <p:spTgt spid="100"/>
                                        </p:tgtEl>
                                        <p:attrNameLst>
                                          <p:attrName>style.visibility</p:attrName>
                                        </p:attrNameLst>
                                      </p:cBhvr>
                                      <p:to>
                                        <p:strVal val="visible"/>
                                      </p:to>
                                    </p:set>
                                    <p:animEffect transition="in" filter="fade">
                                      <p:cBhvr>
                                        <p:cTn id="69" dur="500"/>
                                        <p:tgtEl>
                                          <p:spTgt spid="100"/>
                                        </p:tgtEl>
                                      </p:cBhvr>
                                    </p:animEffect>
                                  </p:childTnLst>
                                </p:cTn>
                              </p:par>
                              <p:par>
                                <p:cTn id="70" presetID="10" presetClass="entr" presetSubtype="0" fill="hold" nodeType="withEffect">
                                  <p:stCondLst>
                                    <p:cond delay="0"/>
                                  </p:stCondLst>
                                  <p:childTnLst>
                                    <p:set>
                                      <p:cBhvr>
                                        <p:cTn id="71" dur="1" fill="hold">
                                          <p:stCondLst>
                                            <p:cond delay="0"/>
                                          </p:stCondLst>
                                        </p:cTn>
                                        <p:tgtEl>
                                          <p:spTgt spid="101"/>
                                        </p:tgtEl>
                                        <p:attrNameLst>
                                          <p:attrName>style.visibility</p:attrName>
                                        </p:attrNameLst>
                                      </p:cBhvr>
                                      <p:to>
                                        <p:strVal val="visible"/>
                                      </p:to>
                                    </p:set>
                                    <p:animEffect transition="in" filter="fade">
                                      <p:cBhvr>
                                        <p:cTn id="72" dur="500"/>
                                        <p:tgtEl>
                                          <p:spTgt spid="101"/>
                                        </p:tgtEl>
                                      </p:cBhvr>
                                    </p:animEffect>
                                  </p:childTnLst>
                                </p:cTn>
                              </p:par>
                              <p:par>
                                <p:cTn id="73" presetID="10" presetClass="entr" presetSubtype="0" fill="hold" nodeType="withEffect">
                                  <p:stCondLst>
                                    <p:cond delay="0"/>
                                  </p:stCondLst>
                                  <p:childTnLst>
                                    <p:set>
                                      <p:cBhvr>
                                        <p:cTn id="74" dur="1" fill="hold">
                                          <p:stCondLst>
                                            <p:cond delay="0"/>
                                          </p:stCondLst>
                                        </p:cTn>
                                        <p:tgtEl>
                                          <p:spTgt spid="102"/>
                                        </p:tgtEl>
                                        <p:attrNameLst>
                                          <p:attrName>style.visibility</p:attrName>
                                        </p:attrNameLst>
                                      </p:cBhvr>
                                      <p:to>
                                        <p:strVal val="visible"/>
                                      </p:to>
                                    </p:set>
                                    <p:animEffect transition="in" filter="fade">
                                      <p:cBhvr>
                                        <p:cTn id="75" dur="500"/>
                                        <p:tgtEl>
                                          <p:spTgt spid="102"/>
                                        </p:tgtEl>
                                      </p:cBhvr>
                                    </p:animEffect>
                                  </p:childTnLst>
                                </p:cTn>
                              </p:par>
                              <p:par>
                                <p:cTn id="76" presetID="10" presetClass="entr" presetSubtype="0" fill="hold" nodeType="withEffect">
                                  <p:stCondLst>
                                    <p:cond delay="0"/>
                                  </p:stCondLst>
                                  <p:childTnLst>
                                    <p:set>
                                      <p:cBhvr>
                                        <p:cTn id="77" dur="1" fill="hold">
                                          <p:stCondLst>
                                            <p:cond delay="0"/>
                                          </p:stCondLst>
                                        </p:cTn>
                                        <p:tgtEl>
                                          <p:spTgt spid="103"/>
                                        </p:tgtEl>
                                        <p:attrNameLst>
                                          <p:attrName>style.visibility</p:attrName>
                                        </p:attrNameLst>
                                      </p:cBhvr>
                                      <p:to>
                                        <p:strVal val="visible"/>
                                      </p:to>
                                    </p:set>
                                    <p:animEffect transition="in" filter="fade">
                                      <p:cBhvr>
                                        <p:cTn id="78" dur="500"/>
                                        <p:tgtEl>
                                          <p:spTgt spid="103"/>
                                        </p:tgtEl>
                                      </p:cBhvr>
                                    </p:animEffect>
                                  </p:childTnLst>
                                </p:cTn>
                              </p:par>
                              <p:par>
                                <p:cTn id="79" presetID="10" presetClass="entr" presetSubtype="0" fill="hold" nodeType="withEffect">
                                  <p:stCondLst>
                                    <p:cond delay="0"/>
                                  </p:stCondLst>
                                  <p:childTnLst>
                                    <p:set>
                                      <p:cBhvr>
                                        <p:cTn id="80" dur="1" fill="hold">
                                          <p:stCondLst>
                                            <p:cond delay="0"/>
                                          </p:stCondLst>
                                        </p:cTn>
                                        <p:tgtEl>
                                          <p:spTgt spid="104"/>
                                        </p:tgtEl>
                                        <p:attrNameLst>
                                          <p:attrName>style.visibility</p:attrName>
                                        </p:attrNameLst>
                                      </p:cBhvr>
                                      <p:to>
                                        <p:strVal val="visible"/>
                                      </p:to>
                                    </p:set>
                                    <p:animEffect transition="in" filter="fade">
                                      <p:cBhvr>
                                        <p:cTn id="81" dur="500"/>
                                        <p:tgtEl>
                                          <p:spTgt spid="104"/>
                                        </p:tgtEl>
                                      </p:cBhvr>
                                    </p:animEffect>
                                  </p:childTnLst>
                                </p:cTn>
                              </p:par>
                              <p:par>
                                <p:cTn id="82" presetID="10" presetClass="entr" presetSubtype="0" fill="hold" nodeType="withEffect">
                                  <p:stCondLst>
                                    <p:cond delay="0"/>
                                  </p:stCondLst>
                                  <p:childTnLst>
                                    <p:set>
                                      <p:cBhvr>
                                        <p:cTn id="83" dur="1" fill="hold">
                                          <p:stCondLst>
                                            <p:cond delay="0"/>
                                          </p:stCondLst>
                                        </p:cTn>
                                        <p:tgtEl>
                                          <p:spTgt spid="105"/>
                                        </p:tgtEl>
                                        <p:attrNameLst>
                                          <p:attrName>style.visibility</p:attrName>
                                        </p:attrNameLst>
                                      </p:cBhvr>
                                      <p:to>
                                        <p:strVal val="visible"/>
                                      </p:to>
                                    </p:set>
                                    <p:animEffect transition="in" filter="fade">
                                      <p:cBhvr>
                                        <p:cTn id="84" dur="500"/>
                                        <p:tgtEl>
                                          <p:spTgt spid="105"/>
                                        </p:tgtEl>
                                      </p:cBhvr>
                                    </p:animEffect>
                                  </p:childTnLst>
                                </p:cTn>
                              </p:par>
                              <p:par>
                                <p:cTn id="85" presetID="10" presetClass="entr" presetSubtype="0" fill="hold" nodeType="withEffect">
                                  <p:stCondLst>
                                    <p:cond delay="0"/>
                                  </p:stCondLst>
                                  <p:childTnLst>
                                    <p:set>
                                      <p:cBhvr>
                                        <p:cTn id="86" dur="1" fill="hold">
                                          <p:stCondLst>
                                            <p:cond delay="0"/>
                                          </p:stCondLst>
                                        </p:cTn>
                                        <p:tgtEl>
                                          <p:spTgt spid="106"/>
                                        </p:tgtEl>
                                        <p:attrNameLst>
                                          <p:attrName>style.visibility</p:attrName>
                                        </p:attrNameLst>
                                      </p:cBhvr>
                                      <p:to>
                                        <p:strVal val="visible"/>
                                      </p:to>
                                    </p:set>
                                    <p:animEffect transition="in" filter="fade">
                                      <p:cBhvr>
                                        <p:cTn id="87" dur="500"/>
                                        <p:tgtEl>
                                          <p:spTgt spid="106"/>
                                        </p:tgtEl>
                                      </p:cBhvr>
                                    </p:animEffect>
                                  </p:childTnLst>
                                </p:cTn>
                              </p:par>
                              <p:par>
                                <p:cTn id="88" presetID="10" presetClass="entr" presetSubtype="0" fill="hold" nodeType="withEffect">
                                  <p:stCondLst>
                                    <p:cond delay="0"/>
                                  </p:stCondLst>
                                  <p:childTnLst>
                                    <p:set>
                                      <p:cBhvr>
                                        <p:cTn id="89" dur="1" fill="hold">
                                          <p:stCondLst>
                                            <p:cond delay="0"/>
                                          </p:stCondLst>
                                        </p:cTn>
                                        <p:tgtEl>
                                          <p:spTgt spid="107"/>
                                        </p:tgtEl>
                                        <p:attrNameLst>
                                          <p:attrName>style.visibility</p:attrName>
                                        </p:attrNameLst>
                                      </p:cBhvr>
                                      <p:to>
                                        <p:strVal val="visible"/>
                                      </p:to>
                                    </p:set>
                                    <p:animEffect transition="in" filter="fade">
                                      <p:cBhvr>
                                        <p:cTn id="90" dur="500"/>
                                        <p:tgtEl>
                                          <p:spTgt spid="107"/>
                                        </p:tgtEl>
                                      </p:cBhvr>
                                    </p:animEffect>
                                  </p:childTnLst>
                                </p:cTn>
                              </p:par>
                              <p:par>
                                <p:cTn id="91" presetID="10" presetClass="entr" presetSubtype="0" fill="hold" nodeType="withEffect">
                                  <p:stCondLst>
                                    <p:cond delay="0"/>
                                  </p:stCondLst>
                                  <p:childTnLst>
                                    <p:set>
                                      <p:cBhvr>
                                        <p:cTn id="92" dur="1" fill="hold">
                                          <p:stCondLst>
                                            <p:cond delay="0"/>
                                          </p:stCondLst>
                                        </p:cTn>
                                        <p:tgtEl>
                                          <p:spTgt spid="108"/>
                                        </p:tgtEl>
                                        <p:attrNameLst>
                                          <p:attrName>style.visibility</p:attrName>
                                        </p:attrNameLst>
                                      </p:cBhvr>
                                      <p:to>
                                        <p:strVal val="visible"/>
                                      </p:to>
                                    </p:set>
                                    <p:animEffect transition="in" filter="fade">
                                      <p:cBhvr>
                                        <p:cTn id="93" dur="500"/>
                                        <p:tgtEl>
                                          <p:spTgt spid="108"/>
                                        </p:tgtEl>
                                      </p:cBhvr>
                                    </p:animEffect>
                                  </p:childTnLst>
                                </p:cTn>
                              </p:par>
                              <p:par>
                                <p:cTn id="94" presetID="10" presetClass="entr" presetSubtype="0" fill="hold" nodeType="withEffect">
                                  <p:stCondLst>
                                    <p:cond delay="0"/>
                                  </p:stCondLst>
                                  <p:childTnLst>
                                    <p:set>
                                      <p:cBhvr>
                                        <p:cTn id="95" dur="1" fill="hold">
                                          <p:stCondLst>
                                            <p:cond delay="0"/>
                                          </p:stCondLst>
                                        </p:cTn>
                                        <p:tgtEl>
                                          <p:spTgt spid="109"/>
                                        </p:tgtEl>
                                        <p:attrNameLst>
                                          <p:attrName>style.visibility</p:attrName>
                                        </p:attrNameLst>
                                      </p:cBhvr>
                                      <p:to>
                                        <p:strVal val="visible"/>
                                      </p:to>
                                    </p:set>
                                    <p:animEffect transition="in" filter="fade">
                                      <p:cBhvr>
                                        <p:cTn id="96" dur="500"/>
                                        <p:tgtEl>
                                          <p:spTgt spid="109"/>
                                        </p:tgtEl>
                                      </p:cBhvr>
                                    </p:animEffect>
                                  </p:childTnLst>
                                </p:cTn>
                              </p:par>
                              <p:par>
                                <p:cTn id="97" presetID="10" presetClass="entr" presetSubtype="0" fill="hold" nodeType="withEffect">
                                  <p:stCondLst>
                                    <p:cond delay="0"/>
                                  </p:stCondLst>
                                  <p:childTnLst>
                                    <p:set>
                                      <p:cBhvr>
                                        <p:cTn id="98" dur="1" fill="hold">
                                          <p:stCondLst>
                                            <p:cond delay="0"/>
                                          </p:stCondLst>
                                        </p:cTn>
                                        <p:tgtEl>
                                          <p:spTgt spid="110"/>
                                        </p:tgtEl>
                                        <p:attrNameLst>
                                          <p:attrName>style.visibility</p:attrName>
                                        </p:attrNameLst>
                                      </p:cBhvr>
                                      <p:to>
                                        <p:strVal val="visible"/>
                                      </p:to>
                                    </p:set>
                                    <p:animEffect transition="in" filter="fade">
                                      <p:cBhvr>
                                        <p:cTn id="99" dur="500"/>
                                        <p:tgtEl>
                                          <p:spTgt spid="110"/>
                                        </p:tgtEl>
                                      </p:cBhvr>
                                    </p:animEffect>
                                  </p:childTnLst>
                                </p:cTn>
                              </p:par>
                              <p:par>
                                <p:cTn id="100" presetID="10" presetClass="entr" presetSubtype="0" fill="hold" nodeType="withEffect">
                                  <p:stCondLst>
                                    <p:cond delay="0"/>
                                  </p:stCondLst>
                                  <p:childTnLst>
                                    <p:set>
                                      <p:cBhvr>
                                        <p:cTn id="101" dur="1" fill="hold">
                                          <p:stCondLst>
                                            <p:cond delay="0"/>
                                          </p:stCondLst>
                                        </p:cTn>
                                        <p:tgtEl>
                                          <p:spTgt spid="111"/>
                                        </p:tgtEl>
                                        <p:attrNameLst>
                                          <p:attrName>style.visibility</p:attrName>
                                        </p:attrNameLst>
                                      </p:cBhvr>
                                      <p:to>
                                        <p:strVal val="visible"/>
                                      </p:to>
                                    </p:set>
                                    <p:animEffect transition="in" filter="fade">
                                      <p:cBhvr>
                                        <p:cTn id="102" dur="500"/>
                                        <p:tgtEl>
                                          <p:spTgt spid="111"/>
                                        </p:tgtEl>
                                      </p:cBhvr>
                                    </p:animEffect>
                                  </p:childTnLst>
                                </p:cTn>
                              </p:par>
                              <p:par>
                                <p:cTn id="103" presetID="10" presetClass="entr" presetSubtype="0" fill="hold" nodeType="withEffect">
                                  <p:stCondLst>
                                    <p:cond delay="0"/>
                                  </p:stCondLst>
                                  <p:childTnLst>
                                    <p:set>
                                      <p:cBhvr>
                                        <p:cTn id="104" dur="1" fill="hold">
                                          <p:stCondLst>
                                            <p:cond delay="0"/>
                                          </p:stCondLst>
                                        </p:cTn>
                                        <p:tgtEl>
                                          <p:spTgt spid="112"/>
                                        </p:tgtEl>
                                        <p:attrNameLst>
                                          <p:attrName>style.visibility</p:attrName>
                                        </p:attrNameLst>
                                      </p:cBhvr>
                                      <p:to>
                                        <p:strVal val="visible"/>
                                      </p:to>
                                    </p:set>
                                    <p:animEffect transition="in" filter="fade">
                                      <p:cBhvr>
                                        <p:cTn id="105" dur="500"/>
                                        <p:tgtEl>
                                          <p:spTgt spid="112"/>
                                        </p:tgtEl>
                                      </p:cBhvr>
                                    </p:animEffect>
                                  </p:childTnLst>
                                </p:cTn>
                              </p:par>
                              <p:par>
                                <p:cTn id="106" presetID="10" presetClass="entr" presetSubtype="0" fill="hold" nodeType="withEffect">
                                  <p:stCondLst>
                                    <p:cond delay="0"/>
                                  </p:stCondLst>
                                  <p:childTnLst>
                                    <p:set>
                                      <p:cBhvr>
                                        <p:cTn id="107" dur="1" fill="hold">
                                          <p:stCondLst>
                                            <p:cond delay="0"/>
                                          </p:stCondLst>
                                        </p:cTn>
                                        <p:tgtEl>
                                          <p:spTgt spid="113"/>
                                        </p:tgtEl>
                                        <p:attrNameLst>
                                          <p:attrName>style.visibility</p:attrName>
                                        </p:attrNameLst>
                                      </p:cBhvr>
                                      <p:to>
                                        <p:strVal val="visible"/>
                                      </p:to>
                                    </p:set>
                                    <p:animEffect transition="in" filter="fade">
                                      <p:cBhvr>
                                        <p:cTn id="108" dur="500"/>
                                        <p:tgtEl>
                                          <p:spTgt spid="113"/>
                                        </p:tgtEl>
                                      </p:cBhvr>
                                    </p:animEffect>
                                  </p:childTnLst>
                                </p:cTn>
                              </p:par>
                              <p:par>
                                <p:cTn id="109" presetID="10" presetClass="entr" presetSubtype="0" fill="hold" nodeType="withEffect">
                                  <p:stCondLst>
                                    <p:cond delay="0"/>
                                  </p:stCondLst>
                                  <p:childTnLst>
                                    <p:set>
                                      <p:cBhvr>
                                        <p:cTn id="110" dur="1" fill="hold">
                                          <p:stCondLst>
                                            <p:cond delay="0"/>
                                          </p:stCondLst>
                                        </p:cTn>
                                        <p:tgtEl>
                                          <p:spTgt spid="114"/>
                                        </p:tgtEl>
                                        <p:attrNameLst>
                                          <p:attrName>style.visibility</p:attrName>
                                        </p:attrNameLst>
                                      </p:cBhvr>
                                      <p:to>
                                        <p:strVal val="visible"/>
                                      </p:to>
                                    </p:set>
                                    <p:animEffect transition="in" filter="fade">
                                      <p:cBhvr>
                                        <p:cTn id="111" dur="500"/>
                                        <p:tgtEl>
                                          <p:spTgt spid="114"/>
                                        </p:tgtEl>
                                      </p:cBhvr>
                                    </p:animEffect>
                                  </p:childTnLst>
                                </p:cTn>
                              </p:par>
                              <p:par>
                                <p:cTn id="112" presetID="10" presetClass="entr" presetSubtype="0" fill="hold" nodeType="withEffect">
                                  <p:stCondLst>
                                    <p:cond delay="0"/>
                                  </p:stCondLst>
                                  <p:childTnLst>
                                    <p:set>
                                      <p:cBhvr>
                                        <p:cTn id="113" dur="1" fill="hold">
                                          <p:stCondLst>
                                            <p:cond delay="0"/>
                                          </p:stCondLst>
                                        </p:cTn>
                                        <p:tgtEl>
                                          <p:spTgt spid="115"/>
                                        </p:tgtEl>
                                        <p:attrNameLst>
                                          <p:attrName>style.visibility</p:attrName>
                                        </p:attrNameLst>
                                      </p:cBhvr>
                                      <p:to>
                                        <p:strVal val="visible"/>
                                      </p:to>
                                    </p:set>
                                    <p:animEffect transition="in" filter="fade">
                                      <p:cBhvr>
                                        <p:cTn id="114" dur="500"/>
                                        <p:tgtEl>
                                          <p:spTgt spid="115"/>
                                        </p:tgtEl>
                                      </p:cBhvr>
                                    </p:animEffect>
                                  </p:childTnLst>
                                </p:cTn>
                              </p:par>
                              <p:par>
                                <p:cTn id="115" presetID="10" presetClass="entr" presetSubtype="0" fill="hold" nodeType="withEffect">
                                  <p:stCondLst>
                                    <p:cond delay="0"/>
                                  </p:stCondLst>
                                  <p:childTnLst>
                                    <p:set>
                                      <p:cBhvr>
                                        <p:cTn id="116" dur="1" fill="hold">
                                          <p:stCondLst>
                                            <p:cond delay="0"/>
                                          </p:stCondLst>
                                        </p:cTn>
                                        <p:tgtEl>
                                          <p:spTgt spid="116"/>
                                        </p:tgtEl>
                                        <p:attrNameLst>
                                          <p:attrName>style.visibility</p:attrName>
                                        </p:attrNameLst>
                                      </p:cBhvr>
                                      <p:to>
                                        <p:strVal val="visible"/>
                                      </p:to>
                                    </p:set>
                                    <p:animEffect transition="in" filter="fade">
                                      <p:cBhvr>
                                        <p:cTn id="117" dur="500"/>
                                        <p:tgtEl>
                                          <p:spTgt spid="116"/>
                                        </p:tgtEl>
                                      </p:cBhvr>
                                    </p:animEffect>
                                  </p:childTnLst>
                                </p:cTn>
                              </p:par>
                              <p:par>
                                <p:cTn id="118" presetID="10" presetClass="entr" presetSubtype="0" fill="hold" nodeType="withEffect">
                                  <p:stCondLst>
                                    <p:cond delay="0"/>
                                  </p:stCondLst>
                                  <p:childTnLst>
                                    <p:set>
                                      <p:cBhvr>
                                        <p:cTn id="119" dur="1" fill="hold">
                                          <p:stCondLst>
                                            <p:cond delay="0"/>
                                          </p:stCondLst>
                                        </p:cTn>
                                        <p:tgtEl>
                                          <p:spTgt spid="117"/>
                                        </p:tgtEl>
                                        <p:attrNameLst>
                                          <p:attrName>style.visibility</p:attrName>
                                        </p:attrNameLst>
                                      </p:cBhvr>
                                      <p:to>
                                        <p:strVal val="visible"/>
                                      </p:to>
                                    </p:set>
                                    <p:animEffect transition="in" filter="fade">
                                      <p:cBhvr>
                                        <p:cTn id="120" dur="500"/>
                                        <p:tgtEl>
                                          <p:spTgt spid="117"/>
                                        </p:tgtEl>
                                      </p:cBhvr>
                                    </p:animEffect>
                                  </p:childTnLst>
                                </p:cTn>
                              </p:par>
                              <p:par>
                                <p:cTn id="121" presetID="10" presetClass="entr" presetSubtype="0" fill="hold" nodeType="withEffect">
                                  <p:stCondLst>
                                    <p:cond delay="0"/>
                                  </p:stCondLst>
                                  <p:childTnLst>
                                    <p:set>
                                      <p:cBhvr>
                                        <p:cTn id="122" dur="1" fill="hold">
                                          <p:stCondLst>
                                            <p:cond delay="0"/>
                                          </p:stCondLst>
                                        </p:cTn>
                                        <p:tgtEl>
                                          <p:spTgt spid="118"/>
                                        </p:tgtEl>
                                        <p:attrNameLst>
                                          <p:attrName>style.visibility</p:attrName>
                                        </p:attrNameLst>
                                      </p:cBhvr>
                                      <p:to>
                                        <p:strVal val="visible"/>
                                      </p:to>
                                    </p:set>
                                    <p:animEffect transition="in" filter="fade">
                                      <p:cBhvr>
                                        <p:cTn id="123" dur="500"/>
                                        <p:tgtEl>
                                          <p:spTgt spid="118"/>
                                        </p:tgtEl>
                                      </p:cBhvr>
                                    </p:animEffect>
                                  </p:childTnLst>
                                </p:cTn>
                              </p:par>
                              <p:par>
                                <p:cTn id="124" presetID="10" presetClass="entr" presetSubtype="0" fill="hold" nodeType="withEffect">
                                  <p:stCondLst>
                                    <p:cond delay="0"/>
                                  </p:stCondLst>
                                  <p:childTnLst>
                                    <p:set>
                                      <p:cBhvr>
                                        <p:cTn id="125" dur="1" fill="hold">
                                          <p:stCondLst>
                                            <p:cond delay="0"/>
                                          </p:stCondLst>
                                        </p:cTn>
                                        <p:tgtEl>
                                          <p:spTgt spid="119"/>
                                        </p:tgtEl>
                                        <p:attrNameLst>
                                          <p:attrName>style.visibility</p:attrName>
                                        </p:attrNameLst>
                                      </p:cBhvr>
                                      <p:to>
                                        <p:strVal val="visible"/>
                                      </p:to>
                                    </p:set>
                                    <p:animEffect transition="in" filter="fade">
                                      <p:cBhvr>
                                        <p:cTn id="126" dur="500"/>
                                        <p:tgtEl>
                                          <p:spTgt spid="119"/>
                                        </p:tgtEl>
                                      </p:cBhvr>
                                    </p:animEffect>
                                  </p:childTnLst>
                                </p:cTn>
                              </p:par>
                              <p:par>
                                <p:cTn id="127" presetID="10" presetClass="entr" presetSubtype="0" fill="hold" nodeType="withEffect">
                                  <p:stCondLst>
                                    <p:cond delay="0"/>
                                  </p:stCondLst>
                                  <p:childTnLst>
                                    <p:set>
                                      <p:cBhvr>
                                        <p:cTn id="128" dur="1" fill="hold">
                                          <p:stCondLst>
                                            <p:cond delay="0"/>
                                          </p:stCondLst>
                                        </p:cTn>
                                        <p:tgtEl>
                                          <p:spTgt spid="120"/>
                                        </p:tgtEl>
                                        <p:attrNameLst>
                                          <p:attrName>style.visibility</p:attrName>
                                        </p:attrNameLst>
                                      </p:cBhvr>
                                      <p:to>
                                        <p:strVal val="visible"/>
                                      </p:to>
                                    </p:set>
                                    <p:animEffect transition="in" filter="fade">
                                      <p:cBhvr>
                                        <p:cTn id="129" dur="500"/>
                                        <p:tgtEl>
                                          <p:spTgt spid="120"/>
                                        </p:tgtEl>
                                      </p:cBhvr>
                                    </p:animEffect>
                                  </p:childTnLst>
                                </p:cTn>
                              </p:par>
                              <p:par>
                                <p:cTn id="130" presetID="10" presetClass="entr" presetSubtype="0" fill="hold" nodeType="withEffect">
                                  <p:stCondLst>
                                    <p:cond delay="0"/>
                                  </p:stCondLst>
                                  <p:childTnLst>
                                    <p:set>
                                      <p:cBhvr>
                                        <p:cTn id="131" dur="1" fill="hold">
                                          <p:stCondLst>
                                            <p:cond delay="0"/>
                                          </p:stCondLst>
                                        </p:cTn>
                                        <p:tgtEl>
                                          <p:spTgt spid="121"/>
                                        </p:tgtEl>
                                        <p:attrNameLst>
                                          <p:attrName>style.visibility</p:attrName>
                                        </p:attrNameLst>
                                      </p:cBhvr>
                                      <p:to>
                                        <p:strVal val="visible"/>
                                      </p:to>
                                    </p:set>
                                    <p:animEffect transition="in" filter="fade">
                                      <p:cBhvr>
                                        <p:cTn id="132" dur="500"/>
                                        <p:tgtEl>
                                          <p:spTgt spid="121"/>
                                        </p:tgtEl>
                                      </p:cBhvr>
                                    </p:animEffect>
                                  </p:childTnLst>
                                </p:cTn>
                              </p:par>
                              <p:par>
                                <p:cTn id="133" presetID="10" presetClass="entr" presetSubtype="0" fill="hold" nodeType="withEffect">
                                  <p:stCondLst>
                                    <p:cond delay="0"/>
                                  </p:stCondLst>
                                  <p:childTnLst>
                                    <p:set>
                                      <p:cBhvr>
                                        <p:cTn id="134" dur="1" fill="hold">
                                          <p:stCondLst>
                                            <p:cond delay="0"/>
                                          </p:stCondLst>
                                        </p:cTn>
                                        <p:tgtEl>
                                          <p:spTgt spid="122"/>
                                        </p:tgtEl>
                                        <p:attrNameLst>
                                          <p:attrName>style.visibility</p:attrName>
                                        </p:attrNameLst>
                                      </p:cBhvr>
                                      <p:to>
                                        <p:strVal val="visible"/>
                                      </p:to>
                                    </p:set>
                                    <p:animEffect transition="in" filter="fade">
                                      <p:cBhvr>
                                        <p:cTn id="135" dur="500"/>
                                        <p:tgtEl>
                                          <p:spTgt spid="122"/>
                                        </p:tgtEl>
                                      </p:cBhvr>
                                    </p:animEffect>
                                  </p:childTnLst>
                                </p:cTn>
                              </p:par>
                              <p:par>
                                <p:cTn id="136" presetID="10" presetClass="entr" presetSubtype="0" fill="hold" nodeType="withEffect">
                                  <p:stCondLst>
                                    <p:cond delay="0"/>
                                  </p:stCondLst>
                                  <p:childTnLst>
                                    <p:set>
                                      <p:cBhvr>
                                        <p:cTn id="137" dur="1" fill="hold">
                                          <p:stCondLst>
                                            <p:cond delay="0"/>
                                          </p:stCondLst>
                                        </p:cTn>
                                        <p:tgtEl>
                                          <p:spTgt spid="123"/>
                                        </p:tgtEl>
                                        <p:attrNameLst>
                                          <p:attrName>style.visibility</p:attrName>
                                        </p:attrNameLst>
                                      </p:cBhvr>
                                      <p:to>
                                        <p:strVal val="visible"/>
                                      </p:to>
                                    </p:set>
                                    <p:animEffect transition="in" filter="fade">
                                      <p:cBhvr>
                                        <p:cTn id="138" dur="500"/>
                                        <p:tgtEl>
                                          <p:spTgt spid="123"/>
                                        </p:tgtEl>
                                      </p:cBhvr>
                                    </p:animEffect>
                                  </p:childTnLst>
                                </p:cTn>
                              </p:par>
                              <p:par>
                                <p:cTn id="139" presetID="10" presetClass="entr" presetSubtype="0" fill="hold" nodeType="withEffect">
                                  <p:stCondLst>
                                    <p:cond delay="0"/>
                                  </p:stCondLst>
                                  <p:childTnLst>
                                    <p:set>
                                      <p:cBhvr>
                                        <p:cTn id="140" dur="1" fill="hold">
                                          <p:stCondLst>
                                            <p:cond delay="0"/>
                                          </p:stCondLst>
                                        </p:cTn>
                                        <p:tgtEl>
                                          <p:spTgt spid="124"/>
                                        </p:tgtEl>
                                        <p:attrNameLst>
                                          <p:attrName>style.visibility</p:attrName>
                                        </p:attrNameLst>
                                      </p:cBhvr>
                                      <p:to>
                                        <p:strVal val="visible"/>
                                      </p:to>
                                    </p:set>
                                    <p:animEffect transition="in" filter="fade">
                                      <p:cBhvr>
                                        <p:cTn id="141" dur="500"/>
                                        <p:tgtEl>
                                          <p:spTgt spid="124"/>
                                        </p:tgtEl>
                                      </p:cBhvr>
                                    </p:animEffect>
                                  </p:childTnLst>
                                </p:cTn>
                              </p:par>
                              <p:par>
                                <p:cTn id="142" presetID="10" presetClass="entr" presetSubtype="0" fill="hold" nodeType="withEffect">
                                  <p:stCondLst>
                                    <p:cond delay="0"/>
                                  </p:stCondLst>
                                  <p:childTnLst>
                                    <p:set>
                                      <p:cBhvr>
                                        <p:cTn id="143" dur="1" fill="hold">
                                          <p:stCondLst>
                                            <p:cond delay="0"/>
                                          </p:stCondLst>
                                        </p:cTn>
                                        <p:tgtEl>
                                          <p:spTgt spid="125"/>
                                        </p:tgtEl>
                                        <p:attrNameLst>
                                          <p:attrName>style.visibility</p:attrName>
                                        </p:attrNameLst>
                                      </p:cBhvr>
                                      <p:to>
                                        <p:strVal val="visible"/>
                                      </p:to>
                                    </p:set>
                                    <p:animEffect transition="in" filter="fade">
                                      <p:cBhvr>
                                        <p:cTn id="144" dur="500"/>
                                        <p:tgtEl>
                                          <p:spTgt spid="125"/>
                                        </p:tgtEl>
                                      </p:cBhvr>
                                    </p:animEffect>
                                  </p:childTnLst>
                                </p:cTn>
                              </p:par>
                              <p:par>
                                <p:cTn id="145" presetID="10" presetClass="entr" presetSubtype="0" fill="hold" nodeType="withEffect">
                                  <p:stCondLst>
                                    <p:cond delay="0"/>
                                  </p:stCondLst>
                                  <p:childTnLst>
                                    <p:set>
                                      <p:cBhvr>
                                        <p:cTn id="146" dur="1" fill="hold">
                                          <p:stCondLst>
                                            <p:cond delay="0"/>
                                          </p:stCondLst>
                                        </p:cTn>
                                        <p:tgtEl>
                                          <p:spTgt spid="126"/>
                                        </p:tgtEl>
                                        <p:attrNameLst>
                                          <p:attrName>style.visibility</p:attrName>
                                        </p:attrNameLst>
                                      </p:cBhvr>
                                      <p:to>
                                        <p:strVal val="visible"/>
                                      </p:to>
                                    </p:set>
                                    <p:animEffect transition="in" filter="fade">
                                      <p:cBhvr>
                                        <p:cTn id="147" dur="500"/>
                                        <p:tgtEl>
                                          <p:spTgt spid="126"/>
                                        </p:tgtEl>
                                      </p:cBhvr>
                                    </p:animEffect>
                                  </p:childTnLst>
                                </p:cTn>
                              </p:par>
                              <p:par>
                                <p:cTn id="148" presetID="10" presetClass="entr" presetSubtype="0" fill="hold" nodeType="withEffect">
                                  <p:stCondLst>
                                    <p:cond delay="0"/>
                                  </p:stCondLst>
                                  <p:childTnLst>
                                    <p:set>
                                      <p:cBhvr>
                                        <p:cTn id="149" dur="1" fill="hold">
                                          <p:stCondLst>
                                            <p:cond delay="0"/>
                                          </p:stCondLst>
                                        </p:cTn>
                                        <p:tgtEl>
                                          <p:spTgt spid="127"/>
                                        </p:tgtEl>
                                        <p:attrNameLst>
                                          <p:attrName>style.visibility</p:attrName>
                                        </p:attrNameLst>
                                      </p:cBhvr>
                                      <p:to>
                                        <p:strVal val="visible"/>
                                      </p:to>
                                    </p:set>
                                    <p:animEffect transition="in" filter="fade">
                                      <p:cBhvr>
                                        <p:cTn id="150" dur="500"/>
                                        <p:tgtEl>
                                          <p:spTgt spid="127"/>
                                        </p:tgtEl>
                                      </p:cBhvr>
                                    </p:animEffect>
                                  </p:childTnLst>
                                </p:cTn>
                              </p:par>
                              <p:par>
                                <p:cTn id="151" presetID="10" presetClass="entr" presetSubtype="0" fill="hold" nodeType="withEffect">
                                  <p:stCondLst>
                                    <p:cond delay="0"/>
                                  </p:stCondLst>
                                  <p:childTnLst>
                                    <p:set>
                                      <p:cBhvr>
                                        <p:cTn id="152" dur="1" fill="hold">
                                          <p:stCondLst>
                                            <p:cond delay="0"/>
                                          </p:stCondLst>
                                        </p:cTn>
                                        <p:tgtEl>
                                          <p:spTgt spid="128"/>
                                        </p:tgtEl>
                                        <p:attrNameLst>
                                          <p:attrName>style.visibility</p:attrName>
                                        </p:attrNameLst>
                                      </p:cBhvr>
                                      <p:to>
                                        <p:strVal val="visible"/>
                                      </p:to>
                                    </p:set>
                                    <p:animEffect transition="in" filter="fade">
                                      <p:cBhvr>
                                        <p:cTn id="153" dur="500"/>
                                        <p:tgtEl>
                                          <p:spTgt spid="128"/>
                                        </p:tgtEl>
                                      </p:cBhvr>
                                    </p:animEffect>
                                  </p:childTnLst>
                                </p:cTn>
                              </p:par>
                              <p:par>
                                <p:cTn id="154" presetID="10" presetClass="entr" presetSubtype="0" fill="hold" nodeType="withEffect">
                                  <p:stCondLst>
                                    <p:cond delay="0"/>
                                  </p:stCondLst>
                                  <p:childTnLst>
                                    <p:set>
                                      <p:cBhvr>
                                        <p:cTn id="155" dur="1" fill="hold">
                                          <p:stCondLst>
                                            <p:cond delay="0"/>
                                          </p:stCondLst>
                                        </p:cTn>
                                        <p:tgtEl>
                                          <p:spTgt spid="129"/>
                                        </p:tgtEl>
                                        <p:attrNameLst>
                                          <p:attrName>style.visibility</p:attrName>
                                        </p:attrNameLst>
                                      </p:cBhvr>
                                      <p:to>
                                        <p:strVal val="visible"/>
                                      </p:to>
                                    </p:set>
                                    <p:animEffect transition="in" filter="fade">
                                      <p:cBhvr>
                                        <p:cTn id="156" dur="500"/>
                                        <p:tgtEl>
                                          <p:spTgt spid="129"/>
                                        </p:tgtEl>
                                      </p:cBhvr>
                                    </p:animEffect>
                                  </p:childTnLst>
                                </p:cTn>
                              </p:par>
                              <p:par>
                                <p:cTn id="157" presetID="10" presetClass="entr" presetSubtype="0" fill="hold" nodeType="withEffect">
                                  <p:stCondLst>
                                    <p:cond delay="0"/>
                                  </p:stCondLst>
                                  <p:childTnLst>
                                    <p:set>
                                      <p:cBhvr>
                                        <p:cTn id="158" dur="1" fill="hold">
                                          <p:stCondLst>
                                            <p:cond delay="0"/>
                                          </p:stCondLst>
                                        </p:cTn>
                                        <p:tgtEl>
                                          <p:spTgt spid="130"/>
                                        </p:tgtEl>
                                        <p:attrNameLst>
                                          <p:attrName>style.visibility</p:attrName>
                                        </p:attrNameLst>
                                      </p:cBhvr>
                                      <p:to>
                                        <p:strVal val="visible"/>
                                      </p:to>
                                    </p:set>
                                    <p:animEffect transition="in" filter="fade">
                                      <p:cBhvr>
                                        <p:cTn id="159" dur="500"/>
                                        <p:tgtEl>
                                          <p:spTgt spid="130"/>
                                        </p:tgtEl>
                                      </p:cBhvr>
                                    </p:animEffect>
                                  </p:childTnLst>
                                </p:cTn>
                              </p:par>
                              <p:par>
                                <p:cTn id="160" presetID="10" presetClass="entr" presetSubtype="0" fill="hold" nodeType="withEffect">
                                  <p:stCondLst>
                                    <p:cond delay="0"/>
                                  </p:stCondLst>
                                  <p:childTnLst>
                                    <p:set>
                                      <p:cBhvr>
                                        <p:cTn id="161" dur="1" fill="hold">
                                          <p:stCondLst>
                                            <p:cond delay="0"/>
                                          </p:stCondLst>
                                        </p:cTn>
                                        <p:tgtEl>
                                          <p:spTgt spid="131"/>
                                        </p:tgtEl>
                                        <p:attrNameLst>
                                          <p:attrName>style.visibility</p:attrName>
                                        </p:attrNameLst>
                                      </p:cBhvr>
                                      <p:to>
                                        <p:strVal val="visible"/>
                                      </p:to>
                                    </p:set>
                                    <p:animEffect transition="in" filter="fade">
                                      <p:cBhvr>
                                        <p:cTn id="162" dur="500"/>
                                        <p:tgtEl>
                                          <p:spTgt spid="131"/>
                                        </p:tgtEl>
                                      </p:cBhvr>
                                    </p:animEffect>
                                  </p:childTnLst>
                                </p:cTn>
                              </p:par>
                              <p:par>
                                <p:cTn id="163" presetID="10" presetClass="entr" presetSubtype="0" fill="hold" nodeType="withEffect">
                                  <p:stCondLst>
                                    <p:cond delay="0"/>
                                  </p:stCondLst>
                                  <p:childTnLst>
                                    <p:set>
                                      <p:cBhvr>
                                        <p:cTn id="164" dur="1" fill="hold">
                                          <p:stCondLst>
                                            <p:cond delay="0"/>
                                          </p:stCondLst>
                                        </p:cTn>
                                        <p:tgtEl>
                                          <p:spTgt spid="132"/>
                                        </p:tgtEl>
                                        <p:attrNameLst>
                                          <p:attrName>style.visibility</p:attrName>
                                        </p:attrNameLst>
                                      </p:cBhvr>
                                      <p:to>
                                        <p:strVal val="visible"/>
                                      </p:to>
                                    </p:set>
                                    <p:animEffect transition="in" filter="fade">
                                      <p:cBhvr>
                                        <p:cTn id="165" dur="500"/>
                                        <p:tgtEl>
                                          <p:spTgt spid="132"/>
                                        </p:tgtEl>
                                      </p:cBhvr>
                                    </p:animEffect>
                                  </p:childTnLst>
                                </p:cTn>
                              </p:par>
                              <p:par>
                                <p:cTn id="166" presetID="10" presetClass="entr" presetSubtype="0" fill="hold" nodeType="withEffect">
                                  <p:stCondLst>
                                    <p:cond delay="0"/>
                                  </p:stCondLst>
                                  <p:childTnLst>
                                    <p:set>
                                      <p:cBhvr>
                                        <p:cTn id="167" dur="1" fill="hold">
                                          <p:stCondLst>
                                            <p:cond delay="0"/>
                                          </p:stCondLst>
                                        </p:cTn>
                                        <p:tgtEl>
                                          <p:spTgt spid="133"/>
                                        </p:tgtEl>
                                        <p:attrNameLst>
                                          <p:attrName>style.visibility</p:attrName>
                                        </p:attrNameLst>
                                      </p:cBhvr>
                                      <p:to>
                                        <p:strVal val="visible"/>
                                      </p:to>
                                    </p:set>
                                    <p:animEffect transition="in" filter="fade">
                                      <p:cBhvr>
                                        <p:cTn id="168" dur="500"/>
                                        <p:tgtEl>
                                          <p:spTgt spid="133"/>
                                        </p:tgtEl>
                                      </p:cBhvr>
                                    </p:animEffect>
                                  </p:childTnLst>
                                </p:cTn>
                              </p:par>
                              <p:par>
                                <p:cTn id="169" presetID="10" presetClass="entr" presetSubtype="0" fill="hold" nodeType="withEffect">
                                  <p:stCondLst>
                                    <p:cond delay="0"/>
                                  </p:stCondLst>
                                  <p:childTnLst>
                                    <p:set>
                                      <p:cBhvr>
                                        <p:cTn id="170" dur="1" fill="hold">
                                          <p:stCondLst>
                                            <p:cond delay="0"/>
                                          </p:stCondLst>
                                        </p:cTn>
                                        <p:tgtEl>
                                          <p:spTgt spid="134"/>
                                        </p:tgtEl>
                                        <p:attrNameLst>
                                          <p:attrName>style.visibility</p:attrName>
                                        </p:attrNameLst>
                                      </p:cBhvr>
                                      <p:to>
                                        <p:strVal val="visible"/>
                                      </p:to>
                                    </p:set>
                                    <p:animEffect transition="in" filter="fade">
                                      <p:cBhvr>
                                        <p:cTn id="171" dur="500"/>
                                        <p:tgtEl>
                                          <p:spTgt spid="134"/>
                                        </p:tgtEl>
                                      </p:cBhvr>
                                    </p:animEffect>
                                  </p:childTnLst>
                                </p:cTn>
                              </p:par>
                              <p:par>
                                <p:cTn id="172" presetID="10" presetClass="entr" presetSubtype="0" fill="hold" nodeType="withEffect">
                                  <p:stCondLst>
                                    <p:cond delay="0"/>
                                  </p:stCondLst>
                                  <p:childTnLst>
                                    <p:set>
                                      <p:cBhvr>
                                        <p:cTn id="173" dur="1" fill="hold">
                                          <p:stCondLst>
                                            <p:cond delay="0"/>
                                          </p:stCondLst>
                                        </p:cTn>
                                        <p:tgtEl>
                                          <p:spTgt spid="135"/>
                                        </p:tgtEl>
                                        <p:attrNameLst>
                                          <p:attrName>style.visibility</p:attrName>
                                        </p:attrNameLst>
                                      </p:cBhvr>
                                      <p:to>
                                        <p:strVal val="visible"/>
                                      </p:to>
                                    </p:set>
                                    <p:animEffect transition="in" filter="fade">
                                      <p:cBhvr>
                                        <p:cTn id="174" dur="500"/>
                                        <p:tgtEl>
                                          <p:spTgt spid="135"/>
                                        </p:tgtEl>
                                      </p:cBhvr>
                                    </p:animEffect>
                                  </p:childTnLst>
                                </p:cTn>
                              </p:par>
                              <p:par>
                                <p:cTn id="175" presetID="10" presetClass="entr" presetSubtype="0" fill="hold" nodeType="withEffect">
                                  <p:stCondLst>
                                    <p:cond delay="0"/>
                                  </p:stCondLst>
                                  <p:childTnLst>
                                    <p:set>
                                      <p:cBhvr>
                                        <p:cTn id="176" dur="1" fill="hold">
                                          <p:stCondLst>
                                            <p:cond delay="0"/>
                                          </p:stCondLst>
                                        </p:cTn>
                                        <p:tgtEl>
                                          <p:spTgt spid="136"/>
                                        </p:tgtEl>
                                        <p:attrNameLst>
                                          <p:attrName>style.visibility</p:attrName>
                                        </p:attrNameLst>
                                      </p:cBhvr>
                                      <p:to>
                                        <p:strVal val="visible"/>
                                      </p:to>
                                    </p:set>
                                    <p:animEffect transition="in" filter="fade">
                                      <p:cBhvr>
                                        <p:cTn id="177" dur="500"/>
                                        <p:tgtEl>
                                          <p:spTgt spid="136"/>
                                        </p:tgtEl>
                                      </p:cBhvr>
                                    </p:animEffect>
                                  </p:childTnLst>
                                </p:cTn>
                              </p:par>
                              <p:par>
                                <p:cTn id="178" presetID="10" presetClass="entr" presetSubtype="0" fill="hold" nodeType="withEffect">
                                  <p:stCondLst>
                                    <p:cond delay="0"/>
                                  </p:stCondLst>
                                  <p:childTnLst>
                                    <p:set>
                                      <p:cBhvr>
                                        <p:cTn id="179" dur="1" fill="hold">
                                          <p:stCondLst>
                                            <p:cond delay="0"/>
                                          </p:stCondLst>
                                        </p:cTn>
                                        <p:tgtEl>
                                          <p:spTgt spid="137"/>
                                        </p:tgtEl>
                                        <p:attrNameLst>
                                          <p:attrName>style.visibility</p:attrName>
                                        </p:attrNameLst>
                                      </p:cBhvr>
                                      <p:to>
                                        <p:strVal val="visible"/>
                                      </p:to>
                                    </p:set>
                                    <p:animEffect transition="in" filter="fade">
                                      <p:cBhvr>
                                        <p:cTn id="180" dur="500"/>
                                        <p:tgtEl>
                                          <p:spTgt spid="137"/>
                                        </p:tgtEl>
                                      </p:cBhvr>
                                    </p:animEffect>
                                  </p:childTnLst>
                                </p:cTn>
                              </p:par>
                              <p:par>
                                <p:cTn id="181" presetID="10" presetClass="entr" presetSubtype="0" fill="hold" nodeType="withEffect">
                                  <p:stCondLst>
                                    <p:cond delay="0"/>
                                  </p:stCondLst>
                                  <p:childTnLst>
                                    <p:set>
                                      <p:cBhvr>
                                        <p:cTn id="182" dur="1" fill="hold">
                                          <p:stCondLst>
                                            <p:cond delay="0"/>
                                          </p:stCondLst>
                                        </p:cTn>
                                        <p:tgtEl>
                                          <p:spTgt spid="138"/>
                                        </p:tgtEl>
                                        <p:attrNameLst>
                                          <p:attrName>style.visibility</p:attrName>
                                        </p:attrNameLst>
                                      </p:cBhvr>
                                      <p:to>
                                        <p:strVal val="visible"/>
                                      </p:to>
                                    </p:set>
                                    <p:animEffect transition="in" filter="fade">
                                      <p:cBhvr>
                                        <p:cTn id="183" dur="500"/>
                                        <p:tgtEl>
                                          <p:spTgt spid="138"/>
                                        </p:tgtEl>
                                      </p:cBhvr>
                                    </p:animEffect>
                                  </p:childTnLst>
                                </p:cTn>
                              </p:par>
                            </p:childTnLst>
                          </p:cTn>
                        </p:par>
                      </p:childTnLst>
                    </p:cTn>
                  </p:par>
                  <p:par>
                    <p:cTn id="184" fill="hold">
                      <p:stCondLst>
                        <p:cond delay="indefinite"/>
                      </p:stCondLst>
                      <p:childTnLst>
                        <p:par>
                          <p:cTn id="185" fill="hold">
                            <p:stCondLst>
                              <p:cond delay="0"/>
                            </p:stCondLst>
                            <p:childTnLst>
                              <p:par>
                                <p:cTn id="186" presetID="10" presetClass="entr" presetSubtype="0" fill="hold" nodeType="clickEffect">
                                  <p:stCondLst>
                                    <p:cond delay="0"/>
                                  </p:stCondLst>
                                  <p:childTnLst>
                                    <p:set>
                                      <p:cBhvr>
                                        <p:cTn id="187" dur="1" fill="hold">
                                          <p:stCondLst>
                                            <p:cond delay="0"/>
                                          </p:stCondLst>
                                        </p:cTn>
                                        <p:tgtEl>
                                          <p:spTgt spid="139">
                                            <p:txEl>
                                              <p:pRg st="0" end="0"/>
                                            </p:txEl>
                                          </p:spTgt>
                                        </p:tgtEl>
                                        <p:attrNameLst>
                                          <p:attrName>style.visibility</p:attrName>
                                        </p:attrNameLst>
                                      </p:cBhvr>
                                      <p:to>
                                        <p:strVal val="visible"/>
                                      </p:to>
                                    </p:set>
                                    <p:animEffect transition="in" filter="fade">
                                      <p:cBhvr>
                                        <p:cTn id="188" dur="500"/>
                                        <p:tgtEl>
                                          <p:spTgt spid="139">
                                            <p:txEl>
                                              <p:pRg st="0" end="0"/>
                                            </p:txEl>
                                          </p:spTgt>
                                        </p:tgtEl>
                                      </p:cBhvr>
                                    </p:animEffect>
                                  </p:childTnLst>
                                </p:cTn>
                              </p:par>
                            </p:childTnLst>
                          </p:cTn>
                        </p:par>
                      </p:childTnLst>
                    </p:cTn>
                  </p:par>
                  <p:par>
                    <p:cTn id="189" fill="hold">
                      <p:stCondLst>
                        <p:cond delay="indefinite"/>
                      </p:stCondLst>
                      <p:childTnLst>
                        <p:par>
                          <p:cTn id="190" fill="hold">
                            <p:stCondLst>
                              <p:cond delay="0"/>
                            </p:stCondLst>
                            <p:childTnLst>
                              <p:par>
                                <p:cTn id="191" presetID="10" presetClass="entr" presetSubtype="0" fill="hold" nodeType="clickEffect">
                                  <p:stCondLst>
                                    <p:cond delay="0"/>
                                  </p:stCondLst>
                                  <p:childTnLst>
                                    <p:set>
                                      <p:cBhvr>
                                        <p:cTn id="192" dur="1" fill="hold">
                                          <p:stCondLst>
                                            <p:cond delay="0"/>
                                          </p:stCondLst>
                                        </p:cTn>
                                        <p:tgtEl>
                                          <p:spTgt spid="139">
                                            <p:txEl>
                                              <p:pRg st="1" end="1"/>
                                            </p:txEl>
                                          </p:spTgt>
                                        </p:tgtEl>
                                        <p:attrNameLst>
                                          <p:attrName>style.visibility</p:attrName>
                                        </p:attrNameLst>
                                      </p:cBhvr>
                                      <p:to>
                                        <p:strVal val="visible"/>
                                      </p:to>
                                    </p:set>
                                    <p:animEffect transition="in" filter="fade">
                                      <p:cBhvr>
                                        <p:cTn id="193" dur="500"/>
                                        <p:tgtEl>
                                          <p:spTgt spid="139">
                                            <p:txEl>
                                              <p:pRg st="1" end="1"/>
                                            </p:txEl>
                                          </p:spTgt>
                                        </p:tgtEl>
                                      </p:cBhvr>
                                    </p:animEffect>
                                  </p:childTnLst>
                                </p:cTn>
                              </p:par>
                            </p:childTnLst>
                          </p:cTn>
                        </p:par>
                      </p:childTnLst>
                    </p:cTn>
                  </p:par>
                  <p:par>
                    <p:cTn id="194" fill="hold">
                      <p:stCondLst>
                        <p:cond delay="indefinite"/>
                      </p:stCondLst>
                      <p:childTnLst>
                        <p:par>
                          <p:cTn id="195" fill="hold">
                            <p:stCondLst>
                              <p:cond delay="0"/>
                            </p:stCondLst>
                            <p:childTnLst>
                              <p:par>
                                <p:cTn id="196" presetID="10" presetClass="entr" presetSubtype="0" fill="hold" nodeType="clickEffect">
                                  <p:stCondLst>
                                    <p:cond delay="0"/>
                                  </p:stCondLst>
                                  <p:childTnLst>
                                    <p:set>
                                      <p:cBhvr>
                                        <p:cTn id="197" dur="1" fill="hold">
                                          <p:stCondLst>
                                            <p:cond delay="0"/>
                                          </p:stCondLst>
                                        </p:cTn>
                                        <p:tgtEl>
                                          <p:spTgt spid="139">
                                            <p:txEl>
                                              <p:pRg st="2" end="2"/>
                                            </p:txEl>
                                          </p:spTgt>
                                        </p:tgtEl>
                                        <p:attrNameLst>
                                          <p:attrName>style.visibility</p:attrName>
                                        </p:attrNameLst>
                                      </p:cBhvr>
                                      <p:to>
                                        <p:strVal val="visible"/>
                                      </p:to>
                                    </p:set>
                                    <p:animEffect transition="in" filter="fade">
                                      <p:cBhvr>
                                        <p:cTn id="198" dur="500"/>
                                        <p:tgtEl>
                                          <p:spTgt spid="139">
                                            <p:txEl>
                                              <p:pRg st="2" end="2"/>
                                            </p:txEl>
                                          </p:spTgt>
                                        </p:tgtEl>
                                      </p:cBhvr>
                                    </p:animEffect>
                                  </p:childTnLst>
                                </p:cTn>
                              </p:par>
                            </p:childTnLst>
                          </p:cTn>
                        </p:par>
                      </p:childTnLst>
                    </p:cTn>
                  </p:par>
                  <p:par>
                    <p:cTn id="199" fill="hold">
                      <p:stCondLst>
                        <p:cond delay="indefinite"/>
                      </p:stCondLst>
                      <p:childTnLst>
                        <p:par>
                          <p:cTn id="200" fill="hold">
                            <p:stCondLst>
                              <p:cond delay="0"/>
                            </p:stCondLst>
                            <p:childTnLst>
                              <p:par>
                                <p:cTn id="201" presetID="10" presetClass="entr" presetSubtype="0" fill="hold" nodeType="clickEffect">
                                  <p:stCondLst>
                                    <p:cond delay="0"/>
                                  </p:stCondLst>
                                  <p:childTnLst>
                                    <p:set>
                                      <p:cBhvr>
                                        <p:cTn id="202" dur="1" fill="hold">
                                          <p:stCondLst>
                                            <p:cond delay="0"/>
                                          </p:stCondLst>
                                        </p:cTn>
                                        <p:tgtEl>
                                          <p:spTgt spid="139">
                                            <p:txEl>
                                              <p:pRg st="3" end="3"/>
                                            </p:txEl>
                                          </p:spTgt>
                                        </p:tgtEl>
                                        <p:attrNameLst>
                                          <p:attrName>style.visibility</p:attrName>
                                        </p:attrNameLst>
                                      </p:cBhvr>
                                      <p:to>
                                        <p:strVal val="visible"/>
                                      </p:to>
                                    </p:set>
                                    <p:animEffect transition="in" filter="fade">
                                      <p:cBhvr>
                                        <p:cTn id="203" dur="500"/>
                                        <p:tgtEl>
                                          <p:spTgt spid="139">
                                            <p:txEl>
                                              <p:pRg st="3" end="3"/>
                                            </p:txEl>
                                          </p:spTgt>
                                        </p:tgtEl>
                                      </p:cBhvr>
                                    </p:animEffect>
                                  </p:childTnLst>
                                </p:cTn>
                              </p:par>
                            </p:childTnLst>
                          </p:cTn>
                        </p:par>
                      </p:childTnLst>
                    </p:cTn>
                  </p:par>
                  <p:par>
                    <p:cTn id="204" fill="hold">
                      <p:stCondLst>
                        <p:cond delay="indefinite"/>
                      </p:stCondLst>
                      <p:childTnLst>
                        <p:par>
                          <p:cTn id="205" fill="hold">
                            <p:stCondLst>
                              <p:cond delay="0"/>
                            </p:stCondLst>
                            <p:childTnLst>
                              <p:par>
                                <p:cTn id="206" presetID="10" presetClass="entr" presetSubtype="0" fill="hold" nodeType="clickEffect">
                                  <p:stCondLst>
                                    <p:cond delay="0"/>
                                  </p:stCondLst>
                                  <p:childTnLst>
                                    <p:set>
                                      <p:cBhvr>
                                        <p:cTn id="207" dur="1" fill="hold">
                                          <p:stCondLst>
                                            <p:cond delay="0"/>
                                          </p:stCondLst>
                                        </p:cTn>
                                        <p:tgtEl>
                                          <p:spTgt spid="139">
                                            <p:txEl>
                                              <p:pRg st="4" end="4"/>
                                            </p:txEl>
                                          </p:spTgt>
                                        </p:tgtEl>
                                        <p:attrNameLst>
                                          <p:attrName>style.visibility</p:attrName>
                                        </p:attrNameLst>
                                      </p:cBhvr>
                                      <p:to>
                                        <p:strVal val="visible"/>
                                      </p:to>
                                    </p:set>
                                    <p:animEffect transition="in" filter="fade">
                                      <p:cBhvr>
                                        <p:cTn id="208" dur="500"/>
                                        <p:tgtEl>
                                          <p:spTgt spid="139">
                                            <p:txEl>
                                              <p:pRg st="4" end="4"/>
                                            </p:txEl>
                                          </p:spTgt>
                                        </p:tgtEl>
                                      </p:cBhvr>
                                    </p:animEffect>
                                  </p:childTnLst>
                                </p:cTn>
                              </p:par>
                            </p:childTnLst>
                          </p:cTn>
                        </p:par>
                      </p:childTnLst>
                    </p:cTn>
                  </p:par>
                  <p:par>
                    <p:cTn id="209" fill="hold">
                      <p:stCondLst>
                        <p:cond delay="indefinite"/>
                      </p:stCondLst>
                      <p:childTnLst>
                        <p:par>
                          <p:cTn id="210" fill="hold">
                            <p:stCondLst>
                              <p:cond delay="0"/>
                            </p:stCondLst>
                            <p:childTnLst>
                              <p:par>
                                <p:cTn id="211" presetID="10" presetClass="entr" presetSubtype="0" fill="hold" nodeType="clickEffect">
                                  <p:stCondLst>
                                    <p:cond delay="0"/>
                                  </p:stCondLst>
                                  <p:childTnLst>
                                    <p:set>
                                      <p:cBhvr>
                                        <p:cTn id="212" dur="1" fill="hold">
                                          <p:stCondLst>
                                            <p:cond delay="0"/>
                                          </p:stCondLst>
                                        </p:cTn>
                                        <p:tgtEl>
                                          <p:spTgt spid="139">
                                            <p:txEl>
                                              <p:pRg st="5" end="5"/>
                                            </p:txEl>
                                          </p:spTgt>
                                        </p:tgtEl>
                                        <p:attrNameLst>
                                          <p:attrName>style.visibility</p:attrName>
                                        </p:attrNameLst>
                                      </p:cBhvr>
                                      <p:to>
                                        <p:strVal val="visible"/>
                                      </p:to>
                                    </p:set>
                                    <p:animEffect transition="in" filter="fade">
                                      <p:cBhvr>
                                        <p:cTn id="213" dur="500"/>
                                        <p:tgtEl>
                                          <p:spTgt spid="1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rgbClr val="F6F9FC"/>
            </a:gs>
            <a:gs pos="74000">
              <a:srgbClr val="B3D1EC"/>
            </a:gs>
            <a:gs pos="83000">
              <a:srgbClr val="B3D1EC"/>
            </a:gs>
            <a:gs pos="100000">
              <a:srgbClr val="CCE0F2"/>
            </a:gs>
          </a:gsLst>
          <a:lin ang="5400000" scaled="0"/>
        </a:gradFill>
        <a:effectLst/>
      </p:bgPr>
    </p:bg>
    <p:spTree>
      <p:nvGrpSpPr>
        <p:cNvPr id="1" name="Shape 143"/>
        <p:cNvGrpSpPr/>
        <p:nvPr/>
      </p:nvGrpSpPr>
      <p:grpSpPr>
        <a:xfrm>
          <a:off x="0" y="0"/>
          <a:ext cx="0" cy="0"/>
          <a:chOff x="0" y="0"/>
          <a:chExt cx="0" cy="0"/>
        </a:xfrm>
      </p:grpSpPr>
      <p:sp>
        <p:nvSpPr>
          <p:cNvPr id="144" name="Google Shape;144;p2"/>
          <p:cNvSpPr txBox="1">
            <a:spLocks noGrp="1"/>
          </p:cNvSpPr>
          <p:nvPr>
            <p:ph type="title"/>
          </p:nvPr>
        </p:nvSpPr>
        <p:spPr>
          <a:xfrm>
            <a:off x="0" y="0"/>
            <a:ext cx="11353800" cy="64183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2400"/>
              <a:buFont typeface="Calibri"/>
              <a:buNone/>
            </a:pPr>
            <a:r>
              <a:rPr lang="vi-VN" sz="2400" b="1" i="1" u="sng">
                <a:solidFill>
                  <a:srgbClr val="FF0000"/>
                </a:solidFill>
              </a:rPr>
              <a:t>3 Quy tắc tìm một chu trình Hamilton.</a:t>
            </a:r>
            <a:endParaRPr sz="2400" b="1" i="1" u="sng">
              <a:solidFill>
                <a:srgbClr val="FF0000"/>
              </a:solidFill>
            </a:endParaRPr>
          </a:p>
        </p:txBody>
      </p:sp>
      <p:sp>
        <p:nvSpPr>
          <p:cNvPr id="145" name="Google Shape;145;p2"/>
          <p:cNvSpPr txBox="1">
            <a:spLocks noGrp="1"/>
          </p:cNvSpPr>
          <p:nvPr>
            <p:ph type="body" idx="1"/>
          </p:nvPr>
        </p:nvSpPr>
        <p:spPr>
          <a:xfrm>
            <a:off x="0" y="641837"/>
            <a:ext cx="12192000" cy="62161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vi-VN" sz="2400"/>
              <a:t>-QT1: Tất cả các cạnh kề với một đỉnh bậc 2 phải ở trong H.</a:t>
            </a:r>
            <a:endParaRPr/>
          </a:p>
          <a:p>
            <a:pPr marL="0" lvl="0" indent="0" algn="l" rtl="0">
              <a:lnSpc>
                <a:spcPct val="90000"/>
              </a:lnSpc>
              <a:spcBef>
                <a:spcPts val="1000"/>
              </a:spcBef>
              <a:spcAft>
                <a:spcPts val="0"/>
              </a:spcAft>
              <a:buClr>
                <a:schemeClr val="dk1"/>
              </a:buClr>
              <a:buSzPts val="2400"/>
              <a:buNone/>
            </a:pPr>
            <a:r>
              <a:rPr lang="vi-VN" sz="2400"/>
              <a:t>-QT2:Không có chu trình con.</a:t>
            </a:r>
            <a:endParaRPr/>
          </a:p>
          <a:p>
            <a:pPr marL="0" lvl="0" indent="0" algn="l" rtl="0">
              <a:lnSpc>
                <a:spcPct val="90000"/>
              </a:lnSpc>
              <a:spcBef>
                <a:spcPts val="1000"/>
              </a:spcBef>
              <a:spcAft>
                <a:spcPts val="0"/>
              </a:spcAft>
              <a:buClr>
                <a:schemeClr val="dk1"/>
              </a:buClr>
              <a:buSzPts val="2400"/>
              <a:buNone/>
            </a:pPr>
            <a:r>
              <a:rPr lang="vi-VN" sz="2400"/>
              <a:t>-QT3:Khi chu trình đang xây dựng đi qua đỉnh i thì xóa các cạnh kề của i chưa dùng, để có các đỉnh bậc 2 và áp dụng QT1.</a:t>
            </a:r>
            <a:endParaRPr/>
          </a:p>
          <a:p>
            <a:pPr marL="0" lvl="0" indent="0" algn="l" rtl="0">
              <a:lnSpc>
                <a:spcPct val="90000"/>
              </a:lnSpc>
              <a:spcBef>
                <a:spcPts val="1000"/>
              </a:spcBef>
              <a:spcAft>
                <a:spcPts val="0"/>
              </a:spcAft>
              <a:buClr>
                <a:schemeClr val="dk1"/>
              </a:buClr>
              <a:buSzPts val="2400"/>
              <a:buNone/>
            </a:pPr>
            <a:r>
              <a:rPr lang="vi-VN" sz="2400"/>
              <a:t>-QT4:Không có đỉnh cô lập hay cạnh treo nào được tạo ra khi dùng QT3.</a:t>
            </a:r>
            <a:endParaRPr/>
          </a:p>
          <a:p>
            <a:pPr marL="0" lvl="0" indent="0" algn="l" rtl="0">
              <a:lnSpc>
                <a:spcPct val="90000"/>
              </a:lnSpc>
              <a:spcBef>
                <a:spcPts val="1000"/>
              </a:spcBef>
              <a:spcAft>
                <a:spcPts val="0"/>
              </a:spcAft>
              <a:buClr>
                <a:srgbClr val="FF0000"/>
              </a:buClr>
              <a:buSzPts val="2400"/>
              <a:buNone/>
            </a:pPr>
            <a:r>
              <a:rPr lang="vi-VN" sz="2400" b="1" i="1" u="sng">
                <a:solidFill>
                  <a:srgbClr val="FF0000"/>
                </a:solidFill>
              </a:rPr>
              <a:t>4 VD</a:t>
            </a:r>
            <a:r>
              <a:rPr lang="vi-VN" sz="2400"/>
              <a:t>: Tìm chu trình Hamilton (nếu có):</a:t>
            </a:r>
            <a:endParaRPr/>
          </a:p>
          <a:p>
            <a:pPr marL="0" lvl="0" indent="0" algn="l" rtl="0">
              <a:lnSpc>
                <a:spcPct val="90000"/>
              </a:lnSpc>
              <a:spcBef>
                <a:spcPts val="1000"/>
              </a:spcBef>
              <a:spcAft>
                <a:spcPts val="0"/>
              </a:spcAft>
              <a:buClr>
                <a:schemeClr val="dk1"/>
              </a:buClr>
              <a:buSzPts val="2400"/>
              <a:buNone/>
            </a:pPr>
            <a:r>
              <a:rPr lang="vi-VN" sz="2400"/>
              <a:t>-Ta có thể chọn 1 trong số các đỉnh để bắt đầu chu</a:t>
            </a:r>
            <a:endParaRPr/>
          </a:p>
          <a:p>
            <a:pPr marL="0" lvl="0" indent="0" algn="l" rtl="0">
              <a:lnSpc>
                <a:spcPct val="90000"/>
              </a:lnSpc>
              <a:spcBef>
                <a:spcPts val="1000"/>
              </a:spcBef>
              <a:spcAft>
                <a:spcPts val="0"/>
              </a:spcAft>
              <a:buClr>
                <a:schemeClr val="dk1"/>
              </a:buClr>
              <a:buSzPts val="2400"/>
              <a:buNone/>
            </a:pPr>
            <a:r>
              <a:rPr lang="vi-VN" sz="2400"/>
              <a:t> trình. Ta nên chọn những đỉnh bậc 2.</a:t>
            </a:r>
            <a:endParaRPr/>
          </a:p>
          <a:p>
            <a:pPr marL="0" lvl="0" indent="0" algn="l" rtl="0">
              <a:lnSpc>
                <a:spcPct val="90000"/>
              </a:lnSpc>
              <a:spcBef>
                <a:spcPts val="1000"/>
              </a:spcBef>
              <a:spcAft>
                <a:spcPts val="0"/>
              </a:spcAft>
              <a:buClr>
                <a:schemeClr val="dk1"/>
              </a:buClr>
              <a:buSzPts val="2400"/>
              <a:buNone/>
            </a:pPr>
            <a:r>
              <a:rPr lang="vi-VN" sz="2400"/>
              <a:t>-Sau đó ta tiếp tục nối các đỉnh bậc 2 lại với nhau,</a:t>
            </a:r>
            <a:endParaRPr/>
          </a:p>
          <a:p>
            <a:pPr marL="0" lvl="0" indent="0" algn="l" rtl="0">
              <a:lnSpc>
                <a:spcPct val="90000"/>
              </a:lnSpc>
              <a:spcBef>
                <a:spcPts val="1000"/>
              </a:spcBef>
              <a:spcAft>
                <a:spcPts val="0"/>
              </a:spcAft>
              <a:buClr>
                <a:schemeClr val="dk1"/>
              </a:buClr>
              <a:buSzPts val="2400"/>
              <a:buNone/>
            </a:pPr>
            <a:r>
              <a:rPr lang="vi-VN" sz="2400"/>
              <a:t> xóa các cạnh kề chưa dùng cho đến khi hoàn thành </a:t>
            </a:r>
            <a:endParaRPr/>
          </a:p>
          <a:p>
            <a:pPr marL="0" lvl="0" indent="0" algn="l" rtl="0">
              <a:lnSpc>
                <a:spcPct val="90000"/>
              </a:lnSpc>
              <a:spcBef>
                <a:spcPts val="1000"/>
              </a:spcBef>
              <a:spcAft>
                <a:spcPts val="0"/>
              </a:spcAft>
              <a:buClr>
                <a:schemeClr val="dk1"/>
              </a:buClr>
              <a:buSzPts val="2400"/>
              <a:buNone/>
            </a:pPr>
            <a:r>
              <a:rPr lang="vi-VN" sz="2400"/>
              <a:t> chu trình.</a:t>
            </a:r>
            <a:endParaRPr/>
          </a:p>
        </p:txBody>
      </p:sp>
      <p:sp>
        <p:nvSpPr>
          <p:cNvPr id="146" name="Google Shape;146;p2"/>
          <p:cNvSpPr/>
          <p:nvPr/>
        </p:nvSpPr>
        <p:spPr>
          <a:xfrm>
            <a:off x="8168061" y="3886200"/>
            <a:ext cx="2215661" cy="117816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47" name="Google Shape;147;p2"/>
          <p:cNvSpPr/>
          <p:nvPr/>
        </p:nvSpPr>
        <p:spPr>
          <a:xfrm rot="-5400000">
            <a:off x="7007469" y="3912577"/>
            <a:ext cx="1178169" cy="1125416"/>
          </a:xfrm>
          <a:prstGeom prst="triangle">
            <a:avLst>
              <a:gd name="adj"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48" name="Google Shape;148;p2"/>
          <p:cNvSpPr/>
          <p:nvPr/>
        </p:nvSpPr>
        <p:spPr>
          <a:xfrm rot="5400000">
            <a:off x="10392507" y="3868616"/>
            <a:ext cx="1178171" cy="1213339"/>
          </a:xfrm>
          <a:prstGeom prst="triangle">
            <a:avLst>
              <a:gd name="adj"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149" name="Google Shape;149;p2"/>
          <p:cNvCxnSpPr>
            <a:endCxn id="148" idx="4"/>
          </p:cNvCxnSpPr>
          <p:nvPr/>
        </p:nvCxnSpPr>
        <p:spPr>
          <a:xfrm>
            <a:off x="8159123" y="3886271"/>
            <a:ext cx="2215800" cy="1178100"/>
          </a:xfrm>
          <a:prstGeom prst="straightConnector1">
            <a:avLst/>
          </a:prstGeom>
          <a:noFill/>
          <a:ln w="12700" cap="flat" cmpd="sng">
            <a:solidFill>
              <a:schemeClr val="dk1"/>
            </a:solidFill>
            <a:prstDash val="solid"/>
            <a:miter lim="800000"/>
            <a:headEnd type="none" w="sm" len="sm"/>
            <a:tailEnd type="none" w="sm" len="sm"/>
          </a:ln>
        </p:spPr>
      </p:cxnSp>
      <p:cxnSp>
        <p:nvCxnSpPr>
          <p:cNvPr id="150" name="Google Shape;150;p2"/>
          <p:cNvCxnSpPr>
            <a:stCxn id="148" idx="2"/>
          </p:cNvCxnSpPr>
          <p:nvPr/>
        </p:nvCxnSpPr>
        <p:spPr>
          <a:xfrm flipH="1">
            <a:off x="8159123" y="3886200"/>
            <a:ext cx="2215800" cy="1178100"/>
          </a:xfrm>
          <a:prstGeom prst="straightConnector1">
            <a:avLst/>
          </a:prstGeom>
          <a:noFill/>
          <a:ln w="12700" cap="flat" cmpd="sng">
            <a:solidFill>
              <a:schemeClr val="dk1"/>
            </a:solidFill>
            <a:prstDash val="solid"/>
            <a:miter lim="800000"/>
            <a:headEnd type="none" w="sm" len="sm"/>
            <a:tailEnd type="none" w="sm" len="sm"/>
          </a:ln>
        </p:spPr>
      </p:cxnSp>
      <p:sp>
        <p:nvSpPr>
          <p:cNvPr id="151" name="Google Shape;151;p2"/>
          <p:cNvSpPr/>
          <p:nvPr/>
        </p:nvSpPr>
        <p:spPr>
          <a:xfrm>
            <a:off x="7010401" y="4434256"/>
            <a:ext cx="105508" cy="96715"/>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2" name="Google Shape;152;p2"/>
          <p:cNvSpPr/>
          <p:nvPr/>
        </p:nvSpPr>
        <p:spPr>
          <a:xfrm>
            <a:off x="8103573" y="3839311"/>
            <a:ext cx="105508" cy="96715"/>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3" name="Google Shape;153;p2"/>
          <p:cNvSpPr/>
          <p:nvPr/>
        </p:nvSpPr>
        <p:spPr>
          <a:xfrm>
            <a:off x="8106502" y="4994033"/>
            <a:ext cx="105508" cy="96715"/>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4" name="Google Shape;154;p2"/>
          <p:cNvSpPr/>
          <p:nvPr/>
        </p:nvSpPr>
        <p:spPr>
          <a:xfrm>
            <a:off x="11503263" y="4425464"/>
            <a:ext cx="105508" cy="96715"/>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 name="Google Shape;155;p2"/>
          <p:cNvSpPr/>
          <p:nvPr/>
        </p:nvSpPr>
        <p:spPr>
          <a:xfrm>
            <a:off x="10325096" y="3845166"/>
            <a:ext cx="105508" cy="96715"/>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6" name="Google Shape;156;p2"/>
          <p:cNvSpPr/>
          <p:nvPr/>
        </p:nvSpPr>
        <p:spPr>
          <a:xfrm>
            <a:off x="10319233" y="5017477"/>
            <a:ext cx="105508" cy="96715"/>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7" name="Google Shape;157;p2"/>
          <p:cNvSpPr/>
          <p:nvPr/>
        </p:nvSpPr>
        <p:spPr>
          <a:xfrm>
            <a:off x="9214335" y="4422528"/>
            <a:ext cx="105508" cy="96715"/>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8" name="Google Shape;158;p2"/>
          <p:cNvSpPr txBox="1"/>
          <p:nvPr/>
        </p:nvSpPr>
        <p:spPr>
          <a:xfrm>
            <a:off x="6642587" y="4152847"/>
            <a:ext cx="27700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159" name="Google Shape;159;p2"/>
          <p:cNvSpPr txBox="1"/>
          <p:nvPr/>
        </p:nvSpPr>
        <p:spPr>
          <a:xfrm>
            <a:off x="7954104" y="3431126"/>
            <a:ext cx="39565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160" name="Google Shape;160;p2"/>
          <p:cNvSpPr txBox="1"/>
          <p:nvPr/>
        </p:nvSpPr>
        <p:spPr>
          <a:xfrm>
            <a:off x="10178556" y="3387884"/>
            <a:ext cx="38686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C</a:t>
            </a:r>
            <a:endParaRPr sz="1800">
              <a:solidFill>
                <a:schemeClr val="dk1"/>
              </a:solidFill>
              <a:latin typeface="Calibri"/>
              <a:ea typeface="Calibri"/>
              <a:cs typeface="Calibri"/>
              <a:sym typeface="Calibri"/>
            </a:endParaRPr>
          </a:p>
        </p:txBody>
      </p:sp>
      <p:sp>
        <p:nvSpPr>
          <p:cNvPr id="161" name="Google Shape;161;p2"/>
          <p:cNvSpPr txBox="1"/>
          <p:nvPr/>
        </p:nvSpPr>
        <p:spPr>
          <a:xfrm>
            <a:off x="11556017" y="4286219"/>
            <a:ext cx="44401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D</a:t>
            </a:r>
            <a:endParaRPr sz="1800">
              <a:solidFill>
                <a:schemeClr val="dk1"/>
              </a:solidFill>
              <a:latin typeface="Calibri"/>
              <a:ea typeface="Calibri"/>
              <a:cs typeface="Calibri"/>
              <a:sym typeface="Calibri"/>
            </a:endParaRPr>
          </a:p>
        </p:txBody>
      </p:sp>
      <p:sp>
        <p:nvSpPr>
          <p:cNvPr id="162" name="Google Shape;162;p2"/>
          <p:cNvSpPr txBox="1"/>
          <p:nvPr/>
        </p:nvSpPr>
        <p:spPr>
          <a:xfrm>
            <a:off x="10319233" y="5114192"/>
            <a:ext cx="44840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E</a:t>
            </a:r>
            <a:endParaRPr sz="1800">
              <a:solidFill>
                <a:schemeClr val="dk1"/>
              </a:solidFill>
              <a:latin typeface="Calibri"/>
              <a:ea typeface="Calibri"/>
              <a:cs typeface="Calibri"/>
              <a:sym typeface="Calibri"/>
            </a:endParaRPr>
          </a:p>
        </p:txBody>
      </p:sp>
      <p:sp>
        <p:nvSpPr>
          <p:cNvPr id="163" name="Google Shape;163;p2"/>
          <p:cNvSpPr txBox="1"/>
          <p:nvPr/>
        </p:nvSpPr>
        <p:spPr>
          <a:xfrm>
            <a:off x="7962896" y="5193353"/>
            <a:ext cx="38686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F</a:t>
            </a:r>
            <a:endParaRPr sz="1800">
              <a:solidFill>
                <a:schemeClr val="dk1"/>
              </a:solidFill>
              <a:latin typeface="Calibri"/>
              <a:ea typeface="Calibri"/>
              <a:cs typeface="Calibri"/>
              <a:sym typeface="Calibri"/>
            </a:endParaRPr>
          </a:p>
        </p:txBody>
      </p:sp>
      <p:sp>
        <p:nvSpPr>
          <p:cNvPr id="164" name="Google Shape;164;p2"/>
          <p:cNvSpPr txBox="1"/>
          <p:nvPr/>
        </p:nvSpPr>
        <p:spPr>
          <a:xfrm>
            <a:off x="9095643" y="4094201"/>
            <a:ext cx="4484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G</a:t>
            </a:r>
            <a:endParaRPr sz="1800">
              <a:solidFill>
                <a:schemeClr val="dk1"/>
              </a:solidFill>
              <a:latin typeface="Calibri"/>
              <a:ea typeface="Calibri"/>
              <a:cs typeface="Calibri"/>
              <a:sym typeface="Calibri"/>
            </a:endParaRPr>
          </a:p>
        </p:txBody>
      </p:sp>
      <p:cxnSp>
        <p:nvCxnSpPr>
          <p:cNvPr id="165" name="Google Shape;165;p2"/>
          <p:cNvCxnSpPr/>
          <p:nvPr/>
        </p:nvCxnSpPr>
        <p:spPr>
          <a:xfrm rot="10800000" flipH="1">
            <a:off x="7010401" y="3868588"/>
            <a:ext cx="1167778" cy="594945"/>
          </a:xfrm>
          <a:prstGeom prst="straightConnector1">
            <a:avLst/>
          </a:prstGeom>
          <a:noFill/>
          <a:ln w="19050" cap="flat" cmpd="sng">
            <a:solidFill>
              <a:schemeClr val="accent2"/>
            </a:solidFill>
            <a:prstDash val="solid"/>
            <a:miter lim="800000"/>
            <a:headEnd type="none" w="sm" len="sm"/>
            <a:tailEnd type="none" w="sm" len="sm"/>
          </a:ln>
        </p:spPr>
      </p:cxnSp>
      <p:cxnSp>
        <p:nvCxnSpPr>
          <p:cNvPr id="166" name="Google Shape;166;p2"/>
          <p:cNvCxnSpPr/>
          <p:nvPr/>
        </p:nvCxnSpPr>
        <p:spPr>
          <a:xfrm rot="10800000" flipH="1">
            <a:off x="8172171" y="3863689"/>
            <a:ext cx="2206072" cy="28339"/>
          </a:xfrm>
          <a:prstGeom prst="straightConnector1">
            <a:avLst/>
          </a:prstGeom>
          <a:noFill/>
          <a:ln w="19050" cap="flat" cmpd="sng">
            <a:solidFill>
              <a:schemeClr val="accent2"/>
            </a:solidFill>
            <a:prstDash val="solid"/>
            <a:miter lim="800000"/>
            <a:headEnd type="none" w="sm" len="sm"/>
            <a:tailEnd type="none" w="sm" len="sm"/>
          </a:ln>
        </p:spPr>
      </p:cxnSp>
      <p:cxnSp>
        <p:nvCxnSpPr>
          <p:cNvPr id="167" name="Google Shape;167;p2"/>
          <p:cNvCxnSpPr/>
          <p:nvPr/>
        </p:nvCxnSpPr>
        <p:spPr>
          <a:xfrm>
            <a:off x="9252830" y="4471288"/>
            <a:ext cx="1125413" cy="577361"/>
          </a:xfrm>
          <a:prstGeom prst="straightConnector1">
            <a:avLst/>
          </a:prstGeom>
          <a:noFill/>
          <a:ln w="19050" cap="flat" cmpd="sng">
            <a:solidFill>
              <a:schemeClr val="accent2"/>
            </a:solidFill>
            <a:prstDash val="solid"/>
            <a:miter lim="800000"/>
            <a:headEnd type="none" w="sm" len="sm"/>
            <a:tailEnd type="none" w="sm" len="sm"/>
          </a:ln>
        </p:spPr>
      </p:cxnSp>
      <p:cxnSp>
        <p:nvCxnSpPr>
          <p:cNvPr id="168" name="Google Shape;168;p2"/>
          <p:cNvCxnSpPr/>
          <p:nvPr/>
        </p:nvCxnSpPr>
        <p:spPr>
          <a:xfrm flipH="1">
            <a:off x="8170989" y="4479393"/>
            <a:ext cx="1146727" cy="569057"/>
          </a:xfrm>
          <a:prstGeom prst="straightConnector1">
            <a:avLst/>
          </a:prstGeom>
          <a:noFill/>
          <a:ln w="19050" cap="flat" cmpd="sng">
            <a:solidFill>
              <a:schemeClr val="accent2"/>
            </a:solidFill>
            <a:prstDash val="solid"/>
            <a:miter lim="800000"/>
            <a:headEnd type="none" w="sm" len="sm"/>
            <a:tailEnd type="none" w="sm" len="sm"/>
          </a:ln>
        </p:spPr>
      </p:cxnSp>
      <p:cxnSp>
        <p:nvCxnSpPr>
          <p:cNvPr id="169" name="Google Shape;169;p2"/>
          <p:cNvCxnSpPr/>
          <p:nvPr/>
        </p:nvCxnSpPr>
        <p:spPr>
          <a:xfrm rot="10800000">
            <a:off x="10446841" y="3878905"/>
            <a:ext cx="1104898" cy="594949"/>
          </a:xfrm>
          <a:prstGeom prst="straightConnector1">
            <a:avLst/>
          </a:prstGeom>
          <a:noFill/>
          <a:ln w="19050" cap="flat" cmpd="sng">
            <a:solidFill>
              <a:schemeClr val="accent2"/>
            </a:solidFill>
            <a:prstDash val="solid"/>
            <a:miter lim="800000"/>
            <a:headEnd type="none" w="sm" len="sm"/>
            <a:tailEnd type="none" w="sm" len="sm"/>
          </a:ln>
        </p:spPr>
      </p:cxnSp>
      <p:cxnSp>
        <p:nvCxnSpPr>
          <p:cNvPr id="170" name="Google Shape;170;p2"/>
          <p:cNvCxnSpPr/>
          <p:nvPr/>
        </p:nvCxnSpPr>
        <p:spPr>
          <a:xfrm flipH="1">
            <a:off x="10483089" y="4505563"/>
            <a:ext cx="1017776" cy="537312"/>
          </a:xfrm>
          <a:prstGeom prst="straightConnector1">
            <a:avLst/>
          </a:prstGeom>
          <a:noFill/>
          <a:ln w="19050" cap="flat" cmpd="sng">
            <a:solidFill>
              <a:schemeClr val="accent2"/>
            </a:solidFill>
            <a:prstDash val="solid"/>
            <a:miter lim="800000"/>
            <a:headEnd type="none" w="sm" len="sm"/>
            <a:tailEnd type="none" w="sm" len="sm"/>
          </a:ln>
        </p:spPr>
      </p:cxnSp>
      <p:cxnSp>
        <p:nvCxnSpPr>
          <p:cNvPr id="171" name="Google Shape;171;p2"/>
          <p:cNvCxnSpPr/>
          <p:nvPr/>
        </p:nvCxnSpPr>
        <p:spPr>
          <a:xfrm rot="10800000">
            <a:off x="7078892" y="4492810"/>
            <a:ext cx="1058798" cy="573941"/>
          </a:xfrm>
          <a:prstGeom prst="straightConnector1">
            <a:avLst/>
          </a:prstGeom>
          <a:noFill/>
          <a:ln w="19050" cap="flat" cmpd="sng">
            <a:solidFill>
              <a:schemeClr val="accent2"/>
            </a:solidFill>
            <a:prstDash val="solid"/>
            <a:miter lim="800000"/>
            <a:headEnd type="none" w="sm" len="sm"/>
            <a:tailEnd type="none" w="sm" len="sm"/>
          </a:ln>
        </p:spPr>
      </p:cxnSp>
      <p:cxnSp>
        <p:nvCxnSpPr>
          <p:cNvPr id="172" name="Google Shape;172;p2"/>
          <p:cNvCxnSpPr/>
          <p:nvPr/>
        </p:nvCxnSpPr>
        <p:spPr>
          <a:xfrm>
            <a:off x="8159256" y="5803411"/>
            <a:ext cx="2231111" cy="8793"/>
          </a:xfrm>
          <a:prstGeom prst="straightConnector1">
            <a:avLst/>
          </a:prstGeom>
          <a:noFill/>
          <a:ln w="19050" cap="flat" cmpd="sng">
            <a:solidFill>
              <a:schemeClr val="accent2"/>
            </a:solidFill>
            <a:prstDash val="solid"/>
            <a:miter lim="800000"/>
            <a:headEnd type="none" w="sm" len="sm"/>
            <a:tailEnd type="none" w="sm" len="sm"/>
          </a:ln>
        </p:spPr>
      </p:cxnSp>
      <p:cxnSp>
        <p:nvCxnSpPr>
          <p:cNvPr id="173" name="Google Shape;173;p2"/>
          <p:cNvCxnSpPr>
            <a:endCxn id="174" idx="4"/>
          </p:cNvCxnSpPr>
          <p:nvPr/>
        </p:nvCxnSpPr>
        <p:spPr>
          <a:xfrm flipH="1">
            <a:off x="7297614" y="5803380"/>
            <a:ext cx="854400" cy="615000"/>
          </a:xfrm>
          <a:prstGeom prst="straightConnector1">
            <a:avLst/>
          </a:prstGeom>
          <a:noFill/>
          <a:ln w="19050" cap="flat" cmpd="sng">
            <a:solidFill>
              <a:schemeClr val="accent2"/>
            </a:solidFill>
            <a:prstDash val="solid"/>
            <a:miter lim="800000"/>
            <a:headEnd type="none" w="sm" len="sm"/>
            <a:tailEnd type="none" w="sm" len="sm"/>
          </a:ln>
        </p:spPr>
      </p:cxnSp>
      <p:cxnSp>
        <p:nvCxnSpPr>
          <p:cNvPr id="175" name="Google Shape;175;p2"/>
          <p:cNvCxnSpPr/>
          <p:nvPr/>
        </p:nvCxnSpPr>
        <p:spPr>
          <a:xfrm>
            <a:off x="10371986" y="5803411"/>
            <a:ext cx="944510" cy="544634"/>
          </a:xfrm>
          <a:prstGeom prst="straightConnector1">
            <a:avLst/>
          </a:prstGeom>
          <a:noFill/>
          <a:ln w="19050" cap="flat" cmpd="sng">
            <a:solidFill>
              <a:schemeClr val="accent2"/>
            </a:solidFill>
            <a:prstDash val="solid"/>
            <a:miter lim="800000"/>
            <a:headEnd type="none" w="sm" len="sm"/>
            <a:tailEnd type="none" w="sm" len="sm"/>
          </a:ln>
        </p:spPr>
      </p:cxnSp>
      <p:cxnSp>
        <p:nvCxnSpPr>
          <p:cNvPr id="176" name="Google Shape;176;p2"/>
          <p:cNvCxnSpPr/>
          <p:nvPr/>
        </p:nvCxnSpPr>
        <p:spPr>
          <a:xfrm flipH="1">
            <a:off x="10390367" y="6336208"/>
            <a:ext cx="929060" cy="501162"/>
          </a:xfrm>
          <a:prstGeom prst="straightConnector1">
            <a:avLst/>
          </a:prstGeom>
          <a:noFill/>
          <a:ln w="19050" cap="flat" cmpd="sng">
            <a:solidFill>
              <a:schemeClr val="accent2"/>
            </a:solidFill>
            <a:prstDash val="solid"/>
            <a:miter lim="800000"/>
            <a:headEnd type="none" w="sm" len="sm"/>
            <a:tailEnd type="none" w="sm" len="sm"/>
          </a:ln>
        </p:spPr>
      </p:cxnSp>
      <p:cxnSp>
        <p:nvCxnSpPr>
          <p:cNvPr id="177" name="Google Shape;177;p2"/>
          <p:cNvCxnSpPr/>
          <p:nvPr/>
        </p:nvCxnSpPr>
        <p:spPr>
          <a:xfrm rot="10800000">
            <a:off x="9319843" y="6395428"/>
            <a:ext cx="1070525" cy="441942"/>
          </a:xfrm>
          <a:prstGeom prst="straightConnector1">
            <a:avLst/>
          </a:prstGeom>
          <a:noFill/>
          <a:ln w="19050" cap="flat" cmpd="sng">
            <a:solidFill>
              <a:schemeClr val="accent2"/>
            </a:solidFill>
            <a:prstDash val="solid"/>
            <a:miter lim="800000"/>
            <a:headEnd type="none" w="sm" len="sm"/>
            <a:tailEnd type="none" w="sm" len="sm"/>
          </a:ln>
        </p:spPr>
      </p:cxnSp>
      <p:cxnSp>
        <p:nvCxnSpPr>
          <p:cNvPr id="178" name="Google Shape;178;p2"/>
          <p:cNvCxnSpPr/>
          <p:nvPr/>
        </p:nvCxnSpPr>
        <p:spPr>
          <a:xfrm>
            <a:off x="7299083" y="6395428"/>
            <a:ext cx="909998" cy="441942"/>
          </a:xfrm>
          <a:prstGeom prst="straightConnector1">
            <a:avLst/>
          </a:prstGeom>
          <a:noFill/>
          <a:ln w="19050" cap="flat" cmpd="sng">
            <a:solidFill>
              <a:schemeClr val="accent2"/>
            </a:solidFill>
            <a:prstDash val="solid"/>
            <a:miter lim="800000"/>
            <a:headEnd type="none" w="sm" len="sm"/>
            <a:tailEnd type="none" w="sm" len="sm"/>
          </a:ln>
        </p:spPr>
      </p:cxnSp>
      <p:cxnSp>
        <p:nvCxnSpPr>
          <p:cNvPr id="179" name="Google Shape;179;p2"/>
          <p:cNvCxnSpPr/>
          <p:nvPr/>
        </p:nvCxnSpPr>
        <p:spPr>
          <a:xfrm rot="10800000" flipH="1">
            <a:off x="8227462" y="6395428"/>
            <a:ext cx="1076930" cy="441942"/>
          </a:xfrm>
          <a:prstGeom prst="straightConnector1">
            <a:avLst/>
          </a:prstGeom>
          <a:noFill/>
          <a:ln w="19050" cap="flat" cmpd="sng">
            <a:solidFill>
              <a:schemeClr val="accent2"/>
            </a:solidFill>
            <a:prstDash val="solid"/>
            <a:miter lim="800000"/>
            <a:headEnd type="none" w="sm" len="sm"/>
            <a:tailEnd type="none" w="sm" len="sm"/>
          </a:ln>
        </p:spPr>
      </p:cxnSp>
      <p:sp>
        <p:nvSpPr>
          <p:cNvPr id="174" name="Google Shape;174;p2"/>
          <p:cNvSpPr/>
          <p:nvPr/>
        </p:nvSpPr>
        <p:spPr>
          <a:xfrm>
            <a:off x="7244860" y="6321665"/>
            <a:ext cx="105508" cy="96715"/>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0" name="Google Shape;180;p2"/>
          <p:cNvSpPr/>
          <p:nvPr/>
        </p:nvSpPr>
        <p:spPr>
          <a:xfrm>
            <a:off x="8053753" y="5750170"/>
            <a:ext cx="105508" cy="96715"/>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1" name="Google Shape;181;p2"/>
          <p:cNvSpPr/>
          <p:nvPr/>
        </p:nvSpPr>
        <p:spPr>
          <a:xfrm>
            <a:off x="10369056" y="6755421"/>
            <a:ext cx="105508" cy="96715"/>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2" name="Google Shape;182;p2"/>
          <p:cNvSpPr/>
          <p:nvPr/>
        </p:nvSpPr>
        <p:spPr>
          <a:xfrm>
            <a:off x="9246576" y="6336321"/>
            <a:ext cx="105508" cy="96715"/>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3" name="Google Shape;183;p2"/>
          <p:cNvSpPr/>
          <p:nvPr/>
        </p:nvSpPr>
        <p:spPr>
          <a:xfrm>
            <a:off x="8132883" y="6752491"/>
            <a:ext cx="105508" cy="96715"/>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4" name="Google Shape;184;p2"/>
          <p:cNvSpPr/>
          <p:nvPr/>
        </p:nvSpPr>
        <p:spPr>
          <a:xfrm>
            <a:off x="11274666" y="6298223"/>
            <a:ext cx="105508" cy="96715"/>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5" name="Google Shape;185;p2"/>
          <p:cNvSpPr/>
          <p:nvPr/>
        </p:nvSpPr>
        <p:spPr>
          <a:xfrm>
            <a:off x="10310443" y="5764822"/>
            <a:ext cx="105508" cy="96715"/>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 name="PAGE NUM 0">
            <a:extLst>
              <a:ext uri="{FF2B5EF4-FFF2-40B4-BE49-F238E27FC236}">
                <a16:creationId xmlns:a16="http://schemas.microsoft.com/office/drawing/2014/main" id="{AFC5EE97-93E5-4A34-BB98-C759EB043C24}"/>
              </a:ext>
            </a:extLst>
          </p:cNvPr>
          <p:cNvSpPr txBox="1"/>
          <p:nvPr/>
        </p:nvSpPr>
        <p:spPr>
          <a:xfrm>
            <a:off x="11599908" y="-5105"/>
            <a:ext cx="468851" cy="369332"/>
          </a:xfrm>
          <a:prstGeom prst="rect">
            <a:avLst/>
          </a:prstGeom>
          <a:noFill/>
          <a:ln>
            <a:noFill/>
          </a:ln>
        </p:spPr>
        <p:txBody>
          <a:bodyPr wrap="square" rtlCol="0">
            <a:spAutoFit/>
          </a:bodyPr>
          <a:lstStyle/>
          <a:p>
            <a:pPr algn="r"/>
            <a:r>
              <a:rPr lang="en-US" strike="sngStrike" dirty="0">
                <a:solidFill>
                  <a:srgbClr val="C00000"/>
                </a:solidFill>
                <a:latin typeface="JetBrains Mono Light" panose="02000009000000000000" pitchFamily="49" charset="0"/>
                <a:cs typeface="JetBrains Mono Light" panose="02000009000000000000" pitchFamily="49" charset="0"/>
              </a:rPr>
              <a:t>2</a:t>
            </a:r>
          </a:p>
        </p:txBody>
      </p:sp>
      <p:sp>
        <p:nvSpPr>
          <p:cNvPr id="47" name="PAGE NUM 1">
            <a:extLst>
              <a:ext uri="{FF2B5EF4-FFF2-40B4-BE49-F238E27FC236}">
                <a16:creationId xmlns:a16="http://schemas.microsoft.com/office/drawing/2014/main" id="{A7A5CF7B-6FA3-4730-8345-627784D171C3}"/>
              </a:ext>
            </a:extLst>
          </p:cNvPr>
          <p:cNvSpPr txBox="1"/>
          <p:nvPr/>
        </p:nvSpPr>
        <p:spPr>
          <a:xfrm>
            <a:off x="11883838" y="-11114"/>
            <a:ext cx="914400" cy="369332"/>
          </a:xfrm>
          <a:prstGeom prst="rect">
            <a:avLst/>
          </a:prstGeom>
          <a:noFill/>
        </p:spPr>
        <p:txBody>
          <a:bodyPr wrap="square" rtlCol="0">
            <a:spAutoFit/>
          </a:bodyPr>
          <a:lstStyle/>
          <a:p>
            <a:r>
              <a:rPr lang="en-US" strike="sngStrike" dirty="0">
                <a:solidFill>
                  <a:srgbClr val="C00000"/>
                </a:solidFill>
                <a:latin typeface="JetBrains Mono Light" panose="02000009000000000000" pitchFamily="49" charset="0"/>
                <a:cs typeface="JetBrains Mono Light" panose="02000009000000000000" pitchFamily="49" charset="0"/>
              </a:rPr>
              <a:t>6</a:t>
            </a:r>
            <a:endParaRPr lang="en-US" strike="sngStrike" dirty="0">
              <a:solidFill>
                <a:srgbClr val="C00000"/>
              </a:solidFill>
            </a:endParaRPr>
          </a:p>
        </p:txBody>
      </p:sp>
    </p:spTree>
    <p:extLst>
      <p:ext uri="{BB962C8B-B14F-4D97-AF65-F5344CB8AC3E}">
        <p14:creationId xmlns:p14="http://schemas.microsoft.com/office/powerpoint/2010/main" val="1978931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4"/>
                                        </p:tgtEl>
                                        <p:attrNameLst>
                                          <p:attrName>style.visibility</p:attrName>
                                        </p:attrNameLst>
                                      </p:cBhvr>
                                      <p:to>
                                        <p:strVal val="visible"/>
                                      </p:to>
                                    </p:set>
                                    <p:animEffect transition="in" filter="fade">
                                      <p:cBhvr>
                                        <p:cTn id="7" dur="500"/>
                                        <p:tgtEl>
                                          <p:spTgt spid="1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5">
                                            <p:txEl>
                                              <p:pRg st="0" end="0"/>
                                            </p:txEl>
                                          </p:spTgt>
                                        </p:tgtEl>
                                        <p:attrNameLst>
                                          <p:attrName>style.visibility</p:attrName>
                                        </p:attrNameLst>
                                      </p:cBhvr>
                                      <p:to>
                                        <p:strVal val="visible"/>
                                      </p:to>
                                    </p:set>
                                    <p:animEffect transition="in" filter="fade">
                                      <p:cBhvr>
                                        <p:cTn id="12" dur="2000"/>
                                        <p:tgtEl>
                                          <p:spTgt spid="14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5">
                                            <p:txEl>
                                              <p:pRg st="1" end="1"/>
                                            </p:txEl>
                                          </p:spTgt>
                                        </p:tgtEl>
                                        <p:attrNameLst>
                                          <p:attrName>style.visibility</p:attrName>
                                        </p:attrNameLst>
                                      </p:cBhvr>
                                      <p:to>
                                        <p:strVal val="visible"/>
                                      </p:to>
                                    </p:set>
                                    <p:animEffect transition="in" filter="fade">
                                      <p:cBhvr>
                                        <p:cTn id="17" dur="2000"/>
                                        <p:tgtEl>
                                          <p:spTgt spid="14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5">
                                            <p:txEl>
                                              <p:pRg st="2" end="2"/>
                                            </p:txEl>
                                          </p:spTgt>
                                        </p:tgtEl>
                                        <p:attrNameLst>
                                          <p:attrName>style.visibility</p:attrName>
                                        </p:attrNameLst>
                                      </p:cBhvr>
                                      <p:to>
                                        <p:strVal val="visible"/>
                                      </p:to>
                                    </p:set>
                                    <p:animEffect transition="in" filter="fade">
                                      <p:cBhvr>
                                        <p:cTn id="22" dur="2000"/>
                                        <p:tgtEl>
                                          <p:spTgt spid="14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5">
                                            <p:txEl>
                                              <p:pRg st="3" end="3"/>
                                            </p:txEl>
                                          </p:spTgt>
                                        </p:tgtEl>
                                        <p:attrNameLst>
                                          <p:attrName>style.visibility</p:attrName>
                                        </p:attrNameLst>
                                      </p:cBhvr>
                                      <p:to>
                                        <p:strVal val="visible"/>
                                      </p:to>
                                    </p:set>
                                    <p:animEffect transition="in" filter="fade">
                                      <p:cBhvr>
                                        <p:cTn id="27" dur="2000"/>
                                        <p:tgtEl>
                                          <p:spTgt spid="14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5">
                                            <p:txEl>
                                              <p:pRg st="4" end="4"/>
                                            </p:txEl>
                                          </p:spTgt>
                                        </p:tgtEl>
                                        <p:attrNameLst>
                                          <p:attrName>style.visibility</p:attrName>
                                        </p:attrNameLst>
                                      </p:cBhvr>
                                      <p:to>
                                        <p:strVal val="visible"/>
                                      </p:to>
                                    </p:set>
                                    <p:animEffect transition="in" filter="fade">
                                      <p:cBhvr>
                                        <p:cTn id="32" dur="2000"/>
                                        <p:tgtEl>
                                          <p:spTgt spid="14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5">
                                            <p:txEl>
                                              <p:pRg st="5" end="5"/>
                                            </p:txEl>
                                          </p:spTgt>
                                        </p:tgtEl>
                                        <p:attrNameLst>
                                          <p:attrName>style.visibility</p:attrName>
                                        </p:attrNameLst>
                                      </p:cBhvr>
                                      <p:to>
                                        <p:strVal val="visible"/>
                                      </p:to>
                                    </p:set>
                                    <p:animEffect transition="in" filter="fade">
                                      <p:cBhvr>
                                        <p:cTn id="37" dur="2000"/>
                                        <p:tgtEl>
                                          <p:spTgt spid="14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45">
                                            <p:txEl>
                                              <p:pRg st="6" end="6"/>
                                            </p:txEl>
                                          </p:spTgt>
                                        </p:tgtEl>
                                        <p:attrNameLst>
                                          <p:attrName>style.visibility</p:attrName>
                                        </p:attrNameLst>
                                      </p:cBhvr>
                                      <p:to>
                                        <p:strVal val="visible"/>
                                      </p:to>
                                    </p:set>
                                    <p:animEffect transition="in" filter="fade">
                                      <p:cBhvr>
                                        <p:cTn id="42" dur="2000"/>
                                        <p:tgtEl>
                                          <p:spTgt spid="14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45">
                                            <p:txEl>
                                              <p:pRg st="7" end="7"/>
                                            </p:txEl>
                                          </p:spTgt>
                                        </p:tgtEl>
                                        <p:attrNameLst>
                                          <p:attrName>style.visibility</p:attrName>
                                        </p:attrNameLst>
                                      </p:cBhvr>
                                      <p:to>
                                        <p:strVal val="visible"/>
                                      </p:to>
                                    </p:set>
                                    <p:animEffect transition="in" filter="fade">
                                      <p:cBhvr>
                                        <p:cTn id="47" dur="2000"/>
                                        <p:tgtEl>
                                          <p:spTgt spid="145">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45">
                                            <p:txEl>
                                              <p:pRg st="8" end="8"/>
                                            </p:txEl>
                                          </p:spTgt>
                                        </p:tgtEl>
                                        <p:attrNameLst>
                                          <p:attrName>style.visibility</p:attrName>
                                        </p:attrNameLst>
                                      </p:cBhvr>
                                      <p:to>
                                        <p:strVal val="visible"/>
                                      </p:to>
                                    </p:set>
                                    <p:animEffect transition="in" filter="fade">
                                      <p:cBhvr>
                                        <p:cTn id="52" dur="2000"/>
                                        <p:tgtEl>
                                          <p:spTgt spid="145">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45">
                                            <p:txEl>
                                              <p:pRg st="9" end="9"/>
                                            </p:txEl>
                                          </p:spTgt>
                                        </p:tgtEl>
                                        <p:attrNameLst>
                                          <p:attrName>style.visibility</p:attrName>
                                        </p:attrNameLst>
                                      </p:cBhvr>
                                      <p:to>
                                        <p:strVal val="visible"/>
                                      </p:to>
                                    </p:set>
                                    <p:animEffect transition="in" filter="fade">
                                      <p:cBhvr>
                                        <p:cTn id="57" dur="2000"/>
                                        <p:tgtEl>
                                          <p:spTgt spid="145">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46"/>
                                        </p:tgtEl>
                                        <p:attrNameLst>
                                          <p:attrName>style.visibility</p:attrName>
                                        </p:attrNameLst>
                                      </p:cBhvr>
                                      <p:to>
                                        <p:strVal val="visible"/>
                                      </p:to>
                                    </p:set>
                                    <p:animEffect transition="in" filter="fade">
                                      <p:cBhvr>
                                        <p:cTn id="62" dur="500"/>
                                        <p:tgtEl>
                                          <p:spTgt spid="146"/>
                                        </p:tgtEl>
                                      </p:cBhvr>
                                    </p:animEffect>
                                  </p:childTnLst>
                                </p:cTn>
                              </p:par>
                              <p:par>
                                <p:cTn id="63" presetID="10" presetClass="entr" presetSubtype="0" fill="hold" nodeType="withEffect">
                                  <p:stCondLst>
                                    <p:cond delay="0"/>
                                  </p:stCondLst>
                                  <p:childTnLst>
                                    <p:set>
                                      <p:cBhvr>
                                        <p:cTn id="64" dur="1" fill="hold">
                                          <p:stCondLst>
                                            <p:cond delay="0"/>
                                          </p:stCondLst>
                                        </p:cTn>
                                        <p:tgtEl>
                                          <p:spTgt spid="147"/>
                                        </p:tgtEl>
                                        <p:attrNameLst>
                                          <p:attrName>style.visibility</p:attrName>
                                        </p:attrNameLst>
                                      </p:cBhvr>
                                      <p:to>
                                        <p:strVal val="visible"/>
                                      </p:to>
                                    </p:set>
                                    <p:animEffect transition="in" filter="fade">
                                      <p:cBhvr>
                                        <p:cTn id="65" dur="500"/>
                                        <p:tgtEl>
                                          <p:spTgt spid="147"/>
                                        </p:tgtEl>
                                      </p:cBhvr>
                                    </p:animEffect>
                                  </p:childTnLst>
                                </p:cTn>
                              </p:par>
                              <p:par>
                                <p:cTn id="66" presetID="10" presetClass="entr" presetSubtype="0" fill="hold" nodeType="withEffect">
                                  <p:stCondLst>
                                    <p:cond delay="0"/>
                                  </p:stCondLst>
                                  <p:childTnLst>
                                    <p:set>
                                      <p:cBhvr>
                                        <p:cTn id="67" dur="1" fill="hold">
                                          <p:stCondLst>
                                            <p:cond delay="0"/>
                                          </p:stCondLst>
                                        </p:cTn>
                                        <p:tgtEl>
                                          <p:spTgt spid="148"/>
                                        </p:tgtEl>
                                        <p:attrNameLst>
                                          <p:attrName>style.visibility</p:attrName>
                                        </p:attrNameLst>
                                      </p:cBhvr>
                                      <p:to>
                                        <p:strVal val="visible"/>
                                      </p:to>
                                    </p:set>
                                    <p:animEffect transition="in" filter="fade">
                                      <p:cBhvr>
                                        <p:cTn id="68" dur="500"/>
                                        <p:tgtEl>
                                          <p:spTgt spid="148"/>
                                        </p:tgtEl>
                                      </p:cBhvr>
                                    </p:animEffect>
                                  </p:childTnLst>
                                </p:cTn>
                              </p:par>
                              <p:par>
                                <p:cTn id="69" presetID="10" presetClass="entr" presetSubtype="0" fill="hold" nodeType="withEffect">
                                  <p:stCondLst>
                                    <p:cond delay="0"/>
                                  </p:stCondLst>
                                  <p:childTnLst>
                                    <p:set>
                                      <p:cBhvr>
                                        <p:cTn id="70" dur="1" fill="hold">
                                          <p:stCondLst>
                                            <p:cond delay="0"/>
                                          </p:stCondLst>
                                        </p:cTn>
                                        <p:tgtEl>
                                          <p:spTgt spid="149"/>
                                        </p:tgtEl>
                                        <p:attrNameLst>
                                          <p:attrName>style.visibility</p:attrName>
                                        </p:attrNameLst>
                                      </p:cBhvr>
                                      <p:to>
                                        <p:strVal val="visible"/>
                                      </p:to>
                                    </p:set>
                                    <p:animEffect transition="in" filter="fade">
                                      <p:cBhvr>
                                        <p:cTn id="71" dur="500"/>
                                        <p:tgtEl>
                                          <p:spTgt spid="149"/>
                                        </p:tgtEl>
                                      </p:cBhvr>
                                    </p:animEffect>
                                  </p:childTnLst>
                                </p:cTn>
                              </p:par>
                              <p:par>
                                <p:cTn id="72" presetID="10" presetClass="entr" presetSubtype="0" fill="hold" nodeType="withEffect">
                                  <p:stCondLst>
                                    <p:cond delay="0"/>
                                  </p:stCondLst>
                                  <p:childTnLst>
                                    <p:set>
                                      <p:cBhvr>
                                        <p:cTn id="73" dur="1" fill="hold">
                                          <p:stCondLst>
                                            <p:cond delay="0"/>
                                          </p:stCondLst>
                                        </p:cTn>
                                        <p:tgtEl>
                                          <p:spTgt spid="150"/>
                                        </p:tgtEl>
                                        <p:attrNameLst>
                                          <p:attrName>style.visibility</p:attrName>
                                        </p:attrNameLst>
                                      </p:cBhvr>
                                      <p:to>
                                        <p:strVal val="visible"/>
                                      </p:to>
                                    </p:set>
                                    <p:animEffect transition="in" filter="fade">
                                      <p:cBhvr>
                                        <p:cTn id="74" dur="500"/>
                                        <p:tgtEl>
                                          <p:spTgt spid="150"/>
                                        </p:tgtEl>
                                      </p:cBhvr>
                                    </p:animEffect>
                                  </p:childTnLst>
                                </p:cTn>
                              </p:par>
                              <p:par>
                                <p:cTn id="75" presetID="10" presetClass="entr" presetSubtype="0" fill="hold" nodeType="withEffect">
                                  <p:stCondLst>
                                    <p:cond delay="0"/>
                                  </p:stCondLst>
                                  <p:childTnLst>
                                    <p:set>
                                      <p:cBhvr>
                                        <p:cTn id="76" dur="1" fill="hold">
                                          <p:stCondLst>
                                            <p:cond delay="0"/>
                                          </p:stCondLst>
                                        </p:cTn>
                                        <p:tgtEl>
                                          <p:spTgt spid="151"/>
                                        </p:tgtEl>
                                        <p:attrNameLst>
                                          <p:attrName>style.visibility</p:attrName>
                                        </p:attrNameLst>
                                      </p:cBhvr>
                                      <p:to>
                                        <p:strVal val="visible"/>
                                      </p:to>
                                    </p:set>
                                    <p:animEffect transition="in" filter="fade">
                                      <p:cBhvr>
                                        <p:cTn id="77" dur="500"/>
                                        <p:tgtEl>
                                          <p:spTgt spid="151"/>
                                        </p:tgtEl>
                                      </p:cBhvr>
                                    </p:animEffect>
                                  </p:childTnLst>
                                </p:cTn>
                              </p:par>
                              <p:par>
                                <p:cTn id="78" presetID="10" presetClass="entr" presetSubtype="0" fill="hold" nodeType="withEffect">
                                  <p:stCondLst>
                                    <p:cond delay="0"/>
                                  </p:stCondLst>
                                  <p:childTnLst>
                                    <p:set>
                                      <p:cBhvr>
                                        <p:cTn id="79" dur="1" fill="hold">
                                          <p:stCondLst>
                                            <p:cond delay="0"/>
                                          </p:stCondLst>
                                        </p:cTn>
                                        <p:tgtEl>
                                          <p:spTgt spid="152"/>
                                        </p:tgtEl>
                                        <p:attrNameLst>
                                          <p:attrName>style.visibility</p:attrName>
                                        </p:attrNameLst>
                                      </p:cBhvr>
                                      <p:to>
                                        <p:strVal val="visible"/>
                                      </p:to>
                                    </p:set>
                                    <p:animEffect transition="in" filter="fade">
                                      <p:cBhvr>
                                        <p:cTn id="80" dur="500"/>
                                        <p:tgtEl>
                                          <p:spTgt spid="152"/>
                                        </p:tgtEl>
                                      </p:cBhvr>
                                    </p:animEffect>
                                  </p:childTnLst>
                                </p:cTn>
                              </p:par>
                              <p:par>
                                <p:cTn id="81" presetID="10" presetClass="entr" presetSubtype="0" fill="hold" nodeType="withEffect">
                                  <p:stCondLst>
                                    <p:cond delay="0"/>
                                  </p:stCondLst>
                                  <p:childTnLst>
                                    <p:set>
                                      <p:cBhvr>
                                        <p:cTn id="82" dur="1" fill="hold">
                                          <p:stCondLst>
                                            <p:cond delay="0"/>
                                          </p:stCondLst>
                                        </p:cTn>
                                        <p:tgtEl>
                                          <p:spTgt spid="153"/>
                                        </p:tgtEl>
                                        <p:attrNameLst>
                                          <p:attrName>style.visibility</p:attrName>
                                        </p:attrNameLst>
                                      </p:cBhvr>
                                      <p:to>
                                        <p:strVal val="visible"/>
                                      </p:to>
                                    </p:set>
                                    <p:animEffect transition="in" filter="fade">
                                      <p:cBhvr>
                                        <p:cTn id="83" dur="500"/>
                                        <p:tgtEl>
                                          <p:spTgt spid="153"/>
                                        </p:tgtEl>
                                      </p:cBhvr>
                                    </p:animEffect>
                                  </p:childTnLst>
                                </p:cTn>
                              </p:par>
                              <p:par>
                                <p:cTn id="84" presetID="10" presetClass="entr" presetSubtype="0" fill="hold" nodeType="withEffect">
                                  <p:stCondLst>
                                    <p:cond delay="0"/>
                                  </p:stCondLst>
                                  <p:childTnLst>
                                    <p:set>
                                      <p:cBhvr>
                                        <p:cTn id="85" dur="1" fill="hold">
                                          <p:stCondLst>
                                            <p:cond delay="0"/>
                                          </p:stCondLst>
                                        </p:cTn>
                                        <p:tgtEl>
                                          <p:spTgt spid="154"/>
                                        </p:tgtEl>
                                        <p:attrNameLst>
                                          <p:attrName>style.visibility</p:attrName>
                                        </p:attrNameLst>
                                      </p:cBhvr>
                                      <p:to>
                                        <p:strVal val="visible"/>
                                      </p:to>
                                    </p:set>
                                    <p:animEffect transition="in" filter="fade">
                                      <p:cBhvr>
                                        <p:cTn id="86" dur="500"/>
                                        <p:tgtEl>
                                          <p:spTgt spid="154"/>
                                        </p:tgtEl>
                                      </p:cBhvr>
                                    </p:animEffect>
                                  </p:childTnLst>
                                </p:cTn>
                              </p:par>
                              <p:par>
                                <p:cTn id="87" presetID="10" presetClass="entr" presetSubtype="0" fill="hold" nodeType="withEffect">
                                  <p:stCondLst>
                                    <p:cond delay="0"/>
                                  </p:stCondLst>
                                  <p:childTnLst>
                                    <p:set>
                                      <p:cBhvr>
                                        <p:cTn id="88" dur="1" fill="hold">
                                          <p:stCondLst>
                                            <p:cond delay="0"/>
                                          </p:stCondLst>
                                        </p:cTn>
                                        <p:tgtEl>
                                          <p:spTgt spid="155"/>
                                        </p:tgtEl>
                                        <p:attrNameLst>
                                          <p:attrName>style.visibility</p:attrName>
                                        </p:attrNameLst>
                                      </p:cBhvr>
                                      <p:to>
                                        <p:strVal val="visible"/>
                                      </p:to>
                                    </p:set>
                                    <p:animEffect transition="in" filter="fade">
                                      <p:cBhvr>
                                        <p:cTn id="89" dur="500"/>
                                        <p:tgtEl>
                                          <p:spTgt spid="155"/>
                                        </p:tgtEl>
                                      </p:cBhvr>
                                    </p:animEffect>
                                  </p:childTnLst>
                                </p:cTn>
                              </p:par>
                              <p:par>
                                <p:cTn id="90" presetID="10" presetClass="entr" presetSubtype="0" fill="hold" nodeType="withEffect">
                                  <p:stCondLst>
                                    <p:cond delay="0"/>
                                  </p:stCondLst>
                                  <p:childTnLst>
                                    <p:set>
                                      <p:cBhvr>
                                        <p:cTn id="91" dur="1" fill="hold">
                                          <p:stCondLst>
                                            <p:cond delay="0"/>
                                          </p:stCondLst>
                                        </p:cTn>
                                        <p:tgtEl>
                                          <p:spTgt spid="156"/>
                                        </p:tgtEl>
                                        <p:attrNameLst>
                                          <p:attrName>style.visibility</p:attrName>
                                        </p:attrNameLst>
                                      </p:cBhvr>
                                      <p:to>
                                        <p:strVal val="visible"/>
                                      </p:to>
                                    </p:set>
                                    <p:animEffect transition="in" filter="fade">
                                      <p:cBhvr>
                                        <p:cTn id="92" dur="500"/>
                                        <p:tgtEl>
                                          <p:spTgt spid="156"/>
                                        </p:tgtEl>
                                      </p:cBhvr>
                                    </p:animEffect>
                                  </p:childTnLst>
                                </p:cTn>
                              </p:par>
                              <p:par>
                                <p:cTn id="93" presetID="10" presetClass="entr" presetSubtype="0" fill="hold" nodeType="withEffect">
                                  <p:stCondLst>
                                    <p:cond delay="0"/>
                                  </p:stCondLst>
                                  <p:childTnLst>
                                    <p:set>
                                      <p:cBhvr>
                                        <p:cTn id="94" dur="1" fill="hold">
                                          <p:stCondLst>
                                            <p:cond delay="0"/>
                                          </p:stCondLst>
                                        </p:cTn>
                                        <p:tgtEl>
                                          <p:spTgt spid="157"/>
                                        </p:tgtEl>
                                        <p:attrNameLst>
                                          <p:attrName>style.visibility</p:attrName>
                                        </p:attrNameLst>
                                      </p:cBhvr>
                                      <p:to>
                                        <p:strVal val="visible"/>
                                      </p:to>
                                    </p:set>
                                    <p:animEffect transition="in" filter="fade">
                                      <p:cBhvr>
                                        <p:cTn id="95" dur="500"/>
                                        <p:tgtEl>
                                          <p:spTgt spid="157"/>
                                        </p:tgtEl>
                                      </p:cBhvr>
                                    </p:animEffect>
                                  </p:childTnLst>
                                </p:cTn>
                              </p:par>
                              <p:par>
                                <p:cTn id="96" presetID="10" presetClass="entr" presetSubtype="0" fill="hold" nodeType="withEffect">
                                  <p:stCondLst>
                                    <p:cond delay="0"/>
                                  </p:stCondLst>
                                  <p:childTnLst>
                                    <p:set>
                                      <p:cBhvr>
                                        <p:cTn id="97" dur="1" fill="hold">
                                          <p:stCondLst>
                                            <p:cond delay="0"/>
                                          </p:stCondLst>
                                        </p:cTn>
                                        <p:tgtEl>
                                          <p:spTgt spid="158"/>
                                        </p:tgtEl>
                                        <p:attrNameLst>
                                          <p:attrName>style.visibility</p:attrName>
                                        </p:attrNameLst>
                                      </p:cBhvr>
                                      <p:to>
                                        <p:strVal val="visible"/>
                                      </p:to>
                                    </p:set>
                                    <p:animEffect transition="in" filter="fade">
                                      <p:cBhvr>
                                        <p:cTn id="98" dur="500"/>
                                        <p:tgtEl>
                                          <p:spTgt spid="158"/>
                                        </p:tgtEl>
                                      </p:cBhvr>
                                    </p:animEffect>
                                  </p:childTnLst>
                                </p:cTn>
                              </p:par>
                              <p:par>
                                <p:cTn id="99" presetID="10" presetClass="entr" presetSubtype="0" fill="hold" nodeType="withEffect">
                                  <p:stCondLst>
                                    <p:cond delay="0"/>
                                  </p:stCondLst>
                                  <p:childTnLst>
                                    <p:set>
                                      <p:cBhvr>
                                        <p:cTn id="100" dur="1" fill="hold">
                                          <p:stCondLst>
                                            <p:cond delay="0"/>
                                          </p:stCondLst>
                                        </p:cTn>
                                        <p:tgtEl>
                                          <p:spTgt spid="159"/>
                                        </p:tgtEl>
                                        <p:attrNameLst>
                                          <p:attrName>style.visibility</p:attrName>
                                        </p:attrNameLst>
                                      </p:cBhvr>
                                      <p:to>
                                        <p:strVal val="visible"/>
                                      </p:to>
                                    </p:set>
                                    <p:animEffect transition="in" filter="fade">
                                      <p:cBhvr>
                                        <p:cTn id="101" dur="500"/>
                                        <p:tgtEl>
                                          <p:spTgt spid="159"/>
                                        </p:tgtEl>
                                      </p:cBhvr>
                                    </p:animEffect>
                                  </p:childTnLst>
                                </p:cTn>
                              </p:par>
                              <p:par>
                                <p:cTn id="102" presetID="10" presetClass="entr" presetSubtype="0" fill="hold" nodeType="withEffect">
                                  <p:stCondLst>
                                    <p:cond delay="0"/>
                                  </p:stCondLst>
                                  <p:childTnLst>
                                    <p:set>
                                      <p:cBhvr>
                                        <p:cTn id="103" dur="1" fill="hold">
                                          <p:stCondLst>
                                            <p:cond delay="0"/>
                                          </p:stCondLst>
                                        </p:cTn>
                                        <p:tgtEl>
                                          <p:spTgt spid="160"/>
                                        </p:tgtEl>
                                        <p:attrNameLst>
                                          <p:attrName>style.visibility</p:attrName>
                                        </p:attrNameLst>
                                      </p:cBhvr>
                                      <p:to>
                                        <p:strVal val="visible"/>
                                      </p:to>
                                    </p:set>
                                    <p:animEffect transition="in" filter="fade">
                                      <p:cBhvr>
                                        <p:cTn id="104" dur="500"/>
                                        <p:tgtEl>
                                          <p:spTgt spid="160"/>
                                        </p:tgtEl>
                                      </p:cBhvr>
                                    </p:animEffect>
                                  </p:childTnLst>
                                </p:cTn>
                              </p:par>
                              <p:par>
                                <p:cTn id="105" presetID="10" presetClass="entr" presetSubtype="0" fill="hold" nodeType="withEffect">
                                  <p:stCondLst>
                                    <p:cond delay="0"/>
                                  </p:stCondLst>
                                  <p:childTnLst>
                                    <p:set>
                                      <p:cBhvr>
                                        <p:cTn id="106" dur="1" fill="hold">
                                          <p:stCondLst>
                                            <p:cond delay="0"/>
                                          </p:stCondLst>
                                        </p:cTn>
                                        <p:tgtEl>
                                          <p:spTgt spid="161"/>
                                        </p:tgtEl>
                                        <p:attrNameLst>
                                          <p:attrName>style.visibility</p:attrName>
                                        </p:attrNameLst>
                                      </p:cBhvr>
                                      <p:to>
                                        <p:strVal val="visible"/>
                                      </p:to>
                                    </p:set>
                                    <p:animEffect transition="in" filter="fade">
                                      <p:cBhvr>
                                        <p:cTn id="107" dur="500"/>
                                        <p:tgtEl>
                                          <p:spTgt spid="161"/>
                                        </p:tgtEl>
                                      </p:cBhvr>
                                    </p:animEffect>
                                  </p:childTnLst>
                                </p:cTn>
                              </p:par>
                              <p:par>
                                <p:cTn id="108" presetID="10" presetClass="entr" presetSubtype="0" fill="hold" nodeType="withEffect">
                                  <p:stCondLst>
                                    <p:cond delay="0"/>
                                  </p:stCondLst>
                                  <p:childTnLst>
                                    <p:set>
                                      <p:cBhvr>
                                        <p:cTn id="109" dur="1" fill="hold">
                                          <p:stCondLst>
                                            <p:cond delay="0"/>
                                          </p:stCondLst>
                                        </p:cTn>
                                        <p:tgtEl>
                                          <p:spTgt spid="162"/>
                                        </p:tgtEl>
                                        <p:attrNameLst>
                                          <p:attrName>style.visibility</p:attrName>
                                        </p:attrNameLst>
                                      </p:cBhvr>
                                      <p:to>
                                        <p:strVal val="visible"/>
                                      </p:to>
                                    </p:set>
                                    <p:animEffect transition="in" filter="fade">
                                      <p:cBhvr>
                                        <p:cTn id="110" dur="500"/>
                                        <p:tgtEl>
                                          <p:spTgt spid="162"/>
                                        </p:tgtEl>
                                      </p:cBhvr>
                                    </p:animEffect>
                                  </p:childTnLst>
                                </p:cTn>
                              </p:par>
                              <p:par>
                                <p:cTn id="111" presetID="10" presetClass="entr" presetSubtype="0" fill="hold" nodeType="withEffect">
                                  <p:stCondLst>
                                    <p:cond delay="0"/>
                                  </p:stCondLst>
                                  <p:childTnLst>
                                    <p:set>
                                      <p:cBhvr>
                                        <p:cTn id="112" dur="1" fill="hold">
                                          <p:stCondLst>
                                            <p:cond delay="0"/>
                                          </p:stCondLst>
                                        </p:cTn>
                                        <p:tgtEl>
                                          <p:spTgt spid="163"/>
                                        </p:tgtEl>
                                        <p:attrNameLst>
                                          <p:attrName>style.visibility</p:attrName>
                                        </p:attrNameLst>
                                      </p:cBhvr>
                                      <p:to>
                                        <p:strVal val="visible"/>
                                      </p:to>
                                    </p:set>
                                    <p:animEffect transition="in" filter="fade">
                                      <p:cBhvr>
                                        <p:cTn id="113" dur="500"/>
                                        <p:tgtEl>
                                          <p:spTgt spid="163"/>
                                        </p:tgtEl>
                                      </p:cBhvr>
                                    </p:animEffect>
                                  </p:childTnLst>
                                </p:cTn>
                              </p:par>
                              <p:par>
                                <p:cTn id="114" presetID="10" presetClass="entr" presetSubtype="0" fill="hold" nodeType="withEffect">
                                  <p:stCondLst>
                                    <p:cond delay="0"/>
                                  </p:stCondLst>
                                  <p:childTnLst>
                                    <p:set>
                                      <p:cBhvr>
                                        <p:cTn id="115" dur="1" fill="hold">
                                          <p:stCondLst>
                                            <p:cond delay="0"/>
                                          </p:stCondLst>
                                        </p:cTn>
                                        <p:tgtEl>
                                          <p:spTgt spid="164"/>
                                        </p:tgtEl>
                                        <p:attrNameLst>
                                          <p:attrName>style.visibility</p:attrName>
                                        </p:attrNameLst>
                                      </p:cBhvr>
                                      <p:to>
                                        <p:strVal val="visible"/>
                                      </p:to>
                                    </p:set>
                                    <p:animEffect transition="in" filter="fade">
                                      <p:cBhvr>
                                        <p:cTn id="116" dur="500"/>
                                        <p:tgtEl>
                                          <p:spTgt spid="164"/>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nodeType="clickEffect">
                                  <p:stCondLst>
                                    <p:cond delay="0"/>
                                  </p:stCondLst>
                                  <p:childTnLst>
                                    <p:set>
                                      <p:cBhvr>
                                        <p:cTn id="120" dur="1" fill="hold">
                                          <p:stCondLst>
                                            <p:cond delay="0"/>
                                          </p:stCondLst>
                                        </p:cTn>
                                        <p:tgtEl>
                                          <p:spTgt spid="165"/>
                                        </p:tgtEl>
                                        <p:attrNameLst>
                                          <p:attrName>style.visibility</p:attrName>
                                        </p:attrNameLst>
                                      </p:cBhvr>
                                      <p:to>
                                        <p:strVal val="visible"/>
                                      </p:to>
                                    </p:set>
                                    <p:animEffect transition="in" filter="fade">
                                      <p:cBhvr>
                                        <p:cTn id="121" dur="500"/>
                                        <p:tgtEl>
                                          <p:spTgt spid="165"/>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nodeType="clickEffect">
                                  <p:stCondLst>
                                    <p:cond delay="0"/>
                                  </p:stCondLst>
                                  <p:childTnLst>
                                    <p:set>
                                      <p:cBhvr>
                                        <p:cTn id="125" dur="1" fill="hold">
                                          <p:stCondLst>
                                            <p:cond delay="0"/>
                                          </p:stCondLst>
                                        </p:cTn>
                                        <p:tgtEl>
                                          <p:spTgt spid="166"/>
                                        </p:tgtEl>
                                        <p:attrNameLst>
                                          <p:attrName>style.visibility</p:attrName>
                                        </p:attrNameLst>
                                      </p:cBhvr>
                                      <p:to>
                                        <p:strVal val="visible"/>
                                      </p:to>
                                    </p:set>
                                    <p:animEffect transition="in" filter="fade">
                                      <p:cBhvr>
                                        <p:cTn id="126" dur="500"/>
                                        <p:tgtEl>
                                          <p:spTgt spid="166"/>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nodeType="clickEffect">
                                  <p:stCondLst>
                                    <p:cond delay="0"/>
                                  </p:stCondLst>
                                  <p:childTnLst>
                                    <p:set>
                                      <p:cBhvr>
                                        <p:cTn id="130" dur="1" fill="hold">
                                          <p:stCondLst>
                                            <p:cond delay="0"/>
                                          </p:stCondLst>
                                        </p:cTn>
                                        <p:tgtEl>
                                          <p:spTgt spid="169"/>
                                        </p:tgtEl>
                                        <p:attrNameLst>
                                          <p:attrName>style.visibility</p:attrName>
                                        </p:attrNameLst>
                                      </p:cBhvr>
                                      <p:to>
                                        <p:strVal val="visible"/>
                                      </p:to>
                                    </p:set>
                                    <p:animEffect transition="in" filter="fade">
                                      <p:cBhvr>
                                        <p:cTn id="131" dur="500"/>
                                        <p:tgtEl>
                                          <p:spTgt spid="169"/>
                                        </p:tgtEl>
                                      </p:cBhvr>
                                    </p:animEffect>
                                  </p:childTnLst>
                                </p:cTn>
                              </p:par>
                            </p:childTnLst>
                          </p:cTn>
                        </p:par>
                      </p:childTnLst>
                    </p:cTn>
                  </p:par>
                  <p:par>
                    <p:cTn id="132" fill="hold">
                      <p:stCondLst>
                        <p:cond delay="indefinite"/>
                      </p:stCondLst>
                      <p:childTnLst>
                        <p:par>
                          <p:cTn id="133" fill="hold">
                            <p:stCondLst>
                              <p:cond delay="0"/>
                            </p:stCondLst>
                            <p:childTnLst>
                              <p:par>
                                <p:cTn id="134" presetID="10" presetClass="entr" presetSubtype="0" fill="hold" nodeType="clickEffect">
                                  <p:stCondLst>
                                    <p:cond delay="0"/>
                                  </p:stCondLst>
                                  <p:childTnLst>
                                    <p:set>
                                      <p:cBhvr>
                                        <p:cTn id="135" dur="1" fill="hold">
                                          <p:stCondLst>
                                            <p:cond delay="0"/>
                                          </p:stCondLst>
                                        </p:cTn>
                                        <p:tgtEl>
                                          <p:spTgt spid="170"/>
                                        </p:tgtEl>
                                        <p:attrNameLst>
                                          <p:attrName>style.visibility</p:attrName>
                                        </p:attrNameLst>
                                      </p:cBhvr>
                                      <p:to>
                                        <p:strVal val="visible"/>
                                      </p:to>
                                    </p:set>
                                    <p:animEffect transition="in" filter="fade">
                                      <p:cBhvr>
                                        <p:cTn id="136" dur="500"/>
                                        <p:tgtEl>
                                          <p:spTgt spid="170"/>
                                        </p:tgtEl>
                                      </p:cBhvr>
                                    </p:animEffect>
                                  </p:childTnLst>
                                </p:cTn>
                              </p:par>
                            </p:childTnLst>
                          </p:cTn>
                        </p:par>
                      </p:childTnLst>
                    </p:cTn>
                  </p:par>
                  <p:par>
                    <p:cTn id="137" fill="hold">
                      <p:stCondLst>
                        <p:cond delay="indefinite"/>
                      </p:stCondLst>
                      <p:childTnLst>
                        <p:par>
                          <p:cTn id="138" fill="hold">
                            <p:stCondLst>
                              <p:cond delay="0"/>
                            </p:stCondLst>
                            <p:childTnLst>
                              <p:par>
                                <p:cTn id="139" presetID="10" presetClass="entr" presetSubtype="0" fill="hold" nodeType="clickEffect">
                                  <p:stCondLst>
                                    <p:cond delay="0"/>
                                  </p:stCondLst>
                                  <p:childTnLst>
                                    <p:set>
                                      <p:cBhvr>
                                        <p:cTn id="140" dur="1" fill="hold">
                                          <p:stCondLst>
                                            <p:cond delay="0"/>
                                          </p:stCondLst>
                                        </p:cTn>
                                        <p:tgtEl>
                                          <p:spTgt spid="167"/>
                                        </p:tgtEl>
                                        <p:attrNameLst>
                                          <p:attrName>style.visibility</p:attrName>
                                        </p:attrNameLst>
                                      </p:cBhvr>
                                      <p:to>
                                        <p:strVal val="visible"/>
                                      </p:to>
                                    </p:set>
                                    <p:animEffect transition="in" filter="fade">
                                      <p:cBhvr>
                                        <p:cTn id="141" dur="500"/>
                                        <p:tgtEl>
                                          <p:spTgt spid="167"/>
                                        </p:tgtEl>
                                      </p:cBhvr>
                                    </p:animEffect>
                                  </p:childTnLst>
                                </p:cTn>
                              </p:par>
                            </p:childTnLst>
                          </p:cTn>
                        </p:par>
                      </p:childTnLst>
                    </p:cTn>
                  </p:par>
                  <p:par>
                    <p:cTn id="142" fill="hold">
                      <p:stCondLst>
                        <p:cond delay="indefinite"/>
                      </p:stCondLst>
                      <p:childTnLst>
                        <p:par>
                          <p:cTn id="143" fill="hold">
                            <p:stCondLst>
                              <p:cond delay="0"/>
                            </p:stCondLst>
                            <p:childTnLst>
                              <p:par>
                                <p:cTn id="144" presetID="10" presetClass="entr" presetSubtype="0" fill="hold" nodeType="clickEffect">
                                  <p:stCondLst>
                                    <p:cond delay="0"/>
                                  </p:stCondLst>
                                  <p:childTnLst>
                                    <p:set>
                                      <p:cBhvr>
                                        <p:cTn id="145" dur="1" fill="hold">
                                          <p:stCondLst>
                                            <p:cond delay="0"/>
                                          </p:stCondLst>
                                        </p:cTn>
                                        <p:tgtEl>
                                          <p:spTgt spid="168"/>
                                        </p:tgtEl>
                                        <p:attrNameLst>
                                          <p:attrName>style.visibility</p:attrName>
                                        </p:attrNameLst>
                                      </p:cBhvr>
                                      <p:to>
                                        <p:strVal val="visible"/>
                                      </p:to>
                                    </p:set>
                                    <p:animEffect transition="in" filter="fade">
                                      <p:cBhvr>
                                        <p:cTn id="146" dur="500"/>
                                        <p:tgtEl>
                                          <p:spTgt spid="168"/>
                                        </p:tgtEl>
                                      </p:cBhvr>
                                    </p:animEffect>
                                  </p:childTnLst>
                                </p:cTn>
                              </p:par>
                            </p:childTnLst>
                          </p:cTn>
                        </p:par>
                      </p:childTnLst>
                    </p:cTn>
                  </p:par>
                  <p:par>
                    <p:cTn id="147" fill="hold">
                      <p:stCondLst>
                        <p:cond delay="indefinite"/>
                      </p:stCondLst>
                      <p:childTnLst>
                        <p:par>
                          <p:cTn id="148" fill="hold">
                            <p:stCondLst>
                              <p:cond delay="0"/>
                            </p:stCondLst>
                            <p:childTnLst>
                              <p:par>
                                <p:cTn id="149" presetID="10" presetClass="entr" presetSubtype="0" fill="hold" nodeType="clickEffect">
                                  <p:stCondLst>
                                    <p:cond delay="0"/>
                                  </p:stCondLst>
                                  <p:childTnLst>
                                    <p:set>
                                      <p:cBhvr>
                                        <p:cTn id="150" dur="1" fill="hold">
                                          <p:stCondLst>
                                            <p:cond delay="0"/>
                                          </p:stCondLst>
                                        </p:cTn>
                                        <p:tgtEl>
                                          <p:spTgt spid="171"/>
                                        </p:tgtEl>
                                        <p:attrNameLst>
                                          <p:attrName>style.visibility</p:attrName>
                                        </p:attrNameLst>
                                      </p:cBhvr>
                                      <p:to>
                                        <p:strVal val="visible"/>
                                      </p:to>
                                    </p:set>
                                    <p:animEffect transition="in" filter="fade">
                                      <p:cBhvr>
                                        <p:cTn id="151" dur="500"/>
                                        <p:tgtEl>
                                          <p:spTgt spid="171"/>
                                        </p:tgtEl>
                                      </p:cBhvr>
                                    </p:animEffect>
                                  </p:childTnLst>
                                </p:cTn>
                              </p:par>
                            </p:childTnLst>
                          </p:cTn>
                        </p:par>
                      </p:childTnLst>
                    </p:cTn>
                  </p:par>
                  <p:par>
                    <p:cTn id="152" fill="hold">
                      <p:stCondLst>
                        <p:cond delay="indefinite"/>
                      </p:stCondLst>
                      <p:childTnLst>
                        <p:par>
                          <p:cTn id="153" fill="hold">
                            <p:stCondLst>
                              <p:cond delay="0"/>
                            </p:stCondLst>
                            <p:childTnLst>
                              <p:par>
                                <p:cTn id="154" presetID="10" presetClass="entr" presetSubtype="0" fill="hold" nodeType="clickEffect">
                                  <p:stCondLst>
                                    <p:cond delay="0"/>
                                  </p:stCondLst>
                                  <p:childTnLst>
                                    <p:set>
                                      <p:cBhvr>
                                        <p:cTn id="155" dur="1" fill="hold">
                                          <p:stCondLst>
                                            <p:cond delay="0"/>
                                          </p:stCondLst>
                                        </p:cTn>
                                        <p:tgtEl>
                                          <p:spTgt spid="172"/>
                                        </p:tgtEl>
                                        <p:attrNameLst>
                                          <p:attrName>style.visibility</p:attrName>
                                        </p:attrNameLst>
                                      </p:cBhvr>
                                      <p:to>
                                        <p:strVal val="visible"/>
                                      </p:to>
                                    </p:set>
                                    <p:animEffect transition="in" filter="fade">
                                      <p:cBhvr>
                                        <p:cTn id="156" dur="500"/>
                                        <p:tgtEl>
                                          <p:spTgt spid="172"/>
                                        </p:tgtEl>
                                      </p:cBhvr>
                                    </p:animEffect>
                                  </p:childTnLst>
                                </p:cTn>
                              </p:par>
                              <p:par>
                                <p:cTn id="157" presetID="10" presetClass="entr" presetSubtype="0" fill="hold" nodeType="withEffect">
                                  <p:stCondLst>
                                    <p:cond delay="0"/>
                                  </p:stCondLst>
                                  <p:childTnLst>
                                    <p:set>
                                      <p:cBhvr>
                                        <p:cTn id="158" dur="1" fill="hold">
                                          <p:stCondLst>
                                            <p:cond delay="0"/>
                                          </p:stCondLst>
                                        </p:cTn>
                                        <p:tgtEl>
                                          <p:spTgt spid="173"/>
                                        </p:tgtEl>
                                        <p:attrNameLst>
                                          <p:attrName>style.visibility</p:attrName>
                                        </p:attrNameLst>
                                      </p:cBhvr>
                                      <p:to>
                                        <p:strVal val="visible"/>
                                      </p:to>
                                    </p:set>
                                    <p:animEffect transition="in" filter="fade">
                                      <p:cBhvr>
                                        <p:cTn id="159" dur="500"/>
                                        <p:tgtEl>
                                          <p:spTgt spid="173"/>
                                        </p:tgtEl>
                                      </p:cBhvr>
                                    </p:animEffect>
                                  </p:childTnLst>
                                </p:cTn>
                              </p:par>
                              <p:par>
                                <p:cTn id="160" presetID="10" presetClass="entr" presetSubtype="0" fill="hold" nodeType="withEffect">
                                  <p:stCondLst>
                                    <p:cond delay="0"/>
                                  </p:stCondLst>
                                  <p:childTnLst>
                                    <p:set>
                                      <p:cBhvr>
                                        <p:cTn id="161" dur="1" fill="hold">
                                          <p:stCondLst>
                                            <p:cond delay="0"/>
                                          </p:stCondLst>
                                        </p:cTn>
                                        <p:tgtEl>
                                          <p:spTgt spid="175"/>
                                        </p:tgtEl>
                                        <p:attrNameLst>
                                          <p:attrName>style.visibility</p:attrName>
                                        </p:attrNameLst>
                                      </p:cBhvr>
                                      <p:to>
                                        <p:strVal val="visible"/>
                                      </p:to>
                                    </p:set>
                                    <p:animEffect transition="in" filter="fade">
                                      <p:cBhvr>
                                        <p:cTn id="162" dur="500"/>
                                        <p:tgtEl>
                                          <p:spTgt spid="175"/>
                                        </p:tgtEl>
                                      </p:cBhvr>
                                    </p:animEffect>
                                  </p:childTnLst>
                                </p:cTn>
                              </p:par>
                              <p:par>
                                <p:cTn id="163" presetID="10" presetClass="entr" presetSubtype="0" fill="hold" nodeType="withEffect">
                                  <p:stCondLst>
                                    <p:cond delay="0"/>
                                  </p:stCondLst>
                                  <p:childTnLst>
                                    <p:set>
                                      <p:cBhvr>
                                        <p:cTn id="164" dur="1" fill="hold">
                                          <p:stCondLst>
                                            <p:cond delay="0"/>
                                          </p:stCondLst>
                                        </p:cTn>
                                        <p:tgtEl>
                                          <p:spTgt spid="176"/>
                                        </p:tgtEl>
                                        <p:attrNameLst>
                                          <p:attrName>style.visibility</p:attrName>
                                        </p:attrNameLst>
                                      </p:cBhvr>
                                      <p:to>
                                        <p:strVal val="visible"/>
                                      </p:to>
                                    </p:set>
                                    <p:animEffect transition="in" filter="fade">
                                      <p:cBhvr>
                                        <p:cTn id="165" dur="500"/>
                                        <p:tgtEl>
                                          <p:spTgt spid="176"/>
                                        </p:tgtEl>
                                      </p:cBhvr>
                                    </p:animEffect>
                                  </p:childTnLst>
                                </p:cTn>
                              </p:par>
                              <p:par>
                                <p:cTn id="166" presetID="10" presetClass="entr" presetSubtype="0" fill="hold" nodeType="withEffect">
                                  <p:stCondLst>
                                    <p:cond delay="0"/>
                                  </p:stCondLst>
                                  <p:childTnLst>
                                    <p:set>
                                      <p:cBhvr>
                                        <p:cTn id="167" dur="1" fill="hold">
                                          <p:stCondLst>
                                            <p:cond delay="0"/>
                                          </p:stCondLst>
                                        </p:cTn>
                                        <p:tgtEl>
                                          <p:spTgt spid="177"/>
                                        </p:tgtEl>
                                        <p:attrNameLst>
                                          <p:attrName>style.visibility</p:attrName>
                                        </p:attrNameLst>
                                      </p:cBhvr>
                                      <p:to>
                                        <p:strVal val="visible"/>
                                      </p:to>
                                    </p:set>
                                    <p:animEffect transition="in" filter="fade">
                                      <p:cBhvr>
                                        <p:cTn id="168" dur="500"/>
                                        <p:tgtEl>
                                          <p:spTgt spid="177"/>
                                        </p:tgtEl>
                                      </p:cBhvr>
                                    </p:animEffect>
                                  </p:childTnLst>
                                </p:cTn>
                              </p:par>
                              <p:par>
                                <p:cTn id="169" presetID="10" presetClass="entr" presetSubtype="0" fill="hold" nodeType="withEffect">
                                  <p:stCondLst>
                                    <p:cond delay="0"/>
                                  </p:stCondLst>
                                  <p:childTnLst>
                                    <p:set>
                                      <p:cBhvr>
                                        <p:cTn id="170" dur="1" fill="hold">
                                          <p:stCondLst>
                                            <p:cond delay="0"/>
                                          </p:stCondLst>
                                        </p:cTn>
                                        <p:tgtEl>
                                          <p:spTgt spid="178"/>
                                        </p:tgtEl>
                                        <p:attrNameLst>
                                          <p:attrName>style.visibility</p:attrName>
                                        </p:attrNameLst>
                                      </p:cBhvr>
                                      <p:to>
                                        <p:strVal val="visible"/>
                                      </p:to>
                                    </p:set>
                                    <p:animEffect transition="in" filter="fade">
                                      <p:cBhvr>
                                        <p:cTn id="171" dur="500"/>
                                        <p:tgtEl>
                                          <p:spTgt spid="178"/>
                                        </p:tgtEl>
                                      </p:cBhvr>
                                    </p:animEffect>
                                  </p:childTnLst>
                                </p:cTn>
                              </p:par>
                              <p:par>
                                <p:cTn id="172" presetID="10" presetClass="entr" presetSubtype="0" fill="hold" nodeType="withEffect">
                                  <p:stCondLst>
                                    <p:cond delay="0"/>
                                  </p:stCondLst>
                                  <p:childTnLst>
                                    <p:set>
                                      <p:cBhvr>
                                        <p:cTn id="173" dur="1" fill="hold">
                                          <p:stCondLst>
                                            <p:cond delay="0"/>
                                          </p:stCondLst>
                                        </p:cTn>
                                        <p:tgtEl>
                                          <p:spTgt spid="179"/>
                                        </p:tgtEl>
                                        <p:attrNameLst>
                                          <p:attrName>style.visibility</p:attrName>
                                        </p:attrNameLst>
                                      </p:cBhvr>
                                      <p:to>
                                        <p:strVal val="visible"/>
                                      </p:to>
                                    </p:set>
                                    <p:animEffect transition="in" filter="fade">
                                      <p:cBhvr>
                                        <p:cTn id="174" dur="500"/>
                                        <p:tgtEl>
                                          <p:spTgt spid="179"/>
                                        </p:tgtEl>
                                      </p:cBhvr>
                                    </p:animEffect>
                                  </p:childTnLst>
                                </p:cTn>
                              </p:par>
                              <p:par>
                                <p:cTn id="175" presetID="10" presetClass="entr" presetSubtype="0" fill="hold" nodeType="withEffect">
                                  <p:stCondLst>
                                    <p:cond delay="0"/>
                                  </p:stCondLst>
                                  <p:childTnLst>
                                    <p:set>
                                      <p:cBhvr>
                                        <p:cTn id="176" dur="1" fill="hold">
                                          <p:stCondLst>
                                            <p:cond delay="0"/>
                                          </p:stCondLst>
                                        </p:cTn>
                                        <p:tgtEl>
                                          <p:spTgt spid="174"/>
                                        </p:tgtEl>
                                        <p:attrNameLst>
                                          <p:attrName>style.visibility</p:attrName>
                                        </p:attrNameLst>
                                      </p:cBhvr>
                                      <p:to>
                                        <p:strVal val="visible"/>
                                      </p:to>
                                    </p:set>
                                    <p:animEffect transition="in" filter="fade">
                                      <p:cBhvr>
                                        <p:cTn id="177" dur="500"/>
                                        <p:tgtEl>
                                          <p:spTgt spid="174"/>
                                        </p:tgtEl>
                                      </p:cBhvr>
                                    </p:animEffect>
                                  </p:childTnLst>
                                </p:cTn>
                              </p:par>
                              <p:par>
                                <p:cTn id="178" presetID="10" presetClass="entr" presetSubtype="0" fill="hold" nodeType="withEffect">
                                  <p:stCondLst>
                                    <p:cond delay="0"/>
                                  </p:stCondLst>
                                  <p:childTnLst>
                                    <p:set>
                                      <p:cBhvr>
                                        <p:cTn id="179" dur="1" fill="hold">
                                          <p:stCondLst>
                                            <p:cond delay="0"/>
                                          </p:stCondLst>
                                        </p:cTn>
                                        <p:tgtEl>
                                          <p:spTgt spid="180"/>
                                        </p:tgtEl>
                                        <p:attrNameLst>
                                          <p:attrName>style.visibility</p:attrName>
                                        </p:attrNameLst>
                                      </p:cBhvr>
                                      <p:to>
                                        <p:strVal val="visible"/>
                                      </p:to>
                                    </p:set>
                                    <p:animEffect transition="in" filter="fade">
                                      <p:cBhvr>
                                        <p:cTn id="180" dur="500"/>
                                        <p:tgtEl>
                                          <p:spTgt spid="180"/>
                                        </p:tgtEl>
                                      </p:cBhvr>
                                    </p:animEffect>
                                  </p:childTnLst>
                                </p:cTn>
                              </p:par>
                              <p:par>
                                <p:cTn id="181" presetID="10" presetClass="entr" presetSubtype="0" fill="hold" nodeType="withEffect">
                                  <p:stCondLst>
                                    <p:cond delay="0"/>
                                  </p:stCondLst>
                                  <p:childTnLst>
                                    <p:set>
                                      <p:cBhvr>
                                        <p:cTn id="182" dur="1" fill="hold">
                                          <p:stCondLst>
                                            <p:cond delay="0"/>
                                          </p:stCondLst>
                                        </p:cTn>
                                        <p:tgtEl>
                                          <p:spTgt spid="181"/>
                                        </p:tgtEl>
                                        <p:attrNameLst>
                                          <p:attrName>style.visibility</p:attrName>
                                        </p:attrNameLst>
                                      </p:cBhvr>
                                      <p:to>
                                        <p:strVal val="visible"/>
                                      </p:to>
                                    </p:set>
                                    <p:animEffect transition="in" filter="fade">
                                      <p:cBhvr>
                                        <p:cTn id="183" dur="500"/>
                                        <p:tgtEl>
                                          <p:spTgt spid="181"/>
                                        </p:tgtEl>
                                      </p:cBhvr>
                                    </p:animEffect>
                                  </p:childTnLst>
                                </p:cTn>
                              </p:par>
                              <p:par>
                                <p:cTn id="184" presetID="10" presetClass="entr" presetSubtype="0" fill="hold" nodeType="withEffect">
                                  <p:stCondLst>
                                    <p:cond delay="0"/>
                                  </p:stCondLst>
                                  <p:childTnLst>
                                    <p:set>
                                      <p:cBhvr>
                                        <p:cTn id="185" dur="1" fill="hold">
                                          <p:stCondLst>
                                            <p:cond delay="0"/>
                                          </p:stCondLst>
                                        </p:cTn>
                                        <p:tgtEl>
                                          <p:spTgt spid="182"/>
                                        </p:tgtEl>
                                        <p:attrNameLst>
                                          <p:attrName>style.visibility</p:attrName>
                                        </p:attrNameLst>
                                      </p:cBhvr>
                                      <p:to>
                                        <p:strVal val="visible"/>
                                      </p:to>
                                    </p:set>
                                    <p:animEffect transition="in" filter="fade">
                                      <p:cBhvr>
                                        <p:cTn id="186" dur="500"/>
                                        <p:tgtEl>
                                          <p:spTgt spid="182"/>
                                        </p:tgtEl>
                                      </p:cBhvr>
                                    </p:animEffect>
                                  </p:childTnLst>
                                </p:cTn>
                              </p:par>
                              <p:par>
                                <p:cTn id="187" presetID="10" presetClass="entr" presetSubtype="0" fill="hold" nodeType="withEffect">
                                  <p:stCondLst>
                                    <p:cond delay="0"/>
                                  </p:stCondLst>
                                  <p:childTnLst>
                                    <p:set>
                                      <p:cBhvr>
                                        <p:cTn id="188" dur="1" fill="hold">
                                          <p:stCondLst>
                                            <p:cond delay="0"/>
                                          </p:stCondLst>
                                        </p:cTn>
                                        <p:tgtEl>
                                          <p:spTgt spid="183"/>
                                        </p:tgtEl>
                                        <p:attrNameLst>
                                          <p:attrName>style.visibility</p:attrName>
                                        </p:attrNameLst>
                                      </p:cBhvr>
                                      <p:to>
                                        <p:strVal val="visible"/>
                                      </p:to>
                                    </p:set>
                                    <p:animEffect transition="in" filter="fade">
                                      <p:cBhvr>
                                        <p:cTn id="189" dur="500"/>
                                        <p:tgtEl>
                                          <p:spTgt spid="183"/>
                                        </p:tgtEl>
                                      </p:cBhvr>
                                    </p:animEffect>
                                  </p:childTnLst>
                                </p:cTn>
                              </p:par>
                              <p:par>
                                <p:cTn id="190" presetID="10" presetClass="entr" presetSubtype="0" fill="hold" nodeType="withEffect">
                                  <p:stCondLst>
                                    <p:cond delay="0"/>
                                  </p:stCondLst>
                                  <p:childTnLst>
                                    <p:set>
                                      <p:cBhvr>
                                        <p:cTn id="191" dur="1" fill="hold">
                                          <p:stCondLst>
                                            <p:cond delay="0"/>
                                          </p:stCondLst>
                                        </p:cTn>
                                        <p:tgtEl>
                                          <p:spTgt spid="184"/>
                                        </p:tgtEl>
                                        <p:attrNameLst>
                                          <p:attrName>style.visibility</p:attrName>
                                        </p:attrNameLst>
                                      </p:cBhvr>
                                      <p:to>
                                        <p:strVal val="visible"/>
                                      </p:to>
                                    </p:set>
                                    <p:animEffect transition="in" filter="fade">
                                      <p:cBhvr>
                                        <p:cTn id="192" dur="500"/>
                                        <p:tgtEl>
                                          <p:spTgt spid="184"/>
                                        </p:tgtEl>
                                      </p:cBhvr>
                                    </p:animEffect>
                                  </p:childTnLst>
                                </p:cTn>
                              </p:par>
                              <p:par>
                                <p:cTn id="193" presetID="10" presetClass="entr" presetSubtype="0" fill="hold" nodeType="withEffect">
                                  <p:stCondLst>
                                    <p:cond delay="0"/>
                                  </p:stCondLst>
                                  <p:childTnLst>
                                    <p:set>
                                      <p:cBhvr>
                                        <p:cTn id="194" dur="1" fill="hold">
                                          <p:stCondLst>
                                            <p:cond delay="0"/>
                                          </p:stCondLst>
                                        </p:cTn>
                                        <p:tgtEl>
                                          <p:spTgt spid="185"/>
                                        </p:tgtEl>
                                        <p:attrNameLst>
                                          <p:attrName>style.visibility</p:attrName>
                                        </p:attrNameLst>
                                      </p:cBhvr>
                                      <p:to>
                                        <p:strVal val="visible"/>
                                      </p:to>
                                    </p:set>
                                    <p:animEffect transition="in" filter="fade">
                                      <p:cBhvr>
                                        <p:cTn id="195" dur="500"/>
                                        <p:tgtEl>
                                          <p:spTgt spid="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rgbClr val="F6F9FC"/>
            </a:gs>
            <a:gs pos="74000">
              <a:srgbClr val="B3D1EC"/>
            </a:gs>
            <a:gs pos="83000">
              <a:srgbClr val="B3D1EC"/>
            </a:gs>
            <a:gs pos="100000">
              <a:srgbClr val="CCE0F2"/>
            </a:gs>
          </a:gsLst>
          <a:lin ang="5400000" scaled="0"/>
        </a:gradFill>
        <a:effectLst/>
      </p:bgPr>
    </p:bg>
    <p:spTree>
      <p:nvGrpSpPr>
        <p:cNvPr id="1" name="Shape 189"/>
        <p:cNvGrpSpPr/>
        <p:nvPr/>
      </p:nvGrpSpPr>
      <p:grpSpPr>
        <a:xfrm>
          <a:off x="0" y="0"/>
          <a:ext cx="0" cy="0"/>
          <a:chOff x="0" y="0"/>
          <a:chExt cx="0" cy="0"/>
        </a:xfrm>
      </p:grpSpPr>
      <p:sp>
        <p:nvSpPr>
          <p:cNvPr id="190" name="Google Shape;190;p3"/>
          <p:cNvSpPr txBox="1">
            <a:spLocks noGrp="1"/>
          </p:cNvSpPr>
          <p:nvPr>
            <p:ph type="title"/>
          </p:nvPr>
        </p:nvSpPr>
        <p:spPr>
          <a:xfrm>
            <a:off x="0" y="1"/>
            <a:ext cx="12192000" cy="1117841"/>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6000"/>
              <a:buFont typeface="Calibri"/>
              <a:buNone/>
            </a:pPr>
            <a:r>
              <a:rPr lang="vi-VN" sz="6000" b="1" dirty="0"/>
              <a:t>Chu trình Euler</a:t>
            </a:r>
            <a:br>
              <a:rPr lang="vi-VN" sz="6000" dirty="0"/>
            </a:br>
            <a:r>
              <a:rPr lang="vi-VN" sz="2400" b="1" i="1" u="sng" dirty="0">
                <a:solidFill>
                  <a:srgbClr val="FF0000"/>
                </a:solidFill>
              </a:rPr>
              <a:t>1 Đồ thị Euler</a:t>
            </a:r>
            <a:endParaRPr sz="6000" b="1" i="1" u="sng" dirty="0">
              <a:solidFill>
                <a:srgbClr val="FF0000"/>
              </a:solidFill>
            </a:endParaRPr>
          </a:p>
        </p:txBody>
      </p:sp>
      <p:sp>
        <p:nvSpPr>
          <p:cNvPr id="191" name="Google Shape;191;p3"/>
          <p:cNvSpPr txBox="1">
            <a:spLocks noGrp="1"/>
          </p:cNvSpPr>
          <p:nvPr>
            <p:ph type="body" idx="1"/>
          </p:nvPr>
        </p:nvSpPr>
        <p:spPr>
          <a:xfrm>
            <a:off x="0" y="1186986"/>
            <a:ext cx="12168188" cy="313607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vi-VN" sz="2400"/>
              <a:t>Bài toán 7 cây cầu ở Konigsberg.Làm cách nào để từ 1 điểm xuất phát  đi qua mỗi cây cầu 1 lần và trở về nơi xuất phát </a:t>
            </a:r>
            <a:endParaRPr sz="2400"/>
          </a:p>
        </p:txBody>
      </p:sp>
      <p:pic>
        <p:nvPicPr>
          <p:cNvPr id="192" name="Google Shape;192;p3"/>
          <p:cNvPicPr preferRelativeResize="0"/>
          <p:nvPr/>
        </p:nvPicPr>
        <p:blipFill rotWithShape="1">
          <a:blip r:embed="rId3">
            <a:alphaModFix/>
          </a:blip>
          <a:srcRect/>
          <a:stretch/>
        </p:blipFill>
        <p:spPr>
          <a:xfrm>
            <a:off x="595629" y="2198798"/>
            <a:ext cx="3314701" cy="2055115"/>
          </a:xfrm>
          <a:prstGeom prst="rect">
            <a:avLst/>
          </a:prstGeom>
          <a:noFill/>
          <a:ln>
            <a:noFill/>
          </a:ln>
        </p:spPr>
      </p:pic>
      <p:cxnSp>
        <p:nvCxnSpPr>
          <p:cNvPr id="193" name="Google Shape;193;p3"/>
          <p:cNvCxnSpPr/>
          <p:nvPr/>
        </p:nvCxnSpPr>
        <p:spPr>
          <a:xfrm rot="10800000" flipH="1">
            <a:off x="6814039" y="3393532"/>
            <a:ext cx="1981200" cy="672299"/>
          </a:xfrm>
          <a:prstGeom prst="straightConnector1">
            <a:avLst/>
          </a:prstGeom>
          <a:noFill/>
          <a:ln w="19050" cap="flat" cmpd="sng">
            <a:solidFill>
              <a:schemeClr val="dk1"/>
            </a:solidFill>
            <a:prstDash val="solid"/>
            <a:miter lim="800000"/>
            <a:headEnd type="none" w="sm" len="sm"/>
            <a:tailEnd type="none" w="sm" len="sm"/>
          </a:ln>
        </p:spPr>
      </p:cxnSp>
      <p:cxnSp>
        <p:nvCxnSpPr>
          <p:cNvPr id="194" name="Google Shape;194;p3"/>
          <p:cNvCxnSpPr/>
          <p:nvPr/>
        </p:nvCxnSpPr>
        <p:spPr>
          <a:xfrm>
            <a:off x="6814039" y="2582741"/>
            <a:ext cx="1981200" cy="798290"/>
          </a:xfrm>
          <a:prstGeom prst="straightConnector1">
            <a:avLst/>
          </a:prstGeom>
          <a:noFill/>
          <a:ln w="19050" cap="flat" cmpd="sng">
            <a:solidFill>
              <a:schemeClr val="dk1"/>
            </a:solidFill>
            <a:prstDash val="solid"/>
            <a:miter lim="800000"/>
            <a:headEnd type="none" w="sm" len="sm"/>
            <a:tailEnd type="none" w="sm" len="sm"/>
          </a:ln>
        </p:spPr>
      </p:cxnSp>
      <p:cxnSp>
        <p:nvCxnSpPr>
          <p:cNvPr id="195" name="Google Shape;195;p3"/>
          <p:cNvCxnSpPr/>
          <p:nvPr/>
        </p:nvCxnSpPr>
        <p:spPr>
          <a:xfrm>
            <a:off x="6814039" y="3326263"/>
            <a:ext cx="1981200" cy="54768"/>
          </a:xfrm>
          <a:prstGeom prst="straightConnector1">
            <a:avLst/>
          </a:prstGeom>
          <a:noFill/>
          <a:ln w="19050" cap="flat" cmpd="sng">
            <a:solidFill>
              <a:schemeClr val="dk1"/>
            </a:solidFill>
            <a:prstDash val="solid"/>
            <a:miter lim="800000"/>
            <a:headEnd type="none" w="sm" len="sm"/>
            <a:tailEnd type="none" w="sm" len="sm"/>
          </a:ln>
        </p:spPr>
      </p:cxnSp>
      <p:sp>
        <p:nvSpPr>
          <p:cNvPr id="196" name="Google Shape;196;p3"/>
          <p:cNvSpPr/>
          <p:nvPr/>
        </p:nvSpPr>
        <p:spPr>
          <a:xfrm>
            <a:off x="6756888" y="3988652"/>
            <a:ext cx="123825" cy="108395"/>
          </a:xfrm>
          <a:prstGeom prst="flowChartConnector">
            <a:avLst/>
          </a:prstGeom>
          <a:solidFill>
            <a:schemeClr val="dk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7" name="Google Shape;197;p3"/>
          <p:cNvSpPr/>
          <p:nvPr/>
        </p:nvSpPr>
        <p:spPr>
          <a:xfrm>
            <a:off x="8699990" y="3323237"/>
            <a:ext cx="123825" cy="108395"/>
          </a:xfrm>
          <a:prstGeom prst="flowChartConnector">
            <a:avLst/>
          </a:prstGeom>
          <a:solidFill>
            <a:schemeClr val="dk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8" name="Google Shape;198;p3"/>
          <p:cNvSpPr/>
          <p:nvPr/>
        </p:nvSpPr>
        <p:spPr>
          <a:xfrm>
            <a:off x="6771176" y="2531818"/>
            <a:ext cx="123825" cy="108395"/>
          </a:xfrm>
          <a:prstGeom prst="flowChartConnector">
            <a:avLst/>
          </a:prstGeom>
          <a:solidFill>
            <a:schemeClr val="dk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9" name="Google Shape;199;p3"/>
          <p:cNvSpPr/>
          <p:nvPr/>
        </p:nvSpPr>
        <p:spPr>
          <a:xfrm>
            <a:off x="6766414" y="3255396"/>
            <a:ext cx="123825" cy="108395"/>
          </a:xfrm>
          <a:prstGeom prst="flowChartConnector">
            <a:avLst/>
          </a:prstGeom>
          <a:solidFill>
            <a:schemeClr val="dk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0" name="Google Shape;200;p3"/>
          <p:cNvSpPr txBox="1"/>
          <p:nvPr/>
        </p:nvSpPr>
        <p:spPr>
          <a:xfrm>
            <a:off x="6218727" y="3095614"/>
            <a:ext cx="33337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201" name="Google Shape;201;p3"/>
          <p:cNvSpPr txBox="1"/>
          <p:nvPr/>
        </p:nvSpPr>
        <p:spPr>
          <a:xfrm>
            <a:off x="6218727" y="3895881"/>
            <a:ext cx="37147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202" name="Google Shape;202;p3"/>
          <p:cNvSpPr txBox="1"/>
          <p:nvPr/>
        </p:nvSpPr>
        <p:spPr>
          <a:xfrm>
            <a:off x="6237777" y="2316374"/>
            <a:ext cx="35242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C</a:t>
            </a:r>
            <a:endParaRPr sz="1800">
              <a:solidFill>
                <a:schemeClr val="dk1"/>
              </a:solidFill>
              <a:latin typeface="Calibri"/>
              <a:ea typeface="Calibri"/>
              <a:cs typeface="Calibri"/>
              <a:sym typeface="Calibri"/>
            </a:endParaRPr>
          </a:p>
        </p:txBody>
      </p:sp>
      <p:sp>
        <p:nvSpPr>
          <p:cNvPr id="203" name="Google Shape;203;p3"/>
          <p:cNvSpPr txBox="1"/>
          <p:nvPr/>
        </p:nvSpPr>
        <p:spPr>
          <a:xfrm>
            <a:off x="8866677" y="3192768"/>
            <a:ext cx="3429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D</a:t>
            </a:r>
            <a:endParaRPr sz="1800">
              <a:solidFill>
                <a:schemeClr val="dk1"/>
              </a:solidFill>
              <a:latin typeface="Calibri"/>
              <a:ea typeface="Calibri"/>
              <a:cs typeface="Calibri"/>
              <a:sym typeface="Calibri"/>
            </a:endParaRPr>
          </a:p>
        </p:txBody>
      </p:sp>
      <p:sp>
        <p:nvSpPr>
          <p:cNvPr id="204" name="Google Shape;204;p3"/>
          <p:cNvSpPr/>
          <p:nvPr/>
        </p:nvSpPr>
        <p:spPr>
          <a:xfrm>
            <a:off x="6661639" y="2592266"/>
            <a:ext cx="152400" cy="733425"/>
          </a:xfrm>
          <a:custGeom>
            <a:avLst/>
            <a:gdLst/>
            <a:ahLst/>
            <a:cxnLst/>
            <a:rect l="l" t="t" r="r" b="b"/>
            <a:pathLst>
              <a:path w="152400" h="733425" extrusionOk="0">
                <a:moveTo>
                  <a:pt x="152400" y="0"/>
                </a:moveTo>
                <a:cubicBezTo>
                  <a:pt x="139700" y="15875"/>
                  <a:pt x="125075" y="30385"/>
                  <a:pt x="114300" y="47625"/>
                </a:cubicBezTo>
                <a:cubicBezTo>
                  <a:pt x="81437" y="100205"/>
                  <a:pt x="135610" y="55643"/>
                  <a:pt x="76200" y="95250"/>
                </a:cubicBezTo>
                <a:cubicBezTo>
                  <a:pt x="73025" y="104775"/>
                  <a:pt x="71165" y="114845"/>
                  <a:pt x="66675" y="123825"/>
                </a:cubicBezTo>
                <a:cubicBezTo>
                  <a:pt x="61555" y="134064"/>
                  <a:pt x="52134" y="141878"/>
                  <a:pt x="47625" y="152400"/>
                </a:cubicBezTo>
                <a:cubicBezTo>
                  <a:pt x="42468" y="164432"/>
                  <a:pt x="41862" y="177961"/>
                  <a:pt x="38100" y="190500"/>
                </a:cubicBezTo>
                <a:cubicBezTo>
                  <a:pt x="32330" y="209734"/>
                  <a:pt x="22988" y="227959"/>
                  <a:pt x="19050" y="247650"/>
                </a:cubicBezTo>
                <a:cubicBezTo>
                  <a:pt x="7556" y="305120"/>
                  <a:pt x="14645" y="279916"/>
                  <a:pt x="0" y="323850"/>
                </a:cubicBezTo>
                <a:cubicBezTo>
                  <a:pt x="7787" y="456224"/>
                  <a:pt x="-274" y="446444"/>
                  <a:pt x="19050" y="533400"/>
                </a:cubicBezTo>
                <a:cubicBezTo>
                  <a:pt x="21491" y="544387"/>
                  <a:pt x="31736" y="587347"/>
                  <a:pt x="38100" y="600075"/>
                </a:cubicBezTo>
                <a:cubicBezTo>
                  <a:pt x="43220" y="610314"/>
                  <a:pt x="52030" y="618411"/>
                  <a:pt x="57150" y="628650"/>
                </a:cubicBezTo>
                <a:cubicBezTo>
                  <a:pt x="61640" y="637630"/>
                  <a:pt x="62185" y="648245"/>
                  <a:pt x="66675" y="657225"/>
                </a:cubicBezTo>
                <a:cubicBezTo>
                  <a:pt x="71795" y="667464"/>
                  <a:pt x="80605" y="675561"/>
                  <a:pt x="85725" y="685800"/>
                </a:cubicBezTo>
                <a:cubicBezTo>
                  <a:pt x="90215" y="694780"/>
                  <a:pt x="88978" y="706535"/>
                  <a:pt x="95250" y="714375"/>
                </a:cubicBezTo>
                <a:cubicBezTo>
                  <a:pt x="102401" y="723314"/>
                  <a:pt x="114300" y="727075"/>
                  <a:pt x="123825" y="733425"/>
                </a:cubicBezTo>
                <a:cubicBezTo>
                  <a:pt x="134354" y="701838"/>
                  <a:pt x="133350" y="714890"/>
                  <a:pt x="133350" y="695325"/>
                </a:cubicBezTo>
              </a:path>
            </a:pathLst>
          </a:custGeom>
          <a:no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5" name="Google Shape;205;p3"/>
          <p:cNvSpPr/>
          <p:nvPr/>
        </p:nvSpPr>
        <p:spPr>
          <a:xfrm>
            <a:off x="6661639" y="2601791"/>
            <a:ext cx="352742" cy="1476375"/>
          </a:xfrm>
          <a:custGeom>
            <a:avLst/>
            <a:gdLst/>
            <a:ahLst/>
            <a:cxnLst/>
            <a:rect l="l" t="t" r="r" b="b"/>
            <a:pathLst>
              <a:path w="352742" h="1476375" extrusionOk="0">
                <a:moveTo>
                  <a:pt x="190500" y="0"/>
                </a:moveTo>
                <a:cubicBezTo>
                  <a:pt x="231775" y="53975"/>
                  <a:pt x="277207" y="105011"/>
                  <a:pt x="314325" y="161925"/>
                </a:cubicBezTo>
                <a:cubicBezTo>
                  <a:pt x="325294" y="178745"/>
                  <a:pt x="333375" y="219075"/>
                  <a:pt x="333375" y="219075"/>
                </a:cubicBezTo>
                <a:cubicBezTo>
                  <a:pt x="336550" y="260350"/>
                  <a:pt x="337765" y="301823"/>
                  <a:pt x="342900" y="342900"/>
                </a:cubicBezTo>
                <a:cubicBezTo>
                  <a:pt x="344145" y="352863"/>
                  <a:pt x="352425" y="361435"/>
                  <a:pt x="352425" y="371475"/>
                </a:cubicBezTo>
                <a:cubicBezTo>
                  <a:pt x="352425" y="441397"/>
                  <a:pt x="348263" y="511309"/>
                  <a:pt x="342900" y="581025"/>
                </a:cubicBezTo>
                <a:cubicBezTo>
                  <a:pt x="341896" y="594077"/>
                  <a:pt x="341995" y="609273"/>
                  <a:pt x="333375" y="619125"/>
                </a:cubicBezTo>
                <a:cubicBezTo>
                  <a:pt x="318298" y="636355"/>
                  <a:pt x="292414" y="641036"/>
                  <a:pt x="276225" y="657225"/>
                </a:cubicBezTo>
                <a:lnTo>
                  <a:pt x="247650" y="685800"/>
                </a:lnTo>
                <a:cubicBezTo>
                  <a:pt x="240856" y="706183"/>
                  <a:pt x="236453" y="727744"/>
                  <a:pt x="219075" y="742950"/>
                </a:cubicBezTo>
                <a:cubicBezTo>
                  <a:pt x="145367" y="807445"/>
                  <a:pt x="181262" y="753728"/>
                  <a:pt x="133350" y="809625"/>
                </a:cubicBezTo>
                <a:cubicBezTo>
                  <a:pt x="121494" y="823456"/>
                  <a:pt x="69656" y="895933"/>
                  <a:pt x="66675" y="904875"/>
                </a:cubicBezTo>
                <a:cubicBezTo>
                  <a:pt x="52890" y="946229"/>
                  <a:pt x="64250" y="926350"/>
                  <a:pt x="28575" y="962025"/>
                </a:cubicBezTo>
                <a:cubicBezTo>
                  <a:pt x="25400" y="974725"/>
                  <a:pt x="22812" y="987586"/>
                  <a:pt x="19050" y="1000125"/>
                </a:cubicBezTo>
                <a:cubicBezTo>
                  <a:pt x="13280" y="1019359"/>
                  <a:pt x="0" y="1057275"/>
                  <a:pt x="0" y="1057275"/>
                </a:cubicBezTo>
                <a:cubicBezTo>
                  <a:pt x="3623" y="1075389"/>
                  <a:pt x="9287" y="1113949"/>
                  <a:pt x="19050" y="1133475"/>
                </a:cubicBezTo>
                <a:cubicBezTo>
                  <a:pt x="55979" y="1207333"/>
                  <a:pt x="23684" y="1118801"/>
                  <a:pt x="47625" y="1190625"/>
                </a:cubicBezTo>
                <a:cubicBezTo>
                  <a:pt x="50800" y="1222375"/>
                  <a:pt x="52298" y="1254338"/>
                  <a:pt x="57150" y="1285875"/>
                </a:cubicBezTo>
                <a:cubicBezTo>
                  <a:pt x="58677" y="1295798"/>
                  <a:pt x="63917" y="1304796"/>
                  <a:pt x="66675" y="1314450"/>
                </a:cubicBezTo>
                <a:cubicBezTo>
                  <a:pt x="70271" y="1327037"/>
                  <a:pt x="72438" y="1340011"/>
                  <a:pt x="76200" y="1352550"/>
                </a:cubicBezTo>
                <a:cubicBezTo>
                  <a:pt x="81970" y="1371784"/>
                  <a:pt x="88900" y="1390650"/>
                  <a:pt x="95250" y="1409700"/>
                </a:cubicBezTo>
                <a:cubicBezTo>
                  <a:pt x="105236" y="1439658"/>
                  <a:pt x="102772" y="1446465"/>
                  <a:pt x="133350" y="1466850"/>
                </a:cubicBezTo>
                <a:cubicBezTo>
                  <a:pt x="141704" y="1472419"/>
                  <a:pt x="152400" y="1473200"/>
                  <a:pt x="161925" y="1476375"/>
                </a:cubicBezTo>
                <a:cubicBezTo>
                  <a:pt x="249231" y="1454549"/>
                  <a:pt x="216340" y="1471848"/>
                  <a:pt x="266700" y="1438275"/>
                </a:cubicBezTo>
                <a:cubicBezTo>
                  <a:pt x="273050" y="1425575"/>
                  <a:pt x="280477" y="1413358"/>
                  <a:pt x="285750" y="1400175"/>
                </a:cubicBezTo>
                <a:lnTo>
                  <a:pt x="314325" y="1314450"/>
                </a:lnTo>
                <a:lnTo>
                  <a:pt x="323850" y="1285875"/>
                </a:lnTo>
                <a:lnTo>
                  <a:pt x="333375" y="1257300"/>
                </a:lnTo>
                <a:cubicBezTo>
                  <a:pt x="336550" y="1222375"/>
                  <a:pt x="337940" y="1187242"/>
                  <a:pt x="342900" y="1152525"/>
                </a:cubicBezTo>
                <a:cubicBezTo>
                  <a:pt x="344320" y="1142586"/>
                  <a:pt x="352425" y="1133990"/>
                  <a:pt x="352425" y="1123950"/>
                </a:cubicBezTo>
                <a:cubicBezTo>
                  <a:pt x="352425" y="1047684"/>
                  <a:pt x="355438" y="970578"/>
                  <a:pt x="342900" y="895350"/>
                </a:cubicBezTo>
                <a:cubicBezTo>
                  <a:pt x="336217" y="855254"/>
                  <a:pt x="298109" y="837761"/>
                  <a:pt x="276225" y="809625"/>
                </a:cubicBezTo>
                <a:cubicBezTo>
                  <a:pt x="262169" y="791553"/>
                  <a:pt x="250825" y="771525"/>
                  <a:pt x="238125" y="752475"/>
                </a:cubicBezTo>
                <a:cubicBezTo>
                  <a:pt x="219075" y="723900"/>
                  <a:pt x="222250" y="720725"/>
                  <a:pt x="190500" y="704850"/>
                </a:cubicBezTo>
                <a:cubicBezTo>
                  <a:pt x="187660" y="703430"/>
                  <a:pt x="184150" y="704850"/>
                  <a:pt x="180975" y="704850"/>
                </a:cubicBezTo>
              </a:path>
            </a:pathLst>
          </a:custGeom>
          <a:no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6" name="Google Shape;206;p3"/>
          <p:cNvSpPr txBox="1"/>
          <p:nvPr/>
        </p:nvSpPr>
        <p:spPr>
          <a:xfrm>
            <a:off x="-42862" y="4323057"/>
            <a:ext cx="12211051"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400">
                <a:solidFill>
                  <a:schemeClr val="dk1"/>
                </a:solidFill>
                <a:latin typeface="Calibri"/>
                <a:ea typeface="Calibri"/>
                <a:cs typeface="Calibri"/>
                <a:sym typeface="Calibri"/>
              </a:rPr>
              <a:t>Euler đã có một mô hình đơn giản nhất của bài toán 7 cây cầu, cách biểu diễn bằng các điểm và đoạn thẳng (hay cung). Euler đã giải bài toán bằng cách sử dụng bậc của các nút (bậc chính là số cạnh nối với nó). Cụ thể hơn, ở bài toán 7 cây cầu có 3 nút có bậc bằng 3 và một nút có bậc là 5.</a:t>
            </a:r>
            <a:endParaRPr/>
          </a:p>
          <a:p>
            <a:pPr marL="0" marR="0" lvl="0" indent="0" algn="l" rtl="0">
              <a:spcBef>
                <a:spcPts val="0"/>
              </a:spcBef>
              <a:spcAft>
                <a:spcPts val="0"/>
              </a:spcAft>
              <a:buNone/>
            </a:pPr>
            <a:r>
              <a:rPr lang="vi-VN" sz="2400">
                <a:solidFill>
                  <a:schemeClr val="dk1"/>
                </a:solidFill>
                <a:latin typeface="Calibri"/>
                <a:ea typeface="Calibri"/>
                <a:cs typeface="Calibri"/>
                <a:sym typeface="Calibri"/>
              </a:rPr>
              <a:t>Tuy nhiên, Euler lại chứng minh bài toán chỉ có thể giải được khi không có nút bậc lẻ, mà đồ thị bài toán trên lại có tới 4 nút bậc lẻ hay nói cách khác bài toán vô nghiệm.</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 name="PAGE NUM 0">
            <a:extLst>
              <a:ext uri="{FF2B5EF4-FFF2-40B4-BE49-F238E27FC236}">
                <a16:creationId xmlns:a16="http://schemas.microsoft.com/office/drawing/2014/main" id="{8D0C8E68-14B6-4359-950F-2455E1F0E328}"/>
              </a:ext>
            </a:extLst>
          </p:cNvPr>
          <p:cNvSpPr txBox="1"/>
          <p:nvPr/>
        </p:nvSpPr>
        <p:spPr>
          <a:xfrm>
            <a:off x="11599908" y="-5105"/>
            <a:ext cx="468851" cy="369332"/>
          </a:xfrm>
          <a:prstGeom prst="rect">
            <a:avLst/>
          </a:prstGeom>
          <a:noFill/>
          <a:ln>
            <a:noFill/>
          </a:ln>
        </p:spPr>
        <p:txBody>
          <a:bodyPr wrap="square" rtlCol="0">
            <a:spAutoFit/>
          </a:bodyPr>
          <a:lstStyle/>
          <a:p>
            <a:pPr algn="r"/>
            <a:r>
              <a:rPr lang="en-US" strike="sngStrike" dirty="0">
                <a:solidFill>
                  <a:srgbClr val="C00000"/>
                </a:solidFill>
                <a:latin typeface="JetBrains Mono Light" panose="02000009000000000000" pitchFamily="49" charset="0"/>
                <a:cs typeface="JetBrains Mono Light" panose="02000009000000000000" pitchFamily="49" charset="0"/>
              </a:rPr>
              <a:t>2</a:t>
            </a:r>
          </a:p>
        </p:txBody>
      </p:sp>
      <p:sp>
        <p:nvSpPr>
          <p:cNvPr id="20" name="PAGE NUM 1">
            <a:extLst>
              <a:ext uri="{FF2B5EF4-FFF2-40B4-BE49-F238E27FC236}">
                <a16:creationId xmlns:a16="http://schemas.microsoft.com/office/drawing/2014/main" id="{2D7A6992-7565-4A36-80EC-79B42A6C56AE}"/>
              </a:ext>
            </a:extLst>
          </p:cNvPr>
          <p:cNvSpPr txBox="1"/>
          <p:nvPr/>
        </p:nvSpPr>
        <p:spPr>
          <a:xfrm>
            <a:off x="11883838" y="-11114"/>
            <a:ext cx="914400" cy="369332"/>
          </a:xfrm>
          <a:prstGeom prst="rect">
            <a:avLst/>
          </a:prstGeom>
          <a:noFill/>
        </p:spPr>
        <p:txBody>
          <a:bodyPr wrap="square" rtlCol="0">
            <a:spAutoFit/>
          </a:bodyPr>
          <a:lstStyle/>
          <a:p>
            <a:r>
              <a:rPr lang="en-US" strike="sngStrike" dirty="0">
                <a:solidFill>
                  <a:srgbClr val="C00000"/>
                </a:solidFill>
                <a:latin typeface="JetBrains Mono Light" panose="02000009000000000000" pitchFamily="49" charset="0"/>
                <a:cs typeface="JetBrains Mono Light" panose="02000009000000000000" pitchFamily="49" charset="0"/>
              </a:rPr>
              <a:t>7</a:t>
            </a:r>
            <a:endParaRPr lang="en-US" strike="sngStrike" dirty="0">
              <a:solidFill>
                <a:srgbClr val="C00000"/>
              </a:solidFill>
            </a:endParaRPr>
          </a:p>
        </p:txBody>
      </p:sp>
    </p:spTree>
    <p:extLst>
      <p:ext uri="{BB962C8B-B14F-4D97-AF65-F5344CB8AC3E}">
        <p14:creationId xmlns:p14="http://schemas.microsoft.com/office/powerpoint/2010/main" val="4460512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0"/>
                                        </p:tgtEl>
                                        <p:attrNameLst>
                                          <p:attrName>style.visibility</p:attrName>
                                        </p:attrNameLst>
                                      </p:cBhvr>
                                      <p:to>
                                        <p:strVal val="visible"/>
                                      </p:to>
                                    </p:set>
                                    <p:animEffect transition="in" filter="fade">
                                      <p:cBhvr>
                                        <p:cTn id="7" dur="500"/>
                                        <p:tgtEl>
                                          <p:spTgt spid="1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200"/>
                                  </p:stCondLst>
                                  <p:childTnLst>
                                    <p:set>
                                      <p:cBhvr>
                                        <p:cTn id="11" dur="1" fill="hold">
                                          <p:stCondLst>
                                            <p:cond delay="0"/>
                                          </p:stCondLst>
                                        </p:cTn>
                                        <p:tgtEl>
                                          <p:spTgt spid="191">
                                            <p:txEl>
                                              <p:pRg st="0" end="0"/>
                                            </p:txEl>
                                          </p:spTgt>
                                        </p:tgtEl>
                                        <p:attrNameLst>
                                          <p:attrName>style.visibility</p:attrName>
                                        </p:attrNameLst>
                                      </p:cBhvr>
                                      <p:to>
                                        <p:strVal val="visible"/>
                                      </p:to>
                                    </p:set>
                                    <p:animEffect transition="in" filter="fade">
                                      <p:cBhvr>
                                        <p:cTn id="12" dur="500"/>
                                        <p:tgtEl>
                                          <p:spTgt spid="19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2"/>
                                        </p:tgtEl>
                                        <p:attrNameLst>
                                          <p:attrName>style.visibility</p:attrName>
                                        </p:attrNameLst>
                                      </p:cBhvr>
                                      <p:to>
                                        <p:strVal val="visible"/>
                                      </p:to>
                                    </p:set>
                                    <p:animEffect transition="in" filter="fade">
                                      <p:cBhvr>
                                        <p:cTn id="17" dur="500"/>
                                        <p:tgtEl>
                                          <p:spTgt spid="19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3"/>
                                        </p:tgtEl>
                                        <p:attrNameLst>
                                          <p:attrName>style.visibility</p:attrName>
                                        </p:attrNameLst>
                                      </p:cBhvr>
                                      <p:to>
                                        <p:strVal val="visible"/>
                                      </p:to>
                                    </p:set>
                                    <p:animEffect transition="in" filter="fade">
                                      <p:cBhvr>
                                        <p:cTn id="22" dur="500"/>
                                        <p:tgtEl>
                                          <p:spTgt spid="193"/>
                                        </p:tgtEl>
                                      </p:cBhvr>
                                    </p:animEffect>
                                  </p:childTnLst>
                                </p:cTn>
                              </p:par>
                              <p:par>
                                <p:cTn id="23" presetID="10" presetClass="entr" presetSubtype="0" fill="hold" nodeType="withEffect">
                                  <p:stCondLst>
                                    <p:cond delay="0"/>
                                  </p:stCondLst>
                                  <p:childTnLst>
                                    <p:set>
                                      <p:cBhvr>
                                        <p:cTn id="24" dur="1" fill="hold">
                                          <p:stCondLst>
                                            <p:cond delay="0"/>
                                          </p:stCondLst>
                                        </p:cTn>
                                        <p:tgtEl>
                                          <p:spTgt spid="194"/>
                                        </p:tgtEl>
                                        <p:attrNameLst>
                                          <p:attrName>style.visibility</p:attrName>
                                        </p:attrNameLst>
                                      </p:cBhvr>
                                      <p:to>
                                        <p:strVal val="visible"/>
                                      </p:to>
                                    </p:set>
                                    <p:animEffect transition="in" filter="fade">
                                      <p:cBhvr>
                                        <p:cTn id="25" dur="500"/>
                                        <p:tgtEl>
                                          <p:spTgt spid="194"/>
                                        </p:tgtEl>
                                      </p:cBhvr>
                                    </p:animEffect>
                                  </p:childTnLst>
                                </p:cTn>
                              </p:par>
                              <p:par>
                                <p:cTn id="26" presetID="10" presetClass="entr" presetSubtype="0" fill="hold" nodeType="withEffect">
                                  <p:stCondLst>
                                    <p:cond delay="0"/>
                                  </p:stCondLst>
                                  <p:childTnLst>
                                    <p:set>
                                      <p:cBhvr>
                                        <p:cTn id="27" dur="1" fill="hold">
                                          <p:stCondLst>
                                            <p:cond delay="0"/>
                                          </p:stCondLst>
                                        </p:cTn>
                                        <p:tgtEl>
                                          <p:spTgt spid="195"/>
                                        </p:tgtEl>
                                        <p:attrNameLst>
                                          <p:attrName>style.visibility</p:attrName>
                                        </p:attrNameLst>
                                      </p:cBhvr>
                                      <p:to>
                                        <p:strVal val="visible"/>
                                      </p:to>
                                    </p:set>
                                    <p:animEffect transition="in" filter="fade">
                                      <p:cBhvr>
                                        <p:cTn id="28" dur="500"/>
                                        <p:tgtEl>
                                          <p:spTgt spid="195"/>
                                        </p:tgtEl>
                                      </p:cBhvr>
                                    </p:animEffect>
                                  </p:childTnLst>
                                </p:cTn>
                              </p:par>
                              <p:par>
                                <p:cTn id="29" presetID="10" presetClass="entr" presetSubtype="0" fill="hold" nodeType="withEffect">
                                  <p:stCondLst>
                                    <p:cond delay="0"/>
                                  </p:stCondLst>
                                  <p:childTnLst>
                                    <p:set>
                                      <p:cBhvr>
                                        <p:cTn id="30" dur="1" fill="hold">
                                          <p:stCondLst>
                                            <p:cond delay="0"/>
                                          </p:stCondLst>
                                        </p:cTn>
                                        <p:tgtEl>
                                          <p:spTgt spid="196"/>
                                        </p:tgtEl>
                                        <p:attrNameLst>
                                          <p:attrName>style.visibility</p:attrName>
                                        </p:attrNameLst>
                                      </p:cBhvr>
                                      <p:to>
                                        <p:strVal val="visible"/>
                                      </p:to>
                                    </p:set>
                                    <p:animEffect transition="in" filter="fade">
                                      <p:cBhvr>
                                        <p:cTn id="31" dur="500"/>
                                        <p:tgtEl>
                                          <p:spTgt spid="196"/>
                                        </p:tgtEl>
                                      </p:cBhvr>
                                    </p:animEffect>
                                  </p:childTnLst>
                                </p:cTn>
                              </p:par>
                              <p:par>
                                <p:cTn id="32" presetID="10" presetClass="entr" presetSubtype="0" fill="hold" nodeType="withEffect">
                                  <p:stCondLst>
                                    <p:cond delay="0"/>
                                  </p:stCondLst>
                                  <p:childTnLst>
                                    <p:set>
                                      <p:cBhvr>
                                        <p:cTn id="33" dur="1" fill="hold">
                                          <p:stCondLst>
                                            <p:cond delay="0"/>
                                          </p:stCondLst>
                                        </p:cTn>
                                        <p:tgtEl>
                                          <p:spTgt spid="197"/>
                                        </p:tgtEl>
                                        <p:attrNameLst>
                                          <p:attrName>style.visibility</p:attrName>
                                        </p:attrNameLst>
                                      </p:cBhvr>
                                      <p:to>
                                        <p:strVal val="visible"/>
                                      </p:to>
                                    </p:set>
                                    <p:animEffect transition="in" filter="fade">
                                      <p:cBhvr>
                                        <p:cTn id="34" dur="500"/>
                                        <p:tgtEl>
                                          <p:spTgt spid="197"/>
                                        </p:tgtEl>
                                      </p:cBhvr>
                                    </p:animEffect>
                                  </p:childTnLst>
                                </p:cTn>
                              </p:par>
                              <p:par>
                                <p:cTn id="35" presetID="10" presetClass="entr" presetSubtype="0" fill="hold" nodeType="withEffect">
                                  <p:stCondLst>
                                    <p:cond delay="0"/>
                                  </p:stCondLst>
                                  <p:childTnLst>
                                    <p:set>
                                      <p:cBhvr>
                                        <p:cTn id="36" dur="1" fill="hold">
                                          <p:stCondLst>
                                            <p:cond delay="0"/>
                                          </p:stCondLst>
                                        </p:cTn>
                                        <p:tgtEl>
                                          <p:spTgt spid="198"/>
                                        </p:tgtEl>
                                        <p:attrNameLst>
                                          <p:attrName>style.visibility</p:attrName>
                                        </p:attrNameLst>
                                      </p:cBhvr>
                                      <p:to>
                                        <p:strVal val="visible"/>
                                      </p:to>
                                    </p:set>
                                    <p:animEffect transition="in" filter="fade">
                                      <p:cBhvr>
                                        <p:cTn id="37" dur="500"/>
                                        <p:tgtEl>
                                          <p:spTgt spid="198"/>
                                        </p:tgtEl>
                                      </p:cBhvr>
                                    </p:animEffect>
                                  </p:childTnLst>
                                </p:cTn>
                              </p:par>
                              <p:par>
                                <p:cTn id="38" presetID="10" presetClass="entr" presetSubtype="0" fill="hold" nodeType="withEffect">
                                  <p:stCondLst>
                                    <p:cond delay="0"/>
                                  </p:stCondLst>
                                  <p:childTnLst>
                                    <p:set>
                                      <p:cBhvr>
                                        <p:cTn id="39" dur="1" fill="hold">
                                          <p:stCondLst>
                                            <p:cond delay="0"/>
                                          </p:stCondLst>
                                        </p:cTn>
                                        <p:tgtEl>
                                          <p:spTgt spid="199"/>
                                        </p:tgtEl>
                                        <p:attrNameLst>
                                          <p:attrName>style.visibility</p:attrName>
                                        </p:attrNameLst>
                                      </p:cBhvr>
                                      <p:to>
                                        <p:strVal val="visible"/>
                                      </p:to>
                                    </p:set>
                                    <p:animEffect transition="in" filter="fade">
                                      <p:cBhvr>
                                        <p:cTn id="40" dur="500"/>
                                        <p:tgtEl>
                                          <p:spTgt spid="199"/>
                                        </p:tgtEl>
                                      </p:cBhvr>
                                    </p:animEffect>
                                  </p:childTnLst>
                                </p:cTn>
                              </p:par>
                              <p:par>
                                <p:cTn id="41" presetID="10" presetClass="entr" presetSubtype="0" fill="hold" nodeType="withEffect">
                                  <p:stCondLst>
                                    <p:cond delay="0"/>
                                  </p:stCondLst>
                                  <p:childTnLst>
                                    <p:set>
                                      <p:cBhvr>
                                        <p:cTn id="42" dur="1" fill="hold">
                                          <p:stCondLst>
                                            <p:cond delay="0"/>
                                          </p:stCondLst>
                                        </p:cTn>
                                        <p:tgtEl>
                                          <p:spTgt spid="200"/>
                                        </p:tgtEl>
                                        <p:attrNameLst>
                                          <p:attrName>style.visibility</p:attrName>
                                        </p:attrNameLst>
                                      </p:cBhvr>
                                      <p:to>
                                        <p:strVal val="visible"/>
                                      </p:to>
                                    </p:set>
                                    <p:animEffect transition="in" filter="fade">
                                      <p:cBhvr>
                                        <p:cTn id="43" dur="500"/>
                                        <p:tgtEl>
                                          <p:spTgt spid="200"/>
                                        </p:tgtEl>
                                      </p:cBhvr>
                                    </p:animEffect>
                                  </p:childTnLst>
                                </p:cTn>
                              </p:par>
                              <p:par>
                                <p:cTn id="44" presetID="10" presetClass="entr" presetSubtype="0" fill="hold" nodeType="withEffect">
                                  <p:stCondLst>
                                    <p:cond delay="0"/>
                                  </p:stCondLst>
                                  <p:childTnLst>
                                    <p:set>
                                      <p:cBhvr>
                                        <p:cTn id="45" dur="1" fill="hold">
                                          <p:stCondLst>
                                            <p:cond delay="0"/>
                                          </p:stCondLst>
                                        </p:cTn>
                                        <p:tgtEl>
                                          <p:spTgt spid="201"/>
                                        </p:tgtEl>
                                        <p:attrNameLst>
                                          <p:attrName>style.visibility</p:attrName>
                                        </p:attrNameLst>
                                      </p:cBhvr>
                                      <p:to>
                                        <p:strVal val="visible"/>
                                      </p:to>
                                    </p:set>
                                    <p:animEffect transition="in" filter="fade">
                                      <p:cBhvr>
                                        <p:cTn id="46" dur="500"/>
                                        <p:tgtEl>
                                          <p:spTgt spid="201"/>
                                        </p:tgtEl>
                                      </p:cBhvr>
                                    </p:animEffect>
                                  </p:childTnLst>
                                </p:cTn>
                              </p:par>
                              <p:par>
                                <p:cTn id="47" presetID="10" presetClass="entr" presetSubtype="0" fill="hold" nodeType="withEffect">
                                  <p:stCondLst>
                                    <p:cond delay="0"/>
                                  </p:stCondLst>
                                  <p:childTnLst>
                                    <p:set>
                                      <p:cBhvr>
                                        <p:cTn id="48" dur="1" fill="hold">
                                          <p:stCondLst>
                                            <p:cond delay="0"/>
                                          </p:stCondLst>
                                        </p:cTn>
                                        <p:tgtEl>
                                          <p:spTgt spid="202"/>
                                        </p:tgtEl>
                                        <p:attrNameLst>
                                          <p:attrName>style.visibility</p:attrName>
                                        </p:attrNameLst>
                                      </p:cBhvr>
                                      <p:to>
                                        <p:strVal val="visible"/>
                                      </p:to>
                                    </p:set>
                                    <p:animEffect transition="in" filter="fade">
                                      <p:cBhvr>
                                        <p:cTn id="49" dur="500"/>
                                        <p:tgtEl>
                                          <p:spTgt spid="202"/>
                                        </p:tgtEl>
                                      </p:cBhvr>
                                    </p:animEffect>
                                  </p:childTnLst>
                                </p:cTn>
                              </p:par>
                              <p:par>
                                <p:cTn id="50" presetID="10" presetClass="entr" presetSubtype="0" fill="hold" nodeType="withEffect">
                                  <p:stCondLst>
                                    <p:cond delay="0"/>
                                  </p:stCondLst>
                                  <p:childTnLst>
                                    <p:set>
                                      <p:cBhvr>
                                        <p:cTn id="51" dur="1" fill="hold">
                                          <p:stCondLst>
                                            <p:cond delay="0"/>
                                          </p:stCondLst>
                                        </p:cTn>
                                        <p:tgtEl>
                                          <p:spTgt spid="203"/>
                                        </p:tgtEl>
                                        <p:attrNameLst>
                                          <p:attrName>style.visibility</p:attrName>
                                        </p:attrNameLst>
                                      </p:cBhvr>
                                      <p:to>
                                        <p:strVal val="visible"/>
                                      </p:to>
                                    </p:set>
                                    <p:animEffect transition="in" filter="fade">
                                      <p:cBhvr>
                                        <p:cTn id="52" dur="500"/>
                                        <p:tgtEl>
                                          <p:spTgt spid="203"/>
                                        </p:tgtEl>
                                      </p:cBhvr>
                                    </p:animEffect>
                                  </p:childTnLst>
                                </p:cTn>
                              </p:par>
                              <p:par>
                                <p:cTn id="53" presetID="10" presetClass="entr" presetSubtype="0" fill="hold" nodeType="withEffect">
                                  <p:stCondLst>
                                    <p:cond delay="0"/>
                                  </p:stCondLst>
                                  <p:childTnLst>
                                    <p:set>
                                      <p:cBhvr>
                                        <p:cTn id="54" dur="1" fill="hold">
                                          <p:stCondLst>
                                            <p:cond delay="0"/>
                                          </p:stCondLst>
                                        </p:cTn>
                                        <p:tgtEl>
                                          <p:spTgt spid="204"/>
                                        </p:tgtEl>
                                        <p:attrNameLst>
                                          <p:attrName>style.visibility</p:attrName>
                                        </p:attrNameLst>
                                      </p:cBhvr>
                                      <p:to>
                                        <p:strVal val="visible"/>
                                      </p:to>
                                    </p:set>
                                    <p:animEffect transition="in" filter="fade">
                                      <p:cBhvr>
                                        <p:cTn id="55" dur="500"/>
                                        <p:tgtEl>
                                          <p:spTgt spid="204"/>
                                        </p:tgtEl>
                                      </p:cBhvr>
                                    </p:animEffect>
                                  </p:childTnLst>
                                </p:cTn>
                              </p:par>
                              <p:par>
                                <p:cTn id="56" presetID="10" presetClass="entr" presetSubtype="0" fill="hold" nodeType="withEffect">
                                  <p:stCondLst>
                                    <p:cond delay="0"/>
                                  </p:stCondLst>
                                  <p:childTnLst>
                                    <p:set>
                                      <p:cBhvr>
                                        <p:cTn id="57" dur="1" fill="hold">
                                          <p:stCondLst>
                                            <p:cond delay="0"/>
                                          </p:stCondLst>
                                        </p:cTn>
                                        <p:tgtEl>
                                          <p:spTgt spid="205"/>
                                        </p:tgtEl>
                                        <p:attrNameLst>
                                          <p:attrName>style.visibility</p:attrName>
                                        </p:attrNameLst>
                                      </p:cBhvr>
                                      <p:to>
                                        <p:strVal val="visible"/>
                                      </p:to>
                                    </p:set>
                                    <p:animEffect transition="in" filter="fade">
                                      <p:cBhvr>
                                        <p:cTn id="58" dur="500"/>
                                        <p:tgtEl>
                                          <p:spTgt spid="20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06">
                                            <p:txEl>
                                              <p:pRg st="0" end="0"/>
                                            </p:txEl>
                                          </p:spTgt>
                                        </p:tgtEl>
                                        <p:attrNameLst>
                                          <p:attrName>style.visibility</p:attrName>
                                        </p:attrNameLst>
                                      </p:cBhvr>
                                      <p:to>
                                        <p:strVal val="visible"/>
                                      </p:to>
                                    </p:set>
                                    <p:animEffect transition="in" filter="fade">
                                      <p:cBhvr>
                                        <p:cTn id="63" dur="500"/>
                                        <p:tgtEl>
                                          <p:spTgt spid="206">
                                            <p:txEl>
                                              <p:pRg st="0" end="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206">
                                            <p:txEl>
                                              <p:pRg st="1" end="1"/>
                                            </p:txEl>
                                          </p:spTgt>
                                        </p:tgtEl>
                                        <p:attrNameLst>
                                          <p:attrName>style.visibility</p:attrName>
                                        </p:attrNameLst>
                                      </p:cBhvr>
                                      <p:to>
                                        <p:strVal val="visible"/>
                                      </p:to>
                                    </p:set>
                                    <p:animEffect transition="in" filter="fade">
                                      <p:cBhvr>
                                        <p:cTn id="68" dur="500"/>
                                        <p:tgtEl>
                                          <p:spTgt spid="206">
                                            <p:txEl>
                                              <p:pRg st="1" end="1"/>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06">
                                            <p:txEl>
                                              <p:pRg st="2" end="2"/>
                                            </p:txEl>
                                          </p:spTgt>
                                        </p:tgtEl>
                                        <p:attrNameLst>
                                          <p:attrName>style.visibility</p:attrName>
                                        </p:attrNameLst>
                                      </p:cBhvr>
                                      <p:to>
                                        <p:strVal val="visible"/>
                                      </p:to>
                                    </p:set>
                                    <p:animEffect transition="in" filter="fade">
                                      <p:cBhvr>
                                        <p:cTn id="73" dur="500"/>
                                        <p:tgtEl>
                                          <p:spTgt spid="20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rgbClr val="F6F9FC"/>
            </a:gs>
            <a:gs pos="74000">
              <a:srgbClr val="B3D1EC"/>
            </a:gs>
            <a:gs pos="83000">
              <a:srgbClr val="B3D1EC"/>
            </a:gs>
            <a:gs pos="100000">
              <a:srgbClr val="CCE0F2"/>
            </a:gs>
          </a:gsLst>
          <a:lin ang="5400000" scaled="0"/>
        </a:gradFill>
        <a:effectLst/>
      </p:bgPr>
    </p:bg>
    <p:spTree>
      <p:nvGrpSpPr>
        <p:cNvPr id="1" name="Shape 210"/>
        <p:cNvGrpSpPr/>
        <p:nvPr/>
      </p:nvGrpSpPr>
      <p:grpSpPr>
        <a:xfrm>
          <a:off x="0" y="0"/>
          <a:ext cx="0" cy="0"/>
          <a:chOff x="0" y="0"/>
          <a:chExt cx="0" cy="0"/>
        </a:xfrm>
      </p:grpSpPr>
      <p:sp>
        <p:nvSpPr>
          <p:cNvPr id="211" name="Google Shape;211;p4"/>
          <p:cNvSpPr txBox="1">
            <a:spLocks noGrp="1"/>
          </p:cNvSpPr>
          <p:nvPr>
            <p:ph type="body" idx="1"/>
          </p:nvPr>
        </p:nvSpPr>
        <p:spPr>
          <a:xfrm>
            <a:off x="1" y="95250"/>
            <a:ext cx="9404836" cy="6858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FF0000"/>
              </a:buClr>
              <a:buSzPts val="2400"/>
              <a:buNone/>
            </a:pPr>
            <a:r>
              <a:rPr lang="vi-VN" sz="2400" b="1" i="1" u="sng">
                <a:solidFill>
                  <a:srgbClr val="FF0000"/>
                </a:solidFill>
              </a:rPr>
              <a:t>2 Khái niệm</a:t>
            </a:r>
            <a:r>
              <a:rPr lang="vi-VN" sz="2400"/>
              <a:t>:</a:t>
            </a:r>
            <a:endParaRPr/>
          </a:p>
          <a:p>
            <a:pPr marL="228600" lvl="0" indent="-228600" algn="l" rtl="0">
              <a:lnSpc>
                <a:spcPct val="90000"/>
              </a:lnSpc>
              <a:spcBef>
                <a:spcPts val="1000"/>
              </a:spcBef>
              <a:spcAft>
                <a:spcPts val="0"/>
              </a:spcAft>
              <a:buClr>
                <a:schemeClr val="dk1"/>
              </a:buClr>
              <a:buSzPts val="2400"/>
              <a:buFont typeface="Calibri"/>
              <a:buChar char="-"/>
            </a:pPr>
            <a:r>
              <a:rPr lang="vi-VN" sz="2400"/>
              <a:t>Đường đi Euler: trong đồ thị vô hướng là đường đi của đồ thị qua mỗi cạnh của đồ thị đúng 1 lần(nếu đồ thị có hướng thì đường đi phải tôn trọng hướng của cạnh )</a:t>
            </a:r>
            <a:endParaRPr sz="2400"/>
          </a:p>
          <a:p>
            <a:pPr marL="228600" lvl="0" indent="-228600" algn="l" rtl="0">
              <a:lnSpc>
                <a:spcPct val="90000"/>
              </a:lnSpc>
              <a:spcBef>
                <a:spcPts val="1000"/>
              </a:spcBef>
              <a:spcAft>
                <a:spcPts val="0"/>
              </a:spcAft>
              <a:buClr>
                <a:schemeClr val="dk1"/>
              </a:buClr>
              <a:buSzPts val="2400"/>
              <a:buFont typeface="Calibri"/>
              <a:buChar char="-"/>
            </a:pPr>
            <a:r>
              <a:rPr lang="vi-VN" sz="2400"/>
              <a:t>Chu trình Euler:trong đồ thị vô hướng là một chu trình đi qua mỗi cạnh của đồ thị đúng một lần và có đỉnh đầu trùng với đỉnh cuối.</a:t>
            </a:r>
            <a:endParaRPr/>
          </a:p>
          <a:p>
            <a:pPr marL="228600" lvl="0" indent="-228600" algn="l" rtl="0">
              <a:lnSpc>
                <a:spcPct val="90000"/>
              </a:lnSpc>
              <a:spcBef>
                <a:spcPts val="1000"/>
              </a:spcBef>
              <a:spcAft>
                <a:spcPts val="0"/>
              </a:spcAft>
              <a:buClr>
                <a:schemeClr val="dk1"/>
              </a:buClr>
              <a:buSzPts val="2400"/>
              <a:buFont typeface="Calibri"/>
              <a:buChar char="-"/>
            </a:pPr>
            <a:r>
              <a:rPr lang="vi-VN" sz="2400"/>
              <a:t>Dây chuyền Euler:là dây truyền đi qua tất cả các cạnh trong đồ thị và mỗi cạnh được đi qua đúng 1 lần.</a:t>
            </a:r>
            <a:endParaRPr/>
          </a:p>
          <a:p>
            <a:pPr marL="228600" lvl="0" indent="-228600" algn="l" rtl="0">
              <a:lnSpc>
                <a:spcPct val="90000"/>
              </a:lnSpc>
              <a:spcBef>
                <a:spcPts val="1000"/>
              </a:spcBef>
              <a:spcAft>
                <a:spcPts val="0"/>
              </a:spcAft>
              <a:buClr>
                <a:schemeClr val="dk1"/>
              </a:buClr>
              <a:buSzPts val="2400"/>
              <a:buFont typeface="Calibri"/>
              <a:buChar char="-"/>
            </a:pPr>
            <a:r>
              <a:rPr lang="vi-VN" sz="2400"/>
              <a:t>Đồ thị Euler: </a:t>
            </a:r>
            <a:endParaRPr/>
          </a:p>
          <a:p>
            <a:pPr marL="0" lvl="0" indent="0" algn="l" rtl="0">
              <a:lnSpc>
                <a:spcPct val="90000"/>
              </a:lnSpc>
              <a:spcBef>
                <a:spcPts val="1000"/>
              </a:spcBef>
              <a:spcAft>
                <a:spcPts val="0"/>
              </a:spcAft>
              <a:buClr>
                <a:schemeClr val="dk1"/>
              </a:buClr>
              <a:buSzPts val="2400"/>
              <a:buNone/>
            </a:pPr>
            <a:r>
              <a:rPr lang="vi-VN" sz="2400"/>
              <a:t>      + Đồ thị Euler vô hướng là đồ thị vô hướng có chứa ít nhất </a:t>
            </a:r>
            <a:r>
              <a:rPr lang="vi-VN" sz="2400" i="1"/>
              <a:t>một chu trình </a:t>
            </a:r>
            <a:r>
              <a:rPr lang="vi-VN" sz="2400"/>
              <a:t>Euler.</a:t>
            </a:r>
            <a:endParaRPr/>
          </a:p>
          <a:p>
            <a:pPr marL="0" lvl="0" indent="0" algn="l" rtl="0">
              <a:lnSpc>
                <a:spcPct val="90000"/>
              </a:lnSpc>
              <a:spcBef>
                <a:spcPts val="1000"/>
              </a:spcBef>
              <a:spcAft>
                <a:spcPts val="0"/>
              </a:spcAft>
              <a:buClr>
                <a:schemeClr val="dk1"/>
              </a:buClr>
              <a:buSzPts val="2400"/>
              <a:buNone/>
            </a:pPr>
            <a:r>
              <a:rPr lang="vi-VN" sz="2400"/>
              <a:t>      + Đồ thị Euler có hướng là đồ thị có hướng có chứa ít nhất </a:t>
            </a:r>
            <a:r>
              <a:rPr lang="vi-VN" sz="2400" i="1"/>
              <a:t>một mạch </a:t>
            </a:r>
            <a:r>
              <a:rPr lang="vi-VN" sz="2400"/>
              <a:t>Euler.</a:t>
            </a:r>
            <a:endParaRPr/>
          </a:p>
          <a:p>
            <a:pPr marL="0" lvl="0" indent="0" algn="l" rtl="0">
              <a:lnSpc>
                <a:spcPct val="90000"/>
              </a:lnSpc>
              <a:spcBef>
                <a:spcPts val="1000"/>
              </a:spcBef>
              <a:spcAft>
                <a:spcPts val="0"/>
              </a:spcAft>
              <a:buClr>
                <a:schemeClr val="dk1"/>
              </a:buClr>
              <a:buSzPts val="2400"/>
              <a:buNone/>
            </a:pPr>
            <a:r>
              <a:rPr lang="vi-VN" sz="2400"/>
              <a:t>-Đồ thị được gọi là đồ thị Euler nếu có chu trình (mạch) Euler, và gọi là đồ thị nửa Euler nếu nó có dây truyền (đường đi Euler).</a:t>
            </a:r>
            <a:endParaRPr/>
          </a:p>
          <a:p>
            <a:pPr marL="0" lvl="0" indent="0" algn="l" rtl="0">
              <a:lnSpc>
                <a:spcPct val="90000"/>
              </a:lnSpc>
              <a:spcBef>
                <a:spcPts val="1000"/>
              </a:spcBef>
              <a:spcAft>
                <a:spcPts val="0"/>
              </a:spcAft>
              <a:buClr>
                <a:schemeClr val="dk1"/>
              </a:buClr>
              <a:buSzPts val="2400"/>
              <a:buNone/>
            </a:pPr>
            <a:r>
              <a:rPr lang="vi-VN" sz="2400"/>
              <a:t>*Note:Một đồ thị là Euler thì sẽ là nửa Euler, điều ngược lại không đúng.</a:t>
            </a:r>
            <a:endParaRPr sz="2400"/>
          </a:p>
          <a:p>
            <a:pPr marL="0" lvl="0" indent="0" algn="l" rtl="0">
              <a:lnSpc>
                <a:spcPct val="90000"/>
              </a:lnSpc>
              <a:spcBef>
                <a:spcPts val="1000"/>
              </a:spcBef>
              <a:spcAft>
                <a:spcPts val="0"/>
              </a:spcAft>
              <a:buClr>
                <a:schemeClr val="dk1"/>
              </a:buClr>
              <a:buSzPts val="2400"/>
              <a:buNone/>
            </a:pPr>
            <a:endParaRPr sz="2400"/>
          </a:p>
        </p:txBody>
      </p:sp>
      <p:sp>
        <p:nvSpPr>
          <p:cNvPr id="212" name="Google Shape;212;p4"/>
          <p:cNvSpPr/>
          <p:nvPr/>
        </p:nvSpPr>
        <p:spPr>
          <a:xfrm>
            <a:off x="9935308" y="1104901"/>
            <a:ext cx="1213338" cy="102870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3" name="Google Shape;213;p4"/>
          <p:cNvSpPr/>
          <p:nvPr/>
        </p:nvSpPr>
        <p:spPr>
          <a:xfrm>
            <a:off x="11104685" y="1087314"/>
            <a:ext cx="61546" cy="45719"/>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4" name="Google Shape;214;p4"/>
          <p:cNvSpPr/>
          <p:nvPr/>
        </p:nvSpPr>
        <p:spPr>
          <a:xfrm>
            <a:off x="9920651" y="1081454"/>
            <a:ext cx="61546" cy="45719"/>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5" name="Google Shape;215;p4"/>
          <p:cNvSpPr/>
          <p:nvPr/>
        </p:nvSpPr>
        <p:spPr>
          <a:xfrm>
            <a:off x="9920656" y="2092569"/>
            <a:ext cx="61546" cy="45719"/>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6" name="Google Shape;216;p4"/>
          <p:cNvSpPr/>
          <p:nvPr/>
        </p:nvSpPr>
        <p:spPr>
          <a:xfrm>
            <a:off x="11101753" y="2104293"/>
            <a:ext cx="61546" cy="45719"/>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17" name="Google Shape;217;p4"/>
          <p:cNvCxnSpPr>
            <a:stCxn id="214" idx="6"/>
            <a:endCxn id="213" idx="7"/>
          </p:cNvCxnSpPr>
          <p:nvPr/>
        </p:nvCxnSpPr>
        <p:spPr>
          <a:xfrm rot="10800000" flipH="1">
            <a:off x="9982197" y="1094114"/>
            <a:ext cx="1175100" cy="10200"/>
          </a:xfrm>
          <a:prstGeom prst="straightConnector1">
            <a:avLst/>
          </a:prstGeom>
          <a:noFill/>
          <a:ln w="19050" cap="flat" cmpd="sng">
            <a:solidFill>
              <a:schemeClr val="accent2"/>
            </a:solidFill>
            <a:prstDash val="solid"/>
            <a:miter lim="800000"/>
            <a:headEnd type="none" w="sm" len="sm"/>
            <a:tailEnd type="none" w="sm" len="sm"/>
          </a:ln>
        </p:spPr>
      </p:cxnSp>
      <p:cxnSp>
        <p:nvCxnSpPr>
          <p:cNvPr id="218" name="Google Shape;218;p4"/>
          <p:cNvCxnSpPr>
            <a:stCxn id="213" idx="7"/>
            <a:endCxn id="216" idx="7"/>
          </p:cNvCxnSpPr>
          <p:nvPr/>
        </p:nvCxnSpPr>
        <p:spPr>
          <a:xfrm flipH="1">
            <a:off x="11154218" y="1094009"/>
            <a:ext cx="3000" cy="1017000"/>
          </a:xfrm>
          <a:prstGeom prst="straightConnector1">
            <a:avLst/>
          </a:prstGeom>
          <a:noFill/>
          <a:ln w="19050" cap="flat" cmpd="sng">
            <a:solidFill>
              <a:schemeClr val="accent2"/>
            </a:solidFill>
            <a:prstDash val="solid"/>
            <a:miter lim="800000"/>
            <a:headEnd type="none" w="sm" len="sm"/>
            <a:tailEnd type="none" w="sm" len="sm"/>
          </a:ln>
        </p:spPr>
      </p:cxnSp>
      <p:cxnSp>
        <p:nvCxnSpPr>
          <p:cNvPr id="219" name="Google Shape;219;p4"/>
          <p:cNvCxnSpPr>
            <a:stCxn id="216" idx="7"/>
          </p:cNvCxnSpPr>
          <p:nvPr/>
        </p:nvCxnSpPr>
        <p:spPr>
          <a:xfrm rot="10800000">
            <a:off x="9982186" y="2104388"/>
            <a:ext cx="1172100" cy="6600"/>
          </a:xfrm>
          <a:prstGeom prst="straightConnector1">
            <a:avLst/>
          </a:prstGeom>
          <a:noFill/>
          <a:ln w="19050" cap="flat" cmpd="sng">
            <a:solidFill>
              <a:schemeClr val="accent2"/>
            </a:solidFill>
            <a:prstDash val="solid"/>
            <a:miter lim="800000"/>
            <a:headEnd type="none" w="sm" len="sm"/>
            <a:tailEnd type="none" w="sm" len="sm"/>
          </a:ln>
        </p:spPr>
      </p:cxnSp>
      <p:cxnSp>
        <p:nvCxnSpPr>
          <p:cNvPr id="220" name="Google Shape;220;p4"/>
          <p:cNvCxnSpPr>
            <a:stCxn id="215" idx="1"/>
            <a:endCxn id="214" idx="0"/>
          </p:cNvCxnSpPr>
          <p:nvPr/>
        </p:nvCxnSpPr>
        <p:spPr>
          <a:xfrm rot="10800000" flipH="1">
            <a:off x="9929669" y="1081364"/>
            <a:ext cx="21900" cy="1017900"/>
          </a:xfrm>
          <a:prstGeom prst="straightConnector1">
            <a:avLst/>
          </a:prstGeom>
          <a:noFill/>
          <a:ln w="19050" cap="flat" cmpd="sng">
            <a:solidFill>
              <a:schemeClr val="accent2"/>
            </a:solidFill>
            <a:prstDash val="solid"/>
            <a:miter lim="800000"/>
            <a:headEnd type="none" w="sm" len="sm"/>
            <a:tailEnd type="none" w="sm" len="sm"/>
          </a:ln>
        </p:spPr>
      </p:cxnSp>
      <p:sp>
        <p:nvSpPr>
          <p:cNvPr id="221" name="Google Shape;221;p4"/>
          <p:cNvSpPr/>
          <p:nvPr/>
        </p:nvSpPr>
        <p:spPr>
          <a:xfrm>
            <a:off x="10911254" y="626317"/>
            <a:ext cx="729762" cy="307731"/>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0"/>
                </a:moveTo>
                <a:close/>
                <a:lnTo>
                  <a:pt x="-10000" y="120000"/>
                </a:lnTo>
              </a:path>
              <a:path w="120000" h="120000" fill="none" extrusionOk="0">
                <a:moveTo>
                  <a:pt x="-10000" y="22500"/>
                </a:moveTo>
                <a:lnTo>
                  <a:pt x="-20000" y="22500"/>
                </a:lnTo>
                <a:lnTo>
                  <a:pt x="-45880" y="141857"/>
                </a:lnTo>
              </a:path>
            </a:pathLst>
          </a:cu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2" name="Google Shape;222;p4"/>
          <p:cNvSpPr txBox="1"/>
          <p:nvPr/>
        </p:nvSpPr>
        <p:spPr>
          <a:xfrm>
            <a:off x="10858500" y="687827"/>
            <a:ext cx="826477"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00">
                <a:solidFill>
                  <a:schemeClr val="dk1"/>
                </a:solidFill>
                <a:latin typeface="Calibri"/>
                <a:ea typeface="Calibri"/>
                <a:cs typeface="Calibri"/>
                <a:sym typeface="Calibri"/>
              </a:rPr>
              <a:t>Là ct Euler</a:t>
            </a:r>
            <a:endParaRPr sz="1000">
              <a:solidFill>
                <a:schemeClr val="dk1"/>
              </a:solidFill>
              <a:latin typeface="Calibri"/>
              <a:ea typeface="Calibri"/>
              <a:cs typeface="Calibri"/>
              <a:sym typeface="Calibri"/>
            </a:endParaRPr>
          </a:p>
        </p:txBody>
      </p:sp>
      <p:sp>
        <p:nvSpPr>
          <p:cNvPr id="223" name="Google Shape;223;p4"/>
          <p:cNvSpPr/>
          <p:nvPr/>
        </p:nvSpPr>
        <p:spPr>
          <a:xfrm>
            <a:off x="9442938" y="2883877"/>
            <a:ext cx="1667607" cy="1002323"/>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4" name="Google Shape;224;p4"/>
          <p:cNvSpPr/>
          <p:nvPr/>
        </p:nvSpPr>
        <p:spPr>
          <a:xfrm>
            <a:off x="9416560" y="2866290"/>
            <a:ext cx="61546" cy="45719"/>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5" name="Google Shape;225;p4"/>
          <p:cNvSpPr/>
          <p:nvPr/>
        </p:nvSpPr>
        <p:spPr>
          <a:xfrm>
            <a:off x="9419489" y="3845167"/>
            <a:ext cx="61546" cy="45719"/>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6" name="Google Shape;226;p4"/>
          <p:cNvSpPr/>
          <p:nvPr/>
        </p:nvSpPr>
        <p:spPr>
          <a:xfrm>
            <a:off x="11059256" y="2871554"/>
            <a:ext cx="61546" cy="45719"/>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7" name="Google Shape;227;p4"/>
          <p:cNvSpPr/>
          <p:nvPr/>
        </p:nvSpPr>
        <p:spPr>
          <a:xfrm>
            <a:off x="11079774" y="3845522"/>
            <a:ext cx="61546" cy="45719"/>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8" name="Google Shape;228;p4"/>
          <p:cNvSpPr/>
          <p:nvPr/>
        </p:nvSpPr>
        <p:spPr>
          <a:xfrm>
            <a:off x="11810993" y="3866851"/>
            <a:ext cx="61546" cy="45719"/>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9" name="Google Shape;229;p4"/>
          <p:cNvSpPr/>
          <p:nvPr/>
        </p:nvSpPr>
        <p:spPr>
          <a:xfrm>
            <a:off x="11113475" y="2889385"/>
            <a:ext cx="729760" cy="991305"/>
          </a:xfrm>
          <a:prstGeom prst="rtTriangl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230" name="Google Shape;230;p4"/>
          <p:cNvCxnSpPr>
            <a:stCxn id="224" idx="6"/>
            <a:endCxn id="229" idx="2"/>
          </p:cNvCxnSpPr>
          <p:nvPr/>
        </p:nvCxnSpPr>
        <p:spPr>
          <a:xfrm>
            <a:off x="9478106" y="2889150"/>
            <a:ext cx="1635300" cy="991500"/>
          </a:xfrm>
          <a:prstGeom prst="straightConnector1">
            <a:avLst/>
          </a:prstGeom>
          <a:noFill/>
          <a:ln w="12700" cap="flat" cmpd="sng">
            <a:solidFill>
              <a:schemeClr val="dk1"/>
            </a:solidFill>
            <a:prstDash val="solid"/>
            <a:miter lim="800000"/>
            <a:headEnd type="none" w="sm" len="sm"/>
            <a:tailEnd type="none" w="sm" len="sm"/>
          </a:ln>
        </p:spPr>
      </p:cxnSp>
      <p:cxnSp>
        <p:nvCxnSpPr>
          <p:cNvPr id="231" name="Google Shape;231;p4"/>
          <p:cNvCxnSpPr>
            <a:endCxn id="226" idx="1"/>
          </p:cNvCxnSpPr>
          <p:nvPr/>
        </p:nvCxnSpPr>
        <p:spPr>
          <a:xfrm rot="10800000" flipH="1">
            <a:off x="9477969" y="2878249"/>
            <a:ext cx="1590300" cy="16200"/>
          </a:xfrm>
          <a:prstGeom prst="straightConnector1">
            <a:avLst/>
          </a:prstGeom>
          <a:noFill/>
          <a:ln w="19050" cap="flat" cmpd="sng">
            <a:solidFill>
              <a:schemeClr val="accent2"/>
            </a:solidFill>
            <a:prstDash val="solid"/>
            <a:miter lim="800000"/>
            <a:headEnd type="none" w="sm" len="sm"/>
            <a:tailEnd type="none" w="sm" len="sm"/>
          </a:ln>
        </p:spPr>
      </p:cxnSp>
      <p:cxnSp>
        <p:nvCxnSpPr>
          <p:cNvPr id="232" name="Google Shape;232;p4"/>
          <p:cNvCxnSpPr>
            <a:stCxn id="229" idx="0"/>
            <a:endCxn id="229" idx="2"/>
          </p:cNvCxnSpPr>
          <p:nvPr/>
        </p:nvCxnSpPr>
        <p:spPr>
          <a:xfrm>
            <a:off x="11113475" y="2889385"/>
            <a:ext cx="0" cy="991200"/>
          </a:xfrm>
          <a:prstGeom prst="straightConnector1">
            <a:avLst/>
          </a:prstGeom>
          <a:noFill/>
          <a:ln w="19050" cap="flat" cmpd="sng">
            <a:solidFill>
              <a:schemeClr val="accent2"/>
            </a:solidFill>
            <a:prstDash val="solid"/>
            <a:miter lim="800000"/>
            <a:headEnd type="none" w="sm" len="sm"/>
            <a:tailEnd type="none" w="sm" len="sm"/>
          </a:ln>
        </p:spPr>
      </p:cxnSp>
      <p:cxnSp>
        <p:nvCxnSpPr>
          <p:cNvPr id="233" name="Google Shape;233;p4"/>
          <p:cNvCxnSpPr>
            <a:stCxn id="227" idx="3"/>
            <a:endCxn id="224" idx="6"/>
          </p:cNvCxnSpPr>
          <p:nvPr/>
        </p:nvCxnSpPr>
        <p:spPr>
          <a:xfrm rot="10800000">
            <a:off x="9478087" y="2889145"/>
            <a:ext cx="1610700" cy="995400"/>
          </a:xfrm>
          <a:prstGeom prst="straightConnector1">
            <a:avLst/>
          </a:prstGeom>
          <a:noFill/>
          <a:ln w="19050" cap="flat" cmpd="sng">
            <a:solidFill>
              <a:schemeClr val="accent2"/>
            </a:solidFill>
            <a:prstDash val="solid"/>
            <a:miter lim="800000"/>
            <a:headEnd type="none" w="sm" len="sm"/>
            <a:tailEnd type="none" w="sm" len="sm"/>
          </a:ln>
        </p:spPr>
      </p:cxnSp>
      <p:cxnSp>
        <p:nvCxnSpPr>
          <p:cNvPr id="234" name="Google Shape;234;p4"/>
          <p:cNvCxnSpPr>
            <a:stCxn id="224" idx="4"/>
            <a:endCxn id="225" idx="4"/>
          </p:cNvCxnSpPr>
          <p:nvPr/>
        </p:nvCxnSpPr>
        <p:spPr>
          <a:xfrm>
            <a:off x="9447333" y="2912009"/>
            <a:ext cx="3000" cy="978900"/>
          </a:xfrm>
          <a:prstGeom prst="straightConnector1">
            <a:avLst/>
          </a:prstGeom>
          <a:noFill/>
          <a:ln w="19050" cap="flat" cmpd="sng">
            <a:solidFill>
              <a:schemeClr val="accent2"/>
            </a:solidFill>
            <a:prstDash val="solid"/>
            <a:miter lim="800000"/>
            <a:headEnd type="none" w="sm" len="sm"/>
            <a:tailEnd type="none" w="sm" len="sm"/>
          </a:ln>
        </p:spPr>
      </p:cxnSp>
      <p:cxnSp>
        <p:nvCxnSpPr>
          <p:cNvPr id="235" name="Google Shape;235;p4"/>
          <p:cNvCxnSpPr>
            <a:stCxn id="225" idx="5"/>
            <a:endCxn id="229" idx="4"/>
          </p:cNvCxnSpPr>
          <p:nvPr/>
        </p:nvCxnSpPr>
        <p:spPr>
          <a:xfrm rot="10800000" flipH="1">
            <a:off x="9472022" y="3880591"/>
            <a:ext cx="2371200" cy="3600"/>
          </a:xfrm>
          <a:prstGeom prst="straightConnector1">
            <a:avLst/>
          </a:prstGeom>
          <a:noFill/>
          <a:ln w="19050" cap="flat" cmpd="sng">
            <a:solidFill>
              <a:schemeClr val="accent2"/>
            </a:solidFill>
            <a:prstDash val="solid"/>
            <a:miter lim="800000"/>
            <a:headEnd type="none" w="sm" len="sm"/>
            <a:tailEnd type="none" w="sm" len="sm"/>
          </a:ln>
        </p:spPr>
      </p:cxnSp>
      <p:cxnSp>
        <p:nvCxnSpPr>
          <p:cNvPr id="236" name="Google Shape;236;p4"/>
          <p:cNvCxnSpPr>
            <a:stCxn id="229" idx="4"/>
            <a:endCxn id="229" idx="0"/>
          </p:cNvCxnSpPr>
          <p:nvPr/>
        </p:nvCxnSpPr>
        <p:spPr>
          <a:xfrm rot="10800000">
            <a:off x="11113335" y="2889490"/>
            <a:ext cx="729900" cy="991200"/>
          </a:xfrm>
          <a:prstGeom prst="straightConnector1">
            <a:avLst/>
          </a:prstGeom>
          <a:noFill/>
          <a:ln w="19050" cap="flat" cmpd="sng">
            <a:solidFill>
              <a:schemeClr val="accent2"/>
            </a:solidFill>
            <a:prstDash val="solid"/>
            <a:miter lim="800000"/>
            <a:headEnd type="none" w="sm" len="sm"/>
            <a:tailEnd type="none" w="sm" len="sm"/>
          </a:ln>
        </p:spPr>
      </p:cxnSp>
      <p:sp>
        <p:nvSpPr>
          <p:cNvPr id="237" name="Google Shape;237;p4"/>
          <p:cNvSpPr/>
          <p:nvPr/>
        </p:nvSpPr>
        <p:spPr>
          <a:xfrm>
            <a:off x="10939095" y="2374761"/>
            <a:ext cx="1058004" cy="386862"/>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0"/>
                </a:moveTo>
                <a:close/>
                <a:lnTo>
                  <a:pt x="-10000" y="120000"/>
                </a:lnTo>
              </a:path>
              <a:path w="120000" h="120000" fill="none" extrusionOk="0">
                <a:moveTo>
                  <a:pt x="-10000" y="22500"/>
                </a:moveTo>
                <a:lnTo>
                  <a:pt x="-20000" y="22500"/>
                </a:lnTo>
                <a:lnTo>
                  <a:pt x="-55003" y="143182"/>
                </a:lnTo>
              </a:path>
            </a:pathLst>
          </a:cu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8" name="Google Shape;238;p4"/>
          <p:cNvSpPr txBox="1"/>
          <p:nvPr/>
        </p:nvSpPr>
        <p:spPr>
          <a:xfrm>
            <a:off x="10911254" y="2291193"/>
            <a:ext cx="1027231"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00">
                <a:solidFill>
                  <a:schemeClr val="dk1"/>
                </a:solidFill>
                <a:latin typeface="Calibri"/>
                <a:ea typeface="Calibri"/>
                <a:cs typeface="Calibri"/>
                <a:sym typeface="Calibri"/>
              </a:rPr>
              <a:t>Ko là ct Euler nhưng là đường đi Euler</a:t>
            </a:r>
            <a:endParaRPr sz="1000">
              <a:solidFill>
                <a:schemeClr val="dk1"/>
              </a:solidFill>
              <a:latin typeface="Calibri"/>
              <a:ea typeface="Calibri"/>
              <a:cs typeface="Calibri"/>
              <a:sym typeface="Calibri"/>
            </a:endParaRPr>
          </a:p>
        </p:txBody>
      </p:sp>
      <p:sp>
        <p:nvSpPr>
          <p:cNvPr id="239" name="Google Shape;239;p4"/>
          <p:cNvSpPr/>
          <p:nvPr/>
        </p:nvSpPr>
        <p:spPr>
          <a:xfrm>
            <a:off x="9829800" y="4484077"/>
            <a:ext cx="1229456" cy="975946"/>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0" name="Google Shape;240;p4"/>
          <p:cNvSpPr/>
          <p:nvPr/>
        </p:nvSpPr>
        <p:spPr>
          <a:xfrm>
            <a:off x="9812215" y="5424849"/>
            <a:ext cx="61546" cy="45719"/>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1" name="Google Shape;241;p4"/>
          <p:cNvSpPr/>
          <p:nvPr/>
        </p:nvSpPr>
        <p:spPr>
          <a:xfrm>
            <a:off x="11019693" y="5427783"/>
            <a:ext cx="61546" cy="45719"/>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2" name="Google Shape;242;p4"/>
          <p:cNvSpPr/>
          <p:nvPr/>
        </p:nvSpPr>
        <p:spPr>
          <a:xfrm>
            <a:off x="9818078" y="4463558"/>
            <a:ext cx="61546" cy="45719"/>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3" name="Google Shape;243;p4"/>
          <p:cNvSpPr/>
          <p:nvPr/>
        </p:nvSpPr>
        <p:spPr>
          <a:xfrm>
            <a:off x="11007970" y="4475283"/>
            <a:ext cx="61546" cy="45719"/>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4" name="Google Shape;244;p4"/>
          <p:cNvSpPr/>
          <p:nvPr/>
        </p:nvSpPr>
        <p:spPr>
          <a:xfrm>
            <a:off x="10430607" y="4944207"/>
            <a:ext cx="61546" cy="45719"/>
          </a:xfrm>
          <a:prstGeom prst="flowChartConnector">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45" name="Google Shape;245;p4"/>
          <p:cNvCxnSpPr/>
          <p:nvPr/>
        </p:nvCxnSpPr>
        <p:spPr>
          <a:xfrm>
            <a:off x="9873761" y="4521002"/>
            <a:ext cx="1185495" cy="903847"/>
          </a:xfrm>
          <a:prstGeom prst="straightConnector1">
            <a:avLst/>
          </a:prstGeom>
          <a:noFill/>
          <a:ln w="12700" cap="flat" cmpd="sng">
            <a:solidFill>
              <a:schemeClr val="dk1"/>
            </a:solidFill>
            <a:prstDash val="solid"/>
            <a:miter lim="800000"/>
            <a:headEnd type="none" w="sm" len="sm"/>
            <a:tailEnd type="none" w="sm" len="sm"/>
          </a:ln>
        </p:spPr>
      </p:cxnSp>
      <p:cxnSp>
        <p:nvCxnSpPr>
          <p:cNvPr id="246" name="Google Shape;246;p4"/>
          <p:cNvCxnSpPr>
            <a:stCxn id="243" idx="4"/>
            <a:endCxn id="240" idx="7"/>
          </p:cNvCxnSpPr>
          <p:nvPr/>
        </p:nvCxnSpPr>
        <p:spPr>
          <a:xfrm flipH="1">
            <a:off x="9864843" y="4521002"/>
            <a:ext cx="1173900" cy="910500"/>
          </a:xfrm>
          <a:prstGeom prst="straightConnector1">
            <a:avLst/>
          </a:prstGeom>
          <a:noFill/>
          <a:ln w="12700" cap="flat" cmpd="sng">
            <a:solidFill>
              <a:schemeClr val="dk1"/>
            </a:solidFill>
            <a:prstDash val="solid"/>
            <a:miter lim="800000"/>
            <a:headEnd type="none" w="sm" len="sm"/>
            <a:tailEnd type="none" w="sm" len="sm"/>
          </a:ln>
        </p:spPr>
      </p:cxnSp>
      <p:sp>
        <p:nvSpPr>
          <p:cNvPr id="247" name="Google Shape;247;p4"/>
          <p:cNvSpPr/>
          <p:nvPr/>
        </p:nvSpPr>
        <p:spPr>
          <a:xfrm>
            <a:off x="11099554" y="5732584"/>
            <a:ext cx="861646" cy="422031"/>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0"/>
                </a:moveTo>
                <a:close/>
                <a:lnTo>
                  <a:pt x="-10000" y="120000"/>
                </a:lnTo>
              </a:path>
              <a:path w="120000" h="120000" fill="none" extrusionOk="0">
                <a:moveTo>
                  <a:pt x="-10000" y="22500"/>
                </a:moveTo>
                <a:lnTo>
                  <a:pt x="-20000" y="22500"/>
                </a:lnTo>
                <a:lnTo>
                  <a:pt x="-63347" y="-60000"/>
                </a:lnTo>
              </a:path>
            </a:pathLst>
          </a:cu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8" name="Google Shape;248;p4"/>
          <p:cNvSpPr txBox="1"/>
          <p:nvPr/>
        </p:nvSpPr>
        <p:spPr>
          <a:xfrm>
            <a:off x="11029950" y="5739634"/>
            <a:ext cx="122213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00">
                <a:solidFill>
                  <a:schemeClr val="dk1"/>
                </a:solidFill>
                <a:latin typeface="Calibri"/>
                <a:ea typeface="Calibri"/>
                <a:cs typeface="Calibri"/>
                <a:sym typeface="Calibri"/>
              </a:rPr>
              <a:t>Ko là ct hay đường đi Euler</a:t>
            </a:r>
            <a:endParaRPr sz="1000">
              <a:solidFill>
                <a:schemeClr val="dk1"/>
              </a:solidFill>
              <a:latin typeface="Calibri"/>
              <a:ea typeface="Calibri"/>
              <a:cs typeface="Calibri"/>
              <a:sym typeface="Calibri"/>
            </a:endParaRPr>
          </a:p>
        </p:txBody>
      </p:sp>
      <p:sp>
        <p:nvSpPr>
          <p:cNvPr id="249" name="Google Shape;249;p4"/>
          <p:cNvSpPr/>
          <p:nvPr/>
        </p:nvSpPr>
        <p:spPr>
          <a:xfrm>
            <a:off x="9630506" y="2374761"/>
            <a:ext cx="770796" cy="386862"/>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0"/>
                </a:moveTo>
                <a:close/>
                <a:lnTo>
                  <a:pt x="-10000" y="120000"/>
                </a:lnTo>
              </a:path>
              <a:path w="120000" h="120000" fill="none" extrusionOk="0">
                <a:moveTo>
                  <a:pt x="-10000" y="22500"/>
                </a:moveTo>
                <a:lnTo>
                  <a:pt x="-35050" y="121363"/>
                </a:lnTo>
              </a:path>
            </a:pathLst>
          </a:cu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50" name="Google Shape;250;p4"/>
          <p:cNvSpPr txBox="1"/>
          <p:nvPr/>
        </p:nvSpPr>
        <p:spPr>
          <a:xfrm>
            <a:off x="9608525" y="2382032"/>
            <a:ext cx="961289"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00">
                <a:solidFill>
                  <a:schemeClr val="dk1"/>
                </a:solidFill>
                <a:latin typeface="Calibri"/>
                <a:ea typeface="Calibri"/>
                <a:cs typeface="Calibri"/>
                <a:sym typeface="Calibri"/>
              </a:rPr>
              <a:t>Đồ thị nửa Euler</a:t>
            </a:r>
            <a:endParaRPr sz="1000">
              <a:solidFill>
                <a:schemeClr val="dk1"/>
              </a:solidFill>
              <a:latin typeface="Calibri"/>
              <a:ea typeface="Calibri"/>
              <a:cs typeface="Calibri"/>
              <a:sym typeface="Calibri"/>
            </a:endParaRPr>
          </a:p>
        </p:txBody>
      </p:sp>
      <p:sp>
        <p:nvSpPr>
          <p:cNvPr id="42" name="PAGE NUM 0">
            <a:extLst>
              <a:ext uri="{FF2B5EF4-FFF2-40B4-BE49-F238E27FC236}">
                <a16:creationId xmlns:a16="http://schemas.microsoft.com/office/drawing/2014/main" id="{989DCB47-A8A9-44E7-9CAB-F90E98175EEE}"/>
              </a:ext>
            </a:extLst>
          </p:cNvPr>
          <p:cNvSpPr txBox="1"/>
          <p:nvPr/>
        </p:nvSpPr>
        <p:spPr>
          <a:xfrm>
            <a:off x="11599908" y="-5105"/>
            <a:ext cx="468851" cy="369332"/>
          </a:xfrm>
          <a:prstGeom prst="rect">
            <a:avLst/>
          </a:prstGeom>
          <a:noFill/>
          <a:ln>
            <a:noFill/>
          </a:ln>
        </p:spPr>
        <p:txBody>
          <a:bodyPr wrap="square" rtlCol="0">
            <a:spAutoFit/>
          </a:bodyPr>
          <a:lstStyle/>
          <a:p>
            <a:pPr algn="r"/>
            <a:r>
              <a:rPr lang="en-US" strike="sngStrike" dirty="0">
                <a:solidFill>
                  <a:srgbClr val="C00000"/>
                </a:solidFill>
                <a:latin typeface="JetBrains Mono Light" panose="02000009000000000000" pitchFamily="49" charset="0"/>
                <a:cs typeface="JetBrains Mono Light" panose="02000009000000000000" pitchFamily="49" charset="0"/>
              </a:rPr>
              <a:t>2</a:t>
            </a:r>
          </a:p>
        </p:txBody>
      </p:sp>
      <p:sp>
        <p:nvSpPr>
          <p:cNvPr id="43" name="PAGE NUM 1">
            <a:extLst>
              <a:ext uri="{FF2B5EF4-FFF2-40B4-BE49-F238E27FC236}">
                <a16:creationId xmlns:a16="http://schemas.microsoft.com/office/drawing/2014/main" id="{34CE8423-FD98-4148-831A-DDFF885C1BA5}"/>
              </a:ext>
            </a:extLst>
          </p:cNvPr>
          <p:cNvSpPr txBox="1"/>
          <p:nvPr/>
        </p:nvSpPr>
        <p:spPr>
          <a:xfrm>
            <a:off x="11883838" y="-11114"/>
            <a:ext cx="914400" cy="369332"/>
          </a:xfrm>
          <a:prstGeom prst="rect">
            <a:avLst/>
          </a:prstGeom>
          <a:noFill/>
        </p:spPr>
        <p:txBody>
          <a:bodyPr wrap="square" rtlCol="0">
            <a:spAutoFit/>
          </a:bodyPr>
          <a:lstStyle/>
          <a:p>
            <a:r>
              <a:rPr lang="en-US" strike="sngStrike" dirty="0">
                <a:solidFill>
                  <a:srgbClr val="C00000"/>
                </a:solidFill>
                <a:latin typeface="JetBrains Mono Light" panose="02000009000000000000" pitchFamily="49" charset="0"/>
                <a:cs typeface="JetBrains Mono Light" panose="02000009000000000000" pitchFamily="49" charset="0"/>
              </a:rPr>
              <a:t>8</a:t>
            </a:r>
            <a:endParaRPr lang="en-US" strike="sngStrike" dirty="0">
              <a:solidFill>
                <a:srgbClr val="C00000"/>
              </a:solidFill>
            </a:endParaRPr>
          </a:p>
        </p:txBody>
      </p:sp>
    </p:spTree>
    <p:extLst>
      <p:ext uri="{BB962C8B-B14F-4D97-AF65-F5344CB8AC3E}">
        <p14:creationId xmlns:p14="http://schemas.microsoft.com/office/powerpoint/2010/main" val="7834992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rgbClr val="F6F9FC"/>
            </a:gs>
            <a:gs pos="74000">
              <a:srgbClr val="B3D1EC"/>
            </a:gs>
            <a:gs pos="83000">
              <a:srgbClr val="B3D1EC"/>
            </a:gs>
            <a:gs pos="100000">
              <a:srgbClr val="CCE0F2"/>
            </a:gs>
          </a:gsLst>
          <a:lin ang="5400000" scaled="0"/>
        </a:gradFill>
        <a:effectLst/>
      </p:bgPr>
    </p:bg>
    <p:spTree>
      <p:nvGrpSpPr>
        <p:cNvPr id="1" name="Shape 254"/>
        <p:cNvGrpSpPr/>
        <p:nvPr/>
      </p:nvGrpSpPr>
      <p:grpSpPr>
        <a:xfrm>
          <a:off x="0" y="0"/>
          <a:ext cx="0" cy="0"/>
          <a:chOff x="0" y="0"/>
          <a:chExt cx="0" cy="0"/>
        </a:xfrm>
      </p:grpSpPr>
      <p:sp>
        <p:nvSpPr>
          <p:cNvPr id="255" name="Google Shape;255;p5"/>
          <p:cNvSpPr txBox="1">
            <a:spLocks noGrp="1"/>
          </p:cNvSpPr>
          <p:nvPr>
            <p:ph type="title"/>
          </p:nvPr>
        </p:nvSpPr>
        <p:spPr>
          <a:xfrm>
            <a:off x="0" y="3158"/>
            <a:ext cx="11169162" cy="5492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2400"/>
              <a:buFont typeface="Calibri"/>
              <a:buNone/>
            </a:pPr>
            <a:r>
              <a:rPr lang="vi-VN" sz="2400" b="1" i="1" u="sng">
                <a:solidFill>
                  <a:srgbClr val="FF0000"/>
                </a:solidFill>
              </a:rPr>
              <a:t>3 Định lý</a:t>
            </a:r>
            <a:endParaRPr sz="2400" b="1" i="1" u="sng">
              <a:solidFill>
                <a:srgbClr val="FF0000"/>
              </a:solidFill>
            </a:endParaRPr>
          </a:p>
        </p:txBody>
      </p:sp>
      <p:sp>
        <p:nvSpPr>
          <p:cNvPr id="256" name="Google Shape;256;p5"/>
          <p:cNvSpPr txBox="1">
            <a:spLocks noGrp="1"/>
          </p:cNvSpPr>
          <p:nvPr>
            <p:ph type="body" idx="1"/>
          </p:nvPr>
        </p:nvSpPr>
        <p:spPr>
          <a:xfrm>
            <a:off x="5448" y="516811"/>
            <a:ext cx="9196755" cy="626012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vi-VN" sz="2400"/>
              <a:t>-Đồ thị vô hướng liên thông G=(x,e) có chu trình Euler khi và chỉ khi G không có đỉnh bậc lẻ.</a:t>
            </a:r>
            <a:endParaRPr/>
          </a:p>
          <a:p>
            <a:pPr marL="0" lvl="0" indent="0" algn="l" rtl="0">
              <a:lnSpc>
                <a:spcPct val="90000"/>
              </a:lnSpc>
              <a:spcBef>
                <a:spcPts val="1000"/>
              </a:spcBef>
              <a:spcAft>
                <a:spcPts val="0"/>
              </a:spcAft>
              <a:buClr>
                <a:schemeClr val="dk1"/>
              </a:buClr>
              <a:buSzPts val="2400"/>
              <a:buNone/>
            </a:pPr>
            <a:r>
              <a:rPr lang="vi-VN" sz="2400"/>
              <a:t>-Đồ thị vô hướng liên thông G=(x,e) có đường đi Euler khi và chỉ khi G có đúng 2 đỉnh bậc lẻ.</a:t>
            </a:r>
            <a:endParaRPr/>
          </a:p>
          <a:p>
            <a:pPr marL="0" lvl="0" indent="0" algn="l" rtl="0">
              <a:lnSpc>
                <a:spcPct val="90000"/>
              </a:lnSpc>
              <a:spcBef>
                <a:spcPts val="1000"/>
              </a:spcBef>
              <a:spcAft>
                <a:spcPts val="0"/>
              </a:spcAft>
              <a:buClr>
                <a:schemeClr val="dk1"/>
              </a:buClr>
              <a:buSzPts val="2400"/>
              <a:buNone/>
            </a:pPr>
            <a:r>
              <a:rPr lang="vi-VN" sz="2400"/>
              <a:t>-Đồ thị có hướng liên thông G=(x,e) có chu trình  Euler, khi đó số đỉnh bậc cao trog G sẽ bằng số đỉnh bậc ngoài của G.</a:t>
            </a:r>
            <a:endParaRPr/>
          </a:p>
          <a:p>
            <a:pPr marL="0" lvl="0" indent="0" algn="l" rtl="0">
              <a:lnSpc>
                <a:spcPct val="90000"/>
              </a:lnSpc>
              <a:spcBef>
                <a:spcPts val="1000"/>
              </a:spcBef>
              <a:spcAft>
                <a:spcPts val="0"/>
              </a:spcAft>
              <a:buClr>
                <a:srgbClr val="FF0000"/>
              </a:buClr>
              <a:buSzPts val="2400"/>
              <a:buNone/>
            </a:pPr>
            <a:r>
              <a:rPr lang="vi-VN" sz="2400" b="1" i="1" u="sng">
                <a:solidFill>
                  <a:srgbClr val="FF0000"/>
                </a:solidFill>
              </a:rPr>
              <a:t>4 Một số tính chất khác </a:t>
            </a:r>
            <a:endParaRPr/>
          </a:p>
          <a:p>
            <a:pPr marL="0" lvl="0" indent="0" algn="l" rtl="0">
              <a:lnSpc>
                <a:spcPct val="90000"/>
              </a:lnSpc>
              <a:spcBef>
                <a:spcPts val="1000"/>
              </a:spcBef>
              <a:spcAft>
                <a:spcPts val="0"/>
              </a:spcAft>
              <a:buClr>
                <a:schemeClr val="dk1"/>
              </a:buClr>
              <a:buSzPts val="2400"/>
              <a:buNone/>
            </a:pPr>
            <a:r>
              <a:rPr lang="vi-VN" sz="2400"/>
              <a:t>-Một đồ thị vô hướng là đồ thị Euler nếu nó liên thông và có thể phân tích thành các chu trình có các cạnh rời nhau.</a:t>
            </a:r>
            <a:endParaRPr/>
          </a:p>
          <a:p>
            <a:pPr marL="228600" lvl="0" indent="-228600" algn="l" rtl="0">
              <a:lnSpc>
                <a:spcPct val="90000"/>
              </a:lnSpc>
              <a:spcBef>
                <a:spcPts val="1000"/>
              </a:spcBef>
              <a:spcAft>
                <a:spcPts val="0"/>
              </a:spcAft>
              <a:buClr>
                <a:schemeClr val="dk1"/>
              </a:buClr>
              <a:buSzPts val="2400"/>
              <a:buFont typeface="Calibri"/>
              <a:buChar char="-"/>
            </a:pPr>
            <a:r>
              <a:rPr lang="vi-VN" sz="2400"/>
              <a:t>Đồ thị vô hướng G là Euler nếu nó liên thông và mọi đỉnh của nó có bậc vào = bậc ra( </a:t>
            </a:r>
            <a:r>
              <a:rPr lang="vi-VN" sz="2400" b="1" i="1"/>
              <a:t>deg</a:t>
            </a:r>
            <a:r>
              <a:rPr lang="vi-VN" sz="2400" b="1" i="1" baseline="-25000"/>
              <a:t>+</a:t>
            </a:r>
            <a:r>
              <a:rPr lang="vi-VN" sz="2400" b="1" i="1"/>
              <a:t>(a) = deg</a:t>
            </a:r>
            <a:r>
              <a:rPr lang="vi-VN" sz="2400" b="1" i="1" baseline="-25000"/>
              <a:t>-</a:t>
            </a:r>
            <a:r>
              <a:rPr lang="vi-VN" sz="2400" b="1" i="1"/>
              <a:t>(a) </a:t>
            </a:r>
            <a:r>
              <a:rPr lang="vi-VN" sz="2400"/>
              <a:t>)</a:t>
            </a:r>
            <a:endParaRPr/>
          </a:p>
          <a:p>
            <a:pPr marL="228600" lvl="0" indent="-228600" algn="l" rtl="0">
              <a:lnSpc>
                <a:spcPct val="90000"/>
              </a:lnSpc>
              <a:spcBef>
                <a:spcPts val="1000"/>
              </a:spcBef>
              <a:spcAft>
                <a:spcPts val="0"/>
              </a:spcAft>
              <a:buClr>
                <a:schemeClr val="dk1"/>
              </a:buClr>
              <a:buSzPts val="2400"/>
              <a:buFont typeface="Calibri"/>
              <a:buChar char="-"/>
            </a:pPr>
            <a:r>
              <a:rPr lang="vi-VN" sz="2400"/>
              <a:t>Đồ thị có hướng là Euler nếu nó liên thông và có thể phân tích thành các chu trình có hướng với các cung rời nhau.</a:t>
            </a:r>
            <a:endParaRPr/>
          </a:p>
          <a:p>
            <a:pPr marL="0" lvl="0" indent="0" algn="l" rtl="0">
              <a:lnSpc>
                <a:spcPct val="90000"/>
              </a:lnSpc>
              <a:spcBef>
                <a:spcPts val="1000"/>
              </a:spcBef>
              <a:spcAft>
                <a:spcPts val="0"/>
              </a:spcAft>
              <a:buClr>
                <a:schemeClr val="dk1"/>
              </a:buClr>
              <a:buSzPts val="2400"/>
              <a:buNone/>
            </a:pPr>
            <a:endParaRPr sz="2400"/>
          </a:p>
          <a:p>
            <a:pPr marL="0" lvl="0" indent="0" algn="l" rtl="0">
              <a:lnSpc>
                <a:spcPct val="90000"/>
              </a:lnSpc>
              <a:spcBef>
                <a:spcPts val="1000"/>
              </a:spcBef>
              <a:spcAft>
                <a:spcPts val="0"/>
              </a:spcAft>
              <a:buClr>
                <a:schemeClr val="dk1"/>
              </a:buClr>
              <a:buSzPts val="2400"/>
              <a:buNone/>
            </a:pPr>
            <a:endParaRPr sz="2400"/>
          </a:p>
          <a:p>
            <a:pPr marL="228600" lvl="0" indent="-76200" algn="l" rtl="0">
              <a:lnSpc>
                <a:spcPct val="90000"/>
              </a:lnSpc>
              <a:spcBef>
                <a:spcPts val="1000"/>
              </a:spcBef>
              <a:spcAft>
                <a:spcPts val="0"/>
              </a:spcAft>
              <a:buClr>
                <a:schemeClr val="dk1"/>
              </a:buClr>
              <a:buSzPts val="2400"/>
              <a:buFont typeface="Calibri"/>
              <a:buNone/>
            </a:pPr>
            <a:endParaRPr sz="2400"/>
          </a:p>
          <a:p>
            <a:pPr marL="0" lvl="0" indent="0" algn="l" rtl="0">
              <a:lnSpc>
                <a:spcPct val="90000"/>
              </a:lnSpc>
              <a:spcBef>
                <a:spcPts val="1000"/>
              </a:spcBef>
              <a:spcAft>
                <a:spcPts val="0"/>
              </a:spcAft>
              <a:buClr>
                <a:schemeClr val="dk1"/>
              </a:buClr>
              <a:buSzPts val="2400"/>
              <a:buNone/>
            </a:pPr>
            <a:endParaRPr sz="2400"/>
          </a:p>
          <a:p>
            <a:pPr marL="0" lvl="0" indent="0" algn="l" rtl="0">
              <a:lnSpc>
                <a:spcPct val="90000"/>
              </a:lnSpc>
              <a:spcBef>
                <a:spcPts val="1000"/>
              </a:spcBef>
              <a:spcAft>
                <a:spcPts val="0"/>
              </a:spcAft>
              <a:buClr>
                <a:schemeClr val="dk1"/>
              </a:buClr>
              <a:buSzPts val="2400"/>
              <a:buNone/>
            </a:pPr>
            <a:endParaRPr sz="2400"/>
          </a:p>
        </p:txBody>
      </p:sp>
      <p:sp>
        <p:nvSpPr>
          <p:cNvPr id="257" name="Google Shape;257;p5"/>
          <p:cNvSpPr/>
          <p:nvPr/>
        </p:nvSpPr>
        <p:spPr>
          <a:xfrm>
            <a:off x="9230449" y="1750158"/>
            <a:ext cx="378069" cy="369277"/>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58" name="Google Shape;258;p5"/>
          <p:cNvSpPr/>
          <p:nvPr/>
        </p:nvSpPr>
        <p:spPr>
          <a:xfrm>
            <a:off x="9248035" y="572721"/>
            <a:ext cx="378069" cy="369277"/>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59" name="Google Shape;259;p5"/>
          <p:cNvSpPr/>
          <p:nvPr/>
        </p:nvSpPr>
        <p:spPr>
          <a:xfrm>
            <a:off x="10498008" y="584322"/>
            <a:ext cx="378069" cy="369277"/>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60" name="Google Shape;260;p5"/>
          <p:cNvSpPr/>
          <p:nvPr/>
        </p:nvSpPr>
        <p:spPr>
          <a:xfrm>
            <a:off x="10498008" y="1780992"/>
            <a:ext cx="378069" cy="369277"/>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61" name="Google Shape;261;p5"/>
          <p:cNvSpPr/>
          <p:nvPr/>
        </p:nvSpPr>
        <p:spPr>
          <a:xfrm>
            <a:off x="11764100" y="584321"/>
            <a:ext cx="378069" cy="369277"/>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62" name="Google Shape;262;p5"/>
          <p:cNvSpPr txBox="1"/>
          <p:nvPr/>
        </p:nvSpPr>
        <p:spPr>
          <a:xfrm>
            <a:off x="9289064" y="564111"/>
            <a:ext cx="4220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263" name="Google Shape;263;p5"/>
          <p:cNvSpPr txBox="1"/>
          <p:nvPr/>
        </p:nvSpPr>
        <p:spPr>
          <a:xfrm>
            <a:off x="10535377" y="590404"/>
            <a:ext cx="27402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264" name="Google Shape;264;p5"/>
          <p:cNvSpPr txBox="1"/>
          <p:nvPr/>
        </p:nvSpPr>
        <p:spPr>
          <a:xfrm>
            <a:off x="11795233" y="615947"/>
            <a:ext cx="390525" cy="3733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C</a:t>
            </a:r>
            <a:endParaRPr sz="1800">
              <a:solidFill>
                <a:schemeClr val="dk1"/>
              </a:solidFill>
              <a:latin typeface="Calibri"/>
              <a:ea typeface="Calibri"/>
              <a:cs typeface="Calibri"/>
              <a:sym typeface="Calibri"/>
            </a:endParaRPr>
          </a:p>
        </p:txBody>
      </p:sp>
      <p:sp>
        <p:nvSpPr>
          <p:cNvPr id="265" name="Google Shape;265;p5"/>
          <p:cNvSpPr txBox="1"/>
          <p:nvPr/>
        </p:nvSpPr>
        <p:spPr>
          <a:xfrm>
            <a:off x="9278074" y="1750103"/>
            <a:ext cx="4938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D</a:t>
            </a:r>
            <a:endParaRPr sz="1800">
              <a:solidFill>
                <a:schemeClr val="dk1"/>
              </a:solidFill>
              <a:latin typeface="Calibri"/>
              <a:ea typeface="Calibri"/>
              <a:cs typeface="Calibri"/>
              <a:sym typeface="Calibri"/>
            </a:endParaRPr>
          </a:p>
        </p:txBody>
      </p:sp>
      <p:sp>
        <p:nvSpPr>
          <p:cNvPr id="266" name="Google Shape;266;p5"/>
          <p:cNvSpPr txBox="1"/>
          <p:nvPr/>
        </p:nvSpPr>
        <p:spPr>
          <a:xfrm>
            <a:off x="10535377" y="1787129"/>
            <a:ext cx="83526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E</a:t>
            </a:r>
            <a:endParaRPr sz="1800">
              <a:solidFill>
                <a:schemeClr val="dk1"/>
              </a:solidFill>
              <a:latin typeface="Calibri"/>
              <a:ea typeface="Calibri"/>
              <a:cs typeface="Calibri"/>
              <a:sym typeface="Calibri"/>
            </a:endParaRPr>
          </a:p>
        </p:txBody>
      </p:sp>
      <p:cxnSp>
        <p:nvCxnSpPr>
          <p:cNvPr id="267" name="Google Shape;267;p5"/>
          <p:cNvCxnSpPr/>
          <p:nvPr/>
        </p:nvCxnSpPr>
        <p:spPr>
          <a:xfrm rot="10800000">
            <a:off x="9768245" y="771528"/>
            <a:ext cx="635976" cy="7599"/>
          </a:xfrm>
          <a:prstGeom prst="straightConnector1">
            <a:avLst/>
          </a:prstGeom>
          <a:noFill/>
          <a:ln w="19050" cap="flat" cmpd="sng">
            <a:solidFill>
              <a:schemeClr val="accent4"/>
            </a:solidFill>
            <a:prstDash val="solid"/>
            <a:miter lim="800000"/>
            <a:headEnd type="none" w="sm" len="sm"/>
            <a:tailEnd type="triangle" w="med" len="med"/>
          </a:ln>
        </p:spPr>
      </p:cxnSp>
      <p:cxnSp>
        <p:nvCxnSpPr>
          <p:cNvPr id="268" name="Google Shape;268;p5"/>
          <p:cNvCxnSpPr/>
          <p:nvPr/>
        </p:nvCxnSpPr>
        <p:spPr>
          <a:xfrm flipH="1">
            <a:off x="9447328" y="1037493"/>
            <a:ext cx="16118" cy="648832"/>
          </a:xfrm>
          <a:prstGeom prst="straightConnector1">
            <a:avLst/>
          </a:prstGeom>
          <a:noFill/>
          <a:ln w="19050" cap="flat" cmpd="sng">
            <a:solidFill>
              <a:schemeClr val="accent4"/>
            </a:solidFill>
            <a:prstDash val="solid"/>
            <a:miter lim="800000"/>
            <a:headEnd type="none" w="sm" len="sm"/>
            <a:tailEnd type="triangle" w="med" len="med"/>
          </a:ln>
        </p:spPr>
      </p:cxnSp>
      <p:cxnSp>
        <p:nvCxnSpPr>
          <p:cNvPr id="269" name="Google Shape;269;p5"/>
          <p:cNvCxnSpPr/>
          <p:nvPr/>
        </p:nvCxnSpPr>
        <p:spPr>
          <a:xfrm>
            <a:off x="9711095" y="1972684"/>
            <a:ext cx="701922" cy="0"/>
          </a:xfrm>
          <a:prstGeom prst="straightConnector1">
            <a:avLst/>
          </a:prstGeom>
          <a:noFill/>
          <a:ln w="19050" cap="flat" cmpd="sng">
            <a:solidFill>
              <a:schemeClr val="accent4"/>
            </a:solidFill>
            <a:prstDash val="solid"/>
            <a:miter lim="800000"/>
            <a:headEnd type="none" w="sm" len="sm"/>
            <a:tailEnd type="triangle" w="med" len="med"/>
          </a:ln>
        </p:spPr>
      </p:cxnSp>
      <p:cxnSp>
        <p:nvCxnSpPr>
          <p:cNvPr id="270" name="Google Shape;270;p5"/>
          <p:cNvCxnSpPr/>
          <p:nvPr/>
        </p:nvCxnSpPr>
        <p:spPr>
          <a:xfrm rot="10800000">
            <a:off x="10921508" y="777541"/>
            <a:ext cx="842592" cy="28"/>
          </a:xfrm>
          <a:prstGeom prst="straightConnector1">
            <a:avLst/>
          </a:prstGeom>
          <a:noFill/>
          <a:ln w="19050" cap="flat" cmpd="sng">
            <a:solidFill>
              <a:schemeClr val="accent4"/>
            </a:solidFill>
            <a:prstDash val="solid"/>
            <a:miter lim="800000"/>
            <a:headEnd type="none" w="sm" len="sm"/>
            <a:tailEnd type="triangle" w="med" len="med"/>
          </a:ln>
        </p:spPr>
      </p:cxnSp>
      <p:cxnSp>
        <p:nvCxnSpPr>
          <p:cNvPr id="271" name="Google Shape;271;p5"/>
          <p:cNvCxnSpPr>
            <a:stCxn id="266" idx="0"/>
          </p:cNvCxnSpPr>
          <p:nvPr/>
        </p:nvCxnSpPr>
        <p:spPr>
          <a:xfrm rot="10800000" flipH="1">
            <a:off x="10953012" y="1037429"/>
            <a:ext cx="910800" cy="749700"/>
          </a:xfrm>
          <a:prstGeom prst="straightConnector1">
            <a:avLst/>
          </a:prstGeom>
          <a:noFill/>
          <a:ln w="19050" cap="flat" cmpd="sng">
            <a:solidFill>
              <a:schemeClr val="accent4"/>
            </a:solidFill>
            <a:prstDash val="solid"/>
            <a:miter lim="800000"/>
            <a:headEnd type="none" w="sm" len="sm"/>
            <a:tailEnd type="triangle" w="med" len="med"/>
          </a:ln>
        </p:spPr>
      </p:cxnSp>
      <p:cxnSp>
        <p:nvCxnSpPr>
          <p:cNvPr id="272" name="Google Shape;272;p5"/>
          <p:cNvCxnSpPr/>
          <p:nvPr/>
        </p:nvCxnSpPr>
        <p:spPr>
          <a:xfrm rot="10800000" flipH="1">
            <a:off x="9626104" y="989252"/>
            <a:ext cx="871904" cy="797878"/>
          </a:xfrm>
          <a:prstGeom prst="straightConnector1">
            <a:avLst/>
          </a:prstGeom>
          <a:noFill/>
          <a:ln w="19050" cap="flat" cmpd="sng">
            <a:solidFill>
              <a:schemeClr val="accent4"/>
            </a:solidFill>
            <a:prstDash val="solid"/>
            <a:miter lim="800000"/>
            <a:headEnd type="none" w="sm" len="sm"/>
            <a:tailEnd type="triangle" w="med" len="med"/>
          </a:ln>
        </p:spPr>
      </p:cxnSp>
      <p:cxnSp>
        <p:nvCxnSpPr>
          <p:cNvPr id="273" name="Google Shape;273;p5"/>
          <p:cNvCxnSpPr/>
          <p:nvPr/>
        </p:nvCxnSpPr>
        <p:spPr>
          <a:xfrm>
            <a:off x="10707556" y="1058347"/>
            <a:ext cx="8796" cy="686992"/>
          </a:xfrm>
          <a:prstGeom prst="straightConnector1">
            <a:avLst/>
          </a:prstGeom>
          <a:noFill/>
          <a:ln w="19050" cap="flat" cmpd="sng">
            <a:solidFill>
              <a:schemeClr val="accent4"/>
            </a:solidFill>
            <a:prstDash val="solid"/>
            <a:miter lim="800000"/>
            <a:headEnd type="none" w="sm" len="sm"/>
            <a:tailEnd type="triangle" w="med" len="med"/>
          </a:ln>
        </p:spPr>
      </p:cxnSp>
      <p:cxnSp>
        <p:nvCxnSpPr>
          <p:cNvPr id="274" name="Google Shape;274;p5"/>
          <p:cNvCxnSpPr/>
          <p:nvPr/>
        </p:nvCxnSpPr>
        <p:spPr>
          <a:xfrm rot="10800000">
            <a:off x="10809403" y="989252"/>
            <a:ext cx="0" cy="756087"/>
          </a:xfrm>
          <a:prstGeom prst="straightConnector1">
            <a:avLst/>
          </a:prstGeom>
          <a:noFill/>
          <a:ln w="19050" cap="flat" cmpd="sng">
            <a:solidFill>
              <a:schemeClr val="accent4"/>
            </a:solidFill>
            <a:prstDash val="solid"/>
            <a:miter lim="800000"/>
            <a:headEnd type="none" w="sm" len="sm"/>
            <a:tailEnd type="triangle" w="med" len="med"/>
          </a:ln>
        </p:spPr>
      </p:cxnSp>
      <p:cxnSp>
        <p:nvCxnSpPr>
          <p:cNvPr id="275" name="Google Shape;275;p5"/>
          <p:cNvCxnSpPr>
            <a:endCxn id="265" idx="0"/>
          </p:cNvCxnSpPr>
          <p:nvPr/>
        </p:nvCxnSpPr>
        <p:spPr>
          <a:xfrm flipH="1">
            <a:off x="9524992" y="941903"/>
            <a:ext cx="879300" cy="808200"/>
          </a:xfrm>
          <a:prstGeom prst="straightConnector1">
            <a:avLst/>
          </a:prstGeom>
          <a:noFill/>
          <a:ln w="19050" cap="flat" cmpd="sng">
            <a:solidFill>
              <a:schemeClr val="accent4"/>
            </a:solidFill>
            <a:prstDash val="solid"/>
            <a:miter lim="800000"/>
            <a:headEnd type="none" w="sm" len="sm"/>
            <a:tailEnd type="triangle" w="med" len="med"/>
          </a:ln>
        </p:spPr>
      </p:cxnSp>
      <p:sp>
        <p:nvSpPr>
          <p:cNvPr id="276" name="Google Shape;276;p5"/>
          <p:cNvSpPr txBox="1"/>
          <p:nvPr/>
        </p:nvSpPr>
        <p:spPr>
          <a:xfrm>
            <a:off x="9264884" y="2230103"/>
            <a:ext cx="2902936" cy="2862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-Đầu tiên ta xét bậc của các đỉnh xem có thỏa mãn đk bậc chẵn ko và số đỉnh bậc lẻ =2 ko</a:t>
            </a:r>
            <a:endParaRPr/>
          </a:p>
          <a:p>
            <a:pPr marL="0" marR="0" lvl="0" indent="0" algn="l" rtl="0">
              <a:spcBef>
                <a:spcPts val="0"/>
              </a:spcBef>
              <a:spcAft>
                <a:spcPts val="0"/>
              </a:spcAft>
              <a:buNone/>
            </a:pPr>
            <a:r>
              <a:rPr lang="vi-VN" sz="1800">
                <a:solidFill>
                  <a:schemeClr val="dk1"/>
                </a:solidFill>
                <a:latin typeface="Calibri"/>
                <a:ea typeface="Calibri"/>
                <a:cs typeface="Calibri"/>
                <a:sym typeface="Calibri"/>
              </a:rPr>
              <a:t>-Xét sự cân bằng:</a:t>
            </a:r>
            <a:endParaRPr/>
          </a:p>
          <a:p>
            <a:pPr marL="0" marR="0" lvl="0" indent="0" algn="l" rtl="0">
              <a:spcBef>
                <a:spcPts val="0"/>
              </a:spcBef>
              <a:spcAft>
                <a:spcPts val="0"/>
              </a:spcAft>
              <a:buNone/>
            </a:pPr>
            <a:r>
              <a:rPr lang="vi-VN" sz="1800">
                <a:solidFill>
                  <a:schemeClr val="dk1"/>
                </a:solidFill>
                <a:latin typeface="Calibri"/>
                <a:ea typeface="Calibri"/>
                <a:cs typeface="Calibri"/>
                <a:sym typeface="Calibri"/>
              </a:rPr>
              <a:t>    deg</a:t>
            </a:r>
            <a:r>
              <a:rPr lang="vi-VN" sz="1800" baseline="-25000">
                <a:solidFill>
                  <a:schemeClr val="dk1"/>
                </a:solidFill>
                <a:latin typeface="Calibri"/>
                <a:ea typeface="Calibri"/>
                <a:cs typeface="Calibri"/>
                <a:sym typeface="Calibri"/>
              </a:rPr>
              <a:t>+</a:t>
            </a:r>
            <a:r>
              <a:rPr lang="vi-VN" sz="1800">
                <a:solidFill>
                  <a:schemeClr val="dk1"/>
                </a:solidFill>
                <a:latin typeface="Calibri"/>
                <a:ea typeface="Calibri"/>
                <a:cs typeface="Calibri"/>
                <a:sym typeface="Calibri"/>
              </a:rPr>
              <a:t>(a)=deg</a:t>
            </a:r>
            <a:r>
              <a:rPr lang="vi-VN" sz="1800" baseline="-25000">
                <a:solidFill>
                  <a:schemeClr val="dk1"/>
                </a:solidFill>
                <a:latin typeface="Calibri"/>
                <a:ea typeface="Calibri"/>
                <a:cs typeface="Calibri"/>
                <a:sym typeface="Calibri"/>
              </a:rPr>
              <a:t>-</a:t>
            </a:r>
            <a:r>
              <a:rPr lang="vi-VN" sz="1800">
                <a:solidFill>
                  <a:schemeClr val="dk1"/>
                </a:solidFill>
                <a:latin typeface="Calibri"/>
                <a:ea typeface="Calibri"/>
                <a:cs typeface="Calibri"/>
                <a:sym typeface="Calibri"/>
              </a:rPr>
              <a:t>(a)</a:t>
            </a:r>
            <a:endParaRPr/>
          </a:p>
          <a:p>
            <a:pPr marL="0" marR="0" lvl="0" indent="0" algn="l" rtl="0">
              <a:spcBef>
                <a:spcPts val="0"/>
              </a:spcBef>
              <a:spcAft>
                <a:spcPts val="0"/>
              </a:spcAft>
              <a:buNone/>
            </a:pPr>
            <a:r>
              <a:rPr lang="vi-VN" sz="1800">
                <a:solidFill>
                  <a:schemeClr val="dk1"/>
                </a:solidFill>
                <a:latin typeface="Calibri"/>
                <a:ea typeface="Calibri"/>
                <a:cs typeface="Calibri"/>
                <a:sym typeface="Calibri"/>
              </a:rPr>
              <a:t>—&gt; Đây là đồ thị chu trình Euler</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277" name="Google Shape;277;p5"/>
          <p:cNvCxnSpPr/>
          <p:nvPr/>
        </p:nvCxnSpPr>
        <p:spPr>
          <a:xfrm rot="10800000">
            <a:off x="9608518" y="469197"/>
            <a:ext cx="926859" cy="0"/>
          </a:xfrm>
          <a:prstGeom prst="straightConnector1">
            <a:avLst/>
          </a:prstGeom>
          <a:noFill/>
          <a:ln w="19050" cap="flat" cmpd="sng">
            <a:solidFill>
              <a:schemeClr val="accent2"/>
            </a:solidFill>
            <a:prstDash val="solid"/>
            <a:miter lim="800000"/>
            <a:headEnd type="none" w="sm" len="sm"/>
            <a:tailEnd type="stealth" w="med" len="med"/>
          </a:ln>
        </p:spPr>
      </p:cxnSp>
      <p:cxnSp>
        <p:nvCxnSpPr>
          <p:cNvPr id="278" name="Google Shape;278;p5"/>
          <p:cNvCxnSpPr/>
          <p:nvPr/>
        </p:nvCxnSpPr>
        <p:spPr>
          <a:xfrm flipH="1">
            <a:off x="9145456" y="775327"/>
            <a:ext cx="5501" cy="1023660"/>
          </a:xfrm>
          <a:prstGeom prst="straightConnector1">
            <a:avLst/>
          </a:prstGeom>
          <a:noFill/>
          <a:ln w="19050" cap="flat" cmpd="sng">
            <a:solidFill>
              <a:schemeClr val="accent2"/>
            </a:solidFill>
            <a:prstDash val="solid"/>
            <a:miter lim="800000"/>
            <a:headEnd type="none" w="sm" len="sm"/>
            <a:tailEnd type="stealth" w="med" len="med"/>
          </a:ln>
        </p:spPr>
      </p:cxnSp>
      <p:cxnSp>
        <p:nvCxnSpPr>
          <p:cNvPr id="279" name="Google Shape;279;p5"/>
          <p:cNvCxnSpPr/>
          <p:nvPr/>
        </p:nvCxnSpPr>
        <p:spPr>
          <a:xfrm rot="10800000" flipH="1">
            <a:off x="9648353" y="959681"/>
            <a:ext cx="1021198" cy="953238"/>
          </a:xfrm>
          <a:prstGeom prst="straightConnector1">
            <a:avLst/>
          </a:prstGeom>
          <a:noFill/>
          <a:ln w="19050" cap="flat" cmpd="sng">
            <a:solidFill>
              <a:schemeClr val="accent2"/>
            </a:solidFill>
            <a:prstDash val="solid"/>
            <a:miter lim="800000"/>
            <a:headEnd type="none" w="sm" len="sm"/>
            <a:tailEnd type="stealth" w="med" len="med"/>
          </a:ln>
        </p:spPr>
      </p:cxnSp>
      <p:cxnSp>
        <p:nvCxnSpPr>
          <p:cNvPr id="280" name="Google Shape;280;p5"/>
          <p:cNvCxnSpPr/>
          <p:nvPr/>
        </p:nvCxnSpPr>
        <p:spPr>
          <a:xfrm flipH="1">
            <a:off x="9516567" y="847254"/>
            <a:ext cx="825009" cy="786299"/>
          </a:xfrm>
          <a:prstGeom prst="straightConnector1">
            <a:avLst/>
          </a:prstGeom>
          <a:noFill/>
          <a:ln w="19050" cap="flat" cmpd="sng">
            <a:solidFill>
              <a:schemeClr val="accent2"/>
            </a:solidFill>
            <a:prstDash val="solid"/>
            <a:miter lim="800000"/>
            <a:headEnd type="none" w="sm" len="sm"/>
            <a:tailEnd type="stealth" w="med" len="med"/>
          </a:ln>
        </p:spPr>
      </p:cxnSp>
      <p:cxnSp>
        <p:nvCxnSpPr>
          <p:cNvPr id="281" name="Google Shape;281;p5"/>
          <p:cNvCxnSpPr/>
          <p:nvPr/>
        </p:nvCxnSpPr>
        <p:spPr>
          <a:xfrm rot="10800000" flipH="1">
            <a:off x="9457584" y="2205638"/>
            <a:ext cx="1208944" cy="8792"/>
          </a:xfrm>
          <a:prstGeom prst="straightConnector1">
            <a:avLst/>
          </a:prstGeom>
          <a:noFill/>
          <a:ln w="19050" cap="flat" cmpd="sng">
            <a:solidFill>
              <a:schemeClr val="accent2"/>
            </a:solidFill>
            <a:prstDash val="solid"/>
            <a:miter lim="800000"/>
            <a:headEnd type="none" w="sm" len="sm"/>
            <a:tailEnd type="stealth" w="med" len="med"/>
          </a:ln>
        </p:spPr>
      </p:cxnSp>
      <p:cxnSp>
        <p:nvCxnSpPr>
          <p:cNvPr id="282" name="Google Shape;282;p5"/>
          <p:cNvCxnSpPr/>
          <p:nvPr/>
        </p:nvCxnSpPr>
        <p:spPr>
          <a:xfrm rot="10800000">
            <a:off x="10921508" y="829836"/>
            <a:ext cx="0" cy="1144013"/>
          </a:xfrm>
          <a:prstGeom prst="straightConnector1">
            <a:avLst/>
          </a:prstGeom>
          <a:noFill/>
          <a:ln w="19050" cap="flat" cmpd="sng">
            <a:solidFill>
              <a:schemeClr val="accent2"/>
            </a:solidFill>
            <a:prstDash val="solid"/>
            <a:miter lim="800000"/>
            <a:headEnd type="none" w="sm" len="sm"/>
            <a:tailEnd type="stealth" w="med" len="med"/>
          </a:ln>
        </p:spPr>
      </p:cxnSp>
      <p:cxnSp>
        <p:nvCxnSpPr>
          <p:cNvPr id="283" name="Google Shape;283;p5"/>
          <p:cNvCxnSpPr/>
          <p:nvPr/>
        </p:nvCxnSpPr>
        <p:spPr>
          <a:xfrm flipH="1">
            <a:off x="10573879" y="1112821"/>
            <a:ext cx="14652" cy="674308"/>
          </a:xfrm>
          <a:prstGeom prst="straightConnector1">
            <a:avLst/>
          </a:prstGeom>
          <a:noFill/>
          <a:ln w="19050" cap="flat" cmpd="sng">
            <a:solidFill>
              <a:schemeClr val="accent2"/>
            </a:solidFill>
            <a:prstDash val="solid"/>
            <a:miter lim="800000"/>
            <a:headEnd type="none" w="sm" len="sm"/>
            <a:tailEnd type="stealth" w="med" len="med"/>
          </a:ln>
        </p:spPr>
      </p:cxnSp>
      <p:cxnSp>
        <p:nvCxnSpPr>
          <p:cNvPr id="284" name="Google Shape;284;p5"/>
          <p:cNvCxnSpPr/>
          <p:nvPr/>
        </p:nvCxnSpPr>
        <p:spPr>
          <a:xfrm rot="10800000" flipH="1">
            <a:off x="10969121" y="985059"/>
            <a:ext cx="1160398" cy="946638"/>
          </a:xfrm>
          <a:prstGeom prst="straightConnector1">
            <a:avLst/>
          </a:prstGeom>
          <a:noFill/>
          <a:ln w="19050" cap="flat" cmpd="sng">
            <a:solidFill>
              <a:schemeClr val="accent2"/>
            </a:solidFill>
            <a:prstDash val="solid"/>
            <a:miter lim="800000"/>
            <a:headEnd type="none" w="sm" len="sm"/>
            <a:tailEnd type="stealth" w="med" len="med"/>
          </a:ln>
        </p:spPr>
      </p:cxnSp>
      <p:cxnSp>
        <p:nvCxnSpPr>
          <p:cNvPr id="285" name="Google Shape;285;p5"/>
          <p:cNvCxnSpPr/>
          <p:nvPr/>
        </p:nvCxnSpPr>
        <p:spPr>
          <a:xfrm flipH="1">
            <a:off x="10950259" y="447399"/>
            <a:ext cx="1160398" cy="21798"/>
          </a:xfrm>
          <a:prstGeom prst="straightConnector1">
            <a:avLst/>
          </a:prstGeom>
          <a:noFill/>
          <a:ln w="19050" cap="flat" cmpd="sng">
            <a:solidFill>
              <a:schemeClr val="accent2"/>
            </a:solidFill>
            <a:prstDash val="solid"/>
            <a:miter lim="800000"/>
            <a:headEnd type="none" w="sm" len="sm"/>
            <a:tailEnd type="stealth" w="med" len="med"/>
          </a:ln>
        </p:spPr>
      </p:cxnSp>
      <p:sp>
        <p:nvSpPr>
          <p:cNvPr id="286" name="Google Shape;286;p5"/>
          <p:cNvSpPr/>
          <p:nvPr/>
        </p:nvSpPr>
        <p:spPr>
          <a:xfrm>
            <a:off x="10614502" y="343360"/>
            <a:ext cx="218343" cy="187843"/>
          </a:xfrm>
          <a:prstGeom prst="donut">
            <a:avLst>
              <a:gd name="adj" fmla="val 25000"/>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 name="PAGE NUM 0">
            <a:extLst>
              <a:ext uri="{FF2B5EF4-FFF2-40B4-BE49-F238E27FC236}">
                <a16:creationId xmlns:a16="http://schemas.microsoft.com/office/drawing/2014/main" id="{340E0FED-6CAC-4820-A241-F36A52F33F96}"/>
              </a:ext>
            </a:extLst>
          </p:cNvPr>
          <p:cNvSpPr txBox="1"/>
          <p:nvPr/>
        </p:nvSpPr>
        <p:spPr>
          <a:xfrm>
            <a:off x="11599908" y="-5105"/>
            <a:ext cx="468851" cy="369332"/>
          </a:xfrm>
          <a:prstGeom prst="rect">
            <a:avLst/>
          </a:prstGeom>
          <a:noFill/>
          <a:ln>
            <a:noFill/>
          </a:ln>
        </p:spPr>
        <p:txBody>
          <a:bodyPr wrap="square" rtlCol="0">
            <a:spAutoFit/>
          </a:bodyPr>
          <a:lstStyle/>
          <a:p>
            <a:pPr algn="r"/>
            <a:r>
              <a:rPr lang="en-US" strike="sngStrike" dirty="0">
                <a:solidFill>
                  <a:srgbClr val="C00000"/>
                </a:solidFill>
                <a:latin typeface="JetBrains Mono Light" panose="02000009000000000000" pitchFamily="49" charset="0"/>
                <a:cs typeface="JetBrains Mono Light" panose="02000009000000000000" pitchFamily="49" charset="0"/>
              </a:rPr>
              <a:t>2</a:t>
            </a:r>
          </a:p>
        </p:txBody>
      </p:sp>
      <p:sp>
        <p:nvSpPr>
          <p:cNvPr id="35" name="PAGE NUM 1">
            <a:extLst>
              <a:ext uri="{FF2B5EF4-FFF2-40B4-BE49-F238E27FC236}">
                <a16:creationId xmlns:a16="http://schemas.microsoft.com/office/drawing/2014/main" id="{DF2BD67E-0DFC-4C31-B423-CC46AF3A3740}"/>
              </a:ext>
            </a:extLst>
          </p:cNvPr>
          <p:cNvSpPr txBox="1"/>
          <p:nvPr/>
        </p:nvSpPr>
        <p:spPr>
          <a:xfrm>
            <a:off x="11883838" y="-11114"/>
            <a:ext cx="914400" cy="369332"/>
          </a:xfrm>
          <a:prstGeom prst="rect">
            <a:avLst/>
          </a:prstGeom>
          <a:noFill/>
        </p:spPr>
        <p:txBody>
          <a:bodyPr wrap="square" rtlCol="0">
            <a:spAutoFit/>
          </a:bodyPr>
          <a:lstStyle/>
          <a:p>
            <a:r>
              <a:rPr lang="en-US" strike="sngStrike" dirty="0">
                <a:solidFill>
                  <a:srgbClr val="C00000"/>
                </a:solidFill>
                <a:latin typeface="JetBrains Mono Light" panose="02000009000000000000" pitchFamily="49" charset="0"/>
                <a:cs typeface="JetBrains Mono Light" panose="02000009000000000000" pitchFamily="49" charset="0"/>
              </a:rPr>
              <a:t>9</a:t>
            </a:r>
            <a:endParaRPr lang="en-US" strike="sngStrike" dirty="0">
              <a:solidFill>
                <a:srgbClr val="C00000"/>
              </a:solidFill>
            </a:endParaRPr>
          </a:p>
        </p:txBody>
      </p:sp>
    </p:spTree>
    <p:extLst>
      <p:ext uri="{BB962C8B-B14F-4D97-AF65-F5344CB8AC3E}">
        <p14:creationId xmlns:p14="http://schemas.microsoft.com/office/powerpoint/2010/main" val="15272031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6">
                                            <p:txEl>
                                              <p:pRg st="0" end="0"/>
                                            </p:txEl>
                                          </p:spTgt>
                                        </p:tgtEl>
                                        <p:attrNameLst>
                                          <p:attrName>style.visibility</p:attrName>
                                        </p:attrNameLst>
                                      </p:cBhvr>
                                      <p:to>
                                        <p:strVal val="visible"/>
                                      </p:to>
                                    </p:set>
                                    <p:animEffect transition="in" filter="fade">
                                      <p:cBhvr>
                                        <p:cTn id="7" dur="500"/>
                                        <p:tgtEl>
                                          <p:spTgt spid="2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6">
                                            <p:txEl>
                                              <p:pRg st="1" end="1"/>
                                            </p:txEl>
                                          </p:spTgt>
                                        </p:tgtEl>
                                        <p:attrNameLst>
                                          <p:attrName>style.visibility</p:attrName>
                                        </p:attrNameLst>
                                      </p:cBhvr>
                                      <p:to>
                                        <p:strVal val="visible"/>
                                      </p:to>
                                    </p:set>
                                    <p:animEffect transition="in" filter="fade">
                                      <p:cBhvr>
                                        <p:cTn id="12" dur="500"/>
                                        <p:tgtEl>
                                          <p:spTgt spid="25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6">
                                            <p:txEl>
                                              <p:pRg st="2" end="2"/>
                                            </p:txEl>
                                          </p:spTgt>
                                        </p:tgtEl>
                                        <p:attrNameLst>
                                          <p:attrName>style.visibility</p:attrName>
                                        </p:attrNameLst>
                                      </p:cBhvr>
                                      <p:to>
                                        <p:strVal val="visible"/>
                                      </p:to>
                                    </p:set>
                                    <p:animEffect transition="in" filter="fade">
                                      <p:cBhvr>
                                        <p:cTn id="17" dur="500"/>
                                        <p:tgtEl>
                                          <p:spTgt spid="25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6">
                                            <p:txEl>
                                              <p:pRg st="3" end="3"/>
                                            </p:txEl>
                                          </p:spTgt>
                                        </p:tgtEl>
                                        <p:attrNameLst>
                                          <p:attrName>style.visibility</p:attrName>
                                        </p:attrNameLst>
                                      </p:cBhvr>
                                      <p:to>
                                        <p:strVal val="visible"/>
                                      </p:to>
                                    </p:set>
                                    <p:animEffect transition="in" filter="fade">
                                      <p:cBhvr>
                                        <p:cTn id="22" dur="500"/>
                                        <p:tgtEl>
                                          <p:spTgt spid="25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6">
                                            <p:txEl>
                                              <p:pRg st="4" end="4"/>
                                            </p:txEl>
                                          </p:spTgt>
                                        </p:tgtEl>
                                        <p:attrNameLst>
                                          <p:attrName>style.visibility</p:attrName>
                                        </p:attrNameLst>
                                      </p:cBhvr>
                                      <p:to>
                                        <p:strVal val="visible"/>
                                      </p:to>
                                    </p:set>
                                    <p:animEffect transition="in" filter="fade">
                                      <p:cBhvr>
                                        <p:cTn id="27" dur="500"/>
                                        <p:tgtEl>
                                          <p:spTgt spid="25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6">
                                            <p:txEl>
                                              <p:pRg st="5" end="5"/>
                                            </p:txEl>
                                          </p:spTgt>
                                        </p:tgtEl>
                                        <p:attrNameLst>
                                          <p:attrName>style.visibility</p:attrName>
                                        </p:attrNameLst>
                                      </p:cBhvr>
                                      <p:to>
                                        <p:strVal val="visible"/>
                                      </p:to>
                                    </p:set>
                                    <p:animEffect transition="in" filter="fade">
                                      <p:cBhvr>
                                        <p:cTn id="32" dur="500"/>
                                        <p:tgtEl>
                                          <p:spTgt spid="25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56">
                                            <p:txEl>
                                              <p:pRg st="6" end="6"/>
                                            </p:txEl>
                                          </p:spTgt>
                                        </p:tgtEl>
                                        <p:attrNameLst>
                                          <p:attrName>style.visibility</p:attrName>
                                        </p:attrNameLst>
                                      </p:cBhvr>
                                      <p:to>
                                        <p:strVal val="visible"/>
                                      </p:to>
                                    </p:set>
                                    <p:animEffect transition="in" filter="fade">
                                      <p:cBhvr>
                                        <p:cTn id="37" dur="500"/>
                                        <p:tgtEl>
                                          <p:spTgt spid="25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56">
                                            <p:txEl>
                                              <p:pRg st="7" end="7"/>
                                            </p:txEl>
                                          </p:spTgt>
                                        </p:tgtEl>
                                        <p:attrNameLst>
                                          <p:attrName>style.visibility</p:attrName>
                                        </p:attrNameLst>
                                      </p:cBhvr>
                                      <p:to>
                                        <p:strVal val="visible"/>
                                      </p:to>
                                    </p:set>
                                    <p:animEffect transition="in" filter="fade">
                                      <p:cBhvr>
                                        <p:cTn id="42" dur="500"/>
                                        <p:tgtEl>
                                          <p:spTgt spid="25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56">
                                            <p:txEl>
                                              <p:pRg st="8" end="8"/>
                                            </p:txEl>
                                          </p:spTgt>
                                        </p:tgtEl>
                                        <p:attrNameLst>
                                          <p:attrName>style.visibility</p:attrName>
                                        </p:attrNameLst>
                                      </p:cBhvr>
                                      <p:to>
                                        <p:strVal val="visible"/>
                                      </p:to>
                                    </p:set>
                                    <p:animEffect transition="in" filter="fade">
                                      <p:cBhvr>
                                        <p:cTn id="47" dur="500"/>
                                        <p:tgtEl>
                                          <p:spTgt spid="25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56">
                                            <p:txEl>
                                              <p:pRg st="9" end="9"/>
                                            </p:txEl>
                                          </p:spTgt>
                                        </p:tgtEl>
                                        <p:attrNameLst>
                                          <p:attrName>style.visibility</p:attrName>
                                        </p:attrNameLst>
                                      </p:cBhvr>
                                      <p:to>
                                        <p:strVal val="visible"/>
                                      </p:to>
                                    </p:set>
                                    <p:animEffect transition="in" filter="fade">
                                      <p:cBhvr>
                                        <p:cTn id="52" dur="500"/>
                                        <p:tgtEl>
                                          <p:spTgt spid="256">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56">
                                            <p:txEl>
                                              <p:pRg st="10" end="10"/>
                                            </p:txEl>
                                          </p:spTgt>
                                        </p:tgtEl>
                                        <p:attrNameLst>
                                          <p:attrName>style.visibility</p:attrName>
                                        </p:attrNameLst>
                                      </p:cBhvr>
                                      <p:to>
                                        <p:strVal val="visible"/>
                                      </p:to>
                                    </p:set>
                                    <p:animEffect transition="in" filter="fade">
                                      <p:cBhvr>
                                        <p:cTn id="57" dur="500"/>
                                        <p:tgtEl>
                                          <p:spTgt spid="256">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56">
                                            <p:txEl>
                                              <p:pRg st="11" end="11"/>
                                            </p:txEl>
                                          </p:spTgt>
                                        </p:tgtEl>
                                        <p:attrNameLst>
                                          <p:attrName>style.visibility</p:attrName>
                                        </p:attrNameLst>
                                      </p:cBhvr>
                                      <p:to>
                                        <p:strVal val="visible"/>
                                      </p:to>
                                    </p:set>
                                    <p:animEffect transition="in" filter="fade">
                                      <p:cBhvr>
                                        <p:cTn id="62" dur="500"/>
                                        <p:tgtEl>
                                          <p:spTgt spid="256">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57"/>
                                        </p:tgtEl>
                                        <p:attrNameLst>
                                          <p:attrName>style.visibility</p:attrName>
                                        </p:attrNameLst>
                                      </p:cBhvr>
                                      <p:to>
                                        <p:strVal val="visible"/>
                                      </p:to>
                                    </p:set>
                                    <p:animEffect transition="in" filter="fade">
                                      <p:cBhvr>
                                        <p:cTn id="67" dur="500"/>
                                        <p:tgtEl>
                                          <p:spTgt spid="257"/>
                                        </p:tgtEl>
                                      </p:cBhvr>
                                    </p:animEffect>
                                  </p:childTnLst>
                                </p:cTn>
                              </p:par>
                              <p:par>
                                <p:cTn id="68" presetID="10" presetClass="entr" presetSubtype="0" fill="hold" nodeType="withEffect">
                                  <p:stCondLst>
                                    <p:cond delay="0"/>
                                  </p:stCondLst>
                                  <p:childTnLst>
                                    <p:set>
                                      <p:cBhvr>
                                        <p:cTn id="69" dur="1" fill="hold">
                                          <p:stCondLst>
                                            <p:cond delay="0"/>
                                          </p:stCondLst>
                                        </p:cTn>
                                        <p:tgtEl>
                                          <p:spTgt spid="258"/>
                                        </p:tgtEl>
                                        <p:attrNameLst>
                                          <p:attrName>style.visibility</p:attrName>
                                        </p:attrNameLst>
                                      </p:cBhvr>
                                      <p:to>
                                        <p:strVal val="visible"/>
                                      </p:to>
                                    </p:set>
                                    <p:animEffect transition="in" filter="fade">
                                      <p:cBhvr>
                                        <p:cTn id="70" dur="500"/>
                                        <p:tgtEl>
                                          <p:spTgt spid="258"/>
                                        </p:tgtEl>
                                      </p:cBhvr>
                                    </p:animEffect>
                                  </p:childTnLst>
                                </p:cTn>
                              </p:par>
                              <p:par>
                                <p:cTn id="71" presetID="10" presetClass="entr" presetSubtype="0" fill="hold" nodeType="withEffect">
                                  <p:stCondLst>
                                    <p:cond delay="0"/>
                                  </p:stCondLst>
                                  <p:childTnLst>
                                    <p:set>
                                      <p:cBhvr>
                                        <p:cTn id="72" dur="1" fill="hold">
                                          <p:stCondLst>
                                            <p:cond delay="0"/>
                                          </p:stCondLst>
                                        </p:cTn>
                                        <p:tgtEl>
                                          <p:spTgt spid="259"/>
                                        </p:tgtEl>
                                        <p:attrNameLst>
                                          <p:attrName>style.visibility</p:attrName>
                                        </p:attrNameLst>
                                      </p:cBhvr>
                                      <p:to>
                                        <p:strVal val="visible"/>
                                      </p:to>
                                    </p:set>
                                    <p:animEffect transition="in" filter="fade">
                                      <p:cBhvr>
                                        <p:cTn id="73" dur="500"/>
                                        <p:tgtEl>
                                          <p:spTgt spid="259"/>
                                        </p:tgtEl>
                                      </p:cBhvr>
                                    </p:animEffect>
                                  </p:childTnLst>
                                </p:cTn>
                              </p:par>
                              <p:par>
                                <p:cTn id="74" presetID="10" presetClass="entr" presetSubtype="0" fill="hold" nodeType="withEffect">
                                  <p:stCondLst>
                                    <p:cond delay="0"/>
                                  </p:stCondLst>
                                  <p:childTnLst>
                                    <p:set>
                                      <p:cBhvr>
                                        <p:cTn id="75" dur="1" fill="hold">
                                          <p:stCondLst>
                                            <p:cond delay="0"/>
                                          </p:stCondLst>
                                        </p:cTn>
                                        <p:tgtEl>
                                          <p:spTgt spid="260"/>
                                        </p:tgtEl>
                                        <p:attrNameLst>
                                          <p:attrName>style.visibility</p:attrName>
                                        </p:attrNameLst>
                                      </p:cBhvr>
                                      <p:to>
                                        <p:strVal val="visible"/>
                                      </p:to>
                                    </p:set>
                                    <p:animEffect transition="in" filter="fade">
                                      <p:cBhvr>
                                        <p:cTn id="76" dur="500"/>
                                        <p:tgtEl>
                                          <p:spTgt spid="260"/>
                                        </p:tgtEl>
                                      </p:cBhvr>
                                    </p:animEffect>
                                  </p:childTnLst>
                                </p:cTn>
                              </p:par>
                              <p:par>
                                <p:cTn id="77" presetID="10" presetClass="entr" presetSubtype="0" fill="hold" nodeType="withEffect">
                                  <p:stCondLst>
                                    <p:cond delay="0"/>
                                  </p:stCondLst>
                                  <p:childTnLst>
                                    <p:set>
                                      <p:cBhvr>
                                        <p:cTn id="78" dur="1" fill="hold">
                                          <p:stCondLst>
                                            <p:cond delay="0"/>
                                          </p:stCondLst>
                                        </p:cTn>
                                        <p:tgtEl>
                                          <p:spTgt spid="261"/>
                                        </p:tgtEl>
                                        <p:attrNameLst>
                                          <p:attrName>style.visibility</p:attrName>
                                        </p:attrNameLst>
                                      </p:cBhvr>
                                      <p:to>
                                        <p:strVal val="visible"/>
                                      </p:to>
                                    </p:set>
                                    <p:animEffect transition="in" filter="fade">
                                      <p:cBhvr>
                                        <p:cTn id="79" dur="500"/>
                                        <p:tgtEl>
                                          <p:spTgt spid="261"/>
                                        </p:tgtEl>
                                      </p:cBhvr>
                                    </p:animEffect>
                                  </p:childTnLst>
                                </p:cTn>
                              </p:par>
                              <p:par>
                                <p:cTn id="80" presetID="10" presetClass="entr" presetSubtype="0" fill="hold" nodeType="withEffect">
                                  <p:stCondLst>
                                    <p:cond delay="0"/>
                                  </p:stCondLst>
                                  <p:childTnLst>
                                    <p:set>
                                      <p:cBhvr>
                                        <p:cTn id="81" dur="1" fill="hold">
                                          <p:stCondLst>
                                            <p:cond delay="0"/>
                                          </p:stCondLst>
                                        </p:cTn>
                                        <p:tgtEl>
                                          <p:spTgt spid="262"/>
                                        </p:tgtEl>
                                        <p:attrNameLst>
                                          <p:attrName>style.visibility</p:attrName>
                                        </p:attrNameLst>
                                      </p:cBhvr>
                                      <p:to>
                                        <p:strVal val="visible"/>
                                      </p:to>
                                    </p:set>
                                    <p:animEffect transition="in" filter="fade">
                                      <p:cBhvr>
                                        <p:cTn id="82" dur="500"/>
                                        <p:tgtEl>
                                          <p:spTgt spid="262"/>
                                        </p:tgtEl>
                                      </p:cBhvr>
                                    </p:animEffect>
                                  </p:childTnLst>
                                </p:cTn>
                              </p:par>
                              <p:par>
                                <p:cTn id="83" presetID="10" presetClass="entr" presetSubtype="0" fill="hold" nodeType="withEffect">
                                  <p:stCondLst>
                                    <p:cond delay="0"/>
                                  </p:stCondLst>
                                  <p:childTnLst>
                                    <p:set>
                                      <p:cBhvr>
                                        <p:cTn id="84" dur="1" fill="hold">
                                          <p:stCondLst>
                                            <p:cond delay="0"/>
                                          </p:stCondLst>
                                        </p:cTn>
                                        <p:tgtEl>
                                          <p:spTgt spid="263"/>
                                        </p:tgtEl>
                                        <p:attrNameLst>
                                          <p:attrName>style.visibility</p:attrName>
                                        </p:attrNameLst>
                                      </p:cBhvr>
                                      <p:to>
                                        <p:strVal val="visible"/>
                                      </p:to>
                                    </p:set>
                                    <p:animEffect transition="in" filter="fade">
                                      <p:cBhvr>
                                        <p:cTn id="85" dur="500"/>
                                        <p:tgtEl>
                                          <p:spTgt spid="263"/>
                                        </p:tgtEl>
                                      </p:cBhvr>
                                    </p:animEffect>
                                  </p:childTnLst>
                                </p:cTn>
                              </p:par>
                              <p:par>
                                <p:cTn id="86" presetID="10" presetClass="entr" presetSubtype="0" fill="hold" nodeType="withEffect">
                                  <p:stCondLst>
                                    <p:cond delay="0"/>
                                  </p:stCondLst>
                                  <p:childTnLst>
                                    <p:set>
                                      <p:cBhvr>
                                        <p:cTn id="87" dur="1" fill="hold">
                                          <p:stCondLst>
                                            <p:cond delay="0"/>
                                          </p:stCondLst>
                                        </p:cTn>
                                        <p:tgtEl>
                                          <p:spTgt spid="264"/>
                                        </p:tgtEl>
                                        <p:attrNameLst>
                                          <p:attrName>style.visibility</p:attrName>
                                        </p:attrNameLst>
                                      </p:cBhvr>
                                      <p:to>
                                        <p:strVal val="visible"/>
                                      </p:to>
                                    </p:set>
                                    <p:animEffect transition="in" filter="fade">
                                      <p:cBhvr>
                                        <p:cTn id="88" dur="500"/>
                                        <p:tgtEl>
                                          <p:spTgt spid="264"/>
                                        </p:tgtEl>
                                      </p:cBhvr>
                                    </p:animEffect>
                                  </p:childTnLst>
                                </p:cTn>
                              </p:par>
                              <p:par>
                                <p:cTn id="89" presetID="10" presetClass="entr" presetSubtype="0" fill="hold" nodeType="withEffect">
                                  <p:stCondLst>
                                    <p:cond delay="0"/>
                                  </p:stCondLst>
                                  <p:childTnLst>
                                    <p:set>
                                      <p:cBhvr>
                                        <p:cTn id="90" dur="1" fill="hold">
                                          <p:stCondLst>
                                            <p:cond delay="0"/>
                                          </p:stCondLst>
                                        </p:cTn>
                                        <p:tgtEl>
                                          <p:spTgt spid="265"/>
                                        </p:tgtEl>
                                        <p:attrNameLst>
                                          <p:attrName>style.visibility</p:attrName>
                                        </p:attrNameLst>
                                      </p:cBhvr>
                                      <p:to>
                                        <p:strVal val="visible"/>
                                      </p:to>
                                    </p:set>
                                    <p:animEffect transition="in" filter="fade">
                                      <p:cBhvr>
                                        <p:cTn id="91" dur="500"/>
                                        <p:tgtEl>
                                          <p:spTgt spid="265"/>
                                        </p:tgtEl>
                                      </p:cBhvr>
                                    </p:animEffect>
                                  </p:childTnLst>
                                </p:cTn>
                              </p:par>
                              <p:par>
                                <p:cTn id="92" presetID="10" presetClass="entr" presetSubtype="0" fill="hold" nodeType="withEffect">
                                  <p:stCondLst>
                                    <p:cond delay="0"/>
                                  </p:stCondLst>
                                  <p:childTnLst>
                                    <p:set>
                                      <p:cBhvr>
                                        <p:cTn id="93" dur="1" fill="hold">
                                          <p:stCondLst>
                                            <p:cond delay="0"/>
                                          </p:stCondLst>
                                        </p:cTn>
                                        <p:tgtEl>
                                          <p:spTgt spid="266"/>
                                        </p:tgtEl>
                                        <p:attrNameLst>
                                          <p:attrName>style.visibility</p:attrName>
                                        </p:attrNameLst>
                                      </p:cBhvr>
                                      <p:to>
                                        <p:strVal val="visible"/>
                                      </p:to>
                                    </p:set>
                                    <p:animEffect transition="in" filter="fade">
                                      <p:cBhvr>
                                        <p:cTn id="94" dur="500"/>
                                        <p:tgtEl>
                                          <p:spTgt spid="266"/>
                                        </p:tgtEl>
                                      </p:cBhvr>
                                    </p:animEffect>
                                  </p:childTnLst>
                                </p:cTn>
                              </p:par>
                              <p:par>
                                <p:cTn id="95" presetID="10" presetClass="entr" presetSubtype="0" fill="hold" nodeType="withEffect">
                                  <p:stCondLst>
                                    <p:cond delay="0"/>
                                  </p:stCondLst>
                                  <p:childTnLst>
                                    <p:set>
                                      <p:cBhvr>
                                        <p:cTn id="96" dur="1" fill="hold">
                                          <p:stCondLst>
                                            <p:cond delay="0"/>
                                          </p:stCondLst>
                                        </p:cTn>
                                        <p:tgtEl>
                                          <p:spTgt spid="267"/>
                                        </p:tgtEl>
                                        <p:attrNameLst>
                                          <p:attrName>style.visibility</p:attrName>
                                        </p:attrNameLst>
                                      </p:cBhvr>
                                      <p:to>
                                        <p:strVal val="visible"/>
                                      </p:to>
                                    </p:set>
                                    <p:animEffect transition="in" filter="fade">
                                      <p:cBhvr>
                                        <p:cTn id="97" dur="500"/>
                                        <p:tgtEl>
                                          <p:spTgt spid="267"/>
                                        </p:tgtEl>
                                      </p:cBhvr>
                                    </p:animEffect>
                                  </p:childTnLst>
                                </p:cTn>
                              </p:par>
                              <p:par>
                                <p:cTn id="98" presetID="10" presetClass="entr" presetSubtype="0" fill="hold" nodeType="withEffect">
                                  <p:stCondLst>
                                    <p:cond delay="0"/>
                                  </p:stCondLst>
                                  <p:childTnLst>
                                    <p:set>
                                      <p:cBhvr>
                                        <p:cTn id="99" dur="1" fill="hold">
                                          <p:stCondLst>
                                            <p:cond delay="0"/>
                                          </p:stCondLst>
                                        </p:cTn>
                                        <p:tgtEl>
                                          <p:spTgt spid="268"/>
                                        </p:tgtEl>
                                        <p:attrNameLst>
                                          <p:attrName>style.visibility</p:attrName>
                                        </p:attrNameLst>
                                      </p:cBhvr>
                                      <p:to>
                                        <p:strVal val="visible"/>
                                      </p:to>
                                    </p:set>
                                    <p:animEffect transition="in" filter="fade">
                                      <p:cBhvr>
                                        <p:cTn id="100" dur="500"/>
                                        <p:tgtEl>
                                          <p:spTgt spid="268"/>
                                        </p:tgtEl>
                                      </p:cBhvr>
                                    </p:animEffect>
                                  </p:childTnLst>
                                </p:cTn>
                              </p:par>
                              <p:par>
                                <p:cTn id="101" presetID="10" presetClass="entr" presetSubtype="0" fill="hold" nodeType="withEffect">
                                  <p:stCondLst>
                                    <p:cond delay="0"/>
                                  </p:stCondLst>
                                  <p:childTnLst>
                                    <p:set>
                                      <p:cBhvr>
                                        <p:cTn id="102" dur="1" fill="hold">
                                          <p:stCondLst>
                                            <p:cond delay="0"/>
                                          </p:stCondLst>
                                        </p:cTn>
                                        <p:tgtEl>
                                          <p:spTgt spid="269"/>
                                        </p:tgtEl>
                                        <p:attrNameLst>
                                          <p:attrName>style.visibility</p:attrName>
                                        </p:attrNameLst>
                                      </p:cBhvr>
                                      <p:to>
                                        <p:strVal val="visible"/>
                                      </p:to>
                                    </p:set>
                                    <p:animEffect transition="in" filter="fade">
                                      <p:cBhvr>
                                        <p:cTn id="103" dur="500"/>
                                        <p:tgtEl>
                                          <p:spTgt spid="269"/>
                                        </p:tgtEl>
                                      </p:cBhvr>
                                    </p:animEffect>
                                  </p:childTnLst>
                                </p:cTn>
                              </p:par>
                              <p:par>
                                <p:cTn id="104" presetID="10" presetClass="entr" presetSubtype="0" fill="hold" nodeType="withEffect">
                                  <p:stCondLst>
                                    <p:cond delay="0"/>
                                  </p:stCondLst>
                                  <p:childTnLst>
                                    <p:set>
                                      <p:cBhvr>
                                        <p:cTn id="105" dur="1" fill="hold">
                                          <p:stCondLst>
                                            <p:cond delay="0"/>
                                          </p:stCondLst>
                                        </p:cTn>
                                        <p:tgtEl>
                                          <p:spTgt spid="270"/>
                                        </p:tgtEl>
                                        <p:attrNameLst>
                                          <p:attrName>style.visibility</p:attrName>
                                        </p:attrNameLst>
                                      </p:cBhvr>
                                      <p:to>
                                        <p:strVal val="visible"/>
                                      </p:to>
                                    </p:set>
                                    <p:animEffect transition="in" filter="fade">
                                      <p:cBhvr>
                                        <p:cTn id="106" dur="500"/>
                                        <p:tgtEl>
                                          <p:spTgt spid="270"/>
                                        </p:tgtEl>
                                      </p:cBhvr>
                                    </p:animEffect>
                                  </p:childTnLst>
                                </p:cTn>
                              </p:par>
                              <p:par>
                                <p:cTn id="107" presetID="10" presetClass="entr" presetSubtype="0" fill="hold" nodeType="withEffect">
                                  <p:stCondLst>
                                    <p:cond delay="0"/>
                                  </p:stCondLst>
                                  <p:childTnLst>
                                    <p:set>
                                      <p:cBhvr>
                                        <p:cTn id="108" dur="1" fill="hold">
                                          <p:stCondLst>
                                            <p:cond delay="0"/>
                                          </p:stCondLst>
                                        </p:cTn>
                                        <p:tgtEl>
                                          <p:spTgt spid="271"/>
                                        </p:tgtEl>
                                        <p:attrNameLst>
                                          <p:attrName>style.visibility</p:attrName>
                                        </p:attrNameLst>
                                      </p:cBhvr>
                                      <p:to>
                                        <p:strVal val="visible"/>
                                      </p:to>
                                    </p:set>
                                    <p:animEffect transition="in" filter="fade">
                                      <p:cBhvr>
                                        <p:cTn id="109" dur="500"/>
                                        <p:tgtEl>
                                          <p:spTgt spid="271"/>
                                        </p:tgtEl>
                                      </p:cBhvr>
                                    </p:animEffect>
                                  </p:childTnLst>
                                </p:cTn>
                              </p:par>
                              <p:par>
                                <p:cTn id="110" presetID="10" presetClass="entr" presetSubtype="0" fill="hold" nodeType="withEffect">
                                  <p:stCondLst>
                                    <p:cond delay="0"/>
                                  </p:stCondLst>
                                  <p:childTnLst>
                                    <p:set>
                                      <p:cBhvr>
                                        <p:cTn id="111" dur="1" fill="hold">
                                          <p:stCondLst>
                                            <p:cond delay="0"/>
                                          </p:stCondLst>
                                        </p:cTn>
                                        <p:tgtEl>
                                          <p:spTgt spid="272"/>
                                        </p:tgtEl>
                                        <p:attrNameLst>
                                          <p:attrName>style.visibility</p:attrName>
                                        </p:attrNameLst>
                                      </p:cBhvr>
                                      <p:to>
                                        <p:strVal val="visible"/>
                                      </p:to>
                                    </p:set>
                                    <p:animEffect transition="in" filter="fade">
                                      <p:cBhvr>
                                        <p:cTn id="112" dur="500"/>
                                        <p:tgtEl>
                                          <p:spTgt spid="272"/>
                                        </p:tgtEl>
                                      </p:cBhvr>
                                    </p:animEffect>
                                  </p:childTnLst>
                                </p:cTn>
                              </p:par>
                              <p:par>
                                <p:cTn id="113" presetID="10" presetClass="entr" presetSubtype="0" fill="hold" nodeType="withEffect">
                                  <p:stCondLst>
                                    <p:cond delay="0"/>
                                  </p:stCondLst>
                                  <p:childTnLst>
                                    <p:set>
                                      <p:cBhvr>
                                        <p:cTn id="114" dur="1" fill="hold">
                                          <p:stCondLst>
                                            <p:cond delay="0"/>
                                          </p:stCondLst>
                                        </p:cTn>
                                        <p:tgtEl>
                                          <p:spTgt spid="273"/>
                                        </p:tgtEl>
                                        <p:attrNameLst>
                                          <p:attrName>style.visibility</p:attrName>
                                        </p:attrNameLst>
                                      </p:cBhvr>
                                      <p:to>
                                        <p:strVal val="visible"/>
                                      </p:to>
                                    </p:set>
                                    <p:animEffect transition="in" filter="fade">
                                      <p:cBhvr>
                                        <p:cTn id="115" dur="500"/>
                                        <p:tgtEl>
                                          <p:spTgt spid="273"/>
                                        </p:tgtEl>
                                      </p:cBhvr>
                                    </p:animEffect>
                                  </p:childTnLst>
                                </p:cTn>
                              </p:par>
                              <p:par>
                                <p:cTn id="116" presetID="10" presetClass="entr" presetSubtype="0" fill="hold" nodeType="withEffect">
                                  <p:stCondLst>
                                    <p:cond delay="0"/>
                                  </p:stCondLst>
                                  <p:childTnLst>
                                    <p:set>
                                      <p:cBhvr>
                                        <p:cTn id="117" dur="1" fill="hold">
                                          <p:stCondLst>
                                            <p:cond delay="0"/>
                                          </p:stCondLst>
                                        </p:cTn>
                                        <p:tgtEl>
                                          <p:spTgt spid="274"/>
                                        </p:tgtEl>
                                        <p:attrNameLst>
                                          <p:attrName>style.visibility</p:attrName>
                                        </p:attrNameLst>
                                      </p:cBhvr>
                                      <p:to>
                                        <p:strVal val="visible"/>
                                      </p:to>
                                    </p:set>
                                    <p:animEffect transition="in" filter="fade">
                                      <p:cBhvr>
                                        <p:cTn id="118" dur="500"/>
                                        <p:tgtEl>
                                          <p:spTgt spid="274"/>
                                        </p:tgtEl>
                                      </p:cBhvr>
                                    </p:animEffect>
                                  </p:childTnLst>
                                </p:cTn>
                              </p:par>
                              <p:par>
                                <p:cTn id="119" presetID="10" presetClass="entr" presetSubtype="0" fill="hold" nodeType="withEffect">
                                  <p:stCondLst>
                                    <p:cond delay="0"/>
                                  </p:stCondLst>
                                  <p:childTnLst>
                                    <p:set>
                                      <p:cBhvr>
                                        <p:cTn id="120" dur="1" fill="hold">
                                          <p:stCondLst>
                                            <p:cond delay="0"/>
                                          </p:stCondLst>
                                        </p:cTn>
                                        <p:tgtEl>
                                          <p:spTgt spid="275"/>
                                        </p:tgtEl>
                                        <p:attrNameLst>
                                          <p:attrName>style.visibility</p:attrName>
                                        </p:attrNameLst>
                                      </p:cBhvr>
                                      <p:to>
                                        <p:strVal val="visible"/>
                                      </p:to>
                                    </p:set>
                                    <p:animEffect transition="in" filter="fade">
                                      <p:cBhvr>
                                        <p:cTn id="121" dur="500"/>
                                        <p:tgtEl>
                                          <p:spTgt spid="275"/>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nodeType="clickEffect">
                                  <p:stCondLst>
                                    <p:cond delay="0"/>
                                  </p:stCondLst>
                                  <p:childTnLst>
                                    <p:set>
                                      <p:cBhvr>
                                        <p:cTn id="125" dur="1" fill="hold">
                                          <p:stCondLst>
                                            <p:cond delay="0"/>
                                          </p:stCondLst>
                                        </p:cTn>
                                        <p:tgtEl>
                                          <p:spTgt spid="276">
                                            <p:txEl>
                                              <p:pRg st="0" end="0"/>
                                            </p:txEl>
                                          </p:spTgt>
                                        </p:tgtEl>
                                        <p:attrNameLst>
                                          <p:attrName>style.visibility</p:attrName>
                                        </p:attrNameLst>
                                      </p:cBhvr>
                                      <p:to>
                                        <p:strVal val="visible"/>
                                      </p:to>
                                    </p:set>
                                    <p:animEffect transition="in" filter="fade">
                                      <p:cBhvr>
                                        <p:cTn id="126" dur="500"/>
                                        <p:tgtEl>
                                          <p:spTgt spid="276">
                                            <p:txEl>
                                              <p:pRg st="0" end="0"/>
                                            </p:txEl>
                                          </p:spTgt>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nodeType="clickEffect">
                                  <p:stCondLst>
                                    <p:cond delay="0"/>
                                  </p:stCondLst>
                                  <p:childTnLst>
                                    <p:set>
                                      <p:cBhvr>
                                        <p:cTn id="130" dur="1" fill="hold">
                                          <p:stCondLst>
                                            <p:cond delay="0"/>
                                          </p:stCondLst>
                                        </p:cTn>
                                        <p:tgtEl>
                                          <p:spTgt spid="276">
                                            <p:txEl>
                                              <p:pRg st="1" end="1"/>
                                            </p:txEl>
                                          </p:spTgt>
                                        </p:tgtEl>
                                        <p:attrNameLst>
                                          <p:attrName>style.visibility</p:attrName>
                                        </p:attrNameLst>
                                      </p:cBhvr>
                                      <p:to>
                                        <p:strVal val="visible"/>
                                      </p:to>
                                    </p:set>
                                    <p:animEffect transition="in" filter="fade">
                                      <p:cBhvr>
                                        <p:cTn id="131" dur="500"/>
                                        <p:tgtEl>
                                          <p:spTgt spid="276">
                                            <p:txEl>
                                              <p:pRg st="1" end="1"/>
                                            </p:txEl>
                                          </p:spTgt>
                                        </p:tgtEl>
                                      </p:cBhvr>
                                    </p:animEffect>
                                  </p:childTnLst>
                                </p:cTn>
                              </p:par>
                            </p:childTnLst>
                          </p:cTn>
                        </p:par>
                      </p:childTnLst>
                    </p:cTn>
                  </p:par>
                  <p:par>
                    <p:cTn id="132" fill="hold">
                      <p:stCondLst>
                        <p:cond delay="indefinite"/>
                      </p:stCondLst>
                      <p:childTnLst>
                        <p:par>
                          <p:cTn id="133" fill="hold">
                            <p:stCondLst>
                              <p:cond delay="0"/>
                            </p:stCondLst>
                            <p:childTnLst>
                              <p:par>
                                <p:cTn id="134" presetID="10" presetClass="entr" presetSubtype="0" fill="hold" nodeType="clickEffect">
                                  <p:stCondLst>
                                    <p:cond delay="0"/>
                                  </p:stCondLst>
                                  <p:childTnLst>
                                    <p:set>
                                      <p:cBhvr>
                                        <p:cTn id="135" dur="1" fill="hold">
                                          <p:stCondLst>
                                            <p:cond delay="0"/>
                                          </p:stCondLst>
                                        </p:cTn>
                                        <p:tgtEl>
                                          <p:spTgt spid="276">
                                            <p:txEl>
                                              <p:pRg st="2" end="2"/>
                                            </p:txEl>
                                          </p:spTgt>
                                        </p:tgtEl>
                                        <p:attrNameLst>
                                          <p:attrName>style.visibility</p:attrName>
                                        </p:attrNameLst>
                                      </p:cBhvr>
                                      <p:to>
                                        <p:strVal val="visible"/>
                                      </p:to>
                                    </p:set>
                                    <p:animEffect transition="in" filter="fade">
                                      <p:cBhvr>
                                        <p:cTn id="136" dur="500"/>
                                        <p:tgtEl>
                                          <p:spTgt spid="276">
                                            <p:txEl>
                                              <p:pRg st="2" end="2"/>
                                            </p:txEl>
                                          </p:spTgt>
                                        </p:tgtEl>
                                      </p:cBhvr>
                                    </p:animEffect>
                                  </p:childTnLst>
                                </p:cTn>
                              </p:par>
                            </p:childTnLst>
                          </p:cTn>
                        </p:par>
                      </p:childTnLst>
                    </p:cTn>
                  </p:par>
                  <p:par>
                    <p:cTn id="137" fill="hold">
                      <p:stCondLst>
                        <p:cond delay="indefinite"/>
                      </p:stCondLst>
                      <p:childTnLst>
                        <p:par>
                          <p:cTn id="138" fill="hold">
                            <p:stCondLst>
                              <p:cond delay="0"/>
                            </p:stCondLst>
                            <p:childTnLst>
                              <p:par>
                                <p:cTn id="139" presetID="10" presetClass="entr" presetSubtype="0" fill="hold" nodeType="clickEffect">
                                  <p:stCondLst>
                                    <p:cond delay="0"/>
                                  </p:stCondLst>
                                  <p:childTnLst>
                                    <p:set>
                                      <p:cBhvr>
                                        <p:cTn id="140" dur="1" fill="hold">
                                          <p:stCondLst>
                                            <p:cond delay="0"/>
                                          </p:stCondLst>
                                        </p:cTn>
                                        <p:tgtEl>
                                          <p:spTgt spid="276">
                                            <p:txEl>
                                              <p:pRg st="3" end="3"/>
                                            </p:txEl>
                                          </p:spTgt>
                                        </p:tgtEl>
                                        <p:attrNameLst>
                                          <p:attrName>style.visibility</p:attrName>
                                        </p:attrNameLst>
                                      </p:cBhvr>
                                      <p:to>
                                        <p:strVal val="visible"/>
                                      </p:to>
                                    </p:set>
                                    <p:animEffect transition="in" filter="fade">
                                      <p:cBhvr>
                                        <p:cTn id="141" dur="500"/>
                                        <p:tgtEl>
                                          <p:spTgt spid="276">
                                            <p:txEl>
                                              <p:pRg st="3" end="3"/>
                                            </p:txEl>
                                          </p:spTgt>
                                        </p:tgtEl>
                                      </p:cBhvr>
                                    </p:animEffect>
                                  </p:childTnLst>
                                </p:cTn>
                              </p:par>
                            </p:childTnLst>
                          </p:cTn>
                        </p:par>
                      </p:childTnLst>
                    </p:cTn>
                  </p:par>
                  <p:par>
                    <p:cTn id="142" fill="hold">
                      <p:stCondLst>
                        <p:cond delay="indefinite"/>
                      </p:stCondLst>
                      <p:childTnLst>
                        <p:par>
                          <p:cTn id="143" fill="hold">
                            <p:stCondLst>
                              <p:cond delay="0"/>
                            </p:stCondLst>
                            <p:childTnLst>
                              <p:par>
                                <p:cTn id="144" presetID="10" presetClass="entr" presetSubtype="0" fill="hold" nodeType="clickEffect">
                                  <p:stCondLst>
                                    <p:cond delay="0"/>
                                  </p:stCondLst>
                                  <p:childTnLst>
                                    <p:set>
                                      <p:cBhvr>
                                        <p:cTn id="145" dur="1" fill="hold">
                                          <p:stCondLst>
                                            <p:cond delay="0"/>
                                          </p:stCondLst>
                                        </p:cTn>
                                        <p:tgtEl>
                                          <p:spTgt spid="276">
                                            <p:txEl>
                                              <p:pRg st="4" end="4"/>
                                            </p:txEl>
                                          </p:spTgt>
                                        </p:tgtEl>
                                        <p:attrNameLst>
                                          <p:attrName>style.visibility</p:attrName>
                                        </p:attrNameLst>
                                      </p:cBhvr>
                                      <p:to>
                                        <p:strVal val="visible"/>
                                      </p:to>
                                    </p:set>
                                    <p:animEffect transition="in" filter="fade">
                                      <p:cBhvr>
                                        <p:cTn id="146" dur="500"/>
                                        <p:tgtEl>
                                          <p:spTgt spid="276">
                                            <p:txEl>
                                              <p:pRg st="4" end="4"/>
                                            </p:txEl>
                                          </p:spTgt>
                                        </p:tgtEl>
                                      </p:cBhvr>
                                    </p:animEffect>
                                  </p:childTnLst>
                                </p:cTn>
                              </p:par>
                            </p:childTnLst>
                          </p:cTn>
                        </p:par>
                      </p:childTnLst>
                    </p:cTn>
                  </p:par>
                  <p:par>
                    <p:cTn id="147" fill="hold">
                      <p:stCondLst>
                        <p:cond delay="indefinite"/>
                      </p:stCondLst>
                      <p:childTnLst>
                        <p:par>
                          <p:cTn id="148" fill="hold">
                            <p:stCondLst>
                              <p:cond delay="0"/>
                            </p:stCondLst>
                            <p:childTnLst>
                              <p:par>
                                <p:cTn id="149" presetID="10" presetClass="entr" presetSubtype="0" fill="hold" nodeType="clickEffect">
                                  <p:stCondLst>
                                    <p:cond delay="0"/>
                                  </p:stCondLst>
                                  <p:childTnLst>
                                    <p:set>
                                      <p:cBhvr>
                                        <p:cTn id="150" dur="1" fill="hold">
                                          <p:stCondLst>
                                            <p:cond delay="0"/>
                                          </p:stCondLst>
                                        </p:cTn>
                                        <p:tgtEl>
                                          <p:spTgt spid="276">
                                            <p:txEl>
                                              <p:pRg st="5" end="5"/>
                                            </p:txEl>
                                          </p:spTgt>
                                        </p:tgtEl>
                                        <p:attrNameLst>
                                          <p:attrName>style.visibility</p:attrName>
                                        </p:attrNameLst>
                                      </p:cBhvr>
                                      <p:to>
                                        <p:strVal val="visible"/>
                                      </p:to>
                                    </p:set>
                                    <p:animEffect transition="in" filter="fade">
                                      <p:cBhvr>
                                        <p:cTn id="151" dur="500"/>
                                        <p:tgtEl>
                                          <p:spTgt spid="276">
                                            <p:txEl>
                                              <p:pRg st="5" end="5"/>
                                            </p:txEl>
                                          </p:spTgt>
                                        </p:tgtEl>
                                      </p:cBhvr>
                                    </p:animEffect>
                                  </p:childTnLst>
                                </p:cTn>
                              </p:par>
                            </p:childTnLst>
                          </p:cTn>
                        </p:par>
                      </p:childTnLst>
                    </p:cTn>
                  </p:par>
                  <p:par>
                    <p:cTn id="152" fill="hold">
                      <p:stCondLst>
                        <p:cond delay="indefinite"/>
                      </p:stCondLst>
                      <p:childTnLst>
                        <p:par>
                          <p:cTn id="153" fill="hold">
                            <p:stCondLst>
                              <p:cond delay="0"/>
                            </p:stCondLst>
                            <p:childTnLst>
                              <p:par>
                                <p:cTn id="154" presetID="10" presetClass="entr" presetSubtype="0" fill="hold" nodeType="clickEffect">
                                  <p:stCondLst>
                                    <p:cond delay="0"/>
                                  </p:stCondLst>
                                  <p:childTnLst>
                                    <p:set>
                                      <p:cBhvr>
                                        <p:cTn id="155" dur="1" fill="hold">
                                          <p:stCondLst>
                                            <p:cond delay="0"/>
                                          </p:stCondLst>
                                        </p:cTn>
                                        <p:tgtEl>
                                          <p:spTgt spid="286"/>
                                        </p:tgtEl>
                                        <p:attrNameLst>
                                          <p:attrName>style.visibility</p:attrName>
                                        </p:attrNameLst>
                                      </p:cBhvr>
                                      <p:to>
                                        <p:strVal val="visible"/>
                                      </p:to>
                                    </p:set>
                                    <p:animEffect transition="in" filter="fade">
                                      <p:cBhvr>
                                        <p:cTn id="156" dur="500"/>
                                        <p:tgtEl>
                                          <p:spTgt spid="286"/>
                                        </p:tgtEl>
                                      </p:cBhvr>
                                    </p:animEffect>
                                  </p:childTnLst>
                                </p:cTn>
                              </p:par>
                            </p:childTnLst>
                          </p:cTn>
                        </p:par>
                      </p:childTnLst>
                    </p:cTn>
                  </p:par>
                  <p:par>
                    <p:cTn id="157" fill="hold">
                      <p:stCondLst>
                        <p:cond delay="indefinite"/>
                      </p:stCondLst>
                      <p:childTnLst>
                        <p:par>
                          <p:cTn id="158" fill="hold">
                            <p:stCondLst>
                              <p:cond delay="0"/>
                            </p:stCondLst>
                            <p:childTnLst>
                              <p:par>
                                <p:cTn id="159" presetID="10" presetClass="entr" presetSubtype="0" fill="hold" nodeType="clickEffect">
                                  <p:stCondLst>
                                    <p:cond delay="0"/>
                                  </p:stCondLst>
                                  <p:childTnLst>
                                    <p:set>
                                      <p:cBhvr>
                                        <p:cTn id="160" dur="1" fill="hold">
                                          <p:stCondLst>
                                            <p:cond delay="0"/>
                                          </p:stCondLst>
                                        </p:cTn>
                                        <p:tgtEl>
                                          <p:spTgt spid="277"/>
                                        </p:tgtEl>
                                        <p:attrNameLst>
                                          <p:attrName>style.visibility</p:attrName>
                                        </p:attrNameLst>
                                      </p:cBhvr>
                                      <p:to>
                                        <p:strVal val="visible"/>
                                      </p:to>
                                    </p:set>
                                    <p:animEffect transition="in" filter="fade">
                                      <p:cBhvr>
                                        <p:cTn id="161" dur="500"/>
                                        <p:tgtEl>
                                          <p:spTgt spid="277"/>
                                        </p:tgtEl>
                                      </p:cBhvr>
                                    </p:animEffect>
                                  </p:childTnLst>
                                </p:cTn>
                              </p:par>
                            </p:childTnLst>
                          </p:cTn>
                        </p:par>
                      </p:childTnLst>
                    </p:cTn>
                  </p:par>
                  <p:par>
                    <p:cTn id="162" fill="hold">
                      <p:stCondLst>
                        <p:cond delay="indefinite"/>
                      </p:stCondLst>
                      <p:childTnLst>
                        <p:par>
                          <p:cTn id="163" fill="hold">
                            <p:stCondLst>
                              <p:cond delay="0"/>
                            </p:stCondLst>
                            <p:childTnLst>
                              <p:par>
                                <p:cTn id="164" presetID="10" presetClass="entr" presetSubtype="0" fill="hold" nodeType="clickEffect">
                                  <p:stCondLst>
                                    <p:cond delay="0"/>
                                  </p:stCondLst>
                                  <p:childTnLst>
                                    <p:set>
                                      <p:cBhvr>
                                        <p:cTn id="165" dur="1" fill="hold">
                                          <p:stCondLst>
                                            <p:cond delay="0"/>
                                          </p:stCondLst>
                                        </p:cTn>
                                        <p:tgtEl>
                                          <p:spTgt spid="278"/>
                                        </p:tgtEl>
                                        <p:attrNameLst>
                                          <p:attrName>style.visibility</p:attrName>
                                        </p:attrNameLst>
                                      </p:cBhvr>
                                      <p:to>
                                        <p:strVal val="visible"/>
                                      </p:to>
                                    </p:set>
                                    <p:animEffect transition="in" filter="fade">
                                      <p:cBhvr>
                                        <p:cTn id="166" dur="500"/>
                                        <p:tgtEl>
                                          <p:spTgt spid="278"/>
                                        </p:tgtEl>
                                      </p:cBhvr>
                                    </p:animEffect>
                                  </p:childTnLst>
                                </p:cTn>
                              </p:par>
                            </p:childTnLst>
                          </p:cTn>
                        </p:par>
                      </p:childTnLst>
                    </p:cTn>
                  </p:par>
                  <p:par>
                    <p:cTn id="167" fill="hold">
                      <p:stCondLst>
                        <p:cond delay="indefinite"/>
                      </p:stCondLst>
                      <p:childTnLst>
                        <p:par>
                          <p:cTn id="168" fill="hold">
                            <p:stCondLst>
                              <p:cond delay="0"/>
                            </p:stCondLst>
                            <p:childTnLst>
                              <p:par>
                                <p:cTn id="169" presetID="10" presetClass="entr" presetSubtype="0" fill="hold" nodeType="clickEffect">
                                  <p:stCondLst>
                                    <p:cond delay="0"/>
                                  </p:stCondLst>
                                  <p:childTnLst>
                                    <p:set>
                                      <p:cBhvr>
                                        <p:cTn id="170" dur="1" fill="hold">
                                          <p:stCondLst>
                                            <p:cond delay="0"/>
                                          </p:stCondLst>
                                        </p:cTn>
                                        <p:tgtEl>
                                          <p:spTgt spid="279"/>
                                        </p:tgtEl>
                                        <p:attrNameLst>
                                          <p:attrName>style.visibility</p:attrName>
                                        </p:attrNameLst>
                                      </p:cBhvr>
                                      <p:to>
                                        <p:strVal val="visible"/>
                                      </p:to>
                                    </p:set>
                                    <p:animEffect transition="in" filter="fade">
                                      <p:cBhvr>
                                        <p:cTn id="171" dur="500"/>
                                        <p:tgtEl>
                                          <p:spTgt spid="279"/>
                                        </p:tgtEl>
                                      </p:cBhvr>
                                    </p:animEffect>
                                  </p:childTnLst>
                                </p:cTn>
                              </p:par>
                            </p:childTnLst>
                          </p:cTn>
                        </p:par>
                      </p:childTnLst>
                    </p:cTn>
                  </p:par>
                  <p:par>
                    <p:cTn id="172" fill="hold">
                      <p:stCondLst>
                        <p:cond delay="indefinite"/>
                      </p:stCondLst>
                      <p:childTnLst>
                        <p:par>
                          <p:cTn id="173" fill="hold">
                            <p:stCondLst>
                              <p:cond delay="0"/>
                            </p:stCondLst>
                            <p:childTnLst>
                              <p:par>
                                <p:cTn id="174" presetID="10" presetClass="entr" presetSubtype="0" fill="hold" nodeType="clickEffect">
                                  <p:stCondLst>
                                    <p:cond delay="0"/>
                                  </p:stCondLst>
                                  <p:childTnLst>
                                    <p:set>
                                      <p:cBhvr>
                                        <p:cTn id="175" dur="1" fill="hold">
                                          <p:stCondLst>
                                            <p:cond delay="0"/>
                                          </p:stCondLst>
                                        </p:cTn>
                                        <p:tgtEl>
                                          <p:spTgt spid="280"/>
                                        </p:tgtEl>
                                        <p:attrNameLst>
                                          <p:attrName>style.visibility</p:attrName>
                                        </p:attrNameLst>
                                      </p:cBhvr>
                                      <p:to>
                                        <p:strVal val="visible"/>
                                      </p:to>
                                    </p:set>
                                    <p:animEffect transition="in" filter="fade">
                                      <p:cBhvr>
                                        <p:cTn id="176" dur="500"/>
                                        <p:tgtEl>
                                          <p:spTgt spid="280"/>
                                        </p:tgtEl>
                                      </p:cBhvr>
                                    </p:animEffect>
                                  </p:childTnLst>
                                </p:cTn>
                              </p:par>
                            </p:childTnLst>
                          </p:cTn>
                        </p:par>
                      </p:childTnLst>
                    </p:cTn>
                  </p:par>
                  <p:par>
                    <p:cTn id="177" fill="hold">
                      <p:stCondLst>
                        <p:cond delay="indefinite"/>
                      </p:stCondLst>
                      <p:childTnLst>
                        <p:par>
                          <p:cTn id="178" fill="hold">
                            <p:stCondLst>
                              <p:cond delay="0"/>
                            </p:stCondLst>
                            <p:childTnLst>
                              <p:par>
                                <p:cTn id="179" presetID="10" presetClass="entr" presetSubtype="0" fill="hold" nodeType="clickEffect">
                                  <p:stCondLst>
                                    <p:cond delay="0"/>
                                  </p:stCondLst>
                                  <p:childTnLst>
                                    <p:set>
                                      <p:cBhvr>
                                        <p:cTn id="180" dur="1" fill="hold">
                                          <p:stCondLst>
                                            <p:cond delay="0"/>
                                          </p:stCondLst>
                                        </p:cTn>
                                        <p:tgtEl>
                                          <p:spTgt spid="281"/>
                                        </p:tgtEl>
                                        <p:attrNameLst>
                                          <p:attrName>style.visibility</p:attrName>
                                        </p:attrNameLst>
                                      </p:cBhvr>
                                      <p:to>
                                        <p:strVal val="visible"/>
                                      </p:to>
                                    </p:set>
                                    <p:animEffect transition="in" filter="fade">
                                      <p:cBhvr>
                                        <p:cTn id="181" dur="500"/>
                                        <p:tgtEl>
                                          <p:spTgt spid="281"/>
                                        </p:tgtEl>
                                      </p:cBhvr>
                                    </p:animEffect>
                                  </p:childTnLst>
                                </p:cTn>
                              </p:par>
                            </p:childTnLst>
                          </p:cTn>
                        </p:par>
                      </p:childTnLst>
                    </p:cTn>
                  </p:par>
                  <p:par>
                    <p:cTn id="182" fill="hold">
                      <p:stCondLst>
                        <p:cond delay="indefinite"/>
                      </p:stCondLst>
                      <p:childTnLst>
                        <p:par>
                          <p:cTn id="183" fill="hold">
                            <p:stCondLst>
                              <p:cond delay="0"/>
                            </p:stCondLst>
                            <p:childTnLst>
                              <p:par>
                                <p:cTn id="184" presetID="10" presetClass="entr" presetSubtype="0" fill="hold" nodeType="clickEffect">
                                  <p:stCondLst>
                                    <p:cond delay="0"/>
                                  </p:stCondLst>
                                  <p:childTnLst>
                                    <p:set>
                                      <p:cBhvr>
                                        <p:cTn id="185" dur="1" fill="hold">
                                          <p:stCondLst>
                                            <p:cond delay="0"/>
                                          </p:stCondLst>
                                        </p:cTn>
                                        <p:tgtEl>
                                          <p:spTgt spid="282"/>
                                        </p:tgtEl>
                                        <p:attrNameLst>
                                          <p:attrName>style.visibility</p:attrName>
                                        </p:attrNameLst>
                                      </p:cBhvr>
                                      <p:to>
                                        <p:strVal val="visible"/>
                                      </p:to>
                                    </p:set>
                                    <p:animEffect transition="in" filter="fade">
                                      <p:cBhvr>
                                        <p:cTn id="186" dur="500"/>
                                        <p:tgtEl>
                                          <p:spTgt spid="282"/>
                                        </p:tgtEl>
                                      </p:cBhvr>
                                    </p:animEffect>
                                  </p:childTnLst>
                                </p:cTn>
                              </p:par>
                            </p:childTnLst>
                          </p:cTn>
                        </p:par>
                      </p:childTnLst>
                    </p:cTn>
                  </p:par>
                  <p:par>
                    <p:cTn id="187" fill="hold">
                      <p:stCondLst>
                        <p:cond delay="indefinite"/>
                      </p:stCondLst>
                      <p:childTnLst>
                        <p:par>
                          <p:cTn id="188" fill="hold">
                            <p:stCondLst>
                              <p:cond delay="0"/>
                            </p:stCondLst>
                            <p:childTnLst>
                              <p:par>
                                <p:cTn id="189" presetID="10" presetClass="entr" presetSubtype="0" fill="hold" nodeType="clickEffect">
                                  <p:stCondLst>
                                    <p:cond delay="0"/>
                                  </p:stCondLst>
                                  <p:childTnLst>
                                    <p:set>
                                      <p:cBhvr>
                                        <p:cTn id="190" dur="1" fill="hold">
                                          <p:stCondLst>
                                            <p:cond delay="0"/>
                                          </p:stCondLst>
                                        </p:cTn>
                                        <p:tgtEl>
                                          <p:spTgt spid="283"/>
                                        </p:tgtEl>
                                        <p:attrNameLst>
                                          <p:attrName>style.visibility</p:attrName>
                                        </p:attrNameLst>
                                      </p:cBhvr>
                                      <p:to>
                                        <p:strVal val="visible"/>
                                      </p:to>
                                    </p:set>
                                    <p:animEffect transition="in" filter="fade">
                                      <p:cBhvr>
                                        <p:cTn id="191" dur="500"/>
                                        <p:tgtEl>
                                          <p:spTgt spid="283"/>
                                        </p:tgtEl>
                                      </p:cBhvr>
                                    </p:animEffect>
                                  </p:childTnLst>
                                </p:cTn>
                              </p:par>
                            </p:childTnLst>
                          </p:cTn>
                        </p:par>
                      </p:childTnLst>
                    </p:cTn>
                  </p:par>
                  <p:par>
                    <p:cTn id="192" fill="hold">
                      <p:stCondLst>
                        <p:cond delay="indefinite"/>
                      </p:stCondLst>
                      <p:childTnLst>
                        <p:par>
                          <p:cTn id="193" fill="hold">
                            <p:stCondLst>
                              <p:cond delay="0"/>
                            </p:stCondLst>
                            <p:childTnLst>
                              <p:par>
                                <p:cTn id="194" presetID="10" presetClass="entr" presetSubtype="0" fill="hold" nodeType="clickEffect">
                                  <p:stCondLst>
                                    <p:cond delay="0"/>
                                  </p:stCondLst>
                                  <p:childTnLst>
                                    <p:set>
                                      <p:cBhvr>
                                        <p:cTn id="195" dur="1" fill="hold">
                                          <p:stCondLst>
                                            <p:cond delay="0"/>
                                          </p:stCondLst>
                                        </p:cTn>
                                        <p:tgtEl>
                                          <p:spTgt spid="284"/>
                                        </p:tgtEl>
                                        <p:attrNameLst>
                                          <p:attrName>style.visibility</p:attrName>
                                        </p:attrNameLst>
                                      </p:cBhvr>
                                      <p:to>
                                        <p:strVal val="visible"/>
                                      </p:to>
                                    </p:set>
                                    <p:animEffect transition="in" filter="fade">
                                      <p:cBhvr>
                                        <p:cTn id="196" dur="500"/>
                                        <p:tgtEl>
                                          <p:spTgt spid="284"/>
                                        </p:tgtEl>
                                      </p:cBhvr>
                                    </p:animEffect>
                                  </p:childTnLst>
                                </p:cTn>
                              </p:par>
                            </p:childTnLst>
                          </p:cTn>
                        </p:par>
                      </p:childTnLst>
                    </p:cTn>
                  </p:par>
                  <p:par>
                    <p:cTn id="197" fill="hold">
                      <p:stCondLst>
                        <p:cond delay="indefinite"/>
                      </p:stCondLst>
                      <p:childTnLst>
                        <p:par>
                          <p:cTn id="198" fill="hold">
                            <p:stCondLst>
                              <p:cond delay="0"/>
                            </p:stCondLst>
                            <p:childTnLst>
                              <p:par>
                                <p:cTn id="199" presetID="10" presetClass="entr" presetSubtype="0" fill="hold" nodeType="clickEffect">
                                  <p:stCondLst>
                                    <p:cond delay="0"/>
                                  </p:stCondLst>
                                  <p:childTnLst>
                                    <p:set>
                                      <p:cBhvr>
                                        <p:cTn id="200" dur="1" fill="hold">
                                          <p:stCondLst>
                                            <p:cond delay="0"/>
                                          </p:stCondLst>
                                        </p:cTn>
                                        <p:tgtEl>
                                          <p:spTgt spid="285"/>
                                        </p:tgtEl>
                                        <p:attrNameLst>
                                          <p:attrName>style.visibility</p:attrName>
                                        </p:attrNameLst>
                                      </p:cBhvr>
                                      <p:to>
                                        <p:strVal val="visible"/>
                                      </p:to>
                                    </p:set>
                                    <p:animEffect transition="in" filter="fade">
                                      <p:cBhvr>
                                        <p:cTn id="201" dur="500"/>
                                        <p:tgtEl>
                                          <p:spTgt spid="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rgbClr val="F6F9FC"/>
            </a:gs>
            <a:gs pos="74000">
              <a:srgbClr val="B3D1EC"/>
            </a:gs>
            <a:gs pos="83000">
              <a:srgbClr val="B3D1EC"/>
            </a:gs>
            <a:gs pos="100000">
              <a:srgbClr val="CCE0F2"/>
            </a:gs>
          </a:gsLst>
          <a:lin ang="5400000" scaled="0"/>
        </a:gradFill>
        <a:effectLst/>
      </p:bgPr>
    </p:bg>
    <p:spTree>
      <p:nvGrpSpPr>
        <p:cNvPr id="1" name="Shape 290"/>
        <p:cNvGrpSpPr/>
        <p:nvPr/>
      </p:nvGrpSpPr>
      <p:grpSpPr>
        <a:xfrm>
          <a:off x="0" y="0"/>
          <a:ext cx="0" cy="0"/>
          <a:chOff x="0" y="0"/>
          <a:chExt cx="0" cy="0"/>
        </a:xfrm>
      </p:grpSpPr>
      <p:sp>
        <p:nvSpPr>
          <p:cNvPr id="291" name="Google Shape;291;p6"/>
          <p:cNvSpPr txBox="1">
            <a:spLocks noGrp="1"/>
          </p:cNvSpPr>
          <p:nvPr>
            <p:ph type="title"/>
          </p:nvPr>
        </p:nvSpPr>
        <p:spPr>
          <a:xfrm>
            <a:off x="0" y="0"/>
            <a:ext cx="11447585" cy="9144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6000"/>
              <a:buFont typeface="Calibri"/>
              <a:buNone/>
            </a:pPr>
            <a:r>
              <a:rPr lang="vi-VN" sz="6000"/>
              <a:t>Luồng trong mạng </a:t>
            </a:r>
            <a:endParaRPr sz="6000"/>
          </a:p>
        </p:txBody>
      </p:sp>
      <p:sp>
        <p:nvSpPr>
          <p:cNvPr id="292" name="Google Shape;292;p6"/>
          <p:cNvSpPr txBox="1">
            <a:spLocks noGrp="1"/>
          </p:cNvSpPr>
          <p:nvPr>
            <p:ph type="body" idx="1"/>
          </p:nvPr>
        </p:nvSpPr>
        <p:spPr>
          <a:xfrm>
            <a:off x="0" y="914401"/>
            <a:ext cx="12115800" cy="59436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vi-VN" sz="2400"/>
              <a:t>1 Thuật toán Ford Fullkerson</a:t>
            </a:r>
            <a:endParaRPr/>
          </a:p>
          <a:p>
            <a:pPr marL="0" lvl="0" indent="0" algn="l" rtl="0">
              <a:lnSpc>
                <a:spcPct val="90000"/>
              </a:lnSpc>
              <a:spcBef>
                <a:spcPts val="1000"/>
              </a:spcBef>
              <a:spcAft>
                <a:spcPts val="0"/>
              </a:spcAft>
              <a:buClr>
                <a:schemeClr val="dk1"/>
              </a:buClr>
              <a:buSzPts val="2400"/>
              <a:buNone/>
            </a:pPr>
            <a:r>
              <a:rPr lang="vi-VN" sz="2400"/>
              <a:t>-Tìm lát cắt hẹp nhất bằng cách tăng luồng đi qua mạng </a:t>
            </a:r>
            <a:endParaRPr/>
          </a:p>
          <a:p>
            <a:pPr marL="0" lvl="0" indent="0" algn="l" rtl="0">
              <a:lnSpc>
                <a:spcPct val="90000"/>
              </a:lnSpc>
              <a:spcBef>
                <a:spcPts val="1000"/>
              </a:spcBef>
              <a:spcAft>
                <a:spcPts val="0"/>
              </a:spcAft>
              <a:buClr>
                <a:schemeClr val="dk1"/>
              </a:buClr>
              <a:buSzPts val="2400"/>
              <a:buNone/>
            </a:pPr>
            <a:r>
              <a:rPr lang="vi-VN" sz="2400"/>
              <a:t>-Tăng luồng đi qua mạng cho đến khi bị nghẽn=&gt; lát cắt hẹp nhất  =&gt; giá trị luồng cực đại.</a:t>
            </a:r>
            <a:endParaRPr/>
          </a:p>
          <a:p>
            <a:pPr marL="0" lvl="0" indent="0" algn="l" rtl="0">
              <a:lnSpc>
                <a:spcPct val="90000"/>
              </a:lnSpc>
              <a:spcBef>
                <a:spcPts val="1000"/>
              </a:spcBef>
              <a:spcAft>
                <a:spcPts val="0"/>
              </a:spcAft>
              <a:buClr>
                <a:schemeClr val="dk1"/>
              </a:buClr>
              <a:buSzPts val="2400"/>
              <a:buNone/>
            </a:pPr>
            <a:r>
              <a:rPr lang="vi-VN" sz="2400"/>
              <a:t>2 Cách sử dụng thuật toán Ford Fullkerson để tìm luồng cực đại </a:t>
            </a:r>
            <a:endParaRPr/>
          </a:p>
          <a:p>
            <a:pPr marL="0" lvl="0" indent="0" algn="l" rtl="0">
              <a:lnSpc>
                <a:spcPct val="90000"/>
              </a:lnSpc>
              <a:spcBef>
                <a:spcPts val="1000"/>
              </a:spcBef>
              <a:spcAft>
                <a:spcPts val="0"/>
              </a:spcAft>
              <a:buClr>
                <a:schemeClr val="dk1"/>
              </a:buClr>
              <a:buSzPts val="2400"/>
              <a:buNone/>
            </a:pPr>
            <a:r>
              <a:rPr lang="vi-VN" sz="2400"/>
              <a:t>-B1: Xây dựng đồ thị luồng từ đồ thị cho trước </a:t>
            </a:r>
            <a:endParaRPr/>
          </a:p>
          <a:p>
            <a:pPr marL="0" lvl="0" indent="0" algn="l" rtl="0">
              <a:lnSpc>
                <a:spcPct val="90000"/>
              </a:lnSpc>
              <a:spcBef>
                <a:spcPts val="1000"/>
              </a:spcBef>
              <a:spcAft>
                <a:spcPts val="0"/>
              </a:spcAft>
              <a:buClr>
                <a:schemeClr val="dk1"/>
              </a:buClr>
              <a:buSzPts val="2400"/>
              <a:buNone/>
            </a:pPr>
            <a:r>
              <a:rPr lang="vi-VN" sz="2400"/>
              <a:t>    + f=c: Đảo chiều mũi tên và ghi giá trị luồng là f </a:t>
            </a:r>
            <a:endParaRPr/>
          </a:p>
          <a:p>
            <a:pPr marL="0" lvl="0" indent="0" algn="l" rtl="0">
              <a:lnSpc>
                <a:spcPct val="90000"/>
              </a:lnSpc>
              <a:spcBef>
                <a:spcPts val="1000"/>
              </a:spcBef>
              <a:spcAft>
                <a:spcPts val="0"/>
              </a:spcAft>
              <a:buClr>
                <a:schemeClr val="dk1"/>
              </a:buClr>
              <a:buSzPts val="2400"/>
              <a:buNone/>
            </a:pPr>
            <a:endParaRPr sz="2400"/>
          </a:p>
          <a:p>
            <a:pPr marL="0" lvl="0" indent="0" algn="l" rtl="0">
              <a:lnSpc>
                <a:spcPct val="90000"/>
              </a:lnSpc>
              <a:spcBef>
                <a:spcPts val="1000"/>
              </a:spcBef>
              <a:spcAft>
                <a:spcPts val="0"/>
              </a:spcAft>
              <a:buClr>
                <a:schemeClr val="dk1"/>
              </a:buClr>
              <a:buSzPts val="2400"/>
              <a:buNone/>
            </a:pPr>
            <a:r>
              <a:rPr lang="vi-VN" sz="2400"/>
              <a:t>    + f=0: giữ nguyên chiều mũi tên và ghi giá trị luồng là c     </a:t>
            </a:r>
            <a:endParaRPr/>
          </a:p>
          <a:p>
            <a:pPr marL="0" lvl="0" indent="0" algn="l" rtl="0">
              <a:lnSpc>
                <a:spcPct val="90000"/>
              </a:lnSpc>
              <a:spcBef>
                <a:spcPts val="1000"/>
              </a:spcBef>
              <a:spcAft>
                <a:spcPts val="0"/>
              </a:spcAft>
              <a:buClr>
                <a:schemeClr val="dk1"/>
              </a:buClr>
              <a:buSzPts val="2400"/>
              <a:buNone/>
            </a:pPr>
            <a:endParaRPr sz="2400"/>
          </a:p>
          <a:p>
            <a:pPr marL="0" lvl="0" indent="0" algn="l" rtl="0">
              <a:lnSpc>
                <a:spcPct val="90000"/>
              </a:lnSpc>
              <a:spcBef>
                <a:spcPts val="1000"/>
              </a:spcBef>
              <a:spcAft>
                <a:spcPts val="0"/>
              </a:spcAft>
              <a:buClr>
                <a:schemeClr val="dk1"/>
              </a:buClr>
              <a:buSzPts val="2400"/>
              <a:buNone/>
            </a:pPr>
            <a:r>
              <a:rPr lang="vi-VN" sz="2400"/>
              <a:t>    + f&lt;c: cạnh cũ = c-f</a:t>
            </a:r>
            <a:endParaRPr/>
          </a:p>
          <a:p>
            <a:pPr marL="0" lvl="0" indent="0" algn="l" rtl="0">
              <a:lnSpc>
                <a:spcPct val="90000"/>
              </a:lnSpc>
              <a:spcBef>
                <a:spcPts val="1000"/>
              </a:spcBef>
              <a:spcAft>
                <a:spcPts val="0"/>
              </a:spcAft>
              <a:buClr>
                <a:schemeClr val="dk1"/>
              </a:buClr>
              <a:buSzPts val="2400"/>
              <a:buNone/>
            </a:pPr>
            <a:r>
              <a:rPr lang="vi-VN" sz="2400"/>
              <a:t>              cạnh mới ngược lại có giá trị =f      </a:t>
            </a:r>
            <a:endParaRPr sz="2400"/>
          </a:p>
        </p:txBody>
      </p:sp>
      <p:sp>
        <p:nvSpPr>
          <p:cNvPr id="293" name="Google Shape;293;p6"/>
          <p:cNvSpPr/>
          <p:nvPr/>
        </p:nvSpPr>
        <p:spPr>
          <a:xfrm>
            <a:off x="7280031" y="3596054"/>
            <a:ext cx="272561" cy="263769"/>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4" name="Google Shape;294;p6"/>
          <p:cNvSpPr txBox="1"/>
          <p:nvPr/>
        </p:nvSpPr>
        <p:spPr>
          <a:xfrm>
            <a:off x="7244861" y="3543272"/>
            <a:ext cx="3429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cxnSp>
        <p:nvCxnSpPr>
          <p:cNvPr id="295" name="Google Shape;295;p6"/>
          <p:cNvCxnSpPr>
            <a:stCxn id="294" idx="3"/>
          </p:cNvCxnSpPr>
          <p:nvPr/>
        </p:nvCxnSpPr>
        <p:spPr>
          <a:xfrm>
            <a:off x="7587761" y="3727938"/>
            <a:ext cx="1239600" cy="0"/>
          </a:xfrm>
          <a:prstGeom prst="straightConnector1">
            <a:avLst/>
          </a:prstGeom>
          <a:noFill/>
          <a:ln w="19050" cap="flat" cmpd="sng">
            <a:solidFill>
              <a:schemeClr val="dk1"/>
            </a:solidFill>
            <a:prstDash val="solid"/>
            <a:miter lim="800000"/>
            <a:headEnd type="none" w="sm" len="sm"/>
            <a:tailEnd type="triangle" w="med" len="med"/>
          </a:ln>
        </p:spPr>
      </p:cxnSp>
      <p:sp>
        <p:nvSpPr>
          <p:cNvPr id="296" name="Google Shape;296;p6"/>
          <p:cNvSpPr/>
          <p:nvPr/>
        </p:nvSpPr>
        <p:spPr>
          <a:xfrm>
            <a:off x="8906610" y="3578470"/>
            <a:ext cx="290146" cy="272562"/>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7" name="Google Shape;297;p6"/>
          <p:cNvSpPr txBox="1"/>
          <p:nvPr/>
        </p:nvSpPr>
        <p:spPr>
          <a:xfrm>
            <a:off x="8906610" y="3552066"/>
            <a:ext cx="37806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298" name="Google Shape;298;p6"/>
          <p:cNvSpPr/>
          <p:nvPr/>
        </p:nvSpPr>
        <p:spPr>
          <a:xfrm>
            <a:off x="7280031" y="4136781"/>
            <a:ext cx="298938" cy="290146"/>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9" name="Google Shape;299;p6"/>
          <p:cNvSpPr/>
          <p:nvPr/>
        </p:nvSpPr>
        <p:spPr>
          <a:xfrm>
            <a:off x="8897818" y="4114800"/>
            <a:ext cx="298938" cy="290146"/>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300" name="Google Shape;300;p6"/>
          <p:cNvCxnSpPr/>
          <p:nvPr/>
        </p:nvCxnSpPr>
        <p:spPr>
          <a:xfrm rot="10800000">
            <a:off x="7666892" y="4259873"/>
            <a:ext cx="1160586" cy="0"/>
          </a:xfrm>
          <a:prstGeom prst="straightConnector1">
            <a:avLst/>
          </a:prstGeom>
          <a:noFill/>
          <a:ln w="19050" cap="flat" cmpd="sng">
            <a:solidFill>
              <a:schemeClr val="dk1"/>
            </a:solidFill>
            <a:prstDash val="solid"/>
            <a:miter lim="800000"/>
            <a:headEnd type="none" w="sm" len="sm"/>
            <a:tailEnd type="triangle" w="med" len="med"/>
          </a:ln>
        </p:spPr>
      </p:cxnSp>
      <p:sp>
        <p:nvSpPr>
          <p:cNvPr id="301" name="Google Shape;301;p6"/>
          <p:cNvSpPr txBox="1"/>
          <p:nvPr/>
        </p:nvSpPr>
        <p:spPr>
          <a:xfrm>
            <a:off x="7280031" y="4086197"/>
            <a:ext cx="50116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302" name="Google Shape;302;p6"/>
          <p:cNvSpPr txBox="1"/>
          <p:nvPr/>
        </p:nvSpPr>
        <p:spPr>
          <a:xfrm>
            <a:off x="8897816" y="4079603"/>
            <a:ext cx="36048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303" name="Google Shape;303;p6"/>
          <p:cNvSpPr txBox="1"/>
          <p:nvPr/>
        </p:nvSpPr>
        <p:spPr>
          <a:xfrm>
            <a:off x="7907215" y="3367400"/>
            <a:ext cx="75613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5:5</a:t>
            </a:r>
            <a:endParaRPr sz="1800">
              <a:solidFill>
                <a:schemeClr val="dk1"/>
              </a:solidFill>
              <a:latin typeface="Calibri"/>
              <a:ea typeface="Calibri"/>
              <a:cs typeface="Calibri"/>
              <a:sym typeface="Calibri"/>
            </a:endParaRPr>
          </a:p>
        </p:txBody>
      </p:sp>
      <p:sp>
        <p:nvSpPr>
          <p:cNvPr id="304" name="Google Shape;304;p6"/>
          <p:cNvSpPr txBox="1"/>
          <p:nvPr/>
        </p:nvSpPr>
        <p:spPr>
          <a:xfrm>
            <a:off x="8132880" y="3912604"/>
            <a:ext cx="69459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5</a:t>
            </a:r>
            <a:endParaRPr sz="1800">
              <a:solidFill>
                <a:schemeClr val="dk1"/>
              </a:solidFill>
              <a:latin typeface="Calibri"/>
              <a:ea typeface="Calibri"/>
              <a:cs typeface="Calibri"/>
              <a:sym typeface="Calibri"/>
            </a:endParaRPr>
          </a:p>
        </p:txBody>
      </p:sp>
      <p:sp>
        <p:nvSpPr>
          <p:cNvPr id="305" name="Google Shape;305;p6"/>
          <p:cNvSpPr/>
          <p:nvPr/>
        </p:nvSpPr>
        <p:spPr>
          <a:xfrm>
            <a:off x="7416311" y="5002823"/>
            <a:ext cx="250581" cy="272562"/>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06" name="Google Shape;306;p6"/>
          <p:cNvSpPr txBox="1"/>
          <p:nvPr/>
        </p:nvSpPr>
        <p:spPr>
          <a:xfrm>
            <a:off x="7377482" y="4953350"/>
            <a:ext cx="36927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cxnSp>
        <p:nvCxnSpPr>
          <p:cNvPr id="307" name="Google Shape;307;p6"/>
          <p:cNvCxnSpPr/>
          <p:nvPr/>
        </p:nvCxnSpPr>
        <p:spPr>
          <a:xfrm rot="10800000" flipH="1">
            <a:off x="7763608" y="5128059"/>
            <a:ext cx="1143003" cy="4423"/>
          </a:xfrm>
          <a:prstGeom prst="straightConnector1">
            <a:avLst/>
          </a:prstGeom>
          <a:noFill/>
          <a:ln w="19050" cap="flat" cmpd="sng">
            <a:solidFill>
              <a:schemeClr val="dk1"/>
            </a:solidFill>
            <a:prstDash val="solid"/>
            <a:miter lim="800000"/>
            <a:headEnd type="none" w="sm" len="sm"/>
            <a:tailEnd type="triangle" w="med" len="med"/>
          </a:ln>
        </p:spPr>
      </p:cxnSp>
      <p:sp>
        <p:nvSpPr>
          <p:cNvPr id="308" name="Google Shape;308;p6"/>
          <p:cNvSpPr/>
          <p:nvPr/>
        </p:nvSpPr>
        <p:spPr>
          <a:xfrm>
            <a:off x="7431698" y="5384202"/>
            <a:ext cx="250581" cy="272562"/>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09" name="Google Shape;309;p6"/>
          <p:cNvSpPr/>
          <p:nvPr/>
        </p:nvSpPr>
        <p:spPr>
          <a:xfrm>
            <a:off x="8993062" y="5000652"/>
            <a:ext cx="250581" cy="272562"/>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0" name="Google Shape;310;p6"/>
          <p:cNvSpPr/>
          <p:nvPr/>
        </p:nvSpPr>
        <p:spPr>
          <a:xfrm>
            <a:off x="9007720" y="5384202"/>
            <a:ext cx="250581" cy="272562"/>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311" name="Google Shape;311;p6"/>
          <p:cNvCxnSpPr/>
          <p:nvPr/>
        </p:nvCxnSpPr>
        <p:spPr>
          <a:xfrm>
            <a:off x="7781193" y="5520483"/>
            <a:ext cx="1125417" cy="0"/>
          </a:xfrm>
          <a:prstGeom prst="straightConnector1">
            <a:avLst/>
          </a:prstGeom>
          <a:noFill/>
          <a:ln w="19050" cap="flat" cmpd="sng">
            <a:solidFill>
              <a:schemeClr val="dk1"/>
            </a:solidFill>
            <a:prstDash val="solid"/>
            <a:miter lim="800000"/>
            <a:headEnd type="none" w="sm" len="sm"/>
            <a:tailEnd type="triangle" w="med" len="med"/>
          </a:ln>
        </p:spPr>
      </p:cxnSp>
      <p:sp>
        <p:nvSpPr>
          <p:cNvPr id="312" name="Google Shape;312;p6"/>
          <p:cNvSpPr txBox="1"/>
          <p:nvPr/>
        </p:nvSpPr>
        <p:spPr>
          <a:xfrm>
            <a:off x="8959364" y="4964397"/>
            <a:ext cx="47478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313" name="Google Shape;313;p6"/>
          <p:cNvSpPr txBox="1"/>
          <p:nvPr/>
        </p:nvSpPr>
        <p:spPr>
          <a:xfrm>
            <a:off x="7406057" y="5330859"/>
            <a:ext cx="43961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314" name="Google Shape;314;p6"/>
          <p:cNvSpPr txBox="1"/>
          <p:nvPr/>
        </p:nvSpPr>
        <p:spPr>
          <a:xfrm>
            <a:off x="8979881" y="5356769"/>
            <a:ext cx="36048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315" name="Google Shape;315;p6"/>
          <p:cNvSpPr txBox="1"/>
          <p:nvPr/>
        </p:nvSpPr>
        <p:spPr>
          <a:xfrm>
            <a:off x="8047890" y="4778620"/>
            <a:ext cx="72096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0:9</a:t>
            </a:r>
            <a:endParaRPr sz="1800">
              <a:solidFill>
                <a:schemeClr val="dk1"/>
              </a:solidFill>
              <a:latin typeface="Calibri"/>
              <a:ea typeface="Calibri"/>
              <a:cs typeface="Calibri"/>
              <a:sym typeface="Calibri"/>
            </a:endParaRPr>
          </a:p>
        </p:txBody>
      </p:sp>
      <p:sp>
        <p:nvSpPr>
          <p:cNvPr id="316" name="Google Shape;316;p6"/>
          <p:cNvSpPr txBox="1"/>
          <p:nvPr/>
        </p:nvSpPr>
        <p:spPr>
          <a:xfrm>
            <a:off x="8168056" y="5199536"/>
            <a:ext cx="73855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9</a:t>
            </a:r>
            <a:endParaRPr sz="1800">
              <a:solidFill>
                <a:schemeClr val="dk1"/>
              </a:solidFill>
              <a:latin typeface="Calibri"/>
              <a:ea typeface="Calibri"/>
              <a:cs typeface="Calibri"/>
              <a:sym typeface="Calibri"/>
            </a:endParaRPr>
          </a:p>
        </p:txBody>
      </p:sp>
      <p:sp>
        <p:nvSpPr>
          <p:cNvPr id="317" name="Google Shape;317;p6"/>
          <p:cNvSpPr/>
          <p:nvPr/>
        </p:nvSpPr>
        <p:spPr>
          <a:xfrm>
            <a:off x="9007720" y="6286551"/>
            <a:ext cx="250581" cy="272562"/>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8" name="Google Shape;318;p6"/>
          <p:cNvSpPr/>
          <p:nvPr/>
        </p:nvSpPr>
        <p:spPr>
          <a:xfrm>
            <a:off x="7427301" y="6286551"/>
            <a:ext cx="250581" cy="272562"/>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9" name="Google Shape;319;p6"/>
          <p:cNvSpPr/>
          <p:nvPr/>
        </p:nvSpPr>
        <p:spPr>
          <a:xfrm>
            <a:off x="8993061" y="5879449"/>
            <a:ext cx="250581" cy="272562"/>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0" name="Google Shape;320;p6"/>
          <p:cNvSpPr/>
          <p:nvPr/>
        </p:nvSpPr>
        <p:spPr>
          <a:xfrm>
            <a:off x="7427301" y="5879449"/>
            <a:ext cx="250581" cy="272562"/>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321" name="Google Shape;321;p6"/>
          <p:cNvCxnSpPr/>
          <p:nvPr/>
        </p:nvCxnSpPr>
        <p:spPr>
          <a:xfrm>
            <a:off x="7746759" y="6015730"/>
            <a:ext cx="1151057" cy="0"/>
          </a:xfrm>
          <a:prstGeom prst="straightConnector1">
            <a:avLst/>
          </a:prstGeom>
          <a:noFill/>
          <a:ln w="19050" cap="flat" cmpd="sng">
            <a:solidFill>
              <a:schemeClr val="dk1"/>
            </a:solidFill>
            <a:prstDash val="solid"/>
            <a:miter lim="800000"/>
            <a:headEnd type="none" w="sm" len="sm"/>
            <a:tailEnd type="triangle" w="med" len="med"/>
          </a:ln>
        </p:spPr>
      </p:cxnSp>
      <p:cxnSp>
        <p:nvCxnSpPr>
          <p:cNvPr id="322" name="Google Shape;322;p6"/>
          <p:cNvCxnSpPr/>
          <p:nvPr/>
        </p:nvCxnSpPr>
        <p:spPr>
          <a:xfrm>
            <a:off x="7763608" y="6422832"/>
            <a:ext cx="1143002" cy="0"/>
          </a:xfrm>
          <a:prstGeom prst="straightConnector1">
            <a:avLst/>
          </a:prstGeom>
          <a:noFill/>
          <a:ln w="19050" cap="flat" cmpd="sng">
            <a:solidFill>
              <a:schemeClr val="dk1"/>
            </a:solidFill>
            <a:prstDash val="solid"/>
            <a:miter lim="800000"/>
            <a:headEnd type="none" w="sm" len="sm"/>
            <a:tailEnd type="triangle" w="med" len="med"/>
          </a:ln>
        </p:spPr>
      </p:cxnSp>
      <p:cxnSp>
        <p:nvCxnSpPr>
          <p:cNvPr id="323" name="Google Shape;323;p6"/>
          <p:cNvCxnSpPr/>
          <p:nvPr/>
        </p:nvCxnSpPr>
        <p:spPr>
          <a:xfrm rot="10800000">
            <a:off x="7763608" y="6559113"/>
            <a:ext cx="1143002" cy="0"/>
          </a:xfrm>
          <a:prstGeom prst="straightConnector1">
            <a:avLst/>
          </a:prstGeom>
          <a:noFill/>
          <a:ln w="19050" cap="flat" cmpd="sng">
            <a:solidFill>
              <a:schemeClr val="dk1"/>
            </a:solidFill>
            <a:prstDash val="solid"/>
            <a:miter lim="800000"/>
            <a:headEnd type="none" w="sm" len="sm"/>
            <a:tailEnd type="triangle" w="med" len="med"/>
          </a:ln>
        </p:spPr>
      </p:cxnSp>
      <p:sp>
        <p:nvSpPr>
          <p:cNvPr id="324" name="Google Shape;324;p6"/>
          <p:cNvSpPr txBox="1"/>
          <p:nvPr/>
        </p:nvSpPr>
        <p:spPr>
          <a:xfrm>
            <a:off x="7389934" y="5834731"/>
            <a:ext cx="37806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325" name="Google Shape;325;p6"/>
          <p:cNvSpPr txBox="1"/>
          <p:nvPr/>
        </p:nvSpPr>
        <p:spPr>
          <a:xfrm>
            <a:off x="7389934" y="6241898"/>
            <a:ext cx="25790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326" name="Google Shape;326;p6"/>
          <p:cNvSpPr txBox="1"/>
          <p:nvPr/>
        </p:nvSpPr>
        <p:spPr>
          <a:xfrm>
            <a:off x="8959364" y="5837574"/>
            <a:ext cx="58029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327" name="Google Shape;327;p6"/>
          <p:cNvSpPr txBox="1"/>
          <p:nvPr/>
        </p:nvSpPr>
        <p:spPr>
          <a:xfrm>
            <a:off x="8979881" y="6236416"/>
            <a:ext cx="37221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328" name="Google Shape;328;p6"/>
          <p:cNvSpPr txBox="1"/>
          <p:nvPr/>
        </p:nvSpPr>
        <p:spPr>
          <a:xfrm>
            <a:off x="8026732" y="5700191"/>
            <a:ext cx="6506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6:9</a:t>
            </a:r>
            <a:endParaRPr sz="1800">
              <a:solidFill>
                <a:schemeClr val="dk1"/>
              </a:solidFill>
              <a:latin typeface="Calibri"/>
              <a:ea typeface="Calibri"/>
              <a:cs typeface="Calibri"/>
              <a:sym typeface="Calibri"/>
            </a:endParaRPr>
          </a:p>
        </p:txBody>
      </p:sp>
      <p:sp>
        <p:nvSpPr>
          <p:cNvPr id="329" name="Google Shape;329;p6"/>
          <p:cNvSpPr txBox="1"/>
          <p:nvPr/>
        </p:nvSpPr>
        <p:spPr>
          <a:xfrm>
            <a:off x="8168056" y="6121641"/>
            <a:ext cx="40444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330" name="Google Shape;330;p6"/>
          <p:cNvSpPr txBox="1"/>
          <p:nvPr/>
        </p:nvSpPr>
        <p:spPr>
          <a:xfrm>
            <a:off x="8184996" y="6507552"/>
            <a:ext cx="47478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6</a:t>
            </a:r>
            <a:endParaRPr sz="1800">
              <a:solidFill>
                <a:schemeClr val="dk1"/>
              </a:solidFill>
              <a:latin typeface="Calibri"/>
              <a:ea typeface="Calibri"/>
              <a:cs typeface="Calibri"/>
              <a:sym typeface="Calibri"/>
            </a:endParaRPr>
          </a:p>
        </p:txBody>
      </p:sp>
      <p:sp>
        <p:nvSpPr>
          <p:cNvPr id="42" name="PAGE NUM 0">
            <a:extLst>
              <a:ext uri="{FF2B5EF4-FFF2-40B4-BE49-F238E27FC236}">
                <a16:creationId xmlns:a16="http://schemas.microsoft.com/office/drawing/2014/main" id="{8114020D-213A-48F6-8211-BF78A57F5951}"/>
              </a:ext>
            </a:extLst>
          </p:cNvPr>
          <p:cNvSpPr txBox="1"/>
          <p:nvPr/>
        </p:nvSpPr>
        <p:spPr>
          <a:xfrm>
            <a:off x="11599908" y="-5105"/>
            <a:ext cx="468851" cy="369332"/>
          </a:xfrm>
          <a:prstGeom prst="rect">
            <a:avLst/>
          </a:prstGeom>
          <a:noFill/>
          <a:ln>
            <a:noFill/>
          </a:ln>
        </p:spPr>
        <p:txBody>
          <a:bodyPr wrap="square" rtlCol="0">
            <a:spAutoFit/>
          </a:bodyPr>
          <a:lstStyle/>
          <a:p>
            <a:pPr algn="r"/>
            <a:r>
              <a:rPr lang="en-US" strike="sngStrike" dirty="0">
                <a:solidFill>
                  <a:srgbClr val="C00000"/>
                </a:solidFill>
                <a:latin typeface="JetBrains Mono Light" panose="02000009000000000000" pitchFamily="49" charset="0"/>
                <a:cs typeface="JetBrains Mono Light" panose="02000009000000000000" pitchFamily="49" charset="0"/>
              </a:rPr>
              <a:t>3</a:t>
            </a:r>
          </a:p>
        </p:txBody>
      </p:sp>
      <p:sp>
        <p:nvSpPr>
          <p:cNvPr id="43" name="PAGE NUM 1">
            <a:extLst>
              <a:ext uri="{FF2B5EF4-FFF2-40B4-BE49-F238E27FC236}">
                <a16:creationId xmlns:a16="http://schemas.microsoft.com/office/drawing/2014/main" id="{62B5B56B-624C-4413-B795-5DECBE5B949F}"/>
              </a:ext>
            </a:extLst>
          </p:cNvPr>
          <p:cNvSpPr txBox="1"/>
          <p:nvPr/>
        </p:nvSpPr>
        <p:spPr>
          <a:xfrm>
            <a:off x="11883838" y="-11114"/>
            <a:ext cx="914400" cy="369332"/>
          </a:xfrm>
          <a:prstGeom prst="rect">
            <a:avLst/>
          </a:prstGeom>
          <a:noFill/>
        </p:spPr>
        <p:txBody>
          <a:bodyPr wrap="square" rtlCol="0">
            <a:spAutoFit/>
          </a:bodyPr>
          <a:lstStyle/>
          <a:p>
            <a:r>
              <a:rPr lang="en-US" strike="sngStrike" dirty="0">
                <a:solidFill>
                  <a:srgbClr val="C00000"/>
                </a:solidFill>
                <a:latin typeface="JetBrains Mono Light" panose="02000009000000000000" pitchFamily="49" charset="0"/>
                <a:cs typeface="JetBrains Mono Light" panose="02000009000000000000" pitchFamily="49" charset="0"/>
              </a:rPr>
              <a:t>0</a:t>
            </a:r>
            <a:endParaRPr lang="en-US" strike="sngStrike" dirty="0">
              <a:solidFill>
                <a:srgbClr val="C00000"/>
              </a:solidFill>
            </a:endParaRPr>
          </a:p>
        </p:txBody>
      </p:sp>
    </p:spTree>
    <p:extLst>
      <p:ext uri="{BB962C8B-B14F-4D97-AF65-F5344CB8AC3E}">
        <p14:creationId xmlns:p14="http://schemas.microsoft.com/office/powerpoint/2010/main" val="34116780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2">
                                            <p:txEl>
                                              <p:pRg st="0" end="0"/>
                                            </p:txEl>
                                          </p:spTgt>
                                        </p:tgtEl>
                                        <p:attrNameLst>
                                          <p:attrName>style.visibility</p:attrName>
                                        </p:attrNameLst>
                                      </p:cBhvr>
                                      <p:to>
                                        <p:strVal val="visible"/>
                                      </p:to>
                                    </p:set>
                                    <p:animEffect transition="in" filter="fade">
                                      <p:cBhvr>
                                        <p:cTn id="7" dur="500"/>
                                        <p:tgtEl>
                                          <p:spTgt spid="29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2">
                                            <p:txEl>
                                              <p:pRg st="1" end="1"/>
                                            </p:txEl>
                                          </p:spTgt>
                                        </p:tgtEl>
                                        <p:attrNameLst>
                                          <p:attrName>style.visibility</p:attrName>
                                        </p:attrNameLst>
                                      </p:cBhvr>
                                      <p:to>
                                        <p:strVal val="visible"/>
                                      </p:to>
                                    </p:set>
                                    <p:animEffect transition="in" filter="fade">
                                      <p:cBhvr>
                                        <p:cTn id="12" dur="500"/>
                                        <p:tgtEl>
                                          <p:spTgt spid="29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2">
                                            <p:txEl>
                                              <p:pRg st="2" end="2"/>
                                            </p:txEl>
                                          </p:spTgt>
                                        </p:tgtEl>
                                        <p:attrNameLst>
                                          <p:attrName>style.visibility</p:attrName>
                                        </p:attrNameLst>
                                      </p:cBhvr>
                                      <p:to>
                                        <p:strVal val="visible"/>
                                      </p:to>
                                    </p:set>
                                    <p:animEffect transition="in" filter="fade">
                                      <p:cBhvr>
                                        <p:cTn id="17" dur="500"/>
                                        <p:tgtEl>
                                          <p:spTgt spid="29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2">
                                            <p:txEl>
                                              <p:pRg st="3" end="3"/>
                                            </p:txEl>
                                          </p:spTgt>
                                        </p:tgtEl>
                                        <p:attrNameLst>
                                          <p:attrName>style.visibility</p:attrName>
                                        </p:attrNameLst>
                                      </p:cBhvr>
                                      <p:to>
                                        <p:strVal val="visible"/>
                                      </p:to>
                                    </p:set>
                                    <p:animEffect transition="in" filter="fade">
                                      <p:cBhvr>
                                        <p:cTn id="22" dur="500"/>
                                        <p:tgtEl>
                                          <p:spTgt spid="29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92">
                                            <p:txEl>
                                              <p:pRg st="4" end="4"/>
                                            </p:txEl>
                                          </p:spTgt>
                                        </p:tgtEl>
                                        <p:attrNameLst>
                                          <p:attrName>style.visibility</p:attrName>
                                        </p:attrNameLst>
                                      </p:cBhvr>
                                      <p:to>
                                        <p:strVal val="visible"/>
                                      </p:to>
                                    </p:set>
                                    <p:animEffect transition="in" filter="fade">
                                      <p:cBhvr>
                                        <p:cTn id="27" dur="500"/>
                                        <p:tgtEl>
                                          <p:spTgt spid="29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2">
                                            <p:txEl>
                                              <p:pRg st="5" end="5"/>
                                            </p:txEl>
                                          </p:spTgt>
                                        </p:tgtEl>
                                        <p:attrNameLst>
                                          <p:attrName>style.visibility</p:attrName>
                                        </p:attrNameLst>
                                      </p:cBhvr>
                                      <p:to>
                                        <p:strVal val="visible"/>
                                      </p:to>
                                    </p:set>
                                    <p:animEffect transition="in" filter="fade">
                                      <p:cBhvr>
                                        <p:cTn id="32" dur="500"/>
                                        <p:tgtEl>
                                          <p:spTgt spid="29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2">
                                            <p:txEl>
                                              <p:pRg st="6" end="6"/>
                                            </p:txEl>
                                          </p:spTgt>
                                        </p:tgtEl>
                                        <p:attrNameLst>
                                          <p:attrName>style.visibility</p:attrName>
                                        </p:attrNameLst>
                                      </p:cBhvr>
                                      <p:to>
                                        <p:strVal val="visible"/>
                                      </p:to>
                                    </p:set>
                                    <p:animEffect transition="in" filter="fade">
                                      <p:cBhvr>
                                        <p:cTn id="37" dur="500"/>
                                        <p:tgtEl>
                                          <p:spTgt spid="29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2">
                                            <p:txEl>
                                              <p:pRg st="7" end="7"/>
                                            </p:txEl>
                                          </p:spTgt>
                                        </p:tgtEl>
                                        <p:attrNameLst>
                                          <p:attrName>style.visibility</p:attrName>
                                        </p:attrNameLst>
                                      </p:cBhvr>
                                      <p:to>
                                        <p:strVal val="visible"/>
                                      </p:to>
                                    </p:set>
                                    <p:animEffect transition="in" filter="fade">
                                      <p:cBhvr>
                                        <p:cTn id="42" dur="500"/>
                                        <p:tgtEl>
                                          <p:spTgt spid="29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92">
                                            <p:txEl>
                                              <p:pRg st="8" end="8"/>
                                            </p:txEl>
                                          </p:spTgt>
                                        </p:tgtEl>
                                        <p:attrNameLst>
                                          <p:attrName>style.visibility</p:attrName>
                                        </p:attrNameLst>
                                      </p:cBhvr>
                                      <p:to>
                                        <p:strVal val="visible"/>
                                      </p:to>
                                    </p:set>
                                    <p:animEffect transition="in" filter="fade">
                                      <p:cBhvr>
                                        <p:cTn id="47" dur="500"/>
                                        <p:tgtEl>
                                          <p:spTgt spid="29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92">
                                            <p:txEl>
                                              <p:pRg st="9" end="9"/>
                                            </p:txEl>
                                          </p:spTgt>
                                        </p:tgtEl>
                                        <p:attrNameLst>
                                          <p:attrName>style.visibility</p:attrName>
                                        </p:attrNameLst>
                                      </p:cBhvr>
                                      <p:to>
                                        <p:strVal val="visible"/>
                                      </p:to>
                                    </p:set>
                                    <p:animEffect transition="in" filter="fade">
                                      <p:cBhvr>
                                        <p:cTn id="52" dur="500"/>
                                        <p:tgtEl>
                                          <p:spTgt spid="29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92">
                                            <p:txEl>
                                              <p:pRg st="10" end="10"/>
                                            </p:txEl>
                                          </p:spTgt>
                                        </p:tgtEl>
                                        <p:attrNameLst>
                                          <p:attrName>style.visibility</p:attrName>
                                        </p:attrNameLst>
                                      </p:cBhvr>
                                      <p:to>
                                        <p:strVal val="visible"/>
                                      </p:to>
                                    </p:set>
                                    <p:animEffect transition="in" filter="fade">
                                      <p:cBhvr>
                                        <p:cTn id="57" dur="500"/>
                                        <p:tgtEl>
                                          <p:spTgt spid="292">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93"/>
                                        </p:tgtEl>
                                        <p:attrNameLst>
                                          <p:attrName>style.visibility</p:attrName>
                                        </p:attrNameLst>
                                      </p:cBhvr>
                                      <p:to>
                                        <p:strVal val="visible"/>
                                      </p:to>
                                    </p:set>
                                    <p:animEffect transition="in" filter="fade">
                                      <p:cBhvr>
                                        <p:cTn id="62" dur="500"/>
                                        <p:tgtEl>
                                          <p:spTgt spid="293"/>
                                        </p:tgtEl>
                                      </p:cBhvr>
                                    </p:animEffect>
                                  </p:childTnLst>
                                </p:cTn>
                              </p:par>
                              <p:par>
                                <p:cTn id="63" presetID="10" presetClass="entr" presetSubtype="0" fill="hold" nodeType="withEffect">
                                  <p:stCondLst>
                                    <p:cond delay="0"/>
                                  </p:stCondLst>
                                  <p:childTnLst>
                                    <p:set>
                                      <p:cBhvr>
                                        <p:cTn id="64" dur="1" fill="hold">
                                          <p:stCondLst>
                                            <p:cond delay="0"/>
                                          </p:stCondLst>
                                        </p:cTn>
                                        <p:tgtEl>
                                          <p:spTgt spid="294"/>
                                        </p:tgtEl>
                                        <p:attrNameLst>
                                          <p:attrName>style.visibility</p:attrName>
                                        </p:attrNameLst>
                                      </p:cBhvr>
                                      <p:to>
                                        <p:strVal val="visible"/>
                                      </p:to>
                                    </p:set>
                                    <p:animEffect transition="in" filter="fade">
                                      <p:cBhvr>
                                        <p:cTn id="65" dur="500"/>
                                        <p:tgtEl>
                                          <p:spTgt spid="294"/>
                                        </p:tgtEl>
                                      </p:cBhvr>
                                    </p:animEffect>
                                  </p:childTnLst>
                                </p:cTn>
                              </p:par>
                              <p:par>
                                <p:cTn id="66" presetID="10" presetClass="entr" presetSubtype="0" fill="hold" nodeType="withEffect">
                                  <p:stCondLst>
                                    <p:cond delay="0"/>
                                  </p:stCondLst>
                                  <p:childTnLst>
                                    <p:set>
                                      <p:cBhvr>
                                        <p:cTn id="67" dur="1" fill="hold">
                                          <p:stCondLst>
                                            <p:cond delay="0"/>
                                          </p:stCondLst>
                                        </p:cTn>
                                        <p:tgtEl>
                                          <p:spTgt spid="295"/>
                                        </p:tgtEl>
                                        <p:attrNameLst>
                                          <p:attrName>style.visibility</p:attrName>
                                        </p:attrNameLst>
                                      </p:cBhvr>
                                      <p:to>
                                        <p:strVal val="visible"/>
                                      </p:to>
                                    </p:set>
                                    <p:animEffect transition="in" filter="fade">
                                      <p:cBhvr>
                                        <p:cTn id="68" dur="500"/>
                                        <p:tgtEl>
                                          <p:spTgt spid="295"/>
                                        </p:tgtEl>
                                      </p:cBhvr>
                                    </p:animEffect>
                                  </p:childTnLst>
                                </p:cTn>
                              </p:par>
                              <p:par>
                                <p:cTn id="69" presetID="10" presetClass="entr" presetSubtype="0" fill="hold" nodeType="withEffect">
                                  <p:stCondLst>
                                    <p:cond delay="0"/>
                                  </p:stCondLst>
                                  <p:childTnLst>
                                    <p:set>
                                      <p:cBhvr>
                                        <p:cTn id="70" dur="1" fill="hold">
                                          <p:stCondLst>
                                            <p:cond delay="0"/>
                                          </p:stCondLst>
                                        </p:cTn>
                                        <p:tgtEl>
                                          <p:spTgt spid="296"/>
                                        </p:tgtEl>
                                        <p:attrNameLst>
                                          <p:attrName>style.visibility</p:attrName>
                                        </p:attrNameLst>
                                      </p:cBhvr>
                                      <p:to>
                                        <p:strVal val="visible"/>
                                      </p:to>
                                    </p:set>
                                    <p:animEffect transition="in" filter="fade">
                                      <p:cBhvr>
                                        <p:cTn id="71" dur="500"/>
                                        <p:tgtEl>
                                          <p:spTgt spid="296"/>
                                        </p:tgtEl>
                                      </p:cBhvr>
                                    </p:animEffect>
                                  </p:childTnLst>
                                </p:cTn>
                              </p:par>
                              <p:par>
                                <p:cTn id="72" presetID="10" presetClass="entr" presetSubtype="0" fill="hold" nodeType="withEffect">
                                  <p:stCondLst>
                                    <p:cond delay="0"/>
                                  </p:stCondLst>
                                  <p:childTnLst>
                                    <p:set>
                                      <p:cBhvr>
                                        <p:cTn id="73" dur="1" fill="hold">
                                          <p:stCondLst>
                                            <p:cond delay="0"/>
                                          </p:stCondLst>
                                        </p:cTn>
                                        <p:tgtEl>
                                          <p:spTgt spid="297"/>
                                        </p:tgtEl>
                                        <p:attrNameLst>
                                          <p:attrName>style.visibility</p:attrName>
                                        </p:attrNameLst>
                                      </p:cBhvr>
                                      <p:to>
                                        <p:strVal val="visible"/>
                                      </p:to>
                                    </p:set>
                                    <p:animEffect transition="in" filter="fade">
                                      <p:cBhvr>
                                        <p:cTn id="74" dur="500"/>
                                        <p:tgtEl>
                                          <p:spTgt spid="297"/>
                                        </p:tgtEl>
                                      </p:cBhvr>
                                    </p:animEffect>
                                  </p:childTnLst>
                                </p:cTn>
                              </p:par>
                              <p:par>
                                <p:cTn id="75" presetID="10" presetClass="entr" presetSubtype="0" fill="hold" nodeType="withEffect">
                                  <p:stCondLst>
                                    <p:cond delay="0"/>
                                  </p:stCondLst>
                                  <p:childTnLst>
                                    <p:set>
                                      <p:cBhvr>
                                        <p:cTn id="76" dur="1" fill="hold">
                                          <p:stCondLst>
                                            <p:cond delay="0"/>
                                          </p:stCondLst>
                                        </p:cTn>
                                        <p:tgtEl>
                                          <p:spTgt spid="298"/>
                                        </p:tgtEl>
                                        <p:attrNameLst>
                                          <p:attrName>style.visibility</p:attrName>
                                        </p:attrNameLst>
                                      </p:cBhvr>
                                      <p:to>
                                        <p:strVal val="visible"/>
                                      </p:to>
                                    </p:set>
                                    <p:animEffect transition="in" filter="fade">
                                      <p:cBhvr>
                                        <p:cTn id="77" dur="500"/>
                                        <p:tgtEl>
                                          <p:spTgt spid="298"/>
                                        </p:tgtEl>
                                      </p:cBhvr>
                                    </p:animEffect>
                                  </p:childTnLst>
                                </p:cTn>
                              </p:par>
                              <p:par>
                                <p:cTn id="78" presetID="10" presetClass="entr" presetSubtype="0" fill="hold" nodeType="withEffect">
                                  <p:stCondLst>
                                    <p:cond delay="0"/>
                                  </p:stCondLst>
                                  <p:childTnLst>
                                    <p:set>
                                      <p:cBhvr>
                                        <p:cTn id="79" dur="1" fill="hold">
                                          <p:stCondLst>
                                            <p:cond delay="0"/>
                                          </p:stCondLst>
                                        </p:cTn>
                                        <p:tgtEl>
                                          <p:spTgt spid="299"/>
                                        </p:tgtEl>
                                        <p:attrNameLst>
                                          <p:attrName>style.visibility</p:attrName>
                                        </p:attrNameLst>
                                      </p:cBhvr>
                                      <p:to>
                                        <p:strVal val="visible"/>
                                      </p:to>
                                    </p:set>
                                    <p:animEffect transition="in" filter="fade">
                                      <p:cBhvr>
                                        <p:cTn id="80" dur="500"/>
                                        <p:tgtEl>
                                          <p:spTgt spid="299"/>
                                        </p:tgtEl>
                                      </p:cBhvr>
                                    </p:animEffect>
                                  </p:childTnLst>
                                </p:cTn>
                              </p:par>
                              <p:par>
                                <p:cTn id="81" presetID="10" presetClass="entr" presetSubtype="0" fill="hold" nodeType="withEffect">
                                  <p:stCondLst>
                                    <p:cond delay="0"/>
                                  </p:stCondLst>
                                  <p:childTnLst>
                                    <p:set>
                                      <p:cBhvr>
                                        <p:cTn id="82" dur="1" fill="hold">
                                          <p:stCondLst>
                                            <p:cond delay="0"/>
                                          </p:stCondLst>
                                        </p:cTn>
                                        <p:tgtEl>
                                          <p:spTgt spid="300"/>
                                        </p:tgtEl>
                                        <p:attrNameLst>
                                          <p:attrName>style.visibility</p:attrName>
                                        </p:attrNameLst>
                                      </p:cBhvr>
                                      <p:to>
                                        <p:strVal val="visible"/>
                                      </p:to>
                                    </p:set>
                                    <p:animEffect transition="in" filter="fade">
                                      <p:cBhvr>
                                        <p:cTn id="83" dur="500"/>
                                        <p:tgtEl>
                                          <p:spTgt spid="300"/>
                                        </p:tgtEl>
                                      </p:cBhvr>
                                    </p:animEffect>
                                  </p:childTnLst>
                                </p:cTn>
                              </p:par>
                              <p:par>
                                <p:cTn id="84" presetID="10" presetClass="entr" presetSubtype="0" fill="hold" nodeType="withEffect">
                                  <p:stCondLst>
                                    <p:cond delay="0"/>
                                  </p:stCondLst>
                                  <p:childTnLst>
                                    <p:set>
                                      <p:cBhvr>
                                        <p:cTn id="85" dur="1" fill="hold">
                                          <p:stCondLst>
                                            <p:cond delay="0"/>
                                          </p:stCondLst>
                                        </p:cTn>
                                        <p:tgtEl>
                                          <p:spTgt spid="301"/>
                                        </p:tgtEl>
                                        <p:attrNameLst>
                                          <p:attrName>style.visibility</p:attrName>
                                        </p:attrNameLst>
                                      </p:cBhvr>
                                      <p:to>
                                        <p:strVal val="visible"/>
                                      </p:to>
                                    </p:set>
                                    <p:animEffect transition="in" filter="fade">
                                      <p:cBhvr>
                                        <p:cTn id="86" dur="500"/>
                                        <p:tgtEl>
                                          <p:spTgt spid="301"/>
                                        </p:tgtEl>
                                      </p:cBhvr>
                                    </p:animEffect>
                                  </p:childTnLst>
                                </p:cTn>
                              </p:par>
                              <p:par>
                                <p:cTn id="87" presetID="10" presetClass="entr" presetSubtype="0" fill="hold" nodeType="withEffect">
                                  <p:stCondLst>
                                    <p:cond delay="0"/>
                                  </p:stCondLst>
                                  <p:childTnLst>
                                    <p:set>
                                      <p:cBhvr>
                                        <p:cTn id="88" dur="1" fill="hold">
                                          <p:stCondLst>
                                            <p:cond delay="0"/>
                                          </p:stCondLst>
                                        </p:cTn>
                                        <p:tgtEl>
                                          <p:spTgt spid="302"/>
                                        </p:tgtEl>
                                        <p:attrNameLst>
                                          <p:attrName>style.visibility</p:attrName>
                                        </p:attrNameLst>
                                      </p:cBhvr>
                                      <p:to>
                                        <p:strVal val="visible"/>
                                      </p:to>
                                    </p:set>
                                    <p:animEffect transition="in" filter="fade">
                                      <p:cBhvr>
                                        <p:cTn id="89" dur="500"/>
                                        <p:tgtEl>
                                          <p:spTgt spid="302"/>
                                        </p:tgtEl>
                                      </p:cBhvr>
                                    </p:animEffect>
                                  </p:childTnLst>
                                </p:cTn>
                              </p:par>
                              <p:par>
                                <p:cTn id="90" presetID="10" presetClass="entr" presetSubtype="0" fill="hold" nodeType="withEffect">
                                  <p:stCondLst>
                                    <p:cond delay="0"/>
                                  </p:stCondLst>
                                  <p:childTnLst>
                                    <p:set>
                                      <p:cBhvr>
                                        <p:cTn id="91" dur="1" fill="hold">
                                          <p:stCondLst>
                                            <p:cond delay="0"/>
                                          </p:stCondLst>
                                        </p:cTn>
                                        <p:tgtEl>
                                          <p:spTgt spid="303"/>
                                        </p:tgtEl>
                                        <p:attrNameLst>
                                          <p:attrName>style.visibility</p:attrName>
                                        </p:attrNameLst>
                                      </p:cBhvr>
                                      <p:to>
                                        <p:strVal val="visible"/>
                                      </p:to>
                                    </p:set>
                                    <p:animEffect transition="in" filter="fade">
                                      <p:cBhvr>
                                        <p:cTn id="92" dur="500"/>
                                        <p:tgtEl>
                                          <p:spTgt spid="303"/>
                                        </p:tgtEl>
                                      </p:cBhvr>
                                    </p:animEffect>
                                  </p:childTnLst>
                                </p:cTn>
                              </p:par>
                              <p:par>
                                <p:cTn id="93" presetID="10" presetClass="entr" presetSubtype="0" fill="hold" nodeType="withEffect">
                                  <p:stCondLst>
                                    <p:cond delay="0"/>
                                  </p:stCondLst>
                                  <p:childTnLst>
                                    <p:set>
                                      <p:cBhvr>
                                        <p:cTn id="94" dur="1" fill="hold">
                                          <p:stCondLst>
                                            <p:cond delay="0"/>
                                          </p:stCondLst>
                                        </p:cTn>
                                        <p:tgtEl>
                                          <p:spTgt spid="304"/>
                                        </p:tgtEl>
                                        <p:attrNameLst>
                                          <p:attrName>style.visibility</p:attrName>
                                        </p:attrNameLst>
                                      </p:cBhvr>
                                      <p:to>
                                        <p:strVal val="visible"/>
                                      </p:to>
                                    </p:set>
                                    <p:animEffect transition="in" filter="fade">
                                      <p:cBhvr>
                                        <p:cTn id="95" dur="500"/>
                                        <p:tgtEl>
                                          <p:spTgt spid="304"/>
                                        </p:tgtEl>
                                      </p:cBhvr>
                                    </p:animEffect>
                                  </p:childTnLst>
                                </p:cTn>
                              </p:par>
                              <p:par>
                                <p:cTn id="96" presetID="10" presetClass="entr" presetSubtype="0" fill="hold" nodeType="withEffect">
                                  <p:stCondLst>
                                    <p:cond delay="0"/>
                                  </p:stCondLst>
                                  <p:childTnLst>
                                    <p:set>
                                      <p:cBhvr>
                                        <p:cTn id="97" dur="1" fill="hold">
                                          <p:stCondLst>
                                            <p:cond delay="0"/>
                                          </p:stCondLst>
                                        </p:cTn>
                                        <p:tgtEl>
                                          <p:spTgt spid="305"/>
                                        </p:tgtEl>
                                        <p:attrNameLst>
                                          <p:attrName>style.visibility</p:attrName>
                                        </p:attrNameLst>
                                      </p:cBhvr>
                                      <p:to>
                                        <p:strVal val="visible"/>
                                      </p:to>
                                    </p:set>
                                    <p:animEffect transition="in" filter="fade">
                                      <p:cBhvr>
                                        <p:cTn id="98" dur="500"/>
                                        <p:tgtEl>
                                          <p:spTgt spid="305"/>
                                        </p:tgtEl>
                                      </p:cBhvr>
                                    </p:animEffect>
                                  </p:childTnLst>
                                </p:cTn>
                              </p:par>
                              <p:par>
                                <p:cTn id="99" presetID="10" presetClass="entr" presetSubtype="0" fill="hold" nodeType="withEffect">
                                  <p:stCondLst>
                                    <p:cond delay="0"/>
                                  </p:stCondLst>
                                  <p:childTnLst>
                                    <p:set>
                                      <p:cBhvr>
                                        <p:cTn id="100" dur="1" fill="hold">
                                          <p:stCondLst>
                                            <p:cond delay="0"/>
                                          </p:stCondLst>
                                        </p:cTn>
                                        <p:tgtEl>
                                          <p:spTgt spid="306"/>
                                        </p:tgtEl>
                                        <p:attrNameLst>
                                          <p:attrName>style.visibility</p:attrName>
                                        </p:attrNameLst>
                                      </p:cBhvr>
                                      <p:to>
                                        <p:strVal val="visible"/>
                                      </p:to>
                                    </p:set>
                                    <p:animEffect transition="in" filter="fade">
                                      <p:cBhvr>
                                        <p:cTn id="101" dur="500"/>
                                        <p:tgtEl>
                                          <p:spTgt spid="306"/>
                                        </p:tgtEl>
                                      </p:cBhvr>
                                    </p:animEffect>
                                  </p:childTnLst>
                                </p:cTn>
                              </p:par>
                              <p:par>
                                <p:cTn id="102" presetID="10" presetClass="entr" presetSubtype="0" fill="hold" nodeType="withEffect">
                                  <p:stCondLst>
                                    <p:cond delay="0"/>
                                  </p:stCondLst>
                                  <p:childTnLst>
                                    <p:set>
                                      <p:cBhvr>
                                        <p:cTn id="103" dur="1" fill="hold">
                                          <p:stCondLst>
                                            <p:cond delay="0"/>
                                          </p:stCondLst>
                                        </p:cTn>
                                        <p:tgtEl>
                                          <p:spTgt spid="307"/>
                                        </p:tgtEl>
                                        <p:attrNameLst>
                                          <p:attrName>style.visibility</p:attrName>
                                        </p:attrNameLst>
                                      </p:cBhvr>
                                      <p:to>
                                        <p:strVal val="visible"/>
                                      </p:to>
                                    </p:set>
                                    <p:animEffect transition="in" filter="fade">
                                      <p:cBhvr>
                                        <p:cTn id="104" dur="500"/>
                                        <p:tgtEl>
                                          <p:spTgt spid="307"/>
                                        </p:tgtEl>
                                      </p:cBhvr>
                                    </p:animEffect>
                                  </p:childTnLst>
                                </p:cTn>
                              </p:par>
                              <p:par>
                                <p:cTn id="105" presetID="10" presetClass="entr" presetSubtype="0" fill="hold" nodeType="withEffect">
                                  <p:stCondLst>
                                    <p:cond delay="0"/>
                                  </p:stCondLst>
                                  <p:childTnLst>
                                    <p:set>
                                      <p:cBhvr>
                                        <p:cTn id="106" dur="1" fill="hold">
                                          <p:stCondLst>
                                            <p:cond delay="0"/>
                                          </p:stCondLst>
                                        </p:cTn>
                                        <p:tgtEl>
                                          <p:spTgt spid="308"/>
                                        </p:tgtEl>
                                        <p:attrNameLst>
                                          <p:attrName>style.visibility</p:attrName>
                                        </p:attrNameLst>
                                      </p:cBhvr>
                                      <p:to>
                                        <p:strVal val="visible"/>
                                      </p:to>
                                    </p:set>
                                    <p:animEffect transition="in" filter="fade">
                                      <p:cBhvr>
                                        <p:cTn id="107" dur="500"/>
                                        <p:tgtEl>
                                          <p:spTgt spid="308"/>
                                        </p:tgtEl>
                                      </p:cBhvr>
                                    </p:animEffect>
                                  </p:childTnLst>
                                </p:cTn>
                              </p:par>
                              <p:par>
                                <p:cTn id="108" presetID="10" presetClass="entr" presetSubtype="0" fill="hold" nodeType="withEffect">
                                  <p:stCondLst>
                                    <p:cond delay="0"/>
                                  </p:stCondLst>
                                  <p:childTnLst>
                                    <p:set>
                                      <p:cBhvr>
                                        <p:cTn id="109" dur="1" fill="hold">
                                          <p:stCondLst>
                                            <p:cond delay="0"/>
                                          </p:stCondLst>
                                        </p:cTn>
                                        <p:tgtEl>
                                          <p:spTgt spid="309"/>
                                        </p:tgtEl>
                                        <p:attrNameLst>
                                          <p:attrName>style.visibility</p:attrName>
                                        </p:attrNameLst>
                                      </p:cBhvr>
                                      <p:to>
                                        <p:strVal val="visible"/>
                                      </p:to>
                                    </p:set>
                                    <p:animEffect transition="in" filter="fade">
                                      <p:cBhvr>
                                        <p:cTn id="110" dur="500"/>
                                        <p:tgtEl>
                                          <p:spTgt spid="309"/>
                                        </p:tgtEl>
                                      </p:cBhvr>
                                    </p:animEffect>
                                  </p:childTnLst>
                                </p:cTn>
                              </p:par>
                              <p:par>
                                <p:cTn id="111" presetID="10" presetClass="entr" presetSubtype="0" fill="hold" nodeType="withEffect">
                                  <p:stCondLst>
                                    <p:cond delay="0"/>
                                  </p:stCondLst>
                                  <p:childTnLst>
                                    <p:set>
                                      <p:cBhvr>
                                        <p:cTn id="112" dur="1" fill="hold">
                                          <p:stCondLst>
                                            <p:cond delay="0"/>
                                          </p:stCondLst>
                                        </p:cTn>
                                        <p:tgtEl>
                                          <p:spTgt spid="310"/>
                                        </p:tgtEl>
                                        <p:attrNameLst>
                                          <p:attrName>style.visibility</p:attrName>
                                        </p:attrNameLst>
                                      </p:cBhvr>
                                      <p:to>
                                        <p:strVal val="visible"/>
                                      </p:to>
                                    </p:set>
                                    <p:animEffect transition="in" filter="fade">
                                      <p:cBhvr>
                                        <p:cTn id="113" dur="500"/>
                                        <p:tgtEl>
                                          <p:spTgt spid="310"/>
                                        </p:tgtEl>
                                      </p:cBhvr>
                                    </p:animEffect>
                                  </p:childTnLst>
                                </p:cTn>
                              </p:par>
                              <p:par>
                                <p:cTn id="114" presetID="10" presetClass="entr" presetSubtype="0" fill="hold" nodeType="withEffect">
                                  <p:stCondLst>
                                    <p:cond delay="0"/>
                                  </p:stCondLst>
                                  <p:childTnLst>
                                    <p:set>
                                      <p:cBhvr>
                                        <p:cTn id="115" dur="1" fill="hold">
                                          <p:stCondLst>
                                            <p:cond delay="0"/>
                                          </p:stCondLst>
                                        </p:cTn>
                                        <p:tgtEl>
                                          <p:spTgt spid="311"/>
                                        </p:tgtEl>
                                        <p:attrNameLst>
                                          <p:attrName>style.visibility</p:attrName>
                                        </p:attrNameLst>
                                      </p:cBhvr>
                                      <p:to>
                                        <p:strVal val="visible"/>
                                      </p:to>
                                    </p:set>
                                    <p:animEffect transition="in" filter="fade">
                                      <p:cBhvr>
                                        <p:cTn id="116" dur="500"/>
                                        <p:tgtEl>
                                          <p:spTgt spid="311"/>
                                        </p:tgtEl>
                                      </p:cBhvr>
                                    </p:animEffect>
                                  </p:childTnLst>
                                </p:cTn>
                              </p:par>
                              <p:par>
                                <p:cTn id="117" presetID="10" presetClass="entr" presetSubtype="0" fill="hold" nodeType="withEffect">
                                  <p:stCondLst>
                                    <p:cond delay="0"/>
                                  </p:stCondLst>
                                  <p:childTnLst>
                                    <p:set>
                                      <p:cBhvr>
                                        <p:cTn id="118" dur="1" fill="hold">
                                          <p:stCondLst>
                                            <p:cond delay="0"/>
                                          </p:stCondLst>
                                        </p:cTn>
                                        <p:tgtEl>
                                          <p:spTgt spid="312"/>
                                        </p:tgtEl>
                                        <p:attrNameLst>
                                          <p:attrName>style.visibility</p:attrName>
                                        </p:attrNameLst>
                                      </p:cBhvr>
                                      <p:to>
                                        <p:strVal val="visible"/>
                                      </p:to>
                                    </p:set>
                                    <p:animEffect transition="in" filter="fade">
                                      <p:cBhvr>
                                        <p:cTn id="119" dur="500"/>
                                        <p:tgtEl>
                                          <p:spTgt spid="312"/>
                                        </p:tgtEl>
                                      </p:cBhvr>
                                    </p:animEffect>
                                  </p:childTnLst>
                                </p:cTn>
                              </p:par>
                              <p:par>
                                <p:cTn id="120" presetID="10" presetClass="entr" presetSubtype="0" fill="hold" nodeType="withEffect">
                                  <p:stCondLst>
                                    <p:cond delay="0"/>
                                  </p:stCondLst>
                                  <p:childTnLst>
                                    <p:set>
                                      <p:cBhvr>
                                        <p:cTn id="121" dur="1" fill="hold">
                                          <p:stCondLst>
                                            <p:cond delay="0"/>
                                          </p:stCondLst>
                                        </p:cTn>
                                        <p:tgtEl>
                                          <p:spTgt spid="313"/>
                                        </p:tgtEl>
                                        <p:attrNameLst>
                                          <p:attrName>style.visibility</p:attrName>
                                        </p:attrNameLst>
                                      </p:cBhvr>
                                      <p:to>
                                        <p:strVal val="visible"/>
                                      </p:to>
                                    </p:set>
                                    <p:animEffect transition="in" filter="fade">
                                      <p:cBhvr>
                                        <p:cTn id="122" dur="500"/>
                                        <p:tgtEl>
                                          <p:spTgt spid="313"/>
                                        </p:tgtEl>
                                      </p:cBhvr>
                                    </p:animEffect>
                                  </p:childTnLst>
                                </p:cTn>
                              </p:par>
                              <p:par>
                                <p:cTn id="123" presetID="10" presetClass="entr" presetSubtype="0" fill="hold" nodeType="withEffect">
                                  <p:stCondLst>
                                    <p:cond delay="0"/>
                                  </p:stCondLst>
                                  <p:childTnLst>
                                    <p:set>
                                      <p:cBhvr>
                                        <p:cTn id="124" dur="1" fill="hold">
                                          <p:stCondLst>
                                            <p:cond delay="0"/>
                                          </p:stCondLst>
                                        </p:cTn>
                                        <p:tgtEl>
                                          <p:spTgt spid="314"/>
                                        </p:tgtEl>
                                        <p:attrNameLst>
                                          <p:attrName>style.visibility</p:attrName>
                                        </p:attrNameLst>
                                      </p:cBhvr>
                                      <p:to>
                                        <p:strVal val="visible"/>
                                      </p:to>
                                    </p:set>
                                    <p:animEffect transition="in" filter="fade">
                                      <p:cBhvr>
                                        <p:cTn id="125" dur="500"/>
                                        <p:tgtEl>
                                          <p:spTgt spid="314"/>
                                        </p:tgtEl>
                                      </p:cBhvr>
                                    </p:animEffect>
                                  </p:childTnLst>
                                </p:cTn>
                              </p:par>
                              <p:par>
                                <p:cTn id="126" presetID="10" presetClass="entr" presetSubtype="0" fill="hold" nodeType="withEffect">
                                  <p:stCondLst>
                                    <p:cond delay="0"/>
                                  </p:stCondLst>
                                  <p:childTnLst>
                                    <p:set>
                                      <p:cBhvr>
                                        <p:cTn id="127" dur="1" fill="hold">
                                          <p:stCondLst>
                                            <p:cond delay="0"/>
                                          </p:stCondLst>
                                        </p:cTn>
                                        <p:tgtEl>
                                          <p:spTgt spid="315"/>
                                        </p:tgtEl>
                                        <p:attrNameLst>
                                          <p:attrName>style.visibility</p:attrName>
                                        </p:attrNameLst>
                                      </p:cBhvr>
                                      <p:to>
                                        <p:strVal val="visible"/>
                                      </p:to>
                                    </p:set>
                                    <p:animEffect transition="in" filter="fade">
                                      <p:cBhvr>
                                        <p:cTn id="128" dur="500"/>
                                        <p:tgtEl>
                                          <p:spTgt spid="315"/>
                                        </p:tgtEl>
                                      </p:cBhvr>
                                    </p:animEffect>
                                  </p:childTnLst>
                                </p:cTn>
                              </p:par>
                              <p:par>
                                <p:cTn id="129" presetID="10" presetClass="entr" presetSubtype="0" fill="hold" nodeType="withEffect">
                                  <p:stCondLst>
                                    <p:cond delay="0"/>
                                  </p:stCondLst>
                                  <p:childTnLst>
                                    <p:set>
                                      <p:cBhvr>
                                        <p:cTn id="130" dur="1" fill="hold">
                                          <p:stCondLst>
                                            <p:cond delay="0"/>
                                          </p:stCondLst>
                                        </p:cTn>
                                        <p:tgtEl>
                                          <p:spTgt spid="316"/>
                                        </p:tgtEl>
                                        <p:attrNameLst>
                                          <p:attrName>style.visibility</p:attrName>
                                        </p:attrNameLst>
                                      </p:cBhvr>
                                      <p:to>
                                        <p:strVal val="visible"/>
                                      </p:to>
                                    </p:set>
                                    <p:animEffect transition="in" filter="fade">
                                      <p:cBhvr>
                                        <p:cTn id="131" dur="500"/>
                                        <p:tgtEl>
                                          <p:spTgt spid="316"/>
                                        </p:tgtEl>
                                      </p:cBhvr>
                                    </p:animEffect>
                                  </p:childTnLst>
                                </p:cTn>
                              </p:par>
                              <p:par>
                                <p:cTn id="132" presetID="10" presetClass="entr" presetSubtype="0" fill="hold" nodeType="withEffect">
                                  <p:stCondLst>
                                    <p:cond delay="0"/>
                                  </p:stCondLst>
                                  <p:childTnLst>
                                    <p:set>
                                      <p:cBhvr>
                                        <p:cTn id="133" dur="1" fill="hold">
                                          <p:stCondLst>
                                            <p:cond delay="0"/>
                                          </p:stCondLst>
                                        </p:cTn>
                                        <p:tgtEl>
                                          <p:spTgt spid="317"/>
                                        </p:tgtEl>
                                        <p:attrNameLst>
                                          <p:attrName>style.visibility</p:attrName>
                                        </p:attrNameLst>
                                      </p:cBhvr>
                                      <p:to>
                                        <p:strVal val="visible"/>
                                      </p:to>
                                    </p:set>
                                    <p:animEffect transition="in" filter="fade">
                                      <p:cBhvr>
                                        <p:cTn id="134" dur="500"/>
                                        <p:tgtEl>
                                          <p:spTgt spid="317"/>
                                        </p:tgtEl>
                                      </p:cBhvr>
                                    </p:animEffect>
                                  </p:childTnLst>
                                </p:cTn>
                              </p:par>
                              <p:par>
                                <p:cTn id="135" presetID="10" presetClass="entr" presetSubtype="0" fill="hold" nodeType="withEffect">
                                  <p:stCondLst>
                                    <p:cond delay="0"/>
                                  </p:stCondLst>
                                  <p:childTnLst>
                                    <p:set>
                                      <p:cBhvr>
                                        <p:cTn id="136" dur="1" fill="hold">
                                          <p:stCondLst>
                                            <p:cond delay="0"/>
                                          </p:stCondLst>
                                        </p:cTn>
                                        <p:tgtEl>
                                          <p:spTgt spid="318"/>
                                        </p:tgtEl>
                                        <p:attrNameLst>
                                          <p:attrName>style.visibility</p:attrName>
                                        </p:attrNameLst>
                                      </p:cBhvr>
                                      <p:to>
                                        <p:strVal val="visible"/>
                                      </p:to>
                                    </p:set>
                                    <p:animEffect transition="in" filter="fade">
                                      <p:cBhvr>
                                        <p:cTn id="137" dur="500"/>
                                        <p:tgtEl>
                                          <p:spTgt spid="318"/>
                                        </p:tgtEl>
                                      </p:cBhvr>
                                    </p:animEffect>
                                  </p:childTnLst>
                                </p:cTn>
                              </p:par>
                              <p:par>
                                <p:cTn id="138" presetID="10" presetClass="entr" presetSubtype="0" fill="hold" nodeType="withEffect">
                                  <p:stCondLst>
                                    <p:cond delay="0"/>
                                  </p:stCondLst>
                                  <p:childTnLst>
                                    <p:set>
                                      <p:cBhvr>
                                        <p:cTn id="139" dur="1" fill="hold">
                                          <p:stCondLst>
                                            <p:cond delay="0"/>
                                          </p:stCondLst>
                                        </p:cTn>
                                        <p:tgtEl>
                                          <p:spTgt spid="319"/>
                                        </p:tgtEl>
                                        <p:attrNameLst>
                                          <p:attrName>style.visibility</p:attrName>
                                        </p:attrNameLst>
                                      </p:cBhvr>
                                      <p:to>
                                        <p:strVal val="visible"/>
                                      </p:to>
                                    </p:set>
                                    <p:animEffect transition="in" filter="fade">
                                      <p:cBhvr>
                                        <p:cTn id="140" dur="500"/>
                                        <p:tgtEl>
                                          <p:spTgt spid="319"/>
                                        </p:tgtEl>
                                      </p:cBhvr>
                                    </p:animEffect>
                                  </p:childTnLst>
                                </p:cTn>
                              </p:par>
                              <p:par>
                                <p:cTn id="141" presetID="10" presetClass="entr" presetSubtype="0" fill="hold" nodeType="withEffect">
                                  <p:stCondLst>
                                    <p:cond delay="0"/>
                                  </p:stCondLst>
                                  <p:childTnLst>
                                    <p:set>
                                      <p:cBhvr>
                                        <p:cTn id="142" dur="1" fill="hold">
                                          <p:stCondLst>
                                            <p:cond delay="0"/>
                                          </p:stCondLst>
                                        </p:cTn>
                                        <p:tgtEl>
                                          <p:spTgt spid="320"/>
                                        </p:tgtEl>
                                        <p:attrNameLst>
                                          <p:attrName>style.visibility</p:attrName>
                                        </p:attrNameLst>
                                      </p:cBhvr>
                                      <p:to>
                                        <p:strVal val="visible"/>
                                      </p:to>
                                    </p:set>
                                    <p:animEffect transition="in" filter="fade">
                                      <p:cBhvr>
                                        <p:cTn id="143" dur="500"/>
                                        <p:tgtEl>
                                          <p:spTgt spid="320"/>
                                        </p:tgtEl>
                                      </p:cBhvr>
                                    </p:animEffect>
                                  </p:childTnLst>
                                </p:cTn>
                              </p:par>
                              <p:par>
                                <p:cTn id="144" presetID="10" presetClass="entr" presetSubtype="0" fill="hold" nodeType="withEffect">
                                  <p:stCondLst>
                                    <p:cond delay="0"/>
                                  </p:stCondLst>
                                  <p:childTnLst>
                                    <p:set>
                                      <p:cBhvr>
                                        <p:cTn id="145" dur="1" fill="hold">
                                          <p:stCondLst>
                                            <p:cond delay="0"/>
                                          </p:stCondLst>
                                        </p:cTn>
                                        <p:tgtEl>
                                          <p:spTgt spid="321"/>
                                        </p:tgtEl>
                                        <p:attrNameLst>
                                          <p:attrName>style.visibility</p:attrName>
                                        </p:attrNameLst>
                                      </p:cBhvr>
                                      <p:to>
                                        <p:strVal val="visible"/>
                                      </p:to>
                                    </p:set>
                                    <p:animEffect transition="in" filter="fade">
                                      <p:cBhvr>
                                        <p:cTn id="146" dur="500"/>
                                        <p:tgtEl>
                                          <p:spTgt spid="321"/>
                                        </p:tgtEl>
                                      </p:cBhvr>
                                    </p:animEffect>
                                  </p:childTnLst>
                                </p:cTn>
                              </p:par>
                              <p:par>
                                <p:cTn id="147" presetID="10" presetClass="entr" presetSubtype="0" fill="hold" nodeType="withEffect">
                                  <p:stCondLst>
                                    <p:cond delay="0"/>
                                  </p:stCondLst>
                                  <p:childTnLst>
                                    <p:set>
                                      <p:cBhvr>
                                        <p:cTn id="148" dur="1" fill="hold">
                                          <p:stCondLst>
                                            <p:cond delay="0"/>
                                          </p:stCondLst>
                                        </p:cTn>
                                        <p:tgtEl>
                                          <p:spTgt spid="322"/>
                                        </p:tgtEl>
                                        <p:attrNameLst>
                                          <p:attrName>style.visibility</p:attrName>
                                        </p:attrNameLst>
                                      </p:cBhvr>
                                      <p:to>
                                        <p:strVal val="visible"/>
                                      </p:to>
                                    </p:set>
                                    <p:animEffect transition="in" filter="fade">
                                      <p:cBhvr>
                                        <p:cTn id="149" dur="500"/>
                                        <p:tgtEl>
                                          <p:spTgt spid="322"/>
                                        </p:tgtEl>
                                      </p:cBhvr>
                                    </p:animEffect>
                                  </p:childTnLst>
                                </p:cTn>
                              </p:par>
                              <p:par>
                                <p:cTn id="150" presetID="10" presetClass="entr" presetSubtype="0" fill="hold" nodeType="withEffect">
                                  <p:stCondLst>
                                    <p:cond delay="0"/>
                                  </p:stCondLst>
                                  <p:childTnLst>
                                    <p:set>
                                      <p:cBhvr>
                                        <p:cTn id="151" dur="1" fill="hold">
                                          <p:stCondLst>
                                            <p:cond delay="0"/>
                                          </p:stCondLst>
                                        </p:cTn>
                                        <p:tgtEl>
                                          <p:spTgt spid="323"/>
                                        </p:tgtEl>
                                        <p:attrNameLst>
                                          <p:attrName>style.visibility</p:attrName>
                                        </p:attrNameLst>
                                      </p:cBhvr>
                                      <p:to>
                                        <p:strVal val="visible"/>
                                      </p:to>
                                    </p:set>
                                    <p:animEffect transition="in" filter="fade">
                                      <p:cBhvr>
                                        <p:cTn id="152" dur="500"/>
                                        <p:tgtEl>
                                          <p:spTgt spid="323"/>
                                        </p:tgtEl>
                                      </p:cBhvr>
                                    </p:animEffect>
                                  </p:childTnLst>
                                </p:cTn>
                              </p:par>
                              <p:par>
                                <p:cTn id="153" presetID="10" presetClass="entr" presetSubtype="0" fill="hold" nodeType="withEffect">
                                  <p:stCondLst>
                                    <p:cond delay="0"/>
                                  </p:stCondLst>
                                  <p:childTnLst>
                                    <p:set>
                                      <p:cBhvr>
                                        <p:cTn id="154" dur="1" fill="hold">
                                          <p:stCondLst>
                                            <p:cond delay="0"/>
                                          </p:stCondLst>
                                        </p:cTn>
                                        <p:tgtEl>
                                          <p:spTgt spid="324"/>
                                        </p:tgtEl>
                                        <p:attrNameLst>
                                          <p:attrName>style.visibility</p:attrName>
                                        </p:attrNameLst>
                                      </p:cBhvr>
                                      <p:to>
                                        <p:strVal val="visible"/>
                                      </p:to>
                                    </p:set>
                                    <p:animEffect transition="in" filter="fade">
                                      <p:cBhvr>
                                        <p:cTn id="155" dur="500"/>
                                        <p:tgtEl>
                                          <p:spTgt spid="324"/>
                                        </p:tgtEl>
                                      </p:cBhvr>
                                    </p:animEffect>
                                  </p:childTnLst>
                                </p:cTn>
                              </p:par>
                              <p:par>
                                <p:cTn id="156" presetID="10" presetClass="entr" presetSubtype="0" fill="hold" nodeType="withEffect">
                                  <p:stCondLst>
                                    <p:cond delay="0"/>
                                  </p:stCondLst>
                                  <p:childTnLst>
                                    <p:set>
                                      <p:cBhvr>
                                        <p:cTn id="157" dur="1" fill="hold">
                                          <p:stCondLst>
                                            <p:cond delay="0"/>
                                          </p:stCondLst>
                                        </p:cTn>
                                        <p:tgtEl>
                                          <p:spTgt spid="325"/>
                                        </p:tgtEl>
                                        <p:attrNameLst>
                                          <p:attrName>style.visibility</p:attrName>
                                        </p:attrNameLst>
                                      </p:cBhvr>
                                      <p:to>
                                        <p:strVal val="visible"/>
                                      </p:to>
                                    </p:set>
                                    <p:animEffect transition="in" filter="fade">
                                      <p:cBhvr>
                                        <p:cTn id="158" dur="500"/>
                                        <p:tgtEl>
                                          <p:spTgt spid="325"/>
                                        </p:tgtEl>
                                      </p:cBhvr>
                                    </p:animEffect>
                                  </p:childTnLst>
                                </p:cTn>
                              </p:par>
                              <p:par>
                                <p:cTn id="159" presetID="10" presetClass="entr" presetSubtype="0" fill="hold" nodeType="withEffect">
                                  <p:stCondLst>
                                    <p:cond delay="0"/>
                                  </p:stCondLst>
                                  <p:childTnLst>
                                    <p:set>
                                      <p:cBhvr>
                                        <p:cTn id="160" dur="1" fill="hold">
                                          <p:stCondLst>
                                            <p:cond delay="0"/>
                                          </p:stCondLst>
                                        </p:cTn>
                                        <p:tgtEl>
                                          <p:spTgt spid="326"/>
                                        </p:tgtEl>
                                        <p:attrNameLst>
                                          <p:attrName>style.visibility</p:attrName>
                                        </p:attrNameLst>
                                      </p:cBhvr>
                                      <p:to>
                                        <p:strVal val="visible"/>
                                      </p:to>
                                    </p:set>
                                    <p:animEffect transition="in" filter="fade">
                                      <p:cBhvr>
                                        <p:cTn id="161" dur="500"/>
                                        <p:tgtEl>
                                          <p:spTgt spid="326"/>
                                        </p:tgtEl>
                                      </p:cBhvr>
                                    </p:animEffect>
                                  </p:childTnLst>
                                </p:cTn>
                              </p:par>
                              <p:par>
                                <p:cTn id="162" presetID="10" presetClass="entr" presetSubtype="0" fill="hold" nodeType="withEffect">
                                  <p:stCondLst>
                                    <p:cond delay="0"/>
                                  </p:stCondLst>
                                  <p:childTnLst>
                                    <p:set>
                                      <p:cBhvr>
                                        <p:cTn id="163" dur="1" fill="hold">
                                          <p:stCondLst>
                                            <p:cond delay="0"/>
                                          </p:stCondLst>
                                        </p:cTn>
                                        <p:tgtEl>
                                          <p:spTgt spid="327"/>
                                        </p:tgtEl>
                                        <p:attrNameLst>
                                          <p:attrName>style.visibility</p:attrName>
                                        </p:attrNameLst>
                                      </p:cBhvr>
                                      <p:to>
                                        <p:strVal val="visible"/>
                                      </p:to>
                                    </p:set>
                                    <p:animEffect transition="in" filter="fade">
                                      <p:cBhvr>
                                        <p:cTn id="164" dur="500"/>
                                        <p:tgtEl>
                                          <p:spTgt spid="327"/>
                                        </p:tgtEl>
                                      </p:cBhvr>
                                    </p:animEffect>
                                  </p:childTnLst>
                                </p:cTn>
                              </p:par>
                              <p:par>
                                <p:cTn id="165" presetID="10" presetClass="entr" presetSubtype="0" fill="hold" nodeType="withEffect">
                                  <p:stCondLst>
                                    <p:cond delay="0"/>
                                  </p:stCondLst>
                                  <p:childTnLst>
                                    <p:set>
                                      <p:cBhvr>
                                        <p:cTn id="166" dur="1" fill="hold">
                                          <p:stCondLst>
                                            <p:cond delay="0"/>
                                          </p:stCondLst>
                                        </p:cTn>
                                        <p:tgtEl>
                                          <p:spTgt spid="328"/>
                                        </p:tgtEl>
                                        <p:attrNameLst>
                                          <p:attrName>style.visibility</p:attrName>
                                        </p:attrNameLst>
                                      </p:cBhvr>
                                      <p:to>
                                        <p:strVal val="visible"/>
                                      </p:to>
                                    </p:set>
                                    <p:animEffect transition="in" filter="fade">
                                      <p:cBhvr>
                                        <p:cTn id="167" dur="500"/>
                                        <p:tgtEl>
                                          <p:spTgt spid="328"/>
                                        </p:tgtEl>
                                      </p:cBhvr>
                                    </p:animEffect>
                                  </p:childTnLst>
                                </p:cTn>
                              </p:par>
                              <p:par>
                                <p:cTn id="168" presetID="10" presetClass="entr" presetSubtype="0" fill="hold" nodeType="withEffect">
                                  <p:stCondLst>
                                    <p:cond delay="0"/>
                                  </p:stCondLst>
                                  <p:childTnLst>
                                    <p:set>
                                      <p:cBhvr>
                                        <p:cTn id="169" dur="1" fill="hold">
                                          <p:stCondLst>
                                            <p:cond delay="0"/>
                                          </p:stCondLst>
                                        </p:cTn>
                                        <p:tgtEl>
                                          <p:spTgt spid="329"/>
                                        </p:tgtEl>
                                        <p:attrNameLst>
                                          <p:attrName>style.visibility</p:attrName>
                                        </p:attrNameLst>
                                      </p:cBhvr>
                                      <p:to>
                                        <p:strVal val="visible"/>
                                      </p:to>
                                    </p:set>
                                    <p:animEffect transition="in" filter="fade">
                                      <p:cBhvr>
                                        <p:cTn id="170" dur="500"/>
                                        <p:tgtEl>
                                          <p:spTgt spid="329"/>
                                        </p:tgtEl>
                                      </p:cBhvr>
                                    </p:animEffect>
                                  </p:childTnLst>
                                </p:cTn>
                              </p:par>
                              <p:par>
                                <p:cTn id="171" presetID="10" presetClass="entr" presetSubtype="0" fill="hold" nodeType="withEffect">
                                  <p:stCondLst>
                                    <p:cond delay="0"/>
                                  </p:stCondLst>
                                  <p:childTnLst>
                                    <p:set>
                                      <p:cBhvr>
                                        <p:cTn id="172" dur="1" fill="hold">
                                          <p:stCondLst>
                                            <p:cond delay="0"/>
                                          </p:stCondLst>
                                        </p:cTn>
                                        <p:tgtEl>
                                          <p:spTgt spid="330"/>
                                        </p:tgtEl>
                                        <p:attrNameLst>
                                          <p:attrName>style.visibility</p:attrName>
                                        </p:attrNameLst>
                                      </p:cBhvr>
                                      <p:to>
                                        <p:strVal val="visible"/>
                                      </p:to>
                                    </p:set>
                                    <p:animEffect transition="in" filter="fade">
                                      <p:cBhvr>
                                        <p:cTn id="173" dur="500"/>
                                        <p:tgtEl>
                                          <p:spTgt spid="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rgbClr val="F6F9FC"/>
            </a:gs>
            <a:gs pos="74000">
              <a:srgbClr val="B3D1EC"/>
            </a:gs>
            <a:gs pos="83000">
              <a:srgbClr val="B3D1EC"/>
            </a:gs>
            <a:gs pos="100000">
              <a:srgbClr val="CCE0F2"/>
            </a:gs>
          </a:gsLst>
          <a:lin ang="5400000" scaled="0"/>
        </a:gradFill>
        <a:effectLst/>
      </p:bgPr>
    </p:bg>
    <p:spTree>
      <p:nvGrpSpPr>
        <p:cNvPr id="1" name="Shape 334"/>
        <p:cNvGrpSpPr/>
        <p:nvPr/>
      </p:nvGrpSpPr>
      <p:grpSpPr>
        <a:xfrm>
          <a:off x="0" y="0"/>
          <a:ext cx="0" cy="0"/>
          <a:chOff x="0" y="0"/>
          <a:chExt cx="0" cy="0"/>
        </a:xfrm>
      </p:grpSpPr>
      <p:sp>
        <p:nvSpPr>
          <p:cNvPr id="335" name="Google Shape;335;p7"/>
          <p:cNvSpPr txBox="1">
            <a:spLocks noGrp="1"/>
          </p:cNvSpPr>
          <p:nvPr>
            <p:ph type="body" idx="1"/>
          </p:nvPr>
        </p:nvSpPr>
        <p:spPr>
          <a:xfrm>
            <a:off x="0" y="91440"/>
            <a:ext cx="12192000" cy="676656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vi-VN" sz="2400"/>
              <a:t>-B2: Chọn một đường đi từ s đến t thông qua các đỉnh trung gian từ đồ thị luồng </a:t>
            </a:r>
            <a:endParaRPr/>
          </a:p>
          <a:p>
            <a:pPr marL="0" lvl="0" indent="0" algn="l" rtl="0">
              <a:lnSpc>
                <a:spcPct val="90000"/>
              </a:lnSpc>
              <a:spcBef>
                <a:spcPts val="1000"/>
              </a:spcBef>
              <a:spcAft>
                <a:spcPts val="0"/>
              </a:spcAft>
              <a:buClr>
                <a:schemeClr val="dk1"/>
              </a:buClr>
              <a:buSzPts val="2400"/>
              <a:buNone/>
            </a:pPr>
            <a:r>
              <a:rPr lang="vi-VN" sz="2400"/>
              <a:t>-B3: Chọn trọng số K nhỏ nhất trên các cạnh của lối đi và tăng luồng dọc theo đường đi.</a:t>
            </a:r>
            <a:endParaRPr/>
          </a:p>
          <a:p>
            <a:pPr marL="0" lvl="0" indent="0" algn="l" rtl="0">
              <a:lnSpc>
                <a:spcPct val="90000"/>
              </a:lnSpc>
              <a:spcBef>
                <a:spcPts val="1000"/>
              </a:spcBef>
              <a:spcAft>
                <a:spcPts val="0"/>
              </a:spcAft>
              <a:buClr>
                <a:schemeClr val="dk1"/>
              </a:buClr>
              <a:buSzPts val="2400"/>
              <a:buNone/>
            </a:pPr>
            <a:r>
              <a:rPr lang="vi-VN" sz="2400"/>
              <a:t>        Nếu cùng chiều tăng theo K, ngược thì giảm theo K. Luồng này sẽ được tăng trên</a:t>
            </a:r>
            <a:endParaRPr/>
          </a:p>
          <a:p>
            <a:pPr marL="0" lvl="0" indent="0" algn="l" rtl="0">
              <a:lnSpc>
                <a:spcPct val="90000"/>
              </a:lnSpc>
              <a:spcBef>
                <a:spcPts val="1000"/>
              </a:spcBef>
              <a:spcAft>
                <a:spcPts val="0"/>
              </a:spcAft>
              <a:buClr>
                <a:schemeClr val="dk1"/>
              </a:buClr>
              <a:buSzPts val="2400"/>
              <a:buNone/>
            </a:pPr>
            <a:r>
              <a:rPr lang="vi-VN" sz="2400"/>
              <a:t>        đồ thị G cho ra đồ thị G1.</a:t>
            </a:r>
            <a:endParaRPr/>
          </a:p>
          <a:p>
            <a:pPr marL="0" lvl="0" indent="0" algn="l" rtl="0">
              <a:lnSpc>
                <a:spcPct val="90000"/>
              </a:lnSpc>
              <a:spcBef>
                <a:spcPts val="1000"/>
              </a:spcBef>
              <a:spcAft>
                <a:spcPts val="0"/>
              </a:spcAft>
              <a:buClr>
                <a:schemeClr val="dk1"/>
              </a:buClr>
              <a:buSzPts val="2400"/>
              <a:buNone/>
            </a:pPr>
            <a:r>
              <a:rPr lang="vi-VN" sz="2400"/>
              <a:t>3 VD:</a:t>
            </a:r>
            <a:endParaRPr/>
          </a:p>
          <a:p>
            <a:pPr marL="0" lvl="0" indent="0" algn="l" rtl="0">
              <a:lnSpc>
                <a:spcPct val="90000"/>
              </a:lnSpc>
              <a:spcBef>
                <a:spcPts val="1000"/>
              </a:spcBef>
              <a:spcAft>
                <a:spcPts val="0"/>
              </a:spcAft>
              <a:buClr>
                <a:schemeClr val="dk1"/>
              </a:buClr>
              <a:buSzPts val="2400"/>
              <a:buNone/>
            </a:pPr>
            <a:r>
              <a:rPr lang="vi-VN" sz="2400"/>
              <a:t> Bài toán:Xét đồ thị tương ứng hệ thống ống dẫn dầu. Trong đó các ống tương ứng với các cung, điểm phát là tàu chở dầu, điểm thu là bể chứa, các điểm nối của ống là các nút của đồ thị. Khả năng thông qua của các cung tương ứng là tiết diện các ống. Cần phải tìm luồng dầu lớn nhất có thể bơm từ tàu chở dầu vào bể chứa.</a:t>
            </a:r>
            <a:endParaRPr/>
          </a:p>
          <a:p>
            <a:pPr marL="0" lvl="0" indent="0" algn="l" rtl="0">
              <a:lnSpc>
                <a:spcPct val="90000"/>
              </a:lnSpc>
              <a:spcBef>
                <a:spcPts val="1000"/>
              </a:spcBef>
              <a:spcAft>
                <a:spcPts val="0"/>
              </a:spcAft>
              <a:buClr>
                <a:schemeClr val="dk1"/>
              </a:buClr>
              <a:buSzPts val="2400"/>
              <a:buNone/>
            </a:pPr>
            <a:endParaRPr sz="2400"/>
          </a:p>
          <a:p>
            <a:pPr marL="0" lvl="0" indent="0" algn="l" rtl="0">
              <a:lnSpc>
                <a:spcPct val="90000"/>
              </a:lnSpc>
              <a:spcBef>
                <a:spcPts val="1000"/>
              </a:spcBef>
              <a:spcAft>
                <a:spcPts val="0"/>
              </a:spcAft>
              <a:buClr>
                <a:schemeClr val="dk1"/>
              </a:buClr>
              <a:buSzPts val="2400"/>
              <a:buNone/>
            </a:pPr>
            <a:endParaRPr sz="2400"/>
          </a:p>
          <a:p>
            <a:pPr marL="0" lvl="0" indent="0" algn="l" rtl="0">
              <a:lnSpc>
                <a:spcPct val="90000"/>
              </a:lnSpc>
              <a:spcBef>
                <a:spcPts val="1000"/>
              </a:spcBef>
              <a:spcAft>
                <a:spcPts val="0"/>
              </a:spcAft>
              <a:buClr>
                <a:schemeClr val="dk1"/>
              </a:buClr>
              <a:buSzPts val="2400"/>
              <a:buNone/>
            </a:pPr>
            <a:r>
              <a:rPr lang="vi-VN" sz="2400"/>
              <a:t>           </a:t>
            </a:r>
            <a:endParaRPr/>
          </a:p>
          <a:p>
            <a:pPr marL="0" lvl="0" indent="0" algn="l" rtl="0">
              <a:lnSpc>
                <a:spcPct val="90000"/>
              </a:lnSpc>
              <a:spcBef>
                <a:spcPts val="1000"/>
              </a:spcBef>
              <a:spcAft>
                <a:spcPts val="0"/>
              </a:spcAft>
              <a:buClr>
                <a:schemeClr val="dk1"/>
              </a:buClr>
              <a:buSzPts val="2400"/>
              <a:buNone/>
            </a:pPr>
            <a:endParaRPr sz="2400"/>
          </a:p>
        </p:txBody>
      </p:sp>
      <p:sp>
        <p:nvSpPr>
          <p:cNvPr id="336" name="Google Shape;336;p7"/>
          <p:cNvSpPr/>
          <p:nvPr/>
        </p:nvSpPr>
        <p:spPr>
          <a:xfrm>
            <a:off x="5080254" y="4786884"/>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7" name="Google Shape;337;p7"/>
          <p:cNvSpPr/>
          <p:nvPr/>
        </p:nvSpPr>
        <p:spPr>
          <a:xfrm>
            <a:off x="6785229" y="5975604"/>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8" name="Google Shape;338;p7"/>
          <p:cNvSpPr/>
          <p:nvPr/>
        </p:nvSpPr>
        <p:spPr>
          <a:xfrm>
            <a:off x="5080254" y="5975604"/>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9" name="Google Shape;339;p7"/>
          <p:cNvSpPr/>
          <p:nvPr/>
        </p:nvSpPr>
        <p:spPr>
          <a:xfrm>
            <a:off x="3234309" y="4786884"/>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0" name="Google Shape;340;p7"/>
          <p:cNvSpPr/>
          <p:nvPr/>
        </p:nvSpPr>
        <p:spPr>
          <a:xfrm>
            <a:off x="1388364" y="5975604"/>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1" name="Google Shape;341;p7"/>
          <p:cNvSpPr/>
          <p:nvPr/>
        </p:nvSpPr>
        <p:spPr>
          <a:xfrm>
            <a:off x="3234309" y="5975604"/>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342" name="Google Shape;342;p7"/>
          <p:cNvCxnSpPr/>
          <p:nvPr/>
        </p:nvCxnSpPr>
        <p:spPr>
          <a:xfrm>
            <a:off x="3552444" y="6108954"/>
            <a:ext cx="1440180" cy="0"/>
          </a:xfrm>
          <a:prstGeom prst="straightConnector1">
            <a:avLst/>
          </a:prstGeom>
          <a:noFill/>
          <a:ln w="19050" cap="flat" cmpd="sng">
            <a:solidFill>
              <a:schemeClr val="dk1"/>
            </a:solidFill>
            <a:prstDash val="solid"/>
            <a:miter lim="800000"/>
            <a:headEnd type="none" w="sm" len="sm"/>
            <a:tailEnd type="triangle" w="med" len="med"/>
          </a:ln>
        </p:spPr>
      </p:cxnSp>
      <p:cxnSp>
        <p:nvCxnSpPr>
          <p:cNvPr id="343" name="Google Shape;343;p7"/>
          <p:cNvCxnSpPr/>
          <p:nvPr/>
        </p:nvCxnSpPr>
        <p:spPr>
          <a:xfrm rot="10800000" flipH="1">
            <a:off x="1670304" y="4977384"/>
            <a:ext cx="1501140" cy="998220"/>
          </a:xfrm>
          <a:prstGeom prst="straightConnector1">
            <a:avLst/>
          </a:prstGeom>
          <a:noFill/>
          <a:ln w="19050" cap="flat" cmpd="sng">
            <a:solidFill>
              <a:schemeClr val="dk1"/>
            </a:solidFill>
            <a:prstDash val="solid"/>
            <a:miter lim="800000"/>
            <a:headEnd type="none" w="sm" len="sm"/>
            <a:tailEnd type="triangle" w="med" len="med"/>
          </a:ln>
        </p:spPr>
      </p:cxnSp>
      <p:cxnSp>
        <p:nvCxnSpPr>
          <p:cNvPr id="344" name="Google Shape;344;p7"/>
          <p:cNvCxnSpPr/>
          <p:nvPr/>
        </p:nvCxnSpPr>
        <p:spPr>
          <a:xfrm>
            <a:off x="5449824" y="6108954"/>
            <a:ext cx="1249680" cy="0"/>
          </a:xfrm>
          <a:prstGeom prst="straightConnector1">
            <a:avLst/>
          </a:prstGeom>
          <a:noFill/>
          <a:ln w="19050" cap="flat" cmpd="sng">
            <a:solidFill>
              <a:schemeClr val="dk1"/>
            </a:solidFill>
            <a:prstDash val="solid"/>
            <a:miter lim="800000"/>
            <a:headEnd type="none" w="sm" len="sm"/>
            <a:tailEnd type="triangle" w="med" len="med"/>
          </a:ln>
        </p:spPr>
      </p:cxnSp>
      <p:cxnSp>
        <p:nvCxnSpPr>
          <p:cNvPr id="345" name="Google Shape;345;p7"/>
          <p:cNvCxnSpPr/>
          <p:nvPr/>
        </p:nvCxnSpPr>
        <p:spPr>
          <a:xfrm>
            <a:off x="1706499" y="6108954"/>
            <a:ext cx="1464945" cy="0"/>
          </a:xfrm>
          <a:prstGeom prst="straightConnector1">
            <a:avLst/>
          </a:prstGeom>
          <a:noFill/>
          <a:ln w="19050" cap="flat" cmpd="sng">
            <a:solidFill>
              <a:schemeClr val="dk1"/>
            </a:solidFill>
            <a:prstDash val="solid"/>
            <a:miter lim="800000"/>
            <a:headEnd type="none" w="sm" len="sm"/>
            <a:tailEnd type="triangle" w="med" len="med"/>
          </a:ln>
        </p:spPr>
      </p:cxnSp>
      <p:cxnSp>
        <p:nvCxnSpPr>
          <p:cNvPr id="346" name="Google Shape;346;p7"/>
          <p:cNvCxnSpPr/>
          <p:nvPr/>
        </p:nvCxnSpPr>
        <p:spPr>
          <a:xfrm>
            <a:off x="3516249" y="5072633"/>
            <a:ext cx="1476375" cy="902971"/>
          </a:xfrm>
          <a:prstGeom prst="straightConnector1">
            <a:avLst/>
          </a:prstGeom>
          <a:noFill/>
          <a:ln w="19050" cap="flat" cmpd="sng">
            <a:solidFill>
              <a:schemeClr val="dk1"/>
            </a:solidFill>
            <a:prstDash val="solid"/>
            <a:miter lim="800000"/>
            <a:headEnd type="none" w="sm" len="sm"/>
            <a:tailEnd type="triangle" w="med" len="med"/>
          </a:ln>
        </p:spPr>
      </p:cxnSp>
      <p:cxnSp>
        <p:nvCxnSpPr>
          <p:cNvPr id="347" name="Google Shape;347;p7"/>
          <p:cNvCxnSpPr/>
          <p:nvPr/>
        </p:nvCxnSpPr>
        <p:spPr>
          <a:xfrm>
            <a:off x="5362194" y="4977384"/>
            <a:ext cx="1379220" cy="998220"/>
          </a:xfrm>
          <a:prstGeom prst="straightConnector1">
            <a:avLst/>
          </a:prstGeom>
          <a:noFill/>
          <a:ln w="19050" cap="flat" cmpd="sng">
            <a:solidFill>
              <a:schemeClr val="dk1"/>
            </a:solidFill>
            <a:prstDash val="solid"/>
            <a:miter lim="800000"/>
            <a:headEnd type="none" w="sm" len="sm"/>
            <a:tailEnd type="triangle" w="med" len="med"/>
          </a:ln>
        </p:spPr>
      </p:cxnSp>
      <p:cxnSp>
        <p:nvCxnSpPr>
          <p:cNvPr id="348" name="Google Shape;348;p7"/>
          <p:cNvCxnSpPr/>
          <p:nvPr/>
        </p:nvCxnSpPr>
        <p:spPr>
          <a:xfrm rot="10800000" flipH="1">
            <a:off x="3516249" y="5053584"/>
            <a:ext cx="1476375" cy="922020"/>
          </a:xfrm>
          <a:prstGeom prst="straightConnector1">
            <a:avLst/>
          </a:prstGeom>
          <a:noFill/>
          <a:ln w="19050" cap="flat" cmpd="sng">
            <a:solidFill>
              <a:schemeClr val="dk1"/>
            </a:solidFill>
            <a:prstDash val="solid"/>
            <a:miter lim="800000"/>
            <a:headEnd type="none" w="sm" len="sm"/>
            <a:tailEnd type="triangle" w="med" len="med"/>
          </a:ln>
        </p:spPr>
      </p:cxnSp>
      <p:sp>
        <p:nvSpPr>
          <p:cNvPr id="349" name="Google Shape;349;p7"/>
          <p:cNvSpPr txBox="1"/>
          <p:nvPr/>
        </p:nvSpPr>
        <p:spPr>
          <a:xfrm>
            <a:off x="1361694" y="5924288"/>
            <a:ext cx="57912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S</a:t>
            </a:r>
            <a:endParaRPr sz="1800">
              <a:solidFill>
                <a:schemeClr val="dk1"/>
              </a:solidFill>
              <a:latin typeface="Calibri"/>
              <a:ea typeface="Calibri"/>
              <a:cs typeface="Calibri"/>
              <a:sym typeface="Calibri"/>
            </a:endParaRPr>
          </a:p>
        </p:txBody>
      </p:sp>
      <p:sp>
        <p:nvSpPr>
          <p:cNvPr id="350" name="Google Shape;350;p7"/>
          <p:cNvSpPr txBox="1"/>
          <p:nvPr/>
        </p:nvSpPr>
        <p:spPr>
          <a:xfrm>
            <a:off x="3215259" y="5924050"/>
            <a:ext cx="403860" cy="369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2</a:t>
            </a:r>
            <a:endParaRPr/>
          </a:p>
        </p:txBody>
      </p:sp>
      <p:sp>
        <p:nvSpPr>
          <p:cNvPr id="351" name="Google Shape;351;p7"/>
          <p:cNvSpPr txBox="1"/>
          <p:nvPr/>
        </p:nvSpPr>
        <p:spPr>
          <a:xfrm>
            <a:off x="5062157" y="5924288"/>
            <a:ext cx="51435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352" name="Google Shape;352;p7"/>
          <p:cNvSpPr txBox="1"/>
          <p:nvPr/>
        </p:nvSpPr>
        <p:spPr>
          <a:xfrm>
            <a:off x="6761892" y="5924288"/>
            <a:ext cx="3352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T</a:t>
            </a:r>
            <a:endParaRPr sz="1800">
              <a:solidFill>
                <a:schemeClr val="dk1"/>
              </a:solidFill>
              <a:latin typeface="Calibri"/>
              <a:ea typeface="Calibri"/>
              <a:cs typeface="Calibri"/>
              <a:sym typeface="Calibri"/>
            </a:endParaRPr>
          </a:p>
        </p:txBody>
      </p:sp>
      <p:sp>
        <p:nvSpPr>
          <p:cNvPr id="353" name="Google Shape;353;p7"/>
          <p:cNvSpPr txBox="1"/>
          <p:nvPr/>
        </p:nvSpPr>
        <p:spPr>
          <a:xfrm>
            <a:off x="3215259" y="4735568"/>
            <a:ext cx="36576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4</a:t>
            </a:r>
            <a:endParaRPr/>
          </a:p>
        </p:txBody>
      </p:sp>
      <p:sp>
        <p:nvSpPr>
          <p:cNvPr id="354" name="Google Shape;354;p7"/>
          <p:cNvSpPr txBox="1"/>
          <p:nvPr/>
        </p:nvSpPr>
        <p:spPr>
          <a:xfrm>
            <a:off x="5078349" y="4739377"/>
            <a:ext cx="42291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5</a:t>
            </a:r>
            <a:endParaRPr sz="1800">
              <a:solidFill>
                <a:schemeClr val="dk1"/>
              </a:solidFill>
              <a:latin typeface="Calibri"/>
              <a:ea typeface="Calibri"/>
              <a:cs typeface="Calibri"/>
              <a:sym typeface="Calibri"/>
            </a:endParaRPr>
          </a:p>
        </p:txBody>
      </p:sp>
      <p:sp>
        <p:nvSpPr>
          <p:cNvPr id="355" name="Google Shape;355;p7"/>
          <p:cNvSpPr txBox="1"/>
          <p:nvPr/>
        </p:nvSpPr>
        <p:spPr>
          <a:xfrm>
            <a:off x="2195369" y="5855038"/>
            <a:ext cx="67627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10/12</a:t>
            </a:r>
            <a:endParaRPr sz="1050">
              <a:solidFill>
                <a:schemeClr val="dk1"/>
              </a:solidFill>
              <a:latin typeface="Calibri"/>
              <a:ea typeface="Calibri"/>
              <a:cs typeface="Calibri"/>
              <a:sym typeface="Calibri"/>
            </a:endParaRPr>
          </a:p>
        </p:txBody>
      </p:sp>
      <p:sp>
        <p:nvSpPr>
          <p:cNvPr id="356" name="Google Shape;356;p7"/>
          <p:cNvSpPr txBox="1"/>
          <p:nvPr/>
        </p:nvSpPr>
        <p:spPr>
          <a:xfrm>
            <a:off x="5768436" y="5854919"/>
            <a:ext cx="61483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10/10</a:t>
            </a:r>
            <a:endParaRPr sz="1050">
              <a:solidFill>
                <a:schemeClr val="dk1"/>
              </a:solidFill>
              <a:latin typeface="Calibri"/>
              <a:ea typeface="Calibri"/>
              <a:cs typeface="Calibri"/>
              <a:sym typeface="Calibri"/>
            </a:endParaRPr>
          </a:p>
        </p:txBody>
      </p:sp>
      <p:sp>
        <p:nvSpPr>
          <p:cNvPr id="357" name="Google Shape;357;p7"/>
          <p:cNvSpPr txBox="1"/>
          <p:nvPr/>
        </p:nvSpPr>
        <p:spPr>
          <a:xfrm rot="-2173728">
            <a:off x="2081784" y="5213991"/>
            <a:ext cx="529590"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4/5</a:t>
            </a:r>
            <a:endParaRPr sz="1050">
              <a:solidFill>
                <a:schemeClr val="dk1"/>
              </a:solidFill>
              <a:latin typeface="Calibri"/>
              <a:ea typeface="Calibri"/>
              <a:cs typeface="Calibri"/>
              <a:sym typeface="Calibri"/>
            </a:endParaRPr>
          </a:p>
        </p:txBody>
      </p:sp>
      <p:sp>
        <p:nvSpPr>
          <p:cNvPr id="358" name="Google Shape;358;p7"/>
          <p:cNvSpPr txBox="1"/>
          <p:nvPr/>
        </p:nvSpPr>
        <p:spPr>
          <a:xfrm>
            <a:off x="4023429" y="5873970"/>
            <a:ext cx="62293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6/13</a:t>
            </a:r>
            <a:endParaRPr sz="1050">
              <a:solidFill>
                <a:schemeClr val="dk1"/>
              </a:solidFill>
              <a:latin typeface="Calibri"/>
              <a:ea typeface="Calibri"/>
              <a:cs typeface="Calibri"/>
              <a:sym typeface="Calibri"/>
            </a:endParaRPr>
          </a:p>
        </p:txBody>
      </p:sp>
      <p:sp>
        <p:nvSpPr>
          <p:cNvPr id="359" name="Google Shape;359;p7"/>
          <p:cNvSpPr txBox="1"/>
          <p:nvPr/>
        </p:nvSpPr>
        <p:spPr>
          <a:xfrm rot="2076160">
            <a:off x="3707199" y="5146151"/>
            <a:ext cx="632460"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4/5</a:t>
            </a:r>
            <a:endParaRPr sz="1050">
              <a:solidFill>
                <a:schemeClr val="dk1"/>
              </a:solidFill>
              <a:latin typeface="Calibri"/>
              <a:ea typeface="Calibri"/>
              <a:cs typeface="Calibri"/>
              <a:sym typeface="Calibri"/>
            </a:endParaRPr>
          </a:p>
        </p:txBody>
      </p:sp>
      <p:sp>
        <p:nvSpPr>
          <p:cNvPr id="360" name="Google Shape;360;p7"/>
          <p:cNvSpPr txBox="1"/>
          <p:nvPr/>
        </p:nvSpPr>
        <p:spPr>
          <a:xfrm rot="-2147491">
            <a:off x="3579130" y="5553060"/>
            <a:ext cx="48235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4/5</a:t>
            </a:r>
            <a:endParaRPr sz="1050">
              <a:solidFill>
                <a:schemeClr val="dk1"/>
              </a:solidFill>
              <a:latin typeface="Calibri"/>
              <a:ea typeface="Calibri"/>
              <a:cs typeface="Calibri"/>
              <a:sym typeface="Calibri"/>
            </a:endParaRPr>
          </a:p>
        </p:txBody>
      </p:sp>
      <p:sp>
        <p:nvSpPr>
          <p:cNvPr id="361" name="Google Shape;361;p7"/>
          <p:cNvSpPr txBox="1"/>
          <p:nvPr/>
        </p:nvSpPr>
        <p:spPr>
          <a:xfrm rot="2380485">
            <a:off x="5903575" y="5349536"/>
            <a:ext cx="609600"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4/5</a:t>
            </a:r>
            <a:endParaRPr sz="1050">
              <a:solidFill>
                <a:schemeClr val="dk1"/>
              </a:solidFill>
              <a:latin typeface="Calibri"/>
              <a:ea typeface="Calibri"/>
              <a:cs typeface="Calibri"/>
              <a:sym typeface="Calibri"/>
            </a:endParaRPr>
          </a:p>
        </p:txBody>
      </p:sp>
      <p:sp>
        <p:nvSpPr>
          <p:cNvPr id="29" name="PAGE NUM 0">
            <a:extLst>
              <a:ext uri="{FF2B5EF4-FFF2-40B4-BE49-F238E27FC236}">
                <a16:creationId xmlns:a16="http://schemas.microsoft.com/office/drawing/2014/main" id="{3E3B28D1-9377-427B-8B58-E04FA3480723}"/>
              </a:ext>
            </a:extLst>
          </p:cNvPr>
          <p:cNvSpPr txBox="1"/>
          <p:nvPr/>
        </p:nvSpPr>
        <p:spPr>
          <a:xfrm>
            <a:off x="11599908" y="-5105"/>
            <a:ext cx="468851" cy="369332"/>
          </a:xfrm>
          <a:prstGeom prst="rect">
            <a:avLst/>
          </a:prstGeom>
          <a:noFill/>
          <a:ln>
            <a:noFill/>
          </a:ln>
        </p:spPr>
        <p:txBody>
          <a:bodyPr wrap="square" rtlCol="0">
            <a:spAutoFit/>
          </a:bodyPr>
          <a:lstStyle/>
          <a:p>
            <a:pPr algn="r"/>
            <a:r>
              <a:rPr lang="en-US" strike="sngStrike" dirty="0">
                <a:solidFill>
                  <a:srgbClr val="C00000"/>
                </a:solidFill>
                <a:latin typeface="JetBrains Mono Light" panose="02000009000000000000" pitchFamily="49" charset="0"/>
                <a:cs typeface="JetBrains Mono Light" panose="02000009000000000000" pitchFamily="49" charset="0"/>
              </a:rPr>
              <a:t>3</a:t>
            </a:r>
          </a:p>
        </p:txBody>
      </p:sp>
      <p:sp>
        <p:nvSpPr>
          <p:cNvPr id="30" name="PAGE NUM 1">
            <a:extLst>
              <a:ext uri="{FF2B5EF4-FFF2-40B4-BE49-F238E27FC236}">
                <a16:creationId xmlns:a16="http://schemas.microsoft.com/office/drawing/2014/main" id="{D97B90DD-28DD-4E0E-A58B-B40E6907C091}"/>
              </a:ext>
            </a:extLst>
          </p:cNvPr>
          <p:cNvSpPr txBox="1"/>
          <p:nvPr/>
        </p:nvSpPr>
        <p:spPr>
          <a:xfrm>
            <a:off x="11883838" y="-11114"/>
            <a:ext cx="914400" cy="369332"/>
          </a:xfrm>
          <a:prstGeom prst="rect">
            <a:avLst/>
          </a:prstGeom>
          <a:noFill/>
        </p:spPr>
        <p:txBody>
          <a:bodyPr wrap="square" rtlCol="0">
            <a:spAutoFit/>
          </a:bodyPr>
          <a:lstStyle/>
          <a:p>
            <a:r>
              <a:rPr lang="en-US" strike="sngStrike" dirty="0">
                <a:solidFill>
                  <a:srgbClr val="C00000"/>
                </a:solidFill>
                <a:latin typeface="JetBrains Mono Light" panose="02000009000000000000" pitchFamily="49" charset="0"/>
                <a:cs typeface="JetBrains Mono Light" panose="02000009000000000000" pitchFamily="49" charset="0"/>
              </a:rPr>
              <a:t>1</a:t>
            </a:r>
            <a:endParaRPr lang="en-US" strike="sngStrike" dirty="0">
              <a:solidFill>
                <a:srgbClr val="C00000"/>
              </a:solidFill>
            </a:endParaRPr>
          </a:p>
        </p:txBody>
      </p:sp>
    </p:spTree>
    <p:extLst>
      <p:ext uri="{BB962C8B-B14F-4D97-AF65-F5344CB8AC3E}">
        <p14:creationId xmlns:p14="http://schemas.microsoft.com/office/powerpoint/2010/main" val="15267735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5">
                                            <p:txEl>
                                              <p:pRg st="0" end="0"/>
                                            </p:txEl>
                                          </p:spTgt>
                                        </p:tgtEl>
                                        <p:attrNameLst>
                                          <p:attrName>style.visibility</p:attrName>
                                        </p:attrNameLst>
                                      </p:cBhvr>
                                      <p:to>
                                        <p:strVal val="visible"/>
                                      </p:to>
                                    </p:set>
                                    <p:animEffect transition="in" filter="fade">
                                      <p:cBhvr>
                                        <p:cTn id="7" dur="500"/>
                                        <p:tgtEl>
                                          <p:spTgt spid="3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5">
                                            <p:txEl>
                                              <p:pRg st="1" end="1"/>
                                            </p:txEl>
                                          </p:spTgt>
                                        </p:tgtEl>
                                        <p:attrNameLst>
                                          <p:attrName>style.visibility</p:attrName>
                                        </p:attrNameLst>
                                      </p:cBhvr>
                                      <p:to>
                                        <p:strVal val="visible"/>
                                      </p:to>
                                    </p:set>
                                    <p:animEffect transition="in" filter="fade">
                                      <p:cBhvr>
                                        <p:cTn id="12" dur="500"/>
                                        <p:tgtEl>
                                          <p:spTgt spid="3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5">
                                            <p:txEl>
                                              <p:pRg st="2" end="2"/>
                                            </p:txEl>
                                          </p:spTgt>
                                        </p:tgtEl>
                                        <p:attrNameLst>
                                          <p:attrName>style.visibility</p:attrName>
                                        </p:attrNameLst>
                                      </p:cBhvr>
                                      <p:to>
                                        <p:strVal val="visible"/>
                                      </p:to>
                                    </p:set>
                                    <p:animEffect transition="in" filter="fade">
                                      <p:cBhvr>
                                        <p:cTn id="17" dur="500"/>
                                        <p:tgtEl>
                                          <p:spTgt spid="3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5">
                                            <p:txEl>
                                              <p:pRg st="3" end="3"/>
                                            </p:txEl>
                                          </p:spTgt>
                                        </p:tgtEl>
                                        <p:attrNameLst>
                                          <p:attrName>style.visibility</p:attrName>
                                        </p:attrNameLst>
                                      </p:cBhvr>
                                      <p:to>
                                        <p:strVal val="visible"/>
                                      </p:to>
                                    </p:set>
                                    <p:animEffect transition="in" filter="fade">
                                      <p:cBhvr>
                                        <p:cTn id="22" dur="500"/>
                                        <p:tgtEl>
                                          <p:spTgt spid="33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5">
                                            <p:txEl>
                                              <p:pRg st="4" end="4"/>
                                            </p:txEl>
                                          </p:spTgt>
                                        </p:tgtEl>
                                        <p:attrNameLst>
                                          <p:attrName>style.visibility</p:attrName>
                                        </p:attrNameLst>
                                      </p:cBhvr>
                                      <p:to>
                                        <p:strVal val="visible"/>
                                      </p:to>
                                    </p:set>
                                    <p:animEffect transition="in" filter="fade">
                                      <p:cBhvr>
                                        <p:cTn id="27" dur="500"/>
                                        <p:tgtEl>
                                          <p:spTgt spid="33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35">
                                            <p:txEl>
                                              <p:pRg st="5" end="5"/>
                                            </p:txEl>
                                          </p:spTgt>
                                        </p:tgtEl>
                                        <p:attrNameLst>
                                          <p:attrName>style.visibility</p:attrName>
                                        </p:attrNameLst>
                                      </p:cBhvr>
                                      <p:to>
                                        <p:strVal val="visible"/>
                                      </p:to>
                                    </p:set>
                                    <p:animEffect transition="in" filter="fade">
                                      <p:cBhvr>
                                        <p:cTn id="32" dur="500"/>
                                        <p:tgtEl>
                                          <p:spTgt spid="33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35">
                                            <p:txEl>
                                              <p:pRg st="6" end="6"/>
                                            </p:txEl>
                                          </p:spTgt>
                                        </p:tgtEl>
                                        <p:attrNameLst>
                                          <p:attrName>style.visibility</p:attrName>
                                        </p:attrNameLst>
                                      </p:cBhvr>
                                      <p:to>
                                        <p:strVal val="visible"/>
                                      </p:to>
                                    </p:set>
                                    <p:animEffect transition="in" filter="fade">
                                      <p:cBhvr>
                                        <p:cTn id="37" dur="500"/>
                                        <p:tgtEl>
                                          <p:spTgt spid="33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35">
                                            <p:txEl>
                                              <p:pRg st="7" end="7"/>
                                            </p:txEl>
                                          </p:spTgt>
                                        </p:tgtEl>
                                        <p:attrNameLst>
                                          <p:attrName>style.visibility</p:attrName>
                                        </p:attrNameLst>
                                      </p:cBhvr>
                                      <p:to>
                                        <p:strVal val="visible"/>
                                      </p:to>
                                    </p:set>
                                    <p:animEffect transition="in" filter="fade">
                                      <p:cBhvr>
                                        <p:cTn id="42" dur="500"/>
                                        <p:tgtEl>
                                          <p:spTgt spid="33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35">
                                            <p:txEl>
                                              <p:pRg st="8" end="8"/>
                                            </p:txEl>
                                          </p:spTgt>
                                        </p:tgtEl>
                                        <p:attrNameLst>
                                          <p:attrName>style.visibility</p:attrName>
                                        </p:attrNameLst>
                                      </p:cBhvr>
                                      <p:to>
                                        <p:strVal val="visible"/>
                                      </p:to>
                                    </p:set>
                                    <p:animEffect transition="in" filter="fade">
                                      <p:cBhvr>
                                        <p:cTn id="47" dur="500"/>
                                        <p:tgtEl>
                                          <p:spTgt spid="33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35">
                                            <p:txEl>
                                              <p:pRg st="9" end="9"/>
                                            </p:txEl>
                                          </p:spTgt>
                                        </p:tgtEl>
                                        <p:attrNameLst>
                                          <p:attrName>style.visibility</p:attrName>
                                        </p:attrNameLst>
                                      </p:cBhvr>
                                      <p:to>
                                        <p:strVal val="visible"/>
                                      </p:to>
                                    </p:set>
                                    <p:animEffect transition="in" filter="fade">
                                      <p:cBhvr>
                                        <p:cTn id="52" dur="500"/>
                                        <p:tgtEl>
                                          <p:spTgt spid="33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36"/>
                                        </p:tgtEl>
                                        <p:attrNameLst>
                                          <p:attrName>style.visibility</p:attrName>
                                        </p:attrNameLst>
                                      </p:cBhvr>
                                      <p:to>
                                        <p:strVal val="visible"/>
                                      </p:to>
                                    </p:set>
                                    <p:animEffect transition="in" filter="fade">
                                      <p:cBhvr>
                                        <p:cTn id="57" dur="1000"/>
                                        <p:tgtEl>
                                          <p:spTgt spid="336"/>
                                        </p:tgtEl>
                                      </p:cBhvr>
                                    </p:animEffect>
                                  </p:childTnLst>
                                </p:cTn>
                              </p:par>
                              <p:par>
                                <p:cTn id="58" presetID="10" presetClass="entr" presetSubtype="0" fill="hold" nodeType="withEffect">
                                  <p:stCondLst>
                                    <p:cond delay="0"/>
                                  </p:stCondLst>
                                  <p:childTnLst>
                                    <p:set>
                                      <p:cBhvr>
                                        <p:cTn id="59" dur="1" fill="hold">
                                          <p:stCondLst>
                                            <p:cond delay="0"/>
                                          </p:stCondLst>
                                        </p:cTn>
                                        <p:tgtEl>
                                          <p:spTgt spid="337"/>
                                        </p:tgtEl>
                                        <p:attrNameLst>
                                          <p:attrName>style.visibility</p:attrName>
                                        </p:attrNameLst>
                                      </p:cBhvr>
                                      <p:to>
                                        <p:strVal val="visible"/>
                                      </p:to>
                                    </p:set>
                                    <p:animEffect transition="in" filter="fade">
                                      <p:cBhvr>
                                        <p:cTn id="60" dur="1000"/>
                                        <p:tgtEl>
                                          <p:spTgt spid="337"/>
                                        </p:tgtEl>
                                      </p:cBhvr>
                                    </p:animEffect>
                                  </p:childTnLst>
                                </p:cTn>
                              </p:par>
                              <p:par>
                                <p:cTn id="61" presetID="10" presetClass="entr" presetSubtype="0" fill="hold" nodeType="withEffect">
                                  <p:stCondLst>
                                    <p:cond delay="0"/>
                                  </p:stCondLst>
                                  <p:childTnLst>
                                    <p:set>
                                      <p:cBhvr>
                                        <p:cTn id="62" dur="1" fill="hold">
                                          <p:stCondLst>
                                            <p:cond delay="0"/>
                                          </p:stCondLst>
                                        </p:cTn>
                                        <p:tgtEl>
                                          <p:spTgt spid="338"/>
                                        </p:tgtEl>
                                        <p:attrNameLst>
                                          <p:attrName>style.visibility</p:attrName>
                                        </p:attrNameLst>
                                      </p:cBhvr>
                                      <p:to>
                                        <p:strVal val="visible"/>
                                      </p:to>
                                    </p:set>
                                    <p:animEffect transition="in" filter="fade">
                                      <p:cBhvr>
                                        <p:cTn id="63" dur="1000"/>
                                        <p:tgtEl>
                                          <p:spTgt spid="338"/>
                                        </p:tgtEl>
                                      </p:cBhvr>
                                    </p:animEffect>
                                  </p:childTnLst>
                                </p:cTn>
                              </p:par>
                              <p:par>
                                <p:cTn id="64" presetID="10" presetClass="entr" presetSubtype="0" fill="hold" nodeType="withEffect">
                                  <p:stCondLst>
                                    <p:cond delay="0"/>
                                  </p:stCondLst>
                                  <p:childTnLst>
                                    <p:set>
                                      <p:cBhvr>
                                        <p:cTn id="65" dur="1" fill="hold">
                                          <p:stCondLst>
                                            <p:cond delay="0"/>
                                          </p:stCondLst>
                                        </p:cTn>
                                        <p:tgtEl>
                                          <p:spTgt spid="339"/>
                                        </p:tgtEl>
                                        <p:attrNameLst>
                                          <p:attrName>style.visibility</p:attrName>
                                        </p:attrNameLst>
                                      </p:cBhvr>
                                      <p:to>
                                        <p:strVal val="visible"/>
                                      </p:to>
                                    </p:set>
                                    <p:animEffect transition="in" filter="fade">
                                      <p:cBhvr>
                                        <p:cTn id="66" dur="1000"/>
                                        <p:tgtEl>
                                          <p:spTgt spid="339"/>
                                        </p:tgtEl>
                                      </p:cBhvr>
                                    </p:animEffect>
                                  </p:childTnLst>
                                </p:cTn>
                              </p:par>
                              <p:par>
                                <p:cTn id="67" presetID="10" presetClass="entr" presetSubtype="0" fill="hold" nodeType="withEffect">
                                  <p:stCondLst>
                                    <p:cond delay="0"/>
                                  </p:stCondLst>
                                  <p:childTnLst>
                                    <p:set>
                                      <p:cBhvr>
                                        <p:cTn id="68" dur="1" fill="hold">
                                          <p:stCondLst>
                                            <p:cond delay="0"/>
                                          </p:stCondLst>
                                        </p:cTn>
                                        <p:tgtEl>
                                          <p:spTgt spid="340"/>
                                        </p:tgtEl>
                                        <p:attrNameLst>
                                          <p:attrName>style.visibility</p:attrName>
                                        </p:attrNameLst>
                                      </p:cBhvr>
                                      <p:to>
                                        <p:strVal val="visible"/>
                                      </p:to>
                                    </p:set>
                                    <p:animEffect transition="in" filter="fade">
                                      <p:cBhvr>
                                        <p:cTn id="69" dur="1000"/>
                                        <p:tgtEl>
                                          <p:spTgt spid="340"/>
                                        </p:tgtEl>
                                      </p:cBhvr>
                                    </p:animEffect>
                                  </p:childTnLst>
                                </p:cTn>
                              </p:par>
                              <p:par>
                                <p:cTn id="70" presetID="10" presetClass="entr" presetSubtype="0" fill="hold" nodeType="withEffect">
                                  <p:stCondLst>
                                    <p:cond delay="0"/>
                                  </p:stCondLst>
                                  <p:childTnLst>
                                    <p:set>
                                      <p:cBhvr>
                                        <p:cTn id="71" dur="1" fill="hold">
                                          <p:stCondLst>
                                            <p:cond delay="0"/>
                                          </p:stCondLst>
                                        </p:cTn>
                                        <p:tgtEl>
                                          <p:spTgt spid="341"/>
                                        </p:tgtEl>
                                        <p:attrNameLst>
                                          <p:attrName>style.visibility</p:attrName>
                                        </p:attrNameLst>
                                      </p:cBhvr>
                                      <p:to>
                                        <p:strVal val="visible"/>
                                      </p:to>
                                    </p:set>
                                    <p:animEffect transition="in" filter="fade">
                                      <p:cBhvr>
                                        <p:cTn id="72" dur="1000"/>
                                        <p:tgtEl>
                                          <p:spTgt spid="341"/>
                                        </p:tgtEl>
                                      </p:cBhvr>
                                    </p:animEffect>
                                  </p:childTnLst>
                                </p:cTn>
                              </p:par>
                              <p:par>
                                <p:cTn id="73" presetID="10" presetClass="entr" presetSubtype="0" fill="hold" nodeType="withEffect">
                                  <p:stCondLst>
                                    <p:cond delay="0"/>
                                  </p:stCondLst>
                                  <p:childTnLst>
                                    <p:set>
                                      <p:cBhvr>
                                        <p:cTn id="74" dur="1" fill="hold">
                                          <p:stCondLst>
                                            <p:cond delay="0"/>
                                          </p:stCondLst>
                                        </p:cTn>
                                        <p:tgtEl>
                                          <p:spTgt spid="342"/>
                                        </p:tgtEl>
                                        <p:attrNameLst>
                                          <p:attrName>style.visibility</p:attrName>
                                        </p:attrNameLst>
                                      </p:cBhvr>
                                      <p:to>
                                        <p:strVal val="visible"/>
                                      </p:to>
                                    </p:set>
                                    <p:animEffect transition="in" filter="fade">
                                      <p:cBhvr>
                                        <p:cTn id="75" dur="1000"/>
                                        <p:tgtEl>
                                          <p:spTgt spid="342"/>
                                        </p:tgtEl>
                                      </p:cBhvr>
                                    </p:animEffect>
                                  </p:childTnLst>
                                </p:cTn>
                              </p:par>
                              <p:par>
                                <p:cTn id="76" presetID="10" presetClass="entr" presetSubtype="0" fill="hold" nodeType="withEffect">
                                  <p:stCondLst>
                                    <p:cond delay="0"/>
                                  </p:stCondLst>
                                  <p:childTnLst>
                                    <p:set>
                                      <p:cBhvr>
                                        <p:cTn id="77" dur="1" fill="hold">
                                          <p:stCondLst>
                                            <p:cond delay="0"/>
                                          </p:stCondLst>
                                        </p:cTn>
                                        <p:tgtEl>
                                          <p:spTgt spid="343"/>
                                        </p:tgtEl>
                                        <p:attrNameLst>
                                          <p:attrName>style.visibility</p:attrName>
                                        </p:attrNameLst>
                                      </p:cBhvr>
                                      <p:to>
                                        <p:strVal val="visible"/>
                                      </p:to>
                                    </p:set>
                                    <p:animEffect transition="in" filter="fade">
                                      <p:cBhvr>
                                        <p:cTn id="78" dur="1000"/>
                                        <p:tgtEl>
                                          <p:spTgt spid="343"/>
                                        </p:tgtEl>
                                      </p:cBhvr>
                                    </p:animEffect>
                                  </p:childTnLst>
                                </p:cTn>
                              </p:par>
                              <p:par>
                                <p:cTn id="79" presetID="10" presetClass="entr" presetSubtype="0" fill="hold" nodeType="withEffect">
                                  <p:stCondLst>
                                    <p:cond delay="0"/>
                                  </p:stCondLst>
                                  <p:childTnLst>
                                    <p:set>
                                      <p:cBhvr>
                                        <p:cTn id="80" dur="1" fill="hold">
                                          <p:stCondLst>
                                            <p:cond delay="0"/>
                                          </p:stCondLst>
                                        </p:cTn>
                                        <p:tgtEl>
                                          <p:spTgt spid="344"/>
                                        </p:tgtEl>
                                        <p:attrNameLst>
                                          <p:attrName>style.visibility</p:attrName>
                                        </p:attrNameLst>
                                      </p:cBhvr>
                                      <p:to>
                                        <p:strVal val="visible"/>
                                      </p:to>
                                    </p:set>
                                    <p:animEffect transition="in" filter="fade">
                                      <p:cBhvr>
                                        <p:cTn id="81" dur="1000"/>
                                        <p:tgtEl>
                                          <p:spTgt spid="344"/>
                                        </p:tgtEl>
                                      </p:cBhvr>
                                    </p:animEffect>
                                  </p:childTnLst>
                                </p:cTn>
                              </p:par>
                              <p:par>
                                <p:cTn id="82" presetID="10" presetClass="entr" presetSubtype="0" fill="hold" nodeType="withEffect">
                                  <p:stCondLst>
                                    <p:cond delay="0"/>
                                  </p:stCondLst>
                                  <p:childTnLst>
                                    <p:set>
                                      <p:cBhvr>
                                        <p:cTn id="83" dur="1" fill="hold">
                                          <p:stCondLst>
                                            <p:cond delay="0"/>
                                          </p:stCondLst>
                                        </p:cTn>
                                        <p:tgtEl>
                                          <p:spTgt spid="345"/>
                                        </p:tgtEl>
                                        <p:attrNameLst>
                                          <p:attrName>style.visibility</p:attrName>
                                        </p:attrNameLst>
                                      </p:cBhvr>
                                      <p:to>
                                        <p:strVal val="visible"/>
                                      </p:to>
                                    </p:set>
                                    <p:animEffect transition="in" filter="fade">
                                      <p:cBhvr>
                                        <p:cTn id="84" dur="1000"/>
                                        <p:tgtEl>
                                          <p:spTgt spid="345"/>
                                        </p:tgtEl>
                                      </p:cBhvr>
                                    </p:animEffect>
                                  </p:childTnLst>
                                </p:cTn>
                              </p:par>
                              <p:par>
                                <p:cTn id="85" presetID="10" presetClass="entr" presetSubtype="0" fill="hold" nodeType="withEffect">
                                  <p:stCondLst>
                                    <p:cond delay="0"/>
                                  </p:stCondLst>
                                  <p:childTnLst>
                                    <p:set>
                                      <p:cBhvr>
                                        <p:cTn id="86" dur="1" fill="hold">
                                          <p:stCondLst>
                                            <p:cond delay="0"/>
                                          </p:stCondLst>
                                        </p:cTn>
                                        <p:tgtEl>
                                          <p:spTgt spid="346"/>
                                        </p:tgtEl>
                                        <p:attrNameLst>
                                          <p:attrName>style.visibility</p:attrName>
                                        </p:attrNameLst>
                                      </p:cBhvr>
                                      <p:to>
                                        <p:strVal val="visible"/>
                                      </p:to>
                                    </p:set>
                                    <p:animEffect transition="in" filter="fade">
                                      <p:cBhvr>
                                        <p:cTn id="87" dur="1000"/>
                                        <p:tgtEl>
                                          <p:spTgt spid="346"/>
                                        </p:tgtEl>
                                      </p:cBhvr>
                                    </p:animEffect>
                                  </p:childTnLst>
                                </p:cTn>
                              </p:par>
                              <p:par>
                                <p:cTn id="88" presetID="10" presetClass="entr" presetSubtype="0" fill="hold" nodeType="withEffect">
                                  <p:stCondLst>
                                    <p:cond delay="0"/>
                                  </p:stCondLst>
                                  <p:childTnLst>
                                    <p:set>
                                      <p:cBhvr>
                                        <p:cTn id="89" dur="1" fill="hold">
                                          <p:stCondLst>
                                            <p:cond delay="0"/>
                                          </p:stCondLst>
                                        </p:cTn>
                                        <p:tgtEl>
                                          <p:spTgt spid="347"/>
                                        </p:tgtEl>
                                        <p:attrNameLst>
                                          <p:attrName>style.visibility</p:attrName>
                                        </p:attrNameLst>
                                      </p:cBhvr>
                                      <p:to>
                                        <p:strVal val="visible"/>
                                      </p:to>
                                    </p:set>
                                    <p:animEffect transition="in" filter="fade">
                                      <p:cBhvr>
                                        <p:cTn id="90" dur="1000"/>
                                        <p:tgtEl>
                                          <p:spTgt spid="347"/>
                                        </p:tgtEl>
                                      </p:cBhvr>
                                    </p:animEffect>
                                  </p:childTnLst>
                                </p:cTn>
                              </p:par>
                              <p:par>
                                <p:cTn id="91" presetID="10" presetClass="entr" presetSubtype="0" fill="hold" nodeType="withEffect">
                                  <p:stCondLst>
                                    <p:cond delay="0"/>
                                  </p:stCondLst>
                                  <p:childTnLst>
                                    <p:set>
                                      <p:cBhvr>
                                        <p:cTn id="92" dur="1" fill="hold">
                                          <p:stCondLst>
                                            <p:cond delay="0"/>
                                          </p:stCondLst>
                                        </p:cTn>
                                        <p:tgtEl>
                                          <p:spTgt spid="348"/>
                                        </p:tgtEl>
                                        <p:attrNameLst>
                                          <p:attrName>style.visibility</p:attrName>
                                        </p:attrNameLst>
                                      </p:cBhvr>
                                      <p:to>
                                        <p:strVal val="visible"/>
                                      </p:to>
                                    </p:set>
                                    <p:animEffect transition="in" filter="fade">
                                      <p:cBhvr>
                                        <p:cTn id="93" dur="1000"/>
                                        <p:tgtEl>
                                          <p:spTgt spid="348"/>
                                        </p:tgtEl>
                                      </p:cBhvr>
                                    </p:animEffect>
                                  </p:childTnLst>
                                </p:cTn>
                              </p:par>
                              <p:par>
                                <p:cTn id="94" presetID="10" presetClass="entr" presetSubtype="0" fill="hold" nodeType="withEffect">
                                  <p:stCondLst>
                                    <p:cond delay="0"/>
                                  </p:stCondLst>
                                  <p:childTnLst>
                                    <p:set>
                                      <p:cBhvr>
                                        <p:cTn id="95" dur="1" fill="hold">
                                          <p:stCondLst>
                                            <p:cond delay="0"/>
                                          </p:stCondLst>
                                        </p:cTn>
                                        <p:tgtEl>
                                          <p:spTgt spid="349"/>
                                        </p:tgtEl>
                                        <p:attrNameLst>
                                          <p:attrName>style.visibility</p:attrName>
                                        </p:attrNameLst>
                                      </p:cBhvr>
                                      <p:to>
                                        <p:strVal val="visible"/>
                                      </p:to>
                                    </p:set>
                                    <p:animEffect transition="in" filter="fade">
                                      <p:cBhvr>
                                        <p:cTn id="96" dur="1000"/>
                                        <p:tgtEl>
                                          <p:spTgt spid="349"/>
                                        </p:tgtEl>
                                      </p:cBhvr>
                                    </p:animEffect>
                                  </p:childTnLst>
                                </p:cTn>
                              </p:par>
                              <p:par>
                                <p:cTn id="97" presetID="10" presetClass="entr" presetSubtype="0" fill="hold" nodeType="withEffect">
                                  <p:stCondLst>
                                    <p:cond delay="0"/>
                                  </p:stCondLst>
                                  <p:childTnLst>
                                    <p:set>
                                      <p:cBhvr>
                                        <p:cTn id="98" dur="1" fill="hold">
                                          <p:stCondLst>
                                            <p:cond delay="0"/>
                                          </p:stCondLst>
                                        </p:cTn>
                                        <p:tgtEl>
                                          <p:spTgt spid="350"/>
                                        </p:tgtEl>
                                        <p:attrNameLst>
                                          <p:attrName>style.visibility</p:attrName>
                                        </p:attrNameLst>
                                      </p:cBhvr>
                                      <p:to>
                                        <p:strVal val="visible"/>
                                      </p:to>
                                    </p:set>
                                    <p:animEffect transition="in" filter="fade">
                                      <p:cBhvr>
                                        <p:cTn id="99" dur="1000"/>
                                        <p:tgtEl>
                                          <p:spTgt spid="350"/>
                                        </p:tgtEl>
                                      </p:cBhvr>
                                    </p:animEffect>
                                  </p:childTnLst>
                                </p:cTn>
                              </p:par>
                              <p:par>
                                <p:cTn id="100" presetID="10" presetClass="entr" presetSubtype="0" fill="hold" nodeType="withEffect">
                                  <p:stCondLst>
                                    <p:cond delay="0"/>
                                  </p:stCondLst>
                                  <p:childTnLst>
                                    <p:set>
                                      <p:cBhvr>
                                        <p:cTn id="101" dur="1" fill="hold">
                                          <p:stCondLst>
                                            <p:cond delay="0"/>
                                          </p:stCondLst>
                                        </p:cTn>
                                        <p:tgtEl>
                                          <p:spTgt spid="351"/>
                                        </p:tgtEl>
                                        <p:attrNameLst>
                                          <p:attrName>style.visibility</p:attrName>
                                        </p:attrNameLst>
                                      </p:cBhvr>
                                      <p:to>
                                        <p:strVal val="visible"/>
                                      </p:to>
                                    </p:set>
                                    <p:animEffect transition="in" filter="fade">
                                      <p:cBhvr>
                                        <p:cTn id="102" dur="1000"/>
                                        <p:tgtEl>
                                          <p:spTgt spid="351"/>
                                        </p:tgtEl>
                                      </p:cBhvr>
                                    </p:animEffect>
                                  </p:childTnLst>
                                </p:cTn>
                              </p:par>
                              <p:par>
                                <p:cTn id="103" presetID="10" presetClass="entr" presetSubtype="0" fill="hold" nodeType="withEffect">
                                  <p:stCondLst>
                                    <p:cond delay="0"/>
                                  </p:stCondLst>
                                  <p:childTnLst>
                                    <p:set>
                                      <p:cBhvr>
                                        <p:cTn id="104" dur="1" fill="hold">
                                          <p:stCondLst>
                                            <p:cond delay="0"/>
                                          </p:stCondLst>
                                        </p:cTn>
                                        <p:tgtEl>
                                          <p:spTgt spid="352"/>
                                        </p:tgtEl>
                                        <p:attrNameLst>
                                          <p:attrName>style.visibility</p:attrName>
                                        </p:attrNameLst>
                                      </p:cBhvr>
                                      <p:to>
                                        <p:strVal val="visible"/>
                                      </p:to>
                                    </p:set>
                                    <p:animEffect transition="in" filter="fade">
                                      <p:cBhvr>
                                        <p:cTn id="105" dur="1000"/>
                                        <p:tgtEl>
                                          <p:spTgt spid="352"/>
                                        </p:tgtEl>
                                      </p:cBhvr>
                                    </p:animEffect>
                                  </p:childTnLst>
                                </p:cTn>
                              </p:par>
                              <p:par>
                                <p:cTn id="106" presetID="10" presetClass="entr" presetSubtype="0" fill="hold" nodeType="withEffect">
                                  <p:stCondLst>
                                    <p:cond delay="0"/>
                                  </p:stCondLst>
                                  <p:childTnLst>
                                    <p:set>
                                      <p:cBhvr>
                                        <p:cTn id="107" dur="1" fill="hold">
                                          <p:stCondLst>
                                            <p:cond delay="0"/>
                                          </p:stCondLst>
                                        </p:cTn>
                                        <p:tgtEl>
                                          <p:spTgt spid="353"/>
                                        </p:tgtEl>
                                        <p:attrNameLst>
                                          <p:attrName>style.visibility</p:attrName>
                                        </p:attrNameLst>
                                      </p:cBhvr>
                                      <p:to>
                                        <p:strVal val="visible"/>
                                      </p:to>
                                    </p:set>
                                    <p:animEffect transition="in" filter="fade">
                                      <p:cBhvr>
                                        <p:cTn id="108" dur="1000"/>
                                        <p:tgtEl>
                                          <p:spTgt spid="353"/>
                                        </p:tgtEl>
                                      </p:cBhvr>
                                    </p:animEffect>
                                  </p:childTnLst>
                                </p:cTn>
                              </p:par>
                              <p:par>
                                <p:cTn id="109" presetID="10" presetClass="entr" presetSubtype="0" fill="hold" nodeType="withEffect">
                                  <p:stCondLst>
                                    <p:cond delay="0"/>
                                  </p:stCondLst>
                                  <p:childTnLst>
                                    <p:set>
                                      <p:cBhvr>
                                        <p:cTn id="110" dur="1" fill="hold">
                                          <p:stCondLst>
                                            <p:cond delay="0"/>
                                          </p:stCondLst>
                                        </p:cTn>
                                        <p:tgtEl>
                                          <p:spTgt spid="354"/>
                                        </p:tgtEl>
                                        <p:attrNameLst>
                                          <p:attrName>style.visibility</p:attrName>
                                        </p:attrNameLst>
                                      </p:cBhvr>
                                      <p:to>
                                        <p:strVal val="visible"/>
                                      </p:to>
                                    </p:set>
                                    <p:animEffect transition="in" filter="fade">
                                      <p:cBhvr>
                                        <p:cTn id="111" dur="1000"/>
                                        <p:tgtEl>
                                          <p:spTgt spid="354"/>
                                        </p:tgtEl>
                                      </p:cBhvr>
                                    </p:animEffect>
                                  </p:childTnLst>
                                </p:cTn>
                              </p:par>
                              <p:par>
                                <p:cTn id="112" presetID="10" presetClass="entr" presetSubtype="0" fill="hold" nodeType="withEffect">
                                  <p:stCondLst>
                                    <p:cond delay="0"/>
                                  </p:stCondLst>
                                  <p:childTnLst>
                                    <p:set>
                                      <p:cBhvr>
                                        <p:cTn id="113" dur="1" fill="hold">
                                          <p:stCondLst>
                                            <p:cond delay="0"/>
                                          </p:stCondLst>
                                        </p:cTn>
                                        <p:tgtEl>
                                          <p:spTgt spid="355"/>
                                        </p:tgtEl>
                                        <p:attrNameLst>
                                          <p:attrName>style.visibility</p:attrName>
                                        </p:attrNameLst>
                                      </p:cBhvr>
                                      <p:to>
                                        <p:strVal val="visible"/>
                                      </p:to>
                                    </p:set>
                                    <p:animEffect transition="in" filter="fade">
                                      <p:cBhvr>
                                        <p:cTn id="114" dur="1000"/>
                                        <p:tgtEl>
                                          <p:spTgt spid="355"/>
                                        </p:tgtEl>
                                      </p:cBhvr>
                                    </p:animEffect>
                                  </p:childTnLst>
                                </p:cTn>
                              </p:par>
                              <p:par>
                                <p:cTn id="115" presetID="10" presetClass="entr" presetSubtype="0" fill="hold" nodeType="withEffect">
                                  <p:stCondLst>
                                    <p:cond delay="0"/>
                                  </p:stCondLst>
                                  <p:childTnLst>
                                    <p:set>
                                      <p:cBhvr>
                                        <p:cTn id="116" dur="1" fill="hold">
                                          <p:stCondLst>
                                            <p:cond delay="0"/>
                                          </p:stCondLst>
                                        </p:cTn>
                                        <p:tgtEl>
                                          <p:spTgt spid="356"/>
                                        </p:tgtEl>
                                        <p:attrNameLst>
                                          <p:attrName>style.visibility</p:attrName>
                                        </p:attrNameLst>
                                      </p:cBhvr>
                                      <p:to>
                                        <p:strVal val="visible"/>
                                      </p:to>
                                    </p:set>
                                    <p:animEffect transition="in" filter="fade">
                                      <p:cBhvr>
                                        <p:cTn id="117" dur="1000"/>
                                        <p:tgtEl>
                                          <p:spTgt spid="356"/>
                                        </p:tgtEl>
                                      </p:cBhvr>
                                    </p:animEffect>
                                  </p:childTnLst>
                                </p:cTn>
                              </p:par>
                              <p:par>
                                <p:cTn id="118" presetID="10" presetClass="entr" presetSubtype="0" fill="hold" nodeType="withEffect">
                                  <p:stCondLst>
                                    <p:cond delay="0"/>
                                  </p:stCondLst>
                                  <p:childTnLst>
                                    <p:set>
                                      <p:cBhvr>
                                        <p:cTn id="119" dur="1" fill="hold">
                                          <p:stCondLst>
                                            <p:cond delay="0"/>
                                          </p:stCondLst>
                                        </p:cTn>
                                        <p:tgtEl>
                                          <p:spTgt spid="357"/>
                                        </p:tgtEl>
                                        <p:attrNameLst>
                                          <p:attrName>style.visibility</p:attrName>
                                        </p:attrNameLst>
                                      </p:cBhvr>
                                      <p:to>
                                        <p:strVal val="visible"/>
                                      </p:to>
                                    </p:set>
                                    <p:animEffect transition="in" filter="fade">
                                      <p:cBhvr>
                                        <p:cTn id="120" dur="1000"/>
                                        <p:tgtEl>
                                          <p:spTgt spid="357"/>
                                        </p:tgtEl>
                                      </p:cBhvr>
                                    </p:animEffect>
                                  </p:childTnLst>
                                </p:cTn>
                              </p:par>
                              <p:par>
                                <p:cTn id="121" presetID="10" presetClass="entr" presetSubtype="0" fill="hold" nodeType="withEffect">
                                  <p:stCondLst>
                                    <p:cond delay="0"/>
                                  </p:stCondLst>
                                  <p:childTnLst>
                                    <p:set>
                                      <p:cBhvr>
                                        <p:cTn id="122" dur="1" fill="hold">
                                          <p:stCondLst>
                                            <p:cond delay="0"/>
                                          </p:stCondLst>
                                        </p:cTn>
                                        <p:tgtEl>
                                          <p:spTgt spid="358"/>
                                        </p:tgtEl>
                                        <p:attrNameLst>
                                          <p:attrName>style.visibility</p:attrName>
                                        </p:attrNameLst>
                                      </p:cBhvr>
                                      <p:to>
                                        <p:strVal val="visible"/>
                                      </p:to>
                                    </p:set>
                                    <p:animEffect transition="in" filter="fade">
                                      <p:cBhvr>
                                        <p:cTn id="123" dur="1000"/>
                                        <p:tgtEl>
                                          <p:spTgt spid="358"/>
                                        </p:tgtEl>
                                      </p:cBhvr>
                                    </p:animEffect>
                                  </p:childTnLst>
                                </p:cTn>
                              </p:par>
                              <p:par>
                                <p:cTn id="124" presetID="10" presetClass="entr" presetSubtype="0" fill="hold" nodeType="withEffect">
                                  <p:stCondLst>
                                    <p:cond delay="0"/>
                                  </p:stCondLst>
                                  <p:childTnLst>
                                    <p:set>
                                      <p:cBhvr>
                                        <p:cTn id="125" dur="1" fill="hold">
                                          <p:stCondLst>
                                            <p:cond delay="0"/>
                                          </p:stCondLst>
                                        </p:cTn>
                                        <p:tgtEl>
                                          <p:spTgt spid="359"/>
                                        </p:tgtEl>
                                        <p:attrNameLst>
                                          <p:attrName>style.visibility</p:attrName>
                                        </p:attrNameLst>
                                      </p:cBhvr>
                                      <p:to>
                                        <p:strVal val="visible"/>
                                      </p:to>
                                    </p:set>
                                    <p:animEffect transition="in" filter="fade">
                                      <p:cBhvr>
                                        <p:cTn id="126" dur="1000"/>
                                        <p:tgtEl>
                                          <p:spTgt spid="359"/>
                                        </p:tgtEl>
                                      </p:cBhvr>
                                    </p:animEffect>
                                  </p:childTnLst>
                                </p:cTn>
                              </p:par>
                              <p:par>
                                <p:cTn id="127" presetID="10" presetClass="entr" presetSubtype="0" fill="hold" nodeType="withEffect">
                                  <p:stCondLst>
                                    <p:cond delay="0"/>
                                  </p:stCondLst>
                                  <p:childTnLst>
                                    <p:set>
                                      <p:cBhvr>
                                        <p:cTn id="128" dur="1" fill="hold">
                                          <p:stCondLst>
                                            <p:cond delay="0"/>
                                          </p:stCondLst>
                                        </p:cTn>
                                        <p:tgtEl>
                                          <p:spTgt spid="360"/>
                                        </p:tgtEl>
                                        <p:attrNameLst>
                                          <p:attrName>style.visibility</p:attrName>
                                        </p:attrNameLst>
                                      </p:cBhvr>
                                      <p:to>
                                        <p:strVal val="visible"/>
                                      </p:to>
                                    </p:set>
                                    <p:animEffect transition="in" filter="fade">
                                      <p:cBhvr>
                                        <p:cTn id="129" dur="1000"/>
                                        <p:tgtEl>
                                          <p:spTgt spid="360"/>
                                        </p:tgtEl>
                                      </p:cBhvr>
                                    </p:animEffect>
                                  </p:childTnLst>
                                </p:cTn>
                              </p:par>
                              <p:par>
                                <p:cTn id="130" presetID="10" presetClass="entr" presetSubtype="0" fill="hold" nodeType="withEffect">
                                  <p:stCondLst>
                                    <p:cond delay="0"/>
                                  </p:stCondLst>
                                  <p:childTnLst>
                                    <p:set>
                                      <p:cBhvr>
                                        <p:cTn id="131" dur="1" fill="hold">
                                          <p:stCondLst>
                                            <p:cond delay="0"/>
                                          </p:stCondLst>
                                        </p:cTn>
                                        <p:tgtEl>
                                          <p:spTgt spid="361"/>
                                        </p:tgtEl>
                                        <p:attrNameLst>
                                          <p:attrName>style.visibility</p:attrName>
                                        </p:attrNameLst>
                                      </p:cBhvr>
                                      <p:to>
                                        <p:strVal val="visible"/>
                                      </p:to>
                                    </p:set>
                                    <p:animEffect transition="in" filter="fade">
                                      <p:cBhvr>
                                        <p:cTn id="132" dur="1000"/>
                                        <p:tgtEl>
                                          <p:spTgt spid="3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rgbClr val="F6F9FC"/>
            </a:gs>
            <a:gs pos="74000">
              <a:srgbClr val="B3D1EC"/>
            </a:gs>
            <a:gs pos="83000">
              <a:srgbClr val="B3D1EC"/>
            </a:gs>
            <a:gs pos="100000">
              <a:srgbClr val="CCE0F2"/>
            </a:gs>
          </a:gsLst>
          <a:lin ang="5400000" scaled="0"/>
        </a:gradFill>
        <a:effectLst/>
      </p:bgPr>
    </p:bg>
    <p:spTree>
      <p:nvGrpSpPr>
        <p:cNvPr id="1" name="Shape 365"/>
        <p:cNvGrpSpPr/>
        <p:nvPr/>
      </p:nvGrpSpPr>
      <p:grpSpPr>
        <a:xfrm>
          <a:off x="0" y="0"/>
          <a:ext cx="0" cy="0"/>
          <a:chOff x="0" y="0"/>
          <a:chExt cx="0" cy="0"/>
        </a:xfrm>
      </p:grpSpPr>
      <p:sp>
        <p:nvSpPr>
          <p:cNvPr id="366" name="Google Shape;366;p8"/>
          <p:cNvSpPr txBox="1">
            <a:spLocks noGrp="1"/>
          </p:cNvSpPr>
          <p:nvPr>
            <p:ph type="body" idx="1"/>
          </p:nvPr>
        </p:nvSpPr>
        <p:spPr>
          <a:xfrm>
            <a:off x="384047" y="5212080"/>
            <a:ext cx="6357558" cy="8094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vi-VN" sz="2400"/>
              <a:t>Luồng dầu lớn nhất bơm vào bể chứa là:15</a:t>
            </a:r>
            <a:endParaRPr sz="2400"/>
          </a:p>
        </p:txBody>
      </p:sp>
      <p:sp>
        <p:nvSpPr>
          <p:cNvPr id="367" name="Google Shape;367;p8"/>
          <p:cNvSpPr/>
          <p:nvPr/>
        </p:nvSpPr>
        <p:spPr>
          <a:xfrm>
            <a:off x="3772662" y="342900"/>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68" name="Google Shape;368;p8"/>
          <p:cNvSpPr/>
          <p:nvPr/>
        </p:nvSpPr>
        <p:spPr>
          <a:xfrm>
            <a:off x="5477637" y="1531620"/>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69" name="Google Shape;369;p8"/>
          <p:cNvSpPr/>
          <p:nvPr/>
        </p:nvSpPr>
        <p:spPr>
          <a:xfrm>
            <a:off x="3772662" y="1531620"/>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70" name="Google Shape;370;p8"/>
          <p:cNvSpPr/>
          <p:nvPr/>
        </p:nvSpPr>
        <p:spPr>
          <a:xfrm>
            <a:off x="1926717" y="342900"/>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71" name="Google Shape;371;p8"/>
          <p:cNvSpPr/>
          <p:nvPr/>
        </p:nvSpPr>
        <p:spPr>
          <a:xfrm>
            <a:off x="80772" y="1531620"/>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72" name="Google Shape;372;p8"/>
          <p:cNvSpPr/>
          <p:nvPr/>
        </p:nvSpPr>
        <p:spPr>
          <a:xfrm>
            <a:off x="1926717" y="1531620"/>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373" name="Google Shape;373;p8"/>
          <p:cNvCxnSpPr/>
          <p:nvPr/>
        </p:nvCxnSpPr>
        <p:spPr>
          <a:xfrm>
            <a:off x="2244852" y="1664970"/>
            <a:ext cx="1440180" cy="0"/>
          </a:xfrm>
          <a:prstGeom prst="straightConnector1">
            <a:avLst/>
          </a:prstGeom>
          <a:noFill/>
          <a:ln w="19050" cap="flat" cmpd="sng">
            <a:solidFill>
              <a:schemeClr val="dk1"/>
            </a:solidFill>
            <a:prstDash val="solid"/>
            <a:miter lim="800000"/>
            <a:headEnd type="none" w="sm" len="sm"/>
            <a:tailEnd type="triangle" w="med" len="med"/>
          </a:ln>
        </p:spPr>
      </p:cxnSp>
      <p:cxnSp>
        <p:nvCxnSpPr>
          <p:cNvPr id="374" name="Google Shape;374;p8"/>
          <p:cNvCxnSpPr/>
          <p:nvPr/>
        </p:nvCxnSpPr>
        <p:spPr>
          <a:xfrm rot="10800000" flipH="1">
            <a:off x="362712" y="533400"/>
            <a:ext cx="1501140" cy="998220"/>
          </a:xfrm>
          <a:prstGeom prst="straightConnector1">
            <a:avLst/>
          </a:prstGeom>
          <a:noFill/>
          <a:ln w="19050" cap="flat" cmpd="sng">
            <a:solidFill>
              <a:schemeClr val="dk1"/>
            </a:solidFill>
            <a:prstDash val="solid"/>
            <a:miter lim="800000"/>
            <a:headEnd type="none" w="sm" len="sm"/>
            <a:tailEnd type="triangle" w="med" len="med"/>
          </a:ln>
        </p:spPr>
      </p:cxnSp>
      <p:cxnSp>
        <p:nvCxnSpPr>
          <p:cNvPr id="375" name="Google Shape;375;p8"/>
          <p:cNvCxnSpPr/>
          <p:nvPr/>
        </p:nvCxnSpPr>
        <p:spPr>
          <a:xfrm>
            <a:off x="4142232" y="1664970"/>
            <a:ext cx="1249680" cy="0"/>
          </a:xfrm>
          <a:prstGeom prst="straightConnector1">
            <a:avLst/>
          </a:prstGeom>
          <a:noFill/>
          <a:ln w="19050" cap="flat" cmpd="sng">
            <a:solidFill>
              <a:schemeClr val="dk1"/>
            </a:solidFill>
            <a:prstDash val="solid"/>
            <a:miter lim="800000"/>
            <a:headEnd type="none" w="sm" len="sm"/>
            <a:tailEnd type="triangle" w="med" len="med"/>
          </a:ln>
        </p:spPr>
      </p:cxnSp>
      <p:cxnSp>
        <p:nvCxnSpPr>
          <p:cNvPr id="376" name="Google Shape;376;p8"/>
          <p:cNvCxnSpPr/>
          <p:nvPr/>
        </p:nvCxnSpPr>
        <p:spPr>
          <a:xfrm>
            <a:off x="398907" y="1664970"/>
            <a:ext cx="1464945" cy="0"/>
          </a:xfrm>
          <a:prstGeom prst="straightConnector1">
            <a:avLst/>
          </a:prstGeom>
          <a:noFill/>
          <a:ln w="19050" cap="flat" cmpd="sng">
            <a:solidFill>
              <a:schemeClr val="dk1"/>
            </a:solidFill>
            <a:prstDash val="solid"/>
            <a:miter lim="800000"/>
            <a:headEnd type="none" w="sm" len="sm"/>
            <a:tailEnd type="triangle" w="med" len="med"/>
          </a:ln>
        </p:spPr>
      </p:cxnSp>
      <p:cxnSp>
        <p:nvCxnSpPr>
          <p:cNvPr id="377" name="Google Shape;377;p8"/>
          <p:cNvCxnSpPr/>
          <p:nvPr/>
        </p:nvCxnSpPr>
        <p:spPr>
          <a:xfrm>
            <a:off x="2208657" y="628649"/>
            <a:ext cx="1476375" cy="902971"/>
          </a:xfrm>
          <a:prstGeom prst="straightConnector1">
            <a:avLst/>
          </a:prstGeom>
          <a:noFill/>
          <a:ln w="19050" cap="flat" cmpd="sng">
            <a:solidFill>
              <a:schemeClr val="dk1"/>
            </a:solidFill>
            <a:prstDash val="solid"/>
            <a:miter lim="800000"/>
            <a:headEnd type="none" w="sm" len="sm"/>
            <a:tailEnd type="triangle" w="med" len="med"/>
          </a:ln>
        </p:spPr>
      </p:cxnSp>
      <p:cxnSp>
        <p:nvCxnSpPr>
          <p:cNvPr id="378" name="Google Shape;378;p8"/>
          <p:cNvCxnSpPr/>
          <p:nvPr/>
        </p:nvCxnSpPr>
        <p:spPr>
          <a:xfrm>
            <a:off x="4054602" y="533400"/>
            <a:ext cx="1379220" cy="998220"/>
          </a:xfrm>
          <a:prstGeom prst="straightConnector1">
            <a:avLst/>
          </a:prstGeom>
          <a:noFill/>
          <a:ln w="19050" cap="flat" cmpd="sng">
            <a:solidFill>
              <a:schemeClr val="dk1"/>
            </a:solidFill>
            <a:prstDash val="solid"/>
            <a:miter lim="800000"/>
            <a:headEnd type="none" w="sm" len="sm"/>
            <a:tailEnd type="triangle" w="med" len="med"/>
          </a:ln>
        </p:spPr>
      </p:cxnSp>
      <p:cxnSp>
        <p:nvCxnSpPr>
          <p:cNvPr id="379" name="Google Shape;379;p8"/>
          <p:cNvCxnSpPr/>
          <p:nvPr/>
        </p:nvCxnSpPr>
        <p:spPr>
          <a:xfrm rot="10800000" flipH="1">
            <a:off x="2208657" y="609600"/>
            <a:ext cx="1476375" cy="922020"/>
          </a:xfrm>
          <a:prstGeom prst="straightConnector1">
            <a:avLst/>
          </a:prstGeom>
          <a:noFill/>
          <a:ln w="19050" cap="flat" cmpd="sng">
            <a:solidFill>
              <a:schemeClr val="dk1"/>
            </a:solidFill>
            <a:prstDash val="solid"/>
            <a:miter lim="800000"/>
            <a:headEnd type="none" w="sm" len="sm"/>
            <a:tailEnd type="triangle" w="med" len="med"/>
          </a:ln>
        </p:spPr>
      </p:cxnSp>
      <p:sp>
        <p:nvSpPr>
          <p:cNvPr id="380" name="Google Shape;380;p8"/>
          <p:cNvSpPr txBox="1"/>
          <p:nvPr/>
        </p:nvSpPr>
        <p:spPr>
          <a:xfrm>
            <a:off x="54102" y="1480304"/>
            <a:ext cx="57912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S</a:t>
            </a:r>
            <a:endParaRPr sz="1800">
              <a:solidFill>
                <a:schemeClr val="dk1"/>
              </a:solidFill>
              <a:latin typeface="Calibri"/>
              <a:ea typeface="Calibri"/>
              <a:cs typeface="Calibri"/>
              <a:sym typeface="Calibri"/>
            </a:endParaRPr>
          </a:p>
        </p:txBody>
      </p:sp>
      <p:sp>
        <p:nvSpPr>
          <p:cNvPr id="381" name="Google Shape;381;p8"/>
          <p:cNvSpPr txBox="1"/>
          <p:nvPr/>
        </p:nvSpPr>
        <p:spPr>
          <a:xfrm>
            <a:off x="1907667" y="1480066"/>
            <a:ext cx="403860" cy="369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2</a:t>
            </a:r>
            <a:endParaRPr/>
          </a:p>
        </p:txBody>
      </p:sp>
      <p:sp>
        <p:nvSpPr>
          <p:cNvPr id="382" name="Google Shape;382;p8"/>
          <p:cNvSpPr txBox="1"/>
          <p:nvPr/>
        </p:nvSpPr>
        <p:spPr>
          <a:xfrm>
            <a:off x="3754565" y="1480304"/>
            <a:ext cx="51435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383" name="Google Shape;383;p8"/>
          <p:cNvSpPr txBox="1"/>
          <p:nvPr/>
        </p:nvSpPr>
        <p:spPr>
          <a:xfrm>
            <a:off x="5454300" y="1480304"/>
            <a:ext cx="3352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T</a:t>
            </a:r>
            <a:endParaRPr sz="1800">
              <a:solidFill>
                <a:schemeClr val="dk1"/>
              </a:solidFill>
              <a:latin typeface="Calibri"/>
              <a:ea typeface="Calibri"/>
              <a:cs typeface="Calibri"/>
              <a:sym typeface="Calibri"/>
            </a:endParaRPr>
          </a:p>
        </p:txBody>
      </p:sp>
      <p:sp>
        <p:nvSpPr>
          <p:cNvPr id="384" name="Google Shape;384;p8"/>
          <p:cNvSpPr txBox="1"/>
          <p:nvPr/>
        </p:nvSpPr>
        <p:spPr>
          <a:xfrm>
            <a:off x="1907667" y="291584"/>
            <a:ext cx="36576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4</a:t>
            </a:r>
            <a:endParaRPr/>
          </a:p>
        </p:txBody>
      </p:sp>
      <p:sp>
        <p:nvSpPr>
          <p:cNvPr id="385" name="Google Shape;385;p8"/>
          <p:cNvSpPr txBox="1"/>
          <p:nvPr/>
        </p:nvSpPr>
        <p:spPr>
          <a:xfrm>
            <a:off x="3770757" y="295393"/>
            <a:ext cx="42291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5</a:t>
            </a:r>
            <a:endParaRPr sz="1800">
              <a:solidFill>
                <a:schemeClr val="dk1"/>
              </a:solidFill>
              <a:latin typeface="Calibri"/>
              <a:ea typeface="Calibri"/>
              <a:cs typeface="Calibri"/>
              <a:sym typeface="Calibri"/>
            </a:endParaRPr>
          </a:p>
        </p:txBody>
      </p:sp>
      <p:sp>
        <p:nvSpPr>
          <p:cNvPr id="386" name="Google Shape;386;p8"/>
          <p:cNvSpPr txBox="1"/>
          <p:nvPr/>
        </p:nvSpPr>
        <p:spPr>
          <a:xfrm>
            <a:off x="887777" y="1411054"/>
            <a:ext cx="67627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10/12</a:t>
            </a:r>
            <a:endParaRPr sz="1050">
              <a:solidFill>
                <a:schemeClr val="dk1"/>
              </a:solidFill>
              <a:latin typeface="Calibri"/>
              <a:ea typeface="Calibri"/>
              <a:cs typeface="Calibri"/>
              <a:sym typeface="Calibri"/>
            </a:endParaRPr>
          </a:p>
        </p:txBody>
      </p:sp>
      <p:sp>
        <p:nvSpPr>
          <p:cNvPr id="387" name="Google Shape;387;p8"/>
          <p:cNvSpPr txBox="1"/>
          <p:nvPr/>
        </p:nvSpPr>
        <p:spPr>
          <a:xfrm>
            <a:off x="4460844" y="1410935"/>
            <a:ext cx="61483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10/10</a:t>
            </a:r>
            <a:endParaRPr sz="1050">
              <a:solidFill>
                <a:schemeClr val="dk1"/>
              </a:solidFill>
              <a:latin typeface="Calibri"/>
              <a:ea typeface="Calibri"/>
              <a:cs typeface="Calibri"/>
              <a:sym typeface="Calibri"/>
            </a:endParaRPr>
          </a:p>
        </p:txBody>
      </p:sp>
      <p:sp>
        <p:nvSpPr>
          <p:cNvPr id="388" name="Google Shape;388;p8"/>
          <p:cNvSpPr txBox="1"/>
          <p:nvPr/>
        </p:nvSpPr>
        <p:spPr>
          <a:xfrm rot="-2173728">
            <a:off x="774192" y="770007"/>
            <a:ext cx="529590"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4/5</a:t>
            </a:r>
            <a:endParaRPr sz="1050">
              <a:solidFill>
                <a:schemeClr val="dk1"/>
              </a:solidFill>
              <a:latin typeface="Calibri"/>
              <a:ea typeface="Calibri"/>
              <a:cs typeface="Calibri"/>
              <a:sym typeface="Calibri"/>
            </a:endParaRPr>
          </a:p>
        </p:txBody>
      </p:sp>
      <p:sp>
        <p:nvSpPr>
          <p:cNvPr id="389" name="Google Shape;389;p8"/>
          <p:cNvSpPr txBox="1"/>
          <p:nvPr/>
        </p:nvSpPr>
        <p:spPr>
          <a:xfrm>
            <a:off x="2715837" y="1429986"/>
            <a:ext cx="62293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6/13</a:t>
            </a:r>
            <a:endParaRPr sz="1050">
              <a:solidFill>
                <a:schemeClr val="dk1"/>
              </a:solidFill>
              <a:latin typeface="Calibri"/>
              <a:ea typeface="Calibri"/>
              <a:cs typeface="Calibri"/>
              <a:sym typeface="Calibri"/>
            </a:endParaRPr>
          </a:p>
        </p:txBody>
      </p:sp>
      <p:sp>
        <p:nvSpPr>
          <p:cNvPr id="390" name="Google Shape;390;p8"/>
          <p:cNvSpPr txBox="1"/>
          <p:nvPr/>
        </p:nvSpPr>
        <p:spPr>
          <a:xfrm rot="2076160">
            <a:off x="2399607" y="702167"/>
            <a:ext cx="632460"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4/5</a:t>
            </a:r>
            <a:endParaRPr sz="1050">
              <a:solidFill>
                <a:schemeClr val="dk1"/>
              </a:solidFill>
              <a:latin typeface="Calibri"/>
              <a:ea typeface="Calibri"/>
              <a:cs typeface="Calibri"/>
              <a:sym typeface="Calibri"/>
            </a:endParaRPr>
          </a:p>
        </p:txBody>
      </p:sp>
      <p:sp>
        <p:nvSpPr>
          <p:cNvPr id="391" name="Google Shape;391;p8"/>
          <p:cNvSpPr txBox="1"/>
          <p:nvPr/>
        </p:nvSpPr>
        <p:spPr>
          <a:xfrm rot="-2147491">
            <a:off x="2271538" y="1109076"/>
            <a:ext cx="48235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4/5</a:t>
            </a:r>
            <a:endParaRPr sz="1050">
              <a:solidFill>
                <a:schemeClr val="dk1"/>
              </a:solidFill>
              <a:latin typeface="Calibri"/>
              <a:ea typeface="Calibri"/>
              <a:cs typeface="Calibri"/>
              <a:sym typeface="Calibri"/>
            </a:endParaRPr>
          </a:p>
        </p:txBody>
      </p:sp>
      <p:sp>
        <p:nvSpPr>
          <p:cNvPr id="392" name="Google Shape;392;p8"/>
          <p:cNvSpPr txBox="1"/>
          <p:nvPr/>
        </p:nvSpPr>
        <p:spPr>
          <a:xfrm rot="2380485">
            <a:off x="4595983" y="905552"/>
            <a:ext cx="609600"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4/5</a:t>
            </a:r>
            <a:endParaRPr sz="1050">
              <a:solidFill>
                <a:schemeClr val="dk1"/>
              </a:solidFill>
              <a:latin typeface="Calibri"/>
              <a:ea typeface="Calibri"/>
              <a:cs typeface="Calibri"/>
              <a:sym typeface="Calibri"/>
            </a:endParaRPr>
          </a:p>
        </p:txBody>
      </p:sp>
      <p:sp>
        <p:nvSpPr>
          <p:cNvPr id="393" name="Google Shape;393;p8"/>
          <p:cNvSpPr/>
          <p:nvPr/>
        </p:nvSpPr>
        <p:spPr>
          <a:xfrm>
            <a:off x="10082022" y="342900"/>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94" name="Google Shape;394;p8"/>
          <p:cNvSpPr/>
          <p:nvPr/>
        </p:nvSpPr>
        <p:spPr>
          <a:xfrm>
            <a:off x="11786997" y="1531620"/>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95" name="Google Shape;395;p8"/>
          <p:cNvSpPr/>
          <p:nvPr/>
        </p:nvSpPr>
        <p:spPr>
          <a:xfrm>
            <a:off x="10082022" y="1531620"/>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96" name="Google Shape;396;p8"/>
          <p:cNvSpPr/>
          <p:nvPr/>
        </p:nvSpPr>
        <p:spPr>
          <a:xfrm>
            <a:off x="8236077" y="342900"/>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97" name="Google Shape;397;p8"/>
          <p:cNvSpPr/>
          <p:nvPr/>
        </p:nvSpPr>
        <p:spPr>
          <a:xfrm>
            <a:off x="6390132" y="1531620"/>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98" name="Google Shape;398;p8"/>
          <p:cNvSpPr/>
          <p:nvPr/>
        </p:nvSpPr>
        <p:spPr>
          <a:xfrm>
            <a:off x="8236077" y="1531620"/>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399" name="Google Shape;399;p8"/>
          <p:cNvCxnSpPr/>
          <p:nvPr/>
        </p:nvCxnSpPr>
        <p:spPr>
          <a:xfrm>
            <a:off x="8554212" y="1664970"/>
            <a:ext cx="1440180" cy="0"/>
          </a:xfrm>
          <a:prstGeom prst="straightConnector1">
            <a:avLst/>
          </a:prstGeom>
          <a:noFill/>
          <a:ln w="19050" cap="flat" cmpd="sng">
            <a:solidFill>
              <a:schemeClr val="dk1"/>
            </a:solidFill>
            <a:prstDash val="solid"/>
            <a:miter lim="800000"/>
            <a:headEnd type="none" w="sm" len="sm"/>
            <a:tailEnd type="triangle" w="med" len="med"/>
          </a:ln>
        </p:spPr>
      </p:cxnSp>
      <p:cxnSp>
        <p:nvCxnSpPr>
          <p:cNvPr id="400" name="Google Shape;400;p8"/>
          <p:cNvCxnSpPr/>
          <p:nvPr/>
        </p:nvCxnSpPr>
        <p:spPr>
          <a:xfrm rot="10800000" flipH="1">
            <a:off x="6672072" y="533400"/>
            <a:ext cx="1501140" cy="998220"/>
          </a:xfrm>
          <a:prstGeom prst="straightConnector1">
            <a:avLst/>
          </a:prstGeom>
          <a:noFill/>
          <a:ln w="19050" cap="flat" cmpd="sng">
            <a:solidFill>
              <a:schemeClr val="dk1"/>
            </a:solidFill>
            <a:prstDash val="solid"/>
            <a:miter lim="800000"/>
            <a:headEnd type="none" w="sm" len="sm"/>
            <a:tailEnd type="triangle" w="med" len="med"/>
          </a:ln>
        </p:spPr>
      </p:cxnSp>
      <p:cxnSp>
        <p:nvCxnSpPr>
          <p:cNvPr id="401" name="Google Shape;401;p8"/>
          <p:cNvCxnSpPr>
            <a:stCxn id="402" idx="1"/>
          </p:cNvCxnSpPr>
          <p:nvPr/>
        </p:nvCxnSpPr>
        <p:spPr>
          <a:xfrm rot="10800000">
            <a:off x="10456227" y="1659902"/>
            <a:ext cx="1304100" cy="24000"/>
          </a:xfrm>
          <a:prstGeom prst="straightConnector1">
            <a:avLst/>
          </a:prstGeom>
          <a:noFill/>
          <a:ln w="19050" cap="flat" cmpd="sng">
            <a:solidFill>
              <a:schemeClr val="dk1"/>
            </a:solidFill>
            <a:prstDash val="solid"/>
            <a:miter lim="800000"/>
            <a:headEnd type="none" w="sm" len="sm"/>
            <a:tailEnd type="triangle" w="med" len="med"/>
          </a:ln>
        </p:spPr>
      </p:cxnSp>
      <p:cxnSp>
        <p:nvCxnSpPr>
          <p:cNvPr id="403" name="Google Shape;403;p8"/>
          <p:cNvCxnSpPr>
            <a:stCxn id="404" idx="1"/>
          </p:cNvCxnSpPr>
          <p:nvPr/>
        </p:nvCxnSpPr>
        <p:spPr>
          <a:xfrm rot="10800000">
            <a:off x="6741627" y="1660051"/>
            <a:ext cx="1475400" cy="4800"/>
          </a:xfrm>
          <a:prstGeom prst="straightConnector1">
            <a:avLst/>
          </a:prstGeom>
          <a:noFill/>
          <a:ln w="19050" cap="flat" cmpd="sng">
            <a:solidFill>
              <a:schemeClr val="dk1"/>
            </a:solidFill>
            <a:prstDash val="solid"/>
            <a:miter lim="800000"/>
            <a:headEnd type="none" w="sm" len="sm"/>
            <a:tailEnd type="triangle" w="med" len="med"/>
          </a:ln>
        </p:spPr>
      </p:cxnSp>
      <p:cxnSp>
        <p:nvCxnSpPr>
          <p:cNvPr id="405" name="Google Shape;405;p8"/>
          <p:cNvCxnSpPr/>
          <p:nvPr/>
        </p:nvCxnSpPr>
        <p:spPr>
          <a:xfrm>
            <a:off x="8518017" y="628649"/>
            <a:ext cx="1476375" cy="902971"/>
          </a:xfrm>
          <a:prstGeom prst="straightConnector1">
            <a:avLst/>
          </a:prstGeom>
          <a:noFill/>
          <a:ln w="19050" cap="flat" cmpd="sng">
            <a:solidFill>
              <a:schemeClr val="dk1"/>
            </a:solidFill>
            <a:prstDash val="solid"/>
            <a:miter lim="800000"/>
            <a:headEnd type="none" w="sm" len="sm"/>
            <a:tailEnd type="triangle" w="med" len="med"/>
          </a:ln>
        </p:spPr>
      </p:cxnSp>
      <p:cxnSp>
        <p:nvCxnSpPr>
          <p:cNvPr id="406" name="Google Shape;406;p8"/>
          <p:cNvCxnSpPr/>
          <p:nvPr/>
        </p:nvCxnSpPr>
        <p:spPr>
          <a:xfrm>
            <a:off x="10363962" y="533400"/>
            <a:ext cx="1379220" cy="998220"/>
          </a:xfrm>
          <a:prstGeom prst="straightConnector1">
            <a:avLst/>
          </a:prstGeom>
          <a:noFill/>
          <a:ln w="19050" cap="flat" cmpd="sng">
            <a:solidFill>
              <a:schemeClr val="dk1"/>
            </a:solidFill>
            <a:prstDash val="solid"/>
            <a:miter lim="800000"/>
            <a:headEnd type="none" w="sm" len="sm"/>
            <a:tailEnd type="triangle" w="med" len="med"/>
          </a:ln>
        </p:spPr>
      </p:cxnSp>
      <p:cxnSp>
        <p:nvCxnSpPr>
          <p:cNvPr id="407" name="Google Shape;407;p8"/>
          <p:cNvCxnSpPr/>
          <p:nvPr/>
        </p:nvCxnSpPr>
        <p:spPr>
          <a:xfrm rot="10800000" flipH="1">
            <a:off x="8518017" y="609600"/>
            <a:ext cx="1476375" cy="922020"/>
          </a:xfrm>
          <a:prstGeom prst="straightConnector1">
            <a:avLst/>
          </a:prstGeom>
          <a:noFill/>
          <a:ln w="19050" cap="flat" cmpd="sng">
            <a:solidFill>
              <a:schemeClr val="dk1"/>
            </a:solidFill>
            <a:prstDash val="solid"/>
            <a:miter lim="800000"/>
            <a:headEnd type="none" w="sm" len="sm"/>
            <a:tailEnd type="triangle" w="med" len="med"/>
          </a:ln>
        </p:spPr>
      </p:cxnSp>
      <p:sp>
        <p:nvSpPr>
          <p:cNvPr id="408" name="Google Shape;408;p8"/>
          <p:cNvSpPr txBox="1"/>
          <p:nvPr/>
        </p:nvSpPr>
        <p:spPr>
          <a:xfrm>
            <a:off x="6363462" y="1480304"/>
            <a:ext cx="57912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S</a:t>
            </a:r>
            <a:endParaRPr sz="1800">
              <a:solidFill>
                <a:schemeClr val="dk1"/>
              </a:solidFill>
              <a:latin typeface="Calibri"/>
              <a:ea typeface="Calibri"/>
              <a:cs typeface="Calibri"/>
              <a:sym typeface="Calibri"/>
            </a:endParaRPr>
          </a:p>
        </p:txBody>
      </p:sp>
      <p:sp>
        <p:nvSpPr>
          <p:cNvPr id="404" name="Google Shape;404;p8"/>
          <p:cNvSpPr txBox="1"/>
          <p:nvPr/>
        </p:nvSpPr>
        <p:spPr>
          <a:xfrm>
            <a:off x="8217027" y="1480066"/>
            <a:ext cx="403860" cy="369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2</a:t>
            </a:r>
            <a:endParaRPr/>
          </a:p>
        </p:txBody>
      </p:sp>
      <p:sp>
        <p:nvSpPr>
          <p:cNvPr id="409" name="Google Shape;409;p8"/>
          <p:cNvSpPr txBox="1"/>
          <p:nvPr/>
        </p:nvSpPr>
        <p:spPr>
          <a:xfrm>
            <a:off x="10078690" y="1491498"/>
            <a:ext cx="51435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402" name="Google Shape;402;p8"/>
          <p:cNvSpPr txBox="1"/>
          <p:nvPr/>
        </p:nvSpPr>
        <p:spPr>
          <a:xfrm>
            <a:off x="11760327" y="1499236"/>
            <a:ext cx="3352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T</a:t>
            </a:r>
            <a:endParaRPr sz="1800">
              <a:solidFill>
                <a:schemeClr val="dk1"/>
              </a:solidFill>
              <a:latin typeface="Calibri"/>
              <a:ea typeface="Calibri"/>
              <a:cs typeface="Calibri"/>
              <a:sym typeface="Calibri"/>
            </a:endParaRPr>
          </a:p>
        </p:txBody>
      </p:sp>
      <p:sp>
        <p:nvSpPr>
          <p:cNvPr id="410" name="Google Shape;410;p8"/>
          <p:cNvSpPr txBox="1"/>
          <p:nvPr/>
        </p:nvSpPr>
        <p:spPr>
          <a:xfrm>
            <a:off x="8217027" y="291584"/>
            <a:ext cx="36576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4</a:t>
            </a:r>
            <a:endParaRPr/>
          </a:p>
        </p:txBody>
      </p:sp>
      <p:sp>
        <p:nvSpPr>
          <p:cNvPr id="411" name="Google Shape;411;p8"/>
          <p:cNvSpPr txBox="1"/>
          <p:nvPr/>
        </p:nvSpPr>
        <p:spPr>
          <a:xfrm>
            <a:off x="10080117" y="295393"/>
            <a:ext cx="42291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5</a:t>
            </a:r>
            <a:endParaRPr sz="1800">
              <a:solidFill>
                <a:schemeClr val="dk1"/>
              </a:solidFill>
              <a:latin typeface="Calibri"/>
              <a:ea typeface="Calibri"/>
              <a:cs typeface="Calibri"/>
              <a:sym typeface="Calibri"/>
            </a:endParaRPr>
          </a:p>
        </p:txBody>
      </p:sp>
      <p:sp>
        <p:nvSpPr>
          <p:cNvPr id="412" name="Google Shape;412;p8"/>
          <p:cNvSpPr txBox="1"/>
          <p:nvPr/>
        </p:nvSpPr>
        <p:spPr>
          <a:xfrm>
            <a:off x="10770204" y="1410935"/>
            <a:ext cx="61483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10/10</a:t>
            </a:r>
            <a:endParaRPr sz="1050">
              <a:solidFill>
                <a:schemeClr val="dk1"/>
              </a:solidFill>
              <a:latin typeface="Calibri"/>
              <a:ea typeface="Calibri"/>
              <a:cs typeface="Calibri"/>
              <a:sym typeface="Calibri"/>
            </a:endParaRPr>
          </a:p>
        </p:txBody>
      </p:sp>
      <p:sp>
        <p:nvSpPr>
          <p:cNvPr id="413" name="Google Shape;413;p8"/>
          <p:cNvSpPr txBox="1"/>
          <p:nvPr/>
        </p:nvSpPr>
        <p:spPr>
          <a:xfrm>
            <a:off x="9025197" y="1429986"/>
            <a:ext cx="62293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6/13</a:t>
            </a:r>
            <a:endParaRPr sz="1050">
              <a:solidFill>
                <a:schemeClr val="dk1"/>
              </a:solidFill>
              <a:latin typeface="Calibri"/>
              <a:ea typeface="Calibri"/>
              <a:cs typeface="Calibri"/>
              <a:sym typeface="Calibri"/>
            </a:endParaRPr>
          </a:p>
        </p:txBody>
      </p:sp>
      <p:cxnSp>
        <p:nvCxnSpPr>
          <p:cNvPr id="414" name="Google Shape;414;p8"/>
          <p:cNvCxnSpPr/>
          <p:nvPr/>
        </p:nvCxnSpPr>
        <p:spPr>
          <a:xfrm flipH="1">
            <a:off x="8587550" y="1779147"/>
            <a:ext cx="1464470" cy="3465"/>
          </a:xfrm>
          <a:prstGeom prst="straightConnector1">
            <a:avLst/>
          </a:prstGeom>
          <a:noFill/>
          <a:ln w="19050" cap="flat" cmpd="sng">
            <a:solidFill>
              <a:schemeClr val="dk1"/>
            </a:solidFill>
            <a:prstDash val="solid"/>
            <a:miter lim="800000"/>
            <a:headEnd type="none" w="sm" len="sm"/>
            <a:tailEnd type="triangle" w="med" len="med"/>
          </a:ln>
        </p:spPr>
      </p:cxnSp>
      <p:cxnSp>
        <p:nvCxnSpPr>
          <p:cNvPr id="415" name="Google Shape;415;p8"/>
          <p:cNvCxnSpPr/>
          <p:nvPr/>
        </p:nvCxnSpPr>
        <p:spPr>
          <a:xfrm flipH="1">
            <a:off x="6562052" y="459375"/>
            <a:ext cx="1470190" cy="938895"/>
          </a:xfrm>
          <a:prstGeom prst="straightConnector1">
            <a:avLst/>
          </a:prstGeom>
          <a:noFill/>
          <a:ln w="19050" cap="flat" cmpd="sng">
            <a:solidFill>
              <a:schemeClr val="dk1"/>
            </a:solidFill>
            <a:prstDash val="solid"/>
            <a:miter lim="800000"/>
            <a:headEnd type="none" w="sm" len="sm"/>
            <a:tailEnd type="triangle" w="med" len="med"/>
          </a:ln>
        </p:spPr>
      </p:cxnSp>
      <p:cxnSp>
        <p:nvCxnSpPr>
          <p:cNvPr id="416" name="Google Shape;416;p8"/>
          <p:cNvCxnSpPr/>
          <p:nvPr/>
        </p:nvCxnSpPr>
        <p:spPr>
          <a:xfrm flipH="1">
            <a:off x="8518017" y="530171"/>
            <a:ext cx="1367202" cy="867774"/>
          </a:xfrm>
          <a:prstGeom prst="straightConnector1">
            <a:avLst/>
          </a:prstGeom>
          <a:noFill/>
          <a:ln w="19050" cap="flat" cmpd="sng">
            <a:solidFill>
              <a:schemeClr val="dk1"/>
            </a:solidFill>
            <a:prstDash val="solid"/>
            <a:miter lim="800000"/>
            <a:headEnd type="none" w="sm" len="sm"/>
            <a:tailEnd type="triangle" w="med" len="med"/>
          </a:ln>
        </p:spPr>
      </p:cxnSp>
      <p:sp>
        <p:nvSpPr>
          <p:cNvPr id="417" name="Google Shape;417;p8"/>
          <p:cNvSpPr txBox="1"/>
          <p:nvPr/>
        </p:nvSpPr>
        <p:spPr>
          <a:xfrm>
            <a:off x="6885667" y="859291"/>
            <a:ext cx="411480"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4</a:t>
            </a:r>
            <a:endParaRPr/>
          </a:p>
        </p:txBody>
      </p:sp>
      <p:sp>
        <p:nvSpPr>
          <p:cNvPr id="418" name="Google Shape;418;p8"/>
          <p:cNvSpPr txBox="1"/>
          <p:nvPr/>
        </p:nvSpPr>
        <p:spPr>
          <a:xfrm>
            <a:off x="7284237" y="987713"/>
            <a:ext cx="453009"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1</a:t>
            </a:r>
            <a:endParaRPr/>
          </a:p>
        </p:txBody>
      </p:sp>
      <p:sp>
        <p:nvSpPr>
          <p:cNvPr id="419" name="Google Shape;419;p8"/>
          <p:cNvSpPr txBox="1"/>
          <p:nvPr/>
        </p:nvSpPr>
        <p:spPr>
          <a:xfrm>
            <a:off x="7384992" y="1466647"/>
            <a:ext cx="61036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10</a:t>
            </a:r>
            <a:endParaRPr sz="1050">
              <a:solidFill>
                <a:schemeClr val="dk1"/>
              </a:solidFill>
              <a:latin typeface="Calibri"/>
              <a:ea typeface="Calibri"/>
              <a:cs typeface="Calibri"/>
              <a:sym typeface="Calibri"/>
            </a:endParaRPr>
          </a:p>
        </p:txBody>
      </p:sp>
      <p:sp>
        <p:nvSpPr>
          <p:cNvPr id="420" name="Google Shape;420;p8"/>
          <p:cNvSpPr txBox="1"/>
          <p:nvPr/>
        </p:nvSpPr>
        <p:spPr>
          <a:xfrm>
            <a:off x="8542343" y="1128448"/>
            <a:ext cx="578549"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4</a:t>
            </a:r>
            <a:endParaRPr sz="1050">
              <a:solidFill>
                <a:schemeClr val="dk1"/>
              </a:solidFill>
              <a:latin typeface="Calibri"/>
              <a:ea typeface="Calibri"/>
              <a:cs typeface="Calibri"/>
              <a:sym typeface="Calibri"/>
            </a:endParaRPr>
          </a:p>
        </p:txBody>
      </p:sp>
      <p:sp>
        <p:nvSpPr>
          <p:cNvPr id="421" name="Google Shape;421;p8"/>
          <p:cNvSpPr txBox="1"/>
          <p:nvPr/>
        </p:nvSpPr>
        <p:spPr>
          <a:xfrm>
            <a:off x="8927153" y="1174103"/>
            <a:ext cx="49377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1</a:t>
            </a:r>
            <a:endParaRPr sz="1050">
              <a:solidFill>
                <a:schemeClr val="dk1"/>
              </a:solidFill>
              <a:latin typeface="Calibri"/>
              <a:ea typeface="Calibri"/>
              <a:cs typeface="Calibri"/>
              <a:sym typeface="Calibri"/>
            </a:endParaRPr>
          </a:p>
        </p:txBody>
      </p:sp>
      <p:cxnSp>
        <p:nvCxnSpPr>
          <p:cNvPr id="422" name="Google Shape;422;p8"/>
          <p:cNvCxnSpPr/>
          <p:nvPr/>
        </p:nvCxnSpPr>
        <p:spPr>
          <a:xfrm rot="10800000">
            <a:off x="8620887" y="590669"/>
            <a:ext cx="1373506" cy="837351"/>
          </a:xfrm>
          <a:prstGeom prst="straightConnector1">
            <a:avLst/>
          </a:prstGeom>
          <a:noFill/>
          <a:ln w="19050" cap="flat" cmpd="sng">
            <a:solidFill>
              <a:schemeClr val="dk1"/>
            </a:solidFill>
            <a:prstDash val="solid"/>
            <a:miter lim="800000"/>
            <a:headEnd type="none" w="sm" len="sm"/>
            <a:tailEnd type="triangle" w="med" len="med"/>
          </a:ln>
        </p:spPr>
      </p:cxnSp>
      <p:cxnSp>
        <p:nvCxnSpPr>
          <p:cNvPr id="423" name="Google Shape;423;p8"/>
          <p:cNvCxnSpPr>
            <a:endCxn id="411" idx="3"/>
          </p:cNvCxnSpPr>
          <p:nvPr/>
        </p:nvCxnSpPr>
        <p:spPr>
          <a:xfrm rot="10800000">
            <a:off x="10503027" y="480059"/>
            <a:ext cx="1240200" cy="897000"/>
          </a:xfrm>
          <a:prstGeom prst="straightConnector1">
            <a:avLst/>
          </a:prstGeom>
          <a:noFill/>
          <a:ln w="19050" cap="flat" cmpd="sng">
            <a:solidFill>
              <a:schemeClr val="dk1"/>
            </a:solidFill>
            <a:prstDash val="solid"/>
            <a:miter lim="800000"/>
            <a:headEnd type="none" w="sm" len="sm"/>
            <a:tailEnd type="triangle" w="med" len="med"/>
          </a:ln>
        </p:spPr>
      </p:cxnSp>
      <p:sp>
        <p:nvSpPr>
          <p:cNvPr id="424" name="Google Shape;424;p8"/>
          <p:cNvSpPr txBox="1"/>
          <p:nvPr/>
        </p:nvSpPr>
        <p:spPr>
          <a:xfrm>
            <a:off x="9584792" y="1298924"/>
            <a:ext cx="35575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1</a:t>
            </a:r>
            <a:endParaRPr sz="1050">
              <a:solidFill>
                <a:schemeClr val="dk1"/>
              </a:solidFill>
              <a:latin typeface="Calibri"/>
              <a:ea typeface="Calibri"/>
              <a:cs typeface="Calibri"/>
              <a:sym typeface="Calibri"/>
            </a:endParaRPr>
          </a:p>
        </p:txBody>
      </p:sp>
      <p:sp>
        <p:nvSpPr>
          <p:cNvPr id="425" name="Google Shape;425;p8"/>
          <p:cNvSpPr txBox="1"/>
          <p:nvPr/>
        </p:nvSpPr>
        <p:spPr>
          <a:xfrm>
            <a:off x="9467009" y="1005294"/>
            <a:ext cx="323489"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4</a:t>
            </a:r>
            <a:endParaRPr sz="1050">
              <a:solidFill>
                <a:schemeClr val="dk1"/>
              </a:solidFill>
              <a:latin typeface="Calibri"/>
              <a:ea typeface="Calibri"/>
              <a:cs typeface="Calibri"/>
              <a:sym typeface="Calibri"/>
            </a:endParaRPr>
          </a:p>
        </p:txBody>
      </p:sp>
      <p:sp>
        <p:nvSpPr>
          <p:cNvPr id="426" name="Google Shape;426;p8"/>
          <p:cNvSpPr txBox="1"/>
          <p:nvPr/>
        </p:nvSpPr>
        <p:spPr>
          <a:xfrm>
            <a:off x="10893790" y="999374"/>
            <a:ext cx="367665" cy="2560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1</a:t>
            </a:r>
            <a:endParaRPr sz="1050">
              <a:solidFill>
                <a:schemeClr val="dk1"/>
              </a:solidFill>
              <a:latin typeface="Calibri"/>
              <a:ea typeface="Calibri"/>
              <a:cs typeface="Calibri"/>
              <a:sym typeface="Calibri"/>
            </a:endParaRPr>
          </a:p>
        </p:txBody>
      </p:sp>
      <p:sp>
        <p:nvSpPr>
          <p:cNvPr id="427" name="Google Shape;427;p8"/>
          <p:cNvSpPr txBox="1"/>
          <p:nvPr/>
        </p:nvSpPr>
        <p:spPr>
          <a:xfrm>
            <a:off x="10816209" y="575209"/>
            <a:ext cx="47472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4</a:t>
            </a:r>
            <a:endParaRPr sz="1050">
              <a:solidFill>
                <a:schemeClr val="dk1"/>
              </a:solidFill>
              <a:latin typeface="Calibri"/>
              <a:ea typeface="Calibri"/>
              <a:cs typeface="Calibri"/>
              <a:sym typeface="Calibri"/>
            </a:endParaRPr>
          </a:p>
        </p:txBody>
      </p:sp>
      <p:sp>
        <p:nvSpPr>
          <p:cNvPr id="428" name="Google Shape;428;p8"/>
          <p:cNvSpPr txBox="1"/>
          <p:nvPr/>
        </p:nvSpPr>
        <p:spPr>
          <a:xfrm>
            <a:off x="2707005" y="2281403"/>
            <a:ext cx="100393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G</a:t>
            </a:r>
            <a:endParaRPr sz="1800">
              <a:solidFill>
                <a:schemeClr val="dk1"/>
              </a:solidFill>
              <a:latin typeface="Calibri"/>
              <a:ea typeface="Calibri"/>
              <a:cs typeface="Calibri"/>
              <a:sym typeface="Calibri"/>
            </a:endParaRPr>
          </a:p>
        </p:txBody>
      </p:sp>
      <p:sp>
        <p:nvSpPr>
          <p:cNvPr id="429" name="Google Shape;429;p8"/>
          <p:cNvSpPr txBox="1"/>
          <p:nvPr/>
        </p:nvSpPr>
        <p:spPr>
          <a:xfrm>
            <a:off x="9148356" y="2281403"/>
            <a:ext cx="8460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G1</a:t>
            </a:r>
            <a:endParaRPr sz="1800">
              <a:solidFill>
                <a:schemeClr val="dk1"/>
              </a:solidFill>
              <a:latin typeface="Calibri"/>
              <a:ea typeface="Calibri"/>
              <a:cs typeface="Calibri"/>
              <a:sym typeface="Calibri"/>
            </a:endParaRPr>
          </a:p>
        </p:txBody>
      </p:sp>
      <p:cxnSp>
        <p:nvCxnSpPr>
          <p:cNvPr id="430" name="Google Shape;430;p8"/>
          <p:cNvCxnSpPr/>
          <p:nvPr/>
        </p:nvCxnSpPr>
        <p:spPr>
          <a:xfrm rot="10800000" flipH="1">
            <a:off x="6687313" y="549651"/>
            <a:ext cx="1441132" cy="996045"/>
          </a:xfrm>
          <a:prstGeom prst="straightConnector1">
            <a:avLst/>
          </a:prstGeom>
          <a:noFill/>
          <a:ln w="19050" cap="flat" cmpd="sng">
            <a:solidFill>
              <a:schemeClr val="accent2"/>
            </a:solidFill>
            <a:prstDash val="solid"/>
            <a:miter lim="800000"/>
            <a:headEnd type="none" w="sm" len="sm"/>
            <a:tailEnd type="none" w="sm" len="sm"/>
          </a:ln>
        </p:spPr>
      </p:cxnSp>
      <p:cxnSp>
        <p:nvCxnSpPr>
          <p:cNvPr id="431" name="Google Shape;431;p8"/>
          <p:cNvCxnSpPr/>
          <p:nvPr/>
        </p:nvCxnSpPr>
        <p:spPr>
          <a:xfrm>
            <a:off x="8523254" y="640880"/>
            <a:ext cx="1497808" cy="914785"/>
          </a:xfrm>
          <a:prstGeom prst="straightConnector1">
            <a:avLst/>
          </a:prstGeom>
          <a:noFill/>
          <a:ln w="19050" cap="flat" cmpd="sng">
            <a:solidFill>
              <a:schemeClr val="accent2"/>
            </a:solidFill>
            <a:prstDash val="solid"/>
            <a:miter lim="800000"/>
            <a:headEnd type="none" w="sm" len="sm"/>
            <a:tailEnd type="none" w="sm" len="sm"/>
          </a:ln>
        </p:spPr>
      </p:cxnSp>
      <p:cxnSp>
        <p:nvCxnSpPr>
          <p:cNvPr id="432" name="Google Shape;432;p8"/>
          <p:cNvCxnSpPr/>
          <p:nvPr/>
        </p:nvCxnSpPr>
        <p:spPr>
          <a:xfrm rot="10800000">
            <a:off x="8616545" y="1801544"/>
            <a:ext cx="1452049" cy="0"/>
          </a:xfrm>
          <a:prstGeom prst="straightConnector1">
            <a:avLst/>
          </a:prstGeom>
          <a:noFill/>
          <a:ln w="19050" cap="flat" cmpd="sng">
            <a:solidFill>
              <a:schemeClr val="accent2"/>
            </a:solidFill>
            <a:prstDash val="solid"/>
            <a:miter lim="800000"/>
            <a:headEnd type="none" w="sm" len="sm"/>
            <a:tailEnd type="none" w="sm" len="sm"/>
          </a:ln>
        </p:spPr>
      </p:cxnSp>
      <p:cxnSp>
        <p:nvCxnSpPr>
          <p:cNvPr id="433" name="Google Shape;433;p8"/>
          <p:cNvCxnSpPr/>
          <p:nvPr/>
        </p:nvCxnSpPr>
        <p:spPr>
          <a:xfrm rot="10800000" flipH="1">
            <a:off x="8462800" y="650365"/>
            <a:ext cx="1495903" cy="943240"/>
          </a:xfrm>
          <a:prstGeom prst="straightConnector1">
            <a:avLst/>
          </a:prstGeom>
          <a:noFill/>
          <a:ln w="19050" cap="flat" cmpd="sng">
            <a:solidFill>
              <a:schemeClr val="accent2"/>
            </a:solidFill>
            <a:prstDash val="solid"/>
            <a:miter lim="800000"/>
            <a:headEnd type="none" w="sm" len="sm"/>
            <a:tailEnd type="none" w="sm" len="sm"/>
          </a:ln>
        </p:spPr>
      </p:cxnSp>
      <p:cxnSp>
        <p:nvCxnSpPr>
          <p:cNvPr id="434" name="Google Shape;434;p8"/>
          <p:cNvCxnSpPr/>
          <p:nvPr/>
        </p:nvCxnSpPr>
        <p:spPr>
          <a:xfrm>
            <a:off x="10292050" y="505823"/>
            <a:ext cx="1451132" cy="1007797"/>
          </a:xfrm>
          <a:prstGeom prst="straightConnector1">
            <a:avLst/>
          </a:prstGeom>
          <a:noFill/>
          <a:ln w="19050" cap="flat" cmpd="sng">
            <a:solidFill>
              <a:schemeClr val="accent2"/>
            </a:solidFill>
            <a:prstDash val="solid"/>
            <a:miter lim="800000"/>
            <a:headEnd type="none" w="sm" len="sm"/>
            <a:tailEnd type="none" w="sm" len="sm"/>
          </a:ln>
        </p:spPr>
      </p:cxnSp>
      <p:sp>
        <p:nvSpPr>
          <p:cNvPr id="435" name="Google Shape;435;p8"/>
          <p:cNvSpPr/>
          <p:nvPr/>
        </p:nvSpPr>
        <p:spPr>
          <a:xfrm>
            <a:off x="3998214" y="3019044"/>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36" name="Google Shape;436;p8"/>
          <p:cNvSpPr/>
          <p:nvPr/>
        </p:nvSpPr>
        <p:spPr>
          <a:xfrm>
            <a:off x="5703189" y="4207764"/>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37" name="Google Shape;437;p8"/>
          <p:cNvSpPr/>
          <p:nvPr/>
        </p:nvSpPr>
        <p:spPr>
          <a:xfrm>
            <a:off x="3998214" y="4207764"/>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38" name="Google Shape;438;p8"/>
          <p:cNvSpPr/>
          <p:nvPr/>
        </p:nvSpPr>
        <p:spPr>
          <a:xfrm>
            <a:off x="2152269" y="3019044"/>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39" name="Google Shape;439;p8"/>
          <p:cNvSpPr/>
          <p:nvPr/>
        </p:nvSpPr>
        <p:spPr>
          <a:xfrm>
            <a:off x="306324" y="4207764"/>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40" name="Google Shape;440;p8"/>
          <p:cNvSpPr/>
          <p:nvPr/>
        </p:nvSpPr>
        <p:spPr>
          <a:xfrm>
            <a:off x="2152269" y="4207764"/>
            <a:ext cx="281940" cy="266700"/>
          </a:xfrm>
          <a:prstGeom prst="flowChartConnector">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441" name="Google Shape;441;p8"/>
          <p:cNvCxnSpPr/>
          <p:nvPr/>
        </p:nvCxnSpPr>
        <p:spPr>
          <a:xfrm flipH="1">
            <a:off x="2468022" y="4333113"/>
            <a:ext cx="1483233" cy="16002"/>
          </a:xfrm>
          <a:prstGeom prst="straightConnector1">
            <a:avLst/>
          </a:prstGeom>
          <a:noFill/>
          <a:ln w="19050" cap="flat" cmpd="sng">
            <a:solidFill>
              <a:schemeClr val="dk1"/>
            </a:solidFill>
            <a:prstDash val="solid"/>
            <a:miter lim="800000"/>
            <a:headEnd type="none" w="sm" len="sm"/>
            <a:tailEnd type="triangle" w="med" len="med"/>
          </a:ln>
        </p:spPr>
      </p:cxnSp>
      <p:cxnSp>
        <p:nvCxnSpPr>
          <p:cNvPr id="442" name="Google Shape;442;p8"/>
          <p:cNvCxnSpPr/>
          <p:nvPr/>
        </p:nvCxnSpPr>
        <p:spPr>
          <a:xfrm rot="10800000" flipH="1">
            <a:off x="588264" y="3209544"/>
            <a:ext cx="1501140" cy="998220"/>
          </a:xfrm>
          <a:prstGeom prst="straightConnector1">
            <a:avLst/>
          </a:prstGeom>
          <a:noFill/>
          <a:ln w="19050" cap="flat" cmpd="sng">
            <a:solidFill>
              <a:schemeClr val="dk1"/>
            </a:solidFill>
            <a:prstDash val="solid"/>
            <a:miter lim="800000"/>
            <a:headEnd type="none" w="sm" len="sm"/>
            <a:tailEnd type="triangle" w="med" len="med"/>
          </a:ln>
        </p:spPr>
      </p:cxnSp>
      <p:cxnSp>
        <p:nvCxnSpPr>
          <p:cNvPr id="443" name="Google Shape;443;p8"/>
          <p:cNvCxnSpPr/>
          <p:nvPr/>
        </p:nvCxnSpPr>
        <p:spPr>
          <a:xfrm>
            <a:off x="4367784" y="4341114"/>
            <a:ext cx="1249680" cy="0"/>
          </a:xfrm>
          <a:prstGeom prst="straightConnector1">
            <a:avLst/>
          </a:prstGeom>
          <a:noFill/>
          <a:ln w="19050" cap="flat" cmpd="sng">
            <a:solidFill>
              <a:schemeClr val="dk1"/>
            </a:solidFill>
            <a:prstDash val="solid"/>
            <a:miter lim="800000"/>
            <a:headEnd type="none" w="sm" len="sm"/>
            <a:tailEnd type="triangle" w="med" len="med"/>
          </a:ln>
        </p:spPr>
      </p:cxnSp>
      <p:cxnSp>
        <p:nvCxnSpPr>
          <p:cNvPr id="444" name="Google Shape;444;p8"/>
          <p:cNvCxnSpPr/>
          <p:nvPr/>
        </p:nvCxnSpPr>
        <p:spPr>
          <a:xfrm>
            <a:off x="624459" y="4341114"/>
            <a:ext cx="1464945" cy="0"/>
          </a:xfrm>
          <a:prstGeom prst="straightConnector1">
            <a:avLst/>
          </a:prstGeom>
          <a:noFill/>
          <a:ln w="19050" cap="flat" cmpd="sng">
            <a:solidFill>
              <a:schemeClr val="dk1"/>
            </a:solidFill>
            <a:prstDash val="solid"/>
            <a:miter lim="800000"/>
            <a:headEnd type="none" w="sm" len="sm"/>
            <a:tailEnd type="triangle" w="med" len="med"/>
          </a:ln>
        </p:spPr>
      </p:cxnSp>
      <p:cxnSp>
        <p:nvCxnSpPr>
          <p:cNvPr id="445" name="Google Shape;445;p8"/>
          <p:cNvCxnSpPr/>
          <p:nvPr/>
        </p:nvCxnSpPr>
        <p:spPr>
          <a:xfrm>
            <a:off x="2434209" y="3304793"/>
            <a:ext cx="1476375" cy="902971"/>
          </a:xfrm>
          <a:prstGeom prst="straightConnector1">
            <a:avLst/>
          </a:prstGeom>
          <a:noFill/>
          <a:ln w="19050" cap="flat" cmpd="sng">
            <a:solidFill>
              <a:schemeClr val="dk1"/>
            </a:solidFill>
            <a:prstDash val="solid"/>
            <a:miter lim="800000"/>
            <a:headEnd type="none" w="sm" len="sm"/>
            <a:tailEnd type="triangle" w="med" len="med"/>
          </a:ln>
        </p:spPr>
      </p:cxnSp>
      <p:cxnSp>
        <p:nvCxnSpPr>
          <p:cNvPr id="446" name="Google Shape;446;p8"/>
          <p:cNvCxnSpPr/>
          <p:nvPr/>
        </p:nvCxnSpPr>
        <p:spPr>
          <a:xfrm>
            <a:off x="4280154" y="3209544"/>
            <a:ext cx="1379220" cy="998220"/>
          </a:xfrm>
          <a:prstGeom prst="straightConnector1">
            <a:avLst/>
          </a:prstGeom>
          <a:noFill/>
          <a:ln w="19050" cap="flat" cmpd="sng">
            <a:solidFill>
              <a:schemeClr val="dk1"/>
            </a:solidFill>
            <a:prstDash val="solid"/>
            <a:miter lim="800000"/>
            <a:headEnd type="none" w="sm" len="sm"/>
            <a:tailEnd type="triangle" w="med" len="med"/>
          </a:ln>
        </p:spPr>
      </p:cxnSp>
      <p:cxnSp>
        <p:nvCxnSpPr>
          <p:cNvPr id="447" name="Google Shape;447;p8"/>
          <p:cNvCxnSpPr/>
          <p:nvPr/>
        </p:nvCxnSpPr>
        <p:spPr>
          <a:xfrm rot="10800000" flipH="1">
            <a:off x="2434209" y="3285744"/>
            <a:ext cx="1476375" cy="922020"/>
          </a:xfrm>
          <a:prstGeom prst="straightConnector1">
            <a:avLst/>
          </a:prstGeom>
          <a:noFill/>
          <a:ln w="19050" cap="flat" cmpd="sng">
            <a:solidFill>
              <a:schemeClr val="dk1"/>
            </a:solidFill>
            <a:prstDash val="solid"/>
            <a:miter lim="800000"/>
            <a:headEnd type="none" w="sm" len="sm"/>
            <a:tailEnd type="triangle" w="med" len="med"/>
          </a:ln>
        </p:spPr>
      </p:cxnSp>
      <p:sp>
        <p:nvSpPr>
          <p:cNvPr id="448" name="Google Shape;448;p8"/>
          <p:cNvSpPr txBox="1"/>
          <p:nvPr/>
        </p:nvSpPr>
        <p:spPr>
          <a:xfrm>
            <a:off x="279654" y="4156448"/>
            <a:ext cx="57912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S</a:t>
            </a:r>
            <a:endParaRPr sz="1800">
              <a:solidFill>
                <a:schemeClr val="dk1"/>
              </a:solidFill>
              <a:latin typeface="Calibri"/>
              <a:ea typeface="Calibri"/>
              <a:cs typeface="Calibri"/>
              <a:sym typeface="Calibri"/>
            </a:endParaRPr>
          </a:p>
        </p:txBody>
      </p:sp>
      <p:sp>
        <p:nvSpPr>
          <p:cNvPr id="449" name="Google Shape;449;p8"/>
          <p:cNvSpPr txBox="1"/>
          <p:nvPr/>
        </p:nvSpPr>
        <p:spPr>
          <a:xfrm>
            <a:off x="2133219" y="4156210"/>
            <a:ext cx="403860" cy="369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2</a:t>
            </a:r>
            <a:endParaRPr/>
          </a:p>
        </p:txBody>
      </p:sp>
      <p:sp>
        <p:nvSpPr>
          <p:cNvPr id="450" name="Google Shape;450;p8"/>
          <p:cNvSpPr txBox="1"/>
          <p:nvPr/>
        </p:nvSpPr>
        <p:spPr>
          <a:xfrm>
            <a:off x="3980117" y="4156448"/>
            <a:ext cx="51435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451" name="Google Shape;451;p8"/>
          <p:cNvSpPr txBox="1"/>
          <p:nvPr/>
        </p:nvSpPr>
        <p:spPr>
          <a:xfrm>
            <a:off x="5679852" y="4156448"/>
            <a:ext cx="3352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T</a:t>
            </a:r>
            <a:endParaRPr sz="1800">
              <a:solidFill>
                <a:schemeClr val="dk1"/>
              </a:solidFill>
              <a:latin typeface="Calibri"/>
              <a:ea typeface="Calibri"/>
              <a:cs typeface="Calibri"/>
              <a:sym typeface="Calibri"/>
            </a:endParaRPr>
          </a:p>
        </p:txBody>
      </p:sp>
      <p:sp>
        <p:nvSpPr>
          <p:cNvPr id="452" name="Google Shape;452;p8"/>
          <p:cNvSpPr txBox="1"/>
          <p:nvPr/>
        </p:nvSpPr>
        <p:spPr>
          <a:xfrm>
            <a:off x="2133219" y="2967728"/>
            <a:ext cx="36576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4</a:t>
            </a:r>
            <a:endParaRPr/>
          </a:p>
        </p:txBody>
      </p:sp>
      <p:sp>
        <p:nvSpPr>
          <p:cNvPr id="453" name="Google Shape;453;p8"/>
          <p:cNvSpPr txBox="1"/>
          <p:nvPr/>
        </p:nvSpPr>
        <p:spPr>
          <a:xfrm>
            <a:off x="3996309" y="2971537"/>
            <a:ext cx="42291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800">
                <a:solidFill>
                  <a:schemeClr val="dk1"/>
                </a:solidFill>
                <a:latin typeface="Calibri"/>
                <a:ea typeface="Calibri"/>
                <a:cs typeface="Calibri"/>
                <a:sym typeface="Calibri"/>
              </a:rPr>
              <a:t>5</a:t>
            </a:r>
            <a:endParaRPr sz="1800">
              <a:solidFill>
                <a:schemeClr val="dk1"/>
              </a:solidFill>
              <a:latin typeface="Calibri"/>
              <a:ea typeface="Calibri"/>
              <a:cs typeface="Calibri"/>
              <a:sym typeface="Calibri"/>
            </a:endParaRPr>
          </a:p>
        </p:txBody>
      </p:sp>
      <p:sp>
        <p:nvSpPr>
          <p:cNvPr id="454" name="Google Shape;454;p8"/>
          <p:cNvSpPr txBox="1"/>
          <p:nvPr/>
        </p:nvSpPr>
        <p:spPr>
          <a:xfrm>
            <a:off x="1070592" y="4129252"/>
            <a:ext cx="67627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10/12</a:t>
            </a:r>
            <a:endParaRPr sz="1050">
              <a:solidFill>
                <a:schemeClr val="dk1"/>
              </a:solidFill>
              <a:latin typeface="Calibri"/>
              <a:ea typeface="Calibri"/>
              <a:cs typeface="Calibri"/>
              <a:sym typeface="Calibri"/>
            </a:endParaRPr>
          </a:p>
        </p:txBody>
      </p:sp>
      <p:sp>
        <p:nvSpPr>
          <p:cNvPr id="455" name="Google Shape;455;p8"/>
          <p:cNvSpPr txBox="1"/>
          <p:nvPr/>
        </p:nvSpPr>
        <p:spPr>
          <a:xfrm>
            <a:off x="4686396" y="4087079"/>
            <a:ext cx="61483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10/10</a:t>
            </a:r>
            <a:endParaRPr sz="1050">
              <a:solidFill>
                <a:schemeClr val="dk1"/>
              </a:solidFill>
              <a:latin typeface="Calibri"/>
              <a:ea typeface="Calibri"/>
              <a:cs typeface="Calibri"/>
              <a:sym typeface="Calibri"/>
            </a:endParaRPr>
          </a:p>
        </p:txBody>
      </p:sp>
      <p:sp>
        <p:nvSpPr>
          <p:cNvPr id="456" name="Google Shape;456;p8"/>
          <p:cNvSpPr txBox="1"/>
          <p:nvPr/>
        </p:nvSpPr>
        <p:spPr>
          <a:xfrm rot="-2173728">
            <a:off x="999744" y="3446151"/>
            <a:ext cx="529590"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5/5</a:t>
            </a:r>
            <a:endParaRPr sz="1050">
              <a:solidFill>
                <a:schemeClr val="dk1"/>
              </a:solidFill>
              <a:latin typeface="Calibri"/>
              <a:ea typeface="Calibri"/>
              <a:cs typeface="Calibri"/>
              <a:sym typeface="Calibri"/>
            </a:endParaRPr>
          </a:p>
        </p:txBody>
      </p:sp>
      <p:sp>
        <p:nvSpPr>
          <p:cNvPr id="457" name="Google Shape;457;p8"/>
          <p:cNvSpPr txBox="1"/>
          <p:nvPr/>
        </p:nvSpPr>
        <p:spPr>
          <a:xfrm>
            <a:off x="2941389" y="4106130"/>
            <a:ext cx="62293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7/13</a:t>
            </a:r>
            <a:endParaRPr sz="1050">
              <a:solidFill>
                <a:schemeClr val="dk1"/>
              </a:solidFill>
              <a:latin typeface="Calibri"/>
              <a:ea typeface="Calibri"/>
              <a:cs typeface="Calibri"/>
              <a:sym typeface="Calibri"/>
            </a:endParaRPr>
          </a:p>
        </p:txBody>
      </p:sp>
      <p:sp>
        <p:nvSpPr>
          <p:cNvPr id="458" name="Google Shape;458;p8"/>
          <p:cNvSpPr txBox="1"/>
          <p:nvPr/>
        </p:nvSpPr>
        <p:spPr>
          <a:xfrm rot="2076160">
            <a:off x="2625159" y="3378311"/>
            <a:ext cx="632460"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5/5</a:t>
            </a:r>
            <a:endParaRPr sz="1050">
              <a:solidFill>
                <a:schemeClr val="dk1"/>
              </a:solidFill>
              <a:latin typeface="Calibri"/>
              <a:ea typeface="Calibri"/>
              <a:cs typeface="Calibri"/>
              <a:sym typeface="Calibri"/>
            </a:endParaRPr>
          </a:p>
        </p:txBody>
      </p:sp>
      <p:sp>
        <p:nvSpPr>
          <p:cNvPr id="459" name="Google Shape;459;p8"/>
          <p:cNvSpPr txBox="1"/>
          <p:nvPr/>
        </p:nvSpPr>
        <p:spPr>
          <a:xfrm rot="-2147491">
            <a:off x="2497090" y="3785220"/>
            <a:ext cx="48235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5/5</a:t>
            </a:r>
            <a:endParaRPr sz="1050">
              <a:solidFill>
                <a:schemeClr val="dk1"/>
              </a:solidFill>
              <a:latin typeface="Calibri"/>
              <a:ea typeface="Calibri"/>
              <a:cs typeface="Calibri"/>
              <a:sym typeface="Calibri"/>
            </a:endParaRPr>
          </a:p>
        </p:txBody>
      </p:sp>
      <p:sp>
        <p:nvSpPr>
          <p:cNvPr id="460" name="Google Shape;460;p8"/>
          <p:cNvSpPr txBox="1"/>
          <p:nvPr/>
        </p:nvSpPr>
        <p:spPr>
          <a:xfrm rot="2380485">
            <a:off x="4821535" y="3581696"/>
            <a:ext cx="609600"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5/5</a:t>
            </a:r>
            <a:endParaRPr sz="1050">
              <a:solidFill>
                <a:schemeClr val="dk1"/>
              </a:solidFill>
              <a:latin typeface="Calibri"/>
              <a:ea typeface="Calibri"/>
              <a:cs typeface="Calibri"/>
              <a:sym typeface="Calibri"/>
            </a:endParaRPr>
          </a:p>
        </p:txBody>
      </p:sp>
      <p:cxnSp>
        <p:nvCxnSpPr>
          <p:cNvPr id="461" name="Google Shape;461;p8"/>
          <p:cNvCxnSpPr/>
          <p:nvPr/>
        </p:nvCxnSpPr>
        <p:spPr>
          <a:xfrm>
            <a:off x="6711355" y="1782612"/>
            <a:ext cx="1583055" cy="18932"/>
          </a:xfrm>
          <a:prstGeom prst="straightConnector1">
            <a:avLst/>
          </a:prstGeom>
          <a:noFill/>
          <a:ln w="19050" cap="flat" cmpd="sng">
            <a:solidFill>
              <a:schemeClr val="dk1"/>
            </a:solidFill>
            <a:prstDash val="solid"/>
            <a:miter lim="800000"/>
            <a:headEnd type="none" w="sm" len="sm"/>
            <a:tailEnd type="triangle" w="med" len="med"/>
          </a:ln>
        </p:spPr>
      </p:cxnSp>
      <p:sp>
        <p:nvSpPr>
          <p:cNvPr id="462" name="Google Shape;462;p8"/>
          <p:cNvSpPr txBox="1"/>
          <p:nvPr/>
        </p:nvSpPr>
        <p:spPr>
          <a:xfrm>
            <a:off x="7405020" y="1741610"/>
            <a:ext cx="4486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a:solidFill>
                  <a:schemeClr val="dk1"/>
                </a:solidFill>
                <a:latin typeface="Calibri"/>
                <a:ea typeface="Calibri"/>
                <a:cs typeface="Calibri"/>
                <a:sym typeface="Calibri"/>
              </a:rPr>
              <a:t>2</a:t>
            </a:r>
            <a:endParaRPr sz="1050">
              <a:solidFill>
                <a:schemeClr val="dk1"/>
              </a:solidFill>
              <a:latin typeface="Calibri"/>
              <a:ea typeface="Calibri"/>
              <a:cs typeface="Calibri"/>
              <a:sym typeface="Calibri"/>
            </a:endParaRPr>
          </a:p>
        </p:txBody>
      </p:sp>
      <p:cxnSp>
        <p:nvCxnSpPr>
          <p:cNvPr id="463" name="Google Shape;463;p8"/>
          <p:cNvCxnSpPr/>
          <p:nvPr/>
        </p:nvCxnSpPr>
        <p:spPr>
          <a:xfrm rot="10800000" flipH="1">
            <a:off x="571175" y="3222629"/>
            <a:ext cx="1564005" cy="1004054"/>
          </a:xfrm>
          <a:prstGeom prst="straightConnector1">
            <a:avLst/>
          </a:prstGeom>
          <a:noFill/>
          <a:ln w="19050" cap="flat" cmpd="sng">
            <a:solidFill>
              <a:schemeClr val="accent2"/>
            </a:solidFill>
            <a:prstDash val="solid"/>
            <a:miter lim="800000"/>
            <a:headEnd type="none" w="sm" len="sm"/>
            <a:tailEnd type="none" w="sm" len="sm"/>
          </a:ln>
        </p:spPr>
      </p:cxnSp>
      <p:cxnSp>
        <p:nvCxnSpPr>
          <p:cNvPr id="464" name="Google Shape;464;p8"/>
          <p:cNvCxnSpPr/>
          <p:nvPr/>
        </p:nvCxnSpPr>
        <p:spPr>
          <a:xfrm>
            <a:off x="2474650" y="3317414"/>
            <a:ext cx="1336548" cy="819150"/>
          </a:xfrm>
          <a:prstGeom prst="straightConnector1">
            <a:avLst/>
          </a:prstGeom>
          <a:noFill/>
          <a:ln w="19050" cap="flat" cmpd="sng">
            <a:solidFill>
              <a:schemeClr val="accent2"/>
            </a:solidFill>
            <a:prstDash val="solid"/>
            <a:miter lim="800000"/>
            <a:headEnd type="none" w="sm" len="sm"/>
            <a:tailEnd type="none" w="sm" len="sm"/>
          </a:ln>
        </p:spPr>
      </p:cxnSp>
      <p:cxnSp>
        <p:nvCxnSpPr>
          <p:cNvPr id="465" name="Google Shape;465;p8"/>
          <p:cNvCxnSpPr/>
          <p:nvPr/>
        </p:nvCxnSpPr>
        <p:spPr>
          <a:xfrm rot="10800000">
            <a:off x="2434209" y="4368761"/>
            <a:ext cx="1443038" cy="119"/>
          </a:xfrm>
          <a:prstGeom prst="straightConnector1">
            <a:avLst/>
          </a:prstGeom>
          <a:noFill/>
          <a:ln w="19050" cap="flat" cmpd="sng">
            <a:solidFill>
              <a:schemeClr val="accent2"/>
            </a:solidFill>
            <a:prstDash val="solid"/>
            <a:miter lim="800000"/>
            <a:headEnd type="none" w="sm" len="sm"/>
            <a:tailEnd type="none" w="sm" len="sm"/>
          </a:ln>
        </p:spPr>
      </p:cxnSp>
      <p:cxnSp>
        <p:nvCxnSpPr>
          <p:cNvPr id="466" name="Google Shape;466;p8"/>
          <p:cNvCxnSpPr/>
          <p:nvPr/>
        </p:nvCxnSpPr>
        <p:spPr>
          <a:xfrm rot="10800000" flipH="1">
            <a:off x="2390394" y="3302610"/>
            <a:ext cx="1517046" cy="947344"/>
          </a:xfrm>
          <a:prstGeom prst="straightConnector1">
            <a:avLst/>
          </a:prstGeom>
          <a:noFill/>
          <a:ln w="19050" cap="flat" cmpd="sng">
            <a:solidFill>
              <a:schemeClr val="accent2"/>
            </a:solidFill>
            <a:prstDash val="solid"/>
            <a:miter lim="800000"/>
            <a:headEnd type="none" w="sm" len="sm"/>
            <a:tailEnd type="none" w="sm" len="sm"/>
          </a:ln>
        </p:spPr>
      </p:cxnSp>
      <p:cxnSp>
        <p:nvCxnSpPr>
          <p:cNvPr id="467" name="Google Shape;467;p8"/>
          <p:cNvCxnSpPr/>
          <p:nvPr/>
        </p:nvCxnSpPr>
        <p:spPr>
          <a:xfrm>
            <a:off x="4249498" y="3206699"/>
            <a:ext cx="1302570" cy="940096"/>
          </a:xfrm>
          <a:prstGeom prst="straightConnector1">
            <a:avLst/>
          </a:prstGeom>
          <a:noFill/>
          <a:ln w="19050" cap="flat" cmpd="sng">
            <a:solidFill>
              <a:schemeClr val="accent2"/>
            </a:solidFill>
            <a:prstDash val="solid"/>
            <a:miter lim="800000"/>
            <a:headEnd type="none" w="sm" len="sm"/>
            <a:tailEnd type="none" w="sm" len="sm"/>
          </a:ln>
        </p:spPr>
      </p:cxnSp>
      <p:sp>
        <p:nvSpPr>
          <p:cNvPr id="105" name="Credit MAIN">
            <a:extLst>
              <a:ext uri="{FF2B5EF4-FFF2-40B4-BE49-F238E27FC236}">
                <a16:creationId xmlns:a16="http://schemas.microsoft.com/office/drawing/2014/main" id="{0E844A23-FAB5-4723-AB33-006271D7333F}"/>
              </a:ext>
            </a:extLst>
          </p:cNvPr>
          <p:cNvSpPr txBox="1"/>
          <p:nvPr/>
        </p:nvSpPr>
        <p:spPr>
          <a:xfrm>
            <a:off x="50878" y="7029877"/>
            <a:ext cx="2668876"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Phạm</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Văn</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Quyết</a:t>
            </a:r>
            <a:endParaRPr lang="en-US" dirty="0">
              <a:solidFill>
                <a:schemeClr val="bg1">
                  <a:lumMod val="95000"/>
                  <a:alpha val="46000"/>
                </a:schemeClr>
              </a:solidFill>
            </a:endParaRPr>
          </a:p>
        </p:txBody>
      </p:sp>
      <p:sp>
        <p:nvSpPr>
          <p:cNvPr id="106" name="Footer: Part">
            <a:extLst>
              <a:ext uri="{FF2B5EF4-FFF2-40B4-BE49-F238E27FC236}">
                <a16:creationId xmlns:a16="http://schemas.microsoft.com/office/drawing/2014/main" id="{156C1BC1-6CF7-4C51-92FB-CAF9D25CC99C}"/>
              </a:ext>
            </a:extLst>
          </p:cNvPr>
          <p:cNvSpPr txBox="1"/>
          <p:nvPr/>
        </p:nvSpPr>
        <p:spPr>
          <a:xfrm>
            <a:off x="8487508" y="9480252"/>
            <a:ext cx="3733195" cy="369332"/>
          </a:xfrm>
          <a:prstGeom prst="rect">
            <a:avLst/>
          </a:prstGeom>
          <a:noFill/>
        </p:spPr>
        <p:txBody>
          <a:bodyPr wrap="square" rtlCol="0">
            <a:spAutoFit/>
          </a:bodyPr>
          <a:lstStyle/>
          <a:p>
            <a:r>
              <a:rPr lang="en-US" dirty="0" err="1">
                <a:solidFill>
                  <a:schemeClr val="bg1">
                    <a:lumMod val="95000"/>
                  </a:schemeClr>
                </a:solidFill>
                <a:latin typeface="JetBrains Mono Regular" panose="02000009000000000000" pitchFamily="49" charset="0"/>
                <a:cs typeface="JetBrains Mono Regular" panose="02000009000000000000" pitchFamily="49" charset="0"/>
              </a:rPr>
              <a:t>Bài</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toán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a:solidFill>
                  <a:schemeClr val="bg1">
                    <a:lumMod val="95000"/>
                  </a:schemeClr>
                </a:solidFill>
                <a:latin typeface="JetBrains Mono Light" panose="02000009000000000000" pitchFamily="49" charset="0"/>
                <a:cs typeface="JetBrains Mono Light" panose="02000009000000000000" pitchFamily="49" charset="0"/>
              </a:rPr>
              <a:t>“</a:t>
            </a:r>
            <a:r>
              <a:rPr lang="en-US" dirty="0" err="1">
                <a:solidFill>
                  <a:schemeClr val="bg1">
                    <a:lumMod val="85000"/>
                  </a:schemeClr>
                </a:solidFill>
                <a:latin typeface="JetBrains Mono Light" panose="02000009000000000000"/>
                <a:cs typeface="JetBrains Mono" panose="02000009000000000000" pitchFamily="49" charset="0"/>
              </a:rPr>
              <a:t>Người</a:t>
            </a:r>
            <a:r>
              <a:rPr lang="en-US" dirty="0">
                <a:solidFill>
                  <a:schemeClr val="bg1">
                    <a:lumMod val="85000"/>
                  </a:schemeClr>
                </a:solidFill>
                <a:latin typeface="JetBrains Mono Light" panose="02000009000000000000"/>
                <a:cs typeface="JetBrains Mono" panose="02000009000000000000" pitchFamily="49" charset="0"/>
              </a:rPr>
              <a:t> </a:t>
            </a:r>
            <a:r>
              <a:rPr lang="en-US" dirty="0" err="1">
                <a:solidFill>
                  <a:schemeClr val="bg1">
                    <a:lumMod val="85000"/>
                  </a:schemeClr>
                </a:solidFill>
                <a:latin typeface="JetBrains Mono Light" panose="02000009000000000000"/>
                <a:cs typeface="JetBrains Mono" panose="02000009000000000000" pitchFamily="49" charset="0"/>
              </a:rPr>
              <a:t>bán</a:t>
            </a:r>
            <a:r>
              <a:rPr lang="en-US" dirty="0">
                <a:solidFill>
                  <a:schemeClr val="bg1">
                    <a:lumMod val="85000"/>
                  </a:schemeClr>
                </a:solidFill>
                <a:latin typeface="JetBrains Mono Light" panose="02000009000000000000"/>
                <a:cs typeface="JetBrains Mono" panose="02000009000000000000" pitchFamily="49" charset="0"/>
              </a:rPr>
              <a:t> </a:t>
            </a:r>
            <a:r>
              <a:rPr lang="en-US" dirty="0" err="1">
                <a:solidFill>
                  <a:schemeClr val="bg1">
                    <a:lumMod val="85000"/>
                  </a:schemeClr>
                </a:solidFill>
                <a:latin typeface="JetBrains Mono Light" panose="02000009000000000000"/>
                <a:cs typeface="JetBrains Mono" panose="02000009000000000000" pitchFamily="49" charset="0"/>
              </a:rPr>
              <a:t>hàng</a:t>
            </a:r>
            <a:r>
              <a:rPr lang="en-US" dirty="0">
                <a:solidFill>
                  <a:schemeClr val="bg1">
                    <a:lumMod val="85000"/>
                  </a:schemeClr>
                </a:solidFill>
                <a:latin typeface="JetBrains Mono Light" panose="02000009000000000000"/>
                <a:cs typeface="JetBrains Mono" panose="02000009000000000000" pitchFamily="49" charset="0"/>
              </a:rPr>
              <a:t>”</a:t>
            </a:r>
          </a:p>
        </p:txBody>
      </p:sp>
      <p:sp>
        <p:nvSpPr>
          <p:cNvPr id="107" name="Footer: Title">
            <a:extLst>
              <a:ext uri="{FF2B5EF4-FFF2-40B4-BE49-F238E27FC236}">
                <a16:creationId xmlns:a16="http://schemas.microsoft.com/office/drawing/2014/main" id="{2BA457A0-DCED-41B3-9C12-716F038CD8FA}"/>
              </a:ext>
            </a:extLst>
          </p:cNvPr>
          <p:cNvSpPr txBox="1"/>
          <p:nvPr/>
        </p:nvSpPr>
        <p:spPr>
          <a:xfrm>
            <a:off x="7385543" y="8399484"/>
            <a:ext cx="1215645"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Light" panose="02000009000000000000" pitchFamily="49" charset="0"/>
                <a:cs typeface="JetBrains Mono Light" panose="02000009000000000000" pitchFamily="49" charset="0"/>
              </a:rPr>
              <a:t>:</a:t>
            </a:r>
          </a:p>
        </p:txBody>
      </p:sp>
      <p:sp>
        <p:nvSpPr>
          <p:cNvPr id="108" name="PAGE NUM 0">
            <a:extLst>
              <a:ext uri="{FF2B5EF4-FFF2-40B4-BE49-F238E27FC236}">
                <a16:creationId xmlns:a16="http://schemas.microsoft.com/office/drawing/2014/main" id="{C646318E-E11B-4298-8001-E55238A9CBCE}"/>
              </a:ext>
            </a:extLst>
          </p:cNvPr>
          <p:cNvSpPr txBox="1"/>
          <p:nvPr/>
        </p:nvSpPr>
        <p:spPr>
          <a:xfrm>
            <a:off x="11599908" y="-5105"/>
            <a:ext cx="468851" cy="369332"/>
          </a:xfrm>
          <a:prstGeom prst="rect">
            <a:avLst/>
          </a:prstGeom>
          <a:noFill/>
          <a:ln>
            <a:noFill/>
          </a:ln>
        </p:spPr>
        <p:txBody>
          <a:bodyPr wrap="square" rtlCol="0">
            <a:spAutoFit/>
          </a:bodyPr>
          <a:lstStyle/>
          <a:p>
            <a:pPr algn="r"/>
            <a:r>
              <a:rPr lang="en-US" strike="sngStrike" dirty="0">
                <a:solidFill>
                  <a:srgbClr val="C00000"/>
                </a:solidFill>
                <a:latin typeface="JetBrains Mono Light" panose="02000009000000000000" pitchFamily="49" charset="0"/>
                <a:cs typeface="JetBrains Mono Light" panose="02000009000000000000" pitchFamily="49" charset="0"/>
              </a:rPr>
              <a:t>3</a:t>
            </a:r>
          </a:p>
        </p:txBody>
      </p:sp>
      <p:sp>
        <p:nvSpPr>
          <p:cNvPr id="109" name="PAGE NUM 1">
            <a:extLst>
              <a:ext uri="{FF2B5EF4-FFF2-40B4-BE49-F238E27FC236}">
                <a16:creationId xmlns:a16="http://schemas.microsoft.com/office/drawing/2014/main" id="{94713523-A732-46E3-ADB9-E59196E53F16}"/>
              </a:ext>
            </a:extLst>
          </p:cNvPr>
          <p:cNvSpPr txBox="1"/>
          <p:nvPr/>
        </p:nvSpPr>
        <p:spPr>
          <a:xfrm>
            <a:off x="11883838" y="-11114"/>
            <a:ext cx="914400" cy="369332"/>
          </a:xfrm>
          <a:prstGeom prst="rect">
            <a:avLst/>
          </a:prstGeom>
          <a:noFill/>
        </p:spPr>
        <p:txBody>
          <a:bodyPr wrap="square" rtlCol="0">
            <a:spAutoFit/>
          </a:bodyPr>
          <a:lstStyle/>
          <a:p>
            <a:r>
              <a:rPr lang="en-US" strike="sngStrike" dirty="0">
                <a:solidFill>
                  <a:srgbClr val="C00000"/>
                </a:solidFill>
                <a:latin typeface="JetBrains Mono Light" panose="02000009000000000000" pitchFamily="49" charset="0"/>
                <a:cs typeface="JetBrains Mono Light" panose="02000009000000000000" pitchFamily="49" charset="0"/>
              </a:rPr>
              <a:t>2</a:t>
            </a:r>
            <a:endParaRPr lang="en-US" strike="sngStrike" dirty="0">
              <a:solidFill>
                <a:srgbClr val="C00000"/>
              </a:solidFill>
            </a:endParaRPr>
          </a:p>
        </p:txBody>
      </p:sp>
    </p:spTree>
    <p:extLst>
      <p:ext uri="{BB962C8B-B14F-4D97-AF65-F5344CB8AC3E}">
        <p14:creationId xmlns:p14="http://schemas.microsoft.com/office/powerpoint/2010/main" val="10620087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7"/>
                                        </p:tgtEl>
                                        <p:attrNameLst>
                                          <p:attrName>style.visibility</p:attrName>
                                        </p:attrNameLst>
                                      </p:cBhvr>
                                      <p:to>
                                        <p:strVal val="visible"/>
                                      </p:to>
                                    </p:set>
                                    <p:animEffect transition="in" filter="fade">
                                      <p:cBhvr>
                                        <p:cTn id="7" dur="500"/>
                                        <p:tgtEl>
                                          <p:spTgt spid="367"/>
                                        </p:tgtEl>
                                      </p:cBhvr>
                                    </p:animEffect>
                                  </p:childTnLst>
                                </p:cTn>
                              </p:par>
                              <p:par>
                                <p:cTn id="8" presetID="10" presetClass="entr" presetSubtype="0" fill="hold" nodeType="withEffect">
                                  <p:stCondLst>
                                    <p:cond delay="0"/>
                                  </p:stCondLst>
                                  <p:childTnLst>
                                    <p:set>
                                      <p:cBhvr>
                                        <p:cTn id="9" dur="1" fill="hold">
                                          <p:stCondLst>
                                            <p:cond delay="0"/>
                                          </p:stCondLst>
                                        </p:cTn>
                                        <p:tgtEl>
                                          <p:spTgt spid="368"/>
                                        </p:tgtEl>
                                        <p:attrNameLst>
                                          <p:attrName>style.visibility</p:attrName>
                                        </p:attrNameLst>
                                      </p:cBhvr>
                                      <p:to>
                                        <p:strVal val="visible"/>
                                      </p:to>
                                    </p:set>
                                    <p:animEffect transition="in" filter="fade">
                                      <p:cBhvr>
                                        <p:cTn id="10" dur="500"/>
                                        <p:tgtEl>
                                          <p:spTgt spid="368"/>
                                        </p:tgtEl>
                                      </p:cBhvr>
                                    </p:animEffect>
                                  </p:childTnLst>
                                </p:cTn>
                              </p:par>
                              <p:par>
                                <p:cTn id="11" presetID="10" presetClass="entr" presetSubtype="0" fill="hold" nodeType="withEffect">
                                  <p:stCondLst>
                                    <p:cond delay="0"/>
                                  </p:stCondLst>
                                  <p:childTnLst>
                                    <p:set>
                                      <p:cBhvr>
                                        <p:cTn id="12" dur="1" fill="hold">
                                          <p:stCondLst>
                                            <p:cond delay="0"/>
                                          </p:stCondLst>
                                        </p:cTn>
                                        <p:tgtEl>
                                          <p:spTgt spid="369"/>
                                        </p:tgtEl>
                                        <p:attrNameLst>
                                          <p:attrName>style.visibility</p:attrName>
                                        </p:attrNameLst>
                                      </p:cBhvr>
                                      <p:to>
                                        <p:strVal val="visible"/>
                                      </p:to>
                                    </p:set>
                                    <p:animEffect transition="in" filter="fade">
                                      <p:cBhvr>
                                        <p:cTn id="13" dur="500"/>
                                        <p:tgtEl>
                                          <p:spTgt spid="369"/>
                                        </p:tgtEl>
                                      </p:cBhvr>
                                    </p:animEffect>
                                  </p:childTnLst>
                                </p:cTn>
                              </p:par>
                              <p:par>
                                <p:cTn id="14" presetID="10" presetClass="entr" presetSubtype="0" fill="hold" nodeType="withEffect">
                                  <p:stCondLst>
                                    <p:cond delay="0"/>
                                  </p:stCondLst>
                                  <p:childTnLst>
                                    <p:set>
                                      <p:cBhvr>
                                        <p:cTn id="15" dur="1" fill="hold">
                                          <p:stCondLst>
                                            <p:cond delay="0"/>
                                          </p:stCondLst>
                                        </p:cTn>
                                        <p:tgtEl>
                                          <p:spTgt spid="370"/>
                                        </p:tgtEl>
                                        <p:attrNameLst>
                                          <p:attrName>style.visibility</p:attrName>
                                        </p:attrNameLst>
                                      </p:cBhvr>
                                      <p:to>
                                        <p:strVal val="visible"/>
                                      </p:to>
                                    </p:set>
                                    <p:animEffect transition="in" filter="fade">
                                      <p:cBhvr>
                                        <p:cTn id="16" dur="500"/>
                                        <p:tgtEl>
                                          <p:spTgt spid="370"/>
                                        </p:tgtEl>
                                      </p:cBhvr>
                                    </p:animEffect>
                                  </p:childTnLst>
                                </p:cTn>
                              </p:par>
                              <p:par>
                                <p:cTn id="17" presetID="10" presetClass="entr" presetSubtype="0" fill="hold" nodeType="withEffect">
                                  <p:stCondLst>
                                    <p:cond delay="0"/>
                                  </p:stCondLst>
                                  <p:childTnLst>
                                    <p:set>
                                      <p:cBhvr>
                                        <p:cTn id="18" dur="1" fill="hold">
                                          <p:stCondLst>
                                            <p:cond delay="0"/>
                                          </p:stCondLst>
                                        </p:cTn>
                                        <p:tgtEl>
                                          <p:spTgt spid="371"/>
                                        </p:tgtEl>
                                        <p:attrNameLst>
                                          <p:attrName>style.visibility</p:attrName>
                                        </p:attrNameLst>
                                      </p:cBhvr>
                                      <p:to>
                                        <p:strVal val="visible"/>
                                      </p:to>
                                    </p:set>
                                    <p:animEffect transition="in" filter="fade">
                                      <p:cBhvr>
                                        <p:cTn id="19" dur="500"/>
                                        <p:tgtEl>
                                          <p:spTgt spid="371"/>
                                        </p:tgtEl>
                                      </p:cBhvr>
                                    </p:animEffect>
                                  </p:childTnLst>
                                </p:cTn>
                              </p:par>
                              <p:par>
                                <p:cTn id="20" presetID="10" presetClass="entr" presetSubtype="0" fill="hold" nodeType="withEffect">
                                  <p:stCondLst>
                                    <p:cond delay="0"/>
                                  </p:stCondLst>
                                  <p:childTnLst>
                                    <p:set>
                                      <p:cBhvr>
                                        <p:cTn id="21" dur="1" fill="hold">
                                          <p:stCondLst>
                                            <p:cond delay="0"/>
                                          </p:stCondLst>
                                        </p:cTn>
                                        <p:tgtEl>
                                          <p:spTgt spid="372"/>
                                        </p:tgtEl>
                                        <p:attrNameLst>
                                          <p:attrName>style.visibility</p:attrName>
                                        </p:attrNameLst>
                                      </p:cBhvr>
                                      <p:to>
                                        <p:strVal val="visible"/>
                                      </p:to>
                                    </p:set>
                                    <p:animEffect transition="in" filter="fade">
                                      <p:cBhvr>
                                        <p:cTn id="22" dur="500"/>
                                        <p:tgtEl>
                                          <p:spTgt spid="372"/>
                                        </p:tgtEl>
                                      </p:cBhvr>
                                    </p:animEffect>
                                  </p:childTnLst>
                                </p:cTn>
                              </p:par>
                              <p:par>
                                <p:cTn id="23" presetID="10" presetClass="entr" presetSubtype="0" fill="hold" nodeType="withEffect">
                                  <p:stCondLst>
                                    <p:cond delay="0"/>
                                  </p:stCondLst>
                                  <p:childTnLst>
                                    <p:set>
                                      <p:cBhvr>
                                        <p:cTn id="24" dur="1" fill="hold">
                                          <p:stCondLst>
                                            <p:cond delay="0"/>
                                          </p:stCondLst>
                                        </p:cTn>
                                        <p:tgtEl>
                                          <p:spTgt spid="373"/>
                                        </p:tgtEl>
                                        <p:attrNameLst>
                                          <p:attrName>style.visibility</p:attrName>
                                        </p:attrNameLst>
                                      </p:cBhvr>
                                      <p:to>
                                        <p:strVal val="visible"/>
                                      </p:to>
                                    </p:set>
                                    <p:animEffect transition="in" filter="fade">
                                      <p:cBhvr>
                                        <p:cTn id="25" dur="500"/>
                                        <p:tgtEl>
                                          <p:spTgt spid="373"/>
                                        </p:tgtEl>
                                      </p:cBhvr>
                                    </p:animEffect>
                                  </p:childTnLst>
                                </p:cTn>
                              </p:par>
                              <p:par>
                                <p:cTn id="26" presetID="10" presetClass="entr" presetSubtype="0" fill="hold" nodeType="withEffect">
                                  <p:stCondLst>
                                    <p:cond delay="0"/>
                                  </p:stCondLst>
                                  <p:childTnLst>
                                    <p:set>
                                      <p:cBhvr>
                                        <p:cTn id="27" dur="1" fill="hold">
                                          <p:stCondLst>
                                            <p:cond delay="0"/>
                                          </p:stCondLst>
                                        </p:cTn>
                                        <p:tgtEl>
                                          <p:spTgt spid="374"/>
                                        </p:tgtEl>
                                        <p:attrNameLst>
                                          <p:attrName>style.visibility</p:attrName>
                                        </p:attrNameLst>
                                      </p:cBhvr>
                                      <p:to>
                                        <p:strVal val="visible"/>
                                      </p:to>
                                    </p:set>
                                    <p:animEffect transition="in" filter="fade">
                                      <p:cBhvr>
                                        <p:cTn id="28" dur="500"/>
                                        <p:tgtEl>
                                          <p:spTgt spid="374"/>
                                        </p:tgtEl>
                                      </p:cBhvr>
                                    </p:animEffect>
                                  </p:childTnLst>
                                </p:cTn>
                              </p:par>
                              <p:par>
                                <p:cTn id="29" presetID="10" presetClass="entr" presetSubtype="0" fill="hold" nodeType="withEffect">
                                  <p:stCondLst>
                                    <p:cond delay="0"/>
                                  </p:stCondLst>
                                  <p:childTnLst>
                                    <p:set>
                                      <p:cBhvr>
                                        <p:cTn id="30" dur="1" fill="hold">
                                          <p:stCondLst>
                                            <p:cond delay="0"/>
                                          </p:stCondLst>
                                        </p:cTn>
                                        <p:tgtEl>
                                          <p:spTgt spid="375"/>
                                        </p:tgtEl>
                                        <p:attrNameLst>
                                          <p:attrName>style.visibility</p:attrName>
                                        </p:attrNameLst>
                                      </p:cBhvr>
                                      <p:to>
                                        <p:strVal val="visible"/>
                                      </p:to>
                                    </p:set>
                                    <p:animEffect transition="in" filter="fade">
                                      <p:cBhvr>
                                        <p:cTn id="31" dur="500"/>
                                        <p:tgtEl>
                                          <p:spTgt spid="375"/>
                                        </p:tgtEl>
                                      </p:cBhvr>
                                    </p:animEffect>
                                  </p:childTnLst>
                                </p:cTn>
                              </p:par>
                              <p:par>
                                <p:cTn id="32" presetID="10" presetClass="entr" presetSubtype="0" fill="hold" nodeType="withEffect">
                                  <p:stCondLst>
                                    <p:cond delay="0"/>
                                  </p:stCondLst>
                                  <p:childTnLst>
                                    <p:set>
                                      <p:cBhvr>
                                        <p:cTn id="33" dur="1" fill="hold">
                                          <p:stCondLst>
                                            <p:cond delay="0"/>
                                          </p:stCondLst>
                                        </p:cTn>
                                        <p:tgtEl>
                                          <p:spTgt spid="376"/>
                                        </p:tgtEl>
                                        <p:attrNameLst>
                                          <p:attrName>style.visibility</p:attrName>
                                        </p:attrNameLst>
                                      </p:cBhvr>
                                      <p:to>
                                        <p:strVal val="visible"/>
                                      </p:to>
                                    </p:set>
                                    <p:animEffect transition="in" filter="fade">
                                      <p:cBhvr>
                                        <p:cTn id="34" dur="500"/>
                                        <p:tgtEl>
                                          <p:spTgt spid="376"/>
                                        </p:tgtEl>
                                      </p:cBhvr>
                                    </p:animEffect>
                                  </p:childTnLst>
                                </p:cTn>
                              </p:par>
                              <p:par>
                                <p:cTn id="35" presetID="10" presetClass="entr" presetSubtype="0" fill="hold" nodeType="withEffect">
                                  <p:stCondLst>
                                    <p:cond delay="0"/>
                                  </p:stCondLst>
                                  <p:childTnLst>
                                    <p:set>
                                      <p:cBhvr>
                                        <p:cTn id="36" dur="1" fill="hold">
                                          <p:stCondLst>
                                            <p:cond delay="0"/>
                                          </p:stCondLst>
                                        </p:cTn>
                                        <p:tgtEl>
                                          <p:spTgt spid="377"/>
                                        </p:tgtEl>
                                        <p:attrNameLst>
                                          <p:attrName>style.visibility</p:attrName>
                                        </p:attrNameLst>
                                      </p:cBhvr>
                                      <p:to>
                                        <p:strVal val="visible"/>
                                      </p:to>
                                    </p:set>
                                    <p:animEffect transition="in" filter="fade">
                                      <p:cBhvr>
                                        <p:cTn id="37" dur="500"/>
                                        <p:tgtEl>
                                          <p:spTgt spid="377"/>
                                        </p:tgtEl>
                                      </p:cBhvr>
                                    </p:animEffect>
                                  </p:childTnLst>
                                </p:cTn>
                              </p:par>
                              <p:par>
                                <p:cTn id="38" presetID="10" presetClass="entr" presetSubtype="0" fill="hold" nodeType="withEffect">
                                  <p:stCondLst>
                                    <p:cond delay="0"/>
                                  </p:stCondLst>
                                  <p:childTnLst>
                                    <p:set>
                                      <p:cBhvr>
                                        <p:cTn id="39" dur="1" fill="hold">
                                          <p:stCondLst>
                                            <p:cond delay="0"/>
                                          </p:stCondLst>
                                        </p:cTn>
                                        <p:tgtEl>
                                          <p:spTgt spid="378"/>
                                        </p:tgtEl>
                                        <p:attrNameLst>
                                          <p:attrName>style.visibility</p:attrName>
                                        </p:attrNameLst>
                                      </p:cBhvr>
                                      <p:to>
                                        <p:strVal val="visible"/>
                                      </p:to>
                                    </p:set>
                                    <p:animEffect transition="in" filter="fade">
                                      <p:cBhvr>
                                        <p:cTn id="40" dur="500"/>
                                        <p:tgtEl>
                                          <p:spTgt spid="378"/>
                                        </p:tgtEl>
                                      </p:cBhvr>
                                    </p:animEffect>
                                  </p:childTnLst>
                                </p:cTn>
                              </p:par>
                              <p:par>
                                <p:cTn id="41" presetID="10" presetClass="entr" presetSubtype="0" fill="hold" nodeType="withEffect">
                                  <p:stCondLst>
                                    <p:cond delay="0"/>
                                  </p:stCondLst>
                                  <p:childTnLst>
                                    <p:set>
                                      <p:cBhvr>
                                        <p:cTn id="42" dur="1" fill="hold">
                                          <p:stCondLst>
                                            <p:cond delay="0"/>
                                          </p:stCondLst>
                                        </p:cTn>
                                        <p:tgtEl>
                                          <p:spTgt spid="379"/>
                                        </p:tgtEl>
                                        <p:attrNameLst>
                                          <p:attrName>style.visibility</p:attrName>
                                        </p:attrNameLst>
                                      </p:cBhvr>
                                      <p:to>
                                        <p:strVal val="visible"/>
                                      </p:to>
                                    </p:set>
                                    <p:animEffect transition="in" filter="fade">
                                      <p:cBhvr>
                                        <p:cTn id="43" dur="500"/>
                                        <p:tgtEl>
                                          <p:spTgt spid="379"/>
                                        </p:tgtEl>
                                      </p:cBhvr>
                                    </p:animEffect>
                                  </p:childTnLst>
                                </p:cTn>
                              </p:par>
                              <p:par>
                                <p:cTn id="44" presetID="10" presetClass="entr" presetSubtype="0" fill="hold" nodeType="withEffect">
                                  <p:stCondLst>
                                    <p:cond delay="0"/>
                                  </p:stCondLst>
                                  <p:childTnLst>
                                    <p:set>
                                      <p:cBhvr>
                                        <p:cTn id="45" dur="1" fill="hold">
                                          <p:stCondLst>
                                            <p:cond delay="0"/>
                                          </p:stCondLst>
                                        </p:cTn>
                                        <p:tgtEl>
                                          <p:spTgt spid="380"/>
                                        </p:tgtEl>
                                        <p:attrNameLst>
                                          <p:attrName>style.visibility</p:attrName>
                                        </p:attrNameLst>
                                      </p:cBhvr>
                                      <p:to>
                                        <p:strVal val="visible"/>
                                      </p:to>
                                    </p:set>
                                    <p:animEffect transition="in" filter="fade">
                                      <p:cBhvr>
                                        <p:cTn id="46" dur="500"/>
                                        <p:tgtEl>
                                          <p:spTgt spid="380"/>
                                        </p:tgtEl>
                                      </p:cBhvr>
                                    </p:animEffect>
                                  </p:childTnLst>
                                </p:cTn>
                              </p:par>
                              <p:par>
                                <p:cTn id="47" presetID="10" presetClass="entr" presetSubtype="0" fill="hold" nodeType="withEffect">
                                  <p:stCondLst>
                                    <p:cond delay="0"/>
                                  </p:stCondLst>
                                  <p:childTnLst>
                                    <p:set>
                                      <p:cBhvr>
                                        <p:cTn id="48" dur="1" fill="hold">
                                          <p:stCondLst>
                                            <p:cond delay="0"/>
                                          </p:stCondLst>
                                        </p:cTn>
                                        <p:tgtEl>
                                          <p:spTgt spid="381"/>
                                        </p:tgtEl>
                                        <p:attrNameLst>
                                          <p:attrName>style.visibility</p:attrName>
                                        </p:attrNameLst>
                                      </p:cBhvr>
                                      <p:to>
                                        <p:strVal val="visible"/>
                                      </p:to>
                                    </p:set>
                                    <p:animEffect transition="in" filter="fade">
                                      <p:cBhvr>
                                        <p:cTn id="49" dur="500"/>
                                        <p:tgtEl>
                                          <p:spTgt spid="381"/>
                                        </p:tgtEl>
                                      </p:cBhvr>
                                    </p:animEffect>
                                  </p:childTnLst>
                                </p:cTn>
                              </p:par>
                              <p:par>
                                <p:cTn id="50" presetID="10" presetClass="entr" presetSubtype="0" fill="hold" nodeType="withEffect">
                                  <p:stCondLst>
                                    <p:cond delay="0"/>
                                  </p:stCondLst>
                                  <p:childTnLst>
                                    <p:set>
                                      <p:cBhvr>
                                        <p:cTn id="51" dur="1" fill="hold">
                                          <p:stCondLst>
                                            <p:cond delay="0"/>
                                          </p:stCondLst>
                                        </p:cTn>
                                        <p:tgtEl>
                                          <p:spTgt spid="382"/>
                                        </p:tgtEl>
                                        <p:attrNameLst>
                                          <p:attrName>style.visibility</p:attrName>
                                        </p:attrNameLst>
                                      </p:cBhvr>
                                      <p:to>
                                        <p:strVal val="visible"/>
                                      </p:to>
                                    </p:set>
                                    <p:animEffect transition="in" filter="fade">
                                      <p:cBhvr>
                                        <p:cTn id="52" dur="500"/>
                                        <p:tgtEl>
                                          <p:spTgt spid="382"/>
                                        </p:tgtEl>
                                      </p:cBhvr>
                                    </p:animEffect>
                                  </p:childTnLst>
                                </p:cTn>
                              </p:par>
                              <p:par>
                                <p:cTn id="53" presetID="10" presetClass="entr" presetSubtype="0" fill="hold" nodeType="withEffect">
                                  <p:stCondLst>
                                    <p:cond delay="0"/>
                                  </p:stCondLst>
                                  <p:childTnLst>
                                    <p:set>
                                      <p:cBhvr>
                                        <p:cTn id="54" dur="1" fill="hold">
                                          <p:stCondLst>
                                            <p:cond delay="0"/>
                                          </p:stCondLst>
                                        </p:cTn>
                                        <p:tgtEl>
                                          <p:spTgt spid="383"/>
                                        </p:tgtEl>
                                        <p:attrNameLst>
                                          <p:attrName>style.visibility</p:attrName>
                                        </p:attrNameLst>
                                      </p:cBhvr>
                                      <p:to>
                                        <p:strVal val="visible"/>
                                      </p:to>
                                    </p:set>
                                    <p:animEffect transition="in" filter="fade">
                                      <p:cBhvr>
                                        <p:cTn id="55" dur="500"/>
                                        <p:tgtEl>
                                          <p:spTgt spid="383"/>
                                        </p:tgtEl>
                                      </p:cBhvr>
                                    </p:animEffect>
                                  </p:childTnLst>
                                </p:cTn>
                              </p:par>
                              <p:par>
                                <p:cTn id="56" presetID="10" presetClass="entr" presetSubtype="0" fill="hold" nodeType="withEffect">
                                  <p:stCondLst>
                                    <p:cond delay="0"/>
                                  </p:stCondLst>
                                  <p:childTnLst>
                                    <p:set>
                                      <p:cBhvr>
                                        <p:cTn id="57" dur="1" fill="hold">
                                          <p:stCondLst>
                                            <p:cond delay="0"/>
                                          </p:stCondLst>
                                        </p:cTn>
                                        <p:tgtEl>
                                          <p:spTgt spid="384"/>
                                        </p:tgtEl>
                                        <p:attrNameLst>
                                          <p:attrName>style.visibility</p:attrName>
                                        </p:attrNameLst>
                                      </p:cBhvr>
                                      <p:to>
                                        <p:strVal val="visible"/>
                                      </p:to>
                                    </p:set>
                                    <p:animEffect transition="in" filter="fade">
                                      <p:cBhvr>
                                        <p:cTn id="58" dur="500"/>
                                        <p:tgtEl>
                                          <p:spTgt spid="384"/>
                                        </p:tgtEl>
                                      </p:cBhvr>
                                    </p:animEffect>
                                  </p:childTnLst>
                                </p:cTn>
                              </p:par>
                              <p:par>
                                <p:cTn id="59" presetID="10" presetClass="entr" presetSubtype="0" fill="hold" nodeType="withEffect">
                                  <p:stCondLst>
                                    <p:cond delay="0"/>
                                  </p:stCondLst>
                                  <p:childTnLst>
                                    <p:set>
                                      <p:cBhvr>
                                        <p:cTn id="60" dur="1" fill="hold">
                                          <p:stCondLst>
                                            <p:cond delay="0"/>
                                          </p:stCondLst>
                                        </p:cTn>
                                        <p:tgtEl>
                                          <p:spTgt spid="385"/>
                                        </p:tgtEl>
                                        <p:attrNameLst>
                                          <p:attrName>style.visibility</p:attrName>
                                        </p:attrNameLst>
                                      </p:cBhvr>
                                      <p:to>
                                        <p:strVal val="visible"/>
                                      </p:to>
                                    </p:set>
                                    <p:animEffect transition="in" filter="fade">
                                      <p:cBhvr>
                                        <p:cTn id="61" dur="500"/>
                                        <p:tgtEl>
                                          <p:spTgt spid="385"/>
                                        </p:tgtEl>
                                      </p:cBhvr>
                                    </p:animEffect>
                                  </p:childTnLst>
                                </p:cTn>
                              </p:par>
                              <p:par>
                                <p:cTn id="62" presetID="10" presetClass="entr" presetSubtype="0" fill="hold" nodeType="withEffect">
                                  <p:stCondLst>
                                    <p:cond delay="0"/>
                                  </p:stCondLst>
                                  <p:childTnLst>
                                    <p:set>
                                      <p:cBhvr>
                                        <p:cTn id="63" dur="1" fill="hold">
                                          <p:stCondLst>
                                            <p:cond delay="0"/>
                                          </p:stCondLst>
                                        </p:cTn>
                                        <p:tgtEl>
                                          <p:spTgt spid="386"/>
                                        </p:tgtEl>
                                        <p:attrNameLst>
                                          <p:attrName>style.visibility</p:attrName>
                                        </p:attrNameLst>
                                      </p:cBhvr>
                                      <p:to>
                                        <p:strVal val="visible"/>
                                      </p:to>
                                    </p:set>
                                    <p:animEffect transition="in" filter="fade">
                                      <p:cBhvr>
                                        <p:cTn id="64" dur="500"/>
                                        <p:tgtEl>
                                          <p:spTgt spid="386"/>
                                        </p:tgtEl>
                                      </p:cBhvr>
                                    </p:animEffect>
                                  </p:childTnLst>
                                </p:cTn>
                              </p:par>
                              <p:par>
                                <p:cTn id="65" presetID="10" presetClass="entr" presetSubtype="0" fill="hold" nodeType="withEffect">
                                  <p:stCondLst>
                                    <p:cond delay="0"/>
                                  </p:stCondLst>
                                  <p:childTnLst>
                                    <p:set>
                                      <p:cBhvr>
                                        <p:cTn id="66" dur="1" fill="hold">
                                          <p:stCondLst>
                                            <p:cond delay="0"/>
                                          </p:stCondLst>
                                        </p:cTn>
                                        <p:tgtEl>
                                          <p:spTgt spid="387"/>
                                        </p:tgtEl>
                                        <p:attrNameLst>
                                          <p:attrName>style.visibility</p:attrName>
                                        </p:attrNameLst>
                                      </p:cBhvr>
                                      <p:to>
                                        <p:strVal val="visible"/>
                                      </p:to>
                                    </p:set>
                                    <p:animEffect transition="in" filter="fade">
                                      <p:cBhvr>
                                        <p:cTn id="67" dur="500"/>
                                        <p:tgtEl>
                                          <p:spTgt spid="387"/>
                                        </p:tgtEl>
                                      </p:cBhvr>
                                    </p:animEffect>
                                  </p:childTnLst>
                                </p:cTn>
                              </p:par>
                              <p:par>
                                <p:cTn id="68" presetID="10" presetClass="entr" presetSubtype="0" fill="hold" nodeType="withEffect">
                                  <p:stCondLst>
                                    <p:cond delay="0"/>
                                  </p:stCondLst>
                                  <p:childTnLst>
                                    <p:set>
                                      <p:cBhvr>
                                        <p:cTn id="69" dur="1" fill="hold">
                                          <p:stCondLst>
                                            <p:cond delay="0"/>
                                          </p:stCondLst>
                                        </p:cTn>
                                        <p:tgtEl>
                                          <p:spTgt spid="388"/>
                                        </p:tgtEl>
                                        <p:attrNameLst>
                                          <p:attrName>style.visibility</p:attrName>
                                        </p:attrNameLst>
                                      </p:cBhvr>
                                      <p:to>
                                        <p:strVal val="visible"/>
                                      </p:to>
                                    </p:set>
                                    <p:animEffect transition="in" filter="fade">
                                      <p:cBhvr>
                                        <p:cTn id="70" dur="500"/>
                                        <p:tgtEl>
                                          <p:spTgt spid="388"/>
                                        </p:tgtEl>
                                      </p:cBhvr>
                                    </p:animEffect>
                                  </p:childTnLst>
                                </p:cTn>
                              </p:par>
                              <p:par>
                                <p:cTn id="71" presetID="10" presetClass="entr" presetSubtype="0" fill="hold" nodeType="withEffect">
                                  <p:stCondLst>
                                    <p:cond delay="0"/>
                                  </p:stCondLst>
                                  <p:childTnLst>
                                    <p:set>
                                      <p:cBhvr>
                                        <p:cTn id="72" dur="1" fill="hold">
                                          <p:stCondLst>
                                            <p:cond delay="0"/>
                                          </p:stCondLst>
                                        </p:cTn>
                                        <p:tgtEl>
                                          <p:spTgt spid="389"/>
                                        </p:tgtEl>
                                        <p:attrNameLst>
                                          <p:attrName>style.visibility</p:attrName>
                                        </p:attrNameLst>
                                      </p:cBhvr>
                                      <p:to>
                                        <p:strVal val="visible"/>
                                      </p:to>
                                    </p:set>
                                    <p:animEffect transition="in" filter="fade">
                                      <p:cBhvr>
                                        <p:cTn id="73" dur="500"/>
                                        <p:tgtEl>
                                          <p:spTgt spid="389"/>
                                        </p:tgtEl>
                                      </p:cBhvr>
                                    </p:animEffect>
                                  </p:childTnLst>
                                </p:cTn>
                              </p:par>
                              <p:par>
                                <p:cTn id="74" presetID="10" presetClass="entr" presetSubtype="0" fill="hold" nodeType="withEffect">
                                  <p:stCondLst>
                                    <p:cond delay="0"/>
                                  </p:stCondLst>
                                  <p:childTnLst>
                                    <p:set>
                                      <p:cBhvr>
                                        <p:cTn id="75" dur="1" fill="hold">
                                          <p:stCondLst>
                                            <p:cond delay="0"/>
                                          </p:stCondLst>
                                        </p:cTn>
                                        <p:tgtEl>
                                          <p:spTgt spid="390"/>
                                        </p:tgtEl>
                                        <p:attrNameLst>
                                          <p:attrName>style.visibility</p:attrName>
                                        </p:attrNameLst>
                                      </p:cBhvr>
                                      <p:to>
                                        <p:strVal val="visible"/>
                                      </p:to>
                                    </p:set>
                                    <p:animEffect transition="in" filter="fade">
                                      <p:cBhvr>
                                        <p:cTn id="76" dur="500"/>
                                        <p:tgtEl>
                                          <p:spTgt spid="390"/>
                                        </p:tgtEl>
                                      </p:cBhvr>
                                    </p:animEffect>
                                  </p:childTnLst>
                                </p:cTn>
                              </p:par>
                              <p:par>
                                <p:cTn id="77" presetID="10" presetClass="entr" presetSubtype="0" fill="hold" nodeType="withEffect">
                                  <p:stCondLst>
                                    <p:cond delay="0"/>
                                  </p:stCondLst>
                                  <p:childTnLst>
                                    <p:set>
                                      <p:cBhvr>
                                        <p:cTn id="78" dur="1" fill="hold">
                                          <p:stCondLst>
                                            <p:cond delay="0"/>
                                          </p:stCondLst>
                                        </p:cTn>
                                        <p:tgtEl>
                                          <p:spTgt spid="391"/>
                                        </p:tgtEl>
                                        <p:attrNameLst>
                                          <p:attrName>style.visibility</p:attrName>
                                        </p:attrNameLst>
                                      </p:cBhvr>
                                      <p:to>
                                        <p:strVal val="visible"/>
                                      </p:to>
                                    </p:set>
                                    <p:animEffect transition="in" filter="fade">
                                      <p:cBhvr>
                                        <p:cTn id="79" dur="500"/>
                                        <p:tgtEl>
                                          <p:spTgt spid="391"/>
                                        </p:tgtEl>
                                      </p:cBhvr>
                                    </p:animEffect>
                                  </p:childTnLst>
                                </p:cTn>
                              </p:par>
                              <p:par>
                                <p:cTn id="80" presetID="10" presetClass="entr" presetSubtype="0" fill="hold" nodeType="withEffect">
                                  <p:stCondLst>
                                    <p:cond delay="0"/>
                                  </p:stCondLst>
                                  <p:childTnLst>
                                    <p:set>
                                      <p:cBhvr>
                                        <p:cTn id="81" dur="1" fill="hold">
                                          <p:stCondLst>
                                            <p:cond delay="0"/>
                                          </p:stCondLst>
                                        </p:cTn>
                                        <p:tgtEl>
                                          <p:spTgt spid="392"/>
                                        </p:tgtEl>
                                        <p:attrNameLst>
                                          <p:attrName>style.visibility</p:attrName>
                                        </p:attrNameLst>
                                      </p:cBhvr>
                                      <p:to>
                                        <p:strVal val="visible"/>
                                      </p:to>
                                    </p:set>
                                    <p:animEffect transition="in" filter="fade">
                                      <p:cBhvr>
                                        <p:cTn id="82" dur="500"/>
                                        <p:tgtEl>
                                          <p:spTgt spid="392"/>
                                        </p:tgtEl>
                                      </p:cBhvr>
                                    </p:animEffect>
                                  </p:childTnLst>
                                </p:cTn>
                              </p:par>
                              <p:par>
                                <p:cTn id="83" presetID="10" presetClass="entr" presetSubtype="0" fill="hold" nodeType="withEffect">
                                  <p:stCondLst>
                                    <p:cond delay="0"/>
                                  </p:stCondLst>
                                  <p:childTnLst>
                                    <p:set>
                                      <p:cBhvr>
                                        <p:cTn id="84" dur="1" fill="hold">
                                          <p:stCondLst>
                                            <p:cond delay="0"/>
                                          </p:stCondLst>
                                        </p:cTn>
                                        <p:tgtEl>
                                          <p:spTgt spid="428"/>
                                        </p:tgtEl>
                                        <p:attrNameLst>
                                          <p:attrName>style.visibility</p:attrName>
                                        </p:attrNameLst>
                                      </p:cBhvr>
                                      <p:to>
                                        <p:strVal val="visible"/>
                                      </p:to>
                                    </p:set>
                                    <p:animEffect transition="in" filter="fade">
                                      <p:cBhvr>
                                        <p:cTn id="85" dur="500"/>
                                        <p:tgtEl>
                                          <p:spTgt spid="428"/>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393"/>
                                        </p:tgtEl>
                                        <p:attrNameLst>
                                          <p:attrName>style.visibility</p:attrName>
                                        </p:attrNameLst>
                                      </p:cBhvr>
                                      <p:to>
                                        <p:strVal val="visible"/>
                                      </p:to>
                                    </p:set>
                                    <p:animEffect transition="in" filter="fade">
                                      <p:cBhvr>
                                        <p:cTn id="90" dur="500"/>
                                        <p:tgtEl>
                                          <p:spTgt spid="393"/>
                                        </p:tgtEl>
                                      </p:cBhvr>
                                    </p:animEffect>
                                  </p:childTnLst>
                                </p:cTn>
                              </p:par>
                              <p:par>
                                <p:cTn id="91" presetID="10" presetClass="entr" presetSubtype="0" fill="hold" nodeType="withEffect">
                                  <p:stCondLst>
                                    <p:cond delay="0"/>
                                  </p:stCondLst>
                                  <p:childTnLst>
                                    <p:set>
                                      <p:cBhvr>
                                        <p:cTn id="92" dur="1" fill="hold">
                                          <p:stCondLst>
                                            <p:cond delay="0"/>
                                          </p:stCondLst>
                                        </p:cTn>
                                        <p:tgtEl>
                                          <p:spTgt spid="394"/>
                                        </p:tgtEl>
                                        <p:attrNameLst>
                                          <p:attrName>style.visibility</p:attrName>
                                        </p:attrNameLst>
                                      </p:cBhvr>
                                      <p:to>
                                        <p:strVal val="visible"/>
                                      </p:to>
                                    </p:set>
                                    <p:animEffect transition="in" filter="fade">
                                      <p:cBhvr>
                                        <p:cTn id="93" dur="500"/>
                                        <p:tgtEl>
                                          <p:spTgt spid="394"/>
                                        </p:tgtEl>
                                      </p:cBhvr>
                                    </p:animEffect>
                                  </p:childTnLst>
                                </p:cTn>
                              </p:par>
                              <p:par>
                                <p:cTn id="94" presetID="10" presetClass="entr" presetSubtype="0" fill="hold" nodeType="withEffect">
                                  <p:stCondLst>
                                    <p:cond delay="0"/>
                                  </p:stCondLst>
                                  <p:childTnLst>
                                    <p:set>
                                      <p:cBhvr>
                                        <p:cTn id="95" dur="1" fill="hold">
                                          <p:stCondLst>
                                            <p:cond delay="0"/>
                                          </p:stCondLst>
                                        </p:cTn>
                                        <p:tgtEl>
                                          <p:spTgt spid="395"/>
                                        </p:tgtEl>
                                        <p:attrNameLst>
                                          <p:attrName>style.visibility</p:attrName>
                                        </p:attrNameLst>
                                      </p:cBhvr>
                                      <p:to>
                                        <p:strVal val="visible"/>
                                      </p:to>
                                    </p:set>
                                    <p:animEffect transition="in" filter="fade">
                                      <p:cBhvr>
                                        <p:cTn id="96" dur="500"/>
                                        <p:tgtEl>
                                          <p:spTgt spid="395"/>
                                        </p:tgtEl>
                                      </p:cBhvr>
                                    </p:animEffect>
                                  </p:childTnLst>
                                </p:cTn>
                              </p:par>
                              <p:par>
                                <p:cTn id="97" presetID="10" presetClass="entr" presetSubtype="0" fill="hold" nodeType="withEffect">
                                  <p:stCondLst>
                                    <p:cond delay="0"/>
                                  </p:stCondLst>
                                  <p:childTnLst>
                                    <p:set>
                                      <p:cBhvr>
                                        <p:cTn id="98" dur="1" fill="hold">
                                          <p:stCondLst>
                                            <p:cond delay="0"/>
                                          </p:stCondLst>
                                        </p:cTn>
                                        <p:tgtEl>
                                          <p:spTgt spid="396"/>
                                        </p:tgtEl>
                                        <p:attrNameLst>
                                          <p:attrName>style.visibility</p:attrName>
                                        </p:attrNameLst>
                                      </p:cBhvr>
                                      <p:to>
                                        <p:strVal val="visible"/>
                                      </p:to>
                                    </p:set>
                                    <p:animEffect transition="in" filter="fade">
                                      <p:cBhvr>
                                        <p:cTn id="99" dur="500"/>
                                        <p:tgtEl>
                                          <p:spTgt spid="396"/>
                                        </p:tgtEl>
                                      </p:cBhvr>
                                    </p:animEffect>
                                  </p:childTnLst>
                                </p:cTn>
                              </p:par>
                              <p:par>
                                <p:cTn id="100" presetID="10" presetClass="entr" presetSubtype="0" fill="hold" nodeType="withEffect">
                                  <p:stCondLst>
                                    <p:cond delay="0"/>
                                  </p:stCondLst>
                                  <p:childTnLst>
                                    <p:set>
                                      <p:cBhvr>
                                        <p:cTn id="101" dur="1" fill="hold">
                                          <p:stCondLst>
                                            <p:cond delay="0"/>
                                          </p:stCondLst>
                                        </p:cTn>
                                        <p:tgtEl>
                                          <p:spTgt spid="397"/>
                                        </p:tgtEl>
                                        <p:attrNameLst>
                                          <p:attrName>style.visibility</p:attrName>
                                        </p:attrNameLst>
                                      </p:cBhvr>
                                      <p:to>
                                        <p:strVal val="visible"/>
                                      </p:to>
                                    </p:set>
                                    <p:animEffect transition="in" filter="fade">
                                      <p:cBhvr>
                                        <p:cTn id="102" dur="500"/>
                                        <p:tgtEl>
                                          <p:spTgt spid="397"/>
                                        </p:tgtEl>
                                      </p:cBhvr>
                                    </p:animEffect>
                                  </p:childTnLst>
                                </p:cTn>
                              </p:par>
                              <p:par>
                                <p:cTn id="103" presetID="10" presetClass="entr" presetSubtype="0" fill="hold" nodeType="withEffect">
                                  <p:stCondLst>
                                    <p:cond delay="0"/>
                                  </p:stCondLst>
                                  <p:childTnLst>
                                    <p:set>
                                      <p:cBhvr>
                                        <p:cTn id="104" dur="1" fill="hold">
                                          <p:stCondLst>
                                            <p:cond delay="0"/>
                                          </p:stCondLst>
                                        </p:cTn>
                                        <p:tgtEl>
                                          <p:spTgt spid="398"/>
                                        </p:tgtEl>
                                        <p:attrNameLst>
                                          <p:attrName>style.visibility</p:attrName>
                                        </p:attrNameLst>
                                      </p:cBhvr>
                                      <p:to>
                                        <p:strVal val="visible"/>
                                      </p:to>
                                    </p:set>
                                    <p:animEffect transition="in" filter="fade">
                                      <p:cBhvr>
                                        <p:cTn id="105" dur="500"/>
                                        <p:tgtEl>
                                          <p:spTgt spid="398"/>
                                        </p:tgtEl>
                                      </p:cBhvr>
                                    </p:animEffect>
                                  </p:childTnLst>
                                </p:cTn>
                              </p:par>
                              <p:par>
                                <p:cTn id="106" presetID="10" presetClass="entr" presetSubtype="0" fill="hold" nodeType="withEffect">
                                  <p:stCondLst>
                                    <p:cond delay="0"/>
                                  </p:stCondLst>
                                  <p:childTnLst>
                                    <p:set>
                                      <p:cBhvr>
                                        <p:cTn id="107" dur="1" fill="hold">
                                          <p:stCondLst>
                                            <p:cond delay="0"/>
                                          </p:stCondLst>
                                        </p:cTn>
                                        <p:tgtEl>
                                          <p:spTgt spid="399"/>
                                        </p:tgtEl>
                                        <p:attrNameLst>
                                          <p:attrName>style.visibility</p:attrName>
                                        </p:attrNameLst>
                                      </p:cBhvr>
                                      <p:to>
                                        <p:strVal val="visible"/>
                                      </p:to>
                                    </p:set>
                                    <p:animEffect transition="in" filter="fade">
                                      <p:cBhvr>
                                        <p:cTn id="108" dur="500"/>
                                        <p:tgtEl>
                                          <p:spTgt spid="399"/>
                                        </p:tgtEl>
                                      </p:cBhvr>
                                    </p:animEffect>
                                  </p:childTnLst>
                                </p:cTn>
                              </p:par>
                              <p:par>
                                <p:cTn id="109" presetID="10" presetClass="entr" presetSubtype="0" fill="hold" nodeType="withEffect">
                                  <p:stCondLst>
                                    <p:cond delay="0"/>
                                  </p:stCondLst>
                                  <p:childTnLst>
                                    <p:set>
                                      <p:cBhvr>
                                        <p:cTn id="110" dur="1" fill="hold">
                                          <p:stCondLst>
                                            <p:cond delay="0"/>
                                          </p:stCondLst>
                                        </p:cTn>
                                        <p:tgtEl>
                                          <p:spTgt spid="400"/>
                                        </p:tgtEl>
                                        <p:attrNameLst>
                                          <p:attrName>style.visibility</p:attrName>
                                        </p:attrNameLst>
                                      </p:cBhvr>
                                      <p:to>
                                        <p:strVal val="visible"/>
                                      </p:to>
                                    </p:set>
                                    <p:animEffect transition="in" filter="fade">
                                      <p:cBhvr>
                                        <p:cTn id="111" dur="500"/>
                                        <p:tgtEl>
                                          <p:spTgt spid="400"/>
                                        </p:tgtEl>
                                      </p:cBhvr>
                                    </p:animEffect>
                                  </p:childTnLst>
                                </p:cTn>
                              </p:par>
                              <p:par>
                                <p:cTn id="112" presetID="10" presetClass="entr" presetSubtype="0" fill="hold" nodeType="withEffect">
                                  <p:stCondLst>
                                    <p:cond delay="0"/>
                                  </p:stCondLst>
                                  <p:childTnLst>
                                    <p:set>
                                      <p:cBhvr>
                                        <p:cTn id="113" dur="1" fill="hold">
                                          <p:stCondLst>
                                            <p:cond delay="0"/>
                                          </p:stCondLst>
                                        </p:cTn>
                                        <p:tgtEl>
                                          <p:spTgt spid="401"/>
                                        </p:tgtEl>
                                        <p:attrNameLst>
                                          <p:attrName>style.visibility</p:attrName>
                                        </p:attrNameLst>
                                      </p:cBhvr>
                                      <p:to>
                                        <p:strVal val="visible"/>
                                      </p:to>
                                    </p:set>
                                    <p:animEffect transition="in" filter="fade">
                                      <p:cBhvr>
                                        <p:cTn id="114" dur="500"/>
                                        <p:tgtEl>
                                          <p:spTgt spid="401"/>
                                        </p:tgtEl>
                                      </p:cBhvr>
                                    </p:animEffect>
                                  </p:childTnLst>
                                </p:cTn>
                              </p:par>
                              <p:par>
                                <p:cTn id="115" presetID="10" presetClass="entr" presetSubtype="0" fill="hold" nodeType="withEffect">
                                  <p:stCondLst>
                                    <p:cond delay="0"/>
                                  </p:stCondLst>
                                  <p:childTnLst>
                                    <p:set>
                                      <p:cBhvr>
                                        <p:cTn id="116" dur="1" fill="hold">
                                          <p:stCondLst>
                                            <p:cond delay="0"/>
                                          </p:stCondLst>
                                        </p:cTn>
                                        <p:tgtEl>
                                          <p:spTgt spid="403"/>
                                        </p:tgtEl>
                                        <p:attrNameLst>
                                          <p:attrName>style.visibility</p:attrName>
                                        </p:attrNameLst>
                                      </p:cBhvr>
                                      <p:to>
                                        <p:strVal val="visible"/>
                                      </p:to>
                                    </p:set>
                                    <p:animEffect transition="in" filter="fade">
                                      <p:cBhvr>
                                        <p:cTn id="117" dur="500"/>
                                        <p:tgtEl>
                                          <p:spTgt spid="403"/>
                                        </p:tgtEl>
                                      </p:cBhvr>
                                    </p:animEffect>
                                  </p:childTnLst>
                                </p:cTn>
                              </p:par>
                              <p:par>
                                <p:cTn id="118" presetID="10" presetClass="entr" presetSubtype="0" fill="hold" nodeType="withEffect">
                                  <p:stCondLst>
                                    <p:cond delay="0"/>
                                  </p:stCondLst>
                                  <p:childTnLst>
                                    <p:set>
                                      <p:cBhvr>
                                        <p:cTn id="119" dur="1" fill="hold">
                                          <p:stCondLst>
                                            <p:cond delay="0"/>
                                          </p:stCondLst>
                                        </p:cTn>
                                        <p:tgtEl>
                                          <p:spTgt spid="405"/>
                                        </p:tgtEl>
                                        <p:attrNameLst>
                                          <p:attrName>style.visibility</p:attrName>
                                        </p:attrNameLst>
                                      </p:cBhvr>
                                      <p:to>
                                        <p:strVal val="visible"/>
                                      </p:to>
                                    </p:set>
                                    <p:animEffect transition="in" filter="fade">
                                      <p:cBhvr>
                                        <p:cTn id="120" dur="500"/>
                                        <p:tgtEl>
                                          <p:spTgt spid="405"/>
                                        </p:tgtEl>
                                      </p:cBhvr>
                                    </p:animEffect>
                                  </p:childTnLst>
                                </p:cTn>
                              </p:par>
                              <p:par>
                                <p:cTn id="121" presetID="10" presetClass="entr" presetSubtype="0" fill="hold" nodeType="withEffect">
                                  <p:stCondLst>
                                    <p:cond delay="0"/>
                                  </p:stCondLst>
                                  <p:childTnLst>
                                    <p:set>
                                      <p:cBhvr>
                                        <p:cTn id="122" dur="1" fill="hold">
                                          <p:stCondLst>
                                            <p:cond delay="0"/>
                                          </p:stCondLst>
                                        </p:cTn>
                                        <p:tgtEl>
                                          <p:spTgt spid="406"/>
                                        </p:tgtEl>
                                        <p:attrNameLst>
                                          <p:attrName>style.visibility</p:attrName>
                                        </p:attrNameLst>
                                      </p:cBhvr>
                                      <p:to>
                                        <p:strVal val="visible"/>
                                      </p:to>
                                    </p:set>
                                    <p:animEffect transition="in" filter="fade">
                                      <p:cBhvr>
                                        <p:cTn id="123" dur="500"/>
                                        <p:tgtEl>
                                          <p:spTgt spid="406"/>
                                        </p:tgtEl>
                                      </p:cBhvr>
                                    </p:animEffect>
                                  </p:childTnLst>
                                </p:cTn>
                              </p:par>
                              <p:par>
                                <p:cTn id="124" presetID="10" presetClass="entr" presetSubtype="0" fill="hold" nodeType="withEffect">
                                  <p:stCondLst>
                                    <p:cond delay="0"/>
                                  </p:stCondLst>
                                  <p:childTnLst>
                                    <p:set>
                                      <p:cBhvr>
                                        <p:cTn id="125" dur="1" fill="hold">
                                          <p:stCondLst>
                                            <p:cond delay="0"/>
                                          </p:stCondLst>
                                        </p:cTn>
                                        <p:tgtEl>
                                          <p:spTgt spid="407"/>
                                        </p:tgtEl>
                                        <p:attrNameLst>
                                          <p:attrName>style.visibility</p:attrName>
                                        </p:attrNameLst>
                                      </p:cBhvr>
                                      <p:to>
                                        <p:strVal val="visible"/>
                                      </p:to>
                                    </p:set>
                                    <p:animEffect transition="in" filter="fade">
                                      <p:cBhvr>
                                        <p:cTn id="126" dur="500"/>
                                        <p:tgtEl>
                                          <p:spTgt spid="407"/>
                                        </p:tgtEl>
                                      </p:cBhvr>
                                    </p:animEffect>
                                  </p:childTnLst>
                                </p:cTn>
                              </p:par>
                              <p:par>
                                <p:cTn id="127" presetID="10" presetClass="entr" presetSubtype="0" fill="hold" nodeType="withEffect">
                                  <p:stCondLst>
                                    <p:cond delay="0"/>
                                  </p:stCondLst>
                                  <p:childTnLst>
                                    <p:set>
                                      <p:cBhvr>
                                        <p:cTn id="128" dur="1" fill="hold">
                                          <p:stCondLst>
                                            <p:cond delay="0"/>
                                          </p:stCondLst>
                                        </p:cTn>
                                        <p:tgtEl>
                                          <p:spTgt spid="408"/>
                                        </p:tgtEl>
                                        <p:attrNameLst>
                                          <p:attrName>style.visibility</p:attrName>
                                        </p:attrNameLst>
                                      </p:cBhvr>
                                      <p:to>
                                        <p:strVal val="visible"/>
                                      </p:to>
                                    </p:set>
                                    <p:animEffect transition="in" filter="fade">
                                      <p:cBhvr>
                                        <p:cTn id="129" dur="500"/>
                                        <p:tgtEl>
                                          <p:spTgt spid="408"/>
                                        </p:tgtEl>
                                      </p:cBhvr>
                                    </p:animEffect>
                                  </p:childTnLst>
                                </p:cTn>
                              </p:par>
                              <p:par>
                                <p:cTn id="130" presetID="10" presetClass="entr" presetSubtype="0" fill="hold" nodeType="withEffect">
                                  <p:stCondLst>
                                    <p:cond delay="0"/>
                                  </p:stCondLst>
                                  <p:childTnLst>
                                    <p:set>
                                      <p:cBhvr>
                                        <p:cTn id="131" dur="1" fill="hold">
                                          <p:stCondLst>
                                            <p:cond delay="0"/>
                                          </p:stCondLst>
                                        </p:cTn>
                                        <p:tgtEl>
                                          <p:spTgt spid="404"/>
                                        </p:tgtEl>
                                        <p:attrNameLst>
                                          <p:attrName>style.visibility</p:attrName>
                                        </p:attrNameLst>
                                      </p:cBhvr>
                                      <p:to>
                                        <p:strVal val="visible"/>
                                      </p:to>
                                    </p:set>
                                    <p:animEffect transition="in" filter="fade">
                                      <p:cBhvr>
                                        <p:cTn id="132" dur="500"/>
                                        <p:tgtEl>
                                          <p:spTgt spid="404"/>
                                        </p:tgtEl>
                                      </p:cBhvr>
                                    </p:animEffect>
                                  </p:childTnLst>
                                </p:cTn>
                              </p:par>
                              <p:par>
                                <p:cTn id="133" presetID="10" presetClass="entr" presetSubtype="0" fill="hold" nodeType="withEffect">
                                  <p:stCondLst>
                                    <p:cond delay="0"/>
                                  </p:stCondLst>
                                  <p:childTnLst>
                                    <p:set>
                                      <p:cBhvr>
                                        <p:cTn id="134" dur="1" fill="hold">
                                          <p:stCondLst>
                                            <p:cond delay="0"/>
                                          </p:stCondLst>
                                        </p:cTn>
                                        <p:tgtEl>
                                          <p:spTgt spid="409"/>
                                        </p:tgtEl>
                                        <p:attrNameLst>
                                          <p:attrName>style.visibility</p:attrName>
                                        </p:attrNameLst>
                                      </p:cBhvr>
                                      <p:to>
                                        <p:strVal val="visible"/>
                                      </p:to>
                                    </p:set>
                                    <p:animEffect transition="in" filter="fade">
                                      <p:cBhvr>
                                        <p:cTn id="135" dur="500"/>
                                        <p:tgtEl>
                                          <p:spTgt spid="409"/>
                                        </p:tgtEl>
                                      </p:cBhvr>
                                    </p:animEffect>
                                  </p:childTnLst>
                                </p:cTn>
                              </p:par>
                              <p:par>
                                <p:cTn id="136" presetID="10" presetClass="entr" presetSubtype="0" fill="hold" nodeType="withEffect">
                                  <p:stCondLst>
                                    <p:cond delay="0"/>
                                  </p:stCondLst>
                                  <p:childTnLst>
                                    <p:set>
                                      <p:cBhvr>
                                        <p:cTn id="137" dur="1" fill="hold">
                                          <p:stCondLst>
                                            <p:cond delay="0"/>
                                          </p:stCondLst>
                                        </p:cTn>
                                        <p:tgtEl>
                                          <p:spTgt spid="402"/>
                                        </p:tgtEl>
                                        <p:attrNameLst>
                                          <p:attrName>style.visibility</p:attrName>
                                        </p:attrNameLst>
                                      </p:cBhvr>
                                      <p:to>
                                        <p:strVal val="visible"/>
                                      </p:to>
                                    </p:set>
                                    <p:animEffect transition="in" filter="fade">
                                      <p:cBhvr>
                                        <p:cTn id="138" dur="500"/>
                                        <p:tgtEl>
                                          <p:spTgt spid="402"/>
                                        </p:tgtEl>
                                      </p:cBhvr>
                                    </p:animEffect>
                                  </p:childTnLst>
                                </p:cTn>
                              </p:par>
                              <p:par>
                                <p:cTn id="139" presetID="10" presetClass="entr" presetSubtype="0" fill="hold" nodeType="withEffect">
                                  <p:stCondLst>
                                    <p:cond delay="0"/>
                                  </p:stCondLst>
                                  <p:childTnLst>
                                    <p:set>
                                      <p:cBhvr>
                                        <p:cTn id="140" dur="1" fill="hold">
                                          <p:stCondLst>
                                            <p:cond delay="0"/>
                                          </p:stCondLst>
                                        </p:cTn>
                                        <p:tgtEl>
                                          <p:spTgt spid="410"/>
                                        </p:tgtEl>
                                        <p:attrNameLst>
                                          <p:attrName>style.visibility</p:attrName>
                                        </p:attrNameLst>
                                      </p:cBhvr>
                                      <p:to>
                                        <p:strVal val="visible"/>
                                      </p:to>
                                    </p:set>
                                    <p:animEffect transition="in" filter="fade">
                                      <p:cBhvr>
                                        <p:cTn id="141" dur="500"/>
                                        <p:tgtEl>
                                          <p:spTgt spid="410"/>
                                        </p:tgtEl>
                                      </p:cBhvr>
                                    </p:animEffect>
                                  </p:childTnLst>
                                </p:cTn>
                              </p:par>
                              <p:par>
                                <p:cTn id="142" presetID="10" presetClass="entr" presetSubtype="0" fill="hold" nodeType="withEffect">
                                  <p:stCondLst>
                                    <p:cond delay="0"/>
                                  </p:stCondLst>
                                  <p:childTnLst>
                                    <p:set>
                                      <p:cBhvr>
                                        <p:cTn id="143" dur="1" fill="hold">
                                          <p:stCondLst>
                                            <p:cond delay="0"/>
                                          </p:stCondLst>
                                        </p:cTn>
                                        <p:tgtEl>
                                          <p:spTgt spid="411"/>
                                        </p:tgtEl>
                                        <p:attrNameLst>
                                          <p:attrName>style.visibility</p:attrName>
                                        </p:attrNameLst>
                                      </p:cBhvr>
                                      <p:to>
                                        <p:strVal val="visible"/>
                                      </p:to>
                                    </p:set>
                                    <p:animEffect transition="in" filter="fade">
                                      <p:cBhvr>
                                        <p:cTn id="144" dur="500"/>
                                        <p:tgtEl>
                                          <p:spTgt spid="411"/>
                                        </p:tgtEl>
                                      </p:cBhvr>
                                    </p:animEffect>
                                  </p:childTnLst>
                                </p:cTn>
                              </p:par>
                              <p:par>
                                <p:cTn id="145" presetID="10" presetClass="entr" presetSubtype="0" fill="hold" nodeType="withEffect">
                                  <p:stCondLst>
                                    <p:cond delay="0"/>
                                  </p:stCondLst>
                                  <p:childTnLst>
                                    <p:set>
                                      <p:cBhvr>
                                        <p:cTn id="146" dur="1" fill="hold">
                                          <p:stCondLst>
                                            <p:cond delay="0"/>
                                          </p:stCondLst>
                                        </p:cTn>
                                        <p:tgtEl>
                                          <p:spTgt spid="412"/>
                                        </p:tgtEl>
                                        <p:attrNameLst>
                                          <p:attrName>style.visibility</p:attrName>
                                        </p:attrNameLst>
                                      </p:cBhvr>
                                      <p:to>
                                        <p:strVal val="visible"/>
                                      </p:to>
                                    </p:set>
                                    <p:animEffect transition="in" filter="fade">
                                      <p:cBhvr>
                                        <p:cTn id="147" dur="500"/>
                                        <p:tgtEl>
                                          <p:spTgt spid="412"/>
                                        </p:tgtEl>
                                      </p:cBhvr>
                                    </p:animEffect>
                                  </p:childTnLst>
                                </p:cTn>
                              </p:par>
                              <p:par>
                                <p:cTn id="148" presetID="10" presetClass="entr" presetSubtype="0" fill="hold" nodeType="withEffect">
                                  <p:stCondLst>
                                    <p:cond delay="0"/>
                                  </p:stCondLst>
                                  <p:childTnLst>
                                    <p:set>
                                      <p:cBhvr>
                                        <p:cTn id="149" dur="1" fill="hold">
                                          <p:stCondLst>
                                            <p:cond delay="0"/>
                                          </p:stCondLst>
                                        </p:cTn>
                                        <p:tgtEl>
                                          <p:spTgt spid="413"/>
                                        </p:tgtEl>
                                        <p:attrNameLst>
                                          <p:attrName>style.visibility</p:attrName>
                                        </p:attrNameLst>
                                      </p:cBhvr>
                                      <p:to>
                                        <p:strVal val="visible"/>
                                      </p:to>
                                    </p:set>
                                    <p:animEffect transition="in" filter="fade">
                                      <p:cBhvr>
                                        <p:cTn id="150" dur="500"/>
                                        <p:tgtEl>
                                          <p:spTgt spid="413"/>
                                        </p:tgtEl>
                                      </p:cBhvr>
                                    </p:animEffect>
                                  </p:childTnLst>
                                </p:cTn>
                              </p:par>
                              <p:par>
                                <p:cTn id="151" presetID="10" presetClass="entr" presetSubtype="0" fill="hold" nodeType="withEffect">
                                  <p:stCondLst>
                                    <p:cond delay="0"/>
                                  </p:stCondLst>
                                  <p:childTnLst>
                                    <p:set>
                                      <p:cBhvr>
                                        <p:cTn id="152" dur="1" fill="hold">
                                          <p:stCondLst>
                                            <p:cond delay="0"/>
                                          </p:stCondLst>
                                        </p:cTn>
                                        <p:tgtEl>
                                          <p:spTgt spid="414"/>
                                        </p:tgtEl>
                                        <p:attrNameLst>
                                          <p:attrName>style.visibility</p:attrName>
                                        </p:attrNameLst>
                                      </p:cBhvr>
                                      <p:to>
                                        <p:strVal val="visible"/>
                                      </p:to>
                                    </p:set>
                                    <p:animEffect transition="in" filter="fade">
                                      <p:cBhvr>
                                        <p:cTn id="153" dur="500"/>
                                        <p:tgtEl>
                                          <p:spTgt spid="414"/>
                                        </p:tgtEl>
                                      </p:cBhvr>
                                    </p:animEffect>
                                  </p:childTnLst>
                                </p:cTn>
                              </p:par>
                              <p:par>
                                <p:cTn id="154" presetID="10" presetClass="entr" presetSubtype="0" fill="hold" nodeType="withEffect">
                                  <p:stCondLst>
                                    <p:cond delay="0"/>
                                  </p:stCondLst>
                                  <p:childTnLst>
                                    <p:set>
                                      <p:cBhvr>
                                        <p:cTn id="155" dur="1" fill="hold">
                                          <p:stCondLst>
                                            <p:cond delay="0"/>
                                          </p:stCondLst>
                                        </p:cTn>
                                        <p:tgtEl>
                                          <p:spTgt spid="415"/>
                                        </p:tgtEl>
                                        <p:attrNameLst>
                                          <p:attrName>style.visibility</p:attrName>
                                        </p:attrNameLst>
                                      </p:cBhvr>
                                      <p:to>
                                        <p:strVal val="visible"/>
                                      </p:to>
                                    </p:set>
                                    <p:animEffect transition="in" filter="fade">
                                      <p:cBhvr>
                                        <p:cTn id="156" dur="500"/>
                                        <p:tgtEl>
                                          <p:spTgt spid="415"/>
                                        </p:tgtEl>
                                      </p:cBhvr>
                                    </p:animEffect>
                                  </p:childTnLst>
                                </p:cTn>
                              </p:par>
                              <p:par>
                                <p:cTn id="157" presetID="10" presetClass="entr" presetSubtype="0" fill="hold" nodeType="withEffect">
                                  <p:stCondLst>
                                    <p:cond delay="0"/>
                                  </p:stCondLst>
                                  <p:childTnLst>
                                    <p:set>
                                      <p:cBhvr>
                                        <p:cTn id="158" dur="1" fill="hold">
                                          <p:stCondLst>
                                            <p:cond delay="0"/>
                                          </p:stCondLst>
                                        </p:cTn>
                                        <p:tgtEl>
                                          <p:spTgt spid="416"/>
                                        </p:tgtEl>
                                        <p:attrNameLst>
                                          <p:attrName>style.visibility</p:attrName>
                                        </p:attrNameLst>
                                      </p:cBhvr>
                                      <p:to>
                                        <p:strVal val="visible"/>
                                      </p:to>
                                    </p:set>
                                    <p:animEffect transition="in" filter="fade">
                                      <p:cBhvr>
                                        <p:cTn id="159" dur="500"/>
                                        <p:tgtEl>
                                          <p:spTgt spid="416"/>
                                        </p:tgtEl>
                                      </p:cBhvr>
                                    </p:animEffect>
                                  </p:childTnLst>
                                </p:cTn>
                              </p:par>
                              <p:par>
                                <p:cTn id="160" presetID="10" presetClass="entr" presetSubtype="0" fill="hold" nodeType="withEffect">
                                  <p:stCondLst>
                                    <p:cond delay="0"/>
                                  </p:stCondLst>
                                  <p:childTnLst>
                                    <p:set>
                                      <p:cBhvr>
                                        <p:cTn id="161" dur="1" fill="hold">
                                          <p:stCondLst>
                                            <p:cond delay="0"/>
                                          </p:stCondLst>
                                        </p:cTn>
                                        <p:tgtEl>
                                          <p:spTgt spid="417"/>
                                        </p:tgtEl>
                                        <p:attrNameLst>
                                          <p:attrName>style.visibility</p:attrName>
                                        </p:attrNameLst>
                                      </p:cBhvr>
                                      <p:to>
                                        <p:strVal val="visible"/>
                                      </p:to>
                                    </p:set>
                                    <p:animEffect transition="in" filter="fade">
                                      <p:cBhvr>
                                        <p:cTn id="162" dur="500"/>
                                        <p:tgtEl>
                                          <p:spTgt spid="417"/>
                                        </p:tgtEl>
                                      </p:cBhvr>
                                    </p:animEffect>
                                  </p:childTnLst>
                                </p:cTn>
                              </p:par>
                              <p:par>
                                <p:cTn id="163" presetID="10" presetClass="entr" presetSubtype="0" fill="hold" nodeType="withEffect">
                                  <p:stCondLst>
                                    <p:cond delay="0"/>
                                  </p:stCondLst>
                                  <p:childTnLst>
                                    <p:set>
                                      <p:cBhvr>
                                        <p:cTn id="164" dur="1" fill="hold">
                                          <p:stCondLst>
                                            <p:cond delay="0"/>
                                          </p:stCondLst>
                                        </p:cTn>
                                        <p:tgtEl>
                                          <p:spTgt spid="418"/>
                                        </p:tgtEl>
                                        <p:attrNameLst>
                                          <p:attrName>style.visibility</p:attrName>
                                        </p:attrNameLst>
                                      </p:cBhvr>
                                      <p:to>
                                        <p:strVal val="visible"/>
                                      </p:to>
                                    </p:set>
                                    <p:animEffect transition="in" filter="fade">
                                      <p:cBhvr>
                                        <p:cTn id="165" dur="500"/>
                                        <p:tgtEl>
                                          <p:spTgt spid="418"/>
                                        </p:tgtEl>
                                      </p:cBhvr>
                                    </p:animEffect>
                                  </p:childTnLst>
                                </p:cTn>
                              </p:par>
                              <p:par>
                                <p:cTn id="166" presetID="10" presetClass="entr" presetSubtype="0" fill="hold" nodeType="withEffect">
                                  <p:stCondLst>
                                    <p:cond delay="0"/>
                                  </p:stCondLst>
                                  <p:childTnLst>
                                    <p:set>
                                      <p:cBhvr>
                                        <p:cTn id="167" dur="1" fill="hold">
                                          <p:stCondLst>
                                            <p:cond delay="0"/>
                                          </p:stCondLst>
                                        </p:cTn>
                                        <p:tgtEl>
                                          <p:spTgt spid="419"/>
                                        </p:tgtEl>
                                        <p:attrNameLst>
                                          <p:attrName>style.visibility</p:attrName>
                                        </p:attrNameLst>
                                      </p:cBhvr>
                                      <p:to>
                                        <p:strVal val="visible"/>
                                      </p:to>
                                    </p:set>
                                    <p:animEffect transition="in" filter="fade">
                                      <p:cBhvr>
                                        <p:cTn id="168" dur="500"/>
                                        <p:tgtEl>
                                          <p:spTgt spid="419"/>
                                        </p:tgtEl>
                                      </p:cBhvr>
                                    </p:animEffect>
                                  </p:childTnLst>
                                </p:cTn>
                              </p:par>
                              <p:par>
                                <p:cTn id="169" presetID="10" presetClass="entr" presetSubtype="0" fill="hold" nodeType="withEffect">
                                  <p:stCondLst>
                                    <p:cond delay="0"/>
                                  </p:stCondLst>
                                  <p:childTnLst>
                                    <p:set>
                                      <p:cBhvr>
                                        <p:cTn id="170" dur="1" fill="hold">
                                          <p:stCondLst>
                                            <p:cond delay="0"/>
                                          </p:stCondLst>
                                        </p:cTn>
                                        <p:tgtEl>
                                          <p:spTgt spid="420"/>
                                        </p:tgtEl>
                                        <p:attrNameLst>
                                          <p:attrName>style.visibility</p:attrName>
                                        </p:attrNameLst>
                                      </p:cBhvr>
                                      <p:to>
                                        <p:strVal val="visible"/>
                                      </p:to>
                                    </p:set>
                                    <p:animEffect transition="in" filter="fade">
                                      <p:cBhvr>
                                        <p:cTn id="171" dur="500"/>
                                        <p:tgtEl>
                                          <p:spTgt spid="420"/>
                                        </p:tgtEl>
                                      </p:cBhvr>
                                    </p:animEffect>
                                  </p:childTnLst>
                                </p:cTn>
                              </p:par>
                              <p:par>
                                <p:cTn id="172" presetID="10" presetClass="entr" presetSubtype="0" fill="hold" nodeType="withEffect">
                                  <p:stCondLst>
                                    <p:cond delay="0"/>
                                  </p:stCondLst>
                                  <p:childTnLst>
                                    <p:set>
                                      <p:cBhvr>
                                        <p:cTn id="173" dur="1" fill="hold">
                                          <p:stCondLst>
                                            <p:cond delay="0"/>
                                          </p:stCondLst>
                                        </p:cTn>
                                        <p:tgtEl>
                                          <p:spTgt spid="421"/>
                                        </p:tgtEl>
                                        <p:attrNameLst>
                                          <p:attrName>style.visibility</p:attrName>
                                        </p:attrNameLst>
                                      </p:cBhvr>
                                      <p:to>
                                        <p:strVal val="visible"/>
                                      </p:to>
                                    </p:set>
                                    <p:animEffect transition="in" filter="fade">
                                      <p:cBhvr>
                                        <p:cTn id="174" dur="500"/>
                                        <p:tgtEl>
                                          <p:spTgt spid="421"/>
                                        </p:tgtEl>
                                      </p:cBhvr>
                                    </p:animEffect>
                                  </p:childTnLst>
                                </p:cTn>
                              </p:par>
                              <p:par>
                                <p:cTn id="175" presetID="10" presetClass="entr" presetSubtype="0" fill="hold" nodeType="withEffect">
                                  <p:stCondLst>
                                    <p:cond delay="0"/>
                                  </p:stCondLst>
                                  <p:childTnLst>
                                    <p:set>
                                      <p:cBhvr>
                                        <p:cTn id="176" dur="1" fill="hold">
                                          <p:stCondLst>
                                            <p:cond delay="0"/>
                                          </p:stCondLst>
                                        </p:cTn>
                                        <p:tgtEl>
                                          <p:spTgt spid="422"/>
                                        </p:tgtEl>
                                        <p:attrNameLst>
                                          <p:attrName>style.visibility</p:attrName>
                                        </p:attrNameLst>
                                      </p:cBhvr>
                                      <p:to>
                                        <p:strVal val="visible"/>
                                      </p:to>
                                    </p:set>
                                    <p:animEffect transition="in" filter="fade">
                                      <p:cBhvr>
                                        <p:cTn id="177" dur="500"/>
                                        <p:tgtEl>
                                          <p:spTgt spid="422"/>
                                        </p:tgtEl>
                                      </p:cBhvr>
                                    </p:animEffect>
                                  </p:childTnLst>
                                </p:cTn>
                              </p:par>
                              <p:par>
                                <p:cTn id="178" presetID="10" presetClass="entr" presetSubtype="0" fill="hold" nodeType="withEffect">
                                  <p:stCondLst>
                                    <p:cond delay="0"/>
                                  </p:stCondLst>
                                  <p:childTnLst>
                                    <p:set>
                                      <p:cBhvr>
                                        <p:cTn id="179" dur="1" fill="hold">
                                          <p:stCondLst>
                                            <p:cond delay="0"/>
                                          </p:stCondLst>
                                        </p:cTn>
                                        <p:tgtEl>
                                          <p:spTgt spid="423"/>
                                        </p:tgtEl>
                                        <p:attrNameLst>
                                          <p:attrName>style.visibility</p:attrName>
                                        </p:attrNameLst>
                                      </p:cBhvr>
                                      <p:to>
                                        <p:strVal val="visible"/>
                                      </p:to>
                                    </p:set>
                                    <p:animEffect transition="in" filter="fade">
                                      <p:cBhvr>
                                        <p:cTn id="180" dur="500"/>
                                        <p:tgtEl>
                                          <p:spTgt spid="423"/>
                                        </p:tgtEl>
                                      </p:cBhvr>
                                    </p:animEffect>
                                  </p:childTnLst>
                                </p:cTn>
                              </p:par>
                              <p:par>
                                <p:cTn id="181" presetID="10" presetClass="entr" presetSubtype="0" fill="hold" nodeType="withEffect">
                                  <p:stCondLst>
                                    <p:cond delay="0"/>
                                  </p:stCondLst>
                                  <p:childTnLst>
                                    <p:set>
                                      <p:cBhvr>
                                        <p:cTn id="182" dur="1" fill="hold">
                                          <p:stCondLst>
                                            <p:cond delay="0"/>
                                          </p:stCondLst>
                                        </p:cTn>
                                        <p:tgtEl>
                                          <p:spTgt spid="424"/>
                                        </p:tgtEl>
                                        <p:attrNameLst>
                                          <p:attrName>style.visibility</p:attrName>
                                        </p:attrNameLst>
                                      </p:cBhvr>
                                      <p:to>
                                        <p:strVal val="visible"/>
                                      </p:to>
                                    </p:set>
                                    <p:animEffect transition="in" filter="fade">
                                      <p:cBhvr>
                                        <p:cTn id="183" dur="500"/>
                                        <p:tgtEl>
                                          <p:spTgt spid="424"/>
                                        </p:tgtEl>
                                      </p:cBhvr>
                                    </p:animEffect>
                                  </p:childTnLst>
                                </p:cTn>
                              </p:par>
                              <p:par>
                                <p:cTn id="184" presetID="10" presetClass="entr" presetSubtype="0" fill="hold" nodeType="withEffect">
                                  <p:stCondLst>
                                    <p:cond delay="0"/>
                                  </p:stCondLst>
                                  <p:childTnLst>
                                    <p:set>
                                      <p:cBhvr>
                                        <p:cTn id="185" dur="1" fill="hold">
                                          <p:stCondLst>
                                            <p:cond delay="0"/>
                                          </p:stCondLst>
                                        </p:cTn>
                                        <p:tgtEl>
                                          <p:spTgt spid="425"/>
                                        </p:tgtEl>
                                        <p:attrNameLst>
                                          <p:attrName>style.visibility</p:attrName>
                                        </p:attrNameLst>
                                      </p:cBhvr>
                                      <p:to>
                                        <p:strVal val="visible"/>
                                      </p:to>
                                    </p:set>
                                    <p:animEffect transition="in" filter="fade">
                                      <p:cBhvr>
                                        <p:cTn id="186" dur="500"/>
                                        <p:tgtEl>
                                          <p:spTgt spid="425"/>
                                        </p:tgtEl>
                                      </p:cBhvr>
                                    </p:animEffect>
                                  </p:childTnLst>
                                </p:cTn>
                              </p:par>
                              <p:par>
                                <p:cTn id="187" presetID="10" presetClass="entr" presetSubtype="0" fill="hold" nodeType="withEffect">
                                  <p:stCondLst>
                                    <p:cond delay="0"/>
                                  </p:stCondLst>
                                  <p:childTnLst>
                                    <p:set>
                                      <p:cBhvr>
                                        <p:cTn id="188" dur="1" fill="hold">
                                          <p:stCondLst>
                                            <p:cond delay="0"/>
                                          </p:stCondLst>
                                        </p:cTn>
                                        <p:tgtEl>
                                          <p:spTgt spid="426"/>
                                        </p:tgtEl>
                                        <p:attrNameLst>
                                          <p:attrName>style.visibility</p:attrName>
                                        </p:attrNameLst>
                                      </p:cBhvr>
                                      <p:to>
                                        <p:strVal val="visible"/>
                                      </p:to>
                                    </p:set>
                                    <p:animEffect transition="in" filter="fade">
                                      <p:cBhvr>
                                        <p:cTn id="189" dur="500"/>
                                        <p:tgtEl>
                                          <p:spTgt spid="426"/>
                                        </p:tgtEl>
                                      </p:cBhvr>
                                    </p:animEffect>
                                  </p:childTnLst>
                                </p:cTn>
                              </p:par>
                              <p:par>
                                <p:cTn id="190" presetID="10" presetClass="entr" presetSubtype="0" fill="hold" nodeType="withEffect">
                                  <p:stCondLst>
                                    <p:cond delay="0"/>
                                  </p:stCondLst>
                                  <p:childTnLst>
                                    <p:set>
                                      <p:cBhvr>
                                        <p:cTn id="191" dur="1" fill="hold">
                                          <p:stCondLst>
                                            <p:cond delay="0"/>
                                          </p:stCondLst>
                                        </p:cTn>
                                        <p:tgtEl>
                                          <p:spTgt spid="427"/>
                                        </p:tgtEl>
                                        <p:attrNameLst>
                                          <p:attrName>style.visibility</p:attrName>
                                        </p:attrNameLst>
                                      </p:cBhvr>
                                      <p:to>
                                        <p:strVal val="visible"/>
                                      </p:to>
                                    </p:set>
                                    <p:animEffect transition="in" filter="fade">
                                      <p:cBhvr>
                                        <p:cTn id="192" dur="500"/>
                                        <p:tgtEl>
                                          <p:spTgt spid="427"/>
                                        </p:tgtEl>
                                      </p:cBhvr>
                                    </p:animEffect>
                                  </p:childTnLst>
                                </p:cTn>
                              </p:par>
                              <p:par>
                                <p:cTn id="193" presetID="10" presetClass="entr" presetSubtype="0" fill="hold" nodeType="withEffect">
                                  <p:stCondLst>
                                    <p:cond delay="0"/>
                                  </p:stCondLst>
                                  <p:childTnLst>
                                    <p:set>
                                      <p:cBhvr>
                                        <p:cTn id="194" dur="1" fill="hold">
                                          <p:stCondLst>
                                            <p:cond delay="0"/>
                                          </p:stCondLst>
                                        </p:cTn>
                                        <p:tgtEl>
                                          <p:spTgt spid="429"/>
                                        </p:tgtEl>
                                        <p:attrNameLst>
                                          <p:attrName>style.visibility</p:attrName>
                                        </p:attrNameLst>
                                      </p:cBhvr>
                                      <p:to>
                                        <p:strVal val="visible"/>
                                      </p:to>
                                    </p:set>
                                    <p:animEffect transition="in" filter="fade">
                                      <p:cBhvr>
                                        <p:cTn id="195" dur="500"/>
                                        <p:tgtEl>
                                          <p:spTgt spid="429"/>
                                        </p:tgtEl>
                                      </p:cBhvr>
                                    </p:animEffect>
                                  </p:childTnLst>
                                </p:cTn>
                              </p:par>
                              <p:par>
                                <p:cTn id="196" presetID="10" presetClass="entr" presetSubtype="0" fill="hold" nodeType="withEffect">
                                  <p:stCondLst>
                                    <p:cond delay="0"/>
                                  </p:stCondLst>
                                  <p:childTnLst>
                                    <p:set>
                                      <p:cBhvr>
                                        <p:cTn id="197" dur="1" fill="hold">
                                          <p:stCondLst>
                                            <p:cond delay="0"/>
                                          </p:stCondLst>
                                        </p:cTn>
                                        <p:tgtEl>
                                          <p:spTgt spid="461"/>
                                        </p:tgtEl>
                                        <p:attrNameLst>
                                          <p:attrName>style.visibility</p:attrName>
                                        </p:attrNameLst>
                                      </p:cBhvr>
                                      <p:to>
                                        <p:strVal val="visible"/>
                                      </p:to>
                                    </p:set>
                                    <p:animEffect transition="in" filter="fade">
                                      <p:cBhvr>
                                        <p:cTn id="198" dur="500"/>
                                        <p:tgtEl>
                                          <p:spTgt spid="461"/>
                                        </p:tgtEl>
                                      </p:cBhvr>
                                    </p:animEffect>
                                  </p:childTnLst>
                                </p:cTn>
                              </p:par>
                              <p:par>
                                <p:cTn id="199" presetID="10" presetClass="entr" presetSubtype="0" fill="hold" nodeType="withEffect">
                                  <p:stCondLst>
                                    <p:cond delay="0"/>
                                  </p:stCondLst>
                                  <p:childTnLst>
                                    <p:set>
                                      <p:cBhvr>
                                        <p:cTn id="200" dur="1" fill="hold">
                                          <p:stCondLst>
                                            <p:cond delay="0"/>
                                          </p:stCondLst>
                                        </p:cTn>
                                        <p:tgtEl>
                                          <p:spTgt spid="462"/>
                                        </p:tgtEl>
                                        <p:attrNameLst>
                                          <p:attrName>style.visibility</p:attrName>
                                        </p:attrNameLst>
                                      </p:cBhvr>
                                      <p:to>
                                        <p:strVal val="visible"/>
                                      </p:to>
                                    </p:set>
                                    <p:animEffect transition="in" filter="fade">
                                      <p:cBhvr>
                                        <p:cTn id="201" dur="500"/>
                                        <p:tgtEl>
                                          <p:spTgt spid="462"/>
                                        </p:tgtEl>
                                      </p:cBhvr>
                                    </p:animEffect>
                                  </p:childTnLst>
                                </p:cTn>
                              </p:par>
                            </p:childTnLst>
                          </p:cTn>
                        </p:par>
                      </p:childTnLst>
                    </p:cTn>
                  </p:par>
                  <p:par>
                    <p:cTn id="202" fill="hold">
                      <p:stCondLst>
                        <p:cond delay="indefinite"/>
                      </p:stCondLst>
                      <p:childTnLst>
                        <p:par>
                          <p:cTn id="203" fill="hold">
                            <p:stCondLst>
                              <p:cond delay="0"/>
                            </p:stCondLst>
                            <p:childTnLst>
                              <p:par>
                                <p:cTn id="204" presetID="10" presetClass="entr" presetSubtype="0" fill="hold" nodeType="clickEffect">
                                  <p:stCondLst>
                                    <p:cond delay="0"/>
                                  </p:stCondLst>
                                  <p:childTnLst>
                                    <p:set>
                                      <p:cBhvr>
                                        <p:cTn id="205" dur="1" fill="hold">
                                          <p:stCondLst>
                                            <p:cond delay="0"/>
                                          </p:stCondLst>
                                        </p:cTn>
                                        <p:tgtEl>
                                          <p:spTgt spid="430"/>
                                        </p:tgtEl>
                                        <p:attrNameLst>
                                          <p:attrName>style.visibility</p:attrName>
                                        </p:attrNameLst>
                                      </p:cBhvr>
                                      <p:to>
                                        <p:strVal val="visible"/>
                                      </p:to>
                                    </p:set>
                                    <p:animEffect transition="in" filter="fade">
                                      <p:cBhvr>
                                        <p:cTn id="206" dur="500"/>
                                        <p:tgtEl>
                                          <p:spTgt spid="430"/>
                                        </p:tgtEl>
                                      </p:cBhvr>
                                    </p:animEffect>
                                  </p:childTnLst>
                                </p:cTn>
                              </p:par>
                              <p:par>
                                <p:cTn id="207" presetID="10" presetClass="entr" presetSubtype="0" fill="hold" nodeType="withEffect">
                                  <p:stCondLst>
                                    <p:cond delay="0"/>
                                  </p:stCondLst>
                                  <p:childTnLst>
                                    <p:set>
                                      <p:cBhvr>
                                        <p:cTn id="208" dur="1" fill="hold">
                                          <p:stCondLst>
                                            <p:cond delay="0"/>
                                          </p:stCondLst>
                                        </p:cTn>
                                        <p:tgtEl>
                                          <p:spTgt spid="431"/>
                                        </p:tgtEl>
                                        <p:attrNameLst>
                                          <p:attrName>style.visibility</p:attrName>
                                        </p:attrNameLst>
                                      </p:cBhvr>
                                      <p:to>
                                        <p:strVal val="visible"/>
                                      </p:to>
                                    </p:set>
                                    <p:animEffect transition="in" filter="fade">
                                      <p:cBhvr>
                                        <p:cTn id="209" dur="500"/>
                                        <p:tgtEl>
                                          <p:spTgt spid="431"/>
                                        </p:tgtEl>
                                      </p:cBhvr>
                                    </p:animEffect>
                                  </p:childTnLst>
                                </p:cTn>
                              </p:par>
                              <p:par>
                                <p:cTn id="210" presetID="10" presetClass="entr" presetSubtype="0" fill="hold" nodeType="withEffect">
                                  <p:stCondLst>
                                    <p:cond delay="0"/>
                                  </p:stCondLst>
                                  <p:childTnLst>
                                    <p:set>
                                      <p:cBhvr>
                                        <p:cTn id="211" dur="1" fill="hold">
                                          <p:stCondLst>
                                            <p:cond delay="0"/>
                                          </p:stCondLst>
                                        </p:cTn>
                                        <p:tgtEl>
                                          <p:spTgt spid="432"/>
                                        </p:tgtEl>
                                        <p:attrNameLst>
                                          <p:attrName>style.visibility</p:attrName>
                                        </p:attrNameLst>
                                      </p:cBhvr>
                                      <p:to>
                                        <p:strVal val="visible"/>
                                      </p:to>
                                    </p:set>
                                    <p:animEffect transition="in" filter="fade">
                                      <p:cBhvr>
                                        <p:cTn id="212" dur="500"/>
                                        <p:tgtEl>
                                          <p:spTgt spid="432"/>
                                        </p:tgtEl>
                                      </p:cBhvr>
                                    </p:animEffect>
                                  </p:childTnLst>
                                </p:cTn>
                              </p:par>
                              <p:par>
                                <p:cTn id="213" presetID="10" presetClass="entr" presetSubtype="0" fill="hold" nodeType="withEffect">
                                  <p:stCondLst>
                                    <p:cond delay="0"/>
                                  </p:stCondLst>
                                  <p:childTnLst>
                                    <p:set>
                                      <p:cBhvr>
                                        <p:cTn id="214" dur="1" fill="hold">
                                          <p:stCondLst>
                                            <p:cond delay="0"/>
                                          </p:stCondLst>
                                        </p:cTn>
                                        <p:tgtEl>
                                          <p:spTgt spid="433"/>
                                        </p:tgtEl>
                                        <p:attrNameLst>
                                          <p:attrName>style.visibility</p:attrName>
                                        </p:attrNameLst>
                                      </p:cBhvr>
                                      <p:to>
                                        <p:strVal val="visible"/>
                                      </p:to>
                                    </p:set>
                                    <p:animEffect transition="in" filter="fade">
                                      <p:cBhvr>
                                        <p:cTn id="215" dur="500"/>
                                        <p:tgtEl>
                                          <p:spTgt spid="433"/>
                                        </p:tgtEl>
                                      </p:cBhvr>
                                    </p:animEffect>
                                  </p:childTnLst>
                                </p:cTn>
                              </p:par>
                              <p:par>
                                <p:cTn id="216" presetID="10" presetClass="entr" presetSubtype="0" fill="hold" nodeType="withEffect">
                                  <p:stCondLst>
                                    <p:cond delay="0"/>
                                  </p:stCondLst>
                                  <p:childTnLst>
                                    <p:set>
                                      <p:cBhvr>
                                        <p:cTn id="217" dur="1" fill="hold">
                                          <p:stCondLst>
                                            <p:cond delay="0"/>
                                          </p:stCondLst>
                                        </p:cTn>
                                        <p:tgtEl>
                                          <p:spTgt spid="434"/>
                                        </p:tgtEl>
                                        <p:attrNameLst>
                                          <p:attrName>style.visibility</p:attrName>
                                        </p:attrNameLst>
                                      </p:cBhvr>
                                      <p:to>
                                        <p:strVal val="visible"/>
                                      </p:to>
                                    </p:set>
                                    <p:animEffect transition="in" filter="fade">
                                      <p:cBhvr>
                                        <p:cTn id="218" dur="500"/>
                                        <p:tgtEl>
                                          <p:spTgt spid="434"/>
                                        </p:tgtEl>
                                      </p:cBhvr>
                                    </p:animEffect>
                                  </p:childTnLst>
                                </p:cTn>
                              </p:par>
                            </p:childTnLst>
                          </p:cTn>
                        </p:par>
                      </p:childTnLst>
                    </p:cTn>
                  </p:par>
                  <p:par>
                    <p:cTn id="219" fill="hold">
                      <p:stCondLst>
                        <p:cond delay="indefinite"/>
                      </p:stCondLst>
                      <p:childTnLst>
                        <p:par>
                          <p:cTn id="220" fill="hold">
                            <p:stCondLst>
                              <p:cond delay="0"/>
                            </p:stCondLst>
                            <p:childTnLst>
                              <p:par>
                                <p:cTn id="221" presetID="10" presetClass="entr" presetSubtype="0" fill="hold" nodeType="clickEffect">
                                  <p:stCondLst>
                                    <p:cond delay="0"/>
                                  </p:stCondLst>
                                  <p:childTnLst>
                                    <p:set>
                                      <p:cBhvr>
                                        <p:cTn id="222" dur="1" fill="hold">
                                          <p:stCondLst>
                                            <p:cond delay="0"/>
                                          </p:stCondLst>
                                        </p:cTn>
                                        <p:tgtEl>
                                          <p:spTgt spid="435"/>
                                        </p:tgtEl>
                                        <p:attrNameLst>
                                          <p:attrName>style.visibility</p:attrName>
                                        </p:attrNameLst>
                                      </p:cBhvr>
                                      <p:to>
                                        <p:strVal val="visible"/>
                                      </p:to>
                                    </p:set>
                                    <p:animEffect transition="in" filter="fade">
                                      <p:cBhvr>
                                        <p:cTn id="223" dur="500"/>
                                        <p:tgtEl>
                                          <p:spTgt spid="435"/>
                                        </p:tgtEl>
                                      </p:cBhvr>
                                    </p:animEffect>
                                  </p:childTnLst>
                                </p:cTn>
                              </p:par>
                              <p:par>
                                <p:cTn id="224" presetID="10" presetClass="entr" presetSubtype="0" fill="hold" nodeType="withEffect">
                                  <p:stCondLst>
                                    <p:cond delay="0"/>
                                  </p:stCondLst>
                                  <p:childTnLst>
                                    <p:set>
                                      <p:cBhvr>
                                        <p:cTn id="225" dur="1" fill="hold">
                                          <p:stCondLst>
                                            <p:cond delay="0"/>
                                          </p:stCondLst>
                                        </p:cTn>
                                        <p:tgtEl>
                                          <p:spTgt spid="436"/>
                                        </p:tgtEl>
                                        <p:attrNameLst>
                                          <p:attrName>style.visibility</p:attrName>
                                        </p:attrNameLst>
                                      </p:cBhvr>
                                      <p:to>
                                        <p:strVal val="visible"/>
                                      </p:to>
                                    </p:set>
                                    <p:animEffect transition="in" filter="fade">
                                      <p:cBhvr>
                                        <p:cTn id="226" dur="500"/>
                                        <p:tgtEl>
                                          <p:spTgt spid="436"/>
                                        </p:tgtEl>
                                      </p:cBhvr>
                                    </p:animEffect>
                                  </p:childTnLst>
                                </p:cTn>
                              </p:par>
                              <p:par>
                                <p:cTn id="227" presetID="10" presetClass="entr" presetSubtype="0" fill="hold" nodeType="withEffect">
                                  <p:stCondLst>
                                    <p:cond delay="0"/>
                                  </p:stCondLst>
                                  <p:childTnLst>
                                    <p:set>
                                      <p:cBhvr>
                                        <p:cTn id="228" dur="1" fill="hold">
                                          <p:stCondLst>
                                            <p:cond delay="0"/>
                                          </p:stCondLst>
                                        </p:cTn>
                                        <p:tgtEl>
                                          <p:spTgt spid="437"/>
                                        </p:tgtEl>
                                        <p:attrNameLst>
                                          <p:attrName>style.visibility</p:attrName>
                                        </p:attrNameLst>
                                      </p:cBhvr>
                                      <p:to>
                                        <p:strVal val="visible"/>
                                      </p:to>
                                    </p:set>
                                    <p:animEffect transition="in" filter="fade">
                                      <p:cBhvr>
                                        <p:cTn id="229" dur="500"/>
                                        <p:tgtEl>
                                          <p:spTgt spid="437"/>
                                        </p:tgtEl>
                                      </p:cBhvr>
                                    </p:animEffect>
                                  </p:childTnLst>
                                </p:cTn>
                              </p:par>
                              <p:par>
                                <p:cTn id="230" presetID="10" presetClass="entr" presetSubtype="0" fill="hold" nodeType="withEffect">
                                  <p:stCondLst>
                                    <p:cond delay="0"/>
                                  </p:stCondLst>
                                  <p:childTnLst>
                                    <p:set>
                                      <p:cBhvr>
                                        <p:cTn id="231" dur="1" fill="hold">
                                          <p:stCondLst>
                                            <p:cond delay="0"/>
                                          </p:stCondLst>
                                        </p:cTn>
                                        <p:tgtEl>
                                          <p:spTgt spid="438"/>
                                        </p:tgtEl>
                                        <p:attrNameLst>
                                          <p:attrName>style.visibility</p:attrName>
                                        </p:attrNameLst>
                                      </p:cBhvr>
                                      <p:to>
                                        <p:strVal val="visible"/>
                                      </p:to>
                                    </p:set>
                                    <p:animEffect transition="in" filter="fade">
                                      <p:cBhvr>
                                        <p:cTn id="232" dur="500"/>
                                        <p:tgtEl>
                                          <p:spTgt spid="438"/>
                                        </p:tgtEl>
                                      </p:cBhvr>
                                    </p:animEffect>
                                  </p:childTnLst>
                                </p:cTn>
                              </p:par>
                              <p:par>
                                <p:cTn id="233" presetID="10" presetClass="entr" presetSubtype="0" fill="hold" nodeType="withEffect">
                                  <p:stCondLst>
                                    <p:cond delay="0"/>
                                  </p:stCondLst>
                                  <p:childTnLst>
                                    <p:set>
                                      <p:cBhvr>
                                        <p:cTn id="234" dur="1" fill="hold">
                                          <p:stCondLst>
                                            <p:cond delay="0"/>
                                          </p:stCondLst>
                                        </p:cTn>
                                        <p:tgtEl>
                                          <p:spTgt spid="439"/>
                                        </p:tgtEl>
                                        <p:attrNameLst>
                                          <p:attrName>style.visibility</p:attrName>
                                        </p:attrNameLst>
                                      </p:cBhvr>
                                      <p:to>
                                        <p:strVal val="visible"/>
                                      </p:to>
                                    </p:set>
                                    <p:animEffect transition="in" filter="fade">
                                      <p:cBhvr>
                                        <p:cTn id="235" dur="500"/>
                                        <p:tgtEl>
                                          <p:spTgt spid="439"/>
                                        </p:tgtEl>
                                      </p:cBhvr>
                                    </p:animEffect>
                                  </p:childTnLst>
                                </p:cTn>
                              </p:par>
                              <p:par>
                                <p:cTn id="236" presetID="10" presetClass="entr" presetSubtype="0" fill="hold" nodeType="withEffect">
                                  <p:stCondLst>
                                    <p:cond delay="0"/>
                                  </p:stCondLst>
                                  <p:childTnLst>
                                    <p:set>
                                      <p:cBhvr>
                                        <p:cTn id="237" dur="1" fill="hold">
                                          <p:stCondLst>
                                            <p:cond delay="0"/>
                                          </p:stCondLst>
                                        </p:cTn>
                                        <p:tgtEl>
                                          <p:spTgt spid="440"/>
                                        </p:tgtEl>
                                        <p:attrNameLst>
                                          <p:attrName>style.visibility</p:attrName>
                                        </p:attrNameLst>
                                      </p:cBhvr>
                                      <p:to>
                                        <p:strVal val="visible"/>
                                      </p:to>
                                    </p:set>
                                    <p:animEffect transition="in" filter="fade">
                                      <p:cBhvr>
                                        <p:cTn id="238" dur="500"/>
                                        <p:tgtEl>
                                          <p:spTgt spid="440"/>
                                        </p:tgtEl>
                                      </p:cBhvr>
                                    </p:animEffect>
                                  </p:childTnLst>
                                </p:cTn>
                              </p:par>
                              <p:par>
                                <p:cTn id="239" presetID="10" presetClass="entr" presetSubtype="0" fill="hold" nodeType="withEffect">
                                  <p:stCondLst>
                                    <p:cond delay="0"/>
                                  </p:stCondLst>
                                  <p:childTnLst>
                                    <p:set>
                                      <p:cBhvr>
                                        <p:cTn id="240" dur="1" fill="hold">
                                          <p:stCondLst>
                                            <p:cond delay="0"/>
                                          </p:stCondLst>
                                        </p:cTn>
                                        <p:tgtEl>
                                          <p:spTgt spid="441"/>
                                        </p:tgtEl>
                                        <p:attrNameLst>
                                          <p:attrName>style.visibility</p:attrName>
                                        </p:attrNameLst>
                                      </p:cBhvr>
                                      <p:to>
                                        <p:strVal val="visible"/>
                                      </p:to>
                                    </p:set>
                                    <p:animEffect transition="in" filter="fade">
                                      <p:cBhvr>
                                        <p:cTn id="241" dur="500"/>
                                        <p:tgtEl>
                                          <p:spTgt spid="441"/>
                                        </p:tgtEl>
                                      </p:cBhvr>
                                    </p:animEffect>
                                  </p:childTnLst>
                                </p:cTn>
                              </p:par>
                              <p:par>
                                <p:cTn id="242" presetID="10" presetClass="entr" presetSubtype="0" fill="hold" nodeType="withEffect">
                                  <p:stCondLst>
                                    <p:cond delay="0"/>
                                  </p:stCondLst>
                                  <p:childTnLst>
                                    <p:set>
                                      <p:cBhvr>
                                        <p:cTn id="243" dur="1" fill="hold">
                                          <p:stCondLst>
                                            <p:cond delay="0"/>
                                          </p:stCondLst>
                                        </p:cTn>
                                        <p:tgtEl>
                                          <p:spTgt spid="442"/>
                                        </p:tgtEl>
                                        <p:attrNameLst>
                                          <p:attrName>style.visibility</p:attrName>
                                        </p:attrNameLst>
                                      </p:cBhvr>
                                      <p:to>
                                        <p:strVal val="visible"/>
                                      </p:to>
                                    </p:set>
                                    <p:animEffect transition="in" filter="fade">
                                      <p:cBhvr>
                                        <p:cTn id="244" dur="500"/>
                                        <p:tgtEl>
                                          <p:spTgt spid="442"/>
                                        </p:tgtEl>
                                      </p:cBhvr>
                                    </p:animEffect>
                                  </p:childTnLst>
                                </p:cTn>
                              </p:par>
                              <p:par>
                                <p:cTn id="245" presetID="10" presetClass="entr" presetSubtype="0" fill="hold" nodeType="withEffect">
                                  <p:stCondLst>
                                    <p:cond delay="0"/>
                                  </p:stCondLst>
                                  <p:childTnLst>
                                    <p:set>
                                      <p:cBhvr>
                                        <p:cTn id="246" dur="1" fill="hold">
                                          <p:stCondLst>
                                            <p:cond delay="0"/>
                                          </p:stCondLst>
                                        </p:cTn>
                                        <p:tgtEl>
                                          <p:spTgt spid="443"/>
                                        </p:tgtEl>
                                        <p:attrNameLst>
                                          <p:attrName>style.visibility</p:attrName>
                                        </p:attrNameLst>
                                      </p:cBhvr>
                                      <p:to>
                                        <p:strVal val="visible"/>
                                      </p:to>
                                    </p:set>
                                    <p:animEffect transition="in" filter="fade">
                                      <p:cBhvr>
                                        <p:cTn id="247" dur="500"/>
                                        <p:tgtEl>
                                          <p:spTgt spid="443"/>
                                        </p:tgtEl>
                                      </p:cBhvr>
                                    </p:animEffect>
                                  </p:childTnLst>
                                </p:cTn>
                              </p:par>
                              <p:par>
                                <p:cTn id="248" presetID="10" presetClass="entr" presetSubtype="0" fill="hold" nodeType="withEffect">
                                  <p:stCondLst>
                                    <p:cond delay="0"/>
                                  </p:stCondLst>
                                  <p:childTnLst>
                                    <p:set>
                                      <p:cBhvr>
                                        <p:cTn id="249" dur="1" fill="hold">
                                          <p:stCondLst>
                                            <p:cond delay="0"/>
                                          </p:stCondLst>
                                        </p:cTn>
                                        <p:tgtEl>
                                          <p:spTgt spid="444"/>
                                        </p:tgtEl>
                                        <p:attrNameLst>
                                          <p:attrName>style.visibility</p:attrName>
                                        </p:attrNameLst>
                                      </p:cBhvr>
                                      <p:to>
                                        <p:strVal val="visible"/>
                                      </p:to>
                                    </p:set>
                                    <p:animEffect transition="in" filter="fade">
                                      <p:cBhvr>
                                        <p:cTn id="250" dur="500"/>
                                        <p:tgtEl>
                                          <p:spTgt spid="444"/>
                                        </p:tgtEl>
                                      </p:cBhvr>
                                    </p:animEffect>
                                  </p:childTnLst>
                                </p:cTn>
                              </p:par>
                              <p:par>
                                <p:cTn id="251" presetID="10" presetClass="entr" presetSubtype="0" fill="hold" nodeType="withEffect">
                                  <p:stCondLst>
                                    <p:cond delay="0"/>
                                  </p:stCondLst>
                                  <p:childTnLst>
                                    <p:set>
                                      <p:cBhvr>
                                        <p:cTn id="252" dur="1" fill="hold">
                                          <p:stCondLst>
                                            <p:cond delay="0"/>
                                          </p:stCondLst>
                                        </p:cTn>
                                        <p:tgtEl>
                                          <p:spTgt spid="445"/>
                                        </p:tgtEl>
                                        <p:attrNameLst>
                                          <p:attrName>style.visibility</p:attrName>
                                        </p:attrNameLst>
                                      </p:cBhvr>
                                      <p:to>
                                        <p:strVal val="visible"/>
                                      </p:to>
                                    </p:set>
                                    <p:animEffect transition="in" filter="fade">
                                      <p:cBhvr>
                                        <p:cTn id="253" dur="500"/>
                                        <p:tgtEl>
                                          <p:spTgt spid="445"/>
                                        </p:tgtEl>
                                      </p:cBhvr>
                                    </p:animEffect>
                                  </p:childTnLst>
                                </p:cTn>
                              </p:par>
                              <p:par>
                                <p:cTn id="254" presetID="10" presetClass="entr" presetSubtype="0" fill="hold" nodeType="withEffect">
                                  <p:stCondLst>
                                    <p:cond delay="0"/>
                                  </p:stCondLst>
                                  <p:childTnLst>
                                    <p:set>
                                      <p:cBhvr>
                                        <p:cTn id="255" dur="1" fill="hold">
                                          <p:stCondLst>
                                            <p:cond delay="0"/>
                                          </p:stCondLst>
                                        </p:cTn>
                                        <p:tgtEl>
                                          <p:spTgt spid="446"/>
                                        </p:tgtEl>
                                        <p:attrNameLst>
                                          <p:attrName>style.visibility</p:attrName>
                                        </p:attrNameLst>
                                      </p:cBhvr>
                                      <p:to>
                                        <p:strVal val="visible"/>
                                      </p:to>
                                    </p:set>
                                    <p:animEffect transition="in" filter="fade">
                                      <p:cBhvr>
                                        <p:cTn id="256" dur="500"/>
                                        <p:tgtEl>
                                          <p:spTgt spid="446"/>
                                        </p:tgtEl>
                                      </p:cBhvr>
                                    </p:animEffect>
                                  </p:childTnLst>
                                </p:cTn>
                              </p:par>
                              <p:par>
                                <p:cTn id="257" presetID="10" presetClass="entr" presetSubtype="0" fill="hold" nodeType="withEffect">
                                  <p:stCondLst>
                                    <p:cond delay="0"/>
                                  </p:stCondLst>
                                  <p:childTnLst>
                                    <p:set>
                                      <p:cBhvr>
                                        <p:cTn id="258" dur="1" fill="hold">
                                          <p:stCondLst>
                                            <p:cond delay="0"/>
                                          </p:stCondLst>
                                        </p:cTn>
                                        <p:tgtEl>
                                          <p:spTgt spid="447"/>
                                        </p:tgtEl>
                                        <p:attrNameLst>
                                          <p:attrName>style.visibility</p:attrName>
                                        </p:attrNameLst>
                                      </p:cBhvr>
                                      <p:to>
                                        <p:strVal val="visible"/>
                                      </p:to>
                                    </p:set>
                                    <p:animEffect transition="in" filter="fade">
                                      <p:cBhvr>
                                        <p:cTn id="259" dur="500"/>
                                        <p:tgtEl>
                                          <p:spTgt spid="447"/>
                                        </p:tgtEl>
                                      </p:cBhvr>
                                    </p:animEffect>
                                  </p:childTnLst>
                                </p:cTn>
                              </p:par>
                              <p:par>
                                <p:cTn id="260" presetID="10" presetClass="entr" presetSubtype="0" fill="hold" nodeType="withEffect">
                                  <p:stCondLst>
                                    <p:cond delay="0"/>
                                  </p:stCondLst>
                                  <p:childTnLst>
                                    <p:set>
                                      <p:cBhvr>
                                        <p:cTn id="261" dur="1" fill="hold">
                                          <p:stCondLst>
                                            <p:cond delay="0"/>
                                          </p:stCondLst>
                                        </p:cTn>
                                        <p:tgtEl>
                                          <p:spTgt spid="448"/>
                                        </p:tgtEl>
                                        <p:attrNameLst>
                                          <p:attrName>style.visibility</p:attrName>
                                        </p:attrNameLst>
                                      </p:cBhvr>
                                      <p:to>
                                        <p:strVal val="visible"/>
                                      </p:to>
                                    </p:set>
                                    <p:animEffect transition="in" filter="fade">
                                      <p:cBhvr>
                                        <p:cTn id="262" dur="500"/>
                                        <p:tgtEl>
                                          <p:spTgt spid="448"/>
                                        </p:tgtEl>
                                      </p:cBhvr>
                                    </p:animEffect>
                                  </p:childTnLst>
                                </p:cTn>
                              </p:par>
                              <p:par>
                                <p:cTn id="263" presetID="10" presetClass="entr" presetSubtype="0" fill="hold" nodeType="withEffect">
                                  <p:stCondLst>
                                    <p:cond delay="0"/>
                                  </p:stCondLst>
                                  <p:childTnLst>
                                    <p:set>
                                      <p:cBhvr>
                                        <p:cTn id="264" dur="1" fill="hold">
                                          <p:stCondLst>
                                            <p:cond delay="0"/>
                                          </p:stCondLst>
                                        </p:cTn>
                                        <p:tgtEl>
                                          <p:spTgt spid="449"/>
                                        </p:tgtEl>
                                        <p:attrNameLst>
                                          <p:attrName>style.visibility</p:attrName>
                                        </p:attrNameLst>
                                      </p:cBhvr>
                                      <p:to>
                                        <p:strVal val="visible"/>
                                      </p:to>
                                    </p:set>
                                    <p:animEffect transition="in" filter="fade">
                                      <p:cBhvr>
                                        <p:cTn id="265" dur="500"/>
                                        <p:tgtEl>
                                          <p:spTgt spid="449"/>
                                        </p:tgtEl>
                                      </p:cBhvr>
                                    </p:animEffect>
                                  </p:childTnLst>
                                </p:cTn>
                              </p:par>
                              <p:par>
                                <p:cTn id="266" presetID="10" presetClass="entr" presetSubtype="0" fill="hold" nodeType="withEffect">
                                  <p:stCondLst>
                                    <p:cond delay="0"/>
                                  </p:stCondLst>
                                  <p:childTnLst>
                                    <p:set>
                                      <p:cBhvr>
                                        <p:cTn id="267" dur="1" fill="hold">
                                          <p:stCondLst>
                                            <p:cond delay="0"/>
                                          </p:stCondLst>
                                        </p:cTn>
                                        <p:tgtEl>
                                          <p:spTgt spid="450"/>
                                        </p:tgtEl>
                                        <p:attrNameLst>
                                          <p:attrName>style.visibility</p:attrName>
                                        </p:attrNameLst>
                                      </p:cBhvr>
                                      <p:to>
                                        <p:strVal val="visible"/>
                                      </p:to>
                                    </p:set>
                                    <p:animEffect transition="in" filter="fade">
                                      <p:cBhvr>
                                        <p:cTn id="268" dur="500"/>
                                        <p:tgtEl>
                                          <p:spTgt spid="450"/>
                                        </p:tgtEl>
                                      </p:cBhvr>
                                    </p:animEffect>
                                  </p:childTnLst>
                                </p:cTn>
                              </p:par>
                              <p:par>
                                <p:cTn id="269" presetID="10" presetClass="entr" presetSubtype="0" fill="hold" nodeType="withEffect">
                                  <p:stCondLst>
                                    <p:cond delay="0"/>
                                  </p:stCondLst>
                                  <p:childTnLst>
                                    <p:set>
                                      <p:cBhvr>
                                        <p:cTn id="270" dur="1" fill="hold">
                                          <p:stCondLst>
                                            <p:cond delay="0"/>
                                          </p:stCondLst>
                                        </p:cTn>
                                        <p:tgtEl>
                                          <p:spTgt spid="451"/>
                                        </p:tgtEl>
                                        <p:attrNameLst>
                                          <p:attrName>style.visibility</p:attrName>
                                        </p:attrNameLst>
                                      </p:cBhvr>
                                      <p:to>
                                        <p:strVal val="visible"/>
                                      </p:to>
                                    </p:set>
                                    <p:animEffect transition="in" filter="fade">
                                      <p:cBhvr>
                                        <p:cTn id="271" dur="500"/>
                                        <p:tgtEl>
                                          <p:spTgt spid="451"/>
                                        </p:tgtEl>
                                      </p:cBhvr>
                                    </p:animEffect>
                                  </p:childTnLst>
                                </p:cTn>
                              </p:par>
                              <p:par>
                                <p:cTn id="272" presetID="10" presetClass="entr" presetSubtype="0" fill="hold" nodeType="withEffect">
                                  <p:stCondLst>
                                    <p:cond delay="0"/>
                                  </p:stCondLst>
                                  <p:childTnLst>
                                    <p:set>
                                      <p:cBhvr>
                                        <p:cTn id="273" dur="1" fill="hold">
                                          <p:stCondLst>
                                            <p:cond delay="0"/>
                                          </p:stCondLst>
                                        </p:cTn>
                                        <p:tgtEl>
                                          <p:spTgt spid="452"/>
                                        </p:tgtEl>
                                        <p:attrNameLst>
                                          <p:attrName>style.visibility</p:attrName>
                                        </p:attrNameLst>
                                      </p:cBhvr>
                                      <p:to>
                                        <p:strVal val="visible"/>
                                      </p:to>
                                    </p:set>
                                    <p:animEffect transition="in" filter="fade">
                                      <p:cBhvr>
                                        <p:cTn id="274" dur="500"/>
                                        <p:tgtEl>
                                          <p:spTgt spid="452"/>
                                        </p:tgtEl>
                                      </p:cBhvr>
                                    </p:animEffect>
                                  </p:childTnLst>
                                </p:cTn>
                              </p:par>
                              <p:par>
                                <p:cTn id="275" presetID="10" presetClass="entr" presetSubtype="0" fill="hold" nodeType="withEffect">
                                  <p:stCondLst>
                                    <p:cond delay="0"/>
                                  </p:stCondLst>
                                  <p:childTnLst>
                                    <p:set>
                                      <p:cBhvr>
                                        <p:cTn id="276" dur="1" fill="hold">
                                          <p:stCondLst>
                                            <p:cond delay="0"/>
                                          </p:stCondLst>
                                        </p:cTn>
                                        <p:tgtEl>
                                          <p:spTgt spid="453"/>
                                        </p:tgtEl>
                                        <p:attrNameLst>
                                          <p:attrName>style.visibility</p:attrName>
                                        </p:attrNameLst>
                                      </p:cBhvr>
                                      <p:to>
                                        <p:strVal val="visible"/>
                                      </p:to>
                                    </p:set>
                                    <p:animEffect transition="in" filter="fade">
                                      <p:cBhvr>
                                        <p:cTn id="277" dur="500"/>
                                        <p:tgtEl>
                                          <p:spTgt spid="453"/>
                                        </p:tgtEl>
                                      </p:cBhvr>
                                    </p:animEffect>
                                  </p:childTnLst>
                                </p:cTn>
                              </p:par>
                              <p:par>
                                <p:cTn id="278" presetID="10" presetClass="entr" presetSubtype="0" fill="hold" nodeType="withEffect">
                                  <p:stCondLst>
                                    <p:cond delay="0"/>
                                  </p:stCondLst>
                                  <p:childTnLst>
                                    <p:set>
                                      <p:cBhvr>
                                        <p:cTn id="279" dur="1" fill="hold">
                                          <p:stCondLst>
                                            <p:cond delay="0"/>
                                          </p:stCondLst>
                                        </p:cTn>
                                        <p:tgtEl>
                                          <p:spTgt spid="454"/>
                                        </p:tgtEl>
                                        <p:attrNameLst>
                                          <p:attrName>style.visibility</p:attrName>
                                        </p:attrNameLst>
                                      </p:cBhvr>
                                      <p:to>
                                        <p:strVal val="visible"/>
                                      </p:to>
                                    </p:set>
                                    <p:animEffect transition="in" filter="fade">
                                      <p:cBhvr>
                                        <p:cTn id="280" dur="500"/>
                                        <p:tgtEl>
                                          <p:spTgt spid="454"/>
                                        </p:tgtEl>
                                      </p:cBhvr>
                                    </p:animEffect>
                                  </p:childTnLst>
                                </p:cTn>
                              </p:par>
                              <p:par>
                                <p:cTn id="281" presetID="10" presetClass="entr" presetSubtype="0" fill="hold" nodeType="withEffect">
                                  <p:stCondLst>
                                    <p:cond delay="0"/>
                                  </p:stCondLst>
                                  <p:childTnLst>
                                    <p:set>
                                      <p:cBhvr>
                                        <p:cTn id="282" dur="1" fill="hold">
                                          <p:stCondLst>
                                            <p:cond delay="0"/>
                                          </p:stCondLst>
                                        </p:cTn>
                                        <p:tgtEl>
                                          <p:spTgt spid="455"/>
                                        </p:tgtEl>
                                        <p:attrNameLst>
                                          <p:attrName>style.visibility</p:attrName>
                                        </p:attrNameLst>
                                      </p:cBhvr>
                                      <p:to>
                                        <p:strVal val="visible"/>
                                      </p:to>
                                    </p:set>
                                    <p:animEffect transition="in" filter="fade">
                                      <p:cBhvr>
                                        <p:cTn id="283" dur="500"/>
                                        <p:tgtEl>
                                          <p:spTgt spid="455"/>
                                        </p:tgtEl>
                                      </p:cBhvr>
                                    </p:animEffect>
                                  </p:childTnLst>
                                </p:cTn>
                              </p:par>
                              <p:par>
                                <p:cTn id="284" presetID="10" presetClass="entr" presetSubtype="0" fill="hold" nodeType="withEffect">
                                  <p:stCondLst>
                                    <p:cond delay="0"/>
                                  </p:stCondLst>
                                  <p:childTnLst>
                                    <p:set>
                                      <p:cBhvr>
                                        <p:cTn id="285" dur="1" fill="hold">
                                          <p:stCondLst>
                                            <p:cond delay="0"/>
                                          </p:stCondLst>
                                        </p:cTn>
                                        <p:tgtEl>
                                          <p:spTgt spid="456"/>
                                        </p:tgtEl>
                                        <p:attrNameLst>
                                          <p:attrName>style.visibility</p:attrName>
                                        </p:attrNameLst>
                                      </p:cBhvr>
                                      <p:to>
                                        <p:strVal val="visible"/>
                                      </p:to>
                                    </p:set>
                                    <p:animEffect transition="in" filter="fade">
                                      <p:cBhvr>
                                        <p:cTn id="286" dur="500"/>
                                        <p:tgtEl>
                                          <p:spTgt spid="456"/>
                                        </p:tgtEl>
                                      </p:cBhvr>
                                    </p:animEffect>
                                  </p:childTnLst>
                                </p:cTn>
                              </p:par>
                              <p:par>
                                <p:cTn id="287" presetID="10" presetClass="entr" presetSubtype="0" fill="hold" nodeType="withEffect">
                                  <p:stCondLst>
                                    <p:cond delay="0"/>
                                  </p:stCondLst>
                                  <p:childTnLst>
                                    <p:set>
                                      <p:cBhvr>
                                        <p:cTn id="288" dur="1" fill="hold">
                                          <p:stCondLst>
                                            <p:cond delay="0"/>
                                          </p:stCondLst>
                                        </p:cTn>
                                        <p:tgtEl>
                                          <p:spTgt spid="457"/>
                                        </p:tgtEl>
                                        <p:attrNameLst>
                                          <p:attrName>style.visibility</p:attrName>
                                        </p:attrNameLst>
                                      </p:cBhvr>
                                      <p:to>
                                        <p:strVal val="visible"/>
                                      </p:to>
                                    </p:set>
                                    <p:animEffect transition="in" filter="fade">
                                      <p:cBhvr>
                                        <p:cTn id="289" dur="500"/>
                                        <p:tgtEl>
                                          <p:spTgt spid="457"/>
                                        </p:tgtEl>
                                      </p:cBhvr>
                                    </p:animEffect>
                                  </p:childTnLst>
                                </p:cTn>
                              </p:par>
                              <p:par>
                                <p:cTn id="290" presetID="10" presetClass="entr" presetSubtype="0" fill="hold" nodeType="withEffect">
                                  <p:stCondLst>
                                    <p:cond delay="0"/>
                                  </p:stCondLst>
                                  <p:childTnLst>
                                    <p:set>
                                      <p:cBhvr>
                                        <p:cTn id="291" dur="1" fill="hold">
                                          <p:stCondLst>
                                            <p:cond delay="0"/>
                                          </p:stCondLst>
                                        </p:cTn>
                                        <p:tgtEl>
                                          <p:spTgt spid="458"/>
                                        </p:tgtEl>
                                        <p:attrNameLst>
                                          <p:attrName>style.visibility</p:attrName>
                                        </p:attrNameLst>
                                      </p:cBhvr>
                                      <p:to>
                                        <p:strVal val="visible"/>
                                      </p:to>
                                    </p:set>
                                    <p:animEffect transition="in" filter="fade">
                                      <p:cBhvr>
                                        <p:cTn id="292" dur="500"/>
                                        <p:tgtEl>
                                          <p:spTgt spid="458"/>
                                        </p:tgtEl>
                                      </p:cBhvr>
                                    </p:animEffect>
                                  </p:childTnLst>
                                </p:cTn>
                              </p:par>
                              <p:par>
                                <p:cTn id="293" presetID="10" presetClass="entr" presetSubtype="0" fill="hold" nodeType="withEffect">
                                  <p:stCondLst>
                                    <p:cond delay="0"/>
                                  </p:stCondLst>
                                  <p:childTnLst>
                                    <p:set>
                                      <p:cBhvr>
                                        <p:cTn id="294" dur="1" fill="hold">
                                          <p:stCondLst>
                                            <p:cond delay="0"/>
                                          </p:stCondLst>
                                        </p:cTn>
                                        <p:tgtEl>
                                          <p:spTgt spid="459"/>
                                        </p:tgtEl>
                                        <p:attrNameLst>
                                          <p:attrName>style.visibility</p:attrName>
                                        </p:attrNameLst>
                                      </p:cBhvr>
                                      <p:to>
                                        <p:strVal val="visible"/>
                                      </p:to>
                                    </p:set>
                                    <p:animEffect transition="in" filter="fade">
                                      <p:cBhvr>
                                        <p:cTn id="295" dur="500"/>
                                        <p:tgtEl>
                                          <p:spTgt spid="459"/>
                                        </p:tgtEl>
                                      </p:cBhvr>
                                    </p:animEffect>
                                  </p:childTnLst>
                                </p:cTn>
                              </p:par>
                              <p:par>
                                <p:cTn id="296" presetID="10" presetClass="entr" presetSubtype="0" fill="hold" nodeType="withEffect">
                                  <p:stCondLst>
                                    <p:cond delay="0"/>
                                  </p:stCondLst>
                                  <p:childTnLst>
                                    <p:set>
                                      <p:cBhvr>
                                        <p:cTn id="297" dur="1" fill="hold">
                                          <p:stCondLst>
                                            <p:cond delay="0"/>
                                          </p:stCondLst>
                                        </p:cTn>
                                        <p:tgtEl>
                                          <p:spTgt spid="460"/>
                                        </p:tgtEl>
                                        <p:attrNameLst>
                                          <p:attrName>style.visibility</p:attrName>
                                        </p:attrNameLst>
                                      </p:cBhvr>
                                      <p:to>
                                        <p:strVal val="visible"/>
                                      </p:to>
                                    </p:set>
                                    <p:animEffect transition="in" filter="fade">
                                      <p:cBhvr>
                                        <p:cTn id="298" dur="500"/>
                                        <p:tgtEl>
                                          <p:spTgt spid="460"/>
                                        </p:tgtEl>
                                      </p:cBhvr>
                                    </p:animEffect>
                                  </p:childTnLst>
                                </p:cTn>
                              </p:par>
                            </p:childTnLst>
                          </p:cTn>
                        </p:par>
                      </p:childTnLst>
                    </p:cTn>
                  </p:par>
                  <p:par>
                    <p:cTn id="299" fill="hold">
                      <p:stCondLst>
                        <p:cond delay="indefinite"/>
                      </p:stCondLst>
                      <p:childTnLst>
                        <p:par>
                          <p:cTn id="300" fill="hold">
                            <p:stCondLst>
                              <p:cond delay="0"/>
                            </p:stCondLst>
                            <p:childTnLst>
                              <p:par>
                                <p:cTn id="301" presetID="10" presetClass="entr" presetSubtype="0" fill="hold" nodeType="clickEffect">
                                  <p:stCondLst>
                                    <p:cond delay="0"/>
                                  </p:stCondLst>
                                  <p:childTnLst>
                                    <p:set>
                                      <p:cBhvr>
                                        <p:cTn id="302" dur="1" fill="hold">
                                          <p:stCondLst>
                                            <p:cond delay="0"/>
                                          </p:stCondLst>
                                        </p:cTn>
                                        <p:tgtEl>
                                          <p:spTgt spid="463"/>
                                        </p:tgtEl>
                                        <p:attrNameLst>
                                          <p:attrName>style.visibility</p:attrName>
                                        </p:attrNameLst>
                                      </p:cBhvr>
                                      <p:to>
                                        <p:strVal val="visible"/>
                                      </p:to>
                                    </p:set>
                                    <p:animEffect transition="in" filter="fade">
                                      <p:cBhvr>
                                        <p:cTn id="303" dur="500"/>
                                        <p:tgtEl>
                                          <p:spTgt spid="463"/>
                                        </p:tgtEl>
                                      </p:cBhvr>
                                    </p:animEffect>
                                  </p:childTnLst>
                                </p:cTn>
                              </p:par>
                              <p:par>
                                <p:cTn id="304" presetID="10" presetClass="entr" presetSubtype="0" fill="hold" nodeType="withEffect">
                                  <p:stCondLst>
                                    <p:cond delay="0"/>
                                  </p:stCondLst>
                                  <p:childTnLst>
                                    <p:set>
                                      <p:cBhvr>
                                        <p:cTn id="305" dur="1" fill="hold">
                                          <p:stCondLst>
                                            <p:cond delay="0"/>
                                          </p:stCondLst>
                                        </p:cTn>
                                        <p:tgtEl>
                                          <p:spTgt spid="464"/>
                                        </p:tgtEl>
                                        <p:attrNameLst>
                                          <p:attrName>style.visibility</p:attrName>
                                        </p:attrNameLst>
                                      </p:cBhvr>
                                      <p:to>
                                        <p:strVal val="visible"/>
                                      </p:to>
                                    </p:set>
                                    <p:animEffect transition="in" filter="fade">
                                      <p:cBhvr>
                                        <p:cTn id="306" dur="500"/>
                                        <p:tgtEl>
                                          <p:spTgt spid="464"/>
                                        </p:tgtEl>
                                      </p:cBhvr>
                                    </p:animEffect>
                                  </p:childTnLst>
                                </p:cTn>
                              </p:par>
                              <p:par>
                                <p:cTn id="307" presetID="10" presetClass="entr" presetSubtype="0" fill="hold" nodeType="withEffect">
                                  <p:stCondLst>
                                    <p:cond delay="0"/>
                                  </p:stCondLst>
                                  <p:childTnLst>
                                    <p:set>
                                      <p:cBhvr>
                                        <p:cTn id="308" dur="1" fill="hold">
                                          <p:stCondLst>
                                            <p:cond delay="0"/>
                                          </p:stCondLst>
                                        </p:cTn>
                                        <p:tgtEl>
                                          <p:spTgt spid="465"/>
                                        </p:tgtEl>
                                        <p:attrNameLst>
                                          <p:attrName>style.visibility</p:attrName>
                                        </p:attrNameLst>
                                      </p:cBhvr>
                                      <p:to>
                                        <p:strVal val="visible"/>
                                      </p:to>
                                    </p:set>
                                    <p:animEffect transition="in" filter="fade">
                                      <p:cBhvr>
                                        <p:cTn id="309" dur="500"/>
                                        <p:tgtEl>
                                          <p:spTgt spid="465"/>
                                        </p:tgtEl>
                                      </p:cBhvr>
                                    </p:animEffect>
                                  </p:childTnLst>
                                </p:cTn>
                              </p:par>
                              <p:par>
                                <p:cTn id="310" presetID="10" presetClass="entr" presetSubtype="0" fill="hold" nodeType="withEffect">
                                  <p:stCondLst>
                                    <p:cond delay="0"/>
                                  </p:stCondLst>
                                  <p:childTnLst>
                                    <p:set>
                                      <p:cBhvr>
                                        <p:cTn id="311" dur="1" fill="hold">
                                          <p:stCondLst>
                                            <p:cond delay="0"/>
                                          </p:stCondLst>
                                        </p:cTn>
                                        <p:tgtEl>
                                          <p:spTgt spid="466"/>
                                        </p:tgtEl>
                                        <p:attrNameLst>
                                          <p:attrName>style.visibility</p:attrName>
                                        </p:attrNameLst>
                                      </p:cBhvr>
                                      <p:to>
                                        <p:strVal val="visible"/>
                                      </p:to>
                                    </p:set>
                                    <p:animEffect transition="in" filter="fade">
                                      <p:cBhvr>
                                        <p:cTn id="312" dur="500"/>
                                        <p:tgtEl>
                                          <p:spTgt spid="466"/>
                                        </p:tgtEl>
                                      </p:cBhvr>
                                    </p:animEffect>
                                  </p:childTnLst>
                                </p:cTn>
                              </p:par>
                              <p:par>
                                <p:cTn id="313" presetID="10" presetClass="entr" presetSubtype="0" fill="hold" nodeType="withEffect">
                                  <p:stCondLst>
                                    <p:cond delay="0"/>
                                  </p:stCondLst>
                                  <p:childTnLst>
                                    <p:set>
                                      <p:cBhvr>
                                        <p:cTn id="314" dur="1" fill="hold">
                                          <p:stCondLst>
                                            <p:cond delay="0"/>
                                          </p:stCondLst>
                                        </p:cTn>
                                        <p:tgtEl>
                                          <p:spTgt spid="467"/>
                                        </p:tgtEl>
                                        <p:attrNameLst>
                                          <p:attrName>style.visibility</p:attrName>
                                        </p:attrNameLst>
                                      </p:cBhvr>
                                      <p:to>
                                        <p:strVal val="visible"/>
                                      </p:to>
                                    </p:set>
                                    <p:animEffect transition="in" filter="fade">
                                      <p:cBhvr>
                                        <p:cTn id="315" dur="500"/>
                                        <p:tgtEl>
                                          <p:spTgt spid="467"/>
                                        </p:tgtEl>
                                      </p:cBhvr>
                                    </p:animEffect>
                                  </p:childTnLst>
                                </p:cTn>
                              </p:par>
                            </p:childTnLst>
                          </p:cTn>
                        </p:par>
                      </p:childTnLst>
                    </p:cTn>
                  </p:par>
                  <p:par>
                    <p:cTn id="316" fill="hold">
                      <p:stCondLst>
                        <p:cond delay="indefinite"/>
                      </p:stCondLst>
                      <p:childTnLst>
                        <p:par>
                          <p:cTn id="317" fill="hold">
                            <p:stCondLst>
                              <p:cond delay="0"/>
                            </p:stCondLst>
                            <p:childTnLst>
                              <p:par>
                                <p:cTn id="318" presetID="10" presetClass="entr" presetSubtype="0" fill="hold" nodeType="clickEffect">
                                  <p:stCondLst>
                                    <p:cond delay="0"/>
                                  </p:stCondLst>
                                  <p:childTnLst>
                                    <p:set>
                                      <p:cBhvr>
                                        <p:cTn id="319" dur="1" fill="hold">
                                          <p:stCondLst>
                                            <p:cond delay="0"/>
                                          </p:stCondLst>
                                        </p:cTn>
                                        <p:tgtEl>
                                          <p:spTgt spid="366">
                                            <p:txEl>
                                              <p:pRg st="0" end="0"/>
                                            </p:txEl>
                                          </p:spTgt>
                                        </p:tgtEl>
                                        <p:attrNameLst>
                                          <p:attrName>style.visibility</p:attrName>
                                        </p:attrNameLst>
                                      </p:cBhvr>
                                      <p:to>
                                        <p:strVal val="visible"/>
                                      </p:to>
                                    </p:set>
                                    <p:animEffect transition="in" filter="fade">
                                      <p:cBhvr>
                                        <p:cTn id="320" dur="500"/>
                                        <p:tgtEl>
                                          <p:spTgt spid="36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ACA91-3934-4B42-894B-BD34844241B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C1FF727-ACA0-459D-AD37-9B179C58CB68}"/>
              </a:ext>
            </a:extLst>
          </p:cNvPr>
          <p:cNvSpPr>
            <a:spLocks noGrp="1"/>
          </p:cNvSpPr>
          <p:nvPr>
            <p:ph idx="1"/>
          </p:nvPr>
        </p:nvSpPr>
        <p:spPr/>
        <p:txBody>
          <a:bodyPr/>
          <a:lstStyle/>
          <a:p>
            <a:endParaRPr lang="en-US"/>
          </a:p>
        </p:txBody>
      </p:sp>
      <p:sp>
        <p:nvSpPr>
          <p:cNvPr id="6" name="Rectangle 5">
            <a:extLst>
              <a:ext uri="{FF2B5EF4-FFF2-40B4-BE49-F238E27FC236}">
                <a16:creationId xmlns:a16="http://schemas.microsoft.com/office/drawing/2014/main" id="{30287F5D-E2ED-4E39-8A74-C4289C622145}"/>
              </a:ext>
            </a:extLst>
          </p:cNvPr>
          <p:cNvSpPr/>
          <p:nvPr/>
        </p:nvSpPr>
        <p:spPr>
          <a:xfrm>
            <a:off x="0" y="-2824"/>
            <a:ext cx="12192000" cy="68608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7" name="Credit MAIN">
            <a:extLst>
              <a:ext uri="{FF2B5EF4-FFF2-40B4-BE49-F238E27FC236}">
                <a16:creationId xmlns:a16="http://schemas.microsoft.com/office/drawing/2014/main" id="{94A4E9E9-AAFE-4870-B0E1-2EF0171BE35C}"/>
              </a:ext>
            </a:extLst>
          </p:cNvPr>
          <p:cNvSpPr txBox="1"/>
          <p:nvPr/>
        </p:nvSpPr>
        <p:spPr>
          <a:xfrm>
            <a:off x="50878" y="6432004"/>
            <a:ext cx="2668876"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Phạm</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Văn</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Quyết</a:t>
            </a:r>
            <a:endParaRPr lang="en-US" dirty="0">
              <a:solidFill>
                <a:schemeClr val="bg1">
                  <a:lumMod val="95000"/>
                  <a:alpha val="46000"/>
                </a:schemeClr>
              </a:solidFill>
            </a:endParaRPr>
          </a:p>
        </p:txBody>
      </p:sp>
      <p:sp>
        <p:nvSpPr>
          <p:cNvPr id="22" name="Credit INTRO">
            <a:extLst>
              <a:ext uri="{FF2B5EF4-FFF2-40B4-BE49-F238E27FC236}">
                <a16:creationId xmlns:a16="http://schemas.microsoft.com/office/drawing/2014/main" id="{CB3EB98F-8688-4FFE-965E-A4D47D8EB987}"/>
              </a:ext>
            </a:extLst>
          </p:cNvPr>
          <p:cNvSpPr txBox="1"/>
          <p:nvPr/>
        </p:nvSpPr>
        <p:spPr>
          <a:xfrm>
            <a:off x="50877" y="6432272"/>
            <a:ext cx="2668876" cy="369332"/>
          </a:xfrm>
          <a:prstGeom prst="rect">
            <a:avLst/>
          </a:prstGeom>
          <a:noFill/>
        </p:spPr>
        <p:txBody>
          <a:bodyPr wrap="square" rtlCol="0">
            <a:spAutoFit/>
          </a:bodyPr>
          <a:lstStyle/>
          <a:p>
            <a:r>
              <a:rPr lang="en-US" sz="1800" spc="120" dirty="0">
                <a:solidFill>
                  <a:schemeClr val="bg1">
                    <a:lumMod val="95000"/>
                  </a:schemeClr>
                </a:solidFill>
                <a:latin typeface="JetBrains Mono Light" panose="02000009000000000000" pitchFamily="49" charset="0"/>
                <a:cs typeface="JetBrains Mono Light" panose="02000009000000000000" pitchFamily="49" charset="0"/>
              </a:rPr>
              <a:t>Phạm </a:t>
            </a:r>
            <a:r>
              <a:rPr lang="en-US" sz="1800" spc="120" dirty="0" err="1">
                <a:solidFill>
                  <a:schemeClr val="bg1">
                    <a:lumMod val="95000"/>
                  </a:schemeClr>
                </a:solidFill>
                <a:latin typeface="JetBrains Mono Light" panose="02000009000000000000" pitchFamily="49" charset="0"/>
                <a:cs typeface="JetBrains Mono Light" panose="02000009000000000000" pitchFamily="49" charset="0"/>
              </a:rPr>
              <a:t>Văn</a:t>
            </a:r>
            <a:r>
              <a:rPr lang="en-US" sz="1800" spc="120" dirty="0">
                <a:solidFill>
                  <a:schemeClr val="bg1">
                    <a:lumMod val="95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schemeClr>
                </a:solidFill>
                <a:latin typeface="JetBrains Mono Light" panose="02000009000000000000" pitchFamily="49" charset="0"/>
                <a:cs typeface="JetBrains Mono Light" panose="02000009000000000000" pitchFamily="49" charset="0"/>
              </a:rPr>
              <a:t>Quyết</a:t>
            </a:r>
            <a:endParaRPr lang="en-US" dirty="0"/>
          </a:p>
        </p:txBody>
      </p:sp>
      <p:sp>
        <p:nvSpPr>
          <p:cNvPr id="8" name="Header">
            <a:extLst>
              <a:ext uri="{FF2B5EF4-FFF2-40B4-BE49-F238E27FC236}">
                <a16:creationId xmlns:a16="http://schemas.microsoft.com/office/drawing/2014/main" id="{E7940F3A-D2A2-4AFD-AA89-794F2D755AE1}"/>
              </a:ext>
            </a:extLst>
          </p:cNvPr>
          <p:cNvSpPr txBox="1"/>
          <p:nvPr/>
        </p:nvSpPr>
        <p:spPr>
          <a:xfrm>
            <a:off x="50878" y="79574"/>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9" name="Footer: Part">
            <a:extLst>
              <a:ext uri="{FF2B5EF4-FFF2-40B4-BE49-F238E27FC236}">
                <a16:creationId xmlns:a16="http://schemas.microsoft.com/office/drawing/2014/main" id="{750EA5A1-5240-457E-AF47-07ADD11B0B75}"/>
              </a:ext>
            </a:extLst>
          </p:cNvPr>
          <p:cNvSpPr txBox="1"/>
          <p:nvPr/>
        </p:nvSpPr>
        <p:spPr>
          <a:xfrm>
            <a:off x="8487508" y="6464494"/>
            <a:ext cx="3733195" cy="369332"/>
          </a:xfrm>
          <a:prstGeom prst="rect">
            <a:avLst/>
          </a:prstGeom>
          <a:noFill/>
        </p:spPr>
        <p:txBody>
          <a:bodyPr wrap="square" rtlCol="0">
            <a:spAutoFit/>
          </a:bodyPr>
          <a:lstStyle/>
          <a:p>
            <a:r>
              <a:rPr lang="en-US" dirty="0" err="1">
                <a:solidFill>
                  <a:schemeClr val="bg1">
                    <a:lumMod val="95000"/>
                  </a:schemeClr>
                </a:solidFill>
                <a:latin typeface="JetBrains Mono Regular" panose="02000009000000000000" pitchFamily="49" charset="0"/>
                <a:cs typeface="JetBrains Mono Regular" panose="02000009000000000000" pitchFamily="49" charset="0"/>
              </a:rPr>
              <a:t>Bài</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toán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a:solidFill>
                  <a:schemeClr val="bg1">
                    <a:lumMod val="95000"/>
                  </a:schemeClr>
                </a:solidFill>
                <a:latin typeface="JetBrains Mono Light" panose="02000009000000000000" pitchFamily="49" charset="0"/>
                <a:cs typeface="JetBrains Mono Light" panose="02000009000000000000" pitchFamily="49" charset="0"/>
              </a:rPr>
              <a:t>“</a:t>
            </a:r>
            <a:r>
              <a:rPr lang="en-US" dirty="0" err="1">
                <a:solidFill>
                  <a:schemeClr val="bg1">
                    <a:lumMod val="85000"/>
                  </a:schemeClr>
                </a:solidFill>
                <a:latin typeface="JetBrains Mono Light" panose="02000009000000000000"/>
                <a:cs typeface="JetBrains Mono" panose="02000009000000000000" pitchFamily="49" charset="0"/>
              </a:rPr>
              <a:t>Người</a:t>
            </a:r>
            <a:r>
              <a:rPr lang="en-US" dirty="0">
                <a:solidFill>
                  <a:schemeClr val="bg1">
                    <a:lumMod val="85000"/>
                  </a:schemeClr>
                </a:solidFill>
                <a:latin typeface="JetBrains Mono Light" panose="02000009000000000000"/>
                <a:cs typeface="JetBrains Mono" panose="02000009000000000000" pitchFamily="49" charset="0"/>
              </a:rPr>
              <a:t> </a:t>
            </a:r>
            <a:r>
              <a:rPr lang="en-US" dirty="0" err="1">
                <a:solidFill>
                  <a:schemeClr val="bg1">
                    <a:lumMod val="85000"/>
                  </a:schemeClr>
                </a:solidFill>
                <a:latin typeface="JetBrains Mono Light" panose="02000009000000000000"/>
                <a:cs typeface="JetBrains Mono" panose="02000009000000000000" pitchFamily="49" charset="0"/>
              </a:rPr>
              <a:t>bán</a:t>
            </a:r>
            <a:r>
              <a:rPr lang="en-US" dirty="0">
                <a:solidFill>
                  <a:schemeClr val="bg1">
                    <a:lumMod val="85000"/>
                  </a:schemeClr>
                </a:solidFill>
                <a:latin typeface="JetBrains Mono Light" panose="02000009000000000000"/>
                <a:cs typeface="JetBrains Mono" panose="02000009000000000000" pitchFamily="49" charset="0"/>
              </a:rPr>
              <a:t> </a:t>
            </a:r>
            <a:r>
              <a:rPr lang="en-US" dirty="0" err="1">
                <a:solidFill>
                  <a:schemeClr val="bg1">
                    <a:lumMod val="85000"/>
                  </a:schemeClr>
                </a:solidFill>
                <a:latin typeface="JetBrains Mono Light" panose="02000009000000000000"/>
                <a:cs typeface="JetBrains Mono" panose="02000009000000000000" pitchFamily="49" charset="0"/>
              </a:rPr>
              <a:t>hàng</a:t>
            </a:r>
            <a:r>
              <a:rPr lang="en-US" dirty="0">
                <a:solidFill>
                  <a:schemeClr val="bg1">
                    <a:lumMod val="85000"/>
                  </a:schemeClr>
                </a:solidFill>
                <a:latin typeface="JetBrains Mono Light" panose="02000009000000000000"/>
                <a:cs typeface="JetBrains Mono" panose="02000009000000000000" pitchFamily="49" charset="0"/>
              </a:rPr>
              <a:t>”</a:t>
            </a:r>
          </a:p>
        </p:txBody>
      </p:sp>
      <p:sp>
        <p:nvSpPr>
          <p:cNvPr id="12" name="Rectangle 11">
            <a:extLst>
              <a:ext uri="{FF2B5EF4-FFF2-40B4-BE49-F238E27FC236}">
                <a16:creationId xmlns:a16="http://schemas.microsoft.com/office/drawing/2014/main" id="{93F4E672-FDD0-4F77-BF3D-0A30ECF260F5}"/>
              </a:ext>
            </a:extLst>
          </p:cNvPr>
          <p:cNvSpPr/>
          <p:nvPr/>
        </p:nvSpPr>
        <p:spPr>
          <a:xfrm>
            <a:off x="591458" y="603227"/>
            <a:ext cx="3650464"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47BFF6E-F38A-4771-BF17-7CA99033B3AD}"/>
              </a:ext>
            </a:extLst>
          </p:cNvPr>
          <p:cNvSpPr txBox="1"/>
          <p:nvPr/>
        </p:nvSpPr>
        <p:spPr>
          <a:xfrm>
            <a:off x="603363" y="602701"/>
            <a:ext cx="3638559" cy="369332"/>
          </a:xfrm>
          <a:prstGeom prst="rect">
            <a:avLst/>
          </a:prstGeom>
          <a:no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Bài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toán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Người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bán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hàng</a:t>
            </a:r>
            <a:r>
              <a:rPr lang="en-US" dirty="0">
                <a:latin typeface="JetBrains Mono Regular" panose="02000009000000000000" pitchFamily="49" charset="0"/>
                <a:cs typeface="JetBrains Mono Regular" panose="02000009000000000000" pitchFamily="49" charset="0"/>
              </a:rPr>
              <a:t>”</a:t>
            </a:r>
          </a:p>
        </p:txBody>
      </p:sp>
      <p:sp>
        <p:nvSpPr>
          <p:cNvPr id="14" name="TextBox 13">
            <a:extLst>
              <a:ext uri="{FF2B5EF4-FFF2-40B4-BE49-F238E27FC236}">
                <a16:creationId xmlns:a16="http://schemas.microsoft.com/office/drawing/2014/main" id="{4C13F9ED-8010-40C4-86A8-314AC6FFC2B6}"/>
              </a:ext>
            </a:extLst>
          </p:cNvPr>
          <p:cNvSpPr txBox="1"/>
          <p:nvPr/>
        </p:nvSpPr>
        <p:spPr>
          <a:xfrm>
            <a:off x="840657" y="1152125"/>
            <a:ext cx="1648543" cy="400110"/>
          </a:xfrm>
          <a:prstGeom prst="rect">
            <a:avLst/>
          </a:prstGeom>
          <a:noFill/>
          <a:ln>
            <a:solidFill>
              <a:schemeClr val="bg1">
                <a:lumMod val="50000"/>
              </a:schemeClr>
            </a:solidFill>
          </a:ln>
        </p:spPr>
        <p:txBody>
          <a:bodyPr wrap="square" rtlCol="0">
            <a:spAutoFit/>
          </a:bodyPr>
          <a:lstStyle/>
          <a:p>
            <a:r>
              <a:rPr lang="en-US" sz="2000" dirty="0" err="1">
                <a:solidFill>
                  <a:schemeClr val="bg1"/>
                </a:solidFill>
                <a:latin typeface="JetBrains Mono Regular" panose="02000009000000000000" pitchFamily="49" charset="0"/>
                <a:cs typeface="JetBrains Mono Regular" panose="02000009000000000000" pitchFamily="49" charset="0"/>
              </a:rPr>
              <a:t>Phát</a:t>
            </a:r>
            <a:r>
              <a:rPr lang="en-US" sz="2000" dirty="0">
                <a:solidFill>
                  <a:schemeClr val="bg1"/>
                </a:solidFill>
                <a:latin typeface="JetBrains Mono Regular" panose="02000009000000000000" pitchFamily="49" charset="0"/>
                <a:cs typeface="JetBrains Mono Regular" panose="02000009000000000000" pitchFamily="49" charset="0"/>
              </a:rPr>
              <a:t> </a:t>
            </a:r>
            <a:r>
              <a:rPr lang="en-US" sz="2000" dirty="0" err="1">
                <a:solidFill>
                  <a:schemeClr val="bg1"/>
                </a:solidFill>
                <a:latin typeface="JetBrains Mono Regular" panose="02000009000000000000" pitchFamily="49" charset="0"/>
                <a:cs typeface="JetBrains Mono Regular" panose="02000009000000000000" pitchFamily="49" charset="0"/>
              </a:rPr>
              <a:t>biểu</a:t>
            </a:r>
            <a:endParaRPr lang="en-US" sz="2000" dirty="0">
              <a:solidFill>
                <a:schemeClr val="bg1"/>
              </a:solidFill>
              <a:latin typeface="JetBrains Mono Regular" panose="02000009000000000000" pitchFamily="49" charset="0"/>
              <a:cs typeface="JetBrains Mono Regular" panose="02000009000000000000" pitchFamily="49" charset="0"/>
            </a:endParaRPr>
          </a:p>
        </p:txBody>
      </p:sp>
      <p:sp>
        <p:nvSpPr>
          <p:cNvPr id="17" name="Footer: Title">
            <a:extLst>
              <a:ext uri="{FF2B5EF4-FFF2-40B4-BE49-F238E27FC236}">
                <a16:creationId xmlns:a16="http://schemas.microsoft.com/office/drawing/2014/main" id="{AE1B91E4-2EB7-44D7-8C08-A5F9AF329271}"/>
              </a:ext>
            </a:extLst>
          </p:cNvPr>
          <p:cNvSpPr txBox="1"/>
          <p:nvPr/>
        </p:nvSpPr>
        <p:spPr>
          <a:xfrm>
            <a:off x="7385543" y="6469576"/>
            <a:ext cx="1215645"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a:t>
            </a:r>
          </a:p>
        </p:txBody>
      </p:sp>
      <p:sp>
        <p:nvSpPr>
          <p:cNvPr id="19" name="TextBox 18">
            <a:extLst>
              <a:ext uri="{FF2B5EF4-FFF2-40B4-BE49-F238E27FC236}">
                <a16:creationId xmlns:a16="http://schemas.microsoft.com/office/drawing/2014/main" id="{9746F96F-EAE7-4181-947C-408EFA3795F4}"/>
              </a:ext>
            </a:extLst>
          </p:cNvPr>
          <p:cNvSpPr txBox="1"/>
          <p:nvPr/>
        </p:nvSpPr>
        <p:spPr>
          <a:xfrm>
            <a:off x="840452" y="1703794"/>
            <a:ext cx="4884477" cy="4401205"/>
          </a:xfrm>
          <a:prstGeom prst="rect">
            <a:avLst/>
          </a:prstGeom>
          <a:noFill/>
          <a:ln>
            <a:solidFill>
              <a:schemeClr val="bg1"/>
            </a:solidFill>
          </a:ln>
        </p:spPr>
        <p:txBody>
          <a:bodyPr wrap="square" rtlCol="0">
            <a:spAutoFit/>
          </a:bodyPr>
          <a:lstStyle/>
          <a:p>
            <a:r>
              <a:rPr lang="vi-VN" sz="2000" b="0" i="1" dirty="0">
                <a:solidFill>
                  <a:srgbClr val="D7D3CE"/>
                </a:solidFill>
                <a:effectLst/>
                <a:latin typeface="JetBrains Mono ExtraLight" panose="02000009000000000000" pitchFamily="49" charset="0"/>
                <a:cs typeface="JetBrains Mono ExtraLight" panose="02000009000000000000" pitchFamily="49" charset="0"/>
              </a:rPr>
              <a:t>Có một người giao hàng cần đi giao hàng tại n thành phố. </a:t>
            </a:r>
            <a:endParaRPr lang="en-US" sz="2000" b="0" i="1" dirty="0">
              <a:solidFill>
                <a:srgbClr val="D7D3CE"/>
              </a:solidFill>
              <a:effectLst/>
              <a:latin typeface="JetBrains Mono ExtraLight" panose="02000009000000000000" pitchFamily="49" charset="0"/>
              <a:cs typeface="JetBrains Mono ExtraLight" panose="02000009000000000000" pitchFamily="49" charset="0"/>
            </a:endParaRPr>
          </a:p>
          <a:p>
            <a:r>
              <a:rPr lang="vi-VN" sz="2000" b="0" i="1" dirty="0">
                <a:solidFill>
                  <a:srgbClr val="D7D3CE"/>
                </a:solidFill>
                <a:effectLst/>
                <a:latin typeface="JetBrains Mono ExtraLight" panose="02000009000000000000" pitchFamily="49" charset="0"/>
                <a:cs typeface="JetBrains Mono ExtraLight" panose="02000009000000000000" pitchFamily="49" charset="0"/>
              </a:rPr>
              <a:t>Anh ta xuất phát từ một thành phố nào đó, đi qua các thành phố khác để giao hàng và trở về thành phố ban đầu. Mỗi thành phố chỉ đến một lần, và khoảng cách từ một thành phố đến các thành phố khác đã được biết trước. </a:t>
            </a:r>
            <a:endParaRPr lang="en-US" sz="2000" b="0" i="1" dirty="0">
              <a:solidFill>
                <a:srgbClr val="D7D3CE"/>
              </a:solidFill>
              <a:effectLst/>
              <a:latin typeface="JetBrains Mono ExtraLight" panose="02000009000000000000" pitchFamily="49" charset="0"/>
              <a:cs typeface="JetBrains Mono ExtraLight" panose="02000009000000000000" pitchFamily="49" charset="0"/>
            </a:endParaRPr>
          </a:p>
          <a:p>
            <a:r>
              <a:rPr lang="vi-VN" sz="2000" b="0" i="1" dirty="0">
                <a:solidFill>
                  <a:srgbClr val="D7D3CE"/>
                </a:solidFill>
                <a:effectLst/>
                <a:latin typeface="JetBrains Mono ExtraLight" panose="02000009000000000000" pitchFamily="49" charset="0"/>
                <a:cs typeface="JetBrains Mono ExtraLight" panose="02000009000000000000" pitchFamily="49" charset="0"/>
              </a:rPr>
              <a:t>Hãy tìm một chu trình (một đường đi khép kín thỏa mãn điều kiện trên) sao cho tổng độ dài các cạnh là nhỏ nhất.</a:t>
            </a:r>
            <a:endParaRPr lang="en-US" sz="2000" i="1" dirty="0">
              <a:latin typeface="JetBrains Mono ExtraLight" panose="02000009000000000000" pitchFamily="49" charset="0"/>
              <a:cs typeface="JetBrains Mono ExtraLight" panose="02000009000000000000" pitchFamily="49" charset="0"/>
            </a:endParaRPr>
          </a:p>
        </p:txBody>
      </p:sp>
      <p:cxnSp>
        <p:nvCxnSpPr>
          <p:cNvPr id="24" name="Straight Arrow Connector 23">
            <a:extLst>
              <a:ext uri="{FF2B5EF4-FFF2-40B4-BE49-F238E27FC236}">
                <a16:creationId xmlns:a16="http://schemas.microsoft.com/office/drawing/2014/main" id="{85646B67-0452-49A8-9715-805592F081AE}"/>
              </a:ext>
            </a:extLst>
          </p:cNvPr>
          <p:cNvCxnSpPr>
            <a:cxnSpLocks/>
            <a:endCxn id="28" idx="3"/>
          </p:cNvCxnSpPr>
          <p:nvPr/>
        </p:nvCxnSpPr>
        <p:spPr>
          <a:xfrm flipH="1">
            <a:off x="7172367" y="2360918"/>
            <a:ext cx="1592708" cy="1693719"/>
          </a:xfrm>
          <a:prstGeom prst="straightConnector1">
            <a:avLst/>
          </a:prstGeom>
          <a:ln w="57150">
            <a:solidFill>
              <a:schemeClr val="bg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9346412-979E-4D14-BE54-60D5C3C0CFBB}"/>
              </a:ext>
            </a:extLst>
          </p:cNvPr>
          <p:cNvCxnSpPr>
            <a:cxnSpLocks/>
            <a:endCxn id="29" idx="1"/>
          </p:cNvCxnSpPr>
          <p:nvPr/>
        </p:nvCxnSpPr>
        <p:spPr>
          <a:xfrm>
            <a:off x="7172367" y="4054637"/>
            <a:ext cx="1210004" cy="965766"/>
          </a:xfrm>
          <a:prstGeom prst="straightConnector1">
            <a:avLst/>
          </a:prstGeom>
          <a:ln w="57150">
            <a:solidFill>
              <a:schemeClr val="bg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24F874B-233A-4C76-8667-C53E23EE4C96}"/>
              </a:ext>
            </a:extLst>
          </p:cNvPr>
          <p:cNvCxnSpPr>
            <a:cxnSpLocks/>
            <a:endCxn id="31" idx="1"/>
          </p:cNvCxnSpPr>
          <p:nvPr/>
        </p:nvCxnSpPr>
        <p:spPr>
          <a:xfrm flipV="1">
            <a:off x="9238156" y="3462203"/>
            <a:ext cx="1769440" cy="1583890"/>
          </a:xfrm>
          <a:prstGeom prst="straightConnector1">
            <a:avLst/>
          </a:prstGeom>
          <a:ln w="57150">
            <a:solidFill>
              <a:schemeClr val="bg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33EF4964-5205-4E5C-8D41-6B94BBC57531}"/>
              </a:ext>
            </a:extLst>
          </p:cNvPr>
          <p:cNvSpPr txBox="1"/>
          <p:nvPr/>
        </p:nvSpPr>
        <p:spPr>
          <a:xfrm>
            <a:off x="6316582" y="3623750"/>
            <a:ext cx="855785" cy="861774"/>
          </a:xfrm>
          <a:prstGeom prst="rect">
            <a:avLst/>
          </a:prstGeom>
          <a:solidFill>
            <a:schemeClr val="tx1"/>
          </a:solidFill>
          <a:ln>
            <a:solidFill>
              <a:schemeClr val="bg1"/>
            </a:solidFill>
          </a:ln>
        </p:spPr>
        <p:txBody>
          <a:bodyPr wrap="square" rtlCol="0">
            <a:spAutoFit/>
          </a:bodyPr>
          <a:lstStyle/>
          <a:p>
            <a:pPr algn="ctr"/>
            <a:r>
              <a:rPr lang="en-US" sz="5000" dirty="0">
                <a:solidFill>
                  <a:schemeClr val="bg1"/>
                </a:solidFill>
                <a:latin typeface="JetBrains Mono Light" panose="02000009000000000000" pitchFamily="49" charset="0"/>
                <a:cs typeface="JetBrains Mono Light" panose="02000009000000000000" pitchFamily="49" charset="0"/>
              </a:rPr>
              <a:t>B</a:t>
            </a:r>
          </a:p>
        </p:txBody>
      </p:sp>
      <p:sp>
        <p:nvSpPr>
          <p:cNvPr id="29" name="TextBox 28">
            <a:extLst>
              <a:ext uri="{FF2B5EF4-FFF2-40B4-BE49-F238E27FC236}">
                <a16:creationId xmlns:a16="http://schemas.microsoft.com/office/drawing/2014/main" id="{A3C283BC-045E-450D-B869-87B323151720}"/>
              </a:ext>
            </a:extLst>
          </p:cNvPr>
          <p:cNvSpPr txBox="1"/>
          <p:nvPr/>
        </p:nvSpPr>
        <p:spPr>
          <a:xfrm>
            <a:off x="8382371" y="4589516"/>
            <a:ext cx="855785" cy="861774"/>
          </a:xfrm>
          <a:prstGeom prst="rect">
            <a:avLst/>
          </a:prstGeom>
          <a:solidFill>
            <a:schemeClr val="tx1"/>
          </a:solidFill>
          <a:ln>
            <a:solidFill>
              <a:schemeClr val="bg1"/>
            </a:solidFill>
          </a:ln>
        </p:spPr>
        <p:txBody>
          <a:bodyPr wrap="square" rtlCol="0">
            <a:spAutoFit/>
          </a:bodyPr>
          <a:lstStyle/>
          <a:p>
            <a:pPr algn="ctr"/>
            <a:r>
              <a:rPr lang="en-US" sz="5000" dirty="0">
                <a:solidFill>
                  <a:schemeClr val="bg1"/>
                </a:solidFill>
                <a:latin typeface="JetBrains Mono Light" panose="02000009000000000000" pitchFamily="49" charset="0"/>
                <a:cs typeface="JetBrains Mono Light" panose="02000009000000000000" pitchFamily="49" charset="0"/>
              </a:rPr>
              <a:t>C</a:t>
            </a:r>
          </a:p>
        </p:txBody>
      </p:sp>
      <p:sp>
        <p:nvSpPr>
          <p:cNvPr id="30" name="TextBox 29">
            <a:extLst>
              <a:ext uri="{FF2B5EF4-FFF2-40B4-BE49-F238E27FC236}">
                <a16:creationId xmlns:a16="http://schemas.microsoft.com/office/drawing/2014/main" id="{45A09052-05BA-4395-B8CB-84637013B693}"/>
              </a:ext>
            </a:extLst>
          </p:cNvPr>
          <p:cNvSpPr txBox="1"/>
          <p:nvPr/>
        </p:nvSpPr>
        <p:spPr>
          <a:xfrm>
            <a:off x="8765075" y="1976239"/>
            <a:ext cx="855785" cy="861774"/>
          </a:xfrm>
          <a:prstGeom prst="rect">
            <a:avLst/>
          </a:prstGeom>
          <a:solidFill>
            <a:schemeClr val="tx1"/>
          </a:solidFill>
          <a:ln>
            <a:solidFill>
              <a:schemeClr val="bg1"/>
            </a:solidFill>
          </a:ln>
        </p:spPr>
        <p:txBody>
          <a:bodyPr wrap="square" rtlCol="0">
            <a:spAutoFit/>
          </a:bodyPr>
          <a:lstStyle/>
          <a:p>
            <a:pPr algn="ctr"/>
            <a:r>
              <a:rPr lang="en-US" sz="5000" dirty="0">
                <a:solidFill>
                  <a:schemeClr val="bg1"/>
                </a:solidFill>
                <a:latin typeface="JetBrains Mono Light" panose="02000009000000000000" pitchFamily="49" charset="0"/>
                <a:cs typeface="JetBrains Mono Light" panose="02000009000000000000" pitchFamily="49" charset="0"/>
              </a:rPr>
              <a:t>A</a:t>
            </a:r>
          </a:p>
        </p:txBody>
      </p:sp>
      <p:sp>
        <p:nvSpPr>
          <p:cNvPr id="31" name="TextBox 30">
            <a:extLst>
              <a:ext uri="{FF2B5EF4-FFF2-40B4-BE49-F238E27FC236}">
                <a16:creationId xmlns:a16="http://schemas.microsoft.com/office/drawing/2014/main" id="{1E44FB91-B522-4F52-9557-64BEFB06623B}"/>
              </a:ext>
            </a:extLst>
          </p:cNvPr>
          <p:cNvSpPr txBox="1"/>
          <p:nvPr/>
        </p:nvSpPr>
        <p:spPr>
          <a:xfrm>
            <a:off x="11007596" y="3031316"/>
            <a:ext cx="855785" cy="861774"/>
          </a:xfrm>
          <a:prstGeom prst="rect">
            <a:avLst/>
          </a:prstGeom>
          <a:solidFill>
            <a:schemeClr val="tx1"/>
          </a:solidFill>
          <a:ln>
            <a:solidFill>
              <a:schemeClr val="bg1"/>
            </a:solidFill>
          </a:ln>
        </p:spPr>
        <p:txBody>
          <a:bodyPr wrap="square" rtlCol="0">
            <a:spAutoFit/>
          </a:bodyPr>
          <a:lstStyle/>
          <a:p>
            <a:pPr algn="ctr"/>
            <a:r>
              <a:rPr lang="en-US" sz="5000" dirty="0">
                <a:solidFill>
                  <a:schemeClr val="bg1"/>
                </a:solidFill>
                <a:latin typeface="JetBrains Mono Light" panose="02000009000000000000" pitchFamily="49" charset="0"/>
                <a:cs typeface="JetBrains Mono Light" panose="02000009000000000000" pitchFamily="49" charset="0"/>
              </a:rPr>
              <a:t>D</a:t>
            </a:r>
          </a:p>
        </p:txBody>
      </p:sp>
      <p:sp>
        <p:nvSpPr>
          <p:cNvPr id="4" name="Isosceles Triangle 3">
            <a:extLst>
              <a:ext uri="{FF2B5EF4-FFF2-40B4-BE49-F238E27FC236}">
                <a16:creationId xmlns:a16="http://schemas.microsoft.com/office/drawing/2014/main" id="{6C5A0D93-940D-4D22-AD24-6A6F90ED9048}"/>
              </a:ext>
            </a:extLst>
          </p:cNvPr>
          <p:cNvSpPr/>
          <p:nvPr/>
        </p:nvSpPr>
        <p:spPr>
          <a:xfrm rot="10800000">
            <a:off x="9006616" y="1298404"/>
            <a:ext cx="372702" cy="497995"/>
          </a:xfrm>
          <a:prstGeom prst="triangle">
            <a:avLst>
              <a:gd name="adj" fmla="val 47032"/>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2E9E3F10-FD0A-49FC-91BC-CBC1B21A2D06}"/>
              </a:ext>
            </a:extLst>
          </p:cNvPr>
          <p:cNvCxnSpPr>
            <a:cxnSpLocks/>
            <a:endCxn id="29" idx="0"/>
          </p:cNvCxnSpPr>
          <p:nvPr/>
        </p:nvCxnSpPr>
        <p:spPr>
          <a:xfrm flipH="1">
            <a:off x="8810264" y="2851119"/>
            <a:ext cx="399189" cy="173839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A1C00B3-38F1-432C-AA45-1FC1A1B19CA3}"/>
              </a:ext>
            </a:extLst>
          </p:cNvPr>
          <p:cNvCxnSpPr>
            <a:cxnSpLocks/>
            <a:stCxn id="30" idx="3"/>
            <a:endCxn id="31" idx="0"/>
          </p:cNvCxnSpPr>
          <p:nvPr/>
        </p:nvCxnSpPr>
        <p:spPr>
          <a:xfrm>
            <a:off x="9620860" y="2407126"/>
            <a:ext cx="1814629" cy="6241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1B4ABD5-55BA-4D5F-9A6A-2388D71C49F1}"/>
              </a:ext>
            </a:extLst>
          </p:cNvPr>
          <p:cNvCxnSpPr>
            <a:stCxn id="28" idx="3"/>
          </p:cNvCxnSpPr>
          <p:nvPr/>
        </p:nvCxnSpPr>
        <p:spPr>
          <a:xfrm flipV="1">
            <a:off x="7172367" y="3457121"/>
            <a:ext cx="3835229" cy="59751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3" name="PAGE NUM 0">
            <a:extLst>
              <a:ext uri="{FF2B5EF4-FFF2-40B4-BE49-F238E27FC236}">
                <a16:creationId xmlns:a16="http://schemas.microsoft.com/office/drawing/2014/main" id="{3B38461C-61F7-4D78-9F6B-8480B4FE2521}"/>
              </a:ext>
            </a:extLst>
          </p:cNvPr>
          <p:cNvSpPr txBox="1"/>
          <p:nvPr/>
        </p:nvSpPr>
        <p:spPr>
          <a:xfrm>
            <a:off x="11599908" y="-510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3</a:t>
            </a:r>
          </a:p>
        </p:txBody>
      </p:sp>
      <p:sp>
        <p:nvSpPr>
          <p:cNvPr id="34" name="PAGE NUM 1">
            <a:extLst>
              <a:ext uri="{FF2B5EF4-FFF2-40B4-BE49-F238E27FC236}">
                <a16:creationId xmlns:a16="http://schemas.microsoft.com/office/drawing/2014/main" id="{CA7AF4D2-5384-4226-A8D8-D6098BC33276}"/>
              </a:ext>
            </a:extLst>
          </p:cNvPr>
          <p:cNvSpPr txBox="1"/>
          <p:nvPr/>
        </p:nvSpPr>
        <p:spPr>
          <a:xfrm>
            <a:off x="11883838" y="-6352"/>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3</a:t>
            </a:r>
            <a:endParaRPr lang="en-US" dirty="0"/>
          </a:p>
        </p:txBody>
      </p:sp>
    </p:spTree>
    <p:extLst>
      <p:ext uri="{BB962C8B-B14F-4D97-AF65-F5344CB8AC3E}">
        <p14:creationId xmlns:p14="http://schemas.microsoft.com/office/powerpoint/2010/main" val="28763017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par>
                                <p:cTn id="8" presetID="10" presetClass="exit" presetSubtype="0" fill="hold" grpId="1" nodeType="withEffect">
                                  <p:stCondLst>
                                    <p:cond delay="1000"/>
                                  </p:stCondLst>
                                  <p:childTnLst>
                                    <p:animEffect transition="out" filter="fade">
                                      <p:cBhvr>
                                        <p:cTn id="9" dur="300"/>
                                        <p:tgtEl>
                                          <p:spTgt spid="22"/>
                                        </p:tgtEl>
                                      </p:cBhvr>
                                    </p:animEffect>
                                    <p:set>
                                      <p:cBhvr>
                                        <p:cTn id="10" dur="1" fill="hold">
                                          <p:stCondLst>
                                            <p:cond delay="299"/>
                                          </p:stCondLst>
                                        </p:cTn>
                                        <p:tgtEl>
                                          <p:spTgt spid="2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par>
                                <p:cTn id="21" presetID="10" presetClass="entr" presetSubtype="0" fill="hold" grpId="0" nodeType="withEffect">
                                  <p:stCondLst>
                                    <p:cond delay="20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300"/>
                                        <p:tgtEl>
                                          <p:spTgt spid="30"/>
                                        </p:tgtEl>
                                      </p:cBhvr>
                                    </p:animEffect>
                                  </p:childTnLst>
                                </p:cTn>
                              </p:par>
                            </p:childTnLst>
                          </p:cTn>
                        </p:par>
                        <p:par>
                          <p:cTn id="24" fill="hold">
                            <p:stCondLst>
                              <p:cond delay="50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300"/>
                                        <p:tgtEl>
                                          <p:spTgt spid="28"/>
                                        </p:tgtEl>
                                      </p:cBhvr>
                                    </p:animEffect>
                                  </p:childTnLst>
                                </p:cTn>
                              </p:par>
                            </p:childTnLst>
                          </p:cTn>
                        </p:par>
                        <p:par>
                          <p:cTn id="28" fill="hold">
                            <p:stCondLst>
                              <p:cond delay="800"/>
                            </p:stCondLst>
                            <p:childTnLst>
                              <p:par>
                                <p:cTn id="29" presetID="10" presetClass="entr" presetSubtype="0" fill="hold" grpId="0" nodeType="after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300"/>
                                        <p:tgtEl>
                                          <p:spTgt spid="29"/>
                                        </p:tgtEl>
                                      </p:cBhvr>
                                    </p:animEffect>
                                  </p:childTnLst>
                                </p:cTn>
                              </p:par>
                            </p:childTnLst>
                          </p:cTn>
                        </p:par>
                        <p:par>
                          <p:cTn id="32" fill="hold">
                            <p:stCondLst>
                              <p:cond delay="1100"/>
                            </p:stCondLst>
                            <p:childTnLst>
                              <p:par>
                                <p:cTn id="33" presetID="10"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300"/>
                                        <p:tgtEl>
                                          <p:spTgt spid="31"/>
                                        </p:tgtEl>
                                      </p:cBhvr>
                                    </p:animEffect>
                                  </p:childTnLst>
                                </p:cTn>
                              </p:par>
                            </p:childTnLst>
                          </p:cTn>
                        </p:par>
                        <p:par>
                          <p:cTn id="36" fill="hold">
                            <p:stCondLst>
                              <p:cond delay="1400"/>
                            </p:stCondLst>
                            <p:childTnLst>
                              <p:par>
                                <p:cTn id="37" presetID="10" presetClass="entr" presetSubtype="0" fill="hold"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300"/>
                                        <p:tgtEl>
                                          <p:spTgt spid="24"/>
                                        </p:tgtEl>
                                      </p:cBhvr>
                                    </p:animEffect>
                                  </p:childTnLst>
                                </p:cTn>
                              </p:par>
                            </p:childTnLst>
                          </p:cTn>
                        </p:par>
                        <p:par>
                          <p:cTn id="40" fill="hold">
                            <p:stCondLst>
                              <p:cond delay="1700"/>
                            </p:stCondLst>
                            <p:childTnLst>
                              <p:par>
                                <p:cTn id="41" presetID="10" presetClass="entr" presetSubtype="0" fill="hold" nodeType="after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300"/>
                                        <p:tgtEl>
                                          <p:spTgt spid="25"/>
                                        </p:tgtEl>
                                      </p:cBhvr>
                                    </p:animEffect>
                                  </p:childTnLst>
                                </p:cTn>
                              </p:par>
                            </p:childTnLst>
                          </p:cTn>
                        </p:par>
                        <p:par>
                          <p:cTn id="44" fill="hold">
                            <p:stCondLst>
                              <p:cond delay="2000"/>
                            </p:stCondLst>
                            <p:childTnLst>
                              <p:par>
                                <p:cTn id="45" presetID="10" presetClass="entr" presetSubtype="0" fill="hold" nodeType="after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300"/>
                                        <p:tgtEl>
                                          <p:spTgt spid="26"/>
                                        </p:tgtEl>
                                      </p:cBhvr>
                                    </p:animEffect>
                                  </p:childTnLst>
                                </p:cTn>
                              </p:par>
                            </p:childTnLst>
                          </p:cTn>
                        </p:par>
                        <p:par>
                          <p:cTn id="48" fill="hold">
                            <p:stCondLst>
                              <p:cond delay="2300"/>
                            </p:stCondLst>
                            <p:childTnLst>
                              <p:par>
                                <p:cTn id="49" presetID="10" presetClass="entr" presetSubtype="0" fill="hold" nodeType="after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100"/>
                                        <p:tgtEl>
                                          <p:spTgt spid="16"/>
                                        </p:tgtEl>
                                      </p:cBhvr>
                                    </p:animEffect>
                                  </p:childTnLst>
                                </p:cTn>
                              </p:par>
                              <p:par>
                                <p:cTn id="52" presetID="10" presetClass="entr" presetSubtype="0" fill="hold" nodeType="with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100"/>
                                        <p:tgtEl>
                                          <p:spTgt spid="10"/>
                                        </p:tgtEl>
                                      </p:cBhvr>
                                    </p:animEffect>
                                  </p:childTnLst>
                                </p:cTn>
                              </p:par>
                              <p:par>
                                <p:cTn id="55" presetID="10" presetClass="entr" presetSubtype="0" fill="hold" nodeType="with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100"/>
                                        <p:tgtEl>
                                          <p:spTgt spid="27"/>
                                        </p:tgtEl>
                                      </p:cBhvr>
                                    </p:animEffect>
                                  </p:childTnLst>
                                </p:cTn>
                              </p:par>
                            </p:childTnLst>
                          </p:cTn>
                        </p:par>
                        <p:par>
                          <p:cTn id="58" fill="hold">
                            <p:stCondLst>
                              <p:cond delay="2400"/>
                            </p:stCondLst>
                            <p:childTnLst>
                              <p:par>
                                <p:cTn id="59" presetID="10" presetClass="exit" presetSubtype="0" fill="hold" nodeType="afterEffect">
                                  <p:stCondLst>
                                    <p:cond delay="0"/>
                                  </p:stCondLst>
                                  <p:childTnLst>
                                    <p:animEffect transition="out" filter="fade">
                                      <p:cBhvr>
                                        <p:cTn id="60" dur="100"/>
                                        <p:tgtEl>
                                          <p:spTgt spid="16"/>
                                        </p:tgtEl>
                                      </p:cBhvr>
                                    </p:animEffect>
                                    <p:set>
                                      <p:cBhvr>
                                        <p:cTn id="61" dur="1" fill="hold">
                                          <p:stCondLst>
                                            <p:cond delay="99"/>
                                          </p:stCondLst>
                                        </p:cTn>
                                        <p:tgtEl>
                                          <p:spTgt spid="16"/>
                                        </p:tgtEl>
                                        <p:attrNameLst>
                                          <p:attrName>style.visibility</p:attrName>
                                        </p:attrNameLst>
                                      </p:cBhvr>
                                      <p:to>
                                        <p:strVal val="hidden"/>
                                      </p:to>
                                    </p:set>
                                  </p:childTnLst>
                                </p:cTn>
                              </p:par>
                              <p:par>
                                <p:cTn id="62" presetID="10" presetClass="exit" presetSubtype="0" fill="hold" nodeType="withEffect">
                                  <p:stCondLst>
                                    <p:cond delay="0"/>
                                  </p:stCondLst>
                                  <p:childTnLst>
                                    <p:animEffect transition="out" filter="fade">
                                      <p:cBhvr>
                                        <p:cTn id="63" dur="100"/>
                                        <p:tgtEl>
                                          <p:spTgt spid="10"/>
                                        </p:tgtEl>
                                      </p:cBhvr>
                                    </p:animEffect>
                                    <p:set>
                                      <p:cBhvr>
                                        <p:cTn id="64" dur="1" fill="hold">
                                          <p:stCondLst>
                                            <p:cond delay="99"/>
                                          </p:stCondLst>
                                        </p:cTn>
                                        <p:tgtEl>
                                          <p:spTgt spid="10"/>
                                        </p:tgtEl>
                                        <p:attrNameLst>
                                          <p:attrName>style.visibility</p:attrName>
                                        </p:attrNameLst>
                                      </p:cBhvr>
                                      <p:to>
                                        <p:strVal val="hidden"/>
                                      </p:to>
                                    </p:set>
                                  </p:childTnLst>
                                </p:cTn>
                              </p:par>
                              <p:par>
                                <p:cTn id="65" presetID="10" presetClass="exit" presetSubtype="0" fill="hold" nodeType="withEffect">
                                  <p:stCondLst>
                                    <p:cond delay="0"/>
                                  </p:stCondLst>
                                  <p:childTnLst>
                                    <p:animEffect transition="out" filter="fade">
                                      <p:cBhvr>
                                        <p:cTn id="66" dur="100"/>
                                        <p:tgtEl>
                                          <p:spTgt spid="27"/>
                                        </p:tgtEl>
                                      </p:cBhvr>
                                    </p:animEffect>
                                    <p:set>
                                      <p:cBhvr>
                                        <p:cTn id="67" dur="1" fill="hold">
                                          <p:stCondLst>
                                            <p:cond delay="99"/>
                                          </p:stCondLst>
                                        </p:cTn>
                                        <p:tgtEl>
                                          <p:spTgt spid="27"/>
                                        </p:tgtEl>
                                        <p:attrNameLst>
                                          <p:attrName>style.visibility</p:attrName>
                                        </p:attrNameLst>
                                      </p:cBhvr>
                                      <p:to>
                                        <p:strVal val="hidden"/>
                                      </p:to>
                                    </p:set>
                                  </p:childTnLst>
                                </p:cTn>
                              </p:par>
                            </p:childTnLst>
                          </p:cTn>
                        </p:par>
                        <p:par>
                          <p:cTn id="68" fill="hold">
                            <p:stCondLst>
                              <p:cond delay="2500"/>
                            </p:stCondLst>
                            <p:childTnLst>
                              <p:par>
                                <p:cTn id="69" presetID="10" presetClass="entr" presetSubtype="0" fill="hold" nodeType="after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fade">
                                      <p:cBhvr>
                                        <p:cTn id="71" dur="100"/>
                                        <p:tgtEl>
                                          <p:spTgt spid="16"/>
                                        </p:tgtEl>
                                      </p:cBhvr>
                                    </p:animEffect>
                                  </p:childTnLst>
                                </p:cTn>
                              </p:par>
                              <p:par>
                                <p:cTn id="72" presetID="10" presetClass="entr" presetSubtype="0" fill="hold" nodeType="withEffect">
                                  <p:stCondLst>
                                    <p:cond delay="0"/>
                                  </p:stCondLst>
                                  <p:childTnLst>
                                    <p:set>
                                      <p:cBhvr>
                                        <p:cTn id="73" dur="1" fill="hold">
                                          <p:stCondLst>
                                            <p:cond delay="0"/>
                                          </p:stCondLst>
                                        </p:cTn>
                                        <p:tgtEl>
                                          <p:spTgt spid="10"/>
                                        </p:tgtEl>
                                        <p:attrNameLst>
                                          <p:attrName>style.visibility</p:attrName>
                                        </p:attrNameLst>
                                      </p:cBhvr>
                                      <p:to>
                                        <p:strVal val="visible"/>
                                      </p:to>
                                    </p:set>
                                    <p:animEffect transition="in" filter="fade">
                                      <p:cBhvr>
                                        <p:cTn id="74" dur="100"/>
                                        <p:tgtEl>
                                          <p:spTgt spid="10"/>
                                        </p:tgtEl>
                                      </p:cBhvr>
                                    </p:animEffect>
                                  </p:childTnLst>
                                </p:cTn>
                              </p:par>
                              <p:par>
                                <p:cTn id="75" presetID="10" presetClass="entr" presetSubtype="0" fill="hold"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100"/>
                                        <p:tgtEl>
                                          <p:spTgt spid="27"/>
                                        </p:tgtEl>
                                      </p:cBhvr>
                                    </p:animEffect>
                                  </p:childTnLst>
                                </p:cTn>
                              </p:par>
                            </p:childTnLst>
                          </p:cTn>
                        </p:par>
                        <p:par>
                          <p:cTn id="78" fill="hold">
                            <p:stCondLst>
                              <p:cond delay="2600"/>
                            </p:stCondLst>
                            <p:childTnLst>
                              <p:par>
                                <p:cTn id="79" presetID="10" presetClass="exit" presetSubtype="0" fill="hold" nodeType="afterEffect">
                                  <p:stCondLst>
                                    <p:cond delay="0"/>
                                  </p:stCondLst>
                                  <p:childTnLst>
                                    <p:animEffect transition="out" filter="fade">
                                      <p:cBhvr>
                                        <p:cTn id="80" dur="100"/>
                                        <p:tgtEl>
                                          <p:spTgt spid="16"/>
                                        </p:tgtEl>
                                      </p:cBhvr>
                                    </p:animEffect>
                                    <p:set>
                                      <p:cBhvr>
                                        <p:cTn id="81" dur="1" fill="hold">
                                          <p:stCondLst>
                                            <p:cond delay="99"/>
                                          </p:stCondLst>
                                        </p:cTn>
                                        <p:tgtEl>
                                          <p:spTgt spid="16"/>
                                        </p:tgtEl>
                                        <p:attrNameLst>
                                          <p:attrName>style.visibility</p:attrName>
                                        </p:attrNameLst>
                                      </p:cBhvr>
                                      <p:to>
                                        <p:strVal val="hidden"/>
                                      </p:to>
                                    </p:set>
                                  </p:childTnLst>
                                </p:cTn>
                              </p:par>
                              <p:par>
                                <p:cTn id="82" presetID="10" presetClass="exit" presetSubtype="0" fill="hold" nodeType="withEffect">
                                  <p:stCondLst>
                                    <p:cond delay="0"/>
                                  </p:stCondLst>
                                  <p:childTnLst>
                                    <p:animEffect transition="out" filter="fade">
                                      <p:cBhvr>
                                        <p:cTn id="83" dur="100"/>
                                        <p:tgtEl>
                                          <p:spTgt spid="10"/>
                                        </p:tgtEl>
                                      </p:cBhvr>
                                    </p:animEffect>
                                    <p:set>
                                      <p:cBhvr>
                                        <p:cTn id="84" dur="1" fill="hold">
                                          <p:stCondLst>
                                            <p:cond delay="99"/>
                                          </p:stCondLst>
                                        </p:cTn>
                                        <p:tgtEl>
                                          <p:spTgt spid="10"/>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100"/>
                                        <p:tgtEl>
                                          <p:spTgt spid="27"/>
                                        </p:tgtEl>
                                      </p:cBhvr>
                                    </p:animEffect>
                                    <p:set>
                                      <p:cBhvr>
                                        <p:cTn id="87" dur="1" fill="hold">
                                          <p:stCondLst>
                                            <p:cond delay="99"/>
                                          </p:stCondLst>
                                        </p:cTn>
                                        <p:tgtEl>
                                          <p:spTgt spid="27"/>
                                        </p:tgtEl>
                                        <p:attrNameLst>
                                          <p:attrName>style.visibility</p:attrName>
                                        </p:attrNameLst>
                                      </p:cBhvr>
                                      <p:to>
                                        <p:strVal val="hidden"/>
                                      </p:to>
                                    </p:set>
                                  </p:childTnLst>
                                </p:cTn>
                              </p:par>
                            </p:childTnLst>
                          </p:cTn>
                        </p:par>
                        <p:par>
                          <p:cTn id="88" fill="hold">
                            <p:stCondLst>
                              <p:cond delay="2700"/>
                            </p:stCondLst>
                            <p:childTnLst>
                              <p:par>
                                <p:cTn id="89" presetID="10" presetClass="entr" presetSubtype="0" fill="hold" nodeType="afterEffect">
                                  <p:stCondLst>
                                    <p:cond delay="200"/>
                                  </p:stCondLst>
                                  <p:childTnLst>
                                    <p:set>
                                      <p:cBhvr>
                                        <p:cTn id="90" dur="1" fill="hold">
                                          <p:stCondLst>
                                            <p:cond delay="0"/>
                                          </p:stCondLst>
                                        </p:cTn>
                                        <p:tgtEl>
                                          <p:spTgt spid="16"/>
                                        </p:tgtEl>
                                        <p:attrNameLst>
                                          <p:attrName>style.visibility</p:attrName>
                                        </p:attrNameLst>
                                      </p:cBhvr>
                                      <p:to>
                                        <p:strVal val="visible"/>
                                      </p:to>
                                    </p:set>
                                    <p:animEffect transition="in" filter="fade">
                                      <p:cBhvr>
                                        <p:cTn id="91" dur="100"/>
                                        <p:tgtEl>
                                          <p:spTgt spid="16"/>
                                        </p:tgtEl>
                                      </p:cBhvr>
                                    </p:animEffect>
                                  </p:childTnLst>
                                </p:cTn>
                              </p:par>
                              <p:par>
                                <p:cTn id="92" presetID="10" presetClass="entr" presetSubtype="0" fill="hold" nodeType="withEffect">
                                  <p:stCondLst>
                                    <p:cond delay="200"/>
                                  </p:stCondLst>
                                  <p:childTnLst>
                                    <p:set>
                                      <p:cBhvr>
                                        <p:cTn id="93" dur="1" fill="hold">
                                          <p:stCondLst>
                                            <p:cond delay="0"/>
                                          </p:stCondLst>
                                        </p:cTn>
                                        <p:tgtEl>
                                          <p:spTgt spid="10"/>
                                        </p:tgtEl>
                                        <p:attrNameLst>
                                          <p:attrName>style.visibility</p:attrName>
                                        </p:attrNameLst>
                                      </p:cBhvr>
                                      <p:to>
                                        <p:strVal val="visible"/>
                                      </p:to>
                                    </p:set>
                                    <p:animEffect transition="in" filter="fade">
                                      <p:cBhvr>
                                        <p:cTn id="94" dur="100"/>
                                        <p:tgtEl>
                                          <p:spTgt spid="10"/>
                                        </p:tgtEl>
                                      </p:cBhvr>
                                    </p:animEffect>
                                  </p:childTnLst>
                                </p:cTn>
                              </p:par>
                              <p:par>
                                <p:cTn id="95" presetID="10" presetClass="entr" presetSubtype="0" fill="hold" nodeType="withEffect">
                                  <p:stCondLst>
                                    <p:cond delay="200"/>
                                  </p:stCondLst>
                                  <p:childTnLst>
                                    <p:set>
                                      <p:cBhvr>
                                        <p:cTn id="96" dur="1" fill="hold">
                                          <p:stCondLst>
                                            <p:cond delay="0"/>
                                          </p:stCondLst>
                                        </p:cTn>
                                        <p:tgtEl>
                                          <p:spTgt spid="27"/>
                                        </p:tgtEl>
                                        <p:attrNameLst>
                                          <p:attrName>style.visibility</p:attrName>
                                        </p:attrNameLst>
                                      </p:cBhvr>
                                      <p:to>
                                        <p:strVal val="visible"/>
                                      </p:to>
                                    </p:set>
                                    <p:animEffect transition="in" filter="fade">
                                      <p:cBhvr>
                                        <p:cTn id="97" dur="100"/>
                                        <p:tgtEl>
                                          <p:spTgt spid="27"/>
                                        </p:tgtEl>
                                      </p:cBhvr>
                                    </p:animEffect>
                                  </p:childTnLst>
                                </p:cTn>
                              </p:par>
                              <p:par>
                                <p:cTn id="98" presetID="22" presetClass="entr" presetSubtype="1" fill="hold" grpId="0" nodeType="withEffect">
                                  <p:stCondLst>
                                    <p:cond delay="200"/>
                                  </p:stCondLst>
                                  <p:childTnLst>
                                    <p:set>
                                      <p:cBhvr>
                                        <p:cTn id="99" dur="1" fill="hold">
                                          <p:stCondLst>
                                            <p:cond delay="0"/>
                                          </p:stCondLst>
                                        </p:cTn>
                                        <p:tgtEl>
                                          <p:spTgt spid="4"/>
                                        </p:tgtEl>
                                        <p:attrNameLst>
                                          <p:attrName>style.visibility</p:attrName>
                                        </p:attrNameLst>
                                      </p:cBhvr>
                                      <p:to>
                                        <p:strVal val="visible"/>
                                      </p:to>
                                    </p:set>
                                    <p:animEffect transition="in" filter="wipe(up)">
                                      <p:cBhvr>
                                        <p:cTn id="10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2" grpId="1"/>
      <p:bldP spid="14" grpId="0" animBg="1"/>
      <p:bldP spid="19" grpId="0" animBg="1"/>
      <p:bldP spid="28" grpId="0" animBg="1"/>
      <p:bldP spid="29" grpId="0" animBg="1"/>
      <p:bldP spid="30" grpId="0" animBg="1"/>
      <p:bldP spid="31" grpId="0" animBg="1"/>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82213-C646-4F25-A476-A0FDB0048AE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DE1F6B1-E919-4BE1-B67D-36D437299C4C}"/>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C688AE84-A325-456B-8FA2-FC3AC374666F}"/>
              </a:ext>
            </a:extLst>
          </p:cNvPr>
          <p:cNvSpPr/>
          <p:nvPr/>
        </p:nvSpPr>
        <p:spPr>
          <a:xfrm>
            <a:off x="0" y="-2823"/>
            <a:ext cx="12208980" cy="68608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5" name="Credit MAIN">
            <a:extLst>
              <a:ext uri="{FF2B5EF4-FFF2-40B4-BE49-F238E27FC236}">
                <a16:creationId xmlns:a16="http://schemas.microsoft.com/office/drawing/2014/main" id="{40052BFF-5FD2-4831-8679-3A94553F18A5}"/>
              </a:ext>
            </a:extLst>
          </p:cNvPr>
          <p:cNvSpPr txBox="1"/>
          <p:nvPr/>
        </p:nvSpPr>
        <p:spPr>
          <a:xfrm>
            <a:off x="50878" y="6432004"/>
            <a:ext cx="2668876"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Phạm</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Văn</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Quyết</a:t>
            </a:r>
            <a:endParaRPr lang="en-US" dirty="0">
              <a:solidFill>
                <a:schemeClr val="bg1">
                  <a:lumMod val="95000"/>
                  <a:alpha val="46000"/>
                </a:schemeClr>
              </a:solidFill>
            </a:endParaRPr>
          </a:p>
        </p:txBody>
      </p:sp>
      <p:sp>
        <p:nvSpPr>
          <p:cNvPr id="6" name="Header">
            <a:extLst>
              <a:ext uri="{FF2B5EF4-FFF2-40B4-BE49-F238E27FC236}">
                <a16:creationId xmlns:a16="http://schemas.microsoft.com/office/drawing/2014/main" id="{6C0EDFDC-4BE9-43B1-8939-3FB31ACD1FFD}"/>
              </a:ext>
            </a:extLst>
          </p:cNvPr>
          <p:cNvSpPr txBox="1"/>
          <p:nvPr/>
        </p:nvSpPr>
        <p:spPr>
          <a:xfrm>
            <a:off x="50878" y="79574"/>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0" name="TextBox 9">
            <a:extLst>
              <a:ext uri="{FF2B5EF4-FFF2-40B4-BE49-F238E27FC236}">
                <a16:creationId xmlns:a16="http://schemas.microsoft.com/office/drawing/2014/main" id="{BB44A5AE-631C-4FAE-827A-13C7A81B1BCD}"/>
              </a:ext>
            </a:extLst>
          </p:cNvPr>
          <p:cNvSpPr txBox="1"/>
          <p:nvPr/>
        </p:nvSpPr>
        <p:spPr>
          <a:xfrm>
            <a:off x="944147" y="1080234"/>
            <a:ext cx="1775608"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Phương</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pháp</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49" name="Footer: Part">
            <a:extLst>
              <a:ext uri="{FF2B5EF4-FFF2-40B4-BE49-F238E27FC236}">
                <a16:creationId xmlns:a16="http://schemas.microsoft.com/office/drawing/2014/main" id="{FEC4F6FB-01C2-4B18-A426-A5D062558A92}"/>
              </a:ext>
            </a:extLst>
          </p:cNvPr>
          <p:cNvSpPr txBox="1"/>
          <p:nvPr/>
        </p:nvSpPr>
        <p:spPr>
          <a:xfrm>
            <a:off x="8487508" y="6464494"/>
            <a:ext cx="3733195" cy="369332"/>
          </a:xfrm>
          <a:prstGeom prst="rect">
            <a:avLst/>
          </a:prstGeom>
          <a:noFill/>
        </p:spPr>
        <p:txBody>
          <a:bodyPr wrap="square" rtlCol="0">
            <a:spAutoFit/>
          </a:bodyPr>
          <a:lstStyle/>
          <a:p>
            <a:r>
              <a:rPr lang="en-US" dirty="0" err="1">
                <a:solidFill>
                  <a:schemeClr val="bg1">
                    <a:lumMod val="95000"/>
                  </a:schemeClr>
                </a:solidFill>
                <a:latin typeface="JetBrains Mono Regular" panose="02000009000000000000" pitchFamily="49" charset="0"/>
                <a:cs typeface="JetBrains Mono Regular" panose="02000009000000000000" pitchFamily="49" charset="0"/>
              </a:rPr>
              <a:t>Bài</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toán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a:solidFill>
                  <a:schemeClr val="bg1">
                    <a:lumMod val="95000"/>
                  </a:schemeClr>
                </a:solidFill>
                <a:latin typeface="JetBrains Mono Light" panose="02000009000000000000" pitchFamily="49" charset="0"/>
                <a:cs typeface="JetBrains Mono Light" panose="02000009000000000000" pitchFamily="49" charset="0"/>
              </a:rPr>
              <a:t>“</a:t>
            </a:r>
            <a:r>
              <a:rPr lang="en-US" dirty="0" err="1">
                <a:solidFill>
                  <a:schemeClr val="bg1">
                    <a:lumMod val="85000"/>
                  </a:schemeClr>
                </a:solidFill>
                <a:latin typeface="JetBrains Mono Light" panose="02000009000000000000"/>
                <a:cs typeface="JetBrains Mono" panose="02000009000000000000" pitchFamily="49" charset="0"/>
              </a:rPr>
              <a:t>Người</a:t>
            </a:r>
            <a:r>
              <a:rPr lang="en-US" dirty="0">
                <a:solidFill>
                  <a:schemeClr val="bg1">
                    <a:lumMod val="85000"/>
                  </a:schemeClr>
                </a:solidFill>
                <a:latin typeface="JetBrains Mono Light" panose="02000009000000000000"/>
                <a:cs typeface="JetBrains Mono" panose="02000009000000000000" pitchFamily="49" charset="0"/>
              </a:rPr>
              <a:t> </a:t>
            </a:r>
            <a:r>
              <a:rPr lang="en-US" dirty="0" err="1">
                <a:solidFill>
                  <a:schemeClr val="bg1">
                    <a:lumMod val="85000"/>
                  </a:schemeClr>
                </a:solidFill>
                <a:latin typeface="JetBrains Mono Light" panose="02000009000000000000"/>
                <a:cs typeface="JetBrains Mono" panose="02000009000000000000" pitchFamily="49" charset="0"/>
              </a:rPr>
              <a:t>bán</a:t>
            </a:r>
            <a:r>
              <a:rPr lang="en-US" dirty="0">
                <a:solidFill>
                  <a:schemeClr val="bg1">
                    <a:lumMod val="85000"/>
                  </a:schemeClr>
                </a:solidFill>
                <a:latin typeface="JetBrains Mono Light" panose="02000009000000000000"/>
                <a:cs typeface="JetBrains Mono" panose="02000009000000000000" pitchFamily="49" charset="0"/>
              </a:rPr>
              <a:t> </a:t>
            </a:r>
            <a:r>
              <a:rPr lang="en-US" dirty="0" err="1">
                <a:solidFill>
                  <a:schemeClr val="bg1">
                    <a:lumMod val="85000"/>
                  </a:schemeClr>
                </a:solidFill>
                <a:latin typeface="JetBrains Mono Light" panose="02000009000000000000"/>
                <a:cs typeface="JetBrains Mono" panose="02000009000000000000" pitchFamily="49" charset="0"/>
              </a:rPr>
              <a:t>hàng</a:t>
            </a:r>
            <a:r>
              <a:rPr lang="en-US" dirty="0">
                <a:solidFill>
                  <a:schemeClr val="bg1">
                    <a:lumMod val="85000"/>
                  </a:schemeClr>
                </a:solidFill>
                <a:latin typeface="JetBrains Mono Light" panose="02000009000000000000"/>
                <a:cs typeface="JetBrains Mono" panose="02000009000000000000" pitchFamily="49" charset="0"/>
              </a:rPr>
              <a:t>”</a:t>
            </a:r>
          </a:p>
        </p:txBody>
      </p:sp>
      <p:sp>
        <p:nvSpPr>
          <p:cNvPr id="50" name="Footer: Title">
            <a:extLst>
              <a:ext uri="{FF2B5EF4-FFF2-40B4-BE49-F238E27FC236}">
                <a16:creationId xmlns:a16="http://schemas.microsoft.com/office/drawing/2014/main" id="{8FE323BC-127E-4694-B09E-D439BC9FCB8D}"/>
              </a:ext>
            </a:extLst>
          </p:cNvPr>
          <p:cNvSpPr txBox="1"/>
          <p:nvPr/>
        </p:nvSpPr>
        <p:spPr>
          <a:xfrm>
            <a:off x="7385543" y="6469576"/>
            <a:ext cx="1215645"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a:t>
            </a:r>
          </a:p>
        </p:txBody>
      </p:sp>
      <p:sp>
        <p:nvSpPr>
          <p:cNvPr id="52" name="Rectangle 51">
            <a:extLst>
              <a:ext uri="{FF2B5EF4-FFF2-40B4-BE49-F238E27FC236}">
                <a16:creationId xmlns:a16="http://schemas.microsoft.com/office/drawing/2014/main" id="{33508B73-5ED1-4508-AFB1-C2C8F2D3EC8F}"/>
              </a:ext>
            </a:extLst>
          </p:cNvPr>
          <p:cNvSpPr/>
          <p:nvPr/>
        </p:nvSpPr>
        <p:spPr>
          <a:xfrm>
            <a:off x="591458" y="603227"/>
            <a:ext cx="3650464"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66CBAF43-3204-4B19-9445-AFAA4BE3D844}"/>
              </a:ext>
            </a:extLst>
          </p:cNvPr>
          <p:cNvSpPr txBox="1"/>
          <p:nvPr/>
        </p:nvSpPr>
        <p:spPr>
          <a:xfrm>
            <a:off x="603363" y="602701"/>
            <a:ext cx="3638559" cy="369332"/>
          </a:xfrm>
          <a:prstGeom prst="rect">
            <a:avLst/>
          </a:prstGeom>
          <a:no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Bài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toán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Người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bán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hàng</a:t>
            </a:r>
            <a:r>
              <a:rPr lang="en-US" dirty="0">
                <a:latin typeface="JetBrains Mono Regular" panose="02000009000000000000" pitchFamily="49" charset="0"/>
                <a:cs typeface="JetBrains Mono Regular" panose="02000009000000000000" pitchFamily="49" charset="0"/>
              </a:rPr>
              <a:t>”</a:t>
            </a:r>
          </a:p>
        </p:txBody>
      </p:sp>
      <p:sp>
        <p:nvSpPr>
          <p:cNvPr id="14" name="TextBox 13">
            <a:extLst>
              <a:ext uri="{FF2B5EF4-FFF2-40B4-BE49-F238E27FC236}">
                <a16:creationId xmlns:a16="http://schemas.microsoft.com/office/drawing/2014/main" id="{CB40A998-B242-4B4A-BAAB-B2B16DD2AD23}"/>
              </a:ext>
            </a:extLst>
          </p:cNvPr>
          <p:cNvSpPr txBox="1"/>
          <p:nvPr/>
        </p:nvSpPr>
        <p:spPr>
          <a:xfrm>
            <a:off x="2664872" y="1092325"/>
            <a:ext cx="3305415" cy="369332"/>
          </a:xfrm>
          <a:prstGeom prst="rect">
            <a:avLst/>
          </a:prstGeom>
          <a:noFill/>
        </p:spPr>
        <p:txBody>
          <a:bodyPr wrap="square" rtlCol="0">
            <a:spAutoFit/>
          </a:bodyPr>
          <a:lstStyle/>
          <a:p>
            <a:pPr marL="285750" indent="-285750">
              <a:buFont typeface="Arial" panose="020B0604020202020204" pitchFamily="34" charset="0"/>
              <a:buChar char="•"/>
            </a:pP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Thuật</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toán</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tham</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lam</a:t>
            </a:r>
            <a:endParaRPr lang="en-US" i="1" dirty="0">
              <a:latin typeface="JetBrains Mono ExtraLight" panose="02000009000000000000" pitchFamily="49" charset="0"/>
              <a:cs typeface="JetBrains Mono ExtraLight" panose="02000009000000000000" pitchFamily="49" charset="0"/>
            </a:endParaRPr>
          </a:p>
        </p:txBody>
      </p:sp>
      <p:sp>
        <p:nvSpPr>
          <p:cNvPr id="16" name="TextBox 15">
            <a:extLst>
              <a:ext uri="{FF2B5EF4-FFF2-40B4-BE49-F238E27FC236}">
                <a16:creationId xmlns:a16="http://schemas.microsoft.com/office/drawing/2014/main" id="{F87CA8E5-4149-4D9F-AF7A-231A5B6EDE71}"/>
              </a:ext>
            </a:extLst>
          </p:cNvPr>
          <p:cNvSpPr txBox="1"/>
          <p:nvPr/>
        </p:nvSpPr>
        <p:spPr>
          <a:xfrm>
            <a:off x="944147" y="1760062"/>
            <a:ext cx="331487" cy="369332"/>
          </a:xfrm>
          <a:prstGeom prst="rect">
            <a:avLst/>
          </a:prstGeom>
          <a:solidFill>
            <a:schemeClr val="bg1"/>
          </a:solidFill>
          <a:ln>
            <a:solidFill>
              <a:schemeClr val="bg1">
                <a:lumMod val="50000"/>
              </a:schemeClr>
            </a:solidFill>
          </a:ln>
        </p:spPr>
        <p:txBody>
          <a:bodyPr wrap="square" rtlCol="0">
            <a:spAutoFit/>
          </a:bodyPr>
          <a:lstStyle/>
          <a:p>
            <a:pPr algn="r"/>
            <a:r>
              <a:rPr lang="en-US" dirty="0">
                <a:latin typeface="JetBrains Mono Medium" panose="02000009000000000000" pitchFamily="49" charset="0"/>
                <a:cs typeface="JetBrains Mono Medium" panose="02000009000000000000" pitchFamily="49" charset="0"/>
              </a:rPr>
              <a:t>1</a:t>
            </a:r>
          </a:p>
        </p:txBody>
      </p:sp>
      <p:sp>
        <p:nvSpPr>
          <p:cNvPr id="17" name="TextBox 16">
            <a:extLst>
              <a:ext uri="{FF2B5EF4-FFF2-40B4-BE49-F238E27FC236}">
                <a16:creationId xmlns:a16="http://schemas.microsoft.com/office/drawing/2014/main" id="{27AE953B-BF4E-49A1-9177-6881D3B8350B}"/>
              </a:ext>
            </a:extLst>
          </p:cNvPr>
          <p:cNvSpPr txBox="1"/>
          <p:nvPr/>
        </p:nvSpPr>
        <p:spPr>
          <a:xfrm>
            <a:off x="1403861" y="1703884"/>
            <a:ext cx="6202458" cy="923330"/>
          </a:xfrm>
          <a:prstGeom prst="rect">
            <a:avLst/>
          </a:prstGeom>
          <a:noFill/>
        </p:spPr>
        <p:txBody>
          <a:bodyPr wrap="square" rtlCol="0">
            <a:spAutoFit/>
          </a:bodyPr>
          <a:lstStyle/>
          <a:p>
            <a:r>
              <a:rPr lang="vi-VN" dirty="0">
                <a:solidFill>
                  <a:schemeClr val="bg1">
                    <a:lumMod val="85000"/>
                  </a:schemeClr>
                </a:solidFill>
                <a:latin typeface="JetBrains Mono Light" panose="02000009000000000000" pitchFamily="49" charset="0"/>
                <a:cs typeface="JetBrains Mono Light" panose="02000009000000000000" pitchFamily="49" charset="0"/>
              </a:rPr>
              <a:t>Sắp xếp các cạnh theo thứ tự tăng của độ dài</a:t>
            </a:r>
            <a:r>
              <a:rPr lang="en-US" dirty="0">
                <a:solidFill>
                  <a:schemeClr val="bg1">
                    <a:lumMod val="85000"/>
                  </a:schemeClr>
                </a:solidFill>
                <a:latin typeface="JetBrains Mono Light" panose="02000009000000000000" pitchFamily="49" charset="0"/>
                <a:cs typeface="JetBrains Mono Light" panose="02000009000000000000" pitchFamily="49" charset="0"/>
              </a:rPr>
              <a:t> </a:t>
            </a:r>
          </a:p>
          <a:p>
            <a:r>
              <a:rPr lang="vi-VN" i="1" dirty="0">
                <a:solidFill>
                  <a:schemeClr val="bg1">
                    <a:lumMod val="50000"/>
                  </a:schemeClr>
                </a:solidFill>
                <a:latin typeface="JetBrains Mono Light" panose="02000009000000000000" pitchFamily="49" charset="0"/>
                <a:cs typeface="JetBrains Mono Light" panose="02000009000000000000" pitchFamily="49" charset="0"/>
              </a:rPr>
              <a:t>(Có tổ hợp chập 2 của n phần tử</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vi-VN" i="1" dirty="0">
                <a:solidFill>
                  <a:schemeClr val="bg1">
                    <a:lumMod val="50000"/>
                  </a:schemeClr>
                </a:solidFill>
                <a:latin typeface="JetBrains Mono Light" panose="02000009000000000000" pitchFamily="49" charset="0"/>
                <a:cs typeface="JetBrains Mono Light" panose="02000009000000000000" pitchFamily="49" charset="0"/>
              </a:rPr>
              <a:t>cạnh hay nói theo cách khác là có n(n-1)/2 cạnh)</a:t>
            </a:r>
            <a:endParaRPr lang="en-US" i="1"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61" name="PAGE NUM 0">
            <a:extLst>
              <a:ext uri="{FF2B5EF4-FFF2-40B4-BE49-F238E27FC236}">
                <a16:creationId xmlns:a16="http://schemas.microsoft.com/office/drawing/2014/main" id="{9C12F1E6-E4C9-40F6-B619-25C06873062B}"/>
              </a:ext>
            </a:extLst>
          </p:cNvPr>
          <p:cNvSpPr txBox="1"/>
          <p:nvPr/>
        </p:nvSpPr>
        <p:spPr>
          <a:xfrm>
            <a:off x="11599908" y="-510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3</a:t>
            </a:r>
          </a:p>
        </p:txBody>
      </p:sp>
      <p:sp>
        <p:nvSpPr>
          <p:cNvPr id="62" name="PAGE NUM 1">
            <a:extLst>
              <a:ext uri="{FF2B5EF4-FFF2-40B4-BE49-F238E27FC236}">
                <a16:creationId xmlns:a16="http://schemas.microsoft.com/office/drawing/2014/main" id="{52A8FC11-810C-4F87-A3B6-652372C5A6CC}"/>
              </a:ext>
            </a:extLst>
          </p:cNvPr>
          <p:cNvSpPr txBox="1"/>
          <p:nvPr/>
        </p:nvSpPr>
        <p:spPr>
          <a:xfrm>
            <a:off x="11883838" y="-3971"/>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4</a:t>
            </a:r>
            <a:endParaRPr lang="en-US" dirty="0"/>
          </a:p>
        </p:txBody>
      </p:sp>
      <p:cxnSp>
        <p:nvCxnSpPr>
          <p:cNvPr id="97" name="Straight Connector 96">
            <a:extLst>
              <a:ext uri="{FF2B5EF4-FFF2-40B4-BE49-F238E27FC236}">
                <a16:creationId xmlns:a16="http://schemas.microsoft.com/office/drawing/2014/main" id="{4A6D2FD7-277F-4CA7-A266-C90D6A767A8C}"/>
              </a:ext>
            </a:extLst>
          </p:cNvPr>
          <p:cNvCxnSpPr>
            <a:cxnSpLocks/>
          </p:cNvCxnSpPr>
          <p:nvPr/>
        </p:nvCxnSpPr>
        <p:spPr>
          <a:xfrm>
            <a:off x="10166787" y="1574809"/>
            <a:ext cx="0" cy="2722179"/>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cxnSp>
        <p:nvCxnSpPr>
          <p:cNvPr id="98" name="Straight Connector 97">
            <a:extLst>
              <a:ext uri="{FF2B5EF4-FFF2-40B4-BE49-F238E27FC236}">
                <a16:creationId xmlns:a16="http://schemas.microsoft.com/office/drawing/2014/main" id="{A641263A-896F-43A7-BF8E-1F383B1BC72D}"/>
              </a:ext>
            </a:extLst>
          </p:cNvPr>
          <p:cNvCxnSpPr/>
          <p:nvPr/>
        </p:nvCxnSpPr>
        <p:spPr>
          <a:xfrm>
            <a:off x="8600746" y="3182892"/>
            <a:ext cx="3983421" cy="0"/>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sp>
        <p:nvSpPr>
          <p:cNvPr id="99" name="TextBox 98">
            <a:extLst>
              <a:ext uri="{FF2B5EF4-FFF2-40B4-BE49-F238E27FC236}">
                <a16:creationId xmlns:a16="http://schemas.microsoft.com/office/drawing/2014/main" id="{E175754C-70B4-4EB0-B2EB-92B8761E7657}"/>
              </a:ext>
            </a:extLst>
          </p:cNvPr>
          <p:cNvSpPr txBox="1"/>
          <p:nvPr/>
        </p:nvSpPr>
        <p:spPr>
          <a:xfrm>
            <a:off x="8157519" y="3989240"/>
            <a:ext cx="1149674" cy="369332"/>
          </a:xfrm>
          <a:prstGeom prst="rect">
            <a:avLst/>
          </a:prstGeom>
          <a:noFill/>
          <a:ln>
            <a:noFill/>
          </a:ln>
        </p:spPr>
        <p:txBody>
          <a:bodyPr wrap="none" rtlCol="0">
            <a:spAutoFit/>
          </a:bodyPr>
          <a:lstStyle/>
          <a:p>
            <a:r>
              <a:rPr lang="en-VN" dirty="0">
                <a:solidFill>
                  <a:schemeClr val="bg1">
                    <a:lumMod val="85000"/>
                  </a:schemeClr>
                </a:solidFill>
                <a:latin typeface="JetBrains Mono Light" panose="02000009000000000000" pitchFamily="49" charset="0"/>
                <a:cs typeface="JetBrains Mono Light" panose="02000009000000000000" pitchFamily="49" charset="0"/>
              </a:rPr>
              <a:t>(-3;-2)</a:t>
            </a:r>
          </a:p>
        </p:txBody>
      </p:sp>
      <p:sp>
        <p:nvSpPr>
          <p:cNvPr id="100" name="TextBox 99">
            <a:extLst>
              <a:ext uri="{FF2B5EF4-FFF2-40B4-BE49-F238E27FC236}">
                <a16:creationId xmlns:a16="http://schemas.microsoft.com/office/drawing/2014/main" id="{ED0A3F61-7EEB-4E8B-B2F5-33772F411BEF}"/>
              </a:ext>
            </a:extLst>
          </p:cNvPr>
          <p:cNvSpPr txBox="1"/>
          <p:nvPr/>
        </p:nvSpPr>
        <p:spPr>
          <a:xfrm>
            <a:off x="7915251" y="2379988"/>
            <a:ext cx="1011815" cy="369332"/>
          </a:xfrm>
          <a:prstGeom prst="rect">
            <a:avLst/>
          </a:prstGeom>
          <a:noFill/>
          <a:ln>
            <a:noFill/>
          </a:ln>
        </p:spPr>
        <p:txBody>
          <a:bodyPr wrap="none" rtlCol="0">
            <a:spAutoFit/>
          </a:bodyPr>
          <a:lstStyle/>
          <a:p>
            <a:r>
              <a:rPr lang="en-VN" dirty="0">
                <a:solidFill>
                  <a:schemeClr val="bg1">
                    <a:lumMod val="85000"/>
                  </a:schemeClr>
                </a:solidFill>
                <a:latin typeface="JetBrains Mono Light" panose="02000009000000000000" pitchFamily="49" charset="0"/>
                <a:cs typeface="JetBrains Mono Light" panose="02000009000000000000" pitchFamily="49" charset="0"/>
              </a:rPr>
              <a:t>(-3;3)</a:t>
            </a:r>
          </a:p>
        </p:txBody>
      </p:sp>
      <p:sp>
        <p:nvSpPr>
          <p:cNvPr id="101" name="TextBox 100">
            <a:extLst>
              <a:ext uri="{FF2B5EF4-FFF2-40B4-BE49-F238E27FC236}">
                <a16:creationId xmlns:a16="http://schemas.microsoft.com/office/drawing/2014/main" id="{9EB54207-4B6C-4262-A075-C9ACF881C0C0}"/>
              </a:ext>
            </a:extLst>
          </p:cNvPr>
          <p:cNvSpPr txBox="1"/>
          <p:nvPr/>
        </p:nvSpPr>
        <p:spPr>
          <a:xfrm>
            <a:off x="10846982" y="1976239"/>
            <a:ext cx="873957" cy="369332"/>
          </a:xfrm>
          <a:prstGeom prst="rect">
            <a:avLst/>
          </a:prstGeom>
          <a:noFill/>
          <a:ln>
            <a:noFill/>
          </a:ln>
        </p:spPr>
        <p:txBody>
          <a:bodyPr wrap="square" rtlCol="0">
            <a:spAutoFit/>
          </a:bodyPr>
          <a:lstStyle/>
          <a:p>
            <a:r>
              <a:rPr lang="en-VN" dirty="0">
                <a:solidFill>
                  <a:schemeClr val="bg1">
                    <a:lumMod val="85000"/>
                  </a:schemeClr>
                </a:solidFill>
                <a:latin typeface="JetBrains Mono Light" panose="02000009000000000000" pitchFamily="49" charset="0"/>
                <a:cs typeface="JetBrains Mono Light" panose="02000009000000000000" pitchFamily="49" charset="0"/>
              </a:rPr>
              <a:t>(1;4)</a:t>
            </a:r>
          </a:p>
        </p:txBody>
      </p:sp>
      <p:sp>
        <p:nvSpPr>
          <p:cNvPr id="102" name="TextBox 101">
            <a:extLst>
              <a:ext uri="{FF2B5EF4-FFF2-40B4-BE49-F238E27FC236}">
                <a16:creationId xmlns:a16="http://schemas.microsoft.com/office/drawing/2014/main" id="{1E2F95F4-B9C0-4242-830C-5C7474353F2A}"/>
              </a:ext>
            </a:extLst>
          </p:cNvPr>
          <p:cNvSpPr txBox="1"/>
          <p:nvPr/>
        </p:nvSpPr>
        <p:spPr>
          <a:xfrm>
            <a:off x="11080492" y="2559670"/>
            <a:ext cx="873957" cy="369332"/>
          </a:xfrm>
          <a:prstGeom prst="rect">
            <a:avLst/>
          </a:prstGeom>
          <a:noFill/>
          <a:ln>
            <a:noFill/>
          </a:ln>
        </p:spPr>
        <p:txBody>
          <a:bodyPr wrap="square" rtlCol="0">
            <a:spAutoFit/>
          </a:bodyPr>
          <a:lstStyle/>
          <a:p>
            <a:r>
              <a:rPr lang="en-VN" dirty="0">
                <a:solidFill>
                  <a:schemeClr val="bg1">
                    <a:lumMod val="85000"/>
                  </a:schemeClr>
                </a:solidFill>
                <a:latin typeface="JetBrains Mono Light" panose="02000009000000000000" pitchFamily="49" charset="0"/>
                <a:cs typeface="JetBrains Mono Light" panose="02000009000000000000" pitchFamily="49" charset="0"/>
              </a:rPr>
              <a:t>(2;1)</a:t>
            </a:r>
          </a:p>
        </p:txBody>
      </p:sp>
      <p:cxnSp>
        <p:nvCxnSpPr>
          <p:cNvPr id="103" name="Straight Connector 102">
            <a:extLst>
              <a:ext uri="{FF2B5EF4-FFF2-40B4-BE49-F238E27FC236}">
                <a16:creationId xmlns:a16="http://schemas.microsoft.com/office/drawing/2014/main" id="{05532863-8FE6-45B2-91A3-42364F7DA1AD}"/>
              </a:ext>
            </a:extLst>
          </p:cNvPr>
          <p:cNvCxnSpPr>
            <a:cxnSpLocks/>
          </p:cNvCxnSpPr>
          <p:nvPr/>
        </p:nvCxnSpPr>
        <p:spPr>
          <a:xfrm>
            <a:off x="10571016" y="2286182"/>
            <a:ext cx="330242" cy="56009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CA232A78-4CB9-49C4-BFD3-105B5C5B9704}"/>
              </a:ext>
            </a:extLst>
          </p:cNvPr>
          <p:cNvCxnSpPr>
            <a:cxnSpLocks/>
          </p:cNvCxnSpPr>
          <p:nvPr/>
        </p:nvCxnSpPr>
        <p:spPr>
          <a:xfrm flipV="1">
            <a:off x="9025401" y="2284373"/>
            <a:ext cx="1584723" cy="28185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F53000B5-0039-4B81-A731-EE650BCAB24F}"/>
              </a:ext>
            </a:extLst>
          </p:cNvPr>
          <p:cNvCxnSpPr>
            <a:cxnSpLocks/>
          </p:cNvCxnSpPr>
          <p:nvPr/>
        </p:nvCxnSpPr>
        <p:spPr>
          <a:xfrm flipH="1">
            <a:off x="9024422" y="2547752"/>
            <a:ext cx="979" cy="11952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6C4F901A-4E80-4769-9BE4-EABBE1D9E2F3}"/>
              </a:ext>
            </a:extLst>
          </p:cNvPr>
          <p:cNvCxnSpPr>
            <a:cxnSpLocks/>
          </p:cNvCxnSpPr>
          <p:nvPr/>
        </p:nvCxnSpPr>
        <p:spPr>
          <a:xfrm>
            <a:off x="10889439" y="2820909"/>
            <a:ext cx="28838" cy="12914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B7F32B51-E4BB-4715-B7B6-D397BFD5C0C1}"/>
              </a:ext>
            </a:extLst>
          </p:cNvPr>
          <p:cNvCxnSpPr>
            <a:cxnSpLocks/>
          </p:cNvCxnSpPr>
          <p:nvPr/>
        </p:nvCxnSpPr>
        <p:spPr>
          <a:xfrm>
            <a:off x="9024422" y="3742990"/>
            <a:ext cx="1893855" cy="3693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535D8084-F747-4ADA-BFF2-91BC3A2C032C}"/>
              </a:ext>
            </a:extLst>
          </p:cNvPr>
          <p:cNvSpPr txBox="1"/>
          <p:nvPr/>
        </p:nvSpPr>
        <p:spPr>
          <a:xfrm>
            <a:off x="10023543" y="2981997"/>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O</a:t>
            </a:r>
          </a:p>
        </p:txBody>
      </p:sp>
      <p:sp>
        <p:nvSpPr>
          <p:cNvPr id="109" name="TextBox 108">
            <a:extLst>
              <a:ext uri="{FF2B5EF4-FFF2-40B4-BE49-F238E27FC236}">
                <a16:creationId xmlns:a16="http://schemas.microsoft.com/office/drawing/2014/main" id="{4230679E-75B7-4232-A53D-52174B27DF64}"/>
              </a:ext>
            </a:extLst>
          </p:cNvPr>
          <p:cNvSpPr txBox="1"/>
          <p:nvPr/>
        </p:nvSpPr>
        <p:spPr>
          <a:xfrm>
            <a:off x="8877398" y="3558324"/>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A</a:t>
            </a:r>
          </a:p>
        </p:txBody>
      </p:sp>
      <p:sp>
        <p:nvSpPr>
          <p:cNvPr id="110" name="TextBox 109">
            <a:extLst>
              <a:ext uri="{FF2B5EF4-FFF2-40B4-BE49-F238E27FC236}">
                <a16:creationId xmlns:a16="http://schemas.microsoft.com/office/drawing/2014/main" id="{97587C8E-3071-49E0-9BBD-A9AC404AA61C}"/>
              </a:ext>
            </a:extLst>
          </p:cNvPr>
          <p:cNvSpPr txBox="1"/>
          <p:nvPr/>
        </p:nvSpPr>
        <p:spPr>
          <a:xfrm>
            <a:off x="8873390" y="2363086"/>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B</a:t>
            </a:r>
          </a:p>
        </p:txBody>
      </p:sp>
      <p:sp>
        <p:nvSpPr>
          <p:cNvPr id="111" name="TextBox 110">
            <a:extLst>
              <a:ext uri="{FF2B5EF4-FFF2-40B4-BE49-F238E27FC236}">
                <a16:creationId xmlns:a16="http://schemas.microsoft.com/office/drawing/2014/main" id="{6FD477ED-F4C2-420C-B3B5-1D34744531F1}"/>
              </a:ext>
            </a:extLst>
          </p:cNvPr>
          <p:cNvSpPr txBox="1"/>
          <p:nvPr/>
        </p:nvSpPr>
        <p:spPr>
          <a:xfrm>
            <a:off x="10431194" y="2068797"/>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C</a:t>
            </a:r>
          </a:p>
        </p:txBody>
      </p:sp>
      <p:sp>
        <p:nvSpPr>
          <p:cNvPr id="112" name="TextBox 111">
            <a:extLst>
              <a:ext uri="{FF2B5EF4-FFF2-40B4-BE49-F238E27FC236}">
                <a16:creationId xmlns:a16="http://schemas.microsoft.com/office/drawing/2014/main" id="{6722EE64-7354-4770-8BCC-98DAF21791A3}"/>
              </a:ext>
            </a:extLst>
          </p:cNvPr>
          <p:cNvSpPr txBox="1"/>
          <p:nvPr/>
        </p:nvSpPr>
        <p:spPr>
          <a:xfrm rot="10800000" flipH="1" flipV="1">
            <a:off x="10725832" y="3907198"/>
            <a:ext cx="410658"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E</a:t>
            </a:r>
          </a:p>
        </p:txBody>
      </p:sp>
      <p:sp>
        <p:nvSpPr>
          <p:cNvPr id="113" name="TextBox 112">
            <a:extLst>
              <a:ext uri="{FF2B5EF4-FFF2-40B4-BE49-F238E27FC236}">
                <a16:creationId xmlns:a16="http://schemas.microsoft.com/office/drawing/2014/main" id="{275BDB33-856C-4383-B6DD-A75C935CF028}"/>
              </a:ext>
            </a:extLst>
          </p:cNvPr>
          <p:cNvSpPr txBox="1"/>
          <p:nvPr/>
        </p:nvSpPr>
        <p:spPr>
          <a:xfrm>
            <a:off x="10769899" y="2661613"/>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D</a:t>
            </a:r>
          </a:p>
        </p:txBody>
      </p:sp>
      <p:sp>
        <p:nvSpPr>
          <p:cNvPr id="114" name="TextBox 113">
            <a:extLst>
              <a:ext uri="{FF2B5EF4-FFF2-40B4-BE49-F238E27FC236}">
                <a16:creationId xmlns:a16="http://schemas.microsoft.com/office/drawing/2014/main" id="{EAE77E87-F84E-4646-BB6A-189F6A11E9B4}"/>
              </a:ext>
            </a:extLst>
          </p:cNvPr>
          <p:cNvSpPr txBox="1"/>
          <p:nvPr/>
        </p:nvSpPr>
        <p:spPr>
          <a:xfrm>
            <a:off x="11169370" y="3925801"/>
            <a:ext cx="1052328" cy="369332"/>
          </a:xfrm>
          <a:prstGeom prst="rect">
            <a:avLst/>
          </a:prstGeom>
          <a:noFill/>
        </p:spPr>
        <p:txBody>
          <a:bodyPr wrap="square" rtlCol="0">
            <a:spAutoFit/>
          </a:bodyPr>
          <a:lstStyle/>
          <a:p>
            <a:r>
              <a:rPr lang="en-VN" dirty="0">
                <a:solidFill>
                  <a:schemeClr val="bg1">
                    <a:lumMod val="85000"/>
                  </a:schemeClr>
                </a:solidFill>
                <a:latin typeface="JetBrains Mono Light" panose="02000009000000000000" pitchFamily="49" charset="0"/>
                <a:cs typeface="JetBrains Mono Light" panose="02000009000000000000" pitchFamily="49" charset="0"/>
              </a:rPr>
              <a:t>(2;-4)</a:t>
            </a:r>
            <a:endParaRPr lang="en-US" dirty="0">
              <a:latin typeface="JetBrains Mono Light" panose="02000009000000000000" pitchFamily="49" charset="0"/>
              <a:cs typeface="JetBrains Mono Light" panose="02000009000000000000" pitchFamily="49" charset="0"/>
            </a:endParaRPr>
          </a:p>
        </p:txBody>
      </p:sp>
    </p:spTree>
    <p:extLst>
      <p:ext uri="{BB962C8B-B14F-4D97-AF65-F5344CB8AC3E}">
        <p14:creationId xmlns:p14="http://schemas.microsoft.com/office/powerpoint/2010/main" val="4115101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fade">
                                      <p:cBhvr>
                                        <p:cTn id="7" dur="100"/>
                                        <p:tgtEl>
                                          <p:spTgt spid="97"/>
                                        </p:tgtEl>
                                      </p:cBhvr>
                                    </p:animEffect>
                                  </p:childTnLst>
                                </p:cTn>
                              </p:par>
                            </p:childTnLst>
                          </p:cTn>
                        </p:par>
                        <p:par>
                          <p:cTn id="8" fill="hold">
                            <p:stCondLst>
                              <p:cond delay="100"/>
                            </p:stCondLst>
                            <p:childTnLst>
                              <p:par>
                                <p:cTn id="9" presetID="10" presetClass="entr" presetSubtype="0" fill="hold" nodeType="afterEffect">
                                  <p:stCondLst>
                                    <p:cond delay="0"/>
                                  </p:stCondLst>
                                  <p:childTnLst>
                                    <p:set>
                                      <p:cBhvr>
                                        <p:cTn id="10" dur="1" fill="hold">
                                          <p:stCondLst>
                                            <p:cond delay="0"/>
                                          </p:stCondLst>
                                        </p:cTn>
                                        <p:tgtEl>
                                          <p:spTgt spid="98"/>
                                        </p:tgtEl>
                                        <p:attrNameLst>
                                          <p:attrName>style.visibility</p:attrName>
                                        </p:attrNameLst>
                                      </p:cBhvr>
                                      <p:to>
                                        <p:strVal val="visible"/>
                                      </p:to>
                                    </p:set>
                                    <p:animEffect transition="in" filter="fade">
                                      <p:cBhvr>
                                        <p:cTn id="11" dur="100"/>
                                        <p:tgtEl>
                                          <p:spTgt spid="98"/>
                                        </p:tgtEl>
                                      </p:cBhvr>
                                    </p:animEffect>
                                  </p:childTnLst>
                                </p:cTn>
                              </p:par>
                            </p:childTnLst>
                          </p:cTn>
                        </p:par>
                        <p:par>
                          <p:cTn id="12" fill="hold">
                            <p:stCondLst>
                              <p:cond delay="200"/>
                            </p:stCondLst>
                            <p:childTnLst>
                              <p:par>
                                <p:cTn id="13" presetID="10" presetClass="entr" presetSubtype="0" fill="hold" grpId="0" nodeType="afterEffect">
                                  <p:stCondLst>
                                    <p:cond delay="0"/>
                                  </p:stCondLst>
                                  <p:childTnLst>
                                    <p:set>
                                      <p:cBhvr>
                                        <p:cTn id="14" dur="1" fill="hold">
                                          <p:stCondLst>
                                            <p:cond delay="0"/>
                                          </p:stCondLst>
                                        </p:cTn>
                                        <p:tgtEl>
                                          <p:spTgt spid="108"/>
                                        </p:tgtEl>
                                        <p:attrNameLst>
                                          <p:attrName>style.visibility</p:attrName>
                                        </p:attrNameLst>
                                      </p:cBhvr>
                                      <p:to>
                                        <p:strVal val="visible"/>
                                      </p:to>
                                    </p:set>
                                    <p:animEffect transition="in" filter="fade">
                                      <p:cBhvr>
                                        <p:cTn id="15" dur="100"/>
                                        <p:tgtEl>
                                          <p:spTgt spid="108"/>
                                        </p:tgtEl>
                                      </p:cBhvr>
                                    </p:animEffect>
                                  </p:childTnLst>
                                </p:cTn>
                              </p:par>
                            </p:childTnLst>
                          </p:cTn>
                        </p:par>
                        <p:par>
                          <p:cTn id="16" fill="hold">
                            <p:stCondLst>
                              <p:cond delay="300"/>
                            </p:stCondLst>
                            <p:childTnLst>
                              <p:par>
                                <p:cTn id="17" presetID="10" presetClass="entr" presetSubtype="0" fill="hold" grpId="0" nodeType="afterEffect">
                                  <p:stCondLst>
                                    <p:cond delay="0"/>
                                  </p:stCondLst>
                                  <p:childTnLst>
                                    <p:set>
                                      <p:cBhvr>
                                        <p:cTn id="18" dur="1" fill="hold">
                                          <p:stCondLst>
                                            <p:cond delay="0"/>
                                          </p:stCondLst>
                                        </p:cTn>
                                        <p:tgtEl>
                                          <p:spTgt spid="109"/>
                                        </p:tgtEl>
                                        <p:attrNameLst>
                                          <p:attrName>style.visibility</p:attrName>
                                        </p:attrNameLst>
                                      </p:cBhvr>
                                      <p:to>
                                        <p:strVal val="visible"/>
                                      </p:to>
                                    </p:set>
                                    <p:animEffect transition="in" filter="fade">
                                      <p:cBhvr>
                                        <p:cTn id="19" dur="100"/>
                                        <p:tgtEl>
                                          <p:spTgt spid="109"/>
                                        </p:tgtEl>
                                      </p:cBhvr>
                                    </p:animEffect>
                                  </p:childTnLst>
                                </p:cTn>
                              </p:par>
                            </p:childTnLst>
                          </p:cTn>
                        </p:par>
                        <p:par>
                          <p:cTn id="20" fill="hold">
                            <p:stCondLst>
                              <p:cond delay="400"/>
                            </p:stCondLst>
                            <p:childTnLst>
                              <p:par>
                                <p:cTn id="21" presetID="10" presetClass="entr" presetSubtype="0" fill="hold" grpId="0" nodeType="afterEffect">
                                  <p:stCondLst>
                                    <p:cond delay="0"/>
                                  </p:stCondLst>
                                  <p:childTnLst>
                                    <p:set>
                                      <p:cBhvr>
                                        <p:cTn id="22" dur="1" fill="hold">
                                          <p:stCondLst>
                                            <p:cond delay="0"/>
                                          </p:stCondLst>
                                        </p:cTn>
                                        <p:tgtEl>
                                          <p:spTgt spid="99"/>
                                        </p:tgtEl>
                                        <p:attrNameLst>
                                          <p:attrName>style.visibility</p:attrName>
                                        </p:attrNameLst>
                                      </p:cBhvr>
                                      <p:to>
                                        <p:strVal val="visible"/>
                                      </p:to>
                                    </p:set>
                                    <p:animEffect transition="in" filter="fade">
                                      <p:cBhvr>
                                        <p:cTn id="23" dur="100"/>
                                        <p:tgtEl>
                                          <p:spTgt spid="99"/>
                                        </p:tgtEl>
                                      </p:cBhvr>
                                    </p:animEffect>
                                  </p:childTnLst>
                                </p:cTn>
                              </p:par>
                            </p:childTnLst>
                          </p:cTn>
                        </p:par>
                        <p:par>
                          <p:cTn id="24" fill="hold">
                            <p:stCondLst>
                              <p:cond delay="500"/>
                            </p:stCondLst>
                            <p:childTnLst>
                              <p:par>
                                <p:cTn id="25" presetID="10" presetClass="entr" presetSubtype="0" fill="hold" grpId="0" nodeType="afterEffect">
                                  <p:stCondLst>
                                    <p:cond delay="0"/>
                                  </p:stCondLst>
                                  <p:childTnLst>
                                    <p:set>
                                      <p:cBhvr>
                                        <p:cTn id="26" dur="1" fill="hold">
                                          <p:stCondLst>
                                            <p:cond delay="0"/>
                                          </p:stCondLst>
                                        </p:cTn>
                                        <p:tgtEl>
                                          <p:spTgt spid="110"/>
                                        </p:tgtEl>
                                        <p:attrNameLst>
                                          <p:attrName>style.visibility</p:attrName>
                                        </p:attrNameLst>
                                      </p:cBhvr>
                                      <p:to>
                                        <p:strVal val="visible"/>
                                      </p:to>
                                    </p:set>
                                    <p:animEffect transition="in" filter="fade">
                                      <p:cBhvr>
                                        <p:cTn id="27" dur="100"/>
                                        <p:tgtEl>
                                          <p:spTgt spid="110"/>
                                        </p:tgtEl>
                                      </p:cBhvr>
                                    </p:animEffect>
                                  </p:childTnLst>
                                </p:cTn>
                              </p:par>
                            </p:childTnLst>
                          </p:cTn>
                        </p:par>
                        <p:par>
                          <p:cTn id="28" fill="hold">
                            <p:stCondLst>
                              <p:cond delay="600"/>
                            </p:stCondLst>
                            <p:childTnLst>
                              <p:par>
                                <p:cTn id="29" presetID="10" presetClass="entr" presetSubtype="0" fill="hold" grpId="0" nodeType="afterEffect">
                                  <p:stCondLst>
                                    <p:cond delay="0"/>
                                  </p:stCondLst>
                                  <p:childTnLst>
                                    <p:set>
                                      <p:cBhvr>
                                        <p:cTn id="30" dur="1" fill="hold">
                                          <p:stCondLst>
                                            <p:cond delay="0"/>
                                          </p:stCondLst>
                                        </p:cTn>
                                        <p:tgtEl>
                                          <p:spTgt spid="100"/>
                                        </p:tgtEl>
                                        <p:attrNameLst>
                                          <p:attrName>style.visibility</p:attrName>
                                        </p:attrNameLst>
                                      </p:cBhvr>
                                      <p:to>
                                        <p:strVal val="visible"/>
                                      </p:to>
                                    </p:set>
                                    <p:animEffect transition="in" filter="fade">
                                      <p:cBhvr>
                                        <p:cTn id="31" dur="100"/>
                                        <p:tgtEl>
                                          <p:spTgt spid="100"/>
                                        </p:tgtEl>
                                      </p:cBhvr>
                                    </p:animEffect>
                                  </p:childTnLst>
                                </p:cTn>
                              </p:par>
                            </p:childTnLst>
                          </p:cTn>
                        </p:par>
                        <p:par>
                          <p:cTn id="32" fill="hold">
                            <p:stCondLst>
                              <p:cond delay="700"/>
                            </p:stCondLst>
                            <p:childTnLst>
                              <p:par>
                                <p:cTn id="33" presetID="10" presetClass="entr" presetSubtype="0" fill="hold" grpId="0" nodeType="afterEffect">
                                  <p:stCondLst>
                                    <p:cond delay="0"/>
                                  </p:stCondLst>
                                  <p:childTnLst>
                                    <p:set>
                                      <p:cBhvr>
                                        <p:cTn id="34" dur="1" fill="hold">
                                          <p:stCondLst>
                                            <p:cond delay="0"/>
                                          </p:stCondLst>
                                        </p:cTn>
                                        <p:tgtEl>
                                          <p:spTgt spid="111"/>
                                        </p:tgtEl>
                                        <p:attrNameLst>
                                          <p:attrName>style.visibility</p:attrName>
                                        </p:attrNameLst>
                                      </p:cBhvr>
                                      <p:to>
                                        <p:strVal val="visible"/>
                                      </p:to>
                                    </p:set>
                                    <p:animEffect transition="in" filter="fade">
                                      <p:cBhvr>
                                        <p:cTn id="35" dur="100"/>
                                        <p:tgtEl>
                                          <p:spTgt spid="111"/>
                                        </p:tgtEl>
                                      </p:cBhvr>
                                    </p:animEffect>
                                  </p:childTnLst>
                                </p:cTn>
                              </p:par>
                            </p:childTnLst>
                          </p:cTn>
                        </p:par>
                        <p:par>
                          <p:cTn id="36" fill="hold">
                            <p:stCondLst>
                              <p:cond delay="800"/>
                            </p:stCondLst>
                            <p:childTnLst>
                              <p:par>
                                <p:cTn id="37" presetID="10" presetClass="entr" presetSubtype="0" fill="hold" grpId="0" nodeType="afterEffect">
                                  <p:stCondLst>
                                    <p:cond delay="0"/>
                                  </p:stCondLst>
                                  <p:childTnLst>
                                    <p:set>
                                      <p:cBhvr>
                                        <p:cTn id="38" dur="1" fill="hold">
                                          <p:stCondLst>
                                            <p:cond delay="0"/>
                                          </p:stCondLst>
                                        </p:cTn>
                                        <p:tgtEl>
                                          <p:spTgt spid="101"/>
                                        </p:tgtEl>
                                        <p:attrNameLst>
                                          <p:attrName>style.visibility</p:attrName>
                                        </p:attrNameLst>
                                      </p:cBhvr>
                                      <p:to>
                                        <p:strVal val="visible"/>
                                      </p:to>
                                    </p:set>
                                    <p:animEffect transition="in" filter="fade">
                                      <p:cBhvr>
                                        <p:cTn id="39" dur="100"/>
                                        <p:tgtEl>
                                          <p:spTgt spid="101"/>
                                        </p:tgtEl>
                                      </p:cBhvr>
                                    </p:animEffect>
                                  </p:childTnLst>
                                </p:cTn>
                              </p:par>
                            </p:childTnLst>
                          </p:cTn>
                        </p:par>
                        <p:par>
                          <p:cTn id="40" fill="hold">
                            <p:stCondLst>
                              <p:cond delay="900"/>
                            </p:stCondLst>
                            <p:childTnLst>
                              <p:par>
                                <p:cTn id="41" presetID="10" presetClass="entr" presetSubtype="0" fill="hold" grpId="0" nodeType="afterEffect">
                                  <p:stCondLst>
                                    <p:cond delay="0"/>
                                  </p:stCondLst>
                                  <p:childTnLst>
                                    <p:set>
                                      <p:cBhvr>
                                        <p:cTn id="42" dur="1" fill="hold">
                                          <p:stCondLst>
                                            <p:cond delay="0"/>
                                          </p:stCondLst>
                                        </p:cTn>
                                        <p:tgtEl>
                                          <p:spTgt spid="113"/>
                                        </p:tgtEl>
                                        <p:attrNameLst>
                                          <p:attrName>style.visibility</p:attrName>
                                        </p:attrNameLst>
                                      </p:cBhvr>
                                      <p:to>
                                        <p:strVal val="visible"/>
                                      </p:to>
                                    </p:set>
                                    <p:animEffect transition="in" filter="fade">
                                      <p:cBhvr>
                                        <p:cTn id="43" dur="100"/>
                                        <p:tgtEl>
                                          <p:spTgt spid="113"/>
                                        </p:tgtEl>
                                      </p:cBhvr>
                                    </p:animEffect>
                                  </p:childTnLst>
                                </p:cTn>
                              </p:par>
                            </p:childTnLst>
                          </p:cTn>
                        </p:par>
                        <p:par>
                          <p:cTn id="44" fill="hold">
                            <p:stCondLst>
                              <p:cond delay="1000"/>
                            </p:stCondLst>
                            <p:childTnLst>
                              <p:par>
                                <p:cTn id="45" presetID="10" presetClass="entr" presetSubtype="0" fill="hold" grpId="0" nodeType="afterEffect">
                                  <p:stCondLst>
                                    <p:cond delay="0"/>
                                  </p:stCondLst>
                                  <p:childTnLst>
                                    <p:set>
                                      <p:cBhvr>
                                        <p:cTn id="46" dur="1" fill="hold">
                                          <p:stCondLst>
                                            <p:cond delay="0"/>
                                          </p:stCondLst>
                                        </p:cTn>
                                        <p:tgtEl>
                                          <p:spTgt spid="102"/>
                                        </p:tgtEl>
                                        <p:attrNameLst>
                                          <p:attrName>style.visibility</p:attrName>
                                        </p:attrNameLst>
                                      </p:cBhvr>
                                      <p:to>
                                        <p:strVal val="visible"/>
                                      </p:to>
                                    </p:set>
                                    <p:animEffect transition="in" filter="fade">
                                      <p:cBhvr>
                                        <p:cTn id="47" dur="100"/>
                                        <p:tgtEl>
                                          <p:spTgt spid="102"/>
                                        </p:tgtEl>
                                      </p:cBhvr>
                                    </p:animEffect>
                                  </p:childTnLst>
                                </p:cTn>
                              </p:par>
                            </p:childTnLst>
                          </p:cTn>
                        </p:par>
                        <p:par>
                          <p:cTn id="48" fill="hold">
                            <p:stCondLst>
                              <p:cond delay="1100"/>
                            </p:stCondLst>
                            <p:childTnLst>
                              <p:par>
                                <p:cTn id="49" presetID="10" presetClass="entr" presetSubtype="0" fill="hold" grpId="0" nodeType="afterEffect">
                                  <p:stCondLst>
                                    <p:cond delay="0"/>
                                  </p:stCondLst>
                                  <p:childTnLst>
                                    <p:set>
                                      <p:cBhvr>
                                        <p:cTn id="50" dur="1" fill="hold">
                                          <p:stCondLst>
                                            <p:cond delay="0"/>
                                          </p:stCondLst>
                                        </p:cTn>
                                        <p:tgtEl>
                                          <p:spTgt spid="112"/>
                                        </p:tgtEl>
                                        <p:attrNameLst>
                                          <p:attrName>style.visibility</p:attrName>
                                        </p:attrNameLst>
                                      </p:cBhvr>
                                      <p:to>
                                        <p:strVal val="visible"/>
                                      </p:to>
                                    </p:set>
                                    <p:animEffect transition="in" filter="fade">
                                      <p:cBhvr>
                                        <p:cTn id="51" dur="100"/>
                                        <p:tgtEl>
                                          <p:spTgt spid="112"/>
                                        </p:tgtEl>
                                      </p:cBhvr>
                                    </p:animEffect>
                                  </p:childTnLst>
                                </p:cTn>
                              </p:par>
                            </p:childTnLst>
                          </p:cTn>
                        </p:par>
                        <p:par>
                          <p:cTn id="52" fill="hold">
                            <p:stCondLst>
                              <p:cond delay="1200"/>
                            </p:stCondLst>
                            <p:childTnLst>
                              <p:par>
                                <p:cTn id="53" presetID="10" presetClass="entr" presetSubtype="0" fill="hold" grpId="0" nodeType="afterEffect">
                                  <p:stCondLst>
                                    <p:cond delay="0"/>
                                  </p:stCondLst>
                                  <p:childTnLst>
                                    <p:set>
                                      <p:cBhvr>
                                        <p:cTn id="54" dur="1" fill="hold">
                                          <p:stCondLst>
                                            <p:cond delay="0"/>
                                          </p:stCondLst>
                                        </p:cTn>
                                        <p:tgtEl>
                                          <p:spTgt spid="114"/>
                                        </p:tgtEl>
                                        <p:attrNameLst>
                                          <p:attrName>style.visibility</p:attrName>
                                        </p:attrNameLst>
                                      </p:cBhvr>
                                      <p:to>
                                        <p:strVal val="visible"/>
                                      </p:to>
                                    </p:set>
                                    <p:animEffect transition="in" filter="fade">
                                      <p:cBhvr>
                                        <p:cTn id="55" dur="100"/>
                                        <p:tgtEl>
                                          <p:spTgt spid="114"/>
                                        </p:tgtEl>
                                      </p:cBhvr>
                                    </p:animEffect>
                                  </p:childTnLst>
                                </p:cTn>
                              </p:par>
                            </p:childTnLst>
                          </p:cTn>
                        </p:par>
                        <p:par>
                          <p:cTn id="56" fill="hold">
                            <p:stCondLst>
                              <p:cond delay="1300"/>
                            </p:stCondLst>
                            <p:childTnLst>
                              <p:par>
                                <p:cTn id="57" presetID="10" presetClass="entr" presetSubtype="0" fill="hold" nodeType="afterEffect">
                                  <p:stCondLst>
                                    <p:cond delay="0"/>
                                  </p:stCondLst>
                                  <p:childTnLst>
                                    <p:set>
                                      <p:cBhvr>
                                        <p:cTn id="58" dur="1" fill="hold">
                                          <p:stCondLst>
                                            <p:cond delay="0"/>
                                          </p:stCondLst>
                                        </p:cTn>
                                        <p:tgtEl>
                                          <p:spTgt spid="107"/>
                                        </p:tgtEl>
                                        <p:attrNameLst>
                                          <p:attrName>style.visibility</p:attrName>
                                        </p:attrNameLst>
                                      </p:cBhvr>
                                      <p:to>
                                        <p:strVal val="visible"/>
                                      </p:to>
                                    </p:set>
                                    <p:animEffect transition="in" filter="fade">
                                      <p:cBhvr>
                                        <p:cTn id="59" dur="100"/>
                                        <p:tgtEl>
                                          <p:spTgt spid="107"/>
                                        </p:tgtEl>
                                      </p:cBhvr>
                                    </p:animEffect>
                                  </p:childTnLst>
                                </p:cTn>
                              </p:par>
                            </p:childTnLst>
                          </p:cTn>
                        </p:par>
                        <p:par>
                          <p:cTn id="60" fill="hold">
                            <p:stCondLst>
                              <p:cond delay="1400"/>
                            </p:stCondLst>
                            <p:childTnLst>
                              <p:par>
                                <p:cTn id="61" presetID="10" presetClass="entr" presetSubtype="0" fill="hold" nodeType="afterEffect">
                                  <p:stCondLst>
                                    <p:cond delay="0"/>
                                  </p:stCondLst>
                                  <p:childTnLst>
                                    <p:set>
                                      <p:cBhvr>
                                        <p:cTn id="62" dur="1" fill="hold">
                                          <p:stCondLst>
                                            <p:cond delay="0"/>
                                          </p:stCondLst>
                                        </p:cTn>
                                        <p:tgtEl>
                                          <p:spTgt spid="106"/>
                                        </p:tgtEl>
                                        <p:attrNameLst>
                                          <p:attrName>style.visibility</p:attrName>
                                        </p:attrNameLst>
                                      </p:cBhvr>
                                      <p:to>
                                        <p:strVal val="visible"/>
                                      </p:to>
                                    </p:set>
                                    <p:animEffect transition="in" filter="fade">
                                      <p:cBhvr>
                                        <p:cTn id="63" dur="100"/>
                                        <p:tgtEl>
                                          <p:spTgt spid="106"/>
                                        </p:tgtEl>
                                      </p:cBhvr>
                                    </p:animEffect>
                                  </p:childTnLst>
                                </p:cTn>
                              </p:par>
                            </p:childTnLst>
                          </p:cTn>
                        </p:par>
                        <p:par>
                          <p:cTn id="64" fill="hold">
                            <p:stCondLst>
                              <p:cond delay="1500"/>
                            </p:stCondLst>
                            <p:childTnLst>
                              <p:par>
                                <p:cTn id="65" presetID="10" presetClass="entr" presetSubtype="0" fill="hold" nodeType="afterEffect">
                                  <p:stCondLst>
                                    <p:cond delay="0"/>
                                  </p:stCondLst>
                                  <p:childTnLst>
                                    <p:set>
                                      <p:cBhvr>
                                        <p:cTn id="66" dur="1" fill="hold">
                                          <p:stCondLst>
                                            <p:cond delay="0"/>
                                          </p:stCondLst>
                                        </p:cTn>
                                        <p:tgtEl>
                                          <p:spTgt spid="105"/>
                                        </p:tgtEl>
                                        <p:attrNameLst>
                                          <p:attrName>style.visibility</p:attrName>
                                        </p:attrNameLst>
                                      </p:cBhvr>
                                      <p:to>
                                        <p:strVal val="visible"/>
                                      </p:to>
                                    </p:set>
                                    <p:animEffect transition="in" filter="fade">
                                      <p:cBhvr>
                                        <p:cTn id="67" dur="100"/>
                                        <p:tgtEl>
                                          <p:spTgt spid="105"/>
                                        </p:tgtEl>
                                      </p:cBhvr>
                                    </p:animEffect>
                                  </p:childTnLst>
                                </p:cTn>
                              </p:par>
                            </p:childTnLst>
                          </p:cTn>
                        </p:par>
                        <p:par>
                          <p:cTn id="68" fill="hold">
                            <p:stCondLst>
                              <p:cond delay="1600"/>
                            </p:stCondLst>
                            <p:childTnLst>
                              <p:par>
                                <p:cTn id="69" presetID="10" presetClass="entr" presetSubtype="0" fill="hold" nodeType="afterEffect">
                                  <p:stCondLst>
                                    <p:cond delay="0"/>
                                  </p:stCondLst>
                                  <p:childTnLst>
                                    <p:set>
                                      <p:cBhvr>
                                        <p:cTn id="70" dur="1" fill="hold">
                                          <p:stCondLst>
                                            <p:cond delay="0"/>
                                          </p:stCondLst>
                                        </p:cTn>
                                        <p:tgtEl>
                                          <p:spTgt spid="104"/>
                                        </p:tgtEl>
                                        <p:attrNameLst>
                                          <p:attrName>style.visibility</p:attrName>
                                        </p:attrNameLst>
                                      </p:cBhvr>
                                      <p:to>
                                        <p:strVal val="visible"/>
                                      </p:to>
                                    </p:set>
                                    <p:animEffect transition="in" filter="fade">
                                      <p:cBhvr>
                                        <p:cTn id="71" dur="100"/>
                                        <p:tgtEl>
                                          <p:spTgt spid="104"/>
                                        </p:tgtEl>
                                      </p:cBhvr>
                                    </p:animEffect>
                                  </p:childTnLst>
                                </p:cTn>
                              </p:par>
                            </p:childTnLst>
                          </p:cTn>
                        </p:par>
                        <p:par>
                          <p:cTn id="72" fill="hold">
                            <p:stCondLst>
                              <p:cond delay="1700"/>
                            </p:stCondLst>
                            <p:childTnLst>
                              <p:par>
                                <p:cTn id="73" presetID="10" presetClass="entr" presetSubtype="0" fill="hold" nodeType="afterEffect">
                                  <p:stCondLst>
                                    <p:cond delay="0"/>
                                  </p:stCondLst>
                                  <p:childTnLst>
                                    <p:set>
                                      <p:cBhvr>
                                        <p:cTn id="74" dur="1" fill="hold">
                                          <p:stCondLst>
                                            <p:cond delay="0"/>
                                          </p:stCondLst>
                                        </p:cTn>
                                        <p:tgtEl>
                                          <p:spTgt spid="103"/>
                                        </p:tgtEl>
                                        <p:attrNameLst>
                                          <p:attrName>style.visibility</p:attrName>
                                        </p:attrNameLst>
                                      </p:cBhvr>
                                      <p:to>
                                        <p:strVal val="visible"/>
                                      </p:to>
                                    </p:set>
                                    <p:animEffect transition="in" filter="fade">
                                      <p:cBhvr>
                                        <p:cTn id="75" dur="1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P spid="100" grpId="0"/>
      <p:bldP spid="101" grpId="0"/>
      <p:bldP spid="102" grpId="0"/>
      <p:bldP spid="108" grpId="0" animBg="1"/>
      <p:bldP spid="109" grpId="0" animBg="1"/>
      <p:bldP spid="110" grpId="0" animBg="1"/>
      <p:bldP spid="111" grpId="0" animBg="1"/>
      <p:bldP spid="112" grpId="0" animBg="1"/>
      <p:bldP spid="113" grpId="0" animBg="1"/>
      <p:bldP spid="11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82213-C646-4F25-A476-A0FDB0048AE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DE1F6B1-E919-4BE1-B67D-36D437299C4C}"/>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C688AE84-A325-456B-8FA2-FC3AC374666F}"/>
              </a:ext>
            </a:extLst>
          </p:cNvPr>
          <p:cNvSpPr/>
          <p:nvPr/>
        </p:nvSpPr>
        <p:spPr>
          <a:xfrm>
            <a:off x="0" y="-2823"/>
            <a:ext cx="12220703" cy="68608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5" name="Credit MAIN">
            <a:extLst>
              <a:ext uri="{FF2B5EF4-FFF2-40B4-BE49-F238E27FC236}">
                <a16:creationId xmlns:a16="http://schemas.microsoft.com/office/drawing/2014/main" id="{40052BFF-5FD2-4831-8679-3A94553F18A5}"/>
              </a:ext>
            </a:extLst>
          </p:cNvPr>
          <p:cNvSpPr txBox="1"/>
          <p:nvPr/>
        </p:nvSpPr>
        <p:spPr>
          <a:xfrm>
            <a:off x="50878" y="6432004"/>
            <a:ext cx="2668876"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Phạm</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Văn</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Quyết</a:t>
            </a:r>
            <a:endParaRPr lang="en-US" dirty="0">
              <a:solidFill>
                <a:schemeClr val="bg1">
                  <a:lumMod val="95000"/>
                  <a:alpha val="46000"/>
                </a:schemeClr>
              </a:solidFill>
            </a:endParaRPr>
          </a:p>
        </p:txBody>
      </p:sp>
      <p:sp>
        <p:nvSpPr>
          <p:cNvPr id="6" name="Header">
            <a:extLst>
              <a:ext uri="{FF2B5EF4-FFF2-40B4-BE49-F238E27FC236}">
                <a16:creationId xmlns:a16="http://schemas.microsoft.com/office/drawing/2014/main" id="{6C0EDFDC-4BE9-43B1-8939-3FB31ACD1FFD}"/>
              </a:ext>
            </a:extLst>
          </p:cNvPr>
          <p:cNvSpPr txBox="1"/>
          <p:nvPr/>
        </p:nvSpPr>
        <p:spPr>
          <a:xfrm>
            <a:off x="50878" y="79574"/>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0" name="TextBox 9">
            <a:extLst>
              <a:ext uri="{FF2B5EF4-FFF2-40B4-BE49-F238E27FC236}">
                <a16:creationId xmlns:a16="http://schemas.microsoft.com/office/drawing/2014/main" id="{BB44A5AE-631C-4FAE-827A-13C7A81B1BCD}"/>
              </a:ext>
            </a:extLst>
          </p:cNvPr>
          <p:cNvSpPr txBox="1"/>
          <p:nvPr/>
        </p:nvSpPr>
        <p:spPr>
          <a:xfrm>
            <a:off x="944147" y="1080234"/>
            <a:ext cx="1775608"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Phương</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pháp</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49" name="Footer: Part">
            <a:extLst>
              <a:ext uri="{FF2B5EF4-FFF2-40B4-BE49-F238E27FC236}">
                <a16:creationId xmlns:a16="http://schemas.microsoft.com/office/drawing/2014/main" id="{FEC4F6FB-01C2-4B18-A426-A5D062558A92}"/>
              </a:ext>
            </a:extLst>
          </p:cNvPr>
          <p:cNvSpPr txBox="1"/>
          <p:nvPr/>
        </p:nvSpPr>
        <p:spPr>
          <a:xfrm>
            <a:off x="8487508" y="6464494"/>
            <a:ext cx="3733195" cy="369332"/>
          </a:xfrm>
          <a:prstGeom prst="rect">
            <a:avLst/>
          </a:prstGeom>
          <a:noFill/>
        </p:spPr>
        <p:txBody>
          <a:bodyPr wrap="square" rtlCol="0">
            <a:spAutoFit/>
          </a:bodyPr>
          <a:lstStyle/>
          <a:p>
            <a:r>
              <a:rPr lang="en-US" dirty="0" err="1">
                <a:solidFill>
                  <a:schemeClr val="bg1">
                    <a:lumMod val="95000"/>
                  </a:schemeClr>
                </a:solidFill>
                <a:latin typeface="JetBrains Mono Regular" panose="02000009000000000000" pitchFamily="49" charset="0"/>
                <a:cs typeface="JetBrains Mono Regular" panose="02000009000000000000" pitchFamily="49" charset="0"/>
              </a:rPr>
              <a:t>Bài</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toán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a:solidFill>
                  <a:schemeClr val="bg1">
                    <a:lumMod val="95000"/>
                  </a:schemeClr>
                </a:solidFill>
                <a:latin typeface="JetBrains Mono Light" panose="02000009000000000000" pitchFamily="49" charset="0"/>
                <a:cs typeface="JetBrains Mono Light" panose="02000009000000000000" pitchFamily="49" charset="0"/>
              </a:rPr>
              <a:t>“</a:t>
            </a:r>
            <a:r>
              <a:rPr lang="en-US" dirty="0" err="1">
                <a:solidFill>
                  <a:schemeClr val="bg1">
                    <a:lumMod val="85000"/>
                  </a:schemeClr>
                </a:solidFill>
                <a:latin typeface="JetBrains Mono Light" panose="02000009000000000000"/>
                <a:cs typeface="JetBrains Mono" panose="02000009000000000000" pitchFamily="49" charset="0"/>
              </a:rPr>
              <a:t>Người</a:t>
            </a:r>
            <a:r>
              <a:rPr lang="en-US" dirty="0">
                <a:solidFill>
                  <a:schemeClr val="bg1">
                    <a:lumMod val="85000"/>
                  </a:schemeClr>
                </a:solidFill>
                <a:latin typeface="JetBrains Mono Light" panose="02000009000000000000"/>
                <a:cs typeface="JetBrains Mono" panose="02000009000000000000" pitchFamily="49" charset="0"/>
              </a:rPr>
              <a:t> </a:t>
            </a:r>
            <a:r>
              <a:rPr lang="en-US" dirty="0" err="1">
                <a:solidFill>
                  <a:schemeClr val="bg1">
                    <a:lumMod val="85000"/>
                  </a:schemeClr>
                </a:solidFill>
                <a:latin typeface="JetBrains Mono Light" panose="02000009000000000000"/>
                <a:cs typeface="JetBrains Mono" panose="02000009000000000000" pitchFamily="49" charset="0"/>
              </a:rPr>
              <a:t>bán</a:t>
            </a:r>
            <a:r>
              <a:rPr lang="en-US" dirty="0">
                <a:solidFill>
                  <a:schemeClr val="bg1">
                    <a:lumMod val="85000"/>
                  </a:schemeClr>
                </a:solidFill>
                <a:latin typeface="JetBrains Mono Light" panose="02000009000000000000"/>
                <a:cs typeface="JetBrains Mono" panose="02000009000000000000" pitchFamily="49" charset="0"/>
              </a:rPr>
              <a:t> </a:t>
            </a:r>
            <a:r>
              <a:rPr lang="en-US" dirty="0" err="1">
                <a:solidFill>
                  <a:schemeClr val="bg1">
                    <a:lumMod val="85000"/>
                  </a:schemeClr>
                </a:solidFill>
                <a:latin typeface="JetBrains Mono Light" panose="02000009000000000000"/>
                <a:cs typeface="JetBrains Mono" panose="02000009000000000000" pitchFamily="49" charset="0"/>
              </a:rPr>
              <a:t>hàng</a:t>
            </a:r>
            <a:r>
              <a:rPr lang="en-US" dirty="0">
                <a:solidFill>
                  <a:schemeClr val="bg1">
                    <a:lumMod val="85000"/>
                  </a:schemeClr>
                </a:solidFill>
                <a:latin typeface="JetBrains Mono Light" panose="02000009000000000000"/>
                <a:cs typeface="JetBrains Mono" panose="02000009000000000000" pitchFamily="49" charset="0"/>
              </a:rPr>
              <a:t>”</a:t>
            </a:r>
          </a:p>
        </p:txBody>
      </p:sp>
      <p:sp>
        <p:nvSpPr>
          <p:cNvPr id="50" name="Footer: Title">
            <a:extLst>
              <a:ext uri="{FF2B5EF4-FFF2-40B4-BE49-F238E27FC236}">
                <a16:creationId xmlns:a16="http://schemas.microsoft.com/office/drawing/2014/main" id="{8FE323BC-127E-4694-B09E-D439BC9FCB8D}"/>
              </a:ext>
            </a:extLst>
          </p:cNvPr>
          <p:cNvSpPr txBox="1"/>
          <p:nvPr/>
        </p:nvSpPr>
        <p:spPr>
          <a:xfrm>
            <a:off x="7385543" y="6469576"/>
            <a:ext cx="1215645"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a:t>
            </a:r>
          </a:p>
        </p:txBody>
      </p:sp>
      <p:sp>
        <p:nvSpPr>
          <p:cNvPr id="52" name="Rectangle 51">
            <a:extLst>
              <a:ext uri="{FF2B5EF4-FFF2-40B4-BE49-F238E27FC236}">
                <a16:creationId xmlns:a16="http://schemas.microsoft.com/office/drawing/2014/main" id="{33508B73-5ED1-4508-AFB1-C2C8F2D3EC8F}"/>
              </a:ext>
            </a:extLst>
          </p:cNvPr>
          <p:cNvSpPr/>
          <p:nvPr/>
        </p:nvSpPr>
        <p:spPr>
          <a:xfrm>
            <a:off x="591458" y="603227"/>
            <a:ext cx="3650464"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66CBAF43-3204-4B19-9445-AFAA4BE3D844}"/>
              </a:ext>
            </a:extLst>
          </p:cNvPr>
          <p:cNvSpPr txBox="1"/>
          <p:nvPr/>
        </p:nvSpPr>
        <p:spPr>
          <a:xfrm>
            <a:off x="603363" y="602701"/>
            <a:ext cx="3638559" cy="369332"/>
          </a:xfrm>
          <a:prstGeom prst="rect">
            <a:avLst/>
          </a:prstGeom>
          <a:no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Bài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toán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Người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bán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hàng</a:t>
            </a:r>
            <a:r>
              <a:rPr lang="en-US" dirty="0">
                <a:latin typeface="JetBrains Mono Regular" panose="02000009000000000000" pitchFamily="49" charset="0"/>
                <a:cs typeface="JetBrains Mono Regular" panose="02000009000000000000" pitchFamily="49" charset="0"/>
              </a:rPr>
              <a:t>”</a:t>
            </a:r>
          </a:p>
        </p:txBody>
      </p:sp>
      <p:sp>
        <p:nvSpPr>
          <p:cNvPr id="14" name="TextBox 13">
            <a:extLst>
              <a:ext uri="{FF2B5EF4-FFF2-40B4-BE49-F238E27FC236}">
                <a16:creationId xmlns:a16="http://schemas.microsoft.com/office/drawing/2014/main" id="{CB40A998-B242-4B4A-BAAB-B2B16DD2AD23}"/>
              </a:ext>
            </a:extLst>
          </p:cNvPr>
          <p:cNvSpPr txBox="1"/>
          <p:nvPr/>
        </p:nvSpPr>
        <p:spPr>
          <a:xfrm>
            <a:off x="2664872" y="1092325"/>
            <a:ext cx="3305415" cy="369332"/>
          </a:xfrm>
          <a:prstGeom prst="rect">
            <a:avLst/>
          </a:prstGeom>
          <a:noFill/>
        </p:spPr>
        <p:txBody>
          <a:bodyPr wrap="square" rtlCol="0">
            <a:spAutoFit/>
          </a:bodyPr>
          <a:lstStyle/>
          <a:p>
            <a:pPr marL="285750" indent="-285750">
              <a:buFont typeface="Arial" panose="020B0604020202020204" pitchFamily="34" charset="0"/>
              <a:buChar char="•"/>
            </a:pP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Thuật</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toán</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tham</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lam</a:t>
            </a:r>
            <a:endParaRPr lang="en-US" i="1" dirty="0">
              <a:latin typeface="JetBrains Mono ExtraLight" panose="02000009000000000000" pitchFamily="49" charset="0"/>
              <a:cs typeface="JetBrains Mono ExtraLight" panose="02000009000000000000" pitchFamily="49" charset="0"/>
            </a:endParaRPr>
          </a:p>
        </p:txBody>
      </p:sp>
      <p:sp>
        <p:nvSpPr>
          <p:cNvPr id="16" name="TextBox 15">
            <a:extLst>
              <a:ext uri="{FF2B5EF4-FFF2-40B4-BE49-F238E27FC236}">
                <a16:creationId xmlns:a16="http://schemas.microsoft.com/office/drawing/2014/main" id="{F87CA8E5-4149-4D9F-AF7A-231A5B6EDE71}"/>
              </a:ext>
            </a:extLst>
          </p:cNvPr>
          <p:cNvSpPr txBox="1"/>
          <p:nvPr/>
        </p:nvSpPr>
        <p:spPr>
          <a:xfrm>
            <a:off x="944147" y="1760062"/>
            <a:ext cx="331487" cy="369332"/>
          </a:xfrm>
          <a:prstGeom prst="rect">
            <a:avLst/>
          </a:prstGeom>
          <a:noFill/>
          <a:ln>
            <a:solidFill>
              <a:schemeClr val="bg1">
                <a:lumMod val="50000"/>
              </a:schemeClr>
            </a:solid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1</a:t>
            </a:r>
          </a:p>
        </p:txBody>
      </p:sp>
      <p:sp>
        <p:nvSpPr>
          <p:cNvPr id="17" name="TextBox 16">
            <a:extLst>
              <a:ext uri="{FF2B5EF4-FFF2-40B4-BE49-F238E27FC236}">
                <a16:creationId xmlns:a16="http://schemas.microsoft.com/office/drawing/2014/main" id="{27AE953B-BF4E-49A1-9177-6881D3B8350B}"/>
              </a:ext>
            </a:extLst>
          </p:cNvPr>
          <p:cNvSpPr txBox="1"/>
          <p:nvPr/>
        </p:nvSpPr>
        <p:spPr>
          <a:xfrm>
            <a:off x="1403861" y="1703884"/>
            <a:ext cx="6202458" cy="923330"/>
          </a:xfrm>
          <a:prstGeom prst="rect">
            <a:avLst/>
          </a:prstGeom>
          <a:noFill/>
        </p:spPr>
        <p:txBody>
          <a:bodyPr wrap="square" rtlCol="0">
            <a:spAutoFit/>
          </a:bodyPr>
          <a:lstStyle/>
          <a:p>
            <a:r>
              <a:rPr lang="vi-VN" dirty="0">
                <a:solidFill>
                  <a:schemeClr val="bg1">
                    <a:lumMod val="85000"/>
                  </a:schemeClr>
                </a:solidFill>
                <a:latin typeface="JetBrains Mono Light" panose="02000009000000000000" pitchFamily="49" charset="0"/>
                <a:cs typeface="JetBrains Mono Light" panose="02000009000000000000" pitchFamily="49" charset="0"/>
              </a:rPr>
              <a:t>Sắp xếp các cạnh theo thứ tự tăng của độ dài</a:t>
            </a:r>
            <a:r>
              <a:rPr lang="en-US" dirty="0">
                <a:solidFill>
                  <a:schemeClr val="bg1">
                    <a:lumMod val="85000"/>
                  </a:schemeClr>
                </a:solidFill>
                <a:latin typeface="JetBrains Mono Light" panose="02000009000000000000" pitchFamily="49" charset="0"/>
                <a:cs typeface="JetBrains Mono Light" panose="02000009000000000000" pitchFamily="49" charset="0"/>
              </a:rPr>
              <a:t> </a:t>
            </a:r>
          </a:p>
          <a:p>
            <a:r>
              <a:rPr lang="vi-VN" i="1" dirty="0">
                <a:solidFill>
                  <a:schemeClr val="bg1">
                    <a:lumMod val="50000"/>
                  </a:schemeClr>
                </a:solidFill>
                <a:latin typeface="JetBrains Mono Light" panose="02000009000000000000" pitchFamily="49" charset="0"/>
                <a:cs typeface="JetBrains Mono Light" panose="02000009000000000000" pitchFamily="49" charset="0"/>
              </a:rPr>
              <a:t>(Có tổ hợp chập 2 của n phần tử</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vi-VN" i="1" dirty="0">
                <a:solidFill>
                  <a:schemeClr val="bg1">
                    <a:lumMod val="50000"/>
                  </a:schemeClr>
                </a:solidFill>
                <a:latin typeface="JetBrains Mono Light" panose="02000009000000000000" pitchFamily="49" charset="0"/>
                <a:cs typeface="JetBrains Mono Light" panose="02000009000000000000" pitchFamily="49" charset="0"/>
              </a:rPr>
              <a:t>cạnh hay nói theo cách khác là có n(n-1)/2 cạnh)</a:t>
            </a:r>
            <a:endParaRPr lang="en-US" i="1"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55" name="TextBox 54">
            <a:extLst>
              <a:ext uri="{FF2B5EF4-FFF2-40B4-BE49-F238E27FC236}">
                <a16:creationId xmlns:a16="http://schemas.microsoft.com/office/drawing/2014/main" id="{6F61E337-1CA0-41B9-9F43-A4944379636F}"/>
              </a:ext>
            </a:extLst>
          </p:cNvPr>
          <p:cNvSpPr txBox="1"/>
          <p:nvPr/>
        </p:nvSpPr>
        <p:spPr>
          <a:xfrm>
            <a:off x="944147" y="2740065"/>
            <a:ext cx="331487" cy="369332"/>
          </a:xfrm>
          <a:prstGeom prst="rect">
            <a:avLst/>
          </a:prstGeom>
          <a:solidFill>
            <a:schemeClr val="lt1"/>
          </a:solidFill>
          <a:ln>
            <a:solidFill>
              <a:schemeClr val="bg1">
                <a:lumMod val="50000"/>
              </a:schemeClr>
            </a:solidFill>
          </a:ln>
        </p:spPr>
        <p:txBody>
          <a:bodyPr wrap="square" rtlCol="0">
            <a:spAutoFit/>
          </a:bodyPr>
          <a:lstStyle/>
          <a:p>
            <a:pPr algn="r"/>
            <a:r>
              <a:rPr lang="en-US" dirty="0">
                <a:latin typeface="JetBrains Mono Medium" panose="02000009000000000000" pitchFamily="49" charset="0"/>
                <a:cs typeface="JetBrains Mono Medium" panose="02000009000000000000" pitchFamily="49" charset="0"/>
              </a:rPr>
              <a:t>2</a:t>
            </a:r>
          </a:p>
        </p:txBody>
      </p:sp>
      <p:sp>
        <p:nvSpPr>
          <p:cNvPr id="56" name="TextBox 55">
            <a:extLst>
              <a:ext uri="{FF2B5EF4-FFF2-40B4-BE49-F238E27FC236}">
                <a16:creationId xmlns:a16="http://schemas.microsoft.com/office/drawing/2014/main" id="{DFA12C5A-DBFB-4007-BF22-5B5744F57AAE}"/>
              </a:ext>
            </a:extLst>
          </p:cNvPr>
          <p:cNvSpPr txBox="1"/>
          <p:nvPr/>
        </p:nvSpPr>
        <p:spPr>
          <a:xfrm>
            <a:off x="1403861" y="2683887"/>
            <a:ext cx="6202458" cy="646331"/>
          </a:xfrm>
          <a:prstGeom prst="rect">
            <a:avLst/>
          </a:prstGeom>
          <a:noFill/>
        </p:spPr>
        <p:txBody>
          <a:bodyPr wrap="square" rtlCol="0">
            <a:spAutoFit/>
          </a:bodyPr>
          <a:lstStyle/>
          <a:p>
            <a:r>
              <a:rPr lang="vi-VN" dirty="0">
                <a:solidFill>
                  <a:schemeClr val="bg1">
                    <a:lumMod val="85000"/>
                  </a:schemeClr>
                </a:solidFill>
                <a:latin typeface="JetBrains Mono Light" panose="02000009000000000000" pitchFamily="49" charset="0"/>
                <a:cs typeface="JetBrains Mono Light" panose="02000009000000000000" pitchFamily="49" charset="0"/>
              </a:rPr>
              <a:t>Xét các cạnh có độ dài từ nhỏ đến lớn để đưa vào phương án</a:t>
            </a:r>
            <a:endParaRPr lang="en-US" i="1"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61" name="PAGE NUM 0">
            <a:extLst>
              <a:ext uri="{FF2B5EF4-FFF2-40B4-BE49-F238E27FC236}">
                <a16:creationId xmlns:a16="http://schemas.microsoft.com/office/drawing/2014/main" id="{9C12F1E6-E4C9-40F6-B619-25C06873062B}"/>
              </a:ext>
            </a:extLst>
          </p:cNvPr>
          <p:cNvSpPr txBox="1"/>
          <p:nvPr/>
        </p:nvSpPr>
        <p:spPr>
          <a:xfrm>
            <a:off x="11599908" y="-510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3</a:t>
            </a:r>
          </a:p>
        </p:txBody>
      </p:sp>
      <p:sp>
        <p:nvSpPr>
          <p:cNvPr id="62" name="PAGE NUM 1">
            <a:extLst>
              <a:ext uri="{FF2B5EF4-FFF2-40B4-BE49-F238E27FC236}">
                <a16:creationId xmlns:a16="http://schemas.microsoft.com/office/drawing/2014/main" id="{52A8FC11-810C-4F87-A3B6-652372C5A6CC}"/>
              </a:ext>
            </a:extLst>
          </p:cNvPr>
          <p:cNvSpPr txBox="1"/>
          <p:nvPr/>
        </p:nvSpPr>
        <p:spPr>
          <a:xfrm>
            <a:off x="11883838" y="-3971"/>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5</a:t>
            </a:r>
            <a:endParaRPr lang="en-US" dirty="0"/>
          </a:p>
        </p:txBody>
      </p:sp>
      <p:cxnSp>
        <p:nvCxnSpPr>
          <p:cNvPr id="115" name="Straight Connector 114">
            <a:extLst>
              <a:ext uri="{FF2B5EF4-FFF2-40B4-BE49-F238E27FC236}">
                <a16:creationId xmlns:a16="http://schemas.microsoft.com/office/drawing/2014/main" id="{856728D2-A0A8-4C0D-86E9-55AC3A11043B}"/>
              </a:ext>
            </a:extLst>
          </p:cNvPr>
          <p:cNvCxnSpPr>
            <a:cxnSpLocks/>
          </p:cNvCxnSpPr>
          <p:nvPr/>
        </p:nvCxnSpPr>
        <p:spPr>
          <a:xfrm>
            <a:off x="10137089" y="1469087"/>
            <a:ext cx="0" cy="2722179"/>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cxnSp>
        <p:nvCxnSpPr>
          <p:cNvPr id="116" name="Straight Connector 115">
            <a:extLst>
              <a:ext uri="{FF2B5EF4-FFF2-40B4-BE49-F238E27FC236}">
                <a16:creationId xmlns:a16="http://schemas.microsoft.com/office/drawing/2014/main" id="{E42B403E-429F-4477-8C88-21BB72FF454E}"/>
              </a:ext>
            </a:extLst>
          </p:cNvPr>
          <p:cNvCxnSpPr/>
          <p:nvPr/>
        </p:nvCxnSpPr>
        <p:spPr>
          <a:xfrm>
            <a:off x="8571048" y="3077170"/>
            <a:ext cx="3983421" cy="0"/>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sp>
        <p:nvSpPr>
          <p:cNvPr id="117" name="TextBox 116">
            <a:extLst>
              <a:ext uri="{FF2B5EF4-FFF2-40B4-BE49-F238E27FC236}">
                <a16:creationId xmlns:a16="http://schemas.microsoft.com/office/drawing/2014/main" id="{7798D5FB-C2FA-493C-936C-578D8B3E9ABF}"/>
              </a:ext>
            </a:extLst>
          </p:cNvPr>
          <p:cNvSpPr txBox="1"/>
          <p:nvPr/>
        </p:nvSpPr>
        <p:spPr>
          <a:xfrm>
            <a:off x="8127821" y="3883518"/>
            <a:ext cx="1149674" cy="369332"/>
          </a:xfrm>
          <a:prstGeom prst="rect">
            <a:avLst/>
          </a:prstGeom>
          <a:noFill/>
          <a:ln>
            <a:noFill/>
          </a:ln>
        </p:spPr>
        <p:txBody>
          <a:bodyPr wrap="none" rtlCol="0">
            <a:spAutoFit/>
          </a:bodyPr>
          <a:lstStyle/>
          <a:p>
            <a:r>
              <a:rPr lang="en-VN" dirty="0">
                <a:solidFill>
                  <a:schemeClr val="bg1">
                    <a:lumMod val="85000"/>
                  </a:schemeClr>
                </a:solidFill>
                <a:latin typeface="JetBrains Mono Light" panose="02000009000000000000" pitchFamily="49" charset="0"/>
                <a:cs typeface="JetBrains Mono Light" panose="02000009000000000000" pitchFamily="49" charset="0"/>
              </a:rPr>
              <a:t>(-3;-2)</a:t>
            </a:r>
          </a:p>
        </p:txBody>
      </p:sp>
      <p:sp>
        <p:nvSpPr>
          <p:cNvPr id="118" name="TextBox 117">
            <a:extLst>
              <a:ext uri="{FF2B5EF4-FFF2-40B4-BE49-F238E27FC236}">
                <a16:creationId xmlns:a16="http://schemas.microsoft.com/office/drawing/2014/main" id="{D2D0A7B8-F86F-4149-85C1-D6DA1C8C2D4A}"/>
              </a:ext>
            </a:extLst>
          </p:cNvPr>
          <p:cNvSpPr txBox="1"/>
          <p:nvPr/>
        </p:nvSpPr>
        <p:spPr>
          <a:xfrm>
            <a:off x="7885553" y="2274266"/>
            <a:ext cx="1011815" cy="369332"/>
          </a:xfrm>
          <a:prstGeom prst="rect">
            <a:avLst/>
          </a:prstGeom>
          <a:noFill/>
          <a:ln>
            <a:noFill/>
          </a:ln>
        </p:spPr>
        <p:txBody>
          <a:bodyPr wrap="none" rtlCol="0">
            <a:spAutoFit/>
          </a:bodyPr>
          <a:lstStyle/>
          <a:p>
            <a:r>
              <a:rPr lang="en-VN" dirty="0">
                <a:solidFill>
                  <a:schemeClr val="bg1">
                    <a:lumMod val="85000"/>
                  </a:schemeClr>
                </a:solidFill>
                <a:latin typeface="JetBrains Mono Light" panose="02000009000000000000" pitchFamily="49" charset="0"/>
                <a:cs typeface="JetBrains Mono Light" panose="02000009000000000000" pitchFamily="49" charset="0"/>
              </a:rPr>
              <a:t>(-3;3)</a:t>
            </a:r>
          </a:p>
        </p:txBody>
      </p:sp>
      <p:sp>
        <p:nvSpPr>
          <p:cNvPr id="119" name="TextBox 118">
            <a:extLst>
              <a:ext uri="{FF2B5EF4-FFF2-40B4-BE49-F238E27FC236}">
                <a16:creationId xmlns:a16="http://schemas.microsoft.com/office/drawing/2014/main" id="{6A515257-E9DB-4161-B18B-66B2F7B203F3}"/>
              </a:ext>
            </a:extLst>
          </p:cNvPr>
          <p:cNvSpPr txBox="1"/>
          <p:nvPr/>
        </p:nvSpPr>
        <p:spPr>
          <a:xfrm>
            <a:off x="10817284" y="1870517"/>
            <a:ext cx="873957" cy="369332"/>
          </a:xfrm>
          <a:prstGeom prst="rect">
            <a:avLst/>
          </a:prstGeom>
          <a:noFill/>
          <a:ln>
            <a:noFill/>
          </a:ln>
        </p:spPr>
        <p:txBody>
          <a:bodyPr wrap="square" rtlCol="0">
            <a:spAutoFit/>
          </a:bodyPr>
          <a:lstStyle/>
          <a:p>
            <a:r>
              <a:rPr lang="en-VN" dirty="0">
                <a:solidFill>
                  <a:schemeClr val="bg1">
                    <a:lumMod val="85000"/>
                  </a:schemeClr>
                </a:solidFill>
                <a:latin typeface="JetBrains Mono Light" panose="02000009000000000000" pitchFamily="49" charset="0"/>
                <a:cs typeface="JetBrains Mono Light" panose="02000009000000000000" pitchFamily="49" charset="0"/>
              </a:rPr>
              <a:t>(1;4)</a:t>
            </a:r>
          </a:p>
        </p:txBody>
      </p:sp>
      <p:sp>
        <p:nvSpPr>
          <p:cNvPr id="120" name="TextBox 119">
            <a:extLst>
              <a:ext uri="{FF2B5EF4-FFF2-40B4-BE49-F238E27FC236}">
                <a16:creationId xmlns:a16="http://schemas.microsoft.com/office/drawing/2014/main" id="{1AB23748-28B4-4079-B132-F20862CACD15}"/>
              </a:ext>
            </a:extLst>
          </p:cNvPr>
          <p:cNvSpPr txBox="1"/>
          <p:nvPr/>
        </p:nvSpPr>
        <p:spPr>
          <a:xfrm>
            <a:off x="11050794" y="2453948"/>
            <a:ext cx="873957" cy="369332"/>
          </a:xfrm>
          <a:prstGeom prst="rect">
            <a:avLst/>
          </a:prstGeom>
          <a:noFill/>
          <a:ln>
            <a:noFill/>
          </a:ln>
        </p:spPr>
        <p:txBody>
          <a:bodyPr wrap="square" rtlCol="0">
            <a:spAutoFit/>
          </a:bodyPr>
          <a:lstStyle/>
          <a:p>
            <a:r>
              <a:rPr lang="en-VN" dirty="0">
                <a:solidFill>
                  <a:schemeClr val="bg1">
                    <a:lumMod val="85000"/>
                  </a:schemeClr>
                </a:solidFill>
                <a:latin typeface="JetBrains Mono Light" panose="02000009000000000000" pitchFamily="49" charset="0"/>
                <a:cs typeface="JetBrains Mono Light" panose="02000009000000000000" pitchFamily="49" charset="0"/>
              </a:rPr>
              <a:t>(2;1)</a:t>
            </a:r>
          </a:p>
        </p:txBody>
      </p:sp>
      <p:cxnSp>
        <p:nvCxnSpPr>
          <p:cNvPr id="121" name="Straight Connector 120">
            <a:extLst>
              <a:ext uri="{FF2B5EF4-FFF2-40B4-BE49-F238E27FC236}">
                <a16:creationId xmlns:a16="http://schemas.microsoft.com/office/drawing/2014/main" id="{162F476B-0715-4089-A4C5-C1D90B8BF8F0}"/>
              </a:ext>
            </a:extLst>
          </p:cNvPr>
          <p:cNvCxnSpPr>
            <a:cxnSpLocks/>
          </p:cNvCxnSpPr>
          <p:nvPr/>
        </p:nvCxnSpPr>
        <p:spPr>
          <a:xfrm>
            <a:off x="10541318" y="2180460"/>
            <a:ext cx="330242" cy="56009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526C87AB-A67A-446E-9048-DB0D8A533FD8}"/>
              </a:ext>
            </a:extLst>
          </p:cNvPr>
          <p:cNvCxnSpPr>
            <a:cxnSpLocks/>
          </p:cNvCxnSpPr>
          <p:nvPr/>
        </p:nvCxnSpPr>
        <p:spPr>
          <a:xfrm flipV="1">
            <a:off x="8995703" y="2178651"/>
            <a:ext cx="1584723" cy="28185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B8C313D1-AC9C-4DE9-8EBD-647B3BF6E843}"/>
              </a:ext>
            </a:extLst>
          </p:cNvPr>
          <p:cNvCxnSpPr>
            <a:cxnSpLocks/>
          </p:cNvCxnSpPr>
          <p:nvPr/>
        </p:nvCxnSpPr>
        <p:spPr>
          <a:xfrm flipH="1">
            <a:off x="8994724" y="2442030"/>
            <a:ext cx="979" cy="11952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D4E5B2BB-8903-4255-83C6-DBFBB02B9A7C}"/>
              </a:ext>
            </a:extLst>
          </p:cNvPr>
          <p:cNvCxnSpPr>
            <a:cxnSpLocks/>
          </p:cNvCxnSpPr>
          <p:nvPr/>
        </p:nvCxnSpPr>
        <p:spPr>
          <a:xfrm>
            <a:off x="10859741" y="2715187"/>
            <a:ext cx="28838" cy="12914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DD2AF4EF-AE0F-4F3E-99DF-6A5FC3FAF652}"/>
              </a:ext>
            </a:extLst>
          </p:cNvPr>
          <p:cNvCxnSpPr>
            <a:cxnSpLocks/>
          </p:cNvCxnSpPr>
          <p:nvPr/>
        </p:nvCxnSpPr>
        <p:spPr>
          <a:xfrm>
            <a:off x="8994724" y="3637268"/>
            <a:ext cx="1893855" cy="3693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CB7665A3-A9EC-462A-9874-B2B486CC030A}"/>
              </a:ext>
            </a:extLst>
          </p:cNvPr>
          <p:cNvSpPr txBox="1"/>
          <p:nvPr/>
        </p:nvSpPr>
        <p:spPr>
          <a:xfrm>
            <a:off x="9993845" y="2876275"/>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O</a:t>
            </a:r>
          </a:p>
        </p:txBody>
      </p:sp>
      <p:sp>
        <p:nvSpPr>
          <p:cNvPr id="127" name="TextBox 126">
            <a:extLst>
              <a:ext uri="{FF2B5EF4-FFF2-40B4-BE49-F238E27FC236}">
                <a16:creationId xmlns:a16="http://schemas.microsoft.com/office/drawing/2014/main" id="{89D945DF-ED62-48FB-A683-5996B93790A8}"/>
              </a:ext>
            </a:extLst>
          </p:cNvPr>
          <p:cNvSpPr txBox="1"/>
          <p:nvPr/>
        </p:nvSpPr>
        <p:spPr>
          <a:xfrm>
            <a:off x="8847700" y="3452602"/>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A</a:t>
            </a:r>
          </a:p>
        </p:txBody>
      </p:sp>
      <p:sp>
        <p:nvSpPr>
          <p:cNvPr id="128" name="TextBox 127">
            <a:extLst>
              <a:ext uri="{FF2B5EF4-FFF2-40B4-BE49-F238E27FC236}">
                <a16:creationId xmlns:a16="http://schemas.microsoft.com/office/drawing/2014/main" id="{2A409BC3-4692-4F5C-B5B4-90A22A232D35}"/>
              </a:ext>
            </a:extLst>
          </p:cNvPr>
          <p:cNvSpPr txBox="1"/>
          <p:nvPr/>
        </p:nvSpPr>
        <p:spPr>
          <a:xfrm>
            <a:off x="8843692" y="2257364"/>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B</a:t>
            </a:r>
          </a:p>
        </p:txBody>
      </p:sp>
      <p:sp>
        <p:nvSpPr>
          <p:cNvPr id="129" name="TextBox 128">
            <a:extLst>
              <a:ext uri="{FF2B5EF4-FFF2-40B4-BE49-F238E27FC236}">
                <a16:creationId xmlns:a16="http://schemas.microsoft.com/office/drawing/2014/main" id="{4724CC7B-CE69-492E-B950-603C1F714770}"/>
              </a:ext>
            </a:extLst>
          </p:cNvPr>
          <p:cNvSpPr txBox="1"/>
          <p:nvPr/>
        </p:nvSpPr>
        <p:spPr>
          <a:xfrm>
            <a:off x="10401496" y="1963075"/>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C</a:t>
            </a:r>
          </a:p>
        </p:txBody>
      </p:sp>
      <p:sp>
        <p:nvSpPr>
          <p:cNvPr id="130" name="TextBox 129">
            <a:extLst>
              <a:ext uri="{FF2B5EF4-FFF2-40B4-BE49-F238E27FC236}">
                <a16:creationId xmlns:a16="http://schemas.microsoft.com/office/drawing/2014/main" id="{484FCF7B-1F64-4622-8863-D59B6D03F5D7}"/>
              </a:ext>
            </a:extLst>
          </p:cNvPr>
          <p:cNvSpPr txBox="1"/>
          <p:nvPr/>
        </p:nvSpPr>
        <p:spPr>
          <a:xfrm rot="10800000" flipH="1" flipV="1">
            <a:off x="10696134" y="3801476"/>
            <a:ext cx="410658"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E</a:t>
            </a:r>
          </a:p>
        </p:txBody>
      </p:sp>
      <p:sp>
        <p:nvSpPr>
          <p:cNvPr id="131" name="TextBox 130">
            <a:extLst>
              <a:ext uri="{FF2B5EF4-FFF2-40B4-BE49-F238E27FC236}">
                <a16:creationId xmlns:a16="http://schemas.microsoft.com/office/drawing/2014/main" id="{FD3D5683-8E89-459F-BD4C-FE6F2E495F48}"/>
              </a:ext>
            </a:extLst>
          </p:cNvPr>
          <p:cNvSpPr txBox="1"/>
          <p:nvPr/>
        </p:nvSpPr>
        <p:spPr>
          <a:xfrm>
            <a:off x="10740201" y="2555891"/>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D</a:t>
            </a:r>
          </a:p>
        </p:txBody>
      </p:sp>
      <p:sp>
        <p:nvSpPr>
          <p:cNvPr id="132" name="TextBox 131">
            <a:extLst>
              <a:ext uri="{FF2B5EF4-FFF2-40B4-BE49-F238E27FC236}">
                <a16:creationId xmlns:a16="http://schemas.microsoft.com/office/drawing/2014/main" id="{5FAE87AC-4392-4B5D-A329-314945541FEE}"/>
              </a:ext>
            </a:extLst>
          </p:cNvPr>
          <p:cNvSpPr txBox="1"/>
          <p:nvPr/>
        </p:nvSpPr>
        <p:spPr>
          <a:xfrm>
            <a:off x="11139672" y="3820079"/>
            <a:ext cx="1052328" cy="369332"/>
          </a:xfrm>
          <a:prstGeom prst="rect">
            <a:avLst/>
          </a:prstGeom>
          <a:noFill/>
        </p:spPr>
        <p:txBody>
          <a:bodyPr wrap="square" rtlCol="0">
            <a:spAutoFit/>
          </a:bodyPr>
          <a:lstStyle/>
          <a:p>
            <a:r>
              <a:rPr lang="en-VN" dirty="0">
                <a:solidFill>
                  <a:schemeClr val="bg1">
                    <a:lumMod val="85000"/>
                  </a:schemeClr>
                </a:solidFill>
                <a:latin typeface="JetBrains Mono Light" panose="02000009000000000000" pitchFamily="49" charset="0"/>
                <a:cs typeface="JetBrains Mono Light" panose="02000009000000000000" pitchFamily="49" charset="0"/>
              </a:rPr>
              <a:t>(2;-4)</a:t>
            </a:r>
            <a:endParaRPr lang="en-US" dirty="0">
              <a:latin typeface="JetBrains Mono Light" panose="02000009000000000000" pitchFamily="49" charset="0"/>
              <a:cs typeface="JetBrains Mono Light" panose="02000009000000000000" pitchFamily="49" charset="0"/>
            </a:endParaRPr>
          </a:p>
        </p:txBody>
      </p:sp>
    </p:spTree>
    <p:extLst>
      <p:ext uri="{BB962C8B-B14F-4D97-AF65-F5344CB8AC3E}">
        <p14:creationId xmlns:p14="http://schemas.microsoft.com/office/powerpoint/2010/main" val="42883045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82213-C646-4F25-A476-A0FDB0048AE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DE1F6B1-E919-4BE1-B67D-36D437299C4C}"/>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C688AE84-A325-456B-8FA2-FC3AC374666F}"/>
              </a:ext>
            </a:extLst>
          </p:cNvPr>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5" name="Credit MAIN">
            <a:extLst>
              <a:ext uri="{FF2B5EF4-FFF2-40B4-BE49-F238E27FC236}">
                <a16:creationId xmlns:a16="http://schemas.microsoft.com/office/drawing/2014/main" id="{40052BFF-5FD2-4831-8679-3A94553F18A5}"/>
              </a:ext>
            </a:extLst>
          </p:cNvPr>
          <p:cNvSpPr txBox="1"/>
          <p:nvPr/>
        </p:nvSpPr>
        <p:spPr>
          <a:xfrm>
            <a:off x="50878" y="6432004"/>
            <a:ext cx="2668876"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Phạm</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Văn</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Quyết</a:t>
            </a:r>
            <a:endParaRPr lang="en-US" dirty="0">
              <a:solidFill>
                <a:schemeClr val="bg1">
                  <a:lumMod val="95000"/>
                  <a:alpha val="46000"/>
                </a:schemeClr>
              </a:solidFill>
            </a:endParaRPr>
          </a:p>
        </p:txBody>
      </p:sp>
      <p:sp>
        <p:nvSpPr>
          <p:cNvPr id="6" name="Header">
            <a:extLst>
              <a:ext uri="{FF2B5EF4-FFF2-40B4-BE49-F238E27FC236}">
                <a16:creationId xmlns:a16="http://schemas.microsoft.com/office/drawing/2014/main" id="{6C0EDFDC-4BE9-43B1-8939-3FB31ACD1FFD}"/>
              </a:ext>
            </a:extLst>
          </p:cNvPr>
          <p:cNvSpPr txBox="1"/>
          <p:nvPr/>
        </p:nvSpPr>
        <p:spPr>
          <a:xfrm>
            <a:off x="50878" y="79574"/>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0" name="TextBox 9">
            <a:extLst>
              <a:ext uri="{FF2B5EF4-FFF2-40B4-BE49-F238E27FC236}">
                <a16:creationId xmlns:a16="http://schemas.microsoft.com/office/drawing/2014/main" id="{BB44A5AE-631C-4FAE-827A-13C7A81B1BCD}"/>
              </a:ext>
            </a:extLst>
          </p:cNvPr>
          <p:cNvSpPr txBox="1"/>
          <p:nvPr/>
        </p:nvSpPr>
        <p:spPr>
          <a:xfrm>
            <a:off x="944147" y="1080234"/>
            <a:ext cx="1775608"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Phương</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pháp</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49" name="Footer: Part">
            <a:extLst>
              <a:ext uri="{FF2B5EF4-FFF2-40B4-BE49-F238E27FC236}">
                <a16:creationId xmlns:a16="http://schemas.microsoft.com/office/drawing/2014/main" id="{FEC4F6FB-01C2-4B18-A426-A5D062558A92}"/>
              </a:ext>
            </a:extLst>
          </p:cNvPr>
          <p:cNvSpPr txBox="1"/>
          <p:nvPr/>
        </p:nvSpPr>
        <p:spPr>
          <a:xfrm>
            <a:off x="8487508" y="6464494"/>
            <a:ext cx="3733195" cy="369332"/>
          </a:xfrm>
          <a:prstGeom prst="rect">
            <a:avLst/>
          </a:prstGeom>
          <a:noFill/>
        </p:spPr>
        <p:txBody>
          <a:bodyPr wrap="square" rtlCol="0">
            <a:spAutoFit/>
          </a:bodyPr>
          <a:lstStyle/>
          <a:p>
            <a:r>
              <a:rPr lang="en-US" dirty="0" err="1">
                <a:solidFill>
                  <a:schemeClr val="bg1">
                    <a:lumMod val="95000"/>
                  </a:schemeClr>
                </a:solidFill>
                <a:latin typeface="JetBrains Mono Regular" panose="02000009000000000000" pitchFamily="49" charset="0"/>
                <a:cs typeface="JetBrains Mono Regular" panose="02000009000000000000" pitchFamily="49" charset="0"/>
              </a:rPr>
              <a:t>Bài</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toán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a:solidFill>
                  <a:schemeClr val="bg1">
                    <a:lumMod val="95000"/>
                  </a:schemeClr>
                </a:solidFill>
                <a:latin typeface="JetBrains Mono Light" panose="02000009000000000000" pitchFamily="49" charset="0"/>
                <a:cs typeface="JetBrains Mono Light" panose="02000009000000000000" pitchFamily="49" charset="0"/>
              </a:rPr>
              <a:t>“</a:t>
            </a:r>
            <a:r>
              <a:rPr lang="en-US" dirty="0" err="1">
                <a:solidFill>
                  <a:schemeClr val="bg1">
                    <a:lumMod val="85000"/>
                  </a:schemeClr>
                </a:solidFill>
                <a:latin typeface="JetBrains Mono Light" panose="02000009000000000000"/>
                <a:cs typeface="JetBrains Mono" panose="02000009000000000000" pitchFamily="49" charset="0"/>
              </a:rPr>
              <a:t>Người</a:t>
            </a:r>
            <a:r>
              <a:rPr lang="en-US" dirty="0">
                <a:solidFill>
                  <a:schemeClr val="bg1">
                    <a:lumMod val="85000"/>
                  </a:schemeClr>
                </a:solidFill>
                <a:latin typeface="JetBrains Mono Light" panose="02000009000000000000"/>
                <a:cs typeface="JetBrains Mono" panose="02000009000000000000" pitchFamily="49" charset="0"/>
              </a:rPr>
              <a:t> </a:t>
            </a:r>
            <a:r>
              <a:rPr lang="en-US" dirty="0" err="1">
                <a:solidFill>
                  <a:schemeClr val="bg1">
                    <a:lumMod val="85000"/>
                  </a:schemeClr>
                </a:solidFill>
                <a:latin typeface="JetBrains Mono Light" panose="02000009000000000000"/>
                <a:cs typeface="JetBrains Mono" panose="02000009000000000000" pitchFamily="49" charset="0"/>
              </a:rPr>
              <a:t>bán</a:t>
            </a:r>
            <a:r>
              <a:rPr lang="en-US" dirty="0">
                <a:solidFill>
                  <a:schemeClr val="bg1">
                    <a:lumMod val="85000"/>
                  </a:schemeClr>
                </a:solidFill>
                <a:latin typeface="JetBrains Mono Light" panose="02000009000000000000"/>
                <a:cs typeface="JetBrains Mono" panose="02000009000000000000" pitchFamily="49" charset="0"/>
              </a:rPr>
              <a:t> </a:t>
            </a:r>
            <a:r>
              <a:rPr lang="en-US" dirty="0" err="1">
                <a:solidFill>
                  <a:schemeClr val="bg1">
                    <a:lumMod val="85000"/>
                  </a:schemeClr>
                </a:solidFill>
                <a:latin typeface="JetBrains Mono Light" panose="02000009000000000000"/>
                <a:cs typeface="JetBrains Mono" panose="02000009000000000000" pitchFamily="49" charset="0"/>
              </a:rPr>
              <a:t>hàng</a:t>
            </a:r>
            <a:r>
              <a:rPr lang="en-US" dirty="0">
                <a:solidFill>
                  <a:schemeClr val="bg1">
                    <a:lumMod val="85000"/>
                  </a:schemeClr>
                </a:solidFill>
                <a:latin typeface="JetBrains Mono Light" panose="02000009000000000000"/>
                <a:cs typeface="JetBrains Mono" panose="02000009000000000000" pitchFamily="49" charset="0"/>
              </a:rPr>
              <a:t>”</a:t>
            </a:r>
          </a:p>
        </p:txBody>
      </p:sp>
      <p:sp>
        <p:nvSpPr>
          <p:cNvPr id="50" name="Footer: Title">
            <a:extLst>
              <a:ext uri="{FF2B5EF4-FFF2-40B4-BE49-F238E27FC236}">
                <a16:creationId xmlns:a16="http://schemas.microsoft.com/office/drawing/2014/main" id="{8FE323BC-127E-4694-B09E-D439BC9FCB8D}"/>
              </a:ext>
            </a:extLst>
          </p:cNvPr>
          <p:cNvSpPr txBox="1"/>
          <p:nvPr/>
        </p:nvSpPr>
        <p:spPr>
          <a:xfrm>
            <a:off x="7385543" y="6469576"/>
            <a:ext cx="1215645"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a:t>
            </a:r>
          </a:p>
        </p:txBody>
      </p:sp>
      <p:sp>
        <p:nvSpPr>
          <p:cNvPr id="52" name="Rectangle 51">
            <a:extLst>
              <a:ext uri="{FF2B5EF4-FFF2-40B4-BE49-F238E27FC236}">
                <a16:creationId xmlns:a16="http://schemas.microsoft.com/office/drawing/2014/main" id="{33508B73-5ED1-4508-AFB1-C2C8F2D3EC8F}"/>
              </a:ext>
            </a:extLst>
          </p:cNvPr>
          <p:cNvSpPr/>
          <p:nvPr/>
        </p:nvSpPr>
        <p:spPr>
          <a:xfrm>
            <a:off x="591458" y="603227"/>
            <a:ext cx="3650464"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66CBAF43-3204-4B19-9445-AFAA4BE3D844}"/>
              </a:ext>
            </a:extLst>
          </p:cNvPr>
          <p:cNvSpPr txBox="1"/>
          <p:nvPr/>
        </p:nvSpPr>
        <p:spPr>
          <a:xfrm>
            <a:off x="603363" y="602701"/>
            <a:ext cx="3638559" cy="369332"/>
          </a:xfrm>
          <a:prstGeom prst="rect">
            <a:avLst/>
          </a:prstGeom>
          <a:no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Bài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toán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Người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bán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hàng</a:t>
            </a:r>
            <a:r>
              <a:rPr lang="en-US" dirty="0">
                <a:latin typeface="JetBrains Mono Regular" panose="02000009000000000000" pitchFamily="49" charset="0"/>
                <a:cs typeface="JetBrains Mono Regular" panose="02000009000000000000" pitchFamily="49" charset="0"/>
              </a:rPr>
              <a:t>”</a:t>
            </a:r>
          </a:p>
        </p:txBody>
      </p:sp>
      <p:sp>
        <p:nvSpPr>
          <p:cNvPr id="14" name="TextBox 13">
            <a:extLst>
              <a:ext uri="{FF2B5EF4-FFF2-40B4-BE49-F238E27FC236}">
                <a16:creationId xmlns:a16="http://schemas.microsoft.com/office/drawing/2014/main" id="{CB40A998-B242-4B4A-BAAB-B2B16DD2AD23}"/>
              </a:ext>
            </a:extLst>
          </p:cNvPr>
          <p:cNvSpPr txBox="1"/>
          <p:nvPr/>
        </p:nvSpPr>
        <p:spPr>
          <a:xfrm>
            <a:off x="2664872" y="1092325"/>
            <a:ext cx="3305415" cy="369332"/>
          </a:xfrm>
          <a:prstGeom prst="rect">
            <a:avLst/>
          </a:prstGeom>
          <a:noFill/>
        </p:spPr>
        <p:txBody>
          <a:bodyPr wrap="square" rtlCol="0">
            <a:spAutoFit/>
          </a:bodyPr>
          <a:lstStyle/>
          <a:p>
            <a:pPr marL="285750" indent="-285750">
              <a:buFont typeface="Arial" panose="020B0604020202020204" pitchFamily="34" charset="0"/>
              <a:buChar char="•"/>
            </a:pP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Thuật</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toán</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tham</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lam</a:t>
            </a:r>
            <a:endParaRPr lang="en-US" i="1" dirty="0">
              <a:latin typeface="JetBrains Mono ExtraLight" panose="02000009000000000000" pitchFamily="49" charset="0"/>
              <a:cs typeface="JetBrains Mono ExtraLight" panose="02000009000000000000" pitchFamily="49" charset="0"/>
            </a:endParaRPr>
          </a:p>
        </p:txBody>
      </p:sp>
      <p:sp>
        <p:nvSpPr>
          <p:cNvPr id="16" name="TextBox 15">
            <a:extLst>
              <a:ext uri="{FF2B5EF4-FFF2-40B4-BE49-F238E27FC236}">
                <a16:creationId xmlns:a16="http://schemas.microsoft.com/office/drawing/2014/main" id="{F87CA8E5-4149-4D9F-AF7A-231A5B6EDE71}"/>
              </a:ext>
            </a:extLst>
          </p:cNvPr>
          <p:cNvSpPr txBox="1"/>
          <p:nvPr/>
        </p:nvSpPr>
        <p:spPr>
          <a:xfrm>
            <a:off x="944147" y="1760062"/>
            <a:ext cx="331487" cy="369332"/>
          </a:xfrm>
          <a:prstGeom prst="rect">
            <a:avLst/>
          </a:prstGeom>
          <a:noFill/>
          <a:ln>
            <a:solidFill>
              <a:schemeClr val="bg1">
                <a:lumMod val="50000"/>
              </a:schemeClr>
            </a:solid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1</a:t>
            </a:r>
          </a:p>
        </p:txBody>
      </p:sp>
      <p:sp>
        <p:nvSpPr>
          <p:cNvPr id="17" name="TextBox 16">
            <a:extLst>
              <a:ext uri="{FF2B5EF4-FFF2-40B4-BE49-F238E27FC236}">
                <a16:creationId xmlns:a16="http://schemas.microsoft.com/office/drawing/2014/main" id="{27AE953B-BF4E-49A1-9177-6881D3B8350B}"/>
              </a:ext>
            </a:extLst>
          </p:cNvPr>
          <p:cNvSpPr txBox="1"/>
          <p:nvPr/>
        </p:nvSpPr>
        <p:spPr>
          <a:xfrm>
            <a:off x="1403861" y="1703884"/>
            <a:ext cx="6202458" cy="923330"/>
          </a:xfrm>
          <a:prstGeom prst="rect">
            <a:avLst/>
          </a:prstGeom>
          <a:noFill/>
        </p:spPr>
        <p:txBody>
          <a:bodyPr wrap="square" rtlCol="0">
            <a:spAutoFit/>
          </a:bodyPr>
          <a:lstStyle/>
          <a:p>
            <a:r>
              <a:rPr lang="vi-VN" dirty="0">
                <a:solidFill>
                  <a:schemeClr val="bg1">
                    <a:lumMod val="85000"/>
                  </a:schemeClr>
                </a:solidFill>
                <a:latin typeface="JetBrains Mono Light" panose="02000009000000000000" pitchFamily="49" charset="0"/>
                <a:cs typeface="JetBrains Mono Light" panose="02000009000000000000" pitchFamily="49" charset="0"/>
              </a:rPr>
              <a:t>Sắp xếp các cạnh theo thứ tự tăng của độ dài</a:t>
            </a:r>
            <a:r>
              <a:rPr lang="en-US" dirty="0">
                <a:solidFill>
                  <a:schemeClr val="bg1">
                    <a:lumMod val="85000"/>
                  </a:schemeClr>
                </a:solidFill>
                <a:latin typeface="JetBrains Mono Light" panose="02000009000000000000" pitchFamily="49" charset="0"/>
                <a:cs typeface="JetBrains Mono Light" panose="02000009000000000000" pitchFamily="49" charset="0"/>
              </a:rPr>
              <a:t> </a:t>
            </a:r>
          </a:p>
          <a:p>
            <a:r>
              <a:rPr lang="vi-VN" i="1" dirty="0">
                <a:solidFill>
                  <a:schemeClr val="bg1">
                    <a:lumMod val="50000"/>
                  </a:schemeClr>
                </a:solidFill>
                <a:latin typeface="JetBrains Mono Light" panose="02000009000000000000" pitchFamily="49" charset="0"/>
                <a:cs typeface="JetBrains Mono Light" panose="02000009000000000000" pitchFamily="49" charset="0"/>
              </a:rPr>
              <a:t>(Có tổ hợp chập 2 của n phần tử</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vi-VN" i="1" dirty="0">
                <a:solidFill>
                  <a:schemeClr val="bg1">
                    <a:lumMod val="50000"/>
                  </a:schemeClr>
                </a:solidFill>
                <a:latin typeface="JetBrains Mono Light" panose="02000009000000000000" pitchFamily="49" charset="0"/>
                <a:cs typeface="JetBrains Mono Light" panose="02000009000000000000" pitchFamily="49" charset="0"/>
              </a:rPr>
              <a:t>cạnh hay nói theo cách khác là có n(n-1)/2 cạnh)</a:t>
            </a:r>
            <a:endParaRPr lang="en-US" i="1"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55" name="TextBox 54">
            <a:extLst>
              <a:ext uri="{FF2B5EF4-FFF2-40B4-BE49-F238E27FC236}">
                <a16:creationId xmlns:a16="http://schemas.microsoft.com/office/drawing/2014/main" id="{6F61E337-1CA0-41B9-9F43-A4944379636F}"/>
              </a:ext>
            </a:extLst>
          </p:cNvPr>
          <p:cNvSpPr txBox="1"/>
          <p:nvPr/>
        </p:nvSpPr>
        <p:spPr>
          <a:xfrm>
            <a:off x="944147" y="2740065"/>
            <a:ext cx="331487" cy="369332"/>
          </a:xfrm>
          <a:prstGeom prst="rect">
            <a:avLst/>
          </a:prstGeom>
          <a:noFill/>
          <a:ln>
            <a:solidFill>
              <a:schemeClr val="bg1">
                <a:lumMod val="50000"/>
              </a:schemeClr>
            </a:solid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2</a:t>
            </a:r>
          </a:p>
        </p:txBody>
      </p:sp>
      <p:sp>
        <p:nvSpPr>
          <p:cNvPr id="56" name="TextBox 55">
            <a:extLst>
              <a:ext uri="{FF2B5EF4-FFF2-40B4-BE49-F238E27FC236}">
                <a16:creationId xmlns:a16="http://schemas.microsoft.com/office/drawing/2014/main" id="{DFA12C5A-DBFB-4007-BF22-5B5744F57AAE}"/>
              </a:ext>
            </a:extLst>
          </p:cNvPr>
          <p:cNvSpPr txBox="1"/>
          <p:nvPr/>
        </p:nvSpPr>
        <p:spPr>
          <a:xfrm>
            <a:off x="1403861" y="2683887"/>
            <a:ext cx="6202458" cy="646331"/>
          </a:xfrm>
          <a:prstGeom prst="rect">
            <a:avLst/>
          </a:prstGeom>
          <a:noFill/>
        </p:spPr>
        <p:txBody>
          <a:bodyPr wrap="square" rtlCol="0">
            <a:spAutoFit/>
          </a:bodyPr>
          <a:lstStyle/>
          <a:p>
            <a:r>
              <a:rPr lang="vi-VN" dirty="0">
                <a:solidFill>
                  <a:schemeClr val="bg1">
                    <a:lumMod val="85000"/>
                  </a:schemeClr>
                </a:solidFill>
                <a:latin typeface="JetBrains Mono Light" panose="02000009000000000000" pitchFamily="49" charset="0"/>
                <a:cs typeface="JetBrains Mono Light" panose="02000009000000000000" pitchFamily="49" charset="0"/>
              </a:rPr>
              <a:t>Xét các cạnh có độ dài từ nhỏ đến lớn để đưa vào phương án</a:t>
            </a:r>
            <a:endParaRPr lang="en-US" i="1"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57" name="TextBox 56">
            <a:extLst>
              <a:ext uri="{FF2B5EF4-FFF2-40B4-BE49-F238E27FC236}">
                <a16:creationId xmlns:a16="http://schemas.microsoft.com/office/drawing/2014/main" id="{1B3699E0-B699-453F-87B2-35C6E8CA6406}"/>
              </a:ext>
            </a:extLst>
          </p:cNvPr>
          <p:cNvSpPr txBox="1"/>
          <p:nvPr/>
        </p:nvSpPr>
        <p:spPr>
          <a:xfrm>
            <a:off x="944147" y="3518636"/>
            <a:ext cx="331487" cy="369332"/>
          </a:xfrm>
          <a:prstGeom prst="rect">
            <a:avLst/>
          </a:prstGeom>
          <a:solidFill>
            <a:schemeClr val="lt1"/>
          </a:solidFill>
          <a:ln>
            <a:solidFill>
              <a:schemeClr val="bg1">
                <a:lumMod val="50000"/>
              </a:schemeClr>
            </a:solidFill>
          </a:ln>
        </p:spPr>
        <p:txBody>
          <a:bodyPr wrap="square" rtlCol="0">
            <a:spAutoFit/>
          </a:bodyPr>
          <a:lstStyle/>
          <a:p>
            <a:pPr algn="r"/>
            <a:r>
              <a:rPr lang="en-US" dirty="0">
                <a:latin typeface="JetBrains Mono Medium" panose="02000009000000000000" pitchFamily="49" charset="0"/>
                <a:cs typeface="JetBrains Mono Medium" panose="02000009000000000000" pitchFamily="49" charset="0"/>
              </a:rPr>
              <a:t>3</a:t>
            </a:r>
          </a:p>
        </p:txBody>
      </p:sp>
      <p:sp>
        <p:nvSpPr>
          <p:cNvPr id="58" name="TextBox 57">
            <a:extLst>
              <a:ext uri="{FF2B5EF4-FFF2-40B4-BE49-F238E27FC236}">
                <a16:creationId xmlns:a16="http://schemas.microsoft.com/office/drawing/2014/main" id="{7128DD29-0976-4B4E-AA31-C0F96CBEAF3E}"/>
              </a:ext>
            </a:extLst>
          </p:cNvPr>
          <p:cNvSpPr txBox="1"/>
          <p:nvPr/>
        </p:nvSpPr>
        <p:spPr>
          <a:xfrm>
            <a:off x="1403861" y="3462458"/>
            <a:ext cx="6202458" cy="1200329"/>
          </a:xfrm>
          <a:prstGeom prst="rect">
            <a:avLst/>
          </a:prstGeom>
          <a:noFill/>
        </p:spPr>
        <p:txBody>
          <a:bodyPr wrap="square" rtlCol="0">
            <a:spAutoFit/>
          </a:bodyPr>
          <a:lstStyle/>
          <a:p>
            <a:r>
              <a:rPr lang="vi-VN" dirty="0">
                <a:solidFill>
                  <a:schemeClr val="bg1">
                    <a:lumMod val="85000"/>
                  </a:schemeClr>
                </a:solidFill>
                <a:latin typeface="JetBrains Mono Light" panose="02000009000000000000" pitchFamily="49" charset="0"/>
                <a:cs typeface="JetBrains Mono Light" panose="02000009000000000000" pitchFamily="49" charset="0"/>
              </a:rPr>
              <a:t>Một cạnh sẽ được đưa vào phương án nếu nó không tạo thành một đỉnh cấp 3 và không tạo thành một chu trình thiếu</a:t>
            </a:r>
            <a:r>
              <a:rPr lang="en-US" dirty="0">
                <a:solidFill>
                  <a:schemeClr val="bg1">
                    <a:lumMod val="85000"/>
                  </a:schemeClr>
                </a:solidFill>
                <a:latin typeface="JetBrains Mono Light" panose="02000009000000000000" pitchFamily="49" charset="0"/>
                <a:cs typeface="JetBrains Mono Light" panose="02000009000000000000" pitchFamily="49" charset="0"/>
              </a:rPr>
              <a:t> </a:t>
            </a:r>
            <a:r>
              <a:rPr lang="vi-VN" dirty="0">
                <a:solidFill>
                  <a:schemeClr val="bg1">
                    <a:lumMod val="50000"/>
                  </a:schemeClr>
                </a:solidFill>
                <a:latin typeface="JetBrains Mono Light" panose="02000009000000000000" pitchFamily="49" charset="0"/>
                <a:cs typeface="JetBrains Mono Light" panose="02000009000000000000" pitchFamily="49" charset="0"/>
              </a:rPr>
              <a:t>(</a:t>
            </a:r>
            <a:r>
              <a:rPr lang="vi-VN" i="1" dirty="0">
                <a:solidFill>
                  <a:schemeClr val="bg1">
                    <a:lumMod val="50000"/>
                  </a:schemeClr>
                </a:solidFill>
                <a:latin typeface="JetBrains Mono Light" panose="02000009000000000000" pitchFamily="49" charset="0"/>
                <a:cs typeface="JetBrains Mono Light" panose="02000009000000000000" pitchFamily="49" charset="0"/>
              </a:rPr>
              <a:t>chu trình có số cạnh nhỏ hơn n</a:t>
            </a:r>
            <a:r>
              <a:rPr lang="vi-VN" dirty="0">
                <a:solidFill>
                  <a:schemeClr val="bg1">
                    <a:lumMod val="50000"/>
                  </a:schemeClr>
                </a:solidFill>
                <a:latin typeface="JetBrains Mono Light" panose="02000009000000000000" pitchFamily="49" charset="0"/>
                <a:cs typeface="JetBrains Mono Light" panose="02000009000000000000" pitchFamily="49" charset="0"/>
              </a:rPr>
              <a:t>)</a:t>
            </a:r>
            <a:endParaRPr lang="en-US" i="1"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61" name="PAGE NUM 0">
            <a:extLst>
              <a:ext uri="{FF2B5EF4-FFF2-40B4-BE49-F238E27FC236}">
                <a16:creationId xmlns:a16="http://schemas.microsoft.com/office/drawing/2014/main" id="{9C12F1E6-E4C9-40F6-B619-25C06873062B}"/>
              </a:ext>
            </a:extLst>
          </p:cNvPr>
          <p:cNvSpPr txBox="1"/>
          <p:nvPr/>
        </p:nvSpPr>
        <p:spPr>
          <a:xfrm>
            <a:off x="11599908" y="-510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3</a:t>
            </a:r>
          </a:p>
        </p:txBody>
      </p:sp>
      <p:sp>
        <p:nvSpPr>
          <p:cNvPr id="62" name="PAGE NUM 1">
            <a:extLst>
              <a:ext uri="{FF2B5EF4-FFF2-40B4-BE49-F238E27FC236}">
                <a16:creationId xmlns:a16="http://schemas.microsoft.com/office/drawing/2014/main" id="{52A8FC11-810C-4F87-A3B6-652372C5A6CC}"/>
              </a:ext>
            </a:extLst>
          </p:cNvPr>
          <p:cNvSpPr txBox="1"/>
          <p:nvPr/>
        </p:nvSpPr>
        <p:spPr>
          <a:xfrm>
            <a:off x="11883838" y="-3971"/>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6</a:t>
            </a:r>
            <a:endParaRPr lang="en-US" dirty="0"/>
          </a:p>
        </p:txBody>
      </p:sp>
      <p:cxnSp>
        <p:nvCxnSpPr>
          <p:cNvPr id="97" name="Straight Connector 96">
            <a:extLst>
              <a:ext uri="{FF2B5EF4-FFF2-40B4-BE49-F238E27FC236}">
                <a16:creationId xmlns:a16="http://schemas.microsoft.com/office/drawing/2014/main" id="{814BA65B-F5D2-4D1F-9897-33F2A1674BB3}"/>
              </a:ext>
            </a:extLst>
          </p:cNvPr>
          <p:cNvCxnSpPr>
            <a:cxnSpLocks/>
          </p:cNvCxnSpPr>
          <p:nvPr/>
        </p:nvCxnSpPr>
        <p:spPr>
          <a:xfrm>
            <a:off x="10097287" y="1644101"/>
            <a:ext cx="0" cy="2722179"/>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cxnSp>
        <p:nvCxnSpPr>
          <p:cNvPr id="98" name="Straight Connector 97">
            <a:extLst>
              <a:ext uri="{FF2B5EF4-FFF2-40B4-BE49-F238E27FC236}">
                <a16:creationId xmlns:a16="http://schemas.microsoft.com/office/drawing/2014/main" id="{964438D5-AF6D-448F-B0E5-814058F1C69A}"/>
              </a:ext>
            </a:extLst>
          </p:cNvPr>
          <p:cNvCxnSpPr/>
          <p:nvPr/>
        </p:nvCxnSpPr>
        <p:spPr>
          <a:xfrm>
            <a:off x="8531246" y="3252184"/>
            <a:ext cx="3983421" cy="0"/>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sp>
        <p:nvSpPr>
          <p:cNvPr id="99" name="TextBox 98">
            <a:extLst>
              <a:ext uri="{FF2B5EF4-FFF2-40B4-BE49-F238E27FC236}">
                <a16:creationId xmlns:a16="http://schemas.microsoft.com/office/drawing/2014/main" id="{1CB10871-0A68-4CB0-8328-F854C5022D6D}"/>
              </a:ext>
            </a:extLst>
          </p:cNvPr>
          <p:cNvSpPr txBox="1"/>
          <p:nvPr/>
        </p:nvSpPr>
        <p:spPr>
          <a:xfrm>
            <a:off x="8088019" y="4058532"/>
            <a:ext cx="1149674" cy="369332"/>
          </a:xfrm>
          <a:prstGeom prst="rect">
            <a:avLst/>
          </a:prstGeom>
          <a:noFill/>
          <a:ln>
            <a:noFill/>
          </a:ln>
        </p:spPr>
        <p:txBody>
          <a:bodyPr wrap="none" rtlCol="0">
            <a:spAutoFit/>
          </a:bodyPr>
          <a:lstStyle/>
          <a:p>
            <a:r>
              <a:rPr lang="en-VN" dirty="0">
                <a:solidFill>
                  <a:schemeClr val="bg1">
                    <a:lumMod val="85000"/>
                  </a:schemeClr>
                </a:solidFill>
                <a:latin typeface="JetBrains Mono Light" panose="02000009000000000000" pitchFamily="49" charset="0"/>
                <a:cs typeface="JetBrains Mono Light" panose="02000009000000000000" pitchFamily="49" charset="0"/>
              </a:rPr>
              <a:t>(-3;-2)</a:t>
            </a:r>
          </a:p>
        </p:txBody>
      </p:sp>
      <p:sp>
        <p:nvSpPr>
          <p:cNvPr id="100" name="TextBox 99">
            <a:extLst>
              <a:ext uri="{FF2B5EF4-FFF2-40B4-BE49-F238E27FC236}">
                <a16:creationId xmlns:a16="http://schemas.microsoft.com/office/drawing/2014/main" id="{7973BB7C-F825-4264-A7A5-C99F2FD4AE50}"/>
              </a:ext>
            </a:extLst>
          </p:cNvPr>
          <p:cNvSpPr txBox="1"/>
          <p:nvPr/>
        </p:nvSpPr>
        <p:spPr>
          <a:xfrm>
            <a:off x="7845751" y="2449280"/>
            <a:ext cx="1011815" cy="369332"/>
          </a:xfrm>
          <a:prstGeom prst="rect">
            <a:avLst/>
          </a:prstGeom>
          <a:noFill/>
          <a:ln>
            <a:noFill/>
          </a:ln>
        </p:spPr>
        <p:txBody>
          <a:bodyPr wrap="none" rtlCol="0">
            <a:spAutoFit/>
          </a:bodyPr>
          <a:lstStyle/>
          <a:p>
            <a:r>
              <a:rPr lang="en-VN" dirty="0">
                <a:solidFill>
                  <a:schemeClr val="bg1">
                    <a:lumMod val="85000"/>
                  </a:schemeClr>
                </a:solidFill>
                <a:latin typeface="JetBrains Mono Light" panose="02000009000000000000" pitchFamily="49" charset="0"/>
                <a:cs typeface="JetBrains Mono Light" panose="02000009000000000000" pitchFamily="49" charset="0"/>
              </a:rPr>
              <a:t>(-3;3)</a:t>
            </a:r>
          </a:p>
        </p:txBody>
      </p:sp>
      <p:sp>
        <p:nvSpPr>
          <p:cNvPr id="101" name="TextBox 100">
            <a:extLst>
              <a:ext uri="{FF2B5EF4-FFF2-40B4-BE49-F238E27FC236}">
                <a16:creationId xmlns:a16="http://schemas.microsoft.com/office/drawing/2014/main" id="{B71132D7-A3AE-44DE-9C57-536307F301FA}"/>
              </a:ext>
            </a:extLst>
          </p:cNvPr>
          <p:cNvSpPr txBox="1"/>
          <p:nvPr/>
        </p:nvSpPr>
        <p:spPr>
          <a:xfrm>
            <a:off x="10777482" y="2045531"/>
            <a:ext cx="873957" cy="369332"/>
          </a:xfrm>
          <a:prstGeom prst="rect">
            <a:avLst/>
          </a:prstGeom>
          <a:noFill/>
          <a:ln>
            <a:noFill/>
          </a:ln>
        </p:spPr>
        <p:txBody>
          <a:bodyPr wrap="square" rtlCol="0">
            <a:spAutoFit/>
          </a:bodyPr>
          <a:lstStyle/>
          <a:p>
            <a:r>
              <a:rPr lang="en-VN" dirty="0">
                <a:solidFill>
                  <a:schemeClr val="bg1">
                    <a:lumMod val="85000"/>
                  </a:schemeClr>
                </a:solidFill>
                <a:latin typeface="JetBrains Mono Light" panose="02000009000000000000" pitchFamily="49" charset="0"/>
                <a:cs typeface="JetBrains Mono Light" panose="02000009000000000000" pitchFamily="49" charset="0"/>
              </a:rPr>
              <a:t>(1;4)</a:t>
            </a:r>
          </a:p>
        </p:txBody>
      </p:sp>
      <p:sp>
        <p:nvSpPr>
          <p:cNvPr id="102" name="TextBox 101">
            <a:extLst>
              <a:ext uri="{FF2B5EF4-FFF2-40B4-BE49-F238E27FC236}">
                <a16:creationId xmlns:a16="http://schemas.microsoft.com/office/drawing/2014/main" id="{F1A3670B-FD86-4275-8A9C-57C37FF26325}"/>
              </a:ext>
            </a:extLst>
          </p:cNvPr>
          <p:cNvSpPr txBox="1"/>
          <p:nvPr/>
        </p:nvSpPr>
        <p:spPr>
          <a:xfrm>
            <a:off x="11010992" y="2628962"/>
            <a:ext cx="873957" cy="369332"/>
          </a:xfrm>
          <a:prstGeom prst="rect">
            <a:avLst/>
          </a:prstGeom>
          <a:noFill/>
          <a:ln>
            <a:noFill/>
          </a:ln>
        </p:spPr>
        <p:txBody>
          <a:bodyPr wrap="square" rtlCol="0">
            <a:spAutoFit/>
          </a:bodyPr>
          <a:lstStyle/>
          <a:p>
            <a:r>
              <a:rPr lang="en-VN" dirty="0">
                <a:solidFill>
                  <a:schemeClr val="bg1">
                    <a:lumMod val="85000"/>
                  </a:schemeClr>
                </a:solidFill>
                <a:latin typeface="JetBrains Mono Light" panose="02000009000000000000" pitchFamily="49" charset="0"/>
                <a:cs typeface="JetBrains Mono Light" panose="02000009000000000000" pitchFamily="49" charset="0"/>
              </a:rPr>
              <a:t>(2;1)</a:t>
            </a:r>
          </a:p>
        </p:txBody>
      </p:sp>
      <p:cxnSp>
        <p:nvCxnSpPr>
          <p:cNvPr id="103" name="Straight Connector 102">
            <a:extLst>
              <a:ext uri="{FF2B5EF4-FFF2-40B4-BE49-F238E27FC236}">
                <a16:creationId xmlns:a16="http://schemas.microsoft.com/office/drawing/2014/main" id="{F371F2C3-C7DE-492D-8EE8-3A382E276538}"/>
              </a:ext>
            </a:extLst>
          </p:cNvPr>
          <p:cNvCxnSpPr>
            <a:cxnSpLocks/>
          </p:cNvCxnSpPr>
          <p:nvPr/>
        </p:nvCxnSpPr>
        <p:spPr>
          <a:xfrm>
            <a:off x="10501516" y="2355474"/>
            <a:ext cx="330242" cy="56009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314810E1-AA65-40A2-8DF1-75A3AC4F5DB1}"/>
              </a:ext>
            </a:extLst>
          </p:cNvPr>
          <p:cNvCxnSpPr>
            <a:cxnSpLocks/>
          </p:cNvCxnSpPr>
          <p:nvPr/>
        </p:nvCxnSpPr>
        <p:spPr>
          <a:xfrm flipV="1">
            <a:off x="8955901" y="2353665"/>
            <a:ext cx="1584723" cy="28185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5A57548F-E7D5-449B-A8CB-0F680683949B}"/>
              </a:ext>
            </a:extLst>
          </p:cNvPr>
          <p:cNvCxnSpPr>
            <a:cxnSpLocks/>
          </p:cNvCxnSpPr>
          <p:nvPr/>
        </p:nvCxnSpPr>
        <p:spPr>
          <a:xfrm flipH="1">
            <a:off x="8954922" y="2617044"/>
            <a:ext cx="979" cy="11952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03CAE500-28FE-4ADE-B4D4-B68B95BAA9BA}"/>
              </a:ext>
            </a:extLst>
          </p:cNvPr>
          <p:cNvCxnSpPr>
            <a:cxnSpLocks/>
          </p:cNvCxnSpPr>
          <p:nvPr/>
        </p:nvCxnSpPr>
        <p:spPr>
          <a:xfrm>
            <a:off x="10819939" y="2890201"/>
            <a:ext cx="28838" cy="12914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436066FE-3312-41D0-AA60-EFF2DE0AFA2E}"/>
              </a:ext>
            </a:extLst>
          </p:cNvPr>
          <p:cNvCxnSpPr>
            <a:cxnSpLocks/>
          </p:cNvCxnSpPr>
          <p:nvPr/>
        </p:nvCxnSpPr>
        <p:spPr>
          <a:xfrm>
            <a:off x="8954922" y="3812282"/>
            <a:ext cx="1893855" cy="3693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240F3C57-23D6-4D27-A8CD-B4E5EC1A80A8}"/>
              </a:ext>
            </a:extLst>
          </p:cNvPr>
          <p:cNvSpPr txBox="1"/>
          <p:nvPr/>
        </p:nvSpPr>
        <p:spPr>
          <a:xfrm>
            <a:off x="9954043" y="3051289"/>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O</a:t>
            </a:r>
          </a:p>
        </p:txBody>
      </p:sp>
      <p:sp>
        <p:nvSpPr>
          <p:cNvPr id="109" name="TextBox 108">
            <a:extLst>
              <a:ext uri="{FF2B5EF4-FFF2-40B4-BE49-F238E27FC236}">
                <a16:creationId xmlns:a16="http://schemas.microsoft.com/office/drawing/2014/main" id="{4A990DB2-5DD0-4283-988F-87B5F8796CC8}"/>
              </a:ext>
            </a:extLst>
          </p:cNvPr>
          <p:cNvSpPr txBox="1"/>
          <p:nvPr/>
        </p:nvSpPr>
        <p:spPr>
          <a:xfrm>
            <a:off x="8807898" y="3627616"/>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A</a:t>
            </a:r>
          </a:p>
        </p:txBody>
      </p:sp>
      <p:sp>
        <p:nvSpPr>
          <p:cNvPr id="110" name="TextBox 109">
            <a:extLst>
              <a:ext uri="{FF2B5EF4-FFF2-40B4-BE49-F238E27FC236}">
                <a16:creationId xmlns:a16="http://schemas.microsoft.com/office/drawing/2014/main" id="{6F643C39-E04A-4F99-995F-80970CBE9B7D}"/>
              </a:ext>
            </a:extLst>
          </p:cNvPr>
          <p:cNvSpPr txBox="1"/>
          <p:nvPr/>
        </p:nvSpPr>
        <p:spPr>
          <a:xfrm>
            <a:off x="8803890" y="2432378"/>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B</a:t>
            </a:r>
          </a:p>
        </p:txBody>
      </p:sp>
      <p:sp>
        <p:nvSpPr>
          <p:cNvPr id="111" name="TextBox 110">
            <a:extLst>
              <a:ext uri="{FF2B5EF4-FFF2-40B4-BE49-F238E27FC236}">
                <a16:creationId xmlns:a16="http://schemas.microsoft.com/office/drawing/2014/main" id="{3360DD9D-AEBC-414A-A64A-D3064503E52A}"/>
              </a:ext>
            </a:extLst>
          </p:cNvPr>
          <p:cNvSpPr txBox="1"/>
          <p:nvPr/>
        </p:nvSpPr>
        <p:spPr>
          <a:xfrm>
            <a:off x="10361694" y="2138089"/>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C</a:t>
            </a:r>
          </a:p>
        </p:txBody>
      </p:sp>
      <p:sp>
        <p:nvSpPr>
          <p:cNvPr id="112" name="TextBox 111">
            <a:extLst>
              <a:ext uri="{FF2B5EF4-FFF2-40B4-BE49-F238E27FC236}">
                <a16:creationId xmlns:a16="http://schemas.microsoft.com/office/drawing/2014/main" id="{88552E52-5826-4BD3-A203-91B7CDEEE7DE}"/>
              </a:ext>
            </a:extLst>
          </p:cNvPr>
          <p:cNvSpPr txBox="1"/>
          <p:nvPr/>
        </p:nvSpPr>
        <p:spPr>
          <a:xfrm rot="10800000" flipH="1" flipV="1">
            <a:off x="10656332" y="3976490"/>
            <a:ext cx="410658"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E</a:t>
            </a:r>
          </a:p>
        </p:txBody>
      </p:sp>
      <p:sp>
        <p:nvSpPr>
          <p:cNvPr id="113" name="TextBox 112">
            <a:extLst>
              <a:ext uri="{FF2B5EF4-FFF2-40B4-BE49-F238E27FC236}">
                <a16:creationId xmlns:a16="http://schemas.microsoft.com/office/drawing/2014/main" id="{75E76D4D-D7CE-4744-9DB1-C99389E9BCDE}"/>
              </a:ext>
            </a:extLst>
          </p:cNvPr>
          <p:cNvSpPr txBox="1"/>
          <p:nvPr/>
        </p:nvSpPr>
        <p:spPr>
          <a:xfrm>
            <a:off x="10700399" y="2730905"/>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D</a:t>
            </a:r>
          </a:p>
        </p:txBody>
      </p:sp>
      <p:sp>
        <p:nvSpPr>
          <p:cNvPr id="114" name="TextBox 113">
            <a:extLst>
              <a:ext uri="{FF2B5EF4-FFF2-40B4-BE49-F238E27FC236}">
                <a16:creationId xmlns:a16="http://schemas.microsoft.com/office/drawing/2014/main" id="{8AB4842C-5EC3-466D-BA94-AB8E31A1C448}"/>
              </a:ext>
            </a:extLst>
          </p:cNvPr>
          <p:cNvSpPr txBox="1"/>
          <p:nvPr/>
        </p:nvSpPr>
        <p:spPr>
          <a:xfrm>
            <a:off x="11099870" y="3995093"/>
            <a:ext cx="1052328" cy="369332"/>
          </a:xfrm>
          <a:prstGeom prst="rect">
            <a:avLst/>
          </a:prstGeom>
          <a:noFill/>
        </p:spPr>
        <p:txBody>
          <a:bodyPr wrap="square" rtlCol="0">
            <a:spAutoFit/>
          </a:bodyPr>
          <a:lstStyle/>
          <a:p>
            <a:r>
              <a:rPr lang="en-VN" dirty="0">
                <a:solidFill>
                  <a:schemeClr val="bg1">
                    <a:lumMod val="85000"/>
                  </a:schemeClr>
                </a:solidFill>
                <a:latin typeface="JetBrains Mono Light" panose="02000009000000000000" pitchFamily="49" charset="0"/>
                <a:cs typeface="JetBrains Mono Light" panose="02000009000000000000" pitchFamily="49" charset="0"/>
              </a:rPr>
              <a:t>(2;-4)</a:t>
            </a:r>
            <a:endParaRPr lang="en-US" dirty="0">
              <a:latin typeface="JetBrains Mono Light" panose="02000009000000000000" pitchFamily="49" charset="0"/>
              <a:cs typeface="JetBrains Mono Light" panose="02000009000000000000" pitchFamily="49" charset="0"/>
            </a:endParaRPr>
          </a:p>
        </p:txBody>
      </p:sp>
    </p:spTree>
    <p:extLst>
      <p:ext uri="{BB962C8B-B14F-4D97-AF65-F5344CB8AC3E}">
        <p14:creationId xmlns:p14="http://schemas.microsoft.com/office/powerpoint/2010/main" val="24022395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82213-C646-4F25-A476-A0FDB0048AE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DE1F6B1-E919-4BE1-B67D-36D437299C4C}"/>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C688AE84-A325-456B-8FA2-FC3AC374666F}"/>
              </a:ext>
            </a:extLst>
          </p:cNvPr>
          <p:cNvSpPr/>
          <p:nvPr/>
        </p:nvSpPr>
        <p:spPr>
          <a:xfrm>
            <a:off x="-28703" y="-2823"/>
            <a:ext cx="12220703" cy="68608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5" name="Credit MAIN">
            <a:extLst>
              <a:ext uri="{FF2B5EF4-FFF2-40B4-BE49-F238E27FC236}">
                <a16:creationId xmlns:a16="http://schemas.microsoft.com/office/drawing/2014/main" id="{40052BFF-5FD2-4831-8679-3A94553F18A5}"/>
              </a:ext>
            </a:extLst>
          </p:cNvPr>
          <p:cNvSpPr txBox="1"/>
          <p:nvPr/>
        </p:nvSpPr>
        <p:spPr>
          <a:xfrm>
            <a:off x="50878" y="6432004"/>
            <a:ext cx="2668876"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Phạm</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Văn</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Quyết</a:t>
            </a:r>
            <a:endParaRPr lang="en-US" dirty="0">
              <a:solidFill>
                <a:schemeClr val="bg1">
                  <a:lumMod val="95000"/>
                  <a:alpha val="46000"/>
                </a:schemeClr>
              </a:solidFill>
            </a:endParaRPr>
          </a:p>
        </p:txBody>
      </p:sp>
      <p:sp>
        <p:nvSpPr>
          <p:cNvPr id="6" name="Header">
            <a:extLst>
              <a:ext uri="{FF2B5EF4-FFF2-40B4-BE49-F238E27FC236}">
                <a16:creationId xmlns:a16="http://schemas.microsoft.com/office/drawing/2014/main" id="{6C0EDFDC-4BE9-43B1-8939-3FB31ACD1FFD}"/>
              </a:ext>
            </a:extLst>
          </p:cNvPr>
          <p:cNvSpPr txBox="1"/>
          <p:nvPr/>
        </p:nvSpPr>
        <p:spPr>
          <a:xfrm>
            <a:off x="50878" y="79574"/>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0" name="TextBox 9">
            <a:extLst>
              <a:ext uri="{FF2B5EF4-FFF2-40B4-BE49-F238E27FC236}">
                <a16:creationId xmlns:a16="http://schemas.microsoft.com/office/drawing/2014/main" id="{BB44A5AE-631C-4FAE-827A-13C7A81B1BCD}"/>
              </a:ext>
            </a:extLst>
          </p:cNvPr>
          <p:cNvSpPr txBox="1"/>
          <p:nvPr/>
        </p:nvSpPr>
        <p:spPr>
          <a:xfrm>
            <a:off x="944147" y="1080234"/>
            <a:ext cx="1775608"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Phương</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pháp</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49" name="Footer: Part">
            <a:extLst>
              <a:ext uri="{FF2B5EF4-FFF2-40B4-BE49-F238E27FC236}">
                <a16:creationId xmlns:a16="http://schemas.microsoft.com/office/drawing/2014/main" id="{FEC4F6FB-01C2-4B18-A426-A5D062558A92}"/>
              </a:ext>
            </a:extLst>
          </p:cNvPr>
          <p:cNvSpPr txBox="1"/>
          <p:nvPr/>
        </p:nvSpPr>
        <p:spPr>
          <a:xfrm>
            <a:off x="8487508" y="6464494"/>
            <a:ext cx="3733195" cy="369332"/>
          </a:xfrm>
          <a:prstGeom prst="rect">
            <a:avLst/>
          </a:prstGeom>
          <a:noFill/>
        </p:spPr>
        <p:txBody>
          <a:bodyPr wrap="square" rtlCol="0">
            <a:spAutoFit/>
          </a:bodyPr>
          <a:lstStyle/>
          <a:p>
            <a:r>
              <a:rPr lang="en-US" dirty="0" err="1">
                <a:solidFill>
                  <a:schemeClr val="bg1">
                    <a:lumMod val="95000"/>
                  </a:schemeClr>
                </a:solidFill>
                <a:latin typeface="JetBrains Mono Regular" panose="02000009000000000000" pitchFamily="49" charset="0"/>
                <a:cs typeface="JetBrains Mono Regular" panose="02000009000000000000" pitchFamily="49" charset="0"/>
              </a:rPr>
              <a:t>Bài</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toán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a:solidFill>
                  <a:schemeClr val="bg1">
                    <a:lumMod val="95000"/>
                  </a:schemeClr>
                </a:solidFill>
                <a:latin typeface="JetBrains Mono Light" panose="02000009000000000000" pitchFamily="49" charset="0"/>
                <a:cs typeface="JetBrains Mono Light" panose="02000009000000000000" pitchFamily="49" charset="0"/>
              </a:rPr>
              <a:t>“</a:t>
            </a:r>
            <a:r>
              <a:rPr lang="en-US" dirty="0" err="1">
                <a:solidFill>
                  <a:schemeClr val="bg1">
                    <a:lumMod val="85000"/>
                  </a:schemeClr>
                </a:solidFill>
                <a:latin typeface="JetBrains Mono Light" panose="02000009000000000000"/>
                <a:cs typeface="JetBrains Mono" panose="02000009000000000000" pitchFamily="49" charset="0"/>
              </a:rPr>
              <a:t>Người</a:t>
            </a:r>
            <a:r>
              <a:rPr lang="en-US" dirty="0">
                <a:solidFill>
                  <a:schemeClr val="bg1">
                    <a:lumMod val="85000"/>
                  </a:schemeClr>
                </a:solidFill>
                <a:latin typeface="JetBrains Mono Light" panose="02000009000000000000"/>
                <a:cs typeface="JetBrains Mono" panose="02000009000000000000" pitchFamily="49" charset="0"/>
              </a:rPr>
              <a:t> </a:t>
            </a:r>
            <a:r>
              <a:rPr lang="en-US" dirty="0" err="1">
                <a:solidFill>
                  <a:schemeClr val="bg1">
                    <a:lumMod val="85000"/>
                  </a:schemeClr>
                </a:solidFill>
                <a:latin typeface="JetBrains Mono Light" panose="02000009000000000000"/>
                <a:cs typeface="JetBrains Mono" panose="02000009000000000000" pitchFamily="49" charset="0"/>
              </a:rPr>
              <a:t>bán</a:t>
            </a:r>
            <a:r>
              <a:rPr lang="en-US" dirty="0">
                <a:solidFill>
                  <a:schemeClr val="bg1">
                    <a:lumMod val="85000"/>
                  </a:schemeClr>
                </a:solidFill>
                <a:latin typeface="JetBrains Mono Light" panose="02000009000000000000"/>
                <a:cs typeface="JetBrains Mono" panose="02000009000000000000" pitchFamily="49" charset="0"/>
              </a:rPr>
              <a:t> </a:t>
            </a:r>
            <a:r>
              <a:rPr lang="en-US" dirty="0" err="1">
                <a:solidFill>
                  <a:schemeClr val="bg1">
                    <a:lumMod val="85000"/>
                  </a:schemeClr>
                </a:solidFill>
                <a:latin typeface="JetBrains Mono Light" panose="02000009000000000000"/>
                <a:cs typeface="JetBrains Mono" panose="02000009000000000000" pitchFamily="49" charset="0"/>
              </a:rPr>
              <a:t>hàng</a:t>
            </a:r>
            <a:r>
              <a:rPr lang="en-US" dirty="0">
                <a:solidFill>
                  <a:schemeClr val="bg1">
                    <a:lumMod val="85000"/>
                  </a:schemeClr>
                </a:solidFill>
                <a:latin typeface="JetBrains Mono Light" panose="02000009000000000000"/>
                <a:cs typeface="JetBrains Mono" panose="02000009000000000000" pitchFamily="49" charset="0"/>
              </a:rPr>
              <a:t>”</a:t>
            </a:r>
          </a:p>
        </p:txBody>
      </p:sp>
      <p:sp>
        <p:nvSpPr>
          <p:cNvPr id="50" name="Footer: Title">
            <a:extLst>
              <a:ext uri="{FF2B5EF4-FFF2-40B4-BE49-F238E27FC236}">
                <a16:creationId xmlns:a16="http://schemas.microsoft.com/office/drawing/2014/main" id="{8FE323BC-127E-4694-B09E-D439BC9FCB8D}"/>
              </a:ext>
            </a:extLst>
          </p:cNvPr>
          <p:cNvSpPr txBox="1"/>
          <p:nvPr/>
        </p:nvSpPr>
        <p:spPr>
          <a:xfrm>
            <a:off x="7385543" y="6469576"/>
            <a:ext cx="1215645"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a:t>
            </a:r>
          </a:p>
        </p:txBody>
      </p:sp>
      <p:sp>
        <p:nvSpPr>
          <p:cNvPr id="52" name="Rectangle 51">
            <a:extLst>
              <a:ext uri="{FF2B5EF4-FFF2-40B4-BE49-F238E27FC236}">
                <a16:creationId xmlns:a16="http://schemas.microsoft.com/office/drawing/2014/main" id="{33508B73-5ED1-4508-AFB1-C2C8F2D3EC8F}"/>
              </a:ext>
            </a:extLst>
          </p:cNvPr>
          <p:cNvSpPr/>
          <p:nvPr/>
        </p:nvSpPr>
        <p:spPr>
          <a:xfrm>
            <a:off x="591458" y="603227"/>
            <a:ext cx="3650464"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66CBAF43-3204-4B19-9445-AFAA4BE3D844}"/>
              </a:ext>
            </a:extLst>
          </p:cNvPr>
          <p:cNvSpPr txBox="1"/>
          <p:nvPr/>
        </p:nvSpPr>
        <p:spPr>
          <a:xfrm>
            <a:off x="603363" y="602701"/>
            <a:ext cx="3638559" cy="369332"/>
          </a:xfrm>
          <a:prstGeom prst="rect">
            <a:avLst/>
          </a:prstGeom>
          <a:no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Bài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toán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Người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bán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hàng</a:t>
            </a:r>
            <a:r>
              <a:rPr lang="en-US" dirty="0">
                <a:latin typeface="JetBrains Mono Regular" panose="02000009000000000000" pitchFamily="49" charset="0"/>
                <a:cs typeface="JetBrains Mono Regular" panose="02000009000000000000" pitchFamily="49" charset="0"/>
              </a:rPr>
              <a:t>”</a:t>
            </a:r>
          </a:p>
        </p:txBody>
      </p:sp>
      <p:sp>
        <p:nvSpPr>
          <p:cNvPr id="14" name="TextBox 13">
            <a:extLst>
              <a:ext uri="{FF2B5EF4-FFF2-40B4-BE49-F238E27FC236}">
                <a16:creationId xmlns:a16="http://schemas.microsoft.com/office/drawing/2014/main" id="{CB40A998-B242-4B4A-BAAB-B2B16DD2AD23}"/>
              </a:ext>
            </a:extLst>
          </p:cNvPr>
          <p:cNvSpPr txBox="1"/>
          <p:nvPr/>
        </p:nvSpPr>
        <p:spPr>
          <a:xfrm>
            <a:off x="2664872" y="1092325"/>
            <a:ext cx="3305415" cy="369332"/>
          </a:xfrm>
          <a:prstGeom prst="rect">
            <a:avLst/>
          </a:prstGeom>
          <a:noFill/>
        </p:spPr>
        <p:txBody>
          <a:bodyPr wrap="square" rtlCol="0">
            <a:spAutoFit/>
          </a:bodyPr>
          <a:lstStyle/>
          <a:p>
            <a:pPr marL="285750" indent="-285750">
              <a:buFont typeface="Arial" panose="020B0604020202020204" pitchFamily="34" charset="0"/>
              <a:buChar char="•"/>
            </a:pP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Thuật</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toán</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tham</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lam</a:t>
            </a:r>
            <a:endParaRPr lang="en-US" i="1" dirty="0">
              <a:latin typeface="JetBrains Mono ExtraLight" panose="02000009000000000000" pitchFamily="49" charset="0"/>
              <a:cs typeface="JetBrains Mono ExtraLight" panose="02000009000000000000" pitchFamily="49" charset="0"/>
            </a:endParaRPr>
          </a:p>
        </p:txBody>
      </p:sp>
      <p:sp>
        <p:nvSpPr>
          <p:cNvPr id="16" name="TextBox 15">
            <a:extLst>
              <a:ext uri="{FF2B5EF4-FFF2-40B4-BE49-F238E27FC236}">
                <a16:creationId xmlns:a16="http://schemas.microsoft.com/office/drawing/2014/main" id="{F87CA8E5-4149-4D9F-AF7A-231A5B6EDE71}"/>
              </a:ext>
            </a:extLst>
          </p:cNvPr>
          <p:cNvSpPr txBox="1"/>
          <p:nvPr/>
        </p:nvSpPr>
        <p:spPr>
          <a:xfrm>
            <a:off x="944147" y="1760062"/>
            <a:ext cx="331487" cy="369332"/>
          </a:xfrm>
          <a:prstGeom prst="rect">
            <a:avLst/>
          </a:prstGeom>
          <a:noFill/>
          <a:ln>
            <a:solidFill>
              <a:schemeClr val="bg1">
                <a:lumMod val="50000"/>
              </a:schemeClr>
            </a:solid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1</a:t>
            </a:r>
          </a:p>
        </p:txBody>
      </p:sp>
      <p:sp>
        <p:nvSpPr>
          <p:cNvPr id="17" name="TextBox 16">
            <a:extLst>
              <a:ext uri="{FF2B5EF4-FFF2-40B4-BE49-F238E27FC236}">
                <a16:creationId xmlns:a16="http://schemas.microsoft.com/office/drawing/2014/main" id="{27AE953B-BF4E-49A1-9177-6881D3B8350B}"/>
              </a:ext>
            </a:extLst>
          </p:cNvPr>
          <p:cNvSpPr txBox="1"/>
          <p:nvPr/>
        </p:nvSpPr>
        <p:spPr>
          <a:xfrm>
            <a:off x="1403861" y="1703884"/>
            <a:ext cx="6202458" cy="923330"/>
          </a:xfrm>
          <a:prstGeom prst="rect">
            <a:avLst/>
          </a:prstGeom>
          <a:noFill/>
        </p:spPr>
        <p:txBody>
          <a:bodyPr wrap="square" rtlCol="0">
            <a:spAutoFit/>
          </a:bodyPr>
          <a:lstStyle/>
          <a:p>
            <a:r>
              <a:rPr lang="vi-VN" dirty="0">
                <a:solidFill>
                  <a:schemeClr val="bg1">
                    <a:lumMod val="85000"/>
                  </a:schemeClr>
                </a:solidFill>
                <a:latin typeface="JetBrains Mono Light" panose="02000009000000000000" pitchFamily="49" charset="0"/>
                <a:cs typeface="JetBrains Mono Light" panose="02000009000000000000" pitchFamily="49" charset="0"/>
              </a:rPr>
              <a:t>Sắp xếp các cạnh theo thứ tự tăng của độ dài</a:t>
            </a:r>
            <a:r>
              <a:rPr lang="en-US" dirty="0">
                <a:solidFill>
                  <a:schemeClr val="bg1">
                    <a:lumMod val="85000"/>
                  </a:schemeClr>
                </a:solidFill>
                <a:latin typeface="JetBrains Mono Light" panose="02000009000000000000" pitchFamily="49" charset="0"/>
                <a:cs typeface="JetBrains Mono Light" panose="02000009000000000000" pitchFamily="49" charset="0"/>
              </a:rPr>
              <a:t> </a:t>
            </a:r>
          </a:p>
          <a:p>
            <a:r>
              <a:rPr lang="vi-VN" i="1" dirty="0">
                <a:solidFill>
                  <a:schemeClr val="bg1">
                    <a:lumMod val="50000"/>
                  </a:schemeClr>
                </a:solidFill>
                <a:latin typeface="JetBrains Mono Light" panose="02000009000000000000" pitchFamily="49" charset="0"/>
                <a:cs typeface="JetBrains Mono Light" panose="02000009000000000000" pitchFamily="49" charset="0"/>
              </a:rPr>
              <a:t>(Có tổ hợp chập 2 của n phần tử</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vi-VN" i="1" dirty="0">
                <a:solidFill>
                  <a:schemeClr val="bg1">
                    <a:lumMod val="50000"/>
                  </a:schemeClr>
                </a:solidFill>
                <a:latin typeface="JetBrains Mono Light" panose="02000009000000000000" pitchFamily="49" charset="0"/>
                <a:cs typeface="JetBrains Mono Light" panose="02000009000000000000" pitchFamily="49" charset="0"/>
              </a:rPr>
              <a:t>cạnh hay nói theo cách khác là có n(n-1)/2 cạnh)</a:t>
            </a:r>
            <a:endParaRPr lang="en-US" i="1"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55" name="TextBox 54">
            <a:extLst>
              <a:ext uri="{FF2B5EF4-FFF2-40B4-BE49-F238E27FC236}">
                <a16:creationId xmlns:a16="http://schemas.microsoft.com/office/drawing/2014/main" id="{6F61E337-1CA0-41B9-9F43-A4944379636F}"/>
              </a:ext>
            </a:extLst>
          </p:cNvPr>
          <p:cNvSpPr txBox="1"/>
          <p:nvPr/>
        </p:nvSpPr>
        <p:spPr>
          <a:xfrm>
            <a:off x="944147" y="2740065"/>
            <a:ext cx="331487" cy="369332"/>
          </a:xfrm>
          <a:prstGeom prst="rect">
            <a:avLst/>
          </a:prstGeom>
          <a:noFill/>
          <a:ln>
            <a:solidFill>
              <a:schemeClr val="bg1">
                <a:lumMod val="50000"/>
              </a:schemeClr>
            </a:solid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2</a:t>
            </a:r>
          </a:p>
        </p:txBody>
      </p:sp>
      <p:sp>
        <p:nvSpPr>
          <p:cNvPr id="56" name="TextBox 55">
            <a:extLst>
              <a:ext uri="{FF2B5EF4-FFF2-40B4-BE49-F238E27FC236}">
                <a16:creationId xmlns:a16="http://schemas.microsoft.com/office/drawing/2014/main" id="{DFA12C5A-DBFB-4007-BF22-5B5744F57AAE}"/>
              </a:ext>
            </a:extLst>
          </p:cNvPr>
          <p:cNvSpPr txBox="1"/>
          <p:nvPr/>
        </p:nvSpPr>
        <p:spPr>
          <a:xfrm>
            <a:off x="1403861" y="2683887"/>
            <a:ext cx="6202458" cy="646331"/>
          </a:xfrm>
          <a:prstGeom prst="rect">
            <a:avLst/>
          </a:prstGeom>
          <a:noFill/>
        </p:spPr>
        <p:txBody>
          <a:bodyPr wrap="square" rtlCol="0">
            <a:spAutoFit/>
          </a:bodyPr>
          <a:lstStyle/>
          <a:p>
            <a:r>
              <a:rPr lang="vi-VN" dirty="0">
                <a:solidFill>
                  <a:schemeClr val="bg1">
                    <a:lumMod val="85000"/>
                  </a:schemeClr>
                </a:solidFill>
                <a:latin typeface="JetBrains Mono Light" panose="02000009000000000000" pitchFamily="49" charset="0"/>
                <a:cs typeface="JetBrains Mono Light" panose="02000009000000000000" pitchFamily="49" charset="0"/>
              </a:rPr>
              <a:t>Xét các cạnh có độ dài từ nhỏ đến lớn để đưa vào phương án</a:t>
            </a:r>
            <a:endParaRPr lang="en-US" i="1"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58" name="TextBox 57">
            <a:extLst>
              <a:ext uri="{FF2B5EF4-FFF2-40B4-BE49-F238E27FC236}">
                <a16:creationId xmlns:a16="http://schemas.microsoft.com/office/drawing/2014/main" id="{7128DD29-0976-4B4E-AA31-C0F96CBEAF3E}"/>
              </a:ext>
            </a:extLst>
          </p:cNvPr>
          <p:cNvSpPr txBox="1"/>
          <p:nvPr/>
        </p:nvSpPr>
        <p:spPr>
          <a:xfrm>
            <a:off x="1403861" y="3462458"/>
            <a:ext cx="6202458" cy="1200329"/>
          </a:xfrm>
          <a:prstGeom prst="rect">
            <a:avLst/>
          </a:prstGeom>
          <a:noFill/>
        </p:spPr>
        <p:txBody>
          <a:bodyPr wrap="square" rtlCol="0">
            <a:spAutoFit/>
          </a:bodyPr>
          <a:lstStyle/>
          <a:p>
            <a:r>
              <a:rPr lang="vi-VN" dirty="0">
                <a:solidFill>
                  <a:schemeClr val="bg1">
                    <a:lumMod val="85000"/>
                  </a:schemeClr>
                </a:solidFill>
                <a:latin typeface="JetBrains Mono Light" panose="02000009000000000000" pitchFamily="49" charset="0"/>
                <a:cs typeface="JetBrains Mono Light" panose="02000009000000000000" pitchFamily="49" charset="0"/>
              </a:rPr>
              <a:t>Một cạnh sẽ được đưa vào phương án nếu nó không tạo thành một đỉnh cấp 3 và không tạo thành một chu trình thiếu(</a:t>
            </a:r>
            <a:r>
              <a:rPr lang="vi-VN" i="1" dirty="0">
                <a:solidFill>
                  <a:schemeClr val="bg1">
                    <a:lumMod val="85000"/>
                  </a:schemeClr>
                </a:solidFill>
                <a:latin typeface="JetBrains Mono Light" panose="02000009000000000000" pitchFamily="49" charset="0"/>
                <a:cs typeface="JetBrains Mono Light" panose="02000009000000000000" pitchFamily="49" charset="0"/>
              </a:rPr>
              <a:t>chu trình có số cạnh nhỏ hơn n</a:t>
            </a:r>
            <a:r>
              <a:rPr lang="vi-VN" dirty="0">
                <a:solidFill>
                  <a:schemeClr val="bg1">
                    <a:lumMod val="85000"/>
                  </a:schemeClr>
                </a:solidFill>
                <a:latin typeface="JetBrains Mono Light" panose="02000009000000000000" pitchFamily="49" charset="0"/>
                <a:cs typeface="JetBrains Mono Light" panose="02000009000000000000" pitchFamily="49" charset="0"/>
              </a:rPr>
              <a:t>)</a:t>
            </a:r>
            <a:endParaRPr lang="en-US" i="1"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61" name="PAGE NUM 0">
            <a:extLst>
              <a:ext uri="{FF2B5EF4-FFF2-40B4-BE49-F238E27FC236}">
                <a16:creationId xmlns:a16="http://schemas.microsoft.com/office/drawing/2014/main" id="{9C12F1E6-E4C9-40F6-B619-25C06873062B}"/>
              </a:ext>
            </a:extLst>
          </p:cNvPr>
          <p:cNvSpPr txBox="1"/>
          <p:nvPr/>
        </p:nvSpPr>
        <p:spPr>
          <a:xfrm>
            <a:off x="11599908" y="-510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3</a:t>
            </a:r>
          </a:p>
        </p:txBody>
      </p:sp>
      <p:sp>
        <p:nvSpPr>
          <p:cNvPr id="62" name="PAGE NUM 1">
            <a:extLst>
              <a:ext uri="{FF2B5EF4-FFF2-40B4-BE49-F238E27FC236}">
                <a16:creationId xmlns:a16="http://schemas.microsoft.com/office/drawing/2014/main" id="{52A8FC11-810C-4F87-A3B6-652372C5A6CC}"/>
              </a:ext>
            </a:extLst>
          </p:cNvPr>
          <p:cNvSpPr txBox="1"/>
          <p:nvPr/>
        </p:nvSpPr>
        <p:spPr>
          <a:xfrm>
            <a:off x="11883838" y="-3971"/>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7</a:t>
            </a:r>
            <a:endParaRPr lang="en-US" dirty="0"/>
          </a:p>
        </p:txBody>
      </p:sp>
      <p:sp>
        <p:nvSpPr>
          <p:cNvPr id="40" name="TextBox 39">
            <a:extLst>
              <a:ext uri="{FF2B5EF4-FFF2-40B4-BE49-F238E27FC236}">
                <a16:creationId xmlns:a16="http://schemas.microsoft.com/office/drawing/2014/main" id="{04739702-3923-4848-BA4C-DB094EB3C461}"/>
              </a:ext>
            </a:extLst>
          </p:cNvPr>
          <p:cNvSpPr txBox="1"/>
          <p:nvPr/>
        </p:nvSpPr>
        <p:spPr>
          <a:xfrm>
            <a:off x="944146" y="4785090"/>
            <a:ext cx="1166008" cy="369332"/>
          </a:xfrm>
          <a:prstGeom prst="rect">
            <a:avLst/>
          </a:prstGeom>
          <a:solidFill>
            <a:schemeClr val="lt1"/>
          </a:solidFill>
          <a:ln>
            <a:solidFill>
              <a:schemeClr val="bg1">
                <a:lumMod val="50000"/>
              </a:schemeClr>
            </a:solidFill>
          </a:ln>
        </p:spPr>
        <p:txBody>
          <a:bodyPr wrap="square" rtlCol="0">
            <a:spAutoFit/>
          </a:bodyPr>
          <a:lstStyle/>
          <a:p>
            <a:pPr algn="r"/>
            <a:r>
              <a:rPr lang="en-US" dirty="0" err="1">
                <a:latin typeface="JetBrains Mono Medium" panose="02000009000000000000" pitchFamily="49" charset="0"/>
                <a:cs typeface="JetBrains Mono Medium" panose="02000009000000000000" pitchFamily="49" charset="0"/>
              </a:rPr>
              <a:t>Lặp</a:t>
            </a:r>
            <a:r>
              <a:rPr lang="en-US" dirty="0">
                <a:latin typeface="JetBrains Mono Medium" panose="02000009000000000000" pitchFamily="49" charset="0"/>
                <a:cs typeface="JetBrains Mono Medium" panose="02000009000000000000" pitchFamily="49" charset="0"/>
              </a:rPr>
              <a:t> </a:t>
            </a:r>
            <a:r>
              <a:rPr lang="en-US" dirty="0" err="1">
                <a:latin typeface="JetBrains Mono Medium" panose="02000009000000000000" pitchFamily="49" charset="0"/>
                <a:cs typeface="JetBrains Mono Medium" panose="02000009000000000000" pitchFamily="49" charset="0"/>
              </a:rPr>
              <a:t>lại</a:t>
            </a:r>
            <a:endParaRPr lang="en-US" dirty="0">
              <a:latin typeface="JetBrains Mono Medium" panose="02000009000000000000" pitchFamily="49" charset="0"/>
              <a:cs typeface="JetBrains Mono Medium" panose="02000009000000000000" pitchFamily="49" charset="0"/>
            </a:endParaRPr>
          </a:p>
        </p:txBody>
      </p:sp>
      <p:sp>
        <p:nvSpPr>
          <p:cNvPr id="41" name="TextBox 40">
            <a:extLst>
              <a:ext uri="{FF2B5EF4-FFF2-40B4-BE49-F238E27FC236}">
                <a16:creationId xmlns:a16="http://schemas.microsoft.com/office/drawing/2014/main" id="{D433072E-FA49-47CF-A059-D131F751E527}"/>
              </a:ext>
            </a:extLst>
          </p:cNvPr>
          <p:cNvSpPr txBox="1"/>
          <p:nvPr/>
        </p:nvSpPr>
        <p:spPr>
          <a:xfrm>
            <a:off x="955287" y="3523120"/>
            <a:ext cx="331487" cy="369332"/>
          </a:xfrm>
          <a:prstGeom prst="rect">
            <a:avLst/>
          </a:prstGeom>
          <a:noFill/>
          <a:ln>
            <a:solidFill>
              <a:schemeClr val="bg1">
                <a:lumMod val="50000"/>
              </a:schemeClr>
            </a:solid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3</a:t>
            </a:r>
          </a:p>
        </p:txBody>
      </p:sp>
      <p:sp>
        <p:nvSpPr>
          <p:cNvPr id="7" name="TextBox 6">
            <a:extLst>
              <a:ext uri="{FF2B5EF4-FFF2-40B4-BE49-F238E27FC236}">
                <a16:creationId xmlns:a16="http://schemas.microsoft.com/office/drawing/2014/main" id="{C50D3EAF-F66F-42DE-8676-E18642D1CE33}"/>
              </a:ext>
            </a:extLst>
          </p:cNvPr>
          <p:cNvSpPr txBox="1"/>
          <p:nvPr/>
        </p:nvSpPr>
        <p:spPr>
          <a:xfrm>
            <a:off x="2262553" y="4784528"/>
            <a:ext cx="5726463" cy="646331"/>
          </a:xfrm>
          <a:prstGeom prst="rect">
            <a:avLst/>
          </a:prstGeom>
          <a:noFill/>
        </p:spPr>
        <p:txBody>
          <a:bodyPr wrap="square" rtlCol="0">
            <a:spAutoFit/>
          </a:bodyPr>
          <a:lstStyle/>
          <a:p>
            <a:r>
              <a:rPr lang="en-US" sz="1800" dirty="0">
                <a:solidFill>
                  <a:schemeClr val="bg1">
                    <a:lumMod val="85000"/>
                  </a:schemeClr>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vi-VN" dirty="0">
                <a:solidFill>
                  <a:schemeClr val="bg1">
                    <a:lumMod val="85000"/>
                  </a:schemeClr>
                </a:solidFill>
                <a:latin typeface="JetBrains Mono Light" panose="02000009000000000000" pitchFamily="49" charset="0"/>
                <a:cs typeface="JetBrains Mono Light" panose="02000009000000000000" pitchFamily="49" charset="0"/>
              </a:rPr>
              <a:t>chọn được n-1 cạnh</a:t>
            </a:r>
            <a:r>
              <a:rPr lang="en-US" dirty="0">
                <a:solidFill>
                  <a:schemeClr val="bg1">
                    <a:lumMod val="85000"/>
                  </a:schemeClr>
                </a:solidFill>
                <a:latin typeface="JetBrains Mono Light" panose="02000009000000000000" pitchFamily="49" charset="0"/>
                <a:cs typeface="JetBrains Mono Light" panose="02000009000000000000" pitchFamily="49" charset="0"/>
              </a:rPr>
              <a:t>: </a:t>
            </a:r>
            <a:r>
              <a:rPr lang="vi-VN" dirty="0">
                <a:solidFill>
                  <a:schemeClr val="bg1">
                    <a:lumMod val="85000"/>
                  </a:schemeClr>
                </a:solidFill>
                <a:latin typeface="JetBrains Mono Light" panose="02000009000000000000" pitchFamily="49" charset="0"/>
                <a:cs typeface="JetBrains Mono Light" panose="02000009000000000000" pitchFamily="49" charset="0"/>
              </a:rPr>
              <a:t>suy ra được đường đi</a:t>
            </a:r>
            <a:endParaRPr lang="en-US" dirty="0">
              <a:latin typeface="JetBrains Mono Light" panose="02000009000000000000" pitchFamily="49" charset="0"/>
              <a:cs typeface="JetBrains Mono Light" panose="02000009000000000000" pitchFamily="49" charset="0"/>
            </a:endParaRPr>
          </a:p>
        </p:txBody>
      </p:sp>
      <p:sp>
        <p:nvSpPr>
          <p:cNvPr id="43" name="TextBox 42">
            <a:extLst>
              <a:ext uri="{FF2B5EF4-FFF2-40B4-BE49-F238E27FC236}">
                <a16:creationId xmlns:a16="http://schemas.microsoft.com/office/drawing/2014/main" id="{755F1460-F605-4FB4-B003-754AC3CFAEE0}"/>
              </a:ext>
            </a:extLst>
          </p:cNvPr>
          <p:cNvSpPr txBox="1"/>
          <p:nvPr/>
        </p:nvSpPr>
        <p:spPr>
          <a:xfrm>
            <a:off x="896671" y="5415150"/>
            <a:ext cx="7092345" cy="646331"/>
          </a:xfrm>
          <a:prstGeom prst="rect">
            <a:avLst/>
          </a:prstGeom>
          <a:noFill/>
        </p:spPr>
        <p:txBody>
          <a:bodyPr wrap="square" rtlCol="0">
            <a:spAutoFit/>
          </a:bodyPr>
          <a:lstStyle/>
          <a:p>
            <a:r>
              <a:rPr lang="vi-VN" dirty="0">
                <a:solidFill>
                  <a:schemeClr val="bg1">
                    <a:lumMod val="85000"/>
                  </a:schemeClr>
                </a:solidFill>
                <a:latin typeface="JetBrains Mono Light" panose="02000009000000000000" pitchFamily="49" charset="0"/>
                <a:cs typeface="JetBrains Mono Light" panose="02000009000000000000" pitchFamily="49" charset="0"/>
              </a:rPr>
              <a:t>Tìm cạnh thứ n tạo thành chu trình với n-1 cạnh đã chọn</a:t>
            </a:r>
            <a:r>
              <a:rPr lang="en-US" dirty="0">
                <a:solidFill>
                  <a:schemeClr val="bg1">
                    <a:lumMod val="85000"/>
                  </a:schemeClr>
                </a:solidFill>
                <a:latin typeface="JetBrains Mono Light" panose="02000009000000000000" pitchFamily="49" charset="0"/>
                <a:cs typeface="JetBrains Mono Light" panose="02000009000000000000" pitchFamily="49" charset="0"/>
              </a:rPr>
              <a:t> ta </a:t>
            </a:r>
            <a:r>
              <a:rPr lang="en-US" dirty="0" err="1">
                <a:solidFill>
                  <a:schemeClr val="bg1">
                    <a:lumMod val="85000"/>
                  </a:schemeClr>
                </a:solidFill>
                <a:latin typeface="JetBrains Mono Light" panose="02000009000000000000" pitchFamily="49" charset="0"/>
                <a:cs typeface="JetBrains Mono Light" panose="02000009000000000000" pitchFamily="49" charset="0"/>
              </a:rPr>
              <a:t>sẽ</a:t>
            </a:r>
            <a:r>
              <a:rPr lang="en-US" dirty="0">
                <a:solidFill>
                  <a:schemeClr val="bg1">
                    <a:lumMod val="85000"/>
                  </a:schemeClr>
                </a:solidFill>
                <a:latin typeface="JetBrains Mono Light" panose="02000009000000000000" pitchFamily="49" charset="0"/>
                <a:cs typeface="JetBrains Mono Light" panose="02000009000000000000" pitchFamily="49" charset="0"/>
              </a:rPr>
              <a:t> </a:t>
            </a:r>
            <a:r>
              <a:rPr lang="en-US" dirty="0" err="1">
                <a:solidFill>
                  <a:schemeClr val="bg1">
                    <a:lumMod val="85000"/>
                  </a:schemeClr>
                </a:solidFill>
                <a:latin typeface="JetBrains Mono Light" panose="02000009000000000000" pitchFamily="49" charset="0"/>
                <a:cs typeface="JetBrains Mono Light" panose="02000009000000000000" pitchFamily="49" charset="0"/>
              </a:rPr>
              <a:t>suy</a:t>
            </a:r>
            <a:r>
              <a:rPr lang="en-US" dirty="0">
                <a:solidFill>
                  <a:schemeClr val="bg1">
                    <a:lumMod val="85000"/>
                  </a:schemeClr>
                </a:solidFill>
                <a:latin typeface="JetBrains Mono Light" panose="02000009000000000000" pitchFamily="49" charset="0"/>
                <a:cs typeface="JetBrains Mono Light" panose="02000009000000000000" pitchFamily="49" charset="0"/>
              </a:rPr>
              <a:t> ra </a:t>
            </a:r>
            <a:r>
              <a:rPr lang="en-US" dirty="0" err="1">
                <a:solidFill>
                  <a:schemeClr val="bg1">
                    <a:lumMod val="85000"/>
                  </a:schemeClr>
                </a:solidFill>
                <a:latin typeface="JetBrains Mono Light" panose="02000009000000000000" pitchFamily="49" charset="0"/>
                <a:cs typeface="JetBrains Mono Light" panose="02000009000000000000" pitchFamily="49" charset="0"/>
              </a:rPr>
              <a:t>được</a:t>
            </a:r>
            <a:r>
              <a:rPr lang="en-US" dirty="0">
                <a:solidFill>
                  <a:schemeClr val="bg1">
                    <a:lumMod val="85000"/>
                  </a:schemeClr>
                </a:solidFill>
                <a:latin typeface="JetBrains Mono Light" panose="02000009000000000000" pitchFamily="49" charset="0"/>
                <a:cs typeface="JetBrains Mono Light" panose="02000009000000000000" pitchFamily="49" charset="0"/>
              </a:rPr>
              <a:t> chu </a:t>
            </a:r>
            <a:r>
              <a:rPr lang="en-US" dirty="0" err="1">
                <a:solidFill>
                  <a:schemeClr val="bg1">
                    <a:lumMod val="85000"/>
                  </a:schemeClr>
                </a:solidFill>
                <a:latin typeface="JetBrains Mono Light" panose="02000009000000000000" pitchFamily="49" charset="0"/>
                <a:cs typeface="JetBrains Mono Light" panose="02000009000000000000" pitchFamily="49" charset="0"/>
              </a:rPr>
              <a:t>trình</a:t>
            </a:r>
            <a:r>
              <a:rPr lang="en-US" dirty="0">
                <a:solidFill>
                  <a:schemeClr val="bg1">
                    <a:lumMod val="85000"/>
                  </a:schemeClr>
                </a:solidFill>
                <a:latin typeface="JetBrains Mono Light" panose="02000009000000000000" pitchFamily="49" charset="0"/>
                <a:cs typeface="JetBrains Mono Light" panose="02000009000000000000" pitchFamily="49" charset="0"/>
              </a:rPr>
              <a:t> </a:t>
            </a:r>
            <a:r>
              <a:rPr lang="en-US" dirty="0" err="1">
                <a:solidFill>
                  <a:schemeClr val="bg1">
                    <a:lumMod val="85000"/>
                  </a:schemeClr>
                </a:solidFill>
                <a:latin typeface="JetBrains Mono Light" panose="02000009000000000000" pitchFamily="49" charset="0"/>
                <a:cs typeface="JetBrains Mono Light" panose="02000009000000000000" pitchFamily="49" charset="0"/>
              </a:rPr>
              <a:t>của</a:t>
            </a:r>
            <a:r>
              <a:rPr lang="en-US" dirty="0">
                <a:solidFill>
                  <a:schemeClr val="bg1">
                    <a:lumMod val="85000"/>
                  </a:schemeClr>
                </a:solidFill>
                <a:latin typeface="JetBrains Mono Light" panose="02000009000000000000" pitchFamily="49" charset="0"/>
                <a:cs typeface="JetBrains Mono Light" panose="02000009000000000000" pitchFamily="49" charset="0"/>
              </a:rPr>
              <a:t> </a:t>
            </a:r>
            <a:r>
              <a:rPr lang="en-US" dirty="0" err="1">
                <a:solidFill>
                  <a:schemeClr val="bg1">
                    <a:lumMod val="85000"/>
                  </a:schemeClr>
                </a:solidFill>
                <a:latin typeface="JetBrains Mono Light" panose="02000009000000000000" pitchFamily="49" charset="0"/>
                <a:cs typeface="JetBrains Mono Light" panose="02000009000000000000" pitchFamily="49" charset="0"/>
              </a:rPr>
              <a:t>chúng</a:t>
            </a:r>
            <a:r>
              <a:rPr lang="en-US" dirty="0">
                <a:solidFill>
                  <a:schemeClr val="bg1">
                    <a:lumMod val="85000"/>
                  </a:schemeClr>
                </a:solidFill>
                <a:latin typeface="JetBrains Mono Light" panose="02000009000000000000" pitchFamily="49" charset="0"/>
                <a:cs typeface="JetBrains Mono Light" panose="02000009000000000000" pitchFamily="49" charset="0"/>
              </a:rPr>
              <a:t>.</a:t>
            </a:r>
          </a:p>
        </p:txBody>
      </p:sp>
      <p:cxnSp>
        <p:nvCxnSpPr>
          <p:cNvPr id="101" name="Straight Connector 100">
            <a:extLst>
              <a:ext uri="{FF2B5EF4-FFF2-40B4-BE49-F238E27FC236}">
                <a16:creationId xmlns:a16="http://schemas.microsoft.com/office/drawing/2014/main" id="{F99E08D6-C497-440E-BDBE-E85CC2D34701}"/>
              </a:ext>
            </a:extLst>
          </p:cNvPr>
          <p:cNvCxnSpPr>
            <a:cxnSpLocks/>
          </p:cNvCxnSpPr>
          <p:nvPr/>
        </p:nvCxnSpPr>
        <p:spPr>
          <a:xfrm>
            <a:off x="10243036" y="-90122"/>
            <a:ext cx="18018" cy="3010038"/>
          </a:xfrm>
          <a:prstGeom prst="line">
            <a:avLst/>
          </a:prstGeom>
          <a:ln>
            <a:solidFill>
              <a:schemeClr val="bg1">
                <a:lumMod val="50000"/>
              </a:schemeClr>
            </a:solidFill>
            <a:prstDash val="sysDot"/>
          </a:ln>
        </p:spPr>
        <p:style>
          <a:lnRef idx="2">
            <a:schemeClr val="dk1"/>
          </a:lnRef>
          <a:fillRef idx="0">
            <a:schemeClr val="dk1"/>
          </a:fillRef>
          <a:effectRef idx="1">
            <a:schemeClr val="dk1"/>
          </a:effectRef>
          <a:fontRef idx="minor">
            <a:schemeClr val="tx1"/>
          </a:fontRef>
        </p:style>
      </p:cxnSp>
      <p:cxnSp>
        <p:nvCxnSpPr>
          <p:cNvPr id="102" name="Straight Connector 101">
            <a:extLst>
              <a:ext uri="{FF2B5EF4-FFF2-40B4-BE49-F238E27FC236}">
                <a16:creationId xmlns:a16="http://schemas.microsoft.com/office/drawing/2014/main" id="{D0392D7D-A5F5-497B-89ED-01BE2B23F84C}"/>
              </a:ext>
            </a:extLst>
          </p:cNvPr>
          <p:cNvCxnSpPr/>
          <p:nvPr/>
        </p:nvCxnSpPr>
        <p:spPr>
          <a:xfrm>
            <a:off x="8676995" y="1517961"/>
            <a:ext cx="3983421" cy="0"/>
          </a:xfrm>
          <a:prstGeom prst="line">
            <a:avLst/>
          </a:prstGeom>
          <a:ln>
            <a:solidFill>
              <a:schemeClr val="bg1">
                <a:lumMod val="50000"/>
              </a:schemeClr>
            </a:solidFill>
            <a:prstDash val="sysDot"/>
          </a:ln>
        </p:spPr>
        <p:style>
          <a:lnRef idx="2">
            <a:schemeClr val="dk1"/>
          </a:lnRef>
          <a:fillRef idx="0">
            <a:schemeClr val="dk1"/>
          </a:fillRef>
          <a:effectRef idx="1">
            <a:schemeClr val="dk1"/>
          </a:effectRef>
          <a:fontRef idx="minor">
            <a:schemeClr val="tx1"/>
          </a:fontRef>
        </p:style>
      </p:cxnSp>
      <p:sp>
        <p:nvSpPr>
          <p:cNvPr id="103" name="TextBox 102">
            <a:extLst>
              <a:ext uri="{FF2B5EF4-FFF2-40B4-BE49-F238E27FC236}">
                <a16:creationId xmlns:a16="http://schemas.microsoft.com/office/drawing/2014/main" id="{CBC946D9-1DDF-41B7-9857-72E999213669}"/>
              </a:ext>
            </a:extLst>
          </p:cNvPr>
          <p:cNvSpPr txBox="1"/>
          <p:nvPr/>
        </p:nvSpPr>
        <p:spPr>
          <a:xfrm>
            <a:off x="8643093" y="2296559"/>
            <a:ext cx="992579" cy="323165"/>
          </a:xfrm>
          <a:prstGeom prst="rect">
            <a:avLst/>
          </a:prstGeom>
          <a:noFill/>
          <a:ln>
            <a:noFill/>
          </a:ln>
        </p:spPr>
        <p:txBody>
          <a:bodyPr wrap="non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(-3;-2)</a:t>
            </a:r>
          </a:p>
        </p:txBody>
      </p:sp>
      <p:sp>
        <p:nvSpPr>
          <p:cNvPr id="104" name="TextBox 103">
            <a:extLst>
              <a:ext uri="{FF2B5EF4-FFF2-40B4-BE49-F238E27FC236}">
                <a16:creationId xmlns:a16="http://schemas.microsoft.com/office/drawing/2014/main" id="{463CE9ED-7477-46C9-8132-0C71C05F28F2}"/>
              </a:ext>
            </a:extLst>
          </p:cNvPr>
          <p:cNvSpPr txBox="1"/>
          <p:nvPr/>
        </p:nvSpPr>
        <p:spPr>
          <a:xfrm>
            <a:off x="8644466" y="353392"/>
            <a:ext cx="877163" cy="323165"/>
          </a:xfrm>
          <a:prstGeom prst="rect">
            <a:avLst/>
          </a:prstGeom>
          <a:noFill/>
          <a:ln>
            <a:noFill/>
          </a:ln>
        </p:spPr>
        <p:txBody>
          <a:bodyPr wrap="non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(-3;3)</a:t>
            </a:r>
          </a:p>
        </p:txBody>
      </p:sp>
      <p:sp>
        <p:nvSpPr>
          <p:cNvPr id="105" name="TextBox 104">
            <a:extLst>
              <a:ext uri="{FF2B5EF4-FFF2-40B4-BE49-F238E27FC236}">
                <a16:creationId xmlns:a16="http://schemas.microsoft.com/office/drawing/2014/main" id="{CBD4BE98-45AD-4F91-A8A8-5901DE542953}"/>
              </a:ext>
            </a:extLst>
          </p:cNvPr>
          <p:cNvSpPr txBox="1"/>
          <p:nvPr/>
        </p:nvSpPr>
        <p:spPr>
          <a:xfrm>
            <a:off x="10378661" y="73494"/>
            <a:ext cx="873957" cy="323165"/>
          </a:xfrm>
          <a:prstGeom prst="rect">
            <a:avLst/>
          </a:prstGeom>
          <a:noFill/>
          <a:ln>
            <a:noFill/>
          </a:ln>
        </p:spPr>
        <p:txBody>
          <a:bodyPr wrap="squar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(1;4)</a:t>
            </a:r>
          </a:p>
        </p:txBody>
      </p:sp>
      <p:sp>
        <p:nvSpPr>
          <p:cNvPr id="106" name="TextBox 105">
            <a:extLst>
              <a:ext uri="{FF2B5EF4-FFF2-40B4-BE49-F238E27FC236}">
                <a16:creationId xmlns:a16="http://schemas.microsoft.com/office/drawing/2014/main" id="{175D316A-16BC-4A4E-8806-4DF726A1671E}"/>
              </a:ext>
            </a:extLst>
          </p:cNvPr>
          <p:cNvSpPr txBox="1"/>
          <p:nvPr/>
        </p:nvSpPr>
        <p:spPr>
          <a:xfrm>
            <a:off x="11146084" y="923364"/>
            <a:ext cx="873957" cy="323165"/>
          </a:xfrm>
          <a:prstGeom prst="rect">
            <a:avLst/>
          </a:prstGeom>
          <a:noFill/>
          <a:ln>
            <a:noFill/>
          </a:ln>
        </p:spPr>
        <p:txBody>
          <a:bodyPr wrap="squar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(2;1)</a:t>
            </a:r>
          </a:p>
        </p:txBody>
      </p:sp>
      <p:cxnSp>
        <p:nvCxnSpPr>
          <p:cNvPr id="107" name="Straight Connector 106">
            <a:extLst>
              <a:ext uri="{FF2B5EF4-FFF2-40B4-BE49-F238E27FC236}">
                <a16:creationId xmlns:a16="http://schemas.microsoft.com/office/drawing/2014/main" id="{C97E5F60-1AE8-47C2-8212-CFAD5C6A80C5}"/>
              </a:ext>
            </a:extLst>
          </p:cNvPr>
          <p:cNvCxnSpPr>
            <a:cxnSpLocks/>
          </p:cNvCxnSpPr>
          <p:nvPr/>
        </p:nvCxnSpPr>
        <p:spPr>
          <a:xfrm>
            <a:off x="10647265" y="621251"/>
            <a:ext cx="330242" cy="56009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9402F5BB-D9D1-43E3-B209-D7E835034163}"/>
              </a:ext>
            </a:extLst>
          </p:cNvPr>
          <p:cNvCxnSpPr>
            <a:cxnSpLocks/>
          </p:cNvCxnSpPr>
          <p:nvPr/>
        </p:nvCxnSpPr>
        <p:spPr>
          <a:xfrm flipV="1">
            <a:off x="9101650" y="619442"/>
            <a:ext cx="1584723" cy="28185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E5326BF4-2F0C-43B5-9BC0-2EB951B4E206}"/>
              </a:ext>
            </a:extLst>
          </p:cNvPr>
          <p:cNvCxnSpPr>
            <a:cxnSpLocks/>
          </p:cNvCxnSpPr>
          <p:nvPr/>
        </p:nvCxnSpPr>
        <p:spPr>
          <a:xfrm flipH="1">
            <a:off x="9100671" y="882821"/>
            <a:ext cx="979" cy="11952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E5F03801-63E6-41BD-B728-D746CD2F5EBB}"/>
              </a:ext>
            </a:extLst>
          </p:cNvPr>
          <p:cNvCxnSpPr>
            <a:cxnSpLocks/>
          </p:cNvCxnSpPr>
          <p:nvPr/>
        </p:nvCxnSpPr>
        <p:spPr>
          <a:xfrm>
            <a:off x="10965688" y="1155978"/>
            <a:ext cx="28838" cy="12914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D25346B4-8F66-4CA1-8CAA-9DAF2D043140}"/>
              </a:ext>
            </a:extLst>
          </p:cNvPr>
          <p:cNvCxnSpPr>
            <a:cxnSpLocks/>
          </p:cNvCxnSpPr>
          <p:nvPr/>
        </p:nvCxnSpPr>
        <p:spPr>
          <a:xfrm>
            <a:off x="9100671" y="2078059"/>
            <a:ext cx="1893855" cy="3693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EBCB1F16-C15C-4ECF-A563-0CE9F8CF950E}"/>
              </a:ext>
            </a:extLst>
          </p:cNvPr>
          <p:cNvCxnSpPr>
            <a:cxnSpLocks/>
          </p:cNvCxnSpPr>
          <p:nvPr/>
        </p:nvCxnSpPr>
        <p:spPr>
          <a:xfrm>
            <a:off x="9131100" y="937394"/>
            <a:ext cx="1817519" cy="145024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8962F6E7-6DFD-4E6B-ADFB-C9BF1D7666EA}"/>
              </a:ext>
            </a:extLst>
          </p:cNvPr>
          <p:cNvCxnSpPr>
            <a:cxnSpLocks/>
          </p:cNvCxnSpPr>
          <p:nvPr/>
        </p:nvCxnSpPr>
        <p:spPr>
          <a:xfrm flipV="1">
            <a:off x="9096829" y="587253"/>
            <a:ext cx="1589544" cy="149080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FD6891E4-6814-4FA8-8648-A4E7AF98A1D9}"/>
              </a:ext>
            </a:extLst>
          </p:cNvPr>
          <p:cNvCxnSpPr>
            <a:cxnSpLocks/>
          </p:cNvCxnSpPr>
          <p:nvPr/>
        </p:nvCxnSpPr>
        <p:spPr>
          <a:xfrm flipV="1">
            <a:off x="9131691" y="1204736"/>
            <a:ext cx="1896268" cy="8486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005ECC0F-BE69-43CB-B4C9-A49AC92090C0}"/>
              </a:ext>
            </a:extLst>
          </p:cNvPr>
          <p:cNvCxnSpPr>
            <a:cxnSpLocks/>
          </p:cNvCxnSpPr>
          <p:nvPr/>
        </p:nvCxnSpPr>
        <p:spPr>
          <a:xfrm flipH="1" flipV="1">
            <a:off x="10657153" y="607815"/>
            <a:ext cx="337373" cy="180972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55F93383-8805-420B-8A6E-3B1F4D4B9207}"/>
              </a:ext>
            </a:extLst>
          </p:cNvPr>
          <p:cNvCxnSpPr>
            <a:cxnSpLocks/>
          </p:cNvCxnSpPr>
          <p:nvPr/>
        </p:nvCxnSpPr>
        <p:spPr>
          <a:xfrm>
            <a:off x="9154794" y="880279"/>
            <a:ext cx="1869182" cy="35429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852FCDFD-9850-425D-8B0A-D2A502B6F5D8}"/>
              </a:ext>
            </a:extLst>
          </p:cNvPr>
          <p:cNvSpPr txBox="1"/>
          <p:nvPr/>
        </p:nvSpPr>
        <p:spPr>
          <a:xfrm>
            <a:off x="10099792" y="1317066"/>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O</a:t>
            </a:r>
          </a:p>
        </p:txBody>
      </p:sp>
      <p:sp>
        <p:nvSpPr>
          <p:cNvPr id="118" name="TextBox 117">
            <a:extLst>
              <a:ext uri="{FF2B5EF4-FFF2-40B4-BE49-F238E27FC236}">
                <a16:creationId xmlns:a16="http://schemas.microsoft.com/office/drawing/2014/main" id="{D49A23CD-99D1-4C05-B831-E02888F71B90}"/>
              </a:ext>
            </a:extLst>
          </p:cNvPr>
          <p:cNvSpPr txBox="1"/>
          <p:nvPr/>
        </p:nvSpPr>
        <p:spPr>
          <a:xfrm>
            <a:off x="8953647" y="1893393"/>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A</a:t>
            </a:r>
          </a:p>
        </p:txBody>
      </p:sp>
      <p:sp>
        <p:nvSpPr>
          <p:cNvPr id="119" name="TextBox 118">
            <a:extLst>
              <a:ext uri="{FF2B5EF4-FFF2-40B4-BE49-F238E27FC236}">
                <a16:creationId xmlns:a16="http://schemas.microsoft.com/office/drawing/2014/main" id="{F0FC7DDF-16DC-442D-A4AB-A9AE842C75C4}"/>
              </a:ext>
            </a:extLst>
          </p:cNvPr>
          <p:cNvSpPr txBox="1"/>
          <p:nvPr/>
        </p:nvSpPr>
        <p:spPr>
          <a:xfrm>
            <a:off x="8949639" y="698155"/>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B</a:t>
            </a:r>
          </a:p>
        </p:txBody>
      </p:sp>
      <p:sp>
        <p:nvSpPr>
          <p:cNvPr id="120" name="TextBox 119">
            <a:extLst>
              <a:ext uri="{FF2B5EF4-FFF2-40B4-BE49-F238E27FC236}">
                <a16:creationId xmlns:a16="http://schemas.microsoft.com/office/drawing/2014/main" id="{38DB7B66-150E-40CC-8E7B-9AD56079CF91}"/>
              </a:ext>
            </a:extLst>
          </p:cNvPr>
          <p:cNvSpPr txBox="1"/>
          <p:nvPr/>
        </p:nvSpPr>
        <p:spPr>
          <a:xfrm>
            <a:off x="10507443" y="403866"/>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C</a:t>
            </a:r>
          </a:p>
        </p:txBody>
      </p:sp>
      <p:sp>
        <p:nvSpPr>
          <p:cNvPr id="121" name="TextBox 120">
            <a:extLst>
              <a:ext uri="{FF2B5EF4-FFF2-40B4-BE49-F238E27FC236}">
                <a16:creationId xmlns:a16="http://schemas.microsoft.com/office/drawing/2014/main" id="{96BBBFEA-DC88-41F0-B013-22794164BED2}"/>
              </a:ext>
            </a:extLst>
          </p:cNvPr>
          <p:cNvSpPr txBox="1"/>
          <p:nvPr/>
        </p:nvSpPr>
        <p:spPr>
          <a:xfrm rot="10800000" flipH="1" flipV="1">
            <a:off x="10802081" y="2242267"/>
            <a:ext cx="410658"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E</a:t>
            </a:r>
          </a:p>
        </p:txBody>
      </p:sp>
      <p:sp>
        <p:nvSpPr>
          <p:cNvPr id="122" name="TextBox 121">
            <a:extLst>
              <a:ext uri="{FF2B5EF4-FFF2-40B4-BE49-F238E27FC236}">
                <a16:creationId xmlns:a16="http://schemas.microsoft.com/office/drawing/2014/main" id="{0C93D1DE-CCA7-43C3-BA3B-47DB646BC2FF}"/>
              </a:ext>
            </a:extLst>
          </p:cNvPr>
          <p:cNvSpPr txBox="1"/>
          <p:nvPr/>
        </p:nvSpPr>
        <p:spPr>
          <a:xfrm>
            <a:off x="10846148" y="996682"/>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D</a:t>
            </a:r>
          </a:p>
        </p:txBody>
      </p:sp>
      <p:sp>
        <p:nvSpPr>
          <p:cNvPr id="123" name="TextBox 122">
            <a:extLst>
              <a:ext uri="{FF2B5EF4-FFF2-40B4-BE49-F238E27FC236}">
                <a16:creationId xmlns:a16="http://schemas.microsoft.com/office/drawing/2014/main" id="{139824E3-FA21-4B96-8F52-7071D9767DC6}"/>
              </a:ext>
            </a:extLst>
          </p:cNvPr>
          <p:cNvSpPr txBox="1"/>
          <p:nvPr/>
        </p:nvSpPr>
        <p:spPr>
          <a:xfrm>
            <a:off x="11156741" y="2372404"/>
            <a:ext cx="1052328" cy="323165"/>
          </a:xfrm>
          <a:prstGeom prst="rect">
            <a:avLst/>
          </a:prstGeom>
          <a:noFill/>
        </p:spPr>
        <p:txBody>
          <a:bodyPr wrap="squar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(2;-4)</a:t>
            </a:r>
            <a:endParaRPr lang="en-US" sz="15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124" name="Rectangle 123">
            <a:extLst>
              <a:ext uri="{FF2B5EF4-FFF2-40B4-BE49-F238E27FC236}">
                <a16:creationId xmlns:a16="http://schemas.microsoft.com/office/drawing/2014/main" id="{99227543-4BAF-478A-B86F-9F3E4D145522}"/>
              </a:ext>
            </a:extLst>
          </p:cNvPr>
          <p:cNvSpPr/>
          <p:nvPr/>
        </p:nvSpPr>
        <p:spPr>
          <a:xfrm rot="685076">
            <a:off x="9790695" y="2313680"/>
            <a:ext cx="816142" cy="292388"/>
          </a:xfrm>
          <a:prstGeom prst="rect">
            <a:avLst/>
          </a:prstGeom>
          <a:solidFill>
            <a:schemeClr val="tx1"/>
          </a:solidFill>
        </p:spPr>
        <p:txBody>
          <a:bodyPr wrap="square">
            <a:spAutoFit/>
          </a:bodyPr>
          <a:lstStyle/>
          <a:p>
            <a:r>
              <a:rPr lang="en-VN" sz="1300" dirty="0">
                <a:solidFill>
                  <a:schemeClr val="bg1">
                    <a:lumMod val="85000"/>
                  </a:schemeClr>
                </a:solidFill>
                <a:latin typeface="JetBrains Mono Light" panose="02000009000000000000" pitchFamily="49" charset="0"/>
                <a:cs typeface="JetBrains Mono Light" panose="02000009000000000000" pitchFamily="49" charset="0"/>
              </a:rPr>
              <a:t>5</a:t>
            </a:r>
            <a:r>
              <a:rPr lang="en-US" sz="1300" dirty="0">
                <a:solidFill>
                  <a:schemeClr val="bg1">
                    <a:lumMod val="85000"/>
                  </a:schemeClr>
                </a:solidFill>
                <a:latin typeface="JetBrains Mono Light" panose="02000009000000000000" pitchFamily="49" charset="0"/>
                <a:cs typeface="JetBrains Mono Light" panose="02000009000000000000" pitchFamily="49" charset="0"/>
              </a:rPr>
              <a:t>.</a:t>
            </a:r>
            <a:r>
              <a:rPr lang="en-VN" sz="1300" dirty="0">
                <a:solidFill>
                  <a:schemeClr val="bg1">
                    <a:lumMod val="85000"/>
                  </a:schemeClr>
                </a:solidFill>
                <a:latin typeface="JetBrains Mono Light" panose="02000009000000000000" pitchFamily="49" charset="0"/>
                <a:cs typeface="JetBrains Mono Light" panose="02000009000000000000" pitchFamily="49" charset="0"/>
              </a:rPr>
              <a:t>385</a:t>
            </a:r>
          </a:p>
        </p:txBody>
      </p:sp>
      <p:sp>
        <p:nvSpPr>
          <p:cNvPr id="125" name="Rectangle 124">
            <a:extLst>
              <a:ext uri="{FF2B5EF4-FFF2-40B4-BE49-F238E27FC236}">
                <a16:creationId xmlns:a16="http://schemas.microsoft.com/office/drawing/2014/main" id="{C13C3C2D-6A75-449A-B7B8-514919D434FA}"/>
              </a:ext>
            </a:extLst>
          </p:cNvPr>
          <p:cNvSpPr/>
          <p:nvPr/>
        </p:nvSpPr>
        <p:spPr>
          <a:xfrm>
            <a:off x="7260254" y="286303"/>
            <a:ext cx="1435386" cy="261610"/>
          </a:xfrm>
          <a:prstGeom prst="rect">
            <a:avLst/>
          </a:prstGeom>
          <a:solidFill>
            <a:schemeClr val="tx1"/>
          </a:solidFill>
        </p:spPr>
        <p:txBody>
          <a:bodyPr wrap="square">
            <a:spAutoFit/>
          </a:bodyPr>
          <a:lstStyle/>
          <a:p>
            <a:r>
              <a:rPr lang="en-US" sz="1100" dirty="0">
                <a:solidFill>
                  <a:schemeClr val="bg1">
                    <a:lumMod val="50000"/>
                  </a:schemeClr>
                </a:solidFill>
                <a:latin typeface="JetBrains Mono Light" panose="02000009000000000000" pitchFamily="49" charset="0"/>
                <a:cs typeface="JetBrains Mono Light" panose="02000009000000000000" pitchFamily="49" charset="0"/>
              </a:rPr>
              <a:t>*not to scale</a:t>
            </a:r>
            <a:endParaRPr lang="en-VN" sz="11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126" name="Rectangle 125">
            <a:extLst>
              <a:ext uri="{FF2B5EF4-FFF2-40B4-BE49-F238E27FC236}">
                <a16:creationId xmlns:a16="http://schemas.microsoft.com/office/drawing/2014/main" id="{154BFB6A-EB2F-4F83-A4FB-73CB1807AEBE}"/>
              </a:ext>
            </a:extLst>
          </p:cNvPr>
          <p:cNvSpPr/>
          <p:nvPr/>
        </p:nvSpPr>
        <p:spPr>
          <a:xfrm>
            <a:off x="11002331" y="1664460"/>
            <a:ext cx="166341" cy="292388"/>
          </a:xfrm>
          <a:prstGeom prst="rect">
            <a:avLst/>
          </a:prstGeom>
          <a:solidFill>
            <a:schemeClr val="tx1"/>
          </a:solidFill>
        </p:spPr>
        <p:txBody>
          <a:bodyPr wrap="square">
            <a:spAutoFit/>
          </a:bodyPr>
          <a:lstStyle/>
          <a:p>
            <a:pPr algn="ctr"/>
            <a:r>
              <a:rPr lang="en-VN" sz="1300" dirty="0">
                <a:solidFill>
                  <a:schemeClr val="bg1">
                    <a:lumMod val="85000"/>
                  </a:schemeClr>
                </a:solidFill>
                <a:latin typeface="JetBrains Mono Light" panose="02000009000000000000" pitchFamily="49" charset="0"/>
                <a:cs typeface="JetBrains Mono Light" panose="02000009000000000000" pitchFamily="49" charset="0"/>
              </a:rPr>
              <a:t>5</a:t>
            </a:r>
          </a:p>
        </p:txBody>
      </p:sp>
      <p:sp>
        <p:nvSpPr>
          <p:cNvPr id="127" name="Rectangle 126">
            <a:extLst>
              <a:ext uri="{FF2B5EF4-FFF2-40B4-BE49-F238E27FC236}">
                <a16:creationId xmlns:a16="http://schemas.microsoft.com/office/drawing/2014/main" id="{361F2BA9-37F5-49D2-81FA-DD7CCB3C39E3}"/>
              </a:ext>
            </a:extLst>
          </p:cNvPr>
          <p:cNvSpPr/>
          <p:nvPr/>
        </p:nvSpPr>
        <p:spPr>
          <a:xfrm>
            <a:off x="8930488" y="1383416"/>
            <a:ext cx="166341" cy="292388"/>
          </a:xfrm>
          <a:prstGeom prst="rect">
            <a:avLst/>
          </a:prstGeom>
          <a:solidFill>
            <a:schemeClr val="tx1"/>
          </a:solidFill>
        </p:spPr>
        <p:txBody>
          <a:bodyPr wrap="square">
            <a:spAutoFit/>
          </a:bodyPr>
          <a:lstStyle/>
          <a:p>
            <a:pPr algn="ctr"/>
            <a:r>
              <a:rPr lang="en-VN" sz="1300" dirty="0">
                <a:solidFill>
                  <a:schemeClr val="bg1">
                    <a:lumMod val="85000"/>
                  </a:schemeClr>
                </a:solidFill>
                <a:latin typeface="JetBrains Mono Light" panose="02000009000000000000" pitchFamily="49" charset="0"/>
                <a:cs typeface="JetBrains Mono Light" panose="02000009000000000000" pitchFamily="49" charset="0"/>
              </a:rPr>
              <a:t>5</a:t>
            </a:r>
          </a:p>
        </p:txBody>
      </p:sp>
      <p:sp>
        <p:nvSpPr>
          <p:cNvPr id="128" name="Rectangle 127">
            <a:extLst>
              <a:ext uri="{FF2B5EF4-FFF2-40B4-BE49-F238E27FC236}">
                <a16:creationId xmlns:a16="http://schemas.microsoft.com/office/drawing/2014/main" id="{2A4B9B56-8E55-4D9D-BA75-9B7E54CB1605}"/>
              </a:ext>
            </a:extLst>
          </p:cNvPr>
          <p:cNvSpPr/>
          <p:nvPr/>
        </p:nvSpPr>
        <p:spPr>
          <a:xfrm rot="20979246">
            <a:off x="9497444" y="475985"/>
            <a:ext cx="682143" cy="292388"/>
          </a:xfrm>
          <a:prstGeom prst="rect">
            <a:avLst/>
          </a:prstGeom>
          <a:solidFill>
            <a:schemeClr val="tx1"/>
          </a:solidFill>
        </p:spPr>
        <p:txBody>
          <a:bodyPr wrap="square">
            <a:spAutoFit/>
          </a:bodyPr>
          <a:lstStyle/>
          <a:p>
            <a:r>
              <a:rPr lang="en-US" sz="1300" dirty="0">
                <a:solidFill>
                  <a:schemeClr val="bg1">
                    <a:lumMod val="85000"/>
                  </a:schemeClr>
                </a:solidFill>
                <a:latin typeface="JetBrains Mono Light" panose="02000009000000000000" pitchFamily="49" charset="0"/>
                <a:cs typeface="JetBrains Mono Light" panose="02000009000000000000" pitchFamily="49" charset="0"/>
              </a:rPr>
              <a:t>4.123</a:t>
            </a:r>
            <a:endParaRPr lang="en-VN" sz="1300" dirty="0">
              <a:solidFill>
                <a:schemeClr val="bg1">
                  <a:lumMod val="85000"/>
                </a:schemeClr>
              </a:solidFill>
              <a:latin typeface="JetBrains Mono Light" panose="02000009000000000000" pitchFamily="49" charset="0"/>
              <a:cs typeface="JetBrains Mono Light" panose="02000009000000000000" pitchFamily="49" charset="0"/>
            </a:endParaRPr>
          </a:p>
        </p:txBody>
      </p:sp>
      <p:sp>
        <p:nvSpPr>
          <p:cNvPr id="129" name="Rectangle 128">
            <a:extLst>
              <a:ext uri="{FF2B5EF4-FFF2-40B4-BE49-F238E27FC236}">
                <a16:creationId xmlns:a16="http://schemas.microsoft.com/office/drawing/2014/main" id="{5C3BC503-A44A-451B-BBAD-8003D0CBDBE0}"/>
              </a:ext>
            </a:extLst>
          </p:cNvPr>
          <p:cNvSpPr/>
          <p:nvPr/>
        </p:nvSpPr>
        <p:spPr>
          <a:xfrm rot="20151879">
            <a:off x="10865855" y="548248"/>
            <a:ext cx="813884" cy="292388"/>
          </a:xfrm>
          <a:prstGeom prst="rect">
            <a:avLst/>
          </a:prstGeom>
          <a:noFill/>
        </p:spPr>
        <p:txBody>
          <a:bodyPr wrap="square">
            <a:spAutoFit/>
          </a:bodyPr>
          <a:lstStyle/>
          <a:p>
            <a:r>
              <a:rPr lang="en-US" sz="1300" dirty="0">
                <a:solidFill>
                  <a:schemeClr val="bg1">
                    <a:lumMod val="85000"/>
                  </a:schemeClr>
                </a:solidFill>
                <a:latin typeface="JetBrains Mono Light" panose="02000009000000000000" pitchFamily="49" charset="0"/>
                <a:cs typeface="JetBrains Mono Light" panose="02000009000000000000" pitchFamily="49" charset="0"/>
              </a:rPr>
              <a:t>3.1623</a:t>
            </a:r>
            <a:endParaRPr lang="en-VN" sz="1300" dirty="0">
              <a:solidFill>
                <a:schemeClr val="bg1">
                  <a:lumMod val="85000"/>
                </a:schemeClr>
              </a:solidFill>
              <a:latin typeface="JetBrains Mono Light" panose="02000009000000000000" pitchFamily="49" charset="0"/>
              <a:cs typeface="JetBrains Mono Light" panose="02000009000000000000" pitchFamily="49" charset="0"/>
            </a:endParaRPr>
          </a:p>
        </p:txBody>
      </p:sp>
      <p:graphicFrame>
        <p:nvGraphicFramePr>
          <p:cNvPr id="51" name="Table 23">
            <a:extLst>
              <a:ext uri="{FF2B5EF4-FFF2-40B4-BE49-F238E27FC236}">
                <a16:creationId xmlns:a16="http://schemas.microsoft.com/office/drawing/2014/main" id="{621C6B5C-65D4-4B6C-A2E0-67E9DA8963D3}"/>
              </a:ext>
            </a:extLst>
          </p:cNvPr>
          <p:cNvGraphicFramePr>
            <a:graphicFrameLocks noGrp="1"/>
          </p:cNvGraphicFramePr>
          <p:nvPr/>
        </p:nvGraphicFramePr>
        <p:xfrm>
          <a:off x="8381192" y="2778165"/>
          <a:ext cx="3332131" cy="3352800"/>
        </p:xfrm>
        <a:graphic>
          <a:graphicData uri="http://schemas.openxmlformats.org/drawingml/2006/table">
            <a:tbl>
              <a:tblPr firstRow="1" bandRow="1">
                <a:solidFill>
                  <a:schemeClr val="tx1"/>
                </a:solidFill>
                <a:tableStyleId>{5C22544A-7EE6-4342-B048-85BDC9FD1C3A}</a:tableStyleId>
              </a:tblPr>
              <a:tblGrid>
                <a:gridCol w="1110710">
                  <a:extLst>
                    <a:ext uri="{9D8B030D-6E8A-4147-A177-3AD203B41FA5}">
                      <a16:colId xmlns:a16="http://schemas.microsoft.com/office/drawing/2014/main" val="3169142717"/>
                    </a:ext>
                  </a:extLst>
                </a:gridCol>
                <a:gridCol w="1230893">
                  <a:extLst>
                    <a:ext uri="{9D8B030D-6E8A-4147-A177-3AD203B41FA5}">
                      <a16:colId xmlns:a16="http://schemas.microsoft.com/office/drawing/2014/main" val="1783526670"/>
                    </a:ext>
                  </a:extLst>
                </a:gridCol>
                <a:gridCol w="990528">
                  <a:extLst>
                    <a:ext uri="{9D8B030D-6E8A-4147-A177-3AD203B41FA5}">
                      <a16:colId xmlns:a16="http://schemas.microsoft.com/office/drawing/2014/main" val="1055497685"/>
                    </a:ext>
                  </a:extLst>
                </a:gridCol>
              </a:tblGrid>
              <a:tr h="237981">
                <a:tc>
                  <a:txBody>
                    <a:bodyPr/>
                    <a:lstStyle/>
                    <a:p>
                      <a:pPr algn="ctr"/>
                      <a:r>
                        <a:rPr lang="en-VN" sz="1400" b="0" i="1" dirty="0">
                          <a:latin typeface="JetBrains Mono Light" panose="02000009000000000000"/>
                        </a:rPr>
                        <a:t>Cạnh</a:t>
                      </a: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VN" sz="1400" b="0" i="1" dirty="0">
                          <a:latin typeface="JetBrains Mono Light" panose="02000009000000000000"/>
                        </a:rPr>
                        <a:t>Độ dài</a:t>
                      </a: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VN" sz="1400" b="0" i="1" dirty="0">
                          <a:latin typeface="JetBrains Mono Light" panose="02000009000000000000"/>
                        </a:rPr>
                        <a:t>Thứ tự</a:t>
                      </a: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113124420"/>
                  </a:ext>
                </a:extLst>
              </a:tr>
              <a:tr h="247471">
                <a:tc>
                  <a:txBody>
                    <a:bodyPr/>
                    <a:lstStyle/>
                    <a:p>
                      <a:r>
                        <a:rPr lang="en-VN" sz="1400" dirty="0">
                          <a:solidFill>
                            <a:schemeClr val="bg1"/>
                          </a:solidFill>
                          <a:latin typeface="JetBrains Mono Light" panose="02000009000000000000"/>
                        </a:rPr>
                        <a:t>AB</a:t>
                      </a:r>
                    </a:p>
                  </a:txBody>
                  <a:tcPr>
                    <a:lnT w="28575" cap="flat" cmpd="sng" algn="ctr">
                      <a:solidFill>
                        <a:schemeClr val="bg1"/>
                      </a:solidFill>
                      <a:prstDash val="solid"/>
                      <a:round/>
                      <a:headEnd type="none" w="med" len="med"/>
                      <a:tailEnd type="none" w="med" len="med"/>
                    </a:lnT>
                    <a:solidFill>
                      <a:schemeClr val="tx1"/>
                    </a:solidFill>
                  </a:tcPr>
                </a:tc>
                <a:tc>
                  <a:txBody>
                    <a:bodyPr/>
                    <a:lstStyle/>
                    <a:p>
                      <a:r>
                        <a:rPr lang="en-VN" sz="1400" dirty="0">
                          <a:solidFill>
                            <a:schemeClr val="bg1"/>
                          </a:solidFill>
                          <a:latin typeface="JetBrains Mono Light" panose="02000009000000000000"/>
                        </a:rPr>
                        <a:t>5</a:t>
                      </a:r>
                    </a:p>
                  </a:txBody>
                  <a:tcPr>
                    <a:lnT w="28575" cap="flat" cmpd="sng" algn="ctr">
                      <a:solidFill>
                        <a:schemeClr val="bg1"/>
                      </a:solidFill>
                      <a:prstDash val="solid"/>
                      <a:round/>
                      <a:headEnd type="none" w="med" len="med"/>
                      <a:tailEnd type="none" w="med" len="med"/>
                    </a:lnT>
                    <a:solidFill>
                      <a:schemeClr val="tx1"/>
                    </a:solidFill>
                  </a:tcPr>
                </a:tc>
                <a:tc>
                  <a:txBody>
                    <a:bodyPr/>
                    <a:lstStyle/>
                    <a:p>
                      <a:r>
                        <a:rPr lang="en-VN" sz="1400" dirty="0">
                          <a:solidFill>
                            <a:schemeClr val="bg1"/>
                          </a:solidFill>
                          <a:latin typeface="JetBrains Mono Light" panose="02000009000000000000"/>
                        </a:rPr>
                        <a:t>3</a:t>
                      </a:r>
                    </a:p>
                  </a:txBody>
                  <a:tcPr>
                    <a:lnT w="28575" cap="flat" cmpd="sng" algn="ctr">
                      <a:solidFill>
                        <a:schemeClr val="bg1"/>
                      </a:solidFill>
                      <a:prstDash val="solid"/>
                      <a:round/>
                      <a:headEnd type="none" w="med" len="med"/>
                      <a:tailEnd type="none" w="med" len="med"/>
                    </a:lnT>
                    <a:solidFill>
                      <a:schemeClr val="tx1"/>
                    </a:solidFill>
                  </a:tcPr>
                </a:tc>
                <a:extLst>
                  <a:ext uri="{0D108BD9-81ED-4DB2-BD59-A6C34878D82A}">
                    <a16:rowId xmlns:a16="http://schemas.microsoft.com/office/drawing/2014/main" val="22785313"/>
                  </a:ext>
                </a:extLst>
              </a:tr>
              <a:tr h="247471">
                <a:tc>
                  <a:txBody>
                    <a:bodyPr/>
                    <a:lstStyle/>
                    <a:p>
                      <a:r>
                        <a:rPr lang="en-VN" sz="1400" dirty="0">
                          <a:solidFill>
                            <a:schemeClr val="bg1"/>
                          </a:solidFill>
                          <a:latin typeface="JetBrains Mono Light" panose="02000009000000000000"/>
                        </a:rPr>
                        <a:t>AC</a:t>
                      </a:r>
                    </a:p>
                  </a:txBody>
                  <a:tcPr>
                    <a:solidFill>
                      <a:schemeClr val="tx1"/>
                    </a:solidFill>
                  </a:tcPr>
                </a:tc>
                <a:tc>
                  <a:txBody>
                    <a:bodyPr/>
                    <a:lstStyle/>
                    <a:p>
                      <a:r>
                        <a:rPr lang="en-VN" sz="1400" dirty="0">
                          <a:solidFill>
                            <a:schemeClr val="bg1"/>
                          </a:solidFill>
                          <a:latin typeface="JetBrains Mono Light" panose="02000009000000000000"/>
                        </a:rPr>
                        <a:t>7,211</a:t>
                      </a:r>
                    </a:p>
                  </a:txBody>
                  <a:tcPr>
                    <a:solidFill>
                      <a:schemeClr val="tx1"/>
                    </a:solidFill>
                  </a:tcPr>
                </a:tc>
                <a:tc>
                  <a:txBody>
                    <a:bodyPr/>
                    <a:lstStyle/>
                    <a:p>
                      <a:r>
                        <a:rPr lang="en-VN" sz="1400" dirty="0">
                          <a:solidFill>
                            <a:schemeClr val="bg1"/>
                          </a:solidFill>
                          <a:latin typeface="JetBrains Mono Light" panose="02000009000000000000"/>
                        </a:rPr>
                        <a:t>8</a:t>
                      </a:r>
                    </a:p>
                  </a:txBody>
                  <a:tcPr>
                    <a:solidFill>
                      <a:schemeClr val="tx1"/>
                    </a:solidFill>
                  </a:tcPr>
                </a:tc>
                <a:extLst>
                  <a:ext uri="{0D108BD9-81ED-4DB2-BD59-A6C34878D82A}">
                    <a16:rowId xmlns:a16="http://schemas.microsoft.com/office/drawing/2014/main" val="814018357"/>
                  </a:ext>
                </a:extLst>
              </a:tr>
              <a:tr h="247471">
                <a:tc>
                  <a:txBody>
                    <a:bodyPr/>
                    <a:lstStyle/>
                    <a:p>
                      <a:r>
                        <a:rPr lang="en-VN" sz="1400" dirty="0">
                          <a:solidFill>
                            <a:schemeClr val="bg1"/>
                          </a:solidFill>
                          <a:latin typeface="JetBrains Mono Light" panose="02000009000000000000"/>
                        </a:rPr>
                        <a:t>AD</a:t>
                      </a:r>
                    </a:p>
                  </a:txBody>
                  <a:tcPr>
                    <a:solidFill>
                      <a:schemeClr val="tx1"/>
                    </a:solidFill>
                  </a:tcPr>
                </a:tc>
                <a:tc>
                  <a:txBody>
                    <a:bodyPr/>
                    <a:lstStyle/>
                    <a:p>
                      <a:r>
                        <a:rPr lang="en-VN" sz="1400" dirty="0">
                          <a:solidFill>
                            <a:schemeClr val="bg1"/>
                          </a:solidFill>
                          <a:latin typeface="JetBrains Mono Light" panose="02000009000000000000"/>
                        </a:rPr>
                        <a:t>5,83</a:t>
                      </a:r>
                    </a:p>
                  </a:txBody>
                  <a:tcPr>
                    <a:solidFill>
                      <a:schemeClr val="tx1"/>
                    </a:solidFill>
                  </a:tcPr>
                </a:tc>
                <a:tc>
                  <a:txBody>
                    <a:bodyPr/>
                    <a:lstStyle/>
                    <a:p>
                      <a:r>
                        <a:rPr lang="en-VN" sz="1400" dirty="0">
                          <a:solidFill>
                            <a:schemeClr val="bg1"/>
                          </a:solidFill>
                          <a:latin typeface="JetBrains Mono Light" panose="02000009000000000000"/>
                        </a:rPr>
                        <a:t>7</a:t>
                      </a:r>
                    </a:p>
                  </a:txBody>
                  <a:tcPr>
                    <a:solidFill>
                      <a:schemeClr val="tx1"/>
                    </a:solidFill>
                  </a:tcPr>
                </a:tc>
                <a:extLst>
                  <a:ext uri="{0D108BD9-81ED-4DB2-BD59-A6C34878D82A}">
                    <a16:rowId xmlns:a16="http://schemas.microsoft.com/office/drawing/2014/main" val="2932822491"/>
                  </a:ext>
                </a:extLst>
              </a:tr>
              <a:tr h="247471">
                <a:tc>
                  <a:txBody>
                    <a:bodyPr/>
                    <a:lstStyle/>
                    <a:p>
                      <a:r>
                        <a:rPr lang="en-VN" sz="1400" dirty="0">
                          <a:solidFill>
                            <a:schemeClr val="bg1"/>
                          </a:solidFill>
                          <a:latin typeface="JetBrains Mono Light" panose="02000009000000000000"/>
                        </a:rPr>
                        <a:t>AE</a:t>
                      </a:r>
                    </a:p>
                  </a:txBody>
                  <a:tcPr>
                    <a:solidFill>
                      <a:schemeClr val="tx1"/>
                    </a:solidFill>
                  </a:tcPr>
                </a:tc>
                <a:tc>
                  <a:txBody>
                    <a:bodyPr/>
                    <a:lstStyle/>
                    <a:p>
                      <a:r>
                        <a:rPr lang="en-VN" sz="1400" dirty="0">
                          <a:solidFill>
                            <a:schemeClr val="bg1"/>
                          </a:solidFill>
                          <a:latin typeface="JetBrains Mono Light" panose="02000009000000000000"/>
                        </a:rPr>
                        <a:t>5,385</a:t>
                      </a:r>
                    </a:p>
                  </a:txBody>
                  <a:tcPr>
                    <a:solidFill>
                      <a:schemeClr val="tx1"/>
                    </a:solidFill>
                  </a:tcPr>
                </a:tc>
                <a:tc>
                  <a:txBody>
                    <a:bodyPr/>
                    <a:lstStyle/>
                    <a:p>
                      <a:r>
                        <a:rPr lang="en-VN" sz="1400" dirty="0">
                          <a:solidFill>
                            <a:schemeClr val="bg1"/>
                          </a:solidFill>
                          <a:latin typeface="JetBrains Mono Light" panose="02000009000000000000"/>
                        </a:rPr>
                        <a:t>5</a:t>
                      </a:r>
                    </a:p>
                  </a:txBody>
                  <a:tcPr>
                    <a:solidFill>
                      <a:schemeClr val="tx1"/>
                    </a:solidFill>
                  </a:tcPr>
                </a:tc>
                <a:extLst>
                  <a:ext uri="{0D108BD9-81ED-4DB2-BD59-A6C34878D82A}">
                    <a16:rowId xmlns:a16="http://schemas.microsoft.com/office/drawing/2014/main" val="3899136122"/>
                  </a:ext>
                </a:extLst>
              </a:tr>
              <a:tr h="247471">
                <a:tc>
                  <a:txBody>
                    <a:bodyPr/>
                    <a:lstStyle/>
                    <a:p>
                      <a:r>
                        <a:rPr lang="en-VN" sz="1400" dirty="0">
                          <a:solidFill>
                            <a:schemeClr val="bg1"/>
                          </a:solidFill>
                          <a:latin typeface="JetBrains Mono Light" panose="02000009000000000000"/>
                        </a:rPr>
                        <a:t>BC</a:t>
                      </a:r>
                    </a:p>
                  </a:txBody>
                  <a:tcPr>
                    <a:solidFill>
                      <a:schemeClr val="tx1"/>
                    </a:solidFill>
                  </a:tcPr>
                </a:tc>
                <a:tc>
                  <a:txBody>
                    <a:bodyPr/>
                    <a:lstStyle/>
                    <a:p>
                      <a:r>
                        <a:rPr lang="en-VN" sz="1400" dirty="0">
                          <a:solidFill>
                            <a:schemeClr val="bg1"/>
                          </a:solidFill>
                          <a:latin typeface="JetBrains Mono Light" panose="02000009000000000000"/>
                        </a:rPr>
                        <a:t>4,123</a:t>
                      </a:r>
                    </a:p>
                  </a:txBody>
                  <a:tcPr>
                    <a:solidFill>
                      <a:schemeClr val="tx1"/>
                    </a:solidFill>
                  </a:tcPr>
                </a:tc>
                <a:tc>
                  <a:txBody>
                    <a:bodyPr/>
                    <a:lstStyle/>
                    <a:p>
                      <a:r>
                        <a:rPr lang="en-VN" sz="1400" dirty="0">
                          <a:solidFill>
                            <a:schemeClr val="bg1"/>
                          </a:solidFill>
                          <a:latin typeface="JetBrains Mono Light" panose="02000009000000000000"/>
                        </a:rPr>
                        <a:t>2</a:t>
                      </a:r>
                    </a:p>
                  </a:txBody>
                  <a:tcPr>
                    <a:solidFill>
                      <a:schemeClr val="tx1"/>
                    </a:solidFill>
                  </a:tcPr>
                </a:tc>
                <a:extLst>
                  <a:ext uri="{0D108BD9-81ED-4DB2-BD59-A6C34878D82A}">
                    <a16:rowId xmlns:a16="http://schemas.microsoft.com/office/drawing/2014/main" val="2711536845"/>
                  </a:ext>
                </a:extLst>
              </a:tr>
              <a:tr h="247471">
                <a:tc>
                  <a:txBody>
                    <a:bodyPr/>
                    <a:lstStyle/>
                    <a:p>
                      <a:r>
                        <a:rPr lang="en-VN" sz="1400" dirty="0">
                          <a:solidFill>
                            <a:schemeClr val="bg1"/>
                          </a:solidFill>
                          <a:latin typeface="JetBrains Mono Light" panose="02000009000000000000"/>
                        </a:rPr>
                        <a:t>BD</a:t>
                      </a:r>
                    </a:p>
                  </a:txBody>
                  <a:tcPr>
                    <a:solidFill>
                      <a:schemeClr val="tx1"/>
                    </a:solidFill>
                  </a:tcPr>
                </a:tc>
                <a:tc>
                  <a:txBody>
                    <a:bodyPr/>
                    <a:lstStyle/>
                    <a:p>
                      <a:r>
                        <a:rPr lang="en-VN" sz="1400" dirty="0">
                          <a:solidFill>
                            <a:schemeClr val="bg1"/>
                          </a:solidFill>
                          <a:latin typeface="JetBrains Mono Light" panose="02000009000000000000"/>
                        </a:rPr>
                        <a:t>5,385</a:t>
                      </a:r>
                    </a:p>
                  </a:txBody>
                  <a:tcPr>
                    <a:solidFill>
                      <a:schemeClr val="tx1"/>
                    </a:solidFill>
                  </a:tcPr>
                </a:tc>
                <a:tc>
                  <a:txBody>
                    <a:bodyPr/>
                    <a:lstStyle/>
                    <a:p>
                      <a:r>
                        <a:rPr lang="en-VN" sz="1400" dirty="0">
                          <a:solidFill>
                            <a:schemeClr val="bg1"/>
                          </a:solidFill>
                          <a:latin typeface="JetBrains Mono Light" panose="02000009000000000000"/>
                        </a:rPr>
                        <a:t>5</a:t>
                      </a:r>
                    </a:p>
                  </a:txBody>
                  <a:tcPr>
                    <a:solidFill>
                      <a:schemeClr val="tx1"/>
                    </a:solidFill>
                  </a:tcPr>
                </a:tc>
                <a:extLst>
                  <a:ext uri="{0D108BD9-81ED-4DB2-BD59-A6C34878D82A}">
                    <a16:rowId xmlns:a16="http://schemas.microsoft.com/office/drawing/2014/main" val="3872908831"/>
                  </a:ext>
                </a:extLst>
              </a:tr>
              <a:tr h="247471">
                <a:tc>
                  <a:txBody>
                    <a:bodyPr/>
                    <a:lstStyle/>
                    <a:p>
                      <a:r>
                        <a:rPr lang="en-VN" sz="1400" dirty="0">
                          <a:solidFill>
                            <a:schemeClr val="bg1"/>
                          </a:solidFill>
                          <a:latin typeface="JetBrains Mono Light" panose="02000009000000000000"/>
                        </a:rPr>
                        <a:t>BE</a:t>
                      </a:r>
                    </a:p>
                  </a:txBody>
                  <a:tcPr>
                    <a:solidFill>
                      <a:schemeClr val="tx1"/>
                    </a:solidFill>
                  </a:tcPr>
                </a:tc>
                <a:tc>
                  <a:txBody>
                    <a:bodyPr/>
                    <a:lstStyle/>
                    <a:p>
                      <a:r>
                        <a:rPr lang="en-VN" sz="1400" dirty="0">
                          <a:solidFill>
                            <a:schemeClr val="bg1"/>
                          </a:solidFill>
                          <a:latin typeface="JetBrains Mono Light" panose="02000009000000000000"/>
                        </a:rPr>
                        <a:t>8,6</a:t>
                      </a:r>
                    </a:p>
                  </a:txBody>
                  <a:tcPr>
                    <a:solidFill>
                      <a:schemeClr val="tx1"/>
                    </a:solidFill>
                  </a:tcPr>
                </a:tc>
                <a:tc>
                  <a:txBody>
                    <a:bodyPr/>
                    <a:lstStyle/>
                    <a:p>
                      <a:r>
                        <a:rPr lang="en-VN" sz="1400" dirty="0">
                          <a:solidFill>
                            <a:schemeClr val="bg1"/>
                          </a:solidFill>
                          <a:latin typeface="JetBrains Mono Light" panose="02000009000000000000"/>
                        </a:rPr>
                        <a:t>10</a:t>
                      </a:r>
                    </a:p>
                  </a:txBody>
                  <a:tcPr>
                    <a:solidFill>
                      <a:schemeClr val="tx1"/>
                    </a:solidFill>
                  </a:tcPr>
                </a:tc>
                <a:extLst>
                  <a:ext uri="{0D108BD9-81ED-4DB2-BD59-A6C34878D82A}">
                    <a16:rowId xmlns:a16="http://schemas.microsoft.com/office/drawing/2014/main" val="2274647468"/>
                  </a:ext>
                </a:extLst>
              </a:tr>
              <a:tr h="247471">
                <a:tc>
                  <a:txBody>
                    <a:bodyPr/>
                    <a:lstStyle/>
                    <a:p>
                      <a:r>
                        <a:rPr lang="en-VN" sz="1400" dirty="0">
                          <a:solidFill>
                            <a:schemeClr val="bg1"/>
                          </a:solidFill>
                          <a:latin typeface="JetBrains Mono Light" panose="02000009000000000000"/>
                        </a:rPr>
                        <a:t>CD</a:t>
                      </a:r>
                    </a:p>
                  </a:txBody>
                  <a:tcPr>
                    <a:solidFill>
                      <a:schemeClr val="tx1"/>
                    </a:solidFill>
                  </a:tcPr>
                </a:tc>
                <a:tc>
                  <a:txBody>
                    <a:bodyPr/>
                    <a:lstStyle/>
                    <a:p>
                      <a:r>
                        <a:rPr lang="en-VN" sz="1400" dirty="0">
                          <a:solidFill>
                            <a:schemeClr val="bg1"/>
                          </a:solidFill>
                          <a:latin typeface="JetBrains Mono Light" panose="02000009000000000000"/>
                        </a:rPr>
                        <a:t>3,1623</a:t>
                      </a:r>
                    </a:p>
                  </a:txBody>
                  <a:tcPr>
                    <a:solidFill>
                      <a:schemeClr val="tx1"/>
                    </a:solidFill>
                  </a:tcPr>
                </a:tc>
                <a:tc>
                  <a:txBody>
                    <a:bodyPr/>
                    <a:lstStyle/>
                    <a:p>
                      <a:r>
                        <a:rPr lang="en-VN" sz="1400" dirty="0">
                          <a:solidFill>
                            <a:schemeClr val="bg1"/>
                          </a:solidFill>
                          <a:latin typeface="JetBrains Mono Light" panose="02000009000000000000"/>
                        </a:rPr>
                        <a:t>1</a:t>
                      </a:r>
                    </a:p>
                  </a:txBody>
                  <a:tcPr>
                    <a:solidFill>
                      <a:schemeClr val="tx1"/>
                    </a:solidFill>
                  </a:tcPr>
                </a:tc>
                <a:extLst>
                  <a:ext uri="{0D108BD9-81ED-4DB2-BD59-A6C34878D82A}">
                    <a16:rowId xmlns:a16="http://schemas.microsoft.com/office/drawing/2014/main" val="3042548905"/>
                  </a:ext>
                </a:extLst>
              </a:tr>
              <a:tr h="247471">
                <a:tc>
                  <a:txBody>
                    <a:bodyPr/>
                    <a:lstStyle/>
                    <a:p>
                      <a:r>
                        <a:rPr lang="en-VN" sz="1400" dirty="0">
                          <a:solidFill>
                            <a:schemeClr val="bg1"/>
                          </a:solidFill>
                          <a:latin typeface="JetBrains Mono Light" panose="02000009000000000000"/>
                        </a:rPr>
                        <a:t>CE</a:t>
                      </a:r>
                    </a:p>
                  </a:txBody>
                  <a:tcPr>
                    <a:solidFill>
                      <a:schemeClr val="tx1"/>
                    </a:solidFill>
                  </a:tcPr>
                </a:tc>
                <a:tc>
                  <a:txBody>
                    <a:bodyPr/>
                    <a:lstStyle/>
                    <a:p>
                      <a:r>
                        <a:rPr lang="en-VN" sz="1400" dirty="0">
                          <a:solidFill>
                            <a:schemeClr val="bg1"/>
                          </a:solidFill>
                          <a:latin typeface="JetBrains Mono Light" panose="02000009000000000000"/>
                        </a:rPr>
                        <a:t>8,0623</a:t>
                      </a:r>
                    </a:p>
                  </a:txBody>
                  <a:tcPr>
                    <a:solidFill>
                      <a:schemeClr val="tx1"/>
                    </a:solidFill>
                  </a:tcPr>
                </a:tc>
                <a:tc>
                  <a:txBody>
                    <a:bodyPr/>
                    <a:lstStyle/>
                    <a:p>
                      <a:r>
                        <a:rPr lang="en-VN" sz="1400" dirty="0">
                          <a:solidFill>
                            <a:schemeClr val="bg1"/>
                          </a:solidFill>
                          <a:latin typeface="JetBrains Mono Light" panose="02000009000000000000"/>
                        </a:rPr>
                        <a:t>9</a:t>
                      </a:r>
                    </a:p>
                  </a:txBody>
                  <a:tcPr>
                    <a:solidFill>
                      <a:schemeClr val="tx1"/>
                    </a:solidFill>
                  </a:tcPr>
                </a:tc>
                <a:extLst>
                  <a:ext uri="{0D108BD9-81ED-4DB2-BD59-A6C34878D82A}">
                    <a16:rowId xmlns:a16="http://schemas.microsoft.com/office/drawing/2014/main" val="1373560892"/>
                  </a:ext>
                </a:extLst>
              </a:tr>
              <a:tr h="247471">
                <a:tc>
                  <a:txBody>
                    <a:bodyPr/>
                    <a:lstStyle/>
                    <a:p>
                      <a:r>
                        <a:rPr lang="en-VN" sz="1400" dirty="0">
                          <a:solidFill>
                            <a:schemeClr val="bg1"/>
                          </a:solidFill>
                          <a:latin typeface="JetBrains Mono Light" panose="02000009000000000000"/>
                        </a:rPr>
                        <a:t>DE</a:t>
                      </a:r>
                    </a:p>
                  </a:txBody>
                  <a:tcPr>
                    <a:solidFill>
                      <a:schemeClr val="tx1"/>
                    </a:solidFill>
                  </a:tcPr>
                </a:tc>
                <a:tc>
                  <a:txBody>
                    <a:bodyPr/>
                    <a:lstStyle/>
                    <a:p>
                      <a:r>
                        <a:rPr lang="en-VN" sz="1400" dirty="0">
                          <a:solidFill>
                            <a:schemeClr val="bg1"/>
                          </a:solidFill>
                          <a:latin typeface="JetBrains Mono Light" panose="02000009000000000000"/>
                        </a:rPr>
                        <a:t>5</a:t>
                      </a:r>
                    </a:p>
                  </a:txBody>
                  <a:tcPr>
                    <a:solidFill>
                      <a:schemeClr val="tx1"/>
                    </a:solidFill>
                  </a:tcPr>
                </a:tc>
                <a:tc>
                  <a:txBody>
                    <a:bodyPr/>
                    <a:lstStyle/>
                    <a:p>
                      <a:r>
                        <a:rPr lang="en-VN" sz="1400" dirty="0">
                          <a:solidFill>
                            <a:schemeClr val="bg1"/>
                          </a:solidFill>
                          <a:latin typeface="JetBrains Mono Light" panose="02000009000000000000"/>
                        </a:rPr>
                        <a:t>3</a:t>
                      </a:r>
                    </a:p>
                  </a:txBody>
                  <a:tcPr>
                    <a:solidFill>
                      <a:schemeClr val="tx1"/>
                    </a:solidFill>
                  </a:tcPr>
                </a:tc>
                <a:extLst>
                  <a:ext uri="{0D108BD9-81ED-4DB2-BD59-A6C34878D82A}">
                    <a16:rowId xmlns:a16="http://schemas.microsoft.com/office/drawing/2014/main" val="1889463362"/>
                  </a:ext>
                </a:extLst>
              </a:tr>
            </a:tbl>
          </a:graphicData>
        </a:graphic>
      </p:graphicFrame>
    </p:spTree>
    <p:extLst>
      <p:ext uri="{BB962C8B-B14F-4D97-AF65-F5344CB8AC3E}">
        <p14:creationId xmlns:p14="http://schemas.microsoft.com/office/powerpoint/2010/main" val="2904395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82213-C646-4F25-A476-A0FDB0048AE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DE1F6B1-E919-4BE1-B67D-36D437299C4C}"/>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C688AE84-A325-456B-8FA2-FC3AC374666F}"/>
              </a:ext>
            </a:extLst>
          </p:cNvPr>
          <p:cNvSpPr/>
          <p:nvPr/>
        </p:nvSpPr>
        <p:spPr>
          <a:xfrm>
            <a:off x="0" y="-2823"/>
            <a:ext cx="12192000" cy="68608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5" name="Credit MAIN">
            <a:extLst>
              <a:ext uri="{FF2B5EF4-FFF2-40B4-BE49-F238E27FC236}">
                <a16:creationId xmlns:a16="http://schemas.microsoft.com/office/drawing/2014/main" id="{40052BFF-5FD2-4831-8679-3A94553F18A5}"/>
              </a:ext>
            </a:extLst>
          </p:cNvPr>
          <p:cNvSpPr txBox="1"/>
          <p:nvPr/>
        </p:nvSpPr>
        <p:spPr>
          <a:xfrm>
            <a:off x="50878" y="6432004"/>
            <a:ext cx="2668876"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Phạm</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Văn</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Quyết</a:t>
            </a:r>
            <a:endParaRPr lang="en-US" dirty="0">
              <a:solidFill>
                <a:schemeClr val="bg1">
                  <a:lumMod val="95000"/>
                  <a:alpha val="46000"/>
                </a:schemeClr>
              </a:solidFill>
            </a:endParaRPr>
          </a:p>
        </p:txBody>
      </p:sp>
      <p:sp>
        <p:nvSpPr>
          <p:cNvPr id="6" name="Header">
            <a:extLst>
              <a:ext uri="{FF2B5EF4-FFF2-40B4-BE49-F238E27FC236}">
                <a16:creationId xmlns:a16="http://schemas.microsoft.com/office/drawing/2014/main" id="{6C0EDFDC-4BE9-43B1-8939-3FB31ACD1FFD}"/>
              </a:ext>
            </a:extLst>
          </p:cNvPr>
          <p:cNvSpPr txBox="1"/>
          <p:nvPr/>
        </p:nvSpPr>
        <p:spPr>
          <a:xfrm>
            <a:off x="50878" y="79574"/>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0" name="TextBox 9">
            <a:extLst>
              <a:ext uri="{FF2B5EF4-FFF2-40B4-BE49-F238E27FC236}">
                <a16:creationId xmlns:a16="http://schemas.microsoft.com/office/drawing/2014/main" id="{BB44A5AE-631C-4FAE-827A-13C7A81B1BCD}"/>
              </a:ext>
            </a:extLst>
          </p:cNvPr>
          <p:cNvSpPr txBox="1"/>
          <p:nvPr/>
        </p:nvSpPr>
        <p:spPr>
          <a:xfrm>
            <a:off x="944147" y="1080234"/>
            <a:ext cx="1775608"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Phương</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pháp</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49" name="Footer: Part">
            <a:extLst>
              <a:ext uri="{FF2B5EF4-FFF2-40B4-BE49-F238E27FC236}">
                <a16:creationId xmlns:a16="http://schemas.microsoft.com/office/drawing/2014/main" id="{FEC4F6FB-01C2-4B18-A426-A5D062558A92}"/>
              </a:ext>
            </a:extLst>
          </p:cNvPr>
          <p:cNvSpPr txBox="1"/>
          <p:nvPr/>
        </p:nvSpPr>
        <p:spPr>
          <a:xfrm>
            <a:off x="8487508" y="6464494"/>
            <a:ext cx="3733195" cy="369332"/>
          </a:xfrm>
          <a:prstGeom prst="rect">
            <a:avLst/>
          </a:prstGeom>
          <a:noFill/>
        </p:spPr>
        <p:txBody>
          <a:bodyPr wrap="square" rtlCol="0">
            <a:spAutoFit/>
          </a:bodyPr>
          <a:lstStyle/>
          <a:p>
            <a:r>
              <a:rPr lang="en-US" dirty="0" err="1">
                <a:solidFill>
                  <a:schemeClr val="bg1">
                    <a:lumMod val="95000"/>
                  </a:schemeClr>
                </a:solidFill>
                <a:latin typeface="JetBrains Mono Regular" panose="02000009000000000000" pitchFamily="49" charset="0"/>
                <a:cs typeface="JetBrains Mono Regular" panose="02000009000000000000" pitchFamily="49" charset="0"/>
              </a:rPr>
              <a:t>Bài</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toán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a:solidFill>
                  <a:schemeClr val="bg1">
                    <a:lumMod val="95000"/>
                  </a:schemeClr>
                </a:solidFill>
                <a:latin typeface="JetBrains Mono Light" panose="02000009000000000000" pitchFamily="49" charset="0"/>
                <a:cs typeface="JetBrains Mono Light" panose="02000009000000000000" pitchFamily="49" charset="0"/>
              </a:rPr>
              <a:t>“</a:t>
            </a:r>
            <a:r>
              <a:rPr lang="en-US" dirty="0" err="1">
                <a:solidFill>
                  <a:schemeClr val="bg1">
                    <a:lumMod val="85000"/>
                  </a:schemeClr>
                </a:solidFill>
                <a:latin typeface="JetBrains Mono Light" panose="02000009000000000000"/>
                <a:cs typeface="JetBrains Mono" panose="02000009000000000000" pitchFamily="49" charset="0"/>
              </a:rPr>
              <a:t>Người</a:t>
            </a:r>
            <a:r>
              <a:rPr lang="en-US" dirty="0">
                <a:solidFill>
                  <a:schemeClr val="bg1">
                    <a:lumMod val="85000"/>
                  </a:schemeClr>
                </a:solidFill>
                <a:latin typeface="JetBrains Mono Light" panose="02000009000000000000"/>
                <a:cs typeface="JetBrains Mono" panose="02000009000000000000" pitchFamily="49" charset="0"/>
              </a:rPr>
              <a:t> </a:t>
            </a:r>
            <a:r>
              <a:rPr lang="en-US" dirty="0" err="1">
                <a:solidFill>
                  <a:schemeClr val="bg1">
                    <a:lumMod val="85000"/>
                  </a:schemeClr>
                </a:solidFill>
                <a:latin typeface="JetBrains Mono Light" panose="02000009000000000000"/>
                <a:cs typeface="JetBrains Mono" panose="02000009000000000000" pitchFamily="49" charset="0"/>
              </a:rPr>
              <a:t>bán</a:t>
            </a:r>
            <a:r>
              <a:rPr lang="en-US" dirty="0">
                <a:solidFill>
                  <a:schemeClr val="bg1">
                    <a:lumMod val="85000"/>
                  </a:schemeClr>
                </a:solidFill>
                <a:latin typeface="JetBrains Mono Light" panose="02000009000000000000"/>
                <a:cs typeface="JetBrains Mono" panose="02000009000000000000" pitchFamily="49" charset="0"/>
              </a:rPr>
              <a:t> </a:t>
            </a:r>
            <a:r>
              <a:rPr lang="en-US" dirty="0" err="1">
                <a:solidFill>
                  <a:schemeClr val="bg1">
                    <a:lumMod val="85000"/>
                  </a:schemeClr>
                </a:solidFill>
                <a:latin typeface="JetBrains Mono Light" panose="02000009000000000000"/>
                <a:cs typeface="JetBrains Mono" panose="02000009000000000000" pitchFamily="49" charset="0"/>
              </a:rPr>
              <a:t>hàng</a:t>
            </a:r>
            <a:r>
              <a:rPr lang="en-US" dirty="0">
                <a:solidFill>
                  <a:schemeClr val="bg1">
                    <a:lumMod val="85000"/>
                  </a:schemeClr>
                </a:solidFill>
                <a:latin typeface="JetBrains Mono Light" panose="02000009000000000000"/>
                <a:cs typeface="JetBrains Mono" panose="02000009000000000000" pitchFamily="49" charset="0"/>
              </a:rPr>
              <a:t>”</a:t>
            </a:r>
          </a:p>
        </p:txBody>
      </p:sp>
      <p:sp>
        <p:nvSpPr>
          <p:cNvPr id="50" name="Footer: Title">
            <a:extLst>
              <a:ext uri="{FF2B5EF4-FFF2-40B4-BE49-F238E27FC236}">
                <a16:creationId xmlns:a16="http://schemas.microsoft.com/office/drawing/2014/main" id="{8FE323BC-127E-4694-B09E-D439BC9FCB8D}"/>
              </a:ext>
            </a:extLst>
          </p:cNvPr>
          <p:cNvSpPr txBox="1"/>
          <p:nvPr/>
        </p:nvSpPr>
        <p:spPr>
          <a:xfrm>
            <a:off x="7385543" y="6469576"/>
            <a:ext cx="1215645"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a:t>
            </a:r>
          </a:p>
        </p:txBody>
      </p:sp>
      <p:sp>
        <p:nvSpPr>
          <p:cNvPr id="52" name="Rectangle 51">
            <a:extLst>
              <a:ext uri="{FF2B5EF4-FFF2-40B4-BE49-F238E27FC236}">
                <a16:creationId xmlns:a16="http://schemas.microsoft.com/office/drawing/2014/main" id="{33508B73-5ED1-4508-AFB1-C2C8F2D3EC8F}"/>
              </a:ext>
            </a:extLst>
          </p:cNvPr>
          <p:cNvSpPr/>
          <p:nvPr/>
        </p:nvSpPr>
        <p:spPr>
          <a:xfrm>
            <a:off x="591458" y="603227"/>
            <a:ext cx="3650464"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66CBAF43-3204-4B19-9445-AFAA4BE3D844}"/>
              </a:ext>
            </a:extLst>
          </p:cNvPr>
          <p:cNvSpPr txBox="1"/>
          <p:nvPr/>
        </p:nvSpPr>
        <p:spPr>
          <a:xfrm>
            <a:off x="603363" y="602701"/>
            <a:ext cx="3638559" cy="369332"/>
          </a:xfrm>
          <a:prstGeom prst="rect">
            <a:avLst/>
          </a:prstGeom>
          <a:no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Bài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toán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Người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bán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hàng</a:t>
            </a:r>
            <a:r>
              <a:rPr lang="en-US" dirty="0">
                <a:latin typeface="JetBrains Mono Regular" panose="02000009000000000000" pitchFamily="49" charset="0"/>
                <a:cs typeface="JetBrains Mono Regular" panose="02000009000000000000" pitchFamily="49" charset="0"/>
              </a:rPr>
              <a:t>”</a:t>
            </a:r>
          </a:p>
        </p:txBody>
      </p:sp>
      <p:sp>
        <p:nvSpPr>
          <p:cNvPr id="14" name="TextBox 13">
            <a:extLst>
              <a:ext uri="{FF2B5EF4-FFF2-40B4-BE49-F238E27FC236}">
                <a16:creationId xmlns:a16="http://schemas.microsoft.com/office/drawing/2014/main" id="{CB40A998-B242-4B4A-BAAB-B2B16DD2AD23}"/>
              </a:ext>
            </a:extLst>
          </p:cNvPr>
          <p:cNvSpPr txBox="1"/>
          <p:nvPr/>
        </p:nvSpPr>
        <p:spPr>
          <a:xfrm>
            <a:off x="2664872" y="1092325"/>
            <a:ext cx="3305415" cy="369332"/>
          </a:xfrm>
          <a:prstGeom prst="rect">
            <a:avLst/>
          </a:prstGeom>
          <a:noFill/>
        </p:spPr>
        <p:txBody>
          <a:bodyPr wrap="square" rtlCol="0">
            <a:spAutoFit/>
          </a:bodyPr>
          <a:lstStyle/>
          <a:p>
            <a:pPr marL="285750" indent="-285750">
              <a:buFont typeface="Arial" panose="020B0604020202020204" pitchFamily="34" charset="0"/>
              <a:buChar char="•"/>
            </a:pP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Thuật</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toán</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tham</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lam</a:t>
            </a:r>
            <a:endParaRPr lang="en-US" i="1" dirty="0">
              <a:latin typeface="JetBrains Mono ExtraLight" panose="02000009000000000000" pitchFamily="49" charset="0"/>
              <a:cs typeface="JetBrains Mono ExtraLight" panose="02000009000000000000" pitchFamily="49" charset="0"/>
            </a:endParaRPr>
          </a:p>
        </p:txBody>
      </p:sp>
      <p:sp>
        <p:nvSpPr>
          <p:cNvPr id="61" name="PAGE NUM 0">
            <a:extLst>
              <a:ext uri="{FF2B5EF4-FFF2-40B4-BE49-F238E27FC236}">
                <a16:creationId xmlns:a16="http://schemas.microsoft.com/office/drawing/2014/main" id="{9C12F1E6-E4C9-40F6-B619-25C06873062B}"/>
              </a:ext>
            </a:extLst>
          </p:cNvPr>
          <p:cNvSpPr txBox="1"/>
          <p:nvPr/>
        </p:nvSpPr>
        <p:spPr>
          <a:xfrm>
            <a:off x="11599908" y="-510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3</a:t>
            </a:r>
          </a:p>
        </p:txBody>
      </p:sp>
      <p:sp>
        <p:nvSpPr>
          <p:cNvPr id="62" name="PAGE NUM 1">
            <a:extLst>
              <a:ext uri="{FF2B5EF4-FFF2-40B4-BE49-F238E27FC236}">
                <a16:creationId xmlns:a16="http://schemas.microsoft.com/office/drawing/2014/main" id="{52A8FC11-810C-4F87-A3B6-652372C5A6CC}"/>
              </a:ext>
            </a:extLst>
          </p:cNvPr>
          <p:cNvSpPr txBox="1"/>
          <p:nvPr/>
        </p:nvSpPr>
        <p:spPr>
          <a:xfrm>
            <a:off x="11883838" y="-3971"/>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8</a:t>
            </a:r>
            <a:endParaRPr lang="en-US" dirty="0"/>
          </a:p>
        </p:txBody>
      </p:sp>
      <p:cxnSp>
        <p:nvCxnSpPr>
          <p:cNvPr id="101" name="Straight Connector 100">
            <a:extLst>
              <a:ext uri="{FF2B5EF4-FFF2-40B4-BE49-F238E27FC236}">
                <a16:creationId xmlns:a16="http://schemas.microsoft.com/office/drawing/2014/main" id="{F99E08D6-C497-440E-BDBE-E85CC2D34701}"/>
              </a:ext>
            </a:extLst>
          </p:cNvPr>
          <p:cNvCxnSpPr>
            <a:cxnSpLocks/>
          </p:cNvCxnSpPr>
          <p:nvPr/>
        </p:nvCxnSpPr>
        <p:spPr>
          <a:xfrm>
            <a:off x="10243036" y="-90122"/>
            <a:ext cx="18018" cy="3010038"/>
          </a:xfrm>
          <a:prstGeom prst="line">
            <a:avLst/>
          </a:prstGeom>
          <a:ln>
            <a:solidFill>
              <a:schemeClr val="bg1">
                <a:lumMod val="50000"/>
              </a:schemeClr>
            </a:solidFill>
            <a:prstDash val="sysDot"/>
          </a:ln>
        </p:spPr>
        <p:style>
          <a:lnRef idx="2">
            <a:schemeClr val="dk1"/>
          </a:lnRef>
          <a:fillRef idx="0">
            <a:schemeClr val="dk1"/>
          </a:fillRef>
          <a:effectRef idx="1">
            <a:schemeClr val="dk1"/>
          </a:effectRef>
          <a:fontRef idx="minor">
            <a:schemeClr val="tx1"/>
          </a:fontRef>
        </p:style>
      </p:cxnSp>
      <p:cxnSp>
        <p:nvCxnSpPr>
          <p:cNvPr id="102" name="Straight Connector 101">
            <a:extLst>
              <a:ext uri="{FF2B5EF4-FFF2-40B4-BE49-F238E27FC236}">
                <a16:creationId xmlns:a16="http://schemas.microsoft.com/office/drawing/2014/main" id="{D0392D7D-A5F5-497B-89ED-01BE2B23F84C}"/>
              </a:ext>
            </a:extLst>
          </p:cNvPr>
          <p:cNvCxnSpPr/>
          <p:nvPr/>
        </p:nvCxnSpPr>
        <p:spPr>
          <a:xfrm>
            <a:off x="8676995" y="1517961"/>
            <a:ext cx="3983421" cy="0"/>
          </a:xfrm>
          <a:prstGeom prst="line">
            <a:avLst/>
          </a:prstGeom>
          <a:ln>
            <a:solidFill>
              <a:schemeClr val="bg1">
                <a:lumMod val="50000"/>
              </a:schemeClr>
            </a:solidFill>
            <a:prstDash val="sysDot"/>
          </a:ln>
        </p:spPr>
        <p:style>
          <a:lnRef idx="2">
            <a:schemeClr val="dk1"/>
          </a:lnRef>
          <a:fillRef idx="0">
            <a:schemeClr val="dk1"/>
          </a:fillRef>
          <a:effectRef idx="1">
            <a:schemeClr val="dk1"/>
          </a:effectRef>
          <a:fontRef idx="minor">
            <a:schemeClr val="tx1"/>
          </a:fontRef>
        </p:style>
      </p:cxnSp>
      <p:sp>
        <p:nvSpPr>
          <p:cNvPr id="103" name="TextBox 102">
            <a:extLst>
              <a:ext uri="{FF2B5EF4-FFF2-40B4-BE49-F238E27FC236}">
                <a16:creationId xmlns:a16="http://schemas.microsoft.com/office/drawing/2014/main" id="{CBC946D9-1DDF-41B7-9857-72E999213669}"/>
              </a:ext>
            </a:extLst>
          </p:cNvPr>
          <p:cNvSpPr txBox="1"/>
          <p:nvPr/>
        </p:nvSpPr>
        <p:spPr>
          <a:xfrm>
            <a:off x="8643093" y="2296559"/>
            <a:ext cx="992579" cy="323165"/>
          </a:xfrm>
          <a:prstGeom prst="rect">
            <a:avLst/>
          </a:prstGeom>
          <a:noFill/>
          <a:ln>
            <a:noFill/>
          </a:ln>
        </p:spPr>
        <p:txBody>
          <a:bodyPr wrap="non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(-3;-2)</a:t>
            </a:r>
          </a:p>
        </p:txBody>
      </p:sp>
      <p:sp>
        <p:nvSpPr>
          <p:cNvPr id="104" name="TextBox 103">
            <a:extLst>
              <a:ext uri="{FF2B5EF4-FFF2-40B4-BE49-F238E27FC236}">
                <a16:creationId xmlns:a16="http://schemas.microsoft.com/office/drawing/2014/main" id="{463CE9ED-7477-46C9-8132-0C71C05F28F2}"/>
              </a:ext>
            </a:extLst>
          </p:cNvPr>
          <p:cNvSpPr txBox="1"/>
          <p:nvPr/>
        </p:nvSpPr>
        <p:spPr>
          <a:xfrm>
            <a:off x="8644466" y="353392"/>
            <a:ext cx="877163" cy="323165"/>
          </a:xfrm>
          <a:prstGeom prst="rect">
            <a:avLst/>
          </a:prstGeom>
          <a:noFill/>
          <a:ln>
            <a:noFill/>
          </a:ln>
        </p:spPr>
        <p:txBody>
          <a:bodyPr wrap="non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(-3;3)</a:t>
            </a:r>
          </a:p>
        </p:txBody>
      </p:sp>
      <p:sp>
        <p:nvSpPr>
          <p:cNvPr id="105" name="TextBox 104">
            <a:extLst>
              <a:ext uri="{FF2B5EF4-FFF2-40B4-BE49-F238E27FC236}">
                <a16:creationId xmlns:a16="http://schemas.microsoft.com/office/drawing/2014/main" id="{CBD4BE98-45AD-4F91-A8A8-5901DE542953}"/>
              </a:ext>
            </a:extLst>
          </p:cNvPr>
          <p:cNvSpPr txBox="1"/>
          <p:nvPr/>
        </p:nvSpPr>
        <p:spPr>
          <a:xfrm>
            <a:off x="10378661" y="73494"/>
            <a:ext cx="873957" cy="323165"/>
          </a:xfrm>
          <a:prstGeom prst="rect">
            <a:avLst/>
          </a:prstGeom>
          <a:noFill/>
          <a:ln>
            <a:noFill/>
          </a:ln>
        </p:spPr>
        <p:txBody>
          <a:bodyPr wrap="squar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(1;4)</a:t>
            </a:r>
          </a:p>
        </p:txBody>
      </p:sp>
      <p:sp>
        <p:nvSpPr>
          <p:cNvPr id="106" name="TextBox 105">
            <a:extLst>
              <a:ext uri="{FF2B5EF4-FFF2-40B4-BE49-F238E27FC236}">
                <a16:creationId xmlns:a16="http://schemas.microsoft.com/office/drawing/2014/main" id="{175D316A-16BC-4A4E-8806-4DF726A1671E}"/>
              </a:ext>
            </a:extLst>
          </p:cNvPr>
          <p:cNvSpPr txBox="1"/>
          <p:nvPr/>
        </p:nvSpPr>
        <p:spPr>
          <a:xfrm>
            <a:off x="11146084" y="923364"/>
            <a:ext cx="873957" cy="323165"/>
          </a:xfrm>
          <a:prstGeom prst="rect">
            <a:avLst/>
          </a:prstGeom>
          <a:noFill/>
          <a:ln>
            <a:noFill/>
          </a:ln>
        </p:spPr>
        <p:txBody>
          <a:bodyPr wrap="squar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(2;1)</a:t>
            </a:r>
          </a:p>
        </p:txBody>
      </p:sp>
      <p:cxnSp>
        <p:nvCxnSpPr>
          <p:cNvPr id="107" name="Straight Connector 106">
            <a:extLst>
              <a:ext uri="{FF2B5EF4-FFF2-40B4-BE49-F238E27FC236}">
                <a16:creationId xmlns:a16="http://schemas.microsoft.com/office/drawing/2014/main" id="{C97E5F60-1AE8-47C2-8212-CFAD5C6A80C5}"/>
              </a:ext>
            </a:extLst>
          </p:cNvPr>
          <p:cNvCxnSpPr>
            <a:cxnSpLocks/>
          </p:cNvCxnSpPr>
          <p:nvPr/>
        </p:nvCxnSpPr>
        <p:spPr>
          <a:xfrm>
            <a:off x="10647265" y="621251"/>
            <a:ext cx="330242" cy="56009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9402F5BB-D9D1-43E3-B209-D7E835034163}"/>
              </a:ext>
            </a:extLst>
          </p:cNvPr>
          <p:cNvCxnSpPr>
            <a:cxnSpLocks/>
          </p:cNvCxnSpPr>
          <p:nvPr/>
        </p:nvCxnSpPr>
        <p:spPr>
          <a:xfrm flipV="1">
            <a:off x="9101650" y="619442"/>
            <a:ext cx="1584723" cy="28185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E5326BF4-2F0C-43B5-9BC0-2EB951B4E206}"/>
              </a:ext>
            </a:extLst>
          </p:cNvPr>
          <p:cNvCxnSpPr>
            <a:cxnSpLocks/>
          </p:cNvCxnSpPr>
          <p:nvPr/>
        </p:nvCxnSpPr>
        <p:spPr>
          <a:xfrm flipH="1">
            <a:off x="9100671" y="882821"/>
            <a:ext cx="979" cy="11952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E5F03801-63E6-41BD-B728-D746CD2F5EBB}"/>
              </a:ext>
            </a:extLst>
          </p:cNvPr>
          <p:cNvCxnSpPr>
            <a:cxnSpLocks/>
          </p:cNvCxnSpPr>
          <p:nvPr/>
        </p:nvCxnSpPr>
        <p:spPr>
          <a:xfrm>
            <a:off x="10965688" y="1155978"/>
            <a:ext cx="28838" cy="12914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D25346B4-8F66-4CA1-8CAA-9DAF2D043140}"/>
              </a:ext>
            </a:extLst>
          </p:cNvPr>
          <p:cNvCxnSpPr>
            <a:cxnSpLocks/>
          </p:cNvCxnSpPr>
          <p:nvPr/>
        </p:nvCxnSpPr>
        <p:spPr>
          <a:xfrm>
            <a:off x="9100671" y="2078059"/>
            <a:ext cx="1893855" cy="3693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EBCB1F16-C15C-4ECF-A563-0CE9F8CF950E}"/>
              </a:ext>
            </a:extLst>
          </p:cNvPr>
          <p:cNvCxnSpPr>
            <a:cxnSpLocks/>
          </p:cNvCxnSpPr>
          <p:nvPr/>
        </p:nvCxnSpPr>
        <p:spPr>
          <a:xfrm>
            <a:off x="9131100" y="937394"/>
            <a:ext cx="1817519" cy="145024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8962F6E7-6DFD-4E6B-ADFB-C9BF1D7666EA}"/>
              </a:ext>
            </a:extLst>
          </p:cNvPr>
          <p:cNvCxnSpPr>
            <a:cxnSpLocks/>
          </p:cNvCxnSpPr>
          <p:nvPr/>
        </p:nvCxnSpPr>
        <p:spPr>
          <a:xfrm flipV="1">
            <a:off x="9096829" y="587253"/>
            <a:ext cx="1589544" cy="149080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FD6891E4-6814-4FA8-8648-A4E7AF98A1D9}"/>
              </a:ext>
            </a:extLst>
          </p:cNvPr>
          <p:cNvCxnSpPr>
            <a:cxnSpLocks/>
          </p:cNvCxnSpPr>
          <p:nvPr/>
        </p:nvCxnSpPr>
        <p:spPr>
          <a:xfrm flipV="1">
            <a:off x="9131691" y="1204736"/>
            <a:ext cx="1896268" cy="8486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005ECC0F-BE69-43CB-B4C9-A49AC92090C0}"/>
              </a:ext>
            </a:extLst>
          </p:cNvPr>
          <p:cNvCxnSpPr>
            <a:cxnSpLocks/>
          </p:cNvCxnSpPr>
          <p:nvPr/>
        </p:nvCxnSpPr>
        <p:spPr>
          <a:xfrm flipH="1" flipV="1">
            <a:off x="10657153" y="607815"/>
            <a:ext cx="337373" cy="180972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55F93383-8805-420B-8A6E-3B1F4D4B9207}"/>
              </a:ext>
            </a:extLst>
          </p:cNvPr>
          <p:cNvCxnSpPr>
            <a:cxnSpLocks/>
          </p:cNvCxnSpPr>
          <p:nvPr/>
        </p:nvCxnSpPr>
        <p:spPr>
          <a:xfrm>
            <a:off x="9154794" y="880279"/>
            <a:ext cx="1869182" cy="35429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852FCDFD-9850-425D-8B0A-D2A502B6F5D8}"/>
              </a:ext>
            </a:extLst>
          </p:cNvPr>
          <p:cNvSpPr txBox="1"/>
          <p:nvPr/>
        </p:nvSpPr>
        <p:spPr>
          <a:xfrm>
            <a:off x="10099792" y="1317066"/>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O</a:t>
            </a:r>
          </a:p>
        </p:txBody>
      </p:sp>
      <p:sp>
        <p:nvSpPr>
          <p:cNvPr id="118" name="TextBox 117">
            <a:extLst>
              <a:ext uri="{FF2B5EF4-FFF2-40B4-BE49-F238E27FC236}">
                <a16:creationId xmlns:a16="http://schemas.microsoft.com/office/drawing/2014/main" id="{D49A23CD-99D1-4C05-B831-E02888F71B90}"/>
              </a:ext>
            </a:extLst>
          </p:cNvPr>
          <p:cNvSpPr txBox="1"/>
          <p:nvPr/>
        </p:nvSpPr>
        <p:spPr>
          <a:xfrm>
            <a:off x="8953647" y="1893393"/>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A</a:t>
            </a:r>
          </a:p>
        </p:txBody>
      </p:sp>
      <p:sp>
        <p:nvSpPr>
          <p:cNvPr id="119" name="TextBox 118">
            <a:extLst>
              <a:ext uri="{FF2B5EF4-FFF2-40B4-BE49-F238E27FC236}">
                <a16:creationId xmlns:a16="http://schemas.microsoft.com/office/drawing/2014/main" id="{F0FC7DDF-16DC-442D-A4AB-A9AE842C75C4}"/>
              </a:ext>
            </a:extLst>
          </p:cNvPr>
          <p:cNvSpPr txBox="1"/>
          <p:nvPr/>
        </p:nvSpPr>
        <p:spPr>
          <a:xfrm>
            <a:off x="8949639" y="698155"/>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B</a:t>
            </a:r>
          </a:p>
        </p:txBody>
      </p:sp>
      <p:sp>
        <p:nvSpPr>
          <p:cNvPr id="120" name="TextBox 119">
            <a:extLst>
              <a:ext uri="{FF2B5EF4-FFF2-40B4-BE49-F238E27FC236}">
                <a16:creationId xmlns:a16="http://schemas.microsoft.com/office/drawing/2014/main" id="{38DB7B66-150E-40CC-8E7B-9AD56079CF91}"/>
              </a:ext>
            </a:extLst>
          </p:cNvPr>
          <p:cNvSpPr txBox="1"/>
          <p:nvPr/>
        </p:nvSpPr>
        <p:spPr>
          <a:xfrm>
            <a:off x="10507443" y="403866"/>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C</a:t>
            </a:r>
          </a:p>
        </p:txBody>
      </p:sp>
      <p:sp>
        <p:nvSpPr>
          <p:cNvPr id="121" name="TextBox 120">
            <a:extLst>
              <a:ext uri="{FF2B5EF4-FFF2-40B4-BE49-F238E27FC236}">
                <a16:creationId xmlns:a16="http://schemas.microsoft.com/office/drawing/2014/main" id="{96BBBFEA-DC88-41F0-B013-22794164BED2}"/>
              </a:ext>
            </a:extLst>
          </p:cNvPr>
          <p:cNvSpPr txBox="1"/>
          <p:nvPr/>
        </p:nvSpPr>
        <p:spPr>
          <a:xfrm rot="10800000" flipH="1" flipV="1">
            <a:off x="10802081" y="2242267"/>
            <a:ext cx="410658"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E</a:t>
            </a:r>
          </a:p>
        </p:txBody>
      </p:sp>
      <p:sp>
        <p:nvSpPr>
          <p:cNvPr id="122" name="TextBox 121">
            <a:extLst>
              <a:ext uri="{FF2B5EF4-FFF2-40B4-BE49-F238E27FC236}">
                <a16:creationId xmlns:a16="http://schemas.microsoft.com/office/drawing/2014/main" id="{0C93D1DE-CCA7-43C3-BA3B-47DB646BC2FF}"/>
              </a:ext>
            </a:extLst>
          </p:cNvPr>
          <p:cNvSpPr txBox="1"/>
          <p:nvPr/>
        </p:nvSpPr>
        <p:spPr>
          <a:xfrm>
            <a:off x="10846148" y="996682"/>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D</a:t>
            </a:r>
          </a:p>
        </p:txBody>
      </p:sp>
      <p:sp>
        <p:nvSpPr>
          <p:cNvPr id="123" name="TextBox 122">
            <a:extLst>
              <a:ext uri="{FF2B5EF4-FFF2-40B4-BE49-F238E27FC236}">
                <a16:creationId xmlns:a16="http://schemas.microsoft.com/office/drawing/2014/main" id="{139824E3-FA21-4B96-8F52-7071D9767DC6}"/>
              </a:ext>
            </a:extLst>
          </p:cNvPr>
          <p:cNvSpPr txBox="1"/>
          <p:nvPr/>
        </p:nvSpPr>
        <p:spPr>
          <a:xfrm>
            <a:off x="11156741" y="2372404"/>
            <a:ext cx="1052328" cy="323165"/>
          </a:xfrm>
          <a:prstGeom prst="rect">
            <a:avLst/>
          </a:prstGeom>
          <a:noFill/>
        </p:spPr>
        <p:txBody>
          <a:bodyPr wrap="squar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(2;-4)</a:t>
            </a:r>
            <a:endParaRPr lang="en-US" sz="15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124" name="Rectangle 123">
            <a:extLst>
              <a:ext uri="{FF2B5EF4-FFF2-40B4-BE49-F238E27FC236}">
                <a16:creationId xmlns:a16="http://schemas.microsoft.com/office/drawing/2014/main" id="{99227543-4BAF-478A-B86F-9F3E4D145522}"/>
              </a:ext>
            </a:extLst>
          </p:cNvPr>
          <p:cNvSpPr/>
          <p:nvPr/>
        </p:nvSpPr>
        <p:spPr>
          <a:xfrm rot="685076">
            <a:off x="9790695" y="2313680"/>
            <a:ext cx="816142" cy="292388"/>
          </a:xfrm>
          <a:prstGeom prst="rect">
            <a:avLst/>
          </a:prstGeom>
          <a:solidFill>
            <a:schemeClr val="tx1"/>
          </a:solidFill>
        </p:spPr>
        <p:txBody>
          <a:bodyPr wrap="square">
            <a:spAutoFit/>
          </a:bodyPr>
          <a:lstStyle/>
          <a:p>
            <a:r>
              <a:rPr lang="en-VN" sz="1300" dirty="0">
                <a:solidFill>
                  <a:schemeClr val="bg1">
                    <a:lumMod val="85000"/>
                  </a:schemeClr>
                </a:solidFill>
                <a:latin typeface="JetBrains Mono Light" panose="02000009000000000000" pitchFamily="49" charset="0"/>
                <a:cs typeface="JetBrains Mono Light" panose="02000009000000000000" pitchFamily="49" charset="0"/>
              </a:rPr>
              <a:t>5</a:t>
            </a:r>
            <a:r>
              <a:rPr lang="en-US" sz="1300" dirty="0">
                <a:solidFill>
                  <a:schemeClr val="bg1">
                    <a:lumMod val="85000"/>
                  </a:schemeClr>
                </a:solidFill>
                <a:latin typeface="JetBrains Mono Light" panose="02000009000000000000" pitchFamily="49" charset="0"/>
                <a:cs typeface="JetBrains Mono Light" panose="02000009000000000000" pitchFamily="49" charset="0"/>
              </a:rPr>
              <a:t>.</a:t>
            </a:r>
            <a:r>
              <a:rPr lang="en-VN" sz="1300" dirty="0">
                <a:solidFill>
                  <a:schemeClr val="bg1">
                    <a:lumMod val="85000"/>
                  </a:schemeClr>
                </a:solidFill>
                <a:latin typeface="JetBrains Mono Light" panose="02000009000000000000" pitchFamily="49" charset="0"/>
                <a:cs typeface="JetBrains Mono Light" panose="02000009000000000000" pitchFamily="49" charset="0"/>
              </a:rPr>
              <a:t>385</a:t>
            </a:r>
          </a:p>
        </p:txBody>
      </p:sp>
      <p:sp>
        <p:nvSpPr>
          <p:cNvPr id="125" name="Rectangle 124">
            <a:extLst>
              <a:ext uri="{FF2B5EF4-FFF2-40B4-BE49-F238E27FC236}">
                <a16:creationId xmlns:a16="http://schemas.microsoft.com/office/drawing/2014/main" id="{C13C3C2D-6A75-449A-B7B8-514919D434FA}"/>
              </a:ext>
            </a:extLst>
          </p:cNvPr>
          <p:cNvSpPr/>
          <p:nvPr/>
        </p:nvSpPr>
        <p:spPr>
          <a:xfrm>
            <a:off x="7260254" y="286303"/>
            <a:ext cx="1435386" cy="261610"/>
          </a:xfrm>
          <a:prstGeom prst="rect">
            <a:avLst/>
          </a:prstGeom>
          <a:solidFill>
            <a:schemeClr val="tx1"/>
          </a:solidFill>
        </p:spPr>
        <p:txBody>
          <a:bodyPr wrap="square">
            <a:spAutoFit/>
          </a:bodyPr>
          <a:lstStyle/>
          <a:p>
            <a:r>
              <a:rPr lang="en-US" sz="1100" dirty="0">
                <a:solidFill>
                  <a:schemeClr val="bg1">
                    <a:lumMod val="50000"/>
                  </a:schemeClr>
                </a:solidFill>
                <a:latin typeface="JetBrains Mono Light" panose="02000009000000000000" pitchFamily="49" charset="0"/>
                <a:cs typeface="JetBrains Mono Light" panose="02000009000000000000" pitchFamily="49" charset="0"/>
              </a:rPr>
              <a:t>*not to scale</a:t>
            </a:r>
            <a:endParaRPr lang="en-VN" sz="11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126" name="Rectangle 125">
            <a:extLst>
              <a:ext uri="{FF2B5EF4-FFF2-40B4-BE49-F238E27FC236}">
                <a16:creationId xmlns:a16="http://schemas.microsoft.com/office/drawing/2014/main" id="{154BFB6A-EB2F-4F83-A4FB-73CB1807AEBE}"/>
              </a:ext>
            </a:extLst>
          </p:cNvPr>
          <p:cNvSpPr/>
          <p:nvPr/>
        </p:nvSpPr>
        <p:spPr>
          <a:xfrm>
            <a:off x="11002331" y="1664460"/>
            <a:ext cx="166341" cy="292388"/>
          </a:xfrm>
          <a:prstGeom prst="rect">
            <a:avLst/>
          </a:prstGeom>
          <a:solidFill>
            <a:schemeClr val="tx1"/>
          </a:solidFill>
        </p:spPr>
        <p:txBody>
          <a:bodyPr wrap="square">
            <a:spAutoFit/>
          </a:bodyPr>
          <a:lstStyle/>
          <a:p>
            <a:pPr algn="ctr"/>
            <a:r>
              <a:rPr lang="en-VN" sz="1300" dirty="0">
                <a:solidFill>
                  <a:schemeClr val="bg1">
                    <a:lumMod val="85000"/>
                  </a:schemeClr>
                </a:solidFill>
                <a:latin typeface="JetBrains Mono Light" panose="02000009000000000000" pitchFamily="49" charset="0"/>
                <a:cs typeface="JetBrains Mono Light" panose="02000009000000000000" pitchFamily="49" charset="0"/>
              </a:rPr>
              <a:t>5</a:t>
            </a:r>
          </a:p>
        </p:txBody>
      </p:sp>
      <p:sp>
        <p:nvSpPr>
          <p:cNvPr id="127" name="Rectangle 126">
            <a:extLst>
              <a:ext uri="{FF2B5EF4-FFF2-40B4-BE49-F238E27FC236}">
                <a16:creationId xmlns:a16="http://schemas.microsoft.com/office/drawing/2014/main" id="{361F2BA9-37F5-49D2-81FA-DD7CCB3C39E3}"/>
              </a:ext>
            </a:extLst>
          </p:cNvPr>
          <p:cNvSpPr/>
          <p:nvPr/>
        </p:nvSpPr>
        <p:spPr>
          <a:xfrm>
            <a:off x="8930488" y="1383416"/>
            <a:ext cx="166341" cy="292388"/>
          </a:xfrm>
          <a:prstGeom prst="rect">
            <a:avLst/>
          </a:prstGeom>
          <a:solidFill>
            <a:schemeClr val="tx1"/>
          </a:solidFill>
        </p:spPr>
        <p:txBody>
          <a:bodyPr wrap="square">
            <a:spAutoFit/>
          </a:bodyPr>
          <a:lstStyle/>
          <a:p>
            <a:pPr algn="ctr"/>
            <a:r>
              <a:rPr lang="en-VN" sz="1300" dirty="0">
                <a:solidFill>
                  <a:schemeClr val="bg1">
                    <a:lumMod val="85000"/>
                  </a:schemeClr>
                </a:solidFill>
                <a:latin typeface="JetBrains Mono Light" panose="02000009000000000000" pitchFamily="49" charset="0"/>
                <a:cs typeface="JetBrains Mono Light" panose="02000009000000000000" pitchFamily="49" charset="0"/>
              </a:rPr>
              <a:t>5</a:t>
            </a:r>
          </a:p>
        </p:txBody>
      </p:sp>
      <p:sp>
        <p:nvSpPr>
          <p:cNvPr id="128" name="Rectangle 127">
            <a:extLst>
              <a:ext uri="{FF2B5EF4-FFF2-40B4-BE49-F238E27FC236}">
                <a16:creationId xmlns:a16="http://schemas.microsoft.com/office/drawing/2014/main" id="{2A4B9B56-8E55-4D9D-BA75-9B7E54CB1605}"/>
              </a:ext>
            </a:extLst>
          </p:cNvPr>
          <p:cNvSpPr/>
          <p:nvPr/>
        </p:nvSpPr>
        <p:spPr>
          <a:xfrm rot="20979246">
            <a:off x="9497444" y="475985"/>
            <a:ext cx="682143" cy="292388"/>
          </a:xfrm>
          <a:prstGeom prst="rect">
            <a:avLst/>
          </a:prstGeom>
          <a:solidFill>
            <a:schemeClr val="tx1"/>
          </a:solidFill>
        </p:spPr>
        <p:txBody>
          <a:bodyPr wrap="square">
            <a:spAutoFit/>
          </a:bodyPr>
          <a:lstStyle/>
          <a:p>
            <a:r>
              <a:rPr lang="en-US" sz="1300" dirty="0">
                <a:solidFill>
                  <a:schemeClr val="bg1">
                    <a:lumMod val="85000"/>
                  </a:schemeClr>
                </a:solidFill>
                <a:latin typeface="JetBrains Mono Light" panose="02000009000000000000" pitchFamily="49" charset="0"/>
                <a:cs typeface="JetBrains Mono Light" panose="02000009000000000000" pitchFamily="49" charset="0"/>
              </a:rPr>
              <a:t>4.123</a:t>
            </a:r>
            <a:endParaRPr lang="en-VN" sz="1300" dirty="0">
              <a:solidFill>
                <a:schemeClr val="bg1">
                  <a:lumMod val="85000"/>
                </a:schemeClr>
              </a:solidFill>
              <a:latin typeface="JetBrains Mono Light" panose="02000009000000000000" pitchFamily="49" charset="0"/>
              <a:cs typeface="JetBrains Mono Light" panose="02000009000000000000" pitchFamily="49" charset="0"/>
            </a:endParaRPr>
          </a:p>
        </p:txBody>
      </p:sp>
      <p:sp>
        <p:nvSpPr>
          <p:cNvPr id="129" name="Rectangle 128">
            <a:extLst>
              <a:ext uri="{FF2B5EF4-FFF2-40B4-BE49-F238E27FC236}">
                <a16:creationId xmlns:a16="http://schemas.microsoft.com/office/drawing/2014/main" id="{5C3BC503-A44A-451B-BBAD-8003D0CBDBE0}"/>
              </a:ext>
            </a:extLst>
          </p:cNvPr>
          <p:cNvSpPr/>
          <p:nvPr/>
        </p:nvSpPr>
        <p:spPr>
          <a:xfrm rot="20151879">
            <a:off x="10865855" y="548248"/>
            <a:ext cx="813884" cy="292388"/>
          </a:xfrm>
          <a:prstGeom prst="rect">
            <a:avLst/>
          </a:prstGeom>
          <a:noFill/>
        </p:spPr>
        <p:txBody>
          <a:bodyPr wrap="square">
            <a:spAutoFit/>
          </a:bodyPr>
          <a:lstStyle/>
          <a:p>
            <a:r>
              <a:rPr lang="en-US" sz="1300" dirty="0">
                <a:solidFill>
                  <a:schemeClr val="bg1">
                    <a:lumMod val="85000"/>
                  </a:schemeClr>
                </a:solidFill>
                <a:latin typeface="JetBrains Mono Light" panose="02000009000000000000" pitchFamily="49" charset="0"/>
                <a:cs typeface="JetBrains Mono Light" panose="02000009000000000000" pitchFamily="49" charset="0"/>
              </a:rPr>
              <a:t>3.1623</a:t>
            </a:r>
            <a:endParaRPr lang="en-VN" sz="1300" dirty="0">
              <a:solidFill>
                <a:schemeClr val="bg1">
                  <a:lumMod val="85000"/>
                </a:schemeClr>
              </a:solidFill>
              <a:latin typeface="JetBrains Mono Light" panose="02000009000000000000" pitchFamily="49" charset="0"/>
              <a:cs typeface="JetBrains Mono Light" panose="02000009000000000000" pitchFamily="49" charset="0"/>
            </a:endParaRPr>
          </a:p>
        </p:txBody>
      </p:sp>
      <p:graphicFrame>
        <p:nvGraphicFramePr>
          <p:cNvPr id="51" name="Table 23">
            <a:extLst>
              <a:ext uri="{FF2B5EF4-FFF2-40B4-BE49-F238E27FC236}">
                <a16:creationId xmlns:a16="http://schemas.microsoft.com/office/drawing/2014/main" id="{621C6B5C-65D4-4B6C-A2E0-67E9DA8963D3}"/>
              </a:ext>
            </a:extLst>
          </p:cNvPr>
          <p:cNvGraphicFramePr>
            <a:graphicFrameLocks noGrp="1"/>
          </p:cNvGraphicFramePr>
          <p:nvPr/>
        </p:nvGraphicFramePr>
        <p:xfrm>
          <a:off x="8381192" y="2778165"/>
          <a:ext cx="3332131" cy="3352800"/>
        </p:xfrm>
        <a:graphic>
          <a:graphicData uri="http://schemas.openxmlformats.org/drawingml/2006/table">
            <a:tbl>
              <a:tblPr firstRow="1" bandRow="1">
                <a:solidFill>
                  <a:schemeClr val="tx1"/>
                </a:solidFill>
                <a:tableStyleId>{5C22544A-7EE6-4342-B048-85BDC9FD1C3A}</a:tableStyleId>
              </a:tblPr>
              <a:tblGrid>
                <a:gridCol w="1110710">
                  <a:extLst>
                    <a:ext uri="{9D8B030D-6E8A-4147-A177-3AD203B41FA5}">
                      <a16:colId xmlns:a16="http://schemas.microsoft.com/office/drawing/2014/main" val="3169142717"/>
                    </a:ext>
                  </a:extLst>
                </a:gridCol>
                <a:gridCol w="1230893">
                  <a:extLst>
                    <a:ext uri="{9D8B030D-6E8A-4147-A177-3AD203B41FA5}">
                      <a16:colId xmlns:a16="http://schemas.microsoft.com/office/drawing/2014/main" val="1783526670"/>
                    </a:ext>
                  </a:extLst>
                </a:gridCol>
                <a:gridCol w="990528">
                  <a:extLst>
                    <a:ext uri="{9D8B030D-6E8A-4147-A177-3AD203B41FA5}">
                      <a16:colId xmlns:a16="http://schemas.microsoft.com/office/drawing/2014/main" val="1055497685"/>
                    </a:ext>
                  </a:extLst>
                </a:gridCol>
              </a:tblGrid>
              <a:tr h="237981">
                <a:tc>
                  <a:txBody>
                    <a:bodyPr/>
                    <a:lstStyle/>
                    <a:p>
                      <a:pPr algn="ctr"/>
                      <a:r>
                        <a:rPr lang="en-VN" sz="1400" b="0" i="1" dirty="0">
                          <a:latin typeface="JetBrains Mono Light" panose="02000009000000000000"/>
                        </a:rPr>
                        <a:t>Cạnh</a:t>
                      </a: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VN" sz="1400" b="0" i="1" dirty="0">
                          <a:latin typeface="JetBrains Mono Light" panose="02000009000000000000"/>
                        </a:rPr>
                        <a:t>Độ dài</a:t>
                      </a: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VN" sz="1400" b="0" i="1" dirty="0">
                          <a:latin typeface="JetBrains Mono Light" panose="02000009000000000000"/>
                        </a:rPr>
                        <a:t>Thứ tự</a:t>
                      </a:r>
                    </a:p>
                  </a:txBody>
                  <a:tcP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113124420"/>
                  </a:ext>
                </a:extLst>
              </a:tr>
              <a:tr h="247471">
                <a:tc>
                  <a:txBody>
                    <a:bodyPr/>
                    <a:lstStyle/>
                    <a:p>
                      <a:r>
                        <a:rPr lang="en-VN" sz="1400" dirty="0">
                          <a:solidFill>
                            <a:schemeClr val="bg1"/>
                          </a:solidFill>
                          <a:latin typeface="JetBrains Mono Light" panose="02000009000000000000"/>
                        </a:rPr>
                        <a:t>AB</a:t>
                      </a:r>
                    </a:p>
                  </a:txBody>
                  <a:tcPr>
                    <a:lnT w="28575" cap="flat" cmpd="sng" algn="ctr">
                      <a:solidFill>
                        <a:schemeClr val="bg1"/>
                      </a:solidFill>
                      <a:prstDash val="solid"/>
                      <a:round/>
                      <a:headEnd type="none" w="med" len="med"/>
                      <a:tailEnd type="none" w="med" len="med"/>
                    </a:lnT>
                    <a:solidFill>
                      <a:schemeClr val="tx1"/>
                    </a:solidFill>
                  </a:tcPr>
                </a:tc>
                <a:tc>
                  <a:txBody>
                    <a:bodyPr/>
                    <a:lstStyle/>
                    <a:p>
                      <a:r>
                        <a:rPr lang="en-VN" sz="1400" dirty="0">
                          <a:solidFill>
                            <a:schemeClr val="bg1"/>
                          </a:solidFill>
                          <a:latin typeface="JetBrains Mono Light" panose="02000009000000000000"/>
                        </a:rPr>
                        <a:t>5</a:t>
                      </a:r>
                    </a:p>
                  </a:txBody>
                  <a:tcPr>
                    <a:lnT w="28575" cap="flat" cmpd="sng" algn="ctr">
                      <a:solidFill>
                        <a:schemeClr val="bg1"/>
                      </a:solidFill>
                      <a:prstDash val="solid"/>
                      <a:round/>
                      <a:headEnd type="none" w="med" len="med"/>
                      <a:tailEnd type="none" w="med" len="med"/>
                    </a:lnT>
                    <a:solidFill>
                      <a:schemeClr val="tx1"/>
                    </a:solidFill>
                  </a:tcPr>
                </a:tc>
                <a:tc>
                  <a:txBody>
                    <a:bodyPr/>
                    <a:lstStyle/>
                    <a:p>
                      <a:r>
                        <a:rPr lang="en-VN" sz="1400" dirty="0">
                          <a:solidFill>
                            <a:schemeClr val="bg1"/>
                          </a:solidFill>
                          <a:latin typeface="JetBrains Mono Light" panose="02000009000000000000"/>
                        </a:rPr>
                        <a:t>3</a:t>
                      </a:r>
                    </a:p>
                  </a:txBody>
                  <a:tcPr>
                    <a:lnT w="28575" cap="flat" cmpd="sng" algn="ctr">
                      <a:solidFill>
                        <a:schemeClr val="bg1"/>
                      </a:solidFill>
                      <a:prstDash val="solid"/>
                      <a:round/>
                      <a:headEnd type="none" w="med" len="med"/>
                      <a:tailEnd type="none" w="med" len="med"/>
                    </a:lnT>
                    <a:solidFill>
                      <a:schemeClr val="tx1"/>
                    </a:solidFill>
                  </a:tcPr>
                </a:tc>
                <a:extLst>
                  <a:ext uri="{0D108BD9-81ED-4DB2-BD59-A6C34878D82A}">
                    <a16:rowId xmlns:a16="http://schemas.microsoft.com/office/drawing/2014/main" val="22785313"/>
                  </a:ext>
                </a:extLst>
              </a:tr>
              <a:tr h="247471">
                <a:tc>
                  <a:txBody>
                    <a:bodyPr/>
                    <a:lstStyle/>
                    <a:p>
                      <a:r>
                        <a:rPr lang="en-VN" sz="1400" dirty="0">
                          <a:solidFill>
                            <a:schemeClr val="bg1"/>
                          </a:solidFill>
                          <a:latin typeface="JetBrains Mono Light" panose="02000009000000000000"/>
                        </a:rPr>
                        <a:t>AC</a:t>
                      </a:r>
                    </a:p>
                  </a:txBody>
                  <a:tcPr>
                    <a:solidFill>
                      <a:schemeClr val="tx1"/>
                    </a:solidFill>
                  </a:tcPr>
                </a:tc>
                <a:tc>
                  <a:txBody>
                    <a:bodyPr/>
                    <a:lstStyle/>
                    <a:p>
                      <a:r>
                        <a:rPr lang="en-VN" sz="1400" dirty="0">
                          <a:solidFill>
                            <a:schemeClr val="bg1"/>
                          </a:solidFill>
                          <a:latin typeface="JetBrains Mono Light" panose="02000009000000000000"/>
                        </a:rPr>
                        <a:t>7,211</a:t>
                      </a:r>
                    </a:p>
                  </a:txBody>
                  <a:tcPr>
                    <a:solidFill>
                      <a:schemeClr val="tx1"/>
                    </a:solidFill>
                  </a:tcPr>
                </a:tc>
                <a:tc>
                  <a:txBody>
                    <a:bodyPr/>
                    <a:lstStyle/>
                    <a:p>
                      <a:r>
                        <a:rPr lang="en-VN" sz="1400" dirty="0">
                          <a:solidFill>
                            <a:schemeClr val="bg1"/>
                          </a:solidFill>
                          <a:latin typeface="JetBrains Mono Light" panose="02000009000000000000"/>
                        </a:rPr>
                        <a:t>8</a:t>
                      </a:r>
                    </a:p>
                  </a:txBody>
                  <a:tcPr>
                    <a:solidFill>
                      <a:schemeClr val="tx1"/>
                    </a:solidFill>
                  </a:tcPr>
                </a:tc>
                <a:extLst>
                  <a:ext uri="{0D108BD9-81ED-4DB2-BD59-A6C34878D82A}">
                    <a16:rowId xmlns:a16="http://schemas.microsoft.com/office/drawing/2014/main" val="814018357"/>
                  </a:ext>
                </a:extLst>
              </a:tr>
              <a:tr h="247471">
                <a:tc>
                  <a:txBody>
                    <a:bodyPr/>
                    <a:lstStyle/>
                    <a:p>
                      <a:r>
                        <a:rPr lang="en-VN" sz="1400" dirty="0">
                          <a:solidFill>
                            <a:schemeClr val="bg1"/>
                          </a:solidFill>
                          <a:latin typeface="JetBrains Mono Light" panose="02000009000000000000"/>
                        </a:rPr>
                        <a:t>AD</a:t>
                      </a:r>
                    </a:p>
                  </a:txBody>
                  <a:tcPr>
                    <a:solidFill>
                      <a:schemeClr val="tx1"/>
                    </a:solidFill>
                  </a:tcPr>
                </a:tc>
                <a:tc>
                  <a:txBody>
                    <a:bodyPr/>
                    <a:lstStyle/>
                    <a:p>
                      <a:r>
                        <a:rPr lang="en-VN" sz="1400" dirty="0">
                          <a:solidFill>
                            <a:schemeClr val="bg1"/>
                          </a:solidFill>
                          <a:latin typeface="JetBrains Mono Light" panose="02000009000000000000"/>
                        </a:rPr>
                        <a:t>5,83</a:t>
                      </a:r>
                    </a:p>
                  </a:txBody>
                  <a:tcPr>
                    <a:solidFill>
                      <a:schemeClr val="tx1"/>
                    </a:solidFill>
                  </a:tcPr>
                </a:tc>
                <a:tc>
                  <a:txBody>
                    <a:bodyPr/>
                    <a:lstStyle/>
                    <a:p>
                      <a:r>
                        <a:rPr lang="en-VN" sz="1400" dirty="0">
                          <a:solidFill>
                            <a:schemeClr val="bg1"/>
                          </a:solidFill>
                          <a:latin typeface="JetBrains Mono Light" panose="02000009000000000000"/>
                        </a:rPr>
                        <a:t>7</a:t>
                      </a:r>
                    </a:p>
                  </a:txBody>
                  <a:tcPr>
                    <a:solidFill>
                      <a:schemeClr val="tx1"/>
                    </a:solidFill>
                  </a:tcPr>
                </a:tc>
                <a:extLst>
                  <a:ext uri="{0D108BD9-81ED-4DB2-BD59-A6C34878D82A}">
                    <a16:rowId xmlns:a16="http://schemas.microsoft.com/office/drawing/2014/main" val="2932822491"/>
                  </a:ext>
                </a:extLst>
              </a:tr>
              <a:tr h="247471">
                <a:tc>
                  <a:txBody>
                    <a:bodyPr/>
                    <a:lstStyle/>
                    <a:p>
                      <a:r>
                        <a:rPr lang="en-VN" sz="1400" dirty="0">
                          <a:solidFill>
                            <a:schemeClr val="bg1"/>
                          </a:solidFill>
                          <a:latin typeface="JetBrains Mono Light" panose="02000009000000000000"/>
                        </a:rPr>
                        <a:t>AE</a:t>
                      </a:r>
                    </a:p>
                  </a:txBody>
                  <a:tcPr>
                    <a:solidFill>
                      <a:schemeClr val="tx1"/>
                    </a:solidFill>
                  </a:tcPr>
                </a:tc>
                <a:tc>
                  <a:txBody>
                    <a:bodyPr/>
                    <a:lstStyle/>
                    <a:p>
                      <a:r>
                        <a:rPr lang="en-VN" sz="1400" dirty="0">
                          <a:solidFill>
                            <a:schemeClr val="bg1"/>
                          </a:solidFill>
                          <a:latin typeface="JetBrains Mono Light" panose="02000009000000000000"/>
                        </a:rPr>
                        <a:t>5,385</a:t>
                      </a:r>
                    </a:p>
                  </a:txBody>
                  <a:tcPr>
                    <a:solidFill>
                      <a:schemeClr val="tx1"/>
                    </a:solidFill>
                  </a:tcPr>
                </a:tc>
                <a:tc>
                  <a:txBody>
                    <a:bodyPr/>
                    <a:lstStyle/>
                    <a:p>
                      <a:r>
                        <a:rPr lang="en-VN" sz="1400" dirty="0">
                          <a:solidFill>
                            <a:schemeClr val="bg1"/>
                          </a:solidFill>
                          <a:latin typeface="JetBrains Mono Light" panose="02000009000000000000"/>
                        </a:rPr>
                        <a:t>5</a:t>
                      </a:r>
                    </a:p>
                  </a:txBody>
                  <a:tcPr>
                    <a:solidFill>
                      <a:schemeClr val="tx1"/>
                    </a:solidFill>
                  </a:tcPr>
                </a:tc>
                <a:extLst>
                  <a:ext uri="{0D108BD9-81ED-4DB2-BD59-A6C34878D82A}">
                    <a16:rowId xmlns:a16="http://schemas.microsoft.com/office/drawing/2014/main" val="3899136122"/>
                  </a:ext>
                </a:extLst>
              </a:tr>
              <a:tr h="247471">
                <a:tc>
                  <a:txBody>
                    <a:bodyPr/>
                    <a:lstStyle/>
                    <a:p>
                      <a:r>
                        <a:rPr lang="en-VN" sz="1400" dirty="0">
                          <a:solidFill>
                            <a:schemeClr val="bg1"/>
                          </a:solidFill>
                          <a:latin typeface="JetBrains Mono Light" panose="02000009000000000000"/>
                        </a:rPr>
                        <a:t>BC</a:t>
                      </a:r>
                    </a:p>
                  </a:txBody>
                  <a:tcPr>
                    <a:solidFill>
                      <a:schemeClr val="tx1"/>
                    </a:solidFill>
                  </a:tcPr>
                </a:tc>
                <a:tc>
                  <a:txBody>
                    <a:bodyPr/>
                    <a:lstStyle/>
                    <a:p>
                      <a:r>
                        <a:rPr lang="en-VN" sz="1400" dirty="0">
                          <a:solidFill>
                            <a:schemeClr val="bg1"/>
                          </a:solidFill>
                          <a:latin typeface="JetBrains Mono Light" panose="02000009000000000000"/>
                        </a:rPr>
                        <a:t>4,123</a:t>
                      </a:r>
                    </a:p>
                  </a:txBody>
                  <a:tcPr>
                    <a:solidFill>
                      <a:schemeClr val="tx1"/>
                    </a:solidFill>
                  </a:tcPr>
                </a:tc>
                <a:tc>
                  <a:txBody>
                    <a:bodyPr/>
                    <a:lstStyle/>
                    <a:p>
                      <a:r>
                        <a:rPr lang="en-VN" sz="1400" dirty="0">
                          <a:solidFill>
                            <a:schemeClr val="bg1"/>
                          </a:solidFill>
                          <a:latin typeface="JetBrains Mono Light" panose="02000009000000000000"/>
                        </a:rPr>
                        <a:t>2</a:t>
                      </a:r>
                    </a:p>
                  </a:txBody>
                  <a:tcPr>
                    <a:solidFill>
                      <a:schemeClr val="tx1"/>
                    </a:solidFill>
                  </a:tcPr>
                </a:tc>
                <a:extLst>
                  <a:ext uri="{0D108BD9-81ED-4DB2-BD59-A6C34878D82A}">
                    <a16:rowId xmlns:a16="http://schemas.microsoft.com/office/drawing/2014/main" val="2711536845"/>
                  </a:ext>
                </a:extLst>
              </a:tr>
              <a:tr h="247471">
                <a:tc>
                  <a:txBody>
                    <a:bodyPr/>
                    <a:lstStyle/>
                    <a:p>
                      <a:r>
                        <a:rPr lang="en-VN" sz="1400" dirty="0">
                          <a:solidFill>
                            <a:schemeClr val="bg1"/>
                          </a:solidFill>
                          <a:latin typeface="JetBrains Mono Light" panose="02000009000000000000"/>
                        </a:rPr>
                        <a:t>BD</a:t>
                      </a:r>
                    </a:p>
                  </a:txBody>
                  <a:tcPr>
                    <a:solidFill>
                      <a:schemeClr val="tx1"/>
                    </a:solidFill>
                  </a:tcPr>
                </a:tc>
                <a:tc>
                  <a:txBody>
                    <a:bodyPr/>
                    <a:lstStyle/>
                    <a:p>
                      <a:r>
                        <a:rPr lang="en-VN" sz="1400" dirty="0">
                          <a:solidFill>
                            <a:schemeClr val="bg1"/>
                          </a:solidFill>
                          <a:latin typeface="JetBrains Mono Light" panose="02000009000000000000"/>
                        </a:rPr>
                        <a:t>5,385</a:t>
                      </a:r>
                    </a:p>
                  </a:txBody>
                  <a:tcPr>
                    <a:solidFill>
                      <a:schemeClr val="tx1"/>
                    </a:solidFill>
                  </a:tcPr>
                </a:tc>
                <a:tc>
                  <a:txBody>
                    <a:bodyPr/>
                    <a:lstStyle/>
                    <a:p>
                      <a:r>
                        <a:rPr lang="en-VN" sz="1400" dirty="0">
                          <a:solidFill>
                            <a:schemeClr val="bg1"/>
                          </a:solidFill>
                          <a:latin typeface="JetBrains Mono Light" panose="02000009000000000000"/>
                        </a:rPr>
                        <a:t>5</a:t>
                      </a:r>
                    </a:p>
                  </a:txBody>
                  <a:tcPr>
                    <a:solidFill>
                      <a:schemeClr val="tx1"/>
                    </a:solidFill>
                  </a:tcPr>
                </a:tc>
                <a:extLst>
                  <a:ext uri="{0D108BD9-81ED-4DB2-BD59-A6C34878D82A}">
                    <a16:rowId xmlns:a16="http://schemas.microsoft.com/office/drawing/2014/main" val="3872908831"/>
                  </a:ext>
                </a:extLst>
              </a:tr>
              <a:tr h="247471">
                <a:tc>
                  <a:txBody>
                    <a:bodyPr/>
                    <a:lstStyle/>
                    <a:p>
                      <a:r>
                        <a:rPr lang="en-VN" sz="1400" dirty="0">
                          <a:solidFill>
                            <a:schemeClr val="bg1"/>
                          </a:solidFill>
                          <a:latin typeface="JetBrains Mono Light" panose="02000009000000000000"/>
                        </a:rPr>
                        <a:t>BE</a:t>
                      </a:r>
                    </a:p>
                  </a:txBody>
                  <a:tcPr>
                    <a:solidFill>
                      <a:schemeClr val="tx1"/>
                    </a:solidFill>
                  </a:tcPr>
                </a:tc>
                <a:tc>
                  <a:txBody>
                    <a:bodyPr/>
                    <a:lstStyle/>
                    <a:p>
                      <a:r>
                        <a:rPr lang="en-VN" sz="1400" dirty="0">
                          <a:solidFill>
                            <a:schemeClr val="bg1"/>
                          </a:solidFill>
                          <a:latin typeface="JetBrains Mono Light" panose="02000009000000000000"/>
                        </a:rPr>
                        <a:t>8,6</a:t>
                      </a:r>
                    </a:p>
                  </a:txBody>
                  <a:tcPr>
                    <a:solidFill>
                      <a:schemeClr val="tx1"/>
                    </a:solidFill>
                  </a:tcPr>
                </a:tc>
                <a:tc>
                  <a:txBody>
                    <a:bodyPr/>
                    <a:lstStyle/>
                    <a:p>
                      <a:r>
                        <a:rPr lang="en-VN" sz="1400" dirty="0">
                          <a:solidFill>
                            <a:schemeClr val="bg1"/>
                          </a:solidFill>
                          <a:latin typeface="JetBrains Mono Light" panose="02000009000000000000"/>
                        </a:rPr>
                        <a:t>10</a:t>
                      </a:r>
                    </a:p>
                  </a:txBody>
                  <a:tcPr>
                    <a:solidFill>
                      <a:schemeClr val="tx1"/>
                    </a:solidFill>
                  </a:tcPr>
                </a:tc>
                <a:extLst>
                  <a:ext uri="{0D108BD9-81ED-4DB2-BD59-A6C34878D82A}">
                    <a16:rowId xmlns:a16="http://schemas.microsoft.com/office/drawing/2014/main" val="2274647468"/>
                  </a:ext>
                </a:extLst>
              </a:tr>
              <a:tr h="247471">
                <a:tc>
                  <a:txBody>
                    <a:bodyPr/>
                    <a:lstStyle/>
                    <a:p>
                      <a:r>
                        <a:rPr lang="en-VN" sz="1400" dirty="0">
                          <a:solidFill>
                            <a:schemeClr val="bg1"/>
                          </a:solidFill>
                          <a:latin typeface="JetBrains Mono Light" panose="02000009000000000000"/>
                        </a:rPr>
                        <a:t>CD</a:t>
                      </a:r>
                    </a:p>
                  </a:txBody>
                  <a:tcPr>
                    <a:solidFill>
                      <a:schemeClr val="tx1"/>
                    </a:solidFill>
                  </a:tcPr>
                </a:tc>
                <a:tc>
                  <a:txBody>
                    <a:bodyPr/>
                    <a:lstStyle/>
                    <a:p>
                      <a:r>
                        <a:rPr lang="en-VN" sz="1400" dirty="0">
                          <a:solidFill>
                            <a:schemeClr val="bg1"/>
                          </a:solidFill>
                          <a:latin typeface="JetBrains Mono Light" panose="02000009000000000000"/>
                        </a:rPr>
                        <a:t>3,1623</a:t>
                      </a:r>
                    </a:p>
                  </a:txBody>
                  <a:tcPr>
                    <a:solidFill>
                      <a:schemeClr val="tx1"/>
                    </a:solidFill>
                  </a:tcPr>
                </a:tc>
                <a:tc>
                  <a:txBody>
                    <a:bodyPr/>
                    <a:lstStyle/>
                    <a:p>
                      <a:r>
                        <a:rPr lang="en-VN" sz="1400" dirty="0">
                          <a:solidFill>
                            <a:schemeClr val="bg1"/>
                          </a:solidFill>
                          <a:latin typeface="JetBrains Mono Light" panose="02000009000000000000"/>
                        </a:rPr>
                        <a:t>1</a:t>
                      </a:r>
                    </a:p>
                  </a:txBody>
                  <a:tcPr>
                    <a:solidFill>
                      <a:schemeClr val="tx1"/>
                    </a:solidFill>
                  </a:tcPr>
                </a:tc>
                <a:extLst>
                  <a:ext uri="{0D108BD9-81ED-4DB2-BD59-A6C34878D82A}">
                    <a16:rowId xmlns:a16="http://schemas.microsoft.com/office/drawing/2014/main" val="3042548905"/>
                  </a:ext>
                </a:extLst>
              </a:tr>
              <a:tr h="247471">
                <a:tc>
                  <a:txBody>
                    <a:bodyPr/>
                    <a:lstStyle/>
                    <a:p>
                      <a:r>
                        <a:rPr lang="en-VN" sz="1400" dirty="0">
                          <a:solidFill>
                            <a:schemeClr val="bg1"/>
                          </a:solidFill>
                          <a:latin typeface="JetBrains Mono Light" panose="02000009000000000000"/>
                        </a:rPr>
                        <a:t>CE</a:t>
                      </a:r>
                    </a:p>
                  </a:txBody>
                  <a:tcPr>
                    <a:solidFill>
                      <a:schemeClr val="tx1"/>
                    </a:solidFill>
                  </a:tcPr>
                </a:tc>
                <a:tc>
                  <a:txBody>
                    <a:bodyPr/>
                    <a:lstStyle/>
                    <a:p>
                      <a:r>
                        <a:rPr lang="en-VN" sz="1400" dirty="0">
                          <a:solidFill>
                            <a:schemeClr val="bg1"/>
                          </a:solidFill>
                          <a:latin typeface="JetBrains Mono Light" panose="02000009000000000000"/>
                        </a:rPr>
                        <a:t>8,0623</a:t>
                      </a:r>
                    </a:p>
                  </a:txBody>
                  <a:tcPr>
                    <a:solidFill>
                      <a:schemeClr val="tx1"/>
                    </a:solidFill>
                  </a:tcPr>
                </a:tc>
                <a:tc>
                  <a:txBody>
                    <a:bodyPr/>
                    <a:lstStyle/>
                    <a:p>
                      <a:r>
                        <a:rPr lang="en-VN" sz="1400" dirty="0">
                          <a:solidFill>
                            <a:schemeClr val="bg1"/>
                          </a:solidFill>
                          <a:latin typeface="JetBrains Mono Light" panose="02000009000000000000"/>
                        </a:rPr>
                        <a:t>9</a:t>
                      </a:r>
                    </a:p>
                  </a:txBody>
                  <a:tcPr>
                    <a:solidFill>
                      <a:schemeClr val="tx1"/>
                    </a:solidFill>
                  </a:tcPr>
                </a:tc>
                <a:extLst>
                  <a:ext uri="{0D108BD9-81ED-4DB2-BD59-A6C34878D82A}">
                    <a16:rowId xmlns:a16="http://schemas.microsoft.com/office/drawing/2014/main" val="1373560892"/>
                  </a:ext>
                </a:extLst>
              </a:tr>
              <a:tr h="247471">
                <a:tc>
                  <a:txBody>
                    <a:bodyPr/>
                    <a:lstStyle/>
                    <a:p>
                      <a:r>
                        <a:rPr lang="en-VN" sz="1400" dirty="0">
                          <a:solidFill>
                            <a:schemeClr val="bg1"/>
                          </a:solidFill>
                          <a:latin typeface="JetBrains Mono Light" panose="02000009000000000000"/>
                        </a:rPr>
                        <a:t>DE</a:t>
                      </a:r>
                    </a:p>
                  </a:txBody>
                  <a:tcPr>
                    <a:solidFill>
                      <a:schemeClr val="tx1"/>
                    </a:solidFill>
                  </a:tcPr>
                </a:tc>
                <a:tc>
                  <a:txBody>
                    <a:bodyPr/>
                    <a:lstStyle/>
                    <a:p>
                      <a:r>
                        <a:rPr lang="en-VN" sz="1400" dirty="0">
                          <a:solidFill>
                            <a:schemeClr val="bg1"/>
                          </a:solidFill>
                          <a:latin typeface="JetBrains Mono Light" panose="02000009000000000000"/>
                        </a:rPr>
                        <a:t>5</a:t>
                      </a:r>
                    </a:p>
                  </a:txBody>
                  <a:tcPr>
                    <a:solidFill>
                      <a:schemeClr val="tx1"/>
                    </a:solidFill>
                  </a:tcPr>
                </a:tc>
                <a:tc>
                  <a:txBody>
                    <a:bodyPr/>
                    <a:lstStyle/>
                    <a:p>
                      <a:r>
                        <a:rPr lang="en-VN" sz="1400" dirty="0">
                          <a:solidFill>
                            <a:schemeClr val="bg1"/>
                          </a:solidFill>
                          <a:latin typeface="JetBrains Mono Light" panose="02000009000000000000"/>
                        </a:rPr>
                        <a:t>3</a:t>
                      </a:r>
                    </a:p>
                  </a:txBody>
                  <a:tcPr>
                    <a:solidFill>
                      <a:schemeClr val="tx1"/>
                    </a:solidFill>
                  </a:tcPr>
                </a:tc>
                <a:extLst>
                  <a:ext uri="{0D108BD9-81ED-4DB2-BD59-A6C34878D82A}">
                    <a16:rowId xmlns:a16="http://schemas.microsoft.com/office/drawing/2014/main" val="1889463362"/>
                  </a:ext>
                </a:extLst>
              </a:tr>
            </a:tbl>
          </a:graphicData>
        </a:graphic>
      </p:graphicFrame>
      <p:sp>
        <p:nvSpPr>
          <p:cNvPr id="57" name="TextBox 56">
            <a:extLst>
              <a:ext uri="{FF2B5EF4-FFF2-40B4-BE49-F238E27FC236}">
                <a16:creationId xmlns:a16="http://schemas.microsoft.com/office/drawing/2014/main" id="{8565724F-1C35-4EC6-A787-93BEDF80412F}"/>
              </a:ext>
            </a:extLst>
          </p:cNvPr>
          <p:cNvSpPr txBox="1"/>
          <p:nvPr/>
        </p:nvSpPr>
        <p:spPr>
          <a:xfrm>
            <a:off x="954962" y="1766464"/>
            <a:ext cx="1166008" cy="369332"/>
          </a:xfrm>
          <a:prstGeom prst="rect">
            <a:avLst/>
          </a:prstGeom>
          <a:noFill/>
          <a:ln>
            <a:solidFill>
              <a:schemeClr val="bg1">
                <a:lumMod val="50000"/>
              </a:schemeClr>
            </a:solidFill>
          </a:ln>
        </p:spPr>
        <p:txBody>
          <a:bodyPr wrap="square" rtlCol="0">
            <a:spAutoFit/>
          </a:bodyPr>
          <a:lstStyle/>
          <a:p>
            <a:pPr algn="ctr"/>
            <a:r>
              <a:rPr lang="en-US" i="1" dirty="0" err="1">
                <a:solidFill>
                  <a:schemeClr val="bg1">
                    <a:lumMod val="50000"/>
                  </a:schemeClr>
                </a:solidFill>
                <a:latin typeface="JetBrains Mono Medium" panose="02000009000000000000" pitchFamily="49" charset="0"/>
                <a:cs typeface="JetBrains Mono Medium" panose="02000009000000000000" pitchFamily="49" charset="0"/>
              </a:rPr>
              <a:t>Lặp</a:t>
            </a:r>
            <a:r>
              <a:rPr lang="en-US" i="1" dirty="0">
                <a:solidFill>
                  <a:schemeClr val="bg1">
                    <a:lumMod val="50000"/>
                  </a:schemeClr>
                </a:solidFill>
                <a:latin typeface="JetBrains Mono Medium" panose="02000009000000000000" pitchFamily="49" charset="0"/>
                <a:cs typeface="JetBrains Mono Medium" panose="02000009000000000000" pitchFamily="49" charset="0"/>
              </a:rPr>
              <a:t> </a:t>
            </a:r>
            <a:r>
              <a:rPr lang="en-US" i="1" dirty="0" err="1">
                <a:solidFill>
                  <a:schemeClr val="bg1">
                    <a:lumMod val="50000"/>
                  </a:schemeClr>
                </a:solidFill>
                <a:latin typeface="JetBrains Mono Medium" panose="02000009000000000000" pitchFamily="49" charset="0"/>
                <a:cs typeface="JetBrains Mono Medium" panose="02000009000000000000" pitchFamily="49" charset="0"/>
              </a:rPr>
              <a:t>lại</a:t>
            </a:r>
            <a:endParaRPr lang="en-US" i="1" dirty="0">
              <a:solidFill>
                <a:schemeClr val="bg1">
                  <a:lumMod val="50000"/>
                </a:schemeClr>
              </a:solidFill>
              <a:latin typeface="JetBrains Mono Medium" panose="02000009000000000000" pitchFamily="49" charset="0"/>
              <a:cs typeface="JetBrains Mono Medium" panose="02000009000000000000" pitchFamily="49" charset="0"/>
            </a:endParaRPr>
          </a:p>
        </p:txBody>
      </p:sp>
      <p:sp>
        <p:nvSpPr>
          <p:cNvPr id="59" name="TextBox 58">
            <a:extLst>
              <a:ext uri="{FF2B5EF4-FFF2-40B4-BE49-F238E27FC236}">
                <a16:creationId xmlns:a16="http://schemas.microsoft.com/office/drawing/2014/main" id="{48652DF7-AA96-4988-8855-60723552F0CA}"/>
              </a:ext>
            </a:extLst>
          </p:cNvPr>
          <p:cNvSpPr txBox="1"/>
          <p:nvPr/>
        </p:nvSpPr>
        <p:spPr>
          <a:xfrm>
            <a:off x="2273369" y="1765902"/>
            <a:ext cx="5726463" cy="646331"/>
          </a:xfrm>
          <a:prstGeom prst="rect">
            <a:avLst/>
          </a:prstGeom>
          <a:noFill/>
        </p:spPr>
        <p:txBody>
          <a:bodyPr wrap="square" rtlCol="0">
            <a:spAutoFit/>
          </a:bodyPr>
          <a:lstStyle/>
          <a:p>
            <a:r>
              <a:rPr lang="en-US" sz="1800" i="1" dirty="0">
                <a:solidFill>
                  <a:schemeClr val="bg1">
                    <a:lumMod val="50000"/>
                  </a:schemeClr>
                </a:solidFill>
                <a:effectLst/>
                <a:latin typeface="JetBrains Mono Light" panose="02000009000000000000" pitchFamily="49" charset="0"/>
                <a:ea typeface="Times New Roman" panose="02020603050405020304" pitchFamily="18" charset="0"/>
                <a:cs typeface="JetBrains Mono Light" panose="02000009000000000000" pitchFamily="49" charset="0"/>
              </a:rPr>
              <a:t>-→ </a:t>
            </a:r>
            <a:r>
              <a:rPr lang="vi-VN" i="1" dirty="0">
                <a:solidFill>
                  <a:schemeClr val="bg1">
                    <a:lumMod val="50000"/>
                  </a:schemeClr>
                </a:solidFill>
                <a:latin typeface="JetBrains Mono Light" panose="02000009000000000000" pitchFamily="49" charset="0"/>
                <a:cs typeface="JetBrains Mono Light" panose="02000009000000000000" pitchFamily="49" charset="0"/>
              </a:rPr>
              <a:t>chọn được n-1 cạnh</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vi-VN" i="1" dirty="0">
                <a:solidFill>
                  <a:schemeClr val="bg1">
                    <a:lumMod val="50000"/>
                  </a:schemeClr>
                </a:solidFill>
                <a:latin typeface="JetBrains Mono Light" panose="02000009000000000000" pitchFamily="49" charset="0"/>
                <a:cs typeface="JetBrains Mono Light" panose="02000009000000000000" pitchFamily="49" charset="0"/>
              </a:rPr>
              <a:t>suy ra được đường đi</a:t>
            </a:r>
            <a:endParaRPr lang="en-US" i="1"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60" name="TextBox 59">
            <a:extLst>
              <a:ext uri="{FF2B5EF4-FFF2-40B4-BE49-F238E27FC236}">
                <a16:creationId xmlns:a16="http://schemas.microsoft.com/office/drawing/2014/main" id="{023C50FC-10AA-4AB8-9B7D-FEFE47A61D15}"/>
              </a:ext>
            </a:extLst>
          </p:cNvPr>
          <p:cNvSpPr txBox="1"/>
          <p:nvPr/>
        </p:nvSpPr>
        <p:spPr>
          <a:xfrm>
            <a:off x="907487" y="2431693"/>
            <a:ext cx="7092345" cy="646331"/>
          </a:xfrm>
          <a:prstGeom prst="rect">
            <a:avLst/>
          </a:prstGeom>
          <a:noFill/>
        </p:spPr>
        <p:txBody>
          <a:bodyPr wrap="square" rtlCol="0">
            <a:spAutoFit/>
          </a:bodyPr>
          <a:lstStyle/>
          <a:p>
            <a:r>
              <a:rPr lang="vi-VN" i="1" dirty="0">
                <a:solidFill>
                  <a:schemeClr val="bg1">
                    <a:lumMod val="50000"/>
                  </a:schemeClr>
                </a:solidFill>
                <a:latin typeface="JetBrains Mono Light" panose="02000009000000000000" pitchFamily="49" charset="0"/>
                <a:cs typeface="JetBrains Mono Light" panose="02000009000000000000" pitchFamily="49" charset="0"/>
              </a:rPr>
              <a:t>Tìm cạnh thứ n tạo thành chu trình với n-1 cạnh đã chọn</a:t>
            </a:r>
            <a:r>
              <a:rPr lang="en-US" i="1" dirty="0">
                <a:solidFill>
                  <a:schemeClr val="bg1">
                    <a:lumMod val="50000"/>
                  </a:schemeClr>
                </a:solidFill>
                <a:latin typeface="JetBrains Mono Light" panose="02000009000000000000" pitchFamily="49" charset="0"/>
                <a:cs typeface="JetBrains Mono Light" panose="02000009000000000000" pitchFamily="49" charset="0"/>
              </a:rPr>
              <a:t> ta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sẽ</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suy</a:t>
            </a:r>
            <a:r>
              <a:rPr lang="en-US" i="1" dirty="0">
                <a:solidFill>
                  <a:schemeClr val="bg1">
                    <a:lumMod val="50000"/>
                  </a:schemeClr>
                </a:solidFill>
                <a:latin typeface="JetBrains Mono Light" panose="02000009000000000000" pitchFamily="49" charset="0"/>
                <a:cs typeface="JetBrains Mono Light" panose="02000009000000000000" pitchFamily="49" charset="0"/>
              </a:rPr>
              <a:t> ra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được</a:t>
            </a:r>
            <a:r>
              <a:rPr lang="en-US" i="1" dirty="0">
                <a:solidFill>
                  <a:schemeClr val="bg1">
                    <a:lumMod val="50000"/>
                  </a:schemeClr>
                </a:solidFill>
                <a:latin typeface="JetBrains Mono Light" panose="02000009000000000000" pitchFamily="49" charset="0"/>
                <a:cs typeface="JetBrains Mono Light" panose="02000009000000000000" pitchFamily="49" charset="0"/>
              </a:rPr>
              <a:t> chu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trình</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của</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chúng</a:t>
            </a:r>
            <a:r>
              <a:rPr lang="en-US" i="1" dirty="0">
                <a:solidFill>
                  <a:schemeClr val="bg1">
                    <a:lumMod val="50000"/>
                  </a:schemeClr>
                </a:solidFill>
                <a:latin typeface="JetBrains Mono Light" panose="02000009000000000000" pitchFamily="49" charset="0"/>
                <a:cs typeface="JetBrains Mono Light" panose="02000009000000000000" pitchFamily="49" charset="0"/>
              </a:rPr>
              <a:t>.</a:t>
            </a:r>
          </a:p>
        </p:txBody>
      </p:sp>
      <p:sp>
        <p:nvSpPr>
          <p:cNvPr id="63" name="Rectangle 62">
            <a:extLst>
              <a:ext uri="{FF2B5EF4-FFF2-40B4-BE49-F238E27FC236}">
                <a16:creationId xmlns:a16="http://schemas.microsoft.com/office/drawing/2014/main" id="{A340722A-ACCA-4B2B-8713-C220D9B7BE7A}"/>
              </a:ext>
            </a:extLst>
          </p:cNvPr>
          <p:cNvSpPr/>
          <p:nvPr/>
        </p:nvSpPr>
        <p:spPr>
          <a:xfrm>
            <a:off x="1342731" y="3913179"/>
            <a:ext cx="1202685" cy="346752"/>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4DF14574-B97C-49CB-8BCD-A78B93CE6143}"/>
              </a:ext>
            </a:extLst>
          </p:cNvPr>
          <p:cNvSpPr txBox="1"/>
          <p:nvPr/>
        </p:nvSpPr>
        <p:spPr>
          <a:xfrm>
            <a:off x="1342731" y="3906357"/>
            <a:ext cx="1217417" cy="369332"/>
          </a:xfrm>
          <a:prstGeom prst="rect">
            <a:avLst/>
          </a:prstGeom>
          <a:noFill/>
        </p:spPr>
        <p:txBody>
          <a:bodyPr wrap="square" rtlCol="0">
            <a:spAutoFit/>
          </a:bodyPr>
          <a:lstStyle/>
          <a:p>
            <a:pPr algn="ctr"/>
            <a:r>
              <a:rPr lang="en-US" dirty="0" err="1">
                <a:solidFill>
                  <a:schemeClr val="bg1"/>
                </a:solidFill>
                <a:latin typeface="JetBrains Mono Regular" panose="02000009000000000000" pitchFamily="49" charset="0"/>
                <a:cs typeface="JetBrains Mono Regular" panose="02000009000000000000" pitchFamily="49" charset="0"/>
              </a:rPr>
              <a:t>Ưu</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điểm</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65" name="TextBox 64">
            <a:extLst>
              <a:ext uri="{FF2B5EF4-FFF2-40B4-BE49-F238E27FC236}">
                <a16:creationId xmlns:a16="http://schemas.microsoft.com/office/drawing/2014/main" id="{F2692741-3D9B-410F-B301-C299BF9821CC}"/>
              </a:ext>
            </a:extLst>
          </p:cNvPr>
          <p:cNvSpPr txBox="1"/>
          <p:nvPr/>
        </p:nvSpPr>
        <p:spPr>
          <a:xfrm>
            <a:off x="2812262" y="3878010"/>
            <a:ext cx="3437983" cy="646331"/>
          </a:xfrm>
          <a:prstGeom prst="rect">
            <a:avLst/>
          </a:prstGeom>
          <a:noFill/>
        </p:spPr>
        <p:txBody>
          <a:bodyPr wrap="square" rtlCol="0">
            <a:spAutoFit/>
          </a:bodyPr>
          <a:lstStyle/>
          <a:p>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Ngắn</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gọn</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Với</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n &gt;= 5)</a:t>
            </a:r>
          </a:p>
          <a:p>
            <a:endParaRPr lang="en-US" dirty="0">
              <a:latin typeface="JetBrains Mono Light" panose="02000009000000000000" pitchFamily="49" charset="0"/>
              <a:cs typeface="JetBrains Mono Light" panose="02000009000000000000" pitchFamily="49" charset="0"/>
            </a:endParaRPr>
          </a:p>
        </p:txBody>
      </p:sp>
      <p:sp>
        <p:nvSpPr>
          <p:cNvPr id="66" name="Rectangle 65">
            <a:extLst>
              <a:ext uri="{FF2B5EF4-FFF2-40B4-BE49-F238E27FC236}">
                <a16:creationId xmlns:a16="http://schemas.microsoft.com/office/drawing/2014/main" id="{B78B659F-E63A-4D2F-B378-894413405686}"/>
              </a:ext>
            </a:extLst>
          </p:cNvPr>
          <p:cNvSpPr/>
          <p:nvPr/>
        </p:nvSpPr>
        <p:spPr>
          <a:xfrm>
            <a:off x="958878" y="4727443"/>
            <a:ext cx="1601270" cy="3467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68261A31-A786-4A1F-82C7-36D3359AA774}"/>
              </a:ext>
            </a:extLst>
          </p:cNvPr>
          <p:cNvSpPr txBox="1"/>
          <p:nvPr/>
        </p:nvSpPr>
        <p:spPr>
          <a:xfrm>
            <a:off x="944146" y="4730558"/>
            <a:ext cx="1616002" cy="369332"/>
          </a:xfrm>
          <a:prstGeom prst="rect">
            <a:avLst/>
          </a:prstGeom>
          <a:noFill/>
        </p:spPr>
        <p:txBody>
          <a:bodyPr wrap="square" rtlCol="0">
            <a:spAutoFit/>
          </a:bodyPr>
          <a:lstStyle/>
          <a:p>
            <a:pPr algn="ctr"/>
            <a:r>
              <a:rPr lang="en-US" dirty="0" err="1">
                <a:solidFill>
                  <a:schemeClr val="bg1"/>
                </a:solidFill>
                <a:latin typeface="JetBrains Mono" panose="02000009000000000000" pitchFamily="49" charset="0"/>
                <a:cs typeface="JetBrains Mono" panose="02000009000000000000" pitchFamily="49" charset="0"/>
              </a:rPr>
              <a:t>Nhược</a:t>
            </a:r>
            <a:r>
              <a:rPr lang="en-US" dirty="0">
                <a:solidFill>
                  <a:schemeClr val="bg1"/>
                </a:solidFill>
                <a:latin typeface="JetBrains Mono" panose="02000009000000000000" pitchFamily="49" charset="0"/>
                <a:cs typeface="JetBrains Mono" panose="02000009000000000000" pitchFamily="49" charset="0"/>
              </a:rPr>
              <a:t> </a:t>
            </a:r>
            <a:r>
              <a:rPr lang="en-US" dirty="0" err="1">
                <a:solidFill>
                  <a:schemeClr val="bg1"/>
                </a:solidFill>
                <a:latin typeface="JetBrains Mono" panose="02000009000000000000" pitchFamily="49" charset="0"/>
                <a:cs typeface="JetBrains Mono" panose="02000009000000000000" pitchFamily="49" charset="0"/>
              </a:rPr>
              <a:t>điểm</a:t>
            </a:r>
            <a:endParaRPr lang="en-US" dirty="0">
              <a:solidFill>
                <a:schemeClr val="bg1"/>
              </a:solidFill>
              <a:latin typeface="JetBrains Mono" panose="02000009000000000000" pitchFamily="49" charset="0"/>
              <a:cs typeface="JetBrains Mono" panose="02000009000000000000" pitchFamily="49" charset="0"/>
            </a:endParaRPr>
          </a:p>
        </p:txBody>
      </p:sp>
      <p:sp>
        <p:nvSpPr>
          <p:cNvPr id="68" name="TextBox 67">
            <a:extLst>
              <a:ext uri="{FF2B5EF4-FFF2-40B4-BE49-F238E27FC236}">
                <a16:creationId xmlns:a16="http://schemas.microsoft.com/office/drawing/2014/main" id="{DACC517D-6C5A-4FD0-A95C-BF59F2BE48D0}"/>
              </a:ext>
            </a:extLst>
          </p:cNvPr>
          <p:cNvSpPr txBox="1"/>
          <p:nvPr/>
        </p:nvSpPr>
        <p:spPr>
          <a:xfrm>
            <a:off x="2812263" y="4731694"/>
            <a:ext cx="5061549" cy="369332"/>
          </a:xfrm>
          <a:prstGeom prst="rect">
            <a:avLst/>
          </a:prstGeom>
          <a:noFill/>
        </p:spPr>
        <p:txBody>
          <a:bodyPr wrap="square" rtlCol="0">
            <a:spAutoFit/>
          </a:bodyPr>
          <a:lstStyle/>
          <a:p>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Chưa</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chắc</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tìm</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được</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phương</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án</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tối</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ưu</a:t>
            </a:r>
            <a:endParaRPr lang="en-US" dirty="0">
              <a:latin typeface="JetBrains Mono Light" panose="02000009000000000000" pitchFamily="49" charset="0"/>
              <a:cs typeface="JetBrains Mono Light" panose="02000009000000000000" pitchFamily="49" charset="0"/>
            </a:endParaRPr>
          </a:p>
        </p:txBody>
      </p:sp>
    </p:spTree>
    <p:extLst>
      <p:ext uri="{BB962C8B-B14F-4D97-AF65-F5344CB8AC3E}">
        <p14:creationId xmlns:p14="http://schemas.microsoft.com/office/powerpoint/2010/main" val="37120217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500"/>
                                        <p:tgtEl>
                                          <p:spTgt spid="6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3"/>
                                        </p:tgtEl>
                                        <p:attrNameLst>
                                          <p:attrName>style.visibility</p:attrName>
                                        </p:attrNameLst>
                                      </p:cBhvr>
                                      <p:to>
                                        <p:strVal val="visible"/>
                                      </p:to>
                                    </p:set>
                                    <p:animEffect transition="in" filter="fade">
                                      <p:cBhvr>
                                        <p:cTn id="10" dur="500"/>
                                        <p:tgtEl>
                                          <p:spTgt spid="6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5"/>
                                        </p:tgtEl>
                                        <p:attrNameLst>
                                          <p:attrName>style.visibility</p:attrName>
                                        </p:attrNameLst>
                                      </p:cBhvr>
                                      <p:to>
                                        <p:strVal val="visible"/>
                                      </p:to>
                                    </p:set>
                                    <p:animEffect transition="in" filter="fade">
                                      <p:cBhvr>
                                        <p:cTn id="15" dur="500"/>
                                        <p:tgtEl>
                                          <p:spTgt spid="6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7"/>
                                        </p:tgtEl>
                                        <p:attrNameLst>
                                          <p:attrName>style.visibility</p:attrName>
                                        </p:attrNameLst>
                                      </p:cBhvr>
                                      <p:to>
                                        <p:strVal val="visible"/>
                                      </p:to>
                                    </p:set>
                                    <p:animEffect transition="in" filter="fade">
                                      <p:cBhvr>
                                        <p:cTn id="20" dur="500"/>
                                        <p:tgtEl>
                                          <p:spTgt spid="6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6"/>
                                        </p:tgtEl>
                                        <p:attrNameLst>
                                          <p:attrName>style.visibility</p:attrName>
                                        </p:attrNameLst>
                                      </p:cBhvr>
                                      <p:to>
                                        <p:strVal val="visible"/>
                                      </p:to>
                                    </p:set>
                                    <p:animEffect transition="in" filter="fade">
                                      <p:cBhvr>
                                        <p:cTn id="23" dur="500"/>
                                        <p:tgtEl>
                                          <p:spTgt spid="6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68"/>
                                        </p:tgtEl>
                                        <p:attrNameLst>
                                          <p:attrName>style.visibility</p:attrName>
                                        </p:attrNameLst>
                                      </p:cBhvr>
                                      <p:to>
                                        <p:strVal val="visible"/>
                                      </p:to>
                                    </p:set>
                                    <p:animEffect transition="in" filter="fade">
                                      <p:cBhvr>
                                        <p:cTn id="28"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64" grpId="0" animBg="1"/>
      <p:bldP spid="65" grpId="0"/>
      <p:bldP spid="66" grpId="0" animBg="1"/>
      <p:bldP spid="67" grpId="0"/>
      <p:bldP spid="6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D8D-27A9-445B-A903-31480DAE5A0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A4CEFEF-21E2-4A87-B6F1-BDFE7B81E176}"/>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5700A0F7-5D1D-4B6C-B56F-65AA089F0A09}"/>
              </a:ext>
            </a:extLst>
          </p:cNvPr>
          <p:cNvSpPr/>
          <p:nvPr/>
        </p:nvSpPr>
        <p:spPr>
          <a:xfrm>
            <a:off x="0" y="693"/>
            <a:ext cx="12192000" cy="68608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5" name="Credit MAIN">
            <a:extLst>
              <a:ext uri="{FF2B5EF4-FFF2-40B4-BE49-F238E27FC236}">
                <a16:creationId xmlns:a16="http://schemas.microsoft.com/office/drawing/2014/main" id="{28D27C79-D182-4A6F-9154-32EF17A98C5A}"/>
              </a:ext>
            </a:extLst>
          </p:cNvPr>
          <p:cNvSpPr txBox="1"/>
          <p:nvPr/>
        </p:nvSpPr>
        <p:spPr>
          <a:xfrm>
            <a:off x="50878" y="6432004"/>
            <a:ext cx="2668876"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Phạm</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Văn</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Quyết</a:t>
            </a:r>
            <a:endParaRPr lang="en-US" dirty="0">
              <a:solidFill>
                <a:schemeClr val="bg1">
                  <a:lumMod val="95000"/>
                  <a:alpha val="46000"/>
                </a:schemeClr>
              </a:solidFill>
            </a:endParaRPr>
          </a:p>
        </p:txBody>
      </p:sp>
      <p:sp>
        <p:nvSpPr>
          <p:cNvPr id="6" name="Header">
            <a:extLst>
              <a:ext uri="{FF2B5EF4-FFF2-40B4-BE49-F238E27FC236}">
                <a16:creationId xmlns:a16="http://schemas.microsoft.com/office/drawing/2014/main" id="{8402CCA7-6833-4BD9-88F5-AE93A58A1E2D}"/>
              </a:ext>
            </a:extLst>
          </p:cNvPr>
          <p:cNvSpPr txBox="1"/>
          <p:nvPr/>
        </p:nvSpPr>
        <p:spPr>
          <a:xfrm>
            <a:off x="50878" y="79574"/>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3" name="TextBox 12">
            <a:extLst>
              <a:ext uri="{FF2B5EF4-FFF2-40B4-BE49-F238E27FC236}">
                <a16:creationId xmlns:a16="http://schemas.microsoft.com/office/drawing/2014/main" id="{4361CD2C-88CA-4B72-95AB-76F719D0B2FF}"/>
              </a:ext>
            </a:extLst>
          </p:cNvPr>
          <p:cNvSpPr txBox="1"/>
          <p:nvPr/>
        </p:nvSpPr>
        <p:spPr>
          <a:xfrm>
            <a:off x="778945" y="1813371"/>
            <a:ext cx="7761701" cy="1200329"/>
          </a:xfrm>
          <a:prstGeom prst="rect">
            <a:avLst/>
          </a:prstGeom>
          <a:noFill/>
        </p:spPr>
        <p:txBody>
          <a:bodyPr wrap="square" rtlCol="0">
            <a:spAutoFit/>
          </a:bodyPr>
          <a:lstStyle/>
          <a:p>
            <a:r>
              <a:rPr lang="vi-VN" dirty="0">
                <a:solidFill>
                  <a:schemeClr val="bg1">
                    <a:lumMod val="85000"/>
                  </a:schemeClr>
                </a:solidFill>
                <a:latin typeface="JetBrains Mono Light" panose="02000009000000000000" pitchFamily="49" charset="0"/>
                <a:cs typeface="JetBrains Mono Light" panose="02000009000000000000" pitchFamily="49" charset="0"/>
              </a:rPr>
              <a:t>CD= TGT + (n-i)* độ dài cạnh nhỏ nhất trong số các cạnh chưa sử dụng</a:t>
            </a:r>
            <a:r>
              <a:rPr lang="en-US" dirty="0">
                <a:solidFill>
                  <a:schemeClr val="bg1">
                    <a:lumMod val="85000"/>
                  </a:schemeClr>
                </a:solidFill>
                <a:latin typeface="JetBrains Mono Light" panose="02000009000000000000" pitchFamily="49" charset="0"/>
                <a:cs typeface="JetBrains Mono Light" panose="02000009000000000000" pitchFamily="49" charset="0"/>
              </a:rPr>
              <a:t> </a:t>
            </a:r>
            <a:r>
              <a:rPr lang="vi-VN" dirty="0">
                <a:solidFill>
                  <a:schemeClr val="bg1">
                    <a:lumMod val="85000"/>
                  </a:schemeClr>
                </a:solidFill>
                <a:latin typeface="JetBrains Mono Light" panose="02000009000000000000" pitchFamily="49" charset="0"/>
                <a:cs typeface="JetBrains Mono Light" panose="02000009000000000000" pitchFamily="49" charset="0"/>
              </a:rPr>
              <a:t>(i là bậc thứ i,CD là cận dưới,TGT là tổng giá trị với i=0 TGT=0)</a:t>
            </a:r>
            <a:r>
              <a:rPr lang="en-US" dirty="0">
                <a:solidFill>
                  <a:schemeClr val="bg1">
                    <a:lumMod val="85000"/>
                  </a:schemeClr>
                </a:solidFill>
                <a:latin typeface="JetBrains Mono Light" panose="02000009000000000000" pitchFamily="49" charset="0"/>
                <a:cs typeface="JetBrains Mono Light" panose="02000009000000000000" pitchFamily="49" charset="0"/>
              </a:rPr>
              <a:t> </a:t>
            </a:r>
            <a:r>
              <a:rPr lang="vi-VN" dirty="0">
                <a:solidFill>
                  <a:schemeClr val="bg1">
                    <a:lumMod val="85000"/>
                  </a:schemeClr>
                </a:solidFill>
                <a:latin typeface="JetBrains Mono Light" panose="02000009000000000000" pitchFamily="49" charset="0"/>
                <a:cs typeface="JetBrains Mono Light" panose="02000009000000000000" pitchFamily="49" charset="0"/>
              </a:rPr>
              <a:t>và TGT là tổng độ dài các cạnh từ thành phố xuất phát đến thành phố đang xét</a:t>
            </a:r>
            <a:r>
              <a:rPr lang="en-US" dirty="0">
                <a:solidFill>
                  <a:schemeClr val="bg1">
                    <a:lumMod val="85000"/>
                  </a:schemeClr>
                </a:solidFill>
                <a:latin typeface="JetBrains Mono Light" panose="02000009000000000000" pitchFamily="49" charset="0"/>
                <a:cs typeface="JetBrains Mono Light" panose="02000009000000000000" pitchFamily="49" charset="0"/>
              </a:rPr>
              <a:t>.</a:t>
            </a:r>
          </a:p>
        </p:txBody>
      </p:sp>
      <p:sp>
        <p:nvSpPr>
          <p:cNvPr id="78" name="Rectangle 77">
            <a:extLst>
              <a:ext uri="{FF2B5EF4-FFF2-40B4-BE49-F238E27FC236}">
                <a16:creationId xmlns:a16="http://schemas.microsoft.com/office/drawing/2014/main" id="{946170C4-8648-4F7D-829C-0478AD34D210}"/>
              </a:ext>
            </a:extLst>
          </p:cNvPr>
          <p:cNvSpPr/>
          <p:nvPr/>
        </p:nvSpPr>
        <p:spPr>
          <a:xfrm>
            <a:off x="591458" y="603227"/>
            <a:ext cx="3650464"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CC40C08B-04EB-4691-AFA2-3A934D55936D}"/>
              </a:ext>
            </a:extLst>
          </p:cNvPr>
          <p:cNvSpPr txBox="1"/>
          <p:nvPr/>
        </p:nvSpPr>
        <p:spPr>
          <a:xfrm>
            <a:off x="603363" y="602701"/>
            <a:ext cx="3638559" cy="369332"/>
          </a:xfrm>
          <a:prstGeom prst="rect">
            <a:avLst/>
          </a:prstGeom>
          <a:no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Bài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toán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Người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bán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hàng</a:t>
            </a:r>
            <a:r>
              <a:rPr lang="en-US" dirty="0">
                <a:latin typeface="JetBrains Mono Regular" panose="02000009000000000000" pitchFamily="49" charset="0"/>
                <a:cs typeface="JetBrains Mono Regular" panose="02000009000000000000" pitchFamily="49" charset="0"/>
              </a:rPr>
              <a:t>”</a:t>
            </a:r>
          </a:p>
        </p:txBody>
      </p:sp>
      <p:sp>
        <p:nvSpPr>
          <p:cNvPr id="44" name="TextBox 43">
            <a:extLst>
              <a:ext uri="{FF2B5EF4-FFF2-40B4-BE49-F238E27FC236}">
                <a16:creationId xmlns:a16="http://schemas.microsoft.com/office/drawing/2014/main" id="{DBBB5A15-6152-4794-9A4F-B75CE5D7CDFA}"/>
              </a:ext>
            </a:extLst>
          </p:cNvPr>
          <p:cNvSpPr txBox="1"/>
          <p:nvPr/>
        </p:nvSpPr>
        <p:spPr>
          <a:xfrm>
            <a:off x="944147" y="1080234"/>
            <a:ext cx="1775608"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Phương</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pháp</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45" name="TextBox 44">
            <a:extLst>
              <a:ext uri="{FF2B5EF4-FFF2-40B4-BE49-F238E27FC236}">
                <a16:creationId xmlns:a16="http://schemas.microsoft.com/office/drawing/2014/main" id="{195C498A-5A11-4119-AF25-BF9385555006}"/>
              </a:ext>
            </a:extLst>
          </p:cNvPr>
          <p:cNvSpPr txBox="1"/>
          <p:nvPr/>
        </p:nvSpPr>
        <p:spPr>
          <a:xfrm>
            <a:off x="2664872" y="1092325"/>
            <a:ext cx="3305415" cy="369332"/>
          </a:xfrm>
          <a:prstGeom prst="rect">
            <a:avLst/>
          </a:prstGeom>
          <a:noFill/>
        </p:spPr>
        <p:txBody>
          <a:bodyPr wrap="square" rtlCol="0">
            <a:spAutoFit/>
          </a:bodyPr>
          <a:lstStyle/>
          <a:p>
            <a:pPr marL="285750" indent="-285750">
              <a:buFont typeface="Arial" panose="020B0604020202020204" pitchFamily="34" charset="0"/>
              <a:buChar char="•"/>
            </a:pP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Thuật</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toán</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nhanh</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cận</a:t>
            </a:r>
            <a:endParaRPr lang="en-US" i="1" dirty="0">
              <a:latin typeface="JetBrains Mono ExtraLight" panose="02000009000000000000" pitchFamily="49" charset="0"/>
              <a:cs typeface="JetBrains Mono ExtraLight" panose="02000009000000000000" pitchFamily="49" charset="0"/>
            </a:endParaRPr>
          </a:p>
        </p:txBody>
      </p:sp>
      <p:sp>
        <p:nvSpPr>
          <p:cNvPr id="46" name="TextBox 45">
            <a:extLst>
              <a:ext uri="{FF2B5EF4-FFF2-40B4-BE49-F238E27FC236}">
                <a16:creationId xmlns:a16="http://schemas.microsoft.com/office/drawing/2014/main" id="{9FB9322A-DA5F-4F46-94AD-67A9108E6F2A}"/>
              </a:ext>
            </a:extLst>
          </p:cNvPr>
          <p:cNvSpPr txBox="1"/>
          <p:nvPr/>
        </p:nvSpPr>
        <p:spPr>
          <a:xfrm>
            <a:off x="640208" y="3268741"/>
            <a:ext cx="10157060" cy="369332"/>
          </a:xfrm>
          <a:prstGeom prst="rect">
            <a:avLst/>
          </a:prstGeom>
          <a:noFill/>
        </p:spPr>
        <p:txBody>
          <a:bodyPr wrap="square" rtlCol="0">
            <a:spAutoFit/>
          </a:bodyPr>
          <a:lstStyle/>
          <a:p>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Nút</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gốc</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xuất</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phát</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từ</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một</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thành</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phố</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bậc</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0) </a:t>
            </a:r>
            <a:endParaRPr lang="en-US" dirty="0"/>
          </a:p>
        </p:txBody>
      </p:sp>
      <p:sp>
        <p:nvSpPr>
          <p:cNvPr id="47" name="TextBox 46">
            <a:extLst>
              <a:ext uri="{FF2B5EF4-FFF2-40B4-BE49-F238E27FC236}">
                <a16:creationId xmlns:a16="http://schemas.microsoft.com/office/drawing/2014/main" id="{5EDD3313-48C8-415E-AF55-8E9A70153424}"/>
              </a:ext>
            </a:extLst>
          </p:cNvPr>
          <p:cNvSpPr txBox="1"/>
          <p:nvPr/>
        </p:nvSpPr>
        <p:spPr>
          <a:xfrm>
            <a:off x="640208" y="3654629"/>
            <a:ext cx="10157060" cy="646331"/>
          </a:xfrm>
          <a:prstGeom prst="rect">
            <a:avLst/>
          </a:prstGeom>
          <a:noFill/>
        </p:spPr>
        <p:txBody>
          <a:bodyPr wrap="square" rtlCol="0">
            <a:spAutoFit/>
          </a:bodyPr>
          <a:lstStyle/>
          <a:p>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vi-VN" sz="1800" dirty="0">
                <a:solidFill>
                  <a:schemeClr val="bg1">
                    <a:lumMod val="85000"/>
                  </a:schemeClr>
                </a:solidFill>
                <a:latin typeface="JetBrains Mono Light" panose="02000009000000000000" pitchFamily="49" charset="0"/>
                <a:cs typeface="JetBrains Mono Light" panose="02000009000000000000" pitchFamily="49" charset="0"/>
              </a:rPr>
              <a:t>Nút gốc có n-1 nút con (bậc 1), tương ứng với các khả năng đi ra từ thành phố ở bậc 0 </a:t>
            </a:r>
            <a:endParaRPr lang="en-US" dirty="0"/>
          </a:p>
        </p:txBody>
      </p:sp>
      <p:sp>
        <p:nvSpPr>
          <p:cNvPr id="48" name="TextBox 47">
            <a:extLst>
              <a:ext uri="{FF2B5EF4-FFF2-40B4-BE49-F238E27FC236}">
                <a16:creationId xmlns:a16="http://schemas.microsoft.com/office/drawing/2014/main" id="{8086B6C8-9841-4913-8214-529B89179B36}"/>
              </a:ext>
            </a:extLst>
          </p:cNvPr>
          <p:cNvSpPr txBox="1"/>
          <p:nvPr/>
        </p:nvSpPr>
        <p:spPr>
          <a:xfrm>
            <a:off x="640208" y="4242490"/>
            <a:ext cx="10157060" cy="646331"/>
          </a:xfrm>
          <a:prstGeom prst="rect">
            <a:avLst/>
          </a:prstGeom>
          <a:noFill/>
        </p:spPr>
        <p:txBody>
          <a:bodyPr wrap="square" rtlCol="0">
            <a:spAutoFit/>
          </a:bodyPr>
          <a:lstStyle/>
          <a:p>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vi-VN" sz="1800" dirty="0">
                <a:solidFill>
                  <a:schemeClr val="bg1">
                    <a:lumMod val="85000"/>
                  </a:schemeClr>
                </a:solidFill>
                <a:latin typeface="JetBrains Mono Light" panose="02000009000000000000" pitchFamily="49" charset="0"/>
                <a:cs typeface="JetBrains Mono Light" panose="02000009000000000000" pitchFamily="49" charset="0"/>
              </a:rPr>
              <a:t>Mỗi nút con ở bậc 1 có n-2 nút con (bậc 2), tương ứng với các khả năng đi</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vi-VN" sz="1800" dirty="0">
                <a:solidFill>
                  <a:schemeClr val="bg1">
                    <a:lumMod val="85000"/>
                  </a:schemeClr>
                </a:solidFill>
                <a:latin typeface="JetBrains Mono Light" panose="02000009000000000000" pitchFamily="49" charset="0"/>
                <a:cs typeface="JetBrains Mono Light" panose="02000009000000000000" pitchFamily="49" charset="0"/>
              </a:rPr>
              <a:t>ra từ thành phố ở bậc 1....</a:t>
            </a:r>
            <a:endParaRPr lang="en-US" dirty="0"/>
          </a:p>
        </p:txBody>
      </p:sp>
      <p:sp>
        <p:nvSpPr>
          <p:cNvPr id="49" name="Rectangle 48">
            <a:extLst>
              <a:ext uri="{FF2B5EF4-FFF2-40B4-BE49-F238E27FC236}">
                <a16:creationId xmlns:a16="http://schemas.microsoft.com/office/drawing/2014/main" id="{B0482DC7-D720-4720-8016-9EDE3341C159}"/>
              </a:ext>
            </a:extLst>
          </p:cNvPr>
          <p:cNvSpPr/>
          <p:nvPr/>
        </p:nvSpPr>
        <p:spPr>
          <a:xfrm>
            <a:off x="1447455" y="5073590"/>
            <a:ext cx="1202685" cy="346752"/>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7B64AB11-6040-42A8-A39F-0EB8C98B7B71}"/>
              </a:ext>
            </a:extLst>
          </p:cNvPr>
          <p:cNvSpPr txBox="1"/>
          <p:nvPr/>
        </p:nvSpPr>
        <p:spPr>
          <a:xfrm>
            <a:off x="1447455" y="5066768"/>
            <a:ext cx="1217417" cy="369332"/>
          </a:xfrm>
          <a:prstGeom prst="rect">
            <a:avLst/>
          </a:prstGeom>
          <a:noFill/>
        </p:spPr>
        <p:txBody>
          <a:bodyPr wrap="square" rtlCol="0">
            <a:spAutoFit/>
          </a:bodyPr>
          <a:lstStyle/>
          <a:p>
            <a:pPr algn="ctr"/>
            <a:r>
              <a:rPr lang="en-US" dirty="0" err="1">
                <a:solidFill>
                  <a:schemeClr val="bg1"/>
                </a:solidFill>
                <a:latin typeface="JetBrains Mono Regular" panose="02000009000000000000" pitchFamily="49" charset="0"/>
                <a:cs typeface="JetBrains Mono Regular" panose="02000009000000000000" pitchFamily="49" charset="0"/>
              </a:rPr>
              <a:t>Ưu</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điểm</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51" name="TextBox 50">
            <a:extLst>
              <a:ext uri="{FF2B5EF4-FFF2-40B4-BE49-F238E27FC236}">
                <a16:creationId xmlns:a16="http://schemas.microsoft.com/office/drawing/2014/main" id="{5DF573DC-1F76-445F-A639-D2730345DB68}"/>
              </a:ext>
            </a:extLst>
          </p:cNvPr>
          <p:cNvSpPr txBox="1"/>
          <p:nvPr/>
        </p:nvSpPr>
        <p:spPr>
          <a:xfrm>
            <a:off x="2916986" y="5038421"/>
            <a:ext cx="4325643" cy="369332"/>
          </a:xfrm>
          <a:prstGeom prst="rect">
            <a:avLst/>
          </a:prstGeom>
          <a:noFill/>
        </p:spPr>
        <p:txBody>
          <a:bodyPr wrap="square" rtlCol="0">
            <a:spAutoFit/>
          </a:bodyPr>
          <a:lstStyle/>
          <a:p>
            <a:r>
              <a:rPr lang="en-US" dirty="0" err="1">
                <a:solidFill>
                  <a:schemeClr val="bg1">
                    <a:lumMod val="85000"/>
                  </a:schemeClr>
                </a:solidFill>
                <a:latin typeface="JetBrains Mono Light" panose="02000009000000000000" pitchFamily="49" charset="0"/>
                <a:cs typeface="JetBrains Mono Light" panose="02000009000000000000" pitchFamily="49" charset="0"/>
              </a:rPr>
              <a:t>Tìm</a:t>
            </a:r>
            <a:r>
              <a:rPr lang="en-US" dirty="0">
                <a:solidFill>
                  <a:schemeClr val="bg1">
                    <a:lumMod val="85000"/>
                  </a:schemeClr>
                </a:solidFill>
                <a:latin typeface="JetBrains Mono Light" panose="02000009000000000000" pitchFamily="49" charset="0"/>
                <a:cs typeface="JetBrains Mono Light" panose="02000009000000000000" pitchFamily="49" charset="0"/>
              </a:rPr>
              <a:t> </a:t>
            </a:r>
            <a:r>
              <a:rPr lang="en-US" dirty="0" err="1">
                <a:solidFill>
                  <a:schemeClr val="bg1">
                    <a:lumMod val="85000"/>
                  </a:schemeClr>
                </a:solidFill>
                <a:latin typeface="JetBrains Mono Light" panose="02000009000000000000" pitchFamily="49" charset="0"/>
                <a:cs typeface="JetBrains Mono Light" panose="02000009000000000000" pitchFamily="49" charset="0"/>
              </a:rPr>
              <a:t>được</a:t>
            </a:r>
            <a:r>
              <a:rPr lang="en-US" dirty="0">
                <a:solidFill>
                  <a:schemeClr val="bg1">
                    <a:lumMod val="85000"/>
                  </a:schemeClr>
                </a:solidFill>
                <a:latin typeface="JetBrains Mono Light" panose="02000009000000000000" pitchFamily="49" charset="0"/>
                <a:cs typeface="JetBrains Mono Light" panose="02000009000000000000" pitchFamily="49" charset="0"/>
              </a:rPr>
              <a:t> </a:t>
            </a:r>
            <a:r>
              <a:rPr lang="en-US" dirty="0" err="1">
                <a:solidFill>
                  <a:schemeClr val="bg1">
                    <a:lumMod val="85000"/>
                  </a:schemeClr>
                </a:solidFill>
                <a:latin typeface="JetBrains Mono Light" panose="02000009000000000000" pitchFamily="49" charset="0"/>
                <a:cs typeface="JetBrains Mono Light" panose="02000009000000000000" pitchFamily="49" charset="0"/>
              </a:rPr>
              <a:t>phương</a:t>
            </a:r>
            <a:r>
              <a:rPr lang="en-US" dirty="0">
                <a:solidFill>
                  <a:schemeClr val="bg1">
                    <a:lumMod val="85000"/>
                  </a:schemeClr>
                </a:solidFill>
                <a:latin typeface="JetBrains Mono Light" panose="02000009000000000000" pitchFamily="49" charset="0"/>
                <a:cs typeface="JetBrains Mono Light" panose="02000009000000000000" pitchFamily="49" charset="0"/>
              </a:rPr>
              <a:t> </a:t>
            </a:r>
            <a:r>
              <a:rPr lang="en-US" dirty="0" err="1">
                <a:solidFill>
                  <a:schemeClr val="bg1">
                    <a:lumMod val="85000"/>
                  </a:schemeClr>
                </a:solidFill>
                <a:latin typeface="JetBrains Mono Light" panose="02000009000000000000" pitchFamily="49" charset="0"/>
                <a:cs typeface="JetBrains Mono Light" panose="02000009000000000000" pitchFamily="49" charset="0"/>
              </a:rPr>
              <a:t>án</a:t>
            </a:r>
            <a:r>
              <a:rPr lang="en-US" dirty="0">
                <a:solidFill>
                  <a:schemeClr val="bg1">
                    <a:lumMod val="85000"/>
                  </a:schemeClr>
                </a:solidFill>
                <a:latin typeface="JetBrains Mono Light" panose="02000009000000000000" pitchFamily="49" charset="0"/>
                <a:cs typeface="JetBrains Mono Light" panose="02000009000000000000" pitchFamily="49" charset="0"/>
              </a:rPr>
              <a:t> </a:t>
            </a:r>
            <a:r>
              <a:rPr lang="en-US" dirty="0" err="1">
                <a:solidFill>
                  <a:schemeClr val="bg1">
                    <a:lumMod val="85000"/>
                  </a:schemeClr>
                </a:solidFill>
                <a:latin typeface="JetBrains Mono Light" panose="02000009000000000000" pitchFamily="49" charset="0"/>
                <a:cs typeface="JetBrains Mono Light" panose="02000009000000000000" pitchFamily="49" charset="0"/>
              </a:rPr>
              <a:t>tối</a:t>
            </a:r>
            <a:r>
              <a:rPr lang="en-US" dirty="0">
                <a:solidFill>
                  <a:schemeClr val="bg1">
                    <a:lumMod val="85000"/>
                  </a:schemeClr>
                </a:solidFill>
                <a:latin typeface="JetBrains Mono Light" panose="02000009000000000000" pitchFamily="49" charset="0"/>
                <a:cs typeface="JetBrains Mono Light" panose="02000009000000000000" pitchFamily="49" charset="0"/>
              </a:rPr>
              <a:t> </a:t>
            </a:r>
            <a:r>
              <a:rPr lang="en-US" dirty="0" err="1">
                <a:solidFill>
                  <a:schemeClr val="bg1">
                    <a:lumMod val="85000"/>
                  </a:schemeClr>
                </a:solidFill>
                <a:latin typeface="JetBrains Mono Light" panose="02000009000000000000" pitchFamily="49" charset="0"/>
                <a:cs typeface="JetBrains Mono Light" panose="02000009000000000000" pitchFamily="49" charset="0"/>
              </a:rPr>
              <a:t>ưu</a:t>
            </a:r>
            <a:endParaRPr lang="en-US" dirty="0">
              <a:latin typeface="JetBrains Mono Light" panose="02000009000000000000" pitchFamily="49" charset="0"/>
              <a:cs typeface="JetBrains Mono Light" panose="02000009000000000000" pitchFamily="49" charset="0"/>
            </a:endParaRPr>
          </a:p>
        </p:txBody>
      </p:sp>
      <p:sp>
        <p:nvSpPr>
          <p:cNvPr id="52" name="Rectangle 51">
            <a:extLst>
              <a:ext uri="{FF2B5EF4-FFF2-40B4-BE49-F238E27FC236}">
                <a16:creationId xmlns:a16="http://schemas.microsoft.com/office/drawing/2014/main" id="{CB6B2A2E-F50D-43EC-8F81-12520479F751}"/>
              </a:ext>
            </a:extLst>
          </p:cNvPr>
          <p:cNvSpPr/>
          <p:nvPr/>
        </p:nvSpPr>
        <p:spPr>
          <a:xfrm>
            <a:off x="1063602" y="5655625"/>
            <a:ext cx="1601270" cy="3467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4C32B88C-8339-4740-ACC6-3A6909E3F730}"/>
              </a:ext>
            </a:extLst>
          </p:cNvPr>
          <p:cNvSpPr txBox="1"/>
          <p:nvPr/>
        </p:nvSpPr>
        <p:spPr>
          <a:xfrm>
            <a:off x="1048870" y="5658740"/>
            <a:ext cx="1616002" cy="369332"/>
          </a:xfrm>
          <a:prstGeom prst="rect">
            <a:avLst/>
          </a:prstGeom>
          <a:noFill/>
        </p:spPr>
        <p:txBody>
          <a:bodyPr wrap="square" rtlCol="0">
            <a:spAutoFit/>
          </a:bodyPr>
          <a:lstStyle/>
          <a:p>
            <a:pPr algn="ctr"/>
            <a:r>
              <a:rPr lang="en-US" dirty="0" err="1">
                <a:solidFill>
                  <a:schemeClr val="bg1"/>
                </a:solidFill>
                <a:latin typeface="JetBrains Mono" panose="02000009000000000000" pitchFamily="49" charset="0"/>
                <a:cs typeface="JetBrains Mono" panose="02000009000000000000" pitchFamily="49" charset="0"/>
              </a:rPr>
              <a:t>Nhược</a:t>
            </a:r>
            <a:r>
              <a:rPr lang="en-US" dirty="0">
                <a:solidFill>
                  <a:schemeClr val="bg1"/>
                </a:solidFill>
                <a:latin typeface="JetBrains Mono" panose="02000009000000000000" pitchFamily="49" charset="0"/>
                <a:cs typeface="JetBrains Mono" panose="02000009000000000000" pitchFamily="49" charset="0"/>
              </a:rPr>
              <a:t> </a:t>
            </a:r>
            <a:r>
              <a:rPr lang="en-US" dirty="0" err="1">
                <a:solidFill>
                  <a:schemeClr val="bg1"/>
                </a:solidFill>
                <a:latin typeface="JetBrains Mono" panose="02000009000000000000" pitchFamily="49" charset="0"/>
                <a:cs typeface="JetBrains Mono" panose="02000009000000000000" pitchFamily="49" charset="0"/>
              </a:rPr>
              <a:t>điểm</a:t>
            </a:r>
            <a:endParaRPr lang="en-US" dirty="0">
              <a:solidFill>
                <a:schemeClr val="bg1"/>
              </a:solidFill>
              <a:latin typeface="JetBrains Mono" panose="02000009000000000000" pitchFamily="49" charset="0"/>
              <a:cs typeface="JetBrains Mono" panose="02000009000000000000" pitchFamily="49" charset="0"/>
            </a:endParaRPr>
          </a:p>
        </p:txBody>
      </p:sp>
      <p:sp>
        <p:nvSpPr>
          <p:cNvPr id="54" name="TextBox 53">
            <a:extLst>
              <a:ext uri="{FF2B5EF4-FFF2-40B4-BE49-F238E27FC236}">
                <a16:creationId xmlns:a16="http://schemas.microsoft.com/office/drawing/2014/main" id="{07480BB3-4F9B-4748-A44E-0E9F8A939451}"/>
              </a:ext>
            </a:extLst>
          </p:cNvPr>
          <p:cNvSpPr txBox="1"/>
          <p:nvPr/>
        </p:nvSpPr>
        <p:spPr>
          <a:xfrm>
            <a:off x="2916987" y="5659876"/>
            <a:ext cx="5886734" cy="369332"/>
          </a:xfrm>
          <a:prstGeom prst="rect">
            <a:avLst/>
          </a:prstGeom>
          <a:noFill/>
        </p:spPr>
        <p:txBody>
          <a:bodyPr wrap="square" rtlCol="0">
            <a:spAutoFit/>
          </a:bodyPr>
          <a:lstStyle/>
          <a:p>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Dài</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hơn</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do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với</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phương</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pháp</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a:t>
            </a:r>
            <a:r>
              <a:rPr lang="en-US" sz="1800" dirty="0" err="1">
                <a:solidFill>
                  <a:schemeClr val="bg1">
                    <a:lumMod val="85000"/>
                  </a:schemeClr>
                </a:solidFill>
                <a:latin typeface="JetBrains Mono Light" panose="02000009000000000000" pitchFamily="49" charset="0"/>
                <a:cs typeface="JetBrains Mono Light" panose="02000009000000000000" pitchFamily="49" charset="0"/>
              </a:rPr>
              <a:t>trước</a:t>
            </a:r>
            <a:r>
              <a:rPr lang="en-US" sz="1800" dirty="0">
                <a:solidFill>
                  <a:schemeClr val="bg1">
                    <a:lumMod val="85000"/>
                  </a:schemeClr>
                </a:solidFill>
                <a:latin typeface="JetBrains Mono Light" panose="02000009000000000000" pitchFamily="49" charset="0"/>
                <a:cs typeface="JetBrains Mono Light" panose="02000009000000000000" pitchFamily="49" charset="0"/>
              </a:rPr>
              <a:t> (n &gt;= 5)</a:t>
            </a:r>
            <a:endParaRPr lang="en-US" dirty="0">
              <a:latin typeface="JetBrains Mono Light" panose="02000009000000000000" pitchFamily="49" charset="0"/>
              <a:cs typeface="JetBrains Mono Light" panose="02000009000000000000" pitchFamily="49" charset="0"/>
            </a:endParaRPr>
          </a:p>
        </p:txBody>
      </p:sp>
      <p:sp>
        <p:nvSpPr>
          <p:cNvPr id="55" name="Footer: Part">
            <a:extLst>
              <a:ext uri="{FF2B5EF4-FFF2-40B4-BE49-F238E27FC236}">
                <a16:creationId xmlns:a16="http://schemas.microsoft.com/office/drawing/2014/main" id="{55C598A0-B657-4F2D-9A3C-2972F68334AA}"/>
              </a:ext>
            </a:extLst>
          </p:cNvPr>
          <p:cNvSpPr txBox="1"/>
          <p:nvPr/>
        </p:nvSpPr>
        <p:spPr>
          <a:xfrm>
            <a:off x="8487508" y="6464494"/>
            <a:ext cx="3733195" cy="369332"/>
          </a:xfrm>
          <a:prstGeom prst="rect">
            <a:avLst/>
          </a:prstGeom>
          <a:noFill/>
        </p:spPr>
        <p:txBody>
          <a:bodyPr wrap="square" rtlCol="0">
            <a:spAutoFit/>
          </a:bodyPr>
          <a:lstStyle/>
          <a:p>
            <a:r>
              <a:rPr lang="en-US" dirty="0" err="1">
                <a:solidFill>
                  <a:schemeClr val="bg1">
                    <a:lumMod val="95000"/>
                  </a:schemeClr>
                </a:solidFill>
                <a:latin typeface="JetBrains Mono Regular" panose="02000009000000000000" pitchFamily="49" charset="0"/>
                <a:cs typeface="JetBrains Mono Regular" panose="02000009000000000000" pitchFamily="49" charset="0"/>
              </a:rPr>
              <a:t>Bài</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toán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a:solidFill>
                  <a:schemeClr val="bg1">
                    <a:lumMod val="95000"/>
                  </a:schemeClr>
                </a:solidFill>
                <a:latin typeface="JetBrains Mono Light" panose="02000009000000000000" pitchFamily="49" charset="0"/>
                <a:cs typeface="JetBrains Mono Light" panose="02000009000000000000" pitchFamily="49" charset="0"/>
              </a:rPr>
              <a:t>“</a:t>
            </a:r>
            <a:r>
              <a:rPr lang="en-US" dirty="0" err="1">
                <a:solidFill>
                  <a:schemeClr val="bg1">
                    <a:lumMod val="85000"/>
                  </a:schemeClr>
                </a:solidFill>
                <a:latin typeface="JetBrains Mono Light" panose="02000009000000000000"/>
                <a:cs typeface="JetBrains Mono" panose="02000009000000000000" pitchFamily="49" charset="0"/>
              </a:rPr>
              <a:t>Người</a:t>
            </a:r>
            <a:r>
              <a:rPr lang="en-US" dirty="0">
                <a:solidFill>
                  <a:schemeClr val="bg1">
                    <a:lumMod val="85000"/>
                  </a:schemeClr>
                </a:solidFill>
                <a:latin typeface="JetBrains Mono Light" panose="02000009000000000000"/>
                <a:cs typeface="JetBrains Mono" panose="02000009000000000000" pitchFamily="49" charset="0"/>
              </a:rPr>
              <a:t> </a:t>
            </a:r>
            <a:r>
              <a:rPr lang="en-US" dirty="0" err="1">
                <a:solidFill>
                  <a:schemeClr val="bg1">
                    <a:lumMod val="85000"/>
                  </a:schemeClr>
                </a:solidFill>
                <a:latin typeface="JetBrains Mono Light" panose="02000009000000000000"/>
                <a:cs typeface="JetBrains Mono" panose="02000009000000000000" pitchFamily="49" charset="0"/>
              </a:rPr>
              <a:t>bán</a:t>
            </a:r>
            <a:r>
              <a:rPr lang="en-US" dirty="0">
                <a:solidFill>
                  <a:schemeClr val="bg1">
                    <a:lumMod val="85000"/>
                  </a:schemeClr>
                </a:solidFill>
                <a:latin typeface="JetBrains Mono Light" panose="02000009000000000000"/>
                <a:cs typeface="JetBrains Mono" panose="02000009000000000000" pitchFamily="49" charset="0"/>
              </a:rPr>
              <a:t> </a:t>
            </a:r>
            <a:r>
              <a:rPr lang="en-US" dirty="0" err="1">
                <a:solidFill>
                  <a:schemeClr val="bg1">
                    <a:lumMod val="85000"/>
                  </a:schemeClr>
                </a:solidFill>
                <a:latin typeface="JetBrains Mono Light" panose="02000009000000000000"/>
                <a:cs typeface="JetBrains Mono" panose="02000009000000000000" pitchFamily="49" charset="0"/>
              </a:rPr>
              <a:t>hàng</a:t>
            </a:r>
            <a:r>
              <a:rPr lang="en-US" dirty="0">
                <a:solidFill>
                  <a:schemeClr val="bg1">
                    <a:lumMod val="85000"/>
                  </a:schemeClr>
                </a:solidFill>
                <a:latin typeface="JetBrains Mono Light" panose="02000009000000000000"/>
                <a:cs typeface="JetBrains Mono" panose="02000009000000000000" pitchFamily="49" charset="0"/>
              </a:rPr>
              <a:t>”</a:t>
            </a:r>
          </a:p>
        </p:txBody>
      </p:sp>
      <p:sp>
        <p:nvSpPr>
          <p:cNvPr id="56" name="Footer: Title">
            <a:extLst>
              <a:ext uri="{FF2B5EF4-FFF2-40B4-BE49-F238E27FC236}">
                <a16:creationId xmlns:a16="http://schemas.microsoft.com/office/drawing/2014/main" id="{7AF18FA9-F420-415E-BD65-837AC36FC474}"/>
              </a:ext>
            </a:extLst>
          </p:cNvPr>
          <p:cNvSpPr txBox="1"/>
          <p:nvPr/>
        </p:nvSpPr>
        <p:spPr>
          <a:xfrm>
            <a:off x="7385543" y="6469576"/>
            <a:ext cx="1215645"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a:t>
            </a:r>
          </a:p>
        </p:txBody>
      </p:sp>
      <p:sp>
        <p:nvSpPr>
          <p:cNvPr id="61" name="PAGE NUM 0">
            <a:extLst>
              <a:ext uri="{FF2B5EF4-FFF2-40B4-BE49-F238E27FC236}">
                <a16:creationId xmlns:a16="http://schemas.microsoft.com/office/drawing/2014/main" id="{145C80A8-9B4F-4DA0-BF0F-1446DC1E273E}"/>
              </a:ext>
            </a:extLst>
          </p:cNvPr>
          <p:cNvSpPr txBox="1"/>
          <p:nvPr/>
        </p:nvSpPr>
        <p:spPr>
          <a:xfrm>
            <a:off x="11599908" y="-510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3</a:t>
            </a:r>
          </a:p>
        </p:txBody>
      </p:sp>
      <p:sp>
        <p:nvSpPr>
          <p:cNvPr id="62" name="PAGE NUM 1">
            <a:extLst>
              <a:ext uri="{FF2B5EF4-FFF2-40B4-BE49-F238E27FC236}">
                <a16:creationId xmlns:a16="http://schemas.microsoft.com/office/drawing/2014/main" id="{1BC80EB7-D042-48F9-BC80-62C30EA3F3B9}"/>
              </a:ext>
            </a:extLst>
          </p:cNvPr>
          <p:cNvSpPr txBox="1"/>
          <p:nvPr/>
        </p:nvSpPr>
        <p:spPr>
          <a:xfrm>
            <a:off x="11883838" y="-6352"/>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9</a:t>
            </a:r>
            <a:endParaRPr lang="en-US" dirty="0"/>
          </a:p>
        </p:txBody>
      </p:sp>
      <p:cxnSp>
        <p:nvCxnSpPr>
          <p:cNvPr id="57" name="Straight Connector 56">
            <a:extLst>
              <a:ext uri="{FF2B5EF4-FFF2-40B4-BE49-F238E27FC236}">
                <a16:creationId xmlns:a16="http://schemas.microsoft.com/office/drawing/2014/main" id="{D93C4FA2-16A2-4CF2-8210-0ABE11B66456}"/>
              </a:ext>
            </a:extLst>
          </p:cNvPr>
          <p:cNvCxnSpPr>
            <a:cxnSpLocks/>
          </p:cNvCxnSpPr>
          <p:nvPr/>
        </p:nvCxnSpPr>
        <p:spPr>
          <a:xfrm>
            <a:off x="10243036" y="3662"/>
            <a:ext cx="18018" cy="3010038"/>
          </a:xfrm>
          <a:prstGeom prst="line">
            <a:avLst/>
          </a:prstGeom>
          <a:ln>
            <a:solidFill>
              <a:schemeClr val="bg1">
                <a:lumMod val="50000"/>
              </a:schemeClr>
            </a:solidFill>
            <a:prstDash val="sysDot"/>
          </a:ln>
        </p:spPr>
        <p:style>
          <a:lnRef idx="2">
            <a:schemeClr val="dk1"/>
          </a:lnRef>
          <a:fillRef idx="0">
            <a:schemeClr val="dk1"/>
          </a:fillRef>
          <a:effectRef idx="1">
            <a:schemeClr val="dk1"/>
          </a:effectRef>
          <a:fontRef idx="minor">
            <a:schemeClr val="tx1"/>
          </a:fontRef>
        </p:style>
      </p:cxnSp>
      <p:cxnSp>
        <p:nvCxnSpPr>
          <p:cNvPr id="58" name="Straight Connector 57">
            <a:extLst>
              <a:ext uri="{FF2B5EF4-FFF2-40B4-BE49-F238E27FC236}">
                <a16:creationId xmlns:a16="http://schemas.microsoft.com/office/drawing/2014/main" id="{A4357770-BAEA-49DA-804B-5F510FCDA76C}"/>
              </a:ext>
            </a:extLst>
          </p:cNvPr>
          <p:cNvCxnSpPr/>
          <p:nvPr/>
        </p:nvCxnSpPr>
        <p:spPr>
          <a:xfrm>
            <a:off x="8676995" y="1611745"/>
            <a:ext cx="3983421" cy="0"/>
          </a:xfrm>
          <a:prstGeom prst="line">
            <a:avLst/>
          </a:prstGeom>
          <a:ln>
            <a:solidFill>
              <a:schemeClr val="bg1">
                <a:lumMod val="50000"/>
              </a:schemeClr>
            </a:solidFill>
            <a:prstDash val="sysDot"/>
          </a:ln>
        </p:spPr>
        <p:style>
          <a:lnRef idx="2">
            <a:schemeClr val="dk1"/>
          </a:lnRef>
          <a:fillRef idx="0">
            <a:schemeClr val="dk1"/>
          </a:fillRef>
          <a:effectRef idx="1">
            <a:schemeClr val="dk1"/>
          </a:effectRef>
          <a:fontRef idx="minor">
            <a:schemeClr val="tx1"/>
          </a:fontRef>
        </p:style>
      </p:cxnSp>
      <p:sp>
        <p:nvSpPr>
          <p:cNvPr id="59" name="TextBox 58">
            <a:extLst>
              <a:ext uri="{FF2B5EF4-FFF2-40B4-BE49-F238E27FC236}">
                <a16:creationId xmlns:a16="http://schemas.microsoft.com/office/drawing/2014/main" id="{FB9E9B74-E062-4528-B19E-2DFA52C164DE}"/>
              </a:ext>
            </a:extLst>
          </p:cNvPr>
          <p:cNvSpPr txBox="1"/>
          <p:nvPr/>
        </p:nvSpPr>
        <p:spPr>
          <a:xfrm>
            <a:off x="8643093" y="2390343"/>
            <a:ext cx="992579" cy="323165"/>
          </a:xfrm>
          <a:prstGeom prst="rect">
            <a:avLst/>
          </a:prstGeom>
          <a:noFill/>
          <a:ln>
            <a:noFill/>
          </a:ln>
        </p:spPr>
        <p:txBody>
          <a:bodyPr wrap="non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(-3;-2)</a:t>
            </a:r>
          </a:p>
        </p:txBody>
      </p:sp>
      <p:sp>
        <p:nvSpPr>
          <p:cNvPr id="60" name="TextBox 59">
            <a:extLst>
              <a:ext uri="{FF2B5EF4-FFF2-40B4-BE49-F238E27FC236}">
                <a16:creationId xmlns:a16="http://schemas.microsoft.com/office/drawing/2014/main" id="{336ACAEC-6E74-4C6C-B3D4-C03032CB23EB}"/>
              </a:ext>
            </a:extLst>
          </p:cNvPr>
          <p:cNvSpPr txBox="1"/>
          <p:nvPr/>
        </p:nvSpPr>
        <p:spPr>
          <a:xfrm>
            <a:off x="8644466" y="447176"/>
            <a:ext cx="877163" cy="323165"/>
          </a:xfrm>
          <a:prstGeom prst="rect">
            <a:avLst/>
          </a:prstGeom>
          <a:noFill/>
          <a:ln>
            <a:noFill/>
          </a:ln>
        </p:spPr>
        <p:txBody>
          <a:bodyPr wrap="non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(-3;3)</a:t>
            </a:r>
          </a:p>
        </p:txBody>
      </p:sp>
      <p:sp>
        <p:nvSpPr>
          <p:cNvPr id="63" name="TextBox 62">
            <a:extLst>
              <a:ext uri="{FF2B5EF4-FFF2-40B4-BE49-F238E27FC236}">
                <a16:creationId xmlns:a16="http://schemas.microsoft.com/office/drawing/2014/main" id="{1488A895-E6AB-491D-9B4C-55F89FD03BA2}"/>
              </a:ext>
            </a:extLst>
          </p:cNvPr>
          <p:cNvSpPr txBox="1"/>
          <p:nvPr/>
        </p:nvSpPr>
        <p:spPr>
          <a:xfrm>
            <a:off x="10378661" y="167278"/>
            <a:ext cx="873957" cy="323165"/>
          </a:xfrm>
          <a:prstGeom prst="rect">
            <a:avLst/>
          </a:prstGeom>
          <a:noFill/>
          <a:ln>
            <a:noFill/>
          </a:ln>
        </p:spPr>
        <p:txBody>
          <a:bodyPr wrap="squar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(1;4)</a:t>
            </a:r>
          </a:p>
        </p:txBody>
      </p:sp>
      <p:sp>
        <p:nvSpPr>
          <p:cNvPr id="64" name="TextBox 63">
            <a:extLst>
              <a:ext uri="{FF2B5EF4-FFF2-40B4-BE49-F238E27FC236}">
                <a16:creationId xmlns:a16="http://schemas.microsoft.com/office/drawing/2014/main" id="{3CA109B4-6EBE-4878-ABA7-D613A7180806}"/>
              </a:ext>
            </a:extLst>
          </p:cNvPr>
          <p:cNvSpPr txBox="1"/>
          <p:nvPr/>
        </p:nvSpPr>
        <p:spPr>
          <a:xfrm>
            <a:off x="11146084" y="1017148"/>
            <a:ext cx="873957" cy="323165"/>
          </a:xfrm>
          <a:prstGeom prst="rect">
            <a:avLst/>
          </a:prstGeom>
          <a:noFill/>
          <a:ln>
            <a:noFill/>
          </a:ln>
        </p:spPr>
        <p:txBody>
          <a:bodyPr wrap="squar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(2;1)</a:t>
            </a:r>
          </a:p>
        </p:txBody>
      </p:sp>
      <p:cxnSp>
        <p:nvCxnSpPr>
          <p:cNvPr id="65" name="Straight Connector 64">
            <a:extLst>
              <a:ext uri="{FF2B5EF4-FFF2-40B4-BE49-F238E27FC236}">
                <a16:creationId xmlns:a16="http://schemas.microsoft.com/office/drawing/2014/main" id="{4748A6C9-50A3-4F56-8974-FD98F5077A25}"/>
              </a:ext>
            </a:extLst>
          </p:cNvPr>
          <p:cNvCxnSpPr>
            <a:cxnSpLocks/>
          </p:cNvCxnSpPr>
          <p:nvPr/>
        </p:nvCxnSpPr>
        <p:spPr>
          <a:xfrm>
            <a:off x="10647265" y="715035"/>
            <a:ext cx="330242" cy="56009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782244A4-484F-48FE-BF36-5D17A49EB444}"/>
              </a:ext>
            </a:extLst>
          </p:cNvPr>
          <p:cNvCxnSpPr>
            <a:cxnSpLocks/>
          </p:cNvCxnSpPr>
          <p:nvPr/>
        </p:nvCxnSpPr>
        <p:spPr>
          <a:xfrm flipV="1">
            <a:off x="9101650" y="713226"/>
            <a:ext cx="1584723" cy="28185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18A3D7F-2963-42A1-8F2F-E412740A6B8D}"/>
              </a:ext>
            </a:extLst>
          </p:cNvPr>
          <p:cNvCxnSpPr>
            <a:cxnSpLocks/>
          </p:cNvCxnSpPr>
          <p:nvPr/>
        </p:nvCxnSpPr>
        <p:spPr>
          <a:xfrm flipH="1">
            <a:off x="9100671" y="976605"/>
            <a:ext cx="979" cy="11952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A0AFA0C-7A88-4412-B5E9-1CE239BF1E56}"/>
              </a:ext>
            </a:extLst>
          </p:cNvPr>
          <p:cNvCxnSpPr>
            <a:cxnSpLocks/>
          </p:cNvCxnSpPr>
          <p:nvPr/>
        </p:nvCxnSpPr>
        <p:spPr>
          <a:xfrm>
            <a:off x="10965688" y="1249762"/>
            <a:ext cx="28838" cy="12914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5932100-BC54-485B-908E-7C675CBFA8A1}"/>
              </a:ext>
            </a:extLst>
          </p:cNvPr>
          <p:cNvCxnSpPr>
            <a:cxnSpLocks/>
          </p:cNvCxnSpPr>
          <p:nvPr/>
        </p:nvCxnSpPr>
        <p:spPr>
          <a:xfrm>
            <a:off x="9100671" y="2171843"/>
            <a:ext cx="1893855" cy="3693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F983EE1-2AE4-42E1-89E7-C674898EA7C1}"/>
              </a:ext>
            </a:extLst>
          </p:cNvPr>
          <p:cNvCxnSpPr>
            <a:cxnSpLocks/>
          </p:cNvCxnSpPr>
          <p:nvPr/>
        </p:nvCxnSpPr>
        <p:spPr>
          <a:xfrm>
            <a:off x="9131100" y="1031178"/>
            <a:ext cx="1817519" cy="145024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33397476-1389-4248-AE0B-1B27BFBD83BD}"/>
              </a:ext>
            </a:extLst>
          </p:cNvPr>
          <p:cNvCxnSpPr>
            <a:cxnSpLocks/>
          </p:cNvCxnSpPr>
          <p:nvPr/>
        </p:nvCxnSpPr>
        <p:spPr>
          <a:xfrm flipV="1">
            <a:off x="9096829" y="681037"/>
            <a:ext cx="1589544" cy="149080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2D351468-3A3E-4599-B1E5-09DB744BC05B}"/>
              </a:ext>
            </a:extLst>
          </p:cNvPr>
          <p:cNvCxnSpPr>
            <a:cxnSpLocks/>
          </p:cNvCxnSpPr>
          <p:nvPr/>
        </p:nvCxnSpPr>
        <p:spPr>
          <a:xfrm flipV="1">
            <a:off x="9131691" y="1298520"/>
            <a:ext cx="1896268" cy="8486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D037833C-B3AC-4451-9215-64318DC74E66}"/>
              </a:ext>
            </a:extLst>
          </p:cNvPr>
          <p:cNvCxnSpPr>
            <a:cxnSpLocks/>
          </p:cNvCxnSpPr>
          <p:nvPr/>
        </p:nvCxnSpPr>
        <p:spPr>
          <a:xfrm flipH="1" flipV="1">
            <a:off x="10657153" y="701599"/>
            <a:ext cx="337373" cy="180972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C7520B61-C7E2-4BF1-BFB1-5C7DC156AB32}"/>
              </a:ext>
            </a:extLst>
          </p:cNvPr>
          <p:cNvCxnSpPr>
            <a:cxnSpLocks/>
          </p:cNvCxnSpPr>
          <p:nvPr/>
        </p:nvCxnSpPr>
        <p:spPr>
          <a:xfrm>
            <a:off x="9154794" y="974063"/>
            <a:ext cx="1869182" cy="35429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2EB0D450-7177-4385-84DB-77A407CE385C}"/>
              </a:ext>
            </a:extLst>
          </p:cNvPr>
          <p:cNvSpPr txBox="1"/>
          <p:nvPr/>
        </p:nvSpPr>
        <p:spPr>
          <a:xfrm>
            <a:off x="10099792" y="1410850"/>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O</a:t>
            </a:r>
          </a:p>
        </p:txBody>
      </p:sp>
      <p:sp>
        <p:nvSpPr>
          <p:cNvPr id="71" name="TextBox 70">
            <a:extLst>
              <a:ext uri="{FF2B5EF4-FFF2-40B4-BE49-F238E27FC236}">
                <a16:creationId xmlns:a16="http://schemas.microsoft.com/office/drawing/2014/main" id="{F2AFA3EA-E6D1-4724-A53B-03A0320CBF05}"/>
              </a:ext>
            </a:extLst>
          </p:cNvPr>
          <p:cNvSpPr txBox="1"/>
          <p:nvPr/>
        </p:nvSpPr>
        <p:spPr>
          <a:xfrm>
            <a:off x="8953647" y="1987177"/>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A</a:t>
            </a:r>
          </a:p>
        </p:txBody>
      </p:sp>
      <p:sp>
        <p:nvSpPr>
          <p:cNvPr id="72" name="TextBox 71">
            <a:extLst>
              <a:ext uri="{FF2B5EF4-FFF2-40B4-BE49-F238E27FC236}">
                <a16:creationId xmlns:a16="http://schemas.microsoft.com/office/drawing/2014/main" id="{2AC3D11A-6388-4F29-8F77-28AA4EA7110E}"/>
              </a:ext>
            </a:extLst>
          </p:cNvPr>
          <p:cNvSpPr txBox="1"/>
          <p:nvPr/>
        </p:nvSpPr>
        <p:spPr>
          <a:xfrm>
            <a:off x="8949639" y="791939"/>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B</a:t>
            </a:r>
          </a:p>
        </p:txBody>
      </p:sp>
      <p:sp>
        <p:nvSpPr>
          <p:cNvPr id="73" name="TextBox 72">
            <a:extLst>
              <a:ext uri="{FF2B5EF4-FFF2-40B4-BE49-F238E27FC236}">
                <a16:creationId xmlns:a16="http://schemas.microsoft.com/office/drawing/2014/main" id="{429DA978-0B56-4816-9987-F021A5260BC1}"/>
              </a:ext>
            </a:extLst>
          </p:cNvPr>
          <p:cNvSpPr txBox="1"/>
          <p:nvPr/>
        </p:nvSpPr>
        <p:spPr>
          <a:xfrm>
            <a:off x="10507443" y="497650"/>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C</a:t>
            </a:r>
          </a:p>
        </p:txBody>
      </p:sp>
      <p:sp>
        <p:nvSpPr>
          <p:cNvPr id="74" name="TextBox 73">
            <a:extLst>
              <a:ext uri="{FF2B5EF4-FFF2-40B4-BE49-F238E27FC236}">
                <a16:creationId xmlns:a16="http://schemas.microsoft.com/office/drawing/2014/main" id="{A760DE0F-08C2-44DD-B2E8-7DAA39E1FBAD}"/>
              </a:ext>
            </a:extLst>
          </p:cNvPr>
          <p:cNvSpPr txBox="1"/>
          <p:nvPr/>
        </p:nvSpPr>
        <p:spPr>
          <a:xfrm rot="10800000" flipH="1" flipV="1">
            <a:off x="10802081" y="2336051"/>
            <a:ext cx="410658"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E</a:t>
            </a:r>
          </a:p>
        </p:txBody>
      </p:sp>
      <p:sp>
        <p:nvSpPr>
          <p:cNvPr id="75" name="TextBox 74">
            <a:extLst>
              <a:ext uri="{FF2B5EF4-FFF2-40B4-BE49-F238E27FC236}">
                <a16:creationId xmlns:a16="http://schemas.microsoft.com/office/drawing/2014/main" id="{7B38AE84-89CB-4772-A38E-DD4C2C1824B6}"/>
              </a:ext>
            </a:extLst>
          </p:cNvPr>
          <p:cNvSpPr txBox="1"/>
          <p:nvPr/>
        </p:nvSpPr>
        <p:spPr>
          <a:xfrm>
            <a:off x="10846148" y="1090466"/>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D</a:t>
            </a:r>
          </a:p>
        </p:txBody>
      </p:sp>
      <p:sp>
        <p:nvSpPr>
          <p:cNvPr id="76" name="TextBox 75">
            <a:extLst>
              <a:ext uri="{FF2B5EF4-FFF2-40B4-BE49-F238E27FC236}">
                <a16:creationId xmlns:a16="http://schemas.microsoft.com/office/drawing/2014/main" id="{330887AF-4289-4DFE-BEB7-3693FB3CE1F0}"/>
              </a:ext>
            </a:extLst>
          </p:cNvPr>
          <p:cNvSpPr txBox="1"/>
          <p:nvPr/>
        </p:nvSpPr>
        <p:spPr>
          <a:xfrm>
            <a:off x="11156741" y="2466188"/>
            <a:ext cx="1052328" cy="323165"/>
          </a:xfrm>
          <a:prstGeom prst="rect">
            <a:avLst/>
          </a:prstGeom>
          <a:noFill/>
        </p:spPr>
        <p:txBody>
          <a:bodyPr wrap="squar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(2;-4)</a:t>
            </a:r>
            <a:endParaRPr lang="en-US" sz="15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79" name="Rectangle 78">
            <a:extLst>
              <a:ext uri="{FF2B5EF4-FFF2-40B4-BE49-F238E27FC236}">
                <a16:creationId xmlns:a16="http://schemas.microsoft.com/office/drawing/2014/main" id="{0A619809-BA07-4448-B5FD-E0F1DA4B2DA7}"/>
              </a:ext>
            </a:extLst>
          </p:cNvPr>
          <p:cNvSpPr/>
          <p:nvPr/>
        </p:nvSpPr>
        <p:spPr>
          <a:xfrm rot="685076">
            <a:off x="9790695" y="2407464"/>
            <a:ext cx="816142" cy="292388"/>
          </a:xfrm>
          <a:prstGeom prst="rect">
            <a:avLst/>
          </a:prstGeom>
          <a:solidFill>
            <a:schemeClr val="tx1"/>
          </a:solidFill>
        </p:spPr>
        <p:txBody>
          <a:bodyPr wrap="square">
            <a:spAutoFit/>
          </a:bodyPr>
          <a:lstStyle/>
          <a:p>
            <a:r>
              <a:rPr lang="en-VN" sz="1300" dirty="0">
                <a:solidFill>
                  <a:schemeClr val="bg1">
                    <a:lumMod val="85000"/>
                  </a:schemeClr>
                </a:solidFill>
                <a:latin typeface="JetBrains Mono Light" panose="02000009000000000000" pitchFamily="49" charset="0"/>
                <a:cs typeface="JetBrains Mono Light" panose="02000009000000000000" pitchFamily="49" charset="0"/>
              </a:rPr>
              <a:t>5</a:t>
            </a:r>
            <a:r>
              <a:rPr lang="en-US" sz="1300" dirty="0">
                <a:solidFill>
                  <a:schemeClr val="bg1">
                    <a:lumMod val="85000"/>
                  </a:schemeClr>
                </a:solidFill>
                <a:latin typeface="JetBrains Mono Light" panose="02000009000000000000" pitchFamily="49" charset="0"/>
                <a:cs typeface="JetBrains Mono Light" panose="02000009000000000000" pitchFamily="49" charset="0"/>
              </a:rPr>
              <a:t>.</a:t>
            </a:r>
            <a:r>
              <a:rPr lang="en-VN" sz="1300" dirty="0">
                <a:solidFill>
                  <a:schemeClr val="bg1">
                    <a:lumMod val="85000"/>
                  </a:schemeClr>
                </a:solidFill>
                <a:latin typeface="JetBrains Mono Light" panose="02000009000000000000" pitchFamily="49" charset="0"/>
                <a:cs typeface="JetBrains Mono Light" panose="02000009000000000000" pitchFamily="49" charset="0"/>
              </a:rPr>
              <a:t>385</a:t>
            </a:r>
          </a:p>
        </p:txBody>
      </p:sp>
      <p:sp>
        <p:nvSpPr>
          <p:cNvPr id="80" name="Rectangle 79">
            <a:extLst>
              <a:ext uri="{FF2B5EF4-FFF2-40B4-BE49-F238E27FC236}">
                <a16:creationId xmlns:a16="http://schemas.microsoft.com/office/drawing/2014/main" id="{66331BCD-8361-4651-B4B1-8A97DA615F53}"/>
              </a:ext>
            </a:extLst>
          </p:cNvPr>
          <p:cNvSpPr/>
          <p:nvPr/>
        </p:nvSpPr>
        <p:spPr>
          <a:xfrm>
            <a:off x="10765149" y="3055065"/>
            <a:ext cx="1435386" cy="261610"/>
          </a:xfrm>
          <a:prstGeom prst="rect">
            <a:avLst/>
          </a:prstGeom>
          <a:solidFill>
            <a:schemeClr val="tx1"/>
          </a:solidFill>
        </p:spPr>
        <p:txBody>
          <a:bodyPr wrap="square">
            <a:spAutoFit/>
          </a:bodyPr>
          <a:lstStyle/>
          <a:p>
            <a:r>
              <a:rPr lang="en-US" sz="1100" dirty="0">
                <a:solidFill>
                  <a:schemeClr val="bg1">
                    <a:lumMod val="50000"/>
                  </a:schemeClr>
                </a:solidFill>
                <a:latin typeface="JetBrains Mono Light" panose="02000009000000000000" pitchFamily="49" charset="0"/>
                <a:cs typeface="JetBrains Mono Light" panose="02000009000000000000" pitchFamily="49" charset="0"/>
              </a:rPr>
              <a:t>*not to scale</a:t>
            </a:r>
            <a:endParaRPr lang="en-VN" sz="11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81" name="Rectangle 80">
            <a:extLst>
              <a:ext uri="{FF2B5EF4-FFF2-40B4-BE49-F238E27FC236}">
                <a16:creationId xmlns:a16="http://schemas.microsoft.com/office/drawing/2014/main" id="{20210CBB-0029-4871-A07A-2FF927DCE34A}"/>
              </a:ext>
            </a:extLst>
          </p:cNvPr>
          <p:cNvSpPr/>
          <p:nvPr/>
        </p:nvSpPr>
        <p:spPr>
          <a:xfrm>
            <a:off x="11002331" y="1758244"/>
            <a:ext cx="166341" cy="292388"/>
          </a:xfrm>
          <a:prstGeom prst="rect">
            <a:avLst/>
          </a:prstGeom>
          <a:solidFill>
            <a:schemeClr val="tx1"/>
          </a:solidFill>
        </p:spPr>
        <p:txBody>
          <a:bodyPr wrap="square">
            <a:spAutoFit/>
          </a:bodyPr>
          <a:lstStyle/>
          <a:p>
            <a:pPr algn="ctr"/>
            <a:r>
              <a:rPr lang="en-VN" sz="1300" dirty="0">
                <a:solidFill>
                  <a:schemeClr val="bg1">
                    <a:lumMod val="85000"/>
                  </a:schemeClr>
                </a:solidFill>
                <a:latin typeface="JetBrains Mono Light" panose="02000009000000000000" pitchFamily="49" charset="0"/>
                <a:cs typeface="JetBrains Mono Light" panose="02000009000000000000" pitchFamily="49" charset="0"/>
              </a:rPr>
              <a:t>5</a:t>
            </a:r>
          </a:p>
        </p:txBody>
      </p:sp>
      <p:sp>
        <p:nvSpPr>
          <p:cNvPr id="82" name="Rectangle 81">
            <a:extLst>
              <a:ext uri="{FF2B5EF4-FFF2-40B4-BE49-F238E27FC236}">
                <a16:creationId xmlns:a16="http://schemas.microsoft.com/office/drawing/2014/main" id="{BC175BA1-C19F-4DCD-BFD1-E85F0D14EF14}"/>
              </a:ext>
            </a:extLst>
          </p:cNvPr>
          <p:cNvSpPr/>
          <p:nvPr/>
        </p:nvSpPr>
        <p:spPr>
          <a:xfrm>
            <a:off x="8930488" y="1477200"/>
            <a:ext cx="166341" cy="292388"/>
          </a:xfrm>
          <a:prstGeom prst="rect">
            <a:avLst/>
          </a:prstGeom>
          <a:solidFill>
            <a:schemeClr val="tx1"/>
          </a:solidFill>
        </p:spPr>
        <p:txBody>
          <a:bodyPr wrap="square">
            <a:spAutoFit/>
          </a:bodyPr>
          <a:lstStyle/>
          <a:p>
            <a:pPr algn="ctr"/>
            <a:r>
              <a:rPr lang="en-VN" sz="1300" dirty="0">
                <a:solidFill>
                  <a:schemeClr val="bg1">
                    <a:lumMod val="85000"/>
                  </a:schemeClr>
                </a:solidFill>
                <a:latin typeface="JetBrains Mono Light" panose="02000009000000000000" pitchFamily="49" charset="0"/>
                <a:cs typeface="JetBrains Mono Light" panose="02000009000000000000" pitchFamily="49" charset="0"/>
              </a:rPr>
              <a:t>5</a:t>
            </a:r>
          </a:p>
        </p:txBody>
      </p:sp>
      <p:sp>
        <p:nvSpPr>
          <p:cNvPr id="83" name="Rectangle 82">
            <a:extLst>
              <a:ext uri="{FF2B5EF4-FFF2-40B4-BE49-F238E27FC236}">
                <a16:creationId xmlns:a16="http://schemas.microsoft.com/office/drawing/2014/main" id="{EEAAE714-6B4D-4FAF-9F80-BDE71F7E39FA}"/>
              </a:ext>
            </a:extLst>
          </p:cNvPr>
          <p:cNvSpPr/>
          <p:nvPr/>
        </p:nvSpPr>
        <p:spPr>
          <a:xfrm rot="20979246">
            <a:off x="9497444" y="569769"/>
            <a:ext cx="682143" cy="292388"/>
          </a:xfrm>
          <a:prstGeom prst="rect">
            <a:avLst/>
          </a:prstGeom>
          <a:solidFill>
            <a:schemeClr val="tx1"/>
          </a:solidFill>
        </p:spPr>
        <p:txBody>
          <a:bodyPr wrap="square">
            <a:spAutoFit/>
          </a:bodyPr>
          <a:lstStyle/>
          <a:p>
            <a:r>
              <a:rPr lang="en-US" sz="1300" dirty="0">
                <a:solidFill>
                  <a:schemeClr val="bg1">
                    <a:lumMod val="85000"/>
                  </a:schemeClr>
                </a:solidFill>
                <a:latin typeface="JetBrains Mono Light" panose="02000009000000000000" pitchFamily="49" charset="0"/>
                <a:cs typeface="JetBrains Mono Light" panose="02000009000000000000" pitchFamily="49" charset="0"/>
              </a:rPr>
              <a:t>4.123</a:t>
            </a:r>
            <a:endParaRPr lang="en-VN" sz="1300" dirty="0">
              <a:solidFill>
                <a:schemeClr val="bg1">
                  <a:lumMod val="85000"/>
                </a:schemeClr>
              </a:solidFill>
              <a:latin typeface="JetBrains Mono Light" panose="02000009000000000000" pitchFamily="49" charset="0"/>
              <a:cs typeface="JetBrains Mono Light" panose="02000009000000000000" pitchFamily="49" charset="0"/>
            </a:endParaRPr>
          </a:p>
        </p:txBody>
      </p:sp>
      <p:sp>
        <p:nvSpPr>
          <p:cNvPr id="84" name="Rectangle 83">
            <a:extLst>
              <a:ext uri="{FF2B5EF4-FFF2-40B4-BE49-F238E27FC236}">
                <a16:creationId xmlns:a16="http://schemas.microsoft.com/office/drawing/2014/main" id="{14A95B5D-FF77-4130-96F9-7CEBE2098D8E}"/>
              </a:ext>
            </a:extLst>
          </p:cNvPr>
          <p:cNvSpPr/>
          <p:nvPr/>
        </p:nvSpPr>
        <p:spPr>
          <a:xfrm rot="20151879">
            <a:off x="10865855" y="642032"/>
            <a:ext cx="813884" cy="292388"/>
          </a:xfrm>
          <a:prstGeom prst="rect">
            <a:avLst/>
          </a:prstGeom>
          <a:noFill/>
        </p:spPr>
        <p:txBody>
          <a:bodyPr wrap="square">
            <a:spAutoFit/>
          </a:bodyPr>
          <a:lstStyle/>
          <a:p>
            <a:r>
              <a:rPr lang="en-US" sz="1300" dirty="0">
                <a:solidFill>
                  <a:schemeClr val="bg1">
                    <a:lumMod val="85000"/>
                  </a:schemeClr>
                </a:solidFill>
                <a:latin typeface="JetBrains Mono Light" panose="02000009000000000000" pitchFamily="49" charset="0"/>
                <a:cs typeface="JetBrains Mono Light" panose="02000009000000000000" pitchFamily="49" charset="0"/>
              </a:rPr>
              <a:t>3.1623</a:t>
            </a:r>
            <a:endParaRPr lang="en-VN" sz="1300" dirty="0">
              <a:solidFill>
                <a:schemeClr val="bg1">
                  <a:lumMod val="85000"/>
                </a:schemeClr>
              </a:solidFill>
              <a:latin typeface="JetBrains Mono Light" panose="02000009000000000000" pitchFamily="49" charset="0"/>
              <a:cs typeface="JetBrains Mono Light" panose="02000009000000000000" pitchFamily="49" charset="0"/>
            </a:endParaRPr>
          </a:p>
        </p:txBody>
      </p:sp>
    </p:spTree>
    <p:extLst>
      <p:ext uri="{BB962C8B-B14F-4D97-AF65-F5344CB8AC3E}">
        <p14:creationId xmlns:p14="http://schemas.microsoft.com/office/powerpoint/2010/main" val="24177017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fade">
                                      <p:cBhvr>
                                        <p:cTn id="12" dur="500"/>
                                        <p:tgtEl>
                                          <p:spTgt spid="4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fade">
                                      <p:cBhvr>
                                        <p:cTn id="17" dur="500"/>
                                        <p:tgtEl>
                                          <p:spTgt spid="4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fade">
                                      <p:cBhvr>
                                        <p:cTn id="27" dur="500"/>
                                        <p:tgtEl>
                                          <p:spTgt spid="5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fade">
                                      <p:cBhvr>
                                        <p:cTn id="30" dur="500"/>
                                        <p:tgtEl>
                                          <p:spTgt spid="4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1"/>
                                        </p:tgtEl>
                                        <p:attrNameLst>
                                          <p:attrName>style.visibility</p:attrName>
                                        </p:attrNameLst>
                                      </p:cBhvr>
                                      <p:to>
                                        <p:strVal val="visible"/>
                                      </p:to>
                                    </p:set>
                                    <p:animEffect transition="in" filter="fade">
                                      <p:cBhvr>
                                        <p:cTn id="35" dur="500"/>
                                        <p:tgtEl>
                                          <p:spTgt spid="5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53"/>
                                        </p:tgtEl>
                                        <p:attrNameLst>
                                          <p:attrName>style.visibility</p:attrName>
                                        </p:attrNameLst>
                                      </p:cBhvr>
                                      <p:to>
                                        <p:strVal val="visible"/>
                                      </p:to>
                                    </p:set>
                                    <p:animEffect transition="in" filter="fade">
                                      <p:cBhvr>
                                        <p:cTn id="40" dur="500"/>
                                        <p:tgtEl>
                                          <p:spTgt spid="5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2"/>
                                        </p:tgtEl>
                                        <p:attrNameLst>
                                          <p:attrName>style.visibility</p:attrName>
                                        </p:attrNameLst>
                                      </p:cBhvr>
                                      <p:to>
                                        <p:strVal val="visible"/>
                                      </p:to>
                                    </p:set>
                                    <p:animEffect transition="in" filter="fade">
                                      <p:cBhvr>
                                        <p:cTn id="43" dur="500"/>
                                        <p:tgtEl>
                                          <p:spTgt spid="5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54"/>
                                        </p:tgtEl>
                                        <p:attrNameLst>
                                          <p:attrName>style.visibility</p:attrName>
                                        </p:attrNameLst>
                                      </p:cBhvr>
                                      <p:to>
                                        <p:strVal val="visible"/>
                                      </p:to>
                                    </p:set>
                                    <p:animEffect transition="in" filter="fade">
                                      <p:cBhvr>
                                        <p:cTn id="48"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46" grpId="0"/>
      <p:bldP spid="47" grpId="0"/>
      <p:bldP spid="48" grpId="0"/>
      <p:bldP spid="49" grpId="0" animBg="1"/>
      <p:bldP spid="50" grpId="0" animBg="1"/>
      <p:bldP spid="51" grpId="0"/>
      <p:bldP spid="52" grpId="0" animBg="1"/>
      <p:bldP spid="53" grpId="0"/>
      <p:bldP spid="5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62945A5-5BB9-4AE8-B6E4-BBB6500CA93C}"/>
              </a:ext>
            </a:extLst>
          </p:cNvPr>
          <p:cNvSpPr/>
          <p:nvPr/>
        </p:nvSpPr>
        <p:spPr>
          <a:xfrm>
            <a:off x="0" y="-1652"/>
            <a:ext cx="12192000" cy="68608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5" name="Credit MAIN">
            <a:extLst>
              <a:ext uri="{FF2B5EF4-FFF2-40B4-BE49-F238E27FC236}">
                <a16:creationId xmlns:a16="http://schemas.microsoft.com/office/drawing/2014/main" id="{FB482870-53A0-4C28-ADB3-586D85E630AB}"/>
              </a:ext>
            </a:extLst>
          </p:cNvPr>
          <p:cNvSpPr txBox="1"/>
          <p:nvPr/>
        </p:nvSpPr>
        <p:spPr>
          <a:xfrm>
            <a:off x="50878" y="6432004"/>
            <a:ext cx="2668876"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Phạm</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Văn</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Quyết</a:t>
            </a:r>
            <a:endParaRPr lang="en-US" dirty="0">
              <a:solidFill>
                <a:schemeClr val="bg1">
                  <a:lumMod val="95000"/>
                  <a:alpha val="46000"/>
                </a:schemeClr>
              </a:solidFill>
            </a:endParaRPr>
          </a:p>
        </p:txBody>
      </p:sp>
      <p:sp>
        <p:nvSpPr>
          <p:cNvPr id="6" name="Header">
            <a:extLst>
              <a:ext uri="{FF2B5EF4-FFF2-40B4-BE49-F238E27FC236}">
                <a16:creationId xmlns:a16="http://schemas.microsoft.com/office/drawing/2014/main" id="{247632AA-D75C-4C5C-B45E-B1AB63ADEF57}"/>
              </a:ext>
            </a:extLst>
          </p:cNvPr>
          <p:cNvSpPr txBox="1"/>
          <p:nvPr/>
        </p:nvSpPr>
        <p:spPr>
          <a:xfrm>
            <a:off x="50878" y="79574"/>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96" name="Rectangle 95">
            <a:extLst>
              <a:ext uri="{FF2B5EF4-FFF2-40B4-BE49-F238E27FC236}">
                <a16:creationId xmlns:a16="http://schemas.microsoft.com/office/drawing/2014/main" id="{8BEED369-CC3C-4115-89D3-C9A65D86B4E7}"/>
              </a:ext>
            </a:extLst>
          </p:cNvPr>
          <p:cNvSpPr/>
          <p:nvPr/>
        </p:nvSpPr>
        <p:spPr>
          <a:xfrm>
            <a:off x="277133" y="260327"/>
            <a:ext cx="3650464"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extBox 96">
            <a:extLst>
              <a:ext uri="{FF2B5EF4-FFF2-40B4-BE49-F238E27FC236}">
                <a16:creationId xmlns:a16="http://schemas.microsoft.com/office/drawing/2014/main" id="{EFF3D74D-55BA-4E5F-B58B-3A2770C7EF89}"/>
              </a:ext>
            </a:extLst>
          </p:cNvPr>
          <p:cNvSpPr txBox="1"/>
          <p:nvPr/>
        </p:nvSpPr>
        <p:spPr>
          <a:xfrm>
            <a:off x="289038" y="259801"/>
            <a:ext cx="3638559" cy="369332"/>
          </a:xfrm>
          <a:prstGeom prst="rect">
            <a:avLst/>
          </a:prstGeom>
          <a:no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Bài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toán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Người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bán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hàng</a:t>
            </a:r>
            <a:r>
              <a:rPr lang="en-US" dirty="0">
                <a:latin typeface="JetBrains Mono Regular" panose="02000009000000000000" pitchFamily="49" charset="0"/>
                <a:cs typeface="JetBrains Mono Regular" panose="02000009000000000000" pitchFamily="49" charset="0"/>
              </a:rPr>
              <a:t>”</a:t>
            </a:r>
          </a:p>
        </p:txBody>
      </p:sp>
      <p:sp>
        <p:nvSpPr>
          <p:cNvPr id="100" name="Footer: Part">
            <a:extLst>
              <a:ext uri="{FF2B5EF4-FFF2-40B4-BE49-F238E27FC236}">
                <a16:creationId xmlns:a16="http://schemas.microsoft.com/office/drawing/2014/main" id="{016F4389-E5C3-4D2D-9DEA-D63CF41DDDC3}"/>
              </a:ext>
            </a:extLst>
          </p:cNvPr>
          <p:cNvSpPr txBox="1"/>
          <p:nvPr/>
        </p:nvSpPr>
        <p:spPr>
          <a:xfrm>
            <a:off x="8487508" y="7120982"/>
            <a:ext cx="3733195" cy="369332"/>
          </a:xfrm>
          <a:prstGeom prst="rect">
            <a:avLst/>
          </a:prstGeom>
          <a:noFill/>
        </p:spPr>
        <p:txBody>
          <a:bodyPr wrap="square" rtlCol="0">
            <a:spAutoFit/>
          </a:bodyPr>
          <a:lstStyle/>
          <a:p>
            <a:r>
              <a:rPr lang="en-US" dirty="0" err="1">
                <a:solidFill>
                  <a:schemeClr val="bg1">
                    <a:lumMod val="95000"/>
                    <a:alpha val="18000"/>
                  </a:schemeClr>
                </a:solidFill>
                <a:latin typeface="JetBrains Mono Regular" panose="02000009000000000000" pitchFamily="49" charset="0"/>
                <a:cs typeface="JetBrains Mono Regular" panose="02000009000000000000" pitchFamily="49" charset="0"/>
              </a:rPr>
              <a:t>Bài</a:t>
            </a:r>
            <a:r>
              <a:rPr lang="en-US" dirty="0">
                <a:solidFill>
                  <a:schemeClr val="bg1">
                    <a:lumMod val="95000"/>
                    <a:alpha val="18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alpha val="18000"/>
                  </a:schemeClr>
                </a:solidFill>
                <a:latin typeface="JetBrains Mono Regular" panose="02000009000000000000" pitchFamily="49" charset="0"/>
                <a:cs typeface="JetBrains Mono Regular" panose="02000009000000000000" pitchFamily="49" charset="0"/>
              </a:rPr>
              <a:t>toán</a:t>
            </a:r>
            <a:r>
              <a:rPr lang="en-US" dirty="0">
                <a:solidFill>
                  <a:schemeClr val="bg1">
                    <a:lumMod val="95000"/>
                    <a:alpha val="18000"/>
                  </a:schemeClr>
                </a:solidFill>
                <a:latin typeface="JetBrains Mono Regular" panose="02000009000000000000" pitchFamily="49" charset="0"/>
                <a:cs typeface="JetBrains Mono Regular" panose="02000009000000000000" pitchFamily="49" charset="0"/>
              </a:rPr>
              <a:t> </a:t>
            </a:r>
            <a:r>
              <a:rPr lang="en-US" dirty="0">
                <a:solidFill>
                  <a:schemeClr val="bg1">
                    <a:lumMod val="95000"/>
                    <a:alpha val="18000"/>
                  </a:schemeClr>
                </a:solidFill>
                <a:latin typeface="JetBrains Mono Light" panose="02000009000000000000" pitchFamily="49" charset="0"/>
                <a:cs typeface="JetBrains Mono Light" panose="02000009000000000000" pitchFamily="49" charset="0"/>
              </a:rPr>
              <a:t>“</a:t>
            </a:r>
            <a:r>
              <a:rPr lang="en-US" dirty="0" err="1">
                <a:solidFill>
                  <a:schemeClr val="bg1">
                    <a:lumMod val="85000"/>
                    <a:alpha val="18000"/>
                  </a:schemeClr>
                </a:solidFill>
                <a:latin typeface="JetBrains Mono Light" panose="02000009000000000000"/>
                <a:cs typeface="JetBrains Mono" panose="02000009000000000000" pitchFamily="49" charset="0"/>
              </a:rPr>
              <a:t>Người</a:t>
            </a:r>
            <a:r>
              <a:rPr lang="en-US" dirty="0">
                <a:solidFill>
                  <a:schemeClr val="bg1">
                    <a:lumMod val="85000"/>
                    <a:alpha val="18000"/>
                  </a:schemeClr>
                </a:solidFill>
                <a:latin typeface="JetBrains Mono Light" panose="02000009000000000000"/>
                <a:cs typeface="JetBrains Mono" panose="02000009000000000000" pitchFamily="49" charset="0"/>
              </a:rPr>
              <a:t> </a:t>
            </a:r>
            <a:r>
              <a:rPr lang="en-US" dirty="0" err="1">
                <a:solidFill>
                  <a:schemeClr val="bg1">
                    <a:lumMod val="85000"/>
                    <a:alpha val="18000"/>
                  </a:schemeClr>
                </a:solidFill>
                <a:latin typeface="JetBrains Mono Light" panose="02000009000000000000"/>
                <a:cs typeface="JetBrains Mono" panose="02000009000000000000" pitchFamily="49" charset="0"/>
              </a:rPr>
              <a:t>bán</a:t>
            </a:r>
            <a:r>
              <a:rPr lang="en-US" dirty="0">
                <a:solidFill>
                  <a:schemeClr val="bg1">
                    <a:lumMod val="85000"/>
                    <a:alpha val="18000"/>
                  </a:schemeClr>
                </a:solidFill>
                <a:latin typeface="JetBrains Mono Light" panose="02000009000000000000"/>
                <a:cs typeface="JetBrains Mono" panose="02000009000000000000" pitchFamily="49" charset="0"/>
              </a:rPr>
              <a:t> </a:t>
            </a:r>
            <a:r>
              <a:rPr lang="en-US" dirty="0" err="1">
                <a:solidFill>
                  <a:schemeClr val="bg1">
                    <a:lumMod val="85000"/>
                    <a:alpha val="18000"/>
                  </a:schemeClr>
                </a:solidFill>
                <a:latin typeface="JetBrains Mono Light" panose="02000009000000000000"/>
                <a:cs typeface="JetBrains Mono" panose="02000009000000000000" pitchFamily="49" charset="0"/>
              </a:rPr>
              <a:t>hàng</a:t>
            </a:r>
            <a:r>
              <a:rPr lang="en-US" dirty="0">
                <a:solidFill>
                  <a:schemeClr val="bg1">
                    <a:lumMod val="85000"/>
                    <a:alpha val="18000"/>
                  </a:schemeClr>
                </a:solidFill>
                <a:latin typeface="JetBrains Mono Light" panose="02000009000000000000"/>
                <a:cs typeface="JetBrains Mono" panose="02000009000000000000" pitchFamily="49" charset="0"/>
              </a:rPr>
              <a:t>”</a:t>
            </a:r>
          </a:p>
        </p:txBody>
      </p:sp>
      <p:sp>
        <p:nvSpPr>
          <p:cNvPr id="101" name="Footer: Title">
            <a:extLst>
              <a:ext uri="{FF2B5EF4-FFF2-40B4-BE49-F238E27FC236}">
                <a16:creationId xmlns:a16="http://schemas.microsoft.com/office/drawing/2014/main" id="{B2A17C04-152A-45B6-A501-F1F83F8D02FC}"/>
              </a:ext>
            </a:extLst>
          </p:cNvPr>
          <p:cNvSpPr txBox="1"/>
          <p:nvPr/>
        </p:nvSpPr>
        <p:spPr>
          <a:xfrm>
            <a:off x="7385543" y="6821266"/>
            <a:ext cx="1215645" cy="369332"/>
          </a:xfrm>
          <a:prstGeom prst="rect">
            <a:avLst/>
          </a:prstGeom>
          <a:solidFill>
            <a:schemeClr val="tx1"/>
          </a:solidFill>
        </p:spPr>
        <p:txBody>
          <a:bodyPr wrap="square" rtlCol="0">
            <a:spAutoFit/>
          </a:bodyPr>
          <a:lstStyle/>
          <a:p>
            <a:r>
              <a:rPr lang="en-US" dirty="0" err="1">
                <a:solidFill>
                  <a:schemeClr val="bg1">
                    <a:lumMod val="50000"/>
                    <a:alpha val="28000"/>
                  </a:schemeClr>
                </a:solidFill>
                <a:latin typeface="JetBrains Mono ExtraLight" panose="02000009000000000000" pitchFamily="49" charset="0"/>
                <a:cs typeface="JetBrains Mono ExtraLight" panose="02000009000000000000" pitchFamily="49" charset="0"/>
              </a:rPr>
              <a:t>Đồ</a:t>
            </a:r>
            <a:r>
              <a:rPr lang="en-US" dirty="0">
                <a:solidFill>
                  <a:schemeClr val="bg1">
                    <a:lumMod val="50000"/>
                    <a:alpha val="28000"/>
                  </a:schemeClr>
                </a:solidFill>
                <a:latin typeface="JetBrains Mono ExtraLight" panose="02000009000000000000" pitchFamily="49" charset="0"/>
                <a:cs typeface="JetBrains Mono ExtraLight" panose="02000009000000000000" pitchFamily="49" charset="0"/>
              </a:rPr>
              <a:t> </a:t>
            </a:r>
            <a:r>
              <a:rPr lang="en-US" dirty="0" err="1">
                <a:solidFill>
                  <a:schemeClr val="bg1">
                    <a:lumMod val="50000"/>
                    <a:alpha val="28000"/>
                  </a:schemeClr>
                </a:solidFill>
                <a:latin typeface="JetBrains Mono ExtraLight" panose="02000009000000000000" pitchFamily="49" charset="0"/>
                <a:cs typeface="JetBrains Mono ExtraLight" panose="02000009000000000000" pitchFamily="49" charset="0"/>
              </a:rPr>
              <a:t>thị</a:t>
            </a:r>
            <a:r>
              <a:rPr lang="en-US" dirty="0">
                <a:solidFill>
                  <a:schemeClr val="bg1">
                    <a:lumMod val="50000"/>
                    <a:alpha val="28000"/>
                  </a:schemeClr>
                </a:solidFill>
                <a:latin typeface="JetBrains Mono ExtraLight" panose="02000009000000000000" pitchFamily="49" charset="0"/>
                <a:cs typeface="JetBrains Mono ExtraLight" panose="02000009000000000000" pitchFamily="49" charset="0"/>
              </a:rPr>
              <a:t>:</a:t>
            </a:r>
          </a:p>
        </p:txBody>
      </p:sp>
      <p:sp>
        <p:nvSpPr>
          <p:cNvPr id="102" name="TextBox 101">
            <a:extLst>
              <a:ext uri="{FF2B5EF4-FFF2-40B4-BE49-F238E27FC236}">
                <a16:creationId xmlns:a16="http://schemas.microsoft.com/office/drawing/2014/main" id="{B7DEB64E-8263-4FBE-880D-A765FCB877CA}"/>
              </a:ext>
            </a:extLst>
          </p:cNvPr>
          <p:cNvSpPr txBox="1"/>
          <p:nvPr/>
        </p:nvSpPr>
        <p:spPr>
          <a:xfrm>
            <a:off x="264755" y="1400284"/>
            <a:ext cx="1145264"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Light" panose="02000009000000000000" pitchFamily="49" charset="0"/>
                <a:cs typeface="JetBrains Mono Light" panose="02000009000000000000" pitchFamily="49" charset="0"/>
              </a:rPr>
              <a:t>Dữ</a:t>
            </a:r>
            <a:r>
              <a:rPr lang="en-US" dirty="0">
                <a:solidFill>
                  <a:schemeClr val="bg1"/>
                </a:solidFill>
                <a:latin typeface="JetBrains Mono Light" panose="02000009000000000000" pitchFamily="49" charset="0"/>
                <a:cs typeface="JetBrains Mono Light" panose="02000009000000000000" pitchFamily="49" charset="0"/>
              </a:rPr>
              <a:t> </a:t>
            </a:r>
            <a:r>
              <a:rPr lang="en-US" dirty="0" err="1">
                <a:solidFill>
                  <a:schemeClr val="bg1"/>
                </a:solidFill>
                <a:latin typeface="JetBrains Mono Light" panose="02000009000000000000" pitchFamily="49" charset="0"/>
                <a:cs typeface="JetBrains Mono Light" panose="02000009000000000000" pitchFamily="49" charset="0"/>
              </a:rPr>
              <a:t>liệu</a:t>
            </a:r>
            <a:endParaRPr lang="en-US" dirty="0">
              <a:solidFill>
                <a:schemeClr val="bg1"/>
              </a:solidFill>
              <a:latin typeface="JetBrains Mono Light" panose="02000009000000000000" pitchFamily="49" charset="0"/>
              <a:cs typeface="JetBrains Mono Light" panose="02000009000000000000" pitchFamily="49" charset="0"/>
            </a:endParaRPr>
          </a:p>
        </p:txBody>
      </p:sp>
      <p:sp>
        <p:nvSpPr>
          <p:cNvPr id="103" name="PAGE NUM 0">
            <a:extLst>
              <a:ext uri="{FF2B5EF4-FFF2-40B4-BE49-F238E27FC236}">
                <a16:creationId xmlns:a16="http://schemas.microsoft.com/office/drawing/2014/main" id="{DC431461-8670-4871-9886-DF4E60548EE6}"/>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4</a:t>
            </a:r>
          </a:p>
        </p:txBody>
      </p:sp>
      <p:sp>
        <p:nvSpPr>
          <p:cNvPr id="104" name="PAGE NUM 1">
            <a:extLst>
              <a:ext uri="{FF2B5EF4-FFF2-40B4-BE49-F238E27FC236}">
                <a16:creationId xmlns:a16="http://schemas.microsoft.com/office/drawing/2014/main" id="{6569C3BF-9BCD-4453-B3A6-3B8D72657B17}"/>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0</a:t>
            </a:r>
            <a:endParaRPr lang="en-US" dirty="0"/>
          </a:p>
        </p:txBody>
      </p:sp>
      <p:cxnSp>
        <p:nvCxnSpPr>
          <p:cNvPr id="109" name="Straight Arrow Connector 108">
            <a:extLst>
              <a:ext uri="{FF2B5EF4-FFF2-40B4-BE49-F238E27FC236}">
                <a16:creationId xmlns:a16="http://schemas.microsoft.com/office/drawing/2014/main" id="{10F708DC-B62C-48B8-8107-BC4DD33F2781}"/>
              </a:ext>
            </a:extLst>
          </p:cNvPr>
          <p:cNvCxnSpPr>
            <a:cxnSpLocks/>
            <a:stCxn id="98" idx="3"/>
            <a:endCxn id="99" idx="1"/>
          </p:cNvCxnSpPr>
          <p:nvPr/>
        </p:nvCxnSpPr>
        <p:spPr>
          <a:xfrm flipV="1">
            <a:off x="2057041" y="1620017"/>
            <a:ext cx="546389" cy="1842857"/>
          </a:xfrm>
          <a:prstGeom prst="straightConnector1">
            <a:avLst/>
          </a:prstGeom>
          <a:ln w="38100">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2FCC355C-0E3A-44FD-9F9D-4284845F61F9}"/>
              </a:ext>
            </a:extLst>
          </p:cNvPr>
          <p:cNvCxnSpPr>
            <a:cxnSpLocks/>
            <a:stCxn id="98" idx="3"/>
            <a:endCxn id="105" idx="1"/>
          </p:cNvCxnSpPr>
          <p:nvPr/>
        </p:nvCxnSpPr>
        <p:spPr>
          <a:xfrm flipV="1">
            <a:off x="2057041" y="3116780"/>
            <a:ext cx="546389" cy="346094"/>
          </a:xfrm>
          <a:prstGeom prst="straightConnector1">
            <a:avLst/>
          </a:prstGeom>
          <a:ln w="38100">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96BE63B5-8ED9-4049-AEA0-374DB57A0371}"/>
              </a:ext>
            </a:extLst>
          </p:cNvPr>
          <p:cNvCxnSpPr>
            <a:cxnSpLocks/>
            <a:stCxn id="98" idx="3"/>
            <a:endCxn id="106" idx="1"/>
          </p:cNvCxnSpPr>
          <p:nvPr/>
        </p:nvCxnSpPr>
        <p:spPr>
          <a:xfrm>
            <a:off x="2057041" y="3462874"/>
            <a:ext cx="546389" cy="1150669"/>
          </a:xfrm>
          <a:prstGeom prst="straightConnector1">
            <a:avLst/>
          </a:prstGeom>
          <a:ln w="38100">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FD74F12B-1A01-46B9-B903-CA18C1EC6A6F}"/>
              </a:ext>
            </a:extLst>
          </p:cNvPr>
          <p:cNvCxnSpPr>
            <a:cxnSpLocks/>
            <a:stCxn id="98" idx="3"/>
            <a:endCxn id="107" idx="1"/>
          </p:cNvCxnSpPr>
          <p:nvPr/>
        </p:nvCxnSpPr>
        <p:spPr>
          <a:xfrm>
            <a:off x="2057041" y="3462874"/>
            <a:ext cx="546389" cy="2399974"/>
          </a:xfrm>
          <a:prstGeom prst="straightConnector1">
            <a:avLst/>
          </a:prstGeom>
          <a:ln w="38100">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8" name="Rectangle 97">
            <a:extLst>
              <a:ext uri="{FF2B5EF4-FFF2-40B4-BE49-F238E27FC236}">
                <a16:creationId xmlns:a16="http://schemas.microsoft.com/office/drawing/2014/main" id="{9B787872-361A-4167-888C-216C9A2FE997}"/>
              </a:ext>
            </a:extLst>
          </p:cNvPr>
          <p:cNvSpPr/>
          <p:nvPr/>
        </p:nvSpPr>
        <p:spPr>
          <a:xfrm>
            <a:off x="277133" y="3162128"/>
            <a:ext cx="1779908" cy="60149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VN" dirty="0">
                <a:solidFill>
                  <a:schemeClr val="tx1"/>
                </a:solidFill>
                <a:latin typeface="JetBrains Mono Light" panose="02000009000000000000" pitchFamily="49" charset="0"/>
                <a:cs typeface="JetBrains Mono Light" panose="02000009000000000000" pitchFamily="49" charset="0"/>
              </a:rPr>
              <a:t>TGT</a:t>
            </a:r>
            <a:r>
              <a:rPr lang="en-VN" spc="300" dirty="0">
                <a:solidFill>
                  <a:schemeClr val="tx1"/>
                </a:solidFill>
                <a:latin typeface="JetBrains Mono Light" panose="02000009000000000000" pitchFamily="49" charset="0"/>
                <a:cs typeface="JetBrains Mono Light" panose="02000009000000000000" pitchFamily="49" charset="0"/>
              </a:rPr>
              <a:t>=</a:t>
            </a:r>
            <a:r>
              <a:rPr lang="en-VN" dirty="0">
                <a:solidFill>
                  <a:schemeClr val="tx1"/>
                </a:solidFill>
                <a:latin typeface="JetBrains Mono Light" panose="02000009000000000000" pitchFamily="49" charset="0"/>
                <a:cs typeface="JetBrains Mono Light" panose="02000009000000000000" pitchFamily="49" charset="0"/>
              </a:rPr>
              <a:t>0</a:t>
            </a:r>
          </a:p>
          <a:p>
            <a:r>
              <a:rPr lang="en-VN" dirty="0">
                <a:solidFill>
                  <a:schemeClr val="tx1"/>
                </a:solidFill>
                <a:latin typeface="JetBrains Mono Light" panose="02000009000000000000" pitchFamily="49" charset="0"/>
                <a:cs typeface="JetBrains Mono Light" panose="02000009000000000000" pitchFamily="49" charset="0"/>
              </a:rPr>
              <a:t>CD </a:t>
            </a:r>
            <a:r>
              <a:rPr lang="en-VN" spc="300" dirty="0">
                <a:solidFill>
                  <a:schemeClr val="tx1"/>
                </a:solidFill>
                <a:latin typeface="JetBrains Mono Light" panose="02000009000000000000" pitchFamily="49" charset="0"/>
                <a:cs typeface="JetBrains Mono Light" panose="02000009000000000000" pitchFamily="49" charset="0"/>
              </a:rPr>
              <a:t>=</a:t>
            </a:r>
            <a:r>
              <a:rPr lang="en-VN" dirty="0">
                <a:solidFill>
                  <a:schemeClr val="tx1"/>
                </a:solidFill>
                <a:latin typeface="JetBrains Mono Light" panose="02000009000000000000" pitchFamily="49" charset="0"/>
                <a:cs typeface="JetBrains Mono Light" panose="02000009000000000000" pitchFamily="49" charset="0"/>
              </a:rPr>
              <a:t>15,8115</a:t>
            </a:r>
          </a:p>
        </p:txBody>
      </p:sp>
      <p:sp>
        <p:nvSpPr>
          <p:cNvPr id="149" name="Freeform: Shape 148">
            <a:extLst>
              <a:ext uri="{FF2B5EF4-FFF2-40B4-BE49-F238E27FC236}">
                <a16:creationId xmlns:a16="http://schemas.microsoft.com/office/drawing/2014/main" id="{A35B1C3B-BAC7-461E-B6DC-3FA092059367}"/>
              </a:ext>
            </a:extLst>
          </p:cNvPr>
          <p:cNvSpPr/>
          <p:nvPr/>
        </p:nvSpPr>
        <p:spPr>
          <a:xfrm>
            <a:off x="4383338" y="1388720"/>
            <a:ext cx="1663418" cy="253638"/>
          </a:xfrm>
          <a:custGeom>
            <a:avLst/>
            <a:gdLst>
              <a:gd name="connsiteX0" fmla="*/ 0 w 1657350"/>
              <a:gd name="connsiteY0" fmla="*/ 209550 h 209550"/>
              <a:gd name="connsiteX1" fmla="*/ 419100 w 1657350"/>
              <a:gd name="connsiteY1" fmla="*/ 57150 h 209550"/>
              <a:gd name="connsiteX2" fmla="*/ 1657350 w 1657350"/>
              <a:gd name="connsiteY2" fmla="*/ 0 h 209550"/>
            </a:gdLst>
            <a:ahLst/>
            <a:cxnLst>
              <a:cxn ang="0">
                <a:pos x="connsiteX0" y="connsiteY0"/>
              </a:cxn>
              <a:cxn ang="0">
                <a:pos x="connsiteX1" y="connsiteY1"/>
              </a:cxn>
              <a:cxn ang="0">
                <a:pos x="connsiteX2" y="connsiteY2"/>
              </a:cxn>
            </a:cxnLst>
            <a:rect l="l" t="t" r="r" b="b"/>
            <a:pathLst>
              <a:path w="1657350" h="209550">
                <a:moveTo>
                  <a:pt x="0" y="209550"/>
                </a:moveTo>
                <a:cubicBezTo>
                  <a:pt x="71437" y="150812"/>
                  <a:pt x="142875" y="92075"/>
                  <a:pt x="419100" y="57150"/>
                </a:cubicBezTo>
                <a:cubicBezTo>
                  <a:pt x="695325" y="22225"/>
                  <a:pt x="1474788" y="1587"/>
                  <a:pt x="1657350" y="0"/>
                </a:cubicBezTo>
              </a:path>
            </a:pathLst>
          </a:custGeom>
          <a:noFill/>
          <a:ln>
            <a:solidFill>
              <a:schemeClr val="bg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163" name="Straight Arrow Connector 162">
            <a:extLst>
              <a:ext uri="{FF2B5EF4-FFF2-40B4-BE49-F238E27FC236}">
                <a16:creationId xmlns:a16="http://schemas.microsoft.com/office/drawing/2014/main" id="{342F9040-9A04-4830-AE94-F11707F234EB}"/>
              </a:ext>
            </a:extLst>
          </p:cNvPr>
          <p:cNvCxnSpPr>
            <a:cxnSpLocks/>
            <a:stCxn id="149" idx="0"/>
            <a:endCxn id="128" idx="1"/>
          </p:cNvCxnSpPr>
          <p:nvPr/>
        </p:nvCxnSpPr>
        <p:spPr>
          <a:xfrm flipV="1">
            <a:off x="4383338" y="1081327"/>
            <a:ext cx="489694" cy="561031"/>
          </a:xfrm>
          <a:prstGeom prst="straightConnector1">
            <a:avLst/>
          </a:prstGeom>
          <a:ln w="285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6" name="Straight Arrow Connector 165">
            <a:extLst>
              <a:ext uri="{FF2B5EF4-FFF2-40B4-BE49-F238E27FC236}">
                <a16:creationId xmlns:a16="http://schemas.microsoft.com/office/drawing/2014/main" id="{C58B9BF3-A107-4ED6-B6B5-7B0E186DED58}"/>
              </a:ext>
            </a:extLst>
          </p:cNvPr>
          <p:cNvCxnSpPr>
            <a:cxnSpLocks/>
            <a:stCxn id="149" idx="0"/>
            <a:endCxn id="131" idx="1"/>
          </p:cNvCxnSpPr>
          <p:nvPr/>
        </p:nvCxnSpPr>
        <p:spPr>
          <a:xfrm>
            <a:off x="4383338" y="1642358"/>
            <a:ext cx="474905" cy="68349"/>
          </a:xfrm>
          <a:prstGeom prst="straightConnector1">
            <a:avLst/>
          </a:prstGeom>
          <a:ln w="285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9" name="Rectangle 98">
            <a:extLst>
              <a:ext uri="{FF2B5EF4-FFF2-40B4-BE49-F238E27FC236}">
                <a16:creationId xmlns:a16="http://schemas.microsoft.com/office/drawing/2014/main" id="{2FD8B0C2-223B-439D-8936-EA420368D153}"/>
              </a:ext>
            </a:extLst>
          </p:cNvPr>
          <p:cNvSpPr/>
          <p:nvPr/>
        </p:nvSpPr>
        <p:spPr>
          <a:xfrm>
            <a:off x="2603430" y="1319271"/>
            <a:ext cx="1779908" cy="60149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VN" dirty="0">
                <a:solidFill>
                  <a:schemeClr val="tx1"/>
                </a:solidFill>
                <a:latin typeface="JetBrains Mono Light" panose="02000009000000000000" pitchFamily="49" charset="0"/>
                <a:cs typeface="JetBrains Mono Light" panose="02000009000000000000" pitchFamily="49" charset="0"/>
              </a:rPr>
              <a:t>TGT</a:t>
            </a:r>
            <a:r>
              <a:rPr lang="en-VN" spc="300" dirty="0">
                <a:solidFill>
                  <a:schemeClr val="tx1"/>
                </a:solidFill>
                <a:latin typeface="JetBrains Mono Light" panose="02000009000000000000" pitchFamily="49" charset="0"/>
                <a:cs typeface="JetBrains Mono Light" panose="02000009000000000000" pitchFamily="49" charset="0"/>
              </a:rPr>
              <a:t>=</a:t>
            </a:r>
            <a:r>
              <a:rPr lang="en-VN" dirty="0">
                <a:solidFill>
                  <a:schemeClr val="tx1"/>
                </a:solidFill>
                <a:latin typeface="JetBrains Mono Light" panose="02000009000000000000" pitchFamily="49" charset="0"/>
                <a:cs typeface="JetBrains Mono Light" panose="02000009000000000000" pitchFamily="49" charset="0"/>
              </a:rPr>
              <a:t>5</a:t>
            </a:r>
          </a:p>
          <a:p>
            <a:r>
              <a:rPr lang="en-VN" dirty="0">
                <a:solidFill>
                  <a:schemeClr val="tx1"/>
                </a:solidFill>
                <a:latin typeface="JetBrains Mono Light" panose="02000009000000000000" pitchFamily="49" charset="0"/>
                <a:cs typeface="JetBrains Mono Light" panose="02000009000000000000" pitchFamily="49" charset="0"/>
              </a:rPr>
              <a:t>CD </a:t>
            </a:r>
            <a:r>
              <a:rPr lang="en-VN" spc="300" dirty="0">
                <a:solidFill>
                  <a:schemeClr val="tx1"/>
                </a:solidFill>
                <a:latin typeface="JetBrains Mono Light" panose="02000009000000000000" pitchFamily="49" charset="0"/>
                <a:cs typeface="JetBrains Mono Light" panose="02000009000000000000" pitchFamily="49" charset="0"/>
              </a:rPr>
              <a:t>=</a:t>
            </a:r>
            <a:r>
              <a:rPr lang="en-VN" dirty="0">
                <a:solidFill>
                  <a:schemeClr val="tx1"/>
                </a:solidFill>
                <a:latin typeface="JetBrains Mono Light" panose="02000009000000000000" pitchFamily="49" charset="0"/>
                <a:cs typeface="JetBrains Mono Light" panose="02000009000000000000" pitchFamily="49" charset="0"/>
              </a:rPr>
              <a:t>17,6492</a:t>
            </a:r>
          </a:p>
        </p:txBody>
      </p:sp>
      <p:cxnSp>
        <p:nvCxnSpPr>
          <p:cNvPr id="173" name="Straight Arrow Connector 172">
            <a:extLst>
              <a:ext uri="{FF2B5EF4-FFF2-40B4-BE49-F238E27FC236}">
                <a16:creationId xmlns:a16="http://schemas.microsoft.com/office/drawing/2014/main" id="{68D7943A-7B2F-47EA-90B2-09855C539D0E}"/>
              </a:ext>
            </a:extLst>
          </p:cNvPr>
          <p:cNvCxnSpPr>
            <a:stCxn id="105" idx="3"/>
            <a:endCxn id="138" idx="1"/>
          </p:cNvCxnSpPr>
          <p:nvPr/>
        </p:nvCxnSpPr>
        <p:spPr>
          <a:xfrm flipV="1">
            <a:off x="4383338" y="2490226"/>
            <a:ext cx="487153" cy="626554"/>
          </a:xfrm>
          <a:prstGeom prst="straightConnector1">
            <a:avLst/>
          </a:prstGeom>
          <a:ln w="285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5" name="Straight Arrow Connector 174">
            <a:extLst>
              <a:ext uri="{FF2B5EF4-FFF2-40B4-BE49-F238E27FC236}">
                <a16:creationId xmlns:a16="http://schemas.microsoft.com/office/drawing/2014/main" id="{9ACCD570-3D05-40EA-B88F-892503BE476A}"/>
              </a:ext>
            </a:extLst>
          </p:cNvPr>
          <p:cNvCxnSpPr>
            <a:cxnSpLocks/>
            <a:stCxn id="105" idx="3"/>
            <a:endCxn id="139" idx="1"/>
          </p:cNvCxnSpPr>
          <p:nvPr/>
        </p:nvCxnSpPr>
        <p:spPr>
          <a:xfrm flipV="1">
            <a:off x="4383338" y="3005472"/>
            <a:ext cx="487154" cy="111308"/>
          </a:xfrm>
          <a:prstGeom prst="straightConnector1">
            <a:avLst/>
          </a:prstGeom>
          <a:ln w="28575">
            <a:solidFill>
              <a:schemeClr val="bg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8" name="Straight Arrow Connector 177">
            <a:extLst>
              <a:ext uri="{FF2B5EF4-FFF2-40B4-BE49-F238E27FC236}">
                <a16:creationId xmlns:a16="http://schemas.microsoft.com/office/drawing/2014/main" id="{E856DD8F-6DB7-4E13-A9F4-9D6538990FAD}"/>
              </a:ext>
            </a:extLst>
          </p:cNvPr>
          <p:cNvCxnSpPr>
            <a:stCxn id="105" idx="3"/>
            <a:endCxn id="140" idx="1"/>
          </p:cNvCxnSpPr>
          <p:nvPr/>
        </p:nvCxnSpPr>
        <p:spPr>
          <a:xfrm>
            <a:off x="4383338" y="3116780"/>
            <a:ext cx="487153" cy="418240"/>
          </a:xfrm>
          <a:prstGeom prst="straightConnector1">
            <a:avLst/>
          </a:prstGeom>
          <a:ln w="28575">
            <a:solidFill>
              <a:schemeClr val="bg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5" name="Rectangle 104">
            <a:extLst>
              <a:ext uri="{FF2B5EF4-FFF2-40B4-BE49-F238E27FC236}">
                <a16:creationId xmlns:a16="http://schemas.microsoft.com/office/drawing/2014/main" id="{356A62CF-23FB-4C0A-8CE9-4AC1F7400783}"/>
              </a:ext>
            </a:extLst>
          </p:cNvPr>
          <p:cNvSpPr/>
          <p:nvPr/>
        </p:nvSpPr>
        <p:spPr>
          <a:xfrm>
            <a:off x="2603430" y="2816034"/>
            <a:ext cx="1779908" cy="60149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VN" dirty="0">
                <a:solidFill>
                  <a:schemeClr val="tx1"/>
                </a:solidFill>
                <a:latin typeface="JetBrains Mono Light" panose="02000009000000000000" pitchFamily="49" charset="0"/>
                <a:cs typeface="JetBrains Mono Light" panose="02000009000000000000" pitchFamily="49" charset="0"/>
              </a:rPr>
              <a:t>TGT</a:t>
            </a:r>
            <a:r>
              <a:rPr lang="en-VN" spc="300" dirty="0">
                <a:solidFill>
                  <a:schemeClr val="tx1"/>
                </a:solidFill>
                <a:latin typeface="JetBrains Mono Light" panose="02000009000000000000" pitchFamily="49" charset="0"/>
                <a:cs typeface="JetBrains Mono Light" panose="02000009000000000000" pitchFamily="49" charset="0"/>
              </a:rPr>
              <a:t>=</a:t>
            </a:r>
            <a:r>
              <a:rPr lang="en-VN" dirty="0">
                <a:solidFill>
                  <a:schemeClr val="tx1"/>
                </a:solidFill>
                <a:latin typeface="JetBrains Mono Light" panose="02000009000000000000" pitchFamily="49" charset="0"/>
                <a:cs typeface="JetBrains Mono Light" panose="02000009000000000000" pitchFamily="49" charset="0"/>
              </a:rPr>
              <a:t>7,211</a:t>
            </a:r>
          </a:p>
          <a:p>
            <a:r>
              <a:rPr lang="en-VN" dirty="0">
                <a:solidFill>
                  <a:schemeClr val="tx1"/>
                </a:solidFill>
                <a:latin typeface="JetBrains Mono Light" panose="02000009000000000000" pitchFamily="49" charset="0"/>
                <a:cs typeface="JetBrains Mono Light" panose="02000009000000000000" pitchFamily="49" charset="0"/>
              </a:rPr>
              <a:t>CD </a:t>
            </a:r>
            <a:r>
              <a:rPr lang="en-VN" spc="300" dirty="0">
                <a:solidFill>
                  <a:schemeClr val="tx1"/>
                </a:solidFill>
                <a:latin typeface="JetBrains Mono Light" panose="02000009000000000000" pitchFamily="49" charset="0"/>
                <a:cs typeface="JetBrains Mono Light" panose="02000009000000000000" pitchFamily="49" charset="0"/>
              </a:rPr>
              <a:t>=</a:t>
            </a:r>
            <a:r>
              <a:rPr lang="en-VN" dirty="0">
                <a:solidFill>
                  <a:schemeClr val="tx1"/>
                </a:solidFill>
                <a:latin typeface="JetBrains Mono Light" panose="02000009000000000000" pitchFamily="49" charset="0"/>
                <a:cs typeface="JetBrains Mono Light" panose="02000009000000000000" pitchFamily="49" charset="0"/>
              </a:rPr>
              <a:t>19,8602</a:t>
            </a:r>
          </a:p>
        </p:txBody>
      </p:sp>
      <p:cxnSp>
        <p:nvCxnSpPr>
          <p:cNvPr id="180" name="Straight Arrow Connector 179">
            <a:extLst>
              <a:ext uri="{FF2B5EF4-FFF2-40B4-BE49-F238E27FC236}">
                <a16:creationId xmlns:a16="http://schemas.microsoft.com/office/drawing/2014/main" id="{540C2F0B-A045-4B40-9E3D-A8B8282B793F}"/>
              </a:ext>
            </a:extLst>
          </p:cNvPr>
          <p:cNvCxnSpPr>
            <a:stCxn id="106" idx="3"/>
            <a:endCxn id="142" idx="1"/>
          </p:cNvCxnSpPr>
          <p:nvPr/>
        </p:nvCxnSpPr>
        <p:spPr>
          <a:xfrm flipV="1">
            <a:off x="4383338" y="4123397"/>
            <a:ext cx="487153" cy="490146"/>
          </a:xfrm>
          <a:prstGeom prst="straightConnector1">
            <a:avLst/>
          </a:prstGeom>
          <a:ln w="285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82" name="Straight Arrow Connector 181">
            <a:extLst>
              <a:ext uri="{FF2B5EF4-FFF2-40B4-BE49-F238E27FC236}">
                <a16:creationId xmlns:a16="http://schemas.microsoft.com/office/drawing/2014/main" id="{C8F10FA8-9DEB-47DC-A233-17BE830F518E}"/>
              </a:ext>
            </a:extLst>
          </p:cNvPr>
          <p:cNvCxnSpPr>
            <a:cxnSpLocks/>
            <a:stCxn id="106" idx="3"/>
            <a:endCxn id="143" idx="1"/>
          </p:cNvCxnSpPr>
          <p:nvPr/>
        </p:nvCxnSpPr>
        <p:spPr>
          <a:xfrm>
            <a:off x="4383338" y="4613543"/>
            <a:ext cx="487152" cy="17642"/>
          </a:xfrm>
          <a:prstGeom prst="straightConnector1">
            <a:avLst/>
          </a:prstGeom>
          <a:ln w="285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84" name="Straight Arrow Connector 183">
            <a:extLst>
              <a:ext uri="{FF2B5EF4-FFF2-40B4-BE49-F238E27FC236}">
                <a16:creationId xmlns:a16="http://schemas.microsoft.com/office/drawing/2014/main" id="{A8B38EE1-46DC-4D9F-9745-D50148518B89}"/>
              </a:ext>
            </a:extLst>
          </p:cNvPr>
          <p:cNvCxnSpPr>
            <a:cxnSpLocks/>
            <a:stCxn id="106" idx="3"/>
            <a:endCxn id="144" idx="1"/>
          </p:cNvCxnSpPr>
          <p:nvPr/>
        </p:nvCxnSpPr>
        <p:spPr>
          <a:xfrm>
            <a:off x="4383338" y="4613543"/>
            <a:ext cx="487153" cy="506347"/>
          </a:xfrm>
          <a:prstGeom prst="straightConnector1">
            <a:avLst/>
          </a:prstGeom>
          <a:ln w="285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6" name="Rectangle 105">
            <a:extLst>
              <a:ext uri="{FF2B5EF4-FFF2-40B4-BE49-F238E27FC236}">
                <a16:creationId xmlns:a16="http://schemas.microsoft.com/office/drawing/2014/main" id="{B67118FF-D338-4C80-B492-C91C56C1568F}"/>
              </a:ext>
            </a:extLst>
          </p:cNvPr>
          <p:cNvSpPr/>
          <p:nvPr/>
        </p:nvSpPr>
        <p:spPr>
          <a:xfrm>
            <a:off x="2603430" y="4312797"/>
            <a:ext cx="1779908" cy="60149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VN" dirty="0">
                <a:solidFill>
                  <a:schemeClr val="tx1"/>
                </a:solidFill>
                <a:latin typeface="JetBrains Mono Light" panose="02000009000000000000" pitchFamily="49" charset="0"/>
                <a:cs typeface="JetBrains Mono Light" panose="02000009000000000000" pitchFamily="49" charset="0"/>
              </a:rPr>
              <a:t>TGT</a:t>
            </a:r>
            <a:r>
              <a:rPr lang="en-VN" spc="300" dirty="0">
                <a:solidFill>
                  <a:schemeClr val="tx1"/>
                </a:solidFill>
                <a:latin typeface="JetBrains Mono Light" panose="02000009000000000000" pitchFamily="49" charset="0"/>
                <a:cs typeface="JetBrains Mono Light" panose="02000009000000000000" pitchFamily="49" charset="0"/>
              </a:rPr>
              <a:t>=</a:t>
            </a:r>
            <a:r>
              <a:rPr lang="en-VN" dirty="0">
                <a:solidFill>
                  <a:schemeClr val="tx1"/>
                </a:solidFill>
                <a:latin typeface="JetBrains Mono Light" panose="02000009000000000000" pitchFamily="49" charset="0"/>
                <a:cs typeface="JetBrains Mono Light" panose="02000009000000000000" pitchFamily="49" charset="0"/>
              </a:rPr>
              <a:t>5,83</a:t>
            </a:r>
          </a:p>
          <a:p>
            <a:r>
              <a:rPr lang="en-VN" dirty="0">
                <a:solidFill>
                  <a:schemeClr val="tx1"/>
                </a:solidFill>
                <a:latin typeface="JetBrains Mono Light" panose="02000009000000000000" pitchFamily="49" charset="0"/>
                <a:cs typeface="JetBrains Mono Light" panose="02000009000000000000" pitchFamily="49" charset="0"/>
              </a:rPr>
              <a:t>CD </a:t>
            </a:r>
            <a:r>
              <a:rPr lang="en-VN" spc="300" dirty="0">
                <a:solidFill>
                  <a:schemeClr val="tx1"/>
                </a:solidFill>
                <a:latin typeface="JetBrains Mono Light" panose="02000009000000000000" pitchFamily="49" charset="0"/>
                <a:cs typeface="JetBrains Mono Light" panose="02000009000000000000" pitchFamily="49" charset="0"/>
              </a:rPr>
              <a:t>=</a:t>
            </a:r>
            <a:r>
              <a:rPr lang="en-VN" dirty="0">
                <a:solidFill>
                  <a:schemeClr val="tx1"/>
                </a:solidFill>
                <a:latin typeface="JetBrains Mono Light" panose="02000009000000000000" pitchFamily="49" charset="0"/>
                <a:cs typeface="JetBrains Mono Light" panose="02000009000000000000" pitchFamily="49" charset="0"/>
              </a:rPr>
              <a:t>18,4792</a:t>
            </a:r>
          </a:p>
        </p:txBody>
      </p:sp>
      <p:cxnSp>
        <p:nvCxnSpPr>
          <p:cNvPr id="158" name="Straight Arrow Connector 157">
            <a:extLst>
              <a:ext uri="{FF2B5EF4-FFF2-40B4-BE49-F238E27FC236}">
                <a16:creationId xmlns:a16="http://schemas.microsoft.com/office/drawing/2014/main" id="{7D47C379-619E-46E9-ACDF-DF22F47CF6D3}"/>
              </a:ext>
            </a:extLst>
          </p:cNvPr>
          <p:cNvCxnSpPr>
            <a:cxnSpLocks/>
            <a:endCxn id="146" idx="1"/>
          </p:cNvCxnSpPr>
          <p:nvPr/>
        </p:nvCxnSpPr>
        <p:spPr>
          <a:xfrm flipV="1">
            <a:off x="4383338" y="5702562"/>
            <a:ext cx="476745" cy="160286"/>
          </a:xfrm>
          <a:prstGeom prst="straightConnector1">
            <a:avLst/>
          </a:prstGeom>
          <a:ln w="28575">
            <a:solidFill>
              <a:schemeClr val="bg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90929B37-7F85-4D3C-B5B7-CD8EC1E8E742}"/>
              </a:ext>
            </a:extLst>
          </p:cNvPr>
          <p:cNvCxnSpPr>
            <a:cxnSpLocks/>
            <a:stCxn id="107" idx="3"/>
            <a:endCxn id="148" idx="1"/>
          </p:cNvCxnSpPr>
          <p:nvPr/>
        </p:nvCxnSpPr>
        <p:spPr>
          <a:xfrm>
            <a:off x="4383338" y="5862848"/>
            <a:ext cx="474905" cy="253959"/>
          </a:xfrm>
          <a:prstGeom prst="straightConnector1">
            <a:avLst/>
          </a:prstGeom>
          <a:ln w="28575">
            <a:solidFill>
              <a:schemeClr val="bg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53" name="Freeform: Shape 252">
            <a:extLst>
              <a:ext uri="{FF2B5EF4-FFF2-40B4-BE49-F238E27FC236}">
                <a16:creationId xmlns:a16="http://schemas.microsoft.com/office/drawing/2014/main" id="{5D0D0AFF-D0B9-424F-8604-9CC9500FCD9E}"/>
              </a:ext>
            </a:extLst>
          </p:cNvPr>
          <p:cNvSpPr/>
          <p:nvPr/>
        </p:nvSpPr>
        <p:spPr>
          <a:xfrm>
            <a:off x="4400842" y="5867400"/>
            <a:ext cx="1645914" cy="679873"/>
          </a:xfrm>
          <a:custGeom>
            <a:avLst/>
            <a:gdLst>
              <a:gd name="connsiteX0" fmla="*/ 0 w 1737360"/>
              <a:gd name="connsiteY0" fmla="*/ 0 h 679873"/>
              <a:gd name="connsiteX1" fmla="*/ 426720 w 1737360"/>
              <a:gd name="connsiteY1" fmla="*/ 586740 h 679873"/>
              <a:gd name="connsiteX2" fmla="*/ 1737360 w 1737360"/>
              <a:gd name="connsiteY2" fmla="*/ 670560 h 679873"/>
            </a:gdLst>
            <a:ahLst/>
            <a:cxnLst>
              <a:cxn ang="0">
                <a:pos x="connsiteX0" y="connsiteY0"/>
              </a:cxn>
              <a:cxn ang="0">
                <a:pos x="connsiteX1" y="connsiteY1"/>
              </a:cxn>
              <a:cxn ang="0">
                <a:pos x="connsiteX2" y="connsiteY2"/>
              </a:cxn>
            </a:cxnLst>
            <a:rect l="l" t="t" r="r" b="b"/>
            <a:pathLst>
              <a:path w="1737360" h="679873">
                <a:moveTo>
                  <a:pt x="0" y="0"/>
                </a:moveTo>
                <a:cubicBezTo>
                  <a:pt x="68580" y="237490"/>
                  <a:pt x="137160" y="474980"/>
                  <a:pt x="426720" y="586740"/>
                </a:cubicBezTo>
                <a:cubicBezTo>
                  <a:pt x="716280" y="698500"/>
                  <a:pt x="1226820" y="684530"/>
                  <a:pt x="1737360" y="670560"/>
                </a:cubicBezTo>
              </a:path>
            </a:pathLst>
          </a:custGeom>
          <a:noFill/>
          <a:ln w="28575">
            <a:solidFill>
              <a:schemeClr val="bg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7" name="Rectangle 106">
            <a:extLst>
              <a:ext uri="{FF2B5EF4-FFF2-40B4-BE49-F238E27FC236}">
                <a16:creationId xmlns:a16="http://schemas.microsoft.com/office/drawing/2014/main" id="{C084C242-BF4A-4E8B-8D2C-B97F04198B6B}"/>
              </a:ext>
            </a:extLst>
          </p:cNvPr>
          <p:cNvSpPr/>
          <p:nvPr/>
        </p:nvSpPr>
        <p:spPr>
          <a:xfrm>
            <a:off x="2603430" y="5562102"/>
            <a:ext cx="1779908" cy="601492"/>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VN" dirty="0">
                <a:solidFill>
                  <a:schemeClr val="tx1"/>
                </a:solidFill>
                <a:latin typeface="JetBrains Mono Light" panose="02000009000000000000" pitchFamily="49" charset="0"/>
                <a:cs typeface="JetBrains Mono Light" panose="02000009000000000000" pitchFamily="49" charset="0"/>
              </a:rPr>
              <a:t>TGT =5,385</a:t>
            </a:r>
          </a:p>
          <a:p>
            <a:r>
              <a:rPr lang="en-VN" dirty="0">
                <a:solidFill>
                  <a:schemeClr val="tx1"/>
                </a:solidFill>
                <a:latin typeface="JetBrains Mono Light" panose="02000009000000000000" pitchFamily="49" charset="0"/>
                <a:cs typeface="JetBrains Mono Light" panose="02000009000000000000" pitchFamily="49" charset="0"/>
              </a:rPr>
              <a:t>CD =18,0342</a:t>
            </a:r>
          </a:p>
        </p:txBody>
      </p:sp>
      <p:sp>
        <p:nvSpPr>
          <p:cNvPr id="124" name="TextBox 123">
            <a:extLst>
              <a:ext uri="{FF2B5EF4-FFF2-40B4-BE49-F238E27FC236}">
                <a16:creationId xmlns:a16="http://schemas.microsoft.com/office/drawing/2014/main" id="{4B61B8B0-82A4-428C-B17A-43C02E9BE2B9}"/>
              </a:ext>
            </a:extLst>
          </p:cNvPr>
          <p:cNvSpPr txBox="1"/>
          <p:nvPr/>
        </p:nvSpPr>
        <p:spPr>
          <a:xfrm>
            <a:off x="4040038" y="985746"/>
            <a:ext cx="477517" cy="369332"/>
          </a:xfrm>
          <a:prstGeom prst="rect">
            <a:avLst/>
          </a:prstGeom>
          <a:noFill/>
        </p:spPr>
        <p:txBody>
          <a:bodyPr wrap="square" rtlCol="0">
            <a:spAutoFit/>
          </a:bodyPr>
          <a:lstStyle/>
          <a:p>
            <a:r>
              <a:rPr lang="en-US" dirty="0">
                <a:solidFill>
                  <a:schemeClr val="bg1">
                    <a:lumMod val="50000"/>
                  </a:schemeClr>
                </a:solidFill>
                <a:latin typeface="JetBrains Mono Light" panose="02000009000000000000" pitchFamily="49" charset="0"/>
                <a:cs typeface="JetBrains Mono Light" panose="02000009000000000000" pitchFamily="49" charset="0"/>
              </a:rPr>
              <a:t>A</a:t>
            </a:r>
            <a:r>
              <a:rPr lang="en-US" dirty="0">
                <a:solidFill>
                  <a:schemeClr val="bg1"/>
                </a:solidFill>
                <a:latin typeface="JetBrains Mono Light" panose="02000009000000000000" pitchFamily="49" charset="0"/>
                <a:cs typeface="JetBrains Mono Light" panose="02000009000000000000" pitchFamily="49" charset="0"/>
              </a:rPr>
              <a:t>B</a:t>
            </a:r>
          </a:p>
        </p:txBody>
      </p:sp>
      <p:sp>
        <p:nvSpPr>
          <p:cNvPr id="125" name="TextBox 124">
            <a:extLst>
              <a:ext uri="{FF2B5EF4-FFF2-40B4-BE49-F238E27FC236}">
                <a16:creationId xmlns:a16="http://schemas.microsoft.com/office/drawing/2014/main" id="{29226480-B7FD-4391-BA2B-B68E8AB5183E}"/>
              </a:ext>
            </a:extLst>
          </p:cNvPr>
          <p:cNvSpPr txBox="1"/>
          <p:nvPr/>
        </p:nvSpPr>
        <p:spPr>
          <a:xfrm>
            <a:off x="4039531" y="2459421"/>
            <a:ext cx="477517" cy="369332"/>
          </a:xfrm>
          <a:prstGeom prst="rect">
            <a:avLst/>
          </a:prstGeom>
          <a:noFill/>
        </p:spPr>
        <p:txBody>
          <a:bodyPr wrap="square" rtlCol="0">
            <a:spAutoFit/>
          </a:bodyPr>
          <a:lstStyle/>
          <a:p>
            <a:r>
              <a:rPr lang="en-US" dirty="0">
                <a:solidFill>
                  <a:schemeClr val="bg1">
                    <a:lumMod val="50000"/>
                  </a:schemeClr>
                </a:solidFill>
                <a:latin typeface="JetBrains Mono Light" panose="02000009000000000000" pitchFamily="49" charset="0"/>
                <a:cs typeface="JetBrains Mono Light" panose="02000009000000000000" pitchFamily="49" charset="0"/>
              </a:rPr>
              <a:t>A</a:t>
            </a:r>
            <a:r>
              <a:rPr lang="en-US" dirty="0">
                <a:solidFill>
                  <a:schemeClr val="bg1"/>
                </a:solidFill>
                <a:latin typeface="JetBrains Mono Light" panose="02000009000000000000" pitchFamily="49" charset="0"/>
                <a:cs typeface="JetBrains Mono Light" panose="02000009000000000000" pitchFamily="49" charset="0"/>
              </a:rPr>
              <a:t>C</a:t>
            </a:r>
          </a:p>
        </p:txBody>
      </p:sp>
      <p:sp>
        <p:nvSpPr>
          <p:cNvPr id="126" name="TextBox 125">
            <a:extLst>
              <a:ext uri="{FF2B5EF4-FFF2-40B4-BE49-F238E27FC236}">
                <a16:creationId xmlns:a16="http://schemas.microsoft.com/office/drawing/2014/main" id="{F8BCBE5C-4C1D-40CC-B029-085AAD42A7F2}"/>
              </a:ext>
            </a:extLst>
          </p:cNvPr>
          <p:cNvSpPr txBox="1"/>
          <p:nvPr/>
        </p:nvSpPr>
        <p:spPr>
          <a:xfrm>
            <a:off x="4070409" y="3944565"/>
            <a:ext cx="477517" cy="369332"/>
          </a:xfrm>
          <a:prstGeom prst="rect">
            <a:avLst/>
          </a:prstGeom>
          <a:noFill/>
        </p:spPr>
        <p:txBody>
          <a:bodyPr wrap="square" rtlCol="0">
            <a:spAutoFit/>
          </a:bodyPr>
          <a:lstStyle/>
          <a:p>
            <a:r>
              <a:rPr lang="en-US" dirty="0">
                <a:solidFill>
                  <a:schemeClr val="bg1">
                    <a:lumMod val="50000"/>
                  </a:schemeClr>
                </a:solidFill>
                <a:latin typeface="JetBrains Mono Light" panose="02000009000000000000" pitchFamily="49" charset="0"/>
                <a:cs typeface="JetBrains Mono Light" panose="02000009000000000000" pitchFamily="49" charset="0"/>
              </a:rPr>
              <a:t>A</a:t>
            </a:r>
            <a:r>
              <a:rPr lang="en-US" dirty="0">
                <a:solidFill>
                  <a:schemeClr val="bg1"/>
                </a:solidFill>
                <a:latin typeface="JetBrains Mono Light" panose="02000009000000000000" pitchFamily="49" charset="0"/>
                <a:cs typeface="JetBrains Mono Light" panose="02000009000000000000" pitchFamily="49" charset="0"/>
              </a:rPr>
              <a:t>D</a:t>
            </a:r>
          </a:p>
        </p:txBody>
      </p:sp>
      <p:sp>
        <p:nvSpPr>
          <p:cNvPr id="127" name="TextBox 126">
            <a:extLst>
              <a:ext uri="{FF2B5EF4-FFF2-40B4-BE49-F238E27FC236}">
                <a16:creationId xmlns:a16="http://schemas.microsoft.com/office/drawing/2014/main" id="{5023903A-8F67-4B0F-B15C-F1923AA130C6}"/>
              </a:ext>
            </a:extLst>
          </p:cNvPr>
          <p:cNvSpPr txBox="1"/>
          <p:nvPr/>
        </p:nvSpPr>
        <p:spPr>
          <a:xfrm>
            <a:off x="4039533" y="5194969"/>
            <a:ext cx="477517" cy="369332"/>
          </a:xfrm>
          <a:prstGeom prst="rect">
            <a:avLst/>
          </a:prstGeom>
          <a:noFill/>
        </p:spPr>
        <p:txBody>
          <a:bodyPr wrap="square" rtlCol="0">
            <a:spAutoFit/>
          </a:bodyPr>
          <a:lstStyle/>
          <a:p>
            <a:r>
              <a:rPr lang="en-US" dirty="0">
                <a:solidFill>
                  <a:schemeClr val="bg1">
                    <a:lumMod val="50000"/>
                  </a:schemeClr>
                </a:solidFill>
                <a:latin typeface="JetBrains Mono Light" panose="02000009000000000000" pitchFamily="49" charset="0"/>
                <a:cs typeface="JetBrains Mono Light" panose="02000009000000000000" pitchFamily="49" charset="0"/>
              </a:rPr>
              <a:t>A</a:t>
            </a:r>
            <a:r>
              <a:rPr lang="en-US" dirty="0">
                <a:solidFill>
                  <a:schemeClr val="bg1"/>
                </a:solidFill>
                <a:latin typeface="JetBrains Mono Light" panose="02000009000000000000" pitchFamily="49" charset="0"/>
                <a:cs typeface="JetBrains Mono Light" panose="02000009000000000000" pitchFamily="49" charset="0"/>
              </a:rPr>
              <a:t>E</a:t>
            </a:r>
          </a:p>
        </p:txBody>
      </p:sp>
      <p:sp>
        <p:nvSpPr>
          <p:cNvPr id="209" name="Freeform: Shape 208">
            <a:extLst>
              <a:ext uri="{FF2B5EF4-FFF2-40B4-BE49-F238E27FC236}">
                <a16:creationId xmlns:a16="http://schemas.microsoft.com/office/drawing/2014/main" id="{02473FAF-AFCC-450D-95AD-997F64CC662E}"/>
              </a:ext>
            </a:extLst>
          </p:cNvPr>
          <p:cNvSpPr/>
          <p:nvPr/>
        </p:nvSpPr>
        <p:spPr>
          <a:xfrm>
            <a:off x="5987072" y="264908"/>
            <a:ext cx="1510516" cy="801892"/>
          </a:xfrm>
          <a:custGeom>
            <a:avLst/>
            <a:gdLst>
              <a:gd name="connsiteX0" fmla="*/ 0 w 1054100"/>
              <a:gd name="connsiteY0" fmla="*/ 801892 h 801892"/>
              <a:gd name="connsiteX1" fmla="*/ 361950 w 1054100"/>
              <a:gd name="connsiteY1" fmla="*/ 382792 h 801892"/>
              <a:gd name="connsiteX2" fmla="*/ 596900 w 1054100"/>
              <a:gd name="connsiteY2" fmla="*/ 84342 h 801892"/>
              <a:gd name="connsiteX3" fmla="*/ 1054100 w 1054100"/>
              <a:gd name="connsiteY3" fmla="*/ 1792 h 801892"/>
            </a:gdLst>
            <a:ahLst/>
            <a:cxnLst>
              <a:cxn ang="0">
                <a:pos x="connsiteX0" y="connsiteY0"/>
              </a:cxn>
              <a:cxn ang="0">
                <a:pos x="connsiteX1" y="connsiteY1"/>
              </a:cxn>
              <a:cxn ang="0">
                <a:pos x="connsiteX2" y="connsiteY2"/>
              </a:cxn>
              <a:cxn ang="0">
                <a:pos x="connsiteX3" y="connsiteY3"/>
              </a:cxn>
            </a:cxnLst>
            <a:rect l="l" t="t" r="r" b="b"/>
            <a:pathLst>
              <a:path w="1054100" h="801892">
                <a:moveTo>
                  <a:pt x="0" y="801892"/>
                </a:moveTo>
                <a:cubicBezTo>
                  <a:pt x="131233" y="652138"/>
                  <a:pt x="262467" y="502384"/>
                  <a:pt x="361950" y="382792"/>
                </a:cubicBezTo>
                <a:cubicBezTo>
                  <a:pt x="461433" y="263200"/>
                  <a:pt x="481542" y="147842"/>
                  <a:pt x="596900" y="84342"/>
                </a:cubicBezTo>
                <a:cubicBezTo>
                  <a:pt x="712258" y="20842"/>
                  <a:pt x="977900" y="-7733"/>
                  <a:pt x="1054100" y="1792"/>
                </a:cubicBezTo>
              </a:path>
            </a:pathLst>
          </a:custGeom>
          <a:noFill/>
          <a:ln>
            <a:solidFill>
              <a:schemeClr val="bg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1" name="Freeform: Shape 210">
            <a:extLst>
              <a:ext uri="{FF2B5EF4-FFF2-40B4-BE49-F238E27FC236}">
                <a16:creationId xmlns:a16="http://schemas.microsoft.com/office/drawing/2014/main" id="{22B1BACA-A144-41D5-8E81-C9AC3A49B1CD}"/>
              </a:ext>
            </a:extLst>
          </p:cNvPr>
          <p:cNvSpPr/>
          <p:nvPr/>
        </p:nvSpPr>
        <p:spPr>
          <a:xfrm>
            <a:off x="5980721" y="736600"/>
            <a:ext cx="1535915" cy="323850"/>
          </a:xfrm>
          <a:custGeom>
            <a:avLst/>
            <a:gdLst>
              <a:gd name="connsiteX0" fmla="*/ 0 w 1060450"/>
              <a:gd name="connsiteY0" fmla="*/ 323850 h 323850"/>
              <a:gd name="connsiteX1" fmla="*/ 457200 w 1060450"/>
              <a:gd name="connsiteY1" fmla="*/ 63500 h 323850"/>
              <a:gd name="connsiteX2" fmla="*/ 1060450 w 1060450"/>
              <a:gd name="connsiteY2" fmla="*/ 0 h 323850"/>
            </a:gdLst>
            <a:ahLst/>
            <a:cxnLst>
              <a:cxn ang="0">
                <a:pos x="connsiteX0" y="connsiteY0"/>
              </a:cxn>
              <a:cxn ang="0">
                <a:pos x="connsiteX1" y="connsiteY1"/>
              </a:cxn>
              <a:cxn ang="0">
                <a:pos x="connsiteX2" y="connsiteY2"/>
              </a:cxn>
            </a:cxnLst>
            <a:rect l="l" t="t" r="r" b="b"/>
            <a:pathLst>
              <a:path w="1060450" h="323850">
                <a:moveTo>
                  <a:pt x="0" y="323850"/>
                </a:moveTo>
                <a:cubicBezTo>
                  <a:pt x="140229" y="220662"/>
                  <a:pt x="280458" y="117475"/>
                  <a:pt x="457200" y="63500"/>
                </a:cubicBezTo>
                <a:cubicBezTo>
                  <a:pt x="633942" y="9525"/>
                  <a:pt x="847196" y="4762"/>
                  <a:pt x="1060450" y="0"/>
                </a:cubicBezTo>
              </a:path>
            </a:pathLst>
          </a:custGeom>
          <a:noFill/>
          <a:ln>
            <a:solidFill>
              <a:schemeClr val="bg1">
                <a:lumMod val="5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8" name="TextBox 127">
            <a:extLst>
              <a:ext uri="{FF2B5EF4-FFF2-40B4-BE49-F238E27FC236}">
                <a16:creationId xmlns:a16="http://schemas.microsoft.com/office/drawing/2014/main" id="{81252DAC-0836-4260-9A2D-72D620740637}"/>
              </a:ext>
            </a:extLst>
          </p:cNvPr>
          <p:cNvSpPr txBox="1"/>
          <p:nvPr/>
        </p:nvSpPr>
        <p:spPr>
          <a:xfrm>
            <a:off x="4873032" y="881272"/>
            <a:ext cx="1109568" cy="400110"/>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85000"/>
                  </a:schemeClr>
                </a:solidFill>
                <a:latin typeface="JetBrains Mono Light" panose="02000009000000000000" pitchFamily="49" charset="0"/>
                <a:cs typeface="JetBrains Mono Light" panose="02000009000000000000" pitchFamily="49" charset="0"/>
              </a:rPr>
              <a:t>TGT</a:t>
            </a:r>
            <a:r>
              <a:rPr lang="en-VN" sz="1000" spc="300" dirty="0">
                <a:solidFill>
                  <a:schemeClr val="bg1">
                    <a:lumMod val="85000"/>
                  </a:schemeClr>
                </a:solidFill>
                <a:latin typeface="JetBrains Mono Light" panose="02000009000000000000" pitchFamily="49" charset="0"/>
                <a:cs typeface="JetBrains Mono Light" panose="02000009000000000000" pitchFamily="49" charset="0"/>
              </a:rPr>
              <a:t>=</a:t>
            </a:r>
            <a:r>
              <a:rPr lang="en-VN" sz="1000" dirty="0">
                <a:solidFill>
                  <a:schemeClr val="bg1">
                    <a:lumMod val="85000"/>
                  </a:schemeClr>
                </a:solidFill>
                <a:latin typeface="JetBrains Mono Light" panose="02000009000000000000" pitchFamily="49" charset="0"/>
                <a:cs typeface="JetBrains Mono Light" panose="02000009000000000000" pitchFamily="49" charset="0"/>
              </a:rPr>
              <a:t>9,123</a:t>
            </a:r>
          </a:p>
          <a:p>
            <a:r>
              <a:rPr lang="en-VN" sz="1000" dirty="0">
                <a:solidFill>
                  <a:schemeClr val="bg1">
                    <a:lumMod val="85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85000"/>
                  </a:schemeClr>
                </a:solidFill>
                <a:latin typeface="JetBrains Mono Light" panose="02000009000000000000" pitchFamily="49" charset="0"/>
                <a:cs typeface="JetBrains Mono Light" panose="02000009000000000000" pitchFamily="49" charset="0"/>
              </a:rPr>
              <a:t> </a:t>
            </a:r>
            <a:r>
              <a:rPr lang="en-VN" sz="1000" spc="300" dirty="0">
                <a:solidFill>
                  <a:schemeClr val="bg1">
                    <a:lumMod val="85000"/>
                  </a:schemeClr>
                </a:solidFill>
                <a:latin typeface="JetBrains Mono Light" panose="02000009000000000000" pitchFamily="49" charset="0"/>
                <a:cs typeface="JetBrains Mono Light" panose="02000009000000000000" pitchFamily="49" charset="0"/>
              </a:rPr>
              <a:t>=</a:t>
            </a:r>
            <a:r>
              <a:rPr lang="en-VN" sz="1000" dirty="0">
                <a:solidFill>
                  <a:schemeClr val="bg1">
                    <a:lumMod val="85000"/>
                  </a:schemeClr>
                </a:solidFill>
                <a:latin typeface="JetBrains Mono Light" panose="02000009000000000000" pitchFamily="49" charset="0"/>
                <a:cs typeface="JetBrains Mono Light" panose="02000009000000000000" pitchFamily="49" charset="0"/>
              </a:rPr>
              <a:t>18,6099</a:t>
            </a:r>
          </a:p>
        </p:txBody>
      </p:sp>
      <p:cxnSp>
        <p:nvCxnSpPr>
          <p:cNvPr id="213" name="Straight Arrow Connector 212">
            <a:extLst>
              <a:ext uri="{FF2B5EF4-FFF2-40B4-BE49-F238E27FC236}">
                <a16:creationId xmlns:a16="http://schemas.microsoft.com/office/drawing/2014/main" id="{968E0234-C0D5-4DCF-8531-96CFD34C0FBA}"/>
              </a:ext>
            </a:extLst>
          </p:cNvPr>
          <p:cNvCxnSpPr>
            <a:stCxn id="130" idx="3"/>
            <a:endCxn id="152" idx="1"/>
          </p:cNvCxnSpPr>
          <p:nvPr/>
        </p:nvCxnSpPr>
        <p:spPr>
          <a:xfrm flipV="1">
            <a:off x="7114197" y="1203900"/>
            <a:ext cx="387201" cy="185679"/>
          </a:xfrm>
          <a:prstGeom prst="straightConnector1">
            <a:avLst/>
          </a:prstGeom>
          <a:ln w="28575">
            <a:solidFill>
              <a:schemeClr val="bg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5" name="Straight Arrow Connector 214">
            <a:extLst>
              <a:ext uri="{FF2B5EF4-FFF2-40B4-BE49-F238E27FC236}">
                <a16:creationId xmlns:a16="http://schemas.microsoft.com/office/drawing/2014/main" id="{378DF32A-B34E-4DCE-92F9-89B777F99C1C}"/>
              </a:ext>
            </a:extLst>
          </p:cNvPr>
          <p:cNvCxnSpPr>
            <a:stCxn id="130" idx="3"/>
            <a:endCxn id="153" idx="1"/>
          </p:cNvCxnSpPr>
          <p:nvPr/>
        </p:nvCxnSpPr>
        <p:spPr>
          <a:xfrm>
            <a:off x="7114197" y="1389579"/>
            <a:ext cx="387201" cy="211739"/>
          </a:xfrm>
          <a:prstGeom prst="straightConnector1">
            <a:avLst/>
          </a:prstGeom>
          <a:ln w="28575">
            <a:solidFill>
              <a:schemeClr val="bg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0" name="TextBox 129">
            <a:extLst>
              <a:ext uri="{FF2B5EF4-FFF2-40B4-BE49-F238E27FC236}">
                <a16:creationId xmlns:a16="http://schemas.microsoft.com/office/drawing/2014/main" id="{B12ADF45-C998-4BF4-BEF5-62FAFB78E237}"/>
              </a:ext>
            </a:extLst>
          </p:cNvPr>
          <p:cNvSpPr txBox="1"/>
          <p:nvPr/>
        </p:nvSpPr>
        <p:spPr>
          <a:xfrm>
            <a:off x="6046756" y="1189524"/>
            <a:ext cx="1067441" cy="400110"/>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85000"/>
                  </a:schemeClr>
                </a:solidFill>
                <a:latin typeface="JetBrains Mono Light" panose="02000009000000000000" pitchFamily="49" charset="0"/>
                <a:cs typeface="JetBrains Mono Light" panose="02000009000000000000" pitchFamily="49" charset="0"/>
              </a:rPr>
              <a:t>TGT</a:t>
            </a:r>
            <a:r>
              <a:rPr lang="en-VN" sz="1000" spc="300" dirty="0">
                <a:solidFill>
                  <a:schemeClr val="bg1">
                    <a:lumMod val="85000"/>
                  </a:schemeClr>
                </a:solidFill>
                <a:latin typeface="JetBrains Mono Light" panose="02000009000000000000" pitchFamily="49" charset="0"/>
                <a:cs typeface="JetBrains Mono Light" panose="02000009000000000000" pitchFamily="49" charset="0"/>
              </a:rPr>
              <a:t>=</a:t>
            </a:r>
            <a:r>
              <a:rPr lang="en-VN" sz="1000" dirty="0">
                <a:solidFill>
                  <a:schemeClr val="bg1">
                    <a:lumMod val="85000"/>
                  </a:schemeClr>
                </a:solidFill>
                <a:latin typeface="JetBrains Mono Light" panose="02000009000000000000" pitchFamily="49" charset="0"/>
                <a:cs typeface="JetBrains Mono Light" panose="02000009000000000000" pitchFamily="49" charset="0"/>
              </a:rPr>
              <a:t>10,385</a:t>
            </a:r>
          </a:p>
          <a:p>
            <a:r>
              <a:rPr lang="en-VN" sz="1000" dirty="0">
                <a:solidFill>
                  <a:schemeClr val="bg1">
                    <a:lumMod val="85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85000"/>
                  </a:schemeClr>
                </a:solidFill>
                <a:latin typeface="JetBrains Mono Light" panose="02000009000000000000" pitchFamily="49" charset="0"/>
                <a:cs typeface="JetBrains Mono Light" panose="02000009000000000000" pitchFamily="49" charset="0"/>
              </a:rPr>
              <a:t> </a:t>
            </a:r>
            <a:r>
              <a:rPr lang="en-VN" sz="1000" spc="300" dirty="0">
                <a:solidFill>
                  <a:schemeClr val="bg1">
                    <a:lumMod val="85000"/>
                  </a:schemeClr>
                </a:solidFill>
                <a:latin typeface="JetBrains Mono Light" panose="02000009000000000000" pitchFamily="49" charset="0"/>
                <a:cs typeface="JetBrains Mono Light" panose="02000009000000000000" pitchFamily="49" charset="0"/>
              </a:rPr>
              <a:t>=</a:t>
            </a:r>
            <a:r>
              <a:rPr lang="en-VN" sz="1000" dirty="0">
                <a:solidFill>
                  <a:schemeClr val="bg1">
                    <a:lumMod val="85000"/>
                  </a:schemeClr>
                </a:solidFill>
                <a:latin typeface="JetBrains Mono Light" panose="02000009000000000000" pitchFamily="49" charset="0"/>
                <a:cs typeface="JetBrains Mono Light" panose="02000009000000000000" pitchFamily="49" charset="0"/>
              </a:rPr>
              <a:t>19,8719</a:t>
            </a:r>
          </a:p>
        </p:txBody>
      </p:sp>
      <p:sp>
        <p:nvSpPr>
          <p:cNvPr id="217" name="Freeform: Shape 216">
            <a:extLst>
              <a:ext uri="{FF2B5EF4-FFF2-40B4-BE49-F238E27FC236}">
                <a16:creationId xmlns:a16="http://schemas.microsoft.com/office/drawing/2014/main" id="{9E8942F1-E54D-4AAB-A3A7-D536EEA43262}"/>
              </a:ext>
            </a:extLst>
          </p:cNvPr>
          <p:cNvSpPr/>
          <p:nvPr/>
        </p:nvSpPr>
        <p:spPr>
          <a:xfrm>
            <a:off x="5983896" y="1714500"/>
            <a:ext cx="1532741" cy="274905"/>
          </a:xfrm>
          <a:custGeom>
            <a:avLst/>
            <a:gdLst>
              <a:gd name="connsiteX0" fmla="*/ 0 w 1524000"/>
              <a:gd name="connsiteY0" fmla="*/ 0 h 562308"/>
              <a:gd name="connsiteX1" fmla="*/ 666750 w 1524000"/>
              <a:gd name="connsiteY1" fmla="*/ 219075 h 562308"/>
              <a:gd name="connsiteX2" fmla="*/ 1114425 w 1524000"/>
              <a:gd name="connsiteY2" fmla="*/ 523875 h 562308"/>
              <a:gd name="connsiteX3" fmla="*/ 1524000 w 1524000"/>
              <a:gd name="connsiteY3" fmla="*/ 561975 h 562308"/>
            </a:gdLst>
            <a:ahLst/>
            <a:cxnLst>
              <a:cxn ang="0">
                <a:pos x="connsiteX0" y="connsiteY0"/>
              </a:cxn>
              <a:cxn ang="0">
                <a:pos x="connsiteX1" y="connsiteY1"/>
              </a:cxn>
              <a:cxn ang="0">
                <a:pos x="connsiteX2" y="connsiteY2"/>
              </a:cxn>
              <a:cxn ang="0">
                <a:pos x="connsiteX3" y="connsiteY3"/>
              </a:cxn>
            </a:cxnLst>
            <a:rect l="l" t="t" r="r" b="b"/>
            <a:pathLst>
              <a:path w="1524000" h="562308">
                <a:moveTo>
                  <a:pt x="0" y="0"/>
                </a:moveTo>
                <a:cubicBezTo>
                  <a:pt x="240506" y="65881"/>
                  <a:pt x="481013" y="131763"/>
                  <a:pt x="666750" y="219075"/>
                </a:cubicBezTo>
                <a:cubicBezTo>
                  <a:pt x="852488" y="306388"/>
                  <a:pt x="971550" y="466725"/>
                  <a:pt x="1114425" y="523875"/>
                </a:cubicBezTo>
                <a:cubicBezTo>
                  <a:pt x="1257300" y="581025"/>
                  <a:pt x="1454150" y="555625"/>
                  <a:pt x="1524000" y="561975"/>
                </a:cubicBezTo>
              </a:path>
            </a:pathLst>
          </a:custGeom>
          <a:noFill/>
          <a:ln w="28575">
            <a:solidFill>
              <a:schemeClr val="bg1">
                <a:lumMod val="5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8" name="Freeform: Shape 217">
            <a:extLst>
              <a:ext uri="{FF2B5EF4-FFF2-40B4-BE49-F238E27FC236}">
                <a16:creationId xmlns:a16="http://schemas.microsoft.com/office/drawing/2014/main" id="{2EF16AE8-2A79-4367-9FE4-7E98D90D60E3}"/>
              </a:ext>
            </a:extLst>
          </p:cNvPr>
          <p:cNvSpPr/>
          <p:nvPr/>
        </p:nvSpPr>
        <p:spPr>
          <a:xfrm>
            <a:off x="5983896" y="1714501"/>
            <a:ext cx="1532741" cy="717463"/>
          </a:xfrm>
          <a:custGeom>
            <a:avLst/>
            <a:gdLst>
              <a:gd name="connsiteX0" fmla="*/ 0 w 1524000"/>
              <a:gd name="connsiteY0" fmla="*/ 0 h 1057275"/>
              <a:gd name="connsiteX1" fmla="*/ 733425 w 1524000"/>
              <a:gd name="connsiteY1" fmla="*/ 466725 h 1057275"/>
              <a:gd name="connsiteX2" fmla="*/ 1133475 w 1524000"/>
              <a:gd name="connsiteY2" fmla="*/ 895350 h 1057275"/>
              <a:gd name="connsiteX3" fmla="*/ 1524000 w 1524000"/>
              <a:gd name="connsiteY3" fmla="*/ 1057275 h 1057275"/>
            </a:gdLst>
            <a:ahLst/>
            <a:cxnLst>
              <a:cxn ang="0">
                <a:pos x="connsiteX0" y="connsiteY0"/>
              </a:cxn>
              <a:cxn ang="0">
                <a:pos x="connsiteX1" y="connsiteY1"/>
              </a:cxn>
              <a:cxn ang="0">
                <a:pos x="connsiteX2" y="connsiteY2"/>
              </a:cxn>
              <a:cxn ang="0">
                <a:pos x="connsiteX3" y="connsiteY3"/>
              </a:cxn>
            </a:cxnLst>
            <a:rect l="l" t="t" r="r" b="b"/>
            <a:pathLst>
              <a:path w="1524000" h="1057275">
                <a:moveTo>
                  <a:pt x="0" y="0"/>
                </a:moveTo>
                <a:cubicBezTo>
                  <a:pt x="272256" y="158750"/>
                  <a:pt x="544513" y="317500"/>
                  <a:pt x="733425" y="466725"/>
                </a:cubicBezTo>
                <a:cubicBezTo>
                  <a:pt x="922337" y="615950"/>
                  <a:pt x="1001713" y="796925"/>
                  <a:pt x="1133475" y="895350"/>
                </a:cubicBezTo>
                <a:cubicBezTo>
                  <a:pt x="1265237" y="993775"/>
                  <a:pt x="1394618" y="1025525"/>
                  <a:pt x="1524000" y="1057275"/>
                </a:cubicBezTo>
              </a:path>
            </a:pathLst>
          </a:custGeom>
          <a:noFill/>
          <a:ln w="28575">
            <a:solidFill>
              <a:schemeClr val="bg1">
                <a:lumMod val="5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1" name="TextBox 130">
            <a:extLst>
              <a:ext uri="{FF2B5EF4-FFF2-40B4-BE49-F238E27FC236}">
                <a16:creationId xmlns:a16="http://schemas.microsoft.com/office/drawing/2014/main" id="{6E978CA6-6D3F-484A-809B-7D9625B84CC2}"/>
              </a:ext>
            </a:extLst>
          </p:cNvPr>
          <p:cNvSpPr txBox="1"/>
          <p:nvPr/>
        </p:nvSpPr>
        <p:spPr>
          <a:xfrm>
            <a:off x="4858243" y="1510652"/>
            <a:ext cx="1113954" cy="400110"/>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85000"/>
                  </a:schemeClr>
                </a:solidFill>
                <a:latin typeface="JetBrains Mono Light" panose="02000009000000000000" pitchFamily="49" charset="0"/>
                <a:cs typeface="JetBrains Mono Light" panose="02000009000000000000" pitchFamily="49" charset="0"/>
              </a:rPr>
              <a:t>TGT</a:t>
            </a:r>
            <a:r>
              <a:rPr lang="en-VN" sz="1000" spc="300" dirty="0">
                <a:solidFill>
                  <a:schemeClr val="bg1">
                    <a:lumMod val="85000"/>
                  </a:schemeClr>
                </a:solidFill>
                <a:latin typeface="JetBrains Mono Light" panose="02000009000000000000" pitchFamily="49" charset="0"/>
                <a:cs typeface="JetBrains Mono Light" panose="02000009000000000000" pitchFamily="49" charset="0"/>
              </a:rPr>
              <a:t>=</a:t>
            </a:r>
            <a:r>
              <a:rPr lang="en-VN" sz="1000" dirty="0">
                <a:solidFill>
                  <a:schemeClr val="bg1">
                    <a:lumMod val="85000"/>
                  </a:schemeClr>
                </a:solidFill>
                <a:latin typeface="JetBrains Mono Light" panose="02000009000000000000" pitchFamily="49" charset="0"/>
                <a:cs typeface="JetBrains Mono Light" panose="02000009000000000000" pitchFamily="49" charset="0"/>
              </a:rPr>
              <a:t>13,6</a:t>
            </a:r>
          </a:p>
          <a:p>
            <a:r>
              <a:rPr lang="en-VN" sz="1000" dirty="0">
                <a:solidFill>
                  <a:schemeClr val="bg1">
                    <a:lumMod val="85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85000"/>
                  </a:schemeClr>
                </a:solidFill>
                <a:latin typeface="JetBrains Mono Light" panose="02000009000000000000" pitchFamily="49" charset="0"/>
                <a:cs typeface="JetBrains Mono Light" panose="02000009000000000000" pitchFamily="49" charset="0"/>
              </a:rPr>
              <a:t> </a:t>
            </a:r>
            <a:r>
              <a:rPr lang="en-VN" sz="1000" spc="300" dirty="0">
                <a:solidFill>
                  <a:schemeClr val="bg1">
                    <a:lumMod val="85000"/>
                  </a:schemeClr>
                </a:solidFill>
                <a:latin typeface="JetBrains Mono Light" panose="02000009000000000000" pitchFamily="49" charset="0"/>
                <a:cs typeface="JetBrains Mono Light" panose="02000009000000000000" pitchFamily="49" charset="0"/>
              </a:rPr>
              <a:t>=</a:t>
            </a:r>
            <a:r>
              <a:rPr lang="en-VN" sz="1000" dirty="0">
                <a:solidFill>
                  <a:schemeClr val="bg1">
                    <a:lumMod val="85000"/>
                  </a:schemeClr>
                </a:solidFill>
                <a:latin typeface="JetBrains Mono Light" panose="02000009000000000000" pitchFamily="49" charset="0"/>
                <a:cs typeface="JetBrains Mono Light" panose="02000009000000000000" pitchFamily="49" charset="0"/>
              </a:rPr>
              <a:t>23,0869</a:t>
            </a:r>
          </a:p>
        </p:txBody>
      </p:sp>
      <p:sp>
        <p:nvSpPr>
          <p:cNvPr id="234" name="Freeform: Shape 233">
            <a:extLst>
              <a:ext uri="{FF2B5EF4-FFF2-40B4-BE49-F238E27FC236}">
                <a16:creationId xmlns:a16="http://schemas.microsoft.com/office/drawing/2014/main" id="{0FF4F18E-3F28-4C18-B942-1BB7C629BA76}"/>
              </a:ext>
            </a:extLst>
          </p:cNvPr>
          <p:cNvSpPr/>
          <p:nvPr/>
        </p:nvSpPr>
        <p:spPr>
          <a:xfrm>
            <a:off x="5987071" y="2495550"/>
            <a:ext cx="1529565" cy="292404"/>
          </a:xfrm>
          <a:custGeom>
            <a:avLst/>
            <a:gdLst>
              <a:gd name="connsiteX0" fmla="*/ 0 w 1504950"/>
              <a:gd name="connsiteY0" fmla="*/ 0 h 768350"/>
              <a:gd name="connsiteX1" fmla="*/ 660400 w 1504950"/>
              <a:gd name="connsiteY1" fmla="*/ 114300 h 768350"/>
              <a:gd name="connsiteX2" fmla="*/ 1085850 w 1504950"/>
              <a:gd name="connsiteY2" fmla="*/ 520700 h 768350"/>
              <a:gd name="connsiteX3" fmla="*/ 1270000 w 1504950"/>
              <a:gd name="connsiteY3" fmla="*/ 723900 h 768350"/>
              <a:gd name="connsiteX4" fmla="*/ 1504950 w 1504950"/>
              <a:gd name="connsiteY4" fmla="*/ 768350 h 768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4950" h="768350">
                <a:moveTo>
                  <a:pt x="0" y="0"/>
                </a:moveTo>
                <a:cubicBezTo>
                  <a:pt x="239712" y="13758"/>
                  <a:pt x="479425" y="27517"/>
                  <a:pt x="660400" y="114300"/>
                </a:cubicBezTo>
                <a:cubicBezTo>
                  <a:pt x="841375" y="201083"/>
                  <a:pt x="984250" y="419100"/>
                  <a:pt x="1085850" y="520700"/>
                </a:cubicBezTo>
                <a:cubicBezTo>
                  <a:pt x="1187450" y="622300"/>
                  <a:pt x="1200150" y="682625"/>
                  <a:pt x="1270000" y="723900"/>
                </a:cubicBezTo>
                <a:cubicBezTo>
                  <a:pt x="1339850" y="765175"/>
                  <a:pt x="1422400" y="766762"/>
                  <a:pt x="1504950" y="768350"/>
                </a:cubicBezTo>
              </a:path>
            </a:pathLst>
          </a:custGeom>
          <a:noFill/>
          <a:ln>
            <a:solidFill>
              <a:schemeClr val="bg1">
                <a:lumMod val="5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5" name="Freeform: Shape 234">
            <a:extLst>
              <a:ext uri="{FF2B5EF4-FFF2-40B4-BE49-F238E27FC236}">
                <a16:creationId xmlns:a16="http://schemas.microsoft.com/office/drawing/2014/main" id="{91DD779A-D6D0-4423-A9CE-F84047B934C2}"/>
              </a:ext>
            </a:extLst>
          </p:cNvPr>
          <p:cNvSpPr/>
          <p:nvPr/>
        </p:nvSpPr>
        <p:spPr>
          <a:xfrm>
            <a:off x="5987071" y="2489201"/>
            <a:ext cx="1522985" cy="714934"/>
          </a:xfrm>
          <a:custGeom>
            <a:avLst/>
            <a:gdLst>
              <a:gd name="connsiteX0" fmla="*/ 0 w 1498600"/>
              <a:gd name="connsiteY0" fmla="*/ 0 h 1270000"/>
              <a:gd name="connsiteX1" fmla="*/ 692150 w 1498600"/>
              <a:gd name="connsiteY1" fmla="*/ 139700 h 1270000"/>
              <a:gd name="connsiteX2" fmla="*/ 1041400 w 1498600"/>
              <a:gd name="connsiteY2" fmla="*/ 469900 h 1270000"/>
              <a:gd name="connsiteX3" fmla="*/ 1149350 w 1498600"/>
              <a:gd name="connsiteY3" fmla="*/ 1143000 h 1270000"/>
              <a:gd name="connsiteX4" fmla="*/ 1498600 w 1498600"/>
              <a:gd name="connsiteY4" fmla="*/ 1270000 h 127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8600" h="1270000">
                <a:moveTo>
                  <a:pt x="0" y="0"/>
                </a:moveTo>
                <a:cubicBezTo>
                  <a:pt x="259291" y="30691"/>
                  <a:pt x="518583" y="61383"/>
                  <a:pt x="692150" y="139700"/>
                </a:cubicBezTo>
                <a:cubicBezTo>
                  <a:pt x="865717" y="218017"/>
                  <a:pt x="965200" y="302683"/>
                  <a:pt x="1041400" y="469900"/>
                </a:cubicBezTo>
                <a:cubicBezTo>
                  <a:pt x="1117600" y="637117"/>
                  <a:pt x="1073150" y="1009650"/>
                  <a:pt x="1149350" y="1143000"/>
                </a:cubicBezTo>
                <a:cubicBezTo>
                  <a:pt x="1225550" y="1276350"/>
                  <a:pt x="1443567" y="1244600"/>
                  <a:pt x="1498600" y="1270000"/>
                </a:cubicBezTo>
              </a:path>
            </a:pathLst>
          </a:custGeom>
          <a:noFill/>
          <a:ln>
            <a:solidFill>
              <a:schemeClr val="bg1">
                <a:lumMod val="5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8" name="TextBox 137">
            <a:extLst>
              <a:ext uri="{FF2B5EF4-FFF2-40B4-BE49-F238E27FC236}">
                <a16:creationId xmlns:a16="http://schemas.microsoft.com/office/drawing/2014/main" id="{67C1E59E-1692-4268-AC3F-E93F787E1507}"/>
              </a:ext>
            </a:extLst>
          </p:cNvPr>
          <p:cNvSpPr txBox="1"/>
          <p:nvPr/>
        </p:nvSpPr>
        <p:spPr>
          <a:xfrm>
            <a:off x="4870491" y="2290171"/>
            <a:ext cx="1113953" cy="400110"/>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85000"/>
                  </a:schemeClr>
                </a:solidFill>
                <a:latin typeface="JetBrains Mono Light" panose="02000009000000000000" pitchFamily="49" charset="0"/>
                <a:cs typeface="JetBrains Mono Light" panose="02000009000000000000" pitchFamily="49" charset="0"/>
              </a:rPr>
              <a:t>TGT</a:t>
            </a:r>
            <a:r>
              <a:rPr lang="en-VN" sz="1000" spc="300" dirty="0">
                <a:solidFill>
                  <a:schemeClr val="bg1">
                    <a:lumMod val="85000"/>
                  </a:schemeClr>
                </a:solidFill>
                <a:latin typeface="JetBrains Mono Light" panose="02000009000000000000" pitchFamily="49" charset="0"/>
                <a:cs typeface="JetBrains Mono Light" panose="02000009000000000000" pitchFamily="49" charset="0"/>
              </a:rPr>
              <a:t>=</a:t>
            </a:r>
            <a:r>
              <a:rPr lang="en-VN" sz="1000" dirty="0">
                <a:solidFill>
                  <a:schemeClr val="bg1">
                    <a:lumMod val="85000"/>
                  </a:schemeClr>
                </a:solidFill>
                <a:latin typeface="JetBrains Mono Light" panose="02000009000000000000" pitchFamily="49" charset="0"/>
                <a:cs typeface="JetBrains Mono Light" panose="02000009000000000000" pitchFamily="49" charset="0"/>
              </a:rPr>
              <a:t>11,334</a:t>
            </a:r>
          </a:p>
          <a:p>
            <a:r>
              <a:rPr lang="en-VN" sz="1000" dirty="0">
                <a:solidFill>
                  <a:schemeClr val="bg1">
                    <a:lumMod val="85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85000"/>
                  </a:schemeClr>
                </a:solidFill>
                <a:latin typeface="JetBrains Mono Light" panose="02000009000000000000" pitchFamily="49" charset="0"/>
                <a:cs typeface="JetBrains Mono Light" panose="02000009000000000000" pitchFamily="49" charset="0"/>
              </a:rPr>
              <a:t> </a:t>
            </a:r>
            <a:r>
              <a:rPr lang="en-VN" sz="1000" spc="300" dirty="0">
                <a:solidFill>
                  <a:schemeClr val="bg1">
                    <a:lumMod val="85000"/>
                  </a:schemeClr>
                </a:solidFill>
                <a:latin typeface="JetBrains Mono Light" panose="02000009000000000000" pitchFamily="49" charset="0"/>
                <a:cs typeface="JetBrains Mono Light" panose="02000009000000000000" pitchFamily="49" charset="0"/>
              </a:rPr>
              <a:t>=</a:t>
            </a:r>
            <a:r>
              <a:rPr lang="en-VN" sz="1000" dirty="0">
                <a:solidFill>
                  <a:schemeClr val="bg1">
                    <a:lumMod val="85000"/>
                  </a:schemeClr>
                </a:solidFill>
                <a:latin typeface="JetBrains Mono Light" panose="02000009000000000000" pitchFamily="49" charset="0"/>
                <a:cs typeface="JetBrains Mono Light" panose="02000009000000000000" pitchFamily="49" charset="0"/>
              </a:rPr>
              <a:t>20,8209</a:t>
            </a:r>
          </a:p>
        </p:txBody>
      </p:sp>
      <p:sp>
        <p:nvSpPr>
          <p:cNvPr id="139" name="TextBox 138">
            <a:extLst>
              <a:ext uri="{FF2B5EF4-FFF2-40B4-BE49-F238E27FC236}">
                <a16:creationId xmlns:a16="http://schemas.microsoft.com/office/drawing/2014/main" id="{BBF0CC64-3E2F-4106-9A30-B8AF5BC72996}"/>
              </a:ext>
            </a:extLst>
          </p:cNvPr>
          <p:cNvSpPr txBox="1"/>
          <p:nvPr/>
        </p:nvSpPr>
        <p:spPr>
          <a:xfrm>
            <a:off x="4870492" y="2805417"/>
            <a:ext cx="1113952" cy="400110"/>
          </a:xfrm>
          <a:prstGeom prst="rect">
            <a:avLst/>
          </a:prstGeom>
          <a:no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50000"/>
                  </a:schemeClr>
                </a:solidFill>
                <a:latin typeface="JetBrains Mono Light" panose="02000009000000000000" pitchFamily="49" charset="0"/>
                <a:cs typeface="JetBrains Mono Light" panose="02000009000000000000" pitchFamily="49" charset="0"/>
              </a:rPr>
              <a:t>TGT</a:t>
            </a:r>
            <a:r>
              <a:rPr lang="en-VN" sz="1000" spc="300" dirty="0">
                <a:solidFill>
                  <a:schemeClr val="bg1">
                    <a:lumMod val="50000"/>
                  </a:schemeClr>
                </a:solidFill>
                <a:latin typeface="JetBrains Mono Light" panose="02000009000000000000" pitchFamily="49" charset="0"/>
                <a:cs typeface="JetBrains Mono Light" panose="02000009000000000000" pitchFamily="49" charset="0"/>
              </a:rPr>
              <a:t>=</a:t>
            </a:r>
            <a:r>
              <a:rPr lang="en-VN" sz="1000" dirty="0">
                <a:solidFill>
                  <a:schemeClr val="bg1">
                    <a:lumMod val="50000"/>
                  </a:schemeClr>
                </a:solidFill>
                <a:latin typeface="JetBrains Mono Light" panose="02000009000000000000" pitchFamily="49" charset="0"/>
                <a:cs typeface="JetBrains Mono Light" panose="02000009000000000000" pitchFamily="49" charset="0"/>
              </a:rPr>
              <a:t>10,3733</a:t>
            </a:r>
          </a:p>
          <a:p>
            <a:r>
              <a:rPr lang="en-VN" sz="1000" dirty="0">
                <a:solidFill>
                  <a:schemeClr val="bg1">
                    <a:lumMod val="50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50000"/>
                  </a:schemeClr>
                </a:solidFill>
                <a:latin typeface="JetBrains Mono Light" panose="02000009000000000000" pitchFamily="49" charset="0"/>
                <a:cs typeface="JetBrains Mono Light" panose="02000009000000000000" pitchFamily="49" charset="0"/>
              </a:rPr>
              <a:t> </a:t>
            </a:r>
            <a:r>
              <a:rPr lang="en-VN" sz="1000" spc="300" dirty="0">
                <a:solidFill>
                  <a:schemeClr val="bg1">
                    <a:lumMod val="50000"/>
                  </a:schemeClr>
                </a:solidFill>
                <a:latin typeface="JetBrains Mono Light" panose="02000009000000000000" pitchFamily="49" charset="0"/>
                <a:cs typeface="JetBrains Mono Light" panose="02000009000000000000" pitchFamily="49" charset="0"/>
              </a:rPr>
              <a:t>=</a:t>
            </a:r>
            <a:r>
              <a:rPr lang="en-VN" sz="1000" dirty="0">
                <a:solidFill>
                  <a:schemeClr val="bg1">
                    <a:lumMod val="50000"/>
                  </a:schemeClr>
                </a:solidFill>
                <a:latin typeface="JetBrains Mono Light" panose="02000009000000000000" pitchFamily="49" charset="0"/>
                <a:cs typeface="JetBrains Mono Light" panose="02000009000000000000" pitchFamily="49" charset="0"/>
              </a:rPr>
              <a:t>25,3733</a:t>
            </a:r>
          </a:p>
        </p:txBody>
      </p:sp>
      <p:sp>
        <p:nvSpPr>
          <p:cNvPr id="140" name="TextBox 139">
            <a:extLst>
              <a:ext uri="{FF2B5EF4-FFF2-40B4-BE49-F238E27FC236}">
                <a16:creationId xmlns:a16="http://schemas.microsoft.com/office/drawing/2014/main" id="{B296DD76-4258-4ED4-8FF7-9879199AF21E}"/>
              </a:ext>
            </a:extLst>
          </p:cNvPr>
          <p:cNvSpPr txBox="1"/>
          <p:nvPr/>
        </p:nvSpPr>
        <p:spPr>
          <a:xfrm>
            <a:off x="4870491" y="3334965"/>
            <a:ext cx="1113951" cy="400110"/>
          </a:xfrm>
          <a:prstGeom prst="rect">
            <a:avLst/>
          </a:prstGeom>
          <a:no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50000"/>
                  </a:schemeClr>
                </a:solidFill>
                <a:latin typeface="JetBrains Mono Light" panose="02000009000000000000" pitchFamily="49" charset="0"/>
                <a:cs typeface="JetBrains Mono Light" panose="02000009000000000000" pitchFamily="49" charset="0"/>
              </a:rPr>
              <a:t>TGT</a:t>
            </a:r>
            <a:r>
              <a:rPr lang="en-VN" sz="1000" spc="300" dirty="0">
                <a:solidFill>
                  <a:schemeClr val="bg1">
                    <a:lumMod val="50000"/>
                  </a:schemeClr>
                </a:solidFill>
                <a:latin typeface="JetBrains Mono Light" panose="02000009000000000000" pitchFamily="49" charset="0"/>
                <a:cs typeface="JetBrains Mono Light" panose="02000009000000000000" pitchFamily="49" charset="0"/>
              </a:rPr>
              <a:t>=</a:t>
            </a:r>
            <a:r>
              <a:rPr lang="en-VN" sz="1000" dirty="0">
                <a:solidFill>
                  <a:schemeClr val="bg1">
                    <a:lumMod val="50000"/>
                  </a:schemeClr>
                </a:solidFill>
                <a:latin typeface="JetBrains Mono Light" panose="02000009000000000000" pitchFamily="49" charset="0"/>
                <a:cs typeface="JetBrains Mono Light" panose="02000009000000000000" pitchFamily="49" charset="0"/>
              </a:rPr>
              <a:t>15,2733</a:t>
            </a:r>
          </a:p>
          <a:p>
            <a:r>
              <a:rPr lang="en-VN" sz="1000" dirty="0">
                <a:solidFill>
                  <a:schemeClr val="bg1">
                    <a:lumMod val="50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50000"/>
                  </a:schemeClr>
                </a:solidFill>
                <a:latin typeface="JetBrains Mono Light" panose="02000009000000000000" pitchFamily="49" charset="0"/>
                <a:cs typeface="JetBrains Mono Light" panose="02000009000000000000" pitchFamily="49" charset="0"/>
              </a:rPr>
              <a:t> </a:t>
            </a:r>
            <a:r>
              <a:rPr lang="en-VN" sz="1000" spc="300" dirty="0">
                <a:solidFill>
                  <a:schemeClr val="bg1">
                    <a:lumMod val="50000"/>
                  </a:schemeClr>
                </a:solidFill>
                <a:latin typeface="JetBrains Mono Light" panose="02000009000000000000" pitchFamily="49" charset="0"/>
                <a:cs typeface="JetBrains Mono Light" panose="02000009000000000000" pitchFamily="49" charset="0"/>
              </a:rPr>
              <a:t>=</a:t>
            </a:r>
            <a:r>
              <a:rPr lang="en-VN" sz="1000" dirty="0">
                <a:solidFill>
                  <a:schemeClr val="bg1">
                    <a:lumMod val="50000"/>
                  </a:schemeClr>
                </a:solidFill>
                <a:latin typeface="JetBrains Mono Light" panose="02000009000000000000" pitchFamily="49" charset="0"/>
                <a:cs typeface="JetBrains Mono Light" panose="02000009000000000000" pitchFamily="49" charset="0"/>
              </a:rPr>
              <a:t>27,7602</a:t>
            </a:r>
          </a:p>
        </p:txBody>
      </p:sp>
      <p:cxnSp>
        <p:nvCxnSpPr>
          <p:cNvPr id="271" name="Straight Arrow Connector 270">
            <a:extLst>
              <a:ext uri="{FF2B5EF4-FFF2-40B4-BE49-F238E27FC236}">
                <a16:creationId xmlns:a16="http://schemas.microsoft.com/office/drawing/2014/main" id="{4900F537-D7D0-4DFB-B889-A914E97C092C}"/>
              </a:ext>
            </a:extLst>
          </p:cNvPr>
          <p:cNvCxnSpPr>
            <a:stCxn id="142" idx="3"/>
            <a:endCxn id="241" idx="1"/>
          </p:cNvCxnSpPr>
          <p:nvPr/>
        </p:nvCxnSpPr>
        <p:spPr>
          <a:xfrm flipV="1">
            <a:off x="5984441" y="4078372"/>
            <a:ext cx="1516956" cy="45025"/>
          </a:xfrm>
          <a:prstGeom prst="straightConnector1">
            <a:avLst/>
          </a:prstGeom>
          <a:ln w="19050">
            <a:solidFill>
              <a:schemeClr val="bg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09" name="Freeform: Shape 308">
            <a:extLst>
              <a:ext uri="{FF2B5EF4-FFF2-40B4-BE49-F238E27FC236}">
                <a16:creationId xmlns:a16="http://schemas.microsoft.com/office/drawing/2014/main" id="{4FBBF726-7A28-4630-AC6F-1358E1CE8EA7}"/>
              </a:ext>
            </a:extLst>
          </p:cNvPr>
          <p:cNvSpPr/>
          <p:nvPr/>
        </p:nvSpPr>
        <p:spPr>
          <a:xfrm>
            <a:off x="5983897" y="3683000"/>
            <a:ext cx="1510665" cy="444500"/>
          </a:xfrm>
          <a:custGeom>
            <a:avLst/>
            <a:gdLst>
              <a:gd name="connsiteX0" fmla="*/ 0 w 1495425"/>
              <a:gd name="connsiteY0" fmla="*/ 444500 h 444500"/>
              <a:gd name="connsiteX1" fmla="*/ 581025 w 1495425"/>
              <a:gd name="connsiteY1" fmla="*/ 276225 h 444500"/>
              <a:gd name="connsiteX2" fmla="*/ 952500 w 1495425"/>
              <a:gd name="connsiteY2" fmla="*/ 79375 h 444500"/>
              <a:gd name="connsiteX3" fmla="*/ 1495425 w 1495425"/>
              <a:gd name="connsiteY3" fmla="*/ 0 h 444500"/>
            </a:gdLst>
            <a:ahLst/>
            <a:cxnLst>
              <a:cxn ang="0">
                <a:pos x="connsiteX0" y="connsiteY0"/>
              </a:cxn>
              <a:cxn ang="0">
                <a:pos x="connsiteX1" y="connsiteY1"/>
              </a:cxn>
              <a:cxn ang="0">
                <a:pos x="connsiteX2" y="connsiteY2"/>
              </a:cxn>
              <a:cxn ang="0">
                <a:pos x="connsiteX3" y="connsiteY3"/>
              </a:cxn>
            </a:cxnLst>
            <a:rect l="l" t="t" r="r" b="b"/>
            <a:pathLst>
              <a:path w="1495425" h="444500">
                <a:moveTo>
                  <a:pt x="0" y="444500"/>
                </a:moveTo>
                <a:cubicBezTo>
                  <a:pt x="211137" y="390789"/>
                  <a:pt x="422275" y="337079"/>
                  <a:pt x="581025" y="276225"/>
                </a:cubicBezTo>
                <a:cubicBezTo>
                  <a:pt x="739775" y="215371"/>
                  <a:pt x="800100" y="125412"/>
                  <a:pt x="952500" y="79375"/>
                </a:cubicBezTo>
                <a:cubicBezTo>
                  <a:pt x="1104900" y="33337"/>
                  <a:pt x="1300162" y="16668"/>
                  <a:pt x="1495425" y="0"/>
                </a:cubicBezTo>
              </a:path>
            </a:pathLst>
          </a:custGeom>
          <a:noFill/>
          <a:ln>
            <a:solidFill>
              <a:schemeClr val="bg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2" name="TextBox 141">
            <a:extLst>
              <a:ext uri="{FF2B5EF4-FFF2-40B4-BE49-F238E27FC236}">
                <a16:creationId xmlns:a16="http://schemas.microsoft.com/office/drawing/2014/main" id="{A3538D5C-7F42-4607-8ADC-D39B71F77435}"/>
              </a:ext>
            </a:extLst>
          </p:cNvPr>
          <p:cNvSpPr txBox="1"/>
          <p:nvPr/>
        </p:nvSpPr>
        <p:spPr>
          <a:xfrm>
            <a:off x="4870491" y="3923342"/>
            <a:ext cx="1113950" cy="400110"/>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85000"/>
                  </a:schemeClr>
                </a:solidFill>
                <a:latin typeface="JetBrains Mono Light" panose="02000009000000000000" pitchFamily="49" charset="0"/>
                <a:cs typeface="JetBrains Mono Light" panose="02000009000000000000" pitchFamily="49" charset="0"/>
              </a:rPr>
              <a:t>TGT</a:t>
            </a:r>
            <a:r>
              <a:rPr lang="en-VN" sz="1000" spc="300" dirty="0">
                <a:solidFill>
                  <a:schemeClr val="bg1">
                    <a:lumMod val="85000"/>
                  </a:schemeClr>
                </a:solidFill>
                <a:latin typeface="JetBrains Mono Light" panose="02000009000000000000" pitchFamily="49" charset="0"/>
                <a:cs typeface="JetBrains Mono Light" panose="02000009000000000000" pitchFamily="49" charset="0"/>
              </a:rPr>
              <a:t>=</a:t>
            </a:r>
            <a:r>
              <a:rPr lang="en-VN" sz="1000" dirty="0">
                <a:solidFill>
                  <a:schemeClr val="bg1">
                    <a:lumMod val="85000"/>
                  </a:schemeClr>
                </a:solidFill>
                <a:latin typeface="JetBrains Mono Light" panose="02000009000000000000" pitchFamily="49" charset="0"/>
                <a:cs typeface="JetBrains Mono Light" panose="02000009000000000000" pitchFamily="49" charset="0"/>
              </a:rPr>
              <a:t>11,215</a:t>
            </a:r>
          </a:p>
          <a:p>
            <a:r>
              <a:rPr lang="en-VN" sz="1000" dirty="0">
                <a:solidFill>
                  <a:schemeClr val="bg1">
                    <a:lumMod val="85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85000"/>
                  </a:schemeClr>
                </a:solidFill>
                <a:latin typeface="JetBrains Mono Light" panose="02000009000000000000" pitchFamily="49" charset="0"/>
                <a:cs typeface="JetBrains Mono Light" panose="02000009000000000000" pitchFamily="49" charset="0"/>
              </a:rPr>
              <a:t> </a:t>
            </a:r>
            <a:r>
              <a:rPr lang="en-VN" sz="1000" spc="300" dirty="0">
                <a:solidFill>
                  <a:schemeClr val="bg1">
                    <a:lumMod val="85000"/>
                  </a:schemeClr>
                </a:solidFill>
                <a:latin typeface="JetBrains Mono Light" panose="02000009000000000000" pitchFamily="49" charset="0"/>
                <a:cs typeface="JetBrains Mono Light" panose="02000009000000000000" pitchFamily="49" charset="0"/>
              </a:rPr>
              <a:t>=</a:t>
            </a:r>
            <a:r>
              <a:rPr lang="en-VN" sz="1000" dirty="0">
                <a:solidFill>
                  <a:schemeClr val="bg1">
                    <a:lumMod val="85000"/>
                  </a:schemeClr>
                </a:solidFill>
                <a:latin typeface="JetBrains Mono Light" panose="02000009000000000000" pitchFamily="49" charset="0"/>
                <a:cs typeface="JetBrains Mono Light" panose="02000009000000000000" pitchFamily="49" charset="0"/>
              </a:rPr>
              <a:t>20,7019</a:t>
            </a:r>
          </a:p>
        </p:txBody>
      </p:sp>
      <p:cxnSp>
        <p:nvCxnSpPr>
          <p:cNvPr id="273" name="Straight Arrow Connector 272">
            <a:extLst>
              <a:ext uri="{FF2B5EF4-FFF2-40B4-BE49-F238E27FC236}">
                <a16:creationId xmlns:a16="http://schemas.microsoft.com/office/drawing/2014/main" id="{946F048D-25D1-49E5-A977-DDBCA367316F}"/>
              </a:ext>
            </a:extLst>
          </p:cNvPr>
          <p:cNvCxnSpPr>
            <a:stCxn id="143" idx="3"/>
            <a:endCxn id="242" idx="1"/>
          </p:cNvCxnSpPr>
          <p:nvPr/>
        </p:nvCxnSpPr>
        <p:spPr>
          <a:xfrm flipV="1">
            <a:off x="5984441" y="4484539"/>
            <a:ext cx="1517741" cy="146646"/>
          </a:xfrm>
          <a:prstGeom prst="straightConnector1">
            <a:avLst/>
          </a:prstGeom>
          <a:ln w="19050">
            <a:solidFill>
              <a:schemeClr val="bg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75" name="Straight Arrow Connector 274">
            <a:extLst>
              <a:ext uri="{FF2B5EF4-FFF2-40B4-BE49-F238E27FC236}">
                <a16:creationId xmlns:a16="http://schemas.microsoft.com/office/drawing/2014/main" id="{93591F49-AA17-40E7-BA10-7B561BA325CA}"/>
              </a:ext>
            </a:extLst>
          </p:cNvPr>
          <p:cNvCxnSpPr>
            <a:stCxn id="143" idx="3"/>
            <a:endCxn id="243" idx="1"/>
          </p:cNvCxnSpPr>
          <p:nvPr/>
        </p:nvCxnSpPr>
        <p:spPr>
          <a:xfrm>
            <a:off x="5984441" y="4631185"/>
            <a:ext cx="1517910" cy="255175"/>
          </a:xfrm>
          <a:prstGeom prst="straightConnector1">
            <a:avLst/>
          </a:prstGeom>
          <a:ln w="19050">
            <a:solidFill>
              <a:schemeClr val="bg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3" name="TextBox 142">
            <a:extLst>
              <a:ext uri="{FF2B5EF4-FFF2-40B4-BE49-F238E27FC236}">
                <a16:creationId xmlns:a16="http://schemas.microsoft.com/office/drawing/2014/main" id="{1F90A737-B81E-46E0-80D0-AA430A7E7FCB}"/>
              </a:ext>
            </a:extLst>
          </p:cNvPr>
          <p:cNvSpPr txBox="1"/>
          <p:nvPr/>
        </p:nvSpPr>
        <p:spPr>
          <a:xfrm>
            <a:off x="4870490" y="4431130"/>
            <a:ext cx="1113951" cy="400110"/>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85000"/>
                  </a:schemeClr>
                </a:solidFill>
                <a:latin typeface="JetBrains Mono Light" panose="02000009000000000000" pitchFamily="49" charset="0"/>
                <a:cs typeface="JetBrains Mono Light" panose="02000009000000000000" pitchFamily="49" charset="0"/>
              </a:rPr>
              <a:t>TGT</a:t>
            </a:r>
            <a:r>
              <a:rPr lang="en-VN" sz="1000" spc="300" dirty="0">
                <a:solidFill>
                  <a:schemeClr val="bg1">
                    <a:lumMod val="85000"/>
                  </a:schemeClr>
                </a:solidFill>
                <a:latin typeface="JetBrains Mono Light" panose="02000009000000000000" pitchFamily="49" charset="0"/>
                <a:cs typeface="JetBrains Mono Light" panose="02000009000000000000" pitchFamily="49" charset="0"/>
              </a:rPr>
              <a:t>=</a:t>
            </a:r>
            <a:r>
              <a:rPr lang="en-VN" sz="1000" dirty="0">
                <a:solidFill>
                  <a:schemeClr val="bg1">
                    <a:lumMod val="85000"/>
                  </a:schemeClr>
                </a:solidFill>
                <a:latin typeface="JetBrains Mono Light" panose="02000009000000000000" pitchFamily="49" charset="0"/>
                <a:cs typeface="JetBrains Mono Light" panose="02000009000000000000" pitchFamily="49" charset="0"/>
              </a:rPr>
              <a:t>8,9923</a:t>
            </a:r>
          </a:p>
          <a:p>
            <a:r>
              <a:rPr lang="en-VN" sz="1000" dirty="0">
                <a:solidFill>
                  <a:schemeClr val="bg1">
                    <a:lumMod val="85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85000"/>
                  </a:schemeClr>
                </a:solidFill>
                <a:latin typeface="JetBrains Mono Light" panose="02000009000000000000" pitchFamily="49" charset="0"/>
                <a:cs typeface="JetBrains Mono Light" panose="02000009000000000000" pitchFamily="49" charset="0"/>
              </a:rPr>
              <a:t> </a:t>
            </a:r>
            <a:r>
              <a:rPr lang="en-VN" sz="1000" spc="300" dirty="0">
                <a:solidFill>
                  <a:schemeClr val="bg1">
                    <a:lumMod val="85000"/>
                  </a:schemeClr>
                </a:solidFill>
                <a:latin typeface="JetBrains Mono Light" panose="02000009000000000000" pitchFamily="49" charset="0"/>
                <a:cs typeface="JetBrains Mono Light" panose="02000009000000000000" pitchFamily="49" charset="0"/>
              </a:rPr>
              <a:t>=</a:t>
            </a:r>
            <a:r>
              <a:rPr lang="en-VN" sz="1000" dirty="0">
                <a:solidFill>
                  <a:schemeClr val="bg1">
                    <a:lumMod val="85000"/>
                  </a:schemeClr>
                </a:solidFill>
                <a:latin typeface="JetBrains Mono Light" panose="02000009000000000000" pitchFamily="49" charset="0"/>
                <a:cs typeface="JetBrains Mono Light" panose="02000009000000000000" pitchFamily="49" charset="0"/>
              </a:rPr>
              <a:t>23,9923</a:t>
            </a:r>
          </a:p>
        </p:txBody>
      </p:sp>
      <p:cxnSp>
        <p:nvCxnSpPr>
          <p:cNvPr id="277" name="Straight Arrow Connector 276">
            <a:extLst>
              <a:ext uri="{FF2B5EF4-FFF2-40B4-BE49-F238E27FC236}">
                <a16:creationId xmlns:a16="http://schemas.microsoft.com/office/drawing/2014/main" id="{7758E79E-F7D5-4926-943A-0ED09D56F18A}"/>
              </a:ext>
            </a:extLst>
          </p:cNvPr>
          <p:cNvCxnSpPr>
            <a:stCxn id="144" idx="3"/>
            <a:endCxn id="247" idx="1"/>
          </p:cNvCxnSpPr>
          <p:nvPr/>
        </p:nvCxnSpPr>
        <p:spPr>
          <a:xfrm>
            <a:off x="5984441" y="5119890"/>
            <a:ext cx="1516956" cy="166782"/>
          </a:xfrm>
          <a:prstGeom prst="straightConnector1">
            <a:avLst/>
          </a:prstGeom>
          <a:ln w="19050">
            <a:solidFill>
              <a:schemeClr val="bg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79" name="Straight Arrow Connector 278">
            <a:extLst>
              <a:ext uri="{FF2B5EF4-FFF2-40B4-BE49-F238E27FC236}">
                <a16:creationId xmlns:a16="http://schemas.microsoft.com/office/drawing/2014/main" id="{5BEB5064-8E4C-4F20-A63A-18B9E1F2DF3D}"/>
              </a:ext>
            </a:extLst>
          </p:cNvPr>
          <p:cNvCxnSpPr>
            <a:stCxn id="144" idx="3"/>
            <a:endCxn id="248" idx="1"/>
          </p:cNvCxnSpPr>
          <p:nvPr/>
        </p:nvCxnSpPr>
        <p:spPr>
          <a:xfrm>
            <a:off x="5984441" y="5119890"/>
            <a:ext cx="1516956" cy="568472"/>
          </a:xfrm>
          <a:prstGeom prst="straightConnector1">
            <a:avLst/>
          </a:prstGeom>
          <a:ln w="19050">
            <a:solidFill>
              <a:schemeClr val="bg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4" name="TextBox 143">
            <a:extLst>
              <a:ext uri="{FF2B5EF4-FFF2-40B4-BE49-F238E27FC236}">
                <a16:creationId xmlns:a16="http://schemas.microsoft.com/office/drawing/2014/main" id="{752A3674-16DF-4081-86DF-E2D19654969B}"/>
              </a:ext>
            </a:extLst>
          </p:cNvPr>
          <p:cNvSpPr txBox="1"/>
          <p:nvPr/>
        </p:nvSpPr>
        <p:spPr>
          <a:xfrm>
            <a:off x="4870491" y="4919835"/>
            <a:ext cx="1113950" cy="400110"/>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85000"/>
                  </a:schemeClr>
                </a:solidFill>
                <a:latin typeface="JetBrains Mono Light" panose="02000009000000000000" pitchFamily="49" charset="0"/>
                <a:cs typeface="JetBrains Mono Light" panose="02000009000000000000" pitchFamily="49" charset="0"/>
              </a:rPr>
              <a:t>TGT</a:t>
            </a:r>
            <a:r>
              <a:rPr lang="en-VN" sz="1000" spc="300" dirty="0">
                <a:solidFill>
                  <a:schemeClr val="bg1">
                    <a:lumMod val="85000"/>
                  </a:schemeClr>
                </a:solidFill>
                <a:latin typeface="JetBrains Mono Light" panose="02000009000000000000" pitchFamily="49" charset="0"/>
                <a:cs typeface="JetBrains Mono Light" panose="02000009000000000000" pitchFamily="49" charset="0"/>
              </a:rPr>
              <a:t>=</a:t>
            </a:r>
            <a:r>
              <a:rPr lang="en-VN" sz="1000" dirty="0">
                <a:solidFill>
                  <a:schemeClr val="bg1">
                    <a:lumMod val="85000"/>
                  </a:schemeClr>
                </a:solidFill>
                <a:latin typeface="JetBrains Mono Light" panose="02000009000000000000" pitchFamily="49" charset="0"/>
                <a:cs typeface="JetBrains Mono Light" panose="02000009000000000000" pitchFamily="49" charset="0"/>
              </a:rPr>
              <a:t>10,83</a:t>
            </a:r>
          </a:p>
          <a:p>
            <a:r>
              <a:rPr lang="en-VN" sz="1000" dirty="0">
                <a:solidFill>
                  <a:schemeClr val="bg1">
                    <a:lumMod val="85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85000"/>
                  </a:schemeClr>
                </a:solidFill>
                <a:latin typeface="JetBrains Mono Light" panose="02000009000000000000" pitchFamily="49" charset="0"/>
                <a:cs typeface="JetBrains Mono Light" panose="02000009000000000000" pitchFamily="49" charset="0"/>
              </a:rPr>
              <a:t> </a:t>
            </a:r>
            <a:r>
              <a:rPr lang="en-VN" sz="1000" spc="300" dirty="0">
                <a:solidFill>
                  <a:schemeClr val="bg1">
                    <a:lumMod val="85000"/>
                  </a:schemeClr>
                </a:solidFill>
                <a:latin typeface="JetBrains Mono Light" panose="02000009000000000000" pitchFamily="49" charset="0"/>
                <a:cs typeface="JetBrains Mono Light" panose="02000009000000000000" pitchFamily="49" charset="0"/>
              </a:rPr>
              <a:t>=</a:t>
            </a:r>
            <a:r>
              <a:rPr lang="en-VN" sz="1000" dirty="0">
                <a:solidFill>
                  <a:schemeClr val="bg1">
                    <a:lumMod val="85000"/>
                  </a:schemeClr>
                </a:solidFill>
                <a:latin typeface="JetBrains Mono Light" panose="02000009000000000000" pitchFamily="49" charset="0"/>
                <a:cs typeface="JetBrains Mono Light" panose="02000009000000000000" pitchFamily="49" charset="0"/>
              </a:rPr>
              <a:t>20,3169</a:t>
            </a:r>
          </a:p>
        </p:txBody>
      </p:sp>
      <p:sp>
        <p:nvSpPr>
          <p:cNvPr id="146" name="TextBox 145">
            <a:extLst>
              <a:ext uri="{FF2B5EF4-FFF2-40B4-BE49-F238E27FC236}">
                <a16:creationId xmlns:a16="http://schemas.microsoft.com/office/drawing/2014/main" id="{A070B3A8-D00E-4B77-842D-CD90B87584E9}"/>
              </a:ext>
            </a:extLst>
          </p:cNvPr>
          <p:cNvSpPr txBox="1"/>
          <p:nvPr/>
        </p:nvSpPr>
        <p:spPr>
          <a:xfrm>
            <a:off x="4860083" y="5502507"/>
            <a:ext cx="1124357" cy="400110"/>
          </a:xfrm>
          <a:prstGeom prst="rect">
            <a:avLst/>
          </a:prstGeom>
          <a:no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50000"/>
                  </a:schemeClr>
                </a:solidFill>
                <a:latin typeface="JetBrains Mono Light" panose="02000009000000000000" pitchFamily="49" charset="0"/>
                <a:cs typeface="JetBrains Mono Light" panose="02000009000000000000" pitchFamily="49" charset="0"/>
              </a:rPr>
              <a:t>TGT</a:t>
            </a:r>
            <a:r>
              <a:rPr lang="en-VN" sz="1000" spc="300" dirty="0">
                <a:solidFill>
                  <a:schemeClr val="bg1">
                    <a:lumMod val="50000"/>
                  </a:schemeClr>
                </a:solidFill>
                <a:latin typeface="JetBrains Mono Light" panose="02000009000000000000" pitchFamily="49" charset="0"/>
                <a:cs typeface="JetBrains Mono Light" panose="02000009000000000000" pitchFamily="49" charset="0"/>
              </a:rPr>
              <a:t>=</a:t>
            </a:r>
            <a:r>
              <a:rPr lang="en-VN" sz="1000" dirty="0">
                <a:solidFill>
                  <a:schemeClr val="bg1">
                    <a:lumMod val="50000"/>
                  </a:schemeClr>
                </a:solidFill>
                <a:latin typeface="JetBrains Mono Light" panose="02000009000000000000" pitchFamily="49" charset="0"/>
                <a:cs typeface="JetBrains Mono Light" panose="02000009000000000000" pitchFamily="49" charset="0"/>
              </a:rPr>
              <a:t>13,985</a:t>
            </a:r>
          </a:p>
          <a:p>
            <a:r>
              <a:rPr lang="en-VN" sz="1000" dirty="0">
                <a:solidFill>
                  <a:schemeClr val="bg1">
                    <a:lumMod val="50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50000"/>
                  </a:schemeClr>
                </a:solidFill>
                <a:latin typeface="JetBrains Mono Light" panose="02000009000000000000" pitchFamily="49" charset="0"/>
                <a:cs typeface="JetBrains Mono Light" panose="02000009000000000000" pitchFamily="49" charset="0"/>
              </a:rPr>
              <a:t> </a:t>
            </a:r>
            <a:r>
              <a:rPr lang="en-VN" sz="1000" spc="300" dirty="0">
                <a:solidFill>
                  <a:schemeClr val="bg1">
                    <a:lumMod val="50000"/>
                  </a:schemeClr>
                </a:solidFill>
                <a:latin typeface="JetBrains Mono Light" panose="02000009000000000000" pitchFamily="49" charset="0"/>
                <a:cs typeface="JetBrains Mono Light" panose="02000009000000000000" pitchFamily="49" charset="0"/>
              </a:rPr>
              <a:t>=</a:t>
            </a:r>
            <a:r>
              <a:rPr lang="en-VN" sz="1000" dirty="0">
                <a:solidFill>
                  <a:schemeClr val="bg1">
                    <a:lumMod val="50000"/>
                  </a:schemeClr>
                </a:solidFill>
                <a:latin typeface="JetBrains Mono Light" panose="02000009000000000000" pitchFamily="49" charset="0"/>
                <a:cs typeface="JetBrains Mono Light" panose="02000009000000000000" pitchFamily="49" charset="0"/>
              </a:rPr>
              <a:t>23,4719</a:t>
            </a:r>
          </a:p>
        </p:txBody>
      </p:sp>
      <p:sp>
        <p:nvSpPr>
          <p:cNvPr id="147" name="TextBox 146">
            <a:extLst>
              <a:ext uri="{FF2B5EF4-FFF2-40B4-BE49-F238E27FC236}">
                <a16:creationId xmlns:a16="http://schemas.microsoft.com/office/drawing/2014/main" id="{991A36D2-F481-44D2-89D3-60D7677AADC6}"/>
              </a:ext>
            </a:extLst>
          </p:cNvPr>
          <p:cNvSpPr txBox="1"/>
          <p:nvPr/>
        </p:nvSpPr>
        <p:spPr>
          <a:xfrm>
            <a:off x="6046756" y="6327802"/>
            <a:ext cx="1124357" cy="400110"/>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85000"/>
                  </a:schemeClr>
                </a:solidFill>
                <a:latin typeface="JetBrains Mono Light" panose="02000009000000000000" pitchFamily="49" charset="0"/>
                <a:cs typeface="JetBrains Mono Light" panose="02000009000000000000" pitchFamily="49" charset="0"/>
              </a:rPr>
              <a:t>TGT</a:t>
            </a:r>
            <a:r>
              <a:rPr lang="en-VN" sz="1000" spc="300" dirty="0">
                <a:solidFill>
                  <a:schemeClr val="bg1">
                    <a:lumMod val="85000"/>
                  </a:schemeClr>
                </a:solidFill>
                <a:latin typeface="JetBrains Mono Light" panose="02000009000000000000" pitchFamily="49" charset="0"/>
                <a:cs typeface="JetBrains Mono Light" panose="02000009000000000000" pitchFamily="49" charset="0"/>
              </a:rPr>
              <a:t>=</a:t>
            </a:r>
            <a:r>
              <a:rPr lang="en-VN" sz="1000" dirty="0">
                <a:solidFill>
                  <a:schemeClr val="bg1">
                    <a:lumMod val="85000"/>
                  </a:schemeClr>
                </a:solidFill>
                <a:latin typeface="JetBrains Mono Light" panose="02000009000000000000" pitchFamily="49" charset="0"/>
                <a:cs typeface="JetBrains Mono Light" panose="02000009000000000000" pitchFamily="49" charset="0"/>
              </a:rPr>
              <a:t>13,4473</a:t>
            </a:r>
          </a:p>
          <a:p>
            <a:r>
              <a:rPr lang="en-VN" sz="1000" dirty="0">
                <a:solidFill>
                  <a:schemeClr val="bg1">
                    <a:lumMod val="85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85000"/>
                  </a:schemeClr>
                </a:solidFill>
                <a:latin typeface="JetBrains Mono Light" panose="02000009000000000000" pitchFamily="49" charset="0"/>
                <a:cs typeface="JetBrains Mono Light" panose="02000009000000000000" pitchFamily="49" charset="0"/>
              </a:rPr>
              <a:t> </a:t>
            </a:r>
            <a:r>
              <a:rPr lang="en-VN" sz="1000" spc="300" dirty="0">
                <a:solidFill>
                  <a:schemeClr val="bg1">
                    <a:lumMod val="85000"/>
                  </a:schemeClr>
                </a:solidFill>
                <a:latin typeface="JetBrains Mono Light" panose="02000009000000000000" pitchFamily="49" charset="0"/>
                <a:cs typeface="JetBrains Mono Light" panose="02000009000000000000" pitchFamily="49" charset="0"/>
              </a:rPr>
              <a:t>=</a:t>
            </a:r>
            <a:r>
              <a:rPr lang="en-VN" sz="1000" dirty="0">
                <a:solidFill>
                  <a:schemeClr val="bg1">
                    <a:lumMod val="85000"/>
                  </a:schemeClr>
                </a:solidFill>
                <a:latin typeface="JetBrains Mono Light" panose="02000009000000000000" pitchFamily="49" charset="0"/>
                <a:cs typeface="JetBrains Mono Light" panose="02000009000000000000" pitchFamily="49" charset="0"/>
              </a:rPr>
              <a:t>22,9342</a:t>
            </a:r>
          </a:p>
        </p:txBody>
      </p:sp>
      <p:sp>
        <p:nvSpPr>
          <p:cNvPr id="148" name="TextBox 147">
            <a:extLst>
              <a:ext uri="{FF2B5EF4-FFF2-40B4-BE49-F238E27FC236}">
                <a16:creationId xmlns:a16="http://schemas.microsoft.com/office/drawing/2014/main" id="{AEE91A52-C758-4766-B23F-729D68582BDA}"/>
              </a:ext>
            </a:extLst>
          </p:cNvPr>
          <p:cNvSpPr txBox="1"/>
          <p:nvPr/>
        </p:nvSpPr>
        <p:spPr>
          <a:xfrm>
            <a:off x="4858243" y="5916752"/>
            <a:ext cx="1125654" cy="400110"/>
          </a:xfrm>
          <a:prstGeom prst="rect">
            <a:avLst/>
          </a:prstGeom>
          <a:no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50000"/>
                  </a:schemeClr>
                </a:solidFill>
                <a:latin typeface="JetBrains Mono Light" panose="02000009000000000000" pitchFamily="49" charset="0"/>
                <a:cs typeface="JetBrains Mono Light" panose="02000009000000000000" pitchFamily="49" charset="0"/>
              </a:rPr>
              <a:t>TGT</a:t>
            </a:r>
            <a:r>
              <a:rPr lang="en-VN" sz="1000" spc="300" dirty="0">
                <a:solidFill>
                  <a:schemeClr val="bg1">
                    <a:lumMod val="50000"/>
                  </a:schemeClr>
                </a:solidFill>
                <a:latin typeface="JetBrains Mono Light" panose="02000009000000000000" pitchFamily="49" charset="0"/>
                <a:cs typeface="JetBrains Mono Light" panose="02000009000000000000" pitchFamily="49" charset="0"/>
              </a:rPr>
              <a:t>=</a:t>
            </a:r>
            <a:r>
              <a:rPr lang="en-VN" sz="1000" dirty="0">
                <a:solidFill>
                  <a:schemeClr val="bg1">
                    <a:lumMod val="50000"/>
                  </a:schemeClr>
                </a:solidFill>
                <a:latin typeface="JetBrains Mono Light" panose="02000009000000000000" pitchFamily="49" charset="0"/>
                <a:cs typeface="JetBrains Mono Light" panose="02000009000000000000" pitchFamily="49" charset="0"/>
              </a:rPr>
              <a:t>10,385</a:t>
            </a:r>
          </a:p>
          <a:p>
            <a:r>
              <a:rPr lang="en-VN" sz="1000" dirty="0">
                <a:solidFill>
                  <a:schemeClr val="bg1">
                    <a:lumMod val="50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50000"/>
                  </a:schemeClr>
                </a:solidFill>
                <a:latin typeface="JetBrains Mono Light" panose="02000009000000000000" pitchFamily="49" charset="0"/>
                <a:cs typeface="JetBrains Mono Light" panose="02000009000000000000" pitchFamily="49" charset="0"/>
              </a:rPr>
              <a:t> </a:t>
            </a:r>
            <a:r>
              <a:rPr lang="en-VN" sz="1000" spc="300" dirty="0">
                <a:solidFill>
                  <a:schemeClr val="bg1">
                    <a:lumMod val="50000"/>
                  </a:schemeClr>
                </a:solidFill>
                <a:latin typeface="JetBrains Mono Light" panose="02000009000000000000" pitchFamily="49" charset="0"/>
                <a:cs typeface="JetBrains Mono Light" panose="02000009000000000000" pitchFamily="49" charset="0"/>
              </a:rPr>
              <a:t>=</a:t>
            </a:r>
            <a:r>
              <a:rPr lang="en-VN" sz="1000" dirty="0">
                <a:solidFill>
                  <a:schemeClr val="bg1">
                    <a:lumMod val="50000"/>
                  </a:schemeClr>
                </a:solidFill>
                <a:latin typeface="JetBrains Mono Light" panose="02000009000000000000" pitchFamily="49" charset="0"/>
                <a:cs typeface="JetBrains Mono Light" panose="02000009000000000000" pitchFamily="49" charset="0"/>
              </a:rPr>
              <a:t>19,8719</a:t>
            </a:r>
          </a:p>
        </p:txBody>
      </p:sp>
      <p:sp>
        <p:nvSpPr>
          <p:cNvPr id="151" name="TextBox 150">
            <a:extLst>
              <a:ext uri="{FF2B5EF4-FFF2-40B4-BE49-F238E27FC236}">
                <a16:creationId xmlns:a16="http://schemas.microsoft.com/office/drawing/2014/main" id="{7E9A38A5-8811-4DA5-A84C-9922D89FD1E0}"/>
              </a:ext>
            </a:extLst>
          </p:cNvPr>
          <p:cNvSpPr txBox="1"/>
          <p:nvPr/>
        </p:nvSpPr>
        <p:spPr>
          <a:xfrm>
            <a:off x="7510186" y="536602"/>
            <a:ext cx="1040038" cy="400110"/>
          </a:xfrm>
          <a:prstGeom prst="rect">
            <a:avLst/>
          </a:prstGeom>
          <a:no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65000"/>
                  </a:schemeClr>
                </a:solidFill>
                <a:latin typeface="JetBrains Mono Light" panose="02000009000000000000" pitchFamily="49" charset="0"/>
                <a:cs typeface="JetBrains Mono Light" panose="02000009000000000000" pitchFamily="49" charset="0"/>
              </a:rPr>
              <a:t>TGT=17,1853</a:t>
            </a:r>
          </a:p>
          <a:p>
            <a:r>
              <a:rPr lang="en-VN" sz="1000" dirty="0">
                <a:solidFill>
                  <a:schemeClr val="bg1">
                    <a:lumMod val="65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65000"/>
                  </a:schemeClr>
                </a:solidFill>
                <a:latin typeface="JetBrains Mono Light" panose="02000009000000000000" pitchFamily="49" charset="0"/>
                <a:cs typeface="JetBrains Mono Light" panose="02000009000000000000" pitchFamily="49" charset="0"/>
              </a:rPr>
              <a:t> </a:t>
            </a:r>
            <a:r>
              <a:rPr lang="en-VN" sz="1000" dirty="0">
                <a:solidFill>
                  <a:schemeClr val="bg1">
                    <a:lumMod val="65000"/>
                  </a:schemeClr>
                </a:solidFill>
                <a:latin typeface="JetBrains Mono Light" panose="02000009000000000000" pitchFamily="49" charset="0"/>
                <a:cs typeface="JetBrains Mono Light" panose="02000009000000000000" pitchFamily="49" charset="0"/>
              </a:rPr>
              <a:t>=23,5099</a:t>
            </a:r>
          </a:p>
        </p:txBody>
      </p:sp>
      <p:sp>
        <p:nvSpPr>
          <p:cNvPr id="150" name="TextBox 149">
            <a:extLst>
              <a:ext uri="{FF2B5EF4-FFF2-40B4-BE49-F238E27FC236}">
                <a16:creationId xmlns:a16="http://schemas.microsoft.com/office/drawing/2014/main" id="{60A49E4D-2279-4FAC-BAB9-0BF14AE48595}"/>
              </a:ext>
            </a:extLst>
          </p:cNvPr>
          <p:cNvSpPr txBox="1"/>
          <p:nvPr/>
        </p:nvSpPr>
        <p:spPr>
          <a:xfrm>
            <a:off x="7510057" y="133789"/>
            <a:ext cx="1040038" cy="400110"/>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85000"/>
                  </a:schemeClr>
                </a:solidFill>
                <a:latin typeface="JetBrains Mono Light" panose="02000009000000000000" pitchFamily="49" charset="0"/>
                <a:cs typeface="JetBrains Mono Light" panose="02000009000000000000" pitchFamily="49" charset="0"/>
              </a:rPr>
              <a:t>TGT=12,2853</a:t>
            </a:r>
          </a:p>
          <a:p>
            <a:r>
              <a:rPr lang="en-VN" sz="1000" dirty="0">
                <a:solidFill>
                  <a:schemeClr val="bg1">
                    <a:lumMod val="85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85000"/>
                  </a:schemeClr>
                </a:solidFill>
                <a:latin typeface="JetBrains Mono Light" panose="02000009000000000000" pitchFamily="49" charset="0"/>
                <a:cs typeface="JetBrains Mono Light" panose="02000009000000000000" pitchFamily="49" charset="0"/>
              </a:rPr>
              <a:t> </a:t>
            </a:r>
            <a:r>
              <a:rPr lang="en-VN" sz="1000" dirty="0">
                <a:solidFill>
                  <a:schemeClr val="bg1">
                    <a:lumMod val="85000"/>
                  </a:schemeClr>
                </a:solidFill>
                <a:latin typeface="JetBrains Mono Light" panose="02000009000000000000" pitchFamily="49" charset="0"/>
                <a:cs typeface="JetBrains Mono Light" panose="02000009000000000000" pitchFamily="49" charset="0"/>
              </a:rPr>
              <a:t>=22,2853</a:t>
            </a:r>
          </a:p>
        </p:txBody>
      </p:sp>
      <p:sp>
        <p:nvSpPr>
          <p:cNvPr id="152" name="TextBox 151">
            <a:extLst>
              <a:ext uri="{FF2B5EF4-FFF2-40B4-BE49-F238E27FC236}">
                <a16:creationId xmlns:a16="http://schemas.microsoft.com/office/drawing/2014/main" id="{DFF80724-CE00-4AE6-A9A0-2583DC02E697}"/>
              </a:ext>
            </a:extLst>
          </p:cNvPr>
          <p:cNvSpPr txBox="1"/>
          <p:nvPr/>
        </p:nvSpPr>
        <p:spPr>
          <a:xfrm>
            <a:off x="7501398" y="1003845"/>
            <a:ext cx="1040037" cy="400110"/>
          </a:xfrm>
          <a:prstGeom prst="rect">
            <a:avLst/>
          </a:prstGeom>
          <a:no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50000"/>
                  </a:schemeClr>
                </a:solidFill>
                <a:latin typeface="JetBrains Mono Light" panose="02000009000000000000" pitchFamily="49" charset="0"/>
                <a:cs typeface="JetBrains Mono Light" panose="02000009000000000000" pitchFamily="49" charset="0"/>
              </a:rPr>
              <a:t>TGT=13,5473</a:t>
            </a:r>
          </a:p>
          <a:p>
            <a:r>
              <a:rPr lang="en-VN" sz="1000" dirty="0">
                <a:solidFill>
                  <a:schemeClr val="bg1">
                    <a:lumMod val="50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50000"/>
                  </a:schemeClr>
                </a:solidFill>
                <a:latin typeface="JetBrains Mono Light" panose="02000009000000000000" pitchFamily="49" charset="0"/>
                <a:cs typeface="JetBrains Mono Light" panose="02000009000000000000" pitchFamily="49" charset="0"/>
              </a:rPr>
              <a:t> </a:t>
            </a:r>
            <a:r>
              <a:rPr lang="en-VN" sz="1000" dirty="0">
                <a:solidFill>
                  <a:schemeClr val="bg1">
                    <a:lumMod val="50000"/>
                  </a:schemeClr>
                </a:solidFill>
                <a:latin typeface="JetBrains Mono Light" panose="02000009000000000000" pitchFamily="49" charset="0"/>
                <a:cs typeface="JetBrains Mono Light" panose="02000009000000000000" pitchFamily="49" charset="0"/>
              </a:rPr>
              <a:t>=23,5473</a:t>
            </a:r>
          </a:p>
        </p:txBody>
      </p:sp>
      <p:sp>
        <p:nvSpPr>
          <p:cNvPr id="153" name="TextBox 152">
            <a:extLst>
              <a:ext uri="{FF2B5EF4-FFF2-40B4-BE49-F238E27FC236}">
                <a16:creationId xmlns:a16="http://schemas.microsoft.com/office/drawing/2014/main" id="{C5A75386-3144-431C-85F9-5F7E909376CD}"/>
              </a:ext>
            </a:extLst>
          </p:cNvPr>
          <p:cNvSpPr txBox="1"/>
          <p:nvPr/>
        </p:nvSpPr>
        <p:spPr>
          <a:xfrm>
            <a:off x="7501398" y="1401263"/>
            <a:ext cx="1040037" cy="400110"/>
          </a:xfrm>
          <a:prstGeom prst="rect">
            <a:avLst/>
          </a:prstGeom>
          <a:no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50000"/>
                  </a:schemeClr>
                </a:solidFill>
                <a:latin typeface="JetBrains Mono Light" panose="02000009000000000000" pitchFamily="49" charset="0"/>
                <a:cs typeface="JetBrains Mono Light" panose="02000009000000000000" pitchFamily="49" charset="0"/>
              </a:rPr>
              <a:t>TGT=15,385</a:t>
            </a:r>
          </a:p>
          <a:p>
            <a:r>
              <a:rPr lang="en-VN" sz="1000" dirty="0">
                <a:solidFill>
                  <a:schemeClr val="bg1">
                    <a:lumMod val="50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50000"/>
                  </a:schemeClr>
                </a:solidFill>
                <a:latin typeface="JetBrains Mono Light" panose="02000009000000000000" pitchFamily="49" charset="0"/>
                <a:cs typeface="JetBrains Mono Light" panose="02000009000000000000" pitchFamily="49" charset="0"/>
              </a:rPr>
              <a:t> </a:t>
            </a:r>
            <a:r>
              <a:rPr lang="en-VN" sz="1000" dirty="0">
                <a:solidFill>
                  <a:schemeClr val="bg1">
                    <a:lumMod val="50000"/>
                  </a:schemeClr>
                </a:solidFill>
                <a:latin typeface="JetBrains Mono Light" panose="02000009000000000000" pitchFamily="49" charset="0"/>
                <a:cs typeface="JetBrains Mono Light" panose="02000009000000000000" pitchFamily="49" charset="0"/>
              </a:rPr>
              <a:t>=24,8719</a:t>
            </a:r>
          </a:p>
        </p:txBody>
      </p:sp>
      <p:sp>
        <p:nvSpPr>
          <p:cNvPr id="154" name="TextBox 153">
            <a:extLst>
              <a:ext uri="{FF2B5EF4-FFF2-40B4-BE49-F238E27FC236}">
                <a16:creationId xmlns:a16="http://schemas.microsoft.com/office/drawing/2014/main" id="{00DB7BB0-3C6D-49EC-A636-5B2D926884B2}"/>
              </a:ext>
            </a:extLst>
          </p:cNvPr>
          <p:cNvSpPr txBox="1"/>
          <p:nvPr/>
        </p:nvSpPr>
        <p:spPr>
          <a:xfrm>
            <a:off x="7499844" y="1803025"/>
            <a:ext cx="1040037" cy="400110"/>
          </a:xfrm>
          <a:prstGeom prst="rect">
            <a:avLst/>
          </a:prstGeom>
          <a:no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50000"/>
                  </a:schemeClr>
                </a:solidFill>
                <a:latin typeface="JetBrains Mono Light" panose="02000009000000000000" pitchFamily="49" charset="0"/>
                <a:cs typeface="JetBrains Mono Light" panose="02000009000000000000" pitchFamily="49" charset="0"/>
              </a:rPr>
              <a:t>TGT=21,6623</a:t>
            </a:r>
          </a:p>
          <a:p>
            <a:r>
              <a:rPr lang="en-VN" sz="1000" dirty="0">
                <a:solidFill>
                  <a:schemeClr val="bg1">
                    <a:lumMod val="50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50000"/>
                  </a:schemeClr>
                </a:solidFill>
                <a:latin typeface="JetBrains Mono Light" panose="02000009000000000000" pitchFamily="49" charset="0"/>
                <a:cs typeface="JetBrains Mono Light" panose="02000009000000000000" pitchFamily="49" charset="0"/>
              </a:rPr>
              <a:t> </a:t>
            </a:r>
            <a:r>
              <a:rPr lang="en-VN" sz="1000" dirty="0">
                <a:solidFill>
                  <a:schemeClr val="bg1">
                    <a:lumMod val="50000"/>
                  </a:schemeClr>
                </a:solidFill>
                <a:latin typeface="JetBrains Mono Light" panose="02000009000000000000" pitchFamily="49" charset="0"/>
                <a:cs typeface="JetBrains Mono Light" panose="02000009000000000000" pitchFamily="49" charset="0"/>
              </a:rPr>
              <a:t>=27,9869</a:t>
            </a:r>
          </a:p>
        </p:txBody>
      </p:sp>
      <p:sp>
        <p:nvSpPr>
          <p:cNvPr id="155" name="TextBox 154">
            <a:extLst>
              <a:ext uri="{FF2B5EF4-FFF2-40B4-BE49-F238E27FC236}">
                <a16:creationId xmlns:a16="http://schemas.microsoft.com/office/drawing/2014/main" id="{26EFC928-6C5C-468A-ACF3-0C933C04C560}"/>
              </a:ext>
            </a:extLst>
          </p:cNvPr>
          <p:cNvSpPr txBox="1"/>
          <p:nvPr/>
        </p:nvSpPr>
        <p:spPr>
          <a:xfrm>
            <a:off x="7499843" y="2197080"/>
            <a:ext cx="1040037" cy="400110"/>
          </a:xfrm>
          <a:prstGeom prst="rect">
            <a:avLst/>
          </a:prstGeom>
          <a:no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50000"/>
                  </a:schemeClr>
                </a:solidFill>
                <a:latin typeface="JetBrains Mono Light" panose="02000009000000000000" pitchFamily="49" charset="0"/>
                <a:cs typeface="JetBrains Mono Light" panose="02000009000000000000" pitchFamily="49" charset="0"/>
              </a:rPr>
              <a:t>TGT=18,6</a:t>
            </a:r>
          </a:p>
          <a:p>
            <a:r>
              <a:rPr lang="en-VN" sz="1000" dirty="0">
                <a:solidFill>
                  <a:schemeClr val="bg1">
                    <a:lumMod val="50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50000"/>
                  </a:schemeClr>
                </a:solidFill>
                <a:latin typeface="JetBrains Mono Light" panose="02000009000000000000" pitchFamily="49" charset="0"/>
                <a:cs typeface="JetBrains Mono Light" panose="02000009000000000000" pitchFamily="49" charset="0"/>
              </a:rPr>
              <a:t> </a:t>
            </a:r>
            <a:r>
              <a:rPr lang="en-VN" sz="1000" dirty="0">
                <a:solidFill>
                  <a:schemeClr val="bg1">
                    <a:lumMod val="50000"/>
                  </a:schemeClr>
                </a:solidFill>
                <a:latin typeface="JetBrains Mono Light" panose="02000009000000000000" pitchFamily="49" charset="0"/>
                <a:cs typeface="JetBrains Mono Light" panose="02000009000000000000" pitchFamily="49" charset="0"/>
              </a:rPr>
              <a:t>=24,9246</a:t>
            </a:r>
          </a:p>
        </p:txBody>
      </p:sp>
      <p:sp>
        <p:nvSpPr>
          <p:cNvPr id="188" name="TextBox 187">
            <a:extLst>
              <a:ext uri="{FF2B5EF4-FFF2-40B4-BE49-F238E27FC236}">
                <a16:creationId xmlns:a16="http://schemas.microsoft.com/office/drawing/2014/main" id="{34408388-69A8-48EF-A702-E7792CFA008A}"/>
              </a:ext>
            </a:extLst>
          </p:cNvPr>
          <p:cNvSpPr txBox="1"/>
          <p:nvPr/>
        </p:nvSpPr>
        <p:spPr>
          <a:xfrm>
            <a:off x="5754305" y="645537"/>
            <a:ext cx="338554" cy="246221"/>
          </a:xfrm>
          <a:prstGeom prst="rect">
            <a:avLst/>
          </a:prstGeom>
          <a:noFill/>
          <a:ln>
            <a:noFill/>
          </a:ln>
        </p:spPr>
        <p:txBody>
          <a:bodyPr wrap="none" rtlCol="0">
            <a:spAutoFit/>
          </a:bodyPr>
          <a:lstStyle/>
          <a:p>
            <a:r>
              <a:rPr lang="en-VN" sz="1000" dirty="0">
                <a:solidFill>
                  <a:schemeClr val="bg1">
                    <a:lumMod val="50000"/>
                  </a:schemeClr>
                </a:solidFill>
                <a:latin typeface="JetBrains Mono Light" panose="02000009000000000000" pitchFamily="49" charset="0"/>
                <a:cs typeface="JetBrains Mono Light" panose="02000009000000000000" pitchFamily="49" charset="0"/>
              </a:rPr>
              <a:t>B</a:t>
            </a:r>
            <a:r>
              <a:rPr lang="en-VN" sz="1000" dirty="0">
                <a:solidFill>
                  <a:schemeClr val="bg1"/>
                </a:solidFill>
                <a:latin typeface="JetBrains Mono Light" panose="02000009000000000000" pitchFamily="49" charset="0"/>
                <a:cs typeface="JetBrains Mono Light" panose="02000009000000000000" pitchFamily="49" charset="0"/>
              </a:rPr>
              <a:t>C</a:t>
            </a:r>
          </a:p>
        </p:txBody>
      </p:sp>
      <p:sp>
        <p:nvSpPr>
          <p:cNvPr id="189" name="TextBox 188">
            <a:extLst>
              <a:ext uri="{FF2B5EF4-FFF2-40B4-BE49-F238E27FC236}">
                <a16:creationId xmlns:a16="http://schemas.microsoft.com/office/drawing/2014/main" id="{C4C4619C-AB04-413F-8C25-12BC4C2356F5}"/>
              </a:ext>
            </a:extLst>
          </p:cNvPr>
          <p:cNvSpPr txBox="1"/>
          <p:nvPr/>
        </p:nvSpPr>
        <p:spPr>
          <a:xfrm>
            <a:off x="6834077" y="1600305"/>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B</a:t>
            </a:r>
            <a:r>
              <a:rPr lang="en-US" sz="1000" dirty="0">
                <a:solidFill>
                  <a:schemeClr val="bg1"/>
                </a:solidFill>
                <a:latin typeface="JetBrains Mono Light" panose="02000009000000000000" pitchFamily="49" charset="0"/>
                <a:cs typeface="JetBrains Mono Light" panose="02000009000000000000" pitchFamily="49" charset="0"/>
              </a:rPr>
              <a:t>D</a:t>
            </a:r>
            <a:endParaRPr lang="en-VN" sz="1000" dirty="0">
              <a:solidFill>
                <a:schemeClr val="bg1"/>
              </a:solidFill>
              <a:latin typeface="JetBrains Mono Light" panose="02000009000000000000" pitchFamily="49" charset="0"/>
              <a:cs typeface="JetBrains Mono Light" panose="02000009000000000000" pitchFamily="49" charset="0"/>
            </a:endParaRPr>
          </a:p>
        </p:txBody>
      </p:sp>
      <p:sp>
        <p:nvSpPr>
          <p:cNvPr id="190" name="TextBox 189">
            <a:extLst>
              <a:ext uri="{FF2B5EF4-FFF2-40B4-BE49-F238E27FC236}">
                <a16:creationId xmlns:a16="http://schemas.microsoft.com/office/drawing/2014/main" id="{BC8D37B0-BECB-4751-A9E2-8379930B0583}"/>
              </a:ext>
            </a:extLst>
          </p:cNvPr>
          <p:cNvSpPr txBox="1"/>
          <p:nvPr/>
        </p:nvSpPr>
        <p:spPr>
          <a:xfrm>
            <a:off x="5739065" y="1936272"/>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B</a:t>
            </a:r>
            <a:r>
              <a:rPr lang="en-US" sz="1000" dirty="0">
                <a:solidFill>
                  <a:schemeClr val="bg1"/>
                </a:solidFill>
                <a:latin typeface="JetBrains Mono Light" panose="02000009000000000000" pitchFamily="49" charset="0"/>
                <a:cs typeface="JetBrains Mono Light" panose="02000009000000000000" pitchFamily="49" charset="0"/>
              </a:rPr>
              <a:t>E</a:t>
            </a:r>
            <a:endParaRPr lang="en-VN" sz="1000" dirty="0">
              <a:solidFill>
                <a:schemeClr val="bg1"/>
              </a:solidFill>
              <a:latin typeface="JetBrains Mono Light" panose="02000009000000000000" pitchFamily="49" charset="0"/>
              <a:cs typeface="JetBrains Mono Light" panose="02000009000000000000" pitchFamily="49" charset="0"/>
            </a:endParaRPr>
          </a:p>
        </p:txBody>
      </p:sp>
      <p:sp>
        <p:nvSpPr>
          <p:cNvPr id="191" name="TextBox 190">
            <a:extLst>
              <a:ext uri="{FF2B5EF4-FFF2-40B4-BE49-F238E27FC236}">
                <a16:creationId xmlns:a16="http://schemas.microsoft.com/office/drawing/2014/main" id="{45BF4BF0-1987-40BC-91D2-22BF21F7F114}"/>
              </a:ext>
            </a:extLst>
          </p:cNvPr>
          <p:cNvSpPr txBox="1"/>
          <p:nvPr/>
        </p:nvSpPr>
        <p:spPr>
          <a:xfrm>
            <a:off x="5973408" y="2233740"/>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C</a:t>
            </a:r>
            <a:r>
              <a:rPr lang="en-US" sz="1000" dirty="0">
                <a:solidFill>
                  <a:schemeClr val="bg1"/>
                </a:solidFill>
                <a:latin typeface="JetBrains Mono Light" panose="02000009000000000000" pitchFamily="49" charset="0"/>
                <a:cs typeface="JetBrains Mono Light" panose="02000009000000000000" pitchFamily="49" charset="0"/>
              </a:rPr>
              <a:t>B</a:t>
            </a:r>
            <a:endParaRPr lang="en-VN" sz="1000" dirty="0">
              <a:solidFill>
                <a:schemeClr val="bg1"/>
              </a:solidFill>
              <a:latin typeface="JetBrains Mono Light" panose="02000009000000000000" pitchFamily="49" charset="0"/>
              <a:cs typeface="JetBrains Mono Light" panose="02000009000000000000" pitchFamily="49" charset="0"/>
            </a:endParaRPr>
          </a:p>
        </p:txBody>
      </p:sp>
      <p:sp>
        <p:nvSpPr>
          <p:cNvPr id="192" name="TextBox 191">
            <a:extLst>
              <a:ext uri="{FF2B5EF4-FFF2-40B4-BE49-F238E27FC236}">
                <a16:creationId xmlns:a16="http://schemas.microsoft.com/office/drawing/2014/main" id="{4576382D-6AC7-4BDA-AD4A-218AD21CF102}"/>
              </a:ext>
            </a:extLst>
          </p:cNvPr>
          <p:cNvSpPr txBox="1"/>
          <p:nvPr/>
        </p:nvSpPr>
        <p:spPr>
          <a:xfrm>
            <a:off x="5976058" y="2750201"/>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CD</a:t>
            </a:r>
            <a:endParaRPr lang="en-VN" sz="10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193" name="TextBox 192">
            <a:extLst>
              <a:ext uri="{FF2B5EF4-FFF2-40B4-BE49-F238E27FC236}">
                <a16:creationId xmlns:a16="http://schemas.microsoft.com/office/drawing/2014/main" id="{682B8746-C01A-4605-BBFC-F82E914131ED}"/>
              </a:ext>
            </a:extLst>
          </p:cNvPr>
          <p:cNvSpPr txBox="1"/>
          <p:nvPr/>
        </p:nvSpPr>
        <p:spPr>
          <a:xfrm>
            <a:off x="5969202" y="3286795"/>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CE</a:t>
            </a:r>
            <a:endParaRPr lang="en-VN" sz="10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194" name="TextBox 193">
            <a:extLst>
              <a:ext uri="{FF2B5EF4-FFF2-40B4-BE49-F238E27FC236}">
                <a16:creationId xmlns:a16="http://schemas.microsoft.com/office/drawing/2014/main" id="{CD0F48EB-53B0-4915-AF6F-E7FBA0203A20}"/>
              </a:ext>
            </a:extLst>
          </p:cNvPr>
          <p:cNvSpPr txBox="1"/>
          <p:nvPr/>
        </p:nvSpPr>
        <p:spPr>
          <a:xfrm>
            <a:off x="5972030" y="3856699"/>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D</a:t>
            </a:r>
            <a:r>
              <a:rPr lang="en-US" sz="1000" dirty="0">
                <a:solidFill>
                  <a:schemeClr val="bg1"/>
                </a:solidFill>
                <a:latin typeface="JetBrains Mono Light" panose="02000009000000000000" pitchFamily="49" charset="0"/>
                <a:cs typeface="JetBrains Mono Light" panose="02000009000000000000" pitchFamily="49" charset="0"/>
              </a:rPr>
              <a:t>B</a:t>
            </a:r>
            <a:endParaRPr lang="en-VN" sz="1000" dirty="0">
              <a:solidFill>
                <a:schemeClr val="bg1"/>
              </a:solidFill>
              <a:latin typeface="JetBrains Mono Light" panose="02000009000000000000" pitchFamily="49" charset="0"/>
              <a:cs typeface="JetBrains Mono Light" panose="02000009000000000000" pitchFamily="49" charset="0"/>
            </a:endParaRPr>
          </a:p>
        </p:txBody>
      </p:sp>
      <p:sp>
        <p:nvSpPr>
          <p:cNvPr id="195" name="TextBox 194">
            <a:extLst>
              <a:ext uri="{FF2B5EF4-FFF2-40B4-BE49-F238E27FC236}">
                <a16:creationId xmlns:a16="http://schemas.microsoft.com/office/drawing/2014/main" id="{288FA1A5-D1FA-463A-897C-C02CE3B80191}"/>
              </a:ext>
            </a:extLst>
          </p:cNvPr>
          <p:cNvSpPr txBox="1"/>
          <p:nvPr/>
        </p:nvSpPr>
        <p:spPr>
          <a:xfrm>
            <a:off x="5973390" y="4360477"/>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D</a:t>
            </a:r>
            <a:r>
              <a:rPr lang="en-US" sz="1000" dirty="0">
                <a:solidFill>
                  <a:schemeClr val="bg1"/>
                </a:solidFill>
                <a:latin typeface="JetBrains Mono Light" panose="02000009000000000000" pitchFamily="49" charset="0"/>
                <a:cs typeface="JetBrains Mono Light" panose="02000009000000000000" pitchFamily="49" charset="0"/>
              </a:rPr>
              <a:t>C</a:t>
            </a:r>
            <a:endParaRPr lang="en-VN" sz="1000" dirty="0">
              <a:solidFill>
                <a:schemeClr val="bg1"/>
              </a:solidFill>
              <a:latin typeface="JetBrains Mono Light" panose="02000009000000000000" pitchFamily="49" charset="0"/>
              <a:cs typeface="JetBrains Mono Light" panose="02000009000000000000" pitchFamily="49" charset="0"/>
            </a:endParaRPr>
          </a:p>
        </p:txBody>
      </p:sp>
      <p:sp>
        <p:nvSpPr>
          <p:cNvPr id="196" name="TextBox 195">
            <a:extLst>
              <a:ext uri="{FF2B5EF4-FFF2-40B4-BE49-F238E27FC236}">
                <a16:creationId xmlns:a16="http://schemas.microsoft.com/office/drawing/2014/main" id="{9694B7BF-CE41-470A-9242-77D6C480596E}"/>
              </a:ext>
            </a:extLst>
          </p:cNvPr>
          <p:cNvSpPr txBox="1"/>
          <p:nvPr/>
        </p:nvSpPr>
        <p:spPr>
          <a:xfrm>
            <a:off x="5976058" y="4859766"/>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D</a:t>
            </a:r>
            <a:r>
              <a:rPr lang="en-US" sz="1000" dirty="0">
                <a:solidFill>
                  <a:schemeClr val="bg1"/>
                </a:solidFill>
                <a:latin typeface="JetBrains Mono Light" panose="02000009000000000000" pitchFamily="49" charset="0"/>
                <a:cs typeface="JetBrains Mono Light" panose="02000009000000000000" pitchFamily="49" charset="0"/>
              </a:rPr>
              <a:t>E</a:t>
            </a:r>
            <a:endParaRPr lang="en-VN" sz="1000" dirty="0">
              <a:solidFill>
                <a:schemeClr val="bg1"/>
              </a:solidFill>
              <a:latin typeface="JetBrains Mono Light" panose="02000009000000000000" pitchFamily="49" charset="0"/>
              <a:cs typeface="JetBrains Mono Light" panose="02000009000000000000" pitchFamily="49" charset="0"/>
            </a:endParaRPr>
          </a:p>
        </p:txBody>
      </p:sp>
      <p:sp>
        <p:nvSpPr>
          <p:cNvPr id="197" name="TextBox 196">
            <a:extLst>
              <a:ext uri="{FF2B5EF4-FFF2-40B4-BE49-F238E27FC236}">
                <a16:creationId xmlns:a16="http://schemas.microsoft.com/office/drawing/2014/main" id="{18815B7B-8A39-4DC8-9971-DED2BE6F13AA}"/>
              </a:ext>
            </a:extLst>
          </p:cNvPr>
          <p:cNvSpPr txBox="1"/>
          <p:nvPr/>
        </p:nvSpPr>
        <p:spPr>
          <a:xfrm>
            <a:off x="5968393" y="5435570"/>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EB</a:t>
            </a:r>
            <a:endParaRPr lang="en-VN" sz="10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198" name="TextBox 197">
            <a:extLst>
              <a:ext uri="{FF2B5EF4-FFF2-40B4-BE49-F238E27FC236}">
                <a16:creationId xmlns:a16="http://schemas.microsoft.com/office/drawing/2014/main" id="{F79343CF-EAF7-4549-8E03-ACF638E0453F}"/>
              </a:ext>
            </a:extLst>
          </p:cNvPr>
          <p:cNvSpPr txBox="1"/>
          <p:nvPr/>
        </p:nvSpPr>
        <p:spPr>
          <a:xfrm>
            <a:off x="5969524" y="5867312"/>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EC</a:t>
            </a:r>
            <a:endParaRPr lang="en-VN" sz="10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199" name="TextBox 198">
            <a:extLst>
              <a:ext uri="{FF2B5EF4-FFF2-40B4-BE49-F238E27FC236}">
                <a16:creationId xmlns:a16="http://schemas.microsoft.com/office/drawing/2014/main" id="{FF923D6A-2359-4394-8DEF-C604E3B3AF0C}"/>
              </a:ext>
            </a:extLst>
          </p:cNvPr>
          <p:cNvSpPr txBox="1"/>
          <p:nvPr/>
        </p:nvSpPr>
        <p:spPr>
          <a:xfrm>
            <a:off x="6944920" y="6081581"/>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E</a:t>
            </a:r>
            <a:r>
              <a:rPr lang="en-US" sz="1000" dirty="0">
                <a:solidFill>
                  <a:schemeClr val="bg1"/>
                </a:solidFill>
                <a:latin typeface="JetBrains Mono Light" panose="02000009000000000000" pitchFamily="49" charset="0"/>
                <a:cs typeface="JetBrains Mono Light" panose="02000009000000000000" pitchFamily="49" charset="0"/>
              </a:rPr>
              <a:t>D</a:t>
            </a:r>
            <a:endParaRPr lang="en-VN" sz="1000" dirty="0">
              <a:solidFill>
                <a:schemeClr val="bg1"/>
              </a:solidFill>
              <a:latin typeface="JetBrains Mono Light" panose="02000009000000000000" pitchFamily="49" charset="0"/>
              <a:cs typeface="JetBrains Mono Light" panose="02000009000000000000" pitchFamily="49" charset="0"/>
            </a:endParaRPr>
          </a:p>
        </p:txBody>
      </p:sp>
      <p:sp>
        <p:nvSpPr>
          <p:cNvPr id="200" name="TextBox 199">
            <a:extLst>
              <a:ext uri="{FF2B5EF4-FFF2-40B4-BE49-F238E27FC236}">
                <a16:creationId xmlns:a16="http://schemas.microsoft.com/office/drawing/2014/main" id="{7F7BF437-A885-4F31-9219-C46DF08388D9}"/>
              </a:ext>
            </a:extLst>
          </p:cNvPr>
          <p:cNvSpPr txBox="1"/>
          <p:nvPr/>
        </p:nvSpPr>
        <p:spPr>
          <a:xfrm>
            <a:off x="1770273" y="2802665"/>
            <a:ext cx="477517" cy="369332"/>
          </a:xfrm>
          <a:prstGeom prst="rect">
            <a:avLst/>
          </a:prstGeom>
          <a:noFill/>
        </p:spPr>
        <p:txBody>
          <a:bodyPr wrap="square" rtlCol="0">
            <a:spAutoFit/>
          </a:bodyPr>
          <a:lstStyle/>
          <a:p>
            <a:pPr algn="ctr"/>
            <a:r>
              <a:rPr lang="en-US" dirty="0">
                <a:solidFill>
                  <a:schemeClr val="bg1"/>
                </a:solidFill>
                <a:latin typeface="JetBrains Mono Light" panose="02000009000000000000" pitchFamily="49" charset="0"/>
                <a:cs typeface="JetBrains Mono Light" panose="02000009000000000000" pitchFamily="49" charset="0"/>
              </a:rPr>
              <a:t>A</a:t>
            </a:r>
          </a:p>
        </p:txBody>
      </p:sp>
      <p:sp>
        <p:nvSpPr>
          <p:cNvPr id="203" name="TextBox 202">
            <a:extLst>
              <a:ext uri="{FF2B5EF4-FFF2-40B4-BE49-F238E27FC236}">
                <a16:creationId xmlns:a16="http://schemas.microsoft.com/office/drawing/2014/main" id="{E35D5281-11C9-4F98-88C0-B15E6B1A041D}"/>
              </a:ext>
            </a:extLst>
          </p:cNvPr>
          <p:cNvSpPr txBox="1"/>
          <p:nvPr/>
        </p:nvSpPr>
        <p:spPr>
          <a:xfrm>
            <a:off x="8500222" y="73772"/>
            <a:ext cx="338554" cy="246221"/>
          </a:xfrm>
          <a:prstGeom prst="rect">
            <a:avLst/>
          </a:prstGeom>
          <a:noFill/>
          <a:ln>
            <a:noFill/>
          </a:ln>
        </p:spPr>
        <p:txBody>
          <a:bodyPr wrap="none" rtlCol="0">
            <a:spAutoFit/>
          </a:bodyPr>
          <a:lstStyle/>
          <a:p>
            <a:r>
              <a:rPr lang="en-VN" sz="1000" dirty="0">
                <a:solidFill>
                  <a:schemeClr val="bg1">
                    <a:lumMod val="50000"/>
                  </a:schemeClr>
                </a:solidFill>
                <a:latin typeface="JetBrains Mono Light" panose="02000009000000000000" pitchFamily="49" charset="0"/>
                <a:cs typeface="JetBrains Mono Light" panose="02000009000000000000" pitchFamily="49" charset="0"/>
              </a:rPr>
              <a:t>C</a:t>
            </a:r>
            <a:r>
              <a:rPr lang="en-US" sz="1000" dirty="0">
                <a:solidFill>
                  <a:schemeClr val="bg1"/>
                </a:solidFill>
                <a:latin typeface="JetBrains Mono Light" panose="02000009000000000000" pitchFamily="49" charset="0"/>
                <a:cs typeface="JetBrains Mono Light" panose="02000009000000000000" pitchFamily="49" charset="0"/>
              </a:rPr>
              <a:t>D</a:t>
            </a:r>
            <a:endParaRPr lang="en-VN" sz="1000" dirty="0">
              <a:solidFill>
                <a:schemeClr val="bg1"/>
              </a:solidFill>
              <a:latin typeface="JetBrains Mono Light" panose="02000009000000000000" pitchFamily="49" charset="0"/>
              <a:cs typeface="JetBrains Mono Light" panose="02000009000000000000" pitchFamily="49" charset="0"/>
            </a:endParaRPr>
          </a:p>
        </p:txBody>
      </p:sp>
      <p:sp>
        <p:nvSpPr>
          <p:cNvPr id="204" name="TextBox 203">
            <a:extLst>
              <a:ext uri="{FF2B5EF4-FFF2-40B4-BE49-F238E27FC236}">
                <a16:creationId xmlns:a16="http://schemas.microsoft.com/office/drawing/2014/main" id="{1CA10B4F-1608-4C09-B96E-67C1CFDB3455}"/>
              </a:ext>
            </a:extLst>
          </p:cNvPr>
          <p:cNvSpPr txBox="1"/>
          <p:nvPr/>
        </p:nvSpPr>
        <p:spPr>
          <a:xfrm>
            <a:off x="8496812" y="468813"/>
            <a:ext cx="338554" cy="246221"/>
          </a:xfrm>
          <a:prstGeom prst="rect">
            <a:avLst/>
          </a:prstGeom>
          <a:noFill/>
          <a:ln>
            <a:noFill/>
          </a:ln>
        </p:spPr>
        <p:txBody>
          <a:bodyPr wrap="none" rtlCol="0">
            <a:spAutoFit/>
          </a:bodyPr>
          <a:lstStyle/>
          <a:p>
            <a:r>
              <a:rPr lang="en-VN" sz="1000" dirty="0">
                <a:solidFill>
                  <a:schemeClr val="bg1">
                    <a:lumMod val="50000"/>
                  </a:schemeClr>
                </a:solidFill>
                <a:latin typeface="JetBrains Mono Light" panose="02000009000000000000" pitchFamily="49" charset="0"/>
                <a:cs typeface="JetBrains Mono Light" panose="02000009000000000000" pitchFamily="49" charset="0"/>
              </a:rPr>
              <a:t>C</a:t>
            </a:r>
            <a:r>
              <a:rPr lang="en-US" sz="1000" dirty="0">
                <a:solidFill>
                  <a:schemeClr val="bg1">
                    <a:lumMod val="50000"/>
                  </a:schemeClr>
                </a:solidFill>
                <a:latin typeface="JetBrains Mono Light" panose="02000009000000000000" pitchFamily="49" charset="0"/>
                <a:cs typeface="JetBrains Mono Light" panose="02000009000000000000" pitchFamily="49" charset="0"/>
              </a:rPr>
              <a:t>E</a:t>
            </a:r>
            <a:endParaRPr lang="en-VN" sz="10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205" name="TextBox 204">
            <a:extLst>
              <a:ext uri="{FF2B5EF4-FFF2-40B4-BE49-F238E27FC236}">
                <a16:creationId xmlns:a16="http://schemas.microsoft.com/office/drawing/2014/main" id="{B5A7E489-4FAB-47F3-8127-139EA10D33CD}"/>
              </a:ext>
            </a:extLst>
          </p:cNvPr>
          <p:cNvSpPr txBox="1"/>
          <p:nvPr/>
        </p:nvSpPr>
        <p:spPr>
          <a:xfrm>
            <a:off x="8506000" y="936696"/>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DC</a:t>
            </a:r>
            <a:endParaRPr lang="en-VN" sz="10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206" name="TextBox 205">
            <a:extLst>
              <a:ext uri="{FF2B5EF4-FFF2-40B4-BE49-F238E27FC236}">
                <a16:creationId xmlns:a16="http://schemas.microsoft.com/office/drawing/2014/main" id="{863E7E61-69A2-44C7-ABD1-9BE7FFE3BCA0}"/>
              </a:ext>
            </a:extLst>
          </p:cNvPr>
          <p:cNvSpPr txBox="1"/>
          <p:nvPr/>
        </p:nvSpPr>
        <p:spPr>
          <a:xfrm>
            <a:off x="8503457" y="1350015"/>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DE</a:t>
            </a:r>
            <a:endParaRPr lang="en-VN" sz="10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207" name="TextBox 206">
            <a:extLst>
              <a:ext uri="{FF2B5EF4-FFF2-40B4-BE49-F238E27FC236}">
                <a16:creationId xmlns:a16="http://schemas.microsoft.com/office/drawing/2014/main" id="{85BBB56A-0648-4775-A681-AEA4A155FB9D}"/>
              </a:ext>
            </a:extLst>
          </p:cNvPr>
          <p:cNvSpPr txBox="1"/>
          <p:nvPr/>
        </p:nvSpPr>
        <p:spPr>
          <a:xfrm>
            <a:off x="8517146" y="1771845"/>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EC</a:t>
            </a:r>
            <a:endParaRPr lang="en-VN" sz="10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208" name="TextBox 207">
            <a:extLst>
              <a:ext uri="{FF2B5EF4-FFF2-40B4-BE49-F238E27FC236}">
                <a16:creationId xmlns:a16="http://schemas.microsoft.com/office/drawing/2014/main" id="{7620AF05-A018-46CA-B31A-3E307691CF15}"/>
              </a:ext>
            </a:extLst>
          </p:cNvPr>
          <p:cNvSpPr txBox="1"/>
          <p:nvPr/>
        </p:nvSpPr>
        <p:spPr>
          <a:xfrm>
            <a:off x="8513631" y="2159026"/>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ED</a:t>
            </a:r>
            <a:endParaRPr lang="en-VN" sz="10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228" name="TextBox 227">
            <a:extLst>
              <a:ext uri="{FF2B5EF4-FFF2-40B4-BE49-F238E27FC236}">
                <a16:creationId xmlns:a16="http://schemas.microsoft.com/office/drawing/2014/main" id="{E3C43F7F-274D-4BDE-B2C2-6F3C8E31F90E}"/>
              </a:ext>
            </a:extLst>
          </p:cNvPr>
          <p:cNvSpPr txBox="1"/>
          <p:nvPr/>
        </p:nvSpPr>
        <p:spPr>
          <a:xfrm>
            <a:off x="7501399" y="2598880"/>
            <a:ext cx="1040037" cy="400110"/>
          </a:xfrm>
          <a:prstGeom prst="rect">
            <a:avLst/>
          </a:prstGeom>
          <a:no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50000"/>
                  </a:schemeClr>
                </a:solidFill>
                <a:latin typeface="JetBrains Mono Light" panose="02000009000000000000" pitchFamily="49" charset="0"/>
                <a:cs typeface="JetBrains Mono Light" panose="02000009000000000000" pitchFamily="49" charset="0"/>
              </a:rPr>
              <a:t>TGT=16,719</a:t>
            </a:r>
          </a:p>
          <a:p>
            <a:r>
              <a:rPr lang="en-VN" sz="1000" dirty="0">
                <a:solidFill>
                  <a:schemeClr val="bg1">
                    <a:lumMod val="50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50000"/>
                  </a:schemeClr>
                </a:solidFill>
                <a:latin typeface="JetBrains Mono Light" panose="02000009000000000000" pitchFamily="49" charset="0"/>
                <a:cs typeface="JetBrains Mono Light" panose="02000009000000000000" pitchFamily="49" charset="0"/>
              </a:rPr>
              <a:t> </a:t>
            </a:r>
            <a:r>
              <a:rPr lang="en-VN" sz="1000" dirty="0">
                <a:solidFill>
                  <a:schemeClr val="bg1">
                    <a:lumMod val="50000"/>
                  </a:schemeClr>
                </a:solidFill>
                <a:latin typeface="JetBrains Mono Light" panose="02000009000000000000" pitchFamily="49" charset="0"/>
                <a:cs typeface="JetBrains Mono Light" panose="02000009000000000000" pitchFamily="49" charset="0"/>
              </a:rPr>
              <a:t>=23,0436</a:t>
            </a:r>
          </a:p>
        </p:txBody>
      </p:sp>
      <p:sp>
        <p:nvSpPr>
          <p:cNvPr id="229" name="TextBox 228">
            <a:extLst>
              <a:ext uri="{FF2B5EF4-FFF2-40B4-BE49-F238E27FC236}">
                <a16:creationId xmlns:a16="http://schemas.microsoft.com/office/drawing/2014/main" id="{E00749B4-669C-46D8-B67F-E866F7FADCC7}"/>
              </a:ext>
            </a:extLst>
          </p:cNvPr>
          <p:cNvSpPr txBox="1"/>
          <p:nvPr/>
        </p:nvSpPr>
        <p:spPr>
          <a:xfrm>
            <a:off x="7501398" y="3002460"/>
            <a:ext cx="1040037" cy="400110"/>
          </a:xfrm>
          <a:prstGeom prst="rect">
            <a:avLst/>
          </a:prstGeom>
          <a:no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50000"/>
                  </a:schemeClr>
                </a:solidFill>
                <a:latin typeface="JetBrains Mono Light" panose="02000009000000000000" pitchFamily="49" charset="0"/>
                <a:cs typeface="JetBrains Mono Light" panose="02000009000000000000" pitchFamily="49" charset="0"/>
              </a:rPr>
              <a:t>TGT=19,934</a:t>
            </a:r>
          </a:p>
          <a:p>
            <a:r>
              <a:rPr lang="en-VN" sz="1000" dirty="0">
                <a:solidFill>
                  <a:schemeClr val="bg1">
                    <a:lumMod val="50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50000"/>
                  </a:schemeClr>
                </a:solidFill>
                <a:latin typeface="JetBrains Mono Light" panose="02000009000000000000" pitchFamily="49" charset="0"/>
                <a:cs typeface="JetBrains Mono Light" panose="02000009000000000000" pitchFamily="49" charset="0"/>
              </a:rPr>
              <a:t> </a:t>
            </a:r>
            <a:r>
              <a:rPr lang="en-VN" sz="1000" dirty="0">
                <a:solidFill>
                  <a:schemeClr val="bg1">
                    <a:lumMod val="50000"/>
                  </a:schemeClr>
                </a:solidFill>
                <a:latin typeface="JetBrains Mono Light" panose="02000009000000000000" pitchFamily="49" charset="0"/>
                <a:cs typeface="JetBrains Mono Light" panose="02000009000000000000" pitchFamily="49" charset="0"/>
              </a:rPr>
              <a:t>=23,0963</a:t>
            </a:r>
          </a:p>
        </p:txBody>
      </p:sp>
      <p:sp>
        <p:nvSpPr>
          <p:cNvPr id="230" name="TextBox 229">
            <a:extLst>
              <a:ext uri="{FF2B5EF4-FFF2-40B4-BE49-F238E27FC236}">
                <a16:creationId xmlns:a16="http://schemas.microsoft.com/office/drawing/2014/main" id="{6E6BEB44-3675-4A67-8611-D51997ED3992}"/>
              </a:ext>
            </a:extLst>
          </p:cNvPr>
          <p:cNvSpPr txBox="1"/>
          <p:nvPr/>
        </p:nvSpPr>
        <p:spPr>
          <a:xfrm>
            <a:off x="8515526" y="2565991"/>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BD</a:t>
            </a:r>
            <a:endParaRPr lang="en-VN" sz="10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231" name="TextBox 230">
            <a:extLst>
              <a:ext uri="{FF2B5EF4-FFF2-40B4-BE49-F238E27FC236}">
                <a16:creationId xmlns:a16="http://schemas.microsoft.com/office/drawing/2014/main" id="{F9952930-AE41-4ADF-AB37-54134EB80D3E}"/>
              </a:ext>
            </a:extLst>
          </p:cNvPr>
          <p:cNvSpPr txBox="1"/>
          <p:nvPr/>
        </p:nvSpPr>
        <p:spPr>
          <a:xfrm>
            <a:off x="8521536" y="2962697"/>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BE</a:t>
            </a:r>
            <a:endParaRPr lang="en-VN" sz="10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236" name="TextBox 235">
            <a:extLst>
              <a:ext uri="{FF2B5EF4-FFF2-40B4-BE49-F238E27FC236}">
                <a16:creationId xmlns:a16="http://schemas.microsoft.com/office/drawing/2014/main" id="{D8B9A6D4-3C13-4EAB-87EC-FF764DCB56F0}"/>
              </a:ext>
            </a:extLst>
          </p:cNvPr>
          <p:cNvSpPr txBox="1"/>
          <p:nvPr/>
        </p:nvSpPr>
        <p:spPr>
          <a:xfrm>
            <a:off x="9011640" y="236675"/>
            <a:ext cx="1040038" cy="400110"/>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85000"/>
                  </a:schemeClr>
                </a:solidFill>
                <a:latin typeface="JetBrains Mono Light" panose="02000009000000000000" pitchFamily="49" charset="0"/>
                <a:cs typeface="JetBrains Mono Light" panose="02000009000000000000" pitchFamily="49" charset="0"/>
              </a:rPr>
              <a:t>TGT</a:t>
            </a:r>
            <a:r>
              <a:rPr lang="en-US" sz="1000" dirty="0">
                <a:solidFill>
                  <a:schemeClr val="bg1">
                    <a:lumMod val="85000"/>
                  </a:schemeClr>
                </a:solidFill>
                <a:latin typeface="JetBrains Mono Light" panose="02000009000000000000" pitchFamily="49" charset="0"/>
                <a:cs typeface="JetBrains Mono Light" panose="02000009000000000000" pitchFamily="49" charset="0"/>
              </a:rPr>
              <a:t>=</a:t>
            </a:r>
            <a:r>
              <a:rPr lang="en-VN" sz="1000" dirty="0">
                <a:solidFill>
                  <a:schemeClr val="bg1">
                    <a:lumMod val="85000"/>
                  </a:schemeClr>
                </a:solidFill>
                <a:latin typeface="JetBrains Mono Light" panose="02000009000000000000" pitchFamily="49" charset="0"/>
                <a:cs typeface="JetBrains Mono Light" panose="02000009000000000000" pitchFamily="49" charset="0"/>
              </a:rPr>
              <a:t>17,2853</a:t>
            </a:r>
          </a:p>
          <a:p>
            <a:r>
              <a:rPr lang="en-VN" sz="1000" dirty="0">
                <a:solidFill>
                  <a:schemeClr val="bg1">
                    <a:lumMod val="85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85000"/>
                  </a:schemeClr>
                </a:solidFill>
                <a:latin typeface="JetBrains Mono Light" panose="02000009000000000000" pitchFamily="49" charset="0"/>
                <a:cs typeface="JetBrains Mono Light" panose="02000009000000000000" pitchFamily="49" charset="0"/>
              </a:rPr>
              <a:t> </a:t>
            </a:r>
            <a:r>
              <a:rPr lang="en-VN" sz="1000" dirty="0">
                <a:solidFill>
                  <a:schemeClr val="bg1">
                    <a:lumMod val="85000"/>
                  </a:schemeClr>
                </a:solidFill>
                <a:latin typeface="JetBrains Mono Light" panose="02000009000000000000" pitchFamily="49" charset="0"/>
                <a:cs typeface="JetBrains Mono Light" panose="02000009000000000000" pitchFamily="49" charset="0"/>
              </a:rPr>
              <a:t>=22,6703</a:t>
            </a:r>
          </a:p>
        </p:txBody>
      </p:sp>
      <p:sp>
        <p:nvSpPr>
          <p:cNvPr id="237" name="TextBox 236">
            <a:extLst>
              <a:ext uri="{FF2B5EF4-FFF2-40B4-BE49-F238E27FC236}">
                <a16:creationId xmlns:a16="http://schemas.microsoft.com/office/drawing/2014/main" id="{B4123086-8A28-4AA2-B331-05B18CBDCEF8}"/>
              </a:ext>
            </a:extLst>
          </p:cNvPr>
          <p:cNvSpPr txBox="1"/>
          <p:nvPr/>
        </p:nvSpPr>
        <p:spPr>
          <a:xfrm>
            <a:off x="10016509" y="180141"/>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D</a:t>
            </a:r>
            <a:r>
              <a:rPr lang="en-US" sz="1000" dirty="0">
                <a:solidFill>
                  <a:schemeClr val="bg1"/>
                </a:solidFill>
                <a:latin typeface="JetBrains Mono Light" panose="02000009000000000000" pitchFamily="49" charset="0"/>
                <a:cs typeface="JetBrains Mono Light" panose="02000009000000000000" pitchFamily="49" charset="0"/>
              </a:rPr>
              <a:t>E</a:t>
            </a:r>
            <a:endParaRPr lang="en-VN" sz="1000" dirty="0">
              <a:solidFill>
                <a:schemeClr val="bg1"/>
              </a:solidFill>
              <a:latin typeface="JetBrains Mono Light" panose="02000009000000000000" pitchFamily="49" charset="0"/>
              <a:cs typeface="JetBrains Mono Light" panose="02000009000000000000" pitchFamily="49" charset="0"/>
            </a:endParaRPr>
          </a:p>
        </p:txBody>
      </p:sp>
      <p:sp>
        <p:nvSpPr>
          <p:cNvPr id="241" name="TextBox 240">
            <a:extLst>
              <a:ext uri="{FF2B5EF4-FFF2-40B4-BE49-F238E27FC236}">
                <a16:creationId xmlns:a16="http://schemas.microsoft.com/office/drawing/2014/main" id="{9D72F248-1F81-4427-881B-C8F864FBFA79}"/>
              </a:ext>
            </a:extLst>
          </p:cNvPr>
          <p:cNvSpPr txBox="1"/>
          <p:nvPr/>
        </p:nvSpPr>
        <p:spPr>
          <a:xfrm>
            <a:off x="7501397" y="3878317"/>
            <a:ext cx="1046588" cy="400110"/>
          </a:xfrm>
          <a:prstGeom prst="rect">
            <a:avLst/>
          </a:prstGeom>
          <a:no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50000"/>
                  </a:schemeClr>
                </a:solidFill>
                <a:latin typeface="JetBrains Mono Light" panose="02000009000000000000" pitchFamily="49" charset="0"/>
                <a:cs typeface="JetBrains Mono Light" panose="02000009000000000000" pitchFamily="49" charset="0"/>
              </a:rPr>
              <a:t>TGT=19,815</a:t>
            </a:r>
          </a:p>
          <a:p>
            <a:r>
              <a:rPr lang="en-VN" sz="1000" dirty="0">
                <a:solidFill>
                  <a:schemeClr val="bg1">
                    <a:lumMod val="50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50000"/>
                  </a:schemeClr>
                </a:solidFill>
                <a:latin typeface="JetBrains Mono Light" panose="02000009000000000000" pitchFamily="49" charset="0"/>
                <a:cs typeface="JetBrains Mono Light" panose="02000009000000000000" pitchFamily="49" charset="0"/>
              </a:rPr>
              <a:t> </a:t>
            </a:r>
            <a:r>
              <a:rPr lang="en-VN" sz="1000" dirty="0">
                <a:solidFill>
                  <a:schemeClr val="bg1">
                    <a:lumMod val="50000"/>
                  </a:schemeClr>
                </a:solidFill>
                <a:latin typeface="JetBrains Mono Light" panose="02000009000000000000" pitchFamily="49" charset="0"/>
                <a:cs typeface="JetBrains Mono Light" panose="02000009000000000000" pitchFamily="49" charset="0"/>
              </a:rPr>
              <a:t>=22,9773</a:t>
            </a:r>
          </a:p>
        </p:txBody>
      </p:sp>
      <p:cxnSp>
        <p:nvCxnSpPr>
          <p:cNvPr id="288" name="Straight Arrow Connector 287">
            <a:extLst>
              <a:ext uri="{FF2B5EF4-FFF2-40B4-BE49-F238E27FC236}">
                <a16:creationId xmlns:a16="http://schemas.microsoft.com/office/drawing/2014/main" id="{58445B65-F49D-4D2D-9829-F5FB1391D5C6}"/>
              </a:ext>
            </a:extLst>
          </p:cNvPr>
          <p:cNvCxnSpPr>
            <a:stCxn id="240" idx="3"/>
            <a:endCxn id="280" idx="1"/>
          </p:cNvCxnSpPr>
          <p:nvPr/>
        </p:nvCxnSpPr>
        <p:spPr>
          <a:xfrm flipV="1">
            <a:off x="8547985" y="3672423"/>
            <a:ext cx="380201" cy="660"/>
          </a:xfrm>
          <a:prstGeom prst="straightConnector1">
            <a:avLst/>
          </a:prstGeom>
          <a:ln w="28575">
            <a:solidFill>
              <a:schemeClr val="bg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40" name="TextBox 239">
            <a:extLst>
              <a:ext uri="{FF2B5EF4-FFF2-40B4-BE49-F238E27FC236}">
                <a16:creationId xmlns:a16="http://schemas.microsoft.com/office/drawing/2014/main" id="{902E4FC5-DC47-49E7-8E40-B1C0B36D3028}"/>
              </a:ext>
            </a:extLst>
          </p:cNvPr>
          <p:cNvSpPr txBox="1"/>
          <p:nvPr/>
        </p:nvSpPr>
        <p:spPr>
          <a:xfrm>
            <a:off x="7501398" y="3473028"/>
            <a:ext cx="1046587" cy="400110"/>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85000"/>
                  </a:schemeClr>
                </a:solidFill>
                <a:latin typeface="JetBrains Mono Light" panose="02000009000000000000" pitchFamily="49" charset="0"/>
                <a:cs typeface="JetBrains Mono Light" panose="02000009000000000000" pitchFamily="49" charset="0"/>
              </a:rPr>
              <a:t>TGT=15,338</a:t>
            </a:r>
          </a:p>
          <a:p>
            <a:r>
              <a:rPr lang="en-VN" sz="1000" dirty="0">
                <a:solidFill>
                  <a:schemeClr val="bg1">
                    <a:lumMod val="85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85000"/>
                  </a:schemeClr>
                </a:solidFill>
                <a:latin typeface="JetBrains Mono Light" panose="02000009000000000000" pitchFamily="49" charset="0"/>
                <a:cs typeface="JetBrains Mono Light" panose="02000009000000000000" pitchFamily="49" charset="0"/>
              </a:rPr>
              <a:t> </a:t>
            </a:r>
            <a:r>
              <a:rPr lang="en-VN" sz="1000" dirty="0">
                <a:solidFill>
                  <a:schemeClr val="bg1">
                    <a:lumMod val="85000"/>
                  </a:schemeClr>
                </a:solidFill>
                <a:latin typeface="JetBrains Mono Light" panose="02000009000000000000" pitchFamily="49" charset="0"/>
                <a:cs typeface="JetBrains Mono Light" panose="02000009000000000000" pitchFamily="49" charset="0"/>
              </a:rPr>
              <a:t>=21,6626</a:t>
            </a:r>
          </a:p>
        </p:txBody>
      </p:sp>
      <p:sp>
        <p:nvSpPr>
          <p:cNvPr id="242" name="TextBox 241">
            <a:extLst>
              <a:ext uri="{FF2B5EF4-FFF2-40B4-BE49-F238E27FC236}">
                <a16:creationId xmlns:a16="http://schemas.microsoft.com/office/drawing/2014/main" id="{B385ACD7-0787-4092-A1A2-92B41C1C61A0}"/>
              </a:ext>
            </a:extLst>
          </p:cNvPr>
          <p:cNvSpPr txBox="1"/>
          <p:nvPr/>
        </p:nvSpPr>
        <p:spPr>
          <a:xfrm>
            <a:off x="7502182" y="4284484"/>
            <a:ext cx="1046588" cy="400110"/>
          </a:xfrm>
          <a:prstGeom prst="rect">
            <a:avLst/>
          </a:prstGeom>
          <a:no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50000"/>
                  </a:schemeClr>
                </a:solidFill>
                <a:latin typeface="JetBrains Mono Light" panose="02000009000000000000" pitchFamily="49" charset="0"/>
                <a:cs typeface="JetBrains Mono Light" panose="02000009000000000000" pitchFamily="49" charset="0"/>
              </a:rPr>
              <a:t>TGT=13,1153</a:t>
            </a:r>
          </a:p>
          <a:p>
            <a:r>
              <a:rPr lang="en-VN" sz="1000" dirty="0">
                <a:solidFill>
                  <a:schemeClr val="bg1">
                    <a:lumMod val="50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50000"/>
                  </a:schemeClr>
                </a:solidFill>
                <a:latin typeface="JetBrains Mono Light" panose="02000009000000000000" pitchFamily="49" charset="0"/>
                <a:cs typeface="JetBrains Mono Light" panose="02000009000000000000" pitchFamily="49" charset="0"/>
              </a:rPr>
              <a:t> </a:t>
            </a:r>
            <a:r>
              <a:rPr lang="en-VN" sz="1000" dirty="0">
                <a:solidFill>
                  <a:schemeClr val="bg1">
                    <a:lumMod val="50000"/>
                  </a:schemeClr>
                </a:solidFill>
                <a:latin typeface="JetBrains Mono Light" panose="02000009000000000000" pitchFamily="49" charset="0"/>
                <a:cs typeface="JetBrains Mono Light" panose="02000009000000000000" pitchFamily="49" charset="0"/>
              </a:rPr>
              <a:t>=23,1153</a:t>
            </a:r>
          </a:p>
        </p:txBody>
      </p:sp>
      <p:sp>
        <p:nvSpPr>
          <p:cNvPr id="243" name="TextBox 242">
            <a:extLst>
              <a:ext uri="{FF2B5EF4-FFF2-40B4-BE49-F238E27FC236}">
                <a16:creationId xmlns:a16="http://schemas.microsoft.com/office/drawing/2014/main" id="{E0CDE7A4-57F0-475D-BEFA-615233885308}"/>
              </a:ext>
            </a:extLst>
          </p:cNvPr>
          <p:cNvSpPr txBox="1"/>
          <p:nvPr/>
        </p:nvSpPr>
        <p:spPr>
          <a:xfrm>
            <a:off x="7502351" y="4686305"/>
            <a:ext cx="1046588" cy="400110"/>
          </a:xfrm>
          <a:prstGeom prst="rect">
            <a:avLst/>
          </a:prstGeom>
          <a:no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50000"/>
                  </a:schemeClr>
                </a:solidFill>
                <a:latin typeface="JetBrains Mono Light" panose="02000009000000000000" pitchFamily="49" charset="0"/>
                <a:cs typeface="JetBrains Mono Light" panose="02000009000000000000" pitchFamily="49" charset="0"/>
              </a:rPr>
              <a:t>TGT=17,0546</a:t>
            </a:r>
          </a:p>
          <a:p>
            <a:r>
              <a:rPr lang="en-VN" sz="1000" dirty="0">
                <a:solidFill>
                  <a:schemeClr val="bg1">
                    <a:lumMod val="50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50000"/>
                  </a:schemeClr>
                </a:solidFill>
                <a:latin typeface="JetBrains Mono Light" panose="02000009000000000000" pitchFamily="49" charset="0"/>
                <a:cs typeface="JetBrains Mono Light" panose="02000009000000000000" pitchFamily="49" charset="0"/>
              </a:rPr>
              <a:t> </a:t>
            </a:r>
            <a:r>
              <a:rPr lang="en-VN" sz="1000" dirty="0">
                <a:solidFill>
                  <a:schemeClr val="bg1">
                    <a:lumMod val="50000"/>
                  </a:schemeClr>
                </a:solidFill>
                <a:latin typeface="JetBrains Mono Light" panose="02000009000000000000" pitchFamily="49" charset="0"/>
                <a:cs typeface="JetBrains Mono Light" panose="02000009000000000000" pitchFamily="49" charset="0"/>
              </a:rPr>
              <a:t>=27,0546</a:t>
            </a:r>
          </a:p>
        </p:txBody>
      </p:sp>
      <p:sp>
        <p:nvSpPr>
          <p:cNvPr id="247" name="TextBox 246">
            <a:extLst>
              <a:ext uri="{FF2B5EF4-FFF2-40B4-BE49-F238E27FC236}">
                <a16:creationId xmlns:a16="http://schemas.microsoft.com/office/drawing/2014/main" id="{631395CE-5478-4F58-92A7-C122F5C595F3}"/>
              </a:ext>
            </a:extLst>
          </p:cNvPr>
          <p:cNvSpPr txBox="1"/>
          <p:nvPr/>
        </p:nvSpPr>
        <p:spPr>
          <a:xfrm>
            <a:off x="7501397" y="5086617"/>
            <a:ext cx="1051351" cy="400110"/>
          </a:xfrm>
          <a:prstGeom prst="rect">
            <a:avLst/>
          </a:prstGeom>
          <a:no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50000"/>
                  </a:schemeClr>
                </a:solidFill>
                <a:latin typeface="JetBrains Mono Light" panose="02000009000000000000" pitchFamily="49" charset="0"/>
                <a:cs typeface="JetBrains Mono Light" panose="02000009000000000000" pitchFamily="49" charset="0"/>
              </a:rPr>
              <a:t>TGT=19,43</a:t>
            </a:r>
          </a:p>
          <a:p>
            <a:r>
              <a:rPr lang="en-US" sz="1000" dirty="0">
                <a:solidFill>
                  <a:schemeClr val="bg1">
                    <a:lumMod val="50000"/>
                  </a:schemeClr>
                </a:solidFill>
                <a:latin typeface="JetBrains Mono Light" panose="02000009000000000000" pitchFamily="49" charset="0"/>
                <a:cs typeface="JetBrains Mono Light" panose="02000009000000000000" pitchFamily="49" charset="0"/>
              </a:rPr>
              <a:t>CD =</a:t>
            </a:r>
            <a:r>
              <a:rPr lang="en-VN" sz="1000" dirty="0">
                <a:solidFill>
                  <a:schemeClr val="bg1">
                    <a:lumMod val="50000"/>
                  </a:schemeClr>
                </a:solidFill>
                <a:latin typeface="JetBrains Mono Light" panose="02000009000000000000" pitchFamily="49" charset="0"/>
                <a:cs typeface="JetBrains Mono Light" panose="02000009000000000000" pitchFamily="49" charset="0"/>
              </a:rPr>
              <a:t>25,7546</a:t>
            </a:r>
          </a:p>
        </p:txBody>
      </p:sp>
      <p:sp>
        <p:nvSpPr>
          <p:cNvPr id="248" name="TextBox 247">
            <a:extLst>
              <a:ext uri="{FF2B5EF4-FFF2-40B4-BE49-F238E27FC236}">
                <a16:creationId xmlns:a16="http://schemas.microsoft.com/office/drawing/2014/main" id="{A8907396-F97E-46AA-BB25-0AAE9B90A2FC}"/>
              </a:ext>
            </a:extLst>
          </p:cNvPr>
          <p:cNvSpPr txBox="1"/>
          <p:nvPr/>
        </p:nvSpPr>
        <p:spPr>
          <a:xfrm>
            <a:off x="7501397" y="5488307"/>
            <a:ext cx="1051351" cy="400110"/>
          </a:xfrm>
          <a:prstGeom prst="rect">
            <a:avLst/>
          </a:prstGeom>
          <a:no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50000"/>
                  </a:schemeClr>
                </a:solidFill>
                <a:latin typeface="JetBrains Mono Light" panose="02000009000000000000" pitchFamily="49" charset="0"/>
                <a:cs typeface="JetBrains Mono Light" panose="02000009000000000000" pitchFamily="49" charset="0"/>
              </a:rPr>
              <a:t>TGT=18,8923</a:t>
            </a:r>
          </a:p>
          <a:p>
            <a:r>
              <a:rPr lang="en-VN" sz="1000" dirty="0">
                <a:solidFill>
                  <a:schemeClr val="bg1">
                    <a:lumMod val="50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50000"/>
                  </a:schemeClr>
                </a:solidFill>
                <a:latin typeface="JetBrains Mono Light" panose="02000009000000000000" pitchFamily="49" charset="0"/>
                <a:cs typeface="JetBrains Mono Light" panose="02000009000000000000" pitchFamily="49" charset="0"/>
              </a:rPr>
              <a:t> </a:t>
            </a:r>
            <a:r>
              <a:rPr lang="en-VN" sz="1000" dirty="0">
                <a:solidFill>
                  <a:schemeClr val="bg1">
                    <a:lumMod val="50000"/>
                  </a:schemeClr>
                </a:solidFill>
                <a:latin typeface="JetBrains Mono Light" panose="02000009000000000000" pitchFamily="49" charset="0"/>
                <a:cs typeface="JetBrains Mono Light" panose="02000009000000000000" pitchFamily="49" charset="0"/>
              </a:rPr>
              <a:t>=25,2169</a:t>
            </a:r>
          </a:p>
        </p:txBody>
      </p:sp>
      <p:sp>
        <p:nvSpPr>
          <p:cNvPr id="254" name="Freeform: Shape 253">
            <a:extLst>
              <a:ext uri="{FF2B5EF4-FFF2-40B4-BE49-F238E27FC236}">
                <a16:creationId xmlns:a16="http://schemas.microsoft.com/office/drawing/2014/main" id="{70817530-93B5-4438-A061-B755179CDA79}"/>
              </a:ext>
            </a:extLst>
          </p:cNvPr>
          <p:cNvSpPr/>
          <p:nvPr/>
        </p:nvSpPr>
        <p:spPr>
          <a:xfrm>
            <a:off x="7174522" y="6145469"/>
            <a:ext cx="312420" cy="400110"/>
          </a:xfrm>
          <a:custGeom>
            <a:avLst/>
            <a:gdLst>
              <a:gd name="connsiteX0" fmla="*/ 0 w 312420"/>
              <a:gd name="connsiteY0" fmla="*/ 800100 h 800100"/>
              <a:gd name="connsiteX1" fmla="*/ 129540 w 312420"/>
              <a:gd name="connsiteY1" fmla="*/ 464820 h 800100"/>
              <a:gd name="connsiteX2" fmla="*/ 160020 w 312420"/>
              <a:gd name="connsiteY2" fmla="*/ 99060 h 800100"/>
              <a:gd name="connsiteX3" fmla="*/ 312420 w 312420"/>
              <a:gd name="connsiteY3" fmla="*/ 0 h 800100"/>
            </a:gdLst>
            <a:ahLst/>
            <a:cxnLst>
              <a:cxn ang="0">
                <a:pos x="connsiteX0" y="connsiteY0"/>
              </a:cxn>
              <a:cxn ang="0">
                <a:pos x="connsiteX1" y="connsiteY1"/>
              </a:cxn>
              <a:cxn ang="0">
                <a:pos x="connsiteX2" y="connsiteY2"/>
              </a:cxn>
              <a:cxn ang="0">
                <a:pos x="connsiteX3" y="connsiteY3"/>
              </a:cxn>
            </a:cxnLst>
            <a:rect l="l" t="t" r="r" b="b"/>
            <a:pathLst>
              <a:path w="312420" h="800100">
                <a:moveTo>
                  <a:pt x="0" y="800100"/>
                </a:moveTo>
                <a:cubicBezTo>
                  <a:pt x="51435" y="690880"/>
                  <a:pt x="102870" y="581660"/>
                  <a:pt x="129540" y="464820"/>
                </a:cubicBezTo>
                <a:cubicBezTo>
                  <a:pt x="156210" y="347980"/>
                  <a:pt x="129540" y="176530"/>
                  <a:pt x="160020" y="99060"/>
                </a:cubicBezTo>
                <a:cubicBezTo>
                  <a:pt x="190500" y="21590"/>
                  <a:pt x="251460" y="10795"/>
                  <a:pt x="312420" y="0"/>
                </a:cubicBezTo>
              </a:path>
            </a:pathLst>
          </a:custGeom>
          <a:noFill/>
          <a:ln>
            <a:solidFill>
              <a:schemeClr val="bg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5" name="Freeform: Shape 254">
            <a:extLst>
              <a:ext uri="{FF2B5EF4-FFF2-40B4-BE49-F238E27FC236}">
                <a16:creationId xmlns:a16="http://schemas.microsoft.com/office/drawing/2014/main" id="{5B5FD156-0FBF-43D7-9CE8-C8C0BC280563}"/>
              </a:ext>
            </a:extLst>
          </p:cNvPr>
          <p:cNvSpPr/>
          <p:nvPr/>
        </p:nvSpPr>
        <p:spPr>
          <a:xfrm flipV="1">
            <a:off x="7166902" y="6545579"/>
            <a:ext cx="335280" cy="45719"/>
          </a:xfrm>
          <a:custGeom>
            <a:avLst/>
            <a:gdLst>
              <a:gd name="connsiteX0" fmla="*/ 0 w 335280"/>
              <a:gd name="connsiteY0" fmla="*/ 373507 h 373507"/>
              <a:gd name="connsiteX1" fmla="*/ 144780 w 335280"/>
              <a:gd name="connsiteY1" fmla="*/ 61087 h 373507"/>
              <a:gd name="connsiteX2" fmla="*/ 335280 w 335280"/>
              <a:gd name="connsiteY2" fmla="*/ 127 h 373507"/>
            </a:gdLst>
            <a:ahLst/>
            <a:cxnLst>
              <a:cxn ang="0">
                <a:pos x="connsiteX0" y="connsiteY0"/>
              </a:cxn>
              <a:cxn ang="0">
                <a:pos x="connsiteX1" y="connsiteY1"/>
              </a:cxn>
              <a:cxn ang="0">
                <a:pos x="connsiteX2" y="connsiteY2"/>
              </a:cxn>
            </a:cxnLst>
            <a:rect l="l" t="t" r="r" b="b"/>
            <a:pathLst>
              <a:path w="335280" h="373507">
                <a:moveTo>
                  <a:pt x="0" y="373507"/>
                </a:moveTo>
                <a:cubicBezTo>
                  <a:pt x="44450" y="248412"/>
                  <a:pt x="88900" y="123317"/>
                  <a:pt x="144780" y="61087"/>
                </a:cubicBezTo>
                <a:cubicBezTo>
                  <a:pt x="200660" y="-1143"/>
                  <a:pt x="267970" y="-508"/>
                  <a:pt x="335280" y="127"/>
                </a:cubicBezTo>
              </a:path>
            </a:pathLst>
          </a:custGeom>
          <a:noFill/>
          <a:ln>
            <a:solidFill>
              <a:schemeClr val="bg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6" name="TextBox 255">
            <a:extLst>
              <a:ext uri="{FF2B5EF4-FFF2-40B4-BE49-F238E27FC236}">
                <a16:creationId xmlns:a16="http://schemas.microsoft.com/office/drawing/2014/main" id="{04956610-F6DF-41FA-9F31-0FD1BFC431B3}"/>
              </a:ext>
            </a:extLst>
          </p:cNvPr>
          <p:cNvSpPr txBox="1"/>
          <p:nvPr/>
        </p:nvSpPr>
        <p:spPr>
          <a:xfrm>
            <a:off x="8525164" y="3433395"/>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B</a:t>
            </a:r>
            <a:r>
              <a:rPr lang="en-US" sz="1000" dirty="0">
                <a:solidFill>
                  <a:schemeClr val="bg1"/>
                </a:solidFill>
                <a:latin typeface="JetBrains Mono Light" panose="02000009000000000000" pitchFamily="49" charset="0"/>
                <a:cs typeface="JetBrains Mono Light" panose="02000009000000000000" pitchFamily="49" charset="0"/>
              </a:rPr>
              <a:t>C</a:t>
            </a:r>
            <a:endParaRPr lang="en-VN" sz="1000" dirty="0">
              <a:solidFill>
                <a:schemeClr val="bg1"/>
              </a:solidFill>
              <a:latin typeface="JetBrains Mono Light" panose="02000009000000000000" pitchFamily="49" charset="0"/>
              <a:cs typeface="JetBrains Mono Light" panose="02000009000000000000" pitchFamily="49" charset="0"/>
            </a:endParaRPr>
          </a:p>
        </p:txBody>
      </p:sp>
      <p:sp>
        <p:nvSpPr>
          <p:cNvPr id="257" name="TextBox 256">
            <a:extLst>
              <a:ext uri="{FF2B5EF4-FFF2-40B4-BE49-F238E27FC236}">
                <a16:creationId xmlns:a16="http://schemas.microsoft.com/office/drawing/2014/main" id="{8D6AB198-C0F0-4DDB-9573-2CD3CEA1009F}"/>
              </a:ext>
            </a:extLst>
          </p:cNvPr>
          <p:cNvSpPr txBox="1"/>
          <p:nvPr/>
        </p:nvSpPr>
        <p:spPr>
          <a:xfrm>
            <a:off x="8531174" y="3849151"/>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BE</a:t>
            </a:r>
            <a:endParaRPr lang="en-VN" sz="10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258" name="TextBox 257">
            <a:extLst>
              <a:ext uri="{FF2B5EF4-FFF2-40B4-BE49-F238E27FC236}">
                <a16:creationId xmlns:a16="http://schemas.microsoft.com/office/drawing/2014/main" id="{47DBF61A-2F9F-4DBF-BF9D-6D3A2394B369}"/>
              </a:ext>
            </a:extLst>
          </p:cNvPr>
          <p:cNvSpPr txBox="1"/>
          <p:nvPr/>
        </p:nvSpPr>
        <p:spPr>
          <a:xfrm>
            <a:off x="8533069" y="4246591"/>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CB</a:t>
            </a:r>
            <a:endParaRPr lang="en-VN" sz="10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259" name="TextBox 258">
            <a:extLst>
              <a:ext uri="{FF2B5EF4-FFF2-40B4-BE49-F238E27FC236}">
                <a16:creationId xmlns:a16="http://schemas.microsoft.com/office/drawing/2014/main" id="{7A878BE9-0695-4BBC-8946-CC112B317211}"/>
              </a:ext>
            </a:extLst>
          </p:cNvPr>
          <p:cNvSpPr txBox="1"/>
          <p:nvPr/>
        </p:nvSpPr>
        <p:spPr>
          <a:xfrm>
            <a:off x="8539079" y="4643297"/>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CE</a:t>
            </a:r>
            <a:endParaRPr lang="en-VN" sz="1000" dirty="0">
              <a:solidFill>
                <a:schemeClr val="bg1">
                  <a:lumMod val="50000"/>
                </a:schemeClr>
              </a:solidFill>
              <a:latin typeface="JetBrains Mono Light" panose="02000009000000000000" pitchFamily="49" charset="0"/>
              <a:cs typeface="JetBrains Mono Light" panose="02000009000000000000" pitchFamily="49" charset="0"/>
            </a:endParaRPr>
          </a:p>
        </p:txBody>
      </p:sp>
      <p:cxnSp>
        <p:nvCxnSpPr>
          <p:cNvPr id="284" name="Straight Arrow Connector 283">
            <a:extLst>
              <a:ext uri="{FF2B5EF4-FFF2-40B4-BE49-F238E27FC236}">
                <a16:creationId xmlns:a16="http://schemas.microsoft.com/office/drawing/2014/main" id="{3C46ECAC-81AD-4F12-B155-EB39158BF74F}"/>
              </a:ext>
            </a:extLst>
          </p:cNvPr>
          <p:cNvCxnSpPr>
            <a:cxnSpLocks/>
            <a:stCxn id="262" idx="3"/>
            <a:endCxn id="281" idx="1"/>
          </p:cNvCxnSpPr>
          <p:nvPr/>
        </p:nvCxnSpPr>
        <p:spPr>
          <a:xfrm>
            <a:off x="8547985" y="6163594"/>
            <a:ext cx="590735" cy="5992"/>
          </a:xfrm>
          <a:prstGeom prst="straightConnector1">
            <a:avLst/>
          </a:prstGeom>
          <a:ln w="28575">
            <a:solidFill>
              <a:schemeClr val="bg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62" name="TextBox 261">
            <a:extLst>
              <a:ext uri="{FF2B5EF4-FFF2-40B4-BE49-F238E27FC236}">
                <a16:creationId xmlns:a16="http://schemas.microsoft.com/office/drawing/2014/main" id="{EE134216-7F68-49CE-882C-87739FD33872}"/>
              </a:ext>
            </a:extLst>
          </p:cNvPr>
          <p:cNvSpPr txBox="1"/>
          <p:nvPr/>
        </p:nvSpPr>
        <p:spPr>
          <a:xfrm>
            <a:off x="7494562" y="5963539"/>
            <a:ext cx="1053423" cy="400110"/>
          </a:xfrm>
          <a:prstGeom prst="rect">
            <a:avLst/>
          </a:prstGeom>
          <a:solidFill>
            <a:srgbClr val="000000"/>
          </a:solid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85000"/>
                  </a:schemeClr>
                </a:solidFill>
                <a:latin typeface="JetBrains Mono Light" panose="02000009000000000000" pitchFamily="49" charset="0"/>
                <a:cs typeface="JetBrains Mono Light" panose="02000009000000000000" pitchFamily="49" charset="0"/>
              </a:rPr>
              <a:t>TGT=15,77</a:t>
            </a:r>
          </a:p>
          <a:p>
            <a:r>
              <a:rPr lang="en-VN" sz="1000" dirty="0">
                <a:solidFill>
                  <a:schemeClr val="bg1">
                    <a:lumMod val="85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85000"/>
                  </a:schemeClr>
                </a:solidFill>
                <a:latin typeface="JetBrains Mono Light" panose="02000009000000000000" pitchFamily="49" charset="0"/>
                <a:cs typeface="JetBrains Mono Light" panose="02000009000000000000" pitchFamily="49" charset="0"/>
              </a:rPr>
              <a:t> </a:t>
            </a:r>
            <a:r>
              <a:rPr lang="en-VN" sz="1000" dirty="0">
                <a:solidFill>
                  <a:schemeClr val="bg1">
                    <a:lumMod val="85000"/>
                  </a:schemeClr>
                </a:solidFill>
                <a:latin typeface="JetBrains Mono Light" panose="02000009000000000000" pitchFamily="49" charset="0"/>
                <a:cs typeface="JetBrains Mono Light" panose="02000009000000000000" pitchFamily="49" charset="0"/>
              </a:rPr>
              <a:t>=22,0946</a:t>
            </a:r>
          </a:p>
        </p:txBody>
      </p:sp>
      <p:sp>
        <p:nvSpPr>
          <p:cNvPr id="263" name="TextBox 262">
            <a:extLst>
              <a:ext uri="{FF2B5EF4-FFF2-40B4-BE49-F238E27FC236}">
                <a16:creationId xmlns:a16="http://schemas.microsoft.com/office/drawing/2014/main" id="{BB722D82-0F75-43C4-886C-80DAAB7D76C5}"/>
              </a:ext>
            </a:extLst>
          </p:cNvPr>
          <p:cNvSpPr txBox="1"/>
          <p:nvPr/>
        </p:nvSpPr>
        <p:spPr>
          <a:xfrm>
            <a:off x="7494562" y="6365229"/>
            <a:ext cx="1053423" cy="400110"/>
          </a:xfrm>
          <a:prstGeom prst="rect">
            <a:avLst/>
          </a:prstGeom>
          <a:solidFill>
            <a:srgbClr val="000000"/>
          </a:solid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85000"/>
                  </a:schemeClr>
                </a:solidFill>
                <a:latin typeface="JetBrains Mono Light" panose="02000009000000000000" pitchFamily="49" charset="0"/>
                <a:cs typeface="JetBrains Mono Light" panose="02000009000000000000" pitchFamily="49" charset="0"/>
              </a:rPr>
              <a:t>TGT=13,5473</a:t>
            </a:r>
          </a:p>
          <a:p>
            <a:r>
              <a:rPr lang="en-VN" sz="1000" dirty="0">
                <a:solidFill>
                  <a:schemeClr val="bg1">
                    <a:lumMod val="85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85000"/>
                  </a:schemeClr>
                </a:solidFill>
                <a:latin typeface="JetBrains Mono Light" panose="02000009000000000000" pitchFamily="49" charset="0"/>
                <a:cs typeface="JetBrains Mono Light" panose="02000009000000000000" pitchFamily="49" charset="0"/>
              </a:rPr>
              <a:t> </a:t>
            </a:r>
            <a:r>
              <a:rPr lang="en-VN" sz="1000" dirty="0">
                <a:solidFill>
                  <a:schemeClr val="bg1">
                    <a:lumMod val="85000"/>
                  </a:schemeClr>
                </a:solidFill>
                <a:latin typeface="JetBrains Mono Light" panose="02000009000000000000" pitchFamily="49" charset="0"/>
                <a:cs typeface="JetBrains Mono Light" panose="02000009000000000000" pitchFamily="49" charset="0"/>
              </a:rPr>
              <a:t>=23,5473</a:t>
            </a:r>
          </a:p>
        </p:txBody>
      </p:sp>
      <p:sp>
        <p:nvSpPr>
          <p:cNvPr id="264" name="TextBox 263">
            <a:extLst>
              <a:ext uri="{FF2B5EF4-FFF2-40B4-BE49-F238E27FC236}">
                <a16:creationId xmlns:a16="http://schemas.microsoft.com/office/drawing/2014/main" id="{E0298E9B-6197-4DCD-819E-B128E2BB6609}"/>
              </a:ext>
            </a:extLst>
          </p:cNvPr>
          <p:cNvSpPr txBox="1"/>
          <p:nvPr/>
        </p:nvSpPr>
        <p:spPr>
          <a:xfrm>
            <a:off x="8539079" y="5035834"/>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EB</a:t>
            </a:r>
            <a:endParaRPr lang="en-VN" sz="10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265" name="TextBox 264">
            <a:extLst>
              <a:ext uri="{FF2B5EF4-FFF2-40B4-BE49-F238E27FC236}">
                <a16:creationId xmlns:a16="http://schemas.microsoft.com/office/drawing/2014/main" id="{BA572270-47DA-4A31-A644-681253EF81CC}"/>
              </a:ext>
            </a:extLst>
          </p:cNvPr>
          <p:cNvSpPr txBox="1"/>
          <p:nvPr/>
        </p:nvSpPr>
        <p:spPr>
          <a:xfrm>
            <a:off x="8540974" y="5433274"/>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EC</a:t>
            </a:r>
            <a:endParaRPr lang="en-VN" sz="10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266" name="TextBox 265">
            <a:extLst>
              <a:ext uri="{FF2B5EF4-FFF2-40B4-BE49-F238E27FC236}">
                <a16:creationId xmlns:a16="http://schemas.microsoft.com/office/drawing/2014/main" id="{004AB038-E8E7-401D-8B8F-9E047ABD435B}"/>
              </a:ext>
            </a:extLst>
          </p:cNvPr>
          <p:cNvSpPr txBox="1"/>
          <p:nvPr/>
        </p:nvSpPr>
        <p:spPr>
          <a:xfrm>
            <a:off x="8532745" y="5921309"/>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D</a:t>
            </a:r>
            <a:r>
              <a:rPr lang="en-US" sz="1000" dirty="0">
                <a:solidFill>
                  <a:schemeClr val="bg1"/>
                </a:solidFill>
                <a:latin typeface="JetBrains Mono Light" panose="02000009000000000000" pitchFamily="49" charset="0"/>
                <a:cs typeface="JetBrains Mono Light" panose="02000009000000000000" pitchFamily="49" charset="0"/>
              </a:rPr>
              <a:t>B</a:t>
            </a:r>
            <a:endParaRPr lang="en-VN" sz="1000" dirty="0">
              <a:solidFill>
                <a:schemeClr val="bg1"/>
              </a:solidFill>
              <a:latin typeface="JetBrains Mono Light" panose="02000009000000000000" pitchFamily="49" charset="0"/>
              <a:cs typeface="JetBrains Mono Light" panose="02000009000000000000" pitchFamily="49" charset="0"/>
            </a:endParaRPr>
          </a:p>
        </p:txBody>
      </p:sp>
      <p:sp>
        <p:nvSpPr>
          <p:cNvPr id="267" name="TextBox 266">
            <a:extLst>
              <a:ext uri="{FF2B5EF4-FFF2-40B4-BE49-F238E27FC236}">
                <a16:creationId xmlns:a16="http://schemas.microsoft.com/office/drawing/2014/main" id="{61AAF2A9-EF14-4266-8ACA-A77755797D18}"/>
              </a:ext>
            </a:extLst>
          </p:cNvPr>
          <p:cNvSpPr txBox="1"/>
          <p:nvPr/>
        </p:nvSpPr>
        <p:spPr>
          <a:xfrm>
            <a:off x="8539079" y="6334156"/>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D</a:t>
            </a:r>
            <a:r>
              <a:rPr lang="en-US" sz="1000" dirty="0">
                <a:solidFill>
                  <a:schemeClr val="bg1"/>
                </a:solidFill>
                <a:latin typeface="JetBrains Mono Light" panose="02000009000000000000" pitchFamily="49" charset="0"/>
                <a:cs typeface="JetBrains Mono Light" panose="02000009000000000000" pitchFamily="49" charset="0"/>
              </a:rPr>
              <a:t>C</a:t>
            </a:r>
            <a:endParaRPr lang="en-VN" sz="1000" dirty="0">
              <a:solidFill>
                <a:schemeClr val="bg1"/>
              </a:solidFill>
              <a:latin typeface="JetBrains Mono Light" panose="02000009000000000000" pitchFamily="49" charset="0"/>
              <a:cs typeface="JetBrains Mono Light" panose="02000009000000000000" pitchFamily="49" charset="0"/>
            </a:endParaRPr>
          </a:p>
        </p:txBody>
      </p:sp>
      <p:sp>
        <p:nvSpPr>
          <p:cNvPr id="280" name="TextBox 279">
            <a:extLst>
              <a:ext uri="{FF2B5EF4-FFF2-40B4-BE49-F238E27FC236}">
                <a16:creationId xmlns:a16="http://schemas.microsoft.com/office/drawing/2014/main" id="{604B654B-3ED1-4BE4-91DC-785ED0D1A15F}"/>
              </a:ext>
            </a:extLst>
          </p:cNvPr>
          <p:cNvSpPr txBox="1"/>
          <p:nvPr/>
        </p:nvSpPr>
        <p:spPr>
          <a:xfrm>
            <a:off x="8928186" y="3472368"/>
            <a:ext cx="1046586" cy="400110"/>
          </a:xfrm>
          <a:prstGeom prst="rect">
            <a:avLst/>
          </a:prstGeom>
          <a:no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50000"/>
                  </a:schemeClr>
                </a:solidFill>
                <a:latin typeface="JetBrains Mono Light" panose="02000009000000000000" pitchFamily="49" charset="0"/>
                <a:cs typeface="JetBrains Mono Light" panose="02000009000000000000" pitchFamily="49" charset="0"/>
              </a:rPr>
              <a:t>TGT=23,4003</a:t>
            </a:r>
          </a:p>
          <a:p>
            <a:r>
              <a:rPr lang="en-VN" sz="1000" dirty="0">
                <a:solidFill>
                  <a:schemeClr val="bg1">
                    <a:lumMod val="50000"/>
                  </a:schemeClr>
                </a:solidFill>
                <a:latin typeface="JetBrains Mono Light" panose="02000009000000000000" pitchFamily="49" charset="0"/>
                <a:cs typeface="JetBrains Mono Light" panose="02000009000000000000" pitchFamily="49" charset="0"/>
              </a:rPr>
              <a:t>CD</a:t>
            </a:r>
            <a:r>
              <a:rPr lang="en-US" sz="1000" dirty="0">
                <a:solidFill>
                  <a:schemeClr val="bg1">
                    <a:lumMod val="50000"/>
                  </a:schemeClr>
                </a:solidFill>
                <a:latin typeface="JetBrains Mono Light" panose="02000009000000000000" pitchFamily="49" charset="0"/>
                <a:cs typeface="JetBrains Mono Light" panose="02000009000000000000" pitchFamily="49" charset="0"/>
              </a:rPr>
              <a:t> </a:t>
            </a:r>
            <a:r>
              <a:rPr lang="en-VN" sz="1000" dirty="0">
                <a:solidFill>
                  <a:schemeClr val="bg1">
                    <a:lumMod val="50000"/>
                  </a:schemeClr>
                </a:solidFill>
                <a:latin typeface="JetBrains Mono Light" panose="02000009000000000000" pitchFamily="49" charset="0"/>
                <a:cs typeface="JetBrains Mono Light" panose="02000009000000000000" pitchFamily="49" charset="0"/>
              </a:rPr>
              <a:t>=26,5626</a:t>
            </a:r>
          </a:p>
        </p:txBody>
      </p:sp>
      <p:sp>
        <p:nvSpPr>
          <p:cNvPr id="281" name="TextBox 280">
            <a:extLst>
              <a:ext uri="{FF2B5EF4-FFF2-40B4-BE49-F238E27FC236}">
                <a16:creationId xmlns:a16="http://schemas.microsoft.com/office/drawing/2014/main" id="{2B5AB9D2-0326-4A21-82F0-F506759E6DF3}"/>
              </a:ext>
            </a:extLst>
          </p:cNvPr>
          <p:cNvSpPr txBox="1"/>
          <p:nvPr/>
        </p:nvSpPr>
        <p:spPr>
          <a:xfrm>
            <a:off x="9138720" y="5969531"/>
            <a:ext cx="1046588" cy="400110"/>
          </a:xfrm>
          <a:prstGeom prst="rect">
            <a:avLst/>
          </a:prstGeom>
          <a:no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50000"/>
                  </a:schemeClr>
                </a:solidFill>
                <a:latin typeface="JetBrains Mono Light" panose="02000009000000000000" pitchFamily="49" charset="0"/>
                <a:cs typeface="JetBrains Mono Light" panose="02000009000000000000" pitchFamily="49" charset="0"/>
              </a:rPr>
              <a:t>TGT=19,893</a:t>
            </a:r>
          </a:p>
          <a:p>
            <a:r>
              <a:rPr lang="en-VN" sz="1000" dirty="0">
                <a:solidFill>
                  <a:schemeClr val="bg1">
                    <a:lumMod val="50000"/>
                  </a:schemeClr>
                </a:solidFill>
                <a:latin typeface="JetBrains Mono Light" panose="02000009000000000000" pitchFamily="49" charset="0"/>
                <a:cs typeface="JetBrains Mono Light" panose="02000009000000000000" pitchFamily="49" charset="0"/>
              </a:rPr>
              <a:t>CD=23,0553</a:t>
            </a:r>
          </a:p>
        </p:txBody>
      </p:sp>
      <p:sp>
        <p:nvSpPr>
          <p:cNvPr id="282" name="TextBox 281">
            <a:extLst>
              <a:ext uri="{FF2B5EF4-FFF2-40B4-BE49-F238E27FC236}">
                <a16:creationId xmlns:a16="http://schemas.microsoft.com/office/drawing/2014/main" id="{77A6B84A-9ABB-4EF3-8F04-028F5F967BDC}"/>
              </a:ext>
            </a:extLst>
          </p:cNvPr>
          <p:cNvSpPr txBox="1"/>
          <p:nvPr/>
        </p:nvSpPr>
        <p:spPr>
          <a:xfrm>
            <a:off x="9139198" y="6367064"/>
            <a:ext cx="1046588" cy="400110"/>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VN" sz="1000" dirty="0">
                <a:solidFill>
                  <a:schemeClr val="bg1">
                    <a:lumMod val="85000"/>
                  </a:schemeClr>
                </a:solidFill>
                <a:latin typeface="JetBrains Mono Light" panose="02000009000000000000" pitchFamily="49" charset="0"/>
                <a:cs typeface="JetBrains Mono Light" panose="02000009000000000000" pitchFamily="49" charset="0"/>
              </a:rPr>
              <a:t>TGT=17,6703</a:t>
            </a:r>
          </a:p>
          <a:p>
            <a:r>
              <a:rPr lang="en-VN" sz="1000" dirty="0">
                <a:solidFill>
                  <a:schemeClr val="bg1">
                    <a:lumMod val="85000"/>
                  </a:schemeClr>
                </a:solidFill>
                <a:latin typeface="JetBrains Mono Light" panose="02000009000000000000" pitchFamily="49" charset="0"/>
                <a:cs typeface="JetBrains Mono Light" panose="02000009000000000000" pitchFamily="49" charset="0"/>
              </a:rPr>
              <a:t>CD=22,6703</a:t>
            </a:r>
          </a:p>
        </p:txBody>
      </p:sp>
      <p:cxnSp>
        <p:nvCxnSpPr>
          <p:cNvPr id="286" name="Straight Arrow Connector 285">
            <a:extLst>
              <a:ext uri="{FF2B5EF4-FFF2-40B4-BE49-F238E27FC236}">
                <a16:creationId xmlns:a16="http://schemas.microsoft.com/office/drawing/2014/main" id="{C6EAC85B-C547-4392-8C43-0EC25C0F4371}"/>
              </a:ext>
            </a:extLst>
          </p:cNvPr>
          <p:cNvCxnSpPr>
            <a:cxnSpLocks/>
            <a:stCxn id="263" idx="3"/>
            <a:endCxn id="282" idx="1"/>
          </p:cNvCxnSpPr>
          <p:nvPr/>
        </p:nvCxnSpPr>
        <p:spPr>
          <a:xfrm>
            <a:off x="8547985" y="6565284"/>
            <a:ext cx="591213" cy="1835"/>
          </a:xfrm>
          <a:prstGeom prst="straightConnector1">
            <a:avLst/>
          </a:prstGeom>
          <a:ln w="285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91" name="TextBox 290">
            <a:extLst>
              <a:ext uri="{FF2B5EF4-FFF2-40B4-BE49-F238E27FC236}">
                <a16:creationId xmlns:a16="http://schemas.microsoft.com/office/drawing/2014/main" id="{B6D5B7E0-9606-4EB5-ADAA-92DE54FAA7F7}"/>
              </a:ext>
            </a:extLst>
          </p:cNvPr>
          <p:cNvSpPr txBox="1"/>
          <p:nvPr/>
        </p:nvSpPr>
        <p:spPr>
          <a:xfrm>
            <a:off x="10163425" y="5921309"/>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BC</a:t>
            </a:r>
            <a:endParaRPr lang="en-VN" sz="10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292" name="TextBox 291">
            <a:extLst>
              <a:ext uri="{FF2B5EF4-FFF2-40B4-BE49-F238E27FC236}">
                <a16:creationId xmlns:a16="http://schemas.microsoft.com/office/drawing/2014/main" id="{5029716B-6B0F-44F1-9E3D-061169D85AD2}"/>
              </a:ext>
            </a:extLst>
          </p:cNvPr>
          <p:cNvSpPr txBox="1"/>
          <p:nvPr/>
        </p:nvSpPr>
        <p:spPr>
          <a:xfrm>
            <a:off x="10169759" y="6334156"/>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C</a:t>
            </a:r>
            <a:r>
              <a:rPr lang="en-US" sz="1000" dirty="0">
                <a:solidFill>
                  <a:schemeClr val="bg1"/>
                </a:solidFill>
                <a:latin typeface="JetBrains Mono Light" panose="02000009000000000000" pitchFamily="49" charset="0"/>
                <a:cs typeface="JetBrains Mono Light" panose="02000009000000000000" pitchFamily="49" charset="0"/>
              </a:rPr>
              <a:t>B</a:t>
            </a:r>
            <a:endParaRPr lang="en-VN" sz="1000" dirty="0">
              <a:solidFill>
                <a:schemeClr val="bg1"/>
              </a:solidFill>
              <a:latin typeface="JetBrains Mono Light" panose="02000009000000000000" pitchFamily="49" charset="0"/>
              <a:cs typeface="JetBrains Mono Light" panose="02000009000000000000" pitchFamily="49" charset="0"/>
            </a:endParaRPr>
          </a:p>
        </p:txBody>
      </p:sp>
      <p:sp>
        <p:nvSpPr>
          <p:cNvPr id="301" name="TextBox 300">
            <a:extLst>
              <a:ext uri="{FF2B5EF4-FFF2-40B4-BE49-F238E27FC236}">
                <a16:creationId xmlns:a16="http://schemas.microsoft.com/office/drawing/2014/main" id="{3B7E5180-8CAF-4D6C-96D8-21308CCB404E}"/>
              </a:ext>
            </a:extLst>
          </p:cNvPr>
          <p:cNvSpPr txBox="1"/>
          <p:nvPr/>
        </p:nvSpPr>
        <p:spPr>
          <a:xfrm>
            <a:off x="10327418" y="3094840"/>
            <a:ext cx="1755711" cy="923330"/>
          </a:xfrm>
          <a:prstGeom prst="rect">
            <a:avLst/>
          </a:prstGeom>
          <a:solidFill>
            <a:schemeClr val="lt1"/>
          </a:solid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lumMod val="50000"/>
                  </a:schemeClr>
                </a:solidFill>
                <a:latin typeface="JetBrains Mono Light" panose="02000009000000000000" pitchFamily="49" charset="0"/>
                <a:cs typeface="JetBrains Mono Light" panose="02000009000000000000" pitchFamily="49" charset="0"/>
              </a:rPr>
              <a:t>E</a:t>
            </a:r>
            <a:r>
              <a:rPr lang="en-US" dirty="0">
                <a:solidFill>
                  <a:schemeClr val="tx1"/>
                </a:solidFill>
                <a:latin typeface="JetBrains Mono Light" panose="02000009000000000000" pitchFamily="49" charset="0"/>
                <a:cs typeface="JetBrains Mono Light" panose="02000009000000000000" pitchFamily="49" charset="0"/>
              </a:rPr>
              <a:t>A</a:t>
            </a:r>
          </a:p>
          <a:p>
            <a:r>
              <a:rPr lang="en-VN" dirty="0">
                <a:solidFill>
                  <a:schemeClr val="tx1"/>
                </a:solidFill>
                <a:latin typeface="JetBrains Mono Light" panose="02000009000000000000" pitchFamily="49" charset="0"/>
                <a:cs typeface="JetBrains Mono Light" panose="02000009000000000000" pitchFamily="49" charset="0"/>
              </a:rPr>
              <a:t>TGT</a:t>
            </a:r>
            <a:r>
              <a:rPr lang="en-VN" spc="300" dirty="0">
                <a:solidFill>
                  <a:schemeClr val="tx1"/>
                </a:solidFill>
                <a:latin typeface="JetBrains Mono Light" panose="02000009000000000000" pitchFamily="49" charset="0"/>
                <a:cs typeface="JetBrains Mono Light" panose="02000009000000000000" pitchFamily="49" charset="0"/>
              </a:rPr>
              <a:t>=</a:t>
            </a:r>
            <a:r>
              <a:rPr lang="en-VN" dirty="0">
                <a:solidFill>
                  <a:schemeClr val="tx1"/>
                </a:solidFill>
                <a:latin typeface="JetBrains Mono Light" panose="02000009000000000000" pitchFamily="49" charset="0"/>
                <a:cs typeface="JetBrains Mono Light" panose="02000009000000000000" pitchFamily="49" charset="0"/>
              </a:rPr>
              <a:t>22,6703</a:t>
            </a:r>
            <a:endParaRPr lang="en-US" dirty="0">
              <a:solidFill>
                <a:schemeClr val="tx1"/>
              </a:solidFill>
              <a:latin typeface="JetBrains Mono Light" panose="02000009000000000000" pitchFamily="49" charset="0"/>
              <a:cs typeface="JetBrains Mono Light" panose="02000009000000000000" pitchFamily="49" charset="0"/>
            </a:endParaRPr>
          </a:p>
          <a:p>
            <a:pPr algn="ctr"/>
            <a:r>
              <a:rPr lang="en-US" dirty="0">
                <a:solidFill>
                  <a:schemeClr val="bg1">
                    <a:lumMod val="50000"/>
                  </a:schemeClr>
                </a:solidFill>
                <a:latin typeface="JetBrains Mono Light" panose="02000009000000000000" pitchFamily="49" charset="0"/>
                <a:cs typeface="JetBrains Mono Light" panose="02000009000000000000" pitchFamily="49" charset="0"/>
              </a:rPr>
              <a:t>B</a:t>
            </a:r>
            <a:r>
              <a:rPr lang="en-US" dirty="0">
                <a:solidFill>
                  <a:schemeClr val="tx1"/>
                </a:solidFill>
                <a:latin typeface="JetBrains Mono Light" panose="02000009000000000000" pitchFamily="49" charset="0"/>
                <a:cs typeface="JetBrains Mono Light" panose="02000009000000000000" pitchFamily="49" charset="0"/>
              </a:rPr>
              <a:t>A</a:t>
            </a:r>
          </a:p>
        </p:txBody>
      </p:sp>
      <p:sp>
        <p:nvSpPr>
          <p:cNvPr id="302" name="Freeform: Shape 301">
            <a:extLst>
              <a:ext uri="{FF2B5EF4-FFF2-40B4-BE49-F238E27FC236}">
                <a16:creationId xmlns:a16="http://schemas.microsoft.com/office/drawing/2014/main" id="{51D7BF9D-CF9C-491E-AE2C-89BBC4AC8936}"/>
              </a:ext>
            </a:extLst>
          </p:cNvPr>
          <p:cNvSpPr/>
          <p:nvPr/>
        </p:nvSpPr>
        <p:spPr>
          <a:xfrm>
            <a:off x="10184422" y="4027632"/>
            <a:ext cx="1046588" cy="2576075"/>
          </a:xfrm>
          <a:custGeom>
            <a:avLst/>
            <a:gdLst>
              <a:gd name="connsiteX0" fmla="*/ 0 w 1148124"/>
              <a:gd name="connsiteY0" fmla="*/ 2657475 h 2698457"/>
              <a:gd name="connsiteX1" fmla="*/ 1000125 w 1148124"/>
              <a:gd name="connsiteY1" fmla="*/ 2333625 h 2698457"/>
              <a:gd name="connsiteX2" fmla="*/ 1123950 w 1148124"/>
              <a:gd name="connsiteY2" fmla="*/ 0 h 2698457"/>
            </a:gdLst>
            <a:ahLst/>
            <a:cxnLst>
              <a:cxn ang="0">
                <a:pos x="connsiteX0" y="connsiteY0"/>
              </a:cxn>
              <a:cxn ang="0">
                <a:pos x="connsiteX1" y="connsiteY1"/>
              </a:cxn>
              <a:cxn ang="0">
                <a:pos x="connsiteX2" y="connsiteY2"/>
              </a:cxn>
            </a:cxnLst>
            <a:rect l="l" t="t" r="r" b="b"/>
            <a:pathLst>
              <a:path w="1148124" h="2698457">
                <a:moveTo>
                  <a:pt x="0" y="2657475"/>
                </a:moveTo>
                <a:cubicBezTo>
                  <a:pt x="406400" y="2717006"/>
                  <a:pt x="812800" y="2776537"/>
                  <a:pt x="1000125" y="2333625"/>
                </a:cubicBezTo>
                <a:cubicBezTo>
                  <a:pt x="1187450" y="1890713"/>
                  <a:pt x="1155700" y="945356"/>
                  <a:pt x="1123950" y="0"/>
                </a:cubicBezTo>
              </a:path>
            </a:pathLst>
          </a:custGeom>
          <a:noFill/>
          <a:ln>
            <a:solidFill>
              <a:schemeClr val="bg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3" name="Freeform: Shape 302">
            <a:extLst>
              <a:ext uri="{FF2B5EF4-FFF2-40B4-BE49-F238E27FC236}">
                <a16:creationId xmlns:a16="http://schemas.microsoft.com/office/drawing/2014/main" id="{C865A84D-26B3-4F68-9D60-E5468D5B35E6}"/>
              </a:ext>
            </a:extLst>
          </p:cNvPr>
          <p:cNvSpPr/>
          <p:nvPr/>
        </p:nvSpPr>
        <p:spPr>
          <a:xfrm>
            <a:off x="10034953" y="422031"/>
            <a:ext cx="1193783" cy="2672861"/>
          </a:xfrm>
          <a:custGeom>
            <a:avLst/>
            <a:gdLst>
              <a:gd name="connsiteX0" fmla="*/ 0 w 1193783"/>
              <a:gd name="connsiteY0" fmla="*/ 0 h 2672861"/>
              <a:gd name="connsiteX1" fmla="*/ 1078523 w 1193783"/>
              <a:gd name="connsiteY1" fmla="*/ 492369 h 2672861"/>
              <a:gd name="connsiteX2" fmla="*/ 1172307 w 1193783"/>
              <a:gd name="connsiteY2" fmla="*/ 2672861 h 2672861"/>
            </a:gdLst>
            <a:ahLst/>
            <a:cxnLst>
              <a:cxn ang="0">
                <a:pos x="connsiteX0" y="connsiteY0"/>
              </a:cxn>
              <a:cxn ang="0">
                <a:pos x="connsiteX1" y="connsiteY1"/>
              </a:cxn>
              <a:cxn ang="0">
                <a:pos x="connsiteX2" y="connsiteY2"/>
              </a:cxn>
            </a:cxnLst>
            <a:rect l="l" t="t" r="r" b="b"/>
            <a:pathLst>
              <a:path w="1193783" h="2672861">
                <a:moveTo>
                  <a:pt x="0" y="0"/>
                </a:moveTo>
                <a:cubicBezTo>
                  <a:pt x="441569" y="23446"/>
                  <a:pt x="883139" y="46892"/>
                  <a:pt x="1078523" y="492369"/>
                </a:cubicBezTo>
                <a:cubicBezTo>
                  <a:pt x="1273907" y="937846"/>
                  <a:pt x="1158630" y="2227384"/>
                  <a:pt x="1172307" y="2672861"/>
                </a:cubicBezTo>
              </a:path>
            </a:pathLst>
          </a:custGeom>
          <a:noFill/>
          <a:ln>
            <a:solidFill>
              <a:schemeClr val="bg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4" name="TextBox 303">
            <a:extLst>
              <a:ext uri="{FF2B5EF4-FFF2-40B4-BE49-F238E27FC236}">
                <a16:creationId xmlns:a16="http://schemas.microsoft.com/office/drawing/2014/main" id="{CDD6F8A5-8C5D-42C0-A893-75CF1ED9F7FC}"/>
              </a:ext>
            </a:extLst>
          </p:cNvPr>
          <p:cNvSpPr txBox="1"/>
          <p:nvPr/>
        </p:nvSpPr>
        <p:spPr>
          <a:xfrm>
            <a:off x="10186317" y="4077773"/>
            <a:ext cx="1011815" cy="369332"/>
          </a:xfrm>
          <a:prstGeom prst="rect">
            <a:avLst/>
          </a:prstGeom>
          <a:noFill/>
          <a:ln>
            <a:noFill/>
          </a:ln>
        </p:spPr>
        <p:txBody>
          <a:bodyPr wrap="none" rtlCol="0">
            <a:spAutoFit/>
          </a:bodyPr>
          <a:lstStyle/>
          <a:p>
            <a:r>
              <a:rPr lang="en-VN" dirty="0">
                <a:solidFill>
                  <a:schemeClr val="bg1">
                    <a:lumMod val="85000"/>
                  </a:schemeClr>
                </a:solidFill>
                <a:latin typeface="JetBrains Mono Light" panose="02000009000000000000" pitchFamily="49" charset="0"/>
                <a:cs typeface="JetBrains Mono Light" panose="02000009000000000000" pitchFamily="49" charset="0"/>
              </a:rPr>
              <a:t>AEDCBA</a:t>
            </a:r>
          </a:p>
        </p:txBody>
      </p:sp>
      <p:sp>
        <p:nvSpPr>
          <p:cNvPr id="305" name="TextBox 304">
            <a:extLst>
              <a:ext uri="{FF2B5EF4-FFF2-40B4-BE49-F238E27FC236}">
                <a16:creationId xmlns:a16="http://schemas.microsoft.com/office/drawing/2014/main" id="{41EB93A7-18AF-4E5D-9CE5-3FA7BC3C9806}"/>
              </a:ext>
            </a:extLst>
          </p:cNvPr>
          <p:cNvSpPr txBox="1"/>
          <p:nvPr/>
        </p:nvSpPr>
        <p:spPr>
          <a:xfrm>
            <a:off x="10184422" y="2716046"/>
            <a:ext cx="1011815" cy="369332"/>
          </a:xfrm>
          <a:prstGeom prst="rect">
            <a:avLst/>
          </a:prstGeom>
          <a:noFill/>
          <a:ln>
            <a:noFill/>
          </a:ln>
        </p:spPr>
        <p:txBody>
          <a:bodyPr wrap="none" rtlCol="0">
            <a:spAutoFit/>
          </a:bodyPr>
          <a:lstStyle/>
          <a:p>
            <a:r>
              <a:rPr lang="en-VN" dirty="0">
                <a:solidFill>
                  <a:schemeClr val="bg1">
                    <a:lumMod val="85000"/>
                  </a:schemeClr>
                </a:solidFill>
                <a:latin typeface="JetBrains Mono Light" panose="02000009000000000000" pitchFamily="49" charset="0"/>
                <a:cs typeface="JetBrains Mono Light" panose="02000009000000000000" pitchFamily="49" charset="0"/>
              </a:rPr>
              <a:t>ABCDEA</a:t>
            </a:r>
          </a:p>
        </p:txBody>
      </p:sp>
      <p:cxnSp>
        <p:nvCxnSpPr>
          <p:cNvPr id="308" name="Straight Arrow Connector 307">
            <a:extLst>
              <a:ext uri="{FF2B5EF4-FFF2-40B4-BE49-F238E27FC236}">
                <a16:creationId xmlns:a16="http://schemas.microsoft.com/office/drawing/2014/main" id="{F3F435C8-ECE2-49F7-8060-9DA76D61BEF3}"/>
              </a:ext>
            </a:extLst>
          </p:cNvPr>
          <p:cNvCxnSpPr>
            <a:stCxn id="150" idx="3"/>
            <a:endCxn id="236" idx="1"/>
          </p:cNvCxnSpPr>
          <p:nvPr/>
        </p:nvCxnSpPr>
        <p:spPr>
          <a:xfrm>
            <a:off x="8550095" y="333844"/>
            <a:ext cx="461545" cy="102886"/>
          </a:xfrm>
          <a:prstGeom prst="straightConnector1">
            <a:avLst/>
          </a:prstGeom>
          <a:ln w="19050">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10" name="TextBox 309">
            <a:extLst>
              <a:ext uri="{FF2B5EF4-FFF2-40B4-BE49-F238E27FC236}">
                <a16:creationId xmlns:a16="http://schemas.microsoft.com/office/drawing/2014/main" id="{649589C8-E9BC-4DDC-A156-853BFF30E821}"/>
              </a:ext>
            </a:extLst>
          </p:cNvPr>
          <p:cNvSpPr txBox="1"/>
          <p:nvPr/>
        </p:nvSpPr>
        <p:spPr>
          <a:xfrm>
            <a:off x="9738110" y="3245358"/>
            <a:ext cx="338554" cy="246221"/>
          </a:xfrm>
          <a:prstGeom prst="rect">
            <a:avLst/>
          </a:prstGeom>
          <a:noFill/>
          <a:ln>
            <a:noFill/>
          </a:ln>
        </p:spPr>
        <p:txBody>
          <a:bodyPr wrap="none" rtlCol="0">
            <a:spAutoFit/>
          </a:bodyPr>
          <a:lstStyle/>
          <a:p>
            <a:r>
              <a:rPr lang="en-US" sz="1000" dirty="0">
                <a:solidFill>
                  <a:schemeClr val="bg1">
                    <a:lumMod val="50000"/>
                  </a:schemeClr>
                </a:solidFill>
                <a:latin typeface="JetBrains Mono Light" panose="02000009000000000000" pitchFamily="49" charset="0"/>
                <a:cs typeface="JetBrains Mono Light" panose="02000009000000000000" pitchFamily="49" charset="0"/>
              </a:rPr>
              <a:t>CE</a:t>
            </a:r>
            <a:endParaRPr lang="en-VN" sz="10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316" name="TextBox 315">
            <a:extLst>
              <a:ext uri="{FF2B5EF4-FFF2-40B4-BE49-F238E27FC236}">
                <a16:creationId xmlns:a16="http://schemas.microsoft.com/office/drawing/2014/main" id="{5907DB7E-C185-4D82-8B53-E0BDA8F9F8F5}"/>
              </a:ext>
            </a:extLst>
          </p:cNvPr>
          <p:cNvSpPr txBox="1"/>
          <p:nvPr/>
        </p:nvSpPr>
        <p:spPr>
          <a:xfrm>
            <a:off x="205669" y="4460524"/>
            <a:ext cx="1965145" cy="1661993"/>
          </a:xfrm>
          <a:prstGeom prst="rect">
            <a:avLst/>
          </a:prstGeom>
          <a:noFill/>
          <a:ln>
            <a:solidFill>
              <a:schemeClr val="bg1"/>
            </a:solidFill>
            <a:prstDash val="lgDashDotDot"/>
          </a:ln>
        </p:spPr>
        <p:txBody>
          <a:bodyPr wrap="square" rtlCol="0">
            <a:spAutoFit/>
          </a:bodyPr>
          <a:lstStyle/>
          <a:p>
            <a:pPr algn="ctr"/>
            <a:r>
              <a:rPr lang="en-US" dirty="0" err="1">
                <a:solidFill>
                  <a:schemeClr val="bg1"/>
                </a:solidFill>
                <a:latin typeface="JetBrains Mono Medium" panose="02000009000000000000" pitchFamily="49" charset="0"/>
                <a:cs typeface="JetBrains Mono Medium" panose="02000009000000000000" pitchFamily="49" charset="0"/>
              </a:rPr>
              <a:t>Chú</a:t>
            </a:r>
            <a:r>
              <a:rPr lang="en-US" dirty="0">
                <a:solidFill>
                  <a:schemeClr val="bg1"/>
                </a:solidFill>
                <a:latin typeface="JetBrains Mono Medium" panose="02000009000000000000" pitchFamily="49" charset="0"/>
                <a:cs typeface="JetBrains Mono Medium" panose="02000009000000000000" pitchFamily="49" charset="0"/>
              </a:rPr>
              <a:t> </a:t>
            </a:r>
            <a:r>
              <a:rPr lang="en-US" dirty="0" err="1">
                <a:solidFill>
                  <a:schemeClr val="bg1"/>
                </a:solidFill>
                <a:latin typeface="JetBrains Mono Medium" panose="02000009000000000000" pitchFamily="49" charset="0"/>
                <a:cs typeface="JetBrains Mono Medium" panose="02000009000000000000" pitchFamily="49" charset="0"/>
              </a:rPr>
              <a:t>thích</a:t>
            </a:r>
            <a:endParaRPr lang="en-US" dirty="0">
              <a:solidFill>
                <a:schemeClr val="bg1"/>
              </a:solidFill>
              <a:latin typeface="JetBrains Mono Medium" panose="02000009000000000000" pitchFamily="49" charset="0"/>
              <a:cs typeface="JetBrains Mono Medium" panose="02000009000000000000" pitchFamily="49" charset="0"/>
            </a:endParaRPr>
          </a:p>
          <a:p>
            <a:r>
              <a:rPr lang="en-US" sz="1400" b="0" i="0" dirty="0">
                <a:solidFill>
                  <a:schemeClr val="bg1">
                    <a:lumMod val="50000"/>
                  </a:schemeClr>
                </a:solidFill>
                <a:effectLst/>
                <a:latin typeface="Whitney"/>
              </a:rPr>
              <a:t>········································</a:t>
            </a:r>
            <a:endParaRPr lang="en-US" sz="1400" dirty="0">
              <a:solidFill>
                <a:schemeClr val="bg1">
                  <a:lumMod val="50000"/>
                </a:schemeClr>
              </a:solidFill>
              <a:latin typeface="JetBrains Mono Light" panose="02000009000000000000" pitchFamily="49" charset="0"/>
              <a:cs typeface="JetBrains Mono Light" panose="02000009000000000000" pitchFamily="49" charset="0"/>
            </a:endParaRPr>
          </a:p>
          <a:p>
            <a:r>
              <a:rPr lang="en-US" sz="1400" dirty="0" err="1">
                <a:solidFill>
                  <a:schemeClr val="bg1"/>
                </a:solidFill>
                <a:latin typeface="JetBrains Mono Light" panose="02000009000000000000" pitchFamily="49" charset="0"/>
                <a:cs typeface="JetBrains Mono Light" panose="02000009000000000000" pitchFamily="49" charset="0"/>
              </a:rPr>
              <a:t>Đg</a:t>
            </a:r>
            <a:r>
              <a:rPr lang="en-US" sz="1400" dirty="0">
                <a:solidFill>
                  <a:schemeClr val="bg1"/>
                </a:solidFill>
                <a:latin typeface="JetBrains Mono Light" panose="02000009000000000000" pitchFamily="49" charset="0"/>
                <a:cs typeface="JetBrains Mono Light" panose="02000009000000000000" pitchFamily="49" charset="0"/>
              </a:rPr>
              <a:t>. </a:t>
            </a:r>
            <a:r>
              <a:rPr lang="en-US" sz="1400" dirty="0" err="1">
                <a:solidFill>
                  <a:schemeClr val="bg1"/>
                </a:solidFill>
                <a:latin typeface="JetBrains Mono Light" panose="02000009000000000000" pitchFamily="49" charset="0"/>
                <a:cs typeface="JetBrains Mono Light" panose="02000009000000000000" pitchFamily="49" charset="0"/>
              </a:rPr>
              <a:t>liên</a:t>
            </a:r>
            <a:r>
              <a:rPr lang="en-US" sz="1400" dirty="0">
                <a:solidFill>
                  <a:schemeClr val="bg1"/>
                </a:solidFill>
                <a:latin typeface="JetBrains Mono Light" panose="02000009000000000000" pitchFamily="49" charset="0"/>
                <a:cs typeface="JetBrains Mono Light" panose="02000009000000000000" pitchFamily="49" charset="0"/>
              </a:rPr>
              <a:t> </a:t>
            </a:r>
            <a:r>
              <a:rPr lang="en-US" sz="1400" dirty="0" err="1">
                <a:solidFill>
                  <a:schemeClr val="bg1"/>
                </a:solidFill>
                <a:latin typeface="JetBrains Mono Light" panose="02000009000000000000" pitchFamily="49" charset="0"/>
                <a:cs typeface="JetBrains Mono Light" panose="02000009000000000000" pitchFamily="49" charset="0"/>
              </a:rPr>
              <a:t>kết</a:t>
            </a:r>
            <a:r>
              <a:rPr lang="en-US" sz="1400" dirty="0">
                <a:solidFill>
                  <a:schemeClr val="bg1"/>
                </a:solidFill>
                <a:latin typeface="JetBrains Mono Light" panose="02000009000000000000" pitchFamily="49" charset="0"/>
                <a:cs typeface="JetBrains Mono Light" panose="02000009000000000000" pitchFamily="49" charset="0"/>
              </a:rPr>
              <a:t>  </a:t>
            </a:r>
            <a:r>
              <a:rPr lang="en-US" sz="1400" dirty="0">
                <a:solidFill>
                  <a:schemeClr val="bg1">
                    <a:lumMod val="50000"/>
                  </a:schemeClr>
                </a:solidFill>
                <a:latin typeface="JetBrains Mono Light" panose="02000009000000000000" pitchFamily="49" charset="0"/>
                <a:cs typeface="JetBrains Mono Light" panose="02000009000000000000" pitchFamily="49" charset="0"/>
              </a:rPr>
              <a:t>S</a:t>
            </a:r>
            <a:r>
              <a:rPr lang="en-US" sz="1400" dirty="0">
                <a:solidFill>
                  <a:schemeClr val="bg1"/>
                </a:solidFill>
                <a:latin typeface="JetBrains Mono Light" panose="02000009000000000000" pitchFamily="49" charset="0"/>
                <a:cs typeface="JetBrains Mono Light" panose="02000009000000000000" pitchFamily="49" charset="0"/>
              </a:rPr>
              <a:t>E</a:t>
            </a:r>
          </a:p>
          <a:p>
            <a:r>
              <a:rPr lang="en-US" sz="1400" dirty="0" err="1">
                <a:solidFill>
                  <a:schemeClr val="bg1">
                    <a:lumMod val="50000"/>
                  </a:schemeClr>
                </a:solidFill>
                <a:latin typeface="JetBrains Mono Light" panose="02000009000000000000" pitchFamily="49" charset="0"/>
                <a:cs typeface="JetBrains Mono Light" panose="02000009000000000000" pitchFamily="49" charset="0"/>
              </a:rPr>
              <a:t>Đg</a:t>
            </a:r>
            <a:r>
              <a:rPr lang="en-US" sz="1400" dirty="0">
                <a:solidFill>
                  <a:schemeClr val="bg1">
                    <a:lumMod val="50000"/>
                  </a:schemeClr>
                </a:solidFill>
                <a:latin typeface="JetBrains Mono Light" panose="02000009000000000000" pitchFamily="49" charset="0"/>
                <a:cs typeface="JetBrains Mono Light" panose="02000009000000000000" pitchFamily="49" charset="0"/>
              </a:rPr>
              <a:t>. </a:t>
            </a:r>
            <a:r>
              <a:rPr lang="en-US" sz="1400" dirty="0" err="1">
                <a:solidFill>
                  <a:schemeClr val="bg1">
                    <a:lumMod val="50000"/>
                  </a:schemeClr>
                </a:solidFill>
                <a:latin typeface="JetBrains Mono Light" panose="02000009000000000000" pitchFamily="49" charset="0"/>
                <a:cs typeface="JetBrains Mono Light" panose="02000009000000000000" pitchFamily="49" charset="0"/>
              </a:rPr>
              <a:t>cụt</a:t>
            </a:r>
            <a:r>
              <a:rPr lang="en-US" sz="1400" dirty="0">
                <a:solidFill>
                  <a:schemeClr val="bg1">
                    <a:lumMod val="50000"/>
                  </a:schemeClr>
                </a:solidFill>
                <a:latin typeface="JetBrains Mono Light" panose="02000009000000000000" pitchFamily="49" charset="0"/>
                <a:cs typeface="JetBrains Mono Light" panose="02000009000000000000" pitchFamily="49" charset="0"/>
              </a:rPr>
              <a:t>       SE</a:t>
            </a:r>
          </a:p>
          <a:p>
            <a:r>
              <a:rPr lang="en-US" sz="1400" b="0" i="0" dirty="0">
                <a:solidFill>
                  <a:schemeClr val="bg1">
                    <a:lumMod val="50000"/>
                  </a:schemeClr>
                </a:solidFill>
                <a:effectLst/>
                <a:latin typeface="Whitney"/>
              </a:rPr>
              <a:t>········································</a:t>
            </a:r>
            <a:endParaRPr lang="en-US" sz="1400" dirty="0">
              <a:solidFill>
                <a:schemeClr val="bg1">
                  <a:lumMod val="50000"/>
                </a:schemeClr>
              </a:solidFill>
              <a:latin typeface="JetBrains Mono Light" panose="02000009000000000000" pitchFamily="49" charset="0"/>
              <a:cs typeface="JetBrains Mono Light" panose="02000009000000000000" pitchFamily="49" charset="0"/>
            </a:endParaRPr>
          </a:p>
          <a:p>
            <a:r>
              <a:rPr lang="en-US" sz="1400" dirty="0" err="1">
                <a:solidFill>
                  <a:schemeClr val="bg1">
                    <a:lumMod val="50000"/>
                  </a:schemeClr>
                </a:solidFill>
                <a:latin typeface="JetBrains Mono Light" panose="02000009000000000000" pitchFamily="49" charset="0"/>
                <a:cs typeface="JetBrains Mono Light" panose="02000009000000000000" pitchFamily="49" charset="0"/>
              </a:rPr>
              <a:t>TGT</a:t>
            </a:r>
            <a:r>
              <a:rPr lang="en-US" sz="1400" b="0" i="0" dirty="0" err="1">
                <a:solidFill>
                  <a:schemeClr val="bg1">
                    <a:lumMod val="50000"/>
                  </a:schemeClr>
                </a:solidFill>
                <a:effectLst/>
                <a:latin typeface="JetBrains Mono Medium" panose="02000009000000000000" pitchFamily="49" charset="0"/>
                <a:cs typeface="JetBrains Mono Medium" panose="02000009000000000000" pitchFamily="49" charset="0"/>
              </a:rPr>
              <a:t>·</a:t>
            </a:r>
            <a:r>
              <a:rPr lang="en-US" sz="1400" dirty="0" err="1">
                <a:solidFill>
                  <a:schemeClr val="bg1">
                    <a:lumMod val="50000"/>
                  </a:schemeClr>
                </a:solidFill>
                <a:latin typeface="JetBrains Mono Light" panose="02000009000000000000" pitchFamily="49" charset="0"/>
                <a:cs typeface="JetBrains Mono Light" panose="02000009000000000000" pitchFamily="49" charset="0"/>
              </a:rPr>
              <a:t>tổng</a:t>
            </a:r>
            <a:r>
              <a:rPr lang="en-US" sz="1400" dirty="0">
                <a:solidFill>
                  <a:schemeClr val="bg1">
                    <a:lumMod val="50000"/>
                  </a:schemeClr>
                </a:solidFill>
                <a:latin typeface="JetBrains Mono Light" panose="02000009000000000000" pitchFamily="49" charset="0"/>
                <a:cs typeface="JetBrains Mono Light" panose="02000009000000000000" pitchFamily="49" charset="0"/>
              </a:rPr>
              <a:t> </a:t>
            </a:r>
            <a:r>
              <a:rPr lang="en-US" sz="1400" dirty="0" err="1">
                <a:solidFill>
                  <a:schemeClr val="bg1">
                    <a:lumMod val="50000"/>
                  </a:schemeClr>
                </a:solidFill>
                <a:latin typeface="JetBrains Mono Light" panose="02000009000000000000" pitchFamily="49" charset="0"/>
                <a:cs typeface="JetBrains Mono Light" panose="02000009000000000000" pitchFamily="49" charset="0"/>
              </a:rPr>
              <a:t>giá</a:t>
            </a:r>
            <a:r>
              <a:rPr lang="en-US" sz="1400" dirty="0">
                <a:solidFill>
                  <a:schemeClr val="bg1">
                    <a:lumMod val="50000"/>
                  </a:schemeClr>
                </a:solidFill>
                <a:latin typeface="JetBrains Mono Light" panose="02000009000000000000" pitchFamily="49" charset="0"/>
                <a:cs typeface="JetBrains Mono Light" panose="02000009000000000000" pitchFamily="49" charset="0"/>
              </a:rPr>
              <a:t> </a:t>
            </a:r>
            <a:r>
              <a:rPr lang="en-US" sz="1400" dirty="0" err="1">
                <a:solidFill>
                  <a:schemeClr val="bg1">
                    <a:lumMod val="50000"/>
                  </a:schemeClr>
                </a:solidFill>
                <a:latin typeface="JetBrains Mono Light" panose="02000009000000000000" pitchFamily="49" charset="0"/>
                <a:cs typeface="JetBrains Mono Light" panose="02000009000000000000" pitchFamily="49" charset="0"/>
              </a:rPr>
              <a:t>trị</a:t>
            </a:r>
            <a:endParaRPr lang="en-US" sz="1400" dirty="0">
              <a:solidFill>
                <a:schemeClr val="bg1">
                  <a:lumMod val="50000"/>
                </a:schemeClr>
              </a:solidFill>
              <a:latin typeface="JetBrains Mono Light" panose="02000009000000000000" pitchFamily="49" charset="0"/>
              <a:cs typeface="JetBrains Mono Light" panose="02000009000000000000" pitchFamily="49" charset="0"/>
            </a:endParaRPr>
          </a:p>
          <a:p>
            <a:r>
              <a:rPr lang="en-US" sz="1400" dirty="0">
                <a:solidFill>
                  <a:schemeClr val="bg1">
                    <a:lumMod val="50000"/>
                  </a:schemeClr>
                </a:solidFill>
                <a:latin typeface="JetBrains Mono Light" panose="02000009000000000000" pitchFamily="49" charset="0"/>
                <a:cs typeface="JetBrains Mono Light" panose="02000009000000000000" pitchFamily="49" charset="0"/>
              </a:rPr>
              <a:t>CD </a:t>
            </a:r>
            <a:r>
              <a:rPr lang="en-US" sz="1400" b="0" i="0" dirty="0">
                <a:solidFill>
                  <a:schemeClr val="bg1">
                    <a:lumMod val="50000"/>
                  </a:schemeClr>
                </a:solidFill>
                <a:effectLst/>
                <a:latin typeface="JetBrains Mono Medium" panose="02000009000000000000" pitchFamily="49" charset="0"/>
                <a:cs typeface="JetBrains Mono Medium" panose="02000009000000000000" pitchFamily="49" charset="0"/>
              </a:rPr>
              <a:t>·</a:t>
            </a:r>
            <a:r>
              <a:rPr lang="en-US" sz="1400" dirty="0" err="1">
                <a:solidFill>
                  <a:schemeClr val="bg1">
                    <a:lumMod val="50000"/>
                  </a:schemeClr>
                </a:solidFill>
                <a:latin typeface="JetBrains Mono Light" panose="02000009000000000000" pitchFamily="49" charset="0"/>
                <a:cs typeface="JetBrains Mono Light" panose="02000009000000000000" pitchFamily="49" charset="0"/>
              </a:rPr>
              <a:t>chiều</a:t>
            </a:r>
            <a:r>
              <a:rPr lang="en-US" sz="1400" dirty="0">
                <a:solidFill>
                  <a:schemeClr val="bg1">
                    <a:lumMod val="50000"/>
                  </a:schemeClr>
                </a:solidFill>
                <a:latin typeface="JetBrains Mono Light" panose="02000009000000000000" pitchFamily="49" charset="0"/>
                <a:cs typeface="JetBrains Mono Light" panose="02000009000000000000" pitchFamily="49" charset="0"/>
              </a:rPr>
              <a:t> </a:t>
            </a:r>
            <a:r>
              <a:rPr lang="en-US" sz="1400" dirty="0" err="1">
                <a:solidFill>
                  <a:schemeClr val="bg1">
                    <a:lumMod val="50000"/>
                  </a:schemeClr>
                </a:solidFill>
                <a:latin typeface="JetBrains Mono Light" panose="02000009000000000000" pitchFamily="49" charset="0"/>
                <a:cs typeface="JetBrains Mono Light" panose="02000009000000000000" pitchFamily="49" charset="0"/>
              </a:rPr>
              <a:t>dài</a:t>
            </a:r>
            <a:endParaRPr lang="en-US" sz="1400" dirty="0">
              <a:solidFill>
                <a:schemeClr val="bg1">
                  <a:lumMod val="50000"/>
                </a:schemeClr>
              </a:solidFill>
              <a:latin typeface="JetBrains Mono Light" panose="02000009000000000000" pitchFamily="49" charset="0"/>
              <a:cs typeface="JetBrains Mono Light" panose="02000009000000000000" pitchFamily="49" charset="0"/>
            </a:endParaRPr>
          </a:p>
        </p:txBody>
      </p:sp>
    </p:spTree>
    <p:extLst>
      <p:ext uri="{BB962C8B-B14F-4D97-AF65-F5344CB8AC3E}">
        <p14:creationId xmlns:p14="http://schemas.microsoft.com/office/powerpoint/2010/main" val="5046039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104"/>
                                        </p:tgtEl>
                                        <p:attrNameLst>
                                          <p:attrName>style.visibility</p:attrName>
                                        </p:attrNameLst>
                                      </p:cBhvr>
                                      <p:to>
                                        <p:strVal val="visible"/>
                                      </p:to>
                                    </p:set>
                                    <p:anim calcmode="lin" valueType="num">
                                      <p:cBhvr>
                                        <p:cTn id="7" dur="100" fill="hold"/>
                                        <p:tgtEl>
                                          <p:spTgt spid="104"/>
                                        </p:tgtEl>
                                        <p:attrNameLst>
                                          <p:attrName>ppt_w</p:attrName>
                                        </p:attrNameLst>
                                      </p:cBhvr>
                                      <p:tavLst>
                                        <p:tav tm="0">
                                          <p:val>
                                            <p:fltVal val="0"/>
                                          </p:val>
                                        </p:tav>
                                        <p:tav tm="100000">
                                          <p:val>
                                            <p:strVal val="#ppt_w"/>
                                          </p:val>
                                        </p:tav>
                                      </p:tavLst>
                                    </p:anim>
                                    <p:anim calcmode="lin" valueType="num">
                                      <p:cBhvr>
                                        <p:cTn id="8" dur="100" fill="hold"/>
                                        <p:tgtEl>
                                          <p:spTgt spid="104"/>
                                        </p:tgtEl>
                                        <p:attrNameLst>
                                          <p:attrName>ppt_h</p:attrName>
                                        </p:attrNameLst>
                                      </p:cBhvr>
                                      <p:tavLst>
                                        <p:tav tm="0">
                                          <p:val>
                                            <p:fltVal val="0"/>
                                          </p:val>
                                        </p:tav>
                                        <p:tav tm="100000">
                                          <p:val>
                                            <p:strVal val="#ppt_h"/>
                                          </p:val>
                                        </p:tav>
                                      </p:tavLst>
                                    </p:anim>
                                    <p:anim calcmode="lin" valueType="num">
                                      <p:cBhvr>
                                        <p:cTn id="9" dur="100" fill="hold"/>
                                        <p:tgtEl>
                                          <p:spTgt spid="104"/>
                                        </p:tgtEl>
                                        <p:attrNameLst>
                                          <p:attrName>style.rotation</p:attrName>
                                        </p:attrNameLst>
                                      </p:cBhvr>
                                      <p:tavLst>
                                        <p:tav tm="0">
                                          <p:val>
                                            <p:fltVal val="90"/>
                                          </p:val>
                                        </p:tav>
                                        <p:tav tm="100000">
                                          <p:val>
                                            <p:fltVal val="0"/>
                                          </p:val>
                                        </p:tav>
                                      </p:tavLst>
                                    </p:anim>
                                    <p:animEffect transition="in" filter="fade">
                                      <p:cBhvr>
                                        <p:cTn id="10" dur="1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81CF6-D1D6-4910-9D79-CE9DC94EF28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D145A2-05F5-46FF-8D9D-2EF39E75DF55}"/>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5213A13F-45A9-48D3-A4E0-DC1B2487618E}"/>
              </a:ext>
            </a:extLst>
          </p:cNvPr>
          <p:cNvSpPr/>
          <p:nvPr/>
        </p:nvSpPr>
        <p:spPr>
          <a:xfrm>
            <a:off x="0" y="-2824"/>
            <a:ext cx="12192000" cy="68608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5" name="Credit MAIN">
            <a:extLst>
              <a:ext uri="{FF2B5EF4-FFF2-40B4-BE49-F238E27FC236}">
                <a16:creationId xmlns:a16="http://schemas.microsoft.com/office/drawing/2014/main" id="{4D4F9CB9-B3CA-4BD4-927B-B3C1FB4D2840}"/>
              </a:ext>
            </a:extLst>
          </p:cNvPr>
          <p:cNvSpPr txBox="1"/>
          <p:nvPr/>
        </p:nvSpPr>
        <p:spPr>
          <a:xfrm>
            <a:off x="50878" y="6432004"/>
            <a:ext cx="2668876"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Phạm</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Văn</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Quyết</a:t>
            </a:r>
            <a:endParaRPr lang="en-US" dirty="0">
              <a:solidFill>
                <a:schemeClr val="bg1">
                  <a:lumMod val="95000"/>
                  <a:alpha val="46000"/>
                </a:schemeClr>
              </a:solidFill>
            </a:endParaRPr>
          </a:p>
        </p:txBody>
      </p:sp>
      <p:sp>
        <p:nvSpPr>
          <p:cNvPr id="6" name="Header">
            <a:extLst>
              <a:ext uri="{FF2B5EF4-FFF2-40B4-BE49-F238E27FC236}">
                <a16:creationId xmlns:a16="http://schemas.microsoft.com/office/drawing/2014/main" id="{3776EBF9-6A6F-431D-86D1-7CC570EDC834}"/>
              </a:ext>
            </a:extLst>
          </p:cNvPr>
          <p:cNvSpPr txBox="1"/>
          <p:nvPr/>
        </p:nvSpPr>
        <p:spPr>
          <a:xfrm>
            <a:off x="50878" y="79574"/>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4" name="TextBox 13">
            <a:extLst>
              <a:ext uri="{FF2B5EF4-FFF2-40B4-BE49-F238E27FC236}">
                <a16:creationId xmlns:a16="http://schemas.microsoft.com/office/drawing/2014/main" id="{BB5F2B2B-D5F9-4805-8751-B3C10A66FCD3}"/>
              </a:ext>
            </a:extLst>
          </p:cNvPr>
          <p:cNvSpPr txBox="1"/>
          <p:nvPr/>
        </p:nvSpPr>
        <p:spPr>
          <a:xfrm>
            <a:off x="930464" y="1538497"/>
            <a:ext cx="6305551" cy="1477328"/>
          </a:xfrm>
          <a:prstGeom prst="rect">
            <a:avLst/>
          </a:prstGeom>
          <a:noFill/>
        </p:spPr>
        <p:txBody>
          <a:bodyPr wrap="square">
            <a:spAutoFit/>
          </a:bodyPr>
          <a:lstStyle/>
          <a:p>
            <a:r>
              <a:rPr lang="en-US" dirty="0" err="1">
                <a:solidFill>
                  <a:srgbClr val="EBE9EB"/>
                </a:solidFill>
                <a:latin typeface="JetBrains Mono Light" panose="02000009000000000000" pitchFamily="49" charset="0"/>
                <a:cs typeface="JetBrains Mono Light" panose="02000009000000000000" pitchFamily="49" charset="0"/>
              </a:rPr>
              <a:t>Hàm</a:t>
            </a:r>
            <a:r>
              <a:rPr lang="en-US" dirty="0">
                <a:solidFill>
                  <a:srgbClr val="EBE9EB"/>
                </a:solidFill>
                <a:latin typeface="JetBrains Mono Light" panose="02000009000000000000" pitchFamily="49" charset="0"/>
                <a:cs typeface="JetBrains Mono Light" panose="02000009000000000000" pitchFamily="49" charset="0"/>
              </a:rPr>
              <a:t> d(u) </a:t>
            </a:r>
            <a:r>
              <a:rPr lang="en-US" dirty="0" err="1">
                <a:solidFill>
                  <a:srgbClr val="EBE9EB"/>
                </a:solidFill>
                <a:latin typeface="JetBrains Mono Light" panose="02000009000000000000" pitchFamily="49" charset="0"/>
                <a:cs typeface="JetBrains Mono Light" panose="02000009000000000000" pitchFamily="49" charset="0"/>
              </a:rPr>
              <a:t>dùng</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để</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lưu</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trữ</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độ</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dài</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đường</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đi</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ngắn</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nhất</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từ</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đỉnh</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nguồn</a:t>
            </a:r>
            <a:r>
              <a:rPr lang="en-US" dirty="0">
                <a:solidFill>
                  <a:srgbClr val="EBE9EB"/>
                </a:solidFill>
                <a:latin typeface="JetBrains Mono Light" panose="02000009000000000000" pitchFamily="49" charset="0"/>
                <a:cs typeface="JetBrains Mono Light" panose="02000009000000000000" pitchFamily="49" charset="0"/>
              </a:rPr>
              <a:t> s </a:t>
            </a:r>
            <a:r>
              <a:rPr lang="en-US" dirty="0" err="1">
                <a:solidFill>
                  <a:srgbClr val="EBE9EB"/>
                </a:solidFill>
                <a:latin typeface="JetBrains Mono Light" panose="02000009000000000000" pitchFamily="49" charset="0"/>
                <a:cs typeface="JetBrains Mono Light" panose="02000009000000000000" pitchFamily="49" charset="0"/>
              </a:rPr>
              <a:t>đến</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đỉnh</a:t>
            </a:r>
            <a:r>
              <a:rPr lang="en-US" dirty="0">
                <a:solidFill>
                  <a:srgbClr val="EBE9EB"/>
                </a:solidFill>
                <a:latin typeface="JetBrains Mono Light" panose="02000009000000000000" pitchFamily="49" charset="0"/>
                <a:cs typeface="JetBrains Mono Light" panose="02000009000000000000" pitchFamily="49" charset="0"/>
              </a:rPr>
              <a:t> u. </a:t>
            </a:r>
            <a:r>
              <a:rPr lang="en-US" dirty="0" err="1">
                <a:solidFill>
                  <a:srgbClr val="EBE9EB"/>
                </a:solidFill>
                <a:latin typeface="JetBrains Mono Light" panose="02000009000000000000" pitchFamily="49" charset="0"/>
                <a:cs typeface="JetBrains Mono Light" panose="02000009000000000000" pitchFamily="49" charset="0"/>
              </a:rPr>
              <a:t>Rõ</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ràng</a:t>
            </a:r>
            <a:r>
              <a:rPr lang="en-US" dirty="0">
                <a:solidFill>
                  <a:srgbClr val="EBE9EB"/>
                </a:solidFill>
                <a:latin typeface="JetBrains Mono Light" panose="02000009000000000000" pitchFamily="49" charset="0"/>
                <a:cs typeface="JetBrains Mono Light" panose="02000009000000000000" pitchFamily="49" charset="0"/>
              </a:rPr>
              <a:t> d(s)= 0.</a:t>
            </a:r>
          </a:p>
          <a:p>
            <a:r>
              <a:rPr lang="en-US" dirty="0" err="1">
                <a:solidFill>
                  <a:srgbClr val="EBE9EB"/>
                </a:solidFill>
                <a:latin typeface="JetBrains Mono Light" panose="02000009000000000000" pitchFamily="49" charset="0"/>
                <a:cs typeface="JetBrains Mono Light" panose="02000009000000000000" pitchFamily="49" charset="0"/>
              </a:rPr>
              <a:t>Ký</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hiệu</a:t>
            </a:r>
            <a:r>
              <a:rPr lang="en-US" dirty="0">
                <a:solidFill>
                  <a:srgbClr val="EBE9EB"/>
                </a:solidFill>
                <a:latin typeface="JetBrains Mono Light" panose="02000009000000000000" pitchFamily="49" charset="0"/>
                <a:cs typeface="JetBrains Mono Light" panose="02000009000000000000" pitchFamily="49" charset="0"/>
              </a:rPr>
              <a:t> X(u) </a:t>
            </a:r>
            <a:r>
              <a:rPr lang="en-US" dirty="0" err="1">
                <a:solidFill>
                  <a:srgbClr val="EBE9EB"/>
                </a:solidFill>
                <a:latin typeface="JetBrains Mono Light" panose="02000009000000000000" pitchFamily="49" charset="0"/>
                <a:cs typeface="JetBrains Mono Light" panose="02000009000000000000" pitchFamily="49" charset="0"/>
              </a:rPr>
              <a:t>là</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tập</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hợp</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các</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đỉnh</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có</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cạnh</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đi</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tới</a:t>
            </a:r>
            <a:r>
              <a:rPr lang="en-US" dirty="0">
                <a:solidFill>
                  <a:srgbClr val="EBE9EB"/>
                </a:solidFill>
                <a:latin typeface="JetBrains Mono Light" panose="02000009000000000000" pitchFamily="49" charset="0"/>
                <a:cs typeface="JetBrains Mono Light" panose="02000009000000000000" pitchFamily="49" charset="0"/>
              </a:rPr>
              <a:t>.</a:t>
            </a:r>
          </a:p>
        </p:txBody>
      </p:sp>
      <p:sp>
        <p:nvSpPr>
          <p:cNvPr id="48" name="Rectangle 47">
            <a:extLst>
              <a:ext uri="{FF2B5EF4-FFF2-40B4-BE49-F238E27FC236}">
                <a16:creationId xmlns:a16="http://schemas.microsoft.com/office/drawing/2014/main" id="{A7EACE16-6DC1-45E3-976C-B764A3E61BD6}"/>
              </a:ext>
            </a:extLst>
          </p:cNvPr>
          <p:cNvSpPr/>
          <p:nvPr/>
        </p:nvSpPr>
        <p:spPr>
          <a:xfrm>
            <a:off x="591458" y="603227"/>
            <a:ext cx="3650464"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FE50C8B9-8791-4D38-8DAF-A84E4A03529C}"/>
              </a:ext>
            </a:extLst>
          </p:cNvPr>
          <p:cNvSpPr txBox="1"/>
          <p:nvPr/>
        </p:nvSpPr>
        <p:spPr>
          <a:xfrm>
            <a:off x="603363" y="602701"/>
            <a:ext cx="3638559" cy="369332"/>
          </a:xfrm>
          <a:prstGeom prst="rect">
            <a:avLst/>
          </a:prstGeom>
          <a:no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Bài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toán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Người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bán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hàng</a:t>
            </a:r>
            <a:r>
              <a:rPr lang="en-US" dirty="0">
                <a:latin typeface="JetBrains Mono Regular" panose="02000009000000000000" pitchFamily="49" charset="0"/>
                <a:cs typeface="JetBrains Mono Regular" panose="02000009000000000000" pitchFamily="49" charset="0"/>
              </a:rPr>
              <a:t>”</a:t>
            </a:r>
          </a:p>
        </p:txBody>
      </p:sp>
      <p:sp>
        <p:nvSpPr>
          <p:cNvPr id="50" name="TextBox 49">
            <a:extLst>
              <a:ext uri="{FF2B5EF4-FFF2-40B4-BE49-F238E27FC236}">
                <a16:creationId xmlns:a16="http://schemas.microsoft.com/office/drawing/2014/main" id="{477D174C-F275-4DED-B6C1-24D7D17B962A}"/>
              </a:ext>
            </a:extLst>
          </p:cNvPr>
          <p:cNvSpPr txBox="1"/>
          <p:nvPr/>
        </p:nvSpPr>
        <p:spPr>
          <a:xfrm>
            <a:off x="944147" y="1080234"/>
            <a:ext cx="1775608"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Phương</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pháp</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51" name="TextBox 50">
            <a:extLst>
              <a:ext uri="{FF2B5EF4-FFF2-40B4-BE49-F238E27FC236}">
                <a16:creationId xmlns:a16="http://schemas.microsoft.com/office/drawing/2014/main" id="{964FCCE6-08A0-46FF-A1C9-EB77129134EA}"/>
              </a:ext>
            </a:extLst>
          </p:cNvPr>
          <p:cNvSpPr txBox="1"/>
          <p:nvPr/>
        </p:nvSpPr>
        <p:spPr>
          <a:xfrm>
            <a:off x="2664872" y="1092325"/>
            <a:ext cx="3305415" cy="369332"/>
          </a:xfrm>
          <a:prstGeom prst="rect">
            <a:avLst/>
          </a:prstGeom>
          <a:noFill/>
        </p:spPr>
        <p:txBody>
          <a:bodyPr wrap="square" rtlCol="0">
            <a:spAutoFit/>
          </a:bodyPr>
          <a:lstStyle/>
          <a:p>
            <a:pPr marL="285750" indent="-285750">
              <a:buFont typeface="Arial" panose="020B0604020202020204" pitchFamily="34" charset="0"/>
              <a:buChar char="•"/>
            </a:pP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Thuật</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toán</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Dijkstra</a:t>
            </a:r>
            <a:endParaRPr lang="en-US" i="1" dirty="0">
              <a:latin typeface="JetBrains Mono ExtraLight" panose="02000009000000000000" pitchFamily="49" charset="0"/>
              <a:cs typeface="JetBrains Mono ExtraLight" panose="02000009000000000000" pitchFamily="49" charset="0"/>
            </a:endParaRPr>
          </a:p>
        </p:txBody>
      </p:sp>
      <p:sp>
        <p:nvSpPr>
          <p:cNvPr id="52" name="Footer: Part">
            <a:extLst>
              <a:ext uri="{FF2B5EF4-FFF2-40B4-BE49-F238E27FC236}">
                <a16:creationId xmlns:a16="http://schemas.microsoft.com/office/drawing/2014/main" id="{63181CA9-7A3C-41F7-80E5-1D00C15A3D9C}"/>
              </a:ext>
            </a:extLst>
          </p:cNvPr>
          <p:cNvSpPr txBox="1"/>
          <p:nvPr/>
        </p:nvSpPr>
        <p:spPr>
          <a:xfrm>
            <a:off x="8487508" y="6464494"/>
            <a:ext cx="3733195" cy="369332"/>
          </a:xfrm>
          <a:prstGeom prst="rect">
            <a:avLst/>
          </a:prstGeom>
          <a:noFill/>
        </p:spPr>
        <p:txBody>
          <a:bodyPr wrap="square" rtlCol="0">
            <a:spAutoFit/>
          </a:bodyPr>
          <a:lstStyle/>
          <a:p>
            <a:r>
              <a:rPr lang="en-US" dirty="0" err="1">
                <a:solidFill>
                  <a:schemeClr val="bg1">
                    <a:lumMod val="95000"/>
                  </a:schemeClr>
                </a:solidFill>
                <a:latin typeface="JetBrains Mono Regular" panose="02000009000000000000" pitchFamily="49" charset="0"/>
                <a:cs typeface="JetBrains Mono Regular" panose="02000009000000000000" pitchFamily="49" charset="0"/>
              </a:rPr>
              <a:t>Bài</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toán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a:solidFill>
                  <a:schemeClr val="bg1">
                    <a:lumMod val="95000"/>
                  </a:schemeClr>
                </a:solidFill>
                <a:latin typeface="JetBrains Mono Light" panose="02000009000000000000" pitchFamily="49" charset="0"/>
                <a:cs typeface="JetBrains Mono Light" panose="02000009000000000000" pitchFamily="49" charset="0"/>
              </a:rPr>
              <a:t>“</a:t>
            </a:r>
            <a:r>
              <a:rPr lang="en-US" dirty="0" err="1">
                <a:solidFill>
                  <a:schemeClr val="bg1">
                    <a:lumMod val="85000"/>
                  </a:schemeClr>
                </a:solidFill>
                <a:latin typeface="JetBrains Mono Light" panose="02000009000000000000"/>
                <a:cs typeface="JetBrains Mono" panose="02000009000000000000" pitchFamily="49" charset="0"/>
              </a:rPr>
              <a:t>Người</a:t>
            </a:r>
            <a:r>
              <a:rPr lang="en-US" dirty="0">
                <a:solidFill>
                  <a:schemeClr val="bg1">
                    <a:lumMod val="85000"/>
                  </a:schemeClr>
                </a:solidFill>
                <a:latin typeface="JetBrains Mono Light" panose="02000009000000000000"/>
                <a:cs typeface="JetBrains Mono" panose="02000009000000000000" pitchFamily="49" charset="0"/>
              </a:rPr>
              <a:t> </a:t>
            </a:r>
            <a:r>
              <a:rPr lang="en-US" dirty="0" err="1">
                <a:solidFill>
                  <a:schemeClr val="bg1">
                    <a:lumMod val="85000"/>
                  </a:schemeClr>
                </a:solidFill>
                <a:latin typeface="JetBrains Mono Light" panose="02000009000000000000"/>
                <a:cs typeface="JetBrains Mono" panose="02000009000000000000" pitchFamily="49" charset="0"/>
              </a:rPr>
              <a:t>bán</a:t>
            </a:r>
            <a:r>
              <a:rPr lang="en-US" dirty="0">
                <a:solidFill>
                  <a:schemeClr val="bg1">
                    <a:lumMod val="85000"/>
                  </a:schemeClr>
                </a:solidFill>
                <a:latin typeface="JetBrains Mono Light" panose="02000009000000000000"/>
                <a:cs typeface="JetBrains Mono" panose="02000009000000000000" pitchFamily="49" charset="0"/>
              </a:rPr>
              <a:t> </a:t>
            </a:r>
            <a:r>
              <a:rPr lang="en-US" dirty="0" err="1">
                <a:solidFill>
                  <a:schemeClr val="bg1">
                    <a:lumMod val="85000"/>
                  </a:schemeClr>
                </a:solidFill>
                <a:latin typeface="JetBrains Mono Light" panose="02000009000000000000"/>
                <a:cs typeface="JetBrains Mono" panose="02000009000000000000" pitchFamily="49" charset="0"/>
              </a:rPr>
              <a:t>hàng</a:t>
            </a:r>
            <a:r>
              <a:rPr lang="en-US" dirty="0">
                <a:solidFill>
                  <a:schemeClr val="bg1">
                    <a:lumMod val="85000"/>
                  </a:schemeClr>
                </a:solidFill>
                <a:latin typeface="JetBrains Mono Light" panose="02000009000000000000"/>
                <a:cs typeface="JetBrains Mono" panose="02000009000000000000" pitchFamily="49" charset="0"/>
              </a:rPr>
              <a:t>”</a:t>
            </a:r>
          </a:p>
        </p:txBody>
      </p:sp>
      <p:sp>
        <p:nvSpPr>
          <p:cNvPr id="53" name="Footer: Title">
            <a:extLst>
              <a:ext uri="{FF2B5EF4-FFF2-40B4-BE49-F238E27FC236}">
                <a16:creationId xmlns:a16="http://schemas.microsoft.com/office/drawing/2014/main" id="{38A1C11C-EDF1-412F-9EF9-17CA294CDEE6}"/>
              </a:ext>
            </a:extLst>
          </p:cNvPr>
          <p:cNvSpPr txBox="1"/>
          <p:nvPr/>
        </p:nvSpPr>
        <p:spPr>
          <a:xfrm>
            <a:off x="7385543" y="6469576"/>
            <a:ext cx="1215645"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a:t>
            </a:r>
          </a:p>
        </p:txBody>
      </p:sp>
      <p:sp>
        <p:nvSpPr>
          <p:cNvPr id="79" name="PAGE NUM 0">
            <a:extLst>
              <a:ext uri="{FF2B5EF4-FFF2-40B4-BE49-F238E27FC236}">
                <a16:creationId xmlns:a16="http://schemas.microsoft.com/office/drawing/2014/main" id="{23E20AC4-9604-436C-9B37-1DEF3E9E459E}"/>
              </a:ext>
            </a:extLst>
          </p:cNvPr>
          <p:cNvSpPr txBox="1"/>
          <p:nvPr/>
        </p:nvSpPr>
        <p:spPr>
          <a:xfrm>
            <a:off x="11599908" y="-1145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4</a:t>
            </a:r>
          </a:p>
        </p:txBody>
      </p:sp>
      <p:sp>
        <p:nvSpPr>
          <p:cNvPr id="80" name="PAGE NUM 1">
            <a:extLst>
              <a:ext uri="{FF2B5EF4-FFF2-40B4-BE49-F238E27FC236}">
                <a16:creationId xmlns:a16="http://schemas.microsoft.com/office/drawing/2014/main" id="{3B41770E-4608-4E46-BEC9-DC8452E92B3B}"/>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1</a:t>
            </a:r>
            <a:endParaRPr lang="en-US" dirty="0"/>
          </a:p>
        </p:txBody>
      </p:sp>
      <p:sp>
        <p:nvSpPr>
          <p:cNvPr id="81" name="TextBox 80">
            <a:extLst>
              <a:ext uri="{FF2B5EF4-FFF2-40B4-BE49-F238E27FC236}">
                <a16:creationId xmlns:a16="http://schemas.microsoft.com/office/drawing/2014/main" id="{B0F52786-5E03-4BC6-BD14-6A4E62364B54}"/>
              </a:ext>
            </a:extLst>
          </p:cNvPr>
          <p:cNvSpPr txBox="1"/>
          <p:nvPr/>
        </p:nvSpPr>
        <p:spPr>
          <a:xfrm>
            <a:off x="930463" y="3015825"/>
            <a:ext cx="6305551" cy="923330"/>
          </a:xfrm>
          <a:prstGeom prst="rect">
            <a:avLst/>
          </a:prstGeom>
          <a:noFill/>
        </p:spPr>
        <p:txBody>
          <a:bodyPr wrap="square">
            <a:spAutoFit/>
          </a:bodyPr>
          <a:lstStyle/>
          <a:p>
            <a:r>
              <a:rPr lang="en-US" dirty="0" err="1">
                <a:solidFill>
                  <a:srgbClr val="EBE9EB"/>
                </a:solidFill>
                <a:latin typeface="JetBrains Mono Light" panose="02000009000000000000" pitchFamily="49" charset="0"/>
                <a:cs typeface="JetBrains Mono Light" panose="02000009000000000000" pitchFamily="49" charset="0"/>
              </a:rPr>
              <a:t>Nếu</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với</a:t>
            </a:r>
            <a:r>
              <a:rPr lang="en-US" dirty="0">
                <a:solidFill>
                  <a:srgbClr val="EBE9EB"/>
                </a:solidFill>
                <a:latin typeface="JetBrains Mono Light" panose="02000009000000000000" pitchFamily="49" charset="0"/>
                <a:cs typeface="JetBrains Mono Light" panose="02000009000000000000" pitchFamily="49" charset="0"/>
              </a:rPr>
              <a:t> v </a:t>
            </a:r>
            <a:r>
              <a:rPr lang="en-US" dirty="0" err="1">
                <a:solidFill>
                  <a:srgbClr val="EBE9EB"/>
                </a:solidFill>
                <a:latin typeface="JetBrains Mono Light" panose="02000009000000000000" pitchFamily="49" charset="0"/>
                <a:cs typeface="JetBrains Mono Light" panose="02000009000000000000" pitchFamily="49" charset="0"/>
              </a:rPr>
              <a:t>thuộc</a:t>
            </a:r>
            <a:r>
              <a:rPr lang="en-US" dirty="0">
                <a:solidFill>
                  <a:srgbClr val="EBE9EB"/>
                </a:solidFill>
                <a:latin typeface="JetBrains Mono Light" panose="02000009000000000000" pitchFamily="49" charset="0"/>
                <a:cs typeface="JetBrains Mono Light" panose="02000009000000000000" pitchFamily="49" charset="0"/>
              </a:rPr>
              <a:t> X(u) </a:t>
            </a:r>
            <a:r>
              <a:rPr lang="en-US" dirty="0" err="1">
                <a:solidFill>
                  <a:srgbClr val="EBE9EB"/>
                </a:solidFill>
                <a:latin typeface="JetBrains Mono Light" panose="02000009000000000000" pitchFamily="49" charset="0"/>
                <a:cs typeface="JetBrains Mono Light" panose="02000009000000000000" pitchFamily="49" charset="0"/>
              </a:rPr>
              <a:t>đã</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xác</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định</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được</a:t>
            </a:r>
            <a:r>
              <a:rPr lang="en-US" dirty="0">
                <a:solidFill>
                  <a:srgbClr val="EBE9EB"/>
                </a:solidFill>
                <a:latin typeface="JetBrains Mono Light" panose="02000009000000000000" pitchFamily="49" charset="0"/>
                <a:cs typeface="JetBrains Mono Light" panose="02000009000000000000" pitchFamily="49" charset="0"/>
              </a:rPr>
              <a:t> d(v) </a:t>
            </a:r>
            <a:r>
              <a:rPr lang="en-US" dirty="0" err="1">
                <a:solidFill>
                  <a:srgbClr val="EBE9EB"/>
                </a:solidFill>
                <a:latin typeface="JetBrains Mono Light" panose="02000009000000000000" pitchFamily="49" charset="0"/>
                <a:cs typeface="JetBrains Mono Light" panose="02000009000000000000" pitchFamily="49" charset="0"/>
              </a:rPr>
              <a:t>thì</a:t>
            </a:r>
            <a:r>
              <a:rPr lang="en-US" dirty="0">
                <a:solidFill>
                  <a:srgbClr val="EBE9EB"/>
                </a:solidFill>
                <a:latin typeface="JetBrains Mono Light" panose="02000009000000000000" pitchFamily="49" charset="0"/>
                <a:cs typeface="JetBrains Mono Light" panose="02000009000000000000" pitchFamily="49" charset="0"/>
              </a:rPr>
              <a:t>:  </a:t>
            </a:r>
          </a:p>
          <a:p>
            <a:r>
              <a:rPr lang="en-US" dirty="0">
                <a:solidFill>
                  <a:srgbClr val="EBE9EB"/>
                </a:solidFill>
                <a:latin typeface="JetBrains Mono Light" panose="02000009000000000000" pitchFamily="49" charset="0"/>
                <a:cs typeface="JetBrains Mono Light" panose="02000009000000000000" pitchFamily="49" charset="0"/>
              </a:rPr>
              <a:t>   d(u) = min{d(v) +w(</a:t>
            </a:r>
            <a:r>
              <a:rPr lang="en-US" dirty="0" err="1">
                <a:solidFill>
                  <a:srgbClr val="EBE9EB"/>
                </a:solidFill>
                <a:latin typeface="JetBrains Mono Light" panose="02000009000000000000" pitchFamily="49" charset="0"/>
                <a:cs typeface="JetBrains Mono Light" panose="02000009000000000000" pitchFamily="49" charset="0"/>
              </a:rPr>
              <a:t>v,u</a:t>
            </a:r>
            <a:r>
              <a:rPr lang="en-US" dirty="0">
                <a:solidFill>
                  <a:srgbClr val="EBE9EB"/>
                </a:solidFill>
                <a:latin typeface="JetBrains Mono Light" panose="02000009000000000000" pitchFamily="49" charset="0"/>
                <a:cs typeface="JetBrains Mono Light" panose="02000009000000000000" pitchFamily="49" charset="0"/>
              </a:rPr>
              <a:t>), v </a:t>
            </a:r>
            <a:r>
              <a:rPr lang="en-US" dirty="0" err="1">
                <a:solidFill>
                  <a:srgbClr val="EBE9EB"/>
                </a:solidFill>
                <a:latin typeface="JetBrains Mono Light" panose="02000009000000000000" pitchFamily="49" charset="0"/>
                <a:cs typeface="JetBrains Mono Light" panose="02000009000000000000" pitchFamily="49" charset="0"/>
              </a:rPr>
              <a:t>thuộc</a:t>
            </a:r>
            <a:r>
              <a:rPr lang="en-US" dirty="0">
                <a:solidFill>
                  <a:srgbClr val="EBE9EB"/>
                </a:solidFill>
                <a:latin typeface="JetBrains Mono Light" panose="02000009000000000000" pitchFamily="49" charset="0"/>
                <a:cs typeface="JetBrains Mono Light" panose="02000009000000000000" pitchFamily="49" charset="0"/>
              </a:rPr>
              <a:t> X(u)} </a:t>
            </a:r>
          </a:p>
        </p:txBody>
      </p:sp>
      <p:sp>
        <p:nvSpPr>
          <p:cNvPr id="82" name="TextBox 81">
            <a:extLst>
              <a:ext uri="{FF2B5EF4-FFF2-40B4-BE49-F238E27FC236}">
                <a16:creationId xmlns:a16="http://schemas.microsoft.com/office/drawing/2014/main" id="{7AB5BC4F-7B0C-40AE-949E-92D25A80A1D1}"/>
              </a:ext>
            </a:extLst>
          </p:cNvPr>
          <p:cNvSpPr txBox="1"/>
          <p:nvPr/>
        </p:nvSpPr>
        <p:spPr>
          <a:xfrm>
            <a:off x="895294" y="4001294"/>
            <a:ext cx="6305551" cy="1200329"/>
          </a:xfrm>
          <a:prstGeom prst="rect">
            <a:avLst/>
          </a:prstGeom>
          <a:noFill/>
        </p:spPr>
        <p:txBody>
          <a:bodyPr wrap="square">
            <a:spAutoFit/>
          </a:bodyPr>
          <a:lstStyle/>
          <a:p>
            <a:r>
              <a:rPr lang="en-US" dirty="0" err="1">
                <a:solidFill>
                  <a:srgbClr val="EBE9EB"/>
                </a:solidFill>
                <a:latin typeface="JetBrains Mono Light" panose="02000009000000000000" pitchFamily="49" charset="0"/>
                <a:cs typeface="JetBrains Mono Light" panose="02000009000000000000" pitchFamily="49" charset="0"/>
              </a:rPr>
              <a:t>Những</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đỉnh</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đã</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tính</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được</a:t>
            </a:r>
            <a:r>
              <a:rPr lang="en-US" dirty="0">
                <a:solidFill>
                  <a:srgbClr val="EBE9EB"/>
                </a:solidFill>
                <a:latin typeface="JetBrains Mono Light" panose="02000009000000000000" pitchFamily="49" charset="0"/>
                <a:cs typeface="JetBrains Mono Light" panose="02000009000000000000" pitchFamily="49" charset="0"/>
              </a:rPr>
              <a:t> d(v)</a:t>
            </a:r>
            <a:r>
              <a:rPr lang="en-US" dirty="0" err="1">
                <a:solidFill>
                  <a:srgbClr val="EBE9EB"/>
                </a:solidFill>
                <a:latin typeface="JetBrains Mono Light" panose="02000009000000000000" pitchFamily="49" charset="0"/>
                <a:cs typeface="JetBrains Mono Light" panose="02000009000000000000" pitchFamily="49" charset="0"/>
              </a:rPr>
              <a:t>hữu</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hạn</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được</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cho</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vào</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một</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hàng</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đợi</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có</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ưu</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tiên</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Hàng</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đợi</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này</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luôn</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được</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bổ</a:t>
            </a:r>
            <a:r>
              <a:rPr lang="en-US" dirty="0">
                <a:solidFill>
                  <a:srgbClr val="EBE9EB"/>
                </a:solidFill>
                <a:latin typeface="JetBrains Mono Light" panose="02000009000000000000" pitchFamily="49" charset="0"/>
                <a:cs typeface="JetBrains Mono Light" panose="02000009000000000000" pitchFamily="49" charset="0"/>
              </a:rPr>
              <a:t> sung </a:t>
            </a:r>
            <a:r>
              <a:rPr lang="en-US" dirty="0" err="1">
                <a:solidFill>
                  <a:srgbClr val="EBE9EB"/>
                </a:solidFill>
                <a:latin typeface="JetBrains Mono Light" panose="02000009000000000000" pitchFamily="49" charset="0"/>
                <a:cs typeface="JetBrains Mono Light" panose="02000009000000000000" pitchFamily="49" charset="0"/>
              </a:rPr>
              <a:t>và</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sắp</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xếp</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lại</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nên</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một</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cấu</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trúc</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hợp</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lý</a:t>
            </a:r>
            <a:r>
              <a:rPr lang="en-US" dirty="0">
                <a:solidFill>
                  <a:srgbClr val="EBE9EB"/>
                </a:solidFill>
                <a:latin typeface="JetBrains Mono Light" panose="02000009000000000000" pitchFamily="49" charset="0"/>
                <a:cs typeface="JetBrains Mono Light" panose="02000009000000000000" pitchFamily="49" charset="0"/>
              </a:rPr>
              <a:t>.</a:t>
            </a:r>
          </a:p>
        </p:txBody>
      </p:sp>
      <p:sp>
        <p:nvSpPr>
          <p:cNvPr id="83" name="TextBox 82">
            <a:extLst>
              <a:ext uri="{FF2B5EF4-FFF2-40B4-BE49-F238E27FC236}">
                <a16:creationId xmlns:a16="http://schemas.microsoft.com/office/drawing/2014/main" id="{9DC68A5A-9B08-4612-B72E-D26B78B05457}"/>
              </a:ext>
            </a:extLst>
          </p:cNvPr>
          <p:cNvSpPr txBox="1"/>
          <p:nvPr/>
        </p:nvSpPr>
        <p:spPr>
          <a:xfrm>
            <a:off x="891832" y="5280823"/>
            <a:ext cx="6704722" cy="646331"/>
          </a:xfrm>
          <a:prstGeom prst="rect">
            <a:avLst/>
          </a:prstGeom>
          <a:noFill/>
        </p:spPr>
        <p:txBody>
          <a:bodyPr wrap="square">
            <a:spAutoFit/>
          </a:bodyPr>
          <a:lstStyle/>
          <a:p>
            <a:r>
              <a:rPr lang="en-US" dirty="0">
                <a:solidFill>
                  <a:srgbClr val="EBE9EB"/>
                </a:solidFill>
                <a:latin typeface="JetBrains Mono Regular" panose="02000009000000000000"/>
              </a:rPr>
              <a:t>w[</a:t>
            </a:r>
            <a:r>
              <a:rPr lang="en-US" dirty="0" err="1">
                <a:solidFill>
                  <a:srgbClr val="EBE9EB"/>
                </a:solidFill>
                <a:latin typeface="JetBrains Mono Regular" panose="02000009000000000000"/>
              </a:rPr>
              <a:t>v,u</a:t>
            </a:r>
            <a:r>
              <a:rPr lang="en-US" dirty="0">
                <a:solidFill>
                  <a:srgbClr val="EBE9EB"/>
                </a:solidFill>
                <a:latin typeface="JetBrains Mono Regular" panose="02000009000000000000"/>
              </a:rPr>
              <a:t>] </a:t>
            </a:r>
            <a:r>
              <a:rPr lang="en-US" dirty="0" err="1">
                <a:solidFill>
                  <a:srgbClr val="EBE9EB"/>
                </a:solidFill>
                <a:latin typeface="JetBrains Mono Regular" panose="02000009000000000000"/>
              </a:rPr>
              <a:t>là</a:t>
            </a:r>
            <a:r>
              <a:rPr lang="en-US" dirty="0">
                <a:solidFill>
                  <a:srgbClr val="EBE9EB"/>
                </a:solidFill>
                <a:latin typeface="JetBrains Mono Regular" panose="02000009000000000000"/>
              </a:rPr>
              <a:t> </a:t>
            </a:r>
            <a:r>
              <a:rPr lang="en-US" dirty="0" err="1">
                <a:solidFill>
                  <a:srgbClr val="EBE9EB"/>
                </a:solidFill>
                <a:latin typeface="JetBrains Mono Regular" panose="02000009000000000000"/>
              </a:rPr>
              <a:t>giá</a:t>
            </a:r>
            <a:r>
              <a:rPr lang="en-US" dirty="0">
                <a:solidFill>
                  <a:srgbClr val="EBE9EB"/>
                </a:solidFill>
                <a:latin typeface="JetBrains Mono Regular" panose="02000009000000000000"/>
              </a:rPr>
              <a:t> </a:t>
            </a:r>
            <a:r>
              <a:rPr lang="en-US" dirty="0" err="1">
                <a:solidFill>
                  <a:srgbClr val="EBE9EB"/>
                </a:solidFill>
                <a:latin typeface="JetBrains Mono Regular" panose="02000009000000000000"/>
              </a:rPr>
              <a:t>trị</a:t>
            </a:r>
            <a:r>
              <a:rPr lang="en-US" dirty="0">
                <a:solidFill>
                  <a:srgbClr val="EBE9EB"/>
                </a:solidFill>
                <a:latin typeface="JetBrains Mono Regular" panose="02000009000000000000"/>
              </a:rPr>
              <a:t> </a:t>
            </a:r>
            <a:r>
              <a:rPr lang="en-US" dirty="0" err="1">
                <a:solidFill>
                  <a:srgbClr val="EBE9EB"/>
                </a:solidFill>
                <a:latin typeface="JetBrains Mono Regular" panose="02000009000000000000"/>
              </a:rPr>
              <a:t>đường</a:t>
            </a:r>
            <a:r>
              <a:rPr lang="en-US" dirty="0">
                <a:solidFill>
                  <a:srgbClr val="EBE9EB"/>
                </a:solidFill>
                <a:latin typeface="JetBrains Mono Regular" panose="02000009000000000000"/>
              </a:rPr>
              <a:t> </a:t>
            </a:r>
            <a:r>
              <a:rPr lang="en-US" dirty="0" err="1">
                <a:solidFill>
                  <a:srgbClr val="EBE9EB"/>
                </a:solidFill>
                <a:latin typeface="JetBrains Mono Regular" panose="02000009000000000000"/>
              </a:rPr>
              <a:t>đi</a:t>
            </a:r>
            <a:r>
              <a:rPr lang="en-US" dirty="0">
                <a:solidFill>
                  <a:srgbClr val="EBE9EB"/>
                </a:solidFill>
                <a:latin typeface="JetBrains Mono Regular" panose="02000009000000000000"/>
              </a:rPr>
              <a:t> </a:t>
            </a:r>
            <a:r>
              <a:rPr lang="en-US" dirty="0" err="1">
                <a:solidFill>
                  <a:srgbClr val="EBE9EB"/>
                </a:solidFill>
                <a:latin typeface="JetBrains Mono Regular" panose="02000009000000000000"/>
              </a:rPr>
              <a:t>trực</a:t>
            </a:r>
            <a:r>
              <a:rPr lang="en-US" dirty="0">
                <a:solidFill>
                  <a:srgbClr val="EBE9EB"/>
                </a:solidFill>
                <a:latin typeface="JetBrains Mono Regular" panose="02000009000000000000"/>
              </a:rPr>
              <a:t> </a:t>
            </a:r>
            <a:r>
              <a:rPr lang="en-US" dirty="0" err="1">
                <a:solidFill>
                  <a:srgbClr val="EBE9EB"/>
                </a:solidFill>
                <a:latin typeface="JetBrains Mono Regular" panose="02000009000000000000"/>
              </a:rPr>
              <a:t>tiếp</a:t>
            </a:r>
            <a:r>
              <a:rPr lang="en-US" dirty="0">
                <a:solidFill>
                  <a:srgbClr val="EBE9EB"/>
                </a:solidFill>
                <a:latin typeface="JetBrains Mono Regular" panose="02000009000000000000"/>
              </a:rPr>
              <a:t> </a:t>
            </a:r>
            <a:r>
              <a:rPr lang="en-US" dirty="0" err="1">
                <a:solidFill>
                  <a:srgbClr val="EBE9EB"/>
                </a:solidFill>
                <a:latin typeface="JetBrains Mono Regular" panose="02000009000000000000"/>
              </a:rPr>
              <a:t>từ</a:t>
            </a:r>
            <a:r>
              <a:rPr lang="en-US" dirty="0">
                <a:solidFill>
                  <a:srgbClr val="EBE9EB"/>
                </a:solidFill>
                <a:latin typeface="JetBrains Mono Regular" panose="02000009000000000000"/>
              </a:rPr>
              <a:t> v -→ u. </a:t>
            </a:r>
          </a:p>
          <a:p>
            <a:r>
              <a:rPr lang="en-US" dirty="0">
                <a:solidFill>
                  <a:srgbClr val="EBE9EB"/>
                </a:solidFill>
                <a:latin typeface="JetBrains Mono Regular" panose="02000009000000000000"/>
              </a:rPr>
              <a:t>d(u)  </a:t>
            </a:r>
            <a:r>
              <a:rPr lang="en-US" dirty="0" err="1">
                <a:solidFill>
                  <a:srgbClr val="EBE9EB"/>
                </a:solidFill>
                <a:latin typeface="JetBrains Mono Regular" panose="02000009000000000000"/>
              </a:rPr>
              <a:t>giá</a:t>
            </a:r>
            <a:r>
              <a:rPr lang="en-US" dirty="0">
                <a:solidFill>
                  <a:srgbClr val="EBE9EB"/>
                </a:solidFill>
                <a:latin typeface="JetBrains Mono Regular" panose="02000009000000000000"/>
              </a:rPr>
              <a:t> </a:t>
            </a:r>
            <a:r>
              <a:rPr lang="en-US" dirty="0" err="1">
                <a:solidFill>
                  <a:srgbClr val="EBE9EB"/>
                </a:solidFill>
                <a:latin typeface="JetBrains Mono Regular" panose="02000009000000000000"/>
              </a:rPr>
              <a:t>trị</a:t>
            </a:r>
            <a:r>
              <a:rPr lang="en-US" dirty="0">
                <a:solidFill>
                  <a:srgbClr val="EBE9EB"/>
                </a:solidFill>
                <a:latin typeface="JetBrains Mono Regular" panose="02000009000000000000"/>
              </a:rPr>
              <a:t> </a:t>
            </a:r>
            <a:r>
              <a:rPr lang="en-US" dirty="0" err="1">
                <a:solidFill>
                  <a:srgbClr val="EBE9EB"/>
                </a:solidFill>
                <a:latin typeface="JetBrains Mono Regular" panose="02000009000000000000"/>
              </a:rPr>
              <a:t>đường</a:t>
            </a:r>
            <a:r>
              <a:rPr lang="en-US" dirty="0">
                <a:solidFill>
                  <a:srgbClr val="EBE9EB"/>
                </a:solidFill>
                <a:latin typeface="JetBrains Mono Regular" panose="02000009000000000000"/>
              </a:rPr>
              <a:t> </a:t>
            </a:r>
            <a:r>
              <a:rPr lang="en-US" dirty="0" err="1">
                <a:solidFill>
                  <a:srgbClr val="EBE9EB"/>
                </a:solidFill>
                <a:latin typeface="JetBrains Mono Regular" panose="02000009000000000000"/>
              </a:rPr>
              <a:t>đi</a:t>
            </a:r>
            <a:r>
              <a:rPr lang="en-US" dirty="0">
                <a:solidFill>
                  <a:srgbClr val="EBE9EB"/>
                </a:solidFill>
                <a:latin typeface="JetBrains Mono Regular" panose="02000009000000000000"/>
              </a:rPr>
              <a:t> </a:t>
            </a:r>
            <a:r>
              <a:rPr lang="en-US" dirty="0" err="1">
                <a:solidFill>
                  <a:srgbClr val="EBE9EB"/>
                </a:solidFill>
                <a:latin typeface="JetBrains Mono Regular" panose="02000009000000000000"/>
              </a:rPr>
              <a:t>ngắn</a:t>
            </a:r>
            <a:r>
              <a:rPr lang="en-US" dirty="0">
                <a:solidFill>
                  <a:srgbClr val="EBE9EB"/>
                </a:solidFill>
                <a:latin typeface="JetBrains Mono Regular" panose="02000009000000000000"/>
              </a:rPr>
              <a:t> </a:t>
            </a:r>
            <a:r>
              <a:rPr lang="en-US" dirty="0" err="1">
                <a:solidFill>
                  <a:srgbClr val="EBE9EB"/>
                </a:solidFill>
                <a:latin typeface="JetBrains Mono Regular" panose="02000009000000000000"/>
              </a:rPr>
              <a:t>nhất</a:t>
            </a:r>
            <a:endParaRPr lang="en-US" dirty="0">
              <a:solidFill>
                <a:srgbClr val="EBE9EB"/>
              </a:solidFill>
              <a:latin typeface="JetBrains Mono Regular" panose="02000009000000000000"/>
            </a:endParaRPr>
          </a:p>
        </p:txBody>
      </p:sp>
      <p:cxnSp>
        <p:nvCxnSpPr>
          <p:cNvPr id="44" name="Straight Connector 43">
            <a:extLst>
              <a:ext uri="{FF2B5EF4-FFF2-40B4-BE49-F238E27FC236}">
                <a16:creationId xmlns:a16="http://schemas.microsoft.com/office/drawing/2014/main" id="{428BEE8D-19AD-4F98-8981-F33B788973E0}"/>
              </a:ext>
            </a:extLst>
          </p:cNvPr>
          <p:cNvCxnSpPr>
            <a:cxnSpLocks/>
          </p:cNvCxnSpPr>
          <p:nvPr/>
        </p:nvCxnSpPr>
        <p:spPr>
          <a:xfrm>
            <a:off x="10243036" y="-90122"/>
            <a:ext cx="18018" cy="3010038"/>
          </a:xfrm>
          <a:prstGeom prst="line">
            <a:avLst/>
          </a:prstGeom>
          <a:ln>
            <a:solidFill>
              <a:schemeClr val="bg1">
                <a:lumMod val="50000"/>
              </a:schemeClr>
            </a:solidFill>
            <a:prstDash val="sysDot"/>
          </a:ln>
        </p:spPr>
        <p:style>
          <a:lnRef idx="2">
            <a:schemeClr val="dk1"/>
          </a:lnRef>
          <a:fillRef idx="0">
            <a:schemeClr val="dk1"/>
          </a:fillRef>
          <a:effectRef idx="1">
            <a:schemeClr val="dk1"/>
          </a:effectRef>
          <a:fontRef idx="minor">
            <a:schemeClr val="tx1"/>
          </a:fontRef>
        </p:style>
      </p:cxnSp>
      <p:cxnSp>
        <p:nvCxnSpPr>
          <p:cNvPr id="45" name="Straight Connector 44">
            <a:extLst>
              <a:ext uri="{FF2B5EF4-FFF2-40B4-BE49-F238E27FC236}">
                <a16:creationId xmlns:a16="http://schemas.microsoft.com/office/drawing/2014/main" id="{9C7FDAC7-FF5C-4A22-8505-5E9E5B0AAF08}"/>
              </a:ext>
            </a:extLst>
          </p:cNvPr>
          <p:cNvCxnSpPr/>
          <p:nvPr/>
        </p:nvCxnSpPr>
        <p:spPr>
          <a:xfrm>
            <a:off x="8676995" y="1517961"/>
            <a:ext cx="3983421" cy="0"/>
          </a:xfrm>
          <a:prstGeom prst="line">
            <a:avLst/>
          </a:prstGeom>
          <a:ln>
            <a:solidFill>
              <a:schemeClr val="bg1">
                <a:lumMod val="50000"/>
              </a:schemeClr>
            </a:solidFill>
            <a:prstDash val="sysDot"/>
          </a:ln>
        </p:spPr>
        <p:style>
          <a:lnRef idx="2">
            <a:schemeClr val="dk1"/>
          </a:lnRef>
          <a:fillRef idx="0">
            <a:schemeClr val="dk1"/>
          </a:fillRef>
          <a:effectRef idx="1">
            <a:schemeClr val="dk1"/>
          </a:effectRef>
          <a:fontRef idx="minor">
            <a:schemeClr val="tx1"/>
          </a:fontRef>
        </p:style>
      </p:cxnSp>
      <p:sp>
        <p:nvSpPr>
          <p:cNvPr id="46" name="TextBox 45">
            <a:extLst>
              <a:ext uri="{FF2B5EF4-FFF2-40B4-BE49-F238E27FC236}">
                <a16:creationId xmlns:a16="http://schemas.microsoft.com/office/drawing/2014/main" id="{BB87551B-DAA7-4DA4-88ED-2DF7E0F1951D}"/>
              </a:ext>
            </a:extLst>
          </p:cNvPr>
          <p:cNvSpPr txBox="1"/>
          <p:nvPr/>
        </p:nvSpPr>
        <p:spPr>
          <a:xfrm>
            <a:off x="8643093" y="2296559"/>
            <a:ext cx="992579" cy="323165"/>
          </a:xfrm>
          <a:prstGeom prst="rect">
            <a:avLst/>
          </a:prstGeom>
          <a:noFill/>
          <a:ln>
            <a:noFill/>
          </a:ln>
        </p:spPr>
        <p:txBody>
          <a:bodyPr wrap="non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(-3;-2)</a:t>
            </a:r>
          </a:p>
        </p:txBody>
      </p:sp>
      <p:sp>
        <p:nvSpPr>
          <p:cNvPr id="47" name="TextBox 46">
            <a:extLst>
              <a:ext uri="{FF2B5EF4-FFF2-40B4-BE49-F238E27FC236}">
                <a16:creationId xmlns:a16="http://schemas.microsoft.com/office/drawing/2014/main" id="{31F0CE91-A012-4AD6-806B-827AE9BCC07F}"/>
              </a:ext>
            </a:extLst>
          </p:cNvPr>
          <p:cNvSpPr txBox="1"/>
          <p:nvPr/>
        </p:nvSpPr>
        <p:spPr>
          <a:xfrm>
            <a:off x="8644466" y="353392"/>
            <a:ext cx="877163" cy="323165"/>
          </a:xfrm>
          <a:prstGeom prst="rect">
            <a:avLst/>
          </a:prstGeom>
          <a:noFill/>
          <a:ln>
            <a:noFill/>
          </a:ln>
        </p:spPr>
        <p:txBody>
          <a:bodyPr wrap="non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(-3;3)</a:t>
            </a:r>
          </a:p>
        </p:txBody>
      </p:sp>
      <p:sp>
        <p:nvSpPr>
          <p:cNvPr id="84" name="TextBox 83">
            <a:extLst>
              <a:ext uri="{FF2B5EF4-FFF2-40B4-BE49-F238E27FC236}">
                <a16:creationId xmlns:a16="http://schemas.microsoft.com/office/drawing/2014/main" id="{88B463E4-9A35-4F9A-B912-A58CEFE55F8E}"/>
              </a:ext>
            </a:extLst>
          </p:cNvPr>
          <p:cNvSpPr txBox="1"/>
          <p:nvPr/>
        </p:nvSpPr>
        <p:spPr>
          <a:xfrm>
            <a:off x="10378661" y="73494"/>
            <a:ext cx="873957" cy="323165"/>
          </a:xfrm>
          <a:prstGeom prst="rect">
            <a:avLst/>
          </a:prstGeom>
          <a:noFill/>
          <a:ln>
            <a:noFill/>
          </a:ln>
        </p:spPr>
        <p:txBody>
          <a:bodyPr wrap="squar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(1;4)</a:t>
            </a:r>
          </a:p>
        </p:txBody>
      </p:sp>
      <p:sp>
        <p:nvSpPr>
          <p:cNvPr id="85" name="TextBox 84">
            <a:extLst>
              <a:ext uri="{FF2B5EF4-FFF2-40B4-BE49-F238E27FC236}">
                <a16:creationId xmlns:a16="http://schemas.microsoft.com/office/drawing/2014/main" id="{4471AE5F-EF06-4ED3-8B7A-EFF12A0D0845}"/>
              </a:ext>
            </a:extLst>
          </p:cNvPr>
          <p:cNvSpPr txBox="1"/>
          <p:nvPr/>
        </p:nvSpPr>
        <p:spPr>
          <a:xfrm>
            <a:off x="11146084" y="923364"/>
            <a:ext cx="873957" cy="323165"/>
          </a:xfrm>
          <a:prstGeom prst="rect">
            <a:avLst/>
          </a:prstGeom>
          <a:noFill/>
          <a:ln>
            <a:noFill/>
          </a:ln>
        </p:spPr>
        <p:txBody>
          <a:bodyPr wrap="squar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(2;1)</a:t>
            </a:r>
          </a:p>
        </p:txBody>
      </p:sp>
      <p:cxnSp>
        <p:nvCxnSpPr>
          <p:cNvPr id="86" name="Straight Connector 85">
            <a:extLst>
              <a:ext uri="{FF2B5EF4-FFF2-40B4-BE49-F238E27FC236}">
                <a16:creationId xmlns:a16="http://schemas.microsoft.com/office/drawing/2014/main" id="{026567CC-A95E-46DD-AD07-309DAD242730}"/>
              </a:ext>
            </a:extLst>
          </p:cNvPr>
          <p:cNvCxnSpPr>
            <a:cxnSpLocks/>
          </p:cNvCxnSpPr>
          <p:nvPr/>
        </p:nvCxnSpPr>
        <p:spPr>
          <a:xfrm>
            <a:off x="10647265" y="621251"/>
            <a:ext cx="330242" cy="56009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39DDBD3-5F03-43BE-A8FC-44998D1BB160}"/>
              </a:ext>
            </a:extLst>
          </p:cNvPr>
          <p:cNvCxnSpPr>
            <a:cxnSpLocks/>
          </p:cNvCxnSpPr>
          <p:nvPr/>
        </p:nvCxnSpPr>
        <p:spPr>
          <a:xfrm flipV="1">
            <a:off x="9101650" y="619442"/>
            <a:ext cx="1584723" cy="28185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1BE7A8A5-E62A-4C14-B510-C132D6688B7D}"/>
              </a:ext>
            </a:extLst>
          </p:cNvPr>
          <p:cNvCxnSpPr>
            <a:cxnSpLocks/>
          </p:cNvCxnSpPr>
          <p:nvPr/>
        </p:nvCxnSpPr>
        <p:spPr>
          <a:xfrm flipH="1">
            <a:off x="9100671" y="882821"/>
            <a:ext cx="979" cy="11952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B54B97AC-8CFA-4480-AD41-C60267AF18EC}"/>
              </a:ext>
            </a:extLst>
          </p:cNvPr>
          <p:cNvCxnSpPr>
            <a:cxnSpLocks/>
          </p:cNvCxnSpPr>
          <p:nvPr/>
        </p:nvCxnSpPr>
        <p:spPr>
          <a:xfrm>
            <a:off x="10965688" y="1155978"/>
            <a:ext cx="28838" cy="12914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6BE3BFFC-70D0-48FC-B754-1C5DD29B9FA5}"/>
              </a:ext>
            </a:extLst>
          </p:cNvPr>
          <p:cNvCxnSpPr>
            <a:cxnSpLocks/>
          </p:cNvCxnSpPr>
          <p:nvPr/>
        </p:nvCxnSpPr>
        <p:spPr>
          <a:xfrm>
            <a:off x="9100671" y="2078059"/>
            <a:ext cx="1893855" cy="3693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C99C098E-97B1-4347-B7EE-9B4FC91E70AC}"/>
              </a:ext>
            </a:extLst>
          </p:cNvPr>
          <p:cNvCxnSpPr>
            <a:cxnSpLocks/>
          </p:cNvCxnSpPr>
          <p:nvPr/>
        </p:nvCxnSpPr>
        <p:spPr>
          <a:xfrm>
            <a:off x="9131100" y="937394"/>
            <a:ext cx="1817519" cy="145024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98A082AA-0C7E-4D10-AAF8-71FEB85F3A92}"/>
              </a:ext>
            </a:extLst>
          </p:cNvPr>
          <p:cNvCxnSpPr>
            <a:cxnSpLocks/>
          </p:cNvCxnSpPr>
          <p:nvPr/>
        </p:nvCxnSpPr>
        <p:spPr>
          <a:xfrm flipV="1">
            <a:off x="9096829" y="587253"/>
            <a:ext cx="1589544" cy="149080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B00F1011-E2C1-4B2A-B515-FE723440977C}"/>
              </a:ext>
            </a:extLst>
          </p:cNvPr>
          <p:cNvCxnSpPr>
            <a:cxnSpLocks/>
          </p:cNvCxnSpPr>
          <p:nvPr/>
        </p:nvCxnSpPr>
        <p:spPr>
          <a:xfrm flipV="1">
            <a:off x="9131691" y="1204736"/>
            <a:ext cx="1896268" cy="8486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18269AB1-8BB6-4C1D-BE3A-EE399F27F84E}"/>
              </a:ext>
            </a:extLst>
          </p:cNvPr>
          <p:cNvCxnSpPr>
            <a:cxnSpLocks/>
          </p:cNvCxnSpPr>
          <p:nvPr/>
        </p:nvCxnSpPr>
        <p:spPr>
          <a:xfrm flipH="1" flipV="1">
            <a:off x="10657153" y="607815"/>
            <a:ext cx="337373" cy="180972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D76877B-DB5B-4AAF-B2AE-6B7673CF7845}"/>
              </a:ext>
            </a:extLst>
          </p:cNvPr>
          <p:cNvCxnSpPr>
            <a:cxnSpLocks/>
          </p:cNvCxnSpPr>
          <p:nvPr/>
        </p:nvCxnSpPr>
        <p:spPr>
          <a:xfrm>
            <a:off x="9154794" y="880279"/>
            <a:ext cx="1869182" cy="35429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BDB72F49-201C-454B-964C-E907412500D6}"/>
              </a:ext>
            </a:extLst>
          </p:cNvPr>
          <p:cNvSpPr txBox="1"/>
          <p:nvPr/>
        </p:nvSpPr>
        <p:spPr>
          <a:xfrm>
            <a:off x="10099792" y="1317066"/>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O</a:t>
            </a:r>
          </a:p>
        </p:txBody>
      </p:sp>
      <p:sp>
        <p:nvSpPr>
          <p:cNvPr id="97" name="TextBox 96">
            <a:extLst>
              <a:ext uri="{FF2B5EF4-FFF2-40B4-BE49-F238E27FC236}">
                <a16:creationId xmlns:a16="http://schemas.microsoft.com/office/drawing/2014/main" id="{114F5BA9-B99C-4681-98E3-CC2B047BDD54}"/>
              </a:ext>
            </a:extLst>
          </p:cNvPr>
          <p:cNvSpPr txBox="1"/>
          <p:nvPr/>
        </p:nvSpPr>
        <p:spPr>
          <a:xfrm>
            <a:off x="8953647" y="1893393"/>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A</a:t>
            </a:r>
          </a:p>
        </p:txBody>
      </p:sp>
      <p:sp>
        <p:nvSpPr>
          <p:cNvPr id="98" name="TextBox 97">
            <a:extLst>
              <a:ext uri="{FF2B5EF4-FFF2-40B4-BE49-F238E27FC236}">
                <a16:creationId xmlns:a16="http://schemas.microsoft.com/office/drawing/2014/main" id="{8D9DD6DD-5673-4082-8C39-F5B8D98AD50F}"/>
              </a:ext>
            </a:extLst>
          </p:cNvPr>
          <p:cNvSpPr txBox="1"/>
          <p:nvPr/>
        </p:nvSpPr>
        <p:spPr>
          <a:xfrm>
            <a:off x="8949639" y="698155"/>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B</a:t>
            </a:r>
          </a:p>
        </p:txBody>
      </p:sp>
      <p:sp>
        <p:nvSpPr>
          <p:cNvPr id="99" name="TextBox 98">
            <a:extLst>
              <a:ext uri="{FF2B5EF4-FFF2-40B4-BE49-F238E27FC236}">
                <a16:creationId xmlns:a16="http://schemas.microsoft.com/office/drawing/2014/main" id="{12296514-F2C0-4BB7-BD51-7805590AF034}"/>
              </a:ext>
            </a:extLst>
          </p:cNvPr>
          <p:cNvSpPr txBox="1"/>
          <p:nvPr/>
        </p:nvSpPr>
        <p:spPr>
          <a:xfrm>
            <a:off x="10507443" y="403866"/>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C</a:t>
            </a:r>
          </a:p>
        </p:txBody>
      </p:sp>
      <p:sp>
        <p:nvSpPr>
          <p:cNvPr id="100" name="TextBox 99">
            <a:extLst>
              <a:ext uri="{FF2B5EF4-FFF2-40B4-BE49-F238E27FC236}">
                <a16:creationId xmlns:a16="http://schemas.microsoft.com/office/drawing/2014/main" id="{90AB7E8E-7A27-4CBF-9D4E-EC630DE78EFD}"/>
              </a:ext>
            </a:extLst>
          </p:cNvPr>
          <p:cNvSpPr txBox="1"/>
          <p:nvPr/>
        </p:nvSpPr>
        <p:spPr>
          <a:xfrm rot="10800000" flipH="1" flipV="1">
            <a:off x="10802081" y="2242267"/>
            <a:ext cx="410658"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E</a:t>
            </a:r>
          </a:p>
        </p:txBody>
      </p:sp>
      <p:sp>
        <p:nvSpPr>
          <p:cNvPr id="101" name="TextBox 100">
            <a:extLst>
              <a:ext uri="{FF2B5EF4-FFF2-40B4-BE49-F238E27FC236}">
                <a16:creationId xmlns:a16="http://schemas.microsoft.com/office/drawing/2014/main" id="{347293F8-ADFB-4DD3-A952-5CBCFEB0C50C}"/>
              </a:ext>
            </a:extLst>
          </p:cNvPr>
          <p:cNvSpPr txBox="1"/>
          <p:nvPr/>
        </p:nvSpPr>
        <p:spPr>
          <a:xfrm>
            <a:off x="10846148" y="996682"/>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D</a:t>
            </a:r>
          </a:p>
        </p:txBody>
      </p:sp>
      <p:sp>
        <p:nvSpPr>
          <p:cNvPr id="102" name="TextBox 101">
            <a:extLst>
              <a:ext uri="{FF2B5EF4-FFF2-40B4-BE49-F238E27FC236}">
                <a16:creationId xmlns:a16="http://schemas.microsoft.com/office/drawing/2014/main" id="{9E53FAA0-5EA8-4E70-A7B5-781F9016F384}"/>
              </a:ext>
            </a:extLst>
          </p:cNvPr>
          <p:cNvSpPr txBox="1"/>
          <p:nvPr/>
        </p:nvSpPr>
        <p:spPr>
          <a:xfrm>
            <a:off x="11156741" y="2372404"/>
            <a:ext cx="1052328" cy="323165"/>
          </a:xfrm>
          <a:prstGeom prst="rect">
            <a:avLst/>
          </a:prstGeom>
          <a:noFill/>
        </p:spPr>
        <p:txBody>
          <a:bodyPr wrap="squar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(2;-4)</a:t>
            </a:r>
            <a:endParaRPr lang="en-US" sz="15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103" name="Rectangle 102">
            <a:extLst>
              <a:ext uri="{FF2B5EF4-FFF2-40B4-BE49-F238E27FC236}">
                <a16:creationId xmlns:a16="http://schemas.microsoft.com/office/drawing/2014/main" id="{A45DC36C-A76F-4F35-B5F1-DDDFF73967FC}"/>
              </a:ext>
            </a:extLst>
          </p:cNvPr>
          <p:cNvSpPr/>
          <p:nvPr/>
        </p:nvSpPr>
        <p:spPr>
          <a:xfrm rot="685076">
            <a:off x="9790695" y="2313680"/>
            <a:ext cx="816142" cy="292388"/>
          </a:xfrm>
          <a:prstGeom prst="rect">
            <a:avLst/>
          </a:prstGeom>
          <a:solidFill>
            <a:schemeClr val="tx1"/>
          </a:solidFill>
        </p:spPr>
        <p:txBody>
          <a:bodyPr wrap="square">
            <a:spAutoFit/>
          </a:bodyPr>
          <a:lstStyle/>
          <a:p>
            <a:r>
              <a:rPr lang="en-VN" sz="1300" dirty="0">
                <a:solidFill>
                  <a:schemeClr val="bg1">
                    <a:lumMod val="85000"/>
                  </a:schemeClr>
                </a:solidFill>
                <a:latin typeface="JetBrains Mono Light" panose="02000009000000000000" pitchFamily="49" charset="0"/>
                <a:cs typeface="JetBrains Mono Light" panose="02000009000000000000" pitchFamily="49" charset="0"/>
              </a:rPr>
              <a:t>5</a:t>
            </a:r>
            <a:r>
              <a:rPr lang="en-US" sz="1300" dirty="0">
                <a:solidFill>
                  <a:schemeClr val="bg1">
                    <a:lumMod val="85000"/>
                  </a:schemeClr>
                </a:solidFill>
                <a:latin typeface="JetBrains Mono Light" panose="02000009000000000000" pitchFamily="49" charset="0"/>
                <a:cs typeface="JetBrains Mono Light" panose="02000009000000000000" pitchFamily="49" charset="0"/>
              </a:rPr>
              <a:t>.</a:t>
            </a:r>
            <a:r>
              <a:rPr lang="en-VN" sz="1300" dirty="0">
                <a:solidFill>
                  <a:schemeClr val="bg1">
                    <a:lumMod val="85000"/>
                  </a:schemeClr>
                </a:solidFill>
                <a:latin typeface="JetBrains Mono Light" panose="02000009000000000000" pitchFamily="49" charset="0"/>
                <a:cs typeface="JetBrains Mono Light" panose="02000009000000000000" pitchFamily="49" charset="0"/>
              </a:rPr>
              <a:t>385</a:t>
            </a:r>
          </a:p>
        </p:txBody>
      </p:sp>
      <p:sp>
        <p:nvSpPr>
          <p:cNvPr id="104" name="Rectangle 103">
            <a:extLst>
              <a:ext uri="{FF2B5EF4-FFF2-40B4-BE49-F238E27FC236}">
                <a16:creationId xmlns:a16="http://schemas.microsoft.com/office/drawing/2014/main" id="{9837BE03-C049-4FEF-A6B4-19CBCB914A20}"/>
              </a:ext>
            </a:extLst>
          </p:cNvPr>
          <p:cNvSpPr/>
          <p:nvPr/>
        </p:nvSpPr>
        <p:spPr>
          <a:xfrm>
            <a:off x="7260254" y="286303"/>
            <a:ext cx="1435386" cy="261610"/>
          </a:xfrm>
          <a:prstGeom prst="rect">
            <a:avLst/>
          </a:prstGeom>
          <a:solidFill>
            <a:schemeClr val="tx1"/>
          </a:solidFill>
        </p:spPr>
        <p:txBody>
          <a:bodyPr wrap="square">
            <a:spAutoFit/>
          </a:bodyPr>
          <a:lstStyle/>
          <a:p>
            <a:r>
              <a:rPr lang="en-US" sz="1100" dirty="0">
                <a:solidFill>
                  <a:schemeClr val="bg1">
                    <a:lumMod val="50000"/>
                  </a:schemeClr>
                </a:solidFill>
                <a:latin typeface="JetBrains Mono Light" panose="02000009000000000000" pitchFamily="49" charset="0"/>
                <a:cs typeface="JetBrains Mono Light" panose="02000009000000000000" pitchFamily="49" charset="0"/>
              </a:rPr>
              <a:t>*not to scale</a:t>
            </a:r>
            <a:endParaRPr lang="en-VN" sz="11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105" name="Rectangle 104">
            <a:extLst>
              <a:ext uri="{FF2B5EF4-FFF2-40B4-BE49-F238E27FC236}">
                <a16:creationId xmlns:a16="http://schemas.microsoft.com/office/drawing/2014/main" id="{2EC2D2B5-6D72-4691-98A1-A2A1BD0CE6F8}"/>
              </a:ext>
            </a:extLst>
          </p:cNvPr>
          <p:cNvSpPr/>
          <p:nvPr/>
        </p:nvSpPr>
        <p:spPr>
          <a:xfrm>
            <a:off x="11002331" y="1664460"/>
            <a:ext cx="166341" cy="292388"/>
          </a:xfrm>
          <a:prstGeom prst="rect">
            <a:avLst/>
          </a:prstGeom>
          <a:solidFill>
            <a:schemeClr val="tx1"/>
          </a:solidFill>
        </p:spPr>
        <p:txBody>
          <a:bodyPr wrap="square">
            <a:spAutoFit/>
          </a:bodyPr>
          <a:lstStyle/>
          <a:p>
            <a:pPr algn="ctr"/>
            <a:r>
              <a:rPr lang="en-VN" sz="1300" dirty="0">
                <a:solidFill>
                  <a:schemeClr val="bg1">
                    <a:lumMod val="85000"/>
                  </a:schemeClr>
                </a:solidFill>
                <a:latin typeface="JetBrains Mono Light" panose="02000009000000000000" pitchFamily="49" charset="0"/>
                <a:cs typeface="JetBrains Mono Light" panose="02000009000000000000" pitchFamily="49" charset="0"/>
              </a:rPr>
              <a:t>5</a:t>
            </a:r>
          </a:p>
        </p:txBody>
      </p:sp>
      <p:sp>
        <p:nvSpPr>
          <p:cNvPr id="106" name="Rectangle 105">
            <a:extLst>
              <a:ext uri="{FF2B5EF4-FFF2-40B4-BE49-F238E27FC236}">
                <a16:creationId xmlns:a16="http://schemas.microsoft.com/office/drawing/2014/main" id="{7AFAF702-0F48-4F7F-B113-E54DB39ED0C7}"/>
              </a:ext>
            </a:extLst>
          </p:cNvPr>
          <p:cNvSpPr/>
          <p:nvPr/>
        </p:nvSpPr>
        <p:spPr>
          <a:xfrm>
            <a:off x="8930488" y="1383416"/>
            <a:ext cx="166341" cy="292388"/>
          </a:xfrm>
          <a:prstGeom prst="rect">
            <a:avLst/>
          </a:prstGeom>
          <a:solidFill>
            <a:schemeClr val="tx1"/>
          </a:solidFill>
        </p:spPr>
        <p:txBody>
          <a:bodyPr wrap="square">
            <a:spAutoFit/>
          </a:bodyPr>
          <a:lstStyle/>
          <a:p>
            <a:pPr algn="ctr"/>
            <a:r>
              <a:rPr lang="en-VN" sz="1300" dirty="0">
                <a:solidFill>
                  <a:schemeClr val="bg1">
                    <a:lumMod val="85000"/>
                  </a:schemeClr>
                </a:solidFill>
                <a:latin typeface="JetBrains Mono Light" panose="02000009000000000000" pitchFamily="49" charset="0"/>
                <a:cs typeface="JetBrains Mono Light" panose="02000009000000000000" pitchFamily="49" charset="0"/>
              </a:rPr>
              <a:t>5</a:t>
            </a:r>
          </a:p>
        </p:txBody>
      </p:sp>
      <p:sp>
        <p:nvSpPr>
          <p:cNvPr id="107" name="Rectangle 106">
            <a:extLst>
              <a:ext uri="{FF2B5EF4-FFF2-40B4-BE49-F238E27FC236}">
                <a16:creationId xmlns:a16="http://schemas.microsoft.com/office/drawing/2014/main" id="{66A0B483-9B67-4B20-B02D-B00DF5545B99}"/>
              </a:ext>
            </a:extLst>
          </p:cNvPr>
          <p:cNvSpPr/>
          <p:nvPr/>
        </p:nvSpPr>
        <p:spPr>
          <a:xfrm rot="20979246">
            <a:off x="9497444" y="475985"/>
            <a:ext cx="682143" cy="292388"/>
          </a:xfrm>
          <a:prstGeom prst="rect">
            <a:avLst/>
          </a:prstGeom>
          <a:solidFill>
            <a:schemeClr val="tx1"/>
          </a:solidFill>
        </p:spPr>
        <p:txBody>
          <a:bodyPr wrap="square">
            <a:spAutoFit/>
          </a:bodyPr>
          <a:lstStyle/>
          <a:p>
            <a:r>
              <a:rPr lang="en-US" sz="1300" dirty="0">
                <a:solidFill>
                  <a:schemeClr val="bg1">
                    <a:lumMod val="85000"/>
                  </a:schemeClr>
                </a:solidFill>
                <a:latin typeface="JetBrains Mono Light" panose="02000009000000000000" pitchFamily="49" charset="0"/>
                <a:cs typeface="JetBrains Mono Light" panose="02000009000000000000" pitchFamily="49" charset="0"/>
              </a:rPr>
              <a:t>4.123</a:t>
            </a:r>
            <a:endParaRPr lang="en-VN" sz="1300" dirty="0">
              <a:solidFill>
                <a:schemeClr val="bg1">
                  <a:lumMod val="85000"/>
                </a:schemeClr>
              </a:solidFill>
              <a:latin typeface="JetBrains Mono Light" panose="02000009000000000000" pitchFamily="49" charset="0"/>
              <a:cs typeface="JetBrains Mono Light" panose="02000009000000000000" pitchFamily="49" charset="0"/>
            </a:endParaRPr>
          </a:p>
        </p:txBody>
      </p:sp>
      <p:sp>
        <p:nvSpPr>
          <p:cNvPr id="108" name="Rectangle 107">
            <a:extLst>
              <a:ext uri="{FF2B5EF4-FFF2-40B4-BE49-F238E27FC236}">
                <a16:creationId xmlns:a16="http://schemas.microsoft.com/office/drawing/2014/main" id="{173079B8-11D2-41D0-A4E5-3BB8394FDC67}"/>
              </a:ext>
            </a:extLst>
          </p:cNvPr>
          <p:cNvSpPr/>
          <p:nvPr/>
        </p:nvSpPr>
        <p:spPr>
          <a:xfrm rot="20151879">
            <a:off x="10865855" y="548248"/>
            <a:ext cx="813884" cy="292388"/>
          </a:xfrm>
          <a:prstGeom prst="rect">
            <a:avLst/>
          </a:prstGeom>
          <a:noFill/>
        </p:spPr>
        <p:txBody>
          <a:bodyPr wrap="square">
            <a:spAutoFit/>
          </a:bodyPr>
          <a:lstStyle/>
          <a:p>
            <a:r>
              <a:rPr lang="en-US" sz="1300" dirty="0">
                <a:solidFill>
                  <a:schemeClr val="bg1">
                    <a:lumMod val="85000"/>
                  </a:schemeClr>
                </a:solidFill>
                <a:latin typeface="JetBrains Mono Light" panose="02000009000000000000" pitchFamily="49" charset="0"/>
                <a:cs typeface="JetBrains Mono Light" panose="02000009000000000000" pitchFamily="49" charset="0"/>
              </a:rPr>
              <a:t>3.1623</a:t>
            </a:r>
            <a:endParaRPr lang="en-VN" sz="1300" dirty="0">
              <a:solidFill>
                <a:schemeClr val="bg1">
                  <a:lumMod val="85000"/>
                </a:schemeClr>
              </a:solidFill>
              <a:latin typeface="JetBrains Mono Light" panose="02000009000000000000" pitchFamily="49" charset="0"/>
              <a:cs typeface="JetBrains Mono Light" panose="02000009000000000000" pitchFamily="49" charset="0"/>
            </a:endParaRPr>
          </a:p>
        </p:txBody>
      </p:sp>
    </p:spTree>
    <p:extLst>
      <p:ext uri="{BB962C8B-B14F-4D97-AF65-F5344CB8AC3E}">
        <p14:creationId xmlns:p14="http://schemas.microsoft.com/office/powerpoint/2010/main" val="32339902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1"/>
                                        </p:tgtEl>
                                        <p:attrNameLst>
                                          <p:attrName>style.visibility</p:attrName>
                                        </p:attrNameLst>
                                      </p:cBhvr>
                                      <p:to>
                                        <p:strVal val="visible"/>
                                      </p:to>
                                    </p:set>
                                    <p:animEffect transition="in" filter="fade">
                                      <p:cBhvr>
                                        <p:cTn id="12" dur="500"/>
                                        <p:tgtEl>
                                          <p:spTgt spid="8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2"/>
                                        </p:tgtEl>
                                        <p:attrNameLst>
                                          <p:attrName>style.visibility</p:attrName>
                                        </p:attrNameLst>
                                      </p:cBhvr>
                                      <p:to>
                                        <p:strVal val="visible"/>
                                      </p:to>
                                    </p:set>
                                    <p:animEffect transition="in" filter="fade">
                                      <p:cBhvr>
                                        <p:cTn id="17" dur="500"/>
                                        <p:tgtEl>
                                          <p:spTgt spid="8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3"/>
                                        </p:tgtEl>
                                        <p:attrNameLst>
                                          <p:attrName>style.visibility</p:attrName>
                                        </p:attrNameLst>
                                      </p:cBhvr>
                                      <p:to>
                                        <p:strVal val="visible"/>
                                      </p:to>
                                    </p:set>
                                    <p:animEffect transition="in" filter="fade">
                                      <p:cBhvr>
                                        <p:cTn id="22"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81" grpId="0"/>
      <p:bldP spid="82" grpId="0"/>
      <p:bldP spid="8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81CF6-D1D6-4910-9D79-CE9DC94EF28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D145A2-05F5-46FF-8D9D-2EF39E75DF55}"/>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5213A13F-45A9-48D3-A4E0-DC1B2487618E}"/>
              </a:ext>
            </a:extLst>
          </p:cNvPr>
          <p:cNvSpPr/>
          <p:nvPr/>
        </p:nvSpPr>
        <p:spPr>
          <a:xfrm>
            <a:off x="0" y="-2824"/>
            <a:ext cx="12192000" cy="68608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5" name="Credit MAIN">
            <a:extLst>
              <a:ext uri="{FF2B5EF4-FFF2-40B4-BE49-F238E27FC236}">
                <a16:creationId xmlns:a16="http://schemas.microsoft.com/office/drawing/2014/main" id="{4D4F9CB9-B3CA-4BD4-927B-B3C1FB4D2840}"/>
              </a:ext>
            </a:extLst>
          </p:cNvPr>
          <p:cNvSpPr txBox="1"/>
          <p:nvPr/>
        </p:nvSpPr>
        <p:spPr>
          <a:xfrm>
            <a:off x="50878" y="6432004"/>
            <a:ext cx="2668876"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Phạm</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Văn</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Quyết</a:t>
            </a:r>
            <a:endParaRPr lang="en-US" dirty="0">
              <a:solidFill>
                <a:schemeClr val="bg1">
                  <a:lumMod val="95000"/>
                  <a:alpha val="46000"/>
                </a:schemeClr>
              </a:solidFill>
            </a:endParaRPr>
          </a:p>
        </p:txBody>
      </p:sp>
      <p:sp>
        <p:nvSpPr>
          <p:cNvPr id="6" name="Header">
            <a:extLst>
              <a:ext uri="{FF2B5EF4-FFF2-40B4-BE49-F238E27FC236}">
                <a16:creationId xmlns:a16="http://schemas.microsoft.com/office/drawing/2014/main" id="{3776EBF9-6A6F-431D-86D1-7CC570EDC834}"/>
              </a:ext>
            </a:extLst>
          </p:cNvPr>
          <p:cNvSpPr txBox="1"/>
          <p:nvPr/>
        </p:nvSpPr>
        <p:spPr>
          <a:xfrm>
            <a:off x="50878" y="79574"/>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48" name="Rectangle 47">
            <a:extLst>
              <a:ext uri="{FF2B5EF4-FFF2-40B4-BE49-F238E27FC236}">
                <a16:creationId xmlns:a16="http://schemas.microsoft.com/office/drawing/2014/main" id="{A7EACE16-6DC1-45E3-976C-B764A3E61BD6}"/>
              </a:ext>
            </a:extLst>
          </p:cNvPr>
          <p:cNvSpPr/>
          <p:nvPr/>
        </p:nvSpPr>
        <p:spPr>
          <a:xfrm>
            <a:off x="591458" y="603227"/>
            <a:ext cx="3650464"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FE50C8B9-8791-4D38-8DAF-A84E4A03529C}"/>
              </a:ext>
            </a:extLst>
          </p:cNvPr>
          <p:cNvSpPr txBox="1"/>
          <p:nvPr/>
        </p:nvSpPr>
        <p:spPr>
          <a:xfrm>
            <a:off x="603363" y="602701"/>
            <a:ext cx="3638559" cy="369332"/>
          </a:xfrm>
          <a:prstGeom prst="rect">
            <a:avLst/>
          </a:prstGeom>
          <a:no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Bài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toán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Người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bán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hàng</a:t>
            </a:r>
            <a:r>
              <a:rPr lang="en-US" dirty="0">
                <a:latin typeface="JetBrains Mono Regular" panose="02000009000000000000" pitchFamily="49" charset="0"/>
                <a:cs typeface="JetBrains Mono Regular" panose="02000009000000000000" pitchFamily="49" charset="0"/>
              </a:rPr>
              <a:t>”</a:t>
            </a:r>
          </a:p>
        </p:txBody>
      </p:sp>
      <p:sp>
        <p:nvSpPr>
          <p:cNvPr id="50" name="TextBox 49">
            <a:extLst>
              <a:ext uri="{FF2B5EF4-FFF2-40B4-BE49-F238E27FC236}">
                <a16:creationId xmlns:a16="http://schemas.microsoft.com/office/drawing/2014/main" id="{477D174C-F275-4DED-B6C1-24D7D17B962A}"/>
              </a:ext>
            </a:extLst>
          </p:cNvPr>
          <p:cNvSpPr txBox="1"/>
          <p:nvPr/>
        </p:nvSpPr>
        <p:spPr>
          <a:xfrm>
            <a:off x="944147" y="1080234"/>
            <a:ext cx="1775608"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Phương</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pháp</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51" name="TextBox 50">
            <a:extLst>
              <a:ext uri="{FF2B5EF4-FFF2-40B4-BE49-F238E27FC236}">
                <a16:creationId xmlns:a16="http://schemas.microsoft.com/office/drawing/2014/main" id="{964FCCE6-08A0-46FF-A1C9-EB77129134EA}"/>
              </a:ext>
            </a:extLst>
          </p:cNvPr>
          <p:cNvSpPr txBox="1"/>
          <p:nvPr/>
        </p:nvSpPr>
        <p:spPr>
          <a:xfrm>
            <a:off x="2664872" y="1092325"/>
            <a:ext cx="3305415" cy="369332"/>
          </a:xfrm>
          <a:prstGeom prst="rect">
            <a:avLst/>
          </a:prstGeom>
          <a:noFill/>
        </p:spPr>
        <p:txBody>
          <a:bodyPr wrap="square" rtlCol="0">
            <a:spAutoFit/>
          </a:bodyPr>
          <a:lstStyle/>
          <a:p>
            <a:pPr marL="285750" indent="-285750">
              <a:buFont typeface="Arial" panose="020B0604020202020204" pitchFamily="34" charset="0"/>
              <a:buChar char="•"/>
            </a:pP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Thuật</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toán</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Dijkstra</a:t>
            </a:r>
            <a:endParaRPr lang="en-US" i="1" dirty="0">
              <a:latin typeface="JetBrains Mono ExtraLight" panose="02000009000000000000" pitchFamily="49" charset="0"/>
              <a:cs typeface="JetBrains Mono ExtraLight" panose="02000009000000000000" pitchFamily="49" charset="0"/>
            </a:endParaRPr>
          </a:p>
        </p:txBody>
      </p:sp>
      <p:sp>
        <p:nvSpPr>
          <p:cNvPr id="52" name="Footer: Part">
            <a:extLst>
              <a:ext uri="{FF2B5EF4-FFF2-40B4-BE49-F238E27FC236}">
                <a16:creationId xmlns:a16="http://schemas.microsoft.com/office/drawing/2014/main" id="{63181CA9-7A3C-41F7-80E5-1D00C15A3D9C}"/>
              </a:ext>
            </a:extLst>
          </p:cNvPr>
          <p:cNvSpPr txBox="1"/>
          <p:nvPr/>
        </p:nvSpPr>
        <p:spPr>
          <a:xfrm>
            <a:off x="8487508" y="6464494"/>
            <a:ext cx="3733195" cy="369332"/>
          </a:xfrm>
          <a:prstGeom prst="rect">
            <a:avLst/>
          </a:prstGeom>
          <a:noFill/>
        </p:spPr>
        <p:txBody>
          <a:bodyPr wrap="square" rtlCol="0">
            <a:spAutoFit/>
          </a:bodyPr>
          <a:lstStyle/>
          <a:p>
            <a:r>
              <a:rPr lang="en-US" dirty="0" err="1">
                <a:solidFill>
                  <a:schemeClr val="bg1">
                    <a:lumMod val="95000"/>
                  </a:schemeClr>
                </a:solidFill>
                <a:latin typeface="JetBrains Mono Regular" panose="02000009000000000000" pitchFamily="49" charset="0"/>
                <a:cs typeface="JetBrains Mono Regular" panose="02000009000000000000" pitchFamily="49" charset="0"/>
              </a:rPr>
              <a:t>Bài</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toán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a:solidFill>
                  <a:schemeClr val="bg1">
                    <a:lumMod val="95000"/>
                  </a:schemeClr>
                </a:solidFill>
                <a:latin typeface="JetBrains Mono Light" panose="02000009000000000000" pitchFamily="49" charset="0"/>
                <a:cs typeface="JetBrains Mono Light" panose="02000009000000000000" pitchFamily="49" charset="0"/>
              </a:rPr>
              <a:t>“</a:t>
            </a:r>
            <a:r>
              <a:rPr lang="en-US" dirty="0" err="1">
                <a:solidFill>
                  <a:schemeClr val="bg1">
                    <a:lumMod val="85000"/>
                  </a:schemeClr>
                </a:solidFill>
                <a:latin typeface="JetBrains Mono Light" panose="02000009000000000000"/>
                <a:cs typeface="JetBrains Mono" panose="02000009000000000000" pitchFamily="49" charset="0"/>
              </a:rPr>
              <a:t>Người</a:t>
            </a:r>
            <a:r>
              <a:rPr lang="en-US" dirty="0">
                <a:solidFill>
                  <a:schemeClr val="bg1">
                    <a:lumMod val="85000"/>
                  </a:schemeClr>
                </a:solidFill>
                <a:latin typeface="JetBrains Mono Light" panose="02000009000000000000"/>
                <a:cs typeface="JetBrains Mono" panose="02000009000000000000" pitchFamily="49" charset="0"/>
              </a:rPr>
              <a:t> </a:t>
            </a:r>
            <a:r>
              <a:rPr lang="en-US" dirty="0" err="1">
                <a:solidFill>
                  <a:schemeClr val="bg1">
                    <a:lumMod val="85000"/>
                  </a:schemeClr>
                </a:solidFill>
                <a:latin typeface="JetBrains Mono Light" panose="02000009000000000000"/>
                <a:cs typeface="JetBrains Mono" panose="02000009000000000000" pitchFamily="49" charset="0"/>
              </a:rPr>
              <a:t>bán</a:t>
            </a:r>
            <a:r>
              <a:rPr lang="en-US" dirty="0">
                <a:solidFill>
                  <a:schemeClr val="bg1">
                    <a:lumMod val="85000"/>
                  </a:schemeClr>
                </a:solidFill>
                <a:latin typeface="JetBrains Mono Light" panose="02000009000000000000"/>
                <a:cs typeface="JetBrains Mono" panose="02000009000000000000" pitchFamily="49" charset="0"/>
              </a:rPr>
              <a:t> </a:t>
            </a:r>
            <a:r>
              <a:rPr lang="en-US" dirty="0" err="1">
                <a:solidFill>
                  <a:schemeClr val="bg1">
                    <a:lumMod val="85000"/>
                  </a:schemeClr>
                </a:solidFill>
                <a:latin typeface="JetBrains Mono Light" panose="02000009000000000000"/>
                <a:cs typeface="JetBrains Mono" panose="02000009000000000000" pitchFamily="49" charset="0"/>
              </a:rPr>
              <a:t>hàng</a:t>
            </a:r>
            <a:r>
              <a:rPr lang="en-US" dirty="0">
                <a:solidFill>
                  <a:schemeClr val="bg1">
                    <a:lumMod val="85000"/>
                  </a:schemeClr>
                </a:solidFill>
                <a:latin typeface="JetBrains Mono Light" panose="02000009000000000000"/>
                <a:cs typeface="JetBrains Mono" panose="02000009000000000000" pitchFamily="49" charset="0"/>
              </a:rPr>
              <a:t>”</a:t>
            </a:r>
          </a:p>
        </p:txBody>
      </p:sp>
      <p:sp>
        <p:nvSpPr>
          <p:cNvPr id="53" name="Footer: Title">
            <a:extLst>
              <a:ext uri="{FF2B5EF4-FFF2-40B4-BE49-F238E27FC236}">
                <a16:creationId xmlns:a16="http://schemas.microsoft.com/office/drawing/2014/main" id="{38A1C11C-EDF1-412F-9EF9-17CA294CDEE6}"/>
              </a:ext>
            </a:extLst>
          </p:cNvPr>
          <p:cNvSpPr txBox="1"/>
          <p:nvPr/>
        </p:nvSpPr>
        <p:spPr>
          <a:xfrm>
            <a:off x="7385543" y="6469576"/>
            <a:ext cx="1215645"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a:t>
            </a:r>
          </a:p>
        </p:txBody>
      </p:sp>
      <p:sp>
        <p:nvSpPr>
          <p:cNvPr id="79" name="PAGE NUM 0">
            <a:extLst>
              <a:ext uri="{FF2B5EF4-FFF2-40B4-BE49-F238E27FC236}">
                <a16:creationId xmlns:a16="http://schemas.microsoft.com/office/drawing/2014/main" id="{23E20AC4-9604-436C-9B37-1DEF3E9E459E}"/>
              </a:ext>
            </a:extLst>
          </p:cNvPr>
          <p:cNvSpPr txBox="1"/>
          <p:nvPr/>
        </p:nvSpPr>
        <p:spPr>
          <a:xfrm>
            <a:off x="11599908" y="-510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4</a:t>
            </a:r>
          </a:p>
        </p:txBody>
      </p:sp>
      <p:sp>
        <p:nvSpPr>
          <p:cNvPr id="80" name="PAGE NUM 1">
            <a:extLst>
              <a:ext uri="{FF2B5EF4-FFF2-40B4-BE49-F238E27FC236}">
                <a16:creationId xmlns:a16="http://schemas.microsoft.com/office/drawing/2014/main" id="{3B41770E-4608-4E46-BEC9-DC8452E92B3B}"/>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2</a:t>
            </a:r>
            <a:endParaRPr lang="en-US" dirty="0"/>
          </a:p>
        </p:txBody>
      </p:sp>
      <p:sp>
        <p:nvSpPr>
          <p:cNvPr id="83" name="TextBox 82">
            <a:extLst>
              <a:ext uri="{FF2B5EF4-FFF2-40B4-BE49-F238E27FC236}">
                <a16:creationId xmlns:a16="http://schemas.microsoft.com/office/drawing/2014/main" id="{9DC68A5A-9B08-4612-B72E-D26B78B05457}"/>
              </a:ext>
            </a:extLst>
          </p:cNvPr>
          <p:cNvSpPr txBox="1"/>
          <p:nvPr/>
        </p:nvSpPr>
        <p:spPr>
          <a:xfrm>
            <a:off x="903555" y="1552887"/>
            <a:ext cx="6704722" cy="646331"/>
          </a:xfrm>
          <a:prstGeom prst="rect">
            <a:avLst/>
          </a:prstGeom>
          <a:noFill/>
        </p:spPr>
        <p:txBody>
          <a:bodyPr wrap="square">
            <a:spAutoFit/>
          </a:bodyPr>
          <a:lstStyle/>
          <a:p>
            <a:r>
              <a:rPr lang="en-US" i="1" dirty="0">
                <a:solidFill>
                  <a:schemeClr val="bg1">
                    <a:lumMod val="50000"/>
                  </a:schemeClr>
                </a:solidFill>
                <a:latin typeface="JetBrains Mono Light" panose="02000009000000000000" pitchFamily="49" charset="0"/>
                <a:cs typeface="JetBrains Mono Light" panose="02000009000000000000" pitchFamily="49" charset="0"/>
              </a:rPr>
              <a:t>w[</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v,u</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là</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giá</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trị</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đường</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đi</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trực</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tiếp</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từ</a:t>
            </a:r>
            <a:r>
              <a:rPr lang="en-US" i="1" dirty="0">
                <a:solidFill>
                  <a:schemeClr val="bg1">
                    <a:lumMod val="50000"/>
                  </a:schemeClr>
                </a:solidFill>
                <a:latin typeface="JetBrains Mono Light" panose="02000009000000000000" pitchFamily="49" charset="0"/>
                <a:cs typeface="JetBrains Mono Light" panose="02000009000000000000" pitchFamily="49" charset="0"/>
              </a:rPr>
              <a:t> v -→ u. </a:t>
            </a:r>
          </a:p>
          <a:p>
            <a:r>
              <a:rPr lang="en-US" i="1" dirty="0">
                <a:solidFill>
                  <a:schemeClr val="bg1">
                    <a:lumMod val="50000"/>
                  </a:schemeClr>
                </a:solidFill>
                <a:latin typeface="JetBrains Mono Light" panose="02000009000000000000" pitchFamily="49" charset="0"/>
                <a:cs typeface="JetBrains Mono Light" panose="02000009000000000000" pitchFamily="49" charset="0"/>
              </a:rPr>
              <a:t>d(u)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giá</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trị</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đường</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đi</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ngắn</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nhất</a:t>
            </a:r>
            <a:endParaRPr lang="en-US" i="1" dirty="0">
              <a:solidFill>
                <a:schemeClr val="bg1">
                  <a:lumMod val="50000"/>
                </a:schemeClr>
              </a:solidFill>
              <a:latin typeface="JetBrains Mono Light" panose="02000009000000000000" pitchFamily="49" charset="0"/>
              <a:cs typeface="JetBrains Mono Light" panose="02000009000000000000" pitchFamily="49" charset="0"/>
            </a:endParaRPr>
          </a:p>
        </p:txBody>
      </p:sp>
      <mc:AlternateContent xmlns:mc="http://schemas.openxmlformats.org/markup-compatibility/2006" xmlns:a14="http://schemas.microsoft.com/office/drawing/2010/main">
        <mc:Choice Requires="a14">
          <p:graphicFrame>
            <p:nvGraphicFramePr>
              <p:cNvPr id="44" name="Table 31">
                <a:extLst>
                  <a:ext uri="{FF2B5EF4-FFF2-40B4-BE49-F238E27FC236}">
                    <a16:creationId xmlns:a16="http://schemas.microsoft.com/office/drawing/2014/main" id="{BC13303E-6411-4B55-8E80-D86BCF27F77D}"/>
                  </a:ext>
                </a:extLst>
              </p:cNvPr>
              <p:cNvGraphicFramePr>
                <a:graphicFrameLocks noGrp="1"/>
              </p:cNvGraphicFramePr>
              <p:nvPr>
                <p:extLst>
                  <p:ext uri="{D42A27DB-BD31-4B8C-83A1-F6EECF244321}">
                    <p14:modId xmlns:p14="http://schemas.microsoft.com/office/powerpoint/2010/main" val="2144397768"/>
                  </p:ext>
                </p:extLst>
              </p:nvPr>
            </p:nvGraphicFramePr>
            <p:xfrm>
              <a:off x="938725" y="2486129"/>
              <a:ext cx="6872153" cy="3566160"/>
            </p:xfrm>
            <a:graphic>
              <a:graphicData uri="http://schemas.openxmlformats.org/drawingml/2006/table">
                <a:tbl>
                  <a:tblPr firstRow="1" bandRow="1">
                    <a:solidFill>
                      <a:schemeClr val="tx1"/>
                    </a:solidFill>
                    <a:tableStyleId>{5C22544A-7EE6-4342-B048-85BDC9FD1C3A}</a:tableStyleId>
                  </a:tblPr>
                  <a:tblGrid>
                    <a:gridCol w="380429">
                      <a:extLst>
                        <a:ext uri="{9D8B030D-6E8A-4147-A177-3AD203B41FA5}">
                          <a16:colId xmlns:a16="http://schemas.microsoft.com/office/drawing/2014/main" val="1050100240"/>
                        </a:ext>
                      </a:extLst>
                    </a:gridCol>
                    <a:gridCol w="538938">
                      <a:extLst>
                        <a:ext uri="{9D8B030D-6E8A-4147-A177-3AD203B41FA5}">
                          <a16:colId xmlns:a16="http://schemas.microsoft.com/office/drawing/2014/main" val="3243995936"/>
                        </a:ext>
                      </a:extLst>
                    </a:gridCol>
                    <a:gridCol w="1118249">
                      <a:extLst>
                        <a:ext uri="{9D8B030D-6E8A-4147-A177-3AD203B41FA5}">
                          <a16:colId xmlns:a16="http://schemas.microsoft.com/office/drawing/2014/main" val="551036226"/>
                        </a:ext>
                      </a:extLst>
                    </a:gridCol>
                    <a:gridCol w="1459838">
                      <a:extLst>
                        <a:ext uri="{9D8B030D-6E8A-4147-A177-3AD203B41FA5}">
                          <a16:colId xmlns:a16="http://schemas.microsoft.com/office/drawing/2014/main" val="2864763446"/>
                        </a:ext>
                      </a:extLst>
                    </a:gridCol>
                    <a:gridCol w="1670539">
                      <a:extLst>
                        <a:ext uri="{9D8B030D-6E8A-4147-A177-3AD203B41FA5}">
                          <a16:colId xmlns:a16="http://schemas.microsoft.com/office/drawing/2014/main" val="2569644655"/>
                        </a:ext>
                      </a:extLst>
                    </a:gridCol>
                    <a:gridCol w="1704160">
                      <a:extLst>
                        <a:ext uri="{9D8B030D-6E8A-4147-A177-3AD203B41FA5}">
                          <a16:colId xmlns:a16="http://schemas.microsoft.com/office/drawing/2014/main" val="1285287841"/>
                        </a:ext>
                      </a:extLst>
                    </a:gridCol>
                  </a:tblGrid>
                  <a:tr h="315325">
                    <a:tc>
                      <a:txBody>
                        <a:bodyPr/>
                        <a:lstStyle/>
                        <a:p>
                          <a:pPr algn="ctr"/>
                          <a:endParaRPr lang="en-VN" sz="1600" dirty="0">
                            <a:solidFill>
                              <a:schemeClr val="bg1"/>
                            </a:solidFill>
                            <a:latin typeface="JetBrains Mono Light" panose="02000009000000000000" pitchFamily="49" charset="0"/>
                            <a:cs typeface="JetBrains Mono Light" panose="02000009000000000000" pitchFamily="49" charset="0"/>
                          </a:endParaRPr>
                        </a:p>
                      </a:txBody>
                      <a:tcPr>
                        <a:solidFill>
                          <a:srgbClr val="000000"/>
                        </a:solidFill>
                      </a:tcPr>
                    </a:tc>
                    <a:tc>
                      <a:txBody>
                        <a:bodyPr/>
                        <a:lstStyle/>
                        <a:p>
                          <a:pPr algn="ctr"/>
                          <a:r>
                            <a:rPr lang="en-VN" sz="1600" b="0" dirty="0">
                              <a:solidFill>
                                <a:schemeClr val="bg1">
                                  <a:lumMod val="50000"/>
                                </a:schemeClr>
                              </a:solidFill>
                              <a:latin typeface="JetBrains Mono Medium" panose="02000009000000000000" pitchFamily="49" charset="0"/>
                              <a:cs typeface="JetBrains Mono Medium" panose="02000009000000000000" pitchFamily="49" charset="0"/>
                            </a:rPr>
                            <a:t>A</a:t>
                          </a:r>
                        </a:p>
                      </a:txBody>
                      <a:tcPr>
                        <a:solidFill>
                          <a:srgbClr val="000000"/>
                        </a:solidFill>
                      </a:tcPr>
                    </a:tc>
                    <a:tc>
                      <a:txBody>
                        <a:bodyPr/>
                        <a:lstStyle/>
                        <a:p>
                          <a:pPr algn="ctr"/>
                          <a:r>
                            <a:rPr lang="en-VN" sz="1600" b="0" dirty="0">
                              <a:solidFill>
                                <a:schemeClr val="bg1">
                                  <a:lumMod val="50000"/>
                                </a:schemeClr>
                              </a:solidFill>
                              <a:latin typeface="JetBrains Mono Medium" panose="02000009000000000000" pitchFamily="49" charset="0"/>
                              <a:cs typeface="JetBrains Mono Medium" panose="02000009000000000000" pitchFamily="49" charset="0"/>
                            </a:rPr>
                            <a:t>B</a:t>
                          </a:r>
                        </a:p>
                      </a:txBody>
                      <a:tcPr>
                        <a:solidFill>
                          <a:srgbClr val="000000"/>
                        </a:solidFill>
                      </a:tcPr>
                    </a:tc>
                    <a:tc>
                      <a:txBody>
                        <a:bodyPr/>
                        <a:lstStyle/>
                        <a:p>
                          <a:pPr algn="ctr"/>
                          <a:r>
                            <a:rPr lang="en-VN" sz="1600" b="0" dirty="0">
                              <a:solidFill>
                                <a:schemeClr val="bg1">
                                  <a:lumMod val="50000"/>
                                </a:schemeClr>
                              </a:solidFill>
                              <a:latin typeface="JetBrains Mono Medium" panose="02000009000000000000" pitchFamily="49" charset="0"/>
                              <a:cs typeface="JetBrains Mono Medium" panose="02000009000000000000" pitchFamily="49" charset="0"/>
                            </a:rPr>
                            <a:t>C</a:t>
                          </a:r>
                        </a:p>
                      </a:txBody>
                      <a:tcPr>
                        <a:solidFill>
                          <a:srgbClr val="000000"/>
                        </a:solidFill>
                      </a:tcPr>
                    </a:tc>
                    <a:tc>
                      <a:txBody>
                        <a:bodyPr/>
                        <a:lstStyle/>
                        <a:p>
                          <a:pPr algn="ctr"/>
                          <a:r>
                            <a:rPr lang="en-VN" sz="1600" b="0" dirty="0">
                              <a:solidFill>
                                <a:schemeClr val="bg1">
                                  <a:lumMod val="50000"/>
                                </a:schemeClr>
                              </a:solidFill>
                              <a:latin typeface="JetBrains Mono Medium" panose="02000009000000000000" pitchFamily="49" charset="0"/>
                              <a:cs typeface="JetBrains Mono Medium" panose="02000009000000000000" pitchFamily="49" charset="0"/>
                            </a:rPr>
                            <a:t>D</a:t>
                          </a:r>
                        </a:p>
                      </a:txBody>
                      <a:tcPr>
                        <a:solidFill>
                          <a:srgbClr val="000000"/>
                        </a:solidFill>
                      </a:tcPr>
                    </a:tc>
                    <a:tc>
                      <a:txBody>
                        <a:bodyPr/>
                        <a:lstStyle/>
                        <a:p>
                          <a:pPr algn="ctr"/>
                          <a:r>
                            <a:rPr lang="en-VN" sz="1600" b="0" dirty="0">
                              <a:solidFill>
                                <a:schemeClr val="bg1">
                                  <a:lumMod val="50000"/>
                                </a:schemeClr>
                              </a:solidFill>
                              <a:latin typeface="JetBrains Mono Medium" panose="02000009000000000000" pitchFamily="49" charset="0"/>
                              <a:cs typeface="JetBrains Mono Medium" panose="02000009000000000000" pitchFamily="49" charset="0"/>
                            </a:rPr>
                            <a:t>E</a:t>
                          </a:r>
                        </a:p>
                      </a:txBody>
                      <a:tcPr>
                        <a:solidFill>
                          <a:srgbClr val="000000"/>
                        </a:solidFill>
                      </a:tcPr>
                    </a:tc>
                    <a:extLst>
                      <a:ext uri="{0D108BD9-81ED-4DB2-BD59-A6C34878D82A}">
                        <a16:rowId xmlns:a16="http://schemas.microsoft.com/office/drawing/2014/main" val="1011436260"/>
                      </a:ext>
                    </a:extLst>
                  </a:tr>
                  <a:tr h="544652">
                    <a:tc>
                      <a:txBody>
                        <a:bodyPr/>
                        <a:lstStyle/>
                        <a:p>
                          <a:pPr algn="ctr"/>
                          <a:endParaRPr lang="en-VN" sz="1600" dirty="0">
                            <a:solidFill>
                              <a:schemeClr val="bg1"/>
                            </a:solidFill>
                            <a:latin typeface="JetBrains Mono Light" panose="02000009000000000000" pitchFamily="49" charset="0"/>
                            <a:cs typeface="JetBrains Mono Light" panose="02000009000000000000" pitchFamily="49" charset="0"/>
                          </a:endParaRP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0</a:t>
                          </a:r>
                          <a:endParaRPr lang="en-US" sz="1600" dirty="0">
                            <a:solidFill>
                              <a:schemeClr val="bg1"/>
                            </a:solidFill>
                            <a:latin typeface="JetBrains Mono Light" panose="02000009000000000000" pitchFamily="49" charset="0"/>
                            <a:cs typeface="JetBrains Mono Light" panose="02000009000000000000" pitchFamily="49" charset="0"/>
                          </a:endParaRPr>
                        </a:p>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14:m>
                            <m:oMath xmlns:m="http://schemas.openxmlformats.org/officeDocument/2006/math">
                              <m:r>
                                <a:rPr lang="en-VN" sz="1600" i="1" smtClean="0">
                                  <a:solidFill>
                                    <a:schemeClr val="bg1"/>
                                  </a:solidFill>
                                  <a:latin typeface="Cambria Math" panose="02040503050406030204" pitchFamily="18" charset="0"/>
                                  <a:ea typeface="Cambria Math" panose="02040503050406030204" pitchFamily="18" charset="0"/>
                                </a:rPr>
                                <m:t>∞</m:t>
                              </m:r>
                            </m:oMath>
                          </a14:m>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14:m>
                            <m:oMath xmlns:m="http://schemas.openxmlformats.org/officeDocument/2006/math">
                              <m:r>
                                <a:rPr lang="en-VN" sz="1600" i="1" smtClean="0">
                                  <a:solidFill>
                                    <a:schemeClr val="bg1"/>
                                  </a:solidFill>
                                  <a:latin typeface="Cambria Math" panose="02040503050406030204" pitchFamily="18" charset="0"/>
                                  <a:ea typeface="Cambria Math" panose="02040503050406030204" pitchFamily="18" charset="0"/>
                                </a:rPr>
                                <m:t>∞</m:t>
                              </m:r>
                            </m:oMath>
                          </a14:m>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14:m>
                            <m:oMath xmlns:m="http://schemas.openxmlformats.org/officeDocument/2006/math">
                              <m:r>
                                <a:rPr lang="en-VN" sz="1600" i="1" smtClean="0">
                                  <a:solidFill>
                                    <a:schemeClr val="bg1"/>
                                  </a:solidFill>
                                  <a:latin typeface="Cambria Math" panose="02040503050406030204" pitchFamily="18" charset="0"/>
                                  <a:ea typeface="Cambria Math" panose="02040503050406030204" pitchFamily="18" charset="0"/>
                                </a:rPr>
                                <m:t>∞</m:t>
                              </m:r>
                            </m:oMath>
                          </a14:m>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14:m>
                            <m:oMath xmlns:m="http://schemas.openxmlformats.org/officeDocument/2006/math">
                              <m:r>
                                <a:rPr lang="en-VN" sz="1600" i="1" smtClean="0">
                                  <a:solidFill>
                                    <a:schemeClr val="bg1"/>
                                  </a:solidFill>
                                  <a:latin typeface="Cambria Math" panose="02040503050406030204" pitchFamily="18" charset="0"/>
                                  <a:ea typeface="Cambria Math" panose="02040503050406030204" pitchFamily="18" charset="0"/>
                                </a:rPr>
                                <m:t>∞</m:t>
                              </m:r>
                            </m:oMath>
                          </a14:m>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extLst>
                      <a:ext uri="{0D108BD9-81ED-4DB2-BD59-A6C34878D82A}">
                        <a16:rowId xmlns:a16="http://schemas.microsoft.com/office/drawing/2014/main" val="1523369033"/>
                      </a:ext>
                    </a:extLst>
                  </a:tr>
                  <a:tr h="315325">
                    <a:tc>
                      <a:txBody>
                        <a:bodyPr/>
                        <a:lstStyle/>
                        <a:p>
                          <a:pPr algn="ctr"/>
                          <a:r>
                            <a:rPr lang="en-VN" sz="1600" dirty="0">
                              <a:solidFill>
                                <a:schemeClr val="bg1">
                                  <a:lumMod val="50000"/>
                                </a:schemeClr>
                              </a:solidFill>
                              <a:latin typeface="JetBrains Mono Light" panose="02000009000000000000" pitchFamily="49" charset="0"/>
                              <a:cs typeface="JetBrains Mono Light" panose="02000009000000000000" pitchFamily="49" charset="0"/>
                            </a:rPr>
                            <a:t>1</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(5,A)</a:t>
                          </a:r>
                          <a:endParaRPr lang="en-US" sz="1600" dirty="0">
                            <a:solidFill>
                              <a:schemeClr val="bg1"/>
                            </a:solidFill>
                            <a:latin typeface="JetBrains Mono Light" panose="02000009000000000000" pitchFamily="49" charset="0"/>
                            <a:cs typeface="JetBrains Mono Light" panose="02000009000000000000" pitchFamily="49" charset="0"/>
                          </a:endParaRPr>
                        </a:p>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(7,211,A)</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(5,83,A)</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(5,385,A)</a:t>
                          </a:r>
                        </a:p>
                      </a:txBody>
                      <a:tcPr>
                        <a:solidFill>
                          <a:srgbClr val="000000"/>
                        </a:solidFill>
                      </a:tcPr>
                    </a:tc>
                    <a:extLst>
                      <a:ext uri="{0D108BD9-81ED-4DB2-BD59-A6C34878D82A}">
                        <a16:rowId xmlns:a16="http://schemas.microsoft.com/office/drawing/2014/main" val="2903661924"/>
                      </a:ext>
                    </a:extLst>
                  </a:tr>
                  <a:tr h="315325">
                    <a:tc>
                      <a:txBody>
                        <a:bodyPr/>
                        <a:lstStyle/>
                        <a:p>
                          <a:pPr algn="ctr"/>
                          <a:r>
                            <a:rPr lang="en-VN" sz="1600" dirty="0">
                              <a:solidFill>
                                <a:schemeClr val="bg1">
                                  <a:lumMod val="50000"/>
                                </a:schemeClr>
                              </a:solidFill>
                              <a:latin typeface="JetBrains Mono Light" panose="02000009000000000000" pitchFamily="49" charset="0"/>
                              <a:cs typeface="JetBrains Mono Light" panose="02000009000000000000" pitchFamily="49" charset="0"/>
                            </a:rPr>
                            <a:t>2</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(9,123,B)</a:t>
                          </a:r>
                          <a:endParaRPr lang="en-US" sz="1600" dirty="0">
                            <a:solidFill>
                              <a:schemeClr val="bg1"/>
                            </a:solidFill>
                            <a:latin typeface="JetBrains Mono Light" panose="02000009000000000000" pitchFamily="49" charset="0"/>
                            <a:cs typeface="JetBrains Mono Light" panose="02000009000000000000" pitchFamily="49" charset="0"/>
                          </a:endParaRPr>
                        </a:p>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(10,385,B)</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(13,6,B)</a:t>
                          </a:r>
                        </a:p>
                      </a:txBody>
                      <a:tcPr>
                        <a:solidFill>
                          <a:srgbClr val="000000"/>
                        </a:solidFill>
                      </a:tcPr>
                    </a:tc>
                    <a:extLst>
                      <a:ext uri="{0D108BD9-81ED-4DB2-BD59-A6C34878D82A}">
                        <a16:rowId xmlns:a16="http://schemas.microsoft.com/office/drawing/2014/main" val="56045547"/>
                      </a:ext>
                    </a:extLst>
                  </a:tr>
                  <a:tr h="315325">
                    <a:tc>
                      <a:txBody>
                        <a:bodyPr/>
                        <a:lstStyle/>
                        <a:p>
                          <a:pPr algn="ctr"/>
                          <a:r>
                            <a:rPr lang="en-VN" sz="1600" dirty="0">
                              <a:solidFill>
                                <a:schemeClr val="bg1">
                                  <a:lumMod val="50000"/>
                                </a:schemeClr>
                              </a:solidFill>
                              <a:latin typeface="JetBrains Mono Light" panose="02000009000000000000" pitchFamily="49" charset="0"/>
                              <a:cs typeface="JetBrains Mono Light" panose="02000009000000000000" pitchFamily="49" charset="0"/>
                            </a:rPr>
                            <a:t>3</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(12,2853,C</a:t>
                          </a:r>
                          <a:r>
                            <a:rPr lang="en-US" sz="1600" dirty="0">
                              <a:solidFill>
                                <a:schemeClr val="bg1"/>
                              </a:solidFill>
                              <a:latin typeface="JetBrains Mono Light" panose="02000009000000000000" pitchFamily="49" charset="0"/>
                              <a:cs typeface="JetBrains Mono Light" panose="02000009000000000000" pitchFamily="49" charset="0"/>
                            </a:rPr>
                            <a:t>)</a:t>
                          </a:r>
                        </a:p>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(17,1853,C)</a:t>
                          </a:r>
                        </a:p>
                      </a:txBody>
                      <a:tcPr>
                        <a:solidFill>
                          <a:srgbClr val="000000"/>
                        </a:solidFill>
                      </a:tcPr>
                    </a:tc>
                    <a:extLst>
                      <a:ext uri="{0D108BD9-81ED-4DB2-BD59-A6C34878D82A}">
                        <a16:rowId xmlns:a16="http://schemas.microsoft.com/office/drawing/2014/main" val="1731341627"/>
                      </a:ext>
                    </a:extLst>
                  </a:tr>
                  <a:tr h="315325">
                    <a:tc>
                      <a:txBody>
                        <a:bodyPr/>
                        <a:lstStyle/>
                        <a:p>
                          <a:pPr algn="ctr"/>
                          <a:r>
                            <a:rPr lang="en-VN" sz="1600" dirty="0">
                              <a:solidFill>
                                <a:schemeClr val="bg1">
                                  <a:lumMod val="50000"/>
                                </a:schemeClr>
                              </a:solidFill>
                              <a:latin typeface="JetBrains Mono Light" panose="02000009000000000000" pitchFamily="49" charset="0"/>
                              <a:cs typeface="JetBrains Mono Light" panose="02000009000000000000" pitchFamily="49" charset="0"/>
                            </a:rPr>
                            <a:t>4</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(17,2853,D)</a:t>
                          </a:r>
                          <a:endParaRPr lang="en-US" sz="1600" dirty="0">
                            <a:solidFill>
                              <a:schemeClr val="bg1"/>
                            </a:solidFill>
                            <a:latin typeface="JetBrains Mono Light" panose="02000009000000000000" pitchFamily="49" charset="0"/>
                            <a:cs typeface="JetBrains Mono Light" panose="02000009000000000000" pitchFamily="49" charset="0"/>
                          </a:endParaRPr>
                        </a:p>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extLst>
                      <a:ext uri="{0D108BD9-81ED-4DB2-BD59-A6C34878D82A}">
                        <a16:rowId xmlns:a16="http://schemas.microsoft.com/office/drawing/2014/main" val="1799159516"/>
                      </a:ext>
                    </a:extLst>
                  </a:tr>
                  <a:tr h="315325">
                    <a:tc>
                      <a:txBody>
                        <a:bodyPr/>
                        <a:lstStyle/>
                        <a:p>
                          <a:pPr algn="ctr"/>
                          <a:r>
                            <a:rPr lang="en-VN" sz="1600" dirty="0">
                              <a:solidFill>
                                <a:schemeClr val="bg1">
                                  <a:lumMod val="50000"/>
                                </a:schemeClr>
                              </a:solidFill>
                              <a:latin typeface="JetBrains Mono Light" panose="02000009000000000000" pitchFamily="49" charset="0"/>
                              <a:cs typeface="JetBrains Mono Light" panose="02000009000000000000" pitchFamily="49" charset="0"/>
                            </a:rPr>
                            <a:t>5</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extLst>
                      <a:ext uri="{0D108BD9-81ED-4DB2-BD59-A6C34878D82A}">
                        <a16:rowId xmlns:a16="http://schemas.microsoft.com/office/drawing/2014/main" val="631440099"/>
                      </a:ext>
                    </a:extLst>
                  </a:tr>
                </a:tbl>
              </a:graphicData>
            </a:graphic>
          </p:graphicFrame>
        </mc:Choice>
        <mc:Fallback xmlns="">
          <p:graphicFrame>
            <p:nvGraphicFramePr>
              <p:cNvPr id="44" name="Table 31">
                <a:extLst>
                  <a:ext uri="{FF2B5EF4-FFF2-40B4-BE49-F238E27FC236}">
                    <a16:creationId xmlns:a16="http://schemas.microsoft.com/office/drawing/2014/main" id="{BC13303E-6411-4B55-8E80-D86BCF27F77D}"/>
                  </a:ext>
                </a:extLst>
              </p:cNvPr>
              <p:cNvGraphicFramePr>
                <a:graphicFrameLocks noGrp="1"/>
              </p:cNvGraphicFramePr>
              <p:nvPr>
                <p:extLst>
                  <p:ext uri="{D42A27DB-BD31-4B8C-83A1-F6EECF244321}">
                    <p14:modId xmlns:p14="http://schemas.microsoft.com/office/powerpoint/2010/main" val="2144397768"/>
                  </p:ext>
                </p:extLst>
              </p:nvPr>
            </p:nvGraphicFramePr>
            <p:xfrm>
              <a:off x="938725" y="2486129"/>
              <a:ext cx="6872153" cy="3566160"/>
            </p:xfrm>
            <a:graphic>
              <a:graphicData uri="http://schemas.openxmlformats.org/drawingml/2006/table">
                <a:tbl>
                  <a:tblPr firstRow="1" bandRow="1">
                    <a:solidFill>
                      <a:schemeClr val="tx1"/>
                    </a:solidFill>
                    <a:tableStyleId>{5C22544A-7EE6-4342-B048-85BDC9FD1C3A}</a:tableStyleId>
                  </a:tblPr>
                  <a:tblGrid>
                    <a:gridCol w="380429">
                      <a:extLst>
                        <a:ext uri="{9D8B030D-6E8A-4147-A177-3AD203B41FA5}">
                          <a16:colId xmlns:a16="http://schemas.microsoft.com/office/drawing/2014/main" val="1050100240"/>
                        </a:ext>
                      </a:extLst>
                    </a:gridCol>
                    <a:gridCol w="538938">
                      <a:extLst>
                        <a:ext uri="{9D8B030D-6E8A-4147-A177-3AD203B41FA5}">
                          <a16:colId xmlns:a16="http://schemas.microsoft.com/office/drawing/2014/main" val="3243995936"/>
                        </a:ext>
                      </a:extLst>
                    </a:gridCol>
                    <a:gridCol w="1118249">
                      <a:extLst>
                        <a:ext uri="{9D8B030D-6E8A-4147-A177-3AD203B41FA5}">
                          <a16:colId xmlns:a16="http://schemas.microsoft.com/office/drawing/2014/main" val="551036226"/>
                        </a:ext>
                      </a:extLst>
                    </a:gridCol>
                    <a:gridCol w="1459838">
                      <a:extLst>
                        <a:ext uri="{9D8B030D-6E8A-4147-A177-3AD203B41FA5}">
                          <a16:colId xmlns:a16="http://schemas.microsoft.com/office/drawing/2014/main" val="2864763446"/>
                        </a:ext>
                      </a:extLst>
                    </a:gridCol>
                    <a:gridCol w="1670539">
                      <a:extLst>
                        <a:ext uri="{9D8B030D-6E8A-4147-A177-3AD203B41FA5}">
                          <a16:colId xmlns:a16="http://schemas.microsoft.com/office/drawing/2014/main" val="2569644655"/>
                        </a:ext>
                      </a:extLst>
                    </a:gridCol>
                    <a:gridCol w="1704160">
                      <a:extLst>
                        <a:ext uri="{9D8B030D-6E8A-4147-A177-3AD203B41FA5}">
                          <a16:colId xmlns:a16="http://schemas.microsoft.com/office/drawing/2014/main" val="1285287841"/>
                        </a:ext>
                      </a:extLst>
                    </a:gridCol>
                  </a:tblGrid>
                  <a:tr h="335280">
                    <a:tc>
                      <a:txBody>
                        <a:bodyPr/>
                        <a:lstStyle/>
                        <a:p>
                          <a:pPr algn="ctr"/>
                          <a:endParaRPr lang="en-VN" sz="1600" dirty="0">
                            <a:solidFill>
                              <a:schemeClr val="bg1"/>
                            </a:solidFill>
                            <a:latin typeface="JetBrains Mono Light" panose="02000009000000000000" pitchFamily="49" charset="0"/>
                            <a:cs typeface="JetBrains Mono Light" panose="02000009000000000000" pitchFamily="49" charset="0"/>
                          </a:endParaRPr>
                        </a:p>
                      </a:txBody>
                      <a:tcPr>
                        <a:solidFill>
                          <a:srgbClr val="000000"/>
                        </a:solidFill>
                      </a:tcPr>
                    </a:tc>
                    <a:tc>
                      <a:txBody>
                        <a:bodyPr/>
                        <a:lstStyle/>
                        <a:p>
                          <a:pPr algn="ctr"/>
                          <a:r>
                            <a:rPr lang="en-VN" sz="1600" b="0" dirty="0">
                              <a:solidFill>
                                <a:schemeClr val="bg1">
                                  <a:lumMod val="50000"/>
                                </a:schemeClr>
                              </a:solidFill>
                              <a:latin typeface="JetBrains Mono Medium" panose="02000009000000000000" pitchFamily="49" charset="0"/>
                              <a:cs typeface="JetBrains Mono Medium" panose="02000009000000000000" pitchFamily="49" charset="0"/>
                            </a:rPr>
                            <a:t>A</a:t>
                          </a:r>
                        </a:p>
                      </a:txBody>
                      <a:tcPr>
                        <a:solidFill>
                          <a:srgbClr val="000000"/>
                        </a:solidFill>
                      </a:tcPr>
                    </a:tc>
                    <a:tc>
                      <a:txBody>
                        <a:bodyPr/>
                        <a:lstStyle/>
                        <a:p>
                          <a:pPr algn="ctr"/>
                          <a:r>
                            <a:rPr lang="en-VN" sz="1600" b="0" dirty="0">
                              <a:solidFill>
                                <a:schemeClr val="bg1">
                                  <a:lumMod val="50000"/>
                                </a:schemeClr>
                              </a:solidFill>
                              <a:latin typeface="JetBrains Mono Medium" panose="02000009000000000000" pitchFamily="49" charset="0"/>
                              <a:cs typeface="JetBrains Mono Medium" panose="02000009000000000000" pitchFamily="49" charset="0"/>
                            </a:rPr>
                            <a:t>B</a:t>
                          </a:r>
                        </a:p>
                      </a:txBody>
                      <a:tcPr>
                        <a:solidFill>
                          <a:srgbClr val="000000"/>
                        </a:solidFill>
                      </a:tcPr>
                    </a:tc>
                    <a:tc>
                      <a:txBody>
                        <a:bodyPr/>
                        <a:lstStyle/>
                        <a:p>
                          <a:pPr algn="ctr"/>
                          <a:r>
                            <a:rPr lang="en-VN" sz="1600" b="0" dirty="0">
                              <a:solidFill>
                                <a:schemeClr val="bg1">
                                  <a:lumMod val="50000"/>
                                </a:schemeClr>
                              </a:solidFill>
                              <a:latin typeface="JetBrains Mono Medium" panose="02000009000000000000" pitchFamily="49" charset="0"/>
                              <a:cs typeface="JetBrains Mono Medium" panose="02000009000000000000" pitchFamily="49" charset="0"/>
                            </a:rPr>
                            <a:t>C</a:t>
                          </a:r>
                        </a:p>
                      </a:txBody>
                      <a:tcPr>
                        <a:solidFill>
                          <a:srgbClr val="000000"/>
                        </a:solidFill>
                      </a:tcPr>
                    </a:tc>
                    <a:tc>
                      <a:txBody>
                        <a:bodyPr/>
                        <a:lstStyle/>
                        <a:p>
                          <a:pPr algn="ctr"/>
                          <a:r>
                            <a:rPr lang="en-VN" sz="1600" b="0" dirty="0">
                              <a:solidFill>
                                <a:schemeClr val="bg1">
                                  <a:lumMod val="50000"/>
                                </a:schemeClr>
                              </a:solidFill>
                              <a:latin typeface="JetBrains Mono Medium" panose="02000009000000000000" pitchFamily="49" charset="0"/>
                              <a:cs typeface="JetBrains Mono Medium" panose="02000009000000000000" pitchFamily="49" charset="0"/>
                            </a:rPr>
                            <a:t>D</a:t>
                          </a:r>
                        </a:p>
                      </a:txBody>
                      <a:tcPr>
                        <a:solidFill>
                          <a:srgbClr val="000000"/>
                        </a:solidFill>
                      </a:tcPr>
                    </a:tc>
                    <a:tc>
                      <a:txBody>
                        <a:bodyPr/>
                        <a:lstStyle/>
                        <a:p>
                          <a:pPr algn="ctr"/>
                          <a:r>
                            <a:rPr lang="en-VN" sz="1600" b="0" dirty="0">
                              <a:solidFill>
                                <a:schemeClr val="bg1">
                                  <a:lumMod val="50000"/>
                                </a:schemeClr>
                              </a:solidFill>
                              <a:latin typeface="JetBrains Mono Medium" panose="02000009000000000000" pitchFamily="49" charset="0"/>
                              <a:cs typeface="JetBrains Mono Medium" panose="02000009000000000000" pitchFamily="49" charset="0"/>
                            </a:rPr>
                            <a:t>E</a:t>
                          </a:r>
                        </a:p>
                      </a:txBody>
                      <a:tcPr>
                        <a:solidFill>
                          <a:srgbClr val="000000"/>
                        </a:solidFill>
                      </a:tcPr>
                    </a:tc>
                    <a:extLst>
                      <a:ext uri="{0D108BD9-81ED-4DB2-BD59-A6C34878D82A}">
                        <a16:rowId xmlns:a16="http://schemas.microsoft.com/office/drawing/2014/main" val="1011436260"/>
                      </a:ext>
                    </a:extLst>
                  </a:tr>
                  <a:tr h="579120">
                    <a:tc>
                      <a:txBody>
                        <a:bodyPr/>
                        <a:lstStyle/>
                        <a:p>
                          <a:pPr algn="ctr"/>
                          <a:endParaRPr lang="en-VN" sz="1600" dirty="0">
                            <a:solidFill>
                              <a:schemeClr val="bg1"/>
                            </a:solidFill>
                            <a:latin typeface="JetBrains Mono Light" panose="02000009000000000000" pitchFamily="49" charset="0"/>
                            <a:cs typeface="JetBrains Mono Light" panose="02000009000000000000" pitchFamily="49" charset="0"/>
                          </a:endParaRP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0</a:t>
                          </a:r>
                          <a:endParaRPr lang="en-US" sz="1600" dirty="0">
                            <a:solidFill>
                              <a:schemeClr val="bg1"/>
                            </a:solidFill>
                            <a:latin typeface="JetBrains Mono Light" panose="02000009000000000000" pitchFamily="49" charset="0"/>
                            <a:cs typeface="JetBrains Mono Light" panose="02000009000000000000" pitchFamily="49" charset="0"/>
                          </a:endParaRPr>
                        </a:p>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endParaRPr lang="en-US"/>
                        </a:p>
                      </a:txBody>
                      <a:tcPr>
                        <a:blipFill>
                          <a:blip r:embed="rId2"/>
                          <a:stretch>
                            <a:fillRect l="-82609" t="-60000" r="-433696" b="-472632"/>
                          </a:stretch>
                        </a:blipFill>
                      </a:tcPr>
                    </a:tc>
                    <a:tc>
                      <a:txBody>
                        <a:bodyPr/>
                        <a:lstStyle/>
                        <a:p>
                          <a:endParaRPr lang="en-US"/>
                        </a:p>
                      </a:txBody>
                      <a:tcPr>
                        <a:blipFill>
                          <a:blip r:embed="rId2"/>
                          <a:stretch>
                            <a:fillRect l="-140000" t="-60000" r="-232500" b="-472632"/>
                          </a:stretch>
                        </a:blipFill>
                      </a:tcPr>
                    </a:tc>
                    <a:tc>
                      <a:txBody>
                        <a:bodyPr/>
                        <a:lstStyle/>
                        <a:p>
                          <a:endParaRPr lang="en-US"/>
                        </a:p>
                      </a:txBody>
                      <a:tcPr>
                        <a:blipFill>
                          <a:blip r:embed="rId2"/>
                          <a:stretch>
                            <a:fillRect l="-210219" t="-60000" r="-103650" b="-472632"/>
                          </a:stretch>
                        </a:blipFill>
                      </a:tcPr>
                    </a:tc>
                    <a:tc>
                      <a:txBody>
                        <a:bodyPr/>
                        <a:lstStyle/>
                        <a:p>
                          <a:endParaRPr lang="en-US"/>
                        </a:p>
                      </a:txBody>
                      <a:tcPr>
                        <a:blipFill>
                          <a:blip r:embed="rId2"/>
                          <a:stretch>
                            <a:fillRect l="-303571" t="-60000" r="-1429" b="-472632"/>
                          </a:stretch>
                        </a:blipFill>
                      </a:tcPr>
                    </a:tc>
                    <a:extLst>
                      <a:ext uri="{0D108BD9-81ED-4DB2-BD59-A6C34878D82A}">
                        <a16:rowId xmlns:a16="http://schemas.microsoft.com/office/drawing/2014/main" val="1523369033"/>
                      </a:ext>
                    </a:extLst>
                  </a:tr>
                  <a:tr h="579120">
                    <a:tc>
                      <a:txBody>
                        <a:bodyPr/>
                        <a:lstStyle/>
                        <a:p>
                          <a:pPr algn="ctr"/>
                          <a:r>
                            <a:rPr lang="en-VN" sz="1600" dirty="0">
                              <a:solidFill>
                                <a:schemeClr val="bg1">
                                  <a:lumMod val="50000"/>
                                </a:schemeClr>
                              </a:solidFill>
                              <a:latin typeface="JetBrains Mono Light" panose="02000009000000000000" pitchFamily="49" charset="0"/>
                              <a:cs typeface="JetBrains Mono Light" panose="02000009000000000000" pitchFamily="49" charset="0"/>
                            </a:rPr>
                            <a:t>1</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(5,A)</a:t>
                          </a:r>
                          <a:endParaRPr lang="en-US" sz="1600" dirty="0">
                            <a:solidFill>
                              <a:schemeClr val="bg1"/>
                            </a:solidFill>
                            <a:latin typeface="JetBrains Mono Light" panose="02000009000000000000" pitchFamily="49" charset="0"/>
                            <a:cs typeface="JetBrains Mono Light" panose="02000009000000000000" pitchFamily="49" charset="0"/>
                          </a:endParaRPr>
                        </a:p>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(7,211,A)</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(5,83,A)</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(5,385,A)</a:t>
                          </a:r>
                        </a:p>
                      </a:txBody>
                      <a:tcPr>
                        <a:solidFill>
                          <a:srgbClr val="000000"/>
                        </a:solidFill>
                      </a:tcPr>
                    </a:tc>
                    <a:extLst>
                      <a:ext uri="{0D108BD9-81ED-4DB2-BD59-A6C34878D82A}">
                        <a16:rowId xmlns:a16="http://schemas.microsoft.com/office/drawing/2014/main" val="2903661924"/>
                      </a:ext>
                    </a:extLst>
                  </a:tr>
                  <a:tr h="579120">
                    <a:tc>
                      <a:txBody>
                        <a:bodyPr/>
                        <a:lstStyle/>
                        <a:p>
                          <a:pPr algn="ctr"/>
                          <a:r>
                            <a:rPr lang="en-VN" sz="1600" dirty="0">
                              <a:solidFill>
                                <a:schemeClr val="bg1">
                                  <a:lumMod val="50000"/>
                                </a:schemeClr>
                              </a:solidFill>
                              <a:latin typeface="JetBrains Mono Light" panose="02000009000000000000" pitchFamily="49" charset="0"/>
                              <a:cs typeface="JetBrains Mono Light" panose="02000009000000000000" pitchFamily="49" charset="0"/>
                            </a:rPr>
                            <a:t>2</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(9,123,B)</a:t>
                          </a:r>
                          <a:endParaRPr lang="en-US" sz="1600" dirty="0">
                            <a:solidFill>
                              <a:schemeClr val="bg1"/>
                            </a:solidFill>
                            <a:latin typeface="JetBrains Mono Light" panose="02000009000000000000" pitchFamily="49" charset="0"/>
                            <a:cs typeface="JetBrains Mono Light" panose="02000009000000000000" pitchFamily="49" charset="0"/>
                          </a:endParaRPr>
                        </a:p>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(10,385,B)</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(13,6,B)</a:t>
                          </a:r>
                        </a:p>
                      </a:txBody>
                      <a:tcPr>
                        <a:solidFill>
                          <a:srgbClr val="000000"/>
                        </a:solidFill>
                      </a:tcPr>
                    </a:tc>
                    <a:extLst>
                      <a:ext uri="{0D108BD9-81ED-4DB2-BD59-A6C34878D82A}">
                        <a16:rowId xmlns:a16="http://schemas.microsoft.com/office/drawing/2014/main" val="56045547"/>
                      </a:ext>
                    </a:extLst>
                  </a:tr>
                  <a:tr h="579120">
                    <a:tc>
                      <a:txBody>
                        <a:bodyPr/>
                        <a:lstStyle/>
                        <a:p>
                          <a:pPr algn="ctr"/>
                          <a:r>
                            <a:rPr lang="en-VN" sz="1600" dirty="0">
                              <a:solidFill>
                                <a:schemeClr val="bg1">
                                  <a:lumMod val="50000"/>
                                </a:schemeClr>
                              </a:solidFill>
                              <a:latin typeface="JetBrains Mono Light" panose="02000009000000000000" pitchFamily="49" charset="0"/>
                              <a:cs typeface="JetBrains Mono Light" panose="02000009000000000000" pitchFamily="49" charset="0"/>
                            </a:rPr>
                            <a:t>3</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(12,2853,C</a:t>
                          </a:r>
                          <a:r>
                            <a:rPr lang="en-US" sz="1600" dirty="0">
                              <a:solidFill>
                                <a:schemeClr val="bg1"/>
                              </a:solidFill>
                              <a:latin typeface="JetBrains Mono Light" panose="02000009000000000000" pitchFamily="49" charset="0"/>
                              <a:cs typeface="JetBrains Mono Light" panose="02000009000000000000" pitchFamily="49" charset="0"/>
                            </a:rPr>
                            <a:t>)</a:t>
                          </a:r>
                        </a:p>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(17,1853,C)</a:t>
                          </a:r>
                        </a:p>
                      </a:txBody>
                      <a:tcPr>
                        <a:solidFill>
                          <a:srgbClr val="000000"/>
                        </a:solidFill>
                      </a:tcPr>
                    </a:tc>
                    <a:extLst>
                      <a:ext uri="{0D108BD9-81ED-4DB2-BD59-A6C34878D82A}">
                        <a16:rowId xmlns:a16="http://schemas.microsoft.com/office/drawing/2014/main" val="1731341627"/>
                      </a:ext>
                    </a:extLst>
                  </a:tr>
                  <a:tr h="579120">
                    <a:tc>
                      <a:txBody>
                        <a:bodyPr/>
                        <a:lstStyle/>
                        <a:p>
                          <a:pPr algn="ctr"/>
                          <a:r>
                            <a:rPr lang="en-VN" sz="1600" dirty="0">
                              <a:solidFill>
                                <a:schemeClr val="bg1">
                                  <a:lumMod val="50000"/>
                                </a:schemeClr>
                              </a:solidFill>
                              <a:latin typeface="JetBrains Mono Light" panose="02000009000000000000" pitchFamily="49" charset="0"/>
                              <a:cs typeface="JetBrains Mono Light" panose="02000009000000000000" pitchFamily="49" charset="0"/>
                            </a:rPr>
                            <a:t>4</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(17,2853,D)</a:t>
                          </a:r>
                          <a:endParaRPr lang="en-US" sz="1600" dirty="0">
                            <a:solidFill>
                              <a:schemeClr val="bg1"/>
                            </a:solidFill>
                            <a:latin typeface="JetBrains Mono Light" panose="02000009000000000000" pitchFamily="49" charset="0"/>
                            <a:cs typeface="JetBrains Mono Light" panose="02000009000000000000" pitchFamily="49" charset="0"/>
                          </a:endParaRPr>
                        </a:p>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extLst>
                      <a:ext uri="{0D108BD9-81ED-4DB2-BD59-A6C34878D82A}">
                        <a16:rowId xmlns:a16="http://schemas.microsoft.com/office/drawing/2014/main" val="1799159516"/>
                      </a:ext>
                    </a:extLst>
                  </a:tr>
                  <a:tr h="335280">
                    <a:tc>
                      <a:txBody>
                        <a:bodyPr/>
                        <a:lstStyle/>
                        <a:p>
                          <a:pPr algn="ctr"/>
                          <a:r>
                            <a:rPr lang="en-VN" sz="1600" dirty="0">
                              <a:solidFill>
                                <a:schemeClr val="bg1">
                                  <a:lumMod val="50000"/>
                                </a:schemeClr>
                              </a:solidFill>
                              <a:latin typeface="JetBrains Mono Light" panose="02000009000000000000" pitchFamily="49" charset="0"/>
                              <a:cs typeface="JetBrains Mono Light" panose="02000009000000000000" pitchFamily="49" charset="0"/>
                            </a:rPr>
                            <a:t>5</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t>
                          </a:r>
                        </a:p>
                      </a:txBody>
                      <a:tcPr>
                        <a:solidFill>
                          <a:srgbClr val="000000"/>
                        </a:solidFill>
                      </a:tcPr>
                    </a:tc>
                    <a:extLst>
                      <a:ext uri="{0D108BD9-81ED-4DB2-BD59-A6C34878D82A}">
                        <a16:rowId xmlns:a16="http://schemas.microsoft.com/office/drawing/2014/main" val="631440099"/>
                      </a:ext>
                    </a:extLst>
                  </a:tr>
                </a:tbl>
              </a:graphicData>
            </a:graphic>
          </p:graphicFrame>
        </mc:Fallback>
      </mc:AlternateContent>
      <p:sp>
        <p:nvSpPr>
          <p:cNvPr id="45" name="TextBox 44">
            <a:extLst>
              <a:ext uri="{FF2B5EF4-FFF2-40B4-BE49-F238E27FC236}">
                <a16:creationId xmlns:a16="http://schemas.microsoft.com/office/drawing/2014/main" id="{7AF756F7-18F9-4002-97D4-B32E0182B86C}"/>
              </a:ext>
            </a:extLst>
          </p:cNvPr>
          <p:cNvSpPr txBox="1"/>
          <p:nvPr/>
        </p:nvSpPr>
        <p:spPr>
          <a:xfrm>
            <a:off x="7993365" y="3055177"/>
            <a:ext cx="4075394" cy="646331"/>
          </a:xfrm>
          <a:prstGeom prst="rect">
            <a:avLst/>
          </a:prstGeom>
          <a:noFill/>
        </p:spPr>
        <p:txBody>
          <a:bodyPr wrap="square">
            <a:spAutoFit/>
          </a:bodyPr>
          <a:lstStyle/>
          <a:p>
            <a:r>
              <a:rPr lang="en-US" dirty="0" err="1">
                <a:solidFill>
                  <a:srgbClr val="EBE9EB"/>
                </a:solidFill>
                <a:latin typeface="JetBrains Mono Regular" panose="02000009000000000000"/>
              </a:rPr>
              <a:t>Dừng</a:t>
            </a:r>
            <a:r>
              <a:rPr lang="en-US" dirty="0">
                <a:solidFill>
                  <a:srgbClr val="EBE9EB"/>
                </a:solidFill>
                <a:latin typeface="JetBrains Mono Regular" panose="02000009000000000000"/>
              </a:rPr>
              <a:t> </a:t>
            </a:r>
            <a:r>
              <a:rPr lang="en-US" dirty="0" err="1">
                <a:solidFill>
                  <a:srgbClr val="EBE9EB"/>
                </a:solidFill>
                <a:latin typeface="JetBrains Mono Regular" panose="02000009000000000000"/>
              </a:rPr>
              <a:t>chương</a:t>
            </a:r>
            <a:r>
              <a:rPr lang="en-US" dirty="0">
                <a:solidFill>
                  <a:srgbClr val="EBE9EB"/>
                </a:solidFill>
                <a:latin typeface="JetBrains Mono Regular" panose="02000009000000000000"/>
              </a:rPr>
              <a:t> </a:t>
            </a:r>
            <a:r>
              <a:rPr lang="en-US" dirty="0" err="1">
                <a:solidFill>
                  <a:srgbClr val="EBE9EB"/>
                </a:solidFill>
                <a:latin typeface="JetBrains Mono Regular" panose="02000009000000000000"/>
              </a:rPr>
              <a:t>trình</a:t>
            </a:r>
            <a:r>
              <a:rPr lang="en-US" dirty="0">
                <a:solidFill>
                  <a:srgbClr val="EBE9EB"/>
                </a:solidFill>
                <a:latin typeface="JetBrains Mono Regular" panose="02000009000000000000"/>
              </a:rPr>
              <a:t>, </a:t>
            </a:r>
            <a:r>
              <a:rPr lang="en-VN" dirty="0">
                <a:solidFill>
                  <a:srgbClr val="EBE9EB"/>
                </a:solidFill>
                <a:latin typeface="JetBrains Mono Regular" panose="02000009000000000000"/>
              </a:rPr>
              <a:t>Ta được chu trình:</a:t>
            </a:r>
          </a:p>
        </p:txBody>
      </p:sp>
      <p:sp>
        <p:nvSpPr>
          <p:cNvPr id="46" name="TextBox 45">
            <a:extLst>
              <a:ext uri="{FF2B5EF4-FFF2-40B4-BE49-F238E27FC236}">
                <a16:creationId xmlns:a16="http://schemas.microsoft.com/office/drawing/2014/main" id="{2F73C4CB-1E3D-462D-852C-2B8D940469F7}"/>
              </a:ext>
            </a:extLst>
          </p:cNvPr>
          <p:cNvSpPr txBox="1"/>
          <p:nvPr/>
        </p:nvSpPr>
        <p:spPr>
          <a:xfrm>
            <a:off x="7993365" y="3618024"/>
            <a:ext cx="4075394" cy="2128916"/>
          </a:xfrm>
          <a:prstGeom prst="rect">
            <a:avLst/>
          </a:prstGeom>
          <a:noFill/>
        </p:spPr>
        <p:txBody>
          <a:bodyPr wrap="square">
            <a:spAutoFit/>
          </a:bodyPr>
          <a:lstStyle/>
          <a:p>
            <a:pPr lvl="1">
              <a:lnSpc>
                <a:spcPct val="150000"/>
              </a:lnSpc>
            </a:pPr>
            <a:r>
              <a:rPr lang="en-VN" spc="300" dirty="0">
                <a:solidFill>
                  <a:srgbClr val="EBE9EB"/>
                </a:solidFill>
                <a:latin typeface="JetBrains Mono Regular" panose="02000009000000000000"/>
              </a:rPr>
              <a:t>A-A=</a:t>
            </a:r>
            <a:r>
              <a:rPr lang="en-VN" dirty="0">
                <a:solidFill>
                  <a:srgbClr val="EBE9EB"/>
                </a:solidFill>
                <a:latin typeface="JetBrains Mono Regular" panose="02000009000000000000"/>
              </a:rPr>
              <a:t>0	</a:t>
            </a:r>
          </a:p>
          <a:p>
            <a:pPr lvl="1">
              <a:lnSpc>
                <a:spcPct val="150000"/>
              </a:lnSpc>
            </a:pPr>
            <a:r>
              <a:rPr lang="en-VN" spc="300" dirty="0">
                <a:solidFill>
                  <a:srgbClr val="EBE9EB"/>
                </a:solidFill>
                <a:latin typeface="JetBrains Mono Regular" panose="02000009000000000000"/>
              </a:rPr>
              <a:t>A-B=</a:t>
            </a:r>
            <a:r>
              <a:rPr lang="en-VN" dirty="0">
                <a:solidFill>
                  <a:srgbClr val="EBE9EB"/>
                </a:solidFill>
                <a:latin typeface="JetBrains Mono Regular" panose="02000009000000000000"/>
              </a:rPr>
              <a:t>5</a:t>
            </a:r>
          </a:p>
          <a:p>
            <a:pPr lvl="1">
              <a:lnSpc>
                <a:spcPct val="150000"/>
              </a:lnSpc>
            </a:pPr>
            <a:r>
              <a:rPr lang="en-VN" spc="300" dirty="0">
                <a:solidFill>
                  <a:srgbClr val="EBE9EB"/>
                </a:solidFill>
                <a:latin typeface="JetBrains Mono Regular" panose="02000009000000000000"/>
              </a:rPr>
              <a:t>A-B-C=</a:t>
            </a:r>
            <a:r>
              <a:rPr lang="en-VN" dirty="0">
                <a:solidFill>
                  <a:srgbClr val="EBE9EB"/>
                </a:solidFill>
                <a:latin typeface="JetBrains Mono Regular" panose="02000009000000000000"/>
              </a:rPr>
              <a:t>9,123</a:t>
            </a:r>
          </a:p>
          <a:p>
            <a:pPr lvl="1">
              <a:lnSpc>
                <a:spcPct val="150000"/>
              </a:lnSpc>
            </a:pPr>
            <a:r>
              <a:rPr lang="en-VN" spc="300" dirty="0">
                <a:solidFill>
                  <a:srgbClr val="EBE9EB"/>
                </a:solidFill>
                <a:latin typeface="JetBrains Mono Regular" panose="02000009000000000000"/>
              </a:rPr>
              <a:t>A-B-C-D=</a:t>
            </a:r>
            <a:r>
              <a:rPr lang="en-VN" dirty="0">
                <a:solidFill>
                  <a:srgbClr val="EBE9EB"/>
                </a:solidFill>
                <a:latin typeface="JetBrains Mono Regular" panose="02000009000000000000"/>
              </a:rPr>
              <a:t>12,2853</a:t>
            </a:r>
          </a:p>
          <a:p>
            <a:pPr lvl="1">
              <a:lnSpc>
                <a:spcPct val="150000"/>
              </a:lnSpc>
            </a:pPr>
            <a:r>
              <a:rPr lang="en-VN" spc="300" dirty="0">
                <a:solidFill>
                  <a:srgbClr val="EBE9EB"/>
                </a:solidFill>
                <a:latin typeface="JetBrains Mono Regular" panose="02000009000000000000"/>
              </a:rPr>
              <a:t>A-B-C-D-E=</a:t>
            </a:r>
            <a:r>
              <a:rPr lang="en-VN" dirty="0">
                <a:solidFill>
                  <a:srgbClr val="EBE9EB"/>
                </a:solidFill>
                <a:latin typeface="JetBrains Mono Regular" panose="02000009000000000000"/>
              </a:rPr>
              <a:t>22,6703</a:t>
            </a:r>
            <a:endParaRPr lang="en-US" dirty="0">
              <a:solidFill>
                <a:srgbClr val="EBE9EB"/>
              </a:solidFill>
              <a:latin typeface="JetBrains Mono Regular" panose="02000009000000000000"/>
            </a:endParaRPr>
          </a:p>
        </p:txBody>
      </p:sp>
      <p:cxnSp>
        <p:nvCxnSpPr>
          <p:cNvPr id="47" name="Straight Connector 46">
            <a:extLst>
              <a:ext uri="{FF2B5EF4-FFF2-40B4-BE49-F238E27FC236}">
                <a16:creationId xmlns:a16="http://schemas.microsoft.com/office/drawing/2014/main" id="{9002AB02-81F6-47D0-8D20-C70C3717A2D8}"/>
              </a:ext>
            </a:extLst>
          </p:cNvPr>
          <p:cNvCxnSpPr>
            <a:cxnSpLocks/>
          </p:cNvCxnSpPr>
          <p:nvPr/>
        </p:nvCxnSpPr>
        <p:spPr>
          <a:xfrm>
            <a:off x="10243036" y="-90122"/>
            <a:ext cx="18018" cy="3010038"/>
          </a:xfrm>
          <a:prstGeom prst="line">
            <a:avLst/>
          </a:prstGeom>
          <a:ln>
            <a:solidFill>
              <a:schemeClr val="bg1">
                <a:lumMod val="50000"/>
              </a:schemeClr>
            </a:solidFill>
            <a:prstDash val="sysDot"/>
          </a:ln>
        </p:spPr>
        <p:style>
          <a:lnRef idx="2">
            <a:schemeClr val="dk1"/>
          </a:lnRef>
          <a:fillRef idx="0">
            <a:schemeClr val="dk1"/>
          </a:fillRef>
          <a:effectRef idx="1">
            <a:schemeClr val="dk1"/>
          </a:effectRef>
          <a:fontRef idx="minor">
            <a:schemeClr val="tx1"/>
          </a:fontRef>
        </p:style>
      </p:cxnSp>
      <p:cxnSp>
        <p:nvCxnSpPr>
          <p:cNvPr id="81" name="Straight Connector 80">
            <a:extLst>
              <a:ext uri="{FF2B5EF4-FFF2-40B4-BE49-F238E27FC236}">
                <a16:creationId xmlns:a16="http://schemas.microsoft.com/office/drawing/2014/main" id="{E2737B0E-949F-4F3D-90FD-D777A4CEAFEB}"/>
              </a:ext>
            </a:extLst>
          </p:cNvPr>
          <p:cNvCxnSpPr/>
          <p:nvPr/>
        </p:nvCxnSpPr>
        <p:spPr>
          <a:xfrm>
            <a:off x="8676995" y="1517961"/>
            <a:ext cx="3983421" cy="0"/>
          </a:xfrm>
          <a:prstGeom prst="line">
            <a:avLst/>
          </a:prstGeom>
          <a:ln>
            <a:solidFill>
              <a:schemeClr val="bg1">
                <a:lumMod val="50000"/>
              </a:schemeClr>
            </a:solidFill>
            <a:prstDash val="sysDot"/>
          </a:ln>
        </p:spPr>
        <p:style>
          <a:lnRef idx="2">
            <a:schemeClr val="dk1"/>
          </a:lnRef>
          <a:fillRef idx="0">
            <a:schemeClr val="dk1"/>
          </a:fillRef>
          <a:effectRef idx="1">
            <a:schemeClr val="dk1"/>
          </a:effectRef>
          <a:fontRef idx="minor">
            <a:schemeClr val="tx1"/>
          </a:fontRef>
        </p:style>
      </p:cxnSp>
      <p:sp>
        <p:nvSpPr>
          <p:cNvPr id="82" name="TextBox 81">
            <a:extLst>
              <a:ext uri="{FF2B5EF4-FFF2-40B4-BE49-F238E27FC236}">
                <a16:creationId xmlns:a16="http://schemas.microsoft.com/office/drawing/2014/main" id="{E495163E-B336-46D0-BCB4-7E2FD94A5E86}"/>
              </a:ext>
            </a:extLst>
          </p:cNvPr>
          <p:cNvSpPr txBox="1"/>
          <p:nvPr/>
        </p:nvSpPr>
        <p:spPr>
          <a:xfrm>
            <a:off x="8643093" y="2296559"/>
            <a:ext cx="992579" cy="323165"/>
          </a:xfrm>
          <a:prstGeom prst="rect">
            <a:avLst/>
          </a:prstGeom>
          <a:noFill/>
          <a:ln>
            <a:noFill/>
          </a:ln>
        </p:spPr>
        <p:txBody>
          <a:bodyPr wrap="non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(-3;-2)</a:t>
            </a:r>
          </a:p>
        </p:txBody>
      </p:sp>
      <p:sp>
        <p:nvSpPr>
          <p:cNvPr id="84" name="TextBox 83">
            <a:extLst>
              <a:ext uri="{FF2B5EF4-FFF2-40B4-BE49-F238E27FC236}">
                <a16:creationId xmlns:a16="http://schemas.microsoft.com/office/drawing/2014/main" id="{EEC7AA24-DD77-4CAD-9F34-DE84CA691082}"/>
              </a:ext>
            </a:extLst>
          </p:cNvPr>
          <p:cNvSpPr txBox="1"/>
          <p:nvPr/>
        </p:nvSpPr>
        <p:spPr>
          <a:xfrm>
            <a:off x="8644466" y="353392"/>
            <a:ext cx="877163" cy="323165"/>
          </a:xfrm>
          <a:prstGeom prst="rect">
            <a:avLst/>
          </a:prstGeom>
          <a:noFill/>
          <a:ln>
            <a:noFill/>
          </a:ln>
        </p:spPr>
        <p:txBody>
          <a:bodyPr wrap="non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(-3;3)</a:t>
            </a:r>
          </a:p>
        </p:txBody>
      </p:sp>
      <p:sp>
        <p:nvSpPr>
          <p:cNvPr id="85" name="TextBox 84">
            <a:extLst>
              <a:ext uri="{FF2B5EF4-FFF2-40B4-BE49-F238E27FC236}">
                <a16:creationId xmlns:a16="http://schemas.microsoft.com/office/drawing/2014/main" id="{205094C3-4AC5-49B3-9DFA-6F873E286728}"/>
              </a:ext>
            </a:extLst>
          </p:cNvPr>
          <p:cNvSpPr txBox="1"/>
          <p:nvPr/>
        </p:nvSpPr>
        <p:spPr>
          <a:xfrm>
            <a:off x="10378661" y="73494"/>
            <a:ext cx="873957" cy="323165"/>
          </a:xfrm>
          <a:prstGeom prst="rect">
            <a:avLst/>
          </a:prstGeom>
          <a:noFill/>
          <a:ln>
            <a:noFill/>
          </a:ln>
        </p:spPr>
        <p:txBody>
          <a:bodyPr wrap="squar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(1;4)</a:t>
            </a:r>
          </a:p>
        </p:txBody>
      </p:sp>
      <p:sp>
        <p:nvSpPr>
          <p:cNvPr id="86" name="TextBox 85">
            <a:extLst>
              <a:ext uri="{FF2B5EF4-FFF2-40B4-BE49-F238E27FC236}">
                <a16:creationId xmlns:a16="http://schemas.microsoft.com/office/drawing/2014/main" id="{5434085F-ACB6-4C7D-976F-042A066D6388}"/>
              </a:ext>
            </a:extLst>
          </p:cNvPr>
          <p:cNvSpPr txBox="1"/>
          <p:nvPr/>
        </p:nvSpPr>
        <p:spPr>
          <a:xfrm>
            <a:off x="11146084" y="923364"/>
            <a:ext cx="873957" cy="323165"/>
          </a:xfrm>
          <a:prstGeom prst="rect">
            <a:avLst/>
          </a:prstGeom>
          <a:noFill/>
          <a:ln>
            <a:noFill/>
          </a:ln>
        </p:spPr>
        <p:txBody>
          <a:bodyPr wrap="squar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(2;1)</a:t>
            </a:r>
          </a:p>
        </p:txBody>
      </p:sp>
      <p:cxnSp>
        <p:nvCxnSpPr>
          <p:cNvPr id="87" name="Straight Connector 86">
            <a:extLst>
              <a:ext uri="{FF2B5EF4-FFF2-40B4-BE49-F238E27FC236}">
                <a16:creationId xmlns:a16="http://schemas.microsoft.com/office/drawing/2014/main" id="{8471A4A9-77CF-4D87-87F9-7765CF9B3816}"/>
              </a:ext>
            </a:extLst>
          </p:cNvPr>
          <p:cNvCxnSpPr>
            <a:cxnSpLocks/>
          </p:cNvCxnSpPr>
          <p:nvPr/>
        </p:nvCxnSpPr>
        <p:spPr>
          <a:xfrm>
            <a:off x="10647265" y="621251"/>
            <a:ext cx="330242" cy="56009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7B385BE1-A2B1-41A6-80B8-67120A860B5A}"/>
              </a:ext>
            </a:extLst>
          </p:cNvPr>
          <p:cNvCxnSpPr>
            <a:cxnSpLocks/>
          </p:cNvCxnSpPr>
          <p:nvPr/>
        </p:nvCxnSpPr>
        <p:spPr>
          <a:xfrm flipV="1">
            <a:off x="9101650" y="619442"/>
            <a:ext cx="1584723" cy="28185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4817FD6-BD06-40B3-8A0B-A179CF3A81A0}"/>
              </a:ext>
            </a:extLst>
          </p:cNvPr>
          <p:cNvCxnSpPr>
            <a:cxnSpLocks/>
          </p:cNvCxnSpPr>
          <p:nvPr/>
        </p:nvCxnSpPr>
        <p:spPr>
          <a:xfrm flipH="1">
            <a:off x="9100671" y="882821"/>
            <a:ext cx="979" cy="11952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6E63C93-8FF4-4485-9698-0A8CFEEE47B5}"/>
              </a:ext>
            </a:extLst>
          </p:cNvPr>
          <p:cNvCxnSpPr>
            <a:cxnSpLocks/>
          </p:cNvCxnSpPr>
          <p:nvPr/>
        </p:nvCxnSpPr>
        <p:spPr>
          <a:xfrm>
            <a:off x="10965688" y="1155978"/>
            <a:ext cx="28838" cy="12914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FF1EDF27-E318-4630-A9CD-B5F06C65B23C}"/>
              </a:ext>
            </a:extLst>
          </p:cNvPr>
          <p:cNvCxnSpPr>
            <a:cxnSpLocks/>
          </p:cNvCxnSpPr>
          <p:nvPr/>
        </p:nvCxnSpPr>
        <p:spPr>
          <a:xfrm>
            <a:off x="9100671" y="2078059"/>
            <a:ext cx="1893855" cy="3693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99A20F24-0CA8-43AB-BDBF-93718FC040AC}"/>
              </a:ext>
            </a:extLst>
          </p:cNvPr>
          <p:cNvCxnSpPr>
            <a:cxnSpLocks/>
          </p:cNvCxnSpPr>
          <p:nvPr/>
        </p:nvCxnSpPr>
        <p:spPr>
          <a:xfrm>
            <a:off x="9131100" y="937394"/>
            <a:ext cx="1817519" cy="145024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165DC2B-4C15-4F32-96C2-44994825C7AE}"/>
              </a:ext>
            </a:extLst>
          </p:cNvPr>
          <p:cNvCxnSpPr>
            <a:cxnSpLocks/>
          </p:cNvCxnSpPr>
          <p:nvPr/>
        </p:nvCxnSpPr>
        <p:spPr>
          <a:xfrm flipV="1">
            <a:off x="9096829" y="587253"/>
            <a:ext cx="1589544" cy="149080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DE0FC73-47E7-44C4-9AF9-6370B4F426D8}"/>
              </a:ext>
            </a:extLst>
          </p:cNvPr>
          <p:cNvCxnSpPr>
            <a:cxnSpLocks/>
          </p:cNvCxnSpPr>
          <p:nvPr/>
        </p:nvCxnSpPr>
        <p:spPr>
          <a:xfrm flipV="1">
            <a:off x="9131691" y="1204736"/>
            <a:ext cx="1896268" cy="8486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0673B95D-9A2E-42F1-8FF1-8CE135A8451B}"/>
              </a:ext>
            </a:extLst>
          </p:cNvPr>
          <p:cNvCxnSpPr>
            <a:cxnSpLocks/>
          </p:cNvCxnSpPr>
          <p:nvPr/>
        </p:nvCxnSpPr>
        <p:spPr>
          <a:xfrm flipH="1" flipV="1">
            <a:off x="10657153" y="607815"/>
            <a:ext cx="337373" cy="180972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5FBDC095-28B2-47C5-BABC-258D951195DA}"/>
              </a:ext>
            </a:extLst>
          </p:cNvPr>
          <p:cNvCxnSpPr>
            <a:cxnSpLocks/>
          </p:cNvCxnSpPr>
          <p:nvPr/>
        </p:nvCxnSpPr>
        <p:spPr>
          <a:xfrm>
            <a:off x="9154794" y="880279"/>
            <a:ext cx="1869182" cy="35429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593017F6-5E71-4F00-A1D6-D6ECBEB9E580}"/>
              </a:ext>
            </a:extLst>
          </p:cNvPr>
          <p:cNvSpPr txBox="1"/>
          <p:nvPr/>
        </p:nvSpPr>
        <p:spPr>
          <a:xfrm>
            <a:off x="10099792" y="1317066"/>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O</a:t>
            </a:r>
          </a:p>
        </p:txBody>
      </p:sp>
      <p:sp>
        <p:nvSpPr>
          <p:cNvPr id="98" name="TextBox 97">
            <a:extLst>
              <a:ext uri="{FF2B5EF4-FFF2-40B4-BE49-F238E27FC236}">
                <a16:creationId xmlns:a16="http://schemas.microsoft.com/office/drawing/2014/main" id="{5DD48AA3-0325-4C54-AAE3-FC99F730A20C}"/>
              </a:ext>
            </a:extLst>
          </p:cNvPr>
          <p:cNvSpPr txBox="1"/>
          <p:nvPr/>
        </p:nvSpPr>
        <p:spPr>
          <a:xfrm>
            <a:off x="8953647" y="1893393"/>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A</a:t>
            </a:r>
          </a:p>
        </p:txBody>
      </p:sp>
      <p:sp>
        <p:nvSpPr>
          <p:cNvPr id="99" name="TextBox 98">
            <a:extLst>
              <a:ext uri="{FF2B5EF4-FFF2-40B4-BE49-F238E27FC236}">
                <a16:creationId xmlns:a16="http://schemas.microsoft.com/office/drawing/2014/main" id="{8DF3BF51-C932-4A9E-A195-8ADE7ECE41C4}"/>
              </a:ext>
            </a:extLst>
          </p:cNvPr>
          <p:cNvSpPr txBox="1"/>
          <p:nvPr/>
        </p:nvSpPr>
        <p:spPr>
          <a:xfrm>
            <a:off x="8949639" y="698155"/>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B</a:t>
            </a:r>
          </a:p>
        </p:txBody>
      </p:sp>
      <p:sp>
        <p:nvSpPr>
          <p:cNvPr id="100" name="TextBox 99">
            <a:extLst>
              <a:ext uri="{FF2B5EF4-FFF2-40B4-BE49-F238E27FC236}">
                <a16:creationId xmlns:a16="http://schemas.microsoft.com/office/drawing/2014/main" id="{FD51B21C-E83C-4E51-ABA7-2D1951FCE304}"/>
              </a:ext>
            </a:extLst>
          </p:cNvPr>
          <p:cNvSpPr txBox="1"/>
          <p:nvPr/>
        </p:nvSpPr>
        <p:spPr>
          <a:xfrm>
            <a:off x="10507443" y="403866"/>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C</a:t>
            </a:r>
          </a:p>
        </p:txBody>
      </p:sp>
      <p:sp>
        <p:nvSpPr>
          <p:cNvPr id="101" name="TextBox 100">
            <a:extLst>
              <a:ext uri="{FF2B5EF4-FFF2-40B4-BE49-F238E27FC236}">
                <a16:creationId xmlns:a16="http://schemas.microsoft.com/office/drawing/2014/main" id="{C1B6E238-9478-4046-A2F6-69D3399E65FF}"/>
              </a:ext>
            </a:extLst>
          </p:cNvPr>
          <p:cNvSpPr txBox="1"/>
          <p:nvPr/>
        </p:nvSpPr>
        <p:spPr>
          <a:xfrm rot="10800000" flipH="1" flipV="1">
            <a:off x="10802081" y="2242267"/>
            <a:ext cx="410658"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E</a:t>
            </a:r>
          </a:p>
        </p:txBody>
      </p:sp>
      <p:sp>
        <p:nvSpPr>
          <p:cNvPr id="102" name="TextBox 101">
            <a:extLst>
              <a:ext uri="{FF2B5EF4-FFF2-40B4-BE49-F238E27FC236}">
                <a16:creationId xmlns:a16="http://schemas.microsoft.com/office/drawing/2014/main" id="{12EDD922-DD3A-4717-8A47-9C8053BAB44A}"/>
              </a:ext>
            </a:extLst>
          </p:cNvPr>
          <p:cNvSpPr txBox="1"/>
          <p:nvPr/>
        </p:nvSpPr>
        <p:spPr>
          <a:xfrm>
            <a:off x="10846148" y="996682"/>
            <a:ext cx="322524" cy="369332"/>
          </a:xfrm>
          <a:prstGeom prst="rect">
            <a:avLst/>
          </a:prstGeom>
          <a:solidFill>
            <a:schemeClr val="tx1"/>
          </a:solidFill>
          <a:ln>
            <a:solidFill>
              <a:schemeClr val="bg1"/>
            </a:solidFill>
          </a:ln>
        </p:spPr>
        <p:txBody>
          <a:bodyPr wrap="square" rtlCol="0">
            <a:spAutoFit/>
          </a:bodyPr>
          <a:lstStyle/>
          <a:p>
            <a:pPr algn="ctr"/>
            <a:r>
              <a:rPr lang="en-VN" dirty="0">
                <a:solidFill>
                  <a:schemeClr val="bg1">
                    <a:lumMod val="85000"/>
                  </a:schemeClr>
                </a:solidFill>
                <a:latin typeface="JetBrains Mono Light" panose="02000009000000000000" pitchFamily="49" charset="0"/>
                <a:cs typeface="JetBrains Mono Light" panose="02000009000000000000" pitchFamily="49" charset="0"/>
              </a:rPr>
              <a:t>D</a:t>
            </a:r>
          </a:p>
        </p:txBody>
      </p:sp>
      <p:sp>
        <p:nvSpPr>
          <p:cNvPr id="103" name="TextBox 102">
            <a:extLst>
              <a:ext uri="{FF2B5EF4-FFF2-40B4-BE49-F238E27FC236}">
                <a16:creationId xmlns:a16="http://schemas.microsoft.com/office/drawing/2014/main" id="{6EC0EB29-38F7-450A-9BDE-E8CEF7A483E3}"/>
              </a:ext>
            </a:extLst>
          </p:cNvPr>
          <p:cNvSpPr txBox="1"/>
          <p:nvPr/>
        </p:nvSpPr>
        <p:spPr>
          <a:xfrm>
            <a:off x="11156741" y="2372404"/>
            <a:ext cx="1052328" cy="323165"/>
          </a:xfrm>
          <a:prstGeom prst="rect">
            <a:avLst/>
          </a:prstGeom>
          <a:noFill/>
        </p:spPr>
        <p:txBody>
          <a:bodyPr wrap="square" rtlCol="0">
            <a:spAutoFit/>
          </a:bodyPr>
          <a:lstStyle/>
          <a:p>
            <a:r>
              <a:rPr lang="en-VN" sz="1500" dirty="0">
                <a:solidFill>
                  <a:schemeClr val="bg1">
                    <a:lumMod val="50000"/>
                  </a:schemeClr>
                </a:solidFill>
                <a:latin typeface="JetBrains Mono Light" panose="02000009000000000000" pitchFamily="49" charset="0"/>
                <a:cs typeface="JetBrains Mono Light" panose="02000009000000000000" pitchFamily="49" charset="0"/>
              </a:rPr>
              <a:t>(2;-4)</a:t>
            </a:r>
            <a:endParaRPr lang="en-US" sz="15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104" name="Rectangle 103">
            <a:extLst>
              <a:ext uri="{FF2B5EF4-FFF2-40B4-BE49-F238E27FC236}">
                <a16:creationId xmlns:a16="http://schemas.microsoft.com/office/drawing/2014/main" id="{1A86250B-67D7-404D-924B-6366600FBAE1}"/>
              </a:ext>
            </a:extLst>
          </p:cNvPr>
          <p:cNvSpPr/>
          <p:nvPr/>
        </p:nvSpPr>
        <p:spPr>
          <a:xfrm rot="685076">
            <a:off x="9790695" y="2313680"/>
            <a:ext cx="816142" cy="292388"/>
          </a:xfrm>
          <a:prstGeom prst="rect">
            <a:avLst/>
          </a:prstGeom>
          <a:solidFill>
            <a:schemeClr val="tx1"/>
          </a:solidFill>
        </p:spPr>
        <p:txBody>
          <a:bodyPr wrap="square">
            <a:spAutoFit/>
          </a:bodyPr>
          <a:lstStyle/>
          <a:p>
            <a:r>
              <a:rPr lang="en-VN" sz="1300" dirty="0">
                <a:solidFill>
                  <a:schemeClr val="bg1">
                    <a:lumMod val="85000"/>
                  </a:schemeClr>
                </a:solidFill>
                <a:latin typeface="JetBrains Mono Light" panose="02000009000000000000" pitchFamily="49" charset="0"/>
                <a:cs typeface="JetBrains Mono Light" panose="02000009000000000000" pitchFamily="49" charset="0"/>
              </a:rPr>
              <a:t>5</a:t>
            </a:r>
            <a:r>
              <a:rPr lang="en-US" sz="1300" dirty="0">
                <a:solidFill>
                  <a:schemeClr val="bg1">
                    <a:lumMod val="85000"/>
                  </a:schemeClr>
                </a:solidFill>
                <a:latin typeface="JetBrains Mono Light" panose="02000009000000000000" pitchFamily="49" charset="0"/>
                <a:cs typeface="JetBrains Mono Light" panose="02000009000000000000" pitchFamily="49" charset="0"/>
              </a:rPr>
              <a:t>.</a:t>
            </a:r>
            <a:r>
              <a:rPr lang="en-VN" sz="1300" dirty="0">
                <a:solidFill>
                  <a:schemeClr val="bg1">
                    <a:lumMod val="85000"/>
                  </a:schemeClr>
                </a:solidFill>
                <a:latin typeface="JetBrains Mono Light" panose="02000009000000000000" pitchFamily="49" charset="0"/>
                <a:cs typeface="JetBrains Mono Light" panose="02000009000000000000" pitchFamily="49" charset="0"/>
              </a:rPr>
              <a:t>385</a:t>
            </a:r>
          </a:p>
        </p:txBody>
      </p:sp>
      <p:sp>
        <p:nvSpPr>
          <p:cNvPr id="105" name="Rectangle 104">
            <a:extLst>
              <a:ext uri="{FF2B5EF4-FFF2-40B4-BE49-F238E27FC236}">
                <a16:creationId xmlns:a16="http://schemas.microsoft.com/office/drawing/2014/main" id="{03D16065-ADC2-4073-B1A2-E09CFF9D10D1}"/>
              </a:ext>
            </a:extLst>
          </p:cNvPr>
          <p:cNvSpPr/>
          <p:nvPr/>
        </p:nvSpPr>
        <p:spPr>
          <a:xfrm>
            <a:off x="7260254" y="286303"/>
            <a:ext cx="1435386" cy="261610"/>
          </a:xfrm>
          <a:prstGeom prst="rect">
            <a:avLst/>
          </a:prstGeom>
          <a:solidFill>
            <a:schemeClr val="tx1"/>
          </a:solidFill>
        </p:spPr>
        <p:txBody>
          <a:bodyPr wrap="square">
            <a:spAutoFit/>
          </a:bodyPr>
          <a:lstStyle/>
          <a:p>
            <a:r>
              <a:rPr lang="en-US" sz="1100" dirty="0">
                <a:solidFill>
                  <a:schemeClr val="bg1">
                    <a:lumMod val="50000"/>
                  </a:schemeClr>
                </a:solidFill>
                <a:latin typeface="JetBrains Mono Light" panose="02000009000000000000" pitchFamily="49" charset="0"/>
                <a:cs typeface="JetBrains Mono Light" panose="02000009000000000000" pitchFamily="49" charset="0"/>
              </a:rPr>
              <a:t>*not to scale</a:t>
            </a:r>
            <a:endParaRPr lang="en-VN" sz="1100"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106" name="Rectangle 105">
            <a:extLst>
              <a:ext uri="{FF2B5EF4-FFF2-40B4-BE49-F238E27FC236}">
                <a16:creationId xmlns:a16="http://schemas.microsoft.com/office/drawing/2014/main" id="{ADFA584A-8B8D-4FF4-80C2-0F80A3C4998B}"/>
              </a:ext>
            </a:extLst>
          </p:cNvPr>
          <p:cNvSpPr/>
          <p:nvPr/>
        </p:nvSpPr>
        <p:spPr>
          <a:xfrm>
            <a:off x="11002331" y="1664460"/>
            <a:ext cx="166341" cy="292388"/>
          </a:xfrm>
          <a:prstGeom prst="rect">
            <a:avLst/>
          </a:prstGeom>
          <a:solidFill>
            <a:schemeClr val="tx1"/>
          </a:solidFill>
        </p:spPr>
        <p:txBody>
          <a:bodyPr wrap="square">
            <a:spAutoFit/>
          </a:bodyPr>
          <a:lstStyle/>
          <a:p>
            <a:pPr algn="ctr"/>
            <a:r>
              <a:rPr lang="en-VN" sz="1300" dirty="0">
                <a:solidFill>
                  <a:schemeClr val="bg1">
                    <a:lumMod val="85000"/>
                  </a:schemeClr>
                </a:solidFill>
                <a:latin typeface="JetBrains Mono Light" panose="02000009000000000000" pitchFamily="49" charset="0"/>
                <a:cs typeface="JetBrains Mono Light" panose="02000009000000000000" pitchFamily="49" charset="0"/>
              </a:rPr>
              <a:t>5</a:t>
            </a:r>
          </a:p>
        </p:txBody>
      </p:sp>
      <p:sp>
        <p:nvSpPr>
          <p:cNvPr id="107" name="Rectangle 106">
            <a:extLst>
              <a:ext uri="{FF2B5EF4-FFF2-40B4-BE49-F238E27FC236}">
                <a16:creationId xmlns:a16="http://schemas.microsoft.com/office/drawing/2014/main" id="{E4BA2917-789B-451F-8926-DF7B400F4776}"/>
              </a:ext>
            </a:extLst>
          </p:cNvPr>
          <p:cNvSpPr/>
          <p:nvPr/>
        </p:nvSpPr>
        <p:spPr>
          <a:xfrm>
            <a:off x="8930488" y="1383416"/>
            <a:ext cx="166341" cy="292388"/>
          </a:xfrm>
          <a:prstGeom prst="rect">
            <a:avLst/>
          </a:prstGeom>
          <a:solidFill>
            <a:schemeClr val="tx1"/>
          </a:solidFill>
        </p:spPr>
        <p:txBody>
          <a:bodyPr wrap="square">
            <a:spAutoFit/>
          </a:bodyPr>
          <a:lstStyle/>
          <a:p>
            <a:pPr algn="ctr"/>
            <a:r>
              <a:rPr lang="en-VN" sz="1300" dirty="0">
                <a:solidFill>
                  <a:schemeClr val="bg1">
                    <a:lumMod val="85000"/>
                  </a:schemeClr>
                </a:solidFill>
                <a:latin typeface="JetBrains Mono Light" panose="02000009000000000000" pitchFamily="49" charset="0"/>
                <a:cs typeface="JetBrains Mono Light" panose="02000009000000000000" pitchFamily="49" charset="0"/>
              </a:rPr>
              <a:t>5</a:t>
            </a:r>
          </a:p>
        </p:txBody>
      </p:sp>
      <p:sp>
        <p:nvSpPr>
          <p:cNvPr id="108" name="Rectangle 107">
            <a:extLst>
              <a:ext uri="{FF2B5EF4-FFF2-40B4-BE49-F238E27FC236}">
                <a16:creationId xmlns:a16="http://schemas.microsoft.com/office/drawing/2014/main" id="{942684A0-FCE7-4986-9DF1-27B038DDD98F}"/>
              </a:ext>
            </a:extLst>
          </p:cNvPr>
          <p:cNvSpPr/>
          <p:nvPr/>
        </p:nvSpPr>
        <p:spPr>
          <a:xfrm rot="20979246">
            <a:off x="9497444" y="475985"/>
            <a:ext cx="682143" cy="292388"/>
          </a:xfrm>
          <a:prstGeom prst="rect">
            <a:avLst/>
          </a:prstGeom>
          <a:solidFill>
            <a:schemeClr val="tx1"/>
          </a:solidFill>
        </p:spPr>
        <p:txBody>
          <a:bodyPr wrap="square">
            <a:spAutoFit/>
          </a:bodyPr>
          <a:lstStyle/>
          <a:p>
            <a:r>
              <a:rPr lang="en-US" sz="1300" dirty="0">
                <a:solidFill>
                  <a:schemeClr val="bg1">
                    <a:lumMod val="85000"/>
                  </a:schemeClr>
                </a:solidFill>
                <a:latin typeface="JetBrains Mono Light" panose="02000009000000000000" pitchFamily="49" charset="0"/>
                <a:cs typeface="JetBrains Mono Light" panose="02000009000000000000" pitchFamily="49" charset="0"/>
              </a:rPr>
              <a:t>4.123</a:t>
            </a:r>
            <a:endParaRPr lang="en-VN" sz="1300" dirty="0">
              <a:solidFill>
                <a:schemeClr val="bg1">
                  <a:lumMod val="85000"/>
                </a:schemeClr>
              </a:solidFill>
              <a:latin typeface="JetBrains Mono Light" panose="02000009000000000000" pitchFamily="49" charset="0"/>
              <a:cs typeface="JetBrains Mono Light" panose="02000009000000000000" pitchFamily="49" charset="0"/>
            </a:endParaRPr>
          </a:p>
        </p:txBody>
      </p:sp>
      <p:sp>
        <p:nvSpPr>
          <p:cNvPr id="109" name="Rectangle 108">
            <a:extLst>
              <a:ext uri="{FF2B5EF4-FFF2-40B4-BE49-F238E27FC236}">
                <a16:creationId xmlns:a16="http://schemas.microsoft.com/office/drawing/2014/main" id="{6C02ACAC-1591-42C9-8529-3090BB3EBDBB}"/>
              </a:ext>
            </a:extLst>
          </p:cNvPr>
          <p:cNvSpPr/>
          <p:nvPr/>
        </p:nvSpPr>
        <p:spPr>
          <a:xfrm rot="20151879">
            <a:off x="10865855" y="548248"/>
            <a:ext cx="813884" cy="292388"/>
          </a:xfrm>
          <a:prstGeom prst="rect">
            <a:avLst/>
          </a:prstGeom>
          <a:noFill/>
        </p:spPr>
        <p:txBody>
          <a:bodyPr wrap="square">
            <a:spAutoFit/>
          </a:bodyPr>
          <a:lstStyle/>
          <a:p>
            <a:r>
              <a:rPr lang="en-US" sz="1300" dirty="0">
                <a:solidFill>
                  <a:schemeClr val="bg1">
                    <a:lumMod val="85000"/>
                  </a:schemeClr>
                </a:solidFill>
                <a:latin typeface="JetBrains Mono Light" panose="02000009000000000000" pitchFamily="49" charset="0"/>
                <a:cs typeface="JetBrains Mono Light" panose="02000009000000000000" pitchFamily="49" charset="0"/>
              </a:rPr>
              <a:t>3.1623</a:t>
            </a:r>
            <a:endParaRPr lang="en-VN" sz="1300" dirty="0">
              <a:solidFill>
                <a:schemeClr val="bg1">
                  <a:lumMod val="85000"/>
                </a:schemeClr>
              </a:solidFill>
              <a:latin typeface="JetBrains Mono Light" panose="02000009000000000000" pitchFamily="49" charset="0"/>
              <a:cs typeface="JetBrains Mono Light" panose="02000009000000000000" pitchFamily="49" charset="0"/>
            </a:endParaRPr>
          </a:p>
        </p:txBody>
      </p:sp>
    </p:spTree>
    <p:extLst>
      <p:ext uri="{BB962C8B-B14F-4D97-AF65-F5344CB8AC3E}">
        <p14:creationId xmlns:p14="http://schemas.microsoft.com/office/powerpoint/2010/main" val="9280985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500"/>
                                        <p:tgtEl>
                                          <p:spTgt spid="45"/>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46">
                                            <p:txEl>
                                              <p:pRg st="0" end="0"/>
                                            </p:txEl>
                                          </p:spTgt>
                                        </p:tgtEl>
                                        <p:attrNameLst>
                                          <p:attrName>style.visibility</p:attrName>
                                        </p:attrNameLst>
                                      </p:cBhvr>
                                      <p:to>
                                        <p:strVal val="visible"/>
                                      </p:to>
                                    </p:set>
                                    <p:animEffect transition="in" filter="fade">
                                      <p:cBhvr>
                                        <p:cTn id="16" dur="300"/>
                                        <p:tgtEl>
                                          <p:spTgt spid="46">
                                            <p:txEl>
                                              <p:pRg st="0" end="0"/>
                                            </p:txEl>
                                          </p:spTgt>
                                        </p:tgtEl>
                                      </p:cBhvr>
                                    </p:animEffect>
                                  </p:childTnLst>
                                </p:cTn>
                              </p:par>
                            </p:childTnLst>
                          </p:cTn>
                        </p:par>
                        <p:par>
                          <p:cTn id="17" fill="hold">
                            <p:stCondLst>
                              <p:cond delay="800"/>
                            </p:stCondLst>
                            <p:childTnLst>
                              <p:par>
                                <p:cTn id="18" presetID="10" presetClass="entr" presetSubtype="0" fill="hold" grpId="0" nodeType="afterEffect">
                                  <p:stCondLst>
                                    <p:cond delay="0"/>
                                  </p:stCondLst>
                                  <p:childTnLst>
                                    <p:set>
                                      <p:cBhvr>
                                        <p:cTn id="19" dur="1" fill="hold">
                                          <p:stCondLst>
                                            <p:cond delay="0"/>
                                          </p:stCondLst>
                                        </p:cTn>
                                        <p:tgtEl>
                                          <p:spTgt spid="46">
                                            <p:txEl>
                                              <p:pRg st="1" end="1"/>
                                            </p:txEl>
                                          </p:spTgt>
                                        </p:tgtEl>
                                        <p:attrNameLst>
                                          <p:attrName>style.visibility</p:attrName>
                                        </p:attrNameLst>
                                      </p:cBhvr>
                                      <p:to>
                                        <p:strVal val="visible"/>
                                      </p:to>
                                    </p:set>
                                    <p:animEffect transition="in" filter="fade">
                                      <p:cBhvr>
                                        <p:cTn id="20" dur="300"/>
                                        <p:tgtEl>
                                          <p:spTgt spid="46">
                                            <p:txEl>
                                              <p:pRg st="1" end="1"/>
                                            </p:txEl>
                                          </p:spTgt>
                                        </p:tgtEl>
                                      </p:cBhvr>
                                    </p:animEffect>
                                  </p:childTnLst>
                                </p:cTn>
                              </p:par>
                            </p:childTnLst>
                          </p:cTn>
                        </p:par>
                        <p:par>
                          <p:cTn id="21" fill="hold">
                            <p:stCondLst>
                              <p:cond delay="1100"/>
                            </p:stCondLst>
                            <p:childTnLst>
                              <p:par>
                                <p:cTn id="22" presetID="10" presetClass="entr" presetSubtype="0" fill="hold" grpId="0" nodeType="afterEffect">
                                  <p:stCondLst>
                                    <p:cond delay="0"/>
                                  </p:stCondLst>
                                  <p:childTnLst>
                                    <p:set>
                                      <p:cBhvr>
                                        <p:cTn id="23" dur="1" fill="hold">
                                          <p:stCondLst>
                                            <p:cond delay="0"/>
                                          </p:stCondLst>
                                        </p:cTn>
                                        <p:tgtEl>
                                          <p:spTgt spid="46">
                                            <p:txEl>
                                              <p:pRg st="2" end="2"/>
                                            </p:txEl>
                                          </p:spTgt>
                                        </p:tgtEl>
                                        <p:attrNameLst>
                                          <p:attrName>style.visibility</p:attrName>
                                        </p:attrNameLst>
                                      </p:cBhvr>
                                      <p:to>
                                        <p:strVal val="visible"/>
                                      </p:to>
                                    </p:set>
                                    <p:animEffect transition="in" filter="fade">
                                      <p:cBhvr>
                                        <p:cTn id="24" dur="300"/>
                                        <p:tgtEl>
                                          <p:spTgt spid="46">
                                            <p:txEl>
                                              <p:pRg st="2" end="2"/>
                                            </p:txEl>
                                          </p:spTgt>
                                        </p:tgtEl>
                                      </p:cBhvr>
                                    </p:animEffect>
                                  </p:childTnLst>
                                </p:cTn>
                              </p:par>
                            </p:childTnLst>
                          </p:cTn>
                        </p:par>
                        <p:par>
                          <p:cTn id="25" fill="hold">
                            <p:stCondLst>
                              <p:cond delay="1400"/>
                            </p:stCondLst>
                            <p:childTnLst>
                              <p:par>
                                <p:cTn id="26" presetID="10" presetClass="entr" presetSubtype="0" fill="hold" grpId="0" nodeType="afterEffect">
                                  <p:stCondLst>
                                    <p:cond delay="0"/>
                                  </p:stCondLst>
                                  <p:childTnLst>
                                    <p:set>
                                      <p:cBhvr>
                                        <p:cTn id="27" dur="1" fill="hold">
                                          <p:stCondLst>
                                            <p:cond delay="0"/>
                                          </p:stCondLst>
                                        </p:cTn>
                                        <p:tgtEl>
                                          <p:spTgt spid="46">
                                            <p:txEl>
                                              <p:pRg st="3" end="3"/>
                                            </p:txEl>
                                          </p:spTgt>
                                        </p:tgtEl>
                                        <p:attrNameLst>
                                          <p:attrName>style.visibility</p:attrName>
                                        </p:attrNameLst>
                                      </p:cBhvr>
                                      <p:to>
                                        <p:strVal val="visible"/>
                                      </p:to>
                                    </p:set>
                                    <p:animEffect transition="in" filter="fade">
                                      <p:cBhvr>
                                        <p:cTn id="28" dur="300"/>
                                        <p:tgtEl>
                                          <p:spTgt spid="46">
                                            <p:txEl>
                                              <p:pRg st="3" end="3"/>
                                            </p:txEl>
                                          </p:spTgt>
                                        </p:tgtEl>
                                      </p:cBhvr>
                                    </p:animEffect>
                                  </p:childTnLst>
                                </p:cTn>
                              </p:par>
                            </p:childTnLst>
                          </p:cTn>
                        </p:par>
                        <p:par>
                          <p:cTn id="29" fill="hold">
                            <p:stCondLst>
                              <p:cond delay="1700"/>
                            </p:stCondLst>
                            <p:childTnLst>
                              <p:par>
                                <p:cTn id="30" presetID="10" presetClass="entr" presetSubtype="0" fill="hold" grpId="0" nodeType="afterEffect">
                                  <p:stCondLst>
                                    <p:cond delay="0"/>
                                  </p:stCondLst>
                                  <p:childTnLst>
                                    <p:set>
                                      <p:cBhvr>
                                        <p:cTn id="31" dur="1" fill="hold">
                                          <p:stCondLst>
                                            <p:cond delay="0"/>
                                          </p:stCondLst>
                                        </p:cTn>
                                        <p:tgtEl>
                                          <p:spTgt spid="46">
                                            <p:txEl>
                                              <p:pRg st="4" end="4"/>
                                            </p:txEl>
                                          </p:spTgt>
                                        </p:tgtEl>
                                        <p:attrNameLst>
                                          <p:attrName>style.visibility</p:attrName>
                                        </p:attrNameLst>
                                      </p:cBhvr>
                                      <p:to>
                                        <p:strVal val="visible"/>
                                      </p:to>
                                    </p:set>
                                    <p:animEffect transition="in" filter="fade">
                                      <p:cBhvr>
                                        <p:cTn id="32" dur="300"/>
                                        <p:tgtEl>
                                          <p:spTgt spid="4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E353B-0E4F-49A2-8953-C676B1EE075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12CFC59-B5DF-455D-896C-2D7BD80C471E}"/>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064EB42A-9360-419D-9E88-191F5A5538F5}"/>
              </a:ext>
            </a:extLst>
          </p:cNvPr>
          <p:cNvSpPr/>
          <p:nvPr/>
        </p:nvSpPr>
        <p:spPr>
          <a:xfrm>
            <a:off x="0" y="-11455"/>
            <a:ext cx="12192000" cy="686945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5" name="Credit MAIN">
            <a:extLst>
              <a:ext uri="{FF2B5EF4-FFF2-40B4-BE49-F238E27FC236}">
                <a16:creationId xmlns:a16="http://schemas.microsoft.com/office/drawing/2014/main" id="{EC1C55A0-FDCB-4E0B-8CF8-61260D398A93}"/>
              </a:ext>
            </a:extLst>
          </p:cNvPr>
          <p:cNvSpPr txBox="1"/>
          <p:nvPr/>
        </p:nvSpPr>
        <p:spPr>
          <a:xfrm>
            <a:off x="50878" y="6432004"/>
            <a:ext cx="2668876"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Phạm</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Văn</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Quyết</a:t>
            </a:r>
            <a:endParaRPr lang="en-US" dirty="0">
              <a:solidFill>
                <a:schemeClr val="bg1">
                  <a:lumMod val="95000"/>
                  <a:alpha val="46000"/>
                </a:schemeClr>
              </a:solidFill>
            </a:endParaRPr>
          </a:p>
        </p:txBody>
      </p:sp>
      <p:sp>
        <p:nvSpPr>
          <p:cNvPr id="6" name="Header">
            <a:extLst>
              <a:ext uri="{FF2B5EF4-FFF2-40B4-BE49-F238E27FC236}">
                <a16:creationId xmlns:a16="http://schemas.microsoft.com/office/drawing/2014/main" id="{0851EE4F-18B2-4575-80DB-6FC93E2D4C2B}"/>
              </a:ext>
            </a:extLst>
          </p:cNvPr>
          <p:cNvSpPr txBox="1"/>
          <p:nvPr/>
        </p:nvSpPr>
        <p:spPr>
          <a:xfrm>
            <a:off x="50878" y="79574"/>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12" name="TextBox 11">
            <a:extLst>
              <a:ext uri="{FF2B5EF4-FFF2-40B4-BE49-F238E27FC236}">
                <a16:creationId xmlns:a16="http://schemas.microsoft.com/office/drawing/2014/main" id="{551B0494-8106-4EAB-A4EE-8E90260C6179}"/>
              </a:ext>
            </a:extLst>
          </p:cNvPr>
          <p:cNvSpPr txBox="1"/>
          <p:nvPr/>
        </p:nvSpPr>
        <p:spPr>
          <a:xfrm>
            <a:off x="591457" y="2390455"/>
            <a:ext cx="6304844" cy="2554545"/>
          </a:xfrm>
          <a:prstGeom prst="rect">
            <a:avLst/>
          </a:prstGeom>
          <a:noFill/>
        </p:spPr>
        <p:txBody>
          <a:bodyPr wrap="square">
            <a:spAutoFit/>
          </a:bodyPr>
          <a:lstStyle/>
          <a:p>
            <a:r>
              <a:rPr lang="en-US" sz="2000" dirty="0" err="1">
                <a:solidFill>
                  <a:srgbClr val="EBE9EB"/>
                </a:solidFill>
                <a:latin typeface="JetBrains Mono Light" panose="02000009000000000000" pitchFamily="49" charset="0"/>
                <a:cs typeface="JetBrains Mono Light" panose="02000009000000000000" pitchFamily="49" charset="0"/>
              </a:rPr>
              <a:t>Một</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cây</a:t>
            </a:r>
            <a:r>
              <a:rPr lang="en-US" sz="2000" dirty="0">
                <a:solidFill>
                  <a:srgbClr val="EBE9EB"/>
                </a:solidFill>
                <a:latin typeface="JetBrains Mono Light" panose="02000009000000000000" pitchFamily="49" charset="0"/>
                <a:cs typeface="JetBrains Mono Light" panose="02000009000000000000" pitchFamily="49" charset="0"/>
              </a:rPr>
              <a:t> bao </a:t>
            </a:r>
            <a:r>
              <a:rPr lang="en-US" sz="2000" dirty="0" err="1">
                <a:solidFill>
                  <a:srgbClr val="EBE9EB"/>
                </a:solidFill>
                <a:latin typeface="JetBrains Mono Light" panose="02000009000000000000" pitchFamily="49" charset="0"/>
                <a:cs typeface="JetBrains Mono Light" panose="02000009000000000000" pitchFamily="49" charset="0"/>
              </a:rPr>
              <a:t>trùm</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nhỏ</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nhất</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là</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một</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cây</a:t>
            </a:r>
            <a:r>
              <a:rPr lang="en-US" sz="2000" dirty="0">
                <a:solidFill>
                  <a:srgbClr val="EBE9EB"/>
                </a:solidFill>
                <a:latin typeface="JetBrains Mono Light" panose="02000009000000000000" pitchFamily="49" charset="0"/>
                <a:cs typeface="JetBrains Mono Light" panose="02000009000000000000" pitchFamily="49" charset="0"/>
              </a:rPr>
              <a:t> bao </a:t>
            </a:r>
            <a:r>
              <a:rPr lang="en-US" sz="2000" dirty="0" err="1">
                <a:solidFill>
                  <a:srgbClr val="EBE9EB"/>
                </a:solidFill>
                <a:latin typeface="JetBrains Mono Light" panose="02000009000000000000" pitchFamily="49" charset="0"/>
                <a:cs typeface="JetBrains Mono Light" panose="02000009000000000000" pitchFamily="49" charset="0"/>
              </a:rPr>
              <a:t>trùm</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có</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trọng</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số</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bé</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hơn</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bằng</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trọng</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số</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của</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tất</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cả</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các</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cây</a:t>
            </a:r>
            <a:r>
              <a:rPr lang="en-US" sz="2000" dirty="0">
                <a:solidFill>
                  <a:srgbClr val="EBE9EB"/>
                </a:solidFill>
                <a:latin typeface="JetBrains Mono Light" panose="02000009000000000000" pitchFamily="49" charset="0"/>
                <a:cs typeface="JetBrains Mono Light" panose="02000009000000000000" pitchFamily="49" charset="0"/>
              </a:rPr>
              <a:t> bao </a:t>
            </a:r>
            <a:r>
              <a:rPr lang="en-US" sz="2000" dirty="0" err="1">
                <a:solidFill>
                  <a:srgbClr val="EBE9EB"/>
                </a:solidFill>
                <a:latin typeface="JetBrains Mono Light" panose="02000009000000000000" pitchFamily="49" charset="0"/>
                <a:cs typeface="JetBrains Mono Light" panose="02000009000000000000" pitchFamily="49" charset="0"/>
              </a:rPr>
              <a:t>trùm</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khác</a:t>
            </a:r>
            <a:r>
              <a:rPr lang="en-US" sz="2000" dirty="0">
                <a:solidFill>
                  <a:srgbClr val="EBE9EB"/>
                </a:solidFill>
                <a:latin typeface="JetBrains Mono Light" panose="02000009000000000000" pitchFamily="49" charset="0"/>
                <a:cs typeface="JetBrains Mono Light" panose="02000009000000000000" pitchFamily="49" charset="0"/>
              </a:rPr>
              <a:t>. </a:t>
            </a:r>
          </a:p>
          <a:p>
            <a:r>
              <a:rPr lang="en-US" sz="2000" dirty="0" err="1">
                <a:solidFill>
                  <a:srgbClr val="EBE9EB"/>
                </a:solidFill>
                <a:latin typeface="JetBrains Mono Light" panose="02000009000000000000" pitchFamily="49" charset="0"/>
                <a:cs typeface="JetBrains Mono Light" panose="02000009000000000000" pitchFamily="49" charset="0"/>
              </a:rPr>
              <a:t>Tổng</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quát</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hơn</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bất</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kỳ</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một</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đồ</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thị</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vô</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hướng</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không</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nhất</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thiết</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liên</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thông</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đều</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có</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một</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rừng</a:t>
            </a:r>
            <a:r>
              <a:rPr lang="en-US" sz="2000" dirty="0">
                <a:solidFill>
                  <a:srgbClr val="EBE9EB"/>
                </a:solidFill>
                <a:latin typeface="JetBrains Mono Light" panose="02000009000000000000" pitchFamily="49" charset="0"/>
                <a:cs typeface="JetBrains Mono Light" panose="02000009000000000000" pitchFamily="49" charset="0"/>
              </a:rPr>
              <a:t> bao </a:t>
            </a:r>
            <a:r>
              <a:rPr lang="en-US" sz="2000" dirty="0" err="1">
                <a:solidFill>
                  <a:srgbClr val="EBE9EB"/>
                </a:solidFill>
                <a:latin typeface="JetBrains Mono Light" panose="02000009000000000000" pitchFamily="49" charset="0"/>
                <a:cs typeface="JetBrains Mono Light" panose="02000009000000000000" pitchFamily="49" charset="0"/>
              </a:rPr>
              <a:t>phủ</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nhỏ</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nhất</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là</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hội</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của</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các</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cây</a:t>
            </a:r>
            <a:r>
              <a:rPr lang="en-US" sz="2000" dirty="0">
                <a:solidFill>
                  <a:srgbClr val="EBE9EB"/>
                </a:solidFill>
                <a:latin typeface="JetBrains Mono Light" panose="02000009000000000000" pitchFamily="49" charset="0"/>
                <a:cs typeface="JetBrains Mono Light" panose="02000009000000000000" pitchFamily="49" charset="0"/>
              </a:rPr>
              <a:t> bao </a:t>
            </a:r>
            <a:r>
              <a:rPr lang="en-US" sz="2000" dirty="0" err="1">
                <a:solidFill>
                  <a:srgbClr val="EBE9EB"/>
                </a:solidFill>
                <a:latin typeface="JetBrains Mono Light" panose="02000009000000000000" pitchFamily="49" charset="0"/>
                <a:cs typeface="JetBrains Mono Light" panose="02000009000000000000" pitchFamily="49" charset="0"/>
              </a:rPr>
              <a:t>trùm</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nhỏ</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nhất</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của</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các</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thành</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phần</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liên</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thông</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của</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nó</a:t>
            </a:r>
            <a:r>
              <a:rPr lang="en-US" sz="2000" dirty="0">
                <a:solidFill>
                  <a:srgbClr val="EBE9EB"/>
                </a:solidFill>
                <a:latin typeface="JetBrains Mono Light" panose="02000009000000000000" pitchFamily="49" charset="0"/>
                <a:cs typeface="JetBrains Mono Light" panose="02000009000000000000" pitchFamily="49" charset="0"/>
              </a:rPr>
              <a:t>.</a:t>
            </a:r>
          </a:p>
        </p:txBody>
      </p:sp>
      <p:sp>
        <p:nvSpPr>
          <p:cNvPr id="14" name="TextBox 13">
            <a:extLst>
              <a:ext uri="{FF2B5EF4-FFF2-40B4-BE49-F238E27FC236}">
                <a16:creationId xmlns:a16="http://schemas.microsoft.com/office/drawing/2014/main" id="{859757CF-7614-4994-B535-868D2A90D513}"/>
              </a:ext>
            </a:extLst>
          </p:cNvPr>
          <p:cNvSpPr txBox="1"/>
          <p:nvPr/>
        </p:nvSpPr>
        <p:spPr>
          <a:xfrm>
            <a:off x="584422" y="1194689"/>
            <a:ext cx="6304844" cy="1015663"/>
          </a:xfrm>
          <a:prstGeom prst="rect">
            <a:avLst/>
          </a:prstGeom>
          <a:noFill/>
        </p:spPr>
        <p:txBody>
          <a:bodyPr wrap="square">
            <a:spAutoFit/>
          </a:bodyPr>
          <a:lstStyle/>
          <a:p>
            <a:r>
              <a:rPr lang="en-US" sz="2000" dirty="0" err="1">
                <a:solidFill>
                  <a:srgbClr val="EBE9EB"/>
                </a:solidFill>
                <a:latin typeface="JetBrains Mono Light" panose="02000009000000000000" pitchFamily="49" charset="0"/>
                <a:cs typeface="JetBrains Mono Light" panose="02000009000000000000" pitchFamily="49" charset="0"/>
              </a:rPr>
              <a:t>C</a:t>
            </a:r>
            <a:r>
              <a:rPr lang="en-US" sz="2000" b="0" i="0" dirty="0" err="1">
                <a:solidFill>
                  <a:srgbClr val="EBE9EB"/>
                </a:solidFill>
                <a:effectLst/>
                <a:latin typeface="JetBrains Mono Light" panose="02000009000000000000" pitchFamily="49" charset="0"/>
                <a:cs typeface="JetBrains Mono Light" panose="02000009000000000000" pitchFamily="49" charset="0"/>
              </a:rPr>
              <a:t>ây</a:t>
            </a:r>
            <a:r>
              <a:rPr lang="en-US" sz="2000" b="0" i="0" dirty="0">
                <a:solidFill>
                  <a:srgbClr val="EBE9EB"/>
                </a:solidFill>
                <a:effectLst/>
                <a:latin typeface="JetBrains Mono Light" panose="02000009000000000000" pitchFamily="49" charset="0"/>
                <a:cs typeface="JetBrains Mono Light" panose="02000009000000000000" pitchFamily="49" charset="0"/>
              </a:rPr>
              <a:t> bao </a:t>
            </a:r>
            <a:r>
              <a:rPr lang="en-US" sz="2000" b="0" i="0" dirty="0" err="1">
                <a:solidFill>
                  <a:srgbClr val="EBE9EB"/>
                </a:solidFill>
                <a:effectLst/>
                <a:latin typeface="JetBrains Mono Light" panose="02000009000000000000" pitchFamily="49" charset="0"/>
                <a:cs typeface="JetBrains Mono Light" panose="02000009000000000000" pitchFamily="49" charset="0"/>
              </a:rPr>
              <a:t>trùm</a:t>
            </a:r>
            <a:r>
              <a:rPr lang="en-US" sz="2000" b="0" i="0" dirty="0">
                <a:solidFill>
                  <a:srgbClr val="EBE9EB"/>
                </a:solidFill>
                <a:effectLst/>
                <a:latin typeface="JetBrains Mono Light" panose="02000009000000000000" pitchFamily="49" charset="0"/>
                <a:cs typeface="JetBrains Mono Light" panose="02000009000000000000" pitchFamily="49" charset="0"/>
              </a:rPr>
              <a:t> </a:t>
            </a:r>
            <a:r>
              <a:rPr lang="en-US" sz="2000" b="0" i="0" dirty="0" err="1">
                <a:solidFill>
                  <a:srgbClr val="EBE9EB"/>
                </a:solidFill>
                <a:effectLst/>
                <a:latin typeface="JetBrains Mono Light" panose="02000009000000000000" pitchFamily="49" charset="0"/>
                <a:cs typeface="JetBrains Mono Light" panose="02000009000000000000" pitchFamily="49" charset="0"/>
              </a:rPr>
              <a:t>của</a:t>
            </a:r>
            <a:r>
              <a:rPr lang="en-US" sz="2000" b="0" i="0" dirty="0">
                <a:solidFill>
                  <a:srgbClr val="EBE9EB"/>
                </a:solidFill>
                <a:effectLst/>
                <a:latin typeface="JetBrains Mono Light" panose="02000009000000000000" pitchFamily="49" charset="0"/>
                <a:cs typeface="JetBrains Mono Light" panose="02000009000000000000" pitchFamily="49" charset="0"/>
              </a:rPr>
              <a:t> </a:t>
            </a:r>
            <a:r>
              <a:rPr lang="en-US" sz="2000" b="0" i="0" dirty="0" err="1">
                <a:solidFill>
                  <a:srgbClr val="EBE9EB"/>
                </a:solidFill>
                <a:effectLst/>
                <a:latin typeface="JetBrains Mono Light" panose="02000009000000000000" pitchFamily="49" charset="0"/>
                <a:cs typeface="JetBrains Mono Light" panose="02000009000000000000" pitchFamily="49" charset="0"/>
              </a:rPr>
              <a:t>một</a:t>
            </a:r>
            <a:r>
              <a:rPr lang="en-US" sz="2000" b="0" i="0" dirty="0">
                <a:solidFill>
                  <a:srgbClr val="EBE9EB"/>
                </a:solidFill>
                <a:effectLst/>
                <a:latin typeface="JetBrains Mono Light" panose="02000009000000000000" pitchFamily="49" charset="0"/>
                <a:cs typeface="JetBrains Mono Light" panose="02000009000000000000" pitchFamily="49" charset="0"/>
              </a:rPr>
              <a:t> </a:t>
            </a:r>
            <a:r>
              <a:rPr lang="en-US" sz="2000" b="0" i="0" dirty="0" err="1">
                <a:solidFill>
                  <a:srgbClr val="EBE9EB"/>
                </a:solidFill>
                <a:effectLst/>
                <a:latin typeface="JetBrains Mono Light" panose="02000009000000000000" pitchFamily="49" charset="0"/>
                <a:cs typeface="JetBrains Mono Light" panose="02000009000000000000" pitchFamily="49" charset="0"/>
              </a:rPr>
              <a:t>đồ</a:t>
            </a:r>
            <a:r>
              <a:rPr lang="en-US" sz="2000" b="0" i="0" dirty="0">
                <a:solidFill>
                  <a:srgbClr val="EBE9EB"/>
                </a:solidFill>
                <a:effectLst/>
                <a:latin typeface="JetBrains Mono Light" panose="02000009000000000000" pitchFamily="49" charset="0"/>
                <a:cs typeface="JetBrains Mono Light" panose="02000009000000000000" pitchFamily="49" charset="0"/>
              </a:rPr>
              <a:t> </a:t>
            </a:r>
            <a:r>
              <a:rPr lang="en-US" sz="2000" b="0" i="0" dirty="0" err="1">
                <a:solidFill>
                  <a:srgbClr val="EBE9EB"/>
                </a:solidFill>
                <a:effectLst/>
                <a:latin typeface="JetBrains Mono Light" panose="02000009000000000000" pitchFamily="49" charset="0"/>
                <a:cs typeface="JetBrains Mono Light" panose="02000009000000000000" pitchFamily="49" charset="0"/>
              </a:rPr>
              <a:t>thị</a:t>
            </a:r>
            <a:r>
              <a:rPr lang="en-US" sz="2000" b="0" i="0" dirty="0">
                <a:solidFill>
                  <a:srgbClr val="EBE9EB"/>
                </a:solidFill>
                <a:effectLst/>
                <a:latin typeface="JetBrains Mono Light" panose="02000009000000000000" pitchFamily="49" charset="0"/>
                <a:cs typeface="JetBrains Mono Light" panose="02000009000000000000" pitchFamily="49" charset="0"/>
              </a:rPr>
              <a:t> G </a:t>
            </a:r>
            <a:r>
              <a:rPr lang="en-US" sz="2000" b="0" i="0" dirty="0" err="1">
                <a:solidFill>
                  <a:srgbClr val="EBE9EB"/>
                </a:solidFill>
                <a:effectLst/>
                <a:latin typeface="JetBrains Mono Light" panose="02000009000000000000" pitchFamily="49" charset="0"/>
                <a:cs typeface="JetBrains Mono Light" panose="02000009000000000000" pitchFamily="49" charset="0"/>
              </a:rPr>
              <a:t>là</a:t>
            </a:r>
            <a:r>
              <a:rPr lang="en-US" sz="2000" b="0" i="0" dirty="0">
                <a:solidFill>
                  <a:srgbClr val="EBE9EB"/>
                </a:solidFill>
                <a:effectLst/>
                <a:latin typeface="JetBrains Mono Light" panose="02000009000000000000" pitchFamily="49" charset="0"/>
                <a:cs typeface="JetBrains Mono Light" panose="02000009000000000000" pitchFamily="49" charset="0"/>
              </a:rPr>
              <a:t> </a:t>
            </a:r>
            <a:r>
              <a:rPr lang="en-US" sz="2000" b="0" i="0" dirty="0" err="1">
                <a:solidFill>
                  <a:srgbClr val="EBE9EB"/>
                </a:solidFill>
                <a:effectLst/>
                <a:latin typeface="JetBrains Mono Light" panose="02000009000000000000" pitchFamily="49" charset="0"/>
                <a:cs typeface="JetBrains Mono Light" panose="02000009000000000000" pitchFamily="49" charset="0"/>
              </a:rPr>
              <a:t>một</a:t>
            </a:r>
            <a:r>
              <a:rPr lang="en-US" sz="2000" b="0" i="0" dirty="0">
                <a:solidFill>
                  <a:srgbClr val="EBE9EB"/>
                </a:solidFill>
                <a:effectLst/>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đồ</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thị</a:t>
            </a:r>
            <a:r>
              <a:rPr lang="en-US" sz="2000" dirty="0">
                <a:solidFill>
                  <a:srgbClr val="EBE9EB"/>
                </a:solidFill>
                <a:latin typeface="JetBrains Mono Light" panose="02000009000000000000" pitchFamily="49" charset="0"/>
                <a:cs typeface="JetBrains Mono Light" panose="02000009000000000000" pitchFamily="49" charset="0"/>
              </a:rPr>
              <a:t> con</a:t>
            </a:r>
            <a:r>
              <a:rPr lang="en-US" sz="2000" b="0" i="0" dirty="0">
                <a:solidFill>
                  <a:srgbClr val="EBE9EB"/>
                </a:solidFill>
                <a:effectLst/>
                <a:latin typeface="JetBrains Mono Light" panose="02000009000000000000" pitchFamily="49" charset="0"/>
                <a:cs typeface="JetBrains Mono Light" panose="02000009000000000000" pitchFamily="49" charset="0"/>
              </a:rPr>
              <a:t>, </a:t>
            </a:r>
            <a:r>
              <a:rPr lang="en-US" sz="2000" b="0" i="0" dirty="0" err="1">
                <a:solidFill>
                  <a:srgbClr val="EBE9EB"/>
                </a:solidFill>
                <a:effectLst/>
                <a:latin typeface="JetBrains Mono Light" panose="02000009000000000000" pitchFamily="49" charset="0"/>
                <a:cs typeface="JetBrains Mono Light" panose="02000009000000000000" pitchFamily="49" charset="0"/>
              </a:rPr>
              <a:t>chứa</a:t>
            </a:r>
            <a:r>
              <a:rPr lang="en-US" sz="2000" b="0" i="0" dirty="0">
                <a:solidFill>
                  <a:srgbClr val="EBE9EB"/>
                </a:solidFill>
                <a:effectLst/>
                <a:latin typeface="JetBrains Mono Light" panose="02000009000000000000" pitchFamily="49" charset="0"/>
                <a:cs typeface="JetBrains Mono Light" panose="02000009000000000000" pitchFamily="49" charset="0"/>
              </a:rPr>
              <a:t> </a:t>
            </a:r>
            <a:r>
              <a:rPr lang="en-US" sz="2000" b="0" i="0" dirty="0" err="1">
                <a:solidFill>
                  <a:srgbClr val="EBE9EB"/>
                </a:solidFill>
                <a:effectLst/>
                <a:latin typeface="JetBrains Mono Light" panose="02000009000000000000" pitchFamily="49" charset="0"/>
                <a:cs typeface="JetBrains Mono Light" panose="02000009000000000000" pitchFamily="49" charset="0"/>
              </a:rPr>
              <a:t>tất</a:t>
            </a:r>
            <a:r>
              <a:rPr lang="en-US" sz="2000" b="0" i="0" dirty="0">
                <a:solidFill>
                  <a:srgbClr val="EBE9EB"/>
                </a:solidFill>
                <a:effectLst/>
                <a:latin typeface="JetBrains Mono Light" panose="02000009000000000000" pitchFamily="49" charset="0"/>
                <a:cs typeface="JetBrains Mono Light" panose="02000009000000000000" pitchFamily="49" charset="0"/>
              </a:rPr>
              <a:t> </a:t>
            </a:r>
            <a:r>
              <a:rPr lang="en-US" sz="2000" b="0" i="0" dirty="0" err="1">
                <a:solidFill>
                  <a:srgbClr val="EBE9EB"/>
                </a:solidFill>
                <a:effectLst/>
                <a:latin typeface="JetBrains Mono Light" panose="02000009000000000000" pitchFamily="49" charset="0"/>
                <a:cs typeface="JetBrains Mono Light" panose="02000009000000000000" pitchFamily="49" charset="0"/>
              </a:rPr>
              <a:t>cả</a:t>
            </a:r>
            <a:r>
              <a:rPr lang="en-US" sz="2000" b="0" i="0" dirty="0">
                <a:solidFill>
                  <a:srgbClr val="EBE9EB"/>
                </a:solidFill>
                <a:effectLst/>
                <a:latin typeface="JetBrains Mono Light" panose="02000009000000000000" pitchFamily="49" charset="0"/>
                <a:cs typeface="JetBrains Mono Light" panose="02000009000000000000" pitchFamily="49" charset="0"/>
              </a:rPr>
              <a:t> </a:t>
            </a:r>
            <a:r>
              <a:rPr lang="en-US" sz="2000" b="0" i="0" dirty="0" err="1">
                <a:solidFill>
                  <a:srgbClr val="EBE9EB"/>
                </a:solidFill>
                <a:effectLst/>
                <a:latin typeface="JetBrains Mono Light" panose="02000009000000000000" pitchFamily="49" charset="0"/>
                <a:cs typeface="JetBrains Mono Light" panose="02000009000000000000" pitchFamily="49" charset="0"/>
              </a:rPr>
              <a:t>các</a:t>
            </a:r>
            <a:r>
              <a:rPr lang="en-US" sz="2000" b="0" i="0" dirty="0">
                <a:solidFill>
                  <a:srgbClr val="EBE9EB"/>
                </a:solidFill>
                <a:effectLst/>
                <a:latin typeface="JetBrains Mono Light" panose="02000009000000000000" pitchFamily="49" charset="0"/>
                <a:cs typeface="JetBrains Mono Light" panose="02000009000000000000" pitchFamily="49" charset="0"/>
              </a:rPr>
              <a:t> </a:t>
            </a:r>
            <a:r>
              <a:rPr lang="en-US" sz="2000" b="0" i="0" dirty="0" err="1">
                <a:solidFill>
                  <a:srgbClr val="EBE9EB"/>
                </a:solidFill>
                <a:effectLst/>
                <a:latin typeface="JetBrains Mono Light" panose="02000009000000000000" pitchFamily="49" charset="0"/>
                <a:cs typeface="JetBrains Mono Light" panose="02000009000000000000" pitchFamily="49" charset="0"/>
              </a:rPr>
              <a:t>đỉnh</a:t>
            </a:r>
            <a:r>
              <a:rPr lang="en-US" sz="2000" b="0" i="0" dirty="0">
                <a:solidFill>
                  <a:srgbClr val="EBE9EB"/>
                </a:solidFill>
                <a:effectLst/>
                <a:latin typeface="JetBrains Mono Light" panose="02000009000000000000" pitchFamily="49" charset="0"/>
                <a:cs typeface="JetBrains Mono Light" panose="02000009000000000000" pitchFamily="49" charset="0"/>
              </a:rPr>
              <a:t> </a:t>
            </a:r>
            <a:r>
              <a:rPr lang="en-US" sz="2000" b="0" i="0" dirty="0" err="1">
                <a:solidFill>
                  <a:srgbClr val="EBE9EB"/>
                </a:solidFill>
                <a:effectLst/>
                <a:latin typeface="JetBrains Mono Light" panose="02000009000000000000" pitchFamily="49" charset="0"/>
                <a:cs typeface="JetBrains Mono Light" panose="02000009000000000000" pitchFamily="49" charset="0"/>
              </a:rPr>
              <a:t>của</a:t>
            </a:r>
            <a:r>
              <a:rPr lang="en-US" sz="2000" b="0" i="0" dirty="0">
                <a:solidFill>
                  <a:srgbClr val="EBE9EB"/>
                </a:solidFill>
                <a:effectLst/>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đồ</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thị</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liên</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thông</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và</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không</a:t>
            </a:r>
            <a:r>
              <a:rPr lang="en-US" sz="2000" dirty="0">
                <a:solidFill>
                  <a:srgbClr val="EBE9EB"/>
                </a:solidFill>
                <a:latin typeface="JetBrains Mono Light" panose="02000009000000000000" pitchFamily="49" charset="0"/>
                <a:cs typeface="JetBrains Mono Light" panose="02000009000000000000" pitchFamily="49" charset="0"/>
              </a:rPr>
              <a:t> </a:t>
            </a:r>
            <a:r>
              <a:rPr lang="en-US" sz="2000" dirty="0" err="1">
                <a:solidFill>
                  <a:srgbClr val="EBE9EB"/>
                </a:solidFill>
                <a:latin typeface="JetBrains Mono Light" panose="02000009000000000000" pitchFamily="49" charset="0"/>
                <a:cs typeface="JetBrains Mono Light" panose="02000009000000000000" pitchFamily="49" charset="0"/>
              </a:rPr>
              <a:t>có</a:t>
            </a:r>
            <a:r>
              <a:rPr lang="en-US" sz="2000" dirty="0">
                <a:solidFill>
                  <a:srgbClr val="EBE9EB"/>
                </a:solidFill>
                <a:latin typeface="JetBrains Mono Light" panose="02000009000000000000" pitchFamily="49" charset="0"/>
                <a:cs typeface="JetBrains Mono Light" panose="02000009000000000000" pitchFamily="49" charset="0"/>
              </a:rPr>
              <a:t> chu </a:t>
            </a:r>
            <a:r>
              <a:rPr lang="en-US" sz="2000" dirty="0" err="1">
                <a:solidFill>
                  <a:srgbClr val="EBE9EB"/>
                </a:solidFill>
                <a:latin typeface="JetBrains Mono Light" panose="02000009000000000000" pitchFamily="49" charset="0"/>
                <a:cs typeface="JetBrains Mono Light" panose="02000009000000000000" pitchFamily="49" charset="0"/>
              </a:rPr>
              <a:t>trình</a:t>
            </a:r>
            <a:r>
              <a:rPr lang="en-US" sz="2000" dirty="0">
                <a:solidFill>
                  <a:srgbClr val="EBE9EB"/>
                </a:solidFill>
                <a:latin typeface="JetBrains Mono Light" panose="02000009000000000000" pitchFamily="49" charset="0"/>
                <a:cs typeface="JetBrains Mono Light" panose="02000009000000000000" pitchFamily="49" charset="0"/>
              </a:rPr>
              <a:t>.</a:t>
            </a:r>
          </a:p>
        </p:txBody>
      </p:sp>
      <p:pic>
        <p:nvPicPr>
          <p:cNvPr id="2050" name="Picture 2" descr="Cây bao trùm nhỏ nhất – Wikipedia tiếng Việt">
            <a:extLst>
              <a:ext uri="{FF2B5EF4-FFF2-40B4-BE49-F238E27FC236}">
                <a16:creationId xmlns:a16="http://schemas.microsoft.com/office/drawing/2014/main" id="{37027D87-B75E-488C-9940-03CB4C6A88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8404" y="1194689"/>
            <a:ext cx="4045434" cy="3263317"/>
          </a:xfrm>
          <a:prstGeom prst="rect">
            <a:avLst/>
          </a:prstGeom>
          <a:solidFill>
            <a:schemeClr val="bg1"/>
          </a:solidFill>
          <a:ln>
            <a:solidFill>
              <a:schemeClr val="tx1">
                <a:lumMod val="50000"/>
                <a:lumOff val="50000"/>
              </a:schemeClr>
            </a:solidFill>
          </a:ln>
        </p:spPr>
      </p:pic>
      <p:sp>
        <p:nvSpPr>
          <p:cNvPr id="15" name="Rectangle 14">
            <a:extLst>
              <a:ext uri="{FF2B5EF4-FFF2-40B4-BE49-F238E27FC236}">
                <a16:creationId xmlns:a16="http://schemas.microsoft.com/office/drawing/2014/main" id="{2CD2EB20-2B75-4948-8671-B9C06EE649BA}"/>
              </a:ext>
            </a:extLst>
          </p:cNvPr>
          <p:cNvSpPr/>
          <p:nvPr/>
        </p:nvSpPr>
        <p:spPr>
          <a:xfrm>
            <a:off x="591457" y="603227"/>
            <a:ext cx="4730637"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7EB1EEDF-40FD-461F-86D5-6D465A41BD82}"/>
              </a:ext>
            </a:extLst>
          </p:cNvPr>
          <p:cNvSpPr txBox="1"/>
          <p:nvPr/>
        </p:nvSpPr>
        <p:spPr>
          <a:xfrm>
            <a:off x="603363" y="602701"/>
            <a:ext cx="4730637" cy="369332"/>
          </a:xfrm>
          <a:prstGeom prst="rect">
            <a:avLst/>
          </a:prstGeom>
          <a:no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Bài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toán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Cây</a:t>
            </a:r>
            <a:r>
              <a:rPr lang="en-US" dirty="0">
                <a:latin typeface="JetBrains Mono Regular" panose="02000009000000000000" pitchFamily="49" charset="0"/>
                <a:cs typeface="JetBrains Mono Regular" panose="02000009000000000000" pitchFamily="49" charset="0"/>
              </a:rPr>
              <a:t> bao </a:t>
            </a:r>
            <a:r>
              <a:rPr lang="en-US" dirty="0" err="1">
                <a:latin typeface="JetBrains Mono Regular" panose="02000009000000000000" pitchFamily="49" charset="0"/>
                <a:cs typeface="JetBrains Mono Regular" panose="02000009000000000000" pitchFamily="49" charset="0"/>
              </a:rPr>
              <a:t>trùm</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tối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thiểu</a:t>
            </a:r>
            <a:r>
              <a:rPr lang="en-US" dirty="0">
                <a:latin typeface="JetBrains Mono Regular" panose="02000009000000000000" pitchFamily="49" charset="0"/>
                <a:cs typeface="JetBrains Mono Regular" panose="02000009000000000000" pitchFamily="49" charset="0"/>
              </a:rPr>
              <a:t>”</a:t>
            </a:r>
          </a:p>
        </p:txBody>
      </p:sp>
      <p:sp>
        <p:nvSpPr>
          <p:cNvPr id="17" name="Footer: Part">
            <a:extLst>
              <a:ext uri="{FF2B5EF4-FFF2-40B4-BE49-F238E27FC236}">
                <a16:creationId xmlns:a16="http://schemas.microsoft.com/office/drawing/2014/main" id="{2B04180D-B838-4869-A771-D599C6C5F408}"/>
              </a:ext>
            </a:extLst>
          </p:cNvPr>
          <p:cNvSpPr txBox="1"/>
          <p:nvPr/>
        </p:nvSpPr>
        <p:spPr>
          <a:xfrm>
            <a:off x="7455877" y="6464494"/>
            <a:ext cx="4764827" cy="369332"/>
          </a:xfrm>
          <a:prstGeom prst="rect">
            <a:avLst/>
          </a:prstGeom>
          <a:noFill/>
        </p:spPr>
        <p:txBody>
          <a:bodyPr wrap="square" rtlCol="0">
            <a:spAutoFit/>
          </a:bodyPr>
          <a:lstStyle/>
          <a:p>
            <a:r>
              <a:rPr lang="en-US" dirty="0" err="1">
                <a:solidFill>
                  <a:schemeClr val="bg1">
                    <a:lumMod val="95000"/>
                  </a:schemeClr>
                </a:solidFill>
                <a:latin typeface="JetBrains Mono Regular" panose="02000009000000000000" pitchFamily="49" charset="0"/>
                <a:cs typeface="JetBrains Mono Regular" panose="02000009000000000000" pitchFamily="49" charset="0"/>
              </a:rPr>
              <a:t>Bài</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toán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a:solidFill>
                  <a:schemeClr val="bg1">
                    <a:lumMod val="95000"/>
                  </a:schemeClr>
                </a:solidFill>
                <a:latin typeface="JetBrains Mono Light" panose="02000009000000000000" pitchFamily="49" charset="0"/>
                <a:cs typeface="JetBrains Mono Light" panose="02000009000000000000" pitchFamily="49" charset="0"/>
              </a:rPr>
              <a:t>“</a:t>
            </a:r>
            <a:r>
              <a:rPr lang="en-US" dirty="0" err="1">
                <a:solidFill>
                  <a:schemeClr val="bg1">
                    <a:lumMod val="95000"/>
                  </a:schemeClr>
                </a:solidFill>
                <a:latin typeface="JetBrains Mono Light" panose="02000009000000000000" pitchFamily="49" charset="0"/>
                <a:cs typeface="JetBrains Mono Light" panose="02000009000000000000" pitchFamily="49" charset="0"/>
              </a:rPr>
              <a:t>Cây</a:t>
            </a:r>
            <a:r>
              <a:rPr lang="en-US" dirty="0">
                <a:solidFill>
                  <a:schemeClr val="bg1">
                    <a:lumMod val="95000"/>
                  </a:schemeClr>
                </a:solidFill>
                <a:latin typeface="JetBrains Mono Light" panose="02000009000000000000" pitchFamily="49" charset="0"/>
                <a:cs typeface="JetBrains Mono Light" panose="02000009000000000000" pitchFamily="49" charset="0"/>
              </a:rPr>
              <a:t> bao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trùm</a:t>
            </a:r>
            <a:r>
              <a:rPr lang="en-US" dirty="0">
                <a:solidFill>
                  <a:schemeClr val="bg1">
                    <a:lumMod val="95000"/>
                  </a:schemeClr>
                </a:solidFill>
                <a:latin typeface="JetBrains Mono Light" panose="02000009000000000000" pitchFamily="49" charset="0"/>
                <a:cs typeface="JetBrains Mono Light" panose="02000009000000000000" pitchFamily="49" charset="0"/>
              </a:rPr>
              <a:t>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tối</a:t>
            </a:r>
            <a:r>
              <a:rPr lang="en-US" dirty="0">
                <a:solidFill>
                  <a:schemeClr val="bg1">
                    <a:lumMod val="95000"/>
                  </a:schemeClr>
                </a:solidFill>
                <a:latin typeface="JetBrains Mono Light" panose="02000009000000000000" pitchFamily="49" charset="0"/>
                <a:cs typeface="JetBrains Mono Light" panose="02000009000000000000" pitchFamily="49" charset="0"/>
              </a:rPr>
              <a:t>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thiểu</a:t>
            </a:r>
            <a:r>
              <a:rPr lang="en-US" dirty="0">
                <a:solidFill>
                  <a:schemeClr val="bg1">
                    <a:lumMod val="85000"/>
                  </a:schemeClr>
                </a:solidFill>
                <a:latin typeface="JetBrains Mono Light" panose="02000009000000000000"/>
                <a:cs typeface="JetBrains Mono" panose="02000009000000000000" pitchFamily="49" charset="0"/>
              </a:rPr>
              <a:t>”</a:t>
            </a:r>
          </a:p>
        </p:txBody>
      </p:sp>
      <p:sp>
        <p:nvSpPr>
          <p:cNvPr id="18" name="Footer: Title">
            <a:extLst>
              <a:ext uri="{FF2B5EF4-FFF2-40B4-BE49-F238E27FC236}">
                <a16:creationId xmlns:a16="http://schemas.microsoft.com/office/drawing/2014/main" id="{C29F6F65-B8C0-4BEE-81B9-EFD3FFBCAE55}"/>
              </a:ext>
            </a:extLst>
          </p:cNvPr>
          <p:cNvSpPr txBox="1"/>
          <p:nvPr/>
        </p:nvSpPr>
        <p:spPr>
          <a:xfrm>
            <a:off x="6342196" y="6469576"/>
            <a:ext cx="1215645"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a:t>
            </a:r>
          </a:p>
        </p:txBody>
      </p:sp>
      <p:sp>
        <p:nvSpPr>
          <p:cNvPr id="19" name="PAGE NUM 0">
            <a:extLst>
              <a:ext uri="{FF2B5EF4-FFF2-40B4-BE49-F238E27FC236}">
                <a16:creationId xmlns:a16="http://schemas.microsoft.com/office/drawing/2014/main" id="{DF7D244B-151F-452F-87C6-6EE47F9F2C87}"/>
              </a:ext>
            </a:extLst>
          </p:cNvPr>
          <p:cNvSpPr txBox="1"/>
          <p:nvPr/>
        </p:nvSpPr>
        <p:spPr>
          <a:xfrm>
            <a:off x="11599908" y="124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4</a:t>
            </a:r>
          </a:p>
        </p:txBody>
      </p:sp>
      <p:sp>
        <p:nvSpPr>
          <p:cNvPr id="20" name="PAGE NUM 1">
            <a:extLst>
              <a:ext uri="{FF2B5EF4-FFF2-40B4-BE49-F238E27FC236}">
                <a16:creationId xmlns:a16="http://schemas.microsoft.com/office/drawing/2014/main" id="{44B3DD21-D040-43CB-B947-CA23949F0F39}"/>
              </a:ext>
            </a:extLst>
          </p:cNvPr>
          <p:cNvSpPr txBox="1"/>
          <p:nvPr/>
        </p:nvSpPr>
        <p:spPr>
          <a:xfrm>
            <a:off x="11883838" y="-476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3</a:t>
            </a:r>
            <a:endParaRPr lang="en-US" dirty="0"/>
          </a:p>
        </p:txBody>
      </p:sp>
    </p:spTree>
    <p:extLst>
      <p:ext uri="{BB962C8B-B14F-4D97-AF65-F5344CB8AC3E}">
        <p14:creationId xmlns:p14="http://schemas.microsoft.com/office/powerpoint/2010/main" val="35073915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300"/>
                                  </p:stCondLst>
                                  <p:childTnLst>
                                    <p:set>
                                      <p:cBhvr>
                                        <p:cTn id="9" dur="1" fill="hold">
                                          <p:stCondLst>
                                            <p:cond delay="0"/>
                                          </p:stCondLst>
                                        </p:cTn>
                                        <p:tgtEl>
                                          <p:spTgt spid="2050"/>
                                        </p:tgtEl>
                                        <p:attrNameLst>
                                          <p:attrName>style.visibility</p:attrName>
                                        </p:attrNameLst>
                                      </p:cBhvr>
                                      <p:to>
                                        <p:strVal val="visible"/>
                                      </p:to>
                                    </p:set>
                                    <p:animEffect transition="in" filter="fade">
                                      <p:cBhvr>
                                        <p:cTn id="10" dur="500"/>
                                        <p:tgtEl>
                                          <p:spTgt spid="205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FA022738-C5A0-46C6-9BCE-F25AF6B7C8E9}"/>
              </a:ext>
            </a:extLst>
          </p:cNvPr>
          <p:cNvSpPr>
            <a:spLocks noGrp="1"/>
          </p:cNvSpPr>
          <p:nvPr>
            <p:ph type="title"/>
          </p:nvPr>
        </p:nvSpPr>
        <p:spPr>
          <a:xfrm>
            <a:off x="838200" y="365125"/>
            <a:ext cx="10515600" cy="1325563"/>
          </a:xfrm>
        </p:spPr>
        <p:txBody>
          <a:bodyPr/>
          <a:lstStyle/>
          <a:p>
            <a:r>
              <a:rPr lang="en-US" dirty="0"/>
              <a:t> </a:t>
            </a:r>
          </a:p>
        </p:txBody>
      </p:sp>
      <p:sp>
        <p:nvSpPr>
          <p:cNvPr id="19" name="Content Placeholder 2">
            <a:extLst>
              <a:ext uri="{FF2B5EF4-FFF2-40B4-BE49-F238E27FC236}">
                <a16:creationId xmlns:a16="http://schemas.microsoft.com/office/drawing/2014/main" id="{6BBBE6C6-DF8A-42EE-9D02-C8CBD0E3E1D4}"/>
              </a:ext>
            </a:extLst>
          </p:cNvPr>
          <p:cNvSpPr>
            <a:spLocks noGrp="1"/>
          </p:cNvSpPr>
          <p:nvPr>
            <p:ph idx="1"/>
          </p:nvPr>
        </p:nvSpPr>
        <p:spPr>
          <a:xfrm>
            <a:off x="838200" y="1825625"/>
            <a:ext cx="10515600" cy="4351338"/>
          </a:xfrm>
        </p:spPr>
        <p:txBody>
          <a:bodyPr/>
          <a:lstStyle/>
          <a:p>
            <a:endParaRPr lang="en-US"/>
          </a:p>
        </p:txBody>
      </p:sp>
      <p:sp>
        <p:nvSpPr>
          <p:cNvPr id="20" name="Rectangle 19">
            <a:extLst>
              <a:ext uri="{FF2B5EF4-FFF2-40B4-BE49-F238E27FC236}">
                <a16:creationId xmlns:a16="http://schemas.microsoft.com/office/drawing/2014/main" id="{502BF1BC-5586-4D66-8CB4-BDFC37924A4F}"/>
              </a:ext>
            </a:extLst>
          </p:cNvPr>
          <p:cNvSpPr/>
          <p:nvPr/>
        </p:nvSpPr>
        <p:spPr>
          <a:xfrm>
            <a:off x="0" y="-11796"/>
            <a:ext cx="12192000" cy="686979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latin typeface="JetBrains Mono Regular" panose="02000009000000000000"/>
            </a:endParaRPr>
          </a:p>
        </p:txBody>
      </p:sp>
      <p:sp>
        <p:nvSpPr>
          <p:cNvPr id="21" name="Credit MAIN">
            <a:extLst>
              <a:ext uri="{FF2B5EF4-FFF2-40B4-BE49-F238E27FC236}">
                <a16:creationId xmlns:a16="http://schemas.microsoft.com/office/drawing/2014/main" id="{722A0BA7-DAC7-4315-BE1A-EEA3B84C5054}"/>
              </a:ext>
            </a:extLst>
          </p:cNvPr>
          <p:cNvSpPr txBox="1"/>
          <p:nvPr/>
        </p:nvSpPr>
        <p:spPr>
          <a:xfrm>
            <a:off x="50878" y="6432004"/>
            <a:ext cx="2668876"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Phạm</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Văn</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Quyết</a:t>
            </a:r>
            <a:endParaRPr lang="en-US" dirty="0">
              <a:solidFill>
                <a:schemeClr val="bg1">
                  <a:lumMod val="95000"/>
                  <a:alpha val="46000"/>
                </a:schemeClr>
              </a:solidFill>
            </a:endParaRPr>
          </a:p>
        </p:txBody>
      </p:sp>
      <p:sp>
        <p:nvSpPr>
          <p:cNvPr id="22" name="Header">
            <a:extLst>
              <a:ext uri="{FF2B5EF4-FFF2-40B4-BE49-F238E27FC236}">
                <a16:creationId xmlns:a16="http://schemas.microsoft.com/office/drawing/2014/main" id="{1D72E1E3-4D14-4892-9D50-1DB136DAC38A}"/>
              </a:ext>
            </a:extLst>
          </p:cNvPr>
          <p:cNvSpPr txBox="1"/>
          <p:nvPr/>
        </p:nvSpPr>
        <p:spPr>
          <a:xfrm>
            <a:off x="50878" y="79574"/>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29" name="TextBox 28">
            <a:extLst>
              <a:ext uri="{FF2B5EF4-FFF2-40B4-BE49-F238E27FC236}">
                <a16:creationId xmlns:a16="http://schemas.microsoft.com/office/drawing/2014/main" id="{67887A2F-7D2E-49CF-8877-941EA9FEA38A}"/>
              </a:ext>
            </a:extLst>
          </p:cNvPr>
          <p:cNvSpPr txBox="1"/>
          <p:nvPr/>
        </p:nvSpPr>
        <p:spPr>
          <a:xfrm>
            <a:off x="1024606" y="1142790"/>
            <a:ext cx="1436264"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Tính</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chất</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40" name="Rectangle 8">
            <a:extLst>
              <a:ext uri="{FF2B5EF4-FFF2-40B4-BE49-F238E27FC236}">
                <a16:creationId xmlns:a16="http://schemas.microsoft.com/office/drawing/2014/main" id="{9A1B8E62-52E4-4D25-A4BE-E6CC0D58290E}"/>
              </a:ext>
            </a:extLst>
          </p:cNvPr>
          <p:cNvSpPr>
            <a:spLocks noChangeArrowheads="1"/>
          </p:cNvSpPr>
          <p:nvPr/>
        </p:nvSpPr>
        <p:spPr bwMode="auto">
          <a:xfrm>
            <a:off x="-733778" y="4530029"/>
            <a:ext cx="1397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4436" tIns="50784" rIns="44436" bIns="38088" numCol="1" anchor="ctr" anchorCtr="0" compatLnSpc="1">
            <a:prstTxWarp prst="textNoShape">
              <a:avLst/>
            </a:prstTxWarp>
            <a:spAutoFit/>
          </a:bodyPr>
          <a:lstStyle/>
          <a:p>
            <a:endParaRPr lang="en-US"/>
          </a:p>
        </p:txBody>
      </p:sp>
      <p:sp>
        <p:nvSpPr>
          <p:cNvPr id="41" name="Rectangle 11">
            <a:extLst>
              <a:ext uri="{FF2B5EF4-FFF2-40B4-BE49-F238E27FC236}">
                <a16:creationId xmlns:a16="http://schemas.microsoft.com/office/drawing/2014/main" id="{8C72F55B-4900-4825-8E72-C4D74CD0A820}"/>
              </a:ext>
            </a:extLst>
          </p:cNvPr>
          <p:cNvSpPr>
            <a:spLocks noChangeArrowheads="1"/>
          </p:cNvSpPr>
          <p:nvPr/>
        </p:nvSpPr>
        <p:spPr bwMode="auto">
          <a:xfrm>
            <a:off x="-733778" y="4530029"/>
            <a:ext cx="1219200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endParaRPr lang="en-US"/>
          </a:p>
        </p:txBody>
      </p:sp>
      <p:sp>
        <p:nvSpPr>
          <p:cNvPr id="42" name="Rectangle 12">
            <a:extLst>
              <a:ext uri="{FF2B5EF4-FFF2-40B4-BE49-F238E27FC236}">
                <a16:creationId xmlns:a16="http://schemas.microsoft.com/office/drawing/2014/main" id="{94B0BA84-7612-4BE4-8535-0127A69B679B}"/>
              </a:ext>
            </a:extLst>
          </p:cNvPr>
          <p:cNvSpPr>
            <a:spLocks noChangeArrowheads="1"/>
          </p:cNvSpPr>
          <p:nvPr/>
        </p:nvSpPr>
        <p:spPr bwMode="auto">
          <a:xfrm>
            <a:off x="-733778" y="4530029"/>
            <a:ext cx="1219200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 name="AutoShape 10">
            <a:extLst>
              <a:ext uri="{FF2B5EF4-FFF2-40B4-BE49-F238E27FC236}">
                <a16:creationId xmlns:a16="http://schemas.microsoft.com/office/drawing/2014/main" id="{1B7E1A2C-0C02-4739-8114-D8E9E5C59D1C}"/>
              </a:ext>
            </a:extLst>
          </p:cNvPr>
          <p:cNvSpPr>
            <a:spLocks noChangeAspect="1" noChangeArrowheads="1"/>
          </p:cNvSpPr>
          <p:nvPr/>
        </p:nvSpPr>
        <p:spPr bwMode="auto">
          <a:xfrm>
            <a:off x="5209822" y="780662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Rectangle 26">
            <a:extLst>
              <a:ext uri="{FF2B5EF4-FFF2-40B4-BE49-F238E27FC236}">
                <a16:creationId xmlns:a16="http://schemas.microsoft.com/office/drawing/2014/main" id="{7DAE13DD-C102-4A09-8657-791E026FED34}"/>
              </a:ext>
            </a:extLst>
          </p:cNvPr>
          <p:cNvSpPr/>
          <p:nvPr/>
        </p:nvSpPr>
        <p:spPr>
          <a:xfrm>
            <a:off x="591457" y="603227"/>
            <a:ext cx="4730637"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726CB026-2AE2-46BB-A510-2E8D3F8B3B9C}"/>
              </a:ext>
            </a:extLst>
          </p:cNvPr>
          <p:cNvSpPr txBox="1"/>
          <p:nvPr/>
        </p:nvSpPr>
        <p:spPr>
          <a:xfrm>
            <a:off x="603363" y="602701"/>
            <a:ext cx="4730637" cy="369332"/>
          </a:xfrm>
          <a:prstGeom prst="rect">
            <a:avLst/>
          </a:prstGeom>
          <a:no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Bài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toán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Cây</a:t>
            </a:r>
            <a:r>
              <a:rPr lang="en-US" dirty="0">
                <a:latin typeface="JetBrains Mono Regular" panose="02000009000000000000" pitchFamily="49" charset="0"/>
                <a:cs typeface="JetBrains Mono Regular" panose="02000009000000000000" pitchFamily="49" charset="0"/>
              </a:rPr>
              <a:t> bao </a:t>
            </a:r>
            <a:r>
              <a:rPr lang="en-US" dirty="0" err="1">
                <a:latin typeface="JetBrains Mono Regular" panose="02000009000000000000" pitchFamily="49" charset="0"/>
                <a:cs typeface="JetBrains Mono Regular" panose="02000009000000000000" pitchFamily="49" charset="0"/>
              </a:rPr>
              <a:t>trùm</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tối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thiểu</a:t>
            </a:r>
            <a:r>
              <a:rPr lang="en-US" dirty="0">
                <a:latin typeface="JetBrains Mono Regular" panose="02000009000000000000" pitchFamily="49" charset="0"/>
                <a:cs typeface="JetBrains Mono Regular" panose="02000009000000000000" pitchFamily="49" charset="0"/>
              </a:rPr>
              <a:t>”</a:t>
            </a:r>
          </a:p>
        </p:txBody>
      </p:sp>
      <p:sp>
        <p:nvSpPr>
          <p:cNvPr id="32" name="Footer: Part">
            <a:extLst>
              <a:ext uri="{FF2B5EF4-FFF2-40B4-BE49-F238E27FC236}">
                <a16:creationId xmlns:a16="http://schemas.microsoft.com/office/drawing/2014/main" id="{776A622F-AB14-43AA-8857-41ED1DE3A542}"/>
              </a:ext>
            </a:extLst>
          </p:cNvPr>
          <p:cNvSpPr txBox="1"/>
          <p:nvPr/>
        </p:nvSpPr>
        <p:spPr>
          <a:xfrm>
            <a:off x="7455877" y="6464494"/>
            <a:ext cx="4764827" cy="369332"/>
          </a:xfrm>
          <a:prstGeom prst="rect">
            <a:avLst/>
          </a:prstGeom>
          <a:noFill/>
        </p:spPr>
        <p:txBody>
          <a:bodyPr wrap="square" rtlCol="0">
            <a:spAutoFit/>
          </a:bodyPr>
          <a:lstStyle/>
          <a:p>
            <a:r>
              <a:rPr lang="en-US" dirty="0" err="1">
                <a:solidFill>
                  <a:schemeClr val="bg1">
                    <a:lumMod val="95000"/>
                  </a:schemeClr>
                </a:solidFill>
                <a:latin typeface="JetBrains Mono Regular" panose="02000009000000000000" pitchFamily="49" charset="0"/>
                <a:cs typeface="JetBrains Mono Regular" panose="02000009000000000000" pitchFamily="49" charset="0"/>
              </a:rPr>
              <a:t>Bài</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toán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a:solidFill>
                  <a:schemeClr val="bg1">
                    <a:lumMod val="95000"/>
                  </a:schemeClr>
                </a:solidFill>
                <a:latin typeface="JetBrains Mono Light" panose="02000009000000000000" pitchFamily="49" charset="0"/>
                <a:cs typeface="JetBrains Mono Light" panose="02000009000000000000" pitchFamily="49" charset="0"/>
              </a:rPr>
              <a:t>“</a:t>
            </a:r>
            <a:r>
              <a:rPr lang="en-US" dirty="0" err="1">
                <a:solidFill>
                  <a:schemeClr val="bg1">
                    <a:lumMod val="95000"/>
                  </a:schemeClr>
                </a:solidFill>
                <a:latin typeface="JetBrains Mono Light" panose="02000009000000000000" pitchFamily="49" charset="0"/>
                <a:cs typeface="JetBrains Mono Light" panose="02000009000000000000" pitchFamily="49" charset="0"/>
              </a:rPr>
              <a:t>Cây</a:t>
            </a:r>
            <a:r>
              <a:rPr lang="en-US" dirty="0">
                <a:solidFill>
                  <a:schemeClr val="bg1">
                    <a:lumMod val="95000"/>
                  </a:schemeClr>
                </a:solidFill>
                <a:latin typeface="JetBrains Mono Light" panose="02000009000000000000" pitchFamily="49" charset="0"/>
                <a:cs typeface="JetBrains Mono Light" panose="02000009000000000000" pitchFamily="49" charset="0"/>
              </a:rPr>
              <a:t> bao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trùm</a:t>
            </a:r>
            <a:r>
              <a:rPr lang="en-US" dirty="0">
                <a:solidFill>
                  <a:schemeClr val="bg1">
                    <a:lumMod val="95000"/>
                  </a:schemeClr>
                </a:solidFill>
                <a:latin typeface="JetBrains Mono Light" panose="02000009000000000000" pitchFamily="49" charset="0"/>
                <a:cs typeface="JetBrains Mono Light" panose="02000009000000000000" pitchFamily="49" charset="0"/>
              </a:rPr>
              <a:t>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tối</a:t>
            </a:r>
            <a:r>
              <a:rPr lang="en-US" dirty="0">
                <a:solidFill>
                  <a:schemeClr val="bg1">
                    <a:lumMod val="95000"/>
                  </a:schemeClr>
                </a:solidFill>
                <a:latin typeface="JetBrains Mono Light" panose="02000009000000000000" pitchFamily="49" charset="0"/>
                <a:cs typeface="JetBrains Mono Light" panose="02000009000000000000" pitchFamily="49" charset="0"/>
              </a:rPr>
              <a:t>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thiểu</a:t>
            </a:r>
            <a:r>
              <a:rPr lang="en-US" dirty="0">
                <a:solidFill>
                  <a:schemeClr val="bg1">
                    <a:lumMod val="85000"/>
                  </a:schemeClr>
                </a:solidFill>
                <a:latin typeface="JetBrains Mono Light" panose="02000009000000000000"/>
                <a:cs typeface="JetBrains Mono" panose="02000009000000000000" pitchFamily="49" charset="0"/>
              </a:rPr>
              <a:t>”</a:t>
            </a:r>
          </a:p>
        </p:txBody>
      </p:sp>
      <p:sp>
        <p:nvSpPr>
          <p:cNvPr id="34" name="Footer: Title">
            <a:extLst>
              <a:ext uri="{FF2B5EF4-FFF2-40B4-BE49-F238E27FC236}">
                <a16:creationId xmlns:a16="http://schemas.microsoft.com/office/drawing/2014/main" id="{EAF387D2-FC41-4E82-B4B2-07A3538140AF}"/>
              </a:ext>
            </a:extLst>
          </p:cNvPr>
          <p:cNvSpPr txBox="1"/>
          <p:nvPr/>
        </p:nvSpPr>
        <p:spPr>
          <a:xfrm>
            <a:off x="6342196" y="6469576"/>
            <a:ext cx="1215645"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a:t>
            </a:r>
          </a:p>
        </p:txBody>
      </p:sp>
      <p:sp>
        <p:nvSpPr>
          <p:cNvPr id="35" name="PAGE NUM 0">
            <a:extLst>
              <a:ext uri="{FF2B5EF4-FFF2-40B4-BE49-F238E27FC236}">
                <a16:creationId xmlns:a16="http://schemas.microsoft.com/office/drawing/2014/main" id="{2655D23C-BD92-4636-BC64-0968BFAF08BD}"/>
              </a:ext>
            </a:extLst>
          </p:cNvPr>
          <p:cNvSpPr txBox="1"/>
          <p:nvPr/>
        </p:nvSpPr>
        <p:spPr>
          <a:xfrm>
            <a:off x="11599908" y="-510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4</a:t>
            </a:r>
          </a:p>
        </p:txBody>
      </p:sp>
      <p:sp>
        <p:nvSpPr>
          <p:cNvPr id="36" name="PAGE NUM 1">
            <a:extLst>
              <a:ext uri="{FF2B5EF4-FFF2-40B4-BE49-F238E27FC236}">
                <a16:creationId xmlns:a16="http://schemas.microsoft.com/office/drawing/2014/main" id="{81B42585-896A-4B83-8C20-CD0EB5AEBD38}"/>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5</a:t>
            </a:r>
            <a:endParaRPr lang="en-US" dirty="0"/>
          </a:p>
        </p:txBody>
      </p:sp>
      <p:sp>
        <p:nvSpPr>
          <p:cNvPr id="37" name="TextBox 36">
            <a:extLst>
              <a:ext uri="{FF2B5EF4-FFF2-40B4-BE49-F238E27FC236}">
                <a16:creationId xmlns:a16="http://schemas.microsoft.com/office/drawing/2014/main" id="{38630EAA-B318-41D9-9DA8-7DEADAB13FA2}"/>
              </a:ext>
            </a:extLst>
          </p:cNvPr>
          <p:cNvSpPr txBox="1"/>
          <p:nvPr/>
        </p:nvSpPr>
        <p:spPr>
          <a:xfrm>
            <a:off x="1723293" y="1654591"/>
            <a:ext cx="2287086" cy="369332"/>
          </a:xfrm>
          <a:prstGeom prst="rect">
            <a:avLst/>
          </a:prstGeom>
          <a:solidFill>
            <a:schemeClr val="bg1"/>
          </a:solidFill>
          <a:ln>
            <a:solidFill>
              <a:schemeClr val="bg1">
                <a:lumMod val="50000"/>
              </a:schemeClr>
            </a:solidFill>
          </a:ln>
        </p:spPr>
        <p:txBody>
          <a:bodyPr wrap="square" rtlCol="0">
            <a:spAutoFit/>
          </a:bodyPr>
          <a:lstStyle/>
          <a:p>
            <a:pPr algn="r"/>
            <a:r>
              <a:rPr lang="en-US" dirty="0" err="1">
                <a:latin typeface="JetBrains Mono Regular" panose="02000009000000000000" pitchFamily="49" charset="0"/>
                <a:cs typeface="JetBrains Mono Regular" panose="02000009000000000000" pitchFamily="49" charset="0"/>
              </a:rPr>
              <a:t>Có</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thể</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có</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vô</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số</a:t>
            </a:r>
            <a:endParaRPr lang="en-US" dirty="0">
              <a:latin typeface="JetBrains Mono Regular" panose="02000009000000000000" pitchFamily="49" charset="0"/>
              <a:cs typeface="JetBrains Mono Regular" panose="02000009000000000000" pitchFamily="49" charset="0"/>
            </a:endParaRPr>
          </a:p>
        </p:txBody>
      </p:sp>
      <p:sp>
        <p:nvSpPr>
          <p:cNvPr id="38" name="TextBox 37">
            <a:extLst>
              <a:ext uri="{FF2B5EF4-FFF2-40B4-BE49-F238E27FC236}">
                <a16:creationId xmlns:a16="http://schemas.microsoft.com/office/drawing/2014/main" id="{C7314B80-5E42-48DF-A4E5-095E14E43C00}"/>
              </a:ext>
            </a:extLst>
          </p:cNvPr>
          <p:cNvSpPr txBox="1"/>
          <p:nvPr/>
        </p:nvSpPr>
        <p:spPr>
          <a:xfrm>
            <a:off x="4114801" y="1656445"/>
            <a:ext cx="7485108" cy="1200329"/>
          </a:xfrm>
          <a:prstGeom prst="rect">
            <a:avLst/>
          </a:prstGeom>
          <a:noFill/>
          <a:ln>
            <a:solidFill>
              <a:schemeClr val="bg1">
                <a:lumMod val="50000"/>
              </a:schemeClr>
            </a:solidFill>
          </a:ln>
        </p:spPr>
        <p:txBody>
          <a:bodyPr wrap="square" rtlCol="0">
            <a:spAutoFit/>
          </a:bodyPr>
          <a:lstStyle/>
          <a:p>
            <a:r>
              <a:rPr lang="en-US" i="1" dirty="0" err="1">
                <a:solidFill>
                  <a:srgbClr val="EBE9EB"/>
                </a:solidFill>
                <a:latin typeface="JetBrains Mono Light" panose="02000009000000000000" pitchFamily="49" charset="0"/>
                <a:cs typeface="JetBrains Mono Light" panose="02000009000000000000" pitchFamily="49" charset="0"/>
              </a:rPr>
              <a:t>Có</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thể</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có</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một</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vài</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cây</a:t>
            </a:r>
            <a:r>
              <a:rPr lang="en-US" i="1" dirty="0">
                <a:solidFill>
                  <a:srgbClr val="EBE9EB"/>
                </a:solidFill>
                <a:latin typeface="JetBrains Mono Light" panose="02000009000000000000" pitchFamily="49" charset="0"/>
                <a:cs typeface="JetBrains Mono Light" panose="02000009000000000000" pitchFamily="49" charset="0"/>
              </a:rPr>
              <a:t> bao </a:t>
            </a:r>
            <a:r>
              <a:rPr lang="en-US" i="1" dirty="0" err="1">
                <a:solidFill>
                  <a:srgbClr val="EBE9EB"/>
                </a:solidFill>
                <a:latin typeface="JetBrains Mono Light" panose="02000009000000000000" pitchFamily="49" charset="0"/>
                <a:cs typeface="JetBrains Mono Light" panose="02000009000000000000" pitchFamily="49" charset="0"/>
              </a:rPr>
              <a:t>trùm</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nhỏ</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nhất</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có</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cùng</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trọng</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số</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và</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có</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số</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cạnh</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nhỏ</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nhất</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cụ</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thể</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hơn</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nếu</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tất</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cả</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các</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cạnh</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của</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đồ</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thị</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đều</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có</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trọng</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số</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bằng</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nhau</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thì</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tất</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cả</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các</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cây</a:t>
            </a:r>
            <a:r>
              <a:rPr lang="en-US" i="1" dirty="0">
                <a:solidFill>
                  <a:srgbClr val="EBE9EB"/>
                </a:solidFill>
                <a:latin typeface="JetBrains Mono Light" panose="02000009000000000000" pitchFamily="49" charset="0"/>
                <a:cs typeface="JetBrains Mono Light" panose="02000009000000000000" pitchFamily="49" charset="0"/>
              </a:rPr>
              <a:t> bao </a:t>
            </a:r>
            <a:r>
              <a:rPr lang="en-US" i="1" dirty="0" err="1">
                <a:solidFill>
                  <a:srgbClr val="EBE9EB"/>
                </a:solidFill>
                <a:latin typeface="JetBrains Mono Light" panose="02000009000000000000" pitchFamily="49" charset="0"/>
                <a:cs typeface="JetBrains Mono Light" panose="02000009000000000000" pitchFamily="49" charset="0"/>
              </a:rPr>
              <a:t>trùm</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của</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đồ</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thị</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đó</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đều</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là</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nhỏ</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nhất</a:t>
            </a:r>
            <a:r>
              <a:rPr lang="en-US" i="1" dirty="0">
                <a:solidFill>
                  <a:srgbClr val="EBE9EB"/>
                </a:solidFill>
                <a:latin typeface="JetBrains Mono Light" panose="02000009000000000000" pitchFamily="49" charset="0"/>
                <a:cs typeface="JetBrains Mono Light" panose="02000009000000000000" pitchFamily="49" charset="0"/>
              </a:rPr>
              <a:t>.</a:t>
            </a:r>
            <a:endParaRPr lang="en-US" i="1" dirty="0">
              <a:solidFill>
                <a:schemeClr val="bg1"/>
              </a:solidFill>
              <a:latin typeface="JetBrains Mono Light" panose="02000009000000000000" pitchFamily="49" charset="0"/>
              <a:cs typeface="JetBrains Mono Light" panose="02000009000000000000" pitchFamily="49" charset="0"/>
            </a:endParaRPr>
          </a:p>
        </p:txBody>
      </p:sp>
      <p:sp>
        <p:nvSpPr>
          <p:cNvPr id="44" name="TextBox 43">
            <a:extLst>
              <a:ext uri="{FF2B5EF4-FFF2-40B4-BE49-F238E27FC236}">
                <a16:creationId xmlns:a16="http://schemas.microsoft.com/office/drawing/2014/main" id="{1A374414-17B0-4A30-BFCA-7498B5C49E8D}"/>
              </a:ext>
            </a:extLst>
          </p:cNvPr>
          <p:cNvSpPr txBox="1"/>
          <p:nvPr/>
        </p:nvSpPr>
        <p:spPr>
          <a:xfrm>
            <a:off x="2044700" y="3165811"/>
            <a:ext cx="1965678" cy="369332"/>
          </a:xfrm>
          <a:prstGeom prst="rect">
            <a:avLst/>
          </a:prstGeom>
          <a:solidFill>
            <a:schemeClr val="bg1"/>
          </a:solidFill>
          <a:ln>
            <a:solidFill>
              <a:schemeClr val="bg1">
                <a:lumMod val="50000"/>
              </a:schemeClr>
            </a:solidFill>
          </a:ln>
        </p:spPr>
        <p:txBody>
          <a:bodyPr wrap="square" rtlCol="0">
            <a:spAutoFit/>
          </a:bodyPr>
          <a:lstStyle/>
          <a:p>
            <a:pPr algn="r"/>
            <a:r>
              <a:rPr lang="en-US" dirty="0" err="1">
                <a:latin typeface="JetBrains Mono Regular" panose="02000009000000000000" pitchFamily="49" charset="0"/>
                <a:cs typeface="JetBrains Mono Regular" panose="02000009000000000000" pitchFamily="49" charset="0"/>
              </a:rPr>
              <a:t>Tính</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duy</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nhất</a:t>
            </a:r>
            <a:endParaRPr lang="en-US" dirty="0">
              <a:latin typeface="JetBrains Mono Regular" panose="02000009000000000000" pitchFamily="49" charset="0"/>
              <a:cs typeface="JetBrains Mono Regular" panose="02000009000000000000" pitchFamily="49" charset="0"/>
            </a:endParaRPr>
          </a:p>
        </p:txBody>
      </p:sp>
      <p:sp>
        <p:nvSpPr>
          <p:cNvPr id="46" name="TextBox 45">
            <a:extLst>
              <a:ext uri="{FF2B5EF4-FFF2-40B4-BE49-F238E27FC236}">
                <a16:creationId xmlns:a16="http://schemas.microsoft.com/office/drawing/2014/main" id="{4B525105-003D-4D9B-9ECB-19C0032F7793}"/>
              </a:ext>
            </a:extLst>
          </p:cNvPr>
          <p:cNvSpPr txBox="1"/>
          <p:nvPr/>
        </p:nvSpPr>
        <p:spPr>
          <a:xfrm>
            <a:off x="4114800" y="3167665"/>
            <a:ext cx="7485108" cy="646331"/>
          </a:xfrm>
          <a:prstGeom prst="rect">
            <a:avLst/>
          </a:prstGeom>
          <a:noFill/>
          <a:ln>
            <a:solidFill>
              <a:schemeClr val="bg1">
                <a:lumMod val="50000"/>
              </a:schemeClr>
            </a:solidFill>
          </a:ln>
        </p:spPr>
        <p:txBody>
          <a:bodyPr wrap="square" rtlCol="0">
            <a:spAutoFit/>
          </a:bodyPr>
          <a:lstStyle/>
          <a:p>
            <a:r>
              <a:rPr lang="en-US" i="1" dirty="0" err="1">
                <a:solidFill>
                  <a:srgbClr val="EBE9EB"/>
                </a:solidFill>
                <a:latin typeface="JetBrains Mono Light" panose="02000009000000000000" pitchFamily="49" charset="0"/>
                <a:cs typeface="JetBrains Mono Light" panose="02000009000000000000" pitchFamily="49" charset="0"/>
              </a:rPr>
              <a:t>Nếu</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mỗi</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cạnh</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có</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trọng</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số</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riêng</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biệt</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thì</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sẽ</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chỉ</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có</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một</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và</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chỉ</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một</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cây</a:t>
            </a:r>
            <a:r>
              <a:rPr lang="en-US" i="1" dirty="0">
                <a:solidFill>
                  <a:srgbClr val="EBE9EB"/>
                </a:solidFill>
                <a:latin typeface="JetBrains Mono Light" panose="02000009000000000000" pitchFamily="49" charset="0"/>
                <a:cs typeface="JetBrains Mono Light" panose="02000009000000000000" pitchFamily="49" charset="0"/>
              </a:rPr>
              <a:t> bao </a:t>
            </a:r>
            <a:r>
              <a:rPr lang="en-US" i="1" dirty="0" err="1">
                <a:solidFill>
                  <a:srgbClr val="EBE9EB"/>
                </a:solidFill>
                <a:latin typeface="JetBrains Mono Light" panose="02000009000000000000" pitchFamily="49" charset="0"/>
                <a:cs typeface="JetBrains Mono Light" panose="02000009000000000000" pitchFamily="49" charset="0"/>
              </a:rPr>
              <a:t>trùm</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nhỏ</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nhất</a:t>
            </a:r>
            <a:r>
              <a:rPr lang="en-US" i="1" dirty="0">
                <a:solidFill>
                  <a:srgbClr val="EBE9EB"/>
                </a:solidFill>
                <a:latin typeface="JetBrains Mono Light" panose="02000009000000000000" pitchFamily="49" charset="0"/>
                <a:cs typeface="JetBrains Mono Light" panose="02000009000000000000" pitchFamily="49" charset="0"/>
              </a:rPr>
              <a:t>.</a:t>
            </a:r>
            <a:endParaRPr lang="en-US" i="1" dirty="0">
              <a:solidFill>
                <a:schemeClr val="bg1"/>
              </a:solidFill>
              <a:latin typeface="JetBrains Mono Light" panose="02000009000000000000" pitchFamily="49" charset="0"/>
              <a:cs typeface="JetBrains Mono Light" panose="02000009000000000000" pitchFamily="49" charset="0"/>
            </a:endParaRPr>
          </a:p>
        </p:txBody>
      </p:sp>
      <p:sp>
        <p:nvSpPr>
          <p:cNvPr id="48" name="TextBox 47">
            <a:extLst>
              <a:ext uri="{FF2B5EF4-FFF2-40B4-BE49-F238E27FC236}">
                <a16:creationId xmlns:a16="http://schemas.microsoft.com/office/drawing/2014/main" id="{AA21CA8F-AC0E-4E65-812D-02FF82B2FE96}"/>
              </a:ext>
            </a:extLst>
          </p:cNvPr>
          <p:cNvSpPr txBox="1"/>
          <p:nvPr/>
        </p:nvSpPr>
        <p:spPr>
          <a:xfrm>
            <a:off x="1723292" y="4182016"/>
            <a:ext cx="2287086" cy="646331"/>
          </a:xfrm>
          <a:prstGeom prst="rect">
            <a:avLst/>
          </a:prstGeom>
          <a:solidFill>
            <a:schemeClr val="bg1"/>
          </a:solidFill>
          <a:ln>
            <a:solidFill>
              <a:schemeClr val="bg1">
                <a:lumMod val="50000"/>
              </a:schemeClr>
            </a:solidFill>
          </a:ln>
        </p:spPr>
        <p:txBody>
          <a:bodyPr wrap="square" rtlCol="0">
            <a:spAutoFit/>
          </a:bodyPr>
          <a:lstStyle/>
          <a:p>
            <a:pPr algn="r"/>
            <a:r>
              <a:rPr lang="en-US" dirty="0" err="1">
                <a:latin typeface="JetBrains Mono Regular" panose="02000009000000000000" pitchFamily="49" charset="0"/>
                <a:cs typeface="JetBrains Mono Regular" panose="02000009000000000000" pitchFamily="49" charset="0"/>
              </a:rPr>
              <a:t>Đồ</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thị</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có</a:t>
            </a:r>
            <a:r>
              <a:rPr lang="en-US" dirty="0">
                <a:latin typeface="JetBrains Mono Regular" panose="02000009000000000000" pitchFamily="49" charset="0"/>
                <a:cs typeface="JetBrains Mono Regular" panose="02000009000000000000" pitchFamily="49" charset="0"/>
              </a:rPr>
              <a:t> chi </a:t>
            </a:r>
            <a:r>
              <a:rPr lang="en-US" dirty="0" err="1">
                <a:latin typeface="JetBrains Mono Regular" panose="02000009000000000000" pitchFamily="49" charset="0"/>
                <a:cs typeface="JetBrains Mono Regular" panose="02000009000000000000" pitchFamily="49" charset="0"/>
              </a:rPr>
              <a:t>phí</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nhỏ</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nhất</a:t>
            </a:r>
            <a:endParaRPr lang="en-US" dirty="0">
              <a:latin typeface="JetBrains Mono Regular" panose="02000009000000000000" pitchFamily="49" charset="0"/>
              <a:cs typeface="JetBrains Mono Regular" panose="02000009000000000000" pitchFamily="49" charset="0"/>
            </a:endParaRPr>
          </a:p>
        </p:txBody>
      </p:sp>
      <p:sp>
        <p:nvSpPr>
          <p:cNvPr id="49" name="TextBox 48">
            <a:extLst>
              <a:ext uri="{FF2B5EF4-FFF2-40B4-BE49-F238E27FC236}">
                <a16:creationId xmlns:a16="http://schemas.microsoft.com/office/drawing/2014/main" id="{E6F37394-250B-4CCE-B409-5B70A52508E7}"/>
              </a:ext>
            </a:extLst>
          </p:cNvPr>
          <p:cNvSpPr txBox="1"/>
          <p:nvPr/>
        </p:nvSpPr>
        <p:spPr>
          <a:xfrm>
            <a:off x="4114800" y="4183870"/>
            <a:ext cx="7485108" cy="1200329"/>
          </a:xfrm>
          <a:prstGeom prst="rect">
            <a:avLst/>
          </a:prstGeom>
          <a:noFill/>
          <a:ln>
            <a:solidFill>
              <a:schemeClr val="bg1">
                <a:lumMod val="50000"/>
              </a:schemeClr>
            </a:solidFill>
          </a:ln>
        </p:spPr>
        <p:txBody>
          <a:bodyPr wrap="square" rtlCol="0">
            <a:spAutoFit/>
          </a:bodyPr>
          <a:lstStyle/>
          <a:p>
            <a:r>
              <a:rPr lang="en-US" i="1" dirty="0" err="1">
                <a:solidFill>
                  <a:srgbClr val="EBE9EB"/>
                </a:solidFill>
                <a:latin typeface="JetBrains Mono Light" panose="02000009000000000000" pitchFamily="49" charset="0"/>
                <a:cs typeface="JetBrains Mono Light" panose="02000009000000000000" pitchFamily="49" charset="0"/>
              </a:rPr>
              <a:t>Nếu</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trọng</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số</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là</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số</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dương</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thì</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một</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cây</a:t>
            </a:r>
            <a:r>
              <a:rPr lang="en-US" i="1" dirty="0">
                <a:solidFill>
                  <a:srgbClr val="EBE9EB"/>
                </a:solidFill>
                <a:latin typeface="JetBrains Mono Light" panose="02000009000000000000" pitchFamily="49" charset="0"/>
                <a:cs typeface="JetBrains Mono Light" panose="02000009000000000000" pitchFamily="49" charset="0"/>
              </a:rPr>
              <a:t> bao </a:t>
            </a:r>
            <a:r>
              <a:rPr lang="en-US" i="1" dirty="0" err="1">
                <a:solidFill>
                  <a:srgbClr val="EBE9EB"/>
                </a:solidFill>
                <a:latin typeface="JetBrains Mono Light" panose="02000009000000000000" pitchFamily="49" charset="0"/>
                <a:cs typeface="JetBrains Mono Light" panose="02000009000000000000" pitchFamily="49" charset="0"/>
              </a:rPr>
              <a:t>trùm</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nhỏ</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nhất</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cũng</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chính</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là</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đồ</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thị</a:t>
            </a:r>
            <a:r>
              <a:rPr lang="en-US" i="1" dirty="0">
                <a:solidFill>
                  <a:srgbClr val="EBE9EB"/>
                </a:solidFill>
                <a:latin typeface="JetBrains Mono Light" panose="02000009000000000000" pitchFamily="49" charset="0"/>
                <a:cs typeface="JetBrains Mono Light" panose="02000009000000000000" pitchFamily="49" charset="0"/>
              </a:rPr>
              <a:t> con </a:t>
            </a:r>
            <a:r>
              <a:rPr lang="en-US" i="1" dirty="0" err="1">
                <a:solidFill>
                  <a:srgbClr val="EBE9EB"/>
                </a:solidFill>
                <a:latin typeface="JetBrains Mono Light" panose="02000009000000000000" pitchFamily="49" charset="0"/>
                <a:cs typeface="JetBrains Mono Light" panose="02000009000000000000" pitchFamily="49" charset="0"/>
              </a:rPr>
              <a:t>có</a:t>
            </a:r>
            <a:r>
              <a:rPr lang="en-US" i="1" dirty="0">
                <a:solidFill>
                  <a:srgbClr val="EBE9EB"/>
                </a:solidFill>
                <a:latin typeface="JetBrains Mono Light" panose="02000009000000000000" pitchFamily="49" charset="0"/>
                <a:cs typeface="JetBrains Mono Light" panose="02000009000000000000" pitchFamily="49" charset="0"/>
              </a:rPr>
              <a:t> chi </a:t>
            </a:r>
            <a:r>
              <a:rPr lang="en-US" i="1" dirty="0" err="1">
                <a:solidFill>
                  <a:srgbClr val="EBE9EB"/>
                </a:solidFill>
                <a:latin typeface="JetBrains Mono Light" panose="02000009000000000000" pitchFamily="49" charset="0"/>
                <a:cs typeface="JetBrains Mono Light" panose="02000009000000000000" pitchFamily="49" charset="0"/>
              </a:rPr>
              <a:t>phí</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nhỏ</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nhất</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kết</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nối</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tất</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cả</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đỉnh</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vì</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các</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đồ</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thị</a:t>
            </a:r>
            <a:r>
              <a:rPr lang="en-US" i="1" dirty="0">
                <a:solidFill>
                  <a:srgbClr val="EBE9EB"/>
                </a:solidFill>
                <a:latin typeface="JetBrains Mono Light" panose="02000009000000000000" pitchFamily="49" charset="0"/>
                <a:cs typeface="JetBrains Mono Light" panose="02000009000000000000" pitchFamily="49" charset="0"/>
              </a:rPr>
              <a:t> con </a:t>
            </a:r>
            <a:r>
              <a:rPr lang="en-US" i="1" dirty="0" err="1">
                <a:solidFill>
                  <a:srgbClr val="EBE9EB"/>
                </a:solidFill>
                <a:latin typeface="JetBrains Mono Light" panose="02000009000000000000" pitchFamily="49" charset="0"/>
                <a:cs typeface="JetBrains Mono Light" panose="02000009000000000000" pitchFamily="49" charset="0"/>
              </a:rPr>
              <a:t>có</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chứa</a:t>
            </a:r>
            <a:r>
              <a:rPr lang="en-US" i="1" dirty="0">
                <a:solidFill>
                  <a:srgbClr val="EBE9EB"/>
                </a:solidFill>
                <a:latin typeface="JetBrains Mono Light" panose="02000009000000000000" pitchFamily="49" charset="0"/>
                <a:cs typeface="JetBrains Mono Light" panose="02000009000000000000" pitchFamily="49" charset="0"/>
              </a:rPr>
              <a:t> chu </a:t>
            </a:r>
            <a:r>
              <a:rPr lang="en-US" i="1" dirty="0" err="1">
                <a:solidFill>
                  <a:srgbClr val="EBE9EB"/>
                </a:solidFill>
                <a:latin typeface="JetBrains Mono Light" panose="02000009000000000000" pitchFamily="49" charset="0"/>
                <a:cs typeface="JetBrains Mono Light" panose="02000009000000000000" pitchFamily="49" charset="0"/>
              </a:rPr>
              <a:t>trình</a:t>
            </a:r>
            <a:r>
              <a:rPr lang="en-US" i="1" dirty="0">
                <a:solidFill>
                  <a:srgbClr val="EBE9EB"/>
                </a:solidFill>
                <a:latin typeface="JetBrains Mono Light" panose="02000009000000000000" pitchFamily="49" charset="0"/>
                <a:cs typeface="JetBrains Mono Light" panose="02000009000000000000" pitchFamily="49" charset="0"/>
              </a:rPr>
              <a:t> bao </a:t>
            </a:r>
            <a:r>
              <a:rPr lang="en-US" i="1" dirty="0" err="1">
                <a:solidFill>
                  <a:srgbClr val="EBE9EB"/>
                </a:solidFill>
                <a:latin typeface="JetBrains Mono Light" panose="02000009000000000000" pitchFamily="49" charset="0"/>
                <a:cs typeface="JetBrains Mono Light" panose="02000009000000000000" pitchFamily="49" charset="0"/>
              </a:rPr>
              <a:t>giờ</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cũng</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có</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tổng</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trọng</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số</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lớn</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hơn</a:t>
            </a:r>
            <a:r>
              <a:rPr lang="en-US" i="1" dirty="0">
                <a:solidFill>
                  <a:srgbClr val="EBE9EB"/>
                </a:solidFill>
                <a:latin typeface="JetBrains Mono Light" panose="02000009000000000000" pitchFamily="49" charset="0"/>
                <a:cs typeface="JetBrains Mono Light" panose="02000009000000000000" pitchFamily="49" charset="0"/>
              </a:rPr>
              <a:t>.</a:t>
            </a:r>
            <a:endParaRPr lang="en-US" i="1" dirty="0">
              <a:solidFill>
                <a:schemeClr val="bg1"/>
              </a:solidFill>
              <a:latin typeface="JetBrains Mono Light" panose="02000009000000000000" pitchFamily="49" charset="0"/>
              <a:cs typeface="JetBrains Mono Light" panose="02000009000000000000" pitchFamily="49" charset="0"/>
            </a:endParaRPr>
          </a:p>
        </p:txBody>
      </p:sp>
    </p:spTree>
    <p:extLst>
      <p:ext uri="{BB962C8B-B14F-4D97-AF65-F5344CB8AC3E}">
        <p14:creationId xmlns:p14="http://schemas.microsoft.com/office/powerpoint/2010/main" val="28482438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500"/>
                                        <p:tgtEl>
                                          <p:spTgt spid="3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fade">
                                      <p:cBhvr>
                                        <p:cTn id="15" dur="500"/>
                                        <p:tgtEl>
                                          <p:spTgt spid="4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6"/>
                                        </p:tgtEl>
                                        <p:attrNameLst>
                                          <p:attrName>style.visibility</p:attrName>
                                        </p:attrNameLst>
                                      </p:cBhvr>
                                      <p:to>
                                        <p:strVal val="visible"/>
                                      </p:to>
                                    </p:set>
                                    <p:animEffect transition="in" filter="fade">
                                      <p:cBhvr>
                                        <p:cTn id="18" dur="500"/>
                                        <p:tgtEl>
                                          <p:spTgt spid="4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fade">
                                      <p:cBhvr>
                                        <p:cTn id="23" dur="500"/>
                                        <p:tgtEl>
                                          <p:spTgt spid="4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9"/>
                                        </p:tgtEl>
                                        <p:attrNameLst>
                                          <p:attrName>style.visibility</p:attrName>
                                        </p:attrNameLst>
                                      </p:cBhvr>
                                      <p:to>
                                        <p:strVal val="visible"/>
                                      </p:to>
                                    </p:set>
                                    <p:animEffect transition="in" filter="fade">
                                      <p:cBhvr>
                                        <p:cTn id="26"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44" grpId="0" animBg="1"/>
      <p:bldP spid="46" grpId="0" animBg="1"/>
      <p:bldP spid="48" grpId="0" animBg="1"/>
      <p:bldP spid="4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FA022738-C5A0-46C6-9BCE-F25AF6B7C8E9}"/>
              </a:ext>
            </a:extLst>
          </p:cNvPr>
          <p:cNvSpPr>
            <a:spLocks noGrp="1"/>
          </p:cNvSpPr>
          <p:nvPr>
            <p:ph type="title"/>
          </p:nvPr>
        </p:nvSpPr>
        <p:spPr>
          <a:xfrm>
            <a:off x="838200" y="365125"/>
            <a:ext cx="10515600" cy="1325563"/>
          </a:xfrm>
        </p:spPr>
        <p:txBody>
          <a:bodyPr/>
          <a:lstStyle/>
          <a:p>
            <a:r>
              <a:rPr lang="en-US" dirty="0"/>
              <a:t> </a:t>
            </a:r>
          </a:p>
        </p:txBody>
      </p:sp>
      <p:sp>
        <p:nvSpPr>
          <p:cNvPr id="19" name="Content Placeholder 2">
            <a:extLst>
              <a:ext uri="{FF2B5EF4-FFF2-40B4-BE49-F238E27FC236}">
                <a16:creationId xmlns:a16="http://schemas.microsoft.com/office/drawing/2014/main" id="{6BBBE6C6-DF8A-42EE-9D02-C8CBD0E3E1D4}"/>
              </a:ext>
            </a:extLst>
          </p:cNvPr>
          <p:cNvSpPr>
            <a:spLocks noGrp="1"/>
          </p:cNvSpPr>
          <p:nvPr>
            <p:ph idx="1"/>
          </p:nvPr>
        </p:nvSpPr>
        <p:spPr>
          <a:xfrm>
            <a:off x="838200" y="1825625"/>
            <a:ext cx="10515600" cy="4351338"/>
          </a:xfrm>
        </p:spPr>
        <p:txBody>
          <a:bodyPr/>
          <a:lstStyle/>
          <a:p>
            <a:endParaRPr lang="en-US"/>
          </a:p>
        </p:txBody>
      </p:sp>
      <p:sp>
        <p:nvSpPr>
          <p:cNvPr id="20" name="Rectangle 19">
            <a:extLst>
              <a:ext uri="{FF2B5EF4-FFF2-40B4-BE49-F238E27FC236}">
                <a16:creationId xmlns:a16="http://schemas.microsoft.com/office/drawing/2014/main" id="{502BF1BC-5586-4D66-8CB4-BDFC37924A4F}"/>
              </a:ext>
            </a:extLst>
          </p:cNvPr>
          <p:cNvSpPr/>
          <p:nvPr/>
        </p:nvSpPr>
        <p:spPr>
          <a:xfrm>
            <a:off x="0" y="-11796"/>
            <a:ext cx="12192000" cy="68796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latin typeface="JetBrains Mono Regular" panose="02000009000000000000"/>
            </a:endParaRPr>
          </a:p>
        </p:txBody>
      </p:sp>
      <p:sp>
        <p:nvSpPr>
          <p:cNvPr id="21" name="Credit MAIN">
            <a:extLst>
              <a:ext uri="{FF2B5EF4-FFF2-40B4-BE49-F238E27FC236}">
                <a16:creationId xmlns:a16="http://schemas.microsoft.com/office/drawing/2014/main" id="{722A0BA7-DAC7-4315-BE1A-EEA3B84C5054}"/>
              </a:ext>
            </a:extLst>
          </p:cNvPr>
          <p:cNvSpPr txBox="1"/>
          <p:nvPr/>
        </p:nvSpPr>
        <p:spPr>
          <a:xfrm>
            <a:off x="50878" y="6432004"/>
            <a:ext cx="2668876"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Phạm</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Văn</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Quyết</a:t>
            </a:r>
            <a:endParaRPr lang="en-US" dirty="0">
              <a:solidFill>
                <a:schemeClr val="bg1">
                  <a:lumMod val="95000"/>
                  <a:alpha val="46000"/>
                </a:schemeClr>
              </a:solidFill>
            </a:endParaRPr>
          </a:p>
        </p:txBody>
      </p:sp>
      <p:sp>
        <p:nvSpPr>
          <p:cNvPr id="22" name="Header">
            <a:extLst>
              <a:ext uri="{FF2B5EF4-FFF2-40B4-BE49-F238E27FC236}">
                <a16:creationId xmlns:a16="http://schemas.microsoft.com/office/drawing/2014/main" id="{1D72E1E3-4D14-4892-9D50-1DB136DAC38A}"/>
              </a:ext>
            </a:extLst>
          </p:cNvPr>
          <p:cNvSpPr txBox="1"/>
          <p:nvPr/>
        </p:nvSpPr>
        <p:spPr>
          <a:xfrm>
            <a:off x="50878" y="79574"/>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29" name="TextBox 28">
            <a:extLst>
              <a:ext uri="{FF2B5EF4-FFF2-40B4-BE49-F238E27FC236}">
                <a16:creationId xmlns:a16="http://schemas.microsoft.com/office/drawing/2014/main" id="{67887A2F-7D2E-49CF-8877-941EA9FEA38A}"/>
              </a:ext>
            </a:extLst>
          </p:cNvPr>
          <p:cNvSpPr txBox="1"/>
          <p:nvPr/>
        </p:nvSpPr>
        <p:spPr>
          <a:xfrm>
            <a:off x="1024606" y="1142790"/>
            <a:ext cx="1436264"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Tính</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chất</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40" name="Rectangle 8">
            <a:extLst>
              <a:ext uri="{FF2B5EF4-FFF2-40B4-BE49-F238E27FC236}">
                <a16:creationId xmlns:a16="http://schemas.microsoft.com/office/drawing/2014/main" id="{9A1B8E62-52E4-4D25-A4BE-E6CC0D58290E}"/>
              </a:ext>
            </a:extLst>
          </p:cNvPr>
          <p:cNvSpPr>
            <a:spLocks noChangeArrowheads="1"/>
          </p:cNvSpPr>
          <p:nvPr/>
        </p:nvSpPr>
        <p:spPr bwMode="auto">
          <a:xfrm>
            <a:off x="-733778" y="4530029"/>
            <a:ext cx="1397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4436" tIns="50784" rIns="44436" bIns="38088" numCol="1" anchor="ctr" anchorCtr="0" compatLnSpc="1">
            <a:prstTxWarp prst="textNoShape">
              <a:avLst/>
            </a:prstTxWarp>
            <a:spAutoFit/>
          </a:bodyPr>
          <a:lstStyle/>
          <a:p>
            <a:endParaRPr lang="en-US"/>
          </a:p>
        </p:txBody>
      </p:sp>
      <p:sp>
        <p:nvSpPr>
          <p:cNvPr id="41" name="Rectangle 11">
            <a:extLst>
              <a:ext uri="{FF2B5EF4-FFF2-40B4-BE49-F238E27FC236}">
                <a16:creationId xmlns:a16="http://schemas.microsoft.com/office/drawing/2014/main" id="{8C72F55B-4900-4825-8E72-C4D74CD0A820}"/>
              </a:ext>
            </a:extLst>
          </p:cNvPr>
          <p:cNvSpPr>
            <a:spLocks noChangeArrowheads="1"/>
          </p:cNvSpPr>
          <p:nvPr/>
        </p:nvSpPr>
        <p:spPr bwMode="auto">
          <a:xfrm>
            <a:off x="-733778" y="4530029"/>
            <a:ext cx="1219200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endParaRPr lang="en-US"/>
          </a:p>
        </p:txBody>
      </p:sp>
      <p:sp>
        <p:nvSpPr>
          <p:cNvPr id="42" name="Rectangle 12">
            <a:extLst>
              <a:ext uri="{FF2B5EF4-FFF2-40B4-BE49-F238E27FC236}">
                <a16:creationId xmlns:a16="http://schemas.microsoft.com/office/drawing/2014/main" id="{94B0BA84-7612-4BE4-8535-0127A69B679B}"/>
              </a:ext>
            </a:extLst>
          </p:cNvPr>
          <p:cNvSpPr>
            <a:spLocks noChangeArrowheads="1"/>
          </p:cNvSpPr>
          <p:nvPr/>
        </p:nvSpPr>
        <p:spPr bwMode="auto">
          <a:xfrm>
            <a:off x="-733778" y="4530029"/>
            <a:ext cx="1219200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 name="AutoShape 10">
            <a:extLst>
              <a:ext uri="{FF2B5EF4-FFF2-40B4-BE49-F238E27FC236}">
                <a16:creationId xmlns:a16="http://schemas.microsoft.com/office/drawing/2014/main" id="{1B7E1A2C-0C02-4739-8114-D8E9E5C59D1C}"/>
              </a:ext>
            </a:extLst>
          </p:cNvPr>
          <p:cNvSpPr>
            <a:spLocks noChangeAspect="1" noChangeArrowheads="1"/>
          </p:cNvSpPr>
          <p:nvPr/>
        </p:nvSpPr>
        <p:spPr bwMode="auto">
          <a:xfrm>
            <a:off x="5209822" y="780662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Rectangle 26">
            <a:extLst>
              <a:ext uri="{FF2B5EF4-FFF2-40B4-BE49-F238E27FC236}">
                <a16:creationId xmlns:a16="http://schemas.microsoft.com/office/drawing/2014/main" id="{7DAE13DD-C102-4A09-8657-791E026FED34}"/>
              </a:ext>
            </a:extLst>
          </p:cNvPr>
          <p:cNvSpPr/>
          <p:nvPr/>
        </p:nvSpPr>
        <p:spPr>
          <a:xfrm>
            <a:off x="591457" y="603227"/>
            <a:ext cx="4730637"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726CB026-2AE2-46BB-A510-2E8D3F8B3B9C}"/>
              </a:ext>
            </a:extLst>
          </p:cNvPr>
          <p:cNvSpPr txBox="1"/>
          <p:nvPr/>
        </p:nvSpPr>
        <p:spPr>
          <a:xfrm>
            <a:off x="603363" y="602701"/>
            <a:ext cx="4730637" cy="369332"/>
          </a:xfrm>
          <a:prstGeom prst="rect">
            <a:avLst/>
          </a:prstGeom>
          <a:no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Bài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toán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Cây</a:t>
            </a:r>
            <a:r>
              <a:rPr lang="en-US" dirty="0">
                <a:latin typeface="JetBrains Mono Regular" panose="02000009000000000000" pitchFamily="49" charset="0"/>
                <a:cs typeface="JetBrains Mono Regular" panose="02000009000000000000" pitchFamily="49" charset="0"/>
              </a:rPr>
              <a:t> bao </a:t>
            </a:r>
            <a:r>
              <a:rPr lang="en-US" dirty="0" err="1">
                <a:latin typeface="JetBrains Mono Regular" panose="02000009000000000000" pitchFamily="49" charset="0"/>
                <a:cs typeface="JetBrains Mono Regular" panose="02000009000000000000" pitchFamily="49" charset="0"/>
              </a:rPr>
              <a:t>trùm</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tối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thiểu</a:t>
            </a:r>
            <a:r>
              <a:rPr lang="en-US" dirty="0">
                <a:latin typeface="JetBrains Mono Regular" panose="02000009000000000000" pitchFamily="49" charset="0"/>
                <a:cs typeface="JetBrains Mono Regular" panose="02000009000000000000" pitchFamily="49" charset="0"/>
              </a:rPr>
              <a:t>”</a:t>
            </a:r>
          </a:p>
        </p:txBody>
      </p:sp>
      <p:sp>
        <p:nvSpPr>
          <p:cNvPr id="32" name="Footer: Part">
            <a:extLst>
              <a:ext uri="{FF2B5EF4-FFF2-40B4-BE49-F238E27FC236}">
                <a16:creationId xmlns:a16="http://schemas.microsoft.com/office/drawing/2014/main" id="{776A622F-AB14-43AA-8857-41ED1DE3A542}"/>
              </a:ext>
            </a:extLst>
          </p:cNvPr>
          <p:cNvSpPr txBox="1"/>
          <p:nvPr/>
        </p:nvSpPr>
        <p:spPr>
          <a:xfrm>
            <a:off x="7455877" y="6464494"/>
            <a:ext cx="4764827" cy="369332"/>
          </a:xfrm>
          <a:prstGeom prst="rect">
            <a:avLst/>
          </a:prstGeom>
          <a:noFill/>
        </p:spPr>
        <p:txBody>
          <a:bodyPr wrap="square" rtlCol="0">
            <a:spAutoFit/>
          </a:bodyPr>
          <a:lstStyle/>
          <a:p>
            <a:r>
              <a:rPr lang="en-US" dirty="0" err="1">
                <a:solidFill>
                  <a:schemeClr val="bg1">
                    <a:lumMod val="95000"/>
                  </a:schemeClr>
                </a:solidFill>
                <a:latin typeface="JetBrains Mono Regular" panose="02000009000000000000" pitchFamily="49" charset="0"/>
                <a:cs typeface="JetBrains Mono Regular" panose="02000009000000000000" pitchFamily="49" charset="0"/>
              </a:rPr>
              <a:t>Bài</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toán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a:solidFill>
                  <a:schemeClr val="bg1">
                    <a:lumMod val="95000"/>
                  </a:schemeClr>
                </a:solidFill>
                <a:latin typeface="JetBrains Mono Light" panose="02000009000000000000" pitchFamily="49" charset="0"/>
                <a:cs typeface="JetBrains Mono Light" panose="02000009000000000000" pitchFamily="49" charset="0"/>
              </a:rPr>
              <a:t>“</a:t>
            </a:r>
            <a:r>
              <a:rPr lang="en-US" dirty="0" err="1">
                <a:solidFill>
                  <a:schemeClr val="bg1">
                    <a:lumMod val="95000"/>
                  </a:schemeClr>
                </a:solidFill>
                <a:latin typeface="JetBrains Mono Light" panose="02000009000000000000" pitchFamily="49" charset="0"/>
                <a:cs typeface="JetBrains Mono Light" panose="02000009000000000000" pitchFamily="49" charset="0"/>
              </a:rPr>
              <a:t>Cây</a:t>
            </a:r>
            <a:r>
              <a:rPr lang="en-US" dirty="0">
                <a:solidFill>
                  <a:schemeClr val="bg1">
                    <a:lumMod val="95000"/>
                  </a:schemeClr>
                </a:solidFill>
                <a:latin typeface="JetBrains Mono Light" panose="02000009000000000000" pitchFamily="49" charset="0"/>
                <a:cs typeface="JetBrains Mono Light" panose="02000009000000000000" pitchFamily="49" charset="0"/>
              </a:rPr>
              <a:t> bao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trùm</a:t>
            </a:r>
            <a:r>
              <a:rPr lang="en-US" dirty="0">
                <a:solidFill>
                  <a:schemeClr val="bg1">
                    <a:lumMod val="95000"/>
                  </a:schemeClr>
                </a:solidFill>
                <a:latin typeface="JetBrains Mono Light" panose="02000009000000000000" pitchFamily="49" charset="0"/>
                <a:cs typeface="JetBrains Mono Light" panose="02000009000000000000" pitchFamily="49" charset="0"/>
              </a:rPr>
              <a:t>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tối</a:t>
            </a:r>
            <a:r>
              <a:rPr lang="en-US" dirty="0">
                <a:solidFill>
                  <a:schemeClr val="bg1">
                    <a:lumMod val="95000"/>
                  </a:schemeClr>
                </a:solidFill>
                <a:latin typeface="JetBrains Mono Light" panose="02000009000000000000" pitchFamily="49" charset="0"/>
                <a:cs typeface="JetBrains Mono Light" panose="02000009000000000000" pitchFamily="49" charset="0"/>
              </a:rPr>
              <a:t>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thiểu</a:t>
            </a:r>
            <a:r>
              <a:rPr lang="en-US" dirty="0">
                <a:solidFill>
                  <a:schemeClr val="bg1">
                    <a:lumMod val="85000"/>
                  </a:schemeClr>
                </a:solidFill>
                <a:latin typeface="JetBrains Mono Light" panose="02000009000000000000"/>
                <a:cs typeface="JetBrains Mono" panose="02000009000000000000" pitchFamily="49" charset="0"/>
              </a:rPr>
              <a:t>”</a:t>
            </a:r>
          </a:p>
        </p:txBody>
      </p:sp>
      <p:sp>
        <p:nvSpPr>
          <p:cNvPr id="34" name="Footer: Title">
            <a:extLst>
              <a:ext uri="{FF2B5EF4-FFF2-40B4-BE49-F238E27FC236}">
                <a16:creationId xmlns:a16="http://schemas.microsoft.com/office/drawing/2014/main" id="{EAF387D2-FC41-4E82-B4B2-07A3538140AF}"/>
              </a:ext>
            </a:extLst>
          </p:cNvPr>
          <p:cNvSpPr txBox="1"/>
          <p:nvPr/>
        </p:nvSpPr>
        <p:spPr>
          <a:xfrm>
            <a:off x="6342196" y="6469576"/>
            <a:ext cx="1215645"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a:t>
            </a:r>
          </a:p>
        </p:txBody>
      </p:sp>
      <p:sp>
        <p:nvSpPr>
          <p:cNvPr id="35" name="PAGE NUM 0">
            <a:extLst>
              <a:ext uri="{FF2B5EF4-FFF2-40B4-BE49-F238E27FC236}">
                <a16:creationId xmlns:a16="http://schemas.microsoft.com/office/drawing/2014/main" id="{2655D23C-BD92-4636-BC64-0968BFAF08BD}"/>
              </a:ext>
            </a:extLst>
          </p:cNvPr>
          <p:cNvSpPr txBox="1"/>
          <p:nvPr/>
        </p:nvSpPr>
        <p:spPr>
          <a:xfrm>
            <a:off x="11599908" y="-510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4</a:t>
            </a:r>
          </a:p>
        </p:txBody>
      </p:sp>
      <p:sp>
        <p:nvSpPr>
          <p:cNvPr id="36" name="PAGE NUM 1">
            <a:extLst>
              <a:ext uri="{FF2B5EF4-FFF2-40B4-BE49-F238E27FC236}">
                <a16:creationId xmlns:a16="http://schemas.microsoft.com/office/drawing/2014/main" id="{81B42585-896A-4B83-8C20-CD0EB5AEBD38}"/>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5</a:t>
            </a:r>
            <a:endParaRPr lang="en-US" dirty="0"/>
          </a:p>
        </p:txBody>
      </p:sp>
      <p:sp>
        <p:nvSpPr>
          <p:cNvPr id="37" name="TextBox 36">
            <a:extLst>
              <a:ext uri="{FF2B5EF4-FFF2-40B4-BE49-F238E27FC236}">
                <a16:creationId xmlns:a16="http://schemas.microsoft.com/office/drawing/2014/main" id="{38630EAA-B318-41D9-9DA8-7DEADAB13FA2}"/>
              </a:ext>
            </a:extLst>
          </p:cNvPr>
          <p:cNvSpPr txBox="1"/>
          <p:nvPr/>
        </p:nvSpPr>
        <p:spPr>
          <a:xfrm>
            <a:off x="1723293" y="1654591"/>
            <a:ext cx="2287086" cy="369332"/>
          </a:xfrm>
          <a:prstGeom prst="rect">
            <a:avLst/>
          </a:prstGeom>
          <a:noFill/>
          <a:ln>
            <a:solidFill>
              <a:schemeClr val="bg1">
                <a:lumMod val="50000"/>
              </a:schemeClr>
            </a:solidFill>
          </a:ln>
        </p:spPr>
        <p:txBody>
          <a:bodyPr wrap="square" rtlCol="0">
            <a:spAutoFit/>
          </a:bodyPr>
          <a:lstStyle/>
          <a:p>
            <a:pPr algn="r"/>
            <a:r>
              <a:rPr lang="en-US" dirty="0" err="1">
                <a:solidFill>
                  <a:schemeClr val="bg1">
                    <a:lumMod val="50000"/>
                  </a:schemeClr>
                </a:solidFill>
                <a:latin typeface="JetBrains Mono Regular" panose="02000009000000000000" pitchFamily="49" charset="0"/>
                <a:cs typeface="JetBrains Mono Regular" panose="02000009000000000000" pitchFamily="49" charset="0"/>
              </a:rPr>
              <a:t>Có</a:t>
            </a:r>
            <a:r>
              <a:rPr lang="en-US" dirty="0">
                <a:solidFill>
                  <a:schemeClr val="bg1">
                    <a:lumMod val="50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50000"/>
                  </a:schemeClr>
                </a:solidFill>
                <a:latin typeface="JetBrains Mono Regular" panose="02000009000000000000" pitchFamily="49" charset="0"/>
                <a:cs typeface="JetBrains Mono Regular" panose="02000009000000000000" pitchFamily="49" charset="0"/>
              </a:rPr>
              <a:t>thể</a:t>
            </a:r>
            <a:r>
              <a:rPr lang="en-US" dirty="0">
                <a:solidFill>
                  <a:schemeClr val="bg1">
                    <a:lumMod val="50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50000"/>
                  </a:schemeClr>
                </a:solidFill>
                <a:latin typeface="JetBrains Mono Regular" panose="02000009000000000000" pitchFamily="49" charset="0"/>
                <a:cs typeface="JetBrains Mono Regular" panose="02000009000000000000" pitchFamily="49" charset="0"/>
              </a:rPr>
              <a:t>có</a:t>
            </a:r>
            <a:r>
              <a:rPr lang="en-US" dirty="0">
                <a:solidFill>
                  <a:schemeClr val="bg1">
                    <a:lumMod val="50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50000"/>
                  </a:schemeClr>
                </a:solidFill>
                <a:latin typeface="JetBrains Mono Regular" panose="02000009000000000000" pitchFamily="49" charset="0"/>
                <a:cs typeface="JetBrains Mono Regular" panose="02000009000000000000" pitchFamily="49" charset="0"/>
              </a:rPr>
              <a:t>vô</a:t>
            </a:r>
            <a:r>
              <a:rPr lang="en-US" dirty="0">
                <a:solidFill>
                  <a:schemeClr val="bg1">
                    <a:lumMod val="50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50000"/>
                  </a:schemeClr>
                </a:solidFill>
                <a:latin typeface="JetBrains Mono Regular" panose="02000009000000000000" pitchFamily="49" charset="0"/>
                <a:cs typeface="JetBrains Mono Regular" panose="02000009000000000000" pitchFamily="49" charset="0"/>
              </a:rPr>
              <a:t>số</a:t>
            </a:r>
            <a:endParaRPr lang="en-US" dirty="0">
              <a:solidFill>
                <a:schemeClr val="bg1">
                  <a:lumMod val="50000"/>
                </a:schemeClr>
              </a:solidFill>
              <a:latin typeface="JetBrains Mono Regular" panose="02000009000000000000" pitchFamily="49" charset="0"/>
              <a:cs typeface="JetBrains Mono Regular" panose="02000009000000000000" pitchFamily="49" charset="0"/>
            </a:endParaRPr>
          </a:p>
        </p:txBody>
      </p:sp>
      <p:sp>
        <p:nvSpPr>
          <p:cNvPr id="44" name="TextBox 43">
            <a:extLst>
              <a:ext uri="{FF2B5EF4-FFF2-40B4-BE49-F238E27FC236}">
                <a16:creationId xmlns:a16="http://schemas.microsoft.com/office/drawing/2014/main" id="{1A374414-17B0-4A30-BFCA-7498B5C49E8D}"/>
              </a:ext>
            </a:extLst>
          </p:cNvPr>
          <p:cNvSpPr txBox="1"/>
          <p:nvPr/>
        </p:nvSpPr>
        <p:spPr>
          <a:xfrm>
            <a:off x="4130322" y="1655283"/>
            <a:ext cx="1965678" cy="369332"/>
          </a:xfrm>
          <a:prstGeom prst="rect">
            <a:avLst/>
          </a:prstGeom>
          <a:noFill/>
          <a:ln>
            <a:solidFill>
              <a:schemeClr val="bg1">
                <a:lumMod val="50000"/>
              </a:schemeClr>
            </a:solidFill>
          </a:ln>
        </p:spPr>
        <p:txBody>
          <a:bodyPr wrap="square" rtlCol="0">
            <a:spAutoFit/>
          </a:bodyPr>
          <a:lstStyle/>
          <a:p>
            <a:pPr algn="r"/>
            <a:r>
              <a:rPr lang="en-US" dirty="0" err="1">
                <a:solidFill>
                  <a:schemeClr val="bg1">
                    <a:lumMod val="50000"/>
                  </a:schemeClr>
                </a:solidFill>
                <a:latin typeface="JetBrains Mono Regular" panose="02000009000000000000" pitchFamily="49" charset="0"/>
                <a:cs typeface="JetBrains Mono Regular" panose="02000009000000000000" pitchFamily="49" charset="0"/>
              </a:rPr>
              <a:t>Tính</a:t>
            </a:r>
            <a:r>
              <a:rPr lang="en-US" dirty="0">
                <a:solidFill>
                  <a:schemeClr val="bg1">
                    <a:lumMod val="50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50000"/>
                  </a:schemeClr>
                </a:solidFill>
                <a:latin typeface="JetBrains Mono Regular" panose="02000009000000000000" pitchFamily="49" charset="0"/>
                <a:cs typeface="JetBrains Mono Regular" panose="02000009000000000000" pitchFamily="49" charset="0"/>
              </a:rPr>
              <a:t>duy</a:t>
            </a:r>
            <a:r>
              <a:rPr lang="en-US" dirty="0">
                <a:solidFill>
                  <a:schemeClr val="bg1">
                    <a:lumMod val="50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50000"/>
                  </a:schemeClr>
                </a:solidFill>
                <a:latin typeface="JetBrains Mono Regular" panose="02000009000000000000" pitchFamily="49" charset="0"/>
                <a:cs typeface="JetBrains Mono Regular" panose="02000009000000000000" pitchFamily="49" charset="0"/>
              </a:rPr>
              <a:t>nhất</a:t>
            </a:r>
            <a:endParaRPr lang="en-US" dirty="0">
              <a:solidFill>
                <a:schemeClr val="bg1">
                  <a:lumMod val="50000"/>
                </a:schemeClr>
              </a:solidFill>
              <a:latin typeface="JetBrains Mono Regular" panose="02000009000000000000" pitchFamily="49" charset="0"/>
              <a:cs typeface="JetBrains Mono Regular" panose="02000009000000000000" pitchFamily="49" charset="0"/>
            </a:endParaRPr>
          </a:p>
        </p:txBody>
      </p:sp>
      <p:sp>
        <p:nvSpPr>
          <p:cNvPr id="48" name="TextBox 47">
            <a:extLst>
              <a:ext uri="{FF2B5EF4-FFF2-40B4-BE49-F238E27FC236}">
                <a16:creationId xmlns:a16="http://schemas.microsoft.com/office/drawing/2014/main" id="{AA21CA8F-AC0E-4E65-812D-02FF82B2FE96}"/>
              </a:ext>
            </a:extLst>
          </p:cNvPr>
          <p:cNvSpPr txBox="1"/>
          <p:nvPr/>
        </p:nvSpPr>
        <p:spPr>
          <a:xfrm>
            <a:off x="6215943" y="1649834"/>
            <a:ext cx="3778957" cy="369332"/>
          </a:xfrm>
          <a:prstGeom prst="rect">
            <a:avLst/>
          </a:prstGeom>
          <a:noFill/>
          <a:ln>
            <a:solidFill>
              <a:schemeClr val="bg1">
                <a:lumMod val="50000"/>
              </a:schemeClr>
            </a:solidFill>
          </a:ln>
        </p:spPr>
        <p:txBody>
          <a:bodyPr wrap="square" rtlCol="0">
            <a:spAutoFit/>
          </a:bodyPr>
          <a:lstStyle/>
          <a:p>
            <a:pPr algn="r"/>
            <a:r>
              <a:rPr lang="en-US" dirty="0" err="1">
                <a:solidFill>
                  <a:schemeClr val="bg1">
                    <a:lumMod val="50000"/>
                  </a:schemeClr>
                </a:solidFill>
                <a:latin typeface="JetBrains Mono Regular" panose="02000009000000000000" pitchFamily="49" charset="0"/>
                <a:cs typeface="JetBrains Mono Regular" panose="02000009000000000000" pitchFamily="49" charset="0"/>
              </a:rPr>
              <a:t>Đồ</a:t>
            </a:r>
            <a:r>
              <a:rPr lang="en-US" dirty="0">
                <a:solidFill>
                  <a:schemeClr val="bg1">
                    <a:lumMod val="50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50000"/>
                  </a:schemeClr>
                </a:solidFill>
                <a:latin typeface="JetBrains Mono Regular" panose="02000009000000000000" pitchFamily="49" charset="0"/>
                <a:cs typeface="JetBrains Mono Regular" panose="02000009000000000000" pitchFamily="49" charset="0"/>
              </a:rPr>
              <a:t>thị</a:t>
            </a:r>
            <a:r>
              <a:rPr lang="en-US" dirty="0">
                <a:solidFill>
                  <a:schemeClr val="bg1">
                    <a:lumMod val="50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50000"/>
                  </a:schemeClr>
                </a:solidFill>
                <a:latin typeface="JetBrains Mono Regular" panose="02000009000000000000" pitchFamily="49" charset="0"/>
                <a:cs typeface="JetBrains Mono Regular" panose="02000009000000000000" pitchFamily="49" charset="0"/>
              </a:rPr>
              <a:t>có</a:t>
            </a:r>
            <a:r>
              <a:rPr lang="en-US" dirty="0">
                <a:solidFill>
                  <a:schemeClr val="bg1">
                    <a:lumMod val="50000"/>
                  </a:schemeClr>
                </a:solidFill>
                <a:latin typeface="JetBrains Mono Regular" panose="02000009000000000000" pitchFamily="49" charset="0"/>
                <a:cs typeface="JetBrains Mono Regular" panose="02000009000000000000" pitchFamily="49" charset="0"/>
              </a:rPr>
              <a:t> chi </a:t>
            </a:r>
            <a:r>
              <a:rPr lang="en-US" dirty="0" err="1">
                <a:solidFill>
                  <a:schemeClr val="bg1">
                    <a:lumMod val="50000"/>
                  </a:schemeClr>
                </a:solidFill>
                <a:latin typeface="JetBrains Mono Regular" panose="02000009000000000000" pitchFamily="49" charset="0"/>
                <a:cs typeface="JetBrains Mono Regular" panose="02000009000000000000" pitchFamily="49" charset="0"/>
              </a:rPr>
              <a:t>phí</a:t>
            </a:r>
            <a:r>
              <a:rPr lang="en-US" dirty="0">
                <a:solidFill>
                  <a:schemeClr val="bg1">
                    <a:lumMod val="50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50000"/>
                  </a:schemeClr>
                </a:solidFill>
                <a:latin typeface="JetBrains Mono Regular" panose="02000009000000000000" pitchFamily="49" charset="0"/>
                <a:cs typeface="JetBrains Mono Regular" panose="02000009000000000000" pitchFamily="49" charset="0"/>
              </a:rPr>
              <a:t>nhỏ</a:t>
            </a:r>
            <a:r>
              <a:rPr lang="en-US" dirty="0">
                <a:solidFill>
                  <a:schemeClr val="bg1">
                    <a:lumMod val="50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50000"/>
                  </a:schemeClr>
                </a:solidFill>
                <a:latin typeface="JetBrains Mono Regular" panose="02000009000000000000" pitchFamily="49" charset="0"/>
                <a:cs typeface="JetBrains Mono Regular" panose="02000009000000000000" pitchFamily="49" charset="0"/>
              </a:rPr>
              <a:t>nhất</a:t>
            </a:r>
            <a:endParaRPr lang="en-US" dirty="0">
              <a:solidFill>
                <a:schemeClr val="bg1">
                  <a:lumMod val="50000"/>
                </a:schemeClr>
              </a:solidFill>
              <a:latin typeface="JetBrains Mono Regular" panose="02000009000000000000" pitchFamily="49" charset="0"/>
              <a:cs typeface="JetBrains Mono Regular" panose="02000009000000000000" pitchFamily="49" charset="0"/>
            </a:endParaRPr>
          </a:p>
        </p:txBody>
      </p:sp>
      <p:sp>
        <p:nvSpPr>
          <p:cNvPr id="50" name="TextBox 49">
            <a:extLst>
              <a:ext uri="{FF2B5EF4-FFF2-40B4-BE49-F238E27FC236}">
                <a16:creationId xmlns:a16="http://schemas.microsoft.com/office/drawing/2014/main" id="{72F7460E-F377-4B85-AF47-A6C6159D94D4}"/>
              </a:ext>
            </a:extLst>
          </p:cNvPr>
          <p:cNvSpPr txBox="1"/>
          <p:nvPr/>
        </p:nvSpPr>
        <p:spPr>
          <a:xfrm>
            <a:off x="1866900" y="2401430"/>
            <a:ext cx="2143478" cy="369332"/>
          </a:xfrm>
          <a:prstGeom prst="rect">
            <a:avLst/>
          </a:prstGeom>
          <a:solidFill>
            <a:schemeClr val="bg1"/>
          </a:solidFill>
          <a:ln>
            <a:solidFill>
              <a:schemeClr val="bg1">
                <a:lumMod val="50000"/>
              </a:schemeClr>
            </a:solidFill>
          </a:ln>
        </p:spPr>
        <p:txBody>
          <a:bodyPr wrap="square" rtlCol="0">
            <a:spAutoFit/>
          </a:bodyPr>
          <a:lstStyle/>
          <a:p>
            <a:pPr algn="r"/>
            <a:r>
              <a:rPr lang="en-US" dirty="0" err="1">
                <a:latin typeface="JetBrains Mono Regular" panose="02000009000000000000" pitchFamily="49" charset="0"/>
                <a:cs typeface="JetBrains Mono Regular" panose="02000009000000000000" pitchFamily="49" charset="0"/>
              </a:rPr>
              <a:t>Tính</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chất</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vòng</a:t>
            </a:r>
            <a:endParaRPr lang="en-US" dirty="0">
              <a:latin typeface="JetBrains Mono Regular" panose="02000009000000000000" pitchFamily="49" charset="0"/>
              <a:cs typeface="JetBrains Mono Regular" panose="02000009000000000000" pitchFamily="49" charset="0"/>
            </a:endParaRPr>
          </a:p>
        </p:txBody>
      </p:sp>
      <p:sp>
        <p:nvSpPr>
          <p:cNvPr id="51" name="TextBox 50">
            <a:extLst>
              <a:ext uri="{FF2B5EF4-FFF2-40B4-BE49-F238E27FC236}">
                <a16:creationId xmlns:a16="http://schemas.microsoft.com/office/drawing/2014/main" id="{FA07AF63-CD62-493C-8628-D1AC0BCE23B1}"/>
              </a:ext>
            </a:extLst>
          </p:cNvPr>
          <p:cNvSpPr txBox="1"/>
          <p:nvPr/>
        </p:nvSpPr>
        <p:spPr>
          <a:xfrm>
            <a:off x="4114800" y="2407384"/>
            <a:ext cx="7485108" cy="1200329"/>
          </a:xfrm>
          <a:prstGeom prst="rect">
            <a:avLst/>
          </a:prstGeom>
          <a:noFill/>
          <a:ln>
            <a:solidFill>
              <a:schemeClr val="bg1">
                <a:lumMod val="50000"/>
              </a:schemeClr>
            </a:solidFill>
          </a:ln>
        </p:spPr>
        <p:txBody>
          <a:bodyPr wrap="square" rtlCol="0">
            <a:spAutoFit/>
          </a:bodyPr>
          <a:lstStyle/>
          <a:p>
            <a:r>
              <a:rPr lang="en-US" altLang="en-US" i="1" dirty="0" err="1">
                <a:solidFill>
                  <a:srgbClr val="EBE9EB"/>
                </a:solidFill>
                <a:latin typeface="JetBrains Mono Light" panose="02000009000000000000" pitchFamily="49" charset="0"/>
                <a:cs typeface="JetBrains Mono Light" panose="02000009000000000000" pitchFamily="49" charset="0"/>
              </a:rPr>
              <a:t>Với</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một</a:t>
            </a:r>
            <a:r>
              <a:rPr lang="en-US" altLang="en-US" i="1" dirty="0">
                <a:solidFill>
                  <a:srgbClr val="EBE9EB"/>
                </a:solidFill>
                <a:latin typeface="JetBrains Mono Light" panose="02000009000000000000" pitchFamily="49" charset="0"/>
                <a:cs typeface="JetBrains Mono Light" panose="02000009000000000000" pitchFamily="49" charset="0"/>
              </a:rPr>
              <a:t> chu </a:t>
            </a:r>
            <a:r>
              <a:rPr lang="en-US" altLang="en-US" i="1" dirty="0" err="1">
                <a:solidFill>
                  <a:srgbClr val="EBE9EB"/>
                </a:solidFill>
                <a:latin typeface="JetBrains Mono Light" panose="02000009000000000000" pitchFamily="49" charset="0"/>
                <a:cs typeface="JetBrains Mono Light" panose="02000009000000000000" pitchFamily="49" charset="0"/>
              </a:rPr>
              <a:t>trình</a:t>
            </a:r>
            <a:r>
              <a:rPr lang="en-US" altLang="en-US" i="1" dirty="0">
                <a:solidFill>
                  <a:srgbClr val="EBE9EB"/>
                </a:solidFill>
                <a:latin typeface="JetBrains Mono Light" panose="02000009000000000000" pitchFamily="49" charset="0"/>
                <a:cs typeface="JetBrains Mono Light" panose="02000009000000000000" pitchFamily="49" charset="0"/>
              </a:rPr>
              <a:t> C </a:t>
            </a:r>
            <a:r>
              <a:rPr lang="en-US" altLang="en-US" i="1" dirty="0" err="1">
                <a:solidFill>
                  <a:srgbClr val="EBE9EB"/>
                </a:solidFill>
                <a:latin typeface="JetBrains Mono Light" panose="02000009000000000000" pitchFamily="49" charset="0"/>
                <a:cs typeface="JetBrains Mono Light" panose="02000009000000000000" pitchFamily="49" charset="0"/>
              </a:rPr>
              <a:t>bất</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kỳ</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trong</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đồ</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thị</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nếu</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trọng</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số</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của</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cạnh</a:t>
            </a:r>
            <a:r>
              <a:rPr lang="en-US" altLang="en-US" i="1" dirty="0">
                <a:solidFill>
                  <a:srgbClr val="EBE9EB"/>
                </a:solidFill>
                <a:latin typeface="JetBrains Mono Light" panose="02000009000000000000" pitchFamily="49" charset="0"/>
                <a:cs typeface="JetBrains Mono Light" panose="02000009000000000000" pitchFamily="49" charset="0"/>
              </a:rPr>
              <a:t> e </a:t>
            </a:r>
            <a:r>
              <a:rPr lang="en-US" altLang="en-US" i="1" dirty="0" err="1">
                <a:solidFill>
                  <a:srgbClr val="EBE9EB"/>
                </a:solidFill>
                <a:latin typeface="JetBrains Mono Light" panose="02000009000000000000" pitchFamily="49" charset="0"/>
                <a:cs typeface="JetBrains Mono Light" panose="02000009000000000000" pitchFamily="49" charset="0"/>
              </a:rPr>
              <a:t>nào</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đó</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của</a:t>
            </a:r>
            <a:r>
              <a:rPr lang="en-US" altLang="en-US" i="1" dirty="0">
                <a:solidFill>
                  <a:srgbClr val="EBE9EB"/>
                </a:solidFill>
                <a:latin typeface="JetBrains Mono Light" panose="02000009000000000000" pitchFamily="49" charset="0"/>
                <a:cs typeface="JetBrains Mono Light" panose="02000009000000000000" pitchFamily="49" charset="0"/>
              </a:rPr>
              <a:t> C </a:t>
            </a:r>
            <a:r>
              <a:rPr lang="en-US" altLang="en-US" i="1" dirty="0" err="1">
                <a:solidFill>
                  <a:srgbClr val="EBE9EB"/>
                </a:solidFill>
                <a:latin typeface="JetBrains Mono Light" panose="02000009000000000000" pitchFamily="49" charset="0"/>
                <a:cs typeface="JetBrains Mono Light" panose="02000009000000000000" pitchFamily="49" charset="0"/>
              </a:rPr>
              <a:t>lớn</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hơn</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trọng</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số</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của</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các</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cạnh</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còn</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lại</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của</a:t>
            </a:r>
            <a:r>
              <a:rPr lang="en-US" altLang="en-US" i="1" dirty="0">
                <a:solidFill>
                  <a:srgbClr val="EBE9EB"/>
                </a:solidFill>
                <a:latin typeface="JetBrains Mono Light" panose="02000009000000000000" pitchFamily="49" charset="0"/>
                <a:cs typeface="JetBrains Mono Light" panose="02000009000000000000" pitchFamily="49" charset="0"/>
              </a:rPr>
              <a:t> C, </a:t>
            </a:r>
            <a:r>
              <a:rPr lang="en-US" altLang="en-US" i="1" dirty="0" err="1">
                <a:solidFill>
                  <a:srgbClr val="EBE9EB"/>
                </a:solidFill>
                <a:latin typeface="JetBrains Mono Light" panose="02000009000000000000" pitchFamily="49" charset="0"/>
                <a:cs typeface="JetBrains Mono Light" panose="02000009000000000000" pitchFamily="49" charset="0"/>
              </a:rPr>
              <a:t>thì</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cạnh</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đó</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không</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thể</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thuộc</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về</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cây</a:t>
            </a:r>
            <a:r>
              <a:rPr lang="en-US" altLang="en-US" i="1" dirty="0">
                <a:solidFill>
                  <a:srgbClr val="EBE9EB"/>
                </a:solidFill>
                <a:latin typeface="JetBrains Mono Light" panose="02000009000000000000" pitchFamily="49" charset="0"/>
                <a:cs typeface="JetBrains Mono Light" panose="02000009000000000000" pitchFamily="49" charset="0"/>
              </a:rPr>
              <a:t> bao </a:t>
            </a:r>
            <a:r>
              <a:rPr lang="en-US" altLang="en-US" i="1" dirty="0" err="1">
                <a:solidFill>
                  <a:srgbClr val="EBE9EB"/>
                </a:solidFill>
                <a:latin typeface="JetBrains Mono Light" panose="02000009000000000000" pitchFamily="49" charset="0"/>
                <a:cs typeface="JetBrains Mono Light" panose="02000009000000000000" pitchFamily="49" charset="0"/>
              </a:rPr>
              <a:t>trùm</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nhỏ</a:t>
            </a:r>
            <a:r>
              <a:rPr lang="en-US" altLang="en-US" i="1" dirty="0">
                <a:solidFill>
                  <a:srgbClr val="EBE9EB"/>
                </a:solidFill>
                <a:latin typeface="JetBrains Mono Light" panose="02000009000000000000" pitchFamily="49" charset="0"/>
                <a:cs typeface="JetBrains Mono Light" panose="02000009000000000000" pitchFamily="49" charset="0"/>
              </a:rPr>
              <a:t> </a:t>
            </a:r>
            <a:r>
              <a:rPr lang="en-US" altLang="en-US" i="1" dirty="0" err="1">
                <a:solidFill>
                  <a:srgbClr val="EBE9EB"/>
                </a:solidFill>
                <a:latin typeface="JetBrains Mono Light" panose="02000009000000000000" pitchFamily="49" charset="0"/>
                <a:cs typeface="JetBrains Mono Light" panose="02000009000000000000" pitchFamily="49" charset="0"/>
              </a:rPr>
              <a:t>nhất</a:t>
            </a:r>
            <a:r>
              <a:rPr lang="en-US" altLang="en-US" i="1" dirty="0">
                <a:solidFill>
                  <a:srgbClr val="EBE9EB"/>
                </a:solidFill>
                <a:latin typeface="JetBrains Mono Light" panose="02000009000000000000" pitchFamily="49" charset="0"/>
                <a:cs typeface="JetBrains Mono Light" panose="02000009000000000000" pitchFamily="49" charset="0"/>
              </a:rPr>
              <a:t>.</a:t>
            </a:r>
            <a:endParaRPr lang="en-US" i="1" dirty="0">
              <a:solidFill>
                <a:schemeClr val="bg1"/>
              </a:solidFill>
              <a:latin typeface="JetBrains Mono Light" panose="02000009000000000000" pitchFamily="49" charset="0"/>
              <a:cs typeface="JetBrains Mono Light" panose="02000009000000000000" pitchFamily="49" charset="0"/>
            </a:endParaRPr>
          </a:p>
        </p:txBody>
      </p:sp>
      <p:sp>
        <p:nvSpPr>
          <p:cNvPr id="52" name="TextBox 51">
            <a:extLst>
              <a:ext uri="{FF2B5EF4-FFF2-40B4-BE49-F238E27FC236}">
                <a16:creationId xmlns:a16="http://schemas.microsoft.com/office/drawing/2014/main" id="{7ADCF13A-F620-49E1-A84A-2F72CB37E9C2}"/>
              </a:ext>
            </a:extLst>
          </p:cNvPr>
          <p:cNvSpPr txBox="1"/>
          <p:nvPr/>
        </p:nvSpPr>
        <p:spPr>
          <a:xfrm>
            <a:off x="2044700" y="3750139"/>
            <a:ext cx="1965678" cy="369332"/>
          </a:xfrm>
          <a:prstGeom prst="rect">
            <a:avLst/>
          </a:prstGeom>
          <a:solidFill>
            <a:schemeClr val="bg1"/>
          </a:solidFill>
          <a:ln>
            <a:solidFill>
              <a:schemeClr val="bg1">
                <a:lumMod val="50000"/>
              </a:schemeClr>
            </a:solidFill>
          </a:ln>
        </p:spPr>
        <p:txBody>
          <a:bodyPr wrap="square" rtlCol="0">
            <a:spAutoFit/>
          </a:bodyPr>
          <a:lstStyle/>
          <a:p>
            <a:pPr algn="r"/>
            <a:r>
              <a:rPr lang="en-US" dirty="0" err="1">
                <a:latin typeface="JetBrains Mono Regular" panose="02000009000000000000" pitchFamily="49" charset="0"/>
                <a:cs typeface="JetBrains Mono Regular" panose="02000009000000000000" pitchFamily="49" charset="0"/>
              </a:rPr>
              <a:t>Tính</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chất</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cắt</a:t>
            </a:r>
            <a:endParaRPr lang="en-US" dirty="0">
              <a:latin typeface="JetBrains Mono Regular" panose="02000009000000000000" pitchFamily="49" charset="0"/>
              <a:cs typeface="JetBrains Mono Regular" panose="02000009000000000000" pitchFamily="49" charset="0"/>
            </a:endParaRPr>
          </a:p>
        </p:txBody>
      </p:sp>
      <p:sp>
        <p:nvSpPr>
          <p:cNvPr id="53" name="TextBox 52">
            <a:extLst>
              <a:ext uri="{FF2B5EF4-FFF2-40B4-BE49-F238E27FC236}">
                <a16:creationId xmlns:a16="http://schemas.microsoft.com/office/drawing/2014/main" id="{ACE05E7A-603E-4463-ACE5-7385BA730BC2}"/>
              </a:ext>
            </a:extLst>
          </p:cNvPr>
          <p:cNvSpPr txBox="1"/>
          <p:nvPr/>
        </p:nvSpPr>
        <p:spPr>
          <a:xfrm>
            <a:off x="4114800" y="3751993"/>
            <a:ext cx="7485108" cy="1200329"/>
          </a:xfrm>
          <a:prstGeom prst="rect">
            <a:avLst/>
          </a:prstGeom>
          <a:noFill/>
          <a:ln>
            <a:solidFill>
              <a:schemeClr val="bg1">
                <a:lumMod val="50000"/>
              </a:schemeClr>
            </a:solidFill>
          </a:ln>
        </p:spPr>
        <p:txBody>
          <a:bodyPr wrap="square" rtlCol="0">
            <a:spAutoFit/>
          </a:bodyPr>
          <a:lstStyle/>
          <a:p>
            <a:r>
              <a:rPr lang="vi-VN" i="1" dirty="0">
                <a:solidFill>
                  <a:srgbClr val="EBE9EB"/>
                </a:solidFill>
                <a:latin typeface="JetBrains Mono Light" panose="02000009000000000000" pitchFamily="49" charset="0"/>
                <a:cs typeface="JetBrains Mono Light" panose="02000009000000000000" pitchFamily="49" charset="0"/>
              </a:rPr>
              <a:t>Với nhát cắt C bất kỳ trong đồ thị, nếu trọng số của một cạnh e của C nhỏ hơn trọng số của các </a:t>
            </a:r>
            <a:r>
              <a:rPr lang="vi-VN" i="1" dirty="0">
                <a:solidFill>
                  <a:schemeClr val="bg1"/>
                </a:solidFill>
                <a:latin typeface="JetBrains Mono Light" panose="02000009000000000000" pitchFamily="49" charset="0"/>
                <a:cs typeface="JetBrains Mono Light" panose="02000009000000000000" pitchFamily="49" charset="0"/>
              </a:rPr>
              <a:t>cạnh</a:t>
            </a:r>
            <a:r>
              <a:rPr lang="en-US" i="1" dirty="0">
                <a:solidFill>
                  <a:schemeClr val="bg1"/>
                </a:solidFill>
                <a:latin typeface="JetBrains Mono Light" panose="02000009000000000000" pitchFamily="49" charset="0"/>
                <a:cs typeface="JetBrains Mono Light" panose="02000009000000000000" pitchFamily="49" charset="0"/>
              </a:rPr>
              <a:t> </a:t>
            </a:r>
            <a:r>
              <a:rPr lang="en-US" i="1" dirty="0" err="1">
                <a:solidFill>
                  <a:schemeClr val="bg1"/>
                </a:solidFill>
                <a:latin typeface="JetBrains Mono Light" panose="02000009000000000000" pitchFamily="49" charset="0"/>
                <a:cs typeface="JetBrains Mono Light" panose="02000009000000000000" pitchFamily="49" charset="0"/>
              </a:rPr>
              <a:t>còn</a:t>
            </a:r>
            <a:r>
              <a:rPr lang="en-US" i="1" dirty="0">
                <a:solidFill>
                  <a:schemeClr val="bg1"/>
                </a:solidFill>
                <a:latin typeface="JetBrains Mono Light" panose="02000009000000000000" pitchFamily="49" charset="0"/>
                <a:cs typeface="JetBrains Mono Light" panose="02000009000000000000" pitchFamily="49" charset="0"/>
              </a:rPr>
              <a:t> </a:t>
            </a:r>
            <a:r>
              <a:rPr lang="en-US" i="1" dirty="0" err="1">
                <a:solidFill>
                  <a:schemeClr val="bg1"/>
                </a:solidFill>
                <a:latin typeface="JetBrains Mono Light" panose="02000009000000000000" pitchFamily="49" charset="0"/>
                <a:cs typeface="JetBrains Mono Light" panose="02000009000000000000" pitchFamily="49" charset="0"/>
              </a:rPr>
              <a:t>lại</a:t>
            </a:r>
            <a:r>
              <a:rPr lang="en-US" i="1" dirty="0">
                <a:solidFill>
                  <a:schemeClr val="bg1"/>
                </a:solidFill>
                <a:latin typeface="JetBrains Mono Light" panose="02000009000000000000" pitchFamily="49" charset="0"/>
                <a:cs typeface="JetBrains Mono Light" panose="02000009000000000000" pitchFamily="49" charset="0"/>
              </a:rPr>
              <a:t> </a:t>
            </a:r>
            <a:r>
              <a:rPr lang="en-US" i="1" dirty="0" err="1">
                <a:solidFill>
                  <a:schemeClr val="bg1"/>
                </a:solidFill>
                <a:latin typeface="JetBrains Mono Light" panose="02000009000000000000" pitchFamily="49" charset="0"/>
                <a:cs typeface="JetBrains Mono Light" panose="02000009000000000000" pitchFamily="49" charset="0"/>
              </a:rPr>
              <a:t>của</a:t>
            </a:r>
            <a:r>
              <a:rPr lang="en-US" i="1" dirty="0">
                <a:solidFill>
                  <a:schemeClr val="bg1"/>
                </a:solidFill>
                <a:latin typeface="JetBrains Mono Light" panose="02000009000000000000" pitchFamily="49" charset="0"/>
                <a:cs typeface="JetBrains Mono Light" panose="02000009000000000000" pitchFamily="49" charset="0"/>
              </a:rPr>
              <a:t> C, </a:t>
            </a:r>
            <a:r>
              <a:rPr lang="en-US" i="1" dirty="0" err="1">
                <a:solidFill>
                  <a:schemeClr val="bg1"/>
                </a:solidFill>
                <a:latin typeface="JetBrains Mono Light" panose="02000009000000000000" pitchFamily="49" charset="0"/>
                <a:cs typeface="JetBrains Mono Light" panose="02000009000000000000" pitchFamily="49" charset="0"/>
              </a:rPr>
              <a:t>thì</a:t>
            </a:r>
            <a:r>
              <a:rPr lang="en-US" i="1" dirty="0">
                <a:solidFill>
                  <a:schemeClr val="bg1"/>
                </a:solidFill>
                <a:latin typeface="JetBrains Mono Light" panose="02000009000000000000" pitchFamily="49" charset="0"/>
                <a:cs typeface="JetBrains Mono Light" panose="02000009000000000000" pitchFamily="49" charset="0"/>
              </a:rPr>
              <a:t> </a:t>
            </a:r>
            <a:r>
              <a:rPr lang="en-US" i="1" dirty="0" err="1">
                <a:solidFill>
                  <a:schemeClr val="bg1"/>
                </a:solidFill>
                <a:latin typeface="JetBrains Mono Light" panose="02000009000000000000" pitchFamily="49" charset="0"/>
                <a:cs typeface="JetBrains Mono Light" panose="02000009000000000000" pitchFamily="49" charset="0"/>
              </a:rPr>
              <a:t>cạnh</a:t>
            </a:r>
            <a:r>
              <a:rPr lang="en-US" i="1" dirty="0">
                <a:solidFill>
                  <a:schemeClr val="bg1"/>
                </a:solidFill>
                <a:latin typeface="JetBrains Mono Light" panose="02000009000000000000" pitchFamily="49" charset="0"/>
                <a:cs typeface="JetBrains Mono Light" panose="02000009000000000000" pitchFamily="49" charset="0"/>
              </a:rPr>
              <a:t> </a:t>
            </a:r>
            <a:r>
              <a:rPr lang="en-US" i="1" dirty="0" err="1">
                <a:solidFill>
                  <a:schemeClr val="bg1"/>
                </a:solidFill>
                <a:latin typeface="JetBrains Mono Light" panose="02000009000000000000" pitchFamily="49" charset="0"/>
                <a:cs typeface="JetBrains Mono Light" panose="02000009000000000000" pitchFamily="49" charset="0"/>
              </a:rPr>
              <a:t>này</a:t>
            </a:r>
            <a:r>
              <a:rPr lang="en-US" i="1" dirty="0">
                <a:solidFill>
                  <a:schemeClr val="bg1"/>
                </a:solidFill>
                <a:latin typeface="JetBrains Mono Light" panose="02000009000000000000" pitchFamily="49" charset="0"/>
                <a:cs typeface="JetBrains Mono Light" panose="02000009000000000000" pitchFamily="49" charset="0"/>
              </a:rPr>
              <a:t> </a:t>
            </a:r>
            <a:r>
              <a:rPr lang="en-US" i="1" dirty="0" err="1">
                <a:solidFill>
                  <a:schemeClr val="bg1"/>
                </a:solidFill>
                <a:latin typeface="JetBrains Mono Light" panose="02000009000000000000" pitchFamily="49" charset="0"/>
                <a:cs typeface="JetBrains Mono Light" panose="02000009000000000000" pitchFamily="49" charset="0"/>
              </a:rPr>
              <a:t>thuộc</a:t>
            </a:r>
            <a:r>
              <a:rPr lang="en-US" i="1" dirty="0">
                <a:solidFill>
                  <a:schemeClr val="bg1"/>
                </a:solidFill>
                <a:latin typeface="JetBrains Mono Light" panose="02000009000000000000" pitchFamily="49" charset="0"/>
                <a:cs typeface="JetBrains Mono Light" panose="02000009000000000000" pitchFamily="49" charset="0"/>
              </a:rPr>
              <a:t> </a:t>
            </a:r>
            <a:r>
              <a:rPr lang="en-US" i="1" dirty="0" err="1">
                <a:solidFill>
                  <a:schemeClr val="bg1"/>
                </a:solidFill>
                <a:latin typeface="JetBrains Mono Light" panose="02000009000000000000" pitchFamily="49" charset="0"/>
                <a:cs typeface="JetBrains Mono Light" panose="02000009000000000000" pitchFamily="49" charset="0"/>
              </a:rPr>
              <a:t>về</a:t>
            </a:r>
            <a:r>
              <a:rPr lang="en-US" i="1" dirty="0">
                <a:solidFill>
                  <a:schemeClr val="bg1"/>
                </a:solidFill>
                <a:latin typeface="JetBrains Mono Light" panose="02000009000000000000" pitchFamily="49" charset="0"/>
                <a:cs typeface="JetBrains Mono Light" panose="02000009000000000000" pitchFamily="49" charset="0"/>
              </a:rPr>
              <a:t> </a:t>
            </a:r>
            <a:r>
              <a:rPr lang="en-US" i="1" dirty="0" err="1">
                <a:solidFill>
                  <a:schemeClr val="bg1"/>
                </a:solidFill>
                <a:latin typeface="JetBrains Mono Light" panose="02000009000000000000" pitchFamily="49" charset="0"/>
                <a:cs typeface="JetBrains Mono Light" panose="02000009000000000000" pitchFamily="49" charset="0"/>
              </a:rPr>
              <a:t>tất</a:t>
            </a:r>
            <a:r>
              <a:rPr lang="en-US" i="1" dirty="0">
                <a:solidFill>
                  <a:schemeClr val="bg1"/>
                </a:solidFill>
                <a:latin typeface="JetBrains Mono Light" panose="02000009000000000000" pitchFamily="49" charset="0"/>
                <a:cs typeface="JetBrains Mono Light" panose="02000009000000000000" pitchFamily="49" charset="0"/>
              </a:rPr>
              <a:t> </a:t>
            </a:r>
            <a:r>
              <a:rPr lang="en-US" i="1" dirty="0" err="1">
                <a:solidFill>
                  <a:schemeClr val="bg1"/>
                </a:solidFill>
                <a:latin typeface="JetBrains Mono Light" panose="02000009000000000000" pitchFamily="49" charset="0"/>
                <a:cs typeface="JetBrains Mono Light" panose="02000009000000000000" pitchFamily="49" charset="0"/>
              </a:rPr>
              <a:t>cả</a:t>
            </a:r>
            <a:r>
              <a:rPr lang="en-US" i="1" dirty="0">
                <a:solidFill>
                  <a:schemeClr val="bg1"/>
                </a:solidFill>
                <a:latin typeface="JetBrains Mono Light" panose="02000009000000000000" pitchFamily="49" charset="0"/>
                <a:cs typeface="JetBrains Mono Light" panose="02000009000000000000" pitchFamily="49" charset="0"/>
              </a:rPr>
              <a:t> </a:t>
            </a:r>
            <a:r>
              <a:rPr lang="en-US" i="1" dirty="0" err="1">
                <a:solidFill>
                  <a:schemeClr val="bg1"/>
                </a:solidFill>
                <a:latin typeface="JetBrains Mono Light" panose="02000009000000000000" pitchFamily="49" charset="0"/>
                <a:cs typeface="JetBrains Mono Light" panose="02000009000000000000" pitchFamily="49" charset="0"/>
              </a:rPr>
              <a:t>các</a:t>
            </a:r>
            <a:r>
              <a:rPr lang="en-US" i="1" dirty="0">
                <a:solidFill>
                  <a:schemeClr val="bg1"/>
                </a:solidFill>
                <a:latin typeface="JetBrains Mono Light" panose="02000009000000000000" pitchFamily="49" charset="0"/>
                <a:cs typeface="JetBrains Mono Light" panose="02000009000000000000" pitchFamily="49" charset="0"/>
              </a:rPr>
              <a:t> </a:t>
            </a:r>
            <a:r>
              <a:rPr lang="en-US" i="1" dirty="0" err="1">
                <a:solidFill>
                  <a:schemeClr val="bg1"/>
                </a:solidFill>
                <a:latin typeface="JetBrains Mono Light" panose="02000009000000000000" pitchFamily="49" charset="0"/>
                <a:cs typeface="JetBrains Mono Light" panose="02000009000000000000" pitchFamily="49" charset="0"/>
              </a:rPr>
              <a:t>cây</a:t>
            </a:r>
            <a:r>
              <a:rPr lang="en-US" i="1" dirty="0">
                <a:solidFill>
                  <a:schemeClr val="bg1"/>
                </a:solidFill>
                <a:latin typeface="JetBrains Mono Light" panose="02000009000000000000" pitchFamily="49" charset="0"/>
                <a:cs typeface="JetBrains Mono Light" panose="02000009000000000000" pitchFamily="49" charset="0"/>
              </a:rPr>
              <a:t> bao </a:t>
            </a:r>
            <a:r>
              <a:rPr lang="en-US" i="1" dirty="0" err="1">
                <a:solidFill>
                  <a:schemeClr val="bg1"/>
                </a:solidFill>
                <a:latin typeface="JetBrains Mono Light" panose="02000009000000000000" pitchFamily="49" charset="0"/>
                <a:cs typeface="JetBrains Mono Light" panose="02000009000000000000" pitchFamily="49" charset="0"/>
              </a:rPr>
              <a:t>trùm</a:t>
            </a:r>
            <a:r>
              <a:rPr lang="en-US" i="1" dirty="0">
                <a:solidFill>
                  <a:schemeClr val="bg1"/>
                </a:solidFill>
                <a:latin typeface="JetBrains Mono Light" panose="02000009000000000000" pitchFamily="49" charset="0"/>
                <a:cs typeface="JetBrains Mono Light" panose="02000009000000000000" pitchFamily="49" charset="0"/>
              </a:rPr>
              <a:t> </a:t>
            </a:r>
            <a:r>
              <a:rPr lang="en-US" i="1" dirty="0" err="1">
                <a:solidFill>
                  <a:schemeClr val="bg1"/>
                </a:solidFill>
                <a:latin typeface="JetBrains Mono Light" panose="02000009000000000000" pitchFamily="49" charset="0"/>
                <a:cs typeface="JetBrains Mono Light" panose="02000009000000000000" pitchFamily="49" charset="0"/>
              </a:rPr>
              <a:t>nhỏ</a:t>
            </a:r>
            <a:r>
              <a:rPr lang="en-US" i="1" dirty="0">
                <a:solidFill>
                  <a:schemeClr val="bg1"/>
                </a:solidFill>
                <a:latin typeface="JetBrains Mono Light" panose="02000009000000000000" pitchFamily="49" charset="0"/>
                <a:cs typeface="JetBrains Mono Light" panose="02000009000000000000" pitchFamily="49" charset="0"/>
              </a:rPr>
              <a:t> </a:t>
            </a:r>
            <a:r>
              <a:rPr lang="en-US" i="1" dirty="0" err="1">
                <a:solidFill>
                  <a:schemeClr val="bg1"/>
                </a:solidFill>
                <a:latin typeface="JetBrains Mono Light" panose="02000009000000000000" pitchFamily="49" charset="0"/>
                <a:cs typeface="JetBrains Mono Light" panose="02000009000000000000" pitchFamily="49" charset="0"/>
              </a:rPr>
              <a:t>nhất</a:t>
            </a:r>
            <a:r>
              <a:rPr lang="en-US" i="1" dirty="0">
                <a:solidFill>
                  <a:schemeClr val="bg1"/>
                </a:solidFill>
                <a:latin typeface="JetBrains Mono Light" panose="02000009000000000000" pitchFamily="49" charset="0"/>
                <a:cs typeface="JetBrains Mono Light" panose="02000009000000000000" pitchFamily="49" charset="0"/>
              </a:rPr>
              <a:t> </a:t>
            </a:r>
            <a:r>
              <a:rPr lang="en-US" i="1" dirty="0" err="1">
                <a:solidFill>
                  <a:schemeClr val="bg1"/>
                </a:solidFill>
                <a:latin typeface="JetBrains Mono Light" panose="02000009000000000000" pitchFamily="49" charset="0"/>
                <a:cs typeface="JetBrains Mono Light" panose="02000009000000000000" pitchFamily="49" charset="0"/>
              </a:rPr>
              <a:t>của</a:t>
            </a:r>
            <a:r>
              <a:rPr lang="en-US" i="1" dirty="0">
                <a:solidFill>
                  <a:schemeClr val="bg1"/>
                </a:solidFill>
                <a:latin typeface="JetBrains Mono Light" panose="02000009000000000000" pitchFamily="49" charset="0"/>
                <a:cs typeface="JetBrains Mono Light" panose="02000009000000000000" pitchFamily="49" charset="0"/>
              </a:rPr>
              <a:t> </a:t>
            </a:r>
            <a:r>
              <a:rPr lang="en-US" i="1" dirty="0" err="1">
                <a:solidFill>
                  <a:schemeClr val="bg1"/>
                </a:solidFill>
                <a:latin typeface="JetBrains Mono Light" panose="02000009000000000000" pitchFamily="49" charset="0"/>
                <a:cs typeface="JetBrains Mono Light" panose="02000009000000000000" pitchFamily="49" charset="0"/>
              </a:rPr>
              <a:t>đồ</a:t>
            </a:r>
            <a:r>
              <a:rPr lang="en-US" i="1" dirty="0">
                <a:solidFill>
                  <a:schemeClr val="bg1"/>
                </a:solidFill>
                <a:latin typeface="JetBrains Mono Light" panose="02000009000000000000" pitchFamily="49" charset="0"/>
                <a:cs typeface="JetBrains Mono Light" panose="02000009000000000000" pitchFamily="49" charset="0"/>
              </a:rPr>
              <a:t> </a:t>
            </a:r>
            <a:r>
              <a:rPr lang="en-US" i="1" dirty="0" err="1">
                <a:solidFill>
                  <a:schemeClr val="bg1"/>
                </a:solidFill>
                <a:latin typeface="JetBrains Mono Light" panose="02000009000000000000" pitchFamily="49" charset="0"/>
                <a:cs typeface="JetBrains Mono Light" panose="02000009000000000000" pitchFamily="49" charset="0"/>
              </a:rPr>
              <a:t>thị</a:t>
            </a:r>
            <a:r>
              <a:rPr lang="en-US" i="1" dirty="0">
                <a:solidFill>
                  <a:schemeClr val="bg1"/>
                </a:solidFill>
                <a:latin typeface="JetBrains Mono Light" panose="02000009000000000000" pitchFamily="49" charset="0"/>
                <a:cs typeface="JetBrains Mono Light" panose="02000009000000000000" pitchFamily="49" charset="0"/>
              </a:rPr>
              <a:t>.</a:t>
            </a:r>
          </a:p>
        </p:txBody>
      </p:sp>
      <p:sp>
        <p:nvSpPr>
          <p:cNvPr id="56" name="TextBox 55">
            <a:extLst>
              <a:ext uri="{FF2B5EF4-FFF2-40B4-BE49-F238E27FC236}">
                <a16:creationId xmlns:a16="http://schemas.microsoft.com/office/drawing/2014/main" id="{F49205AB-271F-4095-817E-53A149A63CA7}"/>
              </a:ext>
            </a:extLst>
          </p:cNvPr>
          <p:cNvSpPr txBox="1"/>
          <p:nvPr/>
        </p:nvSpPr>
        <p:spPr>
          <a:xfrm>
            <a:off x="2044700" y="5137667"/>
            <a:ext cx="1965678" cy="369332"/>
          </a:xfrm>
          <a:prstGeom prst="rect">
            <a:avLst/>
          </a:prstGeom>
          <a:solidFill>
            <a:schemeClr val="bg1"/>
          </a:solidFill>
          <a:ln>
            <a:solidFill>
              <a:schemeClr val="bg1">
                <a:lumMod val="50000"/>
              </a:schemeClr>
            </a:solidFill>
          </a:ln>
        </p:spPr>
        <p:txBody>
          <a:bodyPr wrap="square" rtlCol="0">
            <a:spAutoFit/>
          </a:bodyPr>
          <a:lstStyle/>
          <a:p>
            <a:pPr algn="r"/>
            <a:r>
              <a:rPr lang="en-US" dirty="0" err="1">
                <a:latin typeface="JetBrains Mono Regular" panose="02000009000000000000" pitchFamily="49" charset="0"/>
                <a:cs typeface="JetBrains Mono Regular" panose="02000009000000000000" pitchFamily="49" charset="0"/>
              </a:rPr>
              <a:t>Tính</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chất</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cắt</a:t>
            </a:r>
            <a:endParaRPr lang="en-US" dirty="0">
              <a:latin typeface="JetBrains Mono Regular" panose="02000009000000000000" pitchFamily="49" charset="0"/>
              <a:cs typeface="JetBrains Mono Regular" panose="02000009000000000000" pitchFamily="49" charset="0"/>
            </a:endParaRPr>
          </a:p>
        </p:txBody>
      </p:sp>
      <p:sp>
        <p:nvSpPr>
          <p:cNvPr id="57" name="TextBox 56">
            <a:extLst>
              <a:ext uri="{FF2B5EF4-FFF2-40B4-BE49-F238E27FC236}">
                <a16:creationId xmlns:a16="http://schemas.microsoft.com/office/drawing/2014/main" id="{F23AC78F-C189-442C-971E-10E4F4607991}"/>
              </a:ext>
            </a:extLst>
          </p:cNvPr>
          <p:cNvSpPr txBox="1"/>
          <p:nvPr/>
        </p:nvSpPr>
        <p:spPr>
          <a:xfrm>
            <a:off x="4114800" y="5139521"/>
            <a:ext cx="7485108" cy="923330"/>
          </a:xfrm>
          <a:prstGeom prst="rect">
            <a:avLst/>
          </a:prstGeom>
          <a:noFill/>
          <a:ln>
            <a:solidFill>
              <a:schemeClr val="bg1">
                <a:lumMod val="50000"/>
              </a:schemeClr>
            </a:solidFill>
          </a:ln>
        </p:spPr>
        <p:txBody>
          <a:bodyPr wrap="square" rtlCol="0">
            <a:spAutoFit/>
          </a:bodyPr>
          <a:lstStyle/>
          <a:p>
            <a:r>
              <a:rPr lang="en-US" i="1" dirty="0" err="1">
                <a:solidFill>
                  <a:srgbClr val="EBE9EB"/>
                </a:solidFill>
                <a:latin typeface="JetBrains Mono Light" panose="02000009000000000000" pitchFamily="49" charset="0"/>
                <a:cs typeface="JetBrains Mono Light" panose="02000009000000000000" pitchFamily="49" charset="0"/>
              </a:rPr>
              <a:t>Nếu</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một</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cạnh</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của</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đồ</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thị</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với</a:t>
            </a:r>
            <a:r>
              <a:rPr lang="en-US" i="1" dirty="0">
                <a:solidFill>
                  <a:srgbClr val="EBE9EB"/>
                </a:solidFill>
                <a:latin typeface="JetBrains Mono Light" panose="02000009000000000000" pitchFamily="49" charset="0"/>
                <a:cs typeface="JetBrains Mono Light" panose="02000009000000000000" pitchFamily="49" charset="0"/>
              </a:rPr>
              <a:t> chi </a:t>
            </a:r>
            <a:r>
              <a:rPr lang="en-US" i="1" dirty="0" err="1">
                <a:solidFill>
                  <a:srgbClr val="EBE9EB"/>
                </a:solidFill>
                <a:latin typeface="JetBrains Mono Light" panose="02000009000000000000" pitchFamily="49" charset="0"/>
                <a:cs typeface="JetBrains Mono Light" panose="02000009000000000000" pitchFamily="49" charset="0"/>
              </a:rPr>
              <a:t>phí</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nhỏ</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nhất</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là</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duy</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nhất</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thì</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cạnh</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này</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sẽ</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thuộc</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về</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bất</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kỳ</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một</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cây</a:t>
            </a:r>
            <a:r>
              <a:rPr lang="en-US" i="1" dirty="0">
                <a:solidFill>
                  <a:srgbClr val="EBE9EB"/>
                </a:solidFill>
                <a:latin typeface="JetBrains Mono Light" panose="02000009000000000000" pitchFamily="49" charset="0"/>
                <a:cs typeface="JetBrains Mono Light" panose="02000009000000000000" pitchFamily="49" charset="0"/>
              </a:rPr>
              <a:t> bao </a:t>
            </a:r>
            <a:r>
              <a:rPr lang="en-US" i="1" dirty="0" err="1">
                <a:solidFill>
                  <a:srgbClr val="EBE9EB"/>
                </a:solidFill>
                <a:latin typeface="JetBrains Mono Light" panose="02000009000000000000" pitchFamily="49" charset="0"/>
                <a:cs typeface="JetBrains Mono Light" panose="02000009000000000000" pitchFamily="49" charset="0"/>
              </a:rPr>
              <a:t>trùm</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nhỏ</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nhất</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nào</a:t>
            </a:r>
            <a:r>
              <a:rPr lang="en-US" i="1" dirty="0">
                <a:solidFill>
                  <a:srgbClr val="EBE9EB"/>
                </a:solidFill>
                <a:latin typeface="JetBrains Mono Light" panose="02000009000000000000" pitchFamily="49" charset="0"/>
                <a:cs typeface="JetBrains Mono Light" panose="02000009000000000000" pitchFamily="49" charset="0"/>
              </a:rPr>
              <a:t>.</a:t>
            </a:r>
            <a:endParaRPr lang="en-US" i="1" dirty="0">
              <a:solidFill>
                <a:schemeClr val="bg1"/>
              </a:solidFill>
              <a:latin typeface="JetBrains Mono Light" panose="02000009000000000000" pitchFamily="49" charset="0"/>
              <a:cs typeface="JetBrains Mono Light" panose="02000009000000000000" pitchFamily="49" charset="0"/>
            </a:endParaRPr>
          </a:p>
        </p:txBody>
      </p:sp>
    </p:spTree>
    <p:extLst>
      <p:ext uri="{BB962C8B-B14F-4D97-AF65-F5344CB8AC3E}">
        <p14:creationId xmlns:p14="http://schemas.microsoft.com/office/powerpoint/2010/main" val="20270993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500"/>
                                        <p:tgtEl>
                                          <p:spTgt spid="5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fade">
                                      <p:cBhvr>
                                        <p:cTn id="15" dur="500"/>
                                        <p:tgtEl>
                                          <p:spTgt spid="5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6"/>
                                        </p:tgtEl>
                                        <p:attrNameLst>
                                          <p:attrName>style.visibility</p:attrName>
                                        </p:attrNameLst>
                                      </p:cBhvr>
                                      <p:to>
                                        <p:strVal val="visible"/>
                                      </p:to>
                                    </p:set>
                                    <p:animEffect transition="in" filter="fade">
                                      <p:cBhvr>
                                        <p:cTn id="20" dur="500"/>
                                        <p:tgtEl>
                                          <p:spTgt spid="5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fade">
                                      <p:cBhvr>
                                        <p:cTn id="23"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P spid="53" grpId="0" animBg="1"/>
      <p:bldP spid="56" grpId="0" animBg="1"/>
      <p:bldP spid="5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95ED7769-4A81-40FA-95EA-F07E81DF53F8}"/>
              </a:ext>
            </a:extLst>
          </p:cNvPr>
          <p:cNvSpPr>
            <a:spLocks noGrp="1"/>
          </p:cNvSpPr>
          <p:nvPr>
            <p:ph type="title"/>
          </p:nvPr>
        </p:nvSpPr>
        <p:spPr>
          <a:xfrm>
            <a:off x="838200" y="365125"/>
            <a:ext cx="10515600" cy="1325563"/>
          </a:xfrm>
        </p:spPr>
        <p:txBody>
          <a:bodyPr/>
          <a:lstStyle/>
          <a:p>
            <a:endParaRPr lang="en-US"/>
          </a:p>
        </p:txBody>
      </p:sp>
      <p:sp>
        <p:nvSpPr>
          <p:cNvPr id="19" name="Content Placeholder 2">
            <a:extLst>
              <a:ext uri="{FF2B5EF4-FFF2-40B4-BE49-F238E27FC236}">
                <a16:creationId xmlns:a16="http://schemas.microsoft.com/office/drawing/2014/main" id="{819FE16D-7B58-45E6-ADD0-06F3503270BB}"/>
              </a:ext>
            </a:extLst>
          </p:cNvPr>
          <p:cNvSpPr>
            <a:spLocks noGrp="1"/>
          </p:cNvSpPr>
          <p:nvPr>
            <p:ph idx="1"/>
          </p:nvPr>
        </p:nvSpPr>
        <p:spPr>
          <a:xfrm>
            <a:off x="838200" y="1825625"/>
            <a:ext cx="10515600" cy="4351338"/>
          </a:xfrm>
        </p:spPr>
        <p:txBody>
          <a:bodyPr/>
          <a:lstStyle/>
          <a:p>
            <a:endParaRPr lang="en-US"/>
          </a:p>
        </p:txBody>
      </p:sp>
      <p:sp>
        <p:nvSpPr>
          <p:cNvPr id="20" name="Rectangle 19">
            <a:extLst>
              <a:ext uri="{FF2B5EF4-FFF2-40B4-BE49-F238E27FC236}">
                <a16:creationId xmlns:a16="http://schemas.microsoft.com/office/drawing/2014/main" id="{D4135B46-AFEC-4B2C-A123-E15B19B5BCFB}"/>
              </a:ext>
            </a:extLst>
          </p:cNvPr>
          <p:cNvSpPr/>
          <p:nvPr/>
        </p:nvSpPr>
        <p:spPr>
          <a:xfrm>
            <a:off x="0" y="-4207"/>
            <a:ext cx="12192000" cy="68711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21" name="Credit MAIN">
            <a:extLst>
              <a:ext uri="{FF2B5EF4-FFF2-40B4-BE49-F238E27FC236}">
                <a16:creationId xmlns:a16="http://schemas.microsoft.com/office/drawing/2014/main" id="{953A4B7F-97A7-4FBF-9555-0DD151212CD1}"/>
              </a:ext>
            </a:extLst>
          </p:cNvPr>
          <p:cNvSpPr txBox="1"/>
          <p:nvPr/>
        </p:nvSpPr>
        <p:spPr>
          <a:xfrm>
            <a:off x="50878" y="6432004"/>
            <a:ext cx="2668876"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Phạm</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Văn</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Quyết</a:t>
            </a:r>
            <a:endParaRPr lang="en-US" dirty="0">
              <a:solidFill>
                <a:schemeClr val="bg1">
                  <a:lumMod val="95000"/>
                  <a:alpha val="46000"/>
                </a:schemeClr>
              </a:solidFill>
            </a:endParaRPr>
          </a:p>
        </p:txBody>
      </p:sp>
      <p:sp>
        <p:nvSpPr>
          <p:cNvPr id="22" name="Header">
            <a:extLst>
              <a:ext uri="{FF2B5EF4-FFF2-40B4-BE49-F238E27FC236}">
                <a16:creationId xmlns:a16="http://schemas.microsoft.com/office/drawing/2014/main" id="{FF1A7388-47F5-4DA6-ADF5-7DE96475307F}"/>
              </a:ext>
            </a:extLst>
          </p:cNvPr>
          <p:cNvSpPr txBox="1"/>
          <p:nvPr/>
        </p:nvSpPr>
        <p:spPr>
          <a:xfrm>
            <a:off x="50878" y="79574"/>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mc:AlternateContent xmlns:mc="http://schemas.openxmlformats.org/markup-compatibility/2006" xmlns:a14="http://schemas.microsoft.com/office/drawing/2010/main">
        <mc:Choice Requires="a14">
          <p:graphicFrame>
            <p:nvGraphicFramePr>
              <p:cNvPr id="31" name="Table 31">
                <a:extLst>
                  <a:ext uri="{FF2B5EF4-FFF2-40B4-BE49-F238E27FC236}">
                    <a16:creationId xmlns:a16="http://schemas.microsoft.com/office/drawing/2014/main" id="{A57BCA11-AC7D-49FF-B168-5DF7DB20B787}"/>
                  </a:ext>
                </a:extLst>
              </p:cNvPr>
              <p:cNvGraphicFramePr>
                <a:graphicFrameLocks noGrp="1"/>
              </p:cNvGraphicFramePr>
              <p:nvPr>
                <p:extLst>
                  <p:ext uri="{D42A27DB-BD31-4B8C-83A1-F6EECF244321}">
                    <p14:modId xmlns:p14="http://schemas.microsoft.com/office/powerpoint/2010/main" val="2664290652"/>
                  </p:ext>
                </p:extLst>
              </p:nvPr>
            </p:nvGraphicFramePr>
            <p:xfrm>
              <a:off x="683086" y="2665475"/>
              <a:ext cx="6915438" cy="3363375"/>
            </p:xfrm>
            <a:graphic>
              <a:graphicData uri="http://schemas.openxmlformats.org/drawingml/2006/table">
                <a:tbl>
                  <a:tblPr firstRow="1" bandRow="1">
                    <a:solidFill>
                      <a:schemeClr val="tx1"/>
                    </a:solidFill>
                    <a:tableStyleId>{5C22544A-7EE6-4342-B048-85BDC9FD1C3A}</a:tableStyleId>
                  </a:tblPr>
                  <a:tblGrid>
                    <a:gridCol w="903519">
                      <a:extLst>
                        <a:ext uri="{9D8B030D-6E8A-4147-A177-3AD203B41FA5}">
                          <a16:colId xmlns:a16="http://schemas.microsoft.com/office/drawing/2014/main" val="2965343083"/>
                        </a:ext>
                      </a:extLst>
                    </a:gridCol>
                    <a:gridCol w="734489">
                      <a:extLst>
                        <a:ext uri="{9D8B030D-6E8A-4147-A177-3AD203B41FA5}">
                          <a16:colId xmlns:a16="http://schemas.microsoft.com/office/drawing/2014/main" val="495888994"/>
                        </a:ext>
                      </a:extLst>
                    </a:gridCol>
                    <a:gridCol w="952111">
                      <a:extLst>
                        <a:ext uri="{9D8B030D-6E8A-4147-A177-3AD203B41FA5}">
                          <a16:colId xmlns:a16="http://schemas.microsoft.com/office/drawing/2014/main" val="1182029320"/>
                        </a:ext>
                      </a:extLst>
                    </a:gridCol>
                    <a:gridCol w="1115334">
                      <a:extLst>
                        <a:ext uri="{9D8B030D-6E8A-4147-A177-3AD203B41FA5}">
                          <a16:colId xmlns:a16="http://schemas.microsoft.com/office/drawing/2014/main" val="2197389400"/>
                        </a:ext>
                      </a:extLst>
                    </a:gridCol>
                    <a:gridCol w="979317">
                      <a:extLst>
                        <a:ext uri="{9D8B030D-6E8A-4147-A177-3AD203B41FA5}">
                          <a16:colId xmlns:a16="http://schemas.microsoft.com/office/drawing/2014/main" val="1952533407"/>
                        </a:ext>
                      </a:extLst>
                    </a:gridCol>
                    <a:gridCol w="1115334">
                      <a:extLst>
                        <a:ext uri="{9D8B030D-6E8A-4147-A177-3AD203B41FA5}">
                          <a16:colId xmlns:a16="http://schemas.microsoft.com/office/drawing/2014/main" val="1267293426"/>
                        </a:ext>
                      </a:extLst>
                    </a:gridCol>
                    <a:gridCol w="1115334">
                      <a:extLst>
                        <a:ext uri="{9D8B030D-6E8A-4147-A177-3AD203B41FA5}">
                          <a16:colId xmlns:a16="http://schemas.microsoft.com/office/drawing/2014/main" val="1251686252"/>
                        </a:ext>
                      </a:extLst>
                    </a:gridCol>
                  </a:tblGrid>
                  <a:tr h="425515">
                    <a:tc>
                      <a:txBody>
                        <a:bodyPr/>
                        <a:lstStyle/>
                        <a:p>
                          <a:endParaRPr lang="en-VN" sz="1800" dirty="0">
                            <a:solidFill>
                              <a:schemeClr val="bg1"/>
                            </a:solidFill>
                            <a:latin typeface="JetBrains Mono Light" panose="02000009000000000000" pitchFamily="49" charset="0"/>
                            <a:cs typeface="JetBrains Mono Light" panose="02000009000000000000" pitchFamily="49" charset="0"/>
                          </a:endParaRPr>
                        </a:p>
                      </a:txBody>
                      <a:tcPr>
                        <a:lnR w="38100" cap="flat" cmpd="sng" algn="ctr">
                          <a:solidFill>
                            <a:schemeClr val="bg1"/>
                          </a:solidFill>
                          <a:prstDash val="solid"/>
                          <a:round/>
                          <a:headEnd type="none" w="med" len="med"/>
                          <a:tailEnd type="none" w="med" len="med"/>
                        </a:lnR>
                        <a:solidFill>
                          <a:schemeClr val="tx1"/>
                        </a:solidFill>
                      </a:tcPr>
                    </a:tc>
                    <a:tc>
                      <a:txBody>
                        <a:bodyPr/>
                        <a:lstStyle/>
                        <a:p>
                          <a:pPr algn="ctr"/>
                          <a:r>
                            <a:rPr lang="en-VN" sz="1800" b="0" i="1" dirty="0">
                              <a:solidFill>
                                <a:schemeClr val="bg1">
                                  <a:lumMod val="50000"/>
                                </a:schemeClr>
                              </a:solidFill>
                              <a:latin typeface="JetBrains Mono Light" panose="02000009000000000000" pitchFamily="49" charset="0"/>
                              <a:cs typeface="JetBrains Mono Light" panose="02000009000000000000" pitchFamily="49" charset="0"/>
                            </a:rPr>
                            <a:t>A</a:t>
                          </a:r>
                        </a:p>
                      </a:txBody>
                      <a:tcPr>
                        <a:lnL w="38100" cap="flat" cmpd="sng" algn="ctr">
                          <a:solidFill>
                            <a:schemeClr val="bg1"/>
                          </a:solidFill>
                          <a:prstDash val="solid"/>
                          <a:round/>
                          <a:headEnd type="none" w="med" len="med"/>
                          <a:tailEnd type="none" w="med" len="med"/>
                        </a:lnL>
                        <a:solidFill>
                          <a:schemeClr val="tx1"/>
                        </a:solidFill>
                      </a:tcPr>
                    </a:tc>
                    <a:tc>
                      <a:txBody>
                        <a:bodyPr/>
                        <a:lstStyle/>
                        <a:p>
                          <a:pPr algn="ctr"/>
                          <a:r>
                            <a:rPr lang="en-VN" sz="1800" b="0" i="1" dirty="0">
                              <a:solidFill>
                                <a:schemeClr val="bg1">
                                  <a:lumMod val="50000"/>
                                </a:schemeClr>
                              </a:solidFill>
                              <a:latin typeface="JetBrains Mono Light" panose="02000009000000000000" pitchFamily="49" charset="0"/>
                              <a:cs typeface="JetBrains Mono Light" panose="02000009000000000000" pitchFamily="49" charset="0"/>
                            </a:rPr>
                            <a:t>B</a:t>
                          </a:r>
                        </a:p>
                      </a:txBody>
                      <a:tcPr>
                        <a:solidFill>
                          <a:schemeClr val="tx1"/>
                        </a:solidFill>
                      </a:tcPr>
                    </a:tc>
                    <a:tc>
                      <a:txBody>
                        <a:bodyPr/>
                        <a:lstStyle/>
                        <a:p>
                          <a:pPr algn="ctr"/>
                          <a:r>
                            <a:rPr lang="en-VN" sz="1800" b="0" i="1" dirty="0">
                              <a:solidFill>
                                <a:schemeClr val="bg1">
                                  <a:lumMod val="50000"/>
                                </a:schemeClr>
                              </a:solidFill>
                              <a:latin typeface="JetBrains Mono Light" panose="02000009000000000000" pitchFamily="49" charset="0"/>
                              <a:cs typeface="JetBrains Mono Light" panose="02000009000000000000" pitchFamily="49" charset="0"/>
                            </a:rPr>
                            <a:t>C</a:t>
                          </a:r>
                        </a:p>
                      </a:txBody>
                      <a:tcPr>
                        <a:solidFill>
                          <a:schemeClr val="tx1"/>
                        </a:solidFill>
                      </a:tcPr>
                    </a:tc>
                    <a:tc>
                      <a:txBody>
                        <a:bodyPr/>
                        <a:lstStyle/>
                        <a:p>
                          <a:pPr algn="ctr"/>
                          <a:r>
                            <a:rPr lang="en-VN" sz="1800" b="0" i="1" dirty="0">
                              <a:solidFill>
                                <a:schemeClr val="bg1">
                                  <a:lumMod val="50000"/>
                                </a:schemeClr>
                              </a:solidFill>
                              <a:latin typeface="JetBrains Mono Light" panose="02000009000000000000" pitchFamily="49" charset="0"/>
                              <a:cs typeface="JetBrains Mono Light" panose="02000009000000000000" pitchFamily="49" charset="0"/>
                            </a:rPr>
                            <a:t>D</a:t>
                          </a:r>
                        </a:p>
                      </a:txBody>
                      <a:tcPr>
                        <a:solidFill>
                          <a:schemeClr val="tx1"/>
                        </a:solidFill>
                      </a:tcPr>
                    </a:tc>
                    <a:tc>
                      <a:txBody>
                        <a:bodyPr/>
                        <a:lstStyle/>
                        <a:p>
                          <a:pPr algn="ctr"/>
                          <a:r>
                            <a:rPr lang="en-VN" sz="1800" b="0" i="1" dirty="0">
                              <a:solidFill>
                                <a:schemeClr val="bg1">
                                  <a:lumMod val="50000"/>
                                </a:schemeClr>
                              </a:solidFill>
                              <a:latin typeface="JetBrains Mono Light" panose="02000009000000000000" pitchFamily="49" charset="0"/>
                              <a:cs typeface="JetBrains Mono Light" panose="02000009000000000000" pitchFamily="49" charset="0"/>
                            </a:rPr>
                            <a:t>E</a:t>
                          </a:r>
                        </a:p>
                      </a:txBody>
                      <a:tcPr>
                        <a:solidFill>
                          <a:schemeClr val="tx1"/>
                        </a:solidFill>
                      </a:tcPr>
                    </a:tc>
                    <a:tc>
                      <a:txBody>
                        <a:bodyPr/>
                        <a:lstStyle/>
                        <a:p>
                          <a:pPr algn="ctr"/>
                          <a:r>
                            <a:rPr lang="en-VN" sz="1800" b="0" i="1" dirty="0">
                              <a:solidFill>
                                <a:schemeClr val="bg1">
                                  <a:lumMod val="50000"/>
                                </a:schemeClr>
                              </a:solidFill>
                              <a:latin typeface="JetBrains Mono Light" panose="02000009000000000000" pitchFamily="49" charset="0"/>
                              <a:cs typeface="JetBrains Mono Light" panose="02000009000000000000" pitchFamily="49" charset="0"/>
                            </a:rPr>
                            <a:t>Cạnh</a:t>
                          </a:r>
                        </a:p>
                      </a:txBody>
                      <a:tcPr>
                        <a:solidFill>
                          <a:schemeClr val="tx1"/>
                        </a:solidFill>
                      </a:tcPr>
                    </a:tc>
                    <a:extLst>
                      <a:ext uri="{0D108BD9-81ED-4DB2-BD59-A6C34878D82A}">
                        <a16:rowId xmlns:a16="http://schemas.microsoft.com/office/drawing/2014/main" val="4107657703"/>
                      </a:ext>
                    </a:extLst>
                  </a:tr>
                  <a:tr h="723375">
                    <a:tc>
                      <a:txBody>
                        <a:bodyPr/>
                        <a:lstStyle/>
                        <a:p>
                          <a:endParaRPr lang="en-VN" sz="1800" dirty="0">
                            <a:solidFill>
                              <a:schemeClr val="bg1"/>
                            </a:solidFill>
                            <a:latin typeface="JetBrains Mono Light" panose="02000009000000000000" pitchFamily="49" charset="0"/>
                            <a:cs typeface="JetBrains Mono Light" panose="02000009000000000000" pitchFamily="49" charset="0"/>
                          </a:endParaRPr>
                        </a:p>
                      </a:txBody>
                      <a:tcPr>
                        <a:lnR w="38100" cap="flat" cmpd="sng" algn="ctr">
                          <a:solidFill>
                            <a:schemeClr val="bg1"/>
                          </a:solidFill>
                          <a:prstDash val="solid"/>
                          <a:round/>
                          <a:headEnd type="none" w="med" len="med"/>
                          <a:tailEnd type="none" w="med" len="med"/>
                        </a:ln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lnL w="38100" cap="flat" cmpd="sng" algn="ctr">
                          <a:solidFill>
                            <a:schemeClr val="bg1"/>
                          </a:solidFill>
                          <a:prstDash val="solid"/>
                          <a:round/>
                          <a:headEnd type="none" w="med" len="med"/>
                          <a:tailEnd type="none" w="med" len="med"/>
                        </a:lnL>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(A,6)</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a:t>
                          </a:r>
                          <a:r>
                            <a:rPr lang="en-VN" sz="1800" dirty="0">
                              <a:solidFill>
                                <a:schemeClr val="bg1"/>
                              </a:solidFill>
                              <a:latin typeface="JetBrains Mono Light" panose="02000009000000000000" pitchFamily="49" charset="0"/>
                              <a:ea typeface="Cambria Math" panose="02040503050406030204" pitchFamily="18" charset="0"/>
                              <a:cs typeface="JetBrains Mono Light" panose="02000009000000000000" pitchFamily="49" charset="0"/>
                            </a:rPr>
                            <a:t> </a:t>
                          </a:r>
                          <a14:m>
                            <m:oMath xmlns:m="http://schemas.openxmlformats.org/officeDocument/2006/math">
                              <m:r>
                                <a:rPr lang="en-VN" sz="1800" i="1" smtClean="0">
                                  <a:solidFill>
                                    <a:schemeClr val="bg1"/>
                                  </a:solidFill>
                                  <a:latin typeface="Cambria Math" panose="02040503050406030204" pitchFamily="18" charset="0"/>
                                  <a:ea typeface="Cambria Math" panose="02040503050406030204" pitchFamily="18" charset="0"/>
                                </a:rPr>
                                <m:t>∞</m:t>
                              </m:r>
                            </m:oMath>
                          </a14:m>
                          <a:r>
                            <a:rPr lang="en-VN" sz="1800" dirty="0">
                              <a:solidFill>
                                <a:schemeClr val="bg1"/>
                              </a:solidFill>
                              <a:latin typeface="JetBrains Mono Light" panose="02000009000000000000" pitchFamily="49" charset="0"/>
                              <a:cs typeface="JetBrains Mono Light" panose="02000009000000000000" pitchFamily="49" charset="0"/>
                            </a:rPr>
                            <a:t>)</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(A,4)</a:t>
                          </a: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VN" sz="1800" dirty="0">
                              <a:solidFill>
                                <a:schemeClr val="bg1"/>
                              </a:solidFill>
                              <a:latin typeface="JetBrains Mono Light" panose="02000009000000000000" pitchFamily="49" charset="0"/>
                              <a:cs typeface="JetBrains Mono Light" panose="02000009000000000000" pitchFamily="49" charset="0"/>
                            </a:rPr>
                            <a:t>(A,</a:t>
                          </a:r>
                          <a:r>
                            <a:rPr lang="en-VN" sz="1800" dirty="0">
                              <a:solidFill>
                                <a:schemeClr val="bg1"/>
                              </a:solidFill>
                              <a:latin typeface="JetBrains Mono Light" panose="02000009000000000000" pitchFamily="49" charset="0"/>
                              <a:ea typeface="Cambria Math" panose="02040503050406030204" pitchFamily="18" charset="0"/>
                              <a:cs typeface="JetBrains Mono Light" panose="02000009000000000000" pitchFamily="49" charset="0"/>
                            </a:rPr>
                            <a:t> </a:t>
                          </a:r>
                          <a14:m>
                            <m:oMath xmlns:m="http://schemas.openxmlformats.org/officeDocument/2006/math">
                              <m:r>
                                <a:rPr lang="vi-VN" sz="1800" b="0" i="1" smtClean="0">
                                  <a:solidFill>
                                    <a:schemeClr val="bg1"/>
                                  </a:solidFill>
                                  <a:latin typeface="Cambria Math" panose="02040503050406030204" pitchFamily="18" charset="0"/>
                                  <a:ea typeface="Cambria Math" panose="02040503050406030204" pitchFamily="18" charset="0"/>
                                </a:rPr>
                                <m:t>4</m:t>
                              </m:r>
                            </m:oMath>
                          </a14:m>
                          <a:r>
                            <a:rPr lang="en-VN" sz="1800" dirty="0">
                              <a:solidFill>
                                <a:schemeClr val="bg1"/>
                              </a:solidFill>
                              <a:latin typeface="JetBrains Mono Light" panose="02000009000000000000" pitchFamily="49" charset="0"/>
                              <a:cs typeface="JetBrains Mono Light" panose="02000009000000000000" pitchFamily="49" charset="0"/>
                            </a:rPr>
                            <a:t>)</a:t>
                          </a:r>
                        </a:p>
                        <a:p>
                          <a:pPr algn="ctr"/>
                          <a:endParaRPr lang="en-VN" sz="1800" dirty="0">
                            <a:solidFill>
                              <a:schemeClr val="bg1"/>
                            </a:solidFill>
                            <a:latin typeface="JetBrains Mono Light" panose="02000009000000000000" pitchFamily="49" charset="0"/>
                            <a:cs typeface="JetBrains Mono Light" panose="02000009000000000000" pitchFamily="49" charset="0"/>
                          </a:endParaRPr>
                        </a:p>
                      </a:txBody>
                      <a:tcPr>
                        <a:solidFill>
                          <a:schemeClr val="tx1"/>
                        </a:solidFill>
                      </a:tcPr>
                    </a:tc>
                    <a:tc>
                      <a:txBody>
                        <a:bodyPr/>
                        <a:lstStyle/>
                        <a:p>
                          <a:pPr algn="ctr"/>
                          <a14:m>
                            <m:oMathPara xmlns:m="http://schemas.openxmlformats.org/officeDocument/2006/math">
                              <m:oMathParaPr>
                                <m:jc m:val="center"/>
                              </m:oMathParaPr>
                              <m:oMath xmlns:m="http://schemas.openxmlformats.org/officeDocument/2006/math">
                                <m:r>
                                  <m:rPr>
                                    <m:nor/>
                                  </m:rPr>
                                  <a:rPr lang="en-US" sz="1400" b="0" i="0" u="none" strike="noStrike" cap="none" smtClean="0">
                                    <a:solidFill>
                                      <a:schemeClr val="dk1"/>
                                    </a:solidFill>
                                    <a:effectLst/>
                                    <a:latin typeface="+mn-lt"/>
                                    <a:ea typeface="+mn-ea"/>
                                    <a:cs typeface="+mn-cs"/>
                                    <a:sym typeface="Arial"/>
                                  </a:rPr>
                                  <m:t>   </m:t>
                                </m:r>
                                <m:r>
                                  <a:rPr lang="en-VN" sz="1800" i="1" smtClean="0">
                                    <a:solidFill>
                                      <a:schemeClr val="bg1"/>
                                    </a:solidFill>
                                    <a:latin typeface="Cambria Math" panose="02040503050406030204" pitchFamily="18" charset="0"/>
                                    <a:ea typeface="Cambria Math" panose="02040503050406030204" pitchFamily="18" charset="0"/>
                                  </a:rPr>
                                  <m:t>∅</m:t>
                                </m:r>
                              </m:oMath>
                            </m:oMathPara>
                          </a14:m>
                          <a:endParaRPr lang="en-VN" sz="1800" dirty="0">
                            <a:solidFill>
                              <a:schemeClr val="bg1"/>
                            </a:solidFill>
                            <a:latin typeface="JetBrains Mono Light" panose="02000009000000000000" pitchFamily="49" charset="0"/>
                            <a:cs typeface="JetBrains Mono Light" panose="02000009000000000000" pitchFamily="49" charset="0"/>
                          </a:endParaRPr>
                        </a:p>
                      </a:txBody>
                      <a:tcPr>
                        <a:solidFill>
                          <a:schemeClr val="tx1"/>
                        </a:solidFill>
                      </a:tcPr>
                    </a:tc>
                    <a:extLst>
                      <a:ext uri="{0D108BD9-81ED-4DB2-BD59-A6C34878D82A}">
                        <a16:rowId xmlns:a16="http://schemas.microsoft.com/office/drawing/2014/main" val="3272382305"/>
                      </a:ext>
                    </a:extLst>
                  </a:tr>
                  <a:tr h="425515">
                    <a:tc>
                      <a:txBody>
                        <a:bodyPr/>
                        <a:lstStyle/>
                        <a:p>
                          <a:r>
                            <a:rPr lang="en-VN" sz="1800" dirty="0">
                              <a:solidFill>
                                <a:schemeClr val="bg1">
                                  <a:lumMod val="50000"/>
                                </a:schemeClr>
                              </a:solidFill>
                              <a:latin typeface="JetBrains Mono Light" panose="02000009000000000000" pitchFamily="49" charset="0"/>
                              <a:cs typeface="JetBrains Mono Light" panose="02000009000000000000" pitchFamily="49" charset="0"/>
                            </a:rPr>
                            <a:t>1</a:t>
                          </a:r>
                        </a:p>
                      </a:txBody>
                      <a:tcPr>
                        <a:lnR w="38100" cap="flat" cmpd="sng" algn="ctr">
                          <a:solidFill>
                            <a:schemeClr val="bg1"/>
                          </a:solidFill>
                          <a:prstDash val="solid"/>
                          <a:round/>
                          <a:headEnd type="none" w="med" len="med"/>
                          <a:tailEnd type="none" w="med" len="med"/>
                        </a:ln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lnL w="38100" cap="flat" cmpd="sng" algn="ctr">
                          <a:solidFill>
                            <a:schemeClr val="bg1"/>
                          </a:solidFill>
                          <a:prstDash val="solid"/>
                          <a:round/>
                          <a:headEnd type="none" w="med" len="med"/>
                          <a:tailEnd type="none" w="med" len="med"/>
                        </a:lnL>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(A,6)</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(D,7)</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(D,3)</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AD</a:t>
                          </a:r>
                        </a:p>
                      </a:txBody>
                      <a:tcPr>
                        <a:solidFill>
                          <a:schemeClr val="tx1"/>
                        </a:solidFill>
                      </a:tcPr>
                    </a:tc>
                    <a:extLst>
                      <a:ext uri="{0D108BD9-81ED-4DB2-BD59-A6C34878D82A}">
                        <a16:rowId xmlns:a16="http://schemas.microsoft.com/office/drawing/2014/main" val="373548923"/>
                      </a:ext>
                    </a:extLst>
                  </a:tr>
                  <a:tr h="425515">
                    <a:tc>
                      <a:txBody>
                        <a:bodyPr/>
                        <a:lstStyle/>
                        <a:p>
                          <a:r>
                            <a:rPr lang="en-VN" sz="1800" dirty="0">
                              <a:solidFill>
                                <a:schemeClr val="bg1">
                                  <a:lumMod val="50000"/>
                                </a:schemeClr>
                              </a:solidFill>
                              <a:latin typeface="JetBrains Mono Light" panose="02000009000000000000" pitchFamily="49" charset="0"/>
                              <a:cs typeface="JetBrains Mono Light" panose="02000009000000000000" pitchFamily="49" charset="0"/>
                            </a:rPr>
                            <a:t>2</a:t>
                          </a:r>
                        </a:p>
                      </a:txBody>
                      <a:tcPr>
                        <a:lnR w="38100" cap="flat" cmpd="sng" algn="ctr">
                          <a:solidFill>
                            <a:schemeClr val="bg1"/>
                          </a:solidFill>
                          <a:prstDash val="solid"/>
                          <a:round/>
                          <a:headEnd type="none" w="med" len="med"/>
                          <a:tailEnd type="none" w="med" len="med"/>
                        </a:ln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lnL w="38100" cap="flat" cmpd="sng" algn="ctr">
                          <a:solidFill>
                            <a:schemeClr val="bg1"/>
                          </a:solidFill>
                          <a:prstDash val="solid"/>
                          <a:round/>
                          <a:headEnd type="none" w="med" len="med"/>
                          <a:tailEnd type="none" w="med" len="med"/>
                        </a:lnL>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(E,5)</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(D,7)</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AD,DE</a:t>
                          </a:r>
                        </a:p>
                      </a:txBody>
                      <a:tcPr>
                        <a:solidFill>
                          <a:schemeClr val="tx1"/>
                        </a:solidFill>
                      </a:tcPr>
                    </a:tc>
                    <a:extLst>
                      <a:ext uri="{0D108BD9-81ED-4DB2-BD59-A6C34878D82A}">
                        <a16:rowId xmlns:a16="http://schemas.microsoft.com/office/drawing/2014/main" val="1348995073"/>
                      </a:ext>
                    </a:extLst>
                  </a:tr>
                  <a:tr h="579666">
                    <a:tc>
                      <a:txBody>
                        <a:bodyPr/>
                        <a:lstStyle/>
                        <a:p>
                          <a:r>
                            <a:rPr lang="en-VN" sz="1800" dirty="0">
                              <a:solidFill>
                                <a:schemeClr val="bg1">
                                  <a:lumMod val="50000"/>
                                </a:schemeClr>
                              </a:solidFill>
                              <a:latin typeface="JetBrains Mono Light" panose="02000009000000000000" pitchFamily="49" charset="0"/>
                              <a:cs typeface="JetBrains Mono Light" panose="02000009000000000000" pitchFamily="49" charset="0"/>
                            </a:rPr>
                            <a:t>3</a:t>
                          </a:r>
                        </a:p>
                      </a:txBody>
                      <a:tcPr>
                        <a:lnR w="38100" cap="flat" cmpd="sng" algn="ctr">
                          <a:solidFill>
                            <a:schemeClr val="bg1"/>
                          </a:solidFill>
                          <a:prstDash val="solid"/>
                          <a:round/>
                          <a:headEnd type="none" w="med" len="med"/>
                          <a:tailEnd type="none" w="med" len="med"/>
                        </a:ln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lnL w="38100" cap="flat" cmpd="sng" algn="ctr">
                          <a:solidFill>
                            <a:schemeClr val="bg1"/>
                          </a:solidFill>
                          <a:prstDash val="solid"/>
                          <a:round/>
                          <a:headEnd type="none" w="med" len="med"/>
                          <a:tailEnd type="none" w="med" len="med"/>
                        </a:lnL>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(D,7)</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AD,DE,EB</a:t>
                          </a:r>
                        </a:p>
                      </a:txBody>
                      <a:tcPr>
                        <a:solidFill>
                          <a:schemeClr val="tx1"/>
                        </a:solidFill>
                      </a:tcPr>
                    </a:tc>
                    <a:extLst>
                      <a:ext uri="{0D108BD9-81ED-4DB2-BD59-A6C34878D82A}">
                        <a16:rowId xmlns:a16="http://schemas.microsoft.com/office/drawing/2014/main" val="597107340"/>
                      </a:ext>
                    </a:extLst>
                  </a:tr>
                  <a:tr h="723375">
                    <a:tc>
                      <a:txBody>
                        <a:bodyPr/>
                        <a:lstStyle/>
                        <a:p>
                          <a:r>
                            <a:rPr lang="en-VN" sz="1800" dirty="0">
                              <a:solidFill>
                                <a:schemeClr val="bg1">
                                  <a:lumMod val="50000"/>
                                </a:schemeClr>
                              </a:solidFill>
                              <a:latin typeface="JetBrains Mono Light" panose="02000009000000000000" pitchFamily="49" charset="0"/>
                              <a:cs typeface="JetBrains Mono Light" panose="02000009000000000000" pitchFamily="49" charset="0"/>
                            </a:rPr>
                            <a:t>4</a:t>
                          </a:r>
                        </a:p>
                      </a:txBody>
                      <a:tcPr>
                        <a:lnR w="38100" cap="flat" cmpd="sng" algn="ctr">
                          <a:solidFill>
                            <a:schemeClr val="bg1"/>
                          </a:solidFill>
                          <a:prstDash val="solid"/>
                          <a:round/>
                          <a:headEnd type="none" w="med" len="med"/>
                          <a:tailEnd type="none" w="med" len="med"/>
                        </a:ln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lnL w="38100" cap="flat" cmpd="sng" algn="ctr">
                          <a:solidFill>
                            <a:schemeClr val="bg1"/>
                          </a:solidFill>
                          <a:prstDash val="solid"/>
                          <a:round/>
                          <a:headEnd type="none" w="med" len="med"/>
                          <a:tailEnd type="none" w="med" len="med"/>
                        </a:lnL>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AD,DE,EB,BC</a:t>
                          </a:r>
                        </a:p>
                      </a:txBody>
                      <a:tcPr>
                        <a:solidFill>
                          <a:schemeClr val="tx1"/>
                        </a:solidFill>
                      </a:tcPr>
                    </a:tc>
                    <a:extLst>
                      <a:ext uri="{0D108BD9-81ED-4DB2-BD59-A6C34878D82A}">
                        <a16:rowId xmlns:a16="http://schemas.microsoft.com/office/drawing/2014/main" val="709516802"/>
                      </a:ext>
                    </a:extLst>
                  </a:tr>
                </a:tbl>
              </a:graphicData>
            </a:graphic>
          </p:graphicFrame>
        </mc:Choice>
        <mc:Fallback xmlns="">
          <p:graphicFrame>
            <p:nvGraphicFramePr>
              <p:cNvPr id="31" name="Table 31">
                <a:extLst>
                  <a:ext uri="{FF2B5EF4-FFF2-40B4-BE49-F238E27FC236}">
                    <a16:creationId xmlns:a16="http://schemas.microsoft.com/office/drawing/2014/main" id="{A57BCA11-AC7D-49FF-B168-5DF7DB20B787}"/>
                  </a:ext>
                </a:extLst>
              </p:cNvPr>
              <p:cNvGraphicFramePr>
                <a:graphicFrameLocks noGrp="1"/>
              </p:cNvGraphicFramePr>
              <p:nvPr>
                <p:extLst>
                  <p:ext uri="{D42A27DB-BD31-4B8C-83A1-F6EECF244321}">
                    <p14:modId xmlns:p14="http://schemas.microsoft.com/office/powerpoint/2010/main" val="2664290652"/>
                  </p:ext>
                </p:extLst>
              </p:nvPr>
            </p:nvGraphicFramePr>
            <p:xfrm>
              <a:off x="683086" y="2665475"/>
              <a:ext cx="6915438" cy="3363375"/>
            </p:xfrm>
            <a:graphic>
              <a:graphicData uri="http://schemas.openxmlformats.org/drawingml/2006/table">
                <a:tbl>
                  <a:tblPr firstRow="1" bandRow="1">
                    <a:solidFill>
                      <a:schemeClr val="tx1"/>
                    </a:solidFill>
                    <a:tableStyleId>{5C22544A-7EE6-4342-B048-85BDC9FD1C3A}</a:tableStyleId>
                  </a:tblPr>
                  <a:tblGrid>
                    <a:gridCol w="903519">
                      <a:extLst>
                        <a:ext uri="{9D8B030D-6E8A-4147-A177-3AD203B41FA5}">
                          <a16:colId xmlns:a16="http://schemas.microsoft.com/office/drawing/2014/main" val="2965343083"/>
                        </a:ext>
                      </a:extLst>
                    </a:gridCol>
                    <a:gridCol w="734489">
                      <a:extLst>
                        <a:ext uri="{9D8B030D-6E8A-4147-A177-3AD203B41FA5}">
                          <a16:colId xmlns:a16="http://schemas.microsoft.com/office/drawing/2014/main" val="495888994"/>
                        </a:ext>
                      </a:extLst>
                    </a:gridCol>
                    <a:gridCol w="952111">
                      <a:extLst>
                        <a:ext uri="{9D8B030D-6E8A-4147-A177-3AD203B41FA5}">
                          <a16:colId xmlns:a16="http://schemas.microsoft.com/office/drawing/2014/main" val="1182029320"/>
                        </a:ext>
                      </a:extLst>
                    </a:gridCol>
                    <a:gridCol w="1115334">
                      <a:extLst>
                        <a:ext uri="{9D8B030D-6E8A-4147-A177-3AD203B41FA5}">
                          <a16:colId xmlns:a16="http://schemas.microsoft.com/office/drawing/2014/main" val="2197389400"/>
                        </a:ext>
                      </a:extLst>
                    </a:gridCol>
                    <a:gridCol w="979317">
                      <a:extLst>
                        <a:ext uri="{9D8B030D-6E8A-4147-A177-3AD203B41FA5}">
                          <a16:colId xmlns:a16="http://schemas.microsoft.com/office/drawing/2014/main" val="1952533407"/>
                        </a:ext>
                      </a:extLst>
                    </a:gridCol>
                    <a:gridCol w="1115334">
                      <a:extLst>
                        <a:ext uri="{9D8B030D-6E8A-4147-A177-3AD203B41FA5}">
                          <a16:colId xmlns:a16="http://schemas.microsoft.com/office/drawing/2014/main" val="1267293426"/>
                        </a:ext>
                      </a:extLst>
                    </a:gridCol>
                    <a:gridCol w="1115334">
                      <a:extLst>
                        <a:ext uri="{9D8B030D-6E8A-4147-A177-3AD203B41FA5}">
                          <a16:colId xmlns:a16="http://schemas.microsoft.com/office/drawing/2014/main" val="1251686252"/>
                        </a:ext>
                      </a:extLst>
                    </a:gridCol>
                  </a:tblGrid>
                  <a:tr h="425515">
                    <a:tc>
                      <a:txBody>
                        <a:bodyPr/>
                        <a:lstStyle/>
                        <a:p>
                          <a:endParaRPr lang="en-VN" sz="1800" dirty="0">
                            <a:solidFill>
                              <a:schemeClr val="bg1"/>
                            </a:solidFill>
                            <a:latin typeface="JetBrains Mono Light" panose="02000009000000000000" pitchFamily="49" charset="0"/>
                            <a:cs typeface="JetBrains Mono Light" panose="02000009000000000000" pitchFamily="49" charset="0"/>
                          </a:endParaRPr>
                        </a:p>
                      </a:txBody>
                      <a:tcPr>
                        <a:lnR w="38100" cap="flat" cmpd="sng" algn="ctr">
                          <a:solidFill>
                            <a:schemeClr val="bg1"/>
                          </a:solidFill>
                          <a:prstDash val="solid"/>
                          <a:round/>
                          <a:headEnd type="none" w="med" len="med"/>
                          <a:tailEnd type="none" w="med" len="med"/>
                        </a:lnR>
                        <a:solidFill>
                          <a:schemeClr val="tx1"/>
                        </a:solidFill>
                      </a:tcPr>
                    </a:tc>
                    <a:tc>
                      <a:txBody>
                        <a:bodyPr/>
                        <a:lstStyle/>
                        <a:p>
                          <a:pPr algn="ctr"/>
                          <a:r>
                            <a:rPr lang="en-VN" sz="1800" b="0" i="1" dirty="0">
                              <a:solidFill>
                                <a:schemeClr val="bg1">
                                  <a:lumMod val="50000"/>
                                </a:schemeClr>
                              </a:solidFill>
                              <a:latin typeface="JetBrains Mono Light" panose="02000009000000000000" pitchFamily="49" charset="0"/>
                              <a:cs typeface="JetBrains Mono Light" panose="02000009000000000000" pitchFamily="49" charset="0"/>
                            </a:rPr>
                            <a:t>A</a:t>
                          </a:r>
                        </a:p>
                      </a:txBody>
                      <a:tcPr>
                        <a:lnL w="38100" cap="flat" cmpd="sng" algn="ctr">
                          <a:solidFill>
                            <a:schemeClr val="bg1"/>
                          </a:solidFill>
                          <a:prstDash val="solid"/>
                          <a:round/>
                          <a:headEnd type="none" w="med" len="med"/>
                          <a:tailEnd type="none" w="med" len="med"/>
                        </a:lnL>
                        <a:solidFill>
                          <a:schemeClr val="tx1"/>
                        </a:solidFill>
                      </a:tcPr>
                    </a:tc>
                    <a:tc>
                      <a:txBody>
                        <a:bodyPr/>
                        <a:lstStyle/>
                        <a:p>
                          <a:pPr algn="ctr"/>
                          <a:r>
                            <a:rPr lang="en-VN" sz="1800" b="0" i="1" dirty="0">
                              <a:solidFill>
                                <a:schemeClr val="bg1">
                                  <a:lumMod val="50000"/>
                                </a:schemeClr>
                              </a:solidFill>
                              <a:latin typeface="JetBrains Mono Light" panose="02000009000000000000" pitchFamily="49" charset="0"/>
                              <a:cs typeface="JetBrains Mono Light" panose="02000009000000000000" pitchFamily="49" charset="0"/>
                            </a:rPr>
                            <a:t>B</a:t>
                          </a:r>
                        </a:p>
                      </a:txBody>
                      <a:tcPr>
                        <a:solidFill>
                          <a:schemeClr val="tx1"/>
                        </a:solidFill>
                      </a:tcPr>
                    </a:tc>
                    <a:tc>
                      <a:txBody>
                        <a:bodyPr/>
                        <a:lstStyle/>
                        <a:p>
                          <a:pPr algn="ctr"/>
                          <a:r>
                            <a:rPr lang="en-VN" sz="1800" b="0" i="1" dirty="0">
                              <a:solidFill>
                                <a:schemeClr val="bg1">
                                  <a:lumMod val="50000"/>
                                </a:schemeClr>
                              </a:solidFill>
                              <a:latin typeface="JetBrains Mono Light" panose="02000009000000000000" pitchFamily="49" charset="0"/>
                              <a:cs typeface="JetBrains Mono Light" panose="02000009000000000000" pitchFamily="49" charset="0"/>
                            </a:rPr>
                            <a:t>C</a:t>
                          </a:r>
                        </a:p>
                      </a:txBody>
                      <a:tcPr>
                        <a:solidFill>
                          <a:schemeClr val="tx1"/>
                        </a:solidFill>
                      </a:tcPr>
                    </a:tc>
                    <a:tc>
                      <a:txBody>
                        <a:bodyPr/>
                        <a:lstStyle/>
                        <a:p>
                          <a:pPr algn="ctr"/>
                          <a:r>
                            <a:rPr lang="en-VN" sz="1800" b="0" i="1" dirty="0">
                              <a:solidFill>
                                <a:schemeClr val="bg1">
                                  <a:lumMod val="50000"/>
                                </a:schemeClr>
                              </a:solidFill>
                              <a:latin typeface="JetBrains Mono Light" panose="02000009000000000000" pitchFamily="49" charset="0"/>
                              <a:cs typeface="JetBrains Mono Light" panose="02000009000000000000" pitchFamily="49" charset="0"/>
                            </a:rPr>
                            <a:t>D</a:t>
                          </a:r>
                        </a:p>
                      </a:txBody>
                      <a:tcPr>
                        <a:solidFill>
                          <a:schemeClr val="tx1"/>
                        </a:solidFill>
                      </a:tcPr>
                    </a:tc>
                    <a:tc>
                      <a:txBody>
                        <a:bodyPr/>
                        <a:lstStyle/>
                        <a:p>
                          <a:pPr algn="ctr"/>
                          <a:r>
                            <a:rPr lang="en-VN" sz="1800" b="0" i="1" dirty="0">
                              <a:solidFill>
                                <a:schemeClr val="bg1">
                                  <a:lumMod val="50000"/>
                                </a:schemeClr>
                              </a:solidFill>
                              <a:latin typeface="JetBrains Mono Light" panose="02000009000000000000" pitchFamily="49" charset="0"/>
                              <a:cs typeface="JetBrains Mono Light" panose="02000009000000000000" pitchFamily="49" charset="0"/>
                            </a:rPr>
                            <a:t>E</a:t>
                          </a:r>
                        </a:p>
                      </a:txBody>
                      <a:tcPr>
                        <a:solidFill>
                          <a:schemeClr val="tx1"/>
                        </a:solidFill>
                      </a:tcPr>
                    </a:tc>
                    <a:tc>
                      <a:txBody>
                        <a:bodyPr/>
                        <a:lstStyle/>
                        <a:p>
                          <a:pPr algn="ctr"/>
                          <a:r>
                            <a:rPr lang="en-VN" sz="1800" b="0" i="1" dirty="0">
                              <a:solidFill>
                                <a:schemeClr val="bg1">
                                  <a:lumMod val="50000"/>
                                </a:schemeClr>
                              </a:solidFill>
                              <a:latin typeface="JetBrains Mono Light" panose="02000009000000000000" pitchFamily="49" charset="0"/>
                              <a:cs typeface="JetBrains Mono Light" panose="02000009000000000000" pitchFamily="49" charset="0"/>
                            </a:rPr>
                            <a:t>Cạnh</a:t>
                          </a:r>
                        </a:p>
                      </a:txBody>
                      <a:tcPr>
                        <a:solidFill>
                          <a:schemeClr val="tx1"/>
                        </a:solidFill>
                      </a:tcPr>
                    </a:tc>
                    <a:extLst>
                      <a:ext uri="{0D108BD9-81ED-4DB2-BD59-A6C34878D82A}">
                        <a16:rowId xmlns:a16="http://schemas.microsoft.com/office/drawing/2014/main" val="4107657703"/>
                      </a:ext>
                    </a:extLst>
                  </a:tr>
                  <a:tr h="723375">
                    <a:tc>
                      <a:txBody>
                        <a:bodyPr/>
                        <a:lstStyle/>
                        <a:p>
                          <a:endParaRPr lang="en-VN" sz="1800" dirty="0">
                            <a:solidFill>
                              <a:schemeClr val="bg1"/>
                            </a:solidFill>
                            <a:latin typeface="JetBrains Mono Light" panose="02000009000000000000" pitchFamily="49" charset="0"/>
                            <a:cs typeface="JetBrains Mono Light" panose="02000009000000000000" pitchFamily="49" charset="0"/>
                          </a:endParaRPr>
                        </a:p>
                      </a:txBody>
                      <a:tcPr>
                        <a:lnR w="38100" cap="flat" cmpd="sng" algn="ctr">
                          <a:solidFill>
                            <a:schemeClr val="bg1"/>
                          </a:solidFill>
                          <a:prstDash val="solid"/>
                          <a:round/>
                          <a:headEnd type="none" w="med" len="med"/>
                          <a:tailEnd type="none" w="med" len="med"/>
                        </a:ln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lnL w="38100" cap="flat" cmpd="sng" algn="ctr">
                          <a:solidFill>
                            <a:schemeClr val="bg1"/>
                          </a:solidFill>
                          <a:prstDash val="solid"/>
                          <a:round/>
                          <a:headEnd type="none" w="med" len="med"/>
                          <a:tailEnd type="none" w="med" len="med"/>
                        </a:lnL>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(A,6)</a:t>
                          </a:r>
                        </a:p>
                      </a:txBody>
                      <a:tcPr>
                        <a:solidFill>
                          <a:schemeClr val="tx1"/>
                        </a:solidFill>
                      </a:tcPr>
                    </a:tc>
                    <a:tc>
                      <a:txBody>
                        <a:bodyPr/>
                        <a:lstStyle/>
                        <a:p>
                          <a:endParaRPr lang="en-US"/>
                        </a:p>
                      </a:txBody>
                      <a:tcPr>
                        <a:blipFill>
                          <a:blip r:embed="rId2"/>
                          <a:stretch>
                            <a:fillRect l="-232787" t="-63025" r="-290164" b="-309244"/>
                          </a:stretch>
                        </a:blip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(A,4)</a:t>
                          </a:r>
                        </a:p>
                      </a:txBody>
                      <a:tcPr>
                        <a:solidFill>
                          <a:schemeClr val="tx1"/>
                        </a:solidFill>
                      </a:tcPr>
                    </a:tc>
                    <a:tc>
                      <a:txBody>
                        <a:bodyPr/>
                        <a:lstStyle/>
                        <a:p>
                          <a:endParaRPr lang="en-US"/>
                        </a:p>
                      </a:txBody>
                      <a:tcPr>
                        <a:blipFill>
                          <a:blip r:embed="rId2"/>
                          <a:stretch>
                            <a:fillRect l="-420765" t="-63025" r="-102186" b="-309244"/>
                          </a:stretch>
                        </a:blipFill>
                      </a:tcPr>
                    </a:tc>
                    <a:tc>
                      <a:txBody>
                        <a:bodyPr/>
                        <a:lstStyle/>
                        <a:p>
                          <a:endParaRPr lang="en-US"/>
                        </a:p>
                      </a:txBody>
                      <a:tcPr>
                        <a:blipFill>
                          <a:blip r:embed="rId2"/>
                          <a:stretch>
                            <a:fillRect l="-520765" t="-63025" r="-2186" b="-309244"/>
                          </a:stretch>
                        </a:blipFill>
                      </a:tcPr>
                    </a:tc>
                    <a:extLst>
                      <a:ext uri="{0D108BD9-81ED-4DB2-BD59-A6C34878D82A}">
                        <a16:rowId xmlns:a16="http://schemas.microsoft.com/office/drawing/2014/main" val="3272382305"/>
                      </a:ext>
                    </a:extLst>
                  </a:tr>
                  <a:tr h="425515">
                    <a:tc>
                      <a:txBody>
                        <a:bodyPr/>
                        <a:lstStyle/>
                        <a:p>
                          <a:r>
                            <a:rPr lang="en-VN" sz="1800" dirty="0">
                              <a:solidFill>
                                <a:schemeClr val="bg1">
                                  <a:lumMod val="50000"/>
                                </a:schemeClr>
                              </a:solidFill>
                              <a:latin typeface="JetBrains Mono Light" panose="02000009000000000000" pitchFamily="49" charset="0"/>
                              <a:cs typeface="JetBrains Mono Light" panose="02000009000000000000" pitchFamily="49" charset="0"/>
                            </a:rPr>
                            <a:t>1</a:t>
                          </a:r>
                        </a:p>
                      </a:txBody>
                      <a:tcPr>
                        <a:lnR w="38100" cap="flat" cmpd="sng" algn="ctr">
                          <a:solidFill>
                            <a:schemeClr val="bg1"/>
                          </a:solidFill>
                          <a:prstDash val="solid"/>
                          <a:round/>
                          <a:headEnd type="none" w="med" len="med"/>
                          <a:tailEnd type="none" w="med" len="med"/>
                        </a:ln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lnL w="38100" cap="flat" cmpd="sng" algn="ctr">
                          <a:solidFill>
                            <a:schemeClr val="bg1"/>
                          </a:solidFill>
                          <a:prstDash val="solid"/>
                          <a:round/>
                          <a:headEnd type="none" w="med" len="med"/>
                          <a:tailEnd type="none" w="med" len="med"/>
                        </a:lnL>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(A,6)</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(D,7)</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(D,3)</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AD</a:t>
                          </a:r>
                        </a:p>
                      </a:txBody>
                      <a:tcPr>
                        <a:solidFill>
                          <a:schemeClr val="tx1"/>
                        </a:solidFill>
                      </a:tcPr>
                    </a:tc>
                    <a:extLst>
                      <a:ext uri="{0D108BD9-81ED-4DB2-BD59-A6C34878D82A}">
                        <a16:rowId xmlns:a16="http://schemas.microsoft.com/office/drawing/2014/main" val="373548923"/>
                      </a:ext>
                    </a:extLst>
                  </a:tr>
                  <a:tr h="425515">
                    <a:tc>
                      <a:txBody>
                        <a:bodyPr/>
                        <a:lstStyle/>
                        <a:p>
                          <a:r>
                            <a:rPr lang="en-VN" sz="1800" dirty="0">
                              <a:solidFill>
                                <a:schemeClr val="bg1">
                                  <a:lumMod val="50000"/>
                                </a:schemeClr>
                              </a:solidFill>
                              <a:latin typeface="JetBrains Mono Light" panose="02000009000000000000" pitchFamily="49" charset="0"/>
                              <a:cs typeface="JetBrains Mono Light" panose="02000009000000000000" pitchFamily="49" charset="0"/>
                            </a:rPr>
                            <a:t>2</a:t>
                          </a:r>
                        </a:p>
                      </a:txBody>
                      <a:tcPr>
                        <a:lnR w="38100" cap="flat" cmpd="sng" algn="ctr">
                          <a:solidFill>
                            <a:schemeClr val="bg1"/>
                          </a:solidFill>
                          <a:prstDash val="solid"/>
                          <a:round/>
                          <a:headEnd type="none" w="med" len="med"/>
                          <a:tailEnd type="none" w="med" len="med"/>
                        </a:ln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lnL w="38100" cap="flat" cmpd="sng" algn="ctr">
                          <a:solidFill>
                            <a:schemeClr val="bg1"/>
                          </a:solidFill>
                          <a:prstDash val="solid"/>
                          <a:round/>
                          <a:headEnd type="none" w="med" len="med"/>
                          <a:tailEnd type="none" w="med" len="med"/>
                        </a:lnL>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(E,5)</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(D,7)</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AD,DE</a:t>
                          </a:r>
                        </a:p>
                      </a:txBody>
                      <a:tcPr>
                        <a:solidFill>
                          <a:schemeClr val="tx1"/>
                        </a:solidFill>
                      </a:tcPr>
                    </a:tc>
                    <a:extLst>
                      <a:ext uri="{0D108BD9-81ED-4DB2-BD59-A6C34878D82A}">
                        <a16:rowId xmlns:a16="http://schemas.microsoft.com/office/drawing/2014/main" val="1348995073"/>
                      </a:ext>
                    </a:extLst>
                  </a:tr>
                  <a:tr h="640080">
                    <a:tc>
                      <a:txBody>
                        <a:bodyPr/>
                        <a:lstStyle/>
                        <a:p>
                          <a:r>
                            <a:rPr lang="en-VN" sz="1800" dirty="0">
                              <a:solidFill>
                                <a:schemeClr val="bg1">
                                  <a:lumMod val="50000"/>
                                </a:schemeClr>
                              </a:solidFill>
                              <a:latin typeface="JetBrains Mono Light" panose="02000009000000000000" pitchFamily="49" charset="0"/>
                              <a:cs typeface="JetBrains Mono Light" panose="02000009000000000000" pitchFamily="49" charset="0"/>
                            </a:rPr>
                            <a:t>3</a:t>
                          </a:r>
                        </a:p>
                      </a:txBody>
                      <a:tcPr>
                        <a:lnR w="38100" cap="flat" cmpd="sng" algn="ctr">
                          <a:solidFill>
                            <a:schemeClr val="bg1"/>
                          </a:solidFill>
                          <a:prstDash val="solid"/>
                          <a:round/>
                          <a:headEnd type="none" w="med" len="med"/>
                          <a:tailEnd type="none" w="med" len="med"/>
                        </a:ln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lnL w="38100" cap="flat" cmpd="sng" algn="ctr">
                          <a:solidFill>
                            <a:schemeClr val="bg1"/>
                          </a:solidFill>
                          <a:prstDash val="solid"/>
                          <a:round/>
                          <a:headEnd type="none" w="med" len="med"/>
                          <a:tailEnd type="none" w="med" len="med"/>
                        </a:lnL>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(D,7)</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AD,DE,EB</a:t>
                          </a:r>
                        </a:p>
                      </a:txBody>
                      <a:tcPr>
                        <a:solidFill>
                          <a:schemeClr val="tx1"/>
                        </a:solidFill>
                      </a:tcPr>
                    </a:tc>
                    <a:extLst>
                      <a:ext uri="{0D108BD9-81ED-4DB2-BD59-A6C34878D82A}">
                        <a16:rowId xmlns:a16="http://schemas.microsoft.com/office/drawing/2014/main" val="597107340"/>
                      </a:ext>
                    </a:extLst>
                  </a:tr>
                  <a:tr h="723375">
                    <a:tc>
                      <a:txBody>
                        <a:bodyPr/>
                        <a:lstStyle/>
                        <a:p>
                          <a:r>
                            <a:rPr lang="en-VN" sz="1800" dirty="0">
                              <a:solidFill>
                                <a:schemeClr val="bg1">
                                  <a:lumMod val="50000"/>
                                </a:schemeClr>
                              </a:solidFill>
                              <a:latin typeface="JetBrains Mono Light" panose="02000009000000000000" pitchFamily="49" charset="0"/>
                              <a:cs typeface="JetBrains Mono Light" panose="02000009000000000000" pitchFamily="49" charset="0"/>
                            </a:rPr>
                            <a:t>4</a:t>
                          </a:r>
                        </a:p>
                      </a:txBody>
                      <a:tcPr>
                        <a:lnR w="38100" cap="flat" cmpd="sng" algn="ctr">
                          <a:solidFill>
                            <a:schemeClr val="bg1"/>
                          </a:solidFill>
                          <a:prstDash val="solid"/>
                          <a:round/>
                          <a:headEnd type="none" w="med" len="med"/>
                          <a:tailEnd type="none" w="med" len="med"/>
                        </a:ln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lnL w="38100" cap="flat" cmpd="sng" algn="ctr">
                          <a:solidFill>
                            <a:schemeClr val="bg1"/>
                          </a:solidFill>
                          <a:prstDash val="solid"/>
                          <a:round/>
                          <a:headEnd type="none" w="med" len="med"/>
                          <a:tailEnd type="none" w="med" len="med"/>
                        </a:lnL>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t>
                          </a:r>
                        </a:p>
                      </a:txBody>
                      <a:tcPr>
                        <a:solidFill>
                          <a:schemeClr val="tx1"/>
                        </a:solidFill>
                      </a:tcPr>
                    </a:tc>
                    <a:tc>
                      <a:txBody>
                        <a:bodyPr/>
                        <a:lstStyle/>
                        <a:p>
                          <a:pPr algn="ctr"/>
                          <a:r>
                            <a:rPr lang="en-VN" sz="1800" dirty="0">
                              <a:solidFill>
                                <a:schemeClr val="bg1"/>
                              </a:solidFill>
                              <a:latin typeface="JetBrains Mono Light" panose="02000009000000000000" pitchFamily="49" charset="0"/>
                              <a:cs typeface="JetBrains Mono Light" panose="02000009000000000000" pitchFamily="49" charset="0"/>
                            </a:rPr>
                            <a:t>AD,DE,EB,BC</a:t>
                          </a:r>
                        </a:p>
                      </a:txBody>
                      <a:tcPr>
                        <a:solidFill>
                          <a:schemeClr val="tx1"/>
                        </a:solidFill>
                      </a:tcPr>
                    </a:tc>
                    <a:extLst>
                      <a:ext uri="{0D108BD9-81ED-4DB2-BD59-A6C34878D82A}">
                        <a16:rowId xmlns:a16="http://schemas.microsoft.com/office/drawing/2014/main" val="709516802"/>
                      </a:ext>
                    </a:extLst>
                  </a:tr>
                </a:tbl>
              </a:graphicData>
            </a:graphic>
          </p:graphicFrame>
        </mc:Fallback>
      </mc:AlternateContent>
      <p:sp>
        <p:nvSpPr>
          <p:cNvPr id="70" name="Rectangle 69">
            <a:extLst>
              <a:ext uri="{FF2B5EF4-FFF2-40B4-BE49-F238E27FC236}">
                <a16:creationId xmlns:a16="http://schemas.microsoft.com/office/drawing/2014/main" id="{F231D311-7B51-40BE-84C7-BE0E13B6465A}"/>
              </a:ext>
            </a:extLst>
          </p:cNvPr>
          <p:cNvSpPr/>
          <p:nvPr/>
        </p:nvSpPr>
        <p:spPr>
          <a:xfrm>
            <a:off x="8477627" y="567729"/>
            <a:ext cx="3163614" cy="192339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cxnSp>
        <p:nvCxnSpPr>
          <p:cNvPr id="71" name="Straight Connector 70">
            <a:extLst>
              <a:ext uri="{FF2B5EF4-FFF2-40B4-BE49-F238E27FC236}">
                <a16:creationId xmlns:a16="http://schemas.microsoft.com/office/drawing/2014/main" id="{A10DADBA-B248-4A54-A03C-45337EC69C13}"/>
              </a:ext>
            </a:extLst>
          </p:cNvPr>
          <p:cNvCxnSpPr>
            <a:cxnSpLocks/>
          </p:cNvCxnSpPr>
          <p:nvPr/>
        </p:nvCxnSpPr>
        <p:spPr>
          <a:xfrm flipH="1">
            <a:off x="8477627" y="567729"/>
            <a:ext cx="3163614" cy="1923393"/>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191D48F9-4D9B-4985-87E5-8B60B3CF4DA3}"/>
              </a:ext>
            </a:extLst>
          </p:cNvPr>
          <p:cNvCxnSpPr>
            <a:cxnSpLocks/>
          </p:cNvCxnSpPr>
          <p:nvPr/>
        </p:nvCxnSpPr>
        <p:spPr>
          <a:xfrm flipH="1">
            <a:off x="8471301" y="3749295"/>
            <a:ext cx="3163614" cy="1923393"/>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F24350B-BFB9-4150-97C5-FDB3B11E6AB0}"/>
              </a:ext>
            </a:extLst>
          </p:cNvPr>
          <p:cNvCxnSpPr>
            <a:cxnSpLocks/>
          </p:cNvCxnSpPr>
          <p:nvPr/>
        </p:nvCxnSpPr>
        <p:spPr>
          <a:xfrm>
            <a:off x="8549432" y="660062"/>
            <a:ext cx="1503676" cy="9155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592A2D54-1E50-4801-AAAD-D0A04CD2230C}"/>
              </a:ext>
            </a:extLst>
          </p:cNvPr>
          <p:cNvCxnSpPr>
            <a:cxnSpLocks/>
          </p:cNvCxnSpPr>
          <p:nvPr/>
        </p:nvCxnSpPr>
        <p:spPr>
          <a:xfrm>
            <a:off x="11623975" y="3854201"/>
            <a:ext cx="2236" cy="173872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D5326CC4-3E21-4D43-85DC-984608744281}"/>
              </a:ext>
            </a:extLst>
          </p:cNvPr>
          <p:cNvCxnSpPr>
            <a:cxnSpLocks/>
          </p:cNvCxnSpPr>
          <p:nvPr/>
        </p:nvCxnSpPr>
        <p:spPr>
          <a:xfrm>
            <a:off x="8460664" y="3803483"/>
            <a:ext cx="5590" cy="1939571"/>
          </a:xfrm>
          <a:prstGeom prst="line">
            <a:avLst/>
          </a:prstGeom>
        </p:spPr>
        <p:style>
          <a:lnRef idx="1">
            <a:schemeClr val="accent1"/>
          </a:lnRef>
          <a:fillRef idx="0">
            <a:schemeClr val="accent1"/>
          </a:fillRef>
          <a:effectRef idx="0">
            <a:schemeClr val="accent1"/>
          </a:effectRef>
          <a:fontRef idx="minor">
            <a:schemeClr val="tx1"/>
          </a:fontRef>
        </p:style>
      </p:cxnSp>
      <p:sp>
        <p:nvSpPr>
          <p:cNvPr id="72" name="Oval 71">
            <a:extLst>
              <a:ext uri="{FF2B5EF4-FFF2-40B4-BE49-F238E27FC236}">
                <a16:creationId xmlns:a16="http://schemas.microsoft.com/office/drawing/2014/main" id="{85492C0B-80AC-490B-A31E-8757767CABB1}"/>
              </a:ext>
            </a:extLst>
          </p:cNvPr>
          <p:cNvSpPr/>
          <p:nvPr/>
        </p:nvSpPr>
        <p:spPr>
          <a:xfrm>
            <a:off x="8363327" y="453429"/>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dirty="0">
              <a:solidFill>
                <a:srgbClr val="EBE9EB"/>
              </a:solidFill>
            </a:endParaRPr>
          </a:p>
        </p:txBody>
      </p:sp>
      <p:sp>
        <p:nvSpPr>
          <p:cNvPr id="73" name="Oval 72">
            <a:extLst>
              <a:ext uri="{FF2B5EF4-FFF2-40B4-BE49-F238E27FC236}">
                <a16:creationId xmlns:a16="http://schemas.microsoft.com/office/drawing/2014/main" id="{E7217E16-4812-4020-ADBB-B16555728D0B}"/>
              </a:ext>
            </a:extLst>
          </p:cNvPr>
          <p:cNvSpPr/>
          <p:nvPr/>
        </p:nvSpPr>
        <p:spPr>
          <a:xfrm>
            <a:off x="11512590" y="458541"/>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74" name="Oval 73">
            <a:extLst>
              <a:ext uri="{FF2B5EF4-FFF2-40B4-BE49-F238E27FC236}">
                <a16:creationId xmlns:a16="http://schemas.microsoft.com/office/drawing/2014/main" id="{7454951D-4A1A-4ADC-9727-B8B593706EAE}"/>
              </a:ext>
            </a:extLst>
          </p:cNvPr>
          <p:cNvSpPr/>
          <p:nvPr/>
        </p:nvSpPr>
        <p:spPr>
          <a:xfrm>
            <a:off x="9945134" y="1415125"/>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75" name="Oval 74">
            <a:extLst>
              <a:ext uri="{FF2B5EF4-FFF2-40B4-BE49-F238E27FC236}">
                <a16:creationId xmlns:a16="http://schemas.microsoft.com/office/drawing/2014/main" id="{0EA45783-C13E-4777-9FB3-C7144E2CF67F}"/>
              </a:ext>
            </a:extLst>
          </p:cNvPr>
          <p:cNvSpPr/>
          <p:nvPr/>
        </p:nvSpPr>
        <p:spPr>
          <a:xfrm>
            <a:off x="8363327" y="2376822"/>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76" name="Oval 75">
            <a:extLst>
              <a:ext uri="{FF2B5EF4-FFF2-40B4-BE49-F238E27FC236}">
                <a16:creationId xmlns:a16="http://schemas.microsoft.com/office/drawing/2014/main" id="{F37A31BC-35C9-4951-B0DA-E714F5BBC94A}"/>
              </a:ext>
            </a:extLst>
          </p:cNvPr>
          <p:cNvSpPr/>
          <p:nvPr/>
        </p:nvSpPr>
        <p:spPr>
          <a:xfrm>
            <a:off x="11534049" y="2381143"/>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77" name="TextBox 76">
            <a:extLst>
              <a:ext uri="{FF2B5EF4-FFF2-40B4-BE49-F238E27FC236}">
                <a16:creationId xmlns:a16="http://schemas.microsoft.com/office/drawing/2014/main" id="{0B532043-C20F-41E5-BB67-830E482651EF}"/>
              </a:ext>
            </a:extLst>
          </p:cNvPr>
          <p:cNvSpPr txBox="1"/>
          <p:nvPr/>
        </p:nvSpPr>
        <p:spPr>
          <a:xfrm>
            <a:off x="8318320" y="386204"/>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A</a:t>
            </a:r>
          </a:p>
        </p:txBody>
      </p:sp>
      <p:sp>
        <p:nvSpPr>
          <p:cNvPr id="78" name="TextBox 77">
            <a:extLst>
              <a:ext uri="{FF2B5EF4-FFF2-40B4-BE49-F238E27FC236}">
                <a16:creationId xmlns:a16="http://schemas.microsoft.com/office/drawing/2014/main" id="{CBE686B9-7B08-493E-8A53-1FCC6577F6A6}"/>
              </a:ext>
            </a:extLst>
          </p:cNvPr>
          <p:cNvSpPr txBox="1"/>
          <p:nvPr/>
        </p:nvSpPr>
        <p:spPr>
          <a:xfrm>
            <a:off x="11476468" y="400423"/>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B</a:t>
            </a:r>
          </a:p>
        </p:txBody>
      </p:sp>
      <p:sp>
        <p:nvSpPr>
          <p:cNvPr id="79" name="TextBox 78">
            <a:extLst>
              <a:ext uri="{FF2B5EF4-FFF2-40B4-BE49-F238E27FC236}">
                <a16:creationId xmlns:a16="http://schemas.microsoft.com/office/drawing/2014/main" id="{81FB637A-30B8-41E6-91D4-AF2DA3BF459F}"/>
              </a:ext>
            </a:extLst>
          </p:cNvPr>
          <p:cNvSpPr txBox="1"/>
          <p:nvPr/>
        </p:nvSpPr>
        <p:spPr>
          <a:xfrm>
            <a:off x="11483078" y="2325506"/>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C</a:t>
            </a:r>
          </a:p>
        </p:txBody>
      </p:sp>
      <p:sp>
        <p:nvSpPr>
          <p:cNvPr id="80" name="TextBox 79">
            <a:extLst>
              <a:ext uri="{FF2B5EF4-FFF2-40B4-BE49-F238E27FC236}">
                <a16:creationId xmlns:a16="http://schemas.microsoft.com/office/drawing/2014/main" id="{E22CF3E6-11D4-472F-A769-70259E410AEF}"/>
              </a:ext>
            </a:extLst>
          </p:cNvPr>
          <p:cNvSpPr txBox="1"/>
          <p:nvPr/>
        </p:nvSpPr>
        <p:spPr>
          <a:xfrm>
            <a:off x="8325900" y="2319156"/>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D</a:t>
            </a:r>
          </a:p>
        </p:txBody>
      </p:sp>
      <p:sp>
        <p:nvSpPr>
          <p:cNvPr id="81" name="TextBox 80">
            <a:extLst>
              <a:ext uri="{FF2B5EF4-FFF2-40B4-BE49-F238E27FC236}">
                <a16:creationId xmlns:a16="http://schemas.microsoft.com/office/drawing/2014/main" id="{0139E916-822A-4D26-B6D8-D73469627ABF}"/>
              </a:ext>
            </a:extLst>
          </p:cNvPr>
          <p:cNvSpPr txBox="1"/>
          <p:nvPr/>
        </p:nvSpPr>
        <p:spPr>
          <a:xfrm>
            <a:off x="9894375" y="1351109"/>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E</a:t>
            </a:r>
          </a:p>
        </p:txBody>
      </p:sp>
      <p:sp>
        <p:nvSpPr>
          <p:cNvPr id="82" name="TextBox 81">
            <a:extLst>
              <a:ext uri="{FF2B5EF4-FFF2-40B4-BE49-F238E27FC236}">
                <a16:creationId xmlns:a16="http://schemas.microsoft.com/office/drawing/2014/main" id="{77E0E987-C32E-48C9-8A69-A996FB65B69E}"/>
              </a:ext>
            </a:extLst>
          </p:cNvPr>
          <p:cNvSpPr txBox="1"/>
          <p:nvPr/>
        </p:nvSpPr>
        <p:spPr>
          <a:xfrm>
            <a:off x="9902265" y="290730"/>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6</a:t>
            </a:r>
          </a:p>
        </p:txBody>
      </p:sp>
      <p:sp>
        <p:nvSpPr>
          <p:cNvPr id="83" name="TextBox 82">
            <a:extLst>
              <a:ext uri="{FF2B5EF4-FFF2-40B4-BE49-F238E27FC236}">
                <a16:creationId xmlns:a16="http://schemas.microsoft.com/office/drawing/2014/main" id="{72E4D038-702B-4BA0-A300-A3256FC8EC61}"/>
              </a:ext>
            </a:extLst>
          </p:cNvPr>
          <p:cNvSpPr txBox="1"/>
          <p:nvPr/>
        </p:nvSpPr>
        <p:spPr>
          <a:xfrm>
            <a:off x="8210703" y="1347847"/>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4</a:t>
            </a:r>
          </a:p>
        </p:txBody>
      </p:sp>
      <p:sp>
        <p:nvSpPr>
          <p:cNvPr id="84" name="TextBox 83">
            <a:extLst>
              <a:ext uri="{FF2B5EF4-FFF2-40B4-BE49-F238E27FC236}">
                <a16:creationId xmlns:a16="http://schemas.microsoft.com/office/drawing/2014/main" id="{4F77C29A-DE21-40E2-8416-C49DB49C8F3D}"/>
              </a:ext>
            </a:extLst>
          </p:cNvPr>
          <p:cNvSpPr txBox="1"/>
          <p:nvPr/>
        </p:nvSpPr>
        <p:spPr>
          <a:xfrm rot="1746466">
            <a:off x="9349986" y="839685"/>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4</a:t>
            </a:r>
          </a:p>
        </p:txBody>
      </p:sp>
      <p:sp>
        <p:nvSpPr>
          <p:cNvPr id="85" name="TextBox 84">
            <a:extLst>
              <a:ext uri="{FF2B5EF4-FFF2-40B4-BE49-F238E27FC236}">
                <a16:creationId xmlns:a16="http://schemas.microsoft.com/office/drawing/2014/main" id="{BAA10A4A-5EBA-4184-A2BD-9FF0742D600C}"/>
              </a:ext>
            </a:extLst>
          </p:cNvPr>
          <p:cNvSpPr txBox="1"/>
          <p:nvPr/>
        </p:nvSpPr>
        <p:spPr>
          <a:xfrm rot="19619130">
            <a:off x="9047734" y="1714091"/>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3</a:t>
            </a:r>
          </a:p>
        </p:txBody>
      </p:sp>
      <p:sp>
        <p:nvSpPr>
          <p:cNvPr id="86" name="TextBox 85">
            <a:extLst>
              <a:ext uri="{FF2B5EF4-FFF2-40B4-BE49-F238E27FC236}">
                <a16:creationId xmlns:a16="http://schemas.microsoft.com/office/drawing/2014/main" id="{DCC79CB0-379C-4088-B8C3-9C2639E23A0B}"/>
              </a:ext>
            </a:extLst>
          </p:cNvPr>
          <p:cNvSpPr txBox="1"/>
          <p:nvPr/>
        </p:nvSpPr>
        <p:spPr>
          <a:xfrm rot="19577036">
            <a:off x="10459920" y="839685"/>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5</a:t>
            </a:r>
          </a:p>
        </p:txBody>
      </p:sp>
      <p:sp>
        <p:nvSpPr>
          <p:cNvPr id="88" name="TextBox 87">
            <a:extLst>
              <a:ext uri="{FF2B5EF4-FFF2-40B4-BE49-F238E27FC236}">
                <a16:creationId xmlns:a16="http://schemas.microsoft.com/office/drawing/2014/main" id="{1F27A419-B0B6-477F-B9C2-4853785878F6}"/>
              </a:ext>
            </a:extLst>
          </p:cNvPr>
          <p:cNvSpPr txBox="1"/>
          <p:nvPr/>
        </p:nvSpPr>
        <p:spPr>
          <a:xfrm>
            <a:off x="9902265" y="2496757"/>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7</a:t>
            </a:r>
          </a:p>
        </p:txBody>
      </p:sp>
      <p:sp>
        <p:nvSpPr>
          <p:cNvPr id="89" name="TextBox 88">
            <a:extLst>
              <a:ext uri="{FF2B5EF4-FFF2-40B4-BE49-F238E27FC236}">
                <a16:creationId xmlns:a16="http://schemas.microsoft.com/office/drawing/2014/main" id="{DDB03D28-F44C-4CB5-9FF9-16199BBE2CC6}"/>
              </a:ext>
            </a:extLst>
          </p:cNvPr>
          <p:cNvSpPr txBox="1"/>
          <p:nvPr/>
        </p:nvSpPr>
        <p:spPr>
          <a:xfrm>
            <a:off x="11346662" y="1415125"/>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2</a:t>
            </a:r>
          </a:p>
        </p:txBody>
      </p:sp>
      <p:sp>
        <p:nvSpPr>
          <p:cNvPr id="90" name="Down Arrow 43">
            <a:extLst>
              <a:ext uri="{FF2B5EF4-FFF2-40B4-BE49-F238E27FC236}">
                <a16:creationId xmlns:a16="http://schemas.microsoft.com/office/drawing/2014/main" id="{018BDCEE-F9CB-4796-9C8E-716CA045687D}"/>
              </a:ext>
            </a:extLst>
          </p:cNvPr>
          <p:cNvSpPr/>
          <p:nvPr/>
        </p:nvSpPr>
        <p:spPr>
          <a:xfrm>
            <a:off x="9935878" y="2830723"/>
            <a:ext cx="255428" cy="978408"/>
          </a:xfrm>
          <a:prstGeom prst="downArrow">
            <a:avLst>
              <a:gd name="adj1" fmla="val 50000"/>
              <a:gd name="adj2" fmla="val 115312"/>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VN">
              <a:solidFill>
                <a:srgbClr val="EBE9EB"/>
              </a:solidFill>
            </a:endParaRPr>
          </a:p>
        </p:txBody>
      </p:sp>
      <p:sp>
        <p:nvSpPr>
          <p:cNvPr id="92" name="Oval 91">
            <a:extLst>
              <a:ext uri="{FF2B5EF4-FFF2-40B4-BE49-F238E27FC236}">
                <a16:creationId xmlns:a16="http://schemas.microsoft.com/office/drawing/2014/main" id="{B5BED457-7843-4519-B64B-FE22486BF64C}"/>
              </a:ext>
            </a:extLst>
          </p:cNvPr>
          <p:cNvSpPr/>
          <p:nvPr/>
        </p:nvSpPr>
        <p:spPr>
          <a:xfrm>
            <a:off x="8357001" y="3634995"/>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dirty="0">
              <a:solidFill>
                <a:srgbClr val="EBE9EB"/>
              </a:solidFill>
            </a:endParaRPr>
          </a:p>
        </p:txBody>
      </p:sp>
      <p:sp>
        <p:nvSpPr>
          <p:cNvPr id="93" name="Oval 92">
            <a:extLst>
              <a:ext uri="{FF2B5EF4-FFF2-40B4-BE49-F238E27FC236}">
                <a16:creationId xmlns:a16="http://schemas.microsoft.com/office/drawing/2014/main" id="{87DC05AB-DD92-407D-A92F-AAF9F11EA72B}"/>
              </a:ext>
            </a:extLst>
          </p:cNvPr>
          <p:cNvSpPr/>
          <p:nvPr/>
        </p:nvSpPr>
        <p:spPr>
          <a:xfrm>
            <a:off x="11506264" y="3640107"/>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94" name="Oval 93">
            <a:extLst>
              <a:ext uri="{FF2B5EF4-FFF2-40B4-BE49-F238E27FC236}">
                <a16:creationId xmlns:a16="http://schemas.microsoft.com/office/drawing/2014/main" id="{5B85F44C-0EC3-4025-8C47-BAE1B80E1414}"/>
              </a:ext>
            </a:extLst>
          </p:cNvPr>
          <p:cNvSpPr/>
          <p:nvPr/>
        </p:nvSpPr>
        <p:spPr>
          <a:xfrm>
            <a:off x="9938808" y="4596691"/>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95" name="Oval 94">
            <a:extLst>
              <a:ext uri="{FF2B5EF4-FFF2-40B4-BE49-F238E27FC236}">
                <a16:creationId xmlns:a16="http://schemas.microsoft.com/office/drawing/2014/main" id="{AE7CD276-0CB1-4C5F-BCC2-684F639110D7}"/>
              </a:ext>
            </a:extLst>
          </p:cNvPr>
          <p:cNvSpPr/>
          <p:nvPr/>
        </p:nvSpPr>
        <p:spPr>
          <a:xfrm>
            <a:off x="8357001" y="5558388"/>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96" name="Oval 95">
            <a:extLst>
              <a:ext uri="{FF2B5EF4-FFF2-40B4-BE49-F238E27FC236}">
                <a16:creationId xmlns:a16="http://schemas.microsoft.com/office/drawing/2014/main" id="{9342EF8A-3818-4195-B25C-0138F24AE5E3}"/>
              </a:ext>
            </a:extLst>
          </p:cNvPr>
          <p:cNvSpPr/>
          <p:nvPr/>
        </p:nvSpPr>
        <p:spPr>
          <a:xfrm>
            <a:off x="11527723" y="5562709"/>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97" name="TextBox 96">
            <a:extLst>
              <a:ext uri="{FF2B5EF4-FFF2-40B4-BE49-F238E27FC236}">
                <a16:creationId xmlns:a16="http://schemas.microsoft.com/office/drawing/2014/main" id="{35DAB7A9-66F5-42D0-9BD8-459FA5A547A6}"/>
              </a:ext>
            </a:extLst>
          </p:cNvPr>
          <p:cNvSpPr txBox="1"/>
          <p:nvPr/>
        </p:nvSpPr>
        <p:spPr>
          <a:xfrm>
            <a:off x="8309145" y="3574380"/>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A</a:t>
            </a:r>
          </a:p>
        </p:txBody>
      </p:sp>
      <p:sp>
        <p:nvSpPr>
          <p:cNvPr id="98" name="TextBox 97">
            <a:extLst>
              <a:ext uri="{FF2B5EF4-FFF2-40B4-BE49-F238E27FC236}">
                <a16:creationId xmlns:a16="http://schemas.microsoft.com/office/drawing/2014/main" id="{4D8A87EE-6EE0-4269-9764-DFC827C8783E}"/>
              </a:ext>
            </a:extLst>
          </p:cNvPr>
          <p:cNvSpPr txBox="1"/>
          <p:nvPr/>
        </p:nvSpPr>
        <p:spPr>
          <a:xfrm>
            <a:off x="11473317" y="3585164"/>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B</a:t>
            </a:r>
          </a:p>
        </p:txBody>
      </p:sp>
      <p:sp>
        <p:nvSpPr>
          <p:cNvPr id="99" name="TextBox 98">
            <a:extLst>
              <a:ext uri="{FF2B5EF4-FFF2-40B4-BE49-F238E27FC236}">
                <a16:creationId xmlns:a16="http://schemas.microsoft.com/office/drawing/2014/main" id="{31E59C08-A492-44F5-916C-5B6D48869E37}"/>
              </a:ext>
            </a:extLst>
          </p:cNvPr>
          <p:cNvSpPr txBox="1"/>
          <p:nvPr/>
        </p:nvSpPr>
        <p:spPr>
          <a:xfrm>
            <a:off x="11483102" y="5507072"/>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C</a:t>
            </a:r>
          </a:p>
        </p:txBody>
      </p:sp>
      <p:sp>
        <p:nvSpPr>
          <p:cNvPr id="100" name="TextBox 99">
            <a:extLst>
              <a:ext uri="{FF2B5EF4-FFF2-40B4-BE49-F238E27FC236}">
                <a16:creationId xmlns:a16="http://schemas.microsoft.com/office/drawing/2014/main" id="{7CC40204-F152-46EF-BB25-B6A767C98F0E}"/>
              </a:ext>
            </a:extLst>
          </p:cNvPr>
          <p:cNvSpPr txBox="1"/>
          <p:nvPr/>
        </p:nvSpPr>
        <p:spPr>
          <a:xfrm>
            <a:off x="8313224" y="5497547"/>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D</a:t>
            </a:r>
          </a:p>
        </p:txBody>
      </p:sp>
      <p:sp>
        <p:nvSpPr>
          <p:cNvPr id="101" name="TextBox 100">
            <a:extLst>
              <a:ext uri="{FF2B5EF4-FFF2-40B4-BE49-F238E27FC236}">
                <a16:creationId xmlns:a16="http://schemas.microsoft.com/office/drawing/2014/main" id="{AD01B748-ACFF-4822-978B-C60C8B7D0CD6}"/>
              </a:ext>
            </a:extLst>
          </p:cNvPr>
          <p:cNvSpPr txBox="1"/>
          <p:nvPr/>
        </p:nvSpPr>
        <p:spPr>
          <a:xfrm>
            <a:off x="9891224" y="4535850"/>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E</a:t>
            </a:r>
          </a:p>
        </p:txBody>
      </p:sp>
      <p:sp>
        <p:nvSpPr>
          <p:cNvPr id="102" name="TextBox 101">
            <a:extLst>
              <a:ext uri="{FF2B5EF4-FFF2-40B4-BE49-F238E27FC236}">
                <a16:creationId xmlns:a16="http://schemas.microsoft.com/office/drawing/2014/main" id="{F8A81D19-E2CD-473B-AF61-BA8499EBD16B}"/>
              </a:ext>
            </a:extLst>
          </p:cNvPr>
          <p:cNvSpPr txBox="1"/>
          <p:nvPr/>
        </p:nvSpPr>
        <p:spPr>
          <a:xfrm>
            <a:off x="8174745" y="4526325"/>
            <a:ext cx="322524" cy="369332"/>
          </a:xfrm>
          <a:prstGeom prst="rect">
            <a:avLst/>
          </a:prstGeom>
          <a:noFill/>
        </p:spPr>
        <p:txBody>
          <a:bodyPr wrap="none" rtlCol="0">
            <a:spAutoFit/>
          </a:bodyPr>
          <a:lstStyle/>
          <a:p>
            <a:r>
              <a:rPr lang="en-VN" dirty="0">
                <a:solidFill>
                  <a:schemeClr val="bg1"/>
                </a:solidFill>
                <a:latin typeface="JetBrains Mono Light" panose="02000009000000000000" pitchFamily="49" charset="0"/>
                <a:cs typeface="JetBrains Mono Light" panose="02000009000000000000" pitchFamily="49" charset="0"/>
              </a:rPr>
              <a:t>4</a:t>
            </a:r>
          </a:p>
        </p:txBody>
      </p:sp>
      <p:sp>
        <p:nvSpPr>
          <p:cNvPr id="103" name="TextBox 102">
            <a:extLst>
              <a:ext uri="{FF2B5EF4-FFF2-40B4-BE49-F238E27FC236}">
                <a16:creationId xmlns:a16="http://schemas.microsoft.com/office/drawing/2014/main" id="{B326D2AE-3A60-40D0-9301-96102829B426}"/>
              </a:ext>
            </a:extLst>
          </p:cNvPr>
          <p:cNvSpPr txBox="1"/>
          <p:nvPr/>
        </p:nvSpPr>
        <p:spPr>
          <a:xfrm rot="19967656">
            <a:off x="9041408" y="4895657"/>
            <a:ext cx="322524" cy="369332"/>
          </a:xfrm>
          <a:prstGeom prst="rect">
            <a:avLst/>
          </a:prstGeom>
          <a:noFill/>
        </p:spPr>
        <p:txBody>
          <a:bodyPr wrap="none" rtlCol="0">
            <a:spAutoFit/>
          </a:bodyPr>
          <a:lstStyle/>
          <a:p>
            <a:r>
              <a:rPr lang="en-VN" dirty="0">
                <a:solidFill>
                  <a:schemeClr val="bg1"/>
                </a:solidFill>
                <a:latin typeface="JetBrains Mono Light" panose="02000009000000000000" pitchFamily="49" charset="0"/>
                <a:cs typeface="JetBrains Mono Light" panose="02000009000000000000" pitchFamily="49" charset="0"/>
              </a:rPr>
              <a:t>3</a:t>
            </a:r>
          </a:p>
        </p:txBody>
      </p:sp>
      <p:sp>
        <p:nvSpPr>
          <p:cNvPr id="104" name="TextBox 103">
            <a:extLst>
              <a:ext uri="{FF2B5EF4-FFF2-40B4-BE49-F238E27FC236}">
                <a16:creationId xmlns:a16="http://schemas.microsoft.com/office/drawing/2014/main" id="{804A5BE0-C6DE-49B8-9D5E-ED6512B923F6}"/>
              </a:ext>
            </a:extLst>
          </p:cNvPr>
          <p:cNvSpPr txBox="1"/>
          <p:nvPr/>
        </p:nvSpPr>
        <p:spPr>
          <a:xfrm rot="19757851">
            <a:off x="10453594" y="4021251"/>
            <a:ext cx="322524" cy="369332"/>
          </a:xfrm>
          <a:prstGeom prst="rect">
            <a:avLst/>
          </a:prstGeom>
          <a:noFill/>
        </p:spPr>
        <p:txBody>
          <a:bodyPr wrap="none" rtlCol="0">
            <a:spAutoFit/>
          </a:bodyPr>
          <a:lstStyle/>
          <a:p>
            <a:r>
              <a:rPr lang="en-VN" dirty="0">
                <a:solidFill>
                  <a:schemeClr val="bg1"/>
                </a:solidFill>
                <a:latin typeface="JetBrains Mono Light" panose="02000009000000000000" pitchFamily="49" charset="0"/>
                <a:cs typeface="JetBrains Mono Light" panose="02000009000000000000" pitchFamily="49" charset="0"/>
              </a:rPr>
              <a:t>5</a:t>
            </a:r>
          </a:p>
        </p:txBody>
      </p:sp>
      <p:sp>
        <p:nvSpPr>
          <p:cNvPr id="107" name="TextBox 106">
            <a:extLst>
              <a:ext uri="{FF2B5EF4-FFF2-40B4-BE49-F238E27FC236}">
                <a16:creationId xmlns:a16="http://schemas.microsoft.com/office/drawing/2014/main" id="{1C108DB6-0525-4AD1-9BF0-ADC1ACEC0F90}"/>
              </a:ext>
            </a:extLst>
          </p:cNvPr>
          <p:cNvSpPr txBox="1"/>
          <p:nvPr/>
        </p:nvSpPr>
        <p:spPr>
          <a:xfrm>
            <a:off x="11313585" y="4538898"/>
            <a:ext cx="322524" cy="369332"/>
          </a:xfrm>
          <a:prstGeom prst="rect">
            <a:avLst/>
          </a:prstGeom>
          <a:noFill/>
        </p:spPr>
        <p:txBody>
          <a:bodyPr wrap="none" rtlCol="0">
            <a:spAutoFit/>
          </a:bodyPr>
          <a:lstStyle/>
          <a:p>
            <a:r>
              <a:rPr lang="en-VN" dirty="0">
                <a:solidFill>
                  <a:schemeClr val="bg1"/>
                </a:solidFill>
                <a:latin typeface="JetBrains Mono Light" panose="02000009000000000000" pitchFamily="49" charset="0"/>
                <a:cs typeface="JetBrains Mono Light" panose="02000009000000000000" pitchFamily="49" charset="0"/>
              </a:rPr>
              <a:t>2</a:t>
            </a:r>
          </a:p>
        </p:txBody>
      </p:sp>
      <p:sp>
        <p:nvSpPr>
          <p:cNvPr id="109" name="TextBox 108">
            <a:extLst>
              <a:ext uri="{FF2B5EF4-FFF2-40B4-BE49-F238E27FC236}">
                <a16:creationId xmlns:a16="http://schemas.microsoft.com/office/drawing/2014/main" id="{434BBA07-C1A1-487C-AA66-D8D9409EBB13}"/>
              </a:ext>
            </a:extLst>
          </p:cNvPr>
          <p:cNvSpPr txBox="1"/>
          <p:nvPr/>
        </p:nvSpPr>
        <p:spPr>
          <a:xfrm>
            <a:off x="8460664" y="5888774"/>
            <a:ext cx="3777742" cy="369332"/>
          </a:xfrm>
          <a:prstGeom prst="rect">
            <a:avLst/>
          </a:prstGeom>
          <a:noFill/>
        </p:spPr>
        <p:txBody>
          <a:bodyPr wrap="square">
            <a:spAutoFit/>
          </a:bodyPr>
          <a:lstStyle/>
          <a:p>
            <a:r>
              <a:rPr lang="en-US" i="1" dirty="0">
                <a:solidFill>
                  <a:srgbClr val="EBE9EB"/>
                </a:solidFill>
                <a:latin typeface="JetBrains Mono Light" panose="02000009000000000000" pitchFamily="49" charset="0"/>
                <a:cs typeface="JetBrains Mono Light" panose="02000009000000000000" pitchFamily="49" charset="0"/>
              </a:rPr>
              <a:t>=&gt; </a:t>
            </a:r>
            <a:r>
              <a:rPr lang="en-VN" i="1" dirty="0">
                <a:solidFill>
                  <a:srgbClr val="EBE9EB"/>
                </a:solidFill>
                <a:latin typeface="JetBrains Mono Light" panose="02000009000000000000" pitchFamily="49" charset="0"/>
                <a:cs typeface="JetBrains Mono Light" panose="02000009000000000000" pitchFamily="49" charset="0"/>
              </a:rPr>
              <a:t>Tổng trọng số là 14</a:t>
            </a:r>
          </a:p>
        </p:txBody>
      </p:sp>
      <p:sp>
        <p:nvSpPr>
          <p:cNvPr id="52" name="Rectangle 51">
            <a:extLst>
              <a:ext uri="{FF2B5EF4-FFF2-40B4-BE49-F238E27FC236}">
                <a16:creationId xmlns:a16="http://schemas.microsoft.com/office/drawing/2014/main" id="{B1DEA314-BD33-40A5-85C5-2A94FAB390CA}"/>
              </a:ext>
            </a:extLst>
          </p:cNvPr>
          <p:cNvSpPr/>
          <p:nvPr/>
        </p:nvSpPr>
        <p:spPr>
          <a:xfrm>
            <a:off x="591457" y="603227"/>
            <a:ext cx="4730637"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CB243EB8-6CAC-4AD4-A523-85CAE45F43CA}"/>
              </a:ext>
            </a:extLst>
          </p:cNvPr>
          <p:cNvSpPr txBox="1"/>
          <p:nvPr/>
        </p:nvSpPr>
        <p:spPr>
          <a:xfrm>
            <a:off x="603363" y="602701"/>
            <a:ext cx="4730637" cy="369332"/>
          </a:xfrm>
          <a:prstGeom prst="rect">
            <a:avLst/>
          </a:prstGeom>
          <a:no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Bài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toán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Cây</a:t>
            </a:r>
            <a:r>
              <a:rPr lang="en-US" dirty="0">
                <a:latin typeface="JetBrains Mono Regular" panose="02000009000000000000" pitchFamily="49" charset="0"/>
                <a:cs typeface="JetBrains Mono Regular" panose="02000009000000000000" pitchFamily="49" charset="0"/>
              </a:rPr>
              <a:t> bao </a:t>
            </a:r>
            <a:r>
              <a:rPr lang="en-US" dirty="0" err="1">
                <a:latin typeface="JetBrains Mono Regular" panose="02000009000000000000" pitchFamily="49" charset="0"/>
                <a:cs typeface="JetBrains Mono Regular" panose="02000009000000000000" pitchFamily="49" charset="0"/>
              </a:rPr>
              <a:t>trùm</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tối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thiểu</a:t>
            </a:r>
            <a:r>
              <a:rPr lang="en-US" dirty="0">
                <a:latin typeface="JetBrains Mono Regular" panose="02000009000000000000" pitchFamily="49" charset="0"/>
                <a:cs typeface="JetBrains Mono Regular" panose="02000009000000000000" pitchFamily="49" charset="0"/>
              </a:rPr>
              <a:t>”</a:t>
            </a:r>
          </a:p>
        </p:txBody>
      </p:sp>
      <p:sp>
        <p:nvSpPr>
          <p:cNvPr id="54" name="Footer: Part">
            <a:extLst>
              <a:ext uri="{FF2B5EF4-FFF2-40B4-BE49-F238E27FC236}">
                <a16:creationId xmlns:a16="http://schemas.microsoft.com/office/drawing/2014/main" id="{14C8B52B-D44A-4B71-9357-34B0DA68BD9D}"/>
              </a:ext>
            </a:extLst>
          </p:cNvPr>
          <p:cNvSpPr txBox="1"/>
          <p:nvPr/>
        </p:nvSpPr>
        <p:spPr>
          <a:xfrm>
            <a:off x="7455877" y="6464494"/>
            <a:ext cx="4764827" cy="369332"/>
          </a:xfrm>
          <a:prstGeom prst="rect">
            <a:avLst/>
          </a:prstGeom>
          <a:noFill/>
        </p:spPr>
        <p:txBody>
          <a:bodyPr wrap="square" rtlCol="0">
            <a:spAutoFit/>
          </a:bodyPr>
          <a:lstStyle/>
          <a:p>
            <a:r>
              <a:rPr lang="en-US" dirty="0" err="1">
                <a:solidFill>
                  <a:schemeClr val="bg1">
                    <a:lumMod val="95000"/>
                  </a:schemeClr>
                </a:solidFill>
                <a:latin typeface="JetBrains Mono Regular" panose="02000009000000000000" pitchFamily="49" charset="0"/>
                <a:cs typeface="JetBrains Mono Regular" panose="02000009000000000000" pitchFamily="49" charset="0"/>
              </a:rPr>
              <a:t>Bài</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toán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a:solidFill>
                  <a:schemeClr val="bg1">
                    <a:lumMod val="95000"/>
                  </a:schemeClr>
                </a:solidFill>
                <a:latin typeface="JetBrains Mono Light" panose="02000009000000000000" pitchFamily="49" charset="0"/>
                <a:cs typeface="JetBrains Mono Light" panose="02000009000000000000" pitchFamily="49" charset="0"/>
              </a:rPr>
              <a:t>“</a:t>
            </a:r>
            <a:r>
              <a:rPr lang="en-US" dirty="0" err="1">
                <a:solidFill>
                  <a:schemeClr val="bg1">
                    <a:lumMod val="95000"/>
                  </a:schemeClr>
                </a:solidFill>
                <a:latin typeface="JetBrains Mono Light" panose="02000009000000000000" pitchFamily="49" charset="0"/>
                <a:cs typeface="JetBrains Mono Light" panose="02000009000000000000" pitchFamily="49" charset="0"/>
              </a:rPr>
              <a:t>Cây</a:t>
            </a:r>
            <a:r>
              <a:rPr lang="en-US" dirty="0">
                <a:solidFill>
                  <a:schemeClr val="bg1">
                    <a:lumMod val="95000"/>
                  </a:schemeClr>
                </a:solidFill>
                <a:latin typeface="JetBrains Mono Light" panose="02000009000000000000" pitchFamily="49" charset="0"/>
                <a:cs typeface="JetBrains Mono Light" panose="02000009000000000000" pitchFamily="49" charset="0"/>
              </a:rPr>
              <a:t> bao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trùm</a:t>
            </a:r>
            <a:r>
              <a:rPr lang="en-US" dirty="0">
                <a:solidFill>
                  <a:schemeClr val="bg1">
                    <a:lumMod val="95000"/>
                  </a:schemeClr>
                </a:solidFill>
                <a:latin typeface="JetBrains Mono Light" panose="02000009000000000000" pitchFamily="49" charset="0"/>
                <a:cs typeface="JetBrains Mono Light" panose="02000009000000000000" pitchFamily="49" charset="0"/>
              </a:rPr>
              <a:t>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tối</a:t>
            </a:r>
            <a:r>
              <a:rPr lang="en-US" dirty="0">
                <a:solidFill>
                  <a:schemeClr val="bg1">
                    <a:lumMod val="95000"/>
                  </a:schemeClr>
                </a:solidFill>
                <a:latin typeface="JetBrains Mono Light" panose="02000009000000000000" pitchFamily="49" charset="0"/>
                <a:cs typeface="JetBrains Mono Light" panose="02000009000000000000" pitchFamily="49" charset="0"/>
              </a:rPr>
              <a:t>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thiểu</a:t>
            </a:r>
            <a:r>
              <a:rPr lang="en-US" dirty="0">
                <a:solidFill>
                  <a:schemeClr val="bg1">
                    <a:lumMod val="85000"/>
                  </a:schemeClr>
                </a:solidFill>
                <a:latin typeface="JetBrains Mono Light" panose="02000009000000000000"/>
                <a:cs typeface="JetBrains Mono" panose="02000009000000000000" pitchFamily="49" charset="0"/>
              </a:rPr>
              <a:t>”</a:t>
            </a:r>
          </a:p>
        </p:txBody>
      </p:sp>
      <p:sp>
        <p:nvSpPr>
          <p:cNvPr id="55" name="Footer: Title">
            <a:extLst>
              <a:ext uri="{FF2B5EF4-FFF2-40B4-BE49-F238E27FC236}">
                <a16:creationId xmlns:a16="http://schemas.microsoft.com/office/drawing/2014/main" id="{BF7B329F-BBD4-4CE5-92B8-228711FCE729}"/>
              </a:ext>
            </a:extLst>
          </p:cNvPr>
          <p:cNvSpPr txBox="1"/>
          <p:nvPr/>
        </p:nvSpPr>
        <p:spPr>
          <a:xfrm>
            <a:off x="6342196" y="6469576"/>
            <a:ext cx="1215645"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a:t>
            </a:r>
          </a:p>
        </p:txBody>
      </p:sp>
      <p:sp>
        <p:nvSpPr>
          <p:cNvPr id="56" name="PAGE NUM 0">
            <a:extLst>
              <a:ext uri="{FF2B5EF4-FFF2-40B4-BE49-F238E27FC236}">
                <a16:creationId xmlns:a16="http://schemas.microsoft.com/office/drawing/2014/main" id="{C5FCBFDC-7226-4A48-ACEF-DE591BDFD048}"/>
              </a:ext>
            </a:extLst>
          </p:cNvPr>
          <p:cNvSpPr txBox="1"/>
          <p:nvPr/>
        </p:nvSpPr>
        <p:spPr>
          <a:xfrm>
            <a:off x="11599908" y="-510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4</a:t>
            </a:r>
          </a:p>
        </p:txBody>
      </p:sp>
      <p:sp>
        <p:nvSpPr>
          <p:cNvPr id="57" name="PAGE NUM 1">
            <a:extLst>
              <a:ext uri="{FF2B5EF4-FFF2-40B4-BE49-F238E27FC236}">
                <a16:creationId xmlns:a16="http://schemas.microsoft.com/office/drawing/2014/main" id="{1B771E83-B986-46D4-B444-3C2D5BBE760A}"/>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6</a:t>
            </a:r>
            <a:endParaRPr lang="en-US" dirty="0"/>
          </a:p>
        </p:txBody>
      </p:sp>
      <p:sp>
        <p:nvSpPr>
          <p:cNvPr id="60" name="TextBox 59">
            <a:extLst>
              <a:ext uri="{FF2B5EF4-FFF2-40B4-BE49-F238E27FC236}">
                <a16:creationId xmlns:a16="http://schemas.microsoft.com/office/drawing/2014/main" id="{6A406B24-D2F2-47E9-9DF4-A56A04DB1F3F}"/>
              </a:ext>
            </a:extLst>
          </p:cNvPr>
          <p:cNvSpPr txBox="1"/>
          <p:nvPr/>
        </p:nvSpPr>
        <p:spPr>
          <a:xfrm>
            <a:off x="944147" y="1080234"/>
            <a:ext cx="1775608"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Phương</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pháp</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61" name="TextBox 60">
            <a:extLst>
              <a:ext uri="{FF2B5EF4-FFF2-40B4-BE49-F238E27FC236}">
                <a16:creationId xmlns:a16="http://schemas.microsoft.com/office/drawing/2014/main" id="{167C7D15-0577-4998-899C-E9DE54EF8906}"/>
              </a:ext>
            </a:extLst>
          </p:cNvPr>
          <p:cNvSpPr txBox="1"/>
          <p:nvPr/>
        </p:nvSpPr>
        <p:spPr>
          <a:xfrm>
            <a:off x="2664872" y="1092325"/>
            <a:ext cx="3305415" cy="369332"/>
          </a:xfrm>
          <a:prstGeom prst="rect">
            <a:avLst/>
          </a:prstGeom>
          <a:noFill/>
        </p:spPr>
        <p:txBody>
          <a:bodyPr wrap="square" rtlCol="0">
            <a:spAutoFit/>
          </a:bodyPr>
          <a:lstStyle/>
          <a:p>
            <a:pPr marL="285750" indent="-285750">
              <a:buFont typeface="Arial" panose="020B0604020202020204" pitchFamily="34" charset="0"/>
              <a:buChar char="•"/>
            </a:pP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Thuật</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toán</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Prim</a:t>
            </a:r>
            <a:endParaRPr lang="en-US" i="1" dirty="0">
              <a:latin typeface="JetBrains Mono ExtraLight" panose="02000009000000000000" pitchFamily="49" charset="0"/>
              <a:cs typeface="JetBrains Mono ExtraLight" panose="02000009000000000000" pitchFamily="49" charset="0"/>
            </a:endParaRPr>
          </a:p>
        </p:txBody>
      </p:sp>
      <p:sp>
        <p:nvSpPr>
          <p:cNvPr id="108" name="TextBox 107">
            <a:extLst>
              <a:ext uri="{FF2B5EF4-FFF2-40B4-BE49-F238E27FC236}">
                <a16:creationId xmlns:a16="http://schemas.microsoft.com/office/drawing/2014/main" id="{AD1E59EE-1D42-4424-ACB9-D7BD8208E90E}"/>
              </a:ext>
            </a:extLst>
          </p:cNvPr>
          <p:cNvSpPr txBox="1"/>
          <p:nvPr/>
        </p:nvSpPr>
        <p:spPr>
          <a:xfrm>
            <a:off x="930464" y="1538497"/>
            <a:ext cx="6305551" cy="923330"/>
          </a:xfrm>
          <a:prstGeom prst="rect">
            <a:avLst/>
          </a:prstGeom>
          <a:noFill/>
        </p:spPr>
        <p:txBody>
          <a:bodyPr wrap="square">
            <a:spAutoFit/>
          </a:bodyPr>
          <a:lstStyle/>
          <a:p>
            <a:r>
              <a:rPr lang="en-US" dirty="0" err="1">
                <a:solidFill>
                  <a:srgbClr val="EBE9EB"/>
                </a:solidFill>
                <a:latin typeface="JetBrains Mono Light" panose="02000009000000000000" pitchFamily="49" charset="0"/>
                <a:cs typeface="JetBrains Mono Light" panose="02000009000000000000" pitchFamily="49" charset="0"/>
              </a:rPr>
              <a:t>Tìm</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một</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tập</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hợp</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các</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cạnh</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của</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đồ</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thị</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tạo</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thành</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một</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cây</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chứa</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tất</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cả</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các</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đỉnh</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sao</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cho</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tổng</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trọng</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số</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các</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cạnh</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của</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cây</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là</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nhỏ</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nhất</a:t>
            </a:r>
            <a:r>
              <a:rPr lang="en-US" dirty="0">
                <a:solidFill>
                  <a:srgbClr val="EBE9EB"/>
                </a:solidFill>
                <a:latin typeface="JetBrains Mono Light" panose="02000009000000000000" pitchFamily="49" charset="0"/>
                <a:cs typeface="JetBrains Mono Light" panose="02000009000000000000" pitchFamily="49" charset="0"/>
              </a:rPr>
              <a:t>.</a:t>
            </a:r>
          </a:p>
        </p:txBody>
      </p:sp>
    </p:spTree>
    <p:extLst>
      <p:ext uri="{BB962C8B-B14F-4D97-AF65-F5344CB8AC3E}">
        <p14:creationId xmlns:p14="http://schemas.microsoft.com/office/powerpoint/2010/main" val="18669427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8"/>
                                        </p:tgtEl>
                                        <p:attrNameLst>
                                          <p:attrName>style.visibility</p:attrName>
                                        </p:attrNameLst>
                                      </p:cBhvr>
                                      <p:to>
                                        <p:strVal val="visible"/>
                                      </p:to>
                                    </p:set>
                                    <p:animEffect transition="in" filter="fade">
                                      <p:cBhvr>
                                        <p:cTn id="7" dur="500"/>
                                        <p:tgtEl>
                                          <p:spTgt spid="10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90"/>
                                        </p:tgtEl>
                                        <p:attrNameLst>
                                          <p:attrName>style.visibility</p:attrName>
                                        </p:attrNameLst>
                                      </p:cBhvr>
                                      <p:to>
                                        <p:strVal val="visible"/>
                                      </p:to>
                                    </p:set>
                                    <p:animEffect transition="in" filter="wipe(up)">
                                      <p:cBhvr>
                                        <p:cTn id="16" dur="500"/>
                                        <p:tgtEl>
                                          <p:spTgt spid="90"/>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91"/>
                                        </p:tgtEl>
                                        <p:attrNameLst>
                                          <p:attrName>style.visibility</p:attrName>
                                        </p:attrNameLst>
                                      </p:cBhvr>
                                      <p:to>
                                        <p:strVal val="visible"/>
                                      </p:to>
                                    </p:set>
                                    <p:animEffect transition="in" filter="fade">
                                      <p:cBhvr>
                                        <p:cTn id="20" dur="100"/>
                                        <p:tgtEl>
                                          <p:spTgt spid="91"/>
                                        </p:tgtEl>
                                      </p:cBhvr>
                                    </p:animEffect>
                                  </p:childTnLst>
                                </p:cTn>
                              </p:par>
                            </p:childTnLst>
                          </p:cTn>
                        </p:par>
                        <p:par>
                          <p:cTn id="21" fill="hold">
                            <p:stCondLst>
                              <p:cond delay="1100"/>
                            </p:stCondLst>
                            <p:childTnLst>
                              <p:par>
                                <p:cTn id="22" presetID="10" presetClass="entr" presetSubtype="0" fill="hold" nodeType="afterEffect">
                                  <p:stCondLst>
                                    <p:cond delay="0"/>
                                  </p:stCondLst>
                                  <p:childTnLst>
                                    <p:set>
                                      <p:cBhvr>
                                        <p:cTn id="23" dur="1" fill="hold">
                                          <p:stCondLst>
                                            <p:cond delay="0"/>
                                          </p:stCondLst>
                                        </p:cTn>
                                        <p:tgtEl>
                                          <p:spTgt spid="106"/>
                                        </p:tgtEl>
                                        <p:attrNameLst>
                                          <p:attrName>style.visibility</p:attrName>
                                        </p:attrNameLst>
                                      </p:cBhvr>
                                      <p:to>
                                        <p:strVal val="visible"/>
                                      </p:to>
                                    </p:set>
                                    <p:animEffect transition="in" filter="fade">
                                      <p:cBhvr>
                                        <p:cTn id="24" dur="100"/>
                                        <p:tgtEl>
                                          <p:spTgt spid="106"/>
                                        </p:tgtEl>
                                      </p:cBhvr>
                                    </p:animEffect>
                                  </p:childTnLst>
                                </p:cTn>
                              </p:par>
                            </p:childTnLst>
                          </p:cTn>
                        </p:par>
                        <p:par>
                          <p:cTn id="25" fill="hold">
                            <p:stCondLst>
                              <p:cond delay="1200"/>
                            </p:stCondLst>
                            <p:childTnLst>
                              <p:par>
                                <p:cTn id="26" presetID="10" presetClass="entr" presetSubtype="0" fill="hold" nodeType="afterEffect">
                                  <p:stCondLst>
                                    <p:cond delay="0"/>
                                  </p:stCondLst>
                                  <p:childTnLst>
                                    <p:set>
                                      <p:cBhvr>
                                        <p:cTn id="27" dur="1" fill="hold">
                                          <p:stCondLst>
                                            <p:cond delay="0"/>
                                          </p:stCondLst>
                                        </p:cTn>
                                        <p:tgtEl>
                                          <p:spTgt spid="105"/>
                                        </p:tgtEl>
                                        <p:attrNameLst>
                                          <p:attrName>style.visibility</p:attrName>
                                        </p:attrNameLst>
                                      </p:cBhvr>
                                      <p:to>
                                        <p:strVal val="visible"/>
                                      </p:to>
                                    </p:set>
                                    <p:animEffect transition="in" filter="fade">
                                      <p:cBhvr>
                                        <p:cTn id="28" dur="100"/>
                                        <p:tgtEl>
                                          <p:spTgt spid="105"/>
                                        </p:tgtEl>
                                      </p:cBhvr>
                                    </p:animEffect>
                                  </p:childTnLst>
                                </p:cTn>
                              </p:par>
                            </p:childTnLst>
                          </p:cTn>
                        </p:par>
                        <p:par>
                          <p:cTn id="29" fill="hold">
                            <p:stCondLst>
                              <p:cond delay="1300"/>
                            </p:stCondLst>
                            <p:childTnLst>
                              <p:par>
                                <p:cTn id="30" presetID="10" presetClass="entr" presetSubtype="0" fill="hold" grpId="0" nodeType="afterEffect">
                                  <p:stCondLst>
                                    <p:cond delay="0"/>
                                  </p:stCondLst>
                                  <p:childTnLst>
                                    <p:set>
                                      <p:cBhvr>
                                        <p:cTn id="31" dur="1" fill="hold">
                                          <p:stCondLst>
                                            <p:cond delay="0"/>
                                          </p:stCondLst>
                                        </p:cTn>
                                        <p:tgtEl>
                                          <p:spTgt spid="92"/>
                                        </p:tgtEl>
                                        <p:attrNameLst>
                                          <p:attrName>style.visibility</p:attrName>
                                        </p:attrNameLst>
                                      </p:cBhvr>
                                      <p:to>
                                        <p:strVal val="visible"/>
                                      </p:to>
                                    </p:set>
                                    <p:animEffect transition="in" filter="fade">
                                      <p:cBhvr>
                                        <p:cTn id="32" dur="100"/>
                                        <p:tgtEl>
                                          <p:spTgt spid="92"/>
                                        </p:tgtEl>
                                      </p:cBhvr>
                                    </p:animEffect>
                                  </p:childTnLst>
                                </p:cTn>
                              </p:par>
                            </p:childTnLst>
                          </p:cTn>
                        </p:par>
                        <p:par>
                          <p:cTn id="33" fill="hold">
                            <p:stCondLst>
                              <p:cond delay="1400"/>
                            </p:stCondLst>
                            <p:childTnLst>
                              <p:par>
                                <p:cTn id="34" presetID="10" presetClass="entr" presetSubtype="0" fill="hold" grpId="0" nodeType="afterEffect">
                                  <p:stCondLst>
                                    <p:cond delay="0"/>
                                  </p:stCondLst>
                                  <p:childTnLst>
                                    <p:set>
                                      <p:cBhvr>
                                        <p:cTn id="35" dur="1" fill="hold">
                                          <p:stCondLst>
                                            <p:cond delay="0"/>
                                          </p:stCondLst>
                                        </p:cTn>
                                        <p:tgtEl>
                                          <p:spTgt spid="93"/>
                                        </p:tgtEl>
                                        <p:attrNameLst>
                                          <p:attrName>style.visibility</p:attrName>
                                        </p:attrNameLst>
                                      </p:cBhvr>
                                      <p:to>
                                        <p:strVal val="visible"/>
                                      </p:to>
                                    </p:set>
                                    <p:animEffect transition="in" filter="fade">
                                      <p:cBhvr>
                                        <p:cTn id="36" dur="100"/>
                                        <p:tgtEl>
                                          <p:spTgt spid="93"/>
                                        </p:tgtEl>
                                      </p:cBhvr>
                                    </p:animEffect>
                                  </p:childTnLst>
                                </p:cTn>
                              </p:par>
                            </p:childTnLst>
                          </p:cTn>
                        </p:par>
                        <p:par>
                          <p:cTn id="37" fill="hold">
                            <p:stCondLst>
                              <p:cond delay="1500"/>
                            </p:stCondLst>
                            <p:childTnLst>
                              <p:par>
                                <p:cTn id="38" presetID="10" presetClass="entr" presetSubtype="0" fill="hold" grpId="0" nodeType="afterEffect">
                                  <p:stCondLst>
                                    <p:cond delay="0"/>
                                  </p:stCondLst>
                                  <p:childTnLst>
                                    <p:set>
                                      <p:cBhvr>
                                        <p:cTn id="39" dur="1" fill="hold">
                                          <p:stCondLst>
                                            <p:cond delay="0"/>
                                          </p:stCondLst>
                                        </p:cTn>
                                        <p:tgtEl>
                                          <p:spTgt spid="94"/>
                                        </p:tgtEl>
                                        <p:attrNameLst>
                                          <p:attrName>style.visibility</p:attrName>
                                        </p:attrNameLst>
                                      </p:cBhvr>
                                      <p:to>
                                        <p:strVal val="visible"/>
                                      </p:to>
                                    </p:set>
                                    <p:animEffect transition="in" filter="fade">
                                      <p:cBhvr>
                                        <p:cTn id="40" dur="100"/>
                                        <p:tgtEl>
                                          <p:spTgt spid="94"/>
                                        </p:tgtEl>
                                      </p:cBhvr>
                                    </p:animEffect>
                                  </p:childTnLst>
                                </p:cTn>
                              </p:par>
                            </p:childTnLst>
                          </p:cTn>
                        </p:par>
                        <p:par>
                          <p:cTn id="41" fill="hold">
                            <p:stCondLst>
                              <p:cond delay="1600"/>
                            </p:stCondLst>
                            <p:childTnLst>
                              <p:par>
                                <p:cTn id="42" presetID="10" presetClass="entr" presetSubtype="0" fill="hold" grpId="0" nodeType="afterEffect">
                                  <p:stCondLst>
                                    <p:cond delay="0"/>
                                  </p:stCondLst>
                                  <p:childTnLst>
                                    <p:set>
                                      <p:cBhvr>
                                        <p:cTn id="43" dur="1" fill="hold">
                                          <p:stCondLst>
                                            <p:cond delay="0"/>
                                          </p:stCondLst>
                                        </p:cTn>
                                        <p:tgtEl>
                                          <p:spTgt spid="95"/>
                                        </p:tgtEl>
                                        <p:attrNameLst>
                                          <p:attrName>style.visibility</p:attrName>
                                        </p:attrNameLst>
                                      </p:cBhvr>
                                      <p:to>
                                        <p:strVal val="visible"/>
                                      </p:to>
                                    </p:set>
                                    <p:animEffect transition="in" filter="fade">
                                      <p:cBhvr>
                                        <p:cTn id="44" dur="100"/>
                                        <p:tgtEl>
                                          <p:spTgt spid="95"/>
                                        </p:tgtEl>
                                      </p:cBhvr>
                                    </p:animEffect>
                                  </p:childTnLst>
                                </p:cTn>
                              </p:par>
                            </p:childTnLst>
                          </p:cTn>
                        </p:par>
                        <p:par>
                          <p:cTn id="45" fill="hold">
                            <p:stCondLst>
                              <p:cond delay="1700"/>
                            </p:stCondLst>
                            <p:childTnLst>
                              <p:par>
                                <p:cTn id="46" presetID="10" presetClass="entr" presetSubtype="0" fill="hold" grpId="0" nodeType="afterEffect">
                                  <p:stCondLst>
                                    <p:cond delay="0"/>
                                  </p:stCondLst>
                                  <p:childTnLst>
                                    <p:set>
                                      <p:cBhvr>
                                        <p:cTn id="47" dur="1" fill="hold">
                                          <p:stCondLst>
                                            <p:cond delay="0"/>
                                          </p:stCondLst>
                                        </p:cTn>
                                        <p:tgtEl>
                                          <p:spTgt spid="96"/>
                                        </p:tgtEl>
                                        <p:attrNameLst>
                                          <p:attrName>style.visibility</p:attrName>
                                        </p:attrNameLst>
                                      </p:cBhvr>
                                      <p:to>
                                        <p:strVal val="visible"/>
                                      </p:to>
                                    </p:set>
                                    <p:animEffect transition="in" filter="fade">
                                      <p:cBhvr>
                                        <p:cTn id="48" dur="100"/>
                                        <p:tgtEl>
                                          <p:spTgt spid="96"/>
                                        </p:tgtEl>
                                      </p:cBhvr>
                                    </p:animEffect>
                                  </p:childTnLst>
                                </p:cTn>
                              </p:par>
                            </p:childTnLst>
                          </p:cTn>
                        </p:par>
                        <p:par>
                          <p:cTn id="49" fill="hold">
                            <p:stCondLst>
                              <p:cond delay="1800"/>
                            </p:stCondLst>
                            <p:childTnLst>
                              <p:par>
                                <p:cTn id="50" presetID="10" presetClass="entr" presetSubtype="0" fill="hold" grpId="0" nodeType="afterEffect">
                                  <p:stCondLst>
                                    <p:cond delay="0"/>
                                  </p:stCondLst>
                                  <p:childTnLst>
                                    <p:set>
                                      <p:cBhvr>
                                        <p:cTn id="51" dur="1" fill="hold">
                                          <p:stCondLst>
                                            <p:cond delay="0"/>
                                          </p:stCondLst>
                                        </p:cTn>
                                        <p:tgtEl>
                                          <p:spTgt spid="101"/>
                                        </p:tgtEl>
                                        <p:attrNameLst>
                                          <p:attrName>style.visibility</p:attrName>
                                        </p:attrNameLst>
                                      </p:cBhvr>
                                      <p:to>
                                        <p:strVal val="visible"/>
                                      </p:to>
                                    </p:set>
                                    <p:animEffect transition="in" filter="fade">
                                      <p:cBhvr>
                                        <p:cTn id="52" dur="100"/>
                                        <p:tgtEl>
                                          <p:spTgt spid="101"/>
                                        </p:tgtEl>
                                      </p:cBhvr>
                                    </p:animEffect>
                                  </p:childTnLst>
                                </p:cTn>
                              </p:par>
                            </p:childTnLst>
                          </p:cTn>
                        </p:par>
                        <p:par>
                          <p:cTn id="53" fill="hold">
                            <p:stCondLst>
                              <p:cond delay="1900"/>
                            </p:stCondLst>
                            <p:childTnLst>
                              <p:par>
                                <p:cTn id="54" presetID="10" presetClass="entr" presetSubtype="0" fill="hold" grpId="0" nodeType="afterEffect">
                                  <p:stCondLst>
                                    <p:cond delay="0"/>
                                  </p:stCondLst>
                                  <p:childTnLst>
                                    <p:set>
                                      <p:cBhvr>
                                        <p:cTn id="55" dur="1" fill="hold">
                                          <p:stCondLst>
                                            <p:cond delay="0"/>
                                          </p:stCondLst>
                                        </p:cTn>
                                        <p:tgtEl>
                                          <p:spTgt spid="102"/>
                                        </p:tgtEl>
                                        <p:attrNameLst>
                                          <p:attrName>style.visibility</p:attrName>
                                        </p:attrNameLst>
                                      </p:cBhvr>
                                      <p:to>
                                        <p:strVal val="visible"/>
                                      </p:to>
                                    </p:set>
                                    <p:animEffect transition="in" filter="fade">
                                      <p:cBhvr>
                                        <p:cTn id="56" dur="100"/>
                                        <p:tgtEl>
                                          <p:spTgt spid="102"/>
                                        </p:tgtEl>
                                      </p:cBhvr>
                                    </p:animEffect>
                                  </p:childTnLst>
                                </p:cTn>
                              </p:par>
                            </p:childTnLst>
                          </p:cTn>
                        </p:par>
                        <p:par>
                          <p:cTn id="57" fill="hold">
                            <p:stCondLst>
                              <p:cond delay="2000"/>
                            </p:stCondLst>
                            <p:childTnLst>
                              <p:par>
                                <p:cTn id="58" presetID="10" presetClass="entr" presetSubtype="0" fill="hold" grpId="0" nodeType="afterEffect">
                                  <p:stCondLst>
                                    <p:cond delay="0"/>
                                  </p:stCondLst>
                                  <p:childTnLst>
                                    <p:set>
                                      <p:cBhvr>
                                        <p:cTn id="59" dur="1" fill="hold">
                                          <p:stCondLst>
                                            <p:cond delay="0"/>
                                          </p:stCondLst>
                                        </p:cTn>
                                        <p:tgtEl>
                                          <p:spTgt spid="103"/>
                                        </p:tgtEl>
                                        <p:attrNameLst>
                                          <p:attrName>style.visibility</p:attrName>
                                        </p:attrNameLst>
                                      </p:cBhvr>
                                      <p:to>
                                        <p:strVal val="visible"/>
                                      </p:to>
                                    </p:set>
                                    <p:animEffect transition="in" filter="fade">
                                      <p:cBhvr>
                                        <p:cTn id="60" dur="100"/>
                                        <p:tgtEl>
                                          <p:spTgt spid="103"/>
                                        </p:tgtEl>
                                      </p:cBhvr>
                                    </p:animEffect>
                                  </p:childTnLst>
                                </p:cTn>
                              </p:par>
                            </p:childTnLst>
                          </p:cTn>
                        </p:par>
                        <p:par>
                          <p:cTn id="61" fill="hold">
                            <p:stCondLst>
                              <p:cond delay="2100"/>
                            </p:stCondLst>
                            <p:childTnLst>
                              <p:par>
                                <p:cTn id="62" presetID="10" presetClass="entr" presetSubtype="0" fill="hold" grpId="0" nodeType="afterEffect">
                                  <p:stCondLst>
                                    <p:cond delay="0"/>
                                  </p:stCondLst>
                                  <p:childTnLst>
                                    <p:set>
                                      <p:cBhvr>
                                        <p:cTn id="63" dur="1" fill="hold">
                                          <p:stCondLst>
                                            <p:cond delay="0"/>
                                          </p:stCondLst>
                                        </p:cTn>
                                        <p:tgtEl>
                                          <p:spTgt spid="104"/>
                                        </p:tgtEl>
                                        <p:attrNameLst>
                                          <p:attrName>style.visibility</p:attrName>
                                        </p:attrNameLst>
                                      </p:cBhvr>
                                      <p:to>
                                        <p:strVal val="visible"/>
                                      </p:to>
                                    </p:set>
                                    <p:animEffect transition="in" filter="fade">
                                      <p:cBhvr>
                                        <p:cTn id="64" dur="100"/>
                                        <p:tgtEl>
                                          <p:spTgt spid="104"/>
                                        </p:tgtEl>
                                      </p:cBhvr>
                                    </p:animEffect>
                                  </p:childTnLst>
                                </p:cTn>
                              </p:par>
                            </p:childTnLst>
                          </p:cTn>
                        </p:par>
                        <p:par>
                          <p:cTn id="65" fill="hold">
                            <p:stCondLst>
                              <p:cond delay="2200"/>
                            </p:stCondLst>
                            <p:childTnLst>
                              <p:par>
                                <p:cTn id="66" presetID="10" presetClass="entr" presetSubtype="0" fill="hold" grpId="0" nodeType="afterEffect">
                                  <p:stCondLst>
                                    <p:cond delay="0"/>
                                  </p:stCondLst>
                                  <p:childTnLst>
                                    <p:set>
                                      <p:cBhvr>
                                        <p:cTn id="67" dur="1" fill="hold">
                                          <p:stCondLst>
                                            <p:cond delay="0"/>
                                          </p:stCondLst>
                                        </p:cTn>
                                        <p:tgtEl>
                                          <p:spTgt spid="107"/>
                                        </p:tgtEl>
                                        <p:attrNameLst>
                                          <p:attrName>style.visibility</p:attrName>
                                        </p:attrNameLst>
                                      </p:cBhvr>
                                      <p:to>
                                        <p:strVal val="visible"/>
                                      </p:to>
                                    </p:set>
                                    <p:animEffect transition="in" filter="fade">
                                      <p:cBhvr>
                                        <p:cTn id="68" dur="100"/>
                                        <p:tgtEl>
                                          <p:spTgt spid="107"/>
                                        </p:tgtEl>
                                      </p:cBhvr>
                                    </p:animEffect>
                                  </p:childTnLst>
                                </p:cTn>
                              </p:par>
                            </p:childTnLst>
                          </p:cTn>
                        </p:par>
                        <p:par>
                          <p:cTn id="69" fill="hold">
                            <p:stCondLst>
                              <p:cond delay="2300"/>
                            </p:stCondLst>
                            <p:childTnLst>
                              <p:par>
                                <p:cTn id="70" presetID="10" presetClass="entr" presetSubtype="0" fill="hold" grpId="0" nodeType="afterEffect">
                                  <p:stCondLst>
                                    <p:cond delay="0"/>
                                  </p:stCondLst>
                                  <p:childTnLst>
                                    <p:set>
                                      <p:cBhvr>
                                        <p:cTn id="71" dur="1" fill="hold">
                                          <p:stCondLst>
                                            <p:cond delay="0"/>
                                          </p:stCondLst>
                                        </p:cTn>
                                        <p:tgtEl>
                                          <p:spTgt spid="109"/>
                                        </p:tgtEl>
                                        <p:attrNameLst>
                                          <p:attrName>style.visibility</p:attrName>
                                        </p:attrNameLst>
                                      </p:cBhvr>
                                      <p:to>
                                        <p:strVal val="visible"/>
                                      </p:to>
                                    </p:set>
                                    <p:animEffect transition="in" filter="fade">
                                      <p:cBhvr>
                                        <p:cTn id="72"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92" grpId="0" animBg="1"/>
      <p:bldP spid="93" grpId="0" animBg="1"/>
      <p:bldP spid="94" grpId="0" animBg="1"/>
      <p:bldP spid="95" grpId="0" animBg="1"/>
      <p:bldP spid="96" grpId="0" animBg="1"/>
      <p:bldP spid="101" grpId="0"/>
      <p:bldP spid="102" grpId="0"/>
      <p:bldP spid="103" grpId="0"/>
      <p:bldP spid="104" grpId="0"/>
      <p:bldP spid="107" grpId="0"/>
      <p:bldP spid="109" grpId="0"/>
      <p:bldP spid="10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95ED7769-4A81-40FA-95EA-F07E81DF53F8}"/>
              </a:ext>
            </a:extLst>
          </p:cNvPr>
          <p:cNvSpPr>
            <a:spLocks noGrp="1"/>
          </p:cNvSpPr>
          <p:nvPr>
            <p:ph type="title"/>
          </p:nvPr>
        </p:nvSpPr>
        <p:spPr>
          <a:xfrm>
            <a:off x="838200" y="365125"/>
            <a:ext cx="10515600" cy="1325563"/>
          </a:xfrm>
        </p:spPr>
        <p:txBody>
          <a:bodyPr/>
          <a:lstStyle/>
          <a:p>
            <a:endParaRPr lang="en-US"/>
          </a:p>
        </p:txBody>
      </p:sp>
      <p:sp>
        <p:nvSpPr>
          <p:cNvPr id="19" name="Content Placeholder 2">
            <a:extLst>
              <a:ext uri="{FF2B5EF4-FFF2-40B4-BE49-F238E27FC236}">
                <a16:creationId xmlns:a16="http://schemas.microsoft.com/office/drawing/2014/main" id="{819FE16D-7B58-45E6-ADD0-06F3503270BB}"/>
              </a:ext>
            </a:extLst>
          </p:cNvPr>
          <p:cNvSpPr>
            <a:spLocks noGrp="1"/>
          </p:cNvSpPr>
          <p:nvPr>
            <p:ph idx="1"/>
          </p:nvPr>
        </p:nvSpPr>
        <p:spPr>
          <a:xfrm>
            <a:off x="838200" y="1825625"/>
            <a:ext cx="10515600" cy="4351338"/>
          </a:xfrm>
        </p:spPr>
        <p:txBody>
          <a:bodyPr/>
          <a:lstStyle/>
          <a:p>
            <a:endParaRPr lang="en-US"/>
          </a:p>
        </p:txBody>
      </p:sp>
      <p:sp>
        <p:nvSpPr>
          <p:cNvPr id="20" name="Rectangle 19">
            <a:extLst>
              <a:ext uri="{FF2B5EF4-FFF2-40B4-BE49-F238E27FC236}">
                <a16:creationId xmlns:a16="http://schemas.microsoft.com/office/drawing/2014/main" id="{D4135B46-AFEC-4B2C-A123-E15B19B5BCFB}"/>
              </a:ext>
            </a:extLst>
          </p:cNvPr>
          <p:cNvSpPr/>
          <p:nvPr/>
        </p:nvSpPr>
        <p:spPr>
          <a:xfrm>
            <a:off x="0" y="-4207"/>
            <a:ext cx="12192000" cy="68711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21" name="Credit MAIN">
            <a:extLst>
              <a:ext uri="{FF2B5EF4-FFF2-40B4-BE49-F238E27FC236}">
                <a16:creationId xmlns:a16="http://schemas.microsoft.com/office/drawing/2014/main" id="{953A4B7F-97A7-4FBF-9555-0DD151212CD1}"/>
              </a:ext>
            </a:extLst>
          </p:cNvPr>
          <p:cNvSpPr txBox="1"/>
          <p:nvPr/>
        </p:nvSpPr>
        <p:spPr>
          <a:xfrm>
            <a:off x="50878" y="6432004"/>
            <a:ext cx="2668876"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Phạm</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Văn</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Quyết</a:t>
            </a:r>
            <a:endParaRPr lang="en-US" dirty="0">
              <a:solidFill>
                <a:schemeClr val="bg1">
                  <a:lumMod val="95000"/>
                  <a:alpha val="46000"/>
                </a:schemeClr>
              </a:solidFill>
            </a:endParaRPr>
          </a:p>
        </p:txBody>
      </p:sp>
      <p:sp>
        <p:nvSpPr>
          <p:cNvPr id="22" name="Header">
            <a:extLst>
              <a:ext uri="{FF2B5EF4-FFF2-40B4-BE49-F238E27FC236}">
                <a16:creationId xmlns:a16="http://schemas.microsoft.com/office/drawing/2014/main" id="{FF1A7388-47F5-4DA6-ADF5-7DE96475307F}"/>
              </a:ext>
            </a:extLst>
          </p:cNvPr>
          <p:cNvSpPr txBox="1"/>
          <p:nvPr/>
        </p:nvSpPr>
        <p:spPr>
          <a:xfrm>
            <a:off x="50878" y="79574"/>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52" name="Rectangle 51">
            <a:extLst>
              <a:ext uri="{FF2B5EF4-FFF2-40B4-BE49-F238E27FC236}">
                <a16:creationId xmlns:a16="http://schemas.microsoft.com/office/drawing/2014/main" id="{B1DEA314-BD33-40A5-85C5-2A94FAB390CA}"/>
              </a:ext>
            </a:extLst>
          </p:cNvPr>
          <p:cNvSpPr/>
          <p:nvPr/>
        </p:nvSpPr>
        <p:spPr>
          <a:xfrm>
            <a:off x="591457" y="603227"/>
            <a:ext cx="4730637"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CB243EB8-6CAC-4AD4-A523-85CAE45F43CA}"/>
              </a:ext>
            </a:extLst>
          </p:cNvPr>
          <p:cNvSpPr txBox="1"/>
          <p:nvPr/>
        </p:nvSpPr>
        <p:spPr>
          <a:xfrm>
            <a:off x="603363" y="602701"/>
            <a:ext cx="4730637" cy="369332"/>
          </a:xfrm>
          <a:prstGeom prst="rect">
            <a:avLst/>
          </a:prstGeom>
          <a:no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Bài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toán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Cây</a:t>
            </a:r>
            <a:r>
              <a:rPr lang="en-US" dirty="0">
                <a:latin typeface="JetBrains Mono Regular" panose="02000009000000000000" pitchFamily="49" charset="0"/>
                <a:cs typeface="JetBrains Mono Regular" panose="02000009000000000000" pitchFamily="49" charset="0"/>
              </a:rPr>
              <a:t> bao </a:t>
            </a:r>
            <a:r>
              <a:rPr lang="en-US" dirty="0" err="1">
                <a:latin typeface="JetBrains Mono Regular" panose="02000009000000000000" pitchFamily="49" charset="0"/>
                <a:cs typeface="JetBrains Mono Regular" panose="02000009000000000000" pitchFamily="49" charset="0"/>
              </a:rPr>
              <a:t>trùm</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tối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thiểu</a:t>
            </a:r>
            <a:r>
              <a:rPr lang="en-US" dirty="0">
                <a:latin typeface="JetBrains Mono Regular" panose="02000009000000000000" pitchFamily="49" charset="0"/>
                <a:cs typeface="JetBrains Mono Regular" panose="02000009000000000000" pitchFamily="49" charset="0"/>
              </a:rPr>
              <a:t>”</a:t>
            </a:r>
          </a:p>
        </p:txBody>
      </p:sp>
      <p:sp>
        <p:nvSpPr>
          <p:cNvPr id="54" name="Footer: Part">
            <a:extLst>
              <a:ext uri="{FF2B5EF4-FFF2-40B4-BE49-F238E27FC236}">
                <a16:creationId xmlns:a16="http://schemas.microsoft.com/office/drawing/2014/main" id="{14C8B52B-D44A-4B71-9357-34B0DA68BD9D}"/>
              </a:ext>
            </a:extLst>
          </p:cNvPr>
          <p:cNvSpPr txBox="1"/>
          <p:nvPr/>
        </p:nvSpPr>
        <p:spPr>
          <a:xfrm>
            <a:off x="7455877" y="6464494"/>
            <a:ext cx="4764827" cy="369332"/>
          </a:xfrm>
          <a:prstGeom prst="rect">
            <a:avLst/>
          </a:prstGeom>
          <a:noFill/>
        </p:spPr>
        <p:txBody>
          <a:bodyPr wrap="square" rtlCol="0">
            <a:spAutoFit/>
          </a:bodyPr>
          <a:lstStyle/>
          <a:p>
            <a:r>
              <a:rPr lang="en-US" dirty="0" err="1">
                <a:solidFill>
                  <a:schemeClr val="bg1">
                    <a:lumMod val="95000"/>
                  </a:schemeClr>
                </a:solidFill>
                <a:latin typeface="JetBrains Mono Regular" panose="02000009000000000000" pitchFamily="49" charset="0"/>
                <a:cs typeface="JetBrains Mono Regular" panose="02000009000000000000" pitchFamily="49" charset="0"/>
              </a:rPr>
              <a:t>Bài</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toán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a:solidFill>
                  <a:schemeClr val="bg1">
                    <a:lumMod val="95000"/>
                  </a:schemeClr>
                </a:solidFill>
                <a:latin typeface="JetBrains Mono Light" panose="02000009000000000000" pitchFamily="49" charset="0"/>
                <a:cs typeface="JetBrains Mono Light" panose="02000009000000000000" pitchFamily="49" charset="0"/>
              </a:rPr>
              <a:t>“</a:t>
            </a:r>
            <a:r>
              <a:rPr lang="en-US" dirty="0" err="1">
                <a:solidFill>
                  <a:schemeClr val="bg1">
                    <a:lumMod val="95000"/>
                  </a:schemeClr>
                </a:solidFill>
                <a:latin typeface="JetBrains Mono Light" panose="02000009000000000000" pitchFamily="49" charset="0"/>
                <a:cs typeface="JetBrains Mono Light" panose="02000009000000000000" pitchFamily="49" charset="0"/>
              </a:rPr>
              <a:t>Cây</a:t>
            </a:r>
            <a:r>
              <a:rPr lang="en-US" dirty="0">
                <a:solidFill>
                  <a:schemeClr val="bg1">
                    <a:lumMod val="95000"/>
                  </a:schemeClr>
                </a:solidFill>
                <a:latin typeface="JetBrains Mono Light" panose="02000009000000000000" pitchFamily="49" charset="0"/>
                <a:cs typeface="JetBrains Mono Light" panose="02000009000000000000" pitchFamily="49" charset="0"/>
              </a:rPr>
              <a:t> bao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trùm</a:t>
            </a:r>
            <a:r>
              <a:rPr lang="en-US" dirty="0">
                <a:solidFill>
                  <a:schemeClr val="bg1">
                    <a:lumMod val="95000"/>
                  </a:schemeClr>
                </a:solidFill>
                <a:latin typeface="JetBrains Mono Light" panose="02000009000000000000" pitchFamily="49" charset="0"/>
                <a:cs typeface="JetBrains Mono Light" panose="02000009000000000000" pitchFamily="49" charset="0"/>
              </a:rPr>
              <a:t>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tối</a:t>
            </a:r>
            <a:r>
              <a:rPr lang="en-US" dirty="0">
                <a:solidFill>
                  <a:schemeClr val="bg1">
                    <a:lumMod val="95000"/>
                  </a:schemeClr>
                </a:solidFill>
                <a:latin typeface="JetBrains Mono Light" panose="02000009000000000000" pitchFamily="49" charset="0"/>
                <a:cs typeface="JetBrains Mono Light" panose="02000009000000000000" pitchFamily="49" charset="0"/>
              </a:rPr>
              <a:t>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thiểu</a:t>
            </a:r>
            <a:r>
              <a:rPr lang="en-US" dirty="0">
                <a:solidFill>
                  <a:schemeClr val="bg1">
                    <a:lumMod val="85000"/>
                  </a:schemeClr>
                </a:solidFill>
                <a:latin typeface="JetBrains Mono Light" panose="02000009000000000000"/>
                <a:cs typeface="JetBrains Mono" panose="02000009000000000000" pitchFamily="49" charset="0"/>
              </a:rPr>
              <a:t>”</a:t>
            </a:r>
          </a:p>
        </p:txBody>
      </p:sp>
      <p:sp>
        <p:nvSpPr>
          <p:cNvPr id="55" name="Footer: Title">
            <a:extLst>
              <a:ext uri="{FF2B5EF4-FFF2-40B4-BE49-F238E27FC236}">
                <a16:creationId xmlns:a16="http://schemas.microsoft.com/office/drawing/2014/main" id="{BF7B329F-BBD4-4CE5-92B8-228711FCE729}"/>
              </a:ext>
            </a:extLst>
          </p:cNvPr>
          <p:cNvSpPr txBox="1"/>
          <p:nvPr/>
        </p:nvSpPr>
        <p:spPr>
          <a:xfrm>
            <a:off x="6342196" y="6469576"/>
            <a:ext cx="1215645"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a:t>
            </a:r>
          </a:p>
        </p:txBody>
      </p:sp>
      <p:sp>
        <p:nvSpPr>
          <p:cNvPr id="56" name="PAGE NUM 0">
            <a:extLst>
              <a:ext uri="{FF2B5EF4-FFF2-40B4-BE49-F238E27FC236}">
                <a16:creationId xmlns:a16="http://schemas.microsoft.com/office/drawing/2014/main" id="{C5FCBFDC-7226-4A48-ACEF-DE591BDFD048}"/>
              </a:ext>
            </a:extLst>
          </p:cNvPr>
          <p:cNvSpPr txBox="1"/>
          <p:nvPr/>
        </p:nvSpPr>
        <p:spPr>
          <a:xfrm>
            <a:off x="11599908" y="-510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4</a:t>
            </a:r>
          </a:p>
        </p:txBody>
      </p:sp>
      <p:sp>
        <p:nvSpPr>
          <p:cNvPr id="57" name="PAGE NUM 1">
            <a:extLst>
              <a:ext uri="{FF2B5EF4-FFF2-40B4-BE49-F238E27FC236}">
                <a16:creationId xmlns:a16="http://schemas.microsoft.com/office/drawing/2014/main" id="{1B771E83-B986-46D4-B444-3C2D5BBE760A}"/>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7</a:t>
            </a:r>
            <a:endParaRPr lang="en-US" dirty="0"/>
          </a:p>
        </p:txBody>
      </p:sp>
      <p:sp>
        <p:nvSpPr>
          <p:cNvPr id="60" name="TextBox 59">
            <a:extLst>
              <a:ext uri="{FF2B5EF4-FFF2-40B4-BE49-F238E27FC236}">
                <a16:creationId xmlns:a16="http://schemas.microsoft.com/office/drawing/2014/main" id="{6A406B24-D2F2-47E9-9DF4-A56A04DB1F3F}"/>
              </a:ext>
            </a:extLst>
          </p:cNvPr>
          <p:cNvSpPr txBox="1"/>
          <p:nvPr/>
        </p:nvSpPr>
        <p:spPr>
          <a:xfrm>
            <a:off x="944147" y="1080234"/>
            <a:ext cx="1775608"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Phương</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pháp</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61" name="TextBox 60">
            <a:extLst>
              <a:ext uri="{FF2B5EF4-FFF2-40B4-BE49-F238E27FC236}">
                <a16:creationId xmlns:a16="http://schemas.microsoft.com/office/drawing/2014/main" id="{167C7D15-0577-4998-899C-E9DE54EF8906}"/>
              </a:ext>
            </a:extLst>
          </p:cNvPr>
          <p:cNvSpPr txBox="1"/>
          <p:nvPr/>
        </p:nvSpPr>
        <p:spPr>
          <a:xfrm>
            <a:off x="2664872" y="1092325"/>
            <a:ext cx="3305415" cy="369332"/>
          </a:xfrm>
          <a:prstGeom prst="rect">
            <a:avLst/>
          </a:prstGeom>
          <a:noFill/>
        </p:spPr>
        <p:txBody>
          <a:bodyPr wrap="square" rtlCol="0">
            <a:spAutoFit/>
          </a:bodyPr>
          <a:lstStyle/>
          <a:p>
            <a:pPr marL="285750" indent="-285750">
              <a:buFont typeface="Arial" panose="020B0604020202020204" pitchFamily="34" charset="0"/>
              <a:buChar char="•"/>
            </a:pP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Thuật</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toán</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Kruksal</a:t>
            </a:r>
            <a:endParaRPr lang="en-US" i="1" dirty="0">
              <a:latin typeface="JetBrains Mono ExtraLight" panose="02000009000000000000" pitchFamily="49" charset="0"/>
              <a:cs typeface="JetBrains Mono ExtraLight" panose="02000009000000000000" pitchFamily="49" charset="0"/>
            </a:endParaRPr>
          </a:p>
        </p:txBody>
      </p:sp>
      <p:sp>
        <p:nvSpPr>
          <p:cNvPr id="59" name="TextBox 58">
            <a:extLst>
              <a:ext uri="{FF2B5EF4-FFF2-40B4-BE49-F238E27FC236}">
                <a16:creationId xmlns:a16="http://schemas.microsoft.com/office/drawing/2014/main" id="{DF6B3D85-649F-4AA0-99A3-5455BE7497EE}"/>
              </a:ext>
            </a:extLst>
          </p:cNvPr>
          <p:cNvSpPr txBox="1"/>
          <p:nvPr/>
        </p:nvSpPr>
        <p:spPr>
          <a:xfrm>
            <a:off x="930464" y="1538497"/>
            <a:ext cx="6305551" cy="923330"/>
          </a:xfrm>
          <a:prstGeom prst="rect">
            <a:avLst/>
          </a:prstGeom>
          <a:noFill/>
        </p:spPr>
        <p:txBody>
          <a:bodyPr wrap="square">
            <a:spAutoFit/>
          </a:bodyPr>
          <a:lstStyle/>
          <a:p>
            <a:r>
              <a:rPr lang="en-US" dirty="0" err="1">
                <a:solidFill>
                  <a:srgbClr val="EBE9EB"/>
                </a:solidFill>
                <a:latin typeface="JetBrains Mono Light" panose="02000009000000000000" pitchFamily="49" charset="0"/>
                <a:cs typeface="JetBrains Mono Light" panose="02000009000000000000" pitchFamily="49" charset="0"/>
              </a:rPr>
              <a:t>Tìm</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một</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tập</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hợp</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các</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cạnh</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tạo</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thành</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một</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cây</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chứa</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tất</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cả</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các</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đỉnh</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của</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đồ</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thị</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và</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có</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tổng</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trọng</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số</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các</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cạnh</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là</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nhỏ</a:t>
            </a:r>
            <a:r>
              <a:rPr lang="en-US" dirty="0">
                <a:solidFill>
                  <a:srgbClr val="EBE9EB"/>
                </a:solidFill>
                <a:latin typeface="JetBrains Mono Light" panose="02000009000000000000" pitchFamily="49" charset="0"/>
                <a:cs typeface="JetBrains Mono Light" panose="02000009000000000000" pitchFamily="49" charset="0"/>
              </a:rPr>
              <a:t> </a:t>
            </a:r>
            <a:r>
              <a:rPr lang="en-US" dirty="0" err="1">
                <a:solidFill>
                  <a:srgbClr val="EBE9EB"/>
                </a:solidFill>
                <a:latin typeface="JetBrains Mono Light" panose="02000009000000000000" pitchFamily="49" charset="0"/>
                <a:cs typeface="JetBrains Mono Light" panose="02000009000000000000" pitchFamily="49" charset="0"/>
              </a:rPr>
              <a:t>nhất</a:t>
            </a:r>
            <a:r>
              <a:rPr lang="en-US" dirty="0">
                <a:solidFill>
                  <a:srgbClr val="EBE9EB"/>
                </a:solidFill>
                <a:latin typeface="JetBrains Mono Light" panose="02000009000000000000" pitchFamily="49" charset="0"/>
                <a:cs typeface="JetBrains Mono Light" panose="02000009000000000000" pitchFamily="49" charset="0"/>
              </a:rPr>
              <a:t>.</a:t>
            </a:r>
          </a:p>
        </p:txBody>
      </p:sp>
      <p:sp>
        <p:nvSpPr>
          <p:cNvPr id="122" name="Rectangle 121">
            <a:extLst>
              <a:ext uri="{FF2B5EF4-FFF2-40B4-BE49-F238E27FC236}">
                <a16:creationId xmlns:a16="http://schemas.microsoft.com/office/drawing/2014/main" id="{D8B6D1F9-F8EE-4613-A4E1-A32D434D25D4}"/>
              </a:ext>
            </a:extLst>
          </p:cNvPr>
          <p:cNvSpPr/>
          <p:nvPr/>
        </p:nvSpPr>
        <p:spPr>
          <a:xfrm>
            <a:off x="8477627" y="567729"/>
            <a:ext cx="3163614" cy="192339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cxnSp>
        <p:nvCxnSpPr>
          <p:cNvPr id="123" name="Straight Connector 122">
            <a:extLst>
              <a:ext uri="{FF2B5EF4-FFF2-40B4-BE49-F238E27FC236}">
                <a16:creationId xmlns:a16="http://schemas.microsoft.com/office/drawing/2014/main" id="{8CE26FC3-3745-4488-8698-61FA100A4647}"/>
              </a:ext>
            </a:extLst>
          </p:cNvPr>
          <p:cNvCxnSpPr>
            <a:cxnSpLocks/>
          </p:cNvCxnSpPr>
          <p:nvPr/>
        </p:nvCxnSpPr>
        <p:spPr>
          <a:xfrm flipH="1">
            <a:off x="8477627" y="567729"/>
            <a:ext cx="3163614" cy="19233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FD319138-4E57-4BE7-A509-96C0AB69D955}"/>
              </a:ext>
            </a:extLst>
          </p:cNvPr>
          <p:cNvCxnSpPr>
            <a:cxnSpLocks/>
          </p:cNvCxnSpPr>
          <p:nvPr/>
        </p:nvCxnSpPr>
        <p:spPr>
          <a:xfrm>
            <a:off x="8549432" y="660062"/>
            <a:ext cx="1503676" cy="915530"/>
          </a:xfrm>
          <a:prstGeom prst="line">
            <a:avLst/>
          </a:prstGeom>
        </p:spPr>
        <p:style>
          <a:lnRef idx="1">
            <a:schemeClr val="accent1"/>
          </a:lnRef>
          <a:fillRef idx="0">
            <a:schemeClr val="accent1"/>
          </a:fillRef>
          <a:effectRef idx="0">
            <a:schemeClr val="accent1"/>
          </a:effectRef>
          <a:fontRef idx="minor">
            <a:schemeClr val="tx1"/>
          </a:fontRef>
        </p:style>
      </p:cxnSp>
      <p:sp>
        <p:nvSpPr>
          <p:cNvPr id="125" name="Oval 124">
            <a:extLst>
              <a:ext uri="{FF2B5EF4-FFF2-40B4-BE49-F238E27FC236}">
                <a16:creationId xmlns:a16="http://schemas.microsoft.com/office/drawing/2014/main" id="{C930B661-BE56-43C7-B3B7-5D3A7F48F1EB}"/>
              </a:ext>
            </a:extLst>
          </p:cNvPr>
          <p:cNvSpPr/>
          <p:nvPr/>
        </p:nvSpPr>
        <p:spPr>
          <a:xfrm>
            <a:off x="8363327" y="453429"/>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dirty="0">
              <a:solidFill>
                <a:srgbClr val="EBE9EB"/>
              </a:solidFill>
            </a:endParaRPr>
          </a:p>
        </p:txBody>
      </p:sp>
      <p:sp>
        <p:nvSpPr>
          <p:cNvPr id="126" name="Oval 125">
            <a:extLst>
              <a:ext uri="{FF2B5EF4-FFF2-40B4-BE49-F238E27FC236}">
                <a16:creationId xmlns:a16="http://schemas.microsoft.com/office/drawing/2014/main" id="{B5CC2B85-CA03-4E20-932F-6A026CF3B1ED}"/>
              </a:ext>
            </a:extLst>
          </p:cNvPr>
          <p:cNvSpPr/>
          <p:nvPr/>
        </p:nvSpPr>
        <p:spPr>
          <a:xfrm>
            <a:off x="11512590" y="458541"/>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27" name="Oval 126">
            <a:extLst>
              <a:ext uri="{FF2B5EF4-FFF2-40B4-BE49-F238E27FC236}">
                <a16:creationId xmlns:a16="http://schemas.microsoft.com/office/drawing/2014/main" id="{57B94AEC-5ECC-46A0-B04E-66BE78CB8661}"/>
              </a:ext>
            </a:extLst>
          </p:cNvPr>
          <p:cNvSpPr/>
          <p:nvPr/>
        </p:nvSpPr>
        <p:spPr>
          <a:xfrm>
            <a:off x="9945134" y="1415125"/>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28" name="Oval 127">
            <a:extLst>
              <a:ext uri="{FF2B5EF4-FFF2-40B4-BE49-F238E27FC236}">
                <a16:creationId xmlns:a16="http://schemas.microsoft.com/office/drawing/2014/main" id="{AEF8CDE2-6392-4101-AEB3-477C219D2EE3}"/>
              </a:ext>
            </a:extLst>
          </p:cNvPr>
          <p:cNvSpPr/>
          <p:nvPr/>
        </p:nvSpPr>
        <p:spPr>
          <a:xfrm>
            <a:off x="8363327" y="2376822"/>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29" name="Oval 128">
            <a:extLst>
              <a:ext uri="{FF2B5EF4-FFF2-40B4-BE49-F238E27FC236}">
                <a16:creationId xmlns:a16="http://schemas.microsoft.com/office/drawing/2014/main" id="{26D249FB-C190-4EAC-A57E-9E1768D9CFCA}"/>
              </a:ext>
            </a:extLst>
          </p:cNvPr>
          <p:cNvSpPr/>
          <p:nvPr/>
        </p:nvSpPr>
        <p:spPr>
          <a:xfrm>
            <a:off x="11534049" y="2381143"/>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30" name="TextBox 129">
            <a:extLst>
              <a:ext uri="{FF2B5EF4-FFF2-40B4-BE49-F238E27FC236}">
                <a16:creationId xmlns:a16="http://schemas.microsoft.com/office/drawing/2014/main" id="{CDBB6146-6029-49C7-9810-0C41172112B9}"/>
              </a:ext>
            </a:extLst>
          </p:cNvPr>
          <p:cNvSpPr txBox="1"/>
          <p:nvPr/>
        </p:nvSpPr>
        <p:spPr>
          <a:xfrm>
            <a:off x="8318320" y="386204"/>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A</a:t>
            </a:r>
          </a:p>
        </p:txBody>
      </p:sp>
      <p:sp>
        <p:nvSpPr>
          <p:cNvPr id="131" name="TextBox 130">
            <a:extLst>
              <a:ext uri="{FF2B5EF4-FFF2-40B4-BE49-F238E27FC236}">
                <a16:creationId xmlns:a16="http://schemas.microsoft.com/office/drawing/2014/main" id="{F08C56B1-EB13-45C0-8F50-1D38673E3964}"/>
              </a:ext>
            </a:extLst>
          </p:cNvPr>
          <p:cNvSpPr txBox="1"/>
          <p:nvPr/>
        </p:nvSpPr>
        <p:spPr>
          <a:xfrm>
            <a:off x="11476468" y="400423"/>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B</a:t>
            </a:r>
          </a:p>
        </p:txBody>
      </p:sp>
      <p:sp>
        <p:nvSpPr>
          <p:cNvPr id="132" name="TextBox 131">
            <a:extLst>
              <a:ext uri="{FF2B5EF4-FFF2-40B4-BE49-F238E27FC236}">
                <a16:creationId xmlns:a16="http://schemas.microsoft.com/office/drawing/2014/main" id="{BE91EB33-9495-4523-A304-4B2E792EE6C4}"/>
              </a:ext>
            </a:extLst>
          </p:cNvPr>
          <p:cNvSpPr txBox="1"/>
          <p:nvPr/>
        </p:nvSpPr>
        <p:spPr>
          <a:xfrm>
            <a:off x="11483078" y="2325506"/>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C</a:t>
            </a:r>
          </a:p>
        </p:txBody>
      </p:sp>
      <p:sp>
        <p:nvSpPr>
          <p:cNvPr id="133" name="TextBox 132">
            <a:extLst>
              <a:ext uri="{FF2B5EF4-FFF2-40B4-BE49-F238E27FC236}">
                <a16:creationId xmlns:a16="http://schemas.microsoft.com/office/drawing/2014/main" id="{66591067-21B2-47F6-AD45-5BEF912BDDE6}"/>
              </a:ext>
            </a:extLst>
          </p:cNvPr>
          <p:cNvSpPr txBox="1"/>
          <p:nvPr/>
        </p:nvSpPr>
        <p:spPr>
          <a:xfrm>
            <a:off x="8325900" y="2319156"/>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D</a:t>
            </a:r>
          </a:p>
        </p:txBody>
      </p:sp>
      <p:sp>
        <p:nvSpPr>
          <p:cNvPr id="134" name="TextBox 133">
            <a:extLst>
              <a:ext uri="{FF2B5EF4-FFF2-40B4-BE49-F238E27FC236}">
                <a16:creationId xmlns:a16="http://schemas.microsoft.com/office/drawing/2014/main" id="{7A2F047F-7901-422A-AEB6-68A7956E2AD6}"/>
              </a:ext>
            </a:extLst>
          </p:cNvPr>
          <p:cNvSpPr txBox="1"/>
          <p:nvPr/>
        </p:nvSpPr>
        <p:spPr>
          <a:xfrm>
            <a:off x="9894375" y="1351109"/>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E</a:t>
            </a:r>
          </a:p>
        </p:txBody>
      </p:sp>
      <p:sp>
        <p:nvSpPr>
          <p:cNvPr id="135" name="TextBox 134">
            <a:extLst>
              <a:ext uri="{FF2B5EF4-FFF2-40B4-BE49-F238E27FC236}">
                <a16:creationId xmlns:a16="http://schemas.microsoft.com/office/drawing/2014/main" id="{D7CCA408-3852-4C54-85C3-347EEF86453E}"/>
              </a:ext>
            </a:extLst>
          </p:cNvPr>
          <p:cNvSpPr txBox="1"/>
          <p:nvPr/>
        </p:nvSpPr>
        <p:spPr>
          <a:xfrm>
            <a:off x="9902265" y="290730"/>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6</a:t>
            </a:r>
          </a:p>
        </p:txBody>
      </p:sp>
      <p:sp>
        <p:nvSpPr>
          <p:cNvPr id="136" name="TextBox 135">
            <a:extLst>
              <a:ext uri="{FF2B5EF4-FFF2-40B4-BE49-F238E27FC236}">
                <a16:creationId xmlns:a16="http://schemas.microsoft.com/office/drawing/2014/main" id="{29174FD1-B4AA-4357-8678-7A76B55AC813}"/>
              </a:ext>
            </a:extLst>
          </p:cNvPr>
          <p:cNvSpPr txBox="1"/>
          <p:nvPr/>
        </p:nvSpPr>
        <p:spPr>
          <a:xfrm>
            <a:off x="8210703" y="1347847"/>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4</a:t>
            </a:r>
          </a:p>
        </p:txBody>
      </p:sp>
      <p:sp>
        <p:nvSpPr>
          <p:cNvPr id="137" name="TextBox 136">
            <a:extLst>
              <a:ext uri="{FF2B5EF4-FFF2-40B4-BE49-F238E27FC236}">
                <a16:creationId xmlns:a16="http://schemas.microsoft.com/office/drawing/2014/main" id="{1D2BA152-88EB-4B1F-833A-026C2D8BF712}"/>
              </a:ext>
            </a:extLst>
          </p:cNvPr>
          <p:cNvSpPr txBox="1"/>
          <p:nvPr/>
        </p:nvSpPr>
        <p:spPr>
          <a:xfrm rot="1746466">
            <a:off x="9349986" y="839685"/>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4</a:t>
            </a:r>
          </a:p>
        </p:txBody>
      </p:sp>
      <p:sp>
        <p:nvSpPr>
          <p:cNvPr id="138" name="TextBox 137">
            <a:extLst>
              <a:ext uri="{FF2B5EF4-FFF2-40B4-BE49-F238E27FC236}">
                <a16:creationId xmlns:a16="http://schemas.microsoft.com/office/drawing/2014/main" id="{71852C81-1D4A-4B46-96A4-3E8FA1C69552}"/>
              </a:ext>
            </a:extLst>
          </p:cNvPr>
          <p:cNvSpPr txBox="1"/>
          <p:nvPr/>
        </p:nvSpPr>
        <p:spPr>
          <a:xfrm rot="19619130">
            <a:off x="9047734" y="1714091"/>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3</a:t>
            </a:r>
          </a:p>
        </p:txBody>
      </p:sp>
      <p:sp>
        <p:nvSpPr>
          <p:cNvPr id="139" name="TextBox 138">
            <a:extLst>
              <a:ext uri="{FF2B5EF4-FFF2-40B4-BE49-F238E27FC236}">
                <a16:creationId xmlns:a16="http://schemas.microsoft.com/office/drawing/2014/main" id="{19FD893F-8EA3-4FB5-958F-FC771A7EA2C3}"/>
              </a:ext>
            </a:extLst>
          </p:cNvPr>
          <p:cNvSpPr txBox="1"/>
          <p:nvPr/>
        </p:nvSpPr>
        <p:spPr>
          <a:xfrm rot="19577036">
            <a:off x="10459920" y="839685"/>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5</a:t>
            </a:r>
          </a:p>
        </p:txBody>
      </p:sp>
      <p:sp>
        <p:nvSpPr>
          <p:cNvPr id="140" name="TextBox 139">
            <a:extLst>
              <a:ext uri="{FF2B5EF4-FFF2-40B4-BE49-F238E27FC236}">
                <a16:creationId xmlns:a16="http://schemas.microsoft.com/office/drawing/2014/main" id="{5F079F19-0511-422E-A4EC-F969D9D5E49A}"/>
              </a:ext>
            </a:extLst>
          </p:cNvPr>
          <p:cNvSpPr txBox="1"/>
          <p:nvPr/>
        </p:nvSpPr>
        <p:spPr>
          <a:xfrm>
            <a:off x="9902265" y="2496757"/>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7</a:t>
            </a:r>
          </a:p>
        </p:txBody>
      </p:sp>
      <p:sp>
        <p:nvSpPr>
          <p:cNvPr id="141" name="TextBox 140">
            <a:extLst>
              <a:ext uri="{FF2B5EF4-FFF2-40B4-BE49-F238E27FC236}">
                <a16:creationId xmlns:a16="http://schemas.microsoft.com/office/drawing/2014/main" id="{4F3945A4-513F-4117-89D0-BF436DF9F8FA}"/>
              </a:ext>
            </a:extLst>
          </p:cNvPr>
          <p:cNvSpPr txBox="1"/>
          <p:nvPr/>
        </p:nvSpPr>
        <p:spPr>
          <a:xfrm>
            <a:off x="11346662" y="1415125"/>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2</a:t>
            </a:r>
          </a:p>
        </p:txBody>
      </p:sp>
      <p:graphicFrame>
        <p:nvGraphicFramePr>
          <p:cNvPr id="142" name="Table 44">
            <a:extLst>
              <a:ext uri="{FF2B5EF4-FFF2-40B4-BE49-F238E27FC236}">
                <a16:creationId xmlns:a16="http://schemas.microsoft.com/office/drawing/2014/main" id="{1D1F6608-E1D8-49A3-B2E0-21E8ACE92C8B}"/>
              </a:ext>
            </a:extLst>
          </p:cNvPr>
          <p:cNvGraphicFramePr>
            <a:graphicFrameLocks noGrp="1"/>
          </p:cNvGraphicFramePr>
          <p:nvPr>
            <p:extLst>
              <p:ext uri="{D42A27DB-BD31-4B8C-83A1-F6EECF244321}">
                <p14:modId xmlns:p14="http://schemas.microsoft.com/office/powerpoint/2010/main" val="596578545"/>
              </p:ext>
            </p:extLst>
          </p:nvPr>
        </p:nvGraphicFramePr>
        <p:xfrm>
          <a:off x="9816350" y="3153222"/>
          <a:ext cx="1889566" cy="3107556"/>
        </p:xfrm>
        <a:graphic>
          <a:graphicData uri="http://schemas.openxmlformats.org/drawingml/2006/table">
            <a:tbl>
              <a:tblPr firstRow="1" bandRow="1">
                <a:solidFill>
                  <a:schemeClr val="tx1"/>
                </a:solidFill>
                <a:tableStyleId>{5C22544A-7EE6-4342-B048-85BDC9FD1C3A}</a:tableStyleId>
              </a:tblPr>
              <a:tblGrid>
                <a:gridCol w="944783">
                  <a:extLst>
                    <a:ext uri="{9D8B030D-6E8A-4147-A177-3AD203B41FA5}">
                      <a16:colId xmlns:a16="http://schemas.microsoft.com/office/drawing/2014/main" val="3498000576"/>
                    </a:ext>
                  </a:extLst>
                </a:gridCol>
                <a:gridCol w="944783">
                  <a:extLst>
                    <a:ext uri="{9D8B030D-6E8A-4147-A177-3AD203B41FA5}">
                      <a16:colId xmlns:a16="http://schemas.microsoft.com/office/drawing/2014/main" val="1228846467"/>
                    </a:ext>
                  </a:extLst>
                </a:gridCol>
              </a:tblGrid>
              <a:tr h="389061">
                <a:tc>
                  <a:txBody>
                    <a:bodyPr/>
                    <a:lstStyle/>
                    <a:p>
                      <a:pPr algn="ctr"/>
                      <a:r>
                        <a:rPr lang="en-VN" sz="1600" b="0" i="1" dirty="0">
                          <a:solidFill>
                            <a:schemeClr val="bg1">
                              <a:lumMod val="50000"/>
                            </a:schemeClr>
                          </a:solidFill>
                          <a:latin typeface="JetBrains Mono Light" panose="02000009000000000000" pitchFamily="49" charset="0"/>
                          <a:cs typeface="JetBrains Mono Light" panose="02000009000000000000" pitchFamily="49" charset="0"/>
                        </a:rPr>
                        <a:t>Cạnh</a:t>
                      </a:r>
                    </a:p>
                  </a:txBody>
                  <a:tcPr>
                    <a:solidFill>
                      <a:schemeClr val="tx1"/>
                    </a:solidFill>
                  </a:tcPr>
                </a:tc>
                <a:tc>
                  <a:txBody>
                    <a:bodyPr/>
                    <a:lstStyle/>
                    <a:p>
                      <a:r>
                        <a:rPr lang="en-VN" sz="1600" b="0" i="1" dirty="0">
                          <a:solidFill>
                            <a:schemeClr val="bg1">
                              <a:lumMod val="50000"/>
                            </a:schemeClr>
                          </a:solidFill>
                          <a:latin typeface="JetBrains Mono Light" panose="02000009000000000000" pitchFamily="49" charset="0"/>
                          <a:cs typeface="JetBrains Mono Light" panose="02000009000000000000" pitchFamily="49" charset="0"/>
                        </a:rPr>
                        <a:t>Độ dài</a:t>
                      </a:r>
                    </a:p>
                  </a:txBody>
                  <a:tcPr>
                    <a:solidFill>
                      <a:schemeClr val="tx1"/>
                    </a:solidFill>
                  </a:tcPr>
                </a:tc>
                <a:extLst>
                  <a:ext uri="{0D108BD9-81ED-4DB2-BD59-A6C34878D82A}">
                    <a16:rowId xmlns:a16="http://schemas.microsoft.com/office/drawing/2014/main" val="3071426674"/>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BC</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2</a:t>
                      </a:r>
                    </a:p>
                  </a:txBody>
                  <a:tcPr>
                    <a:solidFill>
                      <a:schemeClr val="tx1"/>
                    </a:solidFill>
                  </a:tcPr>
                </a:tc>
                <a:extLst>
                  <a:ext uri="{0D108BD9-81ED-4DB2-BD59-A6C34878D82A}">
                    <a16:rowId xmlns:a16="http://schemas.microsoft.com/office/drawing/2014/main" val="1475990308"/>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DE</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3</a:t>
                      </a:r>
                    </a:p>
                  </a:txBody>
                  <a:tcPr>
                    <a:solidFill>
                      <a:schemeClr val="tx1"/>
                    </a:solidFill>
                  </a:tcPr>
                </a:tc>
                <a:extLst>
                  <a:ext uri="{0D108BD9-81ED-4DB2-BD59-A6C34878D82A}">
                    <a16:rowId xmlns:a16="http://schemas.microsoft.com/office/drawing/2014/main" val="1259891391"/>
                  </a:ext>
                </a:extLst>
              </a:tr>
              <a:tr h="374605">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AD</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4</a:t>
                      </a:r>
                    </a:p>
                  </a:txBody>
                  <a:tcPr>
                    <a:solidFill>
                      <a:schemeClr val="tx1"/>
                    </a:solidFill>
                  </a:tcPr>
                </a:tc>
                <a:extLst>
                  <a:ext uri="{0D108BD9-81ED-4DB2-BD59-A6C34878D82A}">
                    <a16:rowId xmlns:a16="http://schemas.microsoft.com/office/drawing/2014/main" val="67915146"/>
                  </a:ext>
                </a:extLst>
              </a:tr>
              <a:tr h="398585">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AE</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4</a:t>
                      </a:r>
                    </a:p>
                  </a:txBody>
                  <a:tcPr>
                    <a:solidFill>
                      <a:schemeClr val="tx1"/>
                    </a:solidFill>
                  </a:tcPr>
                </a:tc>
                <a:extLst>
                  <a:ext uri="{0D108BD9-81ED-4DB2-BD59-A6C34878D82A}">
                    <a16:rowId xmlns:a16="http://schemas.microsoft.com/office/drawing/2014/main" val="3006373338"/>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BE</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5</a:t>
                      </a:r>
                    </a:p>
                  </a:txBody>
                  <a:tcPr>
                    <a:solidFill>
                      <a:schemeClr val="tx1"/>
                    </a:solidFill>
                  </a:tcPr>
                </a:tc>
                <a:extLst>
                  <a:ext uri="{0D108BD9-81ED-4DB2-BD59-A6C34878D82A}">
                    <a16:rowId xmlns:a16="http://schemas.microsoft.com/office/drawing/2014/main" val="1788501585"/>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AB</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6</a:t>
                      </a:r>
                    </a:p>
                  </a:txBody>
                  <a:tcPr>
                    <a:solidFill>
                      <a:schemeClr val="tx1"/>
                    </a:solidFill>
                  </a:tcPr>
                </a:tc>
                <a:extLst>
                  <a:ext uri="{0D108BD9-81ED-4DB2-BD59-A6C34878D82A}">
                    <a16:rowId xmlns:a16="http://schemas.microsoft.com/office/drawing/2014/main" val="252512457"/>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CD</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7</a:t>
                      </a:r>
                    </a:p>
                  </a:txBody>
                  <a:tcPr>
                    <a:solidFill>
                      <a:schemeClr val="tx1"/>
                    </a:solidFill>
                  </a:tcPr>
                </a:tc>
                <a:extLst>
                  <a:ext uri="{0D108BD9-81ED-4DB2-BD59-A6C34878D82A}">
                    <a16:rowId xmlns:a16="http://schemas.microsoft.com/office/drawing/2014/main" val="1139305008"/>
                  </a:ext>
                </a:extLst>
              </a:tr>
            </a:tbl>
          </a:graphicData>
        </a:graphic>
      </p:graphicFrame>
      <p:sp>
        <p:nvSpPr>
          <p:cNvPr id="143" name="TextBox 142">
            <a:extLst>
              <a:ext uri="{FF2B5EF4-FFF2-40B4-BE49-F238E27FC236}">
                <a16:creationId xmlns:a16="http://schemas.microsoft.com/office/drawing/2014/main" id="{C085B660-EB1B-4FA4-8FDC-33FACA1BFE70}"/>
              </a:ext>
            </a:extLst>
          </p:cNvPr>
          <p:cNvSpPr txBox="1"/>
          <p:nvPr/>
        </p:nvSpPr>
        <p:spPr>
          <a:xfrm>
            <a:off x="8419023" y="3153222"/>
            <a:ext cx="1153825"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Dữ</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liệu</a:t>
            </a:r>
            <a:endParaRPr lang="en-US" dirty="0">
              <a:solidFill>
                <a:schemeClr val="bg1"/>
              </a:solidFill>
              <a:latin typeface="JetBrains Mono Regular" panose="02000009000000000000" pitchFamily="49" charset="0"/>
              <a:cs typeface="JetBrains Mono Regular" panose="02000009000000000000" pitchFamily="49" charset="0"/>
            </a:endParaRPr>
          </a:p>
        </p:txBody>
      </p:sp>
    </p:spTree>
    <p:extLst>
      <p:ext uri="{BB962C8B-B14F-4D97-AF65-F5344CB8AC3E}">
        <p14:creationId xmlns:p14="http://schemas.microsoft.com/office/powerpoint/2010/main" val="26691223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500"/>
                                        <p:tgtEl>
                                          <p:spTgt spid="5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3"/>
                                        </p:tgtEl>
                                        <p:attrNameLst>
                                          <p:attrName>style.visibility</p:attrName>
                                        </p:attrNameLst>
                                      </p:cBhvr>
                                      <p:to>
                                        <p:strVal val="visible"/>
                                      </p:to>
                                    </p:set>
                                    <p:animEffect transition="in" filter="fade">
                                      <p:cBhvr>
                                        <p:cTn id="11" dur="400"/>
                                        <p:tgtEl>
                                          <p:spTgt spid="143"/>
                                        </p:tgtEl>
                                      </p:cBhvr>
                                    </p:animEffect>
                                  </p:childTnLst>
                                </p:cTn>
                              </p:par>
                            </p:childTnLst>
                          </p:cTn>
                        </p:par>
                        <p:par>
                          <p:cTn id="12" fill="hold">
                            <p:stCondLst>
                              <p:cond delay="900"/>
                            </p:stCondLst>
                            <p:childTnLst>
                              <p:par>
                                <p:cTn id="13" presetID="10" presetClass="entr" presetSubtype="0" fill="hold" nodeType="afterEffect">
                                  <p:stCondLst>
                                    <p:cond delay="0"/>
                                  </p:stCondLst>
                                  <p:childTnLst>
                                    <p:set>
                                      <p:cBhvr>
                                        <p:cTn id="14" dur="1" fill="hold">
                                          <p:stCondLst>
                                            <p:cond delay="0"/>
                                          </p:stCondLst>
                                        </p:cTn>
                                        <p:tgtEl>
                                          <p:spTgt spid="142"/>
                                        </p:tgtEl>
                                        <p:attrNameLst>
                                          <p:attrName>style.visibility</p:attrName>
                                        </p:attrNameLst>
                                      </p:cBhvr>
                                      <p:to>
                                        <p:strVal val="visible"/>
                                      </p:to>
                                    </p:set>
                                    <p:animEffect transition="in" filter="fade">
                                      <p:cBhvr>
                                        <p:cTn id="15" dur="500"/>
                                        <p:tgtEl>
                                          <p:spTgt spid="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14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95ED7769-4A81-40FA-95EA-F07E81DF53F8}"/>
              </a:ext>
            </a:extLst>
          </p:cNvPr>
          <p:cNvSpPr>
            <a:spLocks noGrp="1"/>
          </p:cNvSpPr>
          <p:nvPr>
            <p:ph type="title"/>
          </p:nvPr>
        </p:nvSpPr>
        <p:spPr>
          <a:xfrm>
            <a:off x="838200" y="365125"/>
            <a:ext cx="10515600" cy="1325563"/>
          </a:xfrm>
        </p:spPr>
        <p:txBody>
          <a:bodyPr/>
          <a:lstStyle/>
          <a:p>
            <a:endParaRPr lang="en-US"/>
          </a:p>
        </p:txBody>
      </p:sp>
      <p:sp>
        <p:nvSpPr>
          <p:cNvPr id="19" name="Content Placeholder 2">
            <a:extLst>
              <a:ext uri="{FF2B5EF4-FFF2-40B4-BE49-F238E27FC236}">
                <a16:creationId xmlns:a16="http://schemas.microsoft.com/office/drawing/2014/main" id="{819FE16D-7B58-45E6-ADD0-06F3503270BB}"/>
              </a:ext>
            </a:extLst>
          </p:cNvPr>
          <p:cNvSpPr>
            <a:spLocks noGrp="1"/>
          </p:cNvSpPr>
          <p:nvPr>
            <p:ph idx="1"/>
          </p:nvPr>
        </p:nvSpPr>
        <p:spPr>
          <a:xfrm>
            <a:off x="838200" y="1825625"/>
            <a:ext cx="10515600" cy="4351338"/>
          </a:xfrm>
        </p:spPr>
        <p:txBody>
          <a:bodyPr/>
          <a:lstStyle/>
          <a:p>
            <a:endParaRPr lang="en-US"/>
          </a:p>
        </p:txBody>
      </p:sp>
      <p:sp>
        <p:nvSpPr>
          <p:cNvPr id="20" name="Rectangle 19">
            <a:extLst>
              <a:ext uri="{FF2B5EF4-FFF2-40B4-BE49-F238E27FC236}">
                <a16:creationId xmlns:a16="http://schemas.microsoft.com/office/drawing/2014/main" id="{D4135B46-AFEC-4B2C-A123-E15B19B5BCFB}"/>
              </a:ext>
            </a:extLst>
          </p:cNvPr>
          <p:cNvSpPr/>
          <p:nvPr/>
        </p:nvSpPr>
        <p:spPr>
          <a:xfrm>
            <a:off x="0" y="-4207"/>
            <a:ext cx="12192000" cy="68711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21" name="Credit MAIN">
            <a:extLst>
              <a:ext uri="{FF2B5EF4-FFF2-40B4-BE49-F238E27FC236}">
                <a16:creationId xmlns:a16="http://schemas.microsoft.com/office/drawing/2014/main" id="{953A4B7F-97A7-4FBF-9555-0DD151212CD1}"/>
              </a:ext>
            </a:extLst>
          </p:cNvPr>
          <p:cNvSpPr txBox="1"/>
          <p:nvPr/>
        </p:nvSpPr>
        <p:spPr>
          <a:xfrm>
            <a:off x="50878" y="6432004"/>
            <a:ext cx="2668876"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Phạm</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Văn</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Quyết</a:t>
            </a:r>
            <a:endParaRPr lang="en-US" dirty="0">
              <a:solidFill>
                <a:schemeClr val="bg1">
                  <a:lumMod val="95000"/>
                  <a:alpha val="46000"/>
                </a:schemeClr>
              </a:solidFill>
            </a:endParaRPr>
          </a:p>
        </p:txBody>
      </p:sp>
      <p:sp>
        <p:nvSpPr>
          <p:cNvPr id="22" name="Header">
            <a:extLst>
              <a:ext uri="{FF2B5EF4-FFF2-40B4-BE49-F238E27FC236}">
                <a16:creationId xmlns:a16="http://schemas.microsoft.com/office/drawing/2014/main" id="{FF1A7388-47F5-4DA6-ADF5-7DE96475307F}"/>
              </a:ext>
            </a:extLst>
          </p:cNvPr>
          <p:cNvSpPr txBox="1"/>
          <p:nvPr/>
        </p:nvSpPr>
        <p:spPr>
          <a:xfrm>
            <a:off x="50878" y="79574"/>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52" name="Rectangle 51">
            <a:extLst>
              <a:ext uri="{FF2B5EF4-FFF2-40B4-BE49-F238E27FC236}">
                <a16:creationId xmlns:a16="http://schemas.microsoft.com/office/drawing/2014/main" id="{B1DEA314-BD33-40A5-85C5-2A94FAB390CA}"/>
              </a:ext>
            </a:extLst>
          </p:cNvPr>
          <p:cNvSpPr/>
          <p:nvPr/>
        </p:nvSpPr>
        <p:spPr>
          <a:xfrm>
            <a:off x="591457" y="603227"/>
            <a:ext cx="4730637"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CB243EB8-6CAC-4AD4-A523-85CAE45F43CA}"/>
              </a:ext>
            </a:extLst>
          </p:cNvPr>
          <p:cNvSpPr txBox="1"/>
          <p:nvPr/>
        </p:nvSpPr>
        <p:spPr>
          <a:xfrm>
            <a:off x="603363" y="602701"/>
            <a:ext cx="4730637" cy="369332"/>
          </a:xfrm>
          <a:prstGeom prst="rect">
            <a:avLst/>
          </a:prstGeom>
          <a:no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Bài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toán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Cây</a:t>
            </a:r>
            <a:r>
              <a:rPr lang="en-US" dirty="0">
                <a:latin typeface="JetBrains Mono Regular" panose="02000009000000000000" pitchFamily="49" charset="0"/>
                <a:cs typeface="JetBrains Mono Regular" panose="02000009000000000000" pitchFamily="49" charset="0"/>
              </a:rPr>
              <a:t> bao </a:t>
            </a:r>
            <a:r>
              <a:rPr lang="en-US" dirty="0" err="1">
                <a:latin typeface="JetBrains Mono Regular" panose="02000009000000000000" pitchFamily="49" charset="0"/>
                <a:cs typeface="JetBrains Mono Regular" panose="02000009000000000000" pitchFamily="49" charset="0"/>
              </a:rPr>
              <a:t>trùm</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tối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thiểu</a:t>
            </a:r>
            <a:r>
              <a:rPr lang="en-US" dirty="0">
                <a:latin typeface="JetBrains Mono Regular" panose="02000009000000000000" pitchFamily="49" charset="0"/>
                <a:cs typeface="JetBrains Mono Regular" panose="02000009000000000000" pitchFamily="49" charset="0"/>
              </a:rPr>
              <a:t>”</a:t>
            </a:r>
          </a:p>
        </p:txBody>
      </p:sp>
      <p:sp>
        <p:nvSpPr>
          <p:cNvPr id="54" name="Footer: Part">
            <a:extLst>
              <a:ext uri="{FF2B5EF4-FFF2-40B4-BE49-F238E27FC236}">
                <a16:creationId xmlns:a16="http://schemas.microsoft.com/office/drawing/2014/main" id="{14C8B52B-D44A-4B71-9357-34B0DA68BD9D}"/>
              </a:ext>
            </a:extLst>
          </p:cNvPr>
          <p:cNvSpPr txBox="1"/>
          <p:nvPr/>
        </p:nvSpPr>
        <p:spPr>
          <a:xfrm>
            <a:off x="7455877" y="6464494"/>
            <a:ext cx="4764827" cy="369332"/>
          </a:xfrm>
          <a:prstGeom prst="rect">
            <a:avLst/>
          </a:prstGeom>
          <a:noFill/>
        </p:spPr>
        <p:txBody>
          <a:bodyPr wrap="square" rtlCol="0">
            <a:spAutoFit/>
          </a:bodyPr>
          <a:lstStyle/>
          <a:p>
            <a:r>
              <a:rPr lang="en-US" dirty="0" err="1">
                <a:solidFill>
                  <a:schemeClr val="bg1">
                    <a:lumMod val="95000"/>
                  </a:schemeClr>
                </a:solidFill>
                <a:latin typeface="JetBrains Mono Regular" panose="02000009000000000000" pitchFamily="49" charset="0"/>
                <a:cs typeface="JetBrains Mono Regular" panose="02000009000000000000" pitchFamily="49" charset="0"/>
              </a:rPr>
              <a:t>Bài</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toán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a:solidFill>
                  <a:schemeClr val="bg1">
                    <a:lumMod val="95000"/>
                  </a:schemeClr>
                </a:solidFill>
                <a:latin typeface="JetBrains Mono Light" panose="02000009000000000000" pitchFamily="49" charset="0"/>
                <a:cs typeface="JetBrains Mono Light" panose="02000009000000000000" pitchFamily="49" charset="0"/>
              </a:rPr>
              <a:t>“</a:t>
            </a:r>
            <a:r>
              <a:rPr lang="en-US" dirty="0" err="1">
                <a:solidFill>
                  <a:schemeClr val="bg1">
                    <a:lumMod val="95000"/>
                  </a:schemeClr>
                </a:solidFill>
                <a:latin typeface="JetBrains Mono Light" panose="02000009000000000000" pitchFamily="49" charset="0"/>
                <a:cs typeface="JetBrains Mono Light" panose="02000009000000000000" pitchFamily="49" charset="0"/>
              </a:rPr>
              <a:t>Cây</a:t>
            </a:r>
            <a:r>
              <a:rPr lang="en-US" dirty="0">
                <a:solidFill>
                  <a:schemeClr val="bg1">
                    <a:lumMod val="95000"/>
                  </a:schemeClr>
                </a:solidFill>
                <a:latin typeface="JetBrains Mono Light" panose="02000009000000000000" pitchFamily="49" charset="0"/>
                <a:cs typeface="JetBrains Mono Light" panose="02000009000000000000" pitchFamily="49" charset="0"/>
              </a:rPr>
              <a:t> bao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trùm</a:t>
            </a:r>
            <a:r>
              <a:rPr lang="en-US" dirty="0">
                <a:solidFill>
                  <a:schemeClr val="bg1">
                    <a:lumMod val="95000"/>
                  </a:schemeClr>
                </a:solidFill>
                <a:latin typeface="JetBrains Mono Light" panose="02000009000000000000" pitchFamily="49" charset="0"/>
                <a:cs typeface="JetBrains Mono Light" panose="02000009000000000000" pitchFamily="49" charset="0"/>
              </a:rPr>
              <a:t>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tối</a:t>
            </a:r>
            <a:r>
              <a:rPr lang="en-US" dirty="0">
                <a:solidFill>
                  <a:schemeClr val="bg1">
                    <a:lumMod val="95000"/>
                  </a:schemeClr>
                </a:solidFill>
                <a:latin typeface="JetBrains Mono Light" panose="02000009000000000000" pitchFamily="49" charset="0"/>
                <a:cs typeface="JetBrains Mono Light" panose="02000009000000000000" pitchFamily="49" charset="0"/>
              </a:rPr>
              <a:t>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thiểu</a:t>
            </a:r>
            <a:r>
              <a:rPr lang="en-US" dirty="0">
                <a:solidFill>
                  <a:schemeClr val="bg1">
                    <a:lumMod val="85000"/>
                  </a:schemeClr>
                </a:solidFill>
                <a:latin typeface="JetBrains Mono Light" panose="02000009000000000000"/>
                <a:cs typeface="JetBrains Mono" panose="02000009000000000000" pitchFamily="49" charset="0"/>
              </a:rPr>
              <a:t>”</a:t>
            </a:r>
          </a:p>
        </p:txBody>
      </p:sp>
      <p:sp>
        <p:nvSpPr>
          <p:cNvPr id="55" name="Footer: Title">
            <a:extLst>
              <a:ext uri="{FF2B5EF4-FFF2-40B4-BE49-F238E27FC236}">
                <a16:creationId xmlns:a16="http://schemas.microsoft.com/office/drawing/2014/main" id="{BF7B329F-BBD4-4CE5-92B8-228711FCE729}"/>
              </a:ext>
            </a:extLst>
          </p:cNvPr>
          <p:cNvSpPr txBox="1"/>
          <p:nvPr/>
        </p:nvSpPr>
        <p:spPr>
          <a:xfrm>
            <a:off x="6342196" y="6469576"/>
            <a:ext cx="1215645"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a:t>
            </a:r>
          </a:p>
        </p:txBody>
      </p:sp>
      <p:sp>
        <p:nvSpPr>
          <p:cNvPr id="56" name="PAGE NUM 0">
            <a:extLst>
              <a:ext uri="{FF2B5EF4-FFF2-40B4-BE49-F238E27FC236}">
                <a16:creationId xmlns:a16="http://schemas.microsoft.com/office/drawing/2014/main" id="{C5FCBFDC-7226-4A48-ACEF-DE591BDFD048}"/>
              </a:ext>
            </a:extLst>
          </p:cNvPr>
          <p:cNvSpPr txBox="1"/>
          <p:nvPr/>
        </p:nvSpPr>
        <p:spPr>
          <a:xfrm>
            <a:off x="11599908" y="-510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4</a:t>
            </a:r>
          </a:p>
        </p:txBody>
      </p:sp>
      <p:sp>
        <p:nvSpPr>
          <p:cNvPr id="57" name="PAGE NUM 1">
            <a:extLst>
              <a:ext uri="{FF2B5EF4-FFF2-40B4-BE49-F238E27FC236}">
                <a16:creationId xmlns:a16="http://schemas.microsoft.com/office/drawing/2014/main" id="{1B771E83-B986-46D4-B444-3C2D5BBE760A}"/>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8</a:t>
            </a:r>
            <a:endParaRPr lang="en-US" dirty="0"/>
          </a:p>
        </p:txBody>
      </p:sp>
      <p:sp>
        <p:nvSpPr>
          <p:cNvPr id="60" name="TextBox 59">
            <a:extLst>
              <a:ext uri="{FF2B5EF4-FFF2-40B4-BE49-F238E27FC236}">
                <a16:creationId xmlns:a16="http://schemas.microsoft.com/office/drawing/2014/main" id="{6A406B24-D2F2-47E9-9DF4-A56A04DB1F3F}"/>
              </a:ext>
            </a:extLst>
          </p:cNvPr>
          <p:cNvSpPr txBox="1"/>
          <p:nvPr/>
        </p:nvSpPr>
        <p:spPr>
          <a:xfrm>
            <a:off x="944147" y="1080234"/>
            <a:ext cx="1775608" cy="369332"/>
          </a:xfrm>
          <a:prstGeom prst="rect">
            <a:avLst/>
          </a:prstGeom>
          <a:noFill/>
          <a:ln>
            <a:no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Phương</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pháp</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61" name="TextBox 60">
            <a:extLst>
              <a:ext uri="{FF2B5EF4-FFF2-40B4-BE49-F238E27FC236}">
                <a16:creationId xmlns:a16="http://schemas.microsoft.com/office/drawing/2014/main" id="{167C7D15-0577-4998-899C-E9DE54EF8906}"/>
              </a:ext>
            </a:extLst>
          </p:cNvPr>
          <p:cNvSpPr txBox="1"/>
          <p:nvPr/>
        </p:nvSpPr>
        <p:spPr>
          <a:xfrm>
            <a:off x="2664872" y="1092325"/>
            <a:ext cx="3305415" cy="369332"/>
          </a:xfrm>
          <a:prstGeom prst="rect">
            <a:avLst/>
          </a:prstGeom>
          <a:noFill/>
        </p:spPr>
        <p:txBody>
          <a:bodyPr wrap="square" rtlCol="0">
            <a:spAutoFit/>
          </a:bodyPr>
          <a:lstStyle/>
          <a:p>
            <a:pPr marL="285750" indent="-285750">
              <a:buFont typeface="Arial" panose="020B0604020202020204" pitchFamily="34" charset="0"/>
              <a:buChar char="•"/>
            </a:pP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Thuật</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toán</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Kruksal</a:t>
            </a:r>
            <a:endParaRPr lang="en-US" i="1" dirty="0">
              <a:latin typeface="JetBrains Mono ExtraLight" panose="02000009000000000000" pitchFamily="49" charset="0"/>
              <a:cs typeface="JetBrains Mono ExtraLight" panose="02000009000000000000" pitchFamily="49" charset="0"/>
            </a:endParaRPr>
          </a:p>
        </p:txBody>
      </p:sp>
      <p:sp>
        <p:nvSpPr>
          <p:cNvPr id="122" name="Rectangle 121">
            <a:extLst>
              <a:ext uri="{FF2B5EF4-FFF2-40B4-BE49-F238E27FC236}">
                <a16:creationId xmlns:a16="http://schemas.microsoft.com/office/drawing/2014/main" id="{D8B6D1F9-F8EE-4613-A4E1-A32D434D25D4}"/>
              </a:ext>
            </a:extLst>
          </p:cNvPr>
          <p:cNvSpPr/>
          <p:nvPr/>
        </p:nvSpPr>
        <p:spPr>
          <a:xfrm>
            <a:off x="8477627" y="567729"/>
            <a:ext cx="3163614" cy="192339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cxnSp>
        <p:nvCxnSpPr>
          <p:cNvPr id="123" name="Straight Connector 122">
            <a:extLst>
              <a:ext uri="{FF2B5EF4-FFF2-40B4-BE49-F238E27FC236}">
                <a16:creationId xmlns:a16="http://schemas.microsoft.com/office/drawing/2014/main" id="{8CE26FC3-3745-4488-8698-61FA100A4647}"/>
              </a:ext>
            </a:extLst>
          </p:cNvPr>
          <p:cNvCxnSpPr>
            <a:cxnSpLocks/>
          </p:cNvCxnSpPr>
          <p:nvPr/>
        </p:nvCxnSpPr>
        <p:spPr>
          <a:xfrm flipH="1">
            <a:off x="8477627" y="567729"/>
            <a:ext cx="3163614" cy="19233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FD319138-4E57-4BE7-A509-96C0AB69D955}"/>
              </a:ext>
            </a:extLst>
          </p:cNvPr>
          <p:cNvCxnSpPr>
            <a:cxnSpLocks/>
          </p:cNvCxnSpPr>
          <p:nvPr/>
        </p:nvCxnSpPr>
        <p:spPr>
          <a:xfrm>
            <a:off x="8549432" y="660062"/>
            <a:ext cx="1503676" cy="915530"/>
          </a:xfrm>
          <a:prstGeom prst="line">
            <a:avLst/>
          </a:prstGeom>
        </p:spPr>
        <p:style>
          <a:lnRef idx="1">
            <a:schemeClr val="accent1"/>
          </a:lnRef>
          <a:fillRef idx="0">
            <a:schemeClr val="accent1"/>
          </a:fillRef>
          <a:effectRef idx="0">
            <a:schemeClr val="accent1"/>
          </a:effectRef>
          <a:fontRef idx="minor">
            <a:schemeClr val="tx1"/>
          </a:fontRef>
        </p:style>
      </p:cxnSp>
      <p:sp>
        <p:nvSpPr>
          <p:cNvPr id="125" name="Oval 124">
            <a:extLst>
              <a:ext uri="{FF2B5EF4-FFF2-40B4-BE49-F238E27FC236}">
                <a16:creationId xmlns:a16="http://schemas.microsoft.com/office/drawing/2014/main" id="{C930B661-BE56-43C7-B3B7-5D3A7F48F1EB}"/>
              </a:ext>
            </a:extLst>
          </p:cNvPr>
          <p:cNvSpPr/>
          <p:nvPr/>
        </p:nvSpPr>
        <p:spPr>
          <a:xfrm>
            <a:off x="8363327" y="453429"/>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dirty="0">
              <a:solidFill>
                <a:srgbClr val="EBE9EB"/>
              </a:solidFill>
            </a:endParaRPr>
          </a:p>
        </p:txBody>
      </p:sp>
      <p:sp>
        <p:nvSpPr>
          <p:cNvPr id="126" name="Oval 125">
            <a:extLst>
              <a:ext uri="{FF2B5EF4-FFF2-40B4-BE49-F238E27FC236}">
                <a16:creationId xmlns:a16="http://schemas.microsoft.com/office/drawing/2014/main" id="{B5CC2B85-CA03-4E20-932F-6A026CF3B1ED}"/>
              </a:ext>
            </a:extLst>
          </p:cNvPr>
          <p:cNvSpPr/>
          <p:nvPr/>
        </p:nvSpPr>
        <p:spPr>
          <a:xfrm>
            <a:off x="11512590" y="458541"/>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27" name="Oval 126">
            <a:extLst>
              <a:ext uri="{FF2B5EF4-FFF2-40B4-BE49-F238E27FC236}">
                <a16:creationId xmlns:a16="http://schemas.microsoft.com/office/drawing/2014/main" id="{57B94AEC-5ECC-46A0-B04E-66BE78CB8661}"/>
              </a:ext>
            </a:extLst>
          </p:cNvPr>
          <p:cNvSpPr/>
          <p:nvPr/>
        </p:nvSpPr>
        <p:spPr>
          <a:xfrm>
            <a:off x="9945134" y="1415125"/>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28" name="Oval 127">
            <a:extLst>
              <a:ext uri="{FF2B5EF4-FFF2-40B4-BE49-F238E27FC236}">
                <a16:creationId xmlns:a16="http://schemas.microsoft.com/office/drawing/2014/main" id="{AEF8CDE2-6392-4101-AEB3-477C219D2EE3}"/>
              </a:ext>
            </a:extLst>
          </p:cNvPr>
          <p:cNvSpPr/>
          <p:nvPr/>
        </p:nvSpPr>
        <p:spPr>
          <a:xfrm>
            <a:off x="8363327" y="2376822"/>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29" name="Oval 128">
            <a:extLst>
              <a:ext uri="{FF2B5EF4-FFF2-40B4-BE49-F238E27FC236}">
                <a16:creationId xmlns:a16="http://schemas.microsoft.com/office/drawing/2014/main" id="{26D249FB-C190-4EAC-A57E-9E1768D9CFCA}"/>
              </a:ext>
            </a:extLst>
          </p:cNvPr>
          <p:cNvSpPr/>
          <p:nvPr/>
        </p:nvSpPr>
        <p:spPr>
          <a:xfrm>
            <a:off x="11534049" y="2381143"/>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30" name="TextBox 129">
            <a:extLst>
              <a:ext uri="{FF2B5EF4-FFF2-40B4-BE49-F238E27FC236}">
                <a16:creationId xmlns:a16="http://schemas.microsoft.com/office/drawing/2014/main" id="{CDBB6146-6029-49C7-9810-0C41172112B9}"/>
              </a:ext>
            </a:extLst>
          </p:cNvPr>
          <p:cNvSpPr txBox="1"/>
          <p:nvPr/>
        </p:nvSpPr>
        <p:spPr>
          <a:xfrm>
            <a:off x="8318320" y="386204"/>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A</a:t>
            </a:r>
          </a:p>
        </p:txBody>
      </p:sp>
      <p:sp>
        <p:nvSpPr>
          <p:cNvPr id="131" name="TextBox 130">
            <a:extLst>
              <a:ext uri="{FF2B5EF4-FFF2-40B4-BE49-F238E27FC236}">
                <a16:creationId xmlns:a16="http://schemas.microsoft.com/office/drawing/2014/main" id="{F08C56B1-EB13-45C0-8F50-1D38673E3964}"/>
              </a:ext>
            </a:extLst>
          </p:cNvPr>
          <p:cNvSpPr txBox="1"/>
          <p:nvPr/>
        </p:nvSpPr>
        <p:spPr>
          <a:xfrm>
            <a:off x="11476468" y="400423"/>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B</a:t>
            </a:r>
          </a:p>
        </p:txBody>
      </p:sp>
      <p:sp>
        <p:nvSpPr>
          <p:cNvPr id="132" name="TextBox 131">
            <a:extLst>
              <a:ext uri="{FF2B5EF4-FFF2-40B4-BE49-F238E27FC236}">
                <a16:creationId xmlns:a16="http://schemas.microsoft.com/office/drawing/2014/main" id="{BE91EB33-9495-4523-A304-4B2E792EE6C4}"/>
              </a:ext>
            </a:extLst>
          </p:cNvPr>
          <p:cNvSpPr txBox="1"/>
          <p:nvPr/>
        </p:nvSpPr>
        <p:spPr>
          <a:xfrm>
            <a:off x="11483078" y="2325506"/>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C</a:t>
            </a:r>
          </a:p>
        </p:txBody>
      </p:sp>
      <p:sp>
        <p:nvSpPr>
          <p:cNvPr id="133" name="TextBox 132">
            <a:extLst>
              <a:ext uri="{FF2B5EF4-FFF2-40B4-BE49-F238E27FC236}">
                <a16:creationId xmlns:a16="http://schemas.microsoft.com/office/drawing/2014/main" id="{66591067-21B2-47F6-AD45-5BEF912BDDE6}"/>
              </a:ext>
            </a:extLst>
          </p:cNvPr>
          <p:cNvSpPr txBox="1"/>
          <p:nvPr/>
        </p:nvSpPr>
        <p:spPr>
          <a:xfrm>
            <a:off x="8325900" y="2319156"/>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D</a:t>
            </a:r>
          </a:p>
        </p:txBody>
      </p:sp>
      <p:sp>
        <p:nvSpPr>
          <p:cNvPr id="134" name="TextBox 133">
            <a:extLst>
              <a:ext uri="{FF2B5EF4-FFF2-40B4-BE49-F238E27FC236}">
                <a16:creationId xmlns:a16="http://schemas.microsoft.com/office/drawing/2014/main" id="{7A2F047F-7901-422A-AEB6-68A7956E2AD6}"/>
              </a:ext>
            </a:extLst>
          </p:cNvPr>
          <p:cNvSpPr txBox="1"/>
          <p:nvPr/>
        </p:nvSpPr>
        <p:spPr>
          <a:xfrm>
            <a:off x="9894375" y="1351109"/>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E</a:t>
            </a:r>
          </a:p>
        </p:txBody>
      </p:sp>
      <p:sp>
        <p:nvSpPr>
          <p:cNvPr id="135" name="TextBox 134">
            <a:extLst>
              <a:ext uri="{FF2B5EF4-FFF2-40B4-BE49-F238E27FC236}">
                <a16:creationId xmlns:a16="http://schemas.microsoft.com/office/drawing/2014/main" id="{D7CCA408-3852-4C54-85C3-347EEF86453E}"/>
              </a:ext>
            </a:extLst>
          </p:cNvPr>
          <p:cNvSpPr txBox="1"/>
          <p:nvPr/>
        </p:nvSpPr>
        <p:spPr>
          <a:xfrm>
            <a:off x="9902265" y="290730"/>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6</a:t>
            </a:r>
          </a:p>
        </p:txBody>
      </p:sp>
      <p:sp>
        <p:nvSpPr>
          <p:cNvPr id="136" name="TextBox 135">
            <a:extLst>
              <a:ext uri="{FF2B5EF4-FFF2-40B4-BE49-F238E27FC236}">
                <a16:creationId xmlns:a16="http://schemas.microsoft.com/office/drawing/2014/main" id="{29174FD1-B4AA-4357-8678-7A76B55AC813}"/>
              </a:ext>
            </a:extLst>
          </p:cNvPr>
          <p:cNvSpPr txBox="1"/>
          <p:nvPr/>
        </p:nvSpPr>
        <p:spPr>
          <a:xfrm>
            <a:off x="8210703" y="1347847"/>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4</a:t>
            </a:r>
          </a:p>
        </p:txBody>
      </p:sp>
      <p:sp>
        <p:nvSpPr>
          <p:cNvPr id="137" name="TextBox 136">
            <a:extLst>
              <a:ext uri="{FF2B5EF4-FFF2-40B4-BE49-F238E27FC236}">
                <a16:creationId xmlns:a16="http://schemas.microsoft.com/office/drawing/2014/main" id="{1D2BA152-88EB-4B1F-833A-026C2D8BF712}"/>
              </a:ext>
            </a:extLst>
          </p:cNvPr>
          <p:cNvSpPr txBox="1"/>
          <p:nvPr/>
        </p:nvSpPr>
        <p:spPr>
          <a:xfrm rot="1746466">
            <a:off x="9349986" y="839685"/>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4</a:t>
            </a:r>
          </a:p>
        </p:txBody>
      </p:sp>
      <p:sp>
        <p:nvSpPr>
          <p:cNvPr id="138" name="TextBox 137">
            <a:extLst>
              <a:ext uri="{FF2B5EF4-FFF2-40B4-BE49-F238E27FC236}">
                <a16:creationId xmlns:a16="http://schemas.microsoft.com/office/drawing/2014/main" id="{71852C81-1D4A-4B46-96A4-3E8FA1C69552}"/>
              </a:ext>
            </a:extLst>
          </p:cNvPr>
          <p:cNvSpPr txBox="1"/>
          <p:nvPr/>
        </p:nvSpPr>
        <p:spPr>
          <a:xfrm rot="19619130">
            <a:off x="9047734" y="1714091"/>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3</a:t>
            </a:r>
          </a:p>
        </p:txBody>
      </p:sp>
      <p:sp>
        <p:nvSpPr>
          <p:cNvPr id="139" name="TextBox 138">
            <a:extLst>
              <a:ext uri="{FF2B5EF4-FFF2-40B4-BE49-F238E27FC236}">
                <a16:creationId xmlns:a16="http://schemas.microsoft.com/office/drawing/2014/main" id="{19FD893F-8EA3-4FB5-958F-FC771A7EA2C3}"/>
              </a:ext>
            </a:extLst>
          </p:cNvPr>
          <p:cNvSpPr txBox="1"/>
          <p:nvPr/>
        </p:nvSpPr>
        <p:spPr>
          <a:xfrm rot="19577036">
            <a:off x="10459920" y="839685"/>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5</a:t>
            </a:r>
          </a:p>
        </p:txBody>
      </p:sp>
      <p:sp>
        <p:nvSpPr>
          <p:cNvPr id="140" name="TextBox 139">
            <a:extLst>
              <a:ext uri="{FF2B5EF4-FFF2-40B4-BE49-F238E27FC236}">
                <a16:creationId xmlns:a16="http://schemas.microsoft.com/office/drawing/2014/main" id="{5F079F19-0511-422E-A4EC-F969D9D5E49A}"/>
              </a:ext>
            </a:extLst>
          </p:cNvPr>
          <p:cNvSpPr txBox="1"/>
          <p:nvPr/>
        </p:nvSpPr>
        <p:spPr>
          <a:xfrm>
            <a:off x="9902265" y="2496757"/>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7</a:t>
            </a:r>
          </a:p>
        </p:txBody>
      </p:sp>
      <p:sp>
        <p:nvSpPr>
          <p:cNvPr id="141" name="TextBox 140">
            <a:extLst>
              <a:ext uri="{FF2B5EF4-FFF2-40B4-BE49-F238E27FC236}">
                <a16:creationId xmlns:a16="http://schemas.microsoft.com/office/drawing/2014/main" id="{4F3945A4-513F-4117-89D0-BF436DF9F8FA}"/>
              </a:ext>
            </a:extLst>
          </p:cNvPr>
          <p:cNvSpPr txBox="1"/>
          <p:nvPr/>
        </p:nvSpPr>
        <p:spPr>
          <a:xfrm>
            <a:off x="11346662" y="1415125"/>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2</a:t>
            </a:r>
          </a:p>
        </p:txBody>
      </p:sp>
      <p:sp>
        <p:nvSpPr>
          <p:cNvPr id="36" name="TextBox 35">
            <a:extLst>
              <a:ext uri="{FF2B5EF4-FFF2-40B4-BE49-F238E27FC236}">
                <a16:creationId xmlns:a16="http://schemas.microsoft.com/office/drawing/2014/main" id="{43EF5198-21C8-4ED8-B908-CB8D97DAFB69}"/>
              </a:ext>
            </a:extLst>
          </p:cNvPr>
          <p:cNvSpPr txBox="1"/>
          <p:nvPr/>
        </p:nvSpPr>
        <p:spPr>
          <a:xfrm>
            <a:off x="944146" y="1527944"/>
            <a:ext cx="2666562"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Các</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bước</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thực</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hiện</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37" name="TextBox 36">
            <a:extLst>
              <a:ext uri="{FF2B5EF4-FFF2-40B4-BE49-F238E27FC236}">
                <a16:creationId xmlns:a16="http://schemas.microsoft.com/office/drawing/2014/main" id="{1779715E-843D-4182-9CC8-A40A3B06D26D}"/>
              </a:ext>
            </a:extLst>
          </p:cNvPr>
          <p:cNvSpPr txBox="1"/>
          <p:nvPr/>
        </p:nvSpPr>
        <p:spPr>
          <a:xfrm>
            <a:off x="944147" y="2111752"/>
            <a:ext cx="331487" cy="369332"/>
          </a:xfrm>
          <a:prstGeom prst="rect">
            <a:avLst/>
          </a:prstGeom>
          <a:solidFill>
            <a:schemeClr val="bg1"/>
          </a:solidFill>
          <a:ln>
            <a:solidFill>
              <a:schemeClr val="bg1">
                <a:lumMod val="50000"/>
              </a:schemeClr>
            </a:solidFill>
          </a:ln>
        </p:spPr>
        <p:txBody>
          <a:bodyPr wrap="square" rtlCol="0">
            <a:spAutoFit/>
          </a:bodyPr>
          <a:lstStyle/>
          <a:p>
            <a:pPr algn="r"/>
            <a:r>
              <a:rPr lang="en-US" dirty="0">
                <a:latin typeface="JetBrains Mono Medium" panose="02000009000000000000" pitchFamily="49" charset="0"/>
                <a:cs typeface="JetBrains Mono Medium" panose="02000009000000000000" pitchFamily="49" charset="0"/>
              </a:rPr>
              <a:t>1</a:t>
            </a:r>
          </a:p>
        </p:txBody>
      </p:sp>
      <p:sp>
        <p:nvSpPr>
          <p:cNvPr id="38" name="TextBox 37">
            <a:extLst>
              <a:ext uri="{FF2B5EF4-FFF2-40B4-BE49-F238E27FC236}">
                <a16:creationId xmlns:a16="http://schemas.microsoft.com/office/drawing/2014/main" id="{118CED78-337D-47EA-812F-47028CD968F8}"/>
              </a:ext>
            </a:extLst>
          </p:cNvPr>
          <p:cNvSpPr txBox="1"/>
          <p:nvPr/>
        </p:nvSpPr>
        <p:spPr>
          <a:xfrm>
            <a:off x="1403861" y="2055574"/>
            <a:ext cx="6202458" cy="923330"/>
          </a:xfrm>
          <a:prstGeom prst="rect">
            <a:avLst/>
          </a:prstGeom>
          <a:noFill/>
        </p:spPr>
        <p:txBody>
          <a:bodyPr wrap="square" rtlCol="0">
            <a:spAutoFit/>
          </a:bodyPr>
          <a:lstStyle/>
          <a:p>
            <a:r>
              <a:rPr lang="en-US" i="1" dirty="0" err="1">
                <a:solidFill>
                  <a:srgbClr val="EBE9EB"/>
                </a:solidFill>
                <a:latin typeface="JetBrains Mono Light" panose="02000009000000000000" pitchFamily="49" charset="0"/>
                <a:cs typeface="JetBrains Mono Light" panose="02000009000000000000" pitchFamily="49" charset="0"/>
              </a:rPr>
              <a:t>Sắp</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xếp</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tăng</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dần</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trong</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số</a:t>
            </a:r>
            <a:r>
              <a:rPr lang="en-US" i="1" dirty="0">
                <a:solidFill>
                  <a:srgbClr val="EBE9EB"/>
                </a:solidFill>
                <a:latin typeface="JetBrains Mono Light" panose="02000009000000000000" pitchFamily="49" charset="0"/>
                <a:cs typeface="JetBrains Mono Light" panose="02000009000000000000" pitchFamily="49" charset="0"/>
              </a:rPr>
              <a:t> </a:t>
            </a:r>
          </a:p>
          <a:p>
            <a:r>
              <a:rPr lang="en-US" i="1" dirty="0">
                <a:solidFill>
                  <a:schemeClr val="bg1">
                    <a:lumMod val="50000"/>
                  </a:schemeClr>
                </a:solidFill>
                <a:latin typeface="JetBrains Mono Light" panose="02000009000000000000" pitchFamily="49" charset="0"/>
                <a:cs typeface="JetBrains Mono Light" panose="02000009000000000000" pitchFamily="49" charset="0"/>
              </a:rPr>
              <a:t>(</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Trường</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hợp</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trọng</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số</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bằng</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nhau</a:t>
            </a:r>
            <a:r>
              <a:rPr lang="en-US" i="1" dirty="0">
                <a:solidFill>
                  <a:schemeClr val="bg1">
                    <a:lumMod val="50000"/>
                  </a:schemeClr>
                </a:solidFill>
                <a:latin typeface="JetBrains Mono Light" panose="02000009000000000000" pitchFamily="49" charset="0"/>
                <a:cs typeface="JetBrains Mono Light" panose="02000009000000000000" pitchFamily="49" charset="0"/>
              </a:rPr>
              <a:t> ta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sắp</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xếp</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theo</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bảng</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chữ</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cái</a:t>
            </a:r>
            <a:r>
              <a:rPr lang="en-US" i="1" dirty="0">
                <a:solidFill>
                  <a:schemeClr val="bg1">
                    <a:lumMod val="50000"/>
                  </a:schemeClr>
                </a:solidFill>
                <a:latin typeface="JetBrains Mono Light" panose="02000009000000000000" pitchFamily="49" charset="0"/>
                <a:cs typeface="JetBrains Mono Light" panose="02000009000000000000" pitchFamily="49" charset="0"/>
              </a:rPr>
              <a:t>)</a:t>
            </a:r>
          </a:p>
        </p:txBody>
      </p:sp>
      <p:graphicFrame>
        <p:nvGraphicFramePr>
          <p:cNvPr id="39" name="Table 44">
            <a:extLst>
              <a:ext uri="{FF2B5EF4-FFF2-40B4-BE49-F238E27FC236}">
                <a16:creationId xmlns:a16="http://schemas.microsoft.com/office/drawing/2014/main" id="{B410F7F2-9B71-46E4-90CB-C79103700825}"/>
              </a:ext>
            </a:extLst>
          </p:cNvPr>
          <p:cNvGraphicFramePr>
            <a:graphicFrameLocks noGrp="1"/>
          </p:cNvGraphicFramePr>
          <p:nvPr>
            <p:extLst>
              <p:ext uri="{D42A27DB-BD31-4B8C-83A1-F6EECF244321}">
                <p14:modId xmlns:p14="http://schemas.microsoft.com/office/powerpoint/2010/main" val="345114462"/>
              </p:ext>
            </p:extLst>
          </p:nvPr>
        </p:nvGraphicFramePr>
        <p:xfrm>
          <a:off x="9816350" y="3153222"/>
          <a:ext cx="1889566" cy="3107556"/>
        </p:xfrm>
        <a:graphic>
          <a:graphicData uri="http://schemas.openxmlformats.org/drawingml/2006/table">
            <a:tbl>
              <a:tblPr firstRow="1" bandRow="1">
                <a:solidFill>
                  <a:schemeClr val="tx1"/>
                </a:solidFill>
                <a:tableStyleId>{5C22544A-7EE6-4342-B048-85BDC9FD1C3A}</a:tableStyleId>
              </a:tblPr>
              <a:tblGrid>
                <a:gridCol w="944783">
                  <a:extLst>
                    <a:ext uri="{9D8B030D-6E8A-4147-A177-3AD203B41FA5}">
                      <a16:colId xmlns:a16="http://schemas.microsoft.com/office/drawing/2014/main" val="3498000576"/>
                    </a:ext>
                  </a:extLst>
                </a:gridCol>
                <a:gridCol w="944783">
                  <a:extLst>
                    <a:ext uri="{9D8B030D-6E8A-4147-A177-3AD203B41FA5}">
                      <a16:colId xmlns:a16="http://schemas.microsoft.com/office/drawing/2014/main" val="1228846467"/>
                    </a:ext>
                  </a:extLst>
                </a:gridCol>
              </a:tblGrid>
              <a:tr h="389061">
                <a:tc>
                  <a:txBody>
                    <a:bodyPr/>
                    <a:lstStyle/>
                    <a:p>
                      <a:pPr algn="ctr"/>
                      <a:r>
                        <a:rPr lang="en-VN" sz="1600" b="0" i="1" dirty="0">
                          <a:solidFill>
                            <a:schemeClr val="bg1">
                              <a:lumMod val="50000"/>
                            </a:schemeClr>
                          </a:solidFill>
                          <a:latin typeface="JetBrains Mono Light" panose="02000009000000000000" pitchFamily="49" charset="0"/>
                          <a:cs typeface="JetBrains Mono Light" panose="02000009000000000000" pitchFamily="49" charset="0"/>
                        </a:rPr>
                        <a:t>Cạnh</a:t>
                      </a:r>
                    </a:p>
                  </a:txBody>
                  <a:tcPr>
                    <a:solidFill>
                      <a:schemeClr val="tx1"/>
                    </a:solidFill>
                  </a:tcPr>
                </a:tc>
                <a:tc>
                  <a:txBody>
                    <a:bodyPr/>
                    <a:lstStyle/>
                    <a:p>
                      <a:r>
                        <a:rPr lang="en-VN" sz="1600" b="0" i="1" dirty="0">
                          <a:solidFill>
                            <a:schemeClr val="bg1">
                              <a:lumMod val="50000"/>
                            </a:schemeClr>
                          </a:solidFill>
                          <a:latin typeface="JetBrains Mono Light" panose="02000009000000000000" pitchFamily="49" charset="0"/>
                          <a:cs typeface="JetBrains Mono Light" panose="02000009000000000000" pitchFamily="49" charset="0"/>
                        </a:rPr>
                        <a:t>Độ dài</a:t>
                      </a:r>
                    </a:p>
                  </a:txBody>
                  <a:tcPr>
                    <a:solidFill>
                      <a:schemeClr val="tx1"/>
                    </a:solidFill>
                  </a:tcPr>
                </a:tc>
                <a:extLst>
                  <a:ext uri="{0D108BD9-81ED-4DB2-BD59-A6C34878D82A}">
                    <a16:rowId xmlns:a16="http://schemas.microsoft.com/office/drawing/2014/main" val="3071426674"/>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BC</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2</a:t>
                      </a:r>
                    </a:p>
                  </a:txBody>
                  <a:tcPr>
                    <a:solidFill>
                      <a:schemeClr val="tx1"/>
                    </a:solidFill>
                  </a:tcPr>
                </a:tc>
                <a:extLst>
                  <a:ext uri="{0D108BD9-81ED-4DB2-BD59-A6C34878D82A}">
                    <a16:rowId xmlns:a16="http://schemas.microsoft.com/office/drawing/2014/main" val="1475990308"/>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DE</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3</a:t>
                      </a:r>
                    </a:p>
                  </a:txBody>
                  <a:tcPr>
                    <a:solidFill>
                      <a:schemeClr val="tx1"/>
                    </a:solidFill>
                  </a:tcPr>
                </a:tc>
                <a:extLst>
                  <a:ext uri="{0D108BD9-81ED-4DB2-BD59-A6C34878D82A}">
                    <a16:rowId xmlns:a16="http://schemas.microsoft.com/office/drawing/2014/main" val="1259891391"/>
                  </a:ext>
                </a:extLst>
              </a:tr>
              <a:tr h="374605">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AD</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4</a:t>
                      </a:r>
                    </a:p>
                  </a:txBody>
                  <a:tcPr>
                    <a:solidFill>
                      <a:schemeClr val="tx1"/>
                    </a:solidFill>
                  </a:tcPr>
                </a:tc>
                <a:extLst>
                  <a:ext uri="{0D108BD9-81ED-4DB2-BD59-A6C34878D82A}">
                    <a16:rowId xmlns:a16="http://schemas.microsoft.com/office/drawing/2014/main" val="67915146"/>
                  </a:ext>
                </a:extLst>
              </a:tr>
              <a:tr h="398585">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AE</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4</a:t>
                      </a:r>
                    </a:p>
                  </a:txBody>
                  <a:tcPr>
                    <a:solidFill>
                      <a:schemeClr val="tx1"/>
                    </a:solidFill>
                  </a:tcPr>
                </a:tc>
                <a:extLst>
                  <a:ext uri="{0D108BD9-81ED-4DB2-BD59-A6C34878D82A}">
                    <a16:rowId xmlns:a16="http://schemas.microsoft.com/office/drawing/2014/main" val="3006373338"/>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BE</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5</a:t>
                      </a:r>
                    </a:p>
                  </a:txBody>
                  <a:tcPr>
                    <a:solidFill>
                      <a:schemeClr val="tx1"/>
                    </a:solidFill>
                  </a:tcPr>
                </a:tc>
                <a:extLst>
                  <a:ext uri="{0D108BD9-81ED-4DB2-BD59-A6C34878D82A}">
                    <a16:rowId xmlns:a16="http://schemas.microsoft.com/office/drawing/2014/main" val="1788501585"/>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AB</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6</a:t>
                      </a:r>
                    </a:p>
                  </a:txBody>
                  <a:tcPr>
                    <a:solidFill>
                      <a:schemeClr val="tx1"/>
                    </a:solidFill>
                  </a:tcPr>
                </a:tc>
                <a:extLst>
                  <a:ext uri="{0D108BD9-81ED-4DB2-BD59-A6C34878D82A}">
                    <a16:rowId xmlns:a16="http://schemas.microsoft.com/office/drawing/2014/main" val="252512457"/>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CD</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7</a:t>
                      </a:r>
                    </a:p>
                  </a:txBody>
                  <a:tcPr>
                    <a:solidFill>
                      <a:schemeClr val="tx1"/>
                    </a:solidFill>
                  </a:tcPr>
                </a:tc>
                <a:extLst>
                  <a:ext uri="{0D108BD9-81ED-4DB2-BD59-A6C34878D82A}">
                    <a16:rowId xmlns:a16="http://schemas.microsoft.com/office/drawing/2014/main" val="1139305008"/>
                  </a:ext>
                </a:extLst>
              </a:tr>
            </a:tbl>
          </a:graphicData>
        </a:graphic>
      </p:graphicFrame>
      <p:sp>
        <p:nvSpPr>
          <p:cNvPr id="40" name="TextBox 39">
            <a:extLst>
              <a:ext uri="{FF2B5EF4-FFF2-40B4-BE49-F238E27FC236}">
                <a16:creationId xmlns:a16="http://schemas.microsoft.com/office/drawing/2014/main" id="{08A61B3D-8A0C-4F32-BB77-FD9767BC5F52}"/>
              </a:ext>
            </a:extLst>
          </p:cNvPr>
          <p:cNvSpPr txBox="1"/>
          <p:nvPr/>
        </p:nvSpPr>
        <p:spPr>
          <a:xfrm>
            <a:off x="8419023" y="3153222"/>
            <a:ext cx="1153825"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Dữ</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liệu</a:t>
            </a:r>
            <a:endParaRPr lang="en-US" dirty="0">
              <a:solidFill>
                <a:schemeClr val="bg1"/>
              </a:solidFill>
              <a:latin typeface="JetBrains Mono Regular" panose="02000009000000000000" pitchFamily="49" charset="0"/>
              <a:cs typeface="JetBrains Mono Regular" panose="02000009000000000000" pitchFamily="49" charset="0"/>
            </a:endParaRPr>
          </a:p>
        </p:txBody>
      </p:sp>
    </p:spTree>
    <p:extLst>
      <p:ext uri="{BB962C8B-B14F-4D97-AF65-F5344CB8AC3E}">
        <p14:creationId xmlns:p14="http://schemas.microsoft.com/office/powerpoint/2010/main" val="37923991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95ED7769-4A81-40FA-95EA-F07E81DF53F8}"/>
              </a:ext>
            </a:extLst>
          </p:cNvPr>
          <p:cNvSpPr>
            <a:spLocks noGrp="1"/>
          </p:cNvSpPr>
          <p:nvPr>
            <p:ph type="title"/>
          </p:nvPr>
        </p:nvSpPr>
        <p:spPr>
          <a:xfrm>
            <a:off x="838200" y="365125"/>
            <a:ext cx="10515600" cy="1325563"/>
          </a:xfrm>
        </p:spPr>
        <p:txBody>
          <a:bodyPr/>
          <a:lstStyle/>
          <a:p>
            <a:endParaRPr lang="en-US"/>
          </a:p>
        </p:txBody>
      </p:sp>
      <p:sp>
        <p:nvSpPr>
          <p:cNvPr id="19" name="Content Placeholder 2">
            <a:extLst>
              <a:ext uri="{FF2B5EF4-FFF2-40B4-BE49-F238E27FC236}">
                <a16:creationId xmlns:a16="http://schemas.microsoft.com/office/drawing/2014/main" id="{819FE16D-7B58-45E6-ADD0-06F3503270BB}"/>
              </a:ext>
            </a:extLst>
          </p:cNvPr>
          <p:cNvSpPr>
            <a:spLocks noGrp="1"/>
          </p:cNvSpPr>
          <p:nvPr>
            <p:ph idx="1"/>
          </p:nvPr>
        </p:nvSpPr>
        <p:spPr>
          <a:xfrm>
            <a:off x="838200" y="1825625"/>
            <a:ext cx="10515600" cy="4351338"/>
          </a:xfrm>
        </p:spPr>
        <p:txBody>
          <a:bodyPr/>
          <a:lstStyle/>
          <a:p>
            <a:endParaRPr lang="en-US"/>
          </a:p>
        </p:txBody>
      </p:sp>
      <p:sp>
        <p:nvSpPr>
          <p:cNvPr id="20" name="Rectangle 19">
            <a:extLst>
              <a:ext uri="{FF2B5EF4-FFF2-40B4-BE49-F238E27FC236}">
                <a16:creationId xmlns:a16="http://schemas.microsoft.com/office/drawing/2014/main" id="{D4135B46-AFEC-4B2C-A123-E15B19B5BCFB}"/>
              </a:ext>
            </a:extLst>
          </p:cNvPr>
          <p:cNvSpPr/>
          <p:nvPr/>
        </p:nvSpPr>
        <p:spPr>
          <a:xfrm>
            <a:off x="0" y="-4207"/>
            <a:ext cx="12192000" cy="68711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21" name="Credit MAIN">
            <a:extLst>
              <a:ext uri="{FF2B5EF4-FFF2-40B4-BE49-F238E27FC236}">
                <a16:creationId xmlns:a16="http://schemas.microsoft.com/office/drawing/2014/main" id="{953A4B7F-97A7-4FBF-9555-0DD151212CD1}"/>
              </a:ext>
            </a:extLst>
          </p:cNvPr>
          <p:cNvSpPr txBox="1"/>
          <p:nvPr/>
        </p:nvSpPr>
        <p:spPr>
          <a:xfrm>
            <a:off x="50878" y="6432004"/>
            <a:ext cx="2668876"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Phạm</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Văn</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Quyết</a:t>
            </a:r>
            <a:endParaRPr lang="en-US" dirty="0">
              <a:solidFill>
                <a:schemeClr val="bg1">
                  <a:lumMod val="95000"/>
                  <a:alpha val="46000"/>
                </a:schemeClr>
              </a:solidFill>
            </a:endParaRPr>
          </a:p>
        </p:txBody>
      </p:sp>
      <p:sp>
        <p:nvSpPr>
          <p:cNvPr id="22" name="Header">
            <a:extLst>
              <a:ext uri="{FF2B5EF4-FFF2-40B4-BE49-F238E27FC236}">
                <a16:creationId xmlns:a16="http://schemas.microsoft.com/office/drawing/2014/main" id="{FF1A7388-47F5-4DA6-ADF5-7DE96475307F}"/>
              </a:ext>
            </a:extLst>
          </p:cNvPr>
          <p:cNvSpPr txBox="1"/>
          <p:nvPr/>
        </p:nvSpPr>
        <p:spPr>
          <a:xfrm>
            <a:off x="50878" y="79574"/>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52" name="Rectangle 51">
            <a:extLst>
              <a:ext uri="{FF2B5EF4-FFF2-40B4-BE49-F238E27FC236}">
                <a16:creationId xmlns:a16="http://schemas.microsoft.com/office/drawing/2014/main" id="{B1DEA314-BD33-40A5-85C5-2A94FAB390CA}"/>
              </a:ext>
            </a:extLst>
          </p:cNvPr>
          <p:cNvSpPr/>
          <p:nvPr/>
        </p:nvSpPr>
        <p:spPr>
          <a:xfrm>
            <a:off x="591457" y="603227"/>
            <a:ext cx="4730637"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CB243EB8-6CAC-4AD4-A523-85CAE45F43CA}"/>
              </a:ext>
            </a:extLst>
          </p:cNvPr>
          <p:cNvSpPr txBox="1"/>
          <p:nvPr/>
        </p:nvSpPr>
        <p:spPr>
          <a:xfrm>
            <a:off x="603363" y="602701"/>
            <a:ext cx="4730637" cy="369332"/>
          </a:xfrm>
          <a:prstGeom prst="rect">
            <a:avLst/>
          </a:prstGeom>
          <a:no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Bài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toán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Cây</a:t>
            </a:r>
            <a:r>
              <a:rPr lang="en-US" dirty="0">
                <a:latin typeface="JetBrains Mono Regular" panose="02000009000000000000" pitchFamily="49" charset="0"/>
                <a:cs typeface="JetBrains Mono Regular" panose="02000009000000000000" pitchFamily="49" charset="0"/>
              </a:rPr>
              <a:t> bao </a:t>
            </a:r>
            <a:r>
              <a:rPr lang="en-US" dirty="0" err="1">
                <a:latin typeface="JetBrains Mono Regular" panose="02000009000000000000" pitchFamily="49" charset="0"/>
                <a:cs typeface="JetBrains Mono Regular" panose="02000009000000000000" pitchFamily="49" charset="0"/>
              </a:rPr>
              <a:t>trùm</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tối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thiểu</a:t>
            </a:r>
            <a:r>
              <a:rPr lang="en-US" dirty="0">
                <a:latin typeface="JetBrains Mono Regular" panose="02000009000000000000" pitchFamily="49" charset="0"/>
                <a:cs typeface="JetBrains Mono Regular" panose="02000009000000000000" pitchFamily="49" charset="0"/>
              </a:rPr>
              <a:t>”</a:t>
            </a:r>
          </a:p>
        </p:txBody>
      </p:sp>
      <p:sp>
        <p:nvSpPr>
          <p:cNvPr id="54" name="Footer: Part">
            <a:extLst>
              <a:ext uri="{FF2B5EF4-FFF2-40B4-BE49-F238E27FC236}">
                <a16:creationId xmlns:a16="http://schemas.microsoft.com/office/drawing/2014/main" id="{14C8B52B-D44A-4B71-9357-34B0DA68BD9D}"/>
              </a:ext>
            </a:extLst>
          </p:cNvPr>
          <p:cNvSpPr txBox="1"/>
          <p:nvPr/>
        </p:nvSpPr>
        <p:spPr>
          <a:xfrm>
            <a:off x="7455877" y="6464494"/>
            <a:ext cx="4764827" cy="369332"/>
          </a:xfrm>
          <a:prstGeom prst="rect">
            <a:avLst/>
          </a:prstGeom>
          <a:noFill/>
        </p:spPr>
        <p:txBody>
          <a:bodyPr wrap="square" rtlCol="0">
            <a:spAutoFit/>
          </a:bodyPr>
          <a:lstStyle/>
          <a:p>
            <a:r>
              <a:rPr lang="en-US" dirty="0" err="1">
                <a:solidFill>
                  <a:schemeClr val="bg1">
                    <a:lumMod val="95000"/>
                  </a:schemeClr>
                </a:solidFill>
                <a:latin typeface="JetBrains Mono Regular" panose="02000009000000000000" pitchFamily="49" charset="0"/>
                <a:cs typeface="JetBrains Mono Regular" panose="02000009000000000000" pitchFamily="49" charset="0"/>
              </a:rPr>
              <a:t>Bài</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toán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a:solidFill>
                  <a:schemeClr val="bg1">
                    <a:lumMod val="95000"/>
                  </a:schemeClr>
                </a:solidFill>
                <a:latin typeface="JetBrains Mono Light" panose="02000009000000000000" pitchFamily="49" charset="0"/>
                <a:cs typeface="JetBrains Mono Light" panose="02000009000000000000" pitchFamily="49" charset="0"/>
              </a:rPr>
              <a:t>“</a:t>
            </a:r>
            <a:r>
              <a:rPr lang="en-US" dirty="0" err="1">
                <a:solidFill>
                  <a:schemeClr val="bg1">
                    <a:lumMod val="95000"/>
                  </a:schemeClr>
                </a:solidFill>
                <a:latin typeface="JetBrains Mono Light" panose="02000009000000000000" pitchFamily="49" charset="0"/>
                <a:cs typeface="JetBrains Mono Light" panose="02000009000000000000" pitchFamily="49" charset="0"/>
              </a:rPr>
              <a:t>Cây</a:t>
            </a:r>
            <a:r>
              <a:rPr lang="en-US" dirty="0">
                <a:solidFill>
                  <a:schemeClr val="bg1">
                    <a:lumMod val="95000"/>
                  </a:schemeClr>
                </a:solidFill>
                <a:latin typeface="JetBrains Mono Light" panose="02000009000000000000" pitchFamily="49" charset="0"/>
                <a:cs typeface="JetBrains Mono Light" panose="02000009000000000000" pitchFamily="49" charset="0"/>
              </a:rPr>
              <a:t> bao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trùm</a:t>
            </a:r>
            <a:r>
              <a:rPr lang="en-US" dirty="0">
                <a:solidFill>
                  <a:schemeClr val="bg1">
                    <a:lumMod val="95000"/>
                  </a:schemeClr>
                </a:solidFill>
                <a:latin typeface="JetBrains Mono Light" panose="02000009000000000000" pitchFamily="49" charset="0"/>
                <a:cs typeface="JetBrains Mono Light" panose="02000009000000000000" pitchFamily="49" charset="0"/>
              </a:rPr>
              <a:t>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tối</a:t>
            </a:r>
            <a:r>
              <a:rPr lang="en-US" dirty="0">
                <a:solidFill>
                  <a:schemeClr val="bg1">
                    <a:lumMod val="95000"/>
                  </a:schemeClr>
                </a:solidFill>
                <a:latin typeface="JetBrains Mono Light" panose="02000009000000000000" pitchFamily="49" charset="0"/>
                <a:cs typeface="JetBrains Mono Light" panose="02000009000000000000" pitchFamily="49" charset="0"/>
              </a:rPr>
              <a:t>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thiểu</a:t>
            </a:r>
            <a:r>
              <a:rPr lang="en-US" dirty="0">
                <a:solidFill>
                  <a:schemeClr val="bg1">
                    <a:lumMod val="85000"/>
                  </a:schemeClr>
                </a:solidFill>
                <a:latin typeface="JetBrains Mono Light" panose="02000009000000000000"/>
                <a:cs typeface="JetBrains Mono" panose="02000009000000000000" pitchFamily="49" charset="0"/>
              </a:rPr>
              <a:t>”</a:t>
            </a:r>
          </a:p>
        </p:txBody>
      </p:sp>
      <p:sp>
        <p:nvSpPr>
          <p:cNvPr id="55" name="Footer: Title">
            <a:extLst>
              <a:ext uri="{FF2B5EF4-FFF2-40B4-BE49-F238E27FC236}">
                <a16:creationId xmlns:a16="http://schemas.microsoft.com/office/drawing/2014/main" id="{BF7B329F-BBD4-4CE5-92B8-228711FCE729}"/>
              </a:ext>
            </a:extLst>
          </p:cNvPr>
          <p:cNvSpPr txBox="1"/>
          <p:nvPr/>
        </p:nvSpPr>
        <p:spPr>
          <a:xfrm>
            <a:off x="6342196" y="6469576"/>
            <a:ext cx="1215645"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a:t>
            </a:r>
          </a:p>
        </p:txBody>
      </p:sp>
      <p:sp>
        <p:nvSpPr>
          <p:cNvPr id="56" name="PAGE NUM 0">
            <a:extLst>
              <a:ext uri="{FF2B5EF4-FFF2-40B4-BE49-F238E27FC236}">
                <a16:creationId xmlns:a16="http://schemas.microsoft.com/office/drawing/2014/main" id="{C5FCBFDC-7226-4A48-ACEF-DE591BDFD048}"/>
              </a:ext>
            </a:extLst>
          </p:cNvPr>
          <p:cNvSpPr txBox="1"/>
          <p:nvPr/>
        </p:nvSpPr>
        <p:spPr>
          <a:xfrm>
            <a:off x="11599908" y="-510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4</a:t>
            </a:r>
          </a:p>
        </p:txBody>
      </p:sp>
      <p:sp>
        <p:nvSpPr>
          <p:cNvPr id="57" name="PAGE NUM 1">
            <a:extLst>
              <a:ext uri="{FF2B5EF4-FFF2-40B4-BE49-F238E27FC236}">
                <a16:creationId xmlns:a16="http://schemas.microsoft.com/office/drawing/2014/main" id="{1B771E83-B986-46D4-B444-3C2D5BBE760A}"/>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9</a:t>
            </a:r>
            <a:endParaRPr lang="en-US" dirty="0"/>
          </a:p>
        </p:txBody>
      </p:sp>
      <p:sp>
        <p:nvSpPr>
          <p:cNvPr id="60" name="TextBox 59">
            <a:extLst>
              <a:ext uri="{FF2B5EF4-FFF2-40B4-BE49-F238E27FC236}">
                <a16:creationId xmlns:a16="http://schemas.microsoft.com/office/drawing/2014/main" id="{6A406B24-D2F2-47E9-9DF4-A56A04DB1F3F}"/>
              </a:ext>
            </a:extLst>
          </p:cNvPr>
          <p:cNvSpPr txBox="1"/>
          <p:nvPr/>
        </p:nvSpPr>
        <p:spPr>
          <a:xfrm>
            <a:off x="944147" y="1080234"/>
            <a:ext cx="1775608" cy="369332"/>
          </a:xfrm>
          <a:prstGeom prst="rect">
            <a:avLst/>
          </a:prstGeom>
          <a:noFill/>
          <a:ln>
            <a:no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Phương</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pháp</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61" name="TextBox 60">
            <a:extLst>
              <a:ext uri="{FF2B5EF4-FFF2-40B4-BE49-F238E27FC236}">
                <a16:creationId xmlns:a16="http://schemas.microsoft.com/office/drawing/2014/main" id="{167C7D15-0577-4998-899C-E9DE54EF8906}"/>
              </a:ext>
            </a:extLst>
          </p:cNvPr>
          <p:cNvSpPr txBox="1"/>
          <p:nvPr/>
        </p:nvSpPr>
        <p:spPr>
          <a:xfrm>
            <a:off x="2664872" y="1092325"/>
            <a:ext cx="3305415" cy="369332"/>
          </a:xfrm>
          <a:prstGeom prst="rect">
            <a:avLst/>
          </a:prstGeom>
          <a:noFill/>
        </p:spPr>
        <p:txBody>
          <a:bodyPr wrap="square" rtlCol="0">
            <a:spAutoFit/>
          </a:bodyPr>
          <a:lstStyle/>
          <a:p>
            <a:pPr marL="285750" indent="-285750">
              <a:buFont typeface="Arial" panose="020B0604020202020204" pitchFamily="34" charset="0"/>
              <a:buChar char="•"/>
            </a:pP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Thuật</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toán</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Kruksal</a:t>
            </a:r>
            <a:endParaRPr lang="en-US" i="1" dirty="0">
              <a:latin typeface="JetBrains Mono ExtraLight" panose="02000009000000000000" pitchFamily="49" charset="0"/>
              <a:cs typeface="JetBrains Mono ExtraLight" panose="02000009000000000000" pitchFamily="49" charset="0"/>
            </a:endParaRPr>
          </a:p>
        </p:txBody>
      </p:sp>
      <p:sp>
        <p:nvSpPr>
          <p:cNvPr id="122" name="Rectangle 121">
            <a:extLst>
              <a:ext uri="{FF2B5EF4-FFF2-40B4-BE49-F238E27FC236}">
                <a16:creationId xmlns:a16="http://schemas.microsoft.com/office/drawing/2014/main" id="{D8B6D1F9-F8EE-4613-A4E1-A32D434D25D4}"/>
              </a:ext>
            </a:extLst>
          </p:cNvPr>
          <p:cNvSpPr/>
          <p:nvPr/>
        </p:nvSpPr>
        <p:spPr>
          <a:xfrm>
            <a:off x="8477627" y="567729"/>
            <a:ext cx="3163614" cy="192339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cxnSp>
        <p:nvCxnSpPr>
          <p:cNvPr id="123" name="Straight Connector 122">
            <a:extLst>
              <a:ext uri="{FF2B5EF4-FFF2-40B4-BE49-F238E27FC236}">
                <a16:creationId xmlns:a16="http://schemas.microsoft.com/office/drawing/2014/main" id="{8CE26FC3-3745-4488-8698-61FA100A4647}"/>
              </a:ext>
            </a:extLst>
          </p:cNvPr>
          <p:cNvCxnSpPr>
            <a:cxnSpLocks/>
          </p:cNvCxnSpPr>
          <p:nvPr/>
        </p:nvCxnSpPr>
        <p:spPr>
          <a:xfrm flipH="1">
            <a:off x="8477627" y="567729"/>
            <a:ext cx="3163614" cy="19233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FD319138-4E57-4BE7-A509-96C0AB69D955}"/>
              </a:ext>
            </a:extLst>
          </p:cNvPr>
          <p:cNvCxnSpPr>
            <a:cxnSpLocks/>
          </p:cNvCxnSpPr>
          <p:nvPr/>
        </p:nvCxnSpPr>
        <p:spPr>
          <a:xfrm>
            <a:off x="8549432" y="660062"/>
            <a:ext cx="1503676" cy="915530"/>
          </a:xfrm>
          <a:prstGeom prst="line">
            <a:avLst/>
          </a:prstGeom>
        </p:spPr>
        <p:style>
          <a:lnRef idx="1">
            <a:schemeClr val="accent1"/>
          </a:lnRef>
          <a:fillRef idx="0">
            <a:schemeClr val="accent1"/>
          </a:fillRef>
          <a:effectRef idx="0">
            <a:schemeClr val="accent1"/>
          </a:effectRef>
          <a:fontRef idx="minor">
            <a:schemeClr val="tx1"/>
          </a:fontRef>
        </p:style>
      </p:cxnSp>
      <p:sp>
        <p:nvSpPr>
          <p:cNvPr id="125" name="Oval 124">
            <a:extLst>
              <a:ext uri="{FF2B5EF4-FFF2-40B4-BE49-F238E27FC236}">
                <a16:creationId xmlns:a16="http://schemas.microsoft.com/office/drawing/2014/main" id="{C930B661-BE56-43C7-B3B7-5D3A7F48F1EB}"/>
              </a:ext>
            </a:extLst>
          </p:cNvPr>
          <p:cNvSpPr/>
          <p:nvPr/>
        </p:nvSpPr>
        <p:spPr>
          <a:xfrm>
            <a:off x="8363327" y="453429"/>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dirty="0">
              <a:solidFill>
                <a:srgbClr val="EBE9EB"/>
              </a:solidFill>
            </a:endParaRPr>
          </a:p>
        </p:txBody>
      </p:sp>
      <p:sp>
        <p:nvSpPr>
          <p:cNvPr id="126" name="Oval 125">
            <a:extLst>
              <a:ext uri="{FF2B5EF4-FFF2-40B4-BE49-F238E27FC236}">
                <a16:creationId xmlns:a16="http://schemas.microsoft.com/office/drawing/2014/main" id="{B5CC2B85-CA03-4E20-932F-6A026CF3B1ED}"/>
              </a:ext>
            </a:extLst>
          </p:cNvPr>
          <p:cNvSpPr/>
          <p:nvPr/>
        </p:nvSpPr>
        <p:spPr>
          <a:xfrm>
            <a:off x="11512590" y="458541"/>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27" name="Oval 126">
            <a:extLst>
              <a:ext uri="{FF2B5EF4-FFF2-40B4-BE49-F238E27FC236}">
                <a16:creationId xmlns:a16="http://schemas.microsoft.com/office/drawing/2014/main" id="{57B94AEC-5ECC-46A0-B04E-66BE78CB8661}"/>
              </a:ext>
            </a:extLst>
          </p:cNvPr>
          <p:cNvSpPr/>
          <p:nvPr/>
        </p:nvSpPr>
        <p:spPr>
          <a:xfrm>
            <a:off x="9945134" y="1415125"/>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28" name="Oval 127">
            <a:extLst>
              <a:ext uri="{FF2B5EF4-FFF2-40B4-BE49-F238E27FC236}">
                <a16:creationId xmlns:a16="http://schemas.microsoft.com/office/drawing/2014/main" id="{AEF8CDE2-6392-4101-AEB3-477C219D2EE3}"/>
              </a:ext>
            </a:extLst>
          </p:cNvPr>
          <p:cNvSpPr/>
          <p:nvPr/>
        </p:nvSpPr>
        <p:spPr>
          <a:xfrm>
            <a:off x="8363327" y="2376822"/>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29" name="Oval 128">
            <a:extLst>
              <a:ext uri="{FF2B5EF4-FFF2-40B4-BE49-F238E27FC236}">
                <a16:creationId xmlns:a16="http://schemas.microsoft.com/office/drawing/2014/main" id="{26D249FB-C190-4EAC-A57E-9E1768D9CFCA}"/>
              </a:ext>
            </a:extLst>
          </p:cNvPr>
          <p:cNvSpPr/>
          <p:nvPr/>
        </p:nvSpPr>
        <p:spPr>
          <a:xfrm>
            <a:off x="11534049" y="2381143"/>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30" name="TextBox 129">
            <a:extLst>
              <a:ext uri="{FF2B5EF4-FFF2-40B4-BE49-F238E27FC236}">
                <a16:creationId xmlns:a16="http://schemas.microsoft.com/office/drawing/2014/main" id="{CDBB6146-6029-49C7-9810-0C41172112B9}"/>
              </a:ext>
            </a:extLst>
          </p:cNvPr>
          <p:cNvSpPr txBox="1"/>
          <p:nvPr/>
        </p:nvSpPr>
        <p:spPr>
          <a:xfrm>
            <a:off x="8318320" y="386204"/>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A</a:t>
            </a:r>
          </a:p>
        </p:txBody>
      </p:sp>
      <p:sp>
        <p:nvSpPr>
          <p:cNvPr id="131" name="TextBox 130">
            <a:extLst>
              <a:ext uri="{FF2B5EF4-FFF2-40B4-BE49-F238E27FC236}">
                <a16:creationId xmlns:a16="http://schemas.microsoft.com/office/drawing/2014/main" id="{F08C56B1-EB13-45C0-8F50-1D38673E3964}"/>
              </a:ext>
            </a:extLst>
          </p:cNvPr>
          <p:cNvSpPr txBox="1"/>
          <p:nvPr/>
        </p:nvSpPr>
        <p:spPr>
          <a:xfrm>
            <a:off x="11476468" y="400423"/>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B</a:t>
            </a:r>
          </a:p>
        </p:txBody>
      </p:sp>
      <p:sp>
        <p:nvSpPr>
          <p:cNvPr id="132" name="TextBox 131">
            <a:extLst>
              <a:ext uri="{FF2B5EF4-FFF2-40B4-BE49-F238E27FC236}">
                <a16:creationId xmlns:a16="http://schemas.microsoft.com/office/drawing/2014/main" id="{BE91EB33-9495-4523-A304-4B2E792EE6C4}"/>
              </a:ext>
            </a:extLst>
          </p:cNvPr>
          <p:cNvSpPr txBox="1"/>
          <p:nvPr/>
        </p:nvSpPr>
        <p:spPr>
          <a:xfrm>
            <a:off x="11483078" y="2325506"/>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C</a:t>
            </a:r>
          </a:p>
        </p:txBody>
      </p:sp>
      <p:sp>
        <p:nvSpPr>
          <p:cNvPr id="133" name="TextBox 132">
            <a:extLst>
              <a:ext uri="{FF2B5EF4-FFF2-40B4-BE49-F238E27FC236}">
                <a16:creationId xmlns:a16="http://schemas.microsoft.com/office/drawing/2014/main" id="{66591067-21B2-47F6-AD45-5BEF912BDDE6}"/>
              </a:ext>
            </a:extLst>
          </p:cNvPr>
          <p:cNvSpPr txBox="1"/>
          <p:nvPr/>
        </p:nvSpPr>
        <p:spPr>
          <a:xfrm>
            <a:off x="8325900" y="2319156"/>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D</a:t>
            </a:r>
          </a:p>
        </p:txBody>
      </p:sp>
      <p:sp>
        <p:nvSpPr>
          <p:cNvPr id="134" name="TextBox 133">
            <a:extLst>
              <a:ext uri="{FF2B5EF4-FFF2-40B4-BE49-F238E27FC236}">
                <a16:creationId xmlns:a16="http://schemas.microsoft.com/office/drawing/2014/main" id="{7A2F047F-7901-422A-AEB6-68A7956E2AD6}"/>
              </a:ext>
            </a:extLst>
          </p:cNvPr>
          <p:cNvSpPr txBox="1"/>
          <p:nvPr/>
        </p:nvSpPr>
        <p:spPr>
          <a:xfrm>
            <a:off x="9894375" y="1351109"/>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E</a:t>
            </a:r>
          </a:p>
        </p:txBody>
      </p:sp>
      <p:sp>
        <p:nvSpPr>
          <p:cNvPr id="135" name="TextBox 134">
            <a:extLst>
              <a:ext uri="{FF2B5EF4-FFF2-40B4-BE49-F238E27FC236}">
                <a16:creationId xmlns:a16="http://schemas.microsoft.com/office/drawing/2014/main" id="{D7CCA408-3852-4C54-85C3-347EEF86453E}"/>
              </a:ext>
            </a:extLst>
          </p:cNvPr>
          <p:cNvSpPr txBox="1"/>
          <p:nvPr/>
        </p:nvSpPr>
        <p:spPr>
          <a:xfrm>
            <a:off x="9902265" y="290730"/>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6</a:t>
            </a:r>
          </a:p>
        </p:txBody>
      </p:sp>
      <p:sp>
        <p:nvSpPr>
          <p:cNvPr id="136" name="TextBox 135">
            <a:extLst>
              <a:ext uri="{FF2B5EF4-FFF2-40B4-BE49-F238E27FC236}">
                <a16:creationId xmlns:a16="http://schemas.microsoft.com/office/drawing/2014/main" id="{29174FD1-B4AA-4357-8678-7A76B55AC813}"/>
              </a:ext>
            </a:extLst>
          </p:cNvPr>
          <p:cNvSpPr txBox="1"/>
          <p:nvPr/>
        </p:nvSpPr>
        <p:spPr>
          <a:xfrm>
            <a:off x="8210703" y="1347847"/>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4</a:t>
            </a:r>
          </a:p>
        </p:txBody>
      </p:sp>
      <p:sp>
        <p:nvSpPr>
          <p:cNvPr id="137" name="TextBox 136">
            <a:extLst>
              <a:ext uri="{FF2B5EF4-FFF2-40B4-BE49-F238E27FC236}">
                <a16:creationId xmlns:a16="http://schemas.microsoft.com/office/drawing/2014/main" id="{1D2BA152-88EB-4B1F-833A-026C2D8BF712}"/>
              </a:ext>
            </a:extLst>
          </p:cNvPr>
          <p:cNvSpPr txBox="1"/>
          <p:nvPr/>
        </p:nvSpPr>
        <p:spPr>
          <a:xfrm rot="1746466">
            <a:off x="9349986" y="839685"/>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4</a:t>
            </a:r>
          </a:p>
        </p:txBody>
      </p:sp>
      <p:sp>
        <p:nvSpPr>
          <p:cNvPr id="138" name="TextBox 137">
            <a:extLst>
              <a:ext uri="{FF2B5EF4-FFF2-40B4-BE49-F238E27FC236}">
                <a16:creationId xmlns:a16="http://schemas.microsoft.com/office/drawing/2014/main" id="{71852C81-1D4A-4B46-96A4-3E8FA1C69552}"/>
              </a:ext>
            </a:extLst>
          </p:cNvPr>
          <p:cNvSpPr txBox="1"/>
          <p:nvPr/>
        </p:nvSpPr>
        <p:spPr>
          <a:xfrm rot="19619130">
            <a:off x="9047734" y="1714091"/>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3</a:t>
            </a:r>
          </a:p>
        </p:txBody>
      </p:sp>
      <p:sp>
        <p:nvSpPr>
          <p:cNvPr id="139" name="TextBox 138">
            <a:extLst>
              <a:ext uri="{FF2B5EF4-FFF2-40B4-BE49-F238E27FC236}">
                <a16:creationId xmlns:a16="http://schemas.microsoft.com/office/drawing/2014/main" id="{19FD893F-8EA3-4FB5-958F-FC771A7EA2C3}"/>
              </a:ext>
            </a:extLst>
          </p:cNvPr>
          <p:cNvSpPr txBox="1"/>
          <p:nvPr/>
        </p:nvSpPr>
        <p:spPr>
          <a:xfrm rot="19577036">
            <a:off x="10459920" y="839685"/>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5</a:t>
            </a:r>
          </a:p>
        </p:txBody>
      </p:sp>
      <p:sp>
        <p:nvSpPr>
          <p:cNvPr id="140" name="TextBox 139">
            <a:extLst>
              <a:ext uri="{FF2B5EF4-FFF2-40B4-BE49-F238E27FC236}">
                <a16:creationId xmlns:a16="http://schemas.microsoft.com/office/drawing/2014/main" id="{5F079F19-0511-422E-A4EC-F969D9D5E49A}"/>
              </a:ext>
            </a:extLst>
          </p:cNvPr>
          <p:cNvSpPr txBox="1"/>
          <p:nvPr/>
        </p:nvSpPr>
        <p:spPr>
          <a:xfrm>
            <a:off x="9902265" y="2496757"/>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7</a:t>
            </a:r>
          </a:p>
        </p:txBody>
      </p:sp>
      <p:sp>
        <p:nvSpPr>
          <p:cNvPr id="141" name="TextBox 140">
            <a:extLst>
              <a:ext uri="{FF2B5EF4-FFF2-40B4-BE49-F238E27FC236}">
                <a16:creationId xmlns:a16="http://schemas.microsoft.com/office/drawing/2014/main" id="{4F3945A4-513F-4117-89D0-BF436DF9F8FA}"/>
              </a:ext>
            </a:extLst>
          </p:cNvPr>
          <p:cNvSpPr txBox="1"/>
          <p:nvPr/>
        </p:nvSpPr>
        <p:spPr>
          <a:xfrm>
            <a:off x="11346662" y="1415125"/>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2</a:t>
            </a:r>
          </a:p>
        </p:txBody>
      </p:sp>
      <p:sp>
        <p:nvSpPr>
          <p:cNvPr id="36" name="TextBox 35">
            <a:extLst>
              <a:ext uri="{FF2B5EF4-FFF2-40B4-BE49-F238E27FC236}">
                <a16:creationId xmlns:a16="http://schemas.microsoft.com/office/drawing/2014/main" id="{43EF5198-21C8-4ED8-B908-CB8D97DAFB69}"/>
              </a:ext>
            </a:extLst>
          </p:cNvPr>
          <p:cNvSpPr txBox="1"/>
          <p:nvPr/>
        </p:nvSpPr>
        <p:spPr>
          <a:xfrm>
            <a:off x="944146" y="1527944"/>
            <a:ext cx="2666562"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Các</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bước</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thực</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hiện</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37" name="TextBox 36">
            <a:extLst>
              <a:ext uri="{FF2B5EF4-FFF2-40B4-BE49-F238E27FC236}">
                <a16:creationId xmlns:a16="http://schemas.microsoft.com/office/drawing/2014/main" id="{1779715E-843D-4182-9CC8-A40A3B06D26D}"/>
              </a:ext>
            </a:extLst>
          </p:cNvPr>
          <p:cNvSpPr txBox="1"/>
          <p:nvPr/>
        </p:nvSpPr>
        <p:spPr>
          <a:xfrm>
            <a:off x="944147" y="2111752"/>
            <a:ext cx="331487" cy="369332"/>
          </a:xfrm>
          <a:prstGeom prst="rect">
            <a:avLst/>
          </a:prstGeom>
          <a:noFill/>
          <a:ln>
            <a:solidFill>
              <a:schemeClr val="bg1">
                <a:lumMod val="50000"/>
              </a:schemeClr>
            </a:solid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1</a:t>
            </a:r>
          </a:p>
        </p:txBody>
      </p:sp>
      <p:sp>
        <p:nvSpPr>
          <p:cNvPr id="38" name="TextBox 37">
            <a:extLst>
              <a:ext uri="{FF2B5EF4-FFF2-40B4-BE49-F238E27FC236}">
                <a16:creationId xmlns:a16="http://schemas.microsoft.com/office/drawing/2014/main" id="{118CED78-337D-47EA-812F-47028CD968F8}"/>
              </a:ext>
            </a:extLst>
          </p:cNvPr>
          <p:cNvSpPr txBox="1"/>
          <p:nvPr/>
        </p:nvSpPr>
        <p:spPr>
          <a:xfrm>
            <a:off x="1403861" y="2055574"/>
            <a:ext cx="6202458" cy="923330"/>
          </a:xfrm>
          <a:prstGeom prst="rect">
            <a:avLst/>
          </a:prstGeom>
          <a:noFill/>
        </p:spPr>
        <p:txBody>
          <a:bodyPr wrap="square" rtlCol="0">
            <a:spAutoFit/>
          </a:bodyPr>
          <a:lstStyle/>
          <a:p>
            <a:r>
              <a:rPr lang="en-US" i="1" dirty="0" err="1">
                <a:solidFill>
                  <a:srgbClr val="EBE9EB"/>
                </a:solidFill>
                <a:latin typeface="JetBrains Mono Light" panose="02000009000000000000" pitchFamily="49" charset="0"/>
                <a:cs typeface="JetBrains Mono Light" panose="02000009000000000000" pitchFamily="49" charset="0"/>
              </a:rPr>
              <a:t>Sắp</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xếp</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tăng</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dần</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trong</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số</a:t>
            </a:r>
            <a:r>
              <a:rPr lang="en-US" i="1" dirty="0">
                <a:solidFill>
                  <a:srgbClr val="EBE9EB"/>
                </a:solidFill>
                <a:latin typeface="JetBrains Mono Light" panose="02000009000000000000" pitchFamily="49" charset="0"/>
                <a:cs typeface="JetBrains Mono Light" panose="02000009000000000000" pitchFamily="49" charset="0"/>
              </a:rPr>
              <a:t> </a:t>
            </a:r>
          </a:p>
          <a:p>
            <a:r>
              <a:rPr lang="en-US" i="1" dirty="0">
                <a:solidFill>
                  <a:schemeClr val="bg1">
                    <a:lumMod val="50000"/>
                  </a:schemeClr>
                </a:solidFill>
                <a:latin typeface="JetBrains Mono Light" panose="02000009000000000000" pitchFamily="49" charset="0"/>
                <a:cs typeface="JetBrains Mono Light" panose="02000009000000000000" pitchFamily="49" charset="0"/>
              </a:rPr>
              <a:t>(</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Trường</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hợp</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trọng</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số</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bằng</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nhau</a:t>
            </a:r>
            <a:r>
              <a:rPr lang="en-US" i="1" dirty="0">
                <a:solidFill>
                  <a:schemeClr val="bg1">
                    <a:lumMod val="50000"/>
                  </a:schemeClr>
                </a:solidFill>
                <a:latin typeface="JetBrains Mono Light" panose="02000009000000000000" pitchFamily="49" charset="0"/>
                <a:cs typeface="JetBrains Mono Light" panose="02000009000000000000" pitchFamily="49" charset="0"/>
              </a:rPr>
              <a:t> ta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sắp</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xếp</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theo</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bảng</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chữ</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cái</a:t>
            </a:r>
            <a:r>
              <a:rPr lang="en-US" i="1" dirty="0">
                <a:solidFill>
                  <a:schemeClr val="bg1">
                    <a:lumMod val="50000"/>
                  </a:schemeClr>
                </a:solidFill>
                <a:latin typeface="JetBrains Mono Light" panose="02000009000000000000" pitchFamily="49" charset="0"/>
                <a:cs typeface="JetBrains Mono Light" panose="02000009000000000000" pitchFamily="49" charset="0"/>
              </a:rPr>
              <a:t>)</a:t>
            </a:r>
          </a:p>
        </p:txBody>
      </p:sp>
      <p:sp>
        <p:nvSpPr>
          <p:cNvPr id="39" name="PAGE NUM 1">
            <a:extLst>
              <a:ext uri="{FF2B5EF4-FFF2-40B4-BE49-F238E27FC236}">
                <a16:creationId xmlns:a16="http://schemas.microsoft.com/office/drawing/2014/main" id="{1F608334-08F4-44E7-BDB2-8FEA49683F8B}"/>
              </a:ext>
            </a:extLst>
          </p:cNvPr>
          <p:cNvSpPr txBox="1"/>
          <p:nvPr/>
        </p:nvSpPr>
        <p:spPr>
          <a:xfrm>
            <a:off x="11883839" y="-351080"/>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0</a:t>
            </a:r>
            <a:endParaRPr lang="en-US" dirty="0"/>
          </a:p>
        </p:txBody>
      </p:sp>
      <p:sp>
        <p:nvSpPr>
          <p:cNvPr id="40" name="TextBox 39">
            <a:extLst>
              <a:ext uri="{FF2B5EF4-FFF2-40B4-BE49-F238E27FC236}">
                <a16:creationId xmlns:a16="http://schemas.microsoft.com/office/drawing/2014/main" id="{D2411675-7DA8-43A0-8006-0EDA655AE32F}"/>
              </a:ext>
            </a:extLst>
          </p:cNvPr>
          <p:cNvSpPr txBox="1"/>
          <p:nvPr/>
        </p:nvSpPr>
        <p:spPr>
          <a:xfrm>
            <a:off x="944146" y="3113841"/>
            <a:ext cx="331487" cy="369332"/>
          </a:xfrm>
          <a:prstGeom prst="rect">
            <a:avLst/>
          </a:prstGeom>
          <a:solidFill>
            <a:schemeClr val="bg1"/>
          </a:solidFill>
          <a:ln>
            <a:solidFill>
              <a:schemeClr val="bg1">
                <a:lumMod val="50000"/>
              </a:schemeClr>
            </a:solidFill>
          </a:ln>
        </p:spPr>
        <p:txBody>
          <a:bodyPr wrap="square" rtlCol="0">
            <a:spAutoFit/>
          </a:bodyPr>
          <a:lstStyle/>
          <a:p>
            <a:pPr algn="r"/>
            <a:r>
              <a:rPr lang="en-US" dirty="0">
                <a:latin typeface="JetBrains Mono Medium" panose="02000009000000000000" pitchFamily="49" charset="0"/>
                <a:cs typeface="JetBrains Mono Medium" panose="02000009000000000000" pitchFamily="49" charset="0"/>
              </a:rPr>
              <a:t>2</a:t>
            </a: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9650DB4-8396-4230-AD90-19DC69F13E8F}"/>
                  </a:ext>
                </a:extLst>
              </p:cNvPr>
              <p:cNvSpPr txBox="1"/>
              <p:nvPr/>
            </p:nvSpPr>
            <p:spPr>
              <a:xfrm>
                <a:off x="1403861" y="3126973"/>
                <a:ext cx="6202458" cy="369332"/>
              </a:xfrm>
              <a:prstGeom prst="rect">
                <a:avLst/>
              </a:prstGeom>
              <a:noFill/>
            </p:spPr>
            <p:txBody>
              <a:bodyPr wrap="square" rtlCol="0">
                <a:spAutoFit/>
              </a:bodyPr>
              <a:lstStyle/>
              <a:p>
                <a:r>
                  <a:rPr lang="en-VN" i="1" dirty="0">
                    <a:solidFill>
                      <a:srgbClr val="EBE9EB"/>
                    </a:solidFill>
                    <a:latin typeface="JetBrains Mono Light" panose="02000009000000000000" pitchFamily="49" charset="0"/>
                    <a:cs typeface="JetBrains Mono Light" panose="02000009000000000000" pitchFamily="49" charset="0"/>
                  </a:rPr>
                  <a:t>Khởi tạo T=</a:t>
                </a:r>
                <a14:m>
                  <m:oMath xmlns:m="http://schemas.openxmlformats.org/officeDocument/2006/math">
                    <m:r>
                      <a:rPr lang="en-VN" i="1" smtClean="0">
                        <a:solidFill>
                          <a:srgbClr val="EBE9EB"/>
                        </a:solidFill>
                        <a:latin typeface="Cambria Math" panose="02040503050406030204" pitchFamily="18" charset="0"/>
                        <a:ea typeface="Cambria Math" panose="02040503050406030204" pitchFamily="18" charset="0"/>
                      </a:rPr>
                      <m:t>∅</m:t>
                    </m:r>
                  </m:oMath>
                </a14:m>
                <a:r>
                  <a:rPr lang="en-VN" i="1" dirty="0">
                    <a:solidFill>
                      <a:srgbClr val="EBE9EB"/>
                    </a:solidFill>
                    <a:latin typeface="JetBrains Mono Light" panose="02000009000000000000" pitchFamily="49" charset="0"/>
                    <a:cs typeface="JetBrains Mono Light" panose="02000009000000000000" pitchFamily="49" charset="0"/>
                  </a:rPr>
                  <a:t> có n đỉnh</a:t>
                </a:r>
                <a:endParaRPr lang="en-US" i="1" dirty="0">
                  <a:solidFill>
                    <a:srgbClr val="EBE9EB"/>
                  </a:solidFill>
                  <a:latin typeface="JetBrains Mono Light" panose="02000009000000000000" pitchFamily="49" charset="0"/>
                  <a:cs typeface="JetBrains Mono Light" panose="02000009000000000000" pitchFamily="49" charset="0"/>
                </a:endParaRPr>
              </a:p>
            </p:txBody>
          </p:sp>
        </mc:Choice>
        <mc:Fallback xmlns="">
          <p:sp>
            <p:nvSpPr>
              <p:cNvPr id="41" name="TextBox 40">
                <a:extLst>
                  <a:ext uri="{FF2B5EF4-FFF2-40B4-BE49-F238E27FC236}">
                    <a16:creationId xmlns:a16="http://schemas.microsoft.com/office/drawing/2014/main" id="{F9650DB4-8396-4230-AD90-19DC69F13E8F}"/>
                  </a:ext>
                </a:extLst>
              </p:cNvPr>
              <p:cNvSpPr txBox="1">
                <a:spLocks noRot="1" noChangeAspect="1" noMove="1" noResize="1" noEditPoints="1" noAdjustHandles="1" noChangeArrowheads="1" noChangeShapeType="1" noTextEdit="1"/>
              </p:cNvSpPr>
              <p:nvPr/>
            </p:nvSpPr>
            <p:spPr>
              <a:xfrm>
                <a:off x="1403861" y="3126973"/>
                <a:ext cx="6202458" cy="369332"/>
              </a:xfrm>
              <a:prstGeom prst="rect">
                <a:avLst/>
              </a:prstGeom>
              <a:blipFill>
                <a:blip r:embed="rId2"/>
                <a:stretch>
                  <a:fillRect l="-786" t="-9836" b="-24590"/>
                </a:stretch>
              </a:blipFill>
            </p:spPr>
            <p:txBody>
              <a:bodyPr/>
              <a:lstStyle/>
              <a:p>
                <a:r>
                  <a:rPr lang="en-US">
                    <a:noFill/>
                  </a:rPr>
                  <a:t> </a:t>
                </a:r>
              </a:p>
            </p:txBody>
          </p:sp>
        </mc:Fallback>
      </mc:AlternateContent>
      <p:graphicFrame>
        <p:nvGraphicFramePr>
          <p:cNvPr id="44" name="Table 44">
            <a:extLst>
              <a:ext uri="{FF2B5EF4-FFF2-40B4-BE49-F238E27FC236}">
                <a16:creationId xmlns:a16="http://schemas.microsoft.com/office/drawing/2014/main" id="{FB71B453-7AFC-4076-A692-0EBE1E30A07D}"/>
              </a:ext>
            </a:extLst>
          </p:cNvPr>
          <p:cNvGraphicFramePr>
            <a:graphicFrameLocks noGrp="1"/>
          </p:cNvGraphicFramePr>
          <p:nvPr>
            <p:extLst>
              <p:ext uri="{D42A27DB-BD31-4B8C-83A1-F6EECF244321}">
                <p14:modId xmlns:p14="http://schemas.microsoft.com/office/powerpoint/2010/main" val="1288641141"/>
              </p:ext>
            </p:extLst>
          </p:nvPr>
        </p:nvGraphicFramePr>
        <p:xfrm>
          <a:off x="9816350" y="3153222"/>
          <a:ext cx="1889566" cy="3107556"/>
        </p:xfrm>
        <a:graphic>
          <a:graphicData uri="http://schemas.openxmlformats.org/drawingml/2006/table">
            <a:tbl>
              <a:tblPr firstRow="1" bandRow="1">
                <a:solidFill>
                  <a:schemeClr val="tx1"/>
                </a:solidFill>
                <a:tableStyleId>{5C22544A-7EE6-4342-B048-85BDC9FD1C3A}</a:tableStyleId>
              </a:tblPr>
              <a:tblGrid>
                <a:gridCol w="944783">
                  <a:extLst>
                    <a:ext uri="{9D8B030D-6E8A-4147-A177-3AD203B41FA5}">
                      <a16:colId xmlns:a16="http://schemas.microsoft.com/office/drawing/2014/main" val="3498000576"/>
                    </a:ext>
                  </a:extLst>
                </a:gridCol>
                <a:gridCol w="944783">
                  <a:extLst>
                    <a:ext uri="{9D8B030D-6E8A-4147-A177-3AD203B41FA5}">
                      <a16:colId xmlns:a16="http://schemas.microsoft.com/office/drawing/2014/main" val="1228846467"/>
                    </a:ext>
                  </a:extLst>
                </a:gridCol>
              </a:tblGrid>
              <a:tr h="389061">
                <a:tc>
                  <a:txBody>
                    <a:bodyPr/>
                    <a:lstStyle/>
                    <a:p>
                      <a:pPr algn="ctr"/>
                      <a:r>
                        <a:rPr lang="en-VN" sz="1600" b="0" i="1" dirty="0">
                          <a:solidFill>
                            <a:schemeClr val="bg1">
                              <a:lumMod val="50000"/>
                            </a:schemeClr>
                          </a:solidFill>
                          <a:latin typeface="JetBrains Mono Light" panose="02000009000000000000" pitchFamily="49" charset="0"/>
                          <a:cs typeface="JetBrains Mono Light" panose="02000009000000000000" pitchFamily="49" charset="0"/>
                        </a:rPr>
                        <a:t>Cạnh</a:t>
                      </a:r>
                    </a:p>
                  </a:txBody>
                  <a:tcPr>
                    <a:solidFill>
                      <a:schemeClr val="tx1"/>
                    </a:solidFill>
                  </a:tcPr>
                </a:tc>
                <a:tc>
                  <a:txBody>
                    <a:bodyPr/>
                    <a:lstStyle/>
                    <a:p>
                      <a:r>
                        <a:rPr lang="en-VN" sz="1600" b="0" i="1" dirty="0">
                          <a:solidFill>
                            <a:schemeClr val="bg1">
                              <a:lumMod val="50000"/>
                            </a:schemeClr>
                          </a:solidFill>
                          <a:latin typeface="JetBrains Mono Light" panose="02000009000000000000" pitchFamily="49" charset="0"/>
                          <a:cs typeface="JetBrains Mono Light" panose="02000009000000000000" pitchFamily="49" charset="0"/>
                        </a:rPr>
                        <a:t>Độ dài</a:t>
                      </a:r>
                    </a:p>
                  </a:txBody>
                  <a:tcPr>
                    <a:solidFill>
                      <a:schemeClr val="tx1"/>
                    </a:solidFill>
                  </a:tcPr>
                </a:tc>
                <a:extLst>
                  <a:ext uri="{0D108BD9-81ED-4DB2-BD59-A6C34878D82A}">
                    <a16:rowId xmlns:a16="http://schemas.microsoft.com/office/drawing/2014/main" val="3071426674"/>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BC</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2</a:t>
                      </a:r>
                    </a:p>
                  </a:txBody>
                  <a:tcPr>
                    <a:solidFill>
                      <a:schemeClr val="tx1"/>
                    </a:solidFill>
                  </a:tcPr>
                </a:tc>
                <a:extLst>
                  <a:ext uri="{0D108BD9-81ED-4DB2-BD59-A6C34878D82A}">
                    <a16:rowId xmlns:a16="http://schemas.microsoft.com/office/drawing/2014/main" val="1475990308"/>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DE</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3</a:t>
                      </a:r>
                    </a:p>
                  </a:txBody>
                  <a:tcPr>
                    <a:solidFill>
                      <a:schemeClr val="tx1"/>
                    </a:solidFill>
                  </a:tcPr>
                </a:tc>
                <a:extLst>
                  <a:ext uri="{0D108BD9-81ED-4DB2-BD59-A6C34878D82A}">
                    <a16:rowId xmlns:a16="http://schemas.microsoft.com/office/drawing/2014/main" val="1259891391"/>
                  </a:ext>
                </a:extLst>
              </a:tr>
              <a:tr h="374605">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AD</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4</a:t>
                      </a:r>
                    </a:p>
                  </a:txBody>
                  <a:tcPr>
                    <a:solidFill>
                      <a:schemeClr val="tx1"/>
                    </a:solidFill>
                  </a:tcPr>
                </a:tc>
                <a:extLst>
                  <a:ext uri="{0D108BD9-81ED-4DB2-BD59-A6C34878D82A}">
                    <a16:rowId xmlns:a16="http://schemas.microsoft.com/office/drawing/2014/main" val="67915146"/>
                  </a:ext>
                </a:extLst>
              </a:tr>
              <a:tr h="398585">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AE</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4</a:t>
                      </a:r>
                    </a:p>
                  </a:txBody>
                  <a:tcPr>
                    <a:solidFill>
                      <a:schemeClr val="tx1"/>
                    </a:solidFill>
                  </a:tcPr>
                </a:tc>
                <a:extLst>
                  <a:ext uri="{0D108BD9-81ED-4DB2-BD59-A6C34878D82A}">
                    <a16:rowId xmlns:a16="http://schemas.microsoft.com/office/drawing/2014/main" val="3006373338"/>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BE</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5</a:t>
                      </a:r>
                    </a:p>
                  </a:txBody>
                  <a:tcPr>
                    <a:solidFill>
                      <a:schemeClr val="tx1"/>
                    </a:solidFill>
                  </a:tcPr>
                </a:tc>
                <a:extLst>
                  <a:ext uri="{0D108BD9-81ED-4DB2-BD59-A6C34878D82A}">
                    <a16:rowId xmlns:a16="http://schemas.microsoft.com/office/drawing/2014/main" val="1788501585"/>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AB</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6</a:t>
                      </a:r>
                    </a:p>
                  </a:txBody>
                  <a:tcPr>
                    <a:solidFill>
                      <a:schemeClr val="tx1"/>
                    </a:solidFill>
                  </a:tcPr>
                </a:tc>
                <a:extLst>
                  <a:ext uri="{0D108BD9-81ED-4DB2-BD59-A6C34878D82A}">
                    <a16:rowId xmlns:a16="http://schemas.microsoft.com/office/drawing/2014/main" val="252512457"/>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CD</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7</a:t>
                      </a:r>
                    </a:p>
                  </a:txBody>
                  <a:tcPr>
                    <a:solidFill>
                      <a:schemeClr val="tx1"/>
                    </a:solidFill>
                  </a:tcPr>
                </a:tc>
                <a:extLst>
                  <a:ext uri="{0D108BD9-81ED-4DB2-BD59-A6C34878D82A}">
                    <a16:rowId xmlns:a16="http://schemas.microsoft.com/office/drawing/2014/main" val="1139305008"/>
                  </a:ext>
                </a:extLst>
              </a:tr>
            </a:tbl>
          </a:graphicData>
        </a:graphic>
      </p:graphicFrame>
      <p:sp>
        <p:nvSpPr>
          <p:cNvPr id="45" name="TextBox 44">
            <a:extLst>
              <a:ext uri="{FF2B5EF4-FFF2-40B4-BE49-F238E27FC236}">
                <a16:creationId xmlns:a16="http://schemas.microsoft.com/office/drawing/2014/main" id="{DC9CE342-6F96-4779-9FBE-DB37B8E32BE5}"/>
              </a:ext>
            </a:extLst>
          </p:cNvPr>
          <p:cNvSpPr txBox="1"/>
          <p:nvPr/>
        </p:nvSpPr>
        <p:spPr>
          <a:xfrm>
            <a:off x="8419023" y="3153222"/>
            <a:ext cx="1153825"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Dữ</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liệu</a:t>
            </a:r>
            <a:endParaRPr lang="en-US" dirty="0">
              <a:solidFill>
                <a:schemeClr val="bg1"/>
              </a:solidFill>
              <a:latin typeface="JetBrains Mono Regular" panose="02000009000000000000" pitchFamily="49" charset="0"/>
              <a:cs typeface="JetBrains Mono Regular" panose="02000009000000000000" pitchFamily="49" charset="0"/>
            </a:endParaRPr>
          </a:p>
        </p:txBody>
      </p:sp>
    </p:spTree>
    <p:extLst>
      <p:ext uri="{BB962C8B-B14F-4D97-AF65-F5344CB8AC3E}">
        <p14:creationId xmlns:p14="http://schemas.microsoft.com/office/powerpoint/2010/main" val="42130085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95ED7769-4A81-40FA-95EA-F07E81DF53F8}"/>
              </a:ext>
            </a:extLst>
          </p:cNvPr>
          <p:cNvSpPr>
            <a:spLocks noGrp="1"/>
          </p:cNvSpPr>
          <p:nvPr>
            <p:ph type="title"/>
          </p:nvPr>
        </p:nvSpPr>
        <p:spPr>
          <a:xfrm>
            <a:off x="838200" y="365125"/>
            <a:ext cx="10515600" cy="1325563"/>
          </a:xfrm>
        </p:spPr>
        <p:txBody>
          <a:bodyPr/>
          <a:lstStyle/>
          <a:p>
            <a:endParaRPr lang="en-US"/>
          </a:p>
        </p:txBody>
      </p:sp>
      <p:sp>
        <p:nvSpPr>
          <p:cNvPr id="19" name="Content Placeholder 2">
            <a:extLst>
              <a:ext uri="{FF2B5EF4-FFF2-40B4-BE49-F238E27FC236}">
                <a16:creationId xmlns:a16="http://schemas.microsoft.com/office/drawing/2014/main" id="{819FE16D-7B58-45E6-ADD0-06F3503270BB}"/>
              </a:ext>
            </a:extLst>
          </p:cNvPr>
          <p:cNvSpPr>
            <a:spLocks noGrp="1"/>
          </p:cNvSpPr>
          <p:nvPr>
            <p:ph idx="1"/>
          </p:nvPr>
        </p:nvSpPr>
        <p:spPr>
          <a:xfrm>
            <a:off x="838200" y="1825625"/>
            <a:ext cx="10515600" cy="4351338"/>
          </a:xfrm>
        </p:spPr>
        <p:txBody>
          <a:bodyPr/>
          <a:lstStyle/>
          <a:p>
            <a:endParaRPr lang="en-US"/>
          </a:p>
        </p:txBody>
      </p:sp>
      <p:sp>
        <p:nvSpPr>
          <p:cNvPr id="20" name="Rectangle 19">
            <a:extLst>
              <a:ext uri="{FF2B5EF4-FFF2-40B4-BE49-F238E27FC236}">
                <a16:creationId xmlns:a16="http://schemas.microsoft.com/office/drawing/2014/main" id="{D4135B46-AFEC-4B2C-A123-E15B19B5BCFB}"/>
              </a:ext>
            </a:extLst>
          </p:cNvPr>
          <p:cNvSpPr/>
          <p:nvPr/>
        </p:nvSpPr>
        <p:spPr>
          <a:xfrm>
            <a:off x="0" y="-4207"/>
            <a:ext cx="12192000" cy="68711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21" name="Credit MAIN">
            <a:extLst>
              <a:ext uri="{FF2B5EF4-FFF2-40B4-BE49-F238E27FC236}">
                <a16:creationId xmlns:a16="http://schemas.microsoft.com/office/drawing/2014/main" id="{953A4B7F-97A7-4FBF-9555-0DD151212CD1}"/>
              </a:ext>
            </a:extLst>
          </p:cNvPr>
          <p:cNvSpPr txBox="1"/>
          <p:nvPr/>
        </p:nvSpPr>
        <p:spPr>
          <a:xfrm>
            <a:off x="50878" y="6432004"/>
            <a:ext cx="2668876"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Phạm</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Văn</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Quyết</a:t>
            </a:r>
            <a:endParaRPr lang="en-US" dirty="0">
              <a:solidFill>
                <a:schemeClr val="bg1">
                  <a:lumMod val="95000"/>
                  <a:alpha val="46000"/>
                </a:schemeClr>
              </a:solidFill>
            </a:endParaRPr>
          </a:p>
        </p:txBody>
      </p:sp>
      <p:sp>
        <p:nvSpPr>
          <p:cNvPr id="22" name="Header">
            <a:extLst>
              <a:ext uri="{FF2B5EF4-FFF2-40B4-BE49-F238E27FC236}">
                <a16:creationId xmlns:a16="http://schemas.microsoft.com/office/drawing/2014/main" id="{FF1A7388-47F5-4DA6-ADF5-7DE96475307F}"/>
              </a:ext>
            </a:extLst>
          </p:cNvPr>
          <p:cNvSpPr txBox="1"/>
          <p:nvPr/>
        </p:nvSpPr>
        <p:spPr>
          <a:xfrm>
            <a:off x="50878" y="79574"/>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52" name="Rectangle 51">
            <a:extLst>
              <a:ext uri="{FF2B5EF4-FFF2-40B4-BE49-F238E27FC236}">
                <a16:creationId xmlns:a16="http://schemas.microsoft.com/office/drawing/2014/main" id="{B1DEA314-BD33-40A5-85C5-2A94FAB390CA}"/>
              </a:ext>
            </a:extLst>
          </p:cNvPr>
          <p:cNvSpPr/>
          <p:nvPr/>
        </p:nvSpPr>
        <p:spPr>
          <a:xfrm>
            <a:off x="591457" y="603227"/>
            <a:ext cx="4730637"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CB243EB8-6CAC-4AD4-A523-85CAE45F43CA}"/>
              </a:ext>
            </a:extLst>
          </p:cNvPr>
          <p:cNvSpPr txBox="1"/>
          <p:nvPr/>
        </p:nvSpPr>
        <p:spPr>
          <a:xfrm>
            <a:off x="603363" y="602701"/>
            <a:ext cx="4730637" cy="369332"/>
          </a:xfrm>
          <a:prstGeom prst="rect">
            <a:avLst/>
          </a:prstGeom>
          <a:no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Bài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toán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Cây</a:t>
            </a:r>
            <a:r>
              <a:rPr lang="en-US" dirty="0">
                <a:latin typeface="JetBrains Mono Regular" panose="02000009000000000000" pitchFamily="49" charset="0"/>
                <a:cs typeface="JetBrains Mono Regular" panose="02000009000000000000" pitchFamily="49" charset="0"/>
              </a:rPr>
              <a:t> bao </a:t>
            </a:r>
            <a:r>
              <a:rPr lang="en-US" dirty="0" err="1">
                <a:latin typeface="JetBrains Mono Regular" panose="02000009000000000000" pitchFamily="49" charset="0"/>
                <a:cs typeface="JetBrains Mono Regular" panose="02000009000000000000" pitchFamily="49" charset="0"/>
              </a:rPr>
              <a:t>trùm</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tối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thiểu</a:t>
            </a:r>
            <a:r>
              <a:rPr lang="en-US" dirty="0">
                <a:latin typeface="JetBrains Mono Regular" panose="02000009000000000000" pitchFamily="49" charset="0"/>
                <a:cs typeface="JetBrains Mono Regular" panose="02000009000000000000" pitchFamily="49" charset="0"/>
              </a:rPr>
              <a:t>”</a:t>
            </a:r>
          </a:p>
        </p:txBody>
      </p:sp>
      <p:sp>
        <p:nvSpPr>
          <p:cNvPr id="54" name="Footer: Part">
            <a:extLst>
              <a:ext uri="{FF2B5EF4-FFF2-40B4-BE49-F238E27FC236}">
                <a16:creationId xmlns:a16="http://schemas.microsoft.com/office/drawing/2014/main" id="{14C8B52B-D44A-4B71-9357-34B0DA68BD9D}"/>
              </a:ext>
            </a:extLst>
          </p:cNvPr>
          <p:cNvSpPr txBox="1"/>
          <p:nvPr/>
        </p:nvSpPr>
        <p:spPr>
          <a:xfrm>
            <a:off x="7455877" y="6464494"/>
            <a:ext cx="4764827" cy="369332"/>
          </a:xfrm>
          <a:prstGeom prst="rect">
            <a:avLst/>
          </a:prstGeom>
          <a:noFill/>
        </p:spPr>
        <p:txBody>
          <a:bodyPr wrap="square" rtlCol="0">
            <a:spAutoFit/>
          </a:bodyPr>
          <a:lstStyle/>
          <a:p>
            <a:r>
              <a:rPr lang="en-US" dirty="0" err="1">
                <a:solidFill>
                  <a:schemeClr val="bg1">
                    <a:lumMod val="95000"/>
                  </a:schemeClr>
                </a:solidFill>
                <a:latin typeface="JetBrains Mono Regular" panose="02000009000000000000" pitchFamily="49" charset="0"/>
                <a:cs typeface="JetBrains Mono Regular" panose="02000009000000000000" pitchFamily="49" charset="0"/>
              </a:rPr>
              <a:t>Bài</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toán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a:solidFill>
                  <a:schemeClr val="bg1">
                    <a:lumMod val="95000"/>
                  </a:schemeClr>
                </a:solidFill>
                <a:latin typeface="JetBrains Mono Light" panose="02000009000000000000" pitchFamily="49" charset="0"/>
                <a:cs typeface="JetBrains Mono Light" panose="02000009000000000000" pitchFamily="49" charset="0"/>
              </a:rPr>
              <a:t>“</a:t>
            </a:r>
            <a:r>
              <a:rPr lang="en-US" dirty="0" err="1">
                <a:solidFill>
                  <a:schemeClr val="bg1">
                    <a:lumMod val="95000"/>
                  </a:schemeClr>
                </a:solidFill>
                <a:latin typeface="JetBrains Mono Light" panose="02000009000000000000" pitchFamily="49" charset="0"/>
                <a:cs typeface="JetBrains Mono Light" panose="02000009000000000000" pitchFamily="49" charset="0"/>
              </a:rPr>
              <a:t>Cây</a:t>
            </a:r>
            <a:r>
              <a:rPr lang="en-US" dirty="0">
                <a:solidFill>
                  <a:schemeClr val="bg1">
                    <a:lumMod val="95000"/>
                  </a:schemeClr>
                </a:solidFill>
                <a:latin typeface="JetBrains Mono Light" panose="02000009000000000000" pitchFamily="49" charset="0"/>
                <a:cs typeface="JetBrains Mono Light" panose="02000009000000000000" pitchFamily="49" charset="0"/>
              </a:rPr>
              <a:t> bao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trùm</a:t>
            </a:r>
            <a:r>
              <a:rPr lang="en-US" dirty="0">
                <a:solidFill>
                  <a:schemeClr val="bg1">
                    <a:lumMod val="95000"/>
                  </a:schemeClr>
                </a:solidFill>
                <a:latin typeface="JetBrains Mono Light" panose="02000009000000000000" pitchFamily="49" charset="0"/>
                <a:cs typeface="JetBrains Mono Light" panose="02000009000000000000" pitchFamily="49" charset="0"/>
              </a:rPr>
              <a:t>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tối</a:t>
            </a:r>
            <a:r>
              <a:rPr lang="en-US" dirty="0">
                <a:solidFill>
                  <a:schemeClr val="bg1">
                    <a:lumMod val="95000"/>
                  </a:schemeClr>
                </a:solidFill>
                <a:latin typeface="JetBrains Mono Light" panose="02000009000000000000" pitchFamily="49" charset="0"/>
                <a:cs typeface="JetBrains Mono Light" panose="02000009000000000000" pitchFamily="49" charset="0"/>
              </a:rPr>
              <a:t>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thiểu</a:t>
            </a:r>
            <a:r>
              <a:rPr lang="en-US" dirty="0">
                <a:solidFill>
                  <a:schemeClr val="bg1">
                    <a:lumMod val="85000"/>
                  </a:schemeClr>
                </a:solidFill>
                <a:latin typeface="JetBrains Mono Light" panose="02000009000000000000"/>
                <a:cs typeface="JetBrains Mono" panose="02000009000000000000" pitchFamily="49" charset="0"/>
              </a:rPr>
              <a:t>”</a:t>
            </a:r>
          </a:p>
        </p:txBody>
      </p:sp>
      <p:sp>
        <p:nvSpPr>
          <p:cNvPr id="55" name="Footer: Title">
            <a:extLst>
              <a:ext uri="{FF2B5EF4-FFF2-40B4-BE49-F238E27FC236}">
                <a16:creationId xmlns:a16="http://schemas.microsoft.com/office/drawing/2014/main" id="{BF7B329F-BBD4-4CE5-92B8-228711FCE729}"/>
              </a:ext>
            </a:extLst>
          </p:cNvPr>
          <p:cNvSpPr txBox="1"/>
          <p:nvPr/>
        </p:nvSpPr>
        <p:spPr>
          <a:xfrm>
            <a:off x="6342196" y="6469576"/>
            <a:ext cx="1215645"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a:t>
            </a:r>
          </a:p>
        </p:txBody>
      </p:sp>
      <p:sp>
        <p:nvSpPr>
          <p:cNvPr id="56" name="PAGE NUM 0">
            <a:extLst>
              <a:ext uri="{FF2B5EF4-FFF2-40B4-BE49-F238E27FC236}">
                <a16:creationId xmlns:a16="http://schemas.microsoft.com/office/drawing/2014/main" id="{C5FCBFDC-7226-4A48-ACEF-DE591BDFD048}"/>
              </a:ext>
            </a:extLst>
          </p:cNvPr>
          <p:cNvSpPr txBox="1"/>
          <p:nvPr/>
        </p:nvSpPr>
        <p:spPr>
          <a:xfrm>
            <a:off x="11599908" y="-510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5</a:t>
            </a:r>
          </a:p>
        </p:txBody>
      </p:sp>
      <p:sp>
        <p:nvSpPr>
          <p:cNvPr id="57" name="PAGE NUM 1">
            <a:extLst>
              <a:ext uri="{FF2B5EF4-FFF2-40B4-BE49-F238E27FC236}">
                <a16:creationId xmlns:a16="http://schemas.microsoft.com/office/drawing/2014/main" id="{1B771E83-B986-46D4-B444-3C2D5BBE760A}"/>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0</a:t>
            </a:r>
            <a:endParaRPr lang="en-US" dirty="0"/>
          </a:p>
        </p:txBody>
      </p:sp>
      <p:sp>
        <p:nvSpPr>
          <p:cNvPr id="60" name="TextBox 59">
            <a:extLst>
              <a:ext uri="{FF2B5EF4-FFF2-40B4-BE49-F238E27FC236}">
                <a16:creationId xmlns:a16="http://schemas.microsoft.com/office/drawing/2014/main" id="{6A406B24-D2F2-47E9-9DF4-A56A04DB1F3F}"/>
              </a:ext>
            </a:extLst>
          </p:cNvPr>
          <p:cNvSpPr txBox="1"/>
          <p:nvPr/>
        </p:nvSpPr>
        <p:spPr>
          <a:xfrm>
            <a:off x="944147" y="1080234"/>
            <a:ext cx="1775608" cy="369332"/>
          </a:xfrm>
          <a:prstGeom prst="rect">
            <a:avLst/>
          </a:prstGeom>
          <a:noFill/>
          <a:ln>
            <a:no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Phương</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pháp</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61" name="TextBox 60">
            <a:extLst>
              <a:ext uri="{FF2B5EF4-FFF2-40B4-BE49-F238E27FC236}">
                <a16:creationId xmlns:a16="http://schemas.microsoft.com/office/drawing/2014/main" id="{167C7D15-0577-4998-899C-E9DE54EF8906}"/>
              </a:ext>
            </a:extLst>
          </p:cNvPr>
          <p:cNvSpPr txBox="1"/>
          <p:nvPr/>
        </p:nvSpPr>
        <p:spPr>
          <a:xfrm>
            <a:off x="2664872" y="1092325"/>
            <a:ext cx="3305415" cy="369332"/>
          </a:xfrm>
          <a:prstGeom prst="rect">
            <a:avLst/>
          </a:prstGeom>
          <a:noFill/>
        </p:spPr>
        <p:txBody>
          <a:bodyPr wrap="square" rtlCol="0">
            <a:spAutoFit/>
          </a:bodyPr>
          <a:lstStyle/>
          <a:p>
            <a:pPr marL="285750" indent="-285750">
              <a:buFont typeface="Arial" panose="020B0604020202020204" pitchFamily="34" charset="0"/>
              <a:buChar char="•"/>
            </a:pP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Thuật</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toán</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Kruksal</a:t>
            </a:r>
            <a:endParaRPr lang="en-US" i="1" dirty="0">
              <a:latin typeface="JetBrains Mono ExtraLight" panose="02000009000000000000" pitchFamily="49" charset="0"/>
              <a:cs typeface="JetBrains Mono ExtraLight" panose="02000009000000000000" pitchFamily="49" charset="0"/>
            </a:endParaRPr>
          </a:p>
        </p:txBody>
      </p:sp>
      <p:sp>
        <p:nvSpPr>
          <p:cNvPr id="122" name="Rectangle 121">
            <a:extLst>
              <a:ext uri="{FF2B5EF4-FFF2-40B4-BE49-F238E27FC236}">
                <a16:creationId xmlns:a16="http://schemas.microsoft.com/office/drawing/2014/main" id="{D8B6D1F9-F8EE-4613-A4E1-A32D434D25D4}"/>
              </a:ext>
            </a:extLst>
          </p:cNvPr>
          <p:cNvSpPr/>
          <p:nvPr/>
        </p:nvSpPr>
        <p:spPr>
          <a:xfrm>
            <a:off x="8477627" y="567729"/>
            <a:ext cx="3163614" cy="192339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cxnSp>
        <p:nvCxnSpPr>
          <p:cNvPr id="123" name="Straight Connector 122">
            <a:extLst>
              <a:ext uri="{FF2B5EF4-FFF2-40B4-BE49-F238E27FC236}">
                <a16:creationId xmlns:a16="http://schemas.microsoft.com/office/drawing/2014/main" id="{8CE26FC3-3745-4488-8698-61FA100A4647}"/>
              </a:ext>
            </a:extLst>
          </p:cNvPr>
          <p:cNvCxnSpPr>
            <a:cxnSpLocks/>
          </p:cNvCxnSpPr>
          <p:nvPr/>
        </p:nvCxnSpPr>
        <p:spPr>
          <a:xfrm flipH="1">
            <a:off x="8477627" y="567729"/>
            <a:ext cx="3163614" cy="19233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FD319138-4E57-4BE7-A509-96C0AB69D955}"/>
              </a:ext>
            </a:extLst>
          </p:cNvPr>
          <p:cNvCxnSpPr>
            <a:cxnSpLocks/>
          </p:cNvCxnSpPr>
          <p:nvPr/>
        </p:nvCxnSpPr>
        <p:spPr>
          <a:xfrm>
            <a:off x="8549432" y="660062"/>
            <a:ext cx="1503676" cy="915530"/>
          </a:xfrm>
          <a:prstGeom prst="line">
            <a:avLst/>
          </a:prstGeom>
        </p:spPr>
        <p:style>
          <a:lnRef idx="1">
            <a:schemeClr val="accent1"/>
          </a:lnRef>
          <a:fillRef idx="0">
            <a:schemeClr val="accent1"/>
          </a:fillRef>
          <a:effectRef idx="0">
            <a:schemeClr val="accent1"/>
          </a:effectRef>
          <a:fontRef idx="minor">
            <a:schemeClr val="tx1"/>
          </a:fontRef>
        </p:style>
      </p:cxnSp>
      <p:sp>
        <p:nvSpPr>
          <p:cNvPr id="125" name="Oval 124">
            <a:extLst>
              <a:ext uri="{FF2B5EF4-FFF2-40B4-BE49-F238E27FC236}">
                <a16:creationId xmlns:a16="http://schemas.microsoft.com/office/drawing/2014/main" id="{C930B661-BE56-43C7-B3B7-5D3A7F48F1EB}"/>
              </a:ext>
            </a:extLst>
          </p:cNvPr>
          <p:cNvSpPr/>
          <p:nvPr/>
        </p:nvSpPr>
        <p:spPr>
          <a:xfrm>
            <a:off x="8363327" y="453429"/>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dirty="0">
              <a:solidFill>
                <a:srgbClr val="EBE9EB"/>
              </a:solidFill>
            </a:endParaRPr>
          </a:p>
        </p:txBody>
      </p:sp>
      <p:sp>
        <p:nvSpPr>
          <p:cNvPr id="126" name="Oval 125">
            <a:extLst>
              <a:ext uri="{FF2B5EF4-FFF2-40B4-BE49-F238E27FC236}">
                <a16:creationId xmlns:a16="http://schemas.microsoft.com/office/drawing/2014/main" id="{B5CC2B85-CA03-4E20-932F-6A026CF3B1ED}"/>
              </a:ext>
            </a:extLst>
          </p:cNvPr>
          <p:cNvSpPr/>
          <p:nvPr/>
        </p:nvSpPr>
        <p:spPr>
          <a:xfrm>
            <a:off x="11512590" y="458541"/>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27" name="Oval 126">
            <a:extLst>
              <a:ext uri="{FF2B5EF4-FFF2-40B4-BE49-F238E27FC236}">
                <a16:creationId xmlns:a16="http://schemas.microsoft.com/office/drawing/2014/main" id="{57B94AEC-5ECC-46A0-B04E-66BE78CB8661}"/>
              </a:ext>
            </a:extLst>
          </p:cNvPr>
          <p:cNvSpPr/>
          <p:nvPr/>
        </p:nvSpPr>
        <p:spPr>
          <a:xfrm>
            <a:off x="9945134" y="1415125"/>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28" name="Oval 127">
            <a:extLst>
              <a:ext uri="{FF2B5EF4-FFF2-40B4-BE49-F238E27FC236}">
                <a16:creationId xmlns:a16="http://schemas.microsoft.com/office/drawing/2014/main" id="{AEF8CDE2-6392-4101-AEB3-477C219D2EE3}"/>
              </a:ext>
            </a:extLst>
          </p:cNvPr>
          <p:cNvSpPr/>
          <p:nvPr/>
        </p:nvSpPr>
        <p:spPr>
          <a:xfrm>
            <a:off x="8363327" y="2376822"/>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29" name="Oval 128">
            <a:extLst>
              <a:ext uri="{FF2B5EF4-FFF2-40B4-BE49-F238E27FC236}">
                <a16:creationId xmlns:a16="http://schemas.microsoft.com/office/drawing/2014/main" id="{26D249FB-C190-4EAC-A57E-9E1768D9CFCA}"/>
              </a:ext>
            </a:extLst>
          </p:cNvPr>
          <p:cNvSpPr/>
          <p:nvPr/>
        </p:nvSpPr>
        <p:spPr>
          <a:xfrm>
            <a:off x="11534049" y="2381143"/>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30" name="TextBox 129">
            <a:extLst>
              <a:ext uri="{FF2B5EF4-FFF2-40B4-BE49-F238E27FC236}">
                <a16:creationId xmlns:a16="http://schemas.microsoft.com/office/drawing/2014/main" id="{CDBB6146-6029-49C7-9810-0C41172112B9}"/>
              </a:ext>
            </a:extLst>
          </p:cNvPr>
          <p:cNvSpPr txBox="1"/>
          <p:nvPr/>
        </p:nvSpPr>
        <p:spPr>
          <a:xfrm>
            <a:off x="8318320" y="386204"/>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A</a:t>
            </a:r>
          </a:p>
        </p:txBody>
      </p:sp>
      <p:sp>
        <p:nvSpPr>
          <p:cNvPr id="131" name="TextBox 130">
            <a:extLst>
              <a:ext uri="{FF2B5EF4-FFF2-40B4-BE49-F238E27FC236}">
                <a16:creationId xmlns:a16="http://schemas.microsoft.com/office/drawing/2014/main" id="{F08C56B1-EB13-45C0-8F50-1D38673E3964}"/>
              </a:ext>
            </a:extLst>
          </p:cNvPr>
          <p:cNvSpPr txBox="1"/>
          <p:nvPr/>
        </p:nvSpPr>
        <p:spPr>
          <a:xfrm>
            <a:off x="11476468" y="400423"/>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B</a:t>
            </a:r>
          </a:p>
        </p:txBody>
      </p:sp>
      <p:sp>
        <p:nvSpPr>
          <p:cNvPr id="132" name="TextBox 131">
            <a:extLst>
              <a:ext uri="{FF2B5EF4-FFF2-40B4-BE49-F238E27FC236}">
                <a16:creationId xmlns:a16="http://schemas.microsoft.com/office/drawing/2014/main" id="{BE91EB33-9495-4523-A304-4B2E792EE6C4}"/>
              </a:ext>
            </a:extLst>
          </p:cNvPr>
          <p:cNvSpPr txBox="1"/>
          <p:nvPr/>
        </p:nvSpPr>
        <p:spPr>
          <a:xfrm>
            <a:off x="11483078" y="2325506"/>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C</a:t>
            </a:r>
          </a:p>
        </p:txBody>
      </p:sp>
      <p:sp>
        <p:nvSpPr>
          <p:cNvPr id="133" name="TextBox 132">
            <a:extLst>
              <a:ext uri="{FF2B5EF4-FFF2-40B4-BE49-F238E27FC236}">
                <a16:creationId xmlns:a16="http://schemas.microsoft.com/office/drawing/2014/main" id="{66591067-21B2-47F6-AD45-5BEF912BDDE6}"/>
              </a:ext>
            </a:extLst>
          </p:cNvPr>
          <p:cNvSpPr txBox="1"/>
          <p:nvPr/>
        </p:nvSpPr>
        <p:spPr>
          <a:xfrm>
            <a:off x="8325900" y="2319156"/>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D</a:t>
            </a:r>
          </a:p>
        </p:txBody>
      </p:sp>
      <p:sp>
        <p:nvSpPr>
          <p:cNvPr id="134" name="TextBox 133">
            <a:extLst>
              <a:ext uri="{FF2B5EF4-FFF2-40B4-BE49-F238E27FC236}">
                <a16:creationId xmlns:a16="http://schemas.microsoft.com/office/drawing/2014/main" id="{7A2F047F-7901-422A-AEB6-68A7956E2AD6}"/>
              </a:ext>
            </a:extLst>
          </p:cNvPr>
          <p:cNvSpPr txBox="1"/>
          <p:nvPr/>
        </p:nvSpPr>
        <p:spPr>
          <a:xfrm>
            <a:off x="9894375" y="1351109"/>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E</a:t>
            </a:r>
          </a:p>
        </p:txBody>
      </p:sp>
      <p:sp>
        <p:nvSpPr>
          <p:cNvPr id="135" name="TextBox 134">
            <a:extLst>
              <a:ext uri="{FF2B5EF4-FFF2-40B4-BE49-F238E27FC236}">
                <a16:creationId xmlns:a16="http://schemas.microsoft.com/office/drawing/2014/main" id="{D7CCA408-3852-4C54-85C3-347EEF86453E}"/>
              </a:ext>
            </a:extLst>
          </p:cNvPr>
          <p:cNvSpPr txBox="1"/>
          <p:nvPr/>
        </p:nvSpPr>
        <p:spPr>
          <a:xfrm>
            <a:off x="9902265" y="290730"/>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6</a:t>
            </a:r>
          </a:p>
        </p:txBody>
      </p:sp>
      <p:sp>
        <p:nvSpPr>
          <p:cNvPr id="136" name="TextBox 135">
            <a:extLst>
              <a:ext uri="{FF2B5EF4-FFF2-40B4-BE49-F238E27FC236}">
                <a16:creationId xmlns:a16="http://schemas.microsoft.com/office/drawing/2014/main" id="{29174FD1-B4AA-4357-8678-7A76B55AC813}"/>
              </a:ext>
            </a:extLst>
          </p:cNvPr>
          <p:cNvSpPr txBox="1"/>
          <p:nvPr/>
        </p:nvSpPr>
        <p:spPr>
          <a:xfrm>
            <a:off x="8210703" y="1347847"/>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4</a:t>
            </a:r>
          </a:p>
        </p:txBody>
      </p:sp>
      <p:sp>
        <p:nvSpPr>
          <p:cNvPr id="137" name="TextBox 136">
            <a:extLst>
              <a:ext uri="{FF2B5EF4-FFF2-40B4-BE49-F238E27FC236}">
                <a16:creationId xmlns:a16="http://schemas.microsoft.com/office/drawing/2014/main" id="{1D2BA152-88EB-4B1F-833A-026C2D8BF712}"/>
              </a:ext>
            </a:extLst>
          </p:cNvPr>
          <p:cNvSpPr txBox="1"/>
          <p:nvPr/>
        </p:nvSpPr>
        <p:spPr>
          <a:xfrm rot="1746466">
            <a:off x="9349986" y="839685"/>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4</a:t>
            </a:r>
          </a:p>
        </p:txBody>
      </p:sp>
      <p:sp>
        <p:nvSpPr>
          <p:cNvPr id="138" name="TextBox 137">
            <a:extLst>
              <a:ext uri="{FF2B5EF4-FFF2-40B4-BE49-F238E27FC236}">
                <a16:creationId xmlns:a16="http://schemas.microsoft.com/office/drawing/2014/main" id="{71852C81-1D4A-4B46-96A4-3E8FA1C69552}"/>
              </a:ext>
            </a:extLst>
          </p:cNvPr>
          <p:cNvSpPr txBox="1"/>
          <p:nvPr/>
        </p:nvSpPr>
        <p:spPr>
          <a:xfrm rot="19619130">
            <a:off x="9047734" y="1714091"/>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3</a:t>
            </a:r>
          </a:p>
        </p:txBody>
      </p:sp>
      <p:sp>
        <p:nvSpPr>
          <p:cNvPr id="139" name="TextBox 138">
            <a:extLst>
              <a:ext uri="{FF2B5EF4-FFF2-40B4-BE49-F238E27FC236}">
                <a16:creationId xmlns:a16="http://schemas.microsoft.com/office/drawing/2014/main" id="{19FD893F-8EA3-4FB5-958F-FC771A7EA2C3}"/>
              </a:ext>
            </a:extLst>
          </p:cNvPr>
          <p:cNvSpPr txBox="1"/>
          <p:nvPr/>
        </p:nvSpPr>
        <p:spPr>
          <a:xfrm rot="19577036">
            <a:off x="10459920" y="839685"/>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5</a:t>
            </a:r>
          </a:p>
        </p:txBody>
      </p:sp>
      <p:sp>
        <p:nvSpPr>
          <p:cNvPr id="140" name="TextBox 139">
            <a:extLst>
              <a:ext uri="{FF2B5EF4-FFF2-40B4-BE49-F238E27FC236}">
                <a16:creationId xmlns:a16="http://schemas.microsoft.com/office/drawing/2014/main" id="{5F079F19-0511-422E-A4EC-F969D9D5E49A}"/>
              </a:ext>
            </a:extLst>
          </p:cNvPr>
          <p:cNvSpPr txBox="1"/>
          <p:nvPr/>
        </p:nvSpPr>
        <p:spPr>
          <a:xfrm>
            <a:off x="9902265" y="2496757"/>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7</a:t>
            </a:r>
          </a:p>
        </p:txBody>
      </p:sp>
      <p:sp>
        <p:nvSpPr>
          <p:cNvPr id="141" name="TextBox 140">
            <a:extLst>
              <a:ext uri="{FF2B5EF4-FFF2-40B4-BE49-F238E27FC236}">
                <a16:creationId xmlns:a16="http://schemas.microsoft.com/office/drawing/2014/main" id="{4F3945A4-513F-4117-89D0-BF436DF9F8FA}"/>
              </a:ext>
            </a:extLst>
          </p:cNvPr>
          <p:cNvSpPr txBox="1"/>
          <p:nvPr/>
        </p:nvSpPr>
        <p:spPr>
          <a:xfrm>
            <a:off x="11346662" y="1415125"/>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2</a:t>
            </a:r>
          </a:p>
        </p:txBody>
      </p:sp>
      <p:sp>
        <p:nvSpPr>
          <p:cNvPr id="36" name="TextBox 35">
            <a:extLst>
              <a:ext uri="{FF2B5EF4-FFF2-40B4-BE49-F238E27FC236}">
                <a16:creationId xmlns:a16="http://schemas.microsoft.com/office/drawing/2014/main" id="{43EF5198-21C8-4ED8-B908-CB8D97DAFB69}"/>
              </a:ext>
            </a:extLst>
          </p:cNvPr>
          <p:cNvSpPr txBox="1"/>
          <p:nvPr/>
        </p:nvSpPr>
        <p:spPr>
          <a:xfrm>
            <a:off x="944146" y="1527944"/>
            <a:ext cx="2666562"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Các</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bước</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thực</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hiện</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37" name="TextBox 36">
            <a:extLst>
              <a:ext uri="{FF2B5EF4-FFF2-40B4-BE49-F238E27FC236}">
                <a16:creationId xmlns:a16="http://schemas.microsoft.com/office/drawing/2014/main" id="{1779715E-843D-4182-9CC8-A40A3B06D26D}"/>
              </a:ext>
            </a:extLst>
          </p:cNvPr>
          <p:cNvSpPr txBox="1"/>
          <p:nvPr/>
        </p:nvSpPr>
        <p:spPr>
          <a:xfrm>
            <a:off x="944147" y="2111752"/>
            <a:ext cx="331487" cy="369332"/>
          </a:xfrm>
          <a:prstGeom prst="rect">
            <a:avLst/>
          </a:prstGeom>
          <a:noFill/>
          <a:ln>
            <a:solidFill>
              <a:schemeClr val="bg1">
                <a:lumMod val="50000"/>
              </a:schemeClr>
            </a:solid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1</a:t>
            </a:r>
          </a:p>
        </p:txBody>
      </p:sp>
      <p:sp>
        <p:nvSpPr>
          <p:cNvPr id="38" name="TextBox 37">
            <a:extLst>
              <a:ext uri="{FF2B5EF4-FFF2-40B4-BE49-F238E27FC236}">
                <a16:creationId xmlns:a16="http://schemas.microsoft.com/office/drawing/2014/main" id="{118CED78-337D-47EA-812F-47028CD968F8}"/>
              </a:ext>
            </a:extLst>
          </p:cNvPr>
          <p:cNvSpPr txBox="1"/>
          <p:nvPr/>
        </p:nvSpPr>
        <p:spPr>
          <a:xfrm>
            <a:off x="1403861" y="2055574"/>
            <a:ext cx="6202458" cy="923330"/>
          </a:xfrm>
          <a:prstGeom prst="rect">
            <a:avLst/>
          </a:prstGeom>
          <a:noFill/>
        </p:spPr>
        <p:txBody>
          <a:bodyPr wrap="square" rtlCol="0">
            <a:spAutoFit/>
          </a:bodyPr>
          <a:lstStyle/>
          <a:p>
            <a:r>
              <a:rPr lang="en-US" i="1" dirty="0" err="1">
                <a:solidFill>
                  <a:srgbClr val="EBE9EB"/>
                </a:solidFill>
                <a:latin typeface="JetBrains Mono Light" panose="02000009000000000000" pitchFamily="49" charset="0"/>
                <a:cs typeface="JetBrains Mono Light" panose="02000009000000000000" pitchFamily="49" charset="0"/>
              </a:rPr>
              <a:t>Sắp</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xếp</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tăng</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dần</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trong</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số</a:t>
            </a:r>
            <a:r>
              <a:rPr lang="en-US" i="1" dirty="0">
                <a:solidFill>
                  <a:srgbClr val="EBE9EB"/>
                </a:solidFill>
                <a:latin typeface="JetBrains Mono Light" panose="02000009000000000000" pitchFamily="49" charset="0"/>
                <a:cs typeface="JetBrains Mono Light" panose="02000009000000000000" pitchFamily="49" charset="0"/>
              </a:rPr>
              <a:t> </a:t>
            </a:r>
          </a:p>
          <a:p>
            <a:r>
              <a:rPr lang="en-US" i="1" dirty="0">
                <a:solidFill>
                  <a:schemeClr val="bg1">
                    <a:lumMod val="50000"/>
                  </a:schemeClr>
                </a:solidFill>
                <a:latin typeface="JetBrains Mono Light" panose="02000009000000000000" pitchFamily="49" charset="0"/>
                <a:cs typeface="JetBrains Mono Light" panose="02000009000000000000" pitchFamily="49" charset="0"/>
              </a:rPr>
              <a:t>(</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Trường</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hợp</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trọng</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số</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bằng</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nhau</a:t>
            </a:r>
            <a:r>
              <a:rPr lang="en-US" i="1" dirty="0">
                <a:solidFill>
                  <a:schemeClr val="bg1">
                    <a:lumMod val="50000"/>
                  </a:schemeClr>
                </a:solidFill>
                <a:latin typeface="JetBrains Mono Light" panose="02000009000000000000" pitchFamily="49" charset="0"/>
                <a:cs typeface="JetBrains Mono Light" panose="02000009000000000000" pitchFamily="49" charset="0"/>
              </a:rPr>
              <a:t> ta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sắp</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xếp</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theo</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bảng</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chữ</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cái</a:t>
            </a:r>
            <a:r>
              <a:rPr lang="en-US" i="1" dirty="0">
                <a:solidFill>
                  <a:schemeClr val="bg1">
                    <a:lumMod val="50000"/>
                  </a:schemeClr>
                </a:solidFill>
                <a:latin typeface="JetBrains Mono Light" panose="02000009000000000000" pitchFamily="49" charset="0"/>
                <a:cs typeface="JetBrains Mono Light" panose="02000009000000000000" pitchFamily="49" charset="0"/>
              </a:rPr>
              <a:t>)</a:t>
            </a:r>
          </a:p>
        </p:txBody>
      </p:sp>
      <p:sp>
        <p:nvSpPr>
          <p:cNvPr id="46" name="TextBox 45">
            <a:extLst>
              <a:ext uri="{FF2B5EF4-FFF2-40B4-BE49-F238E27FC236}">
                <a16:creationId xmlns:a16="http://schemas.microsoft.com/office/drawing/2014/main" id="{8722295B-1514-4377-B5CE-583593E90372}"/>
              </a:ext>
            </a:extLst>
          </p:cNvPr>
          <p:cNvSpPr txBox="1"/>
          <p:nvPr/>
        </p:nvSpPr>
        <p:spPr>
          <a:xfrm>
            <a:off x="944146" y="3113841"/>
            <a:ext cx="331487" cy="369332"/>
          </a:xfrm>
          <a:prstGeom prst="rect">
            <a:avLst/>
          </a:prstGeom>
          <a:noFill/>
          <a:ln>
            <a:solidFill>
              <a:schemeClr val="bg1">
                <a:lumMod val="50000"/>
              </a:schemeClr>
            </a:solid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2</a:t>
            </a:r>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98CAD4C-997B-47B1-B9EA-1DA44C07AD64}"/>
                  </a:ext>
                </a:extLst>
              </p:cNvPr>
              <p:cNvSpPr txBox="1"/>
              <p:nvPr/>
            </p:nvSpPr>
            <p:spPr>
              <a:xfrm>
                <a:off x="1403861" y="3126973"/>
                <a:ext cx="6202458" cy="369332"/>
              </a:xfrm>
              <a:prstGeom prst="rect">
                <a:avLst/>
              </a:prstGeom>
              <a:noFill/>
            </p:spPr>
            <p:txBody>
              <a:bodyPr wrap="square" rtlCol="0">
                <a:spAutoFit/>
              </a:bodyPr>
              <a:lstStyle/>
              <a:p>
                <a:r>
                  <a:rPr lang="en-VN" i="1" dirty="0">
                    <a:solidFill>
                      <a:srgbClr val="EBE9EB"/>
                    </a:solidFill>
                    <a:latin typeface="JetBrains Mono Light" panose="02000009000000000000" pitchFamily="49" charset="0"/>
                    <a:cs typeface="JetBrains Mono Light" panose="02000009000000000000" pitchFamily="49" charset="0"/>
                  </a:rPr>
                  <a:t>Khởi tạo T=</a:t>
                </a:r>
                <a14:m>
                  <m:oMath xmlns:m="http://schemas.openxmlformats.org/officeDocument/2006/math">
                    <m:r>
                      <a:rPr lang="en-VN" i="1" smtClean="0">
                        <a:solidFill>
                          <a:srgbClr val="EBE9EB"/>
                        </a:solidFill>
                        <a:latin typeface="Cambria Math" panose="02040503050406030204" pitchFamily="18" charset="0"/>
                        <a:ea typeface="Cambria Math" panose="02040503050406030204" pitchFamily="18" charset="0"/>
                      </a:rPr>
                      <m:t>∅</m:t>
                    </m:r>
                  </m:oMath>
                </a14:m>
                <a:r>
                  <a:rPr lang="en-VN" i="1" dirty="0">
                    <a:solidFill>
                      <a:srgbClr val="EBE9EB"/>
                    </a:solidFill>
                    <a:latin typeface="JetBrains Mono Light" panose="02000009000000000000" pitchFamily="49" charset="0"/>
                    <a:cs typeface="JetBrains Mono Light" panose="02000009000000000000" pitchFamily="49" charset="0"/>
                  </a:rPr>
                  <a:t> có n đỉnh</a:t>
                </a:r>
                <a:endParaRPr lang="en-US" i="1" dirty="0">
                  <a:solidFill>
                    <a:srgbClr val="EBE9EB"/>
                  </a:solidFill>
                  <a:latin typeface="JetBrains Mono Light" panose="02000009000000000000" pitchFamily="49" charset="0"/>
                  <a:cs typeface="JetBrains Mono Light" panose="02000009000000000000" pitchFamily="49" charset="0"/>
                </a:endParaRPr>
              </a:p>
            </p:txBody>
          </p:sp>
        </mc:Choice>
        <mc:Fallback xmlns="">
          <p:sp>
            <p:nvSpPr>
              <p:cNvPr id="47" name="TextBox 46">
                <a:extLst>
                  <a:ext uri="{FF2B5EF4-FFF2-40B4-BE49-F238E27FC236}">
                    <a16:creationId xmlns:a16="http://schemas.microsoft.com/office/drawing/2014/main" id="{598CAD4C-997B-47B1-B9EA-1DA44C07AD64}"/>
                  </a:ext>
                </a:extLst>
              </p:cNvPr>
              <p:cNvSpPr txBox="1">
                <a:spLocks noRot="1" noChangeAspect="1" noMove="1" noResize="1" noEditPoints="1" noAdjustHandles="1" noChangeArrowheads="1" noChangeShapeType="1" noTextEdit="1"/>
              </p:cNvSpPr>
              <p:nvPr/>
            </p:nvSpPr>
            <p:spPr>
              <a:xfrm>
                <a:off x="1403861" y="3126973"/>
                <a:ext cx="6202458" cy="369332"/>
              </a:xfrm>
              <a:prstGeom prst="rect">
                <a:avLst/>
              </a:prstGeom>
              <a:blipFill>
                <a:blip r:embed="rId2"/>
                <a:stretch>
                  <a:fillRect l="-786" t="-9836" b="-24590"/>
                </a:stretch>
              </a:blipFill>
            </p:spPr>
            <p:txBody>
              <a:bodyPr/>
              <a:lstStyle/>
              <a:p>
                <a:r>
                  <a:rPr lang="en-US">
                    <a:noFill/>
                  </a:rPr>
                  <a:t> </a:t>
                </a:r>
              </a:p>
            </p:txBody>
          </p:sp>
        </mc:Fallback>
      </mc:AlternateContent>
      <p:sp>
        <p:nvSpPr>
          <p:cNvPr id="48" name="TextBox 47">
            <a:extLst>
              <a:ext uri="{FF2B5EF4-FFF2-40B4-BE49-F238E27FC236}">
                <a16:creationId xmlns:a16="http://schemas.microsoft.com/office/drawing/2014/main" id="{0A20D38A-43C6-4409-813A-5E73552A06CB}"/>
              </a:ext>
            </a:extLst>
          </p:cNvPr>
          <p:cNvSpPr txBox="1"/>
          <p:nvPr/>
        </p:nvSpPr>
        <p:spPr>
          <a:xfrm>
            <a:off x="944146" y="3743989"/>
            <a:ext cx="331487" cy="369332"/>
          </a:xfrm>
          <a:prstGeom prst="rect">
            <a:avLst/>
          </a:prstGeom>
          <a:solidFill>
            <a:schemeClr val="bg1"/>
          </a:solidFill>
          <a:ln>
            <a:solidFill>
              <a:schemeClr val="bg1">
                <a:lumMod val="50000"/>
              </a:schemeClr>
            </a:solidFill>
          </a:ln>
        </p:spPr>
        <p:txBody>
          <a:bodyPr wrap="square" rtlCol="0">
            <a:spAutoFit/>
          </a:bodyPr>
          <a:lstStyle/>
          <a:p>
            <a:pPr algn="r"/>
            <a:r>
              <a:rPr lang="en-US" dirty="0">
                <a:latin typeface="JetBrains Mono Medium" panose="02000009000000000000" pitchFamily="49" charset="0"/>
                <a:cs typeface="JetBrains Mono Medium" panose="02000009000000000000" pitchFamily="49" charset="0"/>
              </a:rPr>
              <a:t>3</a:t>
            </a: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01ED80-22E1-4878-9B6B-278D97FDFA03}"/>
                  </a:ext>
                </a:extLst>
              </p:cNvPr>
              <p:cNvSpPr txBox="1"/>
              <p:nvPr/>
            </p:nvSpPr>
            <p:spPr>
              <a:xfrm>
                <a:off x="1403861" y="3757121"/>
                <a:ext cx="6202458" cy="923330"/>
              </a:xfrm>
              <a:prstGeom prst="rect">
                <a:avLst/>
              </a:prstGeom>
              <a:noFill/>
            </p:spPr>
            <p:txBody>
              <a:bodyPr wrap="square" rtlCol="0">
                <a:spAutoFit/>
              </a:bodyPr>
              <a:lstStyle/>
              <a:p>
                <a:r>
                  <a:rPr lang="en-VN" i="1" dirty="0">
                    <a:solidFill>
                      <a:srgbClr val="EBE9EB"/>
                    </a:solidFill>
                    <a:latin typeface="JetBrains Mono Light" panose="02000009000000000000" pitchFamily="49" charset="0"/>
                    <a:cs typeface="JetBrains Mono Light" panose="02000009000000000000" pitchFamily="49" charset="0"/>
                  </a:rPr>
                  <a:t>Xét T </a:t>
                </a:r>
                <a14:m>
                  <m:oMath xmlns:m="http://schemas.openxmlformats.org/officeDocument/2006/math">
                    <m:r>
                      <a:rPr lang="en-VN" i="1">
                        <a:solidFill>
                          <a:srgbClr val="EBE9EB"/>
                        </a:solidFill>
                        <a:latin typeface="Cambria Math" panose="02040503050406030204" pitchFamily="18" charset="0"/>
                        <a:ea typeface="Cambria Math" panose="02040503050406030204" pitchFamily="18" charset="0"/>
                      </a:rPr>
                      <m:t>∪</m:t>
                    </m:r>
                    <m:d>
                      <m:dPr>
                        <m:begChr m:val="{"/>
                        <m:endChr m:val="}"/>
                        <m:ctrlPr>
                          <a:rPr lang="vi-VN" i="1">
                            <a:solidFill>
                              <a:srgbClr val="EBE9EB"/>
                            </a:solidFill>
                            <a:latin typeface="Cambria Math" panose="02040503050406030204" pitchFamily="18" charset="0"/>
                            <a:ea typeface="Cambria Math" panose="02040503050406030204" pitchFamily="18" charset="0"/>
                          </a:rPr>
                        </m:ctrlPr>
                      </m:dPr>
                      <m:e>
                        <m:r>
                          <a:rPr lang="vi-VN" i="1">
                            <a:solidFill>
                              <a:srgbClr val="EBE9EB"/>
                            </a:solidFill>
                            <a:latin typeface="Cambria Math" panose="02040503050406030204" pitchFamily="18" charset="0"/>
                            <a:ea typeface="Cambria Math" panose="02040503050406030204" pitchFamily="18" charset="0"/>
                          </a:rPr>
                          <m:t>𝑒</m:t>
                        </m:r>
                      </m:e>
                    </m:d>
                  </m:oMath>
                </a14:m>
                <a:endParaRPr lang="vi-VN" i="1" dirty="0">
                  <a:solidFill>
                    <a:srgbClr val="EBE9EB"/>
                  </a:solidFill>
                  <a:latin typeface="JetBrains Mono Light" panose="02000009000000000000" pitchFamily="49" charset="0"/>
                  <a:ea typeface="Cambria Math" panose="02040503050406030204" pitchFamily="18" charset="0"/>
                  <a:cs typeface="JetBrains Mono Light" panose="02000009000000000000" pitchFamily="49" charset="0"/>
                </a:endParaRPr>
              </a:p>
              <a:p>
                <a:r>
                  <a:rPr lang="en-VN" i="1" dirty="0">
                    <a:solidFill>
                      <a:srgbClr val="EBE9EB"/>
                    </a:solidFill>
                    <a:latin typeface="JetBrains Mono Light" panose="02000009000000000000" pitchFamily="49" charset="0"/>
                    <a:cs typeface="JetBrains Mono Light" panose="02000009000000000000" pitchFamily="49" charset="0"/>
                  </a:rPr>
                  <a:t>+</a:t>
                </a:r>
                <a:r>
                  <a:rPr lang="en-US" i="1" dirty="0">
                    <a:solidFill>
                      <a:srgbClr val="EBE9EB"/>
                    </a:solidFill>
                    <a:latin typeface="JetBrains Mono Light" panose="02000009000000000000" pitchFamily="49" charset="0"/>
                    <a:cs typeface="JetBrains Mono Light" panose="02000009000000000000" pitchFamily="49" charset="0"/>
                  </a:rPr>
                  <a:t> </a:t>
                </a:r>
                <a:r>
                  <a:rPr lang="en-VN" i="1" dirty="0">
                    <a:solidFill>
                      <a:srgbClr val="EBE9EB"/>
                    </a:solidFill>
                    <a:latin typeface="JetBrains Mono Light" panose="02000009000000000000" pitchFamily="49" charset="0"/>
                    <a:cs typeface="JetBrains Mono Light" panose="02000009000000000000" pitchFamily="49" charset="0"/>
                  </a:rPr>
                  <a:t>Không tạo chu trình</a:t>
                </a:r>
                <a:r>
                  <a:rPr lang="en-US" i="1" dirty="0">
                    <a:solidFill>
                      <a:srgbClr val="EBE9EB"/>
                    </a:solidFill>
                    <a:latin typeface="JetBrains Mono Light" panose="02000009000000000000" pitchFamily="49" charset="0"/>
                    <a:cs typeface="JetBrains Mono Light" panose="02000009000000000000" pitchFamily="49" charset="0"/>
                  </a:rPr>
                  <a:t> </a:t>
                </a:r>
                <a:r>
                  <a:rPr lang="en-VN" i="1" dirty="0">
                    <a:solidFill>
                      <a:srgbClr val="EBE9EB"/>
                    </a:solidFill>
                    <a:latin typeface="JetBrains Mono Light" panose="02000009000000000000" pitchFamily="49" charset="0"/>
                    <a:cs typeface="JetBrains Mono Light" panose="02000009000000000000" pitchFamily="49" charset="0"/>
                  </a:rPr>
                  <a:t>-&gt;</a:t>
                </a:r>
                <a:r>
                  <a:rPr lang="en-US" i="1" dirty="0">
                    <a:solidFill>
                      <a:srgbClr val="EBE9EB"/>
                    </a:solidFill>
                    <a:latin typeface="JetBrains Mono Light" panose="02000009000000000000" pitchFamily="49" charset="0"/>
                    <a:cs typeface="JetBrains Mono Light" panose="02000009000000000000" pitchFamily="49" charset="0"/>
                  </a:rPr>
                  <a:t> </a:t>
                </a:r>
                <a:r>
                  <a:rPr lang="en-VN" i="1" dirty="0">
                    <a:solidFill>
                      <a:srgbClr val="EBE9EB"/>
                    </a:solidFill>
                    <a:latin typeface="JetBrains Mono Light" panose="02000009000000000000" pitchFamily="49" charset="0"/>
                    <a:cs typeface="JetBrains Mono Light" panose="02000009000000000000" pitchFamily="49" charset="0"/>
                  </a:rPr>
                  <a:t>T</a:t>
                </a:r>
                <a:r>
                  <a:rPr lang="en-US" i="1" dirty="0">
                    <a:solidFill>
                      <a:srgbClr val="EBE9EB"/>
                    </a:solidFill>
                    <a:latin typeface="JetBrains Mono Light" panose="02000009000000000000" pitchFamily="49" charset="0"/>
                    <a:cs typeface="JetBrains Mono Light" panose="02000009000000000000" pitchFamily="49" charset="0"/>
                  </a:rPr>
                  <a:t> </a:t>
                </a:r>
                <a:r>
                  <a:rPr lang="en-VN" i="1" dirty="0">
                    <a:solidFill>
                      <a:srgbClr val="EBE9EB"/>
                    </a:solidFill>
                    <a:latin typeface="JetBrains Mono Light" panose="02000009000000000000" pitchFamily="49" charset="0"/>
                    <a:cs typeface="JetBrains Mono Light" panose="02000009000000000000" pitchFamily="49" charset="0"/>
                  </a:rPr>
                  <a:t>= T </a:t>
                </a:r>
                <a14:m>
                  <m:oMath xmlns:m="http://schemas.openxmlformats.org/officeDocument/2006/math">
                    <m:r>
                      <a:rPr lang="en-VN" i="1">
                        <a:solidFill>
                          <a:srgbClr val="EBE9EB"/>
                        </a:solidFill>
                        <a:latin typeface="Cambria Math" panose="02040503050406030204" pitchFamily="18" charset="0"/>
                        <a:ea typeface="Cambria Math" panose="02040503050406030204" pitchFamily="18" charset="0"/>
                      </a:rPr>
                      <m:t>∪</m:t>
                    </m:r>
                    <m:d>
                      <m:dPr>
                        <m:begChr m:val="{"/>
                        <m:endChr m:val="}"/>
                        <m:ctrlPr>
                          <a:rPr lang="vi-VN" i="1">
                            <a:solidFill>
                              <a:srgbClr val="EBE9EB"/>
                            </a:solidFill>
                            <a:latin typeface="Cambria Math" panose="02040503050406030204" pitchFamily="18" charset="0"/>
                            <a:ea typeface="Cambria Math" panose="02040503050406030204" pitchFamily="18" charset="0"/>
                          </a:rPr>
                        </m:ctrlPr>
                      </m:dPr>
                      <m:e>
                        <m:r>
                          <a:rPr lang="vi-VN" i="1">
                            <a:solidFill>
                              <a:srgbClr val="EBE9EB"/>
                            </a:solidFill>
                            <a:latin typeface="Cambria Math" panose="02040503050406030204" pitchFamily="18" charset="0"/>
                            <a:ea typeface="Cambria Math" panose="02040503050406030204" pitchFamily="18" charset="0"/>
                          </a:rPr>
                          <m:t>𝑒</m:t>
                        </m:r>
                      </m:e>
                    </m:d>
                  </m:oMath>
                </a14:m>
                <a:endParaRPr lang="en-VN" i="1" dirty="0">
                  <a:solidFill>
                    <a:srgbClr val="EBE9EB"/>
                  </a:solidFill>
                  <a:latin typeface="JetBrains Mono Light" panose="02000009000000000000" pitchFamily="49" charset="0"/>
                  <a:cs typeface="JetBrains Mono Light" panose="02000009000000000000" pitchFamily="49" charset="0"/>
                </a:endParaRPr>
              </a:p>
              <a:p>
                <a:r>
                  <a:rPr lang="en-VN" i="1" dirty="0">
                    <a:solidFill>
                      <a:srgbClr val="EBE9EB"/>
                    </a:solidFill>
                    <a:latin typeface="JetBrains Mono Light" panose="02000009000000000000" pitchFamily="49" charset="0"/>
                    <a:cs typeface="JetBrains Mono Light" panose="02000009000000000000" pitchFamily="49" charset="0"/>
                  </a:rPr>
                  <a:t>+</a:t>
                </a:r>
                <a:r>
                  <a:rPr lang="en-US" i="1" dirty="0">
                    <a:solidFill>
                      <a:srgbClr val="EBE9EB"/>
                    </a:solidFill>
                    <a:latin typeface="JetBrains Mono Light" panose="02000009000000000000" pitchFamily="49" charset="0"/>
                    <a:cs typeface="JetBrains Mono Light" panose="02000009000000000000" pitchFamily="49" charset="0"/>
                  </a:rPr>
                  <a:t> </a:t>
                </a:r>
                <a:r>
                  <a:rPr lang="en-VN" i="1" dirty="0">
                    <a:solidFill>
                      <a:srgbClr val="EBE9EB"/>
                    </a:solidFill>
                    <a:latin typeface="JetBrains Mono Light" panose="02000009000000000000" pitchFamily="49" charset="0"/>
                    <a:cs typeface="JetBrains Mono Light" panose="02000009000000000000" pitchFamily="49" charset="0"/>
                  </a:rPr>
                  <a:t>Tạo chu trình</a:t>
                </a:r>
                <a:r>
                  <a:rPr lang="en-US" i="1" dirty="0">
                    <a:solidFill>
                      <a:srgbClr val="EBE9EB"/>
                    </a:solidFill>
                    <a:latin typeface="JetBrains Mono Light" panose="02000009000000000000" pitchFamily="49" charset="0"/>
                    <a:cs typeface="JetBrains Mono Light" panose="02000009000000000000" pitchFamily="49" charset="0"/>
                  </a:rPr>
                  <a:t>       </a:t>
                </a:r>
                <a:r>
                  <a:rPr lang="en-VN" i="1" dirty="0">
                    <a:solidFill>
                      <a:srgbClr val="EBE9EB"/>
                    </a:solidFill>
                    <a:latin typeface="JetBrains Mono Light" panose="02000009000000000000" pitchFamily="49" charset="0"/>
                    <a:cs typeface="JetBrains Mono Light" panose="02000009000000000000" pitchFamily="49" charset="0"/>
                  </a:rPr>
                  <a:t>-&gt; Ta bỏ qua</a:t>
                </a:r>
              </a:p>
            </p:txBody>
          </p:sp>
        </mc:Choice>
        <mc:Fallback xmlns="">
          <p:sp>
            <p:nvSpPr>
              <p:cNvPr id="49" name="TextBox 48">
                <a:extLst>
                  <a:ext uri="{FF2B5EF4-FFF2-40B4-BE49-F238E27FC236}">
                    <a16:creationId xmlns:a16="http://schemas.microsoft.com/office/drawing/2014/main" id="{9201ED80-22E1-4878-9B6B-278D97FDFA03}"/>
                  </a:ext>
                </a:extLst>
              </p:cNvPr>
              <p:cNvSpPr txBox="1">
                <a:spLocks noRot="1" noChangeAspect="1" noMove="1" noResize="1" noEditPoints="1" noAdjustHandles="1" noChangeArrowheads="1" noChangeShapeType="1" noTextEdit="1"/>
              </p:cNvSpPr>
              <p:nvPr/>
            </p:nvSpPr>
            <p:spPr>
              <a:xfrm>
                <a:off x="1403861" y="3757121"/>
                <a:ext cx="6202458" cy="923330"/>
              </a:xfrm>
              <a:prstGeom prst="rect">
                <a:avLst/>
              </a:prstGeom>
              <a:blipFill>
                <a:blip r:embed="rId3"/>
                <a:stretch>
                  <a:fillRect l="-786" t="-3289" b="-9211"/>
                </a:stretch>
              </a:blipFill>
            </p:spPr>
            <p:txBody>
              <a:bodyPr/>
              <a:lstStyle/>
              <a:p>
                <a:r>
                  <a:rPr lang="en-US">
                    <a:noFill/>
                  </a:rPr>
                  <a:t> </a:t>
                </a:r>
              </a:p>
            </p:txBody>
          </p:sp>
        </mc:Fallback>
      </mc:AlternateContent>
      <p:graphicFrame>
        <p:nvGraphicFramePr>
          <p:cNvPr id="50" name="Table 44">
            <a:extLst>
              <a:ext uri="{FF2B5EF4-FFF2-40B4-BE49-F238E27FC236}">
                <a16:creationId xmlns:a16="http://schemas.microsoft.com/office/drawing/2014/main" id="{AB97D590-06C7-4A1F-A5EC-F2FBF64BC22F}"/>
              </a:ext>
            </a:extLst>
          </p:cNvPr>
          <p:cNvGraphicFramePr>
            <a:graphicFrameLocks noGrp="1"/>
          </p:cNvGraphicFramePr>
          <p:nvPr>
            <p:extLst>
              <p:ext uri="{D42A27DB-BD31-4B8C-83A1-F6EECF244321}">
                <p14:modId xmlns:p14="http://schemas.microsoft.com/office/powerpoint/2010/main" val="1288641141"/>
              </p:ext>
            </p:extLst>
          </p:nvPr>
        </p:nvGraphicFramePr>
        <p:xfrm>
          <a:off x="9816350" y="3153222"/>
          <a:ext cx="1889566" cy="3107556"/>
        </p:xfrm>
        <a:graphic>
          <a:graphicData uri="http://schemas.openxmlformats.org/drawingml/2006/table">
            <a:tbl>
              <a:tblPr firstRow="1" bandRow="1">
                <a:solidFill>
                  <a:schemeClr val="tx1"/>
                </a:solidFill>
                <a:tableStyleId>{5C22544A-7EE6-4342-B048-85BDC9FD1C3A}</a:tableStyleId>
              </a:tblPr>
              <a:tblGrid>
                <a:gridCol w="944783">
                  <a:extLst>
                    <a:ext uri="{9D8B030D-6E8A-4147-A177-3AD203B41FA5}">
                      <a16:colId xmlns:a16="http://schemas.microsoft.com/office/drawing/2014/main" val="3498000576"/>
                    </a:ext>
                  </a:extLst>
                </a:gridCol>
                <a:gridCol w="944783">
                  <a:extLst>
                    <a:ext uri="{9D8B030D-6E8A-4147-A177-3AD203B41FA5}">
                      <a16:colId xmlns:a16="http://schemas.microsoft.com/office/drawing/2014/main" val="1228846467"/>
                    </a:ext>
                  </a:extLst>
                </a:gridCol>
              </a:tblGrid>
              <a:tr h="389061">
                <a:tc>
                  <a:txBody>
                    <a:bodyPr/>
                    <a:lstStyle/>
                    <a:p>
                      <a:pPr algn="ctr"/>
                      <a:r>
                        <a:rPr lang="en-VN" sz="1600" b="0" i="1" dirty="0">
                          <a:solidFill>
                            <a:schemeClr val="bg1">
                              <a:lumMod val="50000"/>
                            </a:schemeClr>
                          </a:solidFill>
                          <a:latin typeface="JetBrains Mono Light" panose="02000009000000000000" pitchFamily="49" charset="0"/>
                          <a:cs typeface="JetBrains Mono Light" panose="02000009000000000000" pitchFamily="49" charset="0"/>
                        </a:rPr>
                        <a:t>Cạnh</a:t>
                      </a:r>
                    </a:p>
                  </a:txBody>
                  <a:tcPr>
                    <a:solidFill>
                      <a:schemeClr val="tx1"/>
                    </a:solidFill>
                  </a:tcPr>
                </a:tc>
                <a:tc>
                  <a:txBody>
                    <a:bodyPr/>
                    <a:lstStyle/>
                    <a:p>
                      <a:r>
                        <a:rPr lang="en-VN" sz="1600" b="0" i="1" dirty="0">
                          <a:solidFill>
                            <a:schemeClr val="bg1">
                              <a:lumMod val="50000"/>
                            </a:schemeClr>
                          </a:solidFill>
                          <a:latin typeface="JetBrains Mono Light" panose="02000009000000000000" pitchFamily="49" charset="0"/>
                          <a:cs typeface="JetBrains Mono Light" panose="02000009000000000000" pitchFamily="49" charset="0"/>
                        </a:rPr>
                        <a:t>Độ dài</a:t>
                      </a:r>
                    </a:p>
                  </a:txBody>
                  <a:tcPr>
                    <a:solidFill>
                      <a:schemeClr val="tx1"/>
                    </a:solidFill>
                  </a:tcPr>
                </a:tc>
                <a:extLst>
                  <a:ext uri="{0D108BD9-81ED-4DB2-BD59-A6C34878D82A}">
                    <a16:rowId xmlns:a16="http://schemas.microsoft.com/office/drawing/2014/main" val="3071426674"/>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BC</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2</a:t>
                      </a:r>
                    </a:p>
                  </a:txBody>
                  <a:tcPr>
                    <a:solidFill>
                      <a:schemeClr val="tx1"/>
                    </a:solidFill>
                  </a:tcPr>
                </a:tc>
                <a:extLst>
                  <a:ext uri="{0D108BD9-81ED-4DB2-BD59-A6C34878D82A}">
                    <a16:rowId xmlns:a16="http://schemas.microsoft.com/office/drawing/2014/main" val="1475990308"/>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DE</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3</a:t>
                      </a:r>
                    </a:p>
                  </a:txBody>
                  <a:tcPr>
                    <a:solidFill>
                      <a:schemeClr val="tx1"/>
                    </a:solidFill>
                  </a:tcPr>
                </a:tc>
                <a:extLst>
                  <a:ext uri="{0D108BD9-81ED-4DB2-BD59-A6C34878D82A}">
                    <a16:rowId xmlns:a16="http://schemas.microsoft.com/office/drawing/2014/main" val="1259891391"/>
                  </a:ext>
                </a:extLst>
              </a:tr>
              <a:tr h="374605">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AD</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4</a:t>
                      </a:r>
                    </a:p>
                  </a:txBody>
                  <a:tcPr>
                    <a:solidFill>
                      <a:schemeClr val="tx1"/>
                    </a:solidFill>
                  </a:tcPr>
                </a:tc>
                <a:extLst>
                  <a:ext uri="{0D108BD9-81ED-4DB2-BD59-A6C34878D82A}">
                    <a16:rowId xmlns:a16="http://schemas.microsoft.com/office/drawing/2014/main" val="67915146"/>
                  </a:ext>
                </a:extLst>
              </a:tr>
              <a:tr h="398585">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AE</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4</a:t>
                      </a:r>
                    </a:p>
                  </a:txBody>
                  <a:tcPr>
                    <a:solidFill>
                      <a:schemeClr val="tx1"/>
                    </a:solidFill>
                  </a:tcPr>
                </a:tc>
                <a:extLst>
                  <a:ext uri="{0D108BD9-81ED-4DB2-BD59-A6C34878D82A}">
                    <a16:rowId xmlns:a16="http://schemas.microsoft.com/office/drawing/2014/main" val="3006373338"/>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BE</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5</a:t>
                      </a:r>
                    </a:p>
                  </a:txBody>
                  <a:tcPr>
                    <a:solidFill>
                      <a:schemeClr val="tx1"/>
                    </a:solidFill>
                  </a:tcPr>
                </a:tc>
                <a:extLst>
                  <a:ext uri="{0D108BD9-81ED-4DB2-BD59-A6C34878D82A}">
                    <a16:rowId xmlns:a16="http://schemas.microsoft.com/office/drawing/2014/main" val="1788501585"/>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AB</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6</a:t>
                      </a:r>
                    </a:p>
                  </a:txBody>
                  <a:tcPr>
                    <a:solidFill>
                      <a:schemeClr val="tx1"/>
                    </a:solidFill>
                  </a:tcPr>
                </a:tc>
                <a:extLst>
                  <a:ext uri="{0D108BD9-81ED-4DB2-BD59-A6C34878D82A}">
                    <a16:rowId xmlns:a16="http://schemas.microsoft.com/office/drawing/2014/main" val="252512457"/>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CD</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7</a:t>
                      </a:r>
                    </a:p>
                  </a:txBody>
                  <a:tcPr>
                    <a:solidFill>
                      <a:schemeClr val="tx1"/>
                    </a:solidFill>
                  </a:tcPr>
                </a:tc>
                <a:extLst>
                  <a:ext uri="{0D108BD9-81ED-4DB2-BD59-A6C34878D82A}">
                    <a16:rowId xmlns:a16="http://schemas.microsoft.com/office/drawing/2014/main" val="1139305008"/>
                  </a:ext>
                </a:extLst>
              </a:tr>
            </a:tbl>
          </a:graphicData>
        </a:graphic>
      </p:graphicFrame>
      <p:sp>
        <p:nvSpPr>
          <p:cNvPr id="51" name="TextBox 50">
            <a:extLst>
              <a:ext uri="{FF2B5EF4-FFF2-40B4-BE49-F238E27FC236}">
                <a16:creationId xmlns:a16="http://schemas.microsoft.com/office/drawing/2014/main" id="{1ED21D7D-EC9D-470F-B45D-769A9188EB11}"/>
              </a:ext>
            </a:extLst>
          </p:cNvPr>
          <p:cNvSpPr txBox="1"/>
          <p:nvPr/>
        </p:nvSpPr>
        <p:spPr>
          <a:xfrm>
            <a:off x="8419023" y="3153222"/>
            <a:ext cx="1153825"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Dữ</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liệu</a:t>
            </a:r>
            <a:endParaRPr lang="en-US" dirty="0">
              <a:solidFill>
                <a:schemeClr val="bg1"/>
              </a:solidFill>
              <a:latin typeface="JetBrains Mono Regular" panose="02000009000000000000" pitchFamily="49" charset="0"/>
              <a:cs typeface="JetBrains Mono Regular" panose="02000009000000000000" pitchFamily="49" charset="0"/>
            </a:endParaRPr>
          </a:p>
        </p:txBody>
      </p:sp>
    </p:spTree>
    <p:extLst>
      <p:ext uri="{BB962C8B-B14F-4D97-AF65-F5344CB8AC3E}">
        <p14:creationId xmlns:p14="http://schemas.microsoft.com/office/powerpoint/2010/main" val="8240666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95ED7769-4A81-40FA-95EA-F07E81DF53F8}"/>
              </a:ext>
            </a:extLst>
          </p:cNvPr>
          <p:cNvSpPr>
            <a:spLocks noGrp="1"/>
          </p:cNvSpPr>
          <p:nvPr>
            <p:ph type="title"/>
          </p:nvPr>
        </p:nvSpPr>
        <p:spPr>
          <a:xfrm>
            <a:off x="838200" y="365125"/>
            <a:ext cx="10515600" cy="1325563"/>
          </a:xfrm>
        </p:spPr>
        <p:txBody>
          <a:bodyPr/>
          <a:lstStyle/>
          <a:p>
            <a:endParaRPr lang="en-US"/>
          </a:p>
        </p:txBody>
      </p:sp>
      <p:sp>
        <p:nvSpPr>
          <p:cNvPr id="19" name="Content Placeholder 2">
            <a:extLst>
              <a:ext uri="{FF2B5EF4-FFF2-40B4-BE49-F238E27FC236}">
                <a16:creationId xmlns:a16="http://schemas.microsoft.com/office/drawing/2014/main" id="{819FE16D-7B58-45E6-ADD0-06F3503270BB}"/>
              </a:ext>
            </a:extLst>
          </p:cNvPr>
          <p:cNvSpPr>
            <a:spLocks noGrp="1"/>
          </p:cNvSpPr>
          <p:nvPr>
            <p:ph idx="1"/>
          </p:nvPr>
        </p:nvSpPr>
        <p:spPr>
          <a:xfrm>
            <a:off x="838200" y="1825625"/>
            <a:ext cx="10515600" cy="4351338"/>
          </a:xfrm>
        </p:spPr>
        <p:txBody>
          <a:bodyPr/>
          <a:lstStyle/>
          <a:p>
            <a:endParaRPr lang="en-US"/>
          </a:p>
        </p:txBody>
      </p:sp>
      <p:sp>
        <p:nvSpPr>
          <p:cNvPr id="20" name="Rectangle 19">
            <a:extLst>
              <a:ext uri="{FF2B5EF4-FFF2-40B4-BE49-F238E27FC236}">
                <a16:creationId xmlns:a16="http://schemas.microsoft.com/office/drawing/2014/main" id="{D4135B46-AFEC-4B2C-A123-E15B19B5BCFB}"/>
              </a:ext>
            </a:extLst>
          </p:cNvPr>
          <p:cNvSpPr/>
          <p:nvPr/>
        </p:nvSpPr>
        <p:spPr>
          <a:xfrm>
            <a:off x="0" y="-4207"/>
            <a:ext cx="12192000" cy="68711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JetBrains Mono Medium" panose="02000009000000000000" pitchFamily="49" charset="0"/>
              <a:cs typeface="JetBrains Mono Medium" panose="02000009000000000000" pitchFamily="49" charset="0"/>
            </a:endParaRPr>
          </a:p>
        </p:txBody>
      </p:sp>
      <p:sp>
        <p:nvSpPr>
          <p:cNvPr id="21" name="Credit MAIN">
            <a:extLst>
              <a:ext uri="{FF2B5EF4-FFF2-40B4-BE49-F238E27FC236}">
                <a16:creationId xmlns:a16="http://schemas.microsoft.com/office/drawing/2014/main" id="{953A4B7F-97A7-4FBF-9555-0DD151212CD1}"/>
              </a:ext>
            </a:extLst>
          </p:cNvPr>
          <p:cNvSpPr txBox="1"/>
          <p:nvPr/>
        </p:nvSpPr>
        <p:spPr>
          <a:xfrm>
            <a:off x="50878" y="6432004"/>
            <a:ext cx="2668876"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Phạm</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Văn</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Quyết</a:t>
            </a:r>
            <a:endParaRPr lang="en-US" dirty="0">
              <a:solidFill>
                <a:schemeClr val="bg1">
                  <a:lumMod val="95000"/>
                  <a:alpha val="46000"/>
                </a:schemeClr>
              </a:solidFill>
            </a:endParaRPr>
          </a:p>
        </p:txBody>
      </p:sp>
      <p:sp>
        <p:nvSpPr>
          <p:cNvPr id="22" name="Header">
            <a:extLst>
              <a:ext uri="{FF2B5EF4-FFF2-40B4-BE49-F238E27FC236}">
                <a16:creationId xmlns:a16="http://schemas.microsoft.com/office/drawing/2014/main" id="{FF1A7388-47F5-4DA6-ADF5-7DE96475307F}"/>
              </a:ext>
            </a:extLst>
          </p:cNvPr>
          <p:cNvSpPr txBox="1"/>
          <p:nvPr/>
        </p:nvSpPr>
        <p:spPr>
          <a:xfrm>
            <a:off x="50878" y="79574"/>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52" name="Rectangle 51">
            <a:extLst>
              <a:ext uri="{FF2B5EF4-FFF2-40B4-BE49-F238E27FC236}">
                <a16:creationId xmlns:a16="http://schemas.microsoft.com/office/drawing/2014/main" id="{B1DEA314-BD33-40A5-85C5-2A94FAB390CA}"/>
              </a:ext>
            </a:extLst>
          </p:cNvPr>
          <p:cNvSpPr/>
          <p:nvPr/>
        </p:nvSpPr>
        <p:spPr>
          <a:xfrm>
            <a:off x="591457" y="603227"/>
            <a:ext cx="4730637"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CB243EB8-6CAC-4AD4-A523-85CAE45F43CA}"/>
              </a:ext>
            </a:extLst>
          </p:cNvPr>
          <p:cNvSpPr txBox="1"/>
          <p:nvPr/>
        </p:nvSpPr>
        <p:spPr>
          <a:xfrm>
            <a:off x="603363" y="602701"/>
            <a:ext cx="4730637" cy="369332"/>
          </a:xfrm>
          <a:prstGeom prst="rect">
            <a:avLst/>
          </a:prstGeom>
          <a:no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Bài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toán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Cây</a:t>
            </a:r>
            <a:r>
              <a:rPr lang="en-US" dirty="0">
                <a:latin typeface="JetBrains Mono Regular" panose="02000009000000000000" pitchFamily="49" charset="0"/>
                <a:cs typeface="JetBrains Mono Regular" panose="02000009000000000000" pitchFamily="49" charset="0"/>
              </a:rPr>
              <a:t> bao </a:t>
            </a:r>
            <a:r>
              <a:rPr lang="en-US" dirty="0" err="1">
                <a:latin typeface="JetBrains Mono Regular" panose="02000009000000000000" pitchFamily="49" charset="0"/>
                <a:cs typeface="JetBrains Mono Regular" panose="02000009000000000000" pitchFamily="49" charset="0"/>
              </a:rPr>
              <a:t>trùm</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tối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thiểu</a:t>
            </a:r>
            <a:r>
              <a:rPr lang="en-US" dirty="0">
                <a:latin typeface="JetBrains Mono Regular" panose="02000009000000000000" pitchFamily="49" charset="0"/>
                <a:cs typeface="JetBrains Mono Regular" panose="02000009000000000000" pitchFamily="49" charset="0"/>
              </a:rPr>
              <a:t>”</a:t>
            </a:r>
          </a:p>
        </p:txBody>
      </p:sp>
      <p:sp>
        <p:nvSpPr>
          <p:cNvPr id="54" name="Footer: Part">
            <a:extLst>
              <a:ext uri="{FF2B5EF4-FFF2-40B4-BE49-F238E27FC236}">
                <a16:creationId xmlns:a16="http://schemas.microsoft.com/office/drawing/2014/main" id="{14C8B52B-D44A-4B71-9357-34B0DA68BD9D}"/>
              </a:ext>
            </a:extLst>
          </p:cNvPr>
          <p:cNvSpPr txBox="1"/>
          <p:nvPr/>
        </p:nvSpPr>
        <p:spPr>
          <a:xfrm>
            <a:off x="7455877" y="6464494"/>
            <a:ext cx="4764827" cy="369332"/>
          </a:xfrm>
          <a:prstGeom prst="rect">
            <a:avLst/>
          </a:prstGeom>
          <a:noFill/>
        </p:spPr>
        <p:txBody>
          <a:bodyPr wrap="square" rtlCol="0">
            <a:spAutoFit/>
          </a:bodyPr>
          <a:lstStyle/>
          <a:p>
            <a:r>
              <a:rPr lang="en-US" dirty="0" err="1">
                <a:solidFill>
                  <a:schemeClr val="bg1">
                    <a:lumMod val="95000"/>
                  </a:schemeClr>
                </a:solidFill>
                <a:latin typeface="JetBrains Mono Regular" panose="02000009000000000000" pitchFamily="49" charset="0"/>
                <a:cs typeface="JetBrains Mono Regular" panose="02000009000000000000" pitchFamily="49" charset="0"/>
              </a:rPr>
              <a:t>Bài</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toán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a:solidFill>
                  <a:schemeClr val="bg1">
                    <a:lumMod val="95000"/>
                  </a:schemeClr>
                </a:solidFill>
                <a:latin typeface="JetBrains Mono Light" panose="02000009000000000000" pitchFamily="49" charset="0"/>
                <a:cs typeface="JetBrains Mono Light" panose="02000009000000000000" pitchFamily="49" charset="0"/>
              </a:rPr>
              <a:t>“</a:t>
            </a:r>
            <a:r>
              <a:rPr lang="en-US" dirty="0" err="1">
                <a:solidFill>
                  <a:schemeClr val="bg1">
                    <a:lumMod val="95000"/>
                  </a:schemeClr>
                </a:solidFill>
                <a:latin typeface="JetBrains Mono Light" panose="02000009000000000000" pitchFamily="49" charset="0"/>
                <a:cs typeface="JetBrains Mono Light" panose="02000009000000000000" pitchFamily="49" charset="0"/>
              </a:rPr>
              <a:t>Cây</a:t>
            </a:r>
            <a:r>
              <a:rPr lang="en-US" dirty="0">
                <a:solidFill>
                  <a:schemeClr val="bg1">
                    <a:lumMod val="95000"/>
                  </a:schemeClr>
                </a:solidFill>
                <a:latin typeface="JetBrains Mono Light" panose="02000009000000000000" pitchFamily="49" charset="0"/>
                <a:cs typeface="JetBrains Mono Light" panose="02000009000000000000" pitchFamily="49" charset="0"/>
              </a:rPr>
              <a:t> bao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trùm</a:t>
            </a:r>
            <a:r>
              <a:rPr lang="en-US" dirty="0">
                <a:solidFill>
                  <a:schemeClr val="bg1">
                    <a:lumMod val="95000"/>
                  </a:schemeClr>
                </a:solidFill>
                <a:latin typeface="JetBrains Mono Light" panose="02000009000000000000" pitchFamily="49" charset="0"/>
                <a:cs typeface="JetBrains Mono Light" panose="02000009000000000000" pitchFamily="49" charset="0"/>
              </a:rPr>
              <a:t>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tối</a:t>
            </a:r>
            <a:r>
              <a:rPr lang="en-US" dirty="0">
                <a:solidFill>
                  <a:schemeClr val="bg1">
                    <a:lumMod val="95000"/>
                  </a:schemeClr>
                </a:solidFill>
                <a:latin typeface="JetBrains Mono Light" panose="02000009000000000000" pitchFamily="49" charset="0"/>
                <a:cs typeface="JetBrains Mono Light" panose="02000009000000000000" pitchFamily="49" charset="0"/>
              </a:rPr>
              <a:t>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thiểu</a:t>
            </a:r>
            <a:r>
              <a:rPr lang="en-US" dirty="0">
                <a:solidFill>
                  <a:schemeClr val="bg1">
                    <a:lumMod val="85000"/>
                  </a:schemeClr>
                </a:solidFill>
                <a:latin typeface="JetBrains Mono Light" panose="02000009000000000000"/>
                <a:cs typeface="JetBrains Mono" panose="02000009000000000000" pitchFamily="49" charset="0"/>
              </a:rPr>
              <a:t>”</a:t>
            </a:r>
          </a:p>
        </p:txBody>
      </p:sp>
      <p:sp>
        <p:nvSpPr>
          <p:cNvPr id="55" name="Footer: Title">
            <a:extLst>
              <a:ext uri="{FF2B5EF4-FFF2-40B4-BE49-F238E27FC236}">
                <a16:creationId xmlns:a16="http://schemas.microsoft.com/office/drawing/2014/main" id="{BF7B329F-BBD4-4CE5-92B8-228711FCE729}"/>
              </a:ext>
            </a:extLst>
          </p:cNvPr>
          <p:cNvSpPr txBox="1"/>
          <p:nvPr/>
        </p:nvSpPr>
        <p:spPr>
          <a:xfrm>
            <a:off x="6342196" y="6469576"/>
            <a:ext cx="1215645"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a:t>
            </a:r>
          </a:p>
        </p:txBody>
      </p:sp>
      <p:sp>
        <p:nvSpPr>
          <p:cNvPr id="56" name="PAGE NUM 0">
            <a:extLst>
              <a:ext uri="{FF2B5EF4-FFF2-40B4-BE49-F238E27FC236}">
                <a16:creationId xmlns:a16="http://schemas.microsoft.com/office/drawing/2014/main" id="{C5FCBFDC-7226-4A48-ACEF-DE591BDFD048}"/>
              </a:ext>
            </a:extLst>
          </p:cNvPr>
          <p:cNvSpPr txBox="1"/>
          <p:nvPr/>
        </p:nvSpPr>
        <p:spPr>
          <a:xfrm>
            <a:off x="11599908" y="-510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5</a:t>
            </a:r>
          </a:p>
        </p:txBody>
      </p:sp>
      <p:sp>
        <p:nvSpPr>
          <p:cNvPr id="57" name="PAGE NUM 1">
            <a:extLst>
              <a:ext uri="{FF2B5EF4-FFF2-40B4-BE49-F238E27FC236}">
                <a16:creationId xmlns:a16="http://schemas.microsoft.com/office/drawing/2014/main" id="{1B771E83-B986-46D4-B444-3C2D5BBE760A}"/>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1</a:t>
            </a:r>
            <a:endParaRPr lang="en-US" dirty="0"/>
          </a:p>
        </p:txBody>
      </p:sp>
      <p:sp>
        <p:nvSpPr>
          <p:cNvPr id="60" name="TextBox 59">
            <a:extLst>
              <a:ext uri="{FF2B5EF4-FFF2-40B4-BE49-F238E27FC236}">
                <a16:creationId xmlns:a16="http://schemas.microsoft.com/office/drawing/2014/main" id="{6A406B24-D2F2-47E9-9DF4-A56A04DB1F3F}"/>
              </a:ext>
            </a:extLst>
          </p:cNvPr>
          <p:cNvSpPr txBox="1"/>
          <p:nvPr/>
        </p:nvSpPr>
        <p:spPr>
          <a:xfrm>
            <a:off x="944147" y="1080234"/>
            <a:ext cx="1775608" cy="369332"/>
          </a:xfrm>
          <a:prstGeom prst="rect">
            <a:avLst/>
          </a:prstGeom>
          <a:noFill/>
          <a:ln>
            <a:no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Phương</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pháp</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61" name="TextBox 60">
            <a:extLst>
              <a:ext uri="{FF2B5EF4-FFF2-40B4-BE49-F238E27FC236}">
                <a16:creationId xmlns:a16="http://schemas.microsoft.com/office/drawing/2014/main" id="{167C7D15-0577-4998-899C-E9DE54EF8906}"/>
              </a:ext>
            </a:extLst>
          </p:cNvPr>
          <p:cNvSpPr txBox="1"/>
          <p:nvPr/>
        </p:nvSpPr>
        <p:spPr>
          <a:xfrm>
            <a:off x="2664872" y="1092325"/>
            <a:ext cx="3305415" cy="369332"/>
          </a:xfrm>
          <a:prstGeom prst="rect">
            <a:avLst/>
          </a:prstGeom>
          <a:noFill/>
        </p:spPr>
        <p:txBody>
          <a:bodyPr wrap="square" rtlCol="0">
            <a:spAutoFit/>
          </a:bodyPr>
          <a:lstStyle/>
          <a:p>
            <a:pPr marL="285750" indent="-285750">
              <a:buFont typeface="Arial" panose="020B0604020202020204" pitchFamily="34" charset="0"/>
              <a:buChar char="•"/>
            </a:pP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Thuật</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toán</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Kruksal</a:t>
            </a:r>
            <a:endParaRPr lang="en-US" i="1" dirty="0">
              <a:latin typeface="JetBrains Mono ExtraLight" panose="02000009000000000000" pitchFamily="49" charset="0"/>
              <a:cs typeface="JetBrains Mono ExtraLight" panose="02000009000000000000" pitchFamily="49" charset="0"/>
            </a:endParaRPr>
          </a:p>
        </p:txBody>
      </p:sp>
      <p:sp>
        <p:nvSpPr>
          <p:cNvPr id="122" name="Rectangle 121">
            <a:extLst>
              <a:ext uri="{FF2B5EF4-FFF2-40B4-BE49-F238E27FC236}">
                <a16:creationId xmlns:a16="http://schemas.microsoft.com/office/drawing/2014/main" id="{D8B6D1F9-F8EE-4613-A4E1-A32D434D25D4}"/>
              </a:ext>
            </a:extLst>
          </p:cNvPr>
          <p:cNvSpPr/>
          <p:nvPr/>
        </p:nvSpPr>
        <p:spPr>
          <a:xfrm>
            <a:off x="8477627" y="567729"/>
            <a:ext cx="3163614" cy="192339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cxnSp>
        <p:nvCxnSpPr>
          <p:cNvPr id="123" name="Straight Connector 122">
            <a:extLst>
              <a:ext uri="{FF2B5EF4-FFF2-40B4-BE49-F238E27FC236}">
                <a16:creationId xmlns:a16="http://schemas.microsoft.com/office/drawing/2014/main" id="{8CE26FC3-3745-4488-8698-61FA100A4647}"/>
              </a:ext>
            </a:extLst>
          </p:cNvPr>
          <p:cNvCxnSpPr>
            <a:cxnSpLocks/>
          </p:cNvCxnSpPr>
          <p:nvPr/>
        </p:nvCxnSpPr>
        <p:spPr>
          <a:xfrm flipH="1">
            <a:off x="8477627" y="567729"/>
            <a:ext cx="3163614" cy="19233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FD319138-4E57-4BE7-A509-96C0AB69D955}"/>
              </a:ext>
            </a:extLst>
          </p:cNvPr>
          <p:cNvCxnSpPr>
            <a:cxnSpLocks/>
          </p:cNvCxnSpPr>
          <p:nvPr/>
        </p:nvCxnSpPr>
        <p:spPr>
          <a:xfrm>
            <a:off x="8549432" y="660062"/>
            <a:ext cx="1503676" cy="915530"/>
          </a:xfrm>
          <a:prstGeom prst="line">
            <a:avLst/>
          </a:prstGeom>
        </p:spPr>
        <p:style>
          <a:lnRef idx="1">
            <a:schemeClr val="accent1"/>
          </a:lnRef>
          <a:fillRef idx="0">
            <a:schemeClr val="accent1"/>
          </a:fillRef>
          <a:effectRef idx="0">
            <a:schemeClr val="accent1"/>
          </a:effectRef>
          <a:fontRef idx="minor">
            <a:schemeClr val="tx1"/>
          </a:fontRef>
        </p:style>
      </p:cxnSp>
      <p:sp>
        <p:nvSpPr>
          <p:cNvPr id="125" name="Oval 124">
            <a:extLst>
              <a:ext uri="{FF2B5EF4-FFF2-40B4-BE49-F238E27FC236}">
                <a16:creationId xmlns:a16="http://schemas.microsoft.com/office/drawing/2014/main" id="{C930B661-BE56-43C7-B3B7-5D3A7F48F1EB}"/>
              </a:ext>
            </a:extLst>
          </p:cNvPr>
          <p:cNvSpPr/>
          <p:nvPr/>
        </p:nvSpPr>
        <p:spPr>
          <a:xfrm>
            <a:off x="8363327" y="453429"/>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dirty="0">
              <a:solidFill>
                <a:srgbClr val="EBE9EB"/>
              </a:solidFill>
            </a:endParaRPr>
          </a:p>
        </p:txBody>
      </p:sp>
      <p:sp>
        <p:nvSpPr>
          <p:cNvPr id="126" name="Oval 125">
            <a:extLst>
              <a:ext uri="{FF2B5EF4-FFF2-40B4-BE49-F238E27FC236}">
                <a16:creationId xmlns:a16="http://schemas.microsoft.com/office/drawing/2014/main" id="{B5CC2B85-CA03-4E20-932F-6A026CF3B1ED}"/>
              </a:ext>
            </a:extLst>
          </p:cNvPr>
          <p:cNvSpPr/>
          <p:nvPr/>
        </p:nvSpPr>
        <p:spPr>
          <a:xfrm>
            <a:off x="11512590" y="458541"/>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27" name="Oval 126">
            <a:extLst>
              <a:ext uri="{FF2B5EF4-FFF2-40B4-BE49-F238E27FC236}">
                <a16:creationId xmlns:a16="http://schemas.microsoft.com/office/drawing/2014/main" id="{57B94AEC-5ECC-46A0-B04E-66BE78CB8661}"/>
              </a:ext>
            </a:extLst>
          </p:cNvPr>
          <p:cNvSpPr/>
          <p:nvPr/>
        </p:nvSpPr>
        <p:spPr>
          <a:xfrm>
            <a:off x="9945134" y="1415125"/>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28" name="Oval 127">
            <a:extLst>
              <a:ext uri="{FF2B5EF4-FFF2-40B4-BE49-F238E27FC236}">
                <a16:creationId xmlns:a16="http://schemas.microsoft.com/office/drawing/2014/main" id="{AEF8CDE2-6392-4101-AEB3-477C219D2EE3}"/>
              </a:ext>
            </a:extLst>
          </p:cNvPr>
          <p:cNvSpPr/>
          <p:nvPr/>
        </p:nvSpPr>
        <p:spPr>
          <a:xfrm>
            <a:off x="8363327" y="2376822"/>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29" name="Oval 128">
            <a:extLst>
              <a:ext uri="{FF2B5EF4-FFF2-40B4-BE49-F238E27FC236}">
                <a16:creationId xmlns:a16="http://schemas.microsoft.com/office/drawing/2014/main" id="{26D249FB-C190-4EAC-A57E-9E1768D9CFCA}"/>
              </a:ext>
            </a:extLst>
          </p:cNvPr>
          <p:cNvSpPr/>
          <p:nvPr/>
        </p:nvSpPr>
        <p:spPr>
          <a:xfrm>
            <a:off x="11534049" y="2381143"/>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30" name="TextBox 129">
            <a:extLst>
              <a:ext uri="{FF2B5EF4-FFF2-40B4-BE49-F238E27FC236}">
                <a16:creationId xmlns:a16="http://schemas.microsoft.com/office/drawing/2014/main" id="{CDBB6146-6029-49C7-9810-0C41172112B9}"/>
              </a:ext>
            </a:extLst>
          </p:cNvPr>
          <p:cNvSpPr txBox="1"/>
          <p:nvPr/>
        </p:nvSpPr>
        <p:spPr>
          <a:xfrm>
            <a:off x="8318320" y="386204"/>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A</a:t>
            </a:r>
          </a:p>
        </p:txBody>
      </p:sp>
      <p:sp>
        <p:nvSpPr>
          <p:cNvPr id="131" name="TextBox 130">
            <a:extLst>
              <a:ext uri="{FF2B5EF4-FFF2-40B4-BE49-F238E27FC236}">
                <a16:creationId xmlns:a16="http://schemas.microsoft.com/office/drawing/2014/main" id="{F08C56B1-EB13-45C0-8F50-1D38673E3964}"/>
              </a:ext>
            </a:extLst>
          </p:cNvPr>
          <p:cNvSpPr txBox="1"/>
          <p:nvPr/>
        </p:nvSpPr>
        <p:spPr>
          <a:xfrm>
            <a:off x="11476468" y="400423"/>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B</a:t>
            </a:r>
          </a:p>
        </p:txBody>
      </p:sp>
      <p:sp>
        <p:nvSpPr>
          <p:cNvPr id="132" name="TextBox 131">
            <a:extLst>
              <a:ext uri="{FF2B5EF4-FFF2-40B4-BE49-F238E27FC236}">
                <a16:creationId xmlns:a16="http://schemas.microsoft.com/office/drawing/2014/main" id="{BE91EB33-9495-4523-A304-4B2E792EE6C4}"/>
              </a:ext>
            </a:extLst>
          </p:cNvPr>
          <p:cNvSpPr txBox="1"/>
          <p:nvPr/>
        </p:nvSpPr>
        <p:spPr>
          <a:xfrm>
            <a:off x="11483078" y="2325506"/>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C</a:t>
            </a:r>
          </a:p>
        </p:txBody>
      </p:sp>
      <p:sp>
        <p:nvSpPr>
          <p:cNvPr id="133" name="TextBox 132">
            <a:extLst>
              <a:ext uri="{FF2B5EF4-FFF2-40B4-BE49-F238E27FC236}">
                <a16:creationId xmlns:a16="http://schemas.microsoft.com/office/drawing/2014/main" id="{66591067-21B2-47F6-AD45-5BEF912BDDE6}"/>
              </a:ext>
            </a:extLst>
          </p:cNvPr>
          <p:cNvSpPr txBox="1"/>
          <p:nvPr/>
        </p:nvSpPr>
        <p:spPr>
          <a:xfrm>
            <a:off x="8325900" y="2319156"/>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D</a:t>
            </a:r>
          </a:p>
        </p:txBody>
      </p:sp>
      <p:sp>
        <p:nvSpPr>
          <p:cNvPr id="134" name="TextBox 133">
            <a:extLst>
              <a:ext uri="{FF2B5EF4-FFF2-40B4-BE49-F238E27FC236}">
                <a16:creationId xmlns:a16="http://schemas.microsoft.com/office/drawing/2014/main" id="{7A2F047F-7901-422A-AEB6-68A7956E2AD6}"/>
              </a:ext>
            </a:extLst>
          </p:cNvPr>
          <p:cNvSpPr txBox="1"/>
          <p:nvPr/>
        </p:nvSpPr>
        <p:spPr>
          <a:xfrm>
            <a:off x="9894375" y="1351109"/>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E</a:t>
            </a:r>
          </a:p>
        </p:txBody>
      </p:sp>
      <p:sp>
        <p:nvSpPr>
          <p:cNvPr id="135" name="TextBox 134">
            <a:extLst>
              <a:ext uri="{FF2B5EF4-FFF2-40B4-BE49-F238E27FC236}">
                <a16:creationId xmlns:a16="http://schemas.microsoft.com/office/drawing/2014/main" id="{D7CCA408-3852-4C54-85C3-347EEF86453E}"/>
              </a:ext>
            </a:extLst>
          </p:cNvPr>
          <p:cNvSpPr txBox="1"/>
          <p:nvPr/>
        </p:nvSpPr>
        <p:spPr>
          <a:xfrm>
            <a:off x="9902265" y="290730"/>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6</a:t>
            </a:r>
          </a:p>
        </p:txBody>
      </p:sp>
      <p:sp>
        <p:nvSpPr>
          <p:cNvPr id="136" name="TextBox 135">
            <a:extLst>
              <a:ext uri="{FF2B5EF4-FFF2-40B4-BE49-F238E27FC236}">
                <a16:creationId xmlns:a16="http://schemas.microsoft.com/office/drawing/2014/main" id="{29174FD1-B4AA-4357-8678-7A76B55AC813}"/>
              </a:ext>
            </a:extLst>
          </p:cNvPr>
          <p:cNvSpPr txBox="1"/>
          <p:nvPr/>
        </p:nvSpPr>
        <p:spPr>
          <a:xfrm>
            <a:off x="8210703" y="1347847"/>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4</a:t>
            </a:r>
          </a:p>
        </p:txBody>
      </p:sp>
      <p:sp>
        <p:nvSpPr>
          <p:cNvPr id="137" name="TextBox 136">
            <a:extLst>
              <a:ext uri="{FF2B5EF4-FFF2-40B4-BE49-F238E27FC236}">
                <a16:creationId xmlns:a16="http://schemas.microsoft.com/office/drawing/2014/main" id="{1D2BA152-88EB-4B1F-833A-026C2D8BF712}"/>
              </a:ext>
            </a:extLst>
          </p:cNvPr>
          <p:cNvSpPr txBox="1"/>
          <p:nvPr/>
        </p:nvSpPr>
        <p:spPr>
          <a:xfrm rot="1746466">
            <a:off x="9349986" y="839685"/>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4</a:t>
            </a:r>
          </a:p>
        </p:txBody>
      </p:sp>
      <p:sp>
        <p:nvSpPr>
          <p:cNvPr id="138" name="TextBox 137">
            <a:extLst>
              <a:ext uri="{FF2B5EF4-FFF2-40B4-BE49-F238E27FC236}">
                <a16:creationId xmlns:a16="http://schemas.microsoft.com/office/drawing/2014/main" id="{71852C81-1D4A-4B46-96A4-3E8FA1C69552}"/>
              </a:ext>
            </a:extLst>
          </p:cNvPr>
          <p:cNvSpPr txBox="1"/>
          <p:nvPr/>
        </p:nvSpPr>
        <p:spPr>
          <a:xfrm rot="19619130">
            <a:off x="9047734" y="1714091"/>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3</a:t>
            </a:r>
          </a:p>
        </p:txBody>
      </p:sp>
      <p:sp>
        <p:nvSpPr>
          <p:cNvPr id="139" name="TextBox 138">
            <a:extLst>
              <a:ext uri="{FF2B5EF4-FFF2-40B4-BE49-F238E27FC236}">
                <a16:creationId xmlns:a16="http://schemas.microsoft.com/office/drawing/2014/main" id="{19FD893F-8EA3-4FB5-958F-FC771A7EA2C3}"/>
              </a:ext>
            </a:extLst>
          </p:cNvPr>
          <p:cNvSpPr txBox="1"/>
          <p:nvPr/>
        </p:nvSpPr>
        <p:spPr>
          <a:xfrm rot="19577036">
            <a:off x="10459920" y="839685"/>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5</a:t>
            </a:r>
          </a:p>
        </p:txBody>
      </p:sp>
      <p:sp>
        <p:nvSpPr>
          <p:cNvPr id="140" name="TextBox 139">
            <a:extLst>
              <a:ext uri="{FF2B5EF4-FFF2-40B4-BE49-F238E27FC236}">
                <a16:creationId xmlns:a16="http://schemas.microsoft.com/office/drawing/2014/main" id="{5F079F19-0511-422E-A4EC-F969D9D5E49A}"/>
              </a:ext>
            </a:extLst>
          </p:cNvPr>
          <p:cNvSpPr txBox="1"/>
          <p:nvPr/>
        </p:nvSpPr>
        <p:spPr>
          <a:xfrm>
            <a:off x="9902265" y="2496757"/>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7</a:t>
            </a:r>
          </a:p>
        </p:txBody>
      </p:sp>
      <p:sp>
        <p:nvSpPr>
          <p:cNvPr id="141" name="TextBox 140">
            <a:extLst>
              <a:ext uri="{FF2B5EF4-FFF2-40B4-BE49-F238E27FC236}">
                <a16:creationId xmlns:a16="http://schemas.microsoft.com/office/drawing/2014/main" id="{4F3945A4-513F-4117-89D0-BF436DF9F8FA}"/>
              </a:ext>
            </a:extLst>
          </p:cNvPr>
          <p:cNvSpPr txBox="1"/>
          <p:nvPr/>
        </p:nvSpPr>
        <p:spPr>
          <a:xfrm>
            <a:off x="11346662" y="1415125"/>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2</a:t>
            </a:r>
          </a:p>
        </p:txBody>
      </p:sp>
      <p:sp>
        <p:nvSpPr>
          <p:cNvPr id="36" name="TextBox 35">
            <a:extLst>
              <a:ext uri="{FF2B5EF4-FFF2-40B4-BE49-F238E27FC236}">
                <a16:creationId xmlns:a16="http://schemas.microsoft.com/office/drawing/2014/main" id="{43EF5198-21C8-4ED8-B908-CB8D97DAFB69}"/>
              </a:ext>
            </a:extLst>
          </p:cNvPr>
          <p:cNvSpPr txBox="1"/>
          <p:nvPr/>
        </p:nvSpPr>
        <p:spPr>
          <a:xfrm>
            <a:off x="944146" y="1527944"/>
            <a:ext cx="2666562"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Các</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bước</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thực</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hiện</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37" name="TextBox 36">
            <a:extLst>
              <a:ext uri="{FF2B5EF4-FFF2-40B4-BE49-F238E27FC236}">
                <a16:creationId xmlns:a16="http://schemas.microsoft.com/office/drawing/2014/main" id="{1779715E-843D-4182-9CC8-A40A3B06D26D}"/>
              </a:ext>
            </a:extLst>
          </p:cNvPr>
          <p:cNvSpPr txBox="1"/>
          <p:nvPr/>
        </p:nvSpPr>
        <p:spPr>
          <a:xfrm>
            <a:off x="944147" y="2111752"/>
            <a:ext cx="331487" cy="369332"/>
          </a:xfrm>
          <a:prstGeom prst="rect">
            <a:avLst/>
          </a:prstGeom>
          <a:noFill/>
          <a:ln>
            <a:solidFill>
              <a:schemeClr val="bg1">
                <a:lumMod val="50000"/>
              </a:schemeClr>
            </a:solid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1</a:t>
            </a:r>
          </a:p>
        </p:txBody>
      </p:sp>
      <p:sp>
        <p:nvSpPr>
          <p:cNvPr id="38" name="TextBox 37">
            <a:extLst>
              <a:ext uri="{FF2B5EF4-FFF2-40B4-BE49-F238E27FC236}">
                <a16:creationId xmlns:a16="http://schemas.microsoft.com/office/drawing/2014/main" id="{118CED78-337D-47EA-812F-47028CD968F8}"/>
              </a:ext>
            </a:extLst>
          </p:cNvPr>
          <p:cNvSpPr txBox="1"/>
          <p:nvPr/>
        </p:nvSpPr>
        <p:spPr>
          <a:xfrm>
            <a:off x="1403861" y="2055574"/>
            <a:ext cx="6202458" cy="923330"/>
          </a:xfrm>
          <a:prstGeom prst="rect">
            <a:avLst/>
          </a:prstGeom>
          <a:noFill/>
        </p:spPr>
        <p:txBody>
          <a:bodyPr wrap="square" rtlCol="0">
            <a:spAutoFit/>
          </a:bodyPr>
          <a:lstStyle/>
          <a:p>
            <a:r>
              <a:rPr lang="en-US" i="1" dirty="0" err="1">
                <a:solidFill>
                  <a:srgbClr val="EBE9EB"/>
                </a:solidFill>
                <a:latin typeface="JetBrains Mono Light" panose="02000009000000000000" pitchFamily="49" charset="0"/>
                <a:cs typeface="JetBrains Mono Light" panose="02000009000000000000" pitchFamily="49" charset="0"/>
              </a:rPr>
              <a:t>Sắp</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xếp</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tăng</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dần</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trong</a:t>
            </a:r>
            <a:r>
              <a:rPr lang="en-US" i="1" dirty="0">
                <a:solidFill>
                  <a:srgbClr val="EBE9EB"/>
                </a:solidFill>
                <a:latin typeface="JetBrains Mono Light" panose="02000009000000000000" pitchFamily="49" charset="0"/>
                <a:cs typeface="JetBrains Mono Light" panose="02000009000000000000" pitchFamily="49" charset="0"/>
              </a:rPr>
              <a:t> </a:t>
            </a:r>
            <a:r>
              <a:rPr lang="en-US" i="1" dirty="0" err="1">
                <a:solidFill>
                  <a:srgbClr val="EBE9EB"/>
                </a:solidFill>
                <a:latin typeface="JetBrains Mono Light" panose="02000009000000000000" pitchFamily="49" charset="0"/>
                <a:cs typeface="JetBrains Mono Light" panose="02000009000000000000" pitchFamily="49" charset="0"/>
              </a:rPr>
              <a:t>số</a:t>
            </a:r>
            <a:r>
              <a:rPr lang="en-US" i="1" dirty="0">
                <a:solidFill>
                  <a:srgbClr val="EBE9EB"/>
                </a:solidFill>
                <a:latin typeface="JetBrains Mono Light" panose="02000009000000000000" pitchFamily="49" charset="0"/>
                <a:cs typeface="JetBrains Mono Light" panose="02000009000000000000" pitchFamily="49" charset="0"/>
              </a:rPr>
              <a:t> </a:t>
            </a:r>
          </a:p>
          <a:p>
            <a:r>
              <a:rPr lang="en-US" i="1" dirty="0">
                <a:solidFill>
                  <a:schemeClr val="bg1">
                    <a:lumMod val="50000"/>
                  </a:schemeClr>
                </a:solidFill>
                <a:latin typeface="JetBrains Mono Light" panose="02000009000000000000" pitchFamily="49" charset="0"/>
                <a:cs typeface="JetBrains Mono Light" panose="02000009000000000000" pitchFamily="49" charset="0"/>
              </a:rPr>
              <a:t>(</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Trường</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hợp</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trọng</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số</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bằng</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nhau</a:t>
            </a:r>
            <a:r>
              <a:rPr lang="en-US" i="1" dirty="0">
                <a:solidFill>
                  <a:schemeClr val="bg1">
                    <a:lumMod val="50000"/>
                  </a:schemeClr>
                </a:solidFill>
                <a:latin typeface="JetBrains Mono Light" panose="02000009000000000000" pitchFamily="49" charset="0"/>
                <a:cs typeface="JetBrains Mono Light" panose="02000009000000000000" pitchFamily="49" charset="0"/>
              </a:rPr>
              <a:t> ta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sắp</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xếp</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theo</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bảng</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chữ</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cái</a:t>
            </a:r>
            <a:r>
              <a:rPr lang="en-US" i="1" dirty="0">
                <a:solidFill>
                  <a:schemeClr val="bg1">
                    <a:lumMod val="50000"/>
                  </a:schemeClr>
                </a:solidFill>
                <a:latin typeface="JetBrains Mono Light" panose="02000009000000000000" pitchFamily="49" charset="0"/>
                <a:cs typeface="JetBrains Mono Light" panose="02000009000000000000" pitchFamily="49" charset="0"/>
              </a:rPr>
              <a:t>)</a:t>
            </a:r>
          </a:p>
        </p:txBody>
      </p:sp>
      <p:sp>
        <p:nvSpPr>
          <p:cNvPr id="46" name="TextBox 45">
            <a:extLst>
              <a:ext uri="{FF2B5EF4-FFF2-40B4-BE49-F238E27FC236}">
                <a16:creationId xmlns:a16="http://schemas.microsoft.com/office/drawing/2014/main" id="{8722295B-1514-4377-B5CE-583593E90372}"/>
              </a:ext>
            </a:extLst>
          </p:cNvPr>
          <p:cNvSpPr txBox="1"/>
          <p:nvPr/>
        </p:nvSpPr>
        <p:spPr>
          <a:xfrm>
            <a:off x="944146" y="3113841"/>
            <a:ext cx="331487" cy="369332"/>
          </a:xfrm>
          <a:prstGeom prst="rect">
            <a:avLst/>
          </a:prstGeom>
          <a:noFill/>
          <a:ln>
            <a:solidFill>
              <a:schemeClr val="bg1">
                <a:lumMod val="50000"/>
              </a:schemeClr>
            </a:solid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2</a:t>
            </a:r>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98CAD4C-997B-47B1-B9EA-1DA44C07AD64}"/>
                  </a:ext>
                </a:extLst>
              </p:cNvPr>
              <p:cNvSpPr txBox="1"/>
              <p:nvPr/>
            </p:nvSpPr>
            <p:spPr>
              <a:xfrm>
                <a:off x="1403861" y="3126973"/>
                <a:ext cx="6202458" cy="369332"/>
              </a:xfrm>
              <a:prstGeom prst="rect">
                <a:avLst/>
              </a:prstGeom>
              <a:noFill/>
            </p:spPr>
            <p:txBody>
              <a:bodyPr wrap="square" rtlCol="0">
                <a:spAutoFit/>
              </a:bodyPr>
              <a:lstStyle/>
              <a:p>
                <a:r>
                  <a:rPr lang="en-VN" i="1" dirty="0">
                    <a:solidFill>
                      <a:srgbClr val="EBE9EB"/>
                    </a:solidFill>
                    <a:latin typeface="JetBrains Mono Light" panose="02000009000000000000" pitchFamily="49" charset="0"/>
                    <a:cs typeface="JetBrains Mono Light" panose="02000009000000000000" pitchFamily="49" charset="0"/>
                  </a:rPr>
                  <a:t>Khởi tạo T=</a:t>
                </a:r>
                <a14:m>
                  <m:oMath xmlns:m="http://schemas.openxmlformats.org/officeDocument/2006/math">
                    <m:r>
                      <a:rPr lang="en-VN" i="1" smtClean="0">
                        <a:solidFill>
                          <a:srgbClr val="EBE9EB"/>
                        </a:solidFill>
                        <a:latin typeface="Cambria Math" panose="02040503050406030204" pitchFamily="18" charset="0"/>
                        <a:ea typeface="Cambria Math" panose="02040503050406030204" pitchFamily="18" charset="0"/>
                      </a:rPr>
                      <m:t>∅</m:t>
                    </m:r>
                  </m:oMath>
                </a14:m>
                <a:r>
                  <a:rPr lang="en-VN" i="1" dirty="0">
                    <a:solidFill>
                      <a:srgbClr val="EBE9EB"/>
                    </a:solidFill>
                    <a:latin typeface="JetBrains Mono Light" panose="02000009000000000000" pitchFamily="49" charset="0"/>
                    <a:cs typeface="JetBrains Mono Light" panose="02000009000000000000" pitchFamily="49" charset="0"/>
                  </a:rPr>
                  <a:t> có n đỉnh</a:t>
                </a:r>
                <a:endParaRPr lang="en-US" i="1" dirty="0">
                  <a:solidFill>
                    <a:srgbClr val="EBE9EB"/>
                  </a:solidFill>
                  <a:latin typeface="JetBrains Mono Light" panose="02000009000000000000" pitchFamily="49" charset="0"/>
                  <a:cs typeface="JetBrains Mono Light" panose="02000009000000000000" pitchFamily="49" charset="0"/>
                </a:endParaRPr>
              </a:p>
            </p:txBody>
          </p:sp>
        </mc:Choice>
        <mc:Fallback xmlns="">
          <p:sp>
            <p:nvSpPr>
              <p:cNvPr id="47" name="TextBox 46">
                <a:extLst>
                  <a:ext uri="{FF2B5EF4-FFF2-40B4-BE49-F238E27FC236}">
                    <a16:creationId xmlns:a16="http://schemas.microsoft.com/office/drawing/2014/main" id="{598CAD4C-997B-47B1-B9EA-1DA44C07AD64}"/>
                  </a:ext>
                </a:extLst>
              </p:cNvPr>
              <p:cNvSpPr txBox="1">
                <a:spLocks noRot="1" noChangeAspect="1" noMove="1" noResize="1" noEditPoints="1" noAdjustHandles="1" noChangeArrowheads="1" noChangeShapeType="1" noTextEdit="1"/>
              </p:cNvSpPr>
              <p:nvPr/>
            </p:nvSpPr>
            <p:spPr>
              <a:xfrm>
                <a:off x="1403861" y="3126973"/>
                <a:ext cx="6202458" cy="369332"/>
              </a:xfrm>
              <a:prstGeom prst="rect">
                <a:avLst/>
              </a:prstGeom>
              <a:blipFill>
                <a:blip r:embed="rId2"/>
                <a:stretch>
                  <a:fillRect l="-786" t="-9836" b="-24590"/>
                </a:stretch>
              </a:blipFill>
            </p:spPr>
            <p:txBody>
              <a:bodyPr/>
              <a:lstStyle/>
              <a:p>
                <a:r>
                  <a:rPr lang="en-US">
                    <a:noFill/>
                  </a:rPr>
                  <a:t> </a:t>
                </a:r>
              </a:p>
            </p:txBody>
          </p:sp>
        </mc:Fallback>
      </mc:AlternateContent>
      <p:sp>
        <p:nvSpPr>
          <p:cNvPr id="48" name="TextBox 47">
            <a:extLst>
              <a:ext uri="{FF2B5EF4-FFF2-40B4-BE49-F238E27FC236}">
                <a16:creationId xmlns:a16="http://schemas.microsoft.com/office/drawing/2014/main" id="{0A20D38A-43C6-4409-813A-5E73552A06CB}"/>
              </a:ext>
            </a:extLst>
          </p:cNvPr>
          <p:cNvSpPr txBox="1"/>
          <p:nvPr/>
        </p:nvSpPr>
        <p:spPr>
          <a:xfrm>
            <a:off x="944146" y="3743989"/>
            <a:ext cx="331487" cy="369332"/>
          </a:xfrm>
          <a:prstGeom prst="rect">
            <a:avLst/>
          </a:prstGeom>
          <a:noFill/>
          <a:ln>
            <a:solidFill>
              <a:schemeClr val="bg1">
                <a:lumMod val="50000"/>
              </a:schemeClr>
            </a:solid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3</a:t>
            </a: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01ED80-22E1-4878-9B6B-278D97FDFA03}"/>
                  </a:ext>
                </a:extLst>
              </p:cNvPr>
              <p:cNvSpPr txBox="1"/>
              <p:nvPr/>
            </p:nvSpPr>
            <p:spPr>
              <a:xfrm>
                <a:off x="1403861" y="3757121"/>
                <a:ext cx="6202458" cy="923330"/>
              </a:xfrm>
              <a:prstGeom prst="rect">
                <a:avLst/>
              </a:prstGeom>
              <a:noFill/>
            </p:spPr>
            <p:txBody>
              <a:bodyPr wrap="square" rtlCol="0">
                <a:spAutoFit/>
              </a:bodyPr>
              <a:lstStyle/>
              <a:p>
                <a:r>
                  <a:rPr lang="en-VN" i="1" dirty="0">
                    <a:solidFill>
                      <a:srgbClr val="EBE9EB"/>
                    </a:solidFill>
                    <a:latin typeface="JetBrains Mono Light" panose="02000009000000000000" pitchFamily="49" charset="0"/>
                    <a:cs typeface="JetBrains Mono Light" panose="02000009000000000000" pitchFamily="49" charset="0"/>
                  </a:rPr>
                  <a:t>Xét T </a:t>
                </a:r>
                <a14:m>
                  <m:oMath xmlns:m="http://schemas.openxmlformats.org/officeDocument/2006/math">
                    <m:r>
                      <a:rPr lang="en-VN" i="1">
                        <a:solidFill>
                          <a:srgbClr val="EBE9EB"/>
                        </a:solidFill>
                        <a:latin typeface="Cambria Math" panose="02040503050406030204" pitchFamily="18" charset="0"/>
                        <a:ea typeface="Cambria Math" panose="02040503050406030204" pitchFamily="18" charset="0"/>
                      </a:rPr>
                      <m:t>∪</m:t>
                    </m:r>
                    <m:d>
                      <m:dPr>
                        <m:begChr m:val="{"/>
                        <m:endChr m:val="}"/>
                        <m:ctrlPr>
                          <a:rPr lang="vi-VN" i="1">
                            <a:solidFill>
                              <a:srgbClr val="EBE9EB"/>
                            </a:solidFill>
                            <a:latin typeface="Cambria Math" panose="02040503050406030204" pitchFamily="18" charset="0"/>
                            <a:ea typeface="Cambria Math" panose="02040503050406030204" pitchFamily="18" charset="0"/>
                          </a:rPr>
                        </m:ctrlPr>
                      </m:dPr>
                      <m:e>
                        <m:r>
                          <a:rPr lang="vi-VN" i="1">
                            <a:solidFill>
                              <a:srgbClr val="EBE9EB"/>
                            </a:solidFill>
                            <a:latin typeface="Cambria Math" panose="02040503050406030204" pitchFamily="18" charset="0"/>
                            <a:ea typeface="Cambria Math" panose="02040503050406030204" pitchFamily="18" charset="0"/>
                          </a:rPr>
                          <m:t>𝑒</m:t>
                        </m:r>
                      </m:e>
                    </m:d>
                  </m:oMath>
                </a14:m>
                <a:endParaRPr lang="vi-VN" i="1" dirty="0">
                  <a:solidFill>
                    <a:srgbClr val="EBE9EB"/>
                  </a:solidFill>
                  <a:latin typeface="JetBrains Mono Light" panose="02000009000000000000" pitchFamily="49" charset="0"/>
                  <a:ea typeface="Cambria Math" panose="02040503050406030204" pitchFamily="18" charset="0"/>
                  <a:cs typeface="JetBrains Mono Light" panose="02000009000000000000" pitchFamily="49" charset="0"/>
                </a:endParaRPr>
              </a:p>
              <a:p>
                <a:r>
                  <a:rPr lang="en-VN" i="1" dirty="0">
                    <a:solidFill>
                      <a:srgbClr val="EBE9EB"/>
                    </a:solidFill>
                    <a:latin typeface="JetBrains Mono Light" panose="02000009000000000000" pitchFamily="49" charset="0"/>
                    <a:cs typeface="JetBrains Mono Light" panose="02000009000000000000" pitchFamily="49" charset="0"/>
                  </a:rPr>
                  <a:t>+</a:t>
                </a:r>
                <a:r>
                  <a:rPr lang="en-US" i="1" dirty="0">
                    <a:solidFill>
                      <a:srgbClr val="EBE9EB"/>
                    </a:solidFill>
                    <a:latin typeface="JetBrains Mono Light" panose="02000009000000000000" pitchFamily="49" charset="0"/>
                    <a:cs typeface="JetBrains Mono Light" panose="02000009000000000000" pitchFamily="49" charset="0"/>
                  </a:rPr>
                  <a:t> </a:t>
                </a:r>
                <a:r>
                  <a:rPr lang="en-VN" i="1" dirty="0">
                    <a:solidFill>
                      <a:srgbClr val="EBE9EB"/>
                    </a:solidFill>
                    <a:latin typeface="JetBrains Mono Light" panose="02000009000000000000" pitchFamily="49" charset="0"/>
                    <a:cs typeface="JetBrains Mono Light" panose="02000009000000000000" pitchFamily="49" charset="0"/>
                  </a:rPr>
                  <a:t>Không tạo chu trình</a:t>
                </a:r>
                <a:r>
                  <a:rPr lang="en-US" i="1" dirty="0">
                    <a:solidFill>
                      <a:srgbClr val="EBE9EB"/>
                    </a:solidFill>
                    <a:latin typeface="JetBrains Mono Light" panose="02000009000000000000" pitchFamily="49" charset="0"/>
                    <a:cs typeface="JetBrains Mono Light" panose="02000009000000000000" pitchFamily="49" charset="0"/>
                  </a:rPr>
                  <a:t> </a:t>
                </a:r>
                <a:r>
                  <a:rPr lang="en-VN" i="1" dirty="0">
                    <a:solidFill>
                      <a:srgbClr val="EBE9EB"/>
                    </a:solidFill>
                    <a:latin typeface="JetBrains Mono Light" panose="02000009000000000000" pitchFamily="49" charset="0"/>
                    <a:cs typeface="JetBrains Mono Light" panose="02000009000000000000" pitchFamily="49" charset="0"/>
                  </a:rPr>
                  <a:t>-&gt;</a:t>
                </a:r>
                <a:r>
                  <a:rPr lang="en-US" i="1" dirty="0">
                    <a:solidFill>
                      <a:srgbClr val="EBE9EB"/>
                    </a:solidFill>
                    <a:latin typeface="JetBrains Mono Light" panose="02000009000000000000" pitchFamily="49" charset="0"/>
                    <a:cs typeface="JetBrains Mono Light" panose="02000009000000000000" pitchFamily="49" charset="0"/>
                  </a:rPr>
                  <a:t> </a:t>
                </a:r>
                <a:r>
                  <a:rPr lang="en-VN" i="1" dirty="0">
                    <a:solidFill>
                      <a:srgbClr val="EBE9EB"/>
                    </a:solidFill>
                    <a:latin typeface="JetBrains Mono Light" panose="02000009000000000000" pitchFamily="49" charset="0"/>
                    <a:cs typeface="JetBrains Mono Light" panose="02000009000000000000" pitchFamily="49" charset="0"/>
                  </a:rPr>
                  <a:t>T</a:t>
                </a:r>
                <a:r>
                  <a:rPr lang="en-US" i="1" dirty="0">
                    <a:solidFill>
                      <a:srgbClr val="EBE9EB"/>
                    </a:solidFill>
                    <a:latin typeface="JetBrains Mono Light" panose="02000009000000000000" pitchFamily="49" charset="0"/>
                    <a:cs typeface="JetBrains Mono Light" panose="02000009000000000000" pitchFamily="49" charset="0"/>
                  </a:rPr>
                  <a:t> </a:t>
                </a:r>
                <a:r>
                  <a:rPr lang="en-VN" i="1" dirty="0">
                    <a:solidFill>
                      <a:srgbClr val="EBE9EB"/>
                    </a:solidFill>
                    <a:latin typeface="JetBrains Mono Light" panose="02000009000000000000" pitchFamily="49" charset="0"/>
                    <a:cs typeface="JetBrains Mono Light" panose="02000009000000000000" pitchFamily="49" charset="0"/>
                  </a:rPr>
                  <a:t>= T </a:t>
                </a:r>
                <a14:m>
                  <m:oMath xmlns:m="http://schemas.openxmlformats.org/officeDocument/2006/math">
                    <m:r>
                      <a:rPr lang="en-VN" i="1">
                        <a:solidFill>
                          <a:srgbClr val="EBE9EB"/>
                        </a:solidFill>
                        <a:latin typeface="Cambria Math" panose="02040503050406030204" pitchFamily="18" charset="0"/>
                        <a:ea typeface="Cambria Math" panose="02040503050406030204" pitchFamily="18" charset="0"/>
                      </a:rPr>
                      <m:t>∪</m:t>
                    </m:r>
                    <m:d>
                      <m:dPr>
                        <m:begChr m:val="{"/>
                        <m:endChr m:val="}"/>
                        <m:ctrlPr>
                          <a:rPr lang="vi-VN" i="1">
                            <a:solidFill>
                              <a:srgbClr val="EBE9EB"/>
                            </a:solidFill>
                            <a:latin typeface="Cambria Math" panose="02040503050406030204" pitchFamily="18" charset="0"/>
                            <a:ea typeface="Cambria Math" panose="02040503050406030204" pitchFamily="18" charset="0"/>
                          </a:rPr>
                        </m:ctrlPr>
                      </m:dPr>
                      <m:e>
                        <m:r>
                          <a:rPr lang="vi-VN" i="1">
                            <a:solidFill>
                              <a:srgbClr val="EBE9EB"/>
                            </a:solidFill>
                            <a:latin typeface="Cambria Math" panose="02040503050406030204" pitchFamily="18" charset="0"/>
                            <a:ea typeface="Cambria Math" panose="02040503050406030204" pitchFamily="18" charset="0"/>
                          </a:rPr>
                          <m:t>𝑒</m:t>
                        </m:r>
                      </m:e>
                    </m:d>
                  </m:oMath>
                </a14:m>
                <a:endParaRPr lang="en-VN" i="1" dirty="0">
                  <a:solidFill>
                    <a:srgbClr val="EBE9EB"/>
                  </a:solidFill>
                  <a:latin typeface="JetBrains Mono Light" panose="02000009000000000000" pitchFamily="49" charset="0"/>
                  <a:cs typeface="JetBrains Mono Light" panose="02000009000000000000" pitchFamily="49" charset="0"/>
                </a:endParaRPr>
              </a:p>
              <a:p>
                <a:r>
                  <a:rPr lang="en-VN" i="1" dirty="0">
                    <a:solidFill>
                      <a:srgbClr val="EBE9EB"/>
                    </a:solidFill>
                    <a:latin typeface="JetBrains Mono Light" panose="02000009000000000000" pitchFamily="49" charset="0"/>
                    <a:cs typeface="JetBrains Mono Light" panose="02000009000000000000" pitchFamily="49" charset="0"/>
                  </a:rPr>
                  <a:t>+</a:t>
                </a:r>
                <a:r>
                  <a:rPr lang="en-US" i="1" dirty="0">
                    <a:solidFill>
                      <a:srgbClr val="EBE9EB"/>
                    </a:solidFill>
                    <a:latin typeface="JetBrains Mono Light" panose="02000009000000000000" pitchFamily="49" charset="0"/>
                    <a:cs typeface="JetBrains Mono Light" panose="02000009000000000000" pitchFamily="49" charset="0"/>
                  </a:rPr>
                  <a:t> </a:t>
                </a:r>
                <a:r>
                  <a:rPr lang="en-VN" i="1" dirty="0">
                    <a:solidFill>
                      <a:srgbClr val="EBE9EB"/>
                    </a:solidFill>
                    <a:latin typeface="JetBrains Mono Light" panose="02000009000000000000" pitchFamily="49" charset="0"/>
                    <a:cs typeface="JetBrains Mono Light" panose="02000009000000000000" pitchFamily="49" charset="0"/>
                  </a:rPr>
                  <a:t>Tạo chu trình</a:t>
                </a:r>
                <a:r>
                  <a:rPr lang="en-US" i="1" dirty="0">
                    <a:solidFill>
                      <a:srgbClr val="EBE9EB"/>
                    </a:solidFill>
                    <a:latin typeface="JetBrains Mono Light" panose="02000009000000000000" pitchFamily="49" charset="0"/>
                    <a:cs typeface="JetBrains Mono Light" panose="02000009000000000000" pitchFamily="49" charset="0"/>
                  </a:rPr>
                  <a:t>       </a:t>
                </a:r>
                <a:r>
                  <a:rPr lang="en-VN" i="1" dirty="0">
                    <a:solidFill>
                      <a:srgbClr val="EBE9EB"/>
                    </a:solidFill>
                    <a:latin typeface="JetBrains Mono Light" panose="02000009000000000000" pitchFamily="49" charset="0"/>
                    <a:cs typeface="JetBrains Mono Light" panose="02000009000000000000" pitchFamily="49" charset="0"/>
                  </a:rPr>
                  <a:t>-&gt; Ta bỏ qua</a:t>
                </a:r>
              </a:p>
            </p:txBody>
          </p:sp>
        </mc:Choice>
        <mc:Fallback xmlns="">
          <p:sp>
            <p:nvSpPr>
              <p:cNvPr id="49" name="TextBox 48">
                <a:extLst>
                  <a:ext uri="{FF2B5EF4-FFF2-40B4-BE49-F238E27FC236}">
                    <a16:creationId xmlns:a16="http://schemas.microsoft.com/office/drawing/2014/main" id="{9201ED80-22E1-4878-9B6B-278D97FDFA03}"/>
                  </a:ext>
                </a:extLst>
              </p:cNvPr>
              <p:cNvSpPr txBox="1">
                <a:spLocks noRot="1" noChangeAspect="1" noMove="1" noResize="1" noEditPoints="1" noAdjustHandles="1" noChangeArrowheads="1" noChangeShapeType="1" noTextEdit="1"/>
              </p:cNvSpPr>
              <p:nvPr/>
            </p:nvSpPr>
            <p:spPr>
              <a:xfrm>
                <a:off x="1403861" y="3757121"/>
                <a:ext cx="6202458" cy="923330"/>
              </a:xfrm>
              <a:prstGeom prst="rect">
                <a:avLst/>
              </a:prstGeom>
              <a:blipFill>
                <a:blip r:embed="rId3"/>
                <a:stretch>
                  <a:fillRect l="-786" t="-3289" b="-9211"/>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D0C74097-311B-42BF-9F4A-E8B7B87CA533}"/>
              </a:ext>
            </a:extLst>
          </p:cNvPr>
          <p:cNvSpPr txBox="1"/>
          <p:nvPr/>
        </p:nvSpPr>
        <p:spPr>
          <a:xfrm>
            <a:off x="944146" y="4726440"/>
            <a:ext cx="331487" cy="369332"/>
          </a:xfrm>
          <a:prstGeom prst="rect">
            <a:avLst/>
          </a:prstGeom>
          <a:solidFill>
            <a:schemeClr val="bg1"/>
          </a:solidFill>
          <a:ln>
            <a:solidFill>
              <a:schemeClr val="bg1">
                <a:lumMod val="50000"/>
              </a:schemeClr>
            </a:solidFill>
          </a:ln>
        </p:spPr>
        <p:txBody>
          <a:bodyPr wrap="square" rtlCol="0">
            <a:spAutoFit/>
          </a:bodyPr>
          <a:lstStyle/>
          <a:p>
            <a:pPr algn="r"/>
            <a:r>
              <a:rPr lang="en-US" dirty="0">
                <a:latin typeface="JetBrains Mono Medium" panose="02000009000000000000" pitchFamily="49" charset="0"/>
                <a:cs typeface="JetBrains Mono Medium" panose="02000009000000000000" pitchFamily="49" charset="0"/>
              </a:rPr>
              <a:t>4</a:t>
            </a:r>
          </a:p>
        </p:txBody>
      </p:sp>
      <p:sp>
        <p:nvSpPr>
          <p:cNvPr id="43" name="TextBox 42">
            <a:extLst>
              <a:ext uri="{FF2B5EF4-FFF2-40B4-BE49-F238E27FC236}">
                <a16:creationId xmlns:a16="http://schemas.microsoft.com/office/drawing/2014/main" id="{D27868BA-1D29-48EF-BCD7-9D626E09FEB6}"/>
              </a:ext>
            </a:extLst>
          </p:cNvPr>
          <p:cNvSpPr txBox="1"/>
          <p:nvPr/>
        </p:nvSpPr>
        <p:spPr>
          <a:xfrm>
            <a:off x="1403861" y="4739572"/>
            <a:ext cx="6202458" cy="369332"/>
          </a:xfrm>
          <a:prstGeom prst="rect">
            <a:avLst/>
          </a:prstGeom>
          <a:noFill/>
        </p:spPr>
        <p:txBody>
          <a:bodyPr wrap="square" rtlCol="0">
            <a:spAutoFit/>
          </a:bodyPr>
          <a:lstStyle/>
          <a:p>
            <a:r>
              <a:rPr lang="en-US" i="1" dirty="0">
                <a:solidFill>
                  <a:srgbClr val="EBE9EB"/>
                </a:solidFill>
                <a:latin typeface="JetBrains Mono Light" panose="02000009000000000000" pitchFamily="49" charset="0"/>
                <a:cs typeface="JetBrains Mono Light" panose="02000009000000000000" pitchFamily="49" charset="0"/>
              </a:rPr>
              <a:t>D</a:t>
            </a:r>
            <a:r>
              <a:rPr lang="en-VN" i="1" dirty="0">
                <a:solidFill>
                  <a:srgbClr val="EBE9EB"/>
                </a:solidFill>
                <a:latin typeface="JetBrains Mono Light" panose="02000009000000000000" pitchFamily="49" charset="0"/>
                <a:cs typeface="JetBrains Mono Light" panose="02000009000000000000" pitchFamily="49" charset="0"/>
              </a:rPr>
              <a:t>ừng lại</a:t>
            </a:r>
            <a:r>
              <a:rPr lang="en-US" i="1" dirty="0">
                <a:solidFill>
                  <a:srgbClr val="EBE9EB"/>
                </a:solidFill>
                <a:latin typeface="JetBrains Mono Light" panose="02000009000000000000" pitchFamily="49" charset="0"/>
                <a:cs typeface="JetBrains Mono Light" panose="02000009000000000000" pitchFamily="49" charset="0"/>
              </a:rPr>
              <a:t> k</a:t>
            </a:r>
            <a:r>
              <a:rPr lang="en-VN" i="1" dirty="0">
                <a:solidFill>
                  <a:srgbClr val="EBE9EB"/>
                </a:solidFill>
                <a:latin typeface="JetBrains Mono Light" panose="02000009000000000000" pitchFamily="49" charset="0"/>
                <a:cs typeface="JetBrains Mono Light" panose="02000009000000000000" pitchFamily="49" charset="0"/>
              </a:rPr>
              <a:t>hi T đủ n-1</a:t>
            </a:r>
          </a:p>
        </p:txBody>
      </p:sp>
      <p:graphicFrame>
        <p:nvGraphicFramePr>
          <p:cNvPr id="44" name="Table 44">
            <a:extLst>
              <a:ext uri="{FF2B5EF4-FFF2-40B4-BE49-F238E27FC236}">
                <a16:creationId xmlns:a16="http://schemas.microsoft.com/office/drawing/2014/main" id="{D4A84422-9326-4432-A631-7E58A9071F71}"/>
              </a:ext>
            </a:extLst>
          </p:cNvPr>
          <p:cNvGraphicFramePr>
            <a:graphicFrameLocks noGrp="1"/>
          </p:cNvGraphicFramePr>
          <p:nvPr>
            <p:extLst>
              <p:ext uri="{D42A27DB-BD31-4B8C-83A1-F6EECF244321}">
                <p14:modId xmlns:p14="http://schemas.microsoft.com/office/powerpoint/2010/main" val="1288641141"/>
              </p:ext>
            </p:extLst>
          </p:nvPr>
        </p:nvGraphicFramePr>
        <p:xfrm>
          <a:off x="9816350" y="3153222"/>
          <a:ext cx="1889566" cy="3107556"/>
        </p:xfrm>
        <a:graphic>
          <a:graphicData uri="http://schemas.openxmlformats.org/drawingml/2006/table">
            <a:tbl>
              <a:tblPr firstRow="1" bandRow="1">
                <a:solidFill>
                  <a:schemeClr val="tx1"/>
                </a:solidFill>
                <a:tableStyleId>{5C22544A-7EE6-4342-B048-85BDC9FD1C3A}</a:tableStyleId>
              </a:tblPr>
              <a:tblGrid>
                <a:gridCol w="944783">
                  <a:extLst>
                    <a:ext uri="{9D8B030D-6E8A-4147-A177-3AD203B41FA5}">
                      <a16:colId xmlns:a16="http://schemas.microsoft.com/office/drawing/2014/main" val="3498000576"/>
                    </a:ext>
                  </a:extLst>
                </a:gridCol>
                <a:gridCol w="944783">
                  <a:extLst>
                    <a:ext uri="{9D8B030D-6E8A-4147-A177-3AD203B41FA5}">
                      <a16:colId xmlns:a16="http://schemas.microsoft.com/office/drawing/2014/main" val="1228846467"/>
                    </a:ext>
                  </a:extLst>
                </a:gridCol>
              </a:tblGrid>
              <a:tr h="389061">
                <a:tc>
                  <a:txBody>
                    <a:bodyPr/>
                    <a:lstStyle/>
                    <a:p>
                      <a:pPr algn="ctr"/>
                      <a:r>
                        <a:rPr lang="en-VN" sz="1600" b="0" i="1" dirty="0">
                          <a:solidFill>
                            <a:schemeClr val="bg1">
                              <a:lumMod val="50000"/>
                            </a:schemeClr>
                          </a:solidFill>
                          <a:latin typeface="JetBrains Mono Light" panose="02000009000000000000" pitchFamily="49" charset="0"/>
                          <a:cs typeface="JetBrains Mono Light" panose="02000009000000000000" pitchFamily="49" charset="0"/>
                        </a:rPr>
                        <a:t>Cạnh</a:t>
                      </a:r>
                    </a:p>
                  </a:txBody>
                  <a:tcPr>
                    <a:solidFill>
                      <a:schemeClr val="tx1"/>
                    </a:solidFill>
                  </a:tcPr>
                </a:tc>
                <a:tc>
                  <a:txBody>
                    <a:bodyPr/>
                    <a:lstStyle/>
                    <a:p>
                      <a:r>
                        <a:rPr lang="en-VN" sz="1600" b="0" i="1" dirty="0">
                          <a:solidFill>
                            <a:schemeClr val="bg1">
                              <a:lumMod val="50000"/>
                            </a:schemeClr>
                          </a:solidFill>
                          <a:latin typeface="JetBrains Mono Light" panose="02000009000000000000" pitchFamily="49" charset="0"/>
                          <a:cs typeface="JetBrains Mono Light" panose="02000009000000000000" pitchFamily="49" charset="0"/>
                        </a:rPr>
                        <a:t>Độ dài</a:t>
                      </a:r>
                    </a:p>
                  </a:txBody>
                  <a:tcPr>
                    <a:solidFill>
                      <a:schemeClr val="tx1"/>
                    </a:solidFill>
                  </a:tcPr>
                </a:tc>
                <a:extLst>
                  <a:ext uri="{0D108BD9-81ED-4DB2-BD59-A6C34878D82A}">
                    <a16:rowId xmlns:a16="http://schemas.microsoft.com/office/drawing/2014/main" val="3071426674"/>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BC</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2</a:t>
                      </a:r>
                    </a:p>
                  </a:txBody>
                  <a:tcPr>
                    <a:solidFill>
                      <a:schemeClr val="tx1"/>
                    </a:solidFill>
                  </a:tcPr>
                </a:tc>
                <a:extLst>
                  <a:ext uri="{0D108BD9-81ED-4DB2-BD59-A6C34878D82A}">
                    <a16:rowId xmlns:a16="http://schemas.microsoft.com/office/drawing/2014/main" val="1475990308"/>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DE</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3</a:t>
                      </a:r>
                    </a:p>
                  </a:txBody>
                  <a:tcPr>
                    <a:solidFill>
                      <a:schemeClr val="tx1"/>
                    </a:solidFill>
                  </a:tcPr>
                </a:tc>
                <a:extLst>
                  <a:ext uri="{0D108BD9-81ED-4DB2-BD59-A6C34878D82A}">
                    <a16:rowId xmlns:a16="http://schemas.microsoft.com/office/drawing/2014/main" val="1259891391"/>
                  </a:ext>
                </a:extLst>
              </a:tr>
              <a:tr h="374605">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AD</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4</a:t>
                      </a:r>
                    </a:p>
                  </a:txBody>
                  <a:tcPr>
                    <a:solidFill>
                      <a:schemeClr val="tx1"/>
                    </a:solidFill>
                  </a:tcPr>
                </a:tc>
                <a:extLst>
                  <a:ext uri="{0D108BD9-81ED-4DB2-BD59-A6C34878D82A}">
                    <a16:rowId xmlns:a16="http://schemas.microsoft.com/office/drawing/2014/main" val="67915146"/>
                  </a:ext>
                </a:extLst>
              </a:tr>
              <a:tr h="398585">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AE</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4</a:t>
                      </a:r>
                    </a:p>
                  </a:txBody>
                  <a:tcPr>
                    <a:solidFill>
                      <a:schemeClr val="tx1"/>
                    </a:solidFill>
                  </a:tcPr>
                </a:tc>
                <a:extLst>
                  <a:ext uri="{0D108BD9-81ED-4DB2-BD59-A6C34878D82A}">
                    <a16:rowId xmlns:a16="http://schemas.microsoft.com/office/drawing/2014/main" val="3006373338"/>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BE</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5</a:t>
                      </a:r>
                    </a:p>
                  </a:txBody>
                  <a:tcPr>
                    <a:solidFill>
                      <a:schemeClr val="tx1"/>
                    </a:solidFill>
                  </a:tcPr>
                </a:tc>
                <a:extLst>
                  <a:ext uri="{0D108BD9-81ED-4DB2-BD59-A6C34878D82A}">
                    <a16:rowId xmlns:a16="http://schemas.microsoft.com/office/drawing/2014/main" val="1788501585"/>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AB</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6</a:t>
                      </a:r>
                    </a:p>
                  </a:txBody>
                  <a:tcPr>
                    <a:solidFill>
                      <a:schemeClr val="tx1"/>
                    </a:solidFill>
                  </a:tcPr>
                </a:tc>
                <a:extLst>
                  <a:ext uri="{0D108BD9-81ED-4DB2-BD59-A6C34878D82A}">
                    <a16:rowId xmlns:a16="http://schemas.microsoft.com/office/drawing/2014/main" val="252512457"/>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CD</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7</a:t>
                      </a:r>
                    </a:p>
                  </a:txBody>
                  <a:tcPr>
                    <a:solidFill>
                      <a:schemeClr val="tx1"/>
                    </a:solidFill>
                  </a:tcPr>
                </a:tc>
                <a:extLst>
                  <a:ext uri="{0D108BD9-81ED-4DB2-BD59-A6C34878D82A}">
                    <a16:rowId xmlns:a16="http://schemas.microsoft.com/office/drawing/2014/main" val="1139305008"/>
                  </a:ext>
                </a:extLst>
              </a:tr>
            </a:tbl>
          </a:graphicData>
        </a:graphic>
      </p:graphicFrame>
      <p:sp>
        <p:nvSpPr>
          <p:cNvPr id="45" name="TextBox 44">
            <a:extLst>
              <a:ext uri="{FF2B5EF4-FFF2-40B4-BE49-F238E27FC236}">
                <a16:creationId xmlns:a16="http://schemas.microsoft.com/office/drawing/2014/main" id="{CE42B80A-B1D4-4A47-A755-2E1E1E507FB5}"/>
              </a:ext>
            </a:extLst>
          </p:cNvPr>
          <p:cNvSpPr txBox="1"/>
          <p:nvPr/>
        </p:nvSpPr>
        <p:spPr>
          <a:xfrm>
            <a:off x="8419023" y="3153222"/>
            <a:ext cx="1153825"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Dữ</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liệu</a:t>
            </a:r>
            <a:endParaRPr lang="en-US" dirty="0">
              <a:solidFill>
                <a:schemeClr val="bg1"/>
              </a:solidFill>
              <a:latin typeface="JetBrains Mono Regular" panose="02000009000000000000" pitchFamily="49" charset="0"/>
              <a:cs typeface="JetBrains Mono Regular" panose="02000009000000000000" pitchFamily="49" charset="0"/>
            </a:endParaRPr>
          </a:p>
        </p:txBody>
      </p:sp>
    </p:spTree>
    <p:extLst>
      <p:ext uri="{BB962C8B-B14F-4D97-AF65-F5344CB8AC3E}">
        <p14:creationId xmlns:p14="http://schemas.microsoft.com/office/powerpoint/2010/main" val="5765538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95ED7769-4A81-40FA-95EA-F07E81DF53F8}"/>
              </a:ext>
            </a:extLst>
          </p:cNvPr>
          <p:cNvSpPr>
            <a:spLocks noGrp="1"/>
          </p:cNvSpPr>
          <p:nvPr>
            <p:ph type="title"/>
          </p:nvPr>
        </p:nvSpPr>
        <p:spPr>
          <a:xfrm>
            <a:off x="838200" y="365125"/>
            <a:ext cx="10515600" cy="1325563"/>
          </a:xfrm>
        </p:spPr>
        <p:txBody>
          <a:bodyPr/>
          <a:lstStyle/>
          <a:p>
            <a:endParaRPr lang="en-US"/>
          </a:p>
        </p:txBody>
      </p:sp>
      <p:sp>
        <p:nvSpPr>
          <p:cNvPr id="19" name="Content Placeholder 2">
            <a:extLst>
              <a:ext uri="{FF2B5EF4-FFF2-40B4-BE49-F238E27FC236}">
                <a16:creationId xmlns:a16="http://schemas.microsoft.com/office/drawing/2014/main" id="{819FE16D-7B58-45E6-ADD0-06F3503270BB}"/>
              </a:ext>
            </a:extLst>
          </p:cNvPr>
          <p:cNvSpPr>
            <a:spLocks noGrp="1"/>
          </p:cNvSpPr>
          <p:nvPr>
            <p:ph idx="1"/>
          </p:nvPr>
        </p:nvSpPr>
        <p:spPr>
          <a:xfrm>
            <a:off x="838200" y="1825625"/>
            <a:ext cx="10515600" cy="4351338"/>
          </a:xfrm>
        </p:spPr>
        <p:txBody>
          <a:bodyPr/>
          <a:lstStyle/>
          <a:p>
            <a:endParaRPr lang="en-US"/>
          </a:p>
        </p:txBody>
      </p:sp>
      <p:sp>
        <p:nvSpPr>
          <p:cNvPr id="20" name="Rectangle 19">
            <a:extLst>
              <a:ext uri="{FF2B5EF4-FFF2-40B4-BE49-F238E27FC236}">
                <a16:creationId xmlns:a16="http://schemas.microsoft.com/office/drawing/2014/main" id="{D4135B46-AFEC-4B2C-A123-E15B19B5BCFB}"/>
              </a:ext>
            </a:extLst>
          </p:cNvPr>
          <p:cNvSpPr/>
          <p:nvPr/>
        </p:nvSpPr>
        <p:spPr>
          <a:xfrm>
            <a:off x="0" y="-4207"/>
            <a:ext cx="12192000" cy="68711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50000"/>
                </a:schemeClr>
              </a:solidFill>
              <a:latin typeface="JetBrains Mono Medium" panose="02000009000000000000" pitchFamily="49" charset="0"/>
              <a:cs typeface="JetBrains Mono Medium" panose="02000009000000000000" pitchFamily="49" charset="0"/>
            </a:endParaRPr>
          </a:p>
        </p:txBody>
      </p:sp>
      <p:sp>
        <p:nvSpPr>
          <p:cNvPr id="21" name="Credit MAIN">
            <a:extLst>
              <a:ext uri="{FF2B5EF4-FFF2-40B4-BE49-F238E27FC236}">
                <a16:creationId xmlns:a16="http://schemas.microsoft.com/office/drawing/2014/main" id="{953A4B7F-97A7-4FBF-9555-0DD151212CD1}"/>
              </a:ext>
            </a:extLst>
          </p:cNvPr>
          <p:cNvSpPr txBox="1"/>
          <p:nvPr/>
        </p:nvSpPr>
        <p:spPr>
          <a:xfrm>
            <a:off x="50878" y="6432004"/>
            <a:ext cx="2668876" cy="369332"/>
          </a:xfrm>
          <a:prstGeom prst="rect">
            <a:avLst/>
          </a:prstGeom>
          <a:noFill/>
        </p:spPr>
        <p:txBody>
          <a:bodyPr wrap="square" rtlCol="0">
            <a:spAutoFit/>
          </a:bodyPr>
          <a:lstStyle/>
          <a:p>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Phạm</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Văn</a:t>
            </a:r>
            <a:r>
              <a:rPr lang="en-US" sz="1800" spc="120" dirty="0">
                <a:solidFill>
                  <a:schemeClr val="bg1">
                    <a:lumMod val="95000"/>
                    <a:alpha val="46000"/>
                  </a:schemeClr>
                </a:solidFill>
                <a:latin typeface="JetBrains Mono Light" panose="02000009000000000000" pitchFamily="49" charset="0"/>
                <a:cs typeface="JetBrains Mono Light" panose="02000009000000000000" pitchFamily="49" charset="0"/>
              </a:rPr>
              <a:t> </a:t>
            </a:r>
            <a:r>
              <a:rPr lang="en-US" sz="1800" spc="120" dirty="0" err="1">
                <a:solidFill>
                  <a:schemeClr val="bg1">
                    <a:lumMod val="95000"/>
                    <a:alpha val="46000"/>
                  </a:schemeClr>
                </a:solidFill>
                <a:latin typeface="JetBrains Mono Light" panose="02000009000000000000" pitchFamily="49" charset="0"/>
                <a:cs typeface="JetBrains Mono Light" panose="02000009000000000000" pitchFamily="49" charset="0"/>
              </a:rPr>
              <a:t>Quyết</a:t>
            </a:r>
            <a:endParaRPr lang="en-US" dirty="0">
              <a:solidFill>
                <a:schemeClr val="bg1">
                  <a:lumMod val="95000"/>
                  <a:alpha val="46000"/>
                </a:schemeClr>
              </a:solidFill>
            </a:endParaRPr>
          </a:p>
        </p:txBody>
      </p:sp>
      <p:sp>
        <p:nvSpPr>
          <p:cNvPr id="22" name="Header">
            <a:extLst>
              <a:ext uri="{FF2B5EF4-FFF2-40B4-BE49-F238E27FC236}">
                <a16:creationId xmlns:a16="http://schemas.microsoft.com/office/drawing/2014/main" id="{FF1A7388-47F5-4DA6-ADF5-7DE96475307F}"/>
              </a:ext>
            </a:extLst>
          </p:cNvPr>
          <p:cNvSpPr txBox="1"/>
          <p:nvPr/>
        </p:nvSpPr>
        <p:spPr>
          <a:xfrm>
            <a:off x="50878" y="79574"/>
            <a:ext cx="3650464" cy="1015663"/>
          </a:xfrm>
          <a:prstGeom prst="rect">
            <a:avLst/>
          </a:prstGeom>
          <a:noFill/>
        </p:spPr>
        <p:txBody>
          <a:bodyPr wrap="square" rtlCol="0">
            <a:spAutoFit/>
          </a:bodyPr>
          <a:lstStyle/>
          <a:p>
            <a:r>
              <a:rPr lang="en-US" sz="6000" dirty="0">
                <a:solidFill>
                  <a:schemeClr val="bg1">
                    <a:alpha val="26000"/>
                  </a:schemeClr>
                </a:solidFill>
                <a:latin typeface="JetBrains Mono Light" panose="02000009000000000000" pitchFamily="49" charset="0"/>
                <a:cs typeface="JetBrains Mono Light" panose="02000009000000000000" pitchFamily="49" charset="0"/>
              </a:rPr>
              <a:t>ĐỒ THỊ</a:t>
            </a:r>
          </a:p>
        </p:txBody>
      </p:sp>
      <p:sp>
        <p:nvSpPr>
          <p:cNvPr id="52" name="Rectangle 51">
            <a:extLst>
              <a:ext uri="{FF2B5EF4-FFF2-40B4-BE49-F238E27FC236}">
                <a16:creationId xmlns:a16="http://schemas.microsoft.com/office/drawing/2014/main" id="{B1DEA314-BD33-40A5-85C5-2A94FAB390CA}"/>
              </a:ext>
            </a:extLst>
          </p:cNvPr>
          <p:cNvSpPr/>
          <p:nvPr/>
        </p:nvSpPr>
        <p:spPr>
          <a:xfrm>
            <a:off x="591457" y="603227"/>
            <a:ext cx="4730637" cy="368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CB243EB8-6CAC-4AD4-A523-85CAE45F43CA}"/>
              </a:ext>
            </a:extLst>
          </p:cNvPr>
          <p:cNvSpPr txBox="1"/>
          <p:nvPr/>
        </p:nvSpPr>
        <p:spPr>
          <a:xfrm>
            <a:off x="603363" y="602701"/>
            <a:ext cx="4730637" cy="369332"/>
          </a:xfrm>
          <a:prstGeom prst="rect">
            <a:avLst/>
          </a:prstGeom>
          <a:noFill/>
        </p:spPr>
        <p:txBody>
          <a:bodyPr wrap="square" rtlCol="0">
            <a:spAutoFit/>
          </a:bodyPr>
          <a:lstStyle/>
          <a:p>
            <a:r>
              <a:rPr lang="en-US" dirty="0" err="1">
                <a:latin typeface="JetBrains Mono Regular" panose="02000009000000000000" pitchFamily="49" charset="0"/>
                <a:cs typeface="JetBrains Mono Regular" panose="02000009000000000000" pitchFamily="49" charset="0"/>
              </a:rPr>
              <a:t>Bài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toán</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Cây</a:t>
            </a:r>
            <a:r>
              <a:rPr lang="en-US" dirty="0">
                <a:latin typeface="JetBrains Mono Regular" panose="02000009000000000000" pitchFamily="49" charset="0"/>
                <a:cs typeface="JetBrains Mono Regular" panose="02000009000000000000" pitchFamily="49" charset="0"/>
              </a:rPr>
              <a:t> bao </a:t>
            </a:r>
            <a:r>
              <a:rPr lang="en-US" dirty="0" err="1">
                <a:latin typeface="JetBrains Mono Regular" panose="02000009000000000000" pitchFamily="49" charset="0"/>
                <a:cs typeface="JetBrains Mono Regular" panose="02000009000000000000" pitchFamily="49" charset="0"/>
              </a:rPr>
              <a:t>trùm</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tối</a:t>
            </a:r>
            <a:r>
              <a:rPr lang="en-US" dirty="0">
                <a:latin typeface="JetBrains Mono Regular" panose="02000009000000000000" pitchFamily="49" charset="0"/>
                <a:cs typeface="JetBrains Mono Regular" panose="02000009000000000000" pitchFamily="49" charset="0"/>
              </a:rPr>
              <a:t> </a:t>
            </a:r>
            <a:r>
              <a:rPr lang="en-US" dirty="0" err="1">
                <a:latin typeface="JetBrains Mono Regular" panose="02000009000000000000" pitchFamily="49" charset="0"/>
                <a:cs typeface="JetBrains Mono Regular" panose="02000009000000000000" pitchFamily="49" charset="0"/>
              </a:rPr>
              <a:t>thiểu</a:t>
            </a:r>
            <a:r>
              <a:rPr lang="en-US" dirty="0">
                <a:latin typeface="JetBrains Mono Regular" panose="02000009000000000000" pitchFamily="49" charset="0"/>
                <a:cs typeface="JetBrains Mono Regular" panose="02000009000000000000" pitchFamily="49" charset="0"/>
              </a:rPr>
              <a:t>”</a:t>
            </a:r>
          </a:p>
        </p:txBody>
      </p:sp>
      <p:sp>
        <p:nvSpPr>
          <p:cNvPr id="54" name="Footer: Part">
            <a:extLst>
              <a:ext uri="{FF2B5EF4-FFF2-40B4-BE49-F238E27FC236}">
                <a16:creationId xmlns:a16="http://schemas.microsoft.com/office/drawing/2014/main" id="{14C8B52B-D44A-4B71-9357-34B0DA68BD9D}"/>
              </a:ext>
            </a:extLst>
          </p:cNvPr>
          <p:cNvSpPr txBox="1"/>
          <p:nvPr/>
        </p:nvSpPr>
        <p:spPr>
          <a:xfrm>
            <a:off x="7455877" y="6464494"/>
            <a:ext cx="4764827" cy="369332"/>
          </a:xfrm>
          <a:prstGeom prst="rect">
            <a:avLst/>
          </a:prstGeom>
          <a:noFill/>
        </p:spPr>
        <p:txBody>
          <a:bodyPr wrap="square" rtlCol="0">
            <a:spAutoFit/>
          </a:bodyPr>
          <a:lstStyle/>
          <a:p>
            <a:r>
              <a:rPr lang="en-US" dirty="0" err="1">
                <a:solidFill>
                  <a:schemeClr val="bg1">
                    <a:lumMod val="95000"/>
                  </a:schemeClr>
                </a:solidFill>
                <a:latin typeface="JetBrains Mono Regular" panose="02000009000000000000" pitchFamily="49" charset="0"/>
                <a:cs typeface="JetBrains Mono Regular" panose="02000009000000000000" pitchFamily="49" charset="0"/>
              </a:rPr>
              <a:t>Bài</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95000"/>
                  </a:schemeClr>
                </a:solidFill>
                <a:latin typeface="JetBrains Mono Regular" panose="02000009000000000000" pitchFamily="49" charset="0"/>
                <a:cs typeface="JetBrains Mono Regular" panose="02000009000000000000" pitchFamily="49" charset="0"/>
              </a:rPr>
              <a:t>toán</a:t>
            </a:r>
            <a:r>
              <a:rPr lang="en-US" dirty="0">
                <a:solidFill>
                  <a:schemeClr val="bg1">
                    <a:lumMod val="95000"/>
                  </a:schemeClr>
                </a:solidFill>
                <a:latin typeface="JetBrains Mono Regular" panose="02000009000000000000" pitchFamily="49" charset="0"/>
                <a:cs typeface="JetBrains Mono Regular" panose="02000009000000000000" pitchFamily="49" charset="0"/>
              </a:rPr>
              <a:t> </a:t>
            </a:r>
            <a:r>
              <a:rPr lang="en-US" dirty="0">
                <a:solidFill>
                  <a:schemeClr val="bg1">
                    <a:lumMod val="95000"/>
                  </a:schemeClr>
                </a:solidFill>
                <a:latin typeface="JetBrains Mono Light" panose="02000009000000000000" pitchFamily="49" charset="0"/>
                <a:cs typeface="JetBrains Mono Light" panose="02000009000000000000" pitchFamily="49" charset="0"/>
              </a:rPr>
              <a:t>“</a:t>
            </a:r>
            <a:r>
              <a:rPr lang="en-US" dirty="0" err="1">
                <a:solidFill>
                  <a:schemeClr val="bg1">
                    <a:lumMod val="95000"/>
                  </a:schemeClr>
                </a:solidFill>
                <a:latin typeface="JetBrains Mono Light" panose="02000009000000000000" pitchFamily="49" charset="0"/>
                <a:cs typeface="JetBrains Mono Light" panose="02000009000000000000" pitchFamily="49" charset="0"/>
              </a:rPr>
              <a:t>Cây</a:t>
            </a:r>
            <a:r>
              <a:rPr lang="en-US" dirty="0">
                <a:solidFill>
                  <a:schemeClr val="bg1">
                    <a:lumMod val="95000"/>
                  </a:schemeClr>
                </a:solidFill>
                <a:latin typeface="JetBrains Mono Light" panose="02000009000000000000" pitchFamily="49" charset="0"/>
                <a:cs typeface="JetBrains Mono Light" panose="02000009000000000000" pitchFamily="49" charset="0"/>
              </a:rPr>
              <a:t> bao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trùm</a:t>
            </a:r>
            <a:r>
              <a:rPr lang="en-US" dirty="0">
                <a:solidFill>
                  <a:schemeClr val="bg1">
                    <a:lumMod val="95000"/>
                  </a:schemeClr>
                </a:solidFill>
                <a:latin typeface="JetBrains Mono Light" panose="02000009000000000000" pitchFamily="49" charset="0"/>
                <a:cs typeface="JetBrains Mono Light" panose="02000009000000000000" pitchFamily="49" charset="0"/>
              </a:rPr>
              <a:t>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tối</a:t>
            </a:r>
            <a:r>
              <a:rPr lang="en-US" dirty="0">
                <a:solidFill>
                  <a:schemeClr val="bg1">
                    <a:lumMod val="95000"/>
                  </a:schemeClr>
                </a:solidFill>
                <a:latin typeface="JetBrains Mono Light" panose="02000009000000000000" pitchFamily="49" charset="0"/>
                <a:cs typeface="JetBrains Mono Light" panose="02000009000000000000" pitchFamily="49" charset="0"/>
              </a:rPr>
              <a:t> </a:t>
            </a:r>
            <a:r>
              <a:rPr lang="en-US" dirty="0" err="1">
                <a:solidFill>
                  <a:schemeClr val="bg1">
                    <a:lumMod val="95000"/>
                  </a:schemeClr>
                </a:solidFill>
                <a:latin typeface="JetBrains Mono Light" panose="02000009000000000000" pitchFamily="49" charset="0"/>
                <a:cs typeface="JetBrains Mono Light" panose="02000009000000000000" pitchFamily="49" charset="0"/>
              </a:rPr>
              <a:t>thiểu</a:t>
            </a:r>
            <a:r>
              <a:rPr lang="en-US" dirty="0">
                <a:solidFill>
                  <a:schemeClr val="bg1">
                    <a:lumMod val="85000"/>
                  </a:schemeClr>
                </a:solidFill>
                <a:latin typeface="JetBrains Mono Light" panose="02000009000000000000"/>
                <a:cs typeface="JetBrains Mono" panose="02000009000000000000" pitchFamily="49" charset="0"/>
              </a:rPr>
              <a:t>”</a:t>
            </a:r>
          </a:p>
        </p:txBody>
      </p:sp>
      <p:sp>
        <p:nvSpPr>
          <p:cNvPr id="55" name="Footer: Title">
            <a:extLst>
              <a:ext uri="{FF2B5EF4-FFF2-40B4-BE49-F238E27FC236}">
                <a16:creationId xmlns:a16="http://schemas.microsoft.com/office/drawing/2014/main" id="{BF7B329F-BBD4-4CE5-92B8-228711FCE729}"/>
              </a:ext>
            </a:extLst>
          </p:cNvPr>
          <p:cNvSpPr txBox="1"/>
          <p:nvPr/>
        </p:nvSpPr>
        <p:spPr>
          <a:xfrm>
            <a:off x="6342196" y="6469576"/>
            <a:ext cx="1215645" cy="369332"/>
          </a:xfrm>
          <a:prstGeom prst="rect">
            <a:avLst/>
          </a:prstGeom>
          <a:solidFill>
            <a:schemeClr val="tx1"/>
          </a:solidFill>
        </p:spPr>
        <p:txBody>
          <a:bodyPr wrap="square" rtlCol="0">
            <a:spAutoFit/>
          </a:bodyPr>
          <a:lstStyle/>
          <a:p>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Đồ</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 </a:t>
            </a:r>
            <a:r>
              <a:rPr lang="en-US" dirty="0" err="1">
                <a:solidFill>
                  <a:schemeClr val="bg1">
                    <a:alpha val="62000"/>
                  </a:schemeClr>
                </a:solidFill>
                <a:latin typeface="JetBrains Mono ExtraLight" panose="02000009000000000000" pitchFamily="49" charset="0"/>
                <a:cs typeface="JetBrains Mono ExtraLight" panose="02000009000000000000" pitchFamily="49" charset="0"/>
              </a:rPr>
              <a:t>thị</a:t>
            </a:r>
            <a:r>
              <a:rPr lang="en-US" dirty="0">
                <a:solidFill>
                  <a:schemeClr val="bg1">
                    <a:alpha val="62000"/>
                  </a:schemeClr>
                </a:solidFill>
                <a:latin typeface="JetBrains Mono ExtraLight" panose="02000009000000000000" pitchFamily="49" charset="0"/>
                <a:cs typeface="JetBrains Mono ExtraLight" panose="02000009000000000000" pitchFamily="49" charset="0"/>
              </a:rPr>
              <a:t>:</a:t>
            </a:r>
          </a:p>
        </p:txBody>
      </p:sp>
      <p:sp>
        <p:nvSpPr>
          <p:cNvPr id="56" name="PAGE NUM 0">
            <a:extLst>
              <a:ext uri="{FF2B5EF4-FFF2-40B4-BE49-F238E27FC236}">
                <a16:creationId xmlns:a16="http://schemas.microsoft.com/office/drawing/2014/main" id="{C5FCBFDC-7226-4A48-ACEF-DE591BDFD048}"/>
              </a:ext>
            </a:extLst>
          </p:cNvPr>
          <p:cNvSpPr txBox="1"/>
          <p:nvPr/>
        </p:nvSpPr>
        <p:spPr>
          <a:xfrm>
            <a:off x="11599908" y="-5105"/>
            <a:ext cx="468851" cy="369332"/>
          </a:xfrm>
          <a:prstGeom prst="rect">
            <a:avLst/>
          </a:prstGeom>
          <a:noFill/>
          <a:ln>
            <a:noFill/>
          </a:ln>
        </p:spPr>
        <p:txBody>
          <a:bodyPr wrap="square" rtlCol="0">
            <a:spAutoFit/>
          </a:bodyPr>
          <a:lstStyle/>
          <a:p>
            <a:pPr algn="r"/>
            <a:r>
              <a:rPr lang="en-US" dirty="0">
                <a:solidFill>
                  <a:schemeClr val="bg1"/>
                </a:solidFill>
                <a:latin typeface="JetBrains Mono Light" panose="02000009000000000000" pitchFamily="49" charset="0"/>
                <a:cs typeface="JetBrains Mono Light" panose="02000009000000000000" pitchFamily="49" charset="0"/>
              </a:rPr>
              <a:t>5</a:t>
            </a:r>
          </a:p>
        </p:txBody>
      </p:sp>
      <p:sp>
        <p:nvSpPr>
          <p:cNvPr id="57" name="PAGE NUM 1">
            <a:extLst>
              <a:ext uri="{FF2B5EF4-FFF2-40B4-BE49-F238E27FC236}">
                <a16:creationId xmlns:a16="http://schemas.microsoft.com/office/drawing/2014/main" id="{1B771E83-B986-46D4-B444-3C2D5BBE760A}"/>
              </a:ext>
            </a:extLst>
          </p:cNvPr>
          <p:cNvSpPr txBox="1"/>
          <p:nvPr/>
        </p:nvSpPr>
        <p:spPr>
          <a:xfrm>
            <a:off x="11883838" y="-11114"/>
            <a:ext cx="914400" cy="369332"/>
          </a:xfrm>
          <a:prstGeom prst="rect">
            <a:avLst/>
          </a:prstGeom>
          <a:noFill/>
        </p:spPr>
        <p:txBody>
          <a:bodyPr wrap="square" rtlCol="0">
            <a:spAutoFit/>
          </a:bodyPr>
          <a:lstStyle/>
          <a:p>
            <a:r>
              <a:rPr lang="en-US" dirty="0">
                <a:solidFill>
                  <a:schemeClr val="bg1"/>
                </a:solidFill>
                <a:latin typeface="JetBrains Mono Light" panose="02000009000000000000" pitchFamily="49" charset="0"/>
                <a:cs typeface="JetBrains Mono Light" panose="02000009000000000000" pitchFamily="49" charset="0"/>
              </a:rPr>
              <a:t>2</a:t>
            </a:r>
            <a:endParaRPr lang="en-US" dirty="0"/>
          </a:p>
        </p:txBody>
      </p:sp>
      <p:sp>
        <p:nvSpPr>
          <p:cNvPr id="60" name="TextBox 59">
            <a:extLst>
              <a:ext uri="{FF2B5EF4-FFF2-40B4-BE49-F238E27FC236}">
                <a16:creationId xmlns:a16="http://schemas.microsoft.com/office/drawing/2014/main" id="{6A406B24-D2F2-47E9-9DF4-A56A04DB1F3F}"/>
              </a:ext>
            </a:extLst>
          </p:cNvPr>
          <p:cNvSpPr txBox="1"/>
          <p:nvPr/>
        </p:nvSpPr>
        <p:spPr>
          <a:xfrm>
            <a:off x="944147" y="1080234"/>
            <a:ext cx="1775608" cy="369332"/>
          </a:xfrm>
          <a:prstGeom prst="rect">
            <a:avLst/>
          </a:prstGeom>
          <a:noFill/>
          <a:ln>
            <a:no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Phương</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pháp</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61" name="TextBox 60">
            <a:extLst>
              <a:ext uri="{FF2B5EF4-FFF2-40B4-BE49-F238E27FC236}">
                <a16:creationId xmlns:a16="http://schemas.microsoft.com/office/drawing/2014/main" id="{167C7D15-0577-4998-899C-E9DE54EF8906}"/>
              </a:ext>
            </a:extLst>
          </p:cNvPr>
          <p:cNvSpPr txBox="1"/>
          <p:nvPr/>
        </p:nvSpPr>
        <p:spPr>
          <a:xfrm>
            <a:off x="2664872" y="1092325"/>
            <a:ext cx="3305415" cy="369332"/>
          </a:xfrm>
          <a:prstGeom prst="rect">
            <a:avLst/>
          </a:prstGeom>
          <a:noFill/>
        </p:spPr>
        <p:txBody>
          <a:bodyPr wrap="square" rtlCol="0">
            <a:spAutoFit/>
          </a:bodyPr>
          <a:lstStyle/>
          <a:p>
            <a:pPr marL="285750" indent="-285750">
              <a:buFont typeface="Arial" panose="020B0604020202020204" pitchFamily="34" charset="0"/>
              <a:buChar char="•"/>
            </a:pP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Thuật</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toán</a:t>
            </a:r>
            <a:r>
              <a:rPr lang="en-US" i="1" dirty="0">
                <a:solidFill>
                  <a:schemeClr val="bg1">
                    <a:lumMod val="85000"/>
                  </a:schemeClr>
                </a:solidFill>
                <a:latin typeface="JetBrains Mono ExtraLight" panose="02000009000000000000" pitchFamily="49" charset="0"/>
                <a:cs typeface="JetBrains Mono ExtraLight" panose="02000009000000000000" pitchFamily="49" charset="0"/>
              </a:rPr>
              <a:t> </a:t>
            </a:r>
            <a:r>
              <a:rPr lang="en-US" i="1" dirty="0" err="1">
                <a:solidFill>
                  <a:schemeClr val="bg1">
                    <a:lumMod val="85000"/>
                  </a:schemeClr>
                </a:solidFill>
                <a:latin typeface="JetBrains Mono ExtraLight" panose="02000009000000000000" pitchFamily="49" charset="0"/>
                <a:cs typeface="JetBrains Mono ExtraLight" panose="02000009000000000000" pitchFamily="49" charset="0"/>
              </a:rPr>
              <a:t>Kruksal</a:t>
            </a:r>
            <a:endParaRPr lang="en-US" i="1" dirty="0">
              <a:latin typeface="JetBrains Mono ExtraLight" panose="02000009000000000000" pitchFamily="49" charset="0"/>
              <a:cs typeface="JetBrains Mono ExtraLight" panose="02000009000000000000" pitchFamily="49" charset="0"/>
            </a:endParaRPr>
          </a:p>
        </p:txBody>
      </p:sp>
      <p:sp>
        <p:nvSpPr>
          <p:cNvPr id="122" name="Rectangle 121">
            <a:extLst>
              <a:ext uri="{FF2B5EF4-FFF2-40B4-BE49-F238E27FC236}">
                <a16:creationId xmlns:a16="http://schemas.microsoft.com/office/drawing/2014/main" id="{D8B6D1F9-F8EE-4613-A4E1-A32D434D25D4}"/>
              </a:ext>
            </a:extLst>
          </p:cNvPr>
          <p:cNvSpPr/>
          <p:nvPr/>
        </p:nvSpPr>
        <p:spPr>
          <a:xfrm>
            <a:off x="8676918" y="567729"/>
            <a:ext cx="3163614" cy="192339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cxnSp>
        <p:nvCxnSpPr>
          <p:cNvPr id="123" name="Straight Connector 122">
            <a:extLst>
              <a:ext uri="{FF2B5EF4-FFF2-40B4-BE49-F238E27FC236}">
                <a16:creationId xmlns:a16="http://schemas.microsoft.com/office/drawing/2014/main" id="{8CE26FC3-3745-4488-8698-61FA100A4647}"/>
              </a:ext>
            </a:extLst>
          </p:cNvPr>
          <p:cNvCxnSpPr>
            <a:cxnSpLocks/>
          </p:cNvCxnSpPr>
          <p:nvPr/>
        </p:nvCxnSpPr>
        <p:spPr>
          <a:xfrm flipH="1">
            <a:off x="8676918" y="567729"/>
            <a:ext cx="3163614" cy="19233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FD319138-4E57-4BE7-A509-96C0AB69D955}"/>
              </a:ext>
            </a:extLst>
          </p:cNvPr>
          <p:cNvCxnSpPr>
            <a:cxnSpLocks/>
          </p:cNvCxnSpPr>
          <p:nvPr/>
        </p:nvCxnSpPr>
        <p:spPr>
          <a:xfrm>
            <a:off x="8748723" y="660062"/>
            <a:ext cx="1503676" cy="915530"/>
          </a:xfrm>
          <a:prstGeom prst="line">
            <a:avLst/>
          </a:prstGeom>
        </p:spPr>
        <p:style>
          <a:lnRef idx="1">
            <a:schemeClr val="accent1"/>
          </a:lnRef>
          <a:fillRef idx="0">
            <a:schemeClr val="accent1"/>
          </a:fillRef>
          <a:effectRef idx="0">
            <a:schemeClr val="accent1"/>
          </a:effectRef>
          <a:fontRef idx="minor">
            <a:schemeClr val="tx1"/>
          </a:fontRef>
        </p:style>
      </p:cxnSp>
      <p:sp>
        <p:nvSpPr>
          <p:cNvPr id="125" name="Oval 124">
            <a:extLst>
              <a:ext uri="{FF2B5EF4-FFF2-40B4-BE49-F238E27FC236}">
                <a16:creationId xmlns:a16="http://schemas.microsoft.com/office/drawing/2014/main" id="{C930B661-BE56-43C7-B3B7-5D3A7F48F1EB}"/>
              </a:ext>
            </a:extLst>
          </p:cNvPr>
          <p:cNvSpPr/>
          <p:nvPr/>
        </p:nvSpPr>
        <p:spPr>
          <a:xfrm>
            <a:off x="8562618" y="453429"/>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dirty="0">
              <a:solidFill>
                <a:srgbClr val="EBE9EB"/>
              </a:solidFill>
            </a:endParaRPr>
          </a:p>
        </p:txBody>
      </p:sp>
      <p:sp>
        <p:nvSpPr>
          <p:cNvPr id="126" name="Oval 125">
            <a:extLst>
              <a:ext uri="{FF2B5EF4-FFF2-40B4-BE49-F238E27FC236}">
                <a16:creationId xmlns:a16="http://schemas.microsoft.com/office/drawing/2014/main" id="{B5CC2B85-CA03-4E20-932F-6A026CF3B1ED}"/>
              </a:ext>
            </a:extLst>
          </p:cNvPr>
          <p:cNvSpPr/>
          <p:nvPr/>
        </p:nvSpPr>
        <p:spPr>
          <a:xfrm>
            <a:off x="11711881" y="458541"/>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27" name="Oval 126">
            <a:extLst>
              <a:ext uri="{FF2B5EF4-FFF2-40B4-BE49-F238E27FC236}">
                <a16:creationId xmlns:a16="http://schemas.microsoft.com/office/drawing/2014/main" id="{57B94AEC-5ECC-46A0-B04E-66BE78CB8661}"/>
              </a:ext>
            </a:extLst>
          </p:cNvPr>
          <p:cNvSpPr/>
          <p:nvPr/>
        </p:nvSpPr>
        <p:spPr>
          <a:xfrm>
            <a:off x="10144425" y="1415125"/>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28" name="Oval 127">
            <a:extLst>
              <a:ext uri="{FF2B5EF4-FFF2-40B4-BE49-F238E27FC236}">
                <a16:creationId xmlns:a16="http://schemas.microsoft.com/office/drawing/2014/main" id="{AEF8CDE2-6392-4101-AEB3-477C219D2EE3}"/>
              </a:ext>
            </a:extLst>
          </p:cNvPr>
          <p:cNvSpPr/>
          <p:nvPr/>
        </p:nvSpPr>
        <p:spPr>
          <a:xfrm>
            <a:off x="8574341" y="2376822"/>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29" name="Oval 128">
            <a:extLst>
              <a:ext uri="{FF2B5EF4-FFF2-40B4-BE49-F238E27FC236}">
                <a16:creationId xmlns:a16="http://schemas.microsoft.com/office/drawing/2014/main" id="{26D249FB-C190-4EAC-A57E-9E1768D9CFCA}"/>
              </a:ext>
            </a:extLst>
          </p:cNvPr>
          <p:cNvSpPr/>
          <p:nvPr/>
        </p:nvSpPr>
        <p:spPr>
          <a:xfrm>
            <a:off x="11733340" y="2381143"/>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130" name="TextBox 129">
            <a:extLst>
              <a:ext uri="{FF2B5EF4-FFF2-40B4-BE49-F238E27FC236}">
                <a16:creationId xmlns:a16="http://schemas.microsoft.com/office/drawing/2014/main" id="{CDBB6146-6029-49C7-9810-0C41172112B9}"/>
              </a:ext>
            </a:extLst>
          </p:cNvPr>
          <p:cNvSpPr txBox="1"/>
          <p:nvPr/>
        </p:nvSpPr>
        <p:spPr>
          <a:xfrm>
            <a:off x="8517611" y="386204"/>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A</a:t>
            </a:r>
          </a:p>
        </p:txBody>
      </p:sp>
      <p:sp>
        <p:nvSpPr>
          <p:cNvPr id="131" name="TextBox 130">
            <a:extLst>
              <a:ext uri="{FF2B5EF4-FFF2-40B4-BE49-F238E27FC236}">
                <a16:creationId xmlns:a16="http://schemas.microsoft.com/office/drawing/2014/main" id="{F08C56B1-EB13-45C0-8F50-1D38673E3964}"/>
              </a:ext>
            </a:extLst>
          </p:cNvPr>
          <p:cNvSpPr txBox="1"/>
          <p:nvPr/>
        </p:nvSpPr>
        <p:spPr>
          <a:xfrm>
            <a:off x="11675759" y="400423"/>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B</a:t>
            </a:r>
          </a:p>
        </p:txBody>
      </p:sp>
      <p:sp>
        <p:nvSpPr>
          <p:cNvPr id="132" name="TextBox 131">
            <a:extLst>
              <a:ext uri="{FF2B5EF4-FFF2-40B4-BE49-F238E27FC236}">
                <a16:creationId xmlns:a16="http://schemas.microsoft.com/office/drawing/2014/main" id="{BE91EB33-9495-4523-A304-4B2E792EE6C4}"/>
              </a:ext>
            </a:extLst>
          </p:cNvPr>
          <p:cNvSpPr txBox="1"/>
          <p:nvPr/>
        </p:nvSpPr>
        <p:spPr>
          <a:xfrm>
            <a:off x="11682369" y="2325506"/>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C</a:t>
            </a:r>
          </a:p>
        </p:txBody>
      </p:sp>
      <p:sp>
        <p:nvSpPr>
          <p:cNvPr id="133" name="TextBox 132">
            <a:extLst>
              <a:ext uri="{FF2B5EF4-FFF2-40B4-BE49-F238E27FC236}">
                <a16:creationId xmlns:a16="http://schemas.microsoft.com/office/drawing/2014/main" id="{66591067-21B2-47F6-AD45-5BEF912BDDE6}"/>
              </a:ext>
            </a:extLst>
          </p:cNvPr>
          <p:cNvSpPr txBox="1"/>
          <p:nvPr/>
        </p:nvSpPr>
        <p:spPr>
          <a:xfrm>
            <a:off x="8525191" y="2319156"/>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D</a:t>
            </a:r>
          </a:p>
        </p:txBody>
      </p:sp>
      <p:sp>
        <p:nvSpPr>
          <p:cNvPr id="134" name="TextBox 133">
            <a:extLst>
              <a:ext uri="{FF2B5EF4-FFF2-40B4-BE49-F238E27FC236}">
                <a16:creationId xmlns:a16="http://schemas.microsoft.com/office/drawing/2014/main" id="{7A2F047F-7901-422A-AEB6-68A7956E2AD6}"/>
              </a:ext>
            </a:extLst>
          </p:cNvPr>
          <p:cNvSpPr txBox="1"/>
          <p:nvPr/>
        </p:nvSpPr>
        <p:spPr>
          <a:xfrm>
            <a:off x="10093666" y="1351109"/>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E</a:t>
            </a:r>
          </a:p>
        </p:txBody>
      </p:sp>
      <p:sp>
        <p:nvSpPr>
          <p:cNvPr id="135" name="TextBox 134">
            <a:extLst>
              <a:ext uri="{FF2B5EF4-FFF2-40B4-BE49-F238E27FC236}">
                <a16:creationId xmlns:a16="http://schemas.microsoft.com/office/drawing/2014/main" id="{D7CCA408-3852-4C54-85C3-347EEF86453E}"/>
              </a:ext>
            </a:extLst>
          </p:cNvPr>
          <p:cNvSpPr txBox="1"/>
          <p:nvPr/>
        </p:nvSpPr>
        <p:spPr>
          <a:xfrm>
            <a:off x="10101556" y="290730"/>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6</a:t>
            </a:r>
          </a:p>
        </p:txBody>
      </p:sp>
      <p:sp>
        <p:nvSpPr>
          <p:cNvPr id="136" name="TextBox 135">
            <a:extLst>
              <a:ext uri="{FF2B5EF4-FFF2-40B4-BE49-F238E27FC236}">
                <a16:creationId xmlns:a16="http://schemas.microsoft.com/office/drawing/2014/main" id="{29174FD1-B4AA-4357-8678-7A76B55AC813}"/>
              </a:ext>
            </a:extLst>
          </p:cNvPr>
          <p:cNvSpPr txBox="1"/>
          <p:nvPr/>
        </p:nvSpPr>
        <p:spPr>
          <a:xfrm>
            <a:off x="8409994" y="1347847"/>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4</a:t>
            </a:r>
          </a:p>
        </p:txBody>
      </p:sp>
      <p:sp>
        <p:nvSpPr>
          <p:cNvPr id="137" name="TextBox 136">
            <a:extLst>
              <a:ext uri="{FF2B5EF4-FFF2-40B4-BE49-F238E27FC236}">
                <a16:creationId xmlns:a16="http://schemas.microsoft.com/office/drawing/2014/main" id="{1D2BA152-88EB-4B1F-833A-026C2D8BF712}"/>
              </a:ext>
            </a:extLst>
          </p:cNvPr>
          <p:cNvSpPr txBox="1"/>
          <p:nvPr/>
        </p:nvSpPr>
        <p:spPr>
          <a:xfrm rot="1746466">
            <a:off x="9549277" y="839685"/>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4</a:t>
            </a:r>
          </a:p>
        </p:txBody>
      </p:sp>
      <p:sp>
        <p:nvSpPr>
          <p:cNvPr id="138" name="TextBox 137">
            <a:extLst>
              <a:ext uri="{FF2B5EF4-FFF2-40B4-BE49-F238E27FC236}">
                <a16:creationId xmlns:a16="http://schemas.microsoft.com/office/drawing/2014/main" id="{71852C81-1D4A-4B46-96A4-3E8FA1C69552}"/>
              </a:ext>
            </a:extLst>
          </p:cNvPr>
          <p:cNvSpPr txBox="1"/>
          <p:nvPr/>
        </p:nvSpPr>
        <p:spPr>
          <a:xfrm rot="19619130">
            <a:off x="9247025" y="1714091"/>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3</a:t>
            </a:r>
          </a:p>
        </p:txBody>
      </p:sp>
      <p:sp>
        <p:nvSpPr>
          <p:cNvPr id="139" name="TextBox 138">
            <a:extLst>
              <a:ext uri="{FF2B5EF4-FFF2-40B4-BE49-F238E27FC236}">
                <a16:creationId xmlns:a16="http://schemas.microsoft.com/office/drawing/2014/main" id="{19FD893F-8EA3-4FB5-958F-FC771A7EA2C3}"/>
              </a:ext>
            </a:extLst>
          </p:cNvPr>
          <p:cNvSpPr txBox="1"/>
          <p:nvPr/>
        </p:nvSpPr>
        <p:spPr>
          <a:xfrm rot="19577036">
            <a:off x="10659211" y="839685"/>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5</a:t>
            </a:r>
          </a:p>
        </p:txBody>
      </p:sp>
      <p:sp>
        <p:nvSpPr>
          <p:cNvPr id="140" name="TextBox 139">
            <a:extLst>
              <a:ext uri="{FF2B5EF4-FFF2-40B4-BE49-F238E27FC236}">
                <a16:creationId xmlns:a16="http://schemas.microsoft.com/office/drawing/2014/main" id="{5F079F19-0511-422E-A4EC-F969D9D5E49A}"/>
              </a:ext>
            </a:extLst>
          </p:cNvPr>
          <p:cNvSpPr txBox="1"/>
          <p:nvPr/>
        </p:nvSpPr>
        <p:spPr>
          <a:xfrm>
            <a:off x="10101556" y="2496757"/>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7</a:t>
            </a:r>
          </a:p>
        </p:txBody>
      </p:sp>
      <p:sp>
        <p:nvSpPr>
          <p:cNvPr id="141" name="TextBox 140">
            <a:extLst>
              <a:ext uri="{FF2B5EF4-FFF2-40B4-BE49-F238E27FC236}">
                <a16:creationId xmlns:a16="http://schemas.microsoft.com/office/drawing/2014/main" id="{4F3945A4-513F-4117-89D0-BF436DF9F8FA}"/>
              </a:ext>
            </a:extLst>
          </p:cNvPr>
          <p:cNvSpPr txBox="1"/>
          <p:nvPr/>
        </p:nvSpPr>
        <p:spPr>
          <a:xfrm>
            <a:off x="11545953" y="1415125"/>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2</a:t>
            </a:r>
          </a:p>
        </p:txBody>
      </p:sp>
      <p:sp>
        <p:nvSpPr>
          <p:cNvPr id="36" name="TextBox 35">
            <a:extLst>
              <a:ext uri="{FF2B5EF4-FFF2-40B4-BE49-F238E27FC236}">
                <a16:creationId xmlns:a16="http://schemas.microsoft.com/office/drawing/2014/main" id="{43EF5198-21C8-4ED8-B908-CB8D97DAFB69}"/>
              </a:ext>
            </a:extLst>
          </p:cNvPr>
          <p:cNvSpPr txBox="1"/>
          <p:nvPr/>
        </p:nvSpPr>
        <p:spPr>
          <a:xfrm>
            <a:off x="944146" y="1445883"/>
            <a:ext cx="2666562" cy="369332"/>
          </a:xfrm>
          <a:prstGeom prst="rect">
            <a:avLst/>
          </a:prstGeom>
          <a:noFill/>
          <a:ln>
            <a:noFill/>
          </a:ln>
        </p:spPr>
        <p:txBody>
          <a:bodyPr wrap="square" rtlCol="0">
            <a:spAutoFit/>
          </a:bodyPr>
          <a:lstStyle/>
          <a:p>
            <a:r>
              <a:rPr lang="en-US" dirty="0" err="1">
                <a:solidFill>
                  <a:schemeClr val="bg1">
                    <a:lumMod val="50000"/>
                  </a:schemeClr>
                </a:solidFill>
                <a:latin typeface="JetBrains Mono Regular" panose="02000009000000000000" pitchFamily="49" charset="0"/>
                <a:cs typeface="JetBrains Mono Regular" panose="02000009000000000000" pitchFamily="49" charset="0"/>
              </a:rPr>
              <a:t>Các</a:t>
            </a:r>
            <a:r>
              <a:rPr lang="en-US" dirty="0">
                <a:solidFill>
                  <a:schemeClr val="bg1">
                    <a:lumMod val="50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50000"/>
                  </a:schemeClr>
                </a:solidFill>
                <a:latin typeface="JetBrains Mono Regular" panose="02000009000000000000" pitchFamily="49" charset="0"/>
                <a:cs typeface="JetBrains Mono Regular" panose="02000009000000000000" pitchFamily="49" charset="0"/>
              </a:rPr>
              <a:t>bước</a:t>
            </a:r>
            <a:r>
              <a:rPr lang="en-US" dirty="0">
                <a:solidFill>
                  <a:schemeClr val="bg1">
                    <a:lumMod val="50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50000"/>
                  </a:schemeClr>
                </a:solidFill>
                <a:latin typeface="JetBrains Mono Regular" panose="02000009000000000000" pitchFamily="49" charset="0"/>
                <a:cs typeface="JetBrains Mono Regular" panose="02000009000000000000" pitchFamily="49" charset="0"/>
              </a:rPr>
              <a:t>thực</a:t>
            </a:r>
            <a:r>
              <a:rPr lang="en-US" dirty="0">
                <a:solidFill>
                  <a:schemeClr val="bg1">
                    <a:lumMod val="50000"/>
                  </a:schemeClr>
                </a:solidFill>
                <a:latin typeface="JetBrains Mono Regular" panose="02000009000000000000" pitchFamily="49" charset="0"/>
                <a:cs typeface="JetBrains Mono Regular" panose="02000009000000000000" pitchFamily="49" charset="0"/>
              </a:rPr>
              <a:t> </a:t>
            </a:r>
            <a:r>
              <a:rPr lang="en-US" dirty="0" err="1">
                <a:solidFill>
                  <a:schemeClr val="bg1">
                    <a:lumMod val="50000"/>
                  </a:schemeClr>
                </a:solidFill>
                <a:latin typeface="JetBrains Mono Regular" panose="02000009000000000000" pitchFamily="49" charset="0"/>
                <a:cs typeface="JetBrains Mono Regular" panose="02000009000000000000" pitchFamily="49" charset="0"/>
              </a:rPr>
              <a:t>hiện</a:t>
            </a:r>
            <a:endParaRPr lang="en-US" dirty="0">
              <a:solidFill>
                <a:schemeClr val="bg1">
                  <a:lumMod val="50000"/>
                </a:schemeClr>
              </a:solidFill>
              <a:latin typeface="JetBrains Mono Regular" panose="02000009000000000000" pitchFamily="49" charset="0"/>
              <a:cs typeface="JetBrains Mono Regular" panose="02000009000000000000" pitchFamily="49" charset="0"/>
            </a:endParaRPr>
          </a:p>
        </p:txBody>
      </p:sp>
      <p:sp>
        <p:nvSpPr>
          <p:cNvPr id="38" name="TextBox 37">
            <a:extLst>
              <a:ext uri="{FF2B5EF4-FFF2-40B4-BE49-F238E27FC236}">
                <a16:creationId xmlns:a16="http://schemas.microsoft.com/office/drawing/2014/main" id="{118CED78-337D-47EA-812F-47028CD968F8}"/>
              </a:ext>
            </a:extLst>
          </p:cNvPr>
          <p:cNvSpPr txBox="1"/>
          <p:nvPr/>
        </p:nvSpPr>
        <p:spPr>
          <a:xfrm>
            <a:off x="3796967" y="1451313"/>
            <a:ext cx="1177414" cy="369332"/>
          </a:xfrm>
          <a:prstGeom prst="rect">
            <a:avLst/>
          </a:prstGeom>
          <a:noFill/>
        </p:spPr>
        <p:txBody>
          <a:bodyPr wrap="square" rtlCol="0">
            <a:spAutoFit/>
          </a:bodyPr>
          <a:lstStyle/>
          <a:p>
            <a:r>
              <a:rPr lang="en-US" i="1" dirty="0" err="1">
                <a:solidFill>
                  <a:schemeClr val="bg1">
                    <a:lumMod val="50000"/>
                  </a:schemeClr>
                </a:solidFill>
                <a:latin typeface="JetBrains Mono Light" panose="02000009000000000000" pitchFamily="49" charset="0"/>
                <a:cs typeface="JetBrains Mono Light" panose="02000009000000000000" pitchFamily="49" charset="0"/>
              </a:rPr>
              <a:t>Sắp</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xếp</a:t>
            </a:r>
            <a:endParaRPr lang="en-US" i="1"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47" name="TextBox 46">
            <a:extLst>
              <a:ext uri="{FF2B5EF4-FFF2-40B4-BE49-F238E27FC236}">
                <a16:creationId xmlns:a16="http://schemas.microsoft.com/office/drawing/2014/main" id="{598CAD4C-997B-47B1-B9EA-1DA44C07AD64}"/>
              </a:ext>
            </a:extLst>
          </p:cNvPr>
          <p:cNvSpPr txBox="1"/>
          <p:nvPr/>
        </p:nvSpPr>
        <p:spPr>
          <a:xfrm>
            <a:off x="5003797" y="1455408"/>
            <a:ext cx="1315893" cy="369332"/>
          </a:xfrm>
          <a:prstGeom prst="rect">
            <a:avLst/>
          </a:prstGeom>
          <a:noFill/>
        </p:spPr>
        <p:txBody>
          <a:bodyPr wrap="square" rtlCol="0">
            <a:spAutoFit/>
          </a:bodyPr>
          <a:lstStyle/>
          <a:p>
            <a:r>
              <a:rPr lang="en-VN" i="1" dirty="0">
                <a:solidFill>
                  <a:schemeClr val="bg1">
                    <a:lumMod val="50000"/>
                  </a:schemeClr>
                </a:solidFill>
                <a:latin typeface="JetBrains Mono Light" panose="02000009000000000000" pitchFamily="49" charset="0"/>
                <a:cs typeface="JetBrains Mono Light" panose="02000009000000000000" pitchFamily="49" charset="0"/>
              </a:rPr>
              <a:t>Khởi tạ</a:t>
            </a:r>
            <a:r>
              <a:rPr lang="en-US" i="1" dirty="0">
                <a:solidFill>
                  <a:schemeClr val="bg1">
                    <a:lumMod val="50000"/>
                  </a:schemeClr>
                </a:solidFill>
                <a:latin typeface="JetBrains Mono Light" panose="02000009000000000000" pitchFamily="49" charset="0"/>
                <a:cs typeface="JetBrains Mono Light" panose="02000009000000000000" pitchFamily="49" charset="0"/>
              </a:rPr>
              <a:t>o</a:t>
            </a:r>
          </a:p>
        </p:txBody>
      </p:sp>
      <p:sp>
        <p:nvSpPr>
          <p:cNvPr id="49" name="TextBox 48">
            <a:extLst>
              <a:ext uri="{FF2B5EF4-FFF2-40B4-BE49-F238E27FC236}">
                <a16:creationId xmlns:a16="http://schemas.microsoft.com/office/drawing/2014/main" id="{9201ED80-22E1-4878-9B6B-278D97FDFA03}"/>
              </a:ext>
            </a:extLst>
          </p:cNvPr>
          <p:cNvSpPr txBox="1"/>
          <p:nvPr/>
        </p:nvSpPr>
        <p:spPr>
          <a:xfrm>
            <a:off x="6310165" y="1455534"/>
            <a:ext cx="602970" cy="369332"/>
          </a:xfrm>
          <a:prstGeom prst="rect">
            <a:avLst/>
          </a:prstGeom>
          <a:noFill/>
        </p:spPr>
        <p:txBody>
          <a:bodyPr wrap="square" rtlCol="0">
            <a:spAutoFit/>
          </a:bodyPr>
          <a:lstStyle/>
          <a:p>
            <a:r>
              <a:rPr lang="en-VN" i="1" dirty="0">
                <a:solidFill>
                  <a:schemeClr val="bg1">
                    <a:lumMod val="50000"/>
                  </a:schemeClr>
                </a:solidFill>
                <a:latin typeface="JetBrains Mono Light" panose="02000009000000000000" pitchFamily="49" charset="0"/>
                <a:cs typeface="JetBrains Mono Light" panose="02000009000000000000" pitchFamily="49" charset="0"/>
              </a:rPr>
              <a:t>Xét</a:t>
            </a:r>
          </a:p>
        </p:txBody>
      </p:sp>
      <p:sp>
        <p:nvSpPr>
          <p:cNvPr id="44" name="TextBox 43">
            <a:extLst>
              <a:ext uri="{FF2B5EF4-FFF2-40B4-BE49-F238E27FC236}">
                <a16:creationId xmlns:a16="http://schemas.microsoft.com/office/drawing/2014/main" id="{CFB12CF4-2949-4AE1-99A6-14095CFF801B}"/>
              </a:ext>
            </a:extLst>
          </p:cNvPr>
          <p:cNvSpPr txBox="1"/>
          <p:nvPr/>
        </p:nvSpPr>
        <p:spPr>
          <a:xfrm>
            <a:off x="3565879" y="1449339"/>
            <a:ext cx="231088" cy="369332"/>
          </a:xfrm>
          <a:prstGeom prst="rect">
            <a:avLst/>
          </a:prstGeom>
          <a:noFill/>
        </p:spPr>
        <p:txBody>
          <a:bodyPr wrap="square" rtlCol="0">
            <a:spAutoFit/>
          </a:bodyPr>
          <a:lstStyle/>
          <a:p>
            <a:pPr marL="285750" indent="-285750">
              <a:buFont typeface="Arial" panose="020B0604020202020204" pitchFamily="34" charset="0"/>
              <a:buChar char="•"/>
            </a:pPr>
            <a:r>
              <a:rPr lang="en-US" i="1" dirty="0">
                <a:solidFill>
                  <a:schemeClr val="bg1">
                    <a:lumMod val="50000"/>
                  </a:schemeClr>
                </a:solidFill>
                <a:latin typeface="JetBrains Mono Light" panose="02000009000000000000" pitchFamily="49" charset="0"/>
                <a:cs typeface="JetBrains Mono Light" panose="02000009000000000000" pitchFamily="49" charset="0"/>
              </a:rPr>
              <a:t>​</a:t>
            </a:r>
          </a:p>
        </p:txBody>
      </p:sp>
      <p:sp>
        <p:nvSpPr>
          <p:cNvPr id="2" name="TextBox 1">
            <a:extLst>
              <a:ext uri="{FF2B5EF4-FFF2-40B4-BE49-F238E27FC236}">
                <a16:creationId xmlns:a16="http://schemas.microsoft.com/office/drawing/2014/main" id="{A459B911-301C-4718-B290-ECD2AAE279EA}"/>
              </a:ext>
            </a:extLst>
          </p:cNvPr>
          <p:cNvSpPr txBox="1"/>
          <p:nvPr/>
        </p:nvSpPr>
        <p:spPr>
          <a:xfrm>
            <a:off x="4810111" y="1468527"/>
            <a:ext cx="322524" cy="369332"/>
          </a:xfrm>
          <a:prstGeom prst="rect">
            <a:avLst/>
          </a:prstGeom>
          <a:noFill/>
        </p:spPr>
        <p:txBody>
          <a:bodyPr wrap="square" rtlCol="0">
            <a:spAutoFit/>
          </a:bodyPr>
          <a:lstStyle/>
          <a:p>
            <a:r>
              <a:rPr lang="en-US" dirty="0">
                <a:solidFill>
                  <a:schemeClr val="bg1">
                    <a:lumMod val="50000"/>
                  </a:schemeClr>
                </a:solidFill>
                <a:latin typeface="JetBrains Mono ExtraLight" panose="02000009000000000000" pitchFamily="49" charset="0"/>
                <a:cs typeface="JetBrains Mono ExtraLight" panose="02000009000000000000" pitchFamily="49" charset="0"/>
              </a:rPr>
              <a:t>|</a:t>
            </a:r>
          </a:p>
        </p:txBody>
      </p:sp>
      <p:sp>
        <p:nvSpPr>
          <p:cNvPr id="58" name="TextBox 57">
            <a:extLst>
              <a:ext uri="{FF2B5EF4-FFF2-40B4-BE49-F238E27FC236}">
                <a16:creationId xmlns:a16="http://schemas.microsoft.com/office/drawing/2014/main" id="{BFAD8E00-5F1C-4D84-A9B7-167D3E9A5010}"/>
              </a:ext>
            </a:extLst>
          </p:cNvPr>
          <p:cNvSpPr txBox="1"/>
          <p:nvPr/>
        </p:nvSpPr>
        <p:spPr>
          <a:xfrm>
            <a:off x="6113811" y="1468527"/>
            <a:ext cx="322524" cy="369332"/>
          </a:xfrm>
          <a:prstGeom prst="rect">
            <a:avLst/>
          </a:prstGeom>
          <a:noFill/>
        </p:spPr>
        <p:txBody>
          <a:bodyPr wrap="square" rtlCol="0">
            <a:spAutoFit/>
          </a:bodyPr>
          <a:lstStyle/>
          <a:p>
            <a:r>
              <a:rPr lang="en-US" dirty="0">
                <a:solidFill>
                  <a:schemeClr val="bg1">
                    <a:lumMod val="50000"/>
                  </a:schemeClr>
                </a:solidFill>
                <a:latin typeface="JetBrains Mono ExtraLight" panose="02000009000000000000" pitchFamily="49" charset="0"/>
                <a:cs typeface="JetBrains Mono ExtraLight" panose="02000009000000000000" pitchFamily="49" charset="0"/>
              </a:rPr>
              <a:t>|</a:t>
            </a:r>
          </a:p>
        </p:txBody>
      </p:sp>
      <p:sp>
        <p:nvSpPr>
          <p:cNvPr id="63" name="TextBox 62">
            <a:extLst>
              <a:ext uri="{FF2B5EF4-FFF2-40B4-BE49-F238E27FC236}">
                <a16:creationId xmlns:a16="http://schemas.microsoft.com/office/drawing/2014/main" id="{908E1E9D-23D5-42C0-919C-D12264B866B0}"/>
              </a:ext>
            </a:extLst>
          </p:cNvPr>
          <p:cNvSpPr txBox="1"/>
          <p:nvPr/>
        </p:nvSpPr>
        <p:spPr>
          <a:xfrm>
            <a:off x="2866724" y="1985043"/>
            <a:ext cx="884654"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Ví</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dụ</a:t>
            </a:r>
            <a:endParaRPr lang="en-US" dirty="0">
              <a:solidFill>
                <a:schemeClr val="bg1"/>
              </a:solidFill>
              <a:latin typeface="JetBrains Mono Regular" panose="02000009000000000000" pitchFamily="49" charset="0"/>
              <a:cs typeface="JetBrains Mono Regular" panose="02000009000000000000" pitchFamily="49" charset="0"/>
            </a:endParaRPr>
          </a:p>
        </p:txBody>
      </p:sp>
      <p:sp>
        <p:nvSpPr>
          <p:cNvPr id="3" name="TextBox 2">
            <a:extLst>
              <a:ext uri="{FF2B5EF4-FFF2-40B4-BE49-F238E27FC236}">
                <a16:creationId xmlns:a16="http://schemas.microsoft.com/office/drawing/2014/main" id="{9755C029-27DA-4218-AF85-7EFE53D070BE}"/>
              </a:ext>
            </a:extLst>
          </p:cNvPr>
          <p:cNvSpPr txBox="1"/>
          <p:nvPr/>
        </p:nvSpPr>
        <p:spPr>
          <a:xfrm>
            <a:off x="2884287" y="2483756"/>
            <a:ext cx="5418129" cy="646331"/>
          </a:xfrm>
          <a:prstGeom prst="rect">
            <a:avLst/>
          </a:prstGeom>
          <a:noFill/>
        </p:spPr>
        <p:txBody>
          <a:bodyPr wrap="square" rtlCol="0">
            <a:spAutoFit/>
          </a:bodyPr>
          <a:lstStyle/>
          <a:p>
            <a:r>
              <a:rPr lang="en-VN" i="1" dirty="0">
                <a:solidFill>
                  <a:schemeClr val="bg1">
                    <a:lumMod val="50000"/>
                  </a:schemeClr>
                </a:solidFill>
                <a:latin typeface="JetBrains Mono Light" panose="02000009000000000000" pitchFamily="49" charset="0"/>
                <a:cs typeface="JetBrains Mono Light" panose="02000009000000000000" pitchFamily="49" charset="0"/>
              </a:rPr>
              <a:t>cạnh BC thêm vào T,không tạo chu trình </a:t>
            </a:r>
            <a:endParaRPr lang="en-US" i="1" dirty="0">
              <a:solidFill>
                <a:schemeClr val="bg1">
                  <a:lumMod val="50000"/>
                </a:schemeClr>
              </a:solidFill>
              <a:latin typeface="JetBrains Mono Light" panose="02000009000000000000" pitchFamily="49" charset="0"/>
              <a:cs typeface="JetBrains Mono Light" panose="02000009000000000000" pitchFamily="49" charset="0"/>
            </a:endParaRPr>
          </a:p>
          <a:p>
            <a:r>
              <a:rPr lang="en-VN" i="1" dirty="0">
                <a:solidFill>
                  <a:srgbClr val="EBE9EB"/>
                </a:solidFill>
                <a:latin typeface="JetBrains Mono Light" panose="02000009000000000000" pitchFamily="49" charset="0"/>
                <a:cs typeface="JetBrains Mono Light" panose="02000009000000000000" pitchFamily="49" charset="0"/>
              </a:rPr>
              <a:t>T</a:t>
            </a:r>
            <a:r>
              <a:rPr lang="en-US" i="1" dirty="0">
                <a:solidFill>
                  <a:srgbClr val="EBE9EB"/>
                </a:solidFill>
                <a:latin typeface="JetBrains Mono Light" panose="02000009000000000000" pitchFamily="49" charset="0"/>
                <a:cs typeface="JetBrains Mono Light" panose="02000009000000000000" pitchFamily="49" charset="0"/>
              </a:rPr>
              <a:t>={}</a:t>
            </a:r>
            <a:r>
              <a:rPr lang="en-VN" i="1" dirty="0">
                <a:solidFill>
                  <a:srgbClr val="EBE9EB"/>
                </a:solidFill>
                <a:latin typeface="JetBrains Mono Light" panose="02000009000000000000" pitchFamily="49" charset="0"/>
                <a:cs typeface="JetBrains Mono Light" panose="02000009000000000000" pitchFamily="49" charset="0"/>
              </a:rPr>
              <a:t> trở thành T={</a:t>
            </a:r>
            <a:r>
              <a:rPr lang="en-VN" i="1" u="sng" dirty="0">
                <a:solidFill>
                  <a:srgbClr val="EBE9EB"/>
                </a:solidFill>
                <a:latin typeface="JetBrains Mono Light" panose="02000009000000000000" pitchFamily="49" charset="0"/>
                <a:cs typeface="JetBrains Mono Light" panose="02000009000000000000" pitchFamily="49" charset="0"/>
              </a:rPr>
              <a:t>BC</a:t>
            </a:r>
            <a:r>
              <a:rPr lang="en-VN" i="1" dirty="0">
                <a:solidFill>
                  <a:srgbClr val="EBE9EB"/>
                </a:solidFill>
                <a:latin typeface="JetBrains Mono Light" panose="02000009000000000000" pitchFamily="49" charset="0"/>
                <a:cs typeface="JetBrains Mono Light" panose="02000009000000000000" pitchFamily="49" charset="0"/>
              </a:rPr>
              <a:t>}</a:t>
            </a:r>
          </a:p>
        </p:txBody>
      </p:sp>
      <p:sp>
        <p:nvSpPr>
          <p:cNvPr id="4" name="TextBox 3">
            <a:extLst>
              <a:ext uri="{FF2B5EF4-FFF2-40B4-BE49-F238E27FC236}">
                <a16:creationId xmlns:a16="http://schemas.microsoft.com/office/drawing/2014/main" id="{B9D48FBE-422E-434F-9DEC-B4947C94CCC1}"/>
              </a:ext>
            </a:extLst>
          </p:cNvPr>
          <p:cNvSpPr txBox="1"/>
          <p:nvPr/>
        </p:nvSpPr>
        <p:spPr>
          <a:xfrm>
            <a:off x="3751378" y="1987240"/>
            <a:ext cx="1562450" cy="369332"/>
          </a:xfrm>
          <a:prstGeom prst="rect">
            <a:avLst/>
          </a:prstGeom>
          <a:noFill/>
        </p:spPr>
        <p:txBody>
          <a:bodyPr wrap="square" rtlCol="0">
            <a:spAutoFit/>
          </a:bodyPr>
          <a:lstStyle/>
          <a:p>
            <a:pPr marL="285750" indent="-285750">
              <a:buFont typeface="Arial" panose="020B0604020202020204" pitchFamily="34" charset="0"/>
              <a:buChar char="•"/>
            </a:pPr>
            <a:r>
              <a:rPr lang="en-VN" i="1" dirty="0">
                <a:solidFill>
                  <a:srgbClr val="EBE9EB"/>
                </a:solidFill>
                <a:latin typeface="JetBrains Mono Light" panose="02000009000000000000" pitchFamily="49" charset="0"/>
                <a:cs typeface="JetBrains Mono Light" panose="02000009000000000000" pitchFamily="49" charset="0"/>
              </a:rPr>
              <a:t>Ta xét</a:t>
            </a:r>
            <a:r>
              <a:rPr lang="en-US" i="1" dirty="0">
                <a:solidFill>
                  <a:srgbClr val="EBE9EB"/>
                </a:solidFill>
                <a:latin typeface="JetBrains Mono Light" panose="02000009000000000000" pitchFamily="49" charset="0"/>
                <a:cs typeface="JetBrains Mono Light" panose="02000009000000000000" pitchFamily="49" charset="0"/>
              </a:rPr>
              <a:t>:</a:t>
            </a:r>
            <a:endParaRPr lang="en-US" dirty="0"/>
          </a:p>
        </p:txBody>
      </p:sp>
      <p:sp>
        <p:nvSpPr>
          <p:cNvPr id="64" name="TextBox 63">
            <a:extLst>
              <a:ext uri="{FF2B5EF4-FFF2-40B4-BE49-F238E27FC236}">
                <a16:creationId xmlns:a16="http://schemas.microsoft.com/office/drawing/2014/main" id="{061C2427-4B7F-4955-BE79-71ED336A230B}"/>
              </a:ext>
            </a:extLst>
          </p:cNvPr>
          <p:cNvSpPr txBox="1"/>
          <p:nvPr/>
        </p:nvSpPr>
        <p:spPr>
          <a:xfrm>
            <a:off x="2872981" y="3079761"/>
            <a:ext cx="5418129" cy="646331"/>
          </a:xfrm>
          <a:prstGeom prst="rect">
            <a:avLst/>
          </a:prstGeom>
          <a:noFill/>
        </p:spPr>
        <p:txBody>
          <a:bodyPr wrap="square" rtlCol="0">
            <a:spAutoFit/>
          </a:bodyPr>
          <a:lstStyle/>
          <a:p>
            <a:r>
              <a:rPr lang="en-VN" i="1" dirty="0">
                <a:solidFill>
                  <a:schemeClr val="bg1">
                    <a:lumMod val="50000"/>
                  </a:schemeClr>
                </a:solidFill>
                <a:latin typeface="JetBrains Mono Light" panose="02000009000000000000" pitchFamily="49" charset="0"/>
                <a:cs typeface="JetBrains Mono Light" panose="02000009000000000000" pitchFamily="49" charset="0"/>
              </a:rPr>
              <a:t>cạnh </a:t>
            </a:r>
            <a:r>
              <a:rPr lang="en-US" i="1" dirty="0">
                <a:solidFill>
                  <a:schemeClr val="bg1">
                    <a:lumMod val="50000"/>
                  </a:schemeClr>
                </a:solidFill>
                <a:latin typeface="JetBrains Mono Light" panose="02000009000000000000" pitchFamily="49" charset="0"/>
                <a:cs typeface="JetBrains Mono Light" panose="02000009000000000000" pitchFamily="49" charset="0"/>
              </a:rPr>
              <a:t>DE</a:t>
            </a:r>
            <a:r>
              <a:rPr lang="en-VN" i="1" dirty="0">
                <a:solidFill>
                  <a:schemeClr val="bg1">
                    <a:lumMod val="50000"/>
                  </a:schemeClr>
                </a:solidFill>
                <a:latin typeface="JetBrains Mono Light" panose="02000009000000000000" pitchFamily="49" charset="0"/>
                <a:cs typeface="JetBrains Mono Light" panose="02000009000000000000" pitchFamily="49" charset="0"/>
              </a:rPr>
              <a:t> thêm vào T,không tạo chu trình </a:t>
            </a:r>
            <a:endParaRPr lang="en-US" i="1" dirty="0">
              <a:solidFill>
                <a:schemeClr val="bg1">
                  <a:lumMod val="50000"/>
                </a:schemeClr>
              </a:solidFill>
              <a:latin typeface="JetBrains Mono Light" panose="02000009000000000000" pitchFamily="49" charset="0"/>
              <a:cs typeface="JetBrains Mono Light" panose="02000009000000000000" pitchFamily="49" charset="0"/>
            </a:endParaRPr>
          </a:p>
          <a:p>
            <a:r>
              <a:rPr lang="en-VN" i="1" dirty="0">
                <a:solidFill>
                  <a:srgbClr val="EBE9EB"/>
                </a:solidFill>
                <a:latin typeface="JetBrains Mono Light" panose="02000009000000000000" pitchFamily="49" charset="0"/>
                <a:cs typeface="JetBrains Mono Light" panose="02000009000000000000" pitchFamily="49" charset="0"/>
              </a:rPr>
              <a:t>T</a:t>
            </a:r>
            <a:r>
              <a:rPr lang="en-US" i="1" dirty="0">
                <a:solidFill>
                  <a:srgbClr val="EBE9EB"/>
                </a:solidFill>
                <a:latin typeface="JetBrains Mono Light" panose="02000009000000000000" pitchFamily="49" charset="0"/>
                <a:cs typeface="JetBrains Mono Light" panose="02000009000000000000" pitchFamily="49" charset="0"/>
              </a:rPr>
              <a:t>={</a:t>
            </a:r>
            <a:r>
              <a:rPr lang="en-US" i="1" u="sng" dirty="0">
                <a:solidFill>
                  <a:srgbClr val="EBE9EB"/>
                </a:solidFill>
                <a:latin typeface="JetBrains Mono Light" panose="02000009000000000000" pitchFamily="49" charset="0"/>
                <a:cs typeface="JetBrains Mono Light" panose="02000009000000000000" pitchFamily="49" charset="0"/>
              </a:rPr>
              <a:t>BC</a:t>
            </a:r>
            <a:r>
              <a:rPr lang="en-US" i="1" dirty="0">
                <a:solidFill>
                  <a:srgbClr val="EBE9EB"/>
                </a:solidFill>
                <a:latin typeface="JetBrains Mono Light" panose="02000009000000000000" pitchFamily="49" charset="0"/>
                <a:cs typeface="JetBrains Mono Light" panose="02000009000000000000" pitchFamily="49" charset="0"/>
              </a:rPr>
              <a:t>}</a:t>
            </a:r>
            <a:r>
              <a:rPr lang="en-VN" i="1" dirty="0">
                <a:solidFill>
                  <a:srgbClr val="EBE9EB"/>
                </a:solidFill>
                <a:latin typeface="JetBrains Mono Light" panose="02000009000000000000" pitchFamily="49" charset="0"/>
                <a:cs typeface="JetBrains Mono Light" panose="02000009000000000000" pitchFamily="49" charset="0"/>
              </a:rPr>
              <a:t> trở thành T={</a:t>
            </a:r>
            <a:r>
              <a:rPr lang="en-VN" i="1" u="sng" dirty="0">
                <a:solidFill>
                  <a:srgbClr val="EBE9EB"/>
                </a:solidFill>
                <a:latin typeface="JetBrains Mono Light" panose="02000009000000000000" pitchFamily="49" charset="0"/>
                <a:cs typeface="JetBrains Mono Light" panose="02000009000000000000" pitchFamily="49" charset="0"/>
              </a:rPr>
              <a:t>BC</a:t>
            </a:r>
            <a:r>
              <a:rPr lang="en-US" i="1" dirty="0">
                <a:solidFill>
                  <a:srgbClr val="EBE9EB"/>
                </a:solidFill>
                <a:latin typeface="JetBrains Mono Light" panose="02000009000000000000" pitchFamily="49" charset="0"/>
                <a:cs typeface="JetBrains Mono Light" panose="02000009000000000000" pitchFamily="49" charset="0"/>
              </a:rPr>
              <a:t>,</a:t>
            </a:r>
            <a:r>
              <a:rPr lang="en-US" i="1" u="sng" dirty="0">
                <a:solidFill>
                  <a:srgbClr val="EBE9EB"/>
                </a:solidFill>
                <a:latin typeface="JetBrains Mono Light" panose="02000009000000000000" pitchFamily="49" charset="0"/>
                <a:cs typeface="JetBrains Mono Light" panose="02000009000000000000" pitchFamily="49" charset="0"/>
              </a:rPr>
              <a:t>DE</a:t>
            </a:r>
            <a:r>
              <a:rPr lang="en-VN" i="1" dirty="0">
                <a:solidFill>
                  <a:srgbClr val="EBE9EB"/>
                </a:solidFill>
                <a:latin typeface="JetBrains Mono Light" panose="02000009000000000000" pitchFamily="49" charset="0"/>
                <a:cs typeface="JetBrains Mono Light" panose="02000009000000000000" pitchFamily="49" charset="0"/>
              </a:rPr>
              <a:t>}</a:t>
            </a:r>
          </a:p>
        </p:txBody>
      </p:sp>
      <p:sp>
        <p:nvSpPr>
          <p:cNvPr id="65" name="TextBox 64">
            <a:extLst>
              <a:ext uri="{FF2B5EF4-FFF2-40B4-BE49-F238E27FC236}">
                <a16:creationId xmlns:a16="http://schemas.microsoft.com/office/drawing/2014/main" id="{4A59E5B8-B7B1-40EB-BA72-5588E535AB1F}"/>
              </a:ext>
            </a:extLst>
          </p:cNvPr>
          <p:cNvSpPr txBox="1"/>
          <p:nvPr/>
        </p:nvSpPr>
        <p:spPr>
          <a:xfrm>
            <a:off x="2872981" y="3676633"/>
            <a:ext cx="5418129" cy="646331"/>
          </a:xfrm>
          <a:prstGeom prst="rect">
            <a:avLst/>
          </a:prstGeom>
          <a:noFill/>
        </p:spPr>
        <p:txBody>
          <a:bodyPr wrap="square" rtlCol="0">
            <a:spAutoFit/>
          </a:bodyPr>
          <a:lstStyle/>
          <a:p>
            <a:r>
              <a:rPr lang="en-VN" i="1" dirty="0">
                <a:solidFill>
                  <a:schemeClr val="bg1">
                    <a:lumMod val="50000"/>
                  </a:schemeClr>
                </a:solidFill>
                <a:latin typeface="JetBrains Mono Light" panose="02000009000000000000" pitchFamily="49" charset="0"/>
                <a:cs typeface="JetBrains Mono Light" panose="02000009000000000000" pitchFamily="49" charset="0"/>
              </a:rPr>
              <a:t>cạnh </a:t>
            </a:r>
            <a:r>
              <a:rPr lang="en-US" i="1" dirty="0">
                <a:solidFill>
                  <a:schemeClr val="bg1">
                    <a:lumMod val="50000"/>
                  </a:schemeClr>
                </a:solidFill>
                <a:latin typeface="JetBrains Mono Light" panose="02000009000000000000" pitchFamily="49" charset="0"/>
                <a:cs typeface="JetBrains Mono Light" panose="02000009000000000000" pitchFamily="49" charset="0"/>
              </a:rPr>
              <a:t>AD</a:t>
            </a:r>
            <a:r>
              <a:rPr lang="en-VN" i="1" dirty="0">
                <a:solidFill>
                  <a:schemeClr val="bg1">
                    <a:lumMod val="50000"/>
                  </a:schemeClr>
                </a:solidFill>
                <a:latin typeface="JetBrains Mono Light" panose="02000009000000000000" pitchFamily="49" charset="0"/>
                <a:cs typeface="JetBrains Mono Light" panose="02000009000000000000" pitchFamily="49" charset="0"/>
              </a:rPr>
              <a:t> thêm vào T,không tạo chu trình </a:t>
            </a:r>
            <a:endParaRPr lang="en-US" i="1" dirty="0">
              <a:solidFill>
                <a:schemeClr val="bg1">
                  <a:lumMod val="50000"/>
                </a:schemeClr>
              </a:solidFill>
              <a:latin typeface="JetBrains Mono Light" panose="02000009000000000000" pitchFamily="49" charset="0"/>
              <a:cs typeface="JetBrains Mono Light" panose="02000009000000000000" pitchFamily="49" charset="0"/>
            </a:endParaRPr>
          </a:p>
          <a:p>
            <a:r>
              <a:rPr lang="en-VN" i="1" dirty="0">
                <a:solidFill>
                  <a:srgbClr val="EBE9EB"/>
                </a:solidFill>
                <a:latin typeface="JetBrains Mono Light" panose="02000009000000000000" pitchFamily="49" charset="0"/>
                <a:cs typeface="JetBrains Mono Light" panose="02000009000000000000" pitchFamily="49" charset="0"/>
              </a:rPr>
              <a:t>T</a:t>
            </a:r>
            <a:r>
              <a:rPr lang="en-US" i="1" dirty="0">
                <a:solidFill>
                  <a:srgbClr val="EBE9EB"/>
                </a:solidFill>
                <a:latin typeface="JetBrains Mono Light" panose="02000009000000000000" pitchFamily="49" charset="0"/>
                <a:cs typeface="JetBrains Mono Light" panose="02000009000000000000" pitchFamily="49" charset="0"/>
              </a:rPr>
              <a:t>={</a:t>
            </a:r>
            <a:r>
              <a:rPr lang="en-US" i="1" u="sng" dirty="0">
                <a:solidFill>
                  <a:srgbClr val="EBE9EB"/>
                </a:solidFill>
                <a:latin typeface="JetBrains Mono Light" panose="02000009000000000000" pitchFamily="49" charset="0"/>
                <a:cs typeface="JetBrains Mono Light" panose="02000009000000000000" pitchFamily="49" charset="0"/>
              </a:rPr>
              <a:t>BC</a:t>
            </a:r>
            <a:r>
              <a:rPr lang="en-US" i="1" dirty="0">
                <a:solidFill>
                  <a:srgbClr val="EBE9EB"/>
                </a:solidFill>
                <a:latin typeface="JetBrains Mono Light" panose="02000009000000000000" pitchFamily="49" charset="0"/>
                <a:cs typeface="JetBrains Mono Light" panose="02000009000000000000" pitchFamily="49" charset="0"/>
              </a:rPr>
              <a:t>,</a:t>
            </a:r>
            <a:r>
              <a:rPr lang="en-US" i="1" u="sng" dirty="0">
                <a:solidFill>
                  <a:srgbClr val="EBE9EB"/>
                </a:solidFill>
                <a:latin typeface="JetBrains Mono Light" panose="02000009000000000000" pitchFamily="49" charset="0"/>
                <a:cs typeface="JetBrains Mono Light" panose="02000009000000000000" pitchFamily="49" charset="0"/>
              </a:rPr>
              <a:t>DE</a:t>
            </a:r>
            <a:r>
              <a:rPr lang="en-US" i="1" dirty="0">
                <a:solidFill>
                  <a:srgbClr val="EBE9EB"/>
                </a:solidFill>
                <a:latin typeface="JetBrains Mono Light" panose="02000009000000000000" pitchFamily="49" charset="0"/>
                <a:cs typeface="JetBrains Mono Light" panose="02000009000000000000" pitchFamily="49" charset="0"/>
              </a:rPr>
              <a:t>}</a:t>
            </a:r>
            <a:r>
              <a:rPr lang="en-VN" i="1" dirty="0">
                <a:solidFill>
                  <a:srgbClr val="EBE9EB"/>
                </a:solidFill>
                <a:latin typeface="JetBrains Mono Light" panose="02000009000000000000" pitchFamily="49" charset="0"/>
                <a:cs typeface="JetBrains Mono Light" panose="02000009000000000000" pitchFamily="49" charset="0"/>
              </a:rPr>
              <a:t> trở thành T={</a:t>
            </a:r>
            <a:r>
              <a:rPr lang="en-VN" i="1" u="sng" dirty="0">
                <a:solidFill>
                  <a:srgbClr val="EBE9EB"/>
                </a:solidFill>
                <a:latin typeface="JetBrains Mono Light" panose="02000009000000000000" pitchFamily="49" charset="0"/>
                <a:cs typeface="JetBrains Mono Light" panose="02000009000000000000" pitchFamily="49" charset="0"/>
              </a:rPr>
              <a:t>BC</a:t>
            </a:r>
            <a:r>
              <a:rPr lang="en-US" i="1" dirty="0">
                <a:solidFill>
                  <a:srgbClr val="EBE9EB"/>
                </a:solidFill>
                <a:latin typeface="JetBrains Mono Light" panose="02000009000000000000" pitchFamily="49" charset="0"/>
                <a:cs typeface="JetBrains Mono Light" panose="02000009000000000000" pitchFamily="49" charset="0"/>
              </a:rPr>
              <a:t>,</a:t>
            </a:r>
            <a:r>
              <a:rPr lang="en-US" i="1" u="sng" dirty="0">
                <a:solidFill>
                  <a:srgbClr val="EBE9EB"/>
                </a:solidFill>
                <a:latin typeface="JetBrains Mono Light" panose="02000009000000000000" pitchFamily="49" charset="0"/>
                <a:cs typeface="JetBrains Mono Light" panose="02000009000000000000" pitchFamily="49" charset="0"/>
              </a:rPr>
              <a:t>DE</a:t>
            </a:r>
            <a:r>
              <a:rPr lang="en-US" i="1" dirty="0">
                <a:solidFill>
                  <a:srgbClr val="EBE9EB"/>
                </a:solidFill>
                <a:latin typeface="JetBrains Mono Light" panose="02000009000000000000" pitchFamily="49" charset="0"/>
                <a:cs typeface="JetBrains Mono Light" panose="02000009000000000000" pitchFamily="49" charset="0"/>
              </a:rPr>
              <a:t>,</a:t>
            </a:r>
            <a:r>
              <a:rPr lang="en-US" i="1" u="sng" dirty="0">
                <a:solidFill>
                  <a:srgbClr val="EBE9EB"/>
                </a:solidFill>
                <a:latin typeface="JetBrains Mono Light" panose="02000009000000000000" pitchFamily="49" charset="0"/>
                <a:cs typeface="JetBrains Mono Light" panose="02000009000000000000" pitchFamily="49" charset="0"/>
              </a:rPr>
              <a:t>AD</a:t>
            </a:r>
            <a:r>
              <a:rPr lang="en-VN" i="1" dirty="0">
                <a:solidFill>
                  <a:srgbClr val="EBE9EB"/>
                </a:solidFill>
                <a:latin typeface="JetBrains Mono Light" panose="02000009000000000000" pitchFamily="49" charset="0"/>
                <a:cs typeface="JetBrains Mono Light" panose="02000009000000000000" pitchFamily="49" charset="0"/>
              </a:rPr>
              <a:t>}</a:t>
            </a:r>
          </a:p>
        </p:txBody>
      </p:sp>
      <p:sp>
        <p:nvSpPr>
          <p:cNvPr id="66" name="TextBox 65">
            <a:extLst>
              <a:ext uri="{FF2B5EF4-FFF2-40B4-BE49-F238E27FC236}">
                <a16:creationId xmlns:a16="http://schemas.microsoft.com/office/drawing/2014/main" id="{D70BFDF8-33F2-4BE2-9EDC-E72623614471}"/>
              </a:ext>
            </a:extLst>
          </p:cNvPr>
          <p:cNvSpPr txBox="1"/>
          <p:nvPr/>
        </p:nvSpPr>
        <p:spPr>
          <a:xfrm>
            <a:off x="2884287" y="4329871"/>
            <a:ext cx="5418129" cy="646331"/>
          </a:xfrm>
          <a:prstGeom prst="rect">
            <a:avLst/>
          </a:prstGeom>
          <a:noFill/>
        </p:spPr>
        <p:txBody>
          <a:bodyPr wrap="square" rtlCol="0">
            <a:spAutoFit/>
          </a:bodyPr>
          <a:lstStyle/>
          <a:p>
            <a:r>
              <a:rPr lang="en-VN" i="1" dirty="0">
                <a:solidFill>
                  <a:schemeClr val="bg1">
                    <a:lumMod val="50000"/>
                  </a:schemeClr>
                </a:solidFill>
                <a:latin typeface="JetBrains Mono Light" panose="02000009000000000000" pitchFamily="49" charset="0"/>
                <a:cs typeface="JetBrains Mono Light" panose="02000009000000000000" pitchFamily="49" charset="0"/>
              </a:rPr>
              <a:t>cạnh </a:t>
            </a:r>
            <a:r>
              <a:rPr lang="en-US" i="1" dirty="0">
                <a:solidFill>
                  <a:schemeClr val="bg1">
                    <a:lumMod val="50000"/>
                  </a:schemeClr>
                </a:solidFill>
                <a:latin typeface="JetBrains Mono Light" panose="02000009000000000000" pitchFamily="49" charset="0"/>
                <a:cs typeface="JetBrains Mono Light" panose="02000009000000000000" pitchFamily="49" charset="0"/>
              </a:rPr>
              <a:t>BE</a:t>
            </a:r>
            <a:r>
              <a:rPr lang="en-VN" i="1" dirty="0">
                <a:solidFill>
                  <a:schemeClr val="bg1">
                    <a:lumMod val="50000"/>
                  </a:schemeClr>
                </a:solidFill>
                <a:latin typeface="JetBrains Mono Light" panose="02000009000000000000" pitchFamily="49" charset="0"/>
                <a:cs typeface="JetBrains Mono Light" panose="02000009000000000000" pitchFamily="49" charset="0"/>
              </a:rPr>
              <a:t> thêm vào T,không tạo chu trình </a:t>
            </a:r>
            <a:endParaRPr lang="en-US" i="1" dirty="0">
              <a:solidFill>
                <a:schemeClr val="bg1">
                  <a:lumMod val="50000"/>
                </a:schemeClr>
              </a:solidFill>
              <a:latin typeface="JetBrains Mono Light" panose="02000009000000000000" pitchFamily="49" charset="0"/>
              <a:cs typeface="JetBrains Mono Light" panose="02000009000000000000" pitchFamily="49" charset="0"/>
            </a:endParaRPr>
          </a:p>
          <a:p>
            <a:r>
              <a:rPr lang="en-VN" i="1" dirty="0">
                <a:solidFill>
                  <a:srgbClr val="EBE9EB"/>
                </a:solidFill>
                <a:latin typeface="JetBrains Mono Light" panose="02000009000000000000" pitchFamily="49" charset="0"/>
                <a:cs typeface="JetBrains Mono Light" panose="02000009000000000000" pitchFamily="49" charset="0"/>
              </a:rPr>
              <a:t>T</a:t>
            </a:r>
            <a:r>
              <a:rPr lang="en-US" i="1" dirty="0">
                <a:solidFill>
                  <a:srgbClr val="EBE9EB"/>
                </a:solidFill>
                <a:latin typeface="JetBrains Mono Light" panose="02000009000000000000" pitchFamily="49" charset="0"/>
                <a:cs typeface="JetBrains Mono Light" panose="02000009000000000000" pitchFamily="49" charset="0"/>
              </a:rPr>
              <a:t>={</a:t>
            </a:r>
            <a:r>
              <a:rPr lang="en-US" i="1" u="sng" dirty="0">
                <a:solidFill>
                  <a:srgbClr val="EBE9EB"/>
                </a:solidFill>
                <a:latin typeface="JetBrains Mono Light" panose="02000009000000000000" pitchFamily="49" charset="0"/>
                <a:cs typeface="JetBrains Mono Light" panose="02000009000000000000" pitchFamily="49" charset="0"/>
              </a:rPr>
              <a:t>BC</a:t>
            </a:r>
            <a:r>
              <a:rPr lang="en-US" i="1" dirty="0">
                <a:solidFill>
                  <a:srgbClr val="EBE9EB"/>
                </a:solidFill>
                <a:latin typeface="JetBrains Mono Light" panose="02000009000000000000" pitchFamily="49" charset="0"/>
                <a:cs typeface="JetBrains Mono Light" panose="02000009000000000000" pitchFamily="49" charset="0"/>
              </a:rPr>
              <a:t>,</a:t>
            </a:r>
            <a:r>
              <a:rPr lang="en-US" i="1" u="sng" dirty="0">
                <a:solidFill>
                  <a:srgbClr val="EBE9EB"/>
                </a:solidFill>
                <a:latin typeface="JetBrains Mono Light" panose="02000009000000000000" pitchFamily="49" charset="0"/>
                <a:cs typeface="JetBrains Mono Light" panose="02000009000000000000" pitchFamily="49" charset="0"/>
              </a:rPr>
              <a:t>DE</a:t>
            </a:r>
            <a:r>
              <a:rPr lang="en-US" i="1" dirty="0">
                <a:solidFill>
                  <a:srgbClr val="EBE9EB"/>
                </a:solidFill>
                <a:latin typeface="JetBrains Mono Light" panose="02000009000000000000" pitchFamily="49" charset="0"/>
                <a:cs typeface="JetBrains Mono Light" panose="02000009000000000000" pitchFamily="49" charset="0"/>
              </a:rPr>
              <a:t>,</a:t>
            </a:r>
            <a:r>
              <a:rPr lang="en-US" i="1" u="sng" dirty="0">
                <a:solidFill>
                  <a:srgbClr val="EBE9EB"/>
                </a:solidFill>
                <a:latin typeface="JetBrains Mono Light" panose="02000009000000000000" pitchFamily="49" charset="0"/>
                <a:cs typeface="JetBrains Mono Light" panose="02000009000000000000" pitchFamily="49" charset="0"/>
              </a:rPr>
              <a:t>AD</a:t>
            </a:r>
            <a:r>
              <a:rPr lang="en-US" i="1" dirty="0">
                <a:solidFill>
                  <a:srgbClr val="EBE9EB"/>
                </a:solidFill>
                <a:latin typeface="JetBrains Mono Light" panose="02000009000000000000" pitchFamily="49" charset="0"/>
                <a:cs typeface="JetBrains Mono Light" panose="02000009000000000000" pitchFamily="49" charset="0"/>
              </a:rPr>
              <a:t>}</a:t>
            </a:r>
            <a:r>
              <a:rPr lang="en-VN" i="1" dirty="0">
                <a:solidFill>
                  <a:srgbClr val="EBE9EB"/>
                </a:solidFill>
                <a:latin typeface="JetBrains Mono Light" panose="02000009000000000000" pitchFamily="49" charset="0"/>
                <a:cs typeface="JetBrains Mono Light" panose="02000009000000000000" pitchFamily="49" charset="0"/>
              </a:rPr>
              <a:t> trở thành T={</a:t>
            </a:r>
            <a:r>
              <a:rPr lang="en-VN" i="1" u="sng" dirty="0">
                <a:solidFill>
                  <a:srgbClr val="EBE9EB"/>
                </a:solidFill>
                <a:latin typeface="JetBrains Mono Light" panose="02000009000000000000" pitchFamily="49" charset="0"/>
                <a:cs typeface="JetBrains Mono Light" panose="02000009000000000000" pitchFamily="49" charset="0"/>
              </a:rPr>
              <a:t>BC</a:t>
            </a:r>
            <a:r>
              <a:rPr lang="en-US" i="1" dirty="0">
                <a:solidFill>
                  <a:srgbClr val="EBE9EB"/>
                </a:solidFill>
                <a:latin typeface="JetBrains Mono Light" panose="02000009000000000000" pitchFamily="49" charset="0"/>
                <a:cs typeface="JetBrains Mono Light" panose="02000009000000000000" pitchFamily="49" charset="0"/>
              </a:rPr>
              <a:t>,</a:t>
            </a:r>
            <a:r>
              <a:rPr lang="en-US" i="1" u="sng" dirty="0">
                <a:solidFill>
                  <a:srgbClr val="EBE9EB"/>
                </a:solidFill>
                <a:latin typeface="JetBrains Mono Light" panose="02000009000000000000" pitchFamily="49" charset="0"/>
                <a:cs typeface="JetBrains Mono Light" panose="02000009000000000000" pitchFamily="49" charset="0"/>
              </a:rPr>
              <a:t>DE</a:t>
            </a:r>
            <a:r>
              <a:rPr lang="en-US" i="1" dirty="0">
                <a:solidFill>
                  <a:srgbClr val="EBE9EB"/>
                </a:solidFill>
                <a:latin typeface="JetBrains Mono Light" panose="02000009000000000000" pitchFamily="49" charset="0"/>
                <a:cs typeface="JetBrains Mono Light" panose="02000009000000000000" pitchFamily="49" charset="0"/>
              </a:rPr>
              <a:t>,</a:t>
            </a:r>
            <a:r>
              <a:rPr lang="en-US" i="1" u="sng" dirty="0">
                <a:solidFill>
                  <a:srgbClr val="EBE9EB"/>
                </a:solidFill>
                <a:latin typeface="JetBrains Mono Light" panose="02000009000000000000" pitchFamily="49" charset="0"/>
                <a:cs typeface="JetBrains Mono Light" panose="02000009000000000000" pitchFamily="49" charset="0"/>
              </a:rPr>
              <a:t>AD</a:t>
            </a:r>
            <a:r>
              <a:rPr lang="en-US" i="1" dirty="0">
                <a:solidFill>
                  <a:srgbClr val="EBE9EB"/>
                </a:solidFill>
                <a:latin typeface="JetBrains Mono Light" panose="02000009000000000000" pitchFamily="49" charset="0"/>
                <a:cs typeface="JetBrains Mono Light" panose="02000009000000000000" pitchFamily="49" charset="0"/>
              </a:rPr>
              <a:t>,</a:t>
            </a:r>
            <a:r>
              <a:rPr lang="en-US" i="1" u="sng" dirty="0">
                <a:solidFill>
                  <a:srgbClr val="EBE9EB"/>
                </a:solidFill>
                <a:latin typeface="JetBrains Mono Light" panose="02000009000000000000" pitchFamily="49" charset="0"/>
                <a:cs typeface="JetBrains Mono Light" panose="02000009000000000000" pitchFamily="49" charset="0"/>
              </a:rPr>
              <a:t>BE</a:t>
            </a:r>
            <a:r>
              <a:rPr lang="en-VN" i="1" dirty="0">
                <a:solidFill>
                  <a:srgbClr val="EBE9EB"/>
                </a:solidFill>
                <a:latin typeface="JetBrains Mono Light" panose="02000009000000000000" pitchFamily="49" charset="0"/>
                <a:cs typeface="JetBrains Mono Light" panose="02000009000000000000" pitchFamily="49" charset="0"/>
              </a:rPr>
              <a:t>}</a:t>
            </a:r>
          </a:p>
        </p:txBody>
      </p:sp>
      <p:sp>
        <p:nvSpPr>
          <p:cNvPr id="67" name="TextBox 66">
            <a:extLst>
              <a:ext uri="{FF2B5EF4-FFF2-40B4-BE49-F238E27FC236}">
                <a16:creationId xmlns:a16="http://schemas.microsoft.com/office/drawing/2014/main" id="{76C8112C-9F9B-4454-90B2-1B51C4D19929}"/>
              </a:ext>
            </a:extLst>
          </p:cNvPr>
          <p:cNvSpPr txBox="1"/>
          <p:nvPr/>
        </p:nvSpPr>
        <p:spPr>
          <a:xfrm>
            <a:off x="2884703" y="5007692"/>
            <a:ext cx="5418129" cy="369332"/>
          </a:xfrm>
          <a:prstGeom prst="rect">
            <a:avLst/>
          </a:prstGeom>
          <a:noFill/>
        </p:spPr>
        <p:txBody>
          <a:bodyPr wrap="square" rtlCol="0">
            <a:spAutoFit/>
          </a:bodyPr>
          <a:lstStyle/>
          <a:p>
            <a:r>
              <a:rPr lang="en-US" i="1" dirty="0" err="1">
                <a:solidFill>
                  <a:schemeClr val="bg1">
                    <a:lumMod val="50000"/>
                  </a:schemeClr>
                </a:solidFill>
                <a:latin typeface="JetBrains Mono Light" panose="02000009000000000000" pitchFamily="49" charset="0"/>
                <a:cs typeface="JetBrains Mono Light" panose="02000009000000000000" pitchFamily="49" charset="0"/>
              </a:rPr>
              <a:t>thấy</a:t>
            </a:r>
            <a:r>
              <a:rPr lang="en-US" i="1" dirty="0">
                <a:solidFill>
                  <a:schemeClr val="bg1">
                    <a:lumMod val="50000"/>
                  </a:schemeClr>
                </a:solidFill>
                <a:latin typeface="JetBrains Mono Light" panose="02000009000000000000" pitchFamily="49" charset="0"/>
                <a:cs typeface="JetBrains Mono Light" panose="02000009000000000000" pitchFamily="49" charset="0"/>
              </a:rPr>
              <a:t> T = 4 (5 - 1),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dừng</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thuật</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toán</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p>
        </p:txBody>
      </p:sp>
      <p:sp>
        <p:nvSpPr>
          <p:cNvPr id="68" name="TextBox 67">
            <a:extLst>
              <a:ext uri="{FF2B5EF4-FFF2-40B4-BE49-F238E27FC236}">
                <a16:creationId xmlns:a16="http://schemas.microsoft.com/office/drawing/2014/main" id="{01CC2FEB-1D33-4AC9-B45B-A5E3C24CD5E3}"/>
              </a:ext>
            </a:extLst>
          </p:cNvPr>
          <p:cNvSpPr txBox="1"/>
          <p:nvPr/>
        </p:nvSpPr>
        <p:spPr>
          <a:xfrm>
            <a:off x="2894936" y="5537326"/>
            <a:ext cx="2824609" cy="369332"/>
          </a:xfrm>
          <a:prstGeom prst="rect">
            <a:avLst/>
          </a:prstGeom>
          <a:noFill/>
        </p:spPr>
        <p:txBody>
          <a:bodyPr wrap="square" rtlCol="0">
            <a:spAutoFit/>
          </a:bodyPr>
          <a:lstStyle/>
          <a:p>
            <a:r>
              <a:rPr lang="en-US" i="1" dirty="0" err="1">
                <a:solidFill>
                  <a:schemeClr val="bg1">
                    <a:lumMod val="50000"/>
                  </a:schemeClr>
                </a:solidFill>
                <a:latin typeface="JetBrains Mono Light" panose="02000009000000000000" pitchFamily="49" charset="0"/>
                <a:cs typeface="JetBrains Mono Light" panose="02000009000000000000" pitchFamily="49" charset="0"/>
              </a:rPr>
              <a:t>Tổng</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trọng</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số</a:t>
            </a:r>
            <a:r>
              <a:rPr lang="en-US" i="1" dirty="0">
                <a:solidFill>
                  <a:schemeClr val="bg1">
                    <a:lumMod val="50000"/>
                  </a:schemeClr>
                </a:solidFill>
                <a:latin typeface="JetBrains Mono Light" panose="02000009000000000000" pitchFamily="49" charset="0"/>
                <a:cs typeface="JetBrains Mono Light" panose="02000009000000000000" pitchFamily="49" charset="0"/>
              </a:rPr>
              <a:t> </a:t>
            </a:r>
            <a:r>
              <a:rPr lang="en-US" i="1" dirty="0" err="1">
                <a:solidFill>
                  <a:schemeClr val="bg1">
                    <a:lumMod val="50000"/>
                  </a:schemeClr>
                </a:solidFill>
                <a:latin typeface="JetBrains Mono Light" panose="02000009000000000000" pitchFamily="49" charset="0"/>
                <a:cs typeface="JetBrains Mono Light" panose="02000009000000000000" pitchFamily="49" charset="0"/>
              </a:rPr>
              <a:t>là</a:t>
            </a:r>
            <a:r>
              <a:rPr lang="en-US" i="1" dirty="0">
                <a:solidFill>
                  <a:schemeClr val="bg1">
                    <a:lumMod val="50000"/>
                  </a:schemeClr>
                </a:solidFill>
                <a:latin typeface="JetBrains Mono Light" panose="02000009000000000000" pitchFamily="49" charset="0"/>
                <a:cs typeface="JetBrains Mono Light" panose="02000009000000000000" pitchFamily="49" charset="0"/>
              </a:rPr>
              <a:t> 14</a:t>
            </a:r>
          </a:p>
        </p:txBody>
      </p:sp>
      <p:graphicFrame>
        <p:nvGraphicFramePr>
          <p:cNvPr id="86" name="Table 44">
            <a:extLst>
              <a:ext uri="{FF2B5EF4-FFF2-40B4-BE49-F238E27FC236}">
                <a16:creationId xmlns:a16="http://schemas.microsoft.com/office/drawing/2014/main" id="{4DA8EC0B-47AA-4476-9269-DC33D81D46A8}"/>
              </a:ext>
            </a:extLst>
          </p:cNvPr>
          <p:cNvGraphicFramePr>
            <a:graphicFrameLocks noGrp="1"/>
          </p:cNvGraphicFramePr>
          <p:nvPr>
            <p:extLst>
              <p:ext uri="{D42A27DB-BD31-4B8C-83A1-F6EECF244321}">
                <p14:modId xmlns:p14="http://schemas.microsoft.com/office/powerpoint/2010/main" val="505237114"/>
              </p:ext>
            </p:extLst>
          </p:nvPr>
        </p:nvGraphicFramePr>
        <p:xfrm>
          <a:off x="727532" y="2538963"/>
          <a:ext cx="1889566" cy="3107556"/>
        </p:xfrm>
        <a:graphic>
          <a:graphicData uri="http://schemas.openxmlformats.org/drawingml/2006/table">
            <a:tbl>
              <a:tblPr firstRow="1" bandRow="1">
                <a:solidFill>
                  <a:schemeClr val="tx1"/>
                </a:solidFill>
                <a:tableStyleId>{5C22544A-7EE6-4342-B048-85BDC9FD1C3A}</a:tableStyleId>
              </a:tblPr>
              <a:tblGrid>
                <a:gridCol w="944783">
                  <a:extLst>
                    <a:ext uri="{9D8B030D-6E8A-4147-A177-3AD203B41FA5}">
                      <a16:colId xmlns:a16="http://schemas.microsoft.com/office/drawing/2014/main" val="3498000576"/>
                    </a:ext>
                  </a:extLst>
                </a:gridCol>
                <a:gridCol w="944783">
                  <a:extLst>
                    <a:ext uri="{9D8B030D-6E8A-4147-A177-3AD203B41FA5}">
                      <a16:colId xmlns:a16="http://schemas.microsoft.com/office/drawing/2014/main" val="1228846467"/>
                    </a:ext>
                  </a:extLst>
                </a:gridCol>
              </a:tblGrid>
              <a:tr h="389061">
                <a:tc>
                  <a:txBody>
                    <a:bodyPr/>
                    <a:lstStyle/>
                    <a:p>
                      <a:pPr algn="ctr"/>
                      <a:r>
                        <a:rPr lang="en-VN" sz="1600" b="0" i="1" dirty="0">
                          <a:solidFill>
                            <a:schemeClr val="bg1">
                              <a:lumMod val="50000"/>
                            </a:schemeClr>
                          </a:solidFill>
                          <a:latin typeface="JetBrains Mono Light" panose="02000009000000000000" pitchFamily="49" charset="0"/>
                          <a:cs typeface="JetBrains Mono Light" panose="02000009000000000000" pitchFamily="49" charset="0"/>
                        </a:rPr>
                        <a:t>Cạnh</a:t>
                      </a:r>
                    </a:p>
                  </a:txBody>
                  <a:tcPr>
                    <a:solidFill>
                      <a:schemeClr val="tx1"/>
                    </a:solidFill>
                  </a:tcPr>
                </a:tc>
                <a:tc>
                  <a:txBody>
                    <a:bodyPr/>
                    <a:lstStyle/>
                    <a:p>
                      <a:r>
                        <a:rPr lang="en-VN" sz="1600" b="0" i="1" dirty="0">
                          <a:solidFill>
                            <a:schemeClr val="bg1">
                              <a:lumMod val="50000"/>
                            </a:schemeClr>
                          </a:solidFill>
                          <a:latin typeface="JetBrains Mono Light" panose="02000009000000000000" pitchFamily="49" charset="0"/>
                          <a:cs typeface="JetBrains Mono Light" panose="02000009000000000000" pitchFamily="49" charset="0"/>
                        </a:rPr>
                        <a:t>Độ dài</a:t>
                      </a:r>
                    </a:p>
                  </a:txBody>
                  <a:tcPr>
                    <a:solidFill>
                      <a:schemeClr val="tx1"/>
                    </a:solidFill>
                  </a:tcPr>
                </a:tc>
                <a:extLst>
                  <a:ext uri="{0D108BD9-81ED-4DB2-BD59-A6C34878D82A}">
                    <a16:rowId xmlns:a16="http://schemas.microsoft.com/office/drawing/2014/main" val="3071426674"/>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BC</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2</a:t>
                      </a:r>
                    </a:p>
                  </a:txBody>
                  <a:tcPr>
                    <a:solidFill>
                      <a:schemeClr val="tx1"/>
                    </a:solidFill>
                  </a:tcPr>
                </a:tc>
                <a:extLst>
                  <a:ext uri="{0D108BD9-81ED-4DB2-BD59-A6C34878D82A}">
                    <a16:rowId xmlns:a16="http://schemas.microsoft.com/office/drawing/2014/main" val="1475990308"/>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DE</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3</a:t>
                      </a:r>
                    </a:p>
                  </a:txBody>
                  <a:tcPr>
                    <a:solidFill>
                      <a:schemeClr val="tx1"/>
                    </a:solidFill>
                  </a:tcPr>
                </a:tc>
                <a:extLst>
                  <a:ext uri="{0D108BD9-81ED-4DB2-BD59-A6C34878D82A}">
                    <a16:rowId xmlns:a16="http://schemas.microsoft.com/office/drawing/2014/main" val="1259891391"/>
                  </a:ext>
                </a:extLst>
              </a:tr>
              <a:tr h="374605">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AD</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4</a:t>
                      </a:r>
                    </a:p>
                  </a:txBody>
                  <a:tcPr>
                    <a:solidFill>
                      <a:schemeClr val="tx1"/>
                    </a:solidFill>
                  </a:tcPr>
                </a:tc>
                <a:extLst>
                  <a:ext uri="{0D108BD9-81ED-4DB2-BD59-A6C34878D82A}">
                    <a16:rowId xmlns:a16="http://schemas.microsoft.com/office/drawing/2014/main" val="67915146"/>
                  </a:ext>
                </a:extLst>
              </a:tr>
              <a:tr h="398585">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AE</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4</a:t>
                      </a:r>
                    </a:p>
                  </a:txBody>
                  <a:tcPr>
                    <a:solidFill>
                      <a:schemeClr val="tx1"/>
                    </a:solidFill>
                  </a:tcPr>
                </a:tc>
                <a:extLst>
                  <a:ext uri="{0D108BD9-81ED-4DB2-BD59-A6C34878D82A}">
                    <a16:rowId xmlns:a16="http://schemas.microsoft.com/office/drawing/2014/main" val="3006373338"/>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BE</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5</a:t>
                      </a:r>
                    </a:p>
                  </a:txBody>
                  <a:tcPr>
                    <a:solidFill>
                      <a:schemeClr val="tx1"/>
                    </a:solidFill>
                  </a:tcPr>
                </a:tc>
                <a:extLst>
                  <a:ext uri="{0D108BD9-81ED-4DB2-BD59-A6C34878D82A}">
                    <a16:rowId xmlns:a16="http://schemas.microsoft.com/office/drawing/2014/main" val="1788501585"/>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AB</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6</a:t>
                      </a:r>
                    </a:p>
                  </a:txBody>
                  <a:tcPr>
                    <a:solidFill>
                      <a:schemeClr val="tx1"/>
                    </a:solidFill>
                  </a:tcPr>
                </a:tc>
                <a:extLst>
                  <a:ext uri="{0D108BD9-81ED-4DB2-BD59-A6C34878D82A}">
                    <a16:rowId xmlns:a16="http://schemas.microsoft.com/office/drawing/2014/main" val="252512457"/>
                  </a:ext>
                </a:extLst>
              </a:tr>
              <a:tr h="389061">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CD</a:t>
                      </a:r>
                    </a:p>
                  </a:txBody>
                  <a:tcPr>
                    <a:solidFill>
                      <a:schemeClr val="tx1"/>
                    </a:solidFill>
                  </a:tcPr>
                </a:tc>
                <a:tc>
                  <a:txBody>
                    <a:bodyPr/>
                    <a:lstStyle/>
                    <a:p>
                      <a:pPr algn="ctr"/>
                      <a:r>
                        <a:rPr lang="en-VN" sz="1600" dirty="0">
                          <a:solidFill>
                            <a:schemeClr val="bg1"/>
                          </a:solidFill>
                          <a:latin typeface="JetBrains Mono Light" panose="02000009000000000000" pitchFamily="49" charset="0"/>
                          <a:cs typeface="JetBrains Mono Light" panose="02000009000000000000" pitchFamily="49" charset="0"/>
                        </a:rPr>
                        <a:t>7</a:t>
                      </a:r>
                    </a:p>
                  </a:txBody>
                  <a:tcPr>
                    <a:solidFill>
                      <a:schemeClr val="tx1"/>
                    </a:solidFill>
                  </a:tcPr>
                </a:tc>
                <a:extLst>
                  <a:ext uri="{0D108BD9-81ED-4DB2-BD59-A6C34878D82A}">
                    <a16:rowId xmlns:a16="http://schemas.microsoft.com/office/drawing/2014/main" val="1139305008"/>
                  </a:ext>
                </a:extLst>
              </a:tr>
            </a:tbl>
          </a:graphicData>
        </a:graphic>
      </p:graphicFrame>
      <p:sp>
        <p:nvSpPr>
          <p:cNvPr id="87" name="TextBox 86">
            <a:extLst>
              <a:ext uri="{FF2B5EF4-FFF2-40B4-BE49-F238E27FC236}">
                <a16:creationId xmlns:a16="http://schemas.microsoft.com/office/drawing/2014/main" id="{CCB1FE70-64BF-447D-972E-4608F7150454}"/>
              </a:ext>
            </a:extLst>
          </p:cNvPr>
          <p:cNvSpPr txBox="1"/>
          <p:nvPr/>
        </p:nvSpPr>
        <p:spPr>
          <a:xfrm>
            <a:off x="1464991" y="1987240"/>
            <a:ext cx="1153825" cy="369332"/>
          </a:xfrm>
          <a:prstGeom prst="rect">
            <a:avLst/>
          </a:prstGeom>
          <a:noFill/>
          <a:ln>
            <a:solidFill>
              <a:schemeClr val="bg1">
                <a:lumMod val="50000"/>
              </a:schemeClr>
            </a:solidFill>
          </a:ln>
        </p:spPr>
        <p:txBody>
          <a:bodyPr wrap="square" rtlCol="0">
            <a:spAutoFit/>
          </a:bodyPr>
          <a:lstStyle/>
          <a:p>
            <a:r>
              <a:rPr lang="en-US" dirty="0" err="1">
                <a:solidFill>
                  <a:schemeClr val="bg1"/>
                </a:solidFill>
                <a:latin typeface="JetBrains Mono Regular" panose="02000009000000000000" pitchFamily="49" charset="0"/>
                <a:cs typeface="JetBrains Mono Regular" panose="02000009000000000000" pitchFamily="49" charset="0"/>
              </a:rPr>
              <a:t>Dữ</a:t>
            </a:r>
            <a:r>
              <a:rPr lang="en-US" dirty="0">
                <a:solidFill>
                  <a:schemeClr val="bg1"/>
                </a:solidFill>
                <a:latin typeface="JetBrains Mono Regular" panose="02000009000000000000" pitchFamily="49" charset="0"/>
                <a:cs typeface="JetBrains Mono Regular" panose="02000009000000000000" pitchFamily="49" charset="0"/>
              </a:rPr>
              <a:t> </a:t>
            </a:r>
            <a:r>
              <a:rPr lang="en-US" dirty="0" err="1">
                <a:solidFill>
                  <a:schemeClr val="bg1"/>
                </a:solidFill>
                <a:latin typeface="JetBrains Mono Regular" panose="02000009000000000000" pitchFamily="49" charset="0"/>
                <a:cs typeface="JetBrains Mono Regular" panose="02000009000000000000" pitchFamily="49" charset="0"/>
              </a:rPr>
              <a:t>liệu</a:t>
            </a:r>
            <a:endParaRPr lang="en-US" dirty="0">
              <a:solidFill>
                <a:schemeClr val="bg1"/>
              </a:solidFill>
              <a:latin typeface="JetBrains Mono Regular" panose="02000009000000000000" pitchFamily="49" charset="0"/>
              <a:cs typeface="JetBrains Mono Regular" panose="02000009000000000000" pitchFamily="49" charset="0"/>
            </a:endParaRPr>
          </a:p>
        </p:txBody>
      </p:sp>
      <p:cxnSp>
        <p:nvCxnSpPr>
          <p:cNvPr id="88" name="Straight Connector 87">
            <a:extLst>
              <a:ext uri="{FF2B5EF4-FFF2-40B4-BE49-F238E27FC236}">
                <a16:creationId xmlns:a16="http://schemas.microsoft.com/office/drawing/2014/main" id="{11AEEAF4-FD8A-4948-9AB8-A93F0FE9D659}"/>
              </a:ext>
            </a:extLst>
          </p:cNvPr>
          <p:cNvCxnSpPr>
            <a:cxnSpLocks/>
          </p:cNvCxnSpPr>
          <p:nvPr/>
        </p:nvCxnSpPr>
        <p:spPr>
          <a:xfrm flipH="1">
            <a:off x="8705761" y="3749295"/>
            <a:ext cx="3163614" cy="1923393"/>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083A41E6-AA28-4C84-8997-4C56B2A59DBA}"/>
              </a:ext>
            </a:extLst>
          </p:cNvPr>
          <p:cNvCxnSpPr>
            <a:cxnSpLocks/>
          </p:cNvCxnSpPr>
          <p:nvPr/>
        </p:nvCxnSpPr>
        <p:spPr>
          <a:xfrm>
            <a:off x="11858435" y="3854201"/>
            <a:ext cx="2236" cy="1738727"/>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90004F2E-CD5F-4E8F-8FF0-0E2E19129D39}"/>
              </a:ext>
            </a:extLst>
          </p:cNvPr>
          <p:cNvCxnSpPr>
            <a:cxnSpLocks/>
          </p:cNvCxnSpPr>
          <p:nvPr/>
        </p:nvCxnSpPr>
        <p:spPr>
          <a:xfrm>
            <a:off x="8695124" y="3803483"/>
            <a:ext cx="5590" cy="1939571"/>
          </a:xfrm>
          <a:prstGeom prst="line">
            <a:avLst/>
          </a:prstGeom>
        </p:spPr>
        <p:style>
          <a:lnRef idx="1">
            <a:schemeClr val="accent1"/>
          </a:lnRef>
          <a:fillRef idx="0">
            <a:schemeClr val="accent1"/>
          </a:fillRef>
          <a:effectRef idx="0">
            <a:schemeClr val="accent1"/>
          </a:effectRef>
          <a:fontRef idx="minor">
            <a:schemeClr val="tx1"/>
          </a:fontRef>
        </p:style>
      </p:cxnSp>
      <p:sp>
        <p:nvSpPr>
          <p:cNvPr id="91" name="Oval 90">
            <a:extLst>
              <a:ext uri="{FF2B5EF4-FFF2-40B4-BE49-F238E27FC236}">
                <a16:creationId xmlns:a16="http://schemas.microsoft.com/office/drawing/2014/main" id="{7697121D-B721-4D80-8B19-C791F65E794E}"/>
              </a:ext>
            </a:extLst>
          </p:cNvPr>
          <p:cNvSpPr/>
          <p:nvPr/>
        </p:nvSpPr>
        <p:spPr>
          <a:xfrm>
            <a:off x="8591461" y="3634995"/>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dirty="0">
              <a:solidFill>
                <a:srgbClr val="EBE9EB"/>
              </a:solidFill>
            </a:endParaRPr>
          </a:p>
        </p:txBody>
      </p:sp>
      <p:sp>
        <p:nvSpPr>
          <p:cNvPr id="92" name="Oval 91">
            <a:extLst>
              <a:ext uri="{FF2B5EF4-FFF2-40B4-BE49-F238E27FC236}">
                <a16:creationId xmlns:a16="http://schemas.microsoft.com/office/drawing/2014/main" id="{722CB6CE-0F73-4BFB-B82A-47D26566BEB9}"/>
              </a:ext>
            </a:extLst>
          </p:cNvPr>
          <p:cNvSpPr/>
          <p:nvPr/>
        </p:nvSpPr>
        <p:spPr>
          <a:xfrm>
            <a:off x="11740724" y="3640107"/>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93" name="Oval 92">
            <a:extLst>
              <a:ext uri="{FF2B5EF4-FFF2-40B4-BE49-F238E27FC236}">
                <a16:creationId xmlns:a16="http://schemas.microsoft.com/office/drawing/2014/main" id="{7557C5BD-EA11-4F0A-A220-51235A1BA993}"/>
              </a:ext>
            </a:extLst>
          </p:cNvPr>
          <p:cNvSpPr/>
          <p:nvPr/>
        </p:nvSpPr>
        <p:spPr>
          <a:xfrm>
            <a:off x="10173268" y="4596691"/>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94" name="Oval 93">
            <a:extLst>
              <a:ext uri="{FF2B5EF4-FFF2-40B4-BE49-F238E27FC236}">
                <a16:creationId xmlns:a16="http://schemas.microsoft.com/office/drawing/2014/main" id="{3F80F2C5-B288-458F-B251-6E824D01E8D5}"/>
              </a:ext>
            </a:extLst>
          </p:cNvPr>
          <p:cNvSpPr/>
          <p:nvPr/>
        </p:nvSpPr>
        <p:spPr>
          <a:xfrm>
            <a:off x="8591461" y="5558388"/>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95" name="Oval 94">
            <a:extLst>
              <a:ext uri="{FF2B5EF4-FFF2-40B4-BE49-F238E27FC236}">
                <a16:creationId xmlns:a16="http://schemas.microsoft.com/office/drawing/2014/main" id="{DB38E61A-CE31-4693-AD1E-5177EBD51134}"/>
              </a:ext>
            </a:extLst>
          </p:cNvPr>
          <p:cNvSpPr/>
          <p:nvPr/>
        </p:nvSpPr>
        <p:spPr>
          <a:xfrm>
            <a:off x="11762183" y="5562709"/>
            <a:ext cx="228600" cy="2286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rgbClr val="EBE9EB"/>
              </a:solidFill>
            </a:endParaRPr>
          </a:p>
        </p:txBody>
      </p:sp>
      <p:sp>
        <p:nvSpPr>
          <p:cNvPr id="96" name="TextBox 95">
            <a:extLst>
              <a:ext uri="{FF2B5EF4-FFF2-40B4-BE49-F238E27FC236}">
                <a16:creationId xmlns:a16="http://schemas.microsoft.com/office/drawing/2014/main" id="{4D787C15-FCD4-4ADD-94C9-63DC14C0B302}"/>
              </a:ext>
            </a:extLst>
          </p:cNvPr>
          <p:cNvSpPr txBox="1"/>
          <p:nvPr/>
        </p:nvSpPr>
        <p:spPr>
          <a:xfrm>
            <a:off x="8543605" y="3574380"/>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A</a:t>
            </a:r>
          </a:p>
        </p:txBody>
      </p:sp>
      <p:sp>
        <p:nvSpPr>
          <p:cNvPr id="97" name="TextBox 96">
            <a:extLst>
              <a:ext uri="{FF2B5EF4-FFF2-40B4-BE49-F238E27FC236}">
                <a16:creationId xmlns:a16="http://schemas.microsoft.com/office/drawing/2014/main" id="{8E0DF8B5-3F4D-4A23-A894-9BF1FB8956E2}"/>
              </a:ext>
            </a:extLst>
          </p:cNvPr>
          <p:cNvSpPr txBox="1"/>
          <p:nvPr/>
        </p:nvSpPr>
        <p:spPr>
          <a:xfrm>
            <a:off x="11707777" y="3585164"/>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B</a:t>
            </a:r>
          </a:p>
        </p:txBody>
      </p:sp>
      <p:sp>
        <p:nvSpPr>
          <p:cNvPr id="98" name="TextBox 97">
            <a:extLst>
              <a:ext uri="{FF2B5EF4-FFF2-40B4-BE49-F238E27FC236}">
                <a16:creationId xmlns:a16="http://schemas.microsoft.com/office/drawing/2014/main" id="{B7D32E49-4601-40C4-8110-B7DF51AB12DA}"/>
              </a:ext>
            </a:extLst>
          </p:cNvPr>
          <p:cNvSpPr txBox="1"/>
          <p:nvPr/>
        </p:nvSpPr>
        <p:spPr>
          <a:xfrm>
            <a:off x="8547684" y="5497547"/>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D</a:t>
            </a:r>
          </a:p>
        </p:txBody>
      </p:sp>
      <p:sp>
        <p:nvSpPr>
          <p:cNvPr id="99" name="TextBox 98">
            <a:extLst>
              <a:ext uri="{FF2B5EF4-FFF2-40B4-BE49-F238E27FC236}">
                <a16:creationId xmlns:a16="http://schemas.microsoft.com/office/drawing/2014/main" id="{B50B7060-78BD-4777-B1B7-4E3729F9DAD9}"/>
              </a:ext>
            </a:extLst>
          </p:cNvPr>
          <p:cNvSpPr txBox="1"/>
          <p:nvPr/>
        </p:nvSpPr>
        <p:spPr>
          <a:xfrm>
            <a:off x="10125684" y="4535850"/>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E</a:t>
            </a:r>
          </a:p>
        </p:txBody>
      </p:sp>
      <p:sp>
        <p:nvSpPr>
          <p:cNvPr id="100" name="TextBox 99">
            <a:extLst>
              <a:ext uri="{FF2B5EF4-FFF2-40B4-BE49-F238E27FC236}">
                <a16:creationId xmlns:a16="http://schemas.microsoft.com/office/drawing/2014/main" id="{C69F8F63-1C62-4916-BD36-9866319AA1AF}"/>
              </a:ext>
            </a:extLst>
          </p:cNvPr>
          <p:cNvSpPr txBox="1"/>
          <p:nvPr/>
        </p:nvSpPr>
        <p:spPr>
          <a:xfrm rot="19967656">
            <a:off x="9275868" y="4895657"/>
            <a:ext cx="322524" cy="369332"/>
          </a:xfrm>
          <a:prstGeom prst="rect">
            <a:avLst/>
          </a:prstGeom>
          <a:noFill/>
        </p:spPr>
        <p:txBody>
          <a:bodyPr wrap="none" rtlCol="0">
            <a:spAutoFit/>
          </a:bodyPr>
          <a:lstStyle/>
          <a:p>
            <a:r>
              <a:rPr lang="en-VN" dirty="0">
                <a:solidFill>
                  <a:schemeClr val="bg1"/>
                </a:solidFill>
                <a:latin typeface="JetBrains Mono Light" panose="02000009000000000000" pitchFamily="49" charset="0"/>
                <a:cs typeface="JetBrains Mono Light" panose="02000009000000000000" pitchFamily="49" charset="0"/>
              </a:rPr>
              <a:t>3</a:t>
            </a:r>
          </a:p>
        </p:txBody>
      </p:sp>
      <p:sp>
        <p:nvSpPr>
          <p:cNvPr id="101" name="TextBox 100">
            <a:extLst>
              <a:ext uri="{FF2B5EF4-FFF2-40B4-BE49-F238E27FC236}">
                <a16:creationId xmlns:a16="http://schemas.microsoft.com/office/drawing/2014/main" id="{38017A08-A70F-4119-B2C3-F00B24996AEA}"/>
              </a:ext>
            </a:extLst>
          </p:cNvPr>
          <p:cNvSpPr txBox="1"/>
          <p:nvPr/>
        </p:nvSpPr>
        <p:spPr>
          <a:xfrm rot="19757851">
            <a:off x="10688054" y="4021251"/>
            <a:ext cx="322524" cy="369332"/>
          </a:xfrm>
          <a:prstGeom prst="rect">
            <a:avLst/>
          </a:prstGeom>
          <a:noFill/>
        </p:spPr>
        <p:txBody>
          <a:bodyPr wrap="none" rtlCol="0">
            <a:spAutoFit/>
          </a:bodyPr>
          <a:lstStyle/>
          <a:p>
            <a:r>
              <a:rPr lang="en-VN" dirty="0">
                <a:solidFill>
                  <a:schemeClr val="bg1"/>
                </a:solidFill>
                <a:latin typeface="JetBrains Mono Light" panose="02000009000000000000" pitchFamily="49" charset="0"/>
                <a:cs typeface="JetBrains Mono Light" panose="02000009000000000000" pitchFamily="49" charset="0"/>
              </a:rPr>
              <a:t>5</a:t>
            </a:r>
          </a:p>
        </p:txBody>
      </p:sp>
      <p:sp>
        <p:nvSpPr>
          <p:cNvPr id="102" name="TextBox 101">
            <a:extLst>
              <a:ext uri="{FF2B5EF4-FFF2-40B4-BE49-F238E27FC236}">
                <a16:creationId xmlns:a16="http://schemas.microsoft.com/office/drawing/2014/main" id="{892BE65A-0F7C-43F4-8074-A1370C8D2B06}"/>
              </a:ext>
            </a:extLst>
          </p:cNvPr>
          <p:cNvSpPr txBox="1"/>
          <p:nvPr/>
        </p:nvSpPr>
        <p:spPr>
          <a:xfrm>
            <a:off x="11548045" y="4538898"/>
            <a:ext cx="322524" cy="369332"/>
          </a:xfrm>
          <a:prstGeom prst="rect">
            <a:avLst/>
          </a:prstGeom>
          <a:noFill/>
        </p:spPr>
        <p:txBody>
          <a:bodyPr wrap="none" rtlCol="0">
            <a:spAutoFit/>
          </a:bodyPr>
          <a:lstStyle/>
          <a:p>
            <a:r>
              <a:rPr lang="en-VN" dirty="0">
                <a:solidFill>
                  <a:schemeClr val="bg1"/>
                </a:solidFill>
                <a:latin typeface="JetBrains Mono Light" panose="02000009000000000000" pitchFamily="49" charset="0"/>
                <a:cs typeface="JetBrains Mono Light" panose="02000009000000000000" pitchFamily="49" charset="0"/>
              </a:rPr>
              <a:t>2</a:t>
            </a:r>
          </a:p>
        </p:txBody>
      </p:sp>
      <p:sp>
        <p:nvSpPr>
          <p:cNvPr id="103" name="TextBox 102">
            <a:extLst>
              <a:ext uri="{FF2B5EF4-FFF2-40B4-BE49-F238E27FC236}">
                <a16:creationId xmlns:a16="http://schemas.microsoft.com/office/drawing/2014/main" id="{CF424B78-CD55-4A49-B43B-9190A5379B4F}"/>
              </a:ext>
            </a:extLst>
          </p:cNvPr>
          <p:cNvSpPr txBox="1"/>
          <p:nvPr/>
        </p:nvSpPr>
        <p:spPr>
          <a:xfrm>
            <a:off x="11717539" y="5514195"/>
            <a:ext cx="322524" cy="369332"/>
          </a:xfrm>
          <a:prstGeom prst="rect">
            <a:avLst/>
          </a:prstGeom>
          <a:noFill/>
        </p:spPr>
        <p:txBody>
          <a:bodyPr wrap="none" rtlCol="0">
            <a:spAutoFit/>
          </a:bodyPr>
          <a:lstStyle/>
          <a:p>
            <a:r>
              <a:rPr lang="en-VN" dirty="0">
                <a:latin typeface="JetBrains Mono Light" panose="02000009000000000000" pitchFamily="49" charset="0"/>
                <a:cs typeface="JetBrains Mono Light" panose="02000009000000000000" pitchFamily="49" charset="0"/>
              </a:rPr>
              <a:t>C</a:t>
            </a:r>
          </a:p>
        </p:txBody>
      </p:sp>
      <p:sp>
        <p:nvSpPr>
          <p:cNvPr id="104" name="TextBox 103">
            <a:extLst>
              <a:ext uri="{FF2B5EF4-FFF2-40B4-BE49-F238E27FC236}">
                <a16:creationId xmlns:a16="http://schemas.microsoft.com/office/drawing/2014/main" id="{BBDBA6A7-B454-4726-8DBE-B19A0B4C639D}"/>
              </a:ext>
            </a:extLst>
          </p:cNvPr>
          <p:cNvSpPr txBox="1"/>
          <p:nvPr/>
        </p:nvSpPr>
        <p:spPr>
          <a:xfrm>
            <a:off x="8423178" y="4524679"/>
            <a:ext cx="322524" cy="369332"/>
          </a:xfrm>
          <a:prstGeom prst="rect">
            <a:avLst/>
          </a:prstGeom>
          <a:noFill/>
        </p:spPr>
        <p:txBody>
          <a:bodyPr wrap="none" rtlCol="0">
            <a:spAutoFit/>
          </a:bodyPr>
          <a:lstStyle/>
          <a:p>
            <a:r>
              <a:rPr lang="en-VN" dirty="0">
                <a:solidFill>
                  <a:srgbClr val="EBE9EB"/>
                </a:solidFill>
                <a:latin typeface="JetBrains Mono Light" panose="02000009000000000000" pitchFamily="49" charset="0"/>
                <a:cs typeface="JetBrains Mono Light" panose="02000009000000000000" pitchFamily="49" charset="0"/>
              </a:rPr>
              <a:t>4</a:t>
            </a:r>
          </a:p>
        </p:txBody>
      </p:sp>
      <p:cxnSp>
        <p:nvCxnSpPr>
          <p:cNvPr id="6" name="Straight Connector 5">
            <a:extLst>
              <a:ext uri="{FF2B5EF4-FFF2-40B4-BE49-F238E27FC236}">
                <a16:creationId xmlns:a16="http://schemas.microsoft.com/office/drawing/2014/main" id="{02A7FD9D-F0C2-49DA-BAA9-215E983400EE}"/>
              </a:ext>
            </a:extLst>
          </p:cNvPr>
          <p:cNvCxnSpPr>
            <a:cxnSpLocks/>
          </p:cNvCxnSpPr>
          <p:nvPr/>
        </p:nvCxnSpPr>
        <p:spPr>
          <a:xfrm>
            <a:off x="2730305" y="1963794"/>
            <a:ext cx="0" cy="390308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9E4CDF99-C20E-4B59-AA95-4B90F982FB7D}"/>
              </a:ext>
            </a:extLst>
          </p:cNvPr>
          <p:cNvSpPr txBox="1"/>
          <p:nvPr/>
        </p:nvSpPr>
        <p:spPr>
          <a:xfrm>
            <a:off x="6831756" y="5537752"/>
            <a:ext cx="1774056" cy="369332"/>
          </a:xfrm>
          <a:prstGeom prst="rect">
            <a:avLst/>
          </a:prstGeom>
          <a:noFill/>
        </p:spPr>
        <p:txBody>
          <a:bodyPr wrap="square" rtlCol="0">
            <a:spAutoFit/>
          </a:bodyPr>
          <a:lstStyle/>
          <a:p>
            <a:r>
              <a:rPr lang="en-US" dirty="0">
                <a:solidFill>
                  <a:srgbClr val="EBE9EB"/>
                </a:solidFill>
                <a:latin typeface="JetBrains Mono Regular" panose="02000009000000000000"/>
              </a:rPr>
              <a:t>-→ Thu </a:t>
            </a:r>
            <a:r>
              <a:rPr lang="en-US" dirty="0" err="1">
                <a:solidFill>
                  <a:srgbClr val="EBE9EB"/>
                </a:solidFill>
                <a:latin typeface="JetBrains Mono Regular" panose="02000009000000000000"/>
              </a:rPr>
              <a:t>được</a:t>
            </a:r>
            <a:endParaRPr lang="en-US" i="1" dirty="0">
              <a:solidFill>
                <a:schemeClr val="bg1">
                  <a:lumMod val="50000"/>
                </a:schemeClr>
              </a:solidFill>
              <a:latin typeface="JetBrains Mono Light" panose="02000009000000000000" pitchFamily="49" charset="0"/>
              <a:cs typeface="JetBrains Mono Light" panose="02000009000000000000" pitchFamily="49" charset="0"/>
            </a:endParaRPr>
          </a:p>
        </p:txBody>
      </p:sp>
      <p:sp>
        <p:nvSpPr>
          <p:cNvPr id="71" name="nhóm text">
            <a:extLst>
              <a:ext uri="{FF2B5EF4-FFF2-40B4-BE49-F238E27FC236}">
                <a16:creationId xmlns:a16="http://schemas.microsoft.com/office/drawing/2014/main" id="{C7CCD84E-5D8E-4A60-8C03-D9BF0C8FB88A}"/>
              </a:ext>
            </a:extLst>
          </p:cNvPr>
          <p:cNvSpPr txBox="1"/>
          <p:nvPr/>
        </p:nvSpPr>
        <p:spPr>
          <a:xfrm>
            <a:off x="15702421" y="990528"/>
            <a:ext cx="1502705" cy="1323439"/>
          </a:xfrm>
          <a:prstGeom prst="rect">
            <a:avLst/>
          </a:prstGeom>
          <a:noFill/>
        </p:spPr>
        <p:txBody>
          <a:bodyPr wrap="square" rtlCol="0">
            <a:spAutoFit/>
          </a:bodyPr>
          <a:lstStyle/>
          <a:p>
            <a:r>
              <a:rPr lang="en-US" sz="4000" dirty="0">
                <a:solidFill>
                  <a:schemeClr val="bg1">
                    <a:alpha val="30000"/>
                  </a:schemeClr>
                </a:solidFill>
                <a:latin typeface="JetBrains Mono Light" panose="02000009000000000000" pitchFamily="49" charset="0"/>
                <a:cs typeface="JetBrains Mono Light" panose="02000009000000000000" pitchFamily="49" charset="0"/>
              </a:rPr>
              <a:t>NHÓM</a:t>
            </a:r>
          </a:p>
          <a:p>
            <a:pPr algn="r"/>
            <a:endParaRPr lang="en-US" sz="4000" dirty="0">
              <a:solidFill>
                <a:schemeClr val="bg1"/>
              </a:solidFill>
              <a:latin typeface="JetBrains Mono Light" panose="02000009000000000000" pitchFamily="49" charset="0"/>
              <a:cs typeface="JetBrains Mono Light" panose="02000009000000000000" pitchFamily="49" charset="0"/>
            </a:endParaRPr>
          </a:p>
        </p:txBody>
      </p:sp>
    </p:spTree>
    <p:extLst>
      <p:ext uri="{BB962C8B-B14F-4D97-AF65-F5344CB8AC3E}">
        <p14:creationId xmlns:p14="http://schemas.microsoft.com/office/powerpoint/2010/main" val="6784095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
                                        <p:tgtEl>
                                          <p:spTgt spid="6"/>
                                        </p:tgtEl>
                                      </p:cBhvr>
                                    </p:animEffect>
                                  </p:childTnLst>
                                </p:cTn>
                              </p:par>
                            </p:childTnLst>
                          </p:cTn>
                        </p:par>
                        <p:par>
                          <p:cTn id="8" fill="hold">
                            <p:stCondLst>
                              <p:cond delay="100"/>
                            </p:stCondLst>
                            <p:childTnLst>
                              <p:par>
                                <p:cTn id="9" presetID="10" presetClass="exit" presetSubtype="0" fill="hold" nodeType="afterEffect">
                                  <p:stCondLst>
                                    <p:cond delay="0"/>
                                  </p:stCondLst>
                                  <p:childTnLst>
                                    <p:animEffect transition="out" filter="fade">
                                      <p:cBhvr>
                                        <p:cTn id="10" dur="100"/>
                                        <p:tgtEl>
                                          <p:spTgt spid="6"/>
                                        </p:tgtEl>
                                      </p:cBhvr>
                                    </p:animEffect>
                                    <p:set>
                                      <p:cBhvr>
                                        <p:cTn id="11" dur="1" fill="hold">
                                          <p:stCondLst>
                                            <p:cond delay="99"/>
                                          </p:stCondLst>
                                        </p:cTn>
                                        <p:tgtEl>
                                          <p:spTgt spid="6"/>
                                        </p:tgtEl>
                                        <p:attrNameLst>
                                          <p:attrName>style.visibility</p:attrName>
                                        </p:attrNameLst>
                                      </p:cBhvr>
                                      <p:to>
                                        <p:strVal val="hidden"/>
                                      </p:to>
                                    </p:set>
                                  </p:childTnLst>
                                </p:cTn>
                              </p:par>
                            </p:childTnLst>
                          </p:cTn>
                        </p:par>
                        <p:par>
                          <p:cTn id="12" fill="hold">
                            <p:stCondLst>
                              <p:cond delay="2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
                                        <p:tgtEl>
                                          <p:spTgt spid="6"/>
                                        </p:tgtEl>
                                      </p:cBhvr>
                                    </p:animEffect>
                                  </p:childTnLst>
                                </p:cTn>
                              </p:par>
                            </p:childTnLst>
                          </p:cTn>
                        </p:par>
                        <p:par>
                          <p:cTn id="16" fill="hold">
                            <p:stCondLst>
                              <p:cond delay="300"/>
                            </p:stCondLst>
                            <p:childTnLst>
                              <p:par>
                                <p:cTn id="17" presetID="10" presetClass="exit" presetSubtype="0" fill="hold" nodeType="afterEffect">
                                  <p:stCondLst>
                                    <p:cond delay="0"/>
                                  </p:stCondLst>
                                  <p:childTnLst>
                                    <p:animEffect transition="out" filter="fade">
                                      <p:cBhvr>
                                        <p:cTn id="18" dur="100"/>
                                        <p:tgtEl>
                                          <p:spTgt spid="6"/>
                                        </p:tgtEl>
                                      </p:cBhvr>
                                    </p:animEffect>
                                    <p:set>
                                      <p:cBhvr>
                                        <p:cTn id="19" dur="1" fill="hold">
                                          <p:stCondLst>
                                            <p:cond delay="99"/>
                                          </p:stCondLst>
                                        </p:cTn>
                                        <p:tgtEl>
                                          <p:spTgt spid="6"/>
                                        </p:tgtEl>
                                        <p:attrNameLst>
                                          <p:attrName>style.visibility</p:attrName>
                                        </p:attrNameLst>
                                      </p:cBhvr>
                                      <p:to>
                                        <p:strVal val="hidden"/>
                                      </p:to>
                                    </p:set>
                                  </p:childTnLst>
                                </p:cTn>
                              </p:par>
                            </p:childTnLst>
                          </p:cTn>
                        </p:par>
                        <p:par>
                          <p:cTn id="20" fill="hold">
                            <p:stCondLst>
                              <p:cond delay="400"/>
                            </p:stCondLst>
                            <p:childTnLst>
                              <p:par>
                                <p:cTn id="21" presetID="22" presetClass="entr" presetSubtype="1" fill="hold" nodeType="afterEffect">
                                  <p:stCondLst>
                                    <p:cond delay="100"/>
                                  </p:stCondLst>
                                  <p:childTnLst>
                                    <p:set>
                                      <p:cBhvr>
                                        <p:cTn id="22" dur="1" fill="hold">
                                          <p:stCondLst>
                                            <p:cond delay="0"/>
                                          </p:stCondLst>
                                        </p:cTn>
                                        <p:tgtEl>
                                          <p:spTgt spid="6"/>
                                        </p:tgtEl>
                                        <p:attrNameLst>
                                          <p:attrName>style.visibility</p:attrName>
                                        </p:attrNameLst>
                                      </p:cBhvr>
                                      <p:to>
                                        <p:strVal val="visible"/>
                                      </p:to>
                                    </p:set>
                                    <p:animEffect transition="in" filter="wipe(up)">
                                      <p:cBhvr>
                                        <p:cTn id="23" dur="4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64"/>
                                        </p:tgtEl>
                                        <p:attrNameLst>
                                          <p:attrName>style.visibility</p:attrName>
                                        </p:attrNameLst>
                                      </p:cBhvr>
                                      <p:to>
                                        <p:strVal val="visible"/>
                                      </p:to>
                                    </p:set>
                                    <p:animEffect transition="in" filter="fade">
                                      <p:cBhvr>
                                        <p:cTn id="33" dur="500"/>
                                        <p:tgtEl>
                                          <p:spTgt spid="6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5"/>
                                        </p:tgtEl>
                                        <p:attrNameLst>
                                          <p:attrName>style.visibility</p:attrName>
                                        </p:attrNameLst>
                                      </p:cBhvr>
                                      <p:to>
                                        <p:strVal val="visible"/>
                                      </p:to>
                                    </p:set>
                                    <p:animEffect transition="in" filter="fade">
                                      <p:cBhvr>
                                        <p:cTn id="38" dur="500"/>
                                        <p:tgtEl>
                                          <p:spTgt spid="6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66"/>
                                        </p:tgtEl>
                                        <p:attrNameLst>
                                          <p:attrName>style.visibility</p:attrName>
                                        </p:attrNameLst>
                                      </p:cBhvr>
                                      <p:to>
                                        <p:strVal val="visible"/>
                                      </p:to>
                                    </p:set>
                                    <p:animEffect transition="in" filter="fade">
                                      <p:cBhvr>
                                        <p:cTn id="43" dur="500"/>
                                        <p:tgtEl>
                                          <p:spTgt spid="6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67"/>
                                        </p:tgtEl>
                                        <p:attrNameLst>
                                          <p:attrName>style.visibility</p:attrName>
                                        </p:attrNameLst>
                                      </p:cBhvr>
                                      <p:to>
                                        <p:strVal val="visible"/>
                                      </p:to>
                                    </p:set>
                                    <p:animEffect transition="in" filter="fade">
                                      <p:cBhvr>
                                        <p:cTn id="48" dur="500"/>
                                        <p:tgtEl>
                                          <p:spTgt spid="6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68"/>
                                        </p:tgtEl>
                                        <p:attrNameLst>
                                          <p:attrName>style.visibility</p:attrName>
                                        </p:attrNameLst>
                                      </p:cBhvr>
                                      <p:to>
                                        <p:strVal val="visible"/>
                                      </p:to>
                                    </p:set>
                                    <p:animEffect transition="in" filter="fade">
                                      <p:cBhvr>
                                        <p:cTn id="53" dur="500"/>
                                        <p:tgtEl>
                                          <p:spTgt spid="68"/>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05"/>
                                        </p:tgtEl>
                                        <p:attrNameLst>
                                          <p:attrName>style.visibility</p:attrName>
                                        </p:attrNameLst>
                                      </p:cBhvr>
                                      <p:to>
                                        <p:strVal val="visible"/>
                                      </p:to>
                                    </p:set>
                                    <p:animEffect transition="in" filter="fade">
                                      <p:cBhvr>
                                        <p:cTn id="58" dur="500"/>
                                        <p:tgtEl>
                                          <p:spTgt spid="105"/>
                                        </p:tgtEl>
                                      </p:cBhvr>
                                    </p:animEffect>
                                  </p:childTnLst>
                                </p:cTn>
                              </p:par>
                              <p:par>
                                <p:cTn id="59" presetID="10" presetClass="entr" presetSubtype="0" fill="hold" grpId="0" nodeType="withEffect">
                                  <p:stCondLst>
                                    <p:cond delay="400"/>
                                  </p:stCondLst>
                                  <p:childTnLst>
                                    <p:set>
                                      <p:cBhvr>
                                        <p:cTn id="60" dur="1" fill="hold">
                                          <p:stCondLst>
                                            <p:cond delay="0"/>
                                          </p:stCondLst>
                                        </p:cTn>
                                        <p:tgtEl>
                                          <p:spTgt spid="91"/>
                                        </p:tgtEl>
                                        <p:attrNameLst>
                                          <p:attrName>style.visibility</p:attrName>
                                        </p:attrNameLst>
                                      </p:cBhvr>
                                      <p:to>
                                        <p:strVal val="visible"/>
                                      </p:to>
                                    </p:set>
                                    <p:animEffect transition="in" filter="fade">
                                      <p:cBhvr>
                                        <p:cTn id="61" dur="100"/>
                                        <p:tgtEl>
                                          <p:spTgt spid="91"/>
                                        </p:tgtEl>
                                      </p:cBhvr>
                                    </p:animEffect>
                                  </p:childTnLst>
                                </p:cTn>
                              </p:par>
                            </p:childTnLst>
                          </p:cTn>
                        </p:par>
                        <p:par>
                          <p:cTn id="62" fill="hold">
                            <p:stCondLst>
                              <p:cond delay="500"/>
                            </p:stCondLst>
                            <p:childTnLst>
                              <p:par>
                                <p:cTn id="63" presetID="10" presetClass="entr" presetSubtype="0" fill="hold" grpId="0" nodeType="afterEffect">
                                  <p:stCondLst>
                                    <p:cond delay="0"/>
                                  </p:stCondLst>
                                  <p:childTnLst>
                                    <p:set>
                                      <p:cBhvr>
                                        <p:cTn id="64" dur="1" fill="hold">
                                          <p:stCondLst>
                                            <p:cond delay="0"/>
                                          </p:stCondLst>
                                        </p:cTn>
                                        <p:tgtEl>
                                          <p:spTgt spid="92"/>
                                        </p:tgtEl>
                                        <p:attrNameLst>
                                          <p:attrName>style.visibility</p:attrName>
                                        </p:attrNameLst>
                                      </p:cBhvr>
                                      <p:to>
                                        <p:strVal val="visible"/>
                                      </p:to>
                                    </p:set>
                                    <p:animEffect transition="in" filter="fade">
                                      <p:cBhvr>
                                        <p:cTn id="65" dur="100"/>
                                        <p:tgtEl>
                                          <p:spTgt spid="92"/>
                                        </p:tgtEl>
                                      </p:cBhvr>
                                    </p:animEffect>
                                  </p:childTnLst>
                                </p:cTn>
                              </p:par>
                            </p:childTnLst>
                          </p:cTn>
                        </p:par>
                        <p:par>
                          <p:cTn id="66" fill="hold">
                            <p:stCondLst>
                              <p:cond delay="600"/>
                            </p:stCondLst>
                            <p:childTnLst>
                              <p:par>
                                <p:cTn id="67" presetID="10" presetClass="entr" presetSubtype="0" fill="hold" grpId="0" nodeType="afterEffect">
                                  <p:stCondLst>
                                    <p:cond delay="0"/>
                                  </p:stCondLst>
                                  <p:childTnLst>
                                    <p:set>
                                      <p:cBhvr>
                                        <p:cTn id="68" dur="1" fill="hold">
                                          <p:stCondLst>
                                            <p:cond delay="0"/>
                                          </p:stCondLst>
                                        </p:cTn>
                                        <p:tgtEl>
                                          <p:spTgt spid="93"/>
                                        </p:tgtEl>
                                        <p:attrNameLst>
                                          <p:attrName>style.visibility</p:attrName>
                                        </p:attrNameLst>
                                      </p:cBhvr>
                                      <p:to>
                                        <p:strVal val="visible"/>
                                      </p:to>
                                    </p:set>
                                    <p:animEffect transition="in" filter="fade">
                                      <p:cBhvr>
                                        <p:cTn id="69" dur="100"/>
                                        <p:tgtEl>
                                          <p:spTgt spid="93"/>
                                        </p:tgtEl>
                                      </p:cBhvr>
                                    </p:animEffect>
                                  </p:childTnLst>
                                </p:cTn>
                              </p:par>
                            </p:childTnLst>
                          </p:cTn>
                        </p:par>
                        <p:par>
                          <p:cTn id="70" fill="hold">
                            <p:stCondLst>
                              <p:cond delay="700"/>
                            </p:stCondLst>
                            <p:childTnLst>
                              <p:par>
                                <p:cTn id="71" presetID="10" presetClass="entr" presetSubtype="0" fill="hold" grpId="0" nodeType="afterEffect">
                                  <p:stCondLst>
                                    <p:cond delay="0"/>
                                  </p:stCondLst>
                                  <p:childTnLst>
                                    <p:set>
                                      <p:cBhvr>
                                        <p:cTn id="72" dur="1" fill="hold">
                                          <p:stCondLst>
                                            <p:cond delay="0"/>
                                          </p:stCondLst>
                                        </p:cTn>
                                        <p:tgtEl>
                                          <p:spTgt spid="94"/>
                                        </p:tgtEl>
                                        <p:attrNameLst>
                                          <p:attrName>style.visibility</p:attrName>
                                        </p:attrNameLst>
                                      </p:cBhvr>
                                      <p:to>
                                        <p:strVal val="visible"/>
                                      </p:to>
                                    </p:set>
                                    <p:animEffect transition="in" filter="fade">
                                      <p:cBhvr>
                                        <p:cTn id="73" dur="100"/>
                                        <p:tgtEl>
                                          <p:spTgt spid="94"/>
                                        </p:tgtEl>
                                      </p:cBhvr>
                                    </p:animEffect>
                                  </p:childTnLst>
                                </p:cTn>
                              </p:par>
                            </p:childTnLst>
                          </p:cTn>
                        </p:par>
                        <p:par>
                          <p:cTn id="74" fill="hold">
                            <p:stCondLst>
                              <p:cond delay="800"/>
                            </p:stCondLst>
                            <p:childTnLst>
                              <p:par>
                                <p:cTn id="75" presetID="10" presetClass="entr" presetSubtype="0" fill="hold" grpId="0" nodeType="afterEffect">
                                  <p:stCondLst>
                                    <p:cond delay="0"/>
                                  </p:stCondLst>
                                  <p:childTnLst>
                                    <p:set>
                                      <p:cBhvr>
                                        <p:cTn id="76" dur="1" fill="hold">
                                          <p:stCondLst>
                                            <p:cond delay="0"/>
                                          </p:stCondLst>
                                        </p:cTn>
                                        <p:tgtEl>
                                          <p:spTgt spid="95"/>
                                        </p:tgtEl>
                                        <p:attrNameLst>
                                          <p:attrName>style.visibility</p:attrName>
                                        </p:attrNameLst>
                                      </p:cBhvr>
                                      <p:to>
                                        <p:strVal val="visible"/>
                                      </p:to>
                                    </p:set>
                                    <p:animEffect transition="in" filter="fade">
                                      <p:cBhvr>
                                        <p:cTn id="77" dur="100"/>
                                        <p:tgtEl>
                                          <p:spTgt spid="95"/>
                                        </p:tgtEl>
                                      </p:cBhvr>
                                    </p:animEffect>
                                  </p:childTnLst>
                                </p:cTn>
                              </p:par>
                            </p:childTnLst>
                          </p:cTn>
                        </p:par>
                        <p:par>
                          <p:cTn id="78" fill="hold">
                            <p:stCondLst>
                              <p:cond delay="900"/>
                            </p:stCondLst>
                            <p:childTnLst>
                              <p:par>
                                <p:cTn id="79" presetID="10" presetClass="entr" presetSubtype="0" fill="hold" nodeType="afterEffect">
                                  <p:stCondLst>
                                    <p:cond delay="0"/>
                                  </p:stCondLst>
                                  <p:childTnLst>
                                    <p:set>
                                      <p:cBhvr>
                                        <p:cTn id="80" dur="1" fill="hold">
                                          <p:stCondLst>
                                            <p:cond delay="0"/>
                                          </p:stCondLst>
                                        </p:cTn>
                                        <p:tgtEl>
                                          <p:spTgt spid="88"/>
                                        </p:tgtEl>
                                        <p:attrNameLst>
                                          <p:attrName>style.visibility</p:attrName>
                                        </p:attrNameLst>
                                      </p:cBhvr>
                                      <p:to>
                                        <p:strVal val="visible"/>
                                      </p:to>
                                    </p:set>
                                    <p:animEffect transition="in" filter="fade">
                                      <p:cBhvr>
                                        <p:cTn id="81" dur="100"/>
                                        <p:tgtEl>
                                          <p:spTgt spid="88"/>
                                        </p:tgtEl>
                                      </p:cBhvr>
                                    </p:animEffect>
                                  </p:childTnLst>
                                </p:cTn>
                              </p:par>
                            </p:childTnLst>
                          </p:cTn>
                        </p:par>
                        <p:par>
                          <p:cTn id="82" fill="hold">
                            <p:stCondLst>
                              <p:cond delay="1000"/>
                            </p:stCondLst>
                            <p:childTnLst>
                              <p:par>
                                <p:cTn id="83" presetID="10" presetClass="entr" presetSubtype="0" fill="hold" nodeType="afterEffect">
                                  <p:stCondLst>
                                    <p:cond delay="0"/>
                                  </p:stCondLst>
                                  <p:childTnLst>
                                    <p:set>
                                      <p:cBhvr>
                                        <p:cTn id="84" dur="1" fill="hold">
                                          <p:stCondLst>
                                            <p:cond delay="0"/>
                                          </p:stCondLst>
                                        </p:cTn>
                                        <p:tgtEl>
                                          <p:spTgt spid="89"/>
                                        </p:tgtEl>
                                        <p:attrNameLst>
                                          <p:attrName>style.visibility</p:attrName>
                                        </p:attrNameLst>
                                      </p:cBhvr>
                                      <p:to>
                                        <p:strVal val="visible"/>
                                      </p:to>
                                    </p:set>
                                    <p:animEffect transition="in" filter="fade">
                                      <p:cBhvr>
                                        <p:cTn id="85" dur="100"/>
                                        <p:tgtEl>
                                          <p:spTgt spid="89"/>
                                        </p:tgtEl>
                                      </p:cBhvr>
                                    </p:animEffect>
                                  </p:childTnLst>
                                </p:cTn>
                              </p:par>
                            </p:childTnLst>
                          </p:cTn>
                        </p:par>
                        <p:par>
                          <p:cTn id="86" fill="hold">
                            <p:stCondLst>
                              <p:cond delay="1100"/>
                            </p:stCondLst>
                            <p:childTnLst>
                              <p:par>
                                <p:cTn id="87" presetID="10" presetClass="entr" presetSubtype="0" fill="hold" nodeType="afterEffect">
                                  <p:stCondLst>
                                    <p:cond delay="0"/>
                                  </p:stCondLst>
                                  <p:childTnLst>
                                    <p:set>
                                      <p:cBhvr>
                                        <p:cTn id="88" dur="1" fill="hold">
                                          <p:stCondLst>
                                            <p:cond delay="0"/>
                                          </p:stCondLst>
                                        </p:cTn>
                                        <p:tgtEl>
                                          <p:spTgt spid="90"/>
                                        </p:tgtEl>
                                        <p:attrNameLst>
                                          <p:attrName>style.visibility</p:attrName>
                                        </p:attrNameLst>
                                      </p:cBhvr>
                                      <p:to>
                                        <p:strVal val="visible"/>
                                      </p:to>
                                    </p:set>
                                    <p:animEffect transition="in" filter="fade">
                                      <p:cBhvr>
                                        <p:cTn id="89" dur="100"/>
                                        <p:tgtEl>
                                          <p:spTgt spid="90"/>
                                        </p:tgtEl>
                                      </p:cBhvr>
                                    </p:animEffect>
                                  </p:childTnLst>
                                </p:cTn>
                              </p:par>
                            </p:childTnLst>
                          </p:cTn>
                        </p:par>
                        <p:par>
                          <p:cTn id="90" fill="hold">
                            <p:stCondLst>
                              <p:cond delay="1200"/>
                            </p:stCondLst>
                            <p:childTnLst>
                              <p:par>
                                <p:cTn id="91" presetID="10" presetClass="entr" presetSubtype="0" fill="hold" grpId="0" nodeType="afterEffect">
                                  <p:stCondLst>
                                    <p:cond delay="0"/>
                                  </p:stCondLst>
                                  <p:childTnLst>
                                    <p:set>
                                      <p:cBhvr>
                                        <p:cTn id="92" dur="1" fill="hold">
                                          <p:stCondLst>
                                            <p:cond delay="0"/>
                                          </p:stCondLst>
                                        </p:cTn>
                                        <p:tgtEl>
                                          <p:spTgt spid="96"/>
                                        </p:tgtEl>
                                        <p:attrNameLst>
                                          <p:attrName>style.visibility</p:attrName>
                                        </p:attrNameLst>
                                      </p:cBhvr>
                                      <p:to>
                                        <p:strVal val="visible"/>
                                      </p:to>
                                    </p:set>
                                    <p:animEffect transition="in" filter="fade">
                                      <p:cBhvr>
                                        <p:cTn id="93" dur="100"/>
                                        <p:tgtEl>
                                          <p:spTgt spid="96"/>
                                        </p:tgtEl>
                                      </p:cBhvr>
                                    </p:animEffect>
                                  </p:childTnLst>
                                </p:cTn>
                              </p:par>
                            </p:childTnLst>
                          </p:cTn>
                        </p:par>
                        <p:par>
                          <p:cTn id="94" fill="hold">
                            <p:stCondLst>
                              <p:cond delay="1300"/>
                            </p:stCondLst>
                            <p:childTnLst>
                              <p:par>
                                <p:cTn id="95" presetID="10" presetClass="entr" presetSubtype="0" fill="hold" grpId="0" nodeType="afterEffect">
                                  <p:stCondLst>
                                    <p:cond delay="0"/>
                                  </p:stCondLst>
                                  <p:childTnLst>
                                    <p:set>
                                      <p:cBhvr>
                                        <p:cTn id="96" dur="1" fill="hold">
                                          <p:stCondLst>
                                            <p:cond delay="0"/>
                                          </p:stCondLst>
                                        </p:cTn>
                                        <p:tgtEl>
                                          <p:spTgt spid="97"/>
                                        </p:tgtEl>
                                        <p:attrNameLst>
                                          <p:attrName>style.visibility</p:attrName>
                                        </p:attrNameLst>
                                      </p:cBhvr>
                                      <p:to>
                                        <p:strVal val="visible"/>
                                      </p:to>
                                    </p:set>
                                    <p:animEffect transition="in" filter="fade">
                                      <p:cBhvr>
                                        <p:cTn id="97" dur="100"/>
                                        <p:tgtEl>
                                          <p:spTgt spid="97"/>
                                        </p:tgtEl>
                                      </p:cBhvr>
                                    </p:animEffect>
                                  </p:childTnLst>
                                </p:cTn>
                              </p:par>
                            </p:childTnLst>
                          </p:cTn>
                        </p:par>
                        <p:par>
                          <p:cTn id="98" fill="hold">
                            <p:stCondLst>
                              <p:cond delay="1400"/>
                            </p:stCondLst>
                            <p:childTnLst>
                              <p:par>
                                <p:cTn id="99" presetID="10" presetClass="entr" presetSubtype="0" fill="hold" grpId="0" nodeType="afterEffect">
                                  <p:stCondLst>
                                    <p:cond delay="0"/>
                                  </p:stCondLst>
                                  <p:childTnLst>
                                    <p:set>
                                      <p:cBhvr>
                                        <p:cTn id="100" dur="1" fill="hold">
                                          <p:stCondLst>
                                            <p:cond delay="0"/>
                                          </p:stCondLst>
                                        </p:cTn>
                                        <p:tgtEl>
                                          <p:spTgt spid="103"/>
                                        </p:tgtEl>
                                        <p:attrNameLst>
                                          <p:attrName>style.visibility</p:attrName>
                                        </p:attrNameLst>
                                      </p:cBhvr>
                                      <p:to>
                                        <p:strVal val="visible"/>
                                      </p:to>
                                    </p:set>
                                    <p:animEffect transition="in" filter="fade">
                                      <p:cBhvr>
                                        <p:cTn id="101" dur="100"/>
                                        <p:tgtEl>
                                          <p:spTgt spid="103"/>
                                        </p:tgtEl>
                                      </p:cBhvr>
                                    </p:animEffect>
                                  </p:childTnLst>
                                </p:cTn>
                              </p:par>
                            </p:childTnLst>
                          </p:cTn>
                        </p:par>
                        <p:par>
                          <p:cTn id="102" fill="hold">
                            <p:stCondLst>
                              <p:cond delay="1500"/>
                            </p:stCondLst>
                            <p:childTnLst>
                              <p:par>
                                <p:cTn id="103" presetID="10" presetClass="entr" presetSubtype="0" fill="hold" grpId="0" nodeType="afterEffect">
                                  <p:stCondLst>
                                    <p:cond delay="0"/>
                                  </p:stCondLst>
                                  <p:childTnLst>
                                    <p:set>
                                      <p:cBhvr>
                                        <p:cTn id="104" dur="1" fill="hold">
                                          <p:stCondLst>
                                            <p:cond delay="0"/>
                                          </p:stCondLst>
                                        </p:cTn>
                                        <p:tgtEl>
                                          <p:spTgt spid="98"/>
                                        </p:tgtEl>
                                        <p:attrNameLst>
                                          <p:attrName>style.visibility</p:attrName>
                                        </p:attrNameLst>
                                      </p:cBhvr>
                                      <p:to>
                                        <p:strVal val="visible"/>
                                      </p:to>
                                    </p:set>
                                    <p:animEffect transition="in" filter="fade">
                                      <p:cBhvr>
                                        <p:cTn id="105" dur="100"/>
                                        <p:tgtEl>
                                          <p:spTgt spid="98"/>
                                        </p:tgtEl>
                                      </p:cBhvr>
                                    </p:animEffect>
                                  </p:childTnLst>
                                </p:cTn>
                              </p:par>
                            </p:childTnLst>
                          </p:cTn>
                        </p:par>
                        <p:par>
                          <p:cTn id="106" fill="hold">
                            <p:stCondLst>
                              <p:cond delay="1600"/>
                            </p:stCondLst>
                            <p:childTnLst>
                              <p:par>
                                <p:cTn id="107" presetID="10" presetClass="entr" presetSubtype="0" fill="hold" grpId="0" nodeType="afterEffect">
                                  <p:stCondLst>
                                    <p:cond delay="0"/>
                                  </p:stCondLst>
                                  <p:childTnLst>
                                    <p:set>
                                      <p:cBhvr>
                                        <p:cTn id="108" dur="1" fill="hold">
                                          <p:stCondLst>
                                            <p:cond delay="0"/>
                                          </p:stCondLst>
                                        </p:cTn>
                                        <p:tgtEl>
                                          <p:spTgt spid="99"/>
                                        </p:tgtEl>
                                        <p:attrNameLst>
                                          <p:attrName>style.visibility</p:attrName>
                                        </p:attrNameLst>
                                      </p:cBhvr>
                                      <p:to>
                                        <p:strVal val="visible"/>
                                      </p:to>
                                    </p:set>
                                    <p:animEffect transition="in" filter="fade">
                                      <p:cBhvr>
                                        <p:cTn id="109" dur="100"/>
                                        <p:tgtEl>
                                          <p:spTgt spid="99"/>
                                        </p:tgtEl>
                                      </p:cBhvr>
                                    </p:animEffect>
                                  </p:childTnLst>
                                </p:cTn>
                              </p:par>
                            </p:childTnLst>
                          </p:cTn>
                        </p:par>
                        <p:par>
                          <p:cTn id="110" fill="hold">
                            <p:stCondLst>
                              <p:cond delay="1700"/>
                            </p:stCondLst>
                            <p:childTnLst>
                              <p:par>
                                <p:cTn id="111" presetID="10" presetClass="entr" presetSubtype="0" fill="hold" grpId="0" nodeType="afterEffect">
                                  <p:stCondLst>
                                    <p:cond delay="0"/>
                                  </p:stCondLst>
                                  <p:childTnLst>
                                    <p:set>
                                      <p:cBhvr>
                                        <p:cTn id="112" dur="1" fill="hold">
                                          <p:stCondLst>
                                            <p:cond delay="0"/>
                                          </p:stCondLst>
                                        </p:cTn>
                                        <p:tgtEl>
                                          <p:spTgt spid="100"/>
                                        </p:tgtEl>
                                        <p:attrNameLst>
                                          <p:attrName>style.visibility</p:attrName>
                                        </p:attrNameLst>
                                      </p:cBhvr>
                                      <p:to>
                                        <p:strVal val="visible"/>
                                      </p:to>
                                    </p:set>
                                    <p:animEffect transition="in" filter="fade">
                                      <p:cBhvr>
                                        <p:cTn id="113" dur="100"/>
                                        <p:tgtEl>
                                          <p:spTgt spid="100"/>
                                        </p:tgtEl>
                                      </p:cBhvr>
                                    </p:animEffect>
                                  </p:childTnLst>
                                </p:cTn>
                              </p:par>
                            </p:childTnLst>
                          </p:cTn>
                        </p:par>
                        <p:par>
                          <p:cTn id="114" fill="hold">
                            <p:stCondLst>
                              <p:cond delay="1800"/>
                            </p:stCondLst>
                            <p:childTnLst>
                              <p:par>
                                <p:cTn id="115" presetID="10" presetClass="entr" presetSubtype="0" fill="hold" grpId="0" nodeType="afterEffect">
                                  <p:stCondLst>
                                    <p:cond delay="0"/>
                                  </p:stCondLst>
                                  <p:childTnLst>
                                    <p:set>
                                      <p:cBhvr>
                                        <p:cTn id="116" dur="1" fill="hold">
                                          <p:stCondLst>
                                            <p:cond delay="0"/>
                                          </p:stCondLst>
                                        </p:cTn>
                                        <p:tgtEl>
                                          <p:spTgt spid="101"/>
                                        </p:tgtEl>
                                        <p:attrNameLst>
                                          <p:attrName>style.visibility</p:attrName>
                                        </p:attrNameLst>
                                      </p:cBhvr>
                                      <p:to>
                                        <p:strVal val="visible"/>
                                      </p:to>
                                    </p:set>
                                    <p:animEffect transition="in" filter="fade">
                                      <p:cBhvr>
                                        <p:cTn id="117" dur="100"/>
                                        <p:tgtEl>
                                          <p:spTgt spid="101"/>
                                        </p:tgtEl>
                                      </p:cBhvr>
                                    </p:animEffect>
                                  </p:childTnLst>
                                </p:cTn>
                              </p:par>
                            </p:childTnLst>
                          </p:cTn>
                        </p:par>
                        <p:par>
                          <p:cTn id="118" fill="hold">
                            <p:stCondLst>
                              <p:cond delay="1900"/>
                            </p:stCondLst>
                            <p:childTnLst>
                              <p:par>
                                <p:cTn id="119" presetID="10" presetClass="entr" presetSubtype="0" fill="hold" grpId="0" nodeType="afterEffect">
                                  <p:stCondLst>
                                    <p:cond delay="0"/>
                                  </p:stCondLst>
                                  <p:childTnLst>
                                    <p:set>
                                      <p:cBhvr>
                                        <p:cTn id="120" dur="1" fill="hold">
                                          <p:stCondLst>
                                            <p:cond delay="0"/>
                                          </p:stCondLst>
                                        </p:cTn>
                                        <p:tgtEl>
                                          <p:spTgt spid="102"/>
                                        </p:tgtEl>
                                        <p:attrNameLst>
                                          <p:attrName>style.visibility</p:attrName>
                                        </p:attrNameLst>
                                      </p:cBhvr>
                                      <p:to>
                                        <p:strVal val="visible"/>
                                      </p:to>
                                    </p:set>
                                    <p:animEffect transition="in" filter="fade">
                                      <p:cBhvr>
                                        <p:cTn id="121" dur="100"/>
                                        <p:tgtEl>
                                          <p:spTgt spid="102"/>
                                        </p:tgtEl>
                                      </p:cBhvr>
                                    </p:animEffect>
                                  </p:childTnLst>
                                </p:cTn>
                              </p:par>
                            </p:childTnLst>
                          </p:cTn>
                        </p:par>
                        <p:par>
                          <p:cTn id="122" fill="hold">
                            <p:stCondLst>
                              <p:cond delay="2000"/>
                            </p:stCondLst>
                            <p:childTnLst>
                              <p:par>
                                <p:cTn id="123" presetID="10" presetClass="entr" presetSubtype="0" fill="hold" grpId="0" nodeType="afterEffect">
                                  <p:stCondLst>
                                    <p:cond delay="0"/>
                                  </p:stCondLst>
                                  <p:childTnLst>
                                    <p:set>
                                      <p:cBhvr>
                                        <p:cTn id="124" dur="1" fill="hold">
                                          <p:stCondLst>
                                            <p:cond delay="0"/>
                                          </p:stCondLst>
                                        </p:cTn>
                                        <p:tgtEl>
                                          <p:spTgt spid="104"/>
                                        </p:tgtEl>
                                        <p:attrNameLst>
                                          <p:attrName>style.visibility</p:attrName>
                                        </p:attrNameLst>
                                      </p:cBhvr>
                                      <p:to>
                                        <p:strVal val="visible"/>
                                      </p:to>
                                    </p:set>
                                    <p:animEffect transition="in" filter="fade">
                                      <p:cBhvr>
                                        <p:cTn id="125" dur="1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4" grpId="0"/>
      <p:bldP spid="65" grpId="0"/>
      <p:bldP spid="66" grpId="0"/>
      <p:bldP spid="67" grpId="0"/>
      <p:bldP spid="68" grpId="0"/>
      <p:bldP spid="91" grpId="0" animBg="1"/>
      <p:bldP spid="92" grpId="0" animBg="1"/>
      <p:bldP spid="93" grpId="0" animBg="1"/>
      <p:bldP spid="94" grpId="0" animBg="1"/>
      <p:bldP spid="95" grpId="0" animBg="1"/>
      <p:bldP spid="96" grpId="0"/>
      <p:bldP spid="97" grpId="0"/>
      <p:bldP spid="98" grpId="0"/>
      <p:bldP spid="99" grpId="0"/>
      <p:bldP spid="100" grpId="0"/>
      <p:bldP spid="101" grpId="0"/>
      <p:bldP spid="102" grpId="0"/>
      <p:bldP spid="103" grpId="0"/>
      <p:bldP spid="104" grpId="0"/>
      <p:bldP spid="10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5C67EA6-6E6A-4DFC-BEBE-24873378B64A}"/>
              </a:ext>
            </a:extLst>
          </p:cNvPr>
          <p:cNvSpPr/>
          <p:nvPr/>
        </p:nvSpPr>
        <p:spPr>
          <a:xfrm>
            <a:off x="-2609677" y="1740"/>
            <a:ext cx="12191846" cy="6858000"/>
          </a:xfrm>
          <a:prstGeom prst="rect">
            <a:avLst/>
          </a:prstGeom>
          <a:solidFill>
            <a:schemeClr val="tx1">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99996C77-97F2-4DDB-9398-0C1064D046A3}"/>
              </a:ext>
            </a:extLst>
          </p:cNvPr>
          <p:cNvSpPr/>
          <p:nvPr/>
        </p:nvSpPr>
        <p:spPr>
          <a:xfrm>
            <a:off x="0" y="-4207"/>
            <a:ext cx="12192000" cy="68711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50000"/>
                </a:schemeClr>
              </a:solidFill>
              <a:latin typeface="JetBrains Mono Medium" panose="02000009000000000000" pitchFamily="49" charset="0"/>
              <a:cs typeface="JetBrains Mono Medium" panose="02000009000000000000" pitchFamily="49" charset="0"/>
            </a:endParaRPr>
          </a:p>
        </p:txBody>
      </p:sp>
      <p:sp>
        <p:nvSpPr>
          <p:cNvPr id="6" name="Flowchart: Data 5">
            <a:extLst>
              <a:ext uri="{FF2B5EF4-FFF2-40B4-BE49-F238E27FC236}">
                <a16:creationId xmlns:a16="http://schemas.microsoft.com/office/drawing/2014/main" id="{7B24D025-5870-470F-A5E4-292FB6395CA3}"/>
              </a:ext>
            </a:extLst>
          </p:cNvPr>
          <p:cNvSpPr/>
          <p:nvPr/>
        </p:nvSpPr>
        <p:spPr>
          <a:xfrm>
            <a:off x="-2609677" y="-61"/>
            <a:ext cx="12825259" cy="6867738"/>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1828"/>
              <a:gd name="connsiteY0" fmla="*/ 11576 h 11576"/>
              <a:gd name="connsiteX1" fmla="*/ 2000 w 11828"/>
              <a:gd name="connsiteY1" fmla="*/ 1576 h 11576"/>
              <a:gd name="connsiteX2" fmla="*/ 11828 w 11828"/>
              <a:gd name="connsiteY2" fmla="*/ 0 h 11576"/>
              <a:gd name="connsiteX3" fmla="*/ 8000 w 11828"/>
              <a:gd name="connsiteY3" fmla="*/ 11576 h 11576"/>
              <a:gd name="connsiteX4" fmla="*/ 0 w 11828"/>
              <a:gd name="connsiteY4" fmla="*/ 11576 h 11576"/>
              <a:gd name="connsiteX0" fmla="*/ 0 w 11828"/>
              <a:gd name="connsiteY0" fmla="*/ 11592 h 11592"/>
              <a:gd name="connsiteX1" fmla="*/ 4151 w 11828"/>
              <a:gd name="connsiteY1" fmla="*/ 0 h 11592"/>
              <a:gd name="connsiteX2" fmla="*/ 11828 w 11828"/>
              <a:gd name="connsiteY2" fmla="*/ 16 h 11592"/>
              <a:gd name="connsiteX3" fmla="*/ 8000 w 11828"/>
              <a:gd name="connsiteY3" fmla="*/ 11592 h 11592"/>
              <a:gd name="connsiteX4" fmla="*/ 0 w 11828"/>
              <a:gd name="connsiteY4" fmla="*/ 11592 h 11592"/>
              <a:gd name="connsiteX0" fmla="*/ 0 w 12330"/>
              <a:gd name="connsiteY0" fmla="*/ 11656 h 11656"/>
              <a:gd name="connsiteX1" fmla="*/ 4653 w 12330"/>
              <a:gd name="connsiteY1" fmla="*/ 0 h 11656"/>
              <a:gd name="connsiteX2" fmla="*/ 12330 w 12330"/>
              <a:gd name="connsiteY2" fmla="*/ 16 h 11656"/>
              <a:gd name="connsiteX3" fmla="*/ 8502 w 12330"/>
              <a:gd name="connsiteY3" fmla="*/ 11592 h 11656"/>
              <a:gd name="connsiteX4" fmla="*/ 0 w 12330"/>
              <a:gd name="connsiteY4" fmla="*/ 11656 h 11656"/>
              <a:gd name="connsiteX0" fmla="*/ 0 w 12330"/>
              <a:gd name="connsiteY0" fmla="*/ 11592 h 11592"/>
              <a:gd name="connsiteX1" fmla="*/ 4653 w 12330"/>
              <a:gd name="connsiteY1" fmla="*/ 0 h 11592"/>
              <a:gd name="connsiteX2" fmla="*/ 12330 w 12330"/>
              <a:gd name="connsiteY2" fmla="*/ 16 h 11592"/>
              <a:gd name="connsiteX3" fmla="*/ 8502 w 12330"/>
              <a:gd name="connsiteY3" fmla="*/ 11592 h 11592"/>
              <a:gd name="connsiteX4" fmla="*/ 0 w 12330"/>
              <a:gd name="connsiteY4" fmla="*/ 11592 h 11592"/>
              <a:gd name="connsiteX0" fmla="*/ 0 w 12366"/>
              <a:gd name="connsiteY0" fmla="*/ 11560 h 11592"/>
              <a:gd name="connsiteX1" fmla="*/ 4689 w 12366"/>
              <a:gd name="connsiteY1" fmla="*/ 0 h 11592"/>
              <a:gd name="connsiteX2" fmla="*/ 12366 w 12366"/>
              <a:gd name="connsiteY2" fmla="*/ 16 h 11592"/>
              <a:gd name="connsiteX3" fmla="*/ 8538 w 12366"/>
              <a:gd name="connsiteY3" fmla="*/ 11592 h 11592"/>
              <a:gd name="connsiteX4" fmla="*/ 0 w 12366"/>
              <a:gd name="connsiteY4" fmla="*/ 11560 h 11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66" h="11592">
                <a:moveTo>
                  <a:pt x="0" y="11560"/>
                </a:moveTo>
                <a:lnTo>
                  <a:pt x="4689" y="0"/>
                </a:lnTo>
                <a:lnTo>
                  <a:pt x="12366" y="16"/>
                </a:lnTo>
                <a:lnTo>
                  <a:pt x="8538" y="11592"/>
                </a:lnTo>
                <a:lnTo>
                  <a:pt x="0" y="11560"/>
                </a:lnTo>
                <a:close/>
              </a:path>
            </a:pathLst>
          </a:custGeom>
          <a:solidFill>
            <a:schemeClr val="tx1">
              <a:lumMod val="95000"/>
              <a:lumOff val="5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Manual Input 4">
            <a:extLst>
              <a:ext uri="{FF2B5EF4-FFF2-40B4-BE49-F238E27FC236}">
                <a16:creationId xmlns:a16="http://schemas.microsoft.com/office/drawing/2014/main" id="{36840BA7-017D-40A8-8316-55E4F8D756E5}"/>
              </a:ext>
            </a:extLst>
          </p:cNvPr>
          <p:cNvSpPr/>
          <p:nvPr/>
        </p:nvSpPr>
        <p:spPr>
          <a:xfrm>
            <a:off x="-2622175" y="-12700"/>
            <a:ext cx="14826893" cy="68772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4992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4992 w 10000"/>
              <a:gd name="connsiteY4" fmla="*/ 0 h 10000"/>
              <a:gd name="connsiteX0" fmla="*/ 4992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4992 w 10000"/>
              <a:gd name="connsiteY4" fmla="*/ 0 h 10000"/>
              <a:gd name="connsiteX0" fmla="*/ 6210 w 11218"/>
              <a:gd name="connsiteY0" fmla="*/ 0 h 10208"/>
              <a:gd name="connsiteX1" fmla="*/ 11218 w 11218"/>
              <a:gd name="connsiteY1" fmla="*/ 0 h 10208"/>
              <a:gd name="connsiteX2" fmla="*/ 11218 w 11218"/>
              <a:gd name="connsiteY2" fmla="*/ 10000 h 10208"/>
              <a:gd name="connsiteX3" fmla="*/ 0 w 11218"/>
              <a:gd name="connsiteY3" fmla="*/ 10208 h 10208"/>
              <a:gd name="connsiteX4" fmla="*/ 6210 w 11218"/>
              <a:gd name="connsiteY4" fmla="*/ 0 h 10208"/>
              <a:gd name="connsiteX0" fmla="*/ 6544 w 11552"/>
              <a:gd name="connsiteY0" fmla="*/ 0 h 10000"/>
              <a:gd name="connsiteX1" fmla="*/ 11552 w 11552"/>
              <a:gd name="connsiteY1" fmla="*/ 0 h 10000"/>
              <a:gd name="connsiteX2" fmla="*/ 11552 w 11552"/>
              <a:gd name="connsiteY2" fmla="*/ 10000 h 10000"/>
              <a:gd name="connsiteX3" fmla="*/ 0 w 11552"/>
              <a:gd name="connsiteY3" fmla="*/ 10000 h 10000"/>
              <a:gd name="connsiteX4" fmla="*/ 6544 w 11552"/>
              <a:gd name="connsiteY4" fmla="*/ 0 h 10000"/>
              <a:gd name="connsiteX0" fmla="*/ 6544 w 14766"/>
              <a:gd name="connsiteY0" fmla="*/ 0 h 10000"/>
              <a:gd name="connsiteX1" fmla="*/ 14766 w 14766"/>
              <a:gd name="connsiteY1" fmla="*/ 42 h 10000"/>
              <a:gd name="connsiteX2" fmla="*/ 11552 w 14766"/>
              <a:gd name="connsiteY2" fmla="*/ 10000 h 10000"/>
              <a:gd name="connsiteX3" fmla="*/ 0 w 14766"/>
              <a:gd name="connsiteY3" fmla="*/ 10000 h 10000"/>
              <a:gd name="connsiteX4" fmla="*/ 6544 w 14766"/>
              <a:gd name="connsiteY4" fmla="*/ 0 h 10000"/>
              <a:gd name="connsiteX0" fmla="*/ 6544 w 14718"/>
              <a:gd name="connsiteY0" fmla="*/ 0 h 10000"/>
              <a:gd name="connsiteX1" fmla="*/ 14718 w 14718"/>
              <a:gd name="connsiteY1" fmla="*/ 0 h 10000"/>
              <a:gd name="connsiteX2" fmla="*/ 11552 w 14718"/>
              <a:gd name="connsiteY2" fmla="*/ 10000 h 10000"/>
              <a:gd name="connsiteX3" fmla="*/ 0 w 14718"/>
              <a:gd name="connsiteY3" fmla="*/ 10000 h 10000"/>
              <a:gd name="connsiteX4" fmla="*/ 6544 w 14718"/>
              <a:gd name="connsiteY4" fmla="*/ 0 h 10000"/>
              <a:gd name="connsiteX0" fmla="*/ 6544 w 14718"/>
              <a:gd name="connsiteY0" fmla="*/ 0 h 10028"/>
              <a:gd name="connsiteX1" fmla="*/ 14718 w 14718"/>
              <a:gd name="connsiteY1" fmla="*/ 0 h 10028"/>
              <a:gd name="connsiteX2" fmla="*/ 14718 w 14718"/>
              <a:gd name="connsiteY2" fmla="*/ 10028 h 10028"/>
              <a:gd name="connsiteX3" fmla="*/ 0 w 14718"/>
              <a:gd name="connsiteY3" fmla="*/ 10000 h 10028"/>
              <a:gd name="connsiteX4" fmla="*/ 6544 w 14718"/>
              <a:gd name="connsiteY4" fmla="*/ 0 h 10028"/>
              <a:gd name="connsiteX0" fmla="*/ 3306 w 11480"/>
              <a:gd name="connsiteY0" fmla="*/ 0 h 10028"/>
              <a:gd name="connsiteX1" fmla="*/ 11480 w 11480"/>
              <a:gd name="connsiteY1" fmla="*/ 0 h 10028"/>
              <a:gd name="connsiteX2" fmla="*/ 11480 w 11480"/>
              <a:gd name="connsiteY2" fmla="*/ 10028 h 10028"/>
              <a:gd name="connsiteX3" fmla="*/ 0 w 11480"/>
              <a:gd name="connsiteY3" fmla="*/ 10000 h 10028"/>
              <a:gd name="connsiteX4" fmla="*/ 3306 w 11480"/>
              <a:gd name="connsiteY4" fmla="*/ 0 h 10028"/>
              <a:gd name="connsiteX0" fmla="*/ 29161 w 37335"/>
              <a:gd name="connsiteY0" fmla="*/ 0 h 10028"/>
              <a:gd name="connsiteX1" fmla="*/ 37335 w 37335"/>
              <a:gd name="connsiteY1" fmla="*/ 0 h 10028"/>
              <a:gd name="connsiteX2" fmla="*/ 37335 w 37335"/>
              <a:gd name="connsiteY2" fmla="*/ 10028 h 10028"/>
              <a:gd name="connsiteX3" fmla="*/ 0 w 37335"/>
              <a:gd name="connsiteY3" fmla="*/ 10028 h 10028"/>
              <a:gd name="connsiteX4" fmla="*/ 29161 w 37335"/>
              <a:gd name="connsiteY4" fmla="*/ 0 h 10028"/>
              <a:gd name="connsiteX0" fmla="*/ 92 w 37335"/>
              <a:gd name="connsiteY0" fmla="*/ 0 h 10028"/>
              <a:gd name="connsiteX1" fmla="*/ 37335 w 37335"/>
              <a:gd name="connsiteY1" fmla="*/ 0 h 10028"/>
              <a:gd name="connsiteX2" fmla="*/ 37335 w 37335"/>
              <a:gd name="connsiteY2" fmla="*/ 10028 h 10028"/>
              <a:gd name="connsiteX3" fmla="*/ 0 w 37335"/>
              <a:gd name="connsiteY3" fmla="*/ 10028 h 10028"/>
              <a:gd name="connsiteX4" fmla="*/ 92 w 37335"/>
              <a:gd name="connsiteY4" fmla="*/ 0 h 10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35" h="10028">
                <a:moveTo>
                  <a:pt x="92" y="0"/>
                </a:moveTo>
                <a:lnTo>
                  <a:pt x="37335" y="0"/>
                </a:lnTo>
                <a:lnTo>
                  <a:pt x="37335" y="10028"/>
                </a:lnTo>
                <a:lnTo>
                  <a:pt x="0" y="10028"/>
                </a:lnTo>
                <a:cubicBezTo>
                  <a:pt x="31" y="6685"/>
                  <a:pt x="61" y="3343"/>
                  <a:pt x="92"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JetBrains Mono Medium" panose="02000009000000000000" pitchFamily="49" charset="0"/>
              <a:cs typeface="JetBrains Mono Medium" panose="02000009000000000000" pitchFamily="49" charset="0"/>
            </a:endParaRPr>
          </a:p>
        </p:txBody>
      </p:sp>
      <p:sp>
        <p:nvSpPr>
          <p:cNvPr id="13" name="nhóm num">
            <a:extLst>
              <a:ext uri="{FF2B5EF4-FFF2-40B4-BE49-F238E27FC236}">
                <a16:creationId xmlns:a16="http://schemas.microsoft.com/office/drawing/2014/main" id="{63E400E0-563E-4F08-9BCF-58F5DF3C40E4}"/>
              </a:ext>
            </a:extLst>
          </p:cNvPr>
          <p:cNvSpPr txBox="1"/>
          <p:nvPr/>
        </p:nvSpPr>
        <p:spPr>
          <a:xfrm>
            <a:off x="8058135" y="263847"/>
            <a:ext cx="3194050" cy="8556188"/>
          </a:xfrm>
          <a:prstGeom prst="rect">
            <a:avLst/>
          </a:prstGeom>
          <a:noFill/>
        </p:spPr>
        <p:txBody>
          <a:bodyPr wrap="square" rtlCol="0">
            <a:spAutoFit/>
          </a:bodyPr>
          <a:lstStyle/>
          <a:p>
            <a:r>
              <a:rPr lang="en-US" sz="55000" dirty="0">
                <a:solidFill>
                  <a:schemeClr val="bg1">
                    <a:alpha val="21000"/>
                  </a:schemeClr>
                </a:solidFill>
                <a:latin typeface="JetBrains Mono Medium" panose="02000009000000000000" pitchFamily="49" charset="0"/>
                <a:cs typeface="JetBrains Mono Medium" panose="02000009000000000000" pitchFamily="49" charset="0"/>
              </a:rPr>
              <a:t>5</a:t>
            </a:r>
          </a:p>
        </p:txBody>
      </p:sp>
      <p:sp>
        <p:nvSpPr>
          <p:cNvPr id="12" name="nhóm text">
            <a:extLst>
              <a:ext uri="{FF2B5EF4-FFF2-40B4-BE49-F238E27FC236}">
                <a16:creationId xmlns:a16="http://schemas.microsoft.com/office/drawing/2014/main" id="{BC8F49E1-53B5-4EAC-A916-0DFBD966D7EA}"/>
              </a:ext>
            </a:extLst>
          </p:cNvPr>
          <p:cNvSpPr txBox="1"/>
          <p:nvPr/>
        </p:nvSpPr>
        <p:spPr>
          <a:xfrm>
            <a:off x="10346648" y="990528"/>
            <a:ext cx="1502705" cy="1323439"/>
          </a:xfrm>
          <a:prstGeom prst="rect">
            <a:avLst/>
          </a:prstGeom>
          <a:noFill/>
        </p:spPr>
        <p:txBody>
          <a:bodyPr wrap="square" rtlCol="0">
            <a:spAutoFit/>
          </a:bodyPr>
          <a:lstStyle/>
          <a:p>
            <a:r>
              <a:rPr lang="en-US" sz="4000" dirty="0">
                <a:solidFill>
                  <a:schemeClr val="bg1">
                    <a:alpha val="30000"/>
                  </a:schemeClr>
                </a:solidFill>
                <a:latin typeface="JetBrains Mono Light" panose="02000009000000000000" pitchFamily="49" charset="0"/>
                <a:cs typeface="JetBrains Mono Light" panose="02000009000000000000" pitchFamily="49" charset="0"/>
              </a:rPr>
              <a:t>NHÓM</a:t>
            </a:r>
          </a:p>
          <a:p>
            <a:pPr algn="r"/>
            <a:endParaRPr lang="en-US" sz="4000" dirty="0">
              <a:solidFill>
                <a:schemeClr val="bg1"/>
              </a:solidFill>
              <a:latin typeface="JetBrains Mono Light" panose="02000009000000000000" pitchFamily="49" charset="0"/>
              <a:cs typeface="JetBrains Mono Light" panose="02000009000000000000" pitchFamily="49" charset="0"/>
            </a:endParaRPr>
          </a:p>
        </p:txBody>
      </p:sp>
      <p:sp>
        <p:nvSpPr>
          <p:cNvPr id="40" name="Flowchart: Connector 39">
            <a:extLst>
              <a:ext uri="{FF2B5EF4-FFF2-40B4-BE49-F238E27FC236}">
                <a16:creationId xmlns:a16="http://schemas.microsoft.com/office/drawing/2014/main" id="{8D799BDA-DACC-4422-9CC0-C95191521BF9}"/>
              </a:ext>
            </a:extLst>
          </p:cNvPr>
          <p:cNvSpPr/>
          <p:nvPr/>
        </p:nvSpPr>
        <p:spPr>
          <a:xfrm>
            <a:off x="9734550" y="1790521"/>
            <a:ext cx="2756341" cy="2751420"/>
          </a:xfrm>
          <a:prstGeom prst="flowChartConnector">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lowchart: Connector 45">
            <a:extLst>
              <a:ext uri="{FF2B5EF4-FFF2-40B4-BE49-F238E27FC236}">
                <a16:creationId xmlns:a16="http://schemas.microsoft.com/office/drawing/2014/main" id="{E05D8559-CA2F-4D7E-80B0-098A77195071}"/>
              </a:ext>
            </a:extLst>
          </p:cNvPr>
          <p:cNvSpPr/>
          <p:nvPr/>
        </p:nvSpPr>
        <p:spPr>
          <a:xfrm>
            <a:off x="9227931" y="3326864"/>
            <a:ext cx="733007" cy="742653"/>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821D992-5088-4BFC-A123-62011CC975D3}"/>
              </a:ext>
            </a:extLst>
          </p:cNvPr>
          <p:cNvSpPr txBox="1"/>
          <p:nvPr/>
        </p:nvSpPr>
        <p:spPr>
          <a:xfrm>
            <a:off x="-40958" y="-2021427"/>
            <a:ext cx="7465680" cy="1015663"/>
          </a:xfrm>
          <a:prstGeom prst="rect">
            <a:avLst/>
          </a:prstGeom>
          <a:noFill/>
        </p:spPr>
        <p:txBody>
          <a:bodyPr wrap="square" rtlCol="0">
            <a:spAutoFit/>
          </a:bodyPr>
          <a:lstStyle/>
          <a:p>
            <a:r>
              <a:rPr lang="en-US" sz="6000" dirty="0">
                <a:solidFill>
                  <a:schemeClr val="bg1">
                    <a:lumMod val="95000"/>
                  </a:schemeClr>
                </a:solidFill>
                <a:latin typeface="JetBrains Mono Thin" panose="02000009000000000000" pitchFamily="49" charset="0"/>
                <a:cs typeface="JetBrains Mono Thin" panose="02000009000000000000" pitchFamily="49" charset="0"/>
              </a:rPr>
              <a:t>GRAPH_THEORIES</a:t>
            </a:r>
          </a:p>
        </p:txBody>
      </p:sp>
      <p:sp>
        <p:nvSpPr>
          <p:cNvPr id="8" name="TextBox 7">
            <a:extLst>
              <a:ext uri="{FF2B5EF4-FFF2-40B4-BE49-F238E27FC236}">
                <a16:creationId xmlns:a16="http://schemas.microsoft.com/office/drawing/2014/main" id="{25E891ED-2E39-4D9F-A0B0-15F96276ABF6}"/>
              </a:ext>
            </a:extLst>
          </p:cNvPr>
          <p:cNvSpPr txBox="1"/>
          <p:nvPr/>
        </p:nvSpPr>
        <p:spPr>
          <a:xfrm>
            <a:off x="-55230" y="-25400"/>
            <a:ext cx="9600048" cy="1154162"/>
          </a:xfrm>
          <a:prstGeom prst="rect">
            <a:avLst/>
          </a:prstGeom>
          <a:solidFill>
            <a:schemeClr val="tx1"/>
          </a:solidFill>
        </p:spPr>
        <p:txBody>
          <a:bodyPr wrap="square" rtlCol="0">
            <a:spAutoFit/>
          </a:bodyPr>
          <a:lstStyle/>
          <a:p>
            <a:r>
              <a:rPr lang="en-US" sz="6900" spc="-300" dirty="0">
                <a:solidFill>
                  <a:schemeClr val="bg1">
                    <a:lumMod val="95000"/>
                  </a:schemeClr>
                </a:solidFill>
                <a:latin typeface="JetBrains Mono Medium" panose="02000009000000000000" pitchFamily="49" charset="0"/>
                <a:cs typeface="JetBrains Mono Medium" panose="02000009000000000000" pitchFamily="49" charset="0"/>
              </a:rPr>
              <a:t>COMPUTER_SCIENCE://</a:t>
            </a:r>
          </a:p>
        </p:txBody>
      </p:sp>
      <p:sp>
        <p:nvSpPr>
          <p:cNvPr id="21" name="TextBox 20">
            <a:extLst>
              <a:ext uri="{FF2B5EF4-FFF2-40B4-BE49-F238E27FC236}">
                <a16:creationId xmlns:a16="http://schemas.microsoft.com/office/drawing/2014/main" id="{35FB08CA-8CE4-41B1-AF8A-BA5E04630B17}"/>
              </a:ext>
            </a:extLst>
          </p:cNvPr>
          <p:cNvSpPr txBox="1"/>
          <p:nvPr/>
        </p:nvSpPr>
        <p:spPr>
          <a:xfrm>
            <a:off x="-40958" y="1719981"/>
            <a:ext cx="7465680" cy="1015663"/>
          </a:xfrm>
          <a:prstGeom prst="rect">
            <a:avLst/>
          </a:prstGeom>
          <a:noFill/>
        </p:spPr>
        <p:txBody>
          <a:bodyPr wrap="square" rtlCol="0">
            <a:spAutoFit/>
          </a:bodyPr>
          <a:lstStyle/>
          <a:p>
            <a:r>
              <a:rPr lang="en-US" sz="6000" dirty="0">
                <a:solidFill>
                  <a:schemeClr val="bg1">
                    <a:lumMod val="50000"/>
                  </a:schemeClr>
                </a:solidFill>
                <a:latin typeface="JetBrains Mono Thin" panose="02000009000000000000" pitchFamily="49" charset="0"/>
                <a:cs typeface="JetBrains Mono Thin" panose="02000009000000000000" pitchFamily="49" charset="0"/>
              </a:rPr>
              <a:t>GRAPH_THEORIES</a:t>
            </a:r>
          </a:p>
        </p:txBody>
      </p:sp>
      <p:sp>
        <p:nvSpPr>
          <p:cNvPr id="22" name="TextBox 21">
            <a:extLst>
              <a:ext uri="{FF2B5EF4-FFF2-40B4-BE49-F238E27FC236}">
                <a16:creationId xmlns:a16="http://schemas.microsoft.com/office/drawing/2014/main" id="{77211939-17B6-4FEC-B9C8-5F9D2A46FB75}"/>
              </a:ext>
            </a:extLst>
          </p:cNvPr>
          <p:cNvSpPr txBox="1"/>
          <p:nvPr/>
        </p:nvSpPr>
        <p:spPr>
          <a:xfrm>
            <a:off x="-40958" y="2449300"/>
            <a:ext cx="7465680" cy="1015663"/>
          </a:xfrm>
          <a:prstGeom prst="rect">
            <a:avLst/>
          </a:prstGeom>
          <a:noFill/>
        </p:spPr>
        <p:txBody>
          <a:bodyPr wrap="square" rtlCol="0">
            <a:spAutoFit/>
          </a:bodyPr>
          <a:lstStyle/>
          <a:p>
            <a:r>
              <a:rPr lang="en-US" sz="6000" dirty="0">
                <a:solidFill>
                  <a:schemeClr val="bg1">
                    <a:lumMod val="50000"/>
                  </a:schemeClr>
                </a:solidFill>
                <a:latin typeface="JetBrains Mono Thin" panose="02000009000000000000" pitchFamily="49" charset="0"/>
                <a:cs typeface="JetBrains Mono Thin" panose="02000009000000000000" pitchFamily="49" charset="0"/>
              </a:rPr>
              <a:t>GRAPH_THEORIES</a:t>
            </a:r>
          </a:p>
        </p:txBody>
      </p:sp>
      <p:sp>
        <p:nvSpPr>
          <p:cNvPr id="23" name="TextBox 22">
            <a:extLst>
              <a:ext uri="{FF2B5EF4-FFF2-40B4-BE49-F238E27FC236}">
                <a16:creationId xmlns:a16="http://schemas.microsoft.com/office/drawing/2014/main" id="{23FA915B-ECCA-4C93-BBCC-2D61C1ACE67F}"/>
              </a:ext>
            </a:extLst>
          </p:cNvPr>
          <p:cNvSpPr txBox="1"/>
          <p:nvPr/>
        </p:nvSpPr>
        <p:spPr>
          <a:xfrm>
            <a:off x="-40958" y="3200764"/>
            <a:ext cx="7465680" cy="1015663"/>
          </a:xfrm>
          <a:prstGeom prst="rect">
            <a:avLst/>
          </a:prstGeom>
          <a:noFill/>
        </p:spPr>
        <p:txBody>
          <a:bodyPr wrap="square" rtlCol="0">
            <a:spAutoFit/>
          </a:bodyPr>
          <a:lstStyle/>
          <a:p>
            <a:r>
              <a:rPr lang="en-US" sz="6000" dirty="0">
                <a:solidFill>
                  <a:schemeClr val="bg1">
                    <a:lumMod val="50000"/>
                  </a:schemeClr>
                </a:solidFill>
                <a:latin typeface="JetBrains Mono Thin" panose="02000009000000000000" pitchFamily="49" charset="0"/>
                <a:cs typeface="JetBrains Mono Thin" panose="02000009000000000000" pitchFamily="49" charset="0"/>
              </a:rPr>
              <a:t>GRAPH_THEORIES</a:t>
            </a:r>
          </a:p>
        </p:txBody>
      </p:sp>
      <p:sp>
        <p:nvSpPr>
          <p:cNvPr id="24" name="TextBox 23">
            <a:extLst>
              <a:ext uri="{FF2B5EF4-FFF2-40B4-BE49-F238E27FC236}">
                <a16:creationId xmlns:a16="http://schemas.microsoft.com/office/drawing/2014/main" id="{8BF1CEE4-A377-46BB-A0BA-EE78331386EC}"/>
              </a:ext>
            </a:extLst>
          </p:cNvPr>
          <p:cNvSpPr txBox="1"/>
          <p:nvPr/>
        </p:nvSpPr>
        <p:spPr>
          <a:xfrm>
            <a:off x="-40958" y="3900868"/>
            <a:ext cx="7465680" cy="1015663"/>
          </a:xfrm>
          <a:prstGeom prst="rect">
            <a:avLst/>
          </a:prstGeom>
          <a:noFill/>
        </p:spPr>
        <p:txBody>
          <a:bodyPr wrap="square" rtlCol="0">
            <a:spAutoFit/>
          </a:bodyPr>
          <a:lstStyle/>
          <a:p>
            <a:r>
              <a:rPr lang="en-US" sz="6000" dirty="0">
                <a:solidFill>
                  <a:schemeClr val="bg1">
                    <a:lumMod val="50000"/>
                  </a:schemeClr>
                </a:solidFill>
                <a:latin typeface="JetBrains Mono Thin" panose="02000009000000000000" pitchFamily="49" charset="0"/>
                <a:cs typeface="JetBrains Mono Thin" panose="02000009000000000000" pitchFamily="49" charset="0"/>
              </a:rPr>
              <a:t>GRAPH_THEORIES</a:t>
            </a:r>
          </a:p>
        </p:txBody>
      </p:sp>
      <p:sp>
        <p:nvSpPr>
          <p:cNvPr id="25" name="TextBox 24">
            <a:extLst>
              <a:ext uri="{FF2B5EF4-FFF2-40B4-BE49-F238E27FC236}">
                <a16:creationId xmlns:a16="http://schemas.microsoft.com/office/drawing/2014/main" id="{97340536-FE34-4517-A4F6-9D7A5BDE562C}"/>
              </a:ext>
            </a:extLst>
          </p:cNvPr>
          <p:cNvSpPr txBox="1"/>
          <p:nvPr/>
        </p:nvSpPr>
        <p:spPr>
          <a:xfrm>
            <a:off x="-40958" y="4630187"/>
            <a:ext cx="7465680" cy="1015663"/>
          </a:xfrm>
          <a:prstGeom prst="rect">
            <a:avLst/>
          </a:prstGeom>
          <a:noFill/>
        </p:spPr>
        <p:txBody>
          <a:bodyPr wrap="square" rtlCol="0">
            <a:spAutoFit/>
          </a:bodyPr>
          <a:lstStyle/>
          <a:p>
            <a:r>
              <a:rPr lang="en-US" sz="6000" dirty="0">
                <a:solidFill>
                  <a:schemeClr val="bg1">
                    <a:lumMod val="50000"/>
                  </a:schemeClr>
                </a:solidFill>
                <a:latin typeface="JetBrains Mono Thin" panose="02000009000000000000" pitchFamily="49" charset="0"/>
                <a:cs typeface="JetBrains Mono Thin" panose="02000009000000000000" pitchFamily="49" charset="0"/>
              </a:rPr>
              <a:t>GRAPH_THEORIES</a:t>
            </a:r>
          </a:p>
        </p:txBody>
      </p:sp>
      <p:sp>
        <p:nvSpPr>
          <p:cNvPr id="26" name="TextBox 25">
            <a:extLst>
              <a:ext uri="{FF2B5EF4-FFF2-40B4-BE49-F238E27FC236}">
                <a16:creationId xmlns:a16="http://schemas.microsoft.com/office/drawing/2014/main" id="{77EE8AF6-FC41-4F10-A94E-FA39244BA71B}"/>
              </a:ext>
            </a:extLst>
          </p:cNvPr>
          <p:cNvSpPr txBox="1"/>
          <p:nvPr/>
        </p:nvSpPr>
        <p:spPr>
          <a:xfrm>
            <a:off x="-40958" y="5381651"/>
            <a:ext cx="7465680" cy="1015663"/>
          </a:xfrm>
          <a:prstGeom prst="rect">
            <a:avLst/>
          </a:prstGeom>
          <a:noFill/>
        </p:spPr>
        <p:txBody>
          <a:bodyPr wrap="square" rtlCol="0">
            <a:spAutoFit/>
          </a:bodyPr>
          <a:lstStyle/>
          <a:p>
            <a:r>
              <a:rPr lang="en-US" sz="6000" dirty="0">
                <a:solidFill>
                  <a:schemeClr val="bg1">
                    <a:lumMod val="50000"/>
                  </a:schemeClr>
                </a:solidFill>
                <a:latin typeface="JetBrains Mono Thin" panose="02000009000000000000" pitchFamily="49" charset="0"/>
                <a:cs typeface="JetBrains Mono Thin" panose="02000009000000000000" pitchFamily="49" charset="0"/>
              </a:rPr>
              <a:t>GRAPH_THEORIES</a:t>
            </a:r>
          </a:p>
        </p:txBody>
      </p:sp>
      <p:sp>
        <p:nvSpPr>
          <p:cNvPr id="27" name="TextBox 26">
            <a:extLst>
              <a:ext uri="{FF2B5EF4-FFF2-40B4-BE49-F238E27FC236}">
                <a16:creationId xmlns:a16="http://schemas.microsoft.com/office/drawing/2014/main" id="{A97829E2-E70E-4019-8308-16C5647B04DF}"/>
              </a:ext>
            </a:extLst>
          </p:cNvPr>
          <p:cNvSpPr txBox="1"/>
          <p:nvPr/>
        </p:nvSpPr>
        <p:spPr>
          <a:xfrm>
            <a:off x="-40958" y="6114212"/>
            <a:ext cx="7465680" cy="1015663"/>
          </a:xfrm>
          <a:prstGeom prst="rect">
            <a:avLst/>
          </a:prstGeom>
          <a:noFill/>
        </p:spPr>
        <p:txBody>
          <a:bodyPr wrap="square" rtlCol="0">
            <a:spAutoFit/>
          </a:bodyPr>
          <a:lstStyle/>
          <a:p>
            <a:r>
              <a:rPr lang="en-US" sz="6000" dirty="0">
                <a:solidFill>
                  <a:schemeClr val="bg1">
                    <a:lumMod val="50000"/>
                  </a:schemeClr>
                </a:solidFill>
                <a:latin typeface="JetBrains Mono Thin" panose="02000009000000000000" pitchFamily="49" charset="0"/>
                <a:cs typeface="JetBrains Mono Thin" panose="02000009000000000000" pitchFamily="49" charset="0"/>
              </a:rPr>
              <a:t>GRAPH_THEORIES</a:t>
            </a:r>
          </a:p>
        </p:txBody>
      </p:sp>
      <p:sp>
        <p:nvSpPr>
          <p:cNvPr id="3" name="TextBox 2">
            <a:extLst>
              <a:ext uri="{FF2B5EF4-FFF2-40B4-BE49-F238E27FC236}">
                <a16:creationId xmlns:a16="http://schemas.microsoft.com/office/drawing/2014/main" id="{268F61C0-3951-4187-A544-C64F8D8308B0}"/>
              </a:ext>
            </a:extLst>
          </p:cNvPr>
          <p:cNvSpPr txBox="1"/>
          <p:nvPr/>
        </p:nvSpPr>
        <p:spPr>
          <a:xfrm>
            <a:off x="89084" y="6018542"/>
            <a:ext cx="914400" cy="861774"/>
          </a:xfrm>
          <a:prstGeom prst="rect">
            <a:avLst/>
          </a:prstGeom>
          <a:noFill/>
        </p:spPr>
        <p:txBody>
          <a:bodyPr wrap="square" rtlCol="0">
            <a:spAutoFit/>
          </a:bodyPr>
          <a:lstStyle/>
          <a:p>
            <a:r>
              <a:rPr lang="en-US" sz="5000" dirty="0">
                <a:solidFill>
                  <a:schemeClr val="bg1"/>
                </a:solidFill>
                <a:latin typeface="JetBrains Mono Medium" panose="02000009000000000000" pitchFamily="49" charset="0"/>
                <a:cs typeface="JetBrains Mono Medium" panose="02000009000000000000" pitchFamily="49" charset="0"/>
              </a:rPr>
              <a:t>5</a:t>
            </a:r>
          </a:p>
        </p:txBody>
      </p:sp>
      <p:sp>
        <p:nvSpPr>
          <p:cNvPr id="7" name="TextBox 6">
            <a:extLst>
              <a:ext uri="{FF2B5EF4-FFF2-40B4-BE49-F238E27FC236}">
                <a16:creationId xmlns:a16="http://schemas.microsoft.com/office/drawing/2014/main" id="{8B7FF396-4F8D-4915-A339-C5885CFF6DA8}"/>
              </a:ext>
            </a:extLst>
          </p:cNvPr>
          <p:cNvSpPr txBox="1"/>
          <p:nvPr/>
        </p:nvSpPr>
        <p:spPr>
          <a:xfrm>
            <a:off x="438932" y="6018603"/>
            <a:ext cx="914400" cy="861774"/>
          </a:xfrm>
          <a:prstGeom prst="rect">
            <a:avLst/>
          </a:prstGeom>
          <a:noFill/>
        </p:spPr>
        <p:txBody>
          <a:bodyPr wrap="square" rtlCol="0">
            <a:spAutoFit/>
          </a:bodyPr>
          <a:lstStyle/>
          <a:p>
            <a:r>
              <a:rPr lang="en-US" sz="5000" dirty="0">
                <a:solidFill>
                  <a:schemeClr val="bg1"/>
                </a:solidFill>
                <a:latin typeface="JetBrains Mono Medium" panose="02000009000000000000" pitchFamily="49" charset="0"/>
                <a:cs typeface="JetBrains Mono Medium" panose="02000009000000000000" pitchFamily="49" charset="0"/>
              </a:rPr>
              <a:t>3</a:t>
            </a:r>
          </a:p>
        </p:txBody>
      </p:sp>
      <p:sp>
        <p:nvSpPr>
          <p:cNvPr id="29" name="TextBox 28">
            <a:extLst>
              <a:ext uri="{FF2B5EF4-FFF2-40B4-BE49-F238E27FC236}">
                <a16:creationId xmlns:a16="http://schemas.microsoft.com/office/drawing/2014/main" id="{B91F2F32-8715-44D0-B4C9-70E8C2432B18}"/>
              </a:ext>
            </a:extLst>
          </p:cNvPr>
          <p:cNvSpPr txBox="1"/>
          <p:nvPr/>
        </p:nvSpPr>
        <p:spPr>
          <a:xfrm>
            <a:off x="5037895" y="3060173"/>
            <a:ext cx="854786" cy="1015663"/>
          </a:xfrm>
          <a:prstGeom prst="rect">
            <a:avLst/>
          </a:prstGeom>
          <a:solidFill>
            <a:schemeClr val="tx1"/>
          </a:solidFill>
        </p:spPr>
        <p:txBody>
          <a:bodyPr wrap="square" rtlCol="0">
            <a:spAutoFit/>
          </a:bodyPr>
          <a:lstStyle/>
          <a:p>
            <a:r>
              <a:rPr lang="en-US" sz="6000" dirty="0">
                <a:solidFill>
                  <a:schemeClr val="bg1"/>
                </a:solidFill>
                <a:latin typeface="JetBrains Mono Light" panose="02000009000000000000" pitchFamily="49" charset="0"/>
                <a:cs typeface="JetBrains Mono Light" panose="02000009000000000000" pitchFamily="49" charset="0"/>
                <a:sym typeface="Wingdings" panose="05000000000000000000" pitchFamily="2" charset="2"/>
              </a:rPr>
              <a:t></a:t>
            </a:r>
            <a:endParaRPr lang="en-US" sz="6000" dirty="0">
              <a:solidFill>
                <a:schemeClr val="bg1"/>
              </a:solidFill>
              <a:latin typeface="JetBrains Mono Light" panose="02000009000000000000" pitchFamily="49" charset="0"/>
              <a:cs typeface="JetBrains Mono Light" panose="02000009000000000000" pitchFamily="49" charset="0"/>
            </a:endParaRPr>
          </a:p>
        </p:txBody>
      </p:sp>
      <p:sp>
        <p:nvSpPr>
          <p:cNvPr id="14" name="TextBox 13">
            <a:extLst>
              <a:ext uri="{FF2B5EF4-FFF2-40B4-BE49-F238E27FC236}">
                <a16:creationId xmlns:a16="http://schemas.microsoft.com/office/drawing/2014/main" id="{BE10B9E9-15EB-49AE-9C6B-ED21C7E2F9B0}"/>
              </a:ext>
            </a:extLst>
          </p:cNvPr>
          <p:cNvSpPr txBox="1"/>
          <p:nvPr/>
        </p:nvSpPr>
        <p:spPr>
          <a:xfrm>
            <a:off x="4734121" y="3053854"/>
            <a:ext cx="1579594" cy="1015663"/>
          </a:xfrm>
          <a:prstGeom prst="rect">
            <a:avLst/>
          </a:prstGeom>
          <a:solidFill>
            <a:schemeClr val="tx1"/>
          </a:solidFill>
        </p:spPr>
        <p:txBody>
          <a:bodyPr wrap="square" rtlCol="0">
            <a:spAutoFit/>
          </a:bodyPr>
          <a:lstStyle/>
          <a:p>
            <a:r>
              <a:rPr lang="en-US" sz="6000" dirty="0">
                <a:solidFill>
                  <a:schemeClr val="bg1"/>
                </a:solidFill>
                <a:latin typeface="JetBrains Mono Light" panose="02000009000000000000" pitchFamily="49" charset="0"/>
                <a:cs typeface="JetBrains Mono Light" panose="02000009000000000000" pitchFamily="49" charset="0"/>
              </a:rPr>
              <a:t>END</a:t>
            </a:r>
          </a:p>
        </p:txBody>
      </p:sp>
    </p:spTree>
    <p:extLst>
      <p:ext uri="{BB962C8B-B14F-4D97-AF65-F5344CB8AC3E}">
        <p14:creationId xmlns:p14="http://schemas.microsoft.com/office/powerpoint/2010/main" val="21784108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accel="50000" decel="50000" autoRev="1" fill="hold" grpId="0" nodeType="withEffect">
                                  <p:stCondLst>
                                    <p:cond delay="0"/>
                                  </p:stCondLst>
                                  <p:childTnLst>
                                    <p:animMotion origin="layout" path="M 1.66667E-6 -4.07407E-6 L 0.00039 0.01181 " pathEditMode="relative" rAng="0" ptsTypes="AA">
                                      <p:cBhvr>
                                        <p:cTn id="6" dur="2000" fill="hold"/>
                                        <p:tgtEl>
                                          <p:spTgt spid="40"/>
                                        </p:tgtEl>
                                        <p:attrNameLst>
                                          <p:attrName>ppt_x</p:attrName>
                                          <p:attrName>ppt_y</p:attrName>
                                        </p:attrNameLst>
                                      </p:cBhvr>
                                      <p:rCtr x="13" y="579"/>
                                    </p:animMotion>
                                  </p:childTnLst>
                                </p:cTn>
                              </p:par>
                              <p:par>
                                <p:cTn id="7" presetID="42" presetClass="path" presetSubtype="0" repeatCount="indefinite" accel="22000" decel="78000" autoRev="1" fill="hold" grpId="0" nodeType="withEffect">
                                  <p:stCondLst>
                                    <p:cond delay="0"/>
                                  </p:stCondLst>
                                  <p:childTnLst>
                                    <p:animMotion origin="layout" path="M 8.33333E-7 -3.7037E-7 L 8.33333E-7 0.12315 " pathEditMode="relative" rAng="0" ptsTypes="AA">
                                      <p:cBhvr>
                                        <p:cTn id="8" dur="2000" fill="hold"/>
                                        <p:tgtEl>
                                          <p:spTgt spid="46"/>
                                        </p:tgtEl>
                                        <p:attrNameLst>
                                          <p:attrName>ppt_x</p:attrName>
                                          <p:attrName>ppt_y</p:attrName>
                                        </p:attrNameLst>
                                      </p:cBhvr>
                                      <p:rCtr x="0" y="6157"/>
                                    </p:animMotion>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xit" presetSubtype="0" fill="hold" grpId="1" nodeType="withEffect">
                                  <p:stCondLst>
                                    <p:cond delay="100"/>
                                  </p:stCondLst>
                                  <p:childTnLst>
                                    <p:set>
                                      <p:cBhvr>
                                        <p:cTn id="12" dur="1" fill="hold">
                                          <p:stCondLst>
                                            <p:cond delay="0"/>
                                          </p:stCondLst>
                                        </p:cTn>
                                        <p:tgtEl>
                                          <p:spTgt spid="8"/>
                                        </p:tgtEl>
                                        <p:attrNameLst>
                                          <p:attrName>style.visibility</p:attrName>
                                        </p:attrNameLst>
                                      </p:cBhvr>
                                      <p:to>
                                        <p:strVal val="hidden"/>
                                      </p:to>
                                    </p:set>
                                  </p:childTnLst>
                                </p:cTn>
                              </p:par>
                              <p:par>
                                <p:cTn id="13" presetID="1" presetClass="entr" presetSubtype="0" fill="hold" grpId="2" nodeType="withEffect">
                                  <p:stCondLst>
                                    <p:cond delay="20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xit" presetSubtype="0" fill="hold" grpId="3" nodeType="withEffect">
                                  <p:stCondLst>
                                    <p:cond delay="300"/>
                                  </p:stCondLst>
                                  <p:childTnLst>
                                    <p:set>
                                      <p:cBhvr>
                                        <p:cTn id="16" dur="1" fill="hold">
                                          <p:stCondLst>
                                            <p:cond delay="0"/>
                                          </p:stCondLst>
                                        </p:cTn>
                                        <p:tgtEl>
                                          <p:spTgt spid="8"/>
                                        </p:tgtEl>
                                        <p:attrNameLst>
                                          <p:attrName>style.visibility</p:attrName>
                                        </p:attrNameLst>
                                      </p:cBhvr>
                                      <p:to>
                                        <p:strVal val="hidden"/>
                                      </p:to>
                                    </p:set>
                                  </p:childTnLst>
                                </p:cTn>
                              </p:par>
                              <p:par>
                                <p:cTn id="17" presetID="1" presetClass="entr" presetSubtype="0" fill="hold" grpId="4" nodeType="withEffect">
                                  <p:stCondLst>
                                    <p:cond delay="500"/>
                                  </p:stCondLst>
                                  <p:childTnLst>
                                    <p:set>
                                      <p:cBhvr>
                                        <p:cTn id="18" dur="1" fill="hold">
                                          <p:stCondLst>
                                            <p:cond delay="0"/>
                                          </p:stCondLst>
                                        </p:cTn>
                                        <p:tgtEl>
                                          <p:spTgt spid="8"/>
                                        </p:tgtEl>
                                        <p:attrNameLst>
                                          <p:attrName>style.visibility</p:attrName>
                                        </p:attrNameLst>
                                      </p:cBhvr>
                                      <p:to>
                                        <p:strVal val="visible"/>
                                      </p:to>
                                    </p:set>
                                  </p:childTnLst>
                                </p:cTn>
                              </p:par>
                              <p:par>
                                <p:cTn id="19" presetID="42" presetClass="path" presetSubtype="0" accel="12000" decel="88000" fill="hold" grpId="0" nodeType="withEffect">
                                  <p:stCondLst>
                                    <p:cond delay="500"/>
                                  </p:stCondLst>
                                  <p:childTnLst>
                                    <p:animMotion origin="layout" path="M 0.0004 -0.00764 L -0.00013 0.43634 " pathEditMode="relative" rAng="0" ptsTypes="AA">
                                      <p:cBhvr>
                                        <p:cTn id="20" dur="1100" fill="hold"/>
                                        <p:tgtEl>
                                          <p:spTgt spid="10"/>
                                        </p:tgtEl>
                                        <p:attrNameLst>
                                          <p:attrName>ppt_x</p:attrName>
                                          <p:attrName>ppt_y</p:attrName>
                                        </p:attrNameLst>
                                      </p:cBhvr>
                                      <p:rCtr x="-26" y="22199"/>
                                    </p:animMotion>
                                  </p:childTnLst>
                                </p:cTn>
                              </p:par>
                              <p:par>
                                <p:cTn id="21" presetID="1" presetClass="entr" presetSubtype="0" fill="hold" grpId="0" nodeType="withEffect">
                                  <p:stCondLst>
                                    <p:cond delay="160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170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180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190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200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210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220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xit" presetSubtype="0" fill="hold" grpId="1" nodeType="withEffect">
                                  <p:stCondLst>
                                    <p:cond delay="2300"/>
                                  </p:stCondLst>
                                  <p:childTnLst>
                                    <p:set>
                                      <p:cBhvr>
                                        <p:cTn id="36" dur="1" fill="hold">
                                          <p:stCondLst>
                                            <p:cond delay="0"/>
                                          </p:stCondLst>
                                        </p:cTn>
                                        <p:tgtEl>
                                          <p:spTgt spid="21"/>
                                        </p:tgtEl>
                                        <p:attrNameLst>
                                          <p:attrName>style.visibility</p:attrName>
                                        </p:attrNameLst>
                                      </p:cBhvr>
                                      <p:to>
                                        <p:strVal val="hidden"/>
                                      </p:to>
                                    </p:set>
                                  </p:childTnLst>
                                </p:cTn>
                              </p:par>
                              <p:par>
                                <p:cTn id="37" presetID="1" presetClass="exit" presetSubtype="0" fill="hold" grpId="1" nodeType="withEffect">
                                  <p:stCondLst>
                                    <p:cond delay="2400"/>
                                  </p:stCondLst>
                                  <p:childTnLst>
                                    <p:set>
                                      <p:cBhvr>
                                        <p:cTn id="38" dur="1" fill="hold">
                                          <p:stCondLst>
                                            <p:cond delay="0"/>
                                          </p:stCondLst>
                                        </p:cTn>
                                        <p:tgtEl>
                                          <p:spTgt spid="22"/>
                                        </p:tgtEl>
                                        <p:attrNameLst>
                                          <p:attrName>style.visibility</p:attrName>
                                        </p:attrNameLst>
                                      </p:cBhvr>
                                      <p:to>
                                        <p:strVal val="hidden"/>
                                      </p:to>
                                    </p:set>
                                  </p:childTnLst>
                                </p:cTn>
                              </p:par>
                              <p:par>
                                <p:cTn id="39" presetID="1" presetClass="exit" presetSubtype="0" fill="hold" grpId="1" nodeType="withEffect">
                                  <p:stCondLst>
                                    <p:cond delay="2500"/>
                                  </p:stCondLst>
                                  <p:childTnLst>
                                    <p:set>
                                      <p:cBhvr>
                                        <p:cTn id="40" dur="1" fill="hold">
                                          <p:stCondLst>
                                            <p:cond delay="0"/>
                                          </p:stCondLst>
                                        </p:cTn>
                                        <p:tgtEl>
                                          <p:spTgt spid="23"/>
                                        </p:tgtEl>
                                        <p:attrNameLst>
                                          <p:attrName>style.visibility</p:attrName>
                                        </p:attrNameLst>
                                      </p:cBhvr>
                                      <p:to>
                                        <p:strVal val="hidden"/>
                                      </p:to>
                                    </p:set>
                                  </p:childTnLst>
                                </p:cTn>
                              </p:par>
                              <p:par>
                                <p:cTn id="41" presetID="1" presetClass="exit" presetSubtype="0" fill="hold" grpId="1" nodeType="withEffect">
                                  <p:stCondLst>
                                    <p:cond delay="2600"/>
                                  </p:stCondLst>
                                  <p:childTnLst>
                                    <p:set>
                                      <p:cBhvr>
                                        <p:cTn id="42" dur="1" fill="hold">
                                          <p:stCondLst>
                                            <p:cond delay="0"/>
                                          </p:stCondLst>
                                        </p:cTn>
                                        <p:tgtEl>
                                          <p:spTgt spid="24"/>
                                        </p:tgtEl>
                                        <p:attrNameLst>
                                          <p:attrName>style.visibility</p:attrName>
                                        </p:attrNameLst>
                                      </p:cBhvr>
                                      <p:to>
                                        <p:strVal val="hidden"/>
                                      </p:to>
                                    </p:set>
                                  </p:childTnLst>
                                </p:cTn>
                              </p:par>
                              <p:par>
                                <p:cTn id="43" presetID="1" presetClass="exit" presetSubtype="0" fill="hold" grpId="1" nodeType="withEffect">
                                  <p:stCondLst>
                                    <p:cond delay="2700"/>
                                  </p:stCondLst>
                                  <p:childTnLst>
                                    <p:set>
                                      <p:cBhvr>
                                        <p:cTn id="44" dur="1" fill="hold">
                                          <p:stCondLst>
                                            <p:cond delay="0"/>
                                          </p:stCondLst>
                                        </p:cTn>
                                        <p:tgtEl>
                                          <p:spTgt spid="25"/>
                                        </p:tgtEl>
                                        <p:attrNameLst>
                                          <p:attrName>style.visibility</p:attrName>
                                        </p:attrNameLst>
                                      </p:cBhvr>
                                      <p:to>
                                        <p:strVal val="hidden"/>
                                      </p:to>
                                    </p:set>
                                  </p:childTnLst>
                                </p:cTn>
                              </p:par>
                              <p:par>
                                <p:cTn id="45" presetID="1" presetClass="exit" presetSubtype="0" fill="hold" grpId="1" nodeType="withEffect">
                                  <p:stCondLst>
                                    <p:cond delay="2800"/>
                                  </p:stCondLst>
                                  <p:childTnLst>
                                    <p:set>
                                      <p:cBhvr>
                                        <p:cTn id="46" dur="1" fill="hold">
                                          <p:stCondLst>
                                            <p:cond delay="0"/>
                                          </p:stCondLst>
                                        </p:cTn>
                                        <p:tgtEl>
                                          <p:spTgt spid="26"/>
                                        </p:tgtEl>
                                        <p:attrNameLst>
                                          <p:attrName>style.visibility</p:attrName>
                                        </p:attrNameLst>
                                      </p:cBhvr>
                                      <p:to>
                                        <p:strVal val="hidden"/>
                                      </p:to>
                                    </p:set>
                                  </p:childTnLst>
                                </p:cTn>
                              </p:par>
                              <p:par>
                                <p:cTn id="47" presetID="1" presetClass="exit" presetSubtype="0" fill="hold" grpId="1" nodeType="withEffect">
                                  <p:stCondLst>
                                    <p:cond delay="2900"/>
                                  </p:stCondLst>
                                  <p:childTnLst>
                                    <p:set>
                                      <p:cBhvr>
                                        <p:cTn id="48" dur="1" fill="hold">
                                          <p:stCondLst>
                                            <p:cond delay="0"/>
                                          </p:stCondLst>
                                        </p:cTn>
                                        <p:tgtEl>
                                          <p:spTgt spid="27"/>
                                        </p:tgtEl>
                                        <p:attrNameLst>
                                          <p:attrName>style.visibility</p:attrName>
                                        </p:attrNameLst>
                                      </p:cBhvr>
                                      <p:to>
                                        <p:strVal val="hidden"/>
                                      </p:to>
                                    </p:set>
                                  </p:childTnLst>
                                </p:cTn>
                              </p:par>
                              <p:par>
                                <p:cTn id="49" presetID="1" presetClass="entr" presetSubtype="0" fill="hold" grpId="0" nodeType="withEffect">
                                  <p:stCondLst>
                                    <p:cond delay="3300"/>
                                  </p:stCondLst>
                                  <p:childTnLst>
                                    <p:set>
                                      <p:cBhvr>
                                        <p:cTn id="50" dur="1" fill="hold">
                                          <p:stCondLst>
                                            <p:cond delay="0"/>
                                          </p:stCondLst>
                                        </p:cTn>
                                        <p:tgtEl>
                                          <p:spTgt spid="14"/>
                                        </p:tgtEl>
                                        <p:attrNameLst>
                                          <p:attrName>style.visibility</p:attrName>
                                        </p:attrNameLst>
                                      </p:cBhvr>
                                      <p:to>
                                        <p:strVal val="visible"/>
                                      </p:to>
                                    </p:set>
                                  </p:childTnLst>
                                </p:cTn>
                              </p:par>
                              <p:par>
                                <p:cTn id="51" presetID="1" presetClass="entr" presetSubtype="0" fill="hold" grpId="0" nodeType="withEffect">
                                  <p:stCondLst>
                                    <p:cond delay="3300"/>
                                  </p:stCondLst>
                                  <p:childTnLst>
                                    <p:set>
                                      <p:cBhvr>
                                        <p:cTn id="52" dur="1" fill="hold">
                                          <p:stCondLst>
                                            <p:cond delay="0"/>
                                          </p:stCondLst>
                                        </p:cTn>
                                        <p:tgtEl>
                                          <p:spTgt spid="29"/>
                                        </p:tgtEl>
                                        <p:attrNameLst>
                                          <p:attrName>style.visibility</p:attrName>
                                        </p:attrNameLst>
                                      </p:cBhvr>
                                      <p:to>
                                        <p:strVal val="visible"/>
                                      </p:to>
                                    </p:set>
                                  </p:childTnLst>
                                </p:cTn>
                              </p:par>
                              <p:par>
                                <p:cTn id="53" presetID="35" presetClass="path" presetSubtype="0" accel="9000" decel="91000" fill="hold" grpId="1" nodeType="withEffect">
                                  <p:stCondLst>
                                    <p:cond delay="3600"/>
                                  </p:stCondLst>
                                  <p:childTnLst>
                                    <p:animMotion origin="layout" path="M -4.79167E-6 -2.96296E-6 L -0.03632 -2.96296E-6 " pathEditMode="relative" rAng="0" ptsTypes="AA">
                                      <p:cBhvr>
                                        <p:cTn id="54" dur="1000" fill="hold"/>
                                        <p:tgtEl>
                                          <p:spTgt spid="14"/>
                                        </p:tgtEl>
                                        <p:attrNameLst>
                                          <p:attrName>ppt_x</p:attrName>
                                          <p:attrName>ppt_y</p:attrName>
                                        </p:attrNameLst>
                                      </p:cBhvr>
                                      <p:rCtr x="-1823" y="0"/>
                                    </p:animMotion>
                                  </p:childTnLst>
                                </p:cTn>
                              </p:par>
                              <p:par>
                                <p:cTn id="55" presetID="35" presetClass="path" presetSubtype="0" accel="10000" decel="90000" fill="hold" grpId="1" nodeType="withEffect">
                                  <p:stCondLst>
                                    <p:cond delay="3500"/>
                                  </p:stCondLst>
                                  <p:childTnLst>
                                    <p:animMotion origin="layout" path="M 2.91667E-6 1.11111E-6 L 0.06849 -0.00093 " pathEditMode="relative" rAng="0" ptsTypes="AA">
                                      <p:cBhvr>
                                        <p:cTn id="56" dur="1100" fill="hold"/>
                                        <p:tgtEl>
                                          <p:spTgt spid="29"/>
                                        </p:tgtEl>
                                        <p:attrNameLst>
                                          <p:attrName>ppt_x</p:attrName>
                                          <p:attrName>ppt_y</p:attrName>
                                        </p:attrNameLst>
                                      </p:cBhvr>
                                      <p:rCtr x="3424" y="-4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6" grpId="0" animBg="1"/>
      <p:bldP spid="10" grpId="0"/>
      <p:bldP spid="8" grpId="0" animBg="1"/>
      <p:bldP spid="8" grpId="1" animBg="1"/>
      <p:bldP spid="8" grpId="2" animBg="1"/>
      <p:bldP spid="8" grpId="3" animBg="1"/>
      <p:bldP spid="8" grpId="4" animBg="1"/>
      <p:bldP spid="21" grpId="0"/>
      <p:bldP spid="21" grpId="1"/>
      <p:bldP spid="22" grpId="0"/>
      <p:bldP spid="22" grpId="1"/>
      <p:bldP spid="23" grpId="0"/>
      <p:bldP spid="23" grpId="1"/>
      <p:bldP spid="24" grpId="0"/>
      <p:bldP spid="24" grpId="1"/>
      <p:bldP spid="25" grpId="0"/>
      <p:bldP spid="25" grpId="1"/>
      <p:bldP spid="26" grpId="0"/>
      <p:bldP spid="26" grpId="1"/>
      <p:bldP spid="27" grpId="0"/>
      <p:bldP spid="27" grpId="1"/>
      <p:bldP spid="29" grpId="0" animBg="1"/>
      <p:bldP spid="29" grpId="1" animBg="1"/>
      <p:bldP spid="14" grpId="0" animBg="1"/>
      <p:bldP spid="14" grpId="1"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CE58971FB684E47B66BE8E116C7BCEB" ma:contentTypeVersion="2" ma:contentTypeDescription="Create a new document." ma:contentTypeScope="" ma:versionID="96111d80c9534e66ff33fdfe7855808c">
  <xsd:schema xmlns:xsd="http://www.w3.org/2001/XMLSchema" xmlns:xs="http://www.w3.org/2001/XMLSchema" xmlns:p="http://schemas.microsoft.com/office/2006/metadata/properties" xmlns:ns3="6943fcc6-fa1e-47ca-b972-cd2fceb77c75" targetNamespace="http://schemas.microsoft.com/office/2006/metadata/properties" ma:root="true" ma:fieldsID="7b8ed3212c330266378f0401f8933ba3" ns3:_="">
    <xsd:import namespace="6943fcc6-fa1e-47ca-b972-cd2fceb77c75"/>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943fcc6-fa1e-47ca-b972-cd2fceb77c7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CF2CF8B-3850-4306-8905-3CE9E701C8F4}">
  <ds:schemaRefs>
    <ds:schemaRef ds:uri="http://schemas.openxmlformats.org/package/2006/metadata/core-properties"/>
    <ds:schemaRef ds:uri="http://schemas.microsoft.com/office/2006/metadata/properties"/>
    <ds:schemaRef ds:uri="http://purl.org/dc/dcmitype/"/>
    <ds:schemaRef ds:uri="http://www.w3.org/XML/1998/namespace"/>
    <ds:schemaRef ds:uri="http://schemas.microsoft.com/office/2006/documentManagement/types"/>
    <ds:schemaRef ds:uri="http://purl.org/dc/terms/"/>
    <ds:schemaRef ds:uri="6943fcc6-fa1e-47ca-b972-cd2fceb77c75"/>
    <ds:schemaRef ds:uri="http://schemas.microsoft.com/office/infopath/2007/PartnerControls"/>
    <ds:schemaRef ds:uri="http://purl.org/dc/elements/1.1/"/>
  </ds:schemaRefs>
</ds:datastoreItem>
</file>

<file path=customXml/itemProps2.xml><?xml version="1.0" encoding="utf-8"?>
<ds:datastoreItem xmlns:ds="http://schemas.openxmlformats.org/officeDocument/2006/customXml" ds:itemID="{9D64E048-6261-4B6A-9961-9BF3E1276A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943fcc6-fa1e-47ca-b972-cd2fceb77c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970647-057C-4956-BAB7-734EAD2D839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2330</TotalTime>
  <Words>7307</Words>
  <Application>Microsoft Office PowerPoint</Application>
  <PresentationFormat>Widescreen</PresentationFormat>
  <Paragraphs>1640</Paragraphs>
  <Slides>53</Slides>
  <Notes>8</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53</vt:i4>
      </vt:variant>
    </vt:vector>
  </HeadingPairs>
  <TitlesOfParts>
    <vt:vector size="68" baseType="lpstr">
      <vt:lpstr>Whitney</vt:lpstr>
      <vt:lpstr>Arial</vt:lpstr>
      <vt:lpstr>Calibri</vt:lpstr>
      <vt:lpstr>Calibri Light</vt:lpstr>
      <vt:lpstr>Cambria Math</vt:lpstr>
      <vt:lpstr>JetBrains Mono</vt:lpstr>
      <vt:lpstr>JetBrains Mono ExtraLight</vt:lpstr>
      <vt:lpstr>JetBrains Mono Light</vt:lpstr>
      <vt:lpstr>JetBrains Mono Medium</vt:lpstr>
      <vt:lpstr>JetBrains Mono Regular</vt:lpstr>
      <vt:lpstr>JetBrains Mono Thin</vt:lpstr>
      <vt:lpstr>Symbol</vt:lpstr>
      <vt:lpstr>Times New Roman</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Chu trình Hamilton</vt:lpstr>
      <vt:lpstr>3 Quy tắc tìm một chu trình Hamilton.</vt:lpstr>
      <vt:lpstr>Chu trình Euler 1 Đồ thị Euler</vt:lpstr>
      <vt:lpstr>PowerPoint Presentation</vt:lpstr>
      <vt:lpstr>3 Định lý</vt:lpstr>
      <vt:lpstr>Luồng trong mạng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Phạm Trung Hiếu - 66CS1</dc:creator>
  <cp:lastModifiedBy>Phạm Trung Hiếu - 66CS1</cp:lastModifiedBy>
  <cp:revision>34</cp:revision>
  <dcterms:created xsi:type="dcterms:W3CDTF">2021-11-06T14:09:02Z</dcterms:created>
  <dcterms:modified xsi:type="dcterms:W3CDTF">2021-11-15T15:16:21Z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0x0101007CE58971FB684E47B66BE8E116C7BCEB</vt:lpwstr>
  </property>
</Properties>
</file>