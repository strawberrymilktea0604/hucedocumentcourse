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29"/>
  </p:notesMasterIdLst>
  <p:handoutMasterIdLst>
    <p:handoutMasterId r:id="rId30"/>
  </p:handoutMasterIdLst>
  <p:sldIdLst>
    <p:sldId id="324" r:id="rId2"/>
    <p:sldId id="259" r:id="rId3"/>
    <p:sldId id="260" r:id="rId4"/>
    <p:sldId id="261" r:id="rId5"/>
    <p:sldId id="262" r:id="rId6"/>
    <p:sldId id="263" r:id="rId7"/>
    <p:sldId id="264" r:id="rId8"/>
    <p:sldId id="32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</p:sldIdLst>
  <p:sldSz cx="10287000" cy="6858000" type="35mm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902B"/>
    <a:srgbClr val="BA2212"/>
    <a:srgbClr val="EE1A4C"/>
    <a:srgbClr val="000099"/>
    <a:srgbClr val="FFBDDE"/>
    <a:srgbClr val="FFCCCC"/>
    <a:srgbClr val="FFCCFF"/>
    <a:srgbClr val="0809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7" autoAdjust="0"/>
    <p:restoredTop sz="81753" autoAdjust="0"/>
  </p:normalViewPr>
  <p:slideViewPr>
    <p:cSldViewPr>
      <p:cViewPr varScale="1">
        <p:scale>
          <a:sx n="72" d="100"/>
          <a:sy n="72" d="100"/>
        </p:scale>
        <p:origin x="-1824" y="-77"/>
      </p:cViewPr>
      <p:guideLst>
        <p:guide orient="horz" pos="2160"/>
        <p:guide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3930"/>
    </p:cViewPr>
  </p:sorterViewPr>
  <p:notesViewPr>
    <p:cSldViewPr>
      <p:cViewPr varScale="1">
        <p:scale>
          <a:sx n="38" d="100"/>
          <a:sy n="38" d="100"/>
        </p:scale>
        <p:origin x="-1590" y="-90"/>
      </p:cViewPr>
      <p:guideLst>
        <p:guide orient="horz" pos="2304"/>
        <p:guide pos="30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363" y="0"/>
            <a:ext cx="41608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8488"/>
            <a:ext cx="4160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363" y="6948488"/>
            <a:ext cx="4160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</a:defRPr>
            </a:lvl1pPr>
          </a:lstStyle>
          <a:p>
            <a:fld id="{9FB05F6A-398C-455D-BE8A-CDE75FC5BBF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200">
                <a:latin typeface="Tahoma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363" y="0"/>
            <a:ext cx="41608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200">
                <a:latin typeface="Tahoma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43200" y="547688"/>
            <a:ext cx="4114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3" y="3475038"/>
            <a:ext cx="7038975" cy="329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200">
                <a:latin typeface="Tahoma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363" y="6948488"/>
            <a:ext cx="4160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200">
                <a:latin typeface="Tahoma" pitchFamily="34" charset="0"/>
              </a:defRPr>
            </a:lvl1pPr>
          </a:lstStyle>
          <a:p>
            <a:fld id="{077C5485-9747-4CF4-B9B9-77ADA2DD22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12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5pPr>
    <a:lvl6pPr marL="2285740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875" y="1122363"/>
            <a:ext cx="7715250" cy="2387600"/>
          </a:xfrm>
        </p:spPr>
        <p:txBody>
          <a:bodyPr anchor="b"/>
          <a:lstStyle>
            <a:lvl1pPr algn="ctr">
              <a:defRPr sz="50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3602038"/>
            <a:ext cx="7715250" cy="1655762"/>
          </a:xfrm>
        </p:spPr>
        <p:txBody>
          <a:bodyPr/>
          <a:lstStyle>
            <a:lvl1pPr marL="0" indent="0" algn="ctr">
              <a:buNone/>
              <a:defRPr sz="2025"/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B53E1D-A0B1-4171-ABED-667787C30A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012" y="404665"/>
            <a:ext cx="8874125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018" y="1340768"/>
            <a:ext cx="8907119" cy="47525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EEBBBD-F88C-4D0A-B00C-08302391C972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C51A7-BEEA-471D-933F-7E35BC04A3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3" y="1709739"/>
            <a:ext cx="8872538" cy="2852737"/>
          </a:xfrm>
        </p:spPr>
        <p:txBody>
          <a:bodyPr anchor="b"/>
          <a:lstStyle>
            <a:lvl1pPr>
              <a:defRPr sz="50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3" y="4589464"/>
            <a:ext cx="8872538" cy="1500187"/>
          </a:xfrm>
        </p:spPr>
        <p:txBody>
          <a:bodyPr/>
          <a:lstStyle>
            <a:lvl1pPr marL="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1pPr>
            <a:lvl2pPr marL="38578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771571" indent="0">
              <a:buNone/>
              <a:defRPr sz="1519">
                <a:solidFill>
                  <a:schemeClr val="tx1">
                    <a:tint val="75000"/>
                  </a:schemeClr>
                </a:solidFill>
              </a:defRPr>
            </a:lvl3pPr>
            <a:lvl4pPr marL="115735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54314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192892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31471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270049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0862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D9EDF6-B61E-473A-9275-BAC1BDA0029B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B2AA1-AEA7-40B9-AD8E-776A8F6897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1825625"/>
            <a:ext cx="43719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1825625"/>
            <a:ext cx="43719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FBD08F-42E1-467C-8482-6F32381C3348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EFCDD-D768-4613-87BA-5A10354114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365126"/>
            <a:ext cx="887253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1" y="1681163"/>
            <a:ext cx="4351883" cy="823912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1" y="2505075"/>
            <a:ext cx="435188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1681163"/>
            <a:ext cx="4373315" cy="823912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2505075"/>
            <a:ext cx="43733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E18D6-E874-45EF-BDE1-3F1C6A343A99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B50A5-30BD-43BB-AD4F-B4E94F8C7D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F168BB-F8B5-4B60-A2D9-15D6AAE85ECB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9E71C2-40FC-46B0-9F54-054079C07F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DEA76D-4E6C-45C2-96AE-CD5B5C8A3520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EBE714-6393-4BF3-9D63-6DB1C693A1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2" y="457200"/>
            <a:ext cx="3317825" cy="1600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987426"/>
            <a:ext cx="5207794" cy="4873625"/>
          </a:xfrm>
        </p:spPr>
        <p:txBody>
          <a:bodyPr/>
          <a:lstStyle>
            <a:lvl1pPr>
              <a:defRPr sz="2700"/>
            </a:lvl1pPr>
            <a:lvl2pPr>
              <a:defRPr sz="2363"/>
            </a:lvl2pPr>
            <a:lvl3pPr>
              <a:defRPr sz="2025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2" y="2057400"/>
            <a:ext cx="3317825" cy="3811588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F56404-7C0A-4A70-80C7-58B4E18C2E79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71977B-8A15-43E3-BB9A-6FACCCB6FD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2" y="457200"/>
            <a:ext cx="3317825" cy="1600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73315" y="987426"/>
            <a:ext cx="5207794" cy="4873625"/>
          </a:xfrm>
        </p:spPr>
        <p:txBody>
          <a:bodyPr rtlCol="0">
            <a:normAutofit/>
          </a:bodyPr>
          <a:lstStyle>
            <a:lvl1pPr marL="0" indent="0">
              <a:buNone/>
              <a:defRPr sz="2700"/>
            </a:lvl1pPr>
            <a:lvl2pPr marL="385785" indent="0">
              <a:buNone/>
              <a:defRPr sz="2363"/>
            </a:lvl2pPr>
            <a:lvl3pPr marL="771571" indent="0">
              <a:buNone/>
              <a:defRPr sz="2025"/>
            </a:lvl3pPr>
            <a:lvl4pPr marL="1157356" indent="0">
              <a:buNone/>
              <a:defRPr sz="1688"/>
            </a:lvl4pPr>
            <a:lvl5pPr marL="1543141" indent="0">
              <a:buNone/>
              <a:defRPr sz="1688"/>
            </a:lvl5pPr>
            <a:lvl6pPr marL="1928927" indent="0">
              <a:buNone/>
              <a:defRPr sz="1688"/>
            </a:lvl6pPr>
            <a:lvl7pPr marL="2314712" indent="0">
              <a:buNone/>
              <a:defRPr sz="1688"/>
            </a:lvl7pPr>
            <a:lvl8pPr marL="2700498" indent="0">
              <a:buNone/>
              <a:defRPr sz="1688"/>
            </a:lvl8pPr>
            <a:lvl9pPr marL="3086283" indent="0">
              <a:buNone/>
              <a:defRPr sz="16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2" y="2057400"/>
            <a:ext cx="3317825" cy="3811588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15D99E-F75E-417A-B6DD-B1DB5382627C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88D9EC-88E8-42BE-9803-E404DECFA4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19DB2C-0737-4180-B000-8EBA7417F610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0F31E5-861C-45F9-89E8-388DE9690F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365125"/>
            <a:ext cx="2218134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1" y="365125"/>
            <a:ext cx="652581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34FEE0-FC62-4A35-BD96-9CA27BB140EB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D42D-A0F9-49AA-A49A-5E2A0AE1E1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06438" y="365125"/>
            <a:ext cx="8874125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06438" y="1825625"/>
            <a:ext cx="8874125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6438" y="6356350"/>
            <a:ext cx="2314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898989"/>
                </a:solidFill>
              </a:defRPr>
            </a:lvl1pPr>
          </a:lstStyle>
          <a:p>
            <a:fld id="{B21F9BC8-E4BD-4D0E-B6BB-10632FDE541F}" type="datetimeFigureOut">
              <a:rPr lang="en-US"/>
              <a:pPr/>
              <a:t>10/14/2021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363" y="6356350"/>
            <a:ext cx="347186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988" y="6356350"/>
            <a:ext cx="2314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898989"/>
                </a:solidFill>
              </a:defRPr>
            </a:lvl1pPr>
          </a:lstStyle>
          <a:p>
            <a:fld id="{96B54179-4137-4CBB-A5F3-054D60058EF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hf hdr="0" ftr="0" dt="0"/>
  <p:txStyles>
    <p:titleStyle>
      <a:lvl1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2pPr>
      <a:lvl3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3pPr>
      <a:lvl4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4pPr>
      <a:lvl5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5pPr>
      <a:lvl6pPr marL="4572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6pPr>
      <a:lvl7pPr marL="9144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7pPr>
      <a:lvl8pPr marL="13716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8pPr>
      <a:lvl9pPr marL="18288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9pPr>
    </p:titleStyle>
    <p:bodyStyle>
      <a:lvl1pPr marL="192088" indent="-192088" algn="l" defTabSz="771525" rtl="0" eaLnBrk="0" fontAlgn="base" hangingPunct="0">
        <a:lnSpc>
          <a:spcPct val="90000"/>
        </a:lnSpc>
        <a:spcBef>
          <a:spcPts val="850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63613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49375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35138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21819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507605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893390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279176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hongph@nuce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ademy.com/learn/python" TargetMode="External"/><Relationship Id="rId2" Type="http://schemas.openxmlformats.org/officeDocument/2006/relationships/hyperlink" Target="https://learnpythonthehardway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pythontutor.com/" TargetMode="External"/><Relationship Id="rId5" Type="http://schemas.openxmlformats.org/officeDocument/2006/relationships/hyperlink" Target="https://www.codementor.io/learn-python-online" TargetMode="External"/><Relationship Id="rId4" Type="http://schemas.openxmlformats.org/officeDocument/2006/relationships/hyperlink" Target="https://teamtreehouse.com/learn-to-code/python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615109" y="1556222"/>
            <a:ext cx="7344816" cy="223281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800" dirty="0">
                <a:latin typeface="Arial"/>
                <a:cs typeface="Arial"/>
              </a:rPr>
              <a:t>GIỚI THIỆU VỀ KHOA HỌC MÁY TÍNH</a:t>
            </a:r>
            <a:r>
              <a:rPr lang="en-US" sz="4000" dirty="0">
                <a:solidFill>
                  <a:srgbClr val="FF0000"/>
                </a:solidFill>
                <a:ea typeface="MS PGothic" pitchFamily="34" charset="-128"/>
              </a:rPr>
              <a:t/>
            </a:r>
            <a:br>
              <a:rPr lang="en-US" sz="4000" dirty="0">
                <a:solidFill>
                  <a:srgbClr val="FF0000"/>
                </a:solidFill>
                <a:ea typeface="MS PGothic" pitchFamily="34" charset="-128"/>
              </a:rPr>
            </a:br>
            <a:r>
              <a:rPr lang="en-US" sz="4000" b="1" dirty="0" smtClean="0">
                <a:solidFill>
                  <a:srgbClr val="C00000"/>
                </a:solidFill>
                <a:ea typeface="MS PGothic" pitchFamily="34" charset="-128"/>
              </a:rPr>
              <a:t>CHƯƠNG 2</a:t>
            </a:r>
            <a:r>
              <a:rPr lang="en-US" altLang="en-US" sz="4000" b="1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/>
            </a:r>
            <a:br>
              <a:rPr lang="en-US" altLang="en-US" sz="4000" b="1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</a:br>
            <a:r>
              <a:rPr lang="en-US" altLang="en-US" sz="4000" b="1" dirty="0" err="1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Giới</a:t>
            </a:r>
            <a:r>
              <a:rPr lang="en-US" altLang="en-US" sz="4000" b="1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4000" b="1" dirty="0" err="1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thiệu</a:t>
            </a:r>
            <a:r>
              <a:rPr lang="en-US" altLang="en-US" sz="4000" b="1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4000" b="1" dirty="0" err="1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về</a:t>
            </a:r>
            <a:r>
              <a:rPr lang="en-US" altLang="en-US" sz="4000" b="1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 Python</a:t>
            </a:r>
            <a:endParaRPr lang="en-US" sz="4000" b="1" dirty="0">
              <a:solidFill>
                <a:srgbClr val="C00000"/>
              </a:solidFill>
              <a:ea typeface="MS PGothic" pitchFamily="34" charset="-128"/>
            </a:endParaRPr>
          </a:p>
        </p:txBody>
      </p:sp>
      <p:sp>
        <p:nvSpPr>
          <p:cNvPr id="15362" name="Rectangle 22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74EA467-8A07-4E6F-9E13-CD60ADF26F12}" type="slidenum">
              <a:rPr lang="en-US" sz="1200">
                <a:solidFill>
                  <a:schemeClr val="tx1"/>
                </a:solidFill>
              </a:rPr>
              <a:pPr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3186400" y="620688"/>
            <a:ext cx="4117340" cy="84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1600" b="1" spc="-5" dirty="0" smtClean="0">
                <a:latin typeface="Times New Roman"/>
                <a:cs typeface="Times New Roman"/>
              </a:rPr>
              <a:t>TRƯỜNG </a:t>
            </a:r>
            <a:r>
              <a:rPr sz="1600" b="1" spc="-5" dirty="0">
                <a:latin typeface="Times New Roman"/>
                <a:cs typeface="Times New Roman"/>
              </a:rPr>
              <a:t>ĐẠI </a:t>
            </a:r>
            <a:r>
              <a:rPr sz="1600" b="1" spc="-10" dirty="0">
                <a:latin typeface="Times New Roman"/>
                <a:cs typeface="Times New Roman"/>
              </a:rPr>
              <a:t>HỌC </a:t>
            </a:r>
            <a:r>
              <a:rPr lang="en-US" sz="1600" b="1" spc="-15" dirty="0" smtClean="0">
                <a:latin typeface="Times New Roman"/>
                <a:cs typeface="Times New Roman"/>
              </a:rPr>
              <a:t>XÂY DỰNG HÀ NỘI</a:t>
            </a:r>
          </a:p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lang="en-US" sz="1600" b="1" spc="-15" dirty="0" smtClean="0">
                <a:latin typeface="Times New Roman"/>
                <a:cs typeface="Times New Roman"/>
              </a:rPr>
              <a:t>BỘ MÔN KHOA HỌC MÁY TÍNH</a:t>
            </a:r>
            <a:endParaRPr sz="16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1600" b="1" i="1" dirty="0">
                <a:latin typeface="Times New Roman"/>
                <a:cs typeface="Times New Roman"/>
              </a:rPr>
              <a:t>--------------------------------------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4135388" y="4581128"/>
            <a:ext cx="2318385" cy="810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b="1" i="1" spc="-5" dirty="0" err="1" smtClean="0">
                <a:latin typeface="Times New Roman"/>
                <a:cs typeface="Times New Roman"/>
              </a:rPr>
              <a:t>Phạm</a:t>
            </a:r>
            <a:r>
              <a:rPr lang="en-US" b="1" i="1" spc="-5" dirty="0" smtClean="0">
                <a:latin typeface="Times New Roman"/>
                <a:cs typeface="Times New Roman"/>
              </a:rPr>
              <a:t> </a:t>
            </a:r>
            <a:r>
              <a:rPr lang="en-US" b="1" i="1" spc="-5" dirty="0" err="1" smtClean="0">
                <a:latin typeface="Times New Roman"/>
                <a:cs typeface="Times New Roman"/>
              </a:rPr>
              <a:t>Hồng</a:t>
            </a:r>
            <a:r>
              <a:rPr lang="en-US" b="1" i="1" spc="-5" dirty="0" smtClean="0">
                <a:latin typeface="Times New Roman"/>
                <a:cs typeface="Times New Roman"/>
              </a:rPr>
              <a:t> </a:t>
            </a:r>
            <a:r>
              <a:rPr lang="en-US" b="1" i="1" spc="-5" dirty="0" err="1" smtClean="0">
                <a:latin typeface="Times New Roman"/>
                <a:cs typeface="Times New Roman"/>
              </a:rPr>
              <a:t>Phong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lang="en-US" sz="1400" i="1" dirty="0" smtClean="0">
                <a:latin typeface="Times New Roman"/>
                <a:cs typeface="Times New Roman"/>
                <a:hlinkClick r:id="rId2"/>
              </a:rPr>
              <a:t>phongph@nuce.edu.vn</a:t>
            </a:r>
            <a:endParaRPr lang="en-US" sz="1400" i="1" dirty="0" smtClean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24339" y="1772816"/>
            <a:ext cx="9404566" cy="1631236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377728" indent="-342900">
              <a:spcBef>
                <a:spcPts val="2034"/>
              </a:spcBef>
              <a:buFont typeface="Arial" pitchFamily="34" charset="0"/>
              <a:buChar char="•"/>
              <a:tabLst>
                <a:tab pos="324167" algn="l"/>
                <a:tab pos="325238" algn="l"/>
              </a:tabLst>
            </a:pPr>
            <a:r>
              <a:rPr lang="en-US" sz="2400" dirty="0" err="1" smtClean="0">
                <a:latin typeface="+mn-lt"/>
              </a:rPr>
              <a:t>Giới</a:t>
            </a:r>
            <a:r>
              <a:rPr lang="en-US" sz="2400" dirty="0" smtClean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thiệu </a:t>
            </a:r>
            <a:r>
              <a:rPr lang="en-US" sz="2400" dirty="0" err="1">
                <a:latin typeface="+mn-lt"/>
              </a:rPr>
              <a:t>về</a:t>
            </a:r>
            <a:r>
              <a:rPr sz="2400" dirty="0">
                <a:latin typeface="+mn-lt"/>
              </a:rPr>
              <a:t> </a:t>
            </a:r>
            <a:r>
              <a:rPr sz="2400" dirty="0" smtClean="0">
                <a:latin typeface="+mn-lt"/>
              </a:rPr>
              <a:t>Python</a:t>
            </a:r>
            <a:endParaRPr lang="en-US" sz="2400" dirty="0" smtClean="0">
              <a:latin typeface="+mn-lt"/>
            </a:endParaRPr>
          </a:p>
          <a:p>
            <a:pPr marL="377728" indent="-342900">
              <a:spcBef>
                <a:spcPts val="2034"/>
              </a:spcBef>
              <a:buFont typeface="Arial" pitchFamily="34" charset="0"/>
              <a:buChar char="•"/>
              <a:tabLst>
                <a:tab pos="324167" algn="l"/>
                <a:tab pos="325238" algn="l"/>
              </a:tabLst>
            </a:pPr>
            <a:r>
              <a:rPr lang="en-US" sz="2400" dirty="0" err="1" smtClean="0">
                <a:latin typeface="+mn-lt"/>
              </a:rPr>
              <a:t>C</a:t>
            </a:r>
            <a:r>
              <a:rPr sz="2400" dirty="0" err="1" smtClean="0">
                <a:latin typeface="+mn-lt"/>
              </a:rPr>
              <a:t>ài</a:t>
            </a:r>
            <a:r>
              <a:rPr sz="2400" dirty="0" smtClean="0">
                <a:latin typeface="+mn-lt"/>
              </a:rPr>
              <a:t> </a:t>
            </a:r>
            <a:r>
              <a:rPr sz="2400" dirty="0" err="1" smtClean="0">
                <a:latin typeface="+mn-lt"/>
              </a:rPr>
              <a:t>đặt</a:t>
            </a:r>
            <a:endParaRPr lang="en-US" sz="2400" dirty="0" smtClean="0">
              <a:latin typeface="+mn-lt"/>
            </a:endParaRPr>
          </a:p>
          <a:p>
            <a:pPr marL="377728" indent="-342900">
              <a:spcBef>
                <a:spcPts val="2034"/>
              </a:spcBef>
              <a:buFont typeface="Arial" pitchFamily="34" charset="0"/>
              <a:buChar char="•"/>
              <a:tabLst>
                <a:tab pos="324167" algn="l"/>
                <a:tab pos="325238" algn="l"/>
              </a:tabLst>
            </a:pPr>
            <a:r>
              <a:rPr lang="en-US" sz="2400" dirty="0" err="1" smtClean="0">
                <a:latin typeface="+mn-lt"/>
              </a:rPr>
              <a:t>C</a:t>
            </a:r>
            <a:r>
              <a:rPr sz="2400" dirty="0" err="1" smtClean="0">
                <a:latin typeface="+mn-lt"/>
              </a:rPr>
              <a:t>ông</a:t>
            </a:r>
            <a:r>
              <a:rPr sz="2400" dirty="0" smtClean="0">
                <a:latin typeface="+mn-lt"/>
              </a:rPr>
              <a:t> </a:t>
            </a:r>
            <a:r>
              <a:rPr sz="2400" dirty="0">
                <a:latin typeface="+mn-lt"/>
              </a:rPr>
              <a:t>cụ </a:t>
            </a:r>
            <a:r>
              <a:rPr sz="2400" dirty="0" err="1">
                <a:latin typeface="+mn-lt"/>
              </a:rPr>
              <a:t>lập</a:t>
            </a:r>
            <a:r>
              <a:rPr sz="2400" dirty="0">
                <a:latin typeface="+mn-lt"/>
              </a:rPr>
              <a:t> </a:t>
            </a:r>
            <a:r>
              <a:rPr sz="2400" dirty="0" err="1" smtClean="0">
                <a:latin typeface="+mn-lt"/>
              </a:rPr>
              <a:t>trình</a:t>
            </a:r>
            <a:r>
              <a:rPr lang="en-US" sz="2400" dirty="0" smtClean="0">
                <a:latin typeface="+mn-lt"/>
              </a:rPr>
              <a:t>: Visual </a:t>
            </a:r>
            <a:r>
              <a:rPr lang="en-US" sz="2400" dirty="0">
                <a:latin typeface="+mn-lt"/>
              </a:rPr>
              <a:t>C</a:t>
            </a:r>
            <a:r>
              <a:rPr lang="en-US" sz="2400" dirty="0" smtClean="0">
                <a:latin typeface="+mn-lt"/>
              </a:rPr>
              <a:t>ode</a:t>
            </a:r>
            <a:endParaRPr sz="2400" dirty="0">
              <a:latin typeface="+mn-l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2</a:t>
            </a:fld>
            <a:endParaRPr spc="122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C9A9BB0C-F219-3647-8BB7-FEC629031AD2}"/>
              </a:ext>
            </a:extLst>
          </p:cNvPr>
          <p:cNvSpPr txBox="1"/>
          <p:nvPr/>
        </p:nvSpPr>
        <p:spPr>
          <a:xfrm>
            <a:off x="718655" y="900009"/>
            <a:ext cx="1616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 err="1">
                <a:solidFill>
                  <a:srgbClr val="C00000"/>
                </a:solidFill>
                <a:latin typeface="+mj-lt"/>
                <a:cs typeface="Times New Roman"/>
              </a:rPr>
              <a:t>Nội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dung</a:t>
            </a:r>
            <a:endParaRPr lang="en-US" sz="3200" b="1" spc="-34" dirty="0">
              <a:solidFill>
                <a:srgbClr val="C00000"/>
              </a:solidFill>
              <a:latin typeface="+mj-lt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465781" y="1484784"/>
            <a:ext cx="9355438" cy="2003389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377728" indent="-342900">
              <a:spcBef>
                <a:spcPts val="2034"/>
              </a:spcBef>
              <a:buFont typeface="Arial" panose="020B0604020202020204" pitchFamily="34" charset="0"/>
              <a:buChar char="•"/>
              <a:tabLst>
                <a:tab pos="324167" algn="l"/>
                <a:tab pos="325238" algn="l"/>
              </a:tabLst>
            </a:pPr>
            <a:r>
              <a:rPr sz="2363" spc="-68" dirty="0" err="1" smtClean="0">
                <a:latin typeface="+mn-lt"/>
                <a:cs typeface="Times New Roman"/>
              </a:rPr>
              <a:t>Giới</a:t>
            </a:r>
            <a:r>
              <a:rPr sz="2363" spc="-55" dirty="0" smtClean="0">
                <a:latin typeface="+mn-lt"/>
                <a:cs typeface="Times New Roman"/>
              </a:rPr>
              <a:t> </a:t>
            </a:r>
            <a:r>
              <a:rPr sz="2363" spc="55" dirty="0">
                <a:latin typeface="+mn-lt"/>
                <a:cs typeface="Times New Roman"/>
              </a:rPr>
              <a:t>thiệu</a:t>
            </a:r>
            <a:r>
              <a:rPr sz="2363" spc="-55" dirty="0">
                <a:latin typeface="+mn-lt"/>
                <a:cs typeface="Times New Roman"/>
              </a:rPr>
              <a:t> </a:t>
            </a:r>
            <a:r>
              <a:rPr sz="2363" spc="55" dirty="0">
                <a:latin typeface="+mn-lt"/>
                <a:cs typeface="Times New Roman"/>
              </a:rPr>
              <a:t>khái</a:t>
            </a:r>
            <a:r>
              <a:rPr sz="2363" spc="-89" dirty="0">
                <a:latin typeface="+mn-lt"/>
                <a:cs typeface="Times New Roman"/>
              </a:rPr>
              <a:t> </a:t>
            </a:r>
            <a:r>
              <a:rPr sz="2363" spc="84" dirty="0">
                <a:latin typeface="+mn-lt"/>
                <a:cs typeface="Times New Roman"/>
              </a:rPr>
              <a:t>quát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25" dirty="0">
                <a:latin typeface="+mn-lt"/>
                <a:cs typeface="Times New Roman"/>
              </a:rPr>
              <a:t>về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38" dirty="0">
                <a:latin typeface="+mn-lt"/>
                <a:cs typeface="Times New Roman"/>
              </a:rPr>
              <a:t>Python</a:t>
            </a:r>
            <a:endParaRPr sz="2363" dirty="0">
              <a:latin typeface="+mn-lt"/>
              <a:cs typeface="Times New Roman"/>
            </a:endParaRPr>
          </a:p>
          <a:p>
            <a:pPr marL="377728" indent="-342900">
              <a:spcBef>
                <a:spcPts val="1418"/>
              </a:spcBef>
              <a:buFont typeface="Arial" panose="020B0604020202020204" pitchFamily="34" charset="0"/>
              <a:buChar char="•"/>
              <a:tabLst>
                <a:tab pos="324167" algn="l"/>
                <a:tab pos="325238" algn="l"/>
              </a:tabLst>
            </a:pPr>
            <a:r>
              <a:rPr sz="2363" spc="-13" dirty="0" err="1" smtClean="0">
                <a:latin typeface="+mn-lt"/>
                <a:cs typeface="Times New Roman"/>
              </a:rPr>
              <a:t>Hiện</a:t>
            </a:r>
            <a:r>
              <a:rPr sz="2363" spc="-55" dirty="0" smtClean="0">
                <a:latin typeface="+mn-lt"/>
                <a:cs typeface="Times New Roman"/>
              </a:rPr>
              <a:t> </a:t>
            </a:r>
            <a:r>
              <a:rPr sz="2363" spc="72" dirty="0">
                <a:latin typeface="+mn-lt"/>
                <a:cs typeface="Times New Roman"/>
              </a:rPr>
              <a:t>trạng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72" dirty="0">
                <a:latin typeface="+mn-lt"/>
                <a:cs typeface="Times New Roman"/>
              </a:rPr>
              <a:t>sử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63" dirty="0">
                <a:latin typeface="+mn-lt"/>
                <a:cs typeface="Times New Roman"/>
              </a:rPr>
              <a:t>dụng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38" dirty="0">
                <a:latin typeface="+mn-lt"/>
                <a:cs typeface="Times New Roman"/>
              </a:rPr>
              <a:t>Python</a:t>
            </a:r>
            <a:r>
              <a:rPr sz="2363" spc="-38" dirty="0">
                <a:latin typeface="+mn-lt"/>
                <a:cs typeface="Times New Roman"/>
              </a:rPr>
              <a:t> </a:t>
            </a:r>
            <a:r>
              <a:rPr sz="2363" spc="68" dirty="0">
                <a:latin typeface="+mn-lt"/>
                <a:cs typeface="Times New Roman"/>
              </a:rPr>
              <a:t>làm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51" dirty="0">
                <a:latin typeface="+mn-lt"/>
                <a:cs typeface="Times New Roman"/>
              </a:rPr>
              <a:t>ngôn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96" dirty="0">
                <a:latin typeface="+mn-lt"/>
                <a:cs typeface="Times New Roman"/>
              </a:rPr>
              <a:t>ngữ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42" dirty="0">
                <a:latin typeface="+mn-lt"/>
                <a:cs typeface="Times New Roman"/>
              </a:rPr>
              <a:t>đào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68" dirty="0">
                <a:latin typeface="+mn-lt"/>
                <a:cs typeface="Times New Roman"/>
              </a:rPr>
              <a:t>tạo</a:t>
            </a:r>
            <a:r>
              <a:rPr sz="2363" spc="-51" dirty="0">
                <a:latin typeface="+mn-lt"/>
                <a:cs typeface="Times New Roman"/>
              </a:rPr>
              <a:t> </a:t>
            </a:r>
            <a:r>
              <a:rPr sz="2363" spc="68" dirty="0">
                <a:latin typeface="+mn-lt"/>
                <a:cs typeface="Times New Roman"/>
              </a:rPr>
              <a:t>trên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76" dirty="0">
                <a:latin typeface="+mn-lt"/>
                <a:cs typeface="Times New Roman"/>
              </a:rPr>
              <a:t>thế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25" dirty="0">
                <a:latin typeface="+mn-lt"/>
                <a:cs typeface="Times New Roman"/>
              </a:rPr>
              <a:t>giới</a:t>
            </a:r>
            <a:endParaRPr sz="2363" dirty="0">
              <a:latin typeface="+mn-lt"/>
              <a:cs typeface="Times New Roman"/>
            </a:endParaRPr>
          </a:p>
          <a:p>
            <a:pPr marL="377728" indent="-342900">
              <a:spcBef>
                <a:spcPts val="1422"/>
              </a:spcBef>
              <a:buFont typeface="Arial" panose="020B0604020202020204" pitchFamily="34" charset="0"/>
              <a:buChar char="•"/>
              <a:tabLst>
                <a:tab pos="324167" algn="l"/>
                <a:tab pos="325238" algn="l"/>
              </a:tabLst>
            </a:pPr>
            <a:r>
              <a:rPr sz="2363" spc="-101" dirty="0" err="1" smtClean="0">
                <a:latin typeface="+mn-lt"/>
                <a:cs typeface="Times New Roman"/>
              </a:rPr>
              <a:t>Các</a:t>
            </a:r>
            <a:r>
              <a:rPr sz="2363" spc="-72" dirty="0" smtClean="0">
                <a:latin typeface="+mn-lt"/>
                <a:cs typeface="Times New Roman"/>
              </a:rPr>
              <a:t> </a:t>
            </a:r>
            <a:r>
              <a:rPr sz="2363" spc="55" dirty="0">
                <a:latin typeface="+mn-lt"/>
                <a:cs typeface="Times New Roman"/>
              </a:rPr>
              <a:t>tài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55" dirty="0">
                <a:latin typeface="+mn-lt"/>
                <a:cs typeface="Times New Roman"/>
              </a:rPr>
              <a:t>nguyên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13" dirty="0">
                <a:latin typeface="+mn-lt"/>
                <a:cs typeface="Times New Roman"/>
              </a:rPr>
              <a:t>học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13" dirty="0">
                <a:latin typeface="+mn-lt"/>
                <a:cs typeface="Times New Roman"/>
              </a:rPr>
              <a:t>liệu</a:t>
            </a:r>
            <a:r>
              <a:rPr sz="2363" spc="-55" dirty="0">
                <a:latin typeface="+mn-lt"/>
                <a:cs typeface="Times New Roman"/>
              </a:rPr>
              <a:t> </a:t>
            </a:r>
            <a:r>
              <a:rPr sz="2363" spc="38" dirty="0">
                <a:latin typeface="+mn-lt"/>
                <a:cs typeface="Times New Roman"/>
              </a:rPr>
              <a:t>và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21" dirty="0">
                <a:latin typeface="+mn-lt"/>
                <a:cs typeface="Times New Roman"/>
              </a:rPr>
              <a:t>công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25" dirty="0">
                <a:latin typeface="+mn-lt"/>
                <a:cs typeface="Times New Roman"/>
              </a:rPr>
              <a:t>cụ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lập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63" dirty="0">
                <a:latin typeface="+mn-lt"/>
                <a:cs typeface="Times New Roman"/>
              </a:rPr>
              <a:t>trình</a:t>
            </a:r>
            <a:r>
              <a:rPr sz="2363" spc="-59" dirty="0">
                <a:latin typeface="+mn-lt"/>
                <a:cs typeface="Times New Roman"/>
              </a:rPr>
              <a:t> </a:t>
            </a:r>
            <a:r>
              <a:rPr sz="2363" spc="38" dirty="0">
                <a:latin typeface="+mn-lt"/>
                <a:cs typeface="Times New Roman"/>
              </a:rPr>
              <a:t>Python</a:t>
            </a:r>
            <a:endParaRPr sz="2363" dirty="0">
              <a:latin typeface="+mn-lt"/>
              <a:cs typeface="Times New Roman"/>
            </a:endParaRPr>
          </a:p>
          <a:p>
            <a:pPr marL="377728" indent="-342900">
              <a:spcBef>
                <a:spcPts val="1418"/>
              </a:spcBef>
              <a:buFont typeface="Arial" panose="020B0604020202020204" pitchFamily="34" charset="0"/>
              <a:buChar char="•"/>
              <a:tabLst>
                <a:tab pos="324167" algn="l"/>
                <a:tab pos="325238" algn="l"/>
              </a:tabLst>
            </a:pPr>
            <a:r>
              <a:rPr sz="2363" spc="-21" dirty="0" err="1" smtClean="0">
                <a:latin typeface="+mn-lt"/>
                <a:cs typeface="Times New Roman"/>
              </a:rPr>
              <a:t>Kết</a:t>
            </a:r>
            <a:r>
              <a:rPr sz="2363" spc="-105" dirty="0" smtClean="0">
                <a:latin typeface="+mn-lt"/>
                <a:cs typeface="Times New Roman"/>
              </a:rPr>
              <a:t> </a:t>
            </a:r>
            <a:r>
              <a:rPr sz="2363" spc="46" dirty="0">
                <a:latin typeface="+mn-lt"/>
                <a:cs typeface="Times New Roman"/>
              </a:rPr>
              <a:t>luận</a:t>
            </a:r>
            <a:endParaRPr sz="2363" dirty="0">
              <a:latin typeface="+mn-lt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3</a:t>
            </a:fld>
            <a:endParaRPr spc="122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3D6E56A-F847-B24B-A8C2-6F9635EF1536}"/>
              </a:ext>
            </a:extLst>
          </p:cNvPr>
          <p:cNvSpPr txBox="1"/>
          <p:nvPr/>
        </p:nvSpPr>
        <p:spPr>
          <a:xfrm>
            <a:off x="424339" y="476672"/>
            <a:ext cx="4370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§1 -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Giới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thiệu </a:t>
            </a:r>
            <a:r>
              <a:rPr lang="en-US" sz="3200" b="1" spc="-34" dirty="0" err="1">
                <a:solidFill>
                  <a:srgbClr val="C00000"/>
                </a:solidFill>
                <a:latin typeface="+mj-lt"/>
                <a:cs typeface="Times New Roman"/>
              </a:rPr>
              <a:t>về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Python</a:t>
            </a:r>
            <a:endParaRPr lang="en-US" sz="3200" b="1" spc="-34" dirty="0">
              <a:solidFill>
                <a:srgbClr val="C00000"/>
              </a:solidFill>
              <a:latin typeface="+mj-lt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24339" y="1287841"/>
            <a:ext cx="9510653" cy="4391507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300055" marR="558317" indent="-289339">
              <a:spcBef>
                <a:spcPts val="485"/>
              </a:spcBef>
              <a:buFont typeface="Wingdings"/>
              <a:buChar char=""/>
              <a:tabLst>
                <a:tab pos="300055" algn="l"/>
              </a:tabLst>
            </a:pPr>
            <a:r>
              <a:rPr lang="vi-VN" sz="2025" spc="72" dirty="0" smtClean="0">
                <a:cs typeface="Times New Roman"/>
              </a:rPr>
              <a:t>Python </a:t>
            </a:r>
            <a:r>
              <a:rPr lang="vi-VN" sz="2025" spc="34" dirty="0">
                <a:cs typeface="Times New Roman"/>
              </a:rPr>
              <a:t>là </a:t>
            </a:r>
            <a:r>
              <a:rPr lang="vi-VN" sz="2025" spc="93" dirty="0">
                <a:cs typeface="Times New Roman"/>
              </a:rPr>
              <a:t>một </a:t>
            </a:r>
            <a:r>
              <a:rPr lang="vi-VN" sz="2025" spc="68" dirty="0">
                <a:cs typeface="Times New Roman"/>
              </a:rPr>
              <a:t>ngôn </a:t>
            </a:r>
            <a:r>
              <a:rPr lang="vi-VN" sz="2025" spc="84" dirty="0">
                <a:cs typeface="Times New Roman"/>
              </a:rPr>
              <a:t>ngữ </a:t>
            </a:r>
            <a:r>
              <a:rPr lang="vi-VN" sz="2025" spc="59" dirty="0">
                <a:cs typeface="Times New Roman"/>
              </a:rPr>
              <a:t>lập </a:t>
            </a:r>
            <a:r>
              <a:rPr lang="vi-VN" sz="2025" spc="93" dirty="0">
                <a:cs typeface="Times New Roman"/>
              </a:rPr>
              <a:t>trình </a:t>
            </a:r>
            <a:r>
              <a:rPr lang="vi-VN" sz="2025" spc="76" dirty="0">
                <a:cs typeface="Times New Roman"/>
              </a:rPr>
              <a:t>năng </a:t>
            </a:r>
            <a:r>
              <a:rPr lang="vi-VN" sz="2025" spc="68" dirty="0">
                <a:cs typeface="Times New Roman"/>
              </a:rPr>
              <a:t>động </a:t>
            </a:r>
            <a:r>
              <a:rPr lang="vi-VN" sz="2025" spc="34" dirty="0">
                <a:cs typeface="Times New Roman"/>
              </a:rPr>
              <a:t>với </a:t>
            </a:r>
            <a:r>
              <a:rPr lang="vi-VN" sz="2025" spc="80" dirty="0">
                <a:cs typeface="Times New Roman"/>
              </a:rPr>
              <a:t>nhiều tính </a:t>
            </a:r>
            <a:r>
              <a:rPr lang="vi-VN" sz="2025" spc="76" dirty="0">
                <a:cs typeface="Times New Roman"/>
              </a:rPr>
              <a:t>năng </a:t>
            </a:r>
            <a:r>
              <a:rPr lang="vi-VN" sz="2025" spc="93" dirty="0">
                <a:cs typeface="Times New Roman"/>
              </a:rPr>
              <a:t>được </a:t>
            </a:r>
            <a:r>
              <a:rPr lang="vi-VN" sz="2025" spc="122" dirty="0">
                <a:cs typeface="Times New Roman"/>
              </a:rPr>
              <a:t>sử </a:t>
            </a:r>
            <a:r>
              <a:rPr lang="vi-VN" sz="2025" spc="80" dirty="0">
                <a:cs typeface="Times New Roman"/>
              </a:rPr>
              <a:t>dụng</a:t>
            </a:r>
            <a:r>
              <a:rPr lang="vi-VN" sz="2025" spc="-59" dirty="0">
                <a:cs typeface="Times New Roman"/>
              </a:rPr>
              <a:t> </a:t>
            </a:r>
            <a:r>
              <a:rPr lang="vi-VN" sz="2025" spc="80" dirty="0">
                <a:cs typeface="Times New Roman"/>
              </a:rPr>
              <a:t>trong</a:t>
            </a:r>
            <a:r>
              <a:rPr lang="vi-VN" sz="2025" dirty="0">
                <a:cs typeface="Times New Roman"/>
              </a:rPr>
              <a:t> </a:t>
            </a:r>
            <a:r>
              <a:rPr lang="vi-VN" sz="2025" spc="93" dirty="0">
                <a:cs typeface="Times New Roman"/>
              </a:rPr>
              <a:t>một</a:t>
            </a:r>
            <a:r>
              <a:rPr lang="vi-VN" sz="2025" spc="-63" dirty="0">
                <a:cs typeface="Times New Roman"/>
              </a:rPr>
              <a:t> </a:t>
            </a:r>
            <a:r>
              <a:rPr lang="vi-VN" sz="2025" spc="59" dirty="0">
                <a:cs typeface="Times New Roman"/>
              </a:rPr>
              <a:t>loạt</a:t>
            </a:r>
            <a:r>
              <a:rPr lang="vi-VN" sz="2025" spc="-59" dirty="0">
                <a:cs typeface="Times New Roman"/>
              </a:rPr>
              <a:t> </a:t>
            </a:r>
            <a:r>
              <a:rPr lang="vi-VN" sz="2025" spc="25" dirty="0">
                <a:cs typeface="Times New Roman"/>
              </a:rPr>
              <a:t>các</a:t>
            </a:r>
            <a:r>
              <a:rPr lang="vi-VN" sz="2025" spc="-55" dirty="0">
                <a:cs typeface="Times New Roman"/>
              </a:rPr>
              <a:t> </a:t>
            </a:r>
            <a:r>
              <a:rPr lang="vi-VN" sz="2025" spc="89" dirty="0">
                <a:cs typeface="Times New Roman"/>
              </a:rPr>
              <a:t>ứng</a:t>
            </a:r>
            <a:r>
              <a:rPr lang="vi-VN" sz="2025" spc="-72" dirty="0">
                <a:cs typeface="Times New Roman"/>
              </a:rPr>
              <a:t> </a:t>
            </a:r>
            <a:r>
              <a:rPr lang="vi-VN" sz="2025" spc="42" dirty="0">
                <a:cs typeface="Times New Roman"/>
              </a:rPr>
              <a:t>dụng.</a:t>
            </a:r>
            <a:endParaRPr lang="en-US" sz="2025" spc="72" dirty="0">
              <a:latin typeface="+mn-lt"/>
              <a:cs typeface="Times New Roman"/>
            </a:endParaRPr>
          </a:p>
          <a:p>
            <a:pPr marL="300055" marR="558317" indent="-289339">
              <a:spcBef>
                <a:spcPts val="485"/>
              </a:spcBef>
              <a:buFont typeface="Wingdings"/>
              <a:buChar char=""/>
              <a:tabLst>
                <a:tab pos="300055" algn="l"/>
              </a:tabLst>
            </a:pPr>
            <a:r>
              <a:rPr sz="2025" spc="8" dirty="0" err="1" smtClean="0">
                <a:latin typeface="+mn-lt"/>
                <a:cs typeface="Times New Roman"/>
              </a:rPr>
              <a:t>Một</a:t>
            </a:r>
            <a:r>
              <a:rPr sz="2025" spc="-51" dirty="0" smtClean="0">
                <a:latin typeface="+mn-lt"/>
                <a:cs typeface="Times New Roman"/>
              </a:rPr>
              <a:t> </a:t>
            </a:r>
            <a:r>
              <a:rPr sz="2025" spc="17" dirty="0">
                <a:latin typeface="+mn-lt"/>
                <a:cs typeface="Times New Roman"/>
              </a:rPr>
              <a:t>vài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80" dirty="0">
                <a:latin typeface="+mn-lt"/>
                <a:cs typeface="Times New Roman"/>
              </a:rPr>
              <a:t>tính  </a:t>
            </a:r>
            <a:r>
              <a:rPr sz="2025" spc="76" dirty="0">
                <a:latin typeface="+mn-lt"/>
                <a:cs typeface="Times New Roman"/>
              </a:rPr>
              <a:t>năng</a:t>
            </a:r>
            <a:r>
              <a:rPr sz="2025" spc="-76" dirty="0">
                <a:latin typeface="+mn-lt"/>
                <a:cs typeface="Times New Roman"/>
              </a:rPr>
              <a:t> </a:t>
            </a:r>
            <a:r>
              <a:rPr sz="2025" spc="63" dirty="0">
                <a:latin typeface="+mn-lt"/>
                <a:cs typeface="Times New Roman"/>
              </a:rPr>
              <a:t>đặc</a:t>
            </a:r>
            <a:r>
              <a:rPr sz="2025" spc="-59" dirty="0">
                <a:latin typeface="+mn-lt"/>
                <a:cs typeface="Times New Roman"/>
              </a:rPr>
              <a:t> </a:t>
            </a:r>
            <a:r>
              <a:rPr sz="2025" spc="110" dirty="0">
                <a:latin typeface="+mn-lt"/>
                <a:cs typeface="Times New Roman"/>
              </a:rPr>
              <a:t>trưng</a:t>
            </a:r>
            <a:r>
              <a:rPr sz="2025" spc="-84" dirty="0">
                <a:latin typeface="+mn-lt"/>
                <a:cs typeface="Times New Roman"/>
              </a:rPr>
              <a:t> </a:t>
            </a:r>
            <a:r>
              <a:rPr sz="2025" spc="59" dirty="0">
                <a:latin typeface="+mn-lt"/>
                <a:cs typeface="Times New Roman"/>
              </a:rPr>
              <a:t>của</a:t>
            </a:r>
            <a:r>
              <a:rPr sz="2025" spc="-55" dirty="0">
                <a:latin typeface="+mn-lt"/>
                <a:cs typeface="Times New Roman"/>
              </a:rPr>
              <a:t> </a:t>
            </a:r>
            <a:r>
              <a:rPr sz="2025" spc="89" dirty="0">
                <a:latin typeface="+mn-lt"/>
                <a:cs typeface="Times New Roman"/>
              </a:rPr>
              <a:t>nó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30" dirty="0">
                <a:latin typeface="+mn-lt"/>
                <a:cs typeface="Times New Roman"/>
              </a:rPr>
              <a:t>gồm:</a:t>
            </a:r>
            <a:endParaRPr sz="2025" dirty="0">
              <a:latin typeface="+mn-lt"/>
              <a:cs typeface="Times New Roman"/>
            </a:endParaRPr>
          </a:p>
          <a:p>
            <a:pPr marL="755668" lvl="1" indent="-289339">
              <a:spcBef>
                <a:spcPts val="489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025" spc="-59" dirty="0">
                <a:latin typeface="+mn-lt"/>
                <a:cs typeface="Times New Roman"/>
              </a:rPr>
              <a:t>Cú</a:t>
            </a:r>
            <a:r>
              <a:rPr sz="2025" spc="-80" dirty="0">
                <a:latin typeface="+mn-lt"/>
                <a:cs typeface="Times New Roman"/>
              </a:rPr>
              <a:t> </a:t>
            </a:r>
            <a:r>
              <a:rPr sz="2025" spc="101" dirty="0" err="1">
                <a:latin typeface="+mn-lt"/>
                <a:cs typeface="Times New Roman"/>
              </a:rPr>
              <a:t>pháp</a:t>
            </a:r>
            <a:r>
              <a:rPr sz="2025" spc="-55" dirty="0">
                <a:latin typeface="+mn-lt"/>
                <a:cs typeface="Times New Roman"/>
              </a:rPr>
              <a:t> </a:t>
            </a:r>
            <a:r>
              <a:rPr sz="2025" spc="84" dirty="0" err="1" smtClean="0">
                <a:latin typeface="+mn-lt"/>
                <a:cs typeface="Times New Roman"/>
              </a:rPr>
              <a:t>trong</a:t>
            </a:r>
            <a:r>
              <a:rPr sz="2025" spc="-80" dirty="0" smtClean="0">
                <a:latin typeface="+mn-lt"/>
                <a:cs typeface="Times New Roman"/>
              </a:rPr>
              <a:t> </a:t>
            </a:r>
            <a:r>
              <a:rPr sz="2025" spc="34" dirty="0">
                <a:latin typeface="+mn-lt"/>
                <a:cs typeface="Times New Roman"/>
              </a:rPr>
              <a:t>sáng,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96" dirty="0">
                <a:latin typeface="+mn-lt"/>
                <a:cs typeface="Times New Roman"/>
              </a:rPr>
              <a:t>dễ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55" dirty="0">
                <a:latin typeface="+mn-lt"/>
                <a:cs typeface="Times New Roman"/>
              </a:rPr>
              <a:t>đọc</a:t>
            </a:r>
            <a:endParaRPr sz="2025" dirty="0">
              <a:latin typeface="+mn-lt"/>
              <a:cs typeface="Times New Roman"/>
            </a:endParaRPr>
          </a:p>
          <a:p>
            <a:pPr marL="755668" lvl="1" indent="-289339">
              <a:spcBef>
                <a:spcPts val="485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025" spc="59" dirty="0">
                <a:latin typeface="+mn-lt"/>
                <a:cs typeface="Times New Roman"/>
              </a:rPr>
              <a:t>Hướng </a:t>
            </a:r>
            <a:r>
              <a:rPr sz="2025" spc="55" dirty="0">
                <a:latin typeface="+mn-lt"/>
                <a:cs typeface="Times New Roman"/>
              </a:rPr>
              <a:t>đối</a:t>
            </a:r>
            <a:r>
              <a:rPr sz="2025" spc="-198" dirty="0">
                <a:latin typeface="+mn-lt"/>
                <a:cs typeface="Times New Roman"/>
              </a:rPr>
              <a:t> </a:t>
            </a:r>
            <a:r>
              <a:rPr sz="2025" spc="101" dirty="0">
                <a:latin typeface="+mn-lt"/>
                <a:cs typeface="Times New Roman"/>
              </a:rPr>
              <a:t>tượng</a:t>
            </a:r>
            <a:endParaRPr sz="2025" dirty="0">
              <a:latin typeface="+mn-lt"/>
              <a:cs typeface="Times New Roman"/>
            </a:endParaRPr>
          </a:p>
          <a:p>
            <a:pPr marL="755668" lvl="1" indent="-289339">
              <a:spcBef>
                <a:spcPts val="485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025" spc="42" dirty="0">
                <a:latin typeface="+mn-lt"/>
                <a:cs typeface="Times New Roman"/>
              </a:rPr>
              <a:t>Hoàn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93" dirty="0">
                <a:latin typeface="+mn-lt"/>
                <a:cs typeface="Times New Roman"/>
              </a:rPr>
              <a:t>toàn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80" dirty="0">
                <a:latin typeface="+mn-lt"/>
                <a:cs typeface="Times New Roman"/>
              </a:rPr>
              <a:t>mô-đun</a:t>
            </a:r>
            <a:r>
              <a:rPr sz="2025" spc="-42" dirty="0">
                <a:latin typeface="+mn-lt"/>
                <a:cs typeface="Times New Roman"/>
              </a:rPr>
              <a:t> </a:t>
            </a:r>
            <a:r>
              <a:rPr sz="2025" spc="38" dirty="0">
                <a:latin typeface="+mn-lt"/>
                <a:cs typeface="Times New Roman"/>
              </a:rPr>
              <a:t>hóa,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80" dirty="0">
                <a:latin typeface="+mn-lt"/>
                <a:cs typeface="Times New Roman"/>
              </a:rPr>
              <a:t>hỗ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131" dirty="0">
                <a:latin typeface="+mn-lt"/>
                <a:cs typeface="Times New Roman"/>
              </a:rPr>
              <a:t>trợ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25" dirty="0">
                <a:latin typeface="+mn-lt"/>
                <a:cs typeface="Times New Roman"/>
              </a:rPr>
              <a:t>các</a:t>
            </a:r>
            <a:r>
              <a:rPr sz="2025" spc="-55" dirty="0">
                <a:latin typeface="+mn-lt"/>
                <a:cs typeface="Times New Roman"/>
              </a:rPr>
              <a:t> </a:t>
            </a:r>
            <a:r>
              <a:rPr sz="2025" spc="13" dirty="0">
                <a:latin typeface="+mn-lt"/>
                <a:cs typeface="Times New Roman"/>
              </a:rPr>
              <a:t>gói</a:t>
            </a:r>
            <a:r>
              <a:rPr sz="2025" spc="-68" dirty="0">
                <a:latin typeface="+mn-lt"/>
                <a:cs typeface="Times New Roman"/>
              </a:rPr>
              <a:t> </a:t>
            </a:r>
            <a:r>
              <a:rPr sz="2025" spc="89" dirty="0">
                <a:latin typeface="+mn-lt"/>
                <a:cs typeface="Times New Roman"/>
              </a:rPr>
              <a:t>theo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63" dirty="0">
                <a:latin typeface="+mn-lt"/>
                <a:cs typeface="Times New Roman"/>
              </a:rPr>
              <a:t>cấp</a:t>
            </a:r>
            <a:r>
              <a:rPr sz="2025" spc="-51" dirty="0">
                <a:latin typeface="+mn-lt"/>
                <a:cs typeface="Times New Roman"/>
              </a:rPr>
              <a:t> </a:t>
            </a:r>
            <a:r>
              <a:rPr sz="2025" spc="55" dirty="0">
                <a:latin typeface="+mn-lt"/>
                <a:cs typeface="Times New Roman"/>
              </a:rPr>
              <a:t>bậc</a:t>
            </a:r>
            <a:endParaRPr sz="2025" dirty="0">
              <a:latin typeface="+mn-lt"/>
              <a:cs typeface="Times New Roman"/>
            </a:endParaRPr>
          </a:p>
          <a:p>
            <a:pPr marL="755668" lvl="1" indent="-289339">
              <a:spcBef>
                <a:spcPts val="485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025" spc="-93" dirty="0">
                <a:latin typeface="+mn-lt"/>
                <a:cs typeface="Times New Roman"/>
              </a:rPr>
              <a:t>Xử</a:t>
            </a:r>
            <a:r>
              <a:rPr sz="2025" spc="-68" dirty="0">
                <a:latin typeface="+mn-lt"/>
                <a:cs typeface="Times New Roman"/>
              </a:rPr>
              <a:t> </a:t>
            </a:r>
            <a:r>
              <a:rPr sz="2025" spc="-25" dirty="0">
                <a:latin typeface="+mn-lt"/>
                <a:cs typeface="Times New Roman"/>
              </a:rPr>
              <a:t>lý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13" dirty="0">
                <a:latin typeface="+mn-lt"/>
                <a:cs typeface="Times New Roman"/>
              </a:rPr>
              <a:t>lỗi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122" dirty="0">
                <a:latin typeface="+mn-lt"/>
                <a:cs typeface="Times New Roman"/>
              </a:rPr>
              <a:t>dựa</a:t>
            </a:r>
            <a:r>
              <a:rPr sz="2025" spc="-59" dirty="0">
                <a:latin typeface="+mn-lt"/>
                <a:cs typeface="Times New Roman"/>
              </a:rPr>
              <a:t> </a:t>
            </a:r>
            <a:r>
              <a:rPr sz="2025" spc="89" dirty="0">
                <a:latin typeface="+mn-lt"/>
                <a:cs typeface="Times New Roman"/>
              </a:rPr>
              <a:t>theo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46" dirty="0">
                <a:latin typeface="+mn-lt"/>
                <a:cs typeface="Times New Roman"/>
              </a:rPr>
              <a:t>ngoại</a:t>
            </a:r>
            <a:r>
              <a:rPr sz="2025" spc="-76" dirty="0">
                <a:latin typeface="+mn-lt"/>
                <a:cs typeface="Times New Roman"/>
              </a:rPr>
              <a:t> </a:t>
            </a:r>
            <a:r>
              <a:rPr sz="2025" spc="34" dirty="0">
                <a:latin typeface="+mn-lt"/>
                <a:cs typeface="Times New Roman"/>
              </a:rPr>
              <a:t>lệ</a:t>
            </a:r>
            <a:endParaRPr sz="2025" dirty="0">
              <a:latin typeface="+mn-lt"/>
              <a:cs typeface="Times New Roman"/>
            </a:endParaRPr>
          </a:p>
          <a:p>
            <a:pPr marL="755668" lvl="1" indent="-289339">
              <a:spcBef>
                <a:spcPts val="489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025" dirty="0">
                <a:latin typeface="+mn-lt"/>
                <a:cs typeface="Times New Roman"/>
              </a:rPr>
              <a:t>Kiểu</a:t>
            </a:r>
            <a:r>
              <a:rPr sz="2025" spc="-80" dirty="0">
                <a:latin typeface="+mn-lt"/>
                <a:cs typeface="Times New Roman"/>
              </a:rPr>
              <a:t> </a:t>
            </a:r>
            <a:r>
              <a:rPr sz="2025" spc="135" dirty="0">
                <a:latin typeface="+mn-lt"/>
                <a:cs typeface="Times New Roman"/>
              </a:rPr>
              <a:t>dữ</a:t>
            </a:r>
            <a:r>
              <a:rPr sz="2025" spc="-51" dirty="0">
                <a:latin typeface="+mn-lt"/>
                <a:cs typeface="Times New Roman"/>
              </a:rPr>
              <a:t> </a:t>
            </a:r>
            <a:r>
              <a:rPr sz="2025" spc="42" dirty="0">
                <a:latin typeface="+mn-lt"/>
                <a:cs typeface="Times New Roman"/>
              </a:rPr>
              <a:t>liệu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68" dirty="0">
                <a:latin typeface="+mn-lt"/>
                <a:cs typeface="Times New Roman"/>
              </a:rPr>
              <a:t>động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139" dirty="0">
                <a:latin typeface="+mn-lt"/>
                <a:cs typeface="Times New Roman"/>
              </a:rPr>
              <a:t>ở</a:t>
            </a:r>
            <a:r>
              <a:rPr sz="2025" spc="-68" dirty="0">
                <a:latin typeface="+mn-lt"/>
                <a:cs typeface="Times New Roman"/>
              </a:rPr>
              <a:t> </a:t>
            </a:r>
            <a:r>
              <a:rPr sz="2025" spc="80" dirty="0">
                <a:latin typeface="+mn-lt"/>
                <a:cs typeface="Times New Roman"/>
              </a:rPr>
              <a:t>mức</a:t>
            </a:r>
            <a:r>
              <a:rPr sz="2025" spc="-55" dirty="0">
                <a:latin typeface="+mn-lt"/>
                <a:cs typeface="Times New Roman"/>
              </a:rPr>
              <a:t> </a:t>
            </a:r>
            <a:r>
              <a:rPr sz="2025" spc="114" dirty="0">
                <a:latin typeface="+mn-lt"/>
                <a:cs typeface="Times New Roman"/>
              </a:rPr>
              <a:t>rất</a:t>
            </a:r>
            <a:r>
              <a:rPr sz="2025" spc="-68" dirty="0">
                <a:latin typeface="+mn-lt"/>
                <a:cs typeface="Times New Roman"/>
              </a:rPr>
              <a:t> </a:t>
            </a:r>
            <a:r>
              <a:rPr sz="2025" spc="46" dirty="0">
                <a:latin typeface="+mn-lt"/>
                <a:cs typeface="Times New Roman"/>
              </a:rPr>
              <a:t>cao</a:t>
            </a:r>
            <a:endParaRPr sz="2025" dirty="0">
              <a:latin typeface="+mn-lt"/>
              <a:cs typeface="Times New Roman"/>
            </a:endParaRPr>
          </a:p>
          <a:p>
            <a:pPr marL="755668" lvl="1" indent="-289339">
              <a:spcBef>
                <a:spcPts val="485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025" spc="-42" dirty="0">
                <a:latin typeface="+mn-lt"/>
                <a:cs typeface="Times New Roman"/>
              </a:rPr>
              <a:t>Các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127" dirty="0">
                <a:latin typeface="+mn-lt"/>
                <a:cs typeface="Times New Roman"/>
              </a:rPr>
              <a:t>thư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51" dirty="0">
                <a:latin typeface="+mn-lt"/>
                <a:cs typeface="Times New Roman"/>
              </a:rPr>
              <a:t>viện</a:t>
            </a:r>
            <a:r>
              <a:rPr sz="2025" spc="-76" dirty="0">
                <a:latin typeface="+mn-lt"/>
                <a:cs typeface="Times New Roman"/>
              </a:rPr>
              <a:t> </a:t>
            </a:r>
            <a:r>
              <a:rPr sz="2025" spc="76" dirty="0">
                <a:latin typeface="+mn-lt"/>
                <a:cs typeface="Times New Roman"/>
              </a:rPr>
              <a:t>chuẩn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30" dirty="0">
                <a:latin typeface="+mn-lt"/>
                <a:cs typeface="Times New Roman"/>
              </a:rPr>
              <a:t>và</a:t>
            </a:r>
            <a:r>
              <a:rPr sz="2025" spc="-59" dirty="0">
                <a:latin typeface="+mn-lt"/>
                <a:cs typeface="Times New Roman"/>
              </a:rPr>
              <a:t> </a:t>
            </a:r>
            <a:r>
              <a:rPr sz="2025" spc="25" dirty="0">
                <a:latin typeface="+mn-lt"/>
                <a:cs typeface="Times New Roman"/>
              </a:rPr>
              <a:t>các</a:t>
            </a:r>
            <a:r>
              <a:rPr sz="2025" spc="-51" dirty="0">
                <a:latin typeface="+mn-lt"/>
                <a:cs typeface="Times New Roman"/>
              </a:rPr>
              <a:t> </a:t>
            </a:r>
            <a:r>
              <a:rPr sz="2025" spc="80" dirty="0">
                <a:latin typeface="+mn-lt"/>
                <a:cs typeface="Times New Roman"/>
              </a:rPr>
              <a:t>mô-đun</a:t>
            </a:r>
            <a:r>
              <a:rPr sz="2025" spc="-55" dirty="0">
                <a:latin typeface="+mn-lt"/>
                <a:cs typeface="Times New Roman"/>
              </a:rPr>
              <a:t> </a:t>
            </a:r>
            <a:r>
              <a:rPr sz="2025" spc="51" dirty="0">
                <a:latin typeface="+mn-lt"/>
                <a:cs typeface="Times New Roman"/>
              </a:rPr>
              <a:t>ngoài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76" dirty="0">
                <a:latin typeface="+mn-lt"/>
                <a:cs typeface="Times New Roman"/>
              </a:rPr>
              <a:t>bao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96" dirty="0">
                <a:latin typeface="+mn-lt"/>
                <a:cs typeface="Times New Roman"/>
              </a:rPr>
              <a:t>quát</a:t>
            </a:r>
            <a:r>
              <a:rPr sz="2025" spc="-55" dirty="0">
                <a:latin typeface="+mn-lt"/>
                <a:cs typeface="Times New Roman"/>
              </a:rPr>
              <a:t> </a:t>
            </a:r>
            <a:r>
              <a:rPr sz="2025" spc="96" dirty="0">
                <a:latin typeface="+mn-lt"/>
                <a:cs typeface="Times New Roman"/>
              </a:rPr>
              <a:t>hầu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127" dirty="0">
                <a:latin typeface="+mn-lt"/>
                <a:cs typeface="Times New Roman"/>
              </a:rPr>
              <a:t>như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51" dirty="0">
                <a:latin typeface="+mn-lt"/>
                <a:cs typeface="Times New Roman"/>
              </a:rPr>
              <a:t>mọi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21" dirty="0">
                <a:latin typeface="+mn-lt"/>
                <a:cs typeface="Times New Roman"/>
              </a:rPr>
              <a:t>việc</a:t>
            </a:r>
            <a:endParaRPr sz="2025" dirty="0">
              <a:latin typeface="+mn-lt"/>
              <a:cs typeface="Times New Roman"/>
            </a:endParaRPr>
          </a:p>
          <a:p>
            <a:pPr marL="755668" lvl="1" indent="-289339">
              <a:spcBef>
                <a:spcPts val="485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lang="en-US" sz="2025" spc="101" dirty="0" err="1">
                <a:latin typeface="+mn-lt"/>
                <a:cs typeface="Times New Roman"/>
              </a:rPr>
              <a:t>P</a:t>
            </a:r>
            <a:r>
              <a:rPr sz="2025" spc="101" dirty="0" err="1" smtClean="0">
                <a:latin typeface="+mn-lt"/>
                <a:cs typeface="Times New Roman"/>
              </a:rPr>
              <a:t>hần</a:t>
            </a:r>
            <a:r>
              <a:rPr sz="2025" spc="-68" dirty="0" smtClean="0">
                <a:latin typeface="+mn-lt"/>
                <a:cs typeface="Times New Roman"/>
              </a:rPr>
              <a:t> </a:t>
            </a:r>
            <a:r>
              <a:rPr sz="2025" spc="122" dirty="0">
                <a:latin typeface="+mn-lt"/>
                <a:cs typeface="Times New Roman"/>
              </a:rPr>
              <a:t>mở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76" dirty="0">
                <a:latin typeface="+mn-lt"/>
                <a:cs typeface="Times New Roman"/>
              </a:rPr>
              <a:t>rộng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25" dirty="0">
                <a:latin typeface="+mn-lt"/>
                <a:cs typeface="Times New Roman"/>
              </a:rPr>
              <a:t>và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80" dirty="0">
                <a:latin typeface="+mn-lt"/>
                <a:cs typeface="Times New Roman"/>
              </a:rPr>
              <a:t>mô-đun</a:t>
            </a:r>
            <a:r>
              <a:rPr sz="2025" spc="-42" dirty="0">
                <a:latin typeface="+mn-lt"/>
                <a:cs typeface="Times New Roman"/>
              </a:rPr>
              <a:t> </a:t>
            </a:r>
            <a:r>
              <a:rPr sz="2025" spc="96" dirty="0">
                <a:latin typeface="+mn-lt"/>
                <a:cs typeface="Times New Roman"/>
              </a:rPr>
              <a:t>dễ</a:t>
            </a:r>
            <a:r>
              <a:rPr sz="2025" spc="-59" dirty="0">
                <a:latin typeface="+mn-lt"/>
                <a:cs typeface="Times New Roman"/>
              </a:rPr>
              <a:t> </a:t>
            </a:r>
            <a:r>
              <a:rPr sz="2025" spc="76" dirty="0">
                <a:latin typeface="+mn-lt"/>
                <a:cs typeface="Times New Roman"/>
              </a:rPr>
              <a:t>dàng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55" dirty="0">
                <a:latin typeface="+mn-lt"/>
                <a:cs typeface="Times New Roman"/>
              </a:rPr>
              <a:t>viết</a:t>
            </a:r>
            <a:r>
              <a:rPr sz="2025" spc="-80" dirty="0">
                <a:latin typeface="+mn-lt"/>
                <a:cs typeface="Times New Roman"/>
              </a:rPr>
              <a:t> </a:t>
            </a:r>
            <a:r>
              <a:rPr sz="2025" spc="84" dirty="0">
                <a:latin typeface="+mn-lt"/>
                <a:cs typeface="Times New Roman"/>
              </a:rPr>
              <a:t>trong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-152" dirty="0">
                <a:latin typeface="+mn-lt"/>
                <a:cs typeface="Times New Roman"/>
              </a:rPr>
              <a:t>C,</a:t>
            </a:r>
            <a:r>
              <a:rPr sz="2025" spc="-68" dirty="0">
                <a:latin typeface="+mn-lt"/>
                <a:cs typeface="Times New Roman"/>
              </a:rPr>
              <a:t> </a:t>
            </a:r>
            <a:r>
              <a:rPr sz="2025" spc="-84" dirty="0">
                <a:latin typeface="+mn-lt"/>
                <a:cs typeface="Times New Roman"/>
              </a:rPr>
              <a:t>C++,</a:t>
            </a:r>
            <a:r>
              <a:rPr sz="2025" spc="-93" dirty="0">
                <a:latin typeface="+mn-lt"/>
                <a:cs typeface="Times New Roman"/>
              </a:rPr>
              <a:t> </a:t>
            </a:r>
            <a:r>
              <a:rPr sz="2025" spc="21" dirty="0">
                <a:latin typeface="+mn-lt"/>
                <a:cs typeface="Times New Roman"/>
              </a:rPr>
              <a:t>Jython,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72" dirty="0">
                <a:latin typeface="+mn-lt"/>
                <a:cs typeface="Times New Roman"/>
              </a:rPr>
              <a:t>IronPython</a:t>
            </a:r>
            <a:endParaRPr sz="2025" dirty="0">
              <a:latin typeface="+mn-lt"/>
              <a:cs typeface="Times New Roman"/>
            </a:endParaRPr>
          </a:p>
          <a:p>
            <a:pPr marL="755668" lvl="1" indent="-289339">
              <a:spcBef>
                <a:spcPts val="489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025" spc="72" dirty="0">
                <a:latin typeface="+mn-lt"/>
                <a:cs typeface="Times New Roman"/>
              </a:rPr>
              <a:t>Python</a:t>
            </a:r>
            <a:r>
              <a:rPr sz="2025" spc="-76" dirty="0">
                <a:latin typeface="+mn-lt"/>
                <a:cs typeface="Times New Roman"/>
              </a:rPr>
              <a:t> </a:t>
            </a:r>
            <a:r>
              <a:rPr sz="2025" spc="101" dirty="0">
                <a:latin typeface="+mn-lt"/>
                <a:cs typeface="Times New Roman"/>
              </a:rPr>
              <a:t>mạnh</a:t>
            </a:r>
            <a:r>
              <a:rPr sz="2025" spc="-63" dirty="0">
                <a:latin typeface="+mn-lt"/>
                <a:cs typeface="Times New Roman"/>
              </a:rPr>
              <a:t> </a:t>
            </a:r>
            <a:r>
              <a:rPr sz="2025" spc="96" dirty="0">
                <a:latin typeface="+mn-lt"/>
                <a:cs typeface="Times New Roman"/>
              </a:rPr>
              <a:t>mẽ</a:t>
            </a:r>
            <a:r>
              <a:rPr sz="2025" spc="-55" dirty="0">
                <a:latin typeface="+mn-lt"/>
                <a:cs typeface="Times New Roman"/>
              </a:rPr>
              <a:t> </a:t>
            </a:r>
            <a:r>
              <a:rPr sz="2025" spc="25" dirty="0">
                <a:latin typeface="+mn-lt"/>
                <a:cs typeface="Times New Roman"/>
              </a:rPr>
              <a:t>và</a:t>
            </a:r>
            <a:r>
              <a:rPr sz="2025" spc="-72" dirty="0">
                <a:latin typeface="+mn-lt"/>
                <a:cs typeface="Times New Roman"/>
              </a:rPr>
              <a:t> </a:t>
            </a:r>
            <a:r>
              <a:rPr sz="2025" spc="89" dirty="0">
                <a:latin typeface="+mn-lt"/>
                <a:cs typeface="Times New Roman"/>
              </a:rPr>
              <a:t>thực</a:t>
            </a:r>
            <a:r>
              <a:rPr sz="2025" spc="-55" dirty="0">
                <a:latin typeface="+mn-lt"/>
                <a:cs typeface="Times New Roman"/>
              </a:rPr>
              <a:t> </a:t>
            </a:r>
            <a:r>
              <a:rPr sz="2025" spc="76" dirty="0">
                <a:latin typeface="+mn-lt"/>
                <a:cs typeface="Times New Roman"/>
              </a:rPr>
              <a:t>hiện</a:t>
            </a:r>
            <a:r>
              <a:rPr sz="2025" spc="-76" dirty="0">
                <a:latin typeface="+mn-lt"/>
                <a:cs typeface="Times New Roman"/>
              </a:rPr>
              <a:t> </a:t>
            </a:r>
            <a:r>
              <a:rPr sz="2025" spc="101" dirty="0">
                <a:latin typeface="+mn-lt"/>
                <a:cs typeface="Times New Roman"/>
              </a:rPr>
              <a:t>nhanh</a:t>
            </a:r>
            <a:endParaRPr sz="2025" dirty="0">
              <a:latin typeface="+mn-lt"/>
              <a:cs typeface="Times New Roman"/>
            </a:endParaRPr>
          </a:p>
          <a:p>
            <a:pPr marL="755668" lvl="1" indent="-289339">
              <a:spcBef>
                <a:spcPts val="485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025" spc="30" dirty="0">
                <a:latin typeface="+mn-lt"/>
                <a:cs typeface="Times New Roman"/>
              </a:rPr>
              <a:t>Machine</a:t>
            </a:r>
            <a:r>
              <a:rPr sz="2025" spc="-68" dirty="0">
                <a:latin typeface="+mn-lt"/>
                <a:cs typeface="Times New Roman"/>
              </a:rPr>
              <a:t> </a:t>
            </a:r>
            <a:r>
              <a:rPr sz="2025" spc="68" dirty="0">
                <a:latin typeface="+mn-lt"/>
                <a:cs typeface="Times New Roman"/>
              </a:rPr>
              <a:t>learning</a:t>
            </a:r>
            <a:endParaRPr sz="2025" dirty="0">
              <a:latin typeface="+mn-lt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67836" y="5666845"/>
            <a:ext cx="1994485" cy="54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4</a:t>
            </a:fld>
            <a:endParaRPr spc="122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1822828B-9E15-0540-A343-3BAE8BF94339}"/>
              </a:ext>
            </a:extLst>
          </p:cNvPr>
          <p:cNvSpPr txBox="1"/>
          <p:nvPr/>
        </p:nvSpPr>
        <p:spPr>
          <a:xfrm>
            <a:off x="424339" y="476672"/>
            <a:ext cx="5015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Giới thiệu khái quát về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52199" y="1298948"/>
            <a:ext cx="1857018" cy="373905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</a:pPr>
            <a:r>
              <a:rPr sz="2363" i="1" spc="-17" dirty="0">
                <a:latin typeface="+mn-lt"/>
                <a:cs typeface="Times New Roman"/>
              </a:rPr>
              <a:t>Đầu </a:t>
            </a:r>
            <a:r>
              <a:rPr sz="2363" i="1" spc="105" dirty="0">
                <a:latin typeface="+mn-lt"/>
                <a:cs typeface="Times New Roman"/>
              </a:rPr>
              <a:t>năm</a:t>
            </a:r>
            <a:r>
              <a:rPr sz="2363" i="1" spc="-186" dirty="0">
                <a:latin typeface="+mn-lt"/>
                <a:cs typeface="Times New Roman"/>
              </a:rPr>
              <a:t> </a:t>
            </a:r>
            <a:r>
              <a:rPr sz="2363" i="1" spc="59" dirty="0">
                <a:latin typeface="+mn-lt"/>
                <a:cs typeface="Times New Roman"/>
              </a:rPr>
              <a:t>2021</a:t>
            </a:r>
            <a:endParaRPr sz="2363" dirty="0">
              <a:latin typeface="+mn-lt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57512" y="1243012"/>
            <a:ext cx="4179094" cy="4776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5</a:t>
            </a:fld>
            <a:endParaRPr spc="122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4B7BC07-4D8B-C543-AF5A-BEDA540D49B9}"/>
              </a:ext>
            </a:extLst>
          </p:cNvPr>
          <p:cNvSpPr txBox="1"/>
          <p:nvPr/>
        </p:nvSpPr>
        <p:spPr>
          <a:xfrm>
            <a:off x="452199" y="546325"/>
            <a:ext cx="4401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Hiện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trạng sử dụng 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322466" y="1700808"/>
            <a:ext cx="9378315" cy="3667627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300055" indent="-289339">
              <a:spcBef>
                <a:spcPts val="2139"/>
              </a:spcBef>
              <a:buClr>
                <a:srgbClr val="205D9F"/>
              </a:buClr>
              <a:buFont typeface="Wingdings"/>
              <a:buChar char=""/>
              <a:tabLst>
                <a:tab pos="300055" algn="l"/>
              </a:tabLst>
            </a:pPr>
            <a:r>
              <a:rPr sz="2363" spc="46" dirty="0">
                <a:latin typeface="+mn-lt"/>
                <a:cs typeface="Times New Roman"/>
              </a:rPr>
              <a:t>Website </a:t>
            </a:r>
            <a:r>
              <a:rPr sz="2363" spc="59" dirty="0">
                <a:latin typeface="+mn-lt"/>
                <a:cs typeface="Times New Roman"/>
              </a:rPr>
              <a:t>học</a:t>
            </a:r>
            <a:r>
              <a:rPr sz="2363" spc="-214" dirty="0">
                <a:latin typeface="+mn-lt"/>
                <a:cs typeface="Times New Roman"/>
              </a:rPr>
              <a:t> </a:t>
            </a:r>
            <a:r>
              <a:rPr sz="2363" spc="63" dirty="0">
                <a:latin typeface="+mn-lt"/>
                <a:cs typeface="Times New Roman"/>
              </a:rPr>
              <a:t>Python:</a:t>
            </a:r>
            <a:endParaRPr sz="2363">
              <a:latin typeface="+mn-lt"/>
              <a:cs typeface="Times New Roman"/>
            </a:endParaRPr>
          </a:p>
          <a:p>
            <a:pPr marL="755668" lvl="1" indent="-289339">
              <a:spcBef>
                <a:spcPts val="570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363" spc="72" dirty="0">
                <a:latin typeface="+mn-lt"/>
                <a:cs typeface="Times New Roman"/>
              </a:rPr>
              <a:t>Learn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80" dirty="0">
                <a:latin typeface="+mn-lt"/>
                <a:cs typeface="Times New Roman"/>
              </a:rPr>
              <a:t>Python</a:t>
            </a:r>
            <a:r>
              <a:rPr sz="2363" spc="-51" dirty="0">
                <a:latin typeface="+mn-lt"/>
                <a:cs typeface="Times New Roman"/>
              </a:rPr>
              <a:t> </a:t>
            </a:r>
            <a:r>
              <a:rPr sz="2363" spc="59" dirty="0">
                <a:latin typeface="+mn-lt"/>
                <a:cs typeface="Times New Roman"/>
              </a:rPr>
              <a:t>The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42" dirty="0">
                <a:latin typeface="+mn-lt"/>
                <a:cs typeface="Times New Roman"/>
              </a:rPr>
              <a:t>Hardway:</a:t>
            </a:r>
            <a:r>
              <a:rPr sz="2363" spc="-96" dirty="0">
                <a:solidFill>
                  <a:srgbClr val="0000FF"/>
                </a:solidFill>
                <a:latin typeface="+mn-lt"/>
                <a:cs typeface="Times New Roman"/>
              </a:rPr>
              <a:t> </a:t>
            </a:r>
            <a:r>
              <a:rPr sz="2363" u="heavy" spc="1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imes New Roman"/>
                <a:hlinkClick r:id="rId2"/>
              </a:rPr>
              <a:t>https://learnpythonthehardway.org/</a:t>
            </a:r>
            <a:endParaRPr sz="2363">
              <a:latin typeface="+mn-lt"/>
              <a:cs typeface="Times New Roman"/>
            </a:endParaRPr>
          </a:p>
          <a:p>
            <a:pPr marL="755668" lvl="1" indent="-289339">
              <a:spcBef>
                <a:spcPts val="570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363" spc="72" dirty="0">
                <a:latin typeface="+mn-lt"/>
                <a:cs typeface="Times New Roman"/>
              </a:rPr>
              <a:t>Learn </a:t>
            </a:r>
            <a:r>
              <a:rPr sz="2363" spc="80" dirty="0">
                <a:latin typeface="+mn-lt"/>
                <a:cs typeface="Times New Roman"/>
              </a:rPr>
              <a:t>Python</a:t>
            </a:r>
            <a:r>
              <a:rPr sz="2363" spc="-198" dirty="0">
                <a:latin typeface="+mn-lt"/>
                <a:cs typeface="Times New Roman"/>
              </a:rPr>
              <a:t> </a:t>
            </a:r>
            <a:r>
              <a:rPr sz="2363" spc="13" dirty="0">
                <a:latin typeface="+mn-lt"/>
                <a:cs typeface="Times New Roman"/>
              </a:rPr>
              <a:t>Code</a:t>
            </a:r>
            <a:endParaRPr sz="2363">
              <a:latin typeface="+mn-lt"/>
              <a:cs typeface="Times New Roman"/>
            </a:endParaRPr>
          </a:p>
          <a:p>
            <a:pPr marL="755132" lvl="1"/>
            <a:r>
              <a:rPr sz="2363" spc="55" dirty="0">
                <a:latin typeface="+mn-lt"/>
                <a:cs typeface="Times New Roman"/>
              </a:rPr>
              <a:t>cademy:</a:t>
            </a:r>
            <a:r>
              <a:rPr sz="2363" spc="-84" dirty="0">
                <a:latin typeface="+mn-lt"/>
                <a:cs typeface="Times New Roman"/>
              </a:rPr>
              <a:t> </a:t>
            </a:r>
            <a:r>
              <a:rPr sz="2363" u="heavy" spc="10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imes New Roman"/>
                <a:hlinkClick r:id="rId3"/>
              </a:rPr>
              <a:t>https://www.codecademy.com/learn/python</a:t>
            </a:r>
            <a:endParaRPr sz="2363">
              <a:latin typeface="+mn-lt"/>
              <a:cs typeface="Times New Roman"/>
            </a:endParaRPr>
          </a:p>
          <a:p>
            <a:pPr marL="755132" marR="956962" lvl="1" indent="-289339">
              <a:spcBef>
                <a:spcPts val="565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363" spc="72" dirty="0">
                <a:latin typeface="+mn-lt"/>
                <a:cs typeface="Times New Roman"/>
                <a:hlinkClick r:id="rId4"/>
              </a:rPr>
              <a:t>Learn </a:t>
            </a:r>
            <a:r>
              <a:rPr sz="2363" spc="80" dirty="0">
                <a:latin typeface="+mn-lt"/>
                <a:cs typeface="Times New Roman"/>
                <a:hlinkClick r:id="rId4"/>
              </a:rPr>
              <a:t>Python </a:t>
            </a:r>
            <a:r>
              <a:rPr sz="2363" spc="72" dirty="0">
                <a:latin typeface="+mn-lt"/>
                <a:cs typeface="Times New Roman"/>
                <a:hlinkClick r:id="rId4"/>
              </a:rPr>
              <a:t>Treehouse:</a:t>
            </a:r>
            <a:r>
              <a:rPr sz="2363" spc="-426" dirty="0">
                <a:solidFill>
                  <a:srgbClr val="0000FF"/>
                </a:solidFill>
                <a:latin typeface="+mn-lt"/>
                <a:cs typeface="Times New Roman"/>
                <a:hlinkClick r:id="rId4"/>
              </a:rPr>
              <a:t> </a:t>
            </a:r>
            <a:r>
              <a:rPr sz="2363" u="heavy" spc="1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imes New Roman"/>
                <a:hlinkClick r:id="rId4"/>
              </a:rPr>
              <a:t>https://teamtreehouse.com/learn-to-  code/python</a:t>
            </a:r>
            <a:endParaRPr sz="2363">
              <a:latin typeface="+mn-lt"/>
              <a:cs typeface="Times New Roman"/>
            </a:endParaRPr>
          </a:p>
          <a:p>
            <a:pPr marL="755132" marR="4287" lvl="1" indent="-289339">
              <a:spcBef>
                <a:spcPts val="570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363" spc="72" dirty="0">
                <a:latin typeface="+mn-lt"/>
                <a:cs typeface="Times New Roman"/>
                <a:hlinkClick r:id="rId5"/>
              </a:rPr>
              <a:t>Learn</a:t>
            </a:r>
            <a:r>
              <a:rPr sz="2363" spc="-84" dirty="0">
                <a:latin typeface="+mn-lt"/>
                <a:cs typeface="Times New Roman"/>
                <a:hlinkClick r:id="rId5"/>
              </a:rPr>
              <a:t> </a:t>
            </a:r>
            <a:r>
              <a:rPr sz="2363" spc="80" dirty="0">
                <a:latin typeface="+mn-lt"/>
                <a:cs typeface="Times New Roman"/>
                <a:hlinkClick r:id="rId5"/>
              </a:rPr>
              <a:t>Python</a:t>
            </a:r>
            <a:r>
              <a:rPr sz="2363" spc="-63" dirty="0">
                <a:latin typeface="+mn-lt"/>
                <a:cs typeface="Times New Roman"/>
                <a:hlinkClick r:id="rId5"/>
              </a:rPr>
              <a:t> </a:t>
            </a:r>
            <a:r>
              <a:rPr sz="2363" spc="72" dirty="0">
                <a:latin typeface="+mn-lt"/>
                <a:cs typeface="Times New Roman"/>
                <a:hlinkClick r:id="rId5"/>
              </a:rPr>
              <a:t>code</a:t>
            </a:r>
            <a:r>
              <a:rPr sz="2363" spc="-80" dirty="0">
                <a:latin typeface="+mn-lt"/>
                <a:cs typeface="Times New Roman"/>
                <a:hlinkClick r:id="rId5"/>
              </a:rPr>
              <a:t> </a:t>
            </a:r>
            <a:r>
              <a:rPr sz="2363" spc="101" dirty="0">
                <a:latin typeface="+mn-lt"/>
                <a:cs typeface="Times New Roman"/>
                <a:hlinkClick r:id="rId5"/>
              </a:rPr>
              <a:t>mentor:</a:t>
            </a:r>
            <a:r>
              <a:rPr sz="2363" spc="-110" dirty="0">
                <a:solidFill>
                  <a:srgbClr val="0000FF"/>
                </a:solidFill>
                <a:latin typeface="+mn-lt"/>
                <a:cs typeface="Times New Roman"/>
                <a:hlinkClick r:id="rId5"/>
              </a:rPr>
              <a:t> </a:t>
            </a:r>
            <a:r>
              <a:rPr sz="2363" u="heavy" spc="10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imes New Roman"/>
                <a:hlinkClick r:id="rId5"/>
              </a:rPr>
              <a:t>https://www.codementor.io/learn-python-  </a:t>
            </a:r>
            <a:r>
              <a:rPr sz="2363" u="heavy" spc="7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imes New Roman"/>
                <a:hlinkClick r:id="rId5"/>
              </a:rPr>
              <a:t>online</a:t>
            </a:r>
            <a:endParaRPr sz="2363">
              <a:latin typeface="+mn-lt"/>
              <a:cs typeface="Times New Roman"/>
            </a:endParaRPr>
          </a:p>
          <a:p>
            <a:pPr marL="755668" lvl="1" indent="-289339">
              <a:spcBef>
                <a:spcPts val="557"/>
              </a:spcBef>
              <a:buClr>
                <a:srgbClr val="205D9F"/>
              </a:buClr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sz="2363" spc="13" dirty="0">
                <a:latin typeface="+mn-lt"/>
                <a:cs typeface="Times New Roman"/>
              </a:rPr>
              <a:t>Visualize </a:t>
            </a:r>
            <a:r>
              <a:rPr sz="2363" spc="63" dirty="0">
                <a:latin typeface="+mn-lt"/>
                <a:cs typeface="Times New Roman"/>
              </a:rPr>
              <a:t>Python:</a:t>
            </a:r>
            <a:r>
              <a:rPr sz="2363" spc="-156" dirty="0">
                <a:solidFill>
                  <a:srgbClr val="0000FF"/>
                </a:solidFill>
                <a:latin typeface="+mn-lt"/>
                <a:cs typeface="Times New Roman"/>
              </a:rPr>
              <a:t> </a:t>
            </a:r>
            <a:r>
              <a:rPr sz="2363" u="heavy" spc="9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imes New Roman"/>
                <a:hlinkClick r:id="rId6"/>
              </a:rPr>
              <a:t>http://www.pythontutor.com</a:t>
            </a:r>
            <a:endParaRPr sz="2363">
              <a:latin typeface="+mn-lt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6</a:t>
            </a:fld>
            <a:endParaRPr spc="122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B22AD80-8D06-7741-8D99-764509BB7F5F}"/>
              </a:ext>
            </a:extLst>
          </p:cNvPr>
          <p:cNvSpPr/>
          <p:nvPr/>
        </p:nvSpPr>
        <p:spPr>
          <a:xfrm>
            <a:off x="3312742" y="3244334"/>
            <a:ext cx="366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-34" dirty="0">
                <a:solidFill>
                  <a:schemeClr val="bg1"/>
                </a:solidFill>
                <a:cs typeface="Times New Roman"/>
              </a:rPr>
              <a:t>1.1.2. Hiện trạng sử dụng Python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1892DF0-07A0-AB4D-B4ED-A5B52B03CDE4}"/>
              </a:ext>
            </a:extLst>
          </p:cNvPr>
          <p:cNvSpPr txBox="1"/>
          <p:nvPr/>
        </p:nvSpPr>
        <p:spPr>
          <a:xfrm>
            <a:off x="452199" y="546325"/>
            <a:ext cx="8363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tài nguyên học liệu và công cụ lập trình Python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95597" y="1412776"/>
            <a:ext cx="9295805" cy="4367883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</a:pPr>
            <a:r>
              <a:rPr sz="2800" b="1" spc="34" dirty="0">
                <a:latin typeface="+mn-lt"/>
                <a:cs typeface="Times New Roman"/>
              </a:rPr>
              <a:t>Ebooks:</a:t>
            </a:r>
            <a:endParaRPr sz="2800" b="1" dirty="0">
              <a:latin typeface="+mn-lt"/>
              <a:cs typeface="Times New Roman"/>
            </a:endParaRPr>
          </a:p>
          <a:p>
            <a:pPr marL="780316" lvl="1" indent="-289875">
              <a:spcBef>
                <a:spcPts val="633"/>
              </a:spcBef>
              <a:buFont typeface="Arial"/>
              <a:buChar char="•"/>
              <a:tabLst>
                <a:tab pos="324167" algn="l"/>
                <a:tab pos="325238" algn="l"/>
              </a:tabLst>
            </a:pPr>
            <a:r>
              <a:rPr sz="2700" spc="101" dirty="0">
                <a:latin typeface="+mn-lt"/>
                <a:cs typeface="Times New Roman"/>
              </a:rPr>
              <a:t>Fundamentals</a:t>
            </a:r>
            <a:r>
              <a:rPr sz="2700" spc="-84" dirty="0">
                <a:latin typeface="+mn-lt"/>
                <a:cs typeface="Times New Roman"/>
              </a:rPr>
              <a:t> </a:t>
            </a:r>
            <a:r>
              <a:rPr sz="2700" dirty="0">
                <a:latin typeface="+mn-lt"/>
                <a:cs typeface="Times New Roman"/>
              </a:rPr>
              <a:t>of</a:t>
            </a:r>
            <a:r>
              <a:rPr sz="2700" spc="-80" dirty="0">
                <a:latin typeface="+mn-lt"/>
                <a:cs typeface="Times New Roman"/>
              </a:rPr>
              <a:t> </a:t>
            </a:r>
            <a:r>
              <a:rPr sz="2700" spc="89" dirty="0">
                <a:latin typeface="+mn-lt"/>
                <a:cs typeface="Times New Roman"/>
              </a:rPr>
              <a:t>Programming</a:t>
            </a:r>
            <a:r>
              <a:rPr sz="2700" spc="-84" dirty="0">
                <a:latin typeface="+mn-lt"/>
                <a:cs typeface="Times New Roman"/>
              </a:rPr>
              <a:t> </a:t>
            </a:r>
            <a:r>
              <a:rPr sz="2700" spc="84" dirty="0">
                <a:latin typeface="+mn-lt"/>
                <a:cs typeface="Times New Roman"/>
              </a:rPr>
              <a:t>Python-</a:t>
            </a:r>
            <a:r>
              <a:rPr sz="2700" spc="-105" dirty="0">
                <a:latin typeface="+mn-lt"/>
                <a:cs typeface="Times New Roman"/>
              </a:rPr>
              <a:t> </a:t>
            </a:r>
            <a:r>
              <a:rPr sz="2700" spc="63" dirty="0">
                <a:latin typeface="+mn-lt"/>
                <a:cs typeface="Times New Roman"/>
              </a:rPr>
              <a:t>Richard</a:t>
            </a:r>
            <a:r>
              <a:rPr sz="2700" spc="-89" dirty="0">
                <a:latin typeface="+mn-lt"/>
                <a:cs typeface="Times New Roman"/>
              </a:rPr>
              <a:t> </a:t>
            </a:r>
            <a:r>
              <a:rPr sz="2700" spc="-160" dirty="0">
                <a:latin typeface="+mn-lt"/>
                <a:cs typeface="Times New Roman"/>
              </a:rPr>
              <a:t>L.</a:t>
            </a:r>
            <a:r>
              <a:rPr sz="2700" spc="-89" dirty="0">
                <a:latin typeface="+mn-lt"/>
                <a:cs typeface="Times New Roman"/>
              </a:rPr>
              <a:t> </a:t>
            </a:r>
            <a:r>
              <a:rPr sz="2700" spc="96" dirty="0">
                <a:latin typeface="+mn-lt"/>
                <a:cs typeface="Times New Roman"/>
              </a:rPr>
              <a:t>Halterman</a:t>
            </a:r>
            <a:endParaRPr sz="2700" dirty="0">
              <a:latin typeface="+mn-lt"/>
              <a:cs typeface="Times New Roman"/>
            </a:endParaRPr>
          </a:p>
          <a:p>
            <a:pPr marL="780316" lvl="1" indent="-289875">
              <a:spcBef>
                <a:spcPts val="650"/>
              </a:spcBef>
              <a:buFont typeface="Arial"/>
              <a:buChar char="•"/>
              <a:tabLst>
                <a:tab pos="324167" algn="l"/>
                <a:tab pos="325238" algn="l"/>
              </a:tabLst>
            </a:pPr>
            <a:r>
              <a:rPr sz="2700" spc="80" dirty="0">
                <a:latin typeface="+mn-lt"/>
                <a:cs typeface="Times New Roman"/>
              </a:rPr>
              <a:t>Learn</a:t>
            </a:r>
            <a:r>
              <a:rPr sz="2700" spc="-84" dirty="0">
                <a:latin typeface="+mn-lt"/>
                <a:cs typeface="Times New Roman"/>
              </a:rPr>
              <a:t> </a:t>
            </a:r>
            <a:r>
              <a:rPr sz="2700" spc="96" dirty="0">
                <a:latin typeface="+mn-lt"/>
                <a:cs typeface="Times New Roman"/>
              </a:rPr>
              <a:t>Python</a:t>
            </a:r>
            <a:r>
              <a:rPr sz="2700" spc="-96" dirty="0">
                <a:latin typeface="+mn-lt"/>
                <a:cs typeface="Times New Roman"/>
              </a:rPr>
              <a:t> </a:t>
            </a:r>
            <a:r>
              <a:rPr sz="2700" spc="139" dirty="0">
                <a:latin typeface="+mn-lt"/>
                <a:cs typeface="Times New Roman"/>
              </a:rPr>
              <a:t>the</a:t>
            </a:r>
            <a:r>
              <a:rPr sz="2700" spc="-93" dirty="0">
                <a:latin typeface="+mn-lt"/>
                <a:cs typeface="Times New Roman"/>
              </a:rPr>
              <a:t> </a:t>
            </a:r>
            <a:r>
              <a:rPr sz="2700" spc="84" dirty="0">
                <a:latin typeface="+mn-lt"/>
                <a:cs typeface="Times New Roman"/>
              </a:rPr>
              <a:t>Hard</a:t>
            </a:r>
            <a:r>
              <a:rPr sz="2700" spc="-80" dirty="0">
                <a:latin typeface="+mn-lt"/>
                <a:cs typeface="Times New Roman"/>
              </a:rPr>
              <a:t> </a:t>
            </a:r>
            <a:r>
              <a:rPr sz="2700" spc="-114" dirty="0">
                <a:latin typeface="+mn-lt"/>
                <a:cs typeface="Times New Roman"/>
              </a:rPr>
              <a:t>Way,</a:t>
            </a:r>
            <a:r>
              <a:rPr sz="2700" spc="-84" dirty="0">
                <a:latin typeface="+mn-lt"/>
                <a:cs typeface="Times New Roman"/>
              </a:rPr>
              <a:t> </a:t>
            </a:r>
            <a:r>
              <a:rPr sz="2700" spc="152" dirty="0">
                <a:latin typeface="+mn-lt"/>
                <a:cs typeface="Times New Roman"/>
              </a:rPr>
              <a:t>3rd</a:t>
            </a:r>
            <a:r>
              <a:rPr sz="2700" spc="-80" dirty="0">
                <a:latin typeface="+mn-lt"/>
                <a:cs typeface="Times New Roman"/>
              </a:rPr>
              <a:t> </a:t>
            </a:r>
            <a:r>
              <a:rPr sz="2700" spc="59" dirty="0">
                <a:latin typeface="+mn-lt"/>
                <a:cs typeface="Times New Roman"/>
              </a:rPr>
              <a:t>Edition</a:t>
            </a:r>
            <a:endParaRPr sz="2700" dirty="0">
              <a:latin typeface="+mn-lt"/>
              <a:cs typeface="Times New Roman"/>
            </a:endParaRPr>
          </a:p>
          <a:p>
            <a:pPr marL="780316" lvl="1" indent="-289875">
              <a:spcBef>
                <a:spcPts val="650"/>
              </a:spcBef>
              <a:buFont typeface="Arial"/>
              <a:buChar char="•"/>
              <a:tabLst>
                <a:tab pos="324167" algn="l"/>
                <a:tab pos="325238" algn="l"/>
              </a:tabLst>
            </a:pPr>
            <a:r>
              <a:rPr sz="2700" spc="89" dirty="0">
                <a:latin typeface="+mn-lt"/>
                <a:cs typeface="Times New Roman"/>
              </a:rPr>
              <a:t>Programming</a:t>
            </a:r>
            <a:r>
              <a:rPr sz="2700" spc="-89" dirty="0">
                <a:latin typeface="+mn-lt"/>
                <a:cs typeface="Times New Roman"/>
              </a:rPr>
              <a:t> </a:t>
            </a:r>
            <a:r>
              <a:rPr sz="2700" spc="76" dirty="0">
                <a:latin typeface="+mn-lt"/>
                <a:cs typeface="Times New Roman"/>
              </a:rPr>
              <a:t>in</a:t>
            </a:r>
            <a:r>
              <a:rPr sz="2700" spc="-93" dirty="0">
                <a:latin typeface="+mn-lt"/>
                <a:cs typeface="Times New Roman"/>
              </a:rPr>
              <a:t> </a:t>
            </a:r>
            <a:r>
              <a:rPr sz="2700" spc="96" dirty="0">
                <a:latin typeface="+mn-lt"/>
                <a:cs typeface="Times New Roman"/>
              </a:rPr>
              <a:t>Python</a:t>
            </a:r>
            <a:r>
              <a:rPr sz="2700" spc="-96" dirty="0">
                <a:latin typeface="+mn-lt"/>
                <a:cs typeface="Times New Roman"/>
              </a:rPr>
              <a:t> </a:t>
            </a:r>
            <a:r>
              <a:rPr sz="2700" spc="13" dirty="0">
                <a:latin typeface="+mn-lt"/>
                <a:cs typeface="Times New Roman"/>
              </a:rPr>
              <a:t>3,</a:t>
            </a:r>
            <a:r>
              <a:rPr sz="2700" spc="-80" dirty="0">
                <a:latin typeface="+mn-lt"/>
                <a:cs typeface="Times New Roman"/>
              </a:rPr>
              <a:t> </a:t>
            </a:r>
            <a:r>
              <a:rPr sz="2700" spc="42" dirty="0">
                <a:latin typeface="+mn-lt"/>
                <a:cs typeface="Times New Roman"/>
              </a:rPr>
              <a:t>Mark</a:t>
            </a:r>
            <a:r>
              <a:rPr sz="2700" spc="-84" dirty="0">
                <a:latin typeface="+mn-lt"/>
                <a:cs typeface="Times New Roman"/>
              </a:rPr>
              <a:t> </a:t>
            </a:r>
            <a:r>
              <a:rPr sz="2700" spc="68" dirty="0">
                <a:latin typeface="+mn-lt"/>
                <a:cs typeface="Times New Roman"/>
              </a:rPr>
              <a:t>Summerfield</a:t>
            </a:r>
            <a:endParaRPr sz="2700" dirty="0">
              <a:latin typeface="+mn-lt"/>
              <a:cs typeface="Times New Roman"/>
            </a:endParaRPr>
          </a:p>
          <a:p>
            <a:pPr marL="780316" lvl="1" indent="-289875">
              <a:spcBef>
                <a:spcPts val="650"/>
              </a:spcBef>
              <a:buFont typeface="Arial"/>
              <a:buChar char="•"/>
              <a:tabLst>
                <a:tab pos="324167" algn="l"/>
                <a:tab pos="325238" algn="l"/>
              </a:tabLst>
            </a:pPr>
            <a:r>
              <a:rPr sz="2700" spc="96" dirty="0">
                <a:latin typeface="+mn-lt"/>
                <a:cs typeface="Times New Roman"/>
              </a:rPr>
              <a:t>Python </a:t>
            </a:r>
            <a:r>
              <a:rPr sz="2700" spc="34" dirty="0">
                <a:latin typeface="+mn-lt"/>
                <a:cs typeface="Times New Roman"/>
              </a:rPr>
              <a:t>Algorithms, </a:t>
            </a:r>
            <a:r>
              <a:rPr sz="2700" spc="46" dirty="0">
                <a:latin typeface="+mn-lt"/>
                <a:cs typeface="Times New Roman"/>
              </a:rPr>
              <a:t>Magnus</a:t>
            </a:r>
            <a:r>
              <a:rPr sz="2700" spc="-447" dirty="0">
                <a:latin typeface="+mn-lt"/>
                <a:cs typeface="Times New Roman"/>
              </a:rPr>
              <a:t> </a:t>
            </a:r>
            <a:r>
              <a:rPr sz="2700" spc="-30" dirty="0">
                <a:latin typeface="+mn-lt"/>
                <a:cs typeface="Times New Roman"/>
              </a:rPr>
              <a:t>Lie </a:t>
            </a:r>
            <a:r>
              <a:rPr sz="2700" spc="80" dirty="0">
                <a:latin typeface="+mn-lt"/>
                <a:cs typeface="Times New Roman"/>
              </a:rPr>
              <a:t>Hetland</a:t>
            </a:r>
            <a:endParaRPr sz="2700" dirty="0">
              <a:latin typeface="+mn-lt"/>
              <a:cs typeface="Times New Roman"/>
            </a:endParaRPr>
          </a:p>
          <a:p>
            <a:pPr marL="780316" lvl="1" indent="-289875">
              <a:spcBef>
                <a:spcPts val="650"/>
              </a:spcBef>
              <a:buFont typeface="Arial"/>
              <a:buChar char="•"/>
              <a:tabLst>
                <a:tab pos="324167" algn="l"/>
                <a:tab pos="325238" algn="l"/>
              </a:tabLst>
            </a:pPr>
            <a:r>
              <a:rPr sz="2700" spc="96" dirty="0">
                <a:latin typeface="+mn-lt"/>
                <a:cs typeface="Times New Roman"/>
              </a:rPr>
              <a:t>Python</a:t>
            </a:r>
            <a:r>
              <a:rPr sz="2700" spc="-101" dirty="0">
                <a:latin typeface="+mn-lt"/>
                <a:cs typeface="Times New Roman"/>
              </a:rPr>
              <a:t> </a:t>
            </a:r>
            <a:r>
              <a:rPr sz="2700" spc="139" dirty="0">
                <a:latin typeface="+mn-lt"/>
                <a:cs typeface="Times New Roman"/>
              </a:rPr>
              <a:t>and</a:t>
            </a:r>
            <a:r>
              <a:rPr sz="2700" spc="-96" dirty="0">
                <a:latin typeface="+mn-lt"/>
                <a:cs typeface="Times New Roman"/>
              </a:rPr>
              <a:t> </a:t>
            </a:r>
            <a:r>
              <a:rPr sz="2700" spc="93" dirty="0">
                <a:latin typeface="+mn-lt"/>
                <a:cs typeface="Times New Roman"/>
              </a:rPr>
              <a:t>Tkinter</a:t>
            </a:r>
            <a:r>
              <a:rPr sz="2700" spc="-89" dirty="0">
                <a:latin typeface="+mn-lt"/>
                <a:cs typeface="Times New Roman"/>
              </a:rPr>
              <a:t> </a:t>
            </a:r>
            <a:r>
              <a:rPr sz="2700" spc="72" dirty="0">
                <a:latin typeface="+mn-lt"/>
                <a:cs typeface="Times New Roman"/>
              </a:rPr>
              <a:t>Programming,</a:t>
            </a:r>
            <a:r>
              <a:rPr sz="2700" spc="-84" dirty="0">
                <a:latin typeface="+mn-lt"/>
                <a:cs typeface="Times New Roman"/>
              </a:rPr>
              <a:t> </a:t>
            </a:r>
            <a:r>
              <a:rPr sz="2700" spc="38" dirty="0">
                <a:latin typeface="+mn-lt"/>
                <a:cs typeface="Times New Roman"/>
              </a:rPr>
              <a:t>John</a:t>
            </a:r>
            <a:r>
              <a:rPr sz="2700" spc="-80" dirty="0">
                <a:latin typeface="+mn-lt"/>
                <a:cs typeface="Times New Roman"/>
              </a:rPr>
              <a:t> </a:t>
            </a:r>
            <a:r>
              <a:rPr sz="2700" spc="-105" dirty="0">
                <a:latin typeface="+mn-lt"/>
                <a:cs typeface="Times New Roman"/>
              </a:rPr>
              <a:t>E.</a:t>
            </a:r>
            <a:r>
              <a:rPr sz="2700" spc="-96" dirty="0">
                <a:latin typeface="+mn-lt"/>
                <a:cs typeface="Times New Roman"/>
              </a:rPr>
              <a:t> </a:t>
            </a:r>
            <a:r>
              <a:rPr sz="2700" spc="34" dirty="0">
                <a:latin typeface="+mn-lt"/>
                <a:cs typeface="Times New Roman"/>
              </a:rPr>
              <a:t>Grayson</a:t>
            </a:r>
            <a:endParaRPr sz="2700" dirty="0">
              <a:latin typeface="+mn-lt"/>
              <a:cs typeface="Times New Roman"/>
            </a:endParaRPr>
          </a:p>
          <a:p>
            <a:pPr marL="780316" lvl="1" indent="-289875">
              <a:spcBef>
                <a:spcPts val="646"/>
              </a:spcBef>
              <a:buFont typeface="Arial"/>
              <a:buChar char="•"/>
              <a:tabLst>
                <a:tab pos="324167" algn="l"/>
                <a:tab pos="325238" algn="l"/>
              </a:tabLst>
            </a:pPr>
            <a:r>
              <a:rPr sz="2700" spc="72" dirty="0">
                <a:latin typeface="+mn-lt"/>
                <a:cs typeface="Times New Roman"/>
              </a:rPr>
              <a:t>Professional</a:t>
            </a:r>
            <a:r>
              <a:rPr sz="2700" spc="-96" dirty="0">
                <a:latin typeface="+mn-lt"/>
                <a:cs typeface="Times New Roman"/>
              </a:rPr>
              <a:t> </a:t>
            </a:r>
            <a:r>
              <a:rPr sz="2700" spc="96" dirty="0">
                <a:latin typeface="+mn-lt"/>
                <a:cs typeface="Times New Roman"/>
              </a:rPr>
              <a:t>IronPython</a:t>
            </a:r>
            <a:r>
              <a:rPr sz="2700" spc="-114" dirty="0">
                <a:latin typeface="+mn-lt"/>
                <a:cs typeface="Times New Roman"/>
              </a:rPr>
              <a:t> </a:t>
            </a:r>
            <a:r>
              <a:rPr sz="2700" dirty="0">
                <a:latin typeface="+mn-lt"/>
                <a:cs typeface="Times New Roman"/>
              </a:rPr>
              <a:t>–</a:t>
            </a:r>
            <a:r>
              <a:rPr sz="2700" spc="-84" dirty="0">
                <a:latin typeface="+mn-lt"/>
                <a:cs typeface="Times New Roman"/>
              </a:rPr>
              <a:t> </a:t>
            </a:r>
            <a:r>
              <a:rPr sz="2700" spc="38" dirty="0">
                <a:latin typeface="+mn-lt"/>
                <a:cs typeface="Times New Roman"/>
              </a:rPr>
              <a:t>John</a:t>
            </a:r>
            <a:r>
              <a:rPr sz="2700" spc="-93" dirty="0">
                <a:latin typeface="+mn-lt"/>
                <a:cs typeface="Times New Roman"/>
              </a:rPr>
              <a:t> </a:t>
            </a:r>
            <a:r>
              <a:rPr sz="2700" spc="51" dirty="0">
                <a:latin typeface="+mn-lt"/>
                <a:cs typeface="Times New Roman"/>
              </a:rPr>
              <a:t>Paul</a:t>
            </a:r>
            <a:r>
              <a:rPr sz="2700" spc="-96" dirty="0">
                <a:latin typeface="+mn-lt"/>
                <a:cs typeface="Times New Roman"/>
              </a:rPr>
              <a:t> </a:t>
            </a:r>
            <a:r>
              <a:rPr sz="2700" spc="46" dirty="0">
                <a:latin typeface="+mn-lt"/>
                <a:cs typeface="Times New Roman"/>
              </a:rPr>
              <a:t>Mueller</a:t>
            </a:r>
            <a:endParaRPr sz="2700" dirty="0">
              <a:latin typeface="+mn-lt"/>
              <a:cs typeface="Times New Roman"/>
            </a:endParaRPr>
          </a:p>
          <a:p>
            <a:pPr marL="780316" lvl="1" indent="-289875">
              <a:spcBef>
                <a:spcPts val="650"/>
              </a:spcBef>
              <a:buFont typeface="Arial"/>
              <a:buChar char="•"/>
              <a:tabLst>
                <a:tab pos="324167" algn="l"/>
                <a:tab pos="325238" algn="l"/>
              </a:tabLst>
            </a:pPr>
            <a:r>
              <a:rPr sz="2700" spc="96" dirty="0">
                <a:latin typeface="+mn-lt"/>
                <a:cs typeface="Times New Roman"/>
              </a:rPr>
              <a:t>Python</a:t>
            </a:r>
            <a:r>
              <a:rPr sz="2700" spc="-96" dirty="0">
                <a:latin typeface="+mn-lt"/>
                <a:cs typeface="Times New Roman"/>
              </a:rPr>
              <a:t> </a:t>
            </a:r>
            <a:r>
              <a:rPr sz="2700" spc="-4" dirty="0">
                <a:latin typeface="+mn-lt"/>
                <a:cs typeface="Times New Roman"/>
              </a:rPr>
              <a:t>Tools</a:t>
            </a:r>
            <a:r>
              <a:rPr sz="2700" spc="-80" dirty="0">
                <a:latin typeface="+mn-lt"/>
                <a:cs typeface="Times New Roman"/>
              </a:rPr>
              <a:t> </a:t>
            </a:r>
            <a:r>
              <a:rPr sz="2700" spc="63" dirty="0">
                <a:latin typeface="+mn-lt"/>
                <a:cs typeface="Times New Roman"/>
              </a:rPr>
              <a:t>for</a:t>
            </a:r>
            <a:r>
              <a:rPr sz="2700" spc="-93" dirty="0">
                <a:latin typeface="+mn-lt"/>
                <a:cs typeface="Times New Roman"/>
              </a:rPr>
              <a:t> </a:t>
            </a:r>
            <a:r>
              <a:rPr sz="2700" spc="4" dirty="0">
                <a:latin typeface="+mn-lt"/>
                <a:cs typeface="Times New Roman"/>
              </a:rPr>
              <a:t>Visual</a:t>
            </a:r>
            <a:r>
              <a:rPr sz="2700" spc="-80" dirty="0">
                <a:latin typeface="+mn-lt"/>
                <a:cs typeface="Times New Roman"/>
              </a:rPr>
              <a:t> </a:t>
            </a:r>
            <a:r>
              <a:rPr sz="2700" spc="34" dirty="0">
                <a:latin typeface="+mn-lt"/>
                <a:cs typeface="Times New Roman"/>
              </a:rPr>
              <a:t>Studio,</a:t>
            </a:r>
            <a:r>
              <a:rPr sz="2700" spc="-76" dirty="0">
                <a:latin typeface="+mn-lt"/>
                <a:cs typeface="Times New Roman"/>
              </a:rPr>
              <a:t> </a:t>
            </a:r>
            <a:r>
              <a:rPr sz="2700" spc="72" dirty="0">
                <a:latin typeface="+mn-lt"/>
                <a:cs typeface="Times New Roman"/>
              </a:rPr>
              <a:t>Martino</a:t>
            </a:r>
            <a:r>
              <a:rPr sz="2700" spc="-84" dirty="0">
                <a:latin typeface="+mn-lt"/>
                <a:cs typeface="Times New Roman"/>
              </a:rPr>
              <a:t> </a:t>
            </a:r>
            <a:r>
              <a:rPr sz="2700" spc="8" dirty="0">
                <a:latin typeface="+mn-lt"/>
                <a:cs typeface="Times New Roman"/>
              </a:rPr>
              <a:t>Sabia,</a:t>
            </a:r>
            <a:r>
              <a:rPr sz="2700" spc="-84" dirty="0">
                <a:latin typeface="+mn-lt"/>
                <a:cs typeface="Times New Roman"/>
              </a:rPr>
              <a:t> </a:t>
            </a:r>
            <a:r>
              <a:rPr sz="2700" spc="17" dirty="0">
                <a:latin typeface="+mn-lt"/>
                <a:cs typeface="Times New Roman"/>
              </a:rPr>
              <a:t>Cathy</a:t>
            </a:r>
            <a:r>
              <a:rPr sz="2700" spc="-80" dirty="0">
                <a:latin typeface="+mn-lt"/>
                <a:cs typeface="Times New Roman"/>
              </a:rPr>
              <a:t> </a:t>
            </a:r>
            <a:r>
              <a:rPr sz="2700" spc="17" dirty="0">
                <a:latin typeface="+mn-lt"/>
                <a:cs typeface="Times New Roman"/>
              </a:rPr>
              <a:t>Wang</a:t>
            </a:r>
            <a:endParaRPr sz="2700" dirty="0">
              <a:latin typeface="+mn-lt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7</a:t>
            </a:fld>
            <a:endParaRPr spc="122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3584117-124A-EC4C-A0F2-2573276BE4D0}"/>
              </a:ext>
            </a:extLst>
          </p:cNvPr>
          <p:cNvSpPr txBox="1"/>
          <p:nvPr/>
        </p:nvSpPr>
        <p:spPr>
          <a:xfrm>
            <a:off x="452199" y="546325"/>
            <a:ext cx="8363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tài nguyên học liệu và công cụ lập trình 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95597" y="1412776"/>
            <a:ext cx="9295805" cy="2510964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317201" indent="-307021">
              <a:spcBef>
                <a:spcPts val="730"/>
              </a:spcBef>
              <a:buSzPct val="96875"/>
              <a:buFont typeface="Wingdings"/>
              <a:buChar char=""/>
              <a:tabLst>
                <a:tab pos="317737" algn="l"/>
              </a:tabLst>
            </a:pPr>
            <a:r>
              <a:rPr lang="en-US" sz="2800" b="1" spc="-13" dirty="0">
                <a:latin typeface="+mn-lt"/>
                <a:cs typeface="Times New Roman"/>
              </a:rPr>
              <a:t> Công</a:t>
            </a:r>
            <a:r>
              <a:rPr lang="en-US" sz="2800" b="1" spc="-96" dirty="0">
                <a:latin typeface="+mn-lt"/>
                <a:cs typeface="Times New Roman"/>
              </a:rPr>
              <a:t> </a:t>
            </a:r>
            <a:r>
              <a:rPr lang="en-US" sz="2800" b="1" spc="68" dirty="0">
                <a:latin typeface="+mn-lt"/>
                <a:cs typeface="Times New Roman"/>
              </a:rPr>
              <a:t>cụ</a:t>
            </a:r>
            <a:r>
              <a:rPr lang="en-US" sz="2800" b="1" spc="-96" dirty="0">
                <a:latin typeface="+mn-lt"/>
                <a:cs typeface="Times New Roman"/>
              </a:rPr>
              <a:t> </a:t>
            </a:r>
            <a:r>
              <a:rPr lang="en-US" sz="2800" b="1" spc="80" dirty="0">
                <a:latin typeface="+mn-lt"/>
                <a:cs typeface="Times New Roman"/>
              </a:rPr>
              <a:t>lập</a:t>
            </a:r>
            <a:r>
              <a:rPr lang="en-US" sz="2800" b="1" spc="-96" dirty="0">
                <a:latin typeface="+mn-lt"/>
                <a:cs typeface="Times New Roman"/>
              </a:rPr>
              <a:t> </a:t>
            </a:r>
            <a:r>
              <a:rPr lang="en-US" sz="2800" b="1" spc="131" dirty="0">
                <a:latin typeface="+mn-lt"/>
                <a:cs typeface="Times New Roman"/>
              </a:rPr>
              <a:t>trình</a:t>
            </a:r>
            <a:r>
              <a:rPr lang="en-US" sz="2800" b="1" spc="-105" dirty="0">
                <a:latin typeface="+mn-lt"/>
                <a:cs typeface="Times New Roman"/>
              </a:rPr>
              <a:t> </a:t>
            </a:r>
            <a:r>
              <a:rPr lang="en-US" sz="2800" b="1" spc="76" dirty="0">
                <a:latin typeface="+mn-lt"/>
                <a:cs typeface="Times New Roman"/>
              </a:rPr>
              <a:t>Python:</a:t>
            </a:r>
            <a:endParaRPr lang="en-US" sz="2800" b="1">
              <a:latin typeface="+mn-lt"/>
              <a:cs typeface="Times New Roman"/>
            </a:endParaRPr>
          </a:p>
          <a:p>
            <a:pPr marL="755668" lvl="1" indent="-289339">
              <a:spcBef>
                <a:spcPts val="650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lang="en-US" sz="2800" spc="93" dirty="0">
                <a:latin typeface="+mn-lt"/>
                <a:cs typeface="Times New Roman"/>
              </a:rPr>
              <a:t>Notepad</a:t>
            </a:r>
            <a:endParaRPr lang="en-US" sz="2800">
              <a:latin typeface="+mn-lt"/>
              <a:cs typeface="Times New Roman"/>
            </a:endParaRPr>
          </a:p>
          <a:p>
            <a:pPr marL="755668" lvl="1" indent="-289339">
              <a:spcBef>
                <a:spcPts val="650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lang="en-US" sz="2800" spc="-122" dirty="0">
                <a:latin typeface="+mn-lt"/>
                <a:cs typeface="Times New Roman"/>
              </a:rPr>
              <a:t>IDLE </a:t>
            </a:r>
            <a:r>
              <a:rPr lang="en-US" sz="2800" spc="101" dirty="0">
                <a:latin typeface="+mn-lt"/>
                <a:cs typeface="Times New Roman"/>
              </a:rPr>
              <a:t>(Python </a:t>
            </a:r>
            <a:r>
              <a:rPr lang="en-US" sz="2800" spc="55" dirty="0">
                <a:latin typeface="+mn-lt"/>
                <a:cs typeface="Times New Roman"/>
              </a:rPr>
              <a:t>3.5</a:t>
            </a:r>
            <a:r>
              <a:rPr lang="en-US" sz="2800" spc="-283" dirty="0">
                <a:latin typeface="+mn-lt"/>
                <a:cs typeface="Times New Roman"/>
              </a:rPr>
              <a:t> </a:t>
            </a:r>
            <a:r>
              <a:rPr lang="en-US" sz="2800" spc="96" dirty="0">
                <a:latin typeface="+mn-lt"/>
                <a:cs typeface="Times New Roman"/>
              </a:rPr>
              <a:t>64-bit)</a:t>
            </a:r>
            <a:endParaRPr lang="en-US" sz="2800">
              <a:latin typeface="+mn-lt"/>
              <a:cs typeface="Times New Roman"/>
            </a:endParaRPr>
          </a:p>
          <a:p>
            <a:pPr marL="755668" lvl="1" indent="-289339">
              <a:spcBef>
                <a:spcPts val="650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lang="en-US" sz="2800" spc="30" dirty="0">
                <a:latin typeface="+mn-lt"/>
                <a:cs typeface="Times New Roman"/>
              </a:rPr>
              <a:t>Eclipse</a:t>
            </a:r>
            <a:endParaRPr lang="en-US" sz="2800">
              <a:latin typeface="+mn-lt"/>
              <a:cs typeface="Times New Roman"/>
            </a:endParaRPr>
          </a:p>
          <a:p>
            <a:pPr marL="755668" lvl="1" indent="-289339">
              <a:spcBef>
                <a:spcPts val="646"/>
              </a:spcBef>
              <a:buFont typeface="Arial"/>
              <a:buChar char="•"/>
              <a:tabLst>
                <a:tab pos="299519" algn="l"/>
                <a:tab pos="300055" algn="l"/>
              </a:tabLst>
            </a:pPr>
            <a:r>
              <a:rPr lang="en-US" sz="2800" spc="55" dirty="0">
                <a:solidFill>
                  <a:srgbClr val="FF0000"/>
                </a:solidFill>
                <a:latin typeface="+mn-lt"/>
                <a:cs typeface="Times New Roman"/>
              </a:rPr>
              <a:t>Visual Code</a:t>
            </a:r>
            <a:endParaRPr lang="en-US" sz="2800">
              <a:latin typeface="+mn-lt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8</a:t>
            </a:fld>
            <a:endParaRPr spc="122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3584117-124A-EC4C-A0F2-2573276BE4D0}"/>
              </a:ext>
            </a:extLst>
          </p:cNvPr>
          <p:cNvSpPr txBox="1"/>
          <p:nvPr/>
        </p:nvSpPr>
        <p:spPr>
          <a:xfrm>
            <a:off x="452199" y="546325"/>
            <a:ext cx="8363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tài nguyên học liệu và công cụ lập trình Python</a:t>
            </a:r>
          </a:p>
        </p:txBody>
      </p:sp>
    </p:spTree>
    <p:extLst>
      <p:ext uri="{BB962C8B-B14F-4D97-AF65-F5344CB8AC3E}">
        <p14:creationId xmlns:p14="http://schemas.microsoft.com/office/powerpoint/2010/main" val="259143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387906" y="1355955"/>
            <a:ext cx="9512796" cy="3421810"/>
          </a:xfrm>
          <a:prstGeom prst="rect">
            <a:avLst/>
          </a:prstGeom>
        </p:spPr>
        <p:txBody>
          <a:bodyPr vert="horz" wrap="square" lIns="0" tIns="46077" rIns="0" bIns="0" rtlCol="0">
            <a:spAutoFit/>
          </a:bodyPr>
          <a:lstStyle/>
          <a:p>
            <a:pPr marL="300055" marR="4287" indent="-289339" algn="just">
              <a:lnSpc>
                <a:spcPct val="90000"/>
              </a:lnSpc>
              <a:spcBef>
                <a:spcPts val="363"/>
              </a:spcBef>
              <a:buClr>
                <a:srgbClr val="205D9F"/>
              </a:buClr>
              <a:buFont typeface="Wingdings"/>
              <a:buChar char=""/>
              <a:tabLst>
                <a:tab pos="300055" algn="l"/>
              </a:tabLst>
            </a:pPr>
            <a:r>
              <a:rPr sz="2363" spc="80" dirty="0">
                <a:latin typeface="+mn-lt"/>
                <a:cs typeface="Times New Roman"/>
              </a:rPr>
              <a:t>Python</a:t>
            </a:r>
            <a:r>
              <a:rPr sz="2363" spc="-21" dirty="0">
                <a:latin typeface="+mn-lt"/>
                <a:cs typeface="Times New Roman"/>
              </a:rPr>
              <a:t> </a:t>
            </a:r>
            <a:r>
              <a:rPr sz="2363" spc="38" dirty="0">
                <a:latin typeface="+mn-lt"/>
                <a:cs typeface="Times New Roman"/>
              </a:rPr>
              <a:t>là</a:t>
            </a:r>
            <a:r>
              <a:rPr sz="2363" spc="-30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1</a:t>
            </a:r>
            <a:r>
              <a:rPr sz="2363" spc="-34" dirty="0">
                <a:latin typeface="+mn-lt"/>
                <a:cs typeface="Times New Roman"/>
              </a:rPr>
              <a:t> </a:t>
            </a:r>
            <a:r>
              <a:rPr sz="2363" spc="76" dirty="0">
                <a:latin typeface="+mn-lt"/>
                <a:cs typeface="Times New Roman"/>
              </a:rPr>
              <a:t>ngôn</a:t>
            </a:r>
            <a:r>
              <a:rPr sz="2363" spc="-25" dirty="0">
                <a:latin typeface="+mn-lt"/>
                <a:cs typeface="Times New Roman"/>
              </a:rPr>
              <a:t> </a:t>
            </a:r>
            <a:r>
              <a:rPr sz="2363" spc="105" dirty="0">
                <a:latin typeface="+mn-lt"/>
                <a:cs typeface="Times New Roman"/>
              </a:rPr>
              <a:t>ngữ</a:t>
            </a:r>
            <a:r>
              <a:rPr sz="2363" spc="-34" dirty="0">
                <a:latin typeface="+mn-lt"/>
                <a:cs typeface="Times New Roman"/>
              </a:rPr>
              <a:t> </a:t>
            </a:r>
            <a:r>
              <a:rPr sz="2363" spc="68" dirty="0">
                <a:latin typeface="+mn-lt"/>
                <a:cs typeface="Times New Roman"/>
              </a:rPr>
              <a:t>lập</a:t>
            </a:r>
            <a:r>
              <a:rPr sz="2363" spc="-25" dirty="0">
                <a:latin typeface="+mn-lt"/>
                <a:cs typeface="Times New Roman"/>
              </a:rPr>
              <a:t> </a:t>
            </a:r>
            <a:r>
              <a:rPr sz="2363" spc="118" dirty="0">
                <a:latin typeface="+mn-lt"/>
                <a:cs typeface="Times New Roman"/>
              </a:rPr>
              <a:t>trình</a:t>
            </a:r>
            <a:r>
              <a:rPr sz="2363" spc="-21" dirty="0">
                <a:latin typeface="+mn-lt"/>
                <a:cs typeface="Times New Roman"/>
              </a:rPr>
              <a:t> </a:t>
            </a:r>
            <a:r>
              <a:rPr sz="2363" spc="139" dirty="0">
                <a:latin typeface="+mn-lt"/>
                <a:cs typeface="Times New Roman"/>
              </a:rPr>
              <a:t>đơn</a:t>
            </a:r>
            <a:r>
              <a:rPr sz="2363" spc="-30" dirty="0">
                <a:latin typeface="+mn-lt"/>
                <a:cs typeface="Times New Roman"/>
              </a:rPr>
              <a:t> </a:t>
            </a:r>
            <a:r>
              <a:rPr sz="2363" spc="17" dirty="0">
                <a:latin typeface="+mn-lt"/>
                <a:cs typeface="Times New Roman"/>
              </a:rPr>
              <a:t>giản,</a:t>
            </a:r>
            <a:r>
              <a:rPr sz="2363" spc="-25" dirty="0">
                <a:latin typeface="+mn-lt"/>
                <a:cs typeface="Times New Roman"/>
              </a:rPr>
              <a:t> </a:t>
            </a:r>
            <a:r>
              <a:rPr sz="2363" spc="110" dirty="0">
                <a:latin typeface="+mn-lt"/>
                <a:cs typeface="Times New Roman"/>
              </a:rPr>
              <a:t>nhưng</a:t>
            </a:r>
            <a:r>
              <a:rPr sz="2363" spc="-21" dirty="0">
                <a:latin typeface="+mn-lt"/>
                <a:cs typeface="Times New Roman"/>
              </a:rPr>
              <a:t> </a:t>
            </a:r>
            <a:r>
              <a:rPr sz="2363" spc="114" dirty="0">
                <a:latin typeface="+mn-lt"/>
                <a:cs typeface="Times New Roman"/>
              </a:rPr>
              <a:t>mạnh</a:t>
            </a:r>
            <a:r>
              <a:rPr sz="2363" spc="-25" dirty="0">
                <a:latin typeface="+mn-lt"/>
                <a:cs typeface="Times New Roman"/>
              </a:rPr>
              <a:t> </a:t>
            </a:r>
            <a:r>
              <a:rPr sz="2363" spc="110" dirty="0">
                <a:latin typeface="+mn-lt"/>
                <a:cs typeface="Times New Roman"/>
              </a:rPr>
              <a:t>mẽ</a:t>
            </a:r>
            <a:r>
              <a:rPr sz="2363" spc="-38" dirty="0">
                <a:latin typeface="+mn-lt"/>
                <a:cs typeface="Times New Roman"/>
              </a:rPr>
              <a:t> </a:t>
            </a:r>
            <a:r>
              <a:rPr sz="2363" spc="25" dirty="0">
                <a:latin typeface="+mn-lt"/>
                <a:cs typeface="Times New Roman"/>
              </a:rPr>
              <a:t>và</a:t>
            </a:r>
            <a:r>
              <a:rPr sz="2363" spc="-30" dirty="0">
                <a:latin typeface="+mn-lt"/>
                <a:cs typeface="Times New Roman"/>
              </a:rPr>
              <a:t> </a:t>
            </a:r>
            <a:r>
              <a:rPr sz="2363" spc="105" dirty="0">
                <a:latin typeface="+mn-lt"/>
                <a:cs typeface="Times New Roman"/>
              </a:rPr>
              <a:t>được</a:t>
            </a:r>
            <a:r>
              <a:rPr sz="2363" spc="-25" dirty="0">
                <a:latin typeface="+mn-lt"/>
                <a:cs typeface="Times New Roman"/>
              </a:rPr>
              <a:t> </a:t>
            </a:r>
            <a:r>
              <a:rPr sz="2363" spc="96" dirty="0">
                <a:latin typeface="+mn-lt"/>
                <a:cs typeface="Times New Roman"/>
              </a:rPr>
              <a:t>trang  </a:t>
            </a:r>
            <a:r>
              <a:rPr sz="2363" spc="55" dirty="0">
                <a:latin typeface="+mn-lt"/>
                <a:cs typeface="Times New Roman"/>
              </a:rPr>
              <a:t>bị </a:t>
            </a:r>
            <a:r>
              <a:rPr sz="2363" spc="105" dirty="0">
                <a:latin typeface="+mn-lt"/>
                <a:cs typeface="Times New Roman"/>
              </a:rPr>
              <a:t>những </a:t>
            </a:r>
            <a:r>
              <a:rPr sz="2363" spc="93" dirty="0">
                <a:latin typeface="+mn-lt"/>
                <a:cs typeface="Times New Roman"/>
              </a:rPr>
              <a:t>tính </a:t>
            </a:r>
            <a:r>
              <a:rPr sz="2363" spc="84" dirty="0">
                <a:latin typeface="+mn-lt"/>
                <a:cs typeface="Times New Roman"/>
              </a:rPr>
              <a:t>năng </a:t>
            </a:r>
            <a:r>
              <a:rPr sz="2363" spc="127" dirty="0">
                <a:latin typeface="+mn-lt"/>
                <a:cs typeface="Times New Roman"/>
              </a:rPr>
              <a:t>rất </a:t>
            </a:r>
            <a:r>
              <a:rPr sz="2363" spc="72" dirty="0">
                <a:latin typeface="+mn-lt"/>
                <a:cs typeface="Times New Roman"/>
              </a:rPr>
              <a:t>thích </a:t>
            </a:r>
            <a:r>
              <a:rPr sz="2363" spc="139" dirty="0">
                <a:latin typeface="+mn-lt"/>
                <a:cs typeface="Times New Roman"/>
              </a:rPr>
              <a:t>hợp </a:t>
            </a:r>
            <a:r>
              <a:rPr sz="2363" spc="59" dirty="0">
                <a:latin typeface="+mn-lt"/>
                <a:cs typeface="Times New Roman"/>
              </a:rPr>
              <a:t>cho </a:t>
            </a:r>
            <a:r>
              <a:rPr sz="2363" spc="21" dirty="0">
                <a:latin typeface="+mn-lt"/>
                <a:cs typeface="Times New Roman"/>
              </a:rPr>
              <a:t>việc </a:t>
            </a:r>
            <a:r>
              <a:rPr sz="2363" spc="59" dirty="0">
                <a:latin typeface="+mn-lt"/>
                <a:cs typeface="Times New Roman"/>
              </a:rPr>
              <a:t>xử </a:t>
            </a:r>
            <a:r>
              <a:rPr sz="2363" spc="-34" dirty="0">
                <a:latin typeface="+mn-lt"/>
                <a:cs typeface="Times New Roman"/>
              </a:rPr>
              <a:t>lý </a:t>
            </a:r>
            <a:r>
              <a:rPr sz="2363" spc="156" dirty="0">
                <a:latin typeface="+mn-lt"/>
                <a:cs typeface="Times New Roman"/>
              </a:rPr>
              <a:t>dữ </a:t>
            </a:r>
            <a:r>
              <a:rPr sz="2363" spc="46" dirty="0">
                <a:latin typeface="+mn-lt"/>
                <a:cs typeface="Times New Roman"/>
              </a:rPr>
              <a:t>liệu </a:t>
            </a:r>
            <a:r>
              <a:rPr sz="2363" spc="84" dirty="0">
                <a:latin typeface="+mn-lt"/>
                <a:cs typeface="Times New Roman"/>
              </a:rPr>
              <a:t>dạng </a:t>
            </a:r>
            <a:r>
              <a:rPr sz="2363" spc="76" dirty="0">
                <a:latin typeface="+mn-lt"/>
                <a:cs typeface="Times New Roman"/>
              </a:rPr>
              <a:t>ngôn </a:t>
            </a:r>
            <a:r>
              <a:rPr sz="2363" spc="101" dirty="0">
                <a:latin typeface="+mn-lt"/>
                <a:cs typeface="Times New Roman"/>
              </a:rPr>
              <a:t>ngữ  </a:t>
            </a:r>
            <a:r>
              <a:rPr sz="2363" spc="17" dirty="0">
                <a:latin typeface="+mn-lt"/>
                <a:cs typeface="Times New Roman"/>
              </a:rPr>
              <a:t>học.</a:t>
            </a:r>
            <a:r>
              <a:rPr sz="2363" spc="8" dirty="0">
                <a:latin typeface="+mn-lt"/>
                <a:cs typeface="Times New Roman"/>
              </a:rPr>
              <a:t> </a:t>
            </a:r>
            <a:r>
              <a:rPr sz="2363" spc="-63" dirty="0">
                <a:latin typeface="+mn-lt"/>
                <a:cs typeface="Times New Roman"/>
              </a:rPr>
              <a:t>Ta</a:t>
            </a:r>
            <a:r>
              <a:rPr sz="2363" spc="4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có</a:t>
            </a:r>
            <a:r>
              <a:rPr sz="2363" spc="8" dirty="0">
                <a:latin typeface="+mn-lt"/>
                <a:cs typeface="Times New Roman"/>
              </a:rPr>
              <a:t> </a:t>
            </a:r>
            <a:r>
              <a:rPr sz="2363" spc="118" dirty="0">
                <a:latin typeface="+mn-lt"/>
                <a:cs typeface="Times New Roman"/>
              </a:rPr>
              <a:t>thể</a:t>
            </a:r>
            <a:r>
              <a:rPr sz="2363" spc="17" dirty="0">
                <a:latin typeface="+mn-lt"/>
                <a:cs typeface="Times New Roman"/>
              </a:rPr>
              <a:t> </a:t>
            </a:r>
            <a:r>
              <a:rPr sz="2363" spc="89" dirty="0">
                <a:latin typeface="+mn-lt"/>
                <a:cs typeface="Times New Roman"/>
              </a:rPr>
              <a:t>download</a:t>
            </a:r>
            <a:r>
              <a:rPr sz="2363" spc="8" dirty="0">
                <a:latin typeface="+mn-lt"/>
                <a:cs typeface="Times New Roman"/>
              </a:rPr>
              <a:t> </a:t>
            </a:r>
            <a:r>
              <a:rPr sz="2363" spc="25" dirty="0">
                <a:latin typeface="+mn-lt"/>
                <a:cs typeface="Times New Roman"/>
              </a:rPr>
              <a:t>và</a:t>
            </a:r>
            <a:r>
              <a:rPr sz="2363" spc="4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cài</a:t>
            </a:r>
            <a:r>
              <a:rPr sz="2363" spc="13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đặt</a:t>
            </a:r>
            <a:r>
              <a:rPr sz="2363" spc="4" dirty="0">
                <a:latin typeface="+mn-lt"/>
                <a:cs typeface="Times New Roman"/>
              </a:rPr>
              <a:t> </a:t>
            </a:r>
            <a:r>
              <a:rPr sz="2363" spc="96" dirty="0">
                <a:latin typeface="+mn-lt"/>
                <a:cs typeface="Times New Roman"/>
              </a:rPr>
              <a:t>python</a:t>
            </a:r>
            <a:r>
              <a:rPr sz="2363" spc="4" dirty="0">
                <a:latin typeface="+mn-lt"/>
                <a:cs typeface="Times New Roman"/>
              </a:rPr>
              <a:t> </a:t>
            </a:r>
            <a:r>
              <a:rPr sz="2363" spc="110" dirty="0">
                <a:latin typeface="+mn-lt"/>
                <a:cs typeface="Times New Roman"/>
              </a:rPr>
              <a:t>một</a:t>
            </a:r>
            <a:r>
              <a:rPr sz="2363" spc="13" dirty="0">
                <a:latin typeface="+mn-lt"/>
                <a:cs typeface="Times New Roman"/>
              </a:rPr>
              <a:t> </a:t>
            </a:r>
            <a:r>
              <a:rPr sz="2363" spc="51" dirty="0">
                <a:latin typeface="+mn-lt"/>
                <a:cs typeface="Times New Roman"/>
              </a:rPr>
              <a:t>cách</a:t>
            </a:r>
            <a:r>
              <a:rPr sz="2363" spc="8" dirty="0">
                <a:latin typeface="+mn-lt"/>
                <a:cs typeface="Times New Roman"/>
              </a:rPr>
              <a:t> </a:t>
            </a:r>
            <a:r>
              <a:rPr sz="2363" spc="105" dirty="0">
                <a:latin typeface="+mn-lt"/>
                <a:cs typeface="Times New Roman"/>
              </a:rPr>
              <a:t>hoàn</a:t>
            </a:r>
            <a:r>
              <a:rPr sz="2363" spc="8" dirty="0">
                <a:latin typeface="+mn-lt"/>
                <a:cs typeface="Times New Roman"/>
              </a:rPr>
              <a:t> </a:t>
            </a:r>
            <a:r>
              <a:rPr sz="2363" spc="105" dirty="0">
                <a:latin typeface="+mn-lt"/>
                <a:cs typeface="Times New Roman"/>
              </a:rPr>
              <a:t>toàn</a:t>
            </a:r>
            <a:r>
              <a:rPr sz="2363" spc="13" dirty="0">
                <a:latin typeface="+mn-lt"/>
                <a:cs typeface="Times New Roman"/>
              </a:rPr>
              <a:t> </a:t>
            </a:r>
            <a:r>
              <a:rPr sz="2363" spc="84" dirty="0">
                <a:latin typeface="+mn-lt"/>
                <a:cs typeface="Times New Roman"/>
              </a:rPr>
              <a:t>miễn</a:t>
            </a:r>
            <a:r>
              <a:rPr sz="2363" spc="8" dirty="0">
                <a:latin typeface="+mn-lt"/>
                <a:cs typeface="Times New Roman"/>
              </a:rPr>
              <a:t> </a:t>
            </a:r>
            <a:r>
              <a:rPr sz="2363" spc="84" dirty="0">
                <a:latin typeface="+mn-lt"/>
                <a:cs typeface="Times New Roman"/>
              </a:rPr>
              <a:t>phí  </a:t>
            </a:r>
            <a:r>
              <a:rPr sz="2363" spc="80" dirty="0">
                <a:latin typeface="+mn-lt"/>
                <a:cs typeface="Times New Roman"/>
              </a:rPr>
              <a:t>tại</a:t>
            </a:r>
            <a:r>
              <a:rPr sz="2363" spc="80" dirty="0">
                <a:solidFill>
                  <a:srgbClr val="0000FF"/>
                </a:solidFill>
                <a:latin typeface="+mn-lt"/>
                <a:cs typeface="Times New Roman"/>
              </a:rPr>
              <a:t> </a:t>
            </a:r>
            <a:r>
              <a:rPr sz="2363" u="heavy" spc="10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imes New Roman"/>
                <a:hlinkClick r:id="rId2"/>
              </a:rPr>
              <a:t>http://www.python.org</a:t>
            </a:r>
            <a:r>
              <a:rPr sz="2363" spc="-190" dirty="0">
                <a:solidFill>
                  <a:srgbClr val="0000FF"/>
                </a:solidFill>
                <a:latin typeface="+mn-lt"/>
                <a:cs typeface="Times New Roman"/>
                <a:hlinkClick r:id="rId2"/>
              </a:rPr>
              <a:t> </a:t>
            </a:r>
            <a:r>
              <a:rPr sz="2363" spc="-110" dirty="0">
                <a:latin typeface="+mn-lt"/>
                <a:cs typeface="Times New Roman"/>
              </a:rPr>
              <a:t>.</a:t>
            </a:r>
            <a:endParaRPr sz="2363" dirty="0">
              <a:latin typeface="+mn-lt"/>
              <a:cs typeface="Times New Roman"/>
            </a:endParaRPr>
          </a:p>
          <a:p>
            <a:pPr marL="300055" marR="4287" indent="-289339" algn="just">
              <a:lnSpc>
                <a:spcPct val="90000"/>
              </a:lnSpc>
              <a:spcBef>
                <a:spcPts val="839"/>
              </a:spcBef>
              <a:buClr>
                <a:srgbClr val="205D9F"/>
              </a:buClr>
              <a:buFont typeface="Wingdings"/>
              <a:buChar char=""/>
              <a:tabLst>
                <a:tab pos="300055" algn="l"/>
              </a:tabLst>
            </a:pPr>
            <a:r>
              <a:rPr sz="2363" spc="80" dirty="0">
                <a:latin typeface="+mn-lt"/>
                <a:cs typeface="Times New Roman"/>
              </a:rPr>
              <a:t>Python </a:t>
            </a:r>
            <a:r>
              <a:rPr sz="2363" spc="55" dirty="0">
                <a:latin typeface="+mn-lt"/>
                <a:cs typeface="Times New Roman"/>
              </a:rPr>
              <a:t>cũng </a:t>
            </a:r>
            <a:r>
              <a:rPr sz="2363" spc="38" dirty="0">
                <a:latin typeface="+mn-lt"/>
                <a:cs typeface="Times New Roman"/>
              </a:rPr>
              <a:t>là </a:t>
            </a:r>
            <a:r>
              <a:rPr sz="2363" spc="122" dirty="0">
                <a:latin typeface="+mn-lt"/>
                <a:cs typeface="Times New Roman"/>
              </a:rPr>
              <a:t>1 </a:t>
            </a:r>
            <a:r>
              <a:rPr sz="2363" spc="76" dirty="0">
                <a:latin typeface="+mn-lt"/>
                <a:cs typeface="Times New Roman"/>
              </a:rPr>
              <a:t>ngôn </a:t>
            </a:r>
            <a:r>
              <a:rPr sz="2363" spc="101" dirty="0">
                <a:latin typeface="+mn-lt"/>
                <a:cs typeface="Times New Roman"/>
              </a:rPr>
              <a:t>ngữ </a:t>
            </a:r>
            <a:r>
              <a:rPr sz="2363" spc="114" dirty="0">
                <a:latin typeface="+mn-lt"/>
                <a:cs typeface="Times New Roman"/>
              </a:rPr>
              <a:t>hướng </a:t>
            </a:r>
            <a:r>
              <a:rPr sz="2363" spc="63" dirty="0">
                <a:latin typeface="+mn-lt"/>
                <a:cs typeface="Times New Roman"/>
              </a:rPr>
              <a:t>đối </a:t>
            </a:r>
            <a:r>
              <a:rPr sz="2363" spc="76" dirty="0">
                <a:latin typeface="+mn-lt"/>
                <a:cs typeface="Times New Roman"/>
              </a:rPr>
              <a:t>tượng, </a:t>
            </a:r>
            <a:r>
              <a:rPr sz="2363" spc="25" dirty="0">
                <a:latin typeface="+mn-lt"/>
                <a:cs typeface="Times New Roman"/>
              </a:rPr>
              <a:t>và </a:t>
            </a:r>
            <a:r>
              <a:rPr sz="2363" spc="59" dirty="0">
                <a:latin typeface="+mn-lt"/>
                <a:cs typeface="Times New Roman"/>
              </a:rPr>
              <a:t>cũng </a:t>
            </a:r>
            <a:r>
              <a:rPr sz="2363" spc="76" dirty="0">
                <a:latin typeface="+mn-lt"/>
                <a:cs typeface="Times New Roman"/>
              </a:rPr>
              <a:t>đồng </a:t>
            </a:r>
            <a:r>
              <a:rPr sz="2363" spc="105" dirty="0">
                <a:latin typeface="+mn-lt"/>
                <a:cs typeface="Times New Roman"/>
              </a:rPr>
              <a:t>thời </a:t>
            </a:r>
            <a:r>
              <a:rPr sz="2363" spc="38" dirty="0">
                <a:latin typeface="+mn-lt"/>
                <a:cs typeface="Times New Roman"/>
              </a:rPr>
              <a:t>là </a:t>
            </a:r>
            <a:r>
              <a:rPr sz="2363" spc="122" dirty="0">
                <a:latin typeface="+mn-lt"/>
                <a:cs typeface="Times New Roman"/>
              </a:rPr>
              <a:t>1  </a:t>
            </a:r>
            <a:r>
              <a:rPr sz="2363" spc="76" dirty="0">
                <a:latin typeface="+mn-lt"/>
                <a:cs typeface="Times New Roman"/>
              </a:rPr>
              <a:t>ngôn </a:t>
            </a:r>
            <a:r>
              <a:rPr sz="2363" spc="101" dirty="0">
                <a:latin typeface="+mn-lt"/>
                <a:cs typeface="Times New Roman"/>
              </a:rPr>
              <a:t>ngữ </a:t>
            </a:r>
            <a:r>
              <a:rPr sz="2363" spc="42" dirty="0">
                <a:latin typeface="+mn-lt"/>
                <a:cs typeface="Times New Roman"/>
              </a:rPr>
              <a:t>động, </a:t>
            </a:r>
            <a:r>
              <a:rPr sz="2363" spc="101" dirty="0">
                <a:latin typeface="+mn-lt"/>
                <a:cs typeface="Times New Roman"/>
              </a:rPr>
              <a:t>nó </a:t>
            </a:r>
            <a:r>
              <a:rPr sz="2363" spc="105" dirty="0">
                <a:latin typeface="+mn-lt"/>
                <a:cs typeface="Times New Roman"/>
              </a:rPr>
              <a:t>được </a:t>
            </a:r>
            <a:r>
              <a:rPr sz="2363" spc="101" dirty="0">
                <a:latin typeface="+mn-lt"/>
                <a:cs typeface="Times New Roman"/>
              </a:rPr>
              <a:t>trang </a:t>
            </a:r>
            <a:r>
              <a:rPr sz="2363" spc="55" dirty="0">
                <a:latin typeface="+mn-lt"/>
                <a:cs typeface="Times New Roman"/>
              </a:rPr>
              <a:t>bị </a:t>
            </a:r>
            <a:r>
              <a:rPr sz="2363" spc="110" dirty="0">
                <a:latin typeface="+mn-lt"/>
                <a:cs typeface="Times New Roman"/>
              </a:rPr>
              <a:t>những </a:t>
            </a:r>
            <a:r>
              <a:rPr sz="2363" spc="152" dirty="0">
                <a:latin typeface="+mn-lt"/>
                <a:cs typeface="Times New Roman"/>
              </a:rPr>
              <a:t>thư </a:t>
            </a:r>
            <a:r>
              <a:rPr sz="2363" spc="59" dirty="0">
                <a:latin typeface="+mn-lt"/>
                <a:cs typeface="Times New Roman"/>
              </a:rPr>
              <a:t>viện </a:t>
            </a:r>
            <a:r>
              <a:rPr sz="2363" spc="89" dirty="0">
                <a:latin typeface="+mn-lt"/>
                <a:cs typeface="Times New Roman"/>
              </a:rPr>
              <a:t>tiêu </a:t>
            </a:r>
            <a:r>
              <a:rPr sz="2363" spc="93" dirty="0">
                <a:latin typeface="+mn-lt"/>
                <a:cs typeface="Times New Roman"/>
              </a:rPr>
              <a:t>chuẩn </a:t>
            </a:r>
            <a:r>
              <a:rPr sz="2363" spc="72" dirty="0">
                <a:latin typeface="+mn-lt"/>
                <a:cs typeface="Times New Roman"/>
              </a:rPr>
              <a:t>khổng </a:t>
            </a:r>
            <a:r>
              <a:rPr sz="2363" spc="25" dirty="0">
                <a:latin typeface="+mn-lt"/>
                <a:cs typeface="Times New Roman"/>
              </a:rPr>
              <a:t>lồ </a:t>
            </a:r>
            <a:r>
              <a:rPr sz="2363" spc="-38" dirty="0">
                <a:latin typeface="+mn-lt"/>
                <a:cs typeface="Times New Roman"/>
              </a:rPr>
              <a:t>:  </a:t>
            </a:r>
            <a:r>
              <a:rPr sz="2363" spc="165" dirty="0">
                <a:latin typeface="+mn-lt"/>
                <a:cs typeface="Times New Roman"/>
              </a:rPr>
              <a:t>từ </a:t>
            </a:r>
            <a:r>
              <a:rPr sz="2363" spc="46" dirty="0">
                <a:latin typeface="+mn-lt"/>
                <a:cs typeface="Times New Roman"/>
              </a:rPr>
              <a:t>web, </a:t>
            </a:r>
            <a:r>
              <a:rPr sz="2363" spc="59" dirty="0">
                <a:latin typeface="+mn-lt"/>
                <a:cs typeface="Times New Roman"/>
              </a:rPr>
              <a:t>xử </a:t>
            </a:r>
            <a:r>
              <a:rPr sz="2363" spc="-34" dirty="0">
                <a:latin typeface="+mn-lt"/>
                <a:cs typeface="Times New Roman"/>
              </a:rPr>
              <a:t>lý </a:t>
            </a:r>
            <a:r>
              <a:rPr sz="2363" spc="80" dirty="0">
                <a:latin typeface="+mn-lt"/>
                <a:cs typeface="Times New Roman"/>
              </a:rPr>
              <a:t>số </a:t>
            </a:r>
            <a:r>
              <a:rPr sz="2363" spc="17" dirty="0">
                <a:latin typeface="+mn-lt"/>
                <a:cs typeface="Times New Roman"/>
              </a:rPr>
              <a:t>học, </a:t>
            </a:r>
            <a:r>
              <a:rPr sz="2363" spc="122" dirty="0">
                <a:latin typeface="+mn-lt"/>
                <a:cs typeface="Times New Roman"/>
              </a:rPr>
              <a:t>đến </a:t>
            </a:r>
            <a:r>
              <a:rPr sz="2363" spc="46" dirty="0">
                <a:latin typeface="+mn-lt"/>
                <a:cs typeface="Times New Roman"/>
              </a:rPr>
              <a:t>cả </a:t>
            </a:r>
            <a:r>
              <a:rPr sz="2363" spc="68" dirty="0">
                <a:latin typeface="+mn-lt"/>
                <a:cs typeface="Times New Roman"/>
              </a:rPr>
              <a:t>lập </a:t>
            </a:r>
            <a:r>
              <a:rPr sz="2363" spc="114" dirty="0">
                <a:latin typeface="+mn-lt"/>
                <a:cs typeface="Times New Roman"/>
              </a:rPr>
              <a:t>trình </a:t>
            </a:r>
            <a:r>
              <a:rPr sz="2363" spc="96" dirty="0">
                <a:latin typeface="+mn-lt"/>
                <a:cs typeface="Times New Roman"/>
              </a:rPr>
              <a:t>đồ </a:t>
            </a:r>
            <a:r>
              <a:rPr sz="2363" spc="46" dirty="0">
                <a:latin typeface="+mn-lt"/>
                <a:cs typeface="Times New Roman"/>
              </a:rPr>
              <a:t>hoạ, </a:t>
            </a:r>
            <a:r>
              <a:rPr sz="2363" spc="80" dirty="0">
                <a:latin typeface="+mn-lt"/>
                <a:cs typeface="Times New Roman"/>
              </a:rPr>
              <a:t>machine </a:t>
            </a:r>
            <a:r>
              <a:rPr sz="2363" spc="76" dirty="0">
                <a:latin typeface="+mn-lt"/>
                <a:cs typeface="Times New Roman"/>
              </a:rPr>
              <a:t>learning  </a:t>
            </a:r>
            <a:r>
              <a:rPr sz="2363" spc="101" dirty="0">
                <a:latin typeface="+mn-lt"/>
                <a:cs typeface="Times New Roman"/>
              </a:rPr>
              <a:t>(</a:t>
            </a:r>
            <a:r>
              <a:rPr sz="2363" u="heavy" spc="10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imes New Roman"/>
                <a:hlinkClick r:id="rId3"/>
              </a:rPr>
              <a:t>https://scikit-learn.org</a:t>
            </a:r>
            <a:r>
              <a:rPr sz="2363" spc="-55" dirty="0">
                <a:solidFill>
                  <a:srgbClr val="0000FF"/>
                </a:solidFill>
                <a:latin typeface="+mn-lt"/>
                <a:cs typeface="Times New Roman"/>
                <a:hlinkClick r:id="rId3"/>
              </a:rPr>
              <a:t> </a:t>
            </a:r>
            <a:r>
              <a:rPr sz="2363" dirty="0">
                <a:latin typeface="+mn-lt"/>
                <a:cs typeface="Times New Roman"/>
              </a:rPr>
              <a:t>).</a:t>
            </a:r>
            <a:r>
              <a:rPr sz="2363" spc="-38" dirty="0">
                <a:latin typeface="+mn-lt"/>
                <a:cs typeface="Times New Roman"/>
              </a:rPr>
              <a:t> </a:t>
            </a:r>
            <a:r>
              <a:rPr sz="2363" spc="84" dirty="0">
                <a:latin typeface="+mn-lt"/>
                <a:cs typeface="Times New Roman"/>
              </a:rPr>
              <a:t>Python</a:t>
            </a:r>
            <a:r>
              <a:rPr sz="2363" spc="-46" dirty="0">
                <a:latin typeface="+mn-lt"/>
                <a:cs typeface="Times New Roman"/>
              </a:rPr>
              <a:t> </a:t>
            </a:r>
            <a:r>
              <a:rPr sz="2363" spc="105" dirty="0">
                <a:latin typeface="+mn-lt"/>
                <a:cs typeface="Times New Roman"/>
              </a:rPr>
              <a:t>được</a:t>
            </a:r>
            <a:r>
              <a:rPr sz="2363" spc="-46" dirty="0">
                <a:latin typeface="+mn-lt"/>
                <a:cs typeface="Times New Roman"/>
              </a:rPr>
              <a:t> </a:t>
            </a:r>
            <a:r>
              <a:rPr sz="2363" spc="139" dirty="0">
                <a:latin typeface="+mn-lt"/>
                <a:cs typeface="Times New Roman"/>
              </a:rPr>
              <a:t>sử</a:t>
            </a:r>
            <a:r>
              <a:rPr sz="2363" spc="-55" dirty="0">
                <a:latin typeface="+mn-lt"/>
                <a:cs typeface="Times New Roman"/>
              </a:rPr>
              <a:t> </a:t>
            </a:r>
            <a:r>
              <a:rPr sz="2363" spc="93" dirty="0">
                <a:latin typeface="+mn-lt"/>
                <a:cs typeface="Times New Roman"/>
              </a:rPr>
              <a:t>dụng</a:t>
            </a:r>
            <a:r>
              <a:rPr sz="2363" spc="-42" dirty="0">
                <a:latin typeface="+mn-lt"/>
                <a:cs typeface="Times New Roman"/>
              </a:rPr>
              <a:t> </a:t>
            </a:r>
            <a:r>
              <a:rPr sz="2363" spc="84" dirty="0">
                <a:latin typeface="+mn-lt"/>
                <a:cs typeface="Times New Roman"/>
              </a:rPr>
              <a:t>rộng</a:t>
            </a:r>
            <a:r>
              <a:rPr sz="2363" spc="-42" dirty="0">
                <a:latin typeface="+mn-lt"/>
                <a:cs typeface="Times New Roman"/>
              </a:rPr>
              <a:t> </a:t>
            </a:r>
            <a:r>
              <a:rPr sz="2363" spc="80" dirty="0">
                <a:latin typeface="+mn-lt"/>
                <a:cs typeface="Times New Roman"/>
              </a:rPr>
              <a:t>rãi</a:t>
            </a:r>
            <a:r>
              <a:rPr sz="2363" spc="-46" dirty="0">
                <a:latin typeface="+mn-lt"/>
                <a:cs typeface="Times New Roman"/>
              </a:rPr>
              <a:t> </a:t>
            </a:r>
            <a:r>
              <a:rPr sz="2363" spc="96" dirty="0">
                <a:latin typeface="+mn-lt"/>
                <a:cs typeface="Times New Roman"/>
              </a:rPr>
              <a:t>trong</a:t>
            </a:r>
            <a:r>
              <a:rPr sz="2363" spc="-42" dirty="0">
                <a:latin typeface="+mn-lt"/>
                <a:cs typeface="Times New Roman"/>
              </a:rPr>
              <a:t> </a:t>
            </a:r>
            <a:r>
              <a:rPr sz="2363" spc="110" dirty="0">
                <a:latin typeface="+mn-lt"/>
                <a:cs typeface="Times New Roman"/>
              </a:rPr>
              <a:t>sản</a:t>
            </a:r>
            <a:r>
              <a:rPr sz="2363" spc="-51" dirty="0">
                <a:latin typeface="+mn-lt"/>
                <a:cs typeface="Times New Roman"/>
              </a:rPr>
              <a:t> </a:t>
            </a:r>
            <a:r>
              <a:rPr sz="2363" spc="42" dirty="0">
                <a:latin typeface="+mn-lt"/>
                <a:cs typeface="Times New Roman"/>
              </a:rPr>
              <a:t>xuất,  </a:t>
            </a:r>
            <a:r>
              <a:rPr sz="2363" spc="84" dirty="0">
                <a:latin typeface="+mn-lt"/>
                <a:cs typeface="Times New Roman"/>
              </a:rPr>
              <a:t>khoa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17" dirty="0">
                <a:latin typeface="+mn-lt"/>
                <a:cs typeface="Times New Roman"/>
              </a:rPr>
              <a:t>học,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59" dirty="0">
                <a:latin typeface="+mn-lt"/>
                <a:cs typeface="Times New Roman"/>
              </a:rPr>
              <a:t>hay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34" dirty="0">
                <a:latin typeface="+mn-lt"/>
                <a:cs typeface="Times New Roman"/>
              </a:rPr>
              <a:t>giáo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80" dirty="0">
                <a:latin typeface="+mn-lt"/>
                <a:cs typeface="Times New Roman"/>
              </a:rPr>
              <a:t>dục</a:t>
            </a:r>
            <a:r>
              <a:rPr sz="2363" spc="-59" dirty="0">
                <a:latin typeface="+mn-lt"/>
                <a:cs typeface="Times New Roman"/>
              </a:rPr>
              <a:t> </a:t>
            </a:r>
            <a:r>
              <a:rPr sz="2363" spc="25" dirty="0">
                <a:latin typeface="+mn-lt"/>
                <a:cs typeface="Times New Roman"/>
              </a:rPr>
              <a:t>và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34" dirty="0">
                <a:latin typeface="+mn-lt"/>
                <a:cs typeface="Times New Roman"/>
              </a:rPr>
              <a:t>ngày</a:t>
            </a:r>
            <a:r>
              <a:rPr sz="2363" spc="-59" dirty="0">
                <a:latin typeface="+mn-lt"/>
                <a:cs typeface="Times New Roman"/>
              </a:rPr>
              <a:t> </a:t>
            </a:r>
            <a:r>
              <a:rPr sz="2363" spc="51" dirty="0">
                <a:latin typeface="+mn-lt"/>
                <a:cs typeface="Times New Roman"/>
              </a:rPr>
              <a:t>càng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148" dirty="0">
                <a:latin typeface="+mn-lt"/>
                <a:cs typeface="Times New Roman"/>
              </a:rPr>
              <a:t>trở</a:t>
            </a:r>
            <a:r>
              <a:rPr sz="2363" spc="-59" dirty="0">
                <a:latin typeface="+mn-lt"/>
                <a:cs typeface="Times New Roman"/>
              </a:rPr>
              <a:t> </a:t>
            </a:r>
            <a:r>
              <a:rPr sz="2363" spc="118" dirty="0">
                <a:latin typeface="+mn-lt"/>
                <a:cs typeface="Times New Roman"/>
              </a:rPr>
              <a:t>nên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110" dirty="0">
                <a:latin typeface="+mn-lt"/>
                <a:cs typeface="Times New Roman"/>
              </a:rPr>
              <a:t>phổ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84" dirty="0">
                <a:latin typeface="+mn-lt"/>
                <a:cs typeface="Times New Roman"/>
              </a:rPr>
              <a:t>biến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25" dirty="0">
                <a:latin typeface="+mn-lt"/>
                <a:cs typeface="Times New Roman"/>
              </a:rPr>
              <a:t>và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105" dirty="0">
                <a:latin typeface="+mn-lt"/>
                <a:cs typeface="Times New Roman"/>
              </a:rPr>
              <a:t>hoàn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63" dirty="0">
                <a:latin typeface="+mn-lt"/>
                <a:cs typeface="Times New Roman"/>
              </a:rPr>
              <a:t>thiện.</a:t>
            </a:r>
            <a:endParaRPr sz="2363" dirty="0">
              <a:latin typeface="+mn-lt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9</a:t>
            </a:fld>
            <a:endParaRPr spc="122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3E4B70C-A8A3-F94C-9B62-EBE3B17A47E1}"/>
              </a:ext>
            </a:extLst>
          </p:cNvPr>
          <p:cNvSpPr txBox="1"/>
          <p:nvPr/>
        </p:nvSpPr>
        <p:spPr>
          <a:xfrm>
            <a:off x="452199" y="546325"/>
            <a:ext cx="1475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Kết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luận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208936" y="1576716"/>
            <a:ext cx="9078064" cy="373905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</a:pPr>
            <a:r>
              <a:rPr sz="2363" spc="-21" dirty="0">
                <a:latin typeface="+mn-lt"/>
                <a:cs typeface="Times New Roman"/>
              </a:rPr>
              <a:t>Để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76" dirty="0">
                <a:latin typeface="+mn-lt"/>
                <a:cs typeface="Times New Roman"/>
              </a:rPr>
              <a:t>tải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80" dirty="0">
                <a:latin typeface="+mn-lt"/>
                <a:cs typeface="Times New Roman"/>
              </a:rPr>
              <a:t>Python</a:t>
            </a:r>
            <a:r>
              <a:rPr sz="2363" spc="-38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ta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21" dirty="0">
                <a:latin typeface="+mn-lt"/>
                <a:cs typeface="Times New Roman"/>
              </a:rPr>
              <a:t>vào:</a:t>
            </a:r>
            <a:r>
              <a:rPr sz="2363" spc="-59" dirty="0">
                <a:latin typeface="+mn-lt"/>
                <a:cs typeface="Times New Roman"/>
              </a:rPr>
              <a:t> </a:t>
            </a:r>
            <a:r>
              <a:rPr sz="2363" u="heavy" spc="1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Times New Roman"/>
                <a:hlinkClick r:id="rId2"/>
              </a:rPr>
              <a:t>https://www.python.org/downloads/</a:t>
            </a:r>
            <a:endParaRPr sz="2363" dirty="0">
              <a:latin typeface="+mn-lt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71087" y="2383554"/>
            <a:ext cx="7744825" cy="34461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10</a:t>
            </a:fld>
            <a:endParaRPr spc="122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2623220" y="1766245"/>
            <a:ext cx="5355122" cy="43172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11</a:t>
            </a:fld>
            <a:endParaRPr spc="122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41372" y="1844824"/>
            <a:ext cx="6153448" cy="373905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</a:pPr>
            <a:r>
              <a:rPr sz="2363" spc="-21" dirty="0">
                <a:latin typeface="+mn-lt"/>
                <a:cs typeface="Times New Roman"/>
              </a:rPr>
              <a:t>Tải</a:t>
            </a:r>
            <a:r>
              <a:rPr sz="2363" spc="-89" dirty="0">
                <a:latin typeface="+mn-lt"/>
                <a:cs typeface="Times New Roman"/>
              </a:rPr>
              <a:t> </a:t>
            </a:r>
            <a:r>
              <a:rPr sz="2363" spc="25" dirty="0">
                <a:latin typeface="+mn-lt"/>
                <a:cs typeface="Times New Roman"/>
              </a:rPr>
              <a:t>xong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ta</a:t>
            </a:r>
            <a:r>
              <a:rPr sz="2363" spc="-89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có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76" dirty="0">
                <a:latin typeface="+mn-lt"/>
                <a:cs typeface="Times New Roman"/>
              </a:rPr>
              <a:t>khoảng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-17" dirty="0">
                <a:latin typeface="+mn-lt"/>
                <a:cs typeface="Times New Roman"/>
              </a:rPr>
              <a:t>27MB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59" dirty="0">
                <a:latin typeface="+mn-lt"/>
                <a:cs typeface="Times New Roman"/>
              </a:rPr>
              <a:t>cho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96" dirty="0">
                <a:latin typeface="+mn-lt"/>
                <a:cs typeface="Times New Roman"/>
              </a:rPr>
              <a:t>phiên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114" dirty="0">
                <a:latin typeface="+mn-lt"/>
                <a:cs typeface="Times New Roman"/>
              </a:rPr>
              <a:t>bản</a:t>
            </a:r>
            <a:r>
              <a:rPr sz="2363" spc="-80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3.9.1</a:t>
            </a:r>
            <a:endParaRPr sz="2363">
              <a:latin typeface="+mn-lt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5151" y="2431396"/>
            <a:ext cx="9351049" cy="16832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12</a:t>
            </a:fld>
            <a:endParaRPr spc="122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387906" y="1291662"/>
            <a:ext cx="9724146" cy="373905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  <a:tabLst>
                <a:tab pos="1710851" algn="l"/>
              </a:tabLst>
            </a:pPr>
            <a:r>
              <a:rPr sz="2363" spc="38" dirty="0">
                <a:latin typeface="+mn-lt"/>
                <a:cs typeface="Times New Roman"/>
              </a:rPr>
              <a:t>Double</a:t>
            </a:r>
            <a:r>
              <a:rPr sz="2363" spc="-59" dirty="0">
                <a:latin typeface="+mn-lt"/>
                <a:cs typeface="Times New Roman"/>
              </a:rPr>
              <a:t> </a:t>
            </a:r>
            <a:r>
              <a:rPr sz="2363" spc="4" dirty="0">
                <a:latin typeface="+mn-lt"/>
                <a:cs typeface="Times New Roman"/>
              </a:rPr>
              <a:t>click	</a:t>
            </a:r>
            <a:r>
              <a:rPr sz="2363" spc="110" dirty="0">
                <a:latin typeface="+mn-lt"/>
                <a:cs typeface="Times New Roman"/>
              </a:rPr>
              <a:t>để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cài</a:t>
            </a:r>
            <a:r>
              <a:rPr sz="2363" spc="-80" dirty="0">
                <a:latin typeface="+mn-lt"/>
                <a:cs typeface="Times New Roman"/>
              </a:rPr>
              <a:t> </a:t>
            </a:r>
            <a:r>
              <a:rPr sz="2363" spc="72" dirty="0">
                <a:latin typeface="+mn-lt"/>
                <a:cs typeface="Times New Roman"/>
              </a:rPr>
              <a:t>đặt,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68" dirty="0">
                <a:latin typeface="+mn-lt"/>
                <a:cs typeface="Times New Roman"/>
              </a:rPr>
              <a:t>mặc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93" dirty="0">
                <a:latin typeface="+mn-lt"/>
                <a:cs typeface="Times New Roman"/>
              </a:rPr>
              <a:t>định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38" dirty="0">
                <a:latin typeface="+mn-lt"/>
                <a:cs typeface="Times New Roman"/>
              </a:rPr>
              <a:t>là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148" dirty="0">
                <a:latin typeface="+mn-lt"/>
                <a:cs typeface="Times New Roman"/>
              </a:rPr>
              <a:t>thư</a:t>
            </a:r>
            <a:r>
              <a:rPr sz="2363" spc="-59" dirty="0">
                <a:latin typeface="+mn-lt"/>
                <a:cs typeface="Times New Roman"/>
              </a:rPr>
              <a:t> </a:t>
            </a:r>
            <a:r>
              <a:rPr sz="2363" spc="76" dirty="0">
                <a:latin typeface="+mn-lt"/>
                <a:cs typeface="Times New Roman"/>
              </a:rPr>
              <a:t>mục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114" dirty="0">
                <a:latin typeface="+mn-lt"/>
                <a:cs typeface="Times New Roman"/>
              </a:rPr>
              <a:t>bên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68" dirty="0">
                <a:latin typeface="+mn-lt"/>
                <a:cs typeface="Times New Roman"/>
              </a:rPr>
              <a:t>dưới,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ta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63" dirty="0">
                <a:latin typeface="+mn-lt"/>
                <a:cs typeface="Times New Roman"/>
              </a:rPr>
              <a:t>chuyển</a:t>
            </a:r>
            <a:r>
              <a:rPr sz="2363" spc="-63" dirty="0">
                <a:latin typeface="+mn-lt"/>
                <a:cs typeface="Times New Roman"/>
              </a:rPr>
              <a:t> </a:t>
            </a:r>
            <a:r>
              <a:rPr sz="2363" spc="38" dirty="0">
                <a:latin typeface="+mn-lt"/>
                <a:cs typeface="Times New Roman"/>
              </a:rPr>
              <a:t>vào</a:t>
            </a:r>
            <a:r>
              <a:rPr sz="2363" spc="-59" dirty="0">
                <a:latin typeface="+mn-lt"/>
                <a:cs typeface="Times New Roman"/>
              </a:rPr>
              <a:t> </a:t>
            </a:r>
            <a:r>
              <a:rPr sz="2363" spc="68" dirty="0">
                <a:latin typeface="+mn-lt"/>
                <a:cs typeface="Times New Roman"/>
              </a:rPr>
              <a:t>ổ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-249" dirty="0">
                <a:latin typeface="+mn-lt"/>
                <a:cs typeface="Times New Roman"/>
              </a:rPr>
              <a:t>C</a:t>
            </a:r>
            <a:endParaRPr sz="2363">
              <a:latin typeface="+mn-lt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71637" y="1885950"/>
            <a:ext cx="6307217" cy="3883343"/>
            <a:chOff x="1981200" y="1600200"/>
            <a:chExt cx="7475220" cy="4602480"/>
          </a:xfrm>
        </p:grpSpPr>
        <p:sp>
          <p:nvSpPr>
            <p:cNvPr id="11" name="object 11"/>
            <p:cNvSpPr/>
            <p:nvPr/>
          </p:nvSpPr>
          <p:spPr>
            <a:xfrm>
              <a:off x="1981200" y="1600200"/>
              <a:ext cx="7475220" cy="46024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84926" y="4496561"/>
              <a:ext cx="2726690" cy="762000"/>
            </a:xfrm>
            <a:custGeom>
              <a:avLst/>
              <a:gdLst/>
              <a:ahLst/>
              <a:cxnLst/>
              <a:rect l="l" t="t" r="r" b="b"/>
              <a:pathLst>
                <a:path w="2726690" h="762000">
                  <a:moveTo>
                    <a:pt x="2726435" y="0"/>
                  </a:moveTo>
                  <a:lnTo>
                    <a:pt x="973835" y="0"/>
                  </a:lnTo>
                  <a:lnTo>
                    <a:pt x="973835" y="127000"/>
                  </a:lnTo>
                  <a:lnTo>
                    <a:pt x="0" y="214502"/>
                  </a:lnTo>
                  <a:lnTo>
                    <a:pt x="973835" y="317500"/>
                  </a:lnTo>
                  <a:lnTo>
                    <a:pt x="973835" y="762000"/>
                  </a:lnTo>
                  <a:lnTo>
                    <a:pt x="2726435" y="762000"/>
                  </a:lnTo>
                  <a:lnTo>
                    <a:pt x="2726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84926" y="4496561"/>
              <a:ext cx="2726690" cy="762000"/>
            </a:xfrm>
            <a:custGeom>
              <a:avLst/>
              <a:gdLst/>
              <a:ahLst/>
              <a:cxnLst/>
              <a:rect l="l" t="t" r="r" b="b"/>
              <a:pathLst>
                <a:path w="2726690" h="762000">
                  <a:moveTo>
                    <a:pt x="973835" y="0"/>
                  </a:moveTo>
                  <a:lnTo>
                    <a:pt x="1265935" y="0"/>
                  </a:lnTo>
                  <a:lnTo>
                    <a:pt x="1704085" y="0"/>
                  </a:lnTo>
                  <a:lnTo>
                    <a:pt x="2726435" y="0"/>
                  </a:lnTo>
                  <a:lnTo>
                    <a:pt x="2726435" y="127000"/>
                  </a:lnTo>
                  <a:lnTo>
                    <a:pt x="2726435" y="317500"/>
                  </a:lnTo>
                  <a:lnTo>
                    <a:pt x="2726435" y="762000"/>
                  </a:lnTo>
                  <a:lnTo>
                    <a:pt x="1704085" y="762000"/>
                  </a:lnTo>
                  <a:lnTo>
                    <a:pt x="1265935" y="762000"/>
                  </a:lnTo>
                  <a:lnTo>
                    <a:pt x="973835" y="762000"/>
                  </a:lnTo>
                  <a:lnTo>
                    <a:pt x="973835" y="317500"/>
                  </a:lnTo>
                  <a:lnTo>
                    <a:pt x="0" y="214502"/>
                  </a:lnTo>
                  <a:lnTo>
                    <a:pt x="973835" y="127000"/>
                  </a:lnTo>
                  <a:lnTo>
                    <a:pt x="973835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919740" y="4512028"/>
            <a:ext cx="1212473" cy="244603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10716">
              <a:spcBef>
                <a:spcPts val="84"/>
              </a:spcBef>
            </a:pPr>
            <a:r>
              <a:rPr sz="1519" spc="-59" dirty="0">
                <a:latin typeface="Arial"/>
                <a:cs typeface="Arial"/>
              </a:rPr>
              <a:t>2. </a:t>
            </a:r>
            <a:r>
              <a:rPr sz="1519" spc="-118" dirty="0">
                <a:latin typeface="Arial"/>
                <a:cs typeface="Arial"/>
              </a:rPr>
              <a:t>Bấm </a:t>
            </a:r>
            <a:r>
              <a:rPr sz="1519" spc="-89" dirty="0">
                <a:latin typeface="Arial"/>
                <a:cs typeface="Arial"/>
              </a:rPr>
              <a:t>vào</a:t>
            </a:r>
            <a:r>
              <a:rPr sz="1519" spc="-127" dirty="0">
                <a:latin typeface="Arial"/>
                <a:cs typeface="Arial"/>
              </a:rPr>
              <a:t> </a:t>
            </a:r>
            <a:r>
              <a:rPr sz="1519" spc="-76" dirty="0">
                <a:latin typeface="Arial"/>
                <a:cs typeface="Arial"/>
              </a:rPr>
              <a:t>đây</a:t>
            </a:r>
            <a:endParaRPr sz="1519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61823" y="5228152"/>
            <a:ext cx="1921847" cy="664369"/>
            <a:chOff x="6117716" y="5561329"/>
            <a:chExt cx="2277745" cy="787400"/>
          </a:xfrm>
        </p:grpSpPr>
        <p:sp>
          <p:nvSpPr>
            <p:cNvPr id="16" name="object 16"/>
            <p:cNvSpPr/>
            <p:nvPr/>
          </p:nvSpPr>
          <p:spPr>
            <a:xfrm>
              <a:off x="6130416" y="5574029"/>
              <a:ext cx="2252345" cy="762000"/>
            </a:xfrm>
            <a:custGeom>
              <a:avLst/>
              <a:gdLst/>
              <a:ahLst/>
              <a:cxnLst/>
              <a:rect l="l" t="t" r="r" b="b"/>
              <a:pathLst>
                <a:path w="2252345" h="762000">
                  <a:moveTo>
                    <a:pt x="2252344" y="0"/>
                  </a:moveTo>
                  <a:lnTo>
                    <a:pt x="804544" y="0"/>
                  </a:lnTo>
                  <a:lnTo>
                    <a:pt x="804544" y="127000"/>
                  </a:lnTo>
                  <a:lnTo>
                    <a:pt x="0" y="214553"/>
                  </a:lnTo>
                  <a:lnTo>
                    <a:pt x="804544" y="317500"/>
                  </a:lnTo>
                  <a:lnTo>
                    <a:pt x="804544" y="762000"/>
                  </a:lnTo>
                  <a:lnTo>
                    <a:pt x="2252344" y="762000"/>
                  </a:lnTo>
                  <a:lnTo>
                    <a:pt x="225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30416" y="5574029"/>
              <a:ext cx="2252345" cy="762000"/>
            </a:xfrm>
            <a:custGeom>
              <a:avLst/>
              <a:gdLst/>
              <a:ahLst/>
              <a:cxnLst/>
              <a:rect l="l" t="t" r="r" b="b"/>
              <a:pathLst>
                <a:path w="2252345" h="762000">
                  <a:moveTo>
                    <a:pt x="804544" y="0"/>
                  </a:moveTo>
                  <a:lnTo>
                    <a:pt x="1045844" y="0"/>
                  </a:lnTo>
                  <a:lnTo>
                    <a:pt x="1407794" y="0"/>
                  </a:lnTo>
                  <a:lnTo>
                    <a:pt x="2252344" y="0"/>
                  </a:lnTo>
                  <a:lnTo>
                    <a:pt x="2252344" y="127000"/>
                  </a:lnTo>
                  <a:lnTo>
                    <a:pt x="2252344" y="317500"/>
                  </a:lnTo>
                  <a:lnTo>
                    <a:pt x="2252344" y="762000"/>
                  </a:lnTo>
                  <a:lnTo>
                    <a:pt x="1407794" y="762000"/>
                  </a:lnTo>
                  <a:lnTo>
                    <a:pt x="1045844" y="762000"/>
                  </a:lnTo>
                  <a:lnTo>
                    <a:pt x="804544" y="762000"/>
                  </a:lnTo>
                  <a:lnTo>
                    <a:pt x="804544" y="317500"/>
                  </a:lnTo>
                  <a:lnTo>
                    <a:pt x="0" y="214553"/>
                  </a:lnTo>
                  <a:lnTo>
                    <a:pt x="804544" y="127000"/>
                  </a:lnTo>
                  <a:lnTo>
                    <a:pt x="804544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99464" y="5420906"/>
            <a:ext cx="925830" cy="244603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10716">
              <a:spcBef>
                <a:spcPts val="84"/>
              </a:spcBef>
            </a:pPr>
            <a:r>
              <a:rPr sz="1519" spc="-59" dirty="0">
                <a:latin typeface="Arial"/>
                <a:cs typeface="Arial"/>
              </a:rPr>
              <a:t>1. </a:t>
            </a:r>
            <a:r>
              <a:rPr sz="1519" spc="-110" dirty="0">
                <a:latin typeface="Arial"/>
                <a:cs typeface="Arial"/>
              </a:rPr>
              <a:t>Chọn</a:t>
            </a:r>
            <a:r>
              <a:rPr sz="1519" spc="-152" dirty="0">
                <a:latin typeface="Arial"/>
                <a:cs typeface="Arial"/>
              </a:rPr>
              <a:t> </a:t>
            </a:r>
            <a:r>
              <a:rPr sz="1519" spc="-21" dirty="0">
                <a:latin typeface="Arial"/>
                <a:cs typeface="Arial"/>
              </a:rPr>
              <a:t>hết</a:t>
            </a:r>
            <a:endParaRPr sz="1519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13</a:t>
            </a:fld>
            <a:endParaRPr spc="122" dirty="0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1607344" y="1628776"/>
            <a:ext cx="7491293" cy="4432518"/>
            <a:chOff x="1905000" y="1295400"/>
            <a:chExt cx="8878570" cy="5253355"/>
          </a:xfrm>
        </p:grpSpPr>
        <p:sp>
          <p:nvSpPr>
            <p:cNvPr id="10" name="object 10"/>
            <p:cNvSpPr/>
            <p:nvPr/>
          </p:nvSpPr>
          <p:spPr>
            <a:xfrm>
              <a:off x="1905000" y="1295400"/>
              <a:ext cx="8534400" cy="52532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06611" y="5159502"/>
              <a:ext cx="2064385" cy="852169"/>
            </a:xfrm>
            <a:custGeom>
              <a:avLst/>
              <a:gdLst/>
              <a:ahLst/>
              <a:cxnLst/>
              <a:rect l="l" t="t" r="r" b="b"/>
              <a:pathLst>
                <a:path w="2064384" h="852170">
                  <a:moveTo>
                    <a:pt x="2064258" y="0"/>
                  </a:moveTo>
                  <a:lnTo>
                    <a:pt x="616458" y="0"/>
                  </a:lnTo>
                  <a:lnTo>
                    <a:pt x="616458" y="444500"/>
                  </a:lnTo>
                  <a:lnTo>
                    <a:pt x="0" y="852017"/>
                  </a:lnTo>
                  <a:lnTo>
                    <a:pt x="616458" y="635000"/>
                  </a:lnTo>
                  <a:lnTo>
                    <a:pt x="616458" y="762000"/>
                  </a:lnTo>
                  <a:lnTo>
                    <a:pt x="2064258" y="762000"/>
                  </a:lnTo>
                  <a:lnTo>
                    <a:pt x="20642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06611" y="5159502"/>
              <a:ext cx="2064385" cy="852169"/>
            </a:xfrm>
            <a:custGeom>
              <a:avLst/>
              <a:gdLst/>
              <a:ahLst/>
              <a:cxnLst/>
              <a:rect l="l" t="t" r="r" b="b"/>
              <a:pathLst>
                <a:path w="2064384" h="852170">
                  <a:moveTo>
                    <a:pt x="616458" y="0"/>
                  </a:moveTo>
                  <a:lnTo>
                    <a:pt x="857758" y="0"/>
                  </a:lnTo>
                  <a:lnTo>
                    <a:pt x="1219708" y="0"/>
                  </a:lnTo>
                  <a:lnTo>
                    <a:pt x="2064258" y="0"/>
                  </a:lnTo>
                  <a:lnTo>
                    <a:pt x="2064258" y="444500"/>
                  </a:lnTo>
                  <a:lnTo>
                    <a:pt x="2064258" y="635000"/>
                  </a:lnTo>
                  <a:lnTo>
                    <a:pt x="2064258" y="762000"/>
                  </a:lnTo>
                  <a:lnTo>
                    <a:pt x="1219708" y="762000"/>
                  </a:lnTo>
                  <a:lnTo>
                    <a:pt x="857758" y="762000"/>
                  </a:lnTo>
                  <a:lnTo>
                    <a:pt x="616458" y="762000"/>
                  </a:lnTo>
                  <a:lnTo>
                    <a:pt x="616458" y="635000"/>
                  </a:lnTo>
                  <a:lnTo>
                    <a:pt x="0" y="852017"/>
                  </a:lnTo>
                  <a:lnTo>
                    <a:pt x="616458" y="444500"/>
                  </a:lnTo>
                  <a:lnTo>
                    <a:pt x="616458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2199" y="1198821"/>
            <a:ext cx="2427089" cy="373905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</a:pPr>
            <a:r>
              <a:rPr sz="2363" spc="46" dirty="0">
                <a:latin typeface="+mn-lt"/>
                <a:cs typeface="Times New Roman"/>
              </a:rPr>
              <a:t>Tiếp </a:t>
            </a:r>
            <a:r>
              <a:rPr sz="2363" spc="80" dirty="0">
                <a:latin typeface="+mn-lt"/>
                <a:cs typeface="Times New Roman"/>
              </a:rPr>
              <a:t>tục </a:t>
            </a:r>
            <a:r>
              <a:rPr sz="2363" spc="110" dirty="0">
                <a:latin typeface="+mn-lt"/>
                <a:cs typeface="Times New Roman"/>
              </a:rPr>
              <a:t>bấm</a:t>
            </a:r>
            <a:r>
              <a:rPr sz="2363" spc="-401" dirty="0">
                <a:latin typeface="+mn-lt"/>
                <a:cs typeface="Times New Roman"/>
              </a:rPr>
              <a:t> </a:t>
            </a:r>
            <a:r>
              <a:rPr sz="2363" spc="8" dirty="0">
                <a:latin typeface="+mn-lt"/>
                <a:cs typeface="Times New Roman"/>
              </a:rPr>
              <a:t>Next:</a:t>
            </a:r>
            <a:endParaRPr sz="2363">
              <a:latin typeface="+mn-lt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14</a:t>
            </a:fld>
            <a:endParaRPr spc="122" dirty="0"/>
          </a:p>
        </p:txBody>
      </p:sp>
      <p:sp>
        <p:nvSpPr>
          <p:cNvPr id="14" name="object 14"/>
          <p:cNvSpPr txBox="1"/>
          <p:nvPr/>
        </p:nvSpPr>
        <p:spPr>
          <a:xfrm>
            <a:off x="8096725" y="5071148"/>
            <a:ext cx="759738" cy="244603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10716">
              <a:spcBef>
                <a:spcPts val="84"/>
              </a:spcBef>
            </a:pPr>
            <a:r>
              <a:rPr sz="1519" spc="-118" dirty="0">
                <a:latin typeface="Arial"/>
                <a:cs typeface="Arial"/>
              </a:rPr>
              <a:t>Bấm</a:t>
            </a:r>
            <a:r>
              <a:rPr sz="1519" spc="-148" dirty="0">
                <a:latin typeface="Arial"/>
                <a:cs typeface="Arial"/>
              </a:rPr>
              <a:t> </a:t>
            </a:r>
            <a:r>
              <a:rPr sz="1519" spc="-46" dirty="0">
                <a:latin typeface="Arial"/>
                <a:cs typeface="Arial"/>
              </a:rPr>
              <a:t>next</a:t>
            </a:r>
            <a:endParaRPr sz="1519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52199" y="1198821"/>
            <a:ext cx="3055025" cy="373905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</a:pPr>
            <a:r>
              <a:rPr sz="2363" dirty="0">
                <a:latin typeface="+mn-lt"/>
                <a:cs typeface="Times New Roman"/>
              </a:rPr>
              <a:t>Tick</a:t>
            </a:r>
            <a:r>
              <a:rPr sz="2363" spc="-84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hết</a:t>
            </a:r>
            <a:r>
              <a:rPr sz="2363" spc="-84" dirty="0">
                <a:latin typeface="+mn-lt"/>
                <a:cs typeface="Times New Roman"/>
              </a:rPr>
              <a:t> </a:t>
            </a:r>
            <a:r>
              <a:rPr sz="2363" spc="72" dirty="0">
                <a:latin typeface="+mn-lt"/>
                <a:cs typeface="Times New Roman"/>
              </a:rPr>
              <a:t>rồi</a:t>
            </a:r>
            <a:r>
              <a:rPr sz="2363" spc="-80" dirty="0">
                <a:latin typeface="+mn-lt"/>
                <a:cs typeface="Times New Roman"/>
              </a:rPr>
              <a:t> </a:t>
            </a:r>
            <a:r>
              <a:rPr sz="2363" spc="110" dirty="0">
                <a:latin typeface="+mn-lt"/>
                <a:cs typeface="Times New Roman"/>
              </a:rPr>
              <a:t>bấm</a:t>
            </a:r>
            <a:r>
              <a:rPr sz="2363" spc="-80" dirty="0">
                <a:latin typeface="+mn-lt"/>
                <a:cs typeface="Times New Roman"/>
              </a:rPr>
              <a:t> </a:t>
            </a:r>
            <a:r>
              <a:rPr sz="2363" spc="42" dirty="0">
                <a:latin typeface="+mn-lt"/>
                <a:cs typeface="Times New Roman"/>
              </a:rPr>
              <a:t>Install:</a:t>
            </a:r>
            <a:endParaRPr sz="2363">
              <a:latin typeface="+mn-lt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79711" y="1772816"/>
            <a:ext cx="7078742" cy="4358045"/>
            <a:chOff x="1600200" y="1303019"/>
            <a:chExt cx="8389620" cy="5165090"/>
          </a:xfrm>
        </p:grpSpPr>
        <p:sp>
          <p:nvSpPr>
            <p:cNvPr id="11" name="object 11"/>
            <p:cNvSpPr/>
            <p:nvPr/>
          </p:nvSpPr>
          <p:spPr>
            <a:xfrm>
              <a:off x="1600200" y="1303019"/>
              <a:ext cx="8389619" cy="516483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71336" y="4496562"/>
              <a:ext cx="2435225" cy="800100"/>
            </a:xfrm>
            <a:custGeom>
              <a:avLst/>
              <a:gdLst/>
              <a:ahLst/>
              <a:cxnLst/>
              <a:rect l="l" t="t" r="r" b="b"/>
              <a:pathLst>
                <a:path w="2435225" h="800100">
                  <a:moveTo>
                    <a:pt x="2435224" y="0"/>
                  </a:moveTo>
                  <a:lnTo>
                    <a:pt x="987424" y="0"/>
                  </a:lnTo>
                  <a:lnTo>
                    <a:pt x="987424" y="444500"/>
                  </a:lnTo>
                  <a:lnTo>
                    <a:pt x="0" y="799719"/>
                  </a:lnTo>
                  <a:lnTo>
                    <a:pt x="987424" y="635000"/>
                  </a:lnTo>
                  <a:lnTo>
                    <a:pt x="987424" y="762000"/>
                  </a:lnTo>
                  <a:lnTo>
                    <a:pt x="2435224" y="762000"/>
                  </a:lnTo>
                  <a:lnTo>
                    <a:pt x="2435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71336" y="4496562"/>
              <a:ext cx="2435225" cy="800100"/>
            </a:xfrm>
            <a:custGeom>
              <a:avLst/>
              <a:gdLst/>
              <a:ahLst/>
              <a:cxnLst/>
              <a:rect l="l" t="t" r="r" b="b"/>
              <a:pathLst>
                <a:path w="2435225" h="800100">
                  <a:moveTo>
                    <a:pt x="987424" y="0"/>
                  </a:moveTo>
                  <a:lnTo>
                    <a:pt x="1228724" y="0"/>
                  </a:lnTo>
                  <a:lnTo>
                    <a:pt x="1590674" y="0"/>
                  </a:lnTo>
                  <a:lnTo>
                    <a:pt x="2435224" y="0"/>
                  </a:lnTo>
                  <a:lnTo>
                    <a:pt x="2435224" y="444500"/>
                  </a:lnTo>
                  <a:lnTo>
                    <a:pt x="2435224" y="635000"/>
                  </a:lnTo>
                  <a:lnTo>
                    <a:pt x="2435224" y="762000"/>
                  </a:lnTo>
                  <a:lnTo>
                    <a:pt x="1590674" y="762000"/>
                  </a:lnTo>
                  <a:lnTo>
                    <a:pt x="1228724" y="762000"/>
                  </a:lnTo>
                  <a:lnTo>
                    <a:pt x="987424" y="762000"/>
                  </a:lnTo>
                  <a:lnTo>
                    <a:pt x="987424" y="635000"/>
                  </a:lnTo>
                  <a:lnTo>
                    <a:pt x="0" y="799719"/>
                  </a:lnTo>
                  <a:lnTo>
                    <a:pt x="987424" y="444500"/>
                  </a:lnTo>
                  <a:lnTo>
                    <a:pt x="987424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39644" y="4562241"/>
            <a:ext cx="1004054" cy="478385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1607" algn="ctr">
              <a:spcBef>
                <a:spcPts val="84"/>
              </a:spcBef>
            </a:pPr>
            <a:r>
              <a:rPr sz="1519" spc="-177" dirty="0">
                <a:latin typeface="Arial"/>
                <a:cs typeface="Arial"/>
              </a:rPr>
              <a:t>Ổ</a:t>
            </a:r>
            <a:endParaRPr sz="1519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519" dirty="0">
                <a:latin typeface="Carlito"/>
                <a:cs typeface="Carlito"/>
              </a:rPr>
              <a:t>C</a:t>
            </a:r>
            <a:r>
              <a:rPr sz="1519" spc="-4" dirty="0">
                <a:latin typeface="Carlito"/>
                <a:cs typeface="Carlito"/>
              </a:rPr>
              <a:t>:</a:t>
            </a:r>
            <a:r>
              <a:rPr sz="1519" dirty="0">
                <a:latin typeface="Carlito"/>
                <a:cs typeface="Carlito"/>
              </a:rPr>
              <a:t>\P</a:t>
            </a:r>
            <a:r>
              <a:rPr sz="1519" spc="13" dirty="0">
                <a:latin typeface="Carlito"/>
                <a:cs typeface="Carlito"/>
              </a:rPr>
              <a:t>y</a:t>
            </a:r>
            <a:r>
              <a:rPr sz="1519" dirty="0">
                <a:latin typeface="Carlito"/>
                <a:cs typeface="Carlito"/>
              </a:rPr>
              <a:t>thon39</a:t>
            </a:r>
            <a:endParaRPr sz="1519">
              <a:latin typeface="Carlito"/>
              <a:cs typeface="Carli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15</a:t>
            </a:fld>
            <a:endParaRPr spc="122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52200" y="1198821"/>
            <a:ext cx="5699412" cy="373905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</a:pPr>
            <a:r>
              <a:rPr sz="2363" spc="13" dirty="0">
                <a:latin typeface="+mn-lt"/>
                <a:cs typeface="Times New Roman"/>
              </a:rPr>
              <a:t>Chờ</a:t>
            </a:r>
            <a:r>
              <a:rPr sz="2363" spc="-80" dirty="0">
                <a:latin typeface="+mn-lt"/>
                <a:cs typeface="Times New Roman"/>
              </a:rPr>
              <a:t> </a:t>
            </a:r>
            <a:r>
              <a:rPr sz="2363" spc="110" dirty="0">
                <a:latin typeface="+mn-lt"/>
                <a:cs typeface="Times New Roman"/>
              </a:rPr>
              <a:t>quá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114" dirty="0">
                <a:latin typeface="+mn-lt"/>
                <a:cs typeface="Times New Roman"/>
              </a:rPr>
              <a:t>trình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cài</a:t>
            </a:r>
            <a:r>
              <a:rPr sz="2363" spc="-93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đặt</a:t>
            </a:r>
            <a:r>
              <a:rPr sz="2363" spc="-80" dirty="0">
                <a:latin typeface="+mn-lt"/>
                <a:cs typeface="Times New Roman"/>
              </a:rPr>
              <a:t> </a:t>
            </a:r>
            <a:r>
              <a:rPr sz="2363" spc="105" dirty="0">
                <a:latin typeface="+mn-lt"/>
                <a:cs typeface="Times New Roman"/>
              </a:rPr>
              <a:t>hoàn</a:t>
            </a:r>
            <a:r>
              <a:rPr sz="2363" spc="-80" dirty="0">
                <a:latin typeface="+mn-lt"/>
                <a:cs typeface="Times New Roman"/>
              </a:rPr>
              <a:t> </a:t>
            </a:r>
            <a:r>
              <a:rPr sz="2363" spc="89" dirty="0">
                <a:latin typeface="+mn-lt"/>
                <a:cs typeface="Times New Roman"/>
              </a:rPr>
              <a:t>tất:</a:t>
            </a:r>
            <a:endParaRPr sz="2363">
              <a:latin typeface="+mn-lt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85988" y="1821656"/>
            <a:ext cx="6692979" cy="4119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16</a:t>
            </a:fld>
            <a:endParaRPr spc="122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52199" y="1333088"/>
            <a:ext cx="5123348" cy="373905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</a:pPr>
            <a:r>
              <a:rPr sz="2363" spc="-17" dirty="0">
                <a:latin typeface="+mn-lt"/>
                <a:cs typeface="Times New Roman"/>
              </a:rPr>
              <a:t>Đã</a:t>
            </a:r>
            <a:r>
              <a:rPr sz="2363" spc="-89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cài</a:t>
            </a:r>
            <a:r>
              <a:rPr sz="2363" spc="-96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đặt</a:t>
            </a:r>
            <a:r>
              <a:rPr sz="2363" spc="-93" dirty="0">
                <a:latin typeface="+mn-lt"/>
                <a:cs typeface="Times New Roman"/>
              </a:rPr>
              <a:t> </a:t>
            </a:r>
            <a:r>
              <a:rPr sz="2363" spc="118" dirty="0">
                <a:latin typeface="+mn-lt"/>
                <a:cs typeface="Times New Roman"/>
              </a:rPr>
              <a:t>thành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công:</a:t>
            </a:r>
            <a:endParaRPr sz="2363">
              <a:latin typeface="+mn-lt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43050" y="1885951"/>
            <a:ext cx="6500098" cy="4001750"/>
            <a:chOff x="1828800" y="1600200"/>
            <a:chExt cx="7703820" cy="4742815"/>
          </a:xfrm>
        </p:grpSpPr>
        <p:sp>
          <p:nvSpPr>
            <p:cNvPr id="11" name="object 11"/>
            <p:cNvSpPr/>
            <p:nvPr/>
          </p:nvSpPr>
          <p:spPr>
            <a:xfrm>
              <a:off x="1828800" y="1600200"/>
              <a:ext cx="7703820" cy="47426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76136" y="3734561"/>
              <a:ext cx="2435225" cy="800100"/>
            </a:xfrm>
            <a:custGeom>
              <a:avLst/>
              <a:gdLst/>
              <a:ahLst/>
              <a:cxnLst/>
              <a:rect l="l" t="t" r="r" b="b"/>
              <a:pathLst>
                <a:path w="2435225" h="800100">
                  <a:moveTo>
                    <a:pt x="2435224" y="0"/>
                  </a:moveTo>
                  <a:lnTo>
                    <a:pt x="987424" y="0"/>
                  </a:lnTo>
                  <a:lnTo>
                    <a:pt x="987424" y="444500"/>
                  </a:lnTo>
                  <a:lnTo>
                    <a:pt x="0" y="799719"/>
                  </a:lnTo>
                  <a:lnTo>
                    <a:pt x="987424" y="635000"/>
                  </a:lnTo>
                  <a:lnTo>
                    <a:pt x="987424" y="762000"/>
                  </a:lnTo>
                  <a:lnTo>
                    <a:pt x="2435224" y="762000"/>
                  </a:lnTo>
                  <a:lnTo>
                    <a:pt x="2435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76136" y="3734561"/>
              <a:ext cx="2435225" cy="800100"/>
            </a:xfrm>
            <a:custGeom>
              <a:avLst/>
              <a:gdLst/>
              <a:ahLst/>
              <a:cxnLst/>
              <a:rect l="l" t="t" r="r" b="b"/>
              <a:pathLst>
                <a:path w="2435225" h="800100">
                  <a:moveTo>
                    <a:pt x="987424" y="0"/>
                  </a:moveTo>
                  <a:lnTo>
                    <a:pt x="1228724" y="0"/>
                  </a:lnTo>
                  <a:lnTo>
                    <a:pt x="1590674" y="0"/>
                  </a:lnTo>
                  <a:lnTo>
                    <a:pt x="2435224" y="0"/>
                  </a:lnTo>
                  <a:lnTo>
                    <a:pt x="2435224" y="444500"/>
                  </a:lnTo>
                  <a:lnTo>
                    <a:pt x="2435224" y="635000"/>
                  </a:lnTo>
                  <a:lnTo>
                    <a:pt x="2435224" y="762000"/>
                  </a:lnTo>
                  <a:lnTo>
                    <a:pt x="1590674" y="762000"/>
                  </a:lnTo>
                  <a:lnTo>
                    <a:pt x="1228724" y="762000"/>
                  </a:lnTo>
                  <a:lnTo>
                    <a:pt x="987424" y="762000"/>
                  </a:lnTo>
                  <a:lnTo>
                    <a:pt x="987424" y="635000"/>
                  </a:lnTo>
                  <a:lnTo>
                    <a:pt x="0" y="799719"/>
                  </a:lnTo>
                  <a:lnTo>
                    <a:pt x="987424" y="444500"/>
                  </a:lnTo>
                  <a:lnTo>
                    <a:pt x="987424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03919" y="3869091"/>
            <a:ext cx="901720" cy="244603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10716">
              <a:spcBef>
                <a:spcPts val="84"/>
              </a:spcBef>
            </a:pPr>
            <a:r>
              <a:rPr sz="1519" spc="-118" dirty="0">
                <a:latin typeface="Arial"/>
                <a:cs typeface="Arial"/>
              </a:rPr>
              <a:t>Bỏ </a:t>
            </a:r>
            <a:r>
              <a:rPr sz="1519" spc="-59" dirty="0">
                <a:latin typeface="Arial"/>
                <a:cs typeface="Arial"/>
              </a:rPr>
              <a:t>giới</a:t>
            </a:r>
            <a:r>
              <a:rPr sz="1519" spc="-101" dirty="0">
                <a:latin typeface="Arial"/>
                <a:cs typeface="Arial"/>
              </a:rPr>
              <a:t> </a:t>
            </a:r>
            <a:r>
              <a:rPr sz="1519" spc="-76" dirty="0">
                <a:latin typeface="Arial"/>
                <a:cs typeface="Arial"/>
              </a:rPr>
              <a:t>hạn</a:t>
            </a:r>
            <a:endParaRPr sz="1519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17</a:t>
            </a:fld>
            <a:endParaRPr spc="122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52200" y="1198821"/>
            <a:ext cx="4475276" cy="373905"/>
          </a:xfrm>
          <a:prstGeom prst="rect">
            <a:avLst/>
          </a:prstGeom>
        </p:spPr>
        <p:txBody>
          <a:bodyPr vert="horz" wrap="square" lIns="0" tIns="10180" rIns="0" bIns="0" rtlCol="0">
            <a:spAutoFit/>
          </a:bodyPr>
          <a:lstStyle/>
          <a:p>
            <a:pPr marL="10716">
              <a:spcBef>
                <a:spcPts val="80"/>
              </a:spcBef>
            </a:pPr>
            <a:r>
              <a:rPr sz="2363" spc="-17" dirty="0">
                <a:latin typeface="+mn-lt"/>
                <a:cs typeface="Times New Roman"/>
              </a:rPr>
              <a:t>Đã</a:t>
            </a:r>
            <a:r>
              <a:rPr sz="2363" spc="-89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cài</a:t>
            </a:r>
            <a:r>
              <a:rPr sz="2363" spc="-96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đặt</a:t>
            </a:r>
            <a:r>
              <a:rPr sz="2363" spc="-93" dirty="0">
                <a:latin typeface="+mn-lt"/>
                <a:cs typeface="Times New Roman"/>
              </a:rPr>
              <a:t> </a:t>
            </a:r>
            <a:r>
              <a:rPr sz="2363" spc="118" dirty="0">
                <a:latin typeface="+mn-lt"/>
                <a:cs typeface="Times New Roman"/>
              </a:rPr>
              <a:t>thành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công:</a:t>
            </a:r>
            <a:endParaRPr sz="2363">
              <a:latin typeface="+mn-lt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28813" y="1757362"/>
            <a:ext cx="6692979" cy="4120158"/>
            <a:chOff x="2286000" y="1447800"/>
            <a:chExt cx="7932420" cy="4883150"/>
          </a:xfrm>
        </p:grpSpPr>
        <p:sp>
          <p:nvSpPr>
            <p:cNvPr id="11" name="object 11"/>
            <p:cNvSpPr/>
            <p:nvPr/>
          </p:nvSpPr>
          <p:spPr>
            <a:xfrm>
              <a:off x="2286000" y="1447800"/>
              <a:ext cx="7932420" cy="48828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44561" y="4801361"/>
              <a:ext cx="1447800" cy="1129030"/>
            </a:xfrm>
            <a:custGeom>
              <a:avLst/>
              <a:gdLst/>
              <a:ahLst/>
              <a:cxnLst/>
              <a:rect l="l" t="t" r="r" b="b"/>
              <a:pathLst>
                <a:path w="1447800" h="1129029">
                  <a:moveTo>
                    <a:pt x="14478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844550" y="762000"/>
                  </a:lnTo>
                  <a:lnTo>
                    <a:pt x="1395222" y="1128953"/>
                  </a:lnTo>
                  <a:lnTo>
                    <a:pt x="1206500" y="762000"/>
                  </a:lnTo>
                  <a:lnTo>
                    <a:pt x="1447800" y="7620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44561" y="4801361"/>
              <a:ext cx="1447800" cy="1129030"/>
            </a:xfrm>
            <a:custGeom>
              <a:avLst/>
              <a:gdLst/>
              <a:ahLst/>
              <a:cxnLst/>
              <a:rect l="l" t="t" r="r" b="b"/>
              <a:pathLst>
                <a:path w="1447800" h="1129029">
                  <a:moveTo>
                    <a:pt x="0" y="0"/>
                  </a:moveTo>
                  <a:lnTo>
                    <a:pt x="844550" y="0"/>
                  </a:lnTo>
                  <a:lnTo>
                    <a:pt x="1206500" y="0"/>
                  </a:lnTo>
                  <a:lnTo>
                    <a:pt x="1447800" y="0"/>
                  </a:lnTo>
                  <a:lnTo>
                    <a:pt x="1447800" y="444500"/>
                  </a:lnTo>
                  <a:lnTo>
                    <a:pt x="1447800" y="635000"/>
                  </a:lnTo>
                  <a:lnTo>
                    <a:pt x="1447800" y="762000"/>
                  </a:lnTo>
                  <a:lnTo>
                    <a:pt x="1206500" y="762000"/>
                  </a:lnTo>
                  <a:lnTo>
                    <a:pt x="1395222" y="1128953"/>
                  </a:lnTo>
                  <a:lnTo>
                    <a:pt x="844550" y="762000"/>
                  </a:lnTo>
                  <a:lnTo>
                    <a:pt x="0" y="762000"/>
                  </a:lnTo>
                  <a:lnTo>
                    <a:pt x="0" y="635000"/>
                  </a:lnTo>
                  <a:lnTo>
                    <a:pt x="0" y="4445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44591" y="4653475"/>
            <a:ext cx="1061918" cy="478385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202002" marR="4287" indent="-191820">
              <a:spcBef>
                <a:spcPts val="84"/>
              </a:spcBef>
            </a:pPr>
            <a:r>
              <a:rPr sz="1519" spc="-118" dirty="0">
                <a:latin typeface="Arial"/>
                <a:cs typeface="Arial"/>
              </a:rPr>
              <a:t>Bấm </a:t>
            </a:r>
            <a:r>
              <a:rPr sz="1519" spc="-89" dirty="0">
                <a:latin typeface="Arial"/>
                <a:cs typeface="Arial"/>
              </a:rPr>
              <a:t>close </a:t>
            </a:r>
            <a:r>
              <a:rPr sz="1519" spc="-51" dirty="0">
                <a:latin typeface="Arial"/>
                <a:cs typeface="Arial"/>
              </a:rPr>
              <a:t>để  </a:t>
            </a:r>
            <a:r>
              <a:rPr sz="1519" spc="-68" dirty="0">
                <a:latin typeface="Arial"/>
                <a:cs typeface="Arial"/>
              </a:rPr>
              <a:t>hoàn</a:t>
            </a:r>
            <a:r>
              <a:rPr sz="1519" spc="-84" dirty="0">
                <a:latin typeface="Arial"/>
                <a:cs typeface="Arial"/>
              </a:rPr>
              <a:t> </a:t>
            </a:r>
            <a:r>
              <a:rPr sz="1519" spc="4" dirty="0">
                <a:latin typeface="Arial"/>
                <a:cs typeface="Arial"/>
              </a:rPr>
              <a:t>tất</a:t>
            </a:r>
            <a:endParaRPr sz="1519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18</a:t>
            </a:fld>
            <a:endParaRPr spc="122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52200" y="1198821"/>
            <a:ext cx="9511725" cy="718245"/>
          </a:xfrm>
          <a:prstGeom prst="rect">
            <a:avLst/>
          </a:prstGeom>
        </p:spPr>
        <p:txBody>
          <a:bodyPr vert="horz" wrap="square" lIns="0" tIns="50899" rIns="0" bIns="0" rtlCol="0">
            <a:spAutoFit/>
          </a:bodyPr>
          <a:lstStyle/>
          <a:p>
            <a:pPr marL="10716" marR="4287">
              <a:lnSpc>
                <a:spcPts val="2557"/>
              </a:lnSpc>
              <a:spcBef>
                <a:spcPts val="401"/>
              </a:spcBef>
            </a:pPr>
            <a:r>
              <a:rPr sz="2363" spc="-8" dirty="0">
                <a:latin typeface="+mn-lt"/>
                <a:cs typeface="Times New Roman"/>
              </a:rPr>
              <a:t>Mở </a:t>
            </a:r>
            <a:r>
              <a:rPr sz="2363" spc="93" dirty="0">
                <a:latin typeface="+mn-lt"/>
                <a:cs typeface="Times New Roman"/>
              </a:rPr>
              <a:t>command </a:t>
            </a:r>
            <a:r>
              <a:rPr sz="2363" spc="51" dirty="0">
                <a:latin typeface="+mn-lt"/>
                <a:cs typeface="Times New Roman"/>
              </a:rPr>
              <a:t>line </a:t>
            </a:r>
            <a:r>
              <a:rPr sz="2363" spc="25" dirty="0">
                <a:latin typeface="+mn-lt"/>
                <a:cs typeface="Times New Roman"/>
              </a:rPr>
              <a:t>lên, gõ </a:t>
            </a:r>
            <a:r>
              <a:rPr sz="2363" spc="80" dirty="0">
                <a:latin typeface="+mn-lt"/>
                <a:cs typeface="Times New Roman"/>
              </a:rPr>
              <a:t>lệnh </a:t>
            </a:r>
            <a:r>
              <a:rPr sz="2363" spc="96" dirty="0">
                <a:latin typeface="+mn-lt"/>
                <a:cs typeface="Times New Roman"/>
              </a:rPr>
              <a:t>python </a:t>
            </a:r>
            <a:r>
              <a:rPr sz="2363" spc="110" dirty="0">
                <a:latin typeface="+mn-lt"/>
                <a:cs typeface="Times New Roman"/>
              </a:rPr>
              <a:t>để </a:t>
            </a:r>
            <a:r>
              <a:rPr sz="2363" spc="63" dirty="0">
                <a:latin typeface="+mn-lt"/>
                <a:cs typeface="Times New Roman"/>
              </a:rPr>
              <a:t>kiểm </a:t>
            </a:r>
            <a:r>
              <a:rPr sz="2363" spc="122" dirty="0">
                <a:latin typeface="+mn-lt"/>
                <a:cs typeface="Times New Roman"/>
              </a:rPr>
              <a:t>tra </a:t>
            </a:r>
            <a:r>
              <a:rPr sz="2363" spc="80" dirty="0">
                <a:latin typeface="+mn-lt"/>
                <a:cs typeface="Times New Roman"/>
              </a:rPr>
              <a:t>kết </a:t>
            </a:r>
            <a:r>
              <a:rPr sz="2363" spc="55" dirty="0">
                <a:latin typeface="+mn-lt"/>
                <a:cs typeface="Times New Roman"/>
              </a:rPr>
              <a:t>quả, </a:t>
            </a:r>
            <a:r>
              <a:rPr sz="2363" spc="148" dirty="0">
                <a:latin typeface="+mn-lt"/>
                <a:cs typeface="Times New Roman"/>
              </a:rPr>
              <a:t>như </a:t>
            </a:r>
            <a:r>
              <a:rPr sz="2363" spc="114" dirty="0">
                <a:latin typeface="+mn-lt"/>
                <a:cs typeface="Times New Roman"/>
              </a:rPr>
              <a:t>bên </a:t>
            </a:r>
            <a:r>
              <a:rPr sz="2363" spc="110" dirty="0">
                <a:latin typeface="+mn-lt"/>
                <a:cs typeface="Times New Roman"/>
              </a:rPr>
              <a:t>dưới  </a:t>
            </a:r>
            <a:r>
              <a:rPr sz="2363" spc="59" dirty="0">
                <a:latin typeface="+mn-lt"/>
                <a:cs typeface="Times New Roman"/>
              </a:rPr>
              <a:t>đây</a:t>
            </a:r>
            <a:r>
              <a:rPr sz="2363" spc="-72" dirty="0">
                <a:latin typeface="+mn-lt"/>
                <a:cs typeface="Times New Roman"/>
              </a:rPr>
              <a:t> </a:t>
            </a:r>
            <a:r>
              <a:rPr sz="2363" spc="38" dirty="0">
                <a:latin typeface="+mn-lt"/>
                <a:cs typeface="Times New Roman"/>
              </a:rPr>
              <a:t>là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110" dirty="0">
                <a:latin typeface="+mn-lt"/>
                <a:cs typeface="Times New Roman"/>
              </a:rPr>
              <a:t>đã</a:t>
            </a:r>
            <a:r>
              <a:rPr sz="2363" spc="-76" dirty="0">
                <a:latin typeface="+mn-lt"/>
                <a:cs typeface="Times New Roman"/>
              </a:rPr>
              <a:t> </a:t>
            </a:r>
            <a:r>
              <a:rPr sz="2363" spc="122" dirty="0">
                <a:latin typeface="+mn-lt"/>
                <a:cs typeface="Times New Roman"/>
              </a:rPr>
              <a:t>thành</a:t>
            </a:r>
            <a:r>
              <a:rPr sz="2363" spc="-68" dirty="0">
                <a:latin typeface="+mn-lt"/>
                <a:cs typeface="Times New Roman"/>
              </a:rPr>
              <a:t> </a:t>
            </a:r>
            <a:r>
              <a:rPr sz="2363" spc="30" dirty="0">
                <a:latin typeface="+mn-lt"/>
                <a:cs typeface="Times New Roman"/>
              </a:rPr>
              <a:t>công:</a:t>
            </a:r>
            <a:endParaRPr sz="2363">
              <a:latin typeface="+mn-lt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0078" y="2143125"/>
            <a:ext cx="9155430" cy="31632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251818" y="6522248"/>
            <a:ext cx="887729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600" b="1" i="0" kern="1200">
                <a:solidFill>
                  <a:srgbClr val="001F5F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5"/>
              </a:spcBef>
            </a:pPr>
            <a:r>
              <a:rPr lang="en-US" spc="5" dirty="0"/>
              <a:t>Trang</a:t>
            </a:r>
            <a:r>
              <a:rPr lang="en-US" spc="-75" dirty="0"/>
              <a:t> </a:t>
            </a:r>
            <a:fld id="{81D60167-4931-47E6-BA6A-407CBD079E47}" type="slidenum">
              <a:rPr spc="145" dirty="0"/>
              <a:pPr marL="12700">
                <a:spcBef>
                  <a:spcPts val="15"/>
                </a:spcBef>
              </a:pPr>
              <a:t>19</a:t>
            </a:fld>
            <a:endParaRPr spc="122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8555354-2EAA-2F4D-ADB9-B628C9E5FF70}"/>
              </a:ext>
            </a:extLst>
          </p:cNvPr>
          <p:cNvSpPr txBox="1"/>
          <p:nvPr/>
        </p:nvSpPr>
        <p:spPr>
          <a:xfrm>
            <a:off x="452199" y="546325"/>
            <a:ext cx="5118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§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2 - </a:t>
            </a:r>
            <a:r>
              <a:rPr lang="en-US" sz="3200" b="1" spc="-34" dirty="0" err="1" smtClean="0">
                <a:solidFill>
                  <a:srgbClr val="C00000"/>
                </a:solidFill>
                <a:latin typeface="+mj-lt"/>
                <a:cs typeface="Times New Roman"/>
              </a:rPr>
              <a:t>Cách</a:t>
            </a:r>
            <a:r>
              <a:rPr lang="en-US" sz="3200" b="1" spc="-34" dirty="0" smtClean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lang="en-US" sz="3200" b="1" spc="-34" dirty="0">
                <a:solidFill>
                  <a:srgbClr val="C00000"/>
                </a:solidFill>
                <a:latin typeface="+mj-lt"/>
                <a:cs typeface="Times New Roman"/>
              </a:rPr>
              <a:t>tải và cài đặt Python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55A68B-F69A-714A-9278-44EA2844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b="1" smtClean="0">
                <a:solidFill>
                  <a:srgbClr val="C00000"/>
                </a:solidFill>
              </a:rPr>
              <a:t>§3</a:t>
            </a:r>
            <a:r>
              <a:rPr lang="en-US" b="1" dirty="0" smtClean="0">
                <a:solidFill>
                  <a:srgbClr val="C00000"/>
                </a:solidFill>
              </a:rPr>
              <a:t> -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Công cụ lập </a:t>
            </a:r>
            <a:r>
              <a:rPr lang="x-none" b="1" smtClean="0">
                <a:solidFill>
                  <a:srgbClr val="C00000"/>
                </a:solidFill>
              </a:rPr>
              <a:t>trìn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– visual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DACB5E2-24E2-B043-B674-2094338D6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018" y="1603822"/>
            <a:ext cx="8907119" cy="475252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vi-VN" b="1"/>
              <a:t>Visual Studio Code</a:t>
            </a:r>
            <a:r>
              <a:rPr lang="vi-VN"/>
              <a:t> là phần mềm miễn phí, được đông đảo lập trình viên trên thế giới sử dụng.</a:t>
            </a:r>
          </a:p>
          <a:p>
            <a:pPr lvl="1"/>
            <a:r>
              <a:rPr lang="vi-VN" sz="2400"/>
              <a:t>Hỗ trợ đa nền tảng: Windows, Linux, Mac</a:t>
            </a:r>
          </a:p>
          <a:p>
            <a:pPr lvl="1"/>
            <a:r>
              <a:rPr lang="vi-VN" sz="2400"/>
              <a:t>Hỗ trợ đa ngôn ngữ: C/C++, C#, F#, Visual Basic, HTML, CSS, JavaScript, JSON, </a:t>
            </a:r>
            <a:r>
              <a:rPr lang="vi-VN" sz="2400" b="1"/>
              <a:t>Python</a:t>
            </a:r>
            <a:r>
              <a:rPr lang="vi-VN" sz="2400"/>
              <a:t>...</a:t>
            </a:r>
          </a:p>
          <a:p>
            <a:pPr lvl="1"/>
            <a:r>
              <a:rPr lang="vi-VN" sz="2400"/>
              <a:t>Ít dung lượng</a:t>
            </a:r>
          </a:p>
          <a:p>
            <a:pPr lvl="1"/>
            <a:r>
              <a:rPr lang="vi-VN" sz="2400"/>
              <a:t>Tính năng mạnh mẽ</a:t>
            </a:r>
          </a:p>
          <a:p>
            <a:pPr lvl="1"/>
            <a:r>
              <a:rPr lang="vi-VN" sz="2400"/>
              <a:t>Intellisense chuyên nghiệp</a:t>
            </a:r>
          </a:p>
          <a:p>
            <a:pPr lvl="1"/>
            <a:r>
              <a:rPr lang="vi-VN" sz="2400"/>
              <a:t>Giao diện thân thiện</a:t>
            </a:r>
            <a:r>
              <a:rPr lang="vi-VN"/>
              <a:t/>
            </a:r>
            <a:br>
              <a:rPr lang="vi-VN"/>
            </a:br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D1DDB5-0F41-7548-864A-981BC11D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24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F239B0-591C-4E41-839D-3DF97E02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Download trình soạn thảo Visual Studio Code tại đây: </a:t>
            </a:r>
            <a:r>
              <a:rPr lang="en-US">
                <a:hlinkClick r:id="rId2"/>
              </a:rPr>
              <a:t>https://code.visualstudio.com/Download</a:t>
            </a:r>
            <a:endParaRPr lang="en-US"/>
          </a:p>
          <a:p>
            <a:r>
              <a:rPr lang="vi-VN"/>
              <a:t>Sau khi cài đặt giao diện ban đầu của Visual Studio Code như sau:</a:t>
            </a:r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DADBEF-ECFA-314F-A1FE-F9EBBCAF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21</a:t>
            </a:fld>
            <a:endParaRPr lang="en-US"/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="" xmlns:a16="http://schemas.microsoft.com/office/drawing/2014/main" id="{0D8559FF-31DE-144F-9D67-9AACD07C9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188" y="2692224"/>
            <a:ext cx="5205807" cy="357634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4C55A68B-F69A-714A-9278-44EA2844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12" y="404665"/>
            <a:ext cx="8874125" cy="792088"/>
          </a:xfrm>
        </p:spPr>
        <p:txBody>
          <a:bodyPr/>
          <a:lstStyle/>
          <a:p>
            <a:r>
              <a:rPr lang="x-none" b="1" smtClean="0">
                <a:solidFill>
                  <a:srgbClr val="C00000"/>
                </a:solidFill>
              </a:rPr>
              <a:t>§3</a:t>
            </a:r>
            <a:r>
              <a:rPr lang="en-US" b="1" dirty="0" smtClean="0">
                <a:solidFill>
                  <a:srgbClr val="C00000"/>
                </a:solidFill>
              </a:rPr>
              <a:t> -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Công cụ lập </a:t>
            </a:r>
            <a:r>
              <a:rPr lang="x-none" b="1" smtClean="0">
                <a:solidFill>
                  <a:srgbClr val="C00000"/>
                </a:solidFill>
              </a:rPr>
              <a:t>trìn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– visual code </a:t>
            </a:r>
          </a:p>
        </p:txBody>
      </p:sp>
    </p:spTree>
    <p:extLst>
      <p:ext uri="{BB962C8B-B14F-4D97-AF65-F5344CB8AC3E}">
        <p14:creationId xmlns:p14="http://schemas.microsoft.com/office/powerpoint/2010/main" val="2949603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F239B0-591C-4E41-839D-3DF97E02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Cài đặt Python extension cho Visual Studio Code:</a:t>
            </a:r>
          </a:p>
          <a:p>
            <a:r>
              <a:rPr lang="en-US"/>
              <a:t>Tại giao diện Visual Studio Code, nhấn tổ hợp phím </a:t>
            </a:r>
            <a:r>
              <a:rPr lang="en-US" b="1"/>
              <a:t>Ctrl + Shift + X</a:t>
            </a:r>
            <a:r>
              <a:rPr lang="en-US"/>
              <a:t> -&gt; nhập từ khóa "Python":</a:t>
            </a:r>
          </a:p>
          <a:p>
            <a:pPr marL="0" indent="0">
              <a:buNone/>
            </a:pP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DADBEF-ECFA-314F-A1FE-F9EBBCAF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22</a:t>
            </a:fld>
            <a:endParaRPr lang="en-US"/>
          </a:p>
        </p:txBody>
      </p:sp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="" xmlns:a16="http://schemas.microsoft.com/office/drawing/2014/main" id="{E2DC11D0-845E-9647-A875-118B1FBDA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260" y="2548426"/>
            <a:ext cx="4787299" cy="356501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4C55A68B-F69A-714A-9278-44EA2844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12" y="404665"/>
            <a:ext cx="8874125" cy="792088"/>
          </a:xfrm>
        </p:spPr>
        <p:txBody>
          <a:bodyPr/>
          <a:lstStyle/>
          <a:p>
            <a:r>
              <a:rPr lang="x-none" b="1" smtClean="0">
                <a:solidFill>
                  <a:srgbClr val="C00000"/>
                </a:solidFill>
              </a:rPr>
              <a:t>§3</a:t>
            </a:r>
            <a:r>
              <a:rPr lang="en-US" b="1" dirty="0" smtClean="0">
                <a:solidFill>
                  <a:srgbClr val="C00000"/>
                </a:solidFill>
              </a:rPr>
              <a:t> -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Công cụ lập </a:t>
            </a:r>
            <a:r>
              <a:rPr lang="x-none" b="1" smtClean="0">
                <a:solidFill>
                  <a:srgbClr val="C00000"/>
                </a:solidFill>
              </a:rPr>
              <a:t>trìn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– visual code </a:t>
            </a:r>
          </a:p>
        </p:txBody>
      </p:sp>
    </p:spTree>
    <p:extLst>
      <p:ext uri="{BB962C8B-B14F-4D97-AF65-F5344CB8AC3E}">
        <p14:creationId xmlns:p14="http://schemas.microsoft.com/office/powerpoint/2010/main" val="672622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F239B0-591C-4E41-839D-3DF97E02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Chọn python extension -&gt; click install: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DADBEF-ECFA-314F-A1FE-F9EBBCAF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23</a:t>
            </a:fld>
            <a:endParaRPr lang="en-US"/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="" xmlns:a16="http://schemas.microsoft.com/office/drawing/2014/main" id="{81D6546D-E2F3-C440-A4C2-73835489F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2" y="1988840"/>
            <a:ext cx="8114484" cy="399965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4C55A68B-F69A-714A-9278-44EA2844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12" y="404665"/>
            <a:ext cx="8874125" cy="792088"/>
          </a:xfrm>
        </p:spPr>
        <p:txBody>
          <a:bodyPr/>
          <a:lstStyle/>
          <a:p>
            <a:r>
              <a:rPr lang="x-none" b="1" smtClean="0">
                <a:solidFill>
                  <a:srgbClr val="C00000"/>
                </a:solidFill>
              </a:rPr>
              <a:t>§3</a:t>
            </a:r>
            <a:r>
              <a:rPr lang="en-US" b="1" dirty="0" smtClean="0">
                <a:solidFill>
                  <a:srgbClr val="C00000"/>
                </a:solidFill>
              </a:rPr>
              <a:t> -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Công cụ lập </a:t>
            </a:r>
            <a:r>
              <a:rPr lang="x-none" b="1" smtClean="0">
                <a:solidFill>
                  <a:srgbClr val="C00000"/>
                </a:solidFill>
              </a:rPr>
              <a:t>trìn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– visual code </a:t>
            </a:r>
          </a:p>
        </p:txBody>
      </p:sp>
    </p:spTree>
    <p:extLst>
      <p:ext uri="{BB962C8B-B14F-4D97-AF65-F5344CB8AC3E}">
        <p14:creationId xmlns:p14="http://schemas.microsoft.com/office/powerpoint/2010/main" val="2142224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F239B0-591C-4E41-839D-3DF97E02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Chọn Python interpreter: </a:t>
            </a:r>
          </a:p>
          <a:p>
            <a:r>
              <a:rPr lang="en-US"/>
              <a:t>Nhấn tổ hợp phím </a:t>
            </a:r>
            <a:r>
              <a:rPr lang="en-US" b="1"/>
              <a:t>Ctrl + Shift + P</a:t>
            </a:r>
            <a:r>
              <a:rPr lang="en-US"/>
              <a:t> -&gt; nhập từ khóa "Python" -&gt; Chọn "Python: Select interpreter"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DADBEF-ECFA-314F-A1FE-F9EBBCAF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24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BF5CA866-46BB-1241-9117-EF76BA60D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140" y="2626449"/>
            <a:ext cx="7024688" cy="346684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="" xmlns:a16="http://schemas.microsoft.com/office/drawing/2014/main" id="{4C55A68B-F69A-714A-9278-44EA2844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12" y="404665"/>
            <a:ext cx="8874125" cy="792088"/>
          </a:xfrm>
        </p:spPr>
        <p:txBody>
          <a:bodyPr/>
          <a:lstStyle/>
          <a:p>
            <a:r>
              <a:rPr lang="x-none" b="1" smtClean="0">
                <a:solidFill>
                  <a:srgbClr val="C00000"/>
                </a:solidFill>
              </a:rPr>
              <a:t>§3</a:t>
            </a:r>
            <a:r>
              <a:rPr lang="en-US" b="1" dirty="0" smtClean="0">
                <a:solidFill>
                  <a:srgbClr val="C00000"/>
                </a:solidFill>
              </a:rPr>
              <a:t> -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Công cụ lập </a:t>
            </a:r>
            <a:r>
              <a:rPr lang="x-none" b="1" smtClean="0">
                <a:solidFill>
                  <a:srgbClr val="C00000"/>
                </a:solidFill>
              </a:rPr>
              <a:t>trìn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– visual code </a:t>
            </a:r>
          </a:p>
        </p:txBody>
      </p:sp>
    </p:spTree>
    <p:extLst>
      <p:ext uri="{BB962C8B-B14F-4D97-AF65-F5344CB8AC3E}">
        <p14:creationId xmlns:p14="http://schemas.microsoft.com/office/powerpoint/2010/main" val="3128695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F239B0-591C-4E41-839D-3DF97E02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Chọn một Python.exe mà bạn đã cài trước đó: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DADBEF-ECFA-314F-A1FE-F9EBBCAF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25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5BACEC96-BA29-6F4B-9ABC-5F0437230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36" y="2070872"/>
            <a:ext cx="8070552" cy="40039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4C55A68B-F69A-714A-9278-44EA2844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12" y="404665"/>
            <a:ext cx="8874125" cy="792088"/>
          </a:xfrm>
        </p:spPr>
        <p:txBody>
          <a:bodyPr/>
          <a:lstStyle/>
          <a:p>
            <a:r>
              <a:rPr lang="x-none" b="1" smtClean="0">
                <a:solidFill>
                  <a:srgbClr val="C00000"/>
                </a:solidFill>
              </a:rPr>
              <a:t>§3</a:t>
            </a:r>
            <a:r>
              <a:rPr lang="en-US" b="1" dirty="0" smtClean="0">
                <a:solidFill>
                  <a:srgbClr val="C00000"/>
                </a:solidFill>
              </a:rPr>
              <a:t> -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Công cụ lập </a:t>
            </a:r>
            <a:r>
              <a:rPr lang="x-none" b="1" smtClean="0">
                <a:solidFill>
                  <a:srgbClr val="C00000"/>
                </a:solidFill>
              </a:rPr>
              <a:t>trìn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– visual code </a:t>
            </a:r>
          </a:p>
        </p:txBody>
      </p:sp>
    </p:spTree>
    <p:extLst>
      <p:ext uri="{BB962C8B-B14F-4D97-AF65-F5344CB8AC3E}">
        <p14:creationId xmlns:p14="http://schemas.microsoft.com/office/powerpoint/2010/main" val="266150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F239B0-591C-4E41-839D-3DF97E02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Tạo chương trình python: </a:t>
            </a:r>
            <a:r>
              <a:rPr lang="en-US"/>
              <a:t>Chọn File -&gt; New File:</a:t>
            </a:r>
            <a:br>
              <a:rPr lang="en-US"/>
            </a:b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DADBEF-ECFA-314F-A1FE-F9EBBCAF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26</a:t>
            </a:fld>
            <a:endParaRPr lang="en-US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="" xmlns:a16="http://schemas.microsoft.com/office/drawing/2014/main" id="{82B54DF3-E445-4948-9157-2AD9CE997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12" y="1988840"/>
            <a:ext cx="8760120" cy="33123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="" xmlns:a16="http://schemas.microsoft.com/office/drawing/2014/main" id="{4C55A68B-F69A-714A-9278-44EA2844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12" y="404665"/>
            <a:ext cx="8874125" cy="792088"/>
          </a:xfrm>
        </p:spPr>
        <p:txBody>
          <a:bodyPr/>
          <a:lstStyle/>
          <a:p>
            <a:r>
              <a:rPr lang="x-none" b="1" smtClean="0">
                <a:solidFill>
                  <a:srgbClr val="C00000"/>
                </a:solidFill>
              </a:rPr>
              <a:t>§3</a:t>
            </a:r>
            <a:r>
              <a:rPr lang="en-US" b="1" dirty="0" smtClean="0">
                <a:solidFill>
                  <a:srgbClr val="C00000"/>
                </a:solidFill>
              </a:rPr>
              <a:t> -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Công cụ lập </a:t>
            </a:r>
            <a:r>
              <a:rPr lang="x-none" b="1" smtClean="0">
                <a:solidFill>
                  <a:srgbClr val="C00000"/>
                </a:solidFill>
              </a:rPr>
              <a:t>trìn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– visual code </a:t>
            </a:r>
          </a:p>
        </p:txBody>
      </p:sp>
    </p:spTree>
    <p:extLst>
      <p:ext uri="{BB962C8B-B14F-4D97-AF65-F5344CB8AC3E}">
        <p14:creationId xmlns:p14="http://schemas.microsoft.com/office/powerpoint/2010/main" val="4176889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F239B0-591C-4E41-839D-3DF97E02B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770" y="1211988"/>
            <a:ext cx="8907119" cy="4752528"/>
          </a:xfrm>
        </p:spPr>
        <p:txBody>
          <a:bodyPr/>
          <a:lstStyle/>
          <a:p>
            <a:r>
              <a:rPr lang="vi-VN" dirty="0"/>
              <a:t>Nhấn </a:t>
            </a:r>
            <a:r>
              <a:rPr lang="vi-VN" b="1" dirty="0"/>
              <a:t>Ctrl + S</a:t>
            </a:r>
            <a:r>
              <a:rPr lang="vi-VN" dirty="0"/>
              <a:t> để lưu file thành Hello.py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DADBEF-ECFA-314F-A1FE-F9EBBCAF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27</a:t>
            </a:fld>
            <a:endParaRPr lang="en-US"/>
          </a:p>
        </p:txBody>
      </p:sp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="" xmlns:a16="http://schemas.microsoft.com/office/drawing/2014/main" id="{3DE3B2C4-FEF7-1448-B846-4EA7FD00A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11" y="1659936"/>
            <a:ext cx="7477733" cy="32896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F1EF872E-ADC5-3A4B-A6DA-3F681CEB25D0}"/>
              </a:ext>
            </a:extLst>
          </p:cNvPr>
          <p:cNvSpPr/>
          <p:nvPr/>
        </p:nvSpPr>
        <p:spPr>
          <a:xfrm>
            <a:off x="640630" y="5098604"/>
            <a:ext cx="824728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300">
                <a:latin typeface="+mn-lt"/>
                <a:ea typeface="+mn-ea"/>
              </a:rPr>
              <a:t>Run/Debug chương trình python</a:t>
            </a:r>
          </a:p>
          <a:p>
            <a:pPr marL="798513" lvl="1" indent="-342900" algn="just">
              <a:buFont typeface="Arial" panose="020B0604020202020204" pitchFamily="34" charset="0"/>
              <a:buChar char="•"/>
            </a:pPr>
            <a:r>
              <a:rPr lang="vi-VN" sz="2000" b="0" i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Nhấn </a:t>
            </a:r>
            <a:r>
              <a:rPr lang="vi-VN" sz="2000" b="1" i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F5 </a:t>
            </a:r>
            <a:r>
              <a:rPr lang="vi-VN" sz="2000" b="0" i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để chạy chương trình Python.</a:t>
            </a:r>
          </a:p>
          <a:p>
            <a:pPr marL="798513" lvl="1" indent="-342900" algn="just">
              <a:buFont typeface="Arial" panose="020B0604020202020204" pitchFamily="34" charset="0"/>
              <a:buChar char="•"/>
            </a:pPr>
            <a:r>
              <a:rPr lang="vi-VN" sz="2000" b="0" i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Nhấn </a:t>
            </a:r>
            <a:r>
              <a:rPr lang="vi-VN" sz="2000" b="1" i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Ctrl + F5 </a:t>
            </a:r>
            <a:r>
              <a:rPr lang="vi-VN" sz="2000" b="0" i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để debug chương trình Python.</a:t>
            </a: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4C55A68B-F69A-714A-9278-44EA2844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012" y="404665"/>
            <a:ext cx="8874125" cy="792088"/>
          </a:xfrm>
        </p:spPr>
        <p:txBody>
          <a:bodyPr/>
          <a:lstStyle/>
          <a:p>
            <a:r>
              <a:rPr lang="x-none" b="1" smtClean="0">
                <a:solidFill>
                  <a:srgbClr val="C00000"/>
                </a:solidFill>
              </a:rPr>
              <a:t>§3</a:t>
            </a:r>
            <a:r>
              <a:rPr lang="en-US" b="1" dirty="0" smtClean="0">
                <a:solidFill>
                  <a:srgbClr val="C00000"/>
                </a:solidFill>
              </a:rPr>
              <a:t> -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Công cụ lập </a:t>
            </a:r>
            <a:r>
              <a:rPr lang="x-none" b="1" smtClean="0">
                <a:solidFill>
                  <a:srgbClr val="C00000"/>
                </a:solidFill>
              </a:rPr>
              <a:t>trìn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x-none" b="1" smtClean="0">
                <a:solidFill>
                  <a:srgbClr val="C00000"/>
                </a:solidFill>
              </a:rPr>
              <a:t> </a:t>
            </a:r>
            <a:r>
              <a:rPr lang="x-none" b="1">
                <a:solidFill>
                  <a:srgbClr val="C00000"/>
                </a:solidFill>
              </a:rPr>
              <a:t>– visual code </a:t>
            </a:r>
          </a:p>
        </p:txBody>
      </p:sp>
    </p:spTree>
    <p:extLst>
      <p:ext uri="{BB962C8B-B14F-4D97-AF65-F5344CB8AC3E}">
        <p14:creationId xmlns:p14="http://schemas.microsoft.com/office/powerpoint/2010/main" val="399132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SlideTemplate" id="{0AF96A80-A828-A34E-A395-551D35D8BAE2}" vid="{38747540-D07E-8842-8803-D3EFDEFF576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19996</TotalTime>
  <Words>983</Words>
  <Application>Microsoft Office PowerPoint</Application>
  <PresentationFormat>35mm Slides</PresentationFormat>
  <Paragraphs>138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GIỚI THIỆU VỀ KHOA HỌC MÁY TÍNH CHƯƠNG 2 Giới thiệu về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§3 - Công cụ lập trình – visual code </vt:lpstr>
      <vt:lpstr>§3 - Công cụ lập trình – visual code </vt:lpstr>
      <vt:lpstr>§3 - Công cụ lập trình – visual code </vt:lpstr>
      <vt:lpstr>§3 - Công cụ lập trình – visual code </vt:lpstr>
      <vt:lpstr>§3 - Công cụ lập trình – visual code </vt:lpstr>
      <vt:lpstr>§3 - Công cụ lập trình – visual code </vt:lpstr>
      <vt:lpstr>§3 - Công cụ lập trình – visual code </vt:lpstr>
      <vt:lpstr>§3 - Công cụ lập trình – visual code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ĐẠI CƯƠNG Chương 5. Ngôn ngữ lập trình C++</dc:title>
  <dc:creator>Dinh Anh Nguyen</dc:creator>
  <cp:lastModifiedBy>ADMIN</cp:lastModifiedBy>
  <cp:revision>213</cp:revision>
  <cp:lastPrinted>2021-01-31T11:08:06Z</cp:lastPrinted>
  <dcterms:created xsi:type="dcterms:W3CDTF">2018-12-13T03:42:15Z</dcterms:created>
  <dcterms:modified xsi:type="dcterms:W3CDTF">2021-10-14T02:06:22Z</dcterms:modified>
</cp:coreProperties>
</file>