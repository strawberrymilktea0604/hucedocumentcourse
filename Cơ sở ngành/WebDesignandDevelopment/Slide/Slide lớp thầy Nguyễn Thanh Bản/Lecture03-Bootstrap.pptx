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sldIdLst>
    <p:sldId id="266" r:id="rId5"/>
    <p:sldId id="283" r:id="rId6"/>
    <p:sldId id="267" r:id="rId7"/>
    <p:sldId id="269" r:id="rId8"/>
    <p:sldId id="270" r:id="rId9"/>
    <p:sldId id="284" r:id="rId10"/>
    <p:sldId id="286" r:id="rId11"/>
    <p:sldId id="28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5/12/2021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3A52079-6997-47B8-B262-4ED5D2EA2D74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238998-10EA-455D-8FDC-3EBC7E198582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4E9B6-2EC2-45E6-A437-DCC674AAC4AF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D4FF3-940D-4DDE-86D8-82D5A8663636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5261-7117-41BB-BB79-8C1909625493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04D7-DE7F-414C-8571-0012DE9EFCDB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378FF3-85EA-48E5-8D8C-1DB156807E49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F94F13-1676-4B68-A383-661B657F6E63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C80CA-06EA-4D97-A1EC-F2A229B592C4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0CC4-6CA2-4A99-B83B-711E420D000E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6C94072-1B34-48FB-9A9C-5A9A0FFC8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22" descr="extreme close up of line chart graphic">
            <a:extLst>
              <a:ext uri="{FF2B5EF4-FFF2-40B4-BE49-F238E27FC236}">
                <a16:creationId xmlns:a16="http://schemas.microsoft.com/office/drawing/2014/main" id="{B38A25AE-7B44-4EC1-BC0C-CF0FFF0367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5019358-4900-4555-99FF-EF6AE90B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670146" y="3710250"/>
            <a:ext cx="2131466" cy="1830903"/>
          </a:xfrm>
          <a:custGeom>
            <a:avLst/>
            <a:gdLst>
              <a:gd name="connsiteX0" fmla="*/ 2308583 w 2308583"/>
              <a:gd name="connsiteY0" fmla="*/ 1983044 h 1983044"/>
              <a:gd name="connsiteX1" fmla="*/ 462 w 2308583"/>
              <a:gd name="connsiteY1" fmla="*/ 1983044 h 1983044"/>
              <a:gd name="connsiteX2" fmla="*/ 0 w 2308583"/>
              <a:gd name="connsiteY2" fmla="*/ 1711185 h 1983044"/>
              <a:gd name="connsiteX3" fmla="*/ 2022607 w 2308583"/>
              <a:gd name="connsiteY3" fmla="*/ 1712117 h 1983044"/>
              <a:gd name="connsiteX4" fmla="*/ 2022607 w 2308583"/>
              <a:gd name="connsiteY4" fmla="*/ 0 h 1983044"/>
              <a:gd name="connsiteX5" fmla="*/ 2308583 w 2308583"/>
              <a:gd name="connsiteY5" fmla="*/ 0 h 1983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8583" h="1983044">
                <a:moveTo>
                  <a:pt x="2308583" y="1983044"/>
                </a:moveTo>
                <a:lnTo>
                  <a:pt x="462" y="1983044"/>
                </a:lnTo>
                <a:cubicBezTo>
                  <a:pt x="-462" y="1889214"/>
                  <a:pt x="923" y="1805015"/>
                  <a:pt x="0" y="1711185"/>
                </a:cubicBezTo>
                <a:lnTo>
                  <a:pt x="2022607" y="1712117"/>
                </a:lnTo>
                <a:lnTo>
                  <a:pt x="2022607" y="0"/>
                </a:lnTo>
                <a:lnTo>
                  <a:pt x="2308583" y="0"/>
                </a:ln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D5941F3-0256-4E90-BBBC-5A6EDEB8E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8004" y="4166755"/>
            <a:ext cx="5607908" cy="2040066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8010" y="4333009"/>
            <a:ext cx="5268177" cy="1086237"/>
          </a:xfrm>
        </p:spPr>
        <p:txBody>
          <a:bodyPr>
            <a:normAutofit/>
          </a:bodyPr>
          <a:lstStyle/>
          <a:p>
            <a:pPr algn="l"/>
            <a:r>
              <a:rPr lang="en-US" sz="3600" dirty="0" err="1">
                <a:solidFill>
                  <a:srgbClr val="FFFFFF"/>
                </a:solidFill>
              </a:rPr>
              <a:t>bOOTSTRAP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8010" y="5419246"/>
            <a:ext cx="5268177" cy="53186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800" dirty="0">
                <a:solidFill>
                  <a:srgbClr val="FFFFFF"/>
                </a:solidFill>
              </a:rPr>
              <a:t>NGUYEN Thanh Ban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34087"/>
            <a:ext cx="9601200" cy="66115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is Bootstrap?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72E0ACA-6AF6-42B3-80E0-33358F32E89C}"/>
              </a:ext>
            </a:extLst>
          </p:cNvPr>
          <p:cNvSpPr txBox="1">
            <a:spLocks/>
          </p:cNvSpPr>
          <p:nvPr/>
        </p:nvSpPr>
        <p:spPr>
          <a:xfrm>
            <a:off x="1472967" y="2200887"/>
            <a:ext cx="9601200" cy="154060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20000"/>
              </a:lnSpc>
            </a:pPr>
            <a:r>
              <a:rPr lang="en-US" sz="8000" dirty="0">
                <a:solidFill>
                  <a:srgbClr val="FFC000"/>
                </a:solidFill>
              </a:rPr>
              <a:t>- </a:t>
            </a:r>
            <a:r>
              <a:rPr lang="en-SG" sz="8000" dirty="0">
                <a:solidFill>
                  <a:schemeClr val="bg1"/>
                </a:solidFill>
              </a:rPr>
              <a:t>Bootstrap is a free front-end framework for faster and easier web development</a:t>
            </a:r>
            <a:endParaRPr lang="en-US" sz="8000" dirty="0">
              <a:solidFill>
                <a:schemeClr val="bg1"/>
              </a:solidFill>
            </a:endParaRPr>
          </a:p>
          <a:p>
            <a:pPr>
              <a:lnSpc>
                <a:spcPct val="220000"/>
              </a:lnSpc>
            </a:pPr>
            <a:r>
              <a:rPr lang="en-US" sz="8000" dirty="0">
                <a:solidFill>
                  <a:srgbClr val="FFC000"/>
                </a:solidFill>
              </a:rPr>
              <a:t>- </a:t>
            </a:r>
            <a:r>
              <a:rPr lang="en-SG" sz="8000" dirty="0">
                <a:solidFill>
                  <a:schemeClr val="bg1"/>
                </a:solidFill>
              </a:rPr>
              <a:t>Bootstrap also gives you the ability to easily create responsive designs.</a:t>
            </a:r>
          </a:p>
          <a:p>
            <a:pPr>
              <a:lnSpc>
                <a:spcPct val="220000"/>
              </a:lnSpc>
            </a:pPr>
            <a:endParaRPr lang="en-US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34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22" y="1041808"/>
            <a:ext cx="9601200" cy="742950"/>
          </a:xfrm>
        </p:spPr>
        <p:txBody>
          <a:bodyPr>
            <a:normAutofit/>
          </a:bodyPr>
          <a:lstStyle/>
          <a:p>
            <a:pPr algn="ctr"/>
            <a:r>
              <a:rPr lang="en-SG" b="0" i="0" dirty="0"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Where to Get Bootstrap 5?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36F8C36-1B74-4D8D-9697-39378DA18A73}"/>
              </a:ext>
            </a:extLst>
          </p:cNvPr>
          <p:cNvSpPr txBox="1">
            <a:spLocks/>
          </p:cNvSpPr>
          <p:nvPr/>
        </p:nvSpPr>
        <p:spPr>
          <a:xfrm>
            <a:off x="1354822" y="1784757"/>
            <a:ext cx="9601200" cy="35758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SG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There are </a:t>
            </a:r>
            <a:r>
              <a:rPr lang="en-SG" sz="2000" dirty="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two ways </a:t>
            </a:r>
            <a:r>
              <a:rPr lang="en-SG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to start using Bootstrap 5 on your own web site.</a:t>
            </a:r>
          </a:p>
          <a:p>
            <a:pPr>
              <a:lnSpc>
                <a:spcPct val="150000"/>
              </a:lnSpc>
            </a:pPr>
            <a:r>
              <a:rPr lang="en-SG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You can: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Include Bootstrap 5 from a CDN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nl-NL" sz="2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Download Bootstrap 5 from getbootstrap.com</a:t>
            </a:r>
          </a:p>
        </p:txBody>
      </p:sp>
    </p:spTree>
    <p:extLst>
      <p:ext uri="{BB962C8B-B14F-4D97-AF65-F5344CB8AC3E}">
        <p14:creationId xmlns:p14="http://schemas.microsoft.com/office/powerpoint/2010/main" val="82536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511591"/>
            <a:ext cx="9601200" cy="77021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4751FA0-E0DD-4B08-9782-2B4F9662ABA0}"/>
              </a:ext>
            </a:extLst>
          </p:cNvPr>
          <p:cNvSpPr txBox="1">
            <a:spLocks/>
          </p:cNvSpPr>
          <p:nvPr/>
        </p:nvSpPr>
        <p:spPr>
          <a:xfrm>
            <a:off x="1890944" y="2474140"/>
            <a:ext cx="8140823" cy="32430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SG" sz="20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There are two container classes available: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</a:t>
            </a:r>
            <a:r>
              <a:rPr lang="en-SG" sz="2000" i="1" dirty="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.container </a:t>
            </a:r>
            <a:r>
              <a:rPr lang="en-SG" sz="20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class provides a responsive fixed width container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</a:t>
            </a:r>
            <a:r>
              <a:rPr lang="en-SG" sz="2000" i="1" dirty="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.container-fluid </a:t>
            </a:r>
            <a:r>
              <a:rPr lang="en-SG" sz="2000" i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class provides a full width container, spanning the entire width of the viewport</a:t>
            </a:r>
            <a:endParaRPr lang="en-US" sz="2000" i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B23930-9A3F-431E-B98C-3AF919ED4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44" y="4705165"/>
            <a:ext cx="7838936" cy="159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5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Containers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CEE61-EC66-4202-A52B-95F1610B4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2604972"/>
            <a:ext cx="11536385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2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Fluid container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B8FAB5-8473-4D74-9104-79890B49FB4F}"/>
              </a:ext>
            </a:extLst>
          </p:cNvPr>
          <p:cNvSpPr txBox="1">
            <a:spLocks/>
          </p:cNvSpPr>
          <p:nvPr/>
        </p:nvSpPr>
        <p:spPr>
          <a:xfrm>
            <a:off x="1295400" y="2434380"/>
            <a:ext cx="9601200" cy="37356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SG" sz="2000" dirty="0">
                <a:solidFill>
                  <a:schemeClr val="bg1"/>
                </a:solidFill>
              </a:rPr>
              <a:t>Use the </a:t>
            </a:r>
            <a:r>
              <a:rPr lang="en-SG" sz="2000" dirty="0">
                <a:solidFill>
                  <a:srgbClr val="FFC000"/>
                </a:solidFill>
              </a:rPr>
              <a:t>.container-fluid </a:t>
            </a:r>
            <a:r>
              <a:rPr lang="en-SG" sz="2000" dirty="0">
                <a:solidFill>
                  <a:schemeClr val="bg1"/>
                </a:solidFill>
              </a:rPr>
              <a:t>class to create a </a:t>
            </a:r>
            <a:r>
              <a:rPr lang="en-SG" sz="2000" dirty="0">
                <a:solidFill>
                  <a:srgbClr val="FFC000"/>
                </a:solidFill>
              </a:rPr>
              <a:t>full width container</a:t>
            </a:r>
            <a:r>
              <a:rPr lang="en-SG" sz="2000" dirty="0">
                <a:solidFill>
                  <a:schemeClr val="bg1"/>
                </a:solidFill>
              </a:rPr>
              <a:t>, that will always span the entire width of the screen (width is always 100%)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71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Bootstrap Grid System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E49164-07C4-4F63-91E3-92C6BD4A6817}"/>
              </a:ext>
            </a:extLst>
          </p:cNvPr>
          <p:cNvSpPr txBox="1">
            <a:spLocks/>
          </p:cNvSpPr>
          <p:nvPr/>
        </p:nvSpPr>
        <p:spPr>
          <a:xfrm>
            <a:off x="1295400" y="2011510"/>
            <a:ext cx="9601200" cy="12853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SG" sz="2000" dirty="0">
                <a:solidFill>
                  <a:schemeClr val="bg1"/>
                </a:solidFill>
              </a:rPr>
              <a:t>Bootstrap's grid system is built with </a:t>
            </a:r>
            <a:r>
              <a:rPr lang="en-SG" sz="2000" dirty="0">
                <a:solidFill>
                  <a:srgbClr val="FFC000"/>
                </a:solidFill>
              </a:rPr>
              <a:t>flexbox</a:t>
            </a:r>
            <a:r>
              <a:rPr lang="en-SG" sz="2000" dirty="0">
                <a:solidFill>
                  <a:schemeClr val="bg1"/>
                </a:solidFill>
              </a:rPr>
              <a:t> and allows up to </a:t>
            </a:r>
            <a:r>
              <a:rPr lang="en-SG" sz="2000" dirty="0">
                <a:solidFill>
                  <a:srgbClr val="FFC000"/>
                </a:solidFill>
              </a:rPr>
              <a:t>12 columns </a:t>
            </a:r>
            <a:r>
              <a:rPr lang="en-SG" sz="2000" dirty="0">
                <a:solidFill>
                  <a:schemeClr val="bg1"/>
                </a:solidFill>
              </a:rPr>
              <a:t>across the page.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A6F46-030E-465E-8123-54D3976EE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60" y="3296874"/>
            <a:ext cx="8880750" cy="277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7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326-D1F4-4032-960C-883280F8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041808"/>
            <a:ext cx="9601200" cy="86249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Grid classes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BB8FAB5-8473-4D74-9104-79890B49FB4F}"/>
              </a:ext>
            </a:extLst>
          </p:cNvPr>
          <p:cNvSpPr txBox="1">
            <a:spLocks/>
          </p:cNvSpPr>
          <p:nvPr/>
        </p:nvSpPr>
        <p:spPr>
          <a:xfrm>
            <a:off x="1295400" y="2434380"/>
            <a:ext cx="9535357" cy="37356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SG" sz="2000" dirty="0">
                <a:solidFill>
                  <a:schemeClr val="bg1"/>
                </a:solidFill>
              </a:rPr>
              <a:t>The Bootstrap grid system has five classes:</a:t>
            </a:r>
          </a:p>
          <a:p>
            <a:pPr>
              <a:lnSpc>
                <a:spcPct val="150000"/>
              </a:lnSpc>
            </a:pPr>
            <a:endParaRPr lang="en-SG" sz="20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FFC000"/>
                </a:solidFill>
              </a:rPr>
              <a:t>.col- </a:t>
            </a:r>
            <a:r>
              <a:rPr lang="en-SG" sz="2000" dirty="0">
                <a:solidFill>
                  <a:schemeClr val="bg1"/>
                </a:solidFill>
              </a:rPr>
              <a:t>(extra small devices - screen width less than 576px)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FFC000"/>
                </a:solidFill>
              </a:rPr>
              <a:t>.col-</a:t>
            </a:r>
            <a:r>
              <a:rPr lang="en-SG" sz="2000" dirty="0" err="1">
                <a:solidFill>
                  <a:srgbClr val="FFC000"/>
                </a:solidFill>
              </a:rPr>
              <a:t>sm</a:t>
            </a:r>
            <a:r>
              <a:rPr lang="en-SG" sz="2000" dirty="0">
                <a:solidFill>
                  <a:srgbClr val="FFC000"/>
                </a:solidFill>
              </a:rPr>
              <a:t>- </a:t>
            </a:r>
            <a:r>
              <a:rPr lang="en-SG" sz="2000" dirty="0">
                <a:solidFill>
                  <a:schemeClr val="bg1"/>
                </a:solidFill>
              </a:rPr>
              <a:t>(small devices - screen width equal to or greater than 576px)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FFC000"/>
                </a:solidFill>
              </a:rPr>
              <a:t>.col-md- </a:t>
            </a:r>
            <a:r>
              <a:rPr lang="en-SG" sz="2000" dirty="0">
                <a:solidFill>
                  <a:schemeClr val="bg1"/>
                </a:solidFill>
              </a:rPr>
              <a:t>(medium devices - screen width equal to or greater than 768px)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FFC000"/>
                </a:solidFill>
              </a:rPr>
              <a:t>.col-</a:t>
            </a:r>
            <a:r>
              <a:rPr lang="en-SG" sz="2000" dirty="0" err="1">
                <a:solidFill>
                  <a:srgbClr val="FFC000"/>
                </a:solidFill>
              </a:rPr>
              <a:t>lg</a:t>
            </a:r>
            <a:r>
              <a:rPr lang="en-SG" sz="2000" dirty="0">
                <a:solidFill>
                  <a:srgbClr val="FFC000"/>
                </a:solidFill>
              </a:rPr>
              <a:t>- </a:t>
            </a:r>
            <a:r>
              <a:rPr lang="en-SG" sz="2000" dirty="0">
                <a:solidFill>
                  <a:schemeClr val="bg1"/>
                </a:solidFill>
              </a:rPr>
              <a:t>(large devices - screen width equal to or greater than 992px)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SG" sz="2000" dirty="0">
                <a:solidFill>
                  <a:srgbClr val="FFC000"/>
                </a:solidFill>
              </a:rPr>
              <a:t>.col-xl- </a:t>
            </a:r>
            <a:r>
              <a:rPr lang="en-SG" sz="2000" dirty="0">
                <a:solidFill>
                  <a:schemeClr val="bg1"/>
                </a:solidFill>
              </a:rPr>
              <a:t>(</a:t>
            </a:r>
            <a:r>
              <a:rPr lang="en-SG" sz="2000" dirty="0" err="1">
                <a:solidFill>
                  <a:schemeClr val="bg1"/>
                </a:solidFill>
              </a:rPr>
              <a:t>xlarge</a:t>
            </a:r>
            <a:r>
              <a:rPr lang="en-SG" sz="2000" dirty="0">
                <a:solidFill>
                  <a:schemeClr val="bg1"/>
                </a:solidFill>
              </a:rPr>
              <a:t> devices - screen width equal to or greater than 1200px)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83968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7ECF6D8-9EA4-45A1-AFEB-B7C326AF08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{E645BDAD-9BFF-4627-8D99-14F89E3CE4C9}tf34357615_win32</Template>
  <TotalTime>1191</TotalTime>
  <Words>241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Franklin Gothic Book</vt:lpstr>
      <vt:lpstr>Roboto</vt:lpstr>
      <vt:lpstr>Wingdings</vt:lpstr>
      <vt:lpstr>Crop</vt:lpstr>
      <vt:lpstr>bOOTSTRAP</vt:lpstr>
      <vt:lpstr>What is Bootstrap? </vt:lpstr>
      <vt:lpstr>Where to Get Bootstrap 5?</vt:lpstr>
      <vt:lpstr>Containers</vt:lpstr>
      <vt:lpstr>Containers</vt:lpstr>
      <vt:lpstr>Fluid container</vt:lpstr>
      <vt:lpstr>Bootstrap Grid System</vt:lpstr>
      <vt:lpstr>Grid classes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Ban Nguyen</dc:creator>
  <cp:lastModifiedBy>Ban Nguyen</cp:lastModifiedBy>
  <cp:revision>79</cp:revision>
  <dcterms:created xsi:type="dcterms:W3CDTF">2021-01-29T01:06:27Z</dcterms:created>
  <dcterms:modified xsi:type="dcterms:W3CDTF">2021-05-12T04:56:52Z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