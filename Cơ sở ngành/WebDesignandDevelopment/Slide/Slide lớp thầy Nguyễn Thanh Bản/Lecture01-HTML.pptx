
<file path=[Content_Types].xml><?xml version="1.0" encoding="utf-8"?>
<Types xmlns="http://schemas.openxmlformats.org/package/2006/content-types">
  <Default Extension="gif" ContentType="image/gif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9"/>
  </p:notesMasterIdLst>
  <p:sldIdLst>
    <p:sldId id="266" r:id="rId5"/>
    <p:sldId id="286" r:id="rId6"/>
    <p:sldId id="278" r:id="rId7"/>
    <p:sldId id="279" r:id="rId8"/>
    <p:sldId id="280" r:id="rId9"/>
    <p:sldId id="281" r:id="rId10"/>
    <p:sldId id="282" r:id="rId11"/>
    <p:sldId id="257" r:id="rId12"/>
    <p:sldId id="283" r:id="rId13"/>
    <p:sldId id="267" r:id="rId14"/>
    <p:sldId id="269" r:id="rId15"/>
    <p:sldId id="270" r:id="rId16"/>
    <p:sldId id="284" r:id="rId17"/>
    <p:sldId id="28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D81C89-AC0D-4BFF-9223-D3157C1DDC5B}" type="datetimeFigureOut">
              <a:rPr lang="en-US" smtClean="0"/>
              <a:t>4/20/2021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33D7A2-C585-48BF-BF8C-C21FDC051F7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662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3A52079-6997-47B8-B262-4ED5D2EA2D74}" type="datetime1">
              <a:rPr lang="en-US" smtClean="0"/>
              <a:t>4/20/2021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41ED8-AC2E-4560-8CC9-E6292DDF25B6}" type="datetime1">
              <a:rPr lang="en-US" smtClean="0"/>
              <a:t>4/20/2021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5238998-10EA-455D-8FDC-3EBC7E198582}" type="datetime1">
              <a:rPr lang="en-US" smtClean="0"/>
              <a:t>4/20/2021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4E9B6-2EC2-45E6-A437-DCC674AAC4AF}" type="datetime1">
              <a:rPr lang="en-US" smtClean="0"/>
              <a:t>4/20/2021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D4FF3-940D-4DDE-86D8-82D5A8663636}" type="datetime1">
              <a:rPr lang="en-US" smtClean="0"/>
              <a:t>4/20/2021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55261-7117-41BB-BB79-8C1909625493}" type="datetime1">
              <a:rPr lang="en-US" smtClean="0"/>
              <a:t>4/20/2021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204D7-DE7F-414C-8571-0012DE9EFCDB}" type="datetime1">
              <a:rPr lang="en-US" smtClean="0"/>
              <a:t>4/20/2021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E378FF3-85EA-48E5-8D8C-1DB156807E49}" type="datetime1">
              <a:rPr lang="en-US" smtClean="0"/>
              <a:t>4/20/2021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3F94F13-1676-4B68-A383-661B657F6E63}" type="datetime1">
              <a:rPr lang="en-US" smtClean="0"/>
              <a:t>4/20/2021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C80CA-06EA-4D97-A1EC-F2A229B592C4}" type="datetime1">
              <a:rPr lang="en-US" smtClean="0"/>
              <a:t>4/20/2021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60CC4-6CA2-4A99-B83B-711E420D000E}" type="datetime1">
              <a:rPr lang="en-US" smtClean="0"/>
              <a:t>4/20/2021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5CB83234-995D-4149-8E1E-BC120E9070D5}" type="datetime1">
              <a:rPr lang="en-US" smtClean="0"/>
              <a:t>4/20/2021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56C94072-1B34-48FB-9A9C-5A9A0FFC8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3" name="Picture 22" descr="extreme close up of line chart graphic">
            <a:extLst>
              <a:ext uri="{FF2B5EF4-FFF2-40B4-BE49-F238E27FC236}">
                <a16:creationId xmlns:a16="http://schemas.microsoft.com/office/drawing/2014/main" id="{B38A25AE-7B44-4EC1-BC0C-CF0FFF0367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00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A5019358-4900-4555-99FF-EF6AE90B8E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5670146" y="3710250"/>
            <a:ext cx="2131466" cy="1830903"/>
          </a:xfrm>
          <a:custGeom>
            <a:avLst/>
            <a:gdLst>
              <a:gd name="connsiteX0" fmla="*/ 2308583 w 2308583"/>
              <a:gd name="connsiteY0" fmla="*/ 1983044 h 1983044"/>
              <a:gd name="connsiteX1" fmla="*/ 462 w 2308583"/>
              <a:gd name="connsiteY1" fmla="*/ 1983044 h 1983044"/>
              <a:gd name="connsiteX2" fmla="*/ 0 w 2308583"/>
              <a:gd name="connsiteY2" fmla="*/ 1711185 h 1983044"/>
              <a:gd name="connsiteX3" fmla="*/ 2022607 w 2308583"/>
              <a:gd name="connsiteY3" fmla="*/ 1712117 h 1983044"/>
              <a:gd name="connsiteX4" fmla="*/ 2022607 w 2308583"/>
              <a:gd name="connsiteY4" fmla="*/ 0 h 1983044"/>
              <a:gd name="connsiteX5" fmla="*/ 2308583 w 2308583"/>
              <a:gd name="connsiteY5" fmla="*/ 0 h 1983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08583" h="1983044">
                <a:moveTo>
                  <a:pt x="2308583" y="1983044"/>
                </a:moveTo>
                <a:lnTo>
                  <a:pt x="462" y="1983044"/>
                </a:lnTo>
                <a:cubicBezTo>
                  <a:pt x="-462" y="1889214"/>
                  <a:pt x="923" y="1805015"/>
                  <a:pt x="0" y="1711185"/>
                </a:cubicBezTo>
                <a:lnTo>
                  <a:pt x="2022607" y="1712117"/>
                </a:lnTo>
                <a:lnTo>
                  <a:pt x="2022607" y="0"/>
                </a:lnTo>
                <a:lnTo>
                  <a:pt x="2308583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D5941F3-0256-4E90-BBBC-5A6EDEB8E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38004" y="4166755"/>
            <a:ext cx="5607908" cy="2040066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347C47-EF1D-4B02-906B-219155AD8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8010" y="4333009"/>
            <a:ext cx="5268177" cy="1086237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FFFFFF"/>
                </a:solidFill>
              </a:rPr>
              <a:t>HTML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A0527F-C5FD-4E9B-9F21-5D1FBA313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8010" y="5419246"/>
            <a:ext cx="5268177" cy="531866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800" dirty="0">
                <a:solidFill>
                  <a:srgbClr val="FFFFFF"/>
                </a:solidFill>
              </a:rPr>
              <a:t>NGUYEN Thanh Ban</a:t>
            </a:r>
          </a:p>
        </p:txBody>
      </p:sp>
    </p:spTree>
    <p:extLst>
      <p:ext uri="{BB962C8B-B14F-4D97-AF65-F5344CB8AC3E}">
        <p14:creationId xmlns:p14="http://schemas.microsoft.com/office/powerpoint/2010/main" val="745576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7E326-D1F4-4032-960C-883280F8F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686050"/>
            <a:ext cx="9601200" cy="148590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C000"/>
                </a:solidFill>
              </a:rPr>
              <a:t>WWW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World Wide Web</a:t>
            </a:r>
            <a:endParaRPr lang="en-US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90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7E326-D1F4-4032-960C-883280F8F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686050"/>
            <a:ext cx="9601200" cy="148590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C000"/>
                </a:solidFill>
              </a:rPr>
              <a:t>URL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b="1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Uniform Resource Locator</a:t>
            </a:r>
            <a:endParaRPr lang="en-US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152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7E326-D1F4-4032-960C-883280F8F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686050"/>
            <a:ext cx="9601200" cy="148590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C000"/>
                </a:solidFill>
              </a:rPr>
              <a:t>http/https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b="1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Hypertext Transfer Protocol/Secure</a:t>
            </a:r>
            <a:endParaRPr lang="en-US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6042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7E326-D1F4-4032-960C-883280F8F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686050"/>
            <a:ext cx="9601200" cy="148590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C000"/>
                </a:solidFill>
              </a:rPr>
              <a:t>IP address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b="1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Internet Protocol address</a:t>
            </a:r>
            <a:endParaRPr lang="en-US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9767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7E326-D1F4-4032-960C-883280F8F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686050"/>
            <a:ext cx="9601200" cy="148590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C000"/>
                </a:solidFill>
              </a:rPr>
              <a:t>Protocol</a:t>
            </a:r>
            <a:endParaRPr lang="en-US" dirty="0">
              <a:solidFill>
                <a:srgbClr val="FFC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7023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7E326-D1F4-4032-960C-883280F8F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686050"/>
            <a:ext cx="9601200" cy="148590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C000"/>
                </a:solidFill>
              </a:rPr>
              <a:t>Client - Server</a:t>
            </a:r>
            <a:endParaRPr lang="en-US" dirty="0">
              <a:solidFill>
                <a:srgbClr val="FFC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0696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7E326-D1F4-4032-960C-883280F8F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>
            <a:normAutofit/>
          </a:bodyPr>
          <a:lstStyle/>
          <a:p>
            <a:r>
              <a:rPr lang="en-US" dirty="0"/>
              <a:t>Main content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D85C40-FCF9-4312-9A6B-02153AFC2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8598" y="2243831"/>
            <a:ext cx="5264458" cy="358140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</a:rPr>
              <a:t>HTML Structure</a:t>
            </a:r>
          </a:p>
          <a:p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</a:rPr>
              <a:t>Basic tags</a:t>
            </a:r>
          </a:p>
          <a:p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</a:rPr>
              <a:t>Inline, Block elements</a:t>
            </a:r>
          </a:p>
          <a:p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</a:rPr>
              <a:t>Tag attributes</a:t>
            </a:r>
          </a:p>
          <a:p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</a:rPr>
              <a:t>Links, Images, Table, Form</a:t>
            </a:r>
          </a:p>
          <a:p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</a:rPr>
              <a:t>HTML5 semantic tags</a:t>
            </a:r>
          </a:p>
          <a:p>
            <a:endParaRPr lang="en-US" sz="2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4417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7E326-D1F4-4032-960C-883280F8F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134087"/>
            <a:ext cx="9601200" cy="66115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What we need to start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72E0ACA-6AF6-42B3-80E0-33358F32E89C}"/>
              </a:ext>
            </a:extLst>
          </p:cNvPr>
          <p:cNvSpPr txBox="1">
            <a:spLocks/>
          </p:cNvSpPr>
          <p:nvPr/>
        </p:nvSpPr>
        <p:spPr>
          <a:xfrm>
            <a:off x="1472967" y="2200887"/>
            <a:ext cx="9601200" cy="154060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20000"/>
              </a:lnSpc>
            </a:pPr>
            <a:r>
              <a:rPr lang="en-US" sz="8000" dirty="0">
                <a:solidFill>
                  <a:srgbClr val="FFC000"/>
                </a:solidFill>
              </a:rPr>
              <a:t>- A Web Browser: </a:t>
            </a:r>
            <a:r>
              <a:rPr lang="en-US" sz="8000" dirty="0">
                <a:solidFill>
                  <a:schemeClr val="bg1"/>
                </a:solidFill>
              </a:rPr>
              <a:t>Google Chrome, Mozilla Firefox, Safari…</a:t>
            </a:r>
          </a:p>
          <a:p>
            <a:pPr>
              <a:lnSpc>
                <a:spcPct val="220000"/>
              </a:lnSpc>
            </a:pPr>
            <a:r>
              <a:rPr lang="en-US" sz="8000" dirty="0">
                <a:solidFill>
                  <a:srgbClr val="FFC000"/>
                </a:solidFill>
              </a:rPr>
              <a:t>- A Text Editor: </a:t>
            </a:r>
            <a:r>
              <a:rPr lang="en-US" sz="8000" dirty="0">
                <a:solidFill>
                  <a:schemeClr val="bg1"/>
                </a:solidFill>
              </a:rPr>
              <a:t>Sublime text, Visual Studio code, Notepad ++ (Windows), </a:t>
            </a:r>
            <a:r>
              <a:rPr lang="en-US" sz="8000" dirty="0" err="1">
                <a:solidFill>
                  <a:schemeClr val="bg1"/>
                </a:solidFill>
              </a:rPr>
              <a:t>TextMate</a:t>
            </a:r>
            <a:r>
              <a:rPr lang="en-US" sz="8000" dirty="0">
                <a:solidFill>
                  <a:schemeClr val="bg1"/>
                </a:solidFill>
              </a:rPr>
              <a:t> (Mac)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4344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7E326-D1F4-4032-960C-883280F8F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822" y="1041808"/>
            <a:ext cx="9601200" cy="74295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HTML Structure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36F8C36-1B74-4D8D-9697-39378DA18A73}"/>
              </a:ext>
            </a:extLst>
          </p:cNvPr>
          <p:cNvSpPr txBox="1">
            <a:spLocks/>
          </p:cNvSpPr>
          <p:nvPr/>
        </p:nvSpPr>
        <p:spPr>
          <a:xfrm>
            <a:off x="1354822" y="1784757"/>
            <a:ext cx="9601200" cy="357580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SG" sz="1800" b="0" i="0" dirty="0">
                <a:solidFill>
                  <a:schemeClr val="bg1"/>
                </a:solidFill>
                <a:effectLst/>
                <a:latin typeface=".VnCourier" panose="020B7200000000000000" pitchFamily="34" charset="0"/>
                <a:ea typeface="Roboto" panose="02000000000000000000" pitchFamily="2" charset="0"/>
              </a:rPr>
              <a:t>&lt;!DOCTYPE html&gt;</a:t>
            </a:r>
            <a:br>
              <a:rPr lang="en-SG" sz="1800" dirty="0">
                <a:solidFill>
                  <a:schemeClr val="bg1"/>
                </a:solidFill>
                <a:latin typeface=".VnCourier" panose="020B7200000000000000" pitchFamily="34" charset="0"/>
                <a:ea typeface="Roboto" panose="02000000000000000000" pitchFamily="2" charset="0"/>
              </a:rPr>
            </a:br>
            <a:r>
              <a:rPr lang="en-SG" sz="1800" b="0" i="0" dirty="0">
                <a:solidFill>
                  <a:schemeClr val="bg1"/>
                </a:solidFill>
                <a:effectLst/>
                <a:latin typeface=".VnCourier" panose="020B7200000000000000" pitchFamily="34" charset="0"/>
                <a:ea typeface="Roboto" panose="02000000000000000000" pitchFamily="2" charset="0"/>
              </a:rPr>
              <a:t>&lt;html&gt;</a:t>
            </a:r>
            <a:br>
              <a:rPr lang="en-SG" sz="1800" dirty="0">
                <a:solidFill>
                  <a:schemeClr val="bg1"/>
                </a:solidFill>
                <a:latin typeface=".VnCourier" panose="020B7200000000000000" pitchFamily="34" charset="0"/>
                <a:ea typeface="Roboto" panose="02000000000000000000" pitchFamily="2" charset="0"/>
              </a:rPr>
            </a:br>
            <a:r>
              <a:rPr lang="en-SG" sz="1800" dirty="0">
                <a:solidFill>
                  <a:schemeClr val="bg1"/>
                </a:solidFill>
                <a:latin typeface=".VnCourier" panose="020B7200000000000000" pitchFamily="34" charset="0"/>
                <a:ea typeface="Roboto" panose="02000000000000000000" pitchFamily="2" charset="0"/>
              </a:rPr>
              <a:t>	</a:t>
            </a:r>
            <a:r>
              <a:rPr lang="en-SG" sz="1800" b="0" i="0" dirty="0">
                <a:solidFill>
                  <a:schemeClr val="bg1"/>
                </a:solidFill>
                <a:effectLst/>
                <a:latin typeface=".VnCourier" panose="020B7200000000000000" pitchFamily="34" charset="0"/>
                <a:ea typeface="Roboto" panose="02000000000000000000" pitchFamily="2" charset="0"/>
              </a:rPr>
              <a:t>&lt;head&gt;</a:t>
            </a:r>
            <a:br>
              <a:rPr lang="en-SG" sz="1800" dirty="0">
                <a:solidFill>
                  <a:schemeClr val="bg1"/>
                </a:solidFill>
                <a:latin typeface=".VnCourier" panose="020B7200000000000000" pitchFamily="34" charset="0"/>
                <a:ea typeface="Roboto" panose="02000000000000000000" pitchFamily="2" charset="0"/>
              </a:rPr>
            </a:br>
            <a:r>
              <a:rPr lang="en-SG" sz="1800" dirty="0">
                <a:solidFill>
                  <a:schemeClr val="bg1"/>
                </a:solidFill>
                <a:latin typeface=".VnCourier" panose="020B7200000000000000" pitchFamily="34" charset="0"/>
                <a:ea typeface="Roboto" panose="02000000000000000000" pitchFamily="2" charset="0"/>
              </a:rPr>
              <a:t>		</a:t>
            </a:r>
            <a:r>
              <a:rPr lang="en-SG" sz="1800" b="0" i="0" dirty="0">
                <a:solidFill>
                  <a:schemeClr val="bg1"/>
                </a:solidFill>
                <a:effectLst/>
                <a:latin typeface=".VnCourier" panose="020B7200000000000000" pitchFamily="34" charset="0"/>
                <a:ea typeface="Roboto" panose="02000000000000000000" pitchFamily="2" charset="0"/>
              </a:rPr>
              <a:t>&lt;title&gt;Page Title&lt;/title&gt;</a:t>
            </a:r>
            <a:br>
              <a:rPr lang="en-SG" sz="1800" dirty="0">
                <a:solidFill>
                  <a:schemeClr val="bg1"/>
                </a:solidFill>
                <a:latin typeface=".VnCourier" panose="020B7200000000000000" pitchFamily="34" charset="0"/>
                <a:ea typeface="Roboto" panose="02000000000000000000" pitchFamily="2" charset="0"/>
              </a:rPr>
            </a:br>
            <a:r>
              <a:rPr lang="en-SG" sz="1800" dirty="0">
                <a:solidFill>
                  <a:schemeClr val="bg1"/>
                </a:solidFill>
                <a:latin typeface=".VnCourier" panose="020B7200000000000000" pitchFamily="34" charset="0"/>
                <a:ea typeface="Roboto" panose="02000000000000000000" pitchFamily="2" charset="0"/>
              </a:rPr>
              <a:t>	</a:t>
            </a:r>
            <a:r>
              <a:rPr lang="en-SG" sz="1800" b="0" i="0" dirty="0">
                <a:solidFill>
                  <a:schemeClr val="bg1"/>
                </a:solidFill>
                <a:effectLst/>
                <a:latin typeface=".VnCourier" panose="020B7200000000000000" pitchFamily="34" charset="0"/>
                <a:ea typeface="Roboto" panose="02000000000000000000" pitchFamily="2" charset="0"/>
              </a:rPr>
              <a:t>&lt;/head&gt;</a:t>
            </a:r>
            <a:br>
              <a:rPr lang="en-SG" sz="1800" dirty="0">
                <a:solidFill>
                  <a:schemeClr val="bg1"/>
                </a:solidFill>
                <a:latin typeface=".VnCourier" panose="020B7200000000000000" pitchFamily="34" charset="0"/>
                <a:ea typeface="Roboto" panose="02000000000000000000" pitchFamily="2" charset="0"/>
              </a:rPr>
            </a:br>
            <a:r>
              <a:rPr lang="en-SG" sz="1800" dirty="0">
                <a:solidFill>
                  <a:schemeClr val="bg1"/>
                </a:solidFill>
                <a:latin typeface=".VnCourier" panose="020B7200000000000000" pitchFamily="34" charset="0"/>
                <a:ea typeface="Roboto" panose="02000000000000000000" pitchFamily="2" charset="0"/>
              </a:rPr>
              <a:t>	</a:t>
            </a:r>
            <a:r>
              <a:rPr lang="en-SG" sz="1800" b="0" i="0" dirty="0">
                <a:solidFill>
                  <a:schemeClr val="bg1"/>
                </a:solidFill>
                <a:effectLst/>
                <a:latin typeface=".VnCourier" panose="020B7200000000000000" pitchFamily="34" charset="0"/>
                <a:ea typeface="Roboto" panose="02000000000000000000" pitchFamily="2" charset="0"/>
              </a:rPr>
              <a:t>&lt;body&gt;</a:t>
            </a:r>
            <a:br>
              <a:rPr lang="en-SG" sz="1800" dirty="0">
                <a:solidFill>
                  <a:schemeClr val="bg1"/>
                </a:solidFill>
                <a:latin typeface=".VnCourier" panose="020B7200000000000000" pitchFamily="34" charset="0"/>
                <a:ea typeface="Roboto" panose="02000000000000000000" pitchFamily="2" charset="0"/>
              </a:rPr>
            </a:br>
            <a:r>
              <a:rPr lang="en-SG" sz="1800" dirty="0">
                <a:solidFill>
                  <a:schemeClr val="bg1"/>
                </a:solidFill>
                <a:latin typeface=".VnCourier" panose="020B7200000000000000" pitchFamily="34" charset="0"/>
                <a:ea typeface="Roboto" panose="02000000000000000000" pitchFamily="2" charset="0"/>
              </a:rPr>
              <a:t>		</a:t>
            </a:r>
            <a:r>
              <a:rPr lang="en-SG" sz="1800" b="0" i="0" dirty="0">
                <a:solidFill>
                  <a:schemeClr val="bg1"/>
                </a:solidFill>
                <a:effectLst/>
                <a:latin typeface=".VnCourier" panose="020B7200000000000000" pitchFamily="34" charset="0"/>
                <a:ea typeface="Roboto" panose="02000000000000000000" pitchFamily="2" charset="0"/>
              </a:rPr>
              <a:t>&lt;h1&gt;My First Heading&lt;/h1&gt;</a:t>
            </a:r>
            <a:br>
              <a:rPr lang="en-SG" sz="1800" dirty="0">
                <a:solidFill>
                  <a:schemeClr val="bg1"/>
                </a:solidFill>
                <a:latin typeface=".VnCourier" panose="020B7200000000000000" pitchFamily="34" charset="0"/>
                <a:ea typeface="Roboto" panose="02000000000000000000" pitchFamily="2" charset="0"/>
              </a:rPr>
            </a:br>
            <a:r>
              <a:rPr lang="en-SG" sz="1800" dirty="0">
                <a:solidFill>
                  <a:schemeClr val="bg1"/>
                </a:solidFill>
                <a:latin typeface=".VnCourier" panose="020B7200000000000000" pitchFamily="34" charset="0"/>
                <a:ea typeface="Roboto" panose="02000000000000000000" pitchFamily="2" charset="0"/>
              </a:rPr>
              <a:t>		</a:t>
            </a:r>
            <a:r>
              <a:rPr lang="en-SG" sz="1800" b="0" i="0" dirty="0">
                <a:solidFill>
                  <a:schemeClr val="bg1"/>
                </a:solidFill>
                <a:effectLst/>
                <a:latin typeface=".VnCourier" panose="020B7200000000000000" pitchFamily="34" charset="0"/>
                <a:ea typeface="Roboto" panose="02000000000000000000" pitchFamily="2" charset="0"/>
              </a:rPr>
              <a:t>&lt;p&gt;My first paragraph.&lt;/p&gt;</a:t>
            </a:r>
            <a:br>
              <a:rPr lang="en-SG" sz="1800" dirty="0">
                <a:solidFill>
                  <a:schemeClr val="bg1"/>
                </a:solidFill>
                <a:latin typeface=".VnCourier" panose="020B7200000000000000" pitchFamily="34" charset="0"/>
                <a:ea typeface="Roboto" panose="02000000000000000000" pitchFamily="2" charset="0"/>
              </a:rPr>
            </a:br>
            <a:r>
              <a:rPr lang="en-SG" sz="1800" dirty="0">
                <a:solidFill>
                  <a:schemeClr val="bg1"/>
                </a:solidFill>
                <a:latin typeface=".VnCourier" panose="020B7200000000000000" pitchFamily="34" charset="0"/>
                <a:ea typeface="Roboto" panose="02000000000000000000" pitchFamily="2" charset="0"/>
              </a:rPr>
              <a:t>	</a:t>
            </a:r>
            <a:r>
              <a:rPr lang="en-SG" sz="1800" b="0" i="0" dirty="0">
                <a:solidFill>
                  <a:schemeClr val="bg1"/>
                </a:solidFill>
                <a:effectLst/>
                <a:latin typeface=".VnCourier" panose="020B7200000000000000" pitchFamily="34" charset="0"/>
                <a:ea typeface="Roboto" panose="02000000000000000000" pitchFamily="2" charset="0"/>
              </a:rPr>
              <a:t>&lt;/body&gt;</a:t>
            </a:r>
            <a:br>
              <a:rPr lang="en-SG" sz="1800" dirty="0">
                <a:solidFill>
                  <a:schemeClr val="bg1"/>
                </a:solidFill>
                <a:latin typeface=".VnCourier" panose="020B7200000000000000" pitchFamily="34" charset="0"/>
                <a:ea typeface="Roboto" panose="02000000000000000000" pitchFamily="2" charset="0"/>
              </a:rPr>
            </a:br>
            <a:r>
              <a:rPr lang="en-SG" sz="1800" b="0" i="0" dirty="0">
                <a:solidFill>
                  <a:schemeClr val="bg1"/>
                </a:solidFill>
                <a:effectLst/>
                <a:latin typeface=".VnCourier" panose="020B7200000000000000" pitchFamily="34" charset="0"/>
                <a:ea typeface="Roboto" panose="02000000000000000000" pitchFamily="2" charset="0"/>
              </a:rPr>
              <a:t>&lt;/html&gt;</a:t>
            </a:r>
            <a:endParaRPr lang="en-US" sz="1800" dirty="0">
              <a:solidFill>
                <a:schemeClr val="bg1"/>
              </a:solidFill>
              <a:latin typeface=".VnCourier" panose="020B7200000000000000" pitchFamily="34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360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7E326-D1F4-4032-960C-883280F8F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511591"/>
            <a:ext cx="9601200" cy="770215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Basic tags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4751FA0-E0DD-4B08-9782-2B4F9662ABA0}"/>
              </a:ext>
            </a:extLst>
          </p:cNvPr>
          <p:cNvSpPr txBox="1">
            <a:spLocks/>
          </p:cNvSpPr>
          <p:nvPr/>
        </p:nvSpPr>
        <p:spPr>
          <a:xfrm>
            <a:off x="2206304" y="2474140"/>
            <a:ext cx="3142376" cy="19097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i="1" dirty="0">
                <a:solidFill>
                  <a:schemeClr val="bg1"/>
                </a:solidFill>
              </a:rPr>
              <a:t>&lt;</a:t>
            </a:r>
            <a:r>
              <a:rPr lang="en-US" sz="1200" i="1" dirty="0" err="1">
                <a:solidFill>
                  <a:schemeClr val="bg1"/>
                </a:solidFill>
              </a:rPr>
              <a:t>tagname</a:t>
            </a:r>
            <a:r>
              <a:rPr lang="en-US" sz="1200" i="1" dirty="0">
                <a:solidFill>
                  <a:schemeClr val="bg1"/>
                </a:solidFill>
              </a:rPr>
              <a:t>&gt;content&lt;/</a:t>
            </a:r>
            <a:r>
              <a:rPr lang="en-US" sz="1200" i="1" dirty="0" err="1">
                <a:solidFill>
                  <a:schemeClr val="bg1"/>
                </a:solidFill>
              </a:rPr>
              <a:t>tagname</a:t>
            </a:r>
            <a:r>
              <a:rPr lang="en-US" sz="1200" i="1" dirty="0">
                <a:solidFill>
                  <a:schemeClr val="bg1"/>
                </a:solidFill>
              </a:rPr>
              <a:t>&gt;</a:t>
            </a:r>
          </a:p>
          <a:p>
            <a:endParaRPr lang="en-US" sz="1200" i="1" dirty="0">
              <a:solidFill>
                <a:schemeClr val="bg1"/>
              </a:solidFill>
            </a:endParaRPr>
          </a:p>
          <a:p>
            <a:pPr>
              <a:lnSpc>
                <a:spcPct val="170000"/>
              </a:lnSpc>
            </a:pPr>
            <a:r>
              <a:rPr lang="en-US" sz="1200" i="1" dirty="0">
                <a:solidFill>
                  <a:schemeClr val="bg1"/>
                </a:solidFill>
              </a:rPr>
              <a:t>&lt;h1&gt;About us&lt;/h1&gt;</a:t>
            </a:r>
          </a:p>
          <a:p>
            <a:pPr>
              <a:lnSpc>
                <a:spcPct val="170000"/>
              </a:lnSpc>
            </a:pPr>
            <a:r>
              <a:rPr lang="en-US" sz="1200" i="1" dirty="0">
                <a:solidFill>
                  <a:schemeClr val="bg1"/>
                </a:solidFill>
              </a:rPr>
              <a:t>&lt;p&gt;This is a Paragraph&lt;/p&gt;</a:t>
            </a:r>
          </a:p>
          <a:p>
            <a:pPr>
              <a:lnSpc>
                <a:spcPct val="170000"/>
              </a:lnSpc>
            </a:pPr>
            <a:r>
              <a:rPr lang="en-US" sz="1200" i="1" dirty="0">
                <a:solidFill>
                  <a:schemeClr val="bg1"/>
                </a:solidFill>
              </a:rPr>
              <a:t>&lt;</a:t>
            </a:r>
            <a:r>
              <a:rPr lang="en-US" sz="1200" i="1" dirty="0" err="1">
                <a:solidFill>
                  <a:schemeClr val="bg1"/>
                </a:solidFill>
              </a:rPr>
              <a:t>br</a:t>
            </a:r>
            <a:r>
              <a:rPr lang="en-US" sz="1200" i="1" dirty="0">
                <a:solidFill>
                  <a:schemeClr val="bg1"/>
                </a:solidFill>
              </a:rPr>
              <a:t>/&gt; (self closing)</a:t>
            </a:r>
          </a:p>
          <a:p>
            <a:pPr>
              <a:lnSpc>
                <a:spcPct val="170000"/>
              </a:lnSpc>
            </a:pPr>
            <a:r>
              <a:rPr lang="en-US" sz="1200" i="1" dirty="0">
                <a:solidFill>
                  <a:schemeClr val="bg1"/>
                </a:solidFill>
              </a:rPr>
              <a:t>&lt;</a:t>
            </a:r>
            <a:r>
              <a:rPr lang="en-US" sz="1200" i="1" dirty="0" err="1">
                <a:solidFill>
                  <a:schemeClr val="bg1"/>
                </a:solidFill>
              </a:rPr>
              <a:t>br</a:t>
            </a:r>
            <a:r>
              <a:rPr lang="en-US" sz="1200" i="1" dirty="0">
                <a:solidFill>
                  <a:schemeClr val="bg1"/>
                </a:solidFill>
              </a:rPr>
              <a:t>&gt; (fine in HTML5)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30AA49-B48D-4C15-B8A8-83EA2EADA68A}"/>
              </a:ext>
            </a:extLst>
          </p:cNvPr>
          <p:cNvSpPr txBox="1">
            <a:spLocks/>
          </p:cNvSpPr>
          <p:nvPr/>
        </p:nvSpPr>
        <p:spPr>
          <a:xfrm>
            <a:off x="5348680" y="2439972"/>
            <a:ext cx="5547919" cy="19097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chemeClr val="bg1"/>
                </a:solidFill>
              </a:rPr>
              <a:t>Element names surrounded by angle brackets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chemeClr val="bg1"/>
                </a:solidFill>
              </a:rPr>
              <a:t>Normally come in pairs (start tag and end tag – the same but with a forward slash)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chemeClr val="bg1"/>
                </a:solidFill>
              </a:rPr>
              <a:t>Some tags close themselves</a:t>
            </a:r>
          </a:p>
          <a:p>
            <a:endParaRPr lang="en-US" sz="1200" i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80537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7E326-D1F4-4032-960C-883280F8F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041808"/>
            <a:ext cx="9601200" cy="86249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Inline .vs Block level elements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BB8FAB5-8473-4D74-9104-79890B49FB4F}"/>
              </a:ext>
            </a:extLst>
          </p:cNvPr>
          <p:cNvSpPr txBox="1">
            <a:spLocks/>
          </p:cNvSpPr>
          <p:nvPr/>
        </p:nvSpPr>
        <p:spPr>
          <a:xfrm>
            <a:off x="1295400" y="2434380"/>
            <a:ext cx="9601200" cy="158394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</a:rPr>
              <a:t>Inline elements: &lt;span&gt;, &lt;</a:t>
            </a:r>
            <a:r>
              <a:rPr lang="en-US" sz="2000" dirty="0" err="1">
                <a:solidFill>
                  <a:schemeClr val="bg1"/>
                </a:solidFill>
              </a:rPr>
              <a:t>img</a:t>
            </a:r>
            <a:r>
              <a:rPr lang="en-US" sz="2000" dirty="0">
                <a:solidFill>
                  <a:schemeClr val="bg1"/>
                </a:solidFill>
              </a:rPr>
              <a:t>&gt;,&lt;a&gt;</a:t>
            </a:r>
          </a:p>
          <a:p>
            <a:pPr marL="571500" indent="-571500">
              <a:lnSpc>
                <a:spcPct val="150000"/>
              </a:lnSpc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Do not start on a newline</a:t>
            </a:r>
          </a:p>
          <a:p>
            <a:pPr marL="571500" indent="-571500">
              <a:lnSpc>
                <a:spcPct val="150000"/>
              </a:lnSpc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Take only the necessary width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DD1C8A3-34F6-424F-AA8C-1152A6124793}"/>
              </a:ext>
            </a:extLst>
          </p:cNvPr>
          <p:cNvSpPr txBox="1">
            <a:spLocks/>
          </p:cNvSpPr>
          <p:nvPr/>
        </p:nvSpPr>
        <p:spPr>
          <a:xfrm>
            <a:off x="1295400" y="4018327"/>
            <a:ext cx="9601200" cy="158394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</a:rPr>
              <a:t>Block elements: &lt;div&gt;, &lt;h1&gt; - &lt;h6&gt;, &lt;p&gt;, &lt;form&gt; </a:t>
            </a:r>
          </a:p>
          <a:p>
            <a:pPr marL="571500" indent="-571500">
              <a:lnSpc>
                <a:spcPct val="150000"/>
              </a:lnSpc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Start on a newline</a:t>
            </a:r>
          </a:p>
          <a:p>
            <a:pPr marL="571500" indent="-571500">
              <a:lnSpc>
                <a:spcPct val="150000"/>
              </a:lnSpc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Take full width available</a:t>
            </a:r>
          </a:p>
        </p:txBody>
      </p:sp>
    </p:spTree>
    <p:extLst>
      <p:ext uri="{BB962C8B-B14F-4D97-AF65-F5344CB8AC3E}">
        <p14:creationId xmlns:p14="http://schemas.microsoft.com/office/powerpoint/2010/main" val="10887200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7E326-D1F4-4032-960C-883280F8F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041808"/>
            <a:ext cx="9601200" cy="86249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Tag attributes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BB8FAB5-8473-4D74-9104-79890B49FB4F}"/>
              </a:ext>
            </a:extLst>
          </p:cNvPr>
          <p:cNvSpPr txBox="1">
            <a:spLocks/>
          </p:cNvSpPr>
          <p:nvPr/>
        </p:nvSpPr>
        <p:spPr>
          <a:xfrm>
            <a:off x="1295400" y="2434380"/>
            <a:ext cx="9601200" cy="158394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</a:rPr>
              <a:t>&lt;</a:t>
            </a:r>
            <a:r>
              <a:rPr lang="en-US" sz="2000" dirty="0" err="1">
                <a:solidFill>
                  <a:schemeClr val="bg1"/>
                </a:solidFill>
              </a:rPr>
              <a:t>tagname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attributename</a:t>
            </a:r>
            <a:r>
              <a:rPr lang="en-US" sz="2000" dirty="0">
                <a:solidFill>
                  <a:schemeClr val="bg1"/>
                </a:solidFill>
              </a:rPr>
              <a:t>=“</a:t>
            </a:r>
            <a:r>
              <a:rPr lang="en-US" sz="2000" dirty="0" err="1">
                <a:solidFill>
                  <a:schemeClr val="bg1"/>
                </a:solidFill>
              </a:rPr>
              <a:t>attvalue</a:t>
            </a:r>
            <a:r>
              <a:rPr lang="en-US" sz="2000" dirty="0">
                <a:solidFill>
                  <a:schemeClr val="bg1"/>
                </a:solidFill>
              </a:rPr>
              <a:t>”&gt;content&lt;/</a:t>
            </a:r>
            <a:r>
              <a:rPr lang="en-US" sz="2000" dirty="0" err="1">
                <a:solidFill>
                  <a:schemeClr val="bg1"/>
                </a:solidFill>
              </a:rPr>
              <a:t>tagname</a:t>
            </a:r>
            <a:r>
              <a:rPr lang="en-US" sz="2000" dirty="0">
                <a:solidFill>
                  <a:schemeClr val="bg1"/>
                </a:solidFill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</a:rPr>
              <a:t>&lt;</a:t>
            </a:r>
            <a:r>
              <a:rPr lang="en-US" sz="2000" dirty="0" err="1">
                <a:solidFill>
                  <a:schemeClr val="bg1"/>
                </a:solidFill>
              </a:rPr>
              <a:t>img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src</a:t>
            </a:r>
            <a:r>
              <a:rPr lang="en-US" sz="2000" dirty="0">
                <a:solidFill>
                  <a:schemeClr val="bg1"/>
                </a:solidFill>
              </a:rPr>
              <a:t>=“cat.jpg”&gt;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</a:rPr>
              <a:t>&lt;h1 title=“My page”&gt;The Product&lt;/h1&gt;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DD1C8A3-34F6-424F-AA8C-1152A6124793}"/>
              </a:ext>
            </a:extLst>
          </p:cNvPr>
          <p:cNvSpPr txBox="1">
            <a:spLocks/>
          </p:cNvSpPr>
          <p:nvPr/>
        </p:nvSpPr>
        <p:spPr>
          <a:xfrm>
            <a:off x="1295400" y="4018327"/>
            <a:ext cx="9601200" cy="18959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All tags can have attributes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Provide information about an element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Placed within the start tag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Key/value pairs</a:t>
            </a:r>
          </a:p>
        </p:txBody>
      </p:sp>
    </p:spTree>
    <p:extLst>
      <p:ext uri="{BB962C8B-B14F-4D97-AF65-F5344CB8AC3E}">
        <p14:creationId xmlns:p14="http://schemas.microsoft.com/office/powerpoint/2010/main" val="9097103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7E326-D1F4-4032-960C-883280F8F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041808"/>
            <a:ext cx="9601200" cy="86249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HTML5 Semantic tags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BB8FAB5-8473-4D74-9104-79890B49FB4F}"/>
              </a:ext>
            </a:extLst>
          </p:cNvPr>
          <p:cNvSpPr txBox="1">
            <a:spLocks/>
          </p:cNvSpPr>
          <p:nvPr/>
        </p:nvSpPr>
        <p:spPr>
          <a:xfrm>
            <a:off x="1488347" y="2138406"/>
            <a:ext cx="9601200" cy="323657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</a:rPr>
              <a:t>A semantic element clearly describes its meaning to both the browser and the developer</a:t>
            </a:r>
            <a:r>
              <a:rPr lang="en-US" sz="2000" dirty="0">
                <a:solidFill>
                  <a:srgbClr val="FFC000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</a:rPr>
              <a:t>&lt;header&gt;&lt;/header&gt;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</a:rPr>
              <a:t>&lt;footer&gt;&lt;/footer&gt;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</a:rPr>
              <a:t>&lt;aside&gt;&lt;/aside&gt;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</a:rPr>
              <a:t>&lt;nav&gt;&lt;/nav&gt;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</a:rPr>
              <a:t>&lt;main&gt;&lt;/main&gt;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</a:rPr>
              <a:t>&lt;article&gt;&lt;/article&gt;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</a:rPr>
              <a:t>&lt;section&gt;&lt;/section&gt;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</a:rPr>
              <a:t>&lt;details&gt;&lt;/details&gt;</a:t>
            </a:r>
          </a:p>
          <a:p>
            <a:pPr>
              <a:lnSpc>
                <a:spcPct val="150000"/>
              </a:lnSpc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1026" name="Picture 2" descr="HTML Semantic Elements">
            <a:extLst>
              <a:ext uri="{FF2B5EF4-FFF2-40B4-BE49-F238E27FC236}">
                <a16:creationId xmlns:a16="http://schemas.microsoft.com/office/drawing/2014/main" id="{F5FD60ED-58CF-4D96-BA6B-FE6BAE8BF9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174" y="2642532"/>
            <a:ext cx="2085975" cy="245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4731076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7ECF6D8-9EA4-45A1-AFEB-B7C326AF08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C45FB24-BEC6-4D44-888B-84AEBBA2DC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FD9A38F-9A2C-42E5-9013-4C4B1FFCB4F6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{E645BDAD-9BFF-4627-8D99-14F89E3CE4C9}tf34357615_win32</Template>
  <TotalTime>656</TotalTime>
  <Words>400</Words>
  <Application>Microsoft Office PowerPoint</Application>
  <PresentationFormat>Widescreen</PresentationFormat>
  <Paragraphs>55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.VnCourier</vt:lpstr>
      <vt:lpstr>Arial</vt:lpstr>
      <vt:lpstr>Calibri</vt:lpstr>
      <vt:lpstr>Franklin Gothic Book</vt:lpstr>
      <vt:lpstr>Roboto</vt:lpstr>
      <vt:lpstr>Crop</vt:lpstr>
      <vt:lpstr>HTML</vt:lpstr>
      <vt:lpstr>WWW World Wide Web</vt:lpstr>
      <vt:lpstr>URL Uniform Resource Locator</vt:lpstr>
      <vt:lpstr>http/https Hypertext Transfer Protocol/Secure</vt:lpstr>
      <vt:lpstr>IP address Internet Protocol address</vt:lpstr>
      <vt:lpstr>Protocol</vt:lpstr>
      <vt:lpstr>Client - Server</vt:lpstr>
      <vt:lpstr>Main content</vt:lpstr>
      <vt:lpstr>What we need to start </vt:lpstr>
      <vt:lpstr>HTML Structure</vt:lpstr>
      <vt:lpstr>Basic tags</vt:lpstr>
      <vt:lpstr>Inline .vs Block level elements</vt:lpstr>
      <vt:lpstr>Tag attributes</vt:lpstr>
      <vt:lpstr>HTML5 Semantic tags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Lorem Ipsum</dc:title>
  <dc:creator>Ban Nguyen</dc:creator>
  <cp:lastModifiedBy>Ban Nguyen</cp:lastModifiedBy>
  <cp:revision>40</cp:revision>
  <dcterms:created xsi:type="dcterms:W3CDTF">2021-01-29T01:06:27Z</dcterms:created>
  <dcterms:modified xsi:type="dcterms:W3CDTF">2021-04-20T01:10:44Z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