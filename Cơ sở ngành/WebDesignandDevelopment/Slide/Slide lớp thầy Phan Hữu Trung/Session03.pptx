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9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2354E-E8CB-4E64-AE6E-BE79EBCB6692}" type="datetimeFigureOut">
              <a:rPr lang="en-US" smtClean="0"/>
              <a:pPr/>
              <a:t>12/19/2011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88B35-F68D-4904-905E-2238C4748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154289"/>
            <a:ext cx="91440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12/19/2011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12/19/2011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12/19/2011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12/19/2011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12/19/2011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12/19/2011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09965-9CA9-4FF6-A0FD-7CE4168D0195}" type="datetimeFigureOut">
              <a:rPr lang="en-US" smtClean="0"/>
              <a:pPr/>
              <a:t>12/19/2011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7696200" cy="1162050"/>
          </a:xfrm>
        </p:spPr>
        <p:txBody>
          <a:bodyPr>
            <a:normAutofit fontScale="90000"/>
          </a:bodyPr>
          <a:lstStyle/>
          <a:p>
            <a:r>
              <a:rPr lang="en-US" sz="4800" b="1" smtClean="0">
                <a:solidFill>
                  <a:schemeClr val="bg1"/>
                </a:solidFill>
              </a:rPr>
              <a:t>WEB AUTHORING: </a:t>
            </a:r>
            <a:br>
              <a:rPr lang="en-US" sz="4800" b="1" smtClean="0">
                <a:solidFill>
                  <a:schemeClr val="bg1"/>
                </a:solidFill>
              </a:rPr>
            </a:br>
            <a:r>
              <a:rPr lang="en-US" sz="4800" b="1" smtClean="0">
                <a:solidFill>
                  <a:schemeClr val="bg1"/>
                </a:solidFill>
              </a:rPr>
              <a:t>DW, PHP, MYSQL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16" name="Subtitle 15"/>
          <p:cNvSpPr>
            <a:spLocks noGrp="1"/>
          </p:cNvSpPr>
          <p:nvPr>
            <p:ph type="subTitle" idx="1"/>
          </p:nvPr>
        </p:nvSpPr>
        <p:spPr>
          <a:xfrm>
            <a:off x="1600200" y="4038600"/>
            <a:ext cx="5638800" cy="609600"/>
          </a:xfrm>
        </p:spPr>
        <p:txBody>
          <a:bodyPr>
            <a:normAutofit fontScale="85000" lnSpcReduction="10000"/>
          </a:bodyPr>
          <a:lstStyle/>
          <a:p>
            <a:r>
              <a:rPr lang="en-US" b="1" smtClean="0">
                <a:solidFill>
                  <a:schemeClr val="accent6">
                    <a:lumMod val="75000"/>
                  </a:schemeClr>
                </a:solidFill>
              </a:rPr>
              <a:t>SESSION </a:t>
            </a:r>
            <a:r>
              <a:rPr lang="en-US" b="1" smtClean="0">
                <a:solidFill>
                  <a:schemeClr val="accent6">
                    <a:lumMod val="75000"/>
                  </a:schemeClr>
                </a:solidFill>
              </a:rPr>
              <a:t>03 – TABLES AND STYLE TAGS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Introduction to table</a:t>
            </a:r>
          </a:p>
          <a:p>
            <a:r>
              <a:rPr lang="en-US" smtClean="0"/>
              <a:t>Draw table in HTML</a:t>
            </a:r>
          </a:p>
          <a:p>
            <a:r>
              <a:rPr lang="en-US" smtClean="0"/>
              <a:t>Table rows, table columns, table heading</a:t>
            </a:r>
          </a:p>
          <a:p>
            <a:r>
              <a:rPr lang="en-US" smtClean="0"/>
              <a:t>Table span</a:t>
            </a:r>
          </a:p>
          <a:p>
            <a:r>
              <a:rPr lang="en-US" smtClean="0"/>
              <a:t>Styles: font, format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table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" y="2209800"/>
            <a:ext cx="8229600" cy="3206750"/>
          </a:xfrm>
          <a:prstGeom prst="rect">
            <a:avLst/>
          </a:prstGeo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HTML tables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Tables are defined with the &lt;table&gt; tag.</a:t>
            </a:r>
          </a:p>
          <a:p>
            <a:r>
              <a:rPr lang="en-US" smtClean="0"/>
              <a:t>A table is divided into rows (with the &lt;tr&gt; tag)</a:t>
            </a:r>
          </a:p>
          <a:p>
            <a:r>
              <a:rPr lang="en-US" smtClean="0"/>
              <a:t>Each row is divided into data cells (with the &lt;td&gt; tag). </a:t>
            </a:r>
          </a:p>
          <a:p>
            <a:r>
              <a:rPr lang="en-US" smtClean="0"/>
              <a:t>td stands for "table data" and holds the content of a data cell. </a:t>
            </a:r>
          </a:p>
          <a:p>
            <a:r>
              <a:rPr lang="en-US" smtClean="0"/>
              <a:t>A &lt;td&gt; tag can contain text, links, images, lists, forms, other tables, etc.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Table example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mtClean="0"/>
              <a:t>&lt;table border="1"&gt;</a:t>
            </a:r>
            <a:br>
              <a:rPr lang="en-US" smtClean="0"/>
            </a:br>
            <a:r>
              <a:rPr lang="en-US" smtClean="0"/>
              <a:t>&lt;tr&gt;</a:t>
            </a:r>
            <a:br>
              <a:rPr lang="en-US" smtClean="0"/>
            </a:br>
            <a:r>
              <a:rPr lang="en-US" smtClean="0"/>
              <a:t>	&lt;td&gt;row 1, cell 1&lt;/td&gt;</a:t>
            </a:r>
            <a:br>
              <a:rPr lang="en-US" smtClean="0"/>
            </a:br>
            <a:r>
              <a:rPr lang="en-US" smtClean="0"/>
              <a:t>	&lt;td&gt;row 1, cell 2&lt;/td&gt;</a:t>
            </a:r>
            <a:br>
              <a:rPr lang="en-US" smtClean="0"/>
            </a:br>
            <a:r>
              <a:rPr lang="en-US" smtClean="0"/>
              <a:t>&lt;/tr&gt;</a:t>
            </a:r>
            <a:br>
              <a:rPr lang="en-US" smtClean="0"/>
            </a:br>
            <a:r>
              <a:rPr lang="en-US" smtClean="0"/>
              <a:t>&lt;tr&gt;</a:t>
            </a:r>
            <a:br>
              <a:rPr lang="en-US" smtClean="0"/>
            </a:br>
            <a:r>
              <a:rPr lang="en-US" smtClean="0"/>
              <a:t>	&lt;td&gt;row 2, cell 1&lt;/td&gt;</a:t>
            </a:r>
            <a:br>
              <a:rPr lang="en-US" smtClean="0"/>
            </a:br>
            <a:r>
              <a:rPr lang="en-US" smtClean="0"/>
              <a:t>	&lt;td&gt;row 2, cell 2&lt;/td&gt;</a:t>
            </a:r>
            <a:br>
              <a:rPr lang="en-US" smtClean="0"/>
            </a:br>
            <a:r>
              <a:rPr lang="en-US" smtClean="0"/>
              <a:t>&lt;/tr&gt;</a:t>
            </a:r>
            <a:br>
              <a:rPr lang="en-US" smtClean="0"/>
            </a:br>
            <a:r>
              <a:rPr lang="en-US" smtClean="0"/>
              <a:t>&lt;/table&gt;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Table output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057400"/>
            <a:ext cx="834823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HTML Table Headers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mtClean="0"/>
              <a:t>Header information in a table are defined with the &lt;th&gt; tag.</a:t>
            </a:r>
          </a:p>
          <a:p>
            <a:pPr>
              <a:buNone/>
            </a:pPr>
            <a:r>
              <a:rPr lang="en-US" smtClean="0"/>
              <a:t>The text in a th element will be bold and centered.</a:t>
            </a:r>
          </a:p>
          <a:p>
            <a:pPr>
              <a:buNone/>
            </a:pPr>
            <a:r>
              <a:rPr lang="en-US" smtClean="0"/>
              <a:t>&lt;table border="1"&gt;</a:t>
            </a:r>
            <a:br>
              <a:rPr lang="en-US" smtClean="0"/>
            </a:br>
            <a:r>
              <a:rPr lang="en-US" smtClean="0"/>
              <a:t>&lt;tr&gt;</a:t>
            </a:r>
            <a:br>
              <a:rPr lang="en-US" smtClean="0"/>
            </a:br>
            <a:r>
              <a:rPr lang="en-US" smtClean="0"/>
              <a:t>	&lt;th&gt;Header 1&lt;/th&gt;</a:t>
            </a:r>
            <a:br>
              <a:rPr lang="en-US" smtClean="0"/>
            </a:br>
            <a:r>
              <a:rPr lang="en-US" smtClean="0"/>
              <a:t>	&lt;th&gt;Header 2&lt;/th&gt;</a:t>
            </a:r>
            <a:br>
              <a:rPr lang="en-US" smtClean="0"/>
            </a:br>
            <a:r>
              <a:rPr lang="en-US" smtClean="0"/>
              <a:t>&lt;/tr&gt;</a:t>
            </a:r>
            <a:br>
              <a:rPr lang="en-US" smtClean="0"/>
            </a:br>
            <a:r>
              <a:rPr lang="en-US" smtClean="0"/>
              <a:t>&lt;tr&gt;</a:t>
            </a:r>
            <a:br>
              <a:rPr lang="en-US" smtClean="0"/>
            </a:br>
            <a:r>
              <a:rPr lang="en-US" smtClean="0"/>
              <a:t>	&lt;td&gt;row 1, cell 1&lt;/td&gt;</a:t>
            </a:r>
            <a:br>
              <a:rPr lang="en-US" smtClean="0"/>
            </a:br>
            <a:r>
              <a:rPr lang="en-US" smtClean="0"/>
              <a:t>	&lt;td&gt;row 1, cell 2&lt;/td&gt;</a:t>
            </a:r>
            <a:br>
              <a:rPr lang="en-US" smtClean="0"/>
            </a:br>
            <a:r>
              <a:rPr lang="en-US" smtClean="0"/>
              <a:t>&lt;/tr&gt;</a:t>
            </a:r>
          </a:p>
          <a:p>
            <a:pPr>
              <a:buNone/>
            </a:pPr>
            <a:r>
              <a:rPr lang="en-US" smtClean="0"/>
              <a:t>     &lt;/table&gt;</a:t>
            </a:r>
            <a:endParaRPr lang="en-US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76400"/>
            <a:ext cx="804672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9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Elements with table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&lt;table&gt;&lt;/table&gt;</a:t>
            </a:r>
          </a:p>
          <a:p>
            <a:r>
              <a:rPr lang="en-US" smtClean="0"/>
              <a:t>&lt;tr&gt;&lt;/tr&gt;</a:t>
            </a:r>
          </a:p>
          <a:p>
            <a:r>
              <a:rPr lang="en-US" smtClean="0"/>
              <a:t>&lt;th&gt;&lt;/th&gt;</a:t>
            </a:r>
          </a:p>
          <a:p>
            <a:r>
              <a:rPr lang="en-US" smtClean="0"/>
              <a:t>&lt;td&gt;&lt;/td&gt;</a:t>
            </a:r>
          </a:p>
          <a:p>
            <a:r>
              <a:rPr lang="en-US" smtClean="0"/>
              <a:t>&lt;caption&gt;&lt;/caption&gt;</a:t>
            </a:r>
          </a:p>
          <a:p>
            <a:r>
              <a:rPr lang="en-US" smtClean="0"/>
              <a:t>Add Cell Space</a:t>
            </a:r>
          </a:p>
          <a:p>
            <a:pPr lvl="1"/>
            <a:r>
              <a:rPr lang="en-US" smtClean="0"/>
              <a:t>The CELLSPACING attribute defines the space between cells in pixels. The CELLPADDING attribute defines spaces within the table cell.</a:t>
            </a:r>
          </a:p>
          <a:p>
            <a:pPr lvl="1">
              <a:buNone/>
            </a:pPr>
            <a:r>
              <a:rPr lang="en-US" smtClean="0"/>
              <a:t>&lt;TABLE BORDER = 2 CELLSPACING = 2 CELLPADDING = 6&gt;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Table with Caption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mtClean="0"/>
              <a:t>&lt;table border="1"&gt;</a:t>
            </a:r>
          </a:p>
          <a:p>
            <a:pPr>
              <a:buNone/>
            </a:pPr>
            <a:r>
              <a:rPr lang="en-US" smtClean="0"/>
              <a:t>  &lt;caption&gt;Monthly savings&lt;/caption&gt;</a:t>
            </a:r>
          </a:p>
          <a:p>
            <a:pPr>
              <a:buNone/>
            </a:pPr>
            <a:r>
              <a:rPr lang="en-US" smtClean="0"/>
              <a:t>  &lt;tr&gt;</a:t>
            </a:r>
          </a:p>
          <a:p>
            <a:pPr>
              <a:buNone/>
            </a:pPr>
            <a:r>
              <a:rPr lang="en-US" smtClean="0"/>
              <a:t>    &lt;th&gt;Month&lt;/th&gt;</a:t>
            </a:r>
          </a:p>
          <a:p>
            <a:pPr>
              <a:buNone/>
            </a:pPr>
            <a:r>
              <a:rPr lang="en-US" smtClean="0"/>
              <a:t>    &lt;th&gt;Savings&lt;/th&gt;</a:t>
            </a:r>
          </a:p>
          <a:p>
            <a:pPr>
              <a:buNone/>
            </a:pPr>
            <a:r>
              <a:rPr lang="en-US" smtClean="0"/>
              <a:t>  &lt;/tr&gt;</a:t>
            </a:r>
          </a:p>
          <a:p>
            <a:pPr>
              <a:buNone/>
            </a:pPr>
            <a:r>
              <a:rPr lang="en-US" smtClean="0"/>
              <a:t>  &lt;tr&gt;</a:t>
            </a:r>
          </a:p>
          <a:p>
            <a:pPr>
              <a:buNone/>
            </a:pPr>
            <a:r>
              <a:rPr lang="en-US" smtClean="0"/>
              <a:t>    &lt;td&gt;January&lt;/td&gt;</a:t>
            </a:r>
          </a:p>
          <a:p>
            <a:pPr>
              <a:buNone/>
            </a:pPr>
            <a:r>
              <a:rPr lang="en-US" smtClean="0"/>
              <a:t>    &lt;td&gt;$100&lt;/td&gt;</a:t>
            </a:r>
          </a:p>
          <a:p>
            <a:pPr>
              <a:buNone/>
            </a:pPr>
            <a:r>
              <a:rPr lang="en-US" smtClean="0"/>
              <a:t>  &lt;/tr&gt;</a:t>
            </a:r>
          </a:p>
          <a:p>
            <a:pPr>
              <a:buNone/>
            </a:pPr>
            <a:r>
              <a:rPr lang="en-US" smtClean="0"/>
              <a:t>  &lt;tr&gt;</a:t>
            </a:r>
          </a:p>
          <a:p>
            <a:pPr>
              <a:buNone/>
            </a:pPr>
            <a:r>
              <a:rPr lang="en-US" smtClean="0"/>
              <a:t>    &lt;td&gt;February&lt;/td&gt;</a:t>
            </a:r>
          </a:p>
          <a:p>
            <a:pPr>
              <a:buNone/>
            </a:pPr>
            <a:r>
              <a:rPr lang="en-US" smtClean="0"/>
              <a:t>    &lt;td&gt;$50&lt;/td&gt;</a:t>
            </a:r>
          </a:p>
          <a:p>
            <a:pPr>
              <a:buNone/>
            </a:pPr>
            <a:r>
              <a:rPr lang="en-US" smtClean="0"/>
              <a:t>  &lt;/tr&gt;</a:t>
            </a:r>
          </a:p>
          <a:p>
            <a:pPr>
              <a:buNone/>
            </a:pPr>
            <a:r>
              <a:rPr lang="en-US" smtClean="0"/>
              <a:t>&lt;/table&gt;</a:t>
            </a:r>
            <a:endParaRPr lang="en-US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1600200"/>
            <a:ext cx="4230221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Nested Table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54102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smtClean="0"/>
              <a:t>&lt;table border="1"&gt;</a:t>
            </a:r>
          </a:p>
          <a:p>
            <a:pPr>
              <a:buNone/>
            </a:pPr>
            <a:r>
              <a:rPr lang="en-US" smtClean="0"/>
              <a:t>&lt;tr&gt;</a:t>
            </a:r>
          </a:p>
          <a:p>
            <a:pPr>
              <a:buNone/>
            </a:pPr>
            <a:r>
              <a:rPr lang="en-US" smtClean="0"/>
              <a:t>  &lt;td&gt;&lt;p&gt;This is a paragraph&lt;/p&gt;&lt;/td&gt;</a:t>
            </a:r>
          </a:p>
          <a:p>
            <a:pPr>
              <a:buNone/>
            </a:pPr>
            <a:r>
              <a:rPr lang="en-US" smtClean="0"/>
              <a:t>  &lt;td&gt;</a:t>
            </a:r>
          </a:p>
          <a:p>
            <a:pPr>
              <a:buNone/>
            </a:pPr>
            <a:r>
              <a:rPr lang="en-US" smtClean="0"/>
              <a:t>   &lt;table border="1" width=100&gt;</a:t>
            </a:r>
          </a:p>
          <a:p>
            <a:pPr>
              <a:buNone/>
            </a:pPr>
            <a:r>
              <a:rPr lang="en-US" smtClean="0"/>
              <a:t>   &lt;tr&gt;</a:t>
            </a:r>
          </a:p>
          <a:p>
            <a:pPr>
              <a:buNone/>
            </a:pPr>
            <a:r>
              <a:rPr lang="en-US" smtClean="0"/>
              <a:t>     &lt;td&gt;A&lt;/td&gt;</a:t>
            </a:r>
          </a:p>
          <a:p>
            <a:pPr>
              <a:buNone/>
            </a:pPr>
            <a:r>
              <a:rPr lang="en-US" smtClean="0"/>
              <a:t>     &lt;td&gt;B&lt;/td&gt;</a:t>
            </a:r>
          </a:p>
          <a:p>
            <a:pPr>
              <a:buNone/>
            </a:pPr>
            <a:r>
              <a:rPr lang="en-US" smtClean="0"/>
              <a:t>   &lt;/tr&gt;</a:t>
            </a:r>
          </a:p>
          <a:p>
            <a:pPr>
              <a:buNone/>
            </a:pPr>
            <a:r>
              <a:rPr lang="en-US" smtClean="0"/>
              <a:t>   &lt;tr&gt;</a:t>
            </a:r>
          </a:p>
          <a:p>
            <a:pPr>
              <a:buNone/>
            </a:pPr>
            <a:r>
              <a:rPr lang="en-US" smtClean="0"/>
              <a:t>     &lt;td&gt;C&lt;/td&gt;</a:t>
            </a:r>
          </a:p>
          <a:p>
            <a:pPr>
              <a:buNone/>
            </a:pPr>
            <a:r>
              <a:rPr lang="en-US" smtClean="0"/>
              <a:t>     &lt;td&gt;D&lt;/td&gt;</a:t>
            </a:r>
          </a:p>
          <a:p>
            <a:pPr>
              <a:buNone/>
            </a:pPr>
            <a:r>
              <a:rPr lang="en-US" smtClean="0"/>
              <a:t>   &lt;/tr&gt;</a:t>
            </a:r>
          </a:p>
          <a:p>
            <a:pPr>
              <a:buNone/>
            </a:pPr>
            <a:r>
              <a:rPr lang="en-US" smtClean="0"/>
              <a:t>   &lt;/table&gt;</a:t>
            </a:r>
          </a:p>
          <a:p>
            <a:pPr>
              <a:buNone/>
            </a:pPr>
            <a:r>
              <a:rPr lang="en-US" smtClean="0"/>
              <a:t>  &lt;/td&gt;</a:t>
            </a:r>
          </a:p>
          <a:p>
            <a:pPr>
              <a:buNone/>
            </a:pPr>
            <a:r>
              <a:rPr lang="en-US" smtClean="0"/>
              <a:t>&lt;/tr&gt;</a:t>
            </a:r>
          </a:p>
          <a:p>
            <a:pPr>
              <a:buNone/>
            </a:pPr>
            <a:r>
              <a:rPr lang="en-US" smtClean="0"/>
              <a:t>&lt;tr&gt;</a:t>
            </a:r>
          </a:p>
          <a:p>
            <a:pPr>
              <a:buNone/>
            </a:pPr>
            <a:r>
              <a:rPr lang="en-US" smtClean="0"/>
              <a:t>  &lt;td&gt;This cell contains text&lt;/td&gt;</a:t>
            </a:r>
          </a:p>
          <a:p>
            <a:pPr>
              <a:buNone/>
            </a:pPr>
            <a:r>
              <a:rPr lang="en-US" smtClean="0"/>
              <a:t>  &lt;td&gt;HELLO&lt;/td&gt;</a:t>
            </a:r>
          </a:p>
          <a:p>
            <a:pPr>
              <a:buNone/>
            </a:pPr>
            <a:r>
              <a:rPr lang="en-US" smtClean="0"/>
              <a:t>&lt;/tr&gt;</a:t>
            </a:r>
          </a:p>
          <a:p>
            <a:pPr>
              <a:buNone/>
            </a:pPr>
            <a:r>
              <a:rPr lang="en-US" smtClean="0"/>
              <a:t>&lt;/table&gt;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6200" y="2362200"/>
            <a:ext cx="5046453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Formatting Data in the Cell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Align = left</a:t>
            </a:r>
          </a:p>
          <a:p>
            <a:r>
              <a:rPr lang="en-US" smtClean="0"/>
              <a:t>Align = center</a:t>
            </a:r>
          </a:p>
          <a:p>
            <a:r>
              <a:rPr lang="en-US" smtClean="0"/>
              <a:t>Align = right</a:t>
            </a:r>
          </a:p>
          <a:p>
            <a:r>
              <a:rPr lang="en-US" smtClean="0"/>
              <a:t>Align = justify</a:t>
            </a:r>
            <a:endParaRPr lang="en-US" dirty="0" smtClean="0"/>
          </a:p>
        </p:txBody>
      </p:sp>
      <p:sp>
        <p:nvSpPr>
          <p:cNvPr id="10" name="Content Placeholder 8"/>
          <p:cNvSpPr txBox="1">
            <a:spLocks/>
          </p:cNvSpPr>
          <p:nvPr/>
        </p:nvSpPr>
        <p:spPr>
          <a:xfrm>
            <a:off x="4724400" y="1600200"/>
            <a:ext cx="3810000" cy="2667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err="1" smtClean="0">
                <a:solidFill>
                  <a:schemeClr val="bg1"/>
                </a:solidFill>
                <a:cs typeface="Times New Roman" pitchFamily="18" charset="0"/>
              </a:rPr>
              <a:t>Valign</a:t>
            </a:r>
            <a:r>
              <a:rPr lang="en-US" sz="3200" dirty="0" smtClean="0">
                <a:solidFill>
                  <a:schemeClr val="bg1"/>
                </a:solidFill>
                <a:cs typeface="Times New Roman" pitchFamily="18" charset="0"/>
              </a:rPr>
              <a:t> = top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err="1" smtClean="0">
                <a:solidFill>
                  <a:schemeClr val="bg1"/>
                </a:solidFill>
                <a:cs typeface="Times New Roman" pitchFamily="18" charset="0"/>
              </a:rPr>
              <a:t>Valign</a:t>
            </a:r>
            <a:r>
              <a:rPr lang="en-US" sz="3200" dirty="0" smtClean="0">
                <a:solidFill>
                  <a:schemeClr val="bg1"/>
                </a:solidFill>
                <a:cs typeface="Times New Roman" pitchFamily="18" charset="0"/>
              </a:rPr>
              <a:t> = middle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err="1" smtClean="0">
                <a:solidFill>
                  <a:schemeClr val="bg1"/>
                </a:solidFill>
                <a:cs typeface="Times New Roman" pitchFamily="18" charset="0"/>
              </a:rPr>
              <a:t>Valign</a:t>
            </a:r>
            <a:r>
              <a:rPr lang="en-US" sz="3200" dirty="0" smtClean="0">
                <a:solidFill>
                  <a:schemeClr val="bg1"/>
                </a:solidFill>
                <a:cs typeface="Times New Roman" pitchFamily="18" charset="0"/>
              </a:rPr>
              <a:t> = bottom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err="1" smtClean="0">
                <a:solidFill>
                  <a:schemeClr val="bg1"/>
                </a:solidFill>
                <a:cs typeface="Times New Roman" pitchFamily="18" charset="0"/>
              </a:rPr>
              <a:t>Valign</a:t>
            </a:r>
            <a:r>
              <a:rPr lang="en-US" sz="3200" dirty="0" smtClean="0">
                <a:solidFill>
                  <a:schemeClr val="bg1"/>
                </a:solidFill>
                <a:cs typeface="Times New Roman" pitchFamily="18" charset="0"/>
              </a:rPr>
              <a:t> = baseline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52400" y="4572000"/>
            <a:ext cx="8763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kumimoji="1" lang="en-US" sz="2800" dirty="0">
                <a:solidFill>
                  <a:schemeClr val="bg1"/>
                </a:solidFill>
                <a:latin typeface="Times New Roman" pitchFamily="18" charset="0"/>
                <a:cs typeface="Courier New" pitchFamily="49" charset="0"/>
              </a:rPr>
              <a:t>&lt;TD ALIGN = right VALIGN = </a:t>
            </a:r>
            <a:r>
              <a:rPr kumimoji="1" lang="en-US" sz="2800" dirty="0" smtClean="0">
                <a:solidFill>
                  <a:schemeClr val="bg1"/>
                </a:solidFill>
                <a:latin typeface="Times New Roman" pitchFamily="18" charset="0"/>
                <a:cs typeface="Courier New" pitchFamily="49" charset="0"/>
              </a:rPr>
              <a:t>bottom&gt;Data </a:t>
            </a:r>
            <a:r>
              <a:rPr kumimoji="1" lang="en-US" sz="2800" dirty="0">
                <a:solidFill>
                  <a:schemeClr val="bg1"/>
                </a:solidFill>
                <a:latin typeface="Times New Roman" pitchFamily="18" charset="0"/>
                <a:cs typeface="Courier New" pitchFamily="49" charset="0"/>
              </a:rPr>
              <a:t>Cell 1&lt;/TD&gt;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Merging Cells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COLSPAN and ROWSPAN attributes are used to create cells that span more than one column or row </a:t>
            </a:r>
          </a:p>
          <a:p>
            <a:r>
              <a:rPr lang="en-US" smtClean="0"/>
              <a:t>COLSPAN="C": specifies how many columns “C” of the table a data cell will span. COLSPAN="1" is the default. </a:t>
            </a:r>
          </a:p>
          <a:p>
            <a:r>
              <a:rPr lang="en-US" smtClean="0"/>
              <a:t>ROWSPAN="R": specifies how many rows “R” of the table a data cell will span. ROWSPAN="1" is the default.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Span example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8"/>
          <p:cNvSpPr txBox="1">
            <a:spLocks/>
          </p:cNvSpPr>
          <p:nvPr/>
        </p:nvSpPr>
        <p:spPr>
          <a:xfrm>
            <a:off x="609600" y="1371600"/>
            <a:ext cx="4648200" cy="5105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&lt;table border="1"&gt;&lt;</a:t>
            </a:r>
            <a:r>
              <a:rPr lang="en-US" dirty="0" err="1" smtClean="0">
                <a:solidFill>
                  <a:schemeClr val="bg1"/>
                </a:solidFill>
              </a:rPr>
              <a:t>tr</a:t>
            </a:r>
            <a:r>
              <a:rPr lang="en-US" dirty="0" smtClean="0">
                <a:solidFill>
                  <a:schemeClr val="bg1"/>
                </a:solidFill>
              </a:rPr>
              <a:t>&gt;  	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		&lt;</a:t>
            </a:r>
            <a:r>
              <a:rPr lang="en-US" dirty="0" err="1" smtClean="0">
                <a:solidFill>
                  <a:schemeClr val="bg1"/>
                </a:solidFill>
              </a:rPr>
              <a:t>th</a:t>
            </a:r>
            <a:r>
              <a:rPr lang="en-US" dirty="0" smtClean="0">
                <a:solidFill>
                  <a:schemeClr val="bg1"/>
                </a:solidFill>
              </a:rPr>
              <a:t>&gt;Name&lt;/</a:t>
            </a:r>
            <a:r>
              <a:rPr lang="en-US" dirty="0" err="1" smtClean="0">
                <a:solidFill>
                  <a:schemeClr val="bg1"/>
                </a:solidFill>
              </a:rPr>
              <a:t>th</a:t>
            </a:r>
            <a:r>
              <a:rPr lang="en-US" dirty="0" smtClean="0">
                <a:solidFill>
                  <a:schemeClr val="bg1"/>
                </a:solidFill>
              </a:rPr>
              <a:t>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  		&lt;</a:t>
            </a:r>
            <a:r>
              <a:rPr lang="en-US" dirty="0" err="1" smtClean="0">
                <a:solidFill>
                  <a:schemeClr val="bg1"/>
                </a:solidFill>
              </a:rPr>
              <a:t>th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colspan</a:t>
            </a:r>
            <a:r>
              <a:rPr lang="en-US" dirty="0" smtClean="0">
                <a:solidFill>
                  <a:schemeClr val="bg1"/>
                </a:solidFill>
              </a:rPr>
              <a:t>="2"&gt;Telephone&lt;/</a:t>
            </a:r>
            <a:r>
              <a:rPr lang="en-US" dirty="0" err="1" smtClean="0">
                <a:solidFill>
                  <a:schemeClr val="bg1"/>
                </a:solidFill>
              </a:rPr>
              <a:t>th</a:t>
            </a:r>
            <a:r>
              <a:rPr lang="en-US" dirty="0" smtClean="0">
                <a:solidFill>
                  <a:schemeClr val="bg1"/>
                </a:solidFill>
              </a:rPr>
              <a:t>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&lt;/</a:t>
            </a:r>
            <a:r>
              <a:rPr lang="en-US" dirty="0" err="1" smtClean="0">
                <a:solidFill>
                  <a:schemeClr val="bg1"/>
                </a:solidFill>
              </a:rPr>
              <a:t>tr</a:t>
            </a:r>
            <a:r>
              <a:rPr lang="en-US" dirty="0" smtClean="0">
                <a:solidFill>
                  <a:schemeClr val="bg1"/>
                </a:solidFill>
              </a:rPr>
              <a:t>&gt;&lt;</a:t>
            </a:r>
            <a:r>
              <a:rPr lang="en-US" dirty="0" err="1" smtClean="0">
                <a:solidFill>
                  <a:schemeClr val="bg1"/>
                </a:solidFill>
              </a:rPr>
              <a:t>tr</a:t>
            </a:r>
            <a:r>
              <a:rPr lang="en-US" dirty="0" smtClean="0">
                <a:solidFill>
                  <a:schemeClr val="bg1"/>
                </a:solidFill>
              </a:rPr>
              <a:t>&gt; &lt;td&gt;Bill Gates&lt;/td&gt;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  		&lt;td&gt;555 77 854&lt;/td&gt;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&lt;/</a:t>
            </a:r>
            <a:r>
              <a:rPr lang="en-US" dirty="0" err="1" smtClean="0">
                <a:solidFill>
                  <a:schemeClr val="bg1"/>
                </a:solidFill>
              </a:rPr>
              <a:t>tr</a:t>
            </a:r>
            <a:r>
              <a:rPr lang="en-US" dirty="0" smtClean="0">
                <a:solidFill>
                  <a:schemeClr val="bg1"/>
                </a:solidFill>
              </a:rPr>
              <a:t>&gt;&lt;/table&gt;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&lt;table border="1"&gt;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&lt;</a:t>
            </a:r>
            <a:r>
              <a:rPr lang="en-US" dirty="0" err="1" smtClean="0">
                <a:solidFill>
                  <a:schemeClr val="bg1"/>
                </a:solidFill>
              </a:rPr>
              <a:t>tr</a:t>
            </a:r>
            <a:r>
              <a:rPr lang="en-US" dirty="0" smtClean="0">
                <a:solidFill>
                  <a:schemeClr val="bg1"/>
                </a:solidFill>
              </a:rPr>
              <a:t>&gt;	&lt;</a:t>
            </a:r>
            <a:r>
              <a:rPr lang="en-US" dirty="0" err="1" smtClean="0">
                <a:solidFill>
                  <a:schemeClr val="bg1"/>
                </a:solidFill>
              </a:rPr>
              <a:t>th</a:t>
            </a:r>
            <a:r>
              <a:rPr lang="en-US" dirty="0" smtClean="0">
                <a:solidFill>
                  <a:schemeClr val="bg1"/>
                </a:solidFill>
              </a:rPr>
              <a:t>&gt;First Name:&lt;/</a:t>
            </a:r>
            <a:r>
              <a:rPr lang="en-US" dirty="0" err="1" smtClean="0">
                <a:solidFill>
                  <a:schemeClr val="bg1"/>
                </a:solidFill>
              </a:rPr>
              <a:t>th</a:t>
            </a:r>
            <a:r>
              <a:rPr lang="en-US" dirty="0" smtClean="0">
                <a:solidFill>
                  <a:schemeClr val="bg1"/>
                </a:solidFill>
              </a:rPr>
              <a:t>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  		&lt;td&gt;Bill Gates&lt;/td&gt;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&lt;/</a:t>
            </a:r>
            <a:r>
              <a:rPr lang="en-US" dirty="0" err="1" smtClean="0">
                <a:solidFill>
                  <a:schemeClr val="bg1"/>
                </a:solidFill>
              </a:rPr>
              <a:t>tr</a:t>
            </a:r>
            <a:r>
              <a:rPr lang="en-US" dirty="0" smtClean="0">
                <a:solidFill>
                  <a:schemeClr val="bg1"/>
                </a:solidFill>
              </a:rPr>
              <a:t>&gt;&lt;</a:t>
            </a:r>
            <a:r>
              <a:rPr lang="en-US" dirty="0" err="1" smtClean="0">
                <a:solidFill>
                  <a:schemeClr val="bg1"/>
                </a:solidFill>
              </a:rPr>
              <a:t>tr</a:t>
            </a:r>
            <a:r>
              <a:rPr lang="en-US" dirty="0" smtClean="0">
                <a:solidFill>
                  <a:schemeClr val="bg1"/>
                </a:solidFill>
              </a:rPr>
              <a:t>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 		&lt;</a:t>
            </a:r>
            <a:r>
              <a:rPr lang="en-US" dirty="0" err="1" smtClean="0">
                <a:solidFill>
                  <a:schemeClr val="bg1"/>
                </a:solidFill>
              </a:rPr>
              <a:t>th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rowspan</a:t>
            </a:r>
            <a:r>
              <a:rPr lang="en-US" dirty="0" smtClean="0">
                <a:solidFill>
                  <a:schemeClr val="bg1"/>
                </a:solidFill>
              </a:rPr>
              <a:t>="2"&gt;Telephone:&lt;/</a:t>
            </a:r>
            <a:r>
              <a:rPr lang="en-US" dirty="0" err="1" smtClean="0">
                <a:solidFill>
                  <a:schemeClr val="bg1"/>
                </a:solidFill>
              </a:rPr>
              <a:t>th</a:t>
            </a:r>
            <a:r>
              <a:rPr lang="en-US" dirty="0" smtClean="0">
                <a:solidFill>
                  <a:schemeClr val="bg1"/>
                </a:solidFill>
              </a:rPr>
              <a:t>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  		&lt;td&gt;555 77 854&lt;/td&gt;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&lt;/</a:t>
            </a:r>
            <a:r>
              <a:rPr lang="en-US" dirty="0" err="1" smtClean="0">
                <a:solidFill>
                  <a:schemeClr val="bg1"/>
                </a:solidFill>
              </a:rPr>
              <a:t>tr</a:t>
            </a:r>
            <a:r>
              <a:rPr lang="en-US" dirty="0" smtClean="0">
                <a:solidFill>
                  <a:schemeClr val="bg1"/>
                </a:solidFill>
              </a:rPr>
              <a:t>&gt;&lt;</a:t>
            </a:r>
            <a:r>
              <a:rPr lang="en-US" dirty="0" err="1" smtClean="0">
                <a:solidFill>
                  <a:schemeClr val="bg1"/>
                </a:solidFill>
              </a:rPr>
              <a:t>tr</a:t>
            </a:r>
            <a:r>
              <a:rPr lang="en-US" dirty="0" smtClean="0">
                <a:solidFill>
                  <a:schemeClr val="bg1"/>
                </a:solidFill>
              </a:rPr>
              <a:t>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  		&lt;td&gt;555 77 855&lt;/td&gt;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&lt;/</a:t>
            </a:r>
            <a:r>
              <a:rPr lang="en-US" dirty="0" err="1" smtClean="0">
                <a:solidFill>
                  <a:schemeClr val="bg1"/>
                </a:solidFill>
              </a:rPr>
              <a:t>tr</a:t>
            </a:r>
            <a:r>
              <a:rPr lang="en-US" dirty="0" smtClean="0">
                <a:solidFill>
                  <a:schemeClr val="bg1"/>
                </a:solidFill>
              </a:rPr>
              <a:t>&gt;&lt;/table&gt;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1524000"/>
            <a:ext cx="3578038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Style tags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&lt;FONT&gt;text&lt;/FONT&gt;: changes the face (type), size, and/or color of ordinary text. </a:t>
            </a:r>
          </a:p>
          <a:p>
            <a:r>
              <a:rPr lang="en-US" smtClean="0"/>
              <a:t>A &lt;FONT&gt; tag may contain within it any or all of the 3 parameters used to transform text: </a:t>
            </a:r>
          </a:p>
          <a:p>
            <a:pPr lvl="1"/>
            <a:r>
              <a:rPr lang="en-US" smtClean="0"/>
              <a:t>FACE="TYPE": sets or changes the face (type) of font script</a:t>
            </a:r>
          </a:p>
          <a:p>
            <a:pPr lvl="1"/>
            <a:r>
              <a:rPr lang="en-US" smtClean="0"/>
              <a:t>SIZE="1"|"2"|"3"|"4"|"5"|"6"|"7": sets the size of the text.</a:t>
            </a:r>
          </a:p>
          <a:p>
            <a:pPr lvl="1"/>
            <a:r>
              <a:rPr lang="en-US" smtClean="0"/>
              <a:t>COLOR="COLOR"|"#COLOR CODE": sets the color of the text.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Font sample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&lt;p&gt;&lt;font size="3" color="red"&gt;This is some text!&lt;/font&gt;&lt;/p&gt;</a:t>
            </a:r>
          </a:p>
          <a:p>
            <a:r>
              <a:rPr lang="en-US" smtClean="0"/>
              <a:t>&lt;p&gt;&lt;font size="2" color="blue"&gt;This is some text!&lt;/font&gt;&lt;/p&gt;</a:t>
            </a:r>
          </a:p>
          <a:p>
            <a:r>
              <a:rPr lang="en-US" smtClean="0"/>
              <a:t>&lt;p&gt;&lt;font face="verdana" color="green"&gt;This is some text!&lt;/font&gt;&lt;/p&gt;</a:t>
            </a:r>
            <a:endParaRPr lang="en-US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4648200"/>
            <a:ext cx="3352800" cy="169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Other style tags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smtClean="0"/>
              <a:t>&lt;I&gt;text&lt;/I&gt;: causes text to be italicized </a:t>
            </a:r>
          </a:p>
          <a:p>
            <a:pPr lvl="0"/>
            <a:r>
              <a:rPr lang="en-US" smtClean="0"/>
              <a:t>&lt;EM&gt;text&lt;/EM&gt;: emphasizes text by causing it to be italicized (like &lt;I&gt; &amp; &lt;/I&gt; above)</a:t>
            </a:r>
          </a:p>
          <a:p>
            <a:pPr lvl="0"/>
            <a:r>
              <a:rPr lang="en-US" smtClean="0"/>
              <a:t>&lt;B&gt;text&lt;/B&gt;: causes text to be bold</a:t>
            </a:r>
          </a:p>
          <a:p>
            <a:pPr lvl="0"/>
            <a:r>
              <a:rPr lang="en-US" smtClean="0"/>
              <a:t>&lt;STRONG&gt;text&lt;/STRONG&gt;: strongly emphasizes text by causing it to be bold (like &lt;B&gt; &amp; &lt;/B&gt; above) </a:t>
            </a:r>
          </a:p>
          <a:p>
            <a:pPr lvl="0"/>
            <a:r>
              <a:rPr lang="en-US" smtClean="0"/>
              <a:t>&lt;U&gt;text&lt;/U&gt;: causes text to be underlined</a:t>
            </a:r>
          </a:p>
          <a:p>
            <a:pPr lvl="0"/>
            <a:r>
              <a:rPr lang="en-US" smtClean="0"/>
              <a:t>&lt;S&gt;text&lt;/S&gt;: causes text to be stricken through with a horizontal line</a:t>
            </a:r>
          </a:p>
          <a:p>
            <a:pPr lvl="0"/>
            <a:r>
              <a:rPr lang="en-US" smtClean="0"/>
              <a:t>&lt;BIG&gt;text&lt;/BIG&gt;: causes the size of text to be increased by one font size</a:t>
            </a:r>
          </a:p>
          <a:p>
            <a:r>
              <a:rPr lang="en-US" smtClean="0"/>
              <a:t>&lt;SMALL&gt;text&lt;/SMALL&gt;: causes the size of text to be decreased by one font size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Marquee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&lt;MARQUEE&gt;text&lt;/MARQUEE&gt;: creates an area in which moving text will advance across all or a portion of a page</a:t>
            </a:r>
          </a:p>
          <a:p>
            <a:r>
              <a:rPr lang="en-US" smtClean="0"/>
              <a:t>A &lt;MARQUEE&gt; tag may contain within it other parameters as part of the command: </a:t>
            </a:r>
          </a:p>
          <a:p>
            <a:pPr lvl="1"/>
            <a:r>
              <a:rPr lang="en-US" smtClean="0"/>
              <a:t>DIRECTION="LEFT"|"RIGHT": indicates the direction marquee text will move.</a:t>
            </a:r>
          </a:p>
          <a:p>
            <a:pPr lvl="1"/>
            <a:r>
              <a:rPr lang="en-US" smtClean="0"/>
              <a:t>BGCOLOR="COLOR"|"#COLOR CODE": colors the background of a marquee.</a:t>
            </a:r>
          </a:p>
          <a:p>
            <a:pPr lvl="1"/>
            <a:r>
              <a:rPr lang="en-US" smtClean="0"/>
              <a:t>BEHAVIOR="SCROLL"|"SLIDE"|"ALTERNATE": specifies how marquee text will behave as it moves horizontally on a browser screen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447800"/>
            <a:ext cx="8686800" cy="57150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mtClean="0"/>
              <a:t>This session, we learnt:</a:t>
            </a:r>
          </a:p>
          <a:p>
            <a:r>
              <a:rPr lang="en-US" smtClean="0"/>
              <a:t>&lt;TABLE&gt;row(s) of data cells&lt;/TABLE&gt;: creates a table with a row or rows of one or more cells, each cell containing data</a:t>
            </a:r>
          </a:p>
          <a:p>
            <a:r>
              <a:rPr lang="en-US" smtClean="0"/>
              <a:t>&lt;TR&gt;&lt;/TR&gt;: defines each horizontal row of table data cells inside of a table.</a:t>
            </a:r>
          </a:p>
          <a:p>
            <a:r>
              <a:rPr lang="en-US" smtClean="0"/>
              <a:t>&lt;TH&gt;text&lt;/TH&gt;: places an optional heading above any column of a table</a:t>
            </a:r>
          </a:p>
          <a:p>
            <a:r>
              <a:rPr lang="en-US" smtClean="0"/>
              <a:t>&lt;TD&gt;text and/or graphic images&lt;/TD&gt;: defines each table data cell within a row, into which text and/or graphic images may be placed.</a:t>
            </a:r>
          </a:p>
          <a:p>
            <a:r>
              <a:rPr lang="en-US" smtClean="0"/>
              <a:t>Colspan and Rowspan, allow you to extend columns and rows across multiple other columns and rows</a:t>
            </a:r>
          </a:p>
          <a:p>
            <a:r>
              <a:rPr lang="en-US" smtClean="0"/>
              <a:t>&lt;FONT&gt;text&lt;/FONT&gt;: changes the face (type), size, and/or color of ordinary text</a:t>
            </a:r>
          </a:p>
          <a:p>
            <a:r>
              <a:rPr lang="en-US" smtClean="0"/>
              <a:t>&lt;MARQUEE&gt;text&lt;/MARQUEE&gt;: creates an area in which moving text will advance across all or a portion of a page, just as it does on some marquee signs.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theme/theme1.xml><?xml version="1.0" encoding="utf-8"?>
<a:theme xmlns:a="http://schemas.openxmlformats.org/drawingml/2006/main" name="Exam Not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Exam Notes</Template>
  <TotalTime>3191</TotalTime>
  <Words>1088</Words>
  <Application>Microsoft Office PowerPoint</Application>
  <PresentationFormat>On-screen Show (4:3)</PresentationFormat>
  <Paragraphs>134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Exam Notes</vt:lpstr>
      <vt:lpstr>WEB AUTHORING:  DW, PHP, MYSQL</vt:lpstr>
      <vt:lpstr>OBJECTIVES</vt:lpstr>
      <vt:lpstr>Introduction to table</vt:lpstr>
      <vt:lpstr>HTML tables</vt:lpstr>
      <vt:lpstr>Table example</vt:lpstr>
      <vt:lpstr>Table output</vt:lpstr>
      <vt:lpstr>HTML Table Headers</vt:lpstr>
      <vt:lpstr>Elements with table</vt:lpstr>
      <vt:lpstr>Table with Caption</vt:lpstr>
      <vt:lpstr>Nested Table</vt:lpstr>
      <vt:lpstr>Formatting Data in the Cell</vt:lpstr>
      <vt:lpstr>Merging Cells</vt:lpstr>
      <vt:lpstr>Span example</vt:lpstr>
      <vt:lpstr>Style tags</vt:lpstr>
      <vt:lpstr>Font sample</vt:lpstr>
      <vt:lpstr>Other style tags</vt:lpstr>
      <vt:lpstr>Marquee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C#</dc:title>
  <dc:creator>Lucky Luke</dc:creator>
  <cp:lastModifiedBy>User</cp:lastModifiedBy>
  <cp:revision>139</cp:revision>
  <dcterms:created xsi:type="dcterms:W3CDTF">2008-09-22T06:35:02Z</dcterms:created>
  <dcterms:modified xsi:type="dcterms:W3CDTF">2011-12-19T09:15:40Z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TC300014521033</vt:lpwstr>
  </property>
</Properties>
</file>