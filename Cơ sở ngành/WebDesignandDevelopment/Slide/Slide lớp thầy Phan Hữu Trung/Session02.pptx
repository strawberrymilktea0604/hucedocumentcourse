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92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2354E-E8CB-4E64-AE6E-BE79EBCB6692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88B35-F68D-4904-905E-2238C474883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 userDrawn="1"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154289"/>
            <a:ext cx="91440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09965-9CA9-4FF6-A0FD-7CE4168D0195}" type="datetimeFigureOut">
              <a:rPr lang="en-US" smtClean="0"/>
              <a:pPr/>
              <a:t>8/14/2013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 userDrawn="1"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 userDrawn="1"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7696200" cy="1162050"/>
          </a:xfrm>
        </p:spPr>
        <p:txBody>
          <a:bodyPr>
            <a:normAutofit/>
          </a:bodyPr>
          <a:lstStyle/>
          <a:p>
            <a:r>
              <a:rPr lang="en-US" sz="4800" b="1" smtClean="0">
                <a:solidFill>
                  <a:schemeClr val="bg1"/>
                </a:solidFill>
              </a:rPr>
              <a:t>WEB </a:t>
            </a:r>
            <a:r>
              <a:rPr lang="en-US" sz="4800" b="1" smtClean="0">
                <a:solidFill>
                  <a:schemeClr val="bg1"/>
                </a:solidFill>
              </a:rPr>
              <a:t>AUTHORING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16" name="Subtitle 15"/>
          <p:cNvSpPr>
            <a:spLocks noGrp="1"/>
          </p:cNvSpPr>
          <p:nvPr>
            <p:ph type="subTitle" idx="1"/>
          </p:nvPr>
        </p:nvSpPr>
        <p:spPr>
          <a:xfrm>
            <a:off x="1600200" y="4038600"/>
            <a:ext cx="5638800" cy="609600"/>
          </a:xfrm>
        </p:spPr>
        <p:txBody>
          <a:bodyPr>
            <a:normAutofit fontScale="85000" lnSpcReduction="10000"/>
          </a:bodyPr>
          <a:lstStyle/>
          <a:p>
            <a:r>
              <a:rPr lang="en-US" b="1" smtClean="0">
                <a:solidFill>
                  <a:schemeClr val="accent6">
                    <a:lumMod val="75000"/>
                  </a:schemeClr>
                </a:solidFill>
              </a:rPr>
              <a:t>SESSION 02 – TEXT, LIST AND IMAGE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OBJECTIVES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Format text in HTML</a:t>
            </a:r>
          </a:p>
          <a:p>
            <a:r>
              <a:rPr lang="en-US" smtClean="0"/>
              <a:t>Insert Ordered, Unordered and Definition Lists</a:t>
            </a:r>
          </a:p>
          <a:p>
            <a:r>
              <a:rPr lang="en-US" smtClean="0"/>
              <a:t>Images on the Web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Modify the appearance of text 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Using special characters</a:t>
            </a:r>
          </a:p>
          <a:p>
            <a:r>
              <a:rPr lang="en-US" smtClean="0"/>
              <a:t>None break space</a:t>
            </a:r>
          </a:p>
          <a:p>
            <a:pPr lvl="1"/>
            <a:r>
              <a:rPr lang="en-US" smtClean="0"/>
              <a:t>&amp;nbsp;</a:t>
            </a:r>
          </a:p>
          <a:p>
            <a:r>
              <a:rPr lang="en-US" smtClean="0"/>
              <a:t>Greater than (&gt;) </a:t>
            </a:r>
          </a:p>
          <a:p>
            <a:pPr lvl="1"/>
            <a:r>
              <a:rPr lang="en-US" smtClean="0"/>
              <a:t>&amp;gt; </a:t>
            </a:r>
          </a:p>
          <a:p>
            <a:r>
              <a:rPr lang="en-US" smtClean="0"/>
              <a:t>Less than (&lt;)  </a:t>
            </a:r>
          </a:p>
          <a:p>
            <a:pPr lvl="1"/>
            <a:r>
              <a:rPr lang="en-US" smtClean="0"/>
              <a:t>&amp;lt; </a:t>
            </a:r>
          </a:p>
          <a:p>
            <a:r>
              <a:rPr lang="en-US" smtClean="0"/>
              <a:t>Quotes (“ “)</a:t>
            </a:r>
          </a:p>
          <a:p>
            <a:pPr lvl="1"/>
            <a:r>
              <a:rPr lang="en-US" smtClean="0"/>
              <a:t>&amp;quot; </a:t>
            </a:r>
          </a:p>
          <a:p>
            <a:r>
              <a:rPr lang="en-US" smtClean="0"/>
              <a:t>Ampersand (&amp;) </a:t>
            </a:r>
          </a:p>
          <a:p>
            <a:pPr lvl="1"/>
            <a:r>
              <a:rPr lang="en-US" smtClean="0"/>
              <a:t>&amp;amp;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Modify the appearance of text (cont..)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Headings</a:t>
            </a:r>
          </a:p>
          <a:p>
            <a:pPr>
              <a:buNone/>
            </a:pPr>
            <a:r>
              <a:rPr lang="en-US" smtClean="0"/>
              <a:t>&lt;HTML&gt;</a:t>
            </a:r>
          </a:p>
          <a:p>
            <a:pPr>
              <a:buNone/>
            </a:pPr>
            <a:r>
              <a:rPr lang="en-US" smtClean="0"/>
              <a:t>	&lt;HEAD&gt;</a:t>
            </a:r>
          </a:p>
          <a:p>
            <a:pPr>
              <a:buNone/>
            </a:pPr>
            <a:r>
              <a:rPr lang="en-US" smtClean="0"/>
              <a:t>		&lt;TITLE&gt;Introduction to HTML&lt;/TITLE&gt; </a:t>
            </a:r>
          </a:p>
          <a:p>
            <a:pPr>
              <a:buNone/>
            </a:pPr>
            <a:r>
              <a:rPr lang="en-US" smtClean="0"/>
              <a:t>	&lt;/HEAD&gt;</a:t>
            </a:r>
          </a:p>
          <a:p>
            <a:pPr>
              <a:buNone/>
            </a:pPr>
            <a:r>
              <a:rPr lang="en-US" smtClean="0"/>
              <a:t>	&lt;H1&gt;Introduction to H1&lt;/H1&gt;</a:t>
            </a:r>
          </a:p>
          <a:p>
            <a:pPr>
              <a:buNone/>
            </a:pPr>
            <a:r>
              <a:rPr lang="en-US" smtClean="0"/>
              <a:t>	&lt;H2&gt;Introduction to H2&lt;/H2&gt;</a:t>
            </a:r>
          </a:p>
          <a:p>
            <a:pPr>
              <a:buNone/>
            </a:pPr>
            <a:r>
              <a:rPr lang="en-US" smtClean="0"/>
              <a:t>	&lt;H3&gt;Introduction to H3&lt;/H3&gt;</a:t>
            </a:r>
          </a:p>
          <a:p>
            <a:pPr>
              <a:buNone/>
            </a:pPr>
            <a:r>
              <a:rPr lang="en-US" smtClean="0"/>
              <a:t>	&lt;H4&gt;Introduction to H4&lt;/H4&gt;</a:t>
            </a:r>
          </a:p>
          <a:p>
            <a:pPr>
              <a:buNone/>
            </a:pPr>
            <a:r>
              <a:rPr lang="en-US" smtClean="0"/>
              <a:t>	&lt;H5&gt;Introduction to H5&lt;/H5&gt;</a:t>
            </a:r>
          </a:p>
          <a:p>
            <a:pPr>
              <a:buNone/>
            </a:pPr>
            <a:r>
              <a:rPr lang="en-US" smtClean="0"/>
              <a:t>	&lt;H6&gt;Introduction to H6&lt;/H6&gt;</a:t>
            </a:r>
          </a:p>
          <a:p>
            <a:pPr>
              <a:buNone/>
            </a:pPr>
            <a:r>
              <a:rPr lang="en-US" smtClean="0"/>
              <a:t>&lt;/HTML&gt;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Heading output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600200"/>
            <a:ext cx="5867400" cy="4574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Modify the appearance of text (cont..)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“division” tags: </a:t>
            </a:r>
          </a:p>
          <a:p>
            <a:pPr lvl="1"/>
            <a:r>
              <a:rPr lang="en-US" smtClean="0"/>
              <a:t>&lt;DIV&gt;section of text&lt;/DIV&gt;: defines the boundaries of a section of text and divides or separates that section from the rest of the text. </a:t>
            </a:r>
          </a:p>
          <a:p>
            <a:pPr lvl="1"/>
            <a:r>
              <a:rPr lang="en-US" smtClean="0"/>
              <a:t>A line break automatically is inserted before and after a divided section.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Div sample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mtClean="0"/>
              <a:t>&lt;DIV ALIGN="LEFT"&gt;&lt;H3&gt;High Flying&lt;/H3&gt;</a:t>
            </a:r>
          </a:p>
          <a:p>
            <a:pPr>
              <a:buNone/>
            </a:pPr>
            <a:r>
              <a:rPr lang="en-US" smtClean="0"/>
              <a:t>I gazed down into valleys,&lt;BR&gt;</a:t>
            </a:r>
          </a:p>
          <a:p>
            <a:pPr>
              <a:buNone/>
            </a:pPr>
            <a:r>
              <a:rPr lang="en-US" smtClean="0"/>
              <a:t>At the snowcaps white as cream!</a:t>
            </a:r>
          </a:p>
          <a:p>
            <a:pPr>
              <a:buNone/>
            </a:pPr>
            <a:r>
              <a:rPr lang="en-US" smtClean="0"/>
              <a:t>&lt;/DIV&gt;</a:t>
            </a:r>
          </a:p>
          <a:p>
            <a:pPr>
              <a:buNone/>
            </a:pPr>
            <a:r>
              <a:rPr lang="en-US" smtClean="0"/>
              <a:t>&lt;DIV ALIGN="CENTER"&gt;&lt;H3&gt;High Flying&lt;/H3&gt;</a:t>
            </a:r>
          </a:p>
          <a:p>
            <a:pPr>
              <a:buNone/>
            </a:pPr>
            <a:r>
              <a:rPr lang="en-US" smtClean="0"/>
              <a:t>I gazed down into valleys,&lt;BR&gt;</a:t>
            </a:r>
          </a:p>
          <a:p>
            <a:pPr>
              <a:buNone/>
            </a:pPr>
            <a:r>
              <a:rPr lang="en-US" smtClean="0"/>
              <a:t>At the snowcaps white as cream!&lt;/DIV&gt;</a:t>
            </a:r>
          </a:p>
          <a:p>
            <a:pPr>
              <a:buNone/>
            </a:pPr>
            <a:r>
              <a:rPr lang="en-US" smtClean="0"/>
              <a:t>&lt;DIV ALIGN="RIGHT"&gt;&lt;H3&gt;High Flying&lt;/H3&gt;</a:t>
            </a:r>
          </a:p>
          <a:p>
            <a:pPr>
              <a:buNone/>
            </a:pPr>
            <a:r>
              <a:rPr lang="en-US" smtClean="0"/>
              <a:t>I gazed down into valleys,&lt;BR&gt;</a:t>
            </a:r>
          </a:p>
          <a:p>
            <a:pPr>
              <a:buNone/>
            </a:pPr>
            <a:r>
              <a:rPr lang="en-US" smtClean="0"/>
              <a:t>At the snowcaps white as cream!&lt;/DIV&gt;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Div output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00200"/>
            <a:ext cx="8274452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Modify the appearance of text (cont..)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&lt;CENTER&gt;text…&lt;/CENTER&gt;: horizontally centers print and other objects on a page</a:t>
            </a:r>
          </a:p>
          <a:p>
            <a:r>
              <a:rPr lang="en-US" smtClean="0"/>
              <a:t>&lt;SUB&gt;number&lt;/SUB&gt;: lowers a number or a character slightly below the midline level. </a:t>
            </a:r>
          </a:p>
          <a:p>
            <a:r>
              <a:rPr lang="en-US" smtClean="0"/>
              <a:t>&lt;SUP&gt;number&lt;/SUP&gt;: elevates a number or a character slightly above the midline level.</a:t>
            </a:r>
          </a:p>
          <a:p>
            <a:r>
              <a:rPr lang="en-US" smtClean="0"/>
              <a:t>&lt;PRE&gt;text&lt;/PRE&gt;: preformats text, preserving the spacing between the words and characters as typed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Output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690687" y="2033587"/>
            <a:ext cx="5762625" cy="362902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List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HTML Unordered List</a:t>
            </a:r>
          </a:p>
          <a:p>
            <a:r>
              <a:rPr lang="en-US" smtClean="0"/>
              <a:t>An unordered list starts with the &lt;ul&gt; tag. Each list item starts with the &lt;li&gt; tag.</a:t>
            </a:r>
          </a:p>
          <a:p>
            <a:pPr>
              <a:buNone/>
            </a:pPr>
            <a:r>
              <a:rPr lang="en-US" smtClean="0"/>
              <a:t> 	&lt;ul&gt;</a:t>
            </a:r>
            <a:br>
              <a:rPr lang="en-US" smtClean="0"/>
            </a:br>
            <a:r>
              <a:rPr lang="en-US" smtClean="0"/>
              <a:t>	&lt;li&gt;Coffee&lt;/li&gt;</a:t>
            </a:r>
            <a:br>
              <a:rPr lang="en-US" smtClean="0"/>
            </a:br>
            <a:r>
              <a:rPr lang="en-US" smtClean="0"/>
              <a:t>	&lt;li&gt;Milk&lt;/li&gt;</a:t>
            </a:r>
            <a:br>
              <a:rPr lang="en-US" smtClean="0"/>
            </a:br>
            <a:r>
              <a:rPr lang="en-US" smtClean="0"/>
              <a:t>&lt;/ul&gt; </a:t>
            </a:r>
          </a:p>
          <a:p>
            <a:r>
              <a:rPr lang="en-US" smtClean="0"/>
              <a:t>How the HTML code above looks in a browser:</a:t>
            </a:r>
          </a:p>
          <a:p>
            <a:pPr lvl="2"/>
            <a:r>
              <a:rPr lang="en-US" smtClean="0"/>
              <a:t>Coffee</a:t>
            </a:r>
          </a:p>
          <a:p>
            <a:pPr lvl="2"/>
            <a:r>
              <a:rPr lang="en-US" smtClean="0"/>
              <a:t>Milk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HTML Unordered List</a:t>
            </a:r>
            <a:endParaRPr lang="en-US" dirty="0" smtClean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Customized bullets</a:t>
            </a:r>
          </a:p>
          <a:p>
            <a:pPr lvl="1"/>
            <a:r>
              <a:rPr lang="en-US" smtClean="0"/>
              <a:t>&lt;LI TYPE = SQUARE&gt; Square bullets</a:t>
            </a:r>
          </a:p>
          <a:p>
            <a:pPr lvl="1"/>
            <a:endParaRPr lang="en-US" smtClean="0"/>
          </a:p>
          <a:p>
            <a:pPr lvl="1"/>
            <a:r>
              <a:rPr lang="en-US" smtClean="0"/>
              <a:t>&lt;LI TYPE = DISC&gt; Sphere bullets</a:t>
            </a:r>
          </a:p>
          <a:p>
            <a:pPr lvl="1"/>
            <a:endParaRPr lang="en-US" smtClean="0"/>
          </a:p>
          <a:p>
            <a:pPr lvl="1"/>
            <a:r>
              <a:rPr lang="en-US" smtClean="0"/>
              <a:t>&lt;LI TYPE = CIRCLE&gt; Round bullets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List (cont..)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HTML ordered Lists</a:t>
            </a:r>
          </a:p>
          <a:p>
            <a:r>
              <a:rPr lang="en-US" smtClean="0"/>
              <a:t>An ordered list starts with the &lt;ol&gt; tag. Each list item starts with the &lt;li&gt; tag.</a:t>
            </a:r>
          </a:p>
          <a:p>
            <a:r>
              <a:rPr lang="en-US" smtClean="0"/>
              <a:t>The list items are marked with numbers.</a:t>
            </a:r>
          </a:p>
          <a:p>
            <a:pPr>
              <a:buNone/>
            </a:pPr>
            <a:r>
              <a:rPr lang="en-US" smtClean="0"/>
              <a:t>	&lt;ol&gt;</a:t>
            </a:r>
            <a:br>
              <a:rPr lang="en-US" smtClean="0"/>
            </a:br>
            <a:r>
              <a:rPr lang="en-US" smtClean="0"/>
              <a:t>	&lt;li&gt;Coffee&lt;/li&gt;</a:t>
            </a:r>
            <a:br>
              <a:rPr lang="en-US" smtClean="0"/>
            </a:br>
            <a:r>
              <a:rPr lang="en-US" smtClean="0"/>
              <a:t>	&lt;li&gt;Milk&lt;/li&gt;</a:t>
            </a:r>
            <a:br>
              <a:rPr lang="en-US" smtClean="0"/>
            </a:br>
            <a:r>
              <a:rPr lang="en-US" smtClean="0"/>
              <a:t>&lt;/ol&gt; </a:t>
            </a:r>
          </a:p>
          <a:p>
            <a:r>
              <a:rPr lang="en-US" smtClean="0"/>
              <a:t>How the HTML code above looks in a browser: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mtClean="0"/>
              <a:t>Coffee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mtClean="0"/>
              <a:t>Milk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HTML ordered List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Customized Numbers</a:t>
            </a:r>
          </a:p>
          <a:p>
            <a:r>
              <a:rPr lang="en-US" smtClean="0"/>
              <a:t>Upper Roman</a:t>
            </a:r>
          </a:p>
          <a:p>
            <a:pPr lvl="1"/>
            <a:r>
              <a:rPr lang="en-US" smtClean="0"/>
              <a:t>&lt;LI TYPE = I&gt; </a:t>
            </a:r>
          </a:p>
          <a:p>
            <a:r>
              <a:rPr lang="en-US" smtClean="0"/>
              <a:t>Lower Roman </a:t>
            </a:r>
          </a:p>
          <a:p>
            <a:pPr lvl="1"/>
            <a:r>
              <a:rPr lang="en-US" smtClean="0"/>
              <a:t>&lt;LI TYPE = i&gt; </a:t>
            </a:r>
          </a:p>
          <a:p>
            <a:r>
              <a:rPr lang="en-US" smtClean="0"/>
              <a:t>Uppercase </a:t>
            </a:r>
          </a:p>
          <a:p>
            <a:pPr lvl="1"/>
            <a:r>
              <a:rPr lang="en-US" smtClean="0"/>
              <a:t>&lt;LI TYPE = A&gt; </a:t>
            </a:r>
          </a:p>
          <a:p>
            <a:r>
              <a:rPr lang="en-US" smtClean="0"/>
              <a:t>Lowercase </a:t>
            </a:r>
          </a:p>
          <a:p>
            <a:pPr lvl="1"/>
            <a:r>
              <a:rPr lang="en-US" smtClean="0"/>
              <a:t>&lt;LI TYPE = a&gt;</a:t>
            </a:r>
          </a:p>
          <a:p>
            <a:r>
              <a:rPr lang="en-US" smtClean="0"/>
              <a:t>Begin numbering with a digit other than 1 </a:t>
            </a:r>
          </a:p>
          <a:p>
            <a:pPr lvl="1"/>
            <a:r>
              <a:rPr lang="en-US" smtClean="0"/>
              <a:t>&lt;OL START = n&gt;  [ Default ]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List (cont..)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Definition list</a:t>
            </a:r>
          </a:p>
          <a:p>
            <a:pPr>
              <a:buNone/>
            </a:pPr>
            <a:r>
              <a:rPr lang="en-US" smtClean="0"/>
              <a:t>&lt;DL&gt;&lt;FONT SIZE="4"&gt;</a:t>
            </a:r>
            <a:br>
              <a:rPr lang="en-US" smtClean="0"/>
            </a:br>
            <a:r>
              <a:rPr lang="en-US" smtClean="0"/>
              <a:t>	&lt;DT&gt;HTML</a:t>
            </a:r>
            <a:br>
              <a:rPr lang="en-US" smtClean="0"/>
            </a:br>
            <a:r>
              <a:rPr lang="en-US" smtClean="0"/>
              <a:t>	&lt;DD&gt;Hypertext Markup Language</a:t>
            </a:r>
            <a:br>
              <a:rPr lang="en-US" smtClean="0"/>
            </a:br>
            <a:r>
              <a:rPr lang="en-US" smtClean="0"/>
              <a:t>	&lt;DT&gt;TP</a:t>
            </a:r>
            <a:br>
              <a:rPr lang="en-US" smtClean="0"/>
            </a:br>
            <a:r>
              <a:rPr lang="en-US" smtClean="0"/>
              <a:t>	&lt;DD&gt;Transfer Protocol</a:t>
            </a:r>
            <a:br>
              <a:rPr lang="en-US" smtClean="0"/>
            </a:br>
            <a:r>
              <a:rPr lang="en-US" smtClean="0"/>
              <a:t>	&lt;DL&gt;</a:t>
            </a:r>
            <a:br>
              <a:rPr lang="en-US" smtClean="0"/>
            </a:br>
            <a:r>
              <a:rPr lang="en-US" smtClean="0"/>
              <a:t>	&lt;DT&gt;FTP</a:t>
            </a:r>
            <a:br>
              <a:rPr lang="en-US" smtClean="0"/>
            </a:br>
            <a:r>
              <a:rPr lang="en-US" smtClean="0"/>
              <a:t>	&lt;DD&gt;File Transfer Protocol</a:t>
            </a:r>
            <a:br>
              <a:rPr lang="en-US" smtClean="0"/>
            </a:br>
            <a:r>
              <a:rPr lang="en-US" smtClean="0"/>
              <a:t>&lt;/DL&gt;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Image on the Web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mtClean="0"/>
              <a:t>Some image formats:</a:t>
            </a:r>
          </a:p>
          <a:p>
            <a:pPr lvl="1"/>
            <a:r>
              <a:rPr lang="en-US" smtClean="0"/>
              <a:t>GIF (Graphics Interchange Format) images (.GIF) </a:t>
            </a:r>
          </a:p>
          <a:p>
            <a:pPr lvl="2"/>
            <a:r>
              <a:rPr lang="en-US" smtClean="0"/>
              <a:t>Interlaced GIF format </a:t>
            </a:r>
          </a:p>
          <a:p>
            <a:pPr lvl="2"/>
            <a:r>
              <a:rPr lang="en-US" smtClean="0"/>
              <a:t>Transparent GIF images </a:t>
            </a:r>
          </a:p>
          <a:p>
            <a:pPr lvl="1"/>
            <a:r>
              <a:rPr lang="en-US" smtClean="0"/>
              <a:t>JPEG (Joint Photographic Expert Group) images (.JPEG)</a:t>
            </a:r>
          </a:p>
          <a:p>
            <a:pPr lvl="1"/>
            <a:r>
              <a:rPr lang="en-US" smtClean="0"/>
              <a:t>PNG (Portable Network Graphics)</a:t>
            </a:r>
          </a:p>
          <a:p>
            <a:r>
              <a:rPr lang="en-US" smtClean="0"/>
              <a:t>In HTML, images are defined with the &lt;img&gt; tag.  </a:t>
            </a:r>
          </a:p>
          <a:p>
            <a:r>
              <a:rPr lang="en-US" smtClean="0"/>
              <a:t>Syntax for defining an image:</a:t>
            </a:r>
          </a:p>
          <a:p>
            <a:pPr>
              <a:buNone/>
            </a:pPr>
            <a:r>
              <a:rPr lang="en-US" smtClean="0"/>
              <a:t>	&lt;img src="url" alt="some_text"/&gt;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Insert image into HTML document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en-US" smtClean="0"/>
              <a:t>&lt;IMG SRC=”board.jpg” width=200&gt; </a:t>
            </a:r>
          </a:p>
          <a:p>
            <a:pPr lvl="0">
              <a:buNone/>
            </a:pPr>
            <a:r>
              <a:rPr lang="en-US" smtClean="0"/>
              <a:t>&lt;IMG ALIGN=left SRC=”PICTURE.GIF”&gt;</a:t>
            </a:r>
          </a:p>
          <a:p>
            <a:pPr lvl="0">
              <a:buNone/>
            </a:pPr>
            <a:r>
              <a:rPr lang="en-US" smtClean="0"/>
              <a:t>&lt;IMG SRC=Flowers.jpg ALT=”Beautiful Flowers”&gt; </a:t>
            </a:r>
          </a:p>
          <a:p>
            <a:pPr lvl="0">
              <a:buNone/>
            </a:pPr>
            <a:r>
              <a:rPr lang="en-US" smtClean="0"/>
              <a:t>&lt;BODY BACKGROUND=bgimage.gif&gt; </a:t>
            </a:r>
          </a:p>
          <a:p>
            <a:pPr lvl="0">
              <a:buNone/>
            </a:pPr>
            <a:r>
              <a:rPr lang="en-US" smtClean="0"/>
              <a:t>&lt;BODY BACKGROUND=bgimage.gif BGPROPERTIES=FIXED&gt;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Output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524000"/>
            <a:ext cx="5715000" cy="499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Output image with align=left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600200"/>
            <a:ext cx="6858000" cy="4489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In this session, we learnt: </a:t>
            </a:r>
          </a:p>
          <a:p>
            <a:pPr lvl="1"/>
            <a:r>
              <a:rPr lang="en-US" smtClean="0"/>
              <a:t>Format text in HTML</a:t>
            </a:r>
          </a:p>
          <a:p>
            <a:pPr lvl="1"/>
            <a:r>
              <a:rPr lang="en-US" smtClean="0"/>
              <a:t>Insert Ordered, Unordered and Definition Lists</a:t>
            </a:r>
          </a:p>
          <a:p>
            <a:pPr lvl="1"/>
            <a:r>
              <a:rPr lang="en-US" smtClean="0"/>
              <a:t>Images on the Web</a:t>
            </a:r>
          </a:p>
          <a:p>
            <a:pPr lvl="1"/>
            <a:r>
              <a:rPr lang="en-US" smtClean="0"/>
              <a:t>&lt;img src="url" alt="some_text"/&gt;</a:t>
            </a:r>
          </a:p>
          <a:p>
            <a:endParaRPr lang="en-US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xam Not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Exam Notes</Template>
  <TotalTime>2945</TotalTime>
  <Words>583</Words>
  <Application>Microsoft Office PowerPoint</Application>
  <PresentationFormat>On-screen Show (4:3)</PresentationFormat>
  <Paragraphs>115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Exam Notes</vt:lpstr>
      <vt:lpstr>WEB AUTHORING</vt:lpstr>
      <vt:lpstr>OBJECTIVES</vt:lpstr>
      <vt:lpstr>Modify the appearance of text </vt:lpstr>
      <vt:lpstr>Modify the appearance of text (cont..)</vt:lpstr>
      <vt:lpstr>Heading output</vt:lpstr>
      <vt:lpstr>Modify the appearance of text (cont..)</vt:lpstr>
      <vt:lpstr>Div sample</vt:lpstr>
      <vt:lpstr>Div output</vt:lpstr>
      <vt:lpstr>Modify the appearance of text (cont..)</vt:lpstr>
      <vt:lpstr>Output</vt:lpstr>
      <vt:lpstr>List</vt:lpstr>
      <vt:lpstr>HTML Unordered List</vt:lpstr>
      <vt:lpstr>List (cont..)</vt:lpstr>
      <vt:lpstr>HTML ordered List</vt:lpstr>
      <vt:lpstr>List (cont..)</vt:lpstr>
      <vt:lpstr>Image on the Web</vt:lpstr>
      <vt:lpstr>Insert image into HTML document</vt:lpstr>
      <vt:lpstr>Output</vt:lpstr>
      <vt:lpstr>Output image with align=left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C#</dc:title>
  <dc:creator>Lucky Luke</dc:creator>
  <cp:lastModifiedBy>User</cp:lastModifiedBy>
  <cp:revision>141</cp:revision>
  <dcterms:created xsi:type="dcterms:W3CDTF">2008-09-22T06:35:02Z</dcterms:created>
  <dcterms:modified xsi:type="dcterms:W3CDTF">2013-08-14T06:52:53Z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TC300014521033</vt:lpwstr>
  </property>
</Properties>
</file>