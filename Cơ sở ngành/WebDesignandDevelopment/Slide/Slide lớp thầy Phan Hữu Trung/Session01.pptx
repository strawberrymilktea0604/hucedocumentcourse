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5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92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2354E-E8CB-4E64-AE6E-BE79EBCB6692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88B35-F68D-4904-905E-2238C474883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 userDrawn="1"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154289"/>
            <a:ext cx="91440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 userDrawn="1"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 userDrawn="1"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mailto:test@gmail.com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7696200" cy="1162050"/>
          </a:xfrm>
        </p:spPr>
        <p:txBody>
          <a:bodyPr>
            <a:normAutofit/>
          </a:bodyPr>
          <a:lstStyle/>
          <a:p>
            <a:r>
              <a:rPr lang="en-US" sz="4800" b="1" smtClean="0">
                <a:solidFill>
                  <a:schemeClr val="bg1"/>
                </a:solidFill>
              </a:rPr>
              <a:t>WEB </a:t>
            </a:r>
            <a:r>
              <a:rPr lang="en-US" sz="4800" b="1" smtClean="0">
                <a:solidFill>
                  <a:schemeClr val="bg1"/>
                </a:solidFill>
              </a:rPr>
              <a:t>AUTHORING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16" name="Subtitle 15"/>
          <p:cNvSpPr>
            <a:spLocks noGrp="1"/>
          </p:cNvSpPr>
          <p:nvPr>
            <p:ph type="subTitle" idx="1"/>
          </p:nvPr>
        </p:nvSpPr>
        <p:spPr>
          <a:xfrm>
            <a:off x="1600200" y="4038600"/>
            <a:ext cx="5638800" cy="609600"/>
          </a:xfrm>
        </p:spPr>
        <p:txBody>
          <a:bodyPr>
            <a:normAutofit fontScale="77500" lnSpcReduction="20000"/>
          </a:bodyPr>
          <a:lstStyle/>
          <a:p>
            <a:r>
              <a:rPr lang="en-US" b="1" smtClean="0">
                <a:solidFill>
                  <a:schemeClr val="accent6">
                    <a:lumMod val="75000"/>
                  </a:schemeClr>
                </a:solidFill>
              </a:rPr>
              <a:t>SESSION 01 – INTRODUCTION TO HTML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Introduction to Internet and WWW</a:t>
            </a:r>
          </a:p>
          <a:p>
            <a:r>
              <a:rPr lang="en-US" smtClean="0"/>
              <a:t>Introduction to HTML</a:t>
            </a:r>
          </a:p>
          <a:p>
            <a:r>
              <a:rPr lang="en-US" smtClean="0"/>
              <a:t>Using Hyperlink in HTML documents</a:t>
            </a:r>
          </a:p>
          <a:p>
            <a:pPr lvl="1"/>
            <a:r>
              <a:rPr lang="en-US" smtClean="0"/>
              <a:t>Path</a:t>
            </a:r>
          </a:p>
          <a:p>
            <a:pPr lvl="1"/>
            <a:r>
              <a:rPr lang="en-US" smtClean="0"/>
              <a:t>Types of Hyperlink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Internet and WWW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Internet can powerfully leverage your ability to find, manage, and share information</a:t>
            </a:r>
          </a:p>
          <a:p>
            <a:r>
              <a:rPr lang="en-US" smtClean="0"/>
              <a:t>The Internet is referred to as a network of networks  </a:t>
            </a:r>
          </a:p>
          <a:p>
            <a:r>
              <a:rPr lang="en-US" smtClean="0"/>
              <a:t>One of the subsets of Internet is the World Wide Web </a:t>
            </a:r>
          </a:p>
          <a:p>
            <a:r>
              <a:rPr lang="en-US" smtClean="0"/>
              <a:t>WWW contains a number of web servers scattered across the world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 to HTML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HTML is a language for describing web pages.</a:t>
            </a:r>
          </a:p>
          <a:p>
            <a:r>
              <a:rPr lang="en-US" smtClean="0"/>
              <a:t>HTML stands for Hyper Text Markup Language</a:t>
            </a:r>
          </a:p>
          <a:p>
            <a:r>
              <a:rPr lang="en-US" smtClean="0"/>
              <a:t>HTML is not a programming language, it is a markup language</a:t>
            </a:r>
          </a:p>
          <a:p>
            <a:r>
              <a:rPr lang="en-US" smtClean="0"/>
              <a:t>A markup language is a set of markup tags</a:t>
            </a:r>
          </a:p>
          <a:p>
            <a:r>
              <a:rPr lang="en-US" smtClean="0"/>
              <a:t>HTML uses markup tags to describe web pages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 to HTML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Using HTML tags and elements, we can:</a:t>
            </a:r>
          </a:p>
          <a:p>
            <a:pPr lvl="1"/>
            <a:r>
              <a:rPr lang="en-US" smtClean="0"/>
              <a:t>Control the appearance of the page and the content</a:t>
            </a:r>
          </a:p>
          <a:p>
            <a:pPr lvl="1"/>
            <a:r>
              <a:rPr lang="en-US" smtClean="0"/>
              <a:t>Publish online documents and retrieve online information using the links inserted in the HTML document </a:t>
            </a:r>
          </a:p>
          <a:p>
            <a:pPr lvl="1"/>
            <a:r>
              <a:rPr lang="en-US" smtClean="0"/>
              <a:t>Create on-line forms. These forms can be used to collect information about the user, conduct transactions, and so on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First Example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mtClean="0"/>
              <a:t>&lt;html&gt;</a:t>
            </a:r>
          </a:p>
          <a:p>
            <a:pPr>
              <a:buNone/>
            </a:pPr>
            <a:r>
              <a:rPr lang="en-US" smtClean="0"/>
              <a:t> 	&lt;head&gt;</a:t>
            </a:r>
          </a:p>
          <a:p>
            <a:pPr>
              <a:buNone/>
            </a:pPr>
            <a:r>
              <a:rPr lang="en-US" smtClean="0"/>
              <a:t> 		&lt;title&gt;Hello HTML&lt;/title&gt;</a:t>
            </a:r>
          </a:p>
          <a:p>
            <a:pPr>
              <a:buNone/>
            </a:pPr>
            <a:r>
              <a:rPr lang="en-US" smtClean="0"/>
              <a:t> 	&lt;/head&gt;</a:t>
            </a:r>
          </a:p>
          <a:p>
            <a:pPr>
              <a:buNone/>
            </a:pPr>
            <a:r>
              <a:rPr lang="en-US" smtClean="0"/>
              <a:t> 	&lt;body&gt;</a:t>
            </a:r>
          </a:p>
          <a:p>
            <a:pPr>
              <a:buNone/>
            </a:pPr>
            <a:r>
              <a:rPr lang="en-US" smtClean="0"/>
              <a:t> 		&lt;p&gt;Hello World!&lt;/p&gt;</a:t>
            </a:r>
          </a:p>
          <a:p>
            <a:pPr>
              <a:buNone/>
            </a:pPr>
            <a:r>
              <a:rPr lang="en-US" smtClean="0"/>
              <a:t> 	&lt;/body&gt;</a:t>
            </a:r>
          </a:p>
          <a:p>
            <a:pPr>
              <a:buNone/>
            </a:pPr>
            <a:r>
              <a:rPr lang="en-US" smtClean="0"/>
              <a:t>&lt;/html&gt;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Output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anh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Browsers and Editors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Browsers </a:t>
            </a:r>
          </a:p>
          <a:p>
            <a:pPr lvl="1"/>
            <a:r>
              <a:rPr lang="en-US" smtClean="0"/>
              <a:t>Netscape's Navigator </a:t>
            </a:r>
          </a:p>
          <a:p>
            <a:pPr lvl="1"/>
            <a:r>
              <a:rPr lang="en-US" smtClean="0"/>
              <a:t>Microsoft's Internet Explorer </a:t>
            </a:r>
          </a:p>
          <a:p>
            <a:pPr lvl="1"/>
            <a:r>
              <a:rPr lang="en-US" smtClean="0"/>
              <a:t>Mozilla Firefox</a:t>
            </a:r>
          </a:p>
          <a:p>
            <a:r>
              <a:rPr lang="en-US" smtClean="0"/>
              <a:t>Editors</a:t>
            </a:r>
          </a:p>
          <a:p>
            <a:pPr lvl="1"/>
            <a:r>
              <a:rPr lang="en-US" smtClean="0"/>
              <a:t>Notepad</a:t>
            </a:r>
          </a:p>
          <a:p>
            <a:pPr lvl="1"/>
            <a:r>
              <a:rPr lang="en-US" smtClean="0"/>
              <a:t>Microsoft FrontPage </a:t>
            </a:r>
          </a:p>
          <a:p>
            <a:pPr lvl="1"/>
            <a:r>
              <a:rPr lang="en-US" smtClean="0"/>
              <a:t>Macromedia Dreamweaver 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HTML tags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&lt;html&gt;...&lt;/html&gt;: The Root element of an HTML document. The HTML element delimits the beginning and the end of an HTML document.</a:t>
            </a:r>
          </a:p>
          <a:p>
            <a:r>
              <a:rPr lang="en-US" smtClean="0"/>
              <a:t>&lt;head&gt;...&lt;/head&gt;: Container for processing information and metadata for an HTML document.</a:t>
            </a:r>
          </a:p>
          <a:p>
            <a:r>
              <a:rPr lang="en-US" smtClean="0"/>
              <a:t>&lt;body&gt;...&lt;/body&gt;: Container for the displayable content of an HTML document.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HTML Element Syntax</a:t>
            </a:r>
            <a:endParaRPr lang="en-US" dirty="0" smtClean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An HTML element starts with a start tag / opening tag</a:t>
            </a:r>
          </a:p>
          <a:p>
            <a:r>
              <a:rPr lang="en-US" smtClean="0"/>
              <a:t>An HTML element ends with an end tag / closing tag</a:t>
            </a:r>
          </a:p>
          <a:p>
            <a:r>
              <a:rPr lang="en-US" smtClean="0"/>
              <a:t>The element content is everything between the start and the end tag</a:t>
            </a:r>
          </a:p>
          <a:p>
            <a:r>
              <a:rPr lang="en-US" smtClean="0"/>
              <a:t>Some HTML elements have empty content</a:t>
            </a:r>
          </a:p>
          <a:p>
            <a:r>
              <a:rPr lang="en-US" smtClean="0"/>
              <a:t>Empty elements are closed in the start tag</a:t>
            </a:r>
          </a:p>
          <a:p>
            <a:r>
              <a:rPr lang="en-US" smtClean="0"/>
              <a:t>Most HTML elements can have attributes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Tag Syntax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&lt;tag attribute1="value1" attribute2="value2"&gt;content to be rendered&lt;/tag&gt;</a:t>
            </a:r>
          </a:p>
          <a:p>
            <a:pPr lvl="1"/>
            <a:r>
              <a:rPr lang="en-US" smtClean="0"/>
              <a:t>tag - identifies the tag</a:t>
            </a:r>
          </a:p>
          <a:p>
            <a:pPr lvl="1"/>
            <a:r>
              <a:rPr lang="en-US" smtClean="0"/>
              <a:t>attribute - describes the tag</a:t>
            </a:r>
          </a:p>
          <a:p>
            <a:pPr lvl="1"/>
            <a:r>
              <a:rPr lang="en-US" smtClean="0"/>
              <a:t>value - the content that is assigned to the attribute</a:t>
            </a:r>
          </a:p>
          <a:p>
            <a:r>
              <a:rPr lang="en-US" smtClean="0"/>
              <a:t>Sample: paragraph element </a:t>
            </a:r>
          </a:p>
          <a:p>
            <a:pPr lvl="1"/>
            <a:r>
              <a:rPr lang="en-US" smtClean="0"/>
              <a:t>	&lt;p&gt;Paragraph 1&lt;/p&gt; </a:t>
            </a:r>
          </a:p>
          <a:p>
            <a:pPr lvl="1"/>
            <a:r>
              <a:rPr lang="en-US" smtClean="0"/>
              <a:t>    &lt;p align=“center”&gt;Paragraph 2&lt;/p&gt;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Paragraph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mtClean="0"/>
              <a:t>&lt;HTML&gt;</a:t>
            </a:r>
          </a:p>
          <a:p>
            <a:pPr>
              <a:buNone/>
            </a:pPr>
            <a:r>
              <a:rPr lang="en-US" smtClean="0"/>
              <a:t>	&lt;HEAD&gt;</a:t>
            </a:r>
          </a:p>
          <a:p>
            <a:pPr>
              <a:buNone/>
            </a:pPr>
            <a:r>
              <a:rPr lang="en-US" smtClean="0"/>
              <a:t>		&lt;TITLE&gt;Welcome to HTML&lt;/TITLE&gt;</a:t>
            </a:r>
          </a:p>
          <a:p>
            <a:pPr>
              <a:buNone/>
            </a:pPr>
            <a:r>
              <a:rPr lang="en-US" smtClean="0"/>
              <a:t>	&lt;/HEAD&gt;</a:t>
            </a:r>
          </a:p>
          <a:p>
            <a:pPr>
              <a:buNone/>
            </a:pPr>
            <a:r>
              <a:rPr lang="en-US" smtClean="0"/>
              <a:t>	&lt;BODY BGCOLOR = green&gt;</a:t>
            </a:r>
          </a:p>
          <a:p>
            <a:pPr>
              <a:buNone/>
            </a:pPr>
            <a:r>
              <a:rPr lang="en-US" smtClean="0"/>
              <a:t>		&lt;p&gt;This is my first paragraph.&lt;/p&gt;</a:t>
            </a:r>
          </a:p>
          <a:p>
            <a:pPr>
              <a:buNone/>
            </a:pPr>
            <a:r>
              <a:rPr lang="en-US" smtClean="0"/>
              <a:t>		&lt;p&gt; Another paragraph element&lt;/p&gt;</a:t>
            </a:r>
          </a:p>
          <a:p>
            <a:pPr>
              <a:buNone/>
            </a:pPr>
            <a:r>
              <a:rPr lang="en-US" smtClean="0"/>
              <a:t>	&lt;/BODY&gt;</a:t>
            </a:r>
          </a:p>
          <a:p>
            <a:pPr>
              <a:buNone/>
            </a:pPr>
            <a:r>
              <a:rPr lang="en-US" smtClean="0"/>
              <a:t>&lt;/HTML&gt;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Align attribute</a:t>
            </a:r>
            <a:endParaRPr lang="en-US" dirty="0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</p:nvPr>
        </p:nvGraphicFramePr>
        <p:xfrm>
          <a:off x="457200" y="1447800"/>
          <a:ext cx="8229600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37084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Value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Description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Left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The text is displayed on the left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Center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The text is centered within both the</a:t>
                      </a:r>
                    </a:p>
                    <a:p>
                      <a:pPr marL="342900" marR="0" lvl="0" indent="-34290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margins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Right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The text is displayed on the right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Justify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The text is justified along both the </a:t>
                      </a:r>
                    </a:p>
                    <a:p>
                      <a:pPr marL="342900" marR="0" lvl="0" indent="-34290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margins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Empty HTML Elements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mtClean="0"/>
              <a:t>HTML elements with no content are called empty elements. Empty elements can be closed in the start tag.</a:t>
            </a:r>
          </a:p>
          <a:p>
            <a:r>
              <a:rPr lang="en-US" smtClean="0"/>
              <a:t>&lt;br&gt; is an empty element without a closing tag (the &lt;br&gt; tag defines a line break).</a:t>
            </a:r>
          </a:p>
          <a:p>
            <a:r>
              <a:rPr lang="en-US" smtClean="0"/>
              <a:t>In XHTML, XML, and future versions of HTML, all elements must be closed. </a:t>
            </a:r>
          </a:p>
          <a:p>
            <a:r>
              <a:rPr lang="en-US" smtClean="0"/>
              <a:t>Adding a slash to the start tag, like &lt;br /&gt;, is the proper way of closing empty elements, accepted by HTML, XHTML and XML.</a:t>
            </a:r>
          </a:p>
          <a:p>
            <a:r>
              <a:rPr lang="en-US" smtClean="0"/>
              <a:t>Even if &lt;br&gt; works in all browsers, writing &lt;br /&gt; instead is more future proof.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 to links and anchors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A hyperlink is a word, group of words, or image that you can click on to jump to a new document or a new section within the current document.</a:t>
            </a:r>
          </a:p>
          <a:p>
            <a:r>
              <a:rPr lang="en-US" smtClean="0"/>
              <a:t>When you move the cursor over a link in a Web page, the arrow will turn into a little hand.</a:t>
            </a:r>
          </a:p>
          <a:p>
            <a:r>
              <a:rPr lang="en-US" smtClean="0"/>
              <a:t>Links are specified in HTML using the &lt;a&gt; tag.</a:t>
            </a:r>
          </a:p>
          <a:p>
            <a:r>
              <a:rPr lang="en-US" smtClean="0"/>
              <a:t>The &lt;a&gt; tag can be used in two ways:</a:t>
            </a:r>
          </a:p>
          <a:p>
            <a:pPr lvl="1"/>
            <a:r>
              <a:rPr lang="en-US" smtClean="0"/>
              <a:t>To create a link to another document, by using the href attribute</a:t>
            </a:r>
          </a:p>
          <a:p>
            <a:pPr lvl="1"/>
            <a:r>
              <a:rPr lang="en-US" smtClean="0"/>
              <a:t>To create a bookmark inside a document, by using the name attribute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Syntax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syntax of hyperlink is :</a:t>
            </a:r>
          </a:p>
          <a:p>
            <a:r>
              <a:rPr lang="en-US" smtClean="0"/>
              <a:t>&lt;A HREF =“protocol://host.domain:port/path”&gt; Hypertext &lt;/A&gt;     </a:t>
            </a:r>
          </a:p>
          <a:p>
            <a:pPr lvl="1"/>
            <a:r>
              <a:rPr lang="en-US" smtClean="0"/>
              <a:t>Protocol is the protocol type</a:t>
            </a:r>
          </a:p>
          <a:p>
            <a:pPr lvl="1"/>
            <a:r>
              <a:rPr lang="en-US" smtClean="0"/>
              <a:t>Host.domain is the Internet address of the server </a:t>
            </a:r>
          </a:p>
          <a:p>
            <a:pPr lvl="1"/>
            <a:r>
              <a:rPr lang="en-US" smtClean="0"/>
              <a:t>Port is the port number of the destination server</a:t>
            </a:r>
          </a:p>
          <a:p>
            <a:pPr lvl="1"/>
            <a:r>
              <a:rPr lang="en-US" smtClean="0"/>
              <a:t>Hypertext is the text or images that the user must click to activate the link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Sample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&lt;a href="http://www.msn.com/"&gt;Visit MSN&lt;/a&gt;</a:t>
            </a:r>
          </a:p>
          <a:p>
            <a:r>
              <a:rPr lang="en-US" smtClean="0"/>
              <a:t>&lt;a name="tips"&gt;Useful Tips Section&lt;/a&gt; </a:t>
            </a:r>
          </a:p>
          <a:p>
            <a:r>
              <a:rPr lang="en-US" smtClean="0"/>
              <a:t>Create a link to the "Useful Tips Section" inside the same document:</a:t>
            </a:r>
          </a:p>
          <a:p>
            <a:pPr>
              <a:buNone/>
            </a:pPr>
            <a:r>
              <a:rPr lang="en-US" smtClean="0"/>
              <a:t>&lt;a href="#tips"&gt;Visit the Useful Tips Section&lt;/a&gt; </a:t>
            </a:r>
          </a:p>
          <a:p>
            <a:r>
              <a:rPr lang="en-US" smtClean="0"/>
              <a:t>Email link:</a:t>
            </a:r>
          </a:p>
          <a:p>
            <a:pPr>
              <a:buNone/>
            </a:pPr>
            <a:r>
              <a:rPr lang="en-US" smtClean="0"/>
              <a:t>&lt;a href=</a:t>
            </a:r>
            <a:r>
              <a:rPr lang="en-US" smtClean="0">
                <a:hlinkClick r:id="rId2"/>
              </a:rPr>
              <a:t>mailto:test@gmail.com</a:t>
            </a:r>
            <a:r>
              <a:rPr lang="en-US" smtClean="0"/>
              <a:t>&gt; mail to admin&lt;/a&gt;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Output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r="6998"/>
          <a:stretch>
            <a:fillRect/>
          </a:stretch>
        </p:blipFill>
        <p:spPr>
          <a:xfrm>
            <a:off x="609600" y="2286000"/>
            <a:ext cx="7790436" cy="2667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Targets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You can specify a target window or frame for a hyperlink</a:t>
            </a:r>
          </a:p>
          <a:p>
            <a:pPr>
              <a:buNone/>
            </a:pPr>
            <a:r>
              <a:rPr lang="en-US" smtClean="0"/>
              <a:t>&lt;a href="page1.html" target="_self"&gt;Go To Page 1&lt;/a&gt;</a:t>
            </a:r>
          </a:p>
          <a:p>
            <a:r>
              <a:rPr lang="en-US" smtClean="0"/>
              <a:t>The target window options are:</a:t>
            </a:r>
            <a:br>
              <a:rPr lang="en-US" smtClean="0"/>
            </a:br>
            <a:r>
              <a:rPr lang="en-US" smtClean="0"/>
              <a:t>_self : Opens in the same window and same frame. </a:t>
            </a:r>
            <a:br>
              <a:rPr lang="en-US" smtClean="0"/>
            </a:br>
            <a:r>
              <a:rPr lang="en-US" smtClean="0"/>
              <a:t>_top : Opens in the same window, taking the full window if there is more than one frame.</a:t>
            </a:r>
            <a:br>
              <a:rPr lang="en-US" smtClean="0"/>
            </a:br>
            <a:r>
              <a:rPr lang="en-US" smtClean="0"/>
              <a:t>_parent : Opens in the parent frame.</a:t>
            </a:r>
            <a:br>
              <a:rPr lang="en-US" smtClean="0"/>
            </a:br>
            <a:r>
              <a:rPr lang="en-US" smtClean="0"/>
              <a:t>_blank : Opens in a new window.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mtClean="0"/>
              <a:t>In this session, we learnt:</a:t>
            </a:r>
          </a:p>
          <a:p>
            <a:r>
              <a:rPr lang="en-US" smtClean="0"/>
              <a:t>The Internet can powerfully leverage your ability to find, manage, and share information</a:t>
            </a:r>
          </a:p>
          <a:p>
            <a:r>
              <a:rPr lang="en-US" smtClean="0"/>
              <a:t>The World Wide Web is a system of interlinked hypertext documents accessed via the Internet </a:t>
            </a:r>
          </a:p>
          <a:p>
            <a:r>
              <a:rPr lang="en-US" smtClean="0"/>
              <a:t>HTML documents are structured into two parts, the HEAD, and the BODY</a:t>
            </a:r>
          </a:p>
          <a:p>
            <a:r>
              <a:rPr lang="en-US" smtClean="0"/>
              <a:t>A link is a connection from one Web resource to another</a:t>
            </a:r>
          </a:p>
          <a:p>
            <a:r>
              <a:rPr lang="en-US" smtClean="0"/>
              <a:t>The target window options are:</a:t>
            </a:r>
          </a:p>
          <a:p>
            <a:pPr lvl="1"/>
            <a:r>
              <a:rPr lang="en-US" smtClean="0"/>
              <a:t>_self : Opens in the same window and same frame.</a:t>
            </a:r>
          </a:p>
          <a:p>
            <a:pPr lvl="1"/>
            <a:r>
              <a:rPr lang="en-US" smtClean="0"/>
              <a:t>_top : Opens in the same window, taking the full window if there is more than one frame.</a:t>
            </a:r>
          </a:p>
          <a:p>
            <a:pPr lvl="1"/>
            <a:r>
              <a:rPr lang="en-US" smtClean="0"/>
              <a:t>_parent : Opens in the parent frame.</a:t>
            </a:r>
          </a:p>
          <a:p>
            <a:pPr lvl="1"/>
            <a:r>
              <a:rPr lang="en-US" smtClean="0"/>
              <a:t>_blank : Opens in a new window.</a:t>
            </a:r>
          </a:p>
          <a:p>
            <a:pPr>
              <a:buNone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am Not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Exam Notes</Template>
  <TotalTime>2759</TotalTime>
  <Words>886</Words>
  <Application>Microsoft Office PowerPoint</Application>
  <PresentationFormat>On-screen Show (4:3)</PresentationFormat>
  <Paragraphs>128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Exam Notes</vt:lpstr>
      <vt:lpstr>WEB AUTHORING</vt:lpstr>
      <vt:lpstr>Objective</vt:lpstr>
      <vt:lpstr>Internet and WWW</vt:lpstr>
      <vt:lpstr>Introduction to HTML</vt:lpstr>
      <vt:lpstr>Introduction to HTML</vt:lpstr>
      <vt:lpstr>The First Example</vt:lpstr>
      <vt:lpstr>Output</vt:lpstr>
      <vt:lpstr>Browsers and Editors</vt:lpstr>
      <vt:lpstr>HTML tags</vt:lpstr>
      <vt:lpstr>HTML Element Syntax</vt:lpstr>
      <vt:lpstr>Tag Syntax</vt:lpstr>
      <vt:lpstr>Paragraph</vt:lpstr>
      <vt:lpstr>Align attribute</vt:lpstr>
      <vt:lpstr>Empty HTML Elements</vt:lpstr>
      <vt:lpstr>Introduction to links and anchors</vt:lpstr>
      <vt:lpstr>Syntax</vt:lpstr>
      <vt:lpstr>Sample</vt:lpstr>
      <vt:lpstr>Output</vt:lpstr>
      <vt:lpstr>Targets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C#</dc:title>
  <dc:creator>Lucky Luke</dc:creator>
  <cp:lastModifiedBy>User</cp:lastModifiedBy>
  <cp:revision>141</cp:revision>
  <dcterms:created xsi:type="dcterms:W3CDTF">2008-09-22T06:35:02Z</dcterms:created>
  <dcterms:modified xsi:type="dcterms:W3CDTF">2013-08-14T06:52:25Z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TC300014521033</vt:lpwstr>
  </property>
</Properties>
</file>