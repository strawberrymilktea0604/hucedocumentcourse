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92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2354E-E8CB-4E64-AE6E-BE79EBCB6692}" type="datetimeFigureOut">
              <a:rPr lang="en-US" smtClean="0"/>
              <a:pPr/>
              <a:t>1/21/2013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88B35-F68D-4904-905E-2238C474883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1/21/2013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 userDrawn="1"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1/21/2013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154289"/>
            <a:ext cx="914400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1/21/2013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1/21/2013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1/21/2013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1/21/2013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1/21/2013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1/21/2013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1/21/2013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1/21/2013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965-9CA9-4FF6-A0FD-7CE4168D0195}" type="datetimeFigureOut">
              <a:rPr lang="en-US" smtClean="0"/>
              <a:pPr/>
              <a:t>1/21/2013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09965-9CA9-4FF6-A0FD-7CE4168D0195}" type="datetimeFigureOut">
              <a:rPr lang="en-US" smtClean="0"/>
              <a:pPr/>
              <a:t>1/21/2013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EC746-7C52-4850-960F-1B361D5DE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 userDrawn="1"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 userDrawn="1"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7696200" cy="1162050"/>
          </a:xfrm>
        </p:spPr>
        <p:txBody>
          <a:bodyPr>
            <a:normAutofit fontScale="90000"/>
          </a:bodyPr>
          <a:lstStyle/>
          <a:p>
            <a:r>
              <a:rPr lang="en-US" sz="4800" b="1" smtClean="0">
                <a:solidFill>
                  <a:schemeClr val="bg1"/>
                </a:solidFill>
              </a:rPr>
              <a:t>WEB AUTHORING: </a:t>
            </a:r>
            <a:br>
              <a:rPr lang="en-US" sz="4800" b="1" smtClean="0">
                <a:solidFill>
                  <a:schemeClr val="bg1"/>
                </a:solidFill>
              </a:rPr>
            </a:br>
            <a:r>
              <a:rPr lang="en-US" sz="4800" b="1" smtClean="0">
                <a:solidFill>
                  <a:schemeClr val="bg1"/>
                </a:solidFill>
              </a:rPr>
              <a:t>DW, PHP, MYSQL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16" name="Subtitle 15"/>
          <p:cNvSpPr>
            <a:spLocks noGrp="1"/>
          </p:cNvSpPr>
          <p:nvPr>
            <p:ph type="subTitle" idx="1"/>
          </p:nvPr>
        </p:nvSpPr>
        <p:spPr>
          <a:xfrm>
            <a:off x="1600200" y="4038600"/>
            <a:ext cx="5638800" cy="609600"/>
          </a:xfrm>
        </p:spPr>
        <p:txBody>
          <a:bodyPr>
            <a:normAutofit fontScale="70000" lnSpcReduction="20000"/>
          </a:bodyPr>
          <a:lstStyle/>
          <a:p>
            <a:r>
              <a:rPr lang="en-US" b="1" smtClean="0">
                <a:solidFill>
                  <a:schemeClr val="accent6">
                    <a:lumMod val="75000"/>
                  </a:schemeClr>
                </a:solidFill>
              </a:rPr>
              <a:t>SESSION  07 – JAVASCRIPT FORM VALIDATION 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OBJECTIVES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Event Handles</a:t>
            </a:r>
          </a:p>
          <a:p>
            <a:r>
              <a:rPr lang="en-US" smtClean="0"/>
              <a:t>Using Event Handles</a:t>
            </a:r>
          </a:p>
          <a:p>
            <a:r>
              <a:rPr lang="en-US" smtClean="0"/>
              <a:t>DOM</a:t>
            </a:r>
          </a:p>
          <a:p>
            <a:r>
              <a:rPr lang="en-US" smtClean="0"/>
              <a:t>Access Form Data</a:t>
            </a:r>
          </a:p>
          <a:p>
            <a:r>
              <a:rPr lang="en-US" smtClean="0"/>
              <a:t>Validation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Event object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Events are actions that can be detected by JavaScript.</a:t>
            </a:r>
          </a:p>
          <a:p>
            <a:r>
              <a:rPr lang="en-US" smtClean="0"/>
              <a:t>Each event has an associated event object. The event object provides information on:</a:t>
            </a:r>
          </a:p>
          <a:p>
            <a:pPr lvl="1"/>
            <a:r>
              <a:rPr lang="en-US" smtClean="0"/>
              <a:t>the type of event </a:t>
            </a:r>
          </a:p>
          <a:p>
            <a:pPr lvl="1"/>
            <a:r>
              <a:rPr lang="en-US" smtClean="0"/>
              <a:t>the location of the cursor at the time of the event 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Life cycle of an Event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The life cycle of an event generally consist of following steps:</a:t>
            </a:r>
          </a:p>
          <a:p>
            <a:pPr lvl="1"/>
            <a:r>
              <a:rPr lang="en-US" smtClean="0"/>
              <a:t>The user action or condition associated with the event occurs </a:t>
            </a:r>
          </a:p>
          <a:p>
            <a:pPr lvl="1"/>
            <a:r>
              <a:rPr lang="en-US" smtClean="0"/>
              <a:t>The event object is instantly updated to reflect the conditions of the event </a:t>
            </a:r>
          </a:p>
          <a:p>
            <a:pPr lvl="1"/>
            <a:r>
              <a:rPr lang="en-US" smtClean="0"/>
              <a:t>The event fires </a:t>
            </a:r>
          </a:p>
          <a:p>
            <a:pPr lvl="1"/>
            <a:r>
              <a:rPr lang="en-US" smtClean="0"/>
              <a:t>The associated event handler is called </a:t>
            </a:r>
          </a:p>
          <a:p>
            <a:pPr lvl="1"/>
            <a:r>
              <a:rPr lang="en-US" smtClean="0"/>
              <a:t>The event handler carries out its actions and returns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Event Handlers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Event Handler are categorized as:</a:t>
            </a:r>
          </a:p>
          <a:p>
            <a:pPr lvl="1"/>
            <a:r>
              <a:rPr lang="en-US" smtClean="0"/>
              <a:t> Event handlers for HTML tags </a:t>
            </a:r>
          </a:p>
          <a:p>
            <a:pPr lvl="1">
              <a:buNone/>
            </a:pPr>
            <a:r>
              <a:rPr lang="en-US" smtClean="0"/>
              <a:t>			&lt;TAG eventHandler="JavaScript Code"&gt;</a:t>
            </a:r>
          </a:p>
          <a:p>
            <a:pPr lvl="1"/>
            <a:r>
              <a:rPr lang="en-US" smtClean="0"/>
              <a:t>	Ex:</a:t>
            </a:r>
          </a:p>
          <a:p>
            <a:pPr lvl="1">
              <a:buNone/>
            </a:pPr>
            <a:r>
              <a:rPr lang="en-US" smtClean="0"/>
              <a:t>			&lt;INPUT TYPE="button" NAME="docode" 		onClick="DoOnClick();"&gt;</a:t>
            </a:r>
          </a:p>
          <a:p>
            <a:pPr lvl="1"/>
            <a:r>
              <a:rPr lang="en-US" smtClean="0"/>
              <a:t>Event Handlers as Properties </a:t>
            </a:r>
          </a:p>
          <a:p>
            <a:pPr lvl="1">
              <a:buNone/>
            </a:pPr>
            <a:r>
              <a:rPr lang="en-US" smtClean="0"/>
              <a:t>			object.eventhandler = function; 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Javascript Event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Common events supported by JavaScript includes:</a:t>
            </a:r>
            <a:endParaRPr lang="en-US" dirty="0" smtClean="0"/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685800" y="2744956"/>
            <a:ext cx="3657600" cy="2970044"/>
          </a:xfrm>
          <a:prstGeom prst="rect">
            <a:avLst/>
          </a:prstGeom>
          <a:solidFill>
            <a:srgbClr val="CCCCFF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>
              <a:buFontTx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  </a:t>
            </a:r>
            <a:r>
              <a:rPr lang="en-US" sz="3200" dirty="0" err="1">
                <a:solidFill>
                  <a:srgbClr val="FF0000"/>
                </a:solidFill>
              </a:rPr>
              <a:t>onClick</a:t>
            </a:r>
            <a:endParaRPr lang="en-US" sz="3200" dirty="0">
              <a:solidFill>
                <a:srgbClr val="FF0000"/>
              </a:solidFill>
            </a:endParaRPr>
          </a:p>
          <a:p>
            <a:pPr lvl="1">
              <a:buFontTx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  </a:t>
            </a:r>
            <a:r>
              <a:rPr lang="en-US" sz="3200" dirty="0" err="1">
                <a:solidFill>
                  <a:srgbClr val="FF0000"/>
                </a:solidFill>
              </a:rPr>
              <a:t>onChange</a:t>
            </a:r>
            <a:endParaRPr lang="en-US" sz="3200" dirty="0">
              <a:solidFill>
                <a:srgbClr val="FF0000"/>
              </a:solidFill>
            </a:endParaRPr>
          </a:p>
          <a:p>
            <a:pPr lvl="1">
              <a:buFontTx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  </a:t>
            </a:r>
            <a:r>
              <a:rPr lang="en-US" sz="3200" dirty="0" err="1">
                <a:solidFill>
                  <a:srgbClr val="FF0000"/>
                </a:solidFill>
              </a:rPr>
              <a:t>onFocus</a:t>
            </a:r>
            <a:endParaRPr lang="en-US" sz="3200" dirty="0">
              <a:solidFill>
                <a:srgbClr val="FF0000"/>
              </a:solidFill>
            </a:endParaRPr>
          </a:p>
          <a:p>
            <a:pPr lvl="1">
              <a:buFontTx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  </a:t>
            </a:r>
            <a:r>
              <a:rPr lang="en-US" sz="3200" dirty="0" err="1">
                <a:solidFill>
                  <a:srgbClr val="FF0000"/>
                </a:solidFill>
              </a:rPr>
              <a:t>onBlur</a:t>
            </a:r>
            <a:endParaRPr lang="en-US" sz="3200" dirty="0">
              <a:solidFill>
                <a:srgbClr val="FF0000"/>
              </a:solidFill>
            </a:endParaRPr>
          </a:p>
          <a:p>
            <a:pPr lvl="1">
              <a:buFontTx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  </a:t>
            </a:r>
            <a:r>
              <a:rPr lang="en-US" sz="3200" dirty="0" err="1">
                <a:solidFill>
                  <a:srgbClr val="FF0000"/>
                </a:solidFill>
              </a:rPr>
              <a:t>onMouseOver</a:t>
            </a:r>
            <a:endParaRPr lang="en-US" sz="3200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4648200" y="2744956"/>
            <a:ext cx="3810000" cy="2970044"/>
          </a:xfrm>
          <a:prstGeom prst="rect">
            <a:avLst/>
          </a:prstGeom>
          <a:solidFill>
            <a:srgbClr val="CCCCFF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>
              <a:buFontTx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onMouseOut</a:t>
            </a:r>
            <a:endParaRPr lang="en-US" sz="3200" dirty="0">
              <a:solidFill>
                <a:srgbClr val="FF0000"/>
              </a:solidFill>
            </a:endParaRPr>
          </a:p>
          <a:p>
            <a:pPr lvl="1">
              <a:buFontTx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onLoad</a:t>
            </a:r>
            <a:endParaRPr lang="en-US" sz="3200" dirty="0">
              <a:solidFill>
                <a:srgbClr val="FF0000"/>
              </a:solidFill>
            </a:endParaRPr>
          </a:p>
          <a:p>
            <a:pPr lvl="1">
              <a:buFontTx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onSubmit</a:t>
            </a:r>
            <a:endParaRPr lang="en-US" sz="3200" dirty="0">
              <a:solidFill>
                <a:srgbClr val="FF0000"/>
              </a:solidFill>
            </a:endParaRPr>
          </a:p>
          <a:p>
            <a:pPr lvl="1">
              <a:buFontTx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onMouseDown</a:t>
            </a:r>
            <a:endParaRPr lang="en-US" sz="3200" dirty="0">
              <a:solidFill>
                <a:srgbClr val="FF0000"/>
              </a:solidFill>
            </a:endParaRPr>
          </a:p>
          <a:p>
            <a:pPr lvl="1">
              <a:buFontTx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onMouseUp</a:t>
            </a:r>
            <a:endParaRPr lang="en-US" sz="3200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 onClick sample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mtClean="0"/>
              <a:t>The onClick event is generated whenever the user clicks the mouse  button on certain form elements or on a hypertext link. </a:t>
            </a:r>
          </a:p>
          <a:p>
            <a:pPr>
              <a:buNone/>
            </a:pPr>
            <a:r>
              <a:rPr lang="en-US" smtClean="0"/>
              <a:t>&lt;html&gt;</a:t>
            </a:r>
          </a:p>
          <a:p>
            <a:pPr>
              <a:buNone/>
            </a:pPr>
            <a:r>
              <a:rPr lang="en-US" smtClean="0"/>
              <a:t>&lt;head&gt;</a:t>
            </a:r>
          </a:p>
          <a:p>
            <a:pPr>
              <a:buNone/>
            </a:pPr>
            <a:r>
              <a:rPr lang="en-US" smtClean="0"/>
              <a:t>&lt;script type="text/javascript"&gt;</a:t>
            </a:r>
          </a:p>
          <a:p>
            <a:pPr>
              <a:buNone/>
            </a:pPr>
            <a:r>
              <a:rPr lang="en-US" smtClean="0"/>
              <a:t>function show_alert()</a:t>
            </a:r>
          </a:p>
          <a:p>
            <a:pPr>
              <a:buNone/>
            </a:pPr>
            <a:r>
              <a:rPr lang="en-US" smtClean="0"/>
              <a:t>{</a:t>
            </a:r>
          </a:p>
          <a:p>
            <a:pPr>
              <a:buNone/>
            </a:pPr>
            <a:r>
              <a:rPr lang="en-US" smtClean="0"/>
              <a:t>alert("Hello! I am an alert box!");</a:t>
            </a:r>
          </a:p>
          <a:p>
            <a:pPr>
              <a:buNone/>
            </a:pPr>
            <a:r>
              <a:rPr lang="en-US" smtClean="0"/>
              <a:t>}</a:t>
            </a:r>
          </a:p>
          <a:p>
            <a:pPr>
              <a:buNone/>
            </a:pPr>
            <a:r>
              <a:rPr lang="en-US" smtClean="0"/>
              <a:t>&lt;/script&gt;</a:t>
            </a:r>
          </a:p>
          <a:p>
            <a:pPr>
              <a:buNone/>
            </a:pPr>
            <a:r>
              <a:rPr lang="en-US" smtClean="0"/>
              <a:t>&lt;/head&gt;</a:t>
            </a:r>
          </a:p>
          <a:p>
            <a:pPr>
              <a:buNone/>
            </a:pPr>
            <a:r>
              <a:rPr lang="en-US" smtClean="0"/>
              <a:t>&lt;body&gt;</a:t>
            </a:r>
          </a:p>
          <a:p>
            <a:pPr>
              <a:buNone/>
            </a:pPr>
            <a:r>
              <a:rPr lang="en-US" smtClean="0"/>
              <a:t>&lt;input type="button" onclick="show_alert()" value="Show alert box" /&gt;</a:t>
            </a:r>
          </a:p>
          <a:p>
            <a:pPr>
              <a:buNone/>
            </a:pPr>
            <a:r>
              <a:rPr lang="en-US" smtClean="0"/>
              <a:t>&lt;/body&gt;</a:t>
            </a:r>
          </a:p>
          <a:p>
            <a:pPr>
              <a:buNone/>
            </a:pPr>
            <a:r>
              <a:rPr lang="en-US" smtClean="0"/>
              <a:t>&lt;/html&gt; </a:t>
            </a:r>
            <a:endParaRPr lang="en-U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67200" y="2362200"/>
            <a:ext cx="4648200" cy="2644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 onChange sample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onChange event occurs whenever a form element changes.</a:t>
            </a:r>
            <a:endParaRPr lang="en-US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685800" y="2819400"/>
            <a:ext cx="4038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&lt;HTML&gt;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&lt;HEAD&gt;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 &lt;SCRIPT LANGUAGE="JavaScript"&gt;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 function check(num) 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 {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  if (num == "") 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 {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   alert("Please enter a text");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   return false;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 } else {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    alert ("Thank you");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 }	  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400" y="3386078"/>
            <a:ext cx="4114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&lt;/SCRIPT&gt;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&lt;/HEAD&gt;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&lt;BODY </a:t>
            </a:r>
            <a:r>
              <a:rPr lang="en-US" b="1" dirty="0" err="1" smtClean="0">
                <a:solidFill>
                  <a:schemeClr val="bg1"/>
                </a:solidFill>
              </a:rPr>
              <a:t>bgColor</a:t>
            </a:r>
            <a:r>
              <a:rPr lang="en-US" b="1" dirty="0" smtClean="0">
                <a:solidFill>
                  <a:schemeClr val="bg1"/>
                </a:solidFill>
              </a:rPr>
              <a:t> = white&gt;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 &lt;FORM&gt;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Please enter a text: 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&lt;INPUT type = text size = 5 </a:t>
            </a:r>
            <a:r>
              <a:rPr lang="en-US" b="1" dirty="0" err="1" smtClean="0">
                <a:solidFill>
                  <a:schemeClr val="bg1"/>
                </a:solidFill>
              </a:rPr>
              <a:t>onChange</a:t>
            </a:r>
            <a:r>
              <a:rPr lang="en-US" b="1" dirty="0" smtClean="0">
                <a:solidFill>
                  <a:schemeClr val="bg1"/>
                </a:solidFill>
              </a:rPr>
              <a:t>="check(</a:t>
            </a:r>
            <a:r>
              <a:rPr lang="en-US" b="1" dirty="0" err="1" smtClean="0">
                <a:solidFill>
                  <a:schemeClr val="bg1"/>
                </a:solidFill>
              </a:rPr>
              <a:t>this.value</a:t>
            </a:r>
            <a:r>
              <a:rPr lang="en-US" b="1" dirty="0" smtClean="0">
                <a:solidFill>
                  <a:schemeClr val="bg1"/>
                </a:solidFill>
              </a:rPr>
              <a:t>)"&gt;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 &lt;/FORM&gt;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&lt;/BODY&gt;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&lt;/HTML&gt;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OnChange output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524000"/>
            <a:ext cx="7152954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onFocus and onBlur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onFocus: </a:t>
            </a:r>
          </a:p>
          <a:p>
            <a:pPr lvl="1"/>
            <a:r>
              <a:rPr lang="en-US" smtClean="0"/>
              <a:t>The onFocus event is sent whenever a form element becomes the current form element. </a:t>
            </a:r>
          </a:p>
          <a:p>
            <a:pPr lvl="1"/>
            <a:r>
              <a:rPr lang="en-US" smtClean="0"/>
              <a:t>Only when an element has the focus can it accept input from the user.</a:t>
            </a:r>
          </a:p>
          <a:p>
            <a:r>
              <a:rPr lang="en-US" smtClean="0"/>
              <a:t>onBlur:</a:t>
            </a:r>
          </a:p>
          <a:p>
            <a:pPr lvl="1"/>
            <a:r>
              <a:rPr lang="en-US" smtClean="0"/>
              <a:t>Blur is the opposite of focus. </a:t>
            </a:r>
          </a:p>
          <a:p>
            <a:pPr lvl="1"/>
            <a:r>
              <a:rPr lang="en-US" smtClean="0"/>
              <a:t>When the user leaves a form element, the onBlur event is activated.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onFocus and onBlur sample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smtClean="0"/>
              <a:t>&lt;HTML&gt;</a:t>
            </a:r>
          </a:p>
          <a:p>
            <a:pPr>
              <a:buNone/>
            </a:pPr>
            <a:r>
              <a:rPr lang="en-US" smtClean="0"/>
              <a:t>&lt;HEAD&gt;</a:t>
            </a:r>
          </a:p>
          <a:p>
            <a:pPr>
              <a:buNone/>
            </a:pPr>
            <a:r>
              <a:rPr lang="en-US" smtClean="0"/>
              <a:t> &lt;SCRIPT LANGUAGE="JavaScript"&gt;</a:t>
            </a:r>
          </a:p>
          <a:p>
            <a:pPr>
              <a:buNone/>
            </a:pPr>
            <a:r>
              <a:rPr lang="en-US" smtClean="0"/>
              <a:t> function changebg(id, color) </a:t>
            </a:r>
          </a:p>
          <a:p>
            <a:pPr>
              <a:buNone/>
            </a:pPr>
            <a:r>
              <a:rPr lang="en-US" smtClean="0"/>
              <a:t> {</a:t>
            </a:r>
          </a:p>
          <a:p>
            <a:pPr>
              <a:buNone/>
            </a:pPr>
            <a:r>
              <a:rPr lang="en-US" smtClean="0"/>
              <a:t>     id.style.backgroundColor=color;</a:t>
            </a:r>
          </a:p>
          <a:p>
            <a:pPr>
              <a:buNone/>
            </a:pPr>
            <a:r>
              <a:rPr lang="en-US" smtClean="0"/>
              <a:t> }</a:t>
            </a:r>
          </a:p>
          <a:p>
            <a:pPr>
              <a:buNone/>
            </a:pPr>
            <a:r>
              <a:rPr lang="en-US" smtClean="0"/>
              <a:t>&lt;/SCRIPT&gt;</a:t>
            </a:r>
          </a:p>
          <a:p>
            <a:pPr>
              <a:buNone/>
            </a:pPr>
            <a:r>
              <a:rPr lang="en-US" smtClean="0"/>
              <a:t>&lt;/HEAD&gt;</a:t>
            </a:r>
          </a:p>
          <a:p>
            <a:pPr>
              <a:buNone/>
            </a:pPr>
            <a:r>
              <a:rPr lang="en-US" smtClean="0"/>
              <a:t>&lt;BODY bgColor = white&gt;</a:t>
            </a:r>
          </a:p>
          <a:p>
            <a:pPr>
              <a:buNone/>
            </a:pPr>
            <a:r>
              <a:rPr lang="en-US" smtClean="0"/>
              <a:t> &lt;FORM&gt;</a:t>
            </a:r>
          </a:p>
          <a:p>
            <a:pPr>
              <a:buNone/>
            </a:pPr>
            <a:r>
              <a:rPr lang="en-US" smtClean="0"/>
              <a:t>Please enter a text: </a:t>
            </a:r>
          </a:p>
          <a:p>
            <a:pPr>
              <a:buNone/>
            </a:pPr>
            <a:r>
              <a:rPr lang="en-US" smtClean="0"/>
              <a:t>&lt;INPUT type = text onFocus="changebg(this,'yellow');" onBlur="changebg(this,'white');"&gt;</a:t>
            </a:r>
          </a:p>
          <a:p>
            <a:pPr>
              <a:buNone/>
            </a:pPr>
            <a:r>
              <a:rPr lang="en-US" smtClean="0"/>
              <a:t> &lt;/FORM&gt;</a:t>
            </a:r>
          </a:p>
          <a:p>
            <a:pPr>
              <a:buNone/>
            </a:pPr>
            <a:r>
              <a:rPr lang="en-US" smtClean="0"/>
              <a:t>&lt;/BODY&gt;</a:t>
            </a:r>
          </a:p>
          <a:p>
            <a:pPr>
              <a:buNone/>
            </a:pPr>
            <a:r>
              <a:rPr lang="en-US" smtClean="0"/>
              <a:t>&lt;/HTML&gt;</a:t>
            </a:r>
            <a:endParaRPr lang="en-US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24400" y="1828800"/>
            <a:ext cx="410421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 r="3571" b="5592"/>
          <a:stretch>
            <a:fillRect/>
          </a:stretch>
        </p:blipFill>
        <p:spPr bwMode="auto">
          <a:xfrm>
            <a:off x="4724400" y="2590799"/>
            <a:ext cx="4114800" cy="533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onMouseOver and onMouseOut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onMouseOver</a:t>
            </a:r>
          </a:p>
          <a:p>
            <a:pPr lvl="1"/>
            <a:r>
              <a:rPr lang="en-US" smtClean="0"/>
              <a:t>The onMouseOver event is generated whenever the mouse cursor is moved over an element.</a:t>
            </a:r>
          </a:p>
          <a:p>
            <a:r>
              <a:rPr lang="en-US" smtClean="0"/>
              <a:t>onMouseOut</a:t>
            </a:r>
          </a:p>
          <a:p>
            <a:pPr lvl="1"/>
            <a:r>
              <a:rPr lang="en-US" smtClean="0"/>
              <a:t>The onMouseOut event is generated whenever the mouse cursor moves off of an element. </a:t>
            </a:r>
          </a:p>
          <a:p>
            <a:r>
              <a:rPr lang="en-US" smtClean="0"/>
              <a:t>&lt;a href="http://abc.com" onmouseover="alert('An onMouseOver event');return false“ onMouseOut=“alert(‘An onMouseOut event’);”&gt;This is test&lt;/a&gt;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OnMouseOver/OnMouseOut output</a:t>
            </a:r>
            <a:endParaRPr lang="en-US" dirty="0"/>
          </a:p>
        </p:txBody>
      </p:sp>
      <p:pic>
        <p:nvPicPr>
          <p:cNvPr id="409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r="2703" b="9563"/>
          <a:stretch>
            <a:fillRect/>
          </a:stretch>
        </p:blipFill>
        <p:spPr>
          <a:xfrm>
            <a:off x="914400" y="4343400"/>
            <a:ext cx="5486400" cy="2286016"/>
          </a:xfr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1524000"/>
            <a:ext cx="5486400" cy="270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onLoad and onSubmit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OnLoad </a:t>
            </a:r>
          </a:p>
          <a:p>
            <a:pPr lvl="1"/>
            <a:r>
              <a:rPr lang="en-US" smtClean="0"/>
              <a:t>The onLoad event is sent to the document body object when the document has finished loading.</a:t>
            </a:r>
          </a:p>
          <a:p>
            <a:r>
              <a:rPr lang="en-US" smtClean="0"/>
              <a:t>onSubmit</a:t>
            </a:r>
          </a:p>
          <a:p>
            <a:pPr lvl="1"/>
            <a:r>
              <a:rPr lang="en-US" smtClean="0"/>
              <a:t>The onSubmit event is generated whenever the user submits a form (using the "Submit" button).</a:t>
            </a:r>
          </a:p>
          <a:p>
            <a:pPr lvl="1"/>
            <a:r>
              <a:rPr lang="en-US" smtClean="0"/>
              <a:t>The event occurs before the form is actually submitted.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Document Object Model (DOM) 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DOM is the browser's view of an HTML page as an object hierarchy</a:t>
            </a:r>
            <a:endParaRPr lang="en-US" dirty="0" smtClean="0"/>
          </a:p>
        </p:txBody>
      </p:sp>
      <p:pic>
        <p:nvPicPr>
          <p:cNvPr id="10" name="Picture 9" descr="HTMLDOM"/>
          <p:cNvPicPr/>
          <p:nvPr/>
        </p:nvPicPr>
        <p:blipFill>
          <a:blip r:embed="rId2"/>
          <a:srcRect l="1425" t="11743"/>
          <a:stretch>
            <a:fillRect/>
          </a:stretch>
        </p:blipFill>
        <p:spPr bwMode="auto">
          <a:xfrm>
            <a:off x="1600200" y="2667000"/>
            <a:ext cx="57912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DOM (cont…)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One important feature of JavaScript is that it is Object based language.</a:t>
            </a:r>
          </a:p>
          <a:p>
            <a:r>
              <a:rPr lang="en-US" smtClean="0"/>
              <a:t>Helps the user to develop program, which are modular and reusable.</a:t>
            </a:r>
          </a:p>
          <a:p>
            <a:r>
              <a:rPr lang="en-US" smtClean="0"/>
              <a:t>An object can be defined as a single entity, consisting of  Properties and Methods.</a:t>
            </a:r>
          </a:p>
          <a:p>
            <a:r>
              <a:rPr lang="en-US" smtClean="0"/>
              <a:t>A property is a value that belongs to an object.</a:t>
            </a:r>
          </a:p>
          <a:p>
            <a:r>
              <a:rPr lang="en-US" smtClean="0"/>
              <a:t>    Eg:   </a:t>
            </a:r>
            <a:r>
              <a:rPr lang="en-US" smtClean="0"/>
              <a:t>document.bgColor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Window object</a:t>
            </a:r>
            <a:endParaRPr lang="en-US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228600" y="1524000"/>
            <a:ext cx="86106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 represents the browser’s window and can be used to retrieve information about the state of the window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762000" y="2438400"/>
            <a:ext cx="3581400" cy="3693319"/>
          </a:xfrm>
          <a:prstGeom prst="rect">
            <a:avLst/>
          </a:prstGeom>
          <a:solidFill>
            <a:srgbClr val="CCCCFF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</a:rPr>
              <a:t>Properties:</a:t>
            </a:r>
            <a:endParaRPr lang="en-US" sz="2000" dirty="0">
              <a:solidFill>
                <a:srgbClr val="FF0000"/>
              </a:solidFill>
              <a:latin typeface="Courier New" pitchFamily="49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000" dirty="0">
                <a:solidFill>
                  <a:srgbClr val="FF0000"/>
                </a:solidFill>
                <a:latin typeface="Courier New" pitchFamily="49" charset="0"/>
              </a:rPr>
              <a:t> document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000" dirty="0">
                <a:solidFill>
                  <a:srgbClr val="FF0000"/>
                </a:solidFill>
                <a:latin typeface="Courier New" pitchFamily="49" charset="0"/>
              </a:rPr>
              <a:t> event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000" dirty="0">
                <a:solidFill>
                  <a:srgbClr val="FF0000"/>
                </a:solidFill>
                <a:latin typeface="Courier New" pitchFamily="49" charset="0"/>
              </a:rPr>
              <a:t> history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000" dirty="0">
                <a:solidFill>
                  <a:srgbClr val="FF0000"/>
                </a:solidFill>
                <a:latin typeface="Courier New" pitchFamily="49" charset="0"/>
              </a:rPr>
              <a:t> location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000" dirty="0">
                <a:solidFill>
                  <a:srgbClr val="FF0000"/>
                </a:solidFill>
                <a:latin typeface="Courier New" pitchFamily="49" charset="0"/>
              </a:rPr>
              <a:t> name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000" dirty="0">
                <a:solidFill>
                  <a:srgbClr val="FF0000"/>
                </a:solidFill>
                <a:latin typeface="Courier New" pitchFamily="49" charset="0"/>
              </a:rPr>
              <a:t> navigator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000" dirty="0">
                <a:solidFill>
                  <a:srgbClr val="FF0000"/>
                </a:solidFill>
                <a:latin typeface="Courier New" pitchFamily="49" charset="0"/>
              </a:rPr>
              <a:t> screen</a:t>
            </a: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4876800" y="2438400"/>
            <a:ext cx="3962400" cy="4216539"/>
          </a:xfrm>
          <a:prstGeom prst="rect">
            <a:avLst/>
          </a:prstGeom>
          <a:solidFill>
            <a:srgbClr val="CCCCFF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Methods:</a:t>
            </a:r>
            <a:endParaRPr lang="en-US" sz="2400">
              <a:solidFill>
                <a:srgbClr val="FF0000"/>
              </a:solidFill>
              <a:latin typeface="Courier New" pitchFamily="49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400" b="1">
                <a:solidFill>
                  <a:srgbClr val="FF0000"/>
                </a:solidFill>
                <a:latin typeface="Courier New" pitchFamily="49" charset="0"/>
              </a:rPr>
              <a:t> </a:t>
            </a: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alert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 blur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 close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 focus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 navigate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400">
                <a:solidFill>
                  <a:srgbClr val="FF0000"/>
                </a:solidFill>
                <a:latin typeface="Courier New" pitchFamily="49" charset="0"/>
              </a:rPr>
              <a:t> open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lang="en-US" sz="1600">
              <a:solidFill>
                <a:srgbClr val="FF0000"/>
              </a:solidFill>
              <a:latin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Document object</a:t>
            </a:r>
            <a:endParaRPr lang="en-US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533400" y="1600201"/>
            <a:ext cx="7732713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 represents the HTML document in a given browser window and is used to retrieve information about the document </a:t>
            </a:r>
            <a:endParaRPr kumimoji="0" lang="en-US" sz="2800" b="1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4419600" y="2719387"/>
            <a:ext cx="2895600" cy="2657475"/>
          </a:xfrm>
          <a:prstGeom prst="rect">
            <a:avLst/>
          </a:prstGeom>
          <a:solidFill>
            <a:srgbClr val="CCCCFF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Methods:</a:t>
            </a:r>
            <a:endParaRPr lang="en-US" sz="1600">
              <a:solidFill>
                <a:schemeClr val="hlink"/>
              </a:solidFill>
              <a:latin typeface="Courier New" pitchFamily="49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600" b="1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en-US" sz="1600">
                <a:solidFill>
                  <a:schemeClr val="hlink"/>
                </a:solidFill>
                <a:latin typeface="Courier New" pitchFamily="49" charset="0"/>
              </a:rPr>
              <a:t>clear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600">
                <a:solidFill>
                  <a:schemeClr val="hlink"/>
                </a:solidFill>
                <a:latin typeface="Courier New" pitchFamily="49" charset="0"/>
              </a:rPr>
              <a:t> close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600">
                <a:solidFill>
                  <a:schemeClr val="hlink"/>
                </a:solidFill>
                <a:latin typeface="Courier New" pitchFamily="49" charset="0"/>
              </a:rPr>
              <a:t> open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600">
                <a:solidFill>
                  <a:schemeClr val="hlink"/>
                </a:solidFill>
                <a:latin typeface="Courier New" pitchFamily="49" charset="0"/>
              </a:rPr>
              <a:t> write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600">
                <a:solidFill>
                  <a:schemeClr val="hlink"/>
                </a:solidFill>
                <a:latin typeface="Courier New" pitchFamily="49" charset="0"/>
              </a:rPr>
              <a:t> writeln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lang="en-US" sz="1600">
              <a:solidFill>
                <a:schemeClr val="hlink"/>
              </a:solidFill>
              <a:latin typeface="Courier New" pitchFamily="49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990600" y="2719387"/>
            <a:ext cx="2895600" cy="3757613"/>
          </a:xfrm>
          <a:prstGeom prst="rect">
            <a:avLst/>
          </a:prstGeom>
          <a:solidFill>
            <a:srgbClr val="CCCCFF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Properties:</a:t>
            </a:r>
            <a:endParaRPr lang="en-US" sz="1600" dirty="0">
              <a:solidFill>
                <a:schemeClr val="hlink"/>
              </a:solidFill>
              <a:latin typeface="Courier New" pitchFamily="49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600" b="1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en-US" sz="1600" dirty="0" err="1">
                <a:solidFill>
                  <a:schemeClr val="hlink"/>
                </a:solidFill>
                <a:latin typeface="Courier New" pitchFamily="49" charset="0"/>
              </a:rPr>
              <a:t>alinkColor</a:t>
            </a:r>
            <a:endParaRPr lang="en-US" sz="1600" dirty="0">
              <a:solidFill>
                <a:schemeClr val="hlink"/>
              </a:solidFill>
              <a:latin typeface="Courier New" pitchFamily="49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600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en-US" sz="1600" dirty="0" err="1">
                <a:solidFill>
                  <a:schemeClr val="hlink"/>
                </a:solidFill>
                <a:latin typeface="Courier New" pitchFamily="49" charset="0"/>
              </a:rPr>
              <a:t>bgColor</a:t>
            </a:r>
            <a:endParaRPr lang="en-US" sz="1600" dirty="0">
              <a:solidFill>
                <a:schemeClr val="hlink"/>
              </a:solidFill>
              <a:latin typeface="Courier New" pitchFamily="49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600" dirty="0">
                <a:solidFill>
                  <a:schemeClr val="hlink"/>
                </a:solidFill>
                <a:latin typeface="Courier New" pitchFamily="49" charset="0"/>
              </a:rPr>
              <a:t> Body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600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en-US" sz="1600" dirty="0" err="1">
                <a:solidFill>
                  <a:schemeClr val="hlink"/>
                </a:solidFill>
                <a:latin typeface="Courier New" pitchFamily="49" charset="0"/>
              </a:rPr>
              <a:t>fgColor</a:t>
            </a:r>
            <a:endParaRPr lang="en-US" sz="1600" dirty="0">
              <a:solidFill>
                <a:schemeClr val="hlink"/>
              </a:solidFill>
              <a:latin typeface="Courier New" pitchFamily="49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600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en-US" sz="1600" dirty="0" err="1">
                <a:solidFill>
                  <a:schemeClr val="hlink"/>
                </a:solidFill>
                <a:latin typeface="Courier New" pitchFamily="49" charset="0"/>
              </a:rPr>
              <a:t>linkColor</a:t>
            </a:r>
            <a:endParaRPr lang="en-US" sz="1600" dirty="0">
              <a:solidFill>
                <a:schemeClr val="hlink"/>
              </a:solidFill>
              <a:latin typeface="Courier New" pitchFamily="49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600" dirty="0">
                <a:solidFill>
                  <a:schemeClr val="hlink"/>
                </a:solidFill>
                <a:latin typeface="Courier New" pitchFamily="49" charset="0"/>
              </a:rPr>
              <a:t> location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600" dirty="0">
                <a:solidFill>
                  <a:schemeClr val="hlink"/>
                </a:solidFill>
                <a:latin typeface="Courier New" pitchFamily="49" charset="0"/>
              </a:rPr>
              <a:t> Title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600" dirty="0">
                <a:solidFill>
                  <a:schemeClr val="hlink"/>
                </a:solidFill>
                <a:latin typeface="Courier New" pitchFamily="49" charset="0"/>
              </a:rPr>
              <a:t> URL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600" dirty="0">
                <a:solidFill>
                  <a:schemeClr val="hlink"/>
                </a:solidFill>
                <a:latin typeface="Courier New" pitchFamily="49" charset="0"/>
              </a:rPr>
              <a:t> </a:t>
            </a:r>
            <a:r>
              <a:rPr lang="en-US" sz="1600" dirty="0" err="1">
                <a:solidFill>
                  <a:schemeClr val="hlink"/>
                </a:solidFill>
                <a:latin typeface="Courier New" pitchFamily="49" charset="0"/>
              </a:rPr>
              <a:t>vlinkColor</a:t>
            </a:r>
            <a:r>
              <a:rPr lang="en-US" sz="1600" dirty="0">
                <a:solidFill>
                  <a:schemeClr val="hlink"/>
                </a:solidFill>
                <a:latin typeface="Courier New" pitchFamily="49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Access form element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All forms on a web page are stored in the document.forms[] array. </a:t>
            </a:r>
          </a:p>
          <a:p>
            <a:r>
              <a:rPr lang="en-US" smtClean="0"/>
              <a:t>The first form on a page is document.forms[0], the second form is document.forms[1], and so on</a:t>
            </a:r>
          </a:p>
          <a:p>
            <a:r>
              <a:rPr lang="en-US" smtClean="0"/>
              <a:t>It is usually easier to give the forms names and refer to them that way</a:t>
            </a:r>
          </a:p>
          <a:p>
            <a:r>
              <a:rPr lang="en-US" smtClean="0"/>
              <a:t>Syntax </a:t>
            </a:r>
          </a:p>
          <a:p>
            <a:pPr>
              <a:buNone/>
            </a:pPr>
            <a:r>
              <a:rPr lang="en-US" smtClean="0"/>
              <a:t>document.FormName.ElementName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Textfield  object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Textfield understands onBlur, onFocus, and onChange events </a:t>
            </a:r>
          </a:p>
          <a:p>
            <a:pPr>
              <a:buNone/>
            </a:pPr>
            <a:r>
              <a:rPr lang="en-US" smtClean="0"/>
              <a:t>&lt;input type="text" name="first_text"   onFocus="writeIt('focus');"   onBlur="writeIt('blur');" </a:t>
            </a:r>
          </a:p>
          <a:p>
            <a:pPr>
              <a:buNone/>
            </a:pPr>
            <a:r>
              <a:rPr lang="en-US" smtClean="0"/>
              <a:t>	onChange="writeIt('change');"&gt;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Command Button object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Command button understands onClick event </a:t>
            </a:r>
          </a:p>
          <a:p>
            <a:r>
              <a:rPr lang="en-US" smtClean="0"/>
              <a:t> The onClick event occurs when user clicks on a command button </a:t>
            </a:r>
          </a:p>
          <a:p>
            <a:pPr>
              <a:buNone/>
            </a:pPr>
            <a:r>
              <a:rPr lang="en-US" smtClean="0"/>
              <a:t>	</a:t>
            </a:r>
          </a:p>
          <a:p>
            <a:pPr>
              <a:buNone/>
            </a:pPr>
            <a:r>
              <a:rPr lang="en-US" smtClean="0"/>
              <a:t>	&lt;INPUT TYPE="button" value="Copy" onClick=“copy(myfm.text1.value);"&gt; </a:t>
            </a:r>
          </a:p>
          <a:p>
            <a:endParaRPr lang="en-US" dirty="0" smtClean="0"/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 t="17448" r="52273" b="73828"/>
          <a:stretch>
            <a:fillRect/>
          </a:stretch>
        </p:blipFill>
        <p:spPr bwMode="auto">
          <a:xfrm>
            <a:off x="838200" y="5181600"/>
            <a:ext cx="7040880" cy="838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Option Button/Radio Button object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Radio buttons are almost exactly like checkboxes with respect to JavaScript </a:t>
            </a:r>
          </a:p>
          <a:p>
            <a:r>
              <a:rPr lang="en-US" smtClean="0"/>
              <a:t>Radio buttons are different. Once a radio button is on, it stays on until another one is selected. Then the first one goes off. </a:t>
            </a:r>
          </a:p>
          <a:p>
            <a:r>
              <a:rPr lang="en-US" smtClean="0"/>
              <a:t>Option or radio button also understands onClick event.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Radio sample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523999"/>
            <a:ext cx="8153400" cy="506369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ComboBox/Select object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 ComboBox object on an HTML form appears as drop-down list or a scrollable list of selectable items </a:t>
            </a:r>
          </a:p>
          <a:p>
            <a:r>
              <a:rPr lang="en-US" smtClean="0"/>
              <a:t>To conserve form space, the scrollable list of selectable items is used </a:t>
            </a:r>
          </a:p>
          <a:p>
            <a:r>
              <a:rPr lang="en-US" smtClean="0"/>
              <a:t>ComboBox supports onBlur, onFocus, and onChange events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JavaScript Form Validation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JavaScript can be used to validate data in HTML forms before sending off the content to a server.</a:t>
            </a:r>
          </a:p>
          <a:p>
            <a:r>
              <a:rPr lang="en-US" smtClean="0"/>
              <a:t>Form data that typically are checked by a JavaScript could be:</a:t>
            </a:r>
          </a:p>
          <a:p>
            <a:pPr lvl="1"/>
            <a:r>
              <a:rPr lang="en-US" smtClean="0"/>
              <a:t>has the user left required fields empty?</a:t>
            </a:r>
          </a:p>
          <a:p>
            <a:pPr lvl="1"/>
            <a:r>
              <a:rPr lang="en-US" smtClean="0"/>
              <a:t>has the user entered a valid e-mail address?</a:t>
            </a:r>
          </a:p>
          <a:p>
            <a:pPr lvl="1"/>
            <a:r>
              <a:rPr lang="en-US" smtClean="0"/>
              <a:t>has the user entered a valid date?</a:t>
            </a:r>
          </a:p>
          <a:p>
            <a:pPr lvl="1"/>
            <a:r>
              <a:rPr lang="en-US" smtClean="0"/>
              <a:t>has the user entered text in a numeric field?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Required Fields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mtClean="0"/>
              <a:t>function validate_required(field,alerttxt)</a:t>
            </a:r>
          </a:p>
          <a:p>
            <a:pPr>
              <a:buNone/>
            </a:pPr>
            <a:r>
              <a:rPr lang="en-US" smtClean="0"/>
              <a:t>{</a:t>
            </a:r>
          </a:p>
          <a:p>
            <a:pPr>
              <a:buNone/>
            </a:pPr>
            <a:r>
              <a:rPr lang="en-US" smtClean="0"/>
              <a:t>with (field)</a:t>
            </a:r>
          </a:p>
          <a:p>
            <a:pPr>
              <a:buNone/>
            </a:pPr>
            <a:r>
              <a:rPr lang="en-US" smtClean="0"/>
              <a:t>  {</a:t>
            </a:r>
          </a:p>
          <a:p>
            <a:pPr>
              <a:buNone/>
            </a:pPr>
            <a:r>
              <a:rPr lang="en-US" smtClean="0"/>
              <a:t>  if (value==null||value=="")</a:t>
            </a:r>
          </a:p>
          <a:p>
            <a:pPr>
              <a:buNone/>
            </a:pPr>
            <a:r>
              <a:rPr lang="en-US" smtClean="0"/>
              <a:t>    {</a:t>
            </a:r>
          </a:p>
          <a:p>
            <a:pPr>
              <a:buNone/>
            </a:pPr>
            <a:r>
              <a:rPr lang="en-US" smtClean="0"/>
              <a:t>    alert(alerttxt);return false;</a:t>
            </a:r>
          </a:p>
          <a:p>
            <a:pPr>
              <a:buNone/>
            </a:pPr>
            <a:r>
              <a:rPr lang="en-US" smtClean="0"/>
              <a:t>    }</a:t>
            </a:r>
          </a:p>
          <a:p>
            <a:pPr>
              <a:buNone/>
            </a:pPr>
            <a:r>
              <a:rPr lang="en-US" smtClean="0"/>
              <a:t>  else</a:t>
            </a:r>
          </a:p>
          <a:p>
            <a:pPr>
              <a:buNone/>
            </a:pPr>
            <a:r>
              <a:rPr lang="en-US" smtClean="0"/>
              <a:t>    {</a:t>
            </a:r>
          </a:p>
          <a:p>
            <a:pPr>
              <a:buNone/>
            </a:pPr>
            <a:r>
              <a:rPr lang="en-US" smtClean="0"/>
              <a:t>    return true;</a:t>
            </a:r>
          </a:p>
          <a:p>
            <a:pPr>
              <a:buNone/>
            </a:pPr>
            <a:r>
              <a:rPr lang="en-US" smtClean="0"/>
              <a:t>    }</a:t>
            </a:r>
          </a:p>
          <a:p>
            <a:pPr>
              <a:buNone/>
            </a:pPr>
            <a:r>
              <a:rPr lang="en-US" smtClean="0"/>
              <a:t>  }</a:t>
            </a:r>
          </a:p>
          <a:p>
            <a:pPr>
              <a:buNone/>
            </a:pPr>
            <a:r>
              <a:rPr lang="en-US" smtClean="0"/>
              <a:t>}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E-mail Validation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mtClean="0"/>
              <a:t>function validate_email(field,alerttxt)</a:t>
            </a:r>
          </a:p>
          <a:p>
            <a:pPr>
              <a:buNone/>
            </a:pPr>
            <a:r>
              <a:rPr lang="en-US" smtClean="0"/>
              <a:t>{</a:t>
            </a:r>
          </a:p>
          <a:p>
            <a:pPr>
              <a:buNone/>
            </a:pPr>
            <a:r>
              <a:rPr lang="en-US" smtClean="0"/>
              <a:t>with (field)</a:t>
            </a:r>
          </a:p>
          <a:p>
            <a:pPr>
              <a:buNone/>
            </a:pPr>
            <a:r>
              <a:rPr lang="en-US" smtClean="0"/>
              <a:t>  {</a:t>
            </a:r>
          </a:p>
          <a:p>
            <a:pPr>
              <a:buNone/>
            </a:pPr>
            <a:r>
              <a:rPr lang="en-US" smtClean="0"/>
              <a:t>  apos=value.indexOf("@");</a:t>
            </a:r>
          </a:p>
          <a:p>
            <a:pPr>
              <a:buNone/>
            </a:pPr>
            <a:r>
              <a:rPr lang="en-US" smtClean="0"/>
              <a:t>  dotpos=value.lastIndexOf(".");</a:t>
            </a:r>
          </a:p>
          <a:p>
            <a:pPr>
              <a:buNone/>
            </a:pPr>
            <a:r>
              <a:rPr lang="en-US" smtClean="0"/>
              <a:t>  if (apos&lt;1||dotpos-apos&lt;2)</a:t>
            </a:r>
          </a:p>
          <a:p>
            <a:pPr>
              <a:buNone/>
            </a:pPr>
            <a:r>
              <a:rPr lang="en-US" smtClean="0"/>
              <a:t>    {alert(alerttxt);return false;}</a:t>
            </a:r>
          </a:p>
          <a:p>
            <a:pPr>
              <a:buNone/>
            </a:pPr>
            <a:r>
              <a:rPr lang="en-US" smtClean="0"/>
              <a:t>  else {return true;}</a:t>
            </a:r>
          </a:p>
          <a:p>
            <a:pPr>
              <a:buNone/>
            </a:pPr>
            <a:r>
              <a:rPr lang="en-US" smtClean="0"/>
              <a:t>  }</a:t>
            </a:r>
          </a:p>
          <a:p>
            <a:pPr>
              <a:buNone/>
            </a:pPr>
            <a:r>
              <a:rPr lang="en-US" smtClean="0"/>
              <a:t>}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4"/>
            <a:ext cx="9144000" cy="28575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857884" y="0"/>
            <a:ext cx="3286116" cy="2857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The event object provides information on:</a:t>
            </a:r>
          </a:p>
          <a:p>
            <a:pPr lvl="1"/>
            <a:r>
              <a:rPr lang="en-US" smtClean="0"/>
              <a:t>the type of event </a:t>
            </a:r>
          </a:p>
          <a:p>
            <a:pPr lvl="1"/>
            <a:r>
              <a:rPr lang="en-US" smtClean="0"/>
              <a:t>the location of the cursor at the time of the event </a:t>
            </a:r>
          </a:p>
          <a:p>
            <a:r>
              <a:rPr lang="en-US" smtClean="0"/>
              <a:t>The event object is used as a part of an event handler. The life cycle of an event generally consist of following steps:</a:t>
            </a:r>
          </a:p>
          <a:p>
            <a:pPr lvl="1"/>
            <a:r>
              <a:rPr lang="en-US" smtClean="0"/>
              <a:t>The user action or condition associated with the event occurs </a:t>
            </a:r>
          </a:p>
          <a:p>
            <a:pPr lvl="1"/>
            <a:r>
              <a:rPr lang="en-US" smtClean="0"/>
              <a:t>The event object is instantly updated to reflect the conditions of the event </a:t>
            </a:r>
          </a:p>
          <a:p>
            <a:pPr lvl="1"/>
            <a:r>
              <a:rPr lang="en-US" smtClean="0"/>
              <a:t>The event fires </a:t>
            </a:r>
          </a:p>
          <a:p>
            <a:pPr lvl="1"/>
            <a:r>
              <a:rPr lang="en-US" smtClean="0"/>
              <a:t>The associated event handler is called </a:t>
            </a:r>
          </a:p>
          <a:p>
            <a:pPr lvl="1"/>
            <a:r>
              <a:rPr lang="en-US" smtClean="0"/>
              <a:t>The event handler carries out its actions and returns</a:t>
            </a:r>
          </a:p>
          <a:p>
            <a:r>
              <a:rPr lang="en-US" smtClean="0"/>
              <a:t>Form validation is the process of checking that a form has been filled in correctly before it is processed.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xam Not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Exam Notes</Template>
  <TotalTime>2760</TotalTime>
  <Words>1262</Words>
  <Application>Microsoft Office PowerPoint</Application>
  <PresentationFormat>On-screen Show (4:3)</PresentationFormat>
  <Paragraphs>235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Exam Notes</vt:lpstr>
      <vt:lpstr>WEB AUTHORING:  DW, PHP, MYSQL</vt:lpstr>
      <vt:lpstr>OBJECTIVES</vt:lpstr>
      <vt:lpstr>Event object</vt:lpstr>
      <vt:lpstr>Life cycle of an Event</vt:lpstr>
      <vt:lpstr>Event Handlers</vt:lpstr>
      <vt:lpstr>Javascript Event</vt:lpstr>
      <vt:lpstr>A onClick sample</vt:lpstr>
      <vt:lpstr>A onChange sample</vt:lpstr>
      <vt:lpstr>OnChange output</vt:lpstr>
      <vt:lpstr>onFocus and onBlur</vt:lpstr>
      <vt:lpstr>onFocus and onBlur sample</vt:lpstr>
      <vt:lpstr>onMouseOver and onMouseOut</vt:lpstr>
      <vt:lpstr>OnMouseOver/OnMouseOut output</vt:lpstr>
      <vt:lpstr>onLoad and onSubmit</vt:lpstr>
      <vt:lpstr>Document Object Model (DOM) </vt:lpstr>
      <vt:lpstr>DOM (cont…)</vt:lpstr>
      <vt:lpstr>Window object</vt:lpstr>
      <vt:lpstr>Document object</vt:lpstr>
      <vt:lpstr>Access form element</vt:lpstr>
      <vt:lpstr>Textfield  object</vt:lpstr>
      <vt:lpstr>Command Button object</vt:lpstr>
      <vt:lpstr>Option Button/Radio Button object</vt:lpstr>
      <vt:lpstr>Radio sample</vt:lpstr>
      <vt:lpstr>ComboBox/Select object</vt:lpstr>
      <vt:lpstr>JavaScript Form Validation</vt:lpstr>
      <vt:lpstr>Required Fields</vt:lpstr>
      <vt:lpstr>E-mail Validation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C#</dc:title>
  <dc:creator>Lucky Luke</dc:creator>
  <cp:lastModifiedBy>User</cp:lastModifiedBy>
  <cp:revision>139</cp:revision>
  <dcterms:created xsi:type="dcterms:W3CDTF">2008-09-22T06:35:02Z</dcterms:created>
  <dcterms:modified xsi:type="dcterms:W3CDTF">2013-01-21T04:09:07Z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TC300014521033</vt:lpwstr>
  </property>
</Properties>
</file>