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12/22/2011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 fontScale="90000"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AUTHORING: </a:t>
            </a:r>
            <a:br>
              <a:rPr lang="en-US" sz="4800" b="1" smtClean="0">
                <a:solidFill>
                  <a:schemeClr val="bg1"/>
                </a:solidFill>
              </a:rPr>
            </a:br>
            <a:r>
              <a:rPr lang="en-US" sz="4800" b="1" smtClean="0">
                <a:solidFill>
                  <a:schemeClr val="bg1"/>
                </a:solidFill>
              </a:rPr>
              <a:t>DW, PHP, MYSQL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925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</a:t>
            </a:r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04 – FORM AND FRAME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Using form to collect information</a:t>
            </a:r>
          </a:p>
          <a:p>
            <a:r>
              <a:rPr lang="en-US" smtClean="0"/>
              <a:t>Form elements</a:t>
            </a:r>
          </a:p>
          <a:p>
            <a:r>
              <a:rPr lang="en-US" smtClean="0"/>
              <a:t>Using frame to split pages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Form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 HTML forms are used to pass data to a server.</a:t>
            </a:r>
          </a:p>
          <a:p>
            <a:r>
              <a:rPr lang="en-US" smtClean="0"/>
              <a:t>Collecting names, addresses, telephone numbers, e-mail addresses, and other information to register users for a service or event</a:t>
            </a:r>
          </a:p>
          <a:p>
            <a:r>
              <a:rPr lang="en-US" smtClean="0"/>
              <a:t>A form can contain input elements like text fields, checkboxes, radio-buttons, submit buttons and more. A form can also contain select lists, textarea, fieldset, legend, and label elements.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form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&lt;FORM&gt;form&lt;/FORM&gt;: creates a form which is used to request and gather information from a web site visitor. </a:t>
            </a:r>
          </a:p>
          <a:p>
            <a:r>
              <a:rPr lang="en-US" smtClean="0"/>
              <a:t>Forms cannot be nested inside of other forms. </a:t>
            </a:r>
          </a:p>
          <a:p>
            <a:r>
              <a:rPr lang="en-US" smtClean="0"/>
              <a:t>&lt;FORM&gt; tag must contain attributes: </a:t>
            </a:r>
          </a:p>
          <a:p>
            <a:pPr lvl="1"/>
            <a:r>
              <a:rPr lang="en-US" smtClean="0"/>
              <a:t>METHOD="POST | GET": states that the method of dealing with the completed information in the form is to post it. </a:t>
            </a:r>
          </a:p>
          <a:p>
            <a:pPr lvl="1"/>
            <a:r>
              <a:rPr lang="en-US" smtClean="0"/>
              <a:t>ACTION=“address": indicates that the completed information is to be supplied or mailed to your email address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sample form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71600"/>
            <a:ext cx="6254212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Input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most important form element is the input element. </a:t>
            </a:r>
          </a:p>
          <a:p>
            <a:r>
              <a:rPr lang="en-US" smtClean="0"/>
              <a:t>The input element is used to select user information.</a:t>
            </a:r>
          </a:p>
          <a:p>
            <a:r>
              <a:rPr lang="en-US" smtClean="0"/>
              <a:t>An input element can vary in many ways, depending on the type attribute. An input element can be of type text field, checkbox, password, radio button, submit button, and more.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Input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&lt;INPUT&gt;: indicates that a certain type of form element</a:t>
            </a:r>
          </a:p>
          <a:p>
            <a:r>
              <a:rPr lang="en-US" smtClean="0"/>
              <a:t>The INPUT element attribute:</a:t>
            </a:r>
          </a:p>
          <a:p>
            <a:pPr lvl="1"/>
            <a:r>
              <a:rPr lang="en-US" smtClean="0"/>
              <a:t>TYPE</a:t>
            </a:r>
          </a:p>
          <a:p>
            <a:pPr lvl="1"/>
            <a:r>
              <a:rPr lang="en-US" smtClean="0"/>
              <a:t>NAME</a:t>
            </a:r>
          </a:p>
          <a:p>
            <a:pPr lvl="1"/>
            <a:r>
              <a:rPr lang="en-US" smtClean="0"/>
              <a:t>VALUE</a:t>
            </a:r>
          </a:p>
          <a:p>
            <a:pPr lvl="1"/>
            <a:r>
              <a:rPr lang="en-US" smtClean="0"/>
              <a:t>SIZE</a:t>
            </a:r>
          </a:p>
          <a:p>
            <a:pPr lvl="1"/>
            <a:r>
              <a:rPr lang="en-US" smtClean="0"/>
              <a:t>MAXLENGTH</a:t>
            </a:r>
          </a:p>
          <a:p>
            <a:pPr lvl="1"/>
            <a:r>
              <a:rPr lang="en-US" smtClean="0"/>
              <a:t>CHECKED</a:t>
            </a:r>
          </a:p>
          <a:p>
            <a:pPr lvl="1"/>
            <a:r>
              <a:rPr lang="en-US" smtClean="0"/>
              <a:t>SRC……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Input –Type Attribute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Text</a:t>
            </a:r>
          </a:p>
          <a:p>
            <a:r>
              <a:rPr lang="en-US" smtClean="0"/>
              <a:t>Password</a:t>
            </a:r>
          </a:p>
          <a:p>
            <a:r>
              <a:rPr lang="en-US" smtClean="0"/>
              <a:t>Hidden</a:t>
            </a:r>
          </a:p>
          <a:p>
            <a:r>
              <a:rPr lang="en-US" smtClean="0"/>
              <a:t>Checkbox</a:t>
            </a:r>
          </a:p>
          <a:p>
            <a:r>
              <a:rPr lang="en-US" smtClean="0"/>
              <a:t>Radio</a:t>
            </a:r>
          </a:p>
          <a:p>
            <a:r>
              <a:rPr lang="en-US" smtClean="0"/>
              <a:t>Submit</a:t>
            </a:r>
          </a:p>
          <a:p>
            <a:r>
              <a:rPr lang="en-US" smtClean="0"/>
              <a:t>Image</a:t>
            </a:r>
          </a:p>
          <a:p>
            <a:r>
              <a:rPr lang="en-US" smtClean="0"/>
              <a:t>Button</a:t>
            </a:r>
          </a:p>
          <a:p>
            <a:r>
              <a:rPr lang="en-US" smtClean="0"/>
              <a:t>Reset</a:t>
            </a:r>
          </a:p>
          <a:p>
            <a:r>
              <a:rPr lang="en-US" smtClean="0"/>
              <a:t>File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Code sample form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mtClean="0"/>
          </a:p>
          <a:p>
            <a:pPr>
              <a:buNone/>
            </a:pPr>
            <a:r>
              <a:rPr lang="en-US" smtClean="0"/>
              <a:t>&lt;form name="input" action="html_form_action.asp" method="get"&gt;</a:t>
            </a:r>
          </a:p>
          <a:p>
            <a:pPr>
              <a:buNone/>
            </a:pPr>
            <a:r>
              <a:rPr lang="en-US" smtClean="0"/>
              <a:t>First name: &lt;input type="text" name="firstname" /&gt;&lt;br /&gt;</a:t>
            </a:r>
          </a:p>
          <a:p>
            <a:pPr>
              <a:buNone/>
            </a:pPr>
            <a:r>
              <a:rPr lang="en-US" smtClean="0"/>
              <a:t>Password: &lt;input type="password" name="pwd" /&gt;&lt;br /&gt;</a:t>
            </a:r>
          </a:p>
          <a:p>
            <a:pPr>
              <a:buNone/>
            </a:pPr>
            <a:r>
              <a:rPr lang="en-US" smtClean="0"/>
              <a:t>Gender: &lt;input type="radio" name="sex" value="male" /&gt; Male</a:t>
            </a:r>
          </a:p>
          <a:p>
            <a:pPr>
              <a:buNone/>
            </a:pPr>
            <a:r>
              <a:rPr lang="en-US" smtClean="0"/>
              <a:t>&lt;input type="radio" name="sex" value="female" /&gt; Female&lt;br /&gt;</a:t>
            </a:r>
          </a:p>
          <a:p>
            <a:pPr>
              <a:buNone/>
            </a:pPr>
            <a:r>
              <a:rPr lang="en-US" smtClean="0"/>
              <a:t>&lt;input type="checkbox" name="vehicle" value="Bike" /&gt; I have a bike&lt;br /&gt;</a:t>
            </a:r>
          </a:p>
          <a:p>
            <a:pPr>
              <a:buNone/>
            </a:pPr>
            <a:r>
              <a:rPr lang="en-US" smtClean="0"/>
              <a:t>&lt;input type="checkbox" name="vehicle" value="Car" /&gt; I have a car </a:t>
            </a:r>
          </a:p>
          <a:p>
            <a:pPr>
              <a:buNone/>
            </a:pPr>
            <a:r>
              <a:rPr lang="en-US" smtClean="0"/>
              <a:t>&lt;br /&gt;&lt;br /&gt;</a:t>
            </a:r>
          </a:p>
          <a:p>
            <a:pPr>
              <a:buNone/>
            </a:pPr>
            <a:r>
              <a:rPr lang="en-US" smtClean="0"/>
              <a:t>&lt;input type="submit" value="Submit" /&gt;</a:t>
            </a:r>
          </a:p>
          <a:p>
            <a:pPr>
              <a:buNone/>
            </a:pPr>
            <a:r>
              <a:rPr lang="en-US" smtClean="0"/>
              <a:t>&lt;/form&gt;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676400"/>
            <a:ext cx="7391400" cy="441877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SELECT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&lt;SELECT&gt;&lt;OPTION&gt;tags&lt;/OPTION&gt;&lt;/SELECT&gt;: creates a pop-up box.</a:t>
            </a:r>
          </a:p>
          <a:p>
            <a:r>
              <a:rPr lang="en-US" smtClean="0"/>
              <a:t>The &lt;SELECT&gt; tag contains within it other parameters as part of the command: </a:t>
            </a:r>
          </a:p>
          <a:p>
            <a:pPr lvl="1"/>
            <a:r>
              <a:rPr lang="en-US" smtClean="0"/>
              <a:t>NAME="name": designates a name for the pop-up box, such as "Modem speed" or "Pets owned" or whatever. </a:t>
            </a:r>
          </a:p>
          <a:p>
            <a:pPr lvl="1"/>
            <a:r>
              <a:rPr lang="en-US" smtClean="0"/>
              <a:t>MULTIPLE: indicates that more than one item in the box can be selected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TEXTAREA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&lt;TEXTAREA&gt;(optional text)&lt;/TEXTAREA&gt;: creates a box in which information may be typed with multi rows</a:t>
            </a:r>
          </a:p>
          <a:p>
            <a:r>
              <a:rPr lang="en-US" smtClean="0"/>
              <a:t>&lt;TEXTAREA&gt; tag should contain within it other parameters as part of the command: </a:t>
            </a:r>
          </a:p>
          <a:p>
            <a:pPr lvl="1"/>
            <a:r>
              <a:rPr lang="en-US" smtClean="0"/>
              <a:t>NAME="name": assigns a name to the text area box</a:t>
            </a:r>
          </a:p>
          <a:p>
            <a:pPr lvl="1"/>
            <a:r>
              <a:rPr lang="en-US" smtClean="0"/>
              <a:t>ROWS="R": defines the number of rows (lines) “R” of text that are visible in the text box. </a:t>
            </a:r>
          </a:p>
          <a:p>
            <a:pPr lvl="1"/>
            <a:r>
              <a:rPr lang="en-US" smtClean="0"/>
              <a:t>COLS="C": defines the number of characters “C” that can be typed in each row (line) of text before a new line is begun.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Sample select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&lt;FORM&gt;</a:t>
            </a:r>
            <a:br>
              <a:rPr lang="en-US" smtClean="0"/>
            </a:br>
            <a:r>
              <a:rPr lang="en-US" smtClean="0"/>
              <a:t>&lt;SELECT NAME="Computer" MULTIPLE SIZE="4"&gt;</a:t>
            </a:r>
            <a:br>
              <a:rPr lang="en-US" smtClean="0"/>
            </a:br>
            <a:r>
              <a:rPr lang="en-US" smtClean="0"/>
              <a:t>	&lt;OPTION SELECTED&gt;250 MHz or faster </a:t>
            </a:r>
            <a:br>
              <a:rPr lang="en-US" smtClean="0"/>
            </a:br>
            <a:r>
              <a:rPr lang="en-US" smtClean="0"/>
              <a:t>	&lt;OPTION&gt;4.0 GB or larger hard drive</a:t>
            </a:r>
            <a:br>
              <a:rPr lang="en-US" smtClean="0"/>
            </a:br>
            <a:r>
              <a:rPr lang="en-US" smtClean="0"/>
              <a:t>	&lt;OPTION SELECTED&gt;floppy disc drive</a:t>
            </a:r>
            <a:br>
              <a:rPr lang="en-US" smtClean="0"/>
            </a:br>
            <a:r>
              <a:rPr lang="en-US" smtClean="0"/>
              <a:t>	&lt;OPTION&gt;10X or faster CD ROM drive</a:t>
            </a:r>
            <a:br>
              <a:rPr lang="en-US" smtClean="0"/>
            </a:br>
            <a:r>
              <a:rPr lang="en-US" smtClean="0"/>
              <a:t>	&lt;OPTION&gt;active matrix screen</a:t>
            </a:r>
            <a:br>
              <a:rPr lang="en-US" smtClean="0"/>
            </a:br>
            <a:r>
              <a:rPr lang="en-US" smtClean="0"/>
              <a:t>&lt;/SELECT&gt;&lt;/FORM&gt;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7326" y="1524000"/>
            <a:ext cx="802327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Forms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Controlling the elements</a:t>
            </a:r>
          </a:p>
          <a:p>
            <a:pPr lvl="1"/>
            <a:r>
              <a:rPr lang="en-US" smtClean="0"/>
              <a:t>Setting focus </a:t>
            </a:r>
          </a:p>
          <a:p>
            <a:pPr lvl="1"/>
            <a:r>
              <a:rPr lang="en-US" smtClean="0"/>
              <a:t>Tab order</a:t>
            </a:r>
          </a:p>
          <a:p>
            <a:pPr lvl="1"/>
            <a:r>
              <a:rPr lang="en-US" smtClean="0"/>
              <a:t>Access keys </a:t>
            </a:r>
          </a:p>
          <a:p>
            <a:pPr lvl="1"/>
            <a:r>
              <a:rPr lang="en-US" smtClean="0"/>
              <a:t>Disabling Elements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Frames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With frames, you can display more than one HTML document in the same browser window.</a:t>
            </a:r>
          </a:p>
          <a:p>
            <a:r>
              <a:rPr lang="en-US" smtClean="0"/>
              <a:t>Each HTML document is called a frame, and each frame is independent of the others.</a:t>
            </a:r>
          </a:p>
          <a:p>
            <a:r>
              <a:rPr lang="en-US" smtClean="0"/>
              <a:t>The disadvantages of using frames are:</a:t>
            </a:r>
          </a:p>
          <a:p>
            <a:pPr lvl="1"/>
            <a:r>
              <a:rPr lang="en-US" smtClean="0"/>
              <a:t>The web developer must keep track of more HTML documents</a:t>
            </a:r>
          </a:p>
          <a:p>
            <a:pPr lvl="1"/>
            <a:r>
              <a:rPr lang="en-US" smtClean="0"/>
              <a:t>It is difficult to print the entire page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HTML frameset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frameset element holds two or more frame elements. Each frame element holds a separate document.</a:t>
            </a:r>
          </a:p>
          <a:p>
            <a:r>
              <a:rPr lang="en-US" smtClean="0"/>
              <a:t>The frameset element states only HOW MANY columns or rows there will be in the frameset.</a:t>
            </a:r>
          </a:p>
          <a:p>
            <a:r>
              <a:rPr lang="en-US" smtClean="0"/>
              <a:t>&lt;FRAMESET &gt;frameset, frame, or noframe tags&lt;/FRAMESET&gt;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Frameset attributes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ROWS="H,H,...“</a:t>
            </a:r>
          </a:p>
          <a:p>
            <a:r>
              <a:rPr lang="en-US" smtClean="0"/>
              <a:t>COLS="W,W,...”</a:t>
            </a:r>
          </a:p>
          <a:p>
            <a:r>
              <a:rPr lang="en-US" smtClean="0"/>
              <a:t>FRAMEBORDER="YES"|"NO“</a:t>
            </a:r>
          </a:p>
          <a:p>
            <a:r>
              <a:rPr lang="en-US" smtClean="0"/>
              <a:t>BORDER="B“</a:t>
            </a:r>
          </a:p>
          <a:p>
            <a:r>
              <a:rPr lang="en-US" smtClean="0"/>
              <a:t>BORDERCOLOR="COLOR"|"#COLOR CODE"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Frame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&lt;FRAME&gt;: defines a single frame in a frameset. This frame will be part of a row or a column, as designated in the &lt;FRAMESET&gt; tag before it</a:t>
            </a:r>
          </a:p>
          <a:p>
            <a:r>
              <a:rPr lang="en-US" smtClean="0"/>
              <a:t>Attributes:</a:t>
            </a:r>
          </a:p>
          <a:p>
            <a:pPr lvl="1"/>
            <a:r>
              <a:rPr lang="en-US" smtClean="0"/>
              <a:t>SRC="URL”</a:t>
            </a:r>
          </a:p>
          <a:p>
            <a:pPr lvl="1"/>
            <a:r>
              <a:rPr lang="en-US" smtClean="0"/>
              <a:t>NAME="frame name“</a:t>
            </a:r>
          </a:p>
          <a:p>
            <a:pPr lvl="1"/>
            <a:r>
              <a:rPr lang="en-US" smtClean="0"/>
              <a:t>SCROLLING="YES"|"NO"|"AUTO“</a:t>
            </a:r>
          </a:p>
          <a:p>
            <a:pPr lvl="1"/>
            <a:r>
              <a:rPr lang="en-US" smtClean="0"/>
              <a:t>NORESIZE</a:t>
            </a:r>
          </a:p>
          <a:p>
            <a:pPr lvl="1"/>
            <a:r>
              <a:rPr lang="en-US" smtClean="0"/>
              <a:t>FRAMEBORDER="YES"|"NO"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mtClean="0"/>
              <a:t>&lt;frameset rows="*,80" cols="*" frameborder="yes" border="1" framespacing="0"&gt;</a:t>
            </a:r>
          </a:p>
          <a:p>
            <a:pPr>
              <a:buNone/>
            </a:pPr>
            <a:r>
              <a:rPr lang="en-US" smtClean="0"/>
              <a:t> &lt;frameset cols="80,*" frameborder="yes" border="1" framespacing="0"&gt;</a:t>
            </a:r>
          </a:p>
          <a:p>
            <a:pPr>
              <a:buNone/>
            </a:pPr>
            <a:r>
              <a:rPr lang="en-US" smtClean="0"/>
              <a:t> &lt;frame src="test01.html" name="leftFrame" scrolling="No" noresize="noresize" id="leftFrame" title="leftFrame"&gt;</a:t>
            </a:r>
          </a:p>
          <a:p>
            <a:pPr>
              <a:buNone/>
            </a:pPr>
            <a:r>
              <a:rPr lang="en-US" smtClean="0"/>
              <a:t> &lt;frame src="test02.html" name="mainFrame" id="mainFrame" title="mainFrame"&gt;</a:t>
            </a:r>
          </a:p>
          <a:p>
            <a:pPr>
              <a:buNone/>
            </a:pPr>
            <a:r>
              <a:rPr lang="en-US" smtClean="0"/>
              <a:t> &lt;/frameset&gt;</a:t>
            </a:r>
          </a:p>
          <a:p>
            <a:pPr>
              <a:buNone/>
            </a:pPr>
            <a:r>
              <a:rPr lang="en-US" smtClean="0"/>
              <a:t> &lt;frame src="test03.html" name="bottomFrame" scrolling="No" noresize="noresize" id="bottomFrame" title="bottomFrame"&gt;</a:t>
            </a:r>
          </a:p>
          <a:p>
            <a:pPr>
              <a:buNone/>
            </a:pPr>
            <a:r>
              <a:rPr lang="en-US" smtClean="0"/>
              <a:t>&lt;/frameset&gt;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nh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frame elements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&lt;NOFRAMES&gt;message&lt;/NOFRAMES&gt;: provides alternate text or information, for a browser which does not support frames</a:t>
            </a:r>
          </a:p>
          <a:p>
            <a:pPr>
              <a:buNone/>
            </a:pPr>
            <a:r>
              <a:rPr lang="en-US" smtClean="0"/>
              <a:t>&lt;iframe src=“path“ width=“number” height=“number”&gt;&lt;/iframe&gt;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&lt;FORM&gt;form&lt;/FORM&gt;: creates a form </a:t>
            </a:r>
          </a:p>
          <a:p>
            <a:r>
              <a:rPr lang="en-US" smtClean="0"/>
              <a:t>&lt;INPUT&gt;: indicates that a certain type of form element</a:t>
            </a:r>
          </a:p>
          <a:p>
            <a:r>
              <a:rPr lang="en-US" smtClean="0"/>
              <a:t>&lt;SELECT&gt;&lt;OPTION&gt;tags&lt;/OPTION&gt;&lt;/SELECT&gt;: creates a pop-up box.</a:t>
            </a:r>
          </a:p>
          <a:p>
            <a:r>
              <a:rPr lang="en-US" smtClean="0"/>
              <a:t>&lt;TEXTAREA&gt;(optional text)&lt;/TEXTAREA&gt;: creates a box</a:t>
            </a:r>
          </a:p>
          <a:p>
            <a:r>
              <a:rPr lang="en-US" smtClean="0"/>
              <a:t>The disadvantages of using frames are:</a:t>
            </a:r>
          </a:p>
          <a:p>
            <a:pPr lvl="1"/>
            <a:r>
              <a:rPr lang="en-US" smtClean="0"/>
              <a:t>The web developer must keep track of more HTML documents</a:t>
            </a:r>
          </a:p>
          <a:p>
            <a:pPr lvl="1"/>
            <a:r>
              <a:rPr lang="en-US" smtClean="0"/>
              <a:t>It is difficult to print the entire page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2754</TotalTime>
  <Words>1053</Words>
  <Application>Microsoft Office PowerPoint</Application>
  <PresentationFormat>On-screen Show (4:3)</PresentationFormat>
  <Paragraphs>119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Exam Notes</vt:lpstr>
      <vt:lpstr>WEB AUTHORING:  DW, PHP, MYSQL</vt:lpstr>
      <vt:lpstr>OBJECTIVES</vt:lpstr>
      <vt:lpstr>Introduction to Form</vt:lpstr>
      <vt:lpstr>Using form</vt:lpstr>
      <vt:lpstr>A sample form</vt:lpstr>
      <vt:lpstr>The Input Element</vt:lpstr>
      <vt:lpstr>The Input Element</vt:lpstr>
      <vt:lpstr>Input –Type Attribute</vt:lpstr>
      <vt:lpstr>Code sample form</vt:lpstr>
      <vt:lpstr>Output</vt:lpstr>
      <vt:lpstr>SELECT element</vt:lpstr>
      <vt:lpstr>TEXTAREA element</vt:lpstr>
      <vt:lpstr>Sample select element</vt:lpstr>
      <vt:lpstr>Output</vt:lpstr>
      <vt:lpstr>Forms</vt:lpstr>
      <vt:lpstr>HTML Frames</vt:lpstr>
      <vt:lpstr>The HTML frameset Element</vt:lpstr>
      <vt:lpstr>Frameset attributes</vt:lpstr>
      <vt:lpstr>Frame</vt:lpstr>
      <vt:lpstr>Sample</vt:lpstr>
      <vt:lpstr>Output</vt:lpstr>
      <vt:lpstr>Other frame elements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138</cp:revision>
  <dcterms:created xsi:type="dcterms:W3CDTF">2008-09-22T06:35:02Z</dcterms:created>
  <dcterms:modified xsi:type="dcterms:W3CDTF">2011-12-22T10:24:16Z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