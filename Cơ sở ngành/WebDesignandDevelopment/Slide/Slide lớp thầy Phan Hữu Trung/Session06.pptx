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12/29/2011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 fontScale="90000"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AUTHORING: </a:t>
            </a:r>
            <a:br>
              <a:rPr lang="en-US" sz="4800" b="1" smtClean="0">
                <a:solidFill>
                  <a:schemeClr val="bg1"/>
                </a:solidFill>
              </a:rPr>
            </a:br>
            <a:r>
              <a:rPr lang="en-US" sz="4800" b="1" smtClean="0">
                <a:solidFill>
                  <a:schemeClr val="bg1"/>
                </a:solidFill>
              </a:rPr>
              <a:t>DW, PHP, MYSQL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70000" lnSpcReduction="2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</a:t>
            </a:r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6 – INTRODUCTION TO JAVASCRIPT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Introduction to Javascript</a:t>
            </a:r>
          </a:p>
          <a:p>
            <a:r>
              <a:rPr lang="en-US" smtClean="0"/>
              <a:t>Variable, Array in Javascript</a:t>
            </a:r>
          </a:p>
          <a:p>
            <a:r>
              <a:rPr lang="en-US" smtClean="0"/>
              <a:t>Function Declaration</a:t>
            </a:r>
          </a:p>
          <a:p>
            <a:r>
              <a:rPr lang="en-US" smtClean="0"/>
              <a:t>Conditionals and loops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Javascript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JavaScript was designed to add interactivity to HTML pages</a:t>
            </a:r>
          </a:p>
          <a:p>
            <a:r>
              <a:rPr lang="en-US" smtClean="0"/>
              <a:t>JavaScript is a scripting language</a:t>
            </a:r>
          </a:p>
          <a:p>
            <a:r>
              <a:rPr lang="en-US" smtClean="0"/>
              <a:t>A scripting language is a lightweight programming language</a:t>
            </a:r>
          </a:p>
          <a:p>
            <a:r>
              <a:rPr lang="en-US" smtClean="0"/>
              <a:t>JavaScript is usually embedded directly into HTML pages</a:t>
            </a:r>
          </a:p>
          <a:p>
            <a:r>
              <a:rPr lang="en-US" smtClean="0"/>
              <a:t>JavaScript is an interpreted language (means that scripts execute without preliminary compilation)</a:t>
            </a:r>
          </a:p>
          <a:p>
            <a:r>
              <a:rPr lang="en-US" smtClean="0"/>
              <a:t>Everyone can use JavaScript without purchasing a license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can a JavaScript do?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JavaScript gives HTML designers a programming tool</a:t>
            </a:r>
          </a:p>
          <a:p>
            <a:r>
              <a:rPr lang="en-US" smtClean="0"/>
              <a:t>JavaScript can put dynamic text into an HTML page</a:t>
            </a:r>
          </a:p>
          <a:p>
            <a:r>
              <a:rPr lang="en-US" smtClean="0"/>
              <a:t>JavaScript can react to events</a:t>
            </a:r>
          </a:p>
          <a:p>
            <a:r>
              <a:rPr lang="en-US" smtClean="0"/>
              <a:t>JavaScript can read and write HTML elements</a:t>
            </a:r>
          </a:p>
          <a:p>
            <a:r>
              <a:rPr lang="en-US" smtClean="0"/>
              <a:t>JavaScript can be used to validate data</a:t>
            </a:r>
          </a:p>
          <a:p>
            <a:r>
              <a:rPr lang="en-US" smtClean="0"/>
              <a:t>JavaScript can be used to detect the visitor's browser</a:t>
            </a:r>
          </a:p>
          <a:p>
            <a:r>
              <a:rPr lang="en-US" smtClean="0"/>
              <a:t>JavaScript can be used to create cookies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Embedding JavaScript into HTML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JavaScript can be inserted into an HTML document in the following ways :</a:t>
            </a:r>
          </a:p>
          <a:p>
            <a:r>
              <a:rPr lang="en-US" smtClean="0"/>
              <a:t>Using Script tag:</a:t>
            </a:r>
          </a:p>
          <a:p>
            <a:pPr lvl="1">
              <a:buNone/>
            </a:pPr>
            <a:r>
              <a:rPr lang="en-US" smtClean="0"/>
              <a:t>&lt;script language="JavaScript"&gt;</a:t>
            </a:r>
          </a:p>
          <a:p>
            <a:pPr lvl="1">
              <a:buNone/>
            </a:pPr>
            <a:r>
              <a:rPr lang="en-US" smtClean="0"/>
              <a:t>JavaScript statements;</a:t>
            </a:r>
          </a:p>
          <a:p>
            <a:pPr lvl="1">
              <a:buNone/>
            </a:pPr>
            <a:r>
              <a:rPr lang="en-US" smtClean="0"/>
              <a:t>&lt;/script&gt;</a:t>
            </a:r>
          </a:p>
          <a:p>
            <a:r>
              <a:rPr lang="en-US" smtClean="0"/>
              <a:t> Using an external file:</a:t>
            </a:r>
          </a:p>
          <a:p>
            <a:pPr lvl="1">
              <a:buNone/>
            </a:pPr>
            <a:r>
              <a:rPr lang="en-US" smtClean="0"/>
              <a:t>&lt;script language="JavaScript" src="filename.js"&gt;</a:t>
            </a:r>
          </a:p>
          <a:p>
            <a:pPr lvl="1">
              <a:buNone/>
            </a:pPr>
            <a:r>
              <a:rPr lang="en-US" smtClean="0"/>
              <a:t>&lt;/script&gt;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Javascript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    &lt;HEAD&gt; </a:t>
            </a:r>
          </a:p>
          <a:p>
            <a:pPr>
              <a:buNone/>
            </a:pPr>
            <a:r>
              <a:rPr lang="en-US" smtClean="0"/>
              <a:t>     &lt;SCRIPT LANGUAGE = "Javascript"&gt;</a:t>
            </a:r>
          </a:p>
          <a:p>
            <a:pPr>
              <a:buNone/>
            </a:pPr>
            <a:r>
              <a:rPr lang="en-US" smtClean="0"/>
              <a:t>      confirm ("Are you Sure?");</a:t>
            </a:r>
          </a:p>
          <a:p>
            <a:pPr>
              <a:buNone/>
            </a:pPr>
            <a:r>
              <a:rPr lang="en-US" smtClean="0"/>
              <a:t>      alert("OK");</a:t>
            </a:r>
          </a:p>
          <a:p>
            <a:pPr>
              <a:buNone/>
            </a:pPr>
            <a:r>
              <a:rPr lang="en-US" smtClean="0"/>
              <a:t>      document.write(" Thank You !");</a:t>
            </a:r>
          </a:p>
          <a:p>
            <a:pPr>
              <a:buNone/>
            </a:pPr>
            <a:r>
              <a:rPr lang="en-US" smtClean="0"/>
              <a:t>     &lt;/SCRIPT&gt;</a:t>
            </a:r>
          </a:p>
          <a:p>
            <a:pPr>
              <a:buNone/>
            </a:pPr>
            <a:r>
              <a:rPr lang="en-US" smtClean="0"/>
              <a:t>   &lt;/HEAD&gt;</a:t>
            </a:r>
          </a:p>
          <a:p>
            <a:pPr>
              <a:buNone/>
            </a:pPr>
            <a:r>
              <a:rPr lang="en-US" smtClean="0"/>
              <a:t>  &lt;/HTML&gt;</a:t>
            </a:r>
            <a:endParaRPr lang="en-US" dirty="0" smtClean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05576" y="1295400"/>
            <a:ext cx="2327971" cy="1406236"/>
          </a:xfrm>
          <a:prstGeom prst="rect">
            <a:avLst/>
          </a:prstGeom>
          <a:noFill/>
          <a:ln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05576" y="2784764"/>
            <a:ext cx="2327971" cy="1406236"/>
          </a:xfrm>
          <a:prstGeom prst="rect">
            <a:avLst/>
          </a:prstGeom>
          <a:noFill/>
          <a:ln/>
        </p:spPr>
      </p:pic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77000" y="4267200"/>
            <a:ext cx="245795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Variables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Variables are used to hold data in memory. JavaScript variables are declared with the var keyword or not var keyword.</a:t>
            </a:r>
          </a:p>
          <a:p>
            <a:r>
              <a:rPr lang="en-US" smtClean="0"/>
              <a:t>Rules for JavaScript variable names:</a:t>
            </a:r>
          </a:p>
          <a:p>
            <a:pPr lvl="1"/>
            <a:r>
              <a:rPr lang="en-US" smtClean="0"/>
              <a:t>Variable names are case sensitive (y and Y are two different variables)</a:t>
            </a:r>
          </a:p>
          <a:p>
            <a:pPr lvl="1"/>
            <a:r>
              <a:rPr lang="en-US" smtClean="0"/>
              <a:t>Variable names must begin with a letter or the underscore character</a:t>
            </a:r>
          </a:p>
          <a:p>
            <a:pPr lvl="1"/>
            <a:r>
              <a:rPr lang="en-US" smtClean="0"/>
              <a:t>var age = 34;</a:t>
            </a:r>
          </a:p>
          <a:p>
            <a:pPr lvl="1"/>
            <a:r>
              <a:rPr lang="en-US" smtClean="0"/>
              <a:t>age = 34;</a:t>
            </a:r>
          </a:p>
          <a:p>
            <a:pPr lvl="1"/>
            <a:r>
              <a:rPr lang="en-US" smtClean="0"/>
              <a:t>var age, height;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data types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JavaScript has a relatively small set of data types.</a:t>
            </a:r>
          </a:p>
          <a:p>
            <a:pPr lvl="1"/>
            <a:r>
              <a:rPr lang="en-US" smtClean="0"/>
              <a:t> Numbers</a:t>
            </a:r>
          </a:p>
          <a:p>
            <a:pPr lvl="1"/>
            <a:r>
              <a:rPr lang="en-US" smtClean="0"/>
              <a:t>Logical or Boolean</a:t>
            </a:r>
          </a:p>
          <a:p>
            <a:pPr lvl="1"/>
            <a:r>
              <a:rPr lang="en-US" smtClean="0"/>
              <a:t>Strings</a:t>
            </a:r>
          </a:p>
          <a:p>
            <a:pPr lvl="1"/>
            <a:r>
              <a:rPr lang="en-US" smtClean="0"/>
              <a:t>Null</a:t>
            </a:r>
          </a:p>
          <a:p>
            <a:r>
              <a:rPr lang="en-US" smtClean="0"/>
              <a:t>JavaScript is case-sensitive.</a:t>
            </a:r>
          </a:p>
          <a:p>
            <a:r>
              <a:rPr lang="en-US" smtClean="0"/>
              <a:t>In JavaScript, two variables of different types can be combined.  </a:t>
            </a:r>
          </a:p>
          <a:p>
            <a:r>
              <a:rPr lang="en-US" smtClean="0"/>
              <a:t>example: A = “ This apple costs Rs.” + 5</a:t>
            </a:r>
          </a:p>
          <a:p>
            <a:r>
              <a:rPr lang="en-US" smtClean="0"/>
              <a:t>will result in a string: "This apple costs Rs.5"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Array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An array is a special variable, which can hold more than one value, at a time.</a:t>
            </a:r>
          </a:p>
          <a:p>
            <a:r>
              <a:rPr lang="en-US" smtClean="0"/>
              <a:t>At its simplest, an array can be thought of as a list. </a:t>
            </a:r>
          </a:p>
          <a:p>
            <a:r>
              <a:rPr lang="en-US" smtClean="0"/>
              <a:t>In JavaScript, the first element of an array is considered to be at position zero (0), the second element at position one (1), and so on. </a:t>
            </a:r>
          </a:p>
          <a:p>
            <a:r>
              <a:rPr lang="en-US" smtClean="0"/>
              <a:t>Arrays are useful for storing data of similar types.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Create an Array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An array can be defined in three ways.</a:t>
            </a:r>
          </a:p>
          <a:p>
            <a:r>
              <a:rPr lang="en-US" smtClean="0"/>
              <a:t>The following code creates an Array object called myCars:</a:t>
            </a:r>
          </a:p>
          <a:p>
            <a:r>
              <a:rPr lang="en-US" smtClean="0"/>
              <a:t>1:</a:t>
            </a:r>
          </a:p>
          <a:p>
            <a:pPr lvl="1">
              <a:buNone/>
            </a:pPr>
            <a:r>
              <a:rPr lang="en-US" smtClean="0"/>
              <a:t>var myCars=new Array(); // regular array (add an optional integer</a:t>
            </a:r>
          </a:p>
          <a:p>
            <a:pPr lvl="1">
              <a:buNone/>
            </a:pPr>
            <a:r>
              <a:rPr lang="en-US" smtClean="0"/>
              <a:t>myCars[0]="Saab";       // argument to control array's size)</a:t>
            </a:r>
          </a:p>
          <a:p>
            <a:pPr lvl="1">
              <a:buNone/>
            </a:pPr>
            <a:r>
              <a:rPr lang="en-US" smtClean="0"/>
              <a:t>myCars[1]="Volvo";</a:t>
            </a:r>
          </a:p>
          <a:p>
            <a:pPr lvl="1">
              <a:buNone/>
            </a:pPr>
            <a:r>
              <a:rPr lang="en-US" smtClean="0"/>
              <a:t>myCars[2]="BMW";</a:t>
            </a:r>
          </a:p>
          <a:p>
            <a:r>
              <a:rPr lang="en-US" smtClean="0"/>
              <a:t>2:</a:t>
            </a:r>
          </a:p>
          <a:p>
            <a:pPr>
              <a:buNone/>
            </a:pPr>
            <a:r>
              <a:rPr lang="en-US" smtClean="0"/>
              <a:t>	var myCars=new Array("Saab","Volvo","BMW"); // condensed array</a:t>
            </a:r>
          </a:p>
          <a:p>
            <a:r>
              <a:rPr lang="en-US" smtClean="0"/>
              <a:t>3:</a:t>
            </a:r>
          </a:p>
          <a:p>
            <a:pPr>
              <a:buNone/>
            </a:pPr>
            <a:r>
              <a:rPr lang="en-US" smtClean="0"/>
              <a:t>	var myCars=["Saab","Volvo","BMW"]; // literal array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Access an Array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You can refer to a particular element in an array by referring to the name of the array and the index number. The index number starts at 0.</a:t>
            </a:r>
          </a:p>
          <a:p>
            <a:r>
              <a:rPr lang="en-US" smtClean="0"/>
              <a:t>The following code line:</a:t>
            </a:r>
          </a:p>
          <a:p>
            <a:pPr>
              <a:buNone/>
            </a:pPr>
            <a:r>
              <a:rPr lang="en-US" smtClean="0"/>
              <a:t>	document.write(myCars[0]); will result in the following output: Saab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Operators take one or more variables or values (operands) and return a new value. </a:t>
            </a:r>
          </a:p>
          <a:p>
            <a:r>
              <a:rPr lang="en-US" smtClean="0"/>
              <a:t>JavaScript uses both binary and unary operators. </a:t>
            </a:r>
          </a:p>
          <a:p>
            <a:r>
              <a:rPr lang="en-US" smtClean="0"/>
              <a:t>Operators are classified depending on the relation they perform like:</a:t>
            </a:r>
          </a:p>
          <a:p>
            <a:pPr lvl="1"/>
            <a:r>
              <a:rPr lang="en-US" smtClean="0"/>
              <a:t>Arithmetic Operator</a:t>
            </a:r>
          </a:p>
          <a:p>
            <a:pPr lvl="1"/>
            <a:r>
              <a:rPr lang="en-US" smtClean="0"/>
              <a:t>Assignment Operator</a:t>
            </a:r>
          </a:p>
          <a:p>
            <a:pPr lvl="1"/>
            <a:r>
              <a:rPr lang="en-US" smtClean="0"/>
              <a:t>Comparison Operator</a:t>
            </a:r>
          </a:p>
          <a:p>
            <a:pPr lvl="1"/>
            <a:r>
              <a:rPr lang="en-US" smtClean="0"/>
              <a:t>Logical Operator</a:t>
            </a:r>
          </a:p>
          <a:p>
            <a:pPr lvl="1"/>
            <a:r>
              <a:rPr lang="en-US" smtClean="0"/>
              <a:t>String Operator</a:t>
            </a:r>
          </a:p>
          <a:p>
            <a:pPr lvl="1"/>
            <a:r>
              <a:rPr lang="en-US" smtClean="0"/>
              <a:t>Evaluation Operator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Arithmetic Operators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609600" y="2514600"/>
          <a:ext cx="7543800" cy="3505196"/>
        </p:xfrm>
        <a:graphic>
          <a:graphicData uri="http://schemas.openxmlformats.org/drawingml/2006/table">
            <a:tbl>
              <a:tblPr/>
              <a:tblGrid>
                <a:gridCol w="1597511"/>
                <a:gridCol w="2551579"/>
                <a:gridCol w="1885950"/>
                <a:gridCol w="1508760"/>
              </a:tblGrid>
              <a:tr h="400594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Addition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x=y+2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Subtraction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x=y-2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Multiplication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x=y*2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Division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x=y/2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x=2.5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01038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%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Modulus (division remainder)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x=y%2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++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Increment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x=++y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--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Decrement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x=--y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x=4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09600" y="14478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Arithmetic operators are used to perform arithmetic between variables and/or values.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Given that </a:t>
            </a:r>
            <a:r>
              <a:rPr lang="en-US" b="1" dirty="0" smtClean="0">
                <a:solidFill>
                  <a:schemeClr val="bg1"/>
                </a:solidFill>
              </a:rPr>
              <a:t>y=5</a:t>
            </a:r>
            <a:r>
              <a:rPr lang="en-US" dirty="0" smtClean="0">
                <a:solidFill>
                  <a:schemeClr val="bg1"/>
                </a:solidFill>
              </a:rPr>
              <a:t>, the table below explains the arithmetic operators: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Assignment Operators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Assignment operators are used to assign values to JavaScript variables.</a:t>
            </a:r>
          </a:p>
          <a:p>
            <a:r>
              <a:rPr lang="en-US" sz="2400" smtClean="0"/>
              <a:t>Given that x=10 and y=5, the table below explains the assignment operators:</a:t>
            </a:r>
          </a:p>
          <a:p>
            <a:endParaRPr lang="en-US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00400"/>
          <a:ext cx="7467600" cy="3505201"/>
        </p:xfrm>
        <a:graphic>
          <a:graphicData uri="http://schemas.openxmlformats.org/drawingml/2006/table">
            <a:tbl>
              <a:tblPr/>
              <a:tblGrid>
                <a:gridCol w="1120140"/>
                <a:gridCol w="2987040"/>
                <a:gridCol w="1866900"/>
                <a:gridCol w="1493520"/>
              </a:tblGrid>
              <a:tr h="791497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Same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x=5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+=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x+=y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x=x+y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x=15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-=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x-=y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x=x-y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*=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x*=y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x=x*y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/=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x/=y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x=x/y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28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%=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x%=y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x=x%y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x=0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Comparison Operators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Comparison operators are used in logical statements to determine equality or difference between variables or values. </a:t>
            </a:r>
          </a:p>
          <a:p>
            <a:r>
              <a:rPr lang="en-US" sz="2400" smtClean="0"/>
              <a:t>Given that x=5, the table below explains the comparison operators:</a:t>
            </a:r>
            <a:endParaRPr lang="en-US" sz="2400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971798"/>
          <a:ext cx="7315200" cy="3810002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2926080"/>
              </a:tblGrid>
              <a:tr h="701842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==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is equal to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x==8 is false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0184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===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is exactly equal to (value and type)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x===5 is true</a:t>
                      </a:r>
                      <a:br>
                        <a:rPr lang="en-US">
                          <a:solidFill>
                            <a:srgbClr val="FF0000"/>
                          </a:solidFill>
                        </a:rPr>
                      </a:br>
                      <a:r>
                        <a:rPr lang="en-US">
                          <a:solidFill>
                            <a:srgbClr val="FF0000"/>
                          </a:solidFill>
                        </a:rPr>
                        <a:t>x==="5" is 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!=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is not equal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x!=8 is 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&gt;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is greater than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x&gt;8 is 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&lt;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is less than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x&lt;8 is 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&gt;=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is greater than or equal to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x&gt;=8 is false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105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&lt;=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is less than or equal to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x&lt;=8 is true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Logical operators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Logical operators are typically used to combine multiple comparisons into a conditional expression. </a:t>
            </a:r>
          </a:p>
          <a:p>
            <a:r>
              <a:rPr lang="en-US" smtClean="0"/>
              <a:t>It includes: </a:t>
            </a:r>
            <a:endParaRPr lang="en-US" dirty="0" smtClean="0"/>
          </a:p>
        </p:txBody>
      </p:sp>
      <p:pic>
        <p:nvPicPr>
          <p:cNvPr id="10" name="Picture 83"/>
          <p:cNvPicPr>
            <a:picLocks noChangeAspect="1" noChangeArrowheads="1"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685800" y="3733800"/>
            <a:ext cx="8303440" cy="2438400"/>
          </a:xfrm>
          <a:prstGeom prst="rect">
            <a:avLst/>
          </a:prstGeom>
          <a:solidFill>
            <a:srgbClr val="CCFFFF"/>
          </a:solidFill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String operators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string operator takes two string operators as operands and creates a new string, which is same, as the two original strings run together. </a:t>
            </a:r>
          </a:p>
          <a:p>
            <a:r>
              <a:rPr lang="en-US" smtClean="0"/>
              <a:t>Sample:</a:t>
            </a:r>
          </a:p>
          <a:p>
            <a:pPr lvl="1">
              <a:buNone/>
            </a:pPr>
            <a:r>
              <a:rPr lang="en-US" smtClean="0"/>
              <a:t>x = ‘yellow’;</a:t>
            </a:r>
          </a:p>
          <a:p>
            <a:pPr lvl="1">
              <a:buNone/>
            </a:pPr>
            <a:r>
              <a:rPr lang="en-US" smtClean="0"/>
              <a:t>y = ‘green’;</a:t>
            </a:r>
          </a:p>
          <a:p>
            <a:pPr lvl="1">
              <a:buNone/>
            </a:pPr>
            <a:r>
              <a:rPr lang="en-US" smtClean="0"/>
              <a:t>z = x + y + ‘white’; which means z is “yellowgreenwhite”</a:t>
            </a:r>
          </a:p>
          <a:p>
            <a:pPr lvl="1">
              <a:buNone/>
            </a:pPr>
            <a:r>
              <a:rPr lang="en-US" smtClean="0"/>
              <a:t>w = y + 9, which means w is “green9”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Evaluation Operator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These operators generally includes:</a:t>
            </a:r>
          </a:p>
          <a:p>
            <a:r>
              <a:rPr lang="en-US" smtClean="0"/>
              <a:t>Conditional operator </a:t>
            </a:r>
          </a:p>
          <a:p>
            <a:pPr>
              <a:buNone/>
            </a:pPr>
            <a:r>
              <a:rPr lang="en-US" smtClean="0"/>
              <a:t>		(condition) ? trueVal : falseVal </a:t>
            </a:r>
          </a:p>
          <a:p>
            <a:r>
              <a:rPr lang="en-US" smtClean="0"/>
              <a:t>	Assigns a specified value to a variable if a condition is true, otherwise  assigns an alternate value if condition is false.  </a:t>
            </a:r>
          </a:p>
          <a:p>
            <a:pPr>
              <a:buNone/>
            </a:pPr>
            <a:r>
              <a:rPr lang="en-US" smtClean="0"/>
              <a:t>		status = (age &gt;= 18) ? "adult" : "minor"</a:t>
            </a:r>
          </a:p>
          <a:p>
            <a:r>
              <a:rPr lang="en-US" smtClean="0"/>
              <a:t>Typeof operator</a:t>
            </a:r>
          </a:p>
          <a:p>
            <a:r>
              <a:rPr lang="en-US" smtClean="0"/>
              <a:t>	The typeof operator returns a string indicating the type of the operand.</a:t>
            </a:r>
          </a:p>
          <a:p>
            <a:pPr lvl="2">
              <a:buNone/>
            </a:pPr>
            <a:r>
              <a:rPr lang="en-US" smtClean="0"/>
              <a:t>var x = 5;</a:t>
            </a:r>
          </a:p>
          <a:p>
            <a:pPr lvl="2">
              <a:buNone/>
            </a:pPr>
            <a:r>
              <a:rPr lang="en-US" smtClean="0"/>
              <a:t>document.write(typeof(x));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Expressions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Expressions are used to manipulate and evaluate variables in different contexts.</a:t>
            </a:r>
          </a:p>
          <a:p>
            <a:r>
              <a:rPr lang="en-US" smtClean="0"/>
              <a:t>An expression is any valid set of literals, variables, and operators which evaluates to a single value. </a:t>
            </a:r>
          </a:p>
          <a:p>
            <a:r>
              <a:rPr lang="en-US" smtClean="0"/>
              <a:t>Expression types available in JavaScript includes:</a:t>
            </a:r>
          </a:p>
          <a:p>
            <a:pPr lvl="1"/>
            <a:r>
              <a:rPr lang="en-US" smtClean="0"/>
              <a:t>Arithmetic: evaluates to a number</a:t>
            </a:r>
          </a:p>
          <a:p>
            <a:pPr lvl="1"/>
            <a:r>
              <a:rPr lang="en-US" smtClean="0"/>
              <a:t>Logical: evaluates to a boolean value</a:t>
            </a:r>
          </a:p>
          <a:p>
            <a:pPr lvl="1"/>
            <a:r>
              <a:rPr lang="en-US" smtClean="0"/>
              <a:t>String: evaluates to a string</a:t>
            </a:r>
          </a:p>
          <a:p>
            <a:r>
              <a:rPr lang="en-US" smtClean="0"/>
              <a:t>Expressions combine variables and literals together via operators.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Functions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To keep the browser from executing a script when the page loads, you can put your script into a function.</a:t>
            </a:r>
          </a:p>
          <a:p>
            <a:r>
              <a:rPr lang="en-US" smtClean="0"/>
              <a:t>A function contains code that will be executed by an event or by a call to the function.</a:t>
            </a:r>
          </a:p>
          <a:p>
            <a:r>
              <a:rPr lang="en-US" smtClean="0"/>
              <a:t>Syntax:</a:t>
            </a:r>
          </a:p>
          <a:p>
            <a:pPr>
              <a:buNone/>
            </a:pPr>
            <a:r>
              <a:rPr lang="en-US" smtClean="0"/>
              <a:t>	function functionname(var1,var2,...,varX)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some code</a:t>
            </a:r>
            <a:br>
              <a:rPr lang="en-US" smtClean="0"/>
            </a:br>
            <a:r>
              <a:rPr lang="en-US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function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 &lt;title&gt;JavaScript Simple Functions&lt;/title&gt;</a:t>
            </a:r>
          </a:p>
          <a:p>
            <a:pPr>
              <a:buNone/>
            </a:pPr>
            <a:r>
              <a:rPr lang="en-US" smtClean="0"/>
              <a:t> &lt;script type="text/javascript"&gt;</a:t>
            </a:r>
          </a:p>
          <a:p>
            <a:pPr>
              <a:buNone/>
            </a:pPr>
            <a:r>
              <a:rPr lang="en-US" smtClean="0"/>
              <a:t> function changeBgRed(){</a:t>
            </a:r>
          </a:p>
          <a:p>
            <a:pPr>
              <a:buNone/>
            </a:pPr>
            <a:r>
              <a:rPr lang="en-US" smtClean="0"/>
              <a:t> document.bgColor = "red";</a:t>
            </a:r>
          </a:p>
          <a:p>
            <a:pPr>
              <a:buNone/>
            </a:pPr>
            <a:r>
              <a:rPr lang="en-US" smtClean="0"/>
              <a:t> }</a:t>
            </a:r>
          </a:p>
          <a:p>
            <a:pPr>
              <a:buNone/>
            </a:pPr>
            <a:r>
              <a:rPr lang="en-US" smtClean="0"/>
              <a:t>&lt;/script&gt;</a:t>
            </a:r>
          </a:p>
          <a:p>
            <a:pPr>
              <a:buNone/>
            </a:pPr>
            <a:r>
              <a:rPr lang="en-US" smtClean="0"/>
              <a:t>&lt;/head&gt;</a:t>
            </a:r>
          </a:p>
          <a:p>
            <a:pPr>
              <a:buNone/>
            </a:pPr>
            <a:r>
              <a:rPr lang="en-US" smtClean="0"/>
              <a:t>&lt;body&gt;</a:t>
            </a:r>
          </a:p>
          <a:p>
            <a:pPr>
              <a:buNone/>
            </a:pPr>
            <a:r>
              <a:rPr lang="en-US" smtClean="0"/>
              <a:t>&lt;p align="center"&gt;</a:t>
            </a:r>
          </a:p>
          <a:p>
            <a:pPr>
              <a:buNone/>
            </a:pPr>
            <a:r>
              <a:rPr lang="en-US" smtClean="0"/>
              <a:t> &lt;span onclick="changeBgRed();"&gt;Red&lt;/span&gt; </a:t>
            </a:r>
          </a:p>
          <a:p>
            <a:pPr>
              <a:buNone/>
            </a:pPr>
            <a:r>
              <a:rPr lang="en-US" smtClean="0"/>
              <a:t>&lt;/p&gt;</a:t>
            </a:r>
          </a:p>
          <a:p>
            <a:pPr>
              <a:buNone/>
            </a:pPr>
            <a:r>
              <a:rPr lang="en-US" smtClean="0"/>
              <a:t>&lt;/body&gt;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524000"/>
            <a:ext cx="2819400" cy="4956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Statements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If...else Statement</a:t>
            </a:r>
          </a:p>
          <a:p>
            <a:r>
              <a:rPr lang="en-US" smtClean="0"/>
              <a:t>	Use the if....else statement to execute some code if a condition is true and another code if the condition is not true.</a:t>
            </a:r>
          </a:p>
          <a:p>
            <a:r>
              <a:rPr lang="en-US" smtClean="0"/>
              <a:t>Syntax</a:t>
            </a:r>
          </a:p>
          <a:p>
            <a:pPr>
              <a:buNone/>
            </a:pPr>
            <a:r>
              <a:rPr lang="en-US" smtClean="0"/>
              <a:t>	 if (condition)</a:t>
            </a:r>
            <a:br>
              <a:rPr lang="en-US" smtClean="0"/>
            </a:br>
            <a:r>
              <a:rPr lang="en-US" smtClean="0"/>
              <a:t>  {</a:t>
            </a:r>
            <a:br>
              <a:rPr lang="en-US" smtClean="0"/>
            </a:br>
            <a:r>
              <a:rPr lang="en-US" smtClean="0"/>
              <a:t>  code to be executed if condition is true</a:t>
            </a:r>
            <a:br>
              <a:rPr lang="en-US" smtClean="0"/>
            </a:br>
            <a:r>
              <a:rPr lang="en-US" smtClean="0"/>
              <a:t>  }</a:t>
            </a:r>
            <a:br>
              <a:rPr lang="en-US" smtClean="0"/>
            </a:br>
            <a:r>
              <a:rPr lang="en-US" smtClean="0"/>
              <a:t>else</a:t>
            </a:r>
            <a:br>
              <a:rPr lang="en-US" smtClean="0"/>
            </a:br>
            <a:r>
              <a:rPr lang="en-US" smtClean="0"/>
              <a:t>  {</a:t>
            </a:r>
            <a:br>
              <a:rPr lang="en-US" smtClean="0"/>
            </a:br>
            <a:r>
              <a:rPr lang="en-US" smtClean="0"/>
              <a:t>  code to be executed if condition is not true</a:t>
            </a:r>
            <a:br>
              <a:rPr lang="en-US" smtClean="0"/>
            </a:br>
            <a:r>
              <a:rPr lang="en-US" smtClean="0"/>
              <a:t>  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Statements (cont)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JavaScript Switch Statement</a:t>
            </a:r>
          </a:p>
          <a:p>
            <a:r>
              <a:rPr lang="en-US" smtClean="0"/>
              <a:t>	Use the switch statement to select one of many blocks of code to be executed.</a:t>
            </a:r>
          </a:p>
          <a:p>
            <a:r>
              <a:rPr lang="en-US" smtClean="0"/>
              <a:t>Syntax:</a:t>
            </a:r>
          </a:p>
          <a:p>
            <a:endParaRPr lang="en-US" dirty="0" smtClean="0"/>
          </a:p>
        </p:txBody>
      </p:sp>
      <p:sp>
        <p:nvSpPr>
          <p:cNvPr id="10" name="Rectangle 9"/>
          <p:cNvSpPr/>
          <p:nvPr/>
        </p:nvSpPr>
        <p:spPr>
          <a:xfrm>
            <a:off x="2362200" y="3352800"/>
            <a:ext cx="6172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switch(n)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{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case 1: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i="1" dirty="0" smtClean="0">
                <a:solidFill>
                  <a:schemeClr val="bg1"/>
                </a:solidFill>
              </a:rPr>
              <a:t>  execute code block 1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  break;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case 2: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i="1" dirty="0" smtClean="0">
                <a:solidFill>
                  <a:schemeClr val="bg1"/>
                </a:solidFill>
              </a:rPr>
              <a:t>  execute code block 2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  break;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default: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i="1" dirty="0" smtClean="0">
                <a:solidFill>
                  <a:schemeClr val="bg1"/>
                </a:solidFill>
              </a:rPr>
              <a:t>  code to be executed if n is different from case 1 and 2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}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switch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var d=new Date();</a:t>
            </a:r>
            <a:br>
              <a:rPr lang="en-US" smtClean="0"/>
            </a:br>
            <a:r>
              <a:rPr lang="en-US" smtClean="0"/>
              <a:t>theDay=d.getDay();</a:t>
            </a:r>
            <a:br>
              <a:rPr lang="en-US" smtClean="0"/>
            </a:br>
            <a:r>
              <a:rPr lang="en-US" smtClean="0"/>
              <a:t>switch (theDay)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case 5:</a:t>
            </a:r>
            <a:br>
              <a:rPr lang="en-US" smtClean="0"/>
            </a:br>
            <a:r>
              <a:rPr lang="en-US" smtClean="0"/>
              <a:t>  document.write("Finally Friday");</a:t>
            </a:r>
            <a:br>
              <a:rPr lang="en-US" smtClean="0"/>
            </a:br>
            <a:r>
              <a:rPr lang="en-US" smtClean="0"/>
              <a:t>  break;</a:t>
            </a:r>
            <a:br>
              <a:rPr lang="en-US" smtClean="0"/>
            </a:br>
            <a:r>
              <a:rPr lang="en-US" smtClean="0"/>
              <a:t>case 6:</a:t>
            </a:r>
            <a:br>
              <a:rPr lang="en-US" smtClean="0"/>
            </a:br>
            <a:r>
              <a:rPr lang="en-US" smtClean="0"/>
              <a:t>  document.write("Super Saturday");</a:t>
            </a:r>
            <a:br>
              <a:rPr lang="en-US" smtClean="0"/>
            </a:br>
            <a:r>
              <a:rPr lang="en-US" smtClean="0"/>
              <a:t>  break;</a:t>
            </a:r>
            <a:br>
              <a:rPr lang="en-US" smtClean="0"/>
            </a:br>
            <a:r>
              <a:rPr lang="en-US" smtClean="0"/>
              <a:t>case 0:</a:t>
            </a:r>
            <a:br>
              <a:rPr lang="en-US" smtClean="0"/>
            </a:br>
            <a:r>
              <a:rPr lang="en-US" smtClean="0"/>
              <a:t>  document.write("Sleepy Sunday");</a:t>
            </a:r>
            <a:br>
              <a:rPr lang="en-US" smtClean="0"/>
            </a:br>
            <a:r>
              <a:rPr lang="en-US" smtClean="0"/>
              <a:t>  break;</a:t>
            </a:r>
            <a:br>
              <a:rPr lang="en-US" smtClean="0"/>
            </a:br>
            <a:r>
              <a:rPr lang="en-US" smtClean="0"/>
              <a:t>default:</a:t>
            </a:r>
            <a:br>
              <a:rPr lang="en-US" smtClean="0"/>
            </a:br>
            <a:r>
              <a:rPr lang="en-US" smtClean="0"/>
              <a:t>  document.write("I'm looking forward to this weekend!");</a:t>
            </a:r>
            <a:br>
              <a:rPr lang="en-US" smtClean="0"/>
            </a:br>
            <a:r>
              <a:rPr lang="en-US" smtClean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Loops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JavaScript, there are two different kind of loops:</a:t>
            </a:r>
          </a:p>
          <a:p>
            <a:pPr lvl="1"/>
            <a:r>
              <a:rPr lang="en-US" smtClean="0"/>
              <a:t>for - loops through a block of code a specified number of times</a:t>
            </a:r>
          </a:p>
          <a:p>
            <a:pPr lvl="1"/>
            <a:r>
              <a:rPr lang="en-US" smtClean="0"/>
              <a:t>while - loops through a block of code while a specified condition is true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for Loop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Syntax:</a:t>
            </a:r>
          </a:p>
          <a:p>
            <a:pPr>
              <a:buNone/>
            </a:pPr>
            <a:r>
              <a:rPr lang="en-US" smtClean="0"/>
              <a:t>for (initial; condition; increment)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	code to be executed</a:t>
            </a:r>
            <a:br>
              <a:rPr lang="en-US" smtClean="0"/>
            </a:br>
            <a:r>
              <a:rPr lang="en-US" smtClean="0"/>
              <a:t>}</a:t>
            </a:r>
          </a:p>
          <a:p>
            <a:r>
              <a:rPr lang="en-US" smtClean="0"/>
              <a:t>Sample:</a:t>
            </a:r>
          </a:p>
          <a:p>
            <a:pPr>
              <a:buNone/>
            </a:pPr>
            <a:r>
              <a:rPr lang="en-US" smtClean="0"/>
              <a:t>	var i=0;</a:t>
            </a:r>
            <a:br>
              <a:rPr lang="en-US" smtClean="0"/>
            </a:br>
            <a:r>
              <a:rPr lang="en-US" smtClean="0"/>
              <a:t>for (i=0;i&lt;=5;i++)</a:t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	document.write("The number is " + i);</a:t>
            </a:r>
            <a:br>
              <a:rPr lang="en-US" smtClean="0"/>
            </a:br>
            <a:r>
              <a:rPr lang="en-US" smtClean="0"/>
              <a:t>	document.write("&lt;br /&gt;");</a:t>
            </a:r>
            <a:br>
              <a:rPr lang="en-US" smtClean="0"/>
            </a:br>
            <a:r>
              <a:rPr lang="en-US" smtClean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while Loop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while loop loops through a block of code while a specified condition is true.</a:t>
            </a:r>
          </a:p>
          <a:p>
            <a:r>
              <a:rPr lang="en-US" smtClean="0"/>
              <a:t>Syntax</a:t>
            </a:r>
          </a:p>
          <a:p>
            <a:pPr>
              <a:buNone/>
            </a:pPr>
            <a:r>
              <a:rPr lang="en-US" smtClean="0"/>
              <a:t>	while (conditions)</a:t>
            </a:r>
            <a:br>
              <a:rPr lang="en-US" smtClean="0"/>
            </a:br>
            <a:r>
              <a:rPr lang="en-US" smtClean="0"/>
              <a:t>  {</a:t>
            </a:r>
            <a:br>
              <a:rPr lang="en-US" smtClean="0"/>
            </a:br>
            <a:r>
              <a:rPr lang="en-US" smtClean="0"/>
              <a:t>  	code to be executed</a:t>
            </a:r>
            <a:br>
              <a:rPr lang="en-US" smtClean="0"/>
            </a:br>
            <a:r>
              <a:rPr lang="en-US" smtClean="0"/>
              <a:t>  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while Loop (cont..)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Unlike with while loops, the statements in do...while loops will always execute at least one time because the conditions are not checked until the end of each iteration.</a:t>
            </a:r>
          </a:p>
          <a:p>
            <a:r>
              <a:rPr lang="en-US" smtClean="0"/>
              <a:t>Syntax:</a:t>
            </a:r>
          </a:p>
          <a:p>
            <a:pPr lvl="1">
              <a:buNone/>
            </a:pPr>
            <a:r>
              <a:rPr lang="en-US" smtClean="0"/>
              <a:t>do {</a:t>
            </a:r>
          </a:p>
          <a:p>
            <a:pPr lvl="1">
              <a:buNone/>
            </a:pPr>
            <a:r>
              <a:rPr lang="en-US" smtClean="0"/>
              <a:t> statements;</a:t>
            </a:r>
          </a:p>
          <a:p>
            <a:pPr lvl="1">
              <a:buNone/>
            </a:pPr>
            <a:r>
              <a:rPr lang="en-US" smtClean="0"/>
              <a:t>} while (conditions);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JavaScript can enhance the dynamics and interactivity of the site by using its effects.</a:t>
            </a:r>
          </a:p>
          <a:p>
            <a:pPr lvl="1"/>
            <a:r>
              <a:rPr lang="en-GB" smtClean="0"/>
              <a:t>Provide User Interaction</a:t>
            </a:r>
            <a:endParaRPr lang="en-US" smtClean="0"/>
          </a:p>
          <a:p>
            <a:pPr lvl="1"/>
            <a:r>
              <a:rPr lang="en-GB" smtClean="0"/>
              <a:t>Dynamically Change Content</a:t>
            </a:r>
            <a:endParaRPr lang="en-US" smtClean="0"/>
          </a:p>
          <a:p>
            <a:pPr lvl="1"/>
            <a:r>
              <a:rPr lang="en-GB" smtClean="0"/>
              <a:t>Validate data</a:t>
            </a:r>
            <a:endParaRPr lang="en-US" smtClean="0"/>
          </a:p>
          <a:p>
            <a:r>
              <a:rPr lang="en-US" smtClean="0"/>
              <a:t>JavaScript variables are declared with the var keyword or not var keyword.</a:t>
            </a:r>
          </a:p>
          <a:p>
            <a:r>
              <a:rPr lang="en-US" smtClean="0"/>
              <a:t>An array is a grouping of objects that can be accessed through subscripts</a:t>
            </a:r>
          </a:p>
          <a:p>
            <a:r>
              <a:rPr lang="en-US" smtClean="0"/>
              <a:t>A function is written using the function keyword followed by the name of the function.</a:t>
            </a:r>
          </a:p>
          <a:p>
            <a:r>
              <a:rPr lang="en-US" smtClean="0"/>
              <a:t>There are two types of conditionals in JavaScript.</a:t>
            </a:r>
          </a:p>
          <a:p>
            <a:pPr lvl="1"/>
            <a:r>
              <a:rPr lang="en-US" smtClean="0"/>
              <a:t>if - else if - else </a:t>
            </a:r>
          </a:p>
          <a:p>
            <a:pPr lvl="1"/>
            <a:r>
              <a:rPr lang="en-US" smtClean="0"/>
              <a:t>switch / case </a:t>
            </a:r>
          </a:p>
          <a:p>
            <a:r>
              <a:rPr lang="en-US" smtClean="0"/>
              <a:t>There are several types of loops in JavaScript.</a:t>
            </a:r>
          </a:p>
          <a:p>
            <a:pPr lvl="1"/>
            <a:r>
              <a:rPr lang="en-US" smtClean="0"/>
              <a:t>while </a:t>
            </a:r>
          </a:p>
          <a:p>
            <a:pPr lvl="1"/>
            <a:r>
              <a:rPr lang="en-US" smtClean="0"/>
              <a:t>for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2763</TotalTime>
  <Words>1345</Words>
  <Application>Microsoft Office PowerPoint</Application>
  <PresentationFormat>On-screen Show (4:3)</PresentationFormat>
  <Paragraphs>277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Exam Notes</vt:lpstr>
      <vt:lpstr>WEB AUTHORING:  DW, PHP, MYSQL</vt:lpstr>
      <vt:lpstr>OBJECTIVES</vt:lpstr>
      <vt:lpstr>Introduction to Javascript</vt:lpstr>
      <vt:lpstr>What can a JavaScript do?</vt:lpstr>
      <vt:lpstr>Embedding JavaScript into HTML</vt:lpstr>
      <vt:lpstr>A Javascript sample</vt:lpstr>
      <vt:lpstr>Variables</vt:lpstr>
      <vt:lpstr>Javascript data types</vt:lpstr>
      <vt:lpstr>Array</vt:lpstr>
      <vt:lpstr>Create an Array</vt:lpstr>
      <vt:lpstr>Access an Array</vt:lpstr>
      <vt:lpstr>Operators</vt:lpstr>
      <vt:lpstr>JavaScript Arithmetic Operators</vt:lpstr>
      <vt:lpstr>JavaScript Assignment Operators</vt:lpstr>
      <vt:lpstr>Comparison Operators</vt:lpstr>
      <vt:lpstr>Logical operators</vt:lpstr>
      <vt:lpstr>String operators</vt:lpstr>
      <vt:lpstr>Evaluation Operator</vt:lpstr>
      <vt:lpstr>Expressions</vt:lpstr>
      <vt:lpstr>Functions</vt:lpstr>
      <vt:lpstr>A function sample</vt:lpstr>
      <vt:lpstr>Conditional Statements</vt:lpstr>
      <vt:lpstr>Conditional Statements (cont)</vt:lpstr>
      <vt:lpstr>A switch sample</vt:lpstr>
      <vt:lpstr>JavaScript Loops</vt:lpstr>
      <vt:lpstr>The for Loop</vt:lpstr>
      <vt:lpstr>The while Loop</vt:lpstr>
      <vt:lpstr>The while Loop (cont..)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138</cp:revision>
  <dcterms:created xsi:type="dcterms:W3CDTF">2008-09-22T06:35:02Z</dcterms:created>
  <dcterms:modified xsi:type="dcterms:W3CDTF">2011-12-29T07:52:45Z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