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FDEB755-EC67-45E6-879B-61F3C8F7A97B}" type="datetimeFigureOut">
              <a:rPr lang="en-US" smtClean="0"/>
              <a:t>8/12/2012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E4EFC1D-30C0-4100-98BB-1522CD7B9D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 quan Mô hình Client/Server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smtClean="0"/>
              <a:t>Mạng Internet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Mạng của các mạng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Không chủ sở hữu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Sử dụng giao thức TCP/IP</a:t>
            </a:r>
            <a:endParaRPr lang="vi-VN" sz="2000" smtClean="0"/>
          </a:p>
          <a:p>
            <a:r>
              <a:rPr lang="en-US" sz="2400" b="1" smtClean="0"/>
              <a:t>World Wide Web (www)</a:t>
            </a:r>
            <a:endParaRPr lang="en-US" sz="2400" smtClean="0"/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Là dịch vụ toàn cầu của Internet mà HTML là nền tảng. 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Cung cấp thông tin dạng “siêu văn bản”/cung cấp nguồn tài nguyên trên Internet</a:t>
            </a:r>
            <a:endParaRPr lang="vi-VN" sz="2000" smtClean="0"/>
          </a:p>
          <a:p>
            <a:r>
              <a:rPr lang="en-US" sz="2400" b="1" smtClean="0"/>
              <a:t>Host/Node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Máy tính tham gia mạng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Mỗi host có một IP nhất định</a:t>
            </a:r>
            <a:endParaRPr lang="vi-VN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DỊCH VỤ 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 (chi </a:t>
            </a:r>
            <a:r>
              <a:rPr lang="en-US" sz="4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tiết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vi-VN" sz="2400" smtClean="0"/>
              <a:t>World Wide Web - viết tắc là WWW, hay gọi ngắn là Web – là một dịch vụ </a:t>
            </a:r>
            <a:r>
              <a:rPr lang="en-US" sz="2400" smtClean="0"/>
              <a:t>q</a:t>
            </a:r>
            <a:r>
              <a:rPr lang="vi-VN" sz="2400" smtClean="0"/>
              <a:t>uan trọng của Internet cho phép tra cứu tài nguyên thông tin, trao đổi thông tin, thực hiện giao dịch kinh doanh,…trên Internet.</a:t>
            </a:r>
          </a:p>
          <a:p>
            <a:pPr algn="just"/>
            <a:r>
              <a:rPr lang="vi-VN" sz="2400" smtClean="0"/>
              <a:t>Dịch vụ Web được tổ chức theo mô hình Client/Server</a:t>
            </a:r>
            <a:r>
              <a:rPr lang="en-US" sz="2400" smtClean="0"/>
              <a:t>:</a:t>
            </a:r>
            <a:endParaRPr lang="vi-VN" sz="2400" smtClean="0"/>
          </a:p>
          <a:p>
            <a:pPr lvl="1" algn="just"/>
            <a:r>
              <a:rPr lang="vi-VN" sz="2000" smtClean="0"/>
              <a:t>Thành phần Client được gọi là Web Browser (trình duyệt web): MS Internet Explorer, Netscape Navigator, Mozila, Mosiac, Galeon (linux), Konqueror (linux)…</a:t>
            </a:r>
          </a:p>
          <a:p>
            <a:pPr lvl="1" algn="just"/>
            <a:r>
              <a:rPr lang="vi-VN" sz="2000" smtClean="0"/>
              <a:t>Thành phần Server được gọi là Web Server: Apache, MS Internet Information Server,…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DỊCH VỤ WWW</a:t>
            </a:r>
            <a:endPara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9363" y="1752600"/>
            <a:ext cx="7285037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CLIENT/SERVER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7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smtClean="0"/>
              <a:t>Server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Lắng nghe yêu cầu từ Client trên một cổng (port)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Thực thi yêu cầu từ Client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Gừi cho Client  kết quả thực thi yêu cầu</a:t>
            </a:r>
            <a:endParaRPr lang="vi-VN" sz="2000" smtClean="0"/>
          </a:p>
          <a:p>
            <a:r>
              <a:rPr lang="en-US" sz="2400" b="1" smtClean="0"/>
              <a:t>Client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Gởi yêu cầu đến Server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Chờ nhận kết quả từ Server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Nhận kết quả và xử lí theo yêu cầu</a:t>
            </a:r>
            <a:endParaRPr lang="vi-VN" sz="2000" smtClean="0"/>
          </a:p>
          <a:p>
            <a:endParaRPr lang="vi-VN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CLIENT/SERVER (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tt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Client/Server</a:t>
            </a:r>
            <a:endParaRPr lang="en-SG" dirty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514600"/>
            <a:ext cx="6477000" cy="351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DỊCH VỤ CƠ BẢN TRÊN INTERNET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15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smtClean="0"/>
              <a:t>Web page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Trang siêu văn bản (HTML)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Hiển thị thông tin đến người dùng</a:t>
            </a:r>
          </a:p>
          <a:p>
            <a:r>
              <a:rPr lang="en-US" sz="2400" b="1" smtClean="0"/>
              <a:t>Web browser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Phần mềm chạy ở máy người dùng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Hỗ trợ xem thông tin ở dạng siêu văn bản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Microsoft Internet Explorer, FireFox, Opera, Netscape... </a:t>
            </a:r>
          </a:p>
          <a:p>
            <a:r>
              <a:rPr lang="en-US" sz="2400" b="1" smtClean="0"/>
              <a:t>Web site</a:t>
            </a:r>
            <a:endParaRPr lang="vi-VN" sz="2400" b="1" smtClean="0"/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Một hệ thống các trang web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smtClean="0"/>
              <a:t>Có một địa chỉ cụ thể (tên miền/IP)</a:t>
            </a:r>
            <a:endParaRPr lang="vi-VN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DỊCH VỤ CƠ BẢN TRÊN INTERNET (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tt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smtClean="0">
                <a:ea typeface="+mn-ea"/>
                <a:cs typeface="+mn-cs"/>
              </a:rPr>
              <a:t>Home page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Trang</a:t>
            </a:r>
            <a:r>
              <a:rPr lang="en-US" sz="2000" dirty="0" smtClean="0"/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website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trang</a:t>
            </a:r>
            <a:r>
              <a:rPr lang="en-US" sz="2000" dirty="0" smtClean="0"/>
              <a:t> web </a:t>
            </a:r>
            <a:r>
              <a:rPr lang="en-US" sz="2000" dirty="0" err="1" smtClean="0"/>
              <a:t>mang</a:t>
            </a:r>
            <a:r>
              <a:rPr lang="en-US" sz="2000" dirty="0" smtClean="0"/>
              <a:t> </a:t>
            </a:r>
            <a:r>
              <a:rPr lang="en-US" sz="2000" dirty="0" err="1" smtClean="0"/>
              <a:t>tên</a:t>
            </a:r>
            <a:r>
              <a:rPr lang="en-US" sz="2000" dirty="0" smtClean="0"/>
              <a:t> </a:t>
            </a:r>
            <a:r>
              <a:rPr lang="en-US" sz="2000" dirty="0" err="1" smtClean="0"/>
              <a:t>đặt</a:t>
            </a:r>
            <a:r>
              <a:rPr lang="en-US" sz="2000" dirty="0" smtClean="0"/>
              <a:t> </a:t>
            </a:r>
            <a:r>
              <a:rPr lang="en-US" sz="2000" dirty="0" err="1" smtClean="0"/>
              <a:t>biệt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mở</a:t>
            </a:r>
            <a:r>
              <a:rPr lang="en-US" sz="2000" dirty="0" smtClean="0"/>
              <a:t> </a:t>
            </a:r>
            <a:r>
              <a:rPr lang="en-US" sz="2000" dirty="0" err="1" smtClean="0"/>
              <a:t>tự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(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): index.htm, default.htm, </a:t>
            </a:r>
            <a:r>
              <a:rPr lang="en-US" sz="2000" dirty="0" err="1" smtClean="0"/>
              <a:t>index.php</a:t>
            </a:r>
            <a:r>
              <a:rPr lang="en-US" sz="2000" dirty="0" smtClean="0"/>
              <a:t>…</a:t>
            </a:r>
          </a:p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smtClean="0">
                <a:ea typeface="+mn-ea"/>
                <a:cs typeface="+mn-cs"/>
              </a:rPr>
              <a:t>Web server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mềm</a:t>
            </a:r>
            <a:r>
              <a:rPr lang="en-US" sz="2000" dirty="0" smtClean="0"/>
              <a:t> </a:t>
            </a:r>
            <a:r>
              <a:rPr lang="en-US" sz="2000" dirty="0" err="1" smtClean="0"/>
              <a:t>làm</a:t>
            </a:r>
            <a:r>
              <a:rPr lang="en-US" sz="2000" dirty="0" smtClean="0"/>
              <a:t> </a:t>
            </a:r>
            <a:r>
              <a:rPr lang="en-US" sz="2000" dirty="0" err="1" smtClean="0"/>
              <a:t>nhiệm</a:t>
            </a:r>
            <a:r>
              <a:rPr lang="en-US" sz="2000" dirty="0" smtClean="0"/>
              <a:t> </a:t>
            </a:r>
            <a:r>
              <a:rPr lang="en-US" sz="2000" dirty="0" err="1" smtClean="0"/>
              <a:t>vụ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WWW server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Cần</a:t>
            </a:r>
            <a:r>
              <a:rPr lang="en-US" sz="2000" dirty="0" smtClean="0"/>
              <a:t> </a:t>
            </a:r>
            <a:r>
              <a:rPr lang="en-US" sz="2000" dirty="0" err="1" smtClean="0"/>
              <a:t>thiết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thiết</a:t>
            </a:r>
            <a:r>
              <a:rPr lang="en-US" sz="2000" dirty="0" smtClean="0"/>
              <a:t> </a:t>
            </a:r>
            <a:r>
              <a:rPr lang="en-US" sz="2000" dirty="0" err="1" smtClean="0"/>
              <a:t>kế</a:t>
            </a:r>
            <a:r>
              <a:rPr lang="en-US" sz="2000" dirty="0" smtClean="0"/>
              <a:t> web </a:t>
            </a:r>
            <a:r>
              <a:rPr lang="en-US" sz="2000" dirty="0" err="1" smtClean="0"/>
              <a:t>động</a:t>
            </a:r>
            <a:endParaRPr lang="en-US" sz="2000" dirty="0" smtClean="0"/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smtClean="0"/>
              <a:t>Apache, IIS, Personal Webserver,…</a:t>
            </a:r>
          </a:p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smtClean="0">
                <a:ea typeface="+mn-ea"/>
                <a:cs typeface="+mn-cs"/>
              </a:rPr>
              <a:t>Web Client</a:t>
            </a:r>
            <a:endParaRPr lang="vi-VN" sz="2400" b="1" dirty="0" smtClean="0">
              <a:ea typeface="+mn-ea"/>
              <a:cs typeface="+mn-cs"/>
            </a:endParaRP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Trình</a:t>
            </a:r>
            <a:r>
              <a:rPr lang="en-US" sz="2000" dirty="0" smtClean="0"/>
              <a:t> </a:t>
            </a:r>
            <a:r>
              <a:rPr lang="en-US" sz="2000" dirty="0" err="1" smtClean="0"/>
              <a:t>duyệt</a:t>
            </a:r>
            <a:r>
              <a:rPr lang="en-US" sz="2000" dirty="0" smtClean="0"/>
              <a:t> web browser</a:t>
            </a:r>
            <a:endParaRPr lang="en-US" sz="2000" dirty="0"/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Đặt</a:t>
            </a:r>
            <a:r>
              <a:rPr lang="en-US" sz="2000" dirty="0" smtClean="0"/>
              <a:t> ở </a:t>
            </a:r>
            <a:r>
              <a:rPr lang="en-US" sz="2000" dirty="0" err="1" smtClean="0"/>
              <a:t>máy</a:t>
            </a:r>
            <a:r>
              <a:rPr lang="en-US" sz="2000" dirty="0" smtClean="0"/>
              <a:t> </a:t>
            </a:r>
            <a:r>
              <a:rPr lang="en-US" sz="2000" dirty="0" err="1" smtClean="0"/>
              <a:t>người</a:t>
            </a:r>
            <a:r>
              <a:rPr lang="en-US" sz="2000" dirty="0" smtClean="0"/>
              <a:t> </a:t>
            </a:r>
            <a:r>
              <a:rPr lang="en-US" sz="2000" dirty="0" err="1" smtClean="0"/>
              <a:t>dùng</a:t>
            </a:r>
            <a:r>
              <a:rPr lang="en-US" sz="2000" dirty="0" smtClean="0"/>
              <a:t> web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smtClean="0"/>
              <a:t>IE, Firefox, Opera, Safari, …</a:t>
            </a:r>
            <a:endParaRPr lang="vi-V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DỊCH VỤ CƠ BẢN TRÊN INTERNET (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tt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err="1" smtClean="0">
                <a:ea typeface="+mn-ea"/>
                <a:cs typeface="+mn-cs"/>
              </a:rPr>
              <a:t>Siêu</a:t>
            </a:r>
            <a:r>
              <a:rPr lang="en-US" sz="2400" b="1" dirty="0" smtClean="0">
                <a:ea typeface="+mn-ea"/>
                <a:cs typeface="+mn-cs"/>
              </a:rPr>
              <a:t> </a:t>
            </a:r>
            <a:r>
              <a:rPr lang="en-US" sz="2400" b="1" dirty="0" err="1" smtClean="0">
                <a:ea typeface="+mn-ea"/>
                <a:cs typeface="+mn-cs"/>
              </a:rPr>
              <a:t>văn</a:t>
            </a:r>
            <a:r>
              <a:rPr lang="en-US" sz="2400" b="1" dirty="0" smtClean="0">
                <a:ea typeface="+mn-ea"/>
                <a:cs typeface="+mn-cs"/>
              </a:rPr>
              <a:t> </a:t>
            </a:r>
            <a:r>
              <a:rPr lang="en-US" sz="2400" b="1" dirty="0" err="1" smtClean="0">
                <a:ea typeface="+mn-ea"/>
                <a:cs typeface="+mn-cs"/>
              </a:rPr>
              <a:t>bản</a:t>
            </a:r>
            <a:r>
              <a:rPr lang="en-US" sz="2400" b="1" dirty="0" smtClean="0">
                <a:ea typeface="+mn-ea"/>
                <a:cs typeface="+mn-cs"/>
              </a:rPr>
              <a:t> (</a:t>
            </a:r>
            <a:r>
              <a:rPr lang="en-US" sz="2400" b="1" dirty="0" err="1" smtClean="0">
                <a:ea typeface="+mn-ea"/>
                <a:cs typeface="+mn-cs"/>
              </a:rPr>
              <a:t>HyperText</a:t>
            </a:r>
            <a:r>
              <a:rPr lang="en-US" sz="2400" b="1" dirty="0" smtClean="0">
                <a:ea typeface="+mn-ea"/>
                <a:cs typeface="+mn-cs"/>
              </a:rPr>
              <a:t>)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smtClean="0"/>
              <a:t>Van </a:t>
            </a:r>
            <a:r>
              <a:rPr lang="en-US" sz="2000" dirty="0" err="1" smtClean="0"/>
              <a:t>bản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tích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nhiều</a:t>
            </a:r>
            <a:r>
              <a:rPr lang="en-US" sz="2000" dirty="0" smtClean="0"/>
              <a:t> </a:t>
            </a:r>
            <a:r>
              <a:rPr lang="en-US" sz="2000" dirty="0" err="1" smtClean="0"/>
              <a:t>phương</a:t>
            </a:r>
            <a:r>
              <a:rPr lang="en-US" sz="2000" dirty="0" smtClean="0"/>
              <a:t> </a:t>
            </a:r>
            <a:r>
              <a:rPr lang="en-US" sz="2000" dirty="0" err="1" smtClean="0"/>
              <a:t>tiện</a:t>
            </a:r>
            <a:r>
              <a:rPr lang="en-US" sz="2000" dirty="0" smtClean="0"/>
              <a:t> </a:t>
            </a:r>
            <a:r>
              <a:rPr lang="en-US" sz="2000" dirty="0" err="1" smtClean="0"/>
              <a:t>khác</a:t>
            </a:r>
            <a:r>
              <a:rPr lang="en-US" sz="2000" dirty="0" smtClean="0"/>
              <a:t> </a:t>
            </a:r>
            <a:r>
              <a:rPr lang="en-US" sz="2000" dirty="0" err="1" smtClean="0"/>
              <a:t>nhau</a:t>
            </a:r>
            <a:r>
              <a:rPr lang="en-US" sz="2000" dirty="0" smtClean="0"/>
              <a:t>: </a:t>
            </a:r>
            <a:r>
              <a:rPr lang="en-US" sz="2000" dirty="0" err="1" smtClean="0"/>
              <a:t>văn</a:t>
            </a:r>
            <a:r>
              <a:rPr lang="en-US" sz="2000" dirty="0" smtClean="0"/>
              <a:t> </a:t>
            </a:r>
            <a:r>
              <a:rPr lang="en-US" sz="2000" dirty="0" err="1" smtClean="0"/>
              <a:t>bản</a:t>
            </a:r>
            <a:r>
              <a:rPr lang="en-US" sz="2000" dirty="0" smtClean="0"/>
              <a:t>, </a:t>
            </a:r>
            <a:r>
              <a:rPr lang="en-US" sz="2000" dirty="0" err="1" smtClean="0"/>
              <a:t>âm</a:t>
            </a:r>
            <a:r>
              <a:rPr lang="en-US" sz="2000" dirty="0" smtClean="0"/>
              <a:t> </a:t>
            </a:r>
            <a:r>
              <a:rPr lang="en-US" sz="2000" dirty="0" err="1" smtClean="0"/>
              <a:t>thanh</a:t>
            </a:r>
            <a:r>
              <a:rPr lang="en-US" sz="2000" dirty="0" smtClean="0"/>
              <a:t>, </a:t>
            </a:r>
            <a:r>
              <a:rPr lang="en-US" sz="2000" dirty="0" err="1" smtClean="0"/>
              <a:t>hình</a:t>
            </a:r>
            <a:r>
              <a:rPr lang="en-US" sz="2000" dirty="0" smtClean="0"/>
              <a:t> </a:t>
            </a:r>
            <a:r>
              <a:rPr lang="en-US" sz="2000" dirty="0" err="1" smtClean="0"/>
              <a:t>ảnh</a:t>
            </a:r>
            <a:r>
              <a:rPr lang="en-US" sz="2000" dirty="0" smtClean="0"/>
              <a:t>, </a:t>
            </a:r>
            <a:r>
              <a:rPr lang="en-US" sz="2000" dirty="0" err="1" smtClean="0"/>
              <a:t>liên</a:t>
            </a:r>
            <a:r>
              <a:rPr lang="en-US" sz="2000" dirty="0" smtClean="0"/>
              <a:t> </a:t>
            </a:r>
            <a:r>
              <a:rPr lang="en-US" sz="2000" dirty="0" err="1" smtClean="0"/>
              <a:t>kết</a:t>
            </a:r>
            <a:r>
              <a:rPr lang="en-US" sz="2000" dirty="0" smtClean="0"/>
              <a:t>, …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 smtClean="0"/>
              <a:t>bởi</a:t>
            </a:r>
            <a:r>
              <a:rPr lang="en-US" sz="2000" dirty="0" smtClean="0"/>
              <a:t> </a:t>
            </a:r>
            <a:r>
              <a:rPr lang="en-US" sz="2000" dirty="0" err="1" smtClean="0"/>
              <a:t>ngôn</a:t>
            </a:r>
            <a:r>
              <a:rPr lang="en-US" sz="2000" dirty="0" smtClean="0"/>
              <a:t> </a:t>
            </a:r>
            <a:r>
              <a:rPr lang="en-US" sz="2000" dirty="0" err="1" smtClean="0"/>
              <a:t>ngữ</a:t>
            </a:r>
            <a:r>
              <a:rPr lang="en-US" sz="2000" dirty="0" smtClean="0"/>
              <a:t> HTML</a:t>
            </a:r>
          </a:p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err="1" smtClean="0">
                <a:ea typeface="+mn-ea"/>
                <a:cs typeface="+mn-cs"/>
              </a:rPr>
              <a:t>Siêu</a:t>
            </a:r>
            <a:r>
              <a:rPr lang="en-US" sz="2400" b="1" dirty="0" smtClean="0">
                <a:ea typeface="+mn-ea"/>
                <a:cs typeface="+mn-cs"/>
              </a:rPr>
              <a:t> </a:t>
            </a:r>
            <a:r>
              <a:rPr lang="en-US" sz="2400" b="1" dirty="0" err="1" smtClean="0">
                <a:ea typeface="+mn-ea"/>
                <a:cs typeface="+mn-cs"/>
              </a:rPr>
              <a:t>liên</a:t>
            </a:r>
            <a:r>
              <a:rPr lang="en-US" sz="2400" b="1" dirty="0" smtClean="0">
                <a:ea typeface="+mn-ea"/>
                <a:cs typeface="+mn-cs"/>
              </a:rPr>
              <a:t> </a:t>
            </a:r>
            <a:r>
              <a:rPr lang="en-US" sz="2400" b="1" dirty="0" err="1" smtClean="0">
                <a:ea typeface="+mn-ea"/>
                <a:cs typeface="+mn-cs"/>
              </a:rPr>
              <a:t>kết</a:t>
            </a:r>
            <a:r>
              <a:rPr lang="en-US" sz="2400" b="1" dirty="0" smtClean="0">
                <a:ea typeface="+mn-ea"/>
                <a:cs typeface="+mn-cs"/>
              </a:rPr>
              <a:t> (</a:t>
            </a:r>
            <a:r>
              <a:rPr lang="en-US" sz="2400" b="1" dirty="0" err="1" smtClean="0">
                <a:ea typeface="+mn-ea"/>
                <a:cs typeface="+mn-cs"/>
              </a:rPr>
              <a:t>HyperLink</a:t>
            </a:r>
            <a:r>
              <a:rPr lang="en-US" sz="2400" b="1" dirty="0" smtClean="0">
                <a:ea typeface="+mn-ea"/>
                <a:cs typeface="+mn-cs"/>
              </a:rPr>
              <a:t>)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nằm</a:t>
            </a:r>
            <a:r>
              <a:rPr lang="en-US" sz="2000" dirty="0" smtClean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siêu</a:t>
            </a:r>
            <a:r>
              <a:rPr lang="en-US" sz="2000" dirty="0" smtClean="0"/>
              <a:t> </a:t>
            </a:r>
            <a:r>
              <a:rPr lang="en-US" sz="2000" dirty="0" err="1" smtClean="0"/>
              <a:t>văn</a:t>
            </a:r>
            <a:r>
              <a:rPr lang="en-US" sz="2000" dirty="0" smtClean="0"/>
              <a:t> </a:t>
            </a:r>
            <a:r>
              <a:rPr lang="en-US" sz="2000" dirty="0" err="1" smtClean="0"/>
              <a:t>bản</a:t>
            </a:r>
            <a:endParaRPr lang="en-US" sz="2000" dirty="0" smtClean="0"/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Chỉ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tham</a:t>
            </a:r>
            <a:r>
              <a:rPr lang="en-US" sz="2000" dirty="0" smtClean="0"/>
              <a:t> </a:t>
            </a:r>
            <a:r>
              <a:rPr lang="en-US" sz="2000" dirty="0" err="1" smtClean="0"/>
              <a:t>chiếu</a:t>
            </a:r>
            <a:r>
              <a:rPr lang="en-US" sz="2000" dirty="0" smtClean="0"/>
              <a:t> </a:t>
            </a:r>
            <a:r>
              <a:rPr lang="en-US" sz="2000" dirty="0" err="1" smtClean="0"/>
              <a:t>đến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siêu</a:t>
            </a:r>
            <a:r>
              <a:rPr lang="en-US" sz="2000" dirty="0" smtClean="0"/>
              <a:t> </a:t>
            </a:r>
            <a:r>
              <a:rPr lang="en-US" sz="2000" dirty="0" err="1" smtClean="0"/>
              <a:t>văn</a:t>
            </a:r>
            <a:r>
              <a:rPr lang="en-US" sz="2000" dirty="0" smtClean="0"/>
              <a:t> </a:t>
            </a:r>
            <a:r>
              <a:rPr lang="en-US" sz="2000" dirty="0" err="1" smtClean="0"/>
              <a:t>bản</a:t>
            </a:r>
            <a:r>
              <a:rPr lang="en-US" sz="2000" dirty="0" smtClean="0"/>
              <a:t> </a:t>
            </a:r>
            <a:r>
              <a:rPr lang="en-US" sz="2000" dirty="0" err="1" smtClean="0"/>
              <a:t>khác</a:t>
            </a:r>
            <a:endParaRPr lang="en-US" sz="2000" dirty="0" smtClean="0"/>
          </a:p>
          <a:p>
            <a:pPr marL="457200" lvl="1" indent="0">
              <a:buFontTx/>
              <a:buNone/>
              <a:defRPr/>
            </a:pPr>
            <a:endParaRPr lang="vi-V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 ĐỊNH VỊ ĐỒNG DẠNG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smtClean="0">
                <a:ea typeface="+mn-ea"/>
                <a:cs typeface="+mn-cs"/>
              </a:rPr>
              <a:t>URL: Uniform Resource Locator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Địa</a:t>
            </a:r>
            <a:r>
              <a:rPr lang="en-US" sz="2000" dirty="0" smtClean="0"/>
              <a:t> </a:t>
            </a:r>
            <a:r>
              <a:rPr lang="en-US" sz="2000" dirty="0" err="1" smtClean="0"/>
              <a:t>chỉ tài nguyên thống nhất.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dirty="0" err="1" smtClean="0"/>
              <a:t> URL là địa chỉ của trang web, khi kích chuột thường nó chuyển đến các tài liệu liên quan.</a:t>
            </a:r>
          </a:p>
          <a:p>
            <a:pPr marL="342900" lvl="1" indent="-342900">
              <a:buFont typeface="Courier New" pitchFamily="49" charset="0"/>
              <a:buChar char="•"/>
              <a:defRPr/>
            </a:pPr>
            <a:r>
              <a:rPr lang="en-US" sz="2400" b="1" dirty="0" err="1" smtClean="0">
                <a:ea typeface="+mn-ea"/>
                <a:cs typeface="+mn-cs"/>
              </a:rPr>
              <a:t>Cấu</a:t>
            </a:r>
            <a:r>
              <a:rPr lang="en-US" sz="2400" b="1" dirty="0" smtClean="0">
                <a:ea typeface="+mn-ea"/>
                <a:cs typeface="+mn-cs"/>
              </a:rPr>
              <a:t> </a:t>
            </a:r>
            <a:r>
              <a:rPr lang="en-US" sz="2400" b="1" dirty="0" err="1" smtClean="0">
                <a:ea typeface="+mn-ea"/>
                <a:cs typeface="+mn-cs"/>
              </a:rPr>
              <a:t>trúc</a:t>
            </a:r>
            <a:r>
              <a:rPr lang="en-US" sz="2400" b="1" dirty="0" smtClean="0">
                <a:ea typeface="+mn-ea"/>
                <a:cs typeface="+mn-cs"/>
              </a:rPr>
              <a:t> URL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  <a:defRPr/>
            </a:pPr>
            <a:r>
              <a:rPr lang="en-US" sz="2000" dirty="0" smtClean="0"/>
              <a:t> URL </a:t>
            </a:r>
            <a:r>
              <a:rPr lang="en-US" sz="2000" dirty="0" err="1" smtClean="0"/>
              <a:t>bao</a:t>
            </a:r>
            <a:r>
              <a:rPr lang="en-US" sz="2000" dirty="0" smtClean="0"/>
              <a:t> </a:t>
            </a:r>
            <a:r>
              <a:rPr lang="en-US" sz="2000" dirty="0" err="1" smtClean="0"/>
              <a:t>gồm</a:t>
            </a:r>
            <a:r>
              <a:rPr lang="en-US" sz="2000" dirty="0" smtClean="0"/>
              <a:t> </a:t>
            </a:r>
            <a:r>
              <a:rPr lang="en-US" sz="2000" dirty="0" err="1" smtClean="0"/>
              <a:t>hai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chính</a:t>
            </a:r>
            <a:r>
              <a:rPr lang="en-US" sz="2000" dirty="0" smtClean="0"/>
              <a:t>: </a:t>
            </a:r>
            <a:r>
              <a:rPr lang="en-US" sz="2000" dirty="0" err="1" smtClean="0"/>
              <a:t>giao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(protocol)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đích</a:t>
            </a:r>
            <a:r>
              <a:rPr lang="en-US" sz="2000" dirty="0" smtClean="0"/>
              <a:t> </a:t>
            </a:r>
            <a:r>
              <a:rPr lang="en-US" sz="2000" dirty="0" err="1" smtClean="0"/>
              <a:t>truy</a:t>
            </a:r>
            <a:r>
              <a:rPr lang="en-US" sz="2000" dirty="0" smtClean="0"/>
              <a:t> </a:t>
            </a:r>
            <a:r>
              <a:rPr lang="en-US" sz="2000" dirty="0" err="1" smtClean="0"/>
              <a:t>cập</a:t>
            </a:r>
            <a:r>
              <a:rPr lang="en-US" sz="2000" dirty="0" smtClean="0"/>
              <a:t> (target).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  <a:defRPr/>
            </a:pPr>
            <a:r>
              <a:rPr lang="en-US" sz="2000" dirty="0" err="1" smtClean="0"/>
              <a:t>Giao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</a:t>
            </a:r>
            <a:r>
              <a:rPr lang="en-US" sz="2000" dirty="0" err="1" smtClean="0"/>
              <a:t>chung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web </a:t>
            </a:r>
            <a:r>
              <a:rPr lang="en-US" sz="2000" dirty="0" err="1" smtClean="0"/>
              <a:t>là</a:t>
            </a:r>
            <a:r>
              <a:rPr lang="en-US" sz="2000" dirty="0" smtClean="0"/>
              <a:t> http://, </a:t>
            </a:r>
            <a:r>
              <a:rPr lang="en-US" sz="2000" dirty="0" err="1" smtClean="0"/>
              <a:t>giao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 </a:t>
            </a:r>
            <a:r>
              <a:rPr lang="en-US" sz="2000" dirty="0" err="1" smtClean="0"/>
              <a:t>nhận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tài</a:t>
            </a:r>
            <a:r>
              <a:rPr lang="en-US" sz="2000" dirty="0" smtClean="0"/>
              <a:t> </a:t>
            </a:r>
            <a:r>
              <a:rPr lang="en-US" sz="2000" dirty="0" err="1" smtClean="0"/>
              <a:t>liệu</a:t>
            </a:r>
            <a:r>
              <a:rPr lang="en-US" sz="2000" dirty="0" smtClean="0"/>
              <a:t> html.</a:t>
            </a:r>
          </a:p>
          <a:p>
            <a:pPr lvl="1">
              <a:lnSpc>
                <a:spcPct val="90000"/>
              </a:lnSpc>
              <a:buFont typeface="Courier New" pitchFamily="49" charset="0"/>
              <a:buChar char="o"/>
              <a:defRPr/>
            </a:pPr>
            <a:r>
              <a:rPr lang="en-US" sz="2000" dirty="0" err="1" smtClean="0"/>
              <a:t>Ngoài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còn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giao</a:t>
            </a:r>
            <a:r>
              <a:rPr lang="en-US" sz="2000" dirty="0" smtClean="0"/>
              <a:t> </a:t>
            </a:r>
            <a:r>
              <a:rPr lang="en-US" sz="2000" dirty="0" err="1" smtClean="0"/>
              <a:t>thức</a:t>
            </a:r>
            <a:r>
              <a:rPr lang="en-US" sz="2000" dirty="0" smtClean="0"/>
              <a:t> </a:t>
            </a:r>
            <a:r>
              <a:rPr lang="en-US" sz="2000" dirty="0" err="1" smtClean="0"/>
              <a:t>khác</a:t>
            </a:r>
            <a:r>
              <a:rPr lang="en-US" sz="2000" dirty="0" smtClean="0"/>
              <a:t> </a:t>
            </a:r>
            <a:r>
              <a:rPr lang="en-US" sz="2000" dirty="0" err="1" smtClean="0"/>
              <a:t>như</a:t>
            </a:r>
            <a:r>
              <a:rPr lang="en-US" sz="2000" dirty="0" smtClean="0"/>
              <a:t>: Gopher://, ftp:// </a:t>
            </a:r>
            <a:r>
              <a:rPr lang="en-US" sz="2000" dirty="0" err="1" smtClean="0"/>
              <a:t>và</a:t>
            </a:r>
            <a:r>
              <a:rPr lang="en-US" sz="2000" dirty="0" smtClean="0"/>
              <a:t> telnet://.</a:t>
            </a:r>
          </a:p>
          <a:p>
            <a:pPr marL="457200" lvl="1" indent="0">
              <a:buFontTx/>
              <a:buNone/>
              <a:defRPr/>
            </a:pPr>
            <a:endParaRPr lang="vi-V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 ĐỊNH VỊ ĐỒNG DẠNG (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tt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/>
              <a:t>URL </a:t>
            </a:r>
            <a:r>
              <a:rPr lang="en-US" sz="2800" dirty="0"/>
              <a:t>(Universal Resource Locator)</a:t>
            </a:r>
          </a:p>
          <a:p>
            <a:pPr lvl="1" algn="just">
              <a:defRPr/>
            </a:pP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nối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nguồn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nhau</a:t>
            </a:r>
            <a:endParaRPr lang="en-US" sz="2000" dirty="0"/>
          </a:p>
          <a:p>
            <a:pPr lvl="1" algn="just">
              <a:defRPr/>
            </a:pP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cập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nguồn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t</a:t>
            </a:r>
            <a:r>
              <a:rPr lang="vi-VN" sz="2000" dirty="0"/>
              <a:t>ừ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dịch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</a:t>
            </a:r>
            <a:r>
              <a:rPr lang="en-US" sz="2000" dirty="0" err="1"/>
              <a:t>khác</a:t>
            </a:r>
            <a:r>
              <a:rPr lang="en-US" sz="2000" dirty="0"/>
              <a:t> </a:t>
            </a:r>
            <a:r>
              <a:rPr lang="en-US" sz="2000" dirty="0" err="1"/>
              <a:t>nh</a:t>
            </a:r>
            <a:r>
              <a:rPr lang="vi-VN" sz="2000" dirty="0"/>
              <a:t>ư</a:t>
            </a:r>
            <a:r>
              <a:rPr lang="en-US" sz="2000" dirty="0"/>
              <a:t> FTP </a:t>
            </a:r>
            <a:r>
              <a:rPr lang="en-US" sz="2000" dirty="0" smtClean="0"/>
              <a:t>, Telnet, Gopher, …</a:t>
            </a:r>
            <a:endParaRPr lang="en-US" sz="1600" dirty="0"/>
          </a:p>
          <a:p>
            <a:pPr marL="457200" lvl="1" indent="0">
              <a:buFontTx/>
              <a:buNone/>
              <a:defRPr/>
            </a:pPr>
            <a:endParaRPr lang="vi-VN" sz="2000" dirty="0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1475" y="3429000"/>
            <a:ext cx="6283325" cy="248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543800" cy="9445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CỔNG (Port)</a:t>
            </a: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5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smtClean="0"/>
              <a:t>Một con số phân loại dịch vụ vào Server</a:t>
            </a:r>
          </a:p>
          <a:p>
            <a:r>
              <a:rPr lang="en-US" sz="2800" smtClean="0"/>
              <a:t>Xác định đúng server nào cần truy xuất</a:t>
            </a:r>
          </a:p>
          <a:p>
            <a:r>
              <a:rPr lang="en-US" sz="2800" smtClean="0"/>
              <a:t>Mỗi dịch vụ có một số hiện cổng riêng:</a:t>
            </a:r>
          </a:p>
          <a:p>
            <a:pPr lvl="1"/>
            <a:r>
              <a:rPr lang="en-US" sz="2400" smtClean="0"/>
              <a:t>8080	: Web</a:t>
            </a:r>
          </a:p>
          <a:p>
            <a:pPr lvl="1"/>
            <a:r>
              <a:rPr lang="en-US" sz="2400" smtClean="0"/>
              <a:t>21	: FTP</a:t>
            </a:r>
          </a:p>
          <a:p>
            <a:pPr lvl="1"/>
            <a:r>
              <a:rPr lang="en-US" sz="2400" smtClean="0"/>
              <a:t>25	: Web</a:t>
            </a:r>
          </a:p>
          <a:p>
            <a:pPr lvl="1"/>
            <a:r>
              <a:rPr lang="en-US" sz="2400" smtClean="0"/>
              <a:t>1521	: CSDL Oracle</a:t>
            </a:r>
          </a:p>
          <a:p>
            <a:pPr lvl="1"/>
            <a:r>
              <a:rPr lang="en-US" sz="2400" smtClean="0"/>
              <a:t>…	: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</TotalTime>
  <Words>652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Equity</vt:lpstr>
      <vt:lpstr>Tổng quan Mô hình Client/Server</vt:lpstr>
      <vt:lpstr>DỊCH VỤ WWW (chi tiết)</vt:lpstr>
      <vt:lpstr>MÔ HÌNH DỊCH VỤ WWW</vt:lpstr>
      <vt:lpstr>MÔ HÌNH CLIENT/SERVER</vt:lpstr>
      <vt:lpstr>MÔ HÌNH CLIENT/SERVER (tt)</vt:lpstr>
      <vt:lpstr>CÁC DỊCH VỤ CƠ BẢN TRÊN INTERNET</vt:lpstr>
      <vt:lpstr>CÁC DỊCH VỤ CƠ BẢN TRÊN INTERNET (tt)</vt:lpstr>
      <vt:lpstr>CÁC DỊCH VỤ CƠ BẢN TRÊN INTERNET (tt)</vt:lpstr>
      <vt:lpstr>BỘ ĐỊNH VỊ ĐỒNG DẠNG</vt:lpstr>
      <vt:lpstr>BỘ ĐỊNH VỊ ĐỒNG DẠNG (tt)</vt:lpstr>
      <vt:lpstr>CỔNG (Port)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Tổng quan Mô hình Client/Server</dc:title>
  <dc:creator>User</dc:creator>
  <cp:lastModifiedBy>User</cp:lastModifiedBy>
  <cp:revision>1</cp:revision>
  <dcterms:created xsi:type="dcterms:W3CDTF">2012-08-12T15:23:34Z</dcterms:created>
  <dcterms:modified xsi:type="dcterms:W3CDTF">2012-08-12T15:25:33Z</dcterms:modified>
</cp:coreProperties>
</file>