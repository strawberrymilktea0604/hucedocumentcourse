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92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C2354E-E8CB-4E64-AE6E-BE79EBCB6692}" type="datetimeFigureOut">
              <a:rPr lang="en-US" smtClean="0"/>
              <a:pPr/>
              <a:t>8/21/2013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988B35-F68D-4904-905E-2238C474883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09965-9CA9-4FF6-A0FD-7CE4168D0195}" type="datetimeFigureOut">
              <a:rPr lang="en-US" smtClean="0"/>
              <a:pPr/>
              <a:t>8/21/2013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EC746-7C52-4850-960F-1B361D5DEC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/>
          <p:cNvSpPr/>
          <p:nvPr userDrawn="1"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800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09965-9CA9-4FF6-A0FD-7CE4168D0195}" type="datetimeFigureOut">
              <a:rPr lang="en-US" smtClean="0"/>
              <a:pPr/>
              <a:t>8/21/2013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EC746-7C52-4850-960F-1B361D5DEC7D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0" y="1154289"/>
            <a:ext cx="9144000" cy="1588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09965-9CA9-4FF6-A0FD-7CE4168D0195}" type="datetimeFigureOut">
              <a:rPr lang="en-US" smtClean="0"/>
              <a:pPr/>
              <a:t>8/21/2013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EC746-7C52-4850-960F-1B361D5DEC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09965-9CA9-4FF6-A0FD-7CE4168D0195}" type="datetimeFigureOut">
              <a:rPr lang="en-US" smtClean="0"/>
              <a:pPr/>
              <a:t>8/21/2013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EC746-7C52-4850-960F-1B361D5DEC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09965-9CA9-4FF6-A0FD-7CE4168D0195}" type="datetimeFigureOut">
              <a:rPr lang="en-US" smtClean="0"/>
              <a:pPr/>
              <a:t>8/21/2013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EC746-7C52-4850-960F-1B361D5DEC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09965-9CA9-4FF6-A0FD-7CE4168D0195}" type="datetimeFigureOut">
              <a:rPr lang="en-US" smtClean="0"/>
              <a:pPr/>
              <a:t>8/21/2013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EC746-7C52-4850-960F-1B361D5DEC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09965-9CA9-4FF6-A0FD-7CE4168D0195}" type="datetimeFigureOut">
              <a:rPr lang="en-US" smtClean="0"/>
              <a:pPr/>
              <a:t>8/21/2013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EC746-7C52-4850-960F-1B361D5DEC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09965-9CA9-4FF6-A0FD-7CE4168D0195}" type="datetimeFigureOut">
              <a:rPr lang="en-US" smtClean="0"/>
              <a:pPr/>
              <a:t>8/21/2013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EC746-7C52-4850-960F-1B361D5DEC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09965-9CA9-4FF6-A0FD-7CE4168D0195}" type="datetimeFigureOut">
              <a:rPr lang="en-US" smtClean="0"/>
              <a:pPr/>
              <a:t>8/21/2013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EC746-7C52-4850-960F-1B361D5DEC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09965-9CA9-4FF6-A0FD-7CE4168D0195}" type="datetimeFigureOut">
              <a:rPr lang="en-US" smtClean="0"/>
              <a:pPr/>
              <a:t>8/21/2013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EC746-7C52-4850-960F-1B361D5DEC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09965-9CA9-4FF6-A0FD-7CE4168D0195}" type="datetimeFigureOut">
              <a:rPr lang="en-US" smtClean="0"/>
              <a:pPr/>
              <a:t>8/21/2013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EC746-7C52-4850-960F-1B361D5DEC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509965-9CA9-4FF6-A0FD-7CE4168D0195}" type="datetimeFigureOut">
              <a:rPr lang="en-US" smtClean="0"/>
              <a:pPr/>
              <a:t>8/21/2013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6EC746-7C52-4850-960F-1B361D5DEC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 userDrawn="1"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/>
          <p:cNvSpPr/>
          <p:nvPr userDrawn="1"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itle 9"/>
          <p:cNvSpPr>
            <a:spLocks noGrp="1"/>
          </p:cNvSpPr>
          <p:nvPr>
            <p:ph type="ctrTitle"/>
          </p:nvPr>
        </p:nvSpPr>
        <p:spPr>
          <a:xfrm>
            <a:off x="685800" y="2438400"/>
            <a:ext cx="7696200" cy="1162050"/>
          </a:xfrm>
        </p:spPr>
        <p:txBody>
          <a:bodyPr>
            <a:normAutofit/>
          </a:bodyPr>
          <a:lstStyle/>
          <a:p>
            <a:r>
              <a:rPr lang="en-US" sz="4800" b="1" smtClean="0">
                <a:solidFill>
                  <a:schemeClr val="bg1"/>
                </a:solidFill>
              </a:rPr>
              <a:t>HTML</a:t>
            </a:r>
            <a:endParaRPr lang="en-US" sz="4800" b="1" dirty="0">
              <a:solidFill>
                <a:schemeClr val="bg1"/>
              </a:solidFill>
            </a:endParaRPr>
          </a:p>
        </p:txBody>
      </p:sp>
      <p:sp>
        <p:nvSpPr>
          <p:cNvPr id="16" name="Subtitle 15"/>
          <p:cNvSpPr>
            <a:spLocks noGrp="1"/>
          </p:cNvSpPr>
          <p:nvPr>
            <p:ph type="subTitle" idx="1"/>
          </p:nvPr>
        </p:nvSpPr>
        <p:spPr>
          <a:xfrm>
            <a:off x="1600200" y="4038600"/>
            <a:ext cx="5638800" cy="609600"/>
          </a:xfrm>
        </p:spPr>
        <p:txBody>
          <a:bodyPr>
            <a:normAutofit fontScale="85000" lnSpcReduction="10000"/>
          </a:bodyPr>
          <a:lstStyle/>
          <a:p>
            <a:r>
              <a:rPr lang="en-US" b="1" smtClean="0">
                <a:solidFill>
                  <a:schemeClr val="accent6">
                    <a:lumMod val="75000"/>
                  </a:schemeClr>
                </a:solidFill>
              </a:rPr>
              <a:t>SESSION 8 –  REGULAR EXPRESSION</a:t>
            </a:r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OBJECTIVES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Regular Expression Syntax </a:t>
            </a:r>
          </a:p>
          <a:p>
            <a:r>
              <a:rPr lang="en-US" smtClean="0"/>
              <a:t>Form Validation with Regular Expressions 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Introduction to regular expression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Regular expressions are used to do sophisticated pattern matching, which can often be helpful in form validation</a:t>
            </a:r>
          </a:p>
          <a:p>
            <a:r>
              <a:rPr lang="en-US" smtClean="0"/>
              <a:t>There are two ways to create a regular expression in JavaScript:</a:t>
            </a:r>
          </a:p>
          <a:p>
            <a:pPr lvl="1"/>
            <a:r>
              <a:rPr lang="en-US" smtClean="0"/>
              <a:t>Using literal syntax </a:t>
            </a:r>
          </a:p>
          <a:p>
            <a:pPr lvl="1"/>
            <a:r>
              <a:rPr lang="en-US" smtClean="0"/>
              <a:t>	var reExample = /pattern/;</a:t>
            </a:r>
          </a:p>
          <a:p>
            <a:pPr lvl="1"/>
            <a:r>
              <a:rPr lang="en-US" smtClean="0"/>
              <a:t>Using the RegExp() constructor </a:t>
            </a:r>
          </a:p>
          <a:p>
            <a:pPr lvl="1"/>
            <a:r>
              <a:rPr lang="en-US" smtClean="0"/>
              <a:t>	var reExample = new RegExp("pattern");</a:t>
            </a:r>
          </a:p>
          <a:p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Regular Expression Methods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smtClean="0"/>
              <a:t>The methods that can be used with Regular Expression includes:</a:t>
            </a:r>
          </a:p>
          <a:p>
            <a:r>
              <a:rPr lang="en-US" smtClean="0"/>
              <a:t>	Exec, Test, Match, Search, Replace, Split </a:t>
            </a:r>
          </a:p>
          <a:p>
            <a:r>
              <a:rPr lang="en-US" smtClean="0"/>
              <a:t>The syntax to use a method:</a:t>
            </a:r>
          </a:p>
          <a:p>
            <a:r>
              <a:rPr lang="en-US" smtClean="0"/>
              <a:t>		objectname.method = function_name</a:t>
            </a:r>
          </a:p>
          <a:p>
            <a:r>
              <a:rPr lang="en-US" smtClean="0"/>
              <a:t>The syntax for calling the method in the context of the object is:</a:t>
            </a:r>
          </a:p>
          <a:p>
            <a:r>
              <a:rPr lang="en-US" smtClean="0"/>
              <a:t>		objectname.methodname(parameters)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Regular expression sample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smtClean="0"/>
              <a:t>&lt;HTML&gt;</a:t>
            </a:r>
          </a:p>
          <a:p>
            <a:pPr>
              <a:buNone/>
            </a:pPr>
            <a:r>
              <a:rPr lang="en-US" smtClean="0"/>
              <a:t>  &lt;HEAD&gt;</a:t>
            </a:r>
          </a:p>
          <a:p>
            <a:pPr>
              <a:buNone/>
            </a:pPr>
            <a:r>
              <a:rPr lang="en-US" smtClean="0"/>
              <a:t>    &lt;SCRIPT LANGUAGE="JavaScript"&gt;</a:t>
            </a:r>
          </a:p>
          <a:p>
            <a:pPr>
              <a:buNone/>
            </a:pPr>
            <a:r>
              <a:rPr lang="en-US" smtClean="0"/>
              <a:t>    re = /test/</a:t>
            </a:r>
          </a:p>
          <a:p>
            <a:pPr>
              <a:buNone/>
            </a:pPr>
            <a:r>
              <a:rPr lang="en-US" smtClean="0"/>
              <a:t>    str = re.test (“This is test!");</a:t>
            </a:r>
          </a:p>
          <a:p>
            <a:pPr>
              <a:buNone/>
            </a:pPr>
            <a:r>
              <a:rPr lang="en-US" smtClean="0"/>
              <a:t>    window.alert(str);</a:t>
            </a:r>
          </a:p>
          <a:p>
            <a:pPr>
              <a:buNone/>
            </a:pPr>
            <a:r>
              <a:rPr lang="en-US" smtClean="0"/>
              <a:t>    &lt;/SCRIPT&gt;</a:t>
            </a:r>
          </a:p>
          <a:p>
            <a:pPr>
              <a:buNone/>
            </a:pPr>
            <a:r>
              <a:rPr lang="en-US" smtClean="0"/>
              <a:t>  &lt;/HEAD&gt;</a:t>
            </a:r>
          </a:p>
          <a:p>
            <a:pPr>
              <a:buNone/>
            </a:pPr>
            <a:r>
              <a:rPr lang="en-US" smtClean="0"/>
              <a:t>&lt;/HTML&gt;</a:t>
            </a:r>
          </a:p>
          <a:p>
            <a:endParaRPr lang="en-US" dirty="0" smtClean="0"/>
          </a:p>
        </p:txBody>
      </p:sp>
      <p:pic>
        <p:nvPicPr>
          <p:cNvPr id="10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638800" y="4267200"/>
            <a:ext cx="2803525" cy="1693862"/>
          </a:xfrm>
          <a:prstGeom prst="rect">
            <a:avLst/>
          </a:prstGeom>
          <a:noFill/>
          <a:ln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Regular Expression Syntax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A regular expression is a pattern that specifies a list of characters. In this section, we will look at how those characters are specified:</a:t>
            </a:r>
          </a:p>
          <a:p>
            <a:pPr lvl="1"/>
            <a:r>
              <a:rPr lang="en-US" smtClean="0"/>
              <a:t>Start and End ( ^ $ )</a:t>
            </a:r>
          </a:p>
          <a:p>
            <a:pPr lvl="1"/>
            <a:r>
              <a:rPr lang="en-US" smtClean="0"/>
              <a:t>Number of Occurrences ( ? + * {} )</a:t>
            </a:r>
          </a:p>
          <a:p>
            <a:pPr lvl="1"/>
            <a:r>
              <a:rPr lang="en-US" smtClean="0"/>
              <a:t>Common Characters ( . \d \D \w \W  )</a:t>
            </a:r>
          </a:p>
          <a:p>
            <a:pPr lvl="1"/>
            <a:r>
              <a:rPr lang="en-US" smtClean="0"/>
              <a:t>Grouping ( [] )</a:t>
            </a:r>
          </a:p>
          <a:p>
            <a:pPr lvl="1"/>
            <a:r>
              <a:rPr lang="en-US" smtClean="0"/>
              <a:t>Subpatterns ( () )</a:t>
            </a:r>
          </a:p>
          <a:p>
            <a:pPr lvl="1"/>
            <a:r>
              <a:rPr lang="en-US" smtClean="0"/>
              <a:t>Escape Character ( \ )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Start and End ( ^ $ )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mtClean="0"/>
              <a:t>A caret (^) at the beginning of a regular expression indicates that the string being searched must start with this pattern.</a:t>
            </a:r>
          </a:p>
          <a:p>
            <a:r>
              <a:rPr lang="en-US" smtClean="0"/>
              <a:t>The pattern ^foo can be found in "food", but not in "barfood".</a:t>
            </a:r>
          </a:p>
          <a:p>
            <a:r>
              <a:rPr lang="en-US" smtClean="0"/>
              <a:t>A dollar sign ($) at the end of a regular expression indicates that the string being searched must end with this pattern.</a:t>
            </a:r>
          </a:p>
          <a:p>
            <a:r>
              <a:rPr lang="en-US" smtClean="0"/>
              <a:t>The pattern foo$ can be found in "curfoo", but not in "food".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Number of Occurrences ( ? + * {} )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smtClean="0"/>
              <a:t>The following symbols affect the number of occurrences of the preceding character: ?, +, *, and {}.</a:t>
            </a:r>
          </a:p>
          <a:p>
            <a:r>
              <a:rPr lang="en-US" smtClean="0"/>
              <a:t>A questionmark (?) indicates that the preceding character should appear zero or one times in the pattern.</a:t>
            </a:r>
          </a:p>
          <a:p>
            <a:r>
              <a:rPr lang="en-US" smtClean="0"/>
              <a:t>A plus sign (+) indicates that the preceding character should appear one or more times in the pattern.</a:t>
            </a:r>
          </a:p>
          <a:p>
            <a:r>
              <a:rPr lang="en-US" smtClean="0"/>
              <a:t>A asterisk (*) indicates that the preceding character should appear zero or more times in the pattern. </a:t>
            </a:r>
          </a:p>
          <a:p>
            <a:r>
              <a:rPr lang="en-US" smtClean="0"/>
              <a:t>Curly brackets with one parameter ( {n} ) indicate that the preceding character should appear exactly n times in the pattern.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mtClean="0"/>
              <a:t>Common Characters( . \d \D \w \W)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mtClean="0"/>
              <a:t>A period ( . ) represents any character except a newline.</a:t>
            </a:r>
          </a:p>
          <a:p>
            <a:r>
              <a:rPr lang="en-US" smtClean="0"/>
              <a:t>Backslash-d ( \d ) represents any digit. It is the equivalent of [0-9].</a:t>
            </a:r>
          </a:p>
          <a:p>
            <a:r>
              <a:rPr lang="en-US" smtClean="0"/>
              <a:t>Backslash-D ( \D ) represents any character except a digit. It is the equivalent of [^0-9].</a:t>
            </a:r>
          </a:p>
          <a:p>
            <a:r>
              <a:rPr lang="en-US" smtClean="0"/>
              <a:t>Backslash-w ( \w ) represents any word character (letters, digits, and the underscore (_) ).</a:t>
            </a:r>
          </a:p>
          <a:p>
            <a:r>
              <a:rPr lang="en-US" smtClean="0"/>
              <a:t>Backslash-W ( \W ) represents any character except a word character.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Grouping ( [] )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Square brackets ( [] ) are used to group options.</a:t>
            </a:r>
          </a:p>
          <a:p>
            <a:r>
              <a:rPr lang="en-US" smtClean="0"/>
              <a:t>The pattern f[aeiou]d can be found in "fad" and "fed", but not in "food", "faed" or "fd".</a:t>
            </a:r>
          </a:p>
          <a:p>
            <a:r>
              <a:rPr lang="en-US" smtClean="0"/>
              <a:t>The pattern f[aeiou]{2}d can be found in "faed" and "feod", but not in "fod", "fed" or "fd".</a:t>
            </a:r>
          </a:p>
          <a:p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mtClean="0"/>
              <a:t>Negation ( ^ ) and Subpatterns ( () )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When used after the first character of the regular expression, the caret ( ^ ) is used for negation.</a:t>
            </a:r>
          </a:p>
          <a:p>
            <a:r>
              <a:rPr lang="en-US" smtClean="0"/>
              <a:t>The pattern f[^aeiou]d can be found in "fqd" and "f4d", but not in "fad" or "fed".</a:t>
            </a:r>
          </a:p>
          <a:p>
            <a:r>
              <a:rPr lang="en-US" smtClean="0"/>
              <a:t>Parentheses ( () ) are used to capture subpatterns.</a:t>
            </a:r>
          </a:p>
          <a:p>
            <a:r>
              <a:rPr lang="en-US" smtClean="0"/>
              <a:t>The pattern f(oo)?d can be found in "food" and "fd", but not in "fod".</a:t>
            </a:r>
          </a:p>
          <a:p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mtClean="0"/>
              <a:t>Alternative(|) and Escape Character (\)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The pipe ( | ) is used to create optional patterns.</a:t>
            </a:r>
          </a:p>
          <a:p>
            <a:r>
              <a:rPr lang="en-US" smtClean="0"/>
              <a:t>The pattern foo$|^bar can be found in "foo" and "bar", but not "foobar".</a:t>
            </a:r>
          </a:p>
          <a:p>
            <a:r>
              <a:rPr lang="en-US" smtClean="0"/>
              <a:t>The backslash ( \ ) is used to escape special characters.</a:t>
            </a:r>
          </a:p>
          <a:p>
            <a:r>
              <a:rPr lang="en-US" smtClean="0"/>
              <a:t>The pattern fo\.d can be found in "fo.d", but not in "food" or "fo4d".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Regular expression sample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mtClean="0"/>
              <a:t>^\d{3}([\- ]?)\d{2}([\- ]?)\d{4}$</a:t>
            </a:r>
          </a:p>
          <a:p>
            <a:r>
              <a:rPr lang="en-US" smtClean="0"/>
              <a:t>Within the caret (^) and dollar sign ($), which are used to specify the beginning and end of the pattern, there are three sequences of digits, optionally separated by a hyphen or a space</a:t>
            </a:r>
          </a:p>
          <a:p>
            <a:r>
              <a:rPr lang="en-US" smtClean="0"/>
              <a:t>Matched strings </a:t>
            </a:r>
          </a:p>
          <a:p>
            <a:pPr lvl="2"/>
            <a:r>
              <a:rPr lang="en-US" smtClean="0"/>
              <a:t>123-45-6789</a:t>
            </a:r>
          </a:p>
          <a:p>
            <a:pPr lvl="2"/>
            <a:r>
              <a:rPr lang="en-US" smtClean="0"/>
              <a:t>123 45 6789</a:t>
            </a:r>
          </a:p>
          <a:p>
            <a:pPr lvl="2"/>
            <a:r>
              <a:rPr lang="en-US" smtClean="0"/>
              <a:t>123456789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Validation with Regular Expression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smtClean="0"/>
              <a:t>Regular expressions make it easy to create powerful form validation functions.</a:t>
            </a:r>
          </a:p>
          <a:p>
            <a:pPr>
              <a:buNone/>
            </a:pPr>
            <a:r>
              <a:rPr lang="en-US" smtClean="0"/>
              <a:t>var RE_PASSWORD = /^[A-Za-z\d]{6,8}$/;</a:t>
            </a:r>
          </a:p>
          <a:p>
            <a:pPr>
              <a:buNone/>
            </a:pPr>
            <a:r>
              <a:rPr lang="en-US" smtClean="0"/>
              <a:t>function validate(form){</a:t>
            </a:r>
          </a:p>
          <a:p>
            <a:pPr>
              <a:buNone/>
            </a:pPr>
            <a:r>
              <a:rPr lang="en-US" smtClean="0"/>
              <a:t>var password = form.Password.value;</a:t>
            </a:r>
          </a:p>
          <a:p>
            <a:pPr>
              <a:buNone/>
            </a:pPr>
            <a:r>
              <a:rPr lang="en-US" smtClean="0"/>
              <a:t> var errors = “”;</a:t>
            </a:r>
          </a:p>
          <a:p>
            <a:pPr>
              <a:buNone/>
            </a:pPr>
            <a:r>
              <a:rPr lang="en-US" smtClean="0"/>
              <a:t>if (!RE_PASSWORD.test(password)) {</a:t>
            </a:r>
          </a:p>
          <a:p>
            <a:pPr>
              <a:buNone/>
            </a:pPr>
            <a:r>
              <a:rPr lang="en-US" smtClean="0"/>
              <a:t> errors = "You must enter a valid password.";</a:t>
            </a:r>
          </a:p>
          <a:p>
            <a:pPr>
              <a:buNone/>
            </a:pPr>
            <a:r>
              <a:rPr lang="en-US" smtClean="0"/>
              <a:t> }</a:t>
            </a:r>
          </a:p>
          <a:p>
            <a:pPr>
              <a:buNone/>
            </a:pPr>
            <a:r>
              <a:rPr lang="en-US" smtClean="0"/>
              <a:t> if (errors != “”) {</a:t>
            </a:r>
          </a:p>
          <a:p>
            <a:pPr>
              <a:buNone/>
            </a:pPr>
            <a:r>
              <a:rPr lang="en-US" smtClean="0"/>
              <a:t> alert(errors);</a:t>
            </a:r>
          </a:p>
          <a:p>
            <a:pPr>
              <a:buNone/>
            </a:pPr>
            <a:r>
              <a:rPr lang="en-US" smtClean="0"/>
              <a:t> return false;</a:t>
            </a:r>
          </a:p>
          <a:p>
            <a:pPr>
              <a:buNone/>
            </a:pPr>
            <a:r>
              <a:rPr lang="en-US" smtClean="0"/>
              <a:t> }</a:t>
            </a:r>
          </a:p>
          <a:p>
            <a:pPr>
              <a:buNone/>
            </a:pPr>
            <a:r>
              <a:rPr lang="en-US" smtClean="0"/>
              <a:t> return true;</a:t>
            </a:r>
          </a:p>
          <a:p>
            <a:pPr>
              <a:buNone/>
            </a:pPr>
            <a:r>
              <a:rPr lang="en-US" smtClean="0"/>
              <a:t>}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Output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19200" y="1447800"/>
            <a:ext cx="5562600" cy="50078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Form validation with reg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smtClean="0"/>
              <a:t>&lt;html&gt;</a:t>
            </a:r>
          </a:p>
          <a:p>
            <a:pPr>
              <a:buNone/>
            </a:pPr>
            <a:r>
              <a:rPr lang="en-US" smtClean="0"/>
              <a:t>&lt;head&gt;</a:t>
            </a:r>
          </a:p>
          <a:p>
            <a:pPr>
              <a:buNone/>
            </a:pPr>
            <a:r>
              <a:rPr lang="en-US" smtClean="0"/>
              <a:t>&lt;title&gt;ssn Checker&lt;/title&gt;</a:t>
            </a:r>
          </a:p>
          <a:p>
            <a:pPr>
              <a:buNone/>
            </a:pPr>
            <a:r>
              <a:rPr lang="en-US" smtClean="0"/>
              <a:t>&lt;script type="text/javascript"&gt;</a:t>
            </a:r>
          </a:p>
          <a:p>
            <a:pPr>
              <a:buNone/>
            </a:pPr>
            <a:r>
              <a:rPr lang="en-US" smtClean="0"/>
              <a:t>var RE_SSN =</a:t>
            </a:r>
          </a:p>
          <a:p>
            <a:pPr>
              <a:buNone/>
            </a:pPr>
            <a:r>
              <a:rPr lang="en-US" smtClean="0"/>
              <a:t> /^[0-9]{3}[\- ]?[0-9]{2}[\- ]?[0-9]{4}$/;</a:t>
            </a:r>
          </a:p>
          <a:p>
            <a:pPr>
              <a:buNone/>
            </a:pPr>
            <a:r>
              <a:rPr lang="en-US" smtClean="0"/>
              <a:t>function checkSsn(ssn){</a:t>
            </a:r>
          </a:p>
          <a:p>
            <a:pPr>
              <a:buNone/>
            </a:pPr>
            <a:r>
              <a:rPr lang="en-US" smtClean="0"/>
              <a:t> if (RE_SSN.test(ssn)) {</a:t>
            </a:r>
          </a:p>
          <a:p>
            <a:pPr>
              <a:buNone/>
            </a:pPr>
            <a:r>
              <a:rPr lang="en-US" smtClean="0"/>
              <a:t>  alert("VALID SSN");</a:t>
            </a:r>
          </a:p>
          <a:p>
            <a:pPr>
              <a:buNone/>
            </a:pPr>
            <a:r>
              <a:rPr lang="en-US" smtClean="0"/>
              <a:t> } else {</a:t>
            </a:r>
          </a:p>
          <a:p>
            <a:pPr>
              <a:buNone/>
            </a:pPr>
            <a:r>
              <a:rPr lang="en-US" smtClean="0"/>
              <a:t>  alert("INVALID SSN");</a:t>
            </a:r>
          </a:p>
          <a:p>
            <a:pPr>
              <a:buNone/>
            </a:pPr>
            <a:r>
              <a:rPr lang="en-US" smtClean="0"/>
              <a:t> }</a:t>
            </a:r>
          </a:p>
          <a:p>
            <a:pPr>
              <a:buNone/>
            </a:pPr>
            <a:r>
              <a:rPr lang="en-US" smtClean="0"/>
              <a:t>}</a:t>
            </a:r>
          </a:p>
          <a:p>
            <a:pPr>
              <a:buNone/>
            </a:pPr>
            <a:r>
              <a:rPr lang="en-US" smtClean="0"/>
              <a:t>&lt;/script&gt;</a:t>
            </a:r>
            <a:endParaRPr lang="en-US" dirty="0" smtClean="0"/>
          </a:p>
        </p:txBody>
      </p:sp>
      <p:sp>
        <p:nvSpPr>
          <p:cNvPr id="10" name="TextBox 9"/>
          <p:cNvSpPr txBox="1"/>
          <p:nvPr/>
        </p:nvSpPr>
        <p:spPr>
          <a:xfrm>
            <a:off x="5105400" y="2057400"/>
            <a:ext cx="4038600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000" dirty="0" smtClean="0">
                <a:solidFill>
                  <a:schemeClr val="bg1"/>
                </a:solidFill>
              </a:rPr>
              <a:t>&lt;/head&gt;</a:t>
            </a:r>
          </a:p>
          <a:p>
            <a:pPr>
              <a:buNone/>
            </a:pPr>
            <a:r>
              <a:rPr lang="en-US" sz="2000" dirty="0" smtClean="0">
                <a:solidFill>
                  <a:schemeClr val="bg1"/>
                </a:solidFill>
              </a:rPr>
              <a:t>&lt;body&gt;</a:t>
            </a:r>
          </a:p>
          <a:p>
            <a:pPr>
              <a:buNone/>
            </a:pPr>
            <a:r>
              <a:rPr lang="en-US" sz="2000" dirty="0" smtClean="0">
                <a:solidFill>
                  <a:schemeClr val="bg1"/>
                </a:solidFill>
              </a:rPr>
              <a:t> &lt;form </a:t>
            </a:r>
            <a:r>
              <a:rPr lang="en-US" sz="2000" dirty="0" err="1" smtClean="0">
                <a:solidFill>
                  <a:schemeClr val="bg1"/>
                </a:solidFill>
              </a:rPr>
              <a:t>onsubmit</a:t>
            </a:r>
            <a:r>
              <a:rPr lang="en-US" sz="2000" dirty="0" smtClean="0">
                <a:solidFill>
                  <a:schemeClr val="bg1"/>
                </a:solidFill>
              </a:rPr>
              <a:t>="return false;"&gt;</a:t>
            </a:r>
          </a:p>
          <a:p>
            <a:pPr>
              <a:buNone/>
            </a:pPr>
            <a:r>
              <a:rPr lang="en-US" sz="2000" dirty="0" smtClean="0">
                <a:solidFill>
                  <a:schemeClr val="bg1"/>
                </a:solidFill>
              </a:rPr>
              <a:t>  &lt;input type="text" name="</a:t>
            </a:r>
            <a:r>
              <a:rPr lang="en-US" sz="2000" dirty="0" err="1" smtClean="0">
                <a:solidFill>
                  <a:schemeClr val="bg1"/>
                </a:solidFill>
              </a:rPr>
              <a:t>ssn</a:t>
            </a:r>
            <a:r>
              <a:rPr lang="en-US" sz="2000" dirty="0" smtClean="0">
                <a:solidFill>
                  <a:schemeClr val="bg1"/>
                </a:solidFill>
              </a:rPr>
              <a:t>" size="20"&gt;</a:t>
            </a:r>
          </a:p>
          <a:p>
            <a:pPr>
              <a:buNone/>
            </a:pPr>
            <a:r>
              <a:rPr lang="en-US" sz="2000" dirty="0" smtClean="0">
                <a:solidFill>
                  <a:schemeClr val="bg1"/>
                </a:solidFill>
              </a:rPr>
              <a:t>  &lt;input type="button" value="Check" </a:t>
            </a:r>
          </a:p>
          <a:p>
            <a:pPr>
              <a:buNone/>
            </a:pPr>
            <a:r>
              <a:rPr lang="en-US" sz="2000" dirty="0" err="1" smtClean="0">
                <a:solidFill>
                  <a:schemeClr val="bg1"/>
                </a:solidFill>
              </a:rPr>
              <a:t>onclick</a:t>
            </a:r>
            <a:r>
              <a:rPr lang="en-US" sz="2000" dirty="0" smtClean="0">
                <a:solidFill>
                  <a:schemeClr val="bg1"/>
                </a:solidFill>
              </a:rPr>
              <a:t>="</a:t>
            </a:r>
            <a:r>
              <a:rPr lang="en-US" sz="2000" dirty="0" err="1" smtClean="0">
                <a:solidFill>
                  <a:schemeClr val="bg1"/>
                </a:solidFill>
              </a:rPr>
              <a:t>checkSsn</a:t>
            </a:r>
            <a:r>
              <a:rPr lang="en-US" sz="2000" dirty="0" smtClean="0">
                <a:solidFill>
                  <a:schemeClr val="bg1"/>
                </a:solidFill>
              </a:rPr>
              <a:t>(</a:t>
            </a:r>
            <a:r>
              <a:rPr lang="en-US" sz="2000" dirty="0" err="1" smtClean="0">
                <a:solidFill>
                  <a:schemeClr val="bg1"/>
                </a:solidFill>
              </a:rPr>
              <a:t>this.form.ssn.value</a:t>
            </a:r>
            <a:r>
              <a:rPr lang="en-US" sz="2000" dirty="0" smtClean="0">
                <a:solidFill>
                  <a:schemeClr val="bg1"/>
                </a:solidFill>
              </a:rPr>
              <a:t>);"&gt;</a:t>
            </a:r>
          </a:p>
          <a:p>
            <a:pPr>
              <a:buNone/>
            </a:pPr>
            <a:r>
              <a:rPr lang="en-US" sz="2000" dirty="0" smtClean="0">
                <a:solidFill>
                  <a:schemeClr val="bg1"/>
                </a:solidFill>
              </a:rPr>
              <a:t> &lt;/form&gt;</a:t>
            </a:r>
          </a:p>
          <a:p>
            <a:pPr>
              <a:buNone/>
            </a:pPr>
            <a:r>
              <a:rPr lang="en-US" sz="2000" dirty="0" smtClean="0">
                <a:solidFill>
                  <a:schemeClr val="bg1"/>
                </a:solidFill>
              </a:rPr>
              <a:t>&lt;/body&gt;</a:t>
            </a:r>
          </a:p>
          <a:p>
            <a:pPr>
              <a:buNone/>
            </a:pPr>
            <a:r>
              <a:rPr lang="en-US" sz="2000" dirty="0" smtClean="0">
                <a:solidFill>
                  <a:schemeClr val="bg1"/>
                </a:solidFill>
              </a:rPr>
              <a:t>&lt;/html&gt;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Summary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smtClean="0"/>
              <a:t>Regular expressions are used to do sophisticated pattern matching, which can often be helpful in form validation</a:t>
            </a:r>
          </a:p>
          <a:p>
            <a:r>
              <a:rPr lang="en-US" smtClean="0"/>
              <a:t>The methods that can be used with Regular Expression includes:</a:t>
            </a:r>
          </a:p>
          <a:p>
            <a:pPr>
              <a:buNone/>
            </a:pPr>
            <a:r>
              <a:rPr lang="en-US" smtClean="0"/>
              <a:t>		Exec, Test, Match, Search, Replace, Split</a:t>
            </a:r>
          </a:p>
          <a:p>
            <a:r>
              <a:rPr lang="en-US" smtClean="0"/>
              <a:t>A regular expression is a pattern that specifies a list of characters</a:t>
            </a:r>
          </a:p>
          <a:p>
            <a:pPr lvl="1"/>
            <a:r>
              <a:rPr lang="en-US" smtClean="0"/>
              <a:t>Start and End ( ^ $ )</a:t>
            </a:r>
          </a:p>
          <a:p>
            <a:pPr lvl="1"/>
            <a:r>
              <a:rPr lang="en-US" smtClean="0"/>
              <a:t>Number of Occurrences ( ? + * {} )</a:t>
            </a:r>
          </a:p>
          <a:p>
            <a:pPr lvl="1"/>
            <a:r>
              <a:rPr lang="en-US" smtClean="0"/>
              <a:t>Common Characters ( . \d \D \w \W  )</a:t>
            </a:r>
          </a:p>
          <a:p>
            <a:pPr lvl="1"/>
            <a:r>
              <a:rPr lang="en-US" smtClean="0"/>
              <a:t>Grouping ( [] )</a:t>
            </a:r>
          </a:p>
          <a:p>
            <a:pPr lvl="1"/>
            <a:r>
              <a:rPr lang="en-US" smtClean="0"/>
              <a:t>Subpatterns ( () )</a:t>
            </a:r>
          </a:p>
          <a:p>
            <a:pPr lvl="1"/>
            <a:r>
              <a:rPr lang="en-US" smtClean="0"/>
              <a:t>Escape Character ( \ )</a:t>
            </a:r>
          </a:p>
          <a:p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Exam Not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Exam Notes</Template>
  <TotalTime>2749</TotalTime>
  <Words>990</Words>
  <Application>Microsoft Office PowerPoint</Application>
  <PresentationFormat>On-screen Show (4:3)</PresentationFormat>
  <Paragraphs>126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Exam Notes</vt:lpstr>
      <vt:lpstr>HTML</vt:lpstr>
      <vt:lpstr>OBJECTIVES</vt:lpstr>
      <vt:lpstr>Introduction to regular expression</vt:lpstr>
      <vt:lpstr>Regular Expression Methods</vt:lpstr>
      <vt:lpstr>Regular expression sample</vt:lpstr>
      <vt:lpstr>Regular Expression Syntax</vt:lpstr>
      <vt:lpstr>Start and End ( ^ $ )</vt:lpstr>
      <vt:lpstr>Number of Occurrences ( ? + * {} )</vt:lpstr>
      <vt:lpstr>Common Characters( . \d \D \w \W)</vt:lpstr>
      <vt:lpstr>Grouping ( [] )</vt:lpstr>
      <vt:lpstr>Negation ( ^ ) and Subpatterns ( () )</vt:lpstr>
      <vt:lpstr>Alternative(|) and Escape Character (\)</vt:lpstr>
      <vt:lpstr>Regular expression sample</vt:lpstr>
      <vt:lpstr>Validation with Regular Expression</vt:lpstr>
      <vt:lpstr>Output</vt:lpstr>
      <vt:lpstr>Form validation with reg</vt:lpstr>
      <vt:lpstr>Summary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PROGRAMMING C#</dc:title>
  <dc:creator>Lucky Luke</dc:creator>
  <cp:lastModifiedBy>User</cp:lastModifiedBy>
  <cp:revision>139</cp:revision>
  <dcterms:created xsi:type="dcterms:W3CDTF">2008-09-22T06:35:02Z</dcterms:created>
  <dcterms:modified xsi:type="dcterms:W3CDTF">2013-08-21T07:53:28Z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TC300014521033</vt:lpwstr>
  </property>
</Properties>
</file>