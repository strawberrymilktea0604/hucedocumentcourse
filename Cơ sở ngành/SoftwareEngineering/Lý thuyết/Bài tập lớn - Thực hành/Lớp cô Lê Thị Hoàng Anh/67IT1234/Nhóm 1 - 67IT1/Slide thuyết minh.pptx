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2" r:id="rId2"/>
    <p:sldMasterId id="2147483693" r:id="rId3"/>
    <p:sldMasterId id="2147483704" r:id="rId4"/>
    <p:sldMasterId id="2147483715" r:id="rId5"/>
  </p:sldMasterIdLst>
  <p:sldIdLst>
    <p:sldId id="278" r:id="rId6"/>
    <p:sldId id="259" r:id="rId7"/>
    <p:sldId id="257" r:id="rId8"/>
    <p:sldId id="260" r:id="rId9"/>
    <p:sldId id="314" r:id="rId10"/>
    <p:sldId id="262" r:id="rId11"/>
    <p:sldId id="315" r:id="rId12"/>
    <p:sldId id="316" r:id="rId13"/>
    <p:sldId id="264" r:id="rId14"/>
    <p:sldId id="317" r:id="rId15"/>
    <p:sldId id="266" r:id="rId16"/>
    <p:sldId id="268" r:id="rId17"/>
    <p:sldId id="270" r:id="rId18"/>
    <p:sldId id="271" r:id="rId19"/>
    <p:sldId id="283" r:id="rId20"/>
    <p:sldId id="285" r:id="rId21"/>
    <p:sldId id="286" r:id="rId22"/>
    <p:sldId id="318" r:id="rId23"/>
    <p:sldId id="287" r:id="rId24"/>
    <p:sldId id="319" r:id="rId25"/>
    <p:sldId id="320" r:id="rId26"/>
    <p:sldId id="288" r:id="rId27"/>
    <p:sldId id="321" r:id="rId28"/>
    <p:sldId id="322" r:id="rId29"/>
    <p:sldId id="323" r:id="rId30"/>
    <p:sldId id="289" r:id="rId31"/>
    <p:sldId id="324" r:id="rId32"/>
    <p:sldId id="325" r:id="rId33"/>
    <p:sldId id="291" r:id="rId34"/>
    <p:sldId id="292" r:id="rId35"/>
    <p:sldId id="293" r:id="rId36"/>
    <p:sldId id="294" r:id="rId37"/>
    <p:sldId id="295" r:id="rId38"/>
    <p:sldId id="296" r:id="rId39"/>
    <p:sldId id="297" r:id="rId40"/>
    <p:sldId id="298" r:id="rId41"/>
    <p:sldId id="326" r:id="rId42"/>
    <p:sldId id="299" r:id="rId43"/>
    <p:sldId id="300" r:id="rId44"/>
    <p:sldId id="302" r:id="rId45"/>
    <p:sldId id="327" r:id="rId46"/>
    <p:sldId id="303" r:id="rId47"/>
    <p:sldId id="328" r:id="rId48"/>
    <p:sldId id="304" r:id="rId49"/>
    <p:sldId id="329" r:id="rId50"/>
    <p:sldId id="305" r:id="rId51"/>
    <p:sldId id="312" r:id="rId52"/>
    <p:sldId id="330" r:id="rId53"/>
    <p:sldId id="301" r:id="rId54"/>
    <p:sldId id="306" r:id="rId55"/>
    <p:sldId id="307" r:id="rId56"/>
    <p:sldId id="308" r:id="rId57"/>
    <p:sldId id="331" r:id="rId58"/>
    <p:sldId id="309" r:id="rId59"/>
    <p:sldId id="310" r:id="rId60"/>
    <p:sldId id="311" r:id="rId61"/>
    <p:sldId id="313"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varScale="1">
        <p:scale>
          <a:sx n="82" d="100"/>
          <a:sy n="82" d="100"/>
        </p:scale>
        <p:origin x="73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525"/>
            <a:ext cx="27432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BBD8F2B-CE64-4C36-8D12-D3CB3DC5F723}" type="datetime1">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9/21/2024</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3"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525"/>
            <a:ext cx="41148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4"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700" y="6492875"/>
            <a:ext cx="2743200" cy="365125"/>
          </a:xfrm>
          <a:prstGeom prst="rect">
            <a:avLst/>
          </a:prstGeom>
        </p:spPr>
        <p:txBody>
          <a:bodyPr/>
          <a:lstStyle>
            <a:lvl1pPr algn="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2037A2-5078-4DA1-A7B9-9CFA8E9AAFB3}" type="slidenum">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Tree>
    <p:extLst>
      <p:ext uri="{BB962C8B-B14F-4D97-AF65-F5344CB8AC3E}">
        <p14:creationId xmlns:p14="http://schemas.microsoft.com/office/powerpoint/2010/main" val="1087564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49750" y="293688"/>
            <a:ext cx="34925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4">
            <a:extLst>
              <a:ext uri="{FF2B5EF4-FFF2-40B4-BE49-F238E27FC236}">
                <a16:creationId xmlns:a16="http://schemas.microsoft.com/office/drawing/2014/main" id="{4C167836-5AFF-4757-AB55-39FD3BBF9D47}"/>
              </a:ext>
            </a:extLst>
          </p:cNvPr>
          <p:cNvSpPr>
            <a:spLocks noGrp="1"/>
          </p:cNvSpPr>
          <p:nvPr>
            <p:ph type="title"/>
          </p:nvPr>
        </p:nvSpPr>
        <p:spPr>
          <a:xfrm>
            <a:off x="2416969" y="2461846"/>
            <a:ext cx="7358062" cy="1934307"/>
          </a:xfrm>
          <a:prstGeom prst="rect">
            <a:avLst/>
          </a:prstGeom>
        </p:spPr>
        <p:txBody>
          <a:bodyPr anchor="ctr" anchorCtr="0"/>
          <a:lstStyle>
            <a:lvl1pPr algn="ctr">
              <a:defRPr sz="4800" b="1">
                <a:solidFill>
                  <a:schemeClr val="bg1"/>
                </a:solidFill>
                <a:latin typeface="Arial" panose="020B0604020202020204" pitchFamily="34" charset="0"/>
                <a:ea typeface="Tahoma" panose="020B060403050404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88009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DEAFB3E9-4F5E-435C-B51A-CC5766A852DA}"/>
              </a:ext>
            </a:extLst>
          </p:cNvPr>
          <p:cNvSpPr>
            <a:spLocks noGrp="1"/>
          </p:cNvSpPr>
          <p:nvPr>
            <p:ph type="title"/>
          </p:nvPr>
        </p:nvSpPr>
        <p:spPr>
          <a:xfrm>
            <a:off x="338736" y="278573"/>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dirty="0"/>
              <a:t>Click to edit Master title style</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7" y="1650124"/>
            <a:ext cx="11514528" cy="4317843"/>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4"/>
          </p:nvPr>
        </p:nvSpPr>
        <p:spPr>
          <a:xfrm>
            <a:off x="858838" y="6580188"/>
            <a:ext cx="2743200" cy="271462"/>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6D27D26-129B-4DE5-991C-093DF518A97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5"/>
          </p:nvPr>
        </p:nvSpPr>
        <p:spPr>
          <a:xfrm>
            <a:off x="4059238" y="6580188"/>
            <a:ext cx="4114800" cy="271462"/>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6"/>
          </p:nvPr>
        </p:nvSpPr>
        <p:spPr>
          <a:xfrm>
            <a:off x="9177338" y="6586538"/>
            <a:ext cx="2743200" cy="271462"/>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18A200D-96ED-4DC4-87C1-24E548F6DEEA}"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9680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 name="Title 8">
            <a:extLst>
              <a:ext uri="{FF2B5EF4-FFF2-40B4-BE49-F238E27FC236}">
                <a16:creationId xmlns:a16="http://schemas.microsoft.com/office/drawing/2014/main" id="{FC0C4515-8106-49DA-9C06-E98AF815242A}"/>
              </a:ext>
            </a:extLst>
          </p:cNvPr>
          <p:cNvSpPr>
            <a:spLocks noGrp="1"/>
          </p:cNvSpPr>
          <p:nvPr>
            <p:ph type="title"/>
          </p:nvPr>
        </p:nvSpPr>
        <p:spPr>
          <a:xfrm>
            <a:off x="338736" y="280708"/>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p:nvPr>
        </p:nvSpPr>
        <p:spPr>
          <a:xfrm>
            <a:off x="330201" y="1684455"/>
            <a:ext cx="5765800" cy="437820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p:nvPr>
        </p:nvSpPr>
        <p:spPr>
          <a:xfrm>
            <a:off x="6238876" y="1692166"/>
            <a:ext cx="5445125" cy="4378436"/>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picture</a:t>
            </a:r>
            <a:endParaRPr lang="en-US" noProof="0" dirty="0"/>
          </a:p>
        </p:txBody>
      </p:sp>
      <p:sp>
        <p:nvSpPr>
          <p:cNvPr id="5" name="Date Placeholder 3">
            <a:extLst>
              <a:ext uri="{FF2B5EF4-FFF2-40B4-BE49-F238E27FC236}">
                <a16:creationId xmlns:a16="http://schemas.microsoft.com/office/drawing/2014/main" id="{84B5929F-A28F-4256-A6B2-5D095331D016}"/>
              </a:ext>
            </a:extLst>
          </p:cNvPr>
          <p:cNvSpPr>
            <a:spLocks noGrp="1"/>
          </p:cNvSpPr>
          <p:nvPr>
            <p:ph type="dt" sz="half" idx="15"/>
          </p:nvPr>
        </p:nvSpPr>
        <p:spPr>
          <a:xfrm>
            <a:off x="858838" y="6577013"/>
            <a:ext cx="2743200" cy="27463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7234FD3-A899-4FA5-A340-B2A9D4CCF789}"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7C2F339A-915E-4496-B889-28FBBAAD3123}"/>
              </a:ext>
            </a:extLst>
          </p:cNvPr>
          <p:cNvSpPr>
            <a:spLocks noGrp="1"/>
          </p:cNvSpPr>
          <p:nvPr>
            <p:ph type="ftr" sz="quarter" idx="16"/>
          </p:nvPr>
        </p:nvSpPr>
        <p:spPr>
          <a:xfrm>
            <a:off x="4059238" y="6577013"/>
            <a:ext cx="4114800" cy="274637"/>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028A2E5F-7F4D-4F39-A494-67088E8046DE}"/>
              </a:ext>
            </a:extLst>
          </p:cNvPr>
          <p:cNvSpPr>
            <a:spLocks noGrp="1"/>
          </p:cNvSpPr>
          <p:nvPr>
            <p:ph type="sldNum" sz="quarter" idx="17"/>
          </p:nvPr>
        </p:nvSpPr>
        <p:spPr>
          <a:xfrm>
            <a:off x="9177338" y="6584950"/>
            <a:ext cx="2743200" cy="273050"/>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4A97993-DB7A-43B0-A65C-DD8B50013FA7}"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0002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p:nvPr>
        </p:nvSpPr>
        <p:spPr>
          <a:xfrm>
            <a:off x="338737"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40" y="1671145"/>
            <a:ext cx="11515725" cy="4300080"/>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9BA7CA-DC84-4A35-BD8A-C14D582181A5}"/>
              </a:ext>
            </a:extLst>
          </p:cNvPr>
          <p:cNvSpPr>
            <a:spLocks noGrp="1"/>
          </p:cNvSpPr>
          <p:nvPr>
            <p:ph type="dt" sz="half" idx="14"/>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93C4155-DC89-490B-83C1-884026AE63BB}"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1DCC345-F4E6-42D6-9173-88011D0E2741}"/>
              </a:ext>
            </a:extLst>
          </p:cNvPr>
          <p:cNvSpPr>
            <a:spLocks noGrp="1"/>
          </p:cNvSpPr>
          <p:nvPr>
            <p:ph type="ftr" sz="quarter" idx="15"/>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BD82AFB1-CD7C-4710-A82A-F9FEE6DA5C86}"/>
              </a:ext>
            </a:extLst>
          </p:cNvPr>
          <p:cNvSpPr>
            <a:spLocks noGrp="1"/>
          </p:cNvSpPr>
          <p:nvPr>
            <p:ph type="sldNum" sz="quarter" idx="16"/>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D1F0299-9F1E-44A7-B16B-C99D4BF2FA7C}"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697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698124" y="1248325"/>
            <a:ext cx="7251648" cy="5205412"/>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p:nvPr>
        </p:nvSpPr>
        <p:spPr>
          <a:xfrm>
            <a:off x="4698124" y="404265"/>
            <a:ext cx="7251648" cy="436098"/>
          </a:xfrm>
          <a:prstGeom prst="rect">
            <a:avLst/>
          </a:prstGeom>
        </p:spPr>
        <p:txBody>
          <a:bodyPr/>
          <a:lstStyle>
            <a:lvl1pPr>
              <a:defRPr sz="2800" b="1">
                <a:solidFill>
                  <a:srgbClr val="2B4196"/>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4F1F29B1-F2F8-4527-A0B9-5A566F0DB568}"/>
              </a:ext>
            </a:extLst>
          </p:cNvPr>
          <p:cNvSpPr>
            <a:spLocks noGrp="1"/>
          </p:cNvSpPr>
          <p:nvPr>
            <p:ph type="dt" sz="half" idx="14"/>
          </p:nvPr>
        </p:nvSpPr>
        <p:spPr>
          <a:xfrm>
            <a:off x="858838" y="6610350"/>
            <a:ext cx="2743200" cy="241300"/>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374397-F666-4EEB-9631-6533AA3623A6}"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B1F89192-9608-4DA0-9D58-CE5D74F0161B}"/>
              </a:ext>
            </a:extLst>
          </p:cNvPr>
          <p:cNvSpPr>
            <a:spLocks noGrp="1"/>
          </p:cNvSpPr>
          <p:nvPr>
            <p:ph type="ftr" sz="quarter" idx="15"/>
          </p:nvPr>
        </p:nvSpPr>
        <p:spPr>
          <a:xfrm>
            <a:off x="4059238" y="6610350"/>
            <a:ext cx="4114800" cy="241300"/>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1300396-45C9-472A-AA37-70408F1C2FAF}"/>
              </a:ext>
            </a:extLst>
          </p:cNvPr>
          <p:cNvSpPr>
            <a:spLocks noGrp="1"/>
          </p:cNvSpPr>
          <p:nvPr>
            <p:ph type="sldNum" sz="quarter" idx="16"/>
          </p:nvPr>
        </p:nvSpPr>
        <p:spPr>
          <a:xfrm>
            <a:off x="9177338" y="6618288"/>
            <a:ext cx="2743200" cy="239712"/>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B63725B-6066-4BE8-A639-5F3621BE90CF}"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6117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p:nvPr>
        </p:nvSpPr>
        <p:spPr>
          <a:xfrm>
            <a:off x="338736" y="1681655"/>
            <a:ext cx="5757264"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p:nvPr>
        </p:nvSpPr>
        <p:spPr>
          <a:xfrm>
            <a:off x="6210301" y="1681653"/>
            <a:ext cx="5592763"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table</a:t>
            </a:r>
            <a:endParaRPr lang="en-US" noProof="0" dirty="0"/>
          </a:p>
        </p:txBody>
      </p:sp>
      <p:sp>
        <p:nvSpPr>
          <p:cNvPr id="5" name="Date Placeholder 3">
            <a:extLst>
              <a:ext uri="{FF2B5EF4-FFF2-40B4-BE49-F238E27FC236}">
                <a16:creationId xmlns:a16="http://schemas.microsoft.com/office/drawing/2014/main" id="{98A78F82-82C6-4F07-B7D8-4A1219A1BB45}"/>
              </a:ext>
            </a:extLst>
          </p:cNvPr>
          <p:cNvSpPr>
            <a:spLocks noGrp="1"/>
          </p:cNvSpPr>
          <p:nvPr>
            <p:ph type="dt" sz="half" idx="15"/>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B22094C-DC05-4605-9134-2BB1E18B391A}"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12041C72-5CA2-4523-9F1E-50662A3276CE}"/>
              </a:ext>
            </a:extLst>
          </p:cNvPr>
          <p:cNvSpPr>
            <a:spLocks noGrp="1"/>
          </p:cNvSpPr>
          <p:nvPr>
            <p:ph type="ftr" sz="quarter" idx="16"/>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3AD6B24F-6759-4931-A1C4-77BA8AF7E085}"/>
              </a:ext>
            </a:extLst>
          </p:cNvPr>
          <p:cNvSpPr>
            <a:spLocks noGrp="1"/>
          </p:cNvSpPr>
          <p:nvPr>
            <p:ph type="sldNum" sz="quarter" idx="17"/>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259DCC6-307B-4299-B8F8-A24072CB7592}"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9338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589713"/>
            <a:ext cx="2743200" cy="26828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9FAFFF-EC7E-470D-8F54-47020C9FD75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589713"/>
            <a:ext cx="4114800" cy="268287"/>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700" y="6589713"/>
            <a:ext cx="2743200" cy="268287"/>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32E91D5-C7E0-44E3-BE42-381919DE251B}"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049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8">
            <a:extLst>
              <a:ext uri="{FF2B5EF4-FFF2-40B4-BE49-F238E27FC236}">
                <a16:creationId xmlns:a16="http://schemas.microsoft.com/office/drawing/2014/main" id="{1CD850F7-B0EC-49AD-960D-051EAF5F36DD}"/>
              </a:ext>
            </a:extLst>
          </p:cNvPr>
          <p:cNvSpPr>
            <a:spLocks noGrp="1"/>
          </p:cNvSpPr>
          <p:nvPr>
            <p:ph type="title"/>
          </p:nvPr>
        </p:nvSpPr>
        <p:spPr>
          <a:xfrm>
            <a:off x="338736" y="1274245"/>
            <a:ext cx="11514528" cy="436098"/>
          </a:xfrm>
          <a:prstGeom prst="rect">
            <a:avLst/>
          </a:prstGeom>
        </p:spPr>
        <p:txBody>
          <a:bodyPr/>
          <a:lstStyle>
            <a:lvl1pPr algn="ct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a:xfrm>
            <a:off x="338736" y="1855788"/>
            <a:ext cx="11515127" cy="417671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346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98475" y="382588"/>
            <a:ext cx="39497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10"/>
          </p:nvPr>
        </p:nvSpPr>
        <p:spPr>
          <a:xfrm>
            <a:off x="498475" y="2367096"/>
            <a:ext cx="9515101" cy="863009"/>
          </a:xfrm>
          <a:prstGeom prst="rect">
            <a:avLst/>
          </a:prstGeom>
        </p:spPr>
        <p:txBody>
          <a:bodyPr/>
          <a:lstStyle>
            <a:lvl1pPr marL="0" indent="0">
              <a:buNone/>
              <a:defRPr sz="4800" b="1">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6" name="Text Placeholder 4"/>
          <p:cNvSpPr>
            <a:spLocks noGrp="1"/>
          </p:cNvSpPr>
          <p:nvPr>
            <p:ph type="body" sz="quarter" idx="11"/>
          </p:nvPr>
        </p:nvSpPr>
        <p:spPr>
          <a:xfrm>
            <a:off x="498474" y="3230105"/>
            <a:ext cx="6843620" cy="839870"/>
          </a:xfrm>
          <a:prstGeom prst="rect">
            <a:avLst/>
          </a:prstGeom>
        </p:spPr>
        <p:txBody>
          <a:bodyPr/>
          <a:lstStyle>
            <a:lvl1pPr marL="0" indent="0">
              <a:buNone/>
              <a:defRPr sz="2800" b="0" baseline="0">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2018610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525"/>
            <a:ext cx="27432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BBD8F2B-CE64-4C36-8D12-D3CB3DC5F723}" type="datetime1">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9/21/2024</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3"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525"/>
            <a:ext cx="41148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4"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700" y="6492875"/>
            <a:ext cx="2743200" cy="365125"/>
          </a:xfrm>
          <a:prstGeom prst="rect">
            <a:avLst/>
          </a:prstGeom>
        </p:spPr>
        <p:txBody>
          <a:bodyPr/>
          <a:lstStyle>
            <a:lvl1pPr algn="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2037A2-5078-4DA1-A7B9-9CFA8E9AAFB3}" type="slidenum">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Tree>
    <p:extLst>
      <p:ext uri="{BB962C8B-B14F-4D97-AF65-F5344CB8AC3E}">
        <p14:creationId xmlns:p14="http://schemas.microsoft.com/office/powerpoint/2010/main" val="2113765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49750" y="293688"/>
            <a:ext cx="34925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4">
            <a:extLst>
              <a:ext uri="{FF2B5EF4-FFF2-40B4-BE49-F238E27FC236}">
                <a16:creationId xmlns:a16="http://schemas.microsoft.com/office/drawing/2014/main" id="{4C167836-5AFF-4757-AB55-39FD3BBF9D47}"/>
              </a:ext>
            </a:extLst>
          </p:cNvPr>
          <p:cNvSpPr>
            <a:spLocks noGrp="1"/>
          </p:cNvSpPr>
          <p:nvPr>
            <p:ph type="title"/>
          </p:nvPr>
        </p:nvSpPr>
        <p:spPr>
          <a:xfrm>
            <a:off x="2416969" y="2461846"/>
            <a:ext cx="7358062" cy="1934307"/>
          </a:xfrm>
          <a:prstGeom prst="rect">
            <a:avLst/>
          </a:prstGeom>
        </p:spPr>
        <p:txBody>
          <a:bodyPr anchor="ctr" anchorCtr="0"/>
          <a:lstStyle>
            <a:lvl1pPr algn="ctr">
              <a:defRPr sz="4800" b="1">
                <a:solidFill>
                  <a:schemeClr val="bg1"/>
                </a:solidFill>
                <a:latin typeface="Arial" panose="020B0604020202020204" pitchFamily="34" charset="0"/>
                <a:ea typeface="Tahoma" panose="020B060403050404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92930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DEAFB3E9-4F5E-435C-B51A-CC5766A852DA}"/>
              </a:ext>
            </a:extLst>
          </p:cNvPr>
          <p:cNvSpPr>
            <a:spLocks noGrp="1"/>
          </p:cNvSpPr>
          <p:nvPr>
            <p:ph type="title"/>
          </p:nvPr>
        </p:nvSpPr>
        <p:spPr>
          <a:xfrm>
            <a:off x="338736" y="278573"/>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dirty="0"/>
              <a:t>Click to edit Master title style</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7" y="1650124"/>
            <a:ext cx="11514528" cy="4317843"/>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4"/>
          </p:nvPr>
        </p:nvSpPr>
        <p:spPr>
          <a:xfrm>
            <a:off x="858838" y="6580188"/>
            <a:ext cx="2743200" cy="271462"/>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6D27D26-129B-4DE5-991C-093DF518A97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5"/>
          </p:nvPr>
        </p:nvSpPr>
        <p:spPr>
          <a:xfrm>
            <a:off x="4059238" y="6580188"/>
            <a:ext cx="4114800" cy="271462"/>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6"/>
          </p:nvPr>
        </p:nvSpPr>
        <p:spPr>
          <a:xfrm>
            <a:off x="9177338" y="6586538"/>
            <a:ext cx="2743200" cy="271462"/>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18A200D-96ED-4DC4-87C1-24E548F6DEEA}"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2400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 name="Title 8">
            <a:extLst>
              <a:ext uri="{FF2B5EF4-FFF2-40B4-BE49-F238E27FC236}">
                <a16:creationId xmlns:a16="http://schemas.microsoft.com/office/drawing/2014/main" id="{FC0C4515-8106-49DA-9C06-E98AF815242A}"/>
              </a:ext>
            </a:extLst>
          </p:cNvPr>
          <p:cNvSpPr>
            <a:spLocks noGrp="1"/>
          </p:cNvSpPr>
          <p:nvPr>
            <p:ph type="title"/>
          </p:nvPr>
        </p:nvSpPr>
        <p:spPr>
          <a:xfrm>
            <a:off x="338736" y="280708"/>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p:nvPr>
        </p:nvSpPr>
        <p:spPr>
          <a:xfrm>
            <a:off x="330201" y="1684455"/>
            <a:ext cx="5765800" cy="437820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p:nvPr>
        </p:nvSpPr>
        <p:spPr>
          <a:xfrm>
            <a:off x="6238876" y="1692166"/>
            <a:ext cx="5445125" cy="4378436"/>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picture</a:t>
            </a:r>
            <a:endParaRPr lang="en-US" noProof="0" dirty="0"/>
          </a:p>
        </p:txBody>
      </p:sp>
      <p:sp>
        <p:nvSpPr>
          <p:cNvPr id="5" name="Date Placeholder 3">
            <a:extLst>
              <a:ext uri="{FF2B5EF4-FFF2-40B4-BE49-F238E27FC236}">
                <a16:creationId xmlns:a16="http://schemas.microsoft.com/office/drawing/2014/main" id="{84B5929F-A28F-4256-A6B2-5D095331D016}"/>
              </a:ext>
            </a:extLst>
          </p:cNvPr>
          <p:cNvSpPr>
            <a:spLocks noGrp="1"/>
          </p:cNvSpPr>
          <p:nvPr>
            <p:ph type="dt" sz="half" idx="15"/>
          </p:nvPr>
        </p:nvSpPr>
        <p:spPr>
          <a:xfrm>
            <a:off x="858838" y="6577013"/>
            <a:ext cx="2743200" cy="27463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7234FD3-A899-4FA5-A340-B2A9D4CCF789}"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7C2F339A-915E-4496-B889-28FBBAAD3123}"/>
              </a:ext>
            </a:extLst>
          </p:cNvPr>
          <p:cNvSpPr>
            <a:spLocks noGrp="1"/>
          </p:cNvSpPr>
          <p:nvPr>
            <p:ph type="ftr" sz="quarter" idx="16"/>
          </p:nvPr>
        </p:nvSpPr>
        <p:spPr>
          <a:xfrm>
            <a:off x="4059238" y="6577013"/>
            <a:ext cx="4114800" cy="274637"/>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028A2E5F-7F4D-4F39-A494-67088E8046DE}"/>
              </a:ext>
            </a:extLst>
          </p:cNvPr>
          <p:cNvSpPr>
            <a:spLocks noGrp="1"/>
          </p:cNvSpPr>
          <p:nvPr>
            <p:ph type="sldNum" sz="quarter" idx="17"/>
          </p:nvPr>
        </p:nvSpPr>
        <p:spPr>
          <a:xfrm>
            <a:off x="9177338" y="6584950"/>
            <a:ext cx="2743200" cy="273050"/>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4A97993-DB7A-43B0-A65C-DD8B50013FA7}"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9792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p:nvPr>
        </p:nvSpPr>
        <p:spPr>
          <a:xfrm>
            <a:off x="338737"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40" y="1671145"/>
            <a:ext cx="11515725" cy="4300080"/>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9BA7CA-DC84-4A35-BD8A-C14D582181A5}"/>
              </a:ext>
            </a:extLst>
          </p:cNvPr>
          <p:cNvSpPr>
            <a:spLocks noGrp="1"/>
          </p:cNvSpPr>
          <p:nvPr>
            <p:ph type="dt" sz="half" idx="14"/>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93C4155-DC89-490B-83C1-884026AE63BB}"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1DCC345-F4E6-42D6-9173-88011D0E2741}"/>
              </a:ext>
            </a:extLst>
          </p:cNvPr>
          <p:cNvSpPr>
            <a:spLocks noGrp="1"/>
          </p:cNvSpPr>
          <p:nvPr>
            <p:ph type="ftr" sz="quarter" idx="15"/>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BD82AFB1-CD7C-4710-A82A-F9FEE6DA5C86}"/>
              </a:ext>
            </a:extLst>
          </p:cNvPr>
          <p:cNvSpPr>
            <a:spLocks noGrp="1"/>
          </p:cNvSpPr>
          <p:nvPr>
            <p:ph type="sldNum" sz="quarter" idx="16"/>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D1F0299-9F1E-44A7-B16B-C99D4BF2FA7C}"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0502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698124" y="1248325"/>
            <a:ext cx="7251648" cy="5205412"/>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p:nvPr>
        </p:nvSpPr>
        <p:spPr>
          <a:xfrm>
            <a:off x="4698124" y="404265"/>
            <a:ext cx="7251648" cy="436098"/>
          </a:xfrm>
          <a:prstGeom prst="rect">
            <a:avLst/>
          </a:prstGeom>
        </p:spPr>
        <p:txBody>
          <a:bodyPr/>
          <a:lstStyle>
            <a:lvl1pPr>
              <a:defRPr sz="2800" b="1">
                <a:solidFill>
                  <a:srgbClr val="2B4196"/>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4F1F29B1-F2F8-4527-A0B9-5A566F0DB568}"/>
              </a:ext>
            </a:extLst>
          </p:cNvPr>
          <p:cNvSpPr>
            <a:spLocks noGrp="1"/>
          </p:cNvSpPr>
          <p:nvPr>
            <p:ph type="dt" sz="half" idx="14"/>
          </p:nvPr>
        </p:nvSpPr>
        <p:spPr>
          <a:xfrm>
            <a:off x="858838" y="6610350"/>
            <a:ext cx="2743200" cy="241300"/>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374397-F666-4EEB-9631-6533AA3623A6}"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B1F89192-9608-4DA0-9D58-CE5D74F0161B}"/>
              </a:ext>
            </a:extLst>
          </p:cNvPr>
          <p:cNvSpPr>
            <a:spLocks noGrp="1"/>
          </p:cNvSpPr>
          <p:nvPr>
            <p:ph type="ftr" sz="quarter" idx="15"/>
          </p:nvPr>
        </p:nvSpPr>
        <p:spPr>
          <a:xfrm>
            <a:off x="4059238" y="6610350"/>
            <a:ext cx="4114800" cy="241300"/>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1300396-45C9-472A-AA37-70408F1C2FAF}"/>
              </a:ext>
            </a:extLst>
          </p:cNvPr>
          <p:cNvSpPr>
            <a:spLocks noGrp="1"/>
          </p:cNvSpPr>
          <p:nvPr>
            <p:ph type="sldNum" sz="quarter" idx="16"/>
          </p:nvPr>
        </p:nvSpPr>
        <p:spPr>
          <a:xfrm>
            <a:off x="9177338" y="6618288"/>
            <a:ext cx="2743200" cy="239712"/>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B63725B-6066-4BE8-A639-5F3621BE90CF}"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9939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p:nvPr>
        </p:nvSpPr>
        <p:spPr>
          <a:xfrm>
            <a:off x="338736" y="1681655"/>
            <a:ext cx="5757264"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p:nvPr>
        </p:nvSpPr>
        <p:spPr>
          <a:xfrm>
            <a:off x="6210301" y="1681653"/>
            <a:ext cx="5592763"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table</a:t>
            </a:r>
            <a:endParaRPr lang="en-US" noProof="0" dirty="0"/>
          </a:p>
        </p:txBody>
      </p:sp>
      <p:sp>
        <p:nvSpPr>
          <p:cNvPr id="5" name="Date Placeholder 3">
            <a:extLst>
              <a:ext uri="{FF2B5EF4-FFF2-40B4-BE49-F238E27FC236}">
                <a16:creationId xmlns:a16="http://schemas.microsoft.com/office/drawing/2014/main" id="{98A78F82-82C6-4F07-B7D8-4A1219A1BB45}"/>
              </a:ext>
            </a:extLst>
          </p:cNvPr>
          <p:cNvSpPr>
            <a:spLocks noGrp="1"/>
          </p:cNvSpPr>
          <p:nvPr>
            <p:ph type="dt" sz="half" idx="15"/>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B22094C-DC05-4605-9134-2BB1E18B391A}"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12041C72-5CA2-4523-9F1E-50662A3276CE}"/>
              </a:ext>
            </a:extLst>
          </p:cNvPr>
          <p:cNvSpPr>
            <a:spLocks noGrp="1"/>
          </p:cNvSpPr>
          <p:nvPr>
            <p:ph type="ftr" sz="quarter" idx="16"/>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3AD6B24F-6759-4931-A1C4-77BA8AF7E085}"/>
              </a:ext>
            </a:extLst>
          </p:cNvPr>
          <p:cNvSpPr>
            <a:spLocks noGrp="1"/>
          </p:cNvSpPr>
          <p:nvPr>
            <p:ph type="sldNum" sz="quarter" idx="17"/>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259DCC6-307B-4299-B8F8-A24072CB7592}"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14953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589713"/>
            <a:ext cx="2743200" cy="26828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9FAFFF-EC7E-470D-8F54-47020C9FD75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589713"/>
            <a:ext cx="4114800" cy="268287"/>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700" y="6589713"/>
            <a:ext cx="2743200" cy="268287"/>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32E91D5-C7E0-44E3-BE42-381919DE251B}"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45777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8">
            <a:extLst>
              <a:ext uri="{FF2B5EF4-FFF2-40B4-BE49-F238E27FC236}">
                <a16:creationId xmlns:a16="http://schemas.microsoft.com/office/drawing/2014/main" id="{1CD850F7-B0EC-49AD-960D-051EAF5F36DD}"/>
              </a:ext>
            </a:extLst>
          </p:cNvPr>
          <p:cNvSpPr>
            <a:spLocks noGrp="1"/>
          </p:cNvSpPr>
          <p:nvPr>
            <p:ph type="title"/>
          </p:nvPr>
        </p:nvSpPr>
        <p:spPr>
          <a:xfrm>
            <a:off x="338736" y="1274245"/>
            <a:ext cx="11514528" cy="436098"/>
          </a:xfrm>
          <a:prstGeom prst="rect">
            <a:avLst/>
          </a:prstGeom>
        </p:spPr>
        <p:txBody>
          <a:bodyPr/>
          <a:lstStyle>
            <a:lvl1pPr algn="ct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a:xfrm>
            <a:off x="338736" y="1855788"/>
            <a:ext cx="11515127" cy="417671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987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98475" y="382588"/>
            <a:ext cx="39497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10"/>
          </p:nvPr>
        </p:nvSpPr>
        <p:spPr>
          <a:xfrm>
            <a:off x="498475" y="2367096"/>
            <a:ext cx="9515101" cy="863009"/>
          </a:xfrm>
          <a:prstGeom prst="rect">
            <a:avLst/>
          </a:prstGeom>
        </p:spPr>
        <p:txBody>
          <a:bodyPr/>
          <a:lstStyle>
            <a:lvl1pPr marL="0" indent="0">
              <a:buNone/>
              <a:defRPr sz="4800" b="1">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6" name="Text Placeholder 4"/>
          <p:cNvSpPr>
            <a:spLocks noGrp="1"/>
          </p:cNvSpPr>
          <p:nvPr>
            <p:ph type="body" sz="quarter" idx="11"/>
          </p:nvPr>
        </p:nvSpPr>
        <p:spPr>
          <a:xfrm>
            <a:off x="498474" y="3230105"/>
            <a:ext cx="6843620" cy="839870"/>
          </a:xfrm>
          <a:prstGeom prst="rect">
            <a:avLst/>
          </a:prstGeom>
        </p:spPr>
        <p:txBody>
          <a:bodyPr/>
          <a:lstStyle>
            <a:lvl1pPr marL="0" indent="0">
              <a:buNone/>
              <a:defRPr sz="2800" b="0" baseline="0">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41204034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525"/>
            <a:ext cx="27432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BBD8F2B-CE64-4C36-8D12-D3CB3DC5F723}" type="datetime1">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9/21/2024</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3"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525"/>
            <a:ext cx="41148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4"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700" y="6492875"/>
            <a:ext cx="2743200" cy="365125"/>
          </a:xfrm>
          <a:prstGeom prst="rect">
            <a:avLst/>
          </a:prstGeom>
        </p:spPr>
        <p:txBody>
          <a:bodyPr/>
          <a:lstStyle>
            <a:lvl1pPr algn="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2037A2-5078-4DA1-A7B9-9CFA8E9AAFB3}" type="slidenum">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Tree>
    <p:extLst>
      <p:ext uri="{BB962C8B-B14F-4D97-AF65-F5344CB8AC3E}">
        <p14:creationId xmlns:p14="http://schemas.microsoft.com/office/powerpoint/2010/main" val="39660423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49750" y="293688"/>
            <a:ext cx="34925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4">
            <a:extLst>
              <a:ext uri="{FF2B5EF4-FFF2-40B4-BE49-F238E27FC236}">
                <a16:creationId xmlns:a16="http://schemas.microsoft.com/office/drawing/2014/main" id="{4C167836-5AFF-4757-AB55-39FD3BBF9D47}"/>
              </a:ext>
            </a:extLst>
          </p:cNvPr>
          <p:cNvSpPr>
            <a:spLocks noGrp="1"/>
          </p:cNvSpPr>
          <p:nvPr>
            <p:ph type="title"/>
          </p:nvPr>
        </p:nvSpPr>
        <p:spPr>
          <a:xfrm>
            <a:off x="2416969" y="2461846"/>
            <a:ext cx="7358062" cy="1934307"/>
          </a:xfrm>
          <a:prstGeom prst="rect">
            <a:avLst/>
          </a:prstGeom>
        </p:spPr>
        <p:txBody>
          <a:bodyPr anchor="ctr" anchorCtr="0"/>
          <a:lstStyle>
            <a:lvl1pPr algn="ctr">
              <a:defRPr sz="4800" b="1">
                <a:solidFill>
                  <a:schemeClr val="bg1"/>
                </a:solidFill>
                <a:latin typeface="Arial" panose="020B0604020202020204" pitchFamily="34" charset="0"/>
                <a:ea typeface="Tahoma" panose="020B060403050404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4779088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DEAFB3E9-4F5E-435C-B51A-CC5766A852DA}"/>
              </a:ext>
            </a:extLst>
          </p:cNvPr>
          <p:cNvSpPr>
            <a:spLocks noGrp="1"/>
          </p:cNvSpPr>
          <p:nvPr>
            <p:ph type="title"/>
          </p:nvPr>
        </p:nvSpPr>
        <p:spPr>
          <a:xfrm>
            <a:off x="338736" y="278573"/>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dirty="0"/>
              <a:t>Click to edit Master title style</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7" y="1650124"/>
            <a:ext cx="11514528" cy="4317843"/>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4"/>
          </p:nvPr>
        </p:nvSpPr>
        <p:spPr>
          <a:xfrm>
            <a:off x="858838" y="6580188"/>
            <a:ext cx="2743200" cy="271462"/>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6D27D26-129B-4DE5-991C-093DF518A97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5"/>
          </p:nvPr>
        </p:nvSpPr>
        <p:spPr>
          <a:xfrm>
            <a:off x="4059238" y="6580188"/>
            <a:ext cx="4114800" cy="271462"/>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6"/>
          </p:nvPr>
        </p:nvSpPr>
        <p:spPr>
          <a:xfrm>
            <a:off x="9177338" y="6586538"/>
            <a:ext cx="2743200" cy="271462"/>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18A200D-96ED-4DC4-87C1-24E548F6DEEA}"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52126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 name="Title 8">
            <a:extLst>
              <a:ext uri="{FF2B5EF4-FFF2-40B4-BE49-F238E27FC236}">
                <a16:creationId xmlns:a16="http://schemas.microsoft.com/office/drawing/2014/main" id="{FC0C4515-8106-49DA-9C06-E98AF815242A}"/>
              </a:ext>
            </a:extLst>
          </p:cNvPr>
          <p:cNvSpPr>
            <a:spLocks noGrp="1"/>
          </p:cNvSpPr>
          <p:nvPr>
            <p:ph type="title"/>
          </p:nvPr>
        </p:nvSpPr>
        <p:spPr>
          <a:xfrm>
            <a:off x="338736" y="280708"/>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p:nvPr>
        </p:nvSpPr>
        <p:spPr>
          <a:xfrm>
            <a:off x="330201" y="1684455"/>
            <a:ext cx="5765800" cy="437820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p:nvPr>
        </p:nvSpPr>
        <p:spPr>
          <a:xfrm>
            <a:off x="6238876" y="1692166"/>
            <a:ext cx="5445125" cy="4378436"/>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picture</a:t>
            </a:r>
            <a:endParaRPr lang="en-US" noProof="0" dirty="0"/>
          </a:p>
        </p:txBody>
      </p:sp>
      <p:sp>
        <p:nvSpPr>
          <p:cNvPr id="5" name="Date Placeholder 3">
            <a:extLst>
              <a:ext uri="{FF2B5EF4-FFF2-40B4-BE49-F238E27FC236}">
                <a16:creationId xmlns:a16="http://schemas.microsoft.com/office/drawing/2014/main" id="{84B5929F-A28F-4256-A6B2-5D095331D016}"/>
              </a:ext>
            </a:extLst>
          </p:cNvPr>
          <p:cNvSpPr>
            <a:spLocks noGrp="1"/>
          </p:cNvSpPr>
          <p:nvPr>
            <p:ph type="dt" sz="half" idx="15"/>
          </p:nvPr>
        </p:nvSpPr>
        <p:spPr>
          <a:xfrm>
            <a:off x="858838" y="6577013"/>
            <a:ext cx="2743200" cy="27463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7234FD3-A899-4FA5-A340-B2A9D4CCF789}"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7C2F339A-915E-4496-B889-28FBBAAD3123}"/>
              </a:ext>
            </a:extLst>
          </p:cNvPr>
          <p:cNvSpPr>
            <a:spLocks noGrp="1"/>
          </p:cNvSpPr>
          <p:nvPr>
            <p:ph type="ftr" sz="quarter" idx="16"/>
          </p:nvPr>
        </p:nvSpPr>
        <p:spPr>
          <a:xfrm>
            <a:off x="4059238" y="6577013"/>
            <a:ext cx="4114800" cy="274637"/>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028A2E5F-7F4D-4F39-A494-67088E8046DE}"/>
              </a:ext>
            </a:extLst>
          </p:cNvPr>
          <p:cNvSpPr>
            <a:spLocks noGrp="1"/>
          </p:cNvSpPr>
          <p:nvPr>
            <p:ph type="sldNum" sz="quarter" idx="17"/>
          </p:nvPr>
        </p:nvSpPr>
        <p:spPr>
          <a:xfrm>
            <a:off x="9177338" y="6584950"/>
            <a:ext cx="2743200" cy="273050"/>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4A97993-DB7A-43B0-A65C-DD8B50013FA7}"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88974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p:nvPr>
        </p:nvSpPr>
        <p:spPr>
          <a:xfrm>
            <a:off x="338737"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40" y="1671145"/>
            <a:ext cx="11515725" cy="4300080"/>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9BA7CA-DC84-4A35-BD8A-C14D582181A5}"/>
              </a:ext>
            </a:extLst>
          </p:cNvPr>
          <p:cNvSpPr>
            <a:spLocks noGrp="1"/>
          </p:cNvSpPr>
          <p:nvPr>
            <p:ph type="dt" sz="half" idx="14"/>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93C4155-DC89-490B-83C1-884026AE63BB}"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1DCC345-F4E6-42D6-9173-88011D0E2741}"/>
              </a:ext>
            </a:extLst>
          </p:cNvPr>
          <p:cNvSpPr>
            <a:spLocks noGrp="1"/>
          </p:cNvSpPr>
          <p:nvPr>
            <p:ph type="ftr" sz="quarter" idx="15"/>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BD82AFB1-CD7C-4710-A82A-F9FEE6DA5C86}"/>
              </a:ext>
            </a:extLst>
          </p:cNvPr>
          <p:cNvSpPr>
            <a:spLocks noGrp="1"/>
          </p:cNvSpPr>
          <p:nvPr>
            <p:ph type="sldNum" sz="quarter" idx="16"/>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D1F0299-9F1E-44A7-B16B-C99D4BF2FA7C}"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14299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698124" y="1248325"/>
            <a:ext cx="7251648" cy="5205412"/>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p:nvPr>
        </p:nvSpPr>
        <p:spPr>
          <a:xfrm>
            <a:off x="4698124" y="404265"/>
            <a:ext cx="7251648" cy="436098"/>
          </a:xfrm>
          <a:prstGeom prst="rect">
            <a:avLst/>
          </a:prstGeom>
        </p:spPr>
        <p:txBody>
          <a:bodyPr/>
          <a:lstStyle>
            <a:lvl1pPr>
              <a:defRPr sz="2800" b="1">
                <a:solidFill>
                  <a:srgbClr val="2B4196"/>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4F1F29B1-F2F8-4527-A0B9-5A566F0DB568}"/>
              </a:ext>
            </a:extLst>
          </p:cNvPr>
          <p:cNvSpPr>
            <a:spLocks noGrp="1"/>
          </p:cNvSpPr>
          <p:nvPr>
            <p:ph type="dt" sz="half" idx="14"/>
          </p:nvPr>
        </p:nvSpPr>
        <p:spPr>
          <a:xfrm>
            <a:off x="858838" y="6610350"/>
            <a:ext cx="2743200" cy="241300"/>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374397-F666-4EEB-9631-6533AA3623A6}"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B1F89192-9608-4DA0-9D58-CE5D74F0161B}"/>
              </a:ext>
            </a:extLst>
          </p:cNvPr>
          <p:cNvSpPr>
            <a:spLocks noGrp="1"/>
          </p:cNvSpPr>
          <p:nvPr>
            <p:ph type="ftr" sz="quarter" idx="15"/>
          </p:nvPr>
        </p:nvSpPr>
        <p:spPr>
          <a:xfrm>
            <a:off x="4059238" y="6610350"/>
            <a:ext cx="4114800" cy="241300"/>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1300396-45C9-472A-AA37-70408F1C2FAF}"/>
              </a:ext>
            </a:extLst>
          </p:cNvPr>
          <p:cNvSpPr>
            <a:spLocks noGrp="1"/>
          </p:cNvSpPr>
          <p:nvPr>
            <p:ph type="sldNum" sz="quarter" idx="16"/>
          </p:nvPr>
        </p:nvSpPr>
        <p:spPr>
          <a:xfrm>
            <a:off x="9177338" y="6618288"/>
            <a:ext cx="2743200" cy="239712"/>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B63725B-6066-4BE8-A639-5F3621BE90CF}"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04223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p:nvPr>
        </p:nvSpPr>
        <p:spPr>
          <a:xfrm>
            <a:off x="338736" y="1681655"/>
            <a:ext cx="5757264"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p:nvPr>
        </p:nvSpPr>
        <p:spPr>
          <a:xfrm>
            <a:off x="6210301" y="1681653"/>
            <a:ext cx="5592763"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table</a:t>
            </a:r>
            <a:endParaRPr lang="en-US" noProof="0" dirty="0"/>
          </a:p>
        </p:txBody>
      </p:sp>
      <p:sp>
        <p:nvSpPr>
          <p:cNvPr id="5" name="Date Placeholder 3">
            <a:extLst>
              <a:ext uri="{FF2B5EF4-FFF2-40B4-BE49-F238E27FC236}">
                <a16:creationId xmlns:a16="http://schemas.microsoft.com/office/drawing/2014/main" id="{98A78F82-82C6-4F07-B7D8-4A1219A1BB45}"/>
              </a:ext>
            </a:extLst>
          </p:cNvPr>
          <p:cNvSpPr>
            <a:spLocks noGrp="1"/>
          </p:cNvSpPr>
          <p:nvPr>
            <p:ph type="dt" sz="half" idx="15"/>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B22094C-DC05-4605-9134-2BB1E18B391A}"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12041C72-5CA2-4523-9F1E-50662A3276CE}"/>
              </a:ext>
            </a:extLst>
          </p:cNvPr>
          <p:cNvSpPr>
            <a:spLocks noGrp="1"/>
          </p:cNvSpPr>
          <p:nvPr>
            <p:ph type="ftr" sz="quarter" idx="16"/>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3AD6B24F-6759-4931-A1C4-77BA8AF7E085}"/>
              </a:ext>
            </a:extLst>
          </p:cNvPr>
          <p:cNvSpPr>
            <a:spLocks noGrp="1"/>
          </p:cNvSpPr>
          <p:nvPr>
            <p:ph type="sldNum" sz="quarter" idx="17"/>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259DCC6-307B-4299-B8F8-A24072CB7592}"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0706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589713"/>
            <a:ext cx="2743200" cy="26828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9FAFFF-EC7E-470D-8F54-47020C9FD75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589713"/>
            <a:ext cx="4114800" cy="268287"/>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700" y="6589713"/>
            <a:ext cx="2743200" cy="268287"/>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32E91D5-C7E0-44E3-BE42-381919DE251B}"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64312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8">
            <a:extLst>
              <a:ext uri="{FF2B5EF4-FFF2-40B4-BE49-F238E27FC236}">
                <a16:creationId xmlns:a16="http://schemas.microsoft.com/office/drawing/2014/main" id="{1CD850F7-B0EC-49AD-960D-051EAF5F36DD}"/>
              </a:ext>
            </a:extLst>
          </p:cNvPr>
          <p:cNvSpPr>
            <a:spLocks noGrp="1"/>
          </p:cNvSpPr>
          <p:nvPr>
            <p:ph type="title"/>
          </p:nvPr>
        </p:nvSpPr>
        <p:spPr>
          <a:xfrm>
            <a:off x="338736" y="1274245"/>
            <a:ext cx="11514528" cy="436098"/>
          </a:xfrm>
          <a:prstGeom prst="rect">
            <a:avLst/>
          </a:prstGeom>
        </p:spPr>
        <p:txBody>
          <a:bodyPr/>
          <a:lstStyle>
            <a:lvl1pPr algn="ct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a:xfrm>
            <a:off x="338736" y="1855788"/>
            <a:ext cx="11515127" cy="417671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92939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98475" y="382588"/>
            <a:ext cx="39497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10"/>
          </p:nvPr>
        </p:nvSpPr>
        <p:spPr>
          <a:xfrm>
            <a:off x="498475" y="2367096"/>
            <a:ext cx="9515101" cy="863009"/>
          </a:xfrm>
          <a:prstGeom prst="rect">
            <a:avLst/>
          </a:prstGeom>
        </p:spPr>
        <p:txBody>
          <a:bodyPr/>
          <a:lstStyle>
            <a:lvl1pPr marL="0" indent="0">
              <a:buNone/>
              <a:defRPr sz="4800" b="1">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6" name="Text Placeholder 4"/>
          <p:cNvSpPr>
            <a:spLocks noGrp="1"/>
          </p:cNvSpPr>
          <p:nvPr>
            <p:ph type="body" sz="quarter" idx="11"/>
          </p:nvPr>
        </p:nvSpPr>
        <p:spPr>
          <a:xfrm>
            <a:off x="498474" y="3230105"/>
            <a:ext cx="6843620" cy="839870"/>
          </a:xfrm>
          <a:prstGeom prst="rect">
            <a:avLst/>
          </a:prstGeom>
        </p:spPr>
        <p:txBody>
          <a:bodyPr/>
          <a:lstStyle>
            <a:lvl1pPr marL="0" indent="0">
              <a:buNone/>
              <a:defRPr sz="2800" b="0" baseline="0">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01151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525"/>
            <a:ext cx="27432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1B3D3B6A-1D0F-4544-97A7-C2E50BFB0E86}" type="datetime1">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9/21/2024</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3"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525"/>
            <a:ext cx="41148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4"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700" y="6492875"/>
            <a:ext cx="2743200" cy="365125"/>
          </a:xfrm>
          <a:prstGeom prst="rect">
            <a:avLst/>
          </a:prstGeom>
        </p:spPr>
        <p:txBody>
          <a:bodyPr/>
          <a:lstStyle>
            <a:lvl1pPr algn="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ADF9AF-E1EB-4E0E-A7D5-F4A5E1663504}" type="slidenum">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Tree>
    <p:extLst>
      <p:ext uri="{BB962C8B-B14F-4D97-AF65-F5344CB8AC3E}">
        <p14:creationId xmlns:p14="http://schemas.microsoft.com/office/powerpoint/2010/main" val="40403608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49750" y="293688"/>
            <a:ext cx="34925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4">
            <a:extLst>
              <a:ext uri="{FF2B5EF4-FFF2-40B4-BE49-F238E27FC236}">
                <a16:creationId xmlns:a16="http://schemas.microsoft.com/office/drawing/2014/main" id="{4C167836-5AFF-4757-AB55-39FD3BBF9D47}"/>
              </a:ext>
            </a:extLst>
          </p:cNvPr>
          <p:cNvSpPr>
            <a:spLocks noGrp="1"/>
          </p:cNvSpPr>
          <p:nvPr>
            <p:ph type="title"/>
          </p:nvPr>
        </p:nvSpPr>
        <p:spPr>
          <a:xfrm>
            <a:off x="2416969" y="2461846"/>
            <a:ext cx="7358062" cy="1934307"/>
          </a:xfrm>
          <a:prstGeom prst="rect">
            <a:avLst/>
          </a:prstGeom>
        </p:spPr>
        <p:txBody>
          <a:bodyPr anchor="ctr" anchorCtr="0"/>
          <a:lstStyle>
            <a:lvl1pPr algn="ctr">
              <a:defRPr sz="4800" b="1">
                <a:solidFill>
                  <a:schemeClr val="bg1"/>
                </a:solidFill>
                <a:latin typeface="Arial" panose="020B0604020202020204" pitchFamily="34" charset="0"/>
                <a:ea typeface="Tahoma" panose="020B060403050404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535424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DEAFB3E9-4F5E-435C-B51A-CC5766A852DA}"/>
              </a:ext>
            </a:extLst>
          </p:cNvPr>
          <p:cNvSpPr>
            <a:spLocks noGrp="1"/>
          </p:cNvSpPr>
          <p:nvPr>
            <p:ph type="title"/>
          </p:nvPr>
        </p:nvSpPr>
        <p:spPr>
          <a:xfrm>
            <a:off x="338736" y="278573"/>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dirty="0"/>
              <a:t>Click to edit Master title style</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7" y="1650124"/>
            <a:ext cx="11514528" cy="4317843"/>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4"/>
          </p:nvPr>
        </p:nvSpPr>
        <p:spPr>
          <a:xfrm>
            <a:off x="858838" y="6580188"/>
            <a:ext cx="2743200" cy="271462"/>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94167D7-190E-4BAB-8047-EAC5228BC4F3}"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5"/>
          </p:nvPr>
        </p:nvSpPr>
        <p:spPr>
          <a:xfrm>
            <a:off x="4059238" y="6580188"/>
            <a:ext cx="4114800" cy="271462"/>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6"/>
          </p:nvPr>
        </p:nvSpPr>
        <p:spPr>
          <a:xfrm>
            <a:off x="9177338" y="6586538"/>
            <a:ext cx="2743200" cy="271462"/>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CB63D15-D76F-4E24-8C83-35471424AA95}"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97716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 name="Title 8">
            <a:extLst>
              <a:ext uri="{FF2B5EF4-FFF2-40B4-BE49-F238E27FC236}">
                <a16:creationId xmlns:a16="http://schemas.microsoft.com/office/drawing/2014/main" id="{FC0C4515-8106-49DA-9C06-E98AF815242A}"/>
              </a:ext>
            </a:extLst>
          </p:cNvPr>
          <p:cNvSpPr>
            <a:spLocks noGrp="1"/>
          </p:cNvSpPr>
          <p:nvPr>
            <p:ph type="title"/>
          </p:nvPr>
        </p:nvSpPr>
        <p:spPr>
          <a:xfrm>
            <a:off x="338736" y="280708"/>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p:nvPr>
        </p:nvSpPr>
        <p:spPr>
          <a:xfrm>
            <a:off x="330201" y="1684455"/>
            <a:ext cx="5765800" cy="437820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p:nvPr>
        </p:nvSpPr>
        <p:spPr>
          <a:xfrm>
            <a:off x="6238876" y="1692166"/>
            <a:ext cx="5445125" cy="4378436"/>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picture</a:t>
            </a:r>
            <a:endParaRPr lang="en-US" noProof="0" dirty="0"/>
          </a:p>
        </p:txBody>
      </p:sp>
      <p:sp>
        <p:nvSpPr>
          <p:cNvPr id="5" name="Date Placeholder 3">
            <a:extLst>
              <a:ext uri="{FF2B5EF4-FFF2-40B4-BE49-F238E27FC236}">
                <a16:creationId xmlns:a16="http://schemas.microsoft.com/office/drawing/2014/main" id="{84B5929F-A28F-4256-A6B2-5D095331D016}"/>
              </a:ext>
            </a:extLst>
          </p:cNvPr>
          <p:cNvSpPr>
            <a:spLocks noGrp="1"/>
          </p:cNvSpPr>
          <p:nvPr>
            <p:ph type="dt" sz="half" idx="15"/>
          </p:nvPr>
        </p:nvSpPr>
        <p:spPr>
          <a:xfrm>
            <a:off x="858838" y="6577013"/>
            <a:ext cx="2743200" cy="27463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CCAAA46-5830-4FBF-A6A9-14997A52129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7C2F339A-915E-4496-B889-28FBBAAD3123}"/>
              </a:ext>
            </a:extLst>
          </p:cNvPr>
          <p:cNvSpPr>
            <a:spLocks noGrp="1"/>
          </p:cNvSpPr>
          <p:nvPr>
            <p:ph type="ftr" sz="quarter" idx="16"/>
          </p:nvPr>
        </p:nvSpPr>
        <p:spPr>
          <a:xfrm>
            <a:off x="4059238" y="6577013"/>
            <a:ext cx="4114800" cy="274637"/>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028A2E5F-7F4D-4F39-A494-67088E8046DE}"/>
              </a:ext>
            </a:extLst>
          </p:cNvPr>
          <p:cNvSpPr>
            <a:spLocks noGrp="1"/>
          </p:cNvSpPr>
          <p:nvPr>
            <p:ph type="sldNum" sz="quarter" idx="17"/>
          </p:nvPr>
        </p:nvSpPr>
        <p:spPr>
          <a:xfrm>
            <a:off x="9177338" y="6584950"/>
            <a:ext cx="2743200" cy="273050"/>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D1BCBBE-3D63-444A-92F6-3A054C98D1DC}"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32836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p:nvPr>
        </p:nvSpPr>
        <p:spPr>
          <a:xfrm>
            <a:off x="338737"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40" y="1671145"/>
            <a:ext cx="11515725" cy="4300080"/>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9BA7CA-DC84-4A35-BD8A-C14D582181A5}"/>
              </a:ext>
            </a:extLst>
          </p:cNvPr>
          <p:cNvSpPr>
            <a:spLocks noGrp="1"/>
          </p:cNvSpPr>
          <p:nvPr>
            <p:ph type="dt" sz="half" idx="14"/>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51732C-DC42-485A-84D7-B0AE7D40E99C}"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1DCC345-F4E6-42D6-9173-88011D0E2741}"/>
              </a:ext>
            </a:extLst>
          </p:cNvPr>
          <p:cNvSpPr>
            <a:spLocks noGrp="1"/>
          </p:cNvSpPr>
          <p:nvPr>
            <p:ph type="ftr" sz="quarter" idx="15"/>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BD82AFB1-CD7C-4710-A82A-F9FEE6DA5C86}"/>
              </a:ext>
            </a:extLst>
          </p:cNvPr>
          <p:cNvSpPr>
            <a:spLocks noGrp="1"/>
          </p:cNvSpPr>
          <p:nvPr>
            <p:ph type="sldNum" sz="quarter" idx="16"/>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AB384F5-D6E3-47F1-A9AB-FCA5C6517EBE}"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3306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698124" y="1248325"/>
            <a:ext cx="7251648" cy="5205412"/>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p:nvPr>
        </p:nvSpPr>
        <p:spPr>
          <a:xfrm>
            <a:off x="4698124" y="404265"/>
            <a:ext cx="7251648" cy="436098"/>
          </a:xfrm>
          <a:prstGeom prst="rect">
            <a:avLst/>
          </a:prstGeom>
        </p:spPr>
        <p:txBody>
          <a:bodyPr/>
          <a:lstStyle>
            <a:lvl1pPr>
              <a:defRPr sz="2800" b="1">
                <a:solidFill>
                  <a:srgbClr val="2B4196"/>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4F1F29B1-F2F8-4527-A0B9-5A566F0DB568}"/>
              </a:ext>
            </a:extLst>
          </p:cNvPr>
          <p:cNvSpPr>
            <a:spLocks noGrp="1"/>
          </p:cNvSpPr>
          <p:nvPr>
            <p:ph type="dt" sz="half" idx="14"/>
          </p:nvPr>
        </p:nvSpPr>
        <p:spPr>
          <a:xfrm>
            <a:off x="858838" y="6610350"/>
            <a:ext cx="2743200" cy="241300"/>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69A406B-452A-4C9D-84D7-EBA93B7841B6}"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B1F89192-9608-4DA0-9D58-CE5D74F0161B}"/>
              </a:ext>
            </a:extLst>
          </p:cNvPr>
          <p:cNvSpPr>
            <a:spLocks noGrp="1"/>
          </p:cNvSpPr>
          <p:nvPr>
            <p:ph type="ftr" sz="quarter" idx="15"/>
          </p:nvPr>
        </p:nvSpPr>
        <p:spPr>
          <a:xfrm>
            <a:off x="4059238" y="6610350"/>
            <a:ext cx="4114800" cy="241300"/>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1300396-45C9-472A-AA37-70408F1C2FAF}"/>
              </a:ext>
            </a:extLst>
          </p:cNvPr>
          <p:cNvSpPr>
            <a:spLocks noGrp="1"/>
          </p:cNvSpPr>
          <p:nvPr>
            <p:ph type="sldNum" sz="quarter" idx="16"/>
          </p:nvPr>
        </p:nvSpPr>
        <p:spPr>
          <a:xfrm>
            <a:off x="9177338" y="6618288"/>
            <a:ext cx="2743200" cy="239712"/>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BFEA02A-B4F8-4117-B986-0C6CA175C7C0}"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47168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p:nvPr>
        </p:nvSpPr>
        <p:spPr>
          <a:xfrm>
            <a:off x="338736" y="1681655"/>
            <a:ext cx="5757264"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p:nvPr>
        </p:nvSpPr>
        <p:spPr>
          <a:xfrm>
            <a:off x="6210301" y="1681653"/>
            <a:ext cx="5592763"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table</a:t>
            </a:r>
            <a:endParaRPr lang="en-US" noProof="0" dirty="0"/>
          </a:p>
        </p:txBody>
      </p:sp>
      <p:sp>
        <p:nvSpPr>
          <p:cNvPr id="5" name="Date Placeholder 3">
            <a:extLst>
              <a:ext uri="{FF2B5EF4-FFF2-40B4-BE49-F238E27FC236}">
                <a16:creationId xmlns:a16="http://schemas.microsoft.com/office/drawing/2014/main" id="{98A78F82-82C6-4F07-B7D8-4A1219A1BB45}"/>
              </a:ext>
            </a:extLst>
          </p:cNvPr>
          <p:cNvSpPr>
            <a:spLocks noGrp="1"/>
          </p:cNvSpPr>
          <p:nvPr>
            <p:ph type="dt" sz="half" idx="15"/>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2AC00EE-585E-4FC2-86DA-971D4DF29229}"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12041C72-5CA2-4523-9F1E-50662A3276CE}"/>
              </a:ext>
            </a:extLst>
          </p:cNvPr>
          <p:cNvSpPr>
            <a:spLocks noGrp="1"/>
          </p:cNvSpPr>
          <p:nvPr>
            <p:ph type="ftr" sz="quarter" idx="16"/>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3AD6B24F-6759-4931-A1C4-77BA8AF7E085}"/>
              </a:ext>
            </a:extLst>
          </p:cNvPr>
          <p:cNvSpPr>
            <a:spLocks noGrp="1"/>
          </p:cNvSpPr>
          <p:nvPr>
            <p:ph type="sldNum" sz="quarter" idx="17"/>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D8B3BBD-C4E7-4612-90AF-A60ECBE93DFC}"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70111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589713"/>
            <a:ext cx="2743200" cy="26828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E0ACC84-2798-4E6A-9387-CC87E59FB7B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589713"/>
            <a:ext cx="4114800" cy="268287"/>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700" y="6589713"/>
            <a:ext cx="2743200" cy="268287"/>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40BFC28-7756-4020-AE43-E9305865FA2C}"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3593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8">
            <a:extLst>
              <a:ext uri="{FF2B5EF4-FFF2-40B4-BE49-F238E27FC236}">
                <a16:creationId xmlns:a16="http://schemas.microsoft.com/office/drawing/2014/main" id="{1CD850F7-B0EC-49AD-960D-051EAF5F36DD}"/>
              </a:ext>
            </a:extLst>
          </p:cNvPr>
          <p:cNvSpPr>
            <a:spLocks noGrp="1"/>
          </p:cNvSpPr>
          <p:nvPr>
            <p:ph type="title"/>
          </p:nvPr>
        </p:nvSpPr>
        <p:spPr>
          <a:xfrm>
            <a:off x="338736" y="1274245"/>
            <a:ext cx="11514528" cy="436098"/>
          </a:xfrm>
          <a:prstGeom prst="rect">
            <a:avLst/>
          </a:prstGeom>
        </p:spPr>
        <p:txBody>
          <a:bodyPr/>
          <a:lstStyle>
            <a:lvl1pPr algn="ct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a:xfrm>
            <a:off x="338736" y="1855788"/>
            <a:ext cx="11515127" cy="417671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9166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98475" y="382588"/>
            <a:ext cx="39497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10"/>
          </p:nvPr>
        </p:nvSpPr>
        <p:spPr>
          <a:xfrm>
            <a:off x="498475" y="2367096"/>
            <a:ext cx="9515101" cy="863009"/>
          </a:xfrm>
          <a:prstGeom prst="rect">
            <a:avLst/>
          </a:prstGeom>
        </p:spPr>
        <p:txBody>
          <a:bodyPr/>
          <a:lstStyle>
            <a:lvl1pPr marL="0" indent="0">
              <a:buNone/>
              <a:defRPr sz="4800" b="1">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6" name="Text Placeholder 4"/>
          <p:cNvSpPr>
            <a:spLocks noGrp="1"/>
          </p:cNvSpPr>
          <p:nvPr>
            <p:ph type="body" sz="quarter" idx="11"/>
          </p:nvPr>
        </p:nvSpPr>
        <p:spPr>
          <a:xfrm>
            <a:off x="498474" y="3230105"/>
            <a:ext cx="6843620" cy="839870"/>
          </a:xfrm>
          <a:prstGeom prst="rect">
            <a:avLst/>
          </a:prstGeom>
        </p:spPr>
        <p:txBody>
          <a:bodyPr/>
          <a:lstStyle>
            <a:lvl1pPr marL="0" indent="0">
              <a:buNone/>
              <a:defRPr sz="2800" b="0" baseline="0">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5272817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525"/>
            <a:ext cx="27432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C26ACDE0-D79B-4271-9B7F-7C817934EE9B}" type="datetime1">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9/21/2024</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3"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525"/>
            <a:ext cx="4114800" cy="365125"/>
          </a:xfrm>
          <a:prstGeom prst="rect">
            <a:avLst/>
          </a:prstGeom>
        </p:spPr>
        <p:txBody>
          <a:bodyPr/>
          <a:lstStyle>
            <a:lvl1pPr algn="ct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
        <p:nvSpPr>
          <p:cNvPr id="4"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700" y="6492875"/>
            <a:ext cx="2743200" cy="365125"/>
          </a:xfrm>
          <a:prstGeom prst="rect">
            <a:avLst/>
          </a:prstGeom>
        </p:spPr>
        <p:txBody>
          <a:bodyPr/>
          <a:lstStyle>
            <a:lvl1pPr algn="r" eaLnBrk="1" fontAlgn="auto" hangingPunct="1">
              <a:spcBef>
                <a:spcPts val="0"/>
              </a:spcBef>
              <a:spcAft>
                <a:spcPts val="0"/>
              </a:spcAft>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9C36B8E-DD50-42C9-AD9D-BE163E9361E2}" type="slidenum">
              <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4472C4">
                  <a:lumMod val="50000"/>
                </a:srgbClr>
              </a:solidFill>
              <a:effectLst/>
              <a:uLnTx/>
              <a:uFillTx/>
              <a:latin typeface="Lato" panose="020F0502020204030203" pitchFamily="34" charset="0"/>
            </a:endParaRPr>
          </a:p>
        </p:txBody>
      </p:sp>
    </p:spTree>
    <p:extLst>
      <p:ext uri="{BB962C8B-B14F-4D97-AF65-F5344CB8AC3E}">
        <p14:creationId xmlns:p14="http://schemas.microsoft.com/office/powerpoint/2010/main" val="1005315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49750" y="293688"/>
            <a:ext cx="34925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4">
            <a:extLst>
              <a:ext uri="{FF2B5EF4-FFF2-40B4-BE49-F238E27FC236}">
                <a16:creationId xmlns:a16="http://schemas.microsoft.com/office/drawing/2014/main" id="{4C167836-5AFF-4757-AB55-39FD3BBF9D47}"/>
              </a:ext>
            </a:extLst>
          </p:cNvPr>
          <p:cNvSpPr>
            <a:spLocks noGrp="1"/>
          </p:cNvSpPr>
          <p:nvPr>
            <p:ph type="title"/>
          </p:nvPr>
        </p:nvSpPr>
        <p:spPr>
          <a:xfrm>
            <a:off x="2416969" y="2461846"/>
            <a:ext cx="7358062" cy="1934307"/>
          </a:xfrm>
          <a:prstGeom prst="rect">
            <a:avLst/>
          </a:prstGeom>
        </p:spPr>
        <p:txBody>
          <a:bodyPr anchor="ctr" anchorCtr="0"/>
          <a:lstStyle>
            <a:lvl1pPr algn="ctr">
              <a:defRPr sz="4800" b="1">
                <a:solidFill>
                  <a:schemeClr val="bg1"/>
                </a:solidFill>
                <a:latin typeface="Arial" panose="020B0604020202020204" pitchFamily="34" charset="0"/>
                <a:ea typeface="Tahoma" panose="020B060403050404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272313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DEAFB3E9-4F5E-435C-B51A-CC5766A852DA}"/>
              </a:ext>
            </a:extLst>
          </p:cNvPr>
          <p:cNvSpPr>
            <a:spLocks noGrp="1"/>
          </p:cNvSpPr>
          <p:nvPr>
            <p:ph type="title"/>
          </p:nvPr>
        </p:nvSpPr>
        <p:spPr>
          <a:xfrm>
            <a:off x="338736" y="278573"/>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dirty="0"/>
              <a:t>Click to edit Master title style</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7" y="1650124"/>
            <a:ext cx="11514528" cy="4317843"/>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4"/>
          </p:nvPr>
        </p:nvSpPr>
        <p:spPr>
          <a:xfrm>
            <a:off x="858838" y="6580188"/>
            <a:ext cx="2743200" cy="271462"/>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0A67DB2-52E5-4584-B58B-5E38FD4A4DFA}"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5"/>
          </p:nvPr>
        </p:nvSpPr>
        <p:spPr>
          <a:xfrm>
            <a:off x="4059238" y="6580188"/>
            <a:ext cx="4114800" cy="271462"/>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6"/>
          </p:nvPr>
        </p:nvSpPr>
        <p:spPr>
          <a:xfrm>
            <a:off x="9177338" y="6586538"/>
            <a:ext cx="2743200" cy="271462"/>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F72C001-BCE8-4E3A-8126-FF9F2A990EF0}"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91103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 name="Title 8">
            <a:extLst>
              <a:ext uri="{FF2B5EF4-FFF2-40B4-BE49-F238E27FC236}">
                <a16:creationId xmlns:a16="http://schemas.microsoft.com/office/drawing/2014/main" id="{FC0C4515-8106-49DA-9C06-E98AF815242A}"/>
              </a:ext>
            </a:extLst>
          </p:cNvPr>
          <p:cNvSpPr>
            <a:spLocks noGrp="1"/>
          </p:cNvSpPr>
          <p:nvPr>
            <p:ph type="title"/>
          </p:nvPr>
        </p:nvSpPr>
        <p:spPr>
          <a:xfrm>
            <a:off x="338736" y="280708"/>
            <a:ext cx="11514528" cy="436098"/>
          </a:xfrm>
          <a:prstGeom prst="rect">
            <a:avLst/>
          </a:prstGeom>
        </p:spPr>
        <p:txBody>
          <a:bodyPr anchor="ctr" anchorCtr="0"/>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p:nvPr>
        </p:nvSpPr>
        <p:spPr>
          <a:xfrm>
            <a:off x="330201" y="1684455"/>
            <a:ext cx="5765800" cy="437820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p:nvPr>
        </p:nvSpPr>
        <p:spPr>
          <a:xfrm>
            <a:off x="6238876" y="1692166"/>
            <a:ext cx="5445125" cy="4378436"/>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picture</a:t>
            </a:r>
            <a:endParaRPr lang="en-US" noProof="0" dirty="0"/>
          </a:p>
        </p:txBody>
      </p:sp>
      <p:sp>
        <p:nvSpPr>
          <p:cNvPr id="5" name="Date Placeholder 3">
            <a:extLst>
              <a:ext uri="{FF2B5EF4-FFF2-40B4-BE49-F238E27FC236}">
                <a16:creationId xmlns:a16="http://schemas.microsoft.com/office/drawing/2014/main" id="{84B5929F-A28F-4256-A6B2-5D095331D016}"/>
              </a:ext>
            </a:extLst>
          </p:cNvPr>
          <p:cNvSpPr>
            <a:spLocks noGrp="1"/>
          </p:cNvSpPr>
          <p:nvPr>
            <p:ph type="dt" sz="half" idx="15"/>
          </p:nvPr>
        </p:nvSpPr>
        <p:spPr>
          <a:xfrm>
            <a:off x="858838" y="6577013"/>
            <a:ext cx="2743200" cy="27463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24934BF-3030-4F16-B3B5-57DDE50A3C8C}"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7C2F339A-915E-4496-B889-28FBBAAD3123}"/>
              </a:ext>
            </a:extLst>
          </p:cNvPr>
          <p:cNvSpPr>
            <a:spLocks noGrp="1"/>
          </p:cNvSpPr>
          <p:nvPr>
            <p:ph type="ftr" sz="quarter" idx="16"/>
          </p:nvPr>
        </p:nvSpPr>
        <p:spPr>
          <a:xfrm>
            <a:off x="4059238" y="6577013"/>
            <a:ext cx="4114800" cy="274637"/>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028A2E5F-7F4D-4F39-A494-67088E8046DE}"/>
              </a:ext>
            </a:extLst>
          </p:cNvPr>
          <p:cNvSpPr>
            <a:spLocks noGrp="1"/>
          </p:cNvSpPr>
          <p:nvPr>
            <p:ph type="sldNum" sz="quarter" idx="17"/>
          </p:nvPr>
        </p:nvSpPr>
        <p:spPr>
          <a:xfrm>
            <a:off x="9177338" y="6584950"/>
            <a:ext cx="2743200" cy="273050"/>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F817A1D-4437-4FD8-BEAB-270DE1EAFC31}"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34978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p:nvPr>
        </p:nvSpPr>
        <p:spPr>
          <a:xfrm>
            <a:off x="338737"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40" y="1671145"/>
            <a:ext cx="11515725" cy="4300080"/>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9BA7CA-DC84-4A35-BD8A-C14D582181A5}"/>
              </a:ext>
            </a:extLst>
          </p:cNvPr>
          <p:cNvSpPr>
            <a:spLocks noGrp="1"/>
          </p:cNvSpPr>
          <p:nvPr>
            <p:ph type="dt" sz="half" idx="14"/>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45CCF20-119D-4CE4-8802-A497FA9D7685}"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1DCC345-F4E6-42D6-9173-88011D0E2741}"/>
              </a:ext>
            </a:extLst>
          </p:cNvPr>
          <p:cNvSpPr>
            <a:spLocks noGrp="1"/>
          </p:cNvSpPr>
          <p:nvPr>
            <p:ph type="ftr" sz="quarter" idx="15"/>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BD82AFB1-CD7C-4710-A82A-F9FEE6DA5C86}"/>
              </a:ext>
            </a:extLst>
          </p:cNvPr>
          <p:cNvSpPr>
            <a:spLocks noGrp="1"/>
          </p:cNvSpPr>
          <p:nvPr>
            <p:ph type="sldNum" sz="quarter" idx="16"/>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DF523DD-5F1A-466E-A077-56BC06C9B2F2}"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89570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698124" y="1248325"/>
            <a:ext cx="7251648" cy="5205412"/>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vl2pPr>
              <a:defRPr>
                <a:solidFill>
                  <a:srgbClr val="2B4196"/>
                </a:solidFill>
                <a:latin typeface="Arial" panose="020B0604020202020204" pitchFamily="34" charset="0"/>
                <a:ea typeface="Lato" panose="020F0502020204030203" pitchFamily="34" charset="0"/>
                <a:cs typeface="Arial" panose="020B0604020202020204" pitchFamily="34" charset="0"/>
              </a:defRPr>
            </a:lvl2pPr>
            <a:lvl3pPr>
              <a:defRPr>
                <a:solidFill>
                  <a:srgbClr val="2B4196"/>
                </a:solidFill>
                <a:latin typeface="Arial" panose="020B0604020202020204" pitchFamily="34" charset="0"/>
                <a:ea typeface="Lato" panose="020F0502020204030203" pitchFamily="34" charset="0"/>
                <a:cs typeface="Arial" panose="020B0604020202020204" pitchFamily="34" charset="0"/>
              </a:defRPr>
            </a:lvl3pPr>
            <a:lvl4pPr>
              <a:defRPr>
                <a:solidFill>
                  <a:srgbClr val="2B4196"/>
                </a:solidFill>
                <a:latin typeface="Arial" panose="020B0604020202020204" pitchFamily="34" charset="0"/>
                <a:ea typeface="Lato" panose="020F0502020204030203" pitchFamily="34" charset="0"/>
                <a:cs typeface="Arial" panose="020B0604020202020204" pitchFamily="34" charset="0"/>
              </a:defRPr>
            </a:lvl4pPr>
            <a:lvl5pPr>
              <a:defRPr>
                <a:solidFill>
                  <a:srgbClr val="2B4196"/>
                </a:solidFill>
                <a:latin typeface="Arial" panose="020B0604020202020204" pitchFamily="34" charset="0"/>
                <a:ea typeface="Lato" panose="020F0502020204030203"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p:nvPr>
        </p:nvSpPr>
        <p:spPr>
          <a:xfrm>
            <a:off x="4698124" y="404265"/>
            <a:ext cx="7251648" cy="436098"/>
          </a:xfrm>
          <a:prstGeom prst="rect">
            <a:avLst/>
          </a:prstGeom>
        </p:spPr>
        <p:txBody>
          <a:bodyPr/>
          <a:lstStyle>
            <a:lvl1pPr>
              <a:defRPr sz="2800" b="1">
                <a:solidFill>
                  <a:srgbClr val="2B4196"/>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4F1F29B1-F2F8-4527-A0B9-5A566F0DB568}"/>
              </a:ext>
            </a:extLst>
          </p:cNvPr>
          <p:cNvSpPr>
            <a:spLocks noGrp="1"/>
          </p:cNvSpPr>
          <p:nvPr>
            <p:ph type="dt" sz="half" idx="14"/>
          </p:nvPr>
        </p:nvSpPr>
        <p:spPr>
          <a:xfrm>
            <a:off x="858838" y="6610350"/>
            <a:ext cx="2743200" cy="241300"/>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D76ED1C-298D-408A-839F-5F5EB436DEBE}"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B1F89192-9608-4DA0-9D58-CE5D74F0161B}"/>
              </a:ext>
            </a:extLst>
          </p:cNvPr>
          <p:cNvSpPr>
            <a:spLocks noGrp="1"/>
          </p:cNvSpPr>
          <p:nvPr>
            <p:ph type="ftr" sz="quarter" idx="15"/>
          </p:nvPr>
        </p:nvSpPr>
        <p:spPr>
          <a:xfrm>
            <a:off x="4059238" y="6610350"/>
            <a:ext cx="4114800" cy="241300"/>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1300396-45C9-472A-AA37-70408F1C2FAF}"/>
              </a:ext>
            </a:extLst>
          </p:cNvPr>
          <p:cNvSpPr>
            <a:spLocks noGrp="1"/>
          </p:cNvSpPr>
          <p:nvPr>
            <p:ph type="sldNum" sz="quarter" idx="16"/>
          </p:nvPr>
        </p:nvSpPr>
        <p:spPr>
          <a:xfrm>
            <a:off x="9177338" y="6618288"/>
            <a:ext cx="2743200" cy="239712"/>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FDE6EA-067E-413A-97E0-84E1E68727E1}"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6316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p:nvPr>
        </p:nvSpPr>
        <p:spPr>
          <a:xfrm>
            <a:off x="338736" y="1681655"/>
            <a:ext cx="5757264"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chart</a:t>
            </a:r>
            <a:endParaRPr lang="en-US" noProof="0" dirty="0"/>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p:nvPr>
        </p:nvSpPr>
        <p:spPr>
          <a:xfrm>
            <a:off x="6210301" y="1681653"/>
            <a:ext cx="5592763" cy="4395297"/>
          </a:xfrm>
          <a:prstGeom prst="rect">
            <a:avLst/>
          </a:prstGeom>
        </p:spPr>
        <p:txBody>
          <a:bodyPr/>
          <a:lstStyle>
            <a:lvl1pPr>
              <a:defRPr>
                <a:solidFill>
                  <a:srgbClr val="2B4196"/>
                </a:solidFill>
                <a:latin typeface="Arial" panose="020B0604020202020204" pitchFamily="34" charset="0"/>
                <a:ea typeface="Lato" panose="020F0502020204030203" pitchFamily="34" charset="0"/>
                <a:cs typeface="Arial" panose="020B0604020202020204" pitchFamily="34" charset="0"/>
              </a:defRPr>
            </a:lvl1pPr>
          </a:lstStyle>
          <a:p>
            <a:pPr lvl="0"/>
            <a:r>
              <a:rPr lang="en-US" noProof="0"/>
              <a:t>Click icon to add table</a:t>
            </a:r>
            <a:endParaRPr lang="en-US" noProof="0" dirty="0"/>
          </a:p>
        </p:txBody>
      </p:sp>
      <p:sp>
        <p:nvSpPr>
          <p:cNvPr id="5" name="Date Placeholder 3">
            <a:extLst>
              <a:ext uri="{FF2B5EF4-FFF2-40B4-BE49-F238E27FC236}">
                <a16:creationId xmlns:a16="http://schemas.microsoft.com/office/drawing/2014/main" id="{98A78F82-82C6-4F07-B7D8-4A1219A1BB45}"/>
              </a:ext>
            </a:extLst>
          </p:cNvPr>
          <p:cNvSpPr>
            <a:spLocks noGrp="1"/>
          </p:cNvSpPr>
          <p:nvPr>
            <p:ph type="dt" sz="half" idx="15"/>
          </p:nvPr>
        </p:nvSpPr>
        <p:spPr>
          <a:xfrm>
            <a:off x="858838" y="6588125"/>
            <a:ext cx="2743200" cy="263525"/>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5A5DE89-628D-41FE-9D64-E0C8853C3860}"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 name="Footer Placeholder 4">
            <a:extLst>
              <a:ext uri="{FF2B5EF4-FFF2-40B4-BE49-F238E27FC236}">
                <a16:creationId xmlns:a16="http://schemas.microsoft.com/office/drawing/2014/main" id="{12041C72-5CA2-4523-9F1E-50662A3276CE}"/>
              </a:ext>
            </a:extLst>
          </p:cNvPr>
          <p:cNvSpPr>
            <a:spLocks noGrp="1"/>
          </p:cNvSpPr>
          <p:nvPr>
            <p:ph type="ftr" sz="quarter" idx="16"/>
          </p:nvPr>
        </p:nvSpPr>
        <p:spPr>
          <a:xfrm>
            <a:off x="4059238" y="6588125"/>
            <a:ext cx="4114800" cy="263525"/>
          </a:xfrm>
          <a:prstGeom prst="rect">
            <a:avLst/>
          </a:prstGeom>
        </p:spPr>
        <p:txBody>
          <a:bodyPr/>
          <a:lstStyle>
            <a:lvl1pPr algn="ct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Slide Number Placeholder 5">
            <a:extLst>
              <a:ext uri="{FF2B5EF4-FFF2-40B4-BE49-F238E27FC236}">
                <a16:creationId xmlns:a16="http://schemas.microsoft.com/office/drawing/2014/main" id="{3AD6B24F-6759-4931-A1C4-77BA8AF7E085}"/>
              </a:ext>
            </a:extLst>
          </p:cNvPr>
          <p:cNvSpPr>
            <a:spLocks noGrp="1"/>
          </p:cNvSpPr>
          <p:nvPr>
            <p:ph type="sldNum" sz="quarter" idx="17"/>
          </p:nvPr>
        </p:nvSpPr>
        <p:spPr>
          <a:xfrm>
            <a:off x="9177338" y="6594475"/>
            <a:ext cx="2743200" cy="263525"/>
          </a:xfrm>
          <a:prstGeom prst="rect">
            <a:avLst/>
          </a:prstGeom>
        </p:spPr>
        <p:txBody>
          <a:bodyPr/>
          <a:lstStyle>
            <a:lvl1pPr algn="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6EC7E55-B198-4813-90C2-E7F3ACEF4D48}" type="slidenum">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76543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Title 8">
            <a:extLst>
              <a:ext uri="{FF2B5EF4-FFF2-40B4-BE49-F238E27FC236}">
                <a16:creationId xmlns:a16="http://schemas.microsoft.com/office/drawing/2014/main" id="{1CD850F7-B0EC-49AD-960D-051EAF5F36DD}"/>
              </a:ext>
            </a:extLst>
          </p:cNvPr>
          <p:cNvSpPr>
            <a:spLocks noGrp="1"/>
          </p:cNvSpPr>
          <p:nvPr>
            <p:ph type="title"/>
          </p:nvPr>
        </p:nvSpPr>
        <p:spPr>
          <a:xfrm>
            <a:off x="338736" y="270198"/>
            <a:ext cx="11514528" cy="436098"/>
          </a:xfrm>
          <a:prstGeom prst="rect">
            <a:avLst/>
          </a:prstGeom>
        </p:spPr>
        <p:txBody>
          <a:bodyPr/>
          <a:lstStyle>
            <a:lvl1pP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589713"/>
            <a:ext cx="2743200" cy="268287"/>
          </a:xfrm>
          <a:prstGeom prst="rect">
            <a:avLst/>
          </a:prstGeom>
        </p:spPr>
        <p:txBody>
          <a:bodyPr/>
          <a:lstStyle>
            <a:lvl1pPr eaLnBrk="1" fontAlgn="auto" hangingPunct="1">
              <a:spcBef>
                <a:spcPts val="0"/>
              </a:spcBef>
              <a:spcAft>
                <a:spcPts val="0"/>
              </a:spcAft>
              <a:defRPr sz="1000" b="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98D2F2-FDE4-4498-B13B-8A91E4D624F6}" type="datetime1">
              <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9/21/2024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589713"/>
            <a:ext cx="4114800" cy="268287"/>
          </a:xfrm>
          <a:prstGeom prst="rect">
            <a:avLst/>
          </a:prstGeom>
        </p:spPr>
        <p:txBody>
          <a:bodyPr/>
          <a:lstStyle>
            <a:lvl1pPr algn="ct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700" y="6589713"/>
            <a:ext cx="2743200" cy="268287"/>
          </a:xfrm>
          <a:prstGeom prst="rect">
            <a:avLst/>
          </a:prstGeom>
        </p:spPr>
        <p:txBody>
          <a:bodyPr/>
          <a:lstStyle>
            <a:lvl1pPr algn="r" eaLnBrk="1" fontAlgn="auto" hangingPunct="1">
              <a:spcBef>
                <a:spcPts val="0"/>
              </a:spcBef>
              <a:spcAft>
                <a:spcPts val="0"/>
              </a:spcAft>
              <a:defRPr sz="1000" b="0">
                <a:solidFill>
                  <a:schemeClr val="accent1">
                    <a:lumMod val="50000"/>
                  </a:schemeClr>
                </a:solidFill>
                <a:latin typeface="Arial" panose="020B0604020202020204" pitchFamily="34" charset="0"/>
                <a:ea typeface="Lato" panose="020F0502020204030203"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966FA61-B3F0-4EE7-871C-975E7640B400}" type="slidenum">
              <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2341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8">
            <a:extLst>
              <a:ext uri="{FF2B5EF4-FFF2-40B4-BE49-F238E27FC236}">
                <a16:creationId xmlns:a16="http://schemas.microsoft.com/office/drawing/2014/main" id="{1CD850F7-B0EC-49AD-960D-051EAF5F36DD}"/>
              </a:ext>
            </a:extLst>
          </p:cNvPr>
          <p:cNvSpPr>
            <a:spLocks noGrp="1"/>
          </p:cNvSpPr>
          <p:nvPr>
            <p:ph type="title"/>
          </p:nvPr>
        </p:nvSpPr>
        <p:spPr>
          <a:xfrm>
            <a:off x="338736" y="1274245"/>
            <a:ext cx="11514528" cy="436098"/>
          </a:xfrm>
          <a:prstGeom prst="rect">
            <a:avLst/>
          </a:prstGeom>
        </p:spPr>
        <p:txBody>
          <a:bodyPr/>
          <a:lstStyle>
            <a:lvl1pPr algn="ctr">
              <a:defRPr sz="2800" b="1">
                <a:solidFill>
                  <a:schemeClr val="bg1"/>
                </a:solidFill>
                <a:latin typeface="Arial" panose="020B0604020202020204" pitchFamily="34" charset="0"/>
                <a:ea typeface="Lato" panose="020F0502020204030203" pitchFamily="34" charset="0"/>
                <a:cs typeface="Arial" panose="020B0604020202020204"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a:xfrm>
            <a:off x="338736" y="1855788"/>
            <a:ext cx="11515127" cy="417671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53309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98475" y="382588"/>
            <a:ext cx="39497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10"/>
          </p:nvPr>
        </p:nvSpPr>
        <p:spPr>
          <a:xfrm>
            <a:off x="498475" y="2367096"/>
            <a:ext cx="9515101" cy="863009"/>
          </a:xfrm>
          <a:prstGeom prst="rect">
            <a:avLst/>
          </a:prstGeom>
        </p:spPr>
        <p:txBody>
          <a:bodyPr/>
          <a:lstStyle>
            <a:lvl1pPr marL="0" indent="0">
              <a:buNone/>
              <a:defRPr sz="4800" b="1">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6" name="Text Placeholder 4"/>
          <p:cNvSpPr>
            <a:spLocks noGrp="1"/>
          </p:cNvSpPr>
          <p:nvPr>
            <p:ph type="body" sz="quarter" idx="11"/>
          </p:nvPr>
        </p:nvSpPr>
        <p:spPr>
          <a:xfrm>
            <a:off x="498474" y="3230105"/>
            <a:ext cx="6843620" cy="839870"/>
          </a:xfrm>
          <a:prstGeom prst="rect">
            <a:avLst/>
          </a:prstGeom>
        </p:spPr>
        <p:txBody>
          <a:bodyPr/>
          <a:lstStyle>
            <a:lvl1pPr marL="0" indent="0">
              <a:buNone/>
              <a:defRPr sz="2800" b="0" baseline="0">
                <a:solidFill>
                  <a:schemeClr val="bg1"/>
                </a:solidFill>
                <a:latin typeface="Arial" panose="020B0604020202020204" pitchFamily="34" charset="0"/>
                <a:cs typeface="Arial" panose="020B0604020202020204" pitchFamily="34" charset="0"/>
              </a:defRPr>
            </a:lvl1pPr>
            <a:lvl2pPr>
              <a:defRPr b="1">
                <a:solidFill>
                  <a:schemeClr val="bg1"/>
                </a:solidFill>
                <a:latin typeface="Arial" panose="020B0604020202020204" pitchFamily="34" charset="0"/>
                <a:cs typeface="Arial" panose="020B0604020202020204" pitchFamily="34" charset="0"/>
              </a:defRPr>
            </a:lvl2pPr>
            <a:lvl3pPr>
              <a:defRPr b="1">
                <a:solidFill>
                  <a:schemeClr val="bg1"/>
                </a:solidFill>
                <a:latin typeface="Arial" panose="020B0604020202020204" pitchFamily="34" charset="0"/>
                <a:cs typeface="Arial" panose="020B0604020202020204" pitchFamily="34" charset="0"/>
              </a:defRPr>
            </a:lvl3pPr>
            <a:lvl4pPr>
              <a:defRPr b="1">
                <a:solidFill>
                  <a:schemeClr val="bg1"/>
                </a:solidFill>
                <a:latin typeface="Arial" panose="020B0604020202020204" pitchFamily="34" charset="0"/>
                <a:cs typeface="Arial" panose="020B0604020202020204" pitchFamily="34" charset="0"/>
              </a:defRPr>
            </a:lvl4pPr>
            <a:lvl5pPr>
              <a:defRPr b="1">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3662438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4.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image" Target="../media/image1.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theme" Target="../theme/theme5.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0118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264931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Lst>
  <p:hf hdr="0" ftr="0" dt="0"/>
  <p:txStyles>
    <p:title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62676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Lst>
  <p:hf hdr="0" ftr="0" dt="0"/>
  <p:txStyles>
    <p:title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495197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Lst>
  <p:hf hdr="0" ftr="0" dt="0"/>
  <p:txStyles>
    <p:title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579131"/>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Lst>
  <p:hf hdr="0" ftr="0" dt="0"/>
  <p:txStyles>
    <p:title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txBox="1">
            <a:spLocks/>
          </p:cNvSpPr>
          <p:nvPr/>
        </p:nvSpPr>
        <p:spPr bwMode="auto">
          <a:xfrm>
            <a:off x="1113937" y="1974607"/>
            <a:ext cx="10029825"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altLang="en-US" sz="4800" b="1" i="0" u="none" strike="noStrike" kern="1200" cap="none" spc="0" normalizeH="0" baseline="0" noProof="0" dirty="0" err="1">
                <a:ln>
                  <a:noFill/>
                </a:ln>
                <a:solidFill>
                  <a:prstClr val="white"/>
                </a:solidFill>
                <a:effectLst/>
                <a:uLnTx/>
                <a:uFillTx/>
                <a:latin typeface="Arial" panose="020B0604020202020204" pitchFamily="34" charset="0"/>
                <a:ea typeface="Lato"/>
                <a:cs typeface="Arial" panose="020B0604020202020204" pitchFamily="34" charset="0"/>
              </a:rPr>
              <a:t>Bài</a:t>
            </a:r>
            <a:r>
              <a:rPr kumimoji="0" lang="en-US" altLang="en-US" sz="4800" b="1" i="0" u="none" strike="noStrike" kern="1200" cap="none" spc="0" normalizeH="0" noProof="0" dirty="0">
                <a:ln>
                  <a:noFill/>
                </a:ln>
                <a:solidFill>
                  <a:prstClr val="white"/>
                </a:solidFill>
                <a:effectLst/>
                <a:uLnTx/>
                <a:uFillTx/>
                <a:latin typeface="Arial" panose="020B0604020202020204" pitchFamily="34" charset="0"/>
                <a:ea typeface="Lato"/>
                <a:cs typeface="Arial" panose="020B0604020202020204" pitchFamily="34" charset="0"/>
              </a:rPr>
              <a:t> </a:t>
            </a:r>
            <a:r>
              <a:rPr kumimoji="0" lang="en-US" altLang="en-US" sz="4800" b="1" i="0" u="none" strike="noStrike" kern="1200" cap="none" spc="0" normalizeH="0" noProof="0" dirty="0" err="1">
                <a:ln>
                  <a:noFill/>
                </a:ln>
                <a:solidFill>
                  <a:prstClr val="white"/>
                </a:solidFill>
                <a:effectLst/>
                <a:uLnTx/>
                <a:uFillTx/>
                <a:latin typeface="Arial" panose="020B0604020202020204" pitchFamily="34" charset="0"/>
                <a:ea typeface="Lato"/>
                <a:cs typeface="Arial" panose="020B0604020202020204" pitchFamily="34" charset="0"/>
              </a:rPr>
              <a:t>tập</a:t>
            </a:r>
            <a:r>
              <a:rPr kumimoji="0" lang="en-US" altLang="en-US" sz="4800" b="1" i="0" u="none" strike="noStrike" kern="1200" cap="none" spc="0" normalizeH="0" noProof="0" dirty="0">
                <a:ln>
                  <a:noFill/>
                </a:ln>
                <a:solidFill>
                  <a:prstClr val="white"/>
                </a:solidFill>
                <a:effectLst/>
                <a:uLnTx/>
                <a:uFillTx/>
                <a:latin typeface="Arial" panose="020B0604020202020204" pitchFamily="34" charset="0"/>
                <a:ea typeface="Lato"/>
                <a:cs typeface="Arial" panose="020B0604020202020204" pitchFamily="34" charset="0"/>
              </a:rPr>
              <a:t> </a:t>
            </a:r>
            <a:r>
              <a:rPr kumimoji="0" lang="en-US" altLang="en-US" sz="4800" b="1" i="0" u="none" strike="noStrike" kern="1200" cap="none" spc="0" normalizeH="0" noProof="0" dirty="0" err="1">
                <a:ln>
                  <a:noFill/>
                </a:ln>
                <a:solidFill>
                  <a:prstClr val="white"/>
                </a:solidFill>
                <a:effectLst/>
                <a:uLnTx/>
                <a:uFillTx/>
                <a:latin typeface="Arial" panose="020B0604020202020204" pitchFamily="34" charset="0"/>
                <a:ea typeface="Lato"/>
                <a:cs typeface="Arial" panose="020B0604020202020204" pitchFamily="34" charset="0"/>
              </a:rPr>
              <a:t>lớn</a:t>
            </a:r>
            <a:r>
              <a:rPr kumimoji="0" lang="en-US" altLang="en-US" sz="4800" b="1" i="0" u="none" strike="noStrike" kern="1200" cap="none" spc="0" normalizeH="0" noProof="0" dirty="0">
                <a:ln>
                  <a:noFill/>
                </a:ln>
                <a:solidFill>
                  <a:prstClr val="white"/>
                </a:solidFill>
                <a:effectLst/>
                <a:uLnTx/>
                <a:uFillTx/>
                <a:latin typeface="Arial" panose="020B0604020202020204" pitchFamily="34" charset="0"/>
                <a:ea typeface="Lato"/>
                <a:cs typeface="Arial" panose="020B0604020202020204" pitchFamily="34" charset="0"/>
              </a:rPr>
              <a:t> </a:t>
            </a:r>
            <a:r>
              <a:rPr kumimoji="0" lang="en-US" altLang="en-US" sz="4800" b="1" i="0" u="none" strike="noStrike" kern="1200" cap="none" spc="0" normalizeH="0" noProof="0" dirty="0" err="1">
                <a:ln>
                  <a:noFill/>
                </a:ln>
                <a:solidFill>
                  <a:prstClr val="white"/>
                </a:solidFill>
                <a:effectLst/>
                <a:uLnTx/>
                <a:uFillTx/>
                <a:latin typeface="Arial" panose="020B0604020202020204" pitchFamily="34" charset="0"/>
                <a:ea typeface="Lato"/>
                <a:cs typeface="Arial" panose="020B0604020202020204" pitchFamily="34" charset="0"/>
              </a:rPr>
              <a:t>Công</a:t>
            </a:r>
            <a:r>
              <a:rPr kumimoji="0" lang="en-US" altLang="en-US" sz="4800" b="1" i="0" u="none" strike="noStrike" kern="1200" cap="none" spc="0" normalizeH="0" noProof="0" dirty="0">
                <a:ln>
                  <a:noFill/>
                </a:ln>
                <a:solidFill>
                  <a:prstClr val="white"/>
                </a:solidFill>
                <a:effectLst/>
                <a:uLnTx/>
                <a:uFillTx/>
                <a:latin typeface="Arial" panose="020B0604020202020204" pitchFamily="34" charset="0"/>
                <a:ea typeface="Lato"/>
                <a:cs typeface="Arial" panose="020B0604020202020204" pitchFamily="34" charset="0"/>
              </a:rPr>
              <a:t> </a:t>
            </a:r>
            <a:r>
              <a:rPr kumimoji="0" lang="en-US" altLang="en-US" sz="4800" b="1" i="0" u="none" strike="noStrike" kern="1200" cap="none" spc="0" normalizeH="0" noProof="0" dirty="0" err="1">
                <a:ln>
                  <a:noFill/>
                </a:ln>
                <a:solidFill>
                  <a:prstClr val="white"/>
                </a:solidFill>
                <a:effectLst/>
                <a:uLnTx/>
                <a:uFillTx/>
                <a:latin typeface="Arial" panose="020B0604020202020204" pitchFamily="34" charset="0"/>
                <a:ea typeface="Lato"/>
                <a:cs typeface="Arial" panose="020B0604020202020204" pitchFamily="34" charset="0"/>
              </a:rPr>
              <a:t>nghệ</a:t>
            </a:r>
            <a:r>
              <a:rPr kumimoji="0" lang="en-US" altLang="en-US" sz="4800" b="1" i="0" u="none" strike="noStrike" kern="1200" cap="none" spc="0" normalizeH="0" noProof="0" dirty="0">
                <a:ln>
                  <a:noFill/>
                </a:ln>
                <a:solidFill>
                  <a:prstClr val="white"/>
                </a:solidFill>
                <a:effectLst/>
                <a:uLnTx/>
                <a:uFillTx/>
                <a:latin typeface="Arial" panose="020B0604020202020204" pitchFamily="34" charset="0"/>
                <a:ea typeface="Lato"/>
                <a:cs typeface="Arial" panose="020B0604020202020204" pitchFamily="34" charset="0"/>
              </a:rPr>
              <a:t> </a:t>
            </a:r>
            <a:r>
              <a:rPr kumimoji="0" lang="en-US" altLang="en-US" sz="4800" b="1" i="0" u="none" strike="noStrike" kern="1200" cap="none" spc="0" normalizeH="0" noProof="0" dirty="0" err="1">
                <a:ln>
                  <a:noFill/>
                </a:ln>
                <a:solidFill>
                  <a:prstClr val="white"/>
                </a:solidFill>
                <a:effectLst/>
                <a:uLnTx/>
                <a:uFillTx/>
                <a:latin typeface="Arial" panose="020B0604020202020204" pitchFamily="34" charset="0"/>
                <a:ea typeface="Lato"/>
                <a:cs typeface="Arial" panose="020B0604020202020204" pitchFamily="34" charset="0"/>
              </a:rPr>
              <a:t>phần</a:t>
            </a:r>
            <a:r>
              <a:rPr kumimoji="0" lang="en-US" altLang="en-US" sz="4800" b="1" i="0" u="none" strike="noStrike" kern="1200" cap="none" spc="0" normalizeH="0" noProof="0" dirty="0">
                <a:ln>
                  <a:noFill/>
                </a:ln>
                <a:solidFill>
                  <a:prstClr val="white"/>
                </a:solidFill>
                <a:effectLst/>
                <a:uLnTx/>
                <a:uFillTx/>
                <a:latin typeface="Arial" panose="020B0604020202020204" pitchFamily="34" charset="0"/>
                <a:ea typeface="Lato"/>
                <a:cs typeface="Arial" panose="020B0604020202020204" pitchFamily="34" charset="0"/>
              </a:rPr>
              <a:t> </a:t>
            </a:r>
            <a:r>
              <a:rPr kumimoji="0" lang="en-US" altLang="en-US" sz="4800" b="1" i="0" u="none" strike="noStrike" kern="1200" cap="none" spc="0" normalizeH="0" noProof="0" dirty="0" err="1">
                <a:ln>
                  <a:noFill/>
                </a:ln>
                <a:solidFill>
                  <a:prstClr val="white"/>
                </a:solidFill>
                <a:effectLst/>
                <a:uLnTx/>
                <a:uFillTx/>
                <a:latin typeface="Arial" panose="020B0604020202020204" pitchFamily="34" charset="0"/>
                <a:ea typeface="Lato"/>
                <a:cs typeface="Arial" panose="020B0604020202020204" pitchFamily="34" charset="0"/>
              </a:rPr>
              <a:t>mềm</a:t>
            </a:r>
            <a:endParaRPr kumimoji="0" lang="en-US" altLang="en-US" sz="4800" b="1" i="0" u="none" strike="noStrike" kern="1200" cap="none" spc="0" normalizeH="0" baseline="0" noProof="0" dirty="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7" name="Title 6"/>
          <p:cNvSpPr txBox="1">
            <a:spLocks/>
          </p:cNvSpPr>
          <p:nvPr/>
        </p:nvSpPr>
        <p:spPr bwMode="auto">
          <a:xfrm>
            <a:off x="1193067" y="2682080"/>
            <a:ext cx="7343775"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altLang="en-US" sz="2800" dirty="0" err="1">
                <a:solidFill>
                  <a:prstClr val="white"/>
                </a:solidFill>
                <a:latin typeface="Arial" panose="020B0604020202020204" pitchFamily="34" charset="0"/>
                <a:ea typeface="Lato"/>
                <a:cs typeface="Arial" panose="020B0604020202020204" pitchFamily="34" charset="0"/>
              </a:rPr>
              <a:t>Nhóm</a:t>
            </a:r>
            <a:r>
              <a:rPr lang="en-US" altLang="en-US" sz="2800" dirty="0">
                <a:solidFill>
                  <a:prstClr val="white"/>
                </a:solidFill>
                <a:latin typeface="Arial" panose="020B0604020202020204" pitchFamily="34" charset="0"/>
                <a:ea typeface="Lato"/>
                <a:cs typeface="Arial" panose="020B0604020202020204" pitchFamily="34" charset="0"/>
              </a:rPr>
              <a:t> 9</a:t>
            </a:r>
            <a:endParaRPr kumimoji="0" lang="en-US" altLang="en-US" sz="2800" b="0" i="0" u="none" strike="noStrike" kern="1200" cap="none" spc="0" normalizeH="0" baseline="0" noProof="0" dirty="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8" name="Title 6"/>
          <p:cNvSpPr txBox="1">
            <a:spLocks/>
          </p:cNvSpPr>
          <p:nvPr/>
        </p:nvSpPr>
        <p:spPr bwMode="auto">
          <a:xfrm>
            <a:off x="2556832" y="3846753"/>
            <a:ext cx="7343775"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lang="en-US" altLang="en-US" sz="2800" noProof="0" dirty="0" err="1">
                <a:solidFill>
                  <a:prstClr val="white"/>
                </a:solidFill>
                <a:latin typeface="Arial" panose="020B0604020202020204" pitchFamily="34" charset="0"/>
                <a:ea typeface="Lato"/>
                <a:cs typeface="Arial" panose="020B0604020202020204" pitchFamily="34" charset="0"/>
              </a:rPr>
              <a:t>Giảng</a:t>
            </a:r>
            <a:r>
              <a:rPr lang="en-US" altLang="en-US" sz="2800" noProof="0" dirty="0">
                <a:solidFill>
                  <a:prstClr val="white"/>
                </a:solidFill>
                <a:latin typeface="Arial" panose="020B0604020202020204" pitchFamily="34" charset="0"/>
                <a:ea typeface="Lato"/>
                <a:cs typeface="Arial" panose="020B0604020202020204" pitchFamily="34" charset="0"/>
              </a:rPr>
              <a:t> </a:t>
            </a:r>
            <a:r>
              <a:rPr lang="en-US" altLang="en-US" sz="2800" noProof="0" dirty="0" err="1">
                <a:solidFill>
                  <a:prstClr val="white"/>
                </a:solidFill>
                <a:latin typeface="Arial" panose="020B0604020202020204" pitchFamily="34" charset="0"/>
                <a:ea typeface="Lato"/>
                <a:cs typeface="Arial" panose="020B0604020202020204" pitchFamily="34" charset="0"/>
              </a:rPr>
              <a:t>viên</a:t>
            </a:r>
            <a:r>
              <a:rPr lang="en-US" altLang="en-US" sz="2800" noProof="0" dirty="0">
                <a:solidFill>
                  <a:prstClr val="white"/>
                </a:solidFill>
                <a:latin typeface="Arial" panose="020B0604020202020204" pitchFamily="34" charset="0"/>
                <a:ea typeface="Lato"/>
                <a:cs typeface="Arial" panose="020B0604020202020204" pitchFamily="34" charset="0"/>
              </a:rPr>
              <a:t> </a:t>
            </a:r>
            <a:r>
              <a:rPr lang="en-US" altLang="en-US" sz="2800" noProof="0" dirty="0" err="1">
                <a:solidFill>
                  <a:prstClr val="white"/>
                </a:solidFill>
                <a:latin typeface="Arial" panose="020B0604020202020204" pitchFamily="34" charset="0"/>
                <a:ea typeface="Lato"/>
                <a:cs typeface="Arial" panose="020B0604020202020204" pitchFamily="34" charset="0"/>
              </a:rPr>
              <a:t>hướng</a:t>
            </a:r>
            <a:r>
              <a:rPr lang="en-US" altLang="en-US" sz="2800" noProof="0" dirty="0">
                <a:solidFill>
                  <a:prstClr val="white"/>
                </a:solidFill>
                <a:latin typeface="Arial" panose="020B0604020202020204" pitchFamily="34" charset="0"/>
                <a:ea typeface="Lato"/>
                <a:cs typeface="Arial" panose="020B0604020202020204" pitchFamily="34" charset="0"/>
              </a:rPr>
              <a:t> </a:t>
            </a:r>
            <a:r>
              <a:rPr lang="en-US" altLang="en-US" sz="2800" noProof="0" dirty="0" err="1">
                <a:solidFill>
                  <a:prstClr val="white"/>
                </a:solidFill>
                <a:latin typeface="Arial" panose="020B0604020202020204" pitchFamily="34" charset="0"/>
                <a:ea typeface="Lato"/>
                <a:cs typeface="Arial" panose="020B0604020202020204" pitchFamily="34" charset="0"/>
              </a:rPr>
              <a:t>dẫn</a:t>
            </a:r>
            <a:r>
              <a:rPr lang="en-US" altLang="en-US" sz="2800" dirty="0">
                <a:solidFill>
                  <a:prstClr val="white"/>
                </a:solidFill>
                <a:latin typeface="Arial" panose="020B0604020202020204" pitchFamily="34" charset="0"/>
                <a:ea typeface="Lato"/>
                <a:cs typeface="Arial" panose="020B0604020202020204" pitchFamily="34" charset="0"/>
              </a:rPr>
              <a:t>: </a:t>
            </a:r>
            <a:r>
              <a:rPr lang="en-US" altLang="en-US" sz="2800" dirty="0" err="1">
                <a:solidFill>
                  <a:prstClr val="white"/>
                </a:solidFill>
                <a:latin typeface="Arial" panose="020B0604020202020204" pitchFamily="34" charset="0"/>
                <a:ea typeface="Lato"/>
                <a:cs typeface="Arial" panose="020B0604020202020204" pitchFamily="34" charset="0"/>
              </a:rPr>
              <a:t>Lê</a:t>
            </a:r>
            <a:r>
              <a:rPr lang="en-US" altLang="en-US" sz="2800" dirty="0">
                <a:solidFill>
                  <a:prstClr val="white"/>
                </a:solidFill>
                <a:latin typeface="Arial" panose="020B0604020202020204" pitchFamily="34" charset="0"/>
                <a:ea typeface="Lato"/>
                <a:cs typeface="Arial" panose="020B0604020202020204" pitchFamily="34" charset="0"/>
              </a:rPr>
              <a:t> </a:t>
            </a:r>
            <a:r>
              <a:rPr lang="en-US" altLang="en-US" sz="2800" dirty="0" err="1">
                <a:solidFill>
                  <a:prstClr val="white"/>
                </a:solidFill>
                <a:latin typeface="Arial" panose="020B0604020202020204" pitchFamily="34" charset="0"/>
                <a:ea typeface="Lato"/>
                <a:cs typeface="Arial" panose="020B0604020202020204" pitchFamily="34" charset="0"/>
              </a:rPr>
              <a:t>Thị</a:t>
            </a:r>
            <a:r>
              <a:rPr lang="en-US" altLang="en-US" sz="2800" dirty="0">
                <a:solidFill>
                  <a:prstClr val="white"/>
                </a:solidFill>
                <a:latin typeface="Arial" panose="020B0604020202020204" pitchFamily="34" charset="0"/>
                <a:ea typeface="Lato"/>
                <a:cs typeface="Arial" panose="020B0604020202020204" pitchFamily="34" charset="0"/>
              </a:rPr>
              <a:t> </a:t>
            </a:r>
            <a:r>
              <a:rPr lang="en-US" altLang="en-US" sz="2800" dirty="0" err="1">
                <a:solidFill>
                  <a:prstClr val="white"/>
                </a:solidFill>
                <a:latin typeface="Arial" panose="020B0604020202020204" pitchFamily="34" charset="0"/>
                <a:ea typeface="Lato"/>
                <a:cs typeface="Arial" panose="020B0604020202020204" pitchFamily="34" charset="0"/>
              </a:rPr>
              <a:t>Hoàng</a:t>
            </a:r>
            <a:r>
              <a:rPr lang="en-US" altLang="en-US" sz="2800" dirty="0">
                <a:solidFill>
                  <a:prstClr val="white"/>
                </a:solidFill>
                <a:latin typeface="Arial" panose="020B0604020202020204" pitchFamily="34" charset="0"/>
                <a:ea typeface="Lato"/>
                <a:cs typeface="Arial" panose="020B0604020202020204" pitchFamily="34" charset="0"/>
              </a:rPr>
              <a:t> </a:t>
            </a:r>
            <a:r>
              <a:rPr lang="en-US" altLang="en-US" sz="2800" dirty="0" err="1">
                <a:solidFill>
                  <a:prstClr val="white"/>
                </a:solidFill>
                <a:latin typeface="Arial" panose="020B0604020202020204" pitchFamily="34" charset="0"/>
                <a:ea typeface="Lato"/>
                <a:cs typeface="Arial" panose="020B0604020202020204" pitchFamily="34" charset="0"/>
              </a:rPr>
              <a:t>Anh</a:t>
            </a:r>
            <a:endParaRPr kumimoji="0" lang="en-US" altLang="en-US" sz="2800" b="0" i="0" u="none" strike="noStrike" kern="1200" cap="none" spc="0" normalizeH="0" baseline="0" noProof="0" dirty="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802325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Placeholder 1"/>
          <p:cNvSpPr>
            <a:spLocks noGrp="1"/>
          </p:cNvSpPr>
          <p:nvPr>
            <p:ph type="body" sz="quarter" idx="10"/>
          </p:nvPr>
        </p:nvSpPr>
        <p:spPr bwMode="auto">
          <a:xfrm>
            <a:off x="498475" y="1446343"/>
            <a:ext cx="9515475"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err="1"/>
              <a:t>Thành</a:t>
            </a:r>
            <a:r>
              <a:rPr lang="en-US" altLang="en-US" dirty="0"/>
              <a:t> </a:t>
            </a:r>
            <a:r>
              <a:rPr lang="en-US" altLang="en-US" dirty="0" err="1"/>
              <a:t>viên</a:t>
            </a:r>
            <a:r>
              <a:rPr lang="en-US" altLang="en-US" dirty="0"/>
              <a:t> </a:t>
            </a:r>
            <a:r>
              <a:rPr lang="en-US" altLang="en-US" dirty="0" err="1"/>
              <a:t>trong</a:t>
            </a:r>
            <a:r>
              <a:rPr lang="en-US" altLang="en-US" dirty="0"/>
              <a:t> </a:t>
            </a:r>
            <a:r>
              <a:rPr lang="en-US" altLang="en-US" dirty="0" err="1"/>
              <a:t>nhóm</a:t>
            </a:r>
            <a:endParaRPr lang="en-US" altLang="en-US" dirty="0"/>
          </a:p>
        </p:txBody>
      </p:sp>
      <p:sp>
        <p:nvSpPr>
          <p:cNvPr id="19459" name="Text Placeholder 2"/>
          <p:cNvSpPr>
            <a:spLocks noGrp="1"/>
          </p:cNvSpPr>
          <p:nvPr>
            <p:ph type="body" sz="quarter" idx="11"/>
          </p:nvPr>
        </p:nvSpPr>
        <p:spPr bwMode="auto">
          <a:xfrm>
            <a:off x="498475" y="2562808"/>
            <a:ext cx="6843713" cy="31350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buFont typeface="+mj-lt"/>
              <a:buAutoNum type="arabicPeriod"/>
            </a:pPr>
            <a:r>
              <a:rPr lang="en-US" altLang="en-US" dirty="0"/>
              <a:t>Lã Minh Khánh (</a:t>
            </a:r>
            <a:r>
              <a:rPr lang="en-US" altLang="en-US" dirty="0" err="1"/>
              <a:t>Nhóm</a:t>
            </a:r>
            <a:r>
              <a:rPr lang="en-US" altLang="en-US" dirty="0"/>
              <a:t> </a:t>
            </a:r>
            <a:r>
              <a:rPr lang="en-US" altLang="en-US" dirty="0" err="1"/>
              <a:t>trưởng</a:t>
            </a:r>
            <a:r>
              <a:rPr lang="en-US" altLang="en-US" dirty="0"/>
              <a:t>)</a:t>
            </a:r>
          </a:p>
          <a:p>
            <a:pPr marL="514350" indent="-514350">
              <a:buFont typeface="+mj-lt"/>
              <a:buAutoNum type="arabicPeriod"/>
            </a:pPr>
            <a:r>
              <a:rPr lang="en-US" altLang="en-US" dirty="0" err="1"/>
              <a:t>Nguyễn</a:t>
            </a:r>
            <a:r>
              <a:rPr lang="en-US" altLang="en-US" dirty="0"/>
              <a:t> Xuân </a:t>
            </a:r>
            <a:r>
              <a:rPr lang="en-US" altLang="en-US" dirty="0" err="1"/>
              <a:t>Phúc</a:t>
            </a:r>
            <a:endParaRPr lang="en-US" altLang="en-US" dirty="0"/>
          </a:p>
          <a:p>
            <a:pPr marL="514350" indent="-514350">
              <a:buFont typeface="+mj-lt"/>
              <a:buAutoNum type="arabicPeriod"/>
            </a:pPr>
            <a:r>
              <a:rPr lang="en-US" altLang="en-US" dirty="0" err="1"/>
              <a:t>Nguyễn</a:t>
            </a:r>
            <a:r>
              <a:rPr lang="en-US" altLang="en-US" dirty="0"/>
              <a:t> </a:t>
            </a:r>
            <a:r>
              <a:rPr lang="en-US" altLang="en-US" dirty="0" err="1"/>
              <a:t>Phúc</a:t>
            </a:r>
            <a:r>
              <a:rPr lang="en-US" altLang="en-US" dirty="0"/>
              <a:t> An</a:t>
            </a:r>
          </a:p>
          <a:p>
            <a:pPr marL="514350" indent="-514350">
              <a:buFont typeface="+mj-lt"/>
              <a:buAutoNum type="arabicPeriod"/>
            </a:pPr>
            <a:r>
              <a:rPr lang="en-US" altLang="en-US" dirty="0" err="1"/>
              <a:t>Nguyễn</a:t>
            </a:r>
            <a:r>
              <a:rPr lang="en-US" altLang="en-US" dirty="0"/>
              <a:t> </a:t>
            </a:r>
            <a:r>
              <a:rPr lang="en-US" altLang="en-US" dirty="0" err="1"/>
              <a:t>Hải</a:t>
            </a:r>
            <a:r>
              <a:rPr lang="en-US" altLang="en-US" dirty="0"/>
              <a:t> </a:t>
            </a:r>
            <a:r>
              <a:rPr lang="en-US" altLang="en-US" dirty="0" err="1"/>
              <a:t>Cường</a:t>
            </a:r>
            <a:endParaRPr lang="en-US" altLang="en-US" dirty="0"/>
          </a:p>
          <a:p>
            <a:pPr marL="514350" indent="-514350">
              <a:buFont typeface="+mj-lt"/>
              <a:buAutoNum type="arabicPeriod"/>
            </a:pPr>
            <a:r>
              <a:rPr lang="en-US" altLang="en-US" dirty="0" err="1"/>
              <a:t>Trịnh</a:t>
            </a:r>
            <a:r>
              <a:rPr lang="en-US" altLang="en-US" dirty="0"/>
              <a:t> </a:t>
            </a:r>
            <a:r>
              <a:rPr lang="en-US" altLang="en-US" dirty="0" err="1"/>
              <a:t>Quỳnh</a:t>
            </a:r>
            <a:r>
              <a:rPr lang="en-US" altLang="en-US" dirty="0"/>
              <a:t> Anh</a:t>
            </a:r>
          </a:p>
          <a:p>
            <a:pPr marL="514350" indent="-514350">
              <a:buFont typeface="+mj-lt"/>
              <a:buAutoNum type="arabicPeriod"/>
            </a:pPr>
            <a:r>
              <a:rPr lang="en-US" altLang="en-US" dirty="0" err="1"/>
              <a:t>Phạm</a:t>
            </a:r>
            <a:r>
              <a:rPr lang="en-US" altLang="en-US" dirty="0"/>
              <a:t> </a:t>
            </a:r>
            <a:r>
              <a:rPr lang="en-US" altLang="en-US" dirty="0" err="1"/>
              <a:t>Hồng</a:t>
            </a:r>
            <a:r>
              <a:rPr lang="en-US" altLang="en-US" dirty="0"/>
              <a:t> Thái</a:t>
            </a:r>
          </a:p>
        </p:txBody>
      </p:sp>
    </p:spTree>
    <p:extLst>
      <p:ext uri="{BB962C8B-B14F-4D97-AF65-F5344CB8AC3E}">
        <p14:creationId xmlns:p14="http://schemas.microsoft.com/office/powerpoint/2010/main" val="1493839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sz="quarter" idx="13"/>
          </p:nvPr>
        </p:nvSpPr>
        <p:spPr bwMode="auto">
          <a:xfrm>
            <a:off x="4697413" y="1247775"/>
            <a:ext cx="7251700" cy="5205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US" altLang="en-US" dirty="0" err="1">
                <a:ea typeface="Lato"/>
              </a:rPr>
              <a:t>Nhiệm</a:t>
            </a:r>
            <a:r>
              <a:rPr lang="en-US" altLang="en-US" dirty="0">
                <a:ea typeface="Lato"/>
              </a:rPr>
              <a:t> </a:t>
            </a:r>
            <a:r>
              <a:rPr lang="en-US" altLang="en-US" dirty="0" err="1">
                <a:ea typeface="Lato"/>
              </a:rPr>
              <a:t>vụ</a:t>
            </a:r>
            <a:r>
              <a:rPr lang="en-US" altLang="en-US" dirty="0">
                <a:ea typeface="Lato"/>
              </a:rPr>
              <a:t>:</a:t>
            </a:r>
          </a:p>
          <a:p>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a:t>
            </a:r>
            <a:r>
              <a:rPr lang="en-US" altLang="en-US" dirty="0" err="1">
                <a:ea typeface="Lato"/>
              </a:rPr>
              <a:t>linh</a:t>
            </a:r>
            <a:r>
              <a:rPr lang="en-US" altLang="en-US" dirty="0">
                <a:ea typeface="Lato"/>
              </a:rPr>
              <a:t> </a:t>
            </a:r>
            <a:r>
              <a:rPr lang="en-US" altLang="en-US" dirty="0" err="1">
                <a:ea typeface="Lato"/>
              </a:rPr>
              <a:t>hoạt</a:t>
            </a:r>
            <a:r>
              <a:rPr lang="en-US" altLang="en-US" dirty="0">
                <a:ea typeface="Lato"/>
              </a:rPr>
              <a:t> Agile </a:t>
            </a:r>
            <a:r>
              <a:rPr lang="en-US" altLang="en-US" dirty="0" err="1">
                <a:ea typeface="Lato"/>
              </a:rPr>
              <a:t>từ</a:t>
            </a:r>
            <a:r>
              <a:rPr lang="en-US" altLang="en-US" dirty="0">
                <a:ea typeface="Lato"/>
              </a:rPr>
              <a:t> </a:t>
            </a:r>
            <a:r>
              <a:rPr lang="en-US" altLang="en-US" dirty="0" err="1">
                <a:ea typeface="Lato"/>
              </a:rPr>
              <a:t>đó</a:t>
            </a:r>
            <a:r>
              <a:rPr lang="en-US" altLang="en-US" dirty="0">
                <a:ea typeface="Lato"/>
              </a:rPr>
              <a:t> </a:t>
            </a:r>
            <a:r>
              <a:rPr lang="en-US" altLang="en-US" dirty="0" err="1">
                <a:ea typeface="Lato"/>
              </a:rPr>
              <a:t>dùng</a:t>
            </a:r>
            <a:r>
              <a:rPr lang="en-US" altLang="en-US" dirty="0">
                <a:ea typeface="Lato"/>
              </a:rPr>
              <a:t> trello.com </a:t>
            </a:r>
            <a:r>
              <a:rPr lang="en-US" altLang="en-US" dirty="0" err="1">
                <a:ea typeface="Lato"/>
              </a:rPr>
              <a:t>để</a:t>
            </a:r>
            <a:r>
              <a:rPr lang="en-US" altLang="en-US" dirty="0">
                <a:ea typeface="Lato"/>
              </a:rPr>
              <a:t> </a:t>
            </a:r>
            <a:r>
              <a:rPr lang="en-US" altLang="en-US" dirty="0" err="1">
                <a:ea typeface="Lato"/>
              </a:rPr>
              <a:t>lập</a:t>
            </a:r>
            <a:r>
              <a:rPr lang="en-US" altLang="en-US" dirty="0">
                <a:ea typeface="Lato"/>
              </a:rPr>
              <a:t> </a:t>
            </a:r>
            <a:r>
              <a:rPr lang="en-US" altLang="en-US" dirty="0" err="1">
                <a:ea typeface="Lato"/>
              </a:rPr>
              <a:t>kế</a:t>
            </a:r>
            <a:r>
              <a:rPr lang="en-US" altLang="en-US" dirty="0">
                <a:ea typeface="Lato"/>
              </a:rPr>
              <a:t> </a:t>
            </a:r>
            <a:r>
              <a:rPr lang="en-US" altLang="en-US" dirty="0" err="1">
                <a:ea typeface="Lato"/>
              </a:rPr>
              <a:t>hoạch</a:t>
            </a:r>
            <a:r>
              <a:rPr lang="en-US" altLang="en-US" dirty="0">
                <a:ea typeface="Lato"/>
              </a:rPr>
              <a:t> </a:t>
            </a:r>
            <a:r>
              <a:rPr lang="en-US" altLang="en-US" dirty="0" err="1">
                <a:ea typeface="Lato"/>
              </a:rPr>
              <a:t>dự</a:t>
            </a:r>
            <a:r>
              <a:rPr lang="en-US" altLang="en-US" dirty="0">
                <a:ea typeface="Lato"/>
              </a:rPr>
              <a:t> </a:t>
            </a:r>
            <a:r>
              <a:rPr lang="en-US" altLang="en-US" dirty="0" err="1">
                <a:ea typeface="Lato"/>
              </a:rPr>
              <a:t>án</a:t>
            </a:r>
            <a:r>
              <a:rPr lang="en-US" altLang="en-US" dirty="0">
                <a:ea typeface="Lato"/>
              </a:rPr>
              <a:t> </a:t>
            </a:r>
            <a:r>
              <a:rPr lang="en-US" altLang="en-US" dirty="0" err="1">
                <a:ea typeface="Lato"/>
              </a:rPr>
              <a:t>cho</a:t>
            </a:r>
            <a:r>
              <a:rPr lang="en-US" altLang="en-US" dirty="0">
                <a:ea typeface="Lato"/>
              </a:rPr>
              <a:t> </a:t>
            </a:r>
            <a:r>
              <a:rPr lang="en-US" altLang="en-US" dirty="0" err="1">
                <a:ea typeface="Lato"/>
              </a:rPr>
              <a:t>nhóm</a:t>
            </a:r>
            <a:r>
              <a:rPr lang="en-US" altLang="en-US" dirty="0">
                <a:ea typeface="Lato"/>
              </a:rPr>
              <a:t>.</a:t>
            </a:r>
          </a:p>
          <a:p>
            <a:r>
              <a:rPr lang="vi-VN" altLang="en-US" dirty="0">
                <a:ea typeface="Lato"/>
              </a:rPr>
              <a:t>Tìm hiểu về biểu đồ phân rã chức năng. Hãy vẽ biểu đồ phân rã chức năng cho bài toán xây dựng chương trình quản lý bán đồ uống.</a:t>
            </a:r>
            <a:endParaRPr lang="en-US" altLang="en-US" dirty="0">
              <a:ea typeface="Lato"/>
            </a:endParaRPr>
          </a:p>
          <a:p>
            <a:endParaRPr lang="en-US" altLang="en-US" dirty="0">
              <a:ea typeface="Lato"/>
            </a:endParaRPr>
          </a:p>
        </p:txBody>
      </p:sp>
      <p:sp>
        <p:nvSpPr>
          <p:cNvPr id="17411" name="Title 2"/>
          <p:cNvSpPr>
            <a:spLocks noGrp="1"/>
          </p:cNvSpPr>
          <p:nvPr>
            <p:ph type="title"/>
          </p:nvPr>
        </p:nvSpPr>
        <p:spPr bwMode="auto">
          <a:xfrm>
            <a:off x="4697413" y="93307"/>
            <a:ext cx="7251700" cy="7464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4400" dirty="0" err="1">
                <a:ea typeface="Lato"/>
              </a:rPr>
              <a:t>BÀI</a:t>
            </a:r>
            <a:r>
              <a:rPr lang="en-US" altLang="en-US" sz="4400" dirty="0">
                <a:ea typeface="Lato"/>
              </a:rPr>
              <a:t> </a:t>
            </a:r>
            <a:r>
              <a:rPr lang="en-US" altLang="en-US" sz="4400" dirty="0" err="1">
                <a:ea typeface="Lato"/>
              </a:rPr>
              <a:t>TIỂU</a:t>
            </a:r>
            <a:r>
              <a:rPr lang="en-US" altLang="en-US" sz="4400" dirty="0">
                <a:ea typeface="Lato"/>
              </a:rPr>
              <a:t> </a:t>
            </a:r>
            <a:r>
              <a:rPr lang="en-US" altLang="en-US" sz="4400" dirty="0" err="1">
                <a:ea typeface="Lato"/>
              </a:rPr>
              <a:t>LUẬN</a:t>
            </a:r>
            <a:r>
              <a:rPr lang="en-US" altLang="en-US" sz="4400" dirty="0">
                <a:ea typeface="Lato"/>
              </a:rPr>
              <a:t> </a:t>
            </a:r>
            <a:r>
              <a:rPr lang="en-US" altLang="en-US" sz="4400" dirty="0" err="1">
                <a:ea typeface="Lato"/>
              </a:rPr>
              <a:t>SỐ</a:t>
            </a:r>
            <a:r>
              <a:rPr lang="en-US" altLang="en-US" sz="4400" dirty="0">
                <a:ea typeface="Lato"/>
              </a:rPr>
              <a:t> 1</a:t>
            </a:r>
          </a:p>
        </p:txBody>
      </p:sp>
      <p:sp>
        <p:nvSpPr>
          <p:cNvPr id="4" name="Slide Number Placeholder 3"/>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21E2E5-C906-4F0C-84C9-99E42D1D2416}" type="slidenum">
              <a:rPr kumimoji="0" lang="en-US" sz="1000" b="0" i="0" u="none" strike="noStrike" kern="1200" cap="none" spc="0" normalizeH="0" baseline="0" noProof="0" smtClean="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657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a:t>
            </a:r>
            <a:r>
              <a:rPr lang="en-US" altLang="en-US" dirty="0" err="1">
                <a:ea typeface="Lato"/>
              </a:rPr>
              <a:t>linh</a:t>
            </a:r>
            <a:r>
              <a:rPr lang="en-US" altLang="en-US" dirty="0">
                <a:ea typeface="Lato"/>
              </a:rPr>
              <a:t> </a:t>
            </a:r>
            <a:r>
              <a:rPr lang="en-US" altLang="en-US" dirty="0" err="1">
                <a:ea typeface="Lato"/>
              </a:rPr>
              <a:t>hoạt</a:t>
            </a:r>
            <a:r>
              <a:rPr lang="en-US" altLang="en-US" dirty="0">
                <a:ea typeface="Lato"/>
              </a:rPr>
              <a:t> Agile</a:t>
            </a:r>
          </a:p>
        </p:txBody>
      </p:sp>
      <p:sp>
        <p:nvSpPr>
          <p:cNvPr id="13315" name="Content Placeholder 2"/>
          <p:cNvSpPr>
            <a:spLocks noGrp="1"/>
          </p:cNvSpPr>
          <p:nvPr>
            <p:ph sz="quarter" idx="13"/>
          </p:nvPr>
        </p:nvSpPr>
        <p:spPr bwMode="auto">
          <a:xfrm>
            <a:off x="338138" y="1156996"/>
            <a:ext cx="11515725" cy="481041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1.1. Quy </a:t>
            </a:r>
            <a:r>
              <a:rPr lang="en-US" altLang="en-US" dirty="0" err="1">
                <a:ea typeface="Lato"/>
              </a:rPr>
              <a:t>trình</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a:t>
            </a:r>
            <a:r>
              <a:rPr lang="en-US" altLang="en-US" dirty="0" err="1">
                <a:ea typeface="Lato"/>
              </a:rPr>
              <a:t>linh</a:t>
            </a:r>
            <a:r>
              <a:rPr lang="en-US" altLang="en-US" dirty="0">
                <a:ea typeface="Lato"/>
              </a:rPr>
              <a:t> </a:t>
            </a:r>
            <a:r>
              <a:rPr lang="en-US" altLang="en-US" dirty="0" err="1">
                <a:ea typeface="Lato"/>
              </a:rPr>
              <a:t>hoạt</a:t>
            </a:r>
            <a:r>
              <a:rPr lang="en-US" altLang="en-US" dirty="0">
                <a:ea typeface="Lato"/>
              </a:rPr>
              <a:t> Agile </a:t>
            </a:r>
          </a:p>
          <a:p>
            <a:pPr eaLnBrk="1" hangingPunct="1">
              <a:buFontTx/>
              <a:buChar char="-"/>
            </a:pPr>
            <a:r>
              <a:rPr lang="en-US" altLang="en-US" sz="4000" dirty="0">
                <a:ea typeface="Lato"/>
              </a:rPr>
              <a:t> </a:t>
            </a:r>
            <a:r>
              <a:rPr lang="en-US" altLang="en-US" sz="4000" dirty="0" err="1">
                <a:ea typeface="Lato"/>
              </a:rPr>
              <a:t>Định</a:t>
            </a:r>
            <a:r>
              <a:rPr lang="en-US" altLang="en-US" sz="4000" dirty="0">
                <a:ea typeface="Lato"/>
              </a:rPr>
              <a:t> </a:t>
            </a:r>
            <a:r>
              <a:rPr lang="en-US" altLang="en-US" sz="4000" dirty="0" err="1">
                <a:ea typeface="Lato"/>
              </a:rPr>
              <a:t>nghĩa</a:t>
            </a:r>
            <a:r>
              <a:rPr lang="en-US" altLang="en-US" sz="4000" dirty="0">
                <a:ea typeface="Lato"/>
              </a:rPr>
              <a:t>: </a:t>
            </a:r>
            <a:r>
              <a:rPr lang="vi-VN" altLang="en-US" sz="4000" dirty="0" err="1">
                <a:ea typeface="Lato"/>
              </a:rPr>
              <a:t>Agile</a:t>
            </a:r>
            <a:r>
              <a:rPr lang="vi-VN" altLang="en-US" sz="4000" dirty="0">
                <a:ea typeface="Lato"/>
              </a:rPr>
              <a:t> là một phương pháp tiếp cận phát triển phần mềm linh hoạt, tập trung vào việc giao hàng sản phẩm có giá trị cho khách hàng trong các khoảng thời gian ngắn gọi là </a:t>
            </a:r>
            <a:r>
              <a:rPr lang="vi-VN" altLang="en-US" sz="4000" dirty="0" err="1">
                <a:ea typeface="Lato"/>
              </a:rPr>
              <a:t>sprint</a:t>
            </a:r>
            <a:r>
              <a:rPr lang="vi-VN" altLang="en-US" sz="4000" dirty="0">
                <a:ea typeface="Lato"/>
              </a:rPr>
              <a:t>. Thay vì lập kế hoạch chi tiết từ đầu đến cuối, </a:t>
            </a:r>
            <a:r>
              <a:rPr lang="vi-VN" altLang="en-US" sz="4000" dirty="0" err="1">
                <a:ea typeface="Lato"/>
              </a:rPr>
              <a:t>Agile</a:t>
            </a:r>
            <a:r>
              <a:rPr lang="vi-VN" altLang="en-US" sz="4000" dirty="0">
                <a:ea typeface="Lato"/>
              </a:rPr>
              <a:t> khuyến khích sự thích ứng với những thay đổi và ưu tiên việc giao hàng phần mềm hoạt động.</a:t>
            </a:r>
            <a:endParaRPr lang="en-US" altLang="en-US" sz="4000"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1991555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a:t>
            </a:r>
            <a:r>
              <a:rPr lang="en-US" altLang="en-US" dirty="0" err="1">
                <a:ea typeface="Lato"/>
              </a:rPr>
              <a:t>linh</a:t>
            </a:r>
            <a:r>
              <a:rPr lang="en-US" altLang="en-US" dirty="0">
                <a:ea typeface="Lato"/>
              </a:rPr>
              <a:t> </a:t>
            </a:r>
            <a:r>
              <a:rPr lang="en-US" altLang="en-US" dirty="0" err="1">
                <a:ea typeface="Lato"/>
              </a:rPr>
              <a:t>hoạt</a:t>
            </a:r>
            <a:r>
              <a:rPr lang="en-US" altLang="en-US" dirty="0">
                <a:ea typeface="Lato"/>
              </a:rPr>
              <a:t> Agile</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Picture 1">
            <a:extLst>
              <a:ext uri="{FF2B5EF4-FFF2-40B4-BE49-F238E27FC236}">
                <a16:creationId xmlns:a16="http://schemas.microsoft.com/office/drawing/2014/main" id="{D156A89F-90F1-AC04-90B1-FF5DE1B6B45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8521" y="859520"/>
            <a:ext cx="7005437" cy="5417455"/>
          </a:xfrm>
          <a:prstGeom prst="rect">
            <a:avLst/>
          </a:prstGeom>
          <a:noFill/>
          <a:ln>
            <a:noFill/>
          </a:ln>
        </p:spPr>
      </p:pic>
    </p:spTree>
    <p:extLst>
      <p:ext uri="{BB962C8B-B14F-4D97-AF65-F5344CB8AC3E}">
        <p14:creationId xmlns:p14="http://schemas.microsoft.com/office/powerpoint/2010/main" val="2443058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a:t>
            </a:r>
            <a:r>
              <a:rPr lang="en-US" altLang="en-US" dirty="0" err="1">
                <a:ea typeface="Lato"/>
              </a:rPr>
              <a:t>linh</a:t>
            </a:r>
            <a:r>
              <a:rPr lang="en-US" altLang="en-US" dirty="0">
                <a:ea typeface="Lato"/>
              </a:rPr>
              <a:t> </a:t>
            </a:r>
            <a:r>
              <a:rPr lang="en-US" altLang="en-US" dirty="0" err="1">
                <a:ea typeface="Lato"/>
              </a:rPr>
              <a:t>hoạt</a:t>
            </a:r>
            <a:r>
              <a:rPr lang="en-US" altLang="en-US" dirty="0">
                <a:ea typeface="Lato"/>
              </a:rPr>
              <a:t> Agile</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Các giá trị cốt lõi của </a:t>
            </a:r>
            <a:r>
              <a:rPr lang="vi-VN" altLang="en-US" dirty="0" err="1">
                <a:ea typeface="Lato"/>
              </a:rPr>
              <a:t>Agile</a:t>
            </a:r>
            <a:r>
              <a:rPr lang="vi-VN" altLang="en-US" dirty="0">
                <a:ea typeface="Lato"/>
              </a:rPr>
              <a:t>:</a:t>
            </a:r>
          </a:p>
          <a:p>
            <a:pPr marL="0" indent="0" eaLnBrk="1" hangingPunct="1">
              <a:buNone/>
            </a:pPr>
            <a:r>
              <a:rPr lang="vi-VN" altLang="en-US" dirty="0">
                <a:ea typeface="Lato"/>
              </a:rPr>
              <a:t>•	Cá nhân và tương tác hơn là các quy trình và công cụ.</a:t>
            </a:r>
          </a:p>
          <a:p>
            <a:pPr marL="0" indent="0" eaLnBrk="1" hangingPunct="1">
              <a:buNone/>
            </a:pPr>
            <a:r>
              <a:rPr lang="vi-VN" altLang="en-US" dirty="0">
                <a:ea typeface="Lato"/>
              </a:rPr>
              <a:t>•	Phần mềm hoạt động hơn là tài liệu toàn diện.</a:t>
            </a:r>
          </a:p>
          <a:p>
            <a:pPr marL="0" indent="0" eaLnBrk="1" hangingPunct="1">
              <a:buNone/>
            </a:pPr>
            <a:r>
              <a:rPr lang="vi-VN" altLang="en-US" dirty="0">
                <a:ea typeface="Lato"/>
              </a:rPr>
              <a:t>•	Sự hợp tác với khách hàng hơn là đàm phán hợp đồng.</a:t>
            </a:r>
          </a:p>
          <a:p>
            <a:pPr marL="0" indent="0" eaLnBrk="1" hangingPunct="1">
              <a:buNone/>
            </a:pPr>
            <a:r>
              <a:rPr lang="vi-VN" altLang="en-US" dirty="0">
                <a:ea typeface="Lato"/>
              </a:rPr>
              <a:t>•	Đáp ứng với thay đổi hơn là tuân theo một kế hoạch.</a:t>
            </a:r>
          </a:p>
          <a:p>
            <a:pPr marL="0" indent="0" eaLnBrk="1" hangingPunct="1">
              <a:buNone/>
            </a:pPr>
            <a:r>
              <a:rPr lang="vi-VN" altLang="en-US" dirty="0">
                <a:ea typeface="Lato"/>
              </a:rPr>
              <a:t>Các nguyên tắc của </a:t>
            </a:r>
            <a:r>
              <a:rPr lang="vi-VN" altLang="en-US" dirty="0" err="1">
                <a:ea typeface="Lato"/>
              </a:rPr>
              <a:t>Agile</a:t>
            </a:r>
            <a:r>
              <a:rPr lang="vi-VN" altLang="en-US" dirty="0">
                <a:ea typeface="Lato"/>
              </a:rPr>
              <a:t>:</a:t>
            </a:r>
          </a:p>
          <a:p>
            <a:pPr marL="0" indent="0" eaLnBrk="1" hangingPunct="1">
              <a:buNone/>
            </a:pPr>
            <a:r>
              <a:rPr lang="vi-VN" altLang="en-US" dirty="0">
                <a:ea typeface="Lato"/>
              </a:rPr>
              <a:t>•	Các cá nhân và tương tác hơn là các quy trình và công cụ.</a:t>
            </a:r>
          </a:p>
          <a:p>
            <a:pPr marL="0" indent="0" eaLnBrk="1" hangingPunct="1">
              <a:buNone/>
            </a:pPr>
            <a:r>
              <a:rPr lang="vi-VN" altLang="en-US" dirty="0">
                <a:ea typeface="Lato"/>
              </a:rPr>
              <a:t>•	Phần mềm hoạt động hơn là tài liệu toàn diện.</a:t>
            </a:r>
          </a:p>
          <a:p>
            <a:pPr marL="0" indent="0" eaLnBrk="1" hangingPunct="1">
              <a:buNone/>
            </a:pPr>
            <a:r>
              <a:rPr lang="vi-VN" altLang="en-US" dirty="0">
                <a:ea typeface="Lato"/>
              </a:rPr>
              <a:t>•	Sự hợp tác với khách hàng hơn là đàm phán hợp đồng.</a:t>
            </a:r>
          </a:p>
          <a:p>
            <a:pPr marL="0" indent="0" eaLnBrk="1" hangingPunct="1">
              <a:buNone/>
            </a:pPr>
            <a:r>
              <a:rPr lang="vi-VN" altLang="en-US" dirty="0">
                <a:ea typeface="Lato"/>
              </a:rPr>
              <a:t>•	Đáp ứng với thay đổi hơn là tuân theo một kế hoạch.</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2792402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Từ</a:t>
            </a:r>
            <a:r>
              <a:rPr lang="en-US" altLang="en-US" dirty="0">
                <a:ea typeface="Lato"/>
              </a:rPr>
              <a:t> </a:t>
            </a:r>
            <a:r>
              <a:rPr lang="en-US" altLang="en-US" dirty="0" err="1">
                <a:ea typeface="Lato"/>
              </a:rPr>
              <a:t>đó</a:t>
            </a:r>
            <a:r>
              <a:rPr lang="en-US" altLang="en-US" dirty="0">
                <a:ea typeface="Lato"/>
              </a:rPr>
              <a:t> </a:t>
            </a:r>
            <a:r>
              <a:rPr lang="en-US" altLang="en-US" dirty="0" err="1">
                <a:ea typeface="Lato"/>
              </a:rPr>
              <a:t>dùng</a:t>
            </a:r>
            <a:r>
              <a:rPr lang="en-US" altLang="en-US" dirty="0">
                <a:ea typeface="Lato"/>
              </a:rPr>
              <a:t> trello.com </a:t>
            </a:r>
            <a:r>
              <a:rPr lang="en-US" altLang="en-US" dirty="0" err="1">
                <a:ea typeface="Lato"/>
              </a:rPr>
              <a:t>để</a:t>
            </a:r>
            <a:r>
              <a:rPr lang="en-US" altLang="en-US" dirty="0">
                <a:ea typeface="Lato"/>
              </a:rPr>
              <a:t> </a:t>
            </a:r>
            <a:r>
              <a:rPr lang="en-US" altLang="en-US" dirty="0" err="1">
                <a:ea typeface="Lato"/>
              </a:rPr>
              <a:t>lập</a:t>
            </a:r>
            <a:r>
              <a:rPr lang="en-US" altLang="en-US" dirty="0">
                <a:ea typeface="Lato"/>
              </a:rPr>
              <a:t> </a:t>
            </a:r>
            <a:r>
              <a:rPr lang="en-US" altLang="en-US" dirty="0" err="1">
                <a:ea typeface="Lato"/>
              </a:rPr>
              <a:t>kế</a:t>
            </a:r>
            <a:r>
              <a:rPr lang="en-US" altLang="en-US" dirty="0">
                <a:ea typeface="Lato"/>
              </a:rPr>
              <a:t> </a:t>
            </a:r>
            <a:r>
              <a:rPr lang="en-US" altLang="en-US" dirty="0" err="1">
                <a:ea typeface="Lato"/>
              </a:rPr>
              <a:t>hoạch</a:t>
            </a:r>
            <a:r>
              <a:rPr lang="en-US" altLang="en-US" dirty="0">
                <a:ea typeface="Lato"/>
              </a:rPr>
              <a:t> </a:t>
            </a:r>
            <a:r>
              <a:rPr lang="en-US" altLang="en-US" dirty="0" err="1">
                <a:ea typeface="Lato"/>
              </a:rPr>
              <a:t>dự</a:t>
            </a:r>
            <a:r>
              <a:rPr lang="en-US" altLang="en-US" dirty="0">
                <a:ea typeface="Lato"/>
              </a:rPr>
              <a:t> </a:t>
            </a:r>
            <a:r>
              <a:rPr lang="en-US" altLang="en-US" dirty="0" err="1">
                <a:ea typeface="Lato"/>
              </a:rPr>
              <a:t>án</a:t>
            </a:r>
            <a:r>
              <a:rPr lang="en-US" altLang="en-US" dirty="0">
                <a:ea typeface="Lato"/>
              </a:rPr>
              <a:t> </a:t>
            </a:r>
            <a:r>
              <a:rPr lang="en-US" altLang="en-US" dirty="0" err="1">
                <a:ea typeface="Lato"/>
              </a:rPr>
              <a:t>cho</a:t>
            </a:r>
            <a:r>
              <a:rPr lang="en-US" altLang="en-US" dirty="0">
                <a:ea typeface="Lato"/>
              </a:rPr>
              <a:t> </a:t>
            </a:r>
            <a:r>
              <a:rPr lang="en-US" altLang="en-US" dirty="0" err="1">
                <a:ea typeface="Lato"/>
              </a:rPr>
              <a:t>nhóm</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1.2 </a:t>
            </a:r>
            <a:r>
              <a:rPr lang="vi-VN" altLang="en-US" dirty="0">
                <a:ea typeface="Lato"/>
              </a:rPr>
              <a:t>Kế hoạch dự án của nhóm được trình bày trên trello.com</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Hình ảnh 1">
            <a:extLst>
              <a:ext uri="{FF2B5EF4-FFF2-40B4-BE49-F238E27FC236}">
                <a16:creationId xmlns:a16="http://schemas.microsoft.com/office/drawing/2014/main" id="{BCE03428-E1A7-281B-C9C5-5A82CE76C6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9603" y="1709371"/>
            <a:ext cx="9121899" cy="4632238"/>
          </a:xfrm>
          <a:prstGeom prst="rect">
            <a:avLst/>
          </a:prstGeom>
          <a:noFill/>
          <a:ln>
            <a:noFill/>
          </a:ln>
        </p:spPr>
      </p:pic>
    </p:spTree>
    <p:extLst>
      <p:ext uri="{BB962C8B-B14F-4D97-AF65-F5344CB8AC3E}">
        <p14:creationId xmlns:p14="http://schemas.microsoft.com/office/powerpoint/2010/main" val="1783707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p:txBody>
      </p:sp>
      <p:sp>
        <p:nvSpPr>
          <p:cNvPr id="13315" name="Content Placeholder 2"/>
          <p:cNvSpPr>
            <a:spLocks noGrp="1"/>
          </p:cNvSpPr>
          <p:nvPr>
            <p:ph sz="quarter" idx="13"/>
          </p:nvPr>
        </p:nvSpPr>
        <p:spPr bwMode="auto">
          <a:xfrm>
            <a:off x="338138" y="1088571"/>
            <a:ext cx="11763666"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1.1. </a:t>
            </a:r>
            <a:r>
              <a:rPr lang="en-US" altLang="en-US" dirty="0" err="1">
                <a:ea typeface="Lato"/>
              </a:rPr>
              <a:t>Khái</a:t>
            </a:r>
            <a:r>
              <a:rPr lang="en-US" altLang="en-US" dirty="0">
                <a:ea typeface="Lato"/>
              </a:rPr>
              <a:t> </a:t>
            </a:r>
            <a:r>
              <a:rPr lang="en-US" altLang="en-US" dirty="0" err="1">
                <a:ea typeface="Lato"/>
              </a:rPr>
              <a:t>niệm</a:t>
            </a:r>
            <a:endParaRPr lang="en-US" altLang="en-US" dirty="0">
              <a:ea typeface="Lato"/>
            </a:endParaRPr>
          </a:p>
          <a:p>
            <a:pPr marL="0" indent="0" eaLnBrk="1" hangingPunct="1">
              <a:buNone/>
            </a:pPr>
            <a:r>
              <a:rPr lang="vi-VN" altLang="en-US" dirty="0">
                <a:ea typeface="Lato"/>
              </a:rPr>
              <a:t>•	Là biểu diễn phân rã có thứ bậc các nhiệm vụ chức năng của phần mềm.</a:t>
            </a:r>
          </a:p>
          <a:p>
            <a:pPr marL="0" indent="0" eaLnBrk="1" hangingPunct="1">
              <a:buNone/>
            </a:pPr>
            <a:r>
              <a:rPr lang="vi-VN" altLang="en-US" dirty="0">
                <a:ea typeface="Lato"/>
              </a:rPr>
              <a:t>•	Mỗi nhiệm vụ chức năng lại được chia ra làm nhiều công việc con.</a:t>
            </a:r>
          </a:p>
          <a:p>
            <a:pPr marL="0" indent="0" eaLnBrk="1" hangingPunct="1">
              <a:buNone/>
            </a:pPr>
            <a:r>
              <a:rPr lang="vi-VN" altLang="en-US" dirty="0">
                <a:ea typeface="Lato"/>
              </a:rPr>
              <a:t>•	Số mức phân chia theo chiều sâu và theo chiều rộng lại phụ thuộc vào độ phức tạp của hệ thống.</a:t>
            </a:r>
          </a:p>
          <a:p>
            <a:pPr marL="0" indent="0" eaLnBrk="1" hangingPunct="1">
              <a:buNone/>
            </a:pPr>
            <a:r>
              <a:rPr lang="vi-VN" altLang="en-US" dirty="0">
                <a:ea typeface="Lato"/>
              </a:rPr>
              <a:t>•	Mục tiêu chính của BFD là giúp hiểu rõ cấu trúc và chức năng cơ bản của một tổ chức.</a:t>
            </a:r>
          </a:p>
          <a:p>
            <a:pPr marL="0" indent="0" eaLnBrk="1" hangingPunct="1">
              <a:buNone/>
            </a:pPr>
            <a:r>
              <a:rPr lang="vi-VN" altLang="en-US" dirty="0">
                <a:ea typeface="Lato"/>
              </a:rPr>
              <a:t>•	Mô hình phân rã chức năng (BFD) thường được sử dụng trong kỹ thuật BPMN (</a:t>
            </a:r>
            <a:r>
              <a:rPr lang="vi-VN" altLang="en-US" dirty="0" err="1">
                <a:ea typeface="Lato"/>
              </a:rPr>
              <a:t>Business</a:t>
            </a:r>
            <a:r>
              <a:rPr lang="vi-VN" altLang="en-US" dirty="0">
                <a:ea typeface="Lato"/>
              </a:rPr>
              <a:t> </a:t>
            </a:r>
            <a:r>
              <a:rPr lang="vi-VN" altLang="en-US" dirty="0" err="1">
                <a:ea typeface="Lato"/>
              </a:rPr>
              <a:t>Process</a:t>
            </a:r>
            <a:r>
              <a:rPr lang="vi-VN" altLang="en-US" dirty="0">
                <a:ea typeface="Lato"/>
              </a:rPr>
              <a:t> </a:t>
            </a:r>
            <a:r>
              <a:rPr lang="vi-VN" altLang="en-US" dirty="0" err="1">
                <a:ea typeface="Lato"/>
              </a:rPr>
              <a:t>Model</a:t>
            </a:r>
            <a:r>
              <a:rPr lang="vi-VN" altLang="en-US" dirty="0">
                <a:ea typeface="Lato"/>
              </a:rPr>
              <a:t> </a:t>
            </a:r>
            <a:r>
              <a:rPr lang="vi-VN" altLang="en-US" dirty="0" err="1">
                <a:ea typeface="Lato"/>
              </a:rPr>
              <a:t>and</a:t>
            </a:r>
            <a:r>
              <a:rPr lang="vi-VN" altLang="en-US" dirty="0">
                <a:ea typeface="Lato"/>
              </a:rPr>
              <a:t> </a:t>
            </a:r>
            <a:r>
              <a:rPr lang="vi-VN" altLang="en-US" dirty="0" err="1">
                <a:ea typeface="Lato"/>
              </a:rPr>
              <a:t>Notation</a:t>
            </a:r>
            <a:r>
              <a:rPr lang="vi-VN" altLang="en-US" dirty="0">
                <a:ea typeface="Lato"/>
              </a:rPr>
              <a:t>) để mô tả các chức năng và hoạt động cơ bản của doanh nghiệp.</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2968804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p:txBody>
      </p:sp>
      <p:sp>
        <p:nvSpPr>
          <p:cNvPr id="13315" name="Content Placeholder 2"/>
          <p:cNvSpPr>
            <a:spLocks noGrp="1"/>
          </p:cNvSpPr>
          <p:nvPr>
            <p:ph sz="quarter" idx="13"/>
          </p:nvPr>
        </p:nvSpPr>
        <p:spPr bwMode="auto">
          <a:xfrm>
            <a:off x="338138" y="1088571"/>
            <a:ext cx="11853862"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1.2. </a:t>
            </a:r>
            <a:r>
              <a:rPr lang="en-US" altLang="en-US" dirty="0" err="1">
                <a:ea typeface="Lato"/>
              </a:rPr>
              <a:t>Các</a:t>
            </a:r>
            <a:r>
              <a:rPr lang="en-US" altLang="en-US" dirty="0">
                <a:ea typeface="Lato"/>
              </a:rPr>
              <a:t> </a:t>
            </a:r>
            <a:r>
              <a:rPr lang="en-US" altLang="en-US" dirty="0" err="1">
                <a:ea typeface="Lato"/>
              </a:rPr>
              <a:t>ký</a:t>
            </a:r>
            <a:r>
              <a:rPr lang="en-US" altLang="en-US" dirty="0">
                <a:ea typeface="Lato"/>
              </a:rPr>
              <a:t> </a:t>
            </a:r>
            <a:r>
              <a:rPr lang="en-US" altLang="en-US" dirty="0" err="1">
                <a:ea typeface="Lato"/>
              </a:rPr>
              <a:t>hiệu</a:t>
            </a:r>
            <a:endParaRPr lang="en-US" altLang="en-US" dirty="0">
              <a:ea typeface="Lato"/>
            </a:endParaRPr>
          </a:p>
          <a:p>
            <a:pPr marL="0" indent="0" eaLnBrk="1" hangingPunct="1">
              <a:buNone/>
            </a:pPr>
            <a:r>
              <a:rPr lang="vi-VN" altLang="en-US" dirty="0">
                <a:ea typeface="Lato"/>
              </a:rPr>
              <a:t>•	Chức năng là công việc mà tổ chức cần làm và được phân theo nhiều mức từ tổng hợp đến chi tiết.</a:t>
            </a:r>
          </a:p>
          <a:p>
            <a:pPr marL="0" indent="0" eaLnBrk="1" hangingPunct="1">
              <a:buNone/>
            </a:pPr>
            <a:r>
              <a:rPr lang="vi-VN" altLang="en-US" dirty="0">
                <a:ea typeface="Lato"/>
              </a:rPr>
              <a:t>•	Hình thức biểu diễn: hình chữ nhật.</a:t>
            </a:r>
          </a:p>
          <a:p>
            <a:pPr marL="0" indent="0" eaLnBrk="1" hangingPunct="1">
              <a:buNone/>
            </a:pPr>
            <a:r>
              <a:rPr lang="vi-VN" altLang="en-US" dirty="0">
                <a:ea typeface="Lato"/>
              </a:rPr>
              <a:t>•	Tên chức năng là cụm động từ. Cần đặt tên để hiểu rõ công việc của chức năng đó.</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Picture 3" descr="A black text on a white background&#10;&#10;Description automatically generated">
            <a:extLst>
              <a:ext uri="{FF2B5EF4-FFF2-40B4-BE49-F238E27FC236}">
                <a16:creationId xmlns:a16="http://schemas.microsoft.com/office/drawing/2014/main" id="{B368A530-BD58-ADB2-9343-A2DE7D1253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2134" y="4388809"/>
            <a:ext cx="7367732" cy="1380620"/>
          </a:xfrm>
          <a:prstGeom prst="rect">
            <a:avLst/>
          </a:prstGeom>
          <a:noFill/>
          <a:ln>
            <a:noFill/>
          </a:ln>
        </p:spPr>
      </p:pic>
    </p:spTree>
    <p:extLst>
      <p:ext uri="{BB962C8B-B14F-4D97-AF65-F5344CB8AC3E}">
        <p14:creationId xmlns:p14="http://schemas.microsoft.com/office/powerpoint/2010/main" val="542407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p:txBody>
      </p:sp>
      <p:sp>
        <p:nvSpPr>
          <p:cNvPr id="13315" name="Content Placeholder 2"/>
          <p:cNvSpPr>
            <a:spLocks noGrp="1"/>
          </p:cNvSpPr>
          <p:nvPr>
            <p:ph sz="quarter" idx="13"/>
          </p:nvPr>
        </p:nvSpPr>
        <p:spPr bwMode="auto">
          <a:xfrm>
            <a:off x="338138" y="1088571"/>
            <a:ext cx="11853862"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o	Cây phân rã cấp ngang và dọc:</a:t>
            </a:r>
          </a:p>
          <a:p>
            <a:pPr marL="0" indent="0" eaLnBrk="1" hangingPunct="1">
              <a:buNone/>
            </a:pPr>
            <a:r>
              <a:rPr lang="vi-VN" altLang="en-US" dirty="0">
                <a:ea typeface="Lato"/>
              </a:rPr>
              <a:t>•	Mỗi chức năng được phân rã thành các chức năng con. Các chức năng con có quan hệ phân cấp với chức năng cha.</a:t>
            </a:r>
          </a:p>
          <a:p>
            <a:pPr marL="0" indent="0" eaLnBrk="1" hangingPunct="1">
              <a:buNone/>
            </a:pPr>
            <a:r>
              <a:rPr lang="vi-VN" altLang="en-US" dirty="0">
                <a:ea typeface="Lato"/>
              </a:rPr>
              <a:t>•	Biểu diễn mối quan hệ phân cấp chức năng như sau:</a:t>
            </a:r>
            <a:endParaRPr lang="en-US" altLang="en-US" dirty="0">
              <a:ea typeface="Lato"/>
            </a:endParaRPr>
          </a:p>
          <a:p>
            <a:pPr marL="0" indent="0" eaLnBrk="1" hangingPunct="1">
              <a:buNone/>
            </a:pPr>
            <a:endParaRPr lang="en-US" altLang="en-US" dirty="0">
              <a:ea typeface="Lato"/>
            </a:endParaRPr>
          </a:p>
          <a:p>
            <a:pPr marL="0" indent="0" eaLnBrk="1" hangingPunct="1">
              <a:buNone/>
            </a:pPr>
            <a:endParaRPr lang="en-US" altLang="en-US" dirty="0">
              <a:ea typeface="Lato"/>
            </a:endParaRPr>
          </a:p>
          <a:p>
            <a:pPr marL="0" indent="0" eaLnBrk="1" hangingPunct="1">
              <a:buNone/>
            </a:pPr>
            <a:endParaRPr lang="en-US" altLang="en-US" dirty="0">
              <a:ea typeface="Lato"/>
            </a:endParaRPr>
          </a:p>
          <a:p>
            <a:pPr marL="0" indent="0" eaLnBrk="1" hangingPunct="1">
              <a:buNone/>
            </a:pPr>
            <a:endParaRPr lang="en-US" altLang="en-US" dirty="0">
              <a:ea typeface="Lato"/>
            </a:endParaRPr>
          </a:p>
          <a:p>
            <a:pPr marL="0" indent="0" eaLnBrk="1" hangingPunct="1">
              <a:buNone/>
            </a:pPr>
            <a:r>
              <a:rPr lang="vi-VN" altLang="en-US" dirty="0">
                <a:ea typeface="Lato"/>
              </a:rPr>
              <a:t>•	Mô hình phân rã chức năng được biểu diễn thành hình cây phân cấp. </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3" name="Picture 2" descr="A close-up of a corner&#10;&#10;Description automatically generated">
            <a:extLst>
              <a:ext uri="{FF2B5EF4-FFF2-40B4-BE49-F238E27FC236}">
                <a16:creationId xmlns:a16="http://schemas.microsoft.com/office/drawing/2014/main" id="{661E44CE-C8E4-8C03-535F-7679421BC9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33" y="3105460"/>
            <a:ext cx="5153575" cy="1641509"/>
          </a:xfrm>
          <a:prstGeom prst="rect">
            <a:avLst/>
          </a:prstGeom>
          <a:noFill/>
          <a:ln>
            <a:noFill/>
          </a:ln>
        </p:spPr>
      </p:pic>
    </p:spTree>
    <p:extLst>
      <p:ext uri="{BB962C8B-B14F-4D97-AF65-F5344CB8AC3E}">
        <p14:creationId xmlns:p14="http://schemas.microsoft.com/office/powerpoint/2010/main" val="3729313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p:txBody>
      </p:sp>
      <p:sp>
        <p:nvSpPr>
          <p:cNvPr id="13315" name="Content Placeholder 2"/>
          <p:cNvSpPr>
            <a:spLocks noGrp="1"/>
          </p:cNvSpPr>
          <p:nvPr>
            <p:ph sz="quarter" idx="13"/>
          </p:nvPr>
        </p:nvSpPr>
        <p:spPr bwMode="auto">
          <a:xfrm>
            <a:off x="338138" y="1524000"/>
            <a:ext cx="5210466" cy="4443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just" eaLnBrk="1" hangingPunct="1">
              <a:buAutoNum type="alphaLcParenR"/>
            </a:pPr>
            <a:r>
              <a:rPr lang="en-US" altLang="en-US" dirty="0" err="1">
                <a:ea typeface="Lato"/>
              </a:rPr>
              <a:t>Đặc</a:t>
            </a:r>
            <a:r>
              <a:rPr lang="en-US" altLang="en-US" dirty="0">
                <a:ea typeface="Lato"/>
              </a:rPr>
              <a:t> </a:t>
            </a:r>
            <a:r>
              <a:rPr lang="en-US" altLang="en-US" dirty="0" err="1">
                <a:ea typeface="Lato"/>
              </a:rPr>
              <a:t>điểm</a:t>
            </a:r>
            <a:r>
              <a:rPr lang="en-US" altLang="en-US" dirty="0">
                <a:ea typeface="Lato"/>
              </a:rPr>
              <a:t> </a:t>
            </a:r>
          </a:p>
          <a:p>
            <a:pPr algn="just" eaLnBrk="1" hangingPunct="1">
              <a:buFontTx/>
              <a:buChar char="-"/>
            </a:pPr>
            <a:r>
              <a:rPr lang="en-US" altLang="en-US" dirty="0" err="1">
                <a:ea typeface="Lato"/>
              </a:rPr>
              <a:t>Cung</a:t>
            </a:r>
            <a:r>
              <a:rPr lang="en-US" altLang="en-US" dirty="0">
                <a:ea typeface="Lato"/>
              </a:rPr>
              <a:t> </a:t>
            </a:r>
            <a:r>
              <a:rPr lang="en-US" altLang="en-US" dirty="0" err="1">
                <a:ea typeface="Lato"/>
              </a:rPr>
              <a:t>cấp</a:t>
            </a:r>
            <a:r>
              <a:rPr lang="en-US" altLang="en-US" dirty="0">
                <a:ea typeface="Lato"/>
              </a:rPr>
              <a:t> </a:t>
            </a:r>
            <a:r>
              <a:rPr lang="en-US" altLang="en-US" dirty="0" err="1">
                <a:ea typeface="Lato"/>
              </a:rPr>
              <a:t>cách</a:t>
            </a:r>
            <a:r>
              <a:rPr lang="en-US" altLang="en-US" dirty="0">
                <a:ea typeface="Lato"/>
              </a:rPr>
              <a:t> </a:t>
            </a:r>
            <a:r>
              <a:rPr lang="en-US" altLang="en-US" dirty="0" err="1">
                <a:ea typeface="Lato"/>
              </a:rPr>
              <a:t>nhìn</a:t>
            </a:r>
            <a:r>
              <a:rPr lang="en-US" altLang="en-US" dirty="0">
                <a:ea typeface="Lato"/>
              </a:rPr>
              <a:t> </a:t>
            </a:r>
            <a:r>
              <a:rPr lang="en-US" altLang="en-US" dirty="0" err="1">
                <a:ea typeface="Lato"/>
              </a:rPr>
              <a:t>khái</a:t>
            </a:r>
            <a:r>
              <a:rPr lang="en-US" altLang="en-US" dirty="0">
                <a:ea typeface="Lato"/>
              </a:rPr>
              <a:t> </a:t>
            </a:r>
            <a:r>
              <a:rPr lang="en-US" altLang="en-US" dirty="0" err="1">
                <a:ea typeface="Lato"/>
              </a:rPr>
              <a:t>quát</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a:p>
            <a:pPr algn="just" eaLnBrk="1" hangingPunct="1">
              <a:buFontTx/>
              <a:buChar char="-"/>
            </a:pPr>
            <a:r>
              <a:rPr lang="en-US" altLang="en-US" dirty="0" err="1">
                <a:ea typeface="Lato"/>
              </a:rPr>
              <a:t>Dễ</a:t>
            </a:r>
            <a:r>
              <a:rPr lang="en-US" altLang="en-US" dirty="0">
                <a:ea typeface="Lato"/>
              </a:rPr>
              <a:t> </a:t>
            </a:r>
            <a:r>
              <a:rPr lang="en-US" altLang="en-US" dirty="0" err="1">
                <a:ea typeface="Lato"/>
              </a:rPr>
              <a:t>thành</a:t>
            </a:r>
            <a:r>
              <a:rPr lang="en-US" altLang="en-US" dirty="0">
                <a:ea typeface="Lato"/>
              </a:rPr>
              <a:t> </a:t>
            </a:r>
            <a:r>
              <a:rPr lang="en-US" altLang="en-US" dirty="0" err="1">
                <a:ea typeface="Lato"/>
              </a:rPr>
              <a:t>lập</a:t>
            </a:r>
            <a:endParaRPr lang="en-US" altLang="en-US" dirty="0">
              <a:ea typeface="Lato"/>
            </a:endParaRPr>
          </a:p>
          <a:p>
            <a:pPr algn="just" eaLnBrk="1" hangingPunct="1">
              <a:buFontTx/>
              <a:buChar char="-"/>
            </a:pPr>
            <a:r>
              <a:rPr lang="en-US" altLang="en-US" dirty="0" err="1">
                <a:ea typeface="Lato"/>
              </a:rPr>
              <a:t>Gần</a:t>
            </a:r>
            <a:r>
              <a:rPr lang="en-US" altLang="en-US" dirty="0">
                <a:ea typeface="Lato"/>
              </a:rPr>
              <a:t> </a:t>
            </a:r>
            <a:r>
              <a:rPr lang="en-US" altLang="en-US" dirty="0" err="1">
                <a:ea typeface="Lato"/>
              </a:rPr>
              <a:t>gũi</a:t>
            </a:r>
            <a:r>
              <a:rPr lang="en-US" altLang="en-US" dirty="0">
                <a:ea typeface="Lato"/>
              </a:rPr>
              <a:t> </a:t>
            </a:r>
            <a:r>
              <a:rPr lang="en-US" altLang="en-US" dirty="0" err="1">
                <a:ea typeface="Lato"/>
              </a:rPr>
              <a:t>với</a:t>
            </a:r>
            <a:r>
              <a:rPr lang="en-US" altLang="en-US" dirty="0">
                <a:ea typeface="Lato"/>
              </a:rPr>
              <a:t> </a:t>
            </a:r>
            <a:r>
              <a:rPr lang="en-US" altLang="en-US" dirty="0" err="1">
                <a:ea typeface="Lato"/>
              </a:rPr>
              <a:t>sơ</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tổ</a:t>
            </a:r>
            <a:r>
              <a:rPr lang="en-US" altLang="en-US" dirty="0">
                <a:ea typeface="Lato"/>
              </a:rPr>
              <a:t> </a:t>
            </a:r>
            <a:r>
              <a:rPr lang="en-US" altLang="en-US" dirty="0" err="1">
                <a:ea typeface="Lato"/>
              </a:rPr>
              <a:t>chức</a:t>
            </a:r>
            <a:endParaRPr lang="en-US" altLang="en-US" dirty="0">
              <a:ea typeface="Lato"/>
            </a:endParaRPr>
          </a:p>
          <a:p>
            <a:pPr algn="just" eaLnBrk="1" hangingPunct="1">
              <a:buFontTx/>
              <a:buChar char="-"/>
            </a:pPr>
            <a:r>
              <a:rPr lang="en-US" altLang="en-US" dirty="0" err="1">
                <a:ea typeface="Lato"/>
              </a:rPr>
              <a:t>Không</a:t>
            </a:r>
            <a:r>
              <a:rPr lang="en-US" altLang="en-US" dirty="0">
                <a:ea typeface="Lato"/>
              </a:rPr>
              <a:t> </a:t>
            </a:r>
            <a:r>
              <a:rPr lang="en-US" altLang="en-US" dirty="0" err="1">
                <a:ea typeface="Lato"/>
              </a:rPr>
              <a:t>đưa</a:t>
            </a:r>
            <a:r>
              <a:rPr lang="en-US" altLang="en-US" dirty="0">
                <a:ea typeface="Lato"/>
              </a:rPr>
              <a:t> </a:t>
            </a:r>
            <a:r>
              <a:rPr lang="en-US" altLang="en-US" dirty="0" err="1">
                <a:ea typeface="Lato"/>
              </a:rPr>
              <a:t>ra</a:t>
            </a:r>
            <a:r>
              <a:rPr lang="en-US" altLang="en-US" dirty="0">
                <a:ea typeface="Lato"/>
              </a:rPr>
              <a:t> </a:t>
            </a:r>
            <a:r>
              <a:rPr lang="en-US" altLang="en-US" dirty="0" err="1">
                <a:ea typeface="Lato"/>
              </a:rPr>
              <a:t>được</a:t>
            </a:r>
            <a:r>
              <a:rPr lang="en-US" altLang="en-US" dirty="0">
                <a:ea typeface="Lato"/>
              </a:rPr>
              <a:t> </a:t>
            </a:r>
            <a:r>
              <a:rPr lang="en-US" altLang="en-US" dirty="0" err="1">
                <a:ea typeface="Lato"/>
              </a:rPr>
              <a:t>mối</a:t>
            </a:r>
            <a:r>
              <a:rPr lang="en-US" altLang="en-US" dirty="0">
                <a:ea typeface="Lato"/>
              </a:rPr>
              <a:t> </a:t>
            </a:r>
            <a:r>
              <a:rPr lang="en-US" altLang="en-US" dirty="0" err="1">
                <a:ea typeface="Lato"/>
              </a:rPr>
              <a:t>liên</a:t>
            </a:r>
            <a:r>
              <a:rPr lang="en-US" altLang="en-US" dirty="0">
                <a:ea typeface="Lato"/>
              </a:rPr>
              <a:t> </a:t>
            </a:r>
            <a:r>
              <a:rPr lang="en-US" altLang="en-US" dirty="0" err="1">
                <a:ea typeface="Lato"/>
              </a:rPr>
              <a:t>quan</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thông</a:t>
            </a:r>
            <a:r>
              <a:rPr lang="en-US" altLang="en-US" dirty="0">
                <a:ea typeface="Lato"/>
              </a:rPr>
              <a:t> tin </a:t>
            </a:r>
            <a:r>
              <a:rPr lang="en-US" altLang="en-US" dirty="0" err="1">
                <a:ea typeface="Lato"/>
              </a:rPr>
              <a:t>giữa</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3" name="Rectangle 2"/>
          <p:cNvSpPr/>
          <p:nvPr/>
        </p:nvSpPr>
        <p:spPr>
          <a:xfrm>
            <a:off x="5757863" y="1465975"/>
            <a:ext cx="6096000" cy="4742837"/>
          </a:xfrm>
          <a:prstGeom prst="rect">
            <a:avLst/>
          </a:prstGeom>
        </p:spPr>
        <p:txBody>
          <a:bodyPr>
            <a:spAutoFit/>
          </a:bodyPr>
          <a:lstStyle/>
          <a:p>
            <a:pPr lvl="0" algn="just" defTabSz="912813" fontAlgn="base">
              <a:lnSpc>
                <a:spcPct val="90000"/>
              </a:lnSpc>
              <a:spcBef>
                <a:spcPts val="1000"/>
              </a:spcBef>
              <a:spcAft>
                <a:spcPct val="0"/>
              </a:spcAft>
            </a:pPr>
            <a:r>
              <a:rPr lang="en-US" altLang="en-US" sz="2800" dirty="0">
                <a:solidFill>
                  <a:srgbClr val="2B4196"/>
                </a:solidFill>
                <a:latin typeface="Arial" panose="020B0604020202020204" pitchFamily="34" charset="0"/>
                <a:ea typeface="Lato"/>
                <a:cs typeface="Arial" panose="020B0604020202020204" pitchFamily="34" charset="0"/>
              </a:rPr>
              <a:t>b) </a:t>
            </a:r>
            <a:r>
              <a:rPr lang="en-US" altLang="en-US" sz="2800" dirty="0" err="1">
                <a:solidFill>
                  <a:srgbClr val="2B4196"/>
                </a:solidFill>
                <a:latin typeface="Arial" panose="020B0604020202020204" pitchFamily="34" charset="0"/>
                <a:ea typeface="Lato"/>
                <a:cs typeface="Arial" panose="020B0604020202020204" pitchFamily="34" charset="0"/>
              </a:rPr>
              <a:t>Mục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đích</a:t>
            </a:r>
            <a:endParaRPr lang="en-US" altLang="en-US" sz="2800" dirty="0">
              <a:solidFill>
                <a:srgbClr val="2B4196"/>
              </a:solidFill>
              <a:latin typeface="Arial" panose="020B0604020202020204" pitchFamily="34" charset="0"/>
              <a:ea typeface="Lato"/>
              <a:cs typeface="Arial" panose="020B0604020202020204" pitchFamily="34" charset="0"/>
            </a:endParaRPr>
          </a:p>
          <a:p>
            <a:pPr marL="227013" lvl="0" indent="-227013" algn="just" defTabSz="912813" fontAlgn="base">
              <a:lnSpc>
                <a:spcPct val="90000"/>
              </a:lnSpc>
              <a:spcBef>
                <a:spcPts val="1000"/>
              </a:spcBef>
              <a:spcAft>
                <a:spcPct val="0"/>
              </a:spcAft>
              <a:buFontTx/>
              <a:buChar char="-"/>
            </a:pPr>
            <a:r>
              <a:rPr lang="en-US" altLang="en-US" sz="2800" dirty="0" err="1">
                <a:solidFill>
                  <a:srgbClr val="2B4196"/>
                </a:solidFill>
                <a:latin typeface="Arial" panose="020B0604020202020204" pitchFamily="34" charset="0"/>
                <a:ea typeface="Lato"/>
                <a:cs typeface="Arial" panose="020B0604020202020204" pitchFamily="34" charset="0"/>
              </a:rPr>
              <a:t>Xác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định</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phạm</a:t>
            </a:r>
            <a:r>
              <a:rPr lang="en-US" altLang="en-US" sz="2800" dirty="0">
                <a:solidFill>
                  <a:srgbClr val="2B4196"/>
                </a:solidFill>
                <a:latin typeface="Arial" panose="020B0604020202020204" pitchFamily="34" charset="0"/>
                <a:ea typeface="Lato"/>
                <a:cs typeface="Arial" panose="020B0604020202020204" pitchFamily="34" charset="0"/>
              </a:rPr>
              <a:t> vi </a:t>
            </a:r>
            <a:r>
              <a:rPr lang="en-US" altLang="en-US" sz="2800" dirty="0" err="1">
                <a:solidFill>
                  <a:srgbClr val="2B4196"/>
                </a:solidFill>
                <a:latin typeface="Arial" panose="020B0604020202020204" pitchFamily="34" charset="0"/>
                <a:ea typeface="Lato"/>
                <a:cs typeface="Arial" panose="020B0604020202020204" pitchFamily="34" charset="0"/>
              </a:rPr>
              <a:t>của</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hệ</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thống</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cần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phân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tích</a:t>
            </a:r>
            <a:endParaRPr lang="en-US" altLang="en-US" sz="2800" dirty="0">
              <a:solidFill>
                <a:srgbClr val="2B4196"/>
              </a:solidFill>
              <a:latin typeface="Arial" panose="020B0604020202020204" pitchFamily="34" charset="0"/>
              <a:ea typeface="Lato"/>
              <a:cs typeface="Arial" panose="020B0604020202020204" pitchFamily="34" charset="0"/>
            </a:endParaRPr>
          </a:p>
          <a:p>
            <a:pPr marL="227013" lvl="0" indent="-227013" algn="just" defTabSz="912813" fontAlgn="base">
              <a:lnSpc>
                <a:spcPct val="90000"/>
              </a:lnSpc>
              <a:spcBef>
                <a:spcPts val="1000"/>
              </a:spcBef>
              <a:spcAft>
                <a:spcPct val="0"/>
              </a:spcAft>
              <a:buFontTx/>
              <a:buChar char="-"/>
            </a:pPr>
            <a:r>
              <a:rPr lang="en-US" altLang="en-US" sz="2800" dirty="0">
                <a:solidFill>
                  <a:srgbClr val="2B4196"/>
                </a:solidFill>
                <a:latin typeface="Arial" panose="020B0604020202020204" pitchFamily="34" charset="0"/>
                <a:ea typeface="Lato"/>
                <a:cs typeface="Arial" panose="020B0604020202020204" pitchFamily="34" charset="0"/>
              </a:rPr>
              <a:t>Cho </a:t>
            </a:r>
            <a:r>
              <a:rPr lang="en-US" altLang="en-US" sz="2800" dirty="0" err="1">
                <a:solidFill>
                  <a:srgbClr val="2B4196"/>
                </a:solidFill>
                <a:latin typeface="Arial" panose="020B0604020202020204" pitchFamily="34" charset="0"/>
                <a:ea typeface="Lato"/>
                <a:cs typeface="Arial" panose="020B0604020202020204" pitchFamily="34" charset="0"/>
              </a:rPr>
              <a:t>phép</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mô</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tả</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khái</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quát</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dần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các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chức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năng</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của</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tổ</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chức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một</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cách</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trực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tiếp</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khách</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quan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phát</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hiện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được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các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chức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năng</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thiếu</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hoặc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trùng</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lặp</a:t>
            </a:r>
            <a:endParaRPr lang="en-US" altLang="en-US" sz="2800" dirty="0">
              <a:solidFill>
                <a:srgbClr val="2B4196"/>
              </a:solidFill>
              <a:latin typeface="Arial" panose="020B0604020202020204" pitchFamily="34" charset="0"/>
              <a:ea typeface="Lato"/>
              <a:cs typeface="Arial" panose="020B0604020202020204" pitchFamily="34" charset="0"/>
            </a:endParaRPr>
          </a:p>
          <a:p>
            <a:pPr marL="227013" lvl="0" indent="-227013" algn="just" defTabSz="912813" fontAlgn="base">
              <a:lnSpc>
                <a:spcPct val="90000"/>
              </a:lnSpc>
              <a:spcBef>
                <a:spcPts val="1000"/>
              </a:spcBef>
              <a:spcAft>
                <a:spcPct val="0"/>
              </a:spcAft>
              <a:buFontTx/>
              <a:buChar char="-"/>
            </a:pPr>
            <a:r>
              <a:rPr lang="en-US" altLang="en-US" sz="2800" dirty="0" err="1">
                <a:solidFill>
                  <a:srgbClr val="2B4196"/>
                </a:solidFill>
                <a:latin typeface="Arial" panose="020B0604020202020204" pitchFamily="34" charset="0"/>
                <a:ea typeface="Lato"/>
                <a:cs typeface="Arial" panose="020B0604020202020204" pitchFamily="34" charset="0"/>
              </a:rPr>
              <a:t>Tạo</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điều</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kiện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thuận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lợi</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khi</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hợp</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tác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giữa</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nhà</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thiết</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kế</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và</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người</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sử</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dụng</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trong</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quá</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trình</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phát</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triển</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hệ</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thống</a:t>
            </a:r>
            <a:endParaRPr lang="en-US" altLang="en-US" sz="2800" dirty="0">
              <a:solidFill>
                <a:srgbClr val="2B4196"/>
              </a:solidFill>
              <a:latin typeface="Arial" panose="020B0604020202020204" pitchFamily="34" charset="0"/>
              <a:ea typeface="Lato"/>
              <a:cs typeface="Arial" panose="020B0604020202020204" pitchFamily="34" charset="0"/>
            </a:endParaRPr>
          </a:p>
        </p:txBody>
      </p:sp>
      <p:sp>
        <p:nvSpPr>
          <p:cNvPr id="4" name="Rectangle 3"/>
          <p:cNvSpPr/>
          <p:nvPr/>
        </p:nvSpPr>
        <p:spPr>
          <a:xfrm>
            <a:off x="338138" y="985844"/>
            <a:ext cx="11582400" cy="480131"/>
          </a:xfrm>
          <a:prstGeom prst="rect">
            <a:avLst/>
          </a:prstGeom>
        </p:spPr>
        <p:txBody>
          <a:bodyPr wrap="square">
            <a:spAutoFit/>
          </a:bodyPr>
          <a:lstStyle/>
          <a:p>
            <a:pPr lvl="0" defTabSz="912813" fontAlgn="base">
              <a:lnSpc>
                <a:spcPct val="90000"/>
              </a:lnSpc>
              <a:spcBef>
                <a:spcPts val="1000"/>
              </a:spcBef>
              <a:spcAft>
                <a:spcPct val="0"/>
              </a:spcAft>
            </a:pPr>
            <a:r>
              <a:rPr lang="en-US" altLang="en-US" sz="2800" dirty="0">
                <a:solidFill>
                  <a:srgbClr val="2B4196"/>
                </a:solidFill>
                <a:latin typeface="Arial" panose="020B0604020202020204" pitchFamily="34" charset="0"/>
                <a:ea typeface="Lato"/>
                <a:cs typeface="Arial" panose="020B0604020202020204" pitchFamily="34" charset="0"/>
              </a:rPr>
              <a:t>1.3 </a:t>
            </a:r>
            <a:r>
              <a:rPr lang="en-US" altLang="en-US" sz="2800" dirty="0" err="1">
                <a:solidFill>
                  <a:srgbClr val="2B4196"/>
                </a:solidFill>
                <a:latin typeface="Arial" panose="020B0604020202020204" pitchFamily="34" charset="0"/>
                <a:ea typeface="Lato"/>
                <a:cs typeface="Arial" panose="020B0604020202020204" pitchFamily="34" charset="0"/>
              </a:rPr>
              <a:t>Đặc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điểm</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và</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mục</a:t>
            </a:r>
            <a:r>
              <a:rPr lang="en-US" altLang="en-US" sz="2800" dirty="0">
                <a:solidFill>
                  <a:srgbClr val="2B4196"/>
                </a:solidFill>
                <a:latin typeface="Arial" panose="020B0604020202020204" pitchFamily="34" charset="0"/>
                <a:ea typeface="Lato"/>
                <a:cs typeface="Arial" panose="020B0604020202020204" pitchFamily="34" charset="0"/>
              </a:rPr>
              <a:t> </a:t>
            </a:r>
            <a:r>
              <a:rPr lang="en-US" altLang="en-US" sz="2800" dirty="0" err="1">
                <a:solidFill>
                  <a:srgbClr val="2B4196"/>
                </a:solidFill>
                <a:latin typeface="Arial" panose="020B0604020202020204" pitchFamily="34" charset="0"/>
                <a:ea typeface="Lato"/>
                <a:cs typeface="Arial" panose="020B0604020202020204" pitchFamily="34" charset="0"/>
              </a:rPr>
              <a:t>đích</a:t>
            </a:r>
            <a:r>
              <a:rPr lang="en-US" altLang="en-US" sz="2800" dirty="0">
                <a:solidFill>
                  <a:srgbClr val="2B4196"/>
                </a:solidFill>
                <a:latin typeface="Arial" panose="020B0604020202020204" pitchFamily="34" charset="0"/>
                <a:ea typeface="Lato"/>
                <a:cs typeface="Arial" panose="020B0604020202020204" pitchFamily="34" charset="0"/>
              </a:rPr>
              <a:t>:</a:t>
            </a:r>
          </a:p>
        </p:txBody>
      </p:sp>
    </p:spTree>
    <p:extLst>
      <p:ext uri="{BB962C8B-B14F-4D97-AF65-F5344CB8AC3E}">
        <p14:creationId xmlns:p14="http://schemas.microsoft.com/office/powerpoint/2010/main" val="230906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38566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1.4. </a:t>
            </a:r>
            <a:r>
              <a:rPr lang="en-US" altLang="en-US" dirty="0" err="1">
                <a:ea typeface="Lato"/>
              </a:rPr>
              <a:t>Xây</a:t>
            </a:r>
            <a:r>
              <a:rPr lang="en-US" altLang="en-US" dirty="0">
                <a:ea typeface="Lato"/>
              </a:rPr>
              <a:t> </a:t>
            </a:r>
            <a:r>
              <a:rPr lang="en-US" altLang="en-US" dirty="0" err="1">
                <a:ea typeface="Lato"/>
              </a:rPr>
              <a:t>dựng</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a:p>
            <a:pPr marL="514350" indent="-514350" eaLnBrk="1" hangingPunct="1">
              <a:buAutoNum type="alphaLcParenR"/>
            </a:pPr>
            <a:r>
              <a:rPr lang="en-US" altLang="en-US" dirty="0" err="1">
                <a:ea typeface="Lato"/>
              </a:rPr>
              <a:t>Nguyên</a:t>
            </a:r>
            <a:r>
              <a:rPr lang="en-US" altLang="en-US" dirty="0">
                <a:ea typeface="Lato"/>
              </a:rPr>
              <a:t> </a:t>
            </a:r>
            <a:r>
              <a:rPr lang="en-US" altLang="en-US" dirty="0" err="1">
                <a:ea typeface="Lato"/>
              </a:rPr>
              <a:t>tắc</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a:p>
            <a:pPr marL="0" indent="0" eaLnBrk="1" hangingPunct="1">
              <a:buNone/>
            </a:pPr>
            <a:r>
              <a:rPr lang="vi-VN" altLang="en-US" dirty="0">
                <a:ea typeface="Lato"/>
              </a:rPr>
              <a:t>o	Theo phương pháp </a:t>
            </a:r>
            <a:r>
              <a:rPr lang="vi-VN" altLang="en-US" dirty="0" err="1">
                <a:ea typeface="Lato"/>
              </a:rPr>
              <a:t>top</a:t>
            </a:r>
            <a:r>
              <a:rPr lang="vi-VN" altLang="en-US" dirty="0">
                <a:ea typeface="Lato"/>
              </a:rPr>
              <a:t> </a:t>
            </a:r>
            <a:r>
              <a:rPr lang="vi-VN" altLang="en-US" dirty="0" err="1">
                <a:ea typeface="Lato"/>
              </a:rPr>
              <a:t>down</a:t>
            </a:r>
            <a:r>
              <a:rPr lang="vi-VN" altLang="en-US" dirty="0">
                <a:ea typeface="Lato"/>
              </a:rPr>
              <a:t>: Mức trên sẽ được phân rã thành nhiều mức dưới phải đảm bảo 2 tính chất:</a:t>
            </a:r>
          </a:p>
          <a:p>
            <a:pPr marL="0" indent="0" eaLnBrk="1" hangingPunct="1">
              <a:buNone/>
            </a:pPr>
            <a:r>
              <a:rPr lang="vi-VN" altLang="en-US" dirty="0">
                <a:ea typeface="Lato"/>
              </a:rPr>
              <a:t>•	Các chức năng mức dưới được phân rã phải thực sự tham gia vào thực hiện chức năng mức trên của nó.</a:t>
            </a:r>
          </a:p>
          <a:p>
            <a:pPr marL="0" indent="0" eaLnBrk="1" hangingPunct="1">
              <a:buNone/>
            </a:pPr>
            <a:r>
              <a:rPr lang="vi-VN" altLang="en-US" dirty="0">
                <a:ea typeface="Lato"/>
              </a:rPr>
              <a:t>•	Việc thực hiện tất cả các chức năng mức dưới trực tiếp phải đảm bảo thực hiện được chức năng của mức trên.</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891832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1.4. </a:t>
            </a:r>
            <a:r>
              <a:rPr lang="en-US" altLang="en-US" dirty="0" err="1">
                <a:ea typeface="Lato"/>
              </a:rPr>
              <a:t>Xây</a:t>
            </a:r>
            <a:r>
              <a:rPr lang="en-US" altLang="en-US" dirty="0">
                <a:ea typeface="Lato"/>
              </a:rPr>
              <a:t> </a:t>
            </a:r>
            <a:r>
              <a:rPr lang="en-US" altLang="en-US" dirty="0" err="1">
                <a:ea typeface="Lato"/>
              </a:rPr>
              <a:t>dựng</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a:p>
            <a:pPr marL="0" indent="0" eaLnBrk="1" hangingPunct="1">
              <a:buNone/>
            </a:pPr>
            <a:r>
              <a:rPr lang="en-US" altLang="en-US" dirty="0">
                <a:ea typeface="Lato"/>
              </a:rPr>
              <a:t>b) </a:t>
            </a:r>
            <a:r>
              <a:rPr lang="en-US" altLang="en-US" dirty="0" err="1">
                <a:ea typeface="Lato"/>
              </a:rPr>
              <a:t>Cách</a:t>
            </a:r>
            <a:r>
              <a:rPr lang="en-US" altLang="en-US" dirty="0">
                <a:ea typeface="Lato"/>
              </a:rPr>
              <a:t> </a:t>
            </a:r>
            <a:r>
              <a:rPr lang="en-US" altLang="en-US" dirty="0" err="1">
                <a:ea typeface="Lato"/>
              </a:rPr>
              <a:t>tiến</a:t>
            </a:r>
            <a:r>
              <a:rPr lang="en-US" altLang="en-US" dirty="0">
                <a:ea typeface="Lato"/>
              </a:rPr>
              <a:t> </a:t>
            </a:r>
            <a:r>
              <a:rPr lang="en-US" altLang="en-US" dirty="0" err="1">
                <a:ea typeface="Lato"/>
              </a:rPr>
              <a:t>hành</a:t>
            </a:r>
            <a:endParaRPr lang="en-US" altLang="en-US" dirty="0">
              <a:ea typeface="Lato"/>
            </a:endParaRPr>
          </a:p>
          <a:p>
            <a:pPr marL="0" indent="0" eaLnBrk="1" hangingPunct="1">
              <a:buNone/>
            </a:pPr>
            <a:r>
              <a:rPr lang="vi-VN" altLang="en-US" dirty="0">
                <a:ea typeface="Lato"/>
              </a:rPr>
              <a:t>o	Bước 1: Xác định chức năng.</a:t>
            </a:r>
          </a:p>
          <a:p>
            <a:pPr marL="0" indent="0" eaLnBrk="1" hangingPunct="1">
              <a:buNone/>
            </a:pPr>
            <a:r>
              <a:rPr lang="vi-VN" altLang="en-US" dirty="0">
                <a:ea typeface="Lato"/>
              </a:rPr>
              <a:t>o	Bước 2: Phân rã các chức năng ở bước 1 theo nguyên tắc phân rã.</a:t>
            </a:r>
          </a:p>
          <a:p>
            <a:pPr marL="0" indent="0" eaLnBrk="1" hangingPunct="1">
              <a:buNone/>
            </a:pPr>
            <a:r>
              <a:rPr lang="vi-VN" altLang="en-US" dirty="0">
                <a:ea typeface="Lato"/>
              </a:rPr>
              <a:t>•	Mỗi chức năng không nên có quá 50 chức năng con ngay mức dưới nó.</a:t>
            </a:r>
          </a:p>
          <a:p>
            <a:pPr marL="0" indent="0" eaLnBrk="1" hangingPunct="1">
              <a:buNone/>
            </a:pPr>
            <a:r>
              <a:rPr lang="vi-VN" altLang="en-US" dirty="0">
                <a:ea typeface="Lato"/>
              </a:rPr>
              <a:t>•	Không nên quá 6 mức (độ cao của cây tính từ gốc đến lá) đối với hệ thống lớn và không nên quá 3 mức đố với hệ thống nhỏ.</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362679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1.4. </a:t>
            </a:r>
            <a:r>
              <a:rPr lang="en-US" altLang="en-US" dirty="0" err="1">
                <a:ea typeface="Lato"/>
              </a:rPr>
              <a:t>Xây</a:t>
            </a:r>
            <a:r>
              <a:rPr lang="en-US" altLang="en-US" dirty="0">
                <a:ea typeface="Lato"/>
              </a:rPr>
              <a:t> </a:t>
            </a:r>
            <a:r>
              <a:rPr lang="en-US" altLang="en-US" dirty="0" err="1">
                <a:ea typeface="Lato"/>
              </a:rPr>
              <a:t>dựng</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rã</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endParaRPr lang="en-US" altLang="en-US" dirty="0">
              <a:ea typeface="Lato"/>
            </a:endParaRPr>
          </a:p>
          <a:p>
            <a:pPr marL="0" indent="0" eaLnBrk="1" hangingPunct="1">
              <a:buNone/>
            </a:pPr>
            <a:r>
              <a:rPr lang="en-US" altLang="en-US" dirty="0">
                <a:ea typeface="Lato"/>
              </a:rPr>
              <a:t>b) </a:t>
            </a:r>
            <a:r>
              <a:rPr lang="en-US" altLang="en-US" dirty="0" err="1">
                <a:ea typeface="Lato"/>
              </a:rPr>
              <a:t>Cách</a:t>
            </a:r>
            <a:r>
              <a:rPr lang="en-US" altLang="en-US" dirty="0">
                <a:ea typeface="Lato"/>
              </a:rPr>
              <a:t> </a:t>
            </a:r>
            <a:r>
              <a:rPr lang="en-US" altLang="en-US" dirty="0" err="1">
                <a:ea typeface="Lato"/>
              </a:rPr>
              <a:t>tiến</a:t>
            </a:r>
            <a:r>
              <a:rPr lang="en-US" altLang="en-US" dirty="0">
                <a:ea typeface="Lato"/>
              </a:rPr>
              <a:t> </a:t>
            </a:r>
            <a:r>
              <a:rPr lang="en-US" altLang="en-US" dirty="0" err="1">
                <a:ea typeface="Lato"/>
              </a:rPr>
              <a:t>hành</a:t>
            </a:r>
            <a:endParaRPr lang="en-US" altLang="en-US" dirty="0">
              <a:ea typeface="Lato"/>
            </a:endParaRPr>
          </a:p>
          <a:p>
            <a:pPr marL="0" indent="0" eaLnBrk="1" hangingPunct="1">
              <a:buNone/>
            </a:pPr>
            <a:r>
              <a:rPr lang="vi-VN" altLang="en-US" dirty="0">
                <a:ea typeface="Lato"/>
              </a:rPr>
              <a:t>•	Các chức năng cùng mức thì nên có kích thước, độ phức tạp và tầm quan trọng xấp xỉ như nhau.</a:t>
            </a:r>
          </a:p>
          <a:p>
            <a:pPr marL="0" indent="0" eaLnBrk="1" hangingPunct="1">
              <a:buNone/>
            </a:pPr>
            <a:r>
              <a:rPr lang="vi-VN" altLang="en-US" dirty="0">
                <a:ea typeface="Lato"/>
              </a:rPr>
              <a:t>•	Chức năng mức lá (mức cuối của cây) nên chỉ có một nhiệm vụ (hoặc một nhóm nhiệm vụ giao cho người của </a:t>
            </a:r>
            <a:r>
              <a:rPr lang="vi-VN" altLang="en-US" dirty="0" err="1">
                <a:ea typeface="Lato"/>
              </a:rPr>
              <a:t>team</a:t>
            </a:r>
            <a:r>
              <a:rPr lang="vi-VN" altLang="en-US" dirty="0">
                <a:ea typeface="Lato"/>
              </a:rPr>
              <a:t> thực hiện.)</a:t>
            </a:r>
          </a:p>
          <a:p>
            <a:pPr marL="0" indent="0" eaLnBrk="1" hangingPunct="1">
              <a:buNone/>
            </a:pPr>
            <a:r>
              <a:rPr lang="vi-VN" altLang="en-US" dirty="0">
                <a:ea typeface="Lato"/>
              </a:rPr>
              <a:t>o	Bước 3: Mô tả chi tiết chức năng mức lá (Có thể xây dựng bằng lời kết hợp với biểu đồ BPM (</a:t>
            </a:r>
            <a:r>
              <a:rPr lang="vi-VN" altLang="en-US" dirty="0" err="1">
                <a:ea typeface="Lato"/>
              </a:rPr>
              <a:t>Business</a:t>
            </a:r>
            <a:r>
              <a:rPr lang="vi-VN" altLang="en-US" dirty="0">
                <a:ea typeface="Lato"/>
              </a:rPr>
              <a:t> </a:t>
            </a:r>
            <a:r>
              <a:rPr lang="vi-VN" altLang="en-US" dirty="0" err="1">
                <a:ea typeface="Lato"/>
              </a:rPr>
              <a:t>Process</a:t>
            </a:r>
            <a:r>
              <a:rPr lang="vi-VN" altLang="en-US" dirty="0">
                <a:ea typeface="Lato"/>
              </a:rPr>
              <a:t> </a:t>
            </a:r>
            <a:r>
              <a:rPr lang="vi-VN" altLang="en-US" dirty="0" err="1">
                <a:ea typeface="Lato"/>
              </a:rPr>
              <a:t>Modeling</a:t>
            </a:r>
            <a:r>
              <a:rPr lang="vi-VN" altLang="en-US" dirty="0">
                <a:ea typeface="Lato"/>
              </a:rPr>
              <a:t>) ở bài tiểu luận 2).</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10504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Vẽ</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chức</a:t>
            </a:r>
            <a:r>
              <a:rPr lang="en-US" altLang="en-US" dirty="0">
                <a:ea typeface="Lato"/>
              </a:rPr>
              <a:t> </a:t>
            </a:r>
            <a:r>
              <a:rPr lang="en-US" altLang="en-US" dirty="0" err="1">
                <a:ea typeface="Lato"/>
              </a:rPr>
              <a:t>năng</a:t>
            </a:r>
            <a:r>
              <a:rPr lang="en-US" altLang="en-US" dirty="0">
                <a:ea typeface="Lato"/>
              </a:rPr>
              <a:t> </a:t>
            </a:r>
            <a:r>
              <a:rPr lang="en-US" altLang="en-US" dirty="0" err="1">
                <a:ea typeface="Lato"/>
              </a:rPr>
              <a:t>của</a:t>
            </a:r>
            <a:r>
              <a:rPr lang="en-US" altLang="en-US" dirty="0">
                <a:ea typeface="Lato"/>
              </a:rPr>
              <a:t> </a:t>
            </a:r>
            <a:r>
              <a:rPr lang="en-US" altLang="en-US" dirty="0" err="1">
                <a:ea typeface="Lato"/>
              </a:rPr>
              <a:t>bài</a:t>
            </a:r>
            <a:r>
              <a:rPr lang="en-US" altLang="en-US" dirty="0">
                <a:ea typeface="Lato"/>
              </a:rPr>
              <a:t> </a:t>
            </a:r>
            <a:r>
              <a:rPr lang="en-US" altLang="en-US" dirty="0" err="1">
                <a:ea typeface="Lato"/>
              </a:rPr>
              <a:t>toán</a:t>
            </a:r>
            <a:r>
              <a:rPr lang="en-US" altLang="en-US" dirty="0">
                <a:ea typeface="Lato"/>
              </a:rPr>
              <a:t> </a:t>
            </a:r>
            <a:r>
              <a:rPr lang="vi-VN" altLang="en-US" dirty="0">
                <a:ea typeface="Lato"/>
              </a:rPr>
              <a:t>xây dựng chương trình quản lý bán đồ uống.</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Picture 2">
            <a:extLst>
              <a:ext uri="{FF2B5EF4-FFF2-40B4-BE49-F238E27FC236}">
                <a16:creationId xmlns:a16="http://schemas.microsoft.com/office/drawing/2014/main" id="{B4864245-62A2-C8DB-92C6-0605EF1483DF}"/>
              </a:ext>
            </a:extLst>
          </p:cNvPr>
          <p:cNvPicPr>
            <a:picLocks noChangeAspect="1"/>
          </p:cNvPicPr>
          <p:nvPr/>
        </p:nvPicPr>
        <p:blipFill>
          <a:blip r:embed="rId2"/>
          <a:stretch>
            <a:fillRect/>
          </a:stretch>
        </p:blipFill>
        <p:spPr>
          <a:xfrm>
            <a:off x="1811992" y="1086968"/>
            <a:ext cx="8406193" cy="5126977"/>
          </a:xfrm>
          <a:prstGeom prst="rect">
            <a:avLst/>
          </a:prstGeom>
        </p:spPr>
      </p:pic>
    </p:spTree>
    <p:extLst>
      <p:ext uri="{BB962C8B-B14F-4D97-AF65-F5344CB8AC3E}">
        <p14:creationId xmlns:p14="http://schemas.microsoft.com/office/powerpoint/2010/main" val="2880188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sz="quarter" idx="13"/>
          </p:nvPr>
        </p:nvSpPr>
        <p:spPr bwMode="auto">
          <a:xfrm>
            <a:off x="4697413" y="1247775"/>
            <a:ext cx="7251700" cy="5205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US" altLang="en-US" dirty="0" err="1">
                <a:ea typeface="Lato"/>
              </a:rPr>
              <a:t>Nhiệm</a:t>
            </a:r>
            <a:r>
              <a:rPr lang="en-US" altLang="en-US" dirty="0">
                <a:ea typeface="Lato"/>
              </a:rPr>
              <a:t> </a:t>
            </a:r>
            <a:r>
              <a:rPr lang="en-US" altLang="en-US" dirty="0" err="1">
                <a:ea typeface="Lato"/>
              </a:rPr>
              <a:t>vụ</a:t>
            </a:r>
            <a:r>
              <a:rPr lang="en-US" altLang="en-US" dirty="0">
                <a:ea typeface="Lato"/>
              </a:rPr>
              <a:t>:</a:t>
            </a:r>
          </a:p>
          <a:p>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r>
              <a:rPr lang="en-US" altLang="en-US" dirty="0">
                <a:ea typeface="Lato"/>
              </a:rPr>
              <a:t> 2.0, </a:t>
            </a:r>
            <a:r>
              <a:rPr lang="en-US" altLang="en-US" dirty="0" err="1">
                <a:ea typeface="Lato"/>
              </a:rPr>
              <a:t>công</a:t>
            </a:r>
            <a:r>
              <a:rPr lang="en-US" altLang="en-US" dirty="0">
                <a:ea typeface="Lato"/>
              </a:rPr>
              <a:t> </a:t>
            </a:r>
            <a:r>
              <a:rPr lang="en-US" altLang="en-US" dirty="0" err="1">
                <a:ea typeface="Lato"/>
              </a:rPr>
              <a:t>cụ</a:t>
            </a:r>
            <a:r>
              <a:rPr lang="en-US" altLang="en-US" dirty="0">
                <a:ea typeface="Lato"/>
              </a:rPr>
              <a:t> </a:t>
            </a:r>
            <a:r>
              <a:rPr lang="en-US" altLang="en-US" dirty="0" err="1">
                <a:ea typeface="Lato"/>
              </a:rPr>
              <a:t>draw.io</a:t>
            </a:r>
            <a:r>
              <a:rPr lang="en-US" altLang="en-US" dirty="0">
                <a:ea typeface="Lato"/>
              </a:rPr>
              <a:t>. Cho </a:t>
            </a:r>
            <a:r>
              <a:rPr lang="en-US" altLang="en-US" dirty="0" err="1">
                <a:ea typeface="Lato"/>
              </a:rPr>
              <a:t>ví</a:t>
            </a:r>
            <a:r>
              <a:rPr lang="en-US" altLang="en-US" dirty="0">
                <a:ea typeface="Lato"/>
              </a:rPr>
              <a:t> </a:t>
            </a:r>
            <a:r>
              <a:rPr lang="en-US" altLang="en-US" dirty="0" err="1">
                <a:ea typeface="Lato"/>
              </a:rPr>
              <a:t>dụ</a:t>
            </a:r>
            <a:r>
              <a:rPr lang="en-US" altLang="en-US" dirty="0">
                <a:ea typeface="Lato"/>
              </a:rPr>
              <a:t> minh </a:t>
            </a:r>
            <a:r>
              <a:rPr lang="en-US" altLang="en-US" dirty="0" err="1">
                <a:ea typeface="Lato"/>
              </a:rPr>
              <a:t>họa</a:t>
            </a:r>
            <a:r>
              <a:rPr lang="en-US" altLang="en-US" dirty="0">
                <a:ea typeface="Lato"/>
              </a:rPr>
              <a:t> </a:t>
            </a:r>
            <a:r>
              <a:rPr lang="en-US" altLang="en-US" dirty="0" err="1">
                <a:ea typeface="Lato"/>
              </a:rPr>
              <a:t>bất</a:t>
            </a:r>
            <a:r>
              <a:rPr lang="en-US" altLang="en-US" dirty="0">
                <a:ea typeface="Lato"/>
              </a:rPr>
              <a:t> </a:t>
            </a:r>
            <a:r>
              <a:rPr lang="en-US" altLang="en-US" dirty="0" err="1">
                <a:ea typeface="Lato"/>
              </a:rPr>
              <a:t>kỳ</a:t>
            </a:r>
            <a:endParaRPr lang="en-US" altLang="en-US" dirty="0">
              <a:ea typeface="Lato"/>
            </a:endParaRPr>
          </a:p>
          <a:p>
            <a:r>
              <a:rPr lang="en-US" altLang="en-US" dirty="0" err="1">
                <a:ea typeface="Lato"/>
              </a:rPr>
              <a:t>Vẽ</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Business Process Modeling </a:t>
            </a:r>
            <a:r>
              <a:rPr lang="en-US" altLang="en-US" dirty="0" err="1">
                <a:ea typeface="Lato"/>
              </a:rPr>
              <a:t>ccho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endParaRPr lang="en-US" altLang="en-US" dirty="0">
              <a:ea typeface="Lato"/>
            </a:endParaRPr>
          </a:p>
          <a:p>
            <a:endParaRPr lang="en-US" altLang="en-US" dirty="0">
              <a:ea typeface="Lato"/>
            </a:endParaRPr>
          </a:p>
        </p:txBody>
      </p:sp>
      <p:sp>
        <p:nvSpPr>
          <p:cNvPr id="17411" name="Title 2"/>
          <p:cNvSpPr>
            <a:spLocks noGrp="1"/>
          </p:cNvSpPr>
          <p:nvPr>
            <p:ph type="title"/>
          </p:nvPr>
        </p:nvSpPr>
        <p:spPr bwMode="auto">
          <a:xfrm>
            <a:off x="4697413" y="93307"/>
            <a:ext cx="7251700" cy="7464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4400" dirty="0" err="1">
                <a:ea typeface="Lato"/>
              </a:rPr>
              <a:t>BÀI</a:t>
            </a:r>
            <a:r>
              <a:rPr lang="en-US" altLang="en-US" sz="4400" dirty="0">
                <a:ea typeface="Lato"/>
              </a:rPr>
              <a:t> </a:t>
            </a:r>
            <a:r>
              <a:rPr lang="en-US" altLang="en-US" sz="4400" dirty="0" err="1">
                <a:ea typeface="Lato"/>
              </a:rPr>
              <a:t>TIỂU</a:t>
            </a:r>
            <a:r>
              <a:rPr lang="en-US" altLang="en-US" sz="4400" dirty="0">
                <a:ea typeface="Lato"/>
              </a:rPr>
              <a:t> </a:t>
            </a:r>
            <a:r>
              <a:rPr lang="en-US" altLang="en-US" sz="4400" dirty="0" err="1">
                <a:ea typeface="Lato"/>
              </a:rPr>
              <a:t>LUẬN</a:t>
            </a:r>
            <a:r>
              <a:rPr lang="en-US" altLang="en-US" sz="4400" dirty="0">
                <a:ea typeface="Lato"/>
              </a:rPr>
              <a:t> </a:t>
            </a:r>
            <a:r>
              <a:rPr lang="en-US" altLang="en-US" sz="4400" dirty="0" err="1">
                <a:ea typeface="Lato"/>
              </a:rPr>
              <a:t>SỐ</a:t>
            </a:r>
            <a:r>
              <a:rPr lang="en-US" altLang="en-US" sz="4400" dirty="0">
                <a:ea typeface="Lato"/>
              </a:rPr>
              <a:t> 2</a:t>
            </a:r>
          </a:p>
        </p:txBody>
      </p:sp>
      <p:sp>
        <p:nvSpPr>
          <p:cNvPr id="4" name="Slide Number Placeholder 3"/>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21E2E5-C906-4F0C-84C9-99E42D1D2416}" type="slidenum">
              <a:rPr kumimoji="0" lang="en-US" sz="1000" b="0" i="0" u="none" strike="noStrike" kern="1200" cap="none" spc="0" normalizeH="0" baseline="0" noProof="0" smtClean="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0927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1.1. BPMN </a:t>
            </a:r>
            <a:r>
              <a:rPr lang="en-US" altLang="en-US" dirty="0" err="1">
                <a:ea typeface="Lato"/>
              </a:rPr>
              <a:t>là</a:t>
            </a:r>
            <a:r>
              <a:rPr lang="en-US" altLang="en-US" dirty="0">
                <a:ea typeface="Lato"/>
              </a:rPr>
              <a:t> </a:t>
            </a:r>
            <a:r>
              <a:rPr lang="en-US" altLang="en-US" dirty="0" err="1">
                <a:ea typeface="Lato"/>
              </a:rPr>
              <a:t>gì</a:t>
            </a:r>
            <a:r>
              <a:rPr lang="en-US" altLang="en-US" dirty="0">
                <a:ea typeface="Lato"/>
              </a:rPr>
              <a:t> ?</a:t>
            </a:r>
          </a:p>
          <a:p>
            <a:pPr marL="0" indent="0" eaLnBrk="1" hangingPunct="1">
              <a:buNone/>
            </a:pPr>
            <a:r>
              <a:rPr lang="vi-VN" altLang="en-US" dirty="0">
                <a:ea typeface="Lato"/>
              </a:rPr>
              <a:t>- Viết tắt của </a:t>
            </a:r>
            <a:r>
              <a:rPr lang="vi-VN" altLang="en-US" dirty="0" err="1">
                <a:ea typeface="Lato"/>
              </a:rPr>
              <a:t>Business</a:t>
            </a:r>
            <a:r>
              <a:rPr lang="vi-VN" altLang="en-US" dirty="0">
                <a:ea typeface="Lato"/>
              </a:rPr>
              <a:t> </a:t>
            </a:r>
            <a:r>
              <a:rPr lang="vi-VN" altLang="en-US" dirty="0" err="1">
                <a:ea typeface="Lato"/>
              </a:rPr>
              <a:t>Process</a:t>
            </a:r>
            <a:r>
              <a:rPr lang="vi-VN" altLang="en-US" dirty="0">
                <a:ea typeface="Lato"/>
              </a:rPr>
              <a:t> </a:t>
            </a:r>
            <a:r>
              <a:rPr lang="vi-VN" altLang="en-US" dirty="0" err="1">
                <a:ea typeface="Lato"/>
              </a:rPr>
              <a:t>Model</a:t>
            </a:r>
            <a:r>
              <a:rPr lang="vi-VN" altLang="en-US" dirty="0">
                <a:ea typeface="Lato"/>
              </a:rPr>
              <a:t> </a:t>
            </a:r>
            <a:r>
              <a:rPr lang="vi-VN" altLang="en-US" dirty="0" err="1">
                <a:ea typeface="Lato"/>
              </a:rPr>
              <a:t>and</a:t>
            </a:r>
            <a:r>
              <a:rPr lang="vi-VN" altLang="en-US" dirty="0">
                <a:ea typeface="Lato"/>
              </a:rPr>
              <a:t> </a:t>
            </a:r>
            <a:r>
              <a:rPr lang="vi-VN" altLang="en-US" dirty="0" err="1">
                <a:ea typeface="Lato"/>
              </a:rPr>
              <a:t>Notation</a:t>
            </a:r>
            <a:r>
              <a:rPr lang="vi-VN" altLang="en-US" dirty="0">
                <a:ea typeface="Lato"/>
              </a:rPr>
              <a:t>, hay tập hợp các ký hiệu dành cho việc tạo mô hình quy tắc nghiệp vụ.</a:t>
            </a:r>
          </a:p>
          <a:p>
            <a:pPr marL="0" indent="0" eaLnBrk="1" hangingPunct="1">
              <a:buNone/>
            </a:pPr>
            <a:r>
              <a:rPr lang="vi-VN" altLang="en-US" dirty="0">
                <a:ea typeface="Lato"/>
              </a:rPr>
              <a:t>- Phát triển bởi BPMI và sau này là OMG (</a:t>
            </a:r>
            <a:r>
              <a:rPr lang="vi-VN" altLang="en-US" dirty="0" err="1">
                <a:ea typeface="Lato"/>
              </a:rPr>
              <a:t>Object</a:t>
            </a:r>
            <a:r>
              <a:rPr lang="vi-VN" altLang="en-US" dirty="0">
                <a:ea typeface="Lato"/>
              </a:rPr>
              <a:t> </a:t>
            </a:r>
            <a:r>
              <a:rPr lang="vi-VN" altLang="en-US" dirty="0" err="1">
                <a:ea typeface="Lato"/>
              </a:rPr>
              <a:t>Management</a:t>
            </a:r>
            <a:r>
              <a:rPr lang="vi-VN" altLang="en-US" dirty="0">
                <a:ea typeface="Lato"/>
              </a:rPr>
              <a:t> </a:t>
            </a:r>
            <a:r>
              <a:rPr lang="vi-VN" altLang="en-US" dirty="0" err="1">
                <a:ea typeface="Lato"/>
              </a:rPr>
              <a:t>Group</a:t>
            </a:r>
            <a:r>
              <a:rPr lang="vi-VN" altLang="en-US" dirty="0">
                <a:ea typeface="Lato"/>
              </a:rPr>
              <a:t>, Tập đoàn Quản lý Đối tượng) vào những năm 2004 – 2005.</a:t>
            </a:r>
          </a:p>
          <a:p>
            <a:pPr marL="0" indent="0" eaLnBrk="1" hangingPunct="1">
              <a:buNone/>
            </a:pPr>
            <a:r>
              <a:rPr lang="vi-VN" altLang="en-US" dirty="0">
                <a:ea typeface="Lato"/>
              </a:rPr>
              <a:t>- Phiên bản 2.0 được tạo ra vào tháng Một năm 2011, chính thức được đặt tên là BPMN.</a:t>
            </a:r>
          </a:p>
          <a:p>
            <a:pPr marL="0" indent="0" eaLnBrk="1" hangingPunct="1">
              <a:buNone/>
            </a:pPr>
            <a:r>
              <a:rPr lang="vi-VN" altLang="en-US" dirty="0">
                <a:ea typeface="Lato"/>
              </a:rPr>
              <a:t>- Mục tiêu: </a:t>
            </a:r>
          </a:p>
          <a:p>
            <a:pPr marL="0" indent="0" eaLnBrk="1" hangingPunct="1">
              <a:buNone/>
            </a:pPr>
            <a:r>
              <a:rPr lang="vi-VN" altLang="en-US" dirty="0">
                <a:ea typeface="Lato"/>
              </a:rPr>
              <a:t>+ hỗ trợ quy trình nghiệp vụ kinh doanh của một công ty (hay một tập đoàn, một nhóm, …).</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836004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1.1. BPMN </a:t>
            </a:r>
            <a:r>
              <a:rPr lang="en-US" altLang="en-US" dirty="0" err="1">
                <a:ea typeface="Lato"/>
              </a:rPr>
              <a:t>là</a:t>
            </a:r>
            <a:r>
              <a:rPr lang="en-US" altLang="en-US" dirty="0">
                <a:ea typeface="Lato"/>
              </a:rPr>
              <a:t> </a:t>
            </a:r>
            <a:r>
              <a:rPr lang="en-US" altLang="en-US" dirty="0" err="1">
                <a:ea typeface="Lato"/>
              </a:rPr>
              <a:t>gì</a:t>
            </a:r>
            <a:r>
              <a:rPr lang="en-US" altLang="en-US" dirty="0">
                <a:ea typeface="Lato"/>
              </a:rPr>
              <a:t> ?</a:t>
            </a:r>
          </a:p>
          <a:p>
            <a:pPr marL="0" indent="0" eaLnBrk="1" hangingPunct="1">
              <a:buNone/>
            </a:pPr>
            <a:r>
              <a:rPr lang="vi-VN" altLang="en-US" dirty="0">
                <a:ea typeface="Lato"/>
              </a:rPr>
              <a:t>+ tạo ra một biểu đồ được đơn giản hóa biểu diễn các luồng quy trình có ở bên trong một công ty một cách ngắn gọn và dễ hiểu nhất.</a:t>
            </a:r>
          </a:p>
          <a:p>
            <a:pPr marL="0" indent="0" eaLnBrk="1" hangingPunct="1">
              <a:buNone/>
            </a:pPr>
            <a:r>
              <a:rPr lang="vi-VN" altLang="en-US" dirty="0">
                <a:ea typeface="Lato"/>
              </a:rPr>
              <a:t>+ tạo thành một công cụ làm cầu nối giữa các nhà phát triển với nhau và người sử dụng trực tiếp.</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313848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1.2. </a:t>
            </a:r>
            <a:r>
              <a:rPr lang="vi-VN" altLang="en-US" dirty="0">
                <a:ea typeface="Lato"/>
              </a:rPr>
              <a:t>Các yếu tố trong BPMN: gồm bốn yếu tố cơ bản, là:</a:t>
            </a:r>
          </a:p>
          <a:p>
            <a:pPr eaLnBrk="1" hangingPunct="1">
              <a:buFontTx/>
              <a:buChar char="-"/>
            </a:pPr>
            <a:r>
              <a:rPr lang="vi-VN" altLang="en-US" dirty="0">
                <a:ea typeface="Lato"/>
              </a:rPr>
              <a:t>Luồng: sự kiện (</a:t>
            </a:r>
            <a:r>
              <a:rPr lang="vi-VN" altLang="en-US" dirty="0" err="1">
                <a:ea typeface="Lato"/>
              </a:rPr>
              <a:t>event</a:t>
            </a:r>
            <a:r>
              <a:rPr lang="vi-VN" altLang="en-US" dirty="0">
                <a:ea typeface="Lato"/>
              </a:rPr>
              <a:t>), hoạt động (</a:t>
            </a:r>
            <a:r>
              <a:rPr lang="vi-VN" altLang="en-US" dirty="0" err="1">
                <a:ea typeface="Lato"/>
              </a:rPr>
              <a:t>activity</a:t>
            </a:r>
            <a:r>
              <a:rPr lang="vi-VN" altLang="en-US" dirty="0">
                <a:ea typeface="Lato"/>
              </a:rPr>
              <a:t>) và cổng (</a:t>
            </a:r>
            <a:r>
              <a:rPr lang="vi-VN" altLang="en-US" dirty="0" err="1">
                <a:ea typeface="Lato"/>
              </a:rPr>
              <a:t>gateway</a:t>
            </a:r>
            <a:r>
              <a:rPr lang="vi-VN" altLang="en-US" dirty="0">
                <a:ea typeface="Lato"/>
              </a:rPr>
              <a:t>), trong đó:</a:t>
            </a:r>
            <a:endParaRPr lang="en-US" altLang="en-US" dirty="0">
              <a:ea typeface="Lato"/>
            </a:endParaRPr>
          </a:p>
          <a:p>
            <a:pPr eaLnBrk="1" hangingPunct="1">
              <a:buFontTx/>
              <a:buChar char="-"/>
            </a:pPr>
            <a:endParaRPr lang="en-US" altLang="en-US" dirty="0">
              <a:ea typeface="Lato"/>
            </a:endParaRPr>
          </a:p>
          <a:p>
            <a:pPr eaLnBrk="1" hangingPunct="1">
              <a:buFontTx/>
              <a:buChar char="-"/>
            </a:pPr>
            <a:endParaRPr lang="en-US" altLang="en-US" dirty="0">
              <a:ea typeface="Lato"/>
            </a:endParaRPr>
          </a:p>
          <a:p>
            <a:pPr eaLnBrk="1" hangingPunct="1">
              <a:buFontTx/>
              <a:buChar char="-"/>
            </a:pPr>
            <a:endParaRPr lang="en-US" altLang="en-US" dirty="0">
              <a:ea typeface="Lato"/>
            </a:endParaRPr>
          </a:p>
          <a:p>
            <a:pPr marL="0" indent="0" eaLnBrk="1" hangingPunct="1">
              <a:buNone/>
            </a:pPr>
            <a:r>
              <a:rPr lang="vi-VN" altLang="en-US" dirty="0">
                <a:ea typeface="Lato"/>
              </a:rPr>
              <a:t>+ Sự kiện: biểu diễn bằng vòng tròn, biểu diễn một cái gì đó diễn ra, thường được gọi là “bắt” (bắt đầu sự kiện) và “ném (kết thúc sự kiện). Nó được chia làm ba dạng: </a:t>
            </a:r>
            <a:r>
              <a:rPr lang="vi-VN" altLang="en-US" dirty="0" err="1">
                <a:ea typeface="Lato"/>
              </a:rPr>
              <a:t>start</a:t>
            </a:r>
            <a:r>
              <a:rPr lang="vi-VN" altLang="en-US" dirty="0">
                <a:ea typeface="Lato"/>
              </a:rPr>
              <a:t>, </a:t>
            </a:r>
            <a:r>
              <a:rPr lang="vi-VN" altLang="en-US" dirty="0" err="1">
                <a:ea typeface="Lato"/>
              </a:rPr>
              <a:t>intermediate</a:t>
            </a:r>
            <a:r>
              <a:rPr lang="vi-VN" altLang="en-US" dirty="0">
                <a:ea typeface="Lato"/>
              </a:rPr>
              <a:t> và </a:t>
            </a:r>
            <a:r>
              <a:rPr lang="vi-VN" altLang="en-US" dirty="0" err="1">
                <a:ea typeface="Lato"/>
              </a:rPr>
              <a:t>end</a:t>
            </a:r>
            <a:r>
              <a:rPr lang="vi-VN" altLang="en-US" dirty="0">
                <a:ea typeface="Lato"/>
              </a:rPr>
              <a:t>.</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Hình ảnh 1" descr="Event">
            <a:extLst>
              <a:ext uri="{FF2B5EF4-FFF2-40B4-BE49-F238E27FC236}">
                <a16:creationId xmlns:a16="http://schemas.microsoft.com/office/drawing/2014/main" id="{A5610502-0A67-2832-8944-28EB3730F96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99841" y="2485901"/>
            <a:ext cx="2992317" cy="943099"/>
          </a:xfrm>
          <a:prstGeom prst="rect">
            <a:avLst/>
          </a:prstGeom>
          <a:noFill/>
          <a:ln>
            <a:noFill/>
          </a:ln>
        </p:spPr>
      </p:pic>
    </p:spTree>
    <p:extLst>
      <p:ext uri="{BB962C8B-B14F-4D97-AF65-F5344CB8AC3E}">
        <p14:creationId xmlns:p14="http://schemas.microsoft.com/office/powerpoint/2010/main" val="4032258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	Start: </a:t>
            </a:r>
            <a:r>
              <a:rPr lang="en-US" altLang="en-US" dirty="0" err="1">
                <a:ea typeface="Lato"/>
              </a:rPr>
              <a:t>kích</a:t>
            </a:r>
            <a:r>
              <a:rPr lang="en-US" altLang="en-US" dirty="0">
                <a:ea typeface="Lato"/>
              </a:rPr>
              <a:t> </a:t>
            </a:r>
            <a:r>
              <a:rPr lang="en-US" altLang="en-US" dirty="0" err="1">
                <a:ea typeface="Lato"/>
              </a:rPr>
              <a:t>hoạt</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tác</a:t>
            </a:r>
            <a:r>
              <a:rPr lang="en-US" altLang="en-US" dirty="0">
                <a:ea typeface="Lato"/>
              </a:rPr>
              <a:t> </a:t>
            </a:r>
            <a:r>
              <a:rPr lang="en-US" altLang="en-US" dirty="0" err="1">
                <a:ea typeface="Lato"/>
              </a:rPr>
              <a:t>vụ</a:t>
            </a:r>
            <a:r>
              <a:rPr lang="en-US" altLang="en-US" dirty="0">
                <a:ea typeface="Lato"/>
              </a:rPr>
              <a:t>, </a:t>
            </a:r>
            <a:r>
              <a:rPr lang="en-US" altLang="en-US" dirty="0" err="1">
                <a:ea typeface="Lato"/>
              </a:rPr>
              <a:t>và</a:t>
            </a:r>
            <a:r>
              <a:rPr lang="en-US" altLang="en-US" dirty="0">
                <a:ea typeface="Lato"/>
              </a:rPr>
              <a:t> </a:t>
            </a:r>
            <a:r>
              <a:rPr lang="en-US" altLang="en-US" dirty="0" err="1">
                <a:ea typeface="Lato"/>
              </a:rPr>
              <a:t>chỉ</a:t>
            </a:r>
            <a:r>
              <a:rPr lang="en-US" altLang="en-US" dirty="0">
                <a:ea typeface="Lato"/>
              </a:rPr>
              <a:t> </a:t>
            </a:r>
            <a:r>
              <a:rPr lang="en-US" altLang="en-US" dirty="0" err="1">
                <a:ea typeface="Lato"/>
              </a:rPr>
              <a:t>có</a:t>
            </a:r>
            <a:r>
              <a:rPr lang="en-US" altLang="en-US" dirty="0">
                <a:ea typeface="Lato"/>
              </a:rPr>
              <a:t> </a:t>
            </a:r>
            <a:r>
              <a:rPr lang="en-US" altLang="en-US" dirty="0" err="1">
                <a:ea typeface="Lato"/>
              </a:rPr>
              <a:t>thể</a:t>
            </a:r>
            <a:r>
              <a:rPr lang="en-US" altLang="en-US" dirty="0">
                <a:ea typeface="Lato"/>
              </a:rPr>
              <a:t> </a:t>
            </a:r>
            <a:r>
              <a:rPr lang="en-US" altLang="en-US" dirty="0" err="1">
                <a:ea typeface="Lato"/>
              </a:rPr>
              <a:t>là</a:t>
            </a:r>
            <a:r>
              <a:rPr lang="en-US" altLang="en-US" dirty="0">
                <a:ea typeface="Lato"/>
              </a:rPr>
              <a:t> “</a:t>
            </a:r>
            <a:r>
              <a:rPr lang="en-US" altLang="en-US" dirty="0" err="1">
                <a:ea typeface="Lato"/>
              </a:rPr>
              <a:t>bắt</a:t>
            </a:r>
            <a:r>
              <a:rPr lang="en-US" altLang="en-US" dirty="0">
                <a:ea typeface="Lato"/>
              </a:rPr>
              <a:t>”, </a:t>
            </a:r>
            <a:r>
              <a:rPr lang="en-US" altLang="en-US" dirty="0" err="1">
                <a:ea typeface="Lato"/>
              </a:rPr>
              <a:t>với</a:t>
            </a:r>
            <a:r>
              <a:rPr lang="en-US" altLang="en-US" dirty="0">
                <a:ea typeface="Lato"/>
              </a:rPr>
              <a:t> icon </a:t>
            </a:r>
            <a:r>
              <a:rPr lang="en-US" altLang="en-US" dirty="0" err="1">
                <a:ea typeface="Lato"/>
              </a:rPr>
              <a:t>là</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vòng</a:t>
            </a:r>
            <a:r>
              <a:rPr lang="en-US" altLang="en-US" dirty="0">
                <a:ea typeface="Lato"/>
              </a:rPr>
              <a:t> </a:t>
            </a:r>
            <a:r>
              <a:rPr lang="en-US" altLang="en-US" dirty="0" err="1">
                <a:ea typeface="Lato"/>
              </a:rPr>
              <a:t>tròn</a:t>
            </a:r>
            <a:endParaRPr lang="en-US" altLang="en-US" dirty="0">
              <a:ea typeface="Lato"/>
            </a:endParaRPr>
          </a:p>
          <a:p>
            <a:pPr marL="0" indent="0" eaLnBrk="1" hangingPunct="1">
              <a:buNone/>
            </a:pPr>
            <a:r>
              <a:rPr lang="en-US" altLang="en-US" dirty="0">
                <a:ea typeface="Lato"/>
              </a:rPr>
              <a:t>•	Intermediate: </a:t>
            </a:r>
            <a:r>
              <a:rPr lang="en-US" altLang="en-US" dirty="0" err="1">
                <a:ea typeface="Lato"/>
              </a:rPr>
              <a:t>biểu</a:t>
            </a:r>
            <a:r>
              <a:rPr lang="en-US" altLang="en-US" dirty="0">
                <a:ea typeface="Lato"/>
              </a:rPr>
              <a:t> </a:t>
            </a:r>
            <a:r>
              <a:rPr lang="en-US" altLang="en-US" dirty="0" err="1">
                <a:ea typeface="Lato"/>
              </a:rPr>
              <a:t>thị</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sự</a:t>
            </a:r>
            <a:r>
              <a:rPr lang="en-US" altLang="en-US" dirty="0">
                <a:ea typeface="Lato"/>
              </a:rPr>
              <a:t> </a:t>
            </a:r>
            <a:r>
              <a:rPr lang="en-US" altLang="en-US" dirty="0" err="1">
                <a:ea typeface="Lato"/>
              </a:rPr>
              <a:t>kiện</a:t>
            </a:r>
            <a:r>
              <a:rPr lang="en-US" altLang="en-US" dirty="0">
                <a:ea typeface="Lato"/>
              </a:rPr>
              <a:t> </a:t>
            </a:r>
            <a:r>
              <a:rPr lang="en-US" altLang="en-US" dirty="0" err="1">
                <a:ea typeface="Lato"/>
              </a:rPr>
              <a:t>nào</a:t>
            </a:r>
            <a:r>
              <a:rPr lang="en-US" altLang="en-US" dirty="0">
                <a:ea typeface="Lato"/>
              </a:rPr>
              <a:t> </a:t>
            </a:r>
            <a:r>
              <a:rPr lang="en-US" altLang="en-US" dirty="0" err="1">
                <a:ea typeface="Lato"/>
              </a:rPr>
              <a:t>đó</a:t>
            </a:r>
            <a:r>
              <a:rPr lang="en-US" altLang="en-US" dirty="0">
                <a:ea typeface="Lato"/>
              </a:rPr>
              <a:t> </a:t>
            </a:r>
            <a:r>
              <a:rPr lang="en-US" altLang="en-US" dirty="0" err="1">
                <a:ea typeface="Lato"/>
              </a:rPr>
              <a:t>giữa</a:t>
            </a:r>
            <a:r>
              <a:rPr lang="en-US" altLang="en-US" dirty="0">
                <a:ea typeface="Lato"/>
              </a:rPr>
              <a:t> </a:t>
            </a:r>
            <a:r>
              <a:rPr lang="en-US" altLang="en-US" dirty="0" err="1">
                <a:ea typeface="Lato"/>
              </a:rPr>
              <a:t>bắt</a:t>
            </a:r>
            <a:r>
              <a:rPr lang="en-US" altLang="en-US" dirty="0">
                <a:ea typeface="Lato"/>
              </a:rPr>
              <a:t> </a:t>
            </a:r>
            <a:r>
              <a:rPr lang="en-US" altLang="en-US" dirty="0" err="1">
                <a:ea typeface="Lato"/>
              </a:rPr>
              <a:t>đầu</a:t>
            </a:r>
            <a:r>
              <a:rPr lang="en-US" altLang="en-US" dirty="0">
                <a:ea typeface="Lato"/>
              </a:rPr>
              <a:t> </a:t>
            </a:r>
            <a:r>
              <a:rPr lang="en-US" altLang="en-US" dirty="0" err="1">
                <a:ea typeface="Lato"/>
              </a:rPr>
              <a:t>và</a:t>
            </a:r>
            <a:r>
              <a:rPr lang="en-US" altLang="en-US" dirty="0">
                <a:ea typeface="Lato"/>
              </a:rPr>
              <a:t> </a:t>
            </a:r>
            <a:r>
              <a:rPr lang="en-US" altLang="en-US" dirty="0" err="1">
                <a:ea typeface="Lato"/>
              </a:rPr>
              <a:t>kết</a:t>
            </a:r>
            <a:r>
              <a:rPr lang="en-US" altLang="en-US" dirty="0">
                <a:ea typeface="Lato"/>
              </a:rPr>
              <a:t> </a:t>
            </a:r>
            <a:r>
              <a:rPr lang="en-US" altLang="en-US" dirty="0" err="1">
                <a:ea typeface="Lato"/>
              </a:rPr>
              <a:t>thúc</a:t>
            </a:r>
            <a:r>
              <a:rPr lang="en-US" altLang="en-US" dirty="0">
                <a:ea typeface="Lato"/>
              </a:rPr>
              <a:t> </a:t>
            </a:r>
            <a:r>
              <a:rPr lang="en-US" altLang="en-US" dirty="0" err="1">
                <a:ea typeface="Lato"/>
              </a:rPr>
              <a:t>sự</a:t>
            </a:r>
            <a:r>
              <a:rPr lang="en-US" altLang="en-US" dirty="0">
                <a:ea typeface="Lato"/>
              </a:rPr>
              <a:t> </a:t>
            </a:r>
            <a:r>
              <a:rPr lang="en-US" altLang="en-US" dirty="0" err="1">
                <a:ea typeface="Lato"/>
              </a:rPr>
              <a:t>kiện</a:t>
            </a:r>
            <a:r>
              <a:rPr lang="en-US" altLang="en-US" dirty="0">
                <a:ea typeface="Lato"/>
              </a:rPr>
              <a:t> </a:t>
            </a:r>
            <a:r>
              <a:rPr lang="en-US" altLang="en-US" dirty="0" err="1">
                <a:ea typeface="Lato"/>
              </a:rPr>
              <a:t>đó</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thị</a:t>
            </a:r>
            <a:r>
              <a:rPr lang="en-US" altLang="en-US" dirty="0">
                <a:ea typeface="Lato"/>
              </a:rPr>
              <a:t> </a:t>
            </a:r>
            <a:r>
              <a:rPr lang="en-US" altLang="en-US" dirty="0" err="1">
                <a:ea typeface="Lato"/>
              </a:rPr>
              <a:t>là</a:t>
            </a:r>
            <a:r>
              <a:rPr lang="en-US" altLang="en-US" dirty="0">
                <a:ea typeface="Lato"/>
              </a:rPr>
              <a:t> </a:t>
            </a:r>
            <a:r>
              <a:rPr lang="en-US" altLang="en-US" dirty="0" err="1">
                <a:ea typeface="Lato"/>
              </a:rPr>
              <a:t>hai</a:t>
            </a:r>
            <a:r>
              <a:rPr lang="en-US" altLang="en-US" dirty="0">
                <a:ea typeface="Lato"/>
              </a:rPr>
              <a:t> </a:t>
            </a:r>
            <a:r>
              <a:rPr lang="en-US" altLang="en-US" dirty="0" err="1">
                <a:ea typeface="Lato"/>
              </a:rPr>
              <a:t>vòng</a:t>
            </a:r>
            <a:r>
              <a:rPr lang="en-US" altLang="en-US" dirty="0">
                <a:ea typeface="Lato"/>
              </a:rPr>
              <a:t> </a:t>
            </a:r>
            <a:r>
              <a:rPr lang="en-US" altLang="en-US" dirty="0" err="1">
                <a:ea typeface="Lato"/>
              </a:rPr>
              <a:t>tròn</a:t>
            </a:r>
            <a:r>
              <a:rPr lang="en-US" altLang="en-US" dirty="0">
                <a:ea typeface="Lato"/>
              </a:rPr>
              <a:t> </a:t>
            </a:r>
            <a:r>
              <a:rPr lang="en-US" altLang="en-US" dirty="0" err="1">
                <a:ea typeface="Lato"/>
              </a:rPr>
              <a:t>lồng</a:t>
            </a:r>
            <a:r>
              <a:rPr lang="en-US" altLang="en-US" dirty="0">
                <a:ea typeface="Lato"/>
              </a:rPr>
              <a:t> </a:t>
            </a:r>
            <a:r>
              <a:rPr lang="en-US" altLang="en-US" dirty="0" err="1">
                <a:ea typeface="Lato"/>
              </a:rPr>
              <a:t>nhau</a:t>
            </a:r>
            <a:r>
              <a:rPr lang="en-US" altLang="en-US" dirty="0">
                <a:ea typeface="Lato"/>
              </a:rPr>
              <a:t>. </a:t>
            </a:r>
            <a:r>
              <a:rPr lang="en-US" altLang="en-US" dirty="0" err="1">
                <a:ea typeface="Lato"/>
              </a:rPr>
              <a:t>Có</a:t>
            </a:r>
            <a:r>
              <a:rPr lang="en-US" altLang="en-US" dirty="0">
                <a:ea typeface="Lato"/>
              </a:rPr>
              <a:t> </a:t>
            </a:r>
            <a:r>
              <a:rPr lang="en-US" altLang="en-US" dirty="0" err="1">
                <a:ea typeface="Lato"/>
              </a:rPr>
              <a:t>thể</a:t>
            </a:r>
            <a:r>
              <a:rPr lang="en-US" altLang="en-US" dirty="0">
                <a:ea typeface="Lato"/>
              </a:rPr>
              <a:t> </a:t>
            </a:r>
            <a:r>
              <a:rPr lang="en-US" altLang="en-US" dirty="0" err="1">
                <a:ea typeface="Lato"/>
              </a:rPr>
              <a:t>bắt</a:t>
            </a:r>
            <a:r>
              <a:rPr lang="en-US" altLang="en-US" dirty="0">
                <a:ea typeface="Lato"/>
              </a:rPr>
              <a:t> </a:t>
            </a:r>
            <a:r>
              <a:rPr lang="en-US" altLang="en-US" dirty="0" err="1">
                <a:ea typeface="Lato"/>
              </a:rPr>
              <a:t>đầu</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sự</a:t>
            </a:r>
            <a:r>
              <a:rPr lang="en-US" altLang="en-US" dirty="0">
                <a:ea typeface="Lato"/>
              </a:rPr>
              <a:t> </a:t>
            </a:r>
            <a:r>
              <a:rPr lang="en-US" altLang="en-US" dirty="0" err="1">
                <a:ea typeface="Lato"/>
              </a:rPr>
              <a:t>kiện</a:t>
            </a:r>
            <a:r>
              <a:rPr lang="en-US" altLang="en-US" dirty="0">
                <a:ea typeface="Lato"/>
              </a:rPr>
              <a:t> sang </a:t>
            </a:r>
            <a:r>
              <a:rPr lang="en-US" altLang="en-US" dirty="0" err="1">
                <a:ea typeface="Lato"/>
              </a:rPr>
              <a:t>một</a:t>
            </a:r>
            <a:r>
              <a:rPr lang="en-US" altLang="en-US" dirty="0">
                <a:ea typeface="Lato"/>
              </a:rPr>
              <a:t> </a:t>
            </a:r>
            <a:r>
              <a:rPr lang="en-US" altLang="en-US" dirty="0" err="1">
                <a:ea typeface="Lato"/>
              </a:rPr>
              <a:t>làn</a:t>
            </a:r>
            <a:r>
              <a:rPr lang="en-US" altLang="en-US" dirty="0">
                <a:ea typeface="Lato"/>
              </a:rPr>
              <a:t> </a:t>
            </a:r>
            <a:r>
              <a:rPr lang="en-US" altLang="en-US" dirty="0" err="1">
                <a:ea typeface="Lato"/>
              </a:rPr>
              <a:t>khác</a:t>
            </a:r>
            <a:r>
              <a:rPr lang="en-US" altLang="en-US" dirty="0">
                <a:ea typeface="Lato"/>
              </a:rPr>
              <a:t> (</a:t>
            </a:r>
            <a:r>
              <a:rPr lang="en-US" altLang="en-US" dirty="0" err="1">
                <a:ea typeface="Lato"/>
              </a:rPr>
              <a:t>có</a:t>
            </a:r>
            <a:r>
              <a:rPr lang="en-US" altLang="en-US" dirty="0">
                <a:ea typeface="Lato"/>
              </a:rPr>
              <a:t> </a:t>
            </a:r>
            <a:r>
              <a:rPr lang="en-US" altLang="en-US" dirty="0" err="1">
                <a:ea typeface="Lato"/>
              </a:rPr>
              <a:t>thể</a:t>
            </a:r>
            <a:r>
              <a:rPr lang="en-US" altLang="en-US" dirty="0">
                <a:ea typeface="Lato"/>
              </a:rPr>
              <a:t> </a:t>
            </a:r>
            <a:r>
              <a:rPr lang="en-US" altLang="en-US" dirty="0" err="1">
                <a:ea typeface="Lato"/>
              </a:rPr>
              <a:t>là</a:t>
            </a:r>
            <a:r>
              <a:rPr lang="en-US" altLang="en-US" dirty="0">
                <a:ea typeface="Lato"/>
              </a:rPr>
              <a:t> “</a:t>
            </a:r>
            <a:r>
              <a:rPr lang="en-US" altLang="en-US" dirty="0" err="1">
                <a:ea typeface="Lato"/>
              </a:rPr>
              <a:t>bắt</a:t>
            </a:r>
            <a:r>
              <a:rPr lang="en-US" altLang="en-US" dirty="0">
                <a:ea typeface="Lato"/>
              </a:rPr>
              <a:t>”) </a:t>
            </a:r>
            <a:r>
              <a:rPr lang="en-US" altLang="en-US" dirty="0" err="1">
                <a:ea typeface="Lato"/>
              </a:rPr>
              <a:t>hoặc</a:t>
            </a:r>
            <a:r>
              <a:rPr lang="en-US" altLang="en-US" dirty="0">
                <a:ea typeface="Lato"/>
              </a:rPr>
              <a:t> </a:t>
            </a:r>
            <a:r>
              <a:rPr lang="en-US" altLang="en-US" dirty="0" err="1">
                <a:ea typeface="Lato"/>
              </a:rPr>
              <a:t>kết</a:t>
            </a:r>
            <a:r>
              <a:rPr lang="en-US" altLang="en-US" dirty="0">
                <a:ea typeface="Lato"/>
              </a:rPr>
              <a:t> </a:t>
            </a:r>
            <a:r>
              <a:rPr lang="en-US" altLang="en-US" dirty="0" err="1">
                <a:ea typeface="Lato"/>
              </a:rPr>
              <a:t>thúc</a:t>
            </a:r>
            <a:r>
              <a:rPr lang="en-US" altLang="en-US" dirty="0">
                <a:ea typeface="Lato"/>
              </a:rPr>
              <a:t> </a:t>
            </a:r>
            <a:r>
              <a:rPr lang="en-US" altLang="en-US" dirty="0" err="1">
                <a:ea typeface="Lato"/>
              </a:rPr>
              <a:t>và</a:t>
            </a:r>
            <a:r>
              <a:rPr lang="en-US" altLang="en-US" dirty="0">
                <a:ea typeface="Lato"/>
              </a:rPr>
              <a:t> </a:t>
            </a:r>
            <a:r>
              <a:rPr lang="en-US" altLang="en-US" dirty="0" err="1">
                <a:ea typeface="Lato"/>
              </a:rPr>
              <a:t>chuyển</a:t>
            </a:r>
            <a:r>
              <a:rPr lang="en-US" altLang="en-US" dirty="0">
                <a:ea typeface="Lato"/>
              </a:rPr>
              <a:t> sang </a:t>
            </a:r>
            <a:r>
              <a:rPr lang="en-US" altLang="en-US" dirty="0" err="1">
                <a:ea typeface="Lato"/>
              </a:rPr>
              <a:t>một</a:t>
            </a:r>
            <a:r>
              <a:rPr lang="en-US" altLang="en-US" dirty="0">
                <a:ea typeface="Lato"/>
              </a:rPr>
              <a:t> </a:t>
            </a:r>
            <a:r>
              <a:rPr lang="en-US" altLang="en-US" dirty="0" err="1">
                <a:ea typeface="Lato"/>
              </a:rPr>
              <a:t>sự</a:t>
            </a:r>
            <a:r>
              <a:rPr lang="en-US" altLang="en-US" dirty="0">
                <a:ea typeface="Lato"/>
              </a:rPr>
              <a:t> </a:t>
            </a:r>
            <a:r>
              <a:rPr lang="en-US" altLang="en-US" dirty="0" err="1">
                <a:ea typeface="Lato"/>
              </a:rPr>
              <a:t>kiện</a:t>
            </a:r>
            <a:r>
              <a:rPr lang="en-US" altLang="en-US" dirty="0">
                <a:ea typeface="Lato"/>
              </a:rPr>
              <a:t> </a:t>
            </a:r>
            <a:r>
              <a:rPr lang="en-US" altLang="en-US" dirty="0" err="1">
                <a:ea typeface="Lato"/>
              </a:rPr>
              <a:t>khác</a:t>
            </a:r>
            <a:r>
              <a:rPr lang="en-US" altLang="en-US" dirty="0">
                <a:ea typeface="Lato"/>
              </a:rPr>
              <a:t> (</a:t>
            </a:r>
            <a:r>
              <a:rPr lang="en-US" altLang="en-US" dirty="0" err="1">
                <a:ea typeface="Lato"/>
              </a:rPr>
              <a:t>tức</a:t>
            </a:r>
            <a:r>
              <a:rPr lang="en-US" altLang="en-US" dirty="0">
                <a:ea typeface="Lato"/>
              </a:rPr>
              <a:t> “</a:t>
            </a:r>
            <a:r>
              <a:rPr lang="en-US" altLang="en-US" dirty="0" err="1">
                <a:ea typeface="Lato"/>
              </a:rPr>
              <a:t>ném</a:t>
            </a:r>
            <a:r>
              <a:rPr lang="en-US" altLang="en-US" dirty="0">
                <a:ea typeface="Lato"/>
              </a:rPr>
              <a:t>”)</a:t>
            </a:r>
          </a:p>
          <a:p>
            <a:pPr marL="0" indent="0" eaLnBrk="1" hangingPunct="1">
              <a:buNone/>
            </a:pPr>
            <a:r>
              <a:rPr lang="en-US" altLang="en-US" dirty="0">
                <a:ea typeface="Lato"/>
              </a:rPr>
              <a:t>•	End: </a:t>
            </a:r>
            <a:r>
              <a:rPr lang="en-US" altLang="en-US" dirty="0" err="1">
                <a:ea typeface="Lato"/>
              </a:rPr>
              <a:t>kết</a:t>
            </a:r>
            <a:r>
              <a:rPr lang="en-US" altLang="en-US" dirty="0">
                <a:ea typeface="Lato"/>
              </a:rPr>
              <a:t> </a:t>
            </a:r>
            <a:r>
              <a:rPr lang="en-US" altLang="en-US" dirty="0" err="1">
                <a:ea typeface="Lato"/>
              </a:rPr>
              <a:t>thúc</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tác</a:t>
            </a:r>
            <a:r>
              <a:rPr lang="en-US" altLang="en-US" dirty="0">
                <a:ea typeface="Lato"/>
              </a:rPr>
              <a:t> </a:t>
            </a:r>
            <a:r>
              <a:rPr lang="en-US" altLang="en-US" dirty="0" err="1">
                <a:ea typeface="Lato"/>
              </a:rPr>
              <a:t>vụ</a:t>
            </a:r>
            <a:r>
              <a:rPr lang="en-US" altLang="en-US" dirty="0">
                <a:ea typeface="Lato"/>
              </a:rPr>
              <a:t>, </a:t>
            </a:r>
            <a:r>
              <a:rPr lang="en-US" altLang="en-US" dirty="0" err="1">
                <a:ea typeface="Lato"/>
              </a:rPr>
              <a:t>và</a:t>
            </a:r>
            <a:r>
              <a:rPr lang="en-US" altLang="en-US" dirty="0">
                <a:ea typeface="Lato"/>
              </a:rPr>
              <a:t> </a:t>
            </a:r>
            <a:r>
              <a:rPr lang="en-US" altLang="en-US" dirty="0" err="1">
                <a:ea typeface="Lato"/>
              </a:rPr>
              <a:t>chỉ</a:t>
            </a:r>
            <a:r>
              <a:rPr lang="en-US" altLang="en-US" dirty="0">
                <a:ea typeface="Lato"/>
              </a:rPr>
              <a:t> </a:t>
            </a:r>
            <a:r>
              <a:rPr lang="en-US" altLang="en-US" dirty="0" err="1">
                <a:ea typeface="Lato"/>
              </a:rPr>
              <a:t>có</a:t>
            </a:r>
            <a:r>
              <a:rPr lang="en-US" altLang="en-US" dirty="0">
                <a:ea typeface="Lato"/>
              </a:rPr>
              <a:t> </a:t>
            </a:r>
            <a:r>
              <a:rPr lang="en-US" altLang="en-US" dirty="0" err="1">
                <a:ea typeface="Lato"/>
              </a:rPr>
              <a:t>thể</a:t>
            </a:r>
            <a:r>
              <a:rPr lang="en-US" altLang="en-US" dirty="0">
                <a:ea typeface="Lato"/>
              </a:rPr>
              <a:t> </a:t>
            </a:r>
            <a:r>
              <a:rPr lang="en-US" altLang="en-US" dirty="0" err="1">
                <a:ea typeface="Lato"/>
              </a:rPr>
              <a:t>là</a:t>
            </a:r>
            <a:r>
              <a:rPr lang="en-US" altLang="en-US" dirty="0">
                <a:ea typeface="Lato"/>
              </a:rPr>
              <a:t> “</a:t>
            </a:r>
            <a:r>
              <a:rPr lang="en-US" altLang="en-US" dirty="0" err="1">
                <a:ea typeface="Lato"/>
              </a:rPr>
              <a:t>ném</a:t>
            </a:r>
            <a:r>
              <a:rPr lang="en-US" altLang="en-US" dirty="0">
                <a:ea typeface="Lato"/>
              </a:rPr>
              <a:t>”, </a:t>
            </a:r>
            <a:r>
              <a:rPr lang="en-US" altLang="en-US" dirty="0" err="1">
                <a:ea typeface="Lato"/>
              </a:rPr>
              <a:t>với</a:t>
            </a:r>
            <a:r>
              <a:rPr lang="en-US" altLang="en-US" dirty="0">
                <a:ea typeface="Lato"/>
              </a:rPr>
              <a:t> icon </a:t>
            </a:r>
            <a:r>
              <a:rPr lang="en-US" altLang="en-US" dirty="0" err="1">
                <a:ea typeface="Lato"/>
              </a:rPr>
              <a:t>là</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vòng</a:t>
            </a:r>
            <a:r>
              <a:rPr lang="en-US" altLang="en-US" dirty="0">
                <a:ea typeface="Lato"/>
              </a:rPr>
              <a:t> </a:t>
            </a:r>
            <a:r>
              <a:rPr lang="en-US" altLang="en-US" dirty="0" err="1">
                <a:ea typeface="Lato"/>
              </a:rPr>
              <a:t>tròn</a:t>
            </a:r>
            <a:r>
              <a:rPr lang="en-US" altLang="en-US" dirty="0">
                <a:ea typeface="Lato"/>
              </a:rPr>
              <a:t> </a:t>
            </a:r>
            <a:r>
              <a:rPr lang="en-US" altLang="en-US" dirty="0" err="1">
                <a:ea typeface="Lato"/>
              </a:rPr>
              <a:t>dày</a:t>
            </a:r>
            <a:r>
              <a:rPr lang="en-US" altLang="en-US" dirty="0">
                <a:ea typeface="Lato"/>
              </a:rPr>
              <a:t>.</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724140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1.3. </a:t>
            </a:r>
            <a:r>
              <a:rPr lang="en-US" altLang="en-US" dirty="0" err="1">
                <a:ea typeface="Lato"/>
              </a:rPr>
              <a:t>Hoạt</a:t>
            </a:r>
            <a:r>
              <a:rPr lang="en-US" altLang="en-US" dirty="0">
                <a:ea typeface="Lato"/>
              </a:rPr>
              <a:t> </a:t>
            </a:r>
            <a:r>
              <a:rPr lang="en-US" altLang="en-US" dirty="0" err="1">
                <a:ea typeface="Lato"/>
              </a:rPr>
              <a:t>động</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thị</a:t>
            </a:r>
            <a:r>
              <a:rPr lang="en-US" altLang="en-US" dirty="0">
                <a:ea typeface="Lato"/>
              </a:rPr>
              <a:t> </a:t>
            </a:r>
            <a:r>
              <a:rPr lang="en-US" altLang="en-US" dirty="0" err="1">
                <a:ea typeface="Lato"/>
              </a:rPr>
              <a:t>bằng</a:t>
            </a:r>
            <a:r>
              <a:rPr lang="en-US" altLang="en-US" dirty="0">
                <a:ea typeface="Lato"/>
              </a:rPr>
              <a:t> </a:t>
            </a:r>
            <a:r>
              <a:rPr lang="en-US" altLang="en-US" dirty="0" err="1">
                <a:ea typeface="Lato"/>
              </a:rPr>
              <a:t>những</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chữ</a:t>
            </a:r>
            <a:r>
              <a:rPr lang="en-US" altLang="en-US" dirty="0">
                <a:ea typeface="Lato"/>
              </a:rPr>
              <a:t> </a:t>
            </a:r>
            <a:r>
              <a:rPr lang="en-US" altLang="en-US" dirty="0" err="1">
                <a:ea typeface="Lato"/>
              </a:rPr>
              <a:t>nhật</a:t>
            </a:r>
            <a:r>
              <a:rPr lang="en-US" altLang="en-US" dirty="0">
                <a:ea typeface="Lato"/>
              </a:rPr>
              <a:t> </a:t>
            </a:r>
            <a:r>
              <a:rPr lang="en-US" altLang="en-US" dirty="0" err="1">
                <a:ea typeface="Lato"/>
              </a:rPr>
              <a:t>bo</a:t>
            </a:r>
            <a:r>
              <a:rPr lang="en-US" altLang="en-US" dirty="0">
                <a:ea typeface="Lato"/>
              </a:rPr>
              <a:t> </a:t>
            </a:r>
            <a:r>
              <a:rPr lang="en-US" altLang="en-US" dirty="0" err="1">
                <a:ea typeface="Lato"/>
              </a:rPr>
              <a:t>góc</a:t>
            </a:r>
            <a:r>
              <a:rPr lang="en-US" altLang="en-US" dirty="0">
                <a:ea typeface="Lato"/>
              </a:rPr>
              <a:t>, </a:t>
            </a:r>
            <a:r>
              <a:rPr lang="en-US" altLang="en-US" dirty="0" err="1">
                <a:ea typeface="Lato"/>
              </a:rPr>
              <a:t>miêu</a:t>
            </a:r>
            <a:r>
              <a:rPr lang="en-US" altLang="en-US" dirty="0">
                <a:ea typeface="Lato"/>
              </a:rPr>
              <a:t> </a:t>
            </a:r>
            <a:r>
              <a:rPr lang="en-US" altLang="en-US" dirty="0" err="1">
                <a:ea typeface="Lato"/>
              </a:rPr>
              <a:t>tả</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công</a:t>
            </a:r>
            <a:r>
              <a:rPr lang="en-US" altLang="en-US" dirty="0">
                <a:ea typeface="Lato"/>
              </a:rPr>
              <a:t> </a:t>
            </a:r>
            <a:r>
              <a:rPr lang="en-US" altLang="en-US" dirty="0" err="1">
                <a:ea typeface="Lato"/>
              </a:rPr>
              <a:t>việc</a:t>
            </a:r>
            <a:r>
              <a:rPr lang="en-US" altLang="en-US" dirty="0">
                <a:ea typeface="Lato"/>
              </a:rPr>
              <a:t> </a:t>
            </a:r>
            <a:r>
              <a:rPr lang="en-US" altLang="en-US" dirty="0" err="1">
                <a:ea typeface="Lato"/>
              </a:rPr>
              <a:t>phải</a:t>
            </a:r>
            <a:r>
              <a:rPr lang="en-US" altLang="en-US" dirty="0">
                <a:ea typeface="Lato"/>
              </a:rPr>
              <a:t> </a:t>
            </a:r>
            <a:r>
              <a:rPr lang="en-US" altLang="en-US" dirty="0" err="1">
                <a:ea typeface="Lato"/>
              </a:rPr>
              <a:t>thực</a:t>
            </a:r>
            <a:r>
              <a:rPr lang="en-US" altLang="en-US" dirty="0">
                <a:ea typeface="Lato"/>
              </a:rPr>
              <a:t> </a:t>
            </a:r>
            <a:r>
              <a:rPr lang="en-US" altLang="en-US" dirty="0" err="1">
                <a:ea typeface="Lato"/>
              </a:rPr>
              <a:t>hiện</a:t>
            </a:r>
            <a:r>
              <a:rPr lang="en-US" altLang="en-US" dirty="0">
                <a:ea typeface="Lato"/>
              </a:rPr>
              <a:t>.</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Hình ảnh 1" descr="Activity">
            <a:extLst>
              <a:ext uri="{FF2B5EF4-FFF2-40B4-BE49-F238E27FC236}">
                <a16:creationId xmlns:a16="http://schemas.microsoft.com/office/drawing/2014/main" id="{FF85DC66-15CB-2170-2506-9A5E54FA3A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0138" y="2602229"/>
            <a:ext cx="9051723" cy="1867133"/>
          </a:xfrm>
          <a:prstGeom prst="rect">
            <a:avLst/>
          </a:prstGeom>
          <a:noFill/>
          <a:ln>
            <a:noFill/>
          </a:ln>
        </p:spPr>
      </p:pic>
    </p:spTree>
    <p:extLst>
      <p:ext uri="{BB962C8B-B14F-4D97-AF65-F5344CB8AC3E}">
        <p14:creationId xmlns:p14="http://schemas.microsoft.com/office/powerpoint/2010/main" val="3274876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 </a:t>
            </a:r>
            <a:r>
              <a:rPr lang="vi-VN" altLang="en-US" dirty="0" err="1">
                <a:ea typeface="Lato"/>
              </a:rPr>
              <a:t>Gateways</a:t>
            </a:r>
            <a:r>
              <a:rPr lang="vi-VN" altLang="en-US" dirty="0">
                <a:ea typeface="Lato"/>
              </a:rPr>
              <a:t>: khi đi qua chúng, tùy theo điều kiện mà luồng công việc sẽ bị thay đổi thành những luồng khác nhau, được biểu diễn bởi các hình thoi.</a:t>
            </a:r>
            <a:r>
              <a:rPr lang="en-US" altLang="en-US" dirty="0">
                <a:ea typeface="Lato"/>
              </a:rPr>
              <a:t> </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4" name="Hình ảnh 3" descr="Gateway">
            <a:extLst>
              <a:ext uri="{FF2B5EF4-FFF2-40B4-BE49-F238E27FC236}">
                <a16:creationId xmlns:a16="http://schemas.microsoft.com/office/drawing/2014/main" id="{DDB679EF-BFAE-915A-0359-85E177C96D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89427" y="2360574"/>
            <a:ext cx="3500318" cy="3981035"/>
          </a:xfrm>
          <a:prstGeom prst="rect">
            <a:avLst/>
          </a:prstGeom>
          <a:noFill/>
          <a:ln>
            <a:noFill/>
          </a:ln>
        </p:spPr>
      </p:pic>
    </p:spTree>
    <p:extLst>
      <p:ext uri="{BB962C8B-B14F-4D97-AF65-F5344CB8AC3E}">
        <p14:creationId xmlns:p14="http://schemas.microsoft.com/office/powerpoint/2010/main" val="1974513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 </a:t>
            </a:r>
            <a:r>
              <a:rPr lang="vi-VN" altLang="en-US" dirty="0">
                <a:ea typeface="Lato"/>
              </a:rPr>
              <a:t>Các con đường liên kết: luồng đi, luồng tin nhắn và mối liên quan</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Hình ảnh 1" descr="Connections">
            <a:extLst>
              <a:ext uri="{FF2B5EF4-FFF2-40B4-BE49-F238E27FC236}">
                <a16:creationId xmlns:a16="http://schemas.microsoft.com/office/drawing/2014/main" id="{FFDBF880-203B-C9D7-6258-D69BBE46C8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77977" y="2062382"/>
            <a:ext cx="7181748" cy="4026329"/>
          </a:xfrm>
          <a:prstGeom prst="rect">
            <a:avLst/>
          </a:prstGeom>
          <a:noFill/>
          <a:ln>
            <a:noFill/>
          </a:ln>
        </p:spPr>
      </p:pic>
    </p:spTree>
    <p:extLst>
      <p:ext uri="{BB962C8B-B14F-4D97-AF65-F5344CB8AC3E}">
        <p14:creationId xmlns:p14="http://schemas.microsoft.com/office/powerpoint/2010/main" val="2916442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Các làn công việc (hay </a:t>
            </a:r>
            <a:r>
              <a:rPr lang="vi-VN" altLang="en-US" dirty="0" err="1">
                <a:ea typeface="Lato"/>
              </a:rPr>
              <a:t>swim</a:t>
            </a:r>
            <a:r>
              <a:rPr lang="vi-VN" altLang="en-US" dirty="0">
                <a:ea typeface="Lato"/>
              </a:rPr>
              <a:t> </a:t>
            </a:r>
            <a:r>
              <a:rPr lang="vi-VN" altLang="en-US" dirty="0" err="1">
                <a:ea typeface="Lato"/>
              </a:rPr>
              <a:t>lanes</a:t>
            </a:r>
            <a:r>
              <a:rPr lang="vi-VN" altLang="en-US" dirty="0">
                <a:ea typeface="Lato"/>
              </a:rPr>
              <a:t>):</a:t>
            </a:r>
          </a:p>
          <a:p>
            <a:pPr marL="0" indent="0" eaLnBrk="1" hangingPunct="1">
              <a:buNone/>
            </a:pPr>
            <a:endParaRPr lang="vi-VN" altLang="en-US" dirty="0">
              <a:ea typeface="Lato"/>
            </a:endParaRPr>
          </a:p>
          <a:p>
            <a:pPr marL="0" indent="0" eaLnBrk="1" hangingPunct="1">
              <a:buNone/>
            </a:pPr>
            <a:r>
              <a:rPr lang="vi-VN" altLang="en-US" dirty="0">
                <a:ea typeface="Lato"/>
              </a:rPr>
              <a:t>+ </a:t>
            </a:r>
            <a:r>
              <a:rPr lang="vi-VN" altLang="en-US" dirty="0" err="1">
                <a:ea typeface="Lato"/>
              </a:rPr>
              <a:t>Pool</a:t>
            </a:r>
            <a:r>
              <a:rPr lang="vi-VN" altLang="en-US" dirty="0">
                <a:ea typeface="Lato"/>
              </a:rPr>
              <a:t> (hồ bơi): thể hiện một tổ chức, một bộ phận của một hệ thống. Một </a:t>
            </a:r>
            <a:r>
              <a:rPr lang="vi-VN" altLang="en-US" dirty="0" err="1">
                <a:ea typeface="Lato"/>
              </a:rPr>
              <a:t>pool</a:t>
            </a:r>
            <a:r>
              <a:rPr lang="vi-VN" altLang="en-US" dirty="0">
                <a:ea typeface="Lato"/>
              </a:rPr>
              <a:t> có nhiều </a:t>
            </a:r>
            <a:r>
              <a:rPr lang="vi-VN" altLang="en-US" dirty="0" err="1">
                <a:ea typeface="Lato"/>
              </a:rPr>
              <a:t>lane</a:t>
            </a:r>
            <a:r>
              <a:rPr lang="vi-VN" altLang="en-US" dirty="0">
                <a:ea typeface="Lato"/>
              </a:rPr>
              <a:t>.</a:t>
            </a:r>
          </a:p>
          <a:p>
            <a:pPr marL="0" indent="0" eaLnBrk="1" hangingPunct="1">
              <a:buNone/>
            </a:pPr>
            <a:r>
              <a:rPr lang="vi-VN" altLang="en-US" dirty="0">
                <a:ea typeface="Lato"/>
              </a:rPr>
              <a:t>+ </a:t>
            </a:r>
            <a:r>
              <a:rPr lang="vi-VN" altLang="en-US" dirty="0" err="1">
                <a:ea typeface="Lato"/>
              </a:rPr>
              <a:t>Lane</a:t>
            </a:r>
            <a:r>
              <a:rPr lang="vi-VN" altLang="en-US" dirty="0">
                <a:ea typeface="Lato"/>
              </a:rPr>
              <a:t> (làn bơi): thể hiện các cá nhân riêng lẻ của từng chi tiết trong hệ thống đó.</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3" name="Hình ảnh 2" descr="Swimlanes">
            <a:extLst>
              <a:ext uri="{FF2B5EF4-FFF2-40B4-BE49-F238E27FC236}">
                <a16:creationId xmlns:a16="http://schemas.microsoft.com/office/drawing/2014/main" id="{385EA046-1EB7-6FD2-74F4-160AA35A85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77287" y="3855286"/>
            <a:ext cx="2237807" cy="2309041"/>
          </a:xfrm>
          <a:prstGeom prst="rect">
            <a:avLst/>
          </a:prstGeom>
          <a:noFill/>
          <a:ln>
            <a:noFill/>
          </a:ln>
        </p:spPr>
      </p:pic>
    </p:spTree>
    <p:extLst>
      <p:ext uri="{BB962C8B-B14F-4D97-AF65-F5344CB8AC3E}">
        <p14:creationId xmlns:p14="http://schemas.microsoft.com/office/powerpoint/2010/main" val="1130729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 Các đối tượng khác: dữ liệu, nhóm, ghi chú, … Ngoài ra còn có các “</a:t>
            </a:r>
            <a:r>
              <a:rPr lang="vi-VN" altLang="en-US" dirty="0" err="1">
                <a:ea typeface="Lato"/>
              </a:rPr>
              <a:t>activity</a:t>
            </a:r>
            <a:r>
              <a:rPr lang="vi-VN" altLang="en-US" dirty="0">
                <a:ea typeface="Lato"/>
              </a:rPr>
              <a:t> </a:t>
            </a:r>
            <a:r>
              <a:rPr lang="vi-VN" altLang="en-US" dirty="0" err="1">
                <a:ea typeface="Lato"/>
              </a:rPr>
              <a:t>marker</a:t>
            </a:r>
            <a:r>
              <a:rPr lang="vi-VN" altLang="en-US" dirty="0">
                <a:ea typeface="Lato"/>
              </a:rPr>
              <a:t>” (hành vi thực hiện) và “</a:t>
            </a:r>
            <a:r>
              <a:rPr lang="vi-VN" altLang="en-US" dirty="0" err="1">
                <a:ea typeface="Lato"/>
              </a:rPr>
              <a:t>task</a:t>
            </a:r>
            <a:r>
              <a:rPr lang="vi-VN" altLang="en-US" dirty="0">
                <a:ea typeface="Lato"/>
              </a:rPr>
              <a:t> </a:t>
            </a:r>
            <a:r>
              <a:rPr lang="vi-VN" altLang="en-US" dirty="0" err="1">
                <a:ea typeface="Lato"/>
              </a:rPr>
              <a:t>type</a:t>
            </a:r>
            <a:r>
              <a:rPr lang="vi-VN" altLang="en-US" dirty="0">
                <a:ea typeface="Lato"/>
              </a:rPr>
              <a:t>” (loại hành động).</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Hình ảnh 1" descr="Quẩy tới bến với vẽ BPMN - Thinhnotes.com">
            <a:extLst>
              <a:ext uri="{FF2B5EF4-FFF2-40B4-BE49-F238E27FC236}">
                <a16:creationId xmlns:a16="http://schemas.microsoft.com/office/drawing/2014/main" id="{F7296FE8-3686-76BC-43C9-6ECE87B070B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3743" y="2222427"/>
            <a:ext cx="5423179" cy="3973099"/>
          </a:xfrm>
          <a:prstGeom prst="rect">
            <a:avLst/>
          </a:prstGeom>
          <a:noFill/>
          <a:ln>
            <a:noFill/>
          </a:ln>
        </p:spPr>
      </p:pic>
    </p:spTree>
    <p:extLst>
      <p:ext uri="{BB962C8B-B14F-4D97-AF65-F5344CB8AC3E}">
        <p14:creationId xmlns:p14="http://schemas.microsoft.com/office/powerpoint/2010/main" val="4065022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538013"/>
            <a:ext cx="11582400" cy="39346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 Là một phiên bản cải tiến hơn của BPMN, được ra đời năm 2011. Phiên bản mới nhất là 2.0.2, ra mắt vào năm 2014.</a:t>
            </a:r>
          </a:p>
          <a:p>
            <a:pPr marL="0" indent="0" eaLnBrk="1" hangingPunct="1">
              <a:buNone/>
            </a:pPr>
            <a:r>
              <a:rPr lang="vi-VN" altLang="en-US" dirty="0">
                <a:ea typeface="Lato"/>
              </a:rPr>
              <a:t>- Ngoài những tiện ích cơ bản từ phiên bản 1.0 đến 1.2 (VD: quy trình B2B, các loại sự kiện, hành động, …) ra, BPMN 2.0 còn có thêm các tính năng khác, chẳng hạn:</a:t>
            </a:r>
          </a:p>
          <a:p>
            <a:pPr marL="0" indent="0" eaLnBrk="1" hangingPunct="1">
              <a:buNone/>
            </a:pPr>
            <a:r>
              <a:rPr lang="vi-VN" altLang="en-US" dirty="0">
                <a:ea typeface="Lato"/>
              </a:rPr>
              <a:t>+ Các mô hình </a:t>
            </a:r>
            <a:r>
              <a:rPr lang="vi-VN" altLang="en-US" dirty="0" err="1">
                <a:ea typeface="Lato"/>
              </a:rPr>
              <a:t>choreography</a:t>
            </a:r>
            <a:r>
              <a:rPr lang="vi-VN" altLang="en-US" dirty="0">
                <a:ea typeface="Lato"/>
              </a:rPr>
              <a:t> (WS-</a:t>
            </a:r>
            <a:r>
              <a:rPr lang="vi-VN" altLang="en-US" dirty="0" err="1">
                <a:ea typeface="Lato"/>
              </a:rPr>
              <a:t>choreography</a:t>
            </a:r>
            <a:r>
              <a:rPr lang="vi-VN" altLang="en-US" dirty="0">
                <a:ea typeface="Lato"/>
              </a:rPr>
              <a:t>), </a:t>
            </a:r>
            <a:r>
              <a:rPr lang="vi-VN" altLang="en-US" dirty="0" err="1">
                <a:ea typeface="Lato"/>
              </a:rPr>
              <a:t>collab</a:t>
            </a:r>
            <a:r>
              <a:rPr lang="vi-VN" altLang="en-US" dirty="0">
                <a:ea typeface="Lato"/>
              </a:rPr>
              <a:t> và </a:t>
            </a:r>
            <a:r>
              <a:rPr lang="vi-VN" altLang="en-US" dirty="0" err="1">
                <a:ea typeface="Lato"/>
              </a:rPr>
              <a:t>conversation</a:t>
            </a:r>
            <a:endParaRPr lang="vi-VN" altLang="en-US" dirty="0">
              <a:ea typeface="Lato"/>
            </a:endParaRPr>
          </a:p>
          <a:p>
            <a:pPr marL="0" indent="0" eaLnBrk="1" hangingPunct="1">
              <a:buNone/>
            </a:pPr>
            <a:r>
              <a:rPr lang="vi-VN" altLang="en-US" dirty="0">
                <a:ea typeface="Lato"/>
              </a:rPr>
              <a:t>+ Các sự kiện được phân thành các lớp </a:t>
            </a:r>
            <a:r>
              <a:rPr lang="vi-VN" altLang="en-US" dirty="0" err="1">
                <a:ea typeface="Lato"/>
              </a:rPr>
              <a:t>top-level</a:t>
            </a:r>
            <a:r>
              <a:rPr lang="vi-VN" altLang="en-US" dirty="0">
                <a:ea typeface="Lato"/>
              </a:rPr>
              <a:t>, </a:t>
            </a:r>
            <a:r>
              <a:rPr lang="vi-VN" altLang="en-US" dirty="0" err="1">
                <a:ea typeface="Lato"/>
              </a:rPr>
              <a:t>interrupting</a:t>
            </a:r>
            <a:r>
              <a:rPr lang="vi-VN" altLang="en-US" dirty="0">
                <a:ea typeface="Lato"/>
              </a:rPr>
              <a:t>. non-</a:t>
            </a:r>
            <a:r>
              <a:rPr lang="vi-VN" altLang="en-US" dirty="0" err="1">
                <a:ea typeface="Lato"/>
              </a:rPr>
              <a:t>interrupting</a:t>
            </a:r>
            <a:r>
              <a:rPr lang="vi-VN" altLang="en-US" dirty="0">
                <a:ea typeface="Lato"/>
              </a:rPr>
              <a:t>,…</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8" name="Content Placeholder 2"/>
          <p:cNvSpPr txBox="1">
            <a:spLocks/>
          </p:cNvSpPr>
          <p:nvPr/>
        </p:nvSpPr>
        <p:spPr bwMode="auto">
          <a:xfrm>
            <a:off x="338139" y="973606"/>
            <a:ext cx="7268482" cy="5644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rgbClr val="2B4196"/>
                </a:solidFill>
                <a:latin typeface="Arial" panose="020B0604020202020204" pitchFamily="34" charset="0"/>
                <a:ea typeface="Lato" panose="020F0502020204030203" pitchFamily="34" charset="0"/>
                <a:cs typeface="Arial" panose="020B0604020202020204" pitchFamily="34" charset="0"/>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rgbClr val="2B4196"/>
                </a:solidFill>
                <a:latin typeface="Arial" panose="020B0604020202020204" pitchFamily="34" charset="0"/>
                <a:ea typeface="Lato" panose="020F0502020204030203" pitchFamily="34" charset="0"/>
                <a:cs typeface="Arial" panose="020B0604020202020204" pitchFamily="34" charset="0"/>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rgbClr val="2B4196"/>
                </a:solidFill>
                <a:latin typeface="Arial" panose="020B0604020202020204" pitchFamily="34" charset="0"/>
                <a:ea typeface="Lato" panose="020F0502020204030203" pitchFamily="34" charset="0"/>
                <a:cs typeface="Arial" panose="020B0604020202020204" pitchFamily="34" charset="0"/>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rgbClr val="2B4196"/>
                </a:solidFill>
                <a:latin typeface="Arial" panose="020B0604020202020204" pitchFamily="34" charset="0"/>
                <a:ea typeface="Lato" panose="020F0502020204030203" pitchFamily="34" charset="0"/>
                <a:cs typeface="Arial" panose="020B0604020202020204" pitchFamily="34" charset="0"/>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rgbClr val="2B4196"/>
                </a:solidFill>
                <a:latin typeface="Arial" panose="020B0604020202020204" pitchFamily="34" charset="0"/>
                <a:ea typeface="Lato" panose="020F0502020204030203"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None/>
            </a:pPr>
            <a:r>
              <a:rPr lang="en-US" altLang="en-US" dirty="0">
                <a:ea typeface="Lato"/>
              </a:rPr>
              <a:t>1.3. BPMN 2.0 </a:t>
            </a:r>
            <a:r>
              <a:rPr lang="en-US" altLang="en-US" dirty="0" err="1">
                <a:ea typeface="Lato"/>
              </a:rPr>
              <a:t>là</a:t>
            </a:r>
            <a:r>
              <a:rPr lang="en-US" altLang="en-US" dirty="0">
                <a:ea typeface="Lato"/>
              </a:rPr>
              <a:t> </a:t>
            </a:r>
            <a:r>
              <a:rPr lang="en-US" altLang="en-US" dirty="0" err="1">
                <a:ea typeface="Lato"/>
              </a:rPr>
              <a:t>gì</a:t>
            </a:r>
            <a:r>
              <a:rPr lang="en-US" altLang="en-US" dirty="0">
                <a:ea typeface="Lato"/>
              </a:rPr>
              <a:t>?</a:t>
            </a:r>
          </a:p>
          <a:p>
            <a:pPr marL="0" indent="0" eaLnBrk="1" hangingPunct="1">
              <a:buNone/>
            </a:pPr>
            <a:endParaRPr lang="en-US" altLang="en-US" dirty="0">
              <a:ea typeface="Lato"/>
            </a:endParaRPr>
          </a:p>
        </p:txBody>
      </p:sp>
    </p:spTree>
    <p:extLst>
      <p:ext uri="{BB962C8B-B14F-4D97-AF65-F5344CB8AC3E}">
        <p14:creationId xmlns:p14="http://schemas.microsoft.com/office/powerpoint/2010/main" val="4156432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338138" y="1538013"/>
            <a:ext cx="11582400" cy="39346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 Là một phiên bản cải tiến hơn của BPMN, được ra đời năm 2011. Phiên bản mới nhất là 2.0.2, ra mắt vào năm 2014.</a:t>
            </a:r>
          </a:p>
          <a:p>
            <a:pPr marL="0" indent="0" eaLnBrk="1" hangingPunct="1">
              <a:buNone/>
            </a:pPr>
            <a:r>
              <a:rPr lang="vi-VN" altLang="en-US" dirty="0">
                <a:ea typeface="Lato"/>
              </a:rPr>
              <a:t>- Ngoài những tiện ích cơ bản từ phiên bản 1.0 đến 1.2 (VD: quy trình B2B, các loại sự kiện, hành động, …) ra, BPMN 2.0 còn có thêm các tính năng khác, chẳng hạn:</a:t>
            </a:r>
          </a:p>
          <a:p>
            <a:pPr marL="0" indent="0" eaLnBrk="1" hangingPunct="1">
              <a:buNone/>
            </a:pPr>
            <a:r>
              <a:rPr lang="vi-VN" altLang="en-US" dirty="0">
                <a:ea typeface="Lato"/>
              </a:rPr>
              <a:t>+ Các mô hình </a:t>
            </a:r>
            <a:r>
              <a:rPr lang="vi-VN" altLang="en-US" dirty="0" err="1">
                <a:ea typeface="Lato"/>
              </a:rPr>
              <a:t>choreography</a:t>
            </a:r>
            <a:r>
              <a:rPr lang="vi-VN" altLang="en-US" dirty="0">
                <a:ea typeface="Lato"/>
              </a:rPr>
              <a:t> (WS-</a:t>
            </a:r>
            <a:r>
              <a:rPr lang="vi-VN" altLang="en-US" dirty="0" err="1">
                <a:ea typeface="Lato"/>
              </a:rPr>
              <a:t>choreography</a:t>
            </a:r>
            <a:r>
              <a:rPr lang="vi-VN" altLang="en-US" dirty="0">
                <a:ea typeface="Lato"/>
              </a:rPr>
              <a:t>), </a:t>
            </a:r>
            <a:r>
              <a:rPr lang="vi-VN" altLang="en-US" dirty="0" err="1">
                <a:ea typeface="Lato"/>
              </a:rPr>
              <a:t>collab</a:t>
            </a:r>
            <a:r>
              <a:rPr lang="vi-VN" altLang="en-US" dirty="0">
                <a:ea typeface="Lato"/>
              </a:rPr>
              <a:t> và </a:t>
            </a:r>
            <a:r>
              <a:rPr lang="vi-VN" altLang="en-US" dirty="0" err="1">
                <a:ea typeface="Lato"/>
              </a:rPr>
              <a:t>conversation</a:t>
            </a:r>
            <a:endParaRPr lang="vi-VN" altLang="en-US" dirty="0">
              <a:ea typeface="Lato"/>
            </a:endParaRPr>
          </a:p>
          <a:p>
            <a:pPr marL="0" indent="0" eaLnBrk="1" hangingPunct="1">
              <a:buNone/>
            </a:pPr>
            <a:r>
              <a:rPr lang="vi-VN" altLang="en-US" dirty="0">
                <a:ea typeface="Lato"/>
              </a:rPr>
              <a:t>+ Các sự kiện được phân thành các lớp </a:t>
            </a:r>
            <a:r>
              <a:rPr lang="vi-VN" altLang="en-US" dirty="0" err="1">
                <a:ea typeface="Lato"/>
              </a:rPr>
              <a:t>top-level</a:t>
            </a:r>
            <a:r>
              <a:rPr lang="vi-VN" altLang="en-US" dirty="0">
                <a:ea typeface="Lato"/>
              </a:rPr>
              <a:t>, </a:t>
            </a:r>
            <a:r>
              <a:rPr lang="vi-VN" altLang="en-US" dirty="0" err="1">
                <a:ea typeface="Lato"/>
              </a:rPr>
              <a:t>interrupting</a:t>
            </a:r>
            <a:r>
              <a:rPr lang="vi-VN" altLang="en-US" dirty="0">
                <a:ea typeface="Lato"/>
              </a:rPr>
              <a:t>. non-</a:t>
            </a:r>
            <a:r>
              <a:rPr lang="vi-VN" altLang="en-US" dirty="0" err="1">
                <a:ea typeface="Lato"/>
              </a:rPr>
              <a:t>interrupting</a:t>
            </a:r>
            <a:r>
              <a:rPr lang="vi-VN" altLang="en-US" dirty="0">
                <a:ea typeface="Lato"/>
              </a:rPr>
              <a:t>,…</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8" name="Content Placeholder 2"/>
          <p:cNvSpPr txBox="1">
            <a:spLocks/>
          </p:cNvSpPr>
          <p:nvPr/>
        </p:nvSpPr>
        <p:spPr bwMode="auto">
          <a:xfrm>
            <a:off x="338139" y="973606"/>
            <a:ext cx="7268482" cy="5644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rgbClr val="2B4196"/>
                </a:solidFill>
                <a:latin typeface="Arial" panose="020B0604020202020204" pitchFamily="34" charset="0"/>
                <a:ea typeface="Lato" panose="020F0502020204030203" pitchFamily="34" charset="0"/>
                <a:cs typeface="Arial" panose="020B0604020202020204" pitchFamily="34" charset="0"/>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rgbClr val="2B4196"/>
                </a:solidFill>
                <a:latin typeface="Arial" panose="020B0604020202020204" pitchFamily="34" charset="0"/>
                <a:ea typeface="Lato" panose="020F0502020204030203" pitchFamily="34" charset="0"/>
                <a:cs typeface="Arial" panose="020B0604020202020204" pitchFamily="34" charset="0"/>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rgbClr val="2B4196"/>
                </a:solidFill>
                <a:latin typeface="Arial" panose="020B0604020202020204" pitchFamily="34" charset="0"/>
                <a:ea typeface="Lato" panose="020F0502020204030203" pitchFamily="34" charset="0"/>
                <a:cs typeface="Arial" panose="020B0604020202020204" pitchFamily="34" charset="0"/>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rgbClr val="2B4196"/>
                </a:solidFill>
                <a:latin typeface="Arial" panose="020B0604020202020204" pitchFamily="34" charset="0"/>
                <a:ea typeface="Lato" panose="020F0502020204030203" pitchFamily="34" charset="0"/>
                <a:cs typeface="Arial" panose="020B0604020202020204" pitchFamily="34" charset="0"/>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rgbClr val="2B4196"/>
                </a:solidFill>
                <a:latin typeface="Arial" panose="020B0604020202020204" pitchFamily="34" charset="0"/>
                <a:ea typeface="Lato" panose="020F0502020204030203"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None/>
            </a:pPr>
            <a:r>
              <a:rPr lang="en-US" altLang="en-US" dirty="0">
                <a:ea typeface="Lato"/>
              </a:rPr>
              <a:t>1.3. BPMN 2.0 </a:t>
            </a:r>
            <a:r>
              <a:rPr lang="en-US" altLang="en-US" dirty="0" err="1">
                <a:ea typeface="Lato"/>
              </a:rPr>
              <a:t>là</a:t>
            </a:r>
            <a:r>
              <a:rPr lang="en-US" altLang="en-US" dirty="0">
                <a:ea typeface="Lato"/>
              </a:rPr>
              <a:t> </a:t>
            </a:r>
            <a:r>
              <a:rPr lang="en-US" altLang="en-US" dirty="0" err="1">
                <a:ea typeface="Lato"/>
              </a:rPr>
              <a:t>gì</a:t>
            </a:r>
            <a:r>
              <a:rPr lang="en-US" altLang="en-US" dirty="0">
                <a:ea typeface="Lato"/>
              </a:rPr>
              <a:t>?</a:t>
            </a:r>
          </a:p>
          <a:p>
            <a:pPr marL="0" indent="0" eaLnBrk="1" hangingPunct="1">
              <a:buNone/>
            </a:pPr>
            <a:endParaRPr lang="en-US" altLang="en-US" dirty="0">
              <a:ea typeface="Lato"/>
            </a:endParaRPr>
          </a:p>
        </p:txBody>
      </p:sp>
    </p:spTree>
    <p:extLst>
      <p:ext uri="{BB962C8B-B14F-4D97-AF65-F5344CB8AC3E}">
        <p14:creationId xmlns:p14="http://schemas.microsoft.com/office/powerpoint/2010/main" val="139466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BPMN</a:t>
            </a:r>
            <a:endParaRPr lang="en-US" altLang="en-US" dirty="0">
              <a:ea typeface="Lato"/>
            </a:endParaRPr>
          </a:p>
        </p:txBody>
      </p:sp>
      <p:sp>
        <p:nvSpPr>
          <p:cNvPr id="13315" name="Content Placeholder 2"/>
          <p:cNvSpPr>
            <a:spLocks noGrp="1"/>
          </p:cNvSpPr>
          <p:nvPr>
            <p:ph sz="quarter" idx="13"/>
          </p:nvPr>
        </p:nvSpPr>
        <p:spPr bwMode="auto">
          <a:xfrm>
            <a:off x="271463" y="996837"/>
            <a:ext cx="11582400" cy="39346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 Các </a:t>
            </a:r>
            <a:r>
              <a:rPr lang="vi-VN" altLang="en-US" dirty="0" err="1">
                <a:ea typeface="Lato"/>
              </a:rPr>
              <a:t>choreography</a:t>
            </a:r>
            <a:r>
              <a:rPr lang="vi-VN" altLang="en-US" dirty="0">
                <a:ea typeface="Lato"/>
              </a:rPr>
              <a:t> </a:t>
            </a:r>
            <a:r>
              <a:rPr lang="vi-VN" altLang="en-US" dirty="0" err="1">
                <a:ea typeface="Lato"/>
              </a:rPr>
              <a:t>task</a:t>
            </a:r>
            <a:r>
              <a:rPr lang="vi-VN" altLang="en-US" dirty="0">
                <a:ea typeface="Lato"/>
              </a:rPr>
              <a:t> (tác vụ phụ) được thêm vào</a:t>
            </a:r>
          </a:p>
          <a:p>
            <a:pPr marL="0" indent="0" eaLnBrk="1" hangingPunct="1">
              <a:buNone/>
            </a:pPr>
            <a:r>
              <a:rPr lang="vi-VN" altLang="en-US" dirty="0">
                <a:ea typeface="Lato"/>
              </a:rPr>
              <a:t>+ Các cổng XOR, OR, AND được đổi tên thành </a:t>
            </a:r>
            <a:r>
              <a:rPr lang="vi-VN" altLang="en-US" dirty="0" err="1">
                <a:ea typeface="Lato"/>
              </a:rPr>
              <a:t>exclusive</a:t>
            </a:r>
            <a:r>
              <a:rPr lang="vi-VN" altLang="en-US" dirty="0">
                <a:ea typeface="Lato"/>
              </a:rPr>
              <a:t>, </a:t>
            </a:r>
            <a:r>
              <a:rPr lang="vi-VN" altLang="en-US" dirty="0" err="1">
                <a:ea typeface="Lato"/>
              </a:rPr>
              <a:t>inclusive</a:t>
            </a:r>
            <a:r>
              <a:rPr lang="vi-VN" altLang="en-US" dirty="0">
                <a:ea typeface="Lato"/>
              </a:rPr>
              <a:t>, </a:t>
            </a:r>
            <a:r>
              <a:rPr lang="vi-VN" altLang="en-US" dirty="0" err="1">
                <a:ea typeface="Lato"/>
              </a:rPr>
              <a:t>and</a:t>
            </a:r>
            <a:r>
              <a:rPr lang="vi-VN" altLang="en-US" dirty="0">
                <a:ea typeface="Lato"/>
              </a:rPr>
              <a:t>.</a:t>
            </a:r>
          </a:p>
          <a:p>
            <a:pPr marL="0" indent="0" eaLnBrk="1" hangingPunct="1">
              <a:buNone/>
            </a:pPr>
            <a:r>
              <a:rPr lang="vi-VN" altLang="en-US" dirty="0">
                <a:ea typeface="Lato"/>
              </a:rPr>
              <a:t>+ Các vật thể dữ liệu được chia thành các phần nhỏ hơn (tập dữ liệu, I/O)</a:t>
            </a:r>
          </a:p>
          <a:p>
            <a:pPr marL="0" indent="0" eaLnBrk="1" hangingPunct="1">
              <a:buNone/>
            </a:pPr>
            <a:r>
              <a:rPr lang="vi-VN" altLang="en-US" dirty="0">
                <a:ea typeface="Lato"/>
              </a:rPr>
              <a:t>+ …</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2" name="Picture 3" descr="A diagram of a business process model and notation&#10;&#10;Description automatically generated">
            <a:extLst>
              <a:ext uri="{FF2B5EF4-FFF2-40B4-BE49-F238E27FC236}">
                <a16:creationId xmlns:a16="http://schemas.microsoft.com/office/drawing/2014/main" id="{32EADA10-3A7E-D840-8407-63647AE9DC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25620" y="2964178"/>
            <a:ext cx="5943600" cy="3344947"/>
          </a:xfrm>
          <a:prstGeom prst="rect">
            <a:avLst/>
          </a:prstGeom>
          <a:noFill/>
          <a:ln>
            <a:noFill/>
          </a:ln>
        </p:spPr>
      </p:pic>
    </p:spTree>
    <p:extLst>
      <p:ext uri="{BB962C8B-B14F-4D97-AF65-F5344CB8AC3E}">
        <p14:creationId xmlns:p14="http://schemas.microsoft.com/office/powerpoint/2010/main" val="3509296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a:t>
            </a:r>
            <a:r>
              <a:rPr lang="en-US" altLang="en-US" dirty="0" err="1">
                <a:ea typeface="Lato"/>
              </a:rPr>
              <a:t>công</a:t>
            </a:r>
            <a:r>
              <a:rPr lang="en-US" altLang="en-US" dirty="0">
                <a:ea typeface="Lato"/>
              </a:rPr>
              <a:t> </a:t>
            </a:r>
            <a:r>
              <a:rPr lang="en-US" altLang="en-US" dirty="0" err="1">
                <a:ea typeface="Lato"/>
              </a:rPr>
              <a:t>cụ</a:t>
            </a:r>
            <a:r>
              <a:rPr lang="en-US" altLang="en-US" dirty="0">
                <a:ea typeface="Lato"/>
              </a:rPr>
              <a:t> </a:t>
            </a:r>
            <a:r>
              <a:rPr lang="en-US" altLang="en-US" dirty="0" err="1">
                <a:ea typeface="Lato"/>
              </a:rPr>
              <a:t>draw.io</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 Tên gọi hiện tại: diagrams.net</a:t>
            </a:r>
          </a:p>
          <a:p>
            <a:pPr marL="0" indent="0" eaLnBrk="1" hangingPunct="1">
              <a:buNone/>
            </a:pPr>
            <a:r>
              <a:rPr lang="vi-VN" altLang="en-US" dirty="0">
                <a:ea typeface="Lato"/>
              </a:rPr>
              <a:t>- Là một phần mềm vẽ biểu đồ đa nền tảng được phát triển trên HTML5 và </a:t>
            </a:r>
            <a:r>
              <a:rPr lang="vi-VN" altLang="en-US" dirty="0" err="1">
                <a:ea typeface="Lato"/>
              </a:rPr>
              <a:t>JavaScript</a:t>
            </a:r>
            <a:r>
              <a:rPr lang="vi-VN" altLang="en-US" dirty="0">
                <a:ea typeface="Lato"/>
              </a:rPr>
              <a:t>, và có thể sử dụng trên trang </a:t>
            </a:r>
            <a:r>
              <a:rPr lang="vi-VN" altLang="en-US" dirty="0" err="1">
                <a:ea typeface="Lato"/>
              </a:rPr>
              <a:t>web</a:t>
            </a:r>
            <a:r>
              <a:rPr lang="vi-VN" altLang="en-US" dirty="0">
                <a:ea typeface="Lato"/>
              </a:rPr>
              <a:t> trên PC, điện thoại.</a:t>
            </a:r>
          </a:p>
          <a:p>
            <a:pPr marL="0" indent="0" eaLnBrk="1" hangingPunct="1">
              <a:buNone/>
            </a:pPr>
            <a:r>
              <a:rPr lang="vi-VN" altLang="en-US" dirty="0">
                <a:ea typeface="Lato"/>
              </a:rPr>
              <a:t>- Được dùng để tạo các biểu đồ, ví dụ như UML, </a:t>
            </a:r>
            <a:r>
              <a:rPr lang="vi-VN" altLang="en-US" dirty="0" err="1">
                <a:ea typeface="Lato"/>
              </a:rPr>
              <a:t>Crow’s</a:t>
            </a:r>
            <a:r>
              <a:rPr lang="vi-VN" altLang="en-US" dirty="0">
                <a:ea typeface="Lato"/>
              </a:rPr>
              <a:t> </a:t>
            </a:r>
            <a:r>
              <a:rPr lang="vi-VN" altLang="en-US" dirty="0" err="1">
                <a:ea typeface="Lato"/>
              </a:rPr>
              <a:t>Foot</a:t>
            </a:r>
            <a:r>
              <a:rPr lang="vi-VN" altLang="en-US" dirty="0">
                <a:ea typeface="Lato"/>
              </a:rPr>
              <a:t> (cho CSDL), biểu đồ tổ chức, mạng máy tính, … Thậm chí là sơ đồ đơn giản.</a:t>
            </a:r>
          </a:p>
          <a:p>
            <a:pPr marL="0" indent="0" eaLnBrk="1" hangingPunct="1">
              <a:buNone/>
            </a:pPr>
            <a:r>
              <a:rPr lang="vi-VN" altLang="en-US" dirty="0">
                <a:ea typeface="Lato"/>
              </a:rPr>
              <a:t>- Chúng có thể được lưu dưới dạng PNG, JPEG, SVG và PDF.</a:t>
            </a:r>
          </a:p>
          <a:p>
            <a:pPr marL="0" indent="0" eaLnBrk="1" hangingPunct="1">
              <a:buNone/>
            </a:pPr>
            <a:r>
              <a:rPr lang="vi-VN" altLang="en-US" dirty="0">
                <a:ea typeface="Lato"/>
              </a:rPr>
              <a:t>- Có cung cấp các công cụ để vẽ các biểu đồ, như BPMN, CSDL,…</a:t>
            </a:r>
          </a:p>
          <a:p>
            <a:pPr marL="0" indent="0" eaLnBrk="1" hangingPunct="1">
              <a:buNone/>
            </a:pPr>
            <a:r>
              <a:rPr lang="vi-VN" altLang="en-US" dirty="0">
                <a:ea typeface="Lato"/>
              </a:rPr>
              <a:t>- Draw.io được tích hợp với nhiều dịch vụ lưu trữ đám mây như </a:t>
            </a:r>
            <a:r>
              <a:rPr lang="vi-VN" altLang="en-US" dirty="0" err="1">
                <a:ea typeface="Lato"/>
              </a:rPr>
              <a:t>Google</a:t>
            </a:r>
            <a:r>
              <a:rPr lang="vi-VN" altLang="en-US" dirty="0">
                <a:ea typeface="Lato"/>
              </a:rPr>
              <a:t> </a:t>
            </a:r>
            <a:r>
              <a:rPr lang="vi-VN" altLang="en-US" dirty="0" err="1">
                <a:ea typeface="Lato"/>
              </a:rPr>
              <a:t>Drive</a:t>
            </a:r>
            <a:r>
              <a:rPr lang="vi-VN" altLang="en-US" dirty="0">
                <a:ea typeface="Lato"/>
              </a:rPr>
              <a:t>, </a:t>
            </a:r>
            <a:r>
              <a:rPr lang="vi-VN" altLang="en-US" dirty="0" err="1">
                <a:ea typeface="Lato"/>
              </a:rPr>
              <a:t>OneDrive</a:t>
            </a:r>
            <a:r>
              <a:rPr lang="vi-VN" altLang="en-US" dirty="0">
                <a:ea typeface="Lato"/>
              </a:rPr>
              <a:t> và </a:t>
            </a:r>
            <a:r>
              <a:rPr lang="vi-VN" altLang="en-US" dirty="0" err="1">
                <a:ea typeface="Lato"/>
              </a:rPr>
              <a:t>Dropbox</a:t>
            </a:r>
            <a:r>
              <a:rPr lang="vi-VN" altLang="en-US" dirty="0">
                <a:ea typeface="Lato"/>
              </a:rPr>
              <a:t>, cho phép người dùng lưu trữ và chia sẻ biểu đồ một cách thuận tiện.</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292097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Vẽ</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BPMN</a:t>
            </a:r>
            <a:r>
              <a:rPr lang="en-US" altLang="en-US" dirty="0">
                <a:ea typeface="Lato"/>
              </a:rPr>
              <a:t>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2" name="Chỗ dành sẵn cho Nội dung 1">
            <a:extLst>
              <a:ext uri="{FF2B5EF4-FFF2-40B4-BE49-F238E27FC236}">
                <a16:creationId xmlns:a16="http://schemas.microsoft.com/office/drawing/2014/main" id="{FD8A657E-4539-BECC-084B-D796D1ED6FFD}"/>
              </a:ext>
            </a:extLst>
          </p:cNvPr>
          <p:cNvSpPr>
            <a:spLocks noGrp="1"/>
          </p:cNvSpPr>
          <p:nvPr>
            <p:ph sz="quarter" idx="13"/>
          </p:nvPr>
        </p:nvSpPr>
        <p:spPr/>
        <p:txBody>
          <a:bodyPr/>
          <a:lstStyle/>
          <a:p>
            <a:endParaRPr lang="vi-VN"/>
          </a:p>
        </p:txBody>
      </p:sp>
      <p:pic>
        <p:nvPicPr>
          <p:cNvPr id="3" name="Hình ảnh 2" descr="Ảnh có chứa văn bản, ảnh chụp màn hình, Phông chữ, thiết kế&#10;&#10;Mô tả được tạo tự động">
            <a:extLst>
              <a:ext uri="{FF2B5EF4-FFF2-40B4-BE49-F238E27FC236}">
                <a16:creationId xmlns:a16="http://schemas.microsoft.com/office/drawing/2014/main" id="{86EC8842-F6FA-A0A7-E9AB-E17F4C448F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88488" y="1040882"/>
            <a:ext cx="3825292" cy="5313129"/>
          </a:xfrm>
          <a:prstGeom prst="rect">
            <a:avLst/>
          </a:prstGeom>
          <a:noFill/>
          <a:ln>
            <a:noFill/>
          </a:ln>
        </p:spPr>
      </p:pic>
    </p:spTree>
    <p:extLst>
      <p:ext uri="{BB962C8B-B14F-4D97-AF65-F5344CB8AC3E}">
        <p14:creationId xmlns:p14="http://schemas.microsoft.com/office/powerpoint/2010/main" val="3456495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Vẽ</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BPMN</a:t>
            </a:r>
            <a:r>
              <a:rPr lang="en-US" altLang="en-US" dirty="0">
                <a:ea typeface="Lato"/>
              </a:rPr>
              <a:t>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BPMN</a:t>
            </a:r>
            <a:r>
              <a:rPr lang="en-US" altLang="en-US" dirty="0">
                <a:ea typeface="Lato"/>
              </a:rPr>
              <a:t>:</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3" name="Hình ảnh 2" descr="Ảnh có chứa văn bản, ảnh chụp màn hình, biểu đồ, màn hình&#10;&#10;Mô tả được tạo tự động">
            <a:extLst>
              <a:ext uri="{FF2B5EF4-FFF2-40B4-BE49-F238E27FC236}">
                <a16:creationId xmlns:a16="http://schemas.microsoft.com/office/drawing/2014/main" id="{B3C0B19E-027F-0CBB-050D-CE467BFA62CA}"/>
              </a:ext>
            </a:extLst>
          </p:cNvPr>
          <p:cNvPicPr>
            <a:picLocks noChangeAspect="1"/>
          </p:cNvPicPr>
          <p:nvPr/>
        </p:nvPicPr>
        <p:blipFill>
          <a:blip r:embed="rId2"/>
          <a:stretch>
            <a:fillRect/>
          </a:stretch>
        </p:blipFill>
        <p:spPr>
          <a:xfrm>
            <a:off x="1052804" y="1829467"/>
            <a:ext cx="10319931" cy="4226100"/>
          </a:xfrm>
          <a:prstGeom prst="rect">
            <a:avLst/>
          </a:prstGeom>
        </p:spPr>
      </p:pic>
    </p:spTree>
    <p:extLst>
      <p:ext uri="{BB962C8B-B14F-4D97-AF65-F5344CB8AC3E}">
        <p14:creationId xmlns:p14="http://schemas.microsoft.com/office/powerpoint/2010/main" val="841746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sz="quarter" idx="13"/>
          </p:nvPr>
        </p:nvSpPr>
        <p:spPr bwMode="auto">
          <a:xfrm>
            <a:off x="4697413" y="1247775"/>
            <a:ext cx="7251700" cy="5205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US" altLang="en-US" dirty="0" err="1">
                <a:ea typeface="Lato"/>
              </a:rPr>
              <a:t>Nhiệm</a:t>
            </a:r>
            <a:r>
              <a:rPr lang="en-US" altLang="en-US" dirty="0">
                <a:ea typeface="Lato"/>
              </a:rPr>
              <a:t> </a:t>
            </a:r>
            <a:r>
              <a:rPr lang="en-US" altLang="en-US" dirty="0" err="1">
                <a:ea typeface="Lato"/>
              </a:rPr>
              <a:t>vụ</a:t>
            </a:r>
            <a:r>
              <a:rPr lang="en-US" altLang="en-US" dirty="0">
                <a:ea typeface="Lato"/>
              </a:rPr>
              <a:t>:</a:t>
            </a:r>
          </a:p>
          <a:p>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UML 2,0, </a:t>
            </a:r>
            <a:r>
              <a:rPr lang="en-US" altLang="en-US" dirty="0" err="1">
                <a:ea typeface="Lato"/>
              </a:rPr>
              <a:t>công</a:t>
            </a:r>
            <a:r>
              <a:rPr lang="en-US" altLang="en-US" dirty="0">
                <a:ea typeface="Lato"/>
              </a:rPr>
              <a:t> </a:t>
            </a:r>
            <a:r>
              <a:rPr lang="en-US" altLang="en-US" dirty="0" err="1">
                <a:ea typeface="Lato"/>
              </a:rPr>
              <a:t>cụ</a:t>
            </a:r>
            <a:r>
              <a:rPr lang="en-US" altLang="en-US" dirty="0">
                <a:ea typeface="Lato"/>
              </a:rPr>
              <a:t> Visual </a:t>
            </a:r>
            <a:r>
              <a:rPr lang="en-US" altLang="en-US" dirty="0" err="1">
                <a:ea typeface="Lato"/>
              </a:rPr>
              <a:t>Paradism</a:t>
            </a:r>
            <a:r>
              <a:rPr lang="en-US" altLang="en-US" dirty="0">
                <a:ea typeface="Lato"/>
              </a:rPr>
              <a:t> </a:t>
            </a:r>
            <a:r>
              <a:rPr lang="en-US" altLang="en-US" dirty="0" err="1">
                <a:ea typeface="Lato"/>
              </a:rPr>
              <a:t>cho</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UseCase</a:t>
            </a:r>
            <a:r>
              <a:rPr lang="en-US" altLang="en-US" dirty="0">
                <a:ea typeface="Lato"/>
              </a:rPr>
              <a:t>. Cho </a:t>
            </a:r>
            <a:r>
              <a:rPr lang="en-US" altLang="en-US" dirty="0" err="1">
                <a:ea typeface="Lato"/>
              </a:rPr>
              <a:t>ví</a:t>
            </a:r>
            <a:r>
              <a:rPr lang="en-US" altLang="en-US" dirty="0">
                <a:ea typeface="Lato"/>
              </a:rPr>
              <a:t> </a:t>
            </a:r>
            <a:r>
              <a:rPr lang="en-US" altLang="en-US" dirty="0" err="1">
                <a:ea typeface="Lato"/>
              </a:rPr>
              <a:t>dụ</a:t>
            </a:r>
            <a:r>
              <a:rPr lang="en-US" altLang="en-US" dirty="0">
                <a:ea typeface="Lato"/>
              </a:rPr>
              <a:t> minh </a:t>
            </a:r>
            <a:r>
              <a:rPr lang="en-US" altLang="en-US" dirty="0" err="1">
                <a:ea typeface="Lato"/>
              </a:rPr>
              <a:t>họa</a:t>
            </a:r>
            <a:r>
              <a:rPr lang="en-US" altLang="en-US" dirty="0">
                <a:ea typeface="Lato"/>
              </a:rPr>
              <a:t> </a:t>
            </a:r>
            <a:r>
              <a:rPr lang="en-US" altLang="en-US" dirty="0" err="1">
                <a:ea typeface="Lato"/>
              </a:rPr>
              <a:t>bất</a:t>
            </a:r>
            <a:r>
              <a:rPr lang="en-US" altLang="en-US" dirty="0">
                <a:ea typeface="Lato"/>
              </a:rPr>
              <a:t> </a:t>
            </a:r>
            <a:r>
              <a:rPr lang="en-US" altLang="en-US" dirty="0" err="1">
                <a:ea typeface="Lato"/>
              </a:rPr>
              <a:t>kỳ</a:t>
            </a:r>
            <a:r>
              <a:rPr lang="en-US" altLang="en-US" dirty="0">
                <a:ea typeface="Lato"/>
              </a:rPr>
              <a:t>.</a:t>
            </a:r>
          </a:p>
          <a:p>
            <a:r>
              <a:rPr lang="en-US" altLang="en-US" dirty="0" err="1">
                <a:ea typeface="Lato"/>
              </a:rPr>
              <a:t>Vẽ</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UseCase</a:t>
            </a:r>
            <a:r>
              <a:rPr lang="en-US" altLang="en-US" dirty="0">
                <a:ea typeface="Lato"/>
              </a:rPr>
              <a:t>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r>
              <a:rPr lang="en-US" altLang="en-US" dirty="0">
                <a:ea typeface="Lato"/>
              </a:rPr>
              <a:t>.</a:t>
            </a:r>
          </a:p>
          <a:p>
            <a:endParaRPr lang="en-US" altLang="en-US" dirty="0">
              <a:ea typeface="Lato"/>
            </a:endParaRPr>
          </a:p>
        </p:txBody>
      </p:sp>
      <p:sp>
        <p:nvSpPr>
          <p:cNvPr id="17411" name="Title 2"/>
          <p:cNvSpPr>
            <a:spLocks noGrp="1"/>
          </p:cNvSpPr>
          <p:nvPr>
            <p:ph type="title"/>
          </p:nvPr>
        </p:nvSpPr>
        <p:spPr bwMode="auto">
          <a:xfrm>
            <a:off x="4697413" y="93307"/>
            <a:ext cx="7251700" cy="7464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4400" dirty="0" err="1">
                <a:ea typeface="Lato"/>
              </a:rPr>
              <a:t>BÀI</a:t>
            </a:r>
            <a:r>
              <a:rPr lang="en-US" altLang="en-US" sz="4400" dirty="0">
                <a:ea typeface="Lato"/>
              </a:rPr>
              <a:t> </a:t>
            </a:r>
            <a:r>
              <a:rPr lang="en-US" altLang="en-US" sz="4400" dirty="0" err="1">
                <a:ea typeface="Lato"/>
              </a:rPr>
              <a:t>TIỂU</a:t>
            </a:r>
            <a:r>
              <a:rPr lang="en-US" altLang="en-US" sz="4400" dirty="0">
                <a:ea typeface="Lato"/>
              </a:rPr>
              <a:t> </a:t>
            </a:r>
            <a:r>
              <a:rPr lang="en-US" altLang="en-US" sz="4400" dirty="0" err="1">
                <a:ea typeface="Lato"/>
              </a:rPr>
              <a:t>LUẬN</a:t>
            </a:r>
            <a:r>
              <a:rPr lang="en-US" altLang="en-US" sz="4400" dirty="0">
                <a:ea typeface="Lato"/>
              </a:rPr>
              <a:t> </a:t>
            </a:r>
            <a:r>
              <a:rPr lang="en-US" altLang="en-US" sz="4400" dirty="0" err="1">
                <a:ea typeface="Lato"/>
              </a:rPr>
              <a:t>SỐ</a:t>
            </a:r>
            <a:r>
              <a:rPr lang="en-US" altLang="en-US" sz="4400" dirty="0">
                <a:ea typeface="Lato"/>
              </a:rPr>
              <a:t> 3</a:t>
            </a:r>
          </a:p>
        </p:txBody>
      </p:sp>
      <p:sp>
        <p:nvSpPr>
          <p:cNvPr id="4" name="Slide Number Placeholder 3"/>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21E2E5-C906-4F0C-84C9-99E42D1D2416}" type="slidenum">
              <a:rPr kumimoji="0" lang="en-US" sz="1000" b="0" i="0" u="none" strike="noStrike" kern="1200" cap="none" spc="0" normalizeH="0" baseline="0" noProof="0" smtClean="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8473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UML </a:t>
            </a:r>
            <a:r>
              <a:rPr lang="en-US" altLang="en-US" dirty="0" err="1">
                <a:ea typeface="Lato"/>
              </a:rPr>
              <a:t>và</a:t>
            </a:r>
            <a:r>
              <a:rPr lang="en-US" altLang="en-US" dirty="0">
                <a:ea typeface="Lato"/>
              </a:rPr>
              <a:t> Visual Paradigm</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1.1. UML</a:t>
            </a:r>
          </a:p>
          <a:p>
            <a:pPr marL="0" indent="0" eaLnBrk="1" hangingPunct="1">
              <a:buNone/>
            </a:pPr>
            <a:r>
              <a:rPr lang="en-US" altLang="en-US" dirty="0">
                <a:ea typeface="Lato"/>
              </a:rPr>
              <a:t>- UML (Unified Modeling Language) </a:t>
            </a:r>
            <a:r>
              <a:rPr lang="en-US" altLang="en-US" dirty="0" err="1">
                <a:ea typeface="Lato"/>
              </a:rPr>
              <a:t>là</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ngôn</a:t>
            </a:r>
            <a:r>
              <a:rPr lang="en-US" altLang="en-US" dirty="0">
                <a:ea typeface="Lato"/>
              </a:rPr>
              <a:t> </a:t>
            </a:r>
            <a:r>
              <a:rPr lang="en-US" altLang="en-US" dirty="0" err="1">
                <a:ea typeface="Lato"/>
              </a:rPr>
              <a:t>ngữ</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hóa</a:t>
            </a:r>
            <a:r>
              <a:rPr lang="en-US" altLang="en-US" dirty="0">
                <a:ea typeface="Lato"/>
              </a:rPr>
              <a:t> </a:t>
            </a:r>
            <a:r>
              <a:rPr lang="en-US" altLang="en-US" dirty="0" err="1">
                <a:ea typeface="Lato"/>
              </a:rPr>
              <a:t>được</a:t>
            </a:r>
            <a:r>
              <a:rPr lang="en-US" altLang="en-US" dirty="0">
                <a:ea typeface="Lato"/>
              </a:rPr>
              <a:t> </a:t>
            </a:r>
            <a:r>
              <a:rPr lang="en-US" altLang="en-US" dirty="0" err="1">
                <a:ea typeface="Lato"/>
              </a:rPr>
              <a:t>sử</a:t>
            </a:r>
            <a:r>
              <a:rPr lang="en-US" altLang="en-US" dirty="0">
                <a:ea typeface="Lato"/>
              </a:rPr>
              <a:t> </a:t>
            </a:r>
            <a:r>
              <a:rPr lang="en-US" altLang="en-US" dirty="0" err="1">
                <a:ea typeface="Lato"/>
              </a:rPr>
              <a:t>dụng</a:t>
            </a:r>
            <a:r>
              <a:rPr lang="en-US" altLang="en-US" dirty="0">
                <a:ea typeface="Lato"/>
              </a:rPr>
              <a:t> </a:t>
            </a:r>
            <a:r>
              <a:rPr lang="en-US" altLang="en-US" dirty="0" err="1">
                <a:ea typeface="Lato"/>
              </a:rPr>
              <a:t>phổ</a:t>
            </a:r>
            <a:r>
              <a:rPr lang="en-US" altLang="en-US" dirty="0">
                <a:ea typeface="Lato"/>
              </a:rPr>
              <a:t> </a:t>
            </a:r>
            <a:r>
              <a:rPr lang="en-US" altLang="en-US" dirty="0" err="1">
                <a:ea typeface="Lato"/>
              </a:rPr>
              <a:t>biến</a:t>
            </a:r>
            <a:r>
              <a:rPr lang="en-US" altLang="en-US" dirty="0">
                <a:ea typeface="Lato"/>
              </a:rPr>
              <a:t> </a:t>
            </a:r>
            <a:r>
              <a:rPr lang="en-US" altLang="en-US" dirty="0" err="1">
                <a:ea typeface="Lato"/>
              </a:rPr>
              <a:t>trong</a:t>
            </a:r>
            <a:r>
              <a:rPr lang="en-US" altLang="en-US" dirty="0">
                <a:ea typeface="Lato"/>
              </a:rPr>
              <a:t> </a:t>
            </a:r>
            <a:r>
              <a:rPr lang="en-US" altLang="en-US" dirty="0" err="1">
                <a:ea typeface="Lato"/>
              </a:rPr>
              <a:t>lĩnh</a:t>
            </a:r>
            <a:r>
              <a:rPr lang="en-US" altLang="en-US" dirty="0">
                <a:ea typeface="Lato"/>
              </a:rPr>
              <a:t> </a:t>
            </a:r>
            <a:r>
              <a:rPr lang="en-US" altLang="en-US" dirty="0" err="1">
                <a:ea typeface="Lato"/>
              </a:rPr>
              <a:t>vực</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UML 2.0 </a:t>
            </a:r>
            <a:r>
              <a:rPr lang="en-US" altLang="en-US" dirty="0" err="1">
                <a:ea typeface="Lato"/>
              </a:rPr>
              <a:t>là</a:t>
            </a:r>
            <a:r>
              <a:rPr lang="en-US" altLang="en-US" dirty="0">
                <a:ea typeface="Lato"/>
              </a:rPr>
              <a:t> </a:t>
            </a:r>
            <a:r>
              <a:rPr lang="en-US" altLang="en-US" dirty="0" err="1">
                <a:ea typeface="Lato"/>
              </a:rPr>
              <a:t>bản</a:t>
            </a:r>
            <a:r>
              <a:rPr lang="en-US" altLang="en-US" dirty="0">
                <a:ea typeface="Lato"/>
              </a:rPr>
              <a:t> </a:t>
            </a:r>
            <a:r>
              <a:rPr lang="en-US" altLang="en-US" dirty="0" err="1">
                <a:ea typeface="Lato"/>
              </a:rPr>
              <a:t>nâng</a:t>
            </a:r>
            <a:r>
              <a:rPr lang="en-US" altLang="en-US" dirty="0">
                <a:ea typeface="Lato"/>
              </a:rPr>
              <a:t> </a:t>
            </a:r>
            <a:r>
              <a:rPr lang="en-US" altLang="en-US" dirty="0" err="1">
                <a:ea typeface="Lato"/>
              </a:rPr>
              <a:t>cấp</a:t>
            </a:r>
            <a:r>
              <a:rPr lang="en-US" altLang="en-US" dirty="0">
                <a:ea typeface="Lato"/>
              </a:rPr>
              <a:t> </a:t>
            </a:r>
            <a:r>
              <a:rPr lang="en-US" altLang="en-US" dirty="0" err="1">
                <a:ea typeface="Lato"/>
              </a:rPr>
              <a:t>của</a:t>
            </a:r>
            <a:r>
              <a:rPr lang="en-US" altLang="en-US" dirty="0">
                <a:ea typeface="Lato"/>
              </a:rPr>
              <a:t> UML </a:t>
            </a:r>
            <a:r>
              <a:rPr lang="en-US" altLang="en-US" dirty="0" err="1">
                <a:ea typeface="Lato"/>
              </a:rPr>
              <a:t>với</a:t>
            </a:r>
            <a:r>
              <a:rPr lang="en-US" altLang="en-US" dirty="0">
                <a:ea typeface="Lato"/>
              </a:rPr>
              <a:t> </a:t>
            </a:r>
            <a:r>
              <a:rPr lang="en-US" altLang="en-US" dirty="0" err="1">
                <a:ea typeface="Lato"/>
              </a:rPr>
              <a:t>nhiều</a:t>
            </a:r>
            <a:r>
              <a:rPr lang="en-US" altLang="en-US" dirty="0">
                <a:ea typeface="Lato"/>
              </a:rPr>
              <a:t> </a:t>
            </a:r>
            <a:r>
              <a:rPr lang="en-US" altLang="en-US" dirty="0" err="1">
                <a:ea typeface="Lato"/>
              </a:rPr>
              <a:t>khái</a:t>
            </a:r>
            <a:r>
              <a:rPr lang="en-US" altLang="en-US" dirty="0">
                <a:ea typeface="Lato"/>
              </a:rPr>
              <a:t> </a:t>
            </a:r>
            <a:r>
              <a:rPr lang="en-US" altLang="en-US" dirty="0" err="1">
                <a:ea typeface="Lato"/>
              </a:rPr>
              <a:t>niệm</a:t>
            </a:r>
            <a:r>
              <a:rPr lang="en-US" altLang="en-US" dirty="0">
                <a:ea typeface="Lato"/>
              </a:rPr>
              <a:t> </a:t>
            </a:r>
            <a:r>
              <a:rPr lang="en-US" altLang="en-US" dirty="0" err="1">
                <a:ea typeface="Lato"/>
              </a:rPr>
              <a:t>và</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định</a:t>
            </a:r>
            <a:r>
              <a:rPr lang="en-US" altLang="en-US" dirty="0">
                <a:ea typeface="Lato"/>
              </a:rPr>
              <a:t> </a:t>
            </a:r>
            <a:r>
              <a:rPr lang="en-US" altLang="en-US" dirty="0" err="1">
                <a:ea typeface="Lato"/>
              </a:rPr>
              <a:t>dạng</a:t>
            </a:r>
            <a:r>
              <a:rPr lang="en-US" altLang="en-US" dirty="0">
                <a:ea typeface="Lato"/>
              </a:rPr>
              <a:t> </a:t>
            </a:r>
            <a:r>
              <a:rPr lang="en-US" altLang="en-US" dirty="0" err="1">
                <a:ea typeface="Lato"/>
              </a:rPr>
              <a:t>mới</a:t>
            </a:r>
            <a:r>
              <a:rPr lang="en-US" altLang="en-US" dirty="0">
                <a:ea typeface="Lato"/>
              </a:rPr>
              <a:t> </a:t>
            </a:r>
            <a:r>
              <a:rPr lang="en-US" altLang="en-US" dirty="0" err="1">
                <a:ea typeface="Lato"/>
              </a:rPr>
              <a:t>cho</a:t>
            </a:r>
            <a:r>
              <a:rPr lang="en-US" altLang="en-US" dirty="0">
                <a:ea typeface="Lato"/>
              </a:rPr>
              <a:t> </a:t>
            </a:r>
            <a:r>
              <a:rPr lang="en-US" altLang="en-US" dirty="0" err="1">
                <a:ea typeface="Lato"/>
              </a:rPr>
              <a:t>việc</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hóa</a:t>
            </a:r>
            <a:r>
              <a:rPr lang="en-US" altLang="en-US" dirty="0">
                <a:ea typeface="Lato"/>
              </a:rPr>
              <a:t> </a:t>
            </a:r>
            <a:r>
              <a:rPr lang="en-US" altLang="en-US" dirty="0" err="1">
                <a:ea typeface="Lato"/>
              </a:rPr>
              <a:t>hệ</a:t>
            </a:r>
            <a:r>
              <a:rPr lang="en-US" altLang="en-US" dirty="0">
                <a:ea typeface="Lato"/>
              </a:rPr>
              <a:t> </a:t>
            </a:r>
            <a:r>
              <a:rPr lang="en-US" altLang="en-US" dirty="0" err="1">
                <a:ea typeface="Lato"/>
              </a:rPr>
              <a:t>thống</a:t>
            </a:r>
            <a:r>
              <a:rPr lang="en-US" altLang="en-US" dirty="0">
                <a:ea typeface="Lato"/>
              </a:rPr>
              <a:t>.</a:t>
            </a:r>
          </a:p>
          <a:p>
            <a:pPr marL="0" indent="0" eaLnBrk="1" hangingPunct="1">
              <a:buNone/>
            </a:pPr>
            <a:r>
              <a:rPr lang="en-US" altLang="en-US" dirty="0">
                <a:ea typeface="Lato"/>
              </a:rPr>
              <a:t>- </a:t>
            </a:r>
            <a:r>
              <a:rPr lang="en-US" altLang="en-US" dirty="0" err="1">
                <a:ea typeface="Lato"/>
              </a:rPr>
              <a:t>Mục</a:t>
            </a:r>
            <a:r>
              <a:rPr lang="en-US" altLang="en-US" dirty="0">
                <a:ea typeface="Lato"/>
              </a:rPr>
              <a:t> </a:t>
            </a:r>
            <a:r>
              <a:rPr lang="en-US" altLang="en-US" dirty="0" err="1">
                <a:ea typeface="Lato"/>
              </a:rPr>
              <a:t>đích</a:t>
            </a:r>
            <a:r>
              <a:rPr lang="en-US" altLang="en-US" dirty="0">
                <a:ea typeface="Lato"/>
              </a:rPr>
              <a:t> </a:t>
            </a:r>
            <a:r>
              <a:rPr lang="en-US" altLang="en-US" dirty="0" err="1">
                <a:ea typeface="Lato"/>
              </a:rPr>
              <a:t>của</a:t>
            </a:r>
            <a:r>
              <a:rPr lang="en-US" altLang="en-US" dirty="0">
                <a:ea typeface="Lato"/>
              </a:rPr>
              <a:t> UML 2.0 </a:t>
            </a:r>
            <a:r>
              <a:rPr lang="en-US" altLang="en-US" dirty="0" err="1">
                <a:ea typeface="Lato"/>
              </a:rPr>
              <a:t>là</a:t>
            </a:r>
            <a:r>
              <a:rPr lang="en-US" altLang="en-US" dirty="0">
                <a:ea typeface="Lato"/>
              </a:rPr>
              <a:t> </a:t>
            </a:r>
            <a:r>
              <a:rPr lang="en-US" altLang="en-US" dirty="0" err="1">
                <a:ea typeface="Lato"/>
              </a:rPr>
              <a:t>chuẩn</a:t>
            </a:r>
            <a:r>
              <a:rPr lang="en-US" altLang="en-US" dirty="0">
                <a:ea typeface="Lato"/>
              </a:rPr>
              <a:t> </a:t>
            </a:r>
            <a:r>
              <a:rPr lang="en-US" altLang="en-US" dirty="0" err="1">
                <a:ea typeface="Lato"/>
              </a:rPr>
              <a:t>hóa</a:t>
            </a:r>
            <a:r>
              <a:rPr lang="en-US" altLang="en-US" dirty="0">
                <a:ea typeface="Lato"/>
              </a:rPr>
              <a:t> </a:t>
            </a:r>
            <a:r>
              <a:rPr lang="en-US" altLang="en-US" dirty="0" err="1">
                <a:ea typeface="Lato"/>
              </a:rPr>
              <a:t>việc</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hóa</a:t>
            </a:r>
            <a:r>
              <a:rPr lang="en-US" altLang="en-US" dirty="0">
                <a:ea typeface="Lato"/>
              </a:rPr>
              <a:t> </a:t>
            </a:r>
            <a:r>
              <a:rPr lang="en-US" altLang="en-US" dirty="0" err="1">
                <a:ea typeface="Lato"/>
              </a:rPr>
              <a:t>hệ</a:t>
            </a:r>
            <a:r>
              <a:rPr lang="en-US" altLang="en-US" dirty="0">
                <a:ea typeface="Lato"/>
              </a:rPr>
              <a:t> </a:t>
            </a:r>
            <a:r>
              <a:rPr lang="en-US" altLang="en-US" dirty="0" err="1">
                <a:ea typeface="Lato"/>
              </a:rPr>
              <a:t>thống</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a:t>
            </a:r>
            <a:r>
              <a:rPr lang="en-US" altLang="en-US" dirty="0" err="1">
                <a:ea typeface="Lato"/>
              </a:rPr>
              <a:t>giúp</a:t>
            </a:r>
            <a:r>
              <a:rPr lang="en-US" altLang="en-US" dirty="0">
                <a:ea typeface="Lato"/>
              </a:rPr>
              <a:t> </a:t>
            </a:r>
            <a:r>
              <a:rPr lang="en-US" altLang="en-US" dirty="0" err="1">
                <a:ea typeface="Lato"/>
              </a:rPr>
              <a:t>xác</a:t>
            </a:r>
            <a:r>
              <a:rPr lang="en-US" altLang="en-US" dirty="0">
                <a:ea typeface="Lato"/>
              </a:rPr>
              <a:t> </a:t>
            </a:r>
            <a:r>
              <a:rPr lang="en-US" altLang="en-US" dirty="0" err="1">
                <a:ea typeface="Lato"/>
              </a:rPr>
              <a:t>định</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thành</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của</a:t>
            </a:r>
            <a:r>
              <a:rPr lang="en-US" altLang="en-US" dirty="0">
                <a:ea typeface="Lato"/>
              </a:rPr>
              <a:t> </a:t>
            </a:r>
            <a:r>
              <a:rPr lang="en-US" altLang="en-US" dirty="0" err="1">
                <a:ea typeface="Lato"/>
              </a:rPr>
              <a:t>hệ</a:t>
            </a:r>
            <a:r>
              <a:rPr lang="en-US" altLang="en-US" dirty="0">
                <a:ea typeface="Lato"/>
              </a:rPr>
              <a:t> </a:t>
            </a:r>
            <a:r>
              <a:rPr lang="en-US" altLang="en-US" dirty="0" err="1">
                <a:ea typeface="Lato"/>
              </a:rPr>
              <a:t>thống</a:t>
            </a:r>
            <a:r>
              <a:rPr lang="en-US" altLang="en-US" dirty="0">
                <a:ea typeface="Lato"/>
              </a:rPr>
              <a:t>, </a:t>
            </a:r>
            <a:r>
              <a:rPr lang="en-US" altLang="en-US" dirty="0" err="1">
                <a:ea typeface="Lato"/>
              </a:rPr>
              <a:t>quan</a:t>
            </a:r>
            <a:r>
              <a:rPr lang="en-US" altLang="en-US" dirty="0">
                <a:ea typeface="Lato"/>
              </a:rPr>
              <a:t> </a:t>
            </a:r>
            <a:r>
              <a:rPr lang="en-US" altLang="en-US" dirty="0" err="1">
                <a:ea typeface="Lato"/>
              </a:rPr>
              <a:t>hệ</a:t>
            </a:r>
            <a:r>
              <a:rPr lang="en-US" altLang="en-US" dirty="0">
                <a:ea typeface="Lato"/>
              </a:rPr>
              <a:t> </a:t>
            </a:r>
            <a:r>
              <a:rPr lang="en-US" altLang="en-US" dirty="0" err="1">
                <a:ea typeface="Lato"/>
              </a:rPr>
              <a:t>giữa</a:t>
            </a:r>
            <a:r>
              <a:rPr lang="en-US" altLang="en-US" dirty="0">
                <a:ea typeface="Lato"/>
              </a:rPr>
              <a:t> </a:t>
            </a:r>
            <a:r>
              <a:rPr lang="en-US" altLang="en-US" dirty="0" err="1">
                <a:ea typeface="Lato"/>
              </a:rPr>
              <a:t>chúng</a:t>
            </a:r>
            <a:r>
              <a:rPr lang="en-US" altLang="en-US" dirty="0">
                <a:ea typeface="Lato"/>
              </a:rPr>
              <a:t> </a:t>
            </a:r>
            <a:r>
              <a:rPr lang="en-US" altLang="en-US" dirty="0" err="1">
                <a:ea typeface="Lato"/>
              </a:rPr>
              <a:t>và</a:t>
            </a:r>
            <a:r>
              <a:rPr lang="en-US" altLang="en-US" dirty="0">
                <a:ea typeface="Lato"/>
              </a:rPr>
              <a:t> </a:t>
            </a:r>
            <a:r>
              <a:rPr lang="en-US" altLang="en-US" dirty="0" err="1">
                <a:ea typeface="Lato"/>
              </a:rPr>
              <a:t>hành</a:t>
            </a:r>
            <a:r>
              <a:rPr lang="en-US" altLang="en-US" dirty="0">
                <a:ea typeface="Lato"/>
              </a:rPr>
              <a:t> vi </a:t>
            </a:r>
            <a:r>
              <a:rPr lang="en-US" altLang="en-US" dirty="0" err="1">
                <a:ea typeface="Lato"/>
              </a:rPr>
              <a:t>của</a:t>
            </a:r>
            <a:r>
              <a:rPr lang="en-US" altLang="en-US" dirty="0">
                <a:ea typeface="Lato"/>
              </a:rPr>
              <a:t> </a:t>
            </a:r>
            <a:r>
              <a:rPr lang="en-US" altLang="en-US" dirty="0" err="1">
                <a:ea typeface="Lato"/>
              </a:rPr>
              <a:t>hệ</a:t>
            </a:r>
            <a:r>
              <a:rPr lang="en-US" altLang="en-US" dirty="0">
                <a:ea typeface="Lato"/>
              </a:rPr>
              <a:t> </a:t>
            </a:r>
            <a:r>
              <a:rPr lang="en-US" altLang="en-US" dirty="0" err="1">
                <a:ea typeface="Lato"/>
              </a:rPr>
              <a:t>thống</a:t>
            </a:r>
            <a:r>
              <a:rPr lang="en-US" altLang="en-US" dirty="0">
                <a:ea typeface="Lato"/>
              </a:rPr>
              <a:t>. UML 2.0 </a:t>
            </a:r>
            <a:r>
              <a:rPr lang="en-US" altLang="en-US" dirty="0" err="1">
                <a:ea typeface="Lato"/>
              </a:rPr>
              <a:t>có</a:t>
            </a:r>
            <a:r>
              <a:rPr lang="en-US" altLang="en-US" dirty="0">
                <a:ea typeface="Lato"/>
              </a:rPr>
              <a:t> </a:t>
            </a:r>
            <a:r>
              <a:rPr lang="en-US" altLang="en-US" dirty="0" err="1">
                <a:ea typeface="Lato"/>
              </a:rPr>
              <a:t>thể</a:t>
            </a:r>
            <a:r>
              <a:rPr lang="en-US" altLang="en-US" dirty="0">
                <a:ea typeface="Lato"/>
              </a:rPr>
              <a:t> </a:t>
            </a:r>
            <a:r>
              <a:rPr lang="en-US" altLang="en-US" dirty="0" err="1">
                <a:ea typeface="Lato"/>
              </a:rPr>
              <a:t>được</a:t>
            </a:r>
            <a:r>
              <a:rPr lang="en-US" altLang="en-US" dirty="0">
                <a:ea typeface="Lato"/>
              </a:rPr>
              <a:t> </a:t>
            </a:r>
            <a:r>
              <a:rPr lang="en-US" altLang="en-US" dirty="0" err="1">
                <a:ea typeface="Lato"/>
              </a:rPr>
              <a:t>sử</a:t>
            </a:r>
            <a:r>
              <a:rPr lang="en-US" altLang="en-US" dirty="0">
                <a:ea typeface="Lato"/>
              </a:rPr>
              <a:t> </a:t>
            </a:r>
            <a:r>
              <a:rPr lang="en-US" altLang="en-US" dirty="0" err="1">
                <a:ea typeface="Lato"/>
              </a:rPr>
              <a:t>dụng</a:t>
            </a:r>
            <a:r>
              <a:rPr lang="en-US" altLang="en-US" dirty="0">
                <a:ea typeface="Lato"/>
              </a:rPr>
              <a:t> </a:t>
            </a:r>
            <a:r>
              <a:rPr lang="en-US" altLang="en-US" dirty="0" err="1">
                <a:ea typeface="Lato"/>
              </a:rPr>
              <a:t>trong</a:t>
            </a:r>
            <a:r>
              <a:rPr lang="en-US" altLang="en-US" dirty="0">
                <a:ea typeface="Lato"/>
              </a:rPr>
              <a:t> </a:t>
            </a:r>
            <a:r>
              <a:rPr lang="en-US" altLang="en-US" dirty="0" err="1">
                <a:ea typeface="Lato"/>
              </a:rPr>
              <a:t>nhiều</a:t>
            </a:r>
            <a:r>
              <a:rPr lang="en-US" altLang="en-US" dirty="0">
                <a:ea typeface="Lato"/>
              </a:rPr>
              <a:t> </a:t>
            </a:r>
            <a:r>
              <a:rPr lang="en-US" altLang="en-US" dirty="0" err="1">
                <a:ea typeface="Lato"/>
              </a:rPr>
              <a:t>giai</a:t>
            </a:r>
            <a:r>
              <a:rPr lang="en-US" altLang="en-US" dirty="0">
                <a:ea typeface="Lato"/>
              </a:rPr>
              <a:t> </a:t>
            </a:r>
            <a:r>
              <a:rPr lang="en-US" altLang="en-US" dirty="0" err="1">
                <a:ea typeface="Lato"/>
              </a:rPr>
              <a:t>đoạn</a:t>
            </a:r>
            <a:r>
              <a:rPr lang="en-US" altLang="en-US" dirty="0">
                <a:ea typeface="Lato"/>
              </a:rPr>
              <a:t> </a:t>
            </a:r>
            <a:r>
              <a:rPr lang="en-US" altLang="en-US" dirty="0" err="1">
                <a:ea typeface="Lato"/>
              </a:rPr>
              <a:t>của</a:t>
            </a:r>
            <a:r>
              <a:rPr lang="en-US" altLang="en-US" dirty="0">
                <a:ea typeface="Lato"/>
              </a:rPr>
              <a:t> </a:t>
            </a:r>
            <a:r>
              <a:rPr lang="en-US" altLang="en-US" dirty="0" err="1">
                <a:ea typeface="Lato"/>
              </a:rPr>
              <a:t>quá</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a:t>
            </a:r>
          </a:p>
          <a:p>
            <a:pPr marL="0" indent="0" eaLnBrk="1" hangingPunct="1">
              <a:buNone/>
            </a:pPr>
            <a:r>
              <a:rPr lang="en-US" altLang="en-US" dirty="0">
                <a:ea typeface="Lato"/>
              </a:rPr>
              <a:t>- </a:t>
            </a:r>
            <a:r>
              <a:rPr lang="en-US" altLang="en-US" dirty="0" err="1">
                <a:ea typeface="Lato"/>
              </a:rPr>
              <a:t>Hiện</a:t>
            </a:r>
            <a:r>
              <a:rPr lang="en-US" altLang="en-US" dirty="0">
                <a:ea typeface="Lato"/>
              </a:rPr>
              <a:t> </a:t>
            </a:r>
            <a:r>
              <a:rPr lang="en-US" altLang="en-US" dirty="0" err="1">
                <a:ea typeface="Lato"/>
              </a:rPr>
              <a:t>tại</a:t>
            </a:r>
            <a:r>
              <a:rPr lang="en-US" altLang="en-US" dirty="0">
                <a:ea typeface="Lato"/>
              </a:rPr>
              <a:t> UML 2.0 </a:t>
            </a:r>
            <a:r>
              <a:rPr lang="en-US" altLang="en-US" dirty="0" err="1">
                <a:ea typeface="Lato"/>
              </a:rPr>
              <a:t>cung</a:t>
            </a:r>
            <a:r>
              <a:rPr lang="en-US" altLang="en-US" dirty="0">
                <a:ea typeface="Lato"/>
              </a:rPr>
              <a:t> </a:t>
            </a:r>
            <a:r>
              <a:rPr lang="en-US" altLang="en-US" dirty="0" err="1">
                <a:ea typeface="Lato"/>
              </a:rPr>
              <a:t>cấp</a:t>
            </a:r>
            <a:r>
              <a:rPr lang="en-US" altLang="en-US" dirty="0">
                <a:ea typeface="Lato"/>
              </a:rPr>
              <a:t> </a:t>
            </a:r>
            <a:r>
              <a:rPr lang="en-US" altLang="en-US" dirty="0" err="1">
                <a:ea typeface="Lato"/>
              </a:rPr>
              <a:t>nhiều</a:t>
            </a:r>
            <a:r>
              <a:rPr lang="en-US" altLang="en-US" dirty="0">
                <a:ea typeface="Lato"/>
              </a:rPr>
              <a:t> </a:t>
            </a:r>
            <a:r>
              <a:rPr lang="en-US" altLang="en-US" dirty="0" err="1">
                <a:ea typeface="Lato"/>
              </a:rPr>
              <a:t>loại</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khác</a:t>
            </a:r>
            <a:r>
              <a:rPr lang="en-US" altLang="en-US" dirty="0">
                <a:ea typeface="Lato"/>
              </a:rPr>
              <a:t> </a:t>
            </a:r>
            <a:r>
              <a:rPr lang="en-US" altLang="en-US" dirty="0" err="1">
                <a:ea typeface="Lato"/>
              </a:rPr>
              <a:t>nhau</a:t>
            </a:r>
            <a:r>
              <a:rPr lang="en-US" altLang="en-US" dirty="0">
                <a:ea typeface="Lato"/>
              </a:rPr>
              <a:t> </a:t>
            </a:r>
            <a:r>
              <a:rPr lang="en-US" altLang="en-US" dirty="0" err="1">
                <a:ea typeface="Lato"/>
              </a:rPr>
              <a:t>để</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hóa</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khía</a:t>
            </a:r>
            <a:r>
              <a:rPr lang="en-US" altLang="en-US" dirty="0">
                <a:ea typeface="Lato"/>
              </a:rPr>
              <a:t> </a:t>
            </a:r>
            <a:r>
              <a:rPr lang="en-US" altLang="en-US" dirty="0" err="1">
                <a:ea typeface="Lato"/>
              </a:rPr>
              <a:t>cạnh</a:t>
            </a:r>
            <a:r>
              <a:rPr lang="en-US" altLang="en-US" dirty="0">
                <a:ea typeface="Lato"/>
              </a:rPr>
              <a:t> </a:t>
            </a:r>
            <a:r>
              <a:rPr lang="en-US" altLang="en-US" dirty="0" err="1">
                <a:ea typeface="Lato"/>
              </a:rPr>
              <a:t>khác</a:t>
            </a:r>
            <a:r>
              <a:rPr lang="en-US" altLang="en-US" dirty="0">
                <a:ea typeface="Lato"/>
              </a:rPr>
              <a:t> </a:t>
            </a:r>
            <a:r>
              <a:rPr lang="en-US" altLang="en-US" dirty="0" err="1">
                <a:ea typeface="Lato"/>
              </a:rPr>
              <a:t>nhau</a:t>
            </a:r>
            <a:r>
              <a:rPr lang="en-US" altLang="en-US" dirty="0">
                <a:ea typeface="Lato"/>
              </a:rPr>
              <a:t> </a:t>
            </a:r>
            <a:r>
              <a:rPr lang="en-US" altLang="en-US" dirty="0" err="1">
                <a:ea typeface="Lato"/>
              </a:rPr>
              <a:t>của</a:t>
            </a:r>
            <a:r>
              <a:rPr lang="en-US" altLang="en-US" dirty="0">
                <a:ea typeface="Lato"/>
              </a:rPr>
              <a:t> </a:t>
            </a:r>
            <a:r>
              <a:rPr lang="en-US" altLang="en-US" dirty="0" err="1">
                <a:ea typeface="Lato"/>
              </a:rPr>
              <a:t>hệ</a:t>
            </a:r>
            <a:r>
              <a:rPr lang="en-US" altLang="en-US" dirty="0">
                <a:ea typeface="Lato"/>
              </a:rPr>
              <a:t> </a:t>
            </a:r>
            <a:r>
              <a:rPr lang="en-US" altLang="en-US" dirty="0" err="1">
                <a:ea typeface="Lato"/>
              </a:rPr>
              <a:t>thống</a:t>
            </a:r>
            <a:r>
              <a:rPr lang="en-US" altLang="en-US" dirty="0">
                <a:ea typeface="Lato"/>
              </a:rPr>
              <a:t>, </a:t>
            </a:r>
            <a:r>
              <a:rPr lang="en-US" altLang="en-US" dirty="0" err="1">
                <a:ea typeface="Lato"/>
              </a:rPr>
              <a:t>ví</a:t>
            </a:r>
            <a:r>
              <a:rPr lang="en-US" altLang="en-US" dirty="0">
                <a:ea typeface="Lato"/>
              </a:rPr>
              <a:t> </a:t>
            </a:r>
            <a:r>
              <a:rPr lang="en-US" altLang="en-US" dirty="0" err="1">
                <a:ea typeface="Lato"/>
              </a:rPr>
              <a:t>dụ</a:t>
            </a:r>
            <a:r>
              <a:rPr lang="en-US" altLang="en-US" dirty="0">
                <a:ea typeface="Lato"/>
              </a:rPr>
              <a:t> </a:t>
            </a:r>
            <a:r>
              <a:rPr lang="en-US" altLang="en-US" dirty="0" err="1">
                <a:ea typeface="Lato"/>
              </a:rPr>
              <a:t>như</a:t>
            </a:r>
            <a:r>
              <a:rPr lang="en-US" altLang="en-US" dirty="0">
                <a:ea typeface="Lato"/>
              </a:rPr>
              <a:t> </a:t>
            </a:r>
            <a:r>
              <a:rPr lang="en-US" altLang="en-US" dirty="0" err="1">
                <a:ea typeface="Lato"/>
              </a:rPr>
              <a:t>UseCase</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lớp</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tương</a:t>
            </a:r>
            <a:r>
              <a:rPr lang="en-US" altLang="en-US" dirty="0">
                <a:ea typeface="Lato"/>
              </a:rPr>
              <a:t> </a:t>
            </a:r>
            <a:r>
              <a:rPr lang="en-US" altLang="en-US" dirty="0" err="1">
                <a:ea typeface="Lato"/>
              </a:rPr>
              <a:t>tác</a:t>
            </a:r>
            <a:r>
              <a:rPr lang="en-US" altLang="en-US" dirty="0">
                <a:ea typeface="Lato"/>
              </a:rPr>
              <a:t>, …</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2297249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UML </a:t>
            </a:r>
            <a:r>
              <a:rPr lang="en-US" altLang="en-US" dirty="0" err="1">
                <a:ea typeface="Lato"/>
              </a:rPr>
              <a:t>và</a:t>
            </a:r>
            <a:r>
              <a:rPr lang="en-US" altLang="en-US" dirty="0">
                <a:ea typeface="Lato"/>
              </a:rPr>
              <a:t> Visual Paradigm</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1.2. Visual Paradigm </a:t>
            </a:r>
          </a:p>
          <a:p>
            <a:pPr marL="0" indent="0" eaLnBrk="1" hangingPunct="1">
              <a:buNone/>
            </a:pPr>
            <a:r>
              <a:rPr lang="en-US" altLang="en-US" dirty="0">
                <a:ea typeface="Lato"/>
              </a:rPr>
              <a:t>- Visual Paradigm </a:t>
            </a:r>
            <a:r>
              <a:rPr lang="en-US" altLang="en-US" dirty="0" err="1">
                <a:ea typeface="Lato"/>
              </a:rPr>
              <a:t>là</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công</a:t>
            </a:r>
            <a:r>
              <a:rPr lang="en-US" altLang="en-US" dirty="0">
                <a:ea typeface="Lato"/>
              </a:rPr>
              <a:t> </a:t>
            </a:r>
            <a:r>
              <a:rPr lang="en-US" altLang="en-US" dirty="0" err="1">
                <a:ea typeface="Lato"/>
              </a:rPr>
              <a:t>cụ</a:t>
            </a:r>
            <a:r>
              <a:rPr lang="en-US" altLang="en-US" dirty="0">
                <a:ea typeface="Lato"/>
              </a:rPr>
              <a:t> </a:t>
            </a:r>
            <a:r>
              <a:rPr lang="en-US" altLang="en-US" dirty="0" err="1">
                <a:ea typeface="Lato"/>
              </a:rPr>
              <a:t>mạnh</a:t>
            </a:r>
            <a:r>
              <a:rPr lang="en-US" altLang="en-US" dirty="0">
                <a:ea typeface="Lato"/>
              </a:rPr>
              <a:t> </a:t>
            </a:r>
            <a:r>
              <a:rPr lang="en-US" altLang="en-US" dirty="0" err="1">
                <a:ea typeface="Lato"/>
              </a:rPr>
              <a:t>mẽ</a:t>
            </a:r>
            <a:r>
              <a:rPr lang="en-US" altLang="en-US" dirty="0">
                <a:ea typeface="Lato"/>
              </a:rPr>
              <a:t> </a:t>
            </a:r>
            <a:r>
              <a:rPr lang="en-US" altLang="en-US" dirty="0" err="1">
                <a:ea typeface="Lato"/>
              </a:rPr>
              <a:t>và</a:t>
            </a:r>
            <a:r>
              <a:rPr lang="en-US" altLang="en-US" dirty="0">
                <a:ea typeface="Lato"/>
              </a:rPr>
              <a:t> </a:t>
            </a:r>
            <a:r>
              <a:rPr lang="en-US" altLang="en-US" dirty="0" err="1">
                <a:ea typeface="Lato"/>
              </a:rPr>
              <a:t>phổ</a:t>
            </a:r>
            <a:r>
              <a:rPr lang="en-US" altLang="en-US" dirty="0">
                <a:ea typeface="Lato"/>
              </a:rPr>
              <a:t> </a:t>
            </a:r>
            <a:r>
              <a:rPr lang="en-US" altLang="en-US" dirty="0" err="1">
                <a:ea typeface="Lato"/>
              </a:rPr>
              <a:t>biến</a:t>
            </a:r>
            <a:r>
              <a:rPr lang="en-US" altLang="en-US" dirty="0">
                <a:ea typeface="Lato"/>
              </a:rPr>
              <a:t> </a:t>
            </a:r>
            <a:r>
              <a:rPr lang="en-US" altLang="en-US" dirty="0" err="1">
                <a:ea typeface="Lato"/>
              </a:rPr>
              <a:t>được</a:t>
            </a:r>
            <a:r>
              <a:rPr lang="en-US" altLang="en-US" dirty="0">
                <a:ea typeface="Lato"/>
              </a:rPr>
              <a:t> </a:t>
            </a:r>
            <a:r>
              <a:rPr lang="en-US" altLang="en-US" dirty="0" err="1">
                <a:ea typeface="Lato"/>
              </a:rPr>
              <a:t>sử</a:t>
            </a:r>
            <a:r>
              <a:rPr lang="en-US" altLang="en-US" dirty="0">
                <a:ea typeface="Lato"/>
              </a:rPr>
              <a:t> </a:t>
            </a:r>
            <a:r>
              <a:rPr lang="en-US" altLang="en-US" dirty="0" err="1">
                <a:ea typeface="Lato"/>
              </a:rPr>
              <a:t>dụng</a:t>
            </a:r>
            <a:r>
              <a:rPr lang="en-US" altLang="en-US" dirty="0">
                <a:ea typeface="Lato"/>
              </a:rPr>
              <a:t> </a:t>
            </a:r>
            <a:r>
              <a:rPr lang="en-US" altLang="en-US" dirty="0" err="1">
                <a:ea typeface="Lato"/>
              </a:rPr>
              <a:t>để</a:t>
            </a:r>
            <a:r>
              <a:rPr lang="en-US" altLang="en-US" dirty="0">
                <a:ea typeface="Lato"/>
              </a:rPr>
              <a:t> </a:t>
            </a:r>
            <a:r>
              <a:rPr lang="en-US" altLang="en-US" dirty="0" err="1">
                <a:ea typeface="Lato"/>
              </a:rPr>
              <a:t>mô</a:t>
            </a:r>
            <a:r>
              <a:rPr lang="en-US" altLang="en-US" dirty="0">
                <a:ea typeface="Lato"/>
              </a:rPr>
              <a:t> </a:t>
            </a:r>
            <a:r>
              <a:rPr lang="en-US" altLang="en-US" dirty="0" err="1">
                <a:ea typeface="Lato"/>
              </a:rPr>
              <a:t>hình</a:t>
            </a:r>
            <a:r>
              <a:rPr lang="en-US" altLang="en-US" dirty="0">
                <a:ea typeface="Lato"/>
              </a:rPr>
              <a:t> </a:t>
            </a:r>
            <a:r>
              <a:rPr lang="en-US" altLang="en-US" dirty="0" err="1">
                <a:ea typeface="Lato"/>
              </a:rPr>
              <a:t>hóa</a:t>
            </a:r>
            <a:r>
              <a:rPr lang="en-US" altLang="en-US" dirty="0">
                <a:ea typeface="Lato"/>
              </a:rPr>
              <a:t> </a:t>
            </a:r>
            <a:r>
              <a:rPr lang="en-US" altLang="en-US" dirty="0" err="1">
                <a:ea typeface="Lato"/>
              </a:rPr>
              <a:t>và</a:t>
            </a:r>
            <a:r>
              <a:rPr lang="en-US" altLang="en-US" dirty="0">
                <a:ea typeface="Lato"/>
              </a:rPr>
              <a:t> </a:t>
            </a:r>
            <a:r>
              <a:rPr lang="en-US" altLang="en-US" dirty="0" err="1">
                <a:ea typeface="Lato"/>
              </a:rPr>
              <a:t>phân</a:t>
            </a:r>
            <a:r>
              <a:rPr lang="en-US" altLang="en-US" dirty="0">
                <a:ea typeface="Lato"/>
              </a:rPr>
              <a:t> </a:t>
            </a:r>
            <a:r>
              <a:rPr lang="en-US" altLang="en-US" dirty="0" err="1">
                <a:ea typeface="Lato"/>
              </a:rPr>
              <a:t>tích</a:t>
            </a:r>
            <a:r>
              <a:rPr lang="en-US" altLang="en-US" dirty="0">
                <a:ea typeface="Lato"/>
              </a:rPr>
              <a:t> </a:t>
            </a:r>
            <a:r>
              <a:rPr lang="en-US" altLang="en-US" dirty="0" err="1">
                <a:ea typeface="Lato"/>
              </a:rPr>
              <a:t>hệ</a:t>
            </a:r>
            <a:r>
              <a:rPr lang="en-US" altLang="en-US" dirty="0">
                <a:ea typeface="Lato"/>
              </a:rPr>
              <a:t> </a:t>
            </a:r>
            <a:r>
              <a:rPr lang="en-US" altLang="en-US" dirty="0" err="1">
                <a:ea typeface="Lato"/>
              </a:rPr>
              <a:t>thống</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r>
              <a:rPr lang="en-US" altLang="en-US" dirty="0">
                <a:ea typeface="Lato"/>
              </a:rPr>
              <a:t>. </a:t>
            </a:r>
            <a:r>
              <a:rPr lang="en-US" altLang="en-US" dirty="0" err="1">
                <a:ea typeface="Lato"/>
              </a:rPr>
              <a:t>Nó</a:t>
            </a:r>
            <a:r>
              <a:rPr lang="en-US" altLang="en-US" dirty="0">
                <a:ea typeface="Lato"/>
              </a:rPr>
              <a:t> </a:t>
            </a:r>
            <a:r>
              <a:rPr lang="en-US" altLang="en-US" dirty="0" err="1">
                <a:ea typeface="Lato"/>
              </a:rPr>
              <a:t>cung</a:t>
            </a:r>
            <a:r>
              <a:rPr lang="en-US" altLang="en-US" dirty="0">
                <a:ea typeface="Lato"/>
              </a:rPr>
              <a:t> </a:t>
            </a:r>
            <a:r>
              <a:rPr lang="en-US" altLang="en-US" dirty="0" err="1">
                <a:ea typeface="Lato"/>
              </a:rPr>
              <a:t>cấp</a:t>
            </a:r>
            <a:r>
              <a:rPr lang="en-US" altLang="en-US" dirty="0">
                <a:ea typeface="Lato"/>
              </a:rPr>
              <a:t> </a:t>
            </a:r>
            <a:r>
              <a:rPr lang="en-US" altLang="en-US" dirty="0" err="1">
                <a:ea typeface="Lato"/>
              </a:rPr>
              <a:t>nhiều</a:t>
            </a:r>
            <a:r>
              <a:rPr lang="en-US" altLang="en-US" dirty="0">
                <a:ea typeface="Lato"/>
              </a:rPr>
              <a:t> </a:t>
            </a:r>
            <a:r>
              <a:rPr lang="en-US" altLang="en-US" dirty="0" err="1">
                <a:ea typeface="Lato"/>
              </a:rPr>
              <a:t>tính</a:t>
            </a:r>
            <a:r>
              <a:rPr lang="en-US" altLang="en-US" dirty="0">
                <a:ea typeface="Lato"/>
              </a:rPr>
              <a:t> </a:t>
            </a:r>
            <a:r>
              <a:rPr lang="en-US" altLang="en-US" dirty="0" err="1">
                <a:ea typeface="Lato"/>
              </a:rPr>
              <a:t>năng</a:t>
            </a:r>
            <a:r>
              <a:rPr lang="en-US" altLang="en-US" dirty="0">
                <a:ea typeface="Lato"/>
              </a:rPr>
              <a:t> </a:t>
            </a:r>
            <a:r>
              <a:rPr lang="en-US" altLang="en-US" dirty="0" err="1">
                <a:ea typeface="Lato"/>
              </a:rPr>
              <a:t>cho</a:t>
            </a:r>
            <a:r>
              <a:rPr lang="en-US" altLang="en-US" dirty="0">
                <a:ea typeface="Lato"/>
              </a:rPr>
              <a:t> </a:t>
            </a:r>
            <a:r>
              <a:rPr lang="en-US" altLang="en-US" dirty="0" err="1">
                <a:ea typeface="Lato"/>
              </a:rPr>
              <a:t>việc</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và</a:t>
            </a:r>
            <a:r>
              <a:rPr lang="en-US" altLang="en-US" dirty="0">
                <a:ea typeface="Lato"/>
              </a:rPr>
              <a:t> </a:t>
            </a:r>
            <a:r>
              <a:rPr lang="en-US" altLang="en-US" dirty="0" err="1">
                <a:ea typeface="Lato"/>
              </a:rPr>
              <a:t>quản</a:t>
            </a:r>
            <a:r>
              <a:rPr lang="en-US" altLang="en-US" dirty="0">
                <a:ea typeface="Lato"/>
              </a:rPr>
              <a:t> </a:t>
            </a:r>
            <a:r>
              <a:rPr lang="en-US" altLang="en-US" dirty="0" err="1">
                <a:ea typeface="Lato"/>
              </a:rPr>
              <a:t>lý</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UseCase</a:t>
            </a:r>
            <a:r>
              <a:rPr lang="en-US" altLang="en-US" dirty="0">
                <a:ea typeface="Lato"/>
              </a:rPr>
              <a:t>, </a:t>
            </a:r>
            <a:r>
              <a:rPr lang="en-US" altLang="en-US" dirty="0" err="1">
                <a:ea typeface="Lato"/>
              </a:rPr>
              <a:t>một</a:t>
            </a:r>
            <a:r>
              <a:rPr lang="en-US" altLang="en-US" dirty="0">
                <a:ea typeface="Lato"/>
              </a:rPr>
              <a:t> </a:t>
            </a:r>
            <a:r>
              <a:rPr lang="en-US" altLang="en-US" dirty="0" err="1">
                <a:ea typeface="Lato"/>
              </a:rPr>
              <a:t>loại</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trong</a:t>
            </a:r>
            <a:r>
              <a:rPr lang="en-US" altLang="en-US" dirty="0">
                <a:ea typeface="Lato"/>
              </a:rPr>
              <a:t> UML.</a:t>
            </a:r>
          </a:p>
          <a:p>
            <a:pPr marL="0" indent="0" eaLnBrk="1" hangingPunct="1">
              <a:buNone/>
            </a:pPr>
            <a:r>
              <a:rPr lang="en-US" altLang="en-US" dirty="0">
                <a:ea typeface="Lato"/>
              </a:rPr>
              <a:t>- </a:t>
            </a:r>
            <a:r>
              <a:rPr lang="en-US" altLang="en-US" dirty="0" err="1">
                <a:ea typeface="Lato"/>
              </a:rPr>
              <a:t>Các</a:t>
            </a:r>
            <a:r>
              <a:rPr lang="en-US" altLang="en-US" dirty="0">
                <a:ea typeface="Lato"/>
              </a:rPr>
              <a:t> </a:t>
            </a:r>
            <a:r>
              <a:rPr lang="en-US" altLang="en-US" dirty="0" err="1">
                <a:ea typeface="Lato"/>
              </a:rPr>
              <a:t>tính</a:t>
            </a:r>
            <a:r>
              <a:rPr lang="en-US" altLang="en-US" dirty="0">
                <a:ea typeface="Lato"/>
              </a:rPr>
              <a:t> </a:t>
            </a:r>
            <a:r>
              <a:rPr lang="en-US" altLang="en-US" dirty="0" err="1">
                <a:ea typeface="Lato"/>
              </a:rPr>
              <a:t>năng</a:t>
            </a:r>
            <a:r>
              <a:rPr lang="en-US" altLang="en-US" dirty="0">
                <a:ea typeface="Lato"/>
              </a:rPr>
              <a:t> </a:t>
            </a:r>
            <a:r>
              <a:rPr lang="en-US" altLang="en-US" dirty="0" err="1">
                <a:ea typeface="Lato"/>
              </a:rPr>
              <a:t>chính</a:t>
            </a:r>
            <a:r>
              <a:rPr lang="en-US" altLang="en-US" dirty="0">
                <a:ea typeface="Lato"/>
              </a:rPr>
              <a:t> </a:t>
            </a:r>
            <a:r>
              <a:rPr lang="en-US" altLang="en-US" dirty="0" err="1">
                <a:ea typeface="Lato"/>
              </a:rPr>
              <a:t>bao</a:t>
            </a:r>
            <a:r>
              <a:rPr lang="en-US" altLang="en-US" dirty="0">
                <a:ea typeface="Lato"/>
              </a:rPr>
              <a:t> </a:t>
            </a:r>
            <a:r>
              <a:rPr lang="en-US" altLang="en-US" dirty="0" err="1">
                <a:ea typeface="Lato"/>
              </a:rPr>
              <a:t>gồm</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a:t>
            </a:r>
            <a:r>
              <a:rPr lang="en-US" altLang="en-US" dirty="0" err="1">
                <a:ea typeface="Lato"/>
              </a:rPr>
              <a:t>mô</a:t>
            </a:r>
            <a:r>
              <a:rPr lang="en-US" altLang="en-US" dirty="0">
                <a:ea typeface="Lato"/>
              </a:rPr>
              <a:t> </a:t>
            </a:r>
            <a:r>
              <a:rPr lang="en-US" altLang="en-US" dirty="0" err="1">
                <a:ea typeface="Lato"/>
              </a:rPr>
              <a:t>tả</a:t>
            </a:r>
            <a:r>
              <a:rPr lang="en-US" altLang="en-US" dirty="0">
                <a:ea typeface="Lato"/>
              </a:rPr>
              <a:t> </a:t>
            </a:r>
            <a:r>
              <a:rPr lang="en-US" altLang="en-US" dirty="0" err="1">
                <a:ea typeface="Lato"/>
              </a:rPr>
              <a:t>UseCase</a:t>
            </a:r>
            <a:r>
              <a:rPr lang="en-US" altLang="en-US" dirty="0">
                <a:ea typeface="Lato"/>
              </a:rPr>
              <a:t>, </a:t>
            </a:r>
            <a:r>
              <a:rPr lang="en-US" altLang="en-US" dirty="0" err="1">
                <a:ea typeface="Lato"/>
              </a:rPr>
              <a:t>quản</a:t>
            </a:r>
            <a:r>
              <a:rPr lang="en-US" altLang="en-US" dirty="0">
                <a:ea typeface="Lato"/>
              </a:rPr>
              <a:t> </a:t>
            </a:r>
            <a:r>
              <a:rPr lang="en-US" altLang="en-US" dirty="0" err="1">
                <a:ea typeface="Lato"/>
              </a:rPr>
              <a:t>lý</a:t>
            </a:r>
            <a:r>
              <a:rPr lang="en-US" altLang="en-US" dirty="0">
                <a:ea typeface="Lato"/>
              </a:rPr>
              <a:t> </a:t>
            </a:r>
            <a:r>
              <a:rPr lang="en-US" altLang="en-US" dirty="0" err="1">
                <a:ea typeface="Lato"/>
              </a:rPr>
              <a:t>tương</a:t>
            </a:r>
            <a:r>
              <a:rPr lang="en-US" altLang="en-US" dirty="0">
                <a:ea typeface="Lato"/>
              </a:rPr>
              <a:t> </a:t>
            </a:r>
            <a:r>
              <a:rPr lang="en-US" altLang="en-US" dirty="0" err="1">
                <a:ea typeface="Lato"/>
              </a:rPr>
              <a:t>tác</a:t>
            </a:r>
            <a:r>
              <a:rPr lang="en-US" altLang="en-US" dirty="0">
                <a:ea typeface="Lato"/>
              </a:rPr>
              <a:t> </a:t>
            </a:r>
            <a:r>
              <a:rPr lang="en-US" altLang="en-US" dirty="0" err="1">
                <a:ea typeface="Lato"/>
              </a:rPr>
              <a:t>giữa</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UseCase</a:t>
            </a:r>
            <a:r>
              <a:rPr lang="en-US" altLang="en-US" dirty="0">
                <a:ea typeface="Lato"/>
              </a:rPr>
              <a:t>, </a:t>
            </a:r>
            <a:r>
              <a:rPr lang="en-US" altLang="en-US" dirty="0" err="1">
                <a:ea typeface="Lato"/>
              </a:rPr>
              <a:t>mô</a:t>
            </a:r>
            <a:r>
              <a:rPr lang="en-US" altLang="en-US" dirty="0">
                <a:ea typeface="Lato"/>
              </a:rPr>
              <a:t> </a:t>
            </a:r>
            <a:r>
              <a:rPr lang="en-US" altLang="en-US" dirty="0" err="1">
                <a:ea typeface="Lato"/>
              </a:rPr>
              <a:t>phỏng</a:t>
            </a:r>
            <a:r>
              <a:rPr lang="en-US" altLang="en-US" dirty="0">
                <a:ea typeface="Lato"/>
              </a:rPr>
              <a:t> </a:t>
            </a:r>
            <a:r>
              <a:rPr lang="en-US" altLang="en-US" dirty="0" err="1">
                <a:ea typeface="Lato"/>
              </a:rPr>
              <a:t>và</a:t>
            </a:r>
            <a:r>
              <a:rPr lang="en-US" altLang="en-US" dirty="0">
                <a:ea typeface="Lato"/>
              </a:rPr>
              <a:t>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các</a:t>
            </a:r>
            <a:r>
              <a:rPr lang="en-US" altLang="en-US" dirty="0">
                <a:ea typeface="Lato"/>
              </a:rPr>
              <a:t> </a:t>
            </a:r>
            <a:r>
              <a:rPr lang="en-US" altLang="en-US" dirty="0" err="1">
                <a:ea typeface="Lato"/>
              </a:rPr>
              <a:t>UseCase</a:t>
            </a:r>
            <a:r>
              <a:rPr lang="en-US" altLang="en-US" dirty="0">
                <a:ea typeface="Lato"/>
              </a:rPr>
              <a:t>, </a:t>
            </a:r>
            <a:r>
              <a:rPr lang="en-US" altLang="en-US" dirty="0" err="1">
                <a:ea typeface="Lato"/>
              </a:rPr>
              <a:t>xuất</a:t>
            </a:r>
            <a:r>
              <a:rPr lang="en-US" altLang="en-US" dirty="0">
                <a:ea typeface="Lato"/>
              </a:rPr>
              <a:t> </a:t>
            </a:r>
            <a:r>
              <a:rPr lang="en-US" altLang="en-US" dirty="0" err="1">
                <a:ea typeface="Lato"/>
              </a:rPr>
              <a:t>và</a:t>
            </a:r>
            <a:r>
              <a:rPr lang="en-US" altLang="en-US" dirty="0">
                <a:ea typeface="Lato"/>
              </a:rPr>
              <a:t> chia </a:t>
            </a:r>
            <a:r>
              <a:rPr lang="en-US" altLang="en-US" dirty="0" err="1">
                <a:ea typeface="Lato"/>
              </a:rPr>
              <a:t>sẻ</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a:t>
            </a:r>
          </a:p>
          <a:p>
            <a:pPr marL="0" indent="0" eaLnBrk="1" hangingPunct="1">
              <a:buNone/>
            </a:pPr>
            <a:r>
              <a:rPr lang="en-US" altLang="en-US" dirty="0">
                <a:ea typeface="Lato"/>
              </a:rPr>
              <a:t>- Visual Paradigm </a:t>
            </a:r>
            <a:r>
              <a:rPr lang="en-US" altLang="en-US" dirty="0" err="1">
                <a:ea typeface="Lato"/>
              </a:rPr>
              <a:t>cũng</a:t>
            </a:r>
            <a:r>
              <a:rPr lang="en-US" altLang="en-US" dirty="0">
                <a:ea typeface="Lato"/>
              </a:rPr>
              <a:t> </a:t>
            </a:r>
            <a:r>
              <a:rPr lang="en-US" altLang="en-US" dirty="0" err="1">
                <a:ea typeface="Lato"/>
              </a:rPr>
              <a:t>có</a:t>
            </a:r>
            <a:r>
              <a:rPr lang="en-US" altLang="en-US" dirty="0">
                <a:ea typeface="Lato"/>
              </a:rPr>
              <a:t> </a:t>
            </a:r>
            <a:r>
              <a:rPr lang="en-US" altLang="en-US" dirty="0" err="1">
                <a:ea typeface="Lato"/>
              </a:rPr>
              <a:t>thể</a:t>
            </a:r>
            <a:r>
              <a:rPr lang="en-US" altLang="en-US" dirty="0">
                <a:ea typeface="Lato"/>
              </a:rPr>
              <a:t> </a:t>
            </a:r>
            <a:r>
              <a:rPr lang="en-US" altLang="en-US" dirty="0" err="1">
                <a:ea typeface="Lato"/>
              </a:rPr>
              <a:t>được</a:t>
            </a:r>
            <a:r>
              <a:rPr lang="en-US" altLang="en-US" dirty="0">
                <a:ea typeface="Lato"/>
              </a:rPr>
              <a:t> </a:t>
            </a:r>
            <a:r>
              <a:rPr lang="en-US" altLang="en-US" dirty="0" err="1">
                <a:ea typeface="Lato"/>
              </a:rPr>
              <a:t>tích</a:t>
            </a:r>
            <a:r>
              <a:rPr lang="en-US" altLang="en-US" dirty="0">
                <a:ea typeface="Lato"/>
              </a:rPr>
              <a:t> </a:t>
            </a:r>
            <a:r>
              <a:rPr lang="en-US" altLang="en-US" dirty="0" err="1">
                <a:ea typeface="Lato"/>
              </a:rPr>
              <a:t>hợp</a:t>
            </a:r>
            <a:r>
              <a:rPr lang="en-US" altLang="en-US" dirty="0">
                <a:ea typeface="Lato"/>
              </a:rPr>
              <a:t> </a:t>
            </a:r>
            <a:r>
              <a:rPr lang="en-US" altLang="en-US" dirty="0" err="1">
                <a:ea typeface="Lato"/>
              </a:rPr>
              <a:t>vào</a:t>
            </a:r>
            <a:r>
              <a:rPr lang="en-US" altLang="en-US" dirty="0">
                <a:ea typeface="Lato"/>
              </a:rPr>
              <a:t> </a:t>
            </a:r>
            <a:r>
              <a:rPr lang="en-US" altLang="en-US" dirty="0" err="1">
                <a:ea typeface="Lato"/>
              </a:rPr>
              <a:t>các</a:t>
            </a:r>
            <a:r>
              <a:rPr lang="en-US" altLang="en-US" dirty="0">
                <a:ea typeface="Lato"/>
              </a:rPr>
              <a:t> IDE </a:t>
            </a:r>
            <a:r>
              <a:rPr lang="en-US" altLang="en-US" dirty="0" err="1">
                <a:ea typeface="Lato"/>
              </a:rPr>
              <a:t>phổ</a:t>
            </a:r>
            <a:r>
              <a:rPr lang="en-US" altLang="en-US" dirty="0">
                <a:ea typeface="Lato"/>
              </a:rPr>
              <a:t> </a:t>
            </a:r>
            <a:r>
              <a:rPr lang="en-US" altLang="en-US" dirty="0" err="1">
                <a:ea typeface="Lato"/>
              </a:rPr>
              <a:t>biến</a:t>
            </a:r>
            <a:r>
              <a:rPr lang="en-US" altLang="en-US" dirty="0">
                <a:ea typeface="Lato"/>
              </a:rPr>
              <a:t> </a:t>
            </a:r>
            <a:r>
              <a:rPr lang="en-US" altLang="en-US" dirty="0" err="1">
                <a:ea typeface="Lato"/>
              </a:rPr>
              <a:t>như</a:t>
            </a:r>
            <a:r>
              <a:rPr lang="en-US" altLang="en-US" dirty="0">
                <a:ea typeface="Lato"/>
              </a:rPr>
              <a:t> Eclipse hay IntelliJ IDEA.</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1986866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về</a:t>
            </a:r>
            <a:r>
              <a:rPr lang="en-US" altLang="en-US" dirty="0">
                <a:ea typeface="Lato"/>
              </a:rPr>
              <a:t> UML </a:t>
            </a:r>
            <a:r>
              <a:rPr lang="en-US" altLang="en-US" dirty="0" err="1">
                <a:ea typeface="Lato"/>
              </a:rPr>
              <a:t>và</a:t>
            </a:r>
            <a:r>
              <a:rPr lang="en-US" altLang="en-US" dirty="0">
                <a:ea typeface="Lato"/>
              </a:rPr>
              <a:t> Visual Paradigm</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1.3. </a:t>
            </a:r>
            <a:r>
              <a:rPr lang="en-US" altLang="en-US" dirty="0" err="1">
                <a:ea typeface="Lato"/>
              </a:rPr>
              <a:t>Ví</a:t>
            </a:r>
            <a:r>
              <a:rPr lang="en-US" altLang="en-US" dirty="0">
                <a:ea typeface="Lato"/>
              </a:rPr>
              <a:t> </a:t>
            </a:r>
            <a:r>
              <a:rPr lang="en-US" altLang="en-US" dirty="0" err="1">
                <a:ea typeface="Lato"/>
              </a:rPr>
              <a:t>dụ</a:t>
            </a:r>
            <a:r>
              <a:rPr lang="en-US" altLang="en-US" dirty="0">
                <a:ea typeface="Lato"/>
              </a:rPr>
              <a:t> minh </a:t>
            </a:r>
            <a:r>
              <a:rPr lang="en-US" altLang="en-US" dirty="0" err="1">
                <a:ea typeface="Lato"/>
              </a:rPr>
              <a:t>họa</a:t>
            </a:r>
            <a:r>
              <a:rPr lang="en-US" altLang="en-US" dirty="0">
                <a:ea typeface="Lato"/>
              </a:rPr>
              <a:t> </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4" name="Picture 1" descr="A diagram chart with text&#10;&#10;Description automatically generated">
            <a:extLst>
              <a:ext uri="{FF2B5EF4-FFF2-40B4-BE49-F238E27FC236}">
                <a16:creationId xmlns:a16="http://schemas.microsoft.com/office/drawing/2014/main" id="{429D25EE-5040-2E50-BAF2-92C775C90306}"/>
              </a:ext>
            </a:extLst>
          </p:cNvPr>
          <p:cNvPicPr>
            <a:picLocks noChangeAspect="1"/>
          </p:cNvPicPr>
          <p:nvPr/>
        </p:nvPicPr>
        <p:blipFill>
          <a:blip r:embed="rId2"/>
          <a:stretch>
            <a:fillRect/>
          </a:stretch>
        </p:blipFill>
        <p:spPr>
          <a:xfrm>
            <a:off x="2107215" y="1682263"/>
            <a:ext cx="7298042" cy="4444605"/>
          </a:xfrm>
          <a:prstGeom prst="rect">
            <a:avLst/>
          </a:prstGeom>
        </p:spPr>
      </p:pic>
    </p:spTree>
    <p:extLst>
      <p:ext uri="{BB962C8B-B14F-4D97-AF65-F5344CB8AC3E}">
        <p14:creationId xmlns:p14="http://schemas.microsoft.com/office/powerpoint/2010/main" val="5918990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Usecase</a:t>
            </a:r>
            <a:r>
              <a:rPr lang="en-US" altLang="en-US" dirty="0">
                <a:ea typeface="Lato"/>
              </a:rPr>
              <a:t> </a:t>
            </a:r>
            <a:r>
              <a:rPr lang="en-US" altLang="en-US" dirty="0" err="1">
                <a:ea typeface="Lato"/>
              </a:rPr>
              <a:t>là</a:t>
            </a:r>
            <a:r>
              <a:rPr lang="en-US" altLang="en-US" dirty="0">
                <a:ea typeface="Lato"/>
              </a:rPr>
              <a:t> </a:t>
            </a:r>
            <a:r>
              <a:rPr lang="en-US" altLang="en-US" dirty="0" err="1">
                <a:ea typeface="Lato"/>
              </a:rPr>
              <a:t>gì</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 Khái niệm</a:t>
            </a:r>
          </a:p>
          <a:p>
            <a:pPr marL="0" indent="0" eaLnBrk="1" hangingPunct="1">
              <a:buNone/>
            </a:pPr>
            <a:r>
              <a:rPr lang="vi-VN" altLang="en-US" dirty="0">
                <a:ea typeface="Lato"/>
              </a:rPr>
              <a:t>+ Biểu đồ </a:t>
            </a:r>
            <a:r>
              <a:rPr lang="vi-VN" altLang="en-US" dirty="0" err="1">
                <a:ea typeface="Lato"/>
              </a:rPr>
              <a:t>Use</a:t>
            </a:r>
            <a:r>
              <a:rPr lang="vi-VN" altLang="en-US" dirty="0">
                <a:ea typeface="Lato"/>
              </a:rPr>
              <a:t> </a:t>
            </a:r>
            <a:r>
              <a:rPr lang="vi-VN" altLang="en-US" dirty="0" err="1">
                <a:ea typeface="Lato"/>
              </a:rPr>
              <a:t>Case</a:t>
            </a:r>
            <a:r>
              <a:rPr lang="vi-VN" altLang="en-US" dirty="0">
                <a:ea typeface="Lato"/>
              </a:rPr>
              <a:t> mô tả cách mà người dùng sử dụng hệ thống để hoàn thành một mục tiêu cụ thể (UC/chức năng). Nó được dùng để mô hình hóa chức năng của hệ thống.</a:t>
            </a:r>
          </a:p>
          <a:p>
            <a:pPr marL="0" indent="0" eaLnBrk="1" hangingPunct="1">
              <a:buNone/>
            </a:pPr>
            <a:r>
              <a:rPr lang="vi-VN" altLang="en-US" dirty="0">
                <a:ea typeface="Lato"/>
              </a:rPr>
              <a:t>- Gồm có:</a:t>
            </a:r>
          </a:p>
          <a:p>
            <a:pPr marL="0" indent="0" eaLnBrk="1" hangingPunct="1">
              <a:buNone/>
            </a:pPr>
            <a:r>
              <a:rPr lang="vi-VN" altLang="en-US" dirty="0">
                <a:ea typeface="Lato"/>
              </a:rPr>
              <a:t>+ Hệ thống</a:t>
            </a:r>
          </a:p>
          <a:p>
            <a:pPr marL="0" indent="0" eaLnBrk="1" hangingPunct="1">
              <a:buNone/>
            </a:pPr>
            <a:r>
              <a:rPr lang="vi-VN" altLang="en-US" dirty="0">
                <a:ea typeface="Lato"/>
              </a:rPr>
              <a:t>+ Các tác nhân (</a:t>
            </a:r>
            <a:r>
              <a:rPr lang="vi-VN" altLang="en-US" dirty="0" err="1">
                <a:ea typeface="Lato"/>
              </a:rPr>
              <a:t>actor</a:t>
            </a:r>
            <a:r>
              <a:rPr lang="vi-VN" altLang="en-US" dirty="0">
                <a:ea typeface="Lato"/>
              </a:rPr>
              <a:t>)</a:t>
            </a:r>
          </a:p>
          <a:p>
            <a:pPr marL="0" indent="0" eaLnBrk="1" hangingPunct="1">
              <a:buNone/>
            </a:pPr>
            <a:r>
              <a:rPr lang="vi-VN" altLang="en-US" dirty="0">
                <a:ea typeface="Lato"/>
              </a:rPr>
              <a:t>+ Các UC liên quan</a:t>
            </a:r>
          </a:p>
          <a:p>
            <a:pPr marL="0" indent="0" eaLnBrk="1" hangingPunct="1">
              <a:buNone/>
            </a:pPr>
            <a:r>
              <a:rPr lang="vi-VN" altLang="en-US" dirty="0">
                <a:ea typeface="Lato"/>
              </a:rPr>
              <a:t>+ và các mối quan hệ giữa chúng nhằm trực quan hóa</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22717257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Usecase</a:t>
            </a:r>
            <a:r>
              <a:rPr lang="en-US" altLang="en-US" dirty="0">
                <a:ea typeface="Lato"/>
              </a:rPr>
              <a:t> </a:t>
            </a:r>
            <a:r>
              <a:rPr lang="en-US" altLang="en-US" dirty="0" err="1">
                <a:ea typeface="Lato"/>
              </a:rPr>
              <a:t>là</a:t>
            </a:r>
            <a:r>
              <a:rPr lang="en-US" altLang="en-US" dirty="0">
                <a:ea typeface="Lato"/>
              </a:rPr>
              <a:t> </a:t>
            </a:r>
            <a:r>
              <a:rPr lang="en-US" altLang="en-US" dirty="0" err="1">
                <a:ea typeface="Lato"/>
              </a:rPr>
              <a:t>gì</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dirty="0">
                <a:ea typeface="Lato"/>
              </a:rPr>
              <a:t>- Biểu đồ </a:t>
            </a:r>
            <a:r>
              <a:rPr lang="vi-VN" altLang="en-US" dirty="0" err="1">
                <a:ea typeface="Lato"/>
              </a:rPr>
              <a:t>Use</a:t>
            </a:r>
            <a:r>
              <a:rPr lang="vi-VN" altLang="en-US" dirty="0">
                <a:ea typeface="Lato"/>
              </a:rPr>
              <a:t> </a:t>
            </a:r>
            <a:r>
              <a:rPr lang="vi-VN" altLang="en-US" dirty="0" err="1">
                <a:ea typeface="Lato"/>
              </a:rPr>
              <a:t>Case</a:t>
            </a:r>
            <a:r>
              <a:rPr lang="vi-VN" altLang="en-US" dirty="0">
                <a:ea typeface="Lato"/>
              </a:rPr>
              <a:t> nhằm giúp người phát triển nắm bắt được đúng hệ thống yêu cầu theo quan điểm của người dùng.</a:t>
            </a:r>
          </a:p>
          <a:p>
            <a:pPr marL="0" indent="0" eaLnBrk="1" hangingPunct="1">
              <a:buNone/>
            </a:pPr>
            <a:r>
              <a:rPr lang="en-US" altLang="en-US" dirty="0">
                <a:ea typeface="Lato"/>
              </a:rPr>
              <a:t>- </a:t>
            </a:r>
            <a:r>
              <a:rPr lang="vi-VN" altLang="en-US" dirty="0">
                <a:ea typeface="Lato"/>
              </a:rPr>
              <a:t>Biểu đồ </a:t>
            </a:r>
            <a:r>
              <a:rPr lang="vi-VN" altLang="en-US" dirty="0" err="1">
                <a:ea typeface="Lato"/>
              </a:rPr>
              <a:t>Use</a:t>
            </a:r>
            <a:r>
              <a:rPr lang="vi-VN" altLang="en-US" dirty="0">
                <a:ea typeface="Lato"/>
              </a:rPr>
              <a:t> </a:t>
            </a:r>
            <a:r>
              <a:rPr lang="vi-VN" altLang="en-US" dirty="0" err="1">
                <a:ea typeface="Lato"/>
              </a:rPr>
              <a:t>Case</a:t>
            </a:r>
            <a:r>
              <a:rPr lang="vi-VN" altLang="en-US" dirty="0">
                <a:ea typeface="Lato"/>
              </a:rPr>
              <a:t> là một trong số loại biểu đồ của UML.</a:t>
            </a:r>
          </a:p>
          <a:p>
            <a:pPr marL="0" indent="0" eaLnBrk="1" hangingPunct="1">
              <a:buNone/>
            </a:pPr>
            <a:endParaRPr lang="vi-VN"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554041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Vẽ</a:t>
            </a:r>
            <a:r>
              <a:rPr lang="en-US" altLang="en-US" dirty="0">
                <a:ea typeface="Lato"/>
              </a:rPr>
              <a:t> </a:t>
            </a:r>
            <a:r>
              <a:rPr lang="en-US" altLang="en-US" dirty="0" err="1">
                <a:ea typeface="Lato"/>
              </a:rPr>
              <a:t>biểu</a:t>
            </a:r>
            <a:r>
              <a:rPr lang="en-US" altLang="en-US" dirty="0">
                <a:ea typeface="Lato"/>
              </a:rPr>
              <a:t> </a:t>
            </a:r>
            <a:r>
              <a:rPr lang="en-US" altLang="en-US" dirty="0" err="1">
                <a:ea typeface="Lato"/>
              </a:rPr>
              <a:t>đồ</a:t>
            </a:r>
            <a:r>
              <a:rPr lang="en-US" altLang="en-US" dirty="0">
                <a:ea typeface="Lato"/>
              </a:rPr>
              <a:t> Use Case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3" name="Chỗ dành sẵn cho Nội dung 2">
            <a:extLst>
              <a:ext uri="{FF2B5EF4-FFF2-40B4-BE49-F238E27FC236}">
                <a16:creationId xmlns:a16="http://schemas.microsoft.com/office/drawing/2014/main" id="{4D217EB5-D155-7E6E-40BC-369C4FB30560}"/>
              </a:ext>
            </a:extLst>
          </p:cNvPr>
          <p:cNvSpPr>
            <a:spLocks noGrp="1"/>
          </p:cNvSpPr>
          <p:nvPr>
            <p:ph sz="quarter" idx="13"/>
          </p:nvPr>
        </p:nvSpPr>
        <p:spPr/>
        <p:txBody>
          <a:bodyPr/>
          <a:lstStyle/>
          <a:p>
            <a:endParaRPr lang="vi-VN" dirty="0"/>
          </a:p>
        </p:txBody>
      </p:sp>
      <p:pic>
        <p:nvPicPr>
          <p:cNvPr id="4" name="Hình ảnh 3">
            <a:extLst>
              <a:ext uri="{FF2B5EF4-FFF2-40B4-BE49-F238E27FC236}">
                <a16:creationId xmlns:a16="http://schemas.microsoft.com/office/drawing/2014/main" id="{D85897DD-F58A-A301-9F20-5EB0271F8465}"/>
              </a:ext>
            </a:extLst>
          </p:cNvPr>
          <p:cNvPicPr>
            <a:picLocks noChangeAspect="1"/>
          </p:cNvPicPr>
          <p:nvPr/>
        </p:nvPicPr>
        <p:blipFill>
          <a:blip r:embed="rId2"/>
          <a:stretch>
            <a:fillRect/>
          </a:stretch>
        </p:blipFill>
        <p:spPr>
          <a:xfrm>
            <a:off x="1576873" y="1064574"/>
            <a:ext cx="7819054" cy="4903393"/>
          </a:xfrm>
          <a:prstGeom prst="rect">
            <a:avLst/>
          </a:prstGeom>
        </p:spPr>
      </p:pic>
    </p:spTree>
    <p:extLst>
      <p:ext uri="{BB962C8B-B14F-4D97-AF65-F5344CB8AC3E}">
        <p14:creationId xmlns:p14="http://schemas.microsoft.com/office/powerpoint/2010/main" val="10342116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sz="quarter" idx="13"/>
          </p:nvPr>
        </p:nvSpPr>
        <p:spPr bwMode="auto">
          <a:xfrm>
            <a:off x="4697413" y="1247775"/>
            <a:ext cx="7251700" cy="5205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US" altLang="en-US" dirty="0" err="1">
                <a:ea typeface="Lato"/>
              </a:rPr>
              <a:t>Nhiệm</a:t>
            </a:r>
            <a:r>
              <a:rPr lang="en-US" altLang="en-US" dirty="0">
                <a:ea typeface="Lato"/>
              </a:rPr>
              <a:t> </a:t>
            </a:r>
            <a:r>
              <a:rPr lang="en-US" altLang="en-US" dirty="0" err="1">
                <a:ea typeface="Lato"/>
              </a:rPr>
              <a:t>vụ</a:t>
            </a:r>
            <a:r>
              <a:rPr lang="en-US" altLang="en-US" dirty="0">
                <a:ea typeface="Lato"/>
              </a:rPr>
              <a:t>:</a:t>
            </a:r>
          </a:p>
          <a:p>
            <a:r>
              <a:rPr lang="vi-VN" altLang="en-US" dirty="0">
                <a:ea typeface="Lato"/>
              </a:rPr>
              <a:t>Tìm hiểu về mẫu thiết kế </a:t>
            </a:r>
            <a:r>
              <a:rPr lang="vi-VN" altLang="en-US" dirty="0" err="1">
                <a:ea typeface="Lato"/>
              </a:rPr>
              <a:t>Builder</a:t>
            </a:r>
            <a:r>
              <a:rPr lang="vi-VN" altLang="en-US" dirty="0">
                <a:ea typeface="Lato"/>
              </a:rPr>
              <a:t> </a:t>
            </a:r>
            <a:r>
              <a:rPr lang="vi-VN" altLang="en-US" dirty="0" err="1">
                <a:ea typeface="Lato"/>
              </a:rPr>
              <a:t>design</a:t>
            </a:r>
            <a:r>
              <a:rPr lang="vi-VN" altLang="en-US" dirty="0">
                <a:ea typeface="Lato"/>
              </a:rPr>
              <a:t> </a:t>
            </a:r>
            <a:r>
              <a:rPr lang="vi-VN" altLang="en-US" dirty="0" err="1">
                <a:ea typeface="Lato"/>
              </a:rPr>
              <a:t>pattern</a:t>
            </a:r>
            <a:r>
              <a:rPr lang="vi-VN" altLang="en-US" dirty="0">
                <a:ea typeface="Lato"/>
              </a:rPr>
              <a:t>. Vẽ biểu đồ lớp thiết kế cho chương trình ứng dụng. </a:t>
            </a:r>
            <a:endParaRPr lang="en-US" altLang="en-US" dirty="0">
              <a:ea typeface="Lato"/>
            </a:endParaRPr>
          </a:p>
          <a:p>
            <a:r>
              <a:rPr lang="vi-VN" altLang="en-US" dirty="0">
                <a:ea typeface="Lato"/>
              </a:rPr>
              <a:t>Từ biểu đồ thiết kế và bài toán giảng viên đưa ra, hãy cài đặt đầy đủ nhất có thể cho bài toán thiết kế này bằng ngôn ngữ lập trình </a:t>
            </a:r>
            <a:r>
              <a:rPr lang="vi-VN" altLang="en-US" dirty="0" err="1">
                <a:ea typeface="Lato"/>
              </a:rPr>
              <a:t>Java</a:t>
            </a:r>
            <a:r>
              <a:rPr lang="vi-VN" altLang="en-US" dirty="0">
                <a:ea typeface="Lato"/>
              </a:rPr>
              <a:t>.</a:t>
            </a:r>
            <a:endParaRPr lang="en-US" altLang="en-US" dirty="0">
              <a:ea typeface="Lato"/>
            </a:endParaRPr>
          </a:p>
        </p:txBody>
      </p:sp>
      <p:sp>
        <p:nvSpPr>
          <p:cNvPr id="17411" name="Title 2"/>
          <p:cNvSpPr>
            <a:spLocks noGrp="1"/>
          </p:cNvSpPr>
          <p:nvPr>
            <p:ph type="title"/>
          </p:nvPr>
        </p:nvSpPr>
        <p:spPr bwMode="auto">
          <a:xfrm>
            <a:off x="4697413" y="93307"/>
            <a:ext cx="7251700" cy="7464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4400" dirty="0" err="1">
                <a:ea typeface="Lato"/>
              </a:rPr>
              <a:t>BÀI</a:t>
            </a:r>
            <a:r>
              <a:rPr lang="en-US" altLang="en-US" sz="4400" dirty="0">
                <a:ea typeface="Lato"/>
              </a:rPr>
              <a:t> </a:t>
            </a:r>
            <a:r>
              <a:rPr lang="en-US" altLang="en-US" sz="4400" dirty="0" err="1">
                <a:ea typeface="Lato"/>
              </a:rPr>
              <a:t>TIỂU</a:t>
            </a:r>
            <a:r>
              <a:rPr lang="en-US" altLang="en-US" sz="4400" dirty="0">
                <a:ea typeface="Lato"/>
              </a:rPr>
              <a:t> </a:t>
            </a:r>
            <a:r>
              <a:rPr lang="en-US" altLang="en-US" sz="4400" dirty="0" err="1">
                <a:ea typeface="Lato"/>
              </a:rPr>
              <a:t>LUẬN</a:t>
            </a:r>
            <a:r>
              <a:rPr lang="en-US" altLang="en-US" sz="4400" dirty="0">
                <a:ea typeface="Lato"/>
              </a:rPr>
              <a:t> </a:t>
            </a:r>
            <a:r>
              <a:rPr lang="en-US" altLang="en-US" sz="4400" dirty="0" err="1">
                <a:ea typeface="Lato"/>
              </a:rPr>
              <a:t>SỐ</a:t>
            </a:r>
            <a:r>
              <a:rPr lang="en-US" altLang="en-US" sz="4400" dirty="0">
                <a:ea typeface="Lato"/>
              </a:rPr>
              <a:t> 4</a:t>
            </a:r>
          </a:p>
        </p:txBody>
      </p:sp>
      <p:sp>
        <p:nvSpPr>
          <p:cNvPr id="4" name="Slide Number Placeholder 3"/>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21E2E5-C906-4F0C-84C9-99E42D1D2416}" type="slidenum">
              <a:rPr kumimoji="0" lang="en-US" sz="1000" b="0" i="0" u="none" strike="noStrike" kern="1200" cap="none" spc="0" normalizeH="0" baseline="0" noProof="0" smtClean="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3012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mẫu</a:t>
            </a:r>
            <a:r>
              <a:rPr lang="en-US" altLang="en-US" dirty="0">
                <a:ea typeface="Lato"/>
              </a:rPr>
              <a:t> Builder design pattern</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1.1. </a:t>
            </a:r>
            <a:r>
              <a:rPr lang="en-US" altLang="en-US" dirty="0" err="1">
                <a:ea typeface="Lato"/>
              </a:rPr>
              <a:t>Giới</a:t>
            </a:r>
            <a:r>
              <a:rPr lang="en-US" altLang="en-US" dirty="0">
                <a:ea typeface="Lato"/>
              </a:rPr>
              <a:t> </a:t>
            </a:r>
            <a:r>
              <a:rPr lang="en-US" altLang="en-US" dirty="0" err="1">
                <a:ea typeface="Lato"/>
              </a:rPr>
              <a:t>thiệu</a:t>
            </a:r>
            <a:endParaRPr lang="en-US" altLang="en-US" dirty="0">
              <a:ea typeface="Lato"/>
            </a:endParaRPr>
          </a:p>
          <a:p>
            <a:pPr marL="0" indent="0" eaLnBrk="1" hangingPunct="1">
              <a:buNone/>
            </a:pPr>
            <a:r>
              <a:rPr lang="en-US" altLang="en-US" dirty="0">
                <a:ea typeface="Lato"/>
              </a:rPr>
              <a:t>- </a:t>
            </a:r>
            <a:r>
              <a:rPr lang="vi-VN" altLang="en-US" dirty="0">
                <a:ea typeface="Lato"/>
              </a:rPr>
              <a:t>Mẫu thiết kế </a:t>
            </a:r>
            <a:r>
              <a:rPr lang="vi-VN" altLang="en-US" dirty="0" err="1">
                <a:ea typeface="Lato"/>
              </a:rPr>
              <a:t>Builder</a:t>
            </a:r>
            <a:r>
              <a:rPr lang="vi-VN" altLang="en-US" dirty="0">
                <a:ea typeface="Lato"/>
              </a:rPr>
              <a:t> (BDP) là mẫu thiết kế phần mầm cung cấp giải pháp linh hoạt cho nhiều vấn đề tạo đối tượng trong lập trình hướng đối tượng, là một phần của </a:t>
            </a:r>
            <a:r>
              <a:rPr lang="vi-VN" altLang="en-US" dirty="0" err="1">
                <a:ea typeface="Lato"/>
              </a:rPr>
              <a:t>creation</a:t>
            </a:r>
            <a:r>
              <a:rPr lang="vi-VN" altLang="en-US" dirty="0">
                <a:ea typeface="Lato"/>
              </a:rPr>
              <a:t> </a:t>
            </a:r>
            <a:r>
              <a:rPr lang="vi-VN" altLang="en-US" dirty="0" err="1">
                <a:ea typeface="Lato"/>
              </a:rPr>
              <a:t>pattern</a:t>
            </a:r>
            <a:r>
              <a:rPr lang="vi-VN" altLang="en-US" dirty="0">
                <a:ea typeface="Lato"/>
              </a:rPr>
              <a:t> (mẫu thiết kế cho việc khởi tạo đối tượng của lớp. Nó được dùng để xây dựng một đối tượng phức tạp bằng các đối tượng đơn giản rồi tiếp cận từng bước.</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2962844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mẫu</a:t>
            </a:r>
            <a:r>
              <a:rPr lang="en-US" altLang="en-US" dirty="0">
                <a:ea typeface="Lato"/>
              </a:rPr>
              <a:t> Builder design pattern</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1.2. </a:t>
            </a:r>
            <a:r>
              <a:rPr lang="en-US" altLang="en-US" dirty="0" err="1">
                <a:ea typeface="Lato"/>
              </a:rPr>
              <a:t>Đặc</a:t>
            </a:r>
            <a:r>
              <a:rPr lang="en-US" altLang="en-US" dirty="0">
                <a:ea typeface="Lato"/>
              </a:rPr>
              <a:t> </a:t>
            </a:r>
            <a:r>
              <a:rPr lang="en-US" altLang="en-US" dirty="0" err="1">
                <a:ea typeface="Lato"/>
              </a:rPr>
              <a:t>điểm</a:t>
            </a:r>
            <a:endParaRPr lang="en-US" altLang="en-US" dirty="0">
              <a:ea typeface="Lato"/>
            </a:endParaRPr>
          </a:p>
          <a:p>
            <a:pPr marL="0" indent="0" eaLnBrk="1" hangingPunct="1">
              <a:buNone/>
            </a:pPr>
            <a:r>
              <a:rPr lang="vi-VN" altLang="en-US" dirty="0">
                <a:ea typeface="Lato"/>
              </a:rPr>
              <a:t>-	Tách biệt quá trình xây dựng và biểu diễn.</a:t>
            </a:r>
          </a:p>
          <a:p>
            <a:pPr marL="0" indent="0" eaLnBrk="1" hangingPunct="1">
              <a:buNone/>
            </a:pPr>
            <a:r>
              <a:rPr lang="vi-VN" altLang="en-US" dirty="0">
                <a:ea typeface="Lato"/>
              </a:rPr>
              <a:t>-	Linh hoạt và dễ bảo trì.</a:t>
            </a:r>
          </a:p>
          <a:p>
            <a:pPr marL="0" indent="0" eaLnBrk="1" hangingPunct="1">
              <a:buNone/>
            </a:pPr>
            <a:r>
              <a:rPr lang="vi-VN" altLang="en-US" dirty="0">
                <a:ea typeface="Lato"/>
              </a:rPr>
              <a:t>-	Tạo đối tượng từng bước.</a:t>
            </a:r>
          </a:p>
          <a:p>
            <a:pPr marL="0" indent="0" eaLnBrk="1" hangingPunct="1">
              <a:buNone/>
            </a:pPr>
            <a:r>
              <a:rPr lang="vi-VN" altLang="en-US" dirty="0">
                <a:ea typeface="Lato"/>
              </a:rPr>
              <a:t>-	Hỗ trợ các đối tượng phức tạo</a:t>
            </a:r>
          </a:p>
          <a:p>
            <a:pPr marL="0" indent="0" eaLnBrk="1" hangingPunct="1">
              <a:buNone/>
            </a:pPr>
            <a:r>
              <a:rPr lang="vi-VN" altLang="en-US" dirty="0">
                <a:ea typeface="Lato"/>
              </a:rPr>
              <a:t>-	Tạo các đối tượng đảm bảo tính nhất quán (còn gọi là </a:t>
            </a:r>
            <a:r>
              <a:rPr lang="vi-VN" altLang="en-US" dirty="0" err="1">
                <a:ea typeface="Lato"/>
              </a:rPr>
              <a:t>immutable</a:t>
            </a:r>
            <a:r>
              <a:rPr lang="vi-VN" altLang="en-US" dirty="0">
                <a:ea typeface="Lato"/>
              </a:rPr>
              <a:t>)</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2057727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mẫu</a:t>
            </a:r>
            <a:r>
              <a:rPr lang="en-US" altLang="en-US" dirty="0">
                <a:ea typeface="Lato"/>
              </a:rPr>
              <a:t> Builder design pattern</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1.3. </a:t>
            </a:r>
            <a:r>
              <a:rPr lang="en-US" altLang="en-US" dirty="0" err="1">
                <a:ea typeface="Lato"/>
              </a:rPr>
              <a:t>Cấu</a:t>
            </a:r>
            <a:r>
              <a:rPr lang="en-US" altLang="en-US" dirty="0">
                <a:ea typeface="Lato"/>
              </a:rPr>
              <a:t> </a:t>
            </a:r>
            <a:r>
              <a:rPr lang="en-US" altLang="en-US" dirty="0" err="1">
                <a:ea typeface="Lato"/>
              </a:rPr>
              <a:t>trúc</a:t>
            </a:r>
            <a:r>
              <a:rPr lang="en-US" altLang="en-US" dirty="0">
                <a:ea typeface="Lato"/>
              </a:rPr>
              <a:t> </a:t>
            </a:r>
            <a:r>
              <a:rPr lang="en-US" altLang="en-US" dirty="0" err="1">
                <a:ea typeface="Lato"/>
              </a:rPr>
              <a:t>và</a:t>
            </a:r>
            <a:r>
              <a:rPr lang="en-US" altLang="en-US" dirty="0">
                <a:ea typeface="Lato"/>
              </a:rPr>
              <a:t> </a:t>
            </a:r>
            <a:r>
              <a:rPr lang="en-US" altLang="en-US" dirty="0" err="1">
                <a:ea typeface="Lato"/>
              </a:rPr>
              <a:t>cách</a:t>
            </a:r>
            <a:r>
              <a:rPr lang="en-US" altLang="en-US" dirty="0">
                <a:ea typeface="Lato"/>
              </a:rPr>
              <a:t> </a:t>
            </a:r>
            <a:r>
              <a:rPr lang="en-US" altLang="en-US" dirty="0" err="1">
                <a:ea typeface="Lato"/>
              </a:rPr>
              <a:t>hoạt</a:t>
            </a:r>
            <a:r>
              <a:rPr lang="en-US" altLang="en-US" dirty="0">
                <a:ea typeface="Lato"/>
              </a:rPr>
              <a:t> </a:t>
            </a:r>
            <a:r>
              <a:rPr lang="en-US" altLang="en-US" dirty="0" err="1">
                <a:ea typeface="Lato"/>
              </a:rPr>
              <a:t>động</a:t>
            </a:r>
            <a:endParaRPr lang="en-US" altLang="en-US" dirty="0">
              <a:ea typeface="Lato"/>
            </a:endParaRPr>
          </a:p>
          <a:p>
            <a:pPr marL="0" indent="0" eaLnBrk="1" hangingPunct="1">
              <a:buNone/>
            </a:pPr>
            <a:r>
              <a:rPr lang="vi-VN" altLang="en-US" dirty="0">
                <a:ea typeface="Lato"/>
              </a:rPr>
              <a:t>1. </a:t>
            </a:r>
            <a:r>
              <a:rPr lang="vi-VN" altLang="en-US" dirty="0" err="1">
                <a:ea typeface="Lato"/>
              </a:rPr>
              <a:t>Builder</a:t>
            </a:r>
            <a:r>
              <a:rPr lang="vi-VN" altLang="en-US" dirty="0">
                <a:ea typeface="Lato"/>
              </a:rPr>
              <a:t>: khai báo các bước </a:t>
            </a:r>
            <a:r>
              <a:rPr lang="vi-VN" altLang="en-US" dirty="0" err="1">
                <a:ea typeface="Lato"/>
              </a:rPr>
              <a:t>product</a:t>
            </a:r>
            <a:r>
              <a:rPr lang="vi-VN" altLang="en-US" dirty="0">
                <a:ea typeface="Lato"/>
              </a:rPr>
              <a:t> </a:t>
            </a:r>
            <a:r>
              <a:rPr lang="vi-VN" altLang="en-US" dirty="0" err="1">
                <a:ea typeface="Lato"/>
              </a:rPr>
              <a:t>construction</a:t>
            </a:r>
            <a:r>
              <a:rPr lang="vi-VN" altLang="en-US" dirty="0">
                <a:ea typeface="Lato"/>
              </a:rPr>
              <a:t> chung cho các </a:t>
            </a:r>
            <a:r>
              <a:rPr lang="vi-VN" altLang="en-US" dirty="0" err="1">
                <a:ea typeface="Lato"/>
              </a:rPr>
              <a:t>builder</a:t>
            </a:r>
            <a:r>
              <a:rPr lang="vi-VN" altLang="en-US" dirty="0">
                <a:ea typeface="Lato"/>
              </a:rPr>
              <a:t>, tạo nên các sản phẩm. Là một </a:t>
            </a:r>
            <a:r>
              <a:rPr lang="vi-VN" altLang="en-US" dirty="0" err="1">
                <a:ea typeface="Lato"/>
              </a:rPr>
              <a:t>interface</a:t>
            </a:r>
            <a:r>
              <a:rPr lang="vi-VN" altLang="en-US" dirty="0">
                <a:ea typeface="Lato"/>
              </a:rPr>
              <a:t> trừu tượng.</a:t>
            </a:r>
          </a:p>
          <a:p>
            <a:pPr marL="0" indent="0" eaLnBrk="1" hangingPunct="1">
              <a:buNone/>
            </a:pPr>
            <a:r>
              <a:rPr lang="vi-VN" altLang="en-US" dirty="0">
                <a:ea typeface="Lato"/>
              </a:rPr>
              <a:t>2. </a:t>
            </a:r>
            <a:r>
              <a:rPr lang="vi-VN" altLang="en-US" dirty="0" err="1">
                <a:ea typeface="Lato"/>
              </a:rPr>
              <a:t>Concrete</a:t>
            </a:r>
            <a:r>
              <a:rPr lang="vi-VN" altLang="en-US" dirty="0">
                <a:ea typeface="Lato"/>
              </a:rPr>
              <a:t> </a:t>
            </a:r>
            <a:r>
              <a:rPr lang="vi-VN" altLang="en-US" dirty="0" err="1">
                <a:ea typeface="Lato"/>
              </a:rPr>
              <a:t>Builder</a:t>
            </a:r>
            <a:r>
              <a:rPr lang="vi-VN" altLang="en-US" dirty="0">
                <a:ea typeface="Lato"/>
              </a:rPr>
              <a:t>: cung cấp các cách triển khai khác nhau của các bước cho </a:t>
            </a:r>
            <a:r>
              <a:rPr lang="vi-VN" altLang="en-US" dirty="0" err="1">
                <a:ea typeface="Lato"/>
              </a:rPr>
              <a:t>Builder</a:t>
            </a:r>
            <a:r>
              <a:rPr lang="vi-VN" altLang="en-US" dirty="0">
                <a:ea typeface="Lato"/>
              </a:rPr>
              <a:t>. Có thể tạo các </a:t>
            </a:r>
            <a:r>
              <a:rPr lang="vi-VN" altLang="en-US" dirty="0" err="1">
                <a:ea typeface="Lato"/>
              </a:rPr>
              <a:t>product</a:t>
            </a:r>
            <a:r>
              <a:rPr lang="vi-VN" altLang="en-US" dirty="0">
                <a:ea typeface="Lato"/>
              </a:rPr>
              <a:t> không tuân theo </a:t>
            </a:r>
            <a:r>
              <a:rPr lang="vi-VN" altLang="en-US" dirty="0" err="1">
                <a:ea typeface="Lato"/>
              </a:rPr>
              <a:t>motif</a:t>
            </a:r>
            <a:r>
              <a:rPr lang="vi-VN" altLang="en-US" dirty="0">
                <a:ea typeface="Lato"/>
              </a:rPr>
              <a:t> chung.</a:t>
            </a:r>
          </a:p>
          <a:p>
            <a:pPr marL="0" indent="0" eaLnBrk="1" hangingPunct="1">
              <a:buNone/>
            </a:pPr>
            <a:r>
              <a:rPr lang="vi-VN" altLang="en-US" dirty="0">
                <a:ea typeface="Lato"/>
              </a:rPr>
              <a:t>3. </a:t>
            </a:r>
            <a:r>
              <a:rPr lang="vi-VN" altLang="en-US" dirty="0" err="1">
                <a:ea typeface="Lato"/>
              </a:rPr>
              <a:t>Product</a:t>
            </a:r>
            <a:r>
              <a:rPr lang="vi-VN" altLang="en-US" dirty="0">
                <a:ea typeface="Lato"/>
              </a:rPr>
              <a:t>: các đối tượng kết quả. Không nhất thiết phải thuộc cùng hệ thống phân cấp hoặc giao diện lớp.</a:t>
            </a:r>
          </a:p>
          <a:p>
            <a:pPr marL="0" indent="0" eaLnBrk="1" hangingPunct="1">
              <a:buNone/>
            </a:pPr>
            <a:r>
              <a:rPr lang="vi-VN" altLang="en-US" dirty="0">
                <a:ea typeface="Lato"/>
              </a:rPr>
              <a:t>4. </a:t>
            </a:r>
            <a:r>
              <a:rPr lang="vi-VN" altLang="en-US" dirty="0" err="1">
                <a:ea typeface="Lato"/>
              </a:rPr>
              <a:t>Director</a:t>
            </a:r>
            <a:r>
              <a:rPr lang="vi-VN" altLang="en-US" dirty="0">
                <a:ea typeface="Lato"/>
              </a:rPr>
              <a:t>: xác định thứ tự gọi các bước </a:t>
            </a:r>
            <a:r>
              <a:rPr lang="vi-VN" altLang="en-US" dirty="0" err="1">
                <a:ea typeface="Lato"/>
              </a:rPr>
              <a:t>construction</a:t>
            </a:r>
            <a:r>
              <a:rPr lang="vi-VN" altLang="en-US" dirty="0">
                <a:ea typeface="Lato"/>
              </a:rPr>
              <a:t> và không trực tiếp thực hiện chúng. Có thể tạo và sử dụng lại các cấu hình cụ thể.</a:t>
            </a:r>
          </a:p>
          <a:p>
            <a:pPr marL="0" indent="0" eaLnBrk="1" hangingPunct="1">
              <a:buNone/>
            </a:pPr>
            <a:r>
              <a:rPr lang="vi-VN" altLang="en-US" dirty="0">
                <a:ea typeface="Lato"/>
              </a:rPr>
              <a:t>5. </a:t>
            </a:r>
            <a:r>
              <a:rPr lang="vi-VN" altLang="en-US" dirty="0" err="1">
                <a:ea typeface="Lato"/>
              </a:rPr>
              <a:t>Client</a:t>
            </a:r>
            <a:r>
              <a:rPr lang="vi-VN" altLang="en-US" dirty="0">
                <a:ea typeface="Lato"/>
              </a:rPr>
              <a:t>: liên kết một trong các đối tượng tạo với </a:t>
            </a:r>
            <a:r>
              <a:rPr lang="vi-VN" altLang="en-US" dirty="0" err="1">
                <a:ea typeface="Lato"/>
              </a:rPr>
              <a:t>director</a:t>
            </a:r>
            <a:r>
              <a:rPr lang="vi-VN" altLang="en-US" dirty="0">
                <a:ea typeface="Lato"/>
              </a:rPr>
              <a:t>.</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177563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mẫu</a:t>
            </a:r>
            <a:r>
              <a:rPr lang="en-US" altLang="en-US" dirty="0">
                <a:ea typeface="Lato"/>
              </a:rPr>
              <a:t> Builder design pattern</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2" name="Chỗ dành sẵn cho Nội dung 1">
            <a:extLst>
              <a:ext uri="{FF2B5EF4-FFF2-40B4-BE49-F238E27FC236}">
                <a16:creationId xmlns:a16="http://schemas.microsoft.com/office/drawing/2014/main" id="{40EC6D81-110A-D1FA-AF1F-CA69B4C32CD2}"/>
              </a:ext>
            </a:extLst>
          </p:cNvPr>
          <p:cNvSpPr>
            <a:spLocks noGrp="1"/>
          </p:cNvSpPr>
          <p:nvPr>
            <p:ph sz="quarter" idx="13"/>
          </p:nvPr>
        </p:nvSpPr>
        <p:spPr/>
        <p:txBody>
          <a:bodyPr/>
          <a:lstStyle/>
          <a:p>
            <a:endParaRPr lang="vi-VN"/>
          </a:p>
        </p:txBody>
      </p:sp>
      <p:pic>
        <p:nvPicPr>
          <p:cNvPr id="3" name="Hình ảnh 2" descr="Ảnh có chứa văn bản, ảnh chụp màn hình, Phông chữ, biểu đồ&#10;&#10;Mô tả được tạo tự động">
            <a:extLst>
              <a:ext uri="{FF2B5EF4-FFF2-40B4-BE49-F238E27FC236}">
                <a16:creationId xmlns:a16="http://schemas.microsoft.com/office/drawing/2014/main" id="{82363FC1-488C-6AE7-D530-3C0BD6A457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1555" y="1145499"/>
            <a:ext cx="4568889" cy="5009914"/>
          </a:xfrm>
          <a:prstGeom prst="rect">
            <a:avLst/>
          </a:prstGeom>
          <a:noFill/>
          <a:ln>
            <a:noFill/>
          </a:ln>
        </p:spPr>
      </p:pic>
    </p:spTree>
    <p:extLst>
      <p:ext uri="{BB962C8B-B14F-4D97-AF65-F5344CB8AC3E}">
        <p14:creationId xmlns:p14="http://schemas.microsoft.com/office/powerpoint/2010/main" val="1051008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mẫu</a:t>
            </a:r>
            <a:r>
              <a:rPr lang="en-US" altLang="en-US" dirty="0">
                <a:ea typeface="Lato"/>
              </a:rPr>
              <a:t> Builder design pattern</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1.3. </a:t>
            </a:r>
            <a:r>
              <a:rPr lang="en-US" altLang="en-US" dirty="0" err="1">
                <a:ea typeface="Lato"/>
              </a:rPr>
              <a:t>Ưu</a:t>
            </a:r>
            <a:r>
              <a:rPr lang="en-US" altLang="en-US" dirty="0">
                <a:ea typeface="Lato"/>
              </a:rPr>
              <a:t> </a:t>
            </a:r>
            <a:r>
              <a:rPr lang="en-US" altLang="en-US" dirty="0" err="1">
                <a:ea typeface="Lato"/>
              </a:rPr>
              <a:t>và</a:t>
            </a:r>
            <a:r>
              <a:rPr lang="en-US" altLang="en-US" dirty="0">
                <a:ea typeface="Lato"/>
              </a:rPr>
              <a:t> </a:t>
            </a:r>
            <a:r>
              <a:rPr lang="en-US" altLang="en-US" dirty="0" err="1">
                <a:ea typeface="Lato"/>
              </a:rPr>
              <a:t>nhược</a:t>
            </a:r>
            <a:r>
              <a:rPr lang="en-US" altLang="en-US" dirty="0">
                <a:ea typeface="Lato"/>
              </a:rPr>
              <a:t> </a:t>
            </a:r>
            <a:r>
              <a:rPr lang="en-US" altLang="en-US" dirty="0" err="1">
                <a:ea typeface="Lato"/>
              </a:rPr>
              <a:t>điểm</a:t>
            </a:r>
            <a:endParaRPr lang="en-US" altLang="en-US" dirty="0">
              <a:ea typeface="Lato"/>
            </a:endParaRPr>
          </a:p>
          <a:p>
            <a:pPr marL="0" indent="0" eaLnBrk="1" hangingPunct="1">
              <a:buNone/>
            </a:pPr>
            <a:r>
              <a:rPr lang="vi-VN" altLang="en-US" dirty="0">
                <a:ea typeface="Lato"/>
              </a:rPr>
              <a:t>•	Ưu điểm:</a:t>
            </a:r>
          </a:p>
          <a:p>
            <a:pPr marL="0" indent="0" eaLnBrk="1" hangingPunct="1">
              <a:buNone/>
            </a:pPr>
            <a:r>
              <a:rPr lang="vi-VN" altLang="en-US" dirty="0">
                <a:ea typeface="Lato"/>
              </a:rPr>
              <a:t>-	Có thể xây dựng các đối tượng theo từng bước, trì hoãn các bước xây dựng hoặc chạy các bước một cách đệ quy.</a:t>
            </a:r>
          </a:p>
          <a:p>
            <a:pPr marL="0" indent="0" eaLnBrk="1" hangingPunct="1">
              <a:buNone/>
            </a:pPr>
            <a:r>
              <a:rPr lang="vi-VN" altLang="en-US" dirty="0">
                <a:ea typeface="Lato"/>
              </a:rPr>
              <a:t>-	Có thể sử dụng lại cùng một </a:t>
            </a:r>
            <a:r>
              <a:rPr lang="vi-VN" altLang="en-US" dirty="0" err="1">
                <a:ea typeface="Lato"/>
              </a:rPr>
              <a:t>construction</a:t>
            </a:r>
            <a:r>
              <a:rPr lang="vi-VN" altLang="en-US" dirty="0">
                <a:ea typeface="Lato"/>
              </a:rPr>
              <a:t> </a:t>
            </a:r>
            <a:r>
              <a:rPr lang="vi-VN" altLang="en-US" dirty="0" err="1">
                <a:ea typeface="Lato"/>
              </a:rPr>
              <a:t>code</a:t>
            </a:r>
            <a:r>
              <a:rPr lang="vi-VN" altLang="en-US" dirty="0">
                <a:ea typeface="Lato"/>
              </a:rPr>
              <a:t> khi xây dựng các thuộc tính khác nhau của sản phẩm.</a:t>
            </a:r>
          </a:p>
          <a:p>
            <a:pPr marL="0" indent="0" eaLnBrk="1" hangingPunct="1">
              <a:buNone/>
            </a:pPr>
            <a:r>
              <a:rPr lang="vi-VN" altLang="en-US" dirty="0">
                <a:ea typeface="Lato"/>
              </a:rPr>
              <a:t>-	Nguyên tắc Trách nhiệm Đơn lẻ. Có thể tách biệt </a:t>
            </a:r>
            <a:r>
              <a:rPr lang="vi-VN" altLang="en-US" dirty="0" err="1">
                <a:ea typeface="Lato"/>
              </a:rPr>
              <a:t>Construction</a:t>
            </a:r>
            <a:r>
              <a:rPr lang="vi-VN" altLang="en-US" dirty="0">
                <a:ea typeface="Lato"/>
              </a:rPr>
              <a:t> </a:t>
            </a:r>
            <a:r>
              <a:rPr lang="vi-VN" altLang="en-US" dirty="0" err="1">
                <a:ea typeface="Lato"/>
              </a:rPr>
              <a:t>Code</a:t>
            </a:r>
            <a:r>
              <a:rPr lang="vi-VN" altLang="en-US" dirty="0">
                <a:ea typeface="Lato"/>
              </a:rPr>
              <a:t> phức tạp khỏi </a:t>
            </a:r>
            <a:r>
              <a:rPr lang="vi-VN" altLang="en-US" dirty="0" err="1">
                <a:ea typeface="Lato"/>
              </a:rPr>
              <a:t>Business</a:t>
            </a:r>
            <a:r>
              <a:rPr lang="vi-VN" altLang="en-US" dirty="0">
                <a:ea typeface="Lato"/>
              </a:rPr>
              <a:t> </a:t>
            </a:r>
            <a:r>
              <a:rPr lang="vi-VN" altLang="en-US" dirty="0" err="1">
                <a:ea typeface="Lato"/>
              </a:rPr>
              <a:t>Logic</a:t>
            </a:r>
            <a:r>
              <a:rPr lang="vi-VN" altLang="en-US" dirty="0">
                <a:ea typeface="Lato"/>
              </a:rPr>
              <a:t> </a:t>
            </a:r>
            <a:r>
              <a:rPr lang="vi-VN" altLang="en-US" dirty="0" err="1">
                <a:ea typeface="Lato"/>
              </a:rPr>
              <a:t>Layer</a:t>
            </a:r>
            <a:r>
              <a:rPr lang="vi-VN" altLang="en-US" dirty="0">
                <a:ea typeface="Lato"/>
              </a:rPr>
              <a:t> của sản phẩm.</a:t>
            </a:r>
          </a:p>
          <a:p>
            <a:pPr marL="0" indent="0" eaLnBrk="1" hangingPunct="1">
              <a:buNone/>
            </a:pPr>
            <a:r>
              <a:rPr lang="vi-VN" altLang="en-US" dirty="0">
                <a:ea typeface="Lato"/>
              </a:rPr>
              <a:t>-	Cho phép bạn thay đổi các thể hiện khác nhau của từng sản phẩm.</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199546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mẫu</a:t>
            </a:r>
            <a:r>
              <a:rPr lang="en-US" altLang="en-US" dirty="0">
                <a:ea typeface="Lato"/>
              </a:rPr>
              <a:t> Builder design pattern</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1.3. </a:t>
            </a:r>
            <a:r>
              <a:rPr lang="en-US" altLang="en-US" dirty="0" err="1">
                <a:ea typeface="Lato"/>
              </a:rPr>
              <a:t>Ưu</a:t>
            </a:r>
            <a:r>
              <a:rPr lang="en-US" altLang="en-US" dirty="0">
                <a:ea typeface="Lato"/>
              </a:rPr>
              <a:t> </a:t>
            </a:r>
            <a:r>
              <a:rPr lang="en-US" altLang="en-US" dirty="0" err="1">
                <a:ea typeface="Lato"/>
              </a:rPr>
              <a:t>và</a:t>
            </a:r>
            <a:r>
              <a:rPr lang="en-US" altLang="en-US" dirty="0">
                <a:ea typeface="Lato"/>
              </a:rPr>
              <a:t> </a:t>
            </a:r>
            <a:r>
              <a:rPr lang="en-US" altLang="en-US" dirty="0" err="1">
                <a:ea typeface="Lato"/>
              </a:rPr>
              <a:t>nhược</a:t>
            </a:r>
            <a:r>
              <a:rPr lang="en-US" altLang="en-US" dirty="0">
                <a:ea typeface="Lato"/>
              </a:rPr>
              <a:t> </a:t>
            </a:r>
            <a:r>
              <a:rPr lang="en-US" altLang="en-US" dirty="0" err="1">
                <a:ea typeface="Lato"/>
              </a:rPr>
              <a:t>điểm</a:t>
            </a:r>
            <a:endParaRPr lang="en-US" altLang="en-US" dirty="0">
              <a:ea typeface="Lato"/>
            </a:endParaRPr>
          </a:p>
          <a:p>
            <a:pPr marL="0" indent="0" eaLnBrk="1" hangingPunct="1">
              <a:buNone/>
            </a:pPr>
            <a:r>
              <a:rPr lang="vi-VN" altLang="en-US" dirty="0">
                <a:ea typeface="Lato"/>
              </a:rPr>
              <a:t>-	Tính đóng gói </a:t>
            </a:r>
            <a:r>
              <a:rPr lang="vi-VN" altLang="en-US" dirty="0" err="1">
                <a:ea typeface="Lato"/>
              </a:rPr>
              <a:t>code</a:t>
            </a:r>
            <a:r>
              <a:rPr lang="vi-VN" altLang="en-US" dirty="0">
                <a:ea typeface="Lato"/>
              </a:rPr>
              <a:t> cho </a:t>
            </a:r>
            <a:r>
              <a:rPr lang="vi-VN" altLang="en-US" dirty="0" err="1">
                <a:ea typeface="Lato"/>
              </a:rPr>
              <a:t>construction</a:t>
            </a:r>
            <a:r>
              <a:rPr lang="vi-VN" altLang="en-US" dirty="0">
                <a:ea typeface="Lato"/>
              </a:rPr>
              <a:t>.</a:t>
            </a:r>
          </a:p>
          <a:p>
            <a:pPr marL="0" indent="0" eaLnBrk="1" hangingPunct="1">
              <a:buNone/>
            </a:pPr>
            <a:r>
              <a:rPr lang="vi-VN" altLang="en-US" dirty="0">
                <a:ea typeface="Lato"/>
              </a:rPr>
              <a:t>-	Cung cấp khả năng kiểm soát các bước của quy trình </a:t>
            </a:r>
            <a:r>
              <a:rPr lang="vi-VN" altLang="en-US" dirty="0" err="1">
                <a:ea typeface="Lato"/>
              </a:rPr>
              <a:t>construction</a:t>
            </a:r>
            <a:r>
              <a:rPr lang="vi-VN" altLang="en-US" dirty="0">
                <a:ea typeface="Lato"/>
              </a:rPr>
              <a:t>.</a:t>
            </a:r>
          </a:p>
          <a:p>
            <a:pPr marL="0" indent="0" eaLnBrk="1" hangingPunct="1">
              <a:buNone/>
            </a:pPr>
            <a:r>
              <a:rPr lang="vi-VN" altLang="en-US" dirty="0">
                <a:ea typeface="Lato"/>
              </a:rPr>
              <a:t>•	Nhược điểm:</a:t>
            </a:r>
          </a:p>
          <a:p>
            <a:pPr marL="0" indent="0" eaLnBrk="1" hangingPunct="1">
              <a:buNone/>
            </a:pPr>
            <a:r>
              <a:rPr lang="vi-VN" altLang="en-US" dirty="0">
                <a:ea typeface="Lato"/>
              </a:rPr>
              <a:t>-	Độ phức tạp tổng thể của </a:t>
            </a:r>
            <a:r>
              <a:rPr lang="vi-VN" altLang="en-US" dirty="0" err="1">
                <a:ea typeface="Lato"/>
              </a:rPr>
              <a:t>code</a:t>
            </a:r>
            <a:r>
              <a:rPr lang="vi-VN" altLang="en-US" dirty="0">
                <a:ea typeface="Lato"/>
              </a:rPr>
              <a:t> tăng lên vì bạn cần xây dựng nhiều </a:t>
            </a:r>
            <a:r>
              <a:rPr lang="vi-VN" altLang="en-US" dirty="0" err="1">
                <a:ea typeface="Lato"/>
              </a:rPr>
              <a:t>class</a:t>
            </a:r>
            <a:r>
              <a:rPr lang="vi-VN" altLang="en-US" dirty="0">
                <a:ea typeface="Lato"/>
              </a:rPr>
              <a:t> mới.</a:t>
            </a:r>
          </a:p>
          <a:p>
            <a:pPr marL="0" indent="0" eaLnBrk="1" hangingPunct="1">
              <a:buNone/>
            </a:pPr>
            <a:r>
              <a:rPr lang="vi-VN" altLang="en-US" dirty="0">
                <a:ea typeface="Lato"/>
              </a:rPr>
              <a:t>-	Mỗi </a:t>
            </a:r>
            <a:r>
              <a:rPr lang="vi-VN" altLang="en-US" dirty="0" err="1">
                <a:ea typeface="Lato"/>
              </a:rPr>
              <a:t>ConcreteBuilder</a:t>
            </a:r>
            <a:r>
              <a:rPr lang="vi-VN" altLang="en-US" dirty="0">
                <a:ea typeface="Lato"/>
              </a:rPr>
              <a:t> riêng biệt phải được tạo cho từng loại sản phẩm.</a:t>
            </a:r>
          </a:p>
          <a:p>
            <a:pPr marL="0" indent="0" eaLnBrk="1" hangingPunct="1">
              <a:buNone/>
            </a:pPr>
            <a:r>
              <a:rPr lang="vi-VN" altLang="en-US" dirty="0">
                <a:ea typeface="Lato"/>
              </a:rPr>
              <a:t>-	Các lớp </a:t>
            </a:r>
            <a:r>
              <a:rPr lang="vi-VN" altLang="en-US" dirty="0" err="1">
                <a:ea typeface="Lato"/>
              </a:rPr>
              <a:t>Builder</a:t>
            </a:r>
            <a:r>
              <a:rPr lang="vi-VN" altLang="en-US" dirty="0">
                <a:ea typeface="Lato"/>
              </a:rPr>
              <a:t> buộc phải thay đổi -&gt; không có tính linh hoạt cao.</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1858565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a:t>
            </a:r>
            <a:r>
              <a:rPr lang="en-US" altLang="en-US" dirty="0" err="1">
                <a:ea typeface="Lato"/>
              </a:rPr>
              <a:t>mẫu</a:t>
            </a:r>
            <a:r>
              <a:rPr lang="en-US" altLang="en-US" dirty="0">
                <a:ea typeface="Lato"/>
              </a:rPr>
              <a:t> Builder design pattern</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1.4. </a:t>
            </a:r>
            <a:r>
              <a:rPr lang="en-US" altLang="en-US" dirty="0" err="1">
                <a:ea typeface="Lato"/>
              </a:rPr>
              <a:t>Áp</a:t>
            </a:r>
            <a:r>
              <a:rPr lang="en-US" altLang="en-US" dirty="0">
                <a:ea typeface="Lato"/>
              </a:rPr>
              <a:t> </a:t>
            </a:r>
            <a:r>
              <a:rPr lang="en-US" altLang="en-US" dirty="0" err="1">
                <a:ea typeface="Lato"/>
              </a:rPr>
              <a:t>dụng</a:t>
            </a:r>
            <a:r>
              <a:rPr lang="en-US" altLang="en-US" dirty="0">
                <a:ea typeface="Lato"/>
              </a:rPr>
              <a:t> </a:t>
            </a:r>
            <a:r>
              <a:rPr lang="en-US" altLang="en-US" dirty="0" err="1">
                <a:ea typeface="Lato"/>
              </a:rPr>
              <a:t>trong</a:t>
            </a:r>
            <a:r>
              <a:rPr lang="en-US" altLang="en-US" dirty="0">
                <a:ea typeface="Lato"/>
              </a:rPr>
              <a:t> </a:t>
            </a:r>
            <a:r>
              <a:rPr lang="en-US" altLang="en-US" dirty="0" err="1">
                <a:ea typeface="Lato"/>
              </a:rPr>
              <a:t>phát</a:t>
            </a:r>
            <a:r>
              <a:rPr lang="en-US" altLang="en-US" dirty="0">
                <a:ea typeface="Lato"/>
              </a:rPr>
              <a:t> </a:t>
            </a:r>
            <a:r>
              <a:rPr lang="en-US" altLang="en-US" dirty="0" err="1">
                <a:ea typeface="Lato"/>
              </a:rPr>
              <a:t>triển</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endParaRPr lang="en-US" altLang="en-US" dirty="0">
              <a:ea typeface="Lato"/>
            </a:endParaRPr>
          </a:p>
          <a:p>
            <a:pPr marL="0" indent="0" eaLnBrk="1" hangingPunct="1">
              <a:buNone/>
            </a:pPr>
            <a:r>
              <a:rPr lang="vi-VN" altLang="en-US" dirty="0">
                <a:ea typeface="Lato"/>
              </a:rPr>
              <a:t>-	Để tránh sử dụng </a:t>
            </a:r>
            <a:r>
              <a:rPr lang="vi-VN" altLang="en-US" dirty="0" err="1">
                <a:ea typeface="Lato"/>
              </a:rPr>
              <a:t>telescopic</a:t>
            </a:r>
            <a:r>
              <a:rPr lang="vi-VN" altLang="en-US" dirty="0">
                <a:ea typeface="Lato"/>
              </a:rPr>
              <a:t> </a:t>
            </a:r>
            <a:r>
              <a:rPr lang="vi-VN" altLang="en-US" dirty="0" err="1">
                <a:ea typeface="Lato"/>
              </a:rPr>
              <a:t>constructor</a:t>
            </a:r>
            <a:r>
              <a:rPr lang="vi-VN" altLang="en-US" dirty="0">
                <a:ea typeface="Lato"/>
              </a:rPr>
              <a:t> (các biến xây dựng lồng nhau).</a:t>
            </a:r>
          </a:p>
          <a:p>
            <a:pPr marL="0" indent="0" eaLnBrk="1" hangingPunct="1">
              <a:buNone/>
            </a:pPr>
            <a:r>
              <a:rPr lang="vi-VN" altLang="en-US" dirty="0">
                <a:ea typeface="Lato"/>
              </a:rPr>
              <a:t>-	Thể hiện các sản phẩm khác nhau.</a:t>
            </a:r>
          </a:p>
          <a:p>
            <a:pPr marL="0" indent="0" eaLnBrk="1" hangingPunct="1">
              <a:buNone/>
            </a:pPr>
            <a:r>
              <a:rPr lang="vi-VN" altLang="en-US" dirty="0">
                <a:ea typeface="Lato"/>
              </a:rPr>
              <a:t>-	Tạo cây </a:t>
            </a:r>
            <a:r>
              <a:rPr lang="vi-VN" altLang="en-US" dirty="0" err="1">
                <a:ea typeface="Lato"/>
              </a:rPr>
              <a:t>composite</a:t>
            </a:r>
            <a:r>
              <a:rPr lang="vi-VN" altLang="en-US" dirty="0">
                <a:ea typeface="Lato"/>
              </a:rPr>
              <a:t> hoặc các đối tượng phức tạp khác.</a:t>
            </a:r>
          </a:p>
          <a:p>
            <a:pPr marL="0" indent="0" eaLnBrk="1" hangingPunct="1">
              <a:buNone/>
            </a:pPr>
            <a:r>
              <a:rPr lang="vi-VN" altLang="en-US" dirty="0">
                <a:ea typeface="Lato"/>
              </a:rPr>
              <a:t>-	Tạo sản phẩm từng bước, có thể trì hoãn một số bước mà không ảnh hưởng tới sản phẩm cuối cùng.</a:t>
            </a:r>
          </a:p>
          <a:p>
            <a:pPr marL="0" indent="0" eaLnBrk="1" hangingPunct="1">
              <a:buNone/>
            </a:pPr>
            <a:r>
              <a:rPr lang="vi-VN" altLang="en-US" dirty="0">
                <a:ea typeface="Lato"/>
              </a:rPr>
              <a:t>-	Ẩn sản phẩm cuối chưa hoàn thiện cho </a:t>
            </a:r>
            <a:r>
              <a:rPr lang="vi-VN" altLang="en-US" dirty="0" err="1">
                <a:ea typeface="Lato"/>
              </a:rPr>
              <a:t>client</a:t>
            </a:r>
            <a:r>
              <a:rPr lang="vi-VN" altLang="en-US" dirty="0">
                <a:ea typeface="Lato"/>
              </a:rPr>
              <a:t>.</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4930493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vi-VN" altLang="en-US" dirty="0">
                <a:ea typeface="Lato"/>
              </a:rPr>
              <a:t>Biểu đồ thiết kế </a:t>
            </a:r>
            <a:r>
              <a:rPr lang="vi-VN" altLang="en-US" dirty="0" err="1">
                <a:ea typeface="Lato"/>
              </a:rPr>
              <a:t>Builder</a:t>
            </a:r>
            <a:r>
              <a:rPr lang="vi-VN" altLang="en-US" dirty="0">
                <a:ea typeface="Lato"/>
              </a:rPr>
              <a:t> cho xử lý đơn hàng.</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
        <p:nvSpPr>
          <p:cNvPr id="2" name="Chỗ dành sẵn cho Nội dung 1">
            <a:extLst>
              <a:ext uri="{FF2B5EF4-FFF2-40B4-BE49-F238E27FC236}">
                <a16:creationId xmlns:a16="http://schemas.microsoft.com/office/drawing/2014/main" id="{75C32B53-0766-4C58-E2FA-051D99390AA4}"/>
              </a:ext>
            </a:extLst>
          </p:cNvPr>
          <p:cNvSpPr>
            <a:spLocks noGrp="1"/>
          </p:cNvSpPr>
          <p:nvPr>
            <p:ph sz="quarter" idx="13"/>
          </p:nvPr>
        </p:nvSpPr>
        <p:spPr/>
        <p:txBody>
          <a:bodyPr/>
          <a:lstStyle/>
          <a:p>
            <a:endParaRPr lang="vi-VN"/>
          </a:p>
        </p:txBody>
      </p:sp>
      <p:pic>
        <p:nvPicPr>
          <p:cNvPr id="3" name="Hình ảnh 2">
            <a:extLst>
              <a:ext uri="{FF2B5EF4-FFF2-40B4-BE49-F238E27FC236}">
                <a16:creationId xmlns:a16="http://schemas.microsoft.com/office/drawing/2014/main" id="{2451033F-42BE-EA18-0C67-4CFF62E91A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10878" y="1104255"/>
            <a:ext cx="5966460" cy="5172997"/>
          </a:xfrm>
          <a:prstGeom prst="rect">
            <a:avLst/>
          </a:prstGeom>
          <a:noFill/>
          <a:ln>
            <a:noFill/>
          </a:ln>
        </p:spPr>
      </p:pic>
    </p:spTree>
    <p:extLst>
      <p:ext uri="{BB962C8B-B14F-4D97-AF65-F5344CB8AC3E}">
        <p14:creationId xmlns:p14="http://schemas.microsoft.com/office/powerpoint/2010/main" val="125443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Viết</a:t>
            </a:r>
            <a:r>
              <a:rPr lang="en-US" altLang="en-US" dirty="0">
                <a:ea typeface="Lato"/>
              </a:rPr>
              <a:t> </a:t>
            </a:r>
            <a:r>
              <a:rPr lang="en-US" altLang="en-US" dirty="0" err="1">
                <a:ea typeface="Lato"/>
              </a:rPr>
              <a:t>chương</a:t>
            </a:r>
            <a:r>
              <a:rPr lang="en-US" altLang="en-US" dirty="0">
                <a:ea typeface="Lato"/>
              </a:rPr>
              <a:t> </a:t>
            </a:r>
            <a:r>
              <a:rPr lang="en-US" altLang="en-US" dirty="0" err="1">
                <a:ea typeface="Lato"/>
              </a:rPr>
              <a:t>trình</a:t>
            </a:r>
            <a:r>
              <a:rPr lang="en-US" altLang="en-US" dirty="0">
                <a:ea typeface="Lato"/>
              </a:rPr>
              <a:t> Java </a:t>
            </a:r>
            <a:r>
              <a:rPr lang="en-US" altLang="en-US" dirty="0" err="1">
                <a:ea typeface="Lato"/>
              </a:rPr>
              <a:t>cho</a:t>
            </a:r>
            <a:r>
              <a:rPr lang="en-US" altLang="en-US" dirty="0">
                <a:ea typeface="Lato"/>
              </a:rPr>
              <a:t> </a:t>
            </a:r>
            <a:r>
              <a:rPr lang="en-US" altLang="en-US" dirty="0" err="1">
                <a:ea typeface="Lato"/>
              </a:rPr>
              <a:t>bài</a:t>
            </a:r>
            <a:r>
              <a:rPr lang="en-US" altLang="en-US" dirty="0">
                <a:ea typeface="Lato"/>
              </a:rPr>
              <a:t> </a:t>
            </a:r>
            <a:r>
              <a:rPr lang="en-US" altLang="en-US" dirty="0" err="1">
                <a:ea typeface="Lato"/>
              </a:rPr>
              <a:t>toán</a:t>
            </a:r>
            <a:r>
              <a:rPr lang="en-US" altLang="en-US" dirty="0">
                <a:ea typeface="Lato"/>
              </a:rPr>
              <a:t> </a:t>
            </a:r>
            <a:r>
              <a:rPr lang="en-US" altLang="en-US" dirty="0" err="1">
                <a:ea typeface="Lato"/>
              </a:rPr>
              <a:t>thiết</a:t>
            </a:r>
            <a:r>
              <a:rPr lang="en-US" altLang="en-US" dirty="0">
                <a:ea typeface="Lato"/>
              </a:rPr>
              <a:t> </a:t>
            </a:r>
            <a:r>
              <a:rPr lang="en-US" altLang="en-US" dirty="0" err="1">
                <a:ea typeface="Lato"/>
              </a:rPr>
              <a:t>kế</a:t>
            </a:r>
            <a:r>
              <a:rPr lang="en-US" altLang="en-US" dirty="0">
                <a:ea typeface="Lato"/>
              </a:rPr>
              <a:t>  </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Chi </a:t>
            </a:r>
            <a:r>
              <a:rPr lang="en-US" altLang="en-US" dirty="0" err="1">
                <a:ea typeface="Lato"/>
              </a:rPr>
              <a:t>tiết</a:t>
            </a:r>
            <a:r>
              <a:rPr lang="en-US" altLang="en-US" dirty="0">
                <a:ea typeface="Lato"/>
              </a:rPr>
              <a:t> </a:t>
            </a:r>
            <a:r>
              <a:rPr lang="en-US" altLang="en-US" dirty="0" err="1">
                <a:ea typeface="Lato"/>
              </a:rPr>
              <a:t>trong</a:t>
            </a:r>
            <a:r>
              <a:rPr lang="en-US" altLang="en-US" dirty="0">
                <a:ea typeface="Lato"/>
              </a:rPr>
              <a:t> file </a:t>
            </a:r>
            <a:r>
              <a:rPr lang="en-US" altLang="en-US" dirty="0" err="1">
                <a:ea typeface="Lato"/>
              </a:rPr>
              <a:t>cài</a:t>
            </a:r>
            <a:r>
              <a:rPr lang="en-US" altLang="en-US" dirty="0">
                <a:ea typeface="Lato"/>
              </a:rPr>
              <a:t> </a:t>
            </a:r>
            <a:r>
              <a:rPr lang="en-US" altLang="en-US" dirty="0" err="1">
                <a:ea typeface="Lato"/>
              </a:rPr>
              <a:t>đặt</a:t>
            </a: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8914615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sz="quarter" idx="13"/>
          </p:nvPr>
        </p:nvSpPr>
        <p:spPr bwMode="auto">
          <a:xfrm>
            <a:off x="4697413" y="1247775"/>
            <a:ext cx="7251700" cy="5205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US" altLang="en-US" dirty="0" err="1">
                <a:ea typeface="Lato"/>
              </a:rPr>
              <a:t>Nhiệm</a:t>
            </a:r>
            <a:r>
              <a:rPr lang="en-US" altLang="en-US" dirty="0">
                <a:ea typeface="Lato"/>
              </a:rPr>
              <a:t> </a:t>
            </a:r>
            <a:r>
              <a:rPr lang="en-US" altLang="en-US" dirty="0" err="1">
                <a:ea typeface="Lato"/>
              </a:rPr>
              <a:t>vụ</a:t>
            </a:r>
            <a:r>
              <a:rPr lang="en-US" altLang="en-US" dirty="0">
                <a:ea typeface="Lato"/>
              </a:rPr>
              <a:t>:</a:t>
            </a:r>
          </a:p>
          <a:p>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test case </a:t>
            </a:r>
            <a:r>
              <a:rPr lang="en-US" altLang="en-US" dirty="0" err="1">
                <a:ea typeface="Lato"/>
              </a:rPr>
              <a:t>trong</a:t>
            </a:r>
            <a:r>
              <a:rPr lang="en-US" altLang="en-US" dirty="0">
                <a:ea typeface="Lato"/>
              </a:rPr>
              <a:t>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Viết</a:t>
            </a:r>
            <a:r>
              <a:rPr lang="en-US" altLang="en-US" dirty="0">
                <a:ea typeface="Lato"/>
              </a:rPr>
              <a:t> test case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r>
              <a:rPr lang="en-US" altLang="en-US" dirty="0">
                <a:ea typeface="Lato"/>
              </a:rPr>
              <a:t> ở </a:t>
            </a:r>
            <a:r>
              <a:rPr lang="en-US" altLang="en-US" dirty="0" err="1">
                <a:ea typeface="Lato"/>
              </a:rPr>
              <a:t>trên</a:t>
            </a:r>
            <a:r>
              <a:rPr lang="en-US" altLang="en-US" dirty="0">
                <a:ea typeface="Lato"/>
              </a:rPr>
              <a:t>.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tĩnh</a:t>
            </a:r>
            <a:r>
              <a:rPr lang="en-US" altLang="en-US">
                <a:ea typeface="Lato"/>
              </a:rPr>
              <a:t>).</a:t>
            </a:r>
            <a:endParaRPr lang="en-US" altLang="en-US" dirty="0">
              <a:ea typeface="Lato"/>
            </a:endParaRPr>
          </a:p>
          <a:p>
            <a:r>
              <a:rPr lang="en-US" altLang="en-US" dirty="0" err="1">
                <a:ea typeface="Lato"/>
              </a:rPr>
              <a:t>Viết</a:t>
            </a:r>
            <a:r>
              <a:rPr lang="en-US" altLang="en-US" dirty="0">
                <a:ea typeface="Lato"/>
              </a:rPr>
              <a:t> </a:t>
            </a:r>
            <a:r>
              <a:rPr lang="en-US" altLang="en-US" dirty="0" err="1">
                <a:ea typeface="Lato"/>
              </a:rPr>
              <a:t>một</a:t>
            </a:r>
            <a:r>
              <a:rPr lang="en-US" altLang="en-US" dirty="0">
                <a:ea typeface="Lato"/>
              </a:rPr>
              <a:t> test case </a:t>
            </a:r>
            <a:r>
              <a:rPr lang="en-US" altLang="en-US" dirty="0" err="1">
                <a:ea typeface="Lato"/>
              </a:rPr>
              <a:t>đơn</a:t>
            </a:r>
            <a:r>
              <a:rPr lang="en-US" altLang="en-US" dirty="0">
                <a:ea typeface="Lato"/>
              </a:rPr>
              <a:t> </a:t>
            </a:r>
            <a:r>
              <a:rPr lang="en-US" altLang="en-US" dirty="0" err="1">
                <a:ea typeface="Lato"/>
              </a:rPr>
              <a:t>giản</a:t>
            </a:r>
            <a:r>
              <a:rPr lang="en-US" altLang="en-US" dirty="0">
                <a:ea typeface="Lato"/>
              </a:rPr>
              <a:t> </a:t>
            </a:r>
            <a:r>
              <a:rPr lang="en-US" altLang="en-US" dirty="0" err="1">
                <a:ea typeface="Lato"/>
              </a:rPr>
              <a:t>để</a:t>
            </a:r>
            <a:r>
              <a:rPr lang="en-US" altLang="en-US" dirty="0">
                <a:ea typeface="Lato"/>
              </a:rPr>
              <a:t>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động</a:t>
            </a:r>
            <a:r>
              <a:rPr lang="en-US" altLang="en-US" dirty="0">
                <a:ea typeface="Lato"/>
              </a:rPr>
              <a:t> </a:t>
            </a:r>
            <a:r>
              <a:rPr lang="en-US" altLang="en-US" dirty="0" err="1">
                <a:ea typeface="Lato"/>
              </a:rPr>
              <a:t>cho</a:t>
            </a:r>
            <a:r>
              <a:rPr lang="en-US" altLang="en-US" dirty="0">
                <a:ea typeface="Lato"/>
              </a:rPr>
              <a:t> </a:t>
            </a:r>
            <a:r>
              <a:rPr lang="en-US" altLang="en-US" dirty="0" err="1">
                <a:ea typeface="Lato"/>
              </a:rPr>
              <a:t>bài</a:t>
            </a:r>
            <a:r>
              <a:rPr lang="en-US" altLang="en-US" dirty="0">
                <a:ea typeface="Lato"/>
              </a:rPr>
              <a:t> </a:t>
            </a:r>
            <a:r>
              <a:rPr lang="en-US" altLang="en-US" dirty="0" err="1">
                <a:ea typeface="Lato"/>
              </a:rPr>
              <a:t>toán</a:t>
            </a:r>
            <a:r>
              <a:rPr lang="en-US" altLang="en-US" dirty="0">
                <a:ea typeface="Lato"/>
              </a:rPr>
              <a:t> </a:t>
            </a:r>
            <a:r>
              <a:rPr lang="en-US" altLang="en-US" dirty="0" err="1">
                <a:ea typeface="Lato"/>
              </a:rPr>
              <a:t>trong</a:t>
            </a:r>
            <a:r>
              <a:rPr lang="en-US" altLang="en-US" dirty="0">
                <a:ea typeface="Lato"/>
              </a:rPr>
              <a:t> </a:t>
            </a:r>
            <a:r>
              <a:rPr lang="en-US" altLang="en-US" dirty="0" err="1">
                <a:ea typeface="Lato"/>
              </a:rPr>
              <a:t>tiểu</a:t>
            </a:r>
            <a:r>
              <a:rPr lang="en-US" altLang="en-US" dirty="0">
                <a:ea typeface="Lato"/>
              </a:rPr>
              <a:t> </a:t>
            </a:r>
            <a:r>
              <a:rPr lang="en-US" altLang="en-US" dirty="0" err="1">
                <a:ea typeface="Lato"/>
              </a:rPr>
              <a:t>luận</a:t>
            </a:r>
            <a:r>
              <a:rPr lang="en-US" altLang="en-US" dirty="0">
                <a:ea typeface="Lato"/>
              </a:rPr>
              <a:t>. </a:t>
            </a:r>
          </a:p>
        </p:txBody>
      </p:sp>
      <p:sp>
        <p:nvSpPr>
          <p:cNvPr id="17411" name="Title 2"/>
          <p:cNvSpPr>
            <a:spLocks noGrp="1"/>
          </p:cNvSpPr>
          <p:nvPr>
            <p:ph type="title"/>
          </p:nvPr>
        </p:nvSpPr>
        <p:spPr bwMode="auto">
          <a:xfrm>
            <a:off x="4697413" y="93307"/>
            <a:ext cx="7251700" cy="7464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4400" dirty="0" err="1">
                <a:ea typeface="Lato"/>
              </a:rPr>
              <a:t>BÀI</a:t>
            </a:r>
            <a:r>
              <a:rPr lang="en-US" altLang="en-US" sz="4400" dirty="0">
                <a:ea typeface="Lato"/>
              </a:rPr>
              <a:t> </a:t>
            </a:r>
            <a:r>
              <a:rPr lang="en-US" altLang="en-US" sz="4400" dirty="0" err="1">
                <a:ea typeface="Lato"/>
              </a:rPr>
              <a:t>TIỂU</a:t>
            </a:r>
            <a:r>
              <a:rPr lang="en-US" altLang="en-US" sz="4400" dirty="0">
                <a:ea typeface="Lato"/>
              </a:rPr>
              <a:t> </a:t>
            </a:r>
            <a:r>
              <a:rPr lang="en-US" altLang="en-US" sz="4400" dirty="0" err="1">
                <a:ea typeface="Lato"/>
              </a:rPr>
              <a:t>LUẬN</a:t>
            </a:r>
            <a:r>
              <a:rPr lang="en-US" altLang="en-US" sz="4400" dirty="0">
                <a:ea typeface="Lato"/>
              </a:rPr>
              <a:t> </a:t>
            </a:r>
            <a:r>
              <a:rPr lang="en-US" altLang="en-US" sz="4400" dirty="0" err="1">
                <a:ea typeface="Lato"/>
              </a:rPr>
              <a:t>SỐ</a:t>
            </a:r>
            <a:r>
              <a:rPr lang="en-US" altLang="en-US" sz="4400" dirty="0">
                <a:ea typeface="Lato"/>
              </a:rPr>
              <a:t> 5</a:t>
            </a:r>
          </a:p>
        </p:txBody>
      </p:sp>
      <p:sp>
        <p:nvSpPr>
          <p:cNvPr id="4" name="Slide Number Placeholder 3"/>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21E2E5-C906-4F0C-84C9-99E42D1D2416}" type="slidenum">
              <a:rPr kumimoji="0" lang="en-US" sz="1000" b="0" i="0" u="none" strike="noStrike" kern="1200" cap="none" spc="0" normalizeH="0" baseline="0" noProof="0" smtClean="0">
                <a:ln>
                  <a:noFill/>
                </a:ln>
                <a:solidFill>
                  <a:srgbClr val="4472C4">
                    <a:lumMod val="50000"/>
                  </a:srgbClr>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000" b="0" i="0" u="none" strike="noStrike" kern="1200" cap="none" spc="0" normalizeH="0" baseline="0" noProof="0">
              <a:ln>
                <a:noFill/>
              </a:ln>
              <a:solidFill>
                <a:srgbClr val="4472C4">
                  <a:lumMod val="50000"/>
                </a:srgb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69280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test case </a:t>
            </a:r>
            <a:r>
              <a:rPr lang="en-US" altLang="en-US" dirty="0" err="1">
                <a:ea typeface="Lato"/>
              </a:rPr>
              <a:t>trong</a:t>
            </a:r>
            <a:r>
              <a:rPr lang="en-US" altLang="en-US" dirty="0">
                <a:ea typeface="Lato"/>
              </a:rPr>
              <a:t>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1.1. Test case</a:t>
            </a:r>
          </a:p>
          <a:p>
            <a:pPr marL="0" indent="0" eaLnBrk="1" hangingPunct="1">
              <a:buNone/>
            </a:pPr>
            <a:r>
              <a:rPr lang="vi-VN" altLang="en-US" dirty="0">
                <a:ea typeface="Lato"/>
              </a:rPr>
              <a:t>•	</a:t>
            </a:r>
            <a:r>
              <a:rPr lang="vi-VN" altLang="en-US" sz="2400" dirty="0" err="1">
                <a:ea typeface="Lato"/>
              </a:rPr>
              <a:t>Test</a:t>
            </a:r>
            <a:r>
              <a:rPr lang="vi-VN" altLang="en-US" sz="2400" dirty="0">
                <a:ea typeface="Lato"/>
              </a:rPr>
              <a:t> </a:t>
            </a:r>
            <a:r>
              <a:rPr lang="vi-VN" altLang="en-US" sz="2400" dirty="0" err="1">
                <a:ea typeface="Lato"/>
              </a:rPr>
              <a:t>case</a:t>
            </a:r>
            <a:r>
              <a:rPr lang="vi-VN" altLang="en-US" sz="2400" dirty="0">
                <a:ea typeface="Lato"/>
              </a:rPr>
              <a:t> được hiểu là tài liệu mô tả quá trình dữ liệu đầu vào (</a:t>
            </a:r>
            <a:r>
              <a:rPr lang="vi-VN" altLang="en-US" sz="2400" dirty="0" err="1">
                <a:ea typeface="Lato"/>
              </a:rPr>
              <a:t>input</a:t>
            </a:r>
            <a:r>
              <a:rPr lang="vi-VN" altLang="en-US" sz="2400" dirty="0">
                <a:ea typeface="Lato"/>
              </a:rPr>
              <a:t>), hành động (</a:t>
            </a:r>
            <a:r>
              <a:rPr lang="vi-VN" altLang="en-US" sz="2400" dirty="0" err="1">
                <a:ea typeface="Lato"/>
              </a:rPr>
              <a:t>active</a:t>
            </a:r>
            <a:r>
              <a:rPr lang="vi-VN" altLang="en-US" sz="2400" dirty="0">
                <a:ea typeface="Lato"/>
              </a:rPr>
              <a:t>) và kết quả (</a:t>
            </a:r>
            <a:r>
              <a:rPr lang="vi-VN" altLang="en-US" sz="2400" dirty="0" err="1">
                <a:ea typeface="Lato"/>
              </a:rPr>
              <a:t>expected</a:t>
            </a:r>
            <a:r>
              <a:rPr lang="vi-VN" altLang="en-US" sz="2400" dirty="0">
                <a:ea typeface="Lato"/>
              </a:rPr>
              <a:t> </a:t>
            </a:r>
            <a:r>
              <a:rPr lang="vi-VN" altLang="en-US" sz="2400" dirty="0" err="1">
                <a:ea typeface="Lato"/>
              </a:rPr>
              <a:t>response</a:t>
            </a:r>
            <a:r>
              <a:rPr lang="vi-VN" altLang="en-US" sz="2400" dirty="0">
                <a:ea typeface="Lato"/>
              </a:rPr>
              <a:t>) của một ứng dụng, phần mềm nào đó để xác thực mức độ chính xác.</a:t>
            </a:r>
          </a:p>
          <a:p>
            <a:pPr marL="0" indent="0" eaLnBrk="1" hangingPunct="1">
              <a:buNone/>
            </a:pPr>
            <a:r>
              <a:rPr lang="vi-VN" altLang="en-US" sz="2400" dirty="0">
                <a:ea typeface="Lato"/>
              </a:rPr>
              <a:t>•	</a:t>
            </a:r>
            <a:r>
              <a:rPr lang="vi-VN" altLang="en-US" sz="2400" dirty="0" err="1">
                <a:ea typeface="Lato"/>
              </a:rPr>
              <a:t>Test</a:t>
            </a:r>
            <a:r>
              <a:rPr lang="vi-VN" altLang="en-US" sz="2400" dirty="0">
                <a:ea typeface="Lato"/>
              </a:rPr>
              <a:t> </a:t>
            </a:r>
            <a:r>
              <a:rPr lang="vi-VN" altLang="en-US" sz="2400" dirty="0" err="1">
                <a:ea typeface="Lato"/>
              </a:rPr>
              <a:t>case</a:t>
            </a:r>
            <a:r>
              <a:rPr lang="vi-VN" altLang="en-US" sz="2400" dirty="0">
                <a:ea typeface="Lato"/>
              </a:rPr>
              <a:t>, hay còn gọi là trường hợp kiểm thử, là một tập hợp các thông số đầu vào, điều kiện thực thi và kết quả mong đợi được thiết kế để kiểm tra một chức năng hoặc tính năng cụ thể của phần mềm.</a:t>
            </a:r>
          </a:p>
          <a:p>
            <a:pPr marL="0" indent="0" eaLnBrk="1" hangingPunct="1">
              <a:buNone/>
            </a:pPr>
            <a:r>
              <a:rPr lang="vi-VN" altLang="en-US" sz="2400" dirty="0">
                <a:ea typeface="Lato"/>
              </a:rPr>
              <a:t>•	Nó bao gồm các bước cần thực hiện, dữ liệu đầu vào và kết quả dự kiến để xác định xem chức năng hoặc tính năng có hoạt động chính xác hay không.</a:t>
            </a:r>
          </a:p>
          <a:p>
            <a:pPr marL="0" indent="0" eaLnBrk="1" hangingPunct="1">
              <a:buNone/>
            </a:pPr>
            <a:r>
              <a:rPr lang="vi-VN" altLang="en-US" sz="2400" dirty="0">
                <a:ea typeface="Lato"/>
              </a:rPr>
              <a:t>•	Viết </a:t>
            </a:r>
            <a:r>
              <a:rPr lang="vi-VN" altLang="en-US" sz="2400" dirty="0" err="1">
                <a:ea typeface="Lato"/>
              </a:rPr>
              <a:t>test</a:t>
            </a:r>
            <a:r>
              <a:rPr lang="vi-VN" altLang="en-US" sz="2400" dirty="0">
                <a:ea typeface="Lato"/>
              </a:rPr>
              <a:t> </a:t>
            </a:r>
            <a:r>
              <a:rPr lang="vi-VN" altLang="en-US" sz="2400" dirty="0" err="1">
                <a:ea typeface="Lato"/>
              </a:rPr>
              <a:t>case</a:t>
            </a:r>
            <a:r>
              <a:rPr lang="vi-VN" altLang="en-US" sz="2400" dirty="0">
                <a:ea typeface="Lato"/>
              </a:rPr>
              <a:t> là một phần quan trọng trong quy trình kiểm thử phần mềm, giúp đảm bảo chất lượng và độ tin cậy của phần mềm.</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495700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1) </a:t>
            </a:r>
            <a:r>
              <a:rPr lang="en-US" altLang="en-US" dirty="0" err="1">
                <a:ea typeface="Lato"/>
              </a:rPr>
              <a:t>Tìm</a:t>
            </a:r>
            <a:r>
              <a:rPr lang="en-US" altLang="en-US" dirty="0">
                <a:ea typeface="Lato"/>
              </a:rPr>
              <a:t> </a:t>
            </a:r>
            <a:r>
              <a:rPr lang="en-US" altLang="en-US" dirty="0" err="1">
                <a:ea typeface="Lato"/>
              </a:rPr>
              <a:t>hiểu</a:t>
            </a:r>
            <a:r>
              <a:rPr lang="en-US" altLang="en-US" dirty="0">
                <a:ea typeface="Lato"/>
              </a:rPr>
              <a:t> test case </a:t>
            </a:r>
            <a:r>
              <a:rPr lang="en-US" altLang="en-US" dirty="0" err="1">
                <a:ea typeface="Lato"/>
              </a:rPr>
              <a:t>trong</a:t>
            </a:r>
            <a:r>
              <a:rPr lang="en-US" altLang="en-US" dirty="0">
                <a:ea typeface="Lato"/>
              </a:rPr>
              <a:t>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phần</a:t>
            </a:r>
            <a:r>
              <a:rPr lang="en-US" altLang="en-US" dirty="0">
                <a:ea typeface="Lato"/>
              </a:rPr>
              <a:t> </a:t>
            </a:r>
            <a:r>
              <a:rPr lang="en-US" altLang="en-US" dirty="0" err="1">
                <a:ea typeface="Lato"/>
              </a:rPr>
              <a:t>mềm</a:t>
            </a:r>
            <a:endParaRPr lang="en-US" altLang="en-US" dirty="0">
              <a:ea typeface="Lato"/>
            </a:endParaRP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en-US" altLang="en-US" dirty="0">
                <a:ea typeface="Lato"/>
              </a:rPr>
              <a:t>1.2. </a:t>
            </a:r>
            <a:r>
              <a:rPr lang="en-US" altLang="en-US" dirty="0" err="1">
                <a:ea typeface="Lato"/>
              </a:rPr>
              <a:t>Phân</a:t>
            </a:r>
            <a:r>
              <a:rPr lang="en-US" altLang="en-US" dirty="0">
                <a:ea typeface="Lato"/>
              </a:rPr>
              <a:t> </a:t>
            </a:r>
            <a:r>
              <a:rPr lang="en-US" altLang="en-US" dirty="0" err="1">
                <a:ea typeface="Lato"/>
              </a:rPr>
              <a:t>loại</a:t>
            </a:r>
            <a:r>
              <a:rPr lang="en-US" altLang="en-US" dirty="0">
                <a:ea typeface="Lato"/>
              </a:rPr>
              <a:t> </a:t>
            </a:r>
            <a:r>
              <a:rPr lang="en-US" altLang="en-US" dirty="0" err="1">
                <a:ea typeface="Lato"/>
              </a:rPr>
              <a:t>các</a:t>
            </a:r>
            <a:r>
              <a:rPr lang="en-US" altLang="en-US" dirty="0">
                <a:ea typeface="Lato"/>
              </a:rPr>
              <a:t> test case</a:t>
            </a:r>
          </a:p>
          <a:p>
            <a:pPr marL="0" indent="0" eaLnBrk="1" hangingPunct="1">
              <a:buNone/>
            </a:pPr>
            <a:r>
              <a:rPr lang="vi-VN" altLang="en-US" dirty="0">
                <a:ea typeface="Lato"/>
              </a:rPr>
              <a:t>- Có nhiều cách để phân loại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dựa trên các tiêu chí khác nhau như:</a:t>
            </a:r>
          </a:p>
          <a:p>
            <a:pPr marL="0" indent="0" eaLnBrk="1" hangingPunct="1">
              <a:buNone/>
            </a:pPr>
            <a:r>
              <a:rPr lang="vi-VN" altLang="en-US" dirty="0">
                <a:ea typeface="Lato"/>
              </a:rPr>
              <a:t>•	Mức độ kiểm thử: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đơn vị,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tích hợp,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hệ thống.</a:t>
            </a:r>
          </a:p>
          <a:p>
            <a:pPr marL="0" indent="0" eaLnBrk="1" hangingPunct="1">
              <a:buNone/>
            </a:pPr>
            <a:r>
              <a:rPr lang="vi-VN" altLang="en-US" dirty="0">
                <a:ea typeface="Lato"/>
              </a:rPr>
              <a:t>•	Kỹ thuật kiểm thử: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chức năng,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phi chức năng,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giao diện người dùng.</a:t>
            </a:r>
          </a:p>
          <a:p>
            <a:pPr marL="0" indent="0" eaLnBrk="1" hangingPunct="1">
              <a:buNone/>
            </a:pPr>
            <a:r>
              <a:rPr lang="vi-VN" altLang="en-US" dirty="0">
                <a:ea typeface="Lato"/>
              </a:rPr>
              <a:t>•	Mục đích kiểm thử: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khám phá lỗi,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xác nhận.</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1295492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Viết</a:t>
            </a:r>
            <a:r>
              <a:rPr lang="en-US" altLang="en-US" dirty="0">
                <a:ea typeface="Lato"/>
              </a:rPr>
              <a:t> test case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r>
              <a:rPr lang="en-US" altLang="en-US" dirty="0">
                <a:ea typeface="Lato"/>
              </a:rPr>
              <a:t> ở </a:t>
            </a:r>
            <a:r>
              <a:rPr lang="en-US" altLang="en-US" dirty="0" err="1">
                <a:ea typeface="Lato"/>
              </a:rPr>
              <a:t>tiểu</a:t>
            </a:r>
            <a:r>
              <a:rPr lang="en-US" altLang="en-US" dirty="0">
                <a:ea typeface="Lato"/>
              </a:rPr>
              <a:t> </a:t>
            </a:r>
            <a:r>
              <a:rPr lang="en-US" altLang="en-US" dirty="0" err="1">
                <a:ea typeface="Lato"/>
              </a:rPr>
              <a:t>luận</a:t>
            </a:r>
            <a:r>
              <a:rPr lang="en-US" altLang="en-US" dirty="0">
                <a:ea typeface="Lato"/>
              </a:rPr>
              <a:t> 4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tĩnh</a:t>
            </a:r>
            <a:r>
              <a:rPr lang="en-US" altLang="en-US" dirty="0">
                <a:ea typeface="Lato"/>
              </a:rPr>
              <a:t>)</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sz="2400" dirty="0">
                <a:ea typeface="Lato"/>
              </a:rPr>
              <a:t>- Mục tiêu: Kiểm tra tính chính xác và đầy đủ của tài liệu mô tả quy trình tạo đơn hàng.</a:t>
            </a:r>
          </a:p>
          <a:p>
            <a:pPr marL="0" indent="0" eaLnBrk="1" hangingPunct="1">
              <a:buNone/>
            </a:pPr>
            <a:r>
              <a:rPr lang="vi-VN" altLang="en-US" sz="2400" dirty="0">
                <a:ea typeface="Lato"/>
              </a:rPr>
              <a:t>- Phạm vi: Toàn bộ quy trình tạo đơn hàng, bao gồm:</a:t>
            </a:r>
          </a:p>
          <a:p>
            <a:pPr marL="0" indent="0" eaLnBrk="1" hangingPunct="1">
              <a:buNone/>
            </a:pPr>
            <a:r>
              <a:rPr lang="vi-VN" altLang="en-US" sz="2400" dirty="0">
                <a:ea typeface="Lato"/>
              </a:rPr>
              <a:t>•	Luồng xử lý dữ liệu</a:t>
            </a:r>
          </a:p>
          <a:p>
            <a:pPr marL="0" indent="0" eaLnBrk="1" hangingPunct="1">
              <a:buNone/>
            </a:pPr>
            <a:r>
              <a:rPr lang="vi-VN" altLang="en-US" sz="2400" dirty="0">
                <a:ea typeface="Lato"/>
              </a:rPr>
              <a:t>•	Quy tắc nghiệp vụ</a:t>
            </a:r>
          </a:p>
          <a:p>
            <a:pPr marL="0" indent="0" eaLnBrk="1" hangingPunct="1">
              <a:buNone/>
            </a:pPr>
            <a:r>
              <a:rPr lang="vi-VN" altLang="en-US" sz="2400" dirty="0">
                <a:ea typeface="Lato"/>
              </a:rPr>
              <a:t>•	Cảnh báo và thông báo lỗi</a:t>
            </a:r>
          </a:p>
          <a:p>
            <a:pPr marL="0" indent="0" eaLnBrk="1" hangingPunct="1">
              <a:buNone/>
            </a:pPr>
            <a:r>
              <a:rPr lang="vi-VN" altLang="en-US" sz="2400" dirty="0">
                <a:ea typeface="Lato"/>
              </a:rPr>
              <a:t>- Phương pháp:</a:t>
            </a:r>
          </a:p>
          <a:p>
            <a:pPr marL="0" indent="0" eaLnBrk="1" hangingPunct="1">
              <a:buNone/>
            </a:pPr>
            <a:r>
              <a:rPr lang="vi-VN" altLang="en-US" sz="2400" dirty="0">
                <a:ea typeface="Lato"/>
              </a:rPr>
              <a:t>•	Phân tích tài liệu mô tả quy trình</a:t>
            </a:r>
          </a:p>
          <a:p>
            <a:pPr marL="0" indent="0" eaLnBrk="1" hangingPunct="1">
              <a:buNone/>
            </a:pPr>
            <a:r>
              <a:rPr lang="vi-VN" altLang="en-US" sz="2400" dirty="0">
                <a:ea typeface="Lato"/>
              </a:rPr>
              <a:t>•	Kiểm tra tính chính xác, đầy đủ và rõ ràng của thông tin</a:t>
            </a:r>
          </a:p>
          <a:p>
            <a:pPr marL="0" indent="0" eaLnBrk="1" hangingPunct="1">
              <a:buNone/>
            </a:pPr>
            <a:r>
              <a:rPr lang="vi-VN" altLang="en-US" sz="2400" dirty="0">
                <a:ea typeface="Lato"/>
              </a:rPr>
              <a:t>•	Xác định các điểm tiềm ẩn lỗi hoặc thiếu sót</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27466973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Viết</a:t>
            </a:r>
            <a:r>
              <a:rPr lang="en-US" altLang="en-US" dirty="0">
                <a:ea typeface="Lato"/>
              </a:rPr>
              <a:t> test case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r>
              <a:rPr lang="en-US" altLang="en-US" dirty="0">
                <a:ea typeface="Lato"/>
              </a:rPr>
              <a:t> ở </a:t>
            </a:r>
            <a:r>
              <a:rPr lang="en-US" altLang="en-US" dirty="0" err="1">
                <a:ea typeface="Lato"/>
              </a:rPr>
              <a:t>tiểu</a:t>
            </a:r>
            <a:r>
              <a:rPr lang="en-US" altLang="en-US" dirty="0">
                <a:ea typeface="Lato"/>
              </a:rPr>
              <a:t> </a:t>
            </a:r>
            <a:r>
              <a:rPr lang="en-US" altLang="en-US" dirty="0" err="1">
                <a:ea typeface="Lato"/>
              </a:rPr>
              <a:t>luận</a:t>
            </a:r>
            <a:r>
              <a:rPr lang="en-US" altLang="en-US" dirty="0">
                <a:ea typeface="Lato"/>
              </a:rPr>
              <a:t> 4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tĩnh</a:t>
            </a:r>
            <a:r>
              <a:rPr lang="en-US" altLang="en-US" dirty="0">
                <a:ea typeface="Lato"/>
              </a:rPr>
              <a:t>)</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sz="2400" dirty="0">
                <a:ea typeface="Lato"/>
              </a:rPr>
              <a:t>- Dữ liệu đầu vào:</a:t>
            </a:r>
          </a:p>
          <a:p>
            <a:pPr marL="0" indent="0" eaLnBrk="1" hangingPunct="1">
              <a:buNone/>
            </a:pPr>
            <a:r>
              <a:rPr lang="vi-VN" altLang="en-US" sz="2400" dirty="0">
                <a:ea typeface="Lato"/>
              </a:rPr>
              <a:t>•	Tài liệu mô tả quy trình tạo đơn hàng.</a:t>
            </a:r>
          </a:p>
          <a:p>
            <a:pPr marL="0" indent="0" eaLnBrk="1" hangingPunct="1">
              <a:buNone/>
            </a:pPr>
            <a:r>
              <a:rPr lang="vi-VN" altLang="en-US" sz="2400" dirty="0">
                <a:ea typeface="Lato"/>
              </a:rPr>
              <a:t>•	Biểu mẫu tạo đơn hàng</a:t>
            </a:r>
            <a:endParaRPr lang="en-US" altLang="en-US" sz="2400" dirty="0">
              <a:ea typeface="Lato"/>
            </a:endParaRPr>
          </a:p>
          <a:p>
            <a:pPr marL="0" indent="0" eaLnBrk="1" hangingPunct="1">
              <a:buNone/>
            </a:pPr>
            <a:r>
              <a:rPr lang="vi-VN" altLang="en-US" sz="2400" dirty="0">
                <a:ea typeface="Lato"/>
              </a:rPr>
              <a:t>- Kết quả mong đợi:</a:t>
            </a:r>
          </a:p>
          <a:p>
            <a:pPr marL="0" indent="0" eaLnBrk="1" hangingPunct="1">
              <a:buNone/>
            </a:pPr>
            <a:r>
              <a:rPr lang="vi-VN" altLang="en-US" sz="2400" dirty="0">
                <a:ea typeface="Lato"/>
              </a:rPr>
              <a:t>•	Tài liệu mô tả quy trình chính xác, đầy đủ và rõ ràng</a:t>
            </a:r>
          </a:p>
          <a:p>
            <a:pPr marL="0" indent="0" eaLnBrk="1" hangingPunct="1">
              <a:buNone/>
            </a:pPr>
            <a:r>
              <a:rPr lang="vi-VN" altLang="en-US" sz="2400" dirty="0">
                <a:ea typeface="Lato"/>
              </a:rPr>
              <a:t>•	Quy trình tạo đơn hàng hoạt động hiệu quả và đáp ứng các yêu cầu nghiệp vụ</a:t>
            </a:r>
          </a:p>
          <a:p>
            <a:pPr marL="0" indent="0" eaLnBrk="1" hangingPunct="1">
              <a:buNone/>
            </a:pPr>
            <a:r>
              <a:rPr lang="vi-VN" altLang="en-US" sz="2400" dirty="0">
                <a:ea typeface="Lato"/>
              </a:rPr>
              <a:t>•	Không có lỗi hoặc thiếu sót trong quy trình</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42155622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Viết</a:t>
            </a:r>
            <a:r>
              <a:rPr lang="en-US" altLang="en-US" dirty="0">
                <a:ea typeface="Lato"/>
              </a:rPr>
              <a:t> test case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r>
              <a:rPr lang="en-US" altLang="en-US" dirty="0">
                <a:ea typeface="Lato"/>
              </a:rPr>
              <a:t> ở </a:t>
            </a:r>
            <a:r>
              <a:rPr lang="en-US" altLang="en-US" dirty="0" err="1">
                <a:ea typeface="Lato"/>
              </a:rPr>
              <a:t>tiểu</a:t>
            </a:r>
            <a:r>
              <a:rPr lang="en-US" altLang="en-US" dirty="0">
                <a:ea typeface="Lato"/>
              </a:rPr>
              <a:t> </a:t>
            </a:r>
            <a:r>
              <a:rPr lang="en-US" altLang="en-US" dirty="0" err="1">
                <a:ea typeface="Lato"/>
              </a:rPr>
              <a:t>luận</a:t>
            </a:r>
            <a:r>
              <a:rPr lang="en-US" altLang="en-US" dirty="0">
                <a:ea typeface="Lato"/>
              </a:rPr>
              <a:t> 4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tĩnh</a:t>
            </a:r>
            <a:r>
              <a:rPr lang="en-US" altLang="en-US" dirty="0">
                <a:ea typeface="Lato"/>
              </a:rPr>
              <a:t>)</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Char char="-"/>
            </a:pPr>
            <a:r>
              <a:rPr lang="en-US" altLang="en-US" dirty="0" err="1">
                <a:ea typeface="Lato"/>
              </a:rPr>
              <a:t>Ví</a:t>
            </a:r>
            <a:r>
              <a:rPr lang="en-US" altLang="en-US" dirty="0">
                <a:ea typeface="Lato"/>
              </a:rPr>
              <a:t> </a:t>
            </a:r>
            <a:r>
              <a:rPr lang="en-US" altLang="en-US" dirty="0" err="1">
                <a:ea typeface="Lato"/>
              </a:rPr>
              <a:t>dụ</a:t>
            </a:r>
            <a:r>
              <a:rPr lang="en-US" altLang="en-US" dirty="0">
                <a:ea typeface="Lato"/>
              </a:rPr>
              <a:t>:</a:t>
            </a:r>
          </a:p>
          <a:p>
            <a:pPr marL="0" indent="0" eaLnBrk="1" hangingPunct="1">
              <a:buNone/>
            </a:pPr>
            <a:r>
              <a:rPr lang="vi-VN" altLang="en-US" dirty="0">
                <a:ea typeface="Lato"/>
              </a:rPr>
              <a:t>Kiểm tra chức năng thêm đồ uống vào đơn hàng</a:t>
            </a:r>
            <a:endParaRPr lang="en-US" altLang="en-US" dirty="0">
              <a:ea typeface="Lato"/>
            </a:endParaRPr>
          </a:p>
          <a:p>
            <a:pPr marL="0" indent="0" eaLnBrk="1" hangingPunct="1">
              <a:buNone/>
            </a:pPr>
            <a:r>
              <a:rPr lang="vi-VN" altLang="en-US" dirty="0">
                <a:ea typeface="Lato"/>
              </a:rPr>
              <a:t>•	Tên </a:t>
            </a:r>
            <a:r>
              <a:rPr lang="vi-VN" altLang="en-US" dirty="0" err="1">
                <a:ea typeface="Lato"/>
              </a:rPr>
              <a:t>test</a:t>
            </a:r>
            <a:r>
              <a:rPr lang="vi-VN" altLang="en-US" dirty="0">
                <a:ea typeface="Lato"/>
              </a:rPr>
              <a:t> </a:t>
            </a:r>
            <a:r>
              <a:rPr lang="vi-VN" altLang="en-US" dirty="0" err="1">
                <a:ea typeface="Lato"/>
              </a:rPr>
              <a:t>case</a:t>
            </a:r>
            <a:r>
              <a:rPr lang="vi-VN" altLang="en-US" dirty="0">
                <a:ea typeface="Lato"/>
              </a:rPr>
              <a:t>: Thêm đồ uống vào đơn hàng.</a:t>
            </a:r>
          </a:p>
          <a:p>
            <a:pPr marL="0" indent="0" eaLnBrk="1" hangingPunct="1">
              <a:buNone/>
            </a:pPr>
            <a:r>
              <a:rPr lang="vi-VN" altLang="en-US" dirty="0">
                <a:ea typeface="Lato"/>
              </a:rPr>
              <a:t>•	Mô tả: Kiểm tra xem chức năng thêm đồ uống vào đơn hàng có hoạt động đúng hay không.</a:t>
            </a:r>
          </a:p>
          <a:p>
            <a:pPr marL="0" indent="0" eaLnBrk="1" hangingPunct="1">
              <a:buNone/>
            </a:pPr>
            <a:r>
              <a:rPr lang="vi-VN" altLang="en-US" dirty="0">
                <a:ea typeface="Lato"/>
              </a:rPr>
              <a:t>•	Dữ liệu đầu vào:</a:t>
            </a:r>
          </a:p>
          <a:p>
            <a:pPr marL="0" indent="0" eaLnBrk="1" hangingPunct="1">
              <a:buNone/>
            </a:pPr>
            <a:r>
              <a:rPr lang="vi-VN" altLang="en-US" dirty="0">
                <a:ea typeface="Lato"/>
              </a:rPr>
              <a:t>o	Một đồ uống.</a:t>
            </a:r>
          </a:p>
          <a:p>
            <a:pPr marL="0" indent="0" eaLnBrk="1" hangingPunct="1">
              <a:buNone/>
            </a:pPr>
            <a:r>
              <a:rPr lang="vi-VN" altLang="en-US" dirty="0">
                <a:ea typeface="Lato"/>
              </a:rPr>
              <a:t>o	Số lượng đồ uống.</a:t>
            </a:r>
          </a:p>
          <a:p>
            <a:pPr marL="0" indent="0" eaLnBrk="1" hangingPunct="1">
              <a:buNone/>
            </a:pPr>
            <a:r>
              <a:rPr lang="vi-VN" altLang="en-US" dirty="0">
                <a:ea typeface="Lato"/>
              </a:rPr>
              <a:t>•	Kết quả đầu ra mong đợi:</a:t>
            </a:r>
          </a:p>
          <a:p>
            <a:pPr marL="0" indent="0" eaLnBrk="1" hangingPunct="1">
              <a:buNone/>
            </a:pPr>
            <a:r>
              <a:rPr lang="vi-VN" altLang="en-US" dirty="0">
                <a:ea typeface="Lato"/>
              </a:rPr>
              <a:t>o	Đồ uống được thêm trong đơn hàng.</a:t>
            </a:r>
          </a:p>
          <a:p>
            <a:pPr marL="0" indent="0" eaLnBrk="1" hangingPunct="1">
              <a:buNone/>
            </a:pPr>
            <a:endParaRPr lang="en-US" altLang="en-US"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27030063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2) </a:t>
            </a:r>
            <a:r>
              <a:rPr lang="en-US" altLang="en-US" dirty="0" err="1">
                <a:ea typeface="Lato"/>
              </a:rPr>
              <a:t>Viết</a:t>
            </a:r>
            <a:r>
              <a:rPr lang="en-US" altLang="en-US" dirty="0">
                <a:ea typeface="Lato"/>
              </a:rPr>
              <a:t> test case </a:t>
            </a:r>
            <a:r>
              <a:rPr lang="en-US" altLang="en-US" dirty="0" err="1">
                <a:ea typeface="Lato"/>
              </a:rPr>
              <a:t>cho</a:t>
            </a:r>
            <a:r>
              <a:rPr lang="en-US" altLang="en-US" dirty="0">
                <a:ea typeface="Lato"/>
              </a:rPr>
              <a:t> </a:t>
            </a:r>
            <a:r>
              <a:rPr lang="en-US" altLang="en-US" dirty="0" err="1">
                <a:ea typeface="Lato"/>
              </a:rPr>
              <a:t>quy</a:t>
            </a:r>
            <a:r>
              <a:rPr lang="en-US" altLang="en-US" dirty="0">
                <a:ea typeface="Lato"/>
              </a:rPr>
              <a:t> </a:t>
            </a:r>
            <a:r>
              <a:rPr lang="en-US" altLang="en-US" dirty="0" err="1">
                <a:ea typeface="Lato"/>
              </a:rPr>
              <a:t>trình</a:t>
            </a:r>
            <a:r>
              <a:rPr lang="en-US" altLang="en-US" dirty="0">
                <a:ea typeface="Lato"/>
              </a:rPr>
              <a:t> </a:t>
            </a:r>
            <a:r>
              <a:rPr lang="en-US" altLang="en-US" dirty="0" err="1">
                <a:ea typeface="Lato"/>
              </a:rPr>
              <a:t>tạo</a:t>
            </a:r>
            <a:r>
              <a:rPr lang="en-US" altLang="en-US" dirty="0">
                <a:ea typeface="Lato"/>
              </a:rPr>
              <a:t> </a:t>
            </a:r>
            <a:r>
              <a:rPr lang="en-US" altLang="en-US" dirty="0" err="1">
                <a:ea typeface="Lato"/>
              </a:rPr>
              <a:t>đơn</a:t>
            </a:r>
            <a:r>
              <a:rPr lang="en-US" altLang="en-US" dirty="0">
                <a:ea typeface="Lato"/>
              </a:rPr>
              <a:t> </a:t>
            </a:r>
            <a:r>
              <a:rPr lang="en-US" altLang="en-US" dirty="0" err="1">
                <a:ea typeface="Lato"/>
              </a:rPr>
              <a:t>hàng</a:t>
            </a:r>
            <a:r>
              <a:rPr lang="en-US" altLang="en-US" dirty="0">
                <a:ea typeface="Lato"/>
              </a:rPr>
              <a:t> ở </a:t>
            </a:r>
            <a:r>
              <a:rPr lang="en-US" altLang="en-US" dirty="0" err="1">
                <a:ea typeface="Lato"/>
              </a:rPr>
              <a:t>tiểu</a:t>
            </a:r>
            <a:r>
              <a:rPr lang="en-US" altLang="en-US" dirty="0">
                <a:ea typeface="Lato"/>
              </a:rPr>
              <a:t> </a:t>
            </a:r>
            <a:r>
              <a:rPr lang="en-US" altLang="en-US" dirty="0" err="1">
                <a:ea typeface="Lato"/>
              </a:rPr>
              <a:t>luận</a:t>
            </a:r>
            <a:r>
              <a:rPr lang="en-US" altLang="en-US" dirty="0">
                <a:ea typeface="Lato"/>
              </a:rPr>
              <a:t> 4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tĩnh</a:t>
            </a:r>
            <a:r>
              <a:rPr lang="en-US" altLang="en-US" dirty="0">
                <a:ea typeface="Lato"/>
              </a:rPr>
              <a:t>)</a:t>
            </a:r>
          </a:p>
        </p:txBody>
      </p:sp>
      <p:sp>
        <p:nvSpPr>
          <p:cNvPr id="13315" name="Content Placeholder 2"/>
          <p:cNvSpPr>
            <a:spLocks noGrp="1"/>
          </p:cNvSpPr>
          <p:nvPr>
            <p:ph sz="quarter" idx="13"/>
          </p:nvPr>
        </p:nvSpPr>
        <p:spPr bwMode="auto">
          <a:xfrm>
            <a:off x="338138" y="1088571"/>
            <a:ext cx="11515725" cy="48788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vi-VN" altLang="en-US" sz="2000" dirty="0">
                <a:ea typeface="Lato"/>
              </a:rPr>
              <a:t>o	Số lượng đồ uống trong đơn hàng được cập nhật.</a:t>
            </a:r>
          </a:p>
          <a:p>
            <a:pPr marL="0" indent="0" eaLnBrk="1" hangingPunct="1">
              <a:buNone/>
            </a:pPr>
            <a:r>
              <a:rPr lang="vi-VN" altLang="en-US" sz="2000" dirty="0">
                <a:ea typeface="Lato"/>
              </a:rPr>
              <a:t>•	Bước thực hiện:</a:t>
            </a:r>
          </a:p>
          <a:p>
            <a:pPr marL="0" indent="0" eaLnBrk="1" hangingPunct="1">
              <a:buNone/>
            </a:pPr>
            <a:r>
              <a:rPr lang="vi-VN" altLang="en-US" sz="2000" dirty="0">
                <a:ea typeface="Lato"/>
              </a:rPr>
              <a:t>o	Chọn đồ uống muốn mua.</a:t>
            </a:r>
          </a:p>
          <a:p>
            <a:pPr marL="0" indent="0" eaLnBrk="1" hangingPunct="1">
              <a:buNone/>
            </a:pPr>
            <a:r>
              <a:rPr lang="vi-VN" altLang="en-US" sz="2000" dirty="0">
                <a:ea typeface="Lato"/>
              </a:rPr>
              <a:t>o	Chọn số lượng đồ uống</a:t>
            </a:r>
          </a:p>
          <a:p>
            <a:pPr marL="0" indent="0" eaLnBrk="1" hangingPunct="1">
              <a:buNone/>
            </a:pPr>
            <a:r>
              <a:rPr lang="vi-VN" altLang="en-US" sz="2000" dirty="0">
                <a:ea typeface="Lato"/>
              </a:rPr>
              <a:t>o	Nhấp vào nút "Thêm vào đơn hàng".</a:t>
            </a:r>
          </a:p>
          <a:p>
            <a:pPr marL="0" indent="0" eaLnBrk="1" hangingPunct="1">
              <a:buNone/>
            </a:pPr>
            <a:r>
              <a:rPr lang="vi-VN" altLang="en-US" sz="2000" dirty="0">
                <a:ea typeface="Lato"/>
              </a:rPr>
              <a:t>o	Kiểm tra xem đồ uống đã được thêm vào đơn  hàng hay chưa.</a:t>
            </a:r>
          </a:p>
          <a:p>
            <a:pPr marL="0" indent="0" eaLnBrk="1" hangingPunct="1">
              <a:buNone/>
            </a:pPr>
            <a:r>
              <a:rPr lang="vi-VN" altLang="en-US" sz="2000" dirty="0">
                <a:ea typeface="Lato"/>
              </a:rPr>
              <a:t>o	Kiểm tra số lượng đồ uống trong đơn hàng.</a:t>
            </a:r>
          </a:p>
          <a:p>
            <a:pPr marL="0" indent="0" eaLnBrk="1" hangingPunct="1">
              <a:buNone/>
            </a:pPr>
            <a:r>
              <a:rPr lang="vi-VN" altLang="en-US" sz="2000" dirty="0">
                <a:ea typeface="Lato"/>
              </a:rPr>
              <a:t>•	Kết quả thực tế:</a:t>
            </a:r>
          </a:p>
          <a:p>
            <a:pPr marL="0" indent="0" eaLnBrk="1" hangingPunct="1">
              <a:buNone/>
            </a:pPr>
            <a:r>
              <a:rPr lang="vi-VN" altLang="en-US" sz="2000" dirty="0">
                <a:ea typeface="Lato"/>
              </a:rPr>
              <a:t>o	Đúng với kết quả đầu ra mong đợi</a:t>
            </a:r>
          </a:p>
          <a:p>
            <a:pPr marL="0" indent="0" eaLnBrk="1" hangingPunct="1">
              <a:buNone/>
            </a:pPr>
            <a:r>
              <a:rPr lang="vi-VN" altLang="en-US" sz="2000" dirty="0">
                <a:ea typeface="Lato"/>
              </a:rPr>
              <a:t>o	Số lượng đồ uống trong đơn hang được cập nhật</a:t>
            </a:r>
          </a:p>
          <a:p>
            <a:pPr marL="0" indent="0" eaLnBrk="1" hangingPunct="1">
              <a:buNone/>
            </a:pPr>
            <a:r>
              <a:rPr lang="vi-VN" altLang="en-US" sz="2000" dirty="0">
                <a:ea typeface="Lato"/>
              </a:rPr>
              <a:t>•	Trạng thái:</a:t>
            </a:r>
          </a:p>
          <a:p>
            <a:pPr marL="0" indent="0" eaLnBrk="1" hangingPunct="1">
              <a:buNone/>
            </a:pPr>
            <a:r>
              <a:rPr lang="vi-VN" altLang="en-US" sz="2000" dirty="0">
                <a:ea typeface="Lato"/>
              </a:rPr>
              <a:t>o	</a:t>
            </a:r>
            <a:r>
              <a:rPr lang="vi-VN" altLang="en-US" sz="2000" dirty="0" err="1">
                <a:ea typeface="Lato"/>
              </a:rPr>
              <a:t>Pass</a:t>
            </a:r>
            <a:endParaRPr lang="vi-VN" altLang="en-US" sz="2000" dirty="0">
              <a:ea typeface="Lato"/>
            </a:endParaRP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spTree>
    <p:extLst>
      <p:ext uri="{BB962C8B-B14F-4D97-AF65-F5344CB8AC3E}">
        <p14:creationId xmlns:p14="http://schemas.microsoft.com/office/powerpoint/2010/main" val="33333581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338138" y="277813"/>
            <a:ext cx="11515725" cy="436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3) </a:t>
            </a:r>
            <a:r>
              <a:rPr lang="en-US" altLang="en-US" dirty="0" err="1">
                <a:ea typeface="Lato"/>
              </a:rPr>
              <a:t>Viết</a:t>
            </a:r>
            <a:r>
              <a:rPr lang="en-US" altLang="en-US" dirty="0">
                <a:ea typeface="Lato"/>
              </a:rPr>
              <a:t> </a:t>
            </a:r>
            <a:r>
              <a:rPr lang="en-US" altLang="en-US" dirty="0" err="1">
                <a:ea typeface="Lato"/>
              </a:rPr>
              <a:t>một</a:t>
            </a:r>
            <a:r>
              <a:rPr lang="en-US" altLang="en-US" dirty="0">
                <a:ea typeface="Lato"/>
              </a:rPr>
              <a:t> test case </a:t>
            </a:r>
            <a:r>
              <a:rPr lang="en-US" altLang="en-US" dirty="0" err="1">
                <a:ea typeface="Lato"/>
              </a:rPr>
              <a:t>đơn</a:t>
            </a:r>
            <a:r>
              <a:rPr lang="en-US" altLang="en-US" dirty="0">
                <a:ea typeface="Lato"/>
              </a:rPr>
              <a:t> </a:t>
            </a:r>
            <a:r>
              <a:rPr lang="en-US" altLang="en-US" dirty="0" err="1">
                <a:ea typeface="Lato"/>
              </a:rPr>
              <a:t>giản</a:t>
            </a:r>
            <a:r>
              <a:rPr lang="en-US" altLang="en-US" dirty="0">
                <a:ea typeface="Lato"/>
              </a:rPr>
              <a:t> </a:t>
            </a:r>
            <a:r>
              <a:rPr lang="en-US" altLang="en-US" dirty="0" err="1">
                <a:ea typeface="Lato"/>
              </a:rPr>
              <a:t>để</a:t>
            </a:r>
            <a:r>
              <a:rPr lang="en-US" altLang="en-US" dirty="0">
                <a:ea typeface="Lato"/>
              </a:rPr>
              <a:t>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động</a:t>
            </a:r>
            <a:r>
              <a:rPr lang="en-US" altLang="en-US" dirty="0">
                <a:ea typeface="Lato"/>
              </a:rPr>
              <a:t> </a:t>
            </a:r>
            <a:r>
              <a:rPr lang="en-US" altLang="en-US" dirty="0" err="1">
                <a:ea typeface="Lato"/>
              </a:rPr>
              <a:t>cho</a:t>
            </a:r>
            <a:r>
              <a:rPr lang="en-US" altLang="en-US" dirty="0">
                <a:ea typeface="Lato"/>
              </a:rPr>
              <a:t> </a:t>
            </a:r>
            <a:r>
              <a:rPr lang="en-US" altLang="en-US" dirty="0" err="1">
                <a:ea typeface="Lato"/>
              </a:rPr>
              <a:t>bài</a:t>
            </a:r>
            <a:r>
              <a:rPr lang="en-US" altLang="en-US" dirty="0">
                <a:ea typeface="Lato"/>
              </a:rPr>
              <a:t> </a:t>
            </a:r>
            <a:r>
              <a:rPr lang="en-US" altLang="en-US" dirty="0" err="1">
                <a:ea typeface="Lato"/>
              </a:rPr>
              <a:t>toán</a:t>
            </a:r>
            <a:r>
              <a:rPr lang="en-US" altLang="en-US" dirty="0">
                <a:ea typeface="Lato"/>
              </a:rPr>
              <a:t> </a:t>
            </a:r>
            <a:r>
              <a:rPr lang="en-US" altLang="en-US" dirty="0" err="1">
                <a:ea typeface="Lato"/>
              </a:rPr>
              <a:t>trong</a:t>
            </a:r>
            <a:r>
              <a:rPr lang="en-US" altLang="en-US" dirty="0">
                <a:ea typeface="Lato"/>
              </a:rPr>
              <a:t> </a:t>
            </a:r>
            <a:r>
              <a:rPr lang="en-US" altLang="en-US" dirty="0" err="1">
                <a:ea typeface="Lato"/>
              </a:rPr>
              <a:t>tiểu</a:t>
            </a:r>
            <a:r>
              <a:rPr lang="en-US" altLang="en-US" dirty="0">
                <a:ea typeface="Lato"/>
              </a:rPr>
              <a:t> </a:t>
            </a:r>
            <a:r>
              <a:rPr lang="en-US" altLang="en-US" dirty="0" err="1">
                <a:ea typeface="Lato"/>
              </a:rPr>
              <a:t>luận</a:t>
            </a:r>
            <a:r>
              <a:rPr lang="en-US" altLang="en-US" dirty="0">
                <a:ea typeface="Lato"/>
              </a:rPr>
              <a:t> 4 (</a:t>
            </a:r>
            <a:r>
              <a:rPr lang="en-US" altLang="en-US" dirty="0" err="1">
                <a:ea typeface="Lato"/>
              </a:rPr>
              <a:t>kiểm</a:t>
            </a:r>
            <a:r>
              <a:rPr lang="en-US" altLang="en-US" dirty="0">
                <a:ea typeface="Lato"/>
              </a:rPr>
              <a:t> </a:t>
            </a:r>
            <a:r>
              <a:rPr lang="en-US" altLang="en-US" dirty="0" err="1">
                <a:ea typeface="Lato"/>
              </a:rPr>
              <a:t>thử</a:t>
            </a:r>
            <a:r>
              <a:rPr lang="en-US" altLang="en-US" dirty="0">
                <a:ea typeface="Lato"/>
              </a:rPr>
              <a:t> </a:t>
            </a:r>
            <a:r>
              <a:rPr lang="en-US" altLang="en-US" dirty="0" err="1">
                <a:ea typeface="Lato"/>
              </a:rPr>
              <a:t>động</a:t>
            </a:r>
            <a:r>
              <a:rPr lang="en-US" altLang="en-US" dirty="0">
                <a:ea typeface="Lato"/>
              </a:rPr>
              <a:t>)</a:t>
            </a:r>
          </a:p>
        </p:txBody>
      </p:sp>
      <p:sp>
        <p:nvSpPr>
          <p:cNvPr id="13316" name="Slide Number Placeholder 3"/>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256C4A3-0592-47B5-B08E-391468623C01}" type="slidenum">
              <a:rPr kumimoji="0" lang="en-US" altLang="en-US" sz="1000" b="0" i="0" u="none" strike="noStrike" kern="1200" cap="none" spc="0" normalizeH="0" baseline="0" noProof="0" smtClean="0">
                <a:ln>
                  <a:noFill/>
                </a:ln>
                <a:solidFill>
                  <a:prstClr val="white"/>
                </a:solidFill>
                <a:effectLst/>
                <a:uLnTx/>
                <a:uFillTx/>
                <a:latin typeface="Arial" panose="020B0604020202020204" pitchFamily="34" charset="0"/>
                <a:ea typeface="Lato"/>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en-US" sz="1000" b="0" i="0" u="none" strike="noStrike" kern="1200" cap="none" spc="0" normalizeH="0" baseline="0" noProof="0">
              <a:ln>
                <a:noFill/>
              </a:ln>
              <a:solidFill>
                <a:prstClr val="white"/>
              </a:solidFill>
              <a:effectLst/>
              <a:uLnTx/>
              <a:uFillTx/>
              <a:latin typeface="Arial" panose="020B0604020202020204" pitchFamily="34" charset="0"/>
              <a:ea typeface="Lato"/>
              <a:cs typeface="Arial" panose="020B0604020202020204" pitchFamily="34" charset="0"/>
            </a:endParaRPr>
          </a:p>
        </p:txBody>
      </p:sp>
      <p:pic>
        <p:nvPicPr>
          <p:cNvPr id="6" name="Chỗ dành sẵn cho Nội dung 5" descr="Ảnh có chứa văn bản, ảnh chụp màn hình, thực đơn&#10;&#10;Mô tả được tạo tự động">
            <a:extLst>
              <a:ext uri="{FF2B5EF4-FFF2-40B4-BE49-F238E27FC236}">
                <a16:creationId xmlns:a16="http://schemas.microsoft.com/office/drawing/2014/main" id="{1B7DE5FC-5CB6-10E6-2ED5-F18E634EE8D4}"/>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4574265" y="1111266"/>
            <a:ext cx="3043469" cy="5149575"/>
          </a:xfrm>
        </p:spPr>
      </p:pic>
    </p:spTree>
    <p:extLst>
      <p:ext uri="{BB962C8B-B14F-4D97-AF65-F5344CB8AC3E}">
        <p14:creationId xmlns:p14="http://schemas.microsoft.com/office/powerpoint/2010/main" val="35394152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426720" y="1349175"/>
            <a:ext cx="12192000" cy="19335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eaLnBrk="1" hangingPunct="1"/>
            <a:r>
              <a:rPr lang="en-US" altLang="en-US" dirty="0">
                <a:ea typeface="Lato"/>
              </a:rPr>
              <a:t>	Thank you for watching !</a:t>
            </a:r>
            <a:endParaRPr lang="en-US" altLang="en-US" dirty="0"/>
          </a:p>
        </p:txBody>
      </p:sp>
      <p:pic>
        <p:nvPicPr>
          <p:cNvPr id="3" name="Picture 2" descr="Contented smile cartoon alarm clock">
            <a:extLst>
              <a:ext uri="{FF2B5EF4-FFF2-40B4-BE49-F238E27FC236}">
                <a16:creationId xmlns:a16="http://schemas.microsoft.com/office/drawing/2014/main" id="{07384AAD-DE2B-DFF1-24DB-DF2CFD069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28520"/>
            <a:ext cx="3380305" cy="3380305"/>
          </a:xfrm>
          <a:prstGeom prst="rect">
            <a:avLst/>
          </a:prstGeom>
        </p:spPr>
      </p:pic>
    </p:spTree>
    <p:extLst>
      <p:ext uri="{BB962C8B-B14F-4D97-AF65-F5344CB8AC3E}">
        <p14:creationId xmlns:p14="http://schemas.microsoft.com/office/powerpoint/2010/main" val="76774840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2091</TotalTime>
  <Words>4327</Words>
  <Application>Microsoft Office PowerPoint</Application>
  <PresentationFormat>Màn hình rộng</PresentationFormat>
  <Paragraphs>337</Paragraphs>
  <Slides>57</Slides>
  <Notes>0</Notes>
  <HiddenSlides>0</HiddenSlides>
  <MMClips>0</MMClips>
  <ScaleCrop>false</ScaleCrop>
  <HeadingPairs>
    <vt:vector size="6" baseType="variant">
      <vt:variant>
        <vt:lpstr>Phông được Dùng</vt:lpstr>
      </vt:variant>
      <vt:variant>
        <vt:i4>3</vt:i4>
      </vt:variant>
      <vt:variant>
        <vt:lpstr>Chủ đề</vt:lpstr>
      </vt:variant>
      <vt:variant>
        <vt:i4>5</vt:i4>
      </vt:variant>
      <vt:variant>
        <vt:lpstr>Tiêu đề Bản chiếu</vt:lpstr>
      </vt:variant>
      <vt:variant>
        <vt:i4>57</vt:i4>
      </vt:variant>
    </vt:vector>
  </HeadingPairs>
  <TitlesOfParts>
    <vt:vector size="65" baseType="lpstr">
      <vt:lpstr>Arial</vt:lpstr>
      <vt:lpstr>Calibri Light</vt:lpstr>
      <vt:lpstr>Lato</vt:lpstr>
      <vt:lpstr>1_Office Theme</vt:lpstr>
      <vt:lpstr>2_Office Theme</vt:lpstr>
      <vt:lpstr>3_Office Theme</vt:lpstr>
      <vt:lpstr>4_Office Theme</vt:lpstr>
      <vt:lpstr>Office Theme</vt:lpstr>
      <vt:lpstr>Bản trình bày PowerPoint</vt:lpstr>
      <vt:lpstr>Bản trình bày PowerPoint</vt:lpstr>
      <vt:lpstr>BÀI TIỂU LUẬN SỐ 1</vt:lpstr>
      <vt:lpstr>1) Tìm hiểu quy trình phát triển phần mềm linh hoạt Agile</vt:lpstr>
      <vt:lpstr>1) Tìm hiểu quy trình phát triển phần mềm linh hoạt Agile</vt:lpstr>
      <vt:lpstr>1) Tìm hiểu quy trình phát triển phần mềm linh hoạt Agile</vt:lpstr>
      <vt:lpstr>2) Từ đó dùng trello.com để lập kế hoạch dự án cho nhóm</vt:lpstr>
      <vt:lpstr>3) Tìm hiểu về biểu đồ phân rã chức năng</vt:lpstr>
      <vt:lpstr>3) Tìm hiểu về biểu đồ phân rã chức năng</vt:lpstr>
      <vt:lpstr>3) Tìm hiểu về biểu đồ phân rã chức năng</vt:lpstr>
      <vt:lpstr>3) Tìm hiểu về biểu đồ phân rã chức năng</vt:lpstr>
      <vt:lpstr>3) Tìm hiểu về biểu đồ phân rã chức năng</vt:lpstr>
      <vt:lpstr>3) Tìm hiểu về biểu đồ phân rã chức năng</vt:lpstr>
      <vt:lpstr>3) Tìm hiểu về biểu đồ phân rã chức năng</vt:lpstr>
      <vt:lpstr>2) Vẽ biểu đồ chức năng của bài toán xây dựng chương trình quản lý bán đồ uống.</vt:lpstr>
      <vt:lpstr>BÀI TIỂU LUẬN SỐ 2</vt:lpstr>
      <vt:lpstr>1) Tìm hiểu BPMN</vt:lpstr>
      <vt:lpstr>1) Tìm hiểu BPMN</vt:lpstr>
      <vt:lpstr>1) Tìm hiểu BPMN</vt:lpstr>
      <vt:lpstr>1) Tìm hiểu BPMN</vt:lpstr>
      <vt:lpstr>1) Tìm hiểu BPMN</vt:lpstr>
      <vt:lpstr>1) Tìm hiểu BPMN</vt:lpstr>
      <vt:lpstr>1) Tìm hiểu BPMN</vt:lpstr>
      <vt:lpstr>1) Tìm hiểu BPMN</vt:lpstr>
      <vt:lpstr>1) Tìm hiểu BPMN</vt:lpstr>
      <vt:lpstr>1) Tìm hiểu BPMN</vt:lpstr>
      <vt:lpstr>1) Tìm hiểu BPMN</vt:lpstr>
      <vt:lpstr>1) Tìm hiểu BPMN</vt:lpstr>
      <vt:lpstr>2) Tìm hiểu về công cụ draw.io</vt:lpstr>
      <vt:lpstr>3) Vẽ biểu đồ BPMN cho quy trình tạo đơn hàng</vt:lpstr>
      <vt:lpstr>3) Vẽ biểu đồ BPMN cho quy trình tạo đơn hàng</vt:lpstr>
      <vt:lpstr>BÀI TIỂU LUẬN SỐ 3</vt:lpstr>
      <vt:lpstr>1) Tìm hiểu về UML và Visual Paradigm</vt:lpstr>
      <vt:lpstr>1) Tìm hiểu về UML và Visual Paradigm</vt:lpstr>
      <vt:lpstr>1) Tìm hiểu về UML và Visual Paradigm</vt:lpstr>
      <vt:lpstr>2) Usecase là gì</vt:lpstr>
      <vt:lpstr>2) Usecase là gì</vt:lpstr>
      <vt:lpstr>3) Vẽ biểu đồ Use Case cho quy trình tạo đơn hàng</vt:lpstr>
      <vt:lpstr>BÀI TIỂU LUẬN SỐ 4</vt:lpstr>
      <vt:lpstr>1) Tìm hiểu mẫu Builder design pattern</vt:lpstr>
      <vt:lpstr>1) Tìm hiểu mẫu Builder design pattern</vt:lpstr>
      <vt:lpstr>1) Tìm hiểu mẫu Builder design pattern</vt:lpstr>
      <vt:lpstr>1) Tìm hiểu mẫu Builder design pattern</vt:lpstr>
      <vt:lpstr>1) Tìm hiểu mẫu Builder design pattern</vt:lpstr>
      <vt:lpstr>1) Tìm hiểu mẫu Builder design pattern</vt:lpstr>
      <vt:lpstr>1) Tìm hiểu mẫu Builder design pattern</vt:lpstr>
      <vt:lpstr>2) Biểu đồ thiết kế Builder cho xử lý đơn hàng.</vt:lpstr>
      <vt:lpstr>3) Viết chương trình Java cho bài toán thiết kế  </vt:lpstr>
      <vt:lpstr>BÀI TIỂU LUẬN SỐ 5</vt:lpstr>
      <vt:lpstr>1) Tìm hiểu test case trong kiểm thử phần mềm</vt:lpstr>
      <vt:lpstr>1) Tìm hiểu test case trong kiểm thử phần mềm</vt:lpstr>
      <vt:lpstr>2) Viết test case cho quy trình tạo đơn hàng ở tiểu luận 4 (kiểm thử tĩnh)</vt:lpstr>
      <vt:lpstr>2) Viết test case cho quy trình tạo đơn hàng ở tiểu luận 4 (kiểm thử tĩnh)</vt:lpstr>
      <vt:lpstr>2) Viết test case cho quy trình tạo đơn hàng ở tiểu luận 4 (kiểm thử tĩnh)</vt:lpstr>
      <vt:lpstr>2) Viết test case cho quy trình tạo đơn hàng ở tiểu luận 4 (kiểm thử tĩnh)</vt:lpstr>
      <vt:lpstr>3) Viết một test case đơn giản để kiểm thử động cho bài toán trong tiểu luận 4 (kiểm thử động)</vt:lpstr>
      <vt:lpstr> Thank you for watching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Lã Minh Khánh</cp:lastModifiedBy>
  <cp:revision>70</cp:revision>
  <dcterms:created xsi:type="dcterms:W3CDTF">2024-02-21T14:07:16Z</dcterms:created>
  <dcterms:modified xsi:type="dcterms:W3CDTF">2024-09-21T14:30:47Z</dcterms:modified>
</cp:coreProperties>
</file>