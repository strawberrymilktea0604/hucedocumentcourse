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dp" ContentType="image/vnd.ms-photo"/>
  <Default Extension="png" ContentType="image/pn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6" r:id="rId1"/>
  </p:sldMasterIdLst>
  <p:notesMasterIdLst>
    <p:notesMasterId r:id="rId160"/>
  </p:notesMasterIdLst>
  <p:handoutMasterIdLst>
    <p:handoutMasterId r:id="rId161"/>
  </p:handoutMasterIdLst>
  <p:sldIdLst>
    <p:sldId id="256" r:id="rId2"/>
    <p:sldId id="268" r:id="rId3"/>
    <p:sldId id="273" r:id="rId4"/>
    <p:sldId id="377" r:id="rId5"/>
    <p:sldId id="577" r:id="rId6"/>
    <p:sldId id="375" r:id="rId7"/>
    <p:sldId id="384" r:id="rId8"/>
    <p:sldId id="418" r:id="rId9"/>
    <p:sldId id="419" r:id="rId10"/>
    <p:sldId id="420" r:id="rId11"/>
    <p:sldId id="422" r:id="rId12"/>
    <p:sldId id="421" r:id="rId13"/>
    <p:sldId id="423" r:id="rId14"/>
    <p:sldId id="578" r:id="rId15"/>
    <p:sldId id="424" r:id="rId16"/>
    <p:sldId id="425" r:id="rId17"/>
    <p:sldId id="436" r:id="rId18"/>
    <p:sldId id="437" r:id="rId19"/>
    <p:sldId id="427" r:id="rId20"/>
    <p:sldId id="428" r:id="rId21"/>
    <p:sldId id="429" r:id="rId22"/>
    <p:sldId id="432" r:id="rId23"/>
    <p:sldId id="430" r:id="rId24"/>
    <p:sldId id="579" r:id="rId25"/>
    <p:sldId id="434" r:id="rId26"/>
    <p:sldId id="433" r:id="rId27"/>
    <p:sldId id="435" r:id="rId28"/>
    <p:sldId id="439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48" r:id="rId37"/>
    <p:sldId id="449" r:id="rId38"/>
    <p:sldId id="450" r:id="rId39"/>
    <p:sldId id="451" r:id="rId40"/>
    <p:sldId id="454" r:id="rId41"/>
    <p:sldId id="453" r:id="rId42"/>
    <p:sldId id="447" r:id="rId43"/>
    <p:sldId id="455" r:id="rId44"/>
    <p:sldId id="456" r:id="rId45"/>
    <p:sldId id="457" r:id="rId46"/>
    <p:sldId id="458" r:id="rId47"/>
    <p:sldId id="459" r:id="rId48"/>
    <p:sldId id="460" r:id="rId49"/>
    <p:sldId id="462" r:id="rId50"/>
    <p:sldId id="461" r:id="rId51"/>
    <p:sldId id="463" r:id="rId52"/>
    <p:sldId id="464" r:id="rId53"/>
    <p:sldId id="465" r:id="rId54"/>
    <p:sldId id="467" r:id="rId55"/>
    <p:sldId id="468" r:id="rId56"/>
    <p:sldId id="469" r:id="rId57"/>
    <p:sldId id="470" r:id="rId58"/>
    <p:sldId id="472" r:id="rId59"/>
    <p:sldId id="471" r:id="rId60"/>
    <p:sldId id="473" r:id="rId61"/>
    <p:sldId id="476" r:id="rId62"/>
    <p:sldId id="474" r:id="rId63"/>
    <p:sldId id="475" r:id="rId64"/>
    <p:sldId id="477" r:id="rId65"/>
    <p:sldId id="478" r:id="rId66"/>
    <p:sldId id="480" r:id="rId67"/>
    <p:sldId id="479" r:id="rId68"/>
    <p:sldId id="482" r:id="rId69"/>
    <p:sldId id="481" r:id="rId70"/>
    <p:sldId id="483" r:id="rId71"/>
    <p:sldId id="484" r:id="rId72"/>
    <p:sldId id="485" r:id="rId73"/>
    <p:sldId id="486" r:id="rId74"/>
    <p:sldId id="487" r:id="rId75"/>
    <p:sldId id="488" r:id="rId76"/>
    <p:sldId id="489" r:id="rId77"/>
    <p:sldId id="490" r:id="rId78"/>
    <p:sldId id="492" r:id="rId79"/>
    <p:sldId id="491" r:id="rId80"/>
    <p:sldId id="493" r:id="rId81"/>
    <p:sldId id="494" r:id="rId82"/>
    <p:sldId id="495" r:id="rId83"/>
    <p:sldId id="496" r:id="rId84"/>
    <p:sldId id="497" r:id="rId85"/>
    <p:sldId id="498" r:id="rId86"/>
    <p:sldId id="499" r:id="rId87"/>
    <p:sldId id="500" r:id="rId88"/>
    <p:sldId id="501" r:id="rId89"/>
    <p:sldId id="502" r:id="rId90"/>
    <p:sldId id="503" r:id="rId91"/>
    <p:sldId id="505" r:id="rId92"/>
    <p:sldId id="506" r:id="rId93"/>
    <p:sldId id="507" r:id="rId94"/>
    <p:sldId id="508" r:id="rId95"/>
    <p:sldId id="509" r:id="rId96"/>
    <p:sldId id="512" r:id="rId97"/>
    <p:sldId id="511" r:id="rId98"/>
    <p:sldId id="510" r:id="rId99"/>
    <p:sldId id="513" r:id="rId100"/>
    <p:sldId id="516" r:id="rId101"/>
    <p:sldId id="517" r:id="rId102"/>
    <p:sldId id="518" r:id="rId103"/>
    <p:sldId id="519" r:id="rId104"/>
    <p:sldId id="520" r:id="rId105"/>
    <p:sldId id="521" r:id="rId106"/>
    <p:sldId id="523" r:id="rId107"/>
    <p:sldId id="524" r:id="rId108"/>
    <p:sldId id="525" r:id="rId109"/>
    <p:sldId id="526" r:id="rId110"/>
    <p:sldId id="527" r:id="rId111"/>
    <p:sldId id="529" r:id="rId112"/>
    <p:sldId id="530" r:id="rId113"/>
    <p:sldId id="528" r:id="rId114"/>
    <p:sldId id="531" r:id="rId115"/>
    <p:sldId id="532" r:id="rId116"/>
    <p:sldId id="533" r:id="rId117"/>
    <p:sldId id="534" r:id="rId118"/>
    <p:sldId id="535" r:id="rId119"/>
    <p:sldId id="536" r:id="rId120"/>
    <p:sldId id="538" r:id="rId121"/>
    <p:sldId id="537" r:id="rId122"/>
    <p:sldId id="539" r:id="rId123"/>
    <p:sldId id="540" r:id="rId124"/>
    <p:sldId id="541" r:id="rId125"/>
    <p:sldId id="542" r:id="rId126"/>
    <p:sldId id="543" r:id="rId127"/>
    <p:sldId id="545" r:id="rId128"/>
    <p:sldId id="546" r:id="rId129"/>
    <p:sldId id="547" r:id="rId130"/>
    <p:sldId id="548" r:id="rId131"/>
    <p:sldId id="550" r:id="rId132"/>
    <p:sldId id="549" r:id="rId133"/>
    <p:sldId id="552" r:id="rId134"/>
    <p:sldId id="551" r:id="rId135"/>
    <p:sldId id="553" r:id="rId136"/>
    <p:sldId id="554" r:id="rId137"/>
    <p:sldId id="555" r:id="rId138"/>
    <p:sldId id="556" r:id="rId139"/>
    <p:sldId id="557" r:id="rId140"/>
    <p:sldId id="558" r:id="rId141"/>
    <p:sldId id="559" r:id="rId142"/>
    <p:sldId id="560" r:id="rId143"/>
    <p:sldId id="561" r:id="rId144"/>
    <p:sldId id="562" r:id="rId145"/>
    <p:sldId id="563" r:id="rId146"/>
    <p:sldId id="564" r:id="rId147"/>
    <p:sldId id="566" r:id="rId148"/>
    <p:sldId id="565" r:id="rId149"/>
    <p:sldId id="567" r:id="rId150"/>
    <p:sldId id="569" r:id="rId151"/>
    <p:sldId id="568" r:id="rId152"/>
    <p:sldId id="570" r:id="rId153"/>
    <p:sldId id="572" r:id="rId154"/>
    <p:sldId id="571" r:id="rId155"/>
    <p:sldId id="573" r:id="rId156"/>
    <p:sldId id="574" r:id="rId157"/>
    <p:sldId id="575" r:id="rId158"/>
    <p:sldId id="576" r:id="rId1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FF99"/>
    <a:srgbClr val="0000FF"/>
    <a:srgbClr val="66FF33"/>
    <a:srgbClr val="37379F"/>
    <a:srgbClr val="AFFBB6"/>
    <a:srgbClr val="FF66CC"/>
    <a:srgbClr val="D8D2D3"/>
    <a:srgbClr val="CBE0F5"/>
    <a:srgbClr val="FFC1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60" autoAdjust="0"/>
  </p:normalViewPr>
  <p:slideViewPr>
    <p:cSldViewPr>
      <p:cViewPr>
        <p:scale>
          <a:sx n="102" d="100"/>
          <a:sy n="102" d="100"/>
        </p:scale>
        <p:origin x="168" y="-1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0" d="100"/>
          <a:sy n="80" d="100"/>
        </p:scale>
        <p:origin x="-2052" y="13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60" Type="http://schemas.openxmlformats.org/officeDocument/2006/relationships/notesMaster" Target="notesMasters/notesMaster1.xml"/><Relationship Id="rId161" Type="http://schemas.openxmlformats.org/officeDocument/2006/relationships/handoutMaster" Target="handoutMasters/handoutMaster1.xml"/><Relationship Id="rId162" Type="http://schemas.openxmlformats.org/officeDocument/2006/relationships/presProps" Target="pres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63" Type="http://schemas.openxmlformats.org/officeDocument/2006/relationships/viewProps" Target="viewProps.xml"/><Relationship Id="rId164" Type="http://schemas.openxmlformats.org/officeDocument/2006/relationships/theme" Target="theme/theme1.xml"/><Relationship Id="rId165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37B3D-7F5C-47BA-99CF-C719319F3FCA}" type="datetimeFigureOut">
              <a:rPr lang="fr-FR" smtClean="0"/>
              <a:t>06/11/2024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23349-032A-4B4B-8172-1EF4CDFF22F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785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C6DE8-0516-483A-9F7D-234AB668F892}" type="datetimeFigureOut">
              <a:rPr lang="fr-FR" smtClean="0"/>
              <a:t>06/11/2024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D4B47-DF6F-48A7-B1A2-65EE4825372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900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581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407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fr-FR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129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3129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032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70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887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691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999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2119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40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49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374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4304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223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274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0409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343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0989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82972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500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5252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343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343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343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834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39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49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59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69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79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89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99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109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119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129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139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149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150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157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BD4B47-DF6F-48A7-B1A2-65EE4825372E}" type="slidenum">
              <a:rPr lang="fr-FR" smtClean="0">
                <a:solidFill>
                  <a:prstClr val="black"/>
                </a:solidFill>
              </a:rPr>
              <a:pPr/>
              <a:t>158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4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9" name="Picture 2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74" y="0"/>
            <a:ext cx="9144374" cy="6858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174A7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074" name="AutoShape 2"/>
          <p:cNvSpPr>
            <a:spLocks noGrp="1" noChangeArrowheads="1"/>
          </p:cNvSpPr>
          <p:nvPr>
            <p:ph type="ctrTitle"/>
          </p:nvPr>
        </p:nvSpPr>
        <p:spPr>
          <a:xfrm>
            <a:off x="-409575" y="1863725"/>
            <a:ext cx="9966325" cy="773113"/>
          </a:xfrm>
          <a:solidFill>
            <a:srgbClr val="878EAF"/>
          </a:solidFill>
        </p:spPr>
        <p:txBody>
          <a:bodyPr/>
          <a:lstStyle>
            <a:lvl1pPr algn="ctr">
              <a:lnSpc>
                <a:spcPct val="85000"/>
              </a:lnSpc>
              <a:defRPr sz="4200">
                <a:cs typeface="Arial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25875" y="2951163"/>
            <a:ext cx="1495425" cy="549275"/>
          </a:xfrm>
        </p:spPr>
        <p:txBody>
          <a:bodyPr wrap="none">
            <a:spAutoFit/>
          </a:bodyPr>
          <a:lstStyle>
            <a:lvl1pPr marL="0" indent="0" algn="ctr">
              <a:buFontTx/>
              <a:buNone/>
              <a:defRPr sz="3000" b="0">
                <a:solidFill>
                  <a:srgbClr val="174A7C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3077" name="AutoShap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887663" y="3368675"/>
            <a:ext cx="3371850" cy="438150"/>
          </a:xfrm>
          <a:prstGeom prst="roundRect">
            <a:avLst>
              <a:gd name="adj" fmla="val 50000"/>
            </a:avLst>
          </a:prstGeom>
          <a:ln>
            <a:round/>
          </a:ln>
        </p:spPr>
        <p:txBody>
          <a:bodyPr wrap="none" lIns="180000" rIns="360000"/>
          <a:lstStyle>
            <a:lvl1pPr algn="ctr">
              <a:defRPr sz="1600" b="1"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3089" name="AutoShap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5334000" y="6452108"/>
            <a:ext cx="3521075" cy="393700"/>
          </a:xfrm>
          <a:prstGeom prst="roundRect">
            <a:avLst>
              <a:gd name="adj" fmla="val 50000"/>
            </a:avLst>
          </a:prstGeom>
          <a:solidFill>
            <a:srgbClr val="174A7C"/>
          </a:solidFill>
          <a:ln>
            <a:round/>
            <a:headEnd/>
            <a:tailEnd/>
          </a:ln>
        </p:spPr>
        <p:txBody>
          <a:bodyPr vert="horz" wrap="none" lIns="180000" tIns="45720" rIns="180000" bIns="4572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8600"/>
            <a:ext cx="1452562" cy="9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28600"/>
            <a:ext cx="1600200" cy="994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7273971" cy="822305"/>
          </a:xfrm>
        </p:spPr>
        <p:txBody>
          <a:bodyPr>
            <a:sp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itchFamily="34" charset="0"/>
              <a:buChar char="●"/>
              <a:defRPr/>
            </a:lvl1pPr>
            <a:lvl2pPr marL="785812" indent="-342900">
              <a:buClr>
                <a:schemeClr val="accent2">
                  <a:lumMod val="75000"/>
                </a:schemeClr>
              </a:buClr>
              <a:buSzPct val="140000"/>
              <a:buFont typeface="Arial" pitchFamily="34" charset="0"/>
              <a:buChar char="●"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xfrm>
            <a:off x="8001000" y="6530975"/>
            <a:ext cx="687814" cy="327025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982" y="6342617"/>
            <a:ext cx="838200" cy="49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9945838" cy="865584"/>
          </a:xfrm>
        </p:spPr>
        <p:txBody>
          <a:bodyPr anchor="t">
            <a:sp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xfrm>
            <a:off x="8225631" y="6553199"/>
            <a:ext cx="918369" cy="250825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7273971" cy="822305"/>
          </a:xfrm>
        </p:spPr>
        <p:txBody>
          <a:bodyPr>
            <a:sp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6838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6838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2000" y="168295"/>
            <a:ext cx="7273971" cy="822305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7273971" cy="822305"/>
          </a:xfrm>
        </p:spPr>
        <p:txBody>
          <a:bodyPr>
            <a:sp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4001339" cy="432792"/>
          </a:xfrm>
        </p:spPr>
        <p:txBody>
          <a:bodyPr anchor="b">
            <a:sp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990600"/>
            <a:ext cx="5111750" cy="5135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7273971" cy="822305"/>
          </a:xfrm>
        </p:spPr>
        <p:txBody>
          <a:bodyPr>
            <a:sp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981825" y="188913"/>
            <a:ext cx="2270125" cy="5978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9863" y="188913"/>
            <a:ext cx="6659562" cy="5978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9698" y="6492875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Sélection de variables en mode semi-supervisé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A170-6C1C-49EB-A8FF-4E13E53FFD4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04800" y="171727"/>
            <a:ext cx="7273971" cy="822305"/>
          </a:xfrm>
        </p:spPr>
        <p:txBody>
          <a:bodyPr>
            <a:sp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3969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99698" y="6492875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Sélection de variables en mode semi-supervisé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9A170-6C1C-49EB-A8FF-4E13E53FFD43}" type="slidenum">
              <a:rPr lang="fr-FR" smtClean="0"/>
              <a:t>‹#›</a:t>
            </a:fld>
            <a:endParaRPr lang="fr-FR"/>
          </a:p>
        </p:txBody>
      </p:sp>
      <p:sp>
        <p:nvSpPr>
          <p:cNvPr id="9" name="Rectangle 8"/>
          <p:cNvSpPr/>
          <p:nvPr userDrawn="1"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8645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Relationship Id="rId16" Type="http://schemas.microsoft.com/office/2007/relationships/hdphoto" Target="../media/hdphoto1.wdp"/><Relationship Id="rId17" Type="http://schemas.openxmlformats.org/officeDocument/2006/relationships/image" Target="../media/image2.png"/><Relationship Id="rId18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-9525"/>
            <a:ext cx="9144000" cy="6270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fr-FR"/>
          </a:p>
        </p:txBody>
      </p:sp>
      <p:sp>
        <p:nvSpPr>
          <p:cNvPr id="1033" name="AutoShape 9"/>
          <p:cNvSpPr>
            <a:spLocks noChangeArrowheads="1"/>
          </p:cNvSpPr>
          <p:nvPr/>
        </p:nvSpPr>
        <p:spPr bwMode="auto">
          <a:xfrm>
            <a:off x="7162800" y="6308725"/>
            <a:ext cx="1368425" cy="4318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1E4C7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6499225"/>
            <a:ext cx="9144000" cy="358775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451600"/>
            <a:ext cx="9144000" cy="406400"/>
          </a:xfrm>
          <a:prstGeom prst="rect">
            <a:avLst/>
          </a:prstGeom>
          <a:solidFill>
            <a:schemeClr val="bg1"/>
          </a:solidFill>
          <a:ln w="571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6453188"/>
            <a:ext cx="9144000" cy="47625"/>
          </a:xfrm>
          <a:prstGeom prst="rect">
            <a:avLst/>
          </a:prstGeom>
          <a:solidFill>
            <a:srgbClr val="174A7C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37" name="AutoShape 13"/>
          <p:cNvSpPr>
            <a:spLocks noChangeArrowheads="1"/>
          </p:cNvSpPr>
          <p:nvPr/>
        </p:nvSpPr>
        <p:spPr bwMode="auto">
          <a:xfrm>
            <a:off x="7185025" y="6334125"/>
            <a:ext cx="1325563" cy="3762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1026" name="AutoShap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10860" cy="822305"/>
          </a:xfrm>
          <a:prstGeom prst="roundRect">
            <a:avLst>
              <a:gd name="adj" fmla="val 50000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none"/>
        </p:style>
        <p:txBody>
          <a:bodyPr vert="horz" wrap="none" lIns="180000" tIns="0" rIns="18000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dirty="0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4714" y="1066800"/>
            <a:ext cx="8402086" cy="5077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5788" y="6507163"/>
            <a:ext cx="33242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100">
                <a:solidFill>
                  <a:srgbClr val="1E4C7C"/>
                </a:solidFill>
              </a:defRPr>
            </a:lvl1pPr>
          </a:lstStyle>
          <a:p>
            <a:r>
              <a:rPr lang="fr-FR" smtClean="0"/>
              <a:t>Sélection de variables en mode semi-supervisé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25631" y="6499225"/>
            <a:ext cx="6111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rgbClr val="1E4C7C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bg1"/>
          </a:solidFill>
          <a:latin typeface="Arial" charset="0"/>
        </a:defRPr>
      </a:lvl9pPr>
    </p:titleStyle>
    <p:bodyStyle>
      <a:lvl1pPr marL="342900" indent="-342900" algn="just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50000"/>
        <a:buFont typeface="Arial" pitchFamily="34" charset="0"/>
        <a:buChar char="●"/>
        <a:defRPr sz="2500" b="1">
          <a:solidFill>
            <a:srgbClr val="1E4C7C"/>
          </a:solidFill>
          <a:latin typeface="+mn-lt"/>
          <a:ea typeface="+mn-ea"/>
          <a:cs typeface="+mn-cs"/>
        </a:defRPr>
      </a:lvl1pPr>
      <a:lvl2pPr marL="785812" indent="-342900" algn="just" rtl="0" eaLnBrk="1" fontAlgn="base" hangingPunct="1">
        <a:spcBef>
          <a:spcPct val="20000"/>
        </a:spcBef>
        <a:spcAft>
          <a:spcPct val="0"/>
        </a:spcAft>
        <a:buClr>
          <a:schemeClr val="accent1">
            <a:lumMod val="25000"/>
          </a:schemeClr>
        </a:buClr>
        <a:buSzPct val="150000"/>
        <a:buFont typeface="Arial" pitchFamily="34" charset="0"/>
        <a:buChar char="●"/>
        <a:defRPr sz="2100" b="1">
          <a:solidFill>
            <a:srgbClr val="1E4C7C"/>
          </a:solidFill>
          <a:latin typeface="+mn-lt"/>
        </a:defRPr>
      </a:lvl2pPr>
      <a:lvl3pPr marL="1150938" indent="-342900" algn="just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SzPct val="110000"/>
        <a:buFont typeface="Arial" pitchFamily="34" charset="0"/>
        <a:buChar char="●"/>
        <a:defRPr sz="1900" b="1">
          <a:solidFill>
            <a:srgbClr val="1E4C7C"/>
          </a:solidFill>
          <a:latin typeface="+mn-lt"/>
        </a:defRPr>
      </a:lvl3pPr>
      <a:lvl4pPr marL="1349375" indent="-187325" algn="just" rtl="0" eaLnBrk="1" fontAlgn="base" hangingPunct="1">
        <a:spcBef>
          <a:spcPct val="20000"/>
        </a:spcBef>
        <a:spcAft>
          <a:spcPct val="0"/>
        </a:spcAft>
        <a:buClr>
          <a:srgbClr val="3D445B"/>
        </a:buClr>
        <a:buSzPct val="80000"/>
        <a:buFont typeface="Wingdings 2" pitchFamily="18" charset="2"/>
        <a:buBlip>
          <a:blip r:embed="rId17"/>
        </a:buBlip>
        <a:defRPr sz="1900" i="1">
          <a:solidFill>
            <a:srgbClr val="1E4C7C"/>
          </a:solidFill>
          <a:latin typeface="+mn-lt"/>
        </a:defRPr>
      </a:lvl4pPr>
      <a:lvl5pPr marL="1703388" indent="-174625" algn="just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600">
          <a:solidFill>
            <a:srgbClr val="1E4C7C"/>
          </a:solidFill>
          <a:latin typeface="+mn-lt"/>
        </a:defRPr>
      </a:lvl5pPr>
      <a:lvl6pPr marL="2160588" indent="-174625" algn="just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600">
          <a:solidFill>
            <a:srgbClr val="1E4C7C"/>
          </a:solidFill>
          <a:latin typeface="+mn-lt"/>
        </a:defRPr>
      </a:lvl6pPr>
      <a:lvl7pPr marL="2617788" indent="-174625" algn="just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600">
          <a:solidFill>
            <a:srgbClr val="1E4C7C"/>
          </a:solidFill>
          <a:latin typeface="+mn-lt"/>
        </a:defRPr>
      </a:lvl7pPr>
      <a:lvl8pPr marL="3074988" indent="-174625" algn="just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600">
          <a:solidFill>
            <a:srgbClr val="1E4C7C"/>
          </a:solidFill>
          <a:latin typeface="+mn-lt"/>
        </a:defRPr>
      </a:lvl8pPr>
      <a:lvl9pPr marL="3532188" indent="-174625" algn="just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600">
          <a:solidFill>
            <a:srgbClr val="1E4C7C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Computer" TargetMode="External"/><Relationship Id="rId4" Type="http://schemas.openxmlformats.org/officeDocument/2006/relationships/hyperlink" Target="http://en.wikipedia.org/wiki/Computer_program" TargetMode="External"/><Relationship Id="rId5" Type="http://schemas.openxmlformats.org/officeDocument/2006/relationships/hyperlink" Target="http://en.wikipedia.org/wiki/Computer_hardware" TargetMode="External"/><Relationship Id="rId6" Type="http://schemas.openxmlformats.org/officeDocument/2006/relationships/hyperlink" Target="http://www.igcseict.info/theory/1/hwsw/" TargetMode="External"/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e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8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9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0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1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8.png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9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0.png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31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2.png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32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33.png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34.png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7254" y="2209800"/>
            <a:ext cx="7749546" cy="1219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 smtClean="0"/>
              <a:t>SOFTWARE ENGINEERING</a:t>
            </a:r>
            <a:endParaRPr lang="fr-FR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962400"/>
            <a:ext cx="7007351" cy="838200"/>
          </a:xfrm>
        </p:spPr>
        <p:txBody>
          <a:bodyPr>
            <a:noAutofit/>
          </a:bodyPr>
          <a:lstStyle/>
          <a:p>
            <a:r>
              <a:rPr lang="fr-FR" sz="2000" dirty="0" err="1" smtClean="0"/>
              <a:t>Subject</a:t>
            </a:r>
            <a:r>
              <a:rPr lang="fr-FR" sz="2000" dirty="0" smtClean="0"/>
              <a:t> </a:t>
            </a:r>
            <a:r>
              <a:rPr lang="fr-FR" sz="2000" dirty="0" err="1" smtClean="0"/>
              <a:t>presented</a:t>
            </a:r>
            <a:r>
              <a:rPr lang="fr-FR" sz="2000" dirty="0" smtClean="0"/>
              <a:t> by:</a:t>
            </a:r>
          </a:p>
          <a:p>
            <a:r>
              <a:rPr lang="fr-FR" sz="2400" b="1" dirty="0" smtClean="0"/>
              <a:t>PhD. </a:t>
            </a:r>
            <a:r>
              <a:rPr lang="fr-FR" sz="2400" b="1" dirty="0" err="1" smtClean="0"/>
              <a:t>Trần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Khánh</a:t>
            </a:r>
            <a:r>
              <a:rPr lang="fr-FR" sz="2400" b="1" dirty="0" smtClean="0"/>
              <a:t> Dung</a:t>
            </a:r>
          </a:p>
          <a:p>
            <a:r>
              <a:rPr lang="fr-FR" sz="1800" b="1" dirty="0" err="1" smtClean="0"/>
              <a:t>Department</a:t>
            </a:r>
            <a:r>
              <a:rPr lang="fr-FR" sz="1800" b="1" dirty="0" smtClean="0"/>
              <a:t> of Software Engineering</a:t>
            </a:r>
          </a:p>
          <a:p>
            <a:r>
              <a:rPr lang="fr-FR" sz="1800" b="1" dirty="0" smtClean="0"/>
              <a:t>Email: </a:t>
            </a:r>
            <a:r>
              <a:rPr lang="fr-FR" sz="1800" b="1" dirty="0" err="1" smtClean="0"/>
              <a:t>dungtk@huce.edu.vn</a:t>
            </a:r>
            <a:endParaRPr lang="fr-FR" sz="1800" b="1" i="1" dirty="0" smtClean="0"/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1219199" y="5486400"/>
            <a:ext cx="7007351" cy="899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SzPct val="150000"/>
              <a:buFontTx/>
              <a:buNone/>
              <a:defRPr sz="3000" b="0">
                <a:solidFill>
                  <a:srgbClr val="174A7C"/>
                </a:solidFill>
                <a:latin typeface="+mn-lt"/>
                <a:ea typeface="+mn-ea"/>
                <a:cs typeface="+mn-cs"/>
              </a:defRPr>
            </a:lvl1pPr>
            <a:lvl2pPr marL="628650" indent="-185738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90000"/>
              <a:buFont typeface="Wingdings 2" pitchFamily="18" charset="2"/>
              <a:buChar char=""/>
              <a:defRPr sz="2100" b="1">
                <a:solidFill>
                  <a:srgbClr val="1E4C7C"/>
                </a:solidFill>
                <a:latin typeface="+mn-lt"/>
              </a:defRPr>
            </a:lvl2pPr>
            <a:lvl3pPr marL="982663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 2" pitchFamily="18" charset="2"/>
              <a:buChar char=""/>
              <a:defRPr sz="1900" b="1">
                <a:solidFill>
                  <a:srgbClr val="1E4C7C"/>
                </a:solidFill>
                <a:latin typeface="+mn-lt"/>
              </a:defRPr>
            </a:lvl3pPr>
            <a:lvl4pPr marL="1349375" indent="-1873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D445B"/>
              </a:buClr>
              <a:buSzPct val="80000"/>
              <a:buFont typeface="Wingdings 2" pitchFamily="18" charset="2"/>
              <a:buBlip>
                <a:blip r:embed="rId3"/>
              </a:buBlip>
              <a:defRPr sz="1900" i="1">
                <a:solidFill>
                  <a:srgbClr val="1E4C7C"/>
                </a:solidFill>
                <a:latin typeface="+mn-lt"/>
              </a:defRPr>
            </a:lvl4pPr>
            <a:lvl5pPr marL="1703388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1600">
                <a:solidFill>
                  <a:srgbClr val="1E4C7C"/>
                </a:solidFill>
                <a:latin typeface="+mn-lt"/>
              </a:defRPr>
            </a:lvl5pPr>
            <a:lvl6pPr marL="2160588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1600">
                <a:solidFill>
                  <a:srgbClr val="1E4C7C"/>
                </a:solidFill>
                <a:latin typeface="+mn-lt"/>
              </a:defRPr>
            </a:lvl6pPr>
            <a:lvl7pPr marL="2617788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1600">
                <a:solidFill>
                  <a:srgbClr val="1E4C7C"/>
                </a:solidFill>
                <a:latin typeface="+mn-lt"/>
              </a:defRPr>
            </a:lvl7pPr>
            <a:lvl8pPr marL="3074988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1600">
                <a:solidFill>
                  <a:srgbClr val="1E4C7C"/>
                </a:solidFill>
                <a:latin typeface="+mn-lt"/>
              </a:defRPr>
            </a:lvl8pPr>
            <a:lvl9pPr marL="3532188" indent="-174625" algn="just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1600">
                <a:solidFill>
                  <a:srgbClr val="1E4C7C"/>
                </a:solidFill>
                <a:latin typeface="+mn-lt"/>
              </a:defRPr>
            </a:lvl9pPr>
          </a:lstStyle>
          <a:p>
            <a:endParaRPr lang="fr-FR" sz="1600" dirty="0" smtClean="0"/>
          </a:p>
          <a:p>
            <a:endParaRPr lang="fr-FR" sz="1600" dirty="0" smtClean="0"/>
          </a:p>
          <a:p>
            <a:r>
              <a:rPr lang="fr-FR" sz="1600" dirty="0" smtClean="0"/>
              <a:t>01- 2023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34612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125" y="590"/>
            <a:ext cx="2366325" cy="779026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3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4724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000" dirty="0" err="1" smtClean="0"/>
              <a:t>Overview</a:t>
            </a:r>
            <a:endParaRPr lang="fr-FR" sz="2000" dirty="0" smtClean="0"/>
          </a:p>
          <a:p>
            <a:pPr>
              <a:lnSpc>
                <a:spcPct val="150000"/>
              </a:lnSpc>
            </a:pPr>
            <a:r>
              <a:rPr lang="fr-FR" sz="2000" dirty="0" smtClean="0"/>
              <a:t>Goals</a:t>
            </a:r>
          </a:p>
          <a:p>
            <a:pPr>
              <a:lnSpc>
                <a:spcPct val="150000"/>
              </a:lnSpc>
            </a:pPr>
            <a:r>
              <a:rPr lang="fr-FR" sz="2000" dirty="0" err="1" smtClean="0"/>
              <a:t>Chapters</a:t>
            </a:r>
            <a:endParaRPr lang="fr-FR" sz="2000" dirty="0" smtClean="0"/>
          </a:p>
          <a:p>
            <a:pPr lvl="1">
              <a:lnSpc>
                <a:spcPct val="150000"/>
              </a:lnSpc>
            </a:pPr>
            <a:r>
              <a:rPr lang="fr-FR" sz="2000" dirty="0" err="1" smtClean="0">
                <a:solidFill>
                  <a:srgbClr val="0000FF"/>
                </a:solidFill>
              </a:rPr>
              <a:t>Chapter</a:t>
            </a:r>
            <a:r>
              <a:rPr lang="fr-FR" sz="2000" dirty="0" smtClean="0">
                <a:solidFill>
                  <a:srgbClr val="0000FF"/>
                </a:solidFill>
              </a:rPr>
              <a:t> I – Software &amp; Software Engineering</a:t>
            </a:r>
          </a:p>
          <a:p>
            <a:pPr lvl="1">
              <a:lnSpc>
                <a:spcPct val="150000"/>
              </a:lnSpc>
            </a:pPr>
            <a:r>
              <a:rPr lang="fr-FR" sz="2000" dirty="0" err="1" smtClean="0">
                <a:solidFill>
                  <a:srgbClr val="0000FF"/>
                </a:solidFill>
              </a:rPr>
              <a:t>Chapter</a:t>
            </a:r>
            <a:r>
              <a:rPr lang="fr-FR" sz="2000" dirty="0" smtClean="0">
                <a:solidFill>
                  <a:srgbClr val="0000FF"/>
                </a:solidFill>
              </a:rPr>
              <a:t> II – </a:t>
            </a:r>
            <a:r>
              <a:rPr lang="fr-FR" sz="2000" smtClean="0">
                <a:solidFill>
                  <a:srgbClr val="0000FF"/>
                </a:solidFill>
              </a:rPr>
              <a:t>Requirements</a:t>
            </a:r>
            <a:r>
              <a:rPr lang="fr-FR" sz="2000" dirty="0" smtClean="0">
                <a:solidFill>
                  <a:srgbClr val="0000FF"/>
                </a:solidFill>
              </a:rPr>
              <a:t> </a:t>
            </a:r>
            <a:r>
              <a:rPr lang="fr-FR" sz="2000" dirty="0" err="1" smtClean="0">
                <a:solidFill>
                  <a:srgbClr val="0000FF"/>
                </a:solidFill>
              </a:rPr>
              <a:t>Analysis</a:t>
            </a:r>
            <a:r>
              <a:rPr lang="fr-FR" sz="2000" dirty="0" smtClean="0">
                <a:solidFill>
                  <a:srgbClr val="0000FF"/>
                </a:solidFill>
              </a:rPr>
              <a:t> &amp; Software </a:t>
            </a:r>
            <a:r>
              <a:rPr lang="fr-FR" sz="2000" dirty="0" err="1" smtClean="0">
                <a:solidFill>
                  <a:srgbClr val="0000FF"/>
                </a:solidFill>
              </a:rPr>
              <a:t>Specification</a:t>
            </a:r>
            <a:endParaRPr lang="fr-FR" sz="2000" dirty="0" smtClean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fr-FR" sz="2000" dirty="0" err="1" smtClean="0">
                <a:solidFill>
                  <a:srgbClr val="0000FF"/>
                </a:solidFill>
              </a:rPr>
              <a:t>Chapter</a:t>
            </a:r>
            <a:r>
              <a:rPr lang="fr-FR" sz="2000" dirty="0" smtClean="0">
                <a:solidFill>
                  <a:srgbClr val="0000FF"/>
                </a:solidFill>
              </a:rPr>
              <a:t> III – Software Design</a:t>
            </a:r>
          </a:p>
          <a:p>
            <a:pPr lvl="1">
              <a:lnSpc>
                <a:spcPct val="150000"/>
              </a:lnSpc>
            </a:pPr>
            <a:r>
              <a:rPr lang="fr-FR" sz="2000" dirty="0" err="1" smtClean="0">
                <a:solidFill>
                  <a:srgbClr val="0000FF"/>
                </a:solidFill>
              </a:rPr>
              <a:t>Chapter</a:t>
            </a:r>
            <a:r>
              <a:rPr lang="fr-FR" sz="2000" dirty="0" smtClean="0">
                <a:solidFill>
                  <a:srgbClr val="0000FF"/>
                </a:solidFill>
              </a:rPr>
              <a:t> IV – </a:t>
            </a:r>
            <a:r>
              <a:rPr lang="fr-FR" sz="2000" dirty="0" err="1" smtClean="0">
                <a:solidFill>
                  <a:srgbClr val="0000FF"/>
                </a:solidFill>
              </a:rPr>
              <a:t>Guaranty</a:t>
            </a:r>
            <a:r>
              <a:rPr lang="fr-FR" sz="2000" dirty="0" smtClean="0">
                <a:solidFill>
                  <a:srgbClr val="0000FF"/>
                </a:solidFill>
              </a:rPr>
              <a:t>, </a:t>
            </a:r>
            <a:r>
              <a:rPr lang="fr-FR" sz="2000" dirty="0" err="1">
                <a:solidFill>
                  <a:srgbClr val="0000FF"/>
                </a:solidFill>
              </a:rPr>
              <a:t>T</a:t>
            </a:r>
            <a:r>
              <a:rPr lang="fr-FR" sz="2000" dirty="0" err="1" smtClean="0">
                <a:solidFill>
                  <a:srgbClr val="0000FF"/>
                </a:solidFill>
              </a:rPr>
              <a:t>esting</a:t>
            </a:r>
            <a:r>
              <a:rPr lang="fr-FR" sz="2000" dirty="0" smtClean="0">
                <a:solidFill>
                  <a:srgbClr val="0000FF"/>
                </a:solidFill>
              </a:rPr>
              <a:t> &amp; </a:t>
            </a:r>
            <a:r>
              <a:rPr lang="fr-FR" sz="2000" dirty="0" err="1">
                <a:solidFill>
                  <a:srgbClr val="0000FF"/>
                </a:solidFill>
              </a:rPr>
              <a:t>M</a:t>
            </a:r>
            <a:r>
              <a:rPr lang="fr-FR" sz="2000" dirty="0" err="1" smtClean="0">
                <a:solidFill>
                  <a:srgbClr val="0000FF"/>
                </a:solidFill>
              </a:rPr>
              <a:t>aintaining</a:t>
            </a:r>
            <a:r>
              <a:rPr lang="fr-FR" sz="2000" dirty="0" smtClean="0">
                <a:solidFill>
                  <a:srgbClr val="0000FF"/>
                </a:solidFill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fr-FR" sz="2000" dirty="0" err="1" smtClean="0">
                <a:solidFill>
                  <a:srgbClr val="0000FF"/>
                </a:solidFill>
              </a:rPr>
              <a:t>Chapter</a:t>
            </a:r>
            <a:r>
              <a:rPr lang="fr-FR" sz="2000" dirty="0" smtClean="0">
                <a:solidFill>
                  <a:srgbClr val="0000FF"/>
                </a:solidFill>
              </a:rPr>
              <a:t> V – </a:t>
            </a:r>
            <a:r>
              <a:rPr lang="fr-FR" sz="2000" dirty="0" err="1" smtClean="0">
                <a:solidFill>
                  <a:srgbClr val="0000FF"/>
                </a:solidFill>
              </a:rPr>
              <a:t>Programming</a:t>
            </a:r>
            <a:r>
              <a:rPr lang="fr-FR" sz="2000" dirty="0" smtClean="0">
                <a:solidFill>
                  <a:srgbClr val="0000FF"/>
                </a:solidFill>
              </a:rPr>
              <a:t> </a:t>
            </a:r>
            <a:r>
              <a:rPr lang="fr-FR" sz="2000" dirty="0" err="1" smtClean="0">
                <a:solidFill>
                  <a:srgbClr val="0000FF"/>
                </a:solidFill>
              </a:rPr>
              <a:t>effectively</a:t>
            </a:r>
            <a:r>
              <a:rPr lang="fr-FR" sz="2000" dirty="0" smtClean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sz="2000" dirty="0" err="1" smtClean="0"/>
              <a:t>Review</a:t>
            </a:r>
            <a:endParaRPr lang="fr-FR" sz="20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63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0820"/>
            <a:ext cx="2971800" cy="757386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35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  <a:endParaRPr lang="fr-FR" sz="3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534400" cy="5076000"/>
          </a:xfrm>
        </p:spPr>
        <p:txBody>
          <a:bodyPr>
            <a:normAutofit lnSpcReduction="10000"/>
          </a:bodyPr>
          <a:lstStyle/>
          <a:p>
            <a:r>
              <a:rPr lang="en-US" sz="2400" b="0" dirty="0" smtClean="0"/>
              <a:t>Software Engineering </a:t>
            </a:r>
            <a:r>
              <a:rPr lang="en-US" sz="2400" dirty="0" smtClean="0"/>
              <a:t>vs.</a:t>
            </a:r>
            <a:r>
              <a:rPr lang="en-US" sz="2400" b="0" dirty="0" smtClean="0"/>
              <a:t> Software Technology</a:t>
            </a:r>
          </a:p>
          <a:p>
            <a:r>
              <a:rPr lang="en-US" sz="2400" b="0" dirty="0" smtClean="0"/>
              <a:t>General processes (</a:t>
            </a:r>
            <a:r>
              <a:rPr lang="en-US" sz="2400" b="0" dirty="0"/>
              <a:t>a series of </a:t>
            </a:r>
            <a:r>
              <a:rPr lang="en-US" sz="2400" b="0" dirty="0" smtClean="0"/>
              <a:t>predictable steps)</a:t>
            </a:r>
          </a:p>
          <a:p>
            <a:pPr lvl="1"/>
            <a:r>
              <a:rPr lang="en-US" sz="2000" b="0" dirty="0"/>
              <a:t>r</a:t>
            </a:r>
            <a:r>
              <a:rPr lang="en-US" sz="2000" b="0" dirty="0" smtClean="0"/>
              <a:t>equirement </a:t>
            </a:r>
            <a:r>
              <a:rPr lang="en-US" sz="2000" b="0" dirty="0" err="1" smtClean="0"/>
              <a:t>analysing</a:t>
            </a:r>
            <a:r>
              <a:rPr lang="en-US" sz="2000" b="0" dirty="0" smtClean="0"/>
              <a:t> (Business Analyst)</a:t>
            </a:r>
          </a:p>
          <a:p>
            <a:pPr lvl="1"/>
            <a:r>
              <a:rPr lang="en-US" sz="2000" b="0" dirty="0"/>
              <a:t>modelling (specification</a:t>
            </a:r>
            <a:r>
              <a:rPr lang="en-US" sz="2000" b="0" dirty="0" smtClean="0"/>
              <a:t>) (BA&amp;D)</a:t>
            </a:r>
            <a:endParaRPr lang="en-US" sz="2000" b="0" dirty="0"/>
          </a:p>
          <a:p>
            <a:pPr lvl="1"/>
            <a:r>
              <a:rPr lang="en-US" sz="2000" b="0" dirty="0"/>
              <a:t>designing </a:t>
            </a:r>
            <a:r>
              <a:rPr lang="en-US" sz="2000" b="0" dirty="0" smtClean="0"/>
              <a:t>(Designer)</a:t>
            </a:r>
            <a:endParaRPr lang="en-US" sz="2000" b="0" dirty="0"/>
          </a:p>
          <a:p>
            <a:pPr lvl="1"/>
            <a:r>
              <a:rPr lang="en-US" sz="2000" b="0" dirty="0" smtClean="0"/>
              <a:t>checking </a:t>
            </a:r>
            <a:r>
              <a:rPr lang="en-US" sz="2000" b="0" dirty="0"/>
              <a:t>the </a:t>
            </a:r>
            <a:r>
              <a:rPr lang="en-US" sz="2000" b="0" dirty="0" smtClean="0"/>
              <a:t>quality (Software Quality Assurance)</a:t>
            </a:r>
          </a:p>
          <a:p>
            <a:pPr lvl="1"/>
            <a:r>
              <a:rPr lang="en-US" sz="2000" b="0" dirty="0" smtClean="0"/>
              <a:t>Implementing (</a:t>
            </a:r>
            <a:r>
              <a:rPr lang="en-US" sz="2000" b="0" dirty="0" err="1" smtClean="0"/>
              <a:t>Developer|Coder|Programer</a:t>
            </a:r>
            <a:r>
              <a:rPr lang="en-US" sz="2000" b="0" dirty="0" smtClean="0"/>
              <a:t>)</a:t>
            </a:r>
          </a:p>
          <a:p>
            <a:pPr lvl="1"/>
            <a:r>
              <a:rPr lang="en-US" sz="2000" b="0" dirty="0" smtClean="0"/>
              <a:t>Testing (Tester)</a:t>
            </a:r>
          </a:p>
          <a:p>
            <a:pPr lvl="1"/>
            <a:r>
              <a:rPr lang="en-US" sz="2000" b="0" dirty="0" smtClean="0"/>
              <a:t>maintaining </a:t>
            </a:r>
            <a:endParaRPr lang="en-US" sz="2000" b="0" dirty="0"/>
          </a:p>
          <a:p>
            <a:r>
              <a:rPr lang="en-US" sz="2200" b="0" dirty="0" smtClean="0"/>
              <a:t>Not only building software systems but also building them </a:t>
            </a:r>
            <a:r>
              <a:rPr lang="en-US" sz="2200" i="1" dirty="0" smtClean="0"/>
              <a:t>effectively</a:t>
            </a:r>
          </a:p>
          <a:p>
            <a:r>
              <a:rPr lang="en-US" sz="2400" b="0" dirty="0" smtClean="0"/>
              <a:t>Textbook</a:t>
            </a:r>
            <a:r>
              <a:rPr lang="en-US" sz="2200" b="0" dirty="0" smtClean="0"/>
              <a:t>: </a:t>
            </a:r>
            <a:r>
              <a:rPr lang="en-US" sz="2400" i="1" dirty="0" smtClean="0"/>
              <a:t>Software </a:t>
            </a:r>
            <a:r>
              <a:rPr lang="en-US" sz="2400" i="1" dirty="0"/>
              <a:t>Engineering: A Practitioner's Approach by Roger </a:t>
            </a:r>
            <a:r>
              <a:rPr lang="en-US" sz="2400" i="1" dirty="0" smtClean="0"/>
              <a:t>Pressman, </a:t>
            </a:r>
            <a:r>
              <a:rPr lang="pl-PL" sz="2400" i="1" dirty="0"/>
              <a:t>Mc </a:t>
            </a:r>
            <a:r>
              <a:rPr lang="pl-PL" sz="2400" i="1" dirty="0" smtClean="0"/>
              <a:t>Graw-Hill</a:t>
            </a:r>
            <a:r>
              <a:rPr lang="en-US" sz="2400" i="1" dirty="0" smtClean="0"/>
              <a:t>, </a:t>
            </a:r>
            <a:r>
              <a:rPr lang="pl-PL" sz="2400" i="1" dirty="0" smtClean="0"/>
              <a:t>20</a:t>
            </a:r>
            <a:r>
              <a:rPr lang="en-US" sz="2400" i="1" dirty="0" smtClean="0"/>
              <a:t>09</a:t>
            </a:r>
            <a:r>
              <a:rPr lang="en-US" sz="2200" i="1" dirty="0" smtClean="0"/>
              <a:t>  (7/e, 1/e 1982)</a:t>
            </a:r>
          </a:p>
          <a:p>
            <a:pPr marL="0" indent="0">
              <a:buNone/>
            </a:pPr>
            <a:endParaRPr lang="en-US" sz="2200" i="1" dirty="0"/>
          </a:p>
          <a:p>
            <a:endParaRPr lang="en-US" sz="2200" i="1" dirty="0" smtClean="0"/>
          </a:p>
          <a:p>
            <a:pPr marL="0" indent="0">
              <a:buNone/>
            </a:pPr>
            <a:endParaRPr lang="en-US" sz="2600" b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905000"/>
            <a:ext cx="1905000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280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528" y="2275"/>
            <a:ext cx="2083833" cy="822305"/>
          </a:xfrm>
        </p:spPr>
        <p:txBody>
          <a:bodyPr/>
          <a:lstStyle/>
          <a:p>
            <a:r>
              <a:rPr lang="fr-FR" dirty="0" smtClean="0"/>
              <a:t> Goals</a:t>
            </a:r>
            <a:endParaRPr lang="fr-FR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284714" y="1329846"/>
            <a:ext cx="8402086" cy="5077703"/>
          </a:xfrm>
        </p:spPr>
        <p:txBody>
          <a:bodyPr/>
          <a:lstStyle/>
          <a:p>
            <a:pPr defTabSz="457200">
              <a:lnSpc>
                <a:spcPct val="150000"/>
              </a:lnSpc>
              <a:buFont typeface="Arial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err="1" smtClean="0"/>
              <a:t>Equipes</a:t>
            </a:r>
            <a:r>
              <a:rPr lang="en-US" dirty="0" smtClean="0"/>
              <a:t> IT students with  </a:t>
            </a:r>
            <a:endParaRPr lang="en-US" sz="3600" dirty="0" smtClean="0"/>
          </a:p>
          <a:p>
            <a:pPr lvl="1" defTabSz="457200">
              <a:lnSpc>
                <a:spcPct val="15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smtClean="0"/>
              <a:t>basic knowledge of software developing methods</a:t>
            </a:r>
          </a:p>
          <a:p>
            <a:pPr defTabSz="457200">
              <a:lnSpc>
                <a:spcPct val="15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smtClean="0"/>
              <a:t>Helps IT students</a:t>
            </a:r>
          </a:p>
          <a:p>
            <a:pPr lvl="1" defTabSz="457200">
              <a:lnSpc>
                <a:spcPct val="15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 smtClean="0"/>
              <a:t>to developing software on principle through methods, procedures and tools </a:t>
            </a:r>
          </a:p>
          <a:p>
            <a:pPr lvl="1" defTabSz="457200">
              <a:lnSpc>
                <a:spcPct val="15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mtClean="0"/>
              <a:t>to build </a:t>
            </a:r>
            <a:r>
              <a:rPr lang="en-US" dirty="0" smtClean="0"/>
              <a:t>software effectively</a:t>
            </a:r>
          </a:p>
          <a:p>
            <a:pPr marL="442912" lvl="1" indent="0" defTabSz="457200">
              <a:lnSpc>
                <a:spcPct val="15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it-IT" dirty="0" smtClean="0"/>
          </a:p>
          <a:p>
            <a:pPr defTabSz="457200">
              <a:lnSpc>
                <a:spcPct val="9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900" dirty="0" smtClean="0">
              <a:ea typeface="+mn-ea"/>
              <a:cs typeface="+mn-cs"/>
            </a:endParaRPr>
          </a:p>
          <a:p>
            <a:pPr marL="0" indent="0" defTabSz="457200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 smtClean="0"/>
          </a:p>
          <a:p>
            <a:pPr marL="0" indent="0" defTabSz="457200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  <a:p>
            <a:pPr lvl="1" defTabSz="457200">
              <a:lnSpc>
                <a:spcPct val="90000"/>
              </a:lnSpc>
              <a:buFont typeface="Arial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  <a:p>
            <a:pPr lvl="1" defTabSz="457200">
              <a:lnSpc>
                <a:spcPct val="90000"/>
              </a:lnSpc>
              <a:buFont typeface="Arial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4930210"/>
            <a:ext cx="1691566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CODER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2815777" y="5083269"/>
            <a:ext cx="144780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565245" y="4921462"/>
            <a:ext cx="3816755" cy="369332"/>
          </a:xfrm>
          <a:prstGeom prst="rect">
            <a:avLst/>
          </a:prstGeom>
          <a:solidFill>
            <a:srgbClr val="FFCCFF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SOFTWARE ENGINEER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8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Development Life Cycle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DLC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506" y="1676400"/>
            <a:ext cx="3737493" cy="472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005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515062" cy="777600"/>
          </a:xfrm>
        </p:spPr>
        <p:txBody>
          <a:bodyPr wrap="square">
            <a:noAutofit/>
          </a:bodyPr>
          <a:lstStyle/>
          <a:p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err="1" smtClean="0"/>
              <a:t>Chapter</a:t>
            </a:r>
            <a:r>
              <a:rPr lang="fr-FR" sz="5400" dirty="0" smtClean="0"/>
              <a:t> I</a:t>
            </a:r>
          </a:p>
          <a:p>
            <a:pPr marL="0" indent="0" algn="ctr">
              <a:buNone/>
            </a:pPr>
            <a:r>
              <a:rPr lang="fr-FR" sz="5400" dirty="0" smtClean="0"/>
              <a:t>Software &amp; Software Engineering</a:t>
            </a:r>
          </a:p>
          <a:p>
            <a:pPr marL="0" indent="0" algn="ctr">
              <a:buNone/>
            </a:pPr>
            <a:endParaRPr lang="fr-FR" sz="1600" dirty="0" smtClean="0"/>
          </a:p>
          <a:p>
            <a:pPr marL="0" indent="0" algn="ctr">
              <a:buNone/>
            </a:pPr>
            <a:endParaRPr lang="fr-FR" sz="1600" dirty="0" smtClean="0"/>
          </a:p>
          <a:p>
            <a:pPr lvl="2"/>
            <a:endParaRPr lang="fr-FR" sz="1800" dirty="0" smtClean="0"/>
          </a:p>
          <a:p>
            <a:r>
              <a:rPr lang="en-US" sz="2800" b="0" dirty="0" smtClean="0"/>
              <a:t> What is software? Software categories?</a:t>
            </a:r>
          </a:p>
          <a:p>
            <a:r>
              <a:rPr lang="en-US" sz="2800" b="0" dirty="0" smtClean="0"/>
              <a:t> Software developing patterns</a:t>
            </a:r>
            <a:endParaRPr lang="en-US" sz="2800" b="0" dirty="0"/>
          </a:p>
          <a:p>
            <a:pPr marL="0" indent="0">
              <a:buNone/>
            </a:pPr>
            <a:endParaRPr lang="en-US" sz="2800" b="0" dirty="0" smtClean="0"/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4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801062" cy="777600"/>
          </a:xfrm>
        </p:spPr>
        <p:txBody>
          <a:bodyPr wrap="square">
            <a:noAutofit/>
          </a:bodyPr>
          <a:lstStyle/>
          <a:p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I – Software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0" dirty="0" smtClean="0"/>
              <a:t> Definition “</a:t>
            </a:r>
            <a:r>
              <a:rPr lang="en-US" sz="2800" b="0" i="1" dirty="0" smtClean="0"/>
              <a:t>software</a:t>
            </a:r>
            <a:r>
              <a:rPr lang="en-US" sz="2800" b="0" dirty="0" smtClean="0"/>
              <a:t>” </a:t>
            </a:r>
          </a:p>
          <a:p>
            <a:pPr>
              <a:lnSpc>
                <a:spcPct val="150000"/>
              </a:lnSpc>
            </a:pPr>
            <a:r>
              <a:rPr lang="en-US" sz="2800" b="0" dirty="0" smtClean="0"/>
              <a:t> Growing process</a:t>
            </a:r>
          </a:p>
          <a:p>
            <a:pPr>
              <a:lnSpc>
                <a:spcPct val="150000"/>
              </a:lnSpc>
            </a:pPr>
            <a:r>
              <a:rPr lang="en-US" sz="2800" b="0" dirty="0" smtClean="0"/>
              <a:t> Software characteristics</a:t>
            </a:r>
            <a:endParaRPr lang="en-US" sz="2400" b="0" dirty="0" smtClean="0"/>
          </a:p>
          <a:p>
            <a:pPr>
              <a:lnSpc>
                <a:spcPct val="150000"/>
              </a:lnSpc>
            </a:pPr>
            <a:r>
              <a:rPr lang="en-US" sz="2800" b="0" dirty="0" smtClean="0"/>
              <a:t> Types of software</a:t>
            </a:r>
          </a:p>
          <a:p>
            <a:pPr>
              <a:lnSpc>
                <a:spcPct val="150000"/>
              </a:lnSpc>
            </a:pPr>
            <a:r>
              <a:rPr lang="en-US" sz="2800" b="0" dirty="0" smtClean="0"/>
              <a:t> Challenges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9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10705"/>
            <a:ext cx="5435893" cy="822305"/>
          </a:xfrm>
        </p:spPr>
        <p:txBody>
          <a:bodyPr/>
          <a:lstStyle/>
          <a:p>
            <a:r>
              <a:rPr lang="en-US" dirty="0" smtClean="0"/>
              <a:t>Definition “</a:t>
            </a:r>
            <a:r>
              <a:rPr lang="en-US" i="1" dirty="0" smtClean="0"/>
              <a:t>software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0" dirty="0"/>
              <a:t>Software is a</a:t>
            </a:r>
            <a:r>
              <a:rPr lang="en-US" dirty="0"/>
              <a:t> collection of instructions</a:t>
            </a:r>
            <a:r>
              <a:rPr lang="en-US" b="0" dirty="0"/>
              <a:t> that can be ‘run’ on a computer. These instructions tell the computer what to </a:t>
            </a:r>
            <a:r>
              <a:rPr lang="en-US" b="0" dirty="0" smtClean="0"/>
              <a:t>do. </a:t>
            </a:r>
            <a:r>
              <a:rPr lang="en-US" b="0" baseline="30000" dirty="0" smtClean="0"/>
              <a:t>1</a:t>
            </a:r>
            <a:endParaRPr lang="en-US" i="1" dirty="0" smtClean="0"/>
          </a:p>
          <a:p>
            <a:pPr lvl="1"/>
            <a:r>
              <a:rPr lang="en-US" i="1" dirty="0" smtClean="0"/>
              <a:t>“Computer software</a:t>
            </a:r>
            <a:r>
              <a:rPr lang="en-US" b="0" i="1" dirty="0" smtClean="0"/>
              <a:t>, or simply </a:t>
            </a:r>
            <a:r>
              <a:rPr lang="en-US" i="1" dirty="0" smtClean="0"/>
              <a:t>software</a:t>
            </a:r>
            <a:r>
              <a:rPr lang="en-US" b="0" i="1" dirty="0" smtClean="0"/>
              <a:t>, </a:t>
            </a:r>
            <a:r>
              <a:rPr lang="en-US" b="0" i="1" dirty="0"/>
              <a:t>refers to the non-tangible components of </a:t>
            </a:r>
            <a:r>
              <a:rPr lang="en-US" b="0" i="1" dirty="0">
                <a:hlinkClick r:id="rId3" tooltip="Computer"/>
              </a:rPr>
              <a:t>computers</a:t>
            </a:r>
            <a:r>
              <a:rPr lang="en-US" b="0" i="1" dirty="0"/>
              <a:t>, known as </a:t>
            </a:r>
            <a:r>
              <a:rPr lang="en-US" b="0" i="1" dirty="0">
                <a:hlinkClick r:id="rId4" tooltip="Computer program"/>
              </a:rPr>
              <a:t>computer programs</a:t>
            </a:r>
            <a:r>
              <a:rPr lang="en-US" b="0" i="1" dirty="0"/>
              <a:t>. The term is used to contrast with </a:t>
            </a:r>
            <a:r>
              <a:rPr lang="en-US" b="0" i="1" dirty="0">
                <a:hlinkClick r:id="rId5" tooltip="Computer hardware"/>
              </a:rPr>
              <a:t>computer hardware</a:t>
            </a:r>
            <a:r>
              <a:rPr lang="en-US" b="0" i="1" dirty="0"/>
              <a:t>, which denotes the physical tangible components of computers</a:t>
            </a:r>
            <a:r>
              <a:rPr lang="en-US" b="0" i="1" dirty="0" smtClean="0"/>
              <a:t>.” </a:t>
            </a:r>
            <a:r>
              <a:rPr lang="en-US" b="0" dirty="0" smtClean="0"/>
              <a:t>[Wikipedia]</a:t>
            </a:r>
          </a:p>
          <a:p>
            <a:pPr lvl="1"/>
            <a:endParaRPr lang="en-US" b="0" dirty="0" smtClean="0"/>
          </a:p>
          <a:p>
            <a:pPr lvl="1"/>
            <a:endParaRPr lang="en-US" b="0" dirty="0" smtClean="0"/>
          </a:p>
          <a:p>
            <a:pPr lvl="1"/>
            <a:endParaRPr lang="en-US" b="0" dirty="0"/>
          </a:p>
          <a:p>
            <a:pPr lvl="1"/>
            <a:endParaRPr lang="en-US" b="0" dirty="0" smtClean="0"/>
          </a:p>
          <a:p>
            <a:pPr marL="442912" lvl="1" indent="0">
              <a:buNone/>
            </a:pPr>
            <a:endParaRPr lang="en-US" b="0" dirty="0"/>
          </a:p>
          <a:p>
            <a:pPr marL="442912" lvl="1" indent="0">
              <a:buNone/>
            </a:pPr>
            <a:endParaRPr lang="en-US" b="0" dirty="0" smtClean="0"/>
          </a:p>
          <a:p>
            <a:pPr marL="442912" lvl="1" indent="0">
              <a:buNone/>
            </a:pPr>
            <a:r>
              <a:rPr lang="en-US" sz="1800" b="0" i="1" dirty="0" smtClean="0"/>
              <a:t>(1) </a:t>
            </a:r>
            <a:r>
              <a:rPr lang="en-US" sz="1800" b="0" i="1" dirty="0">
                <a:hlinkClick r:id="rId6"/>
              </a:rPr>
              <a:t>http://www.igcseict.info/theory/1/hwsw/</a:t>
            </a:r>
            <a:endParaRPr lang="en-US" sz="1800" b="0" i="1" dirty="0"/>
          </a:p>
          <a:p>
            <a:pPr marL="442912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smtClean="0"/>
              <a:t>/46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962400"/>
            <a:ext cx="55626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937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10705"/>
            <a:ext cx="5435893" cy="822305"/>
          </a:xfrm>
        </p:spPr>
        <p:txBody>
          <a:bodyPr/>
          <a:lstStyle/>
          <a:p>
            <a:r>
              <a:rPr lang="en-US" dirty="0" smtClean="0"/>
              <a:t>Definition “</a:t>
            </a:r>
            <a:r>
              <a:rPr lang="en-US" i="1" dirty="0" smtClean="0"/>
              <a:t>software</a:t>
            </a:r>
            <a:r>
              <a:rPr lang="en-US" dirty="0" smtClean="0"/>
              <a:t>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Software is </a:t>
            </a:r>
          </a:p>
          <a:p>
            <a:pPr lvl="1"/>
            <a:r>
              <a:rPr lang="en-US" sz="2400" b="0" dirty="0" smtClean="0"/>
              <a:t>(1) instructions (computer programs) that when executed provide desired function and performance, </a:t>
            </a:r>
          </a:p>
          <a:p>
            <a:pPr lvl="1"/>
            <a:r>
              <a:rPr lang="en-US" sz="2400" b="0" dirty="0" smtClean="0"/>
              <a:t>(2) data structures that enable programs to adequately manipulate information,</a:t>
            </a:r>
          </a:p>
          <a:p>
            <a:pPr lvl="1"/>
            <a:r>
              <a:rPr lang="en-US" sz="2400" b="0" dirty="0" smtClean="0"/>
              <a:t>And (3) documents that describe the operation and use of the programs.  </a:t>
            </a:r>
          </a:p>
          <a:p>
            <a:pPr lvl="1"/>
            <a:endParaRPr lang="en-US" sz="24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69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10705"/>
            <a:ext cx="4552138" cy="822305"/>
          </a:xfrm>
        </p:spPr>
        <p:txBody>
          <a:bodyPr/>
          <a:lstStyle/>
          <a:p>
            <a:r>
              <a:rPr lang="en-US" dirty="0" smtClean="0"/>
              <a:t>Growing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1950 – 1960: </a:t>
            </a:r>
            <a:r>
              <a:rPr lang="en-US" b="0" dirty="0"/>
              <a:t>early days of </a:t>
            </a:r>
            <a:r>
              <a:rPr lang="en-US" b="0" dirty="0" smtClean="0"/>
              <a:t>computing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1960 - </a:t>
            </a:r>
            <a:r>
              <a:rPr lang="en-US" dirty="0" smtClean="0"/>
              <a:t>middle 1970</a:t>
            </a:r>
            <a:r>
              <a:rPr lang="en-US" b="0" dirty="0"/>
              <a:t>:</a:t>
            </a:r>
            <a:r>
              <a:rPr lang="en-US" b="0" dirty="0" smtClean="0"/>
              <a:t> software crisis</a:t>
            </a:r>
          </a:p>
          <a:p>
            <a:pPr>
              <a:lnSpc>
                <a:spcPct val="150000"/>
              </a:lnSpc>
            </a:pPr>
            <a:r>
              <a:rPr lang="en-US" dirty="0"/>
              <a:t>m</a:t>
            </a:r>
            <a:r>
              <a:rPr lang="en-US" dirty="0" smtClean="0"/>
              <a:t>iddle 1970 – 1990</a:t>
            </a:r>
            <a:r>
              <a:rPr lang="en-US" b="0" dirty="0"/>
              <a:t>:</a:t>
            </a:r>
            <a:r>
              <a:rPr lang="en-US" b="0" dirty="0" smtClean="0"/>
              <a:t> network, cheap hardware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smtClean="0"/>
              <a:t>1990 – present: </a:t>
            </a:r>
            <a:r>
              <a:rPr lang="en-US" b="0" dirty="0" smtClean="0"/>
              <a:t>O-O,</a:t>
            </a:r>
            <a:r>
              <a:rPr lang="en-US" dirty="0"/>
              <a:t> </a:t>
            </a:r>
            <a:r>
              <a:rPr lang="en-US" b="0" dirty="0"/>
              <a:t>expert systems, artificial </a:t>
            </a:r>
            <a:r>
              <a:rPr lang="en-US" b="0" dirty="0" smtClean="0"/>
              <a:t>intelligence (AI), the fourth generation technics, cell-phone…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926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10705"/>
            <a:ext cx="6308360" cy="822305"/>
          </a:xfrm>
        </p:spPr>
        <p:txBody>
          <a:bodyPr/>
          <a:lstStyle/>
          <a:p>
            <a:r>
              <a:rPr lang="en-US" dirty="0" smtClean="0"/>
              <a:t>Software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Software is developed or engineered, it is not manufactured in the classical </a:t>
            </a:r>
            <a:r>
              <a:rPr lang="en-US" sz="2400" b="0" dirty="0" smtClean="0"/>
              <a:t>sense</a:t>
            </a:r>
          </a:p>
          <a:p>
            <a:pPr marL="0" indent="0">
              <a:buNone/>
            </a:pPr>
            <a:endParaRPr lang="en-US" sz="2400" b="0" dirty="0"/>
          </a:p>
          <a:p>
            <a:r>
              <a:rPr lang="en-US" b="0" dirty="0" smtClean="0"/>
              <a:t>Software </a:t>
            </a:r>
            <a:r>
              <a:rPr lang="en-US" b="0"/>
              <a:t>doesn't </a:t>
            </a:r>
            <a:r>
              <a:rPr lang="en-US" b="0" smtClean="0"/>
              <a:t>“wear out”</a:t>
            </a: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smtClean="0"/>
              <a:t>/46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" y="2958084"/>
            <a:ext cx="4517409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895600"/>
            <a:ext cx="4614080" cy="3354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072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10705"/>
            <a:ext cx="6308360" cy="822305"/>
          </a:xfrm>
        </p:spPr>
        <p:txBody>
          <a:bodyPr/>
          <a:lstStyle/>
          <a:p>
            <a:r>
              <a:rPr lang="en-US" dirty="0" smtClean="0"/>
              <a:t>Software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Although the industry is moving toward component-based assembly, most software continues to be custom 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7265722" cy="865584"/>
          </a:xfrm>
        </p:spPr>
        <p:txBody>
          <a:bodyPr/>
          <a:lstStyle/>
          <a:p>
            <a:r>
              <a:rPr lang="en-GB" sz="4000" dirty="0"/>
              <a:t>A</a:t>
            </a:r>
            <a:r>
              <a:rPr lang="en-GB" sz="4000" dirty="0" smtClean="0"/>
              <a:t>ttributes </a:t>
            </a:r>
            <a:r>
              <a:rPr lang="en-GB" sz="4000" dirty="0"/>
              <a:t>of good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rgbClr val="A50021"/>
                </a:solidFill>
              </a:rPr>
              <a:t>Maintainability</a:t>
            </a:r>
          </a:p>
          <a:p>
            <a:pPr lvl="1">
              <a:lnSpc>
                <a:spcPct val="150000"/>
              </a:lnSpc>
            </a:pPr>
            <a:r>
              <a:rPr lang="en-GB" sz="2000" b="0" dirty="0">
                <a:solidFill>
                  <a:schemeClr val="accent2"/>
                </a:solidFill>
              </a:rPr>
              <a:t>Software must evolve to meet changing needs</a:t>
            </a:r>
            <a:endParaRPr lang="en-GB" sz="2000" b="0" dirty="0" smtClean="0">
              <a:solidFill>
                <a:srgbClr val="A5002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dirty="0" smtClean="0">
                <a:solidFill>
                  <a:srgbClr val="A50021"/>
                </a:solidFill>
              </a:rPr>
              <a:t>Dependability</a:t>
            </a:r>
            <a:endParaRPr lang="en-GB" sz="2400" dirty="0">
              <a:solidFill>
                <a:srgbClr val="A5002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GB" sz="2000" b="0" dirty="0">
                <a:solidFill>
                  <a:schemeClr val="accent2"/>
                </a:solidFill>
              </a:rPr>
              <a:t>Software must be trustworthy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A50021"/>
                </a:solidFill>
              </a:rPr>
              <a:t>Efficiency</a:t>
            </a:r>
          </a:p>
          <a:p>
            <a:pPr lvl="1">
              <a:lnSpc>
                <a:spcPct val="150000"/>
              </a:lnSpc>
            </a:pPr>
            <a:r>
              <a:rPr lang="en-GB" sz="2000" b="0" dirty="0">
                <a:solidFill>
                  <a:schemeClr val="accent2"/>
                </a:solidFill>
              </a:rPr>
              <a:t>Software should not make wasteful use of system resources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A50021"/>
                </a:solidFill>
              </a:rPr>
              <a:t>Usability</a:t>
            </a:r>
          </a:p>
          <a:p>
            <a:pPr lvl="1">
              <a:lnSpc>
                <a:spcPct val="150000"/>
              </a:lnSpc>
            </a:pPr>
            <a:r>
              <a:rPr lang="en-GB" sz="2000" b="0" dirty="0">
                <a:solidFill>
                  <a:schemeClr val="accent2"/>
                </a:solidFill>
              </a:rPr>
              <a:t>Software must be usable by the users for which it was designed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0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3480848" cy="822305"/>
          </a:xfrm>
        </p:spPr>
        <p:txBody>
          <a:bodyPr/>
          <a:lstStyle/>
          <a:p>
            <a:r>
              <a:rPr lang="en-US" dirty="0" err="1" smtClean="0"/>
              <a:t>Assigment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Quick look (p.19)</a:t>
            </a:r>
          </a:p>
          <a:p>
            <a:r>
              <a:rPr lang="en-US" dirty="0" smtClean="0"/>
              <a:t>Name "Software Process Methods" (min. 10 names)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484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4953783" cy="865584"/>
          </a:xfrm>
        </p:spPr>
        <p:txBody>
          <a:bodyPr/>
          <a:lstStyle/>
          <a:p>
            <a:r>
              <a:rPr lang="en-GB" sz="4000" dirty="0" smtClean="0"/>
              <a:t>Types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+mj-lt"/>
              </a:rPr>
              <a:t>System </a:t>
            </a:r>
            <a:r>
              <a:rPr lang="en-US" sz="2000" dirty="0" smtClean="0">
                <a:latin typeface="+mj-lt"/>
              </a:rPr>
              <a:t>Software.</a:t>
            </a:r>
            <a:r>
              <a:rPr lang="en-US" sz="2000" b="0" i="1" dirty="0" smtClean="0">
                <a:latin typeface="+mj-lt"/>
              </a:rPr>
              <a:t> </a:t>
            </a:r>
            <a:r>
              <a:rPr lang="en-US" sz="2000" b="0" dirty="0">
                <a:latin typeface="+mj-lt"/>
              </a:rPr>
              <a:t>A collection of programs written to service other programs at system </a:t>
            </a:r>
            <a:r>
              <a:rPr lang="en-US" sz="2000" b="0" dirty="0" smtClean="0">
                <a:latin typeface="+mj-lt"/>
              </a:rPr>
              <a:t>level. For </a:t>
            </a:r>
            <a:r>
              <a:rPr lang="en-US" sz="2000" b="0" dirty="0">
                <a:latin typeface="+mj-lt"/>
              </a:rPr>
              <a:t>example, compiler, operating systems.</a:t>
            </a:r>
          </a:p>
          <a:p>
            <a:r>
              <a:rPr lang="en-US" sz="2000" dirty="0" smtClean="0">
                <a:latin typeface="+mj-lt"/>
              </a:rPr>
              <a:t>Business Software. </a:t>
            </a:r>
            <a:r>
              <a:rPr lang="en-US" sz="2000" b="0" dirty="0">
                <a:latin typeface="+mj-lt"/>
              </a:rPr>
              <a:t>Programs that  access, analyze and process business information</a:t>
            </a:r>
            <a:r>
              <a:rPr lang="en-US" sz="2000" b="0" dirty="0" smtClean="0">
                <a:latin typeface="+mj-lt"/>
              </a:rPr>
              <a:t>.</a:t>
            </a:r>
          </a:p>
          <a:p>
            <a:r>
              <a:rPr lang="en-US" sz="2000" dirty="0"/>
              <a:t>Real-time Software.</a:t>
            </a:r>
            <a:r>
              <a:rPr lang="en-US" sz="2000" b="0" dirty="0"/>
              <a:t> Programs that monitor/analyze/control real world events as they occur</a:t>
            </a:r>
            <a:r>
              <a:rPr lang="en-US" sz="2000" b="0" dirty="0" smtClean="0"/>
              <a:t>.</a:t>
            </a:r>
            <a:endParaRPr lang="en-US" sz="2000" b="0" dirty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Engineering </a:t>
            </a:r>
            <a:r>
              <a:rPr lang="en-US" sz="2000" dirty="0">
                <a:latin typeface="+mj-lt"/>
              </a:rPr>
              <a:t>and Scientific </a:t>
            </a:r>
            <a:r>
              <a:rPr lang="en-US" sz="2000" dirty="0" smtClean="0">
                <a:latin typeface="+mj-lt"/>
              </a:rPr>
              <a:t>Software. </a:t>
            </a:r>
            <a:r>
              <a:rPr lang="en-US" sz="2000" b="0" dirty="0" smtClean="0">
                <a:latin typeface="+mj-lt"/>
              </a:rPr>
              <a:t>Software </a:t>
            </a:r>
            <a:r>
              <a:rPr lang="en-US" sz="2000" b="0" dirty="0">
                <a:latin typeface="+mj-lt"/>
              </a:rPr>
              <a:t>using “number crunching” algorithms for different science and applications. System simulation, computer-aided design</a:t>
            </a:r>
            <a:r>
              <a:rPr lang="en-US" sz="2000" b="0" dirty="0" smtClean="0">
                <a:latin typeface="+mj-lt"/>
              </a:rPr>
              <a:t>.</a:t>
            </a:r>
          </a:p>
          <a:p>
            <a:r>
              <a:rPr lang="en-US" sz="2000" dirty="0">
                <a:latin typeface="+mj-lt"/>
              </a:rPr>
              <a:t>Embedded </a:t>
            </a:r>
            <a:r>
              <a:rPr lang="en-US" sz="2000" dirty="0" smtClean="0">
                <a:latin typeface="+mj-lt"/>
              </a:rPr>
              <a:t>Software. </a:t>
            </a:r>
            <a:r>
              <a:rPr lang="en-US" sz="2000" b="0" dirty="0" smtClean="0">
                <a:latin typeface="+mj-lt"/>
              </a:rPr>
              <a:t>Embedded </a:t>
            </a:r>
            <a:r>
              <a:rPr lang="en-US" sz="2000" b="0" dirty="0">
                <a:latin typeface="+mj-lt"/>
              </a:rPr>
              <a:t>software resides in read-only memory and is used to control products and systems for the consumer and industrial markets. It has very limited and esoteric functions and control capability.</a:t>
            </a:r>
          </a:p>
          <a:p>
            <a:r>
              <a:rPr lang="en-US" sz="2000" dirty="0" smtClean="0">
                <a:latin typeface="+mj-lt"/>
              </a:rPr>
              <a:t>Artificial </a:t>
            </a:r>
            <a:r>
              <a:rPr lang="en-US" sz="2000" dirty="0">
                <a:latin typeface="+mj-lt"/>
              </a:rPr>
              <a:t>Intelligence (AI) </a:t>
            </a:r>
            <a:r>
              <a:rPr lang="en-US" sz="2000" dirty="0" smtClean="0">
                <a:latin typeface="+mj-lt"/>
              </a:rPr>
              <a:t>Software. </a:t>
            </a:r>
            <a:r>
              <a:rPr lang="en-US" sz="2000" b="0" dirty="0" smtClean="0">
                <a:latin typeface="+mj-lt"/>
              </a:rPr>
              <a:t>Programs </a:t>
            </a:r>
            <a:r>
              <a:rPr lang="en-US" sz="2000" b="0" dirty="0">
                <a:latin typeface="+mj-lt"/>
              </a:rPr>
              <a:t>make use of AI  techniques and methods to solve complex problems. Active areas are expert systems, pattern recognition, games</a:t>
            </a: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9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4953783" cy="865584"/>
          </a:xfrm>
        </p:spPr>
        <p:txBody>
          <a:bodyPr/>
          <a:lstStyle/>
          <a:p>
            <a:r>
              <a:rPr lang="en-GB" sz="4000" dirty="0" smtClean="0"/>
              <a:t>Types of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714" y="854650"/>
            <a:ext cx="8402086" cy="5289853"/>
          </a:xfrm>
        </p:spPr>
        <p:txBody>
          <a:bodyPr/>
          <a:lstStyle/>
          <a:p>
            <a:r>
              <a:rPr lang="en-US" sz="2400" dirty="0"/>
              <a:t>Personal computer </a:t>
            </a:r>
            <a:r>
              <a:rPr lang="en-US" sz="2400" dirty="0" smtClean="0"/>
              <a:t>software. </a:t>
            </a:r>
            <a:r>
              <a:rPr lang="en-US" sz="2400" b="0" dirty="0" smtClean="0"/>
              <a:t>Word </a:t>
            </a:r>
            <a:r>
              <a:rPr lang="en-US" sz="2400" b="0" dirty="0"/>
              <a:t>processing, spreadsheets, computer graphics, multimedia, entertainment, database management, personal and business financial applications, external network, and database access are only a few of hundreds of applications</a:t>
            </a:r>
            <a:r>
              <a:rPr lang="en-US" sz="2400" b="0" dirty="0" smtClean="0"/>
              <a:t>.</a:t>
            </a:r>
          </a:p>
          <a:p>
            <a:r>
              <a:rPr lang="en-US" sz="2400" dirty="0"/>
              <a:t>Web-based </a:t>
            </a:r>
            <a:r>
              <a:rPr lang="en-US" sz="2400" dirty="0" smtClean="0"/>
              <a:t>software. </a:t>
            </a:r>
            <a:r>
              <a:rPr lang="en-US" sz="2400" b="0" dirty="0"/>
              <a:t>The Web pages retrieved by a browser are software </a:t>
            </a:r>
            <a:r>
              <a:rPr lang="en-US" sz="2400" b="0" dirty="0" smtClean="0"/>
              <a:t>that incorporates </a:t>
            </a:r>
            <a:r>
              <a:rPr lang="en-US" sz="2400" b="0" dirty="0"/>
              <a:t>executable instructions (e.g., CGI, HTML, Perl, or Java), and data (e.g</a:t>
            </a:r>
            <a:r>
              <a:rPr lang="en-US" sz="2400" b="0" dirty="0" smtClean="0"/>
              <a:t>.,</a:t>
            </a:r>
            <a:r>
              <a:rPr lang="en-US" sz="2400" b="0" dirty="0"/>
              <a:t> hypertext and a variety of visual and audio formats). </a:t>
            </a:r>
            <a:endParaRPr lang="en-US" sz="2400" b="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Software Tools and CASE (Computer Aided Software Engineering) environment.</a:t>
            </a:r>
            <a:r>
              <a:rPr lang="en-US" sz="2400" b="0" dirty="0" smtClean="0"/>
              <a:t> Tools and programs that help the construction of application software and systems. For example, programming tools, test tools, version control tools </a:t>
            </a:r>
            <a:r>
              <a:rPr lang="en-US" sz="2400" b="0" dirty="0" err="1" smtClean="0"/>
              <a:t>etc</a:t>
            </a:r>
            <a:r>
              <a:rPr lang="en-US" sz="2400" b="0" smtClean="0"/>
              <a:t>,.</a:t>
            </a:r>
            <a:endParaRPr lang="en-US" sz="2400" b="0" dirty="0" smtClean="0"/>
          </a:p>
          <a:p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969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337948" cy="865584"/>
          </a:xfrm>
        </p:spPr>
        <p:txBody>
          <a:bodyPr/>
          <a:lstStyle/>
          <a:p>
            <a:r>
              <a:rPr lang="en-GB" sz="4000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dirty="0"/>
              <a:t>Do not provide the desired functionality</a:t>
            </a:r>
          </a:p>
          <a:p>
            <a:r>
              <a:rPr lang="en-US" sz="2800" b="0" dirty="0"/>
              <a:t>Take too long to build</a:t>
            </a:r>
          </a:p>
          <a:p>
            <a:r>
              <a:rPr lang="en-US" sz="2800" b="0" dirty="0"/>
              <a:t>Cost too much to build</a:t>
            </a:r>
          </a:p>
          <a:p>
            <a:r>
              <a:rPr lang="en-US" sz="2800" b="0" dirty="0"/>
              <a:t>Require too much resources (time, space) to run</a:t>
            </a:r>
          </a:p>
          <a:p>
            <a:r>
              <a:rPr lang="en-US" sz="2800" b="0" dirty="0"/>
              <a:t>Cannot evolve to meet changing needs</a:t>
            </a:r>
          </a:p>
          <a:p>
            <a:pPr marL="442912" lvl="1" indent="0">
              <a:buNone/>
            </a:pPr>
            <a:endParaRPr lang="en-US" sz="2800" b="0" dirty="0" smtClean="0"/>
          </a:p>
          <a:p>
            <a:pPr marL="442912" lvl="1" indent="0">
              <a:buNone/>
            </a:pPr>
            <a:r>
              <a:rPr lang="en-US" dirty="0" smtClean="0"/>
              <a:t>IBM </a:t>
            </a:r>
            <a:r>
              <a:rPr lang="en-US" dirty="0"/>
              <a:t>survey of 24 companies developing distributed systems:</a:t>
            </a:r>
          </a:p>
          <a:p>
            <a:pPr lvl="2"/>
            <a:r>
              <a:rPr lang="en-US" dirty="0"/>
              <a:t>55% of the projects cost more than expected</a:t>
            </a:r>
          </a:p>
          <a:p>
            <a:pPr lvl="2"/>
            <a:r>
              <a:rPr lang="en-US" dirty="0"/>
              <a:t>68% overran their schedules</a:t>
            </a:r>
          </a:p>
          <a:p>
            <a:pPr lvl="2"/>
            <a:r>
              <a:rPr lang="en-US" dirty="0"/>
              <a:t>88% had to be substantially redesigned</a:t>
            </a:r>
          </a:p>
          <a:p>
            <a:pPr marL="0" indent="0"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3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337948" cy="865584"/>
          </a:xfrm>
        </p:spPr>
        <p:txBody>
          <a:bodyPr/>
          <a:lstStyle/>
          <a:p>
            <a:r>
              <a:rPr lang="en-GB" sz="4000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Software product size is increasing exponentially</a:t>
            </a:r>
          </a:p>
          <a:p>
            <a:pPr lvl="1">
              <a:lnSpc>
                <a:spcPct val="90000"/>
              </a:lnSpc>
            </a:pPr>
            <a:r>
              <a:rPr lang="en-US" sz="2800" b="0" dirty="0"/>
              <a:t>faster, smaller, cheaper hardware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Software is everywhere: </a:t>
            </a:r>
            <a:r>
              <a:rPr lang="en-US" sz="2400" b="0" dirty="0"/>
              <a:t>from TV sets to cell-phones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Software is in safety-critical systems</a:t>
            </a:r>
          </a:p>
          <a:p>
            <a:pPr lvl="1">
              <a:lnSpc>
                <a:spcPct val="90000"/>
              </a:lnSpc>
            </a:pPr>
            <a:r>
              <a:rPr lang="en-US" sz="2400" b="0" dirty="0"/>
              <a:t>cars, airplanes, nuclear-power plants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We are seeing more of</a:t>
            </a:r>
          </a:p>
          <a:p>
            <a:pPr lvl="1">
              <a:lnSpc>
                <a:spcPct val="90000"/>
              </a:lnSpc>
            </a:pPr>
            <a:r>
              <a:rPr lang="en-US" sz="2400" b="0" dirty="0"/>
              <a:t>distributed systems</a:t>
            </a:r>
          </a:p>
          <a:p>
            <a:pPr lvl="1">
              <a:lnSpc>
                <a:spcPct val="90000"/>
              </a:lnSpc>
            </a:pPr>
            <a:r>
              <a:rPr lang="en-US" sz="2400" b="0" dirty="0"/>
              <a:t>embedded systems</a:t>
            </a:r>
          </a:p>
          <a:p>
            <a:pPr lvl="1">
              <a:lnSpc>
                <a:spcPct val="90000"/>
              </a:lnSpc>
            </a:pPr>
            <a:r>
              <a:rPr lang="en-US" sz="2400" b="0" dirty="0"/>
              <a:t>real-time systems</a:t>
            </a:r>
          </a:p>
          <a:p>
            <a:pPr lvl="2">
              <a:lnSpc>
                <a:spcPct val="90000"/>
              </a:lnSpc>
            </a:pPr>
            <a:r>
              <a:rPr lang="en-US" sz="2400" b="0" dirty="0"/>
              <a:t>These kinds of systems are harder to build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Software requirements change</a:t>
            </a:r>
          </a:p>
          <a:p>
            <a:pPr lvl="1">
              <a:lnSpc>
                <a:spcPct val="90000"/>
              </a:lnSpc>
            </a:pPr>
            <a:r>
              <a:rPr lang="en-US" sz="2400" b="0" dirty="0"/>
              <a:t>software evolves rather than being built</a:t>
            </a:r>
          </a:p>
          <a:p>
            <a:pPr marL="0" indent="0">
              <a:buNone/>
            </a:pPr>
            <a:endParaRPr lang="en-US" sz="36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53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8730489" cy="865584"/>
          </a:xfrm>
        </p:spPr>
        <p:txBody>
          <a:bodyPr/>
          <a:lstStyle/>
          <a:p>
            <a:r>
              <a:rPr lang="en-GB" sz="4000" dirty="0" smtClean="0"/>
              <a:t>Section II – Software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smtClean="0"/>
              <a:t>Definition </a:t>
            </a:r>
            <a:r>
              <a:rPr lang="en-US" sz="2400" b="0" dirty="0" smtClean="0"/>
              <a:t>Software Engineering </a:t>
            </a:r>
            <a:r>
              <a:rPr lang="en-US" sz="2400" dirty="0" smtClean="0"/>
              <a:t>(SE)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Why </a:t>
            </a:r>
            <a:r>
              <a:rPr lang="en-US" sz="2400" dirty="0"/>
              <a:t>is SE</a:t>
            </a:r>
            <a:r>
              <a:rPr lang="en-US" sz="2400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What is SE?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Software Process Models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14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794057" cy="865584"/>
          </a:xfrm>
        </p:spPr>
        <p:txBody>
          <a:bodyPr/>
          <a:lstStyle/>
          <a:p>
            <a:r>
              <a:rPr lang="en-GB" sz="4000" dirty="0" smtClean="0"/>
              <a:t>Definition 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/>
              <a:t>“</a:t>
            </a:r>
            <a:r>
              <a:rPr lang="en-US" sz="2400" dirty="0">
                <a:latin typeface="Times New Roman" pitchFamily="18" charset="0"/>
              </a:rPr>
              <a:t>A systematic approach to the analysis, design, implementation and maintenance of software.”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   </a:t>
            </a:r>
            <a:r>
              <a:rPr lang="en-US" sz="2400" b="0" dirty="0">
                <a:latin typeface="Times New Roman" pitchFamily="18" charset="0"/>
              </a:rPr>
              <a:t>(</a:t>
            </a:r>
            <a:r>
              <a:rPr lang="en-US" sz="2400" b="0" i="1" dirty="0">
                <a:latin typeface="Times New Roman" pitchFamily="18" charset="0"/>
              </a:rPr>
              <a:t>The Free On-Line Dictionary of Computing)</a:t>
            </a: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</a:rPr>
              <a:t>“ The systematic application of tools and techniques in the development of computer-based applications.”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b="0" dirty="0">
                <a:latin typeface="Times New Roman" pitchFamily="18" charset="0"/>
              </a:rPr>
              <a:t>       (Sue Conger in </a:t>
            </a:r>
            <a:r>
              <a:rPr lang="en-US" sz="2400" b="0" i="1" dirty="0">
                <a:latin typeface="Times New Roman" pitchFamily="18" charset="0"/>
              </a:rPr>
              <a:t>The New Software Engineering)</a:t>
            </a: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itchFamily="18" charset="0"/>
              </a:rPr>
              <a:t>“ Software Engineering is about designing and developing high-quality software.”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    </a:t>
            </a:r>
            <a:r>
              <a:rPr lang="en-US" sz="2400" b="0" i="1" dirty="0">
                <a:latin typeface="Times New Roman" pitchFamily="18" charset="0"/>
              </a:rPr>
              <a:t>(Shari Lawrence </a:t>
            </a:r>
            <a:r>
              <a:rPr lang="en-US" sz="2400" b="0" i="1" dirty="0" err="1">
                <a:latin typeface="Times New Roman" pitchFamily="18" charset="0"/>
              </a:rPr>
              <a:t>Pfleeger</a:t>
            </a:r>
            <a:r>
              <a:rPr lang="en-US" sz="2400" b="0" i="1" dirty="0">
                <a:latin typeface="Times New Roman" pitchFamily="18" charset="0"/>
              </a:rPr>
              <a:t> in Software Engineering </a:t>
            </a:r>
            <a:r>
              <a:rPr lang="en-US" sz="2400" b="0" i="1" dirty="0" smtClean="0">
                <a:latin typeface="Times New Roman" pitchFamily="18" charset="0"/>
              </a:rPr>
              <a:t>- </a:t>
            </a:r>
            <a:r>
              <a:rPr lang="en-US" sz="2400" b="0" i="1" dirty="0">
                <a:latin typeface="Times New Roman" pitchFamily="18" charset="0"/>
              </a:rPr>
              <a:t>The Production of Quality Software)</a:t>
            </a:r>
          </a:p>
          <a:p>
            <a:pPr marL="0" indent="0">
              <a:buNone/>
            </a:pPr>
            <a:endParaRPr lang="en-US" sz="2400" b="0" i="1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35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794057" cy="865584"/>
          </a:xfrm>
        </p:spPr>
        <p:txBody>
          <a:bodyPr/>
          <a:lstStyle/>
          <a:p>
            <a:r>
              <a:rPr lang="en-GB" sz="4000" dirty="0" smtClean="0"/>
              <a:t>Definition 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</a:rPr>
              <a:t>Definition </a:t>
            </a:r>
            <a:r>
              <a:rPr lang="en-US" sz="2400" dirty="0">
                <a:latin typeface="Times New Roman" pitchFamily="18" charset="0"/>
              </a:rPr>
              <a:t>proposed by Fritz </a:t>
            </a:r>
            <a:r>
              <a:rPr lang="en-US" sz="2400" dirty="0" smtClean="0">
                <a:latin typeface="Times New Roman" pitchFamily="18" charset="0"/>
              </a:rPr>
              <a:t>Bauer</a:t>
            </a:r>
          </a:p>
          <a:p>
            <a:pPr lvl="1">
              <a:lnSpc>
                <a:spcPct val="80000"/>
              </a:lnSpc>
            </a:pPr>
            <a:endParaRPr lang="en-US" sz="2000" dirty="0" smtClean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0" smtClean="0">
                <a:latin typeface="Times New Roman" pitchFamily="18" charset="0"/>
              </a:rPr>
              <a:t>“[Software </a:t>
            </a:r>
            <a:r>
              <a:rPr lang="en-US" sz="2400" b="0" dirty="0">
                <a:latin typeface="Times New Roman" pitchFamily="18" charset="0"/>
              </a:rPr>
              <a:t>engineering is] the establishment and use of sound engineering principles in order to obtain economically software that is reliable and works efficiently on real machines.”</a:t>
            </a:r>
          </a:p>
          <a:p>
            <a:pPr>
              <a:lnSpc>
                <a:spcPct val="80000"/>
              </a:lnSpc>
            </a:pPr>
            <a:endParaRPr lang="en-US" sz="2800" b="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</a:rPr>
              <a:t>Definition developed by IEEE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dirty="0">
              <a:latin typeface="Times New Roman" pitchFamily="18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0" dirty="0">
                <a:latin typeface="Times New Roman" pitchFamily="18" charset="0"/>
              </a:rPr>
              <a:t>“Software Engineering: (1) The application of a systematic, disciplined, quantifiable approach to the development, operation, and maintenance of software; that is, the application of engineering to software. (2) The study of approaches as in (1).”</a:t>
            </a:r>
          </a:p>
          <a:p>
            <a:pPr marL="0" indent="0"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8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2833547" cy="865584"/>
          </a:xfrm>
        </p:spPr>
        <p:txBody>
          <a:bodyPr/>
          <a:lstStyle/>
          <a:p>
            <a:r>
              <a:rPr lang="en-GB" sz="4000" dirty="0" smtClean="0"/>
              <a:t>Why 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+mj-lt"/>
              </a:rPr>
              <a:t>Major </a:t>
            </a:r>
            <a:r>
              <a:rPr lang="en-US" sz="2400" dirty="0" smtClean="0">
                <a:latin typeface="+mj-lt"/>
              </a:rPr>
              <a:t>Goals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increase software productivity and </a:t>
            </a:r>
            <a:r>
              <a:rPr lang="en-US" sz="2400" b="0" dirty="0" smtClean="0">
                <a:latin typeface="+mj-lt"/>
              </a:rPr>
              <a:t>quality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effectively control software schedule and </a:t>
            </a:r>
            <a:r>
              <a:rPr lang="en-US" sz="2400" b="0" dirty="0" smtClean="0">
                <a:latin typeface="+mj-lt"/>
              </a:rPr>
              <a:t>planning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reduce the cost of software </a:t>
            </a:r>
            <a:r>
              <a:rPr lang="en-US" sz="2400" b="0" dirty="0" smtClean="0">
                <a:latin typeface="+mj-lt"/>
              </a:rPr>
              <a:t>development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meet the customers’ needs and </a:t>
            </a:r>
            <a:r>
              <a:rPr lang="en-US" sz="2400" b="0" dirty="0" smtClean="0">
                <a:latin typeface="+mj-lt"/>
              </a:rPr>
              <a:t>requirements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enhance the conduction of software engineering </a:t>
            </a:r>
            <a:r>
              <a:rPr lang="en-US" sz="2400" b="0" dirty="0" smtClean="0">
                <a:latin typeface="+mj-lt"/>
              </a:rPr>
              <a:t>process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improve the current software engineering </a:t>
            </a:r>
            <a:r>
              <a:rPr lang="en-US" sz="2400" b="0" dirty="0" smtClean="0">
                <a:latin typeface="+mj-lt"/>
              </a:rPr>
              <a:t>practice</a:t>
            </a:r>
          </a:p>
          <a:p>
            <a:pPr lvl="1"/>
            <a:r>
              <a:rPr lang="en-US" sz="2400" b="0" dirty="0" smtClean="0">
                <a:latin typeface="+mj-lt"/>
              </a:rPr>
              <a:t>To </a:t>
            </a:r>
            <a:r>
              <a:rPr lang="en-US" sz="2400" b="0" dirty="0">
                <a:latin typeface="+mj-lt"/>
              </a:rPr>
              <a:t>support the engineers’ activities in a systematic and efficient </a:t>
            </a:r>
            <a:r>
              <a:rPr lang="en-US" sz="2400" b="0" dirty="0" smtClean="0">
                <a:latin typeface="+mj-lt"/>
              </a:rPr>
              <a:t>manner</a:t>
            </a:r>
            <a:endParaRPr lang="en-US" sz="2400" b="0" dirty="0">
              <a:latin typeface="+mj-lt"/>
            </a:endParaRPr>
          </a:p>
          <a:p>
            <a:pPr marL="0" indent="0">
              <a:buNone/>
            </a:pPr>
            <a:endParaRPr lang="en-US" sz="2400" b="0" dirty="0">
              <a:latin typeface="+mj-lt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0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551020" cy="865584"/>
          </a:xfrm>
        </p:spPr>
        <p:txBody>
          <a:bodyPr/>
          <a:lstStyle/>
          <a:p>
            <a:r>
              <a:rPr lang="en-GB" sz="4000" dirty="0" smtClean="0"/>
              <a:t>What is 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2400" dirty="0" smtClean="0">
              <a:latin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latin typeface="+mj-lt"/>
              </a:rPr>
              <a:t>Software engineering is a layered </a:t>
            </a:r>
            <a:r>
              <a:rPr lang="en-US" sz="2400" dirty="0" smtClean="0">
                <a:latin typeface="+mj-lt"/>
              </a:rPr>
              <a:t>technology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+mj-lt"/>
              </a:rPr>
              <a:t>Process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+mj-lt"/>
              </a:rPr>
              <a:t>Methods</a:t>
            </a:r>
          </a:p>
          <a:p>
            <a:pPr lvl="1">
              <a:lnSpc>
                <a:spcPct val="80000"/>
              </a:lnSpc>
            </a:pPr>
            <a:r>
              <a:rPr lang="en-US" sz="2400" dirty="0" smtClean="0">
                <a:latin typeface="+mj-lt"/>
              </a:rPr>
              <a:t>Tools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0" dirty="0" smtClean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 smtClean="0"/>
              <a:t>/46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696" y="1219200"/>
            <a:ext cx="64960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721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863" y="188129"/>
            <a:ext cx="3480848" cy="822305"/>
          </a:xfrm>
        </p:spPr>
        <p:txBody>
          <a:bodyPr/>
          <a:lstStyle/>
          <a:p>
            <a:r>
              <a:rPr lang="en-US" dirty="0" err="1" smtClean="0"/>
              <a:t>Assigment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is SE ?</a:t>
            </a:r>
          </a:p>
          <a:p>
            <a:r>
              <a:rPr lang="en-US" dirty="0" smtClean="0"/>
              <a:t>Tools for methods in software process models ?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: </a:t>
            </a:r>
            <a:r>
              <a:rPr lang="en-US" dirty="0" err="1" smtClean="0"/>
              <a:t>Req</a:t>
            </a:r>
            <a:r>
              <a:rPr lang="en-US" dirty="0" smtClean="0"/>
              <a:t> Analysis: BPMN/Activity Diagram, tools: </a:t>
            </a:r>
            <a:r>
              <a:rPr lang="en-US" dirty="0" err="1" smtClean="0"/>
              <a:t>draw.io</a:t>
            </a:r>
            <a:r>
              <a:rPr lang="en-US" dirty="0" smtClean="0"/>
              <a:t>, visual paradigm</a:t>
            </a:r>
          </a:p>
          <a:p>
            <a:pPr lvl="1"/>
            <a:r>
              <a:rPr lang="en-US" dirty="0" smtClean="0"/>
              <a:t>Jira is tool for methods </a:t>
            </a:r>
            <a:r>
              <a:rPr lang="en-US" smtClean="0"/>
              <a:t>or process 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601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551020" cy="865584"/>
          </a:xfrm>
        </p:spPr>
        <p:txBody>
          <a:bodyPr/>
          <a:lstStyle/>
          <a:p>
            <a:r>
              <a:rPr lang="en-GB" sz="4000" dirty="0" smtClean="0"/>
              <a:t>What is 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</a:p>
          <a:p>
            <a:pPr lvl="1"/>
            <a:r>
              <a:rPr lang="en-US" sz="2400" b="0" dirty="0" smtClean="0"/>
              <a:t>Glue </a:t>
            </a:r>
            <a:r>
              <a:rPr lang="en-US" sz="2400" b="0" dirty="0"/>
              <a:t>– holds the technology layers together</a:t>
            </a:r>
          </a:p>
          <a:p>
            <a:pPr lvl="1"/>
            <a:r>
              <a:rPr lang="en-US" sz="2400" b="0" dirty="0"/>
              <a:t>Foundation for software engineering</a:t>
            </a:r>
          </a:p>
          <a:p>
            <a:pPr lvl="1"/>
            <a:r>
              <a:rPr lang="en-US" sz="2400" b="0" dirty="0"/>
              <a:t>Enables timely development</a:t>
            </a:r>
          </a:p>
          <a:p>
            <a:pPr lvl="1"/>
            <a:r>
              <a:rPr lang="en-US" sz="2400" b="0" dirty="0"/>
              <a:t>Forms the basis for management control of software projects</a:t>
            </a:r>
          </a:p>
          <a:p>
            <a:pPr lvl="1"/>
            <a:r>
              <a:rPr lang="en-US" sz="2400" b="0" dirty="0"/>
              <a:t>Establishes the context in which technical methods are applied</a:t>
            </a:r>
          </a:p>
          <a:p>
            <a:pPr lvl="1"/>
            <a:r>
              <a:rPr lang="en-US" sz="2400" b="0" dirty="0"/>
              <a:t>Work products are produced</a:t>
            </a:r>
          </a:p>
          <a:p>
            <a:pPr lvl="1"/>
            <a:r>
              <a:rPr lang="en-US" sz="2400" b="0" dirty="0"/>
              <a:t>Milestones are established</a:t>
            </a:r>
          </a:p>
          <a:p>
            <a:pPr lvl="1"/>
            <a:r>
              <a:rPr lang="en-US" sz="2400" b="0" dirty="0"/>
              <a:t>Quality is ensured</a:t>
            </a:r>
          </a:p>
          <a:p>
            <a:pPr lvl="1"/>
            <a:r>
              <a:rPr lang="en-US" sz="2400" b="0" dirty="0"/>
              <a:t>Change is properly managed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0" dirty="0" smtClean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09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551020" cy="865584"/>
          </a:xfrm>
        </p:spPr>
        <p:txBody>
          <a:bodyPr/>
          <a:lstStyle/>
          <a:p>
            <a:r>
              <a:rPr lang="en-GB" sz="4000" dirty="0" smtClean="0"/>
              <a:t>What is 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400" b="0" dirty="0"/>
              <a:t>Provide the technical “how </a:t>
            </a:r>
            <a:r>
              <a:rPr lang="en-US" sz="2400" b="0" dirty="0" err="1"/>
              <a:t>to’s</a:t>
            </a:r>
            <a:r>
              <a:rPr lang="en-US" sz="2400" b="0" dirty="0"/>
              <a:t>” for constructing </a:t>
            </a:r>
            <a:r>
              <a:rPr lang="en-US" sz="2400" b="0" dirty="0" smtClean="0"/>
              <a:t>software</a:t>
            </a:r>
          </a:p>
          <a:p>
            <a:pPr lvl="1"/>
            <a:r>
              <a:rPr lang="en-US" sz="2400" b="0" dirty="0"/>
              <a:t>Tasks include communications, requirement analysis, design modeling, program construction, testing, and support.</a:t>
            </a:r>
          </a:p>
          <a:p>
            <a:pPr lvl="1"/>
            <a:r>
              <a:rPr lang="en-US" sz="2400" b="0" dirty="0"/>
              <a:t>Rely on set of basic principles</a:t>
            </a:r>
          </a:p>
          <a:p>
            <a:pPr lvl="2"/>
            <a:r>
              <a:rPr lang="en-US" sz="2000" b="0" dirty="0"/>
              <a:t>To govern each area of the technology</a:t>
            </a:r>
          </a:p>
          <a:p>
            <a:pPr lvl="2"/>
            <a:r>
              <a:rPr lang="en-US" sz="2000" b="0" dirty="0"/>
              <a:t>Include modeling activities</a:t>
            </a:r>
          </a:p>
          <a:p>
            <a:pPr marL="442912" lvl="1" indent="0">
              <a:buNone/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endParaRPr lang="en-US" sz="2400" b="0" dirty="0" smtClean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7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551020" cy="865584"/>
          </a:xfrm>
        </p:spPr>
        <p:txBody>
          <a:bodyPr/>
          <a:lstStyle/>
          <a:p>
            <a:r>
              <a:rPr lang="en-GB" sz="4000" dirty="0" smtClean="0"/>
              <a:t>What is 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  <a:p>
            <a:pPr lvl="1"/>
            <a:r>
              <a:rPr lang="en-US" sz="2400" b="0" dirty="0"/>
              <a:t>Automated or semi-automated support for the process and </a:t>
            </a:r>
            <a:r>
              <a:rPr lang="en-US" sz="2400" b="0" dirty="0" smtClean="0"/>
              <a:t>methods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r>
              <a:rPr lang="en-US" dirty="0"/>
              <a:t>A quality focus</a:t>
            </a:r>
          </a:p>
          <a:p>
            <a:pPr lvl="1"/>
            <a:r>
              <a:rPr lang="en-US" sz="2400" b="0" dirty="0"/>
              <a:t>The bedrock</a:t>
            </a:r>
          </a:p>
          <a:p>
            <a:pPr lvl="1"/>
            <a:r>
              <a:rPr lang="en-US" sz="2400" b="0" dirty="0" smtClean="0"/>
              <a:t>Any engineering approach must rest on an organizational commitment to quality.</a:t>
            </a:r>
            <a:endParaRPr lang="en-US" sz="2400" b="0" dirty="0"/>
          </a:p>
          <a:p>
            <a:pPr lvl="1"/>
            <a:r>
              <a:rPr lang="en-US" sz="2400" b="0" dirty="0"/>
              <a:t>Foster a continuous process improvement culture</a:t>
            </a:r>
          </a:p>
          <a:p>
            <a:endParaRPr lang="en-US" sz="3200" b="0" dirty="0"/>
          </a:p>
          <a:p>
            <a:pPr marL="0" indent="0">
              <a:lnSpc>
                <a:spcPct val="80000"/>
              </a:lnSpc>
              <a:buNone/>
            </a:pPr>
            <a:endParaRPr lang="en-US" sz="2800" b="0" dirty="0" smtClean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65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184243" cy="865584"/>
          </a:xfrm>
        </p:spPr>
        <p:txBody>
          <a:bodyPr/>
          <a:lstStyle/>
          <a:p>
            <a:r>
              <a:rPr lang="en-GB" sz="4000" dirty="0" smtClean="0"/>
              <a:t>SE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 smtClean="0"/>
              <a:t>SE work is categorized </a:t>
            </a:r>
            <a:r>
              <a:rPr lang="en-US" sz="2400" b="0" dirty="0"/>
              <a:t>into </a:t>
            </a:r>
            <a:r>
              <a:rPr lang="en-US" sz="2400" b="0" dirty="0" smtClean="0"/>
              <a:t>three generic phases</a:t>
            </a:r>
          </a:p>
          <a:p>
            <a:pPr marL="0" indent="0">
              <a:buNone/>
            </a:pPr>
            <a:endParaRPr lang="en-US" sz="2400" b="0" dirty="0" smtClean="0"/>
          </a:p>
          <a:p>
            <a:pPr lvl="1"/>
            <a:r>
              <a:rPr lang="en-US" sz="2400" dirty="0" smtClean="0"/>
              <a:t>Definition</a:t>
            </a:r>
            <a:r>
              <a:rPr lang="en-US" sz="2400" b="0" dirty="0" smtClean="0"/>
              <a:t> </a:t>
            </a:r>
            <a:r>
              <a:rPr lang="en-US" sz="2400" dirty="0" smtClean="0"/>
              <a:t>phase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Development phase</a:t>
            </a:r>
          </a:p>
          <a:p>
            <a:pPr lvl="1"/>
            <a:endParaRPr lang="en-US" sz="2400" b="0" dirty="0">
              <a:latin typeface="Times New Roman" pitchFamily="18" charset="0"/>
            </a:endParaRPr>
          </a:p>
          <a:p>
            <a:pPr lvl="1"/>
            <a:r>
              <a:rPr lang="en-US" sz="2400" dirty="0"/>
              <a:t>Support phase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1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184243" cy="865584"/>
          </a:xfrm>
        </p:spPr>
        <p:txBody>
          <a:bodyPr/>
          <a:lstStyle/>
          <a:p>
            <a:r>
              <a:rPr lang="en-GB" sz="4000" dirty="0" smtClean="0"/>
              <a:t>SE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Definition</a:t>
            </a:r>
            <a:r>
              <a:rPr lang="en-US" sz="2400" b="0" dirty="0"/>
              <a:t> </a:t>
            </a:r>
            <a:r>
              <a:rPr lang="en-US" sz="2400" dirty="0"/>
              <a:t>phase</a:t>
            </a:r>
            <a:r>
              <a:rPr lang="en-US" sz="2400" b="0" dirty="0"/>
              <a:t>: “WHAT”. </a:t>
            </a:r>
            <a:r>
              <a:rPr lang="en-US" sz="2000" b="0" dirty="0"/>
              <a:t>T</a:t>
            </a:r>
            <a:r>
              <a:rPr lang="en-US" sz="2400" b="0" dirty="0"/>
              <a:t>o identify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what </a:t>
            </a:r>
            <a:r>
              <a:rPr lang="en-US" sz="2400" b="0" dirty="0"/>
              <a:t>information be processed,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what </a:t>
            </a:r>
            <a:r>
              <a:rPr lang="en-US" sz="2400" b="0" dirty="0"/>
              <a:t>function and performance desired,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what </a:t>
            </a:r>
            <a:r>
              <a:rPr lang="en-US" sz="2400" b="0" dirty="0"/>
              <a:t>system behavior expected,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what </a:t>
            </a:r>
            <a:r>
              <a:rPr lang="en-US" sz="2400" b="0" dirty="0"/>
              <a:t>interfaces be established</a:t>
            </a:r>
            <a:r>
              <a:rPr lang="en-US" sz="2400" b="0" dirty="0" smtClean="0"/>
              <a:t>,</a:t>
            </a:r>
          </a:p>
          <a:p>
            <a:pPr lvl="2"/>
            <a:r>
              <a:rPr lang="en-US" sz="2400" b="0" dirty="0" smtClean="0"/>
              <a:t>what </a:t>
            </a:r>
            <a:r>
              <a:rPr lang="en-US" sz="2400" b="0" dirty="0"/>
              <a:t>design constraints exist</a:t>
            </a:r>
            <a:r>
              <a:rPr lang="en-US" sz="2400" b="0" dirty="0" smtClean="0"/>
              <a:t>,</a:t>
            </a:r>
          </a:p>
          <a:p>
            <a:pPr lvl="2"/>
            <a:r>
              <a:rPr lang="en-US" sz="2400" b="0" dirty="0" smtClean="0"/>
              <a:t>and </a:t>
            </a:r>
            <a:r>
              <a:rPr lang="en-US" sz="2400" b="0" dirty="0"/>
              <a:t>what validation criteria required</a:t>
            </a:r>
            <a:r>
              <a:rPr lang="en-US" sz="2400" b="0" dirty="0" smtClean="0"/>
              <a:t>.</a:t>
            </a:r>
          </a:p>
          <a:p>
            <a:pPr lvl="2"/>
            <a:endParaRPr lang="en-US" sz="2200" b="0" dirty="0"/>
          </a:p>
          <a:p>
            <a:pPr marL="808038" lvl="2" indent="0">
              <a:buNone/>
            </a:pPr>
            <a:r>
              <a:rPr lang="en-US" sz="2200" b="0" dirty="0" smtClean="0"/>
              <a:t>&gt;&gt; Work product: The </a:t>
            </a:r>
            <a:r>
              <a:rPr lang="en-US" sz="2200" b="0" dirty="0"/>
              <a:t>key requirements of the system and the software are identified.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2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184243" cy="865584"/>
          </a:xfrm>
        </p:spPr>
        <p:txBody>
          <a:bodyPr/>
          <a:lstStyle/>
          <a:p>
            <a:r>
              <a:rPr lang="en-GB" sz="4000" dirty="0" smtClean="0"/>
              <a:t>SE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Development phase: </a:t>
            </a:r>
            <a:r>
              <a:rPr lang="en-US" sz="2000" b="0" dirty="0"/>
              <a:t>“HOW”. T</a:t>
            </a:r>
            <a:r>
              <a:rPr lang="en-US" sz="2400" b="0" dirty="0"/>
              <a:t>o define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how </a:t>
            </a:r>
            <a:r>
              <a:rPr lang="en-US" sz="2400" b="0" dirty="0"/>
              <a:t>data are to be structured,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how function to </a:t>
            </a:r>
            <a:r>
              <a:rPr lang="en-US" sz="2400" b="0" dirty="0"/>
              <a:t>be implemented within a software architecture,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how </a:t>
            </a:r>
            <a:r>
              <a:rPr lang="en-US" sz="2400" b="0" dirty="0"/>
              <a:t>procedural details are to be implemented</a:t>
            </a:r>
            <a:r>
              <a:rPr lang="en-US" sz="2400" b="0" dirty="0" smtClean="0"/>
              <a:t>,</a:t>
            </a:r>
          </a:p>
          <a:p>
            <a:pPr lvl="2"/>
            <a:r>
              <a:rPr lang="en-US" sz="2400" b="0" dirty="0" smtClean="0"/>
              <a:t>how </a:t>
            </a:r>
            <a:r>
              <a:rPr lang="en-US" sz="2400" b="0" dirty="0"/>
              <a:t>interfaces are to be characterized,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how </a:t>
            </a:r>
            <a:r>
              <a:rPr lang="en-US" sz="2400" b="0" dirty="0"/>
              <a:t>the design will be translated into a </a:t>
            </a:r>
            <a:r>
              <a:rPr lang="en-US" sz="2400" b="0" dirty="0" smtClean="0"/>
              <a:t>programming language </a:t>
            </a:r>
            <a:r>
              <a:rPr lang="en-US" sz="2400" b="0" dirty="0"/>
              <a:t>(or nonprocedural language),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and </a:t>
            </a:r>
            <a:r>
              <a:rPr lang="en-US" sz="2400" b="0" dirty="0"/>
              <a:t>how testing will be performed</a:t>
            </a:r>
            <a:r>
              <a:rPr lang="en-US" sz="2800" b="0" dirty="0"/>
              <a:t>.</a:t>
            </a:r>
            <a:endParaRPr lang="en-US" sz="8000" b="0" dirty="0"/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400" b="0" dirty="0">
              <a:latin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9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1" y="-10934"/>
            <a:ext cx="3184243" cy="865584"/>
          </a:xfrm>
        </p:spPr>
        <p:txBody>
          <a:bodyPr/>
          <a:lstStyle/>
          <a:p>
            <a:r>
              <a:rPr lang="en-GB" sz="4000" dirty="0" smtClean="0"/>
              <a:t>SE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400" dirty="0"/>
              <a:t>Support phase</a:t>
            </a:r>
            <a:r>
              <a:rPr lang="en-US" sz="2400" b="0" dirty="0" smtClean="0"/>
              <a:t>:</a:t>
            </a:r>
            <a:r>
              <a:rPr lang="en-US" sz="2400" b="0" i="1" dirty="0" smtClean="0"/>
              <a:t> </a:t>
            </a:r>
            <a:r>
              <a:rPr lang="en-US" sz="2400" b="0" dirty="0" smtClean="0"/>
              <a:t>“CHANGE”</a:t>
            </a:r>
            <a:r>
              <a:rPr lang="en-US" sz="2400" b="0" i="1" dirty="0" smtClean="0"/>
              <a:t> </a:t>
            </a:r>
            <a:r>
              <a:rPr lang="en-US" sz="2400" b="0" dirty="0" smtClean="0"/>
              <a:t>associated with</a:t>
            </a:r>
          </a:p>
          <a:p>
            <a:pPr lvl="2"/>
            <a:r>
              <a:rPr lang="en-US" sz="2800" b="0" dirty="0" smtClean="0">
                <a:latin typeface="+mj-lt"/>
              </a:rPr>
              <a:t>error </a:t>
            </a:r>
            <a:r>
              <a:rPr lang="en-US" sz="2800" b="0" dirty="0">
                <a:latin typeface="+mj-lt"/>
              </a:rPr>
              <a:t>correction, </a:t>
            </a:r>
            <a:endParaRPr lang="en-US" sz="2800" b="0" dirty="0" smtClean="0">
              <a:latin typeface="+mj-lt"/>
            </a:endParaRPr>
          </a:p>
          <a:p>
            <a:pPr lvl="2"/>
            <a:r>
              <a:rPr lang="en-US" sz="2800" b="0" dirty="0" smtClean="0">
                <a:latin typeface="+mj-lt"/>
              </a:rPr>
              <a:t>adaptations required </a:t>
            </a:r>
            <a:r>
              <a:rPr lang="en-US" sz="2800" b="0" dirty="0">
                <a:latin typeface="+mj-lt"/>
              </a:rPr>
              <a:t>as the software's environment evolves, </a:t>
            </a:r>
            <a:endParaRPr lang="en-US" sz="2800" b="0" dirty="0" smtClean="0">
              <a:latin typeface="+mj-lt"/>
            </a:endParaRPr>
          </a:p>
          <a:p>
            <a:pPr lvl="2"/>
            <a:r>
              <a:rPr lang="en-US" sz="2800" b="0" dirty="0" smtClean="0">
                <a:latin typeface="+mj-lt"/>
              </a:rPr>
              <a:t>and </a:t>
            </a:r>
            <a:r>
              <a:rPr lang="en-US" sz="2800" b="0" dirty="0">
                <a:latin typeface="+mj-lt"/>
              </a:rPr>
              <a:t>changes due to </a:t>
            </a:r>
            <a:r>
              <a:rPr lang="en-US" sz="2800" b="0" dirty="0" smtClean="0">
                <a:latin typeface="+mj-lt"/>
              </a:rPr>
              <a:t>enhancements brought </a:t>
            </a:r>
            <a:r>
              <a:rPr lang="en-US" sz="2800" b="0" dirty="0">
                <a:latin typeface="+mj-lt"/>
              </a:rPr>
              <a:t>about by changing customer requirements. </a:t>
            </a:r>
          </a:p>
          <a:p>
            <a:pPr marL="808038" lvl="2" indent="0">
              <a:buNone/>
            </a:pPr>
            <a:r>
              <a:rPr lang="en-US" sz="2800" b="0" dirty="0" smtClean="0">
                <a:latin typeface="+mj-lt"/>
              </a:rPr>
              <a:t>&gt;&gt;Four </a:t>
            </a:r>
            <a:r>
              <a:rPr lang="en-US" sz="2800" b="0" dirty="0">
                <a:latin typeface="+mj-lt"/>
              </a:rPr>
              <a:t>types of change are encountered during the support phase</a:t>
            </a:r>
            <a:r>
              <a:rPr lang="en-US" sz="2800" b="0" dirty="0" smtClean="0">
                <a:latin typeface="+mj-lt"/>
              </a:rPr>
              <a:t>: </a:t>
            </a:r>
            <a:r>
              <a:rPr lang="en-US" sz="2800" dirty="0" smtClean="0">
                <a:latin typeface="+mj-lt"/>
              </a:rPr>
              <a:t>Correction, Adaptation, Enhancement, and Prevention.</a:t>
            </a:r>
            <a:endParaRPr lang="en-US" sz="2800" b="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r>
              <a:rPr lang="en-US" smtClean="0"/>
              <a:t>/46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0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782262" cy="777600"/>
          </a:xfrm>
        </p:spPr>
        <p:txBody>
          <a:bodyPr wrap="square">
            <a:noAutofit/>
          </a:bodyPr>
          <a:lstStyle/>
          <a:p>
            <a:r>
              <a:rPr lang="fr-F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3: Software </a:t>
            </a:r>
            <a:r>
              <a:rPr lang="fr-FR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I</a:t>
            </a:r>
          </a:p>
          <a:p>
            <a:pPr marL="0" indent="0" algn="ctr">
              <a:buNone/>
            </a:pPr>
            <a:r>
              <a:rPr lang="fr-FR" sz="5400" dirty="0" smtClean="0"/>
              <a:t>The </a:t>
            </a:r>
            <a:r>
              <a:rPr lang="fr-FR" sz="5400" dirty="0" err="1" smtClean="0"/>
              <a:t>linear</a:t>
            </a:r>
            <a:r>
              <a:rPr lang="fr-FR" sz="5400" dirty="0" smtClean="0"/>
              <a:t> </a:t>
            </a:r>
            <a:r>
              <a:rPr lang="fr-FR" sz="5400" dirty="0" err="1" smtClean="0"/>
              <a:t>sequential</a:t>
            </a:r>
            <a:r>
              <a:rPr lang="fr-FR" sz="5400" dirty="0" smtClean="0"/>
              <a:t> Model</a:t>
            </a:r>
            <a:endParaRPr lang="fr-FR" sz="1600" dirty="0" smtClean="0"/>
          </a:p>
          <a:p>
            <a:pPr marL="0" indent="0" algn="ctr">
              <a:buNone/>
            </a:pPr>
            <a:endParaRPr lang="fr-FR" sz="1600" dirty="0" smtClean="0"/>
          </a:p>
          <a:p>
            <a:pPr lvl="2"/>
            <a:endParaRPr lang="fr-FR" sz="1800" dirty="0" smtClean="0"/>
          </a:p>
          <a:p>
            <a:r>
              <a:rPr lang="en-US" sz="2800" b="0" dirty="0" smtClean="0"/>
              <a:t> The Model</a:t>
            </a:r>
          </a:p>
          <a:p>
            <a:r>
              <a:rPr lang="en-US" sz="2800" b="0" dirty="0" smtClean="0"/>
              <a:t> Problems when applied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02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>
              <a:buNone/>
            </a:pPr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752600"/>
            <a:ext cx="7772400" cy="331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063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b="0" i="1" dirty="0"/>
              <a:t>classic life cycle </a:t>
            </a:r>
            <a:r>
              <a:rPr lang="en-US" sz="2800" b="0" i="1" dirty="0" smtClean="0"/>
              <a:t>=</a:t>
            </a:r>
            <a:r>
              <a:rPr lang="en-US" sz="2800" b="0" dirty="0" smtClean="0"/>
              <a:t> </a:t>
            </a:r>
            <a:r>
              <a:rPr lang="en-US" sz="2800" b="0" dirty="0"/>
              <a:t>the </a:t>
            </a:r>
            <a:r>
              <a:rPr lang="en-US" sz="2800" b="0" i="1" dirty="0"/>
              <a:t>waterfall </a:t>
            </a:r>
            <a:r>
              <a:rPr lang="en-US" sz="2800" b="0" i="1" dirty="0" smtClean="0"/>
              <a:t>model =</a:t>
            </a:r>
            <a:r>
              <a:rPr lang="en-US" sz="2800" b="0" dirty="0" smtClean="0"/>
              <a:t> </a:t>
            </a:r>
            <a:r>
              <a:rPr lang="en-US" sz="2800" b="0" i="1" dirty="0"/>
              <a:t>linear sequential model</a:t>
            </a:r>
            <a:endParaRPr lang="en-US" sz="2800" b="0" dirty="0" smtClean="0"/>
          </a:p>
          <a:p>
            <a:r>
              <a:rPr lang="en-US" sz="2800" b="0" dirty="0" smtClean="0"/>
              <a:t>suggests </a:t>
            </a:r>
            <a:r>
              <a:rPr lang="en-US" sz="2800" b="0" dirty="0"/>
              <a:t>a systematic, </a:t>
            </a:r>
            <a:r>
              <a:rPr lang="en-US" sz="2800" b="0"/>
              <a:t>sequential </a:t>
            </a:r>
            <a:r>
              <a:rPr lang="en-US" sz="2800" b="0" smtClean="0"/>
              <a:t>approach </a:t>
            </a:r>
            <a:r>
              <a:rPr lang="en-US" sz="2800" b="0" dirty="0"/>
              <a:t>to software development that begins </a:t>
            </a:r>
            <a:r>
              <a:rPr lang="en-US" sz="2800" b="0" dirty="0" smtClean="0"/>
              <a:t>at the </a:t>
            </a:r>
            <a:r>
              <a:rPr lang="en-US" sz="2800" b="0" dirty="0"/>
              <a:t>system level and progresses through analysis, design, coding, testing, and support.</a:t>
            </a:r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3200" dirty="0"/>
              <a:t>System/information engineering and </a:t>
            </a:r>
            <a:r>
              <a:rPr lang="en-US" sz="3200" dirty="0" smtClean="0"/>
              <a:t>modeling</a:t>
            </a:r>
          </a:p>
          <a:p>
            <a:r>
              <a:rPr lang="en-US" sz="3200" dirty="0"/>
              <a:t>Software requirements </a:t>
            </a:r>
            <a:r>
              <a:rPr lang="en-US" sz="3200" dirty="0" smtClean="0"/>
              <a:t>analysis</a:t>
            </a:r>
          </a:p>
          <a:p>
            <a:r>
              <a:rPr lang="en-US" sz="3200" dirty="0" smtClean="0"/>
              <a:t>Design</a:t>
            </a:r>
          </a:p>
          <a:p>
            <a:r>
              <a:rPr lang="en-US" sz="3200" dirty="0"/>
              <a:t>Code </a:t>
            </a:r>
            <a:r>
              <a:rPr lang="en-US" sz="3200" dirty="0" smtClean="0"/>
              <a:t>generation</a:t>
            </a:r>
          </a:p>
          <a:p>
            <a:r>
              <a:rPr lang="en-US" sz="3200" dirty="0" smtClean="0"/>
              <a:t>Testing</a:t>
            </a:r>
          </a:p>
          <a:p>
            <a:r>
              <a:rPr lang="en-US" sz="3200" dirty="0" smtClean="0"/>
              <a:t>Support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16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dirty="0"/>
              <a:t>System/information engineering and </a:t>
            </a:r>
            <a:r>
              <a:rPr lang="en-US" sz="2800" dirty="0" smtClean="0"/>
              <a:t>modeling</a:t>
            </a:r>
          </a:p>
          <a:p>
            <a:pPr lvl="1"/>
            <a:r>
              <a:rPr lang="en-US" sz="2400" b="0" dirty="0"/>
              <a:t>software is </a:t>
            </a:r>
            <a:r>
              <a:rPr lang="en-US" sz="2400" b="0" dirty="0" smtClean="0"/>
              <a:t>always part </a:t>
            </a:r>
            <a:r>
              <a:rPr lang="en-US" sz="2400" b="0" dirty="0"/>
              <a:t>of a larger </a:t>
            </a:r>
            <a:r>
              <a:rPr lang="en-US" sz="2400" b="0" dirty="0" smtClean="0"/>
              <a:t>system =&gt; </a:t>
            </a:r>
            <a:r>
              <a:rPr lang="en-US" sz="2400" b="0" dirty="0"/>
              <a:t>establishing requirements </a:t>
            </a:r>
            <a:r>
              <a:rPr lang="en-US" sz="2400" b="0" dirty="0" smtClean="0"/>
              <a:t>for all </a:t>
            </a:r>
            <a:r>
              <a:rPr lang="en-US" sz="2400" b="0" dirty="0"/>
              <a:t>system elements and then allocating some subset of these requirements to </a:t>
            </a:r>
            <a:r>
              <a:rPr lang="en-US" sz="2400" b="0" dirty="0" smtClean="0"/>
              <a:t>software</a:t>
            </a:r>
          </a:p>
          <a:p>
            <a:pPr lvl="1"/>
            <a:r>
              <a:rPr lang="en-US" sz="2400" b="0" dirty="0"/>
              <a:t>System engineering and analysis </a:t>
            </a:r>
            <a:r>
              <a:rPr lang="en-US" sz="2400" b="0" dirty="0" smtClean="0"/>
              <a:t>encompass requirements </a:t>
            </a:r>
            <a:r>
              <a:rPr lang="en-US" sz="2400" b="0" dirty="0"/>
              <a:t>gathering at the system level with a small amount of top </a:t>
            </a:r>
            <a:r>
              <a:rPr lang="en-US" sz="2400" b="0" dirty="0" smtClean="0"/>
              <a:t>level </a:t>
            </a:r>
            <a:r>
              <a:rPr lang="en-US" sz="2400" b="0" dirty="0"/>
              <a:t>design and </a:t>
            </a:r>
            <a:r>
              <a:rPr lang="en-US" sz="2400" b="0" dirty="0" smtClean="0"/>
              <a:t>analysis</a:t>
            </a:r>
          </a:p>
          <a:p>
            <a:pPr marL="0" indent="0">
              <a:buNone/>
            </a:pPr>
            <a:endParaRPr lang="en-US" sz="2800" b="0" dirty="0" smtClean="0"/>
          </a:p>
          <a:p>
            <a:endParaRPr lang="en-US" sz="2800" b="0" dirty="0" smtClean="0"/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1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dirty="0"/>
              <a:t>Software requirements </a:t>
            </a:r>
            <a:r>
              <a:rPr lang="en-US" sz="2800" dirty="0" smtClean="0"/>
              <a:t>analysis</a:t>
            </a:r>
          </a:p>
          <a:p>
            <a:pPr lvl="1"/>
            <a:r>
              <a:rPr lang="en-US" sz="2400" b="0" dirty="0"/>
              <a:t>The requirements gathering process is </a:t>
            </a:r>
            <a:r>
              <a:rPr lang="en-US" sz="2400" b="0" dirty="0" smtClean="0"/>
              <a:t>intensified and </a:t>
            </a:r>
            <a:r>
              <a:rPr lang="en-US" sz="2400" b="0" dirty="0"/>
              <a:t>focused specifically on </a:t>
            </a:r>
            <a:r>
              <a:rPr lang="en-US" sz="2400" b="0" dirty="0" smtClean="0"/>
              <a:t>software</a:t>
            </a:r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software engineer ("analyst") must understand the information </a:t>
            </a:r>
            <a:r>
              <a:rPr lang="en-US" sz="2400" b="0" dirty="0" smtClean="0"/>
              <a:t>domain for </a:t>
            </a:r>
            <a:r>
              <a:rPr lang="en-US" sz="2400" b="0" dirty="0"/>
              <a:t>the software, </a:t>
            </a:r>
            <a:r>
              <a:rPr lang="en-US" sz="2400" b="0" dirty="0" smtClean="0"/>
              <a:t>required </a:t>
            </a:r>
            <a:r>
              <a:rPr lang="en-US" sz="2400" b="0" dirty="0"/>
              <a:t>function, behavior, </a:t>
            </a:r>
            <a:r>
              <a:rPr lang="en-US" sz="2400" b="0" dirty="0" smtClean="0"/>
              <a:t>performance, and </a:t>
            </a:r>
            <a:r>
              <a:rPr lang="en-US" sz="2400" b="0" dirty="0"/>
              <a:t>interface. Requirements for both the system and the software are </a:t>
            </a:r>
            <a:r>
              <a:rPr lang="en-US" sz="2400" b="0" dirty="0" smtClean="0"/>
              <a:t>documented and </a:t>
            </a:r>
            <a:r>
              <a:rPr lang="en-US" sz="2400" b="0" dirty="0"/>
              <a:t>reviewed with the </a:t>
            </a:r>
            <a:r>
              <a:rPr lang="en-US" sz="2400" b="0" dirty="0" smtClean="0"/>
              <a:t>customers</a:t>
            </a:r>
          </a:p>
          <a:p>
            <a:pPr marL="442912" lvl="1" indent="0">
              <a:buNone/>
            </a:pPr>
            <a:endParaRPr lang="en-US" sz="7600" b="0" dirty="0" smtClean="0"/>
          </a:p>
          <a:p>
            <a:pPr marL="442912" lvl="1" indent="0">
              <a:buNone/>
            </a:pPr>
            <a:endParaRPr lang="en-US" sz="7600" dirty="0" smtClean="0"/>
          </a:p>
          <a:p>
            <a:pPr marL="0" indent="0">
              <a:buNone/>
            </a:pPr>
            <a:endParaRPr lang="en-US" sz="2800" b="0" dirty="0" smtClean="0"/>
          </a:p>
          <a:p>
            <a:endParaRPr lang="en-US" sz="2800" b="0" dirty="0" smtClean="0"/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5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dirty="0" smtClean="0"/>
              <a:t>Design</a:t>
            </a:r>
          </a:p>
          <a:p>
            <a:pPr lvl="1"/>
            <a:r>
              <a:rPr lang="en-US" sz="2400" b="0" dirty="0" smtClean="0"/>
              <a:t>Software </a:t>
            </a:r>
            <a:r>
              <a:rPr lang="en-US" sz="2400" b="0" dirty="0"/>
              <a:t>design is actually a multistep process that focuses on four distinct</a:t>
            </a:r>
          </a:p>
          <a:p>
            <a:pPr lvl="2"/>
            <a:r>
              <a:rPr lang="en-US" sz="2400" b="0" dirty="0"/>
              <a:t>attributes of a program: data structure, software architecture, interface representations,</a:t>
            </a:r>
          </a:p>
          <a:p>
            <a:pPr lvl="2"/>
            <a:r>
              <a:rPr lang="en-US" sz="2400" b="0" dirty="0"/>
              <a:t>and procedural (algorithmic) detail. </a:t>
            </a:r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design process translates </a:t>
            </a:r>
            <a:r>
              <a:rPr lang="en-US" sz="2400" b="0" dirty="0" smtClean="0"/>
              <a:t>requirements into </a:t>
            </a:r>
            <a:r>
              <a:rPr lang="en-US" sz="2400" b="0" dirty="0"/>
              <a:t>a representation of the software that can be assessed for quality before </a:t>
            </a:r>
            <a:r>
              <a:rPr lang="en-US" sz="2400" b="0" dirty="0" smtClean="0"/>
              <a:t>coding begins</a:t>
            </a:r>
            <a:r>
              <a:rPr lang="en-US" sz="2400" b="0" dirty="0"/>
              <a:t>. Like requirements, the design is documented and becomes part of the </a:t>
            </a:r>
            <a:r>
              <a:rPr lang="en-US" sz="2400" b="0" dirty="0" smtClean="0"/>
              <a:t>software configuration</a:t>
            </a:r>
            <a:r>
              <a:rPr lang="en-US" sz="2400" b="0" dirty="0"/>
              <a:t>.</a:t>
            </a:r>
            <a:endParaRPr lang="en-US" sz="2400" b="0" dirty="0" smtClean="0"/>
          </a:p>
          <a:p>
            <a:pPr marL="442912" lvl="1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800" b="0" dirty="0" smtClean="0"/>
          </a:p>
          <a:p>
            <a:endParaRPr lang="en-US" sz="2800" b="0" dirty="0" smtClean="0"/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5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dirty="0"/>
              <a:t>Code </a:t>
            </a:r>
            <a:r>
              <a:rPr lang="en-US" sz="2800" dirty="0" smtClean="0"/>
              <a:t>generation</a:t>
            </a:r>
            <a:endParaRPr lang="en-US" sz="2800" dirty="0"/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design must be translated into a machine-readable form.</a:t>
            </a:r>
          </a:p>
          <a:p>
            <a:pPr lvl="1"/>
            <a:r>
              <a:rPr lang="en-US" sz="2400" b="0" dirty="0"/>
              <a:t>The code generation step performs this task. If design is performed in a detailed </a:t>
            </a:r>
            <a:r>
              <a:rPr lang="en-US" sz="2400" b="0" dirty="0" smtClean="0"/>
              <a:t>manner, code </a:t>
            </a:r>
            <a:r>
              <a:rPr lang="en-US" sz="2400" b="0" dirty="0"/>
              <a:t>generation can be accomplished mechanistically.</a:t>
            </a:r>
            <a:endParaRPr lang="en-US" sz="2400" dirty="0" smtClean="0"/>
          </a:p>
          <a:p>
            <a:pPr marL="0" indent="0">
              <a:buNone/>
            </a:pPr>
            <a:endParaRPr lang="en-US" sz="2800" b="0" dirty="0" smtClean="0"/>
          </a:p>
          <a:p>
            <a:endParaRPr lang="en-US" sz="2800" b="0" dirty="0" smtClean="0"/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7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800" dirty="0" smtClean="0"/>
              <a:t>Testing</a:t>
            </a:r>
          </a:p>
          <a:p>
            <a:pPr lvl="1"/>
            <a:r>
              <a:rPr lang="en-US" sz="2400" b="0" dirty="0" smtClean="0"/>
              <a:t>Once </a:t>
            </a:r>
            <a:r>
              <a:rPr lang="en-US" sz="2400" b="0" dirty="0"/>
              <a:t>code has been generated, program testing begins.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testing </a:t>
            </a:r>
            <a:r>
              <a:rPr lang="en-US" sz="2400" b="0" dirty="0" smtClean="0"/>
              <a:t>process focuses </a:t>
            </a:r>
            <a:r>
              <a:rPr lang="en-US" sz="2400" b="0" dirty="0"/>
              <a:t>on </a:t>
            </a:r>
            <a:endParaRPr lang="en-US" sz="2400" b="0" dirty="0" smtClean="0"/>
          </a:p>
          <a:p>
            <a:pPr lvl="2"/>
            <a:r>
              <a:rPr lang="en-US" sz="2200" b="0" dirty="0" smtClean="0"/>
              <a:t>the </a:t>
            </a:r>
            <a:r>
              <a:rPr lang="en-US" sz="2200" b="0" dirty="0"/>
              <a:t>logical internals of the software, ensuring that all statements </a:t>
            </a:r>
            <a:r>
              <a:rPr lang="en-US" sz="2200" b="0" dirty="0" smtClean="0"/>
              <a:t>have been </a:t>
            </a:r>
            <a:r>
              <a:rPr lang="en-US" sz="2200" b="0" dirty="0"/>
              <a:t>tested, </a:t>
            </a:r>
            <a:endParaRPr lang="en-US" sz="2200" b="0" dirty="0" smtClean="0"/>
          </a:p>
          <a:p>
            <a:pPr lvl="2"/>
            <a:r>
              <a:rPr lang="en-US" sz="2200" b="0" dirty="0" smtClean="0"/>
              <a:t>and </a:t>
            </a:r>
            <a:r>
              <a:rPr lang="en-US" sz="2200" b="0" dirty="0"/>
              <a:t>the functional externals</a:t>
            </a:r>
            <a:r>
              <a:rPr lang="en-US" sz="2200" b="0"/>
              <a:t>; </a:t>
            </a:r>
            <a:endParaRPr lang="en-US" sz="2200" b="0" smtClean="0"/>
          </a:p>
          <a:p>
            <a:pPr lvl="2"/>
            <a:r>
              <a:rPr lang="en-US" sz="2200" b="0" smtClean="0"/>
              <a:t>that is conducting </a:t>
            </a:r>
            <a:r>
              <a:rPr lang="en-US" sz="2200" b="0" dirty="0"/>
              <a:t>tests to </a:t>
            </a:r>
            <a:r>
              <a:rPr lang="en-US" sz="2200" b="0" dirty="0" smtClean="0"/>
              <a:t>uncover errors </a:t>
            </a:r>
            <a:r>
              <a:rPr lang="en-US" sz="2200" b="0" dirty="0"/>
              <a:t>and ensure that defined input will produce actual results that agree with </a:t>
            </a:r>
            <a:r>
              <a:rPr lang="en-US" sz="2200" b="0" dirty="0" smtClean="0"/>
              <a:t>required results</a:t>
            </a:r>
            <a:r>
              <a:rPr lang="en-US" sz="2200" b="0" dirty="0"/>
              <a:t>.</a:t>
            </a:r>
            <a:endParaRPr lang="en-US" sz="2200" b="0" dirty="0" smtClean="0"/>
          </a:p>
          <a:p>
            <a:endParaRPr lang="en-US" sz="2800" b="0" dirty="0" smtClean="0"/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5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402086" cy="5486400"/>
          </a:xfrm>
        </p:spPr>
        <p:txBody>
          <a:bodyPr/>
          <a:lstStyle/>
          <a:p>
            <a:r>
              <a:rPr lang="en-US" sz="2800" dirty="0" smtClean="0"/>
              <a:t>Support</a:t>
            </a:r>
          </a:p>
          <a:p>
            <a:pPr lvl="1"/>
            <a:r>
              <a:rPr lang="en-US" sz="2400" dirty="0" smtClean="0"/>
              <a:t> </a:t>
            </a:r>
            <a:r>
              <a:rPr lang="en-US" sz="2400" b="0" dirty="0"/>
              <a:t>Software will undoubtedly undergo change after it is delivered to the </a:t>
            </a:r>
            <a:r>
              <a:rPr lang="en-US" sz="2400" b="0" dirty="0" smtClean="0"/>
              <a:t>customer (a </a:t>
            </a:r>
            <a:r>
              <a:rPr lang="en-US" sz="2400" b="0" dirty="0"/>
              <a:t>possible exception is embedded software</a:t>
            </a:r>
            <a:r>
              <a:rPr lang="en-US" sz="2400" b="0" dirty="0" smtClean="0"/>
              <a:t>)</a:t>
            </a:r>
          </a:p>
          <a:p>
            <a:pPr lvl="1"/>
            <a:r>
              <a:rPr lang="en-US" sz="2400" b="0" dirty="0" smtClean="0"/>
              <a:t>Change </a:t>
            </a:r>
            <a:r>
              <a:rPr lang="en-US" sz="2400" b="0" dirty="0"/>
              <a:t>will occur because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errors have </a:t>
            </a:r>
            <a:r>
              <a:rPr lang="en-US" sz="2400" b="0" dirty="0"/>
              <a:t>been encountered,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the </a:t>
            </a:r>
            <a:r>
              <a:rPr lang="en-US" sz="2400" b="0" dirty="0"/>
              <a:t>software must be adapted to </a:t>
            </a:r>
            <a:r>
              <a:rPr lang="en-US" sz="2400" b="0" dirty="0" smtClean="0"/>
              <a:t>accommodate changes </a:t>
            </a:r>
            <a:r>
              <a:rPr lang="en-US" sz="2400" b="0" dirty="0"/>
              <a:t>in its external environment </a:t>
            </a:r>
            <a:r>
              <a:rPr lang="en-US" sz="2400" b="0" dirty="0" smtClean="0"/>
              <a:t>(new operating system </a:t>
            </a:r>
            <a:r>
              <a:rPr lang="en-US" sz="2400" b="0" dirty="0"/>
              <a:t>or peripheral device</a:t>
            </a:r>
            <a:r>
              <a:rPr lang="en-US" sz="2400" b="0" dirty="0" smtClean="0"/>
              <a:t>),</a:t>
            </a:r>
          </a:p>
          <a:p>
            <a:pPr lvl="2"/>
            <a:r>
              <a:rPr lang="en-US" sz="2400" b="0" dirty="0" smtClean="0"/>
              <a:t>the </a:t>
            </a:r>
            <a:r>
              <a:rPr lang="en-US" sz="2400" b="0" dirty="0"/>
              <a:t>customer requires functional </a:t>
            </a:r>
            <a:r>
              <a:rPr lang="en-US" sz="2400" b="0" dirty="0" smtClean="0"/>
              <a:t>or performance </a:t>
            </a:r>
            <a:r>
              <a:rPr lang="en-US" sz="2400" b="0" dirty="0"/>
              <a:t>enhancements.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Software </a:t>
            </a:r>
            <a:r>
              <a:rPr lang="en-US" sz="2400" b="0" dirty="0"/>
              <a:t>support/maintenance reapplies each of </a:t>
            </a:r>
            <a:r>
              <a:rPr lang="en-US" sz="2400" b="0" dirty="0" smtClean="0"/>
              <a:t>the preceding </a:t>
            </a:r>
            <a:r>
              <a:rPr lang="en-US" sz="2400" b="0" dirty="0"/>
              <a:t>phases to an existing program rather than a new </a:t>
            </a:r>
            <a:r>
              <a:rPr lang="en-US" sz="2400" b="0" dirty="0" smtClean="0"/>
              <a:t>one</a:t>
            </a:r>
          </a:p>
          <a:p>
            <a:pPr marL="0" indent="0">
              <a:buNone/>
            </a:pPr>
            <a:endParaRPr lang="en-US" sz="80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7600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93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306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Linear</a:t>
            </a:r>
            <a:r>
              <a:rPr lang="fr-FR" sz="3600" dirty="0" smtClean="0"/>
              <a:t> </a:t>
            </a:r>
            <a:r>
              <a:rPr lang="fr-FR" sz="3600" dirty="0" err="1"/>
              <a:t>sequential</a:t>
            </a:r>
            <a:r>
              <a:rPr lang="fr-FR" sz="3600" dirty="0"/>
              <a:t> </a:t>
            </a:r>
            <a:r>
              <a:rPr lang="fr-FR" sz="3600" dirty="0" smtClean="0"/>
              <a:t>Model </a:t>
            </a:r>
            <a:r>
              <a:rPr lang="fr-FR" sz="3600" dirty="0" err="1" smtClean="0"/>
              <a:t>problems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400" b="0" dirty="0" smtClean="0"/>
              <a:t>Real </a:t>
            </a:r>
            <a:r>
              <a:rPr lang="en-US" sz="2400" b="0" dirty="0"/>
              <a:t>projects rarely follow the sequential flow that the model </a:t>
            </a:r>
            <a:r>
              <a:rPr lang="en-US" sz="2400" b="0" dirty="0" smtClean="0"/>
              <a:t>proposes. Although </a:t>
            </a:r>
            <a:r>
              <a:rPr lang="en-US" sz="2400" b="0" dirty="0"/>
              <a:t>the linear model can accommodate iteration, it does so </a:t>
            </a:r>
            <a:r>
              <a:rPr lang="en-US" sz="2400" b="0" dirty="0" smtClean="0"/>
              <a:t>indirectly. As </a:t>
            </a:r>
            <a:r>
              <a:rPr lang="en-US" sz="2400" b="0" dirty="0"/>
              <a:t>a result, changes can cause confusion as the project team proceeds</a:t>
            </a:r>
            <a:r>
              <a:rPr lang="en-US" sz="2400" b="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400" b="0" dirty="0" smtClean="0"/>
              <a:t>It </a:t>
            </a:r>
            <a:r>
              <a:rPr lang="en-US" sz="2400" b="0" dirty="0"/>
              <a:t>is often difficult for the customer to state all requirements explicitly. </a:t>
            </a:r>
            <a:r>
              <a:rPr lang="en-US" sz="2400" b="0" dirty="0" smtClean="0"/>
              <a:t>The linear </a:t>
            </a:r>
            <a:r>
              <a:rPr lang="en-US" sz="2400" b="0" dirty="0"/>
              <a:t>sequential model requires this and has difficulty accommodating </a:t>
            </a:r>
            <a:r>
              <a:rPr lang="en-US" sz="2400" b="0" dirty="0" smtClean="0"/>
              <a:t>the  natural </a:t>
            </a:r>
            <a:r>
              <a:rPr lang="en-US" sz="2400" b="0" dirty="0"/>
              <a:t>uncertainty that exists at the beginning of many </a:t>
            </a:r>
            <a:r>
              <a:rPr lang="en-US" sz="2400" b="0" dirty="0" smtClean="0"/>
              <a:t>projects.</a:t>
            </a:r>
          </a:p>
          <a:p>
            <a:pPr marL="457200" indent="-457200"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customer must have patience. A working version of the program(s) </a:t>
            </a:r>
            <a:r>
              <a:rPr lang="en-US" sz="2400" b="0" dirty="0" smtClean="0"/>
              <a:t>will not </a:t>
            </a:r>
            <a:r>
              <a:rPr lang="en-US" sz="2400" b="0" dirty="0"/>
              <a:t>be available until late in the project time-span. A major blunder, if </a:t>
            </a:r>
            <a:r>
              <a:rPr lang="en-US" sz="2400" b="0" dirty="0" smtClean="0"/>
              <a:t>undetected until </a:t>
            </a:r>
            <a:r>
              <a:rPr lang="en-US" sz="2400" b="0" dirty="0"/>
              <a:t>the working program is reviewed, can be disastrous.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7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096462" cy="777600"/>
          </a:xfrm>
        </p:spPr>
        <p:txBody>
          <a:bodyPr wrap="square">
            <a:noAutofit/>
          </a:bodyPr>
          <a:lstStyle/>
          <a:p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II</a:t>
            </a:r>
          </a:p>
          <a:p>
            <a:pPr marL="0" indent="0" algn="ctr">
              <a:buNone/>
            </a:pPr>
            <a:r>
              <a:rPr lang="fr-FR" sz="5400" dirty="0" smtClean="0"/>
              <a:t>The </a:t>
            </a:r>
            <a:r>
              <a:rPr lang="fr-FR" sz="5400" dirty="0" err="1" smtClean="0"/>
              <a:t>Prototyping</a:t>
            </a:r>
            <a:r>
              <a:rPr lang="fr-FR" sz="5400" dirty="0" smtClean="0"/>
              <a:t> Model</a:t>
            </a:r>
            <a:endParaRPr lang="fr-FR" sz="1600" dirty="0" smtClean="0"/>
          </a:p>
          <a:p>
            <a:pPr marL="0" indent="0" algn="ctr">
              <a:buNone/>
            </a:pPr>
            <a:endParaRPr lang="fr-FR" sz="1600" dirty="0" smtClean="0"/>
          </a:p>
          <a:p>
            <a:pPr lvl="2"/>
            <a:endParaRPr lang="fr-FR" sz="1800" dirty="0" smtClean="0"/>
          </a:p>
          <a:p>
            <a:r>
              <a:rPr lang="en-US" sz="2800" b="0" dirty="0" smtClean="0"/>
              <a:t>Situations for applying </a:t>
            </a:r>
          </a:p>
          <a:p>
            <a:r>
              <a:rPr lang="en-US" sz="2800" b="0" dirty="0" smtClean="0"/>
              <a:t>The Model</a:t>
            </a:r>
          </a:p>
          <a:p>
            <a:r>
              <a:rPr lang="en-US" sz="2800" b="0" dirty="0" smtClean="0"/>
              <a:t> Problems when applied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7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867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Situations for </a:t>
            </a:r>
            <a:r>
              <a:rPr lang="fr-FR" sz="3600" dirty="0" err="1" smtClean="0"/>
              <a:t>applying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r>
              <a:rPr lang="en-US" sz="2400" b="0" dirty="0"/>
              <a:t>a customer defines a set of general objectives for software but does not </a:t>
            </a:r>
            <a:r>
              <a:rPr lang="en-US" sz="2400" b="0" dirty="0" smtClean="0"/>
              <a:t>identify detailed </a:t>
            </a:r>
            <a:r>
              <a:rPr lang="en-US" sz="2400" b="0" dirty="0"/>
              <a:t>input, processing, or output </a:t>
            </a:r>
            <a:r>
              <a:rPr lang="en-US" sz="2400" b="0" dirty="0" smtClean="0"/>
              <a:t>requirements </a:t>
            </a:r>
          </a:p>
          <a:p>
            <a:r>
              <a:rPr lang="en-US" sz="2400" b="0" dirty="0" smtClean="0"/>
              <a:t>the developer may </a:t>
            </a:r>
            <a:r>
              <a:rPr lang="en-US" sz="2400" b="0" dirty="0"/>
              <a:t>be unsure of the efficiency of an algorithm, the adaptability of an operating </a:t>
            </a:r>
            <a:r>
              <a:rPr lang="en-US" sz="2400" b="0" dirty="0" smtClean="0"/>
              <a:t>system, or </a:t>
            </a:r>
            <a:r>
              <a:rPr lang="en-US" sz="2400" b="0" dirty="0"/>
              <a:t>the form that human/machine interaction should </a:t>
            </a:r>
            <a:r>
              <a:rPr lang="en-US" sz="2400" b="0" dirty="0" smtClean="0"/>
              <a:t>take</a:t>
            </a:r>
          </a:p>
          <a:p>
            <a:r>
              <a:rPr lang="en-US" sz="2400" b="0" dirty="0"/>
              <a:t>e</a:t>
            </a:r>
            <a:r>
              <a:rPr lang="en-US" sz="2400" b="0" dirty="0" smtClean="0"/>
              <a:t>tc.,</a:t>
            </a:r>
            <a:endParaRPr lang="en-US" sz="2400" b="0" dirty="0"/>
          </a:p>
          <a:p>
            <a:pPr marL="0" indent="0">
              <a:buNone/>
            </a:pPr>
            <a:r>
              <a:rPr lang="en-US" sz="2400" b="0" dirty="0"/>
              <a:t>	</a:t>
            </a:r>
            <a:r>
              <a:rPr lang="en-US" sz="2400" b="0" dirty="0" smtClean="0"/>
              <a:t>&gt;&gt;P</a:t>
            </a:r>
            <a:r>
              <a:rPr lang="en-US" sz="2400" b="0" i="1" dirty="0" smtClean="0"/>
              <a:t>rototyping </a:t>
            </a:r>
            <a:r>
              <a:rPr lang="en-US" sz="2400" b="0" i="1" dirty="0"/>
              <a:t>paradigm </a:t>
            </a:r>
            <a:r>
              <a:rPr lang="en-US" sz="2400" b="0" dirty="0"/>
              <a:t>may offer the best </a:t>
            </a:r>
            <a:r>
              <a:rPr lang="en-US" sz="2400" b="0" dirty="0" smtClean="0"/>
              <a:t>approach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0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66800"/>
            <a:ext cx="6912000" cy="48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7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877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Model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402086" cy="4953000"/>
          </a:xfrm>
        </p:spPr>
        <p:txBody>
          <a:bodyPr/>
          <a:lstStyle/>
          <a:p>
            <a:r>
              <a:rPr lang="en-US" sz="2400" dirty="0"/>
              <a:t>R</a:t>
            </a:r>
            <a:r>
              <a:rPr lang="en-US" sz="2400" dirty="0" smtClean="0"/>
              <a:t>equirements gathering</a:t>
            </a:r>
            <a:r>
              <a:rPr lang="en-US" sz="2400" b="0" dirty="0" smtClean="0"/>
              <a:t>: Developer &amp; customer define </a:t>
            </a:r>
            <a:r>
              <a:rPr lang="en-US" sz="2400" b="0" dirty="0"/>
              <a:t>the overall objectives for the software, </a:t>
            </a:r>
            <a:r>
              <a:rPr lang="en-US" sz="2400" b="0" dirty="0" smtClean="0"/>
              <a:t>identify whatever </a:t>
            </a:r>
            <a:r>
              <a:rPr lang="en-US" sz="2400" b="0" dirty="0"/>
              <a:t>requirements are known, and outline areas where further definition </a:t>
            </a:r>
            <a:r>
              <a:rPr lang="en-US" sz="2400" b="0" dirty="0" smtClean="0"/>
              <a:t>is mandatory</a:t>
            </a:r>
            <a:r>
              <a:rPr lang="en-US" sz="2400" b="0" dirty="0"/>
              <a:t>. </a:t>
            </a:r>
            <a:endParaRPr lang="en-US" sz="2400" b="0" dirty="0" smtClean="0"/>
          </a:p>
          <a:p>
            <a:r>
              <a:rPr lang="en-US" sz="2400" dirty="0" smtClean="0"/>
              <a:t>A “quick design”</a:t>
            </a:r>
            <a:r>
              <a:rPr lang="en-US" sz="2400" b="0" dirty="0" smtClean="0"/>
              <a:t>: focuses </a:t>
            </a:r>
            <a:r>
              <a:rPr lang="en-US" sz="2400" b="0" dirty="0"/>
              <a:t>on a </a:t>
            </a:r>
            <a:r>
              <a:rPr lang="en-US" sz="2400" b="0" dirty="0" smtClean="0"/>
              <a:t>representation of </a:t>
            </a:r>
            <a:r>
              <a:rPr lang="en-US" sz="2400" b="0" dirty="0"/>
              <a:t>those aspects of the software that will be visible to the customer/user (e.g</a:t>
            </a:r>
            <a:r>
              <a:rPr lang="en-US" sz="2400" b="0" dirty="0" smtClean="0"/>
              <a:t>., input </a:t>
            </a:r>
            <a:r>
              <a:rPr lang="en-US" sz="2400" b="0" dirty="0"/>
              <a:t>approaches and output formats</a:t>
            </a:r>
            <a:r>
              <a:rPr lang="en-US" sz="2400" b="0" dirty="0" smtClean="0"/>
              <a:t>); leads </a:t>
            </a:r>
            <a:r>
              <a:rPr lang="en-US" sz="2400" b="0" dirty="0"/>
              <a:t>to the construction </a:t>
            </a:r>
            <a:r>
              <a:rPr lang="en-US" sz="2400" b="0" dirty="0" smtClean="0"/>
              <a:t>of </a:t>
            </a:r>
            <a:r>
              <a:rPr lang="en-US" sz="2400" b="0" dirty="0"/>
              <a:t>a prototype. </a:t>
            </a:r>
            <a:endParaRPr lang="en-US" sz="2400" b="0" dirty="0" smtClean="0"/>
          </a:p>
          <a:p>
            <a:r>
              <a:rPr lang="en-US" sz="2400" b="0" dirty="0" smtClean="0"/>
              <a:t>The </a:t>
            </a:r>
            <a:r>
              <a:rPr lang="en-US" sz="2400" b="0" dirty="0"/>
              <a:t>prototype is </a:t>
            </a:r>
            <a:r>
              <a:rPr lang="en-US" sz="2400" dirty="0"/>
              <a:t>evaluated</a:t>
            </a:r>
            <a:r>
              <a:rPr lang="en-US" sz="2400" b="0" dirty="0"/>
              <a:t> by the customer/user and used to </a:t>
            </a:r>
            <a:r>
              <a:rPr lang="en-US" sz="2400" b="0" dirty="0" smtClean="0"/>
              <a:t>refine requirements </a:t>
            </a:r>
            <a:r>
              <a:rPr lang="en-US" sz="2400" b="0" dirty="0"/>
              <a:t>for the software to be developed</a:t>
            </a:r>
            <a:r>
              <a:rPr lang="en-US" sz="2400" b="0" dirty="0" smtClean="0"/>
              <a:t>.</a:t>
            </a:r>
          </a:p>
          <a:p>
            <a:r>
              <a:rPr lang="en-US" sz="2400" b="0" dirty="0" smtClean="0"/>
              <a:t> </a:t>
            </a:r>
            <a:r>
              <a:rPr lang="en-US" sz="2400" dirty="0"/>
              <a:t>Iteration </a:t>
            </a:r>
            <a:r>
              <a:rPr lang="en-US" sz="2400" b="0" dirty="0"/>
              <a:t>occurs as the prototype </a:t>
            </a:r>
            <a:r>
              <a:rPr lang="en-US" sz="2400" b="0" dirty="0" smtClean="0"/>
              <a:t>is tuned </a:t>
            </a:r>
            <a:r>
              <a:rPr lang="en-US" sz="2400" b="0" dirty="0"/>
              <a:t>to satisfy the needs of the customer, while at the same time enabling the </a:t>
            </a:r>
            <a:r>
              <a:rPr lang="en-US" sz="2400" b="0" dirty="0" smtClean="0"/>
              <a:t>developer to </a:t>
            </a:r>
            <a:r>
              <a:rPr lang="en-US" sz="2400" b="0" dirty="0"/>
              <a:t>better understand what needs to be </a:t>
            </a:r>
            <a:r>
              <a:rPr lang="en-US" sz="2400" b="0" dirty="0" smtClean="0"/>
              <a:t>done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3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08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Model </a:t>
            </a:r>
            <a:r>
              <a:rPr lang="fr-FR" sz="3600" dirty="0" err="1" smtClean="0"/>
              <a:t>Problems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402086" cy="4953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No </a:t>
            </a:r>
            <a:r>
              <a:rPr lang="en-US" sz="2400" b="0" dirty="0"/>
              <a:t>one has considered </a:t>
            </a:r>
            <a:r>
              <a:rPr lang="en-US" sz="2400" b="0" dirty="0" smtClean="0"/>
              <a:t>overall software </a:t>
            </a:r>
            <a:r>
              <a:rPr lang="en-US" sz="2400" b="0" dirty="0"/>
              <a:t>quality or long-term maintainability. </a:t>
            </a:r>
            <a:endParaRPr lang="en-US" sz="2400" b="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When </a:t>
            </a:r>
            <a:r>
              <a:rPr lang="en-US" sz="2400" b="0" dirty="0"/>
              <a:t>informed that </a:t>
            </a:r>
            <a:r>
              <a:rPr lang="en-US" sz="2400" b="0" dirty="0" smtClean="0"/>
              <a:t>the product </a:t>
            </a:r>
            <a:r>
              <a:rPr lang="en-US" sz="2400" b="0" dirty="0"/>
              <a:t>must be rebuilt so that high levels of quality can be maintained, </a:t>
            </a:r>
            <a:r>
              <a:rPr lang="en-US" sz="2400" b="0" dirty="0" smtClean="0"/>
              <a:t>the customer </a:t>
            </a:r>
            <a:r>
              <a:rPr lang="en-US" sz="2400" b="0" dirty="0"/>
              <a:t>cries foul and demands that "a few fixes" be applied to make </a:t>
            </a:r>
            <a:r>
              <a:rPr lang="en-US" sz="2400" b="0" dirty="0" smtClean="0"/>
              <a:t>the prototype </a:t>
            </a:r>
            <a:r>
              <a:rPr lang="en-US" sz="2400" b="0" dirty="0"/>
              <a:t>a working product. </a:t>
            </a:r>
            <a:endParaRPr lang="en-US" sz="2400" b="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developer often makes implementation compromises in order to get </a:t>
            </a:r>
            <a:r>
              <a:rPr lang="en-US" sz="2400" b="0" dirty="0" smtClean="0"/>
              <a:t>a prototype </a:t>
            </a:r>
            <a:r>
              <a:rPr lang="en-US" sz="2400" b="0" dirty="0"/>
              <a:t>working quickly. </a:t>
            </a:r>
            <a:r>
              <a:rPr lang="en-US" sz="2400" b="0" dirty="0" smtClean="0"/>
              <a:t>After </a:t>
            </a:r>
            <a:r>
              <a:rPr lang="en-US" sz="2400" b="0" dirty="0"/>
              <a:t>a time, the developer may become familiar with these choices and </a:t>
            </a:r>
            <a:r>
              <a:rPr lang="en-US" sz="2400" b="0" dirty="0" smtClean="0"/>
              <a:t>forget all </a:t>
            </a:r>
            <a:r>
              <a:rPr lang="en-US" sz="2400" b="0" dirty="0"/>
              <a:t>the reasons why they were inappropriate. The less-than-ideal </a:t>
            </a:r>
            <a:r>
              <a:rPr lang="en-US" sz="2400" b="0" dirty="0" smtClean="0"/>
              <a:t>choice has </a:t>
            </a:r>
            <a:r>
              <a:rPr lang="en-US" sz="2400" b="0" dirty="0"/>
              <a:t>now become an integral part of the system</a:t>
            </a:r>
            <a:r>
              <a:rPr lang="en-US" sz="2400" b="0" dirty="0" smtClean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1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08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Model </a:t>
            </a:r>
            <a:r>
              <a:rPr lang="fr-FR" sz="3600" dirty="0" err="1" smtClean="0"/>
              <a:t>Problems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914400"/>
            <a:ext cx="8402086" cy="4953000"/>
          </a:xfrm>
        </p:spPr>
        <p:txBody>
          <a:bodyPr/>
          <a:lstStyle/>
          <a:p>
            <a:pPr marL="0" indent="0">
              <a:buNone/>
            </a:pPr>
            <a:endParaRPr lang="en-US" sz="2400" b="0" dirty="0" smtClean="0"/>
          </a:p>
          <a:p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customer and developer must both agree that the prototype is built to serve as </a:t>
            </a:r>
            <a:r>
              <a:rPr lang="en-US" sz="2400" b="0" dirty="0" smtClean="0"/>
              <a:t>a mechanism </a:t>
            </a:r>
            <a:r>
              <a:rPr lang="en-US" sz="2400" b="0" dirty="0"/>
              <a:t>for defining </a:t>
            </a:r>
            <a:r>
              <a:rPr lang="en-US" sz="2400" b="0" dirty="0" smtClean="0"/>
              <a:t>requirements</a:t>
            </a:r>
          </a:p>
          <a:p>
            <a:pPr marL="0" indent="0">
              <a:buNone/>
            </a:pPr>
            <a:endParaRPr lang="en-US" sz="2400" b="0" dirty="0" smtClean="0"/>
          </a:p>
          <a:p>
            <a:r>
              <a:rPr lang="en-US" sz="2400" b="0" dirty="0" smtClean="0"/>
              <a:t>The actual </a:t>
            </a:r>
            <a:r>
              <a:rPr lang="en-US" sz="2400" b="0" dirty="0"/>
              <a:t>software is engineered with an eye toward quality and </a:t>
            </a:r>
            <a:r>
              <a:rPr lang="en-US" sz="2400" b="0" dirty="0" smtClean="0"/>
              <a:t>maintainability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172662" cy="777600"/>
          </a:xfrm>
        </p:spPr>
        <p:txBody>
          <a:bodyPr wrap="square">
            <a:noAutofit/>
          </a:bodyPr>
          <a:lstStyle/>
          <a:p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III</a:t>
            </a:r>
          </a:p>
          <a:p>
            <a:pPr marL="0" indent="0" algn="ctr">
              <a:buNone/>
            </a:pPr>
            <a:r>
              <a:rPr lang="fr-FR" sz="5400" dirty="0" smtClean="0"/>
              <a:t>The RAD Model</a:t>
            </a:r>
            <a:endParaRPr lang="fr-FR" sz="1600" dirty="0" smtClean="0"/>
          </a:p>
          <a:p>
            <a:pPr marL="0" indent="0" algn="ctr">
              <a:buNone/>
            </a:pPr>
            <a:endParaRPr lang="fr-FR" sz="1600" dirty="0" smtClean="0"/>
          </a:p>
          <a:p>
            <a:pPr lvl="2"/>
            <a:endParaRPr lang="fr-FR" sz="1800" dirty="0" smtClean="0"/>
          </a:p>
          <a:p>
            <a:r>
              <a:rPr lang="en-US" sz="2800" b="0" dirty="0" smtClean="0"/>
              <a:t>The Model</a:t>
            </a:r>
          </a:p>
          <a:p>
            <a:r>
              <a:rPr lang="en-US" sz="2800" b="0" dirty="0" smtClean="0"/>
              <a:t> Problems when applied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762000"/>
            <a:ext cx="8402086" cy="4953000"/>
          </a:xfrm>
        </p:spPr>
        <p:txBody>
          <a:bodyPr/>
          <a:lstStyle/>
          <a:p>
            <a:r>
              <a:rPr lang="en-US" sz="2800" b="0" i="1" dirty="0" smtClean="0"/>
              <a:t>Rapid </a:t>
            </a:r>
            <a:r>
              <a:rPr lang="en-US" sz="2800" b="0" i="1" dirty="0"/>
              <a:t>application development </a:t>
            </a:r>
            <a:r>
              <a:rPr lang="en-US" sz="2800" b="0" dirty="0"/>
              <a:t>(RAD) is an incremental software development </a:t>
            </a:r>
            <a:r>
              <a:rPr lang="en-US" sz="2800" b="0" dirty="0" smtClean="0"/>
              <a:t>process model </a:t>
            </a:r>
            <a:r>
              <a:rPr lang="en-US" sz="2800" b="0" dirty="0"/>
              <a:t>that emphasizes an extremely short development </a:t>
            </a:r>
            <a:r>
              <a:rPr lang="en-US" sz="2800" b="0" dirty="0" smtClean="0"/>
              <a:t>cycle</a:t>
            </a:r>
          </a:p>
          <a:p>
            <a:r>
              <a:rPr lang="en-US" sz="2800" b="0" dirty="0" smtClean="0"/>
              <a:t>RAD </a:t>
            </a:r>
            <a:r>
              <a:rPr lang="en-US" sz="2800" b="0" dirty="0"/>
              <a:t>model is </a:t>
            </a:r>
            <a:r>
              <a:rPr lang="en-US" sz="2800" b="0" dirty="0" smtClean="0"/>
              <a:t>a “high-speed</a:t>
            </a:r>
            <a:r>
              <a:rPr lang="en-US" sz="2800" b="0" dirty="0"/>
              <a:t>” adaptation of the linear sequential model in which rapid </a:t>
            </a:r>
            <a:r>
              <a:rPr lang="en-US" sz="2800" b="0" dirty="0" smtClean="0"/>
              <a:t>development is </a:t>
            </a:r>
            <a:r>
              <a:rPr lang="en-US" sz="2800" b="0" dirty="0"/>
              <a:t>achieved by using </a:t>
            </a:r>
            <a:r>
              <a:rPr lang="en-US" sz="2800" b="0" i="1" dirty="0"/>
              <a:t>component-based </a:t>
            </a:r>
            <a:r>
              <a:rPr lang="en-US" sz="2800" b="0" i="1" dirty="0" smtClean="0"/>
              <a:t>construction</a:t>
            </a:r>
          </a:p>
          <a:p>
            <a:r>
              <a:rPr lang="en-US" sz="2800" b="0" dirty="0" smtClean="0"/>
              <a:t>If </a:t>
            </a:r>
            <a:r>
              <a:rPr lang="en-US" sz="2800" b="0" dirty="0"/>
              <a:t>requirements are well </a:t>
            </a:r>
            <a:r>
              <a:rPr lang="en-US" sz="2800" b="0" dirty="0" smtClean="0"/>
              <a:t>understood and </a:t>
            </a:r>
            <a:r>
              <a:rPr lang="en-US" sz="2800" b="0" dirty="0"/>
              <a:t>project scope is constrained, the RAD process enables a development </a:t>
            </a:r>
            <a:r>
              <a:rPr lang="en-US" sz="2800" b="0" dirty="0" smtClean="0"/>
              <a:t>team to </a:t>
            </a:r>
            <a:r>
              <a:rPr lang="en-US" sz="2800" b="0" dirty="0"/>
              <a:t>create a “fully functional system” within very short time periods (</a:t>
            </a:r>
            <a:r>
              <a:rPr lang="en-US" sz="2400" b="0" dirty="0"/>
              <a:t>e.g., 60 to 90 days)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6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38200"/>
            <a:ext cx="7924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10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dirty="0"/>
              <a:t>Business modeling. </a:t>
            </a:r>
            <a:r>
              <a:rPr lang="en-US" b="0" dirty="0"/>
              <a:t>The information flow among business functions is modeled </a:t>
            </a:r>
            <a:r>
              <a:rPr lang="en-US" b="0" dirty="0" smtClean="0"/>
              <a:t>in a </a:t>
            </a:r>
            <a:r>
              <a:rPr lang="en-US" b="0" dirty="0"/>
              <a:t>way that answers the following questions: </a:t>
            </a:r>
            <a:endParaRPr lang="en-US" b="0" dirty="0" smtClean="0"/>
          </a:p>
          <a:p>
            <a:pPr lvl="1"/>
            <a:r>
              <a:rPr lang="en-US" sz="2400" b="0" dirty="0" smtClean="0"/>
              <a:t>What </a:t>
            </a:r>
            <a:r>
              <a:rPr lang="en-US" sz="2400" b="0" dirty="0"/>
              <a:t>information drives the </a:t>
            </a:r>
            <a:r>
              <a:rPr lang="en-US" sz="2400" b="0" dirty="0" smtClean="0"/>
              <a:t>business process?</a:t>
            </a:r>
          </a:p>
          <a:p>
            <a:pPr lvl="1"/>
            <a:r>
              <a:rPr lang="en-US" sz="2400" b="0" dirty="0" smtClean="0"/>
              <a:t>What </a:t>
            </a:r>
            <a:r>
              <a:rPr lang="en-US" sz="2400" b="0" dirty="0"/>
              <a:t>information is generated?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Who </a:t>
            </a:r>
            <a:r>
              <a:rPr lang="en-US" sz="2400" b="0" dirty="0"/>
              <a:t>generates it?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Where </a:t>
            </a:r>
            <a:r>
              <a:rPr lang="en-US" sz="2400" b="0" dirty="0"/>
              <a:t>does the </a:t>
            </a:r>
            <a:r>
              <a:rPr lang="en-US" sz="2400" b="0" dirty="0" smtClean="0"/>
              <a:t>information go</a:t>
            </a:r>
            <a:r>
              <a:rPr lang="en-US" sz="2400" b="0" dirty="0"/>
              <a:t>?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Who </a:t>
            </a:r>
            <a:r>
              <a:rPr lang="en-US" sz="2400" b="0" dirty="0"/>
              <a:t>processes it? </a:t>
            </a:r>
            <a:endParaRPr lang="en-US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350198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dirty="0"/>
              <a:t>Data modeling. </a:t>
            </a:r>
            <a:r>
              <a:rPr lang="en-US" sz="2800" b="0" dirty="0"/>
              <a:t>The information flow defined as part of the business modeling phase is refined into a set of data objects that are needed to support the business. The characteristics (called </a:t>
            </a:r>
            <a:r>
              <a:rPr lang="en-US" sz="2800" b="0" i="1" dirty="0"/>
              <a:t>attributes</a:t>
            </a:r>
            <a:r>
              <a:rPr lang="en-US" sz="2800" b="0" dirty="0"/>
              <a:t>) of each object are identified and the relationships between these objects defined.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460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dirty="0"/>
              <a:t>Process modeling. </a:t>
            </a:r>
            <a:r>
              <a:rPr lang="en-US" sz="2800" b="0" dirty="0" smtClean="0"/>
              <a:t>The </a:t>
            </a:r>
            <a:r>
              <a:rPr lang="en-US" sz="2800" b="0" dirty="0"/>
              <a:t>data objects defined in the data modeling phase are </a:t>
            </a:r>
            <a:r>
              <a:rPr lang="en-US" sz="2800" b="0" dirty="0" smtClean="0"/>
              <a:t>transformed to </a:t>
            </a:r>
            <a:r>
              <a:rPr lang="en-US" sz="2800" b="0" dirty="0"/>
              <a:t>achieve the information flow necessary to implement a business </a:t>
            </a:r>
            <a:r>
              <a:rPr lang="en-US" sz="2800" b="0" dirty="0" smtClean="0"/>
              <a:t>function. Processing </a:t>
            </a:r>
            <a:r>
              <a:rPr lang="en-US" sz="2800" b="0" dirty="0"/>
              <a:t>descriptions are created for adding, modifying, deleting, or retrieving </a:t>
            </a:r>
            <a:r>
              <a:rPr lang="en-US" sz="2800" b="0" dirty="0" smtClean="0"/>
              <a:t>a data </a:t>
            </a:r>
            <a:r>
              <a:rPr lang="en-US" sz="2800" b="0" dirty="0"/>
              <a:t>object.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0130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dirty="0"/>
              <a:t>Application generation. </a:t>
            </a:r>
            <a:r>
              <a:rPr lang="en-US" sz="2800" b="0" dirty="0"/>
              <a:t>RAD assumes the use of fourth generation </a:t>
            </a:r>
            <a:r>
              <a:rPr lang="en-US" sz="2800" b="0" dirty="0" smtClean="0"/>
              <a:t>techniques. </a:t>
            </a:r>
            <a:r>
              <a:rPr lang="en-US" sz="2800" b="0" dirty="0"/>
              <a:t>Rather than creating software using conventional third </a:t>
            </a:r>
            <a:r>
              <a:rPr lang="en-US" sz="2800" b="0" dirty="0" smtClean="0"/>
              <a:t>generation programming </a:t>
            </a:r>
            <a:r>
              <a:rPr lang="en-US" sz="2800" b="0" dirty="0" smtClean="0"/>
              <a:t>languages, the </a:t>
            </a:r>
            <a:r>
              <a:rPr lang="en-US" sz="2800" b="0" dirty="0"/>
              <a:t>RAD process works to reuse existing program </a:t>
            </a:r>
            <a:r>
              <a:rPr lang="en-US" sz="2800" b="0" dirty="0" smtClean="0"/>
              <a:t>components (when </a:t>
            </a:r>
            <a:r>
              <a:rPr lang="en-US" sz="2800" b="0" dirty="0"/>
              <a:t>possible) or create reusable components (when necessary). In all </a:t>
            </a:r>
            <a:r>
              <a:rPr lang="en-US" sz="2800" b="0" dirty="0" smtClean="0"/>
              <a:t>cases, automated </a:t>
            </a:r>
            <a:r>
              <a:rPr lang="en-US" sz="2800" b="0" dirty="0"/>
              <a:t>tools are used to facilitate construction of the software.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4621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277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dirty="0"/>
              <a:t>Testing and turnover. </a:t>
            </a:r>
            <a:r>
              <a:rPr lang="en-US" sz="2800" b="0" dirty="0"/>
              <a:t>Since the RAD process emphasizes reuse, many of the </a:t>
            </a:r>
            <a:r>
              <a:rPr lang="en-US" sz="2800" b="0" dirty="0" smtClean="0"/>
              <a:t>program components </a:t>
            </a:r>
            <a:r>
              <a:rPr lang="en-US" sz="2800" b="0" dirty="0"/>
              <a:t>have already been tested. This reduces overall testing time. </a:t>
            </a:r>
            <a:r>
              <a:rPr lang="en-US" sz="2800" b="0" dirty="0" smtClean="0"/>
              <a:t>However, new </a:t>
            </a:r>
            <a:r>
              <a:rPr lang="en-US" sz="2800" b="0" dirty="0"/>
              <a:t>components must be tested and all interfaces must be fully exercised.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878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639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Candidate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b="0" dirty="0" smtClean="0"/>
              <a:t>Candidate for RAD</a:t>
            </a:r>
          </a:p>
          <a:p>
            <a:pPr lvl="1"/>
            <a:r>
              <a:rPr lang="en-US" sz="2400" b="0" dirty="0" smtClean="0"/>
              <a:t>If </a:t>
            </a:r>
            <a:r>
              <a:rPr lang="en-US" sz="2400" b="0" dirty="0"/>
              <a:t>a business </a:t>
            </a:r>
            <a:r>
              <a:rPr lang="en-US" sz="2400" b="0" dirty="0" smtClean="0"/>
              <a:t>application can </a:t>
            </a:r>
            <a:r>
              <a:rPr lang="en-US" sz="2400" b="0" dirty="0"/>
              <a:t>be modularized in a way that enables each major function to be </a:t>
            </a:r>
            <a:r>
              <a:rPr lang="en-US" sz="2400" b="0" dirty="0" smtClean="0"/>
              <a:t>completed in </a:t>
            </a:r>
            <a:r>
              <a:rPr lang="en-US" sz="2400" b="0" dirty="0"/>
              <a:t>less than three months (using the approach described </a:t>
            </a:r>
            <a:r>
              <a:rPr lang="en-US" sz="2400" b="0" dirty="0" smtClean="0"/>
              <a:t>previously). </a:t>
            </a:r>
            <a:r>
              <a:rPr lang="en-US" sz="2400" b="0" dirty="0"/>
              <a:t>Each major function can be addressed by a separate RAD team and </a:t>
            </a:r>
            <a:r>
              <a:rPr lang="en-US" sz="2400" b="0" dirty="0" smtClean="0"/>
              <a:t>then integrated </a:t>
            </a:r>
            <a:r>
              <a:rPr lang="en-US" sz="2400" b="0" dirty="0"/>
              <a:t>to form a whole.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97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563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r>
              <a:rPr lang="fr-FR" sz="3600" dirty="0" err="1" smtClean="0"/>
              <a:t>Problems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For large but scalable projects, RAD requires sufficient human resources to create the right number of RAD teams.</a:t>
            </a:r>
          </a:p>
          <a:p>
            <a:r>
              <a:rPr lang="en-US" sz="2800" b="0" dirty="0"/>
              <a:t>RAD requires developers and customers who are committed to the rapid-fire activities necessary to get a system complete in a much abbreviated time frame. If commitment is lacking from either constituency, RAD projects will fail.</a:t>
            </a:r>
          </a:p>
        </p:txBody>
      </p:sp>
    </p:spTree>
    <p:extLst>
      <p:ext uri="{BB962C8B-B14F-4D97-AF65-F5344CB8AC3E}">
        <p14:creationId xmlns:p14="http://schemas.microsoft.com/office/powerpoint/2010/main" val="107431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791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RAD Model </a:t>
            </a:r>
            <a:r>
              <a:rPr lang="fr-FR" sz="3600" dirty="0" err="1" smtClean="0"/>
              <a:t>Problems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b="0" dirty="0" smtClean="0"/>
              <a:t>Not </a:t>
            </a:r>
            <a:r>
              <a:rPr lang="en-US" sz="2800" b="0" dirty="0"/>
              <a:t>all types of applications are appropriate for RAD. If a system cannot </a:t>
            </a:r>
            <a:r>
              <a:rPr lang="en-US" sz="2800" b="0" dirty="0" smtClean="0"/>
              <a:t>be properly </a:t>
            </a:r>
            <a:r>
              <a:rPr lang="en-US" sz="2800" b="0" dirty="0"/>
              <a:t>modularized, building the components necessary for RAD will </a:t>
            </a:r>
            <a:r>
              <a:rPr lang="en-US" sz="2800" b="0" dirty="0" smtClean="0"/>
              <a:t>be problematic</a:t>
            </a:r>
            <a:r>
              <a:rPr lang="en-US" sz="2800" b="0" dirty="0"/>
              <a:t>. </a:t>
            </a:r>
            <a:endParaRPr lang="en-US" sz="2800" b="0" dirty="0" smtClean="0"/>
          </a:p>
          <a:p>
            <a:r>
              <a:rPr lang="en-US" sz="2800" b="0" dirty="0" smtClean="0"/>
              <a:t>RAD </a:t>
            </a:r>
            <a:r>
              <a:rPr lang="en-US" sz="2800" b="0" dirty="0"/>
              <a:t>is not appropriate when technical risks are high. This occurs when a </a:t>
            </a:r>
            <a:r>
              <a:rPr lang="en-US" sz="2800" b="0" dirty="0" smtClean="0"/>
              <a:t>new application </a:t>
            </a:r>
            <a:r>
              <a:rPr lang="en-US" sz="2800" b="0" dirty="0"/>
              <a:t>makes heavy use of new technology or when the new </a:t>
            </a:r>
            <a:r>
              <a:rPr lang="en-US" sz="2800" b="0" dirty="0" smtClean="0"/>
              <a:t>software requires </a:t>
            </a:r>
            <a:r>
              <a:rPr lang="en-US" sz="2800" b="0" dirty="0"/>
              <a:t>a high degree of interoperability with existing computer programs.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359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763462" cy="777600"/>
          </a:xfrm>
        </p:spPr>
        <p:txBody>
          <a:bodyPr wrap="square">
            <a:no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Evolutionary</a:t>
            </a:r>
            <a:r>
              <a:rPr lang="en-US" sz="3600" b="0" dirty="0" smtClean="0"/>
              <a:t> </a:t>
            </a:r>
            <a:r>
              <a:rPr lang="fr-FR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oftware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IV</a:t>
            </a:r>
          </a:p>
          <a:p>
            <a:pPr marL="0" indent="0" algn="ctr">
              <a:buNone/>
            </a:pPr>
            <a:r>
              <a:rPr lang="en-US" sz="5400" dirty="0"/>
              <a:t>The Incremental Model</a:t>
            </a:r>
            <a:endParaRPr lang="fr-FR" sz="5400" dirty="0"/>
          </a:p>
          <a:p>
            <a:pPr lvl="2"/>
            <a:endParaRPr lang="fr-FR" sz="5400" dirty="0">
              <a:ea typeface="+mn-ea"/>
              <a:cs typeface="+mn-cs"/>
            </a:endParaRPr>
          </a:p>
          <a:p>
            <a:r>
              <a:rPr lang="en-US" sz="2800" b="0" dirty="0" smtClean="0"/>
              <a:t>The Model</a:t>
            </a:r>
          </a:p>
          <a:p>
            <a:r>
              <a:rPr lang="en-US" sz="2800" b="0" dirty="0" smtClean="0"/>
              <a:t>Advantages of the model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5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/>
              <a:t> </a:t>
            </a:r>
            <a:r>
              <a:rPr lang="fr-FR" sz="3600" dirty="0" err="1"/>
              <a:t>Incremental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The </a:t>
            </a:r>
            <a:r>
              <a:rPr lang="en-US" sz="2800" b="0" i="1" dirty="0"/>
              <a:t>i</a:t>
            </a:r>
            <a:r>
              <a:rPr lang="en-US" sz="2800" b="0" i="1" dirty="0" smtClean="0"/>
              <a:t>ncremental </a:t>
            </a:r>
            <a:r>
              <a:rPr lang="en-US" sz="2800" b="0" i="1" dirty="0"/>
              <a:t>m</a:t>
            </a:r>
            <a:r>
              <a:rPr lang="en-US" sz="2800" b="0" i="1" dirty="0" smtClean="0"/>
              <a:t>odel </a:t>
            </a:r>
            <a:r>
              <a:rPr lang="en-US" sz="2800" b="0" dirty="0"/>
              <a:t>combines elements of the linear sequential model (</a:t>
            </a:r>
            <a:r>
              <a:rPr lang="en-US" sz="2800" b="0" dirty="0" smtClean="0"/>
              <a:t>applied repetitively</a:t>
            </a:r>
            <a:r>
              <a:rPr lang="en-US" sz="2800" b="0" dirty="0"/>
              <a:t>) with the iterative philosophy of </a:t>
            </a:r>
            <a:r>
              <a:rPr lang="en-US" sz="2800" b="0" dirty="0" smtClean="0"/>
              <a:t>prototyping.</a:t>
            </a:r>
          </a:p>
          <a:p>
            <a:r>
              <a:rPr lang="en-US" sz="2800" b="0" dirty="0" smtClean="0"/>
              <a:t>The</a:t>
            </a:r>
            <a:r>
              <a:rPr lang="en-US" sz="2800" b="0" dirty="0"/>
              <a:t> </a:t>
            </a:r>
            <a:r>
              <a:rPr lang="en-US" sz="2800" b="0" dirty="0" smtClean="0"/>
              <a:t>incremental </a:t>
            </a:r>
            <a:r>
              <a:rPr lang="en-US" sz="2800" b="0" dirty="0"/>
              <a:t>model applies linear sequences in a staggered fashion as calendar </a:t>
            </a:r>
            <a:r>
              <a:rPr lang="en-US" sz="2800" b="0" dirty="0" smtClean="0"/>
              <a:t>time progresses</a:t>
            </a:r>
            <a:r>
              <a:rPr lang="en-US" sz="2800" b="0" dirty="0"/>
              <a:t>. Each linear sequence produces a deliverable “increment” of the </a:t>
            </a:r>
            <a:r>
              <a:rPr lang="en-US" sz="2800" b="0" dirty="0" smtClean="0"/>
              <a:t>software.</a:t>
            </a:r>
          </a:p>
          <a:p>
            <a:r>
              <a:rPr lang="en-US" sz="2800" b="0" dirty="0"/>
              <a:t>T</a:t>
            </a:r>
            <a:r>
              <a:rPr lang="en-US" sz="2800" b="0" dirty="0" smtClean="0"/>
              <a:t>he incremental model </a:t>
            </a:r>
            <a:r>
              <a:rPr lang="en-US" sz="2800" b="0" dirty="0"/>
              <a:t>focuses on the delivery of an operational product with each increment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010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877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Incremental</a:t>
            </a:r>
            <a:r>
              <a:rPr lang="fr-FR" sz="3600" dirty="0" smtClean="0"/>
              <a:t>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1158306"/>
            <a:ext cx="8666162" cy="5090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240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/>
              <a:t> </a:t>
            </a:r>
            <a:r>
              <a:rPr lang="fr-FR" sz="3600" dirty="0" err="1"/>
              <a:t>Incremental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For example, word-processing software developed using the </a:t>
            </a:r>
            <a:r>
              <a:rPr lang="en-US" sz="2800" b="0" dirty="0" smtClean="0"/>
              <a:t>incremental paradigm  </a:t>
            </a:r>
          </a:p>
          <a:p>
            <a:pPr lvl="1"/>
            <a:r>
              <a:rPr lang="en-US" sz="2800" b="0" dirty="0" smtClean="0"/>
              <a:t>1</a:t>
            </a:r>
            <a:r>
              <a:rPr lang="en-US" sz="2800" b="0" baseline="30000" dirty="0" smtClean="0"/>
              <a:t>st</a:t>
            </a:r>
            <a:r>
              <a:rPr lang="en-US" sz="2800" b="0" dirty="0" smtClean="0"/>
              <a:t>  increment: deliver </a:t>
            </a:r>
            <a:r>
              <a:rPr lang="en-US" sz="2800" b="0" dirty="0"/>
              <a:t>basic file management, editing, and document </a:t>
            </a:r>
            <a:r>
              <a:rPr lang="en-US" sz="2800" b="0" dirty="0" smtClean="0"/>
              <a:t>production functions;</a:t>
            </a:r>
          </a:p>
          <a:p>
            <a:pPr lvl="1"/>
            <a:r>
              <a:rPr lang="en-US" sz="2800" b="0" dirty="0" smtClean="0"/>
              <a:t>2</a:t>
            </a:r>
            <a:r>
              <a:rPr lang="en-US" sz="2800" b="0" baseline="30000" dirty="0" smtClean="0"/>
              <a:t>nd</a:t>
            </a:r>
            <a:r>
              <a:rPr lang="en-US" sz="2800" b="0" dirty="0" smtClean="0"/>
              <a:t> increment: more </a:t>
            </a:r>
            <a:r>
              <a:rPr lang="en-US" sz="2800" b="0" dirty="0"/>
              <a:t>sophisticated editing and document </a:t>
            </a:r>
            <a:r>
              <a:rPr lang="en-US" sz="2800" b="0" dirty="0" smtClean="0"/>
              <a:t>production capabilities;</a:t>
            </a:r>
          </a:p>
          <a:p>
            <a:pPr lvl="1"/>
            <a:r>
              <a:rPr lang="en-US" sz="2800" b="0" dirty="0" smtClean="0"/>
              <a:t>3</a:t>
            </a:r>
            <a:r>
              <a:rPr lang="en-US" sz="2800" b="0" baseline="30000" dirty="0" smtClean="0"/>
              <a:t>rd</a:t>
            </a:r>
            <a:r>
              <a:rPr lang="en-US" sz="2800" b="0" dirty="0" smtClean="0"/>
              <a:t> increment: spelling </a:t>
            </a:r>
            <a:r>
              <a:rPr lang="en-US" sz="2800" b="0" dirty="0"/>
              <a:t>and grammar </a:t>
            </a:r>
            <a:r>
              <a:rPr lang="en-US" sz="2800" b="0" dirty="0" smtClean="0"/>
              <a:t>checking;</a:t>
            </a:r>
          </a:p>
          <a:p>
            <a:pPr lvl="1"/>
            <a:r>
              <a:rPr lang="en-US" sz="2800" b="0" dirty="0" smtClean="0"/>
              <a:t>4</a:t>
            </a:r>
            <a:r>
              <a:rPr lang="en-US" sz="2800" b="0" baseline="30000" dirty="0" smtClean="0"/>
              <a:t>th</a:t>
            </a:r>
            <a:r>
              <a:rPr lang="en-US" sz="2800" b="0" dirty="0" smtClean="0"/>
              <a:t> increment: advanced </a:t>
            </a:r>
            <a:r>
              <a:rPr lang="en-US" sz="2800" b="0" dirty="0"/>
              <a:t>page layout </a:t>
            </a:r>
            <a:r>
              <a:rPr lang="en-US" sz="2800" b="0" dirty="0" smtClean="0"/>
              <a:t>capability.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8930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/>
              <a:t> </a:t>
            </a:r>
            <a:r>
              <a:rPr lang="fr-FR" sz="3600" dirty="0" err="1"/>
              <a:t>Incremental</a:t>
            </a:r>
            <a:r>
              <a:rPr lang="fr-FR" sz="3600" dirty="0"/>
              <a:t>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r>
              <a:rPr lang="en-US" sz="2800" b="0" dirty="0" smtClean="0"/>
              <a:t>1</a:t>
            </a:r>
            <a:r>
              <a:rPr lang="en-US" sz="2800" b="0" baseline="30000" dirty="0" smtClean="0"/>
              <a:t>st</a:t>
            </a:r>
            <a:r>
              <a:rPr lang="en-US" sz="2800" b="0" dirty="0" smtClean="0"/>
              <a:t>  </a:t>
            </a:r>
            <a:r>
              <a:rPr lang="en-US" sz="2800" b="0" dirty="0"/>
              <a:t>increment </a:t>
            </a:r>
            <a:r>
              <a:rPr lang="en-US" sz="2800" b="0" dirty="0" smtClean="0"/>
              <a:t>is </a:t>
            </a:r>
            <a:r>
              <a:rPr lang="en-US" sz="2800" b="0" i="1" dirty="0" smtClean="0"/>
              <a:t>core product, </a:t>
            </a:r>
            <a:r>
              <a:rPr lang="en-US" sz="2800" b="0" dirty="0" smtClean="0"/>
              <a:t>basic </a:t>
            </a:r>
            <a:r>
              <a:rPr lang="en-US" sz="2800" b="0" dirty="0"/>
              <a:t>requirements are addressed, but many supplementary features </a:t>
            </a:r>
            <a:r>
              <a:rPr lang="en-US" sz="2800" b="0" dirty="0" smtClean="0"/>
              <a:t>remain </a:t>
            </a:r>
            <a:r>
              <a:rPr lang="en-US" sz="2800" b="0" dirty="0"/>
              <a:t>undelivered. </a:t>
            </a:r>
            <a:endParaRPr lang="en-US" sz="2800" b="0" dirty="0" smtClean="0"/>
          </a:p>
          <a:p>
            <a:r>
              <a:rPr lang="en-US" sz="2800" b="0" dirty="0" smtClean="0"/>
              <a:t>The </a:t>
            </a:r>
            <a:r>
              <a:rPr lang="en-US" sz="2800" b="0" dirty="0"/>
              <a:t>core product is used by the </a:t>
            </a:r>
            <a:r>
              <a:rPr lang="en-US" sz="2800" b="0" dirty="0" smtClean="0"/>
              <a:t>customer. </a:t>
            </a:r>
            <a:r>
              <a:rPr lang="en-US" sz="2800" b="0" dirty="0"/>
              <a:t>As a result of use and/or evaluation, a plan </a:t>
            </a:r>
            <a:r>
              <a:rPr lang="en-US" sz="2800" b="0" dirty="0" smtClean="0"/>
              <a:t>is developed </a:t>
            </a:r>
            <a:r>
              <a:rPr lang="en-US" sz="2800" b="0" dirty="0"/>
              <a:t>for the next increment. </a:t>
            </a:r>
            <a:endParaRPr lang="en-US" sz="2800" b="0" dirty="0" smtClean="0"/>
          </a:p>
          <a:p>
            <a:r>
              <a:rPr lang="en-US" sz="2800" b="0" dirty="0" smtClean="0"/>
              <a:t>The </a:t>
            </a:r>
            <a:r>
              <a:rPr lang="en-US" sz="2800" b="0" dirty="0"/>
              <a:t>plan addresses the modification of the </a:t>
            </a:r>
            <a:r>
              <a:rPr lang="en-US" sz="2800" b="0" dirty="0" smtClean="0"/>
              <a:t>core product </a:t>
            </a:r>
            <a:r>
              <a:rPr lang="en-US" sz="2800" b="0" dirty="0"/>
              <a:t>to better meet the needs of the customer and the delivery of </a:t>
            </a:r>
            <a:r>
              <a:rPr lang="en-US" sz="2800" b="0" dirty="0" smtClean="0"/>
              <a:t>additional features </a:t>
            </a:r>
            <a:r>
              <a:rPr lang="en-US" sz="2800" b="0" dirty="0"/>
              <a:t>and functionality. </a:t>
            </a:r>
            <a:endParaRPr lang="en-US" sz="2800" b="0" dirty="0" smtClean="0"/>
          </a:p>
          <a:p>
            <a:r>
              <a:rPr lang="en-US" sz="2800" b="0" dirty="0" smtClean="0"/>
              <a:t>This </a:t>
            </a:r>
            <a:r>
              <a:rPr lang="en-US" sz="2800" b="0" dirty="0"/>
              <a:t>process is repeated following the delivery of </a:t>
            </a:r>
            <a:r>
              <a:rPr lang="en-US" sz="2800" b="0" dirty="0" smtClean="0"/>
              <a:t>each increment</a:t>
            </a:r>
            <a:r>
              <a:rPr lang="en-US" sz="2800" b="0" dirty="0"/>
              <a:t>, until the complete </a:t>
            </a:r>
            <a:r>
              <a:rPr lang="en-US" sz="2800" b="0" dirty="0" smtClean="0"/>
              <a:t>product.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1079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849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/>
              <a:t> </a:t>
            </a:r>
            <a:r>
              <a:rPr lang="fr-FR" sz="3600" dirty="0" err="1"/>
              <a:t>Incremental</a:t>
            </a:r>
            <a:r>
              <a:rPr lang="fr-FR" sz="3600" dirty="0"/>
              <a:t> </a:t>
            </a:r>
            <a:r>
              <a:rPr lang="fr-FR" sz="3600" dirty="0" smtClean="0"/>
              <a:t>Model </a:t>
            </a:r>
            <a:r>
              <a:rPr lang="fr-FR" sz="3600" dirty="0" err="1" smtClean="0"/>
              <a:t>Advantages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r>
              <a:rPr lang="en-US" sz="2800" b="0" dirty="0"/>
              <a:t>Incremental development is </a:t>
            </a:r>
            <a:r>
              <a:rPr lang="en-US" sz="2800" b="0" dirty="0" smtClean="0"/>
              <a:t>useful </a:t>
            </a:r>
            <a:r>
              <a:rPr lang="en-US" sz="2800" b="0" dirty="0"/>
              <a:t>when staffing is unavailable for </a:t>
            </a:r>
            <a:r>
              <a:rPr lang="en-US" sz="2800" b="0" dirty="0" smtClean="0"/>
              <a:t>a complete </a:t>
            </a:r>
            <a:r>
              <a:rPr lang="en-US" sz="2800" b="0" dirty="0"/>
              <a:t>implementation by the business deadline that has been established for </a:t>
            </a:r>
            <a:r>
              <a:rPr lang="en-US" sz="2800" b="0" dirty="0" smtClean="0"/>
              <a:t>the project</a:t>
            </a:r>
            <a:r>
              <a:rPr lang="en-US" sz="2800" b="0" dirty="0"/>
              <a:t>. </a:t>
            </a:r>
            <a:endParaRPr lang="en-US" sz="2800" b="0" dirty="0" smtClean="0"/>
          </a:p>
          <a:p>
            <a:r>
              <a:rPr lang="en-US" sz="2800" b="0" dirty="0" smtClean="0"/>
              <a:t>Increments </a:t>
            </a:r>
            <a:r>
              <a:rPr lang="en-US" sz="2800" b="0" dirty="0"/>
              <a:t>can be planned to manage technical risks. </a:t>
            </a:r>
            <a:r>
              <a:rPr lang="en-US" sz="2800" b="0" dirty="0" smtClean="0"/>
              <a:t>E.g., </a:t>
            </a:r>
            <a:r>
              <a:rPr lang="en-US" sz="2800" b="0" dirty="0"/>
              <a:t>a major system might require the availability of new </a:t>
            </a:r>
            <a:r>
              <a:rPr lang="en-US" sz="2800" b="0" dirty="0" smtClean="0"/>
              <a:t>hardware under development. </a:t>
            </a:r>
            <a:r>
              <a:rPr lang="en-US" sz="2800" b="0" dirty="0"/>
              <a:t>It might be possible to plan </a:t>
            </a:r>
            <a:r>
              <a:rPr lang="en-US" sz="2800" b="0" dirty="0" smtClean="0"/>
              <a:t>early increments </a:t>
            </a:r>
            <a:r>
              <a:rPr lang="en-US" sz="2800" b="0" dirty="0"/>
              <a:t>in a way that avoids the use of this hardware, thereby enabling </a:t>
            </a:r>
            <a:r>
              <a:rPr lang="en-US" sz="2800" b="0" dirty="0" smtClean="0"/>
              <a:t>partial functionality </a:t>
            </a:r>
            <a:r>
              <a:rPr lang="en-US" sz="2800" b="0" dirty="0"/>
              <a:t>to be delivered to end-users without inordinate delay.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667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763462" cy="777600"/>
          </a:xfrm>
        </p:spPr>
        <p:txBody>
          <a:bodyPr wrap="square">
            <a:noAutofit/>
          </a:bodyPr>
          <a:lstStyle/>
          <a:p>
            <a:r>
              <a:rPr lang="en-US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Evolutionary</a:t>
            </a:r>
            <a:r>
              <a:rPr lang="en-US" sz="3600" b="0" dirty="0" smtClean="0"/>
              <a:t> </a:t>
            </a:r>
            <a:r>
              <a:rPr lang="fr-FR" sz="3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oftware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V</a:t>
            </a:r>
          </a:p>
          <a:p>
            <a:pPr marL="0" indent="0" algn="ctr">
              <a:buNone/>
            </a:pPr>
            <a:r>
              <a:rPr lang="en-US" sz="5400" dirty="0"/>
              <a:t>The </a:t>
            </a:r>
            <a:r>
              <a:rPr lang="en-US" sz="5400" dirty="0" smtClean="0"/>
              <a:t>Spiral </a:t>
            </a:r>
            <a:r>
              <a:rPr lang="en-US" sz="5400" dirty="0"/>
              <a:t>Model</a:t>
            </a:r>
            <a:endParaRPr lang="fr-FR" sz="5400" dirty="0"/>
          </a:p>
          <a:p>
            <a:pPr lvl="2"/>
            <a:endParaRPr lang="fr-FR" sz="5400" dirty="0">
              <a:ea typeface="+mn-ea"/>
              <a:cs typeface="+mn-cs"/>
            </a:endParaRPr>
          </a:p>
          <a:p>
            <a:r>
              <a:rPr lang="en-US" sz="2800" b="0" dirty="0" smtClean="0"/>
              <a:t>The Model</a:t>
            </a:r>
          </a:p>
          <a:p>
            <a:r>
              <a:rPr lang="en-US" sz="2800" b="0" dirty="0" smtClean="0"/>
              <a:t>Advantages and disadvantages of the model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9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r>
              <a:rPr lang="en-US" sz="2800" b="0" dirty="0" smtClean="0"/>
              <a:t>The </a:t>
            </a:r>
            <a:r>
              <a:rPr lang="en-US" sz="2800" b="0" dirty="0"/>
              <a:t>S</a:t>
            </a:r>
            <a:r>
              <a:rPr lang="en-US" sz="2800" b="0" dirty="0" smtClean="0"/>
              <a:t>piral Model couples </a:t>
            </a:r>
            <a:r>
              <a:rPr lang="en-US" sz="2800" b="0" dirty="0"/>
              <a:t>the iterative nature of prototyping with the controlled </a:t>
            </a:r>
            <a:r>
              <a:rPr lang="en-US" sz="2800" b="0" dirty="0" smtClean="0"/>
              <a:t>and systematic </a:t>
            </a:r>
            <a:r>
              <a:rPr lang="en-US" sz="2800" b="0" dirty="0"/>
              <a:t>aspects of the linear sequential </a:t>
            </a:r>
            <a:r>
              <a:rPr lang="en-US" sz="2800" b="0" dirty="0" smtClean="0"/>
              <a:t>model</a:t>
            </a:r>
          </a:p>
          <a:p>
            <a:r>
              <a:rPr lang="en-US" sz="2800" b="0" dirty="0"/>
              <a:t>It provides the potential for </a:t>
            </a:r>
            <a:r>
              <a:rPr lang="en-US" sz="2800" b="0" dirty="0" smtClean="0"/>
              <a:t>rapid development </a:t>
            </a:r>
            <a:r>
              <a:rPr lang="en-US" sz="2800" b="0" dirty="0"/>
              <a:t>of incremental versions of the </a:t>
            </a:r>
            <a:r>
              <a:rPr lang="en-US" sz="2800" b="0" dirty="0" smtClean="0"/>
              <a:t>software</a:t>
            </a:r>
          </a:p>
          <a:p>
            <a:r>
              <a:rPr lang="en-US" sz="2800" b="0" dirty="0" smtClean="0"/>
              <a:t>Using </a:t>
            </a:r>
            <a:r>
              <a:rPr lang="en-US" sz="2800" b="0" dirty="0"/>
              <a:t>the spiral model, </a:t>
            </a:r>
            <a:r>
              <a:rPr lang="en-US" sz="2800" b="0" dirty="0" smtClean="0"/>
              <a:t>software is </a:t>
            </a:r>
            <a:r>
              <a:rPr lang="en-US" sz="2800" b="0" dirty="0"/>
              <a:t>developed in a series of incremental releases. During early iterations, </a:t>
            </a:r>
            <a:r>
              <a:rPr lang="en-US" sz="2800" b="0" dirty="0" smtClean="0"/>
              <a:t>the incremental </a:t>
            </a:r>
            <a:r>
              <a:rPr lang="en-US" sz="2800" b="0" dirty="0"/>
              <a:t>release might be a paper model or prototype. During later </a:t>
            </a:r>
            <a:r>
              <a:rPr lang="en-US" sz="2800" b="0" dirty="0" smtClean="0"/>
              <a:t>iterations, increasingly </a:t>
            </a:r>
            <a:r>
              <a:rPr lang="en-US" sz="2800" b="0" dirty="0"/>
              <a:t>more complete versions of the engineered system are </a:t>
            </a:r>
            <a:r>
              <a:rPr lang="en-US" sz="2800" b="0" dirty="0" smtClean="0"/>
              <a:t>produced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5910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95" y="802341"/>
            <a:ext cx="7772400" cy="551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594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r>
              <a:rPr lang="en-US" sz="2800" b="0" dirty="0"/>
              <a:t>A spiral model is divided into 6</a:t>
            </a:r>
            <a:r>
              <a:rPr lang="en-US" sz="2800" b="0" dirty="0" smtClean="0"/>
              <a:t> </a:t>
            </a:r>
            <a:r>
              <a:rPr lang="en-US" sz="2800" b="0" dirty="0"/>
              <a:t>framework </a:t>
            </a:r>
            <a:r>
              <a:rPr lang="en-US" sz="2800" b="0" dirty="0" smtClean="0"/>
              <a:t>activities</a:t>
            </a:r>
          </a:p>
          <a:p>
            <a:pPr lvl="1"/>
            <a:r>
              <a:rPr lang="en-US" sz="2800" dirty="0"/>
              <a:t>Customer </a:t>
            </a:r>
            <a:r>
              <a:rPr lang="en-US" sz="2800" dirty="0" smtClean="0"/>
              <a:t>communication </a:t>
            </a:r>
            <a:r>
              <a:rPr lang="en-US" sz="2800" b="0" dirty="0" smtClean="0"/>
              <a:t>- tasks </a:t>
            </a:r>
            <a:r>
              <a:rPr lang="en-US" sz="2800" b="0" dirty="0"/>
              <a:t>required to establish effective </a:t>
            </a:r>
            <a:r>
              <a:rPr lang="en-US" sz="2800" b="0" dirty="0" smtClean="0"/>
              <a:t>communication between </a:t>
            </a:r>
            <a:r>
              <a:rPr lang="en-US" sz="2800" b="0" dirty="0"/>
              <a:t>developer and customer.</a:t>
            </a:r>
          </a:p>
          <a:p>
            <a:pPr lvl="1"/>
            <a:r>
              <a:rPr lang="en-US" sz="2800" dirty="0" smtClean="0"/>
              <a:t>Planning</a:t>
            </a:r>
            <a:r>
              <a:rPr lang="en-US" sz="2800" b="0" dirty="0"/>
              <a:t> </a:t>
            </a:r>
            <a:r>
              <a:rPr lang="en-US" sz="2800" b="0" dirty="0" smtClean="0"/>
              <a:t>- tasks </a:t>
            </a:r>
            <a:r>
              <a:rPr lang="en-US" sz="2800" b="0" dirty="0"/>
              <a:t>required to define resources, timelines, and other </a:t>
            </a:r>
            <a:r>
              <a:rPr lang="en-US" sz="2800" b="0" dirty="0" smtClean="0"/>
              <a:t>project related information</a:t>
            </a:r>
            <a:r>
              <a:rPr lang="en-US" sz="2800" b="0" dirty="0"/>
              <a:t>.</a:t>
            </a:r>
          </a:p>
          <a:p>
            <a:pPr lvl="1"/>
            <a:r>
              <a:rPr lang="en-US" sz="2800" dirty="0" smtClean="0"/>
              <a:t>Risk analysis</a:t>
            </a:r>
            <a:r>
              <a:rPr lang="en-US" sz="2800" b="0" dirty="0"/>
              <a:t> </a:t>
            </a:r>
            <a:r>
              <a:rPr lang="en-US" sz="2800" b="0" dirty="0" smtClean="0"/>
              <a:t>- tasks </a:t>
            </a:r>
            <a:r>
              <a:rPr lang="en-US" sz="2800" b="0" dirty="0"/>
              <a:t>required to assess both technical and </a:t>
            </a:r>
            <a:r>
              <a:rPr lang="en-US" sz="2800" b="0" dirty="0" smtClean="0"/>
              <a:t>management risks.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42699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077703"/>
          </a:xfrm>
        </p:spPr>
        <p:txBody>
          <a:bodyPr/>
          <a:lstStyle/>
          <a:p>
            <a:pPr lvl="1"/>
            <a:r>
              <a:rPr lang="en-US" sz="2800" dirty="0"/>
              <a:t>Engineering</a:t>
            </a:r>
            <a:r>
              <a:rPr lang="en-US" sz="2800" b="0" dirty="0"/>
              <a:t> - tasks required to build one or more representations of the application.</a:t>
            </a:r>
          </a:p>
          <a:p>
            <a:pPr lvl="1"/>
            <a:r>
              <a:rPr lang="en-US" sz="2800" dirty="0"/>
              <a:t>Construction and release</a:t>
            </a:r>
            <a:r>
              <a:rPr lang="en-US" sz="2800" b="0" dirty="0"/>
              <a:t> - tasks required to construct, test, install, and provide user support (e.g., documentation and training).</a:t>
            </a:r>
          </a:p>
          <a:p>
            <a:pPr lvl="1"/>
            <a:r>
              <a:rPr lang="en-US" sz="2800" dirty="0"/>
              <a:t>Customer evaluation</a:t>
            </a:r>
            <a:r>
              <a:rPr lang="en-US" sz="2800" b="0" dirty="0"/>
              <a:t> - tasks required to obtain customer feedback based on evaluation of the software representations created during the engineering stage and implemented during the installation stage.</a:t>
            </a:r>
          </a:p>
        </p:txBody>
      </p:sp>
    </p:spTree>
    <p:extLst>
      <p:ext uri="{BB962C8B-B14F-4D97-AF65-F5344CB8AC3E}">
        <p14:creationId xmlns:p14="http://schemas.microsoft.com/office/powerpoint/2010/main" val="39851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838200"/>
            <a:ext cx="8610600" cy="5638800"/>
          </a:xfrm>
        </p:spPr>
        <p:txBody>
          <a:bodyPr/>
          <a:lstStyle/>
          <a:p>
            <a:r>
              <a:rPr lang="en-US" sz="2800" b="0" dirty="0" smtClean="0"/>
              <a:t>Beginning </a:t>
            </a:r>
            <a:r>
              <a:rPr lang="en-US" sz="2800" b="0" dirty="0"/>
              <a:t>at the </a:t>
            </a:r>
            <a:r>
              <a:rPr lang="en-US" sz="2800" b="0" dirty="0" smtClean="0"/>
              <a:t>center, moves around the </a:t>
            </a:r>
            <a:r>
              <a:rPr lang="en-US" sz="2800" b="0" dirty="0"/>
              <a:t>spiral in a clockwise </a:t>
            </a:r>
            <a:r>
              <a:rPr lang="en-US" sz="2800" b="0" dirty="0" smtClean="0"/>
              <a:t>direction</a:t>
            </a:r>
          </a:p>
          <a:p>
            <a:r>
              <a:rPr lang="en-US" sz="2800" b="0" dirty="0" smtClean="0"/>
              <a:t>The </a:t>
            </a:r>
            <a:r>
              <a:rPr lang="en-US" sz="2800" b="0" dirty="0"/>
              <a:t>first circuit </a:t>
            </a:r>
            <a:r>
              <a:rPr lang="en-US" sz="2800" b="0" dirty="0" smtClean="0"/>
              <a:t>might </a:t>
            </a:r>
            <a:r>
              <a:rPr lang="en-US" sz="2800" b="0" dirty="0"/>
              <a:t>result in the development of a product specification; </a:t>
            </a:r>
            <a:r>
              <a:rPr lang="en-US" sz="2800" b="0" dirty="0" smtClean="0"/>
              <a:t>subsequent passes might </a:t>
            </a:r>
            <a:r>
              <a:rPr lang="en-US" sz="2800" b="0" dirty="0"/>
              <a:t>be used to develop a </a:t>
            </a:r>
            <a:r>
              <a:rPr lang="en-US" sz="2800" b="0" dirty="0" smtClean="0"/>
              <a:t>prototype, then progressively more </a:t>
            </a:r>
            <a:r>
              <a:rPr lang="en-US" sz="2800" b="0" dirty="0"/>
              <a:t>sophisticated versions of the </a:t>
            </a:r>
            <a:r>
              <a:rPr lang="en-US" sz="2800" b="0" dirty="0" smtClean="0"/>
              <a:t>software</a:t>
            </a:r>
          </a:p>
          <a:p>
            <a:r>
              <a:rPr lang="en-US" sz="2800" b="0" dirty="0" smtClean="0"/>
              <a:t>Each </a:t>
            </a:r>
            <a:r>
              <a:rPr lang="en-US" sz="2800" b="0" dirty="0"/>
              <a:t>pass through the planning </a:t>
            </a:r>
            <a:r>
              <a:rPr lang="en-US" sz="2800" b="0" dirty="0" smtClean="0"/>
              <a:t>region results </a:t>
            </a:r>
            <a:r>
              <a:rPr lang="en-US" sz="2800" b="0" dirty="0"/>
              <a:t>in adjustments to the project plan. Cost and schedule are adjusted based </a:t>
            </a:r>
            <a:r>
              <a:rPr lang="en-US" sz="2800" b="0" dirty="0" smtClean="0"/>
              <a:t>on feedback from customer</a:t>
            </a:r>
          </a:p>
          <a:p>
            <a:r>
              <a:rPr lang="en-US" sz="2800" b="0" dirty="0" smtClean="0"/>
              <a:t>In </a:t>
            </a:r>
            <a:r>
              <a:rPr lang="en-US" sz="2800" b="0" dirty="0"/>
              <a:t>addition, the project manager </a:t>
            </a:r>
            <a:r>
              <a:rPr lang="en-US" sz="2800" b="0" dirty="0" smtClean="0"/>
              <a:t>adjusts the </a:t>
            </a:r>
            <a:r>
              <a:rPr lang="en-US" sz="2800" b="0" dirty="0"/>
              <a:t>planned number of iterations required to complete the </a:t>
            </a:r>
            <a:r>
              <a:rPr lang="en-US" sz="2800" b="0" dirty="0" smtClean="0"/>
              <a:t>software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237039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358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Each cube placed along the axis can be used to </a:t>
            </a:r>
            <a:r>
              <a:rPr lang="en-US" b="0" dirty="0" smtClean="0"/>
              <a:t>represent the </a:t>
            </a:r>
            <a:r>
              <a:rPr lang="en-US" b="0" dirty="0"/>
              <a:t>starting point for different types of projects. </a:t>
            </a:r>
            <a:endParaRPr lang="en-US" b="0" dirty="0" smtClean="0"/>
          </a:p>
          <a:p>
            <a:r>
              <a:rPr lang="en-US" b="0" dirty="0" smtClean="0"/>
              <a:t>A </a:t>
            </a:r>
            <a:r>
              <a:rPr lang="en-US" b="0" dirty="0"/>
              <a:t>“concept </a:t>
            </a:r>
            <a:r>
              <a:rPr lang="en-US" b="0" dirty="0" smtClean="0"/>
              <a:t>development </a:t>
            </a:r>
            <a:r>
              <a:rPr lang="en-US" b="0" dirty="0"/>
              <a:t>project” starts at the core of the spiral and will </a:t>
            </a:r>
            <a:r>
              <a:rPr lang="en-US" b="0" dirty="0" smtClean="0"/>
              <a:t>until </a:t>
            </a:r>
            <a:r>
              <a:rPr lang="en-US" b="0" dirty="0"/>
              <a:t>concept </a:t>
            </a:r>
            <a:r>
              <a:rPr lang="en-US" b="0" dirty="0" smtClean="0"/>
              <a:t>development is </a:t>
            </a:r>
            <a:r>
              <a:rPr lang="en-US" b="0" dirty="0"/>
              <a:t>complete. </a:t>
            </a:r>
            <a:endParaRPr lang="en-US" b="0" dirty="0" smtClean="0"/>
          </a:p>
          <a:p>
            <a:r>
              <a:rPr lang="en-US" b="0" dirty="0" smtClean="0"/>
              <a:t>If </a:t>
            </a:r>
            <a:r>
              <a:rPr lang="en-US" b="0" dirty="0"/>
              <a:t>the concept is to be developed into an actual product, the </a:t>
            </a:r>
            <a:r>
              <a:rPr lang="en-US" b="0" dirty="0" smtClean="0"/>
              <a:t>process proceeds </a:t>
            </a:r>
            <a:r>
              <a:rPr lang="en-US" b="0" dirty="0"/>
              <a:t>through the next cube (new product development project entry point) </a:t>
            </a:r>
            <a:r>
              <a:rPr lang="en-US" b="0" dirty="0" smtClean="0"/>
              <a:t>and a </a:t>
            </a:r>
            <a:r>
              <a:rPr lang="en-US" b="0" dirty="0"/>
              <a:t>“new development project” is initiated. </a:t>
            </a: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373514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325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 </a:t>
            </a:r>
            <a:r>
              <a:rPr lang="fr-FR" sz="3600" dirty="0" err="1" smtClean="0"/>
              <a:t>Advantages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spiral model is a realistic approach to the development of large-scale </a:t>
            </a:r>
            <a:r>
              <a:rPr lang="en-US" b="0" dirty="0" smtClean="0"/>
              <a:t>systems and </a:t>
            </a:r>
            <a:r>
              <a:rPr lang="en-US" b="0" dirty="0"/>
              <a:t>software. </a:t>
            </a:r>
            <a:endParaRPr lang="en-US" b="0" dirty="0" smtClean="0"/>
          </a:p>
          <a:p>
            <a:r>
              <a:rPr lang="en-US" b="0" dirty="0" smtClean="0"/>
              <a:t>The </a:t>
            </a:r>
            <a:r>
              <a:rPr lang="en-US" b="0" dirty="0"/>
              <a:t>spiral </a:t>
            </a:r>
            <a:r>
              <a:rPr lang="en-US" b="0" dirty="0" smtClean="0"/>
              <a:t>model uses </a:t>
            </a:r>
            <a:r>
              <a:rPr lang="en-US" b="0" dirty="0"/>
              <a:t>prototyping as a risk reduction </a:t>
            </a:r>
            <a:r>
              <a:rPr lang="en-US" b="0" dirty="0" smtClean="0"/>
              <a:t>mechanism, </a:t>
            </a:r>
            <a:r>
              <a:rPr lang="en-US" b="0" dirty="0"/>
              <a:t>enables the </a:t>
            </a:r>
            <a:r>
              <a:rPr lang="en-US" b="0" dirty="0" smtClean="0"/>
              <a:t>developer to </a:t>
            </a:r>
            <a:r>
              <a:rPr lang="en-US" b="0" dirty="0"/>
              <a:t>apply the prototyping approach at any stage in the evolution of the product. </a:t>
            </a:r>
            <a:endParaRPr lang="en-US" b="0" dirty="0" smtClean="0"/>
          </a:p>
          <a:p>
            <a:r>
              <a:rPr lang="en-US" b="0" dirty="0" smtClean="0"/>
              <a:t>The spiral </a:t>
            </a:r>
            <a:r>
              <a:rPr lang="en-US" b="0" dirty="0"/>
              <a:t>model demands a direct consideration of technical risks at all stages of the </a:t>
            </a:r>
            <a:r>
              <a:rPr lang="en-US" b="0" dirty="0" smtClean="0"/>
              <a:t>project and</a:t>
            </a:r>
            <a:r>
              <a:rPr lang="en-US" b="0" dirty="0"/>
              <a:t>, if properly applied, should reduce risks before they become problematic.</a:t>
            </a:r>
          </a:p>
        </p:txBody>
      </p:sp>
    </p:spTree>
    <p:extLst>
      <p:ext uri="{BB962C8B-B14F-4D97-AF65-F5344CB8AC3E}">
        <p14:creationId xmlns:p14="http://schemas.microsoft.com/office/powerpoint/2010/main" val="80093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39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Spiral Model </a:t>
            </a:r>
            <a:r>
              <a:rPr lang="fr-FR" sz="3600" dirty="0" err="1" smtClean="0"/>
              <a:t>Disadvantages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It may be difficult </a:t>
            </a:r>
            <a:r>
              <a:rPr lang="en-US" b="0" dirty="0" smtClean="0"/>
              <a:t>to convince </a:t>
            </a:r>
            <a:r>
              <a:rPr lang="en-US" b="0" dirty="0"/>
              <a:t>customers (particularly in contract situations) that the evolutionary </a:t>
            </a:r>
            <a:r>
              <a:rPr lang="en-US" b="0" dirty="0" smtClean="0"/>
              <a:t>approach is controllable</a:t>
            </a:r>
          </a:p>
          <a:p>
            <a:r>
              <a:rPr lang="en-US" b="0" dirty="0" smtClean="0"/>
              <a:t>It </a:t>
            </a:r>
            <a:r>
              <a:rPr lang="en-US" b="0" dirty="0"/>
              <a:t>demands considerable risk assessment expertise and relies on </a:t>
            </a:r>
            <a:r>
              <a:rPr lang="en-US" b="0" dirty="0" smtClean="0"/>
              <a:t>this expertise </a:t>
            </a:r>
            <a:r>
              <a:rPr lang="en-US" b="0" dirty="0"/>
              <a:t>for success. If a major risk is not uncovered and managed, problems </a:t>
            </a:r>
            <a:r>
              <a:rPr lang="en-US" b="0" dirty="0" smtClean="0"/>
              <a:t>will undoubtedly occur</a:t>
            </a:r>
          </a:p>
        </p:txBody>
      </p:sp>
    </p:spTree>
    <p:extLst>
      <p:ext uri="{BB962C8B-B14F-4D97-AF65-F5344CB8AC3E}">
        <p14:creationId xmlns:p14="http://schemas.microsoft.com/office/powerpoint/2010/main" val="280094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248862" cy="777600"/>
          </a:xfrm>
        </p:spPr>
        <p:txBody>
          <a:bodyPr wrap="square">
            <a:noAutofit/>
          </a:bodyPr>
          <a:lstStyle/>
          <a:p>
            <a:r>
              <a:rPr lang="en-US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oftware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</a:t>
            </a:r>
            <a:r>
              <a:rPr lang="fr-FR" sz="3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84714" y="10668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smtClean="0"/>
              <a:t>Model VI</a:t>
            </a:r>
          </a:p>
          <a:p>
            <a:pPr marL="0" indent="0" algn="ctr">
              <a:buNone/>
            </a:pPr>
            <a:r>
              <a:rPr lang="fr-FR" sz="5400" dirty="0" err="1" smtClean="0"/>
              <a:t>Fourth</a:t>
            </a:r>
            <a:r>
              <a:rPr lang="fr-FR" sz="5400" dirty="0" smtClean="0"/>
              <a:t> </a:t>
            </a:r>
            <a:r>
              <a:rPr lang="fr-FR" sz="5400" dirty="0" err="1" smtClean="0"/>
              <a:t>Generation</a:t>
            </a:r>
            <a:r>
              <a:rPr lang="fr-FR" sz="5400" dirty="0" smtClean="0"/>
              <a:t> Techniques (4GT)</a:t>
            </a:r>
            <a:endParaRPr lang="fr-FR" sz="5400" dirty="0"/>
          </a:p>
          <a:p>
            <a:pPr lvl="2"/>
            <a:endParaRPr lang="fr-FR" sz="5400" dirty="0">
              <a:ea typeface="+mn-ea"/>
              <a:cs typeface="+mn-cs"/>
            </a:endParaRPr>
          </a:p>
          <a:p>
            <a:r>
              <a:rPr lang="en-US" sz="2800" b="0" dirty="0" smtClean="0"/>
              <a:t>The paradigm</a:t>
            </a:r>
          </a:p>
          <a:p>
            <a:r>
              <a:rPr lang="en-US" sz="2800" b="0" dirty="0" smtClean="0"/>
              <a:t>Advantages and disadvantages of the model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8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849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Fourth</a:t>
            </a:r>
            <a:r>
              <a:rPr lang="fr-FR" sz="3600" dirty="0" smtClean="0"/>
              <a:t> </a:t>
            </a:r>
            <a:r>
              <a:rPr lang="fr-FR" sz="3600" dirty="0" err="1" smtClean="0"/>
              <a:t>Generation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4GT </a:t>
            </a:r>
            <a:r>
              <a:rPr lang="en-US" b="0" dirty="0"/>
              <a:t>encompasses a broad array of </a:t>
            </a:r>
            <a:r>
              <a:rPr lang="en-US" b="0" dirty="0" smtClean="0"/>
              <a:t>software tools </a:t>
            </a:r>
            <a:r>
              <a:rPr lang="en-US" b="0" dirty="0"/>
              <a:t>that have one thing in common: each enables the software </a:t>
            </a:r>
            <a:r>
              <a:rPr lang="en-US" b="0" dirty="0" smtClean="0"/>
              <a:t>engineer to </a:t>
            </a:r>
            <a:r>
              <a:rPr lang="en-US" b="0" dirty="0"/>
              <a:t>specify some characteristic of software at a high </a:t>
            </a:r>
            <a:r>
              <a:rPr lang="en-US" b="0" dirty="0" smtClean="0"/>
              <a:t>level, then the </a:t>
            </a:r>
            <a:r>
              <a:rPr lang="en-US" b="0" dirty="0"/>
              <a:t>tool </a:t>
            </a:r>
            <a:r>
              <a:rPr lang="en-US" b="0" dirty="0" smtClean="0"/>
              <a:t>automatically generates </a:t>
            </a:r>
            <a:r>
              <a:rPr lang="en-US" b="0" dirty="0"/>
              <a:t>source code based on the developer's specification</a:t>
            </a:r>
            <a:r>
              <a:rPr lang="en-US" b="0" dirty="0" smtClean="0"/>
              <a:t>.</a:t>
            </a:r>
          </a:p>
          <a:p>
            <a:pPr marL="0" indent="0">
              <a:buNone/>
            </a:pPr>
            <a:endParaRPr lang="en-US" b="0" dirty="0" smtClean="0"/>
          </a:p>
          <a:p>
            <a:r>
              <a:rPr lang="en-US" b="0" dirty="0"/>
              <a:t>4GT </a:t>
            </a:r>
            <a:r>
              <a:rPr lang="en-US" b="0" dirty="0" smtClean="0"/>
              <a:t>paradigm focuses </a:t>
            </a:r>
            <a:r>
              <a:rPr lang="en-US" b="0" dirty="0"/>
              <a:t>on the ability to specify software using </a:t>
            </a:r>
            <a:r>
              <a:rPr lang="en-US" b="0" i="1" dirty="0"/>
              <a:t>specialized language</a:t>
            </a:r>
            <a:r>
              <a:rPr lang="en-US" b="0" dirty="0"/>
              <a:t> </a:t>
            </a:r>
            <a:r>
              <a:rPr lang="en-US" b="0" i="1" dirty="0"/>
              <a:t>forms</a:t>
            </a:r>
            <a:r>
              <a:rPr lang="en-US" b="0" dirty="0"/>
              <a:t> or </a:t>
            </a:r>
            <a:r>
              <a:rPr lang="en-US" b="0" dirty="0" smtClean="0"/>
              <a:t>a </a:t>
            </a:r>
            <a:r>
              <a:rPr lang="en-US" b="0" i="1" dirty="0" smtClean="0"/>
              <a:t>graphic </a:t>
            </a:r>
            <a:r>
              <a:rPr lang="en-US" b="0" i="1" dirty="0"/>
              <a:t>notation </a:t>
            </a:r>
            <a:r>
              <a:rPr lang="en-US" b="0" dirty="0"/>
              <a:t>that describes the problem to be solved in terms that the </a:t>
            </a:r>
            <a:r>
              <a:rPr lang="en-US" b="0" dirty="0" smtClean="0"/>
              <a:t>customer can </a:t>
            </a:r>
            <a:r>
              <a:rPr lang="en-US" b="0" dirty="0"/>
              <a:t>understand.</a:t>
            </a: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173890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849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Fourth</a:t>
            </a:r>
            <a:r>
              <a:rPr lang="fr-FR" sz="3600" dirty="0" smtClean="0"/>
              <a:t> </a:t>
            </a:r>
            <a:r>
              <a:rPr lang="fr-FR" sz="3600" dirty="0" err="1" smtClean="0"/>
              <a:t>Generation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</a:t>
            </a:r>
            <a:r>
              <a:rPr lang="en-US" b="0" dirty="0" smtClean="0"/>
              <a:t> </a:t>
            </a:r>
            <a:r>
              <a:rPr lang="en-US" b="0" dirty="0"/>
              <a:t>software development environment that supports the 4GT </a:t>
            </a:r>
            <a:r>
              <a:rPr lang="en-US" b="0" dirty="0" smtClean="0"/>
              <a:t>paradigm includes </a:t>
            </a:r>
            <a:r>
              <a:rPr lang="en-US" b="0" dirty="0"/>
              <a:t>some or all of the following tools: </a:t>
            </a:r>
            <a:endParaRPr lang="en-US" b="0" dirty="0" smtClean="0"/>
          </a:p>
          <a:p>
            <a:pPr lvl="1"/>
            <a:r>
              <a:rPr lang="en-US" b="0" dirty="0" smtClean="0"/>
              <a:t>nonprocedural </a:t>
            </a:r>
            <a:r>
              <a:rPr lang="en-US" b="0" dirty="0"/>
              <a:t>languages for </a:t>
            </a:r>
            <a:r>
              <a:rPr lang="en-US" b="0" dirty="0" smtClean="0"/>
              <a:t>database query,</a:t>
            </a:r>
          </a:p>
          <a:p>
            <a:pPr lvl="1"/>
            <a:r>
              <a:rPr lang="en-US" b="0" dirty="0" smtClean="0"/>
              <a:t>report </a:t>
            </a:r>
            <a:r>
              <a:rPr lang="en-US" b="0" dirty="0"/>
              <a:t>generation, </a:t>
            </a:r>
            <a:endParaRPr lang="en-US" b="0" dirty="0" smtClean="0"/>
          </a:p>
          <a:p>
            <a:pPr lvl="1"/>
            <a:r>
              <a:rPr lang="en-US" b="0" dirty="0" smtClean="0"/>
              <a:t>data manipulation, </a:t>
            </a:r>
          </a:p>
          <a:p>
            <a:pPr lvl="1"/>
            <a:r>
              <a:rPr lang="en-US" b="0" dirty="0" smtClean="0"/>
              <a:t>screen interaction </a:t>
            </a:r>
            <a:r>
              <a:rPr lang="en-US" b="0" dirty="0"/>
              <a:t>and definition</a:t>
            </a:r>
            <a:r>
              <a:rPr lang="en-US" b="0" dirty="0" smtClean="0"/>
              <a:t>,</a:t>
            </a:r>
          </a:p>
          <a:p>
            <a:pPr lvl="1"/>
            <a:r>
              <a:rPr lang="en-US" b="0" dirty="0" smtClean="0"/>
              <a:t>code generation;</a:t>
            </a:r>
          </a:p>
          <a:p>
            <a:r>
              <a:rPr lang="en-US" b="0" dirty="0" smtClean="0"/>
              <a:t>4GT tools have high-level </a:t>
            </a:r>
            <a:r>
              <a:rPr lang="en-US" b="0" dirty="0"/>
              <a:t>graphics capability; spreadsheet capability, and </a:t>
            </a:r>
            <a:r>
              <a:rPr lang="en-US" b="0" dirty="0" smtClean="0"/>
              <a:t>automated generation </a:t>
            </a:r>
            <a:r>
              <a:rPr lang="en-US" b="0" dirty="0"/>
              <a:t>of HTML and similar languages used for Web-site creation using </a:t>
            </a:r>
            <a:r>
              <a:rPr lang="en-US" b="0" dirty="0" smtClean="0"/>
              <a:t>advanced software </a:t>
            </a:r>
            <a:r>
              <a:rPr lang="en-US" b="0" dirty="0"/>
              <a:t>tools.</a:t>
            </a: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228928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849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Fourth</a:t>
            </a:r>
            <a:r>
              <a:rPr lang="fr-FR" sz="3600" dirty="0" smtClean="0"/>
              <a:t> </a:t>
            </a:r>
            <a:r>
              <a:rPr lang="fr-FR" sz="3600" dirty="0" err="1" smtClean="0"/>
              <a:t>Generation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4GT begins with a requirements gathering step. </a:t>
            </a:r>
            <a:endParaRPr lang="en-US" b="0" dirty="0" smtClean="0"/>
          </a:p>
          <a:p>
            <a:r>
              <a:rPr lang="en-US" b="0" dirty="0"/>
              <a:t>For small applications, it may be possible to move directly from the </a:t>
            </a:r>
            <a:r>
              <a:rPr lang="en-US" b="0" dirty="0" smtClean="0"/>
              <a:t>requirements gathering </a:t>
            </a:r>
            <a:r>
              <a:rPr lang="en-US" b="0" dirty="0"/>
              <a:t>step to implementation using a nonprocedural </a:t>
            </a:r>
            <a:r>
              <a:rPr lang="en-US" b="0" dirty="0">
                <a:solidFill>
                  <a:srgbClr val="FF0000"/>
                </a:solidFill>
              </a:rPr>
              <a:t>fourth generation </a:t>
            </a:r>
            <a:r>
              <a:rPr lang="en-US" b="0" dirty="0" smtClean="0">
                <a:solidFill>
                  <a:srgbClr val="FF0000"/>
                </a:solidFill>
              </a:rPr>
              <a:t>language (4GL</a:t>
            </a:r>
            <a:r>
              <a:rPr lang="en-US" b="0" dirty="0">
                <a:solidFill>
                  <a:srgbClr val="FF0000"/>
                </a:solidFill>
              </a:rPr>
              <a:t>)</a:t>
            </a:r>
            <a:r>
              <a:rPr lang="en-US" b="0" dirty="0"/>
              <a:t> or a model composed of a network of graphical icons. </a:t>
            </a:r>
            <a:endParaRPr lang="en-US" b="0" dirty="0" smtClean="0"/>
          </a:p>
          <a:p>
            <a:r>
              <a:rPr lang="en-US" b="0" dirty="0" smtClean="0"/>
              <a:t>For larger efforts</a:t>
            </a:r>
            <a:r>
              <a:rPr lang="en-US" b="0" dirty="0"/>
              <a:t>, it is necessary to develop a design strategy for the system, even if a 4GL is </a:t>
            </a:r>
            <a:r>
              <a:rPr lang="en-US" b="0" dirty="0" smtClean="0"/>
              <a:t>to be </a:t>
            </a:r>
            <a:r>
              <a:rPr lang="en-US" b="0" dirty="0"/>
              <a:t>used. The use of 4GT without design (for large projects) will cause the </a:t>
            </a:r>
            <a:r>
              <a:rPr lang="en-US" b="0" dirty="0" smtClean="0"/>
              <a:t>difficulties (poor </a:t>
            </a:r>
            <a:r>
              <a:rPr lang="en-US" b="0" dirty="0"/>
              <a:t>quality, poor maintainability, poor customer acceptance</a:t>
            </a:r>
            <a:r>
              <a:rPr lang="en-US" b="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1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849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Fourth</a:t>
            </a:r>
            <a:r>
              <a:rPr lang="fr-FR" sz="3600" dirty="0" smtClean="0"/>
              <a:t> </a:t>
            </a:r>
            <a:r>
              <a:rPr lang="fr-FR" sz="3600" dirty="0" err="1" smtClean="0"/>
              <a:t>Generation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To transform a 4GT implementation into a product, the developer must </a:t>
            </a:r>
            <a:endParaRPr lang="en-US" b="0" dirty="0" smtClean="0"/>
          </a:p>
          <a:p>
            <a:pPr lvl="1"/>
            <a:r>
              <a:rPr lang="en-US" sz="2400" b="0"/>
              <a:t>c</a:t>
            </a:r>
            <a:r>
              <a:rPr lang="en-US" sz="2400" b="0" smtClean="0"/>
              <a:t>onduct through </a:t>
            </a:r>
            <a:r>
              <a:rPr lang="en-US" sz="2400" b="0" dirty="0"/>
              <a:t>testing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develop </a:t>
            </a:r>
            <a:r>
              <a:rPr lang="en-US" sz="2400" b="0" dirty="0"/>
              <a:t>meaningful documentation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perform all other </a:t>
            </a:r>
            <a:r>
              <a:rPr lang="en-US" sz="2400" b="0" dirty="0" smtClean="0"/>
              <a:t>solution integration </a:t>
            </a:r>
            <a:r>
              <a:rPr lang="en-US" sz="2400" b="0" dirty="0"/>
              <a:t>activities </a:t>
            </a:r>
            <a:endParaRPr lang="en-US" sz="2400" b="0" dirty="0" smtClean="0"/>
          </a:p>
          <a:p>
            <a:pPr marL="442912" lvl="1" indent="0">
              <a:buNone/>
            </a:pPr>
            <a:endParaRPr lang="en-US" b="0" dirty="0" smtClean="0"/>
          </a:p>
          <a:p>
            <a:r>
              <a:rPr lang="en-US" b="0" dirty="0"/>
              <a:t>T</a:t>
            </a:r>
            <a:r>
              <a:rPr lang="en-US" b="0" dirty="0" smtClean="0"/>
              <a:t>he </a:t>
            </a:r>
            <a:r>
              <a:rPr lang="en-US" b="0" dirty="0"/>
              <a:t>4GT developed software must be built in a manner that enables </a:t>
            </a:r>
            <a:r>
              <a:rPr lang="en-US" b="0" dirty="0" smtClean="0"/>
              <a:t>maintenance to </a:t>
            </a:r>
            <a:r>
              <a:rPr lang="en-US" b="0" dirty="0"/>
              <a:t>be performed expeditiously.</a:t>
            </a: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206185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496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4GT </a:t>
            </a:r>
            <a:r>
              <a:rPr lang="fr-FR" sz="3600" dirty="0" err="1" smtClean="0"/>
              <a:t>Advantages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The </a:t>
            </a:r>
            <a:r>
              <a:rPr lang="en-US" b="0" dirty="0"/>
              <a:t>use of 4GT is a viable approach for many different application </a:t>
            </a:r>
            <a:r>
              <a:rPr lang="en-US" b="0" dirty="0" smtClean="0"/>
              <a:t>areas. Coupled </a:t>
            </a:r>
            <a:r>
              <a:rPr lang="en-US" b="0" dirty="0"/>
              <a:t>with computer-aided software engineering tools and code </a:t>
            </a:r>
            <a:r>
              <a:rPr lang="en-US" b="0" dirty="0" smtClean="0"/>
              <a:t>generators, 4GT </a:t>
            </a:r>
            <a:r>
              <a:rPr lang="en-US" b="0" dirty="0"/>
              <a:t>offers a credible solution to many software problems.</a:t>
            </a:r>
          </a:p>
          <a:p>
            <a:r>
              <a:rPr lang="en-US" b="0" dirty="0" smtClean="0"/>
              <a:t>Data </a:t>
            </a:r>
            <a:r>
              <a:rPr lang="en-US" b="0" dirty="0"/>
              <a:t>collected from companies that use 4GT indicate that the time </a:t>
            </a:r>
            <a:r>
              <a:rPr lang="en-US" b="0" dirty="0" smtClean="0"/>
              <a:t>required to </a:t>
            </a:r>
            <a:r>
              <a:rPr lang="en-US" b="0" dirty="0"/>
              <a:t>produce software is greatly reduced for small and intermediate </a:t>
            </a:r>
            <a:r>
              <a:rPr lang="en-US" b="0" dirty="0" smtClean="0"/>
              <a:t>applications, and </a:t>
            </a:r>
            <a:r>
              <a:rPr lang="en-US" b="0" dirty="0"/>
              <a:t>that the amount of design and analysis for small applications </a:t>
            </a:r>
            <a:r>
              <a:rPr lang="en-US" b="0" dirty="0" smtClean="0"/>
              <a:t>is also </a:t>
            </a:r>
            <a:r>
              <a:rPr lang="en-US" b="0" dirty="0"/>
              <a:t>reduced.</a:t>
            </a:r>
            <a:endParaRPr lang="en-US" b="0" dirty="0" smtClean="0"/>
          </a:p>
          <a:p>
            <a:pPr marL="0" indent="0">
              <a:buNone/>
            </a:pPr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179825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563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4GT </a:t>
            </a:r>
            <a:r>
              <a:rPr lang="fr-FR" sz="3600" dirty="0" err="1" smtClean="0"/>
              <a:t>Disadvantages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C</a:t>
            </a:r>
            <a:r>
              <a:rPr lang="en-US" b="0" dirty="0" smtClean="0"/>
              <a:t>urrent </a:t>
            </a:r>
            <a:r>
              <a:rPr lang="en-US" b="0" dirty="0"/>
              <a:t>4GT tools are not </a:t>
            </a:r>
            <a:r>
              <a:rPr lang="en-US" b="0" dirty="0" smtClean="0"/>
              <a:t>much </a:t>
            </a:r>
            <a:r>
              <a:rPr lang="en-US" b="0" dirty="0"/>
              <a:t>easier to use than programming </a:t>
            </a:r>
            <a:r>
              <a:rPr lang="en-US" b="0" dirty="0" smtClean="0"/>
              <a:t>languages, the </a:t>
            </a:r>
            <a:r>
              <a:rPr lang="en-US" b="0" dirty="0"/>
              <a:t>resultant source code produced by such tools is "inefficient," </a:t>
            </a:r>
            <a:r>
              <a:rPr lang="en-US" b="0" dirty="0" smtClean="0"/>
              <a:t>and the maintainability </a:t>
            </a:r>
            <a:r>
              <a:rPr lang="en-US" b="0" dirty="0"/>
              <a:t>of large software systems developed using 4GT is open to question</a:t>
            </a:r>
            <a:r>
              <a:rPr lang="en-US" b="0" dirty="0" smtClean="0"/>
              <a:t>.</a:t>
            </a:r>
          </a:p>
          <a:p>
            <a:r>
              <a:rPr lang="en-US" b="0" dirty="0"/>
              <a:t>T</a:t>
            </a:r>
            <a:r>
              <a:rPr lang="en-US" b="0" dirty="0" smtClean="0"/>
              <a:t>he </a:t>
            </a:r>
            <a:r>
              <a:rPr lang="en-US" b="0" dirty="0"/>
              <a:t>use of 4GT for large software development efforts </a:t>
            </a:r>
            <a:r>
              <a:rPr lang="en-US" b="0" dirty="0" smtClean="0"/>
              <a:t>demands as </a:t>
            </a:r>
            <a:r>
              <a:rPr lang="en-US" b="0" dirty="0"/>
              <a:t>much or more analysis, design, and testing (software engineering </a:t>
            </a:r>
            <a:r>
              <a:rPr lang="en-US" b="0" dirty="0" smtClean="0"/>
              <a:t>activities) to </a:t>
            </a:r>
            <a:r>
              <a:rPr lang="en-US" b="0" dirty="0"/>
              <a:t>achieve substantial time savings that result from the elimination </a:t>
            </a:r>
            <a:r>
              <a:rPr lang="en-US" b="0" dirty="0" smtClean="0"/>
              <a:t>of coding</a:t>
            </a:r>
            <a:r>
              <a:rPr lang="en-US" b="0" dirty="0"/>
              <a:t>.</a:t>
            </a:r>
            <a:endParaRPr lang="en-US" b="0" dirty="0" smtClean="0"/>
          </a:p>
          <a:p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247388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515062" cy="777600"/>
          </a:xfrm>
        </p:spPr>
        <p:txBody>
          <a:bodyPr wrap="square">
            <a:noAutofit/>
          </a:bodyPr>
          <a:lstStyle/>
          <a:p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8382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err="1" smtClean="0"/>
              <a:t>Chapter</a:t>
            </a:r>
            <a:r>
              <a:rPr lang="fr-FR" sz="5400" dirty="0" smtClean="0"/>
              <a:t> II</a:t>
            </a:r>
          </a:p>
          <a:p>
            <a:pPr marL="0" indent="0" algn="ctr">
              <a:buNone/>
            </a:pPr>
            <a:r>
              <a:rPr lang="fr-FR" sz="5400" dirty="0" err="1" smtClean="0"/>
              <a:t>Requirements</a:t>
            </a:r>
            <a:r>
              <a:rPr lang="fr-FR" sz="5400" dirty="0" smtClean="0"/>
              <a:t> </a:t>
            </a:r>
            <a:r>
              <a:rPr lang="fr-FR" sz="5400" dirty="0" err="1" smtClean="0"/>
              <a:t>Analysis</a:t>
            </a:r>
            <a:r>
              <a:rPr lang="fr-FR" sz="5400" dirty="0" smtClean="0"/>
              <a:t> &amp; Software </a:t>
            </a:r>
            <a:r>
              <a:rPr lang="fr-FR" sz="5400" dirty="0" err="1" smtClean="0"/>
              <a:t>Specification</a:t>
            </a:r>
            <a:endParaRPr lang="fr-FR" sz="5400" dirty="0" smtClean="0"/>
          </a:p>
          <a:p>
            <a:pPr marL="808038" lvl="2" indent="0">
              <a:buNone/>
            </a:pPr>
            <a:endParaRPr lang="fr-FR" sz="1800" dirty="0" smtClean="0"/>
          </a:p>
          <a:p>
            <a:r>
              <a:rPr lang="en-US" sz="2800" b="0" dirty="0" smtClean="0"/>
              <a:t>Requirements Engineering</a:t>
            </a:r>
          </a:p>
          <a:p>
            <a:r>
              <a:rPr lang="en-US" sz="2800" b="0" dirty="0" smtClean="0"/>
              <a:t>Requirements Analysis</a:t>
            </a:r>
          </a:p>
          <a:p>
            <a:r>
              <a:rPr lang="en-US" sz="2800" b="0" dirty="0" smtClean="0"/>
              <a:t>Analysis Principles</a:t>
            </a:r>
          </a:p>
          <a:p>
            <a:r>
              <a:rPr lang="en-US" sz="2800" b="0" dirty="0" smtClean="0"/>
              <a:t>Software Prototyping</a:t>
            </a:r>
          </a:p>
          <a:p>
            <a:r>
              <a:rPr lang="en-US" sz="2800" b="0" dirty="0" smtClean="0"/>
              <a:t>Specification</a:t>
            </a:r>
          </a:p>
          <a:p>
            <a:endParaRPr lang="en-US" sz="2800" b="0" dirty="0" smtClean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0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706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Engineering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requirements engineering process can be described in five distinct </a:t>
            </a:r>
            <a:r>
              <a:rPr lang="en-US" b="0" dirty="0" smtClean="0"/>
              <a:t>steps:</a:t>
            </a:r>
            <a:endParaRPr lang="en-US" b="0" dirty="0"/>
          </a:p>
          <a:p>
            <a:pPr lvl="1"/>
            <a:r>
              <a:rPr lang="en-US" sz="2800" b="0" dirty="0" smtClean="0"/>
              <a:t>requirements </a:t>
            </a:r>
            <a:r>
              <a:rPr lang="en-US" sz="2800" b="0" dirty="0"/>
              <a:t>elicitation</a:t>
            </a:r>
          </a:p>
          <a:p>
            <a:pPr lvl="1"/>
            <a:r>
              <a:rPr lang="en-US" sz="2800" b="0" dirty="0" smtClean="0"/>
              <a:t>requirements </a:t>
            </a:r>
            <a:r>
              <a:rPr lang="en-US" sz="2800" b="0" dirty="0"/>
              <a:t>analysis and negotiation</a:t>
            </a:r>
          </a:p>
          <a:p>
            <a:pPr lvl="1"/>
            <a:r>
              <a:rPr lang="en-US" sz="2800" b="0" dirty="0" smtClean="0"/>
              <a:t>requirements specification</a:t>
            </a:r>
            <a:endParaRPr lang="en-US" sz="2800" b="0" dirty="0"/>
          </a:p>
          <a:p>
            <a:pPr lvl="1"/>
            <a:r>
              <a:rPr lang="en-US" sz="2800" b="0" dirty="0" smtClean="0"/>
              <a:t>requirements </a:t>
            </a:r>
            <a:r>
              <a:rPr lang="en-US" sz="2800" b="0" dirty="0"/>
              <a:t>validation</a:t>
            </a:r>
          </a:p>
          <a:p>
            <a:pPr lvl="1"/>
            <a:r>
              <a:rPr lang="en-US" sz="2800" b="0" dirty="0" smtClean="0"/>
              <a:t>requirements </a:t>
            </a:r>
            <a:r>
              <a:rPr lang="en-US" sz="2800" b="0" dirty="0"/>
              <a:t>management</a:t>
            </a:r>
            <a:endParaRPr lang="en-US" sz="2800" b="0" dirty="0" smtClean="0"/>
          </a:p>
          <a:p>
            <a:endParaRPr lang="en-US" b="0" dirty="0" smtClean="0"/>
          </a:p>
        </p:txBody>
      </p:sp>
    </p:spTree>
    <p:extLst>
      <p:ext uri="{BB962C8B-B14F-4D97-AF65-F5344CB8AC3E}">
        <p14:creationId xmlns:p14="http://schemas.microsoft.com/office/powerpoint/2010/main" val="8574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325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Elicitation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R</a:t>
            </a:r>
            <a:r>
              <a:rPr lang="en-US" b="0" dirty="0" smtClean="0"/>
              <a:t>equirements </a:t>
            </a:r>
            <a:r>
              <a:rPr lang="en-US" b="0" dirty="0"/>
              <a:t>elicitation is </a:t>
            </a:r>
            <a:r>
              <a:rPr lang="en-US" b="0" dirty="0" smtClean="0"/>
              <a:t>difficult</a:t>
            </a:r>
            <a:endParaRPr lang="en-US" sz="2800" b="0" dirty="0" smtClean="0"/>
          </a:p>
          <a:p>
            <a:pPr lvl="1"/>
            <a:r>
              <a:rPr lang="en-US" sz="2200" b="0" i="1" dirty="0"/>
              <a:t>Problems of scope</a:t>
            </a:r>
            <a:r>
              <a:rPr lang="en-US" sz="2200" b="0" dirty="0"/>
              <a:t>. The boundary of the system is ill-defined or the </a:t>
            </a:r>
            <a:r>
              <a:rPr lang="en-US" sz="2200" b="0" dirty="0" smtClean="0"/>
              <a:t>customers specify </a:t>
            </a:r>
            <a:r>
              <a:rPr lang="en-US" sz="2200" b="0" dirty="0"/>
              <a:t>unnecessary technical detail that may confuse, </a:t>
            </a:r>
            <a:endParaRPr lang="en-US" sz="2200" b="0" dirty="0" smtClean="0"/>
          </a:p>
          <a:p>
            <a:pPr lvl="1"/>
            <a:r>
              <a:rPr lang="en-US" sz="2200" b="0" i="1" dirty="0" smtClean="0"/>
              <a:t>Problems of understanding. </a:t>
            </a:r>
            <a:r>
              <a:rPr lang="en-US" sz="2200" b="0" dirty="0" smtClean="0"/>
              <a:t>The customers are not completely sure of what </a:t>
            </a:r>
            <a:r>
              <a:rPr lang="en-US" sz="2200" b="0" dirty="0"/>
              <a:t>is needed, have a poor understanding of the capabilities and </a:t>
            </a:r>
            <a:r>
              <a:rPr lang="en-US" sz="2200" b="0" dirty="0" smtClean="0"/>
              <a:t>limitations of </a:t>
            </a:r>
            <a:r>
              <a:rPr lang="en-US" sz="2200" b="0" dirty="0"/>
              <a:t>their computing environment, don’t have a full understanding of the </a:t>
            </a:r>
            <a:r>
              <a:rPr lang="en-US" sz="2200" b="0" dirty="0" smtClean="0"/>
              <a:t>problem domain</a:t>
            </a:r>
            <a:r>
              <a:rPr lang="en-US" sz="2200" b="0" dirty="0"/>
              <a:t>, have trouble communicating needs to the system engineer, </a:t>
            </a:r>
            <a:r>
              <a:rPr lang="en-US" sz="2200" b="0" dirty="0" smtClean="0"/>
              <a:t>omit information </a:t>
            </a:r>
            <a:r>
              <a:rPr lang="en-US" sz="2200" b="0" dirty="0"/>
              <a:t>that is believed to be “obvious,” specify requirements that </a:t>
            </a:r>
            <a:r>
              <a:rPr lang="en-US" sz="2200" b="0" dirty="0" smtClean="0"/>
              <a:t>conflict with </a:t>
            </a:r>
            <a:r>
              <a:rPr lang="en-US" sz="2200" b="0" dirty="0"/>
              <a:t>the needs of other customers/users, or specify requirements </a:t>
            </a:r>
            <a:r>
              <a:rPr lang="en-US" sz="2200" b="0" dirty="0" smtClean="0"/>
              <a:t>that are </a:t>
            </a:r>
            <a:r>
              <a:rPr lang="en-US" sz="2200" b="0" dirty="0"/>
              <a:t>ambiguous or untestable.</a:t>
            </a:r>
          </a:p>
          <a:p>
            <a:pPr lvl="1"/>
            <a:r>
              <a:rPr lang="en-US" sz="2200" b="0" i="1" dirty="0" smtClean="0"/>
              <a:t>Problems </a:t>
            </a:r>
            <a:r>
              <a:rPr lang="en-US" sz="2200" b="0" i="1" dirty="0"/>
              <a:t>of volatility. </a:t>
            </a:r>
            <a:r>
              <a:rPr lang="en-US" sz="2200" b="0" dirty="0"/>
              <a:t>The requirements change over time.</a:t>
            </a:r>
            <a:endParaRPr lang="en-US" sz="2200" b="0" dirty="0" smtClean="0"/>
          </a:p>
        </p:txBody>
      </p:sp>
    </p:spTree>
    <p:extLst>
      <p:ext uri="{BB962C8B-B14F-4D97-AF65-F5344CB8AC3E}">
        <p14:creationId xmlns:p14="http://schemas.microsoft.com/office/powerpoint/2010/main" val="140823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325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Elicitation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D</a:t>
            </a:r>
            <a:r>
              <a:rPr lang="en-US" sz="2400" b="0" dirty="0" smtClean="0"/>
              <a:t>etailed </a:t>
            </a:r>
            <a:r>
              <a:rPr lang="en-US" sz="2400" b="0" dirty="0"/>
              <a:t>guidelines for </a:t>
            </a:r>
            <a:r>
              <a:rPr lang="en-US" sz="2400" b="0" dirty="0" smtClean="0"/>
              <a:t>requirements elicitation:</a:t>
            </a:r>
          </a:p>
          <a:p>
            <a:pPr lvl="1"/>
            <a:r>
              <a:rPr lang="en-US" sz="2400" b="0" dirty="0"/>
              <a:t>Assess the business and technical feasibility for the proposed system.</a:t>
            </a:r>
          </a:p>
          <a:p>
            <a:pPr lvl="1"/>
            <a:r>
              <a:rPr lang="en-US" sz="2400" b="0" dirty="0" smtClean="0"/>
              <a:t>Identify </a:t>
            </a:r>
            <a:r>
              <a:rPr lang="en-US" sz="2400" b="0" dirty="0"/>
              <a:t>the people who will help specify requirements and understand </a:t>
            </a:r>
            <a:r>
              <a:rPr lang="en-US" sz="2400" b="0" dirty="0" smtClean="0"/>
              <a:t>their organizational </a:t>
            </a:r>
            <a:r>
              <a:rPr lang="en-US" sz="2400" b="0" dirty="0"/>
              <a:t>bias.</a:t>
            </a:r>
          </a:p>
          <a:p>
            <a:pPr lvl="1"/>
            <a:r>
              <a:rPr lang="en-US" sz="2400" b="0" dirty="0" smtClean="0"/>
              <a:t>Define </a:t>
            </a:r>
            <a:r>
              <a:rPr lang="en-US" sz="2400" b="0" dirty="0"/>
              <a:t>the technical environment (e.g., computing architecture, </a:t>
            </a:r>
            <a:r>
              <a:rPr lang="en-US" sz="2400" b="0" dirty="0" smtClean="0"/>
              <a:t>operating system</a:t>
            </a:r>
            <a:r>
              <a:rPr lang="en-US" sz="2400" b="0" dirty="0"/>
              <a:t>, telecommunications needs) into which the system or product will </a:t>
            </a:r>
            <a:r>
              <a:rPr lang="en-US" sz="2400" b="0" dirty="0" smtClean="0"/>
              <a:t>be placed.</a:t>
            </a:r>
          </a:p>
          <a:p>
            <a:pPr lvl="1"/>
            <a:r>
              <a:rPr lang="en-US" sz="2400" b="0" dirty="0"/>
              <a:t>Identify “domain constraints” (i.e., characteristics of the business environment specific to the application domain) that limit the functionality or performance of the system or product to be built.</a:t>
            </a:r>
          </a:p>
          <a:p>
            <a:pPr lvl="1"/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346872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325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Elicitation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D</a:t>
            </a:r>
            <a:r>
              <a:rPr lang="en-US" sz="2400" b="0" dirty="0" smtClean="0"/>
              <a:t>etailed </a:t>
            </a:r>
            <a:r>
              <a:rPr lang="en-US" sz="2400" b="0" dirty="0"/>
              <a:t>guidelines for </a:t>
            </a:r>
            <a:r>
              <a:rPr lang="en-US" sz="2400" b="0" dirty="0" smtClean="0"/>
              <a:t>requirements elicitation (cont.):</a:t>
            </a:r>
          </a:p>
          <a:p>
            <a:pPr lvl="1"/>
            <a:r>
              <a:rPr lang="en-US" sz="2400" b="0" dirty="0" smtClean="0"/>
              <a:t>Define </a:t>
            </a:r>
            <a:r>
              <a:rPr lang="en-US" sz="2400" b="0" dirty="0"/>
              <a:t>one or more requirements elicitation methods (e.g., interviews, focus groups, team meetings).</a:t>
            </a:r>
          </a:p>
          <a:p>
            <a:pPr lvl="1"/>
            <a:r>
              <a:rPr lang="en-US" sz="2400" b="0" dirty="0"/>
              <a:t>Solicit participation from many people so that requirements are defined from different points of view; be sure to identify the rationale for each requirement that is recorded.</a:t>
            </a:r>
          </a:p>
          <a:p>
            <a:pPr lvl="1"/>
            <a:r>
              <a:rPr lang="en-US" sz="2400" b="0" dirty="0"/>
              <a:t>Identify ambiguous requirements as candidates for prototyping.</a:t>
            </a:r>
          </a:p>
          <a:p>
            <a:pPr lvl="1"/>
            <a:r>
              <a:rPr lang="en-US" sz="2400" b="0" dirty="0"/>
              <a:t>Create usage scenarios to help customers/users better identify key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88084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325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Elicitation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work products </a:t>
            </a:r>
            <a:r>
              <a:rPr lang="en-US" sz="2400" b="0" dirty="0" smtClean="0"/>
              <a:t>include:</a:t>
            </a:r>
            <a:endParaRPr lang="en-US" sz="2400" b="0" dirty="0"/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statement of need and feasibility.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bounded statement of scope for the </a:t>
            </a:r>
            <a:r>
              <a:rPr lang="en-US" sz="2400" b="0" dirty="0" smtClean="0"/>
              <a:t>system.</a:t>
            </a:r>
          </a:p>
          <a:p>
            <a:pPr lvl="1"/>
            <a:r>
              <a:rPr lang="en-US" sz="2400" b="0" dirty="0"/>
              <a:t>A list of customers, users, and other stakeholders who participated in </a:t>
            </a:r>
            <a:r>
              <a:rPr lang="en-US" sz="2400" b="0" dirty="0" smtClean="0"/>
              <a:t>the requirements </a:t>
            </a:r>
            <a:r>
              <a:rPr lang="en-US" sz="2400" b="0" dirty="0"/>
              <a:t>elicitation activity.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description of the system’s technical environment.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list of requirements </a:t>
            </a:r>
            <a:r>
              <a:rPr lang="en-US" sz="2400" b="0" dirty="0" smtClean="0"/>
              <a:t>(organized </a:t>
            </a:r>
            <a:r>
              <a:rPr lang="en-US" sz="2400" b="0" dirty="0"/>
              <a:t>by function) and the </a:t>
            </a:r>
            <a:r>
              <a:rPr lang="en-US" sz="2400" b="0" dirty="0" smtClean="0"/>
              <a:t>domain constraints </a:t>
            </a:r>
            <a:r>
              <a:rPr lang="en-US" sz="2400" b="0" dirty="0"/>
              <a:t>that apply to each.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set of usage scenarios that provide insight into the use of the system </a:t>
            </a:r>
            <a:r>
              <a:rPr lang="en-US" sz="2400" b="0" dirty="0" smtClean="0"/>
              <a:t>or product </a:t>
            </a:r>
            <a:r>
              <a:rPr lang="en-US" sz="2400" b="0" dirty="0"/>
              <a:t>under different operating conditions.</a:t>
            </a:r>
          </a:p>
          <a:p>
            <a:pPr lvl="1"/>
            <a:r>
              <a:rPr lang="en-US" sz="2400" b="0" dirty="0" smtClean="0"/>
              <a:t>Any </a:t>
            </a:r>
            <a:r>
              <a:rPr lang="en-US" sz="2400" b="0" dirty="0"/>
              <a:t>prototypes developed to better define requirements.</a:t>
            </a:r>
            <a:endParaRPr lang="en-US" sz="2400" b="0" dirty="0" smtClean="0"/>
          </a:p>
          <a:p>
            <a:pPr lvl="1"/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420644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9068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r>
              <a:rPr lang="fr-FR" sz="3600" dirty="0" smtClean="0"/>
              <a:t> &amp; </a:t>
            </a:r>
            <a:r>
              <a:rPr lang="fr-FR" sz="3600" dirty="0" err="1" smtClean="0"/>
              <a:t>Negotiation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Analysis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categorizes </a:t>
            </a:r>
            <a:r>
              <a:rPr lang="en-US" sz="2400" b="0" dirty="0"/>
              <a:t>requirements and organizes </a:t>
            </a:r>
            <a:r>
              <a:rPr lang="en-US" sz="2400" b="0" dirty="0" smtClean="0"/>
              <a:t>them into related </a:t>
            </a:r>
            <a:r>
              <a:rPr lang="en-US" sz="2400" b="0" dirty="0"/>
              <a:t>subsets</a:t>
            </a:r>
            <a:r>
              <a:rPr lang="en-US" sz="2400" b="0" dirty="0" smtClean="0"/>
              <a:t>;</a:t>
            </a:r>
          </a:p>
          <a:p>
            <a:pPr lvl="1"/>
            <a:r>
              <a:rPr lang="en-US" sz="2400" b="0" dirty="0" smtClean="0"/>
              <a:t>explores </a:t>
            </a:r>
            <a:r>
              <a:rPr lang="en-US" sz="2400" b="0" dirty="0"/>
              <a:t>each requirement in relationship to others; </a:t>
            </a:r>
            <a:endParaRPr lang="en-US" sz="2400" b="0" dirty="0" smtClean="0"/>
          </a:p>
          <a:p>
            <a:pPr lvl="1"/>
            <a:r>
              <a:rPr lang="en-US" sz="2400" b="0" dirty="0"/>
              <a:t>e</a:t>
            </a:r>
            <a:r>
              <a:rPr lang="en-US" sz="2400" b="0" dirty="0" smtClean="0"/>
              <a:t>xamines requirements </a:t>
            </a:r>
            <a:r>
              <a:rPr lang="en-US" sz="2400" b="0" dirty="0"/>
              <a:t>for consistency, omissions, and ambiguity</a:t>
            </a:r>
            <a:r>
              <a:rPr lang="en-US" sz="2400" b="0" dirty="0" smtClean="0"/>
              <a:t>;</a:t>
            </a:r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ranks </a:t>
            </a:r>
            <a:r>
              <a:rPr lang="en-US" sz="2400" b="0" dirty="0" smtClean="0"/>
              <a:t>requirements based </a:t>
            </a:r>
            <a:r>
              <a:rPr lang="en-US" sz="2400" b="0" dirty="0"/>
              <a:t>on the needs of customers/users.</a:t>
            </a:r>
          </a:p>
        </p:txBody>
      </p:sp>
    </p:spTree>
    <p:extLst>
      <p:ext uri="{BB962C8B-B14F-4D97-AF65-F5344CB8AC3E}">
        <p14:creationId xmlns:p14="http://schemas.microsoft.com/office/powerpoint/2010/main" val="328490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9068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r>
              <a:rPr lang="fr-FR" sz="3600" dirty="0" smtClean="0"/>
              <a:t> &amp; </a:t>
            </a:r>
            <a:r>
              <a:rPr lang="fr-FR" sz="3600" dirty="0" err="1" smtClean="0"/>
              <a:t>Negotiation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following questions </a:t>
            </a:r>
            <a:r>
              <a:rPr lang="en-US" sz="2400" b="0" dirty="0" smtClean="0"/>
              <a:t>are asked </a:t>
            </a:r>
            <a:r>
              <a:rPr lang="en-US" sz="2400" b="0" dirty="0"/>
              <a:t>and answered: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Is </a:t>
            </a:r>
            <a:r>
              <a:rPr lang="en-US" sz="2400" b="0" dirty="0"/>
              <a:t>each requirement consistent with the overall objective for </a:t>
            </a:r>
            <a:r>
              <a:rPr lang="en-US" sz="2400" b="0" dirty="0" smtClean="0"/>
              <a:t>the system/product</a:t>
            </a:r>
            <a:r>
              <a:rPr lang="en-US" sz="2400" b="0" dirty="0"/>
              <a:t>?</a:t>
            </a:r>
          </a:p>
          <a:p>
            <a:pPr lvl="1"/>
            <a:r>
              <a:rPr lang="en-US" sz="2400" b="0" dirty="0" smtClean="0"/>
              <a:t>Have </a:t>
            </a:r>
            <a:r>
              <a:rPr lang="en-US" sz="2400" b="0" dirty="0"/>
              <a:t>all requirements been specified at the proper level of abstraction? </a:t>
            </a:r>
            <a:r>
              <a:rPr lang="en-US" sz="2400" b="0" dirty="0" smtClean="0"/>
              <a:t>That is</a:t>
            </a:r>
            <a:r>
              <a:rPr lang="en-US" sz="2400" b="0" dirty="0"/>
              <a:t>, do some requirements provide a level of technical detail that is </a:t>
            </a:r>
            <a:r>
              <a:rPr lang="en-US" sz="2400" b="0" dirty="0" smtClean="0"/>
              <a:t>inappropriate at </a:t>
            </a:r>
            <a:r>
              <a:rPr lang="en-US" sz="2400" b="0" dirty="0"/>
              <a:t>this stage?</a:t>
            </a:r>
          </a:p>
          <a:p>
            <a:pPr lvl="1"/>
            <a:r>
              <a:rPr lang="en-US" sz="2400" b="0" dirty="0" smtClean="0"/>
              <a:t>Is </a:t>
            </a:r>
            <a:r>
              <a:rPr lang="en-US" sz="2400" b="0" dirty="0"/>
              <a:t>the requirement really necessary or does it represent an add-on </a:t>
            </a:r>
            <a:r>
              <a:rPr lang="en-US" sz="2400" b="0" dirty="0" smtClean="0"/>
              <a:t>feature that </a:t>
            </a:r>
            <a:r>
              <a:rPr lang="en-US" sz="2400" b="0" dirty="0"/>
              <a:t>may not be essential to the objective of the system?</a:t>
            </a:r>
          </a:p>
          <a:p>
            <a:pPr lvl="1"/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84283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9068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r>
              <a:rPr lang="fr-FR" sz="3600" dirty="0" smtClean="0"/>
              <a:t> &amp; </a:t>
            </a:r>
            <a:r>
              <a:rPr lang="fr-FR" sz="3600" dirty="0" err="1" smtClean="0"/>
              <a:t>Negotiation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following questions </a:t>
            </a:r>
            <a:r>
              <a:rPr lang="en-US" sz="2400" b="0" dirty="0" smtClean="0"/>
              <a:t>are asked </a:t>
            </a:r>
            <a:r>
              <a:rPr lang="en-US" sz="2400" b="0" dirty="0"/>
              <a:t>and </a:t>
            </a:r>
            <a:r>
              <a:rPr lang="en-US" sz="2400" b="0" dirty="0" smtClean="0"/>
              <a:t>answered (cont.):</a:t>
            </a:r>
          </a:p>
          <a:p>
            <a:pPr lvl="1"/>
            <a:r>
              <a:rPr lang="en-US" sz="2400" b="0" dirty="0"/>
              <a:t>Is each requirement bounded and unambiguous?</a:t>
            </a:r>
          </a:p>
          <a:p>
            <a:pPr lvl="1"/>
            <a:r>
              <a:rPr lang="en-US" sz="2400" b="0" dirty="0"/>
              <a:t>Does each requirement have attribution? That is, is a source (generally, a specific individual) noted for each requirement?</a:t>
            </a:r>
          </a:p>
          <a:p>
            <a:pPr lvl="1"/>
            <a:r>
              <a:rPr lang="en-US" sz="2400" b="0" dirty="0"/>
              <a:t>Do any requirements conflict with other requirements?</a:t>
            </a:r>
          </a:p>
          <a:p>
            <a:pPr lvl="1"/>
            <a:r>
              <a:rPr lang="en-US" sz="2400" b="0" dirty="0" smtClean="0"/>
              <a:t>Is </a:t>
            </a:r>
            <a:r>
              <a:rPr lang="en-US" sz="2400" b="0" dirty="0"/>
              <a:t>each requirement achievable in the technical environment that will house the system or product?</a:t>
            </a:r>
          </a:p>
          <a:p>
            <a:pPr lvl="1"/>
            <a:r>
              <a:rPr lang="en-US" sz="2400" b="0" dirty="0"/>
              <a:t>Is each requirement testable, once implemented?</a:t>
            </a:r>
          </a:p>
        </p:txBody>
      </p:sp>
    </p:spTree>
    <p:extLst>
      <p:ext uri="{BB962C8B-B14F-4D97-AF65-F5344CB8AC3E}">
        <p14:creationId xmlns:p14="http://schemas.microsoft.com/office/powerpoint/2010/main" val="331794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934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Specification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A specification can </a:t>
            </a:r>
            <a:r>
              <a:rPr lang="en-US" sz="2400" b="0" dirty="0" smtClean="0"/>
              <a:t>be: 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written document,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 graphical model</a:t>
            </a:r>
            <a:r>
              <a:rPr lang="en-US" sz="2400" b="0" dirty="0"/>
              <a:t>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formal mathematical model,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collection of usage scenarios,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prototype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or </a:t>
            </a:r>
            <a:r>
              <a:rPr lang="en-US" sz="2400" b="0" dirty="0"/>
              <a:t>any combination of these</a:t>
            </a:r>
            <a:r>
              <a:rPr lang="en-US" sz="2400" b="0" dirty="0" smtClean="0"/>
              <a:t>.</a:t>
            </a:r>
          </a:p>
          <a:p>
            <a:r>
              <a:rPr lang="en-US" sz="2400" b="0" dirty="0"/>
              <a:t>For large </a:t>
            </a:r>
            <a:r>
              <a:rPr lang="en-US" sz="2400" b="0" dirty="0" smtClean="0"/>
              <a:t>systems, a </a:t>
            </a:r>
            <a:r>
              <a:rPr lang="en-US" sz="2400" b="0" dirty="0"/>
              <a:t>written document, combining natural language descriptions and </a:t>
            </a:r>
            <a:r>
              <a:rPr lang="en-US" sz="2400" b="0" dirty="0" smtClean="0"/>
              <a:t>graphical models </a:t>
            </a:r>
            <a:r>
              <a:rPr lang="en-US" sz="2400" b="0" dirty="0"/>
              <a:t>may be the best approach. </a:t>
            </a:r>
            <a:endParaRPr lang="en-US" sz="2400" b="0" dirty="0" smtClean="0"/>
          </a:p>
          <a:p>
            <a:r>
              <a:rPr lang="en-US" sz="2400" b="0" dirty="0" smtClean="0"/>
              <a:t>For smaller systems, usage </a:t>
            </a:r>
            <a:r>
              <a:rPr lang="en-US" sz="2400" b="0" dirty="0"/>
              <a:t>scenarios may be all that </a:t>
            </a:r>
            <a:r>
              <a:rPr lang="en-US" sz="2400" b="0" dirty="0" smtClean="0"/>
              <a:t>are required </a:t>
            </a:r>
            <a:r>
              <a:rPr lang="en-US" sz="2400" b="0" dirty="0"/>
              <a:t>for smaller products or systems that reside within well-understood </a:t>
            </a:r>
            <a:r>
              <a:rPr lang="en-US" sz="2400" b="0" dirty="0" smtClean="0"/>
              <a:t>technical environments</a:t>
            </a:r>
            <a:r>
              <a:rPr lang="en-US" sz="24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666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934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Specification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The </a:t>
            </a:r>
            <a:r>
              <a:rPr lang="en-US" sz="2400" b="0" i="1" smtClean="0"/>
              <a:t>Software Requirement Specification (SRS) </a:t>
            </a:r>
            <a:r>
              <a:rPr lang="en-US" sz="2400" b="0" dirty="0"/>
              <a:t>is the final work product produced by the system </a:t>
            </a:r>
            <a:r>
              <a:rPr lang="en-US" sz="2400" b="0" dirty="0" smtClean="0"/>
              <a:t>and requirements </a:t>
            </a:r>
            <a:r>
              <a:rPr lang="en-US" sz="2400" b="0" dirty="0"/>
              <a:t>engineer. </a:t>
            </a:r>
            <a:endParaRPr lang="en-US" sz="2400" b="0" dirty="0" smtClean="0"/>
          </a:p>
          <a:p>
            <a:r>
              <a:rPr lang="en-US" sz="2400" b="0" dirty="0" smtClean="0"/>
              <a:t>It </a:t>
            </a:r>
            <a:r>
              <a:rPr lang="en-US" sz="2400" b="0" dirty="0"/>
              <a:t>describes </a:t>
            </a:r>
            <a:r>
              <a:rPr lang="en-US" sz="2400" b="0" dirty="0" smtClean="0"/>
              <a:t>the function </a:t>
            </a:r>
            <a:r>
              <a:rPr lang="en-US" sz="2400" b="0" dirty="0"/>
              <a:t>and performance of a computer-based system and the constraints that </a:t>
            </a:r>
            <a:r>
              <a:rPr lang="en-US" sz="2400" b="0" dirty="0" smtClean="0"/>
              <a:t>will govern </a:t>
            </a:r>
            <a:r>
              <a:rPr lang="en-US" sz="2400" b="0" dirty="0"/>
              <a:t>its development. The specification bounds each allocated system element.</a:t>
            </a:r>
          </a:p>
          <a:p>
            <a:r>
              <a:rPr lang="en-US" sz="2400" b="0" dirty="0"/>
              <a:t>The </a:t>
            </a:r>
            <a:r>
              <a:rPr lang="en-US" sz="2400" b="0" i="1" dirty="0"/>
              <a:t>System Specification </a:t>
            </a:r>
            <a:r>
              <a:rPr lang="en-US" sz="2400" b="0" dirty="0"/>
              <a:t>also describes the information (data and control) that is </a:t>
            </a:r>
            <a:r>
              <a:rPr lang="en-US" sz="2400" b="0" dirty="0" smtClean="0"/>
              <a:t>input to </a:t>
            </a:r>
            <a:r>
              <a:rPr lang="en-US" sz="2400" b="0" dirty="0"/>
              <a:t>and output from the system.</a:t>
            </a:r>
          </a:p>
        </p:txBody>
      </p:sp>
    </p:spTree>
    <p:extLst>
      <p:ext uri="{BB962C8B-B14F-4D97-AF65-F5344CB8AC3E}">
        <p14:creationId xmlns:p14="http://schemas.microsoft.com/office/powerpoint/2010/main" val="415113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715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System </a:t>
            </a:r>
            <a:r>
              <a:rPr lang="fr-FR" sz="3600" dirty="0" err="1" smtClean="0"/>
              <a:t>Modelling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In order to fully specify what is to be built, you would </a:t>
            </a:r>
            <a:r>
              <a:rPr lang="en-US" sz="2400" b="0" dirty="0" smtClean="0"/>
              <a:t>need a </a:t>
            </a:r>
            <a:r>
              <a:rPr lang="en-US" sz="2400" b="0" dirty="0"/>
              <a:t>meaningful </a:t>
            </a:r>
            <a:r>
              <a:rPr lang="en-US" sz="2400" b="0" dirty="0" smtClean="0"/>
              <a:t>model.</a:t>
            </a:r>
          </a:p>
          <a:p>
            <a:r>
              <a:rPr lang="en-US" sz="2400" b="0" dirty="0"/>
              <a:t>It is important to evaluate the system’s </a:t>
            </a:r>
            <a:r>
              <a:rPr lang="en-US" sz="2400" b="0" dirty="0" smtClean="0"/>
              <a:t>components in </a:t>
            </a:r>
            <a:r>
              <a:rPr lang="en-US" sz="2400" b="0" dirty="0"/>
              <a:t>relationship to one another, to determine how requirements fit into </a:t>
            </a:r>
            <a:r>
              <a:rPr lang="en-US" sz="2400" b="0" dirty="0" smtClean="0"/>
              <a:t>this picture</a:t>
            </a:r>
            <a:r>
              <a:rPr lang="en-US" sz="2400" b="0" dirty="0"/>
              <a:t>, and to assess the “aesthetics” of the system as it has been </a:t>
            </a:r>
            <a:r>
              <a:rPr lang="en-US" sz="2400" b="0" dirty="0" smtClean="0"/>
              <a:t>conceived.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27353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Validation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1" dirty="0"/>
              <a:t>Requirements validation </a:t>
            </a:r>
            <a:r>
              <a:rPr lang="en-US" sz="2400" b="0" dirty="0"/>
              <a:t>examines the specification to ensure that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all system requirements </a:t>
            </a:r>
            <a:r>
              <a:rPr lang="en-US" sz="2400" b="0" dirty="0"/>
              <a:t>have been stated unambiguously</a:t>
            </a:r>
            <a:r>
              <a:rPr lang="en-US" sz="2400" b="0" dirty="0" smtClean="0"/>
              <a:t>;</a:t>
            </a:r>
          </a:p>
          <a:p>
            <a:pPr lvl="1"/>
            <a:r>
              <a:rPr lang="en-US" sz="2400" b="0" dirty="0" smtClean="0"/>
              <a:t>that </a:t>
            </a:r>
            <a:r>
              <a:rPr lang="en-US" sz="2400" b="0" dirty="0"/>
              <a:t>inconsistencies, omissions, </a:t>
            </a:r>
            <a:r>
              <a:rPr lang="en-US" sz="2400" b="0" dirty="0" smtClean="0"/>
              <a:t>and errors </a:t>
            </a:r>
            <a:r>
              <a:rPr lang="en-US" sz="2400" b="0" dirty="0"/>
              <a:t>have been detected and corrected;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that the work products conform to </a:t>
            </a:r>
            <a:r>
              <a:rPr lang="en-US" sz="2400" b="0" dirty="0" smtClean="0"/>
              <a:t>the standards </a:t>
            </a:r>
            <a:r>
              <a:rPr lang="en-US" sz="2400" b="0" dirty="0"/>
              <a:t>established for the process, the project, and the product.</a:t>
            </a:r>
          </a:p>
        </p:txBody>
      </p:sp>
    </p:spTree>
    <p:extLst>
      <p:ext uri="{BB962C8B-B14F-4D97-AF65-F5344CB8AC3E}">
        <p14:creationId xmlns:p14="http://schemas.microsoft.com/office/powerpoint/2010/main" val="47551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477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Validation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The primary requirements validation mechanism is the </a:t>
            </a:r>
            <a:r>
              <a:rPr lang="en-US" sz="2400" b="0" i="1" dirty="0"/>
              <a:t>formal technical </a:t>
            </a:r>
            <a:r>
              <a:rPr lang="en-US" sz="2400" b="0" i="1" dirty="0" smtClean="0"/>
              <a:t>review.</a:t>
            </a:r>
          </a:p>
          <a:p>
            <a:r>
              <a:rPr lang="en-US" sz="2400" b="0" dirty="0"/>
              <a:t>The review team includes system engineers, customers, users, and </a:t>
            </a:r>
            <a:r>
              <a:rPr lang="en-US" sz="2400" b="0" dirty="0" smtClean="0"/>
              <a:t>other stakeholders.</a:t>
            </a:r>
          </a:p>
          <a:p>
            <a:r>
              <a:rPr lang="en-US" sz="2400" b="0" dirty="0" smtClean="0"/>
              <a:t>The review team examine </a:t>
            </a:r>
            <a:r>
              <a:rPr lang="en-US" sz="2400" b="0" dirty="0"/>
              <a:t>the system </a:t>
            </a:r>
            <a:r>
              <a:rPr lang="en-US" sz="2400" b="0" dirty="0" smtClean="0"/>
              <a:t>specification, look for: </a:t>
            </a:r>
          </a:p>
          <a:p>
            <a:pPr lvl="1"/>
            <a:r>
              <a:rPr lang="en-US" sz="2400" b="0" dirty="0" smtClean="0"/>
              <a:t>errors </a:t>
            </a:r>
            <a:r>
              <a:rPr lang="en-US" sz="2400" b="0" dirty="0"/>
              <a:t>in content </a:t>
            </a:r>
            <a:r>
              <a:rPr lang="en-US" sz="2400" b="0" dirty="0" smtClean="0"/>
              <a:t>or interpretation,</a:t>
            </a:r>
          </a:p>
          <a:p>
            <a:pPr lvl="1"/>
            <a:r>
              <a:rPr lang="en-US" sz="2400" b="0" dirty="0" smtClean="0"/>
              <a:t>areas </a:t>
            </a:r>
            <a:r>
              <a:rPr lang="en-US" sz="2400" b="0" dirty="0"/>
              <a:t>where clarification may be required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missing </a:t>
            </a:r>
            <a:r>
              <a:rPr lang="en-US" sz="2400" b="0" dirty="0"/>
              <a:t>information,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inconsistencies,</a:t>
            </a:r>
          </a:p>
          <a:p>
            <a:pPr lvl="1"/>
            <a:r>
              <a:rPr lang="en-US" sz="2400" b="0" dirty="0" smtClean="0"/>
              <a:t>conflicting requirements,</a:t>
            </a:r>
          </a:p>
          <a:p>
            <a:pPr lvl="1"/>
            <a:r>
              <a:rPr lang="en-US" sz="2400" b="0" dirty="0" smtClean="0"/>
              <a:t>or </a:t>
            </a:r>
            <a:r>
              <a:rPr lang="en-US" sz="2400" b="0" dirty="0"/>
              <a:t>unrealistic (unachievable) requirements.</a:t>
            </a:r>
            <a:endParaRPr lang="en-US" sz="2400" b="0" dirty="0" smtClean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00952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468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Management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1" dirty="0"/>
              <a:t>Requirements management </a:t>
            </a:r>
            <a:r>
              <a:rPr lang="en-US" sz="2400" b="0" dirty="0"/>
              <a:t>is a set of activities that help the project team </a:t>
            </a:r>
            <a:r>
              <a:rPr lang="en-US" sz="2400" b="0" dirty="0" smtClean="0"/>
              <a:t>to identify</a:t>
            </a:r>
            <a:r>
              <a:rPr lang="en-US" sz="2400" b="0" dirty="0"/>
              <a:t>, control, and track requirements and changes to requirements at any time </a:t>
            </a:r>
            <a:r>
              <a:rPr lang="en-US" sz="2400" b="0" dirty="0" smtClean="0"/>
              <a:t>as the </a:t>
            </a:r>
            <a:r>
              <a:rPr lang="en-US" sz="2400" b="0" dirty="0"/>
              <a:t>project </a:t>
            </a:r>
            <a:r>
              <a:rPr lang="en-US" sz="2400" b="0" dirty="0" smtClean="0"/>
              <a:t>proceeds.</a:t>
            </a:r>
          </a:p>
          <a:p>
            <a:r>
              <a:rPr lang="en-US" sz="2400" b="0" dirty="0"/>
              <a:t>Each </a:t>
            </a:r>
            <a:r>
              <a:rPr lang="en-US" sz="2400" b="0" dirty="0" smtClean="0"/>
              <a:t>requirement is </a:t>
            </a:r>
            <a:r>
              <a:rPr lang="en-US" sz="2400" b="0" dirty="0"/>
              <a:t>assigned a unique identifier that might take the </a:t>
            </a:r>
            <a:r>
              <a:rPr lang="en-US" sz="2400" b="0" dirty="0" smtClean="0"/>
              <a:t>form:</a:t>
            </a:r>
          </a:p>
          <a:p>
            <a:pPr marL="808038" lvl="2" indent="0" algn="ctr">
              <a:buNone/>
            </a:pPr>
            <a:r>
              <a:rPr lang="en-US" sz="2400" dirty="0" smtClean="0"/>
              <a:t>&lt;</a:t>
            </a:r>
            <a:r>
              <a:rPr lang="en-US" sz="2400" i="1" dirty="0" smtClean="0"/>
              <a:t>requirement </a:t>
            </a:r>
            <a:r>
              <a:rPr lang="en-US" sz="2400" i="1" dirty="0"/>
              <a:t>type</a:t>
            </a:r>
            <a:r>
              <a:rPr lang="en-US" sz="2400" dirty="0"/>
              <a:t>&gt;&lt;</a:t>
            </a:r>
            <a:r>
              <a:rPr lang="en-US" sz="2400" i="1" dirty="0"/>
              <a:t>requirement </a:t>
            </a:r>
            <a:r>
              <a:rPr lang="en-US" sz="2400" i="1" dirty="0" smtClean="0"/>
              <a:t>#</a:t>
            </a:r>
            <a:r>
              <a:rPr lang="en-US" sz="2400" dirty="0" smtClean="0"/>
              <a:t>&gt;</a:t>
            </a:r>
          </a:p>
          <a:p>
            <a:pPr marL="0" indent="0">
              <a:buNone/>
            </a:pPr>
            <a:r>
              <a:rPr lang="en-US" sz="3200" b="0" dirty="0" smtClean="0"/>
              <a:t>	</a:t>
            </a:r>
            <a:r>
              <a:rPr lang="en-US" sz="2000" b="0" dirty="0" smtClean="0"/>
              <a:t>where </a:t>
            </a:r>
            <a:r>
              <a:rPr lang="en-US" sz="2000" b="0" i="1" dirty="0"/>
              <a:t>requirement type </a:t>
            </a:r>
            <a:r>
              <a:rPr lang="en-US" sz="2000" b="0" dirty="0"/>
              <a:t>takes on values such as </a:t>
            </a:r>
            <a:r>
              <a:rPr lang="en-US" sz="2000" b="0" i="1" dirty="0"/>
              <a:t>F = functional requirement, D = </a:t>
            </a:r>
            <a:r>
              <a:rPr lang="en-US" sz="2000" b="0" i="1" dirty="0" smtClean="0"/>
              <a:t>data requirement</a:t>
            </a:r>
            <a:r>
              <a:rPr lang="en-US" sz="2000" b="0" i="1" dirty="0"/>
              <a:t>, B = behavioral requirement, I = interface requirement, </a:t>
            </a:r>
            <a:r>
              <a:rPr lang="en-US" sz="2000" b="0" dirty="0"/>
              <a:t>and</a:t>
            </a:r>
            <a:r>
              <a:rPr lang="en-US" sz="2000" b="0" i="1" dirty="0"/>
              <a:t> P = </a:t>
            </a:r>
            <a:r>
              <a:rPr lang="en-US" sz="2000" b="0" i="1" dirty="0" smtClean="0"/>
              <a:t>output requirement.</a:t>
            </a:r>
          </a:p>
          <a:p>
            <a:pPr marL="0" indent="0">
              <a:buNone/>
            </a:pPr>
            <a:endParaRPr lang="en-US" sz="2000" b="0" dirty="0" smtClean="0"/>
          </a:p>
          <a:p>
            <a:pPr marL="0" indent="0">
              <a:buNone/>
            </a:pPr>
            <a:r>
              <a:rPr lang="en-US" sz="2000" b="0" dirty="0" smtClean="0"/>
              <a:t>E.g., a </a:t>
            </a:r>
            <a:r>
              <a:rPr lang="en-US" sz="2000" b="0" dirty="0"/>
              <a:t>requirement identified as F09 indicates a functional </a:t>
            </a:r>
            <a:r>
              <a:rPr lang="en-US" sz="2000" b="0" dirty="0" smtClean="0"/>
              <a:t>requirement assigned </a:t>
            </a:r>
            <a:r>
              <a:rPr lang="en-US" sz="2000" b="0" dirty="0"/>
              <a:t>requirement number 9.</a:t>
            </a:r>
          </a:p>
        </p:txBody>
      </p:sp>
    </p:spTree>
    <p:extLst>
      <p:ext uri="{BB962C8B-B14F-4D97-AF65-F5344CB8AC3E}">
        <p14:creationId xmlns:p14="http://schemas.microsoft.com/office/powerpoint/2010/main" val="292398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468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Management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Once requirements have been identified, traceability tables are </a:t>
            </a:r>
            <a:r>
              <a:rPr lang="en-US" sz="2400" b="0" dirty="0" smtClean="0"/>
              <a:t>developed.</a:t>
            </a:r>
          </a:p>
          <a:p>
            <a:endParaRPr lang="en-US" sz="2400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1828800"/>
            <a:ext cx="6305550" cy="444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601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468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Management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Among many possible </a:t>
            </a:r>
            <a:r>
              <a:rPr lang="en-US" sz="2400" b="0" dirty="0" smtClean="0"/>
              <a:t>traceability tables </a:t>
            </a:r>
            <a:r>
              <a:rPr lang="en-US" sz="2400" b="0" dirty="0"/>
              <a:t>are the following:</a:t>
            </a:r>
          </a:p>
          <a:p>
            <a:pPr lvl="1"/>
            <a:r>
              <a:rPr lang="en-US" sz="2400" b="0" i="1" dirty="0"/>
              <a:t>Features traceability table. </a:t>
            </a:r>
            <a:r>
              <a:rPr lang="en-US" sz="2400" b="0" dirty="0"/>
              <a:t>Shows how requirements relate to important </a:t>
            </a:r>
            <a:r>
              <a:rPr lang="en-US" sz="2400" b="0" dirty="0" smtClean="0"/>
              <a:t>customer observable </a:t>
            </a:r>
            <a:r>
              <a:rPr lang="en-US" sz="2400" b="0" dirty="0"/>
              <a:t>system/product features.</a:t>
            </a:r>
          </a:p>
          <a:p>
            <a:pPr lvl="1"/>
            <a:r>
              <a:rPr lang="en-US" sz="2400" b="0" i="1" dirty="0"/>
              <a:t>Source traceability table. </a:t>
            </a:r>
            <a:r>
              <a:rPr lang="en-US" sz="2400" b="0" dirty="0"/>
              <a:t>Identifies the source of each requirement.</a:t>
            </a:r>
          </a:p>
          <a:p>
            <a:pPr lvl="1"/>
            <a:r>
              <a:rPr lang="en-US" sz="2400" b="0" i="1" dirty="0"/>
              <a:t>Dependency traceability table. </a:t>
            </a:r>
            <a:r>
              <a:rPr lang="en-US" sz="2400" b="0" dirty="0"/>
              <a:t>Indicates how requirements are related to </a:t>
            </a:r>
            <a:r>
              <a:rPr lang="en-US" sz="2400" b="0" dirty="0" smtClean="0"/>
              <a:t>one another</a:t>
            </a:r>
            <a:r>
              <a:rPr lang="en-US" sz="2400" b="0" dirty="0"/>
              <a:t>.</a:t>
            </a:r>
          </a:p>
          <a:p>
            <a:pPr lvl="1"/>
            <a:r>
              <a:rPr lang="en-US" sz="2400" b="0" i="1" dirty="0"/>
              <a:t>Subsystem traceability table. </a:t>
            </a:r>
            <a:r>
              <a:rPr lang="en-US" sz="2400" b="0" dirty="0"/>
              <a:t>Categorizes requirements by the </a:t>
            </a:r>
            <a:r>
              <a:rPr lang="en-US" sz="2400" b="0" dirty="0" smtClean="0"/>
              <a:t>subsystem(s) that </a:t>
            </a:r>
            <a:r>
              <a:rPr lang="en-US" sz="2400" b="0" dirty="0"/>
              <a:t>they govern.</a:t>
            </a:r>
          </a:p>
          <a:p>
            <a:pPr lvl="1"/>
            <a:r>
              <a:rPr lang="en-US" sz="2400" b="0" i="1" dirty="0"/>
              <a:t>Interface traceability table. </a:t>
            </a:r>
            <a:r>
              <a:rPr lang="en-US" sz="2400" b="0" dirty="0"/>
              <a:t>Shows how requirements relate to both </a:t>
            </a:r>
            <a:r>
              <a:rPr lang="en-US" sz="2400" b="0" dirty="0" smtClean="0"/>
              <a:t>internal and </a:t>
            </a:r>
            <a:r>
              <a:rPr lang="en-US" sz="2400" b="0" dirty="0"/>
              <a:t>external system interfaces.</a:t>
            </a:r>
          </a:p>
        </p:txBody>
      </p:sp>
    </p:spTree>
    <p:extLst>
      <p:ext uri="{BB962C8B-B14F-4D97-AF65-F5344CB8AC3E}">
        <p14:creationId xmlns:p14="http://schemas.microsoft.com/office/powerpoint/2010/main" val="424887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077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 Software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 smtClean="0"/>
              <a:t>Requirements analysis </a:t>
            </a:r>
            <a:r>
              <a:rPr lang="en-US" sz="2400" b="0" dirty="0"/>
              <a:t>allows the software engineer </a:t>
            </a:r>
            <a:r>
              <a:rPr lang="en-US" sz="2400" b="0" dirty="0" smtClean="0"/>
              <a:t>to refine the </a:t>
            </a:r>
            <a:r>
              <a:rPr lang="en-US" sz="2400" b="0" dirty="0"/>
              <a:t>software allocation and build models of the data, functional, and </a:t>
            </a:r>
            <a:r>
              <a:rPr lang="en-US" sz="2400" b="0" dirty="0" smtClean="0"/>
              <a:t>behavioral domains </a:t>
            </a:r>
            <a:r>
              <a:rPr lang="en-US" sz="2400" b="0" dirty="0"/>
              <a:t>that will be treated by software. </a:t>
            </a:r>
            <a:endParaRPr lang="en-US" sz="2400" b="0" dirty="0" smtClean="0"/>
          </a:p>
          <a:p>
            <a:r>
              <a:rPr lang="en-US" sz="2400" b="0" dirty="0" smtClean="0"/>
              <a:t>Requirements </a:t>
            </a:r>
            <a:r>
              <a:rPr lang="en-US" sz="2400" b="0" dirty="0"/>
              <a:t>analysis provides the </a:t>
            </a:r>
            <a:r>
              <a:rPr lang="en-US" sz="2400" b="0" dirty="0" smtClean="0"/>
              <a:t>software designer </a:t>
            </a:r>
            <a:r>
              <a:rPr lang="en-US" sz="2400" b="0" dirty="0"/>
              <a:t>with a representation of information, function, and behavior that </a:t>
            </a:r>
            <a:r>
              <a:rPr lang="en-US" sz="2400" b="0" dirty="0" smtClean="0"/>
              <a:t>can be </a:t>
            </a:r>
            <a:r>
              <a:rPr lang="en-US" sz="2400" b="0" dirty="0"/>
              <a:t>translated to data, architectural, interface, and component-level designs. </a:t>
            </a:r>
            <a:endParaRPr lang="en-US" sz="2400" b="0" dirty="0" smtClean="0"/>
          </a:p>
          <a:p>
            <a:r>
              <a:rPr lang="en-US" sz="2400" b="0" dirty="0" smtClean="0"/>
              <a:t>Finally, the </a:t>
            </a:r>
            <a:r>
              <a:rPr lang="en-US" sz="2400" b="0" dirty="0"/>
              <a:t>requirements specification provides the developer and the customer with </a:t>
            </a:r>
            <a:r>
              <a:rPr lang="en-US" sz="2400" b="0" dirty="0" smtClean="0"/>
              <a:t>the means </a:t>
            </a:r>
            <a:r>
              <a:rPr lang="en-US" sz="2400" b="0" dirty="0"/>
              <a:t>to assess quality once software is built.</a:t>
            </a:r>
          </a:p>
        </p:txBody>
      </p:sp>
    </p:spTree>
    <p:extLst>
      <p:ext uri="{BB962C8B-B14F-4D97-AF65-F5344CB8AC3E}">
        <p14:creationId xmlns:p14="http://schemas.microsoft.com/office/powerpoint/2010/main" val="364153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230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Software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Software requirements analysis may be divided into five areas of effort: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(</a:t>
            </a:r>
            <a:r>
              <a:rPr lang="en-US" sz="2400" b="0" dirty="0"/>
              <a:t>1) </a:t>
            </a:r>
            <a:r>
              <a:rPr lang="en-US" sz="2400" b="0" dirty="0" smtClean="0"/>
              <a:t>problem recognition</a:t>
            </a:r>
            <a:r>
              <a:rPr lang="en-US" sz="2400" b="0" dirty="0"/>
              <a:t>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(</a:t>
            </a:r>
            <a:r>
              <a:rPr lang="en-US" sz="2400" b="0" dirty="0"/>
              <a:t>2) evaluation and synthesis,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(</a:t>
            </a:r>
            <a:r>
              <a:rPr lang="en-US" sz="2400" b="0" dirty="0"/>
              <a:t>3) modeling,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(</a:t>
            </a:r>
            <a:r>
              <a:rPr lang="en-US" sz="2400" b="0" dirty="0"/>
              <a:t>4) specification,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(</a:t>
            </a:r>
            <a:r>
              <a:rPr lang="en-US" sz="2400" b="0" dirty="0" smtClean="0"/>
              <a:t>5) review</a:t>
            </a:r>
          </a:p>
        </p:txBody>
      </p:sp>
    </p:spTree>
    <p:extLst>
      <p:ext uri="{BB962C8B-B14F-4D97-AF65-F5344CB8AC3E}">
        <p14:creationId xmlns:p14="http://schemas.microsoft.com/office/powerpoint/2010/main" val="304078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230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Software </a:t>
            </a:r>
            <a:r>
              <a:rPr lang="fr-FR" sz="3600" dirty="0" err="1" smtClean="0"/>
              <a:t>Requirements</a:t>
            </a:r>
            <a:r>
              <a:rPr lang="fr-FR" sz="3600" dirty="0" smtClean="0"/>
              <a:t> </a:t>
            </a:r>
            <a:r>
              <a:rPr lang="fr-FR" sz="3600" dirty="0" err="1" smtClean="0"/>
              <a:t>Analysis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The analyst must </a:t>
            </a:r>
            <a:r>
              <a:rPr lang="en-US" sz="2400" b="0" dirty="0" smtClean="0"/>
              <a:t> </a:t>
            </a:r>
          </a:p>
          <a:p>
            <a:pPr lvl="1"/>
            <a:r>
              <a:rPr lang="en-US" sz="2400" b="0" dirty="0" smtClean="0"/>
              <a:t>define all </a:t>
            </a:r>
            <a:r>
              <a:rPr lang="en-US" sz="2400" b="0" dirty="0"/>
              <a:t>externally observable data objects,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evaluate </a:t>
            </a:r>
            <a:r>
              <a:rPr lang="en-US" sz="2400" b="0" dirty="0"/>
              <a:t>the flow and content of information,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define </a:t>
            </a:r>
            <a:r>
              <a:rPr lang="en-US" sz="2400" b="0" dirty="0"/>
              <a:t>and elaborate all software functions,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understand </a:t>
            </a:r>
            <a:r>
              <a:rPr lang="en-US" sz="2400" b="0" dirty="0"/>
              <a:t>software behavior in the context of events that affect the system, establish system interface </a:t>
            </a:r>
            <a:r>
              <a:rPr lang="en-US" sz="2400" b="0" dirty="0" smtClean="0"/>
              <a:t>characteristics, </a:t>
            </a:r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uncover additional design constraints.</a:t>
            </a:r>
          </a:p>
        </p:txBody>
      </p:sp>
    </p:spTree>
    <p:extLst>
      <p:ext uri="{BB962C8B-B14F-4D97-AF65-F5344CB8AC3E}">
        <p14:creationId xmlns:p14="http://schemas.microsoft.com/office/powerpoint/2010/main" val="44284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230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Software </a:t>
            </a:r>
            <a:r>
              <a:rPr lang="fr-FR" sz="3600" dirty="0" err="1" smtClean="0"/>
              <a:t>Req</a:t>
            </a:r>
            <a:r>
              <a:rPr lang="fr-FR" sz="3600" dirty="0" smtClean="0"/>
              <a:t>. </a:t>
            </a:r>
            <a:r>
              <a:rPr lang="fr-FR" sz="3600" dirty="0" err="1" smtClean="0"/>
              <a:t>Analysis</a:t>
            </a:r>
            <a:r>
              <a:rPr lang="fr-FR" sz="3600" dirty="0" smtClean="0"/>
              <a:t>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information domain of a problem must be represented and understood</a:t>
            </a:r>
            <a:r>
              <a:rPr lang="en-US" sz="2400" b="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functions that the software is to perform must be defined.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behavior of the software (as a consequence of external events) must </a:t>
            </a:r>
            <a:r>
              <a:rPr lang="en-US" sz="2400" b="0" dirty="0" smtClean="0"/>
              <a:t>be represented</a:t>
            </a:r>
            <a:r>
              <a:rPr lang="en-US" sz="2400" b="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models that depict information, function, and behavior must be </a:t>
            </a:r>
            <a:r>
              <a:rPr lang="en-US" sz="2400" b="0" dirty="0" smtClean="0"/>
              <a:t>partitioned in </a:t>
            </a:r>
            <a:r>
              <a:rPr lang="en-US" sz="2400" b="0" dirty="0"/>
              <a:t>a manner that uncovers detail in a layered (or hierarchical) fashion</a:t>
            </a:r>
            <a:r>
              <a:rPr lang="en-US" sz="2400" b="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0" dirty="0" smtClean="0"/>
              <a:t>The </a:t>
            </a:r>
            <a:r>
              <a:rPr lang="en-US" sz="2400" b="0" dirty="0"/>
              <a:t>analysis process should move from essential information toward </a:t>
            </a:r>
            <a:r>
              <a:rPr lang="en-US" sz="2400" b="0" dirty="0" smtClean="0"/>
              <a:t>implementation detail</a:t>
            </a:r>
            <a:r>
              <a:rPr lang="en-US" sz="24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185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687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Software </a:t>
            </a:r>
            <a:r>
              <a:rPr lang="fr-FR" sz="3600" dirty="0" err="1" smtClean="0"/>
              <a:t>Req</a:t>
            </a:r>
            <a:r>
              <a:rPr lang="fr-FR" sz="3600" dirty="0" smtClean="0"/>
              <a:t>. </a:t>
            </a:r>
            <a:r>
              <a:rPr lang="fr-FR" sz="3600" dirty="0" err="1" smtClean="0"/>
              <a:t>Analysis</a:t>
            </a:r>
            <a:r>
              <a:rPr lang="fr-FR" sz="3600" dirty="0" smtClean="0"/>
              <a:t> Guidelines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i="1" dirty="0"/>
              <a:t>Understand the problem before you begin to create the analysis </a:t>
            </a:r>
            <a:r>
              <a:rPr lang="en-US" sz="2400" b="0" i="1" dirty="0" smtClean="0"/>
              <a:t>model</a:t>
            </a:r>
          </a:p>
          <a:p>
            <a:pPr>
              <a:lnSpc>
                <a:spcPct val="150000"/>
              </a:lnSpc>
            </a:pPr>
            <a:r>
              <a:rPr lang="en-US" sz="2400" b="0" i="1" dirty="0" smtClean="0"/>
              <a:t>Develop </a:t>
            </a:r>
            <a:r>
              <a:rPr lang="en-US" sz="2400" b="0" i="1" dirty="0"/>
              <a:t>prototypes that enable a user to understand how human/machine </a:t>
            </a:r>
            <a:r>
              <a:rPr lang="en-US" sz="2400" b="0" i="1" dirty="0" smtClean="0"/>
              <a:t>interaction will </a:t>
            </a:r>
            <a:r>
              <a:rPr lang="en-US" sz="2400" b="0" i="1" dirty="0"/>
              <a:t>occur. </a:t>
            </a:r>
            <a:endParaRPr lang="en-US" sz="2400" b="0" dirty="0"/>
          </a:p>
          <a:p>
            <a:pPr>
              <a:lnSpc>
                <a:spcPct val="150000"/>
              </a:lnSpc>
            </a:pPr>
            <a:r>
              <a:rPr lang="en-US" sz="2400" b="0" i="1" dirty="0" smtClean="0"/>
              <a:t>Record </a:t>
            </a:r>
            <a:r>
              <a:rPr lang="en-US" sz="2400" b="0" i="1" dirty="0"/>
              <a:t>the origin of and the reason for every requirement. </a:t>
            </a:r>
            <a:endParaRPr lang="en-US" sz="2400" b="0" dirty="0" smtClean="0"/>
          </a:p>
          <a:p>
            <a:pPr>
              <a:lnSpc>
                <a:spcPct val="150000"/>
              </a:lnSpc>
            </a:pPr>
            <a:r>
              <a:rPr lang="en-US" sz="2400" b="0" i="1" dirty="0" smtClean="0"/>
              <a:t>Use multiple views of requirements. </a:t>
            </a:r>
          </a:p>
          <a:p>
            <a:pPr>
              <a:lnSpc>
                <a:spcPct val="150000"/>
              </a:lnSpc>
            </a:pPr>
            <a:r>
              <a:rPr lang="en-US" sz="2400" b="0" i="1" dirty="0" smtClean="0"/>
              <a:t>Rank </a:t>
            </a:r>
            <a:r>
              <a:rPr lang="en-US" sz="2400" b="0" i="1" dirty="0"/>
              <a:t>requirements. </a:t>
            </a:r>
            <a:endParaRPr lang="en-US" sz="2400" b="0" i="1" dirty="0" smtClean="0"/>
          </a:p>
          <a:p>
            <a:pPr>
              <a:lnSpc>
                <a:spcPct val="150000"/>
              </a:lnSpc>
            </a:pPr>
            <a:r>
              <a:rPr lang="en-US" sz="2400" b="0" i="1" dirty="0" smtClean="0"/>
              <a:t>Work </a:t>
            </a:r>
            <a:r>
              <a:rPr lang="en-US" sz="2400" b="0" i="1" dirty="0"/>
              <a:t>to eliminate ambiguity</a:t>
            </a:r>
            <a:r>
              <a:rPr lang="en-US" sz="2400" b="0" i="1" dirty="0" smtClean="0"/>
              <a:t>.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1556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572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Software </a:t>
            </a:r>
            <a:r>
              <a:rPr lang="fr-FR" sz="3600" dirty="0" err="1" smtClean="0"/>
              <a:t>Models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Functional models. </a:t>
            </a:r>
            <a:r>
              <a:rPr lang="en-US" sz="2400" b="0" dirty="0"/>
              <a:t>Software transforms information, and in order </a:t>
            </a:r>
            <a:r>
              <a:rPr lang="en-US" sz="2400" b="0" dirty="0" smtClean="0"/>
              <a:t>to accomplish </a:t>
            </a:r>
            <a:r>
              <a:rPr lang="en-US" sz="2400" b="0" dirty="0"/>
              <a:t>this, it must perform at least three generic functions: input, </a:t>
            </a:r>
            <a:r>
              <a:rPr lang="en-US" sz="2400" b="0" dirty="0" smtClean="0"/>
              <a:t>processing, and </a:t>
            </a:r>
            <a:r>
              <a:rPr lang="en-US" sz="2400" b="0" dirty="0"/>
              <a:t>output. When functional models of an application are </a:t>
            </a:r>
            <a:r>
              <a:rPr lang="en-US" sz="2400" b="0" dirty="0" smtClean="0"/>
              <a:t>created, the </a:t>
            </a:r>
            <a:r>
              <a:rPr lang="en-US" sz="2400" b="0" dirty="0"/>
              <a:t>software engineer focuses on problem specific functions. </a:t>
            </a:r>
            <a:endParaRPr lang="en-US" sz="2400" b="0" dirty="0" smtClean="0"/>
          </a:p>
          <a:p>
            <a:endParaRPr lang="en-US" sz="2400" b="0" dirty="0" smtClean="0"/>
          </a:p>
          <a:p>
            <a:r>
              <a:rPr lang="en-US" sz="2400" dirty="0"/>
              <a:t>Behavioral models. </a:t>
            </a:r>
            <a:r>
              <a:rPr lang="en-US" sz="2400" b="0" dirty="0"/>
              <a:t>Most software responds to events from the </a:t>
            </a:r>
            <a:r>
              <a:rPr lang="en-US" sz="2400" b="0" dirty="0" smtClean="0"/>
              <a:t>outside world</a:t>
            </a:r>
            <a:r>
              <a:rPr lang="en-US" sz="2400" b="0" dirty="0"/>
              <a:t>. This stimulus/response characteristic forms the basis of the </a:t>
            </a:r>
            <a:r>
              <a:rPr lang="en-US" sz="2400" b="0" dirty="0" smtClean="0"/>
              <a:t>behavioral model</a:t>
            </a:r>
            <a:r>
              <a:rPr lang="en-US" sz="2400" b="0" dirty="0"/>
              <a:t>. A computer program always exists in some state—an </a:t>
            </a:r>
            <a:r>
              <a:rPr lang="en-US" sz="2400" b="0" dirty="0" smtClean="0"/>
              <a:t>externally observable </a:t>
            </a:r>
            <a:r>
              <a:rPr lang="en-US" sz="2400" b="0" dirty="0"/>
              <a:t>mode of behavior (e.g., waiting, computing, printing, polling) </a:t>
            </a:r>
            <a:r>
              <a:rPr lang="en-US" sz="2400" b="0" dirty="0" smtClean="0"/>
              <a:t>that is </a:t>
            </a:r>
            <a:r>
              <a:rPr lang="en-US" sz="2400" b="0" dirty="0"/>
              <a:t>changed only when some event occurs.</a:t>
            </a:r>
          </a:p>
        </p:txBody>
      </p:sp>
    </p:spTree>
    <p:extLst>
      <p:ext uri="{BB962C8B-B14F-4D97-AF65-F5344CB8AC3E}">
        <p14:creationId xmlns:p14="http://schemas.microsoft.com/office/powerpoint/2010/main" val="393635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944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</a:t>
            </a:r>
            <a:r>
              <a:rPr lang="fr-FR" sz="3600" dirty="0" err="1" smtClean="0"/>
              <a:t>Approach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The prototyping paradigm can be either close-ended or open-ended.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The close-ended approach </a:t>
            </a:r>
            <a:r>
              <a:rPr lang="en-US" sz="2400" b="0" dirty="0"/>
              <a:t>is often called </a:t>
            </a:r>
            <a:r>
              <a:rPr lang="en-US" sz="2400" b="0" i="1" dirty="0"/>
              <a:t>throwaway </a:t>
            </a:r>
            <a:r>
              <a:rPr lang="en-US" sz="2400" b="0" i="1" dirty="0" smtClean="0"/>
              <a:t>prototyping;</a:t>
            </a:r>
          </a:p>
          <a:p>
            <a:pPr lvl="1"/>
            <a:r>
              <a:rPr lang="en-US" sz="2400" b="0" dirty="0" smtClean="0"/>
              <a:t>An </a:t>
            </a:r>
            <a:r>
              <a:rPr lang="en-US" sz="2400" b="0" dirty="0"/>
              <a:t>open-ended approach, </a:t>
            </a:r>
            <a:r>
              <a:rPr lang="en-US" sz="2400" b="0" dirty="0" smtClean="0"/>
              <a:t>called </a:t>
            </a:r>
            <a:r>
              <a:rPr lang="en-US" sz="2400" b="0" i="1" dirty="0" smtClean="0"/>
              <a:t>evolutionary </a:t>
            </a:r>
            <a:r>
              <a:rPr lang="en-US" sz="2400" b="0" i="1" dirty="0"/>
              <a:t>prototyping, </a:t>
            </a:r>
            <a:r>
              <a:rPr lang="en-US" sz="2400" b="0" dirty="0"/>
              <a:t>uses the prototype as the first part of an analysis activity </a:t>
            </a:r>
            <a:r>
              <a:rPr lang="en-US" sz="2400" b="0" dirty="0" smtClean="0"/>
              <a:t>that will </a:t>
            </a:r>
            <a:r>
              <a:rPr lang="en-US" sz="2400" b="0" dirty="0"/>
              <a:t>be continued into design and construction. </a:t>
            </a:r>
          </a:p>
        </p:txBody>
      </p:sp>
    </p:spTree>
    <p:extLst>
      <p:ext uri="{BB962C8B-B14F-4D97-AF65-F5344CB8AC3E}">
        <p14:creationId xmlns:p14="http://schemas.microsoft.com/office/powerpoint/2010/main" val="213694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944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</a:t>
            </a:r>
            <a:r>
              <a:rPr lang="fr-FR" sz="3600" dirty="0" err="1" smtClean="0"/>
              <a:t>Approach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6360"/>
            <a:ext cx="8402086" cy="5077703"/>
          </a:xfrm>
        </p:spPr>
        <p:txBody>
          <a:bodyPr/>
          <a:lstStyle/>
          <a:p>
            <a:r>
              <a:rPr lang="en-US" sz="2400" b="0" dirty="0"/>
              <a:t>I</a:t>
            </a:r>
            <a:r>
              <a:rPr lang="en-US" sz="2400" b="0" dirty="0" smtClean="0"/>
              <a:t>t </a:t>
            </a:r>
            <a:r>
              <a:rPr lang="en-US" sz="2400" b="0" dirty="0"/>
              <a:t>is necessary </a:t>
            </a:r>
            <a:r>
              <a:rPr lang="en-US" sz="2400" b="0" dirty="0" smtClean="0"/>
              <a:t>to determine </a:t>
            </a:r>
            <a:r>
              <a:rPr lang="en-US" sz="2400" b="0" dirty="0"/>
              <a:t>whether the system to be built is amenable to prototyping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application </a:t>
            </a:r>
            <a:r>
              <a:rPr lang="en-US" sz="2400" b="0" dirty="0"/>
              <a:t>area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application complexity,</a:t>
            </a:r>
          </a:p>
          <a:p>
            <a:pPr lvl="1"/>
            <a:r>
              <a:rPr lang="en-US" sz="2400" b="0" dirty="0" smtClean="0"/>
              <a:t>customer </a:t>
            </a:r>
            <a:r>
              <a:rPr lang="en-US" sz="2400" b="0" dirty="0"/>
              <a:t>characteristics,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and </a:t>
            </a:r>
            <a:r>
              <a:rPr lang="en-US" sz="2400" b="0" dirty="0"/>
              <a:t>project characteristics.</a:t>
            </a:r>
            <a:r>
              <a:rPr lang="en-US" sz="2400" b="0" dirty="0" smtClean="0"/>
              <a:t> </a:t>
            </a:r>
            <a:endParaRPr lang="en-US" sz="2400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53" y="3348318"/>
            <a:ext cx="7743825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659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944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 </a:t>
            </a:r>
            <a:r>
              <a:rPr lang="fr-FR" sz="3600" dirty="0" err="1" smtClean="0"/>
              <a:t>Prototyping</a:t>
            </a:r>
            <a:r>
              <a:rPr lang="fr-FR" sz="3600" dirty="0" smtClean="0"/>
              <a:t> </a:t>
            </a:r>
            <a:r>
              <a:rPr lang="fr-FR" sz="3600" dirty="0" err="1" smtClean="0"/>
              <a:t>Approach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6360"/>
            <a:ext cx="8402086" cy="5077703"/>
          </a:xfrm>
        </p:spPr>
        <p:txBody>
          <a:bodyPr/>
          <a:lstStyle/>
          <a:p>
            <a:r>
              <a:rPr lang="en-US" sz="2400" b="0" dirty="0"/>
              <a:t>Prototyping Methods and </a:t>
            </a:r>
            <a:r>
              <a:rPr lang="en-US" sz="2400" b="0" dirty="0" smtClean="0"/>
              <a:t>Tools</a:t>
            </a:r>
          </a:p>
          <a:p>
            <a:endParaRPr lang="en-US" sz="2400" b="0" dirty="0" smtClean="0"/>
          </a:p>
          <a:p>
            <a:pPr lvl="1"/>
            <a:r>
              <a:rPr lang="en-US" sz="2400" dirty="0"/>
              <a:t>Fourth generation </a:t>
            </a:r>
            <a:r>
              <a:rPr lang="en-US" sz="2400" dirty="0" smtClean="0"/>
              <a:t>techniques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/>
              <a:t>Reusable software </a:t>
            </a:r>
            <a:r>
              <a:rPr lang="en-US" sz="2400" dirty="0" smtClean="0"/>
              <a:t>components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/>
              <a:t>Formal specification and prototyping environments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25977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944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Specificatio</a:t>
            </a:r>
            <a:r>
              <a:rPr lang="fr-FR" sz="3600" dirty="0" err="1"/>
              <a:t>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Specification may </a:t>
            </a:r>
            <a:r>
              <a:rPr lang="en-US" sz="2400" b="0" dirty="0"/>
              <a:t>be </a:t>
            </a:r>
            <a:r>
              <a:rPr lang="en-US" sz="2400" b="0" dirty="0" smtClean="0"/>
              <a:t>viewed as </a:t>
            </a:r>
            <a:r>
              <a:rPr lang="en-US" sz="2400" b="0" dirty="0"/>
              <a:t>a representation process. Requirements are represented in a manner that </a:t>
            </a:r>
            <a:r>
              <a:rPr lang="en-US" sz="2400" b="0" dirty="0" smtClean="0"/>
              <a:t>ultimately leads </a:t>
            </a:r>
            <a:r>
              <a:rPr lang="en-US" sz="2400" b="0" dirty="0"/>
              <a:t>to successful software implementation</a:t>
            </a:r>
            <a:r>
              <a:rPr lang="en-US" sz="2400" b="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02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9252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Specification</a:t>
            </a:r>
            <a:r>
              <a:rPr lang="fr-FR" sz="3600" dirty="0" smtClean="0"/>
              <a:t>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Specification </a:t>
            </a:r>
            <a:r>
              <a:rPr lang="en-US" sz="2400" b="0" dirty="0" smtClean="0"/>
              <a:t>principles:</a:t>
            </a:r>
          </a:p>
          <a:p>
            <a:pPr lvl="1"/>
            <a:r>
              <a:rPr lang="en-US" sz="2400" b="0" dirty="0"/>
              <a:t>Separate functionality from implementation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Develop a model of the desired behavior of a system that encompasses </a:t>
            </a:r>
            <a:r>
              <a:rPr lang="en-US" sz="2400" b="0" dirty="0" smtClean="0"/>
              <a:t>data &amp; </a:t>
            </a:r>
            <a:r>
              <a:rPr lang="en-US" sz="2400" b="0" dirty="0"/>
              <a:t>the functional responses of a system to various stimuli from the environment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Establish the context in which software operates by specifying the manner </a:t>
            </a:r>
            <a:r>
              <a:rPr lang="en-US" sz="2400" b="0" dirty="0" smtClean="0"/>
              <a:t>in which </a:t>
            </a:r>
            <a:r>
              <a:rPr lang="en-US" sz="2400" b="0" dirty="0"/>
              <a:t>other system components interact with software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Define the environment in which the system </a:t>
            </a:r>
            <a:r>
              <a:rPr lang="en-US" sz="2400" b="0" dirty="0" smtClean="0"/>
              <a:t>operates</a:t>
            </a:r>
          </a:p>
          <a:p>
            <a:pPr lvl="1"/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90677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230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Specification</a:t>
            </a:r>
            <a:r>
              <a:rPr lang="fr-FR" sz="3600" dirty="0" smtClean="0"/>
              <a:t>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Specification </a:t>
            </a:r>
            <a:r>
              <a:rPr lang="en-US" sz="2400" b="0" dirty="0" smtClean="0"/>
              <a:t>principles (cont.):</a:t>
            </a:r>
          </a:p>
          <a:p>
            <a:pPr lvl="1"/>
            <a:r>
              <a:rPr lang="en-US" sz="2400" b="0" dirty="0"/>
              <a:t>Create a cognitive model rather than a design or implementation model. </a:t>
            </a:r>
            <a:r>
              <a:rPr lang="en-US" sz="2400" b="0" dirty="0" smtClean="0"/>
              <a:t>The cognitive </a:t>
            </a:r>
            <a:r>
              <a:rPr lang="en-US" sz="2400" b="0" dirty="0"/>
              <a:t>model describes a system as perceived by its user </a:t>
            </a:r>
            <a:r>
              <a:rPr lang="en-US" sz="2400" b="0" dirty="0" smtClean="0"/>
              <a:t>community.</a:t>
            </a:r>
          </a:p>
          <a:p>
            <a:pPr lvl="1"/>
            <a:r>
              <a:rPr lang="en-US" sz="2400" b="0" dirty="0"/>
              <a:t>Recognize that “the specifications must be tolerant of incompleteness </a:t>
            </a:r>
            <a:r>
              <a:rPr lang="en-US" sz="2400" b="0" dirty="0" smtClean="0"/>
              <a:t>and augmentable</a:t>
            </a:r>
            <a:r>
              <a:rPr lang="en-US" sz="2400" b="0" dirty="0"/>
              <a:t>.” A specification is always a </a:t>
            </a:r>
            <a:r>
              <a:rPr lang="en-US" sz="2400" b="0" dirty="0" smtClean="0"/>
              <a:t>model of some </a:t>
            </a:r>
            <a:r>
              <a:rPr lang="en-US" sz="2400" b="0"/>
              <a:t>real </a:t>
            </a:r>
            <a:r>
              <a:rPr lang="en-US" sz="2400" b="0" smtClean="0"/>
              <a:t>situation </a:t>
            </a:r>
            <a:r>
              <a:rPr lang="en-US" sz="2400" b="0" dirty="0"/>
              <a:t>that is </a:t>
            </a:r>
            <a:r>
              <a:rPr lang="en-US" sz="2400" b="0" dirty="0" smtClean="0"/>
              <a:t>normally quite </a:t>
            </a:r>
            <a:r>
              <a:rPr lang="en-US" sz="2400" b="0" dirty="0"/>
              <a:t>complex. Hence, it will </a:t>
            </a:r>
            <a:r>
              <a:rPr lang="en-US" sz="2400" b="0" dirty="0" smtClean="0"/>
              <a:t>be incomplete </a:t>
            </a:r>
            <a:r>
              <a:rPr lang="en-US" sz="2400" b="0" dirty="0"/>
              <a:t>and will exist at many levels of detail.</a:t>
            </a:r>
          </a:p>
          <a:p>
            <a:pPr lvl="1"/>
            <a:r>
              <a:rPr lang="en-US" sz="2400" b="0" dirty="0" smtClean="0"/>
              <a:t>Establish </a:t>
            </a:r>
            <a:r>
              <a:rPr lang="en-US" sz="2400" b="0" dirty="0"/>
              <a:t>the content and structure of a specification in a way that will </a:t>
            </a:r>
            <a:r>
              <a:rPr lang="en-US" sz="2400" b="0" dirty="0" smtClean="0"/>
              <a:t>enable it </a:t>
            </a:r>
            <a:r>
              <a:rPr lang="en-US" sz="2400" b="0" dirty="0"/>
              <a:t>to be amenable to change</a:t>
            </a:r>
            <a:r>
              <a:rPr lang="en-US" sz="2400" b="0" dirty="0" smtClean="0"/>
              <a:t>.</a:t>
            </a:r>
            <a:endParaRPr lang="en-US" sz="8000" b="0" dirty="0" smtClean="0"/>
          </a:p>
          <a:p>
            <a:pPr lvl="1"/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80299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515062" cy="777600"/>
          </a:xfrm>
        </p:spPr>
        <p:txBody>
          <a:bodyPr wrap="square">
            <a:noAutofit/>
          </a:bodyPr>
          <a:lstStyle/>
          <a:p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7620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err="1" smtClean="0"/>
              <a:t>Chapter</a:t>
            </a:r>
            <a:r>
              <a:rPr lang="fr-FR" sz="5400" dirty="0" smtClean="0"/>
              <a:t> III</a:t>
            </a:r>
          </a:p>
          <a:p>
            <a:pPr marL="0" indent="0" algn="ctr">
              <a:buNone/>
            </a:pPr>
            <a:r>
              <a:rPr lang="fr-FR" sz="5400" dirty="0" smtClean="0"/>
              <a:t>Design Concepts &amp; </a:t>
            </a:r>
            <a:r>
              <a:rPr lang="fr-FR" sz="5400" dirty="0" err="1" smtClean="0"/>
              <a:t>Principles</a:t>
            </a:r>
            <a:endParaRPr lang="fr-FR" sz="5400" dirty="0" smtClean="0"/>
          </a:p>
          <a:p>
            <a:pPr marL="0" indent="0" algn="ctr">
              <a:buNone/>
            </a:pPr>
            <a:endParaRPr lang="fr-FR" sz="5400" dirty="0" smtClean="0"/>
          </a:p>
          <a:p>
            <a:r>
              <a:rPr lang="en-US" sz="2800" b="0" dirty="0" smtClean="0"/>
              <a:t>Design Principles</a:t>
            </a:r>
          </a:p>
          <a:p>
            <a:r>
              <a:rPr lang="en-US" sz="2800" b="0" dirty="0" smtClean="0"/>
              <a:t>Architectural Design</a:t>
            </a:r>
          </a:p>
          <a:p>
            <a:r>
              <a:rPr lang="en-US" sz="2800" b="0" dirty="0" smtClean="0"/>
              <a:t>Interface Design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61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819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Overview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The designer's goal is to produce a model or representation of an entity that will later be built.</a:t>
            </a:r>
          </a:p>
          <a:p>
            <a:r>
              <a:rPr lang="en-US" sz="2800" b="0" dirty="0" smtClean="0"/>
              <a:t>Design </a:t>
            </a:r>
            <a:r>
              <a:rPr lang="en-US" sz="2800" b="0" dirty="0"/>
              <a:t>is the first of three </a:t>
            </a:r>
            <a:r>
              <a:rPr lang="en-US" sz="2800" b="0" dirty="0" smtClean="0"/>
              <a:t>technical activities (design</a:t>
            </a:r>
            <a:r>
              <a:rPr lang="en-US" sz="2800" b="0" dirty="0"/>
              <a:t>, code generation, and </a:t>
            </a:r>
            <a:r>
              <a:rPr lang="en-US" sz="2800" b="0" dirty="0" smtClean="0"/>
              <a:t>test) that </a:t>
            </a:r>
            <a:r>
              <a:rPr lang="en-US" sz="2800" b="0" dirty="0"/>
              <a:t>are required to build and </a:t>
            </a:r>
            <a:r>
              <a:rPr lang="en-US" sz="2800" b="0" dirty="0" smtClean="0"/>
              <a:t>verify the </a:t>
            </a:r>
            <a:r>
              <a:rPr lang="en-US" sz="2800" b="0" dirty="0"/>
              <a:t>software</a:t>
            </a:r>
            <a:endParaRPr lang="en-US" sz="2800" b="0" dirty="0" smtClean="0"/>
          </a:p>
          <a:p>
            <a:r>
              <a:rPr lang="en-US" sz="2800" b="0" dirty="0"/>
              <a:t>Software requirements, manifested by the data, functional, and behavioral </a:t>
            </a:r>
            <a:r>
              <a:rPr lang="en-US" sz="2800" b="0" dirty="0" smtClean="0"/>
              <a:t>models, feed </a:t>
            </a:r>
            <a:r>
              <a:rPr lang="en-US" sz="2800" b="0" dirty="0"/>
              <a:t>the design </a:t>
            </a:r>
            <a:r>
              <a:rPr lang="en-US" sz="2800" b="0" dirty="0" smtClean="0"/>
              <a:t>task</a:t>
            </a:r>
          </a:p>
          <a:p>
            <a:r>
              <a:rPr lang="en-US" sz="2800" b="0" dirty="0"/>
              <a:t>T</a:t>
            </a:r>
            <a:r>
              <a:rPr lang="en-US" sz="2800" b="0" dirty="0" smtClean="0"/>
              <a:t>he </a:t>
            </a:r>
            <a:r>
              <a:rPr lang="en-US" sz="2800" b="0" dirty="0"/>
              <a:t>design task produces a data design, an architectural design, an </a:t>
            </a:r>
            <a:r>
              <a:rPr lang="en-US" sz="2800" b="0" dirty="0" smtClean="0"/>
              <a:t>interface design</a:t>
            </a:r>
            <a:r>
              <a:rPr lang="en-US" sz="2800" b="0" dirty="0"/>
              <a:t>, and a component design</a:t>
            </a:r>
          </a:p>
        </p:txBody>
      </p:sp>
    </p:spTree>
    <p:extLst>
      <p:ext uri="{BB962C8B-B14F-4D97-AF65-F5344CB8AC3E}">
        <p14:creationId xmlns:p14="http://schemas.microsoft.com/office/powerpoint/2010/main" val="158964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819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Overview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 marL="0" indent="0">
              <a:buNone/>
            </a:pPr>
            <a:endParaRPr lang="en-US" sz="2800" b="0" dirty="0" smtClean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 smtClean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 smtClean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 smtClean="0"/>
          </a:p>
          <a:p>
            <a:pPr marL="0" indent="0">
              <a:buNone/>
            </a:pPr>
            <a:endParaRPr lang="en-US" sz="2800" b="0" dirty="0"/>
          </a:p>
          <a:p>
            <a:pPr marL="0" indent="0">
              <a:buNone/>
            </a:pPr>
            <a:endParaRPr lang="en-US" sz="2800" b="0" dirty="0" smtClean="0"/>
          </a:p>
          <a:p>
            <a:pPr marL="0" indent="0" algn="ctr">
              <a:buNone/>
            </a:pPr>
            <a:r>
              <a:rPr lang="en-US" sz="2400" b="0" i="1" dirty="0" smtClean="0"/>
              <a:t>Translating analysis model into a software design</a:t>
            </a:r>
          </a:p>
          <a:p>
            <a:endParaRPr lang="en-US" sz="2800" b="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83" y="990600"/>
            <a:ext cx="72390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424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819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Overview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The </a:t>
            </a:r>
            <a:r>
              <a:rPr lang="en-US" sz="2400" b="0" dirty="0"/>
              <a:t>design task produces a data design, an architectural design, an </a:t>
            </a:r>
            <a:r>
              <a:rPr lang="en-US" sz="2400" b="0" dirty="0" smtClean="0"/>
              <a:t>interface design</a:t>
            </a:r>
            <a:r>
              <a:rPr lang="en-US" sz="2400" b="0" dirty="0"/>
              <a:t>, and a component design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data design </a:t>
            </a:r>
            <a:r>
              <a:rPr lang="en-US" sz="2400" b="0" dirty="0"/>
              <a:t>transforms the information domain model created during </a:t>
            </a:r>
            <a:r>
              <a:rPr lang="en-US" sz="2400" b="0" dirty="0" smtClean="0"/>
              <a:t>analysis into </a:t>
            </a:r>
            <a:r>
              <a:rPr lang="en-US" sz="2400" b="0" dirty="0"/>
              <a:t>the data structures that will be required to implement the </a:t>
            </a:r>
            <a:r>
              <a:rPr lang="en-US" sz="2400" b="0" dirty="0" smtClean="0"/>
              <a:t>software.</a:t>
            </a:r>
          </a:p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architectural design </a:t>
            </a:r>
            <a:r>
              <a:rPr lang="en-US" sz="2400" b="0" dirty="0"/>
              <a:t>defines the relationship between major structural </a:t>
            </a:r>
            <a:r>
              <a:rPr lang="en-US" sz="2400" b="0" dirty="0" smtClean="0"/>
              <a:t>elements of </a:t>
            </a:r>
            <a:r>
              <a:rPr lang="en-US" sz="2400" b="0" dirty="0"/>
              <a:t>the software, the “design patterns” that can be used to achieve the </a:t>
            </a:r>
            <a:r>
              <a:rPr lang="en-US" sz="2400" b="0" dirty="0" smtClean="0"/>
              <a:t>requirements.</a:t>
            </a:r>
          </a:p>
          <a:p>
            <a:pPr lvl="1"/>
            <a:endParaRPr lang="en-US" sz="2400" b="0" dirty="0" smtClean="0"/>
          </a:p>
          <a:p>
            <a:pPr lvl="1"/>
            <a:endParaRPr lang="en-US" sz="2400" b="0" dirty="0" smtClean="0"/>
          </a:p>
          <a:p>
            <a:pPr marL="442912" lvl="1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85811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819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Overview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interface design </a:t>
            </a:r>
            <a:r>
              <a:rPr lang="en-US" sz="2400" b="0" dirty="0"/>
              <a:t>describes how the software communicates within itself, with systems that interoperate with it, and with humans who use it.</a:t>
            </a:r>
          </a:p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component-level design </a:t>
            </a:r>
            <a:r>
              <a:rPr lang="en-US" sz="2400" b="0" dirty="0"/>
              <a:t>transforms structural elements of the software architecture into a procedural description of software components.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marL="442912" lvl="1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77693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819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Overview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Design </a:t>
            </a:r>
            <a:r>
              <a:rPr lang="en-US" sz="2400" b="0" dirty="0" smtClean="0"/>
              <a:t>provides us </a:t>
            </a:r>
            <a:r>
              <a:rPr lang="en-US" sz="2400" b="0" dirty="0"/>
              <a:t>with representations of software that can be assessed for quality.</a:t>
            </a:r>
            <a:endParaRPr lang="en-US" sz="2400" b="0" dirty="0" smtClean="0"/>
          </a:p>
          <a:p>
            <a:r>
              <a:rPr lang="en-US" sz="2400" b="0" dirty="0"/>
              <a:t>Design </a:t>
            </a:r>
            <a:r>
              <a:rPr lang="en-US" sz="2400" b="0" dirty="0" smtClean="0"/>
              <a:t>is the </a:t>
            </a:r>
            <a:r>
              <a:rPr lang="en-US" sz="2400" b="0" dirty="0"/>
              <a:t>only way that we can accurately translate a customer's requirements into a </a:t>
            </a:r>
            <a:r>
              <a:rPr lang="en-US" sz="2400" b="0" dirty="0" smtClean="0"/>
              <a:t>finished software product.</a:t>
            </a: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8285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Design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Software design is both a process and a model.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design </a:t>
            </a:r>
            <a:r>
              <a:rPr lang="en-US" sz="2400" b="0" i="1" dirty="0"/>
              <a:t>process </a:t>
            </a:r>
            <a:r>
              <a:rPr lang="en-US" sz="2400" b="0" dirty="0"/>
              <a:t>is a sequence </a:t>
            </a:r>
            <a:r>
              <a:rPr lang="en-US" sz="2400" b="0" dirty="0" smtClean="0"/>
              <a:t>of steps </a:t>
            </a:r>
            <a:r>
              <a:rPr lang="en-US" sz="2400" b="0" dirty="0"/>
              <a:t>that enable the designer to describe all aspects of the software to be </a:t>
            </a:r>
            <a:r>
              <a:rPr lang="en-US" sz="2400" b="0" dirty="0" smtClean="0"/>
              <a:t>built (</a:t>
            </a:r>
            <a:r>
              <a:rPr lang="en-US" sz="2400" b="0" dirty="0"/>
              <a:t>c</a:t>
            </a:r>
            <a:r>
              <a:rPr lang="en-US" sz="2400" b="0" dirty="0" smtClean="0"/>
              <a:t>reative skill</a:t>
            </a:r>
            <a:r>
              <a:rPr lang="en-US" sz="2400" b="0" dirty="0"/>
              <a:t>, past experience, a sense of what makes “</a:t>
            </a:r>
            <a:r>
              <a:rPr lang="en-US" sz="2400" b="0" dirty="0" smtClean="0"/>
              <a:t>good” software)</a:t>
            </a:r>
          </a:p>
          <a:p>
            <a:pPr lvl="1"/>
            <a:r>
              <a:rPr lang="en-US" sz="2400" b="0" dirty="0"/>
              <a:t>The design </a:t>
            </a:r>
            <a:r>
              <a:rPr lang="en-US" sz="2400" b="0" i="1" dirty="0"/>
              <a:t>model </a:t>
            </a:r>
            <a:r>
              <a:rPr lang="en-US" sz="2400" b="0" i="1" dirty="0" smtClean="0"/>
              <a:t> </a:t>
            </a:r>
            <a:r>
              <a:rPr lang="en-US" sz="2400" b="0" dirty="0" smtClean="0"/>
              <a:t>begins by representing </a:t>
            </a:r>
            <a:r>
              <a:rPr lang="en-US" sz="2400" b="0" dirty="0"/>
              <a:t>the totality of the thing to be built </a:t>
            </a:r>
            <a:r>
              <a:rPr lang="en-US" sz="2400" b="0" dirty="0" smtClean="0"/>
              <a:t>and </a:t>
            </a:r>
            <a:r>
              <a:rPr lang="en-US" sz="2400" b="0" dirty="0"/>
              <a:t>slowly refines the thing to provide guidance for constructing </a:t>
            </a:r>
            <a:r>
              <a:rPr lang="en-US" sz="2400" b="0" dirty="0" smtClean="0"/>
              <a:t>each detail</a:t>
            </a:r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/>
          </a:p>
          <a:p>
            <a:pPr marL="0" indent="0">
              <a:buNone/>
            </a:pPr>
            <a:endParaRPr lang="en-US" sz="2400" b="0" dirty="0" smtClean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66593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Design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/>
              <a:t>The design process should not suffer from “tunnel vision</a:t>
            </a:r>
            <a:r>
              <a:rPr lang="en-US" sz="2400" b="0" dirty="0" smtClean="0"/>
              <a:t>.”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be traceable to the analysis model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not reinvent the wheel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“minimize the intellectual distance” </a:t>
            </a:r>
            <a:r>
              <a:rPr lang="en-US" sz="2400" b="0" dirty="0" smtClean="0"/>
              <a:t>between </a:t>
            </a:r>
            <a:r>
              <a:rPr lang="en-US" sz="2400" b="0" dirty="0"/>
              <a:t>the software and the problem as it exists in the real world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exhibit uniformity and integration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be structured to accommodate change</a:t>
            </a:r>
            <a:r>
              <a:rPr lang="en-US" sz="2400" b="0" dirty="0" smtClean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738980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Design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/>
              <a:t>The design should be structured to degrade gently, even when aberrant data, events, or operating conditions are encountered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Design is not coding, coding is not design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be assessed for quality as it is being created, </a:t>
            </a:r>
            <a:r>
              <a:rPr lang="en-US" sz="2400" b="0" dirty="0" smtClean="0"/>
              <a:t>not after </a:t>
            </a:r>
            <a:r>
              <a:rPr lang="en-US" sz="2400" b="0" dirty="0"/>
              <a:t>the fact</a:t>
            </a:r>
            <a:r>
              <a:rPr lang="en-US" sz="2400" b="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0" dirty="0"/>
              <a:t>The design should be reviewed to minimize conceptual (</a:t>
            </a:r>
            <a:r>
              <a:rPr lang="en-US" sz="2400" b="0" dirty="0" smtClean="0"/>
              <a:t>semantic) errors.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16361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410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Data Design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Data Design</a:t>
            </a:r>
          </a:p>
          <a:p>
            <a:pPr lvl="1"/>
            <a:r>
              <a:rPr lang="en-US" sz="2400" b="0" i="1" dirty="0"/>
              <a:t>D</a:t>
            </a:r>
            <a:r>
              <a:rPr lang="en-US" sz="2400" b="0" i="1" dirty="0" smtClean="0"/>
              <a:t>ata </a:t>
            </a:r>
            <a:r>
              <a:rPr lang="en-US" sz="2400" b="0" i="1" dirty="0"/>
              <a:t>design </a:t>
            </a:r>
            <a:r>
              <a:rPr lang="en-US" sz="2400" b="0" dirty="0" smtClean="0"/>
              <a:t>creates </a:t>
            </a:r>
            <a:r>
              <a:rPr lang="en-US" sz="2400" b="0" dirty="0"/>
              <a:t>a model of data and/or information that is represented at a </a:t>
            </a:r>
            <a:r>
              <a:rPr lang="en-US" sz="2400" b="0" dirty="0" smtClean="0"/>
              <a:t>high level </a:t>
            </a:r>
            <a:r>
              <a:rPr lang="en-US" sz="2400" b="0" dirty="0"/>
              <a:t>of abstraction (the customer/user’s view of data</a:t>
            </a:r>
            <a:r>
              <a:rPr lang="en-US" sz="2400" b="0" dirty="0" smtClean="0"/>
              <a:t>).</a:t>
            </a:r>
          </a:p>
          <a:p>
            <a:pPr lvl="1"/>
            <a:r>
              <a:rPr lang="en-US" sz="2400" b="0" dirty="0"/>
              <a:t>The data design activity translates these elements of the requirements model into data structures at the software component level and, when necessary, a database architecture at the application level.</a:t>
            </a:r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data objects defined during software requirements analysis are modeled </a:t>
            </a:r>
            <a:r>
              <a:rPr lang="en-US" sz="2400" b="0" dirty="0" smtClean="0"/>
              <a:t>using entity/relationship diagrams.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47129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410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Architectural Design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What is Software Architecture?</a:t>
            </a:r>
          </a:p>
          <a:p>
            <a:pPr lvl="1"/>
            <a:r>
              <a:rPr lang="en-US" sz="2400" b="0" dirty="0"/>
              <a:t>The software architecture </a:t>
            </a:r>
            <a:r>
              <a:rPr lang="en-US" sz="2400" b="0" dirty="0" smtClean="0"/>
              <a:t>is </a:t>
            </a:r>
            <a:r>
              <a:rPr lang="en-US" sz="2400" b="0" dirty="0"/>
              <a:t>the </a:t>
            </a:r>
            <a:r>
              <a:rPr lang="en-US" sz="2400" b="0" dirty="0" smtClean="0"/>
              <a:t>structure(s) of </a:t>
            </a:r>
            <a:r>
              <a:rPr lang="en-US" sz="2400" b="0" dirty="0"/>
              <a:t>the system, which comprise </a:t>
            </a:r>
            <a:r>
              <a:rPr lang="en-US" sz="2400" b="0" i="1" dirty="0"/>
              <a:t>software components</a:t>
            </a:r>
            <a:r>
              <a:rPr lang="en-US" sz="2400" b="0" dirty="0"/>
              <a:t>, the externally visible properties </a:t>
            </a:r>
            <a:r>
              <a:rPr lang="en-US" sz="2400" b="0" dirty="0" smtClean="0"/>
              <a:t>of those </a:t>
            </a:r>
            <a:r>
              <a:rPr lang="en-US" sz="2400" b="0" dirty="0"/>
              <a:t>components, and the relationships among them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A</a:t>
            </a:r>
            <a:r>
              <a:rPr lang="en-US" sz="2400" b="0" dirty="0" smtClean="0"/>
              <a:t> </a:t>
            </a:r>
            <a:r>
              <a:rPr lang="en-US" sz="2400" b="0" i="1" dirty="0"/>
              <a:t>software component</a:t>
            </a:r>
            <a:r>
              <a:rPr lang="en-US" sz="2400" b="0" dirty="0"/>
              <a:t> can </a:t>
            </a:r>
            <a:r>
              <a:rPr lang="en-US" sz="2400" b="0" dirty="0" smtClean="0"/>
              <a:t>be a </a:t>
            </a:r>
            <a:r>
              <a:rPr lang="en-US" sz="2400" b="0" dirty="0"/>
              <a:t>program </a:t>
            </a:r>
            <a:r>
              <a:rPr lang="en-US" sz="2400" b="0" dirty="0" smtClean="0"/>
              <a:t>module, databases </a:t>
            </a:r>
            <a:r>
              <a:rPr lang="en-US" sz="2400" b="0" dirty="0"/>
              <a:t>and “middleware” that enable the configuration of a network of clients </a:t>
            </a:r>
            <a:r>
              <a:rPr lang="en-US" sz="2400" b="0" dirty="0" smtClean="0"/>
              <a:t>and servers</a:t>
            </a: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01959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191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Interface Design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Interface design focuses on three areas of concern: </a:t>
            </a:r>
            <a:endParaRPr lang="en-US" sz="2400" b="0" dirty="0" smtClean="0"/>
          </a:p>
          <a:p>
            <a:pPr marL="442912" lvl="1" indent="0">
              <a:buNone/>
            </a:pPr>
            <a:r>
              <a:rPr lang="en-US" sz="2400" b="0" dirty="0" smtClean="0"/>
              <a:t>(</a:t>
            </a:r>
            <a:r>
              <a:rPr lang="en-US" sz="2400" b="0" dirty="0"/>
              <a:t>1) the design of </a:t>
            </a:r>
            <a:r>
              <a:rPr lang="en-US" sz="2400" b="0" dirty="0" smtClean="0"/>
              <a:t>interfaces between </a:t>
            </a:r>
            <a:r>
              <a:rPr lang="en-US" sz="2400" b="0" dirty="0"/>
              <a:t>software components, </a:t>
            </a:r>
            <a:endParaRPr lang="en-US" sz="2400" b="0" dirty="0" smtClean="0"/>
          </a:p>
          <a:p>
            <a:pPr marL="442912" lvl="1" indent="0">
              <a:buNone/>
            </a:pPr>
            <a:r>
              <a:rPr lang="en-US" sz="2400" b="0" dirty="0" smtClean="0"/>
              <a:t>(</a:t>
            </a:r>
            <a:r>
              <a:rPr lang="en-US" sz="2400" b="0" dirty="0"/>
              <a:t>2) the design of interfaces between </a:t>
            </a:r>
            <a:r>
              <a:rPr lang="en-US" sz="2400" b="0" dirty="0" smtClean="0"/>
              <a:t>the software </a:t>
            </a:r>
            <a:r>
              <a:rPr lang="en-US" sz="2400" b="0" dirty="0"/>
              <a:t>and other nonhuman producers and consumers of information (i.e</a:t>
            </a:r>
            <a:r>
              <a:rPr lang="en-US" sz="2400" b="0" dirty="0" smtClean="0"/>
              <a:t>., other </a:t>
            </a:r>
            <a:r>
              <a:rPr lang="en-US" sz="2400" b="0" dirty="0"/>
              <a:t>external entities), </a:t>
            </a:r>
            <a:endParaRPr lang="en-US" sz="2400" b="0" dirty="0" smtClean="0"/>
          </a:p>
          <a:p>
            <a:pPr marL="442912" lvl="1" indent="0">
              <a:buNone/>
            </a:pPr>
            <a:r>
              <a:rPr lang="en-US" sz="2400" b="0" dirty="0" smtClean="0"/>
              <a:t>(</a:t>
            </a:r>
            <a:r>
              <a:rPr lang="en-US" sz="2400" b="0" dirty="0"/>
              <a:t>3) the design of the interface between a </a:t>
            </a:r>
            <a:r>
              <a:rPr lang="en-US" sz="2400" b="0" dirty="0" smtClean="0"/>
              <a:t>human (i.e</a:t>
            </a:r>
            <a:r>
              <a:rPr lang="en-US" sz="2400" b="0" dirty="0"/>
              <a:t>., the user) and the </a:t>
            </a:r>
            <a:r>
              <a:rPr lang="en-US" sz="2400" b="0" dirty="0" smtClean="0"/>
              <a:t>computer.</a:t>
            </a: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60854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410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User Interface Design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The three </a:t>
            </a:r>
            <a:r>
              <a:rPr lang="en-US" sz="2400" b="0" dirty="0"/>
              <a:t>“golden rules”:</a:t>
            </a:r>
          </a:p>
          <a:p>
            <a:pPr marL="442912" lvl="1" indent="0">
              <a:buNone/>
            </a:pPr>
            <a:r>
              <a:rPr lang="en-US" sz="2400" dirty="0"/>
              <a:t>1. </a:t>
            </a:r>
            <a:r>
              <a:rPr lang="en-US" sz="2400" b="0" dirty="0"/>
              <a:t>Place the user in control.</a:t>
            </a:r>
          </a:p>
          <a:p>
            <a:pPr marL="442912" lvl="1" indent="0">
              <a:buNone/>
            </a:pPr>
            <a:r>
              <a:rPr lang="en-US" sz="2400" dirty="0"/>
              <a:t>2. </a:t>
            </a:r>
            <a:r>
              <a:rPr lang="en-US" sz="2400" b="0" dirty="0"/>
              <a:t>Reduce the user’s memory load.</a:t>
            </a:r>
          </a:p>
          <a:p>
            <a:pPr marL="442912" lvl="1" indent="0">
              <a:buNone/>
            </a:pPr>
            <a:r>
              <a:rPr lang="en-US" sz="2400" dirty="0"/>
              <a:t>3. </a:t>
            </a:r>
            <a:r>
              <a:rPr lang="en-US" sz="2400" b="0" dirty="0"/>
              <a:t>Make the interface consistent.</a:t>
            </a: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25559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763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User Interface Design Golden </a:t>
            </a:r>
            <a:r>
              <a:rPr lang="fr-FR" sz="3600" dirty="0" err="1" smtClean="0"/>
              <a:t>Rules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sz="2400" b="0" dirty="0" smtClean="0"/>
              <a:t>Place </a:t>
            </a:r>
            <a:r>
              <a:rPr lang="en-US" sz="2400" b="0" dirty="0"/>
              <a:t>the user in control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Define </a:t>
            </a:r>
            <a:r>
              <a:rPr lang="en-US" sz="2400" b="0" dirty="0"/>
              <a:t>interaction modes in a way that does not force a user into </a:t>
            </a:r>
            <a:r>
              <a:rPr lang="en-US" sz="2400" b="0" dirty="0" smtClean="0"/>
              <a:t>unnecessary or </a:t>
            </a:r>
            <a:r>
              <a:rPr lang="en-US" sz="2400" b="0" dirty="0"/>
              <a:t>undesired </a:t>
            </a:r>
            <a:r>
              <a:rPr lang="en-US" sz="2400" b="0" dirty="0" smtClean="0"/>
              <a:t>actions (</a:t>
            </a:r>
            <a:r>
              <a:rPr lang="en-US" sz="2400" b="0" dirty="0"/>
              <a:t>An </a:t>
            </a:r>
            <a:r>
              <a:rPr lang="en-US" sz="2400" b="0" dirty="0" smtClean="0"/>
              <a:t>interaction mode </a:t>
            </a:r>
            <a:r>
              <a:rPr lang="en-US" sz="2400" b="0" dirty="0"/>
              <a:t>is the current state of </a:t>
            </a:r>
            <a:r>
              <a:rPr lang="en-US" sz="2400" b="0" dirty="0" smtClean="0"/>
              <a:t>the interface). </a:t>
            </a:r>
            <a:endParaRPr lang="en-US" sz="2400" b="0" dirty="0"/>
          </a:p>
          <a:p>
            <a:pPr lvl="1"/>
            <a:r>
              <a:rPr lang="en-US" sz="2400" b="0" dirty="0"/>
              <a:t>Provide for flexible </a:t>
            </a:r>
            <a:r>
              <a:rPr lang="en-US" sz="2400" b="0" dirty="0" smtClean="0"/>
              <a:t>interaction</a:t>
            </a:r>
          </a:p>
          <a:p>
            <a:pPr lvl="1"/>
            <a:r>
              <a:rPr lang="en-US" sz="2400" b="0" dirty="0"/>
              <a:t>Allow user interaction to be interruptible and undoable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Streamline interaction as skill levels advance and allow the interaction </a:t>
            </a:r>
            <a:r>
              <a:rPr lang="en-US" sz="2400" b="0" dirty="0" smtClean="0"/>
              <a:t>to be </a:t>
            </a:r>
            <a:r>
              <a:rPr lang="en-US" sz="2400" b="0" dirty="0"/>
              <a:t>customized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Hide </a:t>
            </a:r>
            <a:r>
              <a:rPr lang="en-US" sz="2400" b="0" dirty="0"/>
              <a:t>technical internals from the casual </a:t>
            </a:r>
            <a:r>
              <a:rPr lang="en-US" sz="2400" b="0" dirty="0" smtClean="0"/>
              <a:t>user</a:t>
            </a:r>
          </a:p>
          <a:p>
            <a:pPr lvl="1"/>
            <a:r>
              <a:rPr lang="en-US" sz="2400" b="0" dirty="0" smtClean="0"/>
              <a:t>Design </a:t>
            </a:r>
            <a:r>
              <a:rPr lang="en-US" sz="2400" b="0" dirty="0"/>
              <a:t>for direct interaction with objects that appear on the </a:t>
            </a:r>
            <a:r>
              <a:rPr lang="en-US" sz="2400" b="0" dirty="0" smtClean="0"/>
              <a:t>screen.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lvl="1"/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12709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611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/>
              <a:t>User Interface Design Golden </a:t>
            </a:r>
            <a:r>
              <a:rPr lang="fr-FR" sz="3600" dirty="0" err="1"/>
              <a:t>Rules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 marL="457200" lvl="1" indent="-457200">
              <a:buClr>
                <a:srgbClr val="C00000"/>
              </a:buClr>
              <a:buSzPct val="150000"/>
              <a:buFont typeface="+mj-lt"/>
              <a:buAutoNum type="arabicPeriod" startAt="2"/>
            </a:pPr>
            <a:r>
              <a:rPr lang="en-US" sz="2400" b="0" dirty="0" smtClean="0"/>
              <a:t>Reduce </a:t>
            </a:r>
            <a:r>
              <a:rPr lang="en-US" sz="2400" b="0" dirty="0"/>
              <a:t>the user’s memory load.</a:t>
            </a:r>
          </a:p>
          <a:p>
            <a:pPr lvl="1"/>
            <a:r>
              <a:rPr lang="en-US" sz="2400" b="0" dirty="0" smtClean="0"/>
              <a:t>Reduce </a:t>
            </a:r>
            <a:r>
              <a:rPr lang="en-US" sz="2400" b="0" dirty="0"/>
              <a:t>demand on short-term memory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Establish </a:t>
            </a:r>
            <a:r>
              <a:rPr lang="en-US" sz="2400" b="0" dirty="0"/>
              <a:t>meaningful </a:t>
            </a:r>
            <a:r>
              <a:rPr lang="en-US" sz="2400" b="0" dirty="0" smtClean="0"/>
              <a:t>defaults.</a:t>
            </a:r>
          </a:p>
          <a:p>
            <a:pPr lvl="1"/>
            <a:r>
              <a:rPr lang="en-US" sz="2400" b="0" dirty="0" smtClean="0"/>
              <a:t>Define </a:t>
            </a:r>
            <a:r>
              <a:rPr lang="en-US" sz="2400" b="0" dirty="0"/>
              <a:t>shortcuts that are </a:t>
            </a:r>
            <a:r>
              <a:rPr lang="en-US" sz="2400" b="0" dirty="0" smtClean="0"/>
              <a:t>intuitive</a:t>
            </a:r>
          </a:p>
          <a:p>
            <a:pPr lvl="1"/>
            <a:r>
              <a:rPr lang="en-US" sz="2400" b="0" dirty="0" smtClean="0"/>
              <a:t>The </a:t>
            </a:r>
            <a:r>
              <a:rPr lang="en-US" sz="2400" b="0" dirty="0"/>
              <a:t>visual layout of the interface should be based on a real </a:t>
            </a:r>
            <a:r>
              <a:rPr lang="en-US" sz="2400" b="0" dirty="0" smtClean="0"/>
              <a:t>world metaphor</a:t>
            </a:r>
          </a:p>
          <a:p>
            <a:pPr lvl="1"/>
            <a:r>
              <a:rPr lang="en-US" sz="2400" b="0" dirty="0" smtClean="0"/>
              <a:t>Disclose </a:t>
            </a:r>
            <a:r>
              <a:rPr lang="en-US" sz="2400" b="0" dirty="0"/>
              <a:t>information in a progressive </a:t>
            </a:r>
            <a:endParaRPr lang="en-US" sz="2400" b="0" dirty="0" smtClean="0"/>
          </a:p>
          <a:p>
            <a:pPr marL="442912" lvl="1" indent="0">
              <a:buNone/>
            </a:pPr>
            <a:endParaRPr lang="en-US" sz="2400" b="0" dirty="0" smtClean="0"/>
          </a:p>
          <a:p>
            <a:pPr lvl="1"/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936596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8611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/>
              <a:t>User Interface Design Golden </a:t>
            </a:r>
            <a:r>
              <a:rPr lang="fr-FR" sz="3600" dirty="0" err="1"/>
              <a:t>Rules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pPr marL="457200" lvl="1" indent="-457200">
              <a:buClr>
                <a:srgbClr val="C00000"/>
              </a:buClr>
              <a:buSzPct val="150000"/>
              <a:buFont typeface="+mj-lt"/>
              <a:buAutoNum type="arabicPeriod" startAt="3"/>
            </a:pPr>
            <a:r>
              <a:rPr lang="en-US" sz="2400" b="0" dirty="0" smtClean="0"/>
              <a:t>Make </a:t>
            </a:r>
            <a:r>
              <a:rPr lang="en-US" sz="2400" b="0" dirty="0"/>
              <a:t>the interface consistent.</a:t>
            </a:r>
          </a:p>
          <a:p>
            <a:pPr lvl="1"/>
            <a:r>
              <a:rPr lang="en-US" sz="2400" b="0" dirty="0" smtClean="0"/>
              <a:t>Allow </a:t>
            </a:r>
            <a:r>
              <a:rPr lang="en-US" sz="2400" b="0" dirty="0"/>
              <a:t>the user to put the current task into a meaningful context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Maintain </a:t>
            </a:r>
            <a:r>
              <a:rPr lang="en-US" sz="2400" b="0" dirty="0"/>
              <a:t>consistency across a family of </a:t>
            </a:r>
            <a:r>
              <a:rPr lang="en-US" sz="2400" b="0" dirty="0" smtClean="0"/>
              <a:t>applications.</a:t>
            </a:r>
          </a:p>
          <a:p>
            <a:pPr lvl="1"/>
            <a:r>
              <a:rPr lang="en-US" sz="2400" b="0" dirty="0" smtClean="0"/>
              <a:t>If </a:t>
            </a:r>
            <a:r>
              <a:rPr lang="en-US" sz="2400" b="0" dirty="0"/>
              <a:t>past interactive models have created user expectations, do not </a:t>
            </a:r>
            <a:r>
              <a:rPr lang="en-US" sz="2400" b="0" dirty="0" smtClean="0"/>
              <a:t>make changes </a:t>
            </a:r>
            <a:r>
              <a:rPr lang="en-US" sz="2400" b="0" dirty="0"/>
              <a:t>unless there is a compelling reason to do so</a:t>
            </a:r>
            <a:r>
              <a:rPr lang="en-US" sz="2400" b="0" dirty="0" smtClean="0"/>
              <a:t>.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17490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39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/>
              <a:t>User Interface Design </a:t>
            </a:r>
            <a:r>
              <a:rPr lang="fr-FR" sz="3600" dirty="0" err="1" smtClean="0"/>
              <a:t>Models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 smtClean="0"/>
              <a:t>Interface Design Models</a:t>
            </a:r>
          </a:p>
          <a:p>
            <a:pPr lvl="1"/>
            <a:r>
              <a:rPr lang="en-US" sz="2400" b="0" dirty="0"/>
              <a:t>Four different models come into play when a user interface is to be designed. </a:t>
            </a:r>
            <a:endParaRPr lang="en-US" sz="2400" b="0" dirty="0" smtClean="0"/>
          </a:p>
          <a:p>
            <a:pPr lvl="2"/>
            <a:r>
              <a:rPr lang="en-US" sz="2400" b="0" dirty="0"/>
              <a:t>t</a:t>
            </a:r>
            <a:r>
              <a:rPr lang="en-US" sz="2400" b="0" dirty="0" smtClean="0"/>
              <a:t>he software </a:t>
            </a:r>
            <a:r>
              <a:rPr lang="en-US" sz="2400" b="0" dirty="0"/>
              <a:t>engineer creates a design model,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a human </a:t>
            </a:r>
            <a:r>
              <a:rPr lang="en-US" sz="2400" b="0" dirty="0"/>
              <a:t>engineer (or the software </a:t>
            </a:r>
            <a:r>
              <a:rPr lang="en-US" sz="2400" b="0" dirty="0" smtClean="0"/>
              <a:t>engineer) establishes </a:t>
            </a:r>
            <a:r>
              <a:rPr lang="en-US" sz="2400" b="0" dirty="0"/>
              <a:t>a user model, </a:t>
            </a:r>
            <a:endParaRPr lang="en-US" sz="2400" b="0" dirty="0" smtClean="0"/>
          </a:p>
          <a:p>
            <a:pPr lvl="2"/>
            <a:r>
              <a:rPr lang="en-US" sz="2400" b="0" dirty="0" smtClean="0"/>
              <a:t>the </a:t>
            </a:r>
            <a:r>
              <a:rPr lang="en-US" sz="2400" b="0" dirty="0"/>
              <a:t>end-user develops a mental image that is </a:t>
            </a:r>
            <a:r>
              <a:rPr lang="en-US" sz="2400" b="0" dirty="0" smtClean="0"/>
              <a:t>often called </a:t>
            </a:r>
            <a:r>
              <a:rPr lang="en-US" sz="2400" b="0" dirty="0"/>
              <a:t>the user's </a:t>
            </a:r>
            <a:r>
              <a:rPr lang="en-US" sz="2400" b="0" dirty="0" smtClean="0"/>
              <a:t>model</a:t>
            </a:r>
          </a:p>
          <a:p>
            <a:pPr lvl="2"/>
            <a:r>
              <a:rPr lang="en-US" sz="2400" b="0" dirty="0" smtClean="0"/>
              <a:t>the </a:t>
            </a:r>
            <a:r>
              <a:rPr lang="en-US" sz="2400" b="0" dirty="0"/>
              <a:t>implementers of the </a:t>
            </a:r>
            <a:r>
              <a:rPr lang="en-US" sz="2400" b="0" dirty="0" smtClean="0"/>
              <a:t>system create </a:t>
            </a:r>
            <a:r>
              <a:rPr lang="en-US" sz="2400" b="0" dirty="0"/>
              <a:t>a system </a:t>
            </a:r>
            <a:r>
              <a:rPr lang="en-US" sz="2400" b="0" dirty="0" smtClean="0"/>
              <a:t>image.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208154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39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/>
              <a:t>User Interface Design </a:t>
            </a:r>
            <a:r>
              <a:rPr lang="fr-FR" sz="3600" dirty="0" err="1" smtClean="0"/>
              <a:t>Process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400" b="0" dirty="0"/>
              <a:t>The User Interface Design </a:t>
            </a:r>
            <a:r>
              <a:rPr lang="en-US" sz="2400" b="0" dirty="0" smtClean="0"/>
              <a:t>Process</a:t>
            </a:r>
          </a:p>
          <a:p>
            <a:pPr lvl="1"/>
            <a:r>
              <a:rPr lang="en-US" sz="2400" b="0" dirty="0"/>
              <a:t>encompasses four distinct framework </a:t>
            </a:r>
            <a:r>
              <a:rPr lang="en-US" sz="2400" b="0" dirty="0" smtClean="0"/>
              <a:t>activities:</a:t>
            </a:r>
          </a:p>
          <a:p>
            <a:pPr lvl="2"/>
            <a:r>
              <a:rPr lang="en-US" sz="2200" b="0" dirty="0" smtClean="0"/>
              <a:t>User</a:t>
            </a:r>
            <a:r>
              <a:rPr lang="en-US" sz="2200" b="0" dirty="0"/>
              <a:t>, task, and environment analysis and modeling</a:t>
            </a:r>
          </a:p>
          <a:p>
            <a:pPr lvl="2"/>
            <a:r>
              <a:rPr lang="en-US" sz="2200" b="0" dirty="0" smtClean="0"/>
              <a:t>Interface </a:t>
            </a:r>
            <a:r>
              <a:rPr lang="en-US" sz="2200" b="0" dirty="0"/>
              <a:t>design</a:t>
            </a:r>
          </a:p>
          <a:p>
            <a:pPr lvl="2"/>
            <a:r>
              <a:rPr lang="en-US" sz="2200" b="0" dirty="0" smtClean="0"/>
              <a:t>Interface </a:t>
            </a:r>
            <a:r>
              <a:rPr lang="en-US" sz="2200" b="0" dirty="0"/>
              <a:t>construction</a:t>
            </a:r>
          </a:p>
          <a:p>
            <a:pPr lvl="2"/>
            <a:r>
              <a:rPr lang="en-US" sz="2200" b="0" dirty="0" smtClean="0"/>
              <a:t>Interface validation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7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488" y="3124200"/>
            <a:ext cx="5253110" cy="314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387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2515062" cy="777600"/>
          </a:xfrm>
        </p:spPr>
        <p:txBody>
          <a:bodyPr wrap="square">
            <a:noAutofit/>
          </a:bodyPr>
          <a:lstStyle/>
          <a:p>
            <a:r>
              <a:rPr lang="fr-FR" sz="3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Chapters</a:t>
            </a:r>
            <a:endParaRPr lang="fr-FR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762000"/>
            <a:ext cx="8402086" cy="4953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5400" dirty="0" err="1" smtClean="0"/>
              <a:t>Chapter</a:t>
            </a:r>
            <a:r>
              <a:rPr lang="fr-FR" sz="5400" dirty="0" smtClean="0"/>
              <a:t> IV</a:t>
            </a:r>
          </a:p>
          <a:p>
            <a:pPr marL="0" indent="0" algn="ctr">
              <a:buNone/>
            </a:pPr>
            <a:r>
              <a:rPr lang="fr-FR" sz="5400" dirty="0" smtClean="0"/>
              <a:t>Software </a:t>
            </a:r>
            <a:r>
              <a:rPr lang="fr-FR" sz="5400" dirty="0" err="1" smtClean="0"/>
              <a:t>Testing</a:t>
            </a:r>
            <a:r>
              <a:rPr lang="fr-FR" sz="5400" dirty="0" smtClean="0"/>
              <a:t> </a:t>
            </a:r>
          </a:p>
          <a:p>
            <a:pPr marL="0" indent="0" algn="ctr">
              <a:buNone/>
            </a:pPr>
            <a:endParaRPr lang="fr-FR" sz="5400" dirty="0" smtClean="0"/>
          </a:p>
          <a:p>
            <a:r>
              <a:rPr lang="en-US" sz="2800" b="0" dirty="0" smtClean="0"/>
              <a:t>Software Testing Techniques</a:t>
            </a:r>
          </a:p>
          <a:p>
            <a:r>
              <a:rPr lang="en-US" sz="2800" b="0" dirty="0" smtClean="0"/>
              <a:t>Software Testing Strategies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0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801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Testing </a:t>
            </a:r>
            <a:r>
              <a:rPr lang="en-US" sz="2800" b="0" dirty="0" smtClean="0"/>
              <a:t>Objectives</a:t>
            </a:r>
          </a:p>
          <a:p>
            <a:pPr lvl="1"/>
            <a:r>
              <a:rPr lang="en-US" sz="2400" b="0" dirty="0"/>
              <a:t>Testing is a process of executing a program with the intent of finding </a:t>
            </a:r>
            <a:r>
              <a:rPr lang="en-US" sz="2400" b="0" dirty="0" smtClean="0"/>
              <a:t>an error</a:t>
            </a:r>
            <a:r>
              <a:rPr lang="en-US" sz="2400" b="0" dirty="0"/>
              <a:t>.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successful test is one that uncovers an as-yet-undiscovered error.</a:t>
            </a:r>
            <a:endParaRPr lang="en-US" sz="2400" b="0" dirty="0" smtClean="0"/>
          </a:p>
          <a:p>
            <a:pPr marL="0" indent="0">
              <a:buNone/>
            </a:pPr>
            <a:endParaRPr lang="en-US" sz="7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715968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724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A</a:t>
            </a:r>
            <a:r>
              <a:rPr lang="en-US" sz="2800" b="0" dirty="0" smtClean="0"/>
              <a:t>ttributes </a:t>
            </a:r>
            <a:r>
              <a:rPr lang="en-US" sz="2800" b="0" dirty="0"/>
              <a:t>of a “good” </a:t>
            </a:r>
            <a:r>
              <a:rPr lang="en-US" sz="2800" b="0" dirty="0" smtClean="0"/>
              <a:t>test</a:t>
            </a:r>
          </a:p>
          <a:p>
            <a:pPr lvl="1"/>
            <a:r>
              <a:rPr lang="en-US" sz="2400" b="0" dirty="0" smtClean="0"/>
              <a:t>A </a:t>
            </a:r>
            <a:r>
              <a:rPr lang="en-US" sz="2400" b="0" dirty="0"/>
              <a:t>good test has a high probability of finding an </a:t>
            </a:r>
            <a:r>
              <a:rPr lang="en-US" sz="2400" b="0" dirty="0" smtClean="0"/>
              <a:t>error.</a:t>
            </a:r>
          </a:p>
          <a:p>
            <a:pPr lvl="1"/>
            <a:r>
              <a:rPr lang="en-US" sz="2400" b="0" dirty="0"/>
              <a:t>A good test is not redundant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A good test should be “best of breed</a:t>
            </a:r>
            <a:r>
              <a:rPr lang="en-US" sz="2400" b="0" dirty="0" smtClean="0"/>
              <a:t>”.</a:t>
            </a:r>
          </a:p>
          <a:p>
            <a:pPr lvl="1"/>
            <a:r>
              <a:rPr lang="en-US" sz="2400" b="0" dirty="0"/>
              <a:t>A good test should be neither too simple nor too complex.</a:t>
            </a:r>
            <a:endParaRPr lang="en-US" sz="2400" b="0" dirty="0" smtClean="0"/>
          </a:p>
          <a:p>
            <a:endParaRPr lang="en-US" sz="7600" b="0" dirty="0" smtClean="0"/>
          </a:p>
          <a:p>
            <a:pPr marL="0" indent="0">
              <a:buNone/>
            </a:pPr>
            <a:endParaRPr lang="en-US" sz="7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63791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3918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Principles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077703"/>
          </a:xfrm>
        </p:spPr>
        <p:txBody>
          <a:bodyPr/>
          <a:lstStyle/>
          <a:p>
            <a:r>
              <a:rPr lang="en-US" sz="2800" b="0" dirty="0"/>
              <a:t>Testing </a:t>
            </a:r>
            <a:r>
              <a:rPr lang="en-US" sz="2800" b="0" dirty="0" smtClean="0"/>
              <a:t>Principles</a:t>
            </a:r>
          </a:p>
          <a:p>
            <a:pPr lvl="1"/>
            <a:r>
              <a:rPr lang="en-US" sz="2400" b="0" dirty="0"/>
              <a:t>All tests should be traceable to customer requirements</a:t>
            </a:r>
            <a:r>
              <a:rPr lang="en-US" sz="2400" b="0" dirty="0" smtClean="0"/>
              <a:t>.</a:t>
            </a:r>
            <a:endParaRPr lang="en-US" sz="2400" b="0" dirty="0"/>
          </a:p>
          <a:p>
            <a:pPr lvl="1"/>
            <a:r>
              <a:rPr lang="en-US" sz="2400" b="0" dirty="0"/>
              <a:t>Tests should be planned long before testing begins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Pareto</a:t>
            </a:r>
            <a:r>
              <a:rPr lang="en-US" sz="2400" b="0" dirty="0"/>
              <a:t> principle applies to software testing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Testing should begin “in the small” and progress toward testing “</a:t>
            </a:r>
            <a:r>
              <a:rPr lang="en-US" sz="2400" b="0" dirty="0" smtClean="0"/>
              <a:t>in the </a:t>
            </a:r>
            <a:r>
              <a:rPr lang="en-US" sz="2400" b="0" dirty="0"/>
              <a:t>large</a:t>
            </a:r>
            <a:r>
              <a:rPr lang="en-US" sz="2400" b="0" dirty="0" smtClean="0"/>
              <a:t>.”</a:t>
            </a:r>
          </a:p>
          <a:p>
            <a:pPr lvl="1"/>
            <a:r>
              <a:rPr lang="en-US" sz="2400" b="0" dirty="0"/>
              <a:t>Exhaustive testing is not possible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/>
              <a:t>To be most effective, testing should be conducted by an </a:t>
            </a:r>
            <a:r>
              <a:rPr lang="en-US" sz="2400" b="0" dirty="0" smtClean="0"/>
              <a:t>independent third </a:t>
            </a:r>
            <a:r>
              <a:rPr lang="en-US" sz="2400" b="0" dirty="0"/>
              <a:t>party.</a:t>
            </a:r>
            <a:endParaRPr lang="en-US" sz="7600" b="0" dirty="0" smtClean="0"/>
          </a:p>
          <a:p>
            <a:pPr lvl="1"/>
            <a:endParaRPr lang="en-US" sz="7600" b="0" dirty="0" smtClean="0"/>
          </a:p>
          <a:p>
            <a:pPr marL="0" indent="0">
              <a:buNone/>
            </a:pPr>
            <a:endParaRPr lang="en-US" sz="7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61774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468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 smtClean="0"/>
              <a:t>Test Case Design Methods</a:t>
            </a:r>
          </a:p>
          <a:p>
            <a:pPr lvl="1"/>
            <a:r>
              <a:rPr lang="en-US" sz="2400" b="0" i="1" dirty="0" smtClean="0"/>
              <a:t>White-Box Testing: </a:t>
            </a:r>
            <a:r>
              <a:rPr lang="en-US" sz="2400" b="0" dirty="0" smtClean="0"/>
              <a:t>Knowing </a:t>
            </a:r>
            <a:r>
              <a:rPr lang="en-US" sz="2400" b="0" dirty="0"/>
              <a:t>the internal </a:t>
            </a:r>
            <a:r>
              <a:rPr lang="en-US" sz="2400" b="0" dirty="0" smtClean="0"/>
              <a:t>workings of </a:t>
            </a:r>
            <a:r>
              <a:rPr lang="en-US" sz="2400" b="0" dirty="0"/>
              <a:t>a product, tests can be conducted to ensure that </a:t>
            </a:r>
            <a:r>
              <a:rPr lang="en-US" sz="2400" b="0" dirty="0" smtClean="0"/>
              <a:t>internal operations </a:t>
            </a:r>
            <a:r>
              <a:rPr lang="en-US" sz="2400" b="0" dirty="0"/>
              <a:t>are performed according to </a:t>
            </a:r>
            <a:r>
              <a:rPr lang="en-US" sz="2400" b="0" dirty="0" smtClean="0"/>
              <a:t>specifications </a:t>
            </a:r>
            <a:r>
              <a:rPr lang="en-US" sz="2400" b="0" dirty="0"/>
              <a:t>and all </a:t>
            </a:r>
            <a:r>
              <a:rPr lang="en-US" sz="2400" b="0" dirty="0" smtClean="0"/>
              <a:t>internal components have </a:t>
            </a:r>
            <a:r>
              <a:rPr lang="en-US" sz="2400" b="0" dirty="0"/>
              <a:t>been </a:t>
            </a:r>
            <a:r>
              <a:rPr lang="en-US" sz="2400" b="0" dirty="0" smtClean="0"/>
              <a:t>adequately exercised.</a:t>
            </a:r>
          </a:p>
          <a:p>
            <a:pPr lvl="1"/>
            <a:r>
              <a:rPr lang="en-US" sz="2400" b="0" i="1" dirty="0"/>
              <a:t>Black-Box Testing</a:t>
            </a:r>
            <a:r>
              <a:rPr lang="en-US" sz="2400" b="0" dirty="0"/>
              <a:t>: Knowing the specified function that a product has been designed to perform, tests can be conducted that demonstrate each function is fully operational while at the same time searching for errors in each function</a:t>
            </a:r>
            <a:r>
              <a:rPr lang="en-US" sz="2400" b="0" dirty="0" smtClean="0"/>
              <a:t>.</a:t>
            </a:r>
          </a:p>
          <a:p>
            <a:pPr lvl="1"/>
            <a:endParaRPr lang="en-US" sz="2400" b="0" dirty="0" smtClean="0"/>
          </a:p>
          <a:p>
            <a:pPr lvl="1"/>
            <a:endParaRPr lang="en-US" sz="2400" b="0" dirty="0" smtClean="0"/>
          </a:p>
          <a:p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57475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White-Box </a:t>
            </a:r>
            <a:r>
              <a:rPr lang="fr-FR" sz="3600" dirty="0" err="1" smtClean="0"/>
              <a:t>Testing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White-box </a:t>
            </a:r>
            <a:r>
              <a:rPr lang="en-US" sz="2400" b="0" dirty="0" smtClean="0"/>
              <a:t>testing (</a:t>
            </a:r>
            <a:r>
              <a:rPr lang="en-US" sz="2400" b="0" i="1" dirty="0" smtClean="0"/>
              <a:t>glass-box testing) </a:t>
            </a:r>
            <a:r>
              <a:rPr lang="en-US" sz="2400" b="0" dirty="0" smtClean="0"/>
              <a:t>uses </a:t>
            </a:r>
            <a:r>
              <a:rPr lang="en-US" sz="2400" b="0" dirty="0"/>
              <a:t>the control structure of the procedural design to derive test </a:t>
            </a:r>
            <a:r>
              <a:rPr lang="en-US" sz="2400" b="0" dirty="0" smtClean="0"/>
              <a:t>cases, in such a way that</a:t>
            </a:r>
          </a:p>
          <a:p>
            <a:pPr lvl="1"/>
            <a:r>
              <a:rPr lang="en-US" sz="2400" b="0" dirty="0" smtClean="0"/>
              <a:t>guarantee that </a:t>
            </a:r>
            <a:r>
              <a:rPr lang="en-US" sz="2400" b="0" dirty="0"/>
              <a:t>all independent paths within a module have been exercised at least once,</a:t>
            </a:r>
          </a:p>
          <a:p>
            <a:pPr lvl="1"/>
            <a:r>
              <a:rPr lang="en-US" sz="2400" b="0" dirty="0" smtClean="0"/>
              <a:t>exercise </a:t>
            </a:r>
            <a:r>
              <a:rPr lang="en-US" sz="2400" b="0" dirty="0"/>
              <a:t>all logical decisions on their true and false sides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execute </a:t>
            </a:r>
            <a:r>
              <a:rPr lang="en-US" sz="2400" b="0" dirty="0"/>
              <a:t>all loops </a:t>
            </a:r>
            <a:r>
              <a:rPr lang="en-US" sz="2400" b="0" dirty="0" smtClean="0"/>
              <a:t>at their </a:t>
            </a:r>
            <a:r>
              <a:rPr lang="en-US" sz="2400" b="0" dirty="0"/>
              <a:t>boundaries and within their operational bounds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exercise </a:t>
            </a:r>
            <a:r>
              <a:rPr lang="en-US" sz="2400" b="0" dirty="0"/>
              <a:t>internal </a:t>
            </a:r>
            <a:r>
              <a:rPr lang="en-US" sz="2400" b="0" dirty="0" smtClean="0"/>
              <a:t>data structures </a:t>
            </a:r>
            <a:r>
              <a:rPr lang="en-US" sz="2400" b="0" dirty="0"/>
              <a:t>to ensure their validity.</a:t>
            </a:r>
            <a:endParaRPr lang="en-US" sz="2400" b="0" dirty="0" smtClean="0"/>
          </a:p>
          <a:p>
            <a:pPr lvl="1"/>
            <a:endParaRPr lang="en-US" sz="2400" b="0" dirty="0" smtClean="0"/>
          </a:p>
          <a:p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133365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620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White-Box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i="1" dirty="0" smtClean="0"/>
              <a:t>Basis Path Testing</a:t>
            </a:r>
            <a:r>
              <a:rPr lang="en-US" sz="2400" b="0" dirty="0" smtClean="0"/>
              <a:t> (</a:t>
            </a:r>
            <a:r>
              <a:rPr lang="en-US" sz="2400" b="0" dirty="0"/>
              <a:t>Tom McCabe</a:t>
            </a:r>
            <a:r>
              <a:rPr lang="en-US" sz="2400" b="0" dirty="0" smtClean="0"/>
              <a:t>)</a:t>
            </a:r>
          </a:p>
          <a:p>
            <a:pPr lvl="1"/>
            <a:r>
              <a:rPr lang="en-US" sz="2400" b="0" dirty="0" smtClean="0"/>
              <a:t>enables </a:t>
            </a:r>
            <a:r>
              <a:rPr lang="en-US" sz="2400" b="0" dirty="0"/>
              <a:t>the test case designer to derive a logical </a:t>
            </a:r>
            <a:r>
              <a:rPr lang="en-US" sz="2400" b="0" dirty="0" smtClean="0"/>
              <a:t>complexity measure </a:t>
            </a:r>
            <a:r>
              <a:rPr lang="en-US" sz="2400" b="0" dirty="0"/>
              <a:t>of a procedural design and use this measure as a guide for defining </a:t>
            </a:r>
            <a:r>
              <a:rPr lang="en-US" sz="2400" b="0" dirty="0" smtClean="0"/>
              <a:t>a basis </a:t>
            </a:r>
            <a:r>
              <a:rPr lang="en-US" sz="2400" b="0" dirty="0"/>
              <a:t>set of execution paths.</a:t>
            </a: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marL="0" indent="0">
              <a:buNone/>
            </a:pPr>
            <a:endParaRPr lang="en-US" sz="2400" b="0" dirty="0" smtClean="0"/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37" y="3352800"/>
            <a:ext cx="77152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295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620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White-Box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i="1" dirty="0" smtClean="0"/>
              <a:t>Basis Path Testing</a:t>
            </a:r>
            <a:r>
              <a:rPr lang="en-US" sz="2400" b="0" dirty="0" smtClean="0"/>
              <a:t> (cont.)</a:t>
            </a:r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5162550" cy="48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996" y="1600200"/>
            <a:ext cx="373380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828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7620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White-Box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Techniques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28235"/>
            <a:ext cx="8402086" cy="5257800"/>
          </a:xfrm>
        </p:spPr>
        <p:txBody>
          <a:bodyPr/>
          <a:lstStyle/>
          <a:p>
            <a:r>
              <a:rPr lang="en-US" sz="2400" b="0" i="1" dirty="0" smtClean="0"/>
              <a:t>Basis Path Testing</a:t>
            </a:r>
            <a:r>
              <a:rPr lang="en-US" sz="2400" b="0" dirty="0" smtClean="0"/>
              <a:t> (cont.)</a:t>
            </a:r>
          </a:p>
          <a:p>
            <a:pPr lvl="1"/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/>
          </a:p>
          <a:p>
            <a:pPr marL="0" indent="0">
              <a:lnSpc>
                <a:spcPct val="150000"/>
              </a:lnSpc>
              <a:buNone/>
            </a:pP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2437960"/>
            <a:ext cx="34575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265630"/>
            <a:ext cx="5200650" cy="395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74" y="5105401"/>
            <a:ext cx="5095140" cy="1182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13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Black</a:t>
            </a:r>
            <a:r>
              <a:rPr lang="fr-FR" sz="3600" dirty="0"/>
              <a:t>-</a:t>
            </a:r>
            <a:r>
              <a:rPr lang="fr-FR" sz="3600" dirty="0" smtClean="0"/>
              <a:t>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i="1" dirty="0" smtClean="0"/>
              <a:t>Black-box testing (behavioral testing) </a:t>
            </a:r>
            <a:r>
              <a:rPr lang="en-US" sz="2400" b="0" dirty="0"/>
              <a:t>focuses on the functional </a:t>
            </a:r>
            <a:r>
              <a:rPr lang="en-US" sz="2400" b="0" dirty="0" smtClean="0"/>
              <a:t>requirements of </a:t>
            </a:r>
            <a:r>
              <a:rPr lang="en-US" sz="2400" b="0" dirty="0"/>
              <a:t>the </a:t>
            </a:r>
            <a:r>
              <a:rPr lang="en-US" sz="2400" b="0" dirty="0" smtClean="0"/>
              <a:t>software, enables </a:t>
            </a:r>
            <a:r>
              <a:rPr lang="en-US" sz="2400" b="0" dirty="0"/>
              <a:t>the software engineer </a:t>
            </a:r>
            <a:r>
              <a:rPr lang="en-US" sz="2400" b="0" dirty="0" smtClean="0"/>
              <a:t>to derive </a:t>
            </a:r>
            <a:r>
              <a:rPr lang="en-US" sz="2400" b="0" dirty="0"/>
              <a:t>sets of input conditions that will fully exercise all functional requirements </a:t>
            </a:r>
            <a:r>
              <a:rPr lang="en-US" sz="2400" b="0" dirty="0" smtClean="0"/>
              <a:t>for a </a:t>
            </a:r>
            <a:r>
              <a:rPr lang="en-US" sz="2400" b="0" dirty="0"/>
              <a:t>program</a:t>
            </a:r>
            <a:r>
              <a:rPr lang="en-US" sz="2400" b="0" dirty="0" smtClean="0"/>
              <a:t>.</a:t>
            </a:r>
          </a:p>
          <a:p>
            <a:r>
              <a:rPr lang="en-US" sz="2400" b="0" dirty="0"/>
              <a:t>Black-box testing attempts to find errors in the following categories</a:t>
            </a:r>
            <a:r>
              <a:rPr lang="en-US" sz="2400" b="0" dirty="0" smtClean="0"/>
              <a:t>:</a:t>
            </a:r>
          </a:p>
          <a:p>
            <a:pPr lvl="1"/>
            <a:r>
              <a:rPr lang="en-US" sz="2400" b="0" dirty="0" smtClean="0"/>
              <a:t>incorrect or </a:t>
            </a:r>
            <a:r>
              <a:rPr lang="en-US" sz="2400" b="0" dirty="0"/>
              <a:t>missing functions,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interface </a:t>
            </a:r>
            <a:r>
              <a:rPr lang="en-US" sz="2400" b="0" dirty="0"/>
              <a:t>errors,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errors </a:t>
            </a:r>
            <a:r>
              <a:rPr lang="en-US" sz="2400" b="0" dirty="0"/>
              <a:t>in data structures or external </a:t>
            </a:r>
            <a:r>
              <a:rPr lang="en-US" sz="2400" b="0" dirty="0" smtClean="0"/>
              <a:t>database </a:t>
            </a:r>
            <a:r>
              <a:rPr lang="en-US" sz="2400" b="0" dirty="0"/>
              <a:t>access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behavior </a:t>
            </a:r>
            <a:r>
              <a:rPr lang="en-US" sz="2400" b="0" dirty="0"/>
              <a:t>or performance errors,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initialization </a:t>
            </a:r>
            <a:r>
              <a:rPr lang="en-US" sz="2400" b="0" dirty="0"/>
              <a:t>and </a:t>
            </a:r>
            <a:r>
              <a:rPr lang="en-US" sz="2400" b="0" dirty="0" smtClean="0"/>
              <a:t>termination errors</a:t>
            </a:r>
            <a:r>
              <a:rPr lang="en-US" sz="2400" b="0" dirty="0"/>
              <a:t>.</a:t>
            </a:r>
            <a:endParaRPr lang="en-US" sz="2400" b="0" dirty="0" smtClean="0"/>
          </a:p>
          <a:p>
            <a:pPr>
              <a:lnSpc>
                <a:spcPct val="150000"/>
              </a:lnSpc>
            </a:pP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52374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Black</a:t>
            </a:r>
            <a:r>
              <a:rPr lang="fr-FR" sz="3600" dirty="0"/>
              <a:t>-</a:t>
            </a:r>
            <a:r>
              <a:rPr lang="fr-FR" sz="3600" dirty="0" smtClean="0"/>
              <a:t>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Graph-Based Testing </a:t>
            </a:r>
            <a:r>
              <a:rPr lang="en-US" sz="2400" b="0" dirty="0" smtClean="0"/>
              <a:t>Methods</a:t>
            </a:r>
          </a:p>
          <a:p>
            <a:pPr lvl="1"/>
            <a:r>
              <a:rPr lang="en-US" sz="2400" b="0" dirty="0"/>
              <a:t>t</a:t>
            </a:r>
            <a:r>
              <a:rPr lang="en-US" sz="2400" b="0" dirty="0" smtClean="0"/>
              <a:t>he </a:t>
            </a:r>
            <a:r>
              <a:rPr lang="en-US" sz="2400" b="0" dirty="0"/>
              <a:t>first step </a:t>
            </a:r>
            <a:r>
              <a:rPr lang="en-US" sz="2400" b="0" dirty="0" smtClean="0"/>
              <a:t>is </a:t>
            </a:r>
            <a:r>
              <a:rPr lang="en-US" sz="2400" b="0" dirty="0"/>
              <a:t>to understand the </a:t>
            </a:r>
            <a:r>
              <a:rPr lang="en-US" sz="2400" b="0" dirty="0" smtClean="0"/>
              <a:t>objects</a:t>
            </a:r>
            <a:r>
              <a:rPr lang="en-US" sz="2400" b="0" dirty="0"/>
              <a:t> </a:t>
            </a:r>
            <a:r>
              <a:rPr lang="en-US" sz="2400" b="0" dirty="0" smtClean="0"/>
              <a:t>that </a:t>
            </a:r>
            <a:r>
              <a:rPr lang="en-US" sz="2400" b="0" dirty="0"/>
              <a:t>are modeled </a:t>
            </a:r>
            <a:r>
              <a:rPr lang="en-US" sz="2400" b="0" dirty="0" smtClean="0"/>
              <a:t>in software </a:t>
            </a:r>
            <a:r>
              <a:rPr lang="en-US" sz="2400" b="0" dirty="0"/>
              <a:t>and the relationships that connect these </a:t>
            </a:r>
            <a:r>
              <a:rPr lang="en-US" sz="2400" b="0" dirty="0" smtClean="0"/>
              <a:t>objects.</a:t>
            </a:r>
          </a:p>
          <a:p>
            <a:pPr lvl="1"/>
            <a:r>
              <a:rPr lang="en-US" sz="2400" b="0" dirty="0" smtClean="0"/>
              <a:t>next </a:t>
            </a:r>
            <a:r>
              <a:rPr lang="en-US" sz="2400" b="0" dirty="0"/>
              <a:t>step is to define a series of tests that verify “all objects have </a:t>
            </a:r>
            <a:r>
              <a:rPr lang="en-US" sz="2400" b="0" dirty="0" smtClean="0"/>
              <a:t>the expected </a:t>
            </a:r>
            <a:r>
              <a:rPr lang="en-US" sz="2400" b="0" dirty="0"/>
              <a:t>relationship to one </a:t>
            </a:r>
            <a:r>
              <a:rPr lang="en-US" sz="2400" b="0" dirty="0" smtClean="0"/>
              <a:t>another”</a:t>
            </a:r>
          </a:p>
          <a:p>
            <a:pPr marL="442912" lvl="1" indent="0">
              <a:buNone/>
            </a:pPr>
            <a:endParaRPr lang="en-US" sz="2400" b="0" dirty="0" smtClean="0"/>
          </a:p>
          <a:p>
            <a:pPr lvl="1">
              <a:buFont typeface="Symbol"/>
              <a:buChar char="Þ"/>
            </a:pPr>
            <a:r>
              <a:rPr lang="en-US" sz="2400" b="0" dirty="0" smtClean="0"/>
              <a:t>(1) creating </a:t>
            </a:r>
            <a:r>
              <a:rPr lang="en-US" sz="2400" b="0" dirty="0"/>
              <a:t>a </a:t>
            </a:r>
            <a:r>
              <a:rPr lang="en-US" sz="2400" b="0" i="1" dirty="0"/>
              <a:t>graph </a:t>
            </a:r>
            <a:r>
              <a:rPr lang="en-US" sz="2400" b="0" dirty="0"/>
              <a:t>of important objects and their </a:t>
            </a:r>
            <a:r>
              <a:rPr lang="en-US" sz="2400" b="0" dirty="0" smtClean="0"/>
              <a:t>relationships</a:t>
            </a:r>
          </a:p>
          <a:p>
            <a:pPr lvl="1">
              <a:buFont typeface="Symbol"/>
              <a:buChar char="Þ"/>
            </a:pPr>
            <a:r>
              <a:rPr lang="en-US" sz="2400" b="0" dirty="0" smtClean="0"/>
              <a:t>(2) devising </a:t>
            </a:r>
            <a:r>
              <a:rPr lang="en-US" sz="2400" b="0" dirty="0"/>
              <a:t>a series of </a:t>
            </a:r>
            <a:r>
              <a:rPr lang="en-US" sz="2400" b="0" i="1" dirty="0"/>
              <a:t>tests</a:t>
            </a:r>
            <a:r>
              <a:rPr lang="en-US" sz="2400" b="0" dirty="0"/>
              <a:t> that will cover the graph so that each object and </a:t>
            </a:r>
            <a:r>
              <a:rPr lang="en-US" sz="2400" b="0" dirty="0" smtClean="0"/>
              <a:t>relationship is </a:t>
            </a:r>
            <a:r>
              <a:rPr lang="en-US" sz="2400" b="0" dirty="0"/>
              <a:t>exercised and errors are </a:t>
            </a:r>
            <a:r>
              <a:rPr lang="en-US" sz="2400" b="0" dirty="0" smtClean="0"/>
              <a:t>uncovered.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41046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Black</a:t>
            </a:r>
            <a:r>
              <a:rPr lang="fr-FR" sz="3600" dirty="0"/>
              <a:t>-</a:t>
            </a:r>
            <a:r>
              <a:rPr lang="fr-FR" sz="3600" dirty="0" smtClean="0"/>
              <a:t>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Graph-Based Testing </a:t>
            </a:r>
            <a:r>
              <a:rPr lang="en-US" sz="2400" b="0" dirty="0" smtClean="0"/>
              <a:t>Methods (</a:t>
            </a:r>
            <a:r>
              <a:rPr lang="en-US" sz="2400" b="0" i="1" dirty="0" smtClean="0"/>
              <a:t>cont.</a:t>
            </a:r>
            <a:r>
              <a:rPr lang="en-US" sz="2400" b="0" dirty="0" smtClean="0"/>
              <a:t>)</a:t>
            </a:r>
          </a:p>
          <a:p>
            <a:pPr lvl="1"/>
            <a:r>
              <a:rPr lang="en-US" sz="2400" b="0" dirty="0"/>
              <a:t>A</a:t>
            </a:r>
            <a:r>
              <a:rPr lang="en-US" sz="2400" b="0" dirty="0" smtClean="0"/>
              <a:t> </a:t>
            </a:r>
            <a:r>
              <a:rPr lang="en-US" sz="2400" b="0" i="1" dirty="0" smtClean="0"/>
              <a:t>graph</a:t>
            </a:r>
            <a:r>
              <a:rPr lang="en-US" sz="2400" b="0" dirty="0"/>
              <a:t> </a:t>
            </a:r>
            <a:r>
              <a:rPr lang="en-US" sz="2400" b="0" dirty="0" smtClean="0"/>
              <a:t>is a collection </a:t>
            </a:r>
            <a:r>
              <a:rPr lang="en-US" sz="2400" b="0" dirty="0"/>
              <a:t>of </a:t>
            </a:r>
            <a:endParaRPr lang="en-US" sz="2400" b="0" dirty="0" smtClean="0"/>
          </a:p>
          <a:p>
            <a:pPr lvl="2"/>
            <a:r>
              <a:rPr lang="en-US" sz="2400" b="0" i="1" dirty="0" smtClean="0"/>
              <a:t>nodes </a:t>
            </a:r>
            <a:r>
              <a:rPr lang="en-US" sz="2400" b="0" dirty="0"/>
              <a:t>that represent objects; </a:t>
            </a:r>
            <a:endParaRPr lang="en-US" sz="2400" b="0" dirty="0" smtClean="0"/>
          </a:p>
          <a:p>
            <a:pPr lvl="2"/>
            <a:r>
              <a:rPr lang="en-US" sz="2400" b="0" i="1" dirty="0" smtClean="0"/>
              <a:t>links </a:t>
            </a:r>
            <a:r>
              <a:rPr lang="en-US" sz="2400" b="0" dirty="0"/>
              <a:t>that represent the relationships </a:t>
            </a:r>
            <a:r>
              <a:rPr lang="en-US" sz="2400" b="0" dirty="0" smtClean="0"/>
              <a:t>between objects;</a:t>
            </a:r>
          </a:p>
          <a:p>
            <a:pPr lvl="2"/>
            <a:r>
              <a:rPr lang="en-US" sz="2400" b="0" i="1" dirty="0" smtClean="0"/>
              <a:t>node </a:t>
            </a:r>
            <a:r>
              <a:rPr lang="en-US" sz="2400" b="0" i="1" dirty="0"/>
              <a:t>weights </a:t>
            </a:r>
            <a:r>
              <a:rPr lang="en-US" sz="2400" b="0" dirty="0"/>
              <a:t>that describe the properties of a node (e.g., a specific data </a:t>
            </a:r>
            <a:r>
              <a:rPr lang="en-US" sz="2400" b="0" dirty="0" smtClean="0"/>
              <a:t>value or </a:t>
            </a:r>
            <a:r>
              <a:rPr lang="en-US" sz="2400" b="0" dirty="0"/>
              <a:t>state behavior</a:t>
            </a:r>
            <a:r>
              <a:rPr lang="en-US" sz="2400" b="0" dirty="0" smtClean="0"/>
              <a:t>);</a:t>
            </a:r>
          </a:p>
          <a:p>
            <a:pPr lvl="2"/>
            <a:r>
              <a:rPr lang="en-US" sz="2400" b="0" i="1" dirty="0" smtClean="0"/>
              <a:t>link </a:t>
            </a:r>
            <a:r>
              <a:rPr lang="en-US" sz="2400" b="0" i="1" dirty="0"/>
              <a:t>weights </a:t>
            </a:r>
            <a:r>
              <a:rPr lang="en-US" sz="2400" b="0" dirty="0"/>
              <a:t>that describe some characteristic of a </a:t>
            </a:r>
            <a:r>
              <a:rPr lang="en-US" sz="2400" b="0" dirty="0" smtClean="0"/>
              <a:t>link</a:t>
            </a:r>
            <a:r>
              <a:rPr lang="en-US" sz="2400" b="0" dirty="0"/>
              <a:t>.</a:t>
            </a:r>
            <a:endParaRPr lang="en-US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119248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Black</a:t>
            </a:r>
            <a:r>
              <a:rPr lang="fr-FR" sz="3600" dirty="0"/>
              <a:t>-</a:t>
            </a:r>
            <a:r>
              <a:rPr lang="fr-FR" sz="3600" dirty="0" smtClean="0"/>
              <a:t>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Graph-Based Testing </a:t>
            </a:r>
            <a:r>
              <a:rPr lang="en-US" sz="2400" b="0" dirty="0" smtClean="0"/>
              <a:t>Methods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28800"/>
            <a:ext cx="5972175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719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46486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Black</a:t>
            </a:r>
            <a:r>
              <a:rPr lang="fr-FR" sz="3600" dirty="0"/>
              <a:t>-</a:t>
            </a:r>
            <a:r>
              <a:rPr lang="fr-FR" sz="3600" dirty="0" smtClean="0"/>
              <a:t>Box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Graph-Based Testing </a:t>
            </a:r>
            <a:r>
              <a:rPr lang="en-US" sz="2400" b="0" dirty="0" smtClean="0"/>
              <a:t>Methods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747838"/>
            <a:ext cx="7134225" cy="33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739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dirty="0"/>
              <a:t>The strategy provides a road map that </a:t>
            </a:r>
            <a:r>
              <a:rPr lang="en-US" sz="2400" b="0" dirty="0" smtClean="0"/>
              <a:t>describes the </a:t>
            </a:r>
            <a:r>
              <a:rPr lang="en-US" sz="2400" b="0" dirty="0"/>
              <a:t>steps to be conducted as part of testing, when these steps are planned </a:t>
            </a:r>
            <a:r>
              <a:rPr lang="en-US" sz="2400" b="0" dirty="0" smtClean="0"/>
              <a:t>and then </a:t>
            </a:r>
            <a:r>
              <a:rPr lang="en-US" sz="2400" b="0" dirty="0"/>
              <a:t>undertaken, and how much effort, time, and resources will be required.</a:t>
            </a:r>
          </a:p>
          <a:p>
            <a:r>
              <a:rPr lang="en-US" sz="2400" b="0" dirty="0" smtClean="0"/>
              <a:t>Testing </a:t>
            </a:r>
            <a:r>
              <a:rPr lang="en-US" sz="2400" b="0" dirty="0"/>
              <a:t>strategy must incorporate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test </a:t>
            </a:r>
            <a:r>
              <a:rPr lang="en-US" sz="2400" b="0" dirty="0"/>
              <a:t>planning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test </a:t>
            </a:r>
            <a:r>
              <a:rPr lang="en-US" sz="2400" b="0" dirty="0"/>
              <a:t>case design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test </a:t>
            </a:r>
            <a:r>
              <a:rPr lang="en-US" sz="2400" b="0" dirty="0"/>
              <a:t>execution</a:t>
            </a:r>
            <a:r>
              <a:rPr lang="en-US" sz="2400" b="0" dirty="0" smtClean="0"/>
              <a:t>,</a:t>
            </a:r>
          </a:p>
          <a:p>
            <a:pPr lvl="1"/>
            <a:r>
              <a:rPr lang="en-US" sz="2400" b="0" dirty="0" smtClean="0"/>
              <a:t>resultant </a:t>
            </a:r>
            <a:r>
              <a:rPr lang="en-US" sz="2400" b="0" dirty="0"/>
              <a:t>data collection and evaluation.</a:t>
            </a:r>
            <a:endParaRPr lang="en-US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351044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endParaRPr lang="en-US" sz="2400" b="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285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r>
              <a:rPr lang="en-US" sz="2400" b="0" i="1" dirty="0"/>
              <a:t>Unit testing </a:t>
            </a:r>
            <a:r>
              <a:rPr lang="en-US" sz="2400" b="0" dirty="0" smtClean="0"/>
              <a:t>concentrates </a:t>
            </a:r>
            <a:r>
              <a:rPr lang="en-US" sz="2400" b="0" dirty="0"/>
              <a:t>on each </a:t>
            </a:r>
            <a:r>
              <a:rPr lang="en-US" sz="2400" b="0" dirty="0" smtClean="0"/>
              <a:t>unit (i.e</a:t>
            </a:r>
            <a:r>
              <a:rPr lang="en-US" sz="2400" b="0" dirty="0"/>
              <a:t>., component) of the software as implemented in source code. </a:t>
            </a:r>
            <a:endParaRPr lang="en-US" sz="2400" b="0" dirty="0" smtClean="0"/>
          </a:p>
          <a:p>
            <a:r>
              <a:rPr lang="en-US" sz="2400" b="0" i="1" dirty="0" smtClean="0"/>
              <a:t>Integration testing</a:t>
            </a:r>
            <a:r>
              <a:rPr lang="en-US" sz="2400" b="0" i="1" dirty="0"/>
              <a:t> </a:t>
            </a:r>
            <a:r>
              <a:rPr lang="en-US" sz="2400" b="0" dirty="0" smtClean="0"/>
              <a:t>focuses on design and </a:t>
            </a:r>
            <a:r>
              <a:rPr lang="en-US" sz="2400" b="0" dirty="0"/>
              <a:t>the construction of the software architecture. </a:t>
            </a:r>
            <a:endParaRPr lang="en-US" sz="2400" b="0" dirty="0" smtClean="0"/>
          </a:p>
          <a:p>
            <a:r>
              <a:rPr lang="en-US" sz="2400" b="0" dirty="0" smtClean="0"/>
              <a:t>V</a:t>
            </a:r>
            <a:r>
              <a:rPr lang="en-US" sz="2400" b="0" i="1" dirty="0" smtClean="0"/>
              <a:t>alidation </a:t>
            </a:r>
            <a:r>
              <a:rPr lang="en-US" sz="2400" b="0" i="1" dirty="0"/>
              <a:t>testing, </a:t>
            </a:r>
            <a:r>
              <a:rPr lang="en-US" sz="2400" b="0" dirty="0"/>
              <a:t>where requirements established as part </a:t>
            </a:r>
            <a:r>
              <a:rPr lang="en-US" sz="2400" b="0" dirty="0" smtClean="0"/>
              <a:t>of software </a:t>
            </a:r>
            <a:r>
              <a:rPr lang="en-US" sz="2400" b="0" dirty="0"/>
              <a:t>requirements analysis are validated against the software that has been constructed.</a:t>
            </a:r>
          </a:p>
          <a:p>
            <a:r>
              <a:rPr lang="en-US" sz="2400" b="0" i="1" dirty="0" smtClean="0"/>
              <a:t>System </a:t>
            </a:r>
            <a:r>
              <a:rPr lang="en-US" sz="2400" b="0" i="1" dirty="0"/>
              <a:t>testing, </a:t>
            </a:r>
            <a:r>
              <a:rPr lang="en-US" sz="2400" b="0" dirty="0"/>
              <a:t>where the software and other </a:t>
            </a:r>
            <a:r>
              <a:rPr lang="en-US" sz="2400" b="0" dirty="0" smtClean="0"/>
              <a:t>system elements </a:t>
            </a:r>
            <a:r>
              <a:rPr lang="en-US" sz="2400" b="0" dirty="0"/>
              <a:t>are tested as a whole. </a:t>
            </a:r>
            <a:endParaRPr lang="en-US" sz="2400" b="0" dirty="0" smtClean="0"/>
          </a:p>
        </p:txBody>
      </p:sp>
    </p:spTree>
    <p:extLst>
      <p:ext uri="{BB962C8B-B14F-4D97-AF65-F5344CB8AC3E}">
        <p14:creationId xmlns:p14="http://schemas.microsoft.com/office/powerpoint/2010/main" val="147410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02086" cy="5257800"/>
          </a:xfrm>
        </p:spPr>
        <p:txBody>
          <a:bodyPr/>
          <a:lstStyle/>
          <a:p>
            <a:endParaRPr lang="en-US" sz="2400" b="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1343025"/>
            <a:ext cx="778192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7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Unit Testing</a:t>
            </a:r>
          </a:p>
          <a:p>
            <a:pPr lvl="1"/>
            <a:r>
              <a:rPr lang="en-US" sz="2400" b="0" dirty="0"/>
              <a:t>Unit testing focuses on the smallest unit of software design, i.e. the software component or module.</a:t>
            </a:r>
          </a:p>
          <a:p>
            <a:pPr lvl="1"/>
            <a:r>
              <a:rPr lang="en-US" sz="2400" b="0" dirty="0"/>
              <a:t>The unit test is white-box oriented, and the step can be conducted in parallel for multiple components</a:t>
            </a:r>
            <a:endParaRPr lang="en-US" sz="6800" dirty="0" smtClean="0"/>
          </a:p>
        </p:txBody>
      </p:sp>
    </p:spTree>
    <p:extLst>
      <p:ext uri="{BB962C8B-B14F-4D97-AF65-F5344CB8AC3E}">
        <p14:creationId xmlns:p14="http://schemas.microsoft.com/office/powerpoint/2010/main" val="78528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5105400" cy="5257800"/>
          </a:xfrm>
        </p:spPr>
        <p:txBody>
          <a:bodyPr/>
          <a:lstStyle/>
          <a:p>
            <a:r>
              <a:rPr lang="en-US" sz="2400" dirty="0" smtClean="0"/>
              <a:t>Unit Testing</a:t>
            </a:r>
          </a:p>
          <a:p>
            <a:pPr lvl="1"/>
            <a:r>
              <a:rPr lang="en-US" sz="2400" b="0" dirty="0"/>
              <a:t>The </a:t>
            </a:r>
            <a:r>
              <a:rPr lang="en-US" sz="2400" b="0" i="1" dirty="0"/>
              <a:t>module interface </a:t>
            </a:r>
            <a:r>
              <a:rPr lang="en-US" sz="2400" b="0" dirty="0"/>
              <a:t>is tested to ensure that information properly flows into and </a:t>
            </a:r>
            <a:r>
              <a:rPr lang="en-US" sz="2400" b="0" dirty="0" smtClean="0"/>
              <a:t>out of </a:t>
            </a:r>
            <a:r>
              <a:rPr lang="en-US" sz="2400" b="0" dirty="0"/>
              <a:t>the program unit under test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 The </a:t>
            </a:r>
            <a:r>
              <a:rPr lang="en-US" sz="2400" b="0" i="1" dirty="0"/>
              <a:t>local data structure </a:t>
            </a:r>
            <a:r>
              <a:rPr lang="en-US" sz="2400" b="0" dirty="0"/>
              <a:t>is examined to ensure </a:t>
            </a:r>
            <a:r>
              <a:rPr lang="en-US" sz="2400" b="0" dirty="0" smtClean="0"/>
              <a:t>that data </a:t>
            </a:r>
            <a:r>
              <a:rPr lang="en-US" sz="2400" b="0" dirty="0"/>
              <a:t>stored temporarily maintains its integrity during all steps in an algorithm's execution</a:t>
            </a:r>
            <a:r>
              <a:rPr lang="en-US" sz="2400" b="0" dirty="0" smtClean="0"/>
              <a:t>.</a:t>
            </a:r>
            <a:endParaRPr lang="en-US" sz="2400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143733"/>
            <a:ext cx="3686175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783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5105400" cy="5257800"/>
          </a:xfrm>
        </p:spPr>
        <p:txBody>
          <a:bodyPr/>
          <a:lstStyle/>
          <a:p>
            <a:r>
              <a:rPr lang="en-US" sz="2400" dirty="0" smtClean="0"/>
              <a:t>Unit Testing</a:t>
            </a:r>
          </a:p>
          <a:p>
            <a:pPr lvl="1"/>
            <a:r>
              <a:rPr lang="en-US" sz="2400" b="0" i="1" dirty="0"/>
              <a:t>Boundary conditions </a:t>
            </a:r>
            <a:r>
              <a:rPr lang="en-US" sz="2400" b="0" dirty="0"/>
              <a:t>are tested to ensure that the module operates </a:t>
            </a:r>
            <a:r>
              <a:rPr lang="en-US" sz="2400" b="0" dirty="0" smtClean="0"/>
              <a:t>properly at </a:t>
            </a:r>
            <a:r>
              <a:rPr lang="en-US" sz="2400" b="0" dirty="0"/>
              <a:t>boundaries established to limit or restrict processing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dirty="0" smtClean="0"/>
              <a:t> </a:t>
            </a:r>
            <a:r>
              <a:rPr lang="en-US" sz="2400" b="0" dirty="0"/>
              <a:t>All </a:t>
            </a:r>
            <a:r>
              <a:rPr lang="en-US" sz="2400" b="0" i="1" dirty="0"/>
              <a:t>independent paths </a:t>
            </a:r>
            <a:r>
              <a:rPr lang="en-US" sz="2400" b="0" dirty="0"/>
              <a:t>(</a:t>
            </a:r>
            <a:r>
              <a:rPr lang="en-US" sz="2400" b="0" dirty="0" smtClean="0"/>
              <a:t>basis paths</a:t>
            </a:r>
            <a:r>
              <a:rPr lang="en-US" sz="2400" b="0" dirty="0"/>
              <a:t>) through the control structure are exercised to ensure that all statements in </a:t>
            </a:r>
            <a:r>
              <a:rPr lang="en-US" sz="2400" b="0" dirty="0" smtClean="0"/>
              <a:t>a module </a:t>
            </a:r>
            <a:r>
              <a:rPr lang="en-US" sz="2400" b="0" dirty="0"/>
              <a:t>have been executed at least once.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Finally</a:t>
            </a:r>
            <a:r>
              <a:rPr lang="en-US" sz="2400" b="0" dirty="0"/>
              <a:t>, all </a:t>
            </a:r>
            <a:r>
              <a:rPr lang="en-US" sz="2400" b="0" i="1" dirty="0"/>
              <a:t>error </a:t>
            </a:r>
            <a:r>
              <a:rPr lang="en-US" sz="2400" b="0" i="1" dirty="0" smtClean="0"/>
              <a:t>handling </a:t>
            </a:r>
            <a:r>
              <a:rPr lang="en-US" sz="2400" b="0" dirty="0" smtClean="0"/>
              <a:t>paths are tested.</a:t>
            </a:r>
            <a:endParaRPr lang="en-US" sz="2000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143733"/>
            <a:ext cx="3686175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86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Integration Testing</a:t>
            </a:r>
          </a:p>
          <a:p>
            <a:pPr lvl="1"/>
            <a:r>
              <a:rPr lang="en-US" sz="2400" b="0" dirty="0"/>
              <a:t>Integration testing is a systematic technique for constructing the program </a:t>
            </a:r>
            <a:r>
              <a:rPr lang="en-US" sz="2400" b="0" dirty="0" smtClean="0"/>
              <a:t>structure while </a:t>
            </a:r>
            <a:r>
              <a:rPr lang="en-US" sz="2400" b="0" dirty="0"/>
              <a:t>at the same time conducting tests to uncover errors associated with interfacing.</a:t>
            </a:r>
          </a:p>
          <a:p>
            <a:pPr lvl="1"/>
            <a:r>
              <a:rPr lang="en-US" sz="2400" b="0" dirty="0"/>
              <a:t>The objective is to take unit tested components and build a program </a:t>
            </a:r>
            <a:r>
              <a:rPr lang="en-US" sz="2400" b="0" dirty="0" smtClean="0"/>
              <a:t>structure that </a:t>
            </a:r>
            <a:r>
              <a:rPr lang="en-US" sz="2400" b="0" dirty="0"/>
              <a:t>has been dictated by design.</a:t>
            </a:r>
            <a:endParaRPr lang="en-US" sz="6800" dirty="0" smtClean="0"/>
          </a:p>
          <a:p>
            <a:pPr lvl="1"/>
            <a:r>
              <a:rPr lang="en-US" sz="2400" b="0" dirty="0" smtClean="0"/>
              <a:t>Two approaches: Top-down &amp; Bottom-up</a:t>
            </a:r>
          </a:p>
          <a:p>
            <a:pPr marL="442912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655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Integration Testing</a:t>
            </a:r>
          </a:p>
          <a:p>
            <a:pPr lvl="1"/>
            <a:r>
              <a:rPr lang="en-US" sz="2400" b="0" i="1" dirty="0"/>
              <a:t>Top-down integration testing </a:t>
            </a:r>
            <a:r>
              <a:rPr lang="en-US" sz="2400" b="0" dirty="0"/>
              <a:t>is an incremental approach to construction of </a:t>
            </a:r>
            <a:r>
              <a:rPr lang="en-US" sz="2400" b="0" dirty="0" smtClean="0"/>
              <a:t>program structure</a:t>
            </a:r>
            <a:r>
              <a:rPr lang="en-US" sz="2400" b="0" dirty="0"/>
              <a:t>. </a:t>
            </a:r>
            <a:endParaRPr lang="en-US" sz="2400" b="0" dirty="0" smtClean="0"/>
          </a:p>
          <a:p>
            <a:pPr lvl="1"/>
            <a:r>
              <a:rPr lang="en-US" sz="2400" b="0" dirty="0" smtClean="0"/>
              <a:t>Modules </a:t>
            </a:r>
            <a:r>
              <a:rPr lang="en-US" sz="2400" b="0" dirty="0"/>
              <a:t>are integrated by moving downward through the control hierarchy</a:t>
            </a:r>
            <a:r>
              <a:rPr lang="en-US" sz="2400" b="0" dirty="0" smtClean="0"/>
              <a:t>, beginning </a:t>
            </a:r>
            <a:r>
              <a:rPr lang="en-US" sz="2400" b="0" dirty="0"/>
              <a:t>with the main control module (main program). Modules </a:t>
            </a:r>
            <a:r>
              <a:rPr lang="en-US" sz="2400" b="0" dirty="0" smtClean="0"/>
              <a:t>subordinate (and </a:t>
            </a:r>
            <a:r>
              <a:rPr lang="en-US" sz="2400" b="0" dirty="0"/>
              <a:t>ultimately subordinate) to the main control module are incorporated into </a:t>
            </a:r>
            <a:r>
              <a:rPr lang="en-US" sz="2400" b="0" dirty="0" smtClean="0"/>
              <a:t>the structure </a:t>
            </a:r>
            <a:r>
              <a:rPr lang="en-US" sz="2400" b="0" dirty="0"/>
              <a:t>in either a </a:t>
            </a:r>
            <a:r>
              <a:rPr lang="en-US" sz="2400" b="0" dirty="0" smtClean="0"/>
              <a:t>depth-first </a:t>
            </a:r>
            <a:r>
              <a:rPr lang="en-US" sz="2400" b="0" dirty="0"/>
              <a:t>or breadth-first manner</a:t>
            </a:r>
            <a:r>
              <a:rPr lang="en-US" sz="2400" b="0" dirty="0" smtClean="0"/>
              <a:t>.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206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Integration Testing</a:t>
            </a:r>
          </a:p>
          <a:p>
            <a:pPr lvl="1"/>
            <a:r>
              <a:rPr lang="en-US" sz="2400" b="0" dirty="0" smtClean="0"/>
              <a:t>Top-down Integration: </a:t>
            </a:r>
            <a:r>
              <a:rPr lang="en-US" sz="2400" b="0" i="1" dirty="0" smtClean="0"/>
              <a:t>Depth-first </a:t>
            </a:r>
            <a:r>
              <a:rPr lang="en-US" sz="2400" b="0" i="1" dirty="0"/>
              <a:t>integration</a:t>
            </a:r>
            <a:endParaRPr lang="en-US" sz="2000" dirty="0" smtClean="0"/>
          </a:p>
          <a:p>
            <a:pPr lvl="1"/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81200"/>
            <a:ext cx="61722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775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Integration Testing</a:t>
            </a:r>
          </a:p>
          <a:p>
            <a:pPr lvl="1"/>
            <a:r>
              <a:rPr lang="en-US" sz="2400" b="0" i="1" dirty="0" smtClean="0"/>
              <a:t>Bottom-up Integration Testing </a:t>
            </a:r>
            <a:r>
              <a:rPr lang="en-US" sz="2400" b="0" dirty="0" smtClean="0"/>
              <a:t>begins </a:t>
            </a:r>
            <a:r>
              <a:rPr lang="en-US" sz="2400" b="0" dirty="0"/>
              <a:t>construction and </a:t>
            </a:r>
            <a:r>
              <a:rPr lang="en-US" sz="2400" b="0" dirty="0" smtClean="0"/>
              <a:t>testing with </a:t>
            </a:r>
            <a:r>
              <a:rPr lang="en-US" sz="2400" b="0" i="1" dirty="0"/>
              <a:t>atomic modules </a:t>
            </a:r>
            <a:r>
              <a:rPr lang="en-US" sz="2400" b="0" dirty="0"/>
              <a:t>(i.e., components at the lowest levels in the program structure).</a:t>
            </a:r>
          </a:p>
          <a:p>
            <a:pPr lvl="1"/>
            <a:r>
              <a:rPr lang="en-US" sz="2400" b="0" dirty="0" smtClean="0"/>
              <a:t>Components </a:t>
            </a:r>
            <a:r>
              <a:rPr lang="en-US" sz="2400" b="0" dirty="0"/>
              <a:t>are integrated from the bottom up, </a:t>
            </a:r>
            <a:r>
              <a:rPr lang="en-US" sz="2400" b="0" dirty="0" smtClean="0"/>
              <a:t>therefore processing </a:t>
            </a:r>
            <a:r>
              <a:rPr lang="en-US" sz="2400" b="0" dirty="0"/>
              <a:t>required for </a:t>
            </a:r>
            <a:r>
              <a:rPr lang="en-US" sz="2400" b="0" dirty="0" smtClean="0"/>
              <a:t>components subordinate </a:t>
            </a:r>
            <a:r>
              <a:rPr lang="en-US" sz="2400" b="0" dirty="0"/>
              <a:t>to a given level is always available and the need for stubs </a:t>
            </a:r>
            <a:r>
              <a:rPr lang="en-US" sz="2400" b="0" dirty="0" smtClean="0"/>
              <a:t>is eliminated</a:t>
            </a:r>
            <a:r>
              <a:rPr lang="en-US" sz="2400" b="0" dirty="0"/>
              <a:t>.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40569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Integration Testing</a:t>
            </a:r>
          </a:p>
          <a:p>
            <a:pPr lvl="1"/>
            <a:r>
              <a:rPr lang="en-US" sz="2400" b="0" dirty="0" smtClean="0"/>
              <a:t>Bottom-up Integration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2" y="1875108"/>
            <a:ext cx="7467598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7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Validation Testing</a:t>
            </a:r>
          </a:p>
          <a:p>
            <a:pPr lvl="1"/>
            <a:r>
              <a:rPr lang="en-US" sz="2400" b="0" dirty="0" smtClean="0"/>
              <a:t>Validation </a:t>
            </a:r>
            <a:r>
              <a:rPr lang="en-US" sz="2400" b="0" dirty="0"/>
              <a:t>succeeds when software </a:t>
            </a:r>
            <a:r>
              <a:rPr lang="en-US" sz="2400" b="0" dirty="0" smtClean="0"/>
              <a:t>functions in </a:t>
            </a:r>
            <a:r>
              <a:rPr lang="en-US" sz="2400" b="0" dirty="0"/>
              <a:t>a manner that can be reasonably expected by the </a:t>
            </a:r>
            <a:r>
              <a:rPr lang="en-US" sz="2400" b="0" dirty="0" smtClean="0"/>
              <a:t>customer</a:t>
            </a:r>
          </a:p>
          <a:p>
            <a:pPr lvl="1"/>
            <a:endParaRPr lang="en-US" sz="2400" b="0" dirty="0" smtClean="0"/>
          </a:p>
          <a:p>
            <a:pPr lvl="2"/>
            <a:endParaRPr lang="en-US" sz="2200" b="0" dirty="0" smtClean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556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990600"/>
            <a:ext cx="8458200" cy="5257800"/>
          </a:xfrm>
        </p:spPr>
        <p:txBody>
          <a:bodyPr/>
          <a:lstStyle/>
          <a:p>
            <a:r>
              <a:rPr lang="en-US" sz="2400" dirty="0" smtClean="0"/>
              <a:t>Validation Testing</a:t>
            </a:r>
          </a:p>
          <a:p>
            <a:pPr lvl="1"/>
            <a:r>
              <a:rPr lang="en-US" sz="2400" b="0" i="1" dirty="0"/>
              <a:t>Alpha </a:t>
            </a:r>
            <a:r>
              <a:rPr lang="en-US" sz="2400" b="0" i="1" dirty="0" smtClean="0"/>
              <a:t>Testing</a:t>
            </a:r>
            <a:r>
              <a:rPr lang="en-US" sz="2400" b="0" dirty="0" smtClean="0"/>
              <a:t> is </a:t>
            </a:r>
            <a:r>
              <a:rPr lang="en-US" sz="2400" b="0" dirty="0"/>
              <a:t>conducted at the developer's site by a customer. The software is used in a natural setting with the developer "looking over the shoulder" of the user and recording errors and usage problems. Alpha tests are conducted in a controlled environment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i="1" dirty="0" smtClean="0"/>
              <a:t>Beta Testing</a:t>
            </a:r>
            <a:r>
              <a:rPr lang="en-US" sz="2400" b="0" dirty="0" smtClean="0"/>
              <a:t> is </a:t>
            </a:r>
            <a:r>
              <a:rPr lang="en-US" sz="2400" b="0" dirty="0"/>
              <a:t>conducted at one or more customer sites by the end-user of the software. </a:t>
            </a:r>
            <a:r>
              <a:rPr lang="en-US" sz="2400" b="0" dirty="0" smtClean="0"/>
              <a:t>The </a:t>
            </a:r>
            <a:r>
              <a:rPr lang="en-US" sz="2400" b="0" dirty="0"/>
              <a:t>developer is generally not present. </a:t>
            </a:r>
            <a:r>
              <a:rPr lang="en-US" sz="2400" b="0" dirty="0" smtClean="0"/>
              <a:t>The </a:t>
            </a:r>
            <a:r>
              <a:rPr lang="en-US" sz="2400" b="0" dirty="0"/>
              <a:t>beta test is a "live" application of the software in an environment that cannot be controlled by the developer. The customer records all problems </a:t>
            </a:r>
            <a:r>
              <a:rPr lang="en-US" sz="2400" b="0" dirty="0" smtClean="0"/>
              <a:t>that </a:t>
            </a:r>
            <a:r>
              <a:rPr lang="en-US" sz="2400" b="0" dirty="0"/>
              <a:t>are encountered during beta testing and reports these to the developer at regular intervals. </a:t>
            </a:r>
          </a:p>
          <a:p>
            <a:pPr lvl="2"/>
            <a:endParaRPr lang="en-US" sz="2400" b="0" dirty="0" smtClean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208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68584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smtClean="0"/>
              <a:t>Software </a:t>
            </a:r>
            <a:r>
              <a:rPr lang="fr-FR" sz="3600" dirty="0" err="1" smtClean="0"/>
              <a:t>Testing</a:t>
            </a:r>
            <a:r>
              <a:rPr lang="fr-FR" sz="3600" dirty="0" smtClean="0"/>
              <a:t> </a:t>
            </a:r>
            <a:r>
              <a:rPr lang="fr-FR" sz="3600" dirty="0" err="1" smtClean="0"/>
              <a:t>Strategies</a:t>
            </a:r>
            <a:r>
              <a:rPr lang="fr-FR" sz="3600" dirty="0" smtClean="0"/>
              <a:t> 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458200" cy="5257800"/>
          </a:xfrm>
        </p:spPr>
        <p:txBody>
          <a:bodyPr/>
          <a:lstStyle/>
          <a:p>
            <a:r>
              <a:rPr lang="en-US" sz="2400" dirty="0" smtClean="0"/>
              <a:t>System Testing</a:t>
            </a:r>
          </a:p>
          <a:p>
            <a:pPr lvl="1"/>
            <a:r>
              <a:rPr lang="en-US" sz="2400" b="0" i="1" dirty="0"/>
              <a:t>Recovery testing </a:t>
            </a:r>
            <a:r>
              <a:rPr lang="en-US" sz="2400" b="0" dirty="0" smtClean="0"/>
              <a:t>forces </a:t>
            </a:r>
            <a:r>
              <a:rPr lang="en-US" sz="2400" b="0" dirty="0"/>
              <a:t>the software to fail in a variety of </a:t>
            </a:r>
            <a:r>
              <a:rPr lang="en-US" sz="2400" b="0" dirty="0" smtClean="0"/>
              <a:t>ways and </a:t>
            </a:r>
            <a:r>
              <a:rPr lang="en-US" sz="2400" b="0" dirty="0"/>
              <a:t>verifies that recovery is properly performed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i="1" dirty="0"/>
              <a:t>Security testing </a:t>
            </a:r>
            <a:r>
              <a:rPr lang="en-US" sz="2400" b="0" dirty="0"/>
              <a:t>attempts to verify that protection mechanisms built into a </a:t>
            </a:r>
            <a:r>
              <a:rPr lang="en-US" sz="2400" b="0" dirty="0" smtClean="0"/>
              <a:t>system will</a:t>
            </a:r>
            <a:r>
              <a:rPr lang="en-US" sz="2400" b="0" dirty="0"/>
              <a:t>, in fact, protect it from improper penetration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i="1" dirty="0"/>
              <a:t>Stress testing </a:t>
            </a:r>
            <a:r>
              <a:rPr lang="en-US" sz="2400" b="0" dirty="0"/>
              <a:t>executes a system in a manner that demands resources in </a:t>
            </a:r>
            <a:r>
              <a:rPr lang="en-US" sz="2400" b="0" dirty="0" smtClean="0"/>
              <a:t>abnormal quantity</a:t>
            </a:r>
            <a:r>
              <a:rPr lang="en-US" sz="2400" b="0" dirty="0"/>
              <a:t>, frequency, or volume</a:t>
            </a:r>
            <a:r>
              <a:rPr lang="en-US" sz="2400" b="0" dirty="0" smtClean="0"/>
              <a:t>.</a:t>
            </a:r>
          </a:p>
          <a:p>
            <a:pPr lvl="1"/>
            <a:r>
              <a:rPr lang="en-US" sz="2400" b="0" i="1" dirty="0"/>
              <a:t>Performance </a:t>
            </a:r>
            <a:r>
              <a:rPr lang="en-US" sz="2400" b="0" i="1" dirty="0" smtClean="0"/>
              <a:t>testing </a:t>
            </a:r>
            <a:r>
              <a:rPr lang="en-US" sz="2400" b="0" dirty="0" smtClean="0"/>
              <a:t>is </a:t>
            </a:r>
            <a:r>
              <a:rPr lang="en-US" sz="2400" b="0" dirty="0"/>
              <a:t>designed to test the run-time performance of software within the context of </a:t>
            </a:r>
            <a:r>
              <a:rPr lang="en-US" sz="2400" b="0" dirty="0" smtClean="0"/>
              <a:t>an integrated </a:t>
            </a:r>
            <a:r>
              <a:rPr lang="en-US" sz="2400" b="0" dirty="0"/>
              <a:t>system. Performance testing occurs throughout all steps in the </a:t>
            </a:r>
            <a:r>
              <a:rPr lang="en-US" sz="2400" b="0" dirty="0" smtClean="0"/>
              <a:t>testing process</a:t>
            </a:r>
            <a:r>
              <a:rPr lang="en-US" sz="2400" b="0" dirty="0"/>
              <a:t>.</a:t>
            </a:r>
            <a:endParaRPr lang="en-US" sz="2400" b="0" dirty="0" smtClean="0"/>
          </a:p>
          <a:p>
            <a:pPr lvl="1"/>
            <a:endParaRPr lang="en-US" sz="2400" b="0" dirty="0" smtClean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209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462" y="0"/>
            <a:ext cx="5182062" cy="777600"/>
          </a:xfrm>
        </p:spPr>
        <p:txBody>
          <a:bodyPr wrap="square">
            <a:noAutofit/>
          </a:bodyPr>
          <a:lstStyle/>
          <a:p>
            <a:pPr marL="0" indent="0"/>
            <a:r>
              <a:rPr lang="fr-FR" sz="3600" dirty="0" err="1" smtClean="0"/>
              <a:t>Debugging</a:t>
            </a:r>
            <a:r>
              <a:rPr lang="fr-FR" sz="3600" dirty="0" smtClean="0"/>
              <a:t> </a:t>
            </a:r>
            <a:r>
              <a:rPr lang="fr-FR" sz="3600" dirty="0" err="1" smtClean="0"/>
              <a:t>Process</a:t>
            </a:r>
            <a:endParaRPr lang="fr-FR" sz="10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8600" y="838200"/>
            <a:ext cx="8458200" cy="5257800"/>
          </a:xfrm>
        </p:spPr>
        <p:txBody>
          <a:bodyPr/>
          <a:lstStyle/>
          <a:p>
            <a:pPr lvl="1"/>
            <a:endParaRPr lang="en-US" sz="2400" b="0" dirty="0" smtClean="0"/>
          </a:p>
          <a:p>
            <a:pPr lvl="1"/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352550"/>
            <a:ext cx="7829550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698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e_liris_2010">
  <a:themeElements>
    <a:clrScheme name="modele-diapo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ele-diapo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ele-diapo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6">
        <a:dk1>
          <a:srgbClr val="174A7C"/>
        </a:dk1>
        <a:lt1>
          <a:srgbClr val="EBEBF1"/>
        </a:lt1>
        <a:dk2>
          <a:srgbClr val="00539F"/>
        </a:dk2>
        <a:lt2>
          <a:srgbClr val="878EAF"/>
        </a:lt2>
        <a:accent1>
          <a:srgbClr val="1E613C"/>
        </a:accent1>
        <a:accent2>
          <a:srgbClr val="55004E"/>
        </a:accent2>
        <a:accent3>
          <a:srgbClr val="F3F3F7"/>
        </a:accent3>
        <a:accent4>
          <a:srgbClr val="123E69"/>
        </a:accent4>
        <a:accent5>
          <a:srgbClr val="ABB7AF"/>
        </a:accent5>
        <a:accent6>
          <a:srgbClr val="4C0046"/>
        </a:accent6>
        <a:hlink>
          <a:srgbClr val="C06616"/>
        </a:hlink>
        <a:folHlink>
          <a:srgbClr val="9E0A0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7">
        <a:dk1>
          <a:srgbClr val="174A7C"/>
        </a:dk1>
        <a:lt1>
          <a:srgbClr val="EBEBF1"/>
        </a:lt1>
        <a:dk2>
          <a:srgbClr val="00539F"/>
        </a:dk2>
        <a:lt2>
          <a:srgbClr val="878EAF"/>
        </a:lt2>
        <a:accent1>
          <a:srgbClr val="D60153"/>
        </a:accent1>
        <a:accent2>
          <a:srgbClr val="55004E"/>
        </a:accent2>
        <a:accent3>
          <a:srgbClr val="F3F3F7"/>
        </a:accent3>
        <a:accent4>
          <a:srgbClr val="123E69"/>
        </a:accent4>
        <a:accent5>
          <a:srgbClr val="E8AAB3"/>
        </a:accent5>
        <a:accent6>
          <a:srgbClr val="4C0046"/>
        </a:accent6>
        <a:hlink>
          <a:srgbClr val="C06616"/>
        </a:hlink>
        <a:folHlink>
          <a:srgbClr val="9E0A0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ele-diapos 8">
        <a:dk1>
          <a:srgbClr val="174A7C"/>
        </a:dk1>
        <a:lt1>
          <a:srgbClr val="EDEDF3"/>
        </a:lt1>
        <a:dk2>
          <a:srgbClr val="FFFFFF"/>
        </a:dk2>
        <a:lt2>
          <a:srgbClr val="878EAF"/>
        </a:lt2>
        <a:accent1>
          <a:srgbClr val="007772"/>
        </a:accent1>
        <a:accent2>
          <a:srgbClr val="231F20"/>
        </a:accent2>
        <a:accent3>
          <a:srgbClr val="F4F4F8"/>
        </a:accent3>
        <a:accent4>
          <a:srgbClr val="123E69"/>
        </a:accent4>
        <a:accent5>
          <a:srgbClr val="AABDBC"/>
        </a:accent5>
        <a:accent6>
          <a:srgbClr val="1F1B1C"/>
        </a:accent6>
        <a:hlink>
          <a:srgbClr val="D61353"/>
        </a:hlink>
        <a:folHlink>
          <a:srgbClr val="57005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68178</TotalTime>
  <Words>8681</Words>
  <Application>Microsoft Macintosh PowerPoint</Application>
  <PresentationFormat>On-screen Show (4:3)</PresentationFormat>
  <Paragraphs>1449</Paragraphs>
  <Slides>158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5" baseType="lpstr">
      <vt:lpstr>Calibri</vt:lpstr>
      <vt:lpstr>Symbol</vt:lpstr>
      <vt:lpstr>Times New Roman</vt:lpstr>
      <vt:lpstr>Wingdings</vt:lpstr>
      <vt:lpstr>Wingdings 2</vt:lpstr>
      <vt:lpstr>Arial</vt:lpstr>
      <vt:lpstr>modele_liris_2010</vt:lpstr>
      <vt:lpstr>SOFTWARE ENGINEERING</vt:lpstr>
      <vt:lpstr>Outline</vt:lpstr>
      <vt:lpstr>Overview</vt:lpstr>
      <vt:lpstr> Goals</vt:lpstr>
      <vt:lpstr>PowerPoint Presentation</vt:lpstr>
      <vt:lpstr>Chapters</vt:lpstr>
      <vt:lpstr>Section I – Software</vt:lpstr>
      <vt:lpstr>Definition “software”</vt:lpstr>
      <vt:lpstr>Definition “software”</vt:lpstr>
      <vt:lpstr>Growing process</vt:lpstr>
      <vt:lpstr>Software Characteristics</vt:lpstr>
      <vt:lpstr>Software Characteristics</vt:lpstr>
      <vt:lpstr>Attributes of good software</vt:lpstr>
      <vt:lpstr>Assigment 1</vt:lpstr>
      <vt:lpstr>Types of software</vt:lpstr>
      <vt:lpstr>Types of software</vt:lpstr>
      <vt:lpstr>Challenges</vt:lpstr>
      <vt:lpstr>Challenges</vt:lpstr>
      <vt:lpstr>Section II – Software Engineering</vt:lpstr>
      <vt:lpstr>Definition SE</vt:lpstr>
      <vt:lpstr>Definition SE</vt:lpstr>
      <vt:lpstr>Why SE?</vt:lpstr>
      <vt:lpstr>What is SE?</vt:lpstr>
      <vt:lpstr>Assigment 2</vt:lpstr>
      <vt:lpstr>What is SE?</vt:lpstr>
      <vt:lpstr>What is SE?</vt:lpstr>
      <vt:lpstr>What is SE?</vt:lpstr>
      <vt:lpstr>SE phases</vt:lpstr>
      <vt:lpstr>SE phases</vt:lpstr>
      <vt:lpstr>SE phases</vt:lpstr>
      <vt:lpstr>SE phases</vt:lpstr>
      <vt:lpstr>Section 3: Software process models</vt:lpstr>
      <vt:lpstr> Linear sequential Model</vt:lpstr>
      <vt:lpstr> Linear sequential Model</vt:lpstr>
      <vt:lpstr> Linear sequential Model</vt:lpstr>
      <vt:lpstr> Linear sequential Model</vt:lpstr>
      <vt:lpstr> Linear sequential Model</vt:lpstr>
      <vt:lpstr> Linear sequential Model</vt:lpstr>
      <vt:lpstr> Linear sequential Model</vt:lpstr>
      <vt:lpstr> Linear sequential Model</vt:lpstr>
      <vt:lpstr> Linear sequential Model</vt:lpstr>
      <vt:lpstr> Linear sequential Model problems</vt:lpstr>
      <vt:lpstr>Software process models</vt:lpstr>
      <vt:lpstr> Situations for applying</vt:lpstr>
      <vt:lpstr> Prototyping Model</vt:lpstr>
      <vt:lpstr> Prototyping Model</vt:lpstr>
      <vt:lpstr> Prototyping Model Problems</vt:lpstr>
      <vt:lpstr> Prototyping Model Problems</vt:lpstr>
      <vt:lpstr>Software process models</vt:lpstr>
      <vt:lpstr> RAD Model </vt:lpstr>
      <vt:lpstr> RAD Model </vt:lpstr>
      <vt:lpstr> RAD Model </vt:lpstr>
      <vt:lpstr> RAD Model </vt:lpstr>
      <vt:lpstr> RAD Model </vt:lpstr>
      <vt:lpstr> RAD Model </vt:lpstr>
      <vt:lpstr> RAD Model  </vt:lpstr>
      <vt:lpstr> RAD Model Candidate </vt:lpstr>
      <vt:lpstr> RAD Model Problems </vt:lpstr>
      <vt:lpstr> RAD Model Problems</vt:lpstr>
      <vt:lpstr>Evolutionary software process models</vt:lpstr>
      <vt:lpstr>  Incremental Model</vt:lpstr>
      <vt:lpstr> Incremental Model</vt:lpstr>
      <vt:lpstr>  Incremental Model</vt:lpstr>
      <vt:lpstr>  Incremental Model</vt:lpstr>
      <vt:lpstr>  Incremental Model Advantages</vt:lpstr>
      <vt:lpstr>Evolutionary software process models</vt:lpstr>
      <vt:lpstr>  Spiral Model</vt:lpstr>
      <vt:lpstr>  Spiral Model</vt:lpstr>
      <vt:lpstr>  Spiral Model</vt:lpstr>
      <vt:lpstr>  Spiral Model</vt:lpstr>
      <vt:lpstr>  Spiral Model</vt:lpstr>
      <vt:lpstr>  Spiral Model</vt:lpstr>
      <vt:lpstr>  Spiral Model Advantages</vt:lpstr>
      <vt:lpstr>  Spiral Model Disadvantages</vt:lpstr>
      <vt:lpstr>Software process models</vt:lpstr>
      <vt:lpstr>  Fourth Generation Techniques</vt:lpstr>
      <vt:lpstr>  Fourth Generation Techniques</vt:lpstr>
      <vt:lpstr>  Fourth Generation Techniques</vt:lpstr>
      <vt:lpstr>  Fourth Generation Techniques</vt:lpstr>
      <vt:lpstr>  4GT Advantages</vt:lpstr>
      <vt:lpstr>  4GT Disadvantages</vt:lpstr>
      <vt:lpstr>Chapters</vt:lpstr>
      <vt:lpstr>  Requirements Engineering</vt:lpstr>
      <vt:lpstr>  Requirements Elicitation</vt:lpstr>
      <vt:lpstr>  Requirements Elicitation</vt:lpstr>
      <vt:lpstr>  Requirements Elicitation</vt:lpstr>
      <vt:lpstr>  Requirements Elicitation</vt:lpstr>
      <vt:lpstr>  Requirements Analysis &amp; Negotiation</vt:lpstr>
      <vt:lpstr>  Requirements Analysis &amp; Negotiation</vt:lpstr>
      <vt:lpstr>  Requirements Analysis &amp; Negotiation</vt:lpstr>
      <vt:lpstr>  Requirements Specification</vt:lpstr>
      <vt:lpstr>  Requirements Specification</vt:lpstr>
      <vt:lpstr>  System Modelling</vt:lpstr>
      <vt:lpstr>  Requirements Validation</vt:lpstr>
      <vt:lpstr>  Requirements Validation</vt:lpstr>
      <vt:lpstr>  Requirements Management</vt:lpstr>
      <vt:lpstr>  Requirements Management</vt:lpstr>
      <vt:lpstr>  Requirements Management</vt:lpstr>
      <vt:lpstr>  Software Requirements Analysis</vt:lpstr>
      <vt:lpstr> Software Requirements Analysis</vt:lpstr>
      <vt:lpstr> Software Requirements Analysis</vt:lpstr>
      <vt:lpstr> Software Req. Analysis Principles</vt:lpstr>
      <vt:lpstr> Software Req. Analysis Guidelines</vt:lpstr>
      <vt:lpstr> Software Models</vt:lpstr>
      <vt:lpstr> Prototyping Approach</vt:lpstr>
      <vt:lpstr> Prototyping Approach</vt:lpstr>
      <vt:lpstr> Prototyping Approach</vt:lpstr>
      <vt:lpstr>Software Specification</vt:lpstr>
      <vt:lpstr>Software Specification Principles</vt:lpstr>
      <vt:lpstr>Software Specification Principles</vt:lpstr>
      <vt:lpstr>Chapters</vt:lpstr>
      <vt:lpstr>Overview</vt:lpstr>
      <vt:lpstr>Overview</vt:lpstr>
      <vt:lpstr>Overview</vt:lpstr>
      <vt:lpstr>Overview</vt:lpstr>
      <vt:lpstr>Overview</vt:lpstr>
      <vt:lpstr>Design Principles</vt:lpstr>
      <vt:lpstr>Design Principles</vt:lpstr>
      <vt:lpstr>Design Principles</vt:lpstr>
      <vt:lpstr>Data Design</vt:lpstr>
      <vt:lpstr>Architectural Design</vt:lpstr>
      <vt:lpstr>Interface Design</vt:lpstr>
      <vt:lpstr>User Interface Design</vt:lpstr>
      <vt:lpstr>User Interface Design Golden Rules</vt:lpstr>
      <vt:lpstr>User Interface Design Golden Rules</vt:lpstr>
      <vt:lpstr>User Interface Design Golden Rules</vt:lpstr>
      <vt:lpstr>User Interface Design Models</vt:lpstr>
      <vt:lpstr>User Interface Design Process</vt:lpstr>
      <vt:lpstr>Chapters</vt:lpstr>
      <vt:lpstr>Software Testing </vt:lpstr>
      <vt:lpstr>Software Testing</vt:lpstr>
      <vt:lpstr>Software Testing Principles</vt:lpstr>
      <vt:lpstr>Software Testing Techniques</vt:lpstr>
      <vt:lpstr>White-Box Testing</vt:lpstr>
      <vt:lpstr>White-Box Testing Techniques</vt:lpstr>
      <vt:lpstr>White-Box Testing Techniques</vt:lpstr>
      <vt:lpstr>White-Box Testing Techniques</vt:lpstr>
      <vt:lpstr>Black-Box Testing </vt:lpstr>
      <vt:lpstr>Black-Box Testing </vt:lpstr>
      <vt:lpstr>Black-Box Testing </vt:lpstr>
      <vt:lpstr>Black-Box Testing </vt:lpstr>
      <vt:lpstr>Black-Box Testing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Software Testing Strategies </vt:lpstr>
      <vt:lpstr>Debugging Process</vt:lpstr>
    </vt:vector>
  </TitlesOfParts>
  <LinksUpToDate>false</LinksUpToDate>
  <SharedDoc>false</SharedDoc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Une approche Embedded pour la sélection de variables en mode semi-supervisé</dc:title>
  <dc:creator>amameer</dc:creator>
  <cp:lastModifiedBy>Microsoft Office User</cp:lastModifiedBy>
  <cp:revision>1335</cp:revision>
  <dcterms:created xsi:type="dcterms:W3CDTF">2006-08-16T00:00:00Z</dcterms:created>
  <dcterms:modified xsi:type="dcterms:W3CDTF">2024-11-06T04:51:15Z</dcterms:modified>
</cp:coreProperties>
</file>