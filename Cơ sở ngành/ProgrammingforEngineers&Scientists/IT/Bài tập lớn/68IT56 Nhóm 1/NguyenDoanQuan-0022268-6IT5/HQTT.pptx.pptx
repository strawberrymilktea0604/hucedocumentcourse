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Celandine" charset="1" panose="00000500000000000000"/>
      <p:regular r:id="rId30"/>
    </p:embeddedFont>
    <p:embeddedFont>
      <p:font typeface="Montserrat Bold" charset="1" panose="00000800000000000000"/>
      <p:regular r:id="rId32"/>
    </p:embeddedFont>
    <p:embeddedFont>
      <p:font typeface="Montserrat" charset="1" panose="00000500000000000000"/>
      <p:regular r:id="rId34"/>
    </p:embeddedFont>
    <p:embeddedFont>
      <p:font typeface="Quattrocento" charset="1" panose="020205020300000004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fonts/font32.fntdata" Type="http://schemas.openxmlformats.org/officeDocument/2006/relationships/font"/><Relationship Id="rId33" Target="notesSlides/notesSlide3.xml" Type="http://schemas.openxmlformats.org/officeDocument/2006/relationships/notesSlide"/><Relationship Id="rId34" Target="fonts/font34.fntdata" Type="http://schemas.openxmlformats.org/officeDocument/2006/relationships/font"/><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 Target="tableStyles.xml" Type="http://schemas.openxmlformats.org/officeDocument/2006/relationships/tableStyles"/><Relationship Id="rId50" Target="notesSlides/notesSlide18.xml" Type="http://schemas.openxmlformats.org/officeDocument/2006/relationships/notesSlide"/><Relationship Id="rId51" Target="notesSlides/notesSlide19.xml" Type="http://schemas.openxmlformats.org/officeDocument/2006/relationships/notesSlide"/><Relationship Id="rId52" Target="notesSlides/notesSlide20.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jpe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14.jpeg" Type="http://schemas.openxmlformats.org/officeDocument/2006/relationships/image"/><Relationship Id="rId6" Target="../media/image15.jpeg" Type="http://schemas.openxmlformats.org/officeDocument/2006/relationships/image"/><Relationship Id="rId7" Target="../media/image16.jpeg" Type="http://schemas.openxmlformats.org/officeDocument/2006/relationships/image"/><Relationship Id="rId8" Target="../media/image17.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2" Target="../notesSlides/notesSlide20.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sp>
        <p:nvSpPr>
          <p:cNvPr name="Freeform 7" id="7"/>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5"/>
            <a:stretch>
              <a:fillRect l="-62704" t="0" r="-62704" b="0"/>
            </a:stretch>
          </a:blipFill>
        </p:spPr>
      </p:sp>
      <p:sp>
        <p:nvSpPr>
          <p:cNvPr name="Freeform 8" id="8"/>
          <p:cNvSpPr/>
          <p:nvPr/>
        </p:nvSpPr>
        <p:spPr>
          <a:xfrm flipH="false" flipV="false" rot="1528830">
            <a:off x="13981383" y="475333"/>
            <a:ext cx="6555833" cy="1752195"/>
          </a:xfrm>
          <a:custGeom>
            <a:avLst/>
            <a:gdLst/>
            <a:ahLst/>
            <a:cxnLst/>
            <a:rect r="r" b="b" t="t" l="l"/>
            <a:pathLst>
              <a:path h="1752195" w="6555833">
                <a:moveTo>
                  <a:pt x="0" y="0"/>
                </a:moveTo>
                <a:lnTo>
                  <a:pt x="6555834" y="0"/>
                </a:lnTo>
                <a:lnTo>
                  <a:pt x="6555834" y="1752196"/>
                </a:lnTo>
                <a:lnTo>
                  <a:pt x="0" y="17521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395518">
            <a:off x="4280545" y="2428981"/>
            <a:ext cx="7504958" cy="2005871"/>
          </a:xfrm>
          <a:custGeom>
            <a:avLst/>
            <a:gdLst/>
            <a:ahLst/>
            <a:cxnLst/>
            <a:rect r="r" b="b" t="t" l="l"/>
            <a:pathLst>
              <a:path h="2005871" w="7504958">
                <a:moveTo>
                  <a:pt x="0" y="0"/>
                </a:moveTo>
                <a:lnTo>
                  <a:pt x="7504958" y="0"/>
                </a:lnTo>
                <a:lnTo>
                  <a:pt x="7504958" y="2005870"/>
                </a:lnTo>
                <a:lnTo>
                  <a:pt x="0" y="20058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6858000" y="362455"/>
            <a:ext cx="9191019" cy="5332095"/>
            <a:chOff x="0" y="0"/>
            <a:chExt cx="11439814" cy="6636716"/>
          </a:xfrm>
        </p:grpSpPr>
        <p:sp>
          <p:nvSpPr>
            <p:cNvPr name="Freeform 11" id="11"/>
            <p:cNvSpPr/>
            <p:nvPr/>
          </p:nvSpPr>
          <p:spPr>
            <a:xfrm flipH="false" flipV="false" rot="0">
              <a:off x="0" y="0"/>
              <a:ext cx="11439815" cy="6636716"/>
            </a:xfrm>
            <a:custGeom>
              <a:avLst/>
              <a:gdLst/>
              <a:ahLst/>
              <a:cxnLst/>
              <a:rect r="r" b="b" t="t" l="l"/>
              <a:pathLst>
                <a:path h="6636716" w="11439815">
                  <a:moveTo>
                    <a:pt x="0" y="0"/>
                  </a:moveTo>
                  <a:lnTo>
                    <a:pt x="11439815" y="0"/>
                  </a:lnTo>
                  <a:lnTo>
                    <a:pt x="11439815" y="6636716"/>
                  </a:lnTo>
                  <a:lnTo>
                    <a:pt x="0" y="6636716"/>
                  </a:lnTo>
                  <a:close/>
                </a:path>
              </a:pathLst>
            </a:custGeom>
            <a:solidFill>
              <a:srgbClr val="000000">
                <a:alpha val="0"/>
              </a:srgbClr>
            </a:solidFill>
          </p:spPr>
        </p:sp>
        <p:sp>
          <p:nvSpPr>
            <p:cNvPr name="TextBox 12" id="12"/>
            <p:cNvSpPr txBox="true"/>
            <p:nvPr/>
          </p:nvSpPr>
          <p:spPr>
            <a:xfrm>
              <a:off x="0" y="-76200"/>
              <a:ext cx="11439814" cy="6712916"/>
            </a:xfrm>
            <a:prstGeom prst="rect">
              <a:avLst/>
            </a:prstGeom>
          </p:spPr>
          <p:txBody>
            <a:bodyPr anchor="t" rtlCol="false" tIns="0" lIns="0" bIns="0" rIns="0"/>
            <a:lstStyle/>
            <a:p>
              <a:pPr algn="l">
                <a:lnSpc>
                  <a:spcPts val="18750"/>
                </a:lnSpc>
              </a:pPr>
              <a:r>
                <a:rPr lang="en-US" sz="15000">
                  <a:solidFill>
                    <a:srgbClr val="FFD9BE"/>
                  </a:solidFill>
                  <a:latin typeface="Celandine"/>
                  <a:ea typeface="Celandine"/>
                  <a:cs typeface="Celandine"/>
                  <a:sym typeface="Celandine"/>
                </a:rPr>
                <a:t>Hồi quy tuyến tính</a:t>
              </a:r>
            </a:p>
          </p:txBody>
        </p:sp>
      </p:grpSp>
      <p:sp>
        <p:nvSpPr>
          <p:cNvPr name="Freeform 13" id="13"/>
          <p:cNvSpPr/>
          <p:nvPr/>
        </p:nvSpPr>
        <p:spPr>
          <a:xfrm flipH="false" flipV="false" rot="0">
            <a:off x="8753232" y="5143500"/>
            <a:ext cx="9158624" cy="7676592"/>
          </a:xfrm>
          <a:custGeom>
            <a:avLst/>
            <a:gdLst/>
            <a:ahLst/>
            <a:cxnLst/>
            <a:rect r="r" b="b" t="t" l="l"/>
            <a:pathLst>
              <a:path h="7676592" w="9158624">
                <a:moveTo>
                  <a:pt x="0" y="0"/>
                </a:moveTo>
                <a:lnTo>
                  <a:pt x="9158624" y="0"/>
                </a:lnTo>
                <a:lnTo>
                  <a:pt x="9158624" y="7676592"/>
                </a:lnTo>
                <a:lnTo>
                  <a:pt x="0" y="7676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85725" y="-34290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grpSp>
        <p:nvGrpSpPr>
          <p:cNvPr name="Group 7" id="7"/>
          <p:cNvGrpSpPr/>
          <p:nvPr/>
        </p:nvGrpSpPr>
        <p:grpSpPr>
          <a:xfrm rot="0">
            <a:off x="7005644" y="298015"/>
            <a:ext cx="4276712" cy="1461370"/>
            <a:chOff x="0" y="0"/>
            <a:chExt cx="8064433" cy="2755651"/>
          </a:xfrm>
        </p:grpSpPr>
        <p:sp>
          <p:nvSpPr>
            <p:cNvPr name="Freeform 8" id="8"/>
            <p:cNvSpPr/>
            <p:nvPr/>
          </p:nvSpPr>
          <p:spPr>
            <a:xfrm flipH="false" flipV="false" rot="0">
              <a:off x="0" y="0"/>
              <a:ext cx="8064433" cy="2755651"/>
            </a:xfrm>
            <a:custGeom>
              <a:avLst/>
              <a:gdLst/>
              <a:ahLst/>
              <a:cxnLst/>
              <a:rect r="r" b="b" t="t" l="l"/>
              <a:pathLst>
                <a:path h="2755651" w="8064433">
                  <a:moveTo>
                    <a:pt x="0" y="0"/>
                  </a:moveTo>
                  <a:lnTo>
                    <a:pt x="8064433" y="0"/>
                  </a:lnTo>
                  <a:lnTo>
                    <a:pt x="8064433" y="2755651"/>
                  </a:lnTo>
                  <a:lnTo>
                    <a:pt x="0" y="2755651"/>
                  </a:lnTo>
                  <a:close/>
                </a:path>
              </a:pathLst>
            </a:custGeom>
            <a:solidFill>
              <a:srgbClr val="000000">
                <a:alpha val="0"/>
              </a:srgbClr>
            </a:solidFill>
          </p:spPr>
        </p:sp>
        <p:sp>
          <p:nvSpPr>
            <p:cNvPr name="TextBox 9" id="9"/>
            <p:cNvSpPr txBox="true"/>
            <p:nvPr/>
          </p:nvSpPr>
          <p:spPr>
            <a:xfrm>
              <a:off x="0" y="-28575"/>
              <a:ext cx="8064433" cy="2784226"/>
            </a:xfrm>
            <a:prstGeom prst="rect">
              <a:avLst/>
            </a:prstGeom>
          </p:spPr>
          <p:txBody>
            <a:bodyPr anchor="t" rtlCol="false" tIns="0" lIns="0" bIns="0" rIns="0"/>
            <a:lstStyle/>
            <a:p>
              <a:pPr algn="l">
                <a:lnSpc>
                  <a:spcPts val="8499"/>
                </a:lnSpc>
              </a:pPr>
              <a:r>
                <a:rPr lang="en-US" sz="6799" b="true">
                  <a:solidFill>
                    <a:srgbClr val="FFD9BE"/>
                  </a:solidFill>
                  <a:latin typeface="Montserrat Bold"/>
                  <a:ea typeface="Montserrat Bold"/>
                  <a:cs typeface="Montserrat Bold"/>
                  <a:sym typeface="Montserrat Bold"/>
                </a:rPr>
                <a:t>Nội dung</a:t>
              </a:r>
            </a:p>
          </p:txBody>
        </p:sp>
      </p:grpSp>
      <p:grpSp>
        <p:nvGrpSpPr>
          <p:cNvPr name="Group 10" id="10"/>
          <p:cNvGrpSpPr/>
          <p:nvPr/>
        </p:nvGrpSpPr>
        <p:grpSpPr>
          <a:xfrm rot="0">
            <a:off x="1651449" y="1902704"/>
            <a:ext cx="10388218" cy="1930602"/>
            <a:chOff x="0" y="0"/>
            <a:chExt cx="24685767" cy="4587735"/>
          </a:xfrm>
        </p:grpSpPr>
        <p:sp>
          <p:nvSpPr>
            <p:cNvPr name="Freeform 11" id="11"/>
            <p:cNvSpPr/>
            <p:nvPr/>
          </p:nvSpPr>
          <p:spPr>
            <a:xfrm flipH="false" flipV="false" rot="0">
              <a:off x="0" y="0"/>
              <a:ext cx="24685768" cy="4587735"/>
            </a:xfrm>
            <a:custGeom>
              <a:avLst/>
              <a:gdLst/>
              <a:ahLst/>
              <a:cxnLst/>
              <a:rect r="r" b="b" t="t" l="l"/>
              <a:pathLst>
                <a:path h="4587735" w="24685768">
                  <a:moveTo>
                    <a:pt x="0" y="0"/>
                  </a:moveTo>
                  <a:lnTo>
                    <a:pt x="24685768" y="0"/>
                  </a:lnTo>
                  <a:lnTo>
                    <a:pt x="24685768" y="4587735"/>
                  </a:lnTo>
                  <a:lnTo>
                    <a:pt x="0" y="4587735"/>
                  </a:lnTo>
                  <a:close/>
                </a:path>
              </a:pathLst>
            </a:custGeom>
            <a:solidFill>
              <a:srgbClr val="000000">
                <a:alpha val="0"/>
              </a:srgbClr>
            </a:solidFill>
          </p:spPr>
        </p:sp>
        <p:sp>
          <p:nvSpPr>
            <p:cNvPr name="TextBox 12" id="12"/>
            <p:cNvSpPr txBox="true"/>
            <p:nvPr/>
          </p:nvSpPr>
          <p:spPr>
            <a:xfrm>
              <a:off x="0" y="-9525"/>
              <a:ext cx="24685767" cy="4597260"/>
            </a:xfrm>
            <a:prstGeom prst="rect">
              <a:avLst/>
            </a:prstGeom>
          </p:spPr>
          <p:txBody>
            <a:bodyPr anchor="t" rtlCol="false" tIns="0" lIns="0" bIns="0" rIns="0"/>
            <a:lstStyle/>
            <a:p>
              <a:pPr algn="l">
                <a:lnSpc>
                  <a:spcPts val="4999"/>
                </a:lnSpc>
              </a:pPr>
            </a:p>
            <a:p>
              <a:pPr algn="l">
                <a:lnSpc>
                  <a:spcPts val="8499"/>
                </a:lnSpc>
              </a:pPr>
            </a:p>
          </p:txBody>
        </p:sp>
      </p:grpSp>
      <p:sp>
        <p:nvSpPr>
          <p:cNvPr name="TextBox 13" id="13"/>
          <p:cNvSpPr txBox="true"/>
          <p:nvPr/>
        </p:nvSpPr>
        <p:spPr>
          <a:xfrm rot="0">
            <a:off x="3953453" y="2376044"/>
            <a:ext cx="12364500" cy="8130031"/>
          </a:xfrm>
          <a:prstGeom prst="rect">
            <a:avLst/>
          </a:prstGeom>
        </p:spPr>
        <p:txBody>
          <a:bodyPr anchor="t" rtlCol="false" tIns="0" lIns="0" bIns="0" rIns="0">
            <a:spAutoFit/>
          </a:bodyPr>
          <a:lstStyle/>
          <a:p>
            <a:pPr algn="l">
              <a:lnSpc>
                <a:spcPts val="6484"/>
              </a:lnSpc>
              <a:spcBef>
                <a:spcPct val="0"/>
              </a:spcBef>
            </a:pPr>
            <a:r>
              <a:rPr lang="en-US" b="true" sz="4000">
                <a:solidFill>
                  <a:srgbClr val="FFD9BE"/>
                </a:solidFill>
                <a:latin typeface="Montserrat Bold"/>
                <a:ea typeface="Montserrat Bold"/>
                <a:cs typeface="Montserrat Bold"/>
                <a:sym typeface="Montserrat Bold"/>
              </a:rPr>
              <a:t>I. Hồi</a:t>
            </a:r>
            <a:r>
              <a:rPr lang="en-US" b="true" sz="4000">
                <a:solidFill>
                  <a:srgbClr val="FFD9BE"/>
                </a:solidFill>
                <a:latin typeface="Montserrat Bold"/>
                <a:ea typeface="Montserrat Bold"/>
                <a:cs typeface="Montserrat Bold"/>
                <a:sym typeface="Montserrat Bold"/>
              </a:rPr>
              <a:t> quy tuyến tính là gì ? </a:t>
            </a:r>
          </a:p>
          <a:p>
            <a:pPr algn="l">
              <a:lnSpc>
                <a:spcPts val="6484"/>
              </a:lnSpc>
              <a:spcBef>
                <a:spcPct val="0"/>
              </a:spcBef>
            </a:pPr>
            <a:r>
              <a:rPr lang="en-US" b="true" sz="4000">
                <a:solidFill>
                  <a:srgbClr val="FFD9BE"/>
                </a:solidFill>
                <a:latin typeface="Montserrat Bold"/>
                <a:ea typeface="Montserrat Bold"/>
                <a:cs typeface="Montserrat Bold"/>
                <a:sym typeface="Montserrat Bold"/>
              </a:rPr>
              <a:t>II. Hồi quy tuyến tính trong máy học là gì?</a:t>
            </a:r>
          </a:p>
          <a:p>
            <a:pPr algn="l">
              <a:lnSpc>
                <a:spcPts val="6484"/>
              </a:lnSpc>
              <a:spcBef>
                <a:spcPct val="0"/>
              </a:spcBef>
            </a:pPr>
            <a:r>
              <a:rPr lang="en-US" b="true" sz="4000">
                <a:solidFill>
                  <a:srgbClr val="FFD9BE"/>
                </a:solidFill>
                <a:latin typeface="Montserrat Bold"/>
                <a:ea typeface="Montserrat Bold"/>
                <a:cs typeface="Montserrat Bold"/>
                <a:sym typeface="Montserrat Bold"/>
              </a:rPr>
              <a:t>III. Có những loại hồi quy tuyến tính nào?</a:t>
            </a:r>
          </a:p>
          <a:p>
            <a:pPr algn="l">
              <a:lnSpc>
                <a:spcPts val="6484"/>
              </a:lnSpc>
              <a:spcBef>
                <a:spcPct val="0"/>
              </a:spcBef>
            </a:pPr>
            <a:r>
              <a:rPr lang="en-US" b="true" sz="4000">
                <a:solidFill>
                  <a:srgbClr val="FFD9BE"/>
                </a:solidFill>
                <a:latin typeface="Montserrat Bold"/>
                <a:ea typeface="Montserrat Bold"/>
                <a:cs typeface="Montserrat Bold"/>
                <a:sym typeface="Montserrat Bold"/>
              </a:rPr>
              <a:t>IV. Vấn đề thường gặp và cách khắc phục</a:t>
            </a:r>
          </a:p>
          <a:p>
            <a:pPr algn="l">
              <a:lnSpc>
                <a:spcPts val="6484"/>
              </a:lnSpc>
              <a:spcBef>
                <a:spcPct val="0"/>
              </a:spcBef>
            </a:pPr>
            <a:r>
              <a:rPr lang="en-US" b="true" sz="4000">
                <a:solidFill>
                  <a:srgbClr val="FFD9BE"/>
                </a:solidFill>
                <a:latin typeface="Montserrat Bold"/>
                <a:ea typeface="Montserrat Bold"/>
                <a:cs typeface="Montserrat Bold"/>
                <a:sym typeface="Montserrat Bold"/>
              </a:rPr>
              <a:t>VI. Đánh giá mô hình </a:t>
            </a:r>
          </a:p>
          <a:p>
            <a:pPr algn="l">
              <a:lnSpc>
                <a:spcPts val="6484"/>
              </a:lnSpc>
              <a:spcBef>
                <a:spcPct val="0"/>
              </a:spcBef>
            </a:pPr>
            <a:r>
              <a:rPr lang="en-US" b="true" sz="4000">
                <a:solidFill>
                  <a:srgbClr val="FFD9BE"/>
                </a:solidFill>
                <a:latin typeface="Montserrat Bold"/>
                <a:ea typeface="Montserrat Bold"/>
                <a:cs typeface="Montserrat Bold"/>
                <a:sym typeface="Montserrat Bold"/>
              </a:rPr>
              <a:t>VII. Ứng dụng của Hồi quy tuyến tính</a:t>
            </a:r>
          </a:p>
          <a:p>
            <a:pPr algn="l">
              <a:lnSpc>
                <a:spcPts val="6484"/>
              </a:lnSpc>
              <a:spcBef>
                <a:spcPct val="0"/>
              </a:spcBef>
            </a:pPr>
            <a:r>
              <a:rPr lang="en-US" b="true" sz="4000">
                <a:solidFill>
                  <a:srgbClr val="FFD9BE"/>
                </a:solidFill>
                <a:latin typeface="Montserrat Bold"/>
                <a:ea typeface="Montserrat Bold"/>
                <a:cs typeface="Montserrat Bold"/>
                <a:sym typeface="Montserrat Bold"/>
              </a:rPr>
              <a:t>VII. Kết luận</a:t>
            </a:r>
          </a:p>
          <a:p>
            <a:pPr algn="l">
              <a:lnSpc>
                <a:spcPts val="6484"/>
              </a:lnSpc>
              <a:spcBef>
                <a:spcPct val="0"/>
              </a:spcBef>
            </a:pPr>
          </a:p>
          <a:p>
            <a:pPr algn="l">
              <a:lnSpc>
                <a:spcPts val="6484"/>
              </a:lnSpc>
              <a:spcBef>
                <a:spcPct val="0"/>
              </a:spcBef>
            </a:pPr>
          </a:p>
          <a:p>
            <a:pPr algn="l">
              <a:lnSpc>
                <a:spcPts val="6484"/>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grpSp>
        <p:nvGrpSpPr>
          <p:cNvPr name="Group 7" id="7"/>
          <p:cNvGrpSpPr/>
          <p:nvPr/>
        </p:nvGrpSpPr>
        <p:grpSpPr>
          <a:xfrm rot="0">
            <a:off x="295634" y="333816"/>
            <a:ext cx="11737021" cy="1017615"/>
            <a:chOff x="0" y="0"/>
            <a:chExt cx="22132056" cy="1918879"/>
          </a:xfrm>
        </p:grpSpPr>
        <p:sp>
          <p:nvSpPr>
            <p:cNvPr name="Freeform 8" id="8"/>
            <p:cNvSpPr/>
            <p:nvPr/>
          </p:nvSpPr>
          <p:spPr>
            <a:xfrm flipH="false" flipV="false" rot="0">
              <a:off x="0" y="0"/>
              <a:ext cx="22132057" cy="1918879"/>
            </a:xfrm>
            <a:custGeom>
              <a:avLst/>
              <a:gdLst/>
              <a:ahLst/>
              <a:cxnLst/>
              <a:rect r="r" b="b" t="t" l="l"/>
              <a:pathLst>
                <a:path h="1918879" w="22132057">
                  <a:moveTo>
                    <a:pt x="0" y="0"/>
                  </a:moveTo>
                  <a:lnTo>
                    <a:pt x="22132057" y="0"/>
                  </a:lnTo>
                  <a:lnTo>
                    <a:pt x="22132057" y="1918879"/>
                  </a:lnTo>
                  <a:lnTo>
                    <a:pt x="0" y="1918879"/>
                  </a:lnTo>
                  <a:close/>
                </a:path>
              </a:pathLst>
            </a:custGeom>
            <a:solidFill>
              <a:srgbClr val="000000">
                <a:alpha val="0"/>
              </a:srgbClr>
            </a:solidFill>
          </p:spPr>
        </p:sp>
        <p:sp>
          <p:nvSpPr>
            <p:cNvPr name="TextBox 9" id="9"/>
            <p:cNvSpPr txBox="true"/>
            <p:nvPr/>
          </p:nvSpPr>
          <p:spPr>
            <a:xfrm>
              <a:off x="0" y="-9525"/>
              <a:ext cx="22132056" cy="1928404"/>
            </a:xfrm>
            <a:prstGeom prst="rect">
              <a:avLst/>
            </a:prstGeom>
          </p:spPr>
          <p:txBody>
            <a:bodyPr anchor="t" rtlCol="false" tIns="0" lIns="0" bIns="0" rIns="0"/>
            <a:lstStyle/>
            <a:p>
              <a:pPr algn="l">
                <a:lnSpc>
                  <a:spcPts val="4999"/>
                </a:lnSpc>
              </a:pPr>
              <a:r>
                <a:rPr lang="en-US" sz="3999" b="true">
                  <a:solidFill>
                    <a:srgbClr val="FFD9BE"/>
                  </a:solidFill>
                  <a:latin typeface="Montserrat Bold"/>
                  <a:ea typeface="Montserrat Bold"/>
                  <a:cs typeface="Montserrat Bold"/>
                  <a:sym typeface="Montserrat Bold"/>
                </a:rPr>
                <a:t>II. </a:t>
              </a:r>
              <a:r>
                <a:rPr lang="en-US" sz="3999" b="true">
                  <a:solidFill>
                    <a:srgbClr val="FFD9BE"/>
                  </a:solidFill>
                  <a:latin typeface="Montserrat Bold"/>
                  <a:ea typeface="Montserrat Bold"/>
                  <a:cs typeface="Montserrat Bold"/>
                  <a:sym typeface="Montserrat Bold"/>
                </a:rPr>
                <a:t>Hồi quy tuyến tính trong máy học là gì? </a:t>
              </a:r>
            </a:p>
          </p:txBody>
        </p:sp>
      </p:grpSp>
      <p:sp>
        <p:nvSpPr>
          <p:cNvPr name="TextBox 10" id="10"/>
          <p:cNvSpPr txBox="true"/>
          <p:nvPr/>
        </p:nvSpPr>
        <p:spPr>
          <a:xfrm rot="0">
            <a:off x="652486" y="1431675"/>
            <a:ext cx="16983028" cy="8255250"/>
          </a:xfrm>
          <a:prstGeom prst="rect">
            <a:avLst/>
          </a:prstGeom>
        </p:spPr>
        <p:txBody>
          <a:bodyPr anchor="t" rtlCol="false" tIns="0" lIns="0" bIns="0" rIns="0">
            <a:spAutoFit/>
          </a:bodyPr>
          <a:lstStyle/>
          <a:p>
            <a:pPr algn="l">
              <a:lnSpc>
                <a:spcPts val="4415"/>
              </a:lnSpc>
              <a:spcBef>
                <a:spcPct val="0"/>
              </a:spcBef>
            </a:pPr>
            <a:r>
              <a:rPr lang="en-US" sz="2722">
                <a:solidFill>
                  <a:srgbClr val="FFFFFF"/>
                </a:solidFill>
                <a:latin typeface="Montserrat"/>
                <a:ea typeface="Montserrat"/>
                <a:cs typeface="Montserrat"/>
                <a:sym typeface="Montserrat"/>
              </a:rPr>
              <a:t>Hồi quy tuyến tính là kỹ thuật dự đoán giá trị dựa trên mối quan hệ giữa các biến, được học từ dữ liệu đã dán nhãn.</a:t>
            </a:r>
          </a:p>
          <a:p>
            <a:pPr algn="l">
              <a:lnSpc>
                <a:spcPts val="4413"/>
              </a:lnSpc>
              <a:spcBef>
                <a:spcPct val="0"/>
              </a:spcBef>
            </a:pPr>
          </a:p>
          <a:p>
            <a:pPr algn="l">
              <a:lnSpc>
                <a:spcPts val="4415"/>
              </a:lnSpc>
              <a:spcBef>
                <a:spcPct val="0"/>
              </a:spcBef>
            </a:pPr>
            <a:r>
              <a:rPr lang="en-US" b="true" sz="2722">
                <a:solidFill>
                  <a:srgbClr val="FFFFFF"/>
                </a:solidFill>
                <a:latin typeface="Montserrat Bold"/>
                <a:ea typeface="Montserrat Bold"/>
                <a:cs typeface="Montserrat Bold"/>
                <a:sym typeface="Montserrat Bold"/>
              </a:rPr>
              <a:t>Dữ liệu thực tế thường phức tạp, nên cần biến đổi để đáp ứng 4 giả định chính:</a:t>
            </a:r>
          </a:p>
          <a:p>
            <a:pPr algn="l">
              <a:lnSpc>
                <a:spcPts val="4415"/>
              </a:lnSpc>
              <a:spcBef>
                <a:spcPct val="0"/>
              </a:spcBef>
            </a:pPr>
            <a:r>
              <a:rPr lang="en-US" b="true" sz="2722">
                <a:solidFill>
                  <a:srgbClr val="FFFFFF"/>
                </a:solidFill>
                <a:latin typeface="Montserrat Bold"/>
                <a:ea typeface="Montserrat Bold"/>
                <a:cs typeface="Montserrat Bold"/>
                <a:sym typeface="Montserrat Bold"/>
              </a:rPr>
              <a:t>Mối quan hệ tuyến tính:</a:t>
            </a:r>
          </a:p>
          <a:p>
            <a:pPr algn="l">
              <a:lnSpc>
                <a:spcPts val="4415"/>
              </a:lnSpc>
              <a:spcBef>
                <a:spcPct val="0"/>
              </a:spcBef>
            </a:pPr>
            <a:r>
              <a:rPr lang="en-US" sz="2722">
                <a:solidFill>
                  <a:srgbClr val="FFFFFF"/>
                </a:solidFill>
                <a:latin typeface="Montserrat"/>
                <a:ea typeface="Montserrat"/>
                <a:cs typeface="Montserrat"/>
                <a:sym typeface="Montserrat"/>
              </a:rPr>
              <a:t> Biến đầu vào và đầu ra cần có mối quan hệ tuyến tính. Dùng biểu đồ phân tán hoặc áp dụng biến đổi như log, căn bậc hai nếu cần.</a:t>
            </a:r>
          </a:p>
          <a:p>
            <a:pPr algn="l">
              <a:lnSpc>
                <a:spcPts val="4415"/>
              </a:lnSpc>
              <a:spcBef>
                <a:spcPct val="0"/>
              </a:spcBef>
            </a:pPr>
            <a:r>
              <a:rPr lang="en-US" b="true" sz="2722">
                <a:solidFill>
                  <a:srgbClr val="FFFFFF"/>
                </a:solidFill>
                <a:latin typeface="Montserrat Bold"/>
                <a:ea typeface="Montserrat Bold"/>
                <a:cs typeface="Montserrat Bold"/>
                <a:sym typeface="Montserrat Bold"/>
              </a:rPr>
              <a:t>Phần dư độc lập:</a:t>
            </a:r>
          </a:p>
          <a:p>
            <a:pPr algn="l">
              <a:lnSpc>
                <a:spcPts val="4415"/>
              </a:lnSpc>
              <a:spcBef>
                <a:spcPct val="0"/>
              </a:spcBef>
            </a:pPr>
            <a:r>
              <a:rPr lang="en-US" sz="2722">
                <a:solidFill>
                  <a:srgbClr val="FFFFFF"/>
                </a:solidFill>
                <a:latin typeface="Montserrat"/>
                <a:ea typeface="Montserrat"/>
                <a:cs typeface="Montserrat"/>
                <a:sym typeface="Montserrat"/>
              </a:rPr>
              <a:t> Sai số dự đoán (phần dư) không nên có mẫu hình rõ ràng. Kiểm định Durbin-Watson giúp xác định tính độc lập.</a:t>
            </a:r>
          </a:p>
          <a:p>
            <a:pPr algn="l">
              <a:lnSpc>
                <a:spcPts val="4415"/>
              </a:lnSpc>
              <a:spcBef>
                <a:spcPct val="0"/>
              </a:spcBef>
            </a:pPr>
            <a:r>
              <a:rPr lang="en-US" b="true" sz="2722">
                <a:solidFill>
                  <a:srgbClr val="FFFFFF"/>
                </a:solidFill>
                <a:latin typeface="Montserrat Bold"/>
                <a:ea typeface="Montserrat Bold"/>
                <a:cs typeface="Montserrat Bold"/>
                <a:sym typeface="Montserrat Bold"/>
              </a:rPr>
              <a:t>Tính chuẩn của phần dư:</a:t>
            </a:r>
          </a:p>
          <a:p>
            <a:pPr algn="l">
              <a:lnSpc>
                <a:spcPts val="4415"/>
              </a:lnSpc>
              <a:spcBef>
                <a:spcPct val="0"/>
              </a:spcBef>
            </a:pPr>
            <a:r>
              <a:rPr lang="en-US" sz="2722">
                <a:solidFill>
                  <a:srgbClr val="FFFFFF"/>
                </a:solidFill>
                <a:latin typeface="Montserrat"/>
                <a:ea typeface="Montserrat"/>
                <a:cs typeface="Montserrat"/>
                <a:sym typeface="Montserrat"/>
              </a:rPr>
              <a:t> Phần dư nên phân bố chuẩn. Dùng biểu đồ Q-Q và xử lý điểm ngoại lai nếu phát hiện sai lệch.</a:t>
            </a:r>
          </a:p>
          <a:p>
            <a:pPr algn="l">
              <a:lnSpc>
                <a:spcPts val="4415"/>
              </a:lnSpc>
              <a:spcBef>
                <a:spcPct val="0"/>
              </a:spcBef>
            </a:pPr>
            <a:r>
              <a:rPr lang="en-US" b="true" sz="2722">
                <a:solidFill>
                  <a:srgbClr val="FFFFFF"/>
                </a:solidFill>
                <a:latin typeface="Montserrat Bold"/>
                <a:ea typeface="Montserrat Bold"/>
                <a:cs typeface="Montserrat Bold"/>
                <a:sym typeface="Montserrat Bold"/>
              </a:rPr>
              <a:t>Phương sai không đổi (Homoscedasticity):</a:t>
            </a:r>
          </a:p>
          <a:p>
            <a:pPr algn="l">
              <a:lnSpc>
                <a:spcPts val="4415"/>
              </a:lnSpc>
              <a:spcBef>
                <a:spcPct val="0"/>
              </a:spcBef>
            </a:pPr>
            <a:r>
              <a:rPr lang="en-US" sz="2722">
                <a:solidFill>
                  <a:srgbClr val="FFFFFF"/>
                </a:solidFill>
                <a:latin typeface="Montserrat"/>
                <a:ea typeface="Montserrat"/>
                <a:cs typeface="Montserrat"/>
                <a:sym typeface="Montserrat"/>
              </a:rPr>
              <a:t> Phần dư phải có phương sai ổn định. Có thể cần biến đổi biến phụ thuộc (ví dụ: từ tổng số sang tỷ lệ).</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grpSp>
        <p:nvGrpSpPr>
          <p:cNvPr name="Group 7" id="7"/>
          <p:cNvGrpSpPr/>
          <p:nvPr/>
        </p:nvGrpSpPr>
        <p:grpSpPr>
          <a:xfrm rot="0">
            <a:off x="295634" y="333816"/>
            <a:ext cx="7662543" cy="1017615"/>
            <a:chOff x="0" y="0"/>
            <a:chExt cx="14448968" cy="1918879"/>
          </a:xfrm>
        </p:grpSpPr>
        <p:sp>
          <p:nvSpPr>
            <p:cNvPr name="Freeform 8" id="8"/>
            <p:cNvSpPr/>
            <p:nvPr/>
          </p:nvSpPr>
          <p:spPr>
            <a:xfrm flipH="false" flipV="false" rot="0">
              <a:off x="0" y="0"/>
              <a:ext cx="14448968" cy="1918879"/>
            </a:xfrm>
            <a:custGeom>
              <a:avLst/>
              <a:gdLst/>
              <a:ahLst/>
              <a:cxnLst/>
              <a:rect r="r" b="b" t="t" l="l"/>
              <a:pathLst>
                <a:path h="1918879" w="14448968">
                  <a:moveTo>
                    <a:pt x="0" y="0"/>
                  </a:moveTo>
                  <a:lnTo>
                    <a:pt x="14448968" y="0"/>
                  </a:lnTo>
                  <a:lnTo>
                    <a:pt x="14448968" y="1918879"/>
                  </a:lnTo>
                  <a:lnTo>
                    <a:pt x="0" y="1918879"/>
                  </a:lnTo>
                  <a:close/>
                </a:path>
              </a:pathLst>
            </a:custGeom>
            <a:solidFill>
              <a:srgbClr val="000000">
                <a:alpha val="0"/>
              </a:srgbClr>
            </a:solidFill>
          </p:spPr>
        </p:sp>
        <p:sp>
          <p:nvSpPr>
            <p:cNvPr name="TextBox 9" id="9"/>
            <p:cNvSpPr txBox="true"/>
            <p:nvPr/>
          </p:nvSpPr>
          <p:spPr>
            <a:xfrm>
              <a:off x="0" y="-9525"/>
              <a:ext cx="14448968" cy="1928404"/>
            </a:xfrm>
            <a:prstGeom prst="rect">
              <a:avLst/>
            </a:prstGeom>
          </p:spPr>
          <p:txBody>
            <a:bodyPr anchor="t" rtlCol="false" tIns="0" lIns="0" bIns="0" rIns="0"/>
            <a:lstStyle/>
            <a:p>
              <a:pPr algn="l">
                <a:lnSpc>
                  <a:spcPts val="4999"/>
                </a:lnSpc>
              </a:pPr>
              <a:r>
                <a:rPr lang="en-US" sz="3999" b="true">
                  <a:solidFill>
                    <a:srgbClr val="FFD9BE"/>
                  </a:solidFill>
                  <a:latin typeface="Montserrat Bold"/>
                  <a:ea typeface="Montserrat Bold"/>
                  <a:cs typeface="Montserrat Bold"/>
                  <a:sym typeface="Montserrat Bold"/>
                </a:rPr>
                <a:t>I. </a:t>
              </a:r>
              <a:r>
                <a:rPr lang="en-US" sz="3999" b="true">
                  <a:solidFill>
                    <a:srgbClr val="FFD9BE"/>
                  </a:solidFill>
                  <a:latin typeface="Montserrat Bold"/>
                  <a:ea typeface="Montserrat Bold"/>
                  <a:cs typeface="Montserrat Bold"/>
                  <a:sym typeface="Montserrat Bold"/>
                </a:rPr>
                <a:t>Hồi quy tuyến tính là gì ? </a:t>
              </a:r>
            </a:p>
          </p:txBody>
        </p:sp>
      </p:grpSp>
      <p:grpSp>
        <p:nvGrpSpPr>
          <p:cNvPr name="Group 10" id="10"/>
          <p:cNvGrpSpPr/>
          <p:nvPr/>
        </p:nvGrpSpPr>
        <p:grpSpPr>
          <a:xfrm rot="0">
            <a:off x="699048" y="1674162"/>
            <a:ext cx="13975229" cy="4714210"/>
            <a:chOff x="0" y="0"/>
            <a:chExt cx="17732139" cy="5981514"/>
          </a:xfrm>
        </p:grpSpPr>
        <p:sp>
          <p:nvSpPr>
            <p:cNvPr name="Freeform 11" id="11"/>
            <p:cNvSpPr/>
            <p:nvPr/>
          </p:nvSpPr>
          <p:spPr>
            <a:xfrm flipH="false" flipV="false" rot="0">
              <a:off x="0" y="0"/>
              <a:ext cx="17732139" cy="5981514"/>
            </a:xfrm>
            <a:custGeom>
              <a:avLst/>
              <a:gdLst/>
              <a:ahLst/>
              <a:cxnLst/>
              <a:rect r="r" b="b" t="t" l="l"/>
              <a:pathLst>
                <a:path h="5981514" w="17732139">
                  <a:moveTo>
                    <a:pt x="0" y="0"/>
                  </a:moveTo>
                  <a:lnTo>
                    <a:pt x="17732139" y="0"/>
                  </a:lnTo>
                  <a:lnTo>
                    <a:pt x="17732139" y="5981514"/>
                  </a:lnTo>
                  <a:lnTo>
                    <a:pt x="0" y="5981514"/>
                  </a:lnTo>
                  <a:close/>
                </a:path>
              </a:pathLst>
            </a:custGeom>
            <a:solidFill>
              <a:srgbClr val="000000">
                <a:alpha val="0"/>
              </a:srgbClr>
            </a:solidFill>
          </p:spPr>
        </p:sp>
        <p:sp>
          <p:nvSpPr>
            <p:cNvPr name="TextBox 12" id="12"/>
            <p:cNvSpPr txBox="true"/>
            <p:nvPr/>
          </p:nvSpPr>
          <p:spPr>
            <a:xfrm>
              <a:off x="0" y="-114300"/>
              <a:ext cx="17732139" cy="6095814"/>
            </a:xfrm>
            <a:prstGeom prst="rect">
              <a:avLst/>
            </a:prstGeom>
          </p:spPr>
          <p:txBody>
            <a:bodyPr anchor="t" rtlCol="false" tIns="0" lIns="0" bIns="0" rIns="0"/>
            <a:lstStyle/>
            <a:p>
              <a:pPr algn="l">
                <a:lnSpc>
                  <a:spcPts val="4864"/>
                </a:lnSpc>
              </a:pPr>
              <a:r>
                <a:rPr lang="en-US" sz="3000">
                  <a:solidFill>
                    <a:srgbClr val="F9EEE7"/>
                  </a:solidFill>
                  <a:latin typeface="Montserrat"/>
                  <a:ea typeface="Montserrat"/>
                  <a:cs typeface="Montserrat"/>
                  <a:sym typeface="Montserrat"/>
                </a:rPr>
                <a:t>Hồi quy tuyến tính là một phương pháp thống kê được sử dụng để mô hình hóa mối quan hệ giữa một biến phụ thuộc (output) và một hoặc nhiều biến độc lập (input). Mục tiêu chính của hồi quy tuyến tính là tìm ra một phương trình tuyến tính tốt nhất để dự đoán giá trị của biến phụ thuộc dựa trên giá trị của các biến độc lập.</a:t>
              </a:r>
            </a:p>
          </p:txBody>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TextBox 6" id="6"/>
          <p:cNvSpPr txBox="true"/>
          <p:nvPr/>
        </p:nvSpPr>
        <p:spPr>
          <a:xfrm rot="0">
            <a:off x="-1117728" y="74987"/>
            <a:ext cx="13403205" cy="757367"/>
          </a:xfrm>
          <a:prstGeom prst="rect">
            <a:avLst/>
          </a:prstGeom>
        </p:spPr>
        <p:txBody>
          <a:bodyPr anchor="t" rtlCol="false" tIns="0" lIns="0" bIns="0" rIns="0">
            <a:spAutoFit/>
          </a:bodyPr>
          <a:lstStyle/>
          <a:p>
            <a:pPr algn="ctr">
              <a:lnSpc>
                <a:spcPts val="6486"/>
              </a:lnSpc>
              <a:spcBef>
                <a:spcPct val="0"/>
              </a:spcBef>
            </a:pPr>
            <a:r>
              <a:rPr lang="en-US" b="true" sz="3999">
                <a:solidFill>
                  <a:srgbClr val="FFD9BE"/>
                </a:solidFill>
                <a:latin typeface="Montserrat Bold"/>
                <a:ea typeface="Montserrat Bold"/>
                <a:cs typeface="Montserrat Bold"/>
                <a:sym typeface="Montserrat Bold"/>
              </a:rPr>
              <a:t>III.Có những loại</a:t>
            </a:r>
            <a:r>
              <a:rPr lang="en-US" b="true" sz="3999">
                <a:solidFill>
                  <a:srgbClr val="FFD9BE"/>
                </a:solidFill>
                <a:latin typeface="Montserrat Bold"/>
                <a:ea typeface="Montserrat Bold"/>
                <a:cs typeface="Montserrat Bold"/>
                <a:sym typeface="Montserrat Bold"/>
              </a:rPr>
              <a:t> hồi quy tuyến tính nào</a:t>
            </a:r>
          </a:p>
        </p:txBody>
      </p:sp>
      <p:sp>
        <p:nvSpPr>
          <p:cNvPr name="TextBox 7" id="7"/>
          <p:cNvSpPr txBox="true"/>
          <p:nvPr/>
        </p:nvSpPr>
        <p:spPr>
          <a:xfrm rot="0">
            <a:off x="1028700" y="1065549"/>
            <a:ext cx="8511422" cy="757367"/>
          </a:xfrm>
          <a:prstGeom prst="rect">
            <a:avLst/>
          </a:prstGeom>
        </p:spPr>
        <p:txBody>
          <a:bodyPr anchor="t" rtlCol="false" tIns="0" lIns="0" bIns="0" rIns="0">
            <a:spAutoFit/>
          </a:bodyPr>
          <a:lstStyle/>
          <a:p>
            <a:pPr algn="just">
              <a:lnSpc>
                <a:spcPts val="6486"/>
              </a:lnSpc>
              <a:spcBef>
                <a:spcPct val="0"/>
              </a:spcBef>
            </a:pPr>
            <a:r>
              <a:rPr lang="en-US" sz="3999">
                <a:solidFill>
                  <a:srgbClr val="FFD9BE"/>
                </a:solidFill>
                <a:latin typeface="Montserrat"/>
                <a:ea typeface="Montserrat"/>
                <a:cs typeface="Montserrat"/>
                <a:sym typeface="Montserrat"/>
              </a:rPr>
              <a:t>Các khái niệm cơ bản</a:t>
            </a:r>
          </a:p>
        </p:txBody>
      </p:sp>
      <p:sp>
        <p:nvSpPr>
          <p:cNvPr name="TextBox 8" id="8"/>
          <p:cNvSpPr txBox="true"/>
          <p:nvPr/>
        </p:nvSpPr>
        <p:spPr>
          <a:xfrm rot="0">
            <a:off x="1028700" y="1908641"/>
            <a:ext cx="7048935" cy="757367"/>
          </a:xfrm>
          <a:prstGeom prst="rect">
            <a:avLst/>
          </a:prstGeom>
        </p:spPr>
        <p:txBody>
          <a:bodyPr anchor="t" rtlCol="false" tIns="0" lIns="0" bIns="0" rIns="0">
            <a:spAutoFit/>
          </a:bodyPr>
          <a:lstStyle/>
          <a:p>
            <a:pPr algn="l">
              <a:lnSpc>
                <a:spcPts val="6486"/>
              </a:lnSpc>
              <a:spcBef>
                <a:spcPct val="0"/>
              </a:spcBef>
            </a:pPr>
            <a:r>
              <a:rPr lang="en-US" sz="3999">
                <a:solidFill>
                  <a:srgbClr val="FFD9BE"/>
                </a:solidFill>
                <a:latin typeface="Montserrat"/>
                <a:ea typeface="Montserrat"/>
                <a:cs typeface="Montserrat"/>
                <a:sym typeface="Montserrat"/>
              </a:rPr>
              <a:t>Các giả định cơ bản</a:t>
            </a:r>
          </a:p>
        </p:txBody>
      </p:sp>
      <p:sp>
        <p:nvSpPr>
          <p:cNvPr name="TextBox 9" id="9"/>
          <p:cNvSpPr txBox="true"/>
          <p:nvPr/>
        </p:nvSpPr>
        <p:spPr>
          <a:xfrm rot="0">
            <a:off x="1028700" y="2748129"/>
            <a:ext cx="7754909" cy="757367"/>
          </a:xfrm>
          <a:prstGeom prst="rect">
            <a:avLst/>
          </a:prstGeom>
        </p:spPr>
        <p:txBody>
          <a:bodyPr anchor="t" rtlCol="false" tIns="0" lIns="0" bIns="0" rIns="0">
            <a:spAutoFit/>
          </a:bodyPr>
          <a:lstStyle/>
          <a:p>
            <a:pPr algn="l">
              <a:lnSpc>
                <a:spcPts val="6486"/>
              </a:lnSpc>
              <a:spcBef>
                <a:spcPct val="0"/>
              </a:spcBef>
            </a:pPr>
            <a:r>
              <a:rPr lang="en-US" sz="3999">
                <a:solidFill>
                  <a:srgbClr val="FFD9BE"/>
                </a:solidFill>
                <a:latin typeface="Montserrat"/>
                <a:ea typeface="Montserrat"/>
                <a:cs typeface="Montserrat"/>
                <a:sym typeface="Montserrat"/>
              </a:rPr>
              <a:t>Phương pháp ước lượng OLS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grpSp>
        <p:nvGrpSpPr>
          <p:cNvPr name="Group 7" id="7"/>
          <p:cNvGrpSpPr/>
          <p:nvPr/>
        </p:nvGrpSpPr>
        <p:grpSpPr>
          <a:xfrm rot="0">
            <a:off x="7905155" y="2064544"/>
            <a:ext cx="8129829" cy="1096582"/>
            <a:chOff x="0" y="0"/>
            <a:chExt cx="10839772" cy="1462109"/>
          </a:xfrm>
        </p:grpSpPr>
        <p:sp>
          <p:nvSpPr>
            <p:cNvPr name="Freeform 8" id="8"/>
            <p:cNvSpPr/>
            <p:nvPr/>
          </p:nvSpPr>
          <p:spPr>
            <a:xfrm flipH="false" flipV="false" rot="0">
              <a:off x="0" y="0"/>
              <a:ext cx="10839772" cy="1462109"/>
            </a:xfrm>
            <a:custGeom>
              <a:avLst/>
              <a:gdLst/>
              <a:ahLst/>
              <a:cxnLst/>
              <a:rect r="r" b="b" t="t" l="l"/>
              <a:pathLst>
                <a:path h="1462109" w="10839772">
                  <a:moveTo>
                    <a:pt x="0" y="0"/>
                  </a:moveTo>
                  <a:lnTo>
                    <a:pt x="10839772" y="0"/>
                  </a:lnTo>
                  <a:lnTo>
                    <a:pt x="10839772" y="1462109"/>
                  </a:lnTo>
                  <a:lnTo>
                    <a:pt x="0" y="1462109"/>
                  </a:lnTo>
                  <a:close/>
                </a:path>
              </a:pathLst>
            </a:custGeom>
            <a:solidFill>
              <a:srgbClr val="000000">
                <a:alpha val="0"/>
              </a:srgbClr>
            </a:solidFill>
          </p:spPr>
        </p:sp>
        <p:sp>
          <p:nvSpPr>
            <p:cNvPr name="TextBox 9" id="9"/>
            <p:cNvSpPr txBox="true"/>
            <p:nvPr/>
          </p:nvSpPr>
          <p:spPr>
            <a:xfrm>
              <a:off x="0" y="-28575"/>
              <a:ext cx="10839772" cy="1490684"/>
            </a:xfrm>
            <a:prstGeom prst="rect">
              <a:avLst/>
            </a:prstGeom>
          </p:spPr>
          <p:txBody>
            <a:bodyPr anchor="t" rtlCol="false" tIns="0" lIns="0" bIns="0" rIns="0"/>
            <a:lstStyle/>
            <a:p>
              <a:pPr algn="l">
                <a:lnSpc>
                  <a:spcPts val="6875"/>
                </a:lnSpc>
              </a:pPr>
              <a:r>
                <a:rPr lang="en-US" sz="5500" b="true">
                  <a:solidFill>
                    <a:srgbClr val="FFD9BE"/>
                  </a:solidFill>
                  <a:latin typeface="Montserrat Bold"/>
                  <a:ea typeface="Montserrat Bold"/>
                  <a:cs typeface="Montserrat Bold"/>
                  <a:sym typeface="Montserrat Bold"/>
                </a:rPr>
                <a:t>Các khái niệm cơ bản</a:t>
              </a:r>
            </a:p>
          </p:txBody>
        </p:sp>
      </p:grpSp>
      <p:grpSp>
        <p:nvGrpSpPr>
          <p:cNvPr name="Group 10" id="10"/>
          <p:cNvGrpSpPr/>
          <p:nvPr/>
        </p:nvGrpSpPr>
        <p:grpSpPr>
          <a:xfrm rot="0">
            <a:off x="7905155" y="3393281"/>
            <a:ext cx="4518272" cy="2175272"/>
            <a:chOff x="0" y="0"/>
            <a:chExt cx="6024363" cy="2900363"/>
          </a:xfrm>
        </p:grpSpPr>
        <p:sp>
          <p:nvSpPr>
            <p:cNvPr name="Freeform 11" id="11"/>
            <p:cNvSpPr/>
            <p:nvPr/>
          </p:nvSpPr>
          <p:spPr>
            <a:xfrm flipH="false" flipV="false" rot="0">
              <a:off x="0" y="0"/>
              <a:ext cx="6024372" cy="2900299"/>
            </a:xfrm>
            <a:custGeom>
              <a:avLst/>
              <a:gdLst/>
              <a:ahLst/>
              <a:cxnLst/>
              <a:rect r="r" b="b" t="t" l="l"/>
              <a:pathLst>
                <a:path h="2900299" w="6024372">
                  <a:moveTo>
                    <a:pt x="0" y="59817"/>
                  </a:moveTo>
                  <a:cubicBezTo>
                    <a:pt x="0" y="26797"/>
                    <a:pt x="26797" y="0"/>
                    <a:pt x="59817" y="0"/>
                  </a:cubicBezTo>
                  <a:lnTo>
                    <a:pt x="5964555" y="0"/>
                  </a:lnTo>
                  <a:cubicBezTo>
                    <a:pt x="5997575" y="0"/>
                    <a:pt x="6024372" y="26797"/>
                    <a:pt x="6024372" y="59817"/>
                  </a:cubicBezTo>
                  <a:lnTo>
                    <a:pt x="6024372" y="2840482"/>
                  </a:lnTo>
                  <a:cubicBezTo>
                    <a:pt x="6024372" y="2873502"/>
                    <a:pt x="5997575" y="2900299"/>
                    <a:pt x="5964555" y="2900299"/>
                  </a:cubicBezTo>
                  <a:lnTo>
                    <a:pt x="59817" y="2900299"/>
                  </a:lnTo>
                  <a:cubicBezTo>
                    <a:pt x="26797" y="2900299"/>
                    <a:pt x="0" y="2873502"/>
                    <a:pt x="0" y="2840482"/>
                  </a:cubicBezTo>
                  <a:close/>
                </a:path>
              </a:pathLst>
            </a:custGeom>
            <a:solidFill>
              <a:srgbClr val="315251"/>
            </a:solidFill>
          </p:spPr>
        </p:sp>
      </p:grpSp>
      <p:grpSp>
        <p:nvGrpSpPr>
          <p:cNvPr name="Group 12" id="12"/>
          <p:cNvGrpSpPr/>
          <p:nvPr/>
        </p:nvGrpSpPr>
        <p:grpSpPr>
          <a:xfrm rot="0">
            <a:off x="8204299" y="3692426"/>
            <a:ext cx="3520231" cy="543528"/>
            <a:chOff x="0" y="0"/>
            <a:chExt cx="4693642" cy="724704"/>
          </a:xfrm>
        </p:grpSpPr>
        <p:sp>
          <p:nvSpPr>
            <p:cNvPr name="Freeform 13" id="13"/>
            <p:cNvSpPr/>
            <p:nvPr/>
          </p:nvSpPr>
          <p:spPr>
            <a:xfrm flipH="false" flipV="false" rot="0">
              <a:off x="0" y="0"/>
              <a:ext cx="4693642" cy="724704"/>
            </a:xfrm>
            <a:custGeom>
              <a:avLst/>
              <a:gdLst/>
              <a:ahLst/>
              <a:cxnLst/>
              <a:rect r="r" b="b" t="t" l="l"/>
              <a:pathLst>
                <a:path h="724704" w="4693642">
                  <a:moveTo>
                    <a:pt x="0" y="0"/>
                  </a:moveTo>
                  <a:lnTo>
                    <a:pt x="4693642" y="0"/>
                  </a:lnTo>
                  <a:lnTo>
                    <a:pt x="4693642" y="724704"/>
                  </a:lnTo>
                  <a:lnTo>
                    <a:pt x="0" y="724704"/>
                  </a:lnTo>
                  <a:close/>
                </a:path>
              </a:pathLst>
            </a:custGeom>
            <a:solidFill>
              <a:srgbClr val="000000">
                <a:alpha val="0"/>
              </a:srgbClr>
            </a:solidFill>
          </p:spPr>
        </p:sp>
        <p:sp>
          <p:nvSpPr>
            <p:cNvPr name="TextBox 14" id="14"/>
            <p:cNvSpPr txBox="true"/>
            <p:nvPr/>
          </p:nvSpPr>
          <p:spPr>
            <a:xfrm>
              <a:off x="0" y="-19050"/>
              <a:ext cx="4693642" cy="743754"/>
            </a:xfrm>
            <a:prstGeom prst="rect">
              <a:avLst/>
            </a:prstGeom>
          </p:spPr>
          <p:txBody>
            <a:bodyPr anchor="t" rtlCol="false" tIns="0" lIns="0" bIns="0" rIns="0"/>
            <a:lstStyle/>
            <a:p>
              <a:pPr algn="l">
                <a:lnSpc>
                  <a:spcPts val="3437"/>
                </a:lnSpc>
              </a:pPr>
              <a:r>
                <a:rPr lang="en-US" sz="2750">
                  <a:solidFill>
                    <a:srgbClr val="F9EEE7"/>
                  </a:solidFill>
                  <a:latin typeface="Montserrat"/>
                  <a:ea typeface="Montserrat"/>
                  <a:cs typeface="Montserrat"/>
                  <a:sym typeface="Montserrat"/>
                </a:rPr>
                <a:t>Biến độc lập (x)</a:t>
              </a:r>
            </a:p>
          </p:txBody>
        </p:sp>
      </p:grpSp>
      <p:grpSp>
        <p:nvGrpSpPr>
          <p:cNvPr name="Group 15" id="15"/>
          <p:cNvGrpSpPr/>
          <p:nvPr/>
        </p:nvGrpSpPr>
        <p:grpSpPr>
          <a:xfrm rot="0">
            <a:off x="8204299" y="4311849"/>
            <a:ext cx="3919984" cy="957560"/>
            <a:chOff x="0" y="0"/>
            <a:chExt cx="5226645" cy="1276747"/>
          </a:xfrm>
        </p:grpSpPr>
        <p:sp>
          <p:nvSpPr>
            <p:cNvPr name="Freeform 16" id="16"/>
            <p:cNvSpPr/>
            <p:nvPr/>
          </p:nvSpPr>
          <p:spPr>
            <a:xfrm flipH="false" flipV="false" rot="0">
              <a:off x="0" y="0"/>
              <a:ext cx="5226645" cy="1276747"/>
            </a:xfrm>
            <a:custGeom>
              <a:avLst/>
              <a:gdLst/>
              <a:ahLst/>
              <a:cxnLst/>
              <a:rect r="r" b="b" t="t" l="l"/>
              <a:pathLst>
                <a:path h="1276747" w="5226645">
                  <a:moveTo>
                    <a:pt x="0" y="0"/>
                  </a:moveTo>
                  <a:lnTo>
                    <a:pt x="5226645" y="0"/>
                  </a:lnTo>
                  <a:lnTo>
                    <a:pt x="5226645" y="1276747"/>
                  </a:lnTo>
                  <a:lnTo>
                    <a:pt x="0" y="1276747"/>
                  </a:lnTo>
                  <a:close/>
                </a:path>
              </a:pathLst>
            </a:custGeom>
            <a:solidFill>
              <a:srgbClr val="000000">
                <a:alpha val="0"/>
              </a:srgbClr>
            </a:solidFill>
          </p:spPr>
        </p:sp>
        <p:sp>
          <p:nvSpPr>
            <p:cNvPr name="TextBox 17" id="17"/>
            <p:cNvSpPr txBox="true"/>
            <p:nvPr/>
          </p:nvSpPr>
          <p:spPr>
            <a:xfrm>
              <a:off x="0" y="-95250"/>
              <a:ext cx="5226645" cy="1371997"/>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Yếu tố ảnh hưởng đến biến phụ thuộc.</a:t>
              </a:r>
            </a:p>
          </p:txBody>
        </p:sp>
      </p:grpSp>
      <p:grpSp>
        <p:nvGrpSpPr>
          <p:cNvPr name="Group 18" id="18"/>
          <p:cNvGrpSpPr/>
          <p:nvPr/>
        </p:nvGrpSpPr>
        <p:grpSpPr>
          <a:xfrm rot="0">
            <a:off x="12722572" y="3393281"/>
            <a:ext cx="4518272" cy="2175272"/>
            <a:chOff x="0" y="0"/>
            <a:chExt cx="6024363" cy="2900363"/>
          </a:xfrm>
        </p:grpSpPr>
        <p:sp>
          <p:nvSpPr>
            <p:cNvPr name="Freeform 19" id="19"/>
            <p:cNvSpPr/>
            <p:nvPr/>
          </p:nvSpPr>
          <p:spPr>
            <a:xfrm flipH="false" flipV="false" rot="0">
              <a:off x="0" y="0"/>
              <a:ext cx="6024372" cy="2900299"/>
            </a:xfrm>
            <a:custGeom>
              <a:avLst/>
              <a:gdLst/>
              <a:ahLst/>
              <a:cxnLst/>
              <a:rect r="r" b="b" t="t" l="l"/>
              <a:pathLst>
                <a:path h="2900299" w="6024372">
                  <a:moveTo>
                    <a:pt x="0" y="59817"/>
                  </a:moveTo>
                  <a:cubicBezTo>
                    <a:pt x="0" y="26797"/>
                    <a:pt x="26797" y="0"/>
                    <a:pt x="59817" y="0"/>
                  </a:cubicBezTo>
                  <a:lnTo>
                    <a:pt x="5964555" y="0"/>
                  </a:lnTo>
                  <a:cubicBezTo>
                    <a:pt x="5997575" y="0"/>
                    <a:pt x="6024372" y="26797"/>
                    <a:pt x="6024372" y="59817"/>
                  </a:cubicBezTo>
                  <a:lnTo>
                    <a:pt x="6024372" y="2840482"/>
                  </a:lnTo>
                  <a:cubicBezTo>
                    <a:pt x="6024372" y="2873502"/>
                    <a:pt x="5997575" y="2900299"/>
                    <a:pt x="5964555" y="2900299"/>
                  </a:cubicBezTo>
                  <a:lnTo>
                    <a:pt x="59817" y="2900299"/>
                  </a:lnTo>
                  <a:cubicBezTo>
                    <a:pt x="26797" y="2900299"/>
                    <a:pt x="0" y="2873502"/>
                    <a:pt x="0" y="2840482"/>
                  </a:cubicBezTo>
                  <a:close/>
                </a:path>
              </a:pathLst>
            </a:custGeom>
            <a:solidFill>
              <a:srgbClr val="315251"/>
            </a:solidFill>
          </p:spPr>
        </p:sp>
      </p:grpSp>
      <p:grpSp>
        <p:nvGrpSpPr>
          <p:cNvPr name="Group 20" id="20"/>
          <p:cNvGrpSpPr/>
          <p:nvPr/>
        </p:nvGrpSpPr>
        <p:grpSpPr>
          <a:xfrm rot="0">
            <a:off x="13021716" y="3692426"/>
            <a:ext cx="3520231" cy="543528"/>
            <a:chOff x="0" y="0"/>
            <a:chExt cx="4693642" cy="724704"/>
          </a:xfrm>
        </p:grpSpPr>
        <p:sp>
          <p:nvSpPr>
            <p:cNvPr name="Freeform 21" id="21"/>
            <p:cNvSpPr/>
            <p:nvPr/>
          </p:nvSpPr>
          <p:spPr>
            <a:xfrm flipH="false" flipV="false" rot="0">
              <a:off x="0" y="0"/>
              <a:ext cx="4693642" cy="724704"/>
            </a:xfrm>
            <a:custGeom>
              <a:avLst/>
              <a:gdLst/>
              <a:ahLst/>
              <a:cxnLst/>
              <a:rect r="r" b="b" t="t" l="l"/>
              <a:pathLst>
                <a:path h="724704" w="4693642">
                  <a:moveTo>
                    <a:pt x="0" y="0"/>
                  </a:moveTo>
                  <a:lnTo>
                    <a:pt x="4693642" y="0"/>
                  </a:lnTo>
                  <a:lnTo>
                    <a:pt x="4693642" y="724704"/>
                  </a:lnTo>
                  <a:lnTo>
                    <a:pt x="0" y="724704"/>
                  </a:lnTo>
                  <a:close/>
                </a:path>
              </a:pathLst>
            </a:custGeom>
            <a:solidFill>
              <a:srgbClr val="000000">
                <a:alpha val="0"/>
              </a:srgbClr>
            </a:solidFill>
          </p:spPr>
        </p:sp>
        <p:sp>
          <p:nvSpPr>
            <p:cNvPr name="TextBox 22" id="22"/>
            <p:cNvSpPr txBox="true"/>
            <p:nvPr/>
          </p:nvSpPr>
          <p:spPr>
            <a:xfrm>
              <a:off x="0" y="-19050"/>
              <a:ext cx="4693642" cy="743754"/>
            </a:xfrm>
            <a:prstGeom prst="rect">
              <a:avLst/>
            </a:prstGeom>
          </p:spPr>
          <p:txBody>
            <a:bodyPr anchor="t" rtlCol="false" tIns="0" lIns="0" bIns="0" rIns="0"/>
            <a:lstStyle/>
            <a:p>
              <a:pPr algn="l">
                <a:lnSpc>
                  <a:spcPts val="3437"/>
                </a:lnSpc>
              </a:pPr>
              <a:r>
                <a:rPr lang="en-US" sz="2750">
                  <a:solidFill>
                    <a:srgbClr val="F9EEE7"/>
                  </a:solidFill>
                  <a:latin typeface="Montserrat"/>
                  <a:ea typeface="Montserrat"/>
                  <a:cs typeface="Montserrat"/>
                  <a:sym typeface="Montserrat"/>
                </a:rPr>
                <a:t>Biến phụ thuộc (y)</a:t>
              </a:r>
            </a:p>
          </p:txBody>
        </p:sp>
      </p:grpSp>
      <p:grpSp>
        <p:nvGrpSpPr>
          <p:cNvPr name="Group 23" id="23"/>
          <p:cNvGrpSpPr/>
          <p:nvPr/>
        </p:nvGrpSpPr>
        <p:grpSpPr>
          <a:xfrm rot="0">
            <a:off x="13021716" y="4311849"/>
            <a:ext cx="3919984" cy="957560"/>
            <a:chOff x="0" y="0"/>
            <a:chExt cx="5226645" cy="1276747"/>
          </a:xfrm>
        </p:grpSpPr>
        <p:sp>
          <p:nvSpPr>
            <p:cNvPr name="Freeform 24" id="24"/>
            <p:cNvSpPr/>
            <p:nvPr/>
          </p:nvSpPr>
          <p:spPr>
            <a:xfrm flipH="false" flipV="false" rot="0">
              <a:off x="0" y="0"/>
              <a:ext cx="5226645" cy="1276747"/>
            </a:xfrm>
            <a:custGeom>
              <a:avLst/>
              <a:gdLst/>
              <a:ahLst/>
              <a:cxnLst/>
              <a:rect r="r" b="b" t="t" l="l"/>
              <a:pathLst>
                <a:path h="1276747" w="5226645">
                  <a:moveTo>
                    <a:pt x="0" y="0"/>
                  </a:moveTo>
                  <a:lnTo>
                    <a:pt x="5226645" y="0"/>
                  </a:lnTo>
                  <a:lnTo>
                    <a:pt x="5226645" y="1276747"/>
                  </a:lnTo>
                  <a:lnTo>
                    <a:pt x="0" y="1276747"/>
                  </a:lnTo>
                  <a:close/>
                </a:path>
              </a:pathLst>
            </a:custGeom>
            <a:solidFill>
              <a:srgbClr val="000000">
                <a:alpha val="0"/>
              </a:srgbClr>
            </a:solidFill>
          </p:spPr>
        </p:sp>
        <p:sp>
          <p:nvSpPr>
            <p:cNvPr name="TextBox 25" id="25"/>
            <p:cNvSpPr txBox="true"/>
            <p:nvPr/>
          </p:nvSpPr>
          <p:spPr>
            <a:xfrm>
              <a:off x="0" y="-95250"/>
              <a:ext cx="5226645" cy="1371997"/>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Biến được dự đoán hoặc giải thích.</a:t>
              </a:r>
            </a:p>
          </p:txBody>
        </p:sp>
      </p:grpSp>
      <p:grpSp>
        <p:nvGrpSpPr>
          <p:cNvPr name="Group 26" id="26"/>
          <p:cNvGrpSpPr/>
          <p:nvPr/>
        </p:nvGrpSpPr>
        <p:grpSpPr>
          <a:xfrm rot="0">
            <a:off x="7905155" y="5867697"/>
            <a:ext cx="9335691" cy="2354759"/>
            <a:chOff x="0" y="0"/>
            <a:chExt cx="12447588" cy="3139678"/>
          </a:xfrm>
        </p:grpSpPr>
        <p:sp>
          <p:nvSpPr>
            <p:cNvPr name="Freeform 27" id="27"/>
            <p:cNvSpPr/>
            <p:nvPr/>
          </p:nvSpPr>
          <p:spPr>
            <a:xfrm flipH="false" flipV="false" rot="0">
              <a:off x="0" y="0"/>
              <a:ext cx="12447524" cy="3139694"/>
            </a:xfrm>
            <a:custGeom>
              <a:avLst/>
              <a:gdLst/>
              <a:ahLst/>
              <a:cxnLst/>
              <a:rect r="r" b="b" t="t" l="l"/>
              <a:pathLst>
                <a:path h="3139694" w="12447524">
                  <a:moveTo>
                    <a:pt x="0" y="59817"/>
                  </a:moveTo>
                  <a:cubicBezTo>
                    <a:pt x="0" y="26797"/>
                    <a:pt x="26797" y="0"/>
                    <a:pt x="59817" y="0"/>
                  </a:cubicBezTo>
                  <a:lnTo>
                    <a:pt x="12387707" y="0"/>
                  </a:lnTo>
                  <a:cubicBezTo>
                    <a:pt x="12420727" y="0"/>
                    <a:pt x="12447524" y="26797"/>
                    <a:pt x="12447524" y="59817"/>
                  </a:cubicBezTo>
                  <a:lnTo>
                    <a:pt x="12447524" y="3079877"/>
                  </a:lnTo>
                  <a:cubicBezTo>
                    <a:pt x="12447524" y="3112897"/>
                    <a:pt x="12420727" y="3139694"/>
                    <a:pt x="12387707" y="3139694"/>
                  </a:cubicBezTo>
                  <a:lnTo>
                    <a:pt x="59817" y="3139694"/>
                  </a:lnTo>
                  <a:cubicBezTo>
                    <a:pt x="26797" y="3139694"/>
                    <a:pt x="0" y="3112897"/>
                    <a:pt x="0" y="3079877"/>
                  </a:cubicBezTo>
                  <a:close/>
                </a:path>
              </a:pathLst>
            </a:custGeom>
            <a:solidFill>
              <a:srgbClr val="315251"/>
            </a:solidFill>
          </p:spPr>
        </p:sp>
      </p:grpSp>
      <p:grpSp>
        <p:nvGrpSpPr>
          <p:cNvPr name="Group 28" id="28"/>
          <p:cNvGrpSpPr/>
          <p:nvPr/>
        </p:nvGrpSpPr>
        <p:grpSpPr>
          <a:xfrm rot="0">
            <a:off x="8204299" y="6166842"/>
            <a:ext cx="3520231" cy="543528"/>
            <a:chOff x="0" y="0"/>
            <a:chExt cx="4693642" cy="724704"/>
          </a:xfrm>
        </p:grpSpPr>
        <p:sp>
          <p:nvSpPr>
            <p:cNvPr name="Freeform 29" id="29"/>
            <p:cNvSpPr/>
            <p:nvPr/>
          </p:nvSpPr>
          <p:spPr>
            <a:xfrm flipH="false" flipV="false" rot="0">
              <a:off x="0" y="0"/>
              <a:ext cx="4693642" cy="724704"/>
            </a:xfrm>
            <a:custGeom>
              <a:avLst/>
              <a:gdLst/>
              <a:ahLst/>
              <a:cxnLst/>
              <a:rect r="r" b="b" t="t" l="l"/>
              <a:pathLst>
                <a:path h="724704" w="4693642">
                  <a:moveTo>
                    <a:pt x="0" y="0"/>
                  </a:moveTo>
                  <a:lnTo>
                    <a:pt x="4693642" y="0"/>
                  </a:lnTo>
                  <a:lnTo>
                    <a:pt x="4693642" y="724704"/>
                  </a:lnTo>
                  <a:lnTo>
                    <a:pt x="0" y="724704"/>
                  </a:lnTo>
                  <a:close/>
                </a:path>
              </a:pathLst>
            </a:custGeom>
            <a:solidFill>
              <a:srgbClr val="000000">
                <a:alpha val="0"/>
              </a:srgbClr>
            </a:solidFill>
          </p:spPr>
        </p:sp>
        <p:sp>
          <p:nvSpPr>
            <p:cNvPr name="TextBox 30" id="30"/>
            <p:cNvSpPr txBox="true"/>
            <p:nvPr/>
          </p:nvSpPr>
          <p:spPr>
            <a:xfrm>
              <a:off x="0" y="-19050"/>
              <a:ext cx="4693642" cy="743754"/>
            </a:xfrm>
            <a:prstGeom prst="rect">
              <a:avLst/>
            </a:prstGeom>
          </p:spPr>
          <p:txBody>
            <a:bodyPr anchor="t" rtlCol="false" tIns="0" lIns="0" bIns="0" rIns="0"/>
            <a:lstStyle/>
            <a:p>
              <a:pPr algn="l">
                <a:lnSpc>
                  <a:spcPts val="3437"/>
                </a:lnSpc>
              </a:pPr>
              <a:r>
                <a:rPr lang="en-US" sz="2750">
                  <a:solidFill>
                    <a:srgbClr val="F9EEE7"/>
                  </a:solidFill>
                  <a:latin typeface="Montserrat"/>
                  <a:ea typeface="Montserrat"/>
                  <a:cs typeface="Montserrat"/>
                  <a:sym typeface="Montserrat"/>
                </a:rPr>
                <a:t>Hệ số hồi quy (β)</a:t>
              </a:r>
            </a:p>
          </p:txBody>
        </p:sp>
      </p:grpSp>
      <p:grpSp>
        <p:nvGrpSpPr>
          <p:cNvPr name="Group 31" id="31"/>
          <p:cNvGrpSpPr/>
          <p:nvPr/>
        </p:nvGrpSpPr>
        <p:grpSpPr>
          <a:xfrm rot="0">
            <a:off x="8204299" y="6786265"/>
            <a:ext cx="8737401" cy="478780"/>
            <a:chOff x="0" y="0"/>
            <a:chExt cx="11649868" cy="638373"/>
          </a:xfrm>
        </p:grpSpPr>
        <p:sp>
          <p:nvSpPr>
            <p:cNvPr name="Freeform 32" id="32"/>
            <p:cNvSpPr/>
            <p:nvPr/>
          </p:nvSpPr>
          <p:spPr>
            <a:xfrm flipH="false" flipV="false" rot="0">
              <a:off x="0" y="0"/>
              <a:ext cx="11649868" cy="638373"/>
            </a:xfrm>
            <a:custGeom>
              <a:avLst/>
              <a:gdLst/>
              <a:ahLst/>
              <a:cxnLst/>
              <a:rect r="r" b="b" t="t" l="l"/>
              <a:pathLst>
                <a:path h="638373" w="11649868">
                  <a:moveTo>
                    <a:pt x="0" y="0"/>
                  </a:moveTo>
                  <a:lnTo>
                    <a:pt x="11649868" y="0"/>
                  </a:lnTo>
                  <a:lnTo>
                    <a:pt x="11649868" y="638373"/>
                  </a:lnTo>
                  <a:lnTo>
                    <a:pt x="0" y="638373"/>
                  </a:lnTo>
                  <a:close/>
                </a:path>
              </a:pathLst>
            </a:custGeom>
            <a:solidFill>
              <a:srgbClr val="000000">
                <a:alpha val="0"/>
              </a:srgbClr>
            </a:solidFill>
          </p:spPr>
        </p:sp>
        <p:sp>
          <p:nvSpPr>
            <p:cNvPr name="TextBox 33" id="33"/>
            <p:cNvSpPr txBox="true"/>
            <p:nvPr/>
          </p:nvSpPr>
          <p:spPr>
            <a:xfrm>
              <a:off x="0" y="-95250"/>
              <a:ext cx="11649868"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Đo lường mức độ ảnh hưởng của x lên y.</a:t>
              </a:r>
            </a:p>
          </p:txBody>
        </p:sp>
      </p:grpSp>
      <p:grpSp>
        <p:nvGrpSpPr>
          <p:cNvPr name="Group 34" id="34"/>
          <p:cNvGrpSpPr/>
          <p:nvPr/>
        </p:nvGrpSpPr>
        <p:grpSpPr>
          <a:xfrm rot="0">
            <a:off x="8204299" y="7444531"/>
            <a:ext cx="8737401" cy="478780"/>
            <a:chOff x="0" y="0"/>
            <a:chExt cx="11649868" cy="638373"/>
          </a:xfrm>
        </p:grpSpPr>
        <p:sp>
          <p:nvSpPr>
            <p:cNvPr name="Freeform 35" id="35"/>
            <p:cNvSpPr/>
            <p:nvPr/>
          </p:nvSpPr>
          <p:spPr>
            <a:xfrm flipH="false" flipV="false" rot="0">
              <a:off x="0" y="0"/>
              <a:ext cx="11649868" cy="638373"/>
            </a:xfrm>
            <a:custGeom>
              <a:avLst/>
              <a:gdLst/>
              <a:ahLst/>
              <a:cxnLst/>
              <a:rect r="r" b="b" t="t" l="l"/>
              <a:pathLst>
                <a:path h="638373" w="11649868">
                  <a:moveTo>
                    <a:pt x="0" y="0"/>
                  </a:moveTo>
                  <a:lnTo>
                    <a:pt x="11649868" y="0"/>
                  </a:lnTo>
                  <a:lnTo>
                    <a:pt x="11649868" y="638373"/>
                  </a:lnTo>
                  <a:lnTo>
                    <a:pt x="0" y="638373"/>
                  </a:lnTo>
                  <a:close/>
                </a:path>
              </a:pathLst>
            </a:custGeom>
            <a:solidFill>
              <a:srgbClr val="000000">
                <a:alpha val="0"/>
              </a:srgbClr>
            </a:solidFill>
          </p:spPr>
        </p:sp>
        <p:sp>
          <p:nvSpPr>
            <p:cNvPr name="TextBox 36" id="36"/>
            <p:cNvSpPr txBox="true"/>
            <p:nvPr/>
          </p:nvSpPr>
          <p:spPr>
            <a:xfrm>
              <a:off x="0" y="-95250"/>
              <a:ext cx="11649868"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Phương trình: y = β₀ + β₁x + ε</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grpSp>
        <p:nvGrpSpPr>
          <p:cNvPr name="Group 7" id="7"/>
          <p:cNvGrpSpPr/>
          <p:nvPr/>
        </p:nvGrpSpPr>
        <p:grpSpPr>
          <a:xfrm rot="0">
            <a:off x="1047155" y="3126581"/>
            <a:ext cx="8289200" cy="1096582"/>
            <a:chOff x="0" y="0"/>
            <a:chExt cx="11052266" cy="1462109"/>
          </a:xfrm>
        </p:grpSpPr>
        <p:sp>
          <p:nvSpPr>
            <p:cNvPr name="Freeform 8" id="8"/>
            <p:cNvSpPr/>
            <p:nvPr/>
          </p:nvSpPr>
          <p:spPr>
            <a:xfrm flipH="false" flipV="false" rot="0">
              <a:off x="0" y="0"/>
              <a:ext cx="11052266" cy="1462109"/>
            </a:xfrm>
            <a:custGeom>
              <a:avLst/>
              <a:gdLst/>
              <a:ahLst/>
              <a:cxnLst/>
              <a:rect r="r" b="b" t="t" l="l"/>
              <a:pathLst>
                <a:path h="1462109" w="11052266">
                  <a:moveTo>
                    <a:pt x="0" y="0"/>
                  </a:moveTo>
                  <a:lnTo>
                    <a:pt x="11052266" y="0"/>
                  </a:lnTo>
                  <a:lnTo>
                    <a:pt x="11052266" y="1462109"/>
                  </a:lnTo>
                  <a:lnTo>
                    <a:pt x="0" y="1462109"/>
                  </a:lnTo>
                  <a:close/>
                </a:path>
              </a:pathLst>
            </a:custGeom>
            <a:solidFill>
              <a:srgbClr val="000000">
                <a:alpha val="0"/>
              </a:srgbClr>
            </a:solidFill>
          </p:spPr>
        </p:sp>
        <p:sp>
          <p:nvSpPr>
            <p:cNvPr name="TextBox 9" id="9"/>
            <p:cNvSpPr txBox="true"/>
            <p:nvPr/>
          </p:nvSpPr>
          <p:spPr>
            <a:xfrm>
              <a:off x="0" y="-28575"/>
              <a:ext cx="11052266" cy="1490684"/>
            </a:xfrm>
            <a:prstGeom prst="rect">
              <a:avLst/>
            </a:prstGeom>
          </p:spPr>
          <p:txBody>
            <a:bodyPr anchor="t" rtlCol="false" tIns="0" lIns="0" bIns="0" rIns="0"/>
            <a:lstStyle/>
            <a:p>
              <a:pPr algn="l">
                <a:lnSpc>
                  <a:spcPts val="6875"/>
                </a:lnSpc>
              </a:pPr>
              <a:r>
                <a:rPr lang="en-US" sz="5500" b="true">
                  <a:solidFill>
                    <a:srgbClr val="FFD9BE"/>
                  </a:solidFill>
                  <a:latin typeface="Montserrat Bold"/>
                  <a:ea typeface="Montserrat Bold"/>
                  <a:cs typeface="Montserrat Bold"/>
                  <a:sym typeface="Montserrat Bold"/>
                </a:rPr>
                <a:t>Các giả định cơ bản</a:t>
              </a:r>
            </a:p>
          </p:txBody>
        </p:sp>
      </p:grpSp>
      <p:grpSp>
        <p:nvGrpSpPr>
          <p:cNvPr name="Group 10" id="10"/>
          <p:cNvGrpSpPr/>
          <p:nvPr/>
        </p:nvGrpSpPr>
        <p:grpSpPr>
          <a:xfrm rot="0">
            <a:off x="1047155" y="4754464"/>
            <a:ext cx="3520306" cy="972153"/>
            <a:chOff x="0" y="0"/>
            <a:chExt cx="4693742" cy="1296204"/>
          </a:xfrm>
        </p:grpSpPr>
        <p:sp>
          <p:nvSpPr>
            <p:cNvPr name="Freeform 11" id="11"/>
            <p:cNvSpPr/>
            <p:nvPr/>
          </p:nvSpPr>
          <p:spPr>
            <a:xfrm flipH="false" flipV="false" rot="0">
              <a:off x="0" y="0"/>
              <a:ext cx="4693742" cy="1296204"/>
            </a:xfrm>
            <a:custGeom>
              <a:avLst/>
              <a:gdLst/>
              <a:ahLst/>
              <a:cxnLst/>
              <a:rect r="r" b="b" t="t" l="l"/>
              <a:pathLst>
                <a:path h="1296204" w="4693742">
                  <a:moveTo>
                    <a:pt x="0" y="0"/>
                  </a:moveTo>
                  <a:lnTo>
                    <a:pt x="4693742" y="0"/>
                  </a:lnTo>
                  <a:lnTo>
                    <a:pt x="4693742" y="1296204"/>
                  </a:lnTo>
                  <a:lnTo>
                    <a:pt x="0" y="1296204"/>
                  </a:lnTo>
                  <a:close/>
                </a:path>
              </a:pathLst>
            </a:custGeom>
            <a:solidFill>
              <a:srgbClr val="000000">
                <a:alpha val="0"/>
              </a:srgbClr>
            </a:solidFill>
          </p:spPr>
        </p:sp>
        <p:sp>
          <p:nvSpPr>
            <p:cNvPr name="TextBox 12" id="12"/>
            <p:cNvSpPr txBox="true"/>
            <p:nvPr/>
          </p:nvSpPr>
          <p:spPr>
            <a:xfrm>
              <a:off x="0" y="-19050"/>
              <a:ext cx="4693742" cy="13152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Tuyến tính (Linearity)</a:t>
              </a:r>
            </a:p>
          </p:txBody>
        </p:sp>
      </p:grpSp>
      <p:grpSp>
        <p:nvGrpSpPr>
          <p:cNvPr name="Group 13" id="13"/>
          <p:cNvGrpSpPr/>
          <p:nvPr/>
        </p:nvGrpSpPr>
        <p:grpSpPr>
          <a:xfrm rot="0">
            <a:off x="1047155" y="5933480"/>
            <a:ext cx="3501032" cy="957560"/>
            <a:chOff x="0" y="0"/>
            <a:chExt cx="4668043" cy="1276747"/>
          </a:xfrm>
        </p:grpSpPr>
        <p:sp>
          <p:nvSpPr>
            <p:cNvPr name="Freeform 14" id="14"/>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15" id="15"/>
            <p:cNvSpPr txBox="true"/>
            <p:nvPr/>
          </p:nvSpPr>
          <p:spPr>
            <a:xfrm>
              <a:off x="0" y="-95250"/>
              <a:ext cx="4668043" cy="1371997"/>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Mối quan hệ giữa x và y phải là đường thẳng.</a:t>
              </a:r>
            </a:p>
          </p:txBody>
        </p:sp>
      </p:grpSp>
      <p:grpSp>
        <p:nvGrpSpPr>
          <p:cNvPr name="Group 16" id="16"/>
          <p:cNvGrpSpPr/>
          <p:nvPr/>
        </p:nvGrpSpPr>
        <p:grpSpPr>
          <a:xfrm rot="0">
            <a:off x="5287566" y="4754464"/>
            <a:ext cx="3238814" cy="972153"/>
            <a:chOff x="0" y="0"/>
            <a:chExt cx="4318418" cy="1296204"/>
          </a:xfrm>
        </p:grpSpPr>
        <p:sp>
          <p:nvSpPr>
            <p:cNvPr name="Freeform 17" id="17"/>
            <p:cNvSpPr/>
            <p:nvPr/>
          </p:nvSpPr>
          <p:spPr>
            <a:xfrm flipH="false" flipV="false" rot="0">
              <a:off x="0" y="0"/>
              <a:ext cx="4318418" cy="1296204"/>
            </a:xfrm>
            <a:custGeom>
              <a:avLst/>
              <a:gdLst/>
              <a:ahLst/>
              <a:cxnLst/>
              <a:rect r="r" b="b" t="t" l="l"/>
              <a:pathLst>
                <a:path h="1296204" w="4318418">
                  <a:moveTo>
                    <a:pt x="0" y="0"/>
                  </a:moveTo>
                  <a:lnTo>
                    <a:pt x="4318418" y="0"/>
                  </a:lnTo>
                  <a:lnTo>
                    <a:pt x="4318418" y="1296204"/>
                  </a:lnTo>
                  <a:lnTo>
                    <a:pt x="0" y="1296204"/>
                  </a:lnTo>
                  <a:close/>
                </a:path>
              </a:pathLst>
            </a:custGeom>
            <a:solidFill>
              <a:srgbClr val="000000">
                <a:alpha val="0"/>
              </a:srgbClr>
            </a:solidFill>
          </p:spPr>
        </p:sp>
        <p:sp>
          <p:nvSpPr>
            <p:cNvPr name="TextBox 18" id="18"/>
            <p:cNvSpPr txBox="true"/>
            <p:nvPr/>
          </p:nvSpPr>
          <p:spPr>
            <a:xfrm>
              <a:off x="0" y="-19050"/>
              <a:ext cx="4318418" cy="13152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Độc lập sai số (Independence)</a:t>
              </a:r>
            </a:p>
          </p:txBody>
        </p:sp>
      </p:grpSp>
      <p:grpSp>
        <p:nvGrpSpPr>
          <p:cNvPr name="Group 19" id="19"/>
          <p:cNvGrpSpPr/>
          <p:nvPr/>
        </p:nvGrpSpPr>
        <p:grpSpPr>
          <a:xfrm rot="0">
            <a:off x="5287566" y="5933480"/>
            <a:ext cx="3501032" cy="957560"/>
            <a:chOff x="0" y="0"/>
            <a:chExt cx="4668043" cy="1276747"/>
          </a:xfrm>
        </p:grpSpPr>
        <p:sp>
          <p:nvSpPr>
            <p:cNvPr name="Freeform 20" id="20"/>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21" id="21"/>
            <p:cNvSpPr txBox="true"/>
            <p:nvPr/>
          </p:nvSpPr>
          <p:spPr>
            <a:xfrm>
              <a:off x="0" y="-95250"/>
              <a:ext cx="4668043" cy="1371997"/>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Các sai số không phụ thuộc lẫn nhau.</a:t>
              </a:r>
            </a:p>
          </p:txBody>
        </p:sp>
      </p:grpSp>
      <p:grpSp>
        <p:nvGrpSpPr>
          <p:cNvPr name="Group 22" id="22"/>
          <p:cNvGrpSpPr/>
          <p:nvPr/>
        </p:nvGrpSpPr>
        <p:grpSpPr>
          <a:xfrm rot="0">
            <a:off x="9336355" y="4754464"/>
            <a:ext cx="3884275" cy="972153"/>
            <a:chOff x="0" y="0"/>
            <a:chExt cx="5179034" cy="1296204"/>
          </a:xfrm>
        </p:grpSpPr>
        <p:sp>
          <p:nvSpPr>
            <p:cNvPr name="Freeform 23" id="23"/>
            <p:cNvSpPr/>
            <p:nvPr/>
          </p:nvSpPr>
          <p:spPr>
            <a:xfrm flipH="false" flipV="false" rot="0">
              <a:off x="0" y="0"/>
              <a:ext cx="5179034" cy="1296204"/>
            </a:xfrm>
            <a:custGeom>
              <a:avLst/>
              <a:gdLst/>
              <a:ahLst/>
              <a:cxnLst/>
              <a:rect r="r" b="b" t="t" l="l"/>
              <a:pathLst>
                <a:path h="1296204" w="5179034">
                  <a:moveTo>
                    <a:pt x="0" y="0"/>
                  </a:moveTo>
                  <a:lnTo>
                    <a:pt x="5179034" y="0"/>
                  </a:lnTo>
                  <a:lnTo>
                    <a:pt x="5179034" y="1296204"/>
                  </a:lnTo>
                  <a:lnTo>
                    <a:pt x="0" y="1296204"/>
                  </a:lnTo>
                  <a:close/>
                </a:path>
              </a:pathLst>
            </a:custGeom>
            <a:solidFill>
              <a:srgbClr val="000000">
                <a:alpha val="0"/>
              </a:srgbClr>
            </a:solidFill>
          </p:spPr>
        </p:sp>
        <p:sp>
          <p:nvSpPr>
            <p:cNvPr name="TextBox 24" id="24"/>
            <p:cNvSpPr txBox="true"/>
            <p:nvPr/>
          </p:nvSpPr>
          <p:spPr>
            <a:xfrm>
              <a:off x="0" y="-19050"/>
              <a:ext cx="5179034" cy="13152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Phương sai không đổi (Homoscedasticity)</a:t>
              </a:r>
            </a:p>
          </p:txBody>
        </p:sp>
      </p:grpSp>
      <p:grpSp>
        <p:nvGrpSpPr>
          <p:cNvPr name="Group 25" id="25"/>
          <p:cNvGrpSpPr/>
          <p:nvPr/>
        </p:nvGrpSpPr>
        <p:grpSpPr>
          <a:xfrm rot="0">
            <a:off x="9336355" y="5933480"/>
            <a:ext cx="3501032" cy="957560"/>
            <a:chOff x="0" y="0"/>
            <a:chExt cx="4668043" cy="1276747"/>
          </a:xfrm>
        </p:grpSpPr>
        <p:sp>
          <p:nvSpPr>
            <p:cNvPr name="Freeform 26" id="26"/>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27" id="27"/>
            <p:cNvSpPr txBox="true"/>
            <p:nvPr/>
          </p:nvSpPr>
          <p:spPr>
            <a:xfrm>
              <a:off x="0" y="-95250"/>
              <a:ext cx="4668043" cy="1371997"/>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Phương sai sai số đồng nhất với mọi giá trị x.</a:t>
              </a:r>
            </a:p>
          </p:txBody>
        </p:sp>
      </p:grpSp>
      <p:grpSp>
        <p:nvGrpSpPr>
          <p:cNvPr name="Group 28" id="28"/>
          <p:cNvGrpSpPr/>
          <p:nvPr/>
        </p:nvGrpSpPr>
        <p:grpSpPr>
          <a:xfrm rot="0">
            <a:off x="13768387" y="4754464"/>
            <a:ext cx="4025470" cy="972153"/>
            <a:chOff x="0" y="0"/>
            <a:chExt cx="5367294" cy="1296204"/>
          </a:xfrm>
        </p:grpSpPr>
        <p:sp>
          <p:nvSpPr>
            <p:cNvPr name="Freeform 29" id="29"/>
            <p:cNvSpPr/>
            <p:nvPr/>
          </p:nvSpPr>
          <p:spPr>
            <a:xfrm flipH="false" flipV="false" rot="0">
              <a:off x="0" y="0"/>
              <a:ext cx="5367294" cy="1296204"/>
            </a:xfrm>
            <a:custGeom>
              <a:avLst/>
              <a:gdLst/>
              <a:ahLst/>
              <a:cxnLst/>
              <a:rect r="r" b="b" t="t" l="l"/>
              <a:pathLst>
                <a:path h="1296204" w="5367294">
                  <a:moveTo>
                    <a:pt x="0" y="0"/>
                  </a:moveTo>
                  <a:lnTo>
                    <a:pt x="5367294" y="0"/>
                  </a:lnTo>
                  <a:lnTo>
                    <a:pt x="5367294" y="1296204"/>
                  </a:lnTo>
                  <a:lnTo>
                    <a:pt x="0" y="1296204"/>
                  </a:lnTo>
                  <a:close/>
                </a:path>
              </a:pathLst>
            </a:custGeom>
            <a:solidFill>
              <a:srgbClr val="000000">
                <a:alpha val="0"/>
              </a:srgbClr>
            </a:solidFill>
          </p:spPr>
        </p:sp>
        <p:sp>
          <p:nvSpPr>
            <p:cNvPr name="TextBox 30" id="30"/>
            <p:cNvSpPr txBox="true"/>
            <p:nvPr/>
          </p:nvSpPr>
          <p:spPr>
            <a:xfrm>
              <a:off x="0" y="-19050"/>
              <a:ext cx="5367294" cy="13152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Phân phối chuẩn của sai số (Normality)</a:t>
              </a:r>
            </a:p>
          </p:txBody>
        </p:sp>
      </p:grpSp>
      <p:grpSp>
        <p:nvGrpSpPr>
          <p:cNvPr name="Group 31" id="31"/>
          <p:cNvGrpSpPr/>
          <p:nvPr/>
        </p:nvGrpSpPr>
        <p:grpSpPr>
          <a:xfrm rot="0">
            <a:off x="13768387" y="5933480"/>
            <a:ext cx="3501032" cy="957560"/>
            <a:chOff x="0" y="0"/>
            <a:chExt cx="4668043" cy="1276747"/>
          </a:xfrm>
        </p:grpSpPr>
        <p:sp>
          <p:nvSpPr>
            <p:cNvPr name="Freeform 32" id="32"/>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33" id="33"/>
            <p:cNvSpPr txBox="true"/>
            <p:nvPr/>
          </p:nvSpPr>
          <p:spPr>
            <a:xfrm>
              <a:off x="0" y="-95250"/>
              <a:ext cx="4668043" cy="1371997"/>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Sai số tuân theo phân phối chuẩn.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sp>
        <p:nvSpPr>
          <p:cNvPr name="Freeform 7" id="7" descr="preencoded.png"/>
          <p:cNvSpPr/>
          <p:nvPr/>
        </p:nvSpPr>
        <p:spPr>
          <a:xfrm flipH="false" flipV="false" rot="0">
            <a:off x="0" y="0"/>
            <a:ext cx="18288000" cy="3740200"/>
          </a:xfrm>
          <a:custGeom>
            <a:avLst/>
            <a:gdLst/>
            <a:ahLst/>
            <a:cxnLst/>
            <a:rect r="r" b="b" t="t" l="l"/>
            <a:pathLst>
              <a:path h="3740200" w="18288000">
                <a:moveTo>
                  <a:pt x="0" y="0"/>
                </a:moveTo>
                <a:lnTo>
                  <a:pt x="18288000" y="0"/>
                </a:lnTo>
                <a:lnTo>
                  <a:pt x="18288000" y="3740200"/>
                </a:lnTo>
                <a:lnTo>
                  <a:pt x="0" y="3740200"/>
                </a:lnTo>
                <a:lnTo>
                  <a:pt x="0" y="0"/>
                </a:lnTo>
                <a:close/>
              </a:path>
            </a:pathLst>
          </a:custGeom>
          <a:blipFill>
            <a:blip r:embed="rId5"/>
            <a:stretch>
              <a:fillRect l="0" t="-41" r="0" b="-41"/>
            </a:stretch>
          </a:blipFill>
        </p:spPr>
      </p:sp>
      <p:grpSp>
        <p:nvGrpSpPr>
          <p:cNvPr name="Group 8" id="8"/>
          <p:cNvGrpSpPr/>
          <p:nvPr/>
        </p:nvGrpSpPr>
        <p:grpSpPr>
          <a:xfrm rot="0">
            <a:off x="1047155" y="5269855"/>
            <a:ext cx="10671125" cy="1096582"/>
            <a:chOff x="0" y="0"/>
            <a:chExt cx="14228167" cy="1462109"/>
          </a:xfrm>
        </p:grpSpPr>
        <p:sp>
          <p:nvSpPr>
            <p:cNvPr name="Freeform 9" id="9"/>
            <p:cNvSpPr/>
            <p:nvPr/>
          </p:nvSpPr>
          <p:spPr>
            <a:xfrm flipH="false" flipV="false" rot="0">
              <a:off x="0" y="0"/>
              <a:ext cx="14228167" cy="1462109"/>
            </a:xfrm>
            <a:custGeom>
              <a:avLst/>
              <a:gdLst/>
              <a:ahLst/>
              <a:cxnLst/>
              <a:rect r="r" b="b" t="t" l="l"/>
              <a:pathLst>
                <a:path h="1462109" w="14228167">
                  <a:moveTo>
                    <a:pt x="0" y="0"/>
                  </a:moveTo>
                  <a:lnTo>
                    <a:pt x="14228167" y="0"/>
                  </a:lnTo>
                  <a:lnTo>
                    <a:pt x="14228167" y="1462109"/>
                  </a:lnTo>
                  <a:lnTo>
                    <a:pt x="0" y="1462109"/>
                  </a:lnTo>
                  <a:close/>
                </a:path>
              </a:pathLst>
            </a:custGeom>
            <a:solidFill>
              <a:srgbClr val="000000">
                <a:alpha val="0"/>
              </a:srgbClr>
            </a:solidFill>
          </p:spPr>
        </p:sp>
        <p:sp>
          <p:nvSpPr>
            <p:cNvPr name="TextBox 10" id="10"/>
            <p:cNvSpPr txBox="true"/>
            <p:nvPr/>
          </p:nvSpPr>
          <p:spPr>
            <a:xfrm>
              <a:off x="0" y="-28575"/>
              <a:ext cx="14228167" cy="1490684"/>
            </a:xfrm>
            <a:prstGeom prst="rect">
              <a:avLst/>
            </a:prstGeom>
          </p:spPr>
          <p:txBody>
            <a:bodyPr anchor="t" rtlCol="false" tIns="0" lIns="0" bIns="0" rIns="0"/>
            <a:lstStyle/>
            <a:p>
              <a:pPr algn="l">
                <a:lnSpc>
                  <a:spcPts val="6875"/>
                </a:lnSpc>
              </a:pPr>
              <a:r>
                <a:rPr lang="en-US" sz="5500">
                  <a:solidFill>
                    <a:srgbClr val="FFD9BE"/>
                  </a:solidFill>
                  <a:latin typeface="Montserrat"/>
                  <a:ea typeface="Montserrat"/>
                  <a:cs typeface="Montserrat"/>
                  <a:sym typeface="Montserrat"/>
                </a:rPr>
                <a:t>Phương pháp ước lượng OLS</a:t>
              </a:r>
            </a:p>
          </p:txBody>
        </p:sp>
      </p:grpSp>
      <p:grpSp>
        <p:nvGrpSpPr>
          <p:cNvPr name="Group 11" id="11"/>
          <p:cNvGrpSpPr/>
          <p:nvPr/>
        </p:nvGrpSpPr>
        <p:grpSpPr>
          <a:xfrm rot="0">
            <a:off x="1047155" y="6598592"/>
            <a:ext cx="673150" cy="673150"/>
            <a:chOff x="0" y="0"/>
            <a:chExt cx="897533" cy="897533"/>
          </a:xfrm>
        </p:grpSpPr>
        <p:sp>
          <p:nvSpPr>
            <p:cNvPr name="Freeform 12" id="12"/>
            <p:cNvSpPr/>
            <p:nvPr/>
          </p:nvSpPr>
          <p:spPr>
            <a:xfrm flipH="false" flipV="false" rot="0">
              <a:off x="0" y="0"/>
              <a:ext cx="897509" cy="897509"/>
            </a:xfrm>
            <a:custGeom>
              <a:avLst/>
              <a:gdLst/>
              <a:ahLst/>
              <a:cxnLst/>
              <a:rect r="r" b="b" t="t" l="l"/>
              <a:pathLst>
                <a:path h="897509" w="897509">
                  <a:moveTo>
                    <a:pt x="0" y="59817"/>
                  </a:moveTo>
                  <a:cubicBezTo>
                    <a:pt x="0" y="26797"/>
                    <a:pt x="26797" y="0"/>
                    <a:pt x="59817" y="0"/>
                  </a:cubicBezTo>
                  <a:lnTo>
                    <a:pt x="837692" y="0"/>
                  </a:lnTo>
                  <a:cubicBezTo>
                    <a:pt x="870712" y="0"/>
                    <a:pt x="897509" y="26797"/>
                    <a:pt x="897509" y="59817"/>
                  </a:cubicBezTo>
                  <a:lnTo>
                    <a:pt x="897509" y="837692"/>
                  </a:lnTo>
                  <a:cubicBezTo>
                    <a:pt x="897509" y="870712"/>
                    <a:pt x="870712" y="897509"/>
                    <a:pt x="837692" y="897509"/>
                  </a:cubicBezTo>
                  <a:lnTo>
                    <a:pt x="59817" y="897509"/>
                  </a:lnTo>
                  <a:cubicBezTo>
                    <a:pt x="26797" y="897509"/>
                    <a:pt x="0" y="870712"/>
                    <a:pt x="0" y="837692"/>
                  </a:cubicBezTo>
                  <a:close/>
                </a:path>
              </a:pathLst>
            </a:custGeom>
            <a:solidFill>
              <a:srgbClr val="315251"/>
            </a:solidFill>
          </p:spPr>
        </p:sp>
      </p:grpSp>
      <p:grpSp>
        <p:nvGrpSpPr>
          <p:cNvPr name="Group 13" id="13"/>
          <p:cNvGrpSpPr/>
          <p:nvPr/>
        </p:nvGrpSpPr>
        <p:grpSpPr>
          <a:xfrm rot="0">
            <a:off x="2019449" y="6701432"/>
            <a:ext cx="4176266" cy="879872"/>
            <a:chOff x="0" y="0"/>
            <a:chExt cx="5568355" cy="1173163"/>
          </a:xfrm>
        </p:grpSpPr>
        <p:sp>
          <p:nvSpPr>
            <p:cNvPr name="Freeform 14" id="14"/>
            <p:cNvSpPr/>
            <p:nvPr/>
          </p:nvSpPr>
          <p:spPr>
            <a:xfrm flipH="false" flipV="false" rot="0">
              <a:off x="0" y="0"/>
              <a:ext cx="5568355" cy="1173163"/>
            </a:xfrm>
            <a:custGeom>
              <a:avLst/>
              <a:gdLst/>
              <a:ahLst/>
              <a:cxnLst/>
              <a:rect r="r" b="b" t="t" l="l"/>
              <a:pathLst>
                <a:path h="1173163" w="5568355">
                  <a:moveTo>
                    <a:pt x="0" y="0"/>
                  </a:moveTo>
                  <a:lnTo>
                    <a:pt x="5568355" y="0"/>
                  </a:lnTo>
                  <a:lnTo>
                    <a:pt x="5568355" y="1173163"/>
                  </a:lnTo>
                  <a:lnTo>
                    <a:pt x="0" y="1173163"/>
                  </a:lnTo>
                  <a:close/>
                </a:path>
              </a:pathLst>
            </a:custGeom>
            <a:solidFill>
              <a:srgbClr val="000000">
                <a:alpha val="0"/>
              </a:srgbClr>
            </a:solidFill>
          </p:spPr>
        </p:sp>
        <p:sp>
          <p:nvSpPr>
            <p:cNvPr name="TextBox 15" id="15"/>
            <p:cNvSpPr txBox="true"/>
            <p:nvPr/>
          </p:nvSpPr>
          <p:spPr>
            <a:xfrm>
              <a:off x="0" y="-19050"/>
              <a:ext cx="5568355" cy="1192213"/>
            </a:xfrm>
            <a:prstGeom prst="rect">
              <a:avLst/>
            </a:prstGeom>
          </p:spPr>
          <p:txBody>
            <a:bodyPr anchor="t" rtlCol="false" tIns="0" lIns="0" bIns="0" rIns="0"/>
            <a:lstStyle/>
            <a:p>
              <a:pPr algn="l">
                <a:lnSpc>
                  <a:spcPts val="3437"/>
                </a:lnSpc>
              </a:pPr>
              <a:r>
                <a:rPr lang="en-US" sz="2750">
                  <a:solidFill>
                    <a:srgbClr val="F9EEE7"/>
                  </a:solidFill>
                  <a:latin typeface="Quattrocento"/>
                  <a:ea typeface="Quattrocento"/>
                  <a:cs typeface="Quattrocento"/>
                  <a:sym typeface="Quattrocento"/>
                </a:rPr>
                <a:t>Phương pháp bình phương tối thiểu</a:t>
              </a:r>
            </a:p>
          </p:txBody>
        </p:sp>
      </p:grpSp>
      <p:grpSp>
        <p:nvGrpSpPr>
          <p:cNvPr name="Group 16" id="16"/>
          <p:cNvGrpSpPr/>
          <p:nvPr/>
        </p:nvGrpSpPr>
        <p:grpSpPr>
          <a:xfrm rot="0">
            <a:off x="2019449" y="7760791"/>
            <a:ext cx="4176266" cy="957560"/>
            <a:chOff x="0" y="0"/>
            <a:chExt cx="5568355" cy="1276747"/>
          </a:xfrm>
        </p:grpSpPr>
        <p:sp>
          <p:nvSpPr>
            <p:cNvPr name="Freeform 17" id="17"/>
            <p:cNvSpPr/>
            <p:nvPr/>
          </p:nvSpPr>
          <p:spPr>
            <a:xfrm flipH="false" flipV="false" rot="0">
              <a:off x="0" y="0"/>
              <a:ext cx="5568355" cy="1276747"/>
            </a:xfrm>
            <a:custGeom>
              <a:avLst/>
              <a:gdLst/>
              <a:ahLst/>
              <a:cxnLst/>
              <a:rect r="r" b="b" t="t" l="l"/>
              <a:pathLst>
                <a:path h="1276747" w="5568355">
                  <a:moveTo>
                    <a:pt x="0" y="0"/>
                  </a:moveTo>
                  <a:lnTo>
                    <a:pt x="5568355" y="0"/>
                  </a:lnTo>
                  <a:lnTo>
                    <a:pt x="5568355" y="1276747"/>
                  </a:lnTo>
                  <a:lnTo>
                    <a:pt x="0" y="1276747"/>
                  </a:lnTo>
                  <a:close/>
                </a:path>
              </a:pathLst>
            </a:custGeom>
            <a:solidFill>
              <a:srgbClr val="000000">
                <a:alpha val="0"/>
              </a:srgbClr>
            </a:solidFill>
          </p:spPr>
        </p:sp>
        <p:sp>
          <p:nvSpPr>
            <p:cNvPr name="TextBox 18" id="18"/>
            <p:cNvSpPr txBox="true"/>
            <p:nvPr/>
          </p:nvSpPr>
          <p:spPr>
            <a:xfrm>
              <a:off x="0" y="-95250"/>
              <a:ext cx="5568355" cy="1371997"/>
            </a:xfrm>
            <a:prstGeom prst="rect">
              <a:avLst/>
            </a:prstGeom>
          </p:spPr>
          <p:txBody>
            <a:bodyPr anchor="t" rtlCol="false" tIns="0" lIns="0" bIns="0" rIns="0"/>
            <a:lstStyle/>
            <a:p>
              <a:pPr algn="l">
                <a:lnSpc>
                  <a:spcPts val="3750"/>
                </a:lnSpc>
              </a:pPr>
              <a:r>
                <a:rPr lang="en-US" sz="2312">
                  <a:solidFill>
                    <a:srgbClr val="F9EEE7"/>
                  </a:solidFill>
                  <a:latin typeface="Quattrocento"/>
                  <a:ea typeface="Quattrocento"/>
                  <a:cs typeface="Quattrocento"/>
                  <a:sym typeface="Quattrocento"/>
                </a:rPr>
                <a:t>Ước lượng hệ số bằng cách giảm tổng bình phương sai số.</a:t>
              </a:r>
            </a:p>
          </p:txBody>
        </p:sp>
      </p:grpSp>
      <p:grpSp>
        <p:nvGrpSpPr>
          <p:cNvPr name="Group 19" id="19"/>
          <p:cNvGrpSpPr/>
          <p:nvPr/>
        </p:nvGrpSpPr>
        <p:grpSpPr>
          <a:xfrm rot="0">
            <a:off x="6569720" y="6598592"/>
            <a:ext cx="673150" cy="673150"/>
            <a:chOff x="0" y="0"/>
            <a:chExt cx="897533" cy="897533"/>
          </a:xfrm>
        </p:grpSpPr>
        <p:sp>
          <p:nvSpPr>
            <p:cNvPr name="Freeform 20" id="20"/>
            <p:cNvSpPr/>
            <p:nvPr/>
          </p:nvSpPr>
          <p:spPr>
            <a:xfrm flipH="false" flipV="false" rot="0">
              <a:off x="0" y="0"/>
              <a:ext cx="897509" cy="897509"/>
            </a:xfrm>
            <a:custGeom>
              <a:avLst/>
              <a:gdLst/>
              <a:ahLst/>
              <a:cxnLst/>
              <a:rect r="r" b="b" t="t" l="l"/>
              <a:pathLst>
                <a:path h="897509" w="897509">
                  <a:moveTo>
                    <a:pt x="0" y="59817"/>
                  </a:moveTo>
                  <a:cubicBezTo>
                    <a:pt x="0" y="26797"/>
                    <a:pt x="26797" y="0"/>
                    <a:pt x="59817" y="0"/>
                  </a:cubicBezTo>
                  <a:lnTo>
                    <a:pt x="837692" y="0"/>
                  </a:lnTo>
                  <a:cubicBezTo>
                    <a:pt x="870712" y="0"/>
                    <a:pt x="897509" y="26797"/>
                    <a:pt x="897509" y="59817"/>
                  </a:cubicBezTo>
                  <a:lnTo>
                    <a:pt x="897509" y="837692"/>
                  </a:lnTo>
                  <a:cubicBezTo>
                    <a:pt x="897509" y="870712"/>
                    <a:pt x="870712" y="897509"/>
                    <a:pt x="837692" y="897509"/>
                  </a:cubicBezTo>
                  <a:lnTo>
                    <a:pt x="59817" y="897509"/>
                  </a:lnTo>
                  <a:cubicBezTo>
                    <a:pt x="26797" y="897509"/>
                    <a:pt x="0" y="870712"/>
                    <a:pt x="0" y="837692"/>
                  </a:cubicBezTo>
                  <a:close/>
                </a:path>
              </a:pathLst>
            </a:custGeom>
            <a:solidFill>
              <a:srgbClr val="315251"/>
            </a:solidFill>
          </p:spPr>
        </p:sp>
      </p:grpSp>
      <p:grpSp>
        <p:nvGrpSpPr>
          <p:cNvPr name="Group 21" id="21"/>
          <p:cNvGrpSpPr/>
          <p:nvPr/>
        </p:nvGrpSpPr>
        <p:grpSpPr>
          <a:xfrm rot="0">
            <a:off x="7542014" y="6701432"/>
            <a:ext cx="3520231" cy="439936"/>
            <a:chOff x="0" y="0"/>
            <a:chExt cx="4693642" cy="586582"/>
          </a:xfrm>
        </p:grpSpPr>
        <p:sp>
          <p:nvSpPr>
            <p:cNvPr name="Freeform 22" id="22"/>
            <p:cNvSpPr/>
            <p:nvPr/>
          </p:nvSpPr>
          <p:spPr>
            <a:xfrm flipH="false" flipV="false" rot="0">
              <a:off x="0" y="0"/>
              <a:ext cx="4693642" cy="586582"/>
            </a:xfrm>
            <a:custGeom>
              <a:avLst/>
              <a:gdLst/>
              <a:ahLst/>
              <a:cxnLst/>
              <a:rect r="r" b="b" t="t" l="l"/>
              <a:pathLst>
                <a:path h="586582" w="4693642">
                  <a:moveTo>
                    <a:pt x="0" y="0"/>
                  </a:moveTo>
                  <a:lnTo>
                    <a:pt x="4693642" y="0"/>
                  </a:lnTo>
                  <a:lnTo>
                    <a:pt x="4693642" y="586582"/>
                  </a:lnTo>
                  <a:lnTo>
                    <a:pt x="0" y="586582"/>
                  </a:lnTo>
                  <a:close/>
                </a:path>
              </a:pathLst>
            </a:custGeom>
            <a:solidFill>
              <a:srgbClr val="000000">
                <a:alpha val="0"/>
              </a:srgbClr>
            </a:solidFill>
          </p:spPr>
        </p:sp>
        <p:sp>
          <p:nvSpPr>
            <p:cNvPr name="TextBox 23" id="23"/>
            <p:cNvSpPr txBox="true"/>
            <p:nvPr/>
          </p:nvSpPr>
          <p:spPr>
            <a:xfrm>
              <a:off x="0" y="-19050"/>
              <a:ext cx="4693642" cy="605632"/>
            </a:xfrm>
            <a:prstGeom prst="rect">
              <a:avLst/>
            </a:prstGeom>
          </p:spPr>
          <p:txBody>
            <a:bodyPr anchor="t" rtlCol="false" tIns="0" lIns="0" bIns="0" rIns="0"/>
            <a:lstStyle/>
            <a:p>
              <a:pPr algn="l">
                <a:lnSpc>
                  <a:spcPts val="3437"/>
                </a:lnSpc>
              </a:pPr>
              <a:r>
                <a:rPr lang="en-US" sz="2750">
                  <a:solidFill>
                    <a:srgbClr val="F9EEE7"/>
                  </a:solidFill>
                  <a:latin typeface="Quattrocento"/>
                  <a:ea typeface="Quattrocento"/>
                  <a:cs typeface="Quattrocento"/>
                  <a:sym typeface="Quattrocento"/>
                </a:rPr>
                <a:t>Mục tiêu chính</a:t>
              </a:r>
            </a:p>
          </p:txBody>
        </p:sp>
      </p:grpSp>
      <p:grpSp>
        <p:nvGrpSpPr>
          <p:cNvPr name="Group 24" id="24"/>
          <p:cNvGrpSpPr/>
          <p:nvPr/>
        </p:nvGrpSpPr>
        <p:grpSpPr>
          <a:xfrm rot="0">
            <a:off x="7542014" y="7320855"/>
            <a:ext cx="4176266" cy="1436340"/>
            <a:chOff x="0" y="0"/>
            <a:chExt cx="5568355" cy="1915120"/>
          </a:xfrm>
        </p:grpSpPr>
        <p:sp>
          <p:nvSpPr>
            <p:cNvPr name="Freeform 25" id="25"/>
            <p:cNvSpPr/>
            <p:nvPr/>
          </p:nvSpPr>
          <p:spPr>
            <a:xfrm flipH="false" flipV="false" rot="0">
              <a:off x="0" y="0"/>
              <a:ext cx="5568355" cy="1915120"/>
            </a:xfrm>
            <a:custGeom>
              <a:avLst/>
              <a:gdLst/>
              <a:ahLst/>
              <a:cxnLst/>
              <a:rect r="r" b="b" t="t" l="l"/>
              <a:pathLst>
                <a:path h="1915120" w="5568355">
                  <a:moveTo>
                    <a:pt x="0" y="0"/>
                  </a:moveTo>
                  <a:lnTo>
                    <a:pt x="5568355" y="0"/>
                  </a:lnTo>
                  <a:lnTo>
                    <a:pt x="5568355" y="1915120"/>
                  </a:lnTo>
                  <a:lnTo>
                    <a:pt x="0" y="1915120"/>
                  </a:lnTo>
                  <a:close/>
                </a:path>
              </a:pathLst>
            </a:custGeom>
            <a:solidFill>
              <a:srgbClr val="000000">
                <a:alpha val="0"/>
              </a:srgbClr>
            </a:solidFill>
          </p:spPr>
        </p:sp>
        <p:sp>
          <p:nvSpPr>
            <p:cNvPr name="TextBox 26" id="26"/>
            <p:cNvSpPr txBox="true"/>
            <p:nvPr/>
          </p:nvSpPr>
          <p:spPr>
            <a:xfrm>
              <a:off x="0" y="-95250"/>
              <a:ext cx="5568355" cy="2010370"/>
            </a:xfrm>
            <a:prstGeom prst="rect">
              <a:avLst/>
            </a:prstGeom>
          </p:spPr>
          <p:txBody>
            <a:bodyPr anchor="t" rtlCol="false" tIns="0" lIns="0" bIns="0" rIns="0"/>
            <a:lstStyle/>
            <a:p>
              <a:pPr algn="l">
                <a:lnSpc>
                  <a:spcPts val="3750"/>
                </a:lnSpc>
              </a:pPr>
              <a:r>
                <a:rPr lang="en-US" sz="2312">
                  <a:solidFill>
                    <a:srgbClr val="F9EEE7"/>
                  </a:solidFill>
                  <a:latin typeface="Quattrocento"/>
                  <a:ea typeface="Quattrocento"/>
                  <a:cs typeface="Quattrocento"/>
                  <a:sym typeface="Quattrocento"/>
                </a:rPr>
                <a:t>G</a:t>
              </a:r>
              <a:r>
                <a:rPr lang="en-US" sz="2312">
                  <a:solidFill>
                    <a:srgbClr val="F9EEE7"/>
                  </a:solidFill>
                  <a:latin typeface="Quattrocento"/>
                  <a:ea typeface="Quattrocento"/>
                  <a:cs typeface="Quattrocento"/>
                  <a:sym typeface="Quattrocento"/>
                </a:rPr>
                <a:t>iảm thiểu tổng bình phương các giá trị dư giữa y quan sát được và y dự đoán.</a:t>
              </a:r>
            </a:p>
          </p:txBody>
        </p:sp>
      </p:grpSp>
      <p:grpSp>
        <p:nvGrpSpPr>
          <p:cNvPr name="Group 27" id="27"/>
          <p:cNvGrpSpPr/>
          <p:nvPr/>
        </p:nvGrpSpPr>
        <p:grpSpPr>
          <a:xfrm rot="0">
            <a:off x="12092285" y="6598592"/>
            <a:ext cx="673150" cy="673150"/>
            <a:chOff x="0" y="0"/>
            <a:chExt cx="897533" cy="897533"/>
          </a:xfrm>
        </p:grpSpPr>
        <p:sp>
          <p:nvSpPr>
            <p:cNvPr name="Freeform 28" id="28"/>
            <p:cNvSpPr/>
            <p:nvPr/>
          </p:nvSpPr>
          <p:spPr>
            <a:xfrm flipH="false" flipV="false" rot="0">
              <a:off x="0" y="0"/>
              <a:ext cx="897509" cy="897509"/>
            </a:xfrm>
            <a:custGeom>
              <a:avLst/>
              <a:gdLst/>
              <a:ahLst/>
              <a:cxnLst/>
              <a:rect r="r" b="b" t="t" l="l"/>
              <a:pathLst>
                <a:path h="897509" w="897509">
                  <a:moveTo>
                    <a:pt x="0" y="59817"/>
                  </a:moveTo>
                  <a:cubicBezTo>
                    <a:pt x="0" y="26797"/>
                    <a:pt x="26797" y="0"/>
                    <a:pt x="59817" y="0"/>
                  </a:cubicBezTo>
                  <a:lnTo>
                    <a:pt x="837692" y="0"/>
                  </a:lnTo>
                  <a:cubicBezTo>
                    <a:pt x="870712" y="0"/>
                    <a:pt x="897509" y="26797"/>
                    <a:pt x="897509" y="59817"/>
                  </a:cubicBezTo>
                  <a:lnTo>
                    <a:pt x="897509" y="837692"/>
                  </a:lnTo>
                  <a:cubicBezTo>
                    <a:pt x="897509" y="870712"/>
                    <a:pt x="870712" y="897509"/>
                    <a:pt x="837692" y="897509"/>
                  </a:cubicBezTo>
                  <a:lnTo>
                    <a:pt x="59817" y="897509"/>
                  </a:lnTo>
                  <a:cubicBezTo>
                    <a:pt x="26797" y="897509"/>
                    <a:pt x="0" y="870712"/>
                    <a:pt x="0" y="837692"/>
                  </a:cubicBezTo>
                  <a:close/>
                </a:path>
              </a:pathLst>
            </a:custGeom>
            <a:solidFill>
              <a:srgbClr val="315251"/>
            </a:solidFill>
          </p:spPr>
        </p:sp>
      </p:grpSp>
      <p:grpSp>
        <p:nvGrpSpPr>
          <p:cNvPr name="Group 29" id="29"/>
          <p:cNvGrpSpPr/>
          <p:nvPr/>
        </p:nvGrpSpPr>
        <p:grpSpPr>
          <a:xfrm rot="0">
            <a:off x="13064579" y="6701432"/>
            <a:ext cx="3520231" cy="439936"/>
            <a:chOff x="0" y="0"/>
            <a:chExt cx="4693642" cy="586582"/>
          </a:xfrm>
        </p:grpSpPr>
        <p:sp>
          <p:nvSpPr>
            <p:cNvPr name="Freeform 30" id="30"/>
            <p:cNvSpPr/>
            <p:nvPr/>
          </p:nvSpPr>
          <p:spPr>
            <a:xfrm flipH="false" flipV="false" rot="0">
              <a:off x="0" y="0"/>
              <a:ext cx="4693642" cy="586582"/>
            </a:xfrm>
            <a:custGeom>
              <a:avLst/>
              <a:gdLst/>
              <a:ahLst/>
              <a:cxnLst/>
              <a:rect r="r" b="b" t="t" l="l"/>
              <a:pathLst>
                <a:path h="586582" w="4693642">
                  <a:moveTo>
                    <a:pt x="0" y="0"/>
                  </a:moveTo>
                  <a:lnTo>
                    <a:pt x="4693642" y="0"/>
                  </a:lnTo>
                  <a:lnTo>
                    <a:pt x="4693642" y="586582"/>
                  </a:lnTo>
                  <a:lnTo>
                    <a:pt x="0" y="586582"/>
                  </a:lnTo>
                  <a:close/>
                </a:path>
              </a:pathLst>
            </a:custGeom>
            <a:solidFill>
              <a:srgbClr val="000000">
                <a:alpha val="0"/>
              </a:srgbClr>
            </a:solidFill>
          </p:spPr>
        </p:sp>
        <p:sp>
          <p:nvSpPr>
            <p:cNvPr name="TextBox 31" id="31"/>
            <p:cNvSpPr txBox="true"/>
            <p:nvPr/>
          </p:nvSpPr>
          <p:spPr>
            <a:xfrm>
              <a:off x="0" y="-19050"/>
              <a:ext cx="4693642" cy="605632"/>
            </a:xfrm>
            <a:prstGeom prst="rect">
              <a:avLst/>
            </a:prstGeom>
          </p:spPr>
          <p:txBody>
            <a:bodyPr anchor="t" rtlCol="false" tIns="0" lIns="0" bIns="0" rIns="0"/>
            <a:lstStyle/>
            <a:p>
              <a:pPr algn="l">
                <a:lnSpc>
                  <a:spcPts val="3437"/>
                </a:lnSpc>
              </a:pPr>
              <a:r>
                <a:rPr lang="en-US" sz="2750">
                  <a:solidFill>
                    <a:srgbClr val="F9EEE7"/>
                  </a:solidFill>
                  <a:latin typeface="Quattrocento"/>
                  <a:ea typeface="Quattrocento"/>
                  <a:cs typeface="Quattrocento"/>
                  <a:sym typeface="Quattrocento"/>
                </a:rPr>
                <a:t>Công thức ước lượng</a:t>
              </a:r>
            </a:p>
          </p:txBody>
        </p:sp>
      </p:grpSp>
      <p:grpSp>
        <p:nvGrpSpPr>
          <p:cNvPr name="Group 32" id="32"/>
          <p:cNvGrpSpPr/>
          <p:nvPr/>
        </p:nvGrpSpPr>
        <p:grpSpPr>
          <a:xfrm rot="0">
            <a:off x="13064579" y="7320855"/>
            <a:ext cx="4176266" cy="957560"/>
            <a:chOff x="0" y="0"/>
            <a:chExt cx="5568355" cy="1276747"/>
          </a:xfrm>
        </p:grpSpPr>
        <p:sp>
          <p:nvSpPr>
            <p:cNvPr name="Freeform 33" id="33"/>
            <p:cNvSpPr/>
            <p:nvPr/>
          </p:nvSpPr>
          <p:spPr>
            <a:xfrm flipH="false" flipV="false" rot="0">
              <a:off x="0" y="0"/>
              <a:ext cx="5568355" cy="1276747"/>
            </a:xfrm>
            <a:custGeom>
              <a:avLst/>
              <a:gdLst/>
              <a:ahLst/>
              <a:cxnLst/>
              <a:rect r="r" b="b" t="t" l="l"/>
              <a:pathLst>
                <a:path h="1276747" w="5568355">
                  <a:moveTo>
                    <a:pt x="0" y="0"/>
                  </a:moveTo>
                  <a:lnTo>
                    <a:pt x="5568355" y="0"/>
                  </a:lnTo>
                  <a:lnTo>
                    <a:pt x="5568355" y="1276747"/>
                  </a:lnTo>
                  <a:lnTo>
                    <a:pt x="0" y="1276747"/>
                  </a:lnTo>
                  <a:close/>
                </a:path>
              </a:pathLst>
            </a:custGeom>
            <a:solidFill>
              <a:srgbClr val="000000">
                <a:alpha val="0"/>
              </a:srgbClr>
            </a:solidFill>
          </p:spPr>
        </p:sp>
        <p:sp>
          <p:nvSpPr>
            <p:cNvPr name="TextBox 34" id="34"/>
            <p:cNvSpPr txBox="true"/>
            <p:nvPr/>
          </p:nvSpPr>
          <p:spPr>
            <a:xfrm>
              <a:off x="0" y="-95250"/>
              <a:ext cx="5568355" cy="1371997"/>
            </a:xfrm>
            <a:prstGeom prst="rect">
              <a:avLst/>
            </a:prstGeom>
          </p:spPr>
          <p:txBody>
            <a:bodyPr anchor="t" rtlCol="false" tIns="0" lIns="0" bIns="0" rIns="0"/>
            <a:lstStyle/>
            <a:p>
              <a:pPr algn="l">
                <a:lnSpc>
                  <a:spcPts val="3750"/>
                </a:lnSpc>
              </a:pPr>
              <a:r>
                <a:rPr lang="en-US" sz="2312">
                  <a:solidFill>
                    <a:srgbClr val="F9EEE7"/>
                  </a:solidFill>
                  <a:latin typeface="Quattrocento"/>
                  <a:ea typeface="Quattrocento"/>
                  <a:cs typeface="Quattrocento"/>
                  <a:sym typeface="Quattrocento"/>
                </a:rPr>
                <a:t>Tính β₀ và β₁ dựa trên dữ liệu quan sát.</a:t>
              </a:r>
            </a:p>
          </p:txBody>
        </p:sp>
      </p:gr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TextBox 6" id="6"/>
          <p:cNvSpPr txBox="true"/>
          <p:nvPr/>
        </p:nvSpPr>
        <p:spPr>
          <a:xfrm rot="0">
            <a:off x="-1117728" y="74987"/>
            <a:ext cx="13403205" cy="757367"/>
          </a:xfrm>
          <a:prstGeom prst="rect">
            <a:avLst/>
          </a:prstGeom>
        </p:spPr>
        <p:txBody>
          <a:bodyPr anchor="t" rtlCol="false" tIns="0" lIns="0" bIns="0" rIns="0">
            <a:spAutoFit/>
          </a:bodyPr>
          <a:lstStyle/>
          <a:p>
            <a:pPr algn="ctr">
              <a:lnSpc>
                <a:spcPts val="6486"/>
              </a:lnSpc>
              <a:spcBef>
                <a:spcPct val="0"/>
              </a:spcBef>
            </a:pPr>
            <a:r>
              <a:rPr lang="en-US" b="true" sz="3999">
                <a:solidFill>
                  <a:srgbClr val="FFD9BE"/>
                </a:solidFill>
                <a:latin typeface="Montserrat Bold"/>
                <a:ea typeface="Montserrat Bold"/>
                <a:cs typeface="Montserrat Bold"/>
                <a:sym typeface="Montserrat Bold"/>
              </a:rPr>
              <a:t>III.Có những loại</a:t>
            </a:r>
            <a:r>
              <a:rPr lang="en-US" b="true" sz="3999">
                <a:solidFill>
                  <a:srgbClr val="FFD9BE"/>
                </a:solidFill>
                <a:latin typeface="Montserrat Bold"/>
                <a:ea typeface="Montserrat Bold"/>
                <a:cs typeface="Montserrat Bold"/>
                <a:sym typeface="Montserrat Bold"/>
              </a:rPr>
              <a:t> hồi quy tuyến tính nào</a:t>
            </a:r>
          </a:p>
        </p:txBody>
      </p:sp>
      <p:sp>
        <p:nvSpPr>
          <p:cNvPr name="TextBox 7" id="7"/>
          <p:cNvSpPr txBox="true"/>
          <p:nvPr/>
        </p:nvSpPr>
        <p:spPr>
          <a:xfrm rot="0">
            <a:off x="1028700" y="1065549"/>
            <a:ext cx="8511422" cy="757367"/>
          </a:xfrm>
          <a:prstGeom prst="rect">
            <a:avLst/>
          </a:prstGeom>
        </p:spPr>
        <p:txBody>
          <a:bodyPr anchor="t" rtlCol="false" tIns="0" lIns="0" bIns="0" rIns="0">
            <a:spAutoFit/>
          </a:bodyPr>
          <a:lstStyle/>
          <a:p>
            <a:pPr algn="just">
              <a:lnSpc>
                <a:spcPts val="6486"/>
              </a:lnSpc>
              <a:spcBef>
                <a:spcPct val="0"/>
              </a:spcBef>
            </a:pPr>
            <a:r>
              <a:rPr lang="en-US" sz="3999">
                <a:solidFill>
                  <a:srgbClr val="FFD9BE"/>
                </a:solidFill>
                <a:latin typeface="Montserrat"/>
                <a:ea typeface="Montserrat"/>
                <a:cs typeface="Montserrat"/>
                <a:sym typeface="Montserrat"/>
              </a:rPr>
              <a:t>1.Hồi q</a:t>
            </a:r>
            <a:r>
              <a:rPr lang="en-US" sz="3999">
                <a:solidFill>
                  <a:srgbClr val="FFD9BE"/>
                </a:solidFill>
                <a:latin typeface="Montserrat"/>
                <a:ea typeface="Montserrat"/>
                <a:cs typeface="Montserrat"/>
                <a:sym typeface="Montserrat"/>
              </a:rPr>
              <a:t>uy tuyến tính đơn giản</a:t>
            </a:r>
          </a:p>
        </p:txBody>
      </p:sp>
      <p:sp>
        <p:nvSpPr>
          <p:cNvPr name="TextBox 8" id="8"/>
          <p:cNvSpPr txBox="true"/>
          <p:nvPr/>
        </p:nvSpPr>
        <p:spPr>
          <a:xfrm rot="0">
            <a:off x="1317011" y="2089616"/>
            <a:ext cx="12365978" cy="6049476"/>
          </a:xfrm>
          <a:prstGeom prst="rect">
            <a:avLst/>
          </a:prstGeom>
        </p:spPr>
        <p:txBody>
          <a:bodyPr anchor="t" rtlCol="false" tIns="0" lIns="0" bIns="0" rIns="0">
            <a:spAutoFit/>
          </a:bodyPr>
          <a:lstStyle/>
          <a:p>
            <a:pPr algn="l">
              <a:lnSpc>
                <a:spcPts val="4870"/>
              </a:lnSpc>
              <a:spcBef>
                <a:spcPct val="0"/>
              </a:spcBef>
            </a:pPr>
            <a:r>
              <a:rPr lang="en-US" sz="3003">
                <a:solidFill>
                  <a:srgbClr val="FFFFFF"/>
                </a:solidFill>
                <a:latin typeface="Montserrat"/>
                <a:ea typeface="Montserrat"/>
                <a:cs typeface="Montserrat"/>
                <a:sym typeface="Montserrat"/>
              </a:rPr>
              <a:t>Hồi quy tuyến tính đơn giản được định nghĩa bằng hàm tuyến tính:</a:t>
            </a:r>
          </a:p>
          <a:p>
            <a:pPr algn="l">
              <a:lnSpc>
                <a:spcPts val="4870"/>
              </a:lnSpc>
              <a:spcBef>
                <a:spcPct val="0"/>
              </a:spcBef>
            </a:pPr>
            <a:r>
              <a:rPr lang="en-US" sz="3003">
                <a:solidFill>
                  <a:srgbClr val="FFFFFF"/>
                </a:solidFill>
                <a:latin typeface="Montserrat"/>
                <a:ea typeface="Montserrat"/>
                <a:cs typeface="Montserrat"/>
                <a:sym typeface="Montserrat"/>
              </a:rPr>
              <a:t>Y= β0*X + β1 + ε </a:t>
            </a:r>
          </a:p>
          <a:p>
            <a:pPr algn="l">
              <a:lnSpc>
                <a:spcPts val="4870"/>
              </a:lnSpc>
              <a:spcBef>
                <a:spcPct val="0"/>
              </a:spcBef>
            </a:pPr>
            <a:r>
              <a:rPr lang="en-US" sz="3003">
                <a:solidFill>
                  <a:srgbClr val="FFFFFF"/>
                </a:solidFill>
                <a:latin typeface="Montserrat"/>
                <a:ea typeface="Montserrat"/>
                <a:cs typeface="Montserrat"/>
                <a:sym typeface="Montserrat"/>
              </a:rPr>
              <a:t>β0 và β1 là hai hằng số chưa biết đại diện cho độ dốc hồi quy, trong khi ε (epsilon) là thuật ngữ sai số.</a:t>
            </a:r>
          </a:p>
          <a:p>
            <a:pPr algn="l">
              <a:lnSpc>
                <a:spcPts val="4870"/>
              </a:lnSpc>
              <a:spcBef>
                <a:spcPct val="0"/>
              </a:spcBef>
            </a:pPr>
            <a:r>
              <a:rPr lang="en-US" sz="3003">
                <a:solidFill>
                  <a:srgbClr val="FFFFFF"/>
                </a:solidFill>
                <a:latin typeface="Montserrat"/>
                <a:ea typeface="Montserrat"/>
                <a:cs typeface="Montserrat"/>
                <a:sym typeface="Montserrat"/>
              </a:rPr>
              <a:t>Bạn có thể sử dụng hồi quy tuyến tính đơn giản để lập mô hình mối quan hệ giữa hai biến, chẳng hạn như sau:</a:t>
            </a:r>
          </a:p>
          <a:p>
            <a:pPr algn="l">
              <a:lnSpc>
                <a:spcPts val="4870"/>
              </a:lnSpc>
              <a:spcBef>
                <a:spcPct val="0"/>
              </a:spcBef>
            </a:pPr>
            <a:r>
              <a:rPr lang="en-US" sz="3003">
                <a:solidFill>
                  <a:srgbClr val="FFFFFF"/>
                </a:solidFill>
                <a:latin typeface="Montserrat"/>
                <a:ea typeface="Montserrat"/>
                <a:cs typeface="Montserrat"/>
                <a:sym typeface="Montserrat"/>
              </a:rPr>
              <a:t>· Lượng mưa và sản lượng cây trồng</a:t>
            </a:r>
          </a:p>
          <a:p>
            <a:pPr algn="l">
              <a:lnSpc>
                <a:spcPts val="4870"/>
              </a:lnSpc>
              <a:spcBef>
                <a:spcPct val="0"/>
              </a:spcBef>
            </a:pPr>
            <a:r>
              <a:rPr lang="en-US" sz="3003">
                <a:solidFill>
                  <a:srgbClr val="FFFFFF"/>
                </a:solidFill>
                <a:latin typeface="Montserrat"/>
                <a:ea typeface="Montserrat"/>
                <a:cs typeface="Montserrat"/>
                <a:sym typeface="Montserrat"/>
              </a:rPr>
              <a:t>· Tuổi và chiều cao ở trẻ em</a:t>
            </a:r>
          </a:p>
          <a:p>
            <a:pPr algn="l">
              <a:lnSpc>
                <a:spcPts val="4870"/>
              </a:lnSpc>
              <a:spcBef>
                <a:spcPct val="0"/>
              </a:spcBef>
            </a:pPr>
            <a:r>
              <a:rPr lang="en-US" sz="3003">
                <a:solidFill>
                  <a:srgbClr val="FFFFFF"/>
                </a:solidFill>
                <a:latin typeface="Montserrat"/>
                <a:ea typeface="Montserrat"/>
                <a:cs typeface="Montserrat"/>
                <a:sym typeface="Montserrat"/>
              </a:rPr>
              <a:t>· Nhiệt độ và sự giãn nở của thủy ngân kim loại trong nhiệt kế</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TextBox 6" id="6"/>
          <p:cNvSpPr txBox="true"/>
          <p:nvPr/>
        </p:nvSpPr>
        <p:spPr>
          <a:xfrm rot="0">
            <a:off x="-1117728" y="74987"/>
            <a:ext cx="13403205" cy="757367"/>
          </a:xfrm>
          <a:prstGeom prst="rect">
            <a:avLst/>
          </a:prstGeom>
        </p:spPr>
        <p:txBody>
          <a:bodyPr anchor="t" rtlCol="false" tIns="0" lIns="0" bIns="0" rIns="0">
            <a:spAutoFit/>
          </a:bodyPr>
          <a:lstStyle/>
          <a:p>
            <a:pPr algn="ctr">
              <a:lnSpc>
                <a:spcPts val="6486"/>
              </a:lnSpc>
              <a:spcBef>
                <a:spcPct val="0"/>
              </a:spcBef>
            </a:pPr>
            <a:r>
              <a:rPr lang="en-US" b="true" sz="3999">
                <a:solidFill>
                  <a:srgbClr val="FFD9BE"/>
                </a:solidFill>
                <a:latin typeface="Montserrat Bold"/>
                <a:ea typeface="Montserrat Bold"/>
                <a:cs typeface="Montserrat Bold"/>
                <a:sym typeface="Montserrat Bold"/>
              </a:rPr>
              <a:t>III.Có những loại</a:t>
            </a:r>
            <a:r>
              <a:rPr lang="en-US" b="true" sz="3999">
                <a:solidFill>
                  <a:srgbClr val="FFD9BE"/>
                </a:solidFill>
                <a:latin typeface="Montserrat Bold"/>
                <a:ea typeface="Montserrat Bold"/>
                <a:cs typeface="Montserrat Bold"/>
                <a:sym typeface="Montserrat Bold"/>
              </a:rPr>
              <a:t> hồi quy tuyến tính nào</a:t>
            </a:r>
          </a:p>
        </p:txBody>
      </p:sp>
      <p:sp>
        <p:nvSpPr>
          <p:cNvPr name="TextBox 7" id="7"/>
          <p:cNvSpPr txBox="true"/>
          <p:nvPr/>
        </p:nvSpPr>
        <p:spPr>
          <a:xfrm rot="0">
            <a:off x="1028700" y="1065549"/>
            <a:ext cx="8511422" cy="757367"/>
          </a:xfrm>
          <a:prstGeom prst="rect">
            <a:avLst/>
          </a:prstGeom>
        </p:spPr>
        <p:txBody>
          <a:bodyPr anchor="t" rtlCol="false" tIns="0" lIns="0" bIns="0" rIns="0">
            <a:spAutoFit/>
          </a:bodyPr>
          <a:lstStyle/>
          <a:p>
            <a:pPr algn="just">
              <a:lnSpc>
                <a:spcPts val="6486"/>
              </a:lnSpc>
              <a:spcBef>
                <a:spcPct val="0"/>
              </a:spcBef>
            </a:pPr>
            <a:r>
              <a:rPr lang="en-US" sz="3999">
                <a:solidFill>
                  <a:srgbClr val="FFD9BE"/>
                </a:solidFill>
                <a:latin typeface="Montserrat"/>
                <a:ea typeface="Montserrat"/>
                <a:cs typeface="Montserrat"/>
                <a:sym typeface="Montserrat"/>
              </a:rPr>
              <a:t>2. Hồi q</a:t>
            </a:r>
            <a:r>
              <a:rPr lang="en-US" sz="3999">
                <a:solidFill>
                  <a:srgbClr val="FFD9BE"/>
                </a:solidFill>
                <a:latin typeface="Montserrat"/>
                <a:ea typeface="Montserrat"/>
                <a:cs typeface="Montserrat"/>
                <a:sym typeface="Montserrat"/>
              </a:rPr>
              <a:t>uy tuyến tính bội</a:t>
            </a:r>
          </a:p>
        </p:txBody>
      </p:sp>
      <p:sp>
        <p:nvSpPr>
          <p:cNvPr name="TextBox 8" id="8"/>
          <p:cNvSpPr txBox="true"/>
          <p:nvPr/>
        </p:nvSpPr>
        <p:spPr>
          <a:xfrm rot="0">
            <a:off x="1357352" y="2089616"/>
            <a:ext cx="14867143" cy="7878276"/>
          </a:xfrm>
          <a:prstGeom prst="rect">
            <a:avLst/>
          </a:prstGeom>
        </p:spPr>
        <p:txBody>
          <a:bodyPr anchor="t" rtlCol="false" tIns="0" lIns="0" bIns="0" rIns="0">
            <a:spAutoFit/>
          </a:bodyPr>
          <a:lstStyle/>
          <a:p>
            <a:pPr algn="l">
              <a:lnSpc>
                <a:spcPts val="4870"/>
              </a:lnSpc>
              <a:spcBef>
                <a:spcPct val="0"/>
              </a:spcBef>
            </a:pPr>
            <a:r>
              <a:rPr lang="en-US" sz="3003">
                <a:solidFill>
                  <a:srgbClr val="FFFFFF"/>
                </a:solidFill>
                <a:latin typeface="Montserrat"/>
                <a:ea typeface="Montserrat"/>
                <a:cs typeface="Montserrat"/>
                <a:sym typeface="Montserrat"/>
              </a:rPr>
              <a:t>Trong phân tích h</a:t>
            </a:r>
            <a:r>
              <a:rPr lang="en-US" sz="3003">
                <a:solidFill>
                  <a:srgbClr val="FFFFFF"/>
                </a:solidFill>
                <a:latin typeface="Montserrat"/>
                <a:ea typeface="Montserrat"/>
                <a:cs typeface="Montserrat"/>
                <a:sym typeface="Montserrat"/>
              </a:rPr>
              <a:t>ồi quy tuyến tính bội, tập dữ liệu chứa một biến phụ thuộc và nhiều biến độc lập. Hàm đường hồi quy tuyến tính thay đổi để bao gồm nhiều yếu tố như sau:</a:t>
            </a:r>
          </a:p>
          <a:p>
            <a:pPr algn="l">
              <a:lnSpc>
                <a:spcPts val="4868"/>
              </a:lnSpc>
              <a:spcBef>
                <a:spcPct val="0"/>
              </a:spcBef>
            </a:pPr>
            <a:r>
              <a:rPr lang="en-US" sz="3003">
                <a:solidFill>
                  <a:srgbClr val="FFFFFF"/>
                </a:solidFill>
                <a:latin typeface="Montserrat"/>
                <a:ea typeface="Montserrat"/>
                <a:cs typeface="Montserrat"/>
                <a:sym typeface="Montserrat"/>
              </a:rPr>
              <a:t>Y= β0*X0 + β1X1 + β2X2+…… βnXn+ ε </a:t>
            </a:r>
          </a:p>
          <a:p>
            <a:pPr algn="l">
              <a:lnSpc>
                <a:spcPts val="4868"/>
              </a:lnSpc>
              <a:spcBef>
                <a:spcPct val="0"/>
              </a:spcBef>
            </a:pPr>
            <a:r>
              <a:rPr lang="en-US" sz="3003">
                <a:solidFill>
                  <a:srgbClr val="FFFFFF"/>
                </a:solidFill>
                <a:latin typeface="Montserrat"/>
                <a:ea typeface="Montserrat"/>
                <a:cs typeface="Montserrat"/>
                <a:sym typeface="Montserrat"/>
              </a:rPr>
              <a:t>Khi số lượng biến dự báo tăng lên, các hằng số β cũng tăng lên tương ứng.</a:t>
            </a:r>
          </a:p>
          <a:p>
            <a:pPr algn="l">
              <a:lnSpc>
                <a:spcPts val="4870"/>
              </a:lnSpc>
              <a:spcBef>
                <a:spcPct val="0"/>
              </a:spcBef>
            </a:pPr>
            <a:r>
              <a:rPr lang="en-US" sz="3003">
                <a:solidFill>
                  <a:srgbClr val="FFFFFF"/>
                </a:solidFill>
                <a:latin typeface="Montserrat"/>
                <a:ea typeface="Montserrat"/>
                <a:cs typeface="Montserrat"/>
                <a:sym typeface="Montserrat"/>
              </a:rPr>
              <a:t> Hồi quy tuyến tính bội lập mô hình nhiều biến và tác động của chúng lên một kết quả:</a:t>
            </a:r>
          </a:p>
          <a:p>
            <a:pPr algn="l">
              <a:lnSpc>
                <a:spcPts val="4870"/>
              </a:lnSpc>
              <a:spcBef>
                <a:spcPct val="0"/>
              </a:spcBef>
            </a:pPr>
            <a:r>
              <a:rPr lang="en-US" sz="3003">
                <a:solidFill>
                  <a:srgbClr val="FFFFFF"/>
                </a:solidFill>
                <a:latin typeface="Montserrat"/>
                <a:ea typeface="Montserrat"/>
                <a:cs typeface="Montserrat"/>
                <a:sym typeface="Montserrat"/>
              </a:rPr>
              <a:t>·Lượng mưa, nhiệt độ và mức độ sử dụng phân bón đối với sản lượng cây trồng</a:t>
            </a:r>
          </a:p>
          <a:p>
            <a:pPr algn="l">
              <a:lnSpc>
                <a:spcPts val="4870"/>
              </a:lnSpc>
              <a:spcBef>
                <a:spcPct val="0"/>
              </a:spcBef>
            </a:pPr>
            <a:r>
              <a:rPr lang="en-US" sz="3003">
                <a:solidFill>
                  <a:srgbClr val="FFFFFF"/>
                </a:solidFill>
                <a:latin typeface="Montserrat"/>
                <a:ea typeface="Montserrat"/>
                <a:cs typeface="Montserrat"/>
                <a:sym typeface="Montserrat"/>
              </a:rPr>
              <a:t>·Chế độ ăn uống và tập thể dục đối với bệnh tim</a:t>
            </a:r>
          </a:p>
          <a:p>
            <a:pPr algn="l">
              <a:lnSpc>
                <a:spcPts val="4868"/>
              </a:lnSpc>
              <a:spcBef>
                <a:spcPct val="0"/>
              </a:spcBef>
            </a:pPr>
            <a:r>
              <a:rPr lang="en-US" sz="3003">
                <a:solidFill>
                  <a:srgbClr val="FFFFFF"/>
                </a:solidFill>
                <a:latin typeface="Montserrat"/>
                <a:ea typeface="Montserrat"/>
                <a:cs typeface="Montserrat"/>
                <a:sym typeface="Montserrat"/>
              </a:rPr>
              <a:t>·Tăng trưởng tiền lương và lạm phát trên lãi suất cho vay gia đình</a:t>
            </a:r>
          </a:p>
          <a:p>
            <a:pPr algn="l">
              <a:lnSpc>
                <a:spcPts val="4868"/>
              </a:lnSpc>
              <a:spcBef>
                <a:spcPct val="0"/>
              </a:spcBef>
            </a:pPr>
            <a:r>
              <a:rPr lang="en-US" sz="3003">
                <a:solidFill>
                  <a:srgbClr val="FFFFFF"/>
                </a:solidFill>
                <a:latin typeface="Montserrat"/>
                <a:ea typeface="Montserrat"/>
                <a:cs typeface="Montserrat"/>
                <a:sym typeface="Montserrat"/>
              </a:rPr>
              <a:t>Hồi quy logistic</a:t>
            </a:r>
          </a:p>
          <a:p>
            <a:pPr algn="l">
              <a:lnSpc>
                <a:spcPts val="487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TextBox 6" id="6"/>
          <p:cNvSpPr txBox="true"/>
          <p:nvPr/>
        </p:nvSpPr>
        <p:spPr>
          <a:xfrm rot="0">
            <a:off x="-1117728" y="74987"/>
            <a:ext cx="13403205" cy="757367"/>
          </a:xfrm>
          <a:prstGeom prst="rect">
            <a:avLst/>
          </a:prstGeom>
        </p:spPr>
        <p:txBody>
          <a:bodyPr anchor="t" rtlCol="false" tIns="0" lIns="0" bIns="0" rIns="0">
            <a:spAutoFit/>
          </a:bodyPr>
          <a:lstStyle/>
          <a:p>
            <a:pPr algn="ctr">
              <a:lnSpc>
                <a:spcPts val="6486"/>
              </a:lnSpc>
              <a:spcBef>
                <a:spcPct val="0"/>
              </a:spcBef>
            </a:pPr>
            <a:r>
              <a:rPr lang="en-US" b="true" sz="3999">
                <a:solidFill>
                  <a:srgbClr val="FFD9BE"/>
                </a:solidFill>
                <a:latin typeface="Montserrat Bold"/>
                <a:ea typeface="Montserrat Bold"/>
                <a:cs typeface="Montserrat Bold"/>
                <a:sym typeface="Montserrat Bold"/>
              </a:rPr>
              <a:t>III.Có những loại</a:t>
            </a:r>
            <a:r>
              <a:rPr lang="en-US" b="true" sz="3999">
                <a:solidFill>
                  <a:srgbClr val="FFD9BE"/>
                </a:solidFill>
                <a:latin typeface="Montserrat Bold"/>
                <a:ea typeface="Montserrat Bold"/>
                <a:cs typeface="Montserrat Bold"/>
                <a:sym typeface="Montserrat Bold"/>
              </a:rPr>
              <a:t> hồi quy tuyến tính nào</a:t>
            </a:r>
          </a:p>
        </p:txBody>
      </p:sp>
      <p:sp>
        <p:nvSpPr>
          <p:cNvPr name="TextBox 7" id="7"/>
          <p:cNvSpPr txBox="true"/>
          <p:nvPr/>
        </p:nvSpPr>
        <p:spPr>
          <a:xfrm rot="0">
            <a:off x="1028700" y="1065549"/>
            <a:ext cx="8834153" cy="1576675"/>
          </a:xfrm>
          <a:prstGeom prst="rect">
            <a:avLst/>
          </a:prstGeom>
        </p:spPr>
        <p:txBody>
          <a:bodyPr anchor="t" rtlCol="false" tIns="0" lIns="0" bIns="0" rIns="0">
            <a:spAutoFit/>
          </a:bodyPr>
          <a:lstStyle/>
          <a:p>
            <a:pPr algn="just">
              <a:lnSpc>
                <a:spcPts val="6483"/>
              </a:lnSpc>
              <a:spcBef>
                <a:spcPct val="0"/>
              </a:spcBef>
            </a:pPr>
            <a:r>
              <a:rPr lang="en-US" sz="3999">
                <a:solidFill>
                  <a:srgbClr val="FFD9BE"/>
                </a:solidFill>
                <a:latin typeface="Montserrat"/>
                <a:ea typeface="Montserrat"/>
                <a:cs typeface="Montserrat"/>
                <a:sym typeface="Montserrat"/>
              </a:rPr>
              <a:t>3. Hồi q</a:t>
            </a:r>
            <a:r>
              <a:rPr lang="en-US" sz="3999">
                <a:solidFill>
                  <a:srgbClr val="FFD9BE"/>
                </a:solidFill>
                <a:latin typeface="Montserrat"/>
                <a:ea typeface="Montserrat"/>
                <a:cs typeface="Montserrat"/>
                <a:sym typeface="Montserrat"/>
              </a:rPr>
              <a:t>uy logistic</a:t>
            </a:r>
          </a:p>
          <a:p>
            <a:pPr algn="just">
              <a:lnSpc>
                <a:spcPts val="6486"/>
              </a:lnSpc>
              <a:spcBef>
                <a:spcPct val="0"/>
              </a:spcBef>
            </a:pPr>
          </a:p>
        </p:txBody>
      </p:sp>
      <p:sp>
        <p:nvSpPr>
          <p:cNvPr name="TextBox 8" id="8"/>
          <p:cNvSpPr txBox="true"/>
          <p:nvPr/>
        </p:nvSpPr>
        <p:spPr>
          <a:xfrm rot="0">
            <a:off x="1357352" y="2089616"/>
            <a:ext cx="14867143" cy="5439994"/>
          </a:xfrm>
          <a:prstGeom prst="rect">
            <a:avLst/>
          </a:prstGeom>
        </p:spPr>
        <p:txBody>
          <a:bodyPr anchor="t" rtlCol="false" tIns="0" lIns="0" bIns="0" rIns="0">
            <a:spAutoFit/>
          </a:bodyPr>
          <a:lstStyle/>
          <a:p>
            <a:pPr algn="l">
              <a:lnSpc>
                <a:spcPts val="4868"/>
              </a:lnSpc>
              <a:spcBef>
                <a:spcPct val="0"/>
              </a:spcBef>
            </a:pPr>
            <a:r>
              <a:rPr lang="en-US" sz="3003">
                <a:solidFill>
                  <a:srgbClr val="FFFFFF"/>
                </a:solidFill>
                <a:latin typeface="Montserrat"/>
                <a:ea typeface="Montserrat"/>
                <a:cs typeface="Montserrat"/>
                <a:sym typeface="Montserrat"/>
              </a:rPr>
              <a:t>Các nhà khoa</a:t>
            </a:r>
            <a:r>
              <a:rPr lang="en-US" sz="3003">
                <a:solidFill>
                  <a:srgbClr val="FFFFFF"/>
                </a:solidFill>
                <a:latin typeface="Montserrat"/>
                <a:ea typeface="Montserrat"/>
                <a:cs typeface="Montserrat"/>
                <a:sym typeface="Montserrat"/>
              </a:rPr>
              <a:t> học dữ liệu sử dụng hồi quy logistic để đo lường xác suất xảy ra một sự kiện. Dự đoán là một giá trị giữa 0 và 1, trong đó 0 thể hiện một sự kiện khó xảy ra, và 1 thể hiện khả năng tối đa rằng sự việc đó sẽ xảy ra. Các phương trình logistic sử dụng các hàm logarit để tính toán đường hồi quy.</a:t>
            </a:r>
          </a:p>
          <a:p>
            <a:pPr algn="l">
              <a:lnSpc>
                <a:spcPts val="4868"/>
              </a:lnSpc>
              <a:spcBef>
                <a:spcPct val="0"/>
              </a:spcBef>
            </a:pPr>
            <a:r>
              <a:rPr lang="en-US" sz="3003">
                <a:solidFill>
                  <a:srgbClr val="FFFFFF"/>
                </a:solidFill>
                <a:latin typeface="Montserrat"/>
                <a:ea typeface="Montserrat"/>
                <a:cs typeface="Montserrat"/>
                <a:sym typeface="Montserrat"/>
              </a:rPr>
              <a:t>Sau đây là một số ví dụ:</a:t>
            </a:r>
          </a:p>
          <a:p>
            <a:pPr algn="l">
              <a:lnSpc>
                <a:spcPts val="4868"/>
              </a:lnSpc>
              <a:spcBef>
                <a:spcPct val="0"/>
              </a:spcBef>
            </a:pPr>
            <a:r>
              <a:rPr lang="en-US" sz="3003">
                <a:solidFill>
                  <a:srgbClr val="FFFFFF"/>
                </a:solidFill>
                <a:latin typeface="Montserrat"/>
                <a:ea typeface="Montserrat"/>
                <a:cs typeface="Montserrat"/>
                <a:sym typeface="Montserrat"/>
              </a:rPr>
              <a:t>·Xác suất thắng hoặc thua trong một trận đấu thể thao</a:t>
            </a:r>
          </a:p>
          <a:p>
            <a:pPr algn="l">
              <a:lnSpc>
                <a:spcPts val="4868"/>
              </a:lnSpc>
              <a:spcBef>
                <a:spcPct val="0"/>
              </a:spcBef>
            </a:pPr>
            <a:r>
              <a:rPr lang="en-US" sz="3003">
                <a:solidFill>
                  <a:srgbClr val="FFFFFF"/>
                </a:solidFill>
                <a:latin typeface="Montserrat"/>
                <a:ea typeface="Montserrat"/>
                <a:cs typeface="Montserrat"/>
                <a:sym typeface="Montserrat"/>
              </a:rPr>
              <a:t>·Xác suất đỗ hoặc trượt một bài kiểm tra </a:t>
            </a:r>
          </a:p>
          <a:p>
            <a:pPr algn="l">
              <a:lnSpc>
                <a:spcPts val="4868"/>
              </a:lnSpc>
              <a:spcBef>
                <a:spcPct val="0"/>
              </a:spcBef>
            </a:pPr>
            <a:r>
              <a:rPr lang="en-US" sz="3003">
                <a:solidFill>
                  <a:srgbClr val="FFFFFF"/>
                </a:solidFill>
                <a:latin typeface="Montserrat"/>
                <a:ea typeface="Montserrat"/>
                <a:cs typeface="Montserrat"/>
                <a:sym typeface="Montserrat"/>
              </a:rPr>
              <a:t>·Xác suất một hình ảnh là trái cây hoặc con vật</a:t>
            </a:r>
          </a:p>
          <a:p>
            <a:pPr algn="l">
              <a:lnSpc>
                <a:spcPts val="487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grpSp>
        <p:nvGrpSpPr>
          <p:cNvPr name="Group 7" id="7"/>
          <p:cNvGrpSpPr/>
          <p:nvPr/>
        </p:nvGrpSpPr>
        <p:grpSpPr>
          <a:xfrm rot="0">
            <a:off x="663912" y="361288"/>
            <a:ext cx="8240962" cy="1096582"/>
            <a:chOff x="0" y="0"/>
            <a:chExt cx="10987950" cy="1462109"/>
          </a:xfrm>
        </p:grpSpPr>
        <p:sp>
          <p:nvSpPr>
            <p:cNvPr name="Freeform 8" id="8"/>
            <p:cNvSpPr/>
            <p:nvPr/>
          </p:nvSpPr>
          <p:spPr>
            <a:xfrm flipH="false" flipV="false" rot="0">
              <a:off x="0" y="0"/>
              <a:ext cx="10987949" cy="1462109"/>
            </a:xfrm>
            <a:custGeom>
              <a:avLst/>
              <a:gdLst/>
              <a:ahLst/>
              <a:cxnLst/>
              <a:rect r="r" b="b" t="t" l="l"/>
              <a:pathLst>
                <a:path h="1462109" w="10987949">
                  <a:moveTo>
                    <a:pt x="0" y="0"/>
                  </a:moveTo>
                  <a:lnTo>
                    <a:pt x="10987949" y="0"/>
                  </a:lnTo>
                  <a:lnTo>
                    <a:pt x="10987949" y="1462109"/>
                  </a:lnTo>
                  <a:lnTo>
                    <a:pt x="0" y="1462109"/>
                  </a:lnTo>
                  <a:close/>
                </a:path>
              </a:pathLst>
            </a:custGeom>
            <a:solidFill>
              <a:srgbClr val="000000">
                <a:alpha val="0"/>
              </a:srgbClr>
            </a:solidFill>
          </p:spPr>
        </p:sp>
        <p:sp>
          <p:nvSpPr>
            <p:cNvPr name="TextBox 9" id="9"/>
            <p:cNvSpPr txBox="true"/>
            <p:nvPr/>
          </p:nvSpPr>
          <p:spPr>
            <a:xfrm>
              <a:off x="0" y="-28575"/>
              <a:ext cx="10987950" cy="1490684"/>
            </a:xfrm>
            <a:prstGeom prst="rect">
              <a:avLst/>
            </a:prstGeom>
          </p:spPr>
          <p:txBody>
            <a:bodyPr anchor="t" rtlCol="false" tIns="0" lIns="0" bIns="0" rIns="0"/>
            <a:lstStyle/>
            <a:p>
              <a:pPr algn="l">
                <a:lnSpc>
                  <a:spcPts val="6875"/>
                </a:lnSpc>
              </a:pPr>
              <a:r>
                <a:rPr lang="en-US" sz="5500" b="true">
                  <a:solidFill>
                    <a:srgbClr val="FFD9BE"/>
                  </a:solidFill>
                  <a:latin typeface="Montserrat Bold"/>
                  <a:ea typeface="Montserrat Bold"/>
                  <a:cs typeface="Montserrat Bold"/>
                  <a:sym typeface="Montserrat Bold"/>
                </a:rPr>
                <a:t>Đánh giá mô hình</a:t>
              </a:r>
            </a:p>
          </p:txBody>
        </p:sp>
      </p:grpSp>
      <p:grpSp>
        <p:nvGrpSpPr>
          <p:cNvPr name="Group 10" id="10"/>
          <p:cNvGrpSpPr/>
          <p:nvPr/>
        </p:nvGrpSpPr>
        <p:grpSpPr>
          <a:xfrm rot="0">
            <a:off x="1028700" y="1530062"/>
            <a:ext cx="7701285" cy="601599"/>
            <a:chOff x="0" y="0"/>
            <a:chExt cx="10268380" cy="802132"/>
          </a:xfrm>
        </p:grpSpPr>
        <p:sp>
          <p:nvSpPr>
            <p:cNvPr name="Freeform 11" id="11"/>
            <p:cNvSpPr/>
            <p:nvPr/>
          </p:nvSpPr>
          <p:spPr>
            <a:xfrm flipH="false" flipV="false" rot="0">
              <a:off x="0" y="0"/>
              <a:ext cx="10268380" cy="802132"/>
            </a:xfrm>
            <a:custGeom>
              <a:avLst/>
              <a:gdLst/>
              <a:ahLst/>
              <a:cxnLst/>
              <a:rect r="r" b="b" t="t" l="l"/>
              <a:pathLst>
                <a:path h="802132" w="10268380">
                  <a:moveTo>
                    <a:pt x="0" y="0"/>
                  </a:moveTo>
                  <a:lnTo>
                    <a:pt x="10268380" y="0"/>
                  </a:lnTo>
                  <a:lnTo>
                    <a:pt x="10268380" y="802132"/>
                  </a:lnTo>
                  <a:lnTo>
                    <a:pt x="0" y="802132"/>
                  </a:lnTo>
                  <a:close/>
                </a:path>
              </a:pathLst>
            </a:custGeom>
            <a:solidFill>
              <a:srgbClr val="000000">
                <a:alpha val="0"/>
              </a:srgbClr>
            </a:solidFill>
          </p:spPr>
        </p:sp>
        <p:sp>
          <p:nvSpPr>
            <p:cNvPr name="TextBox 12" id="12"/>
            <p:cNvSpPr txBox="true"/>
            <p:nvPr/>
          </p:nvSpPr>
          <p:spPr>
            <a:xfrm>
              <a:off x="0" y="-9525"/>
              <a:ext cx="10268380" cy="811657"/>
            </a:xfrm>
            <a:prstGeom prst="rect">
              <a:avLst/>
            </a:prstGeom>
          </p:spPr>
          <p:txBody>
            <a:bodyPr anchor="t" rtlCol="false" tIns="0" lIns="0" bIns="0" rIns="0"/>
            <a:lstStyle/>
            <a:p>
              <a:pPr algn="l">
                <a:lnSpc>
                  <a:spcPts val="3750"/>
                </a:lnSpc>
              </a:pPr>
              <a:r>
                <a:rPr lang="en-US" sz="3000" b="true">
                  <a:solidFill>
                    <a:srgbClr val="FFD9BE"/>
                  </a:solidFill>
                  <a:latin typeface="Montserrat Bold"/>
                  <a:ea typeface="Montserrat Bold"/>
                  <a:cs typeface="Montserrat Bold"/>
                  <a:sym typeface="Montserrat Bold"/>
                </a:rPr>
                <a:t>1. Hệ số xác định – </a:t>
              </a:r>
              <a:r>
                <a:rPr lang="en-US" sz="3000" b="true">
                  <a:solidFill>
                    <a:srgbClr val="FFD9BE"/>
                  </a:solidFill>
                  <a:latin typeface="Montserrat Bold"/>
                  <a:ea typeface="Montserrat Bold"/>
                  <a:cs typeface="Montserrat Bold"/>
                  <a:sym typeface="Montserrat Bold"/>
                </a:rPr>
                <a:t>R² (R-squared)</a:t>
              </a:r>
            </a:p>
          </p:txBody>
        </p:sp>
      </p:grpSp>
      <p:sp>
        <p:nvSpPr>
          <p:cNvPr name="TextBox 13" id="13"/>
          <p:cNvSpPr txBox="true"/>
          <p:nvPr/>
        </p:nvSpPr>
        <p:spPr>
          <a:xfrm rot="0">
            <a:off x="1304211" y="2286257"/>
            <a:ext cx="14422591" cy="5619236"/>
          </a:xfrm>
          <a:prstGeom prst="rect">
            <a:avLst/>
          </a:prstGeom>
        </p:spPr>
        <p:txBody>
          <a:bodyPr anchor="t" rtlCol="false" tIns="0" lIns="0" bIns="0" rIns="0">
            <a:spAutoFit/>
          </a:bodyPr>
          <a:lstStyle/>
          <a:p>
            <a:pPr algn="l">
              <a:lnSpc>
                <a:spcPts val="4054"/>
              </a:lnSpc>
              <a:spcBef>
                <a:spcPct val="0"/>
              </a:spcBef>
            </a:pPr>
            <a:r>
              <a:rPr lang="en-US" sz="2499">
                <a:solidFill>
                  <a:srgbClr val="FFFFFF"/>
                </a:solidFill>
                <a:latin typeface="Montserrat"/>
                <a:ea typeface="Montserrat"/>
                <a:cs typeface="Montserrat"/>
                <a:sym typeface="Montserrat"/>
              </a:rPr>
              <a:t>Khái niệm:</a:t>
            </a:r>
          </a:p>
          <a:p>
            <a:pPr algn="l">
              <a:lnSpc>
                <a:spcPts val="4054"/>
              </a:lnSpc>
              <a:spcBef>
                <a:spcPct val="0"/>
              </a:spcBef>
            </a:pPr>
            <a:r>
              <a:rPr lang="en-US" sz="2499">
                <a:solidFill>
                  <a:srgbClr val="FFFFFF"/>
                </a:solidFill>
                <a:latin typeface="Montserrat"/>
                <a:ea typeface="Montserrat"/>
                <a:cs typeface="Montserrat"/>
                <a:sym typeface="Montserrat"/>
              </a:rPr>
              <a:t> R² đo lường tỷ lệ phần trăm biến thiên của biến phụ thuộc (y) có thể được giải thích bởi các biến độc lập (x).</a:t>
            </a:r>
          </a:p>
          <a:p>
            <a:pPr algn="l">
              <a:lnSpc>
                <a:spcPts val="4054"/>
              </a:lnSpc>
              <a:spcBef>
                <a:spcPct val="0"/>
              </a:spcBef>
            </a:pPr>
            <a:r>
              <a:rPr lang="en-US" sz="2499">
                <a:solidFill>
                  <a:srgbClr val="FFFFFF"/>
                </a:solidFill>
                <a:latin typeface="Montserrat"/>
                <a:ea typeface="Montserrat"/>
                <a:cs typeface="Montserrat"/>
                <a:sym typeface="Montserrat"/>
              </a:rPr>
              <a:t> Nó cho biết mô hình "giải thích tốt" dữ liệu ở mức độ nào.</a:t>
            </a:r>
          </a:p>
          <a:p>
            <a:pPr algn="l">
              <a:lnSpc>
                <a:spcPts val="4054"/>
              </a:lnSpc>
              <a:spcBef>
                <a:spcPct val="0"/>
              </a:spcBef>
            </a:pPr>
            <a:r>
              <a:rPr lang="en-US" sz="2499">
                <a:solidFill>
                  <a:srgbClr val="FFFFFF"/>
                </a:solidFill>
                <a:latin typeface="Montserrat"/>
                <a:ea typeface="Montserrat"/>
                <a:cs typeface="Montserrat"/>
                <a:sym typeface="Montserrat"/>
              </a:rPr>
              <a:t>Giá trị:</a:t>
            </a:r>
          </a:p>
          <a:p>
            <a:pPr algn="l">
              <a:lnSpc>
                <a:spcPts val="4054"/>
              </a:lnSpc>
              <a:spcBef>
                <a:spcPct val="0"/>
              </a:spcBef>
            </a:pPr>
            <a:r>
              <a:rPr lang="en-US" sz="2499">
                <a:solidFill>
                  <a:srgbClr val="FFFFFF"/>
                </a:solidFill>
                <a:latin typeface="Montserrat"/>
                <a:ea typeface="Montserrat"/>
                <a:cs typeface="Montserrat"/>
                <a:sym typeface="Montserrat"/>
              </a:rPr>
              <a:t>R² = 0 → mô hình không giải thích được gì.</a:t>
            </a:r>
          </a:p>
          <a:p>
            <a:pPr algn="l">
              <a:lnSpc>
                <a:spcPts val="4054"/>
              </a:lnSpc>
              <a:spcBef>
                <a:spcPct val="0"/>
              </a:spcBef>
            </a:pPr>
            <a:r>
              <a:rPr lang="en-US" sz="2499">
                <a:solidFill>
                  <a:srgbClr val="FFFFFF"/>
                </a:solidFill>
                <a:latin typeface="Montserrat"/>
                <a:ea typeface="Montserrat"/>
                <a:cs typeface="Montserrat"/>
                <a:sym typeface="Montserrat"/>
              </a:rPr>
              <a:t>R² = 1 → mô hình giải thích hoàn toàn.</a:t>
            </a:r>
          </a:p>
          <a:p>
            <a:pPr algn="l">
              <a:lnSpc>
                <a:spcPts val="4054"/>
              </a:lnSpc>
              <a:spcBef>
                <a:spcPct val="0"/>
              </a:spcBef>
            </a:pPr>
            <a:r>
              <a:rPr lang="en-US" sz="2499">
                <a:solidFill>
                  <a:srgbClr val="FFFFFF"/>
                </a:solidFill>
                <a:latin typeface="Montserrat"/>
                <a:ea typeface="Montserrat"/>
                <a:cs typeface="Montserrat"/>
                <a:sym typeface="Montserrat"/>
              </a:rPr>
              <a:t>Thực tế, R² &gt; 0.7 thường được xem là chấp nhận được (tuỳ bài toán).</a:t>
            </a:r>
          </a:p>
          <a:p>
            <a:pPr algn="l">
              <a:lnSpc>
                <a:spcPts val="4054"/>
              </a:lnSpc>
              <a:spcBef>
                <a:spcPct val="0"/>
              </a:spcBef>
            </a:pPr>
            <a:r>
              <a:rPr lang="en-US" sz="2499">
                <a:solidFill>
                  <a:srgbClr val="FFFFFF"/>
                </a:solidFill>
                <a:latin typeface="Montserrat"/>
                <a:ea typeface="Montserrat"/>
                <a:cs typeface="Montserrat"/>
                <a:sym typeface="Montserrat"/>
              </a:rPr>
              <a:t>Ý nghĩa thực tiễn:</a:t>
            </a:r>
          </a:p>
          <a:p>
            <a:pPr algn="l">
              <a:lnSpc>
                <a:spcPts val="4054"/>
              </a:lnSpc>
              <a:spcBef>
                <a:spcPct val="0"/>
              </a:spcBef>
            </a:pPr>
            <a:r>
              <a:rPr lang="en-US" sz="2499">
                <a:solidFill>
                  <a:srgbClr val="FFFFFF"/>
                </a:solidFill>
                <a:latin typeface="Montserrat"/>
                <a:ea typeface="Montserrat"/>
                <a:cs typeface="Montserrat"/>
                <a:sym typeface="Montserrat"/>
              </a:rPr>
              <a:t> Ví dụ, R² = 0.82 → 82% biến thiên của giá trị thực có thể giải thích bởi mô hình, còn lại 18% là do nhiễu hoặc yếu tố ngoài mô hình.</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8572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grpSp>
        <p:nvGrpSpPr>
          <p:cNvPr name="Group 7" id="7"/>
          <p:cNvGrpSpPr/>
          <p:nvPr/>
        </p:nvGrpSpPr>
        <p:grpSpPr>
          <a:xfrm rot="0">
            <a:off x="663912" y="361288"/>
            <a:ext cx="7040612" cy="1096582"/>
            <a:chOff x="0" y="0"/>
            <a:chExt cx="9387483" cy="1462109"/>
          </a:xfrm>
        </p:grpSpPr>
        <p:sp>
          <p:nvSpPr>
            <p:cNvPr name="Freeform 8" id="8"/>
            <p:cNvSpPr/>
            <p:nvPr/>
          </p:nvSpPr>
          <p:spPr>
            <a:xfrm flipH="false" flipV="false" rot="0">
              <a:off x="0" y="0"/>
              <a:ext cx="9387484" cy="1462109"/>
            </a:xfrm>
            <a:custGeom>
              <a:avLst/>
              <a:gdLst/>
              <a:ahLst/>
              <a:cxnLst/>
              <a:rect r="r" b="b" t="t" l="l"/>
              <a:pathLst>
                <a:path h="1462109" w="9387484">
                  <a:moveTo>
                    <a:pt x="0" y="0"/>
                  </a:moveTo>
                  <a:lnTo>
                    <a:pt x="9387484" y="0"/>
                  </a:lnTo>
                  <a:lnTo>
                    <a:pt x="9387484" y="1462109"/>
                  </a:lnTo>
                  <a:lnTo>
                    <a:pt x="0" y="1462109"/>
                  </a:lnTo>
                  <a:close/>
                </a:path>
              </a:pathLst>
            </a:custGeom>
            <a:solidFill>
              <a:srgbClr val="000000">
                <a:alpha val="0"/>
              </a:srgbClr>
            </a:solidFill>
          </p:spPr>
        </p:sp>
        <p:sp>
          <p:nvSpPr>
            <p:cNvPr name="TextBox 9" id="9"/>
            <p:cNvSpPr txBox="true"/>
            <p:nvPr/>
          </p:nvSpPr>
          <p:spPr>
            <a:xfrm>
              <a:off x="0" y="-28575"/>
              <a:ext cx="9387483" cy="1490684"/>
            </a:xfrm>
            <a:prstGeom prst="rect">
              <a:avLst/>
            </a:prstGeom>
          </p:spPr>
          <p:txBody>
            <a:bodyPr anchor="t" rtlCol="false" tIns="0" lIns="0" bIns="0" rIns="0"/>
            <a:lstStyle/>
            <a:p>
              <a:pPr algn="l">
                <a:lnSpc>
                  <a:spcPts val="6875"/>
                </a:lnSpc>
              </a:pPr>
              <a:r>
                <a:rPr lang="en-US" sz="5500" b="true">
                  <a:solidFill>
                    <a:srgbClr val="FFD9BE"/>
                  </a:solidFill>
                  <a:latin typeface="Montserrat Bold"/>
                  <a:ea typeface="Montserrat Bold"/>
                  <a:cs typeface="Montserrat Bold"/>
                  <a:sym typeface="Montserrat Bold"/>
                </a:rPr>
                <a:t>Đánh giá mô hình</a:t>
              </a:r>
            </a:p>
          </p:txBody>
        </p:sp>
      </p:grpSp>
      <p:grpSp>
        <p:nvGrpSpPr>
          <p:cNvPr name="Group 10" id="10"/>
          <p:cNvGrpSpPr/>
          <p:nvPr/>
        </p:nvGrpSpPr>
        <p:grpSpPr>
          <a:xfrm rot="0">
            <a:off x="1028700" y="1601620"/>
            <a:ext cx="13853339" cy="601599"/>
            <a:chOff x="0" y="0"/>
            <a:chExt cx="18471118" cy="802132"/>
          </a:xfrm>
        </p:grpSpPr>
        <p:sp>
          <p:nvSpPr>
            <p:cNvPr name="Freeform 11" id="11"/>
            <p:cNvSpPr/>
            <p:nvPr/>
          </p:nvSpPr>
          <p:spPr>
            <a:xfrm flipH="false" flipV="false" rot="0">
              <a:off x="0" y="0"/>
              <a:ext cx="18471118" cy="802132"/>
            </a:xfrm>
            <a:custGeom>
              <a:avLst/>
              <a:gdLst/>
              <a:ahLst/>
              <a:cxnLst/>
              <a:rect r="r" b="b" t="t" l="l"/>
              <a:pathLst>
                <a:path h="802132" w="18471118">
                  <a:moveTo>
                    <a:pt x="0" y="0"/>
                  </a:moveTo>
                  <a:lnTo>
                    <a:pt x="18471118" y="0"/>
                  </a:lnTo>
                  <a:lnTo>
                    <a:pt x="18471118" y="802132"/>
                  </a:lnTo>
                  <a:lnTo>
                    <a:pt x="0" y="802132"/>
                  </a:lnTo>
                  <a:close/>
                </a:path>
              </a:pathLst>
            </a:custGeom>
            <a:solidFill>
              <a:srgbClr val="000000">
                <a:alpha val="0"/>
              </a:srgbClr>
            </a:solidFill>
          </p:spPr>
        </p:sp>
        <p:sp>
          <p:nvSpPr>
            <p:cNvPr name="TextBox 12" id="12"/>
            <p:cNvSpPr txBox="true"/>
            <p:nvPr/>
          </p:nvSpPr>
          <p:spPr>
            <a:xfrm>
              <a:off x="0" y="-9525"/>
              <a:ext cx="18471118" cy="811657"/>
            </a:xfrm>
            <a:prstGeom prst="rect">
              <a:avLst/>
            </a:prstGeom>
          </p:spPr>
          <p:txBody>
            <a:bodyPr anchor="t" rtlCol="false" tIns="0" lIns="0" bIns="0" rIns="0"/>
            <a:lstStyle/>
            <a:p>
              <a:pPr algn="l">
                <a:lnSpc>
                  <a:spcPts val="3750"/>
                </a:lnSpc>
              </a:pPr>
              <a:r>
                <a:rPr lang="en-US" sz="3000" b="true">
                  <a:solidFill>
                    <a:srgbClr val="FFD9BE"/>
                  </a:solidFill>
                  <a:latin typeface="Montserrat Bold"/>
                  <a:ea typeface="Montserrat Bold"/>
                  <a:cs typeface="Montserrat Bold"/>
                  <a:sym typeface="Montserrat Bold"/>
                </a:rPr>
                <a:t>2. </a:t>
              </a:r>
              <a:r>
                <a:rPr lang="en-US" sz="3000" b="true">
                  <a:solidFill>
                    <a:srgbClr val="FFD9BE"/>
                  </a:solidFill>
                  <a:latin typeface="Montserrat Bold"/>
                  <a:ea typeface="Montserrat Bold"/>
                  <a:cs typeface="Montserrat Bold"/>
                  <a:sym typeface="Montserrat Bold"/>
                </a:rPr>
                <a:t>Sai số chuẩn của ước lượng – SEE (Standard Error of Estimate)</a:t>
              </a:r>
            </a:p>
          </p:txBody>
        </p:sp>
      </p:grpSp>
      <p:sp>
        <p:nvSpPr>
          <p:cNvPr name="TextBox 13" id="13"/>
          <p:cNvSpPr txBox="true"/>
          <p:nvPr/>
        </p:nvSpPr>
        <p:spPr>
          <a:xfrm rot="0">
            <a:off x="1339135" y="2437981"/>
            <a:ext cx="11849874" cy="6133586"/>
          </a:xfrm>
          <a:prstGeom prst="rect">
            <a:avLst/>
          </a:prstGeom>
        </p:spPr>
        <p:txBody>
          <a:bodyPr anchor="t" rtlCol="false" tIns="0" lIns="0" bIns="0" rIns="0">
            <a:spAutoFit/>
          </a:bodyPr>
          <a:lstStyle/>
          <a:p>
            <a:pPr algn="l">
              <a:lnSpc>
                <a:spcPts val="4054"/>
              </a:lnSpc>
              <a:spcBef>
                <a:spcPct val="0"/>
              </a:spcBef>
            </a:pPr>
            <a:r>
              <a:rPr lang="en-US" sz="2499">
                <a:solidFill>
                  <a:srgbClr val="FFFFFF"/>
                </a:solidFill>
                <a:latin typeface="Montserrat"/>
                <a:ea typeface="Montserrat"/>
                <a:cs typeface="Montserrat"/>
                <a:sym typeface="Montserrat"/>
              </a:rPr>
              <a:t>Khái niệm:</a:t>
            </a:r>
          </a:p>
          <a:p>
            <a:pPr algn="l">
              <a:lnSpc>
                <a:spcPts val="4054"/>
              </a:lnSpc>
              <a:spcBef>
                <a:spcPct val="0"/>
              </a:spcBef>
            </a:pPr>
            <a:r>
              <a:rPr lang="en-US" sz="2499">
                <a:solidFill>
                  <a:srgbClr val="FFFFFF"/>
                </a:solidFill>
                <a:latin typeface="Montserrat"/>
                <a:ea typeface="Montserrat"/>
                <a:cs typeface="Montserrat"/>
                <a:sym typeface="Montserrat"/>
              </a:rPr>
              <a:t> SEE là trung bình sai số giữa giá trị dự đoán và giá trị thực tế. Nó đo lường mức độ "phân tán" của các điểm dữ liệu xung quanh đường hồi quy.</a:t>
            </a:r>
          </a:p>
          <a:p>
            <a:pPr algn="l">
              <a:lnSpc>
                <a:spcPts val="4054"/>
              </a:lnSpc>
              <a:spcBef>
                <a:spcPct val="0"/>
              </a:spcBef>
            </a:pPr>
            <a:r>
              <a:rPr lang="en-US" sz="2499">
                <a:solidFill>
                  <a:srgbClr val="FFFFFF"/>
                </a:solidFill>
                <a:latin typeface="Montserrat"/>
                <a:ea typeface="Montserrat"/>
                <a:cs typeface="Montserrat"/>
                <a:sym typeface="Montserrat"/>
              </a:rPr>
              <a:t>Ý nghĩa:</a:t>
            </a:r>
          </a:p>
          <a:p>
            <a:pPr algn="l">
              <a:lnSpc>
                <a:spcPts val="4054"/>
              </a:lnSpc>
              <a:spcBef>
                <a:spcPct val="0"/>
              </a:spcBef>
            </a:pPr>
            <a:r>
              <a:rPr lang="en-US" sz="2499">
                <a:solidFill>
                  <a:srgbClr val="FFFFFF"/>
                </a:solidFill>
                <a:latin typeface="Montserrat"/>
                <a:ea typeface="Montserrat"/>
                <a:cs typeface="Montserrat"/>
                <a:sym typeface="Montserrat"/>
              </a:rPr>
              <a:t>SEE càng nhỏ → mô hình càng chính xác.</a:t>
            </a:r>
          </a:p>
          <a:p>
            <a:pPr algn="l">
              <a:lnSpc>
                <a:spcPts val="4054"/>
              </a:lnSpc>
              <a:spcBef>
                <a:spcPct val="0"/>
              </a:spcBef>
            </a:pPr>
            <a:r>
              <a:rPr lang="en-US" sz="2499">
                <a:solidFill>
                  <a:srgbClr val="FFFFFF"/>
                </a:solidFill>
                <a:latin typeface="Montserrat"/>
                <a:ea typeface="Montserrat"/>
                <a:cs typeface="Montserrat"/>
                <a:sym typeface="Montserrat"/>
              </a:rPr>
              <a:t>SEE có đơn vị giống với biến y, giúp hiểu rõ hơn độ lệch tuyệt đối.</a:t>
            </a:r>
          </a:p>
          <a:p>
            <a:pPr algn="l">
              <a:lnSpc>
                <a:spcPts val="4054"/>
              </a:lnSpc>
              <a:spcBef>
                <a:spcPct val="0"/>
              </a:spcBef>
            </a:pPr>
            <a:r>
              <a:rPr lang="en-US" sz="2499">
                <a:solidFill>
                  <a:srgbClr val="FFFFFF"/>
                </a:solidFill>
                <a:latin typeface="Montserrat"/>
                <a:ea typeface="Montserrat"/>
                <a:cs typeface="Montserrat"/>
                <a:sym typeface="Montserrat"/>
              </a:rPr>
              <a:t>So sánh với R²:</a:t>
            </a:r>
          </a:p>
          <a:p>
            <a:pPr algn="l">
              <a:lnSpc>
                <a:spcPts val="4054"/>
              </a:lnSpc>
              <a:spcBef>
                <a:spcPct val="0"/>
              </a:spcBef>
            </a:pPr>
            <a:r>
              <a:rPr lang="en-US" sz="2499">
                <a:solidFill>
                  <a:srgbClr val="FFFFFF"/>
                </a:solidFill>
                <a:latin typeface="Montserrat"/>
                <a:ea typeface="Montserrat"/>
                <a:cs typeface="Montserrat"/>
                <a:sym typeface="Montserrat"/>
              </a:rPr>
              <a:t> R² phản ánh tỷ lệ phần trăm, còn SEE cho ta mức độ sai số trung bình cụ thể.</a:t>
            </a:r>
          </a:p>
          <a:p>
            <a:pPr algn="l">
              <a:lnSpc>
                <a:spcPts val="4054"/>
              </a:lnSpc>
              <a:spcBef>
                <a:spcPct val="0"/>
              </a:spcBef>
            </a:pPr>
            <a:r>
              <a:rPr lang="en-US" sz="2499">
                <a:solidFill>
                  <a:srgbClr val="FFFFFF"/>
                </a:solidFill>
                <a:latin typeface="Montserrat"/>
                <a:ea typeface="Montserrat"/>
                <a:cs typeface="Montserrat"/>
                <a:sym typeface="Montserrat"/>
              </a:rPr>
              <a:t>Ví dụ:</a:t>
            </a:r>
          </a:p>
          <a:p>
            <a:pPr algn="l">
              <a:lnSpc>
                <a:spcPts val="4054"/>
              </a:lnSpc>
              <a:spcBef>
                <a:spcPct val="0"/>
              </a:spcBef>
            </a:pPr>
            <a:r>
              <a:rPr lang="en-US" sz="2499">
                <a:solidFill>
                  <a:srgbClr val="FFFFFF"/>
                </a:solidFill>
                <a:latin typeface="Montserrat"/>
                <a:ea typeface="Montserrat"/>
                <a:cs typeface="Montserrat"/>
                <a:sym typeface="Montserrat"/>
              </a:rPr>
              <a:t> Nếu SEE = 2.1 (triệu đồng) → dự đoán giá nhà trung bình sai lệch khoảng 2.1 triệu đồng so với thực tế.</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grpSp>
        <p:nvGrpSpPr>
          <p:cNvPr name="Group 7" id="7"/>
          <p:cNvGrpSpPr/>
          <p:nvPr/>
        </p:nvGrpSpPr>
        <p:grpSpPr>
          <a:xfrm rot="0">
            <a:off x="663912" y="361288"/>
            <a:ext cx="7040612" cy="1096582"/>
            <a:chOff x="0" y="0"/>
            <a:chExt cx="9387483" cy="1462109"/>
          </a:xfrm>
        </p:grpSpPr>
        <p:sp>
          <p:nvSpPr>
            <p:cNvPr name="Freeform 8" id="8"/>
            <p:cNvSpPr/>
            <p:nvPr/>
          </p:nvSpPr>
          <p:spPr>
            <a:xfrm flipH="false" flipV="false" rot="0">
              <a:off x="0" y="0"/>
              <a:ext cx="9387484" cy="1462109"/>
            </a:xfrm>
            <a:custGeom>
              <a:avLst/>
              <a:gdLst/>
              <a:ahLst/>
              <a:cxnLst/>
              <a:rect r="r" b="b" t="t" l="l"/>
              <a:pathLst>
                <a:path h="1462109" w="9387484">
                  <a:moveTo>
                    <a:pt x="0" y="0"/>
                  </a:moveTo>
                  <a:lnTo>
                    <a:pt x="9387484" y="0"/>
                  </a:lnTo>
                  <a:lnTo>
                    <a:pt x="9387484" y="1462109"/>
                  </a:lnTo>
                  <a:lnTo>
                    <a:pt x="0" y="1462109"/>
                  </a:lnTo>
                  <a:close/>
                </a:path>
              </a:pathLst>
            </a:custGeom>
            <a:solidFill>
              <a:srgbClr val="000000">
                <a:alpha val="0"/>
              </a:srgbClr>
            </a:solidFill>
          </p:spPr>
        </p:sp>
        <p:sp>
          <p:nvSpPr>
            <p:cNvPr name="TextBox 9" id="9"/>
            <p:cNvSpPr txBox="true"/>
            <p:nvPr/>
          </p:nvSpPr>
          <p:spPr>
            <a:xfrm>
              <a:off x="0" y="-28575"/>
              <a:ext cx="9387483" cy="1490684"/>
            </a:xfrm>
            <a:prstGeom prst="rect">
              <a:avLst/>
            </a:prstGeom>
          </p:spPr>
          <p:txBody>
            <a:bodyPr anchor="t" rtlCol="false" tIns="0" lIns="0" bIns="0" rIns="0"/>
            <a:lstStyle/>
            <a:p>
              <a:pPr algn="l">
                <a:lnSpc>
                  <a:spcPts val="6875"/>
                </a:lnSpc>
              </a:pPr>
              <a:r>
                <a:rPr lang="en-US" sz="5500" b="true">
                  <a:solidFill>
                    <a:srgbClr val="FFD9BE"/>
                  </a:solidFill>
                  <a:latin typeface="Montserrat Bold"/>
                  <a:ea typeface="Montserrat Bold"/>
                  <a:cs typeface="Montserrat Bold"/>
                  <a:sym typeface="Montserrat Bold"/>
                </a:rPr>
                <a:t>Đánh giá mô hình</a:t>
              </a:r>
            </a:p>
          </p:txBody>
        </p:sp>
      </p:grpSp>
      <p:grpSp>
        <p:nvGrpSpPr>
          <p:cNvPr name="Group 10" id="10"/>
          <p:cNvGrpSpPr/>
          <p:nvPr/>
        </p:nvGrpSpPr>
        <p:grpSpPr>
          <a:xfrm rot="0">
            <a:off x="1028700" y="1530062"/>
            <a:ext cx="12471835" cy="601599"/>
            <a:chOff x="0" y="0"/>
            <a:chExt cx="16629114" cy="802132"/>
          </a:xfrm>
        </p:grpSpPr>
        <p:sp>
          <p:nvSpPr>
            <p:cNvPr name="Freeform 11" id="11"/>
            <p:cNvSpPr/>
            <p:nvPr/>
          </p:nvSpPr>
          <p:spPr>
            <a:xfrm flipH="false" flipV="false" rot="0">
              <a:off x="0" y="0"/>
              <a:ext cx="16629114" cy="802132"/>
            </a:xfrm>
            <a:custGeom>
              <a:avLst/>
              <a:gdLst/>
              <a:ahLst/>
              <a:cxnLst/>
              <a:rect r="r" b="b" t="t" l="l"/>
              <a:pathLst>
                <a:path h="802132" w="16629114">
                  <a:moveTo>
                    <a:pt x="0" y="0"/>
                  </a:moveTo>
                  <a:lnTo>
                    <a:pt x="16629114" y="0"/>
                  </a:lnTo>
                  <a:lnTo>
                    <a:pt x="16629114" y="802132"/>
                  </a:lnTo>
                  <a:lnTo>
                    <a:pt x="0" y="802132"/>
                  </a:lnTo>
                  <a:close/>
                </a:path>
              </a:pathLst>
            </a:custGeom>
            <a:solidFill>
              <a:srgbClr val="000000">
                <a:alpha val="0"/>
              </a:srgbClr>
            </a:solidFill>
          </p:spPr>
        </p:sp>
        <p:sp>
          <p:nvSpPr>
            <p:cNvPr name="TextBox 12" id="12"/>
            <p:cNvSpPr txBox="true"/>
            <p:nvPr/>
          </p:nvSpPr>
          <p:spPr>
            <a:xfrm>
              <a:off x="0" y="-9525"/>
              <a:ext cx="16629114" cy="811657"/>
            </a:xfrm>
            <a:prstGeom prst="rect">
              <a:avLst/>
            </a:prstGeom>
          </p:spPr>
          <p:txBody>
            <a:bodyPr anchor="t" rtlCol="false" tIns="0" lIns="0" bIns="0" rIns="0"/>
            <a:lstStyle/>
            <a:p>
              <a:pPr algn="l">
                <a:lnSpc>
                  <a:spcPts val="3750"/>
                </a:lnSpc>
              </a:pPr>
              <a:r>
                <a:rPr lang="en-US" sz="3000" b="true">
                  <a:solidFill>
                    <a:srgbClr val="FFD9BE"/>
                  </a:solidFill>
                  <a:latin typeface="Montserrat Bold"/>
                  <a:ea typeface="Montserrat Bold"/>
                  <a:cs typeface="Montserrat Bold"/>
                  <a:sym typeface="Montserrat Bold"/>
                </a:rPr>
                <a:t>3. Giá trị p (p-value) trong kiểm định giả th</a:t>
              </a:r>
              <a:r>
                <a:rPr lang="en-US" sz="3000" b="true">
                  <a:solidFill>
                    <a:srgbClr val="FFD9BE"/>
                  </a:solidFill>
                  <a:latin typeface="Montserrat Bold"/>
                  <a:ea typeface="Montserrat Bold"/>
                  <a:cs typeface="Montserrat Bold"/>
                  <a:sym typeface="Montserrat Bold"/>
                </a:rPr>
                <a:t>uyết</a:t>
              </a:r>
            </a:p>
          </p:txBody>
        </p:sp>
      </p:grpSp>
      <p:sp>
        <p:nvSpPr>
          <p:cNvPr name="TextBox 13" id="13"/>
          <p:cNvSpPr txBox="true"/>
          <p:nvPr/>
        </p:nvSpPr>
        <p:spPr>
          <a:xfrm rot="0">
            <a:off x="1401222" y="2223464"/>
            <a:ext cx="11692161" cy="5104886"/>
          </a:xfrm>
          <a:prstGeom prst="rect">
            <a:avLst/>
          </a:prstGeom>
        </p:spPr>
        <p:txBody>
          <a:bodyPr anchor="t" rtlCol="false" tIns="0" lIns="0" bIns="0" rIns="0">
            <a:spAutoFit/>
          </a:bodyPr>
          <a:lstStyle/>
          <a:p>
            <a:pPr algn="l">
              <a:lnSpc>
                <a:spcPts val="4054"/>
              </a:lnSpc>
              <a:spcBef>
                <a:spcPct val="0"/>
              </a:spcBef>
            </a:pPr>
            <a:r>
              <a:rPr lang="en-US" sz="2499">
                <a:solidFill>
                  <a:srgbClr val="FFFFFF"/>
                </a:solidFill>
                <a:latin typeface="Montserrat"/>
                <a:ea typeface="Montserrat"/>
                <a:cs typeface="Montserrat"/>
                <a:sym typeface="Montserrat"/>
              </a:rPr>
              <a:t>Khái niệm:</a:t>
            </a:r>
          </a:p>
          <a:p>
            <a:pPr algn="l">
              <a:lnSpc>
                <a:spcPts val="4054"/>
              </a:lnSpc>
              <a:spcBef>
                <a:spcPct val="0"/>
              </a:spcBef>
            </a:pPr>
            <a:r>
              <a:rPr lang="en-US" sz="2499">
                <a:solidFill>
                  <a:srgbClr val="FFFFFF"/>
                </a:solidFill>
                <a:latin typeface="Montserrat"/>
                <a:ea typeface="Montserrat"/>
                <a:cs typeface="Montserrat"/>
                <a:sym typeface="Montserrat"/>
              </a:rPr>
              <a:t> p-value được dùng để kiểm định ý nghĩa thống kê của từng hệ số hồi quy (β), giúp xác định xem các biến đầu vào có thực sự ảnh hưởng đến đầu ra hay không.</a:t>
            </a:r>
          </a:p>
          <a:p>
            <a:pPr algn="l">
              <a:lnSpc>
                <a:spcPts val="4054"/>
              </a:lnSpc>
              <a:spcBef>
                <a:spcPct val="0"/>
              </a:spcBef>
            </a:pPr>
            <a:r>
              <a:rPr lang="en-US" sz="2499">
                <a:solidFill>
                  <a:srgbClr val="FFFFFF"/>
                </a:solidFill>
                <a:latin typeface="Montserrat"/>
                <a:ea typeface="Montserrat"/>
                <a:cs typeface="Montserrat"/>
                <a:sym typeface="Montserrat"/>
              </a:rPr>
              <a:t>Ý nghĩa thống kê:</a:t>
            </a:r>
          </a:p>
          <a:p>
            <a:pPr algn="l">
              <a:lnSpc>
                <a:spcPts val="4054"/>
              </a:lnSpc>
              <a:spcBef>
                <a:spcPct val="0"/>
              </a:spcBef>
            </a:pPr>
            <a:r>
              <a:rPr lang="en-US" sz="2499">
                <a:solidFill>
                  <a:srgbClr val="FFFFFF"/>
                </a:solidFill>
                <a:latin typeface="Montserrat"/>
                <a:ea typeface="Montserrat"/>
                <a:cs typeface="Montserrat"/>
                <a:sym typeface="Montserrat"/>
              </a:rPr>
              <a:t>p &lt; 0.05 → hệ số hồi quy có ý nghĩa (bác bỏ giả thuyết H₀: β = 0).</a:t>
            </a:r>
          </a:p>
          <a:p>
            <a:pPr algn="l">
              <a:lnSpc>
                <a:spcPts val="4054"/>
              </a:lnSpc>
              <a:spcBef>
                <a:spcPct val="0"/>
              </a:spcBef>
            </a:pPr>
            <a:r>
              <a:rPr lang="en-US" sz="2499">
                <a:solidFill>
                  <a:srgbClr val="FFFFFF"/>
                </a:solidFill>
                <a:latin typeface="Montserrat"/>
                <a:ea typeface="Montserrat"/>
                <a:cs typeface="Montserrat"/>
                <a:sym typeface="Montserrat"/>
              </a:rPr>
              <a:t>p ≥ 0.05 → chưa có đủ bằng chứng để khẳng định biến đó có ảnh hưởng.</a:t>
            </a:r>
          </a:p>
          <a:p>
            <a:pPr algn="l">
              <a:lnSpc>
                <a:spcPts val="4054"/>
              </a:lnSpc>
              <a:spcBef>
                <a:spcPct val="0"/>
              </a:spcBef>
            </a:pPr>
            <a:r>
              <a:rPr lang="en-US" sz="2499">
                <a:solidFill>
                  <a:srgbClr val="FFFFFF"/>
                </a:solidFill>
                <a:latin typeface="Montserrat"/>
                <a:ea typeface="Montserrat"/>
                <a:cs typeface="Montserrat"/>
                <a:sym typeface="Montserrat"/>
              </a:rPr>
              <a:t>Lưu ý:</a:t>
            </a:r>
          </a:p>
          <a:p>
            <a:pPr algn="l">
              <a:lnSpc>
                <a:spcPts val="4054"/>
              </a:lnSpc>
              <a:spcBef>
                <a:spcPct val="0"/>
              </a:spcBef>
            </a:pPr>
            <a:r>
              <a:rPr lang="en-US" sz="2499">
                <a:solidFill>
                  <a:srgbClr val="FFFFFF"/>
                </a:solidFill>
                <a:latin typeface="Montserrat"/>
                <a:ea typeface="Montserrat"/>
                <a:cs typeface="Montserrat"/>
                <a:sym typeface="Montserrat"/>
              </a:rPr>
              <a:t> p-value không cho biết mức độ ảnh hưởng (mạnh/yếu), mà chỉ xác nhận rằng ảnh hưởng đó có tồn tại một cách có ý nghĩa thống kê.</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sp>
        <p:nvSpPr>
          <p:cNvPr name="Freeform 7" id="7"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5"/>
            <a:stretch>
              <a:fillRect l="0" t="0" r="0" b="0"/>
            </a:stretch>
          </a:blipFill>
        </p:spPr>
      </p:sp>
      <p:grpSp>
        <p:nvGrpSpPr>
          <p:cNvPr name="Group 8" id="8"/>
          <p:cNvGrpSpPr/>
          <p:nvPr/>
        </p:nvGrpSpPr>
        <p:grpSpPr>
          <a:xfrm rot="0">
            <a:off x="1047155" y="1030784"/>
            <a:ext cx="9326165" cy="1963356"/>
            <a:chOff x="0" y="0"/>
            <a:chExt cx="12434887" cy="2617809"/>
          </a:xfrm>
        </p:grpSpPr>
        <p:sp>
          <p:nvSpPr>
            <p:cNvPr name="Freeform 9" id="9"/>
            <p:cNvSpPr/>
            <p:nvPr/>
          </p:nvSpPr>
          <p:spPr>
            <a:xfrm flipH="false" flipV="false" rot="0">
              <a:off x="0" y="0"/>
              <a:ext cx="12434887" cy="2617809"/>
            </a:xfrm>
            <a:custGeom>
              <a:avLst/>
              <a:gdLst/>
              <a:ahLst/>
              <a:cxnLst/>
              <a:rect r="r" b="b" t="t" l="l"/>
              <a:pathLst>
                <a:path h="2617809" w="12434887">
                  <a:moveTo>
                    <a:pt x="0" y="0"/>
                  </a:moveTo>
                  <a:lnTo>
                    <a:pt x="12434887" y="0"/>
                  </a:lnTo>
                  <a:lnTo>
                    <a:pt x="12434887" y="2617809"/>
                  </a:lnTo>
                  <a:lnTo>
                    <a:pt x="0" y="2617809"/>
                  </a:lnTo>
                  <a:close/>
                </a:path>
              </a:pathLst>
            </a:custGeom>
            <a:solidFill>
              <a:srgbClr val="000000">
                <a:alpha val="0"/>
              </a:srgbClr>
            </a:solidFill>
          </p:spPr>
        </p:sp>
        <p:sp>
          <p:nvSpPr>
            <p:cNvPr name="TextBox 10" id="10"/>
            <p:cNvSpPr txBox="true"/>
            <p:nvPr/>
          </p:nvSpPr>
          <p:spPr>
            <a:xfrm>
              <a:off x="0" y="-28575"/>
              <a:ext cx="12434887" cy="2646384"/>
            </a:xfrm>
            <a:prstGeom prst="rect">
              <a:avLst/>
            </a:prstGeom>
          </p:spPr>
          <p:txBody>
            <a:bodyPr anchor="t" rtlCol="false" tIns="0" lIns="0" bIns="0" rIns="0"/>
            <a:lstStyle/>
            <a:p>
              <a:pPr algn="l">
                <a:lnSpc>
                  <a:spcPts val="6875"/>
                </a:lnSpc>
              </a:pPr>
              <a:r>
                <a:rPr lang="en-US" sz="5500">
                  <a:solidFill>
                    <a:srgbClr val="FFD9BE"/>
                  </a:solidFill>
                  <a:latin typeface="Montserrat"/>
                  <a:ea typeface="Montserrat"/>
                  <a:cs typeface="Montserrat"/>
                  <a:sym typeface="Montserrat"/>
                </a:rPr>
                <a:t>Phân tích phương sai (ANOVA)</a:t>
              </a:r>
            </a:p>
          </p:txBody>
        </p:sp>
      </p:grpSp>
      <p:grpSp>
        <p:nvGrpSpPr>
          <p:cNvPr name="Group 11" id="11"/>
          <p:cNvGrpSpPr/>
          <p:nvPr/>
        </p:nvGrpSpPr>
        <p:grpSpPr>
          <a:xfrm rot="0">
            <a:off x="1042392" y="3234779"/>
            <a:ext cx="9345216" cy="6026200"/>
            <a:chOff x="0" y="0"/>
            <a:chExt cx="12460288" cy="8034933"/>
          </a:xfrm>
        </p:grpSpPr>
        <p:sp>
          <p:nvSpPr>
            <p:cNvPr name="Freeform 12" id="12"/>
            <p:cNvSpPr/>
            <p:nvPr/>
          </p:nvSpPr>
          <p:spPr>
            <a:xfrm flipH="false" flipV="false" rot="0">
              <a:off x="0" y="0"/>
              <a:ext cx="12460224" cy="8034910"/>
            </a:xfrm>
            <a:custGeom>
              <a:avLst/>
              <a:gdLst/>
              <a:ahLst/>
              <a:cxnLst/>
              <a:rect r="r" b="b" t="t" l="l"/>
              <a:pathLst>
                <a:path h="8034910" w="12460224">
                  <a:moveTo>
                    <a:pt x="0" y="66167"/>
                  </a:moveTo>
                  <a:cubicBezTo>
                    <a:pt x="0" y="29591"/>
                    <a:pt x="29718" y="0"/>
                    <a:pt x="66167" y="0"/>
                  </a:cubicBezTo>
                  <a:lnTo>
                    <a:pt x="12394057" y="0"/>
                  </a:lnTo>
                  <a:lnTo>
                    <a:pt x="12394057" y="6350"/>
                  </a:lnTo>
                  <a:lnTo>
                    <a:pt x="12394057" y="0"/>
                  </a:lnTo>
                  <a:cubicBezTo>
                    <a:pt x="12430633" y="0"/>
                    <a:pt x="12460224" y="29591"/>
                    <a:pt x="12460224" y="66167"/>
                  </a:cubicBezTo>
                  <a:lnTo>
                    <a:pt x="12453874" y="66167"/>
                  </a:lnTo>
                  <a:lnTo>
                    <a:pt x="12460224" y="66167"/>
                  </a:lnTo>
                  <a:lnTo>
                    <a:pt x="12460224" y="7968742"/>
                  </a:lnTo>
                  <a:lnTo>
                    <a:pt x="12453874" y="7968742"/>
                  </a:lnTo>
                  <a:lnTo>
                    <a:pt x="12460224" y="7968742"/>
                  </a:lnTo>
                  <a:cubicBezTo>
                    <a:pt x="12460224" y="8005318"/>
                    <a:pt x="12430506" y="8034910"/>
                    <a:pt x="12394057" y="8034910"/>
                  </a:cubicBezTo>
                  <a:lnTo>
                    <a:pt x="12394057" y="8028560"/>
                  </a:lnTo>
                  <a:lnTo>
                    <a:pt x="12394057" y="8034910"/>
                  </a:lnTo>
                  <a:lnTo>
                    <a:pt x="66167" y="8034910"/>
                  </a:lnTo>
                  <a:lnTo>
                    <a:pt x="66167" y="8028560"/>
                  </a:lnTo>
                  <a:lnTo>
                    <a:pt x="66167" y="8034910"/>
                  </a:lnTo>
                  <a:cubicBezTo>
                    <a:pt x="29591" y="8034910"/>
                    <a:pt x="0" y="8005318"/>
                    <a:pt x="0" y="7968742"/>
                  </a:cubicBezTo>
                  <a:lnTo>
                    <a:pt x="0" y="66167"/>
                  </a:lnTo>
                  <a:lnTo>
                    <a:pt x="6350" y="66167"/>
                  </a:lnTo>
                  <a:lnTo>
                    <a:pt x="0" y="66167"/>
                  </a:lnTo>
                  <a:moveTo>
                    <a:pt x="12700" y="66167"/>
                  </a:moveTo>
                  <a:lnTo>
                    <a:pt x="12700" y="7968742"/>
                  </a:lnTo>
                  <a:lnTo>
                    <a:pt x="6350" y="7968742"/>
                  </a:lnTo>
                  <a:lnTo>
                    <a:pt x="12700" y="7968742"/>
                  </a:lnTo>
                  <a:cubicBezTo>
                    <a:pt x="12700" y="7998333"/>
                    <a:pt x="36703" y="8022210"/>
                    <a:pt x="66167" y="8022210"/>
                  </a:cubicBezTo>
                  <a:lnTo>
                    <a:pt x="12394057" y="8022210"/>
                  </a:lnTo>
                  <a:cubicBezTo>
                    <a:pt x="12423648" y="8022210"/>
                    <a:pt x="12447524" y="7998206"/>
                    <a:pt x="12447524" y="7968742"/>
                  </a:cubicBezTo>
                  <a:lnTo>
                    <a:pt x="12447524" y="66167"/>
                  </a:lnTo>
                  <a:cubicBezTo>
                    <a:pt x="12447524" y="36576"/>
                    <a:pt x="12423522" y="12700"/>
                    <a:pt x="12394057" y="12700"/>
                  </a:cubicBezTo>
                  <a:lnTo>
                    <a:pt x="66167" y="12700"/>
                  </a:lnTo>
                  <a:lnTo>
                    <a:pt x="66167" y="6350"/>
                  </a:lnTo>
                  <a:lnTo>
                    <a:pt x="66167" y="12700"/>
                  </a:lnTo>
                  <a:cubicBezTo>
                    <a:pt x="36703" y="12700"/>
                    <a:pt x="12700" y="36703"/>
                    <a:pt x="12700" y="66167"/>
                  </a:cubicBezTo>
                  <a:close/>
                </a:path>
              </a:pathLst>
            </a:custGeom>
            <a:solidFill>
              <a:srgbClr val="FFFFFF">
                <a:alpha val="5490"/>
              </a:srgbClr>
            </a:solidFill>
          </p:spPr>
        </p:sp>
      </p:grpSp>
      <p:grpSp>
        <p:nvGrpSpPr>
          <p:cNvPr name="Group 13" id="13"/>
          <p:cNvGrpSpPr/>
          <p:nvPr/>
        </p:nvGrpSpPr>
        <p:grpSpPr>
          <a:xfrm rot="0">
            <a:off x="1056680" y="3249066"/>
            <a:ext cx="9316640" cy="856804"/>
            <a:chOff x="0" y="0"/>
            <a:chExt cx="12422187" cy="1142405"/>
          </a:xfrm>
        </p:grpSpPr>
        <p:sp>
          <p:nvSpPr>
            <p:cNvPr name="Freeform 14" id="14"/>
            <p:cNvSpPr/>
            <p:nvPr/>
          </p:nvSpPr>
          <p:spPr>
            <a:xfrm flipH="false" flipV="false" rot="0">
              <a:off x="0" y="0"/>
              <a:ext cx="12422124" cy="1142365"/>
            </a:xfrm>
            <a:custGeom>
              <a:avLst/>
              <a:gdLst/>
              <a:ahLst/>
              <a:cxnLst/>
              <a:rect r="r" b="b" t="t" l="l"/>
              <a:pathLst>
                <a:path h="1142365" w="12422124">
                  <a:moveTo>
                    <a:pt x="0" y="0"/>
                  </a:moveTo>
                  <a:lnTo>
                    <a:pt x="12422124" y="0"/>
                  </a:lnTo>
                  <a:lnTo>
                    <a:pt x="12422124" y="1142365"/>
                  </a:lnTo>
                  <a:lnTo>
                    <a:pt x="0" y="1142365"/>
                  </a:lnTo>
                  <a:close/>
                </a:path>
              </a:pathLst>
            </a:custGeom>
            <a:solidFill>
              <a:srgbClr val="FFFFFF">
                <a:alpha val="0"/>
              </a:srgbClr>
            </a:solidFill>
          </p:spPr>
        </p:sp>
      </p:grpSp>
      <p:grpSp>
        <p:nvGrpSpPr>
          <p:cNvPr name="Group 15" id="15"/>
          <p:cNvGrpSpPr/>
          <p:nvPr/>
        </p:nvGrpSpPr>
        <p:grpSpPr>
          <a:xfrm rot="0">
            <a:off x="1355824" y="3438079"/>
            <a:ext cx="4055269" cy="478780"/>
            <a:chOff x="0" y="0"/>
            <a:chExt cx="5407025" cy="638373"/>
          </a:xfrm>
        </p:grpSpPr>
        <p:sp>
          <p:nvSpPr>
            <p:cNvPr name="Freeform 16" id="16"/>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17" id="17"/>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SSR</a:t>
              </a:r>
            </a:p>
          </p:txBody>
        </p:sp>
      </p:grpSp>
      <p:grpSp>
        <p:nvGrpSpPr>
          <p:cNvPr name="Group 18" id="18"/>
          <p:cNvGrpSpPr/>
          <p:nvPr/>
        </p:nvGrpSpPr>
        <p:grpSpPr>
          <a:xfrm rot="0">
            <a:off x="6018907" y="3438079"/>
            <a:ext cx="4055269" cy="478780"/>
            <a:chOff x="0" y="0"/>
            <a:chExt cx="5407025" cy="638373"/>
          </a:xfrm>
        </p:grpSpPr>
        <p:sp>
          <p:nvSpPr>
            <p:cNvPr name="Freeform 19" id="19"/>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20" id="20"/>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Sum of Squares Regression</a:t>
              </a:r>
            </a:p>
          </p:txBody>
        </p:sp>
      </p:grpSp>
      <p:grpSp>
        <p:nvGrpSpPr>
          <p:cNvPr name="Group 21" id="21"/>
          <p:cNvGrpSpPr/>
          <p:nvPr/>
        </p:nvGrpSpPr>
        <p:grpSpPr>
          <a:xfrm rot="0">
            <a:off x="1056680" y="4105870"/>
            <a:ext cx="9316640" cy="856804"/>
            <a:chOff x="0" y="0"/>
            <a:chExt cx="12422187" cy="1142405"/>
          </a:xfrm>
        </p:grpSpPr>
        <p:sp>
          <p:nvSpPr>
            <p:cNvPr name="Freeform 22" id="22"/>
            <p:cNvSpPr/>
            <p:nvPr/>
          </p:nvSpPr>
          <p:spPr>
            <a:xfrm flipH="false" flipV="false" rot="0">
              <a:off x="0" y="0"/>
              <a:ext cx="12422124" cy="1142365"/>
            </a:xfrm>
            <a:custGeom>
              <a:avLst/>
              <a:gdLst/>
              <a:ahLst/>
              <a:cxnLst/>
              <a:rect r="r" b="b" t="t" l="l"/>
              <a:pathLst>
                <a:path h="1142365" w="12422124">
                  <a:moveTo>
                    <a:pt x="0" y="0"/>
                  </a:moveTo>
                  <a:lnTo>
                    <a:pt x="12422124" y="0"/>
                  </a:lnTo>
                  <a:lnTo>
                    <a:pt x="12422124" y="1142365"/>
                  </a:lnTo>
                  <a:lnTo>
                    <a:pt x="0" y="1142365"/>
                  </a:lnTo>
                  <a:close/>
                </a:path>
              </a:pathLst>
            </a:custGeom>
            <a:solidFill>
              <a:srgbClr val="000000">
                <a:alpha val="0"/>
              </a:srgbClr>
            </a:solidFill>
          </p:spPr>
        </p:sp>
      </p:grpSp>
      <p:grpSp>
        <p:nvGrpSpPr>
          <p:cNvPr name="Group 23" id="23"/>
          <p:cNvGrpSpPr/>
          <p:nvPr/>
        </p:nvGrpSpPr>
        <p:grpSpPr>
          <a:xfrm rot="0">
            <a:off x="1355824" y="4294882"/>
            <a:ext cx="4055269" cy="478780"/>
            <a:chOff x="0" y="0"/>
            <a:chExt cx="5407025" cy="638373"/>
          </a:xfrm>
        </p:grpSpPr>
        <p:sp>
          <p:nvSpPr>
            <p:cNvPr name="Freeform 24" id="24"/>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25" id="25"/>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SSE</a:t>
              </a:r>
            </a:p>
          </p:txBody>
        </p:sp>
      </p:grpSp>
      <p:grpSp>
        <p:nvGrpSpPr>
          <p:cNvPr name="Group 26" id="26"/>
          <p:cNvGrpSpPr/>
          <p:nvPr/>
        </p:nvGrpSpPr>
        <p:grpSpPr>
          <a:xfrm rot="0">
            <a:off x="6018907" y="4294882"/>
            <a:ext cx="4055269" cy="478780"/>
            <a:chOff x="0" y="0"/>
            <a:chExt cx="5407025" cy="638373"/>
          </a:xfrm>
        </p:grpSpPr>
        <p:sp>
          <p:nvSpPr>
            <p:cNvPr name="Freeform 27" id="27"/>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28" id="28"/>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Sum of Squares Error</a:t>
              </a:r>
            </a:p>
          </p:txBody>
        </p:sp>
      </p:grpSp>
      <p:grpSp>
        <p:nvGrpSpPr>
          <p:cNvPr name="Group 29" id="29"/>
          <p:cNvGrpSpPr/>
          <p:nvPr/>
        </p:nvGrpSpPr>
        <p:grpSpPr>
          <a:xfrm rot="0">
            <a:off x="1056680" y="4962674"/>
            <a:ext cx="9316640" cy="856804"/>
            <a:chOff x="0" y="0"/>
            <a:chExt cx="12422187" cy="1142405"/>
          </a:xfrm>
        </p:grpSpPr>
        <p:sp>
          <p:nvSpPr>
            <p:cNvPr name="Freeform 30" id="30"/>
            <p:cNvSpPr/>
            <p:nvPr/>
          </p:nvSpPr>
          <p:spPr>
            <a:xfrm flipH="false" flipV="false" rot="0">
              <a:off x="0" y="0"/>
              <a:ext cx="12422124" cy="1142365"/>
            </a:xfrm>
            <a:custGeom>
              <a:avLst/>
              <a:gdLst/>
              <a:ahLst/>
              <a:cxnLst/>
              <a:rect r="r" b="b" t="t" l="l"/>
              <a:pathLst>
                <a:path h="1142365" w="12422124">
                  <a:moveTo>
                    <a:pt x="0" y="0"/>
                  </a:moveTo>
                  <a:lnTo>
                    <a:pt x="12422124" y="0"/>
                  </a:lnTo>
                  <a:lnTo>
                    <a:pt x="12422124" y="1142365"/>
                  </a:lnTo>
                  <a:lnTo>
                    <a:pt x="0" y="1142365"/>
                  </a:lnTo>
                  <a:close/>
                </a:path>
              </a:pathLst>
            </a:custGeom>
            <a:solidFill>
              <a:srgbClr val="FFFFFF">
                <a:alpha val="0"/>
              </a:srgbClr>
            </a:solidFill>
          </p:spPr>
        </p:sp>
      </p:grpSp>
      <p:grpSp>
        <p:nvGrpSpPr>
          <p:cNvPr name="Group 31" id="31"/>
          <p:cNvGrpSpPr/>
          <p:nvPr/>
        </p:nvGrpSpPr>
        <p:grpSpPr>
          <a:xfrm rot="0">
            <a:off x="1355824" y="5151685"/>
            <a:ext cx="4055269" cy="478780"/>
            <a:chOff x="0" y="0"/>
            <a:chExt cx="5407025" cy="638373"/>
          </a:xfrm>
        </p:grpSpPr>
        <p:sp>
          <p:nvSpPr>
            <p:cNvPr name="Freeform 32" id="32"/>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33" id="33"/>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SST</a:t>
              </a:r>
            </a:p>
          </p:txBody>
        </p:sp>
      </p:grpSp>
      <p:grpSp>
        <p:nvGrpSpPr>
          <p:cNvPr name="Group 34" id="34"/>
          <p:cNvGrpSpPr/>
          <p:nvPr/>
        </p:nvGrpSpPr>
        <p:grpSpPr>
          <a:xfrm rot="0">
            <a:off x="6018907" y="5151685"/>
            <a:ext cx="4055269" cy="478780"/>
            <a:chOff x="0" y="0"/>
            <a:chExt cx="5407025" cy="638373"/>
          </a:xfrm>
        </p:grpSpPr>
        <p:sp>
          <p:nvSpPr>
            <p:cNvPr name="Freeform 35" id="35"/>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36" id="36"/>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Total Sum of Squares</a:t>
              </a:r>
            </a:p>
          </p:txBody>
        </p:sp>
      </p:grpSp>
      <p:grpSp>
        <p:nvGrpSpPr>
          <p:cNvPr name="Group 37" id="37"/>
          <p:cNvGrpSpPr/>
          <p:nvPr/>
        </p:nvGrpSpPr>
        <p:grpSpPr>
          <a:xfrm rot="0">
            <a:off x="1056680" y="5819477"/>
            <a:ext cx="9316640" cy="856804"/>
            <a:chOff x="0" y="0"/>
            <a:chExt cx="12422187" cy="1142405"/>
          </a:xfrm>
        </p:grpSpPr>
        <p:sp>
          <p:nvSpPr>
            <p:cNvPr name="Freeform 38" id="38"/>
            <p:cNvSpPr/>
            <p:nvPr/>
          </p:nvSpPr>
          <p:spPr>
            <a:xfrm flipH="false" flipV="false" rot="0">
              <a:off x="0" y="0"/>
              <a:ext cx="12422124" cy="1142365"/>
            </a:xfrm>
            <a:custGeom>
              <a:avLst/>
              <a:gdLst/>
              <a:ahLst/>
              <a:cxnLst/>
              <a:rect r="r" b="b" t="t" l="l"/>
              <a:pathLst>
                <a:path h="1142365" w="12422124">
                  <a:moveTo>
                    <a:pt x="0" y="0"/>
                  </a:moveTo>
                  <a:lnTo>
                    <a:pt x="12422124" y="0"/>
                  </a:lnTo>
                  <a:lnTo>
                    <a:pt x="12422124" y="1142365"/>
                  </a:lnTo>
                  <a:lnTo>
                    <a:pt x="0" y="1142365"/>
                  </a:lnTo>
                  <a:close/>
                </a:path>
              </a:pathLst>
            </a:custGeom>
            <a:solidFill>
              <a:srgbClr val="000000">
                <a:alpha val="0"/>
              </a:srgbClr>
            </a:solidFill>
          </p:spPr>
        </p:sp>
      </p:grpSp>
      <p:grpSp>
        <p:nvGrpSpPr>
          <p:cNvPr name="Group 39" id="39"/>
          <p:cNvGrpSpPr/>
          <p:nvPr/>
        </p:nvGrpSpPr>
        <p:grpSpPr>
          <a:xfrm rot="0">
            <a:off x="1355824" y="6008489"/>
            <a:ext cx="4055269" cy="478780"/>
            <a:chOff x="0" y="0"/>
            <a:chExt cx="5407025" cy="638373"/>
          </a:xfrm>
        </p:grpSpPr>
        <p:sp>
          <p:nvSpPr>
            <p:cNvPr name="Freeform 40" id="40"/>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41" id="41"/>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df</a:t>
              </a:r>
            </a:p>
          </p:txBody>
        </p:sp>
      </p:grpSp>
      <p:grpSp>
        <p:nvGrpSpPr>
          <p:cNvPr name="Group 42" id="42"/>
          <p:cNvGrpSpPr/>
          <p:nvPr/>
        </p:nvGrpSpPr>
        <p:grpSpPr>
          <a:xfrm rot="0">
            <a:off x="6018907" y="6008489"/>
            <a:ext cx="4055269" cy="478780"/>
            <a:chOff x="0" y="0"/>
            <a:chExt cx="5407025" cy="638373"/>
          </a:xfrm>
        </p:grpSpPr>
        <p:sp>
          <p:nvSpPr>
            <p:cNvPr name="Freeform 43" id="43"/>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44" id="44"/>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Degrees of Freedom</a:t>
              </a:r>
            </a:p>
          </p:txBody>
        </p:sp>
      </p:grpSp>
      <p:grpSp>
        <p:nvGrpSpPr>
          <p:cNvPr name="Group 45" id="45"/>
          <p:cNvGrpSpPr/>
          <p:nvPr/>
        </p:nvGrpSpPr>
        <p:grpSpPr>
          <a:xfrm rot="0">
            <a:off x="1056680" y="6676281"/>
            <a:ext cx="9316640" cy="856804"/>
            <a:chOff x="0" y="0"/>
            <a:chExt cx="12422187" cy="1142405"/>
          </a:xfrm>
        </p:grpSpPr>
        <p:sp>
          <p:nvSpPr>
            <p:cNvPr name="Freeform 46" id="46"/>
            <p:cNvSpPr/>
            <p:nvPr/>
          </p:nvSpPr>
          <p:spPr>
            <a:xfrm flipH="false" flipV="false" rot="0">
              <a:off x="0" y="0"/>
              <a:ext cx="12422124" cy="1142365"/>
            </a:xfrm>
            <a:custGeom>
              <a:avLst/>
              <a:gdLst/>
              <a:ahLst/>
              <a:cxnLst/>
              <a:rect r="r" b="b" t="t" l="l"/>
              <a:pathLst>
                <a:path h="1142365" w="12422124">
                  <a:moveTo>
                    <a:pt x="0" y="0"/>
                  </a:moveTo>
                  <a:lnTo>
                    <a:pt x="12422124" y="0"/>
                  </a:lnTo>
                  <a:lnTo>
                    <a:pt x="12422124" y="1142365"/>
                  </a:lnTo>
                  <a:lnTo>
                    <a:pt x="0" y="1142365"/>
                  </a:lnTo>
                  <a:close/>
                </a:path>
              </a:pathLst>
            </a:custGeom>
            <a:solidFill>
              <a:srgbClr val="FFFFFF">
                <a:alpha val="0"/>
              </a:srgbClr>
            </a:solidFill>
          </p:spPr>
        </p:sp>
      </p:grpSp>
      <p:grpSp>
        <p:nvGrpSpPr>
          <p:cNvPr name="Group 47" id="47"/>
          <p:cNvGrpSpPr/>
          <p:nvPr/>
        </p:nvGrpSpPr>
        <p:grpSpPr>
          <a:xfrm rot="0">
            <a:off x="1355824" y="6865292"/>
            <a:ext cx="4055269" cy="478780"/>
            <a:chOff x="0" y="0"/>
            <a:chExt cx="5407025" cy="638373"/>
          </a:xfrm>
        </p:grpSpPr>
        <p:sp>
          <p:nvSpPr>
            <p:cNvPr name="Freeform 48" id="48"/>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49" id="49"/>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MSR</a:t>
              </a:r>
            </a:p>
          </p:txBody>
        </p:sp>
      </p:grpSp>
      <p:grpSp>
        <p:nvGrpSpPr>
          <p:cNvPr name="Group 50" id="50"/>
          <p:cNvGrpSpPr/>
          <p:nvPr/>
        </p:nvGrpSpPr>
        <p:grpSpPr>
          <a:xfrm rot="0">
            <a:off x="6018907" y="6865292"/>
            <a:ext cx="4055269" cy="478780"/>
            <a:chOff x="0" y="0"/>
            <a:chExt cx="5407025" cy="638373"/>
          </a:xfrm>
        </p:grpSpPr>
        <p:sp>
          <p:nvSpPr>
            <p:cNvPr name="Freeform 51" id="51"/>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52" id="52"/>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Mean Square Regression</a:t>
              </a:r>
            </a:p>
          </p:txBody>
        </p:sp>
      </p:grpSp>
      <p:grpSp>
        <p:nvGrpSpPr>
          <p:cNvPr name="Group 53" id="53"/>
          <p:cNvGrpSpPr/>
          <p:nvPr/>
        </p:nvGrpSpPr>
        <p:grpSpPr>
          <a:xfrm rot="0">
            <a:off x="1056680" y="7533085"/>
            <a:ext cx="9316640" cy="856804"/>
            <a:chOff x="0" y="0"/>
            <a:chExt cx="12422187" cy="1142405"/>
          </a:xfrm>
        </p:grpSpPr>
        <p:sp>
          <p:nvSpPr>
            <p:cNvPr name="Freeform 54" id="54"/>
            <p:cNvSpPr/>
            <p:nvPr/>
          </p:nvSpPr>
          <p:spPr>
            <a:xfrm flipH="false" flipV="false" rot="0">
              <a:off x="0" y="0"/>
              <a:ext cx="12422124" cy="1142365"/>
            </a:xfrm>
            <a:custGeom>
              <a:avLst/>
              <a:gdLst/>
              <a:ahLst/>
              <a:cxnLst/>
              <a:rect r="r" b="b" t="t" l="l"/>
              <a:pathLst>
                <a:path h="1142365" w="12422124">
                  <a:moveTo>
                    <a:pt x="0" y="0"/>
                  </a:moveTo>
                  <a:lnTo>
                    <a:pt x="12422124" y="0"/>
                  </a:lnTo>
                  <a:lnTo>
                    <a:pt x="12422124" y="1142365"/>
                  </a:lnTo>
                  <a:lnTo>
                    <a:pt x="0" y="1142365"/>
                  </a:lnTo>
                  <a:close/>
                </a:path>
              </a:pathLst>
            </a:custGeom>
            <a:solidFill>
              <a:srgbClr val="000000">
                <a:alpha val="0"/>
              </a:srgbClr>
            </a:solidFill>
          </p:spPr>
        </p:sp>
      </p:grpSp>
      <p:grpSp>
        <p:nvGrpSpPr>
          <p:cNvPr name="Group 55" id="55"/>
          <p:cNvGrpSpPr/>
          <p:nvPr/>
        </p:nvGrpSpPr>
        <p:grpSpPr>
          <a:xfrm rot="0">
            <a:off x="1355824" y="7722096"/>
            <a:ext cx="4055269" cy="478780"/>
            <a:chOff x="0" y="0"/>
            <a:chExt cx="5407025" cy="638373"/>
          </a:xfrm>
        </p:grpSpPr>
        <p:sp>
          <p:nvSpPr>
            <p:cNvPr name="Freeform 56" id="56"/>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57" id="57"/>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MSE</a:t>
              </a:r>
            </a:p>
          </p:txBody>
        </p:sp>
      </p:grpSp>
      <p:grpSp>
        <p:nvGrpSpPr>
          <p:cNvPr name="Group 58" id="58"/>
          <p:cNvGrpSpPr/>
          <p:nvPr/>
        </p:nvGrpSpPr>
        <p:grpSpPr>
          <a:xfrm rot="0">
            <a:off x="6018907" y="7722096"/>
            <a:ext cx="4055269" cy="478780"/>
            <a:chOff x="0" y="0"/>
            <a:chExt cx="5407025" cy="638373"/>
          </a:xfrm>
        </p:grpSpPr>
        <p:sp>
          <p:nvSpPr>
            <p:cNvPr name="Freeform 59" id="59"/>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60" id="60"/>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Mean Square Error</a:t>
              </a:r>
            </a:p>
          </p:txBody>
        </p:sp>
      </p:grpSp>
      <p:grpSp>
        <p:nvGrpSpPr>
          <p:cNvPr name="Group 61" id="61"/>
          <p:cNvGrpSpPr/>
          <p:nvPr/>
        </p:nvGrpSpPr>
        <p:grpSpPr>
          <a:xfrm rot="0">
            <a:off x="1056680" y="8389887"/>
            <a:ext cx="9316640" cy="856804"/>
            <a:chOff x="0" y="0"/>
            <a:chExt cx="12422187" cy="1142405"/>
          </a:xfrm>
        </p:grpSpPr>
        <p:sp>
          <p:nvSpPr>
            <p:cNvPr name="Freeform 62" id="62"/>
            <p:cNvSpPr/>
            <p:nvPr/>
          </p:nvSpPr>
          <p:spPr>
            <a:xfrm flipH="false" flipV="false" rot="0">
              <a:off x="0" y="0"/>
              <a:ext cx="12422124" cy="1142365"/>
            </a:xfrm>
            <a:custGeom>
              <a:avLst/>
              <a:gdLst/>
              <a:ahLst/>
              <a:cxnLst/>
              <a:rect r="r" b="b" t="t" l="l"/>
              <a:pathLst>
                <a:path h="1142365" w="12422124">
                  <a:moveTo>
                    <a:pt x="0" y="0"/>
                  </a:moveTo>
                  <a:lnTo>
                    <a:pt x="12422124" y="0"/>
                  </a:lnTo>
                  <a:lnTo>
                    <a:pt x="12422124" y="1142365"/>
                  </a:lnTo>
                  <a:lnTo>
                    <a:pt x="0" y="1142365"/>
                  </a:lnTo>
                  <a:close/>
                </a:path>
              </a:pathLst>
            </a:custGeom>
            <a:solidFill>
              <a:srgbClr val="FFFFFF">
                <a:alpha val="0"/>
              </a:srgbClr>
            </a:solidFill>
          </p:spPr>
        </p:sp>
      </p:grpSp>
      <p:grpSp>
        <p:nvGrpSpPr>
          <p:cNvPr name="Group 63" id="63"/>
          <p:cNvGrpSpPr/>
          <p:nvPr/>
        </p:nvGrpSpPr>
        <p:grpSpPr>
          <a:xfrm rot="0">
            <a:off x="1355824" y="8578900"/>
            <a:ext cx="4055269" cy="478780"/>
            <a:chOff x="0" y="0"/>
            <a:chExt cx="5407025" cy="638373"/>
          </a:xfrm>
        </p:grpSpPr>
        <p:sp>
          <p:nvSpPr>
            <p:cNvPr name="Freeform 64" id="64"/>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65" id="65"/>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F-statistic</a:t>
              </a:r>
            </a:p>
          </p:txBody>
        </p:sp>
      </p:grpSp>
      <p:grpSp>
        <p:nvGrpSpPr>
          <p:cNvPr name="Group 66" id="66"/>
          <p:cNvGrpSpPr/>
          <p:nvPr/>
        </p:nvGrpSpPr>
        <p:grpSpPr>
          <a:xfrm rot="0">
            <a:off x="6018907" y="8578900"/>
            <a:ext cx="4055269" cy="478780"/>
            <a:chOff x="0" y="0"/>
            <a:chExt cx="5407025" cy="638373"/>
          </a:xfrm>
        </p:grpSpPr>
        <p:sp>
          <p:nvSpPr>
            <p:cNvPr name="Freeform 67" id="67"/>
            <p:cNvSpPr/>
            <p:nvPr/>
          </p:nvSpPr>
          <p:spPr>
            <a:xfrm flipH="false" flipV="false" rot="0">
              <a:off x="0" y="0"/>
              <a:ext cx="5407025" cy="638373"/>
            </a:xfrm>
            <a:custGeom>
              <a:avLst/>
              <a:gdLst/>
              <a:ahLst/>
              <a:cxnLst/>
              <a:rect r="r" b="b" t="t" l="l"/>
              <a:pathLst>
                <a:path h="638373" w="5407025">
                  <a:moveTo>
                    <a:pt x="0" y="0"/>
                  </a:moveTo>
                  <a:lnTo>
                    <a:pt x="5407025" y="0"/>
                  </a:lnTo>
                  <a:lnTo>
                    <a:pt x="5407025" y="638373"/>
                  </a:lnTo>
                  <a:lnTo>
                    <a:pt x="0" y="638373"/>
                  </a:lnTo>
                  <a:close/>
                </a:path>
              </a:pathLst>
            </a:custGeom>
            <a:solidFill>
              <a:srgbClr val="000000">
                <a:alpha val="0"/>
              </a:srgbClr>
            </a:solidFill>
          </p:spPr>
        </p:sp>
        <p:sp>
          <p:nvSpPr>
            <p:cNvPr name="TextBox 68" id="68"/>
            <p:cNvSpPr txBox="true"/>
            <p:nvPr/>
          </p:nvSpPr>
          <p:spPr>
            <a:xfrm>
              <a:off x="0" y="-95250"/>
              <a:ext cx="5407025" cy="733623"/>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Đánh giá tổng thể mô hình</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sp>
        <p:nvSpPr>
          <p:cNvPr name="Freeform 7" id="7"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5"/>
            <a:stretch>
              <a:fillRect l="0" t="0" r="0" b="0"/>
            </a:stretch>
          </a:blipFill>
        </p:spPr>
      </p:sp>
      <p:grpSp>
        <p:nvGrpSpPr>
          <p:cNvPr name="Group 8" id="8"/>
          <p:cNvGrpSpPr/>
          <p:nvPr/>
        </p:nvGrpSpPr>
        <p:grpSpPr>
          <a:xfrm rot="0">
            <a:off x="7905155" y="1216224"/>
            <a:ext cx="7605392" cy="1096582"/>
            <a:chOff x="0" y="0"/>
            <a:chExt cx="10140522" cy="1462109"/>
          </a:xfrm>
        </p:grpSpPr>
        <p:sp>
          <p:nvSpPr>
            <p:cNvPr name="Freeform 9" id="9"/>
            <p:cNvSpPr/>
            <p:nvPr/>
          </p:nvSpPr>
          <p:spPr>
            <a:xfrm flipH="false" flipV="false" rot="0">
              <a:off x="0" y="0"/>
              <a:ext cx="10140522" cy="1462109"/>
            </a:xfrm>
            <a:custGeom>
              <a:avLst/>
              <a:gdLst/>
              <a:ahLst/>
              <a:cxnLst/>
              <a:rect r="r" b="b" t="t" l="l"/>
              <a:pathLst>
                <a:path h="1462109" w="10140522">
                  <a:moveTo>
                    <a:pt x="0" y="0"/>
                  </a:moveTo>
                  <a:lnTo>
                    <a:pt x="10140522" y="0"/>
                  </a:lnTo>
                  <a:lnTo>
                    <a:pt x="10140522" y="1462109"/>
                  </a:lnTo>
                  <a:lnTo>
                    <a:pt x="0" y="1462109"/>
                  </a:lnTo>
                  <a:close/>
                </a:path>
              </a:pathLst>
            </a:custGeom>
            <a:solidFill>
              <a:srgbClr val="000000">
                <a:alpha val="0"/>
              </a:srgbClr>
            </a:solidFill>
          </p:spPr>
        </p:sp>
        <p:sp>
          <p:nvSpPr>
            <p:cNvPr name="TextBox 10" id="10"/>
            <p:cNvSpPr txBox="true"/>
            <p:nvPr/>
          </p:nvSpPr>
          <p:spPr>
            <a:xfrm>
              <a:off x="0" y="-28575"/>
              <a:ext cx="10140522" cy="1490684"/>
            </a:xfrm>
            <a:prstGeom prst="rect">
              <a:avLst/>
            </a:prstGeom>
          </p:spPr>
          <p:txBody>
            <a:bodyPr anchor="t" rtlCol="false" tIns="0" lIns="0" bIns="0" rIns="0"/>
            <a:lstStyle/>
            <a:p>
              <a:pPr algn="l">
                <a:lnSpc>
                  <a:spcPts val="6875"/>
                </a:lnSpc>
              </a:pPr>
              <a:r>
                <a:rPr lang="en-US" sz="5500" b="true">
                  <a:solidFill>
                    <a:srgbClr val="FFD9BE"/>
                  </a:solidFill>
                  <a:latin typeface="Montserrat Bold"/>
                  <a:ea typeface="Montserrat Bold"/>
                  <a:cs typeface="Montserrat Bold"/>
                  <a:sym typeface="Montserrat Bold"/>
                </a:rPr>
                <a:t>Vấn đề thường gặp</a:t>
              </a:r>
            </a:p>
          </p:txBody>
        </p:sp>
      </p:grpSp>
      <p:sp>
        <p:nvSpPr>
          <p:cNvPr name="Freeform 11" id="11" descr="preencoded.png"/>
          <p:cNvSpPr/>
          <p:nvPr/>
        </p:nvSpPr>
        <p:spPr>
          <a:xfrm flipH="false" flipV="false" rot="0">
            <a:off x="7905155" y="2544961"/>
            <a:ext cx="1496020" cy="2175272"/>
          </a:xfrm>
          <a:custGeom>
            <a:avLst/>
            <a:gdLst/>
            <a:ahLst/>
            <a:cxnLst/>
            <a:rect r="r" b="b" t="t" l="l"/>
            <a:pathLst>
              <a:path h="2175272" w="1496020">
                <a:moveTo>
                  <a:pt x="0" y="0"/>
                </a:moveTo>
                <a:lnTo>
                  <a:pt x="1496020" y="0"/>
                </a:lnTo>
                <a:lnTo>
                  <a:pt x="1496020" y="2175273"/>
                </a:lnTo>
                <a:lnTo>
                  <a:pt x="0" y="2175273"/>
                </a:lnTo>
                <a:lnTo>
                  <a:pt x="0" y="0"/>
                </a:lnTo>
                <a:close/>
              </a:path>
            </a:pathLst>
          </a:custGeom>
          <a:blipFill>
            <a:blip r:embed="rId6"/>
            <a:stretch>
              <a:fillRect l="-62" t="0" r="-62" b="0"/>
            </a:stretch>
          </a:blipFill>
        </p:spPr>
      </p:sp>
      <p:grpSp>
        <p:nvGrpSpPr>
          <p:cNvPr name="Group 12" id="12"/>
          <p:cNvGrpSpPr/>
          <p:nvPr/>
        </p:nvGrpSpPr>
        <p:grpSpPr>
          <a:xfrm rot="0">
            <a:off x="9849891" y="2844105"/>
            <a:ext cx="3520231" cy="543528"/>
            <a:chOff x="0" y="0"/>
            <a:chExt cx="4693642" cy="724704"/>
          </a:xfrm>
        </p:grpSpPr>
        <p:sp>
          <p:nvSpPr>
            <p:cNvPr name="Freeform 13" id="13"/>
            <p:cNvSpPr/>
            <p:nvPr/>
          </p:nvSpPr>
          <p:spPr>
            <a:xfrm flipH="false" flipV="false" rot="0">
              <a:off x="0" y="0"/>
              <a:ext cx="4693642" cy="724704"/>
            </a:xfrm>
            <a:custGeom>
              <a:avLst/>
              <a:gdLst/>
              <a:ahLst/>
              <a:cxnLst/>
              <a:rect r="r" b="b" t="t" l="l"/>
              <a:pathLst>
                <a:path h="724704" w="4693642">
                  <a:moveTo>
                    <a:pt x="0" y="0"/>
                  </a:moveTo>
                  <a:lnTo>
                    <a:pt x="4693642" y="0"/>
                  </a:lnTo>
                  <a:lnTo>
                    <a:pt x="4693642" y="724704"/>
                  </a:lnTo>
                  <a:lnTo>
                    <a:pt x="0" y="724704"/>
                  </a:lnTo>
                  <a:close/>
                </a:path>
              </a:pathLst>
            </a:custGeom>
            <a:solidFill>
              <a:srgbClr val="000000">
                <a:alpha val="0"/>
              </a:srgbClr>
            </a:solidFill>
          </p:spPr>
        </p:sp>
        <p:sp>
          <p:nvSpPr>
            <p:cNvPr name="TextBox 14" id="14"/>
            <p:cNvSpPr txBox="true"/>
            <p:nvPr/>
          </p:nvSpPr>
          <p:spPr>
            <a:xfrm>
              <a:off x="0" y="-19050"/>
              <a:ext cx="4693642" cy="743754"/>
            </a:xfrm>
            <a:prstGeom prst="rect">
              <a:avLst/>
            </a:prstGeom>
          </p:spPr>
          <p:txBody>
            <a:bodyPr anchor="t" rtlCol="false" tIns="0" lIns="0" bIns="0" rIns="0"/>
            <a:lstStyle/>
            <a:p>
              <a:pPr algn="l">
                <a:lnSpc>
                  <a:spcPts val="3437"/>
                </a:lnSpc>
              </a:pPr>
              <a:r>
                <a:rPr lang="en-US" sz="2750">
                  <a:solidFill>
                    <a:srgbClr val="F9EEE7"/>
                  </a:solidFill>
                  <a:latin typeface="Montserrat"/>
                  <a:ea typeface="Montserrat"/>
                  <a:cs typeface="Montserrat"/>
                  <a:sym typeface="Montserrat"/>
                </a:rPr>
                <a:t>Đa cộng tuyến</a:t>
              </a:r>
            </a:p>
          </p:txBody>
        </p:sp>
      </p:grpSp>
      <p:grpSp>
        <p:nvGrpSpPr>
          <p:cNvPr name="Group 15" id="15"/>
          <p:cNvGrpSpPr/>
          <p:nvPr/>
        </p:nvGrpSpPr>
        <p:grpSpPr>
          <a:xfrm rot="0">
            <a:off x="9849891" y="3463529"/>
            <a:ext cx="7390954" cy="957560"/>
            <a:chOff x="0" y="0"/>
            <a:chExt cx="9854605" cy="1276747"/>
          </a:xfrm>
        </p:grpSpPr>
        <p:sp>
          <p:nvSpPr>
            <p:cNvPr name="Freeform 16" id="16"/>
            <p:cNvSpPr/>
            <p:nvPr/>
          </p:nvSpPr>
          <p:spPr>
            <a:xfrm flipH="false" flipV="false" rot="0">
              <a:off x="0" y="0"/>
              <a:ext cx="9854605" cy="1276747"/>
            </a:xfrm>
            <a:custGeom>
              <a:avLst/>
              <a:gdLst/>
              <a:ahLst/>
              <a:cxnLst/>
              <a:rect r="r" b="b" t="t" l="l"/>
              <a:pathLst>
                <a:path h="1276747" w="9854605">
                  <a:moveTo>
                    <a:pt x="0" y="0"/>
                  </a:moveTo>
                  <a:lnTo>
                    <a:pt x="9854605" y="0"/>
                  </a:lnTo>
                  <a:lnTo>
                    <a:pt x="9854605" y="1276747"/>
                  </a:lnTo>
                  <a:lnTo>
                    <a:pt x="0" y="1276747"/>
                  </a:lnTo>
                  <a:close/>
                </a:path>
              </a:pathLst>
            </a:custGeom>
            <a:solidFill>
              <a:srgbClr val="000000">
                <a:alpha val="0"/>
              </a:srgbClr>
            </a:solidFill>
          </p:spPr>
        </p:sp>
        <p:sp>
          <p:nvSpPr>
            <p:cNvPr name="TextBox 17" id="17"/>
            <p:cNvSpPr txBox="true"/>
            <p:nvPr/>
          </p:nvSpPr>
          <p:spPr>
            <a:xfrm>
              <a:off x="0" y="-95250"/>
              <a:ext cx="9854605" cy="1371997"/>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Ảnh hưởng bởi sự tương quan giữa các biến độc lập. Kiểm tra bằng VIF.</a:t>
              </a:r>
            </a:p>
          </p:txBody>
        </p:sp>
      </p:grpSp>
      <p:sp>
        <p:nvSpPr>
          <p:cNvPr name="Freeform 18" id="18" descr="preencoded.png"/>
          <p:cNvSpPr/>
          <p:nvPr/>
        </p:nvSpPr>
        <p:spPr>
          <a:xfrm flipH="false" flipV="false" rot="0">
            <a:off x="7905155" y="4720232"/>
            <a:ext cx="1496020" cy="2175272"/>
          </a:xfrm>
          <a:custGeom>
            <a:avLst/>
            <a:gdLst/>
            <a:ahLst/>
            <a:cxnLst/>
            <a:rect r="r" b="b" t="t" l="l"/>
            <a:pathLst>
              <a:path h="2175272" w="1496020">
                <a:moveTo>
                  <a:pt x="0" y="0"/>
                </a:moveTo>
                <a:lnTo>
                  <a:pt x="1496020" y="0"/>
                </a:lnTo>
                <a:lnTo>
                  <a:pt x="1496020" y="2175273"/>
                </a:lnTo>
                <a:lnTo>
                  <a:pt x="0" y="2175273"/>
                </a:lnTo>
                <a:lnTo>
                  <a:pt x="0" y="0"/>
                </a:lnTo>
                <a:close/>
              </a:path>
            </a:pathLst>
          </a:custGeom>
          <a:blipFill>
            <a:blip r:embed="rId7"/>
            <a:stretch>
              <a:fillRect l="-62" t="0" r="-62" b="0"/>
            </a:stretch>
          </a:blipFill>
        </p:spPr>
      </p:sp>
      <p:grpSp>
        <p:nvGrpSpPr>
          <p:cNvPr name="Group 19" id="19"/>
          <p:cNvGrpSpPr/>
          <p:nvPr/>
        </p:nvGrpSpPr>
        <p:grpSpPr>
          <a:xfrm rot="0">
            <a:off x="9849891" y="5019377"/>
            <a:ext cx="3520231" cy="543528"/>
            <a:chOff x="0" y="0"/>
            <a:chExt cx="4693642" cy="724704"/>
          </a:xfrm>
        </p:grpSpPr>
        <p:sp>
          <p:nvSpPr>
            <p:cNvPr name="Freeform 20" id="20"/>
            <p:cNvSpPr/>
            <p:nvPr/>
          </p:nvSpPr>
          <p:spPr>
            <a:xfrm flipH="false" flipV="false" rot="0">
              <a:off x="0" y="0"/>
              <a:ext cx="4693642" cy="724704"/>
            </a:xfrm>
            <a:custGeom>
              <a:avLst/>
              <a:gdLst/>
              <a:ahLst/>
              <a:cxnLst/>
              <a:rect r="r" b="b" t="t" l="l"/>
              <a:pathLst>
                <a:path h="724704" w="4693642">
                  <a:moveTo>
                    <a:pt x="0" y="0"/>
                  </a:moveTo>
                  <a:lnTo>
                    <a:pt x="4693642" y="0"/>
                  </a:lnTo>
                  <a:lnTo>
                    <a:pt x="4693642" y="724704"/>
                  </a:lnTo>
                  <a:lnTo>
                    <a:pt x="0" y="724704"/>
                  </a:lnTo>
                  <a:close/>
                </a:path>
              </a:pathLst>
            </a:custGeom>
            <a:solidFill>
              <a:srgbClr val="000000">
                <a:alpha val="0"/>
              </a:srgbClr>
            </a:solidFill>
          </p:spPr>
        </p:sp>
        <p:sp>
          <p:nvSpPr>
            <p:cNvPr name="TextBox 21" id="21"/>
            <p:cNvSpPr txBox="true"/>
            <p:nvPr/>
          </p:nvSpPr>
          <p:spPr>
            <a:xfrm>
              <a:off x="0" y="-19050"/>
              <a:ext cx="4693642" cy="743754"/>
            </a:xfrm>
            <a:prstGeom prst="rect">
              <a:avLst/>
            </a:prstGeom>
          </p:spPr>
          <p:txBody>
            <a:bodyPr anchor="t" rtlCol="false" tIns="0" lIns="0" bIns="0" rIns="0"/>
            <a:lstStyle/>
            <a:p>
              <a:pPr algn="l">
                <a:lnSpc>
                  <a:spcPts val="3437"/>
                </a:lnSpc>
              </a:pPr>
              <a:r>
                <a:rPr lang="en-US" sz="2750">
                  <a:solidFill>
                    <a:srgbClr val="F9EEE7"/>
                  </a:solidFill>
                  <a:latin typeface="Montserrat"/>
                  <a:ea typeface="Montserrat"/>
                  <a:cs typeface="Montserrat"/>
                  <a:sym typeface="Montserrat"/>
                </a:rPr>
                <a:t>Dị phương sai</a:t>
              </a:r>
            </a:p>
          </p:txBody>
        </p:sp>
      </p:grpSp>
      <p:grpSp>
        <p:nvGrpSpPr>
          <p:cNvPr name="Group 22" id="22"/>
          <p:cNvGrpSpPr/>
          <p:nvPr/>
        </p:nvGrpSpPr>
        <p:grpSpPr>
          <a:xfrm rot="0">
            <a:off x="9849891" y="5638800"/>
            <a:ext cx="7390954" cy="957560"/>
            <a:chOff x="0" y="0"/>
            <a:chExt cx="9854605" cy="1276747"/>
          </a:xfrm>
        </p:grpSpPr>
        <p:sp>
          <p:nvSpPr>
            <p:cNvPr name="Freeform 23" id="23"/>
            <p:cNvSpPr/>
            <p:nvPr/>
          </p:nvSpPr>
          <p:spPr>
            <a:xfrm flipH="false" flipV="false" rot="0">
              <a:off x="0" y="0"/>
              <a:ext cx="9854605" cy="1276747"/>
            </a:xfrm>
            <a:custGeom>
              <a:avLst/>
              <a:gdLst/>
              <a:ahLst/>
              <a:cxnLst/>
              <a:rect r="r" b="b" t="t" l="l"/>
              <a:pathLst>
                <a:path h="1276747" w="9854605">
                  <a:moveTo>
                    <a:pt x="0" y="0"/>
                  </a:moveTo>
                  <a:lnTo>
                    <a:pt x="9854605" y="0"/>
                  </a:lnTo>
                  <a:lnTo>
                    <a:pt x="9854605" y="1276747"/>
                  </a:lnTo>
                  <a:lnTo>
                    <a:pt x="0" y="1276747"/>
                  </a:lnTo>
                  <a:close/>
                </a:path>
              </a:pathLst>
            </a:custGeom>
            <a:solidFill>
              <a:srgbClr val="000000">
                <a:alpha val="0"/>
              </a:srgbClr>
            </a:solidFill>
          </p:spPr>
        </p:sp>
        <p:sp>
          <p:nvSpPr>
            <p:cNvPr name="TextBox 24" id="24"/>
            <p:cNvSpPr txBox="true"/>
            <p:nvPr/>
          </p:nvSpPr>
          <p:spPr>
            <a:xfrm>
              <a:off x="0" y="-95250"/>
              <a:ext cx="9854605" cy="1371997"/>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Xảy ra khi phương sai sai số không đồng nhất. Kiểm tra residual plot và log transform.</a:t>
              </a:r>
            </a:p>
          </p:txBody>
        </p:sp>
      </p:grpSp>
      <p:sp>
        <p:nvSpPr>
          <p:cNvPr name="Freeform 25" id="25" descr="preencoded.png"/>
          <p:cNvSpPr/>
          <p:nvPr/>
        </p:nvSpPr>
        <p:spPr>
          <a:xfrm flipH="false" flipV="false" rot="0">
            <a:off x="7905155" y="6895505"/>
            <a:ext cx="1496020" cy="2175272"/>
          </a:xfrm>
          <a:custGeom>
            <a:avLst/>
            <a:gdLst/>
            <a:ahLst/>
            <a:cxnLst/>
            <a:rect r="r" b="b" t="t" l="l"/>
            <a:pathLst>
              <a:path h="2175272" w="1496020">
                <a:moveTo>
                  <a:pt x="0" y="0"/>
                </a:moveTo>
                <a:lnTo>
                  <a:pt x="1496020" y="0"/>
                </a:lnTo>
                <a:lnTo>
                  <a:pt x="1496020" y="2175273"/>
                </a:lnTo>
                <a:lnTo>
                  <a:pt x="0" y="2175273"/>
                </a:lnTo>
                <a:lnTo>
                  <a:pt x="0" y="0"/>
                </a:lnTo>
                <a:close/>
              </a:path>
            </a:pathLst>
          </a:custGeom>
          <a:blipFill>
            <a:blip r:embed="rId8"/>
            <a:stretch>
              <a:fillRect l="-62" t="0" r="-62" b="0"/>
            </a:stretch>
          </a:blipFill>
        </p:spPr>
      </p:sp>
      <p:grpSp>
        <p:nvGrpSpPr>
          <p:cNvPr name="Group 26" id="26"/>
          <p:cNvGrpSpPr/>
          <p:nvPr/>
        </p:nvGrpSpPr>
        <p:grpSpPr>
          <a:xfrm rot="0">
            <a:off x="9849891" y="7194649"/>
            <a:ext cx="3520231" cy="543528"/>
            <a:chOff x="0" y="0"/>
            <a:chExt cx="4693642" cy="724704"/>
          </a:xfrm>
        </p:grpSpPr>
        <p:sp>
          <p:nvSpPr>
            <p:cNvPr name="Freeform 27" id="27"/>
            <p:cNvSpPr/>
            <p:nvPr/>
          </p:nvSpPr>
          <p:spPr>
            <a:xfrm flipH="false" flipV="false" rot="0">
              <a:off x="0" y="0"/>
              <a:ext cx="4693642" cy="724704"/>
            </a:xfrm>
            <a:custGeom>
              <a:avLst/>
              <a:gdLst/>
              <a:ahLst/>
              <a:cxnLst/>
              <a:rect r="r" b="b" t="t" l="l"/>
              <a:pathLst>
                <a:path h="724704" w="4693642">
                  <a:moveTo>
                    <a:pt x="0" y="0"/>
                  </a:moveTo>
                  <a:lnTo>
                    <a:pt x="4693642" y="0"/>
                  </a:lnTo>
                  <a:lnTo>
                    <a:pt x="4693642" y="724704"/>
                  </a:lnTo>
                  <a:lnTo>
                    <a:pt x="0" y="724704"/>
                  </a:lnTo>
                  <a:close/>
                </a:path>
              </a:pathLst>
            </a:custGeom>
            <a:solidFill>
              <a:srgbClr val="000000">
                <a:alpha val="0"/>
              </a:srgbClr>
            </a:solidFill>
          </p:spPr>
        </p:sp>
        <p:sp>
          <p:nvSpPr>
            <p:cNvPr name="TextBox 28" id="28"/>
            <p:cNvSpPr txBox="true"/>
            <p:nvPr/>
          </p:nvSpPr>
          <p:spPr>
            <a:xfrm>
              <a:off x="0" y="-19050"/>
              <a:ext cx="4693642" cy="743754"/>
            </a:xfrm>
            <a:prstGeom prst="rect">
              <a:avLst/>
            </a:prstGeom>
          </p:spPr>
          <p:txBody>
            <a:bodyPr anchor="t" rtlCol="false" tIns="0" lIns="0" bIns="0" rIns="0"/>
            <a:lstStyle/>
            <a:p>
              <a:pPr algn="l">
                <a:lnSpc>
                  <a:spcPts val="3437"/>
                </a:lnSpc>
              </a:pPr>
              <a:r>
                <a:rPr lang="en-US" sz="2750">
                  <a:solidFill>
                    <a:srgbClr val="F9EEE7"/>
                  </a:solidFill>
                  <a:latin typeface="Montserrat"/>
                  <a:ea typeface="Montserrat"/>
                  <a:cs typeface="Montserrat"/>
                  <a:sym typeface="Montserrat"/>
                </a:rPr>
                <a:t>Ngoại lệ</a:t>
              </a:r>
            </a:p>
          </p:txBody>
        </p:sp>
      </p:grpSp>
      <p:grpSp>
        <p:nvGrpSpPr>
          <p:cNvPr name="Group 29" id="29"/>
          <p:cNvGrpSpPr/>
          <p:nvPr/>
        </p:nvGrpSpPr>
        <p:grpSpPr>
          <a:xfrm rot="0">
            <a:off x="9849891" y="7814072"/>
            <a:ext cx="7390954" cy="957560"/>
            <a:chOff x="0" y="0"/>
            <a:chExt cx="9854605" cy="1276747"/>
          </a:xfrm>
        </p:grpSpPr>
        <p:sp>
          <p:nvSpPr>
            <p:cNvPr name="Freeform 30" id="30"/>
            <p:cNvSpPr/>
            <p:nvPr/>
          </p:nvSpPr>
          <p:spPr>
            <a:xfrm flipH="false" flipV="false" rot="0">
              <a:off x="0" y="0"/>
              <a:ext cx="9854605" cy="1276747"/>
            </a:xfrm>
            <a:custGeom>
              <a:avLst/>
              <a:gdLst/>
              <a:ahLst/>
              <a:cxnLst/>
              <a:rect r="r" b="b" t="t" l="l"/>
              <a:pathLst>
                <a:path h="1276747" w="9854605">
                  <a:moveTo>
                    <a:pt x="0" y="0"/>
                  </a:moveTo>
                  <a:lnTo>
                    <a:pt x="9854605" y="0"/>
                  </a:lnTo>
                  <a:lnTo>
                    <a:pt x="9854605" y="1276747"/>
                  </a:lnTo>
                  <a:lnTo>
                    <a:pt x="0" y="1276747"/>
                  </a:lnTo>
                  <a:close/>
                </a:path>
              </a:pathLst>
            </a:custGeom>
            <a:solidFill>
              <a:srgbClr val="000000">
                <a:alpha val="0"/>
              </a:srgbClr>
            </a:solidFill>
          </p:spPr>
        </p:sp>
        <p:sp>
          <p:nvSpPr>
            <p:cNvPr name="TextBox 31" id="31"/>
            <p:cNvSpPr txBox="true"/>
            <p:nvPr/>
          </p:nvSpPr>
          <p:spPr>
            <a:xfrm>
              <a:off x="0" y="-95250"/>
              <a:ext cx="9854605" cy="1371997"/>
            </a:xfrm>
            <a:prstGeom prst="rect">
              <a:avLst/>
            </a:prstGeom>
          </p:spPr>
          <p:txBody>
            <a:bodyPr anchor="t" rtlCol="false" tIns="0" lIns="0" bIns="0" rIns="0"/>
            <a:lstStyle/>
            <a:p>
              <a:pPr algn="l">
                <a:lnSpc>
                  <a:spcPts val="3750"/>
                </a:lnSpc>
              </a:pPr>
              <a:r>
                <a:rPr lang="en-US" sz="2312">
                  <a:solidFill>
                    <a:srgbClr val="F9EEE7"/>
                  </a:solidFill>
                  <a:latin typeface="Montserrat"/>
                  <a:ea typeface="Montserrat"/>
                  <a:cs typeface="Montserrat"/>
                  <a:sym typeface="Montserrat"/>
                </a:rPr>
                <a:t>Điểm dữ liệu bất thường ảnh hưởng mô hình. Phát hiện bằng Cook’s Distance.</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grpSp>
        <p:nvGrpSpPr>
          <p:cNvPr name="Group 7" id="7"/>
          <p:cNvGrpSpPr/>
          <p:nvPr/>
        </p:nvGrpSpPr>
        <p:grpSpPr>
          <a:xfrm rot="0">
            <a:off x="1047155" y="3428851"/>
            <a:ext cx="13175539" cy="1096582"/>
            <a:chOff x="0" y="0"/>
            <a:chExt cx="17567386" cy="1462109"/>
          </a:xfrm>
        </p:grpSpPr>
        <p:sp>
          <p:nvSpPr>
            <p:cNvPr name="Freeform 8" id="8"/>
            <p:cNvSpPr/>
            <p:nvPr/>
          </p:nvSpPr>
          <p:spPr>
            <a:xfrm flipH="false" flipV="false" rot="0">
              <a:off x="0" y="0"/>
              <a:ext cx="17567387" cy="1462109"/>
            </a:xfrm>
            <a:custGeom>
              <a:avLst/>
              <a:gdLst/>
              <a:ahLst/>
              <a:cxnLst/>
              <a:rect r="r" b="b" t="t" l="l"/>
              <a:pathLst>
                <a:path h="1462109" w="17567387">
                  <a:moveTo>
                    <a:pt x="0" y="0"/>
                  </a:moveTo>
                  <a:lnTo>
                    <a:pt x="17567387" y="0"/>
                  </a:lnTo>
                  <a:lnTo>
                    <a:pt x="17567387" y="1462109"/>
                  </a:lnTo>
                  <a:lnTo>
                    <a:pt x="0" y="1462109"/>
                  </a:lnTo>
                  <a:close/>
                </a:path>
              </a:pathLst>
            </a:custGeom>
            <a:solidFill>
              <a:srgbClr val="000000">
                <a:alpha val="0"/>
              </a:srgbClr>
            </a:solidFill>
          </p:spPr>
        </p:sp>
        <p:sp>
          <p:nvSpPr>
            <p:cNvPr name="TextBox 9" id="9"/>
            <p:cNvSpPr txBox="true"/>
            <p:nvPr/>
          </p:nvSpPr>
          <p:spPr>
            <a:xfrm>
              <a:off x="0" y="-28575"/>
              <a:ext cx="17567386" cy="1490684"/>
            </a:xfrm>
            <a:prstGeom prst="rect">
              <a:avLst/>
            </a:prstGeom>
          </p:spPr>
          <p:txBody>
            <a:bodyPr anchor="t" rtlCol="false" tIns="0" lIns="0" bIns="0" rIns="0"/>
            <a:lstStyle/>
            <a:p>
              <a:pPr algn="l">
                <a:lnSpc>
                  <a:spcPts val="6875"/>
                </a:lnSpc>
              </a:pPr>
              <a:r>
                <a:rPr lang="en-US" sz="5500" b="true">
                  <a:solidFill>
                    <a:srgbClr val="FFD9BE"/>
                  </a:solidFill>
                  <a:latin typeface="Montserrat Bold"/>
                  <a:ea typeface="Montserrat Bold"/>
                  <a:cs typeface="Montserrat Bold"/>
                  <a:sym typeface="Montserrat Bold"/>
                </a:rPr>
                <a:t>Ứng dụng của hồi quy tuyến tính</a:t>
              </a:r>
            </a:p>
          </p:txBody>
        </p:sp>
      </p:grpSp>
      <p:grpSp>
        <p:nvGrpSpPr>
          <p:cNvPr name="Group 10" id="10"/>
          <p:cNvGrpSpPr/>
          <p:nvPr/>
        </p:nvGrpSpPr>
        <p:grpSpPr>
          <a:xfrm rot="0">
            <a:off x="1047155" y="5056734"/>
            <a:ext cx="3501032" cy="543528"/>
            <a:chOff x="0" y="0"/>
            <a:chExt cx="4668043" cy="724704"/>
          </a:xfrm>
        </p:grpSpPr>
        <p:sp>
          <p:nvSpPr>
            <p:cNvPr name="Freeform 11" id="11"/>
            <p:cNvSpPr/>
            <p:nvPr/>
          </p:nvSpPr>
          <p:spPr>
            <a:xfrm flipH="false" flipV="false" rot="0">
              <a:off x="0" y="0"/>
              <a:ext cx="4668043" cy="724704"/>
            </a:xfrm>
            <a:custGeom>
              <a:avLst/>
              <a:gdLst/>
              <a:ahLst/>
              <a:cxnLst/>
              <a:rect r="r" b="b" t="t" l="l"/>
              <a:pathLst>
                <a:path h="724704" w="4668043">
                  <a:moveTo>
                    <a:pt x="0" y="0"/>
                  </a:moveTo>
                  <a:lnTo>
                    <a:pt x="4668043" y="0"/>
                  </a:lnTo>
                  <a:lnTo>
                    <a:pt x="4668043" y="724704"/>
                  </a:lnTo>
                  <a:lnTo>
                    <a:pt x="0" y="724704"/>
                  </a:lnTo>
                  <a:close/>
                </a:path>
              </a:pathLst>
            </a:custGeom>
            <a:solidFill>
              <a:srgbClr val="000000">
                <a:alpha val="0"/>
              </a:srgbClr>
            </a:solidFill>
          </p:spPr>
        </p:sp>
        <p:sp>
          <p:nvSpPr>
            <p:cNvPr name="TextBox 12" id="12"/>
            <p:cNvSpPr txBox="true"/>
            <p:nvPr/>
          </p:nvSpPr>
          <p:spPr>
            <a:xfrm>
              <a:off x="0" y="-19050"/>
              <a:ext cx="4668043" cy="7437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Kinh tế</a:t>
              </a:r>
            </a:p>
          </p:txBody>
        </p:sp>
      </p:grpSp>
      <p:grpSp>
        <p:nvGrpSpPr>
          <p:cNvPr name="Group 13" id="13"/>
          <p:cNvGrpSpPr/>
          <p:nvPr/>
        </p:nvGrpSpPr>
        <p:grpSpPr>
          <a:xfrm rot="0">
            <a:off x="1047155" y="5795814"/>
            <a:ext cx="3501032" cy="957560"/>
            <a:chOff x="0" y="0"/>
            <a:chExt cx="4668043" cy="1276747"/>
          </a:xfrm>
        </p:grpSpPr>
        <p:sp>
          <p:nvSpPr>
            <p:cNvPr name="Freeform 14" id="14"/>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15" id="15"/>
            <p:cNvSpPr txBox="true"/>
            <p:nvPr/>
          </p:nvSpPr>
          <p:spPr>
            <a:xfrm>
              <a:off x="0" y="-95250"/>
              <a:ext cx="4668043" cy="1371997"/>
            </a:xfrm>
            <a:prstGeom prst="rect">
              <a:avLst/>
            </a:prstGeom>
          </p:spPr>
          <p:txBody>
            <a:bodyPr anchor="t" rtlCol="false" tIns="0" lIns="0" bIns="0" rIns="0"/>
            <a:lstStyle/>
            <a:p>
              <a:pPr algn="l" marL="348754" indent="-174377" lvl="1">
                <a:lnSpc>
                  <a:spcPts val="3750"/>
                </a:lnSpc>
                <a:buFont typeface="Arial"/>
                <a:buChar char="•"/>
              </a:pPr>
              <a:r>
                <a:rPr lang="en-US" sz="2312">
                  <a:solidFill>
                    <a:srgbClr val="F9EEE7"/>
                  </a:solidFill>
                  <a:latin typeface="Montserrat"/>
                  <a:ea typeface="Montserrat"/>
                  <a:cs typeface="Montserrat"/>
                  <a:sym typeface="Montserrat"/>
                </a:rPr>
                <a:t>Phân tích chi tiêu và lạm phát.</a:t>
              </a:r>
            </a:p>
          </p:txBody>
        </p:sp>
      </p:grpSp>
      <p:grpSp>
        <p:nvGrpSpPr>
          <p:cNvPr name="Group 16" id="16"/>
          <p:cNvGrpSpPr/>
          <p:nvPr/>
        </p:nvGrpSpPr>
        <p:grpSpPr>
          <a:xfrm rot="0">
            <a:off x="5287566" y="5056734"/>
            <a:ext cx="3501032" cy="543528"/>
            <a:chOff x="0" y="0"/>
            <a:chExt cx="4668043" cy="724704"/>
          </a:xfrm>
        </p:grpSpPr>
        <p:sp>
          <p:nvSpPr>
            <p:cNvPr name="Freeform 17" id="17"/>
            <p:cNvSpPr/>
            <p:nvPr/>
          </p:nvSpPr>
          <p:spPr>
            <a:xfrm flipH="false" flipV="false" rot="0">
              <a:off x="0" y="0"/>
              <a:ext cx="4668043" cy="724704"/>
            </a:xfrm>
            <a:custGeom>
              <a:avLst/>
              <a:gdLst/>
              <a:ahLst/>
              <a:cxnLst/>
              <a:rect r="r" b="b" t="t" l="l"/>
              <a:pathLst>
                <a:path h="724704" w="4668043">
                  <a:moveTo>
                    <a:pt x="0" y="0"/>
                  </a:moveTo>
                  <a:lnTo>
                    <a:pt x="4668043" y="0"/>
                  </a:lnTo>
                  <a:lnTo>
                    <a:pt x="4668043" y="724704"/>
                  </a:lnTo>
                  <a:lnTo>
                    <a:pt x="0" y="724704"/>
                  </a:lnTo>
                  <a:close/>
                </a:path>
              </a:pathLst>
            </a:custGeom>
            <a:solidFill>
              <a:srgbClr val="000000">
                <a:alpha val="0"/>
              </a:srgbClr>
            </a:solidFill>
          </p:spPr>
        </p:sp>
        <p:sp>
          <p:nvSpPr>
            <p:cNvPr name="TextBox 18" id="18"/>
            <p:cNvSpPr txBox="true"/>
            <p:nvPr/>
          </p:nvSpPr>
          <p:spPr>
            <a:xfrm>
              <a:off x="0" y="-19050"/>
              <a:ext cx="4668043" cy="7437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Tài chính</a:t>
              </a:r>
            </a:p>
          </p:txBody>
        </p:sp>
      </p:grpSp>
      <p:grpSp>
        <p:nvGrpSpPr>
          <p:cNvPr name="Group 19" id="19"/>
          <p:cNvGrpSpPr/>
          <p:nvPr/>
        </p:nvGrpSpPr>
        <p:grpSpPr>
          <a:xfrm rot="0">
            <a:off x="5287566" y="5795814"/>
            <a:ext cx="3501032" cy="957560"/>
            <a:chOff x="0" y="0"/>
            <a:chExt cx="4668043" cy="1276747"/>
          </a:xfrm>
        </p:grpSpPr>
        <p:sp>
          <p:nvSpPr>
            <p:cNvPr name="Freeform 20" id="20"/>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21" id="21"/>
            <p:cNvSpPr txBox="true"/>
            <p:nvPr/>
          </p:nvSpPr>
          <p:spPr>
            <a:xfrm>
              <a:off x="0" y="-95250"/>
              <a:ext cx="4668043" cy="1371997"/>
            </a:xfrm>
            <a:prstGeom prst="rect">
              <a:avLst/>
            </a:prstGeom>
          </p:spPr>
          <p:txBody>
            <a:bodyPr anchor="t" rtlCol="false" tIns="0" lIns="0" bIns="0" rIns="0"/>
            <a:lstStyle/>
            <a:p>
              <a:pPr algn="l" marL="348754" indent="-174377" lvl="1">
                <a:lnSpc>
                  <a:spcPts val="3750"/>
                </a:lnSpc>
                <a:buFont typeface="Arial"/>
                <a:buChar char="•"/>
              </a:pPr>
              <a:r>
                <a:rPr lang="en-US" sz="2312">
                  <a:solidFill>
                    <a:srgbClr val="F9EEE7"/>
                  </a:solidFill>
                  <a:latin typeface="Montserrat"/>
                  <a:ea typeface="Montserrat"/>
                  <a:cs typeface="Montserrat"/>
                  <a:sym typeface="Montserrat"/>
                </a:rPr>
                <a:t>Dự báo lợi suất và đánh giá rủi ro.</a:t>
              </a:r>
            </a:p>
          </p:txBody>
        </p:sp>
      </p:grpSp>
      <p:grpSp>
        <p:nvGrpSpPr>
          <p:cNvPr name="Group 22" id="22"/>
          <p:cNvGrpSpPr/>
          <p:nvPr/>
        </p:nvGrpSpPr>
        <p:grpSpPr>
          <a:xfrm rot="0">
            <a:off x="9527976" y="5056734"/>
            <a:ext cx="3501032" cy="543528"/>
            <a:chOff x="0" y="0"/>
            <a:chExt cx="4668043" cy="724704"/>
          </a:xfrm>
        </p:grpSpPr>
        <p:sp>
          <p:nvSpPr>
            <p:cNvPr name="Freeform 23" id="23"/>
            <p:cNvSpPr/>
            <p:nvPr/>
          </p:nvSpPr>
          <p:spPr>
            <a:xfrm flipH="false" flipV="false" rot="0">
              <a:off x="0" y="0"/>
              <a:ext cx="4668043" cy="724704"/>
            </a:xfrm>
            <a:custGeom>
              <a:avLst/>
              <a:gdLst/>
              <a:ahLst/>
              <a:cxnLst/>
              <a:rect r="r" b="b" t="t" l="l"/>
              <a:pathLst>
                <a:path h="724704" w="4668043">
                  <a:moveTo>
                    <a:pt x="0" y="0"/>
                  </a:moveTo>
                  <a:lnTo>
                    <a:pt x="4668043" y="0"/>
                  </a:lnTo>
                  <a:lnTo>
                    <a:pt x="4668043" y="724704"/>
                  </a:lnTo>
                  <a:lnTo>
                    <a:pt x="0" y="724704"/>
                  </a:lnTo>
                  <a:close/>
                </a:path>
              </a:pathLst>
            </a:custGeom>
            <a:solidFill>
              <a:srgbClr val="000000">
                <a:alpha val="0"/>
              </a:srgbClr>
            </a:solidFill>
          </p:spPr>
        </p:sp>
        <p:sp>
          <p:nvSpPr>
            <p:cNvPr name="TextBox 24" id="24"/>
            <p:cNvSpPr txBox="true"/>
            <p:nvPr/>
          </p:nvSpPr>
          <p:spPr>
            <a:xfrm>
              <a:off x="0" y="-19050"/>
              <a:ext cx="4668043" cy="7437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Y tế</a:t>
              </a:r>
            </a:p>
          </p:txBody>
        </p:sp>
      </p:grpSp>
      <p:grpSp>
        <p:nvGrpSpPr>
          <p:cNvPr name="Group 25" id="25"/>
          <p:cNvGrpSpPr/>
          <p:nvPr/>
        </p:nvGrpSpPr>
        <p:grpSpPr>
          <a:xfrm rot="0">
            <a:off x="9527976" y="5795814"/>
            <a:ext cx="3501032" cy="957560"/>
            <a:chOff x="0" y="0"/>
            <a:chExt cx="4668043" cy="1276747"/>
          </a:xfrm>
        </p:grpSpPr>
        <p:sp>
          <p:nvSpPr>
            <p:cNvPr name="Freeform 26" id="26"/>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27" id="27"/>
            <p:cNvSpPr txBox="true"/>
            <p:nvPr/>
          </p:nvSpPr>
          <p:spPr>
            <a:xfrm>
              <a:off x="0" y="-95250"/>
              <a:ext cx="4668043" cy="1371997"/>
            </a:xfrm>
            <a:prstGeom prst="rect">
              <a:avLst/>
            </a:prstGeom>
          </p:spPr>
          <p:txBody>
            <a:bodyPr anchor="t" rtlCol="false" tIns="0" lIns="0" bIns="0" rIns="0"/>
            <a:lstStyle/>
            <a:p>
              <a:pPr algn="l" marL="348754" indent="-174377" lvl="1">
                <a:lnSpc>
                  <a:spcPts val="3750"/>
                </a:lnSpc>
                <a:buFont typeface="Arial"/>
                <a:buChar char="•"/>
              </a:pPr>
              <a:r>
                <a:rPr lang="en-US" sz="2312">
                  <a:solidFill>
                    <a:srgbClr val="F9EEE7"/>
                  </a:solidFill>
                  <a:latin typeface="Montserrat"/>
                  <a:ea typeface="Montserrat"/>
                  <a:cs typeface="Montserrat"/>
                  <a:sym typeface="Montserrat"/>
                </a:rPr>
                <a:t>Phân tích BMI, huyết áp.</a:t>
              </a:r>
            </a:p>
          </p:txBody>
        </p:sp>
      </p:grpSp>
      <p:grpSp>
        <p:nvGrpSpPr>
          <p:cNvPr name="Group 28" id="28"/>
          <p:cNvGrpSpPr/>
          <p:nvPr/>
        </p:nvGrpSpPr>
        <p:grpSpPr>
          <a:xfrm rot="0">
            <a:off x="13768387" y="5056734"/>
            <a:ext cx="3501032" cy="543528"/>
            <a:chOff x="0" y="0"/>
            <a:chExt cx="4668043" cy="724704"/>
          </a:xfrm>
        </p:grpSpPr>
        <p:sp>
          <p:nvSpPr>
            <p:cNvPr name="Freeform 29" id="29"/>
            <p:cNvSpPr/>
            <p:nvPr/>
          </p:nvSpPr>
          <p:spPr>
            <a:xfrm flipH="false" flipV="false" rot="0">
              <a:off x="0" y="0"/>
              <a:ext cx="4668043" cy="724704"/>
            </a:xfrm>
            <a:custGeom>
              <a:avLst/>
              <a:gdLst/>
              <a:ahLst/>
              <a:cxnLst/>
              <a:rect r="r" b="b" t="t" l="l"/>
              <a:pathLst>
                <a:path h="724704" w="4668043">
                  <a:moveTo>
                    <a:pt x="0" y="0"/>
                  </a:moveTo>
                  <a:lnTo>
                    <a:pt x="4668043" y="0"/>
                  </a:lnTo>
                  <a:lnTo>
                    <a:pt x="4668043" y="724704"/>
                  </a:lnTo>
                  <a:lnTo>
                    <a:pt x="0" y="724704"/>
                  </a:lnTo>
                  <a:close/>
                </a:path>
              </a:pathLst>
            </a:custGeom>
            <a:solidFill>
              <a:srgbClr val="000000">
                <a:alpha val="0"/>
              </a:srgbClr>
            </a:solidFill>
          </p:spPr>
        </p:sp>
        <p:sp>
          <p:nvSpPr>
            <p:cNvPr name="TextBox 30" id="30"/>
            <p:cNvSpPr txBox="true"/>
            <p:nvPr/>
          </p:nvSpPr>
          <p:spPr>
            <a:xfrm>
              <a:off x="0" y="-19050"/>
              <a:ext cx="4668043" cy="7437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Machine Learning</a:t>
              </a:r>
            </a:p>
          </p:txBody>
        </p:sp>
      </p:grpSp>
      <p:grpSp>
        <p:nvGrpSpPr>
          <p:cNvPr name="Group 31" id="31"/>
          <p:cNvGrpSpPr/>
          <p:nvPr/>
        </p:nvGrpSpPr>
        <p:grpSpPr>
          <a:xfrm rot="0">
            <a:off x="13768387" y="5795814"/>
            <a:ext cx="3501032" cy="957560"/>
            <a:chOff x="0" y="0"/>
            <a:chExt cx="4668043" cy="1276747"/>
          </a:xfrm>
        </p:grpSpPr>
        <p:sp>
          <p:nvSpPr>
            <p:cNvPr name="Freeform 32" id="32"/>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33" id="33"/>
            <p:cNvSpPr txBox="true"/>
            <p:nvPr/>
          </p:nvSpPr>
          <p:spPr>
            <a:xfrm>
              <a:off x="0" y="-95250"/>
              <a:ext cx="4668043" cy="1371997"/>
            </a:xfrm>
            <a:prstGeom prst="rect">
              <a:avLst/>
            </a:prstGeom>
          </p:spPr>
          <p:txBody>
            <a:bodyPr anchor="t" rtlCol="false" tIns="0" lIns="0" bIns="0" rIns="0"/>
            <a:lstStyle/>
            <a:p>
              <a:pPr algn="l" marL="348754" indent="-174377" lvl="1">
                <a:lnSpc>
                  <a:spcPts val="3750"/>
                </a:lnSpc>
                <a:buFont typeface="Arial"/>
                <a:buChar char="•"/>
              </a:pPr>
              <a:r>
                <a:rPr lang="en-US" sz="2312">
                  <a:solidFill>
                    <a:srgbClr val="F9EEE7"/>
                  </a:solidFill>
                  <a:latin typeface="Montserrat"/>
                  <a:ea typeface="Montserrat"/>
                  <a:cs typeface="Montserrat"/>
                  <a:sym typeface="Montserrat"/>
                </a:rPr>
                <a:t>Tiền xử lý dữ liệu và tạo mô hình cơ bản.</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grpSp>
        <p:nvGrpSpPr>
          <p:cNvPr name="Group 7" id="7"/>
          <p:cNvGrpSpPr/>
          <p:nvPr/>
        </p:nvGrpSpPr>
        <p:grpSpPr>
          <a:xfrm rot="0">
            <a:off x="1248862" y="1028700"/>
            <a:ext cx="14627828" cy="1096582"/>
            <a:chOff x="0" y="0"/>
            <a:chExt cx="19503771" cy="1462109"/>
          </a:xfrm>
        </p:grpSpPr>
        <p:sp>
          <p:nvSpPr>
            <p:cNvPr name="Freeform 8" id="8"/>
            <p:cNvSpPr/>
            <p:nvPr/>
          </p:nvSpPr>
          <p:spPr>
            <a:xfrm flipH="false" flipV="false" rot="0">
              <a:off x="0" y="0"/>
              <a:ext cx="19503772" cy="1462109"/>
            </a:xfrm>
            <a:custGeom>
              <a:avLst/>
              <a:gdLst/>
              <a:ahLst/>
              <a:cxnLst/>
              <a:rect r="r" b="b" t="t" l="l"/>
              <a:pathLst>
                <a:path h="1462109" w="19503772">
                  <a:moveTo>
                    <a:pt x="0" y="0"/>
                  </a:moveTo>
                  <a:lnTo>
                    <a:pt x="19503772" y="0"/>
                  </a:lnTo>
                  <a:lnTo>
                    <a:pt x="19503772" y="1462109"/>
                  </a:lnTo>
                  <a:lnTo>
                    <a:pt x="0" y="1462109"/>
                  </a:lnTo>
                  <a:close/>
                </a:path>
              </a:pathLst>
            </a:custGeom>
            <a:solidFill>
              <a:srgbClr val="000000">
                <a:alpha val="0"/>
              </a:srgbClr>
            </a:solidFill>
          </p:spPr>
        </p:sp>
        <p:sp>
          <p:nvSpPr>
            <p:cNvPr name="TextBox 9" id="9"/>
            <p:cNvSpPr txBox="true"/>
            <p:nvPr/>
          </p:nvSpPr>
          <p:spPr>
            <a:xfrm>
              <a:off x="0" y="-28575"/>
              <a:ext cx="19503771" cy="1490684"/>
            </a:xfrm>
            <a:prstGeom prst="rect">
              <a:avLst/>
            </a:prstGeom>
          </p:spPr>
          <p:txBody>
            <a:bodyPr anchor="t" rtlCol="false" tIns="0" lIns="0" bIns="0" rIns="0"/>
            <a:lstStyle/>
            <a:p>
              <a:pPr algn="l">
                <a:lnSpc>
                  <a:spcPts val="6875"/>
                </a:lnSpc>
              </a:pPr>
              <a:r>
                <a:rPr lang="en-US" sz="5500" b="true">
                  <a:solidFill>
                    <a:srgbClr val="FFD9BE"/>
                  </a:solidFill>
                  <a:latin typeface="Montserrat Bold"/>
                  <a:ea typeface="Montserrat Bold"/>
                  <a:cs typeface="Montserrat Bold"/>
                  <a:sym typeface="Montserrat Bold"/>
                </a:rPr>
                <a:t>VII. </a:t>
              </a:r>
              <a:r>
                <a:rPr lang="en-US" sz="5500" b="true">
                  <a:solidFill>
                    <a:srgbClr val="FFD9BE"/>
                  </a:solidFill>
                  <a:latin typeface="Montserrat Bold"/>
                  <a:ea typeface="Montserrat Bold"/>
                  <a:cs typeface="Montserrat Bold"/>
                  <a:sym typeface="Montserrat Bold"/>
                </a:rPr>
                <a:t>Ứng dụng của Hồi quy tuyến tính</a:t>
              </a:r>
            </a:p>
          </p:txBody>
        </p:sp>
      </p:grpSp>
      <p:grpSp>
        <p:nvGrpSpPr>
          <p:cNvPr name="Group 10" id="10"/>
          <p:cNvGrpSpPr/>
          <p:nvPr/>
        </p:nvGrpSpPr>
        <p:grpSpPr>
          <a:xfrm rot="0">
            <a:off x="1028700" y="2837959"/>
            <a:ext cx="3501032" cy="543528"/>
            <a:chOff x="0" y="0"/>
            <a:chExt cx="4668043" cy="724704"/>
          </a:xfrm>
        </p:grpSpPr>
        <p:sp>
          <p:nvSpPr>
            <p:cNvPr name="Freeform 11" id="11"/>
            <p:cNvSpPr/>
            <p:nvPr/>
          </p:nvSpPr>
          <p:spPr>
            <a:xfrm flipH="false" flipV="false" rot="0">
              <a:off x="0" y="0"/>
              <a:ext cx="4668043" cy="724704"/>
            </a:xfrm>
            <a:custGeom>
              <a:avLst/>
              <a:gdLst/>
              <a:ahLst/>
              <a:cxnLst/>
              <a:rect r="r" b="b" t="t" l="l"/>
              <a:pathLst>
                <a:path h="724704" w="4668043">
                  <a:moveTo>
                    <a:pt x="0" y="0"/>
                  </a:moveTo>
                  <a:lnTo>
                    <a:pt x="4668043" y="0"/>
                  </a:lnTo>
                  <a:lnTo>
                    <a:pt x="4668043" y="724704"/>
                  </a:lnTo>
                  <a:lnTo>
                    <a:pt x="0" y="724704"/>
                  </a:lnTo>
                  <a:close/>
                </a:path>
              </a:pathLst>
            </a:custGeom>
            <a:solidFill>
              <a:srgbClr val="000000">
                <a:alpha val="0"/>
              </a:srgbClr>
            </a:solidFill>
          </p:spPr>
        </p:sp>
        <p:sp>
          <p:nvSpPr>
            <p:cNvPr name="TextBox 12" id="12"/>
            <p:cNvSpPr txBox="true"/>
            <p:nvPr/>
          </p:nvSpPr>
          <p:spPr>
            <a:xfrm>
              <a:off x="0" y="-19050"/>
              <a:ext cx="4668043" cy="7437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Kinh tế</a:t>
              </a:r>
            </a:p>
          </p:txBody>
        </p:sp>
      </p:grpSp>
      <p:grpSp>
        <p:nvGrpSpPr>
          <p:cNvPr name="Group 13" id="13"/>
          <p:cNvGrpSpPr/>
          <p:nvPr/>
        </p:nvGrpSpPr>
        <p:grpSpPr>
          <a:xfrm rot="0">
            <a:off x="1028700" y="3577039"/>
            <a:ext cx="3501032" cy="957560"/>
            <a:chOff x="0" y="0"/>
            <a:chExt cx="4668043" cy="1276747"/>
          </a:xfrm>
        </p:grpSpPr>
        <p:sp>
          <p:nvSpPr>
            <p:cNvPr name="Freeform 14" id="14"/>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15" id="15"/>
            <p:cNvSpPr txBox="true"/>
            <p:nvPr/>
          </p:nvSpPr>
          <p:spPr>
            <a:xfrm>
              <a:off x="0" y="-95250"/>
              <a:ext cx="4668043" cy="1371997"/>
            </a:xfrm>
            <a:prstGeom prst="rect">
              <a:avLst/>
            </a:prstGeom>
          </p:spPr>
          <p:txBody>
            <a:bodyPr anchor="t" rtlCol="false" tIns="0" lIns="0" bIns="0" rIns="0"/>
            <a:lstStyle/>
            <a:p>
              <a:pPr algn="l" marL="348754" indent="-174377" lvl="1">
                <a:lnSpc>
                  <a:spcPts val="3750"/>
                </a:lnSpc>
                <a:buFont typeface="Arial"/>
                <a:buChar char="•"/>
              </a:pPr>
              <a:r>
                <a:rPr lang="en-US" sz="2312">
                  <a:solidFill>
                    <a:srgbClr val="F9EEE7"/>
                  </a:solidFill>
                  <a:latin typeface="Montserrat"/>
                  <a:ea typeface="Montserrat"/>
                  <a:cs typeface="Montserrat"/>
                  <a:sym typeface="Montserrat"/>
                </a:rPr>
                <a:t>Phân tích chi tiêu và lạm phát.</a:t>
              </a:r>
            </a:p>
          </p:txBody>
        </p:sp>
      </p:grpSp>
      <p:grpSp>
        <p:nvGrpSpPr>
          <p:cNvPr name="Group 16" id="16"/>
          <p:cNvGrpSpPr/>
          <p:nvPr/>
        </p:nvGrpSpPr>
        <p:grpSpPr>
          <a:xfrm rot="0">
            <a:off x="5269111" y="2837959"/>
            <a:ext cx="3501032" cy="543528"/>
            <a:chOff x="0" y="0"/>
            <a:chExt cx="4668043" cy="724704"/>
          </a:xfrm>
        </p:grpSpPr>
        <p:sp>
          <p:nvSpPr>
            <p:cNvPr name="Freeform 17" id="17"/>
            <p:cNvSpPr/>
            <p:nvPr/>
          </p:nvSpPr>
          <p:spPr>
            <a:xfrm flipH="false" flipV="false" rot="0">
              <a:off x="0" y="0"/>
              <a:ext cx="4668043" cy="724704"/>
            </a:xfrm>
            <a:custGeom>
              <a:avLst/>
              <a:gdLst/>
              <a:ahLst/>
              <a:cxnLst/>
              <a:rect r="r" b="b" t="t" l="l"/>
              <a:pathLst>
                <a:path h="724704" w="4668043">
                  <a:moveTo>
                    <a:pt x="0" y="0"/>
                  </a:moveTo>
                  <a:lnTo>
                    <a:pt x="4668043" y="0"/>
                  </a:lnTo>
                  <a:lnTo>
                    <a:pt x="4668043" y="724704"/>
                  </a:lnTo>
                  <a:lnTo>
                    <a:pt x="0" y="724704"/>
                  </a:lnTo>
                  <a:close/>
                </a:path>
              </a:pathLst>
            </a:custGeom>
            <a:solidFill>
              <a:srgbClr val="000000">
                <a:alpha val="0"/>
              </a:srgbClr>
            </a:solidFill>
          </p:spPr>
        </p:sp>
        <p:sp>
          <p:nvSpPr>
            <p:cNvPr name="TextBox 18" id="18"/>
            <p:cNvSpPr txBox="true"/>
            <p:nvPr/>
          </p:nvSpPr>
          <p:spPr>
            <a:xfrm>
              <a:off x="0" y="-19050"/>
              <a:ext cx="4668043" cy="7437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Tài chính</a:t>
              </a:r>
            </a:p>
          </p:txBody>
        </p:sp>
      </p:grpSp>
      <p:grpSp>
        <p:nvGrpSpPr>
          <p:cNvPr name="Group 19" id="19"/>
          <p:cNvGrpSpPr/>
          <p:nvPr/>
        </p:nvGrpSpPr>
        <p:grpSpPr>
          <a:xfrm rot="0">
            <a:off x="5269111" y="3577039"/>
            <a:ext cx="3501032" cy="957560"/>
            <a:chOff x="0" y="0"/>
            <a:chExt cx="4668043" cy="1276747"/>
          </a:xfrm>
        </p:grpSpPr>
        <p:sp>
          <p:nvSpPr>
            <p:cNvPr name="Freeform 20" id="20"/>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21" id="21"/>
            <p:cNvSpPr txBox="true"/>
            <p:nvPr/>
          </p:nvSpPr>
          <p:spPr>
            <a:xfrm>
              <a:off x="0" y="-95250"/>
              <a:ext cx="4668043" cy="1371997"/>
            </a:xfrm>
            <a:prstGeom prst="rect">
              <a:avLst/>
            </a:prstGeom>
          </p:spPr>
          <p:txBody>
            <a:bodyPr anchor="t" rtlCol="false" tIns="0" lIns="0" bIns="0" rIns="0"/>
            <a:lstStyle/>
            <a:p>
              <a:pPr algn="l" marL="348754" indent="-174377" lvl="1">
                <a:lnSpc>
                  <a:spcPts val="3750"/>
                </a:lnSpc>
                <a:buFont typeface="Arial"/>
                <a:buChar char="•"/>
              </a:pPr>
              <a:r>
                <a:rPr lang="en-US" sz="2312">
                  <a:solidFill>
                    <a:srgbClr val="F9EEE7"/>
                  </a:solidFill>
                  <a:latin typeface="Montserrat"/>
                  <a:ea typeface="Montserrat"/>
                  <a:cs typeface="Montserrat"/>
                  <a:sym typeface="Montserrat"/>
                </a:rPr>
                <a:t>Dự báo lợi suất và đánh giá rủi ro.</a:t>
              </a:r>
            </a:p>
          </p:txBody>
        </p:sp>
      </p:grpSp>
      <p:grpSp>
        <p:nvGrpSpPr>
          <p:cNvPr name="Group 22" id="22"/>
          <p:cNvGrpSpPr/>
          <p:nvPr/>
        </p:nvGrpSpPr>
        <p:grpSpPr>
          <a:xfrm rot="0">
            <a:off x="9509521" y="2837959"/>
            <a:ext cx="3501032" cy="543528"/>
            <a:chOff x="0" y="0"/>
            <a:chExt cx="4668043" cy="724704"/>
          </a:xfrm>
        </p:grpSpPr>
        <p:sp>
          <p:nvSpPr>
            <p:cNvPr name="Freeform 23" id="23"/>
            <p:cNvSpPr/>
            <p:nvPr/>
          </p:nvSpPr>
          <p:spPr>
            <a:xfrm flipH="false" flipV="false" rot="0">
              <a:off x="0" y="0"/>
              <a:ext cx="4668043" cy="724704"/>
            </a:xfrm>
            <a:custGeom>
              <a:avLst/>
              <a:gdLst/>
              <a:ahLst/>
              <a:cxnLst/>
              <a:rect r="r" b="b" t="t" l="l"/>
              <a:pathLst>
                <a:path h="724704" w="4668043">
                  <a:moveTo>
                    <a:pt x="0" y="0"/>
                  </a:moveTo>
                  <a:lnTo>
                    <a:pt x="4668043" y="0"/>
                  </a:lnTo>
                  <a:lnTo>
                    <a:pt x="4668043" y="724704"/>
                  </a:lnTo>
                  <a:lnTo>
                    <a:pt x="0" y="724704"/>
                  </a:lnTo>
                  <a:close/>
                </a:path>
              </a:pathLst>
            </a:custGeom>
            <a:solidFill>
              <a:srgbClr val="000000">
                <a:alpha val="0"/>
              </a:srgbClr>
            </a:solidFill>
          </p:spPr>
        </p:sp>
        <p:sp>
          <p:nvSpPr>
            <p:cNvPr name="TextBox 24" id="24"/>
            <p:cNvSpPr txBox="true"/>
            <p:nvPr/>
          </p:nvSpPr>
          <p:spPr>
            <a:xfrm>
              <a:off x="0" y="-19050"/>
              <a:ext cx="4668043" cy="7437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Y tế</a:t>
              </a:r>
            </a:p>
          </p:txBody>
        </p:sp>
      </p:grpSp>
      <p:grpSp>
        <p:nvGrpSpPr>
          <p:cNvPr name="Group 25" id="25"/>
          <p:cNvGrpSpPr/>
          <p:nvPr/>
        </p:nvGrpSpPr>
        <p:grpSpPr>
          <a:xfrm rot="0">
            <a:off x="9509521" y="3577039"/>
            <a:ext cx="3501032" cy="957560"/>
            <a:chOff x="0" y="0"/>
            <a:chExt cx="4668043" cy="1276747"/>
          </a:xfrm>
        </p:grpSpPr>
        <p:sp>
          <p:nvSpPr>
            <p:cNvPr name="Freeform 26" id="26"/>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27" id="27"/>
            <p:cNvSpPr txBox="true"/>
            <p:nvPr/>
          </p:nvSpPr>
          <p:spPr>
            <a:xfrm>
              <a:off x="0" y="-95250"/>
              <a:ext cx="4668043" cy="1371997"/>
            </a:xfrm>
            <a:prstGeom prst="rect">
              <a:avLst/>
            </a:prstGeom>
          </p:spPr>
          <p:txBody>
            <a:bodyPr anchor="t" rtlCol="false" tIns="0" lIns="0" bIns="0" rIns="0"/>
            <a:lstStyle/>
            <a:p>
              <a:pPr algn="l" marL="348754" indent="-174377" lvl="1">
                <a:lnSpc>
                  <a:spcPts val="3750"/>
                </a:lnSpc>
                <a:buFont typeface="Arial"/>
                <a:buChar char="•"/>
              </a:pPr>
              <a:r>
                <a:rPr lang="en-US" sz="2312">
                  <a:solidFill>
                    <a:srgbClr val="F9EEE7"/>
                  </a:solidFill>
                  <a:latin typeface="Montserrat"/>
                  <a:ea typeface="Montserrat"/>
                  <a:cs typeface="Montserrat"/>
                  <a:sym typeface="Montserrat"/>
                </a:rPr>
                <a:t>Phân tích BMI, huyết áp.</a:t>
              </a:r>
            </a:p>
          </p:txBody>
        </p:sp>
      </p:grpSp>
      <p:grpSp>
        <p:nvGrpSpPr>
          <p:cNvPr name="Group 28" id="28"/>
          <p:cNvGrpSpPr/>
          <p:nvPr/>
        </p:nvGrpSpPr>
        <p:grpSpPr>
          <a:xfrm rot="0">
            <a:off x="13749932" y="2837959"/>
            <a:ext cx="3501032" cy="543528"/>
            <a:chOff x="0" y="0"/>
            <a:chExt cx="4668043" cy="724704"/>
          </a:xfrm>
        </p:grpSpPr>
        <p:sp>
          <p:nvSpPr>
            <p:cNvPr name="Freeform 29" id="29"/>
            <p:cNvSpPr/>
            <p:nvPr/>
          </p:nvSpPr>
          <p:spPr>
            <a:xfrm flipH="false" flipV="false" rot="0">
              <a:off x="0" y="0"/>
              <a:ext cx="4668043" cy="724704"/>
            </a:xfrm>
            <a:custGeom>
              <a:avLst/>
              <a:gdLst/>
              <a:ahLst/>
              <a:cxnLst/>
              <a:rect r="r" b="b" t="t" l="l"/>
              <a:pathLst>
                <a:path h="724704" w="4668043">
                  <a:moveTo>
                    <a:pt x="0" y="0"/>
                  </a:moveTo>
                  <a:lnTo>
                    <a:pt x="4668043" y="0"/>
                  </a:lnTo>
                  <a:lnTo>
                    <a:pt x="4668043" y="724704"/>
                  </a:lnTo>
                  <a:lnTo>
                    <a:pt x="0" y="724704"/>
                  </a:lnTo>
                  <a:close/>
                </a:path>
              </a:pathLst>
            </a:custGeom>
            <a:solidFill>
              <a:srgbClr val="000000">
                <a:alpha val="0"/>
              </a:srgbClr>
            </a:solidFill>
          </p:spPr>
        </p:sp>
        <p:sp>
          <p:nvSpPr>
            <p:cNvPr name="TextBox 30" id="30"/>
            <p:cNvSpPr txBox="true"/>
            <p:nvPr/>
          </p:nvSpPr>
          <p:spPr>
            <a:xfrm>
              <a:off x="0" y="-19050"/>
              <a:ext cx="4668043" cy="743754"/>
            </a:xfrm>
            <a:prstGeom prst="rect">
              <a:avLst/>
            </a:prstGeom>
          </p:spPr>
          <p:txBody>
            <a:bodyPr anchor="t" rtlCol="false" tIns="0" lIns="0" bIns="0" rIns="0"/>
            <a:lstStyle/>
            <a:p>
              <a:pPr algn="l">
                <a:lnSpc>
                  <a:spcPts val="3437"/>
                </a:lnSpc>
              </a:pPr>
              <a:r>
                <a:rPr lang="en-US" sz="2750">
                  <a:solidFill>
                    <a:srgbClr val="FFD9BE"/>
                  </a:solidFill>
                  <a:latin typeface="Montserrat"/>
                  <a:ea typeface="Montserrat"/>
                  <a:cs typeface="Montserrat"/>
                  <a:sym typeface="Montserrat"/>
                </a:rPr>
                <a:t>Machine Learning</a:t>
              </a:r>
            </a:p>
          </p:txBody>
        </p:sp>
      </p:grpSp>
      <p:grpSp>
        <p:nvGrpSpPr>
          <p:cNvPr name="Group 31" id="31"/>
          <p:cNvGrpSpPr/>
          <p:nvPr/>
        </p:nvGrpSpPr>
        <p:grpSpPr>
          <a:xfrm rot="0">
            <a:off x="13749932" y="3577039"/>
            <a:ext cx="3501032" cy="957560"/>
            <a:chOff x="0" y="0"/>
            <a:chExt cx="4668043" cy="1276747"/>
          </a:xfrm>
        </p:grpSpPr>
        <p:sp>
          <p:nvSpPr>
            <p:cNvPr name="Freeform 32" id="32"/>
            <p:cNvSpPr/>
            <p:nvPr/>
          </p:nvSpPr>
          <p:spPr>
            <a:xfrm flipH="false" flipV="false" rot="0">
              <a:off x="0" y="0"/>
              <a:ext cx="4668043" cy="1276747"/>
            </a:xfrm>
            <a:custGeom>
              <a:avLst/>
              <a:gdLst/>
              <a:ahLst/>
              <a:cxnLst/>
              <a:rect r="r" b="b" t="t" l="l"/>
              <a:pathLst>
                <a:path h="1276747" w="4668043">
                  <a:moveTo>
                    <a:pt x="0" y="0"/>
                  </a:moveTo>
                  <a:lnTo>
                    <a:pt x="4668043" y="0"/>
                  </a:lnTo>
                  <a:lnTo>
                    <a:pt x="4668043" y="1276747"/>
                  </a:lnTo>
                  <a:lnTo>
                    <a:pt x="0" y="1276747"/>
                  </a:lnTo>
                  <a:close/>
                </a:path>
              </a:pathLst>
            </a:custGeom>
            <a:solidFill>
              <a:srgbClr val="000000">
                <a:alpha val="0"/>
              </a:srgbClr>
            </a:solidFill>
          </p:spPr>
        </p:sp>
        <p:sp>
          <p:nvSpPr>
            <p:cNvPr name="TextBox 33" id="33"/>
            <p:cNvSpPr txBox="true"/>
            <p:nvPr/>
          </p:nvSpPr>
          <p:spPr>
            <a:xfrm>
              <a:off x="0" y="-95250"/>
              <a:ext cx="4668043" cy="1371997"/>
            </a:xfrm>
            <a:prstGeom prst="rect">
              <a:avLst/>
            </a:prstGeom>
          </p:spPr>
          <p:txBody>
            <a:bodyPr anchor="t" rtlCol="false" tIns="0" lIns="0" bIns="0" rIns="0"/>
            <a:lstStyle/>
            <a:p>
              <a:pPr algn="l" marL="348754" indent="-174377" lvl="1">
                <a:lnSpc>
                  <a:spcPts val="3750"/>
                </a:lnSpc>
                <a:buFont typeface="Arial"/>
                <a:buChar char="•"/>
              </a:pPr>
              <a:r>
                <a:rPr lang="en-US" sz="2312">
                  <a:solidFill>
                    <a:srgbClr val="F9EEE7"/>
                  </a:solidFill>
                  <a:latin typeface="Montserrat"/>
                  <a:ea typeface="Montserrat"/>
                  <a:cs typeface="Montserrat"/>
                  <a:sym typeface="Montserrat"/>
                </a:rPr>
                <a:t>Tiền xử lý dữ liệu và tạo mô hình cơ bản.</a:t>
              </a:r>
            </a:p>
          </p:txBody>
        </p:sp>
      </p:grpSp>
      <p:grpSp>
        <p:nvGrpSpPr>
          <p:cNvPr name="Group 34" id="34"/>
          <p:cNvGrpSpPr/>
          <p:nvPr/>
        </p:nvGrpSpPr>
        <p:grpSpPr>
          <a:xfrm rot="0">
            <a:off x="825737" y="5248974"/>
            <a:ext cx="3552033" cy="3552033"/>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50130" y="0"/>
                  </a:moveTo>
                  <a:lnTo>
                    <a:pt x="762670" y="0"/>
                  </a:lnTo>
                  <a:cubicBezTo>
                    <a:pt x="790356" y="0"/>
                    <a:pt x="812800" y="22444"/>
                    <a:pt x="812800" y="50130"/>
                  </a:cubicBezTo>
                  <a:lnTo>
                    <a:pt x="812800" y="762670"/>
                  </a:lnTo>
                  <a:cubicBezTo>
                    <a:pt x="812800" y="790356"/>
                    <a:pt x="790356" y="812800"/>
                    <a:pt x="762670" y="812800"/>
                  </a:cubicBezTo>
                  <a:lnTo>
                    <a:pt x="50130" y="812800"/>
                  </a:lnTo>
                  <a:cubicBezTo>
                    <a:pt x="22444" y="812800"/>
                    <a:pt x="0" y="790356"/>
                    <a:pt x="0" y="762670"/>
                  </a:cubicBezTo>
                  <a:lnTo>
                    <a:pt x="0" y="50130"/>
                  </a:lnTo>
                  <a:cubicBezTo>
                    <a:pt x="0" y="22444"/>
                    <a:pt x="22444" y="0"/>
                    <a:pt x="50130" y="0"/>
                  </a:cubicBezTo>
                  <a:close/>
                </a:path>
              </a:pathLst>
            </a:custGeom>
            <a:blipFill>
              <a:blip r:embed="rId5"/>
              <a:stretch>
                <a:fillRect l="-25471" t="0" r="-25471" b="0"/>
              </a:stretch>
            </a:blipFill>
          </p:spPr>
        </p:sp>
      </p:grpSp>
      <p:grpSp>
        <p:nvGrpSpPr>
          <p:cNvPr name="Group 36" id="36"/>
          <p:cNvGrpSpPr/>
          <p:nvPr/>
        </p:nvGrpSpPr>
        <p:grpSpPr>
          <a:xfrm rot="0">
            <a:off x="13907543" y="5143500"/>
            <a:ext cx="3552033" cy="355203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50130" y="0"/>
                  </a:moveTo>
                  <a:lnTo>
                    <a:pt x="762670" y="0"/>
                  </a:lnTo>
                  <a:cubicBezTo>
                    <a:pt x="790356" y="0"/>
                    <a:pt x="812800" y="22444"/>
                    <a:pt x="812800" y="50130"/>
                  </a:cubicBezTo>
                  <a:lnTo>
                    <a:pt x="812800" y="762670"/>
                  </a:lnTo>
                  <a:cubicBezTo>
                    <a:pt x="812800" y="790356"/>
                    <a:pt x="790356" y="812800"/>
                    <a:pt x="762670" y="812800"/>
                  </a:cubicBezTo>
                  <a:lnTo>
                    <a:pt x="50130" y="812800"/>
                  </a:lnTo>
                  <a:cubicBezTo>
                    <a:pt x="22444" y="812800"/>
                    <a:pt x="0" y="790356"/>
                    <a:pt x="0" y="762670"/>
                  </a:cubicBezTo>
                  <a:lnTo>
                    <a:pt x="0" y="50130"/>
                  </a:lnTo>
                  <a:cubicBezTo>
                    <a:pt x="0" y="22444"/>
                    <a:pt x="22444" y="0"/>
                    <a:pt x="50130" y="0"/>
                  </a:cubicBezTo>
                  <a:close/>
                </a:path>
              </a:pathLst>
            </a:custGeom>
            <a:blipFill>
              <a:blip r:embed="rId6"/>
              <a:stretch>
                <a:fillRect l="-38888" t="0" r="-38888" b="0"/>
              </a:stretch>
            </a:blipFill>
          </p:spPr>
        </p:sp>
      </p:grpSp>
      <p:grpSp>
        <p:nvGrpSpPr>
          <p:cNvPr name="Group 38" id="38"/>
          <p:cNvGrpSpPr/>
          <p:nvPr/>
        </p:nvGrpSpPr>
        <p:grpSpPr>
          <a:xfrm rot="0">
            <a:off x="9562827" y="5143500"/>
            <a:ext cx="3552033" cy="3552033"/>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50130" y="0"/>
                  </a:moveTo>
                  <a:lnTo>
                    <a:pt x="762670" y="0"/>
                  </a:lnTo>
                  <a:cubicBezTo>
                    <a:pt x="790356" y="0"/>
                    <a:pt x="812800" y="22444"/>
                    <a:pt x="812800" y="50130"/>
                  </a:cubicBezTo>
                  <a:lnTo>
                    <a:pt x="812800" y="762670"/>
                  </a:lnTo>
                  <a:cubicBezTo>
                    <a:pt x="812800" y="790356"/>
                    <a:pt x="790356" y="812800"/>
                    <a:pt x="762670" y="812800"/>
                  </a:cubicBezTo>
                  <a:lnTo>
                    <a:pt x="50130" y="812800"/>
                  </a:lnTo>
                  <a:cubicBezTo>
                    <a:pt x="22444" y="812800"/>
                    <a:pt x="0" y="790356"/>
                    <a:pt x="0" y="762670"/>
                  </a:cubicBezTo>
                  <a:lnTo>
                    <a:pt x="0" y="50130"/>
                  </a:lnTo>
                  <a:cubicBezTo>
                    <a:pt x="0" y="22444"/>
                    <a:pt x="22444" y="0"/>
                    <a:pt x="50130" y="0"/>
                  </a:cubicBezTo>
                  <a:close/>
                </a:path>
              </a:pathLst>
            </a:custGeom>
            <a:blipFill>
              <a:blip r:embed="rId7"/>
              <a:stretch>
                <a:fillRect l="-25046" t="0" r="-25046" b="0"/>
              </a:stretch>
            </a:blipFill>
          </p:spPr>
        </p:sp>
      </p:grpSp>
      <p:grpSp>
        <p:nvGrpSpPr>
          <p:cNvPr name="Group 40" id="40"/>
          <p:cNvGrpSpPr/>
          <p:nvPr/>
        </p:nvGrpSpPr>
        <p:grpSpPr>
          <a:xfrm rot="0">
            <a:off x="5218111" y="5248974"/>
            <a:ext cx="3552033" cy="3552033"/>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50130" y="0"/>
                  </a:moveTo>
                  <a:lnTo>
                    <a:pt x="762670" y="0"/>
                  </a:lnTo>
                  <a:cubicBezTo>
                    <a:pt x="790356" y="0"/>
                    <a:pt x="812800" y="22444"/>
                    <a:pt x="812800" y="50130"/>
                  </a:cubicBezTo>
                  <a:lnTo>
                    <a:pt x="812800" y="762670"/>
                  </a:lnTo>
                  <a:cubicBezTo>
                    <a:pt x="812800" y="790356"/>
                    <a:pt x="790356" y="812800"/>
                    <a:pt x="762670" y="812800"/>
                  </a:cubicBezTo>
                  <a:lnTo>
                    <a:pt x="50130" y="812800"/>
                  </a:lnTo>
                  <a:cubicBezTo>
                    <a:pt x="22444" y="812800"/>
                    <a:pt x="0" y="790356"/>
                    <a:pt x="0" y="762670"/>
                  </a:cubicBezTo>
                  <a:lnTo>
                    <a:pt x="0" y="50130"/>
                  </a:lnTo>
                  <a:cubicBezTo>
                    <a:pt x="0" y="22444"/>
                    <a:pt x="22444" y="0"/>
                    <a:pt x="50130" y="0"/>
                  </a:cubicBezTo>
                  <a:close/>
                </a:path>
              </a:pathLst>
            </a:custGeom>
            <a:blipFill>
              <a:blip r:embed="rId8"/>
              <a:stretch>
                <a:fillRect l="-25046" t="0" r="-25046"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sp>
        <p:nvSpPr>
          <p:cNvPr name="Freeform 7" id="7" descr="preencoded.png"/>
          <p:cNvSpPr/>
          <p:nvPr/>
        </p:nvSpPr>
        <p:spPr>
          <a:xfrm flipH="false" flipV="false" rot="0">
            <a:off x="0" y="0"/>
            <a:ext cx="18288000" cy="3534072"/>
          </a:xfrm>
          <a:custGeom>
            <a:avLst/>
            <a:gdLst/>
            <a:ahLst/>
            <a:cxnLst/>
            <a:rect r="r" b="b" t="t" l="l"/>
            <a:pathLst>
              <a:path h="3534072" w="18288000">
                <a:moveTo>
                  <a:pt x="0" y="0"/>
                </a:moveTo>
                <a:lnTo>
                  <a:pt x="18288000" y="0"/>
                </a:lnTo>
                <a:lnTo>
                  <a:pt x="18288000" y="3534072"/>
                </a:lnTo>
                <a:lnTo>
                  <a:pt x="0" y="3534072"/>
                </a:lnTo>
                <a:lnTo>
                  <a:pt x="0" y="0"/>
                </a:lnTo>
                <a:close/>
              </a:path>
            </a:pathLst>
          </a:custGeom>
          <a:blipFill>
            <a:blip r:embed="rId5"/>
            <a:stretch>
              <a:fillRect l="-4" t="0" r="-4" b="0"/>
            </a:stretch>
          </a:blipFill>
        </p:spPr>
      </p:sp>
      <p:grpSp>
        <p:nvGrpSpPr>
          <p:cNvPr name="Group 8" id="8"/>
          <p:cNvGrpSpPr/>
          <p:nvPr/>
        </p:nvGrpSpPr>
        <p:grpSpPr>
          <a:xfrm rot="0">
            <a:off x="989559" y="4312295"/>
            <a:ext cx="10073012" cy="1033915"/>
            <a:chOff x="0" y="0"/>
            <a:chExt cx="13430683" cy="1378553"/>
          </a:xfrm>
        </p:grpSpPr>
        <p:sp>
          <p:nvSpPr>
            <p:cNvPr name="Freeform 9" id="9"/>
            <p:cNvSpPr/>
            <p:nvPr/>
          </p:nvSpPr>
          <p:spPr>
            <a:xfrm flipH="false" flipV="false" rot="0">
              <a:off x="0" y="0"/>
              <a:ext cx="13430683" cy="1378553"/>
            </a:xfrm>
            <a:custGeom>
              <a:avLst/>
              <a:gdLst/>
              <a:ahLst/>
              <a:cxnLst/>
              <a:rect r="r" b="b" t="t" l="l"/>
              <a:pathLst>
                <a:path h="1378553" w="13430683">
                  <a:moveTo>
                    <a:pt x="0" y="0"/>
                  </a:moveTo>
                  <a:lnTo>
                    <a:pt x="13430683" y="0"/>
                  </a:lnTo>
                  <a:lnTo>
                    <a:pt x="13430683" y="1378553"/>
                  </a:lnTo>
                  <a:lnTo>
                    <a:pt x="0" y="1378553"/>
                  </a:lnTo>
                  <a:close/>
                </a:path>
              </a:pathLst>
            </a:custGeom>
            <a:solidFill>
              <a:srgbClr val="000000">
                <a:alpha val="0"/>
              </a:srgbClr>
            </a:solidFill>
          </p:spPr>
        </p:sp>
        <p:sp>
          <p:nvSpPr>
            <p:cNvPr name="TextBox 10" id="10"/>
            <p:cNvSpPr txBox="true"/>
            <p:nvPr/>
          </p:nvSpPr>
          <p:spPr>
            <a:xfrm>
              <a:off x="0" y="-19050"/>
              <a:ext cx="13430683" cy="1397603"/>
            </a:xfrm>
            <a:prstGeom prst="rect">
              <a:avLst/>
            </a:prstGeom>
          </p:spPr>
          <p:txBody>
            <a:bodyPr anchor="t" rtlCol="false" tIns="0" lIns="0" bIns="0" rIns="0"/>
            <a:lstStyle/>
            <a:p>
              <a:pPr algn="l">
                <a:lnSpc>
                  <a:spcPts val="6500"/>
                </a:lnSpc>
              </a:pPr>
              <a:r>
                <a:rPr lang="en-US" sz="5187" b="true">
                  <a:solidFill>
                    <a:srgbClr val="FFD9BE"/>
                  </a:solidFill>
                  <a:latin typeface="Montserrat Bold"/>
                  <a:ea typeface="Montserrat Bold"/>
                  <a:cs typeface="Montserrat Bold"/>
                  <a:sym typeface="Montserrat Bold"/>
                </a:rPr>
                <a:t>Kết luận và bước tiếp theo</a:t>
              </a:r>
            </a:p>
          </p:txBody>
        </p:sp>
      </p:grpSp>
      <p:grpSp>
        <p:nvGrpSpPr>
          <p:cNvPr name="Group 11" id="11"/>
          <p:cNvGrpSpPr/>
          <p:nvPr/>
        </p:nvGrpSpPr>
        <p:grpSpPr>
          <a:xfrm rot="0">
            <a:off x="989559" y="5567809"/>
            <a:ext cx="8013204" cy="1602879"/>
            <a:chOff x="0" y="0"/>
            <a:chExt cx="10684272" cy="2137172"/>
          </a:xfrm>
        </p:grpSpPr>
        <p:sp>
          <p:nvSpPr>
            <p:cNvPr name="Freeform 12" id="12"/>
            <p:cNvSpPr/>
            <p:nvPr/>
          </p:nvSpPr>
          <p:spPr>
            <a:xfrm flipH="false" flipV="false" rot="0">
              <a:off x="0" y="0"/>
              <a:ext cx="10684256" cy="2137156"/>
            </a:xfrm>
            <a:custGeom>
              <a:avLst/>
              <a:gdLst/>
              <a:ahLst/>
              <a:cxnLst/>
              <a:rect r="r" b="b" t="t" l="l"/>
              <a:pathLst>
                <a:path h="2137156" w="10684256">
                  <a:moveTo>
                    <a:pt x="0" y="56515"/>
                  </a:moveTo>
                  <a:cubicBezTo>
                    <a:pt x="0" y="25273"/>
                    <a:pt x="25273" y="0"/>
                    <a:pt x="56515" y="0"/>
                  </a:cubicBezTo>
                  <a:lnTo>
                    <a:pt x="10627741" y="0"/>
                  </a:lnTo>
                  <a:cubicBezTo>
                    <a:pt x="10658983" y="0"/>
                    <a:pt x="10684256" y="25273"/>
                    <a:pt x="10684256" y="56515"/>
                  </a:cubicBezTo>
                  <a:lnTo>
                    <a:pt x="10684256" y="2080641"/>
                  </a:lnTo>
                  <a:cubicBezTo>
                    <a:pt x="10684256" y="2111883"/>
                    <a:pt x="10658983" y="2137156"/>
                    <a:pt x="10627741" y="2137156"/>
                  </a:cubicBezTo>
                  <a:lnTo>
                    <a:pt x="56515" y="2137156"/>
                  </a:lnTo>
                  <a:cubicBezTo>
                    <a:pt x="25273" y="2137156"/>
                    <a:pt x="0" y="2111883"/>
                    <a:pt x="0" y="2080641"/>
                  </a:cubicBezTo>
                  <a:close/>
                </a:path>
              </a:pathLst>
            </a:custGeom>
            <a:solidFill>
              <a:srgbClr val="315251"/>
            </a:solidFill>
          </p:spPr>
        </p:sp>
      </p:grpSp>
      <p:grpSp>
        <p:nvGrpSpPr>
          <p:cNvPr name="Group 13" id="13"/>
          <p:cNvGrpSpPr/>
          <p:nvPr/>
        </p:nvGrpSpPr>
        <p:grpSpPr>
          <a:xfrm rot="0">
            <a:off x="1272182" y="5850434"/>
            <a:ext cx="3951451" cy="510691"/>
            <a:chOff x="0" y="0"/>
            <a:chExt cx="5268601" cy="680921"/>
          </a:xfrm>
        </p:grpSpPr>
        <p:sp>
          <p:nvSpPr>
            <p:cNvPr name="Freeform 14" id="14"/>
            <p:cNvSpPr/>
            <p:nvPr/>
          </p:nvSpPr>
          <p:spPr>
            <a:xfrm flipH="false" flipV="false" rot="0">
              <a:off x="0" y="0"/>
              <a:ext cx="5268602" cy="680921"/>
            </a:xfrm>
            <a:custGeom>
              <a:avLst/>
              <a:gdLst/>
              <a:ahLst/>
              <a:cxnLst/>
              <a:rect r="r" b="b" t="t" l="l"/>
              <a:pathLst>
                <a:path h="680921" w="5268602">
                  <a:moveTo>
                    <a:pt x="0" y="0"/>
                  </a:moveTo>
                  <a:lnTo>
                    <a:pt x="5268602" y="0"/>
                  </a:lnTo>
                  <a:lnTo>
                    <a:pt x="5268602" y="680921"/>
                  </a:lnTo>
                  <a:lnTo>
                    <a:pt x="0" y="680921"/>
                  </a:lnTo>
                  <a:close/>
                </a:path>
              </a:pathLst>
            </a:custGeom>
            <a:solidFill>
              <a:srgbClr val="000000">
                <a:alpha val="0"/>
              </a:srgbClr>
            </a:solidFill>
          </p:spPr>
        </p:sp>
        <p:sp>
          <p:nvSpPr>
            <p:cNvPr name="TextBox 15" id="15"/>
            <p:cNvSpPr txBox="true"/>
            <p:nvPr/>
          </p:nvSpPr>
          <p:spPr>
            <a:xfrm>
              <a:off x="0" y="-19050"/>
              <a:ext cx="5268601" cy="699971"/>
            </a:xfrm>
            <a:prstGeom prst="rect">
              <a:avLst/>
            </a:prstGeom>
          </p:spPr>
          <p:txBody>
            <a:bodyPr anchor="t" rtlCol="false" tIns="0" lIns="0" bIns="0" rIns="0"/>
            <a:lstStyle/>
            <a:p>
              <a:pPr algn="l">
                <a:lnSpc>
                  <a:spcPts val="3250"/>
                </a:lnSpc>
              </a:pPr>
              <a:r>
                <a:rPr lang="en-US" sz="2562">
                  <a:solidFill>
                    <a:srgbClr val="F9EEE7"/>
                  </a:solidFill>
                  <a:latin typeface="Montserrat"/>
                  <a:ea typeface="Montserrat"/>
                  <a:cs typeface="Montserrat"/>
                  <a:sym typeface="Montserrat"/>
                </a:rPr>
                <a:t>Dễ dùng và hiệu quả</a:t>
              </a:r>
            </a:p>
          </p:txBody>
        </p:sp>
      </p:grpSp>
      <p:grpSp>
        <p:nvGrpSpPr>
          <p:cNvPr name="Group 16" id="16"/>
          <p:cNvGrpSpPr/>
          <p:nvPr/>
        </p:nvGrpSpPr>
        <p:grpSpPr>
          <a:xfrm rot="0">
            <a:off x="1272182" y="6435626"/>
            <a:ext cx="7447955" cy="452438"/>
            <a:chOff x="0" y="0"/>
            <a:chExt cx="9930607" cy="603250"/>
          </a:xfrm>
        </p:grpSpPr>
        <p:sp>
          <p:nvSpPr>
            <p:cNvPr name="Freeform 17" id="17"/>
            <p:cNvSpPr/>
            <p:nvPr/>
          </p:nvSpPr>
          <p:spPr>
            <a:xfrm flipH="false" flipV="false" rot="0">
              <a:off x="0" y="0"/>
              <a:ext cx="9930607" cy="603250"/>
            </a:xfrm>
            <a:custGeom>
              <a:avLst/>
              <a:gdLst/>
              <a:ahLst/>
              <a:cxnLst/>
              <a:rect r="r" b="b" t="t" l="l"/>
              <a:pathLst>
                <a:path h="603250" w="9930607">
                  <a:moveTo>
                    <a:pt x="0" y="0"/>
                  </a:moveTo>
                  <a:lnTo>
                    <a:pt x="9930607" y="0"/>
                  </a:lnTo>
                  <a:lnTo>
                    <a:pt x="9930607" y="603250"/>
                  </a:lnTo>
                  <a:lnTo>
                    <a:pt x="0" y="603250"/>
                  </a:lnTo>
                  <a:close/>
                </a:path>
              </a:pathLst>
            </a:custGeom>
            <a:solidFill>
              <a:srgbClr val="000000">
                <a:alpha val="0"/>
              </a:srgbClr>
            </a:solidFill>
          </p:spPr>
        </p:sp>
        <p:sp>
          <p:nvSpPr>
            <p:cNvPr name="TextBox 18" id="18"/>
            <p:cNvSpPr txBox="true"/>
            <p:nvPr/>
          </p:nvSpPr>
          <p:spPr>
            <a:xfrm>
              <a:off x="0" y="-85725"/>
              <a:ext cx="9930607" cy="688975"/>
            </a:xfrm>
            <a:prstGeom prst="rect">
              <a:avLst/>
            </a:prstGeom>
          </p:spPr>
          <p:txBody>
            <a:bodyPr anchor="t" rtlCol="false" tIns="0" lIns="0" bIns="0" rIns="0"/>
            <a:lstStyle/>
            <a:p>
              <a:pPr algn="l">
                <a:lnSpc>
                  <a:spcPts val="3500"/>
                </a:lnSpc>
              </a:pPr>
              <a:r>
                <a:rPr lang="en-US" sz="2187">
                  <a:solidFill>
                    <a:srgbClr val="F9EEE7"/>
                  </a:solidFill>
                  <a:latin typeface="Montserrat"/>
                  <a:ea typeface="Montserrat"/>
                  <a:cs typeface="Montserrat"/>
                  <a:sym typeface="Montserrat"/>
                </a:rPr>
                <a:t>Mô hình cơ bản, phổ biến trong dự báo và phân tích.</a:t>
              </a:r>
            </a:p>
          </p:txBody>
        </p:sp>
      </p:grpSp>
      <p:grpSp>
        <p:nvGrpSpPr>
          <p:cNvPr name="Group 19" id="19"/>
          <p:cNvGrpSpPr/>
          <p:nvPr/>
        </p:nvGrpSpPr>
        <p:grpSpPr>
          <a:xfrm rot="0">
            <a:off x="9285386" y="5567809"/>
            <a:ext cx="8013204" cy="1602879"/>
            <a:chOff x="0" y="0"/>
            <a:chExt cx="10684272" cy="2137172"/>
          </a:xfrm>
        </p:grpSpPr>
        <p:sp>
          <p:nvSpPr>
            <p:cNvPr name="Freeform 20" id="20"/>
            <p:cNvSpPr/>
            <p:nvPr/>
          </p:nvSpPr>
          <p:spPr>
            <a:xfrm flipH="false" flipV="false" rot="0">
              <a:off x="0" y="0"/>
              <a:ext cx="10684256" cy="2137156"/>
            </a:xfrm>
            <a:custGeom>
              <a:avLst/>
              <a:gdLst/>
              <a:ahLst/>
              <a:cxnLst/>
              <a:rect r="r" b="b" t="t" l="l"/>
              <a:pathLst>
                <a:path h="2137156" w="10684256">
                  <a:moveTo>
                    <a:pt x="0" y="56515"/>
                  </a:moveTo>
                  <a:cubicBezTo>
                    <a:pt x="0" y="25273"/>
                    <a:pt x="25273" y="0"/>
                    <a:pt x="56515" y="0"/>
                  </a:cubicBezTo>
                  <a:lnTo>
                    <a:pt x="10627741" y="0"/>
                  </a:lnTo>
                  <a:cubicBezTo>
                    <a:pt x="10658983" y="0"/>
                    <a:pt x="10684256" y="25273"/>
                    <a:pt x="10684256" y="56515"/>
                  </a:cubicBezTo>
                  <a:lnTo>
                    <a:pt x="10684256" y="2080641"/>
                  </a:lnTo>
                  <a:cubicBezTo>
                    <a:pt x="10684256" y="2111883"/>
                    <a:pt x="10658983" y="2137156"/>
                    <a:pt x="10627741" y="2137156"/>
                  </a:cubicBezTo>
                  <a:lnTo>
                    <a:pt x="56515" y="2137156"/>
                  </a:lnTo>
                  <a:cubicBezTo>
                    <a:pt x="25273" y="2137156"/>
                    <a:pt x="0" y="2111883"/>
                    <a:pt x="0" y="2080641"/>
                  </a:cubicBezTo>
                  <a:close/>
                </a:path>
              </a:pathLst>
            </a:custGeom>
            <a:solidFill>
              <a:srgbClr val="315251"/>
            </a:solidFill>
          </p:spPr>
        </p:sp>
      </p:grpSp>
      <p:grpSp>
        <p:nvGrpSpPr>
          <p:cNvPr name="Group 21" id="21"/>
          <p:cNvGrpSpPr/>
          <p:nvPr/>
        </p:nvGrpSpPr>
        <p:grpSpPr>
          <a:xfrm rot="0">
            <a:off x="9568011" y="5850434"/>
            <a:ext cx="3723977" cy="510691"/>
            <a:chOff x="0" y="0"/>
            <a:chExt cx="4965302" cy="680921"/>
          </a:xfrm>
        </p:grpSpPr>
        <p:sp>
          <p:nvSpPr>
            <p:cNvPr name="Freeform 22" id="22"/>
            <p:cNvSpPr/>
            <p:nvPr/>
          </p:nvSpPr>
          <p:spPr>
            <a:xfrm flipH="false" flipV="false" rot="0">
              <a:off x="0" y="0"/>
              <a:ext cx="4965303" cy="680921"/>
            </a:xfrm>
            <a:custGeom>
              <a:avLst/>
              <a:gdLst/>
              <a:ahLst/>
              <a:cxnLst/>
              <a:rect r="r" b="b" t="t" l="l"/>
              <a:pathLst>
                <a:path h="680921" w="4965303">
                  <a:moveTo>
                    <a:pt x="0" y="0"/>
                  </a:moveTo>
                  <a:lnTo>
                    <a:pt x="4965303" y="0"/>
                  </a:lnTo>
                  <a:lnTo>
                    <a:pt x="4965303" y="680921"/>
                  </a:lnTo>
                  <a:lnTo>
                    <a:pt x="0" y="680921"/>
                  </a:lnTo>
                  <a:close/>
                </a:path>
              </a:pathLst>
            </a:custGeom>
            <a:solidFill>
              <a:srgbClr val="000000">
                <a:alpha val="0"/>
              </a:srgbClr>
            </a:solidFill>
          </p:spPr>
        </p:sp>
        <p:sp>
          <p:nvSpPr>
            <p:cNvPr name="TextBox 23" id="23"/>
            <p:cNvSpPr txBox="true"/>
            <p:nvPr/>
          </p:nvSpPr>
          <p:spPr>
            <a:xfrm>
              <a:off x="0" y="-19050"/>
              <a:ext cx="4965302" cy="699971"/>
            </a:xfrm>
            <a:prstGeom prst="rect">
              <a:avLst/>
            </a:prstGeom>
          </p:spPr>
          <p:txBody>
            <a:bodyPr anchor="t" rtlCol="false" tIns="0" lIns="0" bIns="0" rIns="0"/>
            <a:lstStyle/>
            <a:p>
              <a:pPr algn="l">
                <a:lnSpc>
                  <a:spcPts val="3250"/>
                </a:lnSpc>
              </a:pPr>
              <a:r>
                <a:rPr lang="en-US" sz="2562">
                  <a:solidFill>
                    <a:srgbClr val="F9EEE7"/>
                  </a:solidFill>
                  <a:latin typeface="Montserrat"/>
                  <a:ea typeface="Montserrat"/>
                  <a:cs typeface="Montserrat"/>
                  <a:sym typeface="Montserrat"/>
                </a:rPr>
                <a:t>Cần đảm bảo giả định</a:t>
              </a:r>
            </a:p>
          </p:txBody>
        </p:sp>
      </p:grpSp>
      <p:grpSp>
        <p:nvGrpSpPr>
          <p:cNvPr name="Group 24" id="24"/>
          <p:cNvGrpSpPr/>
          <p:nvPr/>
        </p:nvGrpSpPr>
        <p:grpSpPr>
          <a:xfrm rot="0">
            <a:off x="9568011" y="6435626"/>
            <a:ext cx="7447955" cy="452438"/>
            <a:chOff x="0" y="0"/>
            <a:chExt cx="9930607" cy="603250"/>
          </a:xfrm>
        </p:grpSpPr>
        <p:sp>
          <p:nvSpPr>
            <p:cNvPr name="Freeform 25" id="25"/>
            <p:cNvSpPr/>
            <p:nvPr/>
          </p:nvSpPr>
          <p:spPr>
            <a:xfrm flipH="false" flipV="false" rot="0">
              <a:off x="0" y="0"/>
              <a:ext cx="9930607" cy="603250"/>
            </a:xfrm>
            <a:custGeom>
              <a:avLst/>
              <a:gdLst/>
              <a:ahLst/>
              <a:cxnLst/>
              <a:rect r="r" b="b" t="t" l="l"/>
              <a:pathLst>
                <a:path h="603250" w="9930607">
                  <a:moveTo>
                    <a:pt x="0" y="0"/>
                  </a:moveTo>
                  <a:lnTo>
                    <a:pt x="9930607" y="0"/>
                  </a:lnTo>
                  <a:lnTo>
                    <a:pt x="9930607" y="603250"/>
                  </a:lnTo>
                  <a:lnTo>
                    <a:pt x="0" y="603250"/>
                  </a:lnTo>
                  <a:close/>
                </a:path>
              </a:pathLst>
            </a:custGeom>
            <a:solidFill>
              <a:srgbClr val="000000">
                <a:alpha val="0"/>
              </a:srgbClr>
            </a:solidFill>
          </p:spPr>
        </p:sp>
        <p:sp>
          <p:nvSpPr>
            <p:cNvPr name="TextBox 26" id="26"/>
            <p:cNvSpPr txBox="true"/>
            <p:nvPr/>
          </p:nvSpPr>
          <p:spPr>
            <a:xfrm>
              <a:off x="0" y="-85725"/>
              <a:ext cx="9930607" cy="688975"/>
            </a:xfrm>
            <a:prstGeom prst="rect">
              <a:avLst/>
            </a:prstGeom>
          </p:spPr>
          <p:txBody>
            <a:bodyPr anchor="t" rtlCol="false" tIns="0" lIns="0" bIns="0" rIns="0"/>
            <a:lstStyle/>
            <a:p>
              <a:pPr algn="l">
                <a:lnSpc>
                  <a:spcPts val="3500"/>
                </a:lnSpc>
              </a:pPr>
              <a:r>
                <a:rPr lang="en-US" sz="2187">
                  <a:solidFill>
                    <a:srgbClr val="F9EEE7"/>
                  </a:solidFill>
                  <a:latin typeface="Montserrat"/>
                  <a:ea typeface="Montserrat"/>
                  <a:cs typeface="Montserrat"/>
                  <a:sym typeface="Montserrat"/>
                </a:rPr>
                <a:t>Giả định đúng giúp mô hình chính xác hơn.</a:t>
              </a:r>
            </a:p>
          </p:txBody>
        </p:sp>
      </p:grpSp>
      <p:grpSp>
        <p:nvGrpSpPr>
          <p:cNvPr name="Group 27" id="27"/>
          <p:cNvGrpSpPr/>
          <p:nvPr/>
        </p:nvGrpSpPr>
        <p:grpSpPr>
          <a:xfrm rot="0">
            <a:off x="989559" y="7453312"/>
            <a:ext cx="8013204" cy="2055316"/>
            <a:chOff x="0" y="0"/>
            <a:chExt cx="10684272" cy="2740422"/>
          </a:xfrm>
        </p:grpSpPr>
        <p:sp>
          <p:nvSpPr>
            <p:cNvPr name="Freeform 28" id="28"/>
            <p:cNvSpPr/>
            <p:nvPr/>
          </p:nvSpPr>
          <p:spPr>
            <a:xfrm flipH="false" flipV="false" rot="0">
              <a:off x="0" y="0"/>
              <a:ext cx="10684256" cy="2740406"/>
            </a:xfrm>
            <a:custGeom>
              <a:avLst/>
              <a:gdLst/>
              <a:ahLst/>
              <a:cxnLst/>
              <a:rect r="r" b="b" t="t" l="l"/>
              <a:pathLst>
                <a:path h="2740406" w="10684256">
                  <a:moveTo>
                    <a:pt x="0" y="56515"/>
                  </a:moveTo>
                  <a:cubicBezTo>
                    <a:pt x="0" y="25273"/>
                    <a:pt x="25273" y="0"/>
                    <a:pt x="56515" y="0"/>
                  </a:cubicBezTo>
                  <a:lnTo>
                    <a:pt x="10627741" y="0"/>
                  </a:lnTo>
                  <a:cubicBezTo>
                    <a:pt x="10658983" y="0"/>
                    <a:pt x="10684256" y="25273"/>
                    <a:pt x="10684256" y="56515"/>
                  </a:cubicBezTo>
                  <a:lnTo>
                    <a:pt x="10684256" y="2683891"/>
                  </a:lnTo>
                  <a:cubicBezTo>
                    <a:pt x="10684256" y="2715133"/>
                    <a:pt x="10658983" y="2740406"/>
                    <a:pt x="10627741" y="2740406"/>
                  </a:cubicBezTo>
                  <a:lnTo>
                    <a:pt x="56515" y="2740406"/>
                  </a:lnTo>
                  <a:cubicBezTo>
                    <a:pt x="25273" y="2740406"/>
                    <a:pt x="0" y="2715133"/>
                    <a:pt x="0" y="2683891"/>
                  </a:cubicBezTo>
                  <a:close/>
                </a:path>
              </a:pathLst>
            </a:custGeom>
            <a:solidFill>
              <a:srgbClr val="315251"/>
            </a:solidFill>
          </p:spPr>
        </p:sp>
      </p:grpSp>
      <p:grpSp>
        <p:nvGrpSpPr>
          <p:cNvPr name="Group 29" id="29"/>
          <p:cNvGrpSpPr/>
          <p:nvPr/>
        </p:nvGrpSpPr>
        <p:grpSpPr>
          <a:xfrm rot="0">
            <a:off x="1272182" y="7735938"/>
            <a:ext cx="5384806" cy="510691"/>
            <a:chOff x="0" y="0"/>
            <a:chExt cx="7179741" cy="680921"/>
          </a:xfrm>
        </p:grpSpPr>
        <p:sp>
          <p:nvSpPr>
            <p:cNvPr name="Freeform 30" id="30"/>
            <p:cNvSpPr/>
            <p:nvPr/>
          </p:nvSpPr>
          <p:spPr>
            <a:xfrm flipH="false" flipV="false" rot="0">
              <a:off x="0" y="0"/>
              <a:ext cx="7179741" cy="680921"/>
            </a:xfrm>
            <a:custGeom>
              <a:avLst/>
              <a:gdLst/>
              <a:ahLst/>
              <a:cxnLst/>
              <a:rect r="r" b="b" t="t" l="l"/>
              <a:pathLst>
                <a:path h="680921" w="7179741">
                  <a:moveTo>
                    <a:pt x="0" y="0"/>
                  </a:moveTo>
                  <a:lnTo>
                    <a:pt x="7179741" y="0"/>
                  </a:lnTo>
                  <a:lnTo>
                    <a:pt x="7179741" y="680921"/>
                  </a:lnTo>
                  <a:lnTo>
                    <a:pt x="0" y="680921"/>
                  </a:lnTo>
                  <a:close/>
                </a:path>
              </a:pathLst>
            </a:custGeom>
            <a:solidFill>
              <a:srgbClr val="000000">
                <a:alpha val="0"/>
              </a:srgbClr>
            </a:solidFill>
          </p:spPr>
        </p:sp>
        <p:sp>
          <p:nvSpPr>
            <p:cNvPr name="TextBox 31" id="31"/>
            <p:cNvSpPr txBox="true"/>
            <p:nvPr/>
          </p:nvSpPr>
          <p:spPr>
            <a:xfrm>
              <a:off x="0" y="-19050"/>
              <a:ext cx="7179741" cy="699971"/>
            </a:xfrm>
            <a:prstGeom prst="rect">
              <a:avLst/>
            </a:prstGeom>
          </p:spPr>
          <p:txBody>
            <a:bodyPr anchor="t" rtlCol="false" tIns="0" lIns="0" bIns="0" rIns="0"/>
            <a:lstStyle/>
            <a:p>
              <a:pPr algn="l">
                <a:lnSpc>
                  <a:spcPts val="3250"/>
                </a:lnSpc>
              </a:pPr>
              <a:r>
                <a:rPr lang="en-US" sz="2562">
                  <a:solidFill>
                    <a:srgbClr val="F9EEE7"/>
                  </a:solidFill>
                  <a:latin typeface="Montserrat"/>
                  <a:ea typeface="Montserrat"/>
                  <a:cs typeface="Montserrat"/>
                  <a:sym typeface="Montserrat"/>
                </a:rPr>
                <a:t>Nền tảng cho mô hình nâng cao</a:t>
              </a:r>
            </a:p>
          </p:txBody>
        </p:sp>
      </p:grpSp>
      <p:grpSp>
        <p:nvGrpSpPr>
          <p:cNvPr name="Group 32" id="32"/>
          <p:cNvGrpSpPr/>
          <p:nvPr/>
        </p:nvGrpSpPr>
        <p:grpSpPr>
          <a:xfrm rot="0">
            <a:off x="1272182" y="8321129"/>
            <a:ext cx="7447955" cy="904875"/>
            <a:chOff x="0" y="0"/>
            <a:chExt cx="9930607" cy="1206500"/>
          </a:xfrm>
        </p:grpSpPr>
        <p:sp>
          <p:nvSpPr>
            <p:cNvPr name="Freeform 33" id="33"/>
            <p:cNvSpPr/>
            <p:nvPr/>
          </p:nvSpPr>
          <p:spPr>
            <a:xfrm flipH="false" flipV="false" rot="0">
              <a:off x="0" y="0"/>
              <a:ext cx="9930607" cy="1206500"/>
            </a:xfrm>
            <a:custGeom>
              <a:avLst/>
              <a:gdLst/>
              <a:ahLst/>
              <a:cxnLst/>
              <a:rect r="r" b="b" t="t" l="l"/>
              <a:pathLst>
                <a:path h="1206500" w="9930607">
                  <a:moveTo>
                    <a:pt x="0" y="0"/>
                  </a:moveTo>
                  <a:lnTo>
                    <a:pt x="9930607" y="0"/>
                  </a:lnTo>
                  <a:lnTo>
                    <a:pt x="9930607" y="1206500"/>
                  </a:lnTo>
                  <a:lnTo>
                    <a:pt x="0" y="1206500"/>
                  </a:lnTo>
                  <a:close/>
                </a:path>
              </a:pathLst>
            </a:custGeom>
            <a:solidFill>
              <a:srgbClr val="000000">
                <a:alpha val="0"/>
              </a:srgbClr>
            </a:solidFill>
          </p:spPr>
        </p:sp>
        <p:sp>
          <p:nvSpPr>
            <p:cNvPr name="TextBox 34" id="34"/>
            <p:cNvSpPr txBox="true"/>
            <p:nvPr/>
          </p:nvSpPr>
          <p:spPr>
            <a:xfrm>
              <a:off x="0" y="-85725"/>
              <a:ext cx="9930607" cy="1292225"/>
            </a:xfrm>
            <a:prstGeom prst="rect">
              <a:avLst/>
            </a:prstGeom>
          </p:spPr>
          <p:txBody>
            <a:bodyPr anchor="t" rtlCol="false" tIns="0" lIns="0" bIns="0" rIns="0"/>
            <a:lstStyle/>
            <a:p>
              <a:pPr algn="l">
                <a:lnSpc>
                  <a:spcPts val="3500"/>
                </a:lnSpc>
              </a:pPr>
              <a:r>
                <a:rPr lang="en-US" sz="2187">
                  <a:solidFill>
                    <a:srgbClr val="F9EEE7"/>
                  </a:solidFill>
                  <a:latin typeface="Montserrat"/>
                  <a:ea typeface="Montserrat"/>
                  <a:cs typeface="Montserrat"/>
                  <a:sym typeface="Montserrat"/>
                </a:rPr>
                <a:t>Điểm khởi đầu cho Ridge, Logistic và các phương pháp khác.</a:t>
              </a:r>
            </a:p>
          </p:txBody>
        </p:sp>
      </p:grpSp>
      <p:grpSp>
        <p:nvGrpSpPr>
          <p:cNvPr name="Group 35" id="35"/>
          <p:cNvGrpSpPr/>
          <p:nvPr/>
        </p:nvGrpSpPr>
        <p:grpSpPr>
          <a:xfrm rot="0">
            <a:off x="9285386" y="7453312"/>
            <a:ext cx="8013204" cy="2055316"/>
            <a:chOff x="0" y="0"/>
            <a:chExt cx="10684272" cy="2740422"/>
          </a:xfrm>
        </p:grpSpPr>
        <p:sp>
          <p:nvSpPr>
            <p:cNvPr name="Freeform 36" id="36"/>
            <p:cNvSpPr/>
            <p:nvPr/>
          </p:nvSpPr>
          <p:spPr>
            <a:xfrm flipH="false" flipV="false" rot="0">
              <a:off x="0" y="0"/>
              <a:ext cx="10684256" cy="2740406"/>
            </a:xfrm>
            <a:custGeom>
              <a:avLst/>
              <a:gdLst/>
              <a:ahLst/>
              <a:cxnLst/>
              <a:rect r="r" b="b" t="t" l="l"/>
              <a:pathLst>
                <a:path h="2740406" w="10684256">
                  <a:moveTo>
                    <a:pt x="0" y="56515"/>
                  </a:moveTo>
                  <a:cubicBezTo>
                    <a:pt x="0" y="25273"/>
                    <a:pt x="25273" y="0"/>
                    <a:pt x="56515" y="0"/>
                  </a:cubicBezTo>
                  <a:lnTo>
                    <a:pt x="10627741" y="0"/>
                  </a:lnTo>
                  <a:cubicBezTo>
                    <a:pt x="10658983" y="0"/>
                    <a:pt x="10684256" y="25273"/>
                    <a:pt x="10684256" y="56515"/>
                  </a:cubicBezTo>
                  <a:lnTo>
                    <a:pt x="10684256" y="2683891"/>
                  </a:lnTo>
                  <a:cubicBezTo>
                    <a:pt x="10684256" y="2715133"/>
                    <a:pt x="10658983" y="2740406"/>
                    <a:pt x="10627741" y="2740406"/>
                  </a:cubicBezTo>
                  <a:lnTo>
                    <a:pt x="56515" y="2740406"/>
                  </a:lnTo>
                  <a:cubicBezTo>
                    <a:pt x="25273" y="2740406"/>
                    <a:pt x="0" y="2715133"/>
                    <a:pt x="0" y="2683891"/>
                  </a:cubicBezTo>
                  <a:close/>
                </a:path>
              </a:pathLst>
            </a:custGeom>
            <a:solidFill>
              <a:srgbClr val="315251"/>
            </a:solidFill>
          </p:spPr>
        </p:sp>
      </p:grpSp>
      <p:grpSp>
        <p:nvGrpSpPr>
          <p:cNvPr name="Group 37" id="37"/>
          <p:cNvGrpSpPr/>
          <p:nvPr/>
        </p:nvGrpSpPr>
        <p:grpSpPr>
          <a:xfrm rot="0">
            <a:off x="9568011" y="7735937"/>
            <a:ext cx="3326160" cy="510691"/>
            <a:chOff x="0" y="0"/>
            <a:chExt cx="4434880" cy="680921"/>
          </a:xfrm>
        </p:grpSpPr>
        <p:sp>
          <p:nvSpPr>
            <p:cNvPr name="Freeform 38" id="38"/>
            <p:cNvSpPr/>
            <p:nvPr/>
          </p:nvSpPr>
          <p:spPr>
            <a:xfrm flipH="false" flipV="false" rot="0">
              <a:off x="0" y="0"/>
              <a:ext cx="4434880" cy="680921"/>
            </a:xfrm>
            <a:custGeom>
              <a:avLst/>
              <a:gdLst/>
              <a:ahLst/>
              <a:cxnLst/>
              <a:rect r="r" b="b" t="t" l="l"/>
              <a:pathLst>
                <a:path h="680921" w="4434880">
                  <a:moveTo>
                    <a:pt x="0" y="0"/>
                  </a:moveTo>
                  <a:lnTo>
                    <a:pt x="4434880" y="0"/>
                  </a:lnTo>
                  <a:lnTo>
                    <a:pt x="4434880" y="680921"/>
                  </a:lnTo>
                  <a:lnTo>
                    <a:pt x="0" y="680921"/>
                  </a:lnTo>
                  <a:close/>
                </a:path>
              </a:pathLst>
            </a:custGeom>
            <a:solidFill>
              <a:srgbClr val="000000">
                <a:alpha val="0"/>
              </a:srgbClr>
            </a:solidFill>
          </p:spPr>
        </p:sp>
        <p:sp>
          <p:nvSpPr>
            <p:cNvPr name="TextBox 39" id="39"/>
            <p:cNvSpPr txBox="true"/>
            <p:nvPr/>
          </p:nvSpPr>
          <p:spPr>
            <a:xfrm>
              <a:off x="0" y="-19050"/>
              <a:ext cx="4434880" cy="699971"/>
            </a:xfrm>
            <a:prstGeom prst="rect">
              <a:avLst/>
            </a:prstGeom>
          </p:spPr>
          <p:txBody>
            <a:bodyPr anchor="t" rtlCol="false" tIns="0" lIns="0" bIns="0" rIns="0"/>
            <a:lstStyle/>
            <a:p>
              <a:pPr algn="l">
                <a:lnSpc>
                  <a:spcPts val="3250"/>
                </a:lnSpc>
              </a:pPr>
              <a:r>
                <a:rPr lang="en-US" sz="2562">
                  <a:solidFill>
                    <a:srgbClr val="F9EEE7"/>
                  </a:solidFill>
                  <a:latin typeface="Montserrat"/>
                  <a:ea typeface="Montserrat"/>
                  <a:cs typeface="Montserrat"/>
                  <a:sym typeface="Montserrat"/>
                </a:rPr>
                <a:t>Ứng dụng rộng rãi</a:t>
              </a:r>
            </a:p>
          </p:txBody>
        </p:sp>
      </p:grpSp>
      <p:grpSp>
        <p:nvGrpSpPr>
          <p:cNvPr name="Group 40" id="40"/>
          <p:cNvGrpSpPr/>
          <p:nvPr/>
        </p:nvGrpSpPr>
        <p:grpSpPr>
          <a:xfrm rot="0">
            <a:off x="9568011" y="8321129"/>
            <a:ext cx="7447955" cy="452438"/>
            <a:chOff x="0" y="0"/>
            <a:chExt cx="9930607" cy="603250"/>
          </a:xfrm>
        </p:grpSpPr>
        <p:sp>
          <p:nvSpPr>
            <p:cNvPr name="Freeform 41" id="41"/>
            <p:cNvSpPr/>
            <p:nvPr/>
          </p:nvSpPr>
          <p:spPr>
            <a:xfrm flipH="false" flipV="false" rot="0">
              <a:off x="0" y="0"/>
              <a:ext cx="9930607" cy="603250"/>
            </a:xfrm>
            <a:custGeom>
              <a:avLst/>
              <a:gdLst/>
              <a:ahLst/>
              <a:cxnLst/>
              <a:rect r="r" b="b" t="t" l="l"/>
              <a:pathLst>
                <a:path h="603250" w="9930607">
                  <a:moveTo>
                    <a:pt x="0" y="0"/>
                  </a:moveTo>
                  <a:lnTo>
                    <a:pt x="9930607" y="0"/>
                  </a:lnTo>
                  <a:lnTo>
                    <a:pt x="9930607" y="603250"/>
                  </a:lnTo>
                  <a:lnTo>
                    <a:pt x="0" y="603250"/>
                  </a:lnTo>
                  <a:close/>
                </a:path>
              </a:pathLst>
            </a:custGeom>
            <a:solidFill>
              <a:srgbClr val="000000">
                <a:alpha val="0"/>
              </a:srgbClr>
            </a:solidFill>
          </p:spPr>
        </p:sp>
        <p:sp>
          <p:nvSpPr>
            <p:cNvPr name="TextBox 42" id="42"/>
            <p:cNvSpPr txBox="true"/>
            <p:nvPr/>
          </p:nvSpPr>
          <p:spPr>
            <a:xfrm>
              <a:off x="0" y="-85725"/>
              <a:ext cx="9930607" cy="688975"/>
            </a:xfrm>
            <a:prstGeom prst="rect">
              <a:avLst/>
            </a:prstGeom>
          </p:spPr>
          <p:txBody>
            <a:bodyPr anchor="t" rtlCol="false" tIns="0" lIns="0" bIns="0" rIns="0"/>
            <a:lstStyle/>
            <a:p>
              <a:pPr algn="l">
                <a:lnSpc>
                  <a:spcPts val="3500"/>
                </a:lnSpc>
              </a:pPr>
              <a:r>
                <a:rPr lang="en-US" sz="2187">
                  <a:solidFill>
                    <a:srgbClr val="F9EEE7"/>
                  </a:solidFill>
                  <a:latin typeface="Montserrat"/>
                  <a:ea typeface="Montserrat"/>
                  <a:cs typeface="Montserrat"/>
                  <a:sym typeface="Montserrat"/>
                </a:rPr>
                <a:t>Từ khoa học xã hội đến kỹ thuật và kinh tế thực tiễn.</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sp>
        <p:nvSpPr>
          <p:cNvPr name="Freeform 6" id="6" descr="preencoded.png">
            <a:hlinkClick r:id="rId4" tooltip="https://gamma.app/?utm_source=made-with-gamma"/>
          </p:cNvPr>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sp>
        <p:nvSpPr>
          <p:cNvPr name="Freeform 7" id="7"/>
          <p:cNvSpPr/>
          <p:nvPr/>
        </p:nvSpPr>
        <p:spPr>
          <a:xfrm flipH="false" flipV="false" rot="0">
            <a:off x="3317638" y="1297176"/>
            <a:ext cx="12301907" cy="3466901"/>
          </a:xfrm>
          <a:custGeom>
            <a:avLst/>
            <a:gdLst/>
            <a:ahLst/>
            <a:cxnLst/>
            <a:rect r="r" b="b" t="t" l="l"/>
            <a:pathLst>
              <a:path h="3466901" w="12301907">
                <a:moveTo>
                  <a:pt x="0" y="0"/>
                </a:moveTo>
                <a:lnTo>
                  <a:pt x="12301907" y="0"/>
                </a:lnTo>
                <a:lnTo>
                  <a:pt x="12301907" y="3466901"/>
                </a:lnTo>
                <a:lnTo>
                  <a:pt x="0" y="34669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444207">
            <a:off x="13916481" y="5423133"/>
            <a:ext cx="4664901" cy="5017948"/>
          </a:xfrm>
          <a:custGeom>
            <a:avLst/>
            <a:gdLst/>
            <a:ahLst/>
            <a:cxnLst/>
            <a:rect r="r" b="b" t="t" l="l"/>
            <a:pathLst>
              <a:path h="5017948" w="4664901">
                <a:moveTo>
                  <a:pt x="0" y="0"/>
                </a:moveTo>
                <a:lnTo>
                  <a:pt x="4664901" y="0"/>
                </a:lnTo>
                <a:lnTo>
                  <a:pt x="4664901" y="5017948"/>
                </a:lnTo>
                <a:lnTo>
                  <a:pt x="0" y="50179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6784585" y="4998630"/>
            <a:ext cx="4562782" cy="4114800"/>
          </a:xfrm>
          <a:custGeom>
            <a:avLst/>
            <a:gdLst/>
            <a:ahLst/>
            <a:cxnLst/>
            <a:rect r="r" b="b" t="t" l="l"/>
            <a:pathLst>
              <a:path h="4114800" w="4562782">
                <a:moveTo>
                  <a:pt x="0" y="0"/>
                </a:moveTo>
                <a:lnTo>
                  <a:pt x="4562783" y="0"/>
                </a:lnTo>
                <a:lnTo>
                  <a:pt x="4562783"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DAGnWW2Ty6o</dc:identifier>
  <dcterms:modified xsi:type="dcterms:W3CDTF">2011-08-01T06:04:30Z</dcterms:modified>
  <cp:revision>1</cp:revision>
  <dc:title>HQTT.pptx</dc:title>
</cp:coreProperties>
</file>