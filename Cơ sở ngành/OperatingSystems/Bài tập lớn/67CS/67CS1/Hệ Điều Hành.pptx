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Montserrat Classic Bold" charset="1" panose="00000800000000000000"/>
      <p:regular r:id="rId31"/>
    </p:embeddedFont>
    <p:embeddedFont>
      <p:font typeface="Oswald" charset="1" panose="00000500000000000000"/>
      <p:regular r:id="rId32"/>
    </p:embeddedFont>
    <p:embeddedFont>
      <p:font typeface="Oswald Bold" charset="1" panose="00000800000000000000"/>
      <p:regular r:id="rId33"/>
    </p:embeddedFont>
    <p:embeddedFont>
      <p:font typeface="DM Sans Bold" charset="1" panose="00000000000000000000"/>
      <p:regular r:id="rId34"/>
    </p:embeddedFont>
    <p:embeddedFont>
      <p:font typeface="DM Sans" charset="1" panose="00000000000000000000"/>
      <p:regular r:id="rId35"/>
    </p:embeddedFont>
    <p:embeddedFont>
      <p:font typeface="DejaVu Serif" charset="1" panose="02060603050605020204"/>
      <p:regular r:id="rId36"/>
    </p:embeddedFont>
    <p:embeddedFont>
      <p:font typeface="Open Sauce" charset="1" panose="00000500000000000000"/>
      <p:regular r:id="rId37"/>
    </p:embeddedFont>
    <p:embeddedFont>
      <p:font typeface="Anantason Expanded Bold" charset="1" panose="00000000000000000000"/>
      <p:regular r:id="rId38"/>
    </p:embeddedFont>
    <p:embeddedFont>
      <p:font typeface="Anantason Expanded" charset="1" panose="00000000000000000000"/>
      <p:regular r:id="rId39"/>
    </p:embeddedFont>
    <p:embeddedFont>
      <p:font typeface="Francois One" charset="1" panose="02000503040000020004"/>
      <p:regular r:id="rId40"/>
    </p:embeddedFont>
    <p:embeddedFont>
      <p:font typeface="Source Sans Pro" charset="1" panose="020B0503030403020204"/>
      <p:regular r:id="rId41"/>
    </p:embeddedFont>
    <p:embeddedFont>
      <p:font typeface="DM Sans Italics" charset="1" panose="00000000000000000000"/>
      <p:regular r:id="rId42"/>
    </p:embeddedFont>
    <p:embeddedFont>
      <p:font typeface="Heading Now 71-78" charset="1" panose="00000000000000000000"/>
      <p:regular r:id="rId43"/>
    </p:embeddedFont>
    <p:embeddedFont>
      <p:font typeface="Inter" charset="1" panose="020B0502030000000004"/>
      <p:regular r:id="rId44"/>
    </p:embeddedFont>
    <p:embeddedFont>
      <p:font typeface="Arimo" charset="1" panose="020B0604020202020204"/>
      <p:regular r:id="rId45"/>
    </p:embeddedFont>
    <p:embeddedFont>
      <p:font typeface="Barlow" charset="1" panose="00000500000000000000"/>
      <p:regular r:id="rId46"/>
    </p:embeddedFont>
    <p:embeddedFont>
      <p:font typeface="Aileron" charset="1" panose="00000500000000000000"/>
      <p:regular r:id="rId47"/>
    </p:embeddedFont>
    <p:embeddedFont>
      <p:font typeface="Bungee Shade" charset="1" panose="00000000000000000000"/>
      <p:regular r:id="rId48"/>
    </p:embeddedFont>
    <p:embeddedFont>
      <p:font typeface="Noto Sans Bold" charset="1" panose="020B0802040504020204"/>
      <p:regular r:id="rId49"/>
    </p:embeddedFont>
    <p:embeddedFont>
      <p:font typeface="Muli Bold" charset="1" panose="00000800000000000000"/>
      <p:regular r:id="rId50"/>
    </p:embeddedFont>
    <p:embeddedFont>
      <p:font typeface="Heading Now 71-78 Bold" charset="1" panose="000000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2" Target="../media/image37.png" Type="http://schemas.openxmlformats.org/officeDocument/2006/relationships/image"/><Relationship Id="rId3" Target="../media/image38.gif"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64420" y="4613323"/>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4" id="4"/>
          <p:cNvSpPr/>
          <p:nvPr/>
        </p:nvSpPr>
        <p:spPr>
          <a:xfrm flipH="false" flipV="false" rot="0">
            <a:off x="7147619" y="1804241"/>
            <a:ext cx="10547070" cy="10547070"/>
          </a:xfrm>
          <a:custGeom>
            <a:avLst/>
            <a:gdLst/>
            <a:ahLst/>
            <a:cxnLst/>
            <a:rect r="r" b="b" t="t" l="l"/>
            <a:pathLst>
              <a:path h="10547070" w="10547070">
                <a:moveTo>
                  <a:pt x="0" y="0"/>
                </a:moveTo>
                <a:lnTo>
                  <a:pt x="10547070" y="0"/>
                </a:lnTo>
                <a:lnTo>
                  <a:pt x="10547070" y="10547069"/>
                </a:lnTo>
                <a:lnTo>
                  <a:pt x="0" y="10547069"/>
                </a:lnTo>
                <a:lnTo>
                  <a:pt x="0" y="0"/>
                </a:lnTo>
                <a:close/>
              </a:path>
            </a:pathLst>
          </a:custGeom>
          <a:blipFill>
            <a:blip r:embed="rId4"/>
            <a:stretch>
              <a:fillRect l="0" t="0" r="0" b="0"/>
            </a:stretch>
          </a:blipFill>
        </p:spPr>
      </p:sp>
      <p:sp>
        <p:nvSpPr>
          <p:cNvPr name="TextBox 5" id="5"/>
          <p:cNvSpPr txBox="true"/>
          <p:nvPr/>
        </p:nvSpPr>
        <p:spPr>
          <a:xfrm rot="0">
            <a:off x="1205796" y="8572941"/>
            <a:ext cx="1865640" cy="284181"/>
          </a:xfrm>
          <a:prstGeom prst="rect">
            <a:avLst/>
          </a:prstGeom>
        </p:spPr>
        <p:txBody>
          <a:bodyPr anchor="t" rtlCol="false" tIns="0" lIns="0" bIns="0" rIns="0">
            <a:spAutoFit/>
          </a:bodyPr>
          <a:lstStyle/>
          <a:p>
            <a:pPr algn="ctr" marL="0" indent="0" lvl="0">
              <a:lnSpc>
                <a:spcPts val="2394"/>
              </a:lnSpc>
              <a:spcBef>
                <a:spcPct val="0"/>
              </a:spcBef>
            </a:pPr>
            <a:r>
              <a:rPr lang="en-US" b="true" sz="1735" spc="170">
                <a:solidFill>
                  <a:srgbClr val="231F20"/>
                </a:solidFill>
                <a:latin typeface="Montserrat Classic Bold"/>
                <a:ea typeface="Montserrat Classic Bold"/>
                <a:cs typeface="Montserrat Classic Bold"/>
                <a:sym typeface="Montserrat Classic Bold"/>
              </a:rPr>
              <a:t>NHÓM 2</a:t>
            </a:r>
          </a:p>
        </p:txBody>
      </p:sp>
      <p:sp>
        <p:nvSpPr>
          <p:cNvPr name="Freeform 6" id="6"/>
          <p:cNvSpPr/>
          <p:nvPr/>
        </p:nvSpPr>
        <p:spPr>
          <a:xfrm flipH="false" flipV="false" rot="0">
            <a:off x="2713989" y="6041809"/>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7" id="7"/>
          <p:cNvSpPr/>
          <p:nvPr/>
        </p:nvSpPr>
        <p:spPr>
          <a:xfrm flipH="false" flipV="false" rot="-10301691">
            <a:off x="15724455" y="5418071"/>
            <a:ext cx="4399233" cy="8229600"/>
          </a:xfrm>
          <a:custGeom>
            <a:avLst/>
            <a:gdLst/>
            <a:ahLst/>
            <a:cxnLst/>
            <a:rect r="r" b="b" t="t" l="l"/>
            <a:pathLst>
              <a:path h="8229600" w="4399233">
                <a:moveTo>
                  <a:pt x="0" y="0"/>
                </a:moveTo>
                <a:lnTo>
                  <a:pt x="4399233" y="0"/>
                </a:lnTo>
                <a:lnTo>
                  <a:pt x="4399233" y="8229600"/>
                </a:lnTo>
                <a:lnTo>
                  <a:pt x="0" y="8229600"/>
                </a:lnTo>
                <a:lnTo>
                  <a:pt x="0" y="0"/>
                </a:lnTo>
                <a:close/>
              </a:path>
            </a:pathLst>
          </a:custGeom>
          <a:blipFill>
            <a:blip r:embed="rId5"/>
            <a:stretch>
              <a:fillRect l="0" t="0" r="0" b="0"/>
            </a:stretch>
          </a:blipFill>
        </p:spPr>
      </p:sp>
      <p:sp>
        <p:nvSpPr>
          <p:cNvPr name="Freeform 8" id="8"/>
          <p:cNvSpPr/>
          <p:nvPr/>
        </p:nvSpPr>
        <p:spPr>
          <a:xfrm flipH="false" flipV="false" rot="0">
            <a:off x="778328" y="1400456"/>
            <a:ext cx="9722192" cy="3743044"/>
          </a:xfrm>
          <a:custGeom>
            <a:avLst/>
            <a:gdLst/>
            <a:ahLst/>
            <a:cxnLst/>
            <a:rect r="r" b="b" t="t" l="l"/>
            <a:pathLst>
              <a:path h="3743044" w="9722192">
                <a:moveTo>
                  <a:pt x="0" y="0"/>
                </a:moveTo>
                <a:lnTo>
                  <a:pt x="9722192" y="0"/>
                </a:lnTo>
                <a:lnTo>
                  <a:pt x="9722192" y="3743044"/>
                </a:lnTo>
                <a:lnTo>
                  <a:pt x="0" y="37430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733814" y="2101156"/>
            <a:ext cx="8766706" cy="2227343"/>
          </a:xfrm>
          <a:prstGeom prst="rect">
            <a:avLst/>
          </a:prstGeom>
        </p:spPr>
        <p:txBody>
          <a:bodyPr anchor="t" rtlCol="false" tIns="0" lIns="0" bIns="0" rIns="0">
            <a:spAutoFit/>
          </a:bodyPr>
          <a:lstStyle/>
          <a:p>
            <a:pPr algn="l" marL="0" indent="0" lvl="0">
              <a:lnSpc>
                <a:spcPts val="8930"/>
              </a:lnSpc>
              <a:spcBef>
                <a:spcPct val="0"/>
              </a:spcBef>
            </a:pPr>
            <a:r>
              <a:rPr lang="en-US" sz="6471" spc="634" strike="noStrike" u="none">
                <a:solidFill>
                  <a:srgbClr val="231F20"/>
                </a:solidFill>
                <a:latin typeface="Oswald"/>
                <a:ea typeface="Oswald"/>
                <a:cs typeface="Oswald"/>
                <a:sym typeface="Oswald"/>
              </a:rPr>
              <a:t>QUẢN LÝ TIẾN TRÌNH TRONG HỆ ĐIỀU HÀNH </a:t>
            </a:r>
          </a:p>
        </p:txBody>
      </p:sp>
      <p:sp>
        <p:nvSpPr>
          <p:cNvPr name="Freeform 10" id="10"/>
          <p:cNvSpPr/>
          <p:nvPr/>
        </p:nvSpPr>
        <p:spPr>
          <a:xfrm flipH="false" flipV="false" rot="-1063136">
            <a:off x="-2035197" y="5087570"/>
            <a:ext cx="4399233" cy="8229600"/>
          </a:xfrm>
          <a:custGeom>
            <a:avLst/>
            <a:gdLst/>
            <a:ahLst/>
            <a:cxnLst/>
            <a:rect r="r" b="b" t="t" l="l"/>
            <a:pathLst>
              <a:path h="8229600" w="4399233">
                <a:moveTo>
                  <a:pt x="0" y="0"/>
                </a:moveTo>
                <a:lnTo>
                  <a:pt x="4399233" y="0"/>
                </a:lnTo>
                <a:lnTo>
                  <a:pt x="4399233" y="8229600"/>
                </a:lnTo>
                <a:lnTo>
                  <a:pt x="0" y="8229600"/>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grpSp>
        <p:nvGrpSpPr>
          <p:cNvPr name="Group 2" id="2"/>
          <p:cNvGrpSpPr/>
          <p:nvPr/>
        </p:nvGrpSpPr>
        <p:grpSpPr>
          <a:xfrm rot="0">
            <a:off x="4887584" y="2530017"/>
            <a:ext cx="1480428" cy="5847542"/>
            <a:chOff x="0" y="0"/>
            <a:chExt cx="368852" cy="1456928"/>
          </a:xfrm>
        </p:grpSpPr>
        <p:sp>
          <p:nvSpPr>
            <p:cNvPr name="Freeform 3" id="3"/>
            <p:cNvSpPr/>
            <p:nvPr/>
          </p:nvSpPr>
          <p:spPr>
            <a:xfrm flipH="false" flipV="false" rot="0">
              <a:off x="0" y="0"/>
              <a:ext cx="368852" cy="1456928"/>
            </a:xfrm>
            <a:custGeom>
              <a:avLst/>
              <a:gdLst/>
              <a:ahLst/>
              <a:cxnLst/>
              <a:rect r="r" b="b" t="t" l="l"/>
              <a:pathLst>
                <a:path h="1456928" w="368852">
                  <a:moveTo>
                    <a:pt x="0" y="0"/>
                  </a:moveTo>
                  <a:lnTo>
                    <a:pt x="368852" y="0"/>
                  </a:lnTo>
                  <a:lnTo>
                    <a:pt x="368852" y="1456928"/>
                  </a:lnTo>
                  <a:lnTo>
                    <a:pt x="0" y="1456928"/>
                  </a:lnTo>
                  <a:close/>
                </a:path>
              </a:pathLst>
            </a:custGeom>
            <a:solidFill>
              <a:srgbClr val="FFD569"/>
            </a:solidFill>
          </p:spPr>
        </p:sp>
        <p:sp>
          <p:nvSpPr>
            <p:cNvPr name="TextBox 4" id="4"/>
            <p:cNvSpPr txBox="true"/>
            <p:nvPr/>
          </p:nvSpPr>
          <p:spPr>
            <a:xfrm>
              <a:off x="0" y="-19050"/>
              <a:ext cx="368852" cy="1475978"/>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9144000" y="5841073"/>
            <a:ext cx="4027356" cy="5631472"/>
          </a:xfrm>
          <a:custGeom>
            <a:avLst/>
            <a:gdLst/>
            <a:ahLst/>
            <a:cxnLst/>
            <a:rect r="r" b="b" t="t" l="l"/>
            <a:pathLst>
              <a:path h="5631472" w="4027356">
                <a:moveTo>
                  <a:pt x="0" y="0"/>
                </a:moveTo>
                <a:lnTo>
                  <a:pt x="4027356" y="0"/>
                </a:lnTo>
                <a:lnTo>
                  <a:pt x="4027356" y="5631472"/>
                </a:lnTo>
                <a:lnTo>
                  <a:pt x="0" y="5631472"/>
                </a:lnTo>
                <a:lnTo>
                  <a:pt x="0" y="0"/>
                </a:lnTo>
                <a:close/>
              </a:path>
            </a:pathLst>
          </a:custGeom>
          <a:blipFill>
            <a:blip r:embed="rId2"/>
            <a:stretch>
              <a:fillRect l="0" t="0" r="0" b="0"/>
            </a:stretch>
          </a:blipFill>
        </p:spPr>
      </p:sp>
      <p:sp>
        <p:nvSpPr>
          <p:cNvPr name="TextBox 6" id="6"/>
          <p:cNvSpPr txBox="true"/>
          <p:nvPr/>
        </p:nvSpPr>
        <p:spPr>
          <a:xfrm rot="0">
            <a:off x="3731212" y="719098"/>
            <a:ext cx="7426466" cy="1410869"/>
          </a:xfrm>
          <a:prstGeom prst="rect">
            <a:avLst/>
          </a:prstGeom>
        </p:spPr>
        <p:txBody>
          <a:bodyPr anchor="t" rtlCol="false" tIns="0" lIns="0" bIns="0" rIns="0">
            <a:spAutoFit/>
          </a:bodyPr>
          <a:lstStyle/>
          <a:p>
            <a:pPr algn="ctr">
              <a:lnSpc>
                <a:spcPts val="11429"/>
              </a:lnSpc>
            </a:pPr>
            <a:r>
              <a:rPr lang="en-US" b="true" sz="8282" spc="811">
                <a:solidFill>
                  <a:srgbClr val="231F20"/>
                </a:solidFill>
                <a:latin typeface="Oswald Bold"/>
                <a:ea typeface="Oswald Bold"/>
                <a:cs typeface="Oswald Bold"/>
                <a:sym typeface="Oswald Bold"/>
              </a:rPr>
              <a:t>CONTENTS</a:t>
            </a:r>
          </a:p>
        </p:txBody>
      </p:sp>
      <p:sp>
        <p:nvSpPr>
          <p:cNvPr name="TextBox 7" id="7"/>
          <p:cNvSpPr txBox="true"/>
          <p:nvPr/>
        </p:nvSpPr>
        <p:spPr>
          <a:xfrm rot="0">
            <a:off x="5111720" y="2882039"/>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01</a:t>
            </a:r>
          </a:p>
        </p:txBody>
      </p:sp>
      <p:sp>
        <p:nvSpPr>
          <p:cNvPr name="TextBox 8" id="8"/>
          <p:cNvSpPr txBox="true"/>
          <p:nvPr/>
        </p:nvSpPr>
        <p:spPr>
          <a:xfrm rot="0">
            <a:off x="5111720" y="3724660"/>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02</a:t>
            </a:r>
          </a:p>
        </p:txBody>
      </p:sp>
      <p:sp>
        <p:nvSpPr>
          <p:cNvPr name="TextBox 9" id="9"/>
          <p:cNvSpPr txBox="true"/>
          <p:nvPr/>
        </p:nvSpPr>
        <p:spPr>
          <a:xfrm rot="0">
            <a:off x="5111720" y="4656116"/>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03</a:t>
            </a:r>
          </a:p>
        </p:txBody>
      </p:sp>
      <p:sp>
        <p:nvSpPr>
          <p:cNvPr name="TextBox 10" id="10"/>
          <p:cNvSpPr txBox="true"/>
          <p:nvPr/>
        </p:nvSpPr>
        <p:spPr>
          <a:xfrm rot="0">
            <a:off x="5111720" y="5498737"/>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04</a:t>
            </a:r>
          </a:p>
        </p:txBody>
      </p:sp>
      <p:sp>
        <p:nvSpPr>
          <p:cNvPr name="TextBox 11" id="11"/>
          <p:cNvSpPr txBox="true"/>
          <p:nvPr/>
        </p:nvSpPr>
        <p:spPr>
          <a:xfrm rot="0">
            <a:off x="5132440" y="6336344"/>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05</a:t>
            </a:r>
          </a:p>
        </p:txBody>
      </p:sp>
      <p:sp>
        <p:nvSpPr>
          <p:cNvPr name="TextBox 12" id="12"/>
          <p:cNvSpPr txBox="true"/>
          <p:nvPr/>
        </p:nvSpPr>
        <p:spPr>
          <a:xfrm rot="0">
            <a:off x="5132440" y="7214742"/>
            <a:ext cx="990717" cy="684672"/>
          </a:xfrm>
          <a:prstGeom prst="rect">
            <a:avLst/>
          </a:prstGeom>
        </p:spPr>
        <p:txBody>
          <a:bodyPr anchor="t" rtlCol="false" tIns="0" lIns="0" bIns="0" rIns="0">
            <a:spAutoFit/>
          </a:bodyPr>
          <a:lstStyle/>
          <a:p>
            <a:pPr algn="ctr">
              <a:lnSpc>
                <a:spcPts val="5418"/>
              </a:lnSpc>
            </a:pPr>
            <a:r>
              <a:rPr lang="en-US" b="true" sz="4515" i="true">
                <a:solidFill>
                  <a:srgbClr val="363636"/>
                </a:solidFill>
                <a:latin typeface="Oswald Bold"/>
                <a:ea typeface="Oswald Bold"/>
                <a:cs typeface="Oswald Bold"/>
                <a:sym typeface="Oswald Bold"/>
              </a:rPr>
              <a:t>06</a:t>
            </a:r>
          </a:p>
        </p:txBody>
      </p:sp>
      <p:sp>
        <p:nvSpPr>
          <p:cNvPr name="TextBox 13" id="13"/>
          <p:cNvSpPr txBox="true"/>
          <p:nvPr/>
        </p:nvSpPr>
        <p:spPr>
          <a:xfrm rot="0">
            <a:off x="6566347" y="2988260"/>
            <a:ext cx="6121039" cy="443830"/>
          </a:xfrm>
          <a:prstGeom prst="rect">
            <a:avLst/>
          </a:prstGeom>
        </p:spPr>
        <p:txBody>
          <a:bodyPr anchor="t" rtlCol="false" tIns="0" lIns="0" bIns="0" rIns="0">
            <a:spAutoFit/>
          </a:bodyPr>
          <a:lstStyle/>
          <a:p>
            <a:pPr algn="l">
              <a:lnSpc>
                <a:spcPts val="3682"/>
              </a:lnSpc>
            </a:pPr>
            <a:r>
              <a:rPr lang="en-US" b="true" sz="2668" spc="261">
                <a:solidFill>
                  <a:srgbClr val="231F20"/>
                </a:solidFill>
                <a:latin typeface="DM Sans Bold"/>
                <a:ea typeface="DM Sans Bold"/>
                <a:cs typeface="DM Sans Bold"/>
                <a:sym typeface="DM Sans Bold"/>
              </a:rPr>
              <a:t>TIẾN TRÌNH</a:t>
            </a:r>
          </a:p>
        </p:txBody>
      </p:sp>
      <p:sp>
        <p:nvSpPr>
          <p:cNvPr name="TextBox 14" id="14"/>
          <p:cNvSpPr txBox="true"/>
          <p:nvPr/>
        </p:nvSpPr>
        <p:spPr>
          <a:xfrm rot="0">
            <a:off x="6566347" y="3894343"/>
            <a:ext cx="6423498" cy="443830"/>
          </a:xfrm>
          <a:prstGeom prst="rect">
            <a:avLst/>
          </a:prstGeom>
        </p:spPr>
        <p:txBody>
          <a:bodyPr anchor="t" rtlCol="false" tIns="0" lIns="0" bIns="0" rIns="0">
            <a:spAutoFit/>
          </a:bodyPr>
          <a:lstStyle/>
          <a:p>
            <a:pPr algn="l">
              <a:lnSpc>
                <a:spcPts val="3682"/>
              </a:lnSpc>
            </a:pPr>
            <a:r>
              <a:rPr lang="en-US" b="true" sz="2668" spc="261">
                <a:solidFill>
                  <a:srgbClr val="231F20"/>
                </a:solidFill>
                <a:latin typeface="DM Sans Bold"/>
                <a:ea typeface="DM Sans Bold"/>
                <a:cs typeface="DM Sans Bold"/>
                <a:sym typeface="DM Sans Bold"/>
              </a:rPr>
              <a:t>ĐIỀU PHỐI CPU</a:t>
            </a:r>
          </a:p>
        </p:txBody>
      </p:sp>
      <p:sp>
        <p:nvSpPr>
          <p:cNvPr name="TextBox 15" id="15"/>
          <p:cNvSpPr txBox="true"/>
          <p:nvPr/>
        </p:nvSpPr>
        <p:spPr>
          <a:xfrm rot="0">
            <a:off x="6566347" y="4800425"/>
            <a:ext cx="6121039" cy="443830"/>
          </a:xfrm>
          <a:prstGeom prst="rect">
            <a:avLst/>
          </a:prstGeom>
        </p:spPr>
        <p:txBody>
          <a:bodyPr anchor="t" rtlCol="false" tIns="0" lIns="0" bIns="0" rIns="0">
            <a:spAutoFit/>
          </a:bodyPr>
          <a:lstStyle/>
          <a:p>
            <a:pPr algn="l" marL="0" indent="0" lvl="0">
              <a:lnSpc>
                <a:spcPts val="3682"/>
              </a:lnSpc>
              <a:spcBef>
                <a:spcPct val="0"/>
              </a:spcBef>
            </a:pPr>
            <a:r>
              <a:rPr lang="en-US" b="true" sz="2668" spc="261">
                <a:solidFill>
                  <a:srgbClr val="231F20"/>
                </a:solidFill>
                <a:latin typeface="DM Sans Bold"/>
                <a:ea typeface="DM Sans Bold"/>
                <a:cs typeface="DM Sans Bold"/>
                <a:sym typeface="DM Sans Bold"/>
              </a:rPr>
              <a:t>TÀI NGUYÊN GĂNG</a:t>
            </a:r>
          </a:p>
        </p:txBody>
      </p:sp>
      <p:sp>
        <p:nvSpPr>
          <p:cNvPr name="TextBox 16" id="16"/>
          <p:cNvSpPr txBox="true"/>
          <p:nvPr/>
        </p:nvSpPr>
        <p:spPr>
          <a:xfrm rot="0">
            <a:off x="6566347" y="6545580"/>
            <a:ext cx="6423498" cy="443830"/>
          </a:xfrm>
          <a:prstGeom prst="rect">
            <a:avLst/>
          </a:prstGeom>
        </p:spPr>
        <p:txBody>
          <a:bodyPr anchor="t" rtlCol="false" tIns="0" lIns="0" bIns="0" rIns="0">
            <a:spAutoFit/>
          </a:bodyPr>
          <a:lstStyle/>
          <a:p>
            <a:pPr algn="l" marL="0" indent="0" lvl="0">
              <a:lnSpc>
                <a:spcPts val="3682"/>
              </a:lnSpc>
              <a:spcBef>
                <a:spcPct val="0"/>
              </a:spcBef>
            </a:pPr>
            <a:r>
              <a:rPr lang="en-US" b="true" sz="2668" spc="261">
                <a:solidFill>
                  <a:srgbClr val="231F20"/>
                </a:solidFill>
                <a:latin typeface="DM Sans Bold"/>
                <a:ea typeface="DM Sans Bold"/>
                <a:cs typeface="DM Sans Bold"/>
                <a:sym typeface="DM Sans Bold"/>
              </a:rPr>
              <a:t>LUỒNG</a:t>
            </a:r>
          </a:p>
        </p:txBody>
      </p:sp>
      <p:sp>
        <p:nvSpPr>
          <p:cNvPr name="TextBox 17" id="17"/>
          <p:cNvSpPr txBox="true"/>
          <p:nvPr/>
        </p:nvSpPr>
        <p:spPr>
          <a:xfrm rot="0">
            <a:off x="6566347" y="7380700"/>
            <a:ext cx="6121039" cy="440265"/>
          </a:xfrm>
          <a:prstGeom prst="rect">
            <a:avLst/>
          </a:prstGeom>
        </p:spPr>
        <p:txBody>
          <a:bodyPr anchor="t" rtlCol="false" tIns="0" lIns="0" bIns="0" rIns="0">
            <a:spAutoFit/>
          </a:bodyPr>
          <a:lstStyle/>
          <a:p>
            <a:pPr algn="l" marL="0" indent="0" lvl="0">
              <a:lnSpc>
                <a:spcPts val="3682"/>
              </a:lnSpc>
              <a:spcBef>
                <a:spcPct val="0"/>
              </a:spcBef>
            </a:pPr>
            <a:r>
              <a:rPr lang="en-US" b="true" sz="2668" spc="261">
                <a:solidFill>
                  <a:srgbClr val="231F20"/>
                </a:solidFill>
                <a:latin typeface="DM Sans Bold"/>
                <a:ea typeface="DM Sans Bold"/>
                <a:cs typeface="DM Sans Bold"/>
                <a:sym typeface="DM Sans Bold"/>
              </a:rPr>
              <a:t>TASK MANAGER</a:t>
            </a:r>
          </a:p>
        </p:txBody>
      </p:sp>
      <p:sp>
        <p:nvSpPr>
          <p:cNvPr name="TextBox 18" id="18"/>
          <p:cNvSpPr txBox="true"/>
          <p:nvPr/>
        </p:nvSpPr>
        <p:spPr>
          <a:xfrm rot="0">
            <a:off x="6566347" y="5600108"/>
            <a:ext cx="6423498" cy="443830"/>
          </a:xfrm>
          <a:prstGeom prst="rect">
            <a:avLst/>
          </a:prstGeom>
        </p:spPr>
        <p:txBody>
          <a:bodyPr anchor="t" rtlCol="false" tIns="0" lIns="0" bIns="0" rIns="0">
            <a:spAutoFit/>
          </a:bodyPr>
          <a:lstStyle/>
          <a:p>
            <a:pPr algn="l" marL="0" indent="0" lvl="0">
              <a:lnSpc>
                <a:spcPts val="3682"/>
              </a:lnSpc>
              <a:spcBef>
                <a:spcPct val="0"/>
              </a:spcBef>
            </a:pPr>
            <a:r>
              <a:rPr lang="en-US" b="true" sz="2668" spc="261">
                <a:solidFill>
                  <a:srgbClr val="231F20"/>
                </a:solidFill>
                <a:latin typeface="DM Sans Bold"/>
                <a:ea typeface="DM Sans Bold"/>
                <a:cs typeface="DM Sans Bold"/>
                <a:sym typeface="DM Sans Bold"/>
              </a:rPr>
              <a:t>HIỆN TƯỢNG BẾ TẮC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3584287" y="3771797"/>
            <a:ext cx="827639" cy="1107546"/>
          </a:xfrm>
          <a:custGeom>
            <a:avLst/>
            <a:gdLst/>
            <a:ahLst/>
            <a:cxnLst/>
            <a:rect r="r" b="b" t="t" l="l"/>
            <a:pathLst>
              <a:path h="1107546" w="827639">
                <a:moveTo>
                  <a:pt x="0" y="0"/>
                </a:moveTo>
                <a:lnTo>
                  <a:pt x="827638" y="0"/>
                </a:lnTo>
                <a:lnTo>
                  <a:pt x="827638" y="1107546"/>
                </a:lnTo>
                <a:lnTo>
                  <a:pt x="0" y="1107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132034"/>
            <a:ext cx="18288000" cy="1793331"/>
            <a:chOff x="0" y="0"/>
            <a:chExt cx="8668170" cy="850005"/>
          </a:xfrm>
        </p:grpSpPr>
        <p:sp>
          <p:nvSpPr>
            <p:cNvPr name="Freeform 5" id="5"/>
            <p:cNvSpPr/>
            <p:nvPr/>
          </p:nvSpPr>
          <p:spPr>
            <a:xfrm flipH="false" flipV="false" rot="0">
              <a:off x="0" y="0"/>
              <a:ext cx="8668170" cy="850005"/>
            </a:xfrm>
            <a:custGeom>
              <a:avLst/>
              <a:gdLst/>
              <a:ahLst/>
              <a:cxnLst/>
              <a:rect r="r" b="b" t="t" l="l"/>
              <a:pathLst>
                <a:path h="850005" w="8668170">
                  <a:moveTo>
                    <a:pt x="0" y="0"/>
                  </a:moveTo>
                  <a:lnTo>
                    <a:pt x="8668170" y="0"/>
                  </a:lnTo>
                  <a:lnTo>
                    <a:pt x="8668170" y="850005"/>
                  </a:lnTo>
                  <a:lnTo>
                    <a:pt x="0" y="850005"/>
                  </a:lnTo>
                  <a:close/>
                </a:path>
              </a:pathLst>
            </a:custGeom>
            <a:solidFill>
              <a:srgbClr val="373737"/>
            </a:solidFill>
          </p:spPr>
        </p:sp>
        <p:sp>
          <p:nvSpPr>
            <p:cNvPr name="TextBox 6" id="6"/>
            <p:cNvSpPr txBox="true"/>
            <p:nvPr/>
          </p:nvSpPr>
          <p:spPr>
            <a:xfrm>
              <a:off x="0" y="-142875"/>
              <a:ext cx="8668170" cy="992880"/>
            </a:xfrm>
            <a:prstGeom prst="rect">
              <a:avLst/>
            </a:prstGeom>
          </p:spPr>
          <p:txBody>
            <a:bodyPr anchor="ctr" rtlCol="false" tIns="27224" lIns="27224" bIns="27224" rIns="27224"/>
            <a:lstStyle/>
            <a:p>
              <a:pPr algn="l" marL="0" indent="0" lvl="0">
                <a:lnSpc>
                  <a:spcPts val="10203"/>
                </a:lnSpc>
                <a:spcBef>
                  <a:spcPct val="0"/>
                </a:spcBef>
              </a:pPr>
            </a:p>
          </p:txBody>
        </p:sp>
      </p:grpSp>
      <p:sp>
        <p:nvSpPr>
          <p:cNvPr name="Freeform 7" id="7"/>
          <p:cNvSpPr/>
          <p:nvPr/>
        </p:nvSpPr>
        <p:spPr>
          <a:xfrm flipH="false" flipV="false" rot="0">
            <a:off x="3799627" y="1416435"/>
            <a:ext cx="10011775" cy="10011775"/>
          </a:xfrm>
          <a:custGeom>
            <a:avLst/>
            <a:gdLst/>
            <a:ahLst/>
            <a:cxnLst/>
            <a:rect r="r" b="b" t="t" l="l"/>
            <a:pathLst>
              <a:path h="10011775" w="10011775">
                <a:moveTo>
                  <a:pt x="0" y="0"/>
                </a:moveTo>
                <a:lnTo>
                  <a:pt x="10011774" y="0"/>
                </a:lnTo>
                <a:lnTo>
                  <a:pt x="10011774" y="10011775"/>
                </a:lnTo>
                <a:lnTo>
                  <a:pt x="0" y="10011775"/>
                </a:lnTo>
                <a:lnTo>
                  <a:pt x="0" y="0"/>
                </a:lnTo>
                <a:close/>
              </a:path>
            </a:pathLst>
          </a:custGeom>
          <a:blipFill>
            <a:blip r:embed="rId5"/>
            <a:stretch>
              <a:fillRect l="0" t="0" r="0" b="0"/>
            </a:stretch>
          </a:blipFill>
        </p:spPr>
      </p:sp>
      <p:sp>
        <p:nvSpPr>
          <p:cNvPr name="Freeform 8" id="8"/>
          <p:cNvSpPr/>
          <p:nvPr/>
        </p:nvSpPr>
        <p:spPr>
          <a:xfrm flipH="false" flipV="false" rot="0">
            <a:off x="779205" y="3814581"/>
            <a:ext cx="795668" cy="1064762"/>
          </a:xfrm>
          <a:custGeom>
            <a:avLst/>
            <a:gdLst/>
            <a:ahLst/>
            <a:cxnLst/>
            <a:rect r="r" b="b" t="t" l="l"/>
            <a:pathLst>
              <a:path h="1064762" w="795668">
                <a:moveTo>
                  <a:pt x="0" y="0"/>
                </a:moveTo>
                <a:lnTo>
                  <a:pt x="795667" y="0"/>
                </a:lnTo>
                <a:lnTo>
                  <a:pt x="795667" y="1064762"/>
                </a:lnTo>
                <a:lnTo>
                  <a:pt x="0" y="1064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5543977" y="409622"/>
            <a:ext cx="6200663" cy="1123855"/>
          </a:xfrm>
          <a:prstGeom prst="rect">
            <a:avLst/>
          </a:prstGeom>
        </p:spPr>
        <p:txBody>
          <a:bodyPr anchor="t" rtlCol="false" tIns="0" lIns="0" bIns="0" rIns="0">
            <a:spAutoFit/>
          </a:bodyPr>
          <a:lstStyle/>
          <a:p>
            <a:pPr algn="l">
              <a:lnSpc>
                <a:spcPts val="9205"/>
              </a:lnSpc>
            </a:pPr>
            <a:r>
              <a:rPr lang="en-US" b="true" sz="6670" spc="653">
                <a:solidFill>
                  <a:srgbClr val="FFFFFF"/>
                </a:solidFill>
                <a:latin typeface="Oswald Bold"/>
                <a:ea typeface="Oswald Bold"/>
                <a:cs typeface="Oswald Bold"/>
                <a:sym typeface="Oswald Bold"/>
              </a:rPr>
              <a:t>1. TIẾN TRÌNH</a:t>
            </a:r>
          </a:p>
        </p:txBody>
      </p:sp>
      <p:sp>
        <p:nvSpPr>
          <p:cNvPr name="TextBox 10" id="10"/>
          <p:cNvSpPr txBox="true"/>
          <p:nvPr/>
        </p:nvSpPr>
        <p:spPr>
          <a:xfrm rot="0">
            <a:off x="1727272" y="3809740"/>
            <a:ext cx="2072354" cy="3554429"/>
          </a:xfrm>
          <a:prstGeom prst="rect">
            <a:avLst/>
          </a:prstGeom>
        </p:spPr>
        <p:txBody>
          <a:bodyPr anchor="t" rtlCol="false" tIns="0" lIns="0" bIns="0" rIns="0">
            <a:spAutoFit/>
          </a:bodyPr>
          <a:lstStyle/>
          <a:p>
            <a:pPr algn="l" marL="0" indent="0" lvl="0">
              <a:lnSpc>
                <a:spcPts val="3537"/>
              </a:lnSpc>
              <a:spcBef>
                <a:spcPct val="0"/>
              </a:spcBef>
            </a:pPr>
            <a:r>
              <a:rPr lang="en-US" sz="2563" spc="251">
                <a:solidFill>
                  <a:srgbClr val="231F20"/>
                </a:solidFill>
                <a:latin typeface="DM Sans"/>
                <a:ea typeface="DM Sans"/>
                <a:cs typeface="DM Sans"/>
                <a:sym typeface="DM Sans"/>
              </a:rPr>
              <a:t>Tiến trình là 1 dãy thay đổi trạng thái, là 1 chương trình đang thi hành, xử lý.</a:t>
            </a:r>
          </a:p>
        </p:txBody>
      </p:sp>
      <p:sp>
        <p:nvSpPr>
          <p:cNvPr name="TextBox 11" id="11"/>
          <p:cNvSpPr txBox="true"/>
          <p:nvPr/>
        </p:nvSpPr>
        <p:spPr>
          <a:xfrm rot="0">
            <a:off x="14588587" y="3809740"/>
            <a:ext cx="2236531" cy="3990741"/>
          </a:xfrm>
          <a:prstGeom prst="rect">
            <a:avLst/>
          </a:prstGeom>
        </p:spPr>
        <p:txBody>
          <a:bodyPr anchor="t" rtlCol="false" tIns="0" lIns="0" bIns="0" rIns="0">
            <a:spAutoFit/>
          </a:bodyPr>
          <a:lstStyle/>
          <a:p>
            <a:pPr algn="l" marL="0" indent="0" lvl="0">
              <a:lnSpc>
                <a:spcPts val="3528"/>
              </a:lnSpc>
              <a:spcBef>
                <a:spcPct val="0"/>
              </a:spcBef>
            </a:pPr>
            <a:r>
              <a:rPr lang="en-US" sz="2557" spc="250">
                <a:solidFill>
                  <a:srgbClr val="231F20"/>
                </a:solidFill>
                <a:latin typeface="DM Sans"/>
                <a:ea typeface="DM Sans"/>
                <a:cs typeface="DM Sans"/>
                <a:sym typeface="DM Sans"/>
              </a:rPr>
              <a:t>Mỗi tiến trình thường được quản lý bởi 1 khối PCB (Process Control Block).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6906271" y="0"/>
            <a:ext cx="3900869" cy="390086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ADFF"/>
            </a:solidFill>
          </p:spPr>
        </p:sp>
        <p:sp>
          <p:nvSpPr>
            <p:cNvPr name="TextBox 5" id="5"/>
            <p:cNvSpPr txBox="true"/>
            <p:nvPr/>
          </p:nvSpPr>
          <p:spPr>
            <a:xfrm>
              <a:off x="76200" y="28575"/>
              <a:ext cx="660400" cy="708025"/>
            </a:xfrm>
            <a:prstGeom prst="rect">
              <a:avLst/>
            </a:prstGeom>
          </p:spPr>
          <p:txBody>
            <a:bodyPr anchor="ctr" rtlCol="false" tIns="32997" lIns="32997" bIns="32997" rIns="32997"/>
            <a:lstStyle/>
            <a:p>
              <a:pPr algn="ctr">
                <a:lnSpc>
                  <a:spcPts val="2909"/>
                </a:lnSpc>
              </a:pPr>
            </a:p>
            <a:p>
              <a:pPr algn="ctr">
                <a:lnSpc>
                  <a:spcPts val="3749"/>
                </a:lnSpc>
              </a:pPr>
              <a:r>
                <a:rPr lang="en-US" sz="2678">
                  <a:solidFill>
                    <a:srgbClr val="000000"/>
                  </a:solidFill>
                  <a:latin typeface="DejaVu Serif"/>
                  <a:ea typeface="DejaVu Serif"/>
                  <a:cs typeface="DejaVu Serif"/>
                  <a:sym typeface="DejaVu Serif"/>
                </a:rPr>
                <a:t>Hai loại tiến trình...</a:t>
              </a:r>
            </a:p>
          </p:txBody>
        </p:sp>
      </p:grpSp>
      <p:grpSp>
        <p:nvGrpSpPr>
          <p:cNvPr name="Group 6" id="6"/>
          <p:cNvGrpSpPr/>
          <p:nvPr/>
        </p:nvGrpSpPr>
        <p:grpSpPr>
          <a:xfrm rot="0">
            <a:off x="6906271" y="6386131"/>
            <a:ext cx="3900869" cy="390086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8EE3"/>
            </a:solidFill>
          </p:spPr>
        </p:sp>
        <p:sp>
          <p:nvSpPr>
            <p:cNvPr name="TextBox 8" id="8"/>
            <p:cNvSpPr txBox="true"/>
            <p:nvPr/>
          </p:nvSpPr>
          <p:spPr>
            <a:xfrm>
              <a:off x="76200" y="28575"/>
              <a:ext cx="660400" cy="708025"/>
            </a:xfrm>
            <a:prstGeom prst="rect">
              <a:avLst/>
            </a:prstGeom>
          </p:spPr>
          <p:txBody>
            <a:bodyPr anchor="ctr" rtlCol="false" tIns="32997" lIns="32997" bIns="32997" rIns="32997"/>
            <a:lstStyle/>
            <a:p>
              <a:pPr algn="ctr">
                <a:lnSpc>
                  <a:spcPts val="3749"/>
                </a:lnSpc>
              </a:pPr>
              <a:r>
                <a:rPr lang="en-US" sz="2678">
                  <a:solidFill>
                    <a:srgbClr val="000000"/>
                  </a:solidFill>
                  <a:latin typeface="Open Sauce"/>
                  <a:ea typeface="Open Sauce"/>
                  <a:cs typeface="Open Sauce"/>
                  <a:sym typeface="Open Sauce"/>
                </a:rPr>
                <a:t>5 trạng thái</a:t>
              </a:r>
            </a:p>
          </p:txBody>
        </p:sp>
      </p:grpSp>
      <p:grpSp>
        <p:nvGrpSpPr>
          <p:cNvPr name="Group 9" id="9"/>
          <p:cNvGrpSpPr/>
          <p:nvPr/>
        </p:nvGrpSpPr>
        <p:grpSpPr>
          <a:xfrm rot="0">
            <a:off x="2676609" y="3272808"/>
            <a:ext cx="3900869" cy="390086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569"/>
            </a:solidFill>
          </p:spPr>
        </p:sp>
        <p:sp>
          <p:nvSpPr>
            <p:cNvPr name="TextBox 11" id="11"/>
            <p:cNvSpPr txBox="true"/>
            <p:nvPr/>
          </p:nvSpPr>
          <p:spPr>
            <a:xfrm>
              <a:off x="76200" y="28575"/>
              <a:ext cx="660400" cy="708025"/>
            </a:xfrm>
            <a:prstGeom prst="rect">
              <a:avLst/>
            </a:prstGeom>
          </p:spPr>
          <p:txBody>
            <a:bodyPr anchor="ctr" rtlCol="false" tIns="32997" lIns="32997" bIns="32997" rIns="32997"/>
            <a:lstStyle/>
            <a:p>
              <a:pPr algn="ctr">
                <a:lnSpc>
                  <a:spcPts val="2909"/>
                </a:lnSpc>
              </a:pPr>
            </a:p>
            <a:p>
              <a:pPr algn="ctr">
                <a:lnSpc>
                  <a:spcPts val="3749"/>
                </a:lnSpc>
              </a:pPr>
              <a:r>
                <a:rPr lang="en-US" sz="2678">
                  <a:solidFill>
                    <a:srgbClr val="000000"/>
                  </a:solidFill>
                  <a:latin typeface="DejaVu Serif"/>
                  <a:ea typeface="DejaVu Serif"/>
                  <a:cs typeface="DejaVu Serif"/>
                  <a:sym typeface="DejaVu Serif"/>
                </a:rPr>
                <a:t>6 thao tác</a:t>
              </a:r>
            </a:p>
          </p:txBody>
        </p:sp>
      </p:grpSp>
      <p:grpSp>
        <p:nvGrpSpPr>
          <p:cNvPr name="Group 12" id="12"/>
          <p:cNvGrpSpPr/>
          <p:nvPr/>
        </p:nvGrpSpPr>
        <p:grpSpPr>
          <a:xfrm rot="0">
            <a:off x="11121464" y="3145954"/>
            <a:ext cx="3900869" cy="39008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886"/>
            </a:solidFill>
          </p:spPr>
        </p:sp>
        <p:sp>
          <p:nvSpPr>
            <p:cNvPr name="TextBox 14" id="14"/>
            <p:cNvSpPr txBox="true"/>
            <p:nvPr/>
          </p:nvSpPr>
          <p:spPr>
            <a:xfrm>
              <a:off x="76200" y="28575"/>
              <a:ext cx="660400" cy="708025"/>
            </a:xfrm>
            <a:prstGeom prst="rect">
              <a:avLst/>
            </a:prstGeom>
          </p:spPr>
          <p:txBody>
            <a:bodyPr anchor="ctr" rtlCol="false" tIns="32997" lIns="32997" bIns="32997" rIns="32997"/>
            <a:lstStyle/>
            <a:p>
              <a:pPr algn="ctr">
                <a:lnSpc>
                  <a:spcPts val="2909"/>
                </a:lnSpc>
              </a:pPr>
            </a:p>
            <a:p>
              <a:pPr algn="ctr">
                <a:lnSpc>
                  <a:spcPts val="3749"/>
                </a:lnSpc>
              </a:pPr>
              <a:r>
                <a:rPr lang="en-US" sz="2678">
                  <a:solidFill>
                    <a:srgbClr val="000000"/>
                  </a:solidFill>
                  <a:latin typeface="DejaVu Serif"/>
                  <a:ea typeface="DejaVu Serif"/>
                  <a:cs typeface="DejaVu Serif"/>
                  <a:sym typeface="DejaVu Serif"/>
                </a:rPr>
                <a:t>Khối quản lý tiến trình</a:t>
              </a:r>
            </a:p>
          </p:txBody>
        </p:sp>
      </p:grpSp>
      <p:sp>
        <p:nvSpPr>
          <p:cNvPr name="AutoShape 15" id="15"/>
          <p:cNvSpPr/>
          <p:nvPr/>
        </p:nvSpPr>
        <p:spPr>
          <a:xfrm>
            <a:off x="10807139" y="1950434"/>
            <a:ext cx="2264759" cy="1195519"/>
          </a:xfrm>
          <a:prstGeom prst="line">
            <a:avLst/>
          </a:prstGeom>
          <a:ln cap="flat" w="28575">
            <a:solidFill>
              <a:srgbClr val="000000"/>
            </a:solidFill>
            <a:prstDash val="solid"/>
            <a:headEnd type="none" len="sm" w="sm"/>
            <a:tailEnd type="triangle" len="med" w="lg"/>
          </a:ln>
        </p:spPr>
      </p:sp>
      <p:sp>
        <p:nvSpPr>
          <p:cNvPr name="AutoShape 16" id="16"/>
          <p:cNvSpPr/>
          <p:nvPr/>
        </p:nvSpPr>
        <p:spPr>
          <a:xfrm flipV="true">
            <a:off x="10807139" y="7046822"/>
            <a:ext cx="2264759" cy="1289743"/>
          </a:xfrm>
          <a:prstGeom prst="line">
            <a:avLst/>
          </a:prstGeom>
          <a:ln cap="flat" w="28575">
            <a:solidFill>
              <a:srgbClr val="000000"/>
            </a:solidFill>
            <a:prstDash val="solid"/>
            <a:headEnd type="arrow" len="sm" w="med"/>
            <a:tailEnd type="none" len="sm" w="sm"/>
          </a:ln>
        </p:spPr>
      </p:sp>
      <p:sp>
        <p:nvSpPr>
          <p:cNvPr name="AutoShape 17" id="17"/>
          <p:cNvSpPr/>
          <p:nvPr/>
        </p:nvSpPr>
        <p:spPr>
          <a:xfrm>
            <a:off x="4627043" y="6742188"/>
            <a:ext cx="2279228" cy="1594378"/>
          </a:xfrm>
          <a:prstGeom prst="line">
            <a:avLst/>
          </a:prstGeom>
          <a:ln cap="flat" w="28575">
            <a:solidFill>
              <a:srgbClr val="000000"/>
            </a:solidFill>
            <a:prstDash val="solid"/>
            <a:headEnd type="arrow" len="sm" w="med"/>
            <a:tailEnd type="none" len="sm" w="sm"/>
          </a:ln>
        </p:spPr>
      </p:sp>
      <p:sp>
        <p:nvSpPr>
          <p:cNvPr name="AutoShape 18" id="18"/>
          <p:cNvSpPr/>
          <p:nvPr/>
        </p:nvSpPr>
        <p:spPr>
          <a:xfrm flipH="true">
            <a:off x="4627043" y="1950434"/>
            <a:ext cx="2279228" cy="1322374"/>
          </a:xfrm>
          <a:prstGeom prst="line">
            <a:avLst/>
          </a:prstGeom>
          <a:ln cap="flat" w="28575">
            <a:solidFill>
              <a:srgbClr val="000000"/>
            </a:solidFill>
            <a:prstDash val="solid"/>
            <a:headEnd type="arrow" len="sm" w="med"/>
            <a:tailEnd type="none" len="sm" w="sm"/>
          </a:ln>
        </p:spPr>
      </p:sp>
      <p:sp>
        <p:nvSpPr>
          <p:cNvPr name="TextBox 19" id="19"/>
          <p:cNvSpPr txBox="true"/>
          <p:nvPr/>
        </p:nvSpPr>
        <p:spPr>
          <a:xfrm rot="0">
            <a:off x="7924594" y="259741"/>
            <a:ext cx="1849753" cy="695540"/>
          </a:xfrm>
          <a:prstGeom prst="rect">
            <a:avLst/>
          </a:prstGeom>
        </p:spPr>
        <p:txBody>
          <a:bodyPr anchor="t" rtlCol="false" tIns="0" lIns="0" bIns="0" rIns="0">
            <a:spAutoFit/>
          </a:bodyPr>
          <a:lstStyle/>
          <a:p>
            <a:pPr algn="ctr">
              <a:lnSpc>
                <a:spcPts val="3819"/>
              </a:lnSpc>
              <a:spcBef>
                <a:spcPct val="0"/>
              </a:spcBef>
            </a:pPr>
            <a:r>
              <a:rPr lang="en-US" b="true" sz="2728">
                <a:solidFill>
                  <a:srgbClr val="FFFFFF"/>
                </a:solidFill>
                <a:latin typeface="Anantason Expanded Bold"/>
                <a:ea typeface="Anantason Expanded Bold"/>
                <a:cs typeface="Anantason Expanded Bold"/>
                <a:sym typeface="Anantason Expanded Bold"/>
              </a:rPr>
              <a:t> Phân loại</a:t>
            </a:r>
          </a:p>
        </p:txBody>
      </p:sp>
      <p:sp>
        <p:nvSpPr>
          <p:cNvPr name="TextBox 20" id="20"/>
          <p:cNvSpPr txBox="true"/>
          <p:nvPr/>
        </p:nvSpPr>
        <p:spPr>
          <a:xfrm rot="0">
            <a:off x="7639824" y="6694563"/>
            <a:ext cx="2433762" cy="910603"/>
          </a:xfrm>
          <a:prstGeom prst="rect">
            <a:avLst/>
          </a:prstGeom>
        </p:spPr>
        <p:txBody>
          <a:bodyPr anchor="t" rtlCol="false" tIns="0" lIns="0" bIns="0" rIns="0">
            <a:spAutoFit/>
          </a:bodyPr>
          <a:lstStyle/>
          <a:p>
            <a:pPr algn="ctr">
              <a:lnSpc>
                <a:spcPts val="3819"/>
              </a:lnSpc>
              <a:spcBef>
                <a:spcPct val="0"/>
              </a:spcBef>
            </a:pPr>
            <a:r>
              <a:rPr lang="en-US" sz="2728">
                <a:solidFill>
                  <a:srgbClr val="FFFFFF"/>
                </a:solidFill>
                <a:latin typeface="Anantason Expanded"/>
                <a:ea typeface="Anantason Expanded"/>
                <a:cs typeface="Anantason Expanded"/>
                <a:sym typeface="Anantason Expanded"/>
              </a:rPr>
              <a:t>Các trạng thái</a:t>
            </a:r>
          </a:p>
        </p:txBody>
      </p:sp>
      <p:sp>
        <p:nvSpPr>
          <p:cNvPr name="TextBox 21" id="21"/>
          <p:cNvSpPr txBox="true"/>
          <p:nvPr/>
        </p:nvSpPr>
        <p:spPr>
          <a:xfrm rot="0">
            <a:off x="3496560" y="3537818"/>
            <a:ext cx="2289541" cy="851016"/>
          </a:xfrm>
          <a:prstGeom prst="rect">
            <a:avLst/>
          </a:prstGeom>
        </p:spPr>
        <p:txBody>
          <a:bodyPr anchor="t" rtlCol="false" tIns="0" lIns="0" bIns="0" rIns="0">
            <a:spAutoFit/>
          </a:bodyPr>
          <a:lstStyle/>
          <a:p>
            <a:pPr algn="ctr">
              <a:lnSpc>
                <a:spcPts val="3819"/>
              </a:lnSpc>
              <a:spcBef>
                <a:spcPct val="0"/>
              </a:spcBef>
            </a:pPr>
            <a:r>
              <a:rPr lang="en-US" sz="2728">
                <a:solidFill>
                  <a:srgbClr val="FFFFFF"/>
                </a:solidFill>
                <a:latin typeface="Anantason Expanded"/>
                <a:ea typeface="Anantason Expanded"/>
                <a:cs typeface="Anantason Expanded"/>
                <a:sym typeface="Anantason Expanded"/>
              </a:rPr>
              <a:t>Các thao tác</a:t>
            </a:r>
          </a:p>
        </p:txBody>
      </p:sp>
      <p:sp>
        <p:nvSpPr>
          <p:cNvPr name="TextBox 22" id="22"/>
          <p:cNvSpPr txBox="true"/>
          <p:nvPr/>
        </p:nvSpPr>
        <p:spPr>
          <a:xfrm rot="0">
            <a:off x="12196112" y="3493287"/>
            <a:ext cx="1751574" cy="676308"/>
          </a:xfrm>
          <a:prstGeom prst="rect">
            <a:avLst/>
          </a:prstGeom>
        </p:spPr>
        <p:txBody>
          <a:bodyPr anchor="t" rtlCol="false" tIns="0" lIns="0" bIns="0" rIns="0">
            <a:spAutoFit/>
          </a:bodyPr>
          <a:lstStyle/>
          <a:p>
            <a:pPr algn="ctr">
              <a:lnSpc>
                <a:spcPts val="3819"/>
              </a:lnSpc>
              <a:spcBef>
                <a:spcPct val="0"/>
              </a:spcBef>
            </a:pPr>
            <a:r>
              <a:rPr lang="en-US" sz="2728">
                <a:solidFill>
                  <a:srgbClr val="FFFFFF"/>
                </a:solidFill>
                <a:latin typeface="Anantason Expanded"/>
                <a:ea typeface="Anantason Expanded"/>
                <a:cs typeface="Anantason Expanded"/>
                <a:sym typeface="Anantason Expanded"/>
              </a:rPr>
              <a:t>Khối PCB</a:t>
            </a:r>
          </a:p>
        </p:txBody>
      </p:sp>
      <p:sp>
        <p:nvSpPr>
          <p:cNvPr name="TextBox 23" id="23"/>
          <p:cNvSpPr txBox="true"/>
          <p:nvPr/>
        </p:nvSpPr>
        <p:spPr>
          <a:xfrm rot="0">
            <a:off x="7427417" y="4331685"/>
            <a:ext cx="2844107" cy="1037992"/>
          </a:xfrm>
          <a:prstGeom prst="rect">
            <a:avLst/>
          </a:prstGeom>
        </p:spPr>
        <p:txBody>
          <a:bodyPr anchor="t" rtlCol="false" tIns="0" lIns="0" bIns="0" rIns="0">
            <a:spAutoFit/>
          </a:bodyPr>
          <a:lstStyle/>
          <a:p>
            <a:pPr algn="ctr">
              <a:lnSpc>
                <a:spcPts val="8395"/>
              </a:lnSpc>
              <a:spcBef>
                <a:spcPct val="0"/>
              </a:spcBef>
            </a:pPr>
            <a:r>
              <a:rPr lang="en-US" sz="6457">
                <a:solidFill>
                  <a:srgbClr val="000000"/>
                </a:solidFill>
                <a:latin typeface="Oswald"/>
                <a:ea typeface="Oswald"/>
                <a:cs typeface="Oswald"/>
                <a:sym typeface="Oswald"/>
              </a:rPr>
              <a:t>Tiến trình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TextBox 3" id="3"/>
          <p:cNvSpPr txBox="true"/>
          <p:nvPr/>
        </p:nvSpPr>
        <p:spPr>
          <a:xfrm rot="0">
            <a:off x="-205023" y="2289781"/>
            <a:ext cx="5978795" cy="503377"/>
          </a:xfrm>
          <a:prstGeom prst="rect">
            <a:avLst/>
          </a:prstGeom>
        </p:spPr>
        <p:txBody>
          <a:bodyPr anchor="t" rtlCol="false" tIns="0" lIns="0" bIns="0" rIns="0">
            <a:spAutoFit/>
          </a:bodyPr>
          <a:lstStyle/>
          <a:p>
            <a:pPr algn="ctr" marL="0" indent="0" lvl="0">
              <a:lnSpc>
                <a:spcPts val="4112"/>
              </a:lnSpc>
              <a:spcBef>
                <a:spcPct val="0"/>
              </a:spcBef>
            </a:pPr>
            <a:r>
              <a:rPr lang="en-US" b="true" sz="2979" spc="292">
                <a:solidFill>
                  <a:srgbClr val="231F20"/>
                </a:solidFill>
                <a:latin typeface="DM Sans Bold"/>
                <a:ea typeface="DM Sans Bold"/>
                <a:cs typeface="DM Sans Bold"/>
                <a:sym typeface="DM Sans Bold"/>
              </a:rPr>
              <a:t>Tiến trình tuần tự</a:t>
            </a:r>
          </a:p>
        </p:txBody>
      </p:sp>
      <p:sp>
        <p:nvSpPr>
          <p:cNvPr name="TextBox 4" id="4"/>
          <p:cNvSpPr txBox="true"/>
          <p:nvPr/>
        </p:nvSpPr>
        <p:spPr>
          <a:xfrm rot="0">
            <a:off x="11481554" y="1240499"/>
            <a:ext cx="5978795" cy="503377"/>
          </a:xfrm>
          <a:prstGeom prst="rect">
            <a:avLst/>
          </a:prstGeom>
        </p:spPr>
        <p:txBody>
          <a:bodyPr anchor="t" rtlCol="false" tIns="0" lIns="0" bIns="0" rIns="0">
            <a:spAutoFit/>
          </a:bodyPr>
          <a:lstStyle/>
          <a:p>
            <a:pPr algn="ctr" marL="0" indent="0" lvl="0">
              <a:lnSpc>
                <a:spcPts val="4112"/>
              </a:lnSpc>
              <a:spcBef>
                <a:spcPct val="0"/>
              </a:spcBef>
            </a:pPr>
            <a:r>
              <a:rPr lang="en-US" b="true" sz="2979" spc="292">
                <a:solidFill>
                  <a:srgbClr val="231F20"/>
                </a:solidFill>
                <a:latin typeface="DM Sans Bold"/>
                <a:ea typeface="DM Sans Bold"/>
                <a:cs typeface="DM Sans Bold"/>
                <a:sym typeface="DM Sans Bold"/>
              </a:rPr>
              <a:t>Tiến trình song song</a:t>
            </a:r>
          </a:p>
        </p:txBody>
      </p:sp>
      <p:grpSp>
        <p:nvGrpSpPr>
          <p:cNvPr name="Group 5" id="5"/>
          <p:cNvGrpSpPr/>
          <p:nvPr/>
        </p:nvGrpSpPr>
        <p:grpSpPr>
          <a:xfrm rot="0">
            <a:off x="6328028" y="3186159"/>
            <a:ext cx="3766651" cy="37666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E1D6D"/>
            </a:solidFill>
            <a:ln cap="sq">
              <a:noFill/>
              <a:prstDash val="solid"/>
              <a:miter/>
            </a:ln>
          </p:spPr>
        </p:sp>
        <p:sp>
          <p:nvSpPr>
            <p:cNvPr name="TextBox 7" id="7"/>
            <p:cNvSpPr txBox="true"/>
            <p:nvPr/>
          </p:nvSpPr>
          <p:spPr>
            <a:xfrm>
              <a:off x="63500" y="101600"/>
              <a:ext cx="685800" cy="647700"/>
            </a:xfrm>
            <a:prstGeom prst="rect">
              <a:avLst/>
            </a:prstGeom>
          </p:spPr>
          <p:txBody>
            <a:bodyPr anchor="ctr" rtlCol="false" tIns="50800" lIns="50800" bIns="50800" rIns="50800"/>
            <a:lstStyle/>
            <a:p>
              <a:pPr algn="ctr" marL="0" indent="0" lvl="0">
                <a:lnSpc>
                  <a:spcPts val="4839"/>
                </a:lnSpc>
                <a:spcBef>
                  <a:spcPct val="0"/>
                </a:spcBef>
              </a:pPr>
              <a:r>
                <a:rPr lang="en-US" sz="4399" spc="-87">
                  <a:solidFill>
                    <a:srgbClr val="F8F8F8"/>
                  </a:solidFill>
                  <a:latin typeface="Francois One"/>
                  <a:ea typeface="Francois One"/>
                  <a:cs typeface="Francois One"/>
                  <a:sym typeface="Francois One"/>
                </a:rPr>
                <a:t>Các loại tiến trình</a:t>
              </a:r>
            </a:p>
          </p:txBody>
        </p:sp>
      </p:grpSp>
      <p:sp>
        <p:nvSpPr>
          <p:cNvPr name="AutoShape 8" id="8"/>
          <p:cNvSpPr/>
          <p:nvPr/>
        </p:nvSpPr>
        <p:spPr>
          <a:xfrm flipV="true">
            <a:off x="10094679" y="5050435"/>
            <a:ext cx="914644" cy="19050"/>
          </a:xfrm>
          <a:prstGeom prst="line">
            <a:avLst/>
          </a:prstGeom>
          <a:ln cap="flat" w="38100">
            <a:solidFill>
              <a:srgbClr val="1E1D6D"/>
            </a:solidFill>
            <a:prstDash val="solid"/>
            <a:headEnd type="none" len="sm" w="sm"/>
            <a:tailEnd type="arrow" len="sm" w="med"/>
          </a:ln>
        </p:spPr>
      </p:sp>
      <p:sp>
        <p:nvSpPr>
          <p:cNvPr name="AutoShape 9" id="9"/>
          <p:cNvSpPr/>
          <p:nvPr/>
        </p:nvSpPr>
        <p:spPr>
          <a:xfrm flipH="true">
            <a:off x="5219518" y="5069485"/>
            <a:ext cx="1108510" cy="0"/>
          </a:xfrm>
          <a:prstGeom prst="line">
            <a:avLst/>
          </a:prstGeom>
          <a:ln cap="flat" w="38100">
            <a:solidFill>
              <a:srgbClr val="1E1D6D"/>
            </a:solidFill>
            <a:prstDash val="solid"/>
            <a:headEnd type="none" len="sm" w="sm"/>
            <a:tailEnd type="arrow" len="sm" w="med"/>
          </a:ln>
        </p:spPr>
      </p:sp>
      <p:grpSp>
        <p:nvGrpSpPr>
          <p:cNvPr name="Group 10" id="10"/>
          <p:cNvGrpSpPr/>
          <p:nvPr/>
        </p:nvGrpSpPr>
        <p:grpSpPr>
          <a:xfrm rot="0">
            <a:off x="666864" y="2793158"/>
            <a:ext cx="4552653" cy="4552653"/>
            <a:chOff x="0" y="0"/>
            <a:chExt cx="6070204" cy="6070204"/>
          </a:xfrm>
        </p:grpSpPr>
        <p:sp>
          <p:nvSpPr>
            <p:cNvPr name="Freeform 11" id="11"/>
            <p:cNvSpPr/>
            <p:nvPr/>
          </p:nvSpPr>
          <p:spPr>
            <a:xfrm flipH="false" flipV="false" rot="0">
              <a:off x="0" y="0"/>
              <a:ext cx="6070205" cy="5968605"/>
            </a:xfrm>
            <a:custGeom>
              <a:avLst/>
              <a:gdLst/>
              <a:ahLst/>
              <a:cxnLst/>
              <a:rect r="r" b="b" t="t" l="l"/>
              <a:pathLst>
                <a:path h="5968605" w="6070205">
                  <a:moveTo>
                    <a:pt x="0" y="0"/>
                  </a:moveTo>
                  <a:lnTo>
                    <a:pt x="6070205" y="0"/>
                  </a:lnTo>
                  <a:lnTo>
                    <a:pt x="6070205" y="5968605"/>
                  </a:lnTo>
                  <a:lnTo>
                    <a:pt x="0" y="5968605"/>
                  </a:lnTo>
                  <a:close/>
                </a:path>
              </a:pathLst>
            </a:custGeom>
            <a:solidFill>
              <a:srgbClr val="FDD673"/>
            </a:solidFill>
          </p:spPr>
        </p:sp>
        <p:sp>
          <p:nvSpPr>
            <p:cNvPr name="Freeform 12" id="12"/>
            <p:cNvSpPr/>
            <p:nvPr/>
          </p:nvSpPr>
          <p:spPr>
            <a:xfrm flipH="false" flipV="false" rot="0">
              <a:off x="0" y="0"/>
              <a:ext cx="6070205" cy="6070205"/>
            </a:xfrm>
            <a:custGeom>
              <a:avLst/>
              <a:gdLst/>
              <a:ahLst/>
              <a:cxnLst/>
              <a:rect r="r" b="b" t="t" l="l"/>
              <a:pathLst>
                <a:path h="6070205" w="6070205">
                  <a:moveTo>
                    <a:pt x="0" y="5968605"/>
                  </a:moveTo>
                  <a:lnTo>
                    <a:pt x="6070205" y="5968605"/>
                  </a:lnTo>
                  <a:lnTo>
                    <a:pt x="5943205" y="6070205"/>
                  </a:lnTo>
                  <a:cubicBezTo>
                    <a:pt x="5943205" y="6070205"/>
                    <a:pt x="4952605" y="5994005"/>
                    <a:pt x="4851005" y="5994005"/>
                  </a:cubicBezTo>
                  <a:lnTo>
                    <a:pt x="1219200" y="5994005"/>
                  </a:lnTo>
                  <a:cubicBezTo>
                    <a:pt x="1117600" y="5994005"/>
                    <a:pt x="127000" y="6070205"/>
                    <a:pt x="127000" y="6070205"/>
                  </a:cubicBezTo>
                  <a:lnTo>
                    <a:pt x="0" y="5968605"/>
                  </a:lnTo>
                  <a:lnTo>
                    <a:pt x="0" y="0"/>
                  </a:lnTo>
                  <a:lnTo>
                    <a:pt x="6070205" y="0"/>
                  </a:lnTo>
                  <a:lnTo>
                    <a:pt x="6070205" y="5968605"/>
                  </a:lnTo>
                  <a:lnTo>
                    <a:pt x="12700" y="5968605"/>
                  </a:lnTo>
                  <a:lnTo>
                    <a:pt x="12700" y="5955905"/>
                  </a:lnTo>
                  <a:lnTo>
                    <a:pt x="6057505" y="5955905"/>
                  </a:lnTo>
                  <a:lnTo>
                    <a:pt x="6057505" y="12700"/>
                  </a:lnTo>
                  <a:lnTo>
                    <a:pt x="12700" y="12700"/>
                  </a:lnTo>
                  <a:lnTo>
                    <a:pt x="12700" y="5968605"/>
                  </a:lnTo>
                </a:path>
              </a:pathLst>
            </a:custGeom>
            <a:solidFill>
              <a:srgbClr val="394C60">
                <a:alpha val="9804"/>
              </a:srgbClr>
            </a:solidFill>
          </p:spPr>
        </p:sp>
        <p:sp>
          <p:nvSpPr>
            <p:cNvPr name="TextBox 13" id="13"/>
            <p:cNvSpPr txBox="true"/>
            <p:nvPr/>
          </p:nvSpPr>
          <p:spPr>
            <a:xfrm>
              <a:off x="0" y="-66675"/>
              <a:ext cx="6070204" cy="6035279"/>
            </a:xfrm>
            <a:prstGeom prst="rect">
              <a:avLst/>
            </a:prstGeom>
          </p:spPr>
          <p:txBody>
            <a:bodyPr anchor="t" rtlCol="false" tIns="203200" lIns="203200" bIns="203200" rIns="203200"/>
            <a:lstStyle/>
            <a:p>
              <a:pPr algn="l">
                <a:lnSpc>
                  <a:spcPts val="5179"/>
                </a:lnSpc>
              </a:pPr>
              <a:r>
                <a:rPr lang="en-US" sz="3699">
                  <a:solidFill>
                    <a:srgbClr val="000000"/>
                  </a:solidFill>
                  <a:latin typeface="Source Sans Pro"/>
                  <a:ea typeface="Source Sans Pro"/>
                  <a:cs typeface="Source Sans Pro"/>
                  <a:sym typeface="Source Sans Pro"/>
                </a:rPr>
                <a:t>Là các tiến trình mà điểm khởi tạo của nó là điểm kết thúc của tiến trình trước đó.</a:t>
              </a:r>
            </a:p>
          </p:txBody>
        </p:sp>
      </p:grpSp>
      <p:grpSp>
        <p:nvGrpSpPr>
          <p:cNvPr name="Group 14" id="14"/>
          <p:cNvGrpSpPr/>
          <p:nvPr/>
        </p:nvGrpSpPr>
        <p:grpSpPr>
          <a:xfrm rot="0">
            <a:off x="11009323" y="1743876"/>
            <a:ext cx="6923256" cy="6613118"/>
            <a:chOff x="0" y="0"/>
            <a:chExt cx="9231008" cy="8817491"/>
          </a:xfrm>
        </p:grpSpPr>
        <p:sp>
          <p:nvSpPr>
            <p:cNvPr name="Freeform 15" id="15"/>
            <p:cNvSpPr/>
            <p:nvPr/>
          </p:nvSpPr>
          <p:spPr>
            <a:xfrm flipH="false" flipV="false" rot="0">
              <a:off x="0" y="0"/>
              <a:ext cx="9231009" cy="8715890"/>
            </a:xfrm>
            <a:custGeom>
              <a:avLst/>
              <a:gdLst/>
              <a:ahLst/>
              <a:cxnLst/>
              <a:rect r="r" b="b" t="t" l="l"/>
              <a:pathLst>
                <a:path h="8715890" w="9231009">
                  <a:moveTo>
                    <a:pt x="0" y="0"/>
                  </a:moveTo>
                  <a:lnTo>
                    <a:pt x="9231009" y="0"/>
                  </a:lnTo>
                  <a:lnTo>
                    <a:pt x="9231009" y="8715890"/>
                  </a:lnTo>
                  <a:lnTo>
                    <a:pt x="0" y="8715890"/>
                  </a:lnTo>
                  <a:close/>
                </a:path>
              </a:pathLst>
            </a:custGeom>
            <a:solidFill>
              <a:srgbClr val="CCCBFF"/>
            </a:solidFill>
          </p:spPr>
        </p:sp>
        <p:sp>
          <p:nvSpPr>
            <p:cNvPr name="Freeform 16" id="16"/>
            <p:cNvSpPr/>
            <p:nvPr/>
          </p:nvSpPr>
          <p:spPr>
            <a:xfrm flipH="false" flipV="false" rot="0">
              <a:off x="0" y="0"/>
              <a:ext cx="9231009" cy="8817490"/>
            </a:xfrm>
            <a:custGeom>
              <a:avLst/>
              <a:gdLst/>
              <a:ahLst/>
              <a:cxnLst/>
              <a:rect r="r" b="b" t="t" l="l"/>
              <a:pathLst>
                <a:path h="8817490" w="9231009">
                  <a:moveTo>
                    <a:pt x="0" y="8715890"/>
                  </a:moveTo>
                  <a:lnTo>
                    <a:pt x="9231009" y="8715890"/>
                  </a:lnTo>
                  <a:lnTo>
                    <a:pt x="9104009" y="8817490"/>
                  </a:lnTo>
                  <a:cubicBezTo>
                    <a:pt x="9104009" y="8817490"/>
                    <a:pt x="8113409" y="8741290"/>
                    <a:pt x="8011809" y="8741290"/>
                  </a:cubicBezTo>
                  <a:lnTo>
                    <a:pt x="1219200" y="8741290"/>
                  </a:lnTo>
                  <a:cubicBezTo>
                    <a:pt x="1117600" y="8741290"/>
                    <a:pt x="127000" y="8817490"/>
                    <a:pt x="127000" y="8817490"/>
                  </a:cubicBezTo>
                  <a:lnTo>
                    <a:pt x="0" y="8715890"/>
                  </a:lnTo>
                  <a:lnTo>
                    <a:pt x="0" y="0"/>
                  </a:lnTo>
                  <a:lnTo>
                    <a:pt x="9231009" y="0"/>
                  </a:lnTo>
                  <a:lnTo>
                    <a:pt x="9231009" y="8715890"/>
                  </a:lnTo>
                  <a:lnTo>
                    <a:pt x="12700" y="8715890"/>
                  </a:lnTo>
                  <a:lnTo>
                    <a:pt x="12700" y="8703190"/>
                  </a:lnTo>
                  <a:lnTo>
                    <a:pt x="9218309" y="8703190"/>
                  </a:lnTo>
                  <a:lnTo>
                    <a:pt x="9218309" y="12700"/>
                  </a:lnTo>
                  <a:lnTo>
                    <a:pt x="12700" y="12700"/>
                  </a:lnTo>
                  <a:lnTo>
                    <a:pt x="12700" y="8715890"/>
                  </a:lnTo>
                </a:path>
              </a:pathLst>
            </a:custGeom>
            <a:solidFill>
              <a:srgbClr val="394C60">
                <a:alpha val="9804"/>
              </a:srgbClr>
            </a:solidFill>
          </p:spPr>
        </p:sp>
        <p:sp>
          <p:nvSpPr>
            <p:cNvPr name="TextBox 17" id="17"/>
            <p:cNvSpPr txBox="true"/>
            <p:nvPr/>
          </p:nvSpPr>
          <p:spPr>
            <a:xfrm>
              <a:off x="0" y="-57150"/>
              <a:ext cx="9231008" cy="8773041"/>
            </a:xfrm>
            <a:prstGeom prst="rect">
              <a:avLst/>
            </a:prstGeom>
          </p:spPr>
          <p:txBody>
            <a:bodyPr anchor="t" rtlCol="false" tIns="203200" lIns="203200" bIns="203200" rIns="203200"/>
            <a:lstStyle/>
            <a:p>
              <a:pPr algn="l">
                <a:lnSpc>
                  <a:spcPts val="4479"/>
                </a:lnSpc>
              </a:pPr>
              <a:r>
                <a:rPr lang="en-US" sz="3199" spc="313">
                  <a:solidFill>
                    <a:srgbClr val="000000"/>
                  </a:solidFill>
                  <a:latin typeface="Source Sans Pro"/>
                  <a:ea typeface="Source Sans Pro"/>
                  <a:cs typeface="Source Sans Pro"/>
                  <a:sym typeface="Source Sans Pro"/>
                </a:rPr>
                <a:t>Là các tiến trình mà điểm khởi tạo của tiến trình này nằm ở thân của các tiến trình khác.</a:t>
              </a:r>
              <a:r>
                <a:rPr lang="en-US" sz="3199" spc="313">
                  <a:solidFill>
                    <a:srgbClr val="000000"/>
                  </a:solidFill>
                  <a:latin typeface="Source Sans Pro"/>
                  <a:ea typeface="Source Sans Pro"/>
                  <a:cs typeface="Source Sans Pro"/>
                  <a:sym typeface="Source Sans Pro"/>
                </a:rPr>
                <a:t> </a:t>
              </a:r>
            </a:p>
            <a:p>
              <a:pPr algn="l">
                <a:lnSpc>
                  <a:spcPts val="4479"/>
                </a:lnSpc>
              </a:pPr>
              <a:r>
                <a:rPr lang="en-US" sz="3199" spc="313">
                  <a:solidFill>
                    <a:srgbClr val="000000"/>
                  </a:solidFill>
                  <a:latin typeface="Source Sans Pro"/>
                  <a:ea typeface="Source Sans Pro"/>
                  <a:cs typeface="Source Sans Pro"/>
                  <a:sym typeface="Source Sans Pro"/>
                </a:rPr>
                <a:t>Tiến trình song song được phân thành nhiều loại:</a:t>
              </a:r>
            </a:p>
            <a:p>
              <a:pPr algn="l" marL="690871" indent="-345435" lvl="1">
                <a:lnSpc>
                  <a:spcPts val="4479"/>
                </a:lnSpc>
                <a:buFont typeface="Arial"/>
                <a:buChar char="•"/>
              </a:pPr>
              <a:r>
                <a:rPr lang="en-US" sz="3199">
                  <a:solidFill>
                    <a:srgbClr val="000000"/>
                  </a:solidFill>
                  <a:latin typeface="Source Sans Pro"/>
                  <a:ea typeface="Source Sans Pro"/>
                  <a:cs typeface="Source Sans Pro"/>
                  <a:sym typeface="Source Sans Pro"/>
                </a:rPr>
                <a:t>Tiến trình song song độc lập</a:t>
              </a:r>
            </a:p>
            <a:p>
              <a:pPr algn="l" marL="690871" indent="-345435" lvl="1">
                <a:lnSpc>
                  <a:spcPts val="4479"/>
                </a:lnSpc>
                <a:buFont typeface="Arial"/>
                <a:buChar char="•"/>
              </a:pPr>
              <a:r>
                <a:rPr lang="en-US" sz="3199">
                  <a:solidFill>
                    <a:srgbClr val="000000"/>
                  </a:solidFill>
                  <a:latin typeface="Source Sans Pro"/>
                  <a:ea typeface="Source Sans Pro"/>
                  <a:cs typeface="Source Sans Pro"/>
                  <a:sym typeface="Source Sans Pro"/>
                </a:rPr>
                <a:t>Tiến trình song song có quan hệ thông tin</a:t>
              </a:r>
            </a:p>
            <a:p>
              <a:pPr algn="l" marL="690871" indent="-345435" lvl="1">
                <a:lnSpc>
                  <a:spcPts val="4479"/>
                </a:lnSpc>
                <a:buFont typeface="Arial"/>
                <a:buChar char="•"/>
              </a:pPr>
              <a:r>
                <a:rPr lang="en-US" sz="3199">
                  <a:solidFill>
                    <a:srgbClr val="000000"/>
                  </a:solidFill>
                  <a:latin typeface="Source Sans Pro"/>
                  <a:ea typeface="Source Sans Pro"/>
                  <a:cs typeface="Source Sans Pro"/>
                  <a:sym typeface="Source Sans Pro"/>
                </a:rPr>
                <a:t>Tiến trình song song phân cấp</a:t>
              </a:r>
            </a:p>
            <a:p>
              <a:pPr algn="l" marL="690871" indent="-345435" lvl="1">
                <a:lnSpc>
                  <a:spcPts val="4479"/>
                </a:lnSpc>
                <a:buFont typeface="Arial"/>
                <a:buChar char="•"/>
              </a:pPr>
              <a:r>
                <a:rPr lang="en-US" sz="3199">
                  <a:solidFill>
                    <a:srgbClr val="000000"/>
                  </a:solidFill>
                  <a:latin typeface="Source Sans Pro"/>
                  <a:ea typeface="Source Sans Pro"/>
                  <a:cs typeface="Source Sans Pro"/>
                  <a:sym typeface="Source Sans Pro"/>
                </a:rPr>
                <a:t>Tiến trình song song đồng mức</a:t>
              </a:r>
            </a:p>
            <a:p>
              <a:pPr algn="l">
                <a:lnSpc>
                  <a:spcPts val="447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10485" y="1905217"/>
            <a:ext cx="7572205" cy="7382900"/>
          </a:xfrm>
          <a:custGeom>
            <a:avLst/>
            <a:gdLst/>
            <a:ahLst/>
            <a:cxnLst/>
            <a:rect r="r" b="b" t="t" l="l"/>
            <a:pathLst>
              <a:path h="7382900" w="7572205">
                <a:moveTo>
                  <a:pt x="0" y="0"/>
                </a:moveTo>
                <a:lnTo>
                  <a:pt x="7572206" y="0"/>
                </a:lnTo>
                <a:lnTo>
                  <a:pt x="7572206" y="7382900"/>
                </a:lnTo>
                <a:lnTo>
                  <a:pt x="0" y="7382900"/>
                </a:lnTo>
                <a:lnTo>
                  <a:pt x="0" y="0"/>
                </a:lnTo>
                <a:close/>
              </a:path>
            </a:pathLst>
          </a:custGeom>
          <a:blipFill>
            <a:blip r:embed="rId2"/>
            <a:stretch>
              <a:fillRect l="0" t="0" r="0" b="0"/>
            </a:stretch>
          </a:blipFill>
        </p:spPr>
      </p:sp>
      <p:sp>
        <p:nvSpPr>
          <p:cNvPr name="TextBox 3" id="3"/>
          <p:cNvSpPr txBox="true"/>
          <p:nvPr/>
        </p:nvSpPr>
        <p:spPr>
          <a:xfrm rot="0">
            <a:off x="355420" y="559676"/>
            <a:ext cx="11106136" cy="861848"/>
          </a:xfrm>
          <a:prstGeom prst="rect">
            <a:avLst/>
          </a:prstGeom>
        </p:spPr>
        <p:txBody>
          <a:bodyPr anchor="t" rtlCol="false" tIns="0" lIns="0" bIns="0" rIns="0">
            <a:spAutoFit/>
          </a:bodyPr>
          <a:lstStyle/>
          <a:p>
            <a:pPr algn="ctr">
              <a:lnSpc>
                <a:spcPts val="7197"/>
              </a:lnSpc>
            </a:pPr>
            <a:r>
              <a:rPr lang="en-US" b="true" sz="5215" spc="511">
                <a:solidFill>
                  <a:srgbClr val="010101"/>
                </a:solidFill>
                <a:latin typeface="Oswald Bold"/>
                <a:ea typeface="Oswald Bold"/>
                <a:cs typeface="Oswald Bold"/>
                <a:sym typeface="Oswald Bold"/>
              </a:rPr>
              <a:t>KHỐI QUẢN LÝ TIẾN TRÌNH - PCB</a:t>
            </a:r>
          </a:p>
        </p:txBody>
      </p:sp>
      <p:grpSp>
        <p:nvGrpSpPr>
          <p:cNvPr name="Group 4" id="4"/>
          <p:cNvGrpSpPr/>
          <p:nvPr/>
        </p:nvGrpSpPr>
        <p:grpSpPr>
          <a:xfrm rot="0">
            <a:off x="11621577" y="635876"/>
            <a:ext cx="4204703" cy="420470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CBFF"/>
            </a:solidFill>
          </p:spPr>
        </p:sp>
        <p:sp>
          <p:nvSpPr>
            <p:cNvPr name="TextBox 6" id="6"/>
            <p:cNvSpPr txBox="true"/>
            <p:nvPr/>
          </p:nvSpPr>
          <p:spPr>
            <a:xfrm>
              <a:off x="76200" y="95250"/>
              <a:ext cx="660400" cy="641350"/>
            </a:xfrm>
            <a:prstGeom prst="rect">
              <a:avLst/>
            </a:prstGeom>
          </p:spPr>
          <p:txBody>
            <a:bodyPr anchor="ctr" rtlCol="false" tIns="50800" lIns="50800" bIns="50800" rIns="50800"/>
            <a:lstStyle/>
            <a:p>
              <a:pPr algn="ctr">
                <a:lnSpc>
                  <a:spcPts val="3409"/>
                </a:lnSpc>
              </a:pPr>
              <a:r>
                <a:rPr lang="en-US" sz="3099" spc="-61">
                  <a:solidFill>
                    <a:srgbClr val="1E1D6D"/>
                  </a:solidFill>
                  <a:latin typeface="DM Sans"/>
                  <a:ea typeface="DM Sans"/>
                  <a:cs typeface="DM Sans"/>
                  <a:sym typeface="DM Sans"/>
                </a:rPr>
                <a:t>Bảo đảm một số lượng hợp lệ các tiến trình truy xuất đồng thời đến các tài nguyên </a:t>
              </a:r>
              <a:r>
                <a:rPr lang="en-US" sz="3099" i="true" spc="-61">
                  <a:solidFill>
                    <a:srgbClr val="1E1D6D"/>
                  </a:solidFill>
                  <a:latin typeface="DM Sans Italics"/>
                  <a:ea typeface="DM Sans Italics"/>
                  <a:cs typeface="DM Sans Italics"/>
                  <a:sym typeface="DM Sans Italics"/>
                </a:rPr>
                <a:t>không thể chia sẻ </a:t>
              </a:r>
              <a:r>
                <a:rPr lang="en-US" sz="3099" spc="-61">
                  <a:solidFill>
                    <a:srgbClr val="1E1D6D"/>
                  </a:solidFill>
                  <a:latin typeface="DM Sans"/>
                  <a:ea typeface="DM Sans"/>
                  <a:cs typeface="DM Sans"/>
                  <a:sym typeface="DM Sans"/>
                </a:rPr>
                <a:t>được</a:t>
              </a:r>
            </a:p>
            <a:p>
              <a:pPr algn="ctr" marL="0" indent="0" lvl="0">
                <a:lnSpc>
                  <a:spcPts val="2089"/>
                </a:lnSpc>
                <a:spcBef>
                  <a:spcPct val="0"/>
                </a:spcBef>
              </a:pPr>
            </a:p>
          </p:txBody>
        </p:sp>
      </p:grpSp>
      <p:grpSp>
        <p:nvGrpSpPr>
          <p:cNvPr name="Group 7" id="7"/>
          <p:cNvGrpSpPr/>
          <p:nvPr/>
        </p:nvGrpSpPr>
        <p:grpSpPr>
          <a:xfrm rot="0">
            <a:off x="11775395" y="5596667"/>
            <a:ext cx="4050885" cy="4315027"/>
            <a:chOff x="0" y="0"/>
            <a:chExt cx="841544" cy="896418"/>
          </a:xfrm>
        </p:grpSpPr>
        <p:sp>
          <p:nvSpPr>
            <p:cNvPr name="Freeform 8" id="8"/>
            <p:cNvSpPr/>
            <p:nvPr/>
          </p:nvSpPr>
          <p:spPr>
            <a:xfrm flipH="false" flipV="false" rot="0">
              <a:off x="0" y="0"/>
              <a:ext cx="841544" cy="896418"/>
            </a:xfrm>
            <a:custGeom>
              <a:avLst/>
              <a:gdLst/>
              <a:ahLst/>
              <a:cxnLst/>
              <a:rect r="r" b="b" t="t" l="l"/>
              <a:pathLst>
                <a:path h="896418" w="841544">
                  <a:moveTo>
                    <a:pt x="420772" y="0"/>
                  </a:moveTo>
                  <a:cubicBezTo>
                    <a:pt x="188386" y="0"/>
                    <a:pt x="0" y="200670"/>
                    <a:pt x="0" y="448209"/>
                  </a:cubicBezTo>
                  <a:cubicBezTo>
                    <a:pt x="0" y="695748"/>
                    <a:pt x="188386" y="896418"/>
                    <a:pt x="420772" y="896418"/>
                  </a:cubicBezTo>
                  <a:cubicBezTo>
                    <a:pt x="653158" y="896418"/>
                    <a:pt x="841544" y="695748"/>
                    <a:pt x="841544" y="448209"/>
                  </a:cubicBezTo>
                  <a:cubicBezTo>
                    <a:pt x="841544" y="200670"/>
                    <a:pt x="653158" y="0"/>
                    <a:pt x="420772" y="0"/>
                  </a:cubicBezTo>
                  <a:close/>
                </a:path>
              </a:pathLst>
            </a:custGeom>
            <a:solidFill>
              <a:srgbClr val="FDD673"/>
            </a:solidFill>
            <a:ln cap="sq">
              <a:noFill/>
              <a:prstDash val="solid"/>
              <a:miter/>
            </a:ln>
          </p:spPr>
        </p:sp>
        <p:sp>
          <p:nvSpPr>
            <p:cNvPr name="TextBox 9" id="9"/>
            <p:cNvSpPr txBox="true"/>
            <p:nvPr/>
          </p:nvSpPr>
          <p:spPr>
            <a:xfrm>
              <a:off x="78895" y="112614"/>
              <a:ext cx="683755" cy="699765"/>
            </a:xfrm>
            <a:prstGeom prst="rect">
              <a:avLst/>
            </a:prstGeom>
          </p:spPr>
          <p:txBody>
            <a:bodyPr anchor="ctr" rtlCol="false" tIns="50800" lIns="50800" bIns="50800" rIns="50800"/>
            <a:lstStyle/>
            <a:p>
              <a:pPr algn="ctr">
                <a:lnSpc>
                  <a:spcPts val="3299"/>
                </a:lnSpc>
              </a:pPr>
              <a:r>
                <a:rPr lang="en-US" sz="2999" spc="-59">
                  <a:solidFill>
                    <a:srgbClr val="1E1D6D"/>
                  </a:solidFill>
                  <a:latin typeface="DM Sans"/>
                  <a:ea typeface="DM Sans"/>
                  <a:cs typeface="DM Sans"/>
                  <a:sym typeface="DM Sans"/>
                </a:rPr>
                <a:t>Tối ưu hóa sự sử dụng tài nguyên, cấp phát tài nguyên cho tiến trình có yêu cầu với thời gian ngắn nhât</a:t>
              </a:r>
            </a:p>
            <a:p>
              <a:pPr algn="ctr" marL="0" indent="0" lvl="0">
                <a:lnSpc>
                  <a:spcPts val="3299"/>
                </a:lnSpc>
                <a:spcBef>
                  <a:spcPct val="0"/>
                </a:spcBef>
              </a:pPr>
            </a:p>
          </p:txBody>
        </p:sp>
      </p:grpSp>
      <p:sp>
        <p:nvSpPr>
          <p:cNvPr name="AutoShape 10" id="10"/>
          <p:cNvSpPr/>
          <p:nvPr/>
        </p:nvSpPr>
        <p:spPr>
          <a:xfrm flipV="true">
            <a:off x="8582691" y="3760005"/>
            <a:ext cx="3303452" cy="1836663"/>
          </a:xfrm>
          <a:prstGeom prst="line">
            <a:avLst/>
          </a:prstGeom>
          <a:ln cap="flat" w="66675">
            <a:solidFill>
              <a:srgbClr val="1E1D6D"/>
            </a:solidFill>
            <a:prstDash val="solid"/>
            <a:headEnd type="none" len="sm" w="sm"/>
            <a:tailEnd type="arrow" len="sm" w="med"/>
          </a:ln>
        </p:spPr>
      </p:sp>
      <p:sp>
        <p:nvSpPr>
          <p:cNvPr name="AutoShape 11" id="11"/>
          <p:cNvSpPr/>
          <p:nvPr/>
        </p:nvSpPr>
        <p:spPr>
          <a:xfrm>
            <a:off x="8582691" y="5596667"/>
            <a:ext cx="3192705" cy="2157514"/>
          </a:xfrm>
          <a:prstGeom prst="line">
            <a:avLst/>
          </a:prstGeom>
          <a:ln cap="flat" w="66675">
            <a:solidFill>
              <a:srgbClr val="1E1D6D"/>
            </a:solidFill>
            <a:prstDash val="solid"/>
            <a:headEnd type="none" len="sm" w="sm"/>
            <a:tailEnd type="arrow" len="sm" w="med"/>
          </a:ln>
        </p:spPr>
      </p:sp>
      <p:sp>
        <p:nvSpPr>
          <p:cNvPr name="TextBox 12" id="12"/>
          <p:cNvSpPr txBox="true"/>
          <p:nvPr/>
        </p:nvSpPr>
        <p:spPr>
          <a:xfrm rot="0">
            <a:off x="10135539" y="4574629"/>
            <a:ext cx="1326018" cy="2046427"/>
          </a:xfrm>
          <a:prstGeom prst="rect">
            <a:avLst/>
          </a:prstGeom>
        </p:spPr>
        <p:txBody>
          <a:bodyPr anchor="t" rtlCol="false" tIns="0" lIns="0" bIns="0" rIns="0">
            <a:spAutoFit/>
          </a:bodyPr>
          <a:lstStyle/>
          <a:p>
            <a:pPr algn="ctr" marL="0" indent="0" lvl="0">
              <a:lnSpc>
                <a:spcPts val="4112"/>
              </a:lnSpc>
              <a:spcBef>
                <a:spcPct val="0"/>
              </a:spcBef>
            </a:pPr>
            <a:r>
              <a:rPr lang="en-US" b="true" sz="2979" spc="292">
                <a:solidFill>
                  <a:srgbClr val="231F20"/>
                </a:solidFill>
                <a:latin typeface="DM Sans Bold"/>
                <a:ea typeface="DM Sans Bold"/>
                <a:cs typeface="DM Sans Bold"/>
                <a:sym typeface="DM Sans Bold"/>
              </a:rPr>
              <a:t> Mục tiêu của PCB</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799999">
            <a:off x="-6806377" y="-7478114"/>
            <a:ext cx="7835077" cy="10939025"/>
          </a:xfrm>
          <a:custGeom>
            <a:avLst/>
            <a:gdLst/>
            <a:ahLst/>
            <a:cxnLst/>
            <a:rect r="r" b="b" t="t" l="l"/>
            <a:pathLst>
              <a:path h="10939025" w="7835077">
                <a:moveTo>
                  <a:pt x="0" y="0"/>
                </a:moveTo>
                <a:lnTo>
                  <a:pt x="7835077" y="0"/>
                </a:lnTo>
                <a:lnTo>
                  <a:pt x="7835077" y="10939026"/>
                </a:lnTo>
                <a:lnTo>
                  <a:pt x="0" y="109390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60005" y="3860295"/>
            <a:ext cx="1778850" cy="2702672"/>
          </a:xfrm>
          <a:custGeom>
            <a:avLst/>
            <a:gdLst/>
            <a:ahLst/>
            <a:cxnLst/>
            <a:rect r="r" b="b" t="t" l="l"/>
            <a:pathLst>
              <a:path h="2702672" w="1778850">
                <a:moveTo>
                  <a:pt x="0" y="0"/>
                </a:moveTo>
                <a:lnTo>
                  <a:pt x="1778850" y="0"/>
                </a:lnTo>
                <a:lnTo>
                  <a:pt x="1778850"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a:off x="-283737" y="6999226"/>
            <a:ext cx="1325568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1429620" y="6780571"/>
            <a:ext cx="439620" cy="43962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8" id="8"/>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760005" y="4240103"/>
            <a:ext cx="1778850" cy="972038"/>
          </a:xfrm>
          <a:prstGeom prst="rect">
            <a:avLst/>
          </a:prstGeom>
        </p:spPr>
        <p:txBody>
          <a:bodyPr anchor="t" rtlCol="false" tIns="0" lIns="0" bIns="0" rIns="0">
            <a:spAutoFit/>
          </a:bodyPr>
          <a:lstStyle/>
          <a:p>
            <a:pPr algn="ctr">
              <a:lnSpc>
                <a:spcPts val="8020"/>
              </a:lnSpc>
            </a:pPr>
            <a:r>
              <a:rPr lang="en-US" sz="5811" spc="569">
                <a:solidFill>
                  <a:srgbClr val="000000"/>
                </a:solidFill>
                <a:latin typeface="DM Sans"/>
                <a:ea typeface="DM Sans"/>
                <a:cs typeface="DM Sans"/>
                <a:sym typeface="DM Sans"/>
              </a:rPr>
              <a:t>01</a:t>
            </a:r>
          </a:p>
        </p:txBody>
      </p:sp>
      <p:sp>
        <p:nvSpPr>
          <p:cNvPr name="TextBox 10" id="10"/>
          <p:cNvSpPr txBox="true"/>
          <p:nvPr/>
        </p:nvSpPr>
        <p:spPr>
          <a:xfrm rot="0">
            <a:off x="128534" y="7390889"/>
            <a:ext cx="3041791" cy="430096"/>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CREATE</a:t>
            </a:r>
          </a:p>
        </p:txBody>
      </p:sp>
      <p:sp>
        <p:nvSpPr>
          <p:cNvPr name="Freeform 11" id="11"/>
          <p:cNvSpPr/>
          <p:nvPr/>
        </p:nvSpPr>
        <p:spPr>
          <a:xfrm flipH="false" flipV="false" rot="0">
            <a:off x="3820435" y="3941680"/>
            <a:ext cx="1778850" cy="2702672"/>
          </a:xfrm>
          <a:custGeom>
            <a:avLst/>
            <a:gdLst/>
            <a:ahLst/>
            <a:cxnLst/>
            <a:rect r="r" b="b" t="t" l="l"/>
            <a:pathLst>
              <a:path h="2702672" w="1778850">
                <a:moveTo>
                  <a:pt x="0" y="0"/>
                </a:moveTo>
                <a:lnTo>
                  <a:pt x="1778850" y="0"/>
                </a:lnTo>
                <a:lnTo>
                  <a:pt x="1778850"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490050" y="6780571"/>
            <a:ext cx="439620" cy="43962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14" id="1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15" id="15"/>
          <p:cNvSpPr txBox="true"/>
          <p:nvPr/>
        </p:nvSpPr>
        <p:spPr>
          <a:xfrm rot="0">
            <a:off x="3820435" y="4240103"/>
            <a:ext cx="1778850" cy="972038"/>
          </a:xfrm>
          <a:prstGeom prst="rect">
            <a:avLst/>
          </a:prstGeom>
        </p:spPr>
        <p:txBody>
          <a:bodyPr anchor="t" rtlCol="false" tIns="0" lIns="0" bIns="0" rIns="0">
            <a:spAutoFit/>
          </a:bodyPr>
          <a:lstStyle/>
          <a:p>
            <a:pPr algn="ctr">
              <a:lnSpc>
                <a:spcPts val="8020"/>
              </a:lnSpc>
            </a:pPr>
            <a:r>
              <a:rPr lang="en-US" sz="5811" spc="569">
                <a:solidFill>
                  <a:srgbClr val="040506"/>
                </a:solidFill>
                <a:latin typeface="DM Sans"/>
                <a:ea typeface="DM Sans"/>
                <a:cs typeface="DM Sans"/>
                <a:sym typeface="DM Sans"/>
              </a:rPr>
              <a:t>02</a:t>
            </a:r>
          </a:p>
        </p:txBody>
      </p:sp>
      <p:grpSp>
        <p:nvGrpSpPr>
          <p:cNvPr name="Group 16" id="16"/>
          <p:cNvGrpSpPr/>
          <p:nvPr/>
        </p:nvGrpSpPr>
        <p:grpSpPr>
          <a:xfrm rot="0">
            <a:off x="7552460" y="6780571"/>
            <a:ext cx="439620" cy="43962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19" id="19"/>
          <p:cNvGrpSpPr/>
          <p:nvPr/>
        </p:nvGrpSpPr>
        <p:grpSpPr>
          <a:xfrm rot="0">
            <a:off x="10616076" y="6796130"/>
            <a:ext cx="439620" cy="43962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21" id="21"/>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22" id="22"/>
          <p:cNvSpPr txBox="true"/>
          <p:nvPr/>
        </p:nvSpPr>
        <p:spPr>
          <a:xfrm rot="0">
            <a:off x="3422088" y="7390889"/>
            <a:ext cx="2877548" cy="430096"/>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FREE, DESTROY</a:t>
            </a:r>
          </a:p>
        </p:txBody>
      </p:sp>
      <p:sp>
        <p:nvSpPr>
          <p:cNvPr name="TextBox 23" id="23"/>
          <p:cNvSpPr txBox="true"/>
          <p:nvPr/>
        </p:nvSpPr>
        <p:spPr>
          <a:xfrm rot="0">
            <a:off x="6551400" y="7390889"/>
            <a:ext cx="2377448" cy="430096"/>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PRIORITY</a:t>
            </a:r>
          </a:p>
        </p:txBody>
      </p:sp>
      <p:sp>
        <p:nvSpPr>
          <p:cNvPr name="TextBox 24" id="24"/>
          <p:cNvSpPr txBox="true"/>
          <p:nvPr/>
        </p:nvSpPr>
        <p:spPr>
          <a:xfrm rot="0">
            <a:off x="9613810" y="7392128"/>
            <a:ext cx="2377448" cy="430096"/>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BLOCK</a:t>
            </a:r>
          </a:p>
        </p:txBody>
      </p:sp>
      <p:sp>
        <p:nvSpPr>
          <p:cNvPr name="TextBox 25" id="25"/>
          <p:cNvSpPr txBox="true"/>
          <p:nvPr/>
        </p:nvSpPr>
        <p:spPr>
          <a:xfrm rot="0">
            <a:off x="4686695" y="1784008"/>
            <a:ext cx="8484307" cy="770907"/>
          </a:xfrm>
          <a:prstGeom prst="rect">
            <a:avLst/>
          </a:prstGeom>
        </p:spPr>
        <p:txBody>
          <a:bodyPr anchor="t" rtlCol="false" tIns="0" lIns="0" bIns="0" rIns="0">
            <a:spAutoFit/>
          </a:bodyPr>
          <a:lstStyle/>
          <a:p>
            <a:pPr algn="l" marL="0" indent="0" lvl="0">
              <a:lnSpc>
                <a:spcPts val="6362"/>
              </a:lnSpc>
              <a:spcBef>
                <a:spcPct val="0"/>
              </a:spcBef>
            </a:pPr>
            <a:r>
              <a:rPr lang="en-US" sz="4610" spc="451">
                <a:solidFill>
                  <a:srgbClr val="010101"/>
                </a:solidFill>
                <a:latin typeface="Francois One"/>
                <a:ea typeface="Francois One"/>
                <a:cs typeface="Francois One"/>
                <a:sym typeface="Francois One"/>
              </a:rPr>
              <a:t>Các thao tác với tiến trình</a:t>
            </a:r>
          </a:p>
        </p:txBody>
      </p:sp>
      <p:sp>
        <p:nvSpPr>
          <p:cNvPr name="AutoShape 26" id="26"/>
          <p:cNvSpPr/>
          <p:nvPr/>
        </p:nvSpPr>
        <p:spPr>
          <a:xfrm>
            <a:off x="5866438" y="7000466"/>
            <a:ext cx="13255680" cy="0"/>
          </a:xfrm>
          <a:prstGeom prst="line">
            <a:avLst/>
          </a:prstGeom>
          <a:ln cap="flat" w="38100">
            <a:solidFill>
              <a:srgbClr val="000000"/>
            </a:solidFill>
            <a:prstDash val="solid"/>
            <a:headEnd type="none" len="sm" w="sm"/>
            <a:tailEnd type="none" len="sm" w="sm"/>
          </a:ln>
        </p:spPr>
      </p:sp>
      <p:grpSp>
        <p:nvGrpSpPr>
          <p:cNvPr name="Group 27" id="27"/>
          <p:cNvGrpSpPr/>
          <p:nvPr/>
        </p:nvGrpSpPr>
        <p:grpSpPr>
          <a:xfrm rot="0">
            <a:off x="13702636" y="6781811"/>
            <a:ext cx="439620" cy="43962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29" id="29"/>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30" id="30"/>
          <p:cNvSpPr txBox="true"/>
          <p:nvPr/>
        </p:nvSpPr>
        <p:spPr>
          <a:xfrm rot="0">
            <a:off x="12701576" y="7392128"/>
            <a:ext cx="2377448" cy="426580"/>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WAIKUP</a:t>
            </a:r>
          </a:p>
        </p:txBody>
      </p:sp>
      <p:sp>
        <p:nvSpPr>
          <p:cNvPr name="AutoShape 31" id="31"/>
          <p:cNvSpPr/>
          <p:nvPr/>
        </p:nvSpPr>
        <p:spPr>
          <a:xfrm>
            <a:off x="8795045" y="6991659"/>
            <a:ext cx="13255680" cy="0"/>
          </a:xfrm>
          <a:prstGeom prst="line">
            <a:avLst/>
          </a:prstGeom>
          <a:ln cap="flat" w="38100">
            <a:solidFill>
              <a:srgbClr val="000000"/>
            </a:solidFill>
            <a:prstDash val="solid"/>
            <a:headEnd type="none" len="sm" w="sm"/>
            <a:tailEnd type="none" len="sm" w="sm"/>
          </a:ln>
        </p:spPr>
      </p:sp>
      <p:grpSp>
        <p:nvGrpSpPr>
          <p:cNvPr name="Group 32" id="32"/>
          <p:cNvGrpSpPr/>
          <p:nvPr/>
        </p:nvGrpSpPr>
        <p:grpSpPr>
          <a:xfrm rot="0">
            <a:off x="16914979" y="6644352"/>
            <a:ext cx="439620" cy="43962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name="TextBox 34" id="3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35" id="35"/>
          <p:cNvSpPr txBox="true"/>
          <p:nvPr/>
        </p:nvSpPr>
        <p:spPr>
          <a:xfrm rot="0">
            <a:off x="15630182" y="7383322"/>
            <a:ext cx="2377448" cy="430096"/>
          </a:xfrm>
          <a:prstGeom prst="rect">
            <a:avLst/>
          </a:prstGeom>
        </p:spPr>
        <p:txBody>
          <a:bodyPr anchor="t" rtlCol="false" tIns="0" lIns="0" bIns="0" rIns="0">
            <a:spAutoFit/>
          </a:bodyPr>
          <a:lstStyle/>
          <a:p>
            <a:pPr algn="ctr">
              <a:lnSpc>
                <a:spcPts val="3573"/>
              </a:lnSpc>
            </a:pPr>
            <a:r>
              <a:rPr lang="en-US" b="true" sz="2589" spc="253">
                <a:solidFill>
                  <a:srgbClr val="231F20"/>
                </a:solidFill>
                <a:latin typeface="DM Sans Bold"/>
                <a:ea typeface="DM Sans Bold"/>
                <a:cs typeface="DM Sans Bold"/>
                <a:sym typeface="DM Sans Bold"/>
              </a:rPr>
              <a:t>DISPATCH</a:t>
            </a:r>
          </a:p>
        </p:txBody>
      </p:sp>
      <p:sp>
        <p:nvSpPr>
          <p:cNvPr name="AutoShape 36" id="36"/>
          <p:cNvSpPr/>
          <p:nvPr/>
        </p:nvSpPr>
        <p:spPr>
          <a:xfrm>
            <a:off x="14945220" y="6992898"/>
            <a:ext cx="13255680" cy="0"/>
          </a:xfrm>
          <a:prstGeom prst="line">
            <a:avLst/>
          </a:prstGeom>
          <a:ln cap="flat" w="38100">
            <a:solidFill>
              <a:srgbClr val="000000"/>
            </a:solidFill>
            <a:prstDash val="solid"/>
            <a:headEnd type="none" len="sm" w="sm"/>
            <a:tailEnd type="none" len="sm" w="sm"/>
          </a:ln>
        </p:spPr>
      </p:sp>
      <p:sp>
        <p:nvSpPr>
          <p:cNvPr name="Freeform 37" id="37"/>
          <p:cNvSpPr/>
          <p:nvPr/>
        </p:nvSpPr>
        <p:spPr>
          <a:xfrm flipH="false" flipV="false" rot="0">
            <a:off x="12977834" y="3941680"/>
            <a:ext cx="1778850" cy="2702672"/>
          </a:xfrm>
          <a:custGeom>
            <a:avLst/>
            <a:gdLst/>
            <a:ahLst/>
            <a:cxnLst/>
            <a:rect r="r" b="b" t="t" l="l"/>
            <a:pathLst>
              <a:path h="2702672" w="1778850">
                <a:moveTo>
                  <a:pt x="0" y="0"/>
                </a:moveTo>
                <a:lnTo>
                  <a:pt x="1778850" y="0"/>
                </a:lnTo>
                <a:lnTo>
                  <a:pt x="1778850"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8" id="38"/>
          <p:cNvSpPr txBox="true"/>
          <p:nvPr/>
        </p:nvSpPr>
        <p:spPr>
          <a:xfrm rot="0">
            <a:off x="12939734" y="4247647"/>
            <a:ext cx="1778850" cy="972038"/>
          </a:xfrm>
          <a:prstGeom prst="rect">
            <a:avLst/>
          </a:prstGeom>
        </p:spPr>
        <p:txBody>
          <a:bodyPr anchor="t" rtlCol="false" tIns="0" lIns="0" bIns="0" rIns="0">
            <a:spAutoFit/>
          </a:bodyPr>
          <a:lstStyle/>
          <a:p>
            <a:pPr algn="ctr">
              <a:lnSpc>
                <a:spcPts val="8020"/>
              </a:lnSpc>
            </a:pPr>
            <a:r>
              <a:rPr lang="en-US" sz="5811" spc="569">
                <a:solidFill>
                  <a:srgbClr val="040506"/>
                </a:solidFill>
                <a:latin typeface="DM Sans"/>
                <a:ea typeface="DM Sans"/>
                <a:cs typeface="DM Sans"/>
                <a:sym typeface="DM Sans"/>
              </a:rPr>
              <a:t>05</a:t>
            </a:r>
          </a:p>
        </p:txBody>
      </p:sp>
      <p:sp>
        <p:nvSpPr>
          <p:cNvPr name="Freeform 39" id="39"/>
          <p:cNvSpPr/>
          <p:nvPr/>
        </p:nvSpPr>
        <p:spPr>
          <a:xfrm flipH="false" flipV="false" rot="0">
            <a:off x="9913110" y="3860295"/>
            <a:ext cx="1778850" cy="2702672"/>
          </a:xfrm>
          <a:custGeom>
            <a:avLst/>
            <a:gdLst/>
            <a:ahLst/>
            <a:cxnLst/>
            <a:rect r="r" b="b" t="t" l="l"/>
            <a:pathLst>
              <a:path h="2702672" w="1778850">
                <a:moveTo>
                  <a:pt x="0" y="0"/>
                </a:moveTo>
                <a:lnTo>
                  <a:pt x="1778849" y="0"/>
                </a:lnTo>
                <a:lnTo>
                  <a:pt x="1778849"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0" id="40"/>
          <p:cNvSpPr txBox="true"/>
          <p:nvPr/>
        </p:nvSpPr>
        <p:spPr>
          <a:xfrm rot="0">
            <a:off x="9913110" y="4238058"/>
            <a:ext cx="1778850" cy="972038"/>
          </a:xfrm>
          <a:prstGeom prst="rect">
            <a:avLst/>
          </a:prstGeom>
        </p:spPr>
        <p:txBody>
          <a:bodyPr anchor="t" rtlCol="false" tIns="0" lIns="0" bIns="0" rIns="0">
            <a:spAutoFit/>
          </a:bodyPr>
          <a:lstStyle/>
          <a:p>
            <a:pPr algn="ctr">
              <a:lnSpc>
                <a:spcPts val="8020"/>
              </a:lnSpc>
            </a:pPr>
            <a:r>
              <a:rPr lang="en-US" sz="5811" spc="569">
                <a:solidFill>
                  <a:srgbClr val="040506"/>
                </a:solidFill>
                <a:latin typeface="DM Sans"/>
                <a:ea typeface="DM Sans"/>
                <a:cs typeface="DM Sans"/>
                <a:sym typeface="DM Sans"/>
              </a:rPr>
              <a:t>04</a:t>
            </a:r>
          </a:p>
        </p:txBody>
      </p:sp>
      <p:sp>
        <p:nvSpPr>
          <p:cNvPr name="Freeform 41" id="41"/>
          <p:cNvSpPr/>
          <p:nvPr/>
        </p:nvSpPr>
        <p:spPr>
          <a:xfrm flipH="false" flipV="false" rot="0">
            <a:off x="6882845" y="3868349"/>
            <a:ext cx="1778850" cy="2702672"/>
          </a:xfrm>
          <a:custGeom>
            <a:avLst/>
            <a:gdLst/>
            <a:ahLst/>
            <a:cxnLst/>
            <a:rect r="r" b="b" t="t" l="l"/>
            <a:pathLst>
              <a:path h="2702672" w="1778850">
                <a:moveTo>
                  <a:pt x="0" y="0"/>
                </a:moveTo>
                <a:lnTo>
                  <a:pt x="1778850" y="0"/>
                </a:lnTo>
                <a:lnTo>
                  <a:pt x="1778850"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2" id="42"/>
          <p:cNvSpPr txBox="true"/>
          <p:nvPr/>
        </p:nvSpPr>
        <p:spPr>
          <a:xfrm rot="0">
            <a:off x="6882845" y="4240590"/>
            <a:ext cx="1778850" cy="972038"/>
          </a:xfrm>
          <a:prstGeom prst="rect">
            <a:avLst/>
          </a:prstGeom>
        </p:spPr>
        <p:txBody>
          <a:bodyPr anchor="t" rtlCol="false" tIns="0" lIns="0" bIns="0" rIns="0">
            <a:spAutoFit/>
          </a:bodyPr>
          <a:lstStyle/>
          <a:p>
            <a:pPr algn="ctr">
              <a:lnSpc>
                <a:spcPts val="8020"/>
              </a:lnSpc>
            </a:pPr>
            <a:r>
              <a:rPr lang="en-US" sz="5811" spc="569">
                <a:solidFill>
                  <a:srgbClr val="040506"/>
                </a:solidFill>
                <a:latin typeface="DM Sans"/>
                <a:ea typeface="DM Sans"/>
                <a:cs typeface="DM Sans"/>
                <a:sym typeface="DM Sans"/>
              </a:rPr>
              <a:t>03</a:t>
            </a:r>
          </a:p>
        </p:txBody>
      </p:sp>
      <p:sp>
        <p:nvSpPr>
          <p:cNvPr name="Freeform 43" id="43"/>
          <p:cNvSpPr/>
          <p:nvPr/>
        </p:nvSpPr>
        <p:spPr>
          <a:xfrm flipH="false" flipV="false" rot="0">
            <a:off x="16228781" y="3867862"/>
            <a:ext cx="1778850" cy="2702672"/>
          </a:xfrm>
          <a:custGeom>
            <a:avLst/>
            <a:gdLst/>
            <a:ahLst/>
            <a:cxnLst/>
            <a:rect r="r" b="b" t="t" l="l"/>
            <a:pathLst>
              <a:path h="2702672" w="1778850">
                <a:moveTo>
                  <a:pt x="0" y="0"/>
                </a:moveTo>
                <a:lnTo>
                  <a:pt x="1778850" y="0"/>
                </a:lnTo>
                <a:lnTo>
                  <a:pt x="1778850" y="2702672"/>
                </a:lnTo>
                <a:lnTo>
                  <a:pt x="0" y="2702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4" id="44"/>
          <p:cNvSpPr txBox="true"/>
          <p:nvPr/>
        </p:nvSpPr>
        <p:spPr>
          <a:xfrm rot="0">
            <a:off x="16228781" y="4240103"/>
            <a:ext cx="1778850" cy="972038"/>
          </a:xfrm>
          <a:prstGeom prst="rect">
            <a:avLst/>
          </a:prstGeom>
        </p:spPr>
        <p:txBody>
          <a:bodyPr anchor="t" rtlCol="false" tIns="0" lIns="0" bIns="0" rIns="0">
            <a:spAutoFit/>
          </a:bodyPr>
          <a:lstStyle/>
          <a:p>
            <a:pPr algn="ctr">
              <a:lnSpc>
                <a:spcPts val="8020"/>
              </a:lnSpc>
            </a:pPr>
            <a:r>
              <a:rPr lang="en-US" sz="5811" spc="569">
                <a:solidFill>
                  <a:srgbClr val="040506"/>
                </a:solidFill>
                <a:latin typeface="DM Sans"/>
                <a:ea typeface="DM Sans"/>
                <a:cs typeface="DM Sans"/>
                <a:sym typeface="DM Sans"/>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88009" y="1594621"/>
            <a:ext cx="2265730" cy="2265730"/>
          </a:xfrm>
          <a:custGeom>
            <a:avLst/>
            <a:gdLst/>
            <a:ahLst/>
            <a:cxnLst/>
            <a:rect r="r" b="b" t="t" l="l"/>
            <a:pathLst>
              <a:path h="2265730" w="2265730">
                <a:moveTo>
                  <a:pt x="0" y="0"/>
                </a:moveTo>
                <a:lnTo>
                  <a:pt x="2265730" y="0"/>
                </a:lnTo>
                <a:lnTo>
                  <a:pt x="2265730" y="2265731"/>
                </a:lnTo>
                <a:lnTo>
                  <a:pt x="0" y="2265731"/>
                </a:lnTo>
                <a:lnTo>
                  <a:pt x="0" y="0"/>
                </a:lnTo>
                <a:close/>
              </a:path>
            </a:pathLst>
          </a:custGeom>
          <a:blipFill>
            <a:blip r:embed="rId5"/>
            <a:stretch>
              <a:fillRect l="0" t="0" r="0" b="0"/>
            </a:stretch>
          </a:blipFill>
        </p:spPr>
      </p:sp>
      <p:sp>
        <p:nvSpPr>
          <p:cNvPr name="Freeform 5" id="5"/>
          <p:cNvSpPr/>
          <p:nvPr/>
        </p:nvSpPr>
        <p:spPr>
          <a:xfrm flipH="false" flipV="false" rot="-321314">
            <a:off x="3288009" y="4174677"/>
            <a:ext cx="2458564" cy="2458564"/>
          </a:xfrm>
          <a:custGeom>
            <a:avLst/>
            <a:gdLst/>
            <a:ahLst/>
            <a:cxnLst/>
            <a:rect r="r" b="b" t="t" l="l"/>
            <a:pathLst>
              <a:path h="2458564" w="2458564">
                <a:moveTo>
                  <a:pt x="0" y="0"/>
                </a:moveTo>
                <a:lnTo>
                  <a:pt x="2458564" y="0"/>
                </a:lnTo>
                <a:lnTo>
                  <a:pt x="2458564" y="2458564"/>
                </a:lnTo>
                <a:lnTo>
                  <a:pt x="0" y="2458564"/>
                </a:lnTo>
                <a:lnTo>
                  <a:pt x="0" y="0"/>
                </a:lnTo>
                <a:close/>
              </a:path>
            </a:pathLst>
          </a:custGeom>
          <a:blipFill>
            <a:blip r:embed="rId6"/>
            <a:stretch>
              <a:fillRect l="0" t="0" r="0" b="0"/>
            </a:stretch>
          </a:blipFill>
        </p:spPr>
      </p:sp>
      <p:sp>
        <p:nvSpPr>
          <p:cNvPr name="Freeform 6" id="6"/>
          <p:cNvSpPr/>
          <p:nvPr/>
        </p:nvSpPr>
        <p:spPr>
          <a:xfrm flipH="false" flipV="false" rot="0">
            <a:off x="4286266" y="1874881"/>
            <a:ext cx="9715469" cy="8008398"/>
          </a:xfrm>
          <a:custGeom>
            <a:avLst/>
            <a:gdLst/>
            <a:ahLst/>
            <a:cxnLst/>
            <a:rect r="r" b="b" t="t" l="l"/>
            <a:pathLst>
              <a:path h="8008398" w="9715469">
                <a:moveTo>
                  <a:pt x="0" y="0"/>
                </a:moveTo>
                <a:lnTo>
                  <a:pt x="9715468" y="0"/>
                </a:lnTo>
                <a:lnTo>
                  <a:pt x="9715468" y="8008398"/>
                </a:lnTo>
                <a:lnTo>
                  <a:pt x="0" y="8008398"/>
                </a:lnTo>
                <a:lnTo>
                  <a:pt x="0" y="0"/>
                </a:lnTo>
                <a:close/>
              </a:path>
            </a:pathLst>
          </a:custGeom>
          <a:blipFill>
            <a:blip r:embed="rId7"/>
            <a:stretch>
              <a:fillRect l="0" t="0" r="0" b="-9322"/>
            </a:stretch>
          </a:blipFill>
        </p:spPr>
      </p:sp>
      <p:sp>
        <p:nvSpPr>
          <p:cNvPr name="Freeform 7" id="7"/>
          <p:cNvSpPr/>
          <p:nvPr/>
        </p:nvSpPr>
        <p:spPr>
          <a:xfrm flipH="false" flipV="false" rot="-1159092">
            <a:off x="9346990" y="8380790"/>
            <a:ext cx="3178848" cy="3178848"/>
          </a:xfrm>
          <a:custGeom>
            <a:avLst/>
            <a:gdLst/>
            <a:ahLst/>
            <a:cxnLst/>
            <a:rect r="r" b="b" t="t" l="l"/>
            <a:pathLst>
              <a:path h="3178848" w="3178848">
                <a:moveTo>
                  <a:pt x="0" y="0"/>
                </a:moveTo>
                <a:lnTo>
                  <a:pt x="3178849" y="0"/>
                </a:lnTo>
                <a:lnTo>
                  <a:pt x="3178849" y="3178848"/>
                </a:lnTo>
                <a:lnTo>
                  <a:pt x="0" y="3178848"/>
                </a:lnTo>
                <a:lnTo>
                  <a:pt x="0" y="0"/>
                </a:lnTo>
                <a:close/>
              </a:path>
            </a:pathLst>
          </a:custGeom>
          <a:blipFill>
            <a:blip r:embed="rId8"/>
            <a:stretch>
              <a:fillRect l="0" t="0" r="0" b="0"/>
            </a:stretch>
          </a:blipFill>
        </p:spPr>
      </p:sp>
      <p:sp>
        <p:nvSpPr>
          <p:cNvPr name="Freeform 8" id="8"/>
          <p:cNvSpPr/>
          <p:nvPr/>
        </p:nvSpPr>
        <p:spPr>
          <a:xfrm flipH="false" flipV="false" rot="0">
            <a:off x="10624192" y="3860352"/>
            <a:ext cx="4094437" cy="4037456"/>
          </a:xfrm>
          <a:custGeom>
            <a:avLst/>
            <a:gdLst/>
            <a:ahLst/>
            <a:cxnLst/>
            <a:rect r="r" b="b" t="t" l="l"/>
            <a:pathLst>
              <a:path h="4037456" w="4094437">
                <a:moveTo>
                  <a:pt x="0" y="0"/>
                </a:moveTo>
                <a:lnTo>
                  <a:pt x="4094436" y="0"/>
                </a:lnTo>
                <a:lnTo>
                  <a:pt x="4094436" y="4037456"/>
                </a:lnTo>
                <a:lnTo>
                  <a:pt x="0" y="4037456"/>
                </a:lnTo>
                <a:lnTo>
                  <a:pt x="0" y="0"/>
                </a:lnTo>
                <a:close/>
              </a:path>
            </a:pathLst>
          </a:custGeom>
          <a:blipFill>
            <a:blip r:embed="rId9"/>
            <a:stretch>
              <a:fillRect l="0" t="0" r="0" b="0"/>
            </a:stretch>
          </a:blipFill>
        </p:spPr>
      </p:sp>
      <p:sp>
        <p:nvSpPr>
          <p:cNvPr name="Freeform 9" id="9"/>
          <p:cNvSpPr/>
          <p:nvPr/>
        </p:nvSpPr>
        <p:spPr>
          <a:xfrm flipH="false" flipV="false" rot="0">
            <a:off x="11982857" y="822251"/>
            <a:ext cx="2557494" cy="2912702"/>
          </a:xfrm>
          <a:custGeom>
            <a:avLst/>
            <a:gdLst/>
            <a:ahLst/>
            <a:cxnLst/>
            <a:rect r="r" b="b" t="t" l="l"/>
            <a:pathLst>
              <a:path h="2912702" w="2557494">
                <a:moveTo>
                  <a:pt x="0" y="0"/>
                </a:moveTo>
                <a:lnTo>
                  <a:pt x="2557494" y="0"/>
                </a:lnTo>
                <a:lnTo>
                  <a:pt x="2557494" y="2912701"/>
                </a:lnTo>
                <a:lnTo>
                  <a:pt x="0" y="2912701"/>
                </a:lnTo>
                <a:lnTo>
                  <a:pt x="0" y="0"/>
                </a:lnTo>
                <a:close/>
              </a:path>
            </a:pathLst>
          </a:custGeom>
          <a:blipFill>
            <a:blip r:embed="rId10"/>
            <a:stretch>
              <a:fillRect l="0" t="0" r="0" b="0"/>
            </a:stretch>
          </a:blipFill>
        </p:spPr>
      </p:sp>
      <p:sp>
        <p:nvSpPr>
          <p:cNvPr name="TextBox 10" id="10"/>
          <p:cNvSpPr txBox="true"/>
          <p:nvPr/>
        </p:nvSpPr>
        <p:spPr>
          <a:xfrm rot="0">
            <a:off x="3003963" y="290933"/>
            <a:ext cx="12280073" cy="861848"/>
          </a:xfrm>
          <a:prstGeom prst="rect">
            <a:avLst/>
          </a:prstGeom>
        </p:spPr>
        <p:txBody>
          <a:bodyPr anchor="t" rtlCol="false" tIns="0" lIns="0" bIns="0" rIns="0">
            <a:spAutoFit/>
          </a:bodyPr>
          <a:lstStyle/>
          <a:p>
            <a:pPr algn="ctr">
              <a:lnSpc>
                <a:spcPts val="7197"/>
              </a:lnSpc>
            </a:pPr>
            <a:r>
              <a:rPr lang="en-US" b="true" sz="5215" spc="511">
                <a:solidFill>
                  <a:srgbClr val="010101"/>
                </a:solidFill>
                <a:latin typeface="Oswald Bold"/>
                <a:ea typeface="Oswald Bold"/>
                <a:cs typeface="Oswald Bold"/>
                <a:sym typeface="Oswald Bold"/>
              </a:rPr>
              <a:t>CÁC TRẠNG THÁI TIẾN TRÌNH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7898226" y="4623590"/>
            <a:ext cx="2551375" cy="2622909"/>
          </a:xfrm>
          <a:custGeom>
            <a:avLst/>
            <a:gdLst/>
            <a:ahLst/>
            <a:cxnLst/>
            <a:rect r="r" b="b" t="t" l="l"/>
            <a:pathLst>
              <a:path h="2622909" w="2551375">
                <a:moveTo>
                  <a:pt x="0" y="0"/>
                </a:moveTo>
                <a:lnTo>
                  <a:pt x="2551375" y="0"/>
                </a:lnTo>
                <a:lnTo>
                  <a:pt x="2551375" y="2622910"/>
                </a:lnTo>
                <a:lnTo>
                  <a:pt x="0" y="2622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132034"/>
            <a:ext cx="18288000" cy="1793331"/>
            <a:chOff x="0" y="0"/>
            <a:chExt cx="8668170" cy="850005"/>
          </a:xfrm>
        </p:grpSpPr>
        <p:sp>
          <p:nvSpPr>
            <p:cNvPr name="Freeform 5" id="5"/>
            <p:cNvSpPr/>
            <p:nvPr/>
          </p:nvSpPr>
          <p:spPr>
            <a:xfrm flipH="false" flipV="false" rot="0">
              <a:off x="0" y="0"/>
              <a:ext cx="8668170" cy="850005"/>
            </a:xfrm>
            <a:custGeom>
              <a:avLst/>
              <a:gdLst/>
              <a:ahLst/>
              <a:cxnLst/>
              <a:rect r="r" b="b" t="t" l="l"/>
              <a:pathLst>
                <a:path h="850005" w="8668170">
                  <a:moveTo>
                    <a:pt x="0" y="0"/>
                  </a:moveTo>
                  <a:lnTo>
                    <a:pt x="8668170" y="0"/>
                  </a:lnTo>
                  <a:lnTo>
                    <a:pt x="8668170" y="850005"/>
                  </a:lnTo>
                  <a:lnTo>
                    <a:pt x="0" y="850005"/>
                  </a:lnTo>
                  <a:close/>
                </a:path>
              </a:pathLst>
            </a:custGeom>
            <a:solidFill>
              <a:srgbClr val="373737"/>
            </a:solidFill>
          </p:spPr>
        </p:sp>
        <p:sp>
          <p:nvSpPr>
            <p:cNvPr name="TextBox 6" id="6"/>
            <p:cNvSpPr txBox="true"/>
            <p:nvPr/>
          </p:nvSpPr>
          <p:spPr>
            <a:xfrm>
              <a:off x="0" y="-142875"/>
              <a:ext cx="8668170" cy="992880"/>
            </a:xfrm>
            <a:prstGeom prst="rect">
              <a:avLst/>
            </a:prstGeom>
          </p:spPr>
          <p:txBody>
            <a:bodyPr anchor="ctr" rtlCol="false" tIns="27224" lIns="27224" bIns="27224" rIns="27224"/>
            <a:lstStyle/>
            <a:p>
              <a:pPr algn="l" marL="0" indent="0" lvl="0">
                <a:lnSpc>
                  <a:spcPts val="10203"/>
                </a:lnSpc>
                <a:spcBef>
                  <a:spcPct val="0"/>
                </a:spcBef>
              </a:pPr>
            </a:p>
          </p:txBody>
        </p:sp>
      </p:grpSp>
      <p:sp>
        <p:nvSpPr>
          <p:cNvPr name="Freeform 7" id="7"/>
          <p:cNvSpPr/>
          <p:nvPr/>
        </p:nvSpPr>
        <p:spPr>
          <a:xfrm flipH="false" flipV="false" rot="0">
            <a:off x="4861278" y="1890653"/>
            <a:ext cx="8088784" cy="8088784"/>
          </a:xfrm>
          <a:custGeom>
            <a:avLst/>
            <a:gdLst/>
            <a:ahLst/>
            <a:cxnLst/>
            <a:rect r="r" b="b" t="t" l="l"/>
            <a:pathLst>
              <a:path h="8088784" w="8088784">
                <a:moveTo>
                  <a:pt x="0" y="0"/>
                </a:moveTo>
                <a:lnTo>
                  <a:pt x="8088784" y="0"/>
                </a:lnTo>
                <a:lnTo>
                  <a:pt x="8088784" y="8088784"/>
                </a:lnTo>
                <a:lnTo>
                  <a:pt x="0" y="8088784"/>
                </a:lnTo>
                <a:lnTo>
                  <a:pt x="0" y="0"/>
                </a:lnTo>
                <a:close/>
              </a:path>
            </a:pathLst>
          </a:custGeom>
          <a:blipFill>
            <a:blip r:embed="rId5"/>
            <a:stretch>
              <a:fillRect l="0" t="0" r="0" b="0"/>
            </a:stretch>
          </a:blipFill>
        </p:spPr>
      </p:sp>
      <p:sp>
        <p:nvSpPr>
          <p:cNvPr name="TextBox 8" id="8"/>
          <p:cNvSpPr txBox="true"/>
          <p:nvPr/>
        </p:nvSpPr>
        <p:spPr>
          <a:xfrm rot="0">
            <a:off x="1976768" y="492631"/>
            <a:ext cx="13169407" cy="1014988"/>
          </a:xfrm>
          <a:prstGeom prst="rect">
            <a:avLst/>
          </a:prstGeom>
        </p:spPr>
        <p:txBody>
          <a:bodyPr anchor="t" rtlCol="false" tIns="0" lIns="0" bIns="0" rIns="0">
            <a:spAutoFit/>
          </a:bodyPr>
          <a:lstStyle/>
          <a:p>
            <a:pPr algn="ctr">
              <a:lnSpc>
                <a:spcPts val="8228"/>
              </a:lnSpc>
              <a:spcBef>
                <a:spcPct val="0"/>
              </a:spcBef>
            </a:pPr>
            <a:r>
              <a:rPr lang="en-US" b="true" sz="6329">
                <a:solidFill>
                  <a:srgbClr val="FFFFFF"/>
                </a:solidFill>
                <a:latin typeface="Oswald Bold"/>
                <a:ea typeface="Oswald Bold"/>
                <a:cs typeface="Oswald Bold"/>
                <a:sym typeface="Oswald Bold"/>
              </a:rPr>
              <a:t>2. Điều phối CPU</a:t>
            </a:r>
          </a:p>
        </p:txBody>
      </p:sp>
      <p:sp>
        <p:nvSpPr>
          <p:cNvPr name="Freeform 9" id="9"/>
          <p:cNvSpPr/>
          <p:nvPr/>
        </p:nvSpPr>
        <p:spPr>
          <a:xfrm flipH="false" flipV="false" rot="0">
            <a:off x="1028700" y="2661860"/>
            <a:ext cx="795668" cy="1064762"/>
          </a:xfrm>
          <a:custGeom>
            <a:avLst/>
            <a:gdLst/>
            <a:ahLst/>
            <a:cxnLst/>
            <a:rect r="r" b="b" t="t" l="l"/>
            <a:pathLst>
              <a:path h="1064762" w="795668">
                <a:moveTo>
                  <a:pt x="0" y="0"/>
                </a:moveTo>
                <a:lnTo>
                  <a:pt x="795668" y="0"/>
                </a:lnTo>
                <a:lnTo>
                  <a:pt x="795668" y="1064762"/>
                </a:lnTo>
                <a:lnTo>
                  <a:pt x="0" y="1064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976768" y="2614235"/>
            <a:ext cx="2072354" cy="4913454"/>
          </a:xfrm>
          <a:prstGeom prst="rect">
            <a:avLst/>
          </a:prstGeom>
        </p:spPr>
        <p:txBody>
          <a:bodyPr anchor="t" rtlCol="false" tIns="0" lIns="0" bIns="0" rIns="0">
            <a:spAutoFit/>
          </a:bodyPr>
          <a:lstStyle/>
          <a:p>
            <a:pPr algn="ctr">
              <a:lnSpc>
                <a:spcPts val="3537"/>
              </a:lnSpc>
            </a:pPr>
            <a:r>
              <a:rPr lang="en-US" sz="2563" spc="251">
                <a:solidFill>
                  <a:srgbClr val="231F20"/>
                </a:solidFill>
                <a:latin typeface="DM Sans"/>
                <a:ea typeface="DM Sans"/>
                <a:cs typeface="DM Sans"/>
                <a:sym typeface="DM Sans"/>
              </a:rPr>
              <a:t>Lựa chọn một tiến trình từ hàng đợi các tiến trình đang sẵn sàng thực hiện phân phối CPU cho nó</a:t>
            </a:r>
          </a:p>
          <a:p>
            <a:pPr algn="ctr" marL="0" indent="0" lvl="0">
              <a:lnSpc>
                <a:spcPts val="3537"/>
              </a:lnSpc>
              <a:spcBef>
                <a:spcPct val="0"/>
              </a:spcBef>
            </a:pPr>
          </a:p>
        </p:txBody>
      </p:sp>
      <p:sp>
        <p:nvSpPr>
          <p:cNvPr name="Freeform 11" id="11"/>
          <p:cNvSpPr/>
          <p:nvPr/>
        </p:nvSpPr>
        <p:spPr>
          <a:xfrm flipH="false" flipV="false" rot="0">
            <a:off x="13762219" y="2661860"/>
            <a:ext cx="795668" cy="1064762"/>
          </a:xfrm>
          <a:custGeom>
            <a:avLst/>
            <a:gdLst/>
            <a:ahLst/>
            <a:cxnLst/>
            <a:rect r="r" b="b" t="t" l="l"/>
            <a:pathLst>
              <a:path h="1064762" w="795668">
                <a:moveTo>
                  <a:pt x="0" y="0"/>
                </a:moveTo>
                <a:lnTo>
                  <a:pt x="795667" y="0"/>
                </a:lnTo>
                <a:lnTo>
                  <a:pt x="795667" y="1064762"/>
                </a:lnTo>
                <a:lnTo>
                  <a:pt x="0" y="1064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4710286" y="2614235"/>
            <a:ext cx="2072354" cy="4465779"/>
          </a:xfrm>
          <a:prstGeom prst="rect">
            <a:avLst/>
          </a:prstGeom>
        </p:spPr>
        <p:txBody>
          <a:bodyPr anchor="t" rtlCol="false" tIns="0" lIns="0" bIns="0" rIns="0">
            <a:spAutoFit/>
          </a:bodyPr>
          <a:lstStyle/>
          <a:p>
            <a:pPr algn="ctr" marL="0" indent="0" lvl="0">
              <a:lnSpc>
                <a:spcPts val="3537"/>
              </a:lnSpc>
              <a:spcBef>
                <a:spcPct val="0"/>
              </a:spcBef>
            </a:pPr>
            <a:r>
              <a:rPr lang="en-US" sz="2563" spc="251">
                <a:solidFill>
                  <a:srgbClr val="231F20"/>
                </a:solidFill>
                <a:latin typeface="DM Sans"/>
                <a:ea typeface="DM Sans"/>
                <a:cs typeface="DM Sans"/>
                <a:sym typeface="DM Sans"/>
              </a:rPr>
              <a:t>Cần được thực hiện nhanh và thường xuyên, là vấn đề lựa chọn tiến trình, luân chuyển CPU</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646090" y="3095072"/>
            <a:ext cx="1950680" cy="1746148"/>
            <a:chOff x="0" y="0"/>
            <a:chExt cx="657194" cy="588286"/>
          </a:xfrm>
        </p:grpSpPr>
        <p:sp>
          <p:nvSpPr>
            <p:cNvPr name="Freeform 3" id="3"/>
            <p:cNvSpPr/>
            <p:nvPr/>
          </p:nvSpPr>
          <p:spPr>
            <a:xfrm flipH="false" flipV="false" rot="0">
              <a:off x="0" y="0"/>
              <a:ext cx="657194" cy="588286"/>
            </a:xfrm>
            <a:custGeom>
              <a:avLst/>
              <a:gdLst/>
              <a:ahLst/>
              <a:cxnLst/>
              <a:rect r="r" b="b" t="t" l="l"/>
              <a:pathLst>
                <a:path h="588286" w="657194">
                  <a:moveTo>
                    <a:pt x="0" y="0"/>
                  </a:moveTo>
                  <a:lnTo>
                    <a:pt x="657194" y="0"/>
                  </a:lnTo>
                  <a:lnTo>
                    <a:pt x="657194" y="588286"/>
                  </a:lnTo>
                  <a:lnTo>
                    <a:pt x="0" y="588286"/>
                  </a:lnTo>
                  <a:close/>
                </a:path>
              </a:pathLst>
            </a:custGeom>
            <a:solidFill>
              <a:srgbClr val="FFC5CD"/>
            </a:solidFill>
          </p:spPr>
        </p:sp>
        <p:sp>
          <p:nvSpPr>
            <p:cNvPr name="TextBox 4" id="4"/>
            <p:cNvSpPr txBox="true"/>
            <p:nvPr/>
          </p:nvSpPr>
          <p:spPr>
            <a:xfrm>
              <a:off x="0" y="114300"/>
              <a:ext cx="657194" cy="473986"/>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Cấc thuật toán điều phối</a:t>
              </a:r>
            </a:p>
          </p:txBody>
        </p:sp>
      </p:grpSp>
      <p:grpSp>
        <p:nvGrpSpPr>
          <p:cNvPr name="Group 5" id="5"/>
          <p:cNvGrpSpPr/>
          <p:nvPr/>
        </p:nvGrpSpPr>
        <p:grpSpPr>
          <a:xfrm rot="0">
            <a:off x="7008856" y="6504945"/>
            <a:ext cx="1657330" cy="1614616"/>
            <a:chOff x="0" y="0"/>
            <a:chExt cx="558363" cy="543972"/>
          </a:xfrm>
        </p:grpSpPr>
        <p:sp>
          <p:nvSpPr>
            <p:cNvPr name="Freeform 6" id="6"/>
            <p:cNvSpPr/>
            <p:nvPr/>
          </p:nvSpPr>
          <p:spPr>
            <a:xfrm flipH="false" flipV="false" rot="0">
              <a:off x="0" y="0"/>
              <a:ext cx="558363" cy="543972"/>
            </a:xfrm>
            <a:custGeom>
              <a:avLst/>
              <a:gdLst/>
              <a:ahLst/>
              <a:cxnLst/>
              <a:rect r="r" b="b" t="t" l="l"/>
              <a:pathLst>
                <a:path h="543972" w="558363">
                  <a:moveTo>
                    <a:pt x="0" y="0"/>
                  </a:moveTo>
                  <a:lnTo>
                    <a:pt x="558363" y="0"/>
                  </a:lnTo>
                  <a:lnTo>
                    <a:pt x="558363" y="543972"/>
                  </a:lnTo>
                  <a:lnTo>
                    <a:pt x="0" y="543972"/>
                  </a:lnTo>
                  <a:close/>
                </a:path>
              </a:pathLst>
            </a:custGeom>
            <a:solidFill>
              <a:srgbClr val="97EDAA"/>
            </a:solidFill>
            <a:ln cap="sq">
              <a:noFill/>
              <a:prstDash val="solid"/>
              <a:miter/>
            </a:ln>
          </p:spPr>
        </p:sp>
        <p:sp>
          <p:nvSpPr>
            <p:cNvPr name="TextBox 7" id="7"/>
            <p:cNvSpPr txBox="true"/>
            <p:nvPr/>
          </p:nvSpPr>
          <p:spPr>
            <a:xfrm>
              <a:off x="0" y="114300"/>
              <a:ext cx="558363"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FIFO</a:t>
              </a:r>
            </a:p>
          </p:txBody>
        </p:sp>
      </p:grpSp>
      <p:grpSp>
        <p:nvGrpSpPr>
          <p:cNvPr name="Group 8" id="8"/>
          <p:cNvGrpSpPr/>
          <p:nvPr/>
        </p:nvGrpSpPr>
        <p:grpSpPr>
          <a:xfrm rot="0">
            <a:off x="693385" y="6487238"/>
            <a:ext cx="1589448" cy="1562807"/>
            <a:chOff x="0" y="0"/>
            <a:chExt cx="535493" cy="526518"/>
          </a:xfrm>
        </p:grpSpPr>
        <p:sp>
          <p:nvSpPr>
            <p:cNvPr name="Freeform 9" id="9"/>
            <p:cNvSpPr/>
            <p:nvPr/>
          </p:nvSpPr>
          <p:spPr>
            <a:xfrm flipH="false" flipV="false" rot="0">
              <a:off x="0" y="0"/>
              <a:ext cx="535493" cy="526518"/>
            </a:xfrm>
            <a:custGeom>
              <a:avLst/>
              <a:gdLst/>
              <a:ahLst/>
              <a:cxnLst/>
              <a:rect r="r" b="b" t="t" l="l"/>
              <a:pathLst>
                <a:path h="526518" w="535493">
                  <a:moveTo>
                    <a:pt x="0" y="0"/>
                  </a:moveTo>
                  <a:lnTo>
                    <a:pt x="535493" y="0"/>
                  </a:lnTo>
                  <a:lnTo>
                    <a:pt x="535493" y="526518"/>
                  </a:lnTo>
                  <a:lnTo>
                    <a:pt x="0" y="526518"/>
                  </a:lnTo>
                  <a:close/>
                </a:path>
              </a:pathLst>
            </a:custGeom>
            <a:solidFill>
              <a:srgbClr val="C2B5FF"/>
            </a:solidFill>
          </p:spPr>
        </p:sp>
        <p:sp>
          <p:nvSpPr>
            <p:cNvPr name="TextBox 10" id="10"/>
            <p:cNvSpPr txBox="true"/>
            <p:nvPr/>
          </p:nvSpPr>
          <p:spPr>
            <a:xfrm>
              <a:off x="0" y="114300"/>
              <a:ext cx="535493" cy="412218"/>
            </a:xfrm>
            <a:prstGeom prst="rect">
              <a:avLst/>
            </a:prstGeom>
          </p:spPr>
          <p:txBody>
            <a:bodyPr anchor="ctr" rtlCol="false" tIns="30562" lIns="30562" bIns="30562" rIns="30562"/>
            <a:lstStyle/>
            <a:p>
              <a:pPr algn="ctr" marL="0" indent="0" lvl="0">
                <a:lnSpc>
                  <a:spcPts val="2098"/>
                </a:lnSpc>
                <a:spcBef>
                  <a:spcPct val="0"/>
                </a:spcBef>
              </a:pPr>
              <a:r>
                <a:rPr lang="en-US" sz="2623">
                  <a:solidFill>
                    <a:srgbClr val="000000"/>
                  </a:solidFill>
                  <a:latin typeface="DM Sans"/>
                  <a:ea typeface="DM Sans"/>
                  <a:cs typeface="DM Sans"/>
                  <a:sym typeface="DM Sans"/>
                </a:rPr>
                <a:t>Sử dụng CPU (Lớn nhất)</a:t>
              </a:r>
            </a:p>
          </p:txBody>
        </p:sp>
      </p:grpSp>
      <p:grpSp>
        <p:nvGrpSpPr>
          <p:cNvPr name="Group 11" id="11"/>
          <p:cNvGrpSpPr/>
          <p:nvPr/>
        </p:nvGrpSpPr>
        <p:grpSpPr>
          <a:xfrm rot="0">
            <a:off x="2282833" y="3071440"/>
            <a:ext cx="1869834" cy="1765348"/>
            <a:chOff x="0" y="0"/>
            <a:chExt cx="629957" cy="594755"/>
          </a:xfrm>
        </p:grpSpPr>
        <p:sp>
          <p:nvSpPr>
            <p:cNvPr name="Freeform 12" id="12"/>
            <p:cNvSpPr/>
            <p:nvPr/>
          </p:nvSpPr>
          <p:spPr>
            <a:xfrm flipH="false" flipV="false" rot="0">
              <a:off x="0" y="0"/>
              <a:ext cx="629957" cy="594755"/>
            </a:xfrm>
            <a:custGeom>
              <a:avLst/>
              <a:gdLst/>
              <a:ahLst/>
              <a:cxnLst/>
              <a:rect r="r" b="b" t="t" l="l"/>
              <a:pathLst>
                <a:path h="594755" w="629957">
                  <a:moveTo>
                    <a:pt x="0" y="0"/>
                  </a:moveTo>
                  <a:lnTo>
                    <a:pt x="629957" y="0"/>
                  </a:lnTo>
                  <a:lnTo>
                    <a:pt x="629957" y="594755"/>
                  </a:lnTo>
                  <a:lnTo>
                    <a:pt x="0" y="594755"/>
                  </a:lnTo>
                  <a:close/>
                </a:path>
              </a:pathLst>
            </a:custGeom>
            <a:solidFill>
              <a:srgbClr val="97EDAA"/>
            </a:solidFill>
          </p:spPr>
        </p:sp>
        <p:sp>
          <p:nvSpPr>
            <p:cNvPr name="TextBox 13" id="13"/>
            <p:cNvSpPr txBox="true"/>
            <p:nvPr/>
          </p:nvSpPr>
          <p:spPr>
            <a:xfrm>
              <a:off x="0" y="104775"/>
              <a:ext cx="629957" cy="489980"/>
            </a:xfrm>
            <a:prstGeom prst="rect">
              <a:avLst/>
            </a:prstGeom>
          </p:spPr>
          <p:txBody>
            <a:bodyPr anchor="ctr" rtlCol="false" tIns="30562" lIns="30562" bIns="30562" rIns="30562"/>
            <a:lstStyle/>
            <a:p>
              <a:pPr algn="ctr" marL="0" indent="0" lvl="0">
                <a:lnSpc>
                  <a:spcPts val="2418"/>
                </a:lnSpc>
                <a:spcBef>
                  <a:spcPct val="0"/>
                </a:spcBef>
              </a:pPr>
              <a:r>
                <a:rPr lang="en-US" sz="3023">
                  <a:solidFill>
                    <a:srgbClr val="000000"/>
                  </a:solidFill>
                  <a:latin typeface="DM Sans"/>
                  <a:ea typeface="DM Sans"/>
                  <a:cs typeface="DM Sans"/>
                  <a:sym typeface="DM Sans"/>
                </a:rPr>
                <a:t>Tiêu chuẩn điều phối</a:t>
              </a:r>
            </a:p>
          </p:txBody>
        </p:sp>
      </p:grpSp>
      <p:sp>
        <p:nvSpPr>
          <p:cNvPr name="AutoShape 14" id="14"/>
          <p:cNvSpPr/>
          <p:nvPr/>
        </p:nvSpPr>
        <p:spPr>
          <a:xfrm>
            <a:off x="9123100" y="2339077"/>
            <a:ext cx="4498330" cy="755995"/>
          </a:xfrm>
          <a:prstGeom prst="line">
            <a:avLst/>
          </a:prstGeom>
          <a:ln cap="rnd" w="47625">
            <a:solidFill>
              <a:srgbClr val="000000"/>
            </a:solidFill>
            <a:prstDash val="solid"/>
            <a:headEnd type="none" len="sm" w="sm"/>
            <a:tailEnd type="arrow" len="sm" w="med"/>
          </a:ln>
        </p:spPr>
      </p:sp>
      <p:grpSp>
        <p:nvGrpSpPr>
          <p:cNvPr name="Group 15" id="15"/>
          <p:cNvGrpSpPr/>
          <p:nvPr/>
        </p:nvGrpSpPr>
        <p:grpSpPr>
          <a:xfrm rot="0">
            <a:off x="5404000" y="633550"/>
            <a:ext cx="7438200" cy="1705527"/>
            <a:chOff x="0" y="0"/>
            <a:chExt cx="2131591" cy="488759"/>
          </a:xfrm>
        </p:grpSpPr>
        <p:sp>
          <p:nvSpPr>
            <p:cNvPr name="Freeform 16" id="16"/>
            <p:cNvSpPr/>
            <p:nvPr/>
          </p:nvSpPr>
          <p:spPr>
            <a:xfrm flipH="false" flipV="false" rot="0">
              <a:off x="0" y="0"/>
              <a:ext cx="2131591" cy="488759"/>
            </a:xfrm>
            <a:custGeom>
              <a:avLst/>
              <a:gdLst/>
              <a:ahLst/>
              <a:cxnLst/>
              <a:rect r="r" b="b" t="t" l="l"/>
              <a:pathLst>
                <a:path h="488759" w="2131591">
                  <a:moveTo>
                    <a:pt x="30184" y="0"/>
                  </a:moveTo>
                  <a:lnTo>
                    <a:pt x="2101407" y="0"/>
                  </a:lnTo>
                  <a:cubicBezTo>
                    <a:pt x="2118077" y="0"/>
                    <a:pt x="2131591" y="13514"/>
                    <a:pt x="2131591" y="30184"/>
                  </a:cubicBezTo>
                  <a:lnTo>
                    <a:pt x="2131591" y="458575"/>
                  </a:lnTo>
                  <a:cubicBezTo>
                    <a:pt x="2131591" y="475245"/>
                    <a:pt x="2118077" y="488759"/>
                    <a:pt x="2101407" y="488759"/>
                  </a:cubicBezTo>
                  <a:lnTo>
                    <a:pt x="30184" y="488759"/>
                  </a:lnTo>
                  <a:cubicBezTo>
                    <a:pt x="22179" y="488759"/>
                    <a:pt x="14501" y="485579"/>
                    <a:pt x="8841" y="479918"/>
                  </a:cubicBezTo>
                  <a:cubicBezTo>
                    <a:pt x="3180" y="474257"/>
                    <a:pt x="0" y="466580"/>
                    <a:pt x="0" y="458575"/>
                  </a:cubicBezTo>
                  <a:lnTo>
                    <a:pt x="0" y="30184"/>
                  </a:lnTo>
                  <a:cubicBezTo>
                    <a:pt x="0" y="22179"/>
                    <a:pt x="3180" y="14501"/>
                    <a:pt x="8841" y="8841"/>
                  </a:cubicBezTo>
                  <a:cubicBezTo>
                    <a:pt x="14501" y="3180"/>
                    <a:pt x="22179" y="0"/>
                    <a:pt x="30184" y="0"/>
                  </a:cubicBezTo>
                  <a:close/>
                </a:path>
              </a:pathLst>
            </a:custGeom>
            <a:solidFill>
              <a:srgbClr val="001C84"/>
            </a:solidFill>
          </p:spPr>
        </p:sp>
        <p:sp>
          <p:nvSpPr>
            <p:cNvPr name="TextBox 17" id="17"/>
            <p:cNvSpPr txBox="true"/>
            <p:nvPr/>
          </p:nvSpPr>
          <p:spPr>
            <a:xfrm>
              <a:off x="0" y="123825"/>
              <a:ext cx="2131591" cy="364934"/>
            </a:xfrm>
            <a:prstGeom prst="rect">
              <a:avLst/>
            </a:prstGeom>
          </p:spPr>
          <p:txBody>
            <a:bodyPr anchor="ctr" rtlCol="false" tIns="45843" lIns="45843" bIns="45843" rIns="45843"/>
            <a:lstStyle/>
            <a:p>
              <a:pPr algn="ctr" marL="0" indent="0" lvl="0">
                <a:lnSpc>
                  <a:spcPts val="6948"/>
                </a:lnSpc>
              </a:pPr>
              <a:r>
                <a:rPr lang="en-US" b="true" sz="6948">
                  <a:solidFill>
                    <a:srgbClr val="FFFFFF"/>
                  </a:solidFill>
                  <a:latin typeface="DM Sans Bold"/>
                  <a:ea typeface="DM Sans Bold"/>
                  <a:cs typeface="DM Sans Bold"/>
                  <a:sym typeface="DM Sans Bold"/>
                </a:rPr>
                <a:t>Điều phối CPU</a:t>
              </a:r>
            </a:p>
          </p:txBody>
        </p:sp>
      </p:grpSp>
      <p:sp>
        <p:nvSpPr>
          <p:cNvPr name="AutoShape 18" id="18"/>
          <p:cNvSpPr/>
          <p:nvPr/>
        </p:nvSpPr>
        <p:spPr>
          <a:xfrm flipV="true">
            <a:off x="3217750" y="2339077"/>
            <a:ext cx="5905350" cy="732364"/>
          </a:xfrm>
          <a:prstGeom prst="line">
            <a:avLst/>
          </a:prstGeom>
          <a:ln cap="rnd" w="47625">
            <a:solidFill>
              <a:srgbClr val="000000"/>
            </a:solidFill>
            <a:prstDash val="solid"/>
            <a:headEnd type="arrow" len="sm" w="med"/>
            <a:tailEnd type="none" len="sm" w="sm"/>
          </a:ln>
        </p:spPr>
      </p:sp>
      <p:sp>
        <p:nvSpPr>
          <p:cNvPr name="AutoShape 19" id="19"/>
          <p:cNvSpPr/>
          <p:nvPr/>
        </p:nvSpPr>
        <p:spPr>
          <a:xfrm>
            <a:off x="13621430" y="4841220"/>
            <a:ext cx="3860488" cy="1594209"/>
          </a:xfrm>
          <a:prstGeom prst="line">
            <a:avLst/>
          </a:prstGeom>
          <a:ln cap="rnd" w="47625">
            <a:solidFill>
              <a:srgbClr val="000000"/>
            </a:solidFill>
            <a:prstDash val="solid"/>
            <a:headEnd type="none" len="sm" w="sm"/>
            <a:tailEnd type="arrow" len="sm" w="med"/>
          </a:ln>
        </p:spPr>
      </p:sp>
      <p:sp>
        <p:nvSpPr>
          <p:cNvPr name="AutoShape 20" id="20"/>
          <p:cNvSpPr/>
          <p:nvPr/>
        </p:nvSpPr>
        <p:spPr>
          <a:xfrm flipH="true">
            <a:off x="7837521" y="4841220"/>
            <a:ext cx="5783909" cy="1663725"/>
          </a:xfrm>
          <a:prstGeom prst="line">
            <a:avLst/>
          </a:prstGeom>
          <a:ln cap="rnd" w="47625">
            <a:solidFill>
              <a:srgbClr val="000000"/>
            </a:solidFill>
            <a:prstDash val="solid"/>
            <a:headEnd type="none" len="sm" w="sm"/>
            <a:tailEnd type="arrow" len="sm" w="med"/>
          </a:ln>
        </p:spPr>
      </p:sp>
      <p:sp>
        <p:nvSpPr>
          <p:cNvPr name="AutoShape 21" id="21"/>
          <p:cNvSpPr/>
          <p:nvPr/>
        </p:nvSpPr>
        <p:spPr>
          <a:xfrm flipH="true">
            <a:off x="1488109" y="4836788"/>
            <a:ext cx="1729641" cy="1650450"/>
          </a:xfrm>
          <a:prstGeom prst="line">
            <a:avLst/>
          </a:prstGeom>
          <a:ln cap="rnd" w="47625">
            <a:solidFill>
              <a:srgbClr val="000000"/>
            </a:solidFill>
            <a:prstDash val="solid"/>
            <a:headEnd type="none" len="sm" w="sm"/>
            <a:tailEnd type="arrow" len="sm" w="med"/>
          </a:ln>
        </p:spPr>
      </p:sp>
      <p:grpSp>
        <p:nvGrpSpPr>
          <p:cNvPr name="Group 22" id="22"/>
          <p:cNvGrpSpPr/>
          <p:nvPr/>
        </p:nvGrpSpPr>
        <p:grpSpPr>
          <a:xfrm rot="0">
            <a:off x="4258548" y="6487238"/>
            <a:ext cx="1589448" cy="1562807"/>
            <a:chOff x="0" y="0"/>
            <a:chExt cx="535493" cy="526518"/>
          </a:xfrm>
        </p:grpSpPr>
        <p:sp>
          <p:nvSpPr>
            <p:cNvPr name="Freeform 23" id="23"/>
            <p:cNvSpPr/>
            <p:nvPr/>
          </p:nvSpPr>
          <p:spPr>
            <a:xfrm flipH="false" flipV="false" rot="0">
              <a:off x="0" y="0"/>
              <a:ext cx="535493" cy="526518"/>
            </a:xfrm>
            <a:custGeom>
              <a:avLst/>
              <a:gdLst/>
              <a:ahLst/>
              <a:cxnLst/>
              <a:rect r="r" b="b" t="t" l="l"/>
              <a:pathLst>
                <a:path h="526518" w="535493">
                  <a:moveTo>
                    <a:pt x="0" y="0"/>
                  </a:moveTo>
                  <a:lnTo>
                    <a:pt x="535493" y="0"/>
                  </a:lnTo>
                  <a:lnTo>
                    <a:pt x="535493" y="526518"/>
                  </a:lnTo>
                  <a:lnTo>
                    <a:pt x="0" y="526518"/>
                  </a:lnTo>
                  <a:close/>
                </a:path>
              </a:pathLst>
            </a:custGeom>
            <a:solidFill>
              <a:srgbClr val="C2B5FF"/>
            </a:solidFill>
          </p:spPr>
        </p:sp>
        <p:sp>
          <p:nvSpPr>
            <p:cNvPr name="TextBox 24" id="24"/>
            <p:cNvSpPr txBox="true"/>
            <p:nvPr/>
          </p:nvSpPr>
          <p:spPr>
            <a:xfrm>
              <a:off x="0" y="114300"/>
              <a:ext cx="535493" cy="412218"/>
            </a:xfrm>
            <a:prstGeom prst="rect">
              <a:avLst/>
            </a:prstGeom>
          </p:spPr>
          <p:txBody>
            <a:bodyPr anchor="ctr" rtlCol="false" tIns="30562" lIns="30562" bIns="30562" rIns="30562"/>
            <a:lstStyle/>
            <a:p>
              <a:pPr algn="ctr" marL="0" indent="0" lvl="0">
                <a:lnSpc>
                  <a:spcPts val="2098"/>
                </a:lnSpc>
                <a:spcBef>
                  <a:spcPct val="0"/>
                </a:spcBef>
              </a:pPr>
              <a:r>
                <a:rPr lang="en-US" sz="2623">
                  <a:solidFill>
                    <a:srgbClr val="000000"/>
                  </a:solidFill>
                  <a:latin typeface="DM Sans"/>
                  <a:ea typeface="DM Sans"/>
                  <a:cs typeface="DM Sans"/>
                  <a:sym typeface="DM Sans"/>
                </a:rPr>
                <a:t>Thời gian chờ (nhỏ nhất)</a:t>
              </a:r>
            </a:p>
          </p:txBody>
        </p:sp>
      </p:grpSp>
      <p:sp>
        <p:nvSpPr>
          <p:cNvPr name="AutoShape 25" id="25"/>
          <p:cNvSpPr/>
          <p:nvPr/>
        </p:nvSpPr>
        <p:spPr>
          <a:xfrm>
            <a:off x="3217750" y="4836788"/>
            <a:ext cx="1835523" cy="1650450"/>
          </a:xfrm>
          <a:prstGeom prst="line">
            <a:avLst/>
          </a:prstGeom>
          <a:ln cap="rnd" w="47625">
            <a:solidFill>
              <a:srgbClr val="000000"/>
            </a:solidFill>
            <a:prstDash val="solid"/>
            <a:headEnd type="none" len="sm" w="sm"/>
            <a:tailEnd type="arrow" len="sm" w="med"/>
          </a:ln>
        </p:spPr>
      </p:sp>
      <p:grpSp>
        <p:nvGrpSpPr>
          <p:cNvPr name="Group 26" id="26"/>
          <p:cNvGrpSpPr/>
          <p:nvPr/>
        </p:nvGrpSpPr>
        <p:grpSpPr>
          <a:xfrm rot="0">
            <a:off x="9050627" y="6435430"/>
            <a:ext cx="1657330" cy="1614616"/>
            <a:chOff x="0" y="0"/>
            <a:chExt cx="558363" cy="543972"/>
          </a:xfrm>
        </p:grpSpPr>
        <p:sp>
          <p:nvSpPr>
            <p:cNvPr name="Freeform 27" id="27"/>
            <p:cNvSpPr/>
            <p:nvPr/>
          </p:nvSpPr>
          <p:spPr>
            <a:xfrm flipH="false" flipV="false" rot="0">
              <a:off x="0" y="0"/>
              <a:ext cx="558363" cy="543972"/>
            </a:xfrm>
            <a:custGeom>
              <a:avLst/>
              <a:gdLst/>
              <a:ahLst/>
              <a:cxnLst/>
              <a:rect r="r" b="b" t="t" l="l"/>
              <a:pathLst>
                <a:path h="543972" w="558363">
                  <a:moveTo>
                    <a:pt x="0" y="0"/>
                  </a:moveTo>
                  <a:lnTo>
                    <a:pt x="558363" y="0"/>
                  </a:lnTo>
                  <a:lnTo>
                    <a:pt x="558363" y="543972"/>
                  </a:lnTo>
                  <a:lnTo>
                    <a:pt x="0" y="543972"/>
                  </a:lnTo>
                  <a:close/>
                </a:path>
              </a:pathLst>
            </a:custGeom>
            <a:solidFill>
              <a:srgbClr val="97EDAA"/>
            </a:solidFill>
            <a:ln cap="sq">
              <a:noFill/>
              <a:prstDash val="solid"/>
              <a:miter/>
            </a:ln>
          </p:spPr>
        </p:sp>
        <p:sp>
          <p:nvSpPr>
            <p:cNvPr name="TextBox 28" id="28"/>
            <p:cNvSpPr txBox="true"/>
            <p:nvPr/>
          </p:nvSpPr>
          <p:spPr>
            <a:xfrm>
              <a:off x="0" y="114300"/>
              <a:ext cx="558363"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SJF</a:t>
              </a:r>
            </a:p>
          </p:txBody>
        </p:sp>
      </p:grpSp>
      <p:grpSp>
        <p:nvGrpSpPr>
          <p:cNvPr name="Group 29" id="29"/>
          <p:cNvGrpSpPr/>
          <p:nvPr/>
        </p:nvGrpSpPr>
        <p:grpSpPr>
          <a:xfrm rot="0">
            <a:off x="10946082" y="6435430"/>
            <a:ext cx="1657330" cy="1614616"/>
            <a:chOff x="0" y="0"/>
            <a:chExt cx="558363" cy="543972"/>
          </a:xfrm>
        </p:grpSpPr>
        <p:sp>
          <p:nvSpPr>
            <p:cNvPr name="Freeform 30" id="30"/>
            <p:cNvSpPr/>
            <p:nvPr/>
          </p:nvSpPr>
          <p:spPr>
            <a:xfrm flipH="false" flipV="false" rot="0">
              <a:off x="0" y="0"/>
              <a:ext cx="558363" cy="543972"/>
            </a:xfrm>
            <a:custGeom>
              <a:avLst/>
              <a:gdLst/>
              <a:ahLst/>
              <a:cxnLst/>
              <a:rect r="r" b="b" t="t" l="l"/>
              <a:pathLst>
                <a:path h="543972" w="558363">
                  <a:moveTo>
                    <a:pt x="0" y="0"/>
                  </a:moveTo>
                  <a:lnTo>
                    <a:pt x="558363" y="0"/>
                  </a:lnTo>
                  <a:lnTo>
                    <a:pt x="558363" y="543972"/>
                  </a:lnTo>
                  <a:lnTo>
                    <a:pt x="0" y="543972"/>
                  </a:lnTo>
                  <a:close/>
                </a:path>
              </a:pathLst>
            </a:custGeom>
            <a:solidFill>
              <a:srgbClr val="97EDAA"/>
            </a:solidFill>
            <a:ln cap="sq">
              <a:noFill/>
              <a:prstDash val="solid"/>
              <a:miter/>
            </a:ln>
          </p:spPr>
        </p:sp>
        <p:sp>
          <p:nvSpPr>
            <p:cNvPr name="TextBox 31" id="31"/>
            <p:cNvSpPr txBox="true"/>
            <p:nvPr/>
          </p:nvSpPr>
          <p:spPr>
            <a:xfrm>
              <a:off x="0" y="114300"/>
              <a:ext cx="558363"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Round Robin</a:t>
              </a:r>
            </a:p>
          </p:txBody>
        </p:sp>
      </p:grpSp>
      <p:grpSp>
        <p:nvGrpSpPr>
          <p:cNvPr name="Group 32" id="32"/>
          <p:cNvGrpSpPr/>
          <p:nvPr/>
        </p:nvGrpSpPr>
        <p:grpSpPr>
          <a:xfrm rot="0">
            <a:off x="12803438" y="6435430"/>
            <a:ext cx="1657330" cy="1614616"/>
            <a:chOff x="0" y="0"/>
            <a:chExt cx="558363" cy="543972"/>
          </a:xfrm>
        </p:grpSpPr>
        <p:sp>
          <p:nvSpPr>
            <p:cNvPr name="Freeform 33" id="33"/>
            <p:cNvSpPr/>
            <p:nvPr/>
          </p:nvSpPr>
          <p:spPr>
            <a:xfrm flipH="false" flipV="false" rot="0">
              <a:off x="0" y="0"/>
              <a:ext cx="558363" cy="543972"/>
            </a:xfrm>
            <a:custGeom>
              <a:avLst/>
              <a:gdLst/>
              <a:ahLst/>
              <a:cxnLst/>
              <a:rect r="r" b="b" t="t" l="l"/>
              <a:pathLst>
                <a:path h="543972" w="558363">
                  <a:moveTo>
                    <a:pt x="0" y="0"/>
                  </a:moveTo>
                  <a:lnTo>
                    <a:pt x="558363" y="0"/>
                  </a:lnTo>
                  <a:lnTo>
                    <a:pt x="558363" y="543972"/>
                  </a:lnTo>
                  <a:lnTo>
                    <a:pt x="0" y="543972"/>
                  </a:lnTo>
                  <a:close/>
                </a:path>
              </a:pathLst>
            </a:custGeom>
            <a:solidFill>
              <a:srgbClr val="97EDAA"/>
            </a:solidFill>
            <a:ln cap="sq">
              <a:noFill/>
              <a:prstDash val="solid"/>
              <a:miter/>
            </a:ln>
          </p:spPr>
        </p:sp>
        <p:sp>
          <p:nvSpPr>
            <p:cNvPr name="TextBox 34" id="34"/>
            <p:cNvSpPr txBox="true"/>
            <p:nvPr/>
          </p:nvSpPr>
          <p:spPr>
            <a:xfrm>
              <a:off x="0" y="114300"/>
              <a:ext cx="558363"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Ưu tiên</a:t>
              </a:r>
            </a:p>
          </p:txBody>
        </p:sp>
      </p:grpSp>
      <p:grpSp>
        <p:nvGrpSpPr>
          <p:cNvPr name="Group 35" id="35"/>
          <p:cNvGrpSpPr/>
          <p:nvPr/>
        </p:nvGrpSpPr>
        <p:grpSpPr>
          <a:xfrm rot="0">
            <a:off x="16556249" y="6435430"/>
            <a:ext cx="1851340" cy="1614616"/>
            <a:chOff x="0" y="0"/>
            <a:chExt cx="623726" cy="543972"/>
          </a:xfrm>
        </p:grpSpPr>
        <p:sp>
          <p:nvSpPr>
            <p:cNvPr name="Freeform 36" id="36"/>
            <p:cNvSpPr/>
            <p:nvPr/>
          </p:nvSpPr>
          <p:spPr>
            <a:xfrm flipH="false" flipV="false" rot="0">
              <a:off x="0" y="0"/>
              <a:ext cx="623726" cy="543972"/>
            </a:xfrm>
            <a:custGeom>
              <a:avLst/>
              <a:gdLst/>
              <a:ahLst/>
              <a:cxnLst/>
              <a:rect r="r" b="b" t="t" l="l"/>
              <a:pathLst>
                <a:path h="543972" w="623726">
                  <a:moveTo>
                    <a:pt x="0" y="0"/>
                  </a:moveTo>
                  <a:lnTo>
                    <a:pt x="623726" y="0"/>
                  </a:lnTo>
                  <a:lnTo>
                    <a:pt x="623726" y="543972"/>
                  </a:lnTo>
                  <a:lnTo>
                    <a:pt x="0" y="543972"/>
                  </a:lnTo>
                  <a:close/>
                </a:path>
              </a:pathLst>
            </a:custGeom>
            <a:solidFill>
              <a:srgbClr val="97EDAA"/>
            </a:solidFill>
            <a:ln cap="sq">
              <a:noFill/>
              <a:prstDash val="solid"/>
              <a:miter/>
            </a:ln>
          </p:spPr>
        </p:sp>
        <p:sp>
          <p:nvSpPr>
            <p:cNvPr name="TextBox 37" id="37"/>
            <p:cNvSpPr txBox="true"/>
            <p:nvPr/>
          </p:nvSpPr>
          <p:spPr>
            <a:xfrm>
              <a:off x="0" y="114300"/>
              <a:ext cx="623726"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Multilevel Feedback</a:t>
              </a:r>
            </a:p>
          </p:txBody>
        </p:sp>
      </p:grpSp>
      <p:grpSp>
        <p:nvGrpSpPr>
          <p:cNvPr name="Group 38" id="38"/>
          <p:cNvGrpSpPr/>
          <p:nvPr/>
        </p:nvGrpSpPr>
        <p:grpSpPr>
          <a:xfrm rot="0">
            <a:off x="14679843" y="6435430"/>
            <a:ext cx="1657330" cy="1614616"/>
            <a:chOff x="0" y="0"/>
            <a:chExt cx="558363" cy="543972"/>
          </a:xfrm>
        </p:grpSpPr>
        <p:sp>
          <p:nvSpPr>
            <p:cNvPr name="Freeform 39" id="39"/>
            <p:cNvSpPr/>
            <p:nvPr/>
          </p:nvSpPr>
          <p:spPr>
            <a:xfrm flipH="false" flipV="false" rot="0">
              <a:off x="0" y="0"/>
              <a:ext cx="558363" cy="543972"/>
            </a:xfrm>
            <a:custGeom>
              <a:avLst/>
              <a:gdLst/>
              <a:ahLst/>
              <a:cxnLst/>
              <a:rect r="r" b="b" t="t" l="l"/>
              <a:pathLst>
                <a:path h="543972" w="558363">
                  <a:moveTo>
                    <a:pt x="0" y="0"/>
                  </a:moveTo>
                  <a:lnTo>
                    <a:pt x="558363" y="0"/>
                  </a:lnTo>
                  <a:lnTo>
                    <a:pt x="558363" y="543972"/>
                  </a:lnTo>
                  <a:lnTo>
                    <a:pt x="0" y="543972"/>
                  </a:lnTo>
                  <a:close/>
                </a:path>
              </a:pathLst>
            </a:custGeom>
            <a:solidFill>
              <a:srgbClr val="97EDAA"/>
            </a:solidFill>
            <a:ln cap="sq">
              <a:noFill/>
              <a:prstDash val="solid"/>
              <a:miter/>
            </a:ln>
          </p:spPr>
        </p:sp>
        <p:sp>
          <p:nvSpPr>
            <p:cNvPr name="TextBox 40" id="40"/>
            <p:cNvSpPr txBox="true"/>
            <p:nvPr/>
          </p:nvSpPr>
          <p:spPr>
            <a:xfrm>
              <a:off x="0" y="114300"/>
              <a:ext cx="558363" cy="429672"/>
            </a:xfrm>
            <a:prstGeom prst="rect">
              <a:avLst/>
            </a:prstGeom>
          </p:spPr>
          <p:txBody>
            <a:bodyPr anchor="ctr" rtlCol="false" tIns="30562" lIns="30562" bIns="30562" rIns="30562"/>
            <a:lstStyle/>
            <a:p>
              <a:pPr algn="ctr" marL="0" indent="0" lvl="0">
                <a:lnSpc>
                  <a:spcPts val="2258"/>
                </a:lnSpc>
                <a:spcBef>
                  <a:spcPct val="0"/>
                </a:spcBef>
              </a:pPr>
              <a:r>
                <a:rPr lang="en-US" sz="2823">
                  <a:solidFill>
                    <a:srgbClr val="000000"/>
                  </a:solidFill>
                  <a:latin typeface="DM Sans"/>
                  <a:ea typeface="DM Sans"/>
                  <a:cs typeface="DM Sans"/>
                  <a:sym typeface="DM Sans"/>
                </a:rPr>
                <a:t>SRT</a:t>
              </a:r>
            </a:p>
          </p:txBody>
        </p:sp>
      </p:grpSp>
      <p:sp>
        <p:nvSpPr>
          <p:cNvPr name="AutoShape 41" id="41"/>
          <p:cNvSpPr/>
          <p:nvPr/>
        </p:nvSpPr>
        <p:spPr>
          <a:xfrm flipH="true">
            <a:off x="11774747" y="4841220"/>
            <a:ext cx="1846683" cy="1594209"/>
          </a:xfrm>
          <a:prstGeom prst="line">
            <a:avLst/>
          </a:prstGeom>
          <a:ln cap="rnd" w="47625">
            <a:solidFill>
              <a:srgbClr val="000000"/>
            </a:solidFill>
            <a:prstDash val="solid"/>
            <a:headEnd type="none" len="sm" w="sm"/>
            <a:tailEnd type="arrow" len="sm" w="med"/>
          </a:ln>
        </p:spPr>
      </p:sp>
      <p:sp>
        <p:nvSpPr>
          <p:cNvPr name="AutoShape 42" id="42"/>
          <p:cNvSpPr/>
          <p:nvPr/>
        </p:nvSpPr>
        <p:spPr>
          <a:xfrm>
            <a:off x="13621430" y="4841220"/>
            <a:ext cx="10673" cy="1594209"/>
          </a:xfrm>
          <a:prstGeom prst="line">
            <a:avLst/>
          </a:prstGeom>
          <a:ln cap="rnd" w="47625">
            <a:solidFill>
              <a:srgbClr val="000000"/>
            </a:solidFill>
            <a:prstDash val="solid"/>
            <a:headEnd type="none" len="sm" w="sm"/>
            <a:tailEnd type="arrow" len="sm" w="med"/>
          </a:ln>
        </p:spPr>
      </p:sp>
      <p:sp>
        <p:nvSpPr>
          <p:cNvPr name="AutoShape 43" id="43"/>
          <p:cNvSpPr/>
          <p:nvPr/>
        </p:nvSpPr>
        <p:spPr>
          <a:xfrm>
            <a:off x="13621430" y="4841220"/>
            <a:ext cx="1887078" cy="1594209"/>
          </a:xfrm>
          <a:prstGeom prst="line">
            <a:avLst/>
          </a:prstGeom>
          <a:ln cap="rnd" w="47625">
            <a:solidFill>
              <a:srgbClr val="000000"/>
            </a:solidFill>
            <a:prstDash val="solid"/>
            <a:headEnd type="none" len="sm" w="sm"/>
            <a:tailEnd type="arrow" len="sm" w="med"/>
          </a:ln>
        </p:spPr>
      </p:sp>
      <p:sp>
        <p:nvSpPr>
          <p:cNvPr name="AutoShape 44" id="44"/>
          <p:cNvSpPr/>
          <p:nvPr/>
        </p:nvSpPr>
        <p:spPr>
          <a:xfrm flipH="true">
            <a:off x="9879292" y="4841220"/>
            <a:ext cx="3742138" cy="1594209"/>
          </a:xfrm>
          <a:prstGeom prst="line">
            <a:avLst/>
          </a:prstGeom>
          <a:ln cap="rnd" w="47625">
            <a:solidFill>
              <a:srgbClr val="000000"/>
            </a:solidFill>
            <a:prstDash val="solid"/>
            <a:headEnd type="none" len="sm" w="sm"/>
            <a:tailEnd type="arrow" len="sm" w="med"/>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34920" y="429913"/>
            <a:ext cx="4831484" cy="919545"/>
            <a:chOff x="0" y="0"/>
            <a:chExt cx="1627752" cy="309800"/>
          </a:xfrm>
        </p:grpSpPr>
        <p:sp>
          <p:nvSpPr>
            <p:cNvPr name="Freeform 4" id="4"/>
            <p:cNvSpPr/>
            <p:nvPr/>
          </p:nvSpPr>
          <p:spPr>
            <a:xfrm flipH="false" flipV="false" rot="0">
              <a:off x="0" y="0"/>
              <a:ext cx="1627752" cy="309800"/>
            </a:xfrm>
            <a:custGeom>
              <a:avLst/>
              <a:gdLst/>
              <a:ahLst/>
              <a:cxnLst/>
              <a:rect r="r" b="b" t="t" l="l"/>
              <a:pathLst>
                <a:path h="309800" w="1627752">
                  <a:moveTo>
                    <a:pt x="0" y="0"/>
                  </a:moveTo>
                  <a:lnTo>
                    <a:pt x="1627752" y="0"/>
                  </a:lnTo>
                  <a:lnTo>
                    <a:pt x="1627752" y="309800"/>
                  </a:lnTo>
                  <a:lnTo>
                    <a:pt x="0" y="309800"/>
                  </a:lnTo>
                  <a:close/>
                </a:path>
              </a:pathLst>
            </a:custGeom>
            <a:solidFill>
              <a:srgbClr val="97EDAA"/>
            </a:solidFill>
            <a:ln cap="sq">
              <a:noFill/>
              <a:prstDash val="solid"/>
              <a:miter/>
            </a:ln>
          </p:spPr>
        </p:sp>
        <p:sp>
          <p:nvSpPr>
            <p:cNvPr name="TextBox 5" id="5"/>
            <p:cNvSpPr txBox="true"/>
            <p:nvPr/>
          </p:nvSpPr>
          <p:spPr>
            <a:xfrm>
              <a:off x="0" y="152400"/>
              <a:ext cx="1627752" cy="157400"/>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FIFO</a:t>
              </a:r>
            </a:p>
          </p:txBody>
        </p:sp>
      </p:grpSp>
      <p:sp>
        <p:nvSpPr>
          <p:cNvPr name="TextBox 6" id="6"/>
          <p:cNvSpPr txBox="true"/>
          <p:nvPr/>
        </p:nvSpPr>
        <p:spPr>
          <a:xfrm rot="0">
            <a:off x="534920" y="1579509"/>
            <a:ext cx="9328462" cy="96266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Tiến trình nào nhập vào trước thì thực hiện trước</a:t>
            </a:r>
          </a:p>
          <a:p>
            <a:pPr algn="l">
              <a:lnSpc>
                <a:spcPts val="3639"/>
              </a:lnSpc>
            </a:pPr>
          </a:p>
        </p:txBody>
      </p:sp>
      <p:grpSp>
        <p:nvGrpSpPr>
          <p:cNvPr name="Group 7" id="7"/>
          <p:cNvGrpSpPr/>
          <p:nvPr/>
        </p:nvGrpSpPr>
        <p:grpSpPr>
          <a:xfrm rot="0">
            <a:off x="534920" y="2542169"/>
            <a:ext cx="4831484" cy="919545"/>
            <a:chOff x="0" y="0"/>
            <a:chExt cx="1627752" cy="309800"/>
          </a:xfrm>
        </p:grpSpPr>
        <p:sp>
          <p:nvSpPr>
            <p:cNvPr name="Freeform 8" id="8"/>
            <p:cNvSpPr/>
            <p:nvPr/>
          </p:nvSpPr>
          <p:spPr>
            <a:xfrm flipH="false" flipV="false" rot="0">
              <a:off x="0" y="0"/>
              <a:ext cx="1627752" cy="309800"/>
            </a:xfrm>
            <a:custGeom>
              <a:avLst/>
              <a:gdLst/>
              <a:ahLst/>
              <a:cxnLst/>
              <a:rect r="r" b="b" t="t" l="l"/>
              <a:pathLst>
                <a:path h="309800" w="1627752">
                  <a:moveTo>
                    <a:pt x="0" y="0"/>
                  </a:moveTo>
                  <a:lnTo>
                    <a:pt x="1627752" y="0"/>
                  </a:lnTo>
                  <a:lnTo>
                    <a:pt x="1627752" y="309800"/>
                  </a:lnTo>
                  <a:lnTo>
                    <a:pt x="0" y="309800"/>
                  </a:lnTo>
                  <a:close/>
                </a:path>
              </a:pathLst>
            </a:custGeom>
            <a:solidFill>
              <a:srgbClr val="97EDAA"/>
            </a:solidFill>
            <a:ln cap="sq">
              <a:noFill/>
              <a:prstDash val="solid"/>
              <a:miter/>
            </a:ln>
          </p:spPr>
        </p:sp>
        <p:sp>
          <p:nvSpPr>
            <p:cNvPr name="TextBox 9" id="9"/>
            <p:cNvSpPr txBox="true"/>
            <p:nvPr/>
          </p:nvSpPr>
          <p:spPr>
            <a:xfrm>
              <a:off x="0" y="152400"/>
              <a:ext cx="1627752" cy="157400"/>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SJF</a:t>
              </a:r>
            </a:p>
          </p:txBody>
        </p:sp>
      </p:grpSp>
      <p:sp>
        <p:nvSpPr>
          <p:cNvPr name="TextBox 10" id="10"/>
          <p:cNvSpPr txBox="true"/>
          <p:nvPr/>
        </p:nvSpPr>
        <p:spPr>
          <a:xfrm rot="0">
            <a:off x="534920" y="3690314"/>
            <a:ext cx="16724380" cy="233426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Tiến trình nào có thời gian ngắn nhất thì thực hiện trước</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SJF-ĐQ: Khi 1 tiến trình đang thực thi nó không bị dừng bởi các tiến trình khác dù tiến trình khác có thời gian thực thi ngắn hơn</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SJF-KĐQ: Một tiến trình đang thực thi vẫn bị dừng bởi các tiến trình có thời gian thực thi ngắn hơn</a:t>
            </a:r>
          </a:p>
        </p:txBody>
      </p:sp>
      <p:grpSp>
        <p:nvGrpSpPr>
          <p:cNvPr name="Group 11" id="11"/>
          <p:cNvGrpSpPr/>
          <p:nvPr/>
        </p:nvGrpSpPr>
        <p:grpSpPr>
          <a:xfrm rot="0">
            <a:off x="534920" y="6367475"/>
            <a:ext cx="4831484" cy="919545"/>
            <a:chOff x="0" y="0"/>
            <a:chExt cx="1627752" cy="309800"/>
          </a:xfrm>
        </p:grpSpPr>
        <p:sp>
          <p:nvSpPr>
            <p:cNvPr name="Freeform 12" id="12"/>
            <p:cNvSpPr/>
            <p:nvPr/>
          </p:nvSpPr>
          <p:spPr>
            <a:xfrm flipH="false" flipV="false" rot="0">
              <a:off x="0" y="0"/>
              <a:ext cx="1627752" cy="309800"/>
            </a:xfrm>
            <a:custGeom>
              <a:avLst/>
              <a:gdLst/>
              <a:ahLst/>
              <a:cxnLst/>
              <a:rect r="r" b="b" t="t" l="l"/>
              <a:pathLst>
                <a:path h="309800" w="1627752">
                  <a:moveTo>
                    <a:pt x="0" y="0"/>
                  </a:moveTo>
                  <a:lnTo>
                    <a:pt x="1627752" y="0"/>
                  </a:lnTo>
                  <a:lnTo>
                    <a:pt x="1627752" y="309800"/>
                  </a:lnTo>
                  <a:lnTo>
                    <a:pt x="0" y="309800"/>
                  </a:lnTo>
                  <a:close/>
                </a:path>
              </a:pathLst>
            </a:custGeom>
            <a:solidFill>
              <a:srgbClr val="97EDAA"/>
            </a:solidFill>
            <a:ln cap="sq">
              <a:noFill/>
              <a:prstDash val="solid"/>
              <a:miter/>
            </a:ln>
          </p:spPr>
        </p:sp>
        <p:sp>
          <p:nvSpPr>
            <p:cNvPr name="TextBox 13" id="13"/>
            <p:cNvSpPr txBox="true"/>
            <p:nvPr/>
          </p:nvSpPr>
          <p:spPr>
            <a:xfrm>
              <a:off x="0" y="152400"/>
              <a:ext cx="1627752" cy="157400"/>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Round Robin</a:t>
              </a:r>
            </a:p>
          </p:txBody>
        </p:sp>
      </p:grpSp>
      <p:sp>
        <p:nvSpPr>
          <p:cNvPr name="TextBox 14" id="14"/>
          <p:cNvSpPr txBox="true"/>
          <p:nvPr/>
        </p:nvSpPr>
        <p:spPr>
          <a:xfrm rot="0">
            <a:off x="534920" y="7667096"/>
            <a:ext cx="16724380" cy="187706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Sử dụng 1 hàng chờ trật tự, tiến trình nào đến trước sẽ được phục vụ trước trong 1 khe thời gian nhất định</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Khi hết khe thời gian mà tiến trình vẫn cần chạy tiếp nó sẽ tự động trở về cuối hàng đợi để chờ lượt phục vụ kế tiếp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534920" y="461500"/>
            <a:ext cx="4831484" cy="887959"/>
            <a:chOff x="0" y="0"/>
            <a:chExt cx="1627752" cy="299158"/>
          </a:xfrm>
        </p:grpSpPr>
        <p:sp>
          <p:nvSpPr>
            <p:cNvPr name="Freeform 4" id="4"/>
            <p:cNvSpPr/>
            <p:nvPr/>
          </p:nvSpPr>
          <p:spPr>
            <a:xfrm flipH="false" flipV="false" rot="0">
              <a:off x="0" y="0"/>
              <a:ext cx="1627752" cy="299158"/>
            </a:xfrm>
            <a:custGeom>
              <a:avLst/>
              <a:gdLst/>
              <a:ahLst/>
              <a:cxnLst/>
              <a:rect r="r" b="b" t="t" l="l"/>
              <a:pathLst>
                <a:path h="299158" w="1627752">
                  <a:moveTo>
                    <a:pt x="0" y="0"/>
                  </a:moveTo>
                  <a:lnTo>
                    <a:pt x="1627752" y="0"/>
                  </a:lnTo>
                  <a:lnTo>
                    <a:pt x="1627752" y="299158"/>
                  </a:lnTo>
                  <a:lnTo>
                    <a:pt x="0" y="299158"/>
                  </a:lnTo>
                  <a:close/>
                </a:path>
              </a:pathLst>
            </a:custGeom>
            <a:solidFill>
              <a:srgbClr val="97EDAA"/>
            </a:solidFill>
            <a:ln cap="sq">
              <a:noFill/>
              <a:prstDash val="solid"/>
              <a:miter/>
            </a:ln>
          </p:spPr>
        </p:sp>
        <p:sp>
          <p:nvSpPr>
            <p:cNvPr name="TextBox 5" id="5"/>
            <p:cNvSpPr txBox="true"/>
            <p:nvPr/>
          </p:nvSpPr>
          <p:spPr>
            <a:xfrm>
              <a:off x="0" y="152400"/>
              <a:ext cx="1627752" cy="146758"/>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Ưu tiên</a:t>
              </a:r>
            </a:p>
          </p:txBody>
        </p:sp>
      </p:grpSp>
      <p:sp>
        <p:nvSpPr>
          <p:cNvPr name="TextBox 6" id="6"/>
          <p:cNvSpPr txBox="true"/>
          <p:nvPr/>
        </p:nvSpPr>
        <p:spPr>
          <a:xfrm rot="0">
            <a:off x="534920" y="1481497"/>
            <a:ext cx="17515046" cy="324866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Mỗi tiến trình sẽ được gán 1 mức độ ưu tiên nhất định và đưa vào hàng chờ. Khi cần chọn tiến trình tiếp theo, hệ thống sẽ chọn đến tiến trình có mức ưu tiên cao nhất dù đến trước hay đến sau</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Ưu tiên - ĐQ: Tiến trình khi đã được thực thi sẽ được quyền giữ CPU cho đến khi hoàn thành</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Ưu tiên - KĐQ: Tiến trình đang thực thi vẫn có thể bị giải phóng bởi tiến trình có độ ưu tiên cao hơn</a:t>
            </a:r>
          </a:p>
          <a:p>
            <a:pPr algn="l">
              <a:lnSpc>
                <a:spcPts val="3639"/>
              </a:lnSpc>
            </a:pPr>
          </a:p>
        </p:txBody>
      </p:sp>
      <p:sp>
        <p:nvSpPr>
          <p:cNvPr name="TextBox 7" id="7"/>
          <p:cNvSpPr txBox="true"/>
          <p:nvPr/>
        </p:nvSpPr>
        <p:spPr>
          <a:xfrm rot="0">
            <a:off x="534920" y="5590993"/>
            <a:ext cx="17753080" cy="4163061"/>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Tương tự như SJF nhưng trong thuật toán này, độ ưu tiên các tiến trình dựa vào thời gian cần thiết để thực hiện nốt tiến trình (bằng tổng thời gian trừ đi thời gian đã thực hiện). Như vậy, trong thuật toán này cần phải thường xuyên cập nhật thông tin về thời gian đã thực hiện của tiến trình. Đồng thời, chế độ phân bố lại giờ CPU cũng phải dược áp dụng nếu không sẽ làm mất tính ưu viện của thuật toán</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SRT - ĐQ: Tiến trình khi đã được thực thi sẽ được quyền giữ CPU cho đến khi hoàn thành</a:t>
            </a:r>
          </a:p>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SRT - KĐQ: Tiến trình đang thực thi vẫn có thể bị giải phóng bởi tiến trình có thời gian còn lại ngắn hơn</a:t>
            </a:r>
          </a:p>
          <a:p>
            <a:pPr algn="l">
              <a:lnSpc>
                <a:spcPts val="3639"/>
              </a:lnSpc>
            </a:pPr>
          </a:p>
        </p:txBody>
      </p:sp>
      <p:grpSp>
        <p:nvGrpSpPr>
          <p:cNvPr name="Group 8" id="8"/>
          <p:cNvGrpSpPr/>
          <p:nvPr/>
        </p:nvGrpSpPr>
        <p:grpSpPr>
          <a:xfrm rot="0">
            <a:off x="534920" y="4569684"/>
            <a:ext cx="4831484" cy="887959"/>
            <a:chOff x="0" y="0"/>
            <a:chExt cx="1627752" cy="299158"/>
          </a:xfrm>
        </p:grpSpPr>
        <p:sp>
          <p:nvSpPr>
            <p:cNvPr name="Freeform 9" id="9"/>
            <p:cNvSpPr/>
            <p:nvPr/>
          </p:nvSpPr>
          <p:spPr>
            <a:xfrm flipH="false" flipV="false" rot="0">
              <a:off x="0" y="0"/>
              <a:ext cx="1627752" cy="299158"/>
            </a:xfrm>
            <a:custGeom>
              <a:avLst/>
              <a:gdLst/>
              <a:ahLst/>
              <a:cxnLst/>
              <a:rect r="r" b="b" t="t" l="l"/>
              <a:pathLst>
                <a:path h="299158" w="1627752">
                  <a:moveTo>
                    <a:pt x="0" y="0"/>
                  </a:moveTo>
                  <a:lnTo>
                    <a:pt x="1627752" y="0"/>
                  </a:lnTo>
                  <a:lnTo>
                    <a:pt x="1627752" y="299158"/>
                  </a:lnTo>
                  <a:lnTo>
                    <a:pt x="0" y="299158"/>
                  </a:lnTo>
                  <a:close/>
                </a:path>
              </a:pathLst>
            </a:custGeom>
            <a:solidFill>
              <a:srgbClr val="97EDAA"/>
            </a:solidFill>
            <a:ln cap="sq">
              <a:noFill/>
              <a:prstDash val="solid"/>
              <a:miter/>
            </a:ln>
          </p:spPr>
        </p:sp>
        <p:sp>
          <p:nvSpPr>
            <p:cNvPr name="TextBox 10" id="10"/>
            <p:cNvSpPr txBox="true"/>
            <p:nvPr/>
          </p:nvSpPr>
          <p:spPr>
            <a:xfrm>
              <a:off x="0" y="152400"/>
              <a:ext cx="1627752" cy="146758"/>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SRT</a:t>
              </a:r>
            </a:p>
          </p:txBody>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34920" y="3424742"/>
            <a:ext cx="5848536" cy="887959"/>
            <a:chOff x="0" y="0"/>
            <a:chExt cx="1970402" cy="299158"/>
          </a:xfrm>
        </p:grpSpPr>
        <p:sp>
          <p:nvSpPr>
            <p:cNvPr name="Freeform 3" id="3"/>
            <p:cNvSpPr/>
            <p:nvPr/>
          </p:nvSpPr>
          <p:spPr>
            <a:xfrm flipH="false" flipV="false" rot="0">
              <a:off x="0" y="0"/>
              <a:ext cx="1970402" cy="299158"/>
            </a:xfrm>
            <a:custGeom>
              <a:avLst/>
              <a:gdLst/>
              <a:ahLst/>
              <a:cxnLst/>
              <a:rect r="r" b="b" t="t" l="l"/>
              <a:pathLst>
                <a:path h="299158" w="1970402">
                  <a:moveTo>
                    <a:pt x="0" y="0"/>
                  </a:moveTo>
                  <a:lnTo>
                    <a:pt x="1970402" y="0"/>
                  </a:lnTo>
                  <a:lnTo>
                    <a:pt x="1970402" y="299158"/>
                  </a:lnTo>
                  <a:lnTo>
                    <a:pt x="0" y="299158"/>
                  </a:lnTo>
                  <a:close/>
                </a:path>
              </a:pathLst>
            </a:custGeom>
            <a:solidFill>
              <a:srgbClr val="97EDAA"/>
            </a:solidFill>
            <a:ln cap="sq">
              <a:noFill/>
              <a:prstDash val="solid"/>
              <a:miter/>
            </a:ln>
          </p:spPr>
        </p:sp>
        <p:sp>
          <p:nvSpPr>
            <p:cNvPr name="TextBox 4" id="4"/>
            <p:cNvSpPr txBox="true"/>
            <p:nvPr/>
          </p:nvSpPr>
          <p:spPr>
            <a:xfrm>
              <a:off x="0" y="152400"/>
              <a:ext cx="1970402" cy="146758"/>
            </a:xfrm>
            <a:prstGeom prst="rect">
              <a:avLst/>
            </a:prstGeom>
          </p:spPr>
          <p:txBody>
            <a:bodyPr anchor="ctr" rtlCol="false" tIns="30562" lIns="30562" bIns="30562" rIns="30562"/>
            <a:lstStyle/>
            <a:p>
              <a:pPr algn="ctr" marL="0" indent="0" lvl="0">
                <a:lnSpc>
                  <a:spcPts val="3298"/>
                </a:lnSpc>
                <a:spcBef>
                  <a:spcPct val="0"/>
                </a:spcBef>
              </a:pPr>
              <a:r>
                <a:rPr lang="en-US" b="true" sz="4123">
                  <a:solidFill>
                    <a:srgbClr val="000000"/>
                  </a:solidFill>
                  <a:latin typeface="DM Sans Bold"/>
                  <a:ea typeface="DM Sans Bold"/>
                  <a:cs typeface="DM Sans Bold"/>
                  <a:sym typeface="DM Sans Bold"/>
                </a:rPr>
                <a:t>Multilevel Feedback</a:t>
              </a:r>
            </a:p>
          </p:txBody>
        </p:sp>
      </p:grpSp>
      <p:sp>
        <p:nvSpPr>
          <p:cNvPr name="TextBox 5" id="5"/>
          <p:cNvSpPr txBox="true"/>
          <p:nvPr/>
        </p:nvSpPr>
        <p:spPr>
          <a:xfrm rot="0">
            <a:off x="386477" y="4423887"/>
            <a:ext cx="17515046" cy="141986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00000"/>
                </a:solidFill>
                <a:latin typeface="Heading Now 71-78"/>
                <a:ea typeface="Heading Now 71-78"/>
                <a:cs typeface="Heading Now 71-78"/>
                <a:sym typeface="Heading Now 71-78"/>
              </a:rPr>
              <a:t>Trong phương pháp sử dụng quyền ưu tiên các tiến trình có mức ưu tiên thấp sẽ rất dễ rơi vào tình trạng “đói” CPU. Để khác phục tình trạng này người ta xây dựng phương pháp sử dụng nhiều mức ưu tiên với ý tưởng sau mỗi lần sử dụng CPU mức ưu tiên của tiến trình sẽ giảm đi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4225364" y="0"/>
            <a:ext cx="3033936" cy="3033936"/>
          </a:xfrm>
          <a:custGeom>
            <a:avLst/>
            <a:gdLst/>
            <a:ahLst/>
            <a:cxnLst/>
            <a:rect r="r" b="b" t="t" l="l"/>
            <a:pathLst>
              <a:path h="3033936" w="3033936">
                <a:moveTo>
                  <a:pt x="3033936" y="0"/>
                </a:moveTo>
                <a:lnTo>
                  <a:pt x="0" y="0"/>
                </a:lnTo>
                <a:lnTo>
                  <a:pt x="0" y="3033936"/>
                </a:lnTo>
                <a:lnTo>
                  <a:pt x="3033936" y="3033936"/>
                </a:lnTo>
                <a:lnTo>
                  <a:pt x="3033936" y="0"/>
                </a:lnTo>
                <a:close/>
              </a:path>
            </a:pathLst>
          </a:custGeom>
          <a:blipFill>
            <a:blip r:embed="rId2"/>
            <a:stretch>
              <a:fillRect l="0" t="0" r="0" b="0"/>
            </a:stretch>
          </a:blipFill>
        </p:spPr>
      </p:sp>
      <p:sp>
        <p:nvSpPr>
          <p:cNvPr name="TextBox 3" id="3"/>
          <p:cNvSpPr txBox="true"/>
          <p:nvPr/>
        </p:nvSpPr>
        <p:spPr>
          <a:xfrm rot="0">
            <a:off x="386477" y="460482"/>
            <a:ext cx="12715898" cy="23342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1. Thuật toán SJF dựa trên nguyên tắc gì để lập lịch các công việc?</a:t>
            </a:r>
          </a:p>
          <a:p>
            <a:pPr algn="l">
              <a:lnSpc>
                <a:spcPts val="3639"/>
              </a:lnSpc>
            </a:pPr>
            <a:r>
              <a:rPr lang="en-US" sz="2599">
                <a:solidFill>
                  <a:srgbClr val="000000"/>
                </a:solidFill>
                <a:latin typeface="Heading Now 71-78"/>
                <a:ea typeface="Heading Now 71-78"/>
                <a:cs typeface="Heading Now 71-78"/>
                <a:sym typeface="Heading Now 71-78"/>
              </a:rPr>
              <a:t>          A</a:t>
            </a:r>
            <a:r>
              <a:rPr lang="en-US" sz="2599">
                <a:solidFill>
                  <a:srgbClr val="000000"/>
                </a:solidFill>
                <a:latin typeface="Heading Now 71-78"/>
                <a:ea typeface="Heading Now 71-78"/>
                <a:cs typeface="Heading Now 71-78"/>
                <a:sym typeface="Heading Now 71-78"/>
              </a:rPr>
              <a:t>) Lập lịch công việc dựa trên tiến trình nào hoàn thành trước</a:t>
            </a:r>
          </a:p>
          <a:p>
            <a:pPr algn="l">
              <a:lnSpc>
                <a:spcPts val="3639"/>
              </a:lnSpc>
            </a:pPr>
            <a:r>
              <a:rPr lang="en-US" sz="2599">
                <a:solidFill>
                  <a:srgbClr val="000000"/>
                </a:solidFill>
                <a:latin typeface="Heading Now 71-78"/>
                <a:ea typeface="Heading Now 71-78"/>
                <a:cs typeface="Heading Now 71-78"/>
                <a:sym typeface="Heading Now 71-78"/>
              </a:rPr>
              <a:t>          B</a:t>
            </a:r>
            <a:r>
              <a:rPr lang="en-US" sz="2599">
                <a:solidFill>
                  <a:srgbClr val="000000"/>
                </a:solidFill>
                <a:latin typeface="Heading Now 71-78"/>
                <a:ea typeface="Heading Now 71-78"/>
                <a:cs typeface="Heading Now 71-78"/>
                <a:sym typeface="Heading Now 71-78"/>
              </a:rPr>
              <a:t>) Lập lịch công việc dựa trên công việc ngắn nhất trước  </a:t>
            </a:r>
          </a:p>
          <a:p>
            <a:pPr algn="l">
              <a:lnSpc>
                <a:spcPts val="3639"/>
              </a:lnSpc>
            </a:pPr>
            <a:r>
              <a:rPr lang="en-US" sz="2599">
                <a:solidFill>
                  <a:srgbClr val="000000"/>
                </a:solidFill>
                <a:latin typeface="Heading Now 71-78"/>
                <a:ea typeface="Heading Now 71-78"/>
                <a:cs typeface="Heading Now 71-78"/>
                <a:sym typeface="Heading Now 71-78"/>
              </a:rPr>
              <a:t>          C</a:t>
            </a:r>
            <a:r>
              <a:rPr lang="en-US" sz="2599">
                <a:solidFill>
                  <a:srgbClr val="000000"/>
                </a:solidFill>
                <a:latin typeface="Heading Now 71-78"/>
                <a:ea typeface="Heading Now 71-78"/>
                <a:cs typeface="Heading Now 71-78"/>
                <a:sym typeface="Heading Now 71-78"/>
              </a:rPr>
              <a:t>) Lập lịch công việc dựa trên công việc dài nhất trước</a:t>
            </a:r>
          </a:p>
          <a:p>
            <a:pPr algn="l">
              <a:lnSpc>
                <a:spcPts val="3639"/>
              </a:lnSpc>
            </a:pPr>
            <a:r>
              <a:rPr lang="en-US" sz="2599">
                <a:solidFill>
                  <a:srgbClr val="000000"/>
                </a:solidFill>
                <a:latin typeface="Heading Now 71-78"/>
                <a:ea typeface="Heading Now 71-78"/>
                <a:cs typeface="Heading Now 71-78"/>
                <a:sym typeface="Heading Now 71-78"/>
              </a:rPr>
              <a:t>          D</a:t>
            </a:r>
            <a:r>
              <a:rPr lang="en-US" sz="2599">
                <a:solidFill>
                  <a:srgbClr val="000000"/>
                </a:solidFill>
                <a:latin typeface="Heading Now 71-78"/>
                <a:ea typeface="Heading Now 71-78"/>
                <a:cs typeface="Heading Now 71-78"/>
                <a:sym typeface="Heading Now 71-78"/>
              </a:rPr>
              <a:t>) Lập lịch công việc dựa trên tiến trình ngắn nhất trước</a:t>
            </a:r>
          </a:p>
        </p:txBody>
      </p:sp>
      <p:sp>
        <p:nvSpPr>
          <p:cNvPr name="TextBox 4" id="4"/>
          <p:cNvSpPr txBox="true"/>
          <p:nvPr/>
        </p:nvSpPr>
        <p:spPr>
          <a:xfrm rot="0">
            <a:off x="386477" y="3266440"/>
            <a:ext cx="17515046" cy="18770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2. “Thuật toán Round Robin là sự kết hợp của thuật toán FIFO và khe thời gian q” phát biểu trên đúng hay sai?</a:t>
            </a:r>
          </a:p>
          <a:p>
            <a:pPr algn="l">
              <a:lnSpc>
                <a:spcPts val="3639"/>
              </a:lnSpc>
            </a:pPr>
            <a:r>
              <a:rPr lang="en-US" sz="2599">
                <a:solidFill>
                  <a:srgbClr val="000000"/>
                </a:solidFill>
                <a:latin typeface="Heading Now 71-78"/>
                <a:ea typeface="Heading Now 71-78"/>
                <a:cs typeface="Heading Now 71-78"/>
                <a:sym typeface="Heading Now 71-78"/>
              </a:rPr>
              <a:t>          A) Đúng</a:t>
            </a:r>
          </a:p>
          <a:p>
            <a:pPr algn="l">
              <a:lnSpc>
                <a:spcPts val="3639"/>
              </a:lnSpc>
            </a:pPr>
            <a:r>
              <a:rPr lang="en-US" sz="2599">
                <a:solidFill>
                  <a:srgbClr val="000000"/>
                </a:solidFill>
                <a:latin typeface="Heading Now 71-78"/>
                <a:ea typeface="Heading Now 71-78"/>
                <a:cs typeface="Heading Now 71-78"/>
                <a:sym typeface="Heading Now 71-78"/>
              </a:rPr>
              <a:t>          B) Sai</a:t>
            </a:r>
          </a:p>
        </p:txBody>
      </p:sp>
      <p:sp>
        <p:nvSpPr>
          <p:cNvPr name="TextBox 5" id="5"/>
          <p:cNvSpPr txBox="true"/>
          <p:nvPr/>
        </p:nvSpPr>
        <p:spPr>
          <a:xfrm rot="0">
            <a:off x="386477" y="5619750"/>
            <a:ext cx="17515046" cy="32486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3. Bộ điều phối CPU dùng để làm gì?</a:t>
            </a:r>
          </a:p>
          <a:p>
            <a:pPr algn="l">
              <a:lnSpc>
                <a:spcPts val="3639"/>
              </a:lnSpc>
            </a:pPr>
            <a:r>
              <a:rPr lang="en-US" sz="2599">
                <a:solidFill>
                  <a:srgbClr val="000000"/>
                </a:solidFill>
                <a:latin typeface="Heading Now 71-78"/>
                <a:ea typeface="Heading Now 71-78"/>
                <a:cs typeface="Heading Now 71-78"/>
                <a:sym typeface="Heading Now 71-78"/>
              </a:rPr>
              <a:t>          A) Sử dụng để cung cấp các thông tin về các tiến trình và các chương trình đang chạy trên máy tính</a:t>
            </a:r>
          </a:p>
          <a:p>
            <a:pPr algn="l">
              <a:lnSpc>
                <a:spcPts val="3639"/>
              </a:lnSpc>
            </a:pPr>
            <a:r>
              <a:rPr lang="en-US" sz="2599">
                <a:solidFill>
                  <a:srgbClr val="000000"/>
                </a:solidFill>
                <a:latin typeface="Heading Now 71-78"/>
                <a:ea typeface="Heading Now 71-78"/>
                <a:cs typeface="Heading Now 71-78"/>
                <a:sym typeface="Heading Now 71-78"/>
              </a:rPr>
              <a:t>          B) Để tăng tốc độ cho một hệ thống máy tính</a:t>
            </a:r>
          </a:p>
          <a:p>
            <a:pPr algn="l">
              <a:lnSpc>
                <a:spcPts val="3639"/>
              </a:lnSpc>
            </a:pPr>
            <a:r>
              <a:rPr lang="en-US" sz="2599">
                <a:solidFill>
                  <a:srgbClr val="000000"/>
                </a:solidFill>
                <a:latin typeface="Heading Now 71-78"/>
                <a:ea typeface="Heading Now 71-78"/>
                <a:cs typeface="Heading Now 71-78"/>
                <a:sym typeface="Heading Now 71-78"/>
              </a:rPr>
              <a:t>          C) Lựa chọn một trong số các tiến trình đang sẵn sàng trong bộ nhớ và cung cấp CPU cho nó</a:t>
            </a:r>
          </a:p>
          <a:p>
            <a:pPr algn="l">
              <a:lnSpc>
                <a:spcPts val="3639"/>
              </a:lnSpc>
            </a:pPr>
            <a:r>
              <a:rPr lang="en-US" sz="2599">
                <a:solidFill>
                  <a:srgbClr val="000000"/>
                </a:solidFill>
                <a:latin typeface="Heading Now 71-78"/>
                <a:ea typeface="Heading Now 71-78"/>
                <a:cs typeface="Heading Now 71-78"/>
                <a:sym typeface="Heading Now 71-78"/>
              </a:rPr>
              <a:t>          D) Không để làm gì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4225364" y="0"/>
            <a:ext cx="3033936" cy="3033936"/>
          </a:xfrm>
          <a:custGeom>
            <a:avLst/>
            <a:gdLst/>
            <a:ahLst/>
            <a:cxnLst/>
            <a:rect r="r" b="b" t="t" l="l"/>
            <a:pathLst>
              <a:path h="3033936" w="3033936">
                <a:moveTo>
                  <a:pt x="3033936" y="0"/>
                </a:moveTo>
                <a:lnTo>
                  <a:pt x="0" y="0"/>
                </a:lnTo>
                <a:lnTo>
                  <a:pt x="0" y="3033936"/>
                </a:lnTo>
                <a:lnTo>
                  <a:pt x="3033936" y="3033936"/>
                </a:lnTo>
                <a:lnTo>
                  <a:pt x="3033936" y="0"/>
                </a:lnTo>
                <a:close/>
              </a:path>
            </a:pathLst>
          </a:custGeom>
          <a:blipFill>
            <a:blip r:embed="rId2"/>
            <a:stretch>
              <a:fillRect l="0" t="0" r="0" b="0"/>
            </a:stretch>
          </a:blipFill>
        </p:spPr>
      </p:sp>
      <p:grpSp>
        <p:nvGrpSpPr>
          <p:cNvPr name="Group 3" id="3"/>
          <p:cNvGrpSpPr/>
          <p:nvPr/>
        </p:nvGrpSpPr>
        <p:grpSpPr>
          <a:xfrm rot="0">
            <a:off x="1315407" y="1516968"/>
            <a:ext cx="495458" cy="49545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6" id="6"/>
          <p:cNvSpPr txBox="true"/>
          <p:nvPr/>
        </p:nvSpPr>
        <p:spPr>
          <a:xfrm rot="0">
            <a:off x="386477" y="540417"/>
            <a:ext cx="12715898" cy="23342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1. Thuật toán SJF dựa trên nguyên tắc gì để lập lịch các công việc?</a:t>
            </a:r>
          </a:p>
          <a:p>
            <a:pPr algn="l">
              <a:lnSpc>
                <a:spcPts val="3639"/>
              </a:lnSpc>
            </a:pPr>
            <a:r>
              <a:rPr lang="en-US" sz="2599">
                <a:solidFill>
                  <a:srgbClr val="000000"/>
                </a:solidFill>
                <a:latin typeface="Heading Now 71-78"/>
                <a:ea typeface="Heading Now 71-78"/>
                <a:cs typeface="Heading Now 71-78"/>
                <a:sym typeface="Heading Now 71-78"/>
              </a:rPr>
              <a:t>          A</a:t>
            </a:r>
            <a:r>
              <a:rPr lang="en-US" sz="2599">
                <a:solidFill>
                  <a:srgbClr val="000000"/>
                </a:solidFill>
                <a:latin typeface="Heading Now 71-78"/>
                <a:ea typeface="Heading Now 71-78"/>
                <a:cs typeface="Heading Now 71-78"/>
                <a:sym typeface="Heading Now 71-78"/>
              </a:rPr>
              <a:t>) Lập lịch công việc dựa trên tiến trình nào hoàn thành trước</a:t>
            </a:r>
          </a:p>
          <a:p>
            <a:pPr algn="l">
              <a:lnSpc>
                <a:spcPts val="3639"/>
              </a:lnSpc>
            </a:pPr>
            <a:r>
              <a:rPr lang="en-US" sz="2599">
                <a:solidFill>
                  <a:srgbClr val="000000"/>
                </a:solidFill>
                <a:latin typeface="Heading Now 71-78"/>
                <a:ea typeface="Heading Now 71-78"/>
                <a:cs typeface="Heading Now 71-78"/>
                <a:sym typeface="Heading Now 71-78"/>
              </a:rPr>
              <a:t>          B</a:t>
            </a:r>
            <a:r>
              <a:rPr lang="en-US" sz="2599">
                <a:solidFill>
                  <a:srgbClr val="000000"/>
                </a:solidFill>
                <a:latin typeface="Heading Now 71-78"/>
                <a:ea typeface="Heading Now 71-78"/>
                <a:cs typeface="Heading Now 71-78"/>
                <a:sym typeface="Heading Now 71-78"/>
              </a:rPr>
              <a:t>) Lập lịch công việc dựa trên công việc ngắn nhất trước  </a:t>
            </a:r>
          </a:p>
          <a:p>
            <a:pPr algn="l">
              <a:lnSpc>
                <a:spcPts val="3639"/>
              </a:lnSpc>
            </a:pPr>
            <a:r>
              <a:rPr lang="en-US" sz="2599">
                <a:solidFill>
                  <a:srgbClr val="000000"/>
                </a:solidFill>
                <a:latin typeface="Heading Now 71-78"/>
                <a:ea typeface="Heading Now 71-78"/>
                <a:cs typeface="Heading Now 71-78"/>
                <a:sym typeface="Heading Now 71-78"/>
              </a:rPr>
              <a:t>          C</a:t>
            </a:r>
            <a:r>
              <a:rPr lang="en-US" sz="2599">
                <a:solidFill>
                  <a:srgbClr val="000000"/>
                </a:solidFill>
                <a:latin typeface="Heading Now 71-78"/>
                <a:ea typeface="Heading Now 71-78"/>
                <a:cs typeface="Heading Now 71-78"/>
                <a:sym typeface="Heading Now 71-78"/>
              </a:rPr>
              <a:t>) Lập lịch công việc dựa trên công việc dài nhất trước</a:t>
            </a:r>
          </a:p>
          <a:p>
            <a:pPr algn="l">
              <a:lnSpc>
                <a:spcPts val="3639"/>
              </a:lnSpc>
            </a:pPr>
            <a:r>
              <a:rPr lang="en-US" sz="2599">
                <a:solidFill>
                  <a:srgbClr val="000000"/>
                </a:solidFill>
                <a:latin typeface="Heading Now 71-78"/>
                <a:ea typeface="Heading Now 71-78"/>
                <a:cs typeface="Heading Now 71-78"/>
                <a:sym typeface="Heading Now 71-78"/>
              </a:rPr>
              <a:t>          D</a:t>
            </a:r>
            <a:r>
              <a:rPr lang="en-US" sz="2599">
                <a:solidFill>
                  <a:srgbClr val="000000"/>
                </a:solidFill>
                <a:latin typeface="Heading Now 71-78"/>
                <a:ea typeface="Heading Now 71-78"/>
                <a:cs typeface="Heading Now 71-78"/>
                <a:sym typeface="Heading Now 71-78"/>
              </a:rPr>
              <a:t>) Lập lịch công việc dựa trên tiến trình ngắn nhất trước</a:t>
            </a:r>
          </a:p>
        </p:txBody>
      </p:sp>
      <p:sp>
        <p:nvSpPr>
          <p:cNvPr name="TextBox 7" id="7"/>
          <p:cNvSpPr txBox="true"/>
          <p:nvPr/>
        </p:nvSpPr>
        <p:spPr>
          <a:xfrm rot="0">
            <a:off x="386477" y="3125222"/>
            <a:ext cx="17515046" cy="18770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2. “Thuật toán Round Robin là sự kết hợp của thuật toán FIFO và khe thời gian q” phát biểu trên đúng hay sai?</a:t>
            </a:r>
          </a:p>
          <a:p>
            <a:pPr algn="l">
              <a:lnSpc>
                <a:spcPts val="3639"/>
              </a:lnSpc>
            </a:pPr>
            <a:r>
              <a:rPr lang="en-US" sz="2599">
                <a:solidFill>
                  <a:srgbClr val="000000"/>
                </a:solidFill>
                <a:latin typeface="Heading Now 71-78"/>
                <a:ea typeface="Heading Now 71-78"/>
                <a:cs typeface="Heading Now 71-78"/>
                <a:sym typeface="Heading Now 71-78"/>
              </a:rPr>
              <a:t>          A) Đúng</a:t>
            </a:r>
          </a:p>
          <a:p>
            <a:pPr algn="l">
              <a:lnSpc>
                <a:spcPts val="3639"/>
              </a:lnSpc>
            </a:pPr>
            <a:r>
              <a:rPr lang="en-US" sz="2599">
                <a:solidFill>
                  <a:srgbClr val="000000"/>
                </a:solidFill>
                <a:latin typeface="Heading Now 71-78"/>
                <a:ea typeface="Heading Now 71-78"/>
                <a:cs typeface="Heading Now 71-78"/>
                <a:sym typeface="Heading Now 71-78"/>
              </a:rPr>
              <a:t>          B) Sai</a:t>
            </a:r>
          </a:p>
        </p:txBody>
      </p:sp>
      <p:sp>
        <p:nvSpPr>
          <p:cNvPr name="TextBox 8" id="8"/>
          <p:cNvSpPr txBox="true"/>
          <p:nvPr/>
        </p:nvSpPr>
        <p:spPr>
          <a:xfrm rot="0">
            <a:off x="386477" y="5252828"/>
            <a:ext cx="17515046" cy="32486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3. Bộ điều phối CPU dùng để làm gì?</a:t>
            </a:r>
          </a:p>
          <a:p>
            <a:pPr algn="l">
              <a:lnSpc>
                <a:spcPts val="3639"/>
              </a:lnSpc>
            </a:pPr>
            <a:r>
              <a:rPr lang="en-US" sz="2599">
                <a:solidFill>
                  <a:srgbClr val="000000"/>
                </a:solidFill>
                <a:latin typeface="Heading Now 71-78"/>
                <a:ea typeface="Heading Now 71-78"/>
                <a:cs typeface="Heading Now 71-78"/>
                <a:sym typeface="Heading Now 71-78"/>
              </a:rPr>
              <a:t>          A) Sử dụng để cung cấp các thông tin về các tiến trình và các chương trình đang chạy trên máy tính</a:t>
            </a:r>
          </a:p>
          <a:p>
            <a:pPr algn="l">
              <a:lnSpc>
                <a:spcPts val="3639"/>
              </a:lnSpc>
            </a:pPr>
            <a:r>
              <a:rPr lang="en-US" sz="2599">
                <a:solidFill>
                  <a:srgbClr val="000000"/>
                </a:solidFill>
                <a:latin typeface="Heading Now 71-78"/>
                <a:ea typeface="Heading Now 71-78"/>
                <a:cs typeface="Heading Now 71-78"/>
                <a:sym typeface="Heading Now 71-78"/>
              </a:rPr>
              <a:t>          B) Để tăng tốc độ cho một hệ thống máy tính</a:t>
            </a:r>
          </a:p>
          <a:p>
            <a:pPr algn="l">
              <a:lnSpc>
                <a:spcPts val="3639"/>
              </a:lnSpc>
            </a:pPr>
            <a:r>
              <a:rPr lang="en-US" sz="2599">
                <a:solidFill>
                  <a:srgbClr val="000000"/>
                </a:solidFill>
                <a:latin typeface="Heading Now 71-78"/>
                <a:ea typeface="Heading Now 71-78"/>
                <a:cs typeface="Heading Now 71-78"/>
                <a:sym typeface="Heading Now 71-78"/>
              </a:rPr>
              <a:t>          C) Lựa chọn một trong số các tiến trình đang sẵn sàng trong bộ nhớ và cung cấp CPU cho nó</a:t>
            </a:r>
          </a:p>
          <a:p>
            <a:pPr algn="l">
              <a:lnSpc>
                <a:spcPts val="3639"/>
              </a:lnSpc>
            </a:pPr>
            <a:r>
              <a:rPr lang="en-US" sz="2599">
                <a:solidFill>
                  <a:srgbClr val="000000"/>
                </a:solidFill>
                <a:latin typeface="Heading Now 71-78"/>
                <a:ea typeface="Heading Now 71-78"/>
                <a:cs typeface="Heading Now 71-78"/>
                <a:sym typeface="Heading Now 71-78"/>
              </a:rPr>
              <a:t>          D) Không để làm gì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4225364" y="0"/>
            <a:ext cx="3033936" cy="3033936"/>
          </a:xfrm>
          <a:custGeom>
            <a:avLst/>
            <a:gdLst/>
            <a:ahLst/>
            <a:cxnLst/>
            <a:rect r="r" b="b" t="t" l="l"/>
            <a:pathLst>
              <a:path h="3033936" w="3033936">
                <a:moveTo>
                  <a:pt x="3033936" y="0"/>
                </a:moveTo>
                <a:lnTo>
                  <a:pt x="0" y="0"/>
                </a:lnTo>
                <a:lnTo>
                  <a:pt x="0" y="3033936"/>
                </a:lnTo>
                <a:lnTo>
                  <a:pt x="3033936" y="3033936"/>
                </a:lnTo>
                <a:lnTo>
                  <a:pt x="3033936" y="0"/>
                </a:lnTo>
                <a:close/>
              </a:path>
            </a:pathLst>
          </a:custGeom>
          <a:blipFill>
            <a:blip r:embed="rId2"/>
            <a:stretch>
              <a:fillRect l="0" t="0" r="0" b="0"/>
            </a:stretch>
          </a:blipFill>
        </p:spPr>
      </p:sp>
      <p:grpSp>
        <p:nvGrpSpPr>
          <p:cNvPr name="Group 3" id="3"/>
          <p:cNvGrpSpPr/>
          <p:nvPr/>
        </p:nvGrpSpPr>
        <p:grpSpPr>
          <a:xfrm rot="0">
            <a:off x="1315407" y="1516968"/>
            <a:ext cx="495458" cy="49545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6" id="6"/>
          <p:cNvSpPr txBox="true"/>
          <p:nvPr/>
        </p:nvSpPr>
        <p:spPr>
          <a:xfrm rot="0">
            <a:off x="386477" y="540417"/>
            <a:ext cx="12715898" cy="23342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1. Thuật toán SJF dựa trên nguyên tắc gì để lập lịch các công việc?</a:t>
            </a:r>
          </a:p>
          <a:p>
            <a:pPr algn="l">
              <a:lnSpc>
                <a:spcPts val="3639"/>
              </a:lnSpc>
            </a:pPr>
            <a:r>
              <a:rPr lang="en-US" sz="2599">
                <a:solidFill>
                  <a:srgbClr val="000000"/>
                </a:solidFill>
                <a:latin typeface="Heading Now 71-78"/>
                <a:ea typeface="Heading Now 71-78"/>
                <a:cs typeface="Heading Now 71-78"/>
                <a:sym typeface="Heading Now 71-78"/>
              </a:rPr>
              <a:t>          A</a:t>
            </a:r>
            <a:r>
              <a:rPr lang="en-US" sz="2599">
                <a:solidFill>
                  <a:srgbClr val="000000"/>
                </a:solidFill>
                <a:latin typeface="Heading Now 71-78"/>
                <a:ea typeface="Heading Now 71-78"/>
                <a:cs typeface="Heading Now 71-78"/>
                <a:sym typeface="Heading Now 71-78"/>
              </a:rPr>
              <a:t>) Lập lịch công việc dựa trên tiến trình nào hoàn thành trước</a:t>
            </a:r>
          </a:p>
          <a:p>
            <a:pPr algn="l">
              <a:lnSpc>
                <a:spcPts val="3639"/>
              </a:lnSpc>
            </a:pPr>
            <a:r>
              <a:rPr lang="en-US" sz="2599">
                <a:solidFill>
                  <a:srgbClr val="000000"/>
                </a:solidFill>
                <a:latin typeface="Heading Now 71-78"/>
                <a:ea typeface="Heading Now 71-78"/>
                <a:cs typeface="Heading Now 71-78"/>
                <a:sym typeface="Heading Now 71-78"/>
              </a:rPr>
              <a:t>          B</a:t>
            </a:r>
            <a:r>
              <a:rPr lang="en-US" sz="2599">
                <a:solidFill>
                  <a:srgbClr val="000000"/>
                </a:solidFill>
                <a:latin typeface="Heading Now 71-78"/>
                <a:ea typeface="Heading Now 71-78"/>
                <a:cs typeface="Heading Now 71-78"/>
                <a:sym typeface="Heading Now 71-78"/>
              </a:rPr>
              <a:t>) Lập lịch công việc dựa trên công việc ngắn nhất trước  </a:t>
            </a:r>
          </a:p>
          <a:p>
            <a:pPr algn="l">
              <a:lnSpc>
                <a:spcPts val="3639"/>
              </a:lnSpc>
            </a:pPr>
            <a:r>
              <a:rPr lang="en-US" sz="2599">
                <a:solidFill>
                  <a:srgbClr val="000000"/>
                </a:solidFill>
                <a:latin typeface="Heading Now 71-78"/>
                <a:ea typeface="Heading Now 71-78"/>
                <a:cs typeface="Heading Now 71-78"/>
                <a:sym typeface="Heading Now 71-78"/>
              </a:rPr>
              <a:t>          C</a:t>
            </a:r>
            <a:r>
              <a:rPr lang="en-US" sz="2599">
                <a:solidFill>
                  <a:srgbClr val="000000"/>
                </a:solidFill>
                <a:latin typeface="Heading Now 71-78"/>
                <a:ea typeface="Heading Now 71-78"/>
                <a:cs typeface="Heading Now 71-78"/>
                <a:sym typeface="Heading Now 71-78"/>
              </a:rPr>
              <a:t>) Lập lịch công việc dựa trên công việc dài nhất trước</a:t>
            </a:r>
          </a:p>
          <a:p>
            <a:pPr algn="l">
              <a:lnSpc>
                <a:spcPts val="3639"/>
              </a:lnSpc>
            </a:pPr>
            <a:r>
              <a:rPr lang="en-US" sz="2599">
                <a:solidFill>
                  <a:srgbClr val="000000"/>
                </a:solidFill>
                <a:latin typeface="Heading Now 71-78"/>
                <a:ea typeface="Heading Now 71-78"/>
                <a:cs typeface="Heading Now 71-78"/>
                <a:sym typeface="Heading Now 71-78"/>
              </a:rPr>
              <a:t>          D</a:t>
            </a:r>
            <a:r>
              <a:rPr lang="en-US" sz="2599">
                <a:solidFill>
                  <a:srgbClr val="000000"/>
                </a:solidFill>
                <a:latin typeface="Heading Now 71-78"/>
                <a:ea typeface="Heading Now 71-78"/>
                <a:cs typeface="Heading Now 71-78"/>
                <a:sym typeface="Heading Now 71-78"/>
              </a:rPr>
              <a:t>) Lập lịch công việc dựa trên tiến trình ngắn nhất trước</a:t>
            </a:r>
          </a:p>
        </p:txBody>
      </p:sp>
      <p:grpSp>
        <p:nvGrpSpPr>
          <p:cNvPr name="Group 7" id="7"/>
          <p:cNvGrpSpPr/>
          <p:nvPr/>
        </p:nvGrpSpPr>
        <p:grpSpPr>
          <a:xfrm rot="0">
            <a:off x="1315407" y="4199998"/>
            <a:ext cx="495458" cy="49545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10" id="10"/>
          <p:cNvSpPr txBox="true"/>
          <p:nvPr/>
        </p:nvSpPr>
        <p:spPr>
          <a:xfrm rot="0">
            <a:off x="386477" y="3204317"/>
            <a:ext cx="17515046" cy="18770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2. “Thuật toán Round Robin là sự kết hợp của thuật toán FIFO và khe thời gian q” phát biểu trên đúng hay sai?</a:t>
            </a:r>
          </a:p>
          <a:p>
            <a:pPr algn="l">
              <a:lnSpc>
                <a:spcPts val="3639"/>
              </a:lnSpc>
            </a:pPr>
            <a:r>
              <a:rPr lang="en-US" sz="2599">
                <a:solidFill>
                  <a:srgbClr val="000000"/>
                </a:solidFill>
                <a:latin typeface="Heading Now 71-78"/>
                <a:ea typeface="Heading Now 71-78"/>
                <a:cs typeface="Heading Now 71-78"/>
                <a:sym typeface="Heading Now 71-78"/>
              </a:rPr>
              <a:t>          A) Đúng</a:t>
            </a:r>
          </a:p>
          <a:p>
            <a:pPr algn="l">
              <a:lnSpc>
                <a:spcPts val="3639"/>
              </a:lnSpc>
            </a:pPr>
            <a:r>
              <a:rPr lang="en-US" sz="2599">
                <a:solidFill>
                  <a:srgbClr val="000000"/>
                </a:solidFill>
                <a:latin typeface="Heading Now 71-78"/>
                <a:ea typeface="Heading Now 71-78"/>
                <a:cs typeface="Heading Now 71-78"/>
                <a:sym typeface="Heading Now 71-78"/>
              </a:rPr>
              <a:t>          B) Sai</a:t>
            </a:r>
          </a:p>
        </p:txBody>
      </p:sp>
      <p:sp>
        <p:nvSpPr>
          <p:cNvPr name="TextBox 11" id="11"/>
          <p:cNvSpPr txBox="true"/>
          <p:nvPr/>
        </p:nvSpPr>
        <p:spPr>
          <a:xfrm rot="0">
            <a:off x="386477" y="5571367"/>
            <a:ext cx="17515046" cy="32486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3. Bộ điều phối CPU dùng để làm gì?</a:t>
            </a:r>
          </a:p>
          <a:p>
            <a:pPr algn="l">
              <a:lnSpc>
                <a:spcPts val="3639"/>
              </a:lnSpc>
            </a:pPr>
            <a:r>
              <a:rPr lang="en-US" sz="2599">
                <a:solidFill>
                  <a:srgbClr val="000000"/>
                </a:solidFill>
                <a:latin typeface="Heading Now 71-78"/>
                <a:ea typeface="Heading Now 71-78"/>
                <a:cs typeface="Heading Now 71-78"/>
                <a:sym typeface="Heading Now 71-78"/>
              </a:rPr>
              <a:t>          A) Sử dụng để cung cấp các thông tin về các tiến trình và các chương trình đang chạy trên máy tính</a:t>
            </a:r>
          </a:p>
          <a:p>
            <a:pPr algn="l">
              <a:lnSpc>
                <a:spcPts val="3639"/>
              </a:lnSpc>
            </a:pPr>
            <a:r>
              <a:rPr lang="en-US" sz="2599">
                <a:solidFill>
                  <a:srgbClr val="000000"/>
                </a:solidFill>
                <a:latin typeface="Heading Now 71-78"/>
                <a:ea typeface="Heading Now 71-78"/>
                <a:cs typeface="Heading Now 71-78"/>
                <a:sym typeface="Heading Now 71-78"/>
              </a:rPr>
              <a:t>          B) Để tăng tốc độ cho một hệ thống máy tính</a:t>
            </a:r>
          </a:p>
          <a:p>
            <a:pPr algn="l">
              <a:lnSpc>
                <a:spcPts val="3639"/>
              </a:lnSpc>
            </a:pPr>
            <a:r>
              <a:rPr lang="en-US" sz="2599">
                <a:solidFill>
                  <a:srgbClr val="000000"/>
                </a:solidFill>
                <a:latin typeface="Heading Now 71-78"/>
                <a:ea typeface="Heading Now 71-78"/>
                <a:cs typeface="Heading Now 71-78"/>
                <a:sym typeface="Heading Now 71-78"/>
              </a:rPr>
              <a:t>          C) Lựa chọn một trong số các tiến trình đang sẵn sàng trong bộ nhớ và cung cấp CPU cho nó</a:t>
            </a:r>
          </a:p>
          <a:p>
            <a:pPr algn="l">
              <a:lnSpc>
                <a:spcPts val="3639"/>
              </a:lnSpc>
            </a:pPr>
            <a:r>
              <a:rPr lang="en-US" sz="2599">
                <a:solidFill>
                  <a:srgbClr val="000000"/>
                </a:solidFill>
                <a:latin typeface="Heading Now 71-78"/>
                <a:ea typeface="Heading Now 71-78"/>
                <a:cs typeface="Heading Now 71-78"/>
                <a:sym typeface="Heading Now 71-78"/>
              </a:rPr>
              <a:t>          D) Không để làm gì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4225364" y="0"/>
            <a:ext cx="3033936" cy="3033936"/>
          </a:xfrm>
          <a:custGeom>
            <a:avLst/>
            <a:gdLst/>
            <a:ahLst/>
            <a:cxnLst/>
            <a:rect r="r" b="b" t="t" l="l"/>
            <a:pathLst>
              <a:path h="3033936" w="3033936">
                <a:moveTo>
                  <a:pt x="3033936" y="0"/>
                </a:moveTo>
                <a:lnTo>
                  <a:pt x="0" y="0"/>
                </a:lnTo>
                <a:lnTo>
                  <a:pt x="0" y="3033936"/>
                </a:lnTo>
                <a:lnTo>
                  <a:pt x="3033936" y="3033936"/>
                </a:lnTo>
                <a:lnTo>
                  <a:pt x="3033936" y="0"/>
                </a:lnTo>
                <a:close/>
              </a:path>
            </a:pathLst>
          </a:custGeom>
          <a:blipFill>
            <a:blip r:embed="rId2"/>
            <a:stretch>
              <a:fillRect l="0" t="0" r="0" b="0"/>
            </a:stretch>
          </a:blipFill>
        </p:spPr>
      </p:sp>
      <p:grpSp>
        <p:nvGrpSpPr>
          <p:cNvPr name="Group 3" id="3"/>
          <p:cNvGrpSpPr/>
          <p:nvPr/>
        </p:nvGrpSpPr>
        <p:grpSpPr>
          <a:xfrm rot="0">
            <a:off x="1315407" y="1516968"/>
            <a:ext cx="495458" cy="49545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6" id="6"/>
          <p:cNvSpPr txBox="true"/>
          <p:nvPr/>
        </p:nvSpPr>
        <p:spPr>
          <a:xfrm rot="0">
            <a:off x="386477" y="536682"/>
            <a:ext cx="12715898" cy="23342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1. Thuật toán SJF dựa trên nguyên tắc gì để lập lịch các công việc?</a:t>
            </a:r>
          </a:p>
          <a:p>
            <a:pPr algn="l">
              <a:lnSpc>
                <a:spcPts val="3639"/>
              </a:lnSpc>
            </a:pPr>
            <a:r>
              <a:rPr lang="en-US" sz="2599">
                <a:solidFill>
                  <a:srgbClr val="000000"/>
                </a:solidFill>
                <a:latin typeface="Heading Now 71-78"/>
                <a:ea typeface="Heading Now 71-78"/>
                <a:cs typeface="Heading Now 71-78"/>
                <a:sym typeface="Heading Now 71-78"/>
              </a:rPr>
              <a:t>          A</a:t>
            </a:r>
            <a:r>
              <a:rPr lang="en-US" sz="2599">
                <a:solidFill>
                  <a:srgbClr val="000000"/>
                </a:solidFill>
                <a:latin typeface="Heading Now 71-78"/>
                <a:ea typeface="Heading Now 71-78"/>
                <a:cs typeface="Heading Now 71-78"/>
                <a:sym typeface="Heading Now 71-78"/>
              </a:rPr>
              <a:t>) Lập lịch công việc dựa trên tiến trình nào hoàn thành trước</a:t>
            </a:r>
          </a:p>
          <a:p>
            <a:pPr algn="l">
              <a:lnSpc>
                <a:spcPts val="3639"/>
              </a:lnSpc>
            </a:pPr>
            <a:r>
              <a:rPr lang="en-US" sz="2599">
                <a:solidFill>
                  <a:srgbClr val="000000"/>
                </a:solidFill>
                <a:latin typeface="Heading Now 71-78"/>
                <a:ea typeface="Heading Now 71-78"/>
                <a:cs typeface="Heading Now 71-78"/>
                <a:sym typeface="Heading Now 71-78"/>
              </a:rPr>
              <a:t>          B</a:t>
            </a:r>
            <a:r>
              <a:rPr lang="en-US" sz="2599">
                <a:solidFill>
                  <a:srgbClr val="000000"/>
                </a:solidFill>
                <a:latin typeface="Heading Now 71-78"/>
                <a:ea typeface="Heading Now 71-78"/>
                <a:cs typeface="Heading Now 71-78"/>
                <a:sym typeface="Heading Now 71-78"/>
              </a:rPr>
              <a:t>) Lập lịch công việc dựa trên công việc ngắn nhất trước  </a:t>
            </a:r>
          </a:p>
          <a:p>
            <a:pPr algn="l">
              <a:lnSpc>
                <a:spcPts val="3639"/>
              </a:lnSpc>
            </a:pPr>
            <a:r>
              <a:rPr lang="en-US" sz="2599">
                <a:solidFill>
                  <a:srgbClr val="000000"/>
                </a:solidFill>
                <a:latin typeface="Heading Now 71-78"/>
                <a:ea typeface="Heading Now 71-78"/>
                <a:cs typeface="Heading Now 71-78"/>
                <a:sym typeface="Heading Now 71-78"/>
              </a:rPr>
              <a:t>          C</a:t>
            </a:r>
            <a:r>
              <a:rPr lang="en-US" sz="2599">
                <a:solidFill>
                  <a:srgbClr val="000000"/>
                </a:solidFill>
                <a:latin typeface="Heading Now 71-78"/>
                <a:ea typeface="Heading Now 71-78"/>
                <a:cs typeface="Heading Now 71-78"/>
                <a:sym typeface="Heading Now 71-78"/>
              </a:rPr>
              <a:t>) Lập lịch công việc dựa trên công việc dài nhất trước</a:t>
            </a:r>
          </a:p>
          <a:p>
            <a:pPr algn="l">
              <a:lnSpc>
                <a:spcPts val="3639"/>
              </a:lnSpc>
            </a:pPr>
            <a:r>
              <a:rPr lang="en-US" sz="2599">
                <a:solidFill>
                  <a:srgbClr val="000000"/>
                </a:solidFill>
                <a:latin typeface="Heading Now 71-78"/>
                <a:ea typeface="Heading Now 71-78"/>
                <a:cs typeface="Heading Now 71-78"/>
                <a:sym typeface="Heading Now 71-78"/>
              </a:rPr>
              <a:t>          D</a:t>
            </a:r>
            <a:r>
              <a:rPr lang="en-US" sz="2599">
                <a:solidFill>
                  <a:srgbClr val="000000"/>
                </a:solidFill>
                <a:latin typeface="Heading Now 71-78"/>
                <a:ea typeface="Heading Now 71-78"/>
                <a:cs typeface="Heading Now 71-78"/>
                <a:sym typeface="Heading Now 71-78"/>
              </a:rPr>
              <a:t>) Lập lịch công việc dựa trên tiến trình ngắn nhất trước</a:t>
            </a:r>
          </a:p>
        </p:txBody>
      </p:sp>
      <p:grpSp>
        <p:nvGrpSpPr>
          <p:cNvPr name="Group 7" id="7"/>
          <p:cNvGrpSpPr/>
          <p:nvPr/>
        </p:nvGrpSpPr>
        <p:grpSpPr>
          <a:xfrm rot="0">
            <a:off x="1315407" y="4199998"/>
            <a:ext cx="495458" cy="49545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10" id="10"/>
          <p:cNvSpPr txBox="true"/>
          <p:nvPr/>
        </p:nvSpPr>
        <p:spPr>
          <a:xfrm rot="0">
            <a:off x="386477" y="3204317"/>
            <a:ext cx="17515046" cy="18770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2. “Thuật toán Round Robin là sự kết hợp của thuật toán FIFO và khe thời gian q” phát biểu trên đúng hay sai?</a:t>
            </a:r>
          </a:p>
          <a:p>
            <a:pPr algn="l">
              <a:lnSpc>
                <a:spcPts val="3639"/>
              </a:lnSpc>
            </a:pPr>
            <a:r>
              <a:rPr lang="en-US" sz="2599">
                <a:solidFill>
                  <a:srgbClr val="000000"/>
                </a:solidFill>
                <a:latin typeface="Heading Now 71-78"/>
                <a:ea typeface="Heading Now 71-78"/>
                <a:cs typeface="Heading Now 71-78"/>
                <a:sym typeface="Heading Now 71-78"/>
              </a:rPr>
              <a:t>          A) Đúng</a:t>
            </a:r>
          </a:p>
          <a:p>
            <a:pPr algn="l">
              <a:lnSpc>
                <a:spcPts val="3639"/>
              </a:lnSpc>
            </a:pPr>
            <a:r>
              <a:rPr lang="en-US" sz="2599">
                <a:solidFill>
                  <a:srgbClr val="000000"/>
                </a:solidFill>
                <a:latin typeface="Heading Now 71-78"/>
                <a:ea typeface="Heading Now 71-78"/>
                <a:cs typeface="Heading Now 71-78"/>
                <a:sym typeface="Heading Now 71-78"/>
              </a:rPr>
              <a:t>          B) Sai</a:t>
            </a:r>
          </a:p>
        </p:txBody>
      </p:sp>
      <p:grpSp>
        <p:nvGrpSpPr>
          <p:cNvPr name="Group 11" id="11"/>
          <p:cNvGrpSpPr/>
          <p:nvPr/>
        </p:nvGrpSpPr>
        <p:grpSpPr>
          <a:xfrm rot="0">
            <a:off x="1315407" y="7369895"/>
            <a:ext cx="495458" cy="49545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5CD"/>
            </a:solidFill>
          </p:spPr>
        </p:sp>
        <p:sp>
          <p:nvSpPr>
            <p:cNvPr name="TextBox 13" id="13"/>
            <p:cNvSpPr txBox="true"/>
            <p:nvPr/>
          </p:nvSpPr>
          <p:spPr>
            <a:xfrm>
              <a:off x="76200" y="9525"/>
              <a:ext cx="660400" cy="727075"/>
            </a:xfrm>
            <a:prstGeom prst="rect">
              <a:avLst/>
            </a:prstGeom>
          </p:spPr>
          <p:txBody>
            <a:bodyPr anchor="ctr" rtlCol="false" tIns="50800" lIns="50800" bIns="50800" rIns="50800"/>
            <a:lstStyle/>
            <a:p>
              <a:pPr algn="ctr">
                <a:lnSpc>
                  <a:spcPts val="3000"/>
                </a:lnSpc>
              </a:pPr>
            </a:p>
          </p:txBody>
        </p:sp>
      </p:grpSp>
      <p:sp>
        <p:nvSpPr>
          <p:cNvPr name="TextBox 14" id="14"/>
          <p:cNvSpPr txBox="true"/>
          <p:nvPr/>
        </p:nvSpPr>
        <p:spPr>
          <a:xfrm rot="0">
            <a:off x="386477" y="5414753"/>
            <a:ext cx="17515046" cy="3248660"/>
          </a:xfrm>
          <a:prstGeom prst="rect">
            <a:avLst/>
          </a:prstGeom>
        </p:spPr>
        <p:txBody>
          <a:bodyPr anchor="t" rtlCol="false" tIns="0" lIns="0" bIns="0" rIns="0">
            <a:spAutoFit/>
          </a:bodyPr>
          <a:lstStyle/>
          <a:p>
            <a:pPr algn="l">
              <a:lnSpc>
                <a:spcPts val="3639"/>
              </a:lnSpc>
            </a:pPr>
            <a:r>
              <a:rPr lang="en-US" sz="2599">
                <a:solidFill>
                  <a:srgbClr val="000000"/>
                </a:solidFill>
                <a:latin typeface="Heading Now 71-78"/>
                <a:ea typeface="Heading Now 71-78"/>
                <a:cs typeface="Heading Now 71-78"/>
                <a:sym typeface="Heading Now 71-78"/>
              </a:rPr>
              <a:t>3. Bộ điều phối CPU dùng để làm gì?</a:t>
            </a:r>
          </a:p>
          <a:p>
            <a:pPr algn="l">
              <a:lnSpc>
                <a:spcPts val="3639"/>
              </a:lnSpc>
            </a:pPr>
            <a:r>
              <a:rPr lang="en-US" sz="2599">
                <a:solidFill>
                  <a:srgbClr val="000000"/>
                </a:solidFill>
                <a:latin typeface="Heading Now 71-78"/>
                <a:ea typeface="Heading Now 71-78"/>
                <a:cs typeface="Heading Now 71-78"/>
                <a:sym typeface="Heading Now 71-78"/>
              </a:rPr>
              <a:t>          A) Sử dụng để cung cấp các thông tin về các tiến trình và các chương trình đang chạy trên máy tính</a:t>
            </a:r>
          </a:p>
          <a:p>
            <a:pPr algn="l">
              <a:lnSpc>
                <a:spcPts val="3639"/>
              </a:lnSpc>
            </a:pPr>
            <a:r>
              <a:rPr lang="en-US" sz="2599">
                <a:solidFill>
                  <a:srgbClr val="000000"/>
                </a:solidFill>
                <a:latin typeface="Heading Now 71-78"/>
                <a:ea typeface="Heading Now 71-78"/>
                <a:cs typeface="Heading Now 71-78"/>
                <a:sym typeface="Heading Now 71-78"/>
              </a:rPr>
              <a:t>          B) Để tăng tốc độ cho một hệ thống máy tính</a:t>
            </a:r>
          </a:p>
          <a:p>
            <a:pPr algn="l">
              <a:lnSpc>
                <a:spcPts val="3639"/>
              </a:lnSpc>
            </a:pPr>
            <a:r>
              <a:rPr lang="en-US" sz="2599">
                <a:solidFill>
                  <a:srgbClr val="000000"/>
                </a:solidFill>
                <a:latin typeface="Heading Now 71-78"/>
                <a:ea typeface="Heading Now 71-78"/>
                <a:cs typeface="Heading Now 71-78"/>
                <a:sym typeface="Heading Now 71-78"/>
              </a:rPr>
              <a:t>          C) Lựa chọn một trong số các tiến trình đang sẵn sàng trong bộ nhớ và cung cấp CPU cho nó</a:t>
            </a:r>
          </a:p>
          <a:p>
            <a:pPr algn="l">
              <a:lnSpc>
                <a:spcPts val="3639"/>
              </a:lnSpc>
            </a:pPr>
            <a:r>
              <a:rPr lang="en-US" sz="2599">
                <a:solidFill>
                  <a:srgbClr val="000000"/>
                </a:solidFill>
                <a:latin typeface="Heading Now 71-78"/>
                <a:ea typeface="Heading Now 71-78"/>
                <a:cs typeface="Heading Now 71-78"/>
                <a:sym typeface="Heading Now 71-78"/>
              </a:rPr>
              <a:t>          D) Không để làm gì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3856559" y="4217559"/>
            <a:ext cx="2551375" cy="2622909"/>
          </a:xfrm>
          <a:custGeom>
            <a:avLst/>
            <a:gdLst/>
            <a:ahLst/>
            <a:cxnLst/>
            <a:rect r="r" b="b" t="t" l="l"/>
            <a:pathLst>
              <a:path h="2622909" w="2551375">
                <a:moveTo>
                  <a:pt x="0" y="0"/>
                </a:moveTo>
                <a:lnTo>
                  <a:pt x="2551375" y="0"/>
                </a:lnTo>
                <a:lnTo>
                  <a:pt x="2551375" y="2622909"/>
                </a:lnTo>
                <a:lnTo>
                  <a:pt x="0" y="26229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11573" y="2558636"/>
            <a:ext cx="5446041" cy="6925159"/>
            <a:chOff x="0" y="0"/>
            <a:chExt cx="3662444" cy="4657146"/>
          </a:xfrm>
        </p:grpSpPr>
        <p:sp>
          <p:nvSpPr>
            <p:cNvPr name="Freeform 5" id="5"/>
            <p:cNvSpPr/>
            <p:nvPr/>
          </p:nvSpPr>
          <p:spPr>
            <a:xfrm flipH="false" flipV="false" rot="0">
              <a:off x="0" y="0"/>
              <a:ext cx="3662444" cy="4657146"/>
            </a:xfrm>
            <a:custGeom>
              <a:avLst/>
              <a:gdLst/>
              <a:ahLst/>
              <a:cxnLst/>
              <a:rect r="r" b="b" t="t" l="l"/>
              <a:pathLst>
                <a:path h="4657146" w="3662444">
                  <a:moveTo>
                    <a:pt x="0" y="0"/>
                  </a:moveTo>
                  <a:lnTo>
                    <a:pt x="3662444" y="0"/>
                  </a:lnTo>
                  <a:lnTo>
                    <a:pt x="3662444" y="4657146"/>
                  </a:lnTo>
                  <a:lnTo>
                    <a:pt x="0" y="4657146"/>
                  </a:lnTo>
                  <a:close/>
                </a:path>
              </a:pathLst>
            </a:custGeom>
            <a:solidFill>
              <a:srgbClr val="FFF234"/>
            </a:solidFill>
          </p:spPr>
        </p:sp>
        <p:sp>
          <p:nvSpPr>
            <p:cNvPr name="TextBox 6" id="6"/>
            <p:cNvSpPr txBox="true"/>
            <p:nvPr/>
          </p:nvSpPr>
          <p:spPr>
            <a:xfrm>
              <a:off x="0" y="-66675"/>
              <a:ext cx="3662444" cy="4723821"/>
            </a:xfrm>
            <a:prstGeom prst="rect">
              <a:avLst/>
            </a:prstGeom>
          </p:spPr>
          <p:txBody>
            <a:bodyPr anchor="t" rtlCol="false" tIns="27224" lIns="27224" bIns="27224" rIns="27224"/>
            <a:lstStyle/>
            <a:p>
              <a:pPr algn="l">
                <a:lnSpc>
                  <a:spcPts val="2025"/>
                </a:lnSpc>
              </a:pPr>
            </a:p>
          </p:txBody>
        </p:sp>
      </p:grpSp>
      <p:grpSp>
        <p:nvGrpSpPr>
          <p:cNvPr name="Group 7" id="7"/>
          <p:cNvGrpSpPr/>
          <p:nvPr/>
        </p:nvGrpSpPr>
        <p:grpSpPr>
          <a:xfrm rot="0">
            <a:off x="6714839" y="2558636"/>
            <a:ext cx="5523320" cy="4089914"/>
            <a:chOff x="0" y="0"/>
            <a:chExt cx="3714414" cy="2750453"/>
          </a:xfrm>
        </p:grpSpPr>
        <p:sp>
          <p:nvSpPr>
            <p:cNvPr name="Freeform 8" id="8"/>
            <p:cNvSpPr/>
            <p:nvPr/>
          </p:nvSpPr>
          <p:spPr>
            <a:xfrm flipH="false" flipV="false" rot="0">
              <a:off x="0" y="0"/>
              <a:ext cx="3714414" cy="2750453"/>
            </a:xfrm>
            <a:custGeom>
              <a:avLst/>
              <a:gdLst/>
              <a:ahLst/>
              <a:cxnLst/>
              <a:rect r="r" b="b" t="t" l="l"/>
              <a:pathLst>
                <a:path h="2750453" w="3714414">
                  <a:moveTo>
                    <a:pt x="0" y="0"/>
                  </a:moveTo>
                  <a:lnTo>
                    <a:pt x="3714414" y="0"/>
                  </a:lnTo>
                  <a:lnTo>
                    <a:pt x="3714414" y="2750453"/>
                  </a:lnTo>
                  <a:lnTo>
                    <a:pt x="0" y="2750453"/>
                  </a:lnTo>
                  <a:close/>
                </a:path>
              </a:pathLst>
            </a:custGeom>
            <a:solidFill>
              <a:srgbClr val="D6E8FF"/>
            </a:solidFill>
          </p:spPr>
        </p:sp>
        <p:sp>
          <p:nvSpPr>
            <p:cNvPr name="TextBox 9" id="9"/>
            <p:cNvSpPr txBox="true"/>
            <p:nvPr/>
          </p:nvSpPr>
          <p:spPr>
            <a:xfrm>
              <a:off x="0" y="-85725"/>
              <a:ext cx="3714414" cy="2836178"/>
            </a:xfrm>
            <a:prstGeom prst="rect">
              <a:avLst/>
            </a:prstGeom>
          </p:spPr>
          <p:txBody>
            <a:bodyPr anchor="t" rtlCol="false" tIns="27224" lIns="27224" bIns="27224" rIns="27224"/>
            <a:lstStyle/>
            <a:p>
              <a:pPr algn="l">
                <a:lnSpc>
                  <a:spcPts val="2865"/>
                </a:lnSpc>
              </a:pPr>
            </a:p>
            <a:p>
              <a:pPr algn="l">
                <a:lnSpc>
                  <a:spcPts val="3285"/>
                </a:lnSpc>
              </a:pPr>
              <a:r>
                <a:rPr lang="en-US" sz="2346">
                  <a:solidFill>
                    <a:srgbClr val="373737"/>
                  </a:solidFill>
                  <a:latin typeface="Heading Now 71-78"/>
                  <a:ea typeface="Heading Now 71-78"/>
                  <a:cs typeface="Heading Now 71-78"/>
                  <a:sym typeface="Heading Now 71-78"/>
                </a:rPr>
                <a:t>    Điều kiện loại trừ lẫn nhau</a:t>
              </a:r>
            </a:p>
          </p:txBody>
        </p:sp>
      </p:grpSp>
      <p:grpSp>
        <p:nvGrpSpPr>
          <p:cNvPr name="Group 10" id="10"/>
          <p:cNvGrpSpPr/>
          <p:nvPr/>
        </p:nvGrpSpPr>
        <p:grpSpPr>
          <a:xfrm rot="0">
            <a:off x="12544528" y="2558636"/>
            <a:ext cx="5537745" cy="4089914"/>
            <a:chOff x="0" y="0"/>
            <a:chExt cx="3724114" cy="2750453"/>
          </a:xfrm>
        </p:grpSpPr>
        <p:sp>
          <p:nvSpPr>
            <p:cNvPr name="Freeform 11" id="11"/>
            <p:cNvSpPr/>
            <p:nvPr/>
          </p:nvSpPr>
          <p:spPr>
            <a:xfrm flipH="false" flipV="false" rot="0">
              <a:off x="0" y="0"/>
              <a:ext cx="3724115" cy="2750453"/>
            </a:xfrm>
            <a:custGeom>
              <a:avLst/>
              <a:gdLst/>
              <a:ahLst/>
              <a:cxnLst/>
              <a:rect r="r" b="b" t="t" l="l"/>
              <a:pathLst>
                <a:path h="2750453" w="3724115">
                  <a:moveTo>
                    <a:pt x="0" y="0"/>
                  </a:moveTo>
                  <a:lnTo>
                    <a:pt x="3724115" y="0"/>
                  </a:lnTo>
                  <a:lnTo>
                    <a:pt x="3724115" y="2750453"/>
                  </a:lnTo>
                  <a:lnTo>
                    <a:pt x="0" y="2750453"/>
                  </a:lnTo>
                  <a:close/>
                </a:path>
              </a:pathLst>
            </a:custGeom>
            <a:solidFill>
              <a:srgbClr val="FFF5B6"/>
            </a:solidFill>
          </p:spPr>
        </p:sp>
        <p:sp>
          <p:nvSpPr>
            <p:cNvPr name="TextBox 12" id="12"/>
            <p:cNvSpPr txBox="true"/>
            <p:nvPr/>
          </p:nvSpPr>
          <p:spPr>
            <a:xfrm>
              <a:off x="0" y="-66675"/>
              <a:ext cx="3724114" cy="2817128"/>
            </a:xfrm>
            <a:prstGeom prst="rect">
              <a:avLst/>
            </a:prstGeom>
          </p:spPr>
          <p:txBody>
            <a:bodyPr anchor="t" rtlCol="false" tIns="27224" lIns="27224" bIns="27224" rIns="27224"/>
            <a:lstStyle/>
            <a:p>
              <a:pPr algn="l">
                <a:lnSpc>
                  <a:spcPts val="2025"/>
                </a:lnSpc>
              </a:pPr>
            </a:p>
            <a:p>
              <a:pPr algn="l">
                <a:lnSpc>
                  <a:spcPts val="3425"/>
                </a:lnSpc>
              </a:pPr>
              <a:r>
                <a:rPr lang="en-US" sz="2446">
                  <a:solidFill>
                    <a:srgbClr val="373737"/>
                  </a:solidFill>
                  <a:latin typeface="Heading Now 71-78"/>
                  <a:ea typeface="Heading Now 71-78"/>
                  <a:cs typeface="Heading Now 71-78"/>
                  <a:sym typeface="Heading Now 71-78"/>
                </a:rPr>
                <a:t>         </a:t>
              </a:r>
              <a:r>
                <a:rPr lang="en-US" sz="2446">
                  <a:solidFill>
                    <a:srgbClr val="373737"/>
                  </a:solidFill>
                  <a:latin typeface="Heading Now 71-78"/>
                  <a:ea typeface="Heading Now 71-78"/>
                  <a:cs typeface="Heading Now 71-78"/>
                  <a:sym typeface="Heading Now 71-78"/>
                </a:rPr>
                <a:t>Điều kiện tiến triển</a:t>
              </a:r>
            </a:p>
          </p:txBody>
        </p:sp>
      </p:grpSp>
      <p:grpSp>
        <p:nvGrpSpPr>
          <p:cNvPr name="Group 13" id="13"/>
          <p:cNvGrpSpPr/>
          <p:nvPr/>
        </p:nvGrpSpPr>
        <p:grpSpPr>
          <a:xfrm rot="0">
            <a:off x="254418" y="427616"/>
            <a:ext cx="18288000" cy="1793331"/>
            <a:chOff x="0" y="0"/>
            <a:chExt cx="8668170" cy="850005"/>
          </a:xfrm>
        </p:grpSpPr>
        <p:sp>
          <p:nvSpPr>
            <p:cNvPr name="Freeform 14" id="14"/>
            <p:cNvSpPr/>
            <p:nvPr/>
          </p:nvSpPr>
          <p:spPr>
            <a:xfrm flipH="false" flipV="false" rot="0">
              <a:off x="0" y="0"/>
              <a:ext cx="8668170" cy="850005"/>
            </a:xfrm>
            <a:custGeom>
              <a:avLst/>
              <a:gdLst/>
              <a:ahLst/>
              <a:cxnLst/>
              <a:rect r="r" b="b" t="t" l="l"/>
              <a:pathLst>
                <a:path h="850005" w="8668170">
                  <a:moveTo>
                    <a:pt x="0" y="0"/>
                  </a:moveTo>
                  <a:lnTo>
                    <a:pt x="8668170" y="0"/>
                  </a:lnTo>
                  <a:lnTo>
                    <a:pt x="8668170" y="850005"/>
                  </a:lnTo>
                  <a:lnTo>
                    <a:pt x="0" y="850005"/>
                  </a:lnTo>
                  <a:close/>
                </a:path>
              </a:pathLst>
            </a:custGeom>
            <a:solidFill>
              <a:srgbClr val="373737"/>
            </a:solidFill>
          </p:spPr>
        </p:sp>
        <p:sp>
          <p:nvSpPr>
            <p:cNvPr name="TextBox 15" id="15"/>
            <p:cNvSpPr txBox="true"/>
            <p:nvPr/>
          </p:nvSpPr>
          <p:spPr>
            <a:xfrm>
              <a:off x="0" y="-142875"/>
              <a:ext cx="8668170" cy="992880"/>
            </a:xfrm>
            <a:prstGeom prst="rect">
              <a:avLst/>
            </a:prstGeom>
          </p:spPr>
          <p:txBody>
            <a:bodyPr anchor="ctr" rtlCol="false" tIns="27224" lIns="27224" bIns="27224" rIns="27224"/>
            <a:lstStyle/>
            <a:p>
              <a:pPr algn="l" marL="0" indent="0" lvl="0">
                <a:lnSpc>
                  <a:spcPts val="10203"/>
                </a:lnSpc>
                <a:spcBef>
                  <a:spcPct val="0"/>
                </a:spcBef>
              </a:pPr>
              <a:r>
                <a:rPr lang="en-US" b="true" sz="7288">
                  <a:solidFill>
                    <a:srgbClr val="FFFFFF"/>
                  </a:solidFill>
                  <a:latin typeface="DM Sans Bold"/>
                  <a:ea typeface="DM Sans Bold"/>
                  <a:cs typeface="DM Sans Bold"/>
                  <a:sym typeface="DM Sans Bold"/>
                </a:rPr>
                <a:t>3.Tài nguyên găng và điều độ tiến trình </a:t>
              </a:r>
            </a:p>
          </p:txBody>
        </p:sp>
      </p:grpSp>
      <p:sp>
        <p:nvSpPr>
          <p:cNvPr name="TextBox 16" id="16"/>
          <p:cNvSpPr txBox="true"/>
          <p:nvPr/>
        </p:nvSpPr>
        <p:spPr>
          <a:xfrm rot="0">
            <a:off x="7196744" y="3847064"/>
            <a:ext cx="4692966" cy="2041019"/>
          </a:xfrm>
          <a:prstGeom prst="rect">
            <a:avLst/>
          </a:prstGeom>
        </p:spPr>
        <p:txBody>
          <a:bodyPr anchor="t" rtlCol="false" tIns="0" lIns="0" bIns="0" rIns="0">
            <a:spAutoFit/>
          </a:bodyPr>
          <a:lstStyle/>
          <a:p>
            <a:pPr algn="l">
              <a:lnSpc>
                <a:spcPts val="4052"/>
              </a:lnSpc>
              <a:spcBef>
                <a:spcPct val="0"/>
              </a:spcBef>
            </a:pPr>
            <a:r>
              <a:rPr lang="en-US" sz="2894">
                <a:solidFill>
                  <a:srgbClr val="373737"/>
                </a:solidFill>
                <a:latin typeface="Inter"/>
                <a:ea typeface="Inter"/>
                <a:cs typeface="Inter"/>
                <a:sym typeface="Inter"/>
              </a:rPr>
              <a:t>Tại mỗi thời điểm, chỉ có một tiến trình được phép thực hiện trong đoạn tới hạn của mình</a:t>
            </a:r>
            <a:r>
              <a:rPr lang="en-US" sz="2894">
                <a:solidFill>
                  <a:srgbClr val="373737"/>
                </a:solidFill>
                <a:latin typeface="Inter"/>
                <a:ea typeface="Inter"/>
                <a:cs typeface="Inter"/>
                <a:sym typeface="Inter"/>
              </a:rPr>
              <a:t> </a:t>
            </a:r>
          </a:p>
        </p:txBody>
      </p:sp>
      <p:sp>
        <p:nvSpPr>
          <p:cNvPr name="TextBox 17" id="17"/>
          <p:cNvSpPr txBox="true"/>
          <p:nvPr/>
        </p:nvSpPr>
        <p:spPr>
          <a:xfrm rot="0">
            <a:off x="13530606" y="3348734"/>
            <a:ext cx="3912075" cy="2013260"/>
          </a:xfrm>
          <a:prstGeom prst="rect">
            <a:avLst/>
          </a:prstGeom>
        </p:spPr>
        <p:txBody>
          <a:bodyPr anchor="t" rtlCol="false" tIns="0" lIns="0" bIns="0" rIns="0">
            <a:spAutoFit/>
          </a:bodyPr>
          <a:lstStyle/>
          <a:p>
            <a:pPr algn="l">
              <a:lnSpc>
                <a:spcPts val="4007"/>
              </a:lnSpc>
              <a:spcBef>
                <a:spcPct val="0"/>
              </a:spcBef>
            </a:pPr>
            <a:r>
              <a:rPr lang="en-US" sz="2862">
                <a:solidFill>
                  <a:srgbClr val="373737"/>
                </a:solidFill>
                <a:latin typeface="Inter"/>
                <a:ea typeface="Inter"/>
                <a:cs typeface="Inter"/>
                <a:sym typeface="Inter"/>
              </a:rPr>
              <a:t>Không tiến trình nào được phép ở lâu vô hạn trong đoạn tới hạn của mình.</a:t>
            </a:r>
            <a:r>
              <a:rPr lang="en-US" sz="2862">
                <a:solidFill>
                  <a:srgbClr val="373737"/>
                </a:solidFill>
                <a:latin typeface="Inter"/>
                <a:ea typeface="Inter"/>
                <a:cs typeface="Inter"/>
                <a:sym typeface="Inter"/>
              </a:rPr>
              <a:t> </a:t>
            </a:r>
          </a:p>
        </p:txBody>
      </p:sp>
      <p:sp>
        <p:nvSpPr>
          <p:cNvPr name="TextBox 18" id="18"/>
          <p:cNvSpPr txBox="true"/>
          <p:nvPr/>
        </p:nvSpPr>
        <p:spPr>
          <a:xfrm rot="0">
            <a:off x="873298" y="3714043"/>
            <a:ext cx="2346995" cy="5032842"/>
          </a:xfrm>
          <a:prstGeom prst="rect">
            <a:avLst/>
          </a:prstGeom>
        </p:spPr>
        <p:txBody>
          <a:bodyPr anchor="t" rtlCol="false" tIns="0" lIns="0" bIns="0" rIns="0">
            <a:spAutoFit/>
          </a:bodyPr>
          <a:lstStyle/>
          <a:p>
            <a:pPr algn="l" marL="0" indent="0" lvl="0">
              <a:lnSpc>
                <a:spcPts val="3999"/>
              </a:lnSpc>
              <a:spcBef>
                <a:spcPct val="0"/>
              </a:spcBef>
            </a:pPr>
            <a:r>
              <a:rPr lang="en-US" sz="2856">
                <a:solidFill>
                  <a:srgbClr val="373737"/>
                </a:solidFill>
                <a:latin typeface="Inter"/>
                <a:ea typeface="Inter"/>
                <a:cs typeface="Inter"/>
                <a:sym typeface="Inter"/>
              </a:rPr>
              <a:t>- Các tài nguyên logic và vật lý được phân bổ cho các tiến trình song hành được gọi là tài nguyên găng.</a:t>
            </a:r>
            <a:r>
              <a:rPr lang="en-US" sz="2856">
                <a:solidFill>
                  <a:srgbClr val="373737"/>
                </a:solidFill>
                <a:latin typeface="Inter"/>
                <a:ea typeface="Inter"/>
                <a:cs typeface="Inter"/>
                <a:sym typeface="Inter"/>
              </a:rPr>
              <a:t> </a:t>
            </a:r>
          </a:p>
        </p:txBody>
      </p:sp>
      <p:sp>
        <p:nvSpPr>
          <p:cNvPr name="TextBox 19" id="19"/>
          <p:cNvSpPr txBox="true"/>
          <p:nvPr/>
        </p:nvSpPr>
        <p:spPr>
          <a:xfrm rot="0">
            <a:off x="2150916" y="2867225"/>
            <a:ext cx="2716349" cy="499094"/>
          </a:xfrm>
          <a:prstGeom prst="rect">
            <a:avLst/>
          </a:prstGeom>
        </p:spPr>
        <p:txBody>
          <a:bodyPr anchor="t" rtlCol="false" tIns="0" lIns="0" bIns="0" rIns="0">
            <a:spAutoFit/>
          </a:bodyPr>
          <a:lstStyle/>
          <a:p>
            <a:pPr algn="l" marL="0" indent="0" lvl="0">
              <a:lnSpc>
                <a:spcPts val="3780"/>
              </a:lnSpc>
              <a:spcBef>
                <a:spcPct val="0"/>
              </a:spcBef>
            </a:pPr>
            <a:r>
              <a:rPr lang="en-US" sz="2362">
                <a:solidFill>
                  <a:srgbClr val="373737"/>
                </a:solidFill>
                <a:latin typeface="Heading Now 71-78"/>
                <a:ea typeface="Heading Now 71-78"/>
                <a:cs typeface="Heading Now 71-78"/>
                <a:sym typeface="Heading Now 71-78"/>
              </a:rPr>
              <a:t>CÁC KHÁI NIỆM</a:t>
            </a:r>
          </a:p>
        </p:txBody>
      </p:sp>
      <p:sp>
        <p:nvSpPr>
          <p:cNvPr name="TextBox 20" id="20"/>
          <p:cNvSpPr txBox="true"/>
          <p:nvPr/>
        </p:nvSpPr>
        <p:spPr>
          <a:xfrm rot="0">
            <a:off x="3877518" y="3723803"/>
            <a:ext cx="1979495" cy="3801341"/>
          </a:xfrm>
          <a:prstGeom prst="rect">
            <a:avLst/>
          </a:prstGeom>
        </p:spPr>
        <p:txBody>
          <a:bodyPr anchor="t" rtlCol="false" tIns="0" lIns="0" bIns="0" rIns="0">
            <a:spAutoFit/>
          </a:bodyPr>
          <a:lstStyle/>
          <a:p>
            <a:pPr algn="ctr">
              <a:lnSpc>
                <a:spcPts val="3811"/>
              </a:lnSpc>
              <a:spcBef>
                <a:spcPct val="0"/>
              </a:spcBef>
            </a:pPr>
            <a:r>
              <a:rPr lang="en-US" sz="2931">
                <a:solidFill>
                  <a:srgbClr val="373737"/>
                </a:solidFill>
                <a:latin typeface="Inter"/>
                <a:ea typeface="Inter"/>
                <a:cs typeface="Inter"/>
                <a:sym typeface="Inter"/>
              </a:rPr>
              <a:t>- Các đoạn chương trình sử dụng tài nguyên găng được gọi là đoạn tới hạn. </a:t>
            </a:r>
          </a:p>
        </p:txBody>
      </p:sp>
      <p:grpSp>
        <p:nvGrpSpPr>
          <p:cNvPr name="Group 21" id="21"/>
          <p:cNvGrpSpPr/>
          <p:nvPr/>
        </p:nvGrpSpPr>
        <p:grpSpPr>
          <a:xfrm rot="0">
            <a:off x="9608927" y="6121794"/>
            <a:ext cx="5523320" cy="4089914"/>
            <a:chOff x="0" y="0"/>
            <a:chExt cx="3714414" cy="2750453"/>
          </a:xfrm>
        </p:grpSpPr>
        <p:sp>
          <p:nvSpPr>
            <p:cNvPr name="Freeform 22" id="22"/>
            <p:cNvSpPr/>
            <p:nvPr/>
          </p:nvSpPr>
          <p:spPr>
            <a:xfrm flipH="false" flipV="false" rot="0">
              <a:off x="0" y="0"/>
              <a:ext cx="3714414" cy="2750453"/>
            </a:xfrm>
            <a:custGeom>
              <a:avLst/>
              <a:gdLst/>
              <a:ahLst/>
              <a:cxnLst/>
              <a:rect r="r" b="b" t="t" l="l"/>
              <a:pathLst>
                <a:path h="2750453" w="3714414">
                  <a:moveTo>
                    <a:pt x="0" y="0"/>
                  </a:moveTo>
                  <a:lnTo>
                    <a:pt x="3714414" y="0"/>
                  </a:lnTo>
                  <a:lnTo>
                    <a:pt x="3714414" y="2750453"/>
                  </a:lnTo>
                  <a:lnTo>
                    <a:pt x="0" y="2750453"/>
                  </a:lnTo>
                  <a:close/>
                </a:path>
              </a:pathLst>
            </a:custGeom>
            <a:solidFill>
              <a:srgbClr val="CCCCCC"/>
            </a:solidFill>
          </p:spPr>
        </p:sp>
        <p:sp>
          <p:nvSpPr>
            <p:cNvPr name="TextBox 23" id="23"/>
            <p:cNvSpPr txBox="true"/>
            <p:nvPr/>
          </p:nvSpPr>
          <p:spPr>
            <a:xfrm>
              <a:off x="0" y="-85725"/>
              <a:ext cx="3714414" cy="2836178"/>
            </a:xfrm>
            <a:prstGeom prst="rect">
              <a:avLst/>
            </a:prstGeom>
          </p:spPr>
          <p:txBody>
            <a:bodyPr anchor="t" rtlCol="false" tIns="27224" lIns="27224" bIns="27224" rIns="27224"/>
            <a:lstStyle/>
            <a:p>
              <a:pPr algn="l">
                <a:lnSpc>
                  <a:spcPts val="2865"/>
                </a:lnSpc>
              </a:pPr>
            </a:p>
            <a:p>
              <a:pPr algn="l">
                <a:lnSpc>
                  <a:spcPts val="3285"/>
                </a:lnSpc>
              </a:pPr>
              <a:r>
                <a:rPr lang="en-US" sz="2346">
                  <a:solidFill>
                    <a:srgbClr val="373737"/>
                  </a:solidFill>
                  <a:latin typeface="Heading Now 71-78"/>
                  <a:ea typeface="Heading Now 71-78"/>
                  <a:cs typeface="Heading Now 71-78"/>
                  <a:sym typeface="Heading Now 71-78"/>
                </a:rPr>
                <a:t>     Điều kiện chờ đợi có giới hạn:</a:t>
              </a:r>
            </a:p>
          </p:txBody>
        </p:sp>
      </p:grpSp>
      <p:sp>
        <p:nvSpPr>
          <p:cNvPr name="TextBox 24" id="24"/>
          <p:cNvSpPr txBox="true"/>
          <p:nvPr/>
        </p:nvSpPr>
        <p:spPr>
          <a:xfrm rot="0">
            <a:off x="10198043" y="7374841"/>
            <a:ext cx="4692966" cy="1526669"/>
          </a:xfrm>
          <a:prstGeom prst="rect">
            <a:avLst/>
          </a:prstGeom>
        </p:spPr>
        <p:txBody>
          <a:bodyPr anchor="t" rtlCol="false" tIns="0" lIns="0" bIns="0" rIns="0">
            <a:spAutoFit/>
          </a:bodyPr>
          <a:lstStyle/>
          <a:p>
            <a:pPr algn="l">
              <a:lnSpc>
                <a:spcPts val="4052"/>
              </a:lnSpc>
              <a:spcBef>
                <a:spcPct val="0"/>
              </a:spcBef>
            </a:pPr>
            <a:r>
              <a:rPr lang="en-US" sz="2894">
                <a:solidFill>
                  <a:srgbClr val="373737"/>
                </a:solidFill>
                <a:latin typeface="Inter"/>
                <a:ea typeface="Inter"/>
                <a:cs typeface="Inter"/>
                <a:sym typeface="Inter"/>
              </a:rPr>
              <a:t>Các tiến trình không phải chờ đợi vô hạn trước khi đi vào đoạn tới hạn của mình</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aphicFrame>
        <p:nvGraphicFramePr>
          <p:cNvPr name="Table 3" id="3"/>
          <p:cNvGraphicFramePr>
            <a:graphicFrameLocks noGrp="true"/>
          </p:cNvGraphicFramePr>
          <p:nvPr/>
        </p:nvGraphicFramePr>
        <p:xfrm>
          <a:off x="1029642" y="0"/>
          <a:ext cx="16229658" cy="10287000"/>
        </p:xfrm>
        <a:graphic>
          <a:graphicData uri="http://schemas.openxmlformats.org/drawingml/2006/table">
            <a:tbl>
              <a:tblPr/>
              <a:tblGrid>
                <a:gridCol w="8230963"/>
                <a:gridCol w="7998695"/>
              </a:tblGrid>
              <a:tr h="5143500">
                <a:tc rowSpan="2" gridSpan="2">
                  <a:txBody>
                    <a:bodyPr anchor="t" rtlCol="false"/>
                    <a:lstStyle/>
                    <a:p>
                      <a:pPr algn="ctr">
                        <a:lnSpc>
                          <a:spcPts val="3045"/>
                        </a:lnSpc>
                        <a:defRPr/>
                      </a:pPr>
                      <a:endParaRPr lang="en-US" sz="1100"/>
                    </a:p>
                    <a:p>
                      <a:pPr algn="ctr">
                        <a:lnSpc>
                          <a:spcPts val="3045"/>
                        </a:lnSpc>
                      </a:pPr>
                    </a:p>
                    <a:p>
                      <a:pPr algn="ctr">
                        <a:lnSpc>
                          <a:spcPts val="3045"/>
                        </a:lnSpc>
                      </a:pPr>
                    </a:p>
                    <a:p>
                      <a:pPr algn="ctr">
                        <a:lnSpc>
                          <a:spcPts val="3045"/>
                        </a:lnSpc>
                      </a:pPr>
                    </a:p>
                    <a:p>
                      <a:pPr algn="ctr">
                        <a:lnSpc>
                          <a:spcPts val="3325"/>
                        </a:lnSpc>
                      </a:pPr>
                      <a:r>
                        <a:rPr lang="en-US" sz="2375">
                          <a:solidFill>
                            <a:srgbClr val="000000"/>
                          </a:solidFill>
                          <a:latin typeface="DM Sans"/>
                          <a:ea typeface="DM Sans"/>
                          <a:cs typeface="DM Sans"/>
                          <a:sym typeface="DM Sans"/>
                        </a:rPr>
                        <a:t>Dựa trên cơ sở nếu hai hay nhiều tiến trình cùng định ghi vào một địa chỉ nào đó của bộ nhớ trong, thì giải thuật chỉ cho phép một tiến trình được thực hiện còn các tiến trình khác phải chờ.</a:t>
                      </a:r>
                    </a:p>
                    <a:p>
                      <a:pPr algn="ctr">
                        <a:lnSpc>
                          <a:spcPts val="3325"/>
                        </a:lnSpc>
                      </a:pPr>
                    </a:p>
                  </a:txBody>
                  <a:tcPr marL="124556" marR="124556" marT="124556" marB="124556"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CCD2"/>
                    </a:solidFill>
                  </a:tcPr>
                </a:tc>
                <a:tc rowSpan="2" hMerge="true">
                  <a:txBody>
                    <a:bodyPr anchor="t" rtlCol="false"/>
                    <a:lstStyle/>
                    <a:p>
                      <a:pPr algn="ctr">
                        <a:lnSpc>
                          <a:spcPts val="3045"/>
                        </a:lnSpc>
                        <a:defRPr/>
                      </a:pPr>
                      <a:endParaRPr lang="en-US" sz="1100"/>
                    </a:p>
                    <a:p>
                      <a:pPr algn="ctr">
                        <a:lnSpc>
                          <a:spcPts val="3045"/>
                        </a:lnSpc>
                      </a:pPr>
                    </a:p>
                    <a:p>
                      <a:pPr algn="ctr">
                        <a:lnSpc>
                          <a:spcPts val="3045"/>
                        </a:lnSpc>
                      </a:pPr>
                    </a:p>
                    <a:p>
                      <a:pPr algn="ctr">
                        <a:lnSpc>
                          <a:spcPts val="3045"/>
                        </a:lnSpc>
                      </a:pPr>
                    </a:p>
                    <a:p>
                      <a:pPr algn="ctr">
                        <a:lnSpc>
                          <a:spcPts val="3325"/>
                        </a:lnSpc>
                      </a:pPr>
                      <a:r>
                        <a:rPr lang="en-US" sz="2375">
                          <a:solidFill>
                            <a:srgbClr val="000000"/>
                          </a:solidFill>
                          <a:latin typeface="DM Sans"/>
                          <a:ea typeface="DM Sans"/>
                          <a:cs typeface="DM Sans"/>
                          <a:sym typeface="DM Sans"/>
                        </a:rPr>
                        <a:t>Dựa trên cơ sở nếu hai hay nhiều tiến trình cùng định ghi vào một địa chỉ nào đó của bộ nhớ trong, thì giải thuật chỉ cho phép một tiến trình được thực hiện còn các tiến trình khác phải chờ.</a:t>
                      </a:r>
                    </a:p>
                    <a:p>
                      <a:pPr algn="ctr">
                        <a:lnSpc>
                          <a:spcPts val="3325"/>
                        </a:lnSpc>
                      </a:pPr>
                    </a:p>
                  </a:txBody>
                  <a:tcPr marL="124556" marR="124556" marT="124556" marB="124556"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CCD2"/>
                    </a:solidFill>
                  </a:tcPr>
                </a:tc>
              </a:tr>
              <a:tr h="5143500">
                <a:tc vMerge="true" gridSpan="2">
                  <a:txBody>
                    <a:bodyPr anchor="t" rtlCol="false"/>
                    <a:lstStyle/>
                    <a:p>
                      <a:pPr algn="ctr">
                        <a:lnSpc>
                          <a:spcPts val="3045"/>
                        </a:lnSpc>
                        <a:defRPr/>
                      </a:pPr>
                      <a:endParaRPr lang="en-US" sz="1100"/>
                    </a:p>
                    <a:p>
                      <a:pPr algn="ctr">
                        <a:lnSpc>
                          <a:spcPts val="3045"/>
                        </a:lnSpc>
                      </a:pPr>
                    </a:p>
                    <a:p>
                      <a:pPr algn="ctr">
                        <a:lnSpc>
                          <a:spcPts val="3045"/>
                        </a:lnSpc>
                      </a:pPr>
                    </a:p>
                    <a:p>
                      <a:pPr algn="ctr">
                        <a:lnSpc>
                          <a:spcPts val="3045"/>
                        </a:lnSpc>
                      </a:pPr>
                    </a:p>
                    <a:p>
                      <a:pPr algn="ctr">
                        <a:lnSpc>
                          <a:spcPts val="3325"/>
                        </a:lnSpc>
                      </a:pPr>
                      <a:r>
                        <a:rPr lang="en-US" sz="2375">
                          <a:solidFill>
                            <a:srgbClr val="000000"/>
                          </a:solidFill>
                          <a:latin typeface="DM Sans"/>
                          <a:ea typeface="DM Sans"/>
                          <a:cs typeface="DM Sans"/>
                          <a:sym typeface="DM Sans"/>
                        </a:rPr>
                        <a:t>Dựa trên cơ sở nếu hai hay nhiều tiến trình cùng định ghi vào một địa chỉ nào đó của bộ nhớ trong, thì giải thuật chỉ cho phép một tiến trình được thực hiện còn các tiến trình khác phải chờ.</a:t>
                      </a:r>
                    </a:p>
                    <a:p>
                      <a:pPr algn="ctr">
                        <a:lnSpc>
                          <a:spcPts val="3325"/>
                        </a:lnSpc>
                      </a:pPr>
                    </a:p>
                  </a:txBody>
                  <a:tcPr marL="124556" marR="124556" marT="124556" marB="124556"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CCD2"/>
                    </a:solidFill>
                  </a:tcPr>
                </a:tc>
                <a:tc vMerge="true" hMerge="true">
                  <a:txBody>
                    <a:bodyPr anchor="t" rtlCol="false"/>
                    <a:lstStyle/>
                    <a:p>
                      <a:pPr algn="ctr">
                        <a:lnSpc>
                          <a:spcPts val="3045"/>
                        </a:lnSpc>
                        <a:defRPr/>
                      </a:pPr>
                      <a:endParaRPr lang="en-US" sz="1100"/>
                    </a:p>
                    <a:p>
                      <a:pPr algn="ctr">
                        <a:lnSpc>
                          <a:spcPts val="3045"/>
                        </a:lnSpc>
                      </a:pPr>
                    </a:p>
                    <a:p>
                      <a:pPr algn="ctr">
                        <a:lnSpc>
                          <a:spcPts val="3045"/>
                        </a:lnSpc>
                      </a:pPr>
                    </a:p>
                    <a:p>
                      <a:pPr algn="ctr">
                        <a:lnSpc>
                          <a:spcPts val="3045"/>
                        </a:lnSpc>
                      </a:pPr>
                    </a:p>
                    <a:p>
                      <a:pPr algn="ctr">
                        <a:lnSpc>
                          <a:spcPts val="3325"/>
                        </a:lnSpc>
                      </a:pPr>
                      <a:r>
                        <a:rPr lang="en-US" sz="2375">
                          <a:solidFill>
                            <a:srgbClr val="000000"/>
                          </a:solidFill>
                          <a:latin typeface="DM Sans"/>
                          <a:ea typeface="DM Sans"/>
                          <a:cs typeface="DM Sans"/>
                          <a:sym typeface="DM Sans"/>
                        </a:rPr>
                        <a:t>Dựa trên cơ sở nếu hai hay nhiều tiến trình cùng định ghi vào một địa chỉ nào đó của bộ nhớ trong, thì giải thuật chỉ cho phép một tiến trình được thực hiện còn các tiến trình khác phải chờ.</a:t>
                      </a:r>
                    </a:p>
                    <a:p>
                      <a:pPr algn="ctr">
                        <a:lnSpc>
                          <a:spcPts val="3325"/>
                        </a:lnSpc>
                      </a:pPr>
                    </a:p>
                  </a:txBody>
                  <a:tcPr marL="124556" marR="124556" marT="124556" marB="124556" anchor="t">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FFCCD2"/>
                    </a:solidFill>
                  </a:tcPr>
                </a:tc>
              </a:tr>
            </a:tbl>
          </a:graphicData>
        </a:graphic>
      </p:graphicFrame>
      <p:grpSp>
        <p:nvGrpSpPr>
          <p:cNvPr name="Group 4" id="4"/>
          <p:cNvGrpSpPr/>
          <p:nvPr/>
        </p:nvGrpSpPr>
        <p:grpSpPr>
          <a:xfrm rot="0">
            <a:off x="8997098" y="3943677"/>
            <a:ext cx="3340136" cy="3478261"/>
            <a:chOff x="0" y="0"/>
            <a:chExt cx="4453515" cy="4637682"/>
          </a:xfrm>
        </p:grpSpPr>
        <p:sp>
          <p:nvSpPr>
            <p:cNvPr name="Freeform 5" id="5"/>
            <p:cNvSpPr/>
            <p:nvPr/>
          </p:nvSpPr>
          <p:spPr>
            <a:xfrm flipH="false" flipV="false" rot="0">
              <a:off x="0" y="0"/>
              <a:ext cx="4453515" cy="4536082"/>
            </a:xfrm>
            <a:custGeom>
              <a:avLst/>
              <a:gdLst/>
              <a:ahLst/>
              <a:cxnLst/>
              <a:rect r="r" b="b" t="t" l="l"/>
              <a:pathLst>
                <a:path h="4536082" w="4453515">
                  <a:moveTo>
                    <a:pt x="0" y="0"/>
                  </a:moveTo>
                  <a:lnTo>
                    <a:pt x="4453515" y="0"/>
                  </a:lnTo>
                  <a:lnTo>
                    <a:pt x="4453515" y="4536082"/>
                  </a:lnTo>
                  <a:lnTo>
                    <a:pt x="0" y="4536082"/>
                  </a:lnTo>
                  <a:close/>
                </a:path>
              </a:pathLst>
            </a:custGeom>
            <a:solidFill>
              <a:srgbClr val="F9F4AE"/>
            </a:solidFill>
          </p:spPr>
        </p:sp>
        <p:sp>
          <p:nvSpPr>
            <p:cNvPr name="Freeform 6" id="6"/>
            <p:cNvSpPr/>
            <p:nvPr/>
          </p:nvSpPr>
          <p:spPr>
            <a:xfrm flipH="false" flipV="false" rot="0">
              <a:off x="0" y="0"/>
              <a:ext cx="4453515" cy="4637682"/>
            </a:xfrm>
            <a:custGeom>
              <a:avLst/>
              <a:gdLst/>
              <a:ahLst/>
              <a:cxnLst/>
              <a:rect r="r" b="b" t="t" l="l"/>
              <a:pathLst>
                <a:path h="4637682" w="4453515">
                  <a:moveTo>
                    <a:pt x="0" y="4536082"/>
                  </a:moveTo>
                  <a:lnTo>
                    <a:pt x="4453515" y="4536082"/>
                  </a:lnTo>
                  <a:lnTo>
                    <a:pt x="4326515" y="4637682"/>
                  </a:lnTo>
                  <a:cubicBezTo>
                    <a:pt x="4326515" y="4637682"/>
                    <a:pt x="3335915" y="4561482"/>
                    <a:pt x="3234315" y="4561482"/>
                  </a:cubicBezTo>
                  <a:lnTo>
                    <a:pt x="1219200" y="4561482"/>
                  </a:lnTo>
                  <a:cubicBezTo>
                    <a:pt x="1117600" y="4561482"/>
                    <a:pt x="127000" y="4637682"/>
                    <a:pt x="127000" y="4637682"/>
                  </a:cubicBezTo>
                  <a:lnTo>
                    <a:pt x="0" y="4536082"/>
                  </a:lnTo>
                  <a:lnTo>
                    <a:pt x="0" y="0"/>
                  </a:lnTo>
                  <a:lnTo>
                    <a:pt x="4453515" y="0"/>
                  </a:lnTo>
                  <a:lnTo>
                    <a:pt x="4453515" y="4536082"/>
                  </a:lnTo>
                  <a:lnTo>
                    <a:pt x="12700" y="4536082"/>
                  </a:lnTo>
                  <a:lnTo>
                    <a:pt x="12700" y="4523382"/>
                  </a:lnTo>
                  <a:lnTo>
                    <a:pt x="4440815" y="4523382"/>
                  </a:lnTo>
                  <a:lnTo>
                    <a:pt x="4440815" y="12700"/>
                  </a:lnTo>
                  <a:lnTo>
                    <a:pt x="12700" y="12700"/>
                  </a:lnTo>
                  <a:lnTo>
                    <a:pt x="12700" y="4536082"/>
                  </a:lnTo>
                </a:path>
              </a:pathLst>
            </a:custGeom>
            <a:solidFill>
              <a:srgbClr val="394C60">
                <a:alpha val="9804"/>
              </a:srgbClr>
            </a:solidFill>
          </p:spPr>
        </p:sp>
        <p:sp>
          <p:nvSpPr>
            <p:cNvPr name="TextBox 7" id="7"/>
            <p:cNvSpPr txBox="true"/>
            <p:nvPr/>
          </p:nvSpPr>
          <p:spPr>
            <a:xfrm>
              <a:off x="0" y="-66675"/>
              <a:ext cx="4453515" cy="4602757"/>
            </a:xfrm>
            <a:prstGeom prst="rect">
              <a:avLst/>
            </a:prstGeom>
          </p:spPr>
          <p:txBody>
            <a:bodyPr anchor="t" rtlCol="false" tIns="203200" lIns="203200" bIns="203200" rIns="203200"/>
            <a:lstStyle/>
            <a:p>
              <a:pPr algn="l">
                <a:lnSpc>
                  <a:spcPts val="3219"/>
                </a:lnSpc>
              </a:pPr>
              <a:r>
                <a:rPr lang="en-US" sz="2299">
                  <a:solidFill>
                    <a:srgbClr val="000000"/>
                  </a:solidFill>
                  <a:latin typeface="Arimo"/>
                  <a:ea typeface="Arimo"/>
                  <a:cs typeface="Arimo"/>
                  <a:sym typeface="Arimo"/>
                </a:rPr>
                <a:t>Khi tiến trình vào đoạn tới hạn, byte khóa của nó được gán giá trị bằng 1 để thông báo cho các tiến trình còn lại biết tài nguyên găng đã được sử dụng.</a:t>
              </a:r>
            </a:p>
            <a:p>
              <a:pPr algn="l">
                <a:lnSpc>
                  <a:spcPts val="1960"/>
                </a:lnSpc>
              </a:pPr>
            </a:p>
          </p:txBody>
        </p:sp>
      </p:grpSp>
      <p:grpSp>
        <p:nvGrpSpPr>
          <p:cNvPr name="Group 8" id="8"/>
          <p:cNvGrpSpPr/>
          <p:nvPr/>
        </p:nvGrpSpPr>
        <p:grpSpPr>
          <a:xfrm rot="0">
            <a:off x="1892963" y="3697342"/>
            <a:ext cx="2229269" cy="2229269"/>
            <a:chOff x="0" y="0"/>
            <a:chExt cx="2972359" cy="2972359"/>
          </a:xfrm>
        </p:grpSpPr>
        <p:sp>
          <p:nvSpPr>
            <p:cNvPr name="Freeform 9" id="9"/>
            <p:cNvSpPr/>
            <p:nvPr/>
          </p:nvSpPr>
          <p:spPr>
            <a:xfrm flipH="false" flipV="false" rot="0">
              <a:off x="0" y="0"/>
              <a:ext cx="2972359" cy="2870759"/>
            </a:xfrm>
            <a:custGeom>
              <a:avLst/>
              <a:gdLst/>
              <a:ahLst/>
              <a:cxnLst/>
              <a:rect r="r" b="b" t="t" l="l"/>
              <a:pathLst>
                <a:path h="2870759" w="2972359">
                  <a:moveTo>
                    <a:pt x="0" y="0"/>
                  </a:moveTo>
                  <a:lnTo>
                    <a:pt x="2972359" y="0"/>
                  </a:lnTo>
                  <a:lnTo>
                    <a:pt x="2972359" y="2870759"/>
                  </a:lnTo>
                  <a:lnTo>
                    <a:pt x="0" y="2870759"/>
                  </a:lnTo>
                  <a:close/>
                </a:path>
              </a:pathLst>
            </a:custGeom>
            <a:solidFill>
              <a:srgbClr val="F9F4AE"/>
            </a:solidFill>
          </p:spPr>
        </p:sp>
        <p:sp>
          <p:nvSpPr>
            <p:cNvPr name="Freeform 10" id="10"/>
            <p:cNvSpPr/>
            <p:nvPr/>
          </p:nvSpPr>
          <p:spPr>
            <a:xfrm flipH="false" flipV="false" rot="0">
              <a:off x="0" y="0"/>
              <a:ext cx="2972359" cy="2972359"/>
            </a:xfrm>
            <a:custGeom>
              <a:avLst/>
              <a:gdLst/>
              <a:ahLst/>
              <a:cxnLst/>
              <a:rect r="r" b="b" t="t" l="l"/>
              <a:pathLst>
                <a:path h="2972359" w="2972359">
                  <a:moveTo>
                    <a:pt x="0" y="2870759"/>
                  </a:moveTo>
                  <a:lnTo>
                    <a:pt x="2972359" y="2870759"/>
                  </a:lnTo>
                  <a:lnTo>
                    <a:pt x="2845359" y="2972359"/>
                  </a:lnTo>
                  <a:cubicBezTo>
                    <a:pt x="2845359" y="2972359"/>
                    <a:pt x="1854759" y="2896159"/>
                    <a:pt x="1753159" y="2896159"/>
                  </a:cubicBezTo>
                  <a:lnTo>
                    <a:pt x="1219200" y="2896159"/>
                  </a:lnTo>
                  <a:cubicBezTo>
                    <a:pt x="1117600" y="2896159"/>
                    <a:pt x="127000" y="2972359"/>
                    <a:pt x="127000" y="2972359"/>
                  </a:cubicBezTo>
                  <a:lnTo>
                    <a:pt x="0" y="2870759"/>
                  </a:lnTo>
                  <a:lnTo>
                    <a:pt x="0" y="0"/>
                  </a:lnTo>
                  <a:lnTo>
                    <a:pt x="2972359" y="0"/>
                  </a:lnTo>
                  <a:lnTo>
                    <a:pt x="2972359" y="2870759"/>
                  </a:lnTo>
                  <a:lnTo>
                    <a:pt x="12700" y="2870759"/>
                  </a:lnTo>
                  <a:lnTo>
                    <a:pt x="12700" y="2858059"/>
                  </a:lnTo>
                  <a:lnTo>
                    <a:pt x="2959659" y="2858059"/>
                  </a:lnTo>
                  <a:lnTo>
                    <a:pt x="2959659" y="12700"/>
                  </a:lnTo>
                  <a:lnTo>
                    <a:pt x="12700" y="12700"/>
                  </a:lnTo>
                  <a:lnTo>
                    <a:pt x="12700" y="2870759"/>
                  </a:lnTo>
                </a:path>
              </a:pathLst>
            </a:custGeom>
            <a:solidFill>
              <a:srgbClr val="394C60">
                <a:alpha val="9804"/>
              </a:srgbClr>
            </a:solidFill>
          </p:spPr>
        </p:sp>
        <p:sp>
          <p:nvSpPr>
            <p:cNvPr name="TextBox 11" id="11"/>
            <p:cNvSpPr txBox="true"/>
            <p:nvPr/>
          </p:nvSpPr>
          <p:spPr>
            <a:xfrm>
              <a:off x="0" y="-66675"/>
              <a:ext cx="2972359" cy="2937434"/>
            </a:xfrm>
            <a:prstGeom prst="rect">
              <a:avLst/>
            </a:prstGeom>
          </p:spPr>
          <p:txBody>
            <a:bodyPr anchor="t" rtlCol="false" tIns="203200" lIns="203200" bIns="203200" rIns="203200"/>
            <a:lstStyle/>
            <a:p>
              <a:pPr algn="l">
                <a:lnSpc>
                  <a:spcPts val="3219"/>
                </a:lnSpc>
              </a:pPr>
              <a:r>
                <a:rPr lang="en-US" sz="2299">
                  <a:solidFill>
                    <a:srgbClr val="000000"/>
                  </a:solidFill>
                  <a:latin typeface="Arimo"/>
                  <a:ea typeface="Arimo"/>
                  <a:cs typeface="Arimo"/>
                  <a:sym typeface="Arimo"/>
                </a:rPr>
                <a:t> Mỗi tiến trình sử dụng một byte trong bộ nhớ làm khóa.</a:t>
              </a:r>
            </a:p>
          </p:txBody>
        </p:sp>
      </p:grpSp>
      <p:grpSp>
        <p:nvGrpSpPr>
          <p:cNvPr name="Group 12" id="12"/>
          <p:cNvGrpSpPr/>
          <p:nvPr/>
        </p:nvGrpSpPr>
        <p:grpSpPr>
          <a:xfrm rot="0">
            <a:off x="13326057" y="3733136"/>
            <a:ext cx="3069354" cy="3173256"/>
            <a:chOff x="0" y="0"/>
            <a:chExt cx="4092472" cy="4231008"/>
          </a:xfrm>
        </p:grpSpPr>
        <p:sp>
          <p:nvSpPr>
            <p:cNvPr name="Freeform 13" id="13"/>
            <p:cNvSpPr/>
            <p:nvPr/>
          </p:nvSpPr>
          <p:spPr>
            <a:xfrm flipH="false" flipV="false" rot="0">
              <a:off x="0" y="0"/>
              <a:ext cx="4092472" cy="4129408"/>
            </a:xfrm>
            <a:custGeom>
              <a:avLst/>
              <a:gdLst/>
              <a:ahLst/>
              <a:cxnLst/>
              <a:rect r="r" b="b" t="t" l="l"/>
              <a:pathLst>
                <a:path h="4129408" w="4092472">
                  <a:moveTo>
                    <a:pt x="0" y="0"/>
                  </a:moveTo>
                  <a:lnTo>
                    <a:pt x="4092472" y="0"/>
                  </a:lnTo>
                  <a:lnTo>
                    <a:pt x="4092472" y="4129408"/>
                  </a:lnTo>
                  <a:lnTo>
                    <a:pt x="0" y="4129408"/>
                  </a:lnTo>
                  <a:close/>
                </a:path>
              </a:pathLst>
            </a:custGeom>
            <a:solidFill>
              <a:srgbClr val="F9F4AE"/>
            </a:solidFill>
          </p:spPr>
        </p:sp>
        <p:sp>
          <p:nvSpPr>
            <p:cNvPr name="Freeform 14" id="14"/>
            <p:cNvSpPr/>
            <p:nvPr/>
          </p:nvSpPr>
          <p:spPr>
            <a:xfrm flipH="false" flipV="false" rot="0">
              <a:off x="0" y="0"/>
              <a:ext cx="4092472" cy="4231008"/>
            </a:xfrm>
            <a:custGeom>
              <a:avLst/>
              <a:gdLst/>
              <a:ahLst/>
              <a:cxnLst/>
              <a:rect r="r" b="b" t="t" l="l"/>
              <a:pathLst>
                <a:path h="4231008" w="4092472">
                  <a:moveTo>
                    <a:pt x="0" y="4129408"/>
                  </a:moveTo>
                  <a:lnTo>
                    <a:pt x="4092472" y="4129408"/>
                  </a:lnTo>
                  <a:lnTo>
                    <a:pt x="3965472" y="4231008"/>
                  </a:lnTo>
                  <a:cubicBezTo>
                    <a:pt x="3965472" y="4231008"/>
                    <a:pt x="2974872" y="4154808"/>
                    <a:pt x="2873272" y="4154808"/>
                  </a:cubicBezTo>
                  <a:lnTo>
                    <a:pt x="1219200" y="4154808"/>
                  </a:lnTo>
                  <a:cubicBezTo>
                    <a:pt x="1117600" y="4154808"/>
                    <a:pt x="127000" y="4231008"/>
                    <a:pt x="127000" y="4231008"/>
                  </a:cubicBezTo>
                  <a:lnTo>
                    <a:pt x="0" y="4129408"/>
                  </a:lnTo>
                  <a:lnTo>
                    <a:pt x="0" y="0"/>
                  </a:lnTo>
                  <a:lnTo>
                    <a:pt x="4092472" y="0"/>
                  </a:lnTo>
                  <a:lnTo>
                    <a:pt x="4092472" y="4129408"/>
                  </a:lnTo>
                  <a:lnTo>
                    <a:pt x="12700" y="4129408"/>
                  </a:lnTo>
                  <a:lnTo>
                    <a:pt x="12700" y="4116708"/>
                  </a:lnTo>
                  <a:lnTo>
                    <a:pt x="4079772" y="4116708"/>
                  </a:lnTo>
                  <a:lnTo>
                    <a:pt x="4079772" y="12700"/>
                  </a:lnTo>
                  <a:lnTo>
                    <a:pt x="12700" y="12700"/>
                  </a:lnTo>
                  <a:lnTo>
                    <a:pt x="12700" y="4129408"/>
                  </a:lnTo>
                </a:path>
              </a:pathLst>
            </a:custGeom>
            <a:solidFill>
              <a:srgbClr val="394C60">
                <a:alpha val="9804"/>
              </a:srgbClr>
            </a:solidFill>
          </p:spPr>
        </p:sp>
        <p:sp>
          <p:nvSpPr>
            <p:cNvPr name="TextBox 15" id="15"/>
            <p:cNvSpPr txBox="true"/>
            <p:nvPr/>
          </p:nvSpPr>
          <p:spPr>
            <a:xfrm>
              <a:off x="0" y="-57150"/>
              <a:ext cx="4092472" cy="4186558"/>
            </a:xfrm>
            <a:prstGeom prst="rect">
              <a:avLst/>
            </a:prstGeom>
          </p:spPr>
          <p:txBody>
            <a:bodyPr anchor="t" rtlCol="false" tIns="203200" lIns="203200" bIns="203200" rIns="203200"/>
            <a:lstStyle/>
            <a:p>
              <a:pPr algn="l">
                <a:lnSpc>
                  <a:spcPts val="3079"/>
                </a:lnSpc>
              </a:pPr>
              <a:r>
                <a:rPr lang="en-US" sz="2199">
                  <a:solidFill>
                    <a:srgbClr val="000000"/>
                  </a:solidFill>
                  <a:latin typeface="Arimo"/>
                  <a:ea typeface="Arimo"/>
                  <a:cs typeface="Arimo"/>
                  <a:sym typeface="Arimo"/>
                </a:rPr>
                <a:t> Khi ra khỏi đoạn tới hạn, byte khóa được gán giá trị bằng không để thông báo tài nguyên găng đã được giải phóng.</a:t>
              </a:r>
            </a:p>
            <a:p>
              <a:pPr algn="l">
                <a:lnSpc>
                  <a:spcPts val="3079"/>
                </a:lnSpc>
              </a:pPr>
            </a:p>
          </p:txBody>
        </p:sp>
      </p:grpSp>
      <p:grpSp>
        <p:nvGrpSpPr>
          <p:cNvPr name="Group 16" id="16"/>
          <p:cNvGrpSpPr/>
          <p:nvPr/>
        </p:nvGrpSpPr>
        <p:grpSpPr>
          <a:xfrm rot="0">
            <a:off x="4732216" y="4218939"/>
            <a:ext cx="3340136" cy="3878311"/>
            <a:chOff x="0" y="0"/>
            <a:chExt cx="4453515" cy="5171082"/>
          </a:xfrm>
        </p:grpSpPr>
        <p:sp>
          <p:nvSpPr>
            <p:cNvPr name="Freeform 17" id="17"/>
            <p:cNvSpPr/>
            <p:nvPr/>
          </p:nvSpPr>
          <p:spPr>
            <a:xfrm flipH="false" flipV="false" rot="0">
              <a:off x="0" y="0"/>
              <a:ext cx="4453515" cy="5069482"/>
            </a:xfrm>
            <a:custGeom>
              <a:avLst/>
              <a:gdLst/>
              <a:ahLst/>
              <a:cxnLst/>
              <a:rect r="r" b="b" t="t" l="l"/>
              <a:pathLst>
                <a:path h="5069482" w="4453515">
                  <a:moveTo>
                    <a:pt x="0" y="0"/>
                  </a:moveTo>
                  <a:lnTo>
                    <a:pt x="4453515" y="0"/>
                  </a:lnTo>
                  <a:lnTo>
                    <a:pt x="4453515" y="5069482"/>
                  </a:lnTo>
                  <a:lnTo>
                    <a:pt x="0" y="5069482"/>
                  </a:lnTo>
                  <a:close/>
                </a:path>
              </a:pathLst>
            </a:custGeom>
            <a:solidFill>
              <a:srgbClr val="F9F4AE"/>
            </a:solidFill>
          </p:spPr>
        </p:sp>
        <p:sp>
          <p:nvSpPr>
            <p:cNvPr name="Freeform 18" id="18"/>
            <p:cNvSpPr/>
            <p:nvPr/>
          </p:nvSpPr>
          <p:spPr>
            <a:xfrm flipH="false" flipV="false" rot="0">
              <a:off x="0" y="0"/>
              <a:ext cx="4453515" cy="5171082"/>
            </a:xfrm>
            <a:custGeom>
              <a:avLst/>
              <a:gdLst/>
              <a:ahLst/>
              <a:cxnLst/>
              <a:rect r="r" b="b" t="t" l="l"/>
              <a:pathLst>
                <a:path h="5171082" w="4453515">
                  <a:moveTo>
                    <a:pt x="0" y="5069482"/>
                  </a:moveTo>
                  <a:lnTo>
                    <a:pt x="4453515" y="5069482"/>
                  </a:lnTo>
                  <a:lnTo>
                    <a:pt x="4326515" y="5171082"/>
                  </a:lnTo>
                  <a:cubicBezTo>
                    <a:pt x="4326515" y="5171082"/>
                    <a:pt x="3335915" y="5094882"/>
                    <a:pt x="3234315" y="5094882"/>
                  </a:cubicBezTo>
                  <a:lnTo>
                    <a:pt x="1219200" y="5094882"/>
                  </a:lnTo>
                  <a:cubicBezTo>
                    <a:pt x="1117600" y="5094882"/>
                    <a:pt x="127000" y="5171082"/>
                    <a:pt x="127000" y="5171082"/>
                  </a:cubicBezTo>
                  <a:lnTo>
                    <a:pt x="0" y="5069482"/>
                  </a:lnTo>
                  <a:lnTo>
                    <a:pt x="0" y="0"/>
                  </a:lnTo>
                  <a:lnTo>
                    <a:pt x="4453515" y="0"/>
                  </a:lnTo>
                  <a:lnTo>
                    <a:pt x="4453515" y="5069482"/>
                  </a:lnTo>
                  <a:lnTo>
                    <a:pt x="12700" y="5069482"/>
                  </a:lnTo>
                  <a:lnTo>
                    <a:pt x="12700" y="5056782"/>
                  </a:lnTo>
                  <a:lnTo>
                    <a:pt x="4440815" y="5056782"/>
                  </a:lnTo>
                  <a:lnTo>
                    <a:pt x="4440815" y="12700"/>
                  </a:lnTo>
                  <a:lnTo>
                    <a:pt x="12700" y="12700"/>
                  </a:lnTo>
                  <a:lnTo>
                    <a:pt x="12700" y="5069482"/>
                  </a:lnTo>
                </a:path>
              </a:pathLst>
            </a:custGeom>
            <a:solidFill>
              <a:srgbClr val="394C60">
                <a:alpha val="9804"/>
              </a:srgbClr>
            </a:solidFill>
          </p:spPr>
        </p:sp>
        <p:sp>
          <p:nvSpPr>
            <p:cNvPr name="TextBox 19" id="19"/>
            <p:cNvSpPr txBox="true"/>
            <p:nvPr/>
          </p:nvSpPr>
          <p:spPr>
            <a:xfrm>
              <a:off x="0" y="-66675"/>
              <a:ext cx="4453515" cy="5136157"/>
            </a:xfrm>
            <a:prstGeom prst="rect">
              <a:avLst/>
            </a:prstGeom>
          </p:spPr>
          <p:txBody>
            <a:bodyPr anchor="t" rtlCol="false" tIns="203200" lIns="203200" bIns="203200" rIns="203200"/>
            <a:lstStyle/>
            <a:p>
              <a:pPr algn="l">
                <a:lnSpc>
                  <a:spcPts val="3219"/>
                </a:lnSpc>
              </a:pPr>
              <a:r>
                <a:rPr lang="en-US" sz="2299">
                  <a:solidFill>
                    <a:srgbClr val="000000"/>
                  </a:solidFill>
                  <a:latin typeface="Arimo"/>
                  <a:ea typeface="Arimo"/>
                  <a:cs typeface="Arimo"/>
                  <a:sym typeface="Arimo"/>
                </a:rPr>
                <a:t>Trước khi vào đoạn tới hạn các tiến trình phải kiểm tra byte khóa của các tiến trình khác. Nếu có byte chứa giá trị =1 thì tiến trình phải chờ đến khi byte đó bằng không.</a:t>
              </a:r>
            </a:p>
            <a:p>
              <a:pPr algn="l">
                <a:lnSpc>
                  <a:spcPts val="1960"/>
                </a:lnSpc>
              </a:pPr>
            </a:p>
          </p:txBody>
        </p:sp>
      </p:grpSp>
      <p:sp>
        <p:nvSpPr>
          <p:cNvPr name="Freeform 20" id="20"/>
          <p:cNvSpPr/>
          <p:nvPr/>
        </p:nvSpPr>
        <p:spPr>
          <a:xfrm flipH="false" flipV="false" rot="1596654">
            <a:off x="16567819" y="-236485"/>
            <a:ext cx="1382961" cy="1382961"/>
          </a:xfrm>
          <a:custGeom>
            <a:avLst/>
            <a:gdLst/>
            <a:ahLst/>
            <a:cxnLst/>
            <a:rect r="r" b="b" t="t" l="l"/>
            <a:pathLst>
              <a:path h="1382961" w="1382961">
                <a:moveTo>
                  <a:pt x="0" y="0"/>
                </a:moveTo>
                <a:lnTo>
                  <a:pt x="1382962" y="0"/>
                </a:lnTo>
                <a:lnTo>
                  <a:pt x="1382962" y="1382961"/>
                </a:lnTo>
                <a:lnTo>
                  <a:pt x="0" y="1382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6777442" y="6500376"/>
            <a:ext cx="1861964" cy="1836362"/>
          </a:xfrm>
          <a:custGeom>
            <a:avLst/>
            <a:gdLst/>
            <a:ahLst/>
            <a:cxnLst/>
            <a:rect r="r" b="b" t="t" l="l"/>
            <a:pathLst>
              <a:path h="1836362" w="1861964">
                <a:moveTo>
                  <a:pt x="0" y="0"/>
                </a:moveTo>
                <a:lnTo>
                  <a:pt x="1861964" y="0"/>
                </a:lnTo>
                <a:lnTo>
                  <a:pt x="1861964" y="1836362"/>
                </a:lnTo>
                <a:lnTo>
                  <a:pt x="0" y="1836362"/>
                </a:lnTo>
                <a:lnTo>
                  <a:pt x="0" y="0"/>
                </a:lnTo>
                <a:close/>
              </a:path>
            </a:pathLst>
          </a:custGeom>
          <a:blipFill>
            <a:blip r:embed="rId5"/>
            <a:stretch>
              <a:fillRect l="0" t="0" r="0" b="0"/>
            </a:stretch>
          </a:blipFill>
        </p:spPr>
      </p:sp>
      <p:sp>
        <p:nvSpPr>
          <p:cNvPr name="Freeform 22" id="22"/>
          <p:cNvSpPr/>
          <p:nvPr/>
        </p:nvSpPr>
        <p:spPr>
          <a:xfrm flipH="false" flipV="false" rot="-2199862">
            <a:off x="12920912" y="3689685"/>
            <a:ext cx="1130567" cy="287781"/>
          </a:xfrm>
          <a:custGeom>
            <a:avLst/>
            <a:gdLst/>
            <a:ahLst/>
            <a:cxnLst/>
            <a:rect r="r" b="b" t="t" l="l"/>
            <a:pathLst>
              <a:path h="287781" w="1130567">
                <a:moveTo>
                  <a:pt x="0" y="0"/>
                </a:moveTo>
                <a:lnTo>
                  <a:pt x="1130567" y="0"/>
                </a:lnTo>
                <a:lnTo>
                  <a:pt x="1130567" y="287781"/>
                </a:lnTo>
                <a:lnTo>
                  <a:pt x="0" y="2877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6331334" y="9586986"/>
            <a:ext cx="727803" cy="700014"/>
          </a:xfrm>
          <a:custGeom>
            <a:avLst/>
            <a:gdLst/>
            <a:ahLst/>
            <a:cxnLst/>
            <a:rect r="r" b="b" t="t" l="l"/>
            <a:pathLst>
              <a:path h="700014" w="727803">
                <a:moveTo>
                  <a:pt x="0" y="0"/>
                </a:moveTo>
                <a:lnTo>
                  <a:pt x="727803" y="0"/>
                </a:lnTo>
                <a:lnTo>
                  <a:pt x="727803" y="700014"/>
                </a:lnTo>
                <a:lnTo>
                  <a:pt x="0" y="7000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9431727">
            <a:off x="1844852" y="2979345"/>
            <a:ext cx="1939801" cy="2479187"/>
          </a:xfrm>
          <a:custGeom>
            <a:avLst/>
            <a:gdLst/>
            <a:ahLst/>
            <a:cxnLst/>
            <a:rect r="r" b="b" t="t" l="l"/>
            <a:pathLst>
              <a:path h="2479187" w="1939801">
                <a:moveTo>
                  <a:pt x="0" y="0"/>
                </a:moveTo>
                <a:lnTo>
                  <a:pt x="1939801" y="0"/>
                </a:lnTo>
                <a:lnTo>
                  <a:pt x="1939801" y="2479187"/>
                </a:lnTo>
                <a:lnTo>
                  <a:pt x="0" y="24791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4732216" y="388321"/>
            <a:ext cx="8766989" cy="613410"/>
          </a:xfrm>
          <a:prstGeom prst="rect">
            <a:avLst/>
          </a:prstGeom>
        </p:spPr>
        <p:txBody>
          <a:bodyPr anchor="t" rtlCol="false" tIns="0" lIns="0" bIns="0" rIns="0">
            <a:spAutoFit/>
          </a:bodyPr>
          <a:lstStyle/>
          <a:p>
            <a:pPr algn="ctr" marL="0" indent="0" lvl="0">
              <a:lnSpc>
                <a:spcPts val="5040"/>
              </a:lnSpc>
              <a:spcBef>
                <a:spcPct val="0"/>
              </a:spcBef>
            </a:pPr>
            <a:r>
              <a:rPr lang="en-US" sz="3600">
                <a:solidFill>
                  <a:srgbClr val="FFFFFF"/>
                </a:solidFill>
                <a:latin typeface="Barlow"/>
                <a:ea typeface="Barlow"/>
                <a:cs typeface="Barlow"/>
                <a:sym typeface="Barlow"/>
              </a:rPr>
              <a:t>Nguyên tấc chung của quản lý đoạn tới hạn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B6E1BF"/>
        </a:solidFill>
      </p:bgPr>
    </p:bg>
    <p:spTree>
      <p:nvGrpSpPr>
        <p:cNvPr id="1" name=""/>
        <p:cNvGrpSpPr/>
        <p:nvPr/>
      </p:nvGrpSpPr>
      <p:grpSpPr>
        <a:xfrm>
          <a:off x="0" y="0"/>
          <a:ext cx="0" cy="0"/>
          <a:chOff x="0" y="0"/>
          <a:chExt cx="0" cy="0"/>
        </a:xfrm>
      </p:grpSpPr>
      <p:grpSp>
        <p:nvGrpSpPr>
          <p:cNvPr name="Group 2" id="2"/>
          <p:cNvGrpSpPr/>
          <p:nvPr/>
        </p:nvGrpSpPr>
        <p:grpSpPr>
          <a:xfrm rot="0">
            <a:off x="10928032" y="760095"/>
            <a:ext cx="109538" cy="422910"/>
            <a:chOff x="0" y="0"/>
            <a:chExt cx="146050" cy="563880"/>
          </a:xfrm>
        </p:grpSpPr>
        <p:sp>
          <p:nvSpPr>
            <p:cNvPr name="Freeform 3" id="3"/>
            <p:cNvSpPr/>
            <p:nvPr/>
          </p:nvSpPr>
          <p:spPr>
            <a:xfrm flipH="false" flipV="false" rot="0">
              <a:off x="13970" y="40640"/>
              <a:ext cx="118110" cy="472440"/>
            </a:xfrm>
            <a:custGeom>
              <a:avLst/>
              <a:gdLst/>
              <a:ahLst/>
              <a:cxnLst/>
              <a:rect r="r" b="b" t="t" l="l"/>
              <a:pathLst>
                <a:path h="472440" w="118110">
                  <a:moveTo>
                    <a:pt x="81280" y="472440"/>
                  </a:moveTo>
                  <a:cubicBezTo>
                    <a:pt x="0" y="435610"/>
                    <a:pt x="1270" y="55880"/>
                    <a:pt x="36830" y="15240"/>
                  </a:cubicBezTo>
                  <a:cubicBezTo>
                    <a:pt x="48260" y="2540"/>
                    <a:pt x="69850" y="0"/>
                    <a:pt x="81280" y="10160"/>
                  </a:cubicBezTo>
                  <a:cubicBezTo>
                    <a:pt x="118110" y="43180"/>
                    <a:pt x="81280" y="472440"/>
                    <a:pt x="81280" y="472440"/>
                  </a:cubicBezTo>
                </a:path>
              </a:pathLst>
            </a:custGeom>
            <a:solidFill>
              <a:srgbClr val="FFF234">
                <a:alpha val="49804"/>
              </a:srgbClr>
            </a:solidFill>
            <a:ln cap="sq">
              <a:noFill/>
              <a:prstDash val="solid"/>
              <a:miter/>
            </a:ln>
          </p:spPr>
        </p:sp>
      </p:grpSp>
      <p:sp>
        <p:nvSpPr>
          <p:cNvPr name="Freeform 4" id="4"/>
          <p:cNvSpPr/>
          <p:nvPr/>
        </p:nvSpPr>
        <p:spPr>
          <a:xfrm flipH="false" flipV="false" rot="0">
            <a:off x="5117542" y="161345"/>
            <a:ext cx="8052917" cy="1338890"/>
          </a:xfrm>
          <a:custGeom>
            <a:avLst/>
            <a:gdLst/>
            <a:ahLst/>
            <a:cxnLst/>
            <a:rect r="r" b="b" t="t" l="l"/>
            <a:pathLst>
              <a:path h="1338890" w="8052917">
                <a:moveTo>
                  <a:pt x="0" y="0"/>
                </a:moveTo>
                <a:lnTo>
                  <a:pt x="8052916" y="0"/>
                </a:lnTo>
                <a:lnTo>
                  <a:pt x="8052916" y="1338890"/>
                </a:lnTo>
                <a:lnTo>
                  <a:pt x="0" y="1338890"/>
                </a:lnTo>
                <a:lnTo>
                  <a:pt x="0" y="0"/>
                </a:lnTo>
                <a:close/>
              </a:path>
            </a:pathLst>
          </a:custGeom>
          <a:blipFill>
            <a:blip r:embed="rId2"/>
            <a:stretch>
              <a:fillRect l="-51828" t="0" r="-59009" b="-182154"/>
            </a:stretch>
          </a:blipFill>
          <a:ln w="38100" cap="rnd">
            <a:solidFill>
              <a:srgbClr val="000000"/>
            </a:solidFill>
            <a:prstDash val="lgDash"/>
            <a:round/>
          </a:ln>
        </p:spPr>
      </p:sp>
      <p:pic>
        <p:nvPicPr>
          <p:cNvPr name="Picture 5" id="5"/>
          <p:cNvPicPr>
            <a:picLocks noChangeAspect="true"/>
          </p:cNvPicPr>
          <p:nvPr/>
        </p:nvPicPr>
        <p:blipFill>
          <a:blip r:embed="rId3"/>
          <a:srcRect l="0" t="0" r="0" b="0"/>
          <a:stretch>
            <a:fillRect/>
          </a:stretch>
        </p:blipFill>
        <p:spPr>
          <a:xfrm flipH="false" flipV="false" rot="0">
            <a:off x="469286" y="1784419"/>
            <a:ext cx="721962" cy="624497"/>
          </a:xfrm>
          <a:prstGeom prst="rect">
            <a:avLst/>
          </a:prstGeom>
        </p:spPr>
      </p:pic>
      <p:sp>
        <p:nvSpPr>
          <p:cNvPr name="Freeform 6" id="6"/>
          <p:cNvSpPr/>
          <p:nvPr/>
        </p:nvSpPr>
        <p:spPr>
          <a:xfrm flipH="false" flipV="false" rot="0">
            <a:off x="15222955" y="6172200"/>
            <a:ext cx="3425571" cy="4114800"/>
          </a:xfrm>
          <a:custGeom>
            <a:avLst/>
            <a:gdLst/>
            <a:ahLst/>
            <a:cxnLst/>
            <a:rect r="r" b="b" t="t" l="l"/>
            <a:pathLst>
              <a:path h="4114800" w="3425571">
                <a:moveTo>
                  <a:pt x="0" y="0"/>
                </a:moveTo>
                <a:lnTo>
                  <a:pt x="3425571" y="0"/>
                </a:lnTo>
                <a:lnTo>
                  <a:pt x="34255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296011" y="4127932"/>
            <a:ext cx="4349051" cy="2446341"/>
          </a:xfrm>
          <a:custGeom>
            <a:avLst/>
            <a:gdLst/>
            <a:ahLst/>
            <a:cxnLst/>
            <a:rect r="r" b="b" t="t" l="l"/>
            <a:pathLst>
              <a:path h="2446341" w="4349051">
                <a:moveTo>
                  <a:pt x="0" y="0"/>
                </a:moveTo>
                <a:lnTo>
                  <a:pt x="4349051" y="0"/>
                </a:lnTo>
                <a:lnTo>
                  <a:pt x="4349051" y="2446341"/>
                </a:lnTo>
                <a:lnTo>
                  <a:pt x="0" y="2446341"/>
                </a:lnTo>
                <a:lnTo>
                  <a:pt x="0" y="0"/>
                </a:lnTo>
                <a:close/>
              </a:path>
            </a:pathLst>
          </a:custGeom>
          <a:blipFill>
            <a:blip r:embed="rId6">
              <a:extLst>
                <a:ext uri="{96DAC541-7B7A-43D3-8B79-37D633B846F1}">
                  <asvg:svgBlip xmlns:asvg="http://schemas.microsoft.com/office/drawing/2016/SVG/main" r:embed="rId7"/>
                </a:ext>
              </a:extLst>
            </a:blip>
            <a:stretch>
              <a:fillRect l="-125000" t="-38888" r="-125000" b="-38888"/>
            </a:stretch>
          </a:blipFill>
          <a:ln w="38100" cap="rnd">
            <a:solidFill>
              <a:srgbClr val="000000"/>
            </a:solidFill>
            <a:prstDash val="solid"/>
            <a:round/>
          </a:ln>
        </p:spPr>
      </p:sp>
      <p:grpSp>
        <p:nvGrpSpPr>
          <p:cNvPr name="Group 8" id="8"/>
          <p:cNvGrpSpPr/>
          <p:nvPr/>
        </p:nvGrpSpPr>
        <p:grpSpPr>
          <a:xfrm rot="0">
            <a:off x="126802" y="8672794"/>
            <a:ext cx="2443682" cy="1523819"/>
            <a:chOff x="0" y="0"/>
            <a:chExt cx="643603" cy="401335"/>
          </a:xfrm>
        </p:grpSpPr>
        <p:sp>
          <p:nvSpPr>
            <p:cNvPr name="Freeform 9" id="9"/>
            <p:cNvSpPr/>
            <p:nvPr/>
          </p:nvSpPr>
          <p:spPr>
            <a:xfrm flipH="false" flipV="false" rot="0">
              <a:off x="0" y="0"/>
              <a:ext cx="643603" cy="401335"/>
            </a:xfrm>
            <a:custGeom>
              <a:avLst/>
              <a:gdLst/>
              <a:ahLst/>
              <a:cxnLst/>
              <a:rect r="r" b="b" t="t" l="l"/>
              <a:pathLst>
                <a:path h="401335" w="643603">
                  <a:moveTo>
                    <a:pt x="161575" y="0"/>
                  </a:moveTo>
                  <a:lnTo>
                    <a:pt x="482028" y="0"/>
                  </a:lnTo>
                  <a:cubicBezTo>
                    <a:pt x="571264" y="0"/>
                    <a:pt x="643603" y="72340"/>
                    <a:pt x="643603" y="161575"/>
                  </a:cubicBezTo>
                  <a:lnTo>
                    <a:pt x="643603" y="239760"/>
                  </a:lnTo>
                  <a:cubicBezTo>
                    <a:pt x="643603" y="328995"/>
                    <a:pt x="571264" y="401335"/>
                    <a:pt x="482028" y="401335"/>
                  </a:cubicBezTo>
                  <a:lnTo>
                    <a:pt x="161575" y="401335"/>
                  </a:lnTo>
                  <a:cubicBezTo>
                    <a:pt x="72340" y="401335"/>
                    <a:pt x="0" y="328995"/>
                    <a:pt x="0" y="239760"/>
                  </a:cubicBezTo>
                  <a:lnTo>
                    <a:pt x="0" y="161575"/>
                  </a:lnTo>
                  <a:cubicBezTo>
                    <a:pt x="0" y="72340"/>
                    <a:pt x="72340" y="0"/>
                    <a:pt x="161575" y="0"/>
                  </a:cubicBezTo>
                  <a:close/>
                </a:path>
              </a:pathLst>
            </a:custGeom>
            <a:solidFill>
              <a:srgbClr val="2C92D5"/>
            </a:solidFill>
          </p:spPr>
        </p:sp>
        <p:sp>
          <p:nvSpPr>
            <p:cNvPr name="TextBox 10" id="10"/>
            <p:cNvSpPr txBox="true"/>
            <p:nvPr/>
          </p:nvSpPr>
          <p:spPr>
            <a:xfrm>
              <a:off x="0" y="-66675"/>
              <a:ext cx="643603" cy="468010"/>
            </a:xfrm>
            <a:prstGeom prst="rect">
              <a:avLst/>
            </a:prstGeom>
          </p:spPr>
          <p:txBody>
            <a:bodyPr anchor="ctr" rtlCol="false" tIns="50800" lIns="50800" bIns="50800" rIns="50800"/>
            <a:lstStyle/>
            <a:p>
              <a:pPr algn="ctr">
                <a:lnSpc>
                  <a:spcPts val="3000"/>
                </a:lnSpc>
              </a:pPr>
              <a:r>
                <a:rPr lang="en-US" sz="2000" spc="60">
                  <a:solidFill>
                    <a:srgbClr val="FDFBFB"/>
                  </a:solidFill>
                  <a:latin typeface="Aileron"/>
                  <a:ea typeface="Aileron"/>
                  <a:cs typeface="Aileron"/>
                  <a:sym typeface="Aileron"/>
                </a:rPr>
                <a:t>Có tài nguyên găng</a:t>
              </a:r>
            </a:p>
          </p:txBody>
        </p:sp>
      </p:grpSp>
      <p:grpSp>
        <p:nvGrpSpPr>
          <p:cNvPr name="Group 11" id="11"/>
          <p:cNvGrpSpPr/>
          <p:nvPr/>
        </p:nvGrpSpPr>
        <p:grpSpPr>
          <a:xfrm rot="0">
            <a:off x="3122934" y="8627779"/>
            <a:ext cx="2347603" cy="1659221"/>
            <a:chOff x="0" y="0"/>
            <a:chExt cx="618299" cy="436997"/>
          </a:xfrm>
        </p:grpSpPr>
        <p:sp>
          <p:nvSpPr>
            <p:cNvPr name="Freeform 12" id="12"/>
            <p:cNvSpPr/>
            <p:nvPr/>
          </p:nvSpPr>
          <p:spPr>
            <a:xfrm flipH="false" flipV="false" rot="0">
              <a:off x="0" y="0"/>
              <a:ext cx="618299" cy="436997"/>
            </a:xfrm>
            <a:custGeom>
              <a:avLst/>
              <a:gdLst/>
              <a:ahLst/>
              <a:cxnLst/>
              <a:rect r="r" b="b" t="t" l="l"/>
              <a:pathLst>
                <a:path h="436997" w="618299">
                  <a:moveTo>
                    <a:pt x="168188" y="0"/>
                  </a:moveTo>
                  <a:lnTo>
                    <a:pt x="450111" y="0"/>
                  </a:lnTo>
                  <a:cubicBezTo>
                    <a:pt x="494717" y="0"/>
                    <a:pt x="537496" y="17720"/>
                    <a:pt x="569038" y="49261"/>
                  </a:cubicBezTo>
                  <a:cubicBezTo>
                    <a:pt x="600579" y="80802"/>
                    <a:pt x="618299" y="123582"/>
                    <a:pt x="618299" y="168188"/>
                  </a:cubicBezTo>
                  <a:lnTo>
                    <a:pt x="618299" y="268809"/>
                  </a:lnTo>
                  <a:cubicBezTo>
                    <a:pt x="618299" y="313415"/>
                    <a:pt x="600579" y="356194"/>
                    <a:pt x="569038" y="387736"/>
                  </a:cubicBezTo>
                  <a:cubicBezTo>
                    <a:pt x="537496" y="419277"/>
                    <a:pt x="494717" y="436997"/>
                    <a:pt x="450111" y="436997"/>
                  </a:cubicBezTo>
                  <a:lnTo>
                    <a:pt x="168188" y="436997"/>
                  </a:lnTo>
                  <a:cubicBezTo>
                    <a:pt x="123582" y="436997"/>
                    <a:pt x="80802" y="419277"/>
                    <a:pt x="49261" y="387736"/>
                  </a:cubicBezTo>
                  <a:cubicBezTo>
                    <a:pt x="17720" y="356194"/>
                    <a:pt x="0" y="313415"/>
                    <a:pt x="0" y="268809"/>
                  </a:cubicBezTo>
                  <a:lnTo>
                    <a:pt x="0" y="168188"/>
                  </a:lnTo>
                  <a:cubicBezTo>
                    <a:pt x="0" y="123582"/>
                    <a:pt x="17720" y="80802"/>
                    <a:pt x="49261" y="49261"/>
                  </a:cubicBezTo>
                  <a:cubicBezTo>
                    <a:pt x="80802" y="17720"/>
                    <a:pt x="123582" y="0"/>
                    <a:pt x="168188" y="0"/>
                  </a:cubicBezTo>
                  <a:close/>
                </a:path>
              </a:pathLst>
            </a:custGeom>
            <a:solidFill>
              <a:srgbClr val="13538A"/>
            </a:solidFill>
          </p:spPr>
        </p:sp>
        <p:sp>
          <p:nvSpPr>
            <p:cNvPr name="TextBox 13" id="13"/>
            <p:cNvSpPr txBox="true"/>
            <p:nvPr/>
          </p:nvSpPr>
          <p:spPr>
            <a:xfrm>
              <a:off x="0" y="-66675"/>
              <a:ext cx="618299" cy="503672"/>
            </a:xfrm>
            <a:prstGeom prst="rect">
              <a:avLst/>
            </a:prstGeom>
          </p:spPr>
          <p:txBody>
            <a:bodyPr anchor="ctr" rtlCol="false" tIns="50800" lIns="50800" bIns="50800" rIns="50800"/>
            <a:lstStyle/>
            <a:p>
              <a:pPr algn="ctr">
                <a:lnSpc>
                  <a:spcPts val="3000"/>
                </a:lnSpc>
              </a:pPr>
              <a:r>
                <a:rPr lang="en-US" sz="2000" spc="60">
                  <a:solidFill>
                    <a:srgbClr val="FFFFFF"/>
                  </a:solidFill>
                  <a:latin typeface="Aileron"/>
                  <a:ea typeface="Aileron"/>
                  <a:cs typeface="Aileron"/>
                  <a:sym typeface="Aileron"/>
                </a:rPr>
                <a:t>Có hiện tượng giữ và đợi</a:t>
              </a:r>
            </a:p>
          </p:txBody>
        </p:sp>
      </p:grpSp>
      <p:grpSp>
        <p:nvGrpSpPr>
          <p:cNvPr name="Group 14" id="14"/>
          <p:cNvGrpSpPr/>
          <p:nvPr/>
        </p:nvGrpSpPr>
        <p:grpSpPr>
          <a:xfrm rot="0">
            <a:off x="5900317" y="8673150"/>
            <a:ext cx="2306314" cy="1613850"/>
            <a:chOff x="0" y="0"/>
            <a:chExt cx="607424" cy="425047"/>
          </a:xfrm>
        </p:grpSpPr>
        <p:sp>
          <p:nvSpPr>
            <p:cNvPr name="Freeform 15" id="15"/>
            <p:cNvSpPr/>
            <p:nvPr/>
          </p:nvSpPr>
          <p:spPr>
            <a:xfrm flipH="false" flipV="false" rot="0">
              <a:off x="0" y="0"/>
              <a:ext cx="607424" cy="425047"/>
            </a:xfrm>
            <a:custGeom>
              <a:avLst/>
              <a:gdLst/>
              <a:ahLst/>
              <a:cxnLst/>
              <a:rect r="r" b="b" t="t" l="l"/>
              <a:pathLst>
                <a:path h="425047" w="607424">
                  <a:moveTo>
                    <a:pt x="171199" y="0"/>
                  </a:moveTo>
                  <a:lnTo>
                    <a:pt x="436226" y="0"/>
                  </a:lnTo>
                  <a:cubicBezTo>
                    <a:pt x="481630" y="0"/>
                    <a:pt x="525175" y="18037"/>
                    <a:pt x="557281" y="50143"/>
                  </a:cubicBezTo>
                  <a:cubicBezTo>
                    <a:pt x="589387" y="82249"/>
                    <a:pt x="607424" y="125794"/>
                    <a:pt x="607424" y="171199"/>
                  </a:cubicBezTo>
                  <a:lnTo>
                    <a:pt x="607424" y="253848"/>
                  </a:lnTo>
                  <a:cubicBezTo>
                    <a:pt x="607424" y="348399"/>
                    <a:pt x="530776" y="425047"/>
                    <a:pt x="436226" y="425047"/>
                  </a:cubicBezTo>
                  <a:lnTo>
                    <a:pt x="171199" y="425047"/>
                  </a:lnTo>
                  <a:cubicBezTo>
                    <a:pt x="76648" y="425047"/>
                    <a:pt x="0" y="348399"/>
                    <a:pt x="0" y="253848"/>
                  </a:cubicBezTo>
                  <a:lnTo>
                    <a:pt x="0" y="171199"/>
                  </a:lnTo>
                  <a:cubicBezTo>
                    <a:pt x="0" y="76648"/>
                    <a:pt x="76648" y="0"/>
                    <a:pt x="171199" y="0"/>
                  </a:cubicBezTo>
                  <a:close/>
                </a:path>
              </a:pathLst>
            </a:custGeom>
            <a:solidFill>
              <a:srgbClr val="9AADFF"/>
            </a:solidFill>
          </p:spPr>
        </p:sp>
        <p:sp>
          <p:nvSpPr>
            <p:cNvPr name="TextBox 16" id="16"/>
            <p:cNvSpPr txBox="true"/>
            <p:nvPr/>
          </p:nvSpPr>
          <p:spPr>
            <a:xfrm>
              <a:off x="0" y="-66675"/>
              <a:ext cx="607424" cy="491722"/>
            </a:xfrm>
            <a:prstGeom prst="rect">
              <a:avLst/>
            </a:prstGeom>
          </p:spPr>
          <p:txBody>
            <a:bodyPr anchor="ctr" rtlCol="false" tIns="50800" lIns="50800" bIns="50800" rIns="50800"/>
            <a:lstStyle/>
            <a:p>
              <a:pPr algn="ctr">
                <a:lnSpc>
                  <a:spcPts val="3000"/>
                </a:lnSpc>
              </a:pPr>
              <a:r>
                <a:rPr lang="en-US" sz="2000" spc="60">
                  <a:solidFill>
                    <a:srgbClr val="FFFFFF"/>
                  </a:solidFill>
                  <a:latin typeface="Aileron"/>
                  <a:ea typeface="Aileron"/>
                  <a:cs typeface="Aileron"/>
                  <a:sym typeface="Aileron"/>
                </a:rPr>
                <a:t>Không có hệ thống phân phối lại tài nguyên</a:t>
              </a:r>
            </a:p>
          </p:txBody>
        </p:sp>
      </p:grpSp>
      <p:grpSp>
        <p:nvGrpSpPr>
          <p:cNvPr name="Group 17" id="17"/>
          <p:cNvGrpSpPr/>
          <p:nvPr/>
        </p:nvGrpSpPr>
        <p:grpSpPr>
          <a:xfrm rot="0">
            <a:off x="8758191" y="8672794"/>
            <a:ext cx="2224610" cy="1613850"/>
            <a:chOff x="0" y="0"/>
            <a:chExt cx="585906" cy="425047"/>
          </a:xfrm>
        </p:grpSpPr>
        <p:sp>
          <p:nvSpPr>
            <p:cNvPr name="Freeform 18" id="18"/>
            <p:cNvSpPr/>
            <p:nvPr/>
          </p:nvSpPr>
          <p:spPr>
            <a:xfrm flipH="false" flipV="false" rot="0">
              <a:off x="0" y="0"/>
              <a:ext cx="585906" cy="425047"/>
            </a:xfrm>
            <a:custGeom>
              <a:avLst/>
              <a:gdLst/>
              <a:ahLst/>
              <a:cxnLst/>
              <a:rect r="r" b="b" t="t" l="l"/>
              <a:pathLst>
                <a:path h="425047" w="585906">
                  <a:moveTo>
                    <a:pt x="177486" y="0"/>
                  </a:moveTo>
                  <a:lnTo>
                    <a:pt x="408419" y="0"/>
                  </a:lnTo>
                  <a:cubicBezTo>
                    <a:pt x="506442" y="0"/>
                    <a:pt x="585906" y="79463"/>
                    <a:pt x="585906" y="177486"/>
                  </a:cubicBezTo>
                  <a:lnTo>
                    <a:pt x="585906" y="247560"/>
                  </a:lnTo>
                  <a:cubicBezTo>
                    <a:pt x="585906" y="345583"/>
                    <a:pt x="506442" y="425047"/>
                    <a:pt x="408419" y="425047"/>
                  </a:cubicBezTo>
                  <a:lnTo>
                    <a:pt x="177486" y="425047"/>
                  </a:lnTo>
                  <a:cubicBezTo>
                    <a:pt x="79463" y="425047"/>
                    <a:pt x="0" y="345583"/>
                    <a:pt x="0" y="247560"/>
                  </a:cubicBezTo>
                  <a:lnTo>
                    <a:pt x="0" y="177486"/>
                  </a:lnTo>
                  <a:cubicBezTo>
                    <a:pt x="0" y="79463"/>
                    <a:pt x="79463" y="0"/>
                    <a:pt x="177486" y="0"/>
                  </a:cubicBezTo>
                  <a:close/>
                </a:path>
              </a:pathLst>
            </a:custGeom>
            <a:solidFill>
              <a:srgbClr val="41995C"/>
            </a:solidFill>
          </p:spPr>
        </p:sp>
        <p:sp>
          <p:nvSpPr>
            <p:cNvPr name="TextBox 19" id="19"/>
            <p:cNvSpPr txBox="true"/>
            <p:nvPr/>
          </p:nvSpPr>
          <p:spPr>
            <a:xfrm>
              <a:off x="0" y="-66675"/>
              <a:ext cx="585906" cy="491722"/>
            </a:xfrm>
            <a:prstGeom prst="rect">
              <a:avLst/>
            </a:prstGeom>
          </p:spPr>
          <p:txBody>
            <a:bodyPr anchor="ctr" rtlCol="false" tIns="50800" lIns="50800" bIns="50800" rIns="50800"/>
            <a:lstStyle/>
            <a:p>
              <a:pPr algn="ctr">
                <a:lnSpc>
                  <a:spcPts val="3000"/>
                </a:lnSpc>
              </a:pPr>
              <a:r>
                <a:rPr lang="en-US" sz="2000" spc="60">
                  <a:solidFill>
                    <a:srgbClr val="FFFFFF"/>
                  </a:solidFill>
                  <a:latin typeface="Aileron"/>
                  <a:ea typeface="Aileron"/>
                  <a:cs typeface="Aileron"/>
                  <a:sym typeface="Aileron"/>
                </a:rPr>
                <a:t>Có hiện tượng chờ đợi vòng tròn</a:t>
              </a:r>
            </a:p>
          </p:txBody>
        </p:sp>
      </p:grpSp>
      <p:sp>
        <p:nvSpPr>
          <p:cNvPr name="AutoShape 20" id="20"/>
          <p:cNvSpPr/>
          <p:nvPr/>
        </p:nvSpPr>
        <p:spPr>
          <a:xfrm flipH="true">
            <a:off x="1348643" y="6574273"/>
            <a:ext cx="4121894" cy="2098521"/>
          </a:xfrm>
          <a:prstGeom prst="line">
            <a:avLst/>
          </a:prstGeom>
          <a:ln cap="flat" w="38100">
            <a:solidFill>
              <a:srgbClr val="F95C32"/>
            </a:solidFill>
            <a:prstDash val="solid"/>
            <a:headEnd type="none" len="sm" w="sm"/>
            <a:tailEnd type="triangle" len="med" w="lg"/>
          </a:ln>
        </p:spPr>
      </p:sp>
      <p:sp>
        <p:nvSpPr>
          <p:cNvPr name="AutoShape 21" id="21"/>
          <p:cNvSpPr/>
          <p:nvPr/>
        </p:nvSpPr>
        <p:spPr>
          <a:xfrm flipH="true">
            <a:off x="4296735" y="7050399"/>
            <a:ext cx="820806" cy="1577380"/>
          </a:xfrm>
          <a:prstGeom prst="line">
            <a:avLst/>
          </a:prstGeom>
          <a:ln cap="flat" w="38100">
            <a:solidFill>
              <a:srgbClr val="F95C32"/>
            </a:solidFill>
            <a:prstDash val="solid"/>
            <a:headEnd type="none" len="sm" w="sm"/>
            <a:tailEnd type="triangle" len="med" w="lg"/>
          </a:ln>
        </p:spPr>
      </p:sp>
      <p:sp>
        <p:nvSpPr>
          <p:cNvPr name="AutoShape 22" id="22"/>
          <p:cNvSpPr/>
          <p:nvPr/>
        </p:nvSpPr>
        <p:spPr>
          <a:xfrm>
            <a:off x="5900317" y="6557296"/>
            <a:ext cx="1153157" cy="2115854"/>
          </a:xfrm>
          <a:prstGeom prst="line">
            <a:avLst/>
          </a:prstGeom>
          <a:ln cap="flat" w="38100">
            <a:solidFill>
              <a:srgbClr val="F95C32"/>
            </a:solidFill>
            <a:prstDash val="solid"/>
            <a:headEnd type="none" len="sm" w="sm"/>
            <a:tailEnd type="triangle" len="med" w="lg"/>
          </a:ln>
        </p:spPr>
      </p:sp>
      <p:sp>
        <p:nvSpPr>
          <p:cNvPr name="AutoShape 23" id="23"/>
          <p:cNvSpPr/>
          <p:nvPr/>
        </p:nvSpPr>
        <p:spPr>
          <a:xfrm>
            <a:off x="5900317" y="6557296"/>
            <a:ext cx="3970179" cy="2115498"/>
          </a:xfrm>
          <a:prstGeom prst="line">
            <a:avLst/>
          </a:prstGeom>
          <a:ln cap="flat" w="38100">
            <a:solidFill>
              <a:srgbClr val="F95C32"/>
            </a:solidFill>
            <a:prstDash val="solid"/>
            <a:headEnd type="none" len="sm" w="sm"/>
            <a:tailEnd type="triangle" len="med" w="lg"/>
          </a:ln>
        </p:spPr>
      </p:sp>
      <p:sp>
        <p:nvSpPr>
          <p:cNvPr name="Freeform 24" id="24"/>
          <p:cNvSpPr/>
          <p:nvPr/>
        </p:nvSpPr>
        <p:spPr>
          <a:xfrm flipH="false" flipV="false" rot="0">
            <a:off x="9848022" y="4214983"/>
            <a:ext cx="6644874" cy="1957217"/>
          </a:xfrm>
          <a:custGeom>
            <a:avLst/>
            <a:gdLst/>
            <a:ahLst/>
            <a:cxnLst/>
            <a:rect r="r" b="b" t="t" l="l"/>
            <a:pathLst>
              <a:path h="1957217" w="6644874">
                <a:moveTo>
                  <a:pt x="0" y="0"/>
                </a:moveTo>
                <a:lnTo>
                  <a:pt x="6644873" y="0"/>
                </a:lnTo>
                <a:lnTo>
                  <a:pt x="6644873" y="1957217"/>
                </a:lnTo>
                <a:lnTo>
                  <a:pt x="0" y="19572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11215230" y="6280870"/>
            <a:ext cx="4292227" cy="998918"/>
          </a:xfrm>
          <a:custGeom>
            <a:avLst/>
            <a:gdLst/>
            <a:ahLst/>
            <a:cxnLst/>
            <a:rect r="r" b="b" t="t" l="l"/>
            <a:pathLst>
              <a:path h="998918" w="4292227">
                <a:moveTo>
                  <a:pt x="0" y="0"/>
                </a:moveTo>
                <a:lnTo>
                  <a:pt x="4292227" y="0"/>
                </a:lnTo>
                <a:lnTo>
                  <a:pt x="4292227" y="998918"/>
                </a:lnTo>
                <a:lnTo>
                  <a:pt x="0" y="998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1240010" y="7372764"/>
            <a:ext cx="4292227" cy="998918"/>
          </a:xfrm>
          <a:custGeom>
            <a:avLst/>
            <a:gdLst/>
            <a:ahLst/>
            <a:cxnLst/>
            <a:rect r="r" b="b" t="t" l="l"/>
            <a:pathLst>
              <a:path h="998918" w="4292227">
                <a:moveTo>
                  <a:pt x="0" y="0"/>
                </a:moveTo>
                <a:lnTo>
                  <a:pt x="4292227" y="0"/>
                </a:lnTo>
                <a:lnTo>
                  <a:pt x="4292227" y="998919"/>
                </a:lnTo>
                <a:lnTo>
                  <a:pt x="0" y="9989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11264045" y="8406273"/>
            <a:ext cx="4292227" cy="998918"/>
          </a:xfrm>
          <a:custGeom>
            <a:avLst/>
            <a:gdLst/>
            <a:ahLst/>
            <a:cxnLst/>
            <a:rect r="r" b="b" t="t" l="l"/>
            <a:pathLst>
              <a:path h="998918" w="4292227">
                <a:moveTo>
                  <a:pt x="0" y="0"/>
                </a:moveTo>
                <a:lnTo>
                  <a:pt x="4292227" y="0"/>
                </a:lnTo>
                <a:lnTo>
                  <a:pt x="4292227" y="998918"/>
                </a:lnTo>
                <a:lnTo>
                  <a:pt x="0" y="998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6222729" y="185690"/>
            <a:ext cx="5554121" cy="1314545"/>
          </a:xfrm>
          <a:prstGeom prst="rect">
            <a:avLst/>
          </a:prstGeom>
        </p:spPr>
        <p:txBody>
          <a:bodyPr anchor="t" rtlCol="false" tIns="0" lIns="0" bIns="0" rIns="0">
            <a:spAutoFit/>
          </a:bodyPr>
          <a:lstStyle/>
          <a:p>
            <a:pPr algn="ctr">
              <a:lnSpc>
                <a:spcPts val="9587"/>
              </a:lnSpc>
              <a:spcBef>
                <a:spcPct val="0"/>
              </a:spcBef>
            </a:pPr>
            <a:r>
              <a:rPr lang="en-US" sz="6947" spc="680">
                <a:solidFill>
                  <a:srgbClr val="F95C32"/>
                </a:solidFill>
                <a:latin typeface="Bungee Shade"/>
                <a:ea typeface="Bungee Shade"/>
                <a:cs typeface="Bungee Shade"/>
                <a:sym typeface="Bungee Shade"/>
              </a:rPr>
              <a:t>4.BẾ TẮC</a:t>
            </a:r>
          </a:p>
        </p:txBody>
      </p:sp>
      <p:sp>
        <p:nvSpPr>
          <p:cNvPr name="TextBox 29" id="29"/>
          <p:cNvSpPr txBox="true"/>
          <p:nvPr/>
        </p:nvSpPr>
        <p:spPr>
          <a:xfrm rot="0">
            <a:off x="469286" y="2370816"/>
            <a:ext cx="16230600" cy="1844005"/>
          </a:xfrm>
          <a:prstGeom prst="rect">
            <a:avLst/>
          </a:prstGeom>
        </p:spPr>
        <p:txBody>
          <a:bodyPr anchor="t" rtlCol="false" tIns="0" lIns="0" bIns="0" rIns="0">
            <a:spAutoFit/>
          </a:bodyPr>
          <a:lstStyle/>
          <a:p>
            <a:pPr algn="ctr">
              <a:lnSpc>
                <a:spcPts val="3682"/>
              </a:lnSpc>
            </a:pPr>
            <a:r>
              <a:rPr lang="en-US" b="true" sz="2668" spc="261">
                <a:solidFill>
                  <a:srgbClr val="F4592F"/>
                </a:solidFill>
                <a:latin typeface="DM Sans Bold"/>
                <a:ea typeface="DM Sans Bold"/>
                <a:cs typeface="DM Sans Bold"/>
                <a:sym typeface="DM Sans Bold"/>
              </a:rPr>
              <a:t>- BẾ TẮC LÀ TRẠNG THÁI KHI HAI HOẶC NHIỀU TIẾN TRÌNH CÙNG CHỜ ĐỢI MỘT SỐ SỰ KIỆN NÀO ĐÓ VÀ NẾU KHÔNG CÓ TÁC ĐỘNG ĐẶC BIỆT TỪ BÊN NGOÀI THÌ SỰ CHỜ ĐỢI ĐÓ LÀ VÔ HẠN.</a:t>
            </a:r>
          </a:p>
          <a:p>
            <a:pPr algn="ctr">
              <a:lnSpc>
                <a:spcPts val="3682"/>
              </a:lnSpc>
              <a:spcBef>
                <a:spcPct val="0"/>
              </a:spcBef>
            </a:pPr>
          </a:p>
        </p:txBody>
      </p:sp>
      <p:sp>
        <p:nvSpPr>
          <p:cNvPr name="TextBox 30" id="30"/>
          <p:cNvSpPr txBox="true"/>
          <p:nvPr/>
        </p:nvSpPr>
        <p:spPr>
          <a:xfrm rot="0">
            <a:off x="-1452282" y="1727269"/>
            <a:ext cx="7675011" cy="587376"/>
          </a:xfrm>
          <a:prstGeom prst="rect">
            <a:avLst/>
          </a:prstGeom>
        </p:spPr>
        <p:txBody>
          <a:bodyPr anchor="t" rtlCol="false" tIns="0" lIns="0" bIns="0" rIns="0">
            <a:spAutoFit/>
          </a:bodyPr>
          <a:lstStyle/>
          <a:p>
            <a:pPr algn="ctr">
              <a:lnSpc>
                <a:spcPts val="4899"/>
              </a:lnSpc>
            </a:pPr>
            <a:r>
              <a:rPr lang="en-US" sz="3499" b="true">
                <a:solidFill>
                  <a:srgbClr val="000000"/>
                </a:solidFill>
                <a:latin typeface="Noto Sans Bold"/>
                <a:ea typeface="Noto Sans Bold"/>
                <a:cs typeface="Noto Sans Bold"/>
                <a:sym typeface="Noto Sans Bold"/>
              </a:rPr>
              <a:t>Khái niệm</a:t>
            </a:r>
          </a:p>
        </p:txBody>
      </p:sp>
      <p:sp>
        <p:nvSpPr>
          <p:cNvPr name="TextBox 31" id="31"/>
          <p:cNvSpPr txBox="true"/>
          <p:nvPr/>
        </p:nvSpPr>
        <p:spPr>
          <a:xfrm rot="0">
            <a:off x="3296011" y="4623453"/>
            <a:ext cx="4512458" cy="1657417"/>
          </a:xfrm>
          <a:prstGeom prst="rect">
            <a:avLst/>
          </a:prstGeom>
        </p:spPr>
        <p:txBody>
          <a:bodyPr anchor="t" rtlCol="false" tIns="0" lIns="0" bIns="0" rIns="0">
            <a:spAutoFit/>
          </a:bodyPr>
          <a:lstStyle/>
          <a:p>
            <a:pPr algn="ctr">
              <a:lnSpc>
                <a:spcPts val="2992"/>
              </a:lnSpc>
            </a:pPr>
            <a:r>
              <a:rPr lang="en-US" b="true" sz="2168" spc="212">
                <a:solidFill>
                  <a:srgbClr val="000000"/>
                </a:solidFill>
                <a:latin typeface="DM Sans Bold"/>
                <a:ea typeface="DM Sans Bold"/>
                <a:cs typeface="DM Sans Bold"/>
                <a:sym typeface="DM Sans Bold"/>
              </a:rPr>
              <a:t>- HIỆN TƯỢNG BẾ TẮC XẢY RA KHI VÀ CHỈ KHI TRONG HỆ THỐNG TỒN TẠI BỐN ĐIỀU KIỆN:</a:t>
            </a:r>
          </a:p>
          <a:p>
            <a:pPr algn="ctr">
              <a:lnSpc>
                <a:spcPts val="1198"/>
              </a:lnSpc>
              <a:spcBef>
                <a:spcPct val="0"/>
              </a:spcBef>
            </a:pPr>
          </a:p>
        </p:txBody>
      </p:sp>
      <p:sp>
        <p:nvSpPr>
          <p:cNvPr name="TextBox 32" id="32"/>
          <p:cNvSpPr txBox="true"/>
          <p:nvPr/>
        </p:nvSpPr>
        <p:spPr>
          <a:xfrm rot="0">
            <a:off x="10512306" y="4537814"/>
            <a:ext cx="5316305" cy="933397"/>
          </a:xfrm>
          <a:prstGeom prst="rect">
            <a:avLst/>
          </a:prstGeom>
        </p:spPr>
        <p:txBody>
          <a:bodyPr anchor="t" rtlCol="false" tIns="0" lIns="0" bIns="0" rIns="0">
            <a:spAutoFit/>
          </a:bodyPr>
          <a:lstStyle/>
          <a:p>
            <a:pPr algn="ctr">
              <a:lnSpc>
                <a:spcPts val="3752"/>
              </a:lnSpc>
              <a:spcBef>
                <a:spcPct val="0"/>
              </a:spcBef>
            </a:pPr>
            <a:r>
              <a:rPr lang="en-US" sz="2501" spc="75">
                <a:solidFill>
                  <a:srgbClr val="000000"/>
                </a:solidFill>
                <a:latin typeface="Aileron"/>
                <a:ea typeface="Aileron"/>
                <a:cs typeface="Aileron"/>
                <a:sym typeface="Aileron"/>
              </a:rPr>
              <a:t>Để tránh hiện tượng bế tắc, thông thường hệ thống áp dụng ba mức</a:t>
            </a:r>
          </a:p>
        </p:txBody>
      </p:sp>
      <p:sp>
        <p:nvSpPr>
          <p:cNvPr name="TextBox 33" id="33"/>
          <p:cNvSpPr txBox="true"/>
          <p:nvPr/>
        </p:nvSpPr>
        <p:spPr>
          <a:xfrm rot="0">
            <a:off x="11626692" y="6480878"/>
            <a:ext cx="3469302" cy="501141"/>
          </a:xfrm>
          <a:prstGeom prst="rect">
            <a:avLst/>
          </a:prstGeom>
        </p:spPr>
        <p:txBody>
          <a:bodyPr anchor="t" rtlCol="false" tIns="0" lIns="0" bIns="0" rIns="0">
            <a:spAutoFit/>
          </a:bodyPr>
          <a:lstStyle/>
          <a:p>
            <a:pPr algn="ctr">
              <a:lnSpc>
                <a:spcPts val="4182"/>
              </a:lnSpc>
              <a:spcBef>
                <a:spcPct val="0"/>
              </a:spcBef>
            </a:pPr>
            <a:r>
              <a:rPr lang="en-US" sz="2788" spc="83">
                <a:solidFill>
                  <a:srgbClr val="000000"/>
                </a:solidFill>
                <a:latin typeface="Aileron"/>
                <a:ea typeface="Aileron"/>
                <a:cs typeface="Aileron"/>
                <a:sym typeface="Aileron"/>
              </a:rPr>
              <a:t>Ngăn ngừa bế tắc</a:t>
            </a:r>
          </a:p>
        </p:txBody>
      </p:sp>
      <p:sp>
        <p:nvSpPr>
          <p:cNvPr name="TextBox 34" id="34"/>
          <p:cNvSpPr txBox="true"/>
          <p:nvPr/>
        </p:nvSpPr>
        <p:spPr>
          <a:xfrm rot="0">
            <a:off x="11730031" y="7603638"/>
            <a:ext cx="3360254" cy="481679"/>
          </a:xfrm>
          <a:prstGeom prst="rect">
            <a:avLst/>
          </a:prstGeom>
        </p:spPr>
        <p:txBody>
          <a:bodyPr anchor="t" rtlCol="false" tIns="0" lIns="0" bIns="0" rIns="0">
            <a:spAutoFit/>
          </a:bodyPr>
          <a:lstStyle/>
          <a:p>
            <a:pPr algn="ctr">
              <a:lnSpc>
                <a:spcPts val="3990"/>
              </a:lnSpc>
              <a:spcBef>
                <a:spcPct val="0"/>
              </a:spcBef>
            </a:pPr>
            <a:r>
              <a:rPr lang="en-US" sz="2660" spc="79">
                <a:solidFill>
                  <a:srgbClr val="000000"/>
                </a:solidFill>
                <a:latin typeface="Aileron"/>
                <a:ea typeface="Aileron"/>
                <a:cs typeface="Aileron"/>
                <a:sym typeface="Aileron"/>
              </a:rPr>
              <a:t>Dự bị và tránh bế tắc</a:t>
            </a:r>
          </a:p>
        </p:txBody>
      </p:sp>
      <p:sp>
        <p:nvSpPr>
          <p:cNvPr name="TextBox 35" id="35"/>
          <p:cNvSpPr txBox="true"/>
          <p:nvPr/>
        </p:nvSpPr>
        <p:spPr>
          <a:xfrm rot="0">
            <a:off x="10339118" y="8532529"/>
            <a:ext cx="6360769" cy="546941"/>
          </a:xfrm>
          <a:prstGeom prst="rect">
            <a:avLst/>
          </a:prstGeom>
        </p:spPr>
        <p:txBody>
          <a:bodyPr anchor="t" rtlCol="false" tIns="0" lIns="0" bIns="0" rIns="0">
            <a:spAutoFit/>
          </a:bodyPr>
          <a:lstStyle/>
          <a:p>
            <a:pPr algn="ctr">
              <a:lnSpc>
                <a:spcPts val="4445"/>
              </a:lnSpc>
              <a:spcBef>
                <a:spcPct val="0"/>
              </a:spcBef>
            </a:pPr>
            <a:r>
              <a:rPr lang="en-US" sz="2963" spc="88">
                <a:solidFill>
                  <a:srgbClr val="000000"/>
                </a:solidFill>
                <a:latin typeface="Aileron"/>
                <a:ea typeface="Aileron"/>
                <a:cs typeface="Aileron"/>
                <a:sym typeface="Aileron"/>
              </a:rPr>
              <a:t>Xử lý bế tắc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16342" y="0"/>
            <a:ext cx="4407031" cy="9917114"/>
            <a:chOff x="0" y="0"/>
            <a:chExt cx="3089116" cy="6951419"/>
          </a:xfrm>
        </p:grpSpPr>
        <p:sp>
          <p:nvSpPr>
            <p:cNvPr name="Freeform 4" id="4"/>
            <p:cNvSpPr/>
            <p:nvPr/>
          </p:nvSpPr>
          <p:spPr>
            <a:xfrm flipH="false" flipV="false" rot="0">
              <a:off x="80010" y="80010"/>
              <a:ext cx="2996406" cy="6858709"/>
            </a:xfrm>
            <a:custGeom>
              <a:avLst/>
              <a:gdLst/>
              <a:ahLst/>
              <a:cxnLst/>
              <a:rect r="r" b="b" t="t" l="l"/>
              <a:pathLst>
                <a:path h="6858709" w="2996406">
                  <a:moveTo>
                    <a:pt x="0" y="6804099"/>
                  </a:moveTo>
                  <a:lnTo>
                    <a:pt x="0" y="6858709"/>
                  </a:lnTo>
                  <a:lnTo>
                    <a:pt x="2996406" y="6858709"/>
                  </a:lnTo>
                  <a:lnTo>
                    <a:pt x="2996406" y="0"/>
                  </a:lnTo>
                  <a:lnTo>
                    <a:pt x="2941796" y="0"/>
                  </a:lnTo>
                  <a:lnTo>
                    <a:pt x="2941796" y="6804099"/>
                  </a:lnTo>
                  <a:close/>
                </a:path>
              </a:pathLst>
            </a:custGeom>
            <a:solidFill>
              <a:srgbClr val="B6E3F9"/>
            </a:solidFill>
          </p:spPr>
        </p:sp>
        <p:sp>
          <p:nvSpPr>
            <p:cNvPr name="Freeform 5" id="5"/>
            <p:cNvSpPr/>
            <p:nvPr/>
          </p:nvSpPr>
          <p:spPr>
            <a:xfrm flipH="false" flipV="false" rot="0">
              <a:off x="67310" y="67310"/>
              <a:ext cx="3021806" cy="6884109"/>
            </a:xfrm>
            <a:custGeom>
              <a:avLst/>
              <a:gdLst/>
              <a:ahLst/>
              <a:cxnLst/>
              <a:rect r="r" b="b" t="t" l="l"/>
              <a:pathLst>
                <a:path h="6884109" w="3021806">
                  <a:moveTo>
                    <a:pt x="2954496" y="0"/>
                  </a:moveTo>
                  <a:lnTo>
                    <a:pt x="2954496" y="12700"/>
                  </a:lnTo>
                  <a:lnTo>
                    <a:pt x="3009106" y="12700"/>
                  </a:lnTo>
                  <a:lnTo>
                    <a:pt x="3009106" y="6871409"/>
                  </a:lnTo>
                  <a:lnTo>
                    <a:pt x="12700" y="6871409"/>
                  </a:lnTo>
                  <a:lnTo>
                    <a:pt x="12700" y="6816799"/>
                  </a:lnTo>
                  <a:lnTo>
                    <a:pt x="0" y="6816799"/>
                  </a:lnTo>
                  <a:lnTo>
                    <a:pt x="0" y="6884109"/>
                  </a:lnTo>
                  <a:lnTo>
                    <a:pt x="3021806" y="6884109"/>
                  </a:lnTo>
                  <a:lnTo>
                    <a:pt x="3021806" y="0"/>
                  </a:lnTo>
                  <a:close/>
                </a:path>
              </a:pathLst>
            </a:custGeom>
            <a:solidFill>
              <a:srgbClr val="000000"/>
            </a:solidFill>
          </p:spPr>
        </p:sp>
        <p:sp>
          <p:nvSpPr>
            <p:cNvPr name="Freeform 6" id="6"/>
            <p:cNvSpPr/>
            <p:nvPr/>
          </p:nvSpPr>
          <p:spPr>
            <a:xfrm flipH="false" flipV="false" rot="0">
              <a:off x="12700" y="12700"/>
              <a:ext cx="2996406" cy="6858709"/>
            </a:xfrm>
            <a:custGeom>
              <a:avLst/>
              <a:gdLst/>
              <a:ahLst/>
              <a:cxnLst/>
              <a:rect r="r" b="b" t="t" l="l"/>
              <a:pathLst>
                <a:path h="6858709" w="2996406">
                  <a:moveTo>
                    <a:pt x="0" y="0"/>
                  </a:moveTo>
                  <a:lnTo>
                    <a:pt x="2996406" y="0"/>
                  </a:lnTo>
                  <a:lnTo>
                    <a:pt x="2996406" y="6858709"/>
                  </a:lnTo>
                  <a:lnTo>
                    <a:pt x="0" y="6858709"/>
                  </a:lnTo>
                  <a:close/>
                </a:path>
              </a:pathLst>
            </a:custGeom>
            <a:solidFill>
              <a:srgbClr val="FFFFFF"/>
            </a:solidFill>
          </p:spPr>
        </p:sp>
        <p:sp>
          <p:nvSpPr>
            <p:cNvPr name="Freeform 7" id="7"/>
            <p:cNvSpPr/>
            <p:nvPr/>
          </p:nvSpPr>
          <p:spPr>
            <a:xfrm flipH="false" flipV="false" rot="0">
              <a:off x="0" y="0"/>
              <a:ext cx="3021806" cy="6884109"/>
            </a:xfrm>
            <a:custGeom>
              <a:avLst/>
              <a:gdLst/>
              <a:ahLst/>
              <a:cxnLst/>
              <a:rect r="r" b="b" t="t" l="l"/>
              <a:pathLst>
                <a:path h="6884109" w="3021806">
                  <a:moveTo>
                    <a:pt x="80010" y="6884109"/>
                  </a:moveTo>
                  <a:lnTo>
                    <a:pt x="3021806" y="6884109"/>
                  </a:lnTo>
                  <a:lnTo>
                    <a:pt x="3021806" y="80010"/>
                  </a:lnTo>
                  <a:lnTo>
                    <a:pt x="3021806" y="67310"/>
                  </a:lnTo>
                  <a:lnTo>
                    <a:pt x="3021806" y="0"/>
                  </a:lnTo>
                  <a:lnTo>
                    <a:pt x="0" y="0"/>
                  </a:lnTo>
                  <a:lnTo>
                    <a:pt x="0" y="6884109"/>
                  </a:lnTo>
                  <a:lnTo>
                    <a:pt x="67310" y="6884109"/>
                  </a:lnTo>
                  <a:lnTo>
                    <a:pt x="80010" y="6884109"/>
                  </a:lnTo>
                  <a:close/>
                  <a:moveTo>
                    <a:pt x="12700" y="12700"/>
                  </a:moveTo>
                  <a:lnTo>
                    <a:pt x="3009106" y="12700"/>
                  </a:lnTo>
                  <a:lnTo>
                    <a:pt x="3009106" y="6871409"/>
                  </a:lnTo>
                  <a:lnTo>
                    <a:pt x="12700" y="6871409"/>
                  </a:lnTo>
                  <a:lnTo>
                    <a:pt x="12700" y="12700"/>
                  </a:lnTo>
                  <a:close/>
                </a:path>
              </a:pathLst>
            </a:custGeom>
            <a:solidFill>
              <a:srgbClr val="000000"/>
            </a:solidFill>
          </p:spPr>
        </p:sp>
      </p:grpSp>
      <p:grpSp>
        <p:nvGrpSpPr>
          <p:cNvPr name="Group 8" id="8"/>
          <p:cNvGrpSpPr/>
          <p:nvPr/>
        </p:nvGrpSpPr>
        <p:grpSpPr>
          <a:xfrm rot="0">
            <a:off x="12220937" y="0"/>
            <a:ext cx="6067063" cy="6412717"/>
            <a:chOff x="0" y="0"/>
            <a:chExt cx="4252719" cy="4495006"/>
          </a:xfrm>
        </p:grpSpPr>
        <p:sp>
          <p:nvSpPr>
            <p:cNvPr name="Freeform 9" id="9"/>
            <p:cNvSpPr/>
            <p:nvPr/>
          </p:nvSpPr>
          <p:spPr>
            <a:xfrm flipH="false" flipV="false" rot="0">
              <a:off x="80010" y="80010"/>
              <a:ext cx="4160009" cy="4402296"/>
            </a:xfrm>
            <a:custGeom>
              <a:avLst/>
              <a:gdLst/>
              <a:ahLst/>
              <a:cxnLst/>
              <a:rect r="r" b="b" t="t" l="l"/>
              <a:pathLst>
                <a:path h="4402296" w="4160009">
                  <a:moveTo>
                    <a:pt x="0" y="4347686"/>
                  </a:moveTo>
                  <a:lnTo>
                    <a:pt x="0" y="4402296"/>
                  </a:lnTo>
                  <a:lnTo>
                    <a:pt x="4160009" y="4402296"/>
                  </a:lnTo>
                  <a:lnTo>
                    <a:pt x="4160009" y="0"/>
                  </a:lnTo>
                  <a:lnTo>
                    <a:pt x="4105399" y="0"/>
                  </a:lnTo>
                  <a:lnTo>
                    <a:pt x="4105399" y="4347686"/>
                  </a:lnTo>
                  <a:close/>
                </a:path>
              </a:pathLst>
            </a:custGeom>
            <a:solidFill>
              <a:srgbClr val="FDF9B4"/>
            </a:solidFill>
          </p:spPr>
        </p:sp>
        <p:sp>
          <p:nvSpPr>
            <p:cNvPr name="Freeform 10" id="10"/>
            <p:cNvSpPr/>
            <p:nvPr/>
          </p:nvSpPr>
          <p:spPr>
            <a:xfrm flipH="false" flipV="false" rot="0">
              <a:off x="67310" y="67310"/>
              <a:ext cx="4185409" cy="4427696"/>
            </a:xfrm>
            <a:custGeom>
              <a:avLst/>
              <a:gdLst/>
              <a:ahLst/>
              <a:cxnLst/>
              <a:rect r="r" b="b" t="t" l="l"/>
              <a:pathLst>
                <a:path h="4427696" w="4185409">
                  <a:moveTo>
                    <a:pt x="4118099" y="0"/>
                  </a:moveTo>
                  <a:lnTo>
                    <a:pt x="4118099" y="12700"/>
                  </a:lnTo>
                  <a:lnTo>
                    <a:pt x="4172709" y="12700"/>
                  </a:lnTo>
                  <a:lnTo>
                    <a:pt x="4172709" y="4414996"/>
                  </a:lnTo>
                  <a:lnTo>
                    <a:pt x="12700" y="4414996"/>
                  </a:lnTo>
                  <a:lnTo>
                    <a:pt x="12700" y="4360386"/>
                  </a:lnTo>
                  <a:lnTo>
                    <a:pt x="0" y="4360386"/>
                  </a:lnTo>
                  <a:lnTo>
                    <a:pt x="0" y="4427696"/>
                  </a:lnTo>
                  <a:lnTo>
                    <a:pt x="4185409" y="4427696"/>
                  </a:lnTo>
                  <a:lnTo>
                    <a:pt x="4185409" y="0"/>
                  </a:lnTo>
                  <a:close/>
                </a:path>
              </a:pathLst>
            </a:custGeom>
            <a:solidFill>
              <a:srgbClr val="000000"/>
            </a:solidFill>
          </p:spPr>
        </p:sp>
        <p:sp>
          <p:nvSpPr>
            <p:cNvPr name="Freeform 11" id="11"/>
            <p:cNvSpPr/>
            <p:nvPr/>
          </p:nvSpPr>
          <p:spPr>
            <a:xfrm flipH="false" flipV="false" rot="0">
              <a:off x="12700" y="12700"/>
              <a:ext cx="4160009" cy="4402296"/>
            </a:xfrm>
            <a:custGeom>
              <a:avLst/>
              <a:gdLst/>
              <a:ahLst/>
              <a:cxnLst/>
              <a:rect r="r" b="b" t="t" l="l"/>
              <a:pathLst>
                <a:path h="4402296" w="4160009">
                  <a:moveTo>
                    <a:pt x="0" y="0"/>
                  </a:moveTo>
                  <a:lnTo>
                    <a:pt x="4160009" y="0"/>
                  </a:lnTo>
                  <a:lnTo>
                    <a:pt x="4160009" y="4402296"/>
                  </a:lnTo>
                  <a:lnTo>
                    <a:pt x="0" y="4402296"/>
                  </a:lnTo>
                  <a:close/>
                </a:path>
              </a:pathLst>
            </a:custGeom>
            <a:solidFill>
              <a:srgbClr val="FFFFFF"/>
            </a:solidFill>
          </p:spPr>
        </p:sp>
        <p:sp>
          <p:nvSpPr>
            <p:cNvPr name="Freeform 12" id="12"/>
            <p:cNvSpPr/>
            <p:nvPr/>
          </p:nvSpPr>
          <p:spPr>
            <a:xfrm flipH="false" flipV="false" rot="0">
              <a:off x="0" y="0"/>
              <a:ext cx="4185409" cy="4427696"/>
            </a:xfrm>
            <a:custGeom>
              <a:avLst/>
              <a:gdLst/>
              <a:ahLst/>
              <a:cxnLst/>
              <a:rect r="r" b="b" t="t" l="l"/>
              <a:pathLst>
                <a:path h="4427696" w="4185409">
                  <a:moveTo>
                    <a:pt x="80010" y="4427696"/>
                  </a:moveTo>
                  <a:lnTo>
                    <a:pt x="4185409" y="4427696"/>
                  </a:lnTo>
                  <a:lnTo>
                    <a:pt x="4185409" y="80010"/>
                  </a:lnTo>
                  <a:lnTo>
                    <a:pt x="4185409" y="67310"/>
                  </a:lnTo>
                  <a:lnTo>
                    <a:pt x="4185409" y="0"/>
                  </a:lnTo>
                  <a:lnTo>
                    <a:pt x="0" y="0"/>
                  </a:lnTo>
                  <a:lnTo>
                    <a:pt x="0" y="4427696"/>
                  </a:lnTo>
                  <a:lnTo>
                    <a:pt x="67310" y="4427696"/>
                  </a:lnTo>
                  <a:lnTo>
                    <a:pt x="80010" y="4427696"/>
                  </a:lnTo>
                  <a:close/>
                  <a:moveTo>
                    <a:pt x="12700" y="12700"/>
                  </a:moveTo>
                  <a:lnTo>
                    <a:pt x="4172709" y="12700"/>
                  </a:lnTo>
                  <a:lnTo>
                    <a:pt x="4172709" y="4414996"/>
                  </a:lnTo>
                  <a:lnTo>
                    <a:pt x="12700" y="4414996"/>
                  </a:lnTo>
                  <a:lnTo>
                    <a:pt x="12700" y="12700"/>
                  </a:lnTo>
                  <a:close/>
                </a:path>
              </a:pathLst>
            </a:custGeom>
            <a:solidFill>
              <a:srgbClr val="000000"/>
            </a:solidFill>
          </p:spPr>
        </p:sp>
      </p:grpSp>
      <p:grpSp>
        <p:nvGrpSpPr>
          <p:cNvPr name="Group 13" id="13"/>
          <p:cNvGrpSpPr/>
          <p:nvPr/>
        </p:nvGrpSpPr>
        <p:grpSpPr>
          <a:xfrm rot="0">
            <a:off x="5010903" y="0"/>
            <a:ext cx="6841842" cy="6412717"/>
            <a:chOff x="0" y="0"/>
            <a:chExt cx="4795802" cy="4495006"/>
          </a:xfrm>
        </p:grpSpPr>
        <p:sp>
          <p:nvSpPr>
            <p:cNvPr name="Freeform 14" id="14"/>
            <p:cNvSpPr/>
            <p:nvPr/>
          </p:nvSpPr>
          <p:spPr>
            <a:xfrm flipH="false" flipV="false" rot="0">
              <a:off x="80010" y="80010"/>
              <a:ext cx="4703092" cy="4402296"/>
            </a:xfrm>
            <a:custGeom>
              <a:avLst/>
              <a:gdLst/>
              <a:ahLst/>
              <a:cxnLst/>
              <a:rect r="r" b="b" t="t" l="l"/>
              <a:pathLst>
                <a:path h="4402296" w="4703092">
                  <a:moveTo>
                    <a:pt x="0" y="4347686"/>
                  </a:moveTo>
                  <a:lnTo>
                    <a:pt x="0" y="4402296"/>
                  </a:lnTo>
                  <a:lnTo>
                    <a:pt x="4703092" y="4402296"/>
                  </a:lnTo>
                  <a:lnTo>
                    <a:pt x="4703092" y="0"/>
                  </a:lnTo>
                  <a:lnTo>
                    <a:pt x="4648482" y="0"/>
                  </a:lnTo>
                  <a:lnTo>
                    <a:pt x="4648482" y="4347686"/>
                  </a:lnTo>
                  <a:close/>
                </a:path>
              </a:pathLst>
            </a:custGeom>
            <a:solidFill>
              <a:srgbClr val="D1F3C8"/>
            </a:solidFill>
          </p:spPr>
        </p:sp>
        <p:sp>
          <p:nvSpPr>
            <p:cNvPr name="Freeform 15" id="15"/>
            <p:cNvSpPr/>
            <p:nvPr/>
          </p:nvSpPr>
          <p:spPr>
            <a:xfrm flipH="false" flipV="false" rot="0">
              <a:off x="67310" y="67310"/>
              <a:ext cx="4728492" cy="4427696"/>
            </a:xfrm>
            <a:custGeom>
              <a:avLst/>
              <a:gdLst/>
              <a:ahLst/>
              <a:cxnLst/>
              <a:rect r="r" b="b" t="t" l="l"/>
              <a:pathLst>
                <a:path h="4427696" w="4728492">
                  <a:moveTo>
                    <a:pt x="4661182" y="0"/>
                  </a:moveTo>
                  <a:lnTo>
                    <a:pt x="4661182" y="12700"/>
                  </a:lnTo>
                  <a:lnTo>
                    <a:pt x="4715792" y="12700"/>
                  </a:lnTo>
                  <a:lnTo>
                    <a:pt x="4715792" y="4414996"/>
                  </a:lnTo>
                  <a:lnTo>
                    <a:pt x="12700" y="4414996"/>
                  </a:lnTo>
                  <a:lnTo>
                    <a:pt x="12700" y="4360386"/>
                  </a:lnTo>
                  <a:lnTo>
                    <a:pt x="0" y="4360386"/>
                  </a:lnTo>
                  <a:lnTo>
                    <a:pt x="0" y="4427696"/>
                  </a:lnTo>
                  <a:lnTo>
                    <a:pt x="4728492" y="4427696"/>
                  </a:lnTo>
                  <a:lnTo>
                    <a:pt x="4728492" y="0"/>
                  </a:lnTo>
                  <a:close/>
                </a:path>
              </a:pathLst>
            </a:custGeom>
            <a:solidFill>
              <a:srgbClr val="000000"/>
            </a:solidFill>
          </p:spPr>
        </p:sp>
        <p:sp>
          <p:nvSpPr>
            <p:cNvPr name="Freeform 16" id="16"/>
            <p:cNvSpPr/>
            <p:nvPr/>
          </p:nvSpPr>
          <p:spPr>
            <a:xfrm flipH="false" flipV="false" rot="0">
              <a:off x="12700" y="12700"/>
              <a:ext cx="4703092" cy="4402296"/>
            </a:xfrm>
            <a:custGeom>
              <a:avLst/>
              <a:gdLst/>
              <a:ahLst/>
              <a:cxnLst/>
              <a:rect r="r" b="b" t="t" l="l"/>
              <a:pathLst>
                <a:path h="4402296" w="4703092">
                  <a:moveTo>
                    <a:pt x="0" y="0"/>
                  </a:moveTo>
                  <a:lnTo>
                    <a:pt x="4703092" y="0"/>
                  </a:lnTo>
                  <a:lnTo>
                    <a:pt x="4703092" y="4402296"/>
                  </a:lnTo>
                  <a:lnTo>
                    <a:pt x="0" y="4402296"/>
                  </a:lnTo>
                  <a:close/>
                </a:path>
              </a:pathLst>
            </a:custGeom>
            <a:solidFill>
              <a:srgbClr val="FFFFFF"/>
            </a:solidFill>
          </p:spPr>
        </p:sp>
        <p:sp>
          <p:nvSpPr>
            <p:cNvPr name="Freeform 17" id="17"/>
            <p:cNvSpPr/>
            <p:nvPr/>
          </p:nvSpPr>
          <p:spPr>
            <a:xfrm flipH="false" flipV="false" rot="0">
              <a:off x="0" y="0"/>
              <a:ext cx="4728492" cy="4427696"/>
            </a:xfrm>
            <a:custGeom>
              <a:avLst/>
              <a:gdLst/>
              <a:ahLst/>
              <a:cxnLst/>
              <a:rect r="r" b="b" t="t" l="l"/>
              <a:pathLst>
                <a:path h="4427696" w="4728492">
                  <a:moveTo>
                    <a:pt x="80010" y="4427696"/>
                  </a:moveTo>
                  <a:lnTo>
                    <a:pt x="4728492" y="4427696"/>
                  </a:lnTo>
                  <a:lnTo>
                    <a:pt x="4728492" y="80010"/>
                  </a:lnTo>
                  <a:lnTo>
                    <a:pt x="4728492" y="67310"/>
                  </a:lnTo>
                  <a:lnTo>
                    <a:pt x="4728492" y="0"/>
                  </a:lnTo>
                  <a:lnTo>
                    <a:pt x="0" y="0"/>
                  </a:lnTo>
                  <a:lnTo>
                    <a:pt x="0" y="4427696"/>
                  </a:lnTo>
                  <a:lnTo>
                    <a:pt x="67310" y="4427696"/>
                  </a:lnTo>
                  <a:lnTo>
                    <a:pt x="80010" y="4427696"/>
                  </a:lnTo>
                  <a:close/>
                  <a:moveTo>
                    <a:pt x="12700" y="12700"/>
                  </a:moveTo>
                  <a:lnTo>
                    <a:pt x="4715792" y="12700"/>
                  </a:lnTo>
                  <a:lnTo>
                    <a:pt x="4715792" y="4414996"/>
                  </a:lnTo>
                  <a:lnTo>
                    <a:pt x="12700" y="4414996"/>
                  </a:lnTo>
                  <a:lnTo>
                    <a:pt x="12700" y="12700"/>
                  </a:lnTo>
                  <a:close/>
                </a:path>
              </a:pathLst>
            </a:custGeom>
            <a:solidFill>
              <a:srgbClr val="000000"/>
            </a:solidFill>
          </p:spPr>
        </p:sp>
      </p:grpSp>
      <p:grpSp>
        <p:nvGrpSpPr>
          <p:cNvPr name="Group 18" id="18"/>
          <p:cNvGrpSpPr/>
          <p:nvPr/>
        </p:nvGrpSpPr>
        <p:grpSpPr>
          <a:xfrm rot="0">
            <a:off x="5010903" y="6803784"/>
            <a:ext cx="7078446" cy="3113329"/>
            <a:chOff x="0" y="0"/>
            <a:chExt cx="4961650" cy="2182294"/>
          </a:xfrm>
        </p:grpSpPr>
        <p:sp>
          <p:nvSpPr>
            <p:cNvPr name="Freeform 19" id="19"/>
            <p:cNvSpPr/>
            <p:nvPr/>
          </p:nvSpPr>
          <p:spPr>
            <a:xfrm flipH="false" flipV="false" rot="0">
              <a:off x="80010" y="80010"/>
              <a:ext cx="4868939" cy="2089584"/>
            </a:xfrm>
            <a:custGeom>
              <a:avLst/>
              <a:gdLst/>
              <a:ahLst/>
              <a:cxnLst/>
              <a:rect r="r" b="b" t="t" l="l"/>
              <a:pathLst>
                <a:path h="2089584" w="4868939">
                  <a:moveTo>
                    <a:pt x="0" y="2034974"/>
                  </a:moveTo>
                  <a:lnTo>
                    <a:pt x="0" y="2089584"/>
                  </a:lnTo>
                  <a:lnTo>
                    <a:pt x="4868939" y="2089584"/>
                  </a:lnTo>
                  <a:lnTo>
                    <a:pt x="4868939" y="0"/>
                  </a:lnTo>
                  <a:lnTo>
                    <a:pt x="4814330" y="0"/>
                  </a:lnTo>
                  <a:lnTo>
                    <a:pt x="4814330" y="2034974"/>
                  </a:lnTo>
                  <a:close/>
                </a:path>
              </a:pathLst>
            </a:custGeom>
            <a:solidFill>
              <a:srgbClr val="FFA794"/>
            </a:solidFill>
          </p:spPr>
        </p:sp>
        <p:sp>
          <p:nvSpPr>
            <p:cNvPr name="Freeform 20" id="20"/>
            <p:cNvSpPr/>
            <p:nvPr/>
          </p:nvSpPr>
          <p:spPr>
            <a:xfrm flipH="false" flipV="false" rot="0">
              <a:off x="67310" y="67310"/>
              <a:ext cx="4894339" cy="2114984"/>
            </a:xfrm>
            <a:custGeom>
              <a:avLst/>
              <a:gdLst/>
              <a:ahLst/>
              <a:cxnLst/>
              <a:rect r="r" b="b" t="t" l="l"/>
              <a:pathLst>
                <a:path h="2114984" w="4894339">
                  <a:moveTo>
                    <a:pt x="4827030" y="0"/>
                  </a:moveTo>
                  <a:lnTo>
                    <a:pt x="4827030" y="12700"/>
                  </a:lnTo>
                  <a:lnTo>
                    <a:pt x="4881639" y="12700"/>
                  </a:lnTo>
                  <a:lnTo>
                    <a:pt x="4881639" y="2102284"/>
                  </a:lnTo>
                  <a:lnTo>
                    <a:pt x="12700" y="2102284"/>
                  </a:lnTo>
                  <a:lnTo>
                    <a:pt x="12700" y="2047674"/>
                  </a:lnTo>
                  <a:lnTo>
                    <a:pt x="0" y="2047674"/>
                  </a:lnTo>
                  <a:lnTo>
                    <a:pt x="0" y="2114984"/>
                  </a:lnTo>
                  <a:lnTo>
                    <a:pt x="4894339" y="2114984"/>
                  </a:lnTo>
                  <a:lnTo>
                    <a:pt x="4894339" y="0"/>
                  </a:lnTo>
                  <a:close/>
                </a:path>
              </a:pathLst>
            </a:custGeom>
            <a:solidFill>
              <a:srgbClr val="000000"/>
            </a:solidFill>
          </p:spPr>
        </p:sp>
        <p:sp>
          <p:nvSpPr>
            <p:cNvPr name="Freeform 21" id="21"/>
            <p:cNvSpPr/>
            <p:nvPr/>
          </p:nvSpPr>
          <p:spPr>
            <a:xfrm flipH="false" flipV="false" rot="0">
              <a:off x="12700" y="12700"/>
              <a:ext cx="4868940" cy="2089584"/>
            </a:xfrm>
            <a:custGeom>
              <a:avLst/>
              <a:gdLst/>
              <a:ahLst/>
              <a:cxnLst/>
              <a:rect r="r" b="b" t="t" l="l"/>
              <a:pathLst>
                <a:path h="2089584" w="4868940">
                  <a:moveTo>
                    <a:pt x="0" y="0"/>
                  </a:moveTo>
                  <a:lnTo>
                    <a:pt x="4868940" y="0"/>
                  </a:lnTo>
                  <a:lnTo>
                    <a:pt x="4868940" y="2089584"/>
                  </a:lnTo>
                  <a:lnTo>
                    <a:pt x="0" y="2089584"/>
                  </a:lnTo>
                  <a:close/>
                </a:path>
              </a:pathLst>
            </a:custGeom>
            <a:solidFill>
              <a:srgbClr val="FFFFFF"/>
            </a:solidFill>
          </p:spPr>
        </p:sp>
        <p:sp>
          <p:nvSpPr>
            <p:cNvPr name="Freeform 22" id="22"/>
            <p:cNvSpPr/>
            <p:nvPr/>
          </p:nvSpPr>
          <p:spPr>
            <a:xfrm flipH="false" flipV="false" rot="0">
              <a:off x="0" y="0"/>
              <a:ext cx="4894340" cy="2114984"/>
            </a:xfrm>
            <a:custGeom>
              <a:avLst/>
              <a:gdLst/>
              <a:ahLst/>
              <a:cxnLst/>
              <a:rect r="r" b="b" t="t" l="l"/>
              <a:pathLst>
                <a:path h="2114984" w="4894340">
                  <a:moveTo>
                    <a:pt x="80010" y="2114984"/>
                  </a:moveTo>
                  <a:lnTo>
                    <a:pt x="4894340" y="2114984"/>
                  </a:lnTo>
                  <a:lnTo>
                    <a:pt x="4894340" y="80010"/>
                  </a:lnTo>
                  <a:lnTo>
                    <a:pt x="4894340" y="67310"/>
                  </a:lnTo>
                  <a:lnTo>
                    <a:pt x="4894340" y="0"/>
                  </a:lnTo>
                  <a:lnTo>
                    <a:pt x="0" y="0"/>
                  </a:lnTo>
                  <a:lnTo>
                    <a:pt x="0" y="2114984"/>
                  </a:lnTo>
                  <a:lnTo>
                    <a:pt x="67310" y="2114984"/>
                  </a:lnTo>
                  <a:lnTo>
                    <a:pt x="80010" y="2114984"/>
                  </a:lnTo>
                  <a:close/>
                  <a:moveTo>
                    <a:pt x="12700" y="12700"/>
                  </a:moveTo>
                  <a:lnTo>
                    <a:pt x="4881640" y="12700"/>
                  </a:lnTo>
                  <a:lnTo>
                    <a:pt x="4881640" y="2102284"/>
                  </a:lnTo>
                  <a:lnTo>
                    <a:pt x="12700" y="2102284"/>
                  </a:lnTo>
                  <a:lnTo>
                    <a:pt x="12700" y="12700"/>
                  </a:lnTo>
                  <a:close/>
                </a:path>
              </a:pathLst>
            </a:custGeom>
            <a:solidFill>
              <a:srgbClr val="000000"/>
            </a:solidFill>
          </p:spPr>
        </p:sp>
      </p:grpSp>
      <p:grpSp>
        <p:nvGrpSpPr>
          <p:cNvPr name="Group 23" id="23"/>
          <p:cNvGrpSpPr/>
          <p:nvPr/>
        </p:nvGrpSpPr>
        <p:grpSpPr>
          <a:xfrm rot="0">
            <a:off x="4994848" y="6803784"/>
            <a:ext cx="6977912" cy="756267"/>
            <a:chOff x="0" y="0"/>
            <a:chExt cx="62339679" cy="6756381"/>
          </a:xfrm>
        </p:grpSpPr>
        <p:sp>
          <p:nvSpPr>
            <p:cNvPr name="Freeform 24" id="24"/>
            <p:cNvSpPr/>
            <p:nvPr/>
          </p:nvSpPr>
          <p:spPr>
            <a:xfrm flipH="false" flipV="false" rot="0">
              <a:off x="72390" y="72390"/>
              <a:ext cx="62194898" cy="6611600"/>
            </a:xfrm>
            <a:custGeom>
              <a:avLst/>
              <a:gdLst/>
              <a:ahLst/>
              <a:cxnLst/>
              <a:rect r="r" b="b" t="t" l="l"/>
              <a:pathLst>
                <a:path h="6611600" w="62194898">
                  <a:moveTo>
                    <a:pt x="0" y="0"/>
                  </a:moveTo>
                  <a:lnTo>
                    <a:pt x="62194898" y="0"/>
                  </a:lnTo>
                  <a:lnTo>
                    <a:pt x="62194898" y="6611600"/>
                  </a:lnTo>
                  <a:lnTo>
                    <a:pt x="0" y="6611600"/>
                  </a:lnTo>
                  <a:lnTo>
                    <a:pt x="0" y="0"/>
                  </a:lnTo>
                  <a:close/>
                </a:path>
              </a:pathLst>
            </a:custGeom>
            <a:solidFill>
              <a:srgbClr val="FFA794"/>
            </a:solidFill>
          </p:spPr>
        </p:sp>
        <p:sp>
          <p:nvSpPr>
            <p:cNvPr name="Freeform 25" id="25"/>
            <p:cNvSpPr/>
            <p:nvPr/>
          </p:nvSpPr>
          <p:spPr>
            <a:xfrm flipH="false" flipV="false" rot="0">
              <a:off x="0" y="0"/>
              <a:ext cx="62339680" cy="6756381"/>
            </a:xfrm>
            <a:custGeom>
              <a:avLst/>
              <a:gdLst/>
              <a:ahLst/>
              <a:cxnLst/>
              <a:rect r="r" b="b" t="t" l="l"/>
              <a:pathLst>
                <a:path h="6756381" w="62339680">
                  <a:moveTo>
                    <a:pt x="62194901" y="6611600"/>
                  </a:moveTo>
                  <a:lnTo>
                    <a:pt x="62339680" y="6611600"/>
                  </a:lnTo>
                  <a:lnTo>
                    <a:pt x="62339680" y="6756381"/>
                  </a:lnTo>
                  <a:lnTo>
                    <a:pt x="62194901" y="6756381"/>
                  </a:lnTo>
                  <a:lnTo>
                    <a:pt x="62194901" y="6611600"/>
                  </a:lnTo>
                  <a:close/>
                  <a:moveTo>
                    <a:pt x="0" y="144780"/>
                  </a:moveTo>
                  <a:lnTo>
                    <a:pt x="144780" y="144780"/>
                  </a:lnTo>
                  <a:lnTo>
                    <a:pt x="144780" y="6611600"/>
                  </a:lnTo>
                  <a:lnTo>
                    <a:pt x="0" y="6611600"/>
                  </a:lnTo>
                  <a:lnTo>
                    <a:pt x="0" y="144780"/>
                  </a:lnTo>
                  <a:close/>
                  <a:moveTo>
                    <a:pt x="0" y="6611600"/>
                  </a:moveTo>
                  <a:lnTo>
                    <a:pt x="144780" y="6611600"/>
                  </a:lnTo>
                  <a:lnTo>
                    <a:pt x="144780" y="6756381"/>
                  </a:lnTo>
                  <a:lnTo>
                    <a:pt x="0" y="6756381"/>
                  </a:lnTo>
                  <a:lnTo>
                    <a:pt x="0" y="6611600"/>
                  </a:lnTo>
                  <a:close/>
                  <a:moveTo>
                    <a:pt x="62194901" y="144780"/>
                  </a:moveTo>
                  <a:lnTo>
                    <a:pt x="62339680" y="144780"/>
                  </a:lnTo>
                  <a:lnTo>
                    <a:pt x="62339680" y="6611600"/>
                  </a:lnTo>
                  <a:lnTo>
                    <a:pt x="62194901" y="6611600"/>
                  </a:lnTo>
                  <a:lnTo>
                    <a:pt x="62194901" y="144780"/>
                  </a:lnTo>
                  <a:close/>
                  <a:moveTo>
                    <a:pt x="144780" y="6611600"/>
                  </a:moveTo>
                  <a:lnTo>
                    <a:pt x="62194901" y="6611600"/>
                  </a:lnTo>
                  <a:lnTo>
                    <a:pt x="62194901" y="6756381"/>
                  </a:lnTo>
                  <a:lnTo>
                    <a:pt x="144780" y="6756381"/>
                  </a:lnTo>
                  <a:lnTo>
                    <a:pt x="144780" y="6611600"/>
                  </a:lnTo>
                  <a:close/>
                  <a:moveTo>
                    <a:pt x="62194901" y="0"/>
                  </a:moveTo>
                  <a:lnTo>
                    <a:pt x="62339680" y="0"/>
                  </a:lnTo>
                  <a:lnTo>
                    <a:pt x="62339680" y="144780"/>
                  </a:lnTo>
                  <a:lnTo>
                    <a:pt x="62194901" y="144780"/>
                  </a:lnTo>
                  <a:lnTo>
                    <a:pt x="62194901" y="0"/>
                  </a:lnTo>
                  <a:close/>
                  <a:moveTo>
                    <a:pt x="0" y="0"/>
                  </a:moveTo>
                  <a:lnTo>
                    <a:pt x="144780" y="0"/>
                  </a:lnTo>
                  <a:lnTo>
                    <a:pt x="144780" y="144780"/>
                  </a:lnTo>
                  <a:lnTo>
                    <a:pt x="0" y="144780"/>
                  </a:lnTo>
                  <a:lnTo>
                    <a:pt x="0" y="0"/>
                  </a:lnTo>
                  <a:close/>
                  <a:moveTo>
                    <a:pt x="144780" y="0"/>
                  </a:moveTo>
                  <a:lnTo>
                    <a:pt x="62194901" y="0"/>
                  </a:lnTo>
                  <a:lnTo>
                    <a:pt x="62194901" y="144780"/>
                  </a:lnTo>
                  <a:lnTo>
                    <a:pt x="144780" y="144780"/>
                  </a:lnTo>
                  <a:lnTo>
                    <a:pt x="144780" y="0"/>
                  </a:lnTo>
                  <a:close/>
                </a:path>
              </a:pathLst>
            </a:custGeom>
            <a:solidFill>
              <a:srgbClr val="000000"/>
            </a:solidFill>
          </p:spPr>
        </p:sp>
      </p:grpSp>
      <p:grpSp>
        <p:nvGrpSpPr>
          <p:cNvPr name="Group 26" id="26"/>
          <p:cNvGrpSpPr/>
          <p:nvPr/>
        </p:nvGrpSpPr>
        <p:grpSpPr>
          <a:xfrm rot="0">
            <a:off x="12220937" y="0"/>
            <a:ext cx="5964139" cy="756267"/>
            <a:chOff x="0" y="0"/>
            <a:chExt cx="53282776" cy="6756381"/>
          </a:xfrm>
        </p:grpSpPr>
        <p:sp>
          <p:nvSpPr>
            <p:cNvPr name="Freeform 27" id="27"/>
            <p:cNvSpPr/>
            <p:nvPr/>
          </p:nvSpPr>
          <p:spPr>
            <a:xfrm flipH="false" flipV="false" rot="0">
              <a:off x="72390" y="72390"/>
              <a:ext cx="53137999" cy="6611600"/>
            </a:xfrm>
            <a:custGeom>
              <a:avLst/>
              <a:gdLst/>
              <a:ahLst/>
              <a:cxnLst/>
              <a:rect r="r" b="b" t="t" l="l"/>
              <a:pathLst>
                <a:path h="6611600" w="53137999">
                  <a:moveTo>
                    <a:pt x="0" y="0"/>
                  </a:moveTo>
                  <a:lnTo>
                    <a:pt x="53137999" y="0"/>
                  </a:lnTo>
                  <a:lnTo>
                    <a:pt x="53137999" y="6611600"/>
                  </a:lnTo>
                  <a:lnTo>
                    <a:pt x="0" y="6611600"/>
                  </a:lnTo>
                  <a:lnTo>
                    <a:pt x="0" y="0"/>
                  </a:lnTo>
                  <a:close/>
                </a:path>
              </a:pathLst>
            </a:custGeom>
            <a:solidFill>
              <a:srgbClr val="FDF9B4"/>
            </a:solidFill>
          </p:spPr>
        </p:sp>
        <p:sp>
          <p:nvSpPr>
            <p:cNvPr name="Freeform 28" id="28"/>
            <p:cNvSpPr/>
            <p:nvPr/>
          </p:nvSpPr>
          <p:spPr>
            <a:xfrm flipH="false" flipV="false" rot="0">
              <a:off x="0" y="0"/>
              <a:ext cx="53282776" cy="6756381"/>
            </a:xfrm>
            <a:custGeom>
              <a:avLst/>
              <a:gdLst/>
              <a:ahLst/>
              <a:cxnLst/>
              <a:rect r="r" b="b" t="t" l="l"/>
              <a:pathLst>
                <a:path h="6756381" w="53282776">
                  <a:moveTo>
                    <a:pt x="53137997" y="6611600"/>
                  </a:moveTo>
                  <a:lnTo>
                    <a:pt x="53282776" y="6611600"/>
                  </a:lnTo>
                  <a:lnTo>
                    <a:pt x="53282776" y="6756381"/>
                  </a:lnTo>
                  <a:lnTo>
                    <a:pt x="53137997" y="6756381"/>
                  </a:lnTo>
                  <a:lnTo>
                    <a:pt x="53137997" y="6611600"/>
                  </a:lnTo>
                  <a:close/>
                  <a:moveTo>
                    <a:pt x="0" y="144780"/>
                  </a:moveTo>
                  <a:lnTo>
                    <a:pt x="144780" y="144780"/>
                  </a:lnTo>
                  <a:lnTo>
                    <a:pt x="144780" y="6611600"/>
                  </a:lnTo>
                  <a:lnTo>
                    <a:pt x="0" y="6611600"/>
                  </a:lnTo>
                  <a:lnTo>
                    <a:pt x="0" y="144780"/>
                  </a:lnTo>
                  <a:close/>
                  <a:moveTo>
                    <a:pt x="0" y="6611600"/>
                  </a:moveTo>
                  <a:lnTo>
                    <a:pt x="144780" y="6611600"/>
                  </a:lnTo>
                  <a:lnTo>
                    <a:pt x="144780" y="6756381"/>
                  </a:lnTo>
                  <a:lnTo>
                    <a:pt x="0" y="6756381"/>
                  </a:lnTo>
                  <a:lnTo>
                    <a:pt x="0" y="6611600"/>
                  </a:lnTo>
                  <a:close/>
                  <a:moveTo>
                    <a:pt x="53137997" y="144780"/>
                  </a:moveTo>
                  <a:lnTo>
                    <a:pt x="53282776" y="144780"/>
                  </a:lnTo>
                  <a:lnTo>
                    <a:pt x="53282776" y="6611600"/>
                  </a:lnTo>
                  <a:lnTo>
                    <a:pt x="53137997" y="6611600"/>
                  </a:lnTo>
                  <a:lnTo>
                    <a:pt x="53137997" y="144780"/>
                  </a:lnTo>
                  <a:close/>
                  <a:moveTo>
                    <a:pt x="144780" y="6611600"/>
                  </a:moveTo>
                  <a:lnTo>
                    <a:pt x="53137997" y="6611600"/>
                  </a:lnTo>
                  <a:lnTo>
                    <a:pt x="53137997" y="6756381"/>
                  </a:lnTo>
                  <a:lnTo>
                    <a:pt x="144780" y="6756381"/>
                  </a:lnTo>
                  <a:lnTo>
                    <a:pt x="144780" y="6611600"/>
                  </a:lnTo>
                  <a:close/>
                  <a:moveTo>
                    <a:pt x="53137997" y="0"/>
                  </a:moveTo>
                  <a:lnTo>
                    <a:pt x="53282776" y="0"/>
                  </a:lnTo>
                  <a:lnTo>
                    <a:pt x="53282776" y="144780"/>
                  </a:lnTo>
                  <a:lnTo>
                    <a:pt x="53137997" y="144780"/>
                  </a:lnTo>
                  <a:lnTo>
                    <a:pt x="53137997" y="0"/>
                  </a:lnTo>
                  <a:close/>
                  <a:moveTo>
                    <a:pt x="0" y="0"/>
                  </a:moveTo>
                  <a:lnTo>
                    <a:pt x="144780" y="0"/>
                  </a:lnTo>
                  <a:lnTo>
                    <a:pt x="144780" y="144780"/>
                  </a:lnTo>
                  <a:lnTo>
                    <a:pt x="0" y="144780"/>
                  </a:lnTo>
                  <a:lnTo>
                    <a:pt x="0" y="0"/>
                  </a:lnTo>
                  <a:close/>
                  <a:moveTo>
                    <a:pt x="144780" y="0"/>
                  </a:moveTo>
                  <a:lnTo>
                    <a:pt x="53137997" y="0"/>
                  </a:lnTo>
                  <a:lnTo>
                    <a:pt x="53137997" y="144780"/>
                  </a:lnTo>
                  <a:lnTo>
                    <a:pt x="144780" y="144780"/>
                  </a:lnTo>
                  <a:lnTo>
                    <a:pt x="144780" y="0"/>
                  </a:lnTo>
                  <a:close/>
                </a:path>
              </a:pathLst>
            </a:custGeom>
            <a:solidFill>
              <a:srgbClr val="000000"/>
            </a:solidFill>
          </p:spPr>
        </p:sp>
      </p:grpSp>
      <p:grpSp>
        <p:nvGrpSpPr>
          <p:cNvPr name="Group 29" id="29"/>
          <p:cNvGrpSpPr/>
          <p:nvPr/>
        </p:nvGrpSpPr>
        <p:grpSpPr>
          <a:xfrm rot="0">
            <a:off x="5010903" y="0"/>
            <a:ext cx="6758019" cy="756267"/>
            <a:chOff x="0" y="0"/>
            <a:chExt cx="60375184" cy="6756381"/>
          </a:xfrm>
        </p:grpSpPr>
        <p:sp>
          <p:nvSpPr>
            <p:cNvPr name="Freeform 30" id="30"/>
            <p:cNvSpPr/>
            <p:nvPr/>
          </p:nvSpPr>
          <p:spPr>
            <a:xfrm flipH="false" flipV="false" rot="0">
              <a:off x="72390" y="72390"/>
              <a:ext cx="60230404" cy="6611600"/>
            </a:xfrm>
            <a:custGeom>
              <a:avLst/>
              <a:gdLst/>
              <a:ahLst/>
              <a:cxnLst/>
              <a:rect r="r" b="b" t="t" l="l"/>
              <a:pathLst>
                <a:path h="6611600" w="60230404">
                  <a:moveTo>
                    <a:pt x="0" y="0"/>
                  </a:moveTo>
                  <a:lnTo>
                    <a:pt x="60230404" y="0"/>
                  </a:lnTo>
                  <a:lnTo>
                    <a:pt x="60230404" y="6611600"/>
                  </a:lnTo>
                  <a:lnTo>
                    <a:pt x="0" y="6611600"/>
                  </a:lnTo>
                  <a:lnTo>
                    <a:pt x="0" y="0"/>
                  </a:lnTo>
                  <a:close/>
                </a:path>
              </a:pathLst>
            </a:custGeom>
            <a:solidFill>
              <a:srgbClr val="D1F3C8"/>
            </a:solidFill>
          </p:spPr>
        </p:sp>
        <p:sp>
          <p:nvSpPr>
            <p:cNvPr name="Freeform 31" id="31"/>
            <p:cNvSpPr/>
            <p:nvPr/>
          </p:nvSpPr>
          <p:spPr>
            <a:xfrm flipH="false" flipV="false" rot="0">
              <a:off x="0" y="0"/>
              <a:ext cx="60375186" cy="6756381"/>
            </a:xfrm>
            <a:custGeom>
              <a:avLst/>
              <a:gdLst/>
              <a:ahLst/>
              <a:cxnLst/>
              <a:rect r="r" b="b" t="t" l="l"/>
              <a:pathLst>
                <a:path h="6756381" w="60375186">
                  <a:moveTo>
                    <a:pt x="60230401" y="6611600"/>
                  </a:moveTo>
                  <a:lnTo>
                    <a:pt x="60375186" y="6611600"/>
                  </a:lnTo>
                  <a:lnTo>
                    <a:pt x="60375186" y="6756381"/>
                  </a:lnTo>
                  <a:lnTo>
                    <a:pt x="60230401" y="6756381"/>
                  </a:lnTo>
                  <a:lnTo>
                    <a:pt x="60230401" y="6611600"/>
                  </a:lnTo>
                  <a:close/>
                  <a:moveTo>
                    <a:pt x="0" y="144780"/>
                  </a:moveTo>
                  <a:lnTo>
                    <a:pt x="144780" y="144780"/>
                  </a:lnTo>
                  <a:lnTo>
                    <a:pt x="144780" y="6611600"/>
                  </a:lnTo>
                  <a:lnTo>
                    <a:pt x="0" y="6611600"/>
                  </a:lnTo>
                  <a:lnTo>
                    <a:pt x="0" y="144780"/>
                  </a:lnTo>
                  <a:close/>
                  <a:moveTo>
                    <a:pt x="0" y="6611600"/>
                  </a:moveTo>
                  <a:lnTo>
                    <a:pt x="144780" y="6611600"/>
                  </a:lnTo>
                  <a:lnTo>
                    <a:pt x="144780" y="6756381"/>
                  </a:lnTo>
                  <a:lnTo>
                    <a:pt x="0" y="6756381"/>
                  </a:lnTo>
                  <a:lnTo>
                    <a:pt x="0" y="6611600"/>
                  </a:lnTo>
                  <a:close/>
                  <a:moveTo>
                    <a:pt x="60230401" y="144780"/>
                  </a:moveTo>
                  <a:lnTo>
                    <a:pt x="60375186" y="144780"/>
                  </a:lnTo>
                  <a:lnTo>
                    <a:pt x="60375186" y="6611600"/>
                  </a:lnTo>
                  <a:lnTo>
                    <a:pt x="60230401" y="6611600"/>
                  </a:lnTo>
                  <a:lnTo>
                    <a:pt x="60230401" y="144780"/>
                  </a:lnTo>
                  <a:close/>
                  <a:moveTo>
                    <a:pt x="144780" y="6611600"/>
                  </a:moveTo>
                  <a:lnTo>
                    <a:pt x="60230401" y="6611600"/>
                  </a:lnTo>
                  <a:lnTo>
                    <a:pt x="60230401" y="6756381"/>
                  </a:lnTo>
                  <a:lnTo>
                    <a:pt x="144780" y="6756381"/>
                  </a:lnTo>
                  <a:lnTo>
                    <a:pt x="144780" y="6611600"/>
                  </a:lnTo>
                  <a:close/>
                  <a:moveTo>
                    <a:pt x="60230401" y="0"/>
                  </a:moveTo>
                  <a:lnTo>
                    <a:pt x="60375186" y="0"/>
                  </a:lnTo>
                  <a:lnTo>
                    <a:pt x="60375186" y="144780"/>
                  </a:lnTo>
                  <a:lnTo>
                    <a:pt x="60230401" y="144780"/>
                  </a:lnTo>
                  <a:lnTo>
                    <a:pt x="60230401" y="0"/>
                  </a:lnTo>
                  <a:close/>
                  <a:moveTo>
                    <a:pt x="0" y="0"/>
                  </a:moveTo>
                  <a:lnTo>
                    <a:pt x="144780" y="0"/>
                  </a:lnTo>
                  <a:lnTo>
                    <a:pt x="144780" y="144780"/>
                  </a:lnTo>
                  <a:lnTo>
                    <a:pt x="0" y="144780"/>
                  </a:lnTo>
                  <a:lnTo>
                    <a:pt x="0" y="0"/>
                  </a:lnTo>
                  <a:close/>
                  <a:moveTo>
                    <a:pt x="144780" y="0"/>
                  </a:moveTo>
                  <a:lnTo>
                    <a:pt x="60230401" y="0"/>
                  </a:lnTo>
                  <a:lnTo>
                    <a:pt x="60230401" y="144780"/>
                  </a:lnTo>
                  <a:lnTo>
                    <a:pt x="144780" y="144780"/>
                  </a:lnTo>
                  <a:lnTo>
                    <a:pt x="144780" y="0"/>
                  </a:lnTo>
                  <a:close/>
                </a:path>
              </a:pathLst>
            </a:custGeom>
            <a:solidFill>
              <a:srgbClr val="000000"/>
            </a:solidFill>
          </p:spPr>
        </p:sp>
      </p:grpSp>
      <p:grpSp>
        <p:nvGrpSpPr>
          <p:cNvPr name="Group 32" id="32"/>
          <p:cNvGrpSpPr/>
          <p:nvPr/>
        </p:nvGrpSpPr>
        <p:grpSpPr>
          <a:xfrm rot="0">
            <a:off x="5192880" y="7075751"/>
            <a:ext cx="852445" cy="198573"/>
            <a:chOff x="0" y="0"/>
            <a:chExt cx="1136593" cy="264764"/>
          </a:xfrm>
        </p:grpSpPr>
        <p:grpSp>
          <p:nvGrpSpPr>
            <p:cNvPr name="Group 33" id="33"/>
            <p:cNvGrpSpPr>
              <a:grpSpLocks noChangeAspect="true"/>
            </p:cNvGrpSpPr>
            <p:nvPr/>
          </p:nvGrpSpPr>
          <p:grpSpPr>
            <a:xfrm rot="0">
              <a:off x="875368" y="3539"/>
              <a:ext cx="261225" cy="261225"/>
              <a:chOff x="0" y="0"/>
              <a:chExt cx="495300" cy="495300"/>
            </a:xfrm>
          </p:grpSpPr>
          <p:sp>
            <p:nvSpPr>
              <p:cNvPr name="Freeform 34" id="3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35" id="3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3F7E7"/>
              </a:solidFill>
            </p:spPr>
          </p:sp>
        </p:grpSp>
        <p:grpSp>
          <p:nvGrpSpPr>
            <p:cNvPr name="Group 36" id="36"/>
            <p:cNvGrpSpPr>
              <a:grpSpLocks noChangeAspect="true"/>
            </p:cNvGrpSpPr>
            <p:nvPr/>
          </p:nvGrpSpPr>
          <p:grpSpPr>
            <a:xfrm rot="0">
              <a:off x="449165" y="0"/>
              <a:ext cx="261225" cy="261225"/>
              <a:chOff x="0" y="0"/>
              <a:chExt cx="495300" cy="495300"/>
            </a:xfrm>
          </p:grpSpPr>
          <p:sp>
            <p:nvSpPr>
              <p:cNvPr name="Freeform 37" id="3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38" id="3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9C374"/>
              </a:solidFill>
            </p:spPr>
          </p:sp>
        </p:grpSp>
        <p:grpSp>
          <p:nvGrpSpPr>
            <p:cNvPr name="Group 39" id="39"/>
            <p:cNvGrpSpPr>
              <a:grpSpLocks noChangeAspect="true"/>
            </p:cNvGrpSpPr>
            <p:nvPr/>
          </p:nvGrpSpPr>
          <p:grpSpPr>
            <a:xfrm rot="0">
              <a:off x="0" y="0"/>
              <a:ext cx="261225" cy="261225"/>
              <a:chOff x="0" y="0"/>
              <a:chExt cx="495300" cy="495300"/>
            </a:xfrm>
          </p:grpSpPr>
          <p:sp>
            <p:nvSpPr>
              <p:cNvPr name="Freeform 40" id="4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41" id="4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7B2B0"/>
              </a:solidFill>
            </p:spPr>
          </p:sp>
        </p:grpSp>
      </p:grpSp>
      <p:grpSp>
        <p:nvGrpSpPr>
          <p:cNvPr name="Group 42" id="42"/>
          <p:cNvGrpSpPr/>
          <p:nvPr/>
        </p:nvGrpSpPr>
        <p:grpSpPr>
          <a:xfrm rot="0">
            <a:off x="12418969" y="278847"/>
            <a:ext cx="852445" cy="198573"/>
            <a:chOff x="0" y="0"/>
            <a:chExt cx="1136593" cy="264764"/>
          </a:xfrm>
        </p:grpSpPr>
        <p:grpSp>
          <p:nvGrpSpPr>
            <p:cNvPr name="Group 43" id="43"/>
            <p:cNvGrpSpPr>
              <a:grpSpLocks noChangeAspect="true"/>
            </p:cNvGrpSpPr>
            <p:nvPr/>
          </p:nvGrpSpPr>
          <p:grpSpPr>
            <a:xfrm rot="0">
              <a:off x="875368" y="3539"/>
              <a:ext cx="261225" cy="261225"/>
              <a:chOff x="0" y="0"/>
              <a:chExt cx="495300" cy="495300"/>
            </a:xfrm>
          </p:grpSpPr>
          <p:sp>
            <p:nvSpPr>
              <p:cNvPr name="Freeform 44" id="4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45" id="4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3F7E7"/>
              </a:solidFill>
            </p:spPr>
          </p:sp>
        </p:grpSp>
        <p:grpSp>
          <p:nvGrpSpPr>
            <p:cNvPr name="Group 46" id="46"/>
            <p:cNvGrpSpPr>
              <a:grpSpLocks noChangeAspect="true"/>
            </p:cNvGrpSpPr>
            <p:nvPr/>
          </p:nvGrpSpPr>
          <p:grpSpPr>
            <a:xfrm rot="0">
              <a:off x="449165" y="0"/>
              <a:ext cx="261225" cy="261225"/>
              <a:chOff x="0" y="0"/>
              <a:chExt cx="495300" cy="495300"/>
            </a:xfrm>
          </p:grpSpPr>
          <p:sp>
            <p:nvSpPr>
              <p:cNvPr name="Freeform 47" id="4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48" id="4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9C374"/>
              </a:solidFill>
            </p:spPr>
          </p:sp>
        </p:grpSp>
        <p:grpSp>
          <p:nvGrpSpPr>
            <p:cNvPr name="Group 49" id="49"/>
            <p:cNvGrpSpPr>
              <a:grpSpLocks noChangeAspect="true"/>
            </p:cNvGrpSpPr>
            <p:nvPr/>
          </p:nvGrpSpPr>
          <p:grpSpPr>
            <a:xfrm rot="0">
              <a:off x="0" y="0"/>
              <a:ext cx="261225" cy="261225"/>
              <a:chOff x="0" y="0"/>
              <a:chExt cx="495300" cy="495300"/>
            </a:xfrm>
          </p:grpSpPr>
          <p:sp>
            <p:nvSpPr>
              <p:cNvPr name="Freeform 50" id="5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51" id="5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7B2B0"/>
              </a:solidFill>
            </p:spPr>
          </p:sp>
        </p:grpSp>
      </p:grpSp>
      <p:grpSp>
        <p:nvGrpSpPr>
          <p:cNvPr name="Group 52" id="52"/>
          <p:cNvGrpSpPr/>
          <p:nvPr/>
        </p:nvGrpSpPr>
        <p:grpSpPr>
          <a:xfrm rot="0">
            <a:off x="5192880" y="278516"/>
            <a:ext cx="852445" cy="198573"/>
            <a:chOff x="0" y="0"/>
            <a:chExt cx="1136593" cy="264764"/>
          </a:xfrm>
        </p:grpSpPr>
        <p:grpSp>
          <p:nvGrpSpPr>
            <p:cNvPr name="Group 53" id="53"/>
            <p:cNvGrpSpPr>
              <a:grpSpLocks noChangeAspect="true"/>
            </p:cNvGrpSpPr>
            <p:nvPr/>
          </p:nvGrpSpPr>
          <p:grpSpPr>
            <a:xfrm rot="0">
              <a:off x="875368" y="3539"/>
              <a:ext cx="261225" cy="261225"/>
              <a:chOff x="0" y="0"/>
              <a:chExt cx="495300" cy="495300"/>
            </a:xfrm>
          </p:grpSpPr>
          <p:sp>
            <p:nvSpPr>
              <p:cNvPr name="Freeform 54" id="5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55" id="5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3F7E7"/>
              </a:solidFill>
            </p:spPr>
          </p:sp>
        </p:grpSp>
        <p:grpSp>
          <p:nvGrpSpPr>
            <p:cNvPr name="Group 56" id="56"/>
            <p:cNvGrpSpPr>
              <a:grpSpLocks noChangeAspect="true"/>
            </p:cNvGrpSpPr>
            <p:nvPr/>
          </p:nvGrpSpPr>
          <p:grpSpPr>
            <a:xfrm rot="0">
              <a:off x="449165" y="0"/>
              <a:ext cx="261225" cy="261225"/>
              <a:chOff x="0" y="0"/>
              <a:chExt cx="495300" cy="495300"/>
            </a:xfrm>
          </p:grpSpPr>
          <p:sp>
            <p:nvSpPr>
              <p:cNvPr name="Freeform 57" id="5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58" id="5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9C374"/>
              </a:solidFill>
            </p:spPr>
          </p:sp>
        </p:grpSp>
        <p:grpSp>
          <p:nvGrpSpPr>
            <p:cNvPr name="Group 59" id="59"/>
            <p:cNvGrpSpPr>
              <a:grpSpLocks noChangeAspect="true"/>
            </p:cNvGrpSpPr>
            <p:nvPr/>
          </p:nvGrpSpPr>
          <p:grpSpPr>
            <a:xfrm rot="0">
              <a:off x="0" y="0"/>
              <a:ext cx="261225" cy="261225"/>
              <a:chOff x="0" y="0"/>
              <a:chExt cx="495300" cy="495300"/>
            </a:xfrm>
          </p:grpSpPr>
          <p:sp>
            <p:nvSpPr>
              <p:cNvPr name="Freeform 60" id="6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61" id="6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7B2B0"/>
              </a:solidFill>
            </p:spPr>
          </p:sp>
        </p:grpSp>
      </p:grpSp>
      <p:grpSp>
        <p:nvGrpSpPr>
          <p:cNvPr name="Group 62" id="62"/>
          <p:cNvGrpSpPr/>
          <p:nvPr/>
        </p:nvGrpSpPr>
        <p:grpSpPr>
          <a:xfrm rot="0">
            <a:off x="5319350" y="1028700"/>
            <a:ext cx="2848259" cy="2553276"/>
            <a:chOff x="0" y="0"/>
            <a:chExt cx="6755815" cy="6056141"/>
          </a:xfrm>
        </p:grpSpPr>
        <p:sp>
          <p:nvSpPr>
            <p:cNvPr name="Freeform 63" id="63"/>
            <p:cNvSpPr/>
            <p:nvPr/>
          </p:nvSpPr>
          <p:spPr>
            <a:xfrm flipH="false" flipV="false" rot="0">
              <a:off x="0" y="0"/>
              <a:ext cx="6755815" cy="6056140"/>
            </a:xfrm>
            <a:custGeom>
              <a:avLst/>
              <a:gdLst/>
              <a:ahLst/>
              <a:cxnLst/>
              <a:rect r="r" b="b" t="t" l="l"/>
              <a:pathLst>
                <a:path h="6056140" w="6755815">
                  <a:moveTo>
                    <a:pt x="6755815" y="25400"/>
                  </a:moveTo>
                  <a:cubicBezTo>
                    <a:pt x="6755815" y="11372"/>
                    <a:pt x="6744448" y="0"/>
                    <a:pt x="6730415" y="0"/>
                  </a:cubicBezTo>
                  <a:lnTo>
                    <a:pt x="25400" y="0"/>
                  </a:lnTo>
                  <a:cubicBezTo>
                    <a:pt x="11372" y="0"/>
                    <a:pt x="0" y="11372"/>
                    <a:pt x="0" y="25400"/>
                  </a:cubicBezTo>
                  <a:lnTo>
                    <a:pt x="0" y="6030740"/>
                  </a:lnTo>
                  <a:cubicBezTo>
                    <a:pt x="0" y="6044774"/>
                    <a:pt x="11372" y="6056140"/>
                    <a:pt x="25400" y="6056140"/>
                  </a:cubicBezTo>
                  <a:lnTo>
                    <a:pt x="6730415" y="6056140"/>
                  </a:lnTo>
                  <a:cubicBezTo>
                    <a:pt x="6744448" y="6056140"/>
                    <a:pt x="6755815" y="6044774"/>
                    <a:pt x="6755815" y="6030740"/>
                  </a:cubicBezTo>
                  <a:lnTo>
                    <a:pt x="6755815" y="25400"/>
                  </a:lnTo>
                  <a:close/>
                </a:path>
              </a:pathLst>
            </a:custGeom>
            <a:solidFill>
              <a:srgbClr val="D1F3C8"/>
            </a:solidFill>
          </p:spPr>
        </p:sp>
        <p:sp>
          <p:nvSpPr>
            <p:cNvPr name="TextBox 64" id="64"/>
            <p:cNvSpPr txBox="true"/>
            <p:nvPr/>
          </p:nvSpPr>
          <p:spPr>
            <a:xfrm>
              <a:off x="152400" y="187325"/>
              <a:ext cx="6451015" cy="5614816"/>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Luồng là đơn vị sử dụng CPU cơ bản gồm:</a:t>
              </a:r>
            </a:p>
            <a:p>
              <a:pPr algn="l">
                <a:lnSpc>
                  <a:spcPts val="1959"/>
                </a:lnSpc>
              </a:pPr>
              <a:r>
                <a:rPr lang="en-US" sz="1399">
                  <a:solidFill>
                    <a:srgbClr val="000000"/>
                  </a:solidFill>
                  <a:latin typeface="Heading Now 71-78"/>
                  <a:ea typeface="Heading Now 71-78"/>
                  <a:cs typeface="Heading Now 71-78"/>
                  <a:sym typeface="Heading Now 71-78"/>
                </a:rPr>
                <a:t>     + Định danh luồng (ID Thread). </a:t>
              </a:r>
            </a:p>
            <a:p>
              <a:pPr algn="l">
                <a:lnSpc>
                  <a:spcPts val="1959"/>
                </a:lnSpc>
              </a:pPr>
              <a:r>
                <a:rPr lang="en-US" sz="1399">
                  <a:solidFill>
                    <a:srgbClr val="000000"/>
                  </a:solidFill>
                  <a:latin typeface="Heading Now 71-78"/>
                  <a:ea typeface="Heading Now 71-78"/>
                  <a:cs typeface="Heading Now 71-78"/>
                  <a:sym typeface="Heading Now 71-78"/>
                </a:rPr>
                <a:t>     + Bộ đếm chương trình (Program Computer). </a:t>
              </a:r>
            </a:p>
            <a:p>
              <a:pPr algn="l">
                <a:lnSpc>
                  <a:spcPts val="1959"/>
                </a:lnSpc>
              </a:pPr>
              <a:r>
                <a:rPr lang="en-US" sz="1399">
                  <a:solidFill>
                    <a:srgbClr val="000000"/>
                  </a:solidFill>
                  <a:latin typeface="Heading Now 71-78"/>
                  <a:ea typeface="Heading Now 71-78"/>
                  <a:cs typeface="Heading Now 71-78"/>
                  <a:sym typeface="Heading Now 71-78"/>
                </a:rPr>
                <a:t>     + Tập các thanh ghi (Registers). </a:t>
              </a:r>
            </a:p>
            <a:p>
              <a:pPr algn="l">
                <a:lnSpc>
                  <a:spcPts val="1959"/>
                </a:lnSpc>
              </a:pPr>
              <a:r>
                <a:rPr lang="en-US" sz="1399">
                  <a:solidFill>
                    <a:srgbClr val="000000"/>
                  </a:solidFill>
                  <a:latin typeface="Heading Now 71-78"/>
                  <a:ea typeface="Heading Now 71-78"/>
                  <a:cs typeface="Heading Now 71-78"/>
                  <a:sym typeface="Heading Now 71-78"/>
                </a:rPr>
                <a:t>     + Không gian stack. </a:t>
              </a:r>
            </a:p>
          </p:txBody>
        </p:sp>
      </p:grpSp>
      <p:grpSp>
        <p:nvGrpSpPr>
          <p:cNvPr name="Group 65" id="65"/>
          <p:cNvGrpSpPr/>
          <p:nvPr/>
        </p:nvGrpSpPr>
        <p:grpSpPr>
          <a:xfrm rot="0">
            <a:off x="5280187" y="7836276"/>
            <a:ext cx="6499350" cy="1810326"/>
            <a:chOff x="0" y="0"/>
            <a:chExt cx="15415875" cy="4293932"/>
          </a:xfrm>
        </p:grpSpPr>
        <p:sp>
          <p:nvSpPr>
            <p:cNvPr name="Freeform 66" id="66"/>
            <p:cNvSpPr/>
            <p:nvPr/>
          </p:nvSpPr>
          <p:spPr>
            <a:xfrm flipH="false" flipV="false" rot="0">
              <a:off x="0" y="0"/>
              <a:ext cx="15415875" cy="4293932"/>
            </a:xfrm>
            <a:custGeom>
              <a:avLst/>
              <a:gdLst/>
              <a:ahLst/>
              <a:cxnLst/>
              <a:rect r="r" b="b" t="t" l="l"/>
              <a:pathLst>
                <a:path h="4293932" w="15415875">
                  <a:moveTo>
                    <a:pt x="15415875" y="25400"/>
                  </a:moveTo>
                  <a:cubicBezTo>
                    <a:pt x="15415875" y="11372"/>
                    <a:pt x="15404508" y="0"/>
                    <a:pt x="15390475" y="0"/>
                  </a:cubicBezTo>
                  <a:lnTo>
                    <a:pt x="25400" y="0"/>
                  </a:lnTo>
                  <a:cubicBezTo>
                    <a:pt x="11372" y="0"/>
                    <a:pt x="0" y="11372"/>
                    <a:pt x="0" y="25400"/>
                  </a:cubicBezTo>
                  <a:lnTo>
                    <a:pt x="0" y="4268532"/>
                  </a:lnTo>
                  <a:cubicBezTo>
                    <a:pt x="0" y="4282565"/>
                    <a:pt x="11372" y="4293932"/>
                    <a:pt x="25400" y="4293932"/>
                  </a:cubicBezTo>
                  <a:lnTo>
                    <a:pt x="15390475" y="4293932"/>
                  </a:lnTo>
                  <a:cubicBezTo>
                    <a:pt x="15404508" y="4293932"/>
                    <a:pt x="15415875" y="4282565"/>
                    <a:pt x="15415875" y="4268532"/>
                  </a:cubicBezTo>
                  <a:lnTo>
                    <a:pt x="15415875" y="25400"/>
                  </a:lnTo>
                  <a:close/>
                </a:path>
              </a:pathLst>
            </a:custGeom>
            <a:solidFill>
              <a:srgbClr val="FFA794"/>
            </a:solidFill>
          </p:spPr>
        </p:sp>
        <p:sp>
          <p:nvSpPr>
            <p:cNvPr name="TextBox 67" id="67"/>
            <p:cNvSpPr txBox="true"/>
            <p:nvPr/>
          </p:nvSpPr>
          <p:spPr>
            <a:xfrm>
              <a:off x="152400" y="187325"/>
              <a:ext cx="15111075" cy="3852607"/>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Nhiều hệ thống hỗ trợ cả luồng mức người dùng và luồng mức hệ thống dẫn đến có nhiều mô hình đa luồng khác nhau.</a:t>
              </a:r>
            </a:p>
            <a:p>
              <a:pPr algn="l">
                <a:lnSpc>
                  <a:spcPts val="1959"/>
                </a:lnSpc>
              </a:pPr>
              <a:r>
                <a:rPr lang="en-US" sz="1399">
                  <a:solidFill>
                    <a:srgbClr val="000000"/>
                  </a:solidFill>
                  <a:latin typeface="Heading Now 71-78"/>
                  <a:ea typeface="Heading Now 71-78"/>
                  <a:cs typeface="Heading Now 71-78"/>
                  <a:sym typeface="Heading Now 71-78"/>
                </a:rPr>
                <a:t>a) Mô hình nhiều – một:</a:t>
              </a:r>
            </a:p>
            <a:p>
              <a:pPr algn="l">
                <a:lnSpc>
                  <a:spcPts val="1959"/>
                </a:lnSpc>
              </a:pPr>
              <a:r>
                <a:rPr lang="en-US" sz="1399">
                  <a:solidFill>
                    <a:srgbClr val="000000"/>
                  </a:solidFill>
                  <a:latin typeface="Heading Now 71-78"/>
                  <a:ea typeface="Heading Now 71-78"/>
                  <a:cs typeface="Heading Now 71-78"/>
                  <a:sym typeface="Heading Now 71-78"/>
                </a:rPr>
                <a:t>b) Mô hình một – một:</a:t>
              </a:r>
            </a:p>
            <a:p>
              <a:pPr algn="l">
                <a:lnSpc>
                  <a:spcPts val="1959"/>
                </a:lnSpc>
              </a:pPr>
              <a:r>
                <a:rPr lang="en-US" sz="1399">
                  <a:solidFill>
                    <a:srgbClr val="000000"/>
                  </a:solidFill>
                  <a:latin typeface="Heading Now 71-78"/>
                  <a:ea typeface="Heading Now 71-78"/>
                  <a:cs typeface="Heading Now 71-78"/>
                  <a:sym typeface="Heading Now 71-78"/>
                </a:rPr>
                <a:t>c) Mô hình nhiều – nhiều</a:t>
              </a:r>
            </a:p>
            <a:p>
              <a:pPr algn="l">
                <a:lnSpc>
                  <a:spcPts val="1959"/>
                </a:lnSpc>
              </a:pPr>
            </a:p>
          </p:txBody>
        </p:sp>
      </p:grpSp>
      <p:grpSp>
        <p:nvGrpSpPr>
          <p:cNvPr name="Group 68" id="68"/>
          <p:cNvGrpSpPr/>
          <p:nvPr/>
        </p:nvGrpSpPr>
        <p:grpSpPr>
          <a:xfrm rot="0">
            <a:off x="672854" y="3226764"/>
            <a:ext cx="3642724" cy="2840853"/>
            <a:chOff x="0" y="0"/>
            <a:chExt cx="4856966" cy="3787804"/>
          </a:xfrm>
        </p:grpSpPr>
        <p:sp>
          <p:nvSpPr>
            <p:cNvPr name="TextBox 69" id="69"/>
            <p:cNvSpPr txBox="true"/>
            <p:nvPr/>
          </p:nvSpPr>
          <p:spPr>
            <a:xfrm rot="0">
              <a:off x="0" y="-28575"/>
              <a:ext cx="4856966" cy="2565641"/>
            </a:xfrm>
            <a:prstGeom prst="rect">
              <a:avLst/>
            </a:prstGeom>
          </p:spPr>
          <p:txBody>
            <a:bodyPr anchor="t" rtlCol="false" tIns="0" lIns="0" bIns="0" rIns="0">
              <a:spAutoFit/>
            </a:bodyPr>
            <a:lstStyle/>
            <a:p>
              <a:pPr algn="l" marL="0" indent="0" lvl="0">
                <a:lnSpc>
                  <a:spcPts val="7684"/>
                </a:lnSpc>
                <a:spcBef>
                  <a:spcPct val="0"/>
                </a:spcBef>
              </a:pPr>
              <a:r>
                <a:rPr lang="en-US" b="true" sz="6147">
                  <a:solidFill>
                    <a:srgbClr val="000000"/>
                  </a:solidFill>
                  <a:latin typeface="Muli Bold"/>
                  <a:ea typeface="Muli Bold"/>
                  <a:cs typeface="Muli Bold"/>
                  <a:sym typeface="Muli Bold"/>
                </a:rPr>
                <a:t>5. Luồng (Thread)</a:t>
              </a:r>
            </a:p>
          </p:txBody>
        </p:sp>
        <p:sp>
          <p:nvSpPr>
            <p:cNvPr name="TextBox 70" id="70"/>
            <p:cNvSpPr txBox="true"/>
            <p:nvPr/>
          </p:nvSpPr>
          <p:spPr>
            <a:xfrm rot="0">
              <a:off x="0" y="3243297"/>
              <a:ext cx="4856966" cy="544507"/>
            </a:xfrm>
            <a:prstGeom prst="rect">
              <a:avLst/>
            </a:prstGeom>
          </p:spPr>
          <p:txBody>
            <a:bodyPr anchor="t" rtlCol="false" tIns="0" lIns="0" bIns="0" rIns="0">
              <a:spAutoFit/>
            </a:bodyPr>
            <a:lstStyle/>
            <a:p>
              <a:pPr algn="l" marL="0" indent="0" lvl="0">
                <a:lnSpc>
                  <a:spcPts val="3462"/>
                </a:lnSpc>
                <a:spcBef>
                  <a:spcPct val="0"/>
                </a:spcBef>
              </a:pPr>
            </a:p>
          </p:txBody>
        </p:sp>
      </p:grpSp>
      <p:sp>
        <p:nvSpPr>
          <p:cNvPr name="TextBox 71" id="71"/>
          <p:cNvSpPr txBox="true"/>
          <p:nvPr/>
        </p:nvSpPr>
        <p:spPr>
          <a:xfrm rot="0">
            <a:off x="6243094" y="211446"/>
            <a:ext cx="5271895" cy="295275"/>
          </a:xfrm>
          <a:prstGeom prst="rect">
            <a:avLst/>
          </a:prstGeom>
        </p:spPr>
        <p:txBody>
          <a:bodyPr anchor="t" rtlCol="false" tIns="0" lIns="0" bIns="0" rIns="0">
            <a:spAutoFit/>
          </a:bodyPr>
          <a:lstStyle/>
          <a:p>
            <a:pPr algn="l">
              <a:lnSpc>
                <a:spcPts val="2068"/>
              </a:lnSpc>
            </a:pPr>
            <a:r>
              <a:rPr lang="en-US" sz="1723" b="true">
                <a:solidFill>
                  <a:srgbClr val="000000"/>
                </a:solidFill>
                <a:latin typeface="Heading Now 71-78 Bold"/>
                <a:ea typeface="Heading Now 71-78 Bold"/>
                <a:cs typeface="Heading Now 71-78 Bold"/>
                <a:sym typeface="Heading Now 71-78 Bold"/>
              </a:rPr>
              <a:t>Khái niệm</a:t>
            </a:r>
          </a:p>
        </p:txBody>
      </p:sp>
      <p:sp>
        <p:nvSpPr>
          <p:cNvPr name="TextBox 72" id="72"/>
          <p:cNvSpPr txBox="true"/>
          <p:nvPr/>
        </p:nvSpPr>
        <p:spPr>
          <a:xfrm rot="0">
            <a:off x="13471309" y="259154"/>
            <a:ext cx="4453707" cy="247483"/>
          </a:xfrm>
          <a:prstGeom prst="rect">
            <a:avLst/>
          </a:prstGeom>
        </p:spPr>
        <p:txBody>
          <a:bodyPr anchor="t" rtlCol="false" tIns="0" lIns="0" bIns="0" rIns="0">
            <a:spAutoFit/>
          </a:bodyPr>
          <a:lstStyle/>
          <a:p>
            <a:pPr algn="l">
              <a:lnSpc>
                <a:spcPts val="2068"/>
              </a:lnSpc>
            </a:pPr>
          </a:p>
        </p:txBody>
      </p:sp>
      <p:sp>
        <p:nvSpPr>
          <p:cNvPr name="TextBox 73" id="73"/>
          <p:cNvSpPr txBox="true"/>
          <p:nvPr/>
        </p:nvSpPr>
        <p:spPr>
          <a:xfrm rot="0">
            <a:off x="6243094" y="6979049"/>
            <a:ext cx="5609651" cy="552450"/>
          </a:xfrm>
          <a:prstGeom prst="rect">
            <a:avLst/>
          </a:prstGeom>
        </p:spPr>
        <p:txBody>
          <a:bodyPr anchor="t" rtlCol="false" tIns="0" lIns="0" bIns="0" rIns="0">
            <a:spAutoFit/>
          </a:bodyPr>
          <a:lstStyle/>
          <a:p>
            <a:pPr algn="l">
              <a:lnSpc>
                <a:spcPts val="2068"/>
              </a:lnSpc>
            </a:pPr>
            <a:r>
              <a:rPr lang="en-US" sz="1723" b="true">
                <a:solidFill>
                  <a:srgbClr val="000000"/>
                </a:solidFill>
                <a:latin typeface="Heading Now 71-78 Bold"/>
                <a:ea typeface="Heading Now 71-78 Bold"/>
                <a:cs typeface="Heading Now 71-78 Bold"/>
                <a:sym typeface="Heading Now 71-78 Bold"/>
              </a:rPr>
              <a:t>Mô hình đa luồng</a:t>
            </a:r>
          </a:p>
          <a:p>
            <a:pPr algn="l" marL="0" indent="0" lvl="0">
              <a:lnSpc>
                <a:spcPts val="2068"/>
              </a:lnSpc>
              <a:spcBef>
                <a:spcPct val="0"/>
              </a:spcBef>
            </a:pPr>
          </a:p>
        </p:txBody>
      </p:sp>
      <p:grpSp>
        <p:nvGrpSpPr>
          <p:cNvPr name="Group 74" id="74"/>
          <p:cNvGrpSpPr/>
          <p:nvPr/>
        </p:nvGrpSpPr>
        <p:grpSpPr>
          <a:xfrm rot="0">
            <a:off x="8529862" y="939628"/>
            <a:ext cx="2848259" cy="2800925"/>
            <a:chOff x="0" y="0"/>
            <a:chExt cx="6755815" cy="6643544"/>
          </a:xfrm>
        </p:grpSpPr>
        <p:sp>
          <p:nvSpPr>
            <p:cNvPr name="Freeform 75" id="75"/>
            <p:cNvSpPr/>
            <p:nvPr/>
          </p:nvSpPr>
          <p:spPr>
            <a:xfrm flipH="false" flipV="false" rot="0">
              <a:off x="0" y="0"/>
              <a:ext cx="6755815" cy="6643544"/>
            </a:xfrm>
            <a:custGeom>
              <a:avLst/>
              <a:gdLst/>
              <a:ahLst/>
              <a:cxnLst/>
              <a:rect r="r" b="b" t="t" l="l"/>
              <a:pathLst>
                <a:path h="6643544" w="6755815">
                  <a:moveTo>
                    <a:pt x="6755815" y="25400"/>
                  </a:moveTo>
                  <a:cubicBezTo>
                    <a:pt x="6755815" y="11372"/>
                    <a:pt x="6744448" y="0"/>
                    <a:pt x="6730415" y="0"/>
                  </a:cubicBezTo>
                  <a:lnTo>
                    <a:pt x="25400" y="0"/>
                  </a:lnTo>
                  <a:cubicBezTo>
                    <a:pt x="11372" y="0"/>
                    <a:pt x="0" y="11372"/>
                    <a:pt x="0" y="25400"/>
                  </a:cubicBezTo>
                  <a:lnTo>
                    <a:pt x="0" y="6618144"/>
                  </a:lnTo>
                  <a:cubicBezTo>
                    <a:pt x="0" y="6632177"/>
                    <a:pt x="11372" y="6643544"/>
                    <a:pt x="25400" y="6643544"/>
                  </a:cubicBezTo>
                  <a:lnTo>
                    <a:pt x="6730415" y="6643544"/>
                  </a:lnTo>
                  <a:cubicBezTo>
                    <a:pt x="6744448" y="6643544"/>
                    <a:pt x="6755815" y="6632177"/>
                    <a:pt x="6755815" y="6618144"/>
                  </a:cubicBezTo>
                  <a:lnTo>
                    <a:pt x="6755815" y="25400"/>
                  </a:lnTo>
                  <a:close/>
                </a:path>
              </a:pathLst>
            </a:custGeom>
            <a:solidFill>
              <a:srgbClr val="B6E1BF"/>
            </a:solidFill>
          </p:spPr>
        </p:sp>
        <p:sp>
          <p:nvSpPr>
            <p:cNvPr name="TextBox 76" id="76"/>
            <p:cNvSpPr txBox="true"/>
            <p:nvPr/>
          </p:nvSpPr>
          <p:spPr>
            <a:xfrm>
              <a:off x="152400" y="187325"/>
              <a:ext cx="6451015" cy="6202219"/>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Chia sẻ cùng các luồng khác trong cùng một tiến trình: </a:t>
              </a:r>
            </a:p>
            <a:p>
              <a:pPr algn="l">
                <a:lnSpc>
                  <a:spcPts val="1959"/>
                </a:lnSpc>
              </a:pPr>
              <a:r>
                <a:rPr lang="en-US" sz="1399">
                  <a:solidFill>
                    <a:srgbClr val="000000"/>
                  </a:solidFill>
                  <a:latin typeface="Heading Now 71-78"/>
                  <a:ea typeface="Heading Now 71-78"/>
                  <a:cs typeface="Heading Now 71-78"/>
                  <a:sym typeface="Heading Now 71-78"/>
                </a:rPr>
                <a:t>      + Đoạn mã lệnh. </a:t>
              </a:r>
            </a:p>
            <a:p>
              <a:pPr algn="l">
                <a:lnSpc>
                  <a:spcPts val="1959"/>
                </a:lnSpc>
              </a:pPr>
              <a:r>
                <a:rPr lang="en-US" sz="1399">
                  <a:solidFill>
                    <a:srgbClr val="000000"/>
                  </a:solidFill>
                  <a:latin typeface="Heading Now 71-78"/>
                  <a:ea typeface="Heading Now 71-78"/>
                  <a:cs typeface="Heading Now 71-78"/>
                  <a:sym typeface="Heading Now 71-78"/>
                </a:rPr>
                <a:t>      + Đoạn dữ liệu (đối tượng toàn cục). </a:t>
              </a:r>
            </a:p>
            <a:p>
              <a:pPr algn="l">
                <a:lnSpc>
                  <a:spcPts val="1959"/>
                </a:lnSpc>
              </a:pPr>
              <a:r>
                <a:rPr lang="en-US" sz="1399">
                  <a:solidFill>
                    <a:srgbClr val="000000"/>
                  </a:solidFill>
                  <a:latin typeface="Heading Now 71-78"/>
                  <a:ea typeface="Heading Now 71-78"/>
                  <a:cs typeface="Heading Now 71-78"/>
                  <a:sym typeface="Heading Now 71-78"/>
                </a:rPr>
                <a:t>      + Các tài nguyên hệ điều hành khác (file đang mở).</a:t>
              </a:r>
            </a:p>
            <a:p>
              <a:pPr algn="l">
                <a:lnSpc>
                  <a:spcPts val="1959"/>
                </a:lnSpc>
              </a:pPr>
            </a:p>
          </p:txBody>
        </p:sp>
      </p:grpSp>
      <p:grpSp>
        <p:nvGrpSpPr>
          <p:cNvPr name="Group 77" id="77"/>
          <p:cNvGrpSpPr/>
          <p:nvPr/>
        </p:nvGrpSpPr>
        <p:grpSpPr>
          <a:xfrm rot="0">
            <a:off x="5319350" y="3923915"/>
            <a:ext cx="6058772" cy="2069284"/>
            <a:chOff x="0" y="0"/>
            <a:chExt cx="14370862" cy="4908155"/>
          </a:xfrm>
        </p:grpSpPr>
        <p:sp>
          <p:nvSpPr>
            <p:cNvPr name="Freeform 78" id="78"/>
            <p:cNvSpPr/>
            <p:nvPr/>
          </p:nvSpPr>
          <p:spPr>
            <a:xfrm flipH="false" flipV="false" rot="0">
              <a:off x="0" y="0"/>
              <a:ext cx="14370862" cy="4908155"/>
            </a:xfrm>
            <a:custGeom>
              <a:avLst/>
              <a:gdLst/>
              <a:ahLst/>
              <a:cxnLst/>
              <a:rect r="r" b="b" t="t" l="l"/>
              <a:pathLst>
                <a:path h="4908155" w="14370862">
                  <a:moveTo>
                    <a:pt x="14370862" y="25400"/>
                  </a:moveTo>
                  <a:cubicBezTo>
                    <a:pt x="14370862" y="11372"/>
                    <a:pt x="14359496" y="0"/>
                    <a:pt x="14345462" y="0"/>
                  </a:cubicBezTo>
                  <a:lnTo>
                    <a:pt x="25400" y="0"/>
                  </a:lnTo>
                  <a:cubicBezTo>
                    <a:pt x="11372" y="0"/>
                    <a:pt x="0" y="11372"/>
                    <a:pt x="0" y="25400"/>
                  </a:cubicBezTo>
                  <a:lnTo>
                    <a:pt x="0" y="4882755"/>
                  </a:lnTo>
                  <a:cubicBezTo>
                    <a:pt x="0" y="4896788"/>
                    <a:pt x="11372" y="4908155"/>
                    <a:pt x="25400" y="4908155"/>
                  </a:cubicBezTo>
                  <a:lnTo>
                    <a:pt x="14345462" y="4908155"/>
                  </a:lnTo>
                  <a:cubicBezTo>
                    <a:pt x="14359496" y="4908155"/>
                    <a:pt x="14370862" y="4896788"/>
                    <a:pt x="14370862" y="4882755"/>
                  </a:cubicBezTo>
                  <a:lnTo>
                    <a:pt x="14370862" y="25400"/>
                  </a:lnTo>
                  <a:close/>
                </a:path>
              </a:pathLst>
            </a:custGeom>
            <a:solidFill>
              <a:srgbClr val="D4F6C8"/>
            </a:solidFill>
          </p:spPr>
        </p:sp>
        <p:sp>
          <p:nvSpPr>
            <p:cNvPr name="TextBox 79" id="79"/>
            <p:cNvSpPr txBox="true"/>
            <p:nvPr/>
          </p:nvSpPr>
          <p:spPr>
            <a:xfrm>
              <a:off x="152400" y="187325"/>
              <a:ext cx="14066062" cy="4466830"/>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-Các luồng có thể thực hiện cùng đoạn mã với ngữ cảnh ( Tập thanh ghi, Bộ đếm chương trình , stack) khác nhau. </a:t>
              </a:r>
            </a:p>
            <a:p>
              <a:pPr algn="l">
                <a:lnSpc>
                  <a:spcPts val="1959"/>
                </a:lnSpc>
              </a:pPr>
              <a:r>
                <a:rPr lang="en-US" sz="1399">
                  <a:solidFill>
                    <a:srgbClr val="000000"/>
                  </a:solidFill>
                  <a:latin typeface="Heading Now 71-78"/>
                  <a:ea typeface="Heading Now 71-78"/>
                  <a:cs typeface="Heading Now 71-78"/>
                  <a:sym typeface="Heading Now 71-78"/>
                </a:rPr>
                <a:t>- Còn được gọi là tiến trình nhẹ (LWP: Lightweight Process).</a:t>
              </a:r>
            </a:p>
            <a:p>
              <a:pPr algn="l">
                <a:lnSpc>
                  <a:spcPts val="1959"/>
                </a:lnSpc>
              </a:pPr>
              <a:r>
                <a:rPr lang="en-US" sz="1399">
                  <a:solidFill>
                    <a:srgbClr val="000000"/>
                  </a:solidFill>
                  <a:latin typeface="Heading Now 71-78"/>
                  <a:ea typeface="Heading Now 71-78"/>
                  <a:cs typeface="Heading Now 71-78"/>
                  <a:sym typeface="Heading Now 71-78"/>
                </a:rPr>
                <a:t>- Một tiến trình có ít nhất là một luồng.</a:t>
              </a:r>
            </a:p>
            <a:p>
              <a:pPr algn="l">
                <a:lnSpc>
                  <a:spcPts val="1959"/>
                </a:lnSpc>
              </a:pPr>
            </a:p>
          </p:txBody>
        </p:sp>
      </p:grpSp>
      <p:sp>
        <p:nvSpPr>
          <p:cNvPr name="TextBox 80" id="80"/>
          <p:cNvSpPr txBox="true"/>
          <p:nvPr/>
        </p:nvSpPr>
        <p:spPr>
          <a:xfrm rot="0">
            <a:off x="13661939" y="240747"/>
            <a:ext cx="5271895" cy="295275"/>
          </a:xfrm>
          <a:prstGeom prst="rect">
            <a:avLst/>
          </a:prstGeom>
        </p:spPr>
        <p:txBody>
          <a:bodyPr anchor="t" rtlCol="false" tIns="0" lIns="0" bIns="0" rIns="0">
            <a:spAutoFit/>
          </a:bodyPr>
          <a:lstStyle/>
          <a:p>
            <a:pPr algn="l">
              <a:lnSpc>
                <a:spcPts val="2068"/>
              </a:lnSpc>
            </a:pPr>
            <a:r>
              <a:rPr lang="en-US" sz="1723" b="true">
                <a:solidFill>
                  <a:srgbClr val="000000"/>
                </a:solidFill>
                <a:latin typeface="Heading Now 71-78 Bold"/>
                <a:ea typeface="Heading Now 71-78 Bold"/>
                <a:cs typeface="Heading Now 71-78 Bold"/>
                <a:sym typeface="Heading Now 71-78 Bold"/>
              </a:rPr>
              <a:t>Lợi ích</a:t>
            </a:r>
          </a:p>
        </p:txBody>
      </p:sp>
      <p:grpSp>
        <p:nvGrpSpPr>
          <p:cNvPr name="Group 81" id="81"/>
          <p:cNvGrpSpPr>
            <a:grpSpLocks noChangeAspect="true"/>
          </p:cNvGrpSpPr>
          <p:nvPr/>
        </p:nvGrpSpPr>
        <p:grpSpPr>
          <a:xfrm rot="0">
            <a:off x="12548070" y="2464891"/>
            <a:ext cx="195919" cy="195919"/>
            <a:chOff x="0" y="0"/>
            <a:chExt cx="495300" cy="495300"/>
          </a:xfrm>
        </p:grpSpPr>
        <p:sp>
          <p:nvSpPr>
            <p:cNvPr name="Freeform 82" id="82"/>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83" id="83"/>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3F7E7"/>
            </a:solidFill>
          </p:spPr>
        </p:sp>
      </p:grpSp>
      <p:grpSp>
        <p:nvGrpSpPr>
          <p:cNvPr name="Group 84" id="84"/>
          <p:cNvGrpSpPr>
            <a:grpSpLocks noChangeAspect="true"/>
          </p:cNvGrpSpPr>
          <p:nvPr/>
        </p:nvGrpSpPr>
        <p:grpSpPr>
          <a:xfrm rot="0">
            <a:off x="12548070" y="1584691"/>
            <a:ext cx="195919" cy="195919"/>
            <a:chOff x="0" y="0"/>
            <a:chExt cx="495300" cy="495300"/>
          </a:xfrm>
        </p:grpSpPr>
        <p:sp>
          <p:nvSpPr>
            <p:cNvPr name="Freeform 85" id="85"/>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86" id="86"/>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9C374"/>
            </a:solidFill>
          </p:spPr>
        </p:sp>
      </p:grpSp>
      <p:grpSp>
        <p:nvGrpSpPr>
          <p:cNvPr name="Group 87" id="87"/>
          <p:cNvGrpSpPr>
            <a:grpSpLocks noChangeAspect="true"/>
          </p:cNvGrpSpPr>
          <p:nvPr/>
        </p:nvGrpSpPr>
        <p:grpSpPr>
          <a:xfrm rot="0">
            <a:off x="12548070" y="1028700"/>
            <a:ext cx="195919" cy="195919"/>
            <a:chOff x="0" y="0"/>
            <a:chExt cx="495300" cy="495300"/>
          </a:xfrm>
        </p:grpSpPr>
        <p:sp>
          <p:nvSpPr>
            <p:cNvPr name="Freeform 88" id="8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89" id="8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7B2B0"/>
            </a:solidFill>
          </p:spPr>
        </p:sp>
      </p:grpSp>
      <p:sp>
        <p:nvSpPr>
          <p:cNvPr name="TextBox 90" id="90"/>
          <p:cNvSpPr txBox="true"/>
          <p:nvPr/>
        </p:nvSpPr>
        <p:spPr>
          <a:xfrm rot="0">
            <a:off x="12993902" y="962025"/>
            <a:ext cx="3303985" cy="278765"/>
          </a:xfrm>
          <a:prstGeom prst="rect">
            <a:avLst/>
          </a:prstGeom>
        </p:spPr>
        <p:txBody>
          <a:bodyPr anchor="t" rtlCol="false" tIns="0" lIns="0" bIns="0" rIns="0">
            <a:spAutoFit/>
          </a:bodyPr>
          <a:lstStyle/>
          <a:p>
            <a:pPr algn="ctr">
              <a:lnSpc>
                <a:spcPts val="1960"/>
              </a:lnSpc>
            </a:pPr>
            <a:r>
              <a:rPr lang="en-US" sz="1400">
                <a:solidFill>
                  <a:srgbClr val="000000"/>
                </a:solidFill>
                <a:latin typeface="Heading Now 71-78"/>
                <a:ea typeface="Heading Now 71-78"/>
                <a:cs typeface="Heading Now 71-78"/>
                <a:sym typeface="Heading Now 71-78"/>
              </a:rPr>
              <a:t>Tăng tính đáp ứng với người dùng </a:t>
            </a:r>
          </a:p>
        </p:txBody>
      </p:sp>
      <p:sp>
        <p:nvSpPr>
          <p:cNvPr name="TextBox 91" id="91"/>
          <p:cNvSpPr txBox="true"/>
          <p:nvPr/>
        </p:nvSpPr>
        <p:spPr>
          <a:xfrm rot="0">
            <a:off x="12993902" y="1468067"/>
            <a:ext cx="4858246" cy="774065"/>
          </a:xfrm>
          <a:prstGeom prst="rect">
            <a:avLst/>
          </a:prstGeom>
        </p:spPr>
        <p:txBody>
          <a:bodyPr anchor="t" rtlCol="false" tIns="0" lIns="0" bIns="0" rIns="0">
            <a:spAutoFit/>
          </a:bodyPr>
          <a:lstStyle/>
          <a:p>
            <a:pPr algn="l">
              <a:lnSpc>
                <a:spcPts val="1960"/>
              </a:lnSpc>
            </a:pPr>
            <a:r>
              <a:rPr lang="en-US" sz="1400">
                <a:solidFill>
                  <a:srgbClr val="000000"/>
                </a:solidFill>
                <a:latin typeface="Heading Now 71-78"/>
                <a:ea typeface="Heading Now 71-78"/>
                <a:cs typeface="Heading Now 71-78"/>
                <a:sym typeface="Heading Now 71-78"/>
              </a:rPr>
              <a:t>Cho phép chương trình vẫn thực hiện ngay khi một phần đang chờ đợi (block) hoặc đang thực hiện tính toán tăng cường.</a:t>
            </a:r>
          </a:p>
        </p:txBody>
      </p:sp>
      <p:sp>
        <p:nvSpPr>
          <p:cNvPr name="TextBox 92" id="92"/>
          <p:cNvSpPr txBox="true"/>
          <p:nvPr/>
        </p:nvSpPr>
        <p:spPr>
          <a:xfrm rot="0">
            <a:off x="12993902" y="2398216"/>
            <a:ext cx="4858246" cy="278765"/>
          </a:xfrm>
          <a:prstGeom prst="rect">
            <a:avLst/>
          </a:prstGeom>
        </p:spPr>
        <p:txBody>
          <a:bodyPr anchor="t" rtlCol="false" tIns="0" lIns="0" bIns="0" rIns="0">
            <a:spAutoFit/>
          </a:bodyPr>
          <a:lstStyle/>
          <a:p>
            <a:pPr algn="l">
              <a:lnSpc>
                <a:spcPts val="1960"/>
              </a:lnSpc>
            </a:pPr>
            <a:r>
              <a:rPr lang="en-US" sz="1400">
                <a:solidFill>
                  <a:srgbClr val="000000"/>
                </a:solidFill>
                <a:latin typeface="Heading Now 71-78"/>
                <a:ea typeface="Heading Now 71-78"/>
                <a:cs typeface="Heading Now 71-78"/>
                <a:sym typeface="Heading Now 71-78"/>
              </a:rPr>
              <a:t>Chia sẻ tài nguyên </a:t>
            </a:r>
          </a:p>
        </p:txBody>
      </p:sp>
      <p:sp>
        <p:nvSpPr>
          <p:cNvPr name="TextBox 93" id="93"/>
          <p:cNvSpPr txBox="true"/>
          <p:nvPr/>
        </p:nvSpPr>
        <p:spPr>
          <a:xfrm rot="0">
            <a:off x="12993902" y="2947999"/>
            <a:ext cx="1401366" cy="278765"/>
          </a:xfrm>
          <a:prstGeom prst="rect">
            <a:avLst/>
          </a:prstGeom>
        </p:spPr>
        <p:txBody>
          <a:bodyPr anchor="t" rtlCol="false" tIns="0" lIns="0" bIns="0" rIns="0">
            <a:spAutoFit/>
          </a:bodyPr>
          <a:lstStyle/>
          <a:p>
            <a:pPr algn="ctr">
              <a:lnSpc>
                <a:spcPts val="1960"/>
              </a:lnSpc>
            </a:pPr>
            <a:r>
              <a:rPr lang="en-US" sz="1400">
                <a:solidFill>
                  <a:srgbClr val="000000"/>
                </a:solidFill>
                <a:latin typeface="Heading Now 71-78"/>
                <a:ea typeface="Heading Now 71-78"/>
                <a:cs typeface="Heading Now 71-78"/>
                <a:sym typeface="Heading Now 71-78"/>
              </a:rPr>
              <a:t>Có tính kinh tế</a:t>
            </a:r>
          </a:p>
        </p:txBody>
      </p:sp>
      <p:grpSp>
        <p:nvGrpSpPr>
          <p:cNvPr name="Group 94" id="94"/>
          <p:cNvGrpSpPr>
            <a:grpSpLocks noChangeAspect="true"/>
          </p:cNvGrpSpPr>
          <p:nvPr/>
        </p:nvGrpSpPr>
        <p:grpSpPr>
          <a:xfrm rot="0">
            <a:off x="12548070" y="3022760"/>
            <a:ext cx="195919" cy="195919"/>
            <a:chOff x="0" y="0"/>
            <a:chExt cx="495300" cy="495300"/>
          </a:xfrm>
        </p:grpSpPr>
        <p:sp>
          <p:nvSpPr>
            <p:cNvPr name="Freeform 95" id="95"/>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6" id="96"/>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B6E3F9"/>
            </a:solidFill>
          </p:spPr>
        </p:sp>
      </p:grpSp>
      <p:grpSp>
        <p:nvGrpSpPr>
          <p:cNvPr name="Group 97" id="97"/>
          <p:cNvGrpSpPr>
            <a:grpSpLocks noChangeAspect="true"/>
          </p:cNvGrpSpPr>
          <p:nvPr/>
        </p:nvGrpSpPr>
        <p:grpSpPr>
          <a:xfrm rot="0">
            <a:off x="12548070" y="3581976"/>
            <a:ext cx="195919" cy="195919"/>
            <a:chOff x="0" y="0"/>
            <a:chExt cx="495300" cy="495300"/>
          </a:xfrm>
        </p:grpSpPr>
        <p:sp>
          <p:nvSpPr>
            <p:cNvPr name="Freeform 98" id="9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9" id="9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B6E3F9"/>
            </a:solidFill>
          </p:spPr>
        </p:sp>
      </p:grpSp>
      <p:sp>
        <p:nvSpPr>
          <p:cNvPr name="TextBox 100" id="100"/>
          <p:cNvSpPr txBox="true"/>
          <p:nvPr/>
        </p:nvSpPr>
        <p:spPr>
          <a:xfrm rot="0">
            <a:off x="12993902" y="3515301"/>
            <a:ext cx="3038220" cy="278765"/>
          </a:xfrm>
          <a:prstGeom prst="rect">
            <a:avLst/>
          </a:prstGeom>
        </p:spPr>
        <p:txBody>
          <a:bodyPr anchor="t" rtlCol="false" tIns="0" lIns="0" bIns="0" rIns="0">
            <a:spAutoFit/>
          </a:bodyPr>
          <a:lstStyle/>
          <a:p>
            <a:pPr algn="ctr">
              <a:lnSpc>
                <a:spcPts val="1960"/>
              </a:lnSpc>
            </a:pPr>
            <a:r>
              <a:rPr lang="en-US" sz="1400">
                <a:solidFill>
                  <a:srgbClr val="000000"/>
                </a:solidFill>
                <a:latin typeface="Heading Now 71-78"/>
                <a:ea typeface="Heading Now 71-78"/>
                <a:cs typeface="Heading Now 71-78"/>
                <a:sym typeface="Heading Now 71-78"/>
              </a:rPr>
              <a:t>Sử dụng kiến trúc nhiều vi xử lý</a:t>
            </a:r>
          </a:p>
        </p:txBody>
      </p:sp>
      <p:grpSp>
        <p:nvGrpSpPr>
          <p:cNvPr name="Group 101" id="101"/>
          <p:cNvGrpSpPr/>
          <p:nvPr/>
        </p:nvGrpSpPr>
        <p:grpSpPr>
          <a:xfrm rot="0">
            <a:off x="12485873" y="4013141"/>
            <a:ext cx="5439143" cy="2036963"/>
            <a:chOff x="0" y="0"/>
            <a:chExt cx="12901159" cy="4831494"/>
          </a:xfrm>
        </p:grpSpPr>
        <p:sp>
          <p:nvSpPr>
            <p:cNvPr name="Freeform 102" id="102"/>
            <p:cNvSpPr/>
            <p:nvPr/>
          </p:nvSpPr>
          <p:spPr>
            <a:xfrm flipH="false" flipV="false" rot="0">
              <a:off x="0" y="0"/>
              <a:ext cx="12901159" cy="4831494"/>
            </a:xfrm>
            <a:custGeom>
              <a:avLst/>
              <a:gdLst/>
              <a:ahLst/>
              <a:cxnLst/>
              <a:rect r="r" b="b" t="t" l="l"/>
              <a:pathLst>
                <a:path h="4831494" w="12901159">
                  <a:moveTo>
                    <a:pt x="12901159" y="25400"/>
                  </a:moveTo>
                  <a:cubicBezTo>
                    <a:pt x="12901159" y="11372"/>
                    <a:pt x="12889792" y="0"/>
                    <a:pt x="12875759" y="0"/>
                  </a:cubicBezTo>
                  <a:lnTo>
                    <a:pt x="25400" y="0"/>
                  </a:lnTo>
                  <a:cubicBezTo>
                    <a:pt x="11372" y="0"/>
                    <a:pt x="0" y="11372"/>
                    <a:pt x="0" y="25400"/>
                  </a:cubicBezTo>
                  <a:lnTo>
                    <a:pt x="0" y="4806094"/>
                  </a:lnTo>
                  <a:cubicBezTo>
                    <a:pt x="0" y="4820127"/>
                    <a:pt x="11372" y="4831494"/>
                    <a:pt x="25400" y="4831494"/>
                  </a:cubicBezTo>
                  <a:lnTo>
                    <a:pt x="12875759" y="4831494"/>
                  </a:lnTo>
                  <a:cubicBezTo>
                    <a:pt x="12889792" y="4831494"/>
                    <a:pt x="12901159" y="4820127"/>
                    <a:pt x="12901159" y="4806094"/>
                  </a:cubicBezTo>
                  <a:lnTo>
                    <a:pt x="12901159" y="25400"/>
                  </a:lnTo>
                  <a:close/>
                </a:path>
              </a:pathLst>
            </a:custGeom>
            <a:solidFill>
              <a:srgbClr val="FDF9B4"/>
            </a:solidFill>
          </p:spPr>
        </p:sp>
        <p:sp>
          <p:nvSpPr>
            <p:cNvPr name="TextBox 103" id="103"/>
            <p:cNvSpPr txBox="true"/>
            <p:nvPr/>
          </p:nvSpPr>
          <p:spPr>
            <a:xfrm>
              <a:off x="152400" y="187325"/>
              <a:ext cx="12596359" cy="4390169"/>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Có 2 loại luồng cơ bản: </a:t>
              </a:r>
            </a:p>
            <a:p>
              <a:pPr algn="l">
                <a:lnSpc>
                  <a:spcPts val="1959"/>
                </a:lnSpc>
              </a:pPr>
              <a:r>
                <a:rPr lang="en-US" sz="1399">
                  <a:solidFill>
                    <a:srgbClr val="000000"/>
                  </a:solidFill>
                  <a:latin typeface="Heading Now 71-78"/>
                  <a:ea typeface="Heading Now 71-78"/>
                  <a:cs typeface="Heading Now 71-78"/>
                  <a:sym typeface="Heading Now 71-78"/>
                </a:rPr>
                <a:t>I.</a:t>
              </a:r>
              <a:r>
                <a:rPr lang="en-US" sz="1399">
                  <a:solidFill>
                    <a:srgbClr val="000000"/>
                  </a:solidFill>
                  <a:latin typeface="Heading Now 71-78"/>
                  <a:ea typeface="Heading Now 71-78"/>
                  <a:cs typeface="Heading Now 71-78"/>
                  <a:sym typeface="Heading Now 71-78"/>
                </a:rPr>
                <a:t>           Luồng mức người dùng (User – Level Threads). </a:t>
              </a:r>
            </a:p>
            <a:p>
              <a:pPr algn="l">
                <a:lnSpc>
                  <a:spcPts val="1959"/>
                </a:lnSpc>
              </a:pPr>
              <a:r>
                <a:rPr lang="en-US" sz="1399">
                  <a:solidFill>
                    <a:srgbClr val="000000"/>
                  </a:solidFill>
                  <a:latin typeface="Heading Now 71-78"/>
                  <a:ea typeface="Heading Now 71-78"/>
                  <a:cs typeface="Heading Now 71-78"/>
                  <a:sym typeface="Heading Now 71-78"/>
                </a:rPr>
                <a:t>II</a:t>
              </a:r>
              <a:r>
                <a:rPr lang="en-US" sz="1399">
                  <a:solidFill>
                    <a:srgbClr val="000000"/>
                  </a:solidFill>
                  <a:latin typeface="Heading Now 71-78"/>
                  <a:ea typeface="Heading Now 71-78"/>
                  <a:cs typeface="Heading Now 71-78"/>
                  <a:sym typeface="Heading Now 71-78"/>
                </a:rPr>
                <a:t>.          Luồng mức hệ thống (Kernel - Level Threads).</a:t>
              </a:r>
            </a:p>
            <a:p>
              <a:pPr algn="l">
                <a:lnSpc>
                  <a:spcPts val="1959"/>
                </a:lnSpc>
              </a:pPr>
            </a:p>
          </p:txBody>
        </p:sp>
      </p:grpSp>
      <p:grpSp>
        <p:nvGrpSpPr>
          <p:cNvPr name="Group 104" id="104"/>
          <p:cNvGrpSpPr/>
          <p:nvPr/>
        </p:nvGrpSpPr>
        <p:grpSpPr>
          <a:xfrm rot="0">
            <a:off x="12305429" y="6803784"/>
            <a:ext cx="5879647" cy="3113329"/>
            <a:chOff x="0" y="0"/>
            <a:chExt cx="4121349" cy="2182294"/>
          </a:xfrm>
        </p:grpSpPr>
        <p:sp>
          <p:nvSpPr>
            <p:cNvPr name="Freeform 105" id="105"/>
            <p:cNvSpPr/>
            <p:nvPr/>
          </p:nvSpPr>
          <p:spPr>
            <a:xfrm flipH="false" flipV="false" rot="0">
              <a:off x="80010" y="80010"/>
              <a:ext cx="4028639" cy="2089584"/>
            </a:xfrm>
            <a:custGeom>
              <a:avLst/>
              <a:gdLst/>
              <a:ahLst/>
              <a:cxnLst/>
              <a:rect r="r" b="b" t="t" l="l"/>
              <a:pathLst>
                <a:path h="2089584" w="4028639">
                  <a:moveTo>
                    <a:pt x="0" y="2034974"/>
                  </a:moveTo>
                  <a:lnTo>
                    <a:pt x="0" y="2089584"/>
                  </a:lnTo>
                  <a:lnTo>
                    <a:pt x="4028639" y="2089584"/>
                  </a:lnTo>
                  <a:lnTo>
                    <a:pt x="4028639" y="0"/>
                  </a:lnTo>
                  <a:lnTo>
                    <a:pt x="3974029" y="0"/>
                  </a:lnTo>
                  <a:lnTo>
                    <a:pt x="3974029" y="2034974"/>
                  </a:lnTo>
                  <a:close/>
                </a:path>
              </a:pathLst>
            </a:custGeom>
            <a:solidFill>
              <a:srgbClr val="D6E8FF"/>
            </a:solidFill>
          </p:spPr>
        </p:sp>
        <p:sp>
          <p:nvSpPr>
            <p:cNvPr name="Freeform 106" id="106"/>
            <p:cNvSpPr/>
            <p:nvPr/>
          </p:nvSpPr>
          <p:spPr>
            <a:xfrm flipH="false" flipV="false" rot="0">
              <a:off x="67310" y="67310"/>
              <a:ext cx="4054039" cy="2114984"/>
            </a:xfrm>
            <a:custGeom>
              <a:avLst/>
              <a:gdLst/>
              <a:ahLst/>
              <a:cxnLst/>
              <a:rect r="r" b="b" t="t" l="l"/>
              <a:pathLst>
                <a:path h="2114984" w="4054039">
                  <a:moveTo>
                    <a:pt x="3986729" y="0"/>
                  </a:moveTo>
                  <a:lnTo>
                    <a:pt x="3986729" y="12700"/>
                  </a:lnTo>
                  <a:lnTo>
                    <a:pt x="4041339" y="12700"/>
                  </a:lnTo>
                  <a:lnTo>
                    <a:pt x="4041339" y="2102284"/>
                  </a:lnTo>
                  <a:lnTo>
                    <a:pt x="12700" y="2102284"/>
                  </a:lnTo>
                  <a:lnTo>
                    <a:pt x="12700" y="2047674"/>
                  </a:lnTo>
                  <a:lnTo>
                    <a:pt x="0" y="2047674"/>
                  </a:lnTo>
                  <a:lnTo>
                    <a:pt x="0" y="2114984"/>
                  </a:lnTo>
                  <a:lnTo>
                    <a:pt x="4054039" y="2114984"/>
                  </a:lnTo>
                  <a:lnTo>
                    <a:pt x="4054039" y="0"/>
                  </a:lnTo>
                  <a:close/>
                </a:path>
              </a:pathLst>
            </a:custGeom>
            <a:solidFill>
              <a:srgbClr val="000000"/>
            </a:solidFill>
          </p:spPr>
        </p:sp>
        <p:sp>
          <p:nvSpPr>
            <p:cNvPr name="Freeform 107" id="107"/>
            <p:cNvSpPr/>
            <p:nvPr/>
          </p:nvSpPr>
          <p:spPr>
            <a:xfrm flipH="false" flipV="false" rot="0">
              <a:off x="12700" y="12700"/>
              <a:ext cx="4028639" cy="2089584"/>
            </a:xfrm>
            <a:custGeom>
              <a:avLst/>
              <a:gdLst/>
              <a:ahLst/>
              <a:cxnLst/>
              <a:rect r="r" b="b" t="t" l="l"/>
              <a:pathLst>
                <a:path h="2089584" w="4028639">
                  <a:moveTo>
                    <a:pt x="0" y="0"/>
                  </a:moveTo>
                  <a:lnTo>
                    <a:pt x="4028639" y="0"/>
                  </a:lnTo>
                  <a:lnTo>
                    <a:pt x="4028639" y="2089584"/>
                  </a:lnTo>
                  <a:lnTo>
                    <a:pt x="0" y="2089584"/>
                  </a:lnTo>
                  <a:close/>
                </a:path>
              </a:pathLst>
            </a:custGeom>
            <a:solidFill>
              <a:srgbClr val="FFFFFF"/>
            </a:solidFill>
          </p:spPr>
        </p:sp>
        <p:sp>
          <p:nvSpPr>
            <p:cNvPr name="Freeform 108" id="108"/>
            <p:cNvSpPr/>
            <p:nvPr/>
          </p:nvSpPr>
          <p:spPr>
            <a:xfrm flipH="false" flipV="false" rot="0">
              <a:off x="0" y="0"/>
              <a:ext cx="4054039" cy="2114984"/>
            </a:xfrm>
            <a:custGeom>
              <a:avLst/>
              <a:gdLst/>
              <a:ahLst/>
              <a:cxnLst/>
              <a:rect r="r" b="b" t="t" l="l"/>
              <a:pathLst>
                <a:path h="2114984" w="4054039">
                  <a:moveTo>
                    <a:pt x="80010" y="2114984"/>
                  </a:moveTo>
                  <a:lnTo>
                    <a:pt x="4054039" y="2114984"/>
                  </a:lnTo>
                  <a:lnTo>
                    <a:pt x="4054039" y="80010"/>
                  </a:lnTo>
                  <a:lnTo>
                    <a:pt x="4054039" y="67310"/>
                  </a:lnTo>
                  <a:lnTo>
                    <a:pt x="4054039" y="0"/>
                  </a:lnTo>
                  <a:lnTo>
                    <a:pt x="0" y="0"/>
                  </a:lnTo>
                  <a:lnTo>
                    <a:pt x="0" y="2114984"/>
                  </a:lnTo>
                  <a:lnTo>
                    <a:pt x="67310" y="2114984"/>
                  </a:lnTo>
                  <a:lnTo>
                    <a:pt x="80010" y="2114984"/>
                  </a:lnTo>
                  <a:close/>
                  <a:moveTo>
                    <a:pt x="12700" y="12700"/>
                  </a:moveTo>
                  <a:lnTo>
                    <a:pt x="4041339" y="12700"/>
                  </a:lnTo>
                  <a:lnTo>
                    <a:pt x="4041339" y="2102284"/>
                  </a:lnTo>
                  <a:lnTo>
                    <a:pt x="12700" y="2102284"/>
                  </a:lnTo>
                  <a:lnTo>
                    <a:pt x="12700" y="12700"/>
                  </a:lnTo>
                  <a:close/>
                </a:path>
              </a:pathLst>
            </a:custGeom>
            <a:solidFill>
              <a:srgbClr val="000000"/>
            </a:solidFill>
          </p:spPr>
        </p:sp>
      </p:grpSp>
      <p:grpSp>
        <p:nvGrpSpPr>
          <p:cNvPr name="Group 109" id="109"/>
          <p:cNvGrpSpPr/>
          <p:nvPr/>
        </p:nvGrpSpPr>
        <p:grpSpPr>
          <a:xfrm rot="0">
            <a:off x="12289374" y="6803784"/>
            <a:ext cx="5806975" cy="756267"/>
            <a:chOff x="0" y="0"/>
            <a:chExt cx="51878697" cy="6756381"/>
          </a:xfrm>
        </p:grpSpPr>
        <p:sp>
          <p:nvSpPr>
            <p:cNvPr name="Freeform 110" id="110"/>
            <p:cNvSpPr/>
            <p:nvPr/>
          </p:nvSpPr>
          <p:spPr>
            <a:xfrm flipH="false" flipV="false" rot="0">
              <a:off x="72390" y="72390"/>
              <a:ext cx="51733918" cy="6611600"/>
            </a:xfrm>
            <a:custGeom>
              <a:avLst/>
              <a:gdLst/>
              <a:ahLst/>
              <a:cxnLst/>
              <a:rect r="r" b="b" t="t" l="l"/>
              <a:pathLst>
                <a:path h="6611600" w="51733918">
                  <a:moveTo>
                    <a:pt x="0" y="0"/>
                  </a:moveTo>
                  <a:lnTo>
                    <a:pt x="51733918" y="0"/>
                  </a:lnTo>
                  <a:lnTo>
                    <a:pt x="51733918" y="6611600"/>
                  </a:lnTo>
                  <a:lnTo>
                    <a:pt x="0" y="6611600"/>
                  </a:lnTo>
                  <a:lnTo>
                    <a:pt x="0" y="0"/>
                  </a:lnTo>
                  <a:close/>
                </a:path>
              </a:pathLst>
            </a:custGeom>
            <a:solidFill>
              <a:srgbClr val="D6E8FF"/>
            </a:solidFill>
          </p:spPr>
        </p:sp>
        <p:sp>
          <p:nvSpPr>
            <p:cNvPr name="Freeform 111" id="111"/>
            <p:cNvSpPr/>
            <p:nvPr/>
          </p:nvSpPr>
          <p:spPr>
            <a:xfrm flipH="false" flipV="false" rot="0">
              <a:off x="0" y="0"/>
              <a:ext cx="51878697" cy="6756381"/>
            </a:xfrm>
            <a:custGeom>
              <a:avLst/>
              <a:gdLst/>
              <a:ahLst/>
              <a:cxnLst/>
              <a:rect r="r" b="b" t="t" l="l"/>
              <a:pathLst>
                <a:path h="6756381" w="51878697">
                  <a:moveTo>
                    <a:pt x="51733918" y="6611600"/>
                  </a:moveTo>
                  <a:lnTo>
                    <a:pt x="51878697" y="6611600"/>
                  </a:lnTo>
                  <a:lnTo>
                    <a:pt x="51878697" y="6756381"/>
                  </a:lnTo>
                  <a:lnTo>
                    <a:pt x="51733918" y="6756381"/>
                  </a:lnTo>
                  <a:lnTo>
                    <a:pt x="51733918" y="6611600"/>
                  </a:lnTo>
                  <a:close/>
                  <a:moveTo>
                    <a:pt x="0" y="144780"/>
                  </a:moveTo>
                  <a:lnTo>
                    <a:pt x="144780" y="144780"/>
                  </a:lnTo>
                  <a:lnTo>
                    <a:pt x="144780" y="6611600"/>
                  </a:lnTo>
                  <a:lnTo>
                    <a:pt x="0" y="6611600"/>
                  </a:lnTo>
                  <a:lnTo>
                    <a:pt x="0" y="144780"/>
                  </a:lnTo>
                  <a:close/>
                  <a:moveTo>
                    <a:pt x="0" y="6611600"/>
                  </a:moveTo>
                  <a:lnTo>
                    <a:pt x="144780" y="6611600"/>
                  </a:lnTo>
                  <a:lnTo>
                    <a:pt x="144780" y="6756381"/>
                  </a:lnTo>
                  <a:lnTo>
                    <a:pt x="0" y="6756381"/>
                  </a:lnTo>
                  <a:lnTo>
                    <a:pt x="0" y="6611600"/>
                  </a:lnTo>
                  <a:close/>
                  <a:moveTo>
                    <a:pt x="51733918" y="144780"/>
                  </a:moveTo>
                  <a:lnTo>
                    <a:pt x="51878697" y="144780"/>
                  </a:lnTo>
                  <a:lnTo>
                    <a:pt x="51878697" y="6611600"/>
                  </a:lnTo>
                  <a:lnTo>
                    <a:pt x="51733918" y="6611600"/>
                  </a:lnTo>
                  <a:lnTo>
                    <a:pt x="51733918" y="144780"/>
                  </a:lnTo>
                  <a:close/>
                  <a:moveTo>
                    <a:pt x="144780" y="6611600"/>
                  </a:moveTo>
                  <a:lnTo>
                    <a:pt x="51733918" y="6611600"/>
                  </a:lnTo>
                  <a:lnTo>
                    <a:pt x="51733918" y="6756381"/>
                  </a:lnTo>
                  <a:lnTo>
                    <a:pt x="144780" y="6756381"/>
                  </a:lnTo>
                  <a:lnTo>
                    <a:pt x="144780" y="6611600"/>
                  </a:lnTo>
                  <a:close/>
                  <a:moveTo>
                    <a:pt x="51733918" y="0"/>
                  </a:moveTo>
                  <a:lnTo>
                    <a:pt x="51878697" y="0"/>
                  </a:lnTo>
                  <a:lnTo>
                    <a:pt x="51878697" y="144780"/>
                  </a:lnTo>
                  <a:lnTo>
                    <a:pt x="51733918" y="144780"/>
                  </a:lnTo>
                  <a:lnTo>
                    <a:pt x="51733918" y="0"/>
                  </a:lnTo>
                  <a:close/>
                  <a:moveTo>
                    <a:pt x="0" y="0"/>
                  </a:moveTo>
                  <a:lnTo>
                    <a:pt x="144780" y="0"/>
                  </a:lnTo>
                  <a:lnTo>
                    <a:pt x="144780" y="144780"/>
                  </a:lnTo>
                  <a:lnTo>
                    <a:pt x="0" y="144780"/>
                  </a:lnTo>
                  <a:lnTo>
                    <a:pt x="0" y="0"/>
                  </a:lnTo>
                  <a:close/>
                  <a:moveTo>
                    <a:pt x="144780" y="0"/>
                  </a:moveTo>
                  <a:lnTo>
                    <a:pt x="51733918" y="0"/>
                  </a:lnTo>
                  <a:lnTo>
                    <a:pt x="51733918" y="144780"/>
                  </a:lnTo>
                  <a:lnTo>
                    <a:pt x="144780" y="144780"/>
                  </a:lnTo>
                  <a:lnTo>
                    <a:pt x="144780" y="0"/>
                  </a:lnTo>
                  <a:close/>
                </a:path>
              </a:pathLst>
            </a:custGeom>
            <a:solidFill>
              <a:srgbClr val="000000"/>
            </a:solidFill>
          </p:spPr>
        </p:sp>
      </p:grpSp>
      <p:grpSp>
        <p:nvGrpSpPr>
          <p:cNvPr name="Group 112" id="112"/>
          <p:cNvGrpSpPr/>
          <p:nvPr/>
        </p:nvGrpSpPr>
        <p:grpSpPr>
          <a:xfrm rot="0">
            <a:off x="12487406" y="7075751"/>
            <a:ext cx="852445" cy="198573"/>
            <a:chOff x="0" y="0"/>
            <a:chExt cx="1136593" cy="264764"/>
          </a:xfrm>
        </p:grpSpPr>
        <p:grpSp>
          <p:nvGrpSpPr>
            <p:cNvPr name="Group 113" id="113"/>
            <p:cNvGrpSpPr>
              <a:grpSpLocks noChangeAspect="true"/>
            </p:cNvGrpSpPr>
            <p:nvPr/>
          </p:nvGrpSpPr>
          <p:grpSpPr>
            <a:xfrm rot="0">
              <a:off x="875368" y="3539"/>
              <a:ext cx="261225" cy="261225"/>
              <a:chOff x="0" y="0"/>
              <a:chExt cx="495300" cy="495300"/>
            </a:xfrm>
          </p:grpSpPr>
          <p:sp>
            <p:nvSpPr>
              <p:cNvPr name="Freeform 114" id="1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15" id="1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3F7E7"/>
              </a:solidFill>
            </p:spPr>
          </p:sp>
        </p:grpSp>
        <p:grpSp>
          <p:nvGrpSpPr>
            <p:cNvPr name="Group 116" id="116"/>
            <p:cNvGrpSpPr>
              <a:grpSpLocks noChangeAspect="true"/>
            </p:cNvGrpSpPr>
            <p:nvPr/>
          </p:nvGrpSpPr>
          <p:grpSpPr>
            <a:xfrm rot="0">
              <a:off x="449165" y="0"/>
              <a:ext cx="261225" cy="261225"/>
              <a:chOff x="0" y="0"/>
              <a:chExt cx="495300" cy="495300"/>
            </a:xfrm>
          </p:grpSpPr>
          <p:sp>
            <p:nvSpPr>
              <p:cNvPr name="Freeform 117" id="1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18" id="1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9C374"/>
              </a:solidFill>
            </p:spPr>
          </p:sp>
        </p:grpSp>
        <p:grpSp>
          <p:nvGrpSpPr>
            <p:cNvPr name="Group 119" id="119"/>
            <p:cNvGrpSpPr>
              <a:grpSpLocks noChangeAspect="true"/>
            </p:cNvGrpSpPr>
            <p:nvPr/>
          </p:nvGrpSpPr>
          <p:grpSpPr>
            <a:xfrm rot="0">
              <a:off x="0" y="0"/>
              <a:ext cx="261225" cy="261225"/>
              <a:chOff x="0" y="0"/>
              <a:chExt cx="495300" cy="495300"/>
            </a:xfrm>
          </p:grpSpPr>
          <p:sp>
            <p:nvSpPr>
              <p:cNvPr name="Freeform 120" id="12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1" id="12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7B2B0"/>
              </a:solidFill>
            </p:spPr>
          </p:sp>
        </p:grpSp>
      </p:grpSp>
      <p:grpSp>
        <p:nvGrpSpPr>
          <p:cNvPr name="Group 122" id="122"/>
          <p:cNvGrpSpPr/>
          <p:nvPr/>
        </p:nvGrpSpPr>
        <p:grpSpPr>
          <a:xfrm rot="0">
            <a:off x="12607419" y="7747031"/>
            <a:ext cx="5181559" cy="1818409"/>
            <a:chOff x="0" y="0"/>
            <a:chExt cx="12290193" cy="4313103"/>
          </a:xfrm>
        </p:grpSpPr>
        <p:sp>
          <p:nvSpPr>
            <p:cNvPr name="Freeform 123" id="123"/>
            <p:cNvSpPr/>
            <p:nvPr/>
          </p:nvSpPr>
          <p:spPr>
            <a:xfrm flipH="false" flipV="false" rot="0">
              <a:off x="0" y="0"/>
              <a:ext cx="12290193" cy="4313103"/>
            </a:xfrm>
            <a:custGeom>
              <a:avLst/>
              <a:gdLst/>
              <a:ahLst/>
              <a:cxnLst/>
              <a:rect r="r" b="b" t="t" l="l"/>
              <a:pathLst>
                <a:path h="4313103" w="12290193">
                  <a:moveTo>
                    <a:pt x="12290193" y="25400"/>
                  </a:moveTo>
                  <a:cubicBezTo>
                    <a:pt x="12290193" y="11372"/>
                    <a:pt x="12278827" y="0"/>
                    <a:pt x="12264793" y="0"/>
                  </a:cubicBezTo>
                  <a:lnTo>
                    <a:pt x="25400" y="0"/>
                  </a:lnTo>
                  <a:cubicBezTo>
                    <a:pt x="11372" y="0"/>
                    <a:pt x="0" y="11372"/>
                    <a:pt x="0" y="25400"/>
                  </a:cubicBezTo>
                  <a:lnTo>
                    <a:pt x="0" y="4287703"/>
                  </a:lnTo>
                  <a:cubicBezTo>
                    <a:pt x="0" y="4301737"/>
                    <a:pt x="11372" y="4313103"/>
                    <a:pt x="25400" y="4313103"/>
                  </a:cubicBezTo>
                  <a:lnTo>
                    <a:pt x="12264793" y="4313103"/>
                  </a:lnTo>
                  <a:cubicBezTo>
                    <a:pt x="12278827" y="4313103"/>
                    <a:pt x="12290193" y="4301737"/>
                    <a:pt x="12290193" y="4287703"/>
                  </a:cubicBezTo>
                  <a:lnTo>
                    <a:pt x="12290193" y="25400"/>
                  </a:lnTo>
                  <a:close/>
                </a:path>
              </a:pathLst>
            </a:custGeom>
            <a:solidFill>
              <a:srgbClr val="D6E8FF"/>
            </a:solidFill>
          </p:spPr>
        </p:sp>
        <p:sp>
          <p:nvSpPr>
            <p:cNvPr name="TextBox 124" id="124"/>
            <p:cNvSpPr txBox="true"/>
            <p:nvPr/>
          </p:nvSpPr>
          <p:spPr>
            <a:xfrm>
              <a:off x="152400" y="187325"/>
              <a:ext cx="11985393" cy="3871778"/>
            </a:xfrm>
            <a:prstGeom prst="rect">
              <a:avLst/>
            </a:prstGeom>
          </p:spPr>
          <p:txBody>
            <a:bodyPr anchor="ctr" rtlCol="false" tIns="38075" lIns="38075" bIns="38075" rIns="38075"/>
            <a:lstStyle/>
            <a:p>
              <a:pPr algn="l">
                <a:lnSpc>
                  <a:spcPts val="1959"/>
                </a:lnSpc>
              </a:pPr>
              <a:r>
                <a:rPr lang="en-US" sz="1399">
                  <a:solidFill>
                    <a:srgbClr val="000000"/>
                  </a:solidFill>
                  <a:latin typeface="Heading Now 71-78"/>
                  <a:ea typeface="Heading Now 71-78"/>
                  <a:cs typeface="Heading Now 71-78"/>
                  <a:sym typeface="Heading Now 71-78"/>
                </a:rPr>
                <a:t>Để tăng tốc độ cho một hệ thống máy tính, ngoài việc sử dụng nhiều CPU, còn có một giải pháp khác – hyper threading (siêu phân luồng).</a:t>
              </a:r>
            </a:p>
          </p:txBody>
        </p:sp>
      </p:grpSp>
      <p:sp>
        <p:nvSpPr>
          <p:cNvPr name="TextBox 125" id="125"/>
          <p:cNvSpPr txBox="true"/>
          <p:nvPr/>
        </p:nvSpPr>
        <p:spPr>
          <a:xfrm rot="0">
            <a:off x="13537620" y="6979049"/>
            <a:ext cx="4167827" cy="552450"/>
          </a:xfrm>
          <a:prstGeom prst="rect">
            <a:avLst/>
          </a:prstGeom>
        </p:spPr>
        <p:txBody>
          <a:bodyPr anchor="t" rtlCol="false" tIns="0" lIns="0" bIns="0" rIns="0">
            <a:spAutoFit/>
          </a:bodyPr>
          <a:lstStyle/>
          <a:p>
            <a:pPr algn="l">
              <a:lnSpc>
                <a:spcPts val="2068"/>
              </a:lnSpc>
            </a:pPr>
            <a:r>
              <a:rPr lang="en-US" sz="1723" b="true">
                <a:solidFill>
                  <a:srgbClr val="000000"/>
                </a:solidFill>
                <a:latin typeface="Heading Now 71-78 Bold"/>
                <a:ea typeface="Heading Now 71-78 Bold"/>
                <a:cs typeface="Heading Now 71-78 Bold"/>
                <a:sym typeface="Heading Now 71-78 Bold"/>
              </a:rPr>
              <a:t>Siêu phân luồng</a:t>
            </a:r>
          </a:p>
          <a:p>
            <a:pPr algn="l" marL="0" indent="0" lvl="0">
              <a:lnSpc>
                <a:spcPts val="2068"/>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37257" y="3054562"/>
            <a:ext cx="6103856" cy="4853432"/>
            <a:chOff x="0" y="0"/>
            <a:chExt cx="4104822" cy="3263916"/>
          </a:xfrm>
        </p:grpSpPr>
        <p:sp>
          <p:nvSpPr>
            <p:cNvPr name="Freeform 4" id="4"/>
            <p:cNvSpPr/>
            <p:nvPr/>
          </p:nvSpPr>
          <p:spPr>
            <a:xfrm flipH="false" flipV="false" rot="0">
              <a:off x="0" y="0"/>
              <a:ext cx="4104822" cy="3263916"/>
            </a:xfrm>
            <a:custGeom>
              <a:avLst/>
              <a:gdLst/>
              <a:ahLst/>
              <a:cxnLst/>
              <a:rect r="r" b="b" t="t" l="l"/>
              <a:pathLst>
                <a:path h="3263916" w="4104822">
                  <a:moveTo>
                    <a:pt x="0" y="0"/>
                  </a:moveTo>
                  <a:lnTo>
                    <a:pt x="4104822" y="0"/>
                  </a:lnTo>
                  <a:lnTo>
                    <a:pt x="4104822" y="3263916"/>
                  </a:lnTo>
                  <a:lnTo>
                    <a:pt x="0" y="3263916"/>
                  </a:lnTo>
                  <a:close/>
                </a:path>
              </a:pathLst>
            </a:custGeom>
            <a:solidFill>
              <a:srgbClr val="F0FF8A"/>
            </a:solidFill>
          </p:spPr>
        </p:sp>
        <p:sp>
          <p:nvSpPr>
            <p:cNvPr name="TextBox 5" id="5"/>
            <p:cNvSpPr txBox="true"/>
            <p:nvPr/>
          </p:nvSpPr>
          <p:spPr>
            <a:xfrm>
              <a:off x="0" y="-66675"/>
              <a:ext cx="4104822" cy="3330591"/>
            </a:xfrm>
            <a:prstGeom prst="rect">
              <a:avLst/>
            </a:prstGeom>
          </p:spPr>
          <p:txBody>
            <a:bodyPr anchor="t" rtlCol="false" tIns="27224" lIns="27224" bIns="27224" rIns="27224"/>
            <a:lstStyle/>
            <a:p>
              <a:pPr algn="l">
                <a:lnSpc>
                  <a:spcPts val="2025"/>
                </a:lnSpc>
              </a:pPr>
            </a:p>
            <a:p>
              <a:pPr algn="l">
                <a:lnSpc>
                  <a:spcPts val="2025"/>
                </a:lnSpc>
              </a:pPr>
            </a:p>
            <a:p>
              <a:pPr algn="l">
                <a:lnSpc>
                  <a:spcPts val="2025"/>
                </a:lnSpc>
              </a:pPr>
            </a:p>
            <a:p>
              <a:pPr algn="l">
                <a:lnSpc>
                  <a:spcPts val="2725"/>
                </a:lnSpc>
              </a:pPr>
            </a:p>
          </p:txBody>
        </p:sp>
      </p:grpSp>
      <p:grpSp>
        <p:nvGrpSpPr>
          <p:cNvPr name="Group 6" id="6"/>
          <p:cNvGrpSpPr/>
          <p:nvPr/>
        </p:nvGrpSpPr>
        <p:grpSpPr>
          <a:xfrm rot="0">
            <a:off x="12035422" y="2262052"/>
            <a:ext cx="5499311" cy="4358667"/>
            <a:chOff x="0" y="0"/>
            <a:chExt cx="3698268" cy="2931189"/>
          </a:xfrm>
        </p:grpSpPr>
        <p:sp>
          <p:nvSpPr>
            <p:cNvPr name="Freeform 7" id="7"/>
            <p:cNvSpPr/>
            <p:nvPr/>
          </p:nvSpPr>
          <p:spPr>
            <a:xfrm flipH="false" flipV="false" rot="0">
              <a:off x="0" y="0"/>
              <a:ext cx="3698268" cy="2931189"/>
            </a:xfrm>
            <a:custGeom>
              <a:avLst/>
              <a:gdLst/>
              <a:ahLst/>
              <a:cxnLst/>
              <a:rect r="r" b="b" t="t" l="l"/>
              <a:pathLst>
                <a:path h="2931189" w="3698268">
                  <a:moveTo>
                    <a:pt x="0" y="0"/>
                  </a:moveTo>
                  <a:lnTo>
                    <a:pt x="3698268" y="0"/>
                  </a:lnTo>
                  <a:lnTo>
                    <a:pt x="3698268" y="2931189"/>
                  </a:lnTo>
                  <a:lnTo>
                    <a:pt x="0" y="2931189"/>
                  </a:lnTo>
                  <a:close/>
                </a:path>
              </a:pathLst>
            </a:custGeom>
            <a:solidFill>
              <a:srgbClr val="FFF5B6"/>
            </a:solidFill>
          </p:spPr>
        </p:sp>
        <p:sp>
          <p:nvSpPr>
            <p:cNvPr name="TextBox 8" id="8"/>
            <p:cNvSpPr txBox="true"/>
            <p:nvPr/>
          </p:nvSpPr>
          <p:spPr>
            <a:xfrm>
              <a:off x="0" y="-104775"/>
              <a:ext cx="3698268" cy="3035964"/>
            </a:xfrm>
            <a:prstGeom prst="rect">
              <a:avLst/>
            </a:prstGeom>
          </p:spPr>
          <p:txBody>
            <a:bodyPr anchor="t" rtlCol="false" tIns="27224" lIns="27224" bIns="27224" rIns="27224"/>
            <a:lstStyle/>
            <a:p>
              <a:pPr algn="l">
                <a:lnSpc>
                  <a:spcPts val="3145"/>
                </a:lnSpc>
              </a:pPr>
              <a:r>
                <a:rPr lang="en-US" sz="2246">
                  <a:solidFill>
                    <a:srgbClr val="373737"/>
                  </a:solidFill>
                  <a:latin typeface="Heading Now 71-78"/>
                  <a:ea typeface="Heading Now 71-78"/>
                  <a:cs typeface="Heading Now 71-78"/>
                  <a:sym typeface="Heading Now 71-78"/>
                </a:rPr>
                <a:t>      Cách hoạt động</a:t>
              </a:r>
            </a:p>
          </p:txBody>
        </p:sp>
      </p:grpSp>
      <p:grpSp>
        <p:nvGrpSpPr>
          <p:cNvPr name="Group 9" id="9"/>
          <p:cNvGrpSpPr/>
          <p:nvPr/>
        </p:nvGrpSpPr>
        <p:grpSpPr>
          <a:xfrm rot="0">
            <a:off x="0" y="0"/>
            <a:ext cx="18288000" cy="1800899"/>
            <a:chOff x="0" y="0"/>
            <a:chExt cx="8668170" cy="853592"/>
          </a:xfrm>
        </p:grpSpPr>
        <p:sp>
          <p:nvSpPr>
            <p:cNvPr name="Freeform 10" id="10"/>
            <p:cNvSpPr/>
            <p:nvPr/>
          </p:nvSpPr>
          <p:spPr>
            <a:xfrm flipH="false" flipV="false" rot="0">
              <a:off x="0" y="0"/>
              <a:ext cx="8668170" cy="853592"/>
            </a:xfrm>
            <a:custGeom>
              <a:avLst/>
              <a:gdLst/>
              <a:ahLst/>
              <a:cxnLst/>
              <a:rect r="r" b="b" t="t" l="l"/>
              <a:pathLst>
                <a:path h="853592" w="8668170">
                  <a:moveTo>
                    <a:pt x="0" y="0"/>
                  </a:moveTo>
                  <a:lnTo>
                    <a:pt x="8668170" y="0"/>
                  </a:lnTo>
                  <a:lnTo>
                    <a:pt x="8668170" y="853592"/>
                  </a:lnTo>
                  <a:lnTo>
                    <a:pt x="0" y="853592"/>
                  </a:lnTo>
                  <a:close/>
                </a:path>
              </a:pathLst>
            </a:custGeom>
            <a:solidFill>
              <a:srgbClr val="373737"/>
            </a:solidFill>
          </p:spPr>
        </p:sp>
        <p:sp>
          <p:nvSpPr>
            <p:cNvPr name="TextBox 11" id="11"/>
            <p:cNvSpPr txBox="true"/>
            <p:nvPr/>
          </p:nvSpPr>
          <p:spPr>
            <a:xfrm>
              <a:off x="0" y="-142875"/>
              <a:ext cx="8668170" cy="996467"/>
            </a:xfrm>
            <a:prstGeom prst="rect">
              <a:avLst/>
            </a:prstGeom>
          </p:spPr>
          <p:txBody>
            <a:bodyPr anchor="ctr" rtlCol="false" tIns="27224" lIns="27224" bIns="27224" rIns="27224"/>
            <a:lstStyle/>
            <a:p>
              <a:pPr algn="ctr" marL="0" indent="0" lvl="0">
                <a:lnSpc>
                  <a:spcPts val="10203"/>
                </a:lnSpc>
                <a:spcBef>
                  <a:spcPct val="0"/>
                </a:spcBef>
              </a:pPr>
              <a:r>
                <a:rPr lang="en-US" sz="7288">
                  <a:solidFill>
                    <a:srgbClr val="FFFFFF"/>
                  </a:solidFill>
                  <a:latin typeface="Oswald"/>
                  <a:ea typeface="Oswald"/>
                  <a:cs typeface="Oswald"/>
                  <a:sym typeface="Oswald"/>
                </a:rPr>
                <a:t>6. Task Manager</a:t>
              </a:r>
            </a:p>
          </p:txBody>
        </p:sp>
      </p:grpSp>
      <p:sp>
        <p:nvSpPr>
          <p:cNvPr name="Freeform 12" id="12"/>
          <p:cNvSpPr/>
          <p:nvPr/>
        </p:nvSpPr>
        <p:spPr>
          <a:xfrm flipH="false" flipV="false" rot="0">
            <a:off x="4675180" y="4055653"/>
            <a:ext cx="8937640" cy="5809466"/>
          </a:xfrm>
          <a:custGeom>
            <a:avLst/>
            <a:gdLst/>
            <a:ahLst/>
            <a:cxnLst/>
            <a:rect r="r" b="b" t="t" l="l"/>
            <a:pathLst>
              <a:path h="5809466" w="8937640">
                <a:moveTo>
                  <a:pt x="0" y="0"/>
                </a:moveTo>
                <a:lnTo>
                  <a:pt x="8937640" y="0"/>
                </a:lnTo>
                <a:lnTo>
                  <a:pt x="8937640" y="5809465"/>
                </a:lnTo>
                <a:lnTo>
                  <a:pt x="0" y="5809465"/>
                </a:lnTo>
                <a:lnTo>
                  <a:pt x="0" y="0"/>
                </a:lnTo>
                <a:close/>
              </a:path>
            </a:pathLst>
          </a:custGeom>
          <a:blipFill>
            <a:blip r:embed="rId3"/>
            <a:stretch>
              <a:fillRect l="0" t="0" r="0" b="0"/>
            </a:stretch>
          </a:blipFill>
        </p:spPr>
      </p:sp>
      <p:sp>
        <p:nvSpPr>
          <p:cNvPr name="TextBox 13" id="13"/>
          <p:cNvSpPr txBox="true"/>
          <p:nvPr/>
        </p:nvSpPr>
        <p:spPr>
          <a:xfrm rot="0">
            <a:off x="12498856" y="3006937"/>
            <a:ext cx="4863585" cy="3265329"/>
          </a:xfrm>
          <a:prstGeom prst="rect">
            <a:avLst/>
          </a:prstGeom>
        </p:spPr>
        <p:txBody>
          <a:bodyPr anchor="t" rtlCol="false" tIns="0" lIns="0" bIns="0" rIns="0">
            <a:spAutoFit/>
          </a:bodyPr>
          <a:lstStyle/>
          <a:p>
            <a:pPr algn="l">
              <a:lnSpc>
                <a:spcPts val="3246"/>
              </a:lnSpc>
              <a:spcBef>
                <a:spcPct val="0"/>
              </a:spcBef>
            </a:pPr>
            <a:r>
              <a:rPr lang="en-US" sz="2318">
                <a:solidFill>
                  <a:srgbClr val="373737"/>
                </a:solidFill>
                <a:latin typeface="Inter"/>
                <a:ea typeface="Inter"/>
                <a:cs typeface="Inter"/>
                <a:sym typeface="Inter"/>
              </a:rPr>
              <a:t>Task Manager sử dụng API của hệ điều hành Windows để truy cập vào danh sách các tiến trình đang chạy. Danh sách này bao gồm thông tin về tên tiến trình, PID, trạng thái, và tài nguyên hệ thống mà tiến trình đang sử dụng sau đó hiển thị ra cho người dùng</a:t>
            </a:r>
          </a:p>
        </p:txBody>
      </p:sp>
      <p:sp>
        <p:nvSpPr>
          <p:cNvPr name="TextBox 14" id="14"/>
          <p:cNvSpPr txBox="true"/>
          <p:nvPr/>
        </p:nvSpPr>
        <p:spPr>
          <a:xfrm rot="0">
            <a:off x="647981" y="3253842"/>
            <a:ext cx="1651359" cy="447659"/>
          </a:xfrm>
          <a:prstGeom prst="rect">
            <a:avLst/>
          </a:prstGeom>
        </p:spPr>
        <p:txBody>
          <a:bodyPr anchor="t" rtlCol="false" tIns="0" lIns="0" bIns="0" rIns="0">
            <a:spAutoFit/>
          </a:bodyPr>
          <a:lstStyle/>
          <a:p>
            <a:pPr algn="l" marL="0" indent="0" lvl="0">
              <a:lnSpc>
                <a:spcPts val="3300"/>
              </a:lnSpc>
              <a:spcBef>
                <a:spcPct val="0"/>
              </a:spcBef>
            </a:pPr>
            <a:r>
              <a:rPr lang="en-US" sz="2062">
                <a:solidFill>
                  <a:srgbClr val="373737"/>
                </a:solidFill>
                <a:latin typeface="Heading Now 71-78"/>
                <a:ea typeface="Heading Now 71-78"/>
                <a:cs typeface="Heading Now 71-78"/>
                <a:sym typeface="Heading Now 71-78"/>
              </a:rPr>
              <a:t>KHÁI NIỆM</a:t>
            </a:r>
          </a:p>
        </p:txBody>
      </p:sp>
      <p:sp>
        <p:nvSpPr>
          <p:cNvPr name="TextBox 15" id="15"/>
          <p:cNvSpPr txBox="true"/>
          <p:nvPr/>
        </p:nvSpPr>
        <p:spPr>
          <a:xfrm rot="0">
            <a:off x="745028" y="4046439"/>
            <a:ext cx="4720119" cy="3998191"/>
          </a:xfrm>
          <a:prstGeom prst="rect">
            <a:avLst/>
          </a:prstGeom>
        </p:spPr>
        <p:txBody>
          <a:bodyPr anchor="t" rtlCol="false" tIns="0" lIns="0" bIns="0" rIns="0">
            <a:spAutoFit/>
          </a:bodyPr>
          <a:lstStyle/>
          <a:p>
            <a:pPr algn="l">
              <a:lnSpc>
                <a:spcPts val="3161"/>
              </a:lnSpc>
            </a:pPr>
            <a:r>
              <a:rPr lang="en-US" sz="2431">
                <a:solidFill>
                  <a:srgbClr val="373737"/>
                </a:solidFill>
                <a:latin typeface="Inter"/>
                <a:ea typeface="Inter"/>
                <a:cs typeface="Inter"/>
                <a:sym typeface="Inter"/>
              </a:rPr>
              <a:t>Task manager (trình quản lý tác vụ) là chương trình được sử dụng để cung cấp các thông tin về các tiến trình và các chương trình đang chạy trên máy tính, cũng như tình trạng chung của máy tính. Nó cũng có thể để ép dừng một tiến trình hay thay đổi độ ưu tiên của từng tiến trình.</a:t>
            </a:r>
          </a:p>
          <a:p>
            <a:pPr algn="l">
              <a:lnSpc>
                <a:spcPts val="3161"/>
              </a:lnSpc>
              <a:spcBef>
                <a:spcPct val="0"/>
              </a:spcBef>
            </a:pPr>
          </a:p>
        </p:txBody>
      </p:sp>
      <p:sp>
        <p:nvSpPr>
          <p:cNvPr name="Freeform 16" id="16"/>
          <p:cNvSpPr/>
          <p:nvPr/>
        </p:nvSpPr>
        <p:spPr>
          <a:xfrm flipH="false" flipV="false" rot="1596654">
            <a:off x="17377543" y="2081990"/>
            <a:ext cx="691481" cy="691481"/>
          </a:xfrm>
          <a:custGeom>
            <a:avLst/>
            <a:gdLst/>
            <a:ahLst/>
            <a:cxnLst/>
            <a:rect r="r" b="b" t="t" l="l"/>
            <a:pathLst>
              <a:path h="691481" w="691481">
                <a:moveTo>
                  <a:pt x="0" y="0"/>
                </a:moveTo>
                <a:lnTo>
                  <a:pt x="691480" y="0"/>
                </a:lnTo>
                <a:lnTo>
                  <a:pt x="691480" y="691481"/>
                </a:lnTo>
                <a:lnTo>
                  <a:pt x="0" y="691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17437" y="710080"/>
          <a:ext cx="17817455" cy="8743122"/>
        </p:xfrm>
        <a:graphic>
          <a:graphicData uri="http://schemas.openxmlformats.org/drawingml/2006/table">
            <a:tbl>
              <a:tblPr/>
              <a:tblGrid>
                <a:gridCol w="5939152"/>
                <a:gridCol w="5939152"/>
                <a:gridCol w="5939152"/>
              </a:tblGrid>
              <a:tr h="8743122">
                <a:tc gridSpan="3">
                  <a:txBody>
                    <a:bodyPr anchor="t" rtlCol="false"/>
                    <a:lstStyle/>
                    <a:p>
                      <a:pPr algn="ctr">
                        <a:lnSpc>
                          <a:spcPts val="3079"/>
                        </a:lnSpc>
                        <a:defRPr/>
                      </a:pPr>
                      <a:endParaRPr lang="en-US" sz="1100"/>
                    </a:p>
                  </a:txBody>
                  <a:tcPr marL="185772" marR="185772" marT="185772" marB="185772" anchor="t">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D9F4C4"/>
                    </a:solidFill>
                  </a:tcPr>
                </a:tc>
                <a:tc hMerge="true">
                  <a:txBody>
                    <a:bodyPr anchor="t" rtlCol="false"/>
                    <a:lstStyle/>
                    <a:p>
                      <a:pPr algn="ctr">
                        <a:lnSpc>
                          <a:spcPts val="3079"/>
                        </a:lnSpc>
                        <a:defRPr/>
                      </a:pPr>
                      <a:endParaRPr lang="en-US" sz="1100"/>
                    </a:p>
                  </a:txBody>
                  <a:tcPr marL="185772" marR="185772" marT="185772" marB="185772" anchor="t">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D9F4C4"/>
                    </a:solidFill>
                  </a:tcPr>
                </a:tc>
                <a:tc hMerge="true">
                  <a:txBody>
                    <a:bodyPr anchor="t" rtlCol="false"/>
                    <a:lstStyle/>
                    <a:p>
                      <a:pPr algn="ctr">
                        <a:lnSpc>
                          <a:spcPts val="3079"/>
                        </a:lnSpc>
                        <a:defRPr/>
                      </a:pPr>
                      <a:endParaRPr lang="en-US" sz="1100"/>
                    </a:p>
                  </a:txBody>
                  <a:tcPr marL="185772" marR="185772" marT="185772" marB="185772" anchor="t">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D9F4C4"/>
                    </a:solidFill>
                  </a:tcPr>
                </a:tc>
              </a:tr>
            </a:tbl>
          </a:graphicData>
        </a:graphic>
      </p:graphicFrame>
      <p:grpSp>
        <p:nvGrpSpPr>
          <p:cNvPr name="Group 3" id="3"/>
          <p:cNvGrpSpPr/>
          <p:nvPr/>
        </p:nvGrpSpPr>
        <p:grpSpPr>
          <a:xfrm rot="-86375">
            <a:off x="5594423" y="3560003"/>
            <a:ext cx="3005649" cy="4042693"/>
            <a:chOff x="0" y="0"/>
            <a:chExt cx="4007533" cy="5390258"/>
          </a:xfrm>
        </p:grpSpPr>
        <p:sp>
          <p:nvSpPr>
            <p:cNvPr name="Freeform 4" id="4"/>
            <p:cNvSpPr/>
            <p:nvPr/>
          </p:nvSpPr>
          <p:spPr>
            <a:xfrm flipH="false" flipV="false" rot="0">
              <a:off x="0" y="0"/>
              <a:ext cx="4007533" cy="5288658"/>
            </a:xfrm>
            <a:custGeom>
              <a:avLst/>
              <a:gdLst/>
              <a:ahLst/>
              <a:cxnLst/>
              <a:rect r="r" b="b" t="t" l="l"/>
              <a:pathLst>
                <a:path h="5288658" w="4007533">
                  <a:moveTo>
                    <a:pt x="0" y="0"/>
                  </a:moveTo>
                  <a:lnTo>
                    <a:pt x="4007533" y="0"/>
                  </a:lnTo>
                  <a:lnTo>
                    <a:pt x="4007533" y="5288658"/>
                  </a:lnTo>
                  <a:lnTo>
                    <a:pt x="0" y="5288658"/>
                  </a:lnTo>
                  <a:close/>
                </a:path>
              </a:pathLst>
            </a:custGeom>
            <a:solidFill>
              <a:srgbClr val="FDF9B4"/>
            </a:solidFill>
          </p:spPr>
        </p:sp>
        <p:sp>
          <p:nvSpPr>
            <p:cNvPr name="Freeform 5" id="5"/>
            <p:cNvSpPr/>
            <p:nvPr/>
          </p:nvSpPr>
          <p:spPr>
            <a:xfrm flipH="false" flipV="false" rot="0">
              <a:off x="0" y="0"/>
              <a:ext cx="4007533" cy="5390258"/>
            </a:xfrm>
            <a:custGeom>
              <a:avLst/>
              <a:gdLst/>
              <a:ahLst/>
              <a:cxnLst/>
              <a:rect r="r" b="b" t="t" l="l"/>
              <a:pathLst>
                <a:path h="5390258" w="4007533">
                  <a:moveTo>
                    <a:pt x="0" y="5288658"/>
                  </a:moveTo>
                  <a:lnTo>
                    <a:pt x="4007533" y="5288658"/>
                  </a:lnTo>
                  <a:lnTo>
                    <a:pt x="3880533" y="5390258"/>
                  </a:lnTo>
                  <a:cubicBezTo>
                    <a:pt x="3880533" y="5390258"/>
                    <a:pt x="2889933" y="5314058"/>
                    <a:pt x="2788333" y="5314058"/>
                  </a:cubicBezTo>
                  <a:lnTo>
                    <a:pt x="1219200" y="5314058"/>
                  </a:lnTo>
                  <a:cubicBezTo>
                    <a:pt x="1117600" y="5314058"/>
                    <a:pt x="127000" y="5390258"/>
                    <a:pt x="127000" y="5390258"/>
                  </a:cubicBezTo>
                  <a:lnTo>
                    <a:pt x="0" y="5288658"/>
                  </a:lnTo>
                  <a:lnTo>
                    <a:pt x="0" y="0"/>
                  </a:lnTo>
                  <a:lnTo>
                    <a:pt x="4007533" y="0"/>
                  </a:lnTo>
                  <a:lnTo>
                    <a:pt x="4007533" y="5288658"/>
                  </a:lnTo>
                  <a:lnTo>
                    <a:pt x="12700" y="5288658"/>
                  </a:lnTo>
                  <a:lnTo>
                    <a:pt x="12700" y="5275958"/>
                  </a:lnTo>
                  <a:lnTo>
                    <a:pt x="3994833" y="5275958"/>
                  </a:lnTo>
                  <a:lnTo>
                    <a:pt x="3994833" y="12700"/>
                  </a:lnTo>
                  <a:lnTo>
                    <a:pt x="12700" y="12700"/>
                  </a:lnTo>
                  <a:lnTo>
                    <a:pt x="12700" y="5288658"/>
                  </a:lnTo>
                </a:path>
              </a:pathLst>
            </a:custGeom>
            <a:solidFill>
              <a:srgbClr val="394C60">
                <a:alpha val="9804"/>
              </a:srgbClr>
            </a:solidFill>
          </p:spPr>
        </p:sp>
        <p:sp>
          <p:nvSpPr>
            <p:cNvPr name="TextBox 6" id="6"/>
            <p:cNvSpPr txBox="true"/>
            <p:nvPr/>
          </p:nvSpPr>
          <p:spPr>
            <a:xfrm>
              <a:off x="0" y="-66675"/>
              <a:ext cx="4007533" cy="5355333"/>
            </a:xfrm>
            <a:prstGeom prst="rect">
              <a:avLst/>
            </a:prstGeom>
          </p:spPr>
          <p:txBody>
            <a:bodyPr anchor="t" rtlCol="false" tIns="203200" lIns="203200" bIns="203200" rIns="203200"/>
            <a:lstStyle/>
            <a:p>
              <a:pPr algn="l" marL="0" indent="0" lvl="0">
                <a:lnSpc>
                  <a:spcPts val="3219"/>
                </a:lnSpc>
                <a:spcBef>
                  <a:spcPct val="0"/>
                </a:spcBef>
              </a:pPr>
              <a:r>
                <a:rPr lang="en-US" sz="2299">
                  <a:solidFill>
                    <a:srgbClr val="000000"/>
                  </a:solidFill>
                  <a:latin typeface="Arimo"/>
                  <a:ea typeface="Arimo"/>
                  <a:cs typeface="Arimo"/>
                  <a:sym typeface="Arimo"/>
                </a:rPr>
                <a:t>Hiển thị chi tiết tài nguyên hệ thống đang được sử dụng dạng biểu đồ, cho phép người dùng kiểm tra hiệu suất của hệ thống, bao gồm CPU, bộ nhớ, và ổ đĩa.</a:t>
              </a:r>
            </a:p>
          </p:txBody>
        </p:sp>
      </p:grpSp>
      <p:grpSp>
        <p:nvGrpSpPr>
          <p:cNvPr name="Group 7" id="7"/>
          <p:cNvGrpSpPr/>
          <p:nvPr/>
        </p:nvGrpSpPr>
        <p:grpSpPr>
          <a:xfrm rot="0">
            <a:off x="1517193" y="763932"/>
            <a:ext cx="3096712" cy="3642643"/>
            <a:chOff x="0" y="0"/>
            <a:chExt cx="4128949" cy="4856858"/>
          </a:xfrm>
        </p:grpSpPr>
        <p:sp>
          <p:nvSpPr>
            <p:cNvPr name="Freeform 8" id="8"/>
            <p:cNvSpPr/>
            <p:nvPr/>
          </p:nvSpPr>
          <p:spPr>
            <a:xfrm flipH="false" flipV="false" rot="0">
              <a:off x="0" y="0"/>
              <a:ext cx="4128950" cy="4755258"/>
            </a:xfrm>
            <a:custGeom>
              <a:avLst/>
              <a:gdLst/>
              <a:ahLst/>
              <a:cxnLst/>
              <a:rect r="r" b="b" t="t" l="l"/>
              <a:pathLst>
                <a:path h="4755258" w="4128950">
                  <a:moveTo>
                    <a:pt x="0" y="0"/>
                  </a:moveTo>
                  <a:lnTo>
                    <a:pt x="4128950" y="0"/>
                  </a:lnTo>
                  <a:lnTo>
                    <a:pt x="4128950" y="4755258"/>
                  </a:lnTo>
                  <a:lnTo>
                    <a:pt x="0" y="4755258"/>
                  </a:lnTo>
                  <a:close/>
                </a:path>
              </a:pathLst>
            </a:custGeom>
            <a:solidFill>
              <a:srgbClr val="FDF9B4"/>
            </a:solidFill>
          </p:spPr>
        </p:sp>
        <p:sp>
          <p:nvSpPr>
            <p:cNvPr name="Freeform 9" id="9"/>
            <p:cNvSpPr/>
            <p:nvPr/>
          </p:nvSpPr>
          <p:spPr>
            <a:xfrm flipH="false" flipV="false" rot="0">
              <a:off x="0" y="0"/>
              <a:ext cx="4128950" cy="4856858"/>
            </a:xfrm>
            <a:custGeom>
              <a:avLst/>
              <a:gdLst/>
              <a:ahLst/>
              <a:cxnLst/>
              <a:rect r="r" b="b" t="t" l="l"/>
              <a:pathLst>
                <a:path h="4856858" w="4128950">
                  <a:moveTo>
                    <a:pt x="0" y="4755258"/>
                  </a:moveTo>
                  <a:lnTo>
                    <a:pt x="4128950" y="4755258"/>
                  </a:lnTo>
                  <a:lnTo>
                    <a:pt x="4001950" y="4856858"/>
                  </a:lnTo>
                  <a:cubicBezTo>
                    <a:pt x="4001950" y="4856858"/>
                    <a:pt x="3011350" y="4780658"/>
                    <a:pt x="2909750" y="4780658"/>
                  </a:cubicBezTo>
                  <a:lnTo>
                    <a:pt x="1219200" y="4780658"/>
                  </a:lnTo>
                  <a:cubicBezTo>
                    <a:pt x="1117600" y="4780658"/>
                    <a:pt x="127000" y="4856858"/>
                    <a:pt x="127000" y="4856858"/>
                  </a:cubicBezTo>
                  <a:lnTo>
                    <a:pt x="0" y="4755258"/>
                  </a:lnTo>
                  <a:lnTo>
                    <a:pt x="0" y="0"/>
                  </a:lnTo>
                  <a:lnTo>
                    <a:pt x="4128950" y="0"/>
                  </a:lnTo>
                  <a:lnTo>
                    <a:pt x="4128950" y="4755258"/>
                  </a:lnTo>
                  <a:lnTo>
                    <a:pt x="12700" y="4755258"/>
                  </a:lnTo>
                  <a:lnTo>
                    <a:pt x="12700" y="4742558"/>
                  </a:lnTo>
                  <a:lnTo>
                    <a:pt x="4116250" y="4742558"/>
                  </a:lnTo>
                  <a:lnTo>
                    <a:pt x="4116250" y="12700"/>
                  </a:lnTo>
                  <a:lnTo>
                    <a:pt x="12700" y="12700"/>
                  </a:lnTo>
                  <a:lnTo>
                    <a:pt x="12700" y="4755258"/>
                  </a:lnTo>
                </a:path>
              </a:pathLst>
            </a:custGeom>
            <a:solidFill>
              <a:srgbClr val="394C60">
                <a:alpha val="9804"/>
              </a:srgbClr>
            </a:solidFill>
          </p:spPr>
        </p:sp>
        <p:sp>
          <p:nvSpPr>
            <p:cNvPr name="TextBox 10" id="10"/>
            <p:cNvSpPr txBox="true"/>
            <p:nvPr/>
          </p:nvSpPr>
          <p:spPr>
            <a:xfrm>
              <a:off x="0" y="-66675"/>
              <a:ext cx="4128949" cy="4821933"/>
            </a:xfrm>
            <a:prstGeom prst="rect">
              <a:avLst/>
            </a:prstGeom>
          </p:spPr>
          <p:txBody>
            <a:bodyPr anchor="t" rtlCol="false" tIns="203200" lIns="203200" bIns="203200" rIns="203200"/>
            <a:lstStyle/>
            <a:p>
              <a:pPr algn="l" marL="0" indent="0" lvl="0">
                <a:lnSpc>
                  <a:spcPts val="3219"/>
                </a:lnSpc>
                <a:spcBef>
                  <a:spcPct val="0"/>
                </a:spcBef>
              </a:pPr>
              <a:r>
                <a:rPr lang="en-US" sz="2299">
                  <a:solidFill>
                    <a:srgbClr val="000000"/>
                  </a:solidFill>
                  <a:latin typeface="Arimo"/>
                  <a:ea typeface="Arimo"/>
                  <a:cs typeface="Arimo"/>
                  <a:sym typeface="Arimo"/>
                </a:rPr>
                <a:t>Ta có thể tắt các tiến trình: Task Manager cho phép người dùng tắt các tiến trình đang chạy, bao gồm cả các tiến trình bị treo với nút </a:t>
              </a:r>
              <a:r>
                <a:rPr lang="en-US" sz="2299">
                  <a:solidFill>
                    <a:srgbClr val="040506"/>
                  </a:solidFill>
                  <a:latin typeface="Arimo"/>
                  <a:ea typeface="Arimo"/>
                  <a:cs typeface="Arimo"/>
                  <a:sym typeface="Arimo"/>
                </a:rPr>
                <a:t>End Task</a:t>
              </a:r>
              <a:r>
                <a:rPr lang="en-US" sz="2299">
                  <a:solidFill>
                    <a:srgbClr val="000000"/>
                  </a:solidFill>
                  <a:latin typeface="Arimo"/>
                  <a:ea typeface="Arimo"/>
                  <a:cs typeface="Arimo"/>
                  <a:sym typeface="Arimo"/>
                </a:rPr>
                <a:t> quyền lực.</a:t>
              </a:r>
            </a:p>
          </p:txBody>
        </p:sp>
      </p:grpSp>
      <p:grpSp>
        <p:nvGrpSpPr>
          <p:cNvPr name="Group 11" id="11"/>
          <p:cNvGrpSpPr/>
          <p:nvPr/>
        </p:nvGrpSpPr>
        <p:grpSpPr>
          <a:xfrm rot="0">
            <a:off x="9775882" y="4263547"/>
            <a:ext cx="3721375" cy="3721375"/>
            <a:chOff x="0" y="0"/>
            <a:chExt cx="4961833" cy="4961833"/>
          </a:xfrm>
        </p:grpSpPr>
        <p:sp>
          <p:nvSpPr>
            <p:cNvPr name="Freeform 12" id="12"/>
            <p:cNvSpPr/>
            <p:nvPr/>
          </p:nvSpPr>
          <p:spPr>
            <a:xfrm flipH="false" flipV="false" rot="0">
              <a:off x="0" y="0"/>
              <a:ext cx="4961833" cy="4860233"/>
            </a:xfrm>
            <a:custGeom>
              <a:avLst/>
              <a:gdLst/>
              <a:ahLst/>
              <a:cxnLst/>
              <a:rect r="r" b="b" t="t" l="l"/>
              <a:pathLst>
                <a:path h="4860233" w="4961833">
                  <a:moveTo>
                    <a:pt x="0" y="0"/>
                  </a:moveTo>
                  <a:lnTo>
                    <a:pt x="4961833" y="0"/>
                  </a:lnTo>
                  <a:lnTo>
                    <a:pt x="4961833" y="4860233"/>
                  </a:lnTo>
                  <a:lnTo>
                    <a:pt x="0" y="4860233"/>
                  </a:lnTo>
                  <a:close/>
                </a:path>
              </a:pathLst>
            </a:custGeom>
            <a:solidFill>
              <a:srgbClr val="FDF9B4"/>
            </a:solidFill>
          </p:spPr>
        </p:sp>
        <p:sp>
          <p:nvSpPr>
            <p:cNvPr name="Freeform 13" id="13"/>
            <p:cNvSpPr/>
            <p:nvPr/>
          </p:nvSpPr>
          <p:spPr>
            <a:xfrm flipH="false" flipV="false" rot="0">
              <a:off x="0" y="0"/>
              <a:ext cx="4961833" cy="4961833"/>
            </a:xfrm>
            <a:custGeom>
              <a:avLst/>
              <a:gdLst/>
              <a:ahLst/>
              <a:cxnLst/>
              <a:rect r="r" b="b" t="t" l="l"/>
              <a:pathLst>
                <a:path h="4961833" w="4961833">
                  <a:moveTo>
                    <a:pt x="0" y="4860233"/>
                  </a:moveTo>
                  <a:lnTo>
                    <a:pt x="4961833" y="4860233"/>
                  </a:lnTo>
                  <a:lnTo>
                    <a:pt x="4834833" y="4961833"/>
                  </a:lnTo>
                  <a:cubicBezTo>
                    <a:pt x="4834833" y="4961833"/>
                    <a:pt x="3844233" y="4885633"/>
                    <a:pt x="3742633" y="4885633"/>
                  </a:cubicBezTo>
                  <a:lnTo>
                    <a:pt x="1219200" y="4885633"/>
                  </a:lnTo>
                  <a:cubicBezTo>
                    <a:pt x="1117600" y="4885633"/>
                    <a:pt x="127000" y="4961833"/>
                    <a:pt x="127000" y="4961833"/>
                  </a:cubicBezTo>
                  <a:lnTo>
                    <a:pt x="0" y="4860233"/>
                  </a:lnTo>
                  <a:lnTo>
                    <a:pt x="0" y="0"/>
                  </a:lnTo>
                  <a:lnTo>
                    <a:pt x="4961833" y="0"/>
                  </a:lnTo>
                  <a:lnTo>
                    <a:pt x="4961833" y="4860233"/>
                  </a:lnTo>
                  <a:lnTo>
                    <a:pt x="12700" y="4860233"/>
                  </a:lnTo>
                  <a:lnTo>
                    <a:pt x="12700" y="4847533"/>
                  </a:lnTo>
                  <a:lnTo>
                    <a:pt x="4949133" y="4847533"/>
                  </a:lnTo>
                  <a:lnTo>
                    <a:pt x="4949133" y="12700"/>
                  </a:lnTo>
                  <a:lnTo>
                    <a:pt x="12700" y="12700"/>
                  </a:lnTo>
                  <a:lnTo>
                    <a:pt x="12700" y="4860233"/>
                  </a:lnTo>
                </a:path>
              </a:pathLst>
            </a:custGeom>
            <a:solidFill>
              <a:srgbClr val="394C60">
                <a:alpha val="9804"/>
              </a:srgbClr>
            </a:solidFill>
          </p:spPr>
        </p:sp>
        <p:sp>
          <p:nvSpPr>
            <p:cNvPr name="TextBox 14" id="14"/>
            <p:cNvSpPr txBox="true"/>
            <p:nvPr/>
          </p:nvSpPr>
          <p:spPr>
            <a:xfrm>
              <a:off x="0" y="-57150"/>
              <a:ext cx="4961833" cy="4917383"/>
            </a:xfrm>
            <a:prstGeom prst="rect">
              <a:avLst/>
            </a:prstGeom>
          </p:spPr>
          <p:txBody>
            <a:bodyPr anchor="t" rtlCol="false" tIns="203200" lIns="203200" bIns="203200" rIns="203200"/>
            <a:lstStyle/>
            <a:p>
              <a:pPr algn="l" marL="0" indent="0" lvl="0">
                <a:lnSpc>
                  <a:spcPts val="3359"/>
                </a:lnSpc>
                <a:spcBef>
                  <a:spcPct val="0"/>
                </a:spcBef>
              </a:pPr>
              <a:r>
                <a:rPr lang="en-US" sz="2399">
                  <a:solidFill>
                    <a:srgbClr val="000000"/>
                  </a:solidFill>
                  <a:latin typeface="Arimo"/>
                  <a:ea typeface="Arimo"/>
                  <a:cs typeface="Arimo"/>
                  <a:sym typeface="Arimo"/>
                </a:rPr>
                <a:t>Ta có thể set quyền ưu tiên cho các ứng dụng và phần mềm, điều này giúp ứng dụng, phần mềm hay game đó chạy mượt mà và ổn định hơn.</a:t>
              </a:r>
            </a:p>
          </p:txBody>
        </p:sp>
      </p:grpSp>
      <p:grpSp>
        <p:nvGrpSpPr>
          <p:cNvPr name="Group 15" id="15"/>
          <p:cNvGrpSpPr/>
          <p:nvPr/>
        </p:nvGrpSpPr>
        <p:grpSpPr>
          <a:xfrm rot="0">
            <a:off x="14235359" y="1741201"/>
            <a:ext cx="3553004" cy="2959506"/>
            <a:chOff x="0" y="0"/>
            <a:chExt cx="4737339" cy="3946008"/>
          </a:xfrm>
        </p:grpSpPr>
        <p:sp>
          <p:nvSpPr>
            <p:cNvPr name="Freeform 16" id="16"/>
            <p:cNvSpPr/>
            <p:nvPr/>
          </p:nvSpPr>
          <p:spPr>
            <a:xfrm flipH="false" flipV="false" rot="0">
              <a:off x="0" y="0"/>
              <a:ext cx="4737339" cy="3844408"/>
            </a:xfrm>
            <a:custGeom>
              <a:avLst/>
              <a:gdLst/>
              <a:ahLst/>
              <a:cxnLst/>
              <a:rect r="r" b="b" t="t" l="l"/>
              <a:pathLst>
                <a:path h="3844408" w="4737339">
                  <a:moveTo>
                    <a:pt x="0" y="0"/>
                  </a:moveTo>
                  <a:lnTo>
                    <a:pt x="4737339" y="0"/>
                  </a:lnTo>
                  <a:lnTo>
                    <a:pt x="4737339" y="3844408"/>
                  </a:lnTo>
                  <a:lnTo>
                    <a:pt x="0" y="3844408"/>
                  </a:lnTo>
                  <a:close/>
                </a:path>
              </a:pathLst>
            </a:custGeom>
            <a:solidFill>
              <a:srgbClr val="FDF9B4"/>
            </a:solidFill>
          </p:spPr>
        </p:sp>
        <p:sp>
          <p:nvSpPr>
            <p:cNvPr name="Freeform 17" id="17"/>
            <p:cNvSpPr/>
            <p:nvPr/>
          </p:nvSpPr>
          <p:spPr>
            <a:xfrm flipH="false" flipV="false" rot="0">
              <a:off x="0" y="0"/>
              <a:ext cx="4737339" cy="3946008"/>
            </a:xfrm>
            <a:custGeom>
              <a:avLst/>
              <a:gdLst/>
              <a:ahLst/>
              <a:cxnLst/>
              <a:rect r="r" b="b" t="t" l="l"/>
              <a:pathLst>
                <a:path h="3946008" w="4737339">
                  <a:moveTo>
                    <a:pt x="0" y="3844408"/>
                  </a:moveTo>
                  <a:lnTo>
                    <a:pt x="4737339" y="3844408"/>
                  </a:lnTo>
                  <a:lnTo>
                    <a:pt x="4610339" y="3946008"/>
                  </a:lnTo>
                  <a:cubicBezTo>
                    <a:pt x="4610339" y="3946008"/>
                    <a:pt x="3619739" y="3869808"/>
                    <a:pt x="3518139" y="3869808"/>
                  </a:cubicBezTo>
                  <a:lnTo>
                    <a:pt x="1219200" y="3869808"/>
                  </a:lnTo>
                  <a:cubicBezTo>
                    <a:pt x="1117600" y="3869808"/>
                    <a:pt x="127000" y="3946008"/>
                    <a:pt x="127000" y="3946008"/>
                  </a:cubicBezTo>
                  <a:lnTo>
                    <a:pt x="0" y="3844408"/>
                  </a:lnTo>
                  <a:lnTo>
                    <a:pt x="0" y="0"/>
                  </a:lnTo>
                  <a:lnTo>
                    <a:pt x="4737339" y="0"/>
                  </a:lnTo>
                  <a:lnTo>
                    <a:pt x="4737339" y="3844408"/>
                  </a:lnTo>
                  <a:lnTo>
                    <a:pt x="12700" y="3844408"/>
                  </a:lnTo>
                  <a:lnTo>
                    <a:pt x="12700" y="3831708"/>
                  </a:lnTo>
                  <a:lnTo>
                    <a:pt x="4724639" y="3831708"/>
                  </a:lnTo>
                  <a:lnTo>
                    <a:pt x="4724639" y="12700"/>
                  </a:lnTo>
                  <a:lnTo>
                    <a:pt x="12700" y="12700"/>
                  </a:lnTo>
                  <a:lnTo>
                    <a:pt x="12700" y="3844408"/>
                  </a:lnTo>
                </a:path>
              </a:pathLst>
            </a:custGeom>
            <a:solidFill>
              <a:srgbClr val="394C60">
                <a:alpha val="9804"/>
              </a:srgbClr>
            </a:solidFill>
          </p:spPr>
        </p:sp>
        <p:sp>
          <p:nvSpPr>
            <p:cNvPr name="TextBox 18" id="18"/>
            <p:cNvSpPr txBox="true"/>
            <p:nvPr/>
          </p:nvSpPr>
          <p:spPr>
            <a:xfrm>
              <a:off x="0" y="-57150"/>
              <a:ext cx="4737339" cy="3901558"/>
            </a:xfrm>
            <a:prstGeom prst="rect">
              <a:avLst/>
            </a:prstGeom>
          </p:spPr>
          <p:txBody>
            <a:bodyPr anchor="t" rtlCol="false" tIns="203200" lIns="203200" bIns="203200" rIns="203200"/>
            <a:lstStyle/>
            <a:p>
              <a:pPr algn="l" marL="0" indent="0" lvl="0">
                <a:lnSpc>
                  <a:spcPts val="3359"/>
                </a:lnSpc>
                <a:spcBef>
                  <a:spcPct val="0"/>
                </a:spcBef>
              </a:pPr>
              <a:r>
                <a:rPr lang="en-US" sz="2399">
                  <a:solidFill>
                    <a:srgbClr val="000000"/>
                  </a:solidFill>
                  <a:latin typeface="Arimo"/>
                  <a:ea typeface="Arimo"/>
                  <a:cs typeface="Arimo"/>
                  <a:sym typeface="Arimo"/>
                </a:rPr>
                <a:t>Người dùng có thể xem lịch sử sử dụng tài nguyên của các tiến trình, bao gồm thời gian chạy và các thông tin khác.</a:t>
              </a:r>
            </a:p>
          </p:txBody>
        </p:sp>
      </p:grpSp>
      <p:grpSp>
        <p:nvGrpSpPr>
          <p:cNvPr name="Group 19" id="19"/>
          <p:cNvGrpSpPr/>
          <p:nvPr/>
        </p:nvGrpSpPr>
        <p:grpSpPr>
          <a:xfrm rot="0">
            <a:off x="12553138" y="7003056"/>
            <a:ext cx="736129" cy="636757"/>
            <a:chOff x="0" y="0"/>
            <a:chExt cx="1393317" cy="1205230"/>
          </a:xfrm>
        </p:grpSpPr>
        <p:sp>
          <p:nvSpPr>
            <p:cNvPr name="Freeform 20" id="20"/>
            <p:cNvSpPr/>
            <p:nvPr/>
          </p:nvSpPr>
          <p:spPr>
            <a:xfrm flipH="false" flipV="false" rot="0">
              <a:off x="47879" y="50419"/>
              <a:ext cx="1294765" cy="1104265"/>
            </a:xfrm>
            <a:custGeom>
              <a:avLst/>
              <a:gdLst/>
              <a:ahLst/>
              <a:cxnLst/>
              <a:rect r="r" b="b" t="t" l="l"/>
              <a:pathLst>
                <a:path h="1104265" w="1294765">
                  <a:moveTo>
                    <a:pt x="436118" y="967486"/>
                  </a:moveTo>
                  <a:cubicBezTo>
                    <a:pt x="440817" y="817118"/>
                    <a:pt x="441452" y="763016"/>
                    <a:pt x="442214" y="711835"/>
                  </a:cubicBezTo>
                  <a:cubicBezTo>
                    <a:pt x="442976" y="658749"/>
                    <a:pt x="443484" y="602996"/>
                    <a:pt x="443992" y="549910"/>
                  </a:cubicBezTo>
                  <a:cubicBezTo>
                    <a:pt x="444500" y="498475"/>
                    <a:pt x="445008" y="447548"/>
                    <a:pt x="445389" y="398018"/>
                  </a:cubicBezTo>
                  <a:cubicBezTo>
                    <a:pt x="445770" y="350647"/>
                    <a:pt x="446151" y="301879"/>
                    <a:pt x="446405" y="258826"/>
                  </a:cubicBezTo>
                  <a:cubicBezTo>
                    <a:pt x="446659" y="221488"/>
                    <a:pt x="447548" y="185039"/>
                    <a:pt x="447040" y="154051"/>
                  </a:cubicBezTo>
                  <a:cubicBezTo>
                    <a:pt x="446659" y="129286"/>
                    <a:pt x="445643" y="108204"/>
                    <a:pt x="444246" y="87249"/>
                  </a:cubicBezTo>
                  <a:cubicBezTo>
                    <a:pt x="442976" y="68580"/>
                    <a:pt x="439039" y="44450"/>
                    <a:pt x="439166" y="34417"/>
                  </a:cubicBezTo>
                  <a:cubicBezTo>
                    <a:pt x="439166" y="30480"/>
                    <a:pt x="439547" y="28829"/>
                    <a:pt x="440182" y="26162"/>
                  </a:cubicBezTo>
                  <a:cubicBezTo>
                    <a:pt x="440817" y="23495"/>
                    <a:pt x="441833" y="20828"/>
                    <a:pt x="443103" y="18415"/>
                  </a:cubicBezTo>
                  <a:cubicBezTo>
                    <a:pt x="444373" y="16002"/>
                    <a:pt x="446024" y="13716"/>
                    <a:pt x="447802" y="11684"/>
                  </a:cubicBezTo>
                  <a:cubicBezTo>
                    <a:pt x="449580" y="9652"/>
                    <a:pt x="451739" y="7747"/>
                    <a:pt x="454025" y="6223"/>
                  </a:cubicBezTo>
                  <a:cubicBezTo>
                    <a:pt x="456311" y="4699"/>
                    <a:pt x="458851" y="3302"/>
                    <a:pt x="461391" y="2286"/>
                  </a:cubicBezTo>
                  <a:cubicBezTo>
                    <a:pt x="463931" y="1270"/>
                    <a:pt x="466725" y="762"/>
                    <a:pt x="469392" y="381"/>
                  </a:cubicBezTo>
                  <a:cubicBezTo>
                    <a:pt x="472059" y="0"/>
                    <a:pt x="474980" y="127"/>
                    <a:pt x="477647" y="381"/>
                  </a:cubicBezTo>
                  <a:cubicBezTo>
                    <a:pt x="480441" y="635"/>
                    <a:pt x="483235" y="1270"/>
                    <a:pt x="485775" y="2286"/>
                  </a:cubicBezTo>
                  <a:cubicBezTo>
                    <a:pt x="488315" y="3302"/>
                    <a:pt x="490855" y="4699"/>
                    <a:pt x="493141" y="6223"/>
                  </a:cubicBezTo>
                  <a:cubicBezTo>
                    <a:pt x="495427" y="7747"/>
                    <a:pt x="497459" y="9652"/>
                    <a:pt x="499237" y="11684"/>
                  </a:cubicBezTo>
                  <a:cubicBezTo>
                    <a:pt x="501015" y="13716"/>
                    <a:pt x="502666" y="16129"/>
                    <a:pt x="503936" y="18542"/>
                  </a:cubicBezTo>
                  <a:cubicBezTo>
                    <a:pt x="505206" y="20955"/>
                    <a:pt x="506349" y="23622"/>
                    <a:pt x="506984" y="26289"/>
                  </a:cubicBezTo>
                  <a:cubicBezTo>
                    <a:pt x="507619" y="28956"/>
                    <a:pt x="506222" y="30480"/>
                    <a:pt x="507873" y="34417"/>
                  </a:cubicBezTo>
                  <a:cubicBezTo>
                    <a:pt x="514731" y="51435"/>
                    <a:pt x="572008" y="111506"/>
                    <a:pt x="601472" y="155194"/>
                  </a:cubicBezTo>
                  <a:cubicBezTo>
                    <a:pt x="633222" y="202438"/>
                    <a:pt x="660781" y="256413"/>
                    <a:pt x="690880" y="308991"/>
                  </a:cubicBezTo>
                  <a:cubicBezTo>
                    <a:pt x="722376" y="363982"/>
                    <a:pt x="756031" y="424307"/>
                    <a:pt x="786511" y="478409"/>
                  </a:cubicBezTo>
                  <a:cubicBezTo>
                    <a:pt x="814578" y="528193"/>
                    <a:pt x="842137" y="577215"/>
                    <a:pt x="867283" y="621919"/>
                  </a:cubicBezTo>
                  <a:cubicBezTo>
                    <a:pt x="889381" y="661035"/>
                    <a:pt x="910082" y="699008"/>
                    <a:pt x="929513" y="731901"/>
                  </a:cubicBezTo>
                  <a:cubicBezTo>
                    <a:pt x="945642" y="759079"/>
                    <a:pt x="961263" y="784733"/>
                    <a:pt x="975106" y="805688"/>
                  </a:cubicBezTo>
                  <a:cubicBezTo>
                    <a:pt x="985647" y="821690"/>
                    <a:pt x="995553" y="834136"/>
                    <a:pt x="1004316" y="847217"/>
                  </a:cubicBezTo>
                  <a:cubicBezTo>
                    <a:pt x="1011936" y="858520"/>
                    <a:pt x="1020826" y="872490"/>
                    <a:pt x="1024763" y="879602"/>
                  </a:cubicBezTo>
                  <a:cubicBezTo>
                    <a:pt x="1026541" y="882904"/>
                    <a:pt x="1027430" y="884555"/>
                    <a:pt x="1028319" y="887222"/>
                  </a:cubicBezTo>
                  <a:cubicBezTo>
                    <a:pt x="1029208" y="889889"/>
                    <a:pt x="1029843" y="892810"/>
                    <a:pt x="1030097" y="895604"/>
                  </a:cubicBezTo>
                  <a:cubicBezTo>
                    <a:pt x="1030351" y="898398"/>
                    <a:pt x="1030224" y="901192"/>
                    <a:pt x="1029716" y="903986"/>
                  </a:cubicBezTo>
                  <a:cubicBezTo>
                    <a:pt x="1029208" y="906780"/>
                    <a:pt x="1028446" y="909574"/>
                    <a:pt x="1027303" y="912114"/>
                  </a:cubicBezTo>
                  <a:cubicBezTo>
                    <a:pt x="1026160" y="914654"/>
                    <a:pt x="1024636" y="917194"/>
                    <a:pt x="1022985" y="919480"/>
                  </a:cubicBezTo>
                  <a:cubicBezTo>
                    <a:pt x="1021334" y="921766"/>
                    <a:pt x="1019302" y="923798"/>
                    <a:pt x="1017143" y="925576"/>
                  </a:cubicBezTo>
                  <a:cubicBezTo>
                    <a:pt x="1014984" y="927354"/>
                    <a:pt x="1012444" y="928878"/>
                    <a:pt x="1009904" y="930148"/>
                  </a:cubicBezTo>
                  <a:cubicBezTo>
                    <a:pt x="1007364" y="931291"/>
                    <a:pt x="1004697" y="932307"/>
                    <a:pt x="1001903" y="932815"/>
                  </a:cubicBezTo>
                  <a:cubicBezTo>
                    <a:pt x="999109" y="933323"/>
                    <a:pt x="996188" y="933577"/>
                    <a:pt x="993394" y="933450"/>
                  </a:cubicBezTo>
                  <a:cubicBezTo>
                    <a:pt x="990600" y="933323"/>
                    <a:pt x="987806" y="932815"/>
                    <a:pt x="985139" y="932053"/>
                  </a:cubicBezTo>
                  <a:cubicBezTo>
                    <a:pt x="982472" y="931291"/>
                    <a:pt x="979678" y="930148"/>
                    <a:pt x="977265" y="928751"/>
                  </a:cubicBezTo>
                  <a:cubicBezTo>
                    <a:pt x="974852" y="927354"/>
                    <a:pt x="972566" y="925576"/>
                    <a:pt x="970534" y="923544"/>
                  </a:cubicBezTo>
                  <a:cubicBezTo>
                    <a:pt x="968502" y="921639"/>
                    <a:pt x="968502" y="917829"/>
                    <a:pt x="965200" y="916940"/>
                  </a:cubicBezTo>
                  <a:cubicBezTo>
                    <a:pt x="956437" y="914527"/>
                    <a:pt x="930021" y="935482"/>
                    <a:pt x="906780" y="937895"/>
                  </a:cubicBezTo>
                  <a:cubicBezTo>
                    <a:pt x="874268" y="941324"/>
                    <a:pt x="828675" y="927862"/>
                    <a:pt x="786765" y="921258"/>
                  </a:cubicBezTo>
                  <a:cubicBezTo>
                    <a:pt x="740537" y="913892"/>
                    <a:pt x="690880" y="903859"/>
                    <a:pt x="641223" y="895350"/>
                  </a:cubicBezTo>
                  <a:cubicBezTo>
                    <a:pt x="589407" y="886460"/>
                    <a:pt x="533527" y="876935"/>
                    <a:pt x="482346" y="868807"/>
                  </a:cubicBezTo>
                  <a:cubicBezTo>
                    <a:pt x="434594" y="861187"/>
                    <a:pt x="386969" y="854329"/>
                    <a:pt x="343789" y="847852"/>
                  </a:cubicBezTo>
                  <a:cubicBezTo>
                    <a:pt x="305943" y="842137"/>
                    <a:pt x="270637" y="836676"/>
                    <a:pt x="237236" y="832104"/>
                  </a:cubicBezTo>
                  <a:cubicBezTo>
                    <a:pt x="207772" y="828040"/>
                    <a:pt x="179197" y="824738"/>
                    <a:pt x="153924" y="821690"/>
                  </a:cubicBezTo>
                  <a:cubicBezTo>
                    <a:pt x="132969" y="819150"/>
                    <a:pt x="115316" y="817626"/>
                    <a:pt x="96139" y="814705"/>
                  </a:cubicBezTo>
                  <a:cubicBezTo>
                    <a:pt x="76962" y="811784"/>
                    <a:pt x="54102" y="814832"/>
                    <a:pt x="38862" y="804418"/>
                  </a:cubicBezTo>
                  <a:cubicBezTo>
                    <a:pt x="22352" y="793242"/>
                    <a:pt x="0" y="766699"/>
                    <a:pt x="2921" y="746379"/>
                  </a:cubicBezTo>
                  <a:cubicBezTo>
                    <a:pt x="6985" y="717550"/>
                    <a:pt x="66167" y="681863"/>
                    <a:pt x="105283" y="654431"/>
                  </a:cubicBezTo>
                  <a:cubicBezTo>
                    <a:pt x="148463" y="624078"/>
                    <a:pt x="199898" y="602615"/>
                    <a:pt x="253111" y="575056"/>
                  </a:cubicBezTo>
                  <a:cubicBezTo>
                    <a:pt x="314579" y="543179"/>
                    <a:pt x="385445" y="508000"/>
                    <a:pt x="453136" y="474726"/>
                  </a:cubicBezTo>
                  <a:cubicBezTo>
                    <a:pt x="522478" y="440690"/>
                    <a:pt x="595630" y="406146"/>
                    <a:pt x="664591" y="373380"/>
                  </a:cubicBezTo>
                  <a:cubicBezTo>
                    <a:pt x="730504" y="342138"/>
                    <a:pt x="797433" y="310896"/>
                    <a:pt x="858393" y="282575"/>
                  </a:cubicBezTo>
                  <a:cubicBezTo>
                    <a:pt x="912622" y="257429"/>
                    <a:pt x="965708" y="232791"/>
                    <a:pt x="1012317" y="211709"/>
                  </a:cubicBezTo>
                  <a:cubicBezTo>
                    <a:pt x="1050925" y="194310"/>
                    <a:pt x="1087374" y="178943"/>
                    <a:pt x="1118489" y="164719"/>
                  </a:cubicBezTo>
                  <a:cubicBezTo>
                    <a:pt x="1143127" y="153416"/>
                    <a:pt x="1163193" y="143510"/>
                    <a:pt x="1184275" y="133604"/>
                  </a:cubicBezTo>
                  <a:cubicBezTo>
                    <a:pt x="1203579" y="124460"/>
                    <a:pt x="1229995" y="111506"/>
                    <a:pt x="1240028" y="107442"/>
                  </a:cubicBezTo>
                  <a:cubicBezTo>
                    <a:pt x="1243711" y="105918"/>
                    <a:pt x="1244981" y="105537"/>
                    <a:pt x="1247648" y="104775"/>
                  </a:cubicBezTo>
                  <a:cubicBezTo>
                    <a:pt x="1250315" y="104013"/>
                    <a:pt x="1253109" y="103124"/>
                    <a:pt x="1255903" y="102870"/>
                  </a:cubicBezTo>
                  <a:cubicBezTo>
                    <a:pt x="1258697" y="102616"/>
                    <a:pt x="1261618" y="102743"/>
                    <a:pt x="1264412" y="103124"/>
                  </a:cubicBezTo>
                  <a:cubicBezTo>
                    <a:pt x="1267206" y="103505"/>
                    <a:pt x="1270000" y="104267"/>
                    <a:pt x="1272667" y="105283"/>
                  </a:cubicBezTo>
                  <a:cubicBezTo>
                    <a:pt x="1275334" y="106299"/>
                    <a:pt x="1277874" y="107823"/>
                    <a:pt x="1280160" y="109474"/>
                  </a:cubicBezTo>
                  <a:cubicBezTo>
                    <a:pt x="1282446" y="111125"/>
                    <a:pt x="1284605" y="113030"/>
                    <a:pt x="1286383" y="115189"/>
                  </a:cubicBezTo>
                  <a:cubicBezTo>
                    <a:pt x="1288161" y="117348"/>
                    <a:pt x="1289685" y="119761"/>
                    <a:pt x="1290955" y="122301"/>
                  </a:cubicBezTo>
                  <a:cubicBezTo>
                    <a:pt x="1292225" y="124841"/>
                    <a:pt x="1293241" y="127508"/>
                    <a:pt x="1293876" y="130302"/>
                  </a:cubicBezTo>
                  <a:cubicBezTo>
                    <a:pt x="1294511" y="133096"/>
                    <a:pt x="1294765" y="136017"/>
                    <a:pt x="1294638" y="138811"/>
                  </a:cubicBezTo>
                  <a:cubicBezTo>
                    <a:pt x="1294511" y="141605"/>
                    <a:pt x="1294257" y="144526"/>
                    <a:pt x="1293495" y="147193"/>
                  </a:cubicBezTo>
                  <a:cubicBezTo>
                    <a:pt x="1292733" y="149860"/>
                    <a:pt x="1291590" y="152654"/>
                    <a:pt x="1290193" y="155067"/>
                  </a:cubicBezTo>
                  <a:cubicBezTo>
                    <a:pt x="1288796" y="157480"/>
                    <a:pt x="1287145" y="159893"/>
                    <a:pt x="1285240" y="161925"/>
                  </a:cubicBezTo>
                  <a:cubicBezTo>
                    <a:pt x="1283335" y="163957"/>
                    <a:pt x="1281176" y="165989"/>
                    <a:pt x="1278763" y="167513"/>
                  </a:cubicBezTo>
                  <a:cubicBezTo>
                    <a:pt x="1276477" y="169037"/>
                    <a:pt x="1274953" y="168656"/>
                    <a:pt x="1271143" y="171196"/>
                  </a:cubicBezTo>
                  <a:cubicBezTo>
                    <a:pt x="1254633" y="182118"/>
                    <a:pt x="1193292" y="240411"/>
                    <a:pt x="1151001" y="276733"/>
                  </a:cubicBezTo>
                  <a:cubicBezTo>
                    <a:pt x="1104646" y="316611"/>
                    <a:pt x="1054227" y="356743"/>
                    <a:pt x="1004189" y="400431"/>
                  </a:cubicBezTo>
                  <a:cubicBezTo>
                    <a:pt x="950341" y="447548"/>
                    <a:pt x="892683" y="500253"/>
                    <a:pt x="838835" y="550418"/>
                  </a:cubicBezTo>
                  <a:cubicBezTo>
                    <a:pt x="786130" y="599440"/>
                    <a:pt x="732917" y="650748"/>
                    <a:pt x="684022" y="697992"/>
                  </a:cubicBezTo>
                  <a:cubicBezTo>
                    <a:pt x="639318" y="741172"/>
                    <a:pt x="595630" y="784733"/>
                    <a:pt x="556768" y="822579"/>
                  </a:cubicBezTo>
                  <a:cubicBezTo>
                    <a:pt x="524129" y="854456"/>
                    <a:pt x="492760" y="883793"/>
                    <a:pt x="466598" y="910336"/>
                  </a:cubicBezTo>
                  <a:cubicBezTo>
                    <a:pt x="445643" y="931545"/>
                    <a:pt x="427736" y="949579"/>
                    <a:pt x="410972" y="968756"/>
                  </a:cubicBezTo>
                  <a:cubicBezTo>
                    <a:pt x="395859" y="986155"/>
                    <a:pt x="379984" y="1001649"/>
                    <a:pt x="369824" y="1020318"/>
                  </a:cubicBezTo>
                  <a:cubicBezTo>
                    <a:pt x="360045" y="1038352"/>
                    <a:pt x="355219" y="1066927"/>
                    <a:pt x="350266" y="1078484"/>
                  </a:cubicBezTo>
                  <a:cubicBezTo>
                    <a:pt x="348107" y="1083564"/>
                    <a:pt x="347091" y="1085977"/>
                    <a:pt x="344678" y="1089152"/>
                  </a:cubicBezTo>
                  <a:cubicBezTo>
                    <a:pt x="342265" y="1092327"/>
                    <a:pt x="339344" y="1095248"/>
                    <a:pt x="336042" y="1097534"/>
                  </a:cubicBezTo>
                  <a:cubicBezTo>
                    <a:pt x="332740" y="1099820"/>
                    <a:pt x="328930" y="1101471"/>
                    <a:pt x="325120" y="1102614"/>
                  </a:cubicBezTo>
                  <a:cubicBezTo>
                    <a:pt x="321310" y="1103757"/>
                    <a:pt x="316992" y="1104265"/>
                    <a:pt x="313055" y="1104011"/>
                  </a:cubicBezTo>
                  <a:cubicBezTo>
                    <a:pt x="309118" y="1103757"/>
                    <a:pt x="304927" y="1102868"/>
                    <a:pt x="301244" y="1101471"/>
                  </a:cubicBezTo>
                  <a:cubicBezTo>
                    <a:pt x="297561" y="1099947"/>
                    <a:pt x="293878" y="1097788"/>
                    <a:pt x="290830" y="1095248"/>
                  </a:cubicBezTo>
                  <a:cubicBezTo>
                    <a:pt x="287782" y="1092708"/>
                    <a:pt x="284988" y="1089533"/>
                    <a:pt x="282956" y="1086104"/>
                  </a:cubicBezTo>
                  <a:cubicBezTo>
                    <a:pt x="280924" y="1082675"/>
                    <a:pt x="279400" y="1078738"/>
                    <a:pt x="278511" y="1074928"/>
                  </a:cubicBezTo>
                  <a:cubicBezTo>
                    <a:pt x="277622" y="1070991"/>
                    <a:pt x="277368" y="1066800"/>
                    <a:pt x="277749" y="1062863"/>
                  </a:cubicBezTo>
                  <a:cubicBezTo>
                    <a:pt x="278130" y="1058926"/>
                    <a:pt x="279273" y="1054862"/>
                    <a:pt x="280924" y="1051179"/>
                  </a:cubicBezTo>
                  <a:cubicBezTo>
                    <a:pt x="282575" y="1047623"/>
                    <a:pt x="284988" y="1044067"/>
                    <a:pt x="287655" y="1041146"/>
                  </a:cubicBezTo>
                  <a:cubicBezTo>
                    <a:pt x="290322" y="1038225"/>
                    <a:pt x="293751" y="1035812"/>
                    <a:pt x="297180" y="1033907"/>
                  </a:cubicBezTo>
                  <a:cubicBezTo>
                    <a:pt x="300736" y="1032002"/>
                    <a:pt x="304673" y="1030605"/>
                    <a:pt x="308610" y="1029970"/>
                  </a:cubicBezTo>
                  <a:cubicBezTo>
                    <a:pt x="312547" y="1029335"/>
                    <a:pt x="316738" y="1029208"/>
                    <a:pt x="320675" y="1029843"/>
                  </a:cubicBezTo>
                  <a:cubicBezTo>
                    <a:pt x="324612" y="1030478"/>
                    <a:pt x="328676" y="1031748"/>
                    <a:pt x="332232" y="1033653"/>
                  </a:cubicBezTo>
                  <a:cubicBezTo>
                    <a:pt x="335788" y="1035431"/>
                    <a:pt x="339217" y="1037971"/>
                    <a:pt x="341884" y="1040892"/>
                  </a:cubicBezTo>
                  <a:cubicBezTo>
                    <a:pt x="344678" y="1043813"/>
                    <a:pt x="346964" y="1047369"/>
                    <a:pt x="348615" y="1050925"/>
                  </a:cubicBezTo>
                  <a:cubicBezTo>
                    <a:pt x="350266" y="1054481"/>
                    <a:pt x="351409" y="1058545"/>
                    <a:pt x="351917" y="1062482"/>
                  </a:cubicBezTo>
                  <a:cubicBezTo>
                    <a:pt x="352425" y="1066419"/>
                    <a:pt x="352171" y="1070610"/>
                    <a:pt x="351409" y="1074547"/>
                  </a:cubicBezTo>
                  <a:cubicBezTo>
                    <a:pt x="350647" y="1078484"/>
                    <a:pt x="348996" y="1082421"/>
                    <a:pt x="346964" y="1085850"/>
                  </a:cubicBezTo>
                  <a:cubicBezTo>
                    <a:pt x="344932" y="1089279"/>
                    <a:pt x="342265" y="1092454"/>
                    <a:pt x="339217" y="1094994"/>
                  </a:cubicBezTo>
                  <a:cubicBezTo>
                    <a:pt x="336169" y="1097534"/>
                    <a:pt x="332613" y="1099820"/>
                    <a:pt x="328930" y="1101344"/>
                  </a:cubicBezTo>
                  <a:cubicBezTo>
                    <a:pt x="325247" y="1102868"/>
                    <a:pt x="321056" y="1103757"/>
                    <a:pt x="317119" y="1104011"/>
                  </a:cubicBezTo>
                  <a:cubicBezTo>
                    <a:pt x="313182" y="1104265"/>
                    <a:pt x="308864" y="1103757"/>
                    <a:pt x="305054" y="1102741"/>
                  </a:cubicBezTo>
                  <a:cubicBezTo>
                    <a:pt x="301244" y="1101725"/>
                    <a:pt x="297434" y="1099820"/>
                    <a:pt x="294132" y="1097661"/>
                  </a:cubicBezTo>
                  <a:cubicBezTo>
                    <a:pt x="290830" y="1095375"/>
                    <a:pt x="287655" y="1092581"/>
                    <a:pt x="285242" y="1089406"/>
                  </a:cubicBezTo>
                  <a:cubicBezTo>
                    <a:pt x="282829" y="1086231"/>
                    <a:pt x="280797" y="1082548"/>
                    <a:pt x="279527" y="1078865"/>
                  </a:cubicBezTo>
                  <a:cubicBezTo>
                    <a:pt x="278257" y="1075055"/>
                    <a:pt x="277622" y="1070864"/>
                    <a:pt x="277622" y="1066927"/>
                  </a:cubicBezTo>
                  <a:cubicBezTo>
                    <a:pt x="277622" y="1062990"/>
                    <a:pt x="279400" y="1054989"/>
                    <a:pt x="279400" y="1054989"/>
                  </a:cubicBezTo>
                  <a:cubicBezTo>
                    <a:pt x="279400" y="1054989"/>
                    <a:pt x="302387" y="997204"/>
                    <a:pt x="318770" y="975233"/>
                  </a:cubicBezTo>
                  <a:cubicBezTo>
                    <a:pt x="333248" y="955802"/>
                    <a:pt x="352298" y="944372"/>
                    <a:pt x="369824" y="927862"/>
                  </a:cubicBezTo>
                  <a:cubicBezTo>
                    <a:pt x="388747" y="909955"/>
                    <a:pt x="407035" y="892556"/>
                    <a:pt x="428498" y="871601"/>
                  </a:cubicBezTo>
                  <a:cubicBezTo>
                    <a:pt x="455168" y="845566"/>
                    <a:pt x="485394" y="815086"/>
                    <a:pt x="517652" y="782955"/>
                  </a:cubicBezTo>
                  <a:cubicBezTo>
                    <a:pt x="556133" y="744601"/>
                    <a:pt x="599821" y="700405"/>
                    <a:pt x="644144" y="656590"/>
                  </a:cubicBezTo>
                  <a:cubicBezTo>
                    <a:pt x="692785" y="608457"/>
                    <a:pt x="745744" y="556387"/>
                    <a:pt x="798195" y="506222"/>
                  </a:cubicBezTo>
                  <a:cubicBezTo>
                    <a:pt x="851789" y="454914"/>
                    <a:pt x="909193" y="401066"/>
                    <a:pt x="962660" y="352425"/>
                  </a:cubicBezTo>
                  <a:cubicBezTo>
                    <a:pt x="1012190" y="307340"/>
                    <a:pt x="1065530" y="260858"/>
                    <a:pt x="1107821" y="223774"/>
                  </a:cubicBezTo>
                  <a:cubicBezTo>
                    <a:pt x="1140460" y="195199"/>
                    <a:pt x="1169416" y="170053"/>
                    <a:pt x="1194943" y="148463"/>
                  </a:cubicBezTo>
                  <a:cubicBezTo>
                    <a:pt x="1214628" y="131826"/>
                    <a:pt x="1237234" y="109855"/>
                    <a:pt x="1247648" y="104775"/>
                  </a:cubicBezTo>
                  <a:cubicBezTo>
                    <a:pt x="1251331" y="102997"/>
                    <a:pt x="1253109" y="103124"/>
                    <a:pt x="1255903" y="102870"/>
                  </a:cubicBezTo>
                  <a:cubicBezTo>
                    <a:pt x="1258697" y="102616"/>
                    <a:pt x="1261618" y="102743"/>
                    <a:pt x="1264412" y="103124"/>
                  </a:cubicBezTo>
                  <a:cubicBezTo>
                    <a:pt x="1267206" y="103505"/>
                    <a:pt x="1270000" y="104267"/>
                    <a:pt x="1272667" y="105283"/>
                  </a:cubicBezTo>
                  <a:cubicBezTo>
                    <a:pt x="1275334" y="106299"/>
                    <a:pt x="1277874" y="107823"/>
                    <a:pt x="1280160" y="109474"/>
                  </a:cubicBezTo>
                  <a:cubicBezTo>
                    <a:pt x="1282446" y="111125"/>
                    <a:pt x="1284605" y="113030"/>
                    <a:pt x="1286383" y="115189"/>
                  </a:cubicBezTo>
                  <a:cubicBezTo>
                    <a:pt x="1288161" y="117348"/>
                    <a:pt x="1289685" y="119761"/>
                    <a:pt x="1290955" y="122301"/>
                  </a:cubicBezTo>
                  <a:cubicBezTo>
                    <a:pt x="1292225" y="124841"/>
                    <a:pt x="1293241" y="127508"/>
                    <a:pt x="1293876" y="130302"/>
                  </a:cubicBezTo>
                  <a:cubicBezTo>
                    <a:pt x="1294511" y="133096"/>
                    <a:pt x="1294765" y="136017"/>
                    <a:pt x="1294638" y="138811"/>
                  </a:cubicBezTo>
                  <a:cubicBezTo>
                    <a:pt x="1294511" y="141605"/>
                    <a:pt x="1294257" y="144526"/>
                    <a:pt x="1293495" y="147193"/>
                  </a:cubicBezTo>
                  <a:cubicBezTo>
                    <a:pt x="1292733" y="149860"/>
                    <a:pt x="1291590" y="152654"/>
                    <a:pt x="1290193" y="155067"/>
                  </a:cubicBezTo>
                  <a:cubicBezTo>
                    <a:pt x="1288796" y="157480"/>
                    <a:pt x="1287145" y="159893"/>
                    <a:pt x="1285240" y="161925"/>
                  </a:cubicBezTo>
                  <a:cubicBezTo>
                    <a:pt x="1283335" y="163957"/>
                    <a:pt x="1281176" y="165989"/>
                    <a:pt x="1278763" y="167513"/>
                  </a:cubicBezTo>
                  <a:cubicBezTo>
                    <a:pt x="1276477" y="169037"/>
                    <a:pt x="1273810" y="170307"/>
                    <a:pt x="1271143" y="171196"/>
                  </a:cubicBezTo>
                  <a:cubicBezTo>
                    <a:pt x="1268476" y="171958"/>
                    <a:pt x="1266825" y="171577"/>
                    <a:pt x="1262888" y="172466"/>
                  </a:cubicBezTo>
                  <a:cubicBezTo>
                    <a:pt x="1252601" y="174752"/>
                    <a:pt x="1226947" y="181864"/>
                    <a:pt x="1207897" y="188341"/>
                  </a:cubicBezTo>
                  <a:cubicBezTo>
                    <a:pt x="1186561" y="195580"/>
                    <a:pt x="1165606" y="204089"/>
                    <a:pt x="1140968" y="214503"/>
                  </a:cubicBezTo>
                  <a:cubicBezTo>
                    <a:pt x="1109726" y="227711"/>
                    <a:pt x="1074293" y="244729"/>
                    <a:pt x="1036066" y="262509"/>
                  </a:cubicBezTo>
                  <a:cubicBezTo>
                    <a:pt x="989838" y="284099"/>
                    <a:pt x="937133" y="309245"/>
                    <a:pt x="883412" y="335026"/>
                  </a:cubicBezTo>
                  <a:cubicBezTo>
                    <a:pt x="822960" y="363982"/>
                    <a:pt x="756539" y="395986"/>
                    <a:pt x="691261" y="428117"/>
                  </a:cubicBezTo>
                  <a:cubicBezTo>
                    <a:pt x="623062" y="461645"/>
                    <a:pt x="550926" y="496951"/>
                    <a:pt x="482854" y="532130"/>
                  </a:cubicBezTo>
                  <a:cubicBezTo>
                    <a:pt x="416433" y="566420"/>
                    <a:pt x="346837" y="602869"/>
                    <a:pt x="287528" y="636143"/>
                  </a:cubicBezTo>
                  <a:cubicBezTo>
                    <a:pt x="236855" y="664591"/>
                    <a:pt x="180340" y="696468"/>
                    <a:pt x="148209" y="718693"/>
                  </a:cubicBezTo>
                  <a:cubicBezTo>
                    <a:pt x="129794" y="731393"/>
                    <a:pt x="105283" y="744093"/>
                    <a:pt x="107061" y="751586"/>
                  </a:cubicBezTo>
                  <a:cubicBezTo>
                    <a:pt x="108839" y="759460"/>
                    <a:pt x="141859" y="760095"/>
                    <a:pt x="162179" y="764032"/>
                  </a:cubicBezTo>
                  <a:cubicBezTo>
                    <a:pt x="186944" y="768731"/>
                    <a:pt x="215519" y="772922"/>
                    <a:pt x="244856" y="777240"/>
                  </a:cubicBezTo>
                  <a:cubicBezTo>
                    <a:pt x="278130" y="782066"/>
                    <a:pt x="313817" y="786257"/>
                    <a:pt x="351790" y="791337"/>
                  </a:cubicBezTo>
                  <a:cubicBezTo>
                    <a:pt x="395224" y="797052"/>
                    <a:pt x="443357" y="803275"/>
                    <a:pt x="491490" y="810006"/>
                  </a:cubicBezTo>
                  <a:cubicBezTo>
                    <a:pt x="542925" y="817245"/>
                    <a:pt x="599440" y="825881"/>
                    <a:pt x="651256" y="833374"/>
                  </a:cubicBezTo>
                  <a:cubicBezTo>
                    <a:pt x="700278" y="840486"/>
                    <a:pt x="749300" y="848995"/>
                    <a:pt x="794385" y="854202"/>
                  </a:cubicBezTo>
                  <a:cubicBezTo>
                    <a:pt x="834644" y="858901"/>
                    <a:pt x="877062" y="861568"/>
                    <a:pt x="908939" y="864108"/>
                  </a:cubicBezTo>
                  <a:cubicBezTo>
                    <a:pt x="931799" y="865886"/>
                    <a:pt x="948436" y="865759"/>
                    <a:pt x="967867" y="868426"/>
                  </a:cubicBezTo>
                  <a:cubicBezTo>
                    <a:pt x="987044" y="870966"/>
                    <a:pt x="1017270" y="873760"/>
                    <a:pt x="1024763" y="879602"/>
                  </a:cubicBezTo>
                  <a:cubicBezTo>
                    <a:pt x="1027557" y="881888"/>
                    <a:pt x="1027430" y="884555"/>
                    <a:pt x="1028319" y="887222"/>
                  </a:cubicBezTo>
                  <a:cubicBezTo>
                    <a:pt x="1029208" y="889889"/>
                    <a:pt x="1029843" y="892810"/>
                    <a:pt x="1030097" y="895604"/>
                  </a:cubicBezTo>
                  <a:cubicBezTo>
                    <a:pt x="1030351" y="898398"/>
                    <a:pt x="1030224" y="901192"/>
                    <a:pt x="1029716" y="903986"/>
                  </a:cubicBezTo>
                  <a:cubicBezTo>
                    <a:pt x="1029208" y="906780"/>
                    <a:pt x="1028446" y="909574"/>
                    <a:pt x="1027303" y="912114"/>
                  </a:cubicBezTo>
                  <a:cubicBezTo>
                    <a:pt x="1026160" y="914654"/>
                    <a:pt x="1024636" y="917194"/>
                    <a:pt x="1022985" y="919480"/>
                  </a:cubicBezTo>
                  <a:cubicBezTo>
                    <a:pt x="1021334" y="921766"/>
                    <a:pt x="1019302" y="923798"/>
                    <a:pt x="1017143" y="925576"/>
                  </a:cubicBezTo>
                  <a:cubicBezTo>
                    <a:pt x="1014984" y="927354"/>
                    <a:pt x="1012444" y="928878"/>
                    <a:pt x="1009904" y="930148"/>
                  </a:cubicBezTo>
                  <a:cubicBezTo>
                    <a:pt x="1007364" y="931291"/>
                    <a:pt x="1004697" y="932307"/>
                    <a:pt x="1001903" y="932815"/>
                  </a:cubicBezTo>
                  <a:cubicBezTo>
                    <a:pt x="999109" y="933323"/>
                    <a:pt x="996188" y="933577"/>
                    <a:pt x="993394" y="933450"/>
                  </a:cubicBezTo>
                  <a:cubicBezTo>
                    <a:pt x="990600" y="933323"/>
                    <a:pt x="987806" y="932815"/>
                    <a:pt x="985139" y="932053"/>
                  </a:cubicBezTo>
                  <a:cubicBezTo>
                    <a:pt x="982472" y="931291"/>
                    <a:pt x="979678" y="930148"/>
                    <a:pt x="977265" y="928751"/>
                  </a:cubicBezTo>
                  <a:cubicBezTo>
                    <a:pt x="974852" y="927354"/>
                    <a:pt x="972566" y="925576"/>
                    <a:pt x="970534" y="923544"/>
                  </a:cubicBezTo>
                  <a:cubicBezTo>
                    <a:pt x="968502" y="921639"/>
                    <a:pt x="967105" y="920242"/>
                    <a:pt x="965200" y="916940"/>
                  </a:cubicBezTo>
                  <a:cubicBezTo>
                    <a:pt x="961009" y="909828"/>
                    <a:pt x="956310" y="893191"/>
                    <a:pt x="950341" y="880618"/>
                  </a:cubicBezTo>
                  <a:cubicBezTo>
                    <a:pt x="943483" y="866140"/>
                    <a:pt x="935355" y="852170"/>
                    <a:pt x="925830" y="835152"/>
                  </a:cubicBezTo>
                  <a:cubicBezTo>
                    <a:pt x="913384" y="812927"/>
                    <a:pt x="897763" y="786765"/>
                    <a:pt x="881761" y="759206"/>
                  </a:cubicBezTo>
                  <a:cubicBezTo>
                    <a:pt x="862457" y="726059"/>
                    <a:pt x="840740" y="688848"/>
                    <a:pt x="818134" y="650113"/>
                  </a:cubicBezTo>
                  <a:cubicBezTo>
                    <a:pt x="792353" y="605790"/>
                    <a:pt x="764159" y="557022"/>
                    <a:pt x="735457" y="507746"/>
                  </a:cubicBezTo>
                  <a:cubicBezTo>
                    <a:pt x="704215" y="454279"/>
                    <a:pt x="670052" y="394716"/>
                    <a:pt x="637667" y="340741"/>
                  </a:cubicBezTo>
                  <a:cubicBezTo>
                    <a:pt x="606933" y="289433"/>
                    <a:pt x="574421" y="234950"/>
                    <a:pt x="546100" y="191516"/>
                  </a:cubicBezTo>
                  <a:cubicBezTo>
                    <a:pt x="523367" y="156845"/>
                    <a:pt x="501269" y="127635"/>
                    <a:pt x="482219" y="99568"/>
                  </a:cubicBezTo>
                  <a:cubicBezTo>
                    <a:pt x="466344" y="76073"/>
                    <a:pt x="441833" y="46101"/>
                    <a:pt x="439166" y="34417"/>
                  </a:cubicBezTo>
                  <a:cubicBezTo>
                    <a:pt x="438277" y="30607"/>
                    <a:pt x="439547" y="28956"/>
                    <a:pt x="440182" y="26289"/>
                  </a:cubicBezTo>
                  <a:cubicBezTo>
                    <a:pt x="440817" y="23622"/>
                    <a:pt x="441833" y="20955"/>
                    <a:pt x="443103" y="18542"/>
                  </a:cubicBezTo>
                  <a:cubicBezTo>
                    <a:pt x="444373" y="16129"/>
                    <a:pt x="446024" y="13716"/>
                    <a:pt x="447802" y="11684"/>
                  </a:cubicBezTo>
                  <a:cubicBezTo>
                    <a:pt x="449580" y="9652"/>
                    <a:pt x="451739" y="7747"/>
                    <a:pt x="454025" y="6223"/>
                  </a:cubicBezTo>
                  <a:cubicBezTo>
                    <a:pt x="456311" y="4699"/>
                    <a:pt x="458851" y="3302"/>
                    <a:pt x="461391" y="2286"/>
                  </a:cubicBezTo>
                  <a:cubicBezTo>
                    <a:pt x="463931" y="1270"/>
                    <a:pt x="466725" y="762"/>
                    <a:pt x="469392" y="381"/>
                  </a:cubicBezTo>
                  <a:cubicBezTo>
                    <a:pt x="472059" y="0"/>
                    <a:pt x="474980" y="127"/>
                    <a:pt x="477647" y="381"/>
                  </a:cubicBezTo>
                  <a:cubicBezTo>
                    <a:pt x="480441" y="635"/>
                    <a:pt x="483235" y="1270"/>
                    <a:pt x="485775" y="2286"/>
                  </a:cubicBezTo>
                  <a:cubicBezTo>
                    <a:pt x="488315" y="3302"/>
                    <a:pt x="490855" y="4699"/>
                    <a:pt x="493141" y="6223"/>
                  </a:cubicBezTo>
                  <a:cubicBezTo>
                    <a:pt x="495427" y="7747"/>
                    <a:pt x="497459" y="9652"/>
                    <a:pt x="499237" y="11684"/>
                  </a:cubicBezTo>
                  <a:cubicBezTo>
                    <a:pt x="501015" y="13716"/>
                    <a:pt x="502666" y="16002"/>
                    <a:pt x="503936" y="18415"/>
                  </a:cubicBezTo>
                  <a:cubicBezTo>
                    <a:pt x="505206" y="20828"/>
                    <a:pt x="506349" y="23495"/>
                    <a:pt x="506984" y="26162"/>
                  </a:cubicBezTo>
                  <a:cubicBezTo>
                    <a:pt x="507619" y="28829"/>
                    <a:pt x="507746" y="30480"/>
                    <a:pt x="507873" y="34417"/>
                  </a:cubicBezTo>
                  <a:cubicBezTo>
                    <a:pt x="508127" y="44450"/>
                    <a:pt x="505333" y="68580"/>
                    <a:pt x="504317" y="87249"/>
                  </a:cubicBezTo>
                  <a:cubicBezTo>
                    <a:pt x="503174" y="108204"/>
                    <a:pt x="501904" y="129286"/>
                    <a:pt x="501523" y="154051"/>
                  </a:cubicBezTo>
                  <a:cubicBezTo>
                    <a:pt x="501015" y="185039"/>
                    <a:pt x="502031" y="221488"/>
                    <a:pt x="502285" y="258826"/>
                  </a:cubicBezTo>
                  <a:cubicBezTo>
                    <a:pt x="502539" y="301879"/>
                    <a:pt x="502920" y="350647"/>
                    <a:pt x="503301" y="398018"/>
                  </a:cubicBezTo>
                  <a:cubicBezTo>
                    <a:pt x="503682" y="447548"/>
                    <a:pt x="504063" y="498475"/>
                    <a:pt x="504571" y="549910"/>
                  </a:cubicBezTo>
                  <a:cubicBezTo>
                    <a:pt x="505079" y="602996"/>
                    <a:pt x="505714" y="658749"/>
                    <a:pt x="506476" y="711835"/>
                  </a:cubicBezTo>
                  <a:cubicBezTo>
                    <a:pt x="507238" y="763016"/>
                    <a:pt x="507873" y="817118"/>
                    <a:pt x="509016" y="862838"/>
                  </a:cubicBezTo>
                  <a:cubicBezTo>
                    <a:pt x="510032" y="900938"/>
                    <a:pt x="513334" y="951611"/>
                    <a:pt x="512572" y="967486"/>
                  </a:cubicBezTo>
                  <a:cubicBezTo>
                    <a:pt x="512318" y="972185"/>
                    <a:pt x="512191" y="973709"/>
                    <a:pt x="511429" y="976630"/>
                  </a:cubicBezTo>
                  <a:cubicBezTo>
                    <a:pt x="510667" y="979551"/>
                    <a:pt x="509524" y="982599"/>
                    <a:pt x="508127" y="985266"/>
                  </a:cubicBezTo>
                  <a:cubicBezTo>
                    <a:pt x="506730" y="987933"/>
                    <a:pt x="504952" y="990600"/>
                    <a:pt x="502920" y="992886"/>
                  </a:cubicBezTo>
                  <a:cubicBezTo>
                    <a:pt x="500888" y="995172"/>
                    <a:pt x="498602" y="997331"/>
                    <a:pt x="496062" y="998982"/>
                  </a:cubicBezTo>
                  <a:cubicBezTo>
                    <a:pt x="493522" y="1000760"/>
                    <a:pt x="490728" y="1002030"/>
                    <a:pt x="487807" y="1003173"/>
                  </a:cubicBezTo>
                  <a:cubicBezTo>
                    <a:pt x="485013" y="1004189"/>
                    <a:pt x="481965" y="1005078"/>
                    <a:pt x="478917" y="1005459"/>
                  </a:cubicBezTo>
                  <a:cubicBezTo>
                    <a:pt x="475869" y="1005840"/>
                    <a:pt x="472694" y="1005840"/>
                    <a:pt x="469646" y="1005459"/>
                  </a:cubicBezTo>
                  <a:cubicBezTo>
                    <a:pt x="466598" y="1005078"/>
                    <a:pt x="463550" y="1004316"/>
                    <a:pt x="460756" y="1003173"/>
                  </a:cubicBezTo>
                  <a:cubicBezTo>
                    <a:pt x="457962" y="1002157"/>
                    <a:pt x="455168" y="1000633"/>
                    <a:pt x="452628" y="998982"/>
                  </a:cubicBezTo>
                  <a:cubicBezTo>
                    <a:pt x="450088" y="997204"/>
                    <a:pt x="447675" y="995172"/>
                    <a:pt x="445643" y="992886"/>
                  </a:cubicBezTo>
                  <a:cubicBezTo>
                    <a:pt x="443611" y="990600"/>
                    <a:pt x="441833" y="987933"/>
                    <a:pt x="440436" y="985266"/>
                  </a:cubicBezTo>
                  <a:cubicBezTo>
                    <a:pt x="439039" y="982599"/>
                    <a:pt x="438023" y="979551"/>
                    <a:pt x="437261" y="976630"/>
                  </a:cubicBezTo>
                  <a:cubicBezTo>
                    <a:pt x="436499" y="973709"/>
                    <a:pt x="436118" y="967486"/>
                    <a:pt x="436118" y="967486"/>
                  </a:cubicBezTo>
                </a:path>
              </a:pathLst>
            </a:custGeom>
            <a:solidFill>
              <a:srgbClr val="541FC4"/>
            </a:solidFill>
            <a:ln cap="sq">
              <a:noFill/>
              <a:prstDash val="solid"/>
              <a:miter/>
            </a:ln>
          </p:spPr>
        </p:sp>
      </p:grpSp>
      <p:sp>
        <p:nvSpPr>
          <p:cNvPr name="Freeform 21" id="21"/>
          <p:cNvSpPr/>
          <p:nvPr/>
        </p:nvSpPr>
        <p:spPr>
          <a:xfrm flipH="false" flipV="false" rot="217231">
            <a:off x="-149567" y="6106297"/>
            <a:ext cx="5229574" cy="3504927"/>
          </a:xfrm>
          <a:custGeom>
            <a:avLst/>
            <a:gdLst/>
            <a:ahLst/>
            <a:cxnLst/>
            <a:rect r="r" b="b" t="t" l="l"/>
            <a:pathLst>
              <a:path h="3504927" w="5229574">
                <a:moveTo>
                  <a:pt x="0" y="0"/>
                </a:moveTo>
                <a:lnTo>
                  <a:pt x="5229574" y="0"/>
                </a:lnTo>
                <a:lnTo>
                  <a:pt x="5229574" y="3504928"/>
                </a:lnTo>
                <a:lnTo>
                  <a:pt x="0" y="3504928"/>
                </a:lnTo>
                <a:lnTo>
                  <a:pt x="0" y="0"/>
                </a:lnTo>
                <a:close/>
              </a:path>
            </a:pathLst>
          </a:custGeom>
          <a:blipFill>
            <a:blip r:embed="rId2"/>
            <a:stretch>
              <a:fillRect l="0" t="0" r="0" b="0"/>
            </a:stretch>
          </a:blipFill>
        </p:spPr>
      </p:sp>
      <p:sp>
        <p:nvSpPr>
          <p:cNvPr name="TextBox 22" id="22"/>
          <p:cNvSpPr txBox="true"/>
          <p:nvPr/>
        </p:nvSpPr>
        <p:spPr>
          <a:xfrm rot="0">
            <a:off x="7205851" y="904875"/>
            <a:ext cx="4437562" cy="1039983"/>
          </a:xfrm>
          <a:prstGeom prst="rect">
            <a:avLst/>
          </a:prstGeom>
        </p:spPr>
        <p:txBody>
          <a:bodyPr anchor="t" rtlCol="false" tIns="0" lIns="0" bIns="0" rIns="0">
            <a:spAutoFit/>
          </a:bodyPr>
          <a:lstStyle/>
          <a:p>
            <a:pPr algn="ctr" marL="0" indent="0" lvl="0">
              <a:lnSpc>
                <a:spcPts val="8509"/>
              </a:lnSpc>
              <a:spcBef>
                <a:spcPct val="0"/>
              </a:spcBef>
            </a:pPr>
            <a:r>
              <a:rPr lang="en-US" b="true" sz="6078">
                <a:solidFill>
                  <a:srgbClr val="FFFFFF"/>
                </a:solidFill>
                <a:latin typeface="Oswald Bold"/>
                <a:ea typeface="Oswald Bold"/>
                <a:cs typeface="Oswald Bold"/>
                <a:sym typeface="Oswald Bold"/>
              </a:rPr>
              <a:t>Chức năng</a:t>
            </a:r>
          </a:p>
        </p:txBody>
      </p:sp>
      <p:sp>
        <p:nvSpPr>
          <p:cNvPr name="TextBox 23" id="23"/>
          <p:cNvSpPr txBox="true"/>
          <p:nvPr/>
        </p:nvSpPr>
        <p:spPr>
          <a:xfrm rot="0">
            <a:off x="1737462" y="4604192"/>
            <a:ext cx="2656174" cy="1073785"/>
          </a:xfrm>
          <a:prstGeom prst="rect">
            <a:avLst/>
          </a:prstGeom>
        </p:spPr>
        <p:txBody>
          <a:bodyPr anchor="t" rtlCol="false" tIns="0" lIns="0" bIns="0" rIns="0">
            <a:spAutoFit/>
          </a:bodyPr>
          <a:lstStyle/>
          <a:p>
            <a:pPr algn="ctr" marL="0" indent="0" lvl="0">
              <a:lnSpc>
                <a:spcPts val="4340"/>
              </a:lnSpc>
              <a:spcBef>
                <a:spcPct val="0"/>
              </a:spcBef>
            </a:pPr>
            <a:r>
              <a:rPr lang="en-US" b="true" sz="3100">
                <a:solidFill>
                  <a:srgbClr val="FFFFFF"/>
                </a:solidFill>
                <a:latin typeface="DM Sans Bold"/>
                <a:ea typeface="DM Sans Bold"/>
                <a:cs typeface="DM Sans Bold"/>
                <a:sym typeface="DM Sans Bold"/>
              </a:rPr>
              <a:t> Buộc dừng tiến trình</a:t>
            </a:r>
          </a:p>
        </p:txBody>
      </p:sp>
      <p:sp>
        <p:nvSpPr>
          <p:cNvPr name="TextBox 24" id="24"/>
          <p:cNvSpPr txBox="true"/>
          <p:nvPr/>
        </p:nvSpPr>
        <p:spPr>
          <a:xfrm rot="0">
            <a:off x="5482572" y="7753323"/>
            <a:ext cx="3661428" cy="1109345"/>
          </a:xfrm>
          <a:prstGeom prst="rect">
            <a:avLst/>
          </a:prstGeom>
        </p:spPr>
        <p:txBody>
          <a:bodyPr anchor="t" rtlCol="false" tIns="0" lIns="0" bIns="0" rIns="0">
            <a:spAutoFit/>
          </a:bodyPr>
          <a:lstStyle/>
          <a:p>
            <a:pPr algn="ctr" marL="0" indent="0" lvl="0">
              <a:lnSpc>
                <a:spcPts val="4480"/>
              </a:lnSpc>
              <a:spcBef>
                <a:spcPct val="0"/>
              </a:spcBef>
            </a:pPr>
            <a:r>
              <a:rPr lang="en-US" sz="3200">
                <a:solidFill>
                  <a:srgbClr val="FFFFFF"/>
                </a:solidFill>
                <a:latin typeface="DM Sans"/>
                <a:ea typeface="DM Sans"/>
                <a:cs typeface="DM Sans"/>
                <a:sym typeface="DM Sans"/>
              </a:rPr>
              <a:t>Xem tài nguyên hệ thống</a:t>
            </a:r>
          </a:p>
        </p:txBody>
      </p:sp>
      <p:sp>
        <p:nvSpPr>
          <p:cNvPr name="TextBox 25" id="25"/>
          <p:cNvSpPr txBox="true"/>
          <p:nvPr/>
        </p:nvSpPr>
        <p:spPr>
          <a:xfrm rot="0">
            <a:off x="9738908" y="8277758"/>
            <a:ext cx="3795322" cy="530860"/>
          </a:xfrm>
          <a:prstGeom prst="rect">
            <a:avLst/>
          </a:prstGeom>
        </p:spPr>
        <p:txBody>
          <a:bodyPr anchor="t" rtlCol="false" tIns="0" lIns="0" bIns="0" rIns="0">
            <a:spAutoFit/>
          </a:bodyPr>
          <a:lstStyle/>
          <a:p>
            <a:pPr algn="ctr" marL="0" indent="0" lvl="0">
              <a:lnSpc>
                <a:spcPts val="4340"/>
              </a:lnSpc>
              <a:spcBef>
                <a:spcPct val="0"/>
              </a:spcBef>
            </a:pPr>
            <a:r>
              <a:rPr lang="en-US" sz="3100">
                <a:solidFill>
                  <a:srgbClr val="FFFFFF"/>
                </a:solidFill>
                <a:latin typeface="DM Sans"/>
                <a:ea typeface="DM Sans"/>
                <a:cs typeface="DM Sans"/>
                <a:sym typeface="DM Sans"/>
              </a:rPr>
              <a:t>Set quyền ưu tiên</a:t>
            </a:r>
          </a:p>
        </p:txBody>
      </p:sp>
      <p:sp>
        <p:nvSpPr>
          <p:cNvPr name="TextBox 26" id="26"/>
          <p:cNvSpPr txBox="true"/>
          <p:nvPr/>
        </p:nvSpPr>
        <p:spPr>
          <a:xfrm rot="0">
            <a:off x="14162143" y="4923969"/>
            <a:ext cx="3699435" cy="1057275"/>
          </a:xfrm>
          <a:prstGeom prst="rect">
            <a:avLst/>
          </a:prstGeom>
        </p:spPr>
        <p:txBody>
          <a:bodyPr anchor="t" rtlCol="false" tIns="0" lIns="0" bIns="0" rIns="0">
            <a:spAutoFit/>
          </a:bodyPr>
          <a:lstStyle/>
          <a:p>
            <a:pPr algn="ctr" marL="0" indent="0" lvl="0">
              <a:lnSpc>
                <a:spcPts val="4200"/>
              </a:lnSpc>
              <a:spcBef>
                <a:spcPct val="0"/>
              </a:spcBef>
            </a:pPr>
            <a:r>
              <a:rPr lang="en-US" sz="3000">
                <a:solidFill>
                  <a:srgbClr val="FFFFFF"/>
                </a:solidFill>
                <a:latin typeface="DM Sans"/>
                <a:ea typeface="DM Sans"/>
                <a:cs typeface="DM Sans"/>
                <a:sym typeface="DM Sans"/>
              </a:rPr>
              <a:t>Xem lịch sử sử dụng tài nguyên</a:t>
            </a:r>
          </a:p>
        </p:txBody>
      </p:sp>
      <p:sp>
        <p:nvSpPr>
          <p:cNvPr name="Freeform 27" id="27"/>
          <p:cNvSpPr/>
          <p:nvPr/>
        </p:nvSpPr>
        <p:spPr>
          <a:xfrm flipH="false" flipV="false" rot="1596654">
            <a:off x="2583463" y="5699592"/>
            <a:ext cx="691481" cy="691481"/>
          </a:xfrm>
          <a:custGeom>
            <a:avLst/>
            <a:gdLst/>
            <a:ahLst/>
            <a:cxnLst/>
            <a:rect r="r" b="b" t="t" l="l"/>
            <a:pathLst>
              <a:path h="691481" w="691481">
                <a:moveTo>
                  <a:pt x="0" y="0"/>
                </a:moveTo>
                <a:lnTo>
                  <a:pt x="691480" y="0"/>
                </a:lnTo>
                <a:lnTo>
                  <a:pt x="691480" y="691481"/>
                </a:lnTo>
                <a:lnTo>
                  <a:pt x="0" y="691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0">
            <a:off x="4061435" y="478104"/>
            <a:ext cx="9528899" cy="9330793"/>
          </a:xfrm>
          <a:custGeom>
            <a:avLst/>
            <a:gdLst/>
            <a:ahLst/>
            <a:cxnLst/>
            <a:rect r="r" b="b" t="t" l="l"/>
            <a:pathLst>
              <a:path h="9330793" w="9528899">
                <a:moveTo>
                  <a:pt x="0" y="0"/>
                </a:moveTo>
                <a:lnTo>
                  <a:pt x="9528899" y="0"/>
                </a:lnTo>
                <a:lnTo>
                  <a:pt x="9528899" y="9330792"/>
                </a:lnTo>
                <a:lnTo>
                  <a:pt x="0" y="9330792"/>
                </a:lnTo>
                <a:lnTo>
                  <a:pt x="0" y="0"/>
                </a:lnTo>
                <a:close/>
              </a:path>
            </a:pathLst>
          </a:custGeom>
          <a:blipFill>
            <a:blip r:embed="rId2"/>
            <a:stretch>
              <a:fillRect l="0" t="0" r="0" b="0"/>
            </a:stretch>
          </a:blipFill>
        </p:spPr>
      </p:sp>
      <p:sp>
        <p:nvSpPr>
          <p:cNvPr name="Freeform 3" id="3"/>
          <p:cNvSpPr/>
          <p:nvPr/>
        </p:nvSpPr>
        <p:spPr>
          <a:xfrm flipH="false" flipV="false" rot="-1835015">
            <a:off x="2862003" y="359215"/>
            <a:ext cx="2398863" cy="596717"/>
          </a:xfrm>
          <a:custGeom>
            <a:avLst/>
            <a:gdLst/>
            <a:ahLst/>
            <a:cxnLst/>
            <a:rect r="r" b="b" t="t" l="l"/>
            <a:pathLst>
              <a:path h="596717" w="2398863">
                <a:moveTo>
                  <a:pt x="0" y="0"/>
                </a:moveTo>
                <a:lnTo>
                  <a:pt x="2398864" y="0"/>
                </a:lnTo>
                <a:lnTo>
                  <a:pt x="2398864" y="596718"/>
                </a:lnTo>
                <a:lnTo>
                  <a:pt x="0" y="596718"/>
                </a:lnTo>
                <a:lnTo>
                  <a:pt x="0" y="0"/>
                </a:lnTo>
                <a:close/>
              </a:path>
            </a:pathLst>
          </a:custGeom>
          <a:blipFill>
            <a:blip r:embed="rId3"/>
            <a:stretch>
              <a:fillRect l="0" t="0" r="0" b="0"/>
            </a:stretch>
          </a:blipFill>
        </p:spPr>
      </p:sp>
      <p:sp>
        <p:nvSpPr>
          <p:cNvPr name="Freeform 4" id="4"/>
          <p:cNvSpPr/>
          <p:nvPr/>
        </p:nvSpPr>
        <p:spPr>
          <a:xfrm flipH="false" flipV="false" rot="1801160">
            <a:off x="12390902" y="558325"/>
            <a:ext cx="2398863" cy="622345"/>
          </a:xfrm>
          <a:custGeom>
            <a:avLst/>
            <a:gdLst/>
            <a:ahLst/>
            <a:cxnLst/>
            <a:rect r="r" b="b" t="t" l="l"/>
            <a:pathLst>
              <a:path h="622345" w="2398863">
                <a:moveTo>
                  <a:pt x="0" y="0"/>
                </a:moveTo>
                <a:lnTo>
                  <a:pt x="2398864" y="0"/>
                </a:lnTo>
                <a:lnTo>
                  <a:pt x="2398864" y="622344"/>
                </a:lnTo>
                <a:lnTo>
                  <a:pt x="0" y="622344"/>
                </a:lnTo>
                <a:lnTo>
                  <a:pt x="0" y="0"/>
                </a:lnTo>
                <a:close/>
              </a:path>
            </a:pathLst>
          </a:custGeom>
          <a:blipFill>
            <a:blip r:embed="rId3"/>
            <a:stretch>
              <a:fillRect l="-2147" t="0" r="-2147"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2825670" y="4623144"/>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4" id="4"/>
          <p:cNvSpPr/>
          <p:nvPr/>
        </p:nvSpPr>
        <p:spPr>
          <a:xfrm flipH="false" flipV="false" rot="0">
            <a:off x="9483666" y="4623144"/>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5" id="5"/>
          <p:cNvSpPr/>
          <p:nvPr/>
        </p:nvSpPr>
        <p:spPr>
          <a:xfrm flipH="false" flipV="false" rot="0">
            <a:off x="6412835" y="5532067"/>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6" id="6"/>
          <p:cNvSpPr/>
          <p:nvPr/>
        </p:nvSpPr>
        <p:spPr>
          <a:xfrm flipH="false" flipV="false" rot="0">
            <a:off x="3284127" y="4623144"/>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Freeform 7" id="7"/>
          <p:cNvSpPr/>
          <p:nvPr/>
        </p:nvSpPr>
        <p:spPr>
          <a:xfrm flipH="false" flipV="false" rot="0">
            <a:off x="0" y="4623144"/>
            <a:ext cx="4433630" cy="5921770"/>
          </a:xfrm>
          <a:custGeom>
            <a:avLst/>
            <a:gdLst/>
            <a:ahLst/>
            <a:cxnLst/>
            <a:rect r="r" b="b" t="t" l="l"/>
            <a:pathLst>
              <a:path h="5921770" w="4433630">
                <a:moveTo>
                  <a:pt x="0" y="0"/>
                </a:moveTo>
                <a:lnTo>
                  <a:pt x="4433630" y="0"/>
                </a:lnTo>
                <a:lnTo>
                  <a:pt x="4433630" y="5921770"/>
                </a:lnTo>
                <a:lnTo>
                  <a:pt x="0" y="5921770"/>
                </a:lnTo>
                <a:lnTo>
                  <a:pt x="0" y="0"/>
                </a:lnTo>
                <a:close/>
              </a:path>
            </a:pathLst>
          </a:custGeom>
          <a:blipFill>
            <a:blip r:embed="rId3"/>
            <a:stretch>
              <a:fillRect l="0" t="0" r="0" b="0"/>
            </a:stretch>
          </a:blipFill>
        </p:spPr>
      </p:sp>
      <p:sp>
        <p:nvSpPr>
          <p:cNvPr name="TextBox 8" id="8"/>
          <p:cNvSpPr txBox="true"/>
          <p:nvPr/>
        </p:nvSpPr>
        <p:spPr>
          <a:xfrm rot="0">
            <a:off x="5798590" y="5744774"/>
            <a:ext cx="6065708" cy="985027"/>
          </a:xfrm>
          <a:prstGeom prst="rect">
            <a:avLst/>
          </a:prstGeom>
        </p:spPr>
        <p:txBody>
          <a:bodyPr anchor="t" rtlCol="false" tIns="0" lIns="0" bIns="0" rIns="0">
            <a:spAutoFit/>
          </a:bodyPr>
          <a:lstStyle/>
          <a:p>
            <a:pPr algn="l" marL="0" indent="0" lvl="0">
              <a:lnSpc>
                <a:spcPts val="3982"/>
              </a:lnSpc>
              <a:spcBef>
                <a:spcPct val="0"/>
              </a:spcBef>
            </a:pPr>
            <a:r>
              <a:rPr lang="en-US" sz="2844" i="true">
                <a:solidFill>
                  <a:srgbClr val="000000"/>
                </a:solidFill>
                <a:latin typeface="DM Sans Italics"/>
                <a:ea typeface="DM Sans Italics"/>
                <a:cs typeface="DM Sans Italics"/>
                <a:sym typeface="DM Sans Italics"/>
              </a:rPr>
              <a:t>Nhóm 2 chào các bạn, chúc các bạn thi block 1 thành công &lt;3</a:t>
            </a:r>
          </a:p>
        </p:txBody>
      </p:sp>
      <p:sp>
        <p:nvSpPr>
          <p:cNvPr name="TextBox 9" id="9"/>
          <p:cNvSpPr txBox="true"/>
          <p:nvPr/>
        </p:nvSpPr>
        <p:spPr>
          <a:xfrm rot="0">
            <a:off x="4861349" y="997647"/>
            <a:ext cx="9055948" cy="3625497"/>
          </a:xfrm>
          <a:prstGeom prst="rect">
            <a:avLst/>
          </a:prstGeom>
        </p:spPr>
        <p:txBody>
          <a:bodyPr anchor="t" rtlCol="false" tIns="0" lIns="0" bIns="0" rIns="0">
            <a:spAutoFit/>
          </a:bodyPr>
          <a:lstStyle/>
          <a:p>
            <a:pPr algn="l" marL="0" indent="0" lvl="0">
              <a:lnSpc>
                <a:spcPts val="14556"/>
              </a:lnSpc>
              <a:spcBef>
                <a:spcPct val="0"/>
              </a:spcBef>
            </a:pPr>
            <a:r>
              <a:rPr lang="en-US" b="true" sz="10547" spc="1033">
                <a:solidFill>
                  <a:srgbClr val="231F20"/>
                </a:solidFill>
                <a:latin typeface="Oswald Bold"/>
                <a:ea typeface="Oswald Bold"/>
                <a:cs typeface="Oswald Bold"/>
                <a:sym typeface="Oswald Bold"/>
              </a:rPr>
              <a:t>THANKS FOR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DAFuuCSFEx0</dc:identifier>
  <dcterms:modified xsi:type="dcterms:W3CDTF">2011-08-01T06:04:30Z</dcterms:modified>
  <cp:revision>1</cp:revision>
  <dc:title>Hệ Điều Hành</dc:title>
</cp:coreProperties>
</file>