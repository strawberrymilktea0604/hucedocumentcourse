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9"/>
  </p:notesMasterIdLst>
  <p:handoutMasterIdLst>
    <p:handoutMasterId r:id="rId30"/>
  </p:handoutMasterIdLst>
  <p:sldIdLst>
    <p:sldId id="292" r:id="rId5"/>
    <p:sldId id="296" r:id="rId6"/>
    <p:sldId id="276" r:id="rId7"/>
    <p:sldId id="277" r:id="rId8"/>
    <p:sldId id="278" r:id="rId9"/>
    <p:sldId id="279" r:id="rId10"/>
    <p:sldId id="294" r:id="rId11"/>
    <p:sldId id="281" r:id="rId12"/>
    <p:sldId id="285" r:id="rId13"/>
    <p:sldId id="295" r:id="rId14"/>
    <p:sldId id="297" r:id="rId15"/>
    <p:sldId id="299" r:id="rId16"/>
    <p:sldId id="300" r:id="rId17"/>
    <p:sldId id="301" r:id="rId18"/>
    <p:sldId id="302" r:id="rId19"/>
    <p:sldId id="303" r:id="rId20"/>
    <p:sldId id="310" r:id="rId21"/>
    <p:sldId id="304" r:id="rId22"/>
    <p:sldId id="305" r:id="rId23"/>
    <p:sldId id="306" r:id="rId24"/>
    <p:sldId id="307" r:id="rId25"/>
    <p:sldId id="308" r:id="rId26"/>
    <p:sldId id="309" r:id="rId27"/>
    <p:sldId id="289"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47F20D55-8415-45EC-A6E1-61F665E3689A}">
          <p14:sldIdLst>
            <p14:sldId id="292"/>
            <p14:sldId id="296"/>
            <p14:sldId id="276"/>
            <p14:sldId id="277"/>
            <p14:sldId id="278"/>
            <p14:sldId id="279"/>
            <p14:sldId id="294"/>
            <p14:sldId id="281"/>
            <p14:sldId id="285"/>
            <p14:sldId id="295"/>
            <p14:sldId id="297"/>
            <p14:sldId id="299"/>
            <p14:sldId id="300"/>
            <p14:sldId id="301"/>
            <p14:sldId id="302"/>
            <p14:sldId id="303"/>
            <p14:sldId id="310"/>
            <p14:sldId id="304"/>
            <p14:sldId id="305"/>
            <p14:sldId id="306"/>
            <p14:sldId id="307"/>
            <p14:sldId id="308"/>
            <p14:sldId id="309"/>
            <p14:sldId id="289"/>
          </p14:sldIdLst>
        </p14:section>
      </p14:sectionLst>
    </p:ex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46992"/>
    <a:srgbClr val="D84400"/>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54" autoAdjust="0"/>
    <p:restoredTop sz="95634"/>
  </p:normalViewPr>
  <p:slideViewPr>
    <p:cSldViewPr snapToGrid="0" showGuides="1">
      <p:cViewPr>
        <p:scale>
          <a:sx n="75" d="100"/>
          <a:sy n="75" d="100"/>
        </p:scale>
        <p:origin x="1018" y="269"/>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8/10/relationships/authors" Target="author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11/29/2023</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A894A48D-3417-BE20-3062-A366096904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AC9ED954-709D-51DC-3EA0-0E06FE1D72A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1F57F2FB-2942-7663-E6DB-E3A976549D5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ED31FE42-8AA6-DC9C-5EE7-8737143C1DD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58D246-FB21-4ACB-9068-6447CC7872F8}" type="datetimeFigureOut">
              <a:rPr lang="en-US" smtClean="0"/>
              <a:t>11/29/2023</a:t>
            </a:fld>
            <a:endParaRPr lang="en-US"/>
          </a:p>
        </p:txBody>
      </p:sp>
      <p:sp>
        <p:nvSpPr>
          <p:cNvPr id="12" name="Notes Placeholder 11">
            <a:extLst>
              <a:ext uri="{FF2B5EF4-FFF2-40B4-BE49-F238E27FC236}">
                <a16:creationId xmlns:a16="http://schemas.microsoft.com/office/drawing/2014/main" id="{5F659C92-43C4-05C5-9170-5CF256AF9975}"/>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74923A81-0599-8ECF-BDF0-A4898D46829C}"/>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BF3159-94EB-4F6B-8273-09F1A6B019E6}"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3712883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3</a:t>
            </a:fld>
            <a:endParaRPr lang="en-US" altLang="zh-CN" noProof="0" dirty="0"/>
          </a:p>
        </p:txBody>
      </p:sp>
    </p:spTree>
    <p:extLst>
      <p:ext uri="{BB962C8B-B14F-4D97-AF65-F5344CB8AC3E}">
        <p14:creationId xmlns:p14="http://schemas.microsoft.com/office/powerpoint/2010/main" val="3235818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4</a:t>
            </a:fld>
            <a:endParaRPr lang="en-US" altLang="zh-CN" noProof="0" dirty="0"/>
          </a:p>
        </p:txBody>
      </p:sp>
    </p:spTree>
    <p:extLst>
      <p:ext uri="{BB962C8B-B14F-4D97-AF65-F5344CB8AC3E}">
        <p14:creationId xmlns:p14="http://schemas.microsoft.com/office/powerpoint/2010/main" val="961386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5</a:t>
            </a:fld>
            <a:endParaRPr lang="en-US" altLang="zh-CN" noProof="0" dirty="0"/>
          </a:p>
        </p:txBody>
      </p:sp>
    </p:spTree>
    <p:extLst>
      <p:ext uri="{BB962C8B-B14F-4D97-AF65-F5344CB8AC3E}">
        <p14:creationId xmlns:p14="http://schemas.microsoft.com/office/powerpoint/2010/main" val="4640078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6</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7993361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8</a:t>
            </a:fld>
            <a:endParaRPr lang="en-US" altLang="zh-CN" dirty="0"/>
          </a:p>
        </p:txBody>
      </p:sp>
    </p:spTree>
    <p:extLst>
      <p:ext uri="{BB962C8B-B14F-4D97-AF65-F5344CB8AC3E}">
        <p14:creationId xmlns:p14="http://schemas.microsoft.com/office/powerpoint/2010/main" val="10774650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dirty="0"/>
          </a:p>
        </p:txBody>
      </p:sp>
    </p:spTree>
    <p:extLst>
      <p:ext uri="{BB962C8B-B14F-4D97-AF65-F5344CB8AC3E}">
        <p14:creationId xmlns:p14="http://schemas.microsoft.com/office/powerpoint/2010/main" val="4245785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10</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24</a:t>
            </a:fld>
            <a:endParaRPr lang="en-US" altLang="zh-CN" noProof="0" dirty="0"/>
          </a:p>
        </p:txBody>
      </p:sp>
    </p:spTree>
    <p:extLst>
      <p:ext uri="{BB962C8B-B14F-4D97-AF65-F5344CB8AC3E}">
        <p14:creationId xmlns:p14="http://schemas.microsoft.com/office/powerpoint/2010/main" val="30776703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lvl1pPr>
              <a:defRPr>
                <a:solidFill>
                  <a:schemeClr val="accent6"/>
                </a:solidFill>
              </a:defRPr>
            </a:lvl1pPr>
          </a:lstStyle>
          <a:p>
            <a:r>
              <a:rPr lang="en-US"/>
              <a:t>Presentation title</a:t>
            </a:r>
            <a:endParaRPr lang="en-US"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a:t>Presentation title</a:t>
            </a:r>
            <a:endParaRPr lang="en-US" noProof="0" dirty="0"/>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Presentation title</a:t>
            </a:r>
            <a:endParaRPr lang="en-US" noProof="0" dirty="0"/>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lvl1pPr>
              <a:defRPr>
                <a:solidFill>
                  <a:schemeClr val="accent6"/>
                </a:solidFill>
              </a:defRPr>
            </a:lvl1pPr>
          </a:lstStyle>
          <a:p>
            <a:r>
              <a:rPr lang="en-US"/>
              <a:t>Presentation title</a:t>
            </a:r>
            <a:endParaRPr lang="en-US" dirty="0"/>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pPr/>
              <a:t>‹#›</a:t>
            </a:fld>
            <a:endParaRPr lang="en-US" altLang="zh-CN"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endParaRPr lang="en-US"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857126" y="33593"/>
            <a:ext cx="10792178" cy="1610784"/>
          </a:xfrm>
        </p:spPr>
        <p:txBody>
          <a:bodyPr/>
          <a:lstStyle/>
          <a:p>
            <a:r>
              <a:rPr lang="en-US" sz="7200" dirty="0" err="1"/>
              <a:t>Chương</a:t>
            </a:r>
            <a:r>
              <a:rPr lang="en-US" sz="7200" dirty="0"/>
              <a:t> 3 : Main Memory</a:t>
            </a: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4178" y="1775914"/>
            <a:ext cx="12258075" cy="5082086"/>
          </a:xfrm>
        </p:spPr>
        <p:txBody>
          <a:bodyPr/>
          <a:lstStyle/>
          <a:p>
            <a:r>
              <a:rPr lang="en-US" sz="4400" dirty="0">
                <a:latin typeface="Calibri" panose="020F0502020204030204" pitchFamily="34" charset="0"/>
                <a:ea typeface="Calibri" panose="020F0502020204030204" pitchFamily="34" charset="0"/>
                <a:cs typeface="Calibri" panose="020F0502020204030204" pitchFamily="34" charset="0"/>
              </a:rPr>
              <a:t>1</a:t>
            </a:r>
            <a:r>
              <a:rPr lang="en-US" sz="4400" dirty="0">
                <a:latin typeface=".VnTimeH" panose="020B7200000000000000" pitchFamily="34" charset="0"/>
              </a:rPr>
              <a:t>.</a:t>
            </a:r>
            <a:r>
              <a:rPr lang="en-US" sz="4400" dirty="0">
                <a:latin typeface="Calibri" panose="020F0502020204030204" pitchFamily="34" charset="0"/>
                <a:ea typeface="Calibri" panose="020F0502020204030204" pitchFamily="34" charset="0"/>
                <a:cs typeface="Calibri" panose="020F0502020204030204" pitchFamily="34" charset="0"/>
              </a:rPr>
              <a:t> Background</a:t>
            </a:r>
          </a:p>
          <a:p>
            <a:r>
              <a:rPr lang="en-US" sz="4400" dirty="0">
                <a:latin typeface="Calibri" panose="020F0502020204030204" pitchFamily="34" charset="0"/>
                <a:ea typeface="Calibri" panose="020F0502020204030204" pitchFamily="34" charset="0"/>
                <a:cs typeface="Calibri" panose="020F0502020204030204" pitchFamily="34" charset="0"/>
              </a:rPr>
              <a:t>2. Swapping</a:t>
            </a:r>
          </a:p>
          <a:p>
            <a:r>
              <a:rPr lang="en-US" sz="4400" dirty="0">
                <a:latin typeface="Calibri" panose="020F0502020204030204" pitchFamily="34" charset="0"/>
                <a:ea typeface="Calibri" panose="020F0502020204030204" pitchFamily="34" charset="0"/>
                <a:cs typeface="Calibri" panose="020F0502020204030204" pitchFamily="34" charset="0"/>
              </a:rPr>
              <a:t>3. </a:t>
            </a:r>
            <a:r>
              <a:rPr lang="en-US" sz="4400" dirty="0" err="1">
                <a:latin typeface="Calibri" panose="020F0502020204030204" pitchFamily="34" charset="0"/>
                <a:ea typeface="Calibri" panose="020F0502020204030204" pitchFamily="34" charset="0"/>
                <a:cs typeface="Calibri" panose="020F0502020204030204" pitchFamily="34" charset="0"/>
              </a:rPr>
              <a:t>Phân</a:t>
            </a:r>
            <a:r>
              <a:rPr lang="en-US" sz="4400" dirty="0">
                <a:latin typeface="Calibri" panose="020F0502020204030204" pitchFamily="34" charset="0"/>
                <a:ea typeface="Calibri" panose="020F0502020204030204" pitchFamily="34" charset="0"/>
                <a:cs typeface="Calibri" panose="020F0502020204030204" pitchFamily="34" charset="0"/>
              </a:rPr>
              <a:t> </a:t>
            </a:r>
            <a:r>
              <a:rPr lang="en-US" sz="4400" dirty="0" err="1">
                <a:latin typeface="Calibri" panose="020F0502020204030204" pitchFamily="34" charset="0"/>
                <a:ea typeface="Calibri" panose="020F0502020204030204" pitchFamily="34" charset="0"/>
                <a:cs typeface="Calibri" panose="020F0502020204030204" pitchFamily="34" charset="0"/>
              </a:rPr>
              <a:t>Phối</a:t>
            </a:r>
            <a:r>
              <a:rPr lang="en-US" sz="4400" dirty="0">
                <a:latin typeface="Calibri" panose="020F0502020204030204" pitchFamily="34" charset="0"/>
                <a:ea typeface="Calibri" panose="020F0502020204030204" pitchFamily="34" charset="0"/>
                <a:cs typeface="Calibri" panose="020F0502020204030204" pitchFamily="34" charset="0"/>
              </a:rPr>
              <a:t> </a:t>
            </a:r>
            <a:r>
              <a:rPr lang="en-US" sz="4400" dirty="0" err="1">
                <a:latin typeface="Calibri" panose="020F0502020204030204" pitchFamily="34" charset="0"/>
                <a:ea typeface="Calibri" panose="020F0502020204030204" pitchFamily="34" charset="0"/>
                <a:cs typeface="Calibri" panose="020F0502020204030204" pitchFamily="34" charset="0"/>
              </a:rPr>
              <a:t>Bộ</a:t>
            </a:r>
            <a:r>
              <a:rPr lang="en-US" sz="4400" dirty="0">
                <a:latin typeface="Calibri" panose="020F0502020204030204" pitchFamily="34" charset="0"/>
                <a:ea typeface="Calibri" panose="020F0502020204030204" pitchFamily="34" charset="0"/>
                <a:cs typeface="Calibri" panose="020F0502020204030204" pitchFamily="34" charset="0"/>
              </a:rPr>
              <a:t> </a:t>
            </a:r>
            <a:r>
              <a:rPr lang="en-US" sz="4400" dirty="0" err="1">
                <a:latin typeface="Calibri" panose="020F0502020204030204" pitchFamily="34" charset="0"/>
                <a:ea typeface="Calibri" panose="020F0502020204030204" pitchFamily="34" charset="0"/>
                <a:cs typeface="Calibri" panose="020F0502020204030204" pitchFamily="34" charset="0"/>
              </a:rPr>
              <a:t>Nhớ</a:t>
            </a:r>
            <a:r>
              <a:rPr lang="en-US" sz="4400" dirty="0">
                <a:latin typeface="Calibri" panose="020F0502020204030204" pitchFamily="34" charset="0"/>
                <a:ea typeface="Calibri" panose="020F0502020204030204" pitchFamily="34" charset="0"/>
                <a:cs typeface="Calibri" panose="020F0502020204030204" pitchFamily="34" charset="0"/>
              </a:rPr>
              <a:t> Liên </a:t>
            </a:r>
            <a:r>
              <a:rPr lang="en-US" sz="4400" dirty="0" err="1">
                <a:latin typeface="Calibri" panose="020F0502020204030204" pitchFamily="34" charset="0"/>
                <a:ea typeface="Calibri" panose="020F0502020204030204" pitchFamily="34" charset="0"/>
                <a:cs typeface="Calibri" panose="020F0502020204030204" pitchFamily="34" charset="0"/>
              </a:rPr>
              <a:t>Tục</a:t>
            </a:r>
            <a:endParaRPr lang="en-US" sz="4400" dirty="0">
              <a:latin typeface="Calibri" panose="020F0502020204030204" pitchFamily="34" charset="0"/>
              <a:ea typeface="Calibri" panose="020F0502020204030204" pitchFamily="34" charset="0"/>
              <a:cs typeface="Calibri" panose="020F0502020204030204" pitchFamily="34" charset="0"/>
            </a:endParaRPr>
          </a:p>
          <a:p>
            <a:r>
              <a:rPr lang="en-US" sz="4400" dirty="0">
                <a:latin typeface="Calibri" panose="020F0502020204030204" pitchFamily="34" charset="0"/>
                <a:ea typeface="Calibri" panose="020F0502020204030204" pitchFamily="34" charset="0"/>
                <a:cs typeface="Calibri" panose="020F0502020204030204" pitchFamily="34" charset="0"/>
              </a:rPr>
              <a:t>4. </a:t>
            </a:r>
            <a:r>
              <a:rPr lang="en-US" sz="4400" dirty="0" err="1">
                <a:latin typeface="Calibri" panose="020F0502020204030204" pitchFamily="34" charset="0"/>
                <a:ea typeface="Calibri" panose="020F0502020204030204" pitchFamily="34" charset="0"/>
                <a:cs typeface="Calibri" panose="020F0502020204030204" pitchFamily="34" charset="0"/>
              </a:rPr>
              <a:t>Phân</a:t>
            </a:r>
            <a:r>
              <a:rPr lang="en-US" sz="4400" dirty="0">
                <a:latin typeface="Calibri" panose="020F0502020204030204" pitchFamily="34" charset="0"/>
                <a:ea typeface="Calibri" panose="020F0502020204030204" pitchFamily="34" charset="0"/>
                <a:cs typeface="Calibri" panose="020F0502020204030204" pitchFamily="34" charset="0"/>
              </a:rPr>
              <a:t> </a:t>
            </a:r>
            <a:r>
              <a:rPr lang="en-US" sz="4400" dirty="0" err="1">
                <a:latin typeface="Calibri" panose="020F0502020204030204" pitchFamily="34" charset="0"/>
                <a:ea typeface="Calibri" panose="020F0502020204030204" pitchFamily="34" charset="0"/>
                <a:cs typeface="Calibri" panose="020F0502020204030204" pitchFamily="34" charset="0"/>
              </a:rPr>
              <a:t>Mảnh</a:t>
            </a:r>
            <a:endParaRPr lang="en-US" sz="4400" dirty="0">
              <a:latin typeface="Calibri" panose="020F0502020204030204" pitchFamily="34" charset="0"/>
              <a:ea typeface="Calibri" panose="020F0502020204030204" pitchFamily="34" charset="0"/>
              <a:cs typeface="Calibri" panose="020F0502020204030204" pitchFamily="34" charset="0"/>
            </a:endParaRPr>
          </a:p>
          <a:p>
            <a:r>
              <a:rPr lang="en-US" sz="4400" dirty="0">
                <a:latin typeface="Calibri" panose="020F0502020204030204" pitchFamily="34" charset="0"/>
                <a:ea typeface="Calibri" panose="020F0502020204030204" pitchFamily="34" charset="0"/>
                <a:cs typeface="Calibri" panose="020F0502020204030204" pitchFamily="34" charset="0"/>
              </a:rPr>
              <a:t>5. </a:t>
            </a:r>
            <a:r>
              <a:rPr lang="en-US" sz="4400" dirty="0" err="1">
                <a:latin typeface="Calibri" panose="020F0502020204030204" pitchFamily="34" charset="0"/>
                <a:ea typeface="Calibri" panose="020F0502020204030204" pitchFamily="34" charset="0"/>
                <a:cs typeface="Calibri" panose="020F0502020204030204" pitchFamily="34" charset="0"/>
              </a:rPr>
              <a:t>Phân</a:t>
            </a:r>
            <a:r>
              <a:rPr lang="en-US" sz="4400" dirty="0">
                <a:latin typeface="Calibri" panose="020F0502020204030204" pitchFamily="34" charset="0"/>
                <a:ea typeface="Calibri" panose="020F0502020204030204" pitchFamily="34" charset="0"/>
                <a:cs typeface="Calibri" panose="020F0502020204030204" pitchFamily="34" charset="0"/>
              </a:rPr>
              <a:t> Trang</a:t>
            </a:r>
          </a:p>
          <a:p>
            <a:r>
              <a:rPr lang="en-US" sz="4400" dirty="0">
                <a:latin typeface="Calibri" panose="020F0502020204030204" pitchFamily="34" charset="0"/>
                <a:ea typeface="Calibri" panose="020F0502020204030204" pitchFamily="34" charset="0"/>
                <a:cs typeface="Calibri" panose="020F0502020204030204" pitchFamily="34" charset="0"/>
              </a:rPr>
              <a:t>6. </a:t>
            </a:r>
            <a:r>
              <a:rPr lang="en-US" sz="4400" dirty="0" err="1">
                <a:latin typeface="Calibri" panose="020F0502020204030204" pitchFamily="34" charset="0"/>
                <a:ea typeface="Calibri" panose="020F0502020204030204" pitchFamily="34" charset="0"/>
                <a:cs typeface="Calibri" panose="020F0502020204030204" pitchFamily="34" charset="0"/>
              </a:rPr>
              <a:t>Cấu</a:t>
            </a:r>
            <a:r>
              <a:rPr lang="en-US" sz="4400" dirty="0">
                <a:latin typeface="Calibri" panose="020F0502020204030204" pitchFamily="34" charset="0"/>
                <a:ea typeface="Calibri" panose="020F0502020204030204" pitchFamily="34" charset="0"/>
                <a:cs typeface="Calibri" panose="020F0502020204030204" pitchFamily="34" charset="0"/>
              </a:rPr>
              <a:t> Trúc </a:t>
            </a:r>
            <a:r>
              <a:rPr lang="en-US" sz="4400" dirty="0" err="1">
                <a:latin typeface="Calibri" panose="020F0502020204030204" pitchFamily="34" charset="0"/>
                <a:ea typeface="Calibri" panose="020F0502020204030204" pitchFamily="34" charset="0"/>
                <a:cs typeface="Calibri" panose="020F0502020204030204" pitchFamily="34" charset="0"/>
              </a:rPr>
              <a:t>Bảng</a:t>
            </a:r>
            <a:r>
              <a:rPr lang="en-US" sz="4400" dirty="0">
                <a:latin typeface="Calibri" panose="020F0502020204030204" pitchFamily="34" charset="0"/>
                <a:ea typeface="Calibri" panose="020F0502020204030204" pitchFamily="34" charset="0"/>
                <a:cs typeface="Calibri" panose="020F0502020204030204" pitchFamily="34" charset="0"/>
              </a:rPr>
              <a:t> Trang</a:t>
            </a:r>
          </a:p>
          <a:p>
            <a:endParaRPr lang="en-US" dirty="0"/>
          </a:p>
        </p:txBody>
      </p:sp>
      <p:sp>
        <p:nvSpPr>
          <p:cNvPr id="10" name="Freeform: Shape 11">
            <a:extLst>
              <a:ext uri="{FF2B5EF4-FFF2-40B4-BE49-F238E27FC236}">
                <a16:creationId xmlns:a16="http://schemas.microsoft.com/office/drawing/2014/main" id="{01A79B69-242C-3AEB-4A42-7A606A54C63A}"/>
              </a:ext>
              <a:ext uri="{C183D7F6-B498-43B3-948B-1728B52AA6E4}">
                <adec:decorative xmlns:adec="http://schemas.microsoft.com/office/drawing/2017/decorative" val="1"/>
              </a:ext>
            </a:extLst>
          </p:cNvPr>
          <p:cNvSpPr/>
          <p:nvPr/>
        </p:nvSpPr>
        <p:spPr>
          <a:xfrm>
            <a:off x="9857505" y="838985"/>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tx2">
                <a:lumMod val="50000"/>
                <a:lumOff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4" name="Freeform: Shape 11">
            <a:extLst>
              <a:ext uri="{FF2B5EF4-FFF2-40B4-BE49-F238E27FC236}">
                <a16:creationId xmlns:a16="http://schemas.microsoft.com/office/drawing/2014/main" id="{E5D4DE6D-89C8-6FFF-287D-3F3BAD416CA1}"/>
              </a:ext>
              <a:ext uri="{C183D7F6-B498-43B3-948B-1728B52AA6E4}">
                <adec:decorative xmlns:adec="http://schemas.microsoft.com/office/drawing/2017/decorative" val="1"/>
              </a:ext>
            </a:extLst>
          </p:cNvPr>
          <p:cNvSpPr/>
          <p:nvPr/>
        </p:nvSpPr>
        <p:spPr>
          <a:xfrm>
            <a:off x="5974436" y="3694919"/>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alpha val="50196"/>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1E69B66-D936-E153-4215-84E6A44D05D7}"/>
              </a:ext>
            </a:extLst>
          </p:cNvPr>
          <p:cNvSpPr>
            <a:spLocks noGrp="1"/>
          </p:cNvSpPr>
          <p:nvPr>
            <p:ph type="body" sz="quarter" idx="30"/>
          </p:nvPr>
        </p:nvSpPr>
        <p:spPr>
          <a:xfrm>
            <a:off x="484632" y="1219200"/>
            <a:ext cx="11168129" cy="4074160"/>
          </a:xfrm>
        </p:spPr>
        <p:txBody>
          <a:bodyPr/>
          <a:lstStyle/>
          <a:p>
            <a:pPr algn="just"/>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Chúng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ta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đã</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biết</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cách</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CPU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có</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thể</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được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chia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sẻ</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cho</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các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tiến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trình</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Nhờ</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điều</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phối</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CPU,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việc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sử</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dụng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CPU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và</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tốc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độ</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phản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hồi</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của</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máy</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tính</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đối</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với</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người</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dùng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được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cải</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thiện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2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algn="just"/>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Tuy</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nhiên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để</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gia</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tăng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hiệu</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suất</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chúng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ta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phải</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giữ</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một</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số</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tiến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trình</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trong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bộ</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nhớ</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nghĩa</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là</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chúng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ta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phải</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cấp</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bộ</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nhớ</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cho</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các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tiến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trình</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p>
          <a:p>
            <a:pPr algn="just"/>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 Trong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chương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này</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chúng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ta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thảo</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luận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về</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nhiều</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cách</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khác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nhau</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để</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quản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lý</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bộ</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nhớ</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lang="en-US" dirty="0">
              <a:solidFill>
                <a:schemeClr val="tx1"/>
              </a:solidFill>
            </a:endParaRPr>
          </a:p>
        </p:txBody>
      </p:sp>
      <p:sp>
        <p:nvSpPr>
          <p:cNvPr id="8" name="Footer Placeholder 7">
            <a:extLst>
              <a:ext uri="{FF2B5EF4-FFF2-40B4-BE49-F238E27FC236}">
                <a16:creationId xmlns:a16="http://schemas.microsoft.com/office/drawing/2014/main" id="{2D274EAB-E76C-04D5-6348-A5293C9B743C}"/>
              </a:ext>
            </a:extLst>
          </p:cNvPr>
          <p:cNvSpPr>
            <a:spLocks noGrp="1"/>
          </p:cNvSpPr>
          <p:nvPr>
            <p:ph type="ftr" sz="quarter" idx="33"/>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1736940F-42E8-93DB-3610-E94EEF14D41D}"/>
              </a:ext>
            </a:extLst>
          </p:cNvPr>
          <p:cNvSpPr>
            <a:spLocks noGrp="1"/>
          </p:cNvSpPr>
          <p:nvPr>
            <p:ph type="sldNum" sz="quarter" idx="34"/>
          </p:nvPr>
        </p:nvSpPr>
        <p:spPr/>
        <p:txBody>
          <a:bodyPr/>
          <a:lstStyle/>
          <a:p>
            <a:fld id="{47FEACEE-25B4-4A2D-B147-27296E36371D}" type="slidenum">
              <a:rPr lang="en-US" altLang="zh-CN" smtClean="0"/>
              <a:pPr/>
              <a:t>2</a:t>
            </a:fld>
            <a:endParaRPr lang="en-US" altLang="zh-CN" dirty="0"/>
          </a:p>
        </p:txBody>
      </p:sp>
    </p:spTree>
    <p:extLst>
      <p:ext uri="{BB962C8B-B14F-4D97-AF65-F5344CB8AC3E}">
        <p14:creationId xmlns:p14="http://schemas.microsoft.com/office/powerpoint/2010/main" val="2898910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3597834" y="495450"/>
            <a:ext cx="4996330" cy="781152"/>
          </a:xfrm>
        </p:spPr>
        <p:txBody>
          <a:bodyPr/>
          <a:lstStyle/>
          <a:p>
            <a:pPr algn="ctr"/>
            <a:r>
              <a:rPr lang="en-US" sz="5400" dirty="0">
                <a:solidFill>
                  <a:srgbClr val="C00000"/>
                </a:solidFill>
              </a:rPr>
              <a:t>1.  Background</a:t>
            </a:r>
          </a:p>
        </p:txBody>
      </p:sp>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a:xfrm>
            <a:off x="385482" y="1276602"/>
            <a:ext cx="11421035" cy="4493149"/>
          </a:xfrm>
        </p:spPr>
        <p:txBody>
          <a:bodyPr/>
          <a:lstStyle/>
          <a:p>
            <a:r>
              <a:rPr lang="en-US" dirty="0">
                <a:solidFill>
                  <a:schemeClr val="tx1"/>
                </a:solidFill>
              </a:rPr>
              <a:t> </a:t>
            </a:r>
          </a:p>
          <a:p>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Bộ</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nhớ</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là</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trung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tâm</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hoạt</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động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của</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một</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hệ</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thống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máy</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tính</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hiện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đại</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p>
          <a:p>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Bộ</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nhớ</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bao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gồm</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một</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mảng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lớn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các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byte,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mỗi</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byte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có</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địa</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chỉ</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riêng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p>
          <a:p>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CPU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lấy</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lệnh</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từ</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bộ</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nhớ</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theo</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giá</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trị</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của</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Program Counter.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Các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lệnh</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này</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có</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thể</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load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giá</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trị</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từ</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bộ</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nhớ</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về</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hoặc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lưu</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trữ</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giá</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trị</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vào</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bộ</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nhớ</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Một</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số</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vấn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đề</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liên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quan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đến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việc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quản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lý</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bộ</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nhớ</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phần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cứng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cơ</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bản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sự</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ràng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buộc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của</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địa</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chỉ</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bộ</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nhớ</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latin typeface="Calibri" panose="020F0502020204030204" pitchFamily="34" charset="0"/>
                <a:ea typeface="Calibri" panose="020F0502020204030204" pitchFamily="34" charset="0"/>
                <a:cs typeface="Times New Roman" panose="02020603050405020304" pitchFamily="18" charset="0"/>
              </a:rPr>
              <a:t>ảo</a:t>
            </a:r>
            <a:r>
              <a:rPr lang="en-US" sz="28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với</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địa</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chỉ</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thực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tế</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và</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sự</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khác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biệt</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giữa</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địa</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chỉ</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logic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và</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địa</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chỉ</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thực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endParaRPr lang="en-US" dirty="0">
              <a:solidFill>
                <a:schemeClr val="tx1"/>
              </a:solidFill>
            </a:endParaRPr>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p:txBody>
          <a:bodyPr/>
          <a:lstStyle/>
          <a:p>
            <a:fld id="{47FEACEE-25B4-4A2D-B147-27296E36371D}" type="slidenum">
              <a:rPr lang="en-US" altLang="zh-CN" smtClean="0"/>
              <a:pPr/>
              <a:t>3</a:t>
            </a:fld>
            <a:endParaRPr lang="en-US" altLang="zh-CN" dirty="0"/>
          </a:p>
        </p:txBody>
      </p:sp>
    </p:spTree>
    <p:extLst>
      <p:ext uri="{BB962C8B-B14F-4D97-AF65-F5344CB8AC3E}">
        <p14:creationId xmlns:p14="http://schemas.microsoft.com/office/powerpoint/2010/main" val="77554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4D761329-3BEF-0173-1328-A4DB26572AFF}"/>
              </a:ext>
            </a:extLst>
          </p:cNvPr>
          <p:cNvSpPr>
            <a:spLocks noGrp="1"/>
          </p:cNvSpPr>
          <p:nvPr>
            <p:ph type="title"/>
          </p:nvPr>
        </p:nvSpPr>
        <p:spPr>
          <a:xfrm>
            <a:off x="364632" y="112736"/>
            <a:ext cx="3983848" cy="779241"/>
          </a:xfrm>
        </p:spPr>
        <p:txBody>
          <a:bodyPr/>
          <a:lstStyle/>
          <a:p>
            <a:r>
              <a:rPr lang="en-US" sz="3200" dirty="0">
                <a:solidFill>
                  <a:srgbClr val="C00000"/>
                </a:solidFill>
              </a:rPr>
              <a:t>1.1. </a:t>
            </a:r>
            <a:r>
              <a:rPr lang="en-US" sz="3200" dirty="0" err="1">
                <a:solidFill>
                  <a:srgbClr val="C00000"/>
                </a:solidFill>
              </a:rPr>
              <a:t>Phần</a:t>
            </a:r>
            <a:r>
              <a:rPr lang="en-US" sz="3200" dirty="0">
                <a:solidFill>
                  <a:srgbClr val="C00000"/>
                </a:solidFill>
              </a:rPr>
              <a:t> </a:t>
            </a:r>
            <a:r>
              <a:rPr lang="en-US" sz="3200" dirty="0" err="1">
                <a:solidFill>
                  <a:srgbClr val="C00000"/>
                </a:solidFill>
              </a:rPr>
              <a:t>cứng</a:t>
            </a:r>
            <a:r>
              <a:rPr lang="en-US" sz="3200" dirty="0">
                <a:solidFill>
                  <a:srgbClr val="C00000"/>
                </a:solidFill>
              </a:rPr>
              <a:t> </a:t>
            </a:r>
            <a:r>
              <a:rPr lang="en-US" sz="3200" dirty="0" err="1">
                <a:solidFill>
                  <a:srgbClr val="C00000"/>
                </a:solidFill>
              </a:rPr>
              <a:t>cơ</a:t>
            </a:r>
            <a:r>
              <a:rPr lang="en-US" sz="3200" dirty="0">
                <a:solidFill>
                  <a:srgbClr val="C00000"/>
                </a:solidFill>
              </a:rPr>
              <a:t> </a:t>
            </a:r>
            <a:r>
              <a:rPr lang="en-US" sz="3200" dirty="0" err="1">
                <a:solidFill>
                  <a:srgbClr val="C00000"/>
                </a:solidFill>
              </a:rPr>
              <a:t>bản</a:t>
            </a:r>
            <a:endParaRPr lang="en-US" sz="3200" dirty="0">
              <a:solidFill>
                <a:srgbClr val="C00000"/>
              </a:solidFill>
            </a:endParaRPr>
          </a:p>
        </p:txBody>
      </p:sp>
      <p:sp>
        <p:nvSpPr>
          <p:cNvPr id="6" name="Rectangle 5">
            <a:extLst>
              <a:ext uri="{FF2B5EF4-FFF2-40B4-BE49-F238E27FC236}">
                <a16:creationId xmlns:a16="http://schemas.microsoft.com/office/drawing/2014/main" id="{1EEABDF4-1F07-56DF-5190-06AA103035A9}"/>
              </a:ext>
            </a:extLst>
          </p:cNvPr>
          <p:cNvSpPr/>
          <p:nvPr/>
        </p:nvSpPr>
        <p:spPr>
          <a:xfrm>
            <a:off x="1670756" y="2348088"/>
            <a:ext cx="7902222" cy="4007555"/>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8" name="Text Placeholder 10">
            <a:extLst>
              <a:ext uri="{FF2B5EF4-FFF2-40B4-BE49-F238E27FC236}">
                <a16:creationId xmlns:a16="http://schemas.microsoft.com/office/drawing/2014/main" id="{60C3E8EE-A075-8D2A-460A-B2E428CDF992}"/>
              </a:ext>
            </a:extLst>
          </p:cNvPr>
          <p:cNvSpPr txBox="1">
            <a:spLocks/>
          </p:cNvSpPr>
          <p:nvPr/>
        </p:nvSpPr>
        <p:spPr>
          <a:xfrm>
            <a:off x="364632" y="900035"/>
            <a:ext cx="11420968" cy="17415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Bộ</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nhớ</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chính</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và</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các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thanh</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ghi</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trong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bộ</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xử</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lý</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là</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bộ</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lưu</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trữ</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duy</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nhất</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mà</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CPU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có</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thể</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truy</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cập</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trực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tiếp</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p>
          <a:p>
            <a:pPr marL="0" indent="0">
              <a:buNone/>
            </a:pP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Mọi</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lệnh</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và</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dữ</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liệu</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cần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cho</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lệnh</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phải</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được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lưu</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trữ</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trong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chúng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Nếu</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dữ</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liệu</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không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có</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trong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bộ</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nhớ</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chúng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phải</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được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chuyển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đến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đó</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trước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khi</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CPU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có</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thể</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hoạt</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động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trên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chúng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p>
          <a:p>
            <a:pPr marL="0" indent="0">
              <a:buNone/>
            </a:pPr>
            <a:endParaRPr lang="en-US" sz="2400" dirty="0">
              <a:solidFill>
                <a:schemeClr val="tx1"/>
              </a:solidFill>
            </a:endParaRPr>
          </a:p>
        </p:txBody>
      </p:sp>
      <p:sp>
        <p:nvSpPr>
          <p:cNvPr id="9" name="TextBox 8">
            <a:extLst>
              <a:ext uri="{FF2B5EF4-FFF2-40B4-BE49-F238E27FC236}">
                <a16:creationId xmlns:a16="http://schemas.microsoft.com/office/drawing/2014/main" id="{8E5997F5-10DD-3AD0-D960-2E8B5DA2F2E0}"/>
              </a:ext>
            </a:extLst>
          </p:cNvPr>
          <p:cNvSpPr txBox="1"/>
          <p:nvPr/>
        </p:nvSpPr>
        <p:spPr>
          <a:xfrm>
            <a:off x="364632" y="3129786"/>
            <a:ext cx="11420968" cy="3108543"/>
          </a:xfrm>
          <a:prstGeom prst="rect">
            <a:avLst/>
          </a:prstGeom>
          <a:noFill/>
        </p:spPr>
        <p:txBody>
          <a:bodyPr wrap="square">
            <a:spAutoFit/>
          </a:bodyPr>
          <a:lstStyle/>
          <a:p>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Để</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hệ</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thống</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hoạt</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động</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bình</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thường</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cần</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phải</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bảo</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vệ</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hệ</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điều</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hành</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khỏi</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sự</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truy</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cập</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của</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các</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tiến</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trình</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người</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dùng</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Trước</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tiên</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cần</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đảm</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bảo</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rằng</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mỗi</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tiến</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trình</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có</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một</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không</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gian</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bộ</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nhớ</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riêng</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Để</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tách</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biệt</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chúng</a:t>
            </a:r>
            <a:r>
              <a:rPr lang="en-US" sz="2800" dirty="0">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cần</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xác</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định</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phạm</a:t>
            </a:r>
            <a:r>
              <a:rPr lang="en-US" sz="2800" dirty="0">
                <a:effectLst/>
                <a:latin typeface="Calibri" panose="020F0502020204030204" pitchFamily="34" charset="0"/>
                <a:ea typeface="Calibri" panose="020F0502020204030204" pitchFamily="34" charset="0"/>
                <a:cs typeface="Times New Roman" panose="02020603050405020304" pitchFamily="18" charset="0"/>
              </a:rPr>
              <a:t> vi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địa</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chỉ</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mà</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tiến</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trình</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có</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thể</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truy</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cập</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và</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đảm</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bảo</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rằng</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tiến</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trình</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chỉ</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có</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thể</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truy</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cập</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các</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địa</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chỉ</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này</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Chúng</a:t>
            </a:r>
            <a:r>
              <a:rPr lang="en-US" sz="2800" dirty="0">
                <a:effectLst/>
                <a:latin typeface="Calibri" panose="020F0502020204030204" pitchFamily="34" charset="0"/>
                <a:ea typeface="Calibri" panose="020F0502020204030204" pitchFamily="34" charset="0"/>
                <a:cs typeface="Times New Roman" panose="02020603050405020304" pitchFamily="18" charset="0"/>
              </a:rPr>
              <a:t> ta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thường</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sử</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dụng</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hai</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thanh</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ghi</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thường</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là</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cơ</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sở</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và</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giới</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hạn</a:t>
            </a:r>
            <a:r>
              <a:rPr lang="en-US" sz="2800" dirty="0">
                <a:effectLst/>
                <a:latin typeface="Calibri" panose="020F0502020204030204" pitchFamily="34" charset="0"/>
                <a:ea typeface="Calibri" panose="020F0502020204030204" pitchFamily="34" charset="0"/>
                <a:cs typeface="Times New Roman" panose="02020603050405020304" pitchFamily="18" charset="0"/>
              </a:rPr>
              <a:t>. Thanh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ghi</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cơ</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sở</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chứa</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địa</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chỉ</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bộ</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nhớ</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latin typeface="Calibri" panose="020F0502020204030204" pitchFamily="34" charset="0"/>
                <a:ea typeface="Calibri" panose="020F0502020204030204" pitchFamily="34" charset="0"/>
                <a:cs typeface="Times New Roman" panose="02020603050405020304" pitchFamily="18" charset="0"/>
              </a:rPr>
              <a:t>thực</a:t>
            </a:r>
            <a:r>
              <a:rPr lang="en-US" sz="2800" dirty="0">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nhỏ</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nhất</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thanh</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ghi</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giới</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hạn</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chỉ</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định</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kích</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thước</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của</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phạm</a:t>
            </a:r>
            <a:r>
              <a:rPr lang="en-US" sz="2800" dirty="0">
                <a:effectLst/>
                <a:latin typeface="Calibri" panose="020F0502020204030204" pitchFamily="34" charset="0"/>
                <a:ea typeface="Calibri" panose="020F0502020204030204" pitchFamily="34" charset="0"/>
                <a:cs typeface="Times New Roman" panose="02020603050405020304" pitchFamily="18" charset="0"/>
              </a:rPr>
              <a:t> vi.</a:t>
            </a:r>
          </a:p>
        </p:txBody>
      </p:sp>
    </p:spTree>
    <p:extLst>
      <p:ext uri="{BB962C8B-B14F-4D97-AF65-F5344CB8AC3E}">
        <p14:creationId xmlns:p14="http://schemas.microsoft.com/office/powerpoint/2010/main" val="2478079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C6EC6F6-F346-241D-C2AD-CEA21AF2E091}"/>
              </a:ext>
            </a:extLst>
          </p:cNvPr>
          <p:cNvSpPr>
            <a:spLocks noGrp="1"/>
          </p:cNvSpPr>
          <p:nvPr>
            <p:ph type="title"/>
          </p:nvPr>
        </p:nvSpPr>
        <p:spPr>
          <a:xfrm>
            <a:off x="314395" y="94829"/>
            <a:ext cx="4340577" cy="650240"/>
          </a:xfrm>
        </p:spPr>
        <p:txBody>
          <a:bodyPr/>
          <a:lstStyle/>
          <a:p>
            <a:r>
              <a:rPr lang="en-US" sz="3200" dirty="0">
                <a:solidFill>
                  <a:srgbClr val="C00000"/>
                </a:solidFill>
              </a:rPr>
              <a:t>1.1. </a:t>
            </a:r>
            <a:r>
              <a:rPr lang="en-US" sz="3200" dirty="0" err="1">
                <a:solidFill>
                  <a:srgbClr val="C00000"/>
                </a:solidFill>
              </a:rPr>
              <a:t>Phần</a:t>
            </a:r>
            <a:r>
              <a:rPr lang="en-US" sz="3200" dirty="0">
                <a:solidFill>
                  <a:srgbClr val="C00000"/>
                </a:solidFill>
              </a:rPr>
              <a:t> </a:t>
            </a:r>
            <a:r>
              <a:rPr lang="en-US" sz="3200" dirty="0" err="1">
                <a:solidFill>
                  <a:srgbClr val="C00000"/>
                </a:solidFill>
              </a:rPr>
              <a:t>cứng</a:t>
            </a:r>
            <a:r>
              <a:rPr lang="en-US" sz="3200" dirty="0">
                <a:solidFill>
                  <a:srgbClr val="C00000"/>
                </a:solidFill>
              </a:rPr>
              <a:t> </a:t>
            </a:r>
            <a:r>
              <a:rPr lang="en-US" sz="3200" dirty="0" err="1">
                <a:solidFill>
                  <a:srgbClr val="C00000"/>
                </a:solidFill>
              </a:rPr>
              <a:t>cơ</a:t>
            </a:r>
            <a:r>
              <a:rPr lang="en-US" sz="3200" dirty="0">
                <a:solidFill>
                  <a:srgbClr val="C00000"/>
                </a:solidFill>
              </a:rPr>
              <a:t> </a:t>
            </a:r>
            <a:r>
              <a:rPr lang="en-US" sz="3200" dirty="0" err="1">
                <a:solidFill>
                  <a:srgbClr val="C00000"/>
                </a:solidFill>
              </a:rPr>
              <a:t>bản</a:t>
            </a:r>
            <a:endParaRPr lang="en-US" sz="3200" dirty="0"/>
          </a:p>
        </p:txBody>
      </p:sp>
      <p:sp>
        <p:nvSpPr>
          <p:cNvPr id="5" name="Slide Number Placeholder 4">
            <a:extLst>
              <a:ext uri="{FF2B5EF4-FFF2-40B4-BE49-F238E27FC236}">
                <a16:creationId xmlns:a16="http://schemas.microsoft.com/office/drawing/2014/main" id="{EFE20B9D-3E1B-ACAC-E328-901AE7E6D939}"/>
              </a:ext>
            </a:extLst>
          </p:cNvPr>
          <p:cNvSpPr>
            <a:spLocks noGrp="1"/>
          </p:cNvSpPr>
          <p:nvPr>
            <p:ph type="sldNum" sz="quarter" idx="29"/>
          </p:nvPr>
        </p:nvSpPr>
        <p:spPr/>
        <p:txBody>
          <a:bodyPr/>
          <a:lstStyle/>
          <a:p>
            <a:fld id="{47FEACEE-25B4-4A2D-B147-27296E36371D}" type="slidenum">
              <a:rPr lang="en-US" altLang="zh-CN" smtClean="0"/>
              <a:pPr/>
              <a:t>5</a:t>
            </a:fld>
            <a:endParaRPr lang="en-US" altLang="zh-CN" dirty="0"/>
          </a:p>
        </p:txBody>
      </p:sp>
      <p:pic>
        <p:nvPicPr>
          <p:cNvPr id="12" name="Picture 11">
            <a:extLst>
              <a:ext uri="{FF2B5EF4-FFF2-40B4-BE49-F238E27FC236}">
                <a16:creationId xmlns:a16="http://schemas.microsoft.com/office/drawing/2014/main" id="{357CAFFA-CF82-8F86-EDF5-4C9792811424}"/>
              </a:ext>
            </a:extLst>
          </p:cNvPr>
          <p:cNvPicPr>
            <a:picLocks noChangeAspect="1"/>
          </p:cNvPicPr>
          <p:nvPr/>
        </p:nvPicPr>
        <p:blipFill>
          <a:blip r:embed="rId3"/>
          <a:stretch>
            <a:fillRect/>
          </a:stretch>
        </p:blipFill>
        <p:spPr>
          <a:xfrm>
            <a:off x="0" y="745069"/>
            <a:ext cx="5542846" cy="4524314"/>
          </a:xfrm>
          <a:prstGeom prst="rect">
            <a:avLst/>
          </a:prstGeom>
        </p:spPr>
      </p:pic>
      <p:sp>
        <p:nvSpPr>
          <p:cNvPr id="13" name="Footer Placeholder 4">
            <a:extLst>
              <a:ext uri="{FF2B5EF4-FFF2-40B4-BE49-F238E27FC236}">
                <a16:creationId xmlns:a16="http://schemas.microsoft.com/office/drawing/2014/main" id="{43F28090-A8EC-9FF3-E240-112A0A7A73B1}"/>
              </a:ext>
            </a:extLst>
          </p:cNvPr>
          <p:cNvSpPr>
            <a:spLocks noGrp="1"/>
          </p:cNvSpPr>
          <p:nvPr>
            <p:ph type="ftr" sz="quarter" idx="28"/>
          </p:nvPr>
        </p:nvSpPr>
        <p:spPr>
          <a:xfrm>
            <a:off x="6151033" y="5326098"/>
            <a:ext cx="5444068" cy="1783644"/>
          </a:xfrm>
        </p:spPr>
        <p:txBody>
          <a:bodyPr/>
          <a:lstStyle/>
          <a:p>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Lược</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đồ</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này</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ngăn</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chương</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trình</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người</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dùng</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vô</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tình</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hoặc</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cố</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ý)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sửa</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đổi</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mã</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hoặc</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cấu</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trúc</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dữ</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liệu</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của</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hệ</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điều</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hành</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hoặc</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người</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dùng</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khác</a:t>
            </a: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p>
          <a:p>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p:txBody>
      </p:sp>
      <p:pic>
        <p:nvPicPr>
          <p:cNvPr id="15" name="Picture 14">
            <a:extLst>
              <a:ext uri="{FF2B5EF4-FFF2-40B4-BE49-F238E27FC236}">
                <a16:creationId xmlns:a16="http://schemas.microsoft.com/office/drawing/2014/main" id="{63F345DC-07AA-42BB-7ABE-B99146F55075}"/>
              </a:ext>
            </a:extLst>
          </p:cNvPr>
          <p:cNvPicPr>
            <a:picLocks noChangeAspect="1"/>
          </p:cNvPicPr>
          <p:nvPr/>
        </p:nvPicPr>
        <p:blipFill>
          <a:blip r:embed="rId4"/>
          <a:stretch>
            <a:fillRect/>
          </a:stretch>
        </p:blipFill>
        <p:spPr>
          <a:xfrm>
            <a:off x="5667023" y="745069"/>
            <a:ext cx="6412089" cy="4402664"/>
          </a:xfrm>
          <a:prstGeom prst="rect">
            <a:avLst/>
          </a:prstGeom>
        </p:spPr>
      </p:pic>
    </p:spTree>
    <p:extLst>
      <p:ext uri="{BB962C8B-B14F-4D97-AF65-F5344CB8AC3E}">
        <p14:creationId xmlns:p14="http://schemas.microsoft.com/office/powerpoint/2010/main" val="1640288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294641" y="152312"/>
            <a:ext cx="3870960" cy="621330"/>
          </a:xfrm>
        </p:spPr>
        <p:txBody>
          <a:bodyPr/>
          <a:lstStyle/>
          <a:p>
            <a:r>
              <a:rPr lang="en-US" sz="3200" dirty="0">
                <a:solidFill>
                  <a:srgbClr val="C00000"/>
                </a:solidFill>
              </a:rPr>
              <a:t>1.2. </a:t>
            </a:r>
            <a:r>
              <a:rPr lang="en-US" sz="3200" dirty="0" err="1">
                <a:solidFill>
                  <a:srgbClr val="C00000"/>
                </a:solidFill>
              </a:rPr>
              <a:t>Ràng</a:t>
            </a:r>
            <a:r>
              <a:rPr lang="en-US" sz="3200" dirty="0">
                <a:solidFill>
                  <a:srgbClr val="C00000"/>
                </a:solidFill>
              </a:rPr>
              <a:t> </a:t>
            </a:r>
            <a:r>
              <a:rPr lang="en-US" sz="3200" dirty="0" err="1">
                <a:solidFill>
                  <a:srgbClr val="C00000"/>
                </a:solidFill>
              </a:rPr>
              <a:t>buộc</a:t>
            </a:r>
            <a:r>
              <a:rPr lang="en-US" sz="3200" dirty="0">
                <a:solidFill>
                  <a:srgbClr val="C00000"/>
                </a:solidFill>
              </a:rPr>
              <a:t> </a:t>
            </a:r>
            <a:r>
              <a:rPr lang="en-US" sz="3200" dirty="0" err="1">
                <a:solidFill>
                  <a:srgbClr val="C00000"/>
                </a:solidFill>
              </a:rPr>
              <a:t>địa</a:t>
            </a:r>
            <a:r>
              <a:rPr lang="en-US" sz="3200" dirty="0">
                <a:solidFill>
                  <a:srgbClr val="C00000"/>
                </a:solidFill>
              </a:rPr>
              <a:t> </a:t>
            </a:r>
            <a:r>
              <a:rPr lang="en-US" sz="3200" dirty="0" err="1">
                <a:solidFill>
                  <a:srgbClr val="C00000"/>
                </a:solidFill>
              </a:rPr>
              <a:t>chỉ</a:t>
            </a:r>
            <a:endParaRPr lang="en-US" sz="3200" dirty="0"/>
          </a:p>
        </p:txBody>
      </p:sp>
      <p:sp>
        <p:nvSpPr>
          <p:cNvPr id="5" name="Footer Placeholder 4">
            <a:extLst>
              <a:ext uri="{FF2B5EF4-FFF2-40B4-BE49-F238E27FC236}">
                <a16:creationId xmlns:a16="http://schemas.microsoft.com/office/drawing/2014/main" id="{6D18E7F7-120D-E343-B41C-E8DF89FC0F49}"/>
              </a:ext>
            </a:extLst>
          </p:cNvPr>
          <p:cNvSpPr>
            <a:spLocks noGrp="1"/>
          </p:cNvSpPr>
          <p:nvPr>
            <p:ph type="ftr" sz="quarter" idx="28"/>
          </p:nvPr>
        </p:nvSpPr>
        <p:spPr>
          <a:xfrm>
            <a:off x="88106" y="621330"/>
            <a:ext cx="12015787" cy="1060274"/>
          </a:xfrm>
        </p:spPr>
        <p:txBody>
          <a:bodyPr/>
          <a:lstStyle/>
          <a:p>
            <a:r>
              <a:rPr lang="en-US" sz="2400" dirty="0">
                <a:effectLst/>
                <a:latin typeface="Calibri" panose="020F0502020204030204" pitchFamily="34" charset="0"/>
                <a:ea typeface="Calibri" panose="020F0502020204030204" pitchFamily="34" charset="0"/>
                <a:cs typeface="Times New Roman" panose="02020603050405020304" pitchFamily="18"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Địa</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chỉ</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do CPU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tạo</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ra</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được</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gọi</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là</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địa</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chỉ</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ảo</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địa</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chỉ</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được</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đơn</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vị</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bộ</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nhìn</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thấy</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tức</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là</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địa</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chỉ</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được</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tải</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vào</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thanh</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ghi</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địa</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chỉ</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bộ</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của</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bộ</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thường</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được</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gọi</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là</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địa</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chỉ</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thật</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8EA25C86-7BE3-4BC6-C0B8-7F7D7C3EC286}"/>
              </a:ext>
            </a:extLst>
          </p:cNvPr>
          <p:cNvSpPr>
            <a:spLocks noGrp="1"/>
          </p:cNvSpPr>
          <p:nvPr>
            <p:ph type="sldNum" sz="quarter" idx="29"/>
          </p:nvPr>
        </p:nvSpPr>
        <p:spPr/>
        <p:txBody>
          <a:bodyPr/>
          <a:lstStyle/>
          <a:p>
            <a:fld id="{47FEACEE-25B4-4A2D-B147-27296E36371D}" type="slidenum">
              <a:rPr lang="en-US" altLang="zh-CN" smtClean="0"/>
              <a:pPr/>
              <a:t>6</a:t>
            </a:fld>
            <a:endParaRPr lang="en-US" altLang="zh-CN" dirty="0"/>
          </a:p>
        </p:txBody>
      </p:sp>
      <p:pic>
        <p:nvPicPr>
          <p:cNvPr id="9" name="Picture 8">
            <a:extLst>
              <a:ext uri="{FF2B5EF4-FFF2-40B4-BE49-F238E27FC236}">
                <a16:creationId xmlns:a16="http://schemas.microsoft.com/office/drawing/2014/main" id="{FABD385F-E7A3-1853-E0D6-CF3B50CB57F6}"/>
              </a:ext>
            </a:extLst>
          </p:cNvPr>
          <p:cNvPicPr>
            <a:picLocks noChangeAspect="1"/>
          </p:cNvPicPr>
          <p:nvPr/>
        </p:nvPicPr>
        <p:blipFill>
          <a:blip r:embed="rId3"/>
          <a:stretch>
            <a:fillRect/>
          </a:stretch>
        </p:blipFill>
        <p:spPr>
          <a:xfrm>
            <a:off x="3356239" y="1681604"/>
            <a:ext cx="5655733" cy="3233296"/>
          </a:xfrm>
          <a:prstGeom prst="rect">
            <a:avLst/>
          </a:prstGeom>
        </p:spPr>
      </p:pic>
      <p:sp>
        <p:nvSpPr>
          <p:cNvPr id="10" name="Footer Placeholder 4">
            <a:extLst>
              <a:ext uri="{FF2B5EF4-FFF2-40B4-BE49-F238E27FC236}">
                <a16:creationId xmlns:a16="http://schemas.microsoft.com/office/drawing/2014/main" id="{3EDCF92E-BA70-3EC4-7913-27DEEE64270A}"/>
              </a:ext>
            </a:extLst>
          </p:cNvPr>
          <p:cNvSpPr txBox="1">
            <a:spLocks/>
          </p:cNvSpPr>
          <p:nvPr/>
        </p:nvSpPr>
        <p:spPr>
          <a:xfrm>
            <a:off x="176213" y="5077000"/>
            <a:ext cx="12015787" cy="1781000"/>
          </a:xfrm>
          <a:prstGeom prst="rect">
            <a:avLst/>
          </a:prstGeom>
        </p:spPr>
        <p:txBody>
          <a:bodyPr vert="horz" lIns="91440" tIns="45720" rIns="91440" bIns="45720" rtlCol="0" anchor="ctr">
            <a:noAutofit/>
          </a:bodyPr>
          <a:lstStyle>
            <a:defPPr>
              <a:defRPr lang="zh-CN"/>
            </a:defPPr>
            <a:lvl1pPr marL="0" algn="l"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Thanh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ghi</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cơ</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sở</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bây</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giờ</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được</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gọi</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là</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thanh</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ghi</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tái</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định</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vị</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endParaRPr lang="en-US" sz="2400" dirty="0">
              <a:solidFill>
                <a:srgbClr val="231F20"/>
              </a:solidFill>
              <a:latin typeface="Calibri" panose="020F0502020204030204" pitchFamily="34" charset="0"/>
              <a:ea typeface="Times New Roman" panose="02020603050405020304" pitchFamily="18" charset="0"/>
              <a:cs typeface="Calibri" panose="020F0502020204030204" pitchFamily="34" charset="0"/>
            </a:endParaRPr>
          </a:p>
          <a:p>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Nếu</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cơ</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sở</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là</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14000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thì</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người</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dùng</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muốn</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truy</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cập</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vào</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vị</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trí</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0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sẽ</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được</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chuyển</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tới</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vị</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trí</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14000;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quyền</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truy</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cập</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vào</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vị</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trí</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346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được</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ánh</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xạ</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tới</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vị</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4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trí</a:t>
            </a:r>
            <a:r>
              <a:rPr lang="en-US" sz="24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14346.</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46021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13663CA-BA5A-41E7-1FBE-D38846DFEF75}"/>
              </a:ext>
            </a:extLst>
          </p:cNvPr>
          <p:cNvSpPr>
            <a:spLocks noGrp="1"/>
          </p:cNvSpPr>
          <p:nvPr>
            <p:ph type="title"/>
          </p:nvPr>
        </p:nvSpPr>
        <p:spPr>
          <a:xfrm>
            <a:off x="345441" y="203200"/>
            <a:ext cx="2611120" cy="706435"/>
          </a:xfrm>
        </p:spPr>
        <p:txBody>
          <a:bodyPr/>
          <a:lstStyle/>
          <a:p>
            <a:r>
              <a:rPr lang="en-US" sz="3200" dirty="0">
                <a:solidFill>
                  <a:srgbClr val="C00000"/>
                </a:solidFill>
                <a:latin typeface="Posterama Text Black (Headings)"/>
              </a:rPr>
              <a:t>1.3. </a:t>
            </a:r>
            <a:r>
              <a:rPr lang="en-US" sz="3200" dirty="0" err="1">
                <a:solidFill>
                  <a:srgbClr val="C00000"/>
                </a:solidFill>
                <a:latin typeface="Posterama Text Black (Headings)"/>
              </a:rPr>
              <a:t>Tải</a:t>
            </a:r>
            <a:r>
              <a:rPr lang="en-US" sz="3200" dirty="0">
                <a:solidFill>
                  <a:srgbClr val="C00000"/>
                </a:solidFill>
                <a:latin typeface="Posterama Text Black (Headings)"/>
              </a:rPr>
              <a:t> </a:t>
            </a:r>
            <a:r>
              <a:rPr lang="en-US" sz="3200" dirty="0" err="1">
                <a:solidFill>
                  <a:srgbClr val="C00000"/>
                </a:solidFill>
                <a:latin typeface="Posterama Text Black (Headings)"/>
              </a:rPr>
              <a:t>Động</a:t>
            </a:r>
            <a:endParaRPr lang="en-US" sz="3200" dirty="0">
              <a:solidFill>
                <a:srgbClr val="C00000"/>
              </a:solidFill>
              <a:latin typeface="Posterama Text Black (Headings)"/>
            </a:endParaRPr>
          </a:p>
        </p:txBody>
      </p:sp>
      <p:sp>
        <p:nvSpPr>
          <p:cNvPr id="11" name="Text Placeholder 10">
            <a:extLst>
              <a:ext uri="{FF2B5EF4-FFF2-40B4-BE49-F238E27FC236}">
                <a16:creationId xmlns:a16="http://schemas.microsoft.com/office/drawing/2014/main" id="{02CEC6EF-006F-693B-5D79-47FD797CB22B}"/>
              </a:ext>
            </a:extLst>
          </p:cNvPr>
          <p:cNvSpPr>
            <a:spLocks noGrp="1"/>
          </p:cNvSpPr>
          <p:nvPr>
            <p:ph type="body" sz="quarter" idx="29"/>
          </p:nvPr>
        </p:nvSpPr>
        <p:spPr>
          <a:xfrm>
            <a:off x="345441" y="909635"/>
            <a:ext cx="11307320" cy="3642045"/>
          </a:xfrm>
        </p:spPr>
        <p:txBody>
          <a:bodyPr/>
          <a:lstStyle/>
          <a:p>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latin typeface="Calibri" panose="020F0502020204030204" pitchFamily="34" charset="0"/>
                <a:ea typeface="Times New Roman" panose="02020603050405020304" pitchFamily="18" charset="0"/>
                <a:cs typeface="Calibri" panose="020F0502020204030204" pitchFamily="34" charset="0"/>
              </a:rPr>
              <a:t>T</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oàn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bộ</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chương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trình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và</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tất</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cả</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dữ</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liệu</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của</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một</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tiến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trình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phải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nằm</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trong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bộ</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thật</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để</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có</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thể</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thực</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Do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vậy</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kích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thước</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tiến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trình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bị</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giới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hạn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bởi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kích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thước</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của</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bộ</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Để</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tận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dụng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không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gian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bộ</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tốt</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hơn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chúng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ta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có</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thể</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sử</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dụng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tải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động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a:t>
            </a:r>
          </a:p>
          <a:p>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Một</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chương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trình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sẽ</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không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được</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tải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cho</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đến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khi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nó</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được</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gọi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p>
          <a:p>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Ưu</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điểm</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của</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tải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động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là</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một</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chương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trình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chỉ</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được</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tải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khi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cần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thiết</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Phương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pháp</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này</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đặc</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biệt</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hữu</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ích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khi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cần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số</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lượng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lớn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mã</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để</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xử</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lý</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các</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trường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hợp</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xảy</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ra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không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thường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xuyên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800" dirty="0"/>
          </a:p>
          <a:p>
            <a:endParaRPr lang="en-US" sz="2800" dirty="0"/>
          </a:p>
        </p:txBody>
      </p:sp>
      <p:sp>
        <p:nvSpPr>
          <p:cNvPr id="5" name="Slide Number Placeholder 4">
            <a:extLst>
              <a:ext uri="{FF2B5EF4-FFF2-40B4-BE49-F238E27FC236}">
                <a16:creationId xmlns:a16="http://schemas.microsoft.com/office/drawing/2014/main" id="{E31C7500-E032-DBB5-A780-8247E3B7367B}"/>
              </a:ext>
            </a:extLst>
          </p:cNvPr>
          <p:cNvSpPr>
            <a:spLocks noGrp="1"/>
          </p:cNvSpPr>
          <p:nvPr>
            <p:ph type="sldNum" sz="quarter" idx="31"/>
          </p:nvPr>
        </p:nvSpPr>
        <p:spPr/>
        <p:txBody>
          <a:bodyPr/>
          <a:lstStyle/>
          <a:p>
            <a:fld id="{47FEACEE-25B4-4A2D-B147-27296E36371D}" type="slidenum">
              <a:rPr lang="en-US" altLang="zh-CN" noProof="0" smtClean="0"/>
              <a:pPr/>
              <a:t>7</a:t>
            </a:fld>
            <a:endParaRPr lang="en-US" altLang="zh-CN" noProof="0" dirty="0"/>
          </a:p>
        </p:txBody>
      </p:sp>
    </p:spTree>
    <p:extLst>
      <p:ext uri="{BB962C8B-B14F-4D97-AF65-F5344CB8AC3E}">
        <p14:creationId xmlns:p14="http://schemas.microsoft.com/office/powerpoint/2010/main" val="32955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446CC6CC-33D7-4181-9969-72896FDB1901}"/>
              </a:ext>
            </a:extLst>
          </p:cNvPr>
          <p:cNvSpPr>
            <a:spLocks noGrp="1"/>
          </p:cNvSpPr>
          <p:nvPr>
            <p:ph type="title"/>
          </p:nvPr>
        </p:nvSpPr>
        <p:spPr>
          <a:xfrm>
            <a:off x="838200" y="0"/>
            <a:ext cx="10515600" cy="1325563"/>
          </a:xfrm>
        </p:spPr>
        <p:txBody>
          <a:bodyPr/>
          <a:lstStyle/>
          <a:p>
            <a:r>
              <a:rPr lang="en-US" sz="5400" dirty="0">
                <a:solidFill>
                  <a:srgbClr val="C00000"/>
                </a:solidFill>
              </a:rPr>
              <a:t>2. Swapping</a:t>
            </a:r>
          </a:p>
        </p:txBody>
      </p:sp>
      <p:sp>
        <p:nvSpPr>
          <p:cNvPr id="6" name="Footer Placeholder 5">
            <a:extLst>
              <a:ext uri="{FF2B5EF4-FFF2-40B4-BE49-F238E27FC236}">
                <a16:creationId xmlns:a16="http://schemas.microsoft.com/office/drawing/2014/main" id="{0FAB8CE6-4705-57FA-7F0F-F4A5C574996B}"/>
              </a:ext>
            </a:extLst>
          </p:cNvPr>
          <p:cNvSpPr>
            <a:spLocks noGrp="1"/>
          </p:cNvSpPr>
          <p:nvPr>
            <p:ph type="ftr" sz="quarter" idx="58"/>
          </p:nvPr>
        </p:nvSpPr>
        <p:spPr>
          <a:xfrm>
            <a:off x="1" y="1325563"/>
            <a:ext cx="7112000" cy="4868775"/>
          </a:xfrm>
        </p:spPr>
        <p:txBody>
          <a:bodyPr/>
          <a:lstStyle/>
          <a:p>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Một</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tiến</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trình</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phải</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ở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trong</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bộ</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nhớ</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để</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được</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thực</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thi</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Tuy</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nhiên</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một</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tiến</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trình</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có</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thể</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được</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hoán</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đổi</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tạm</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thời</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ra</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khỏi</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bộ</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nhớ</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sang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một</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kho</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lưu</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trữ</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phụ</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và</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sau</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đó</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được</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đưa</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trở</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lại</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bộ</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nhớ</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để</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tiếp</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tục</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thực</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thi</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Hình</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8.5).</a:t>
            </a:r>
          </a:p>
          <a:p>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Hoán</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đổi</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làm</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cho</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tổng</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không</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gian</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địa</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chỉ</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vật</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lý</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của</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tất</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cả</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các</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tiến</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trình</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có</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thể</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vượt</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quá</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bộ</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nhớ</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vật</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lý</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thực</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của</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hệ</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thống</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do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đó</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làm</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tăng</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mức</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độ</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đa</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chương</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trình</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trong</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hệ</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thống</a:t>
            </a:r>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7930A8DD-65EB-D1E9-81DF-DAAA9451B1A9}"/>
              </a:ext>
            </a:extLst>
          </p:cNvPr>
          <p:cNvSpPr>
            <a:spLocks noGrp="1"/>
          </p:cNvSpPr>
          <p:nvPr>
            <p:ph type="sldNum" sz="quarter" idx="59"/>
          </p:nvPr>
        </p:nvSpPr>
        <p:spPr/>
        <p:txBody>
          <a:bodyPr/>
          <a:lstStyle/>
          <a:p>
            <a:fld id="{47FEACEE-25B4-4A2D-B147-27296E36371D}" type="slidenum">
              <a:rPr lang="en-US" altLang="zh-CN" smtClean="0"/>
              <a:pPr/>
              <a:t>8</a:t>
            </a:fld>
            <a:endParaRPr lang="en-US" altLang="zh-CN" dirty="0"/>
          </a:p>
        </p:txBody>
      </p:sp>
      <p:pic>
        <p:nvPicPr>
          <p:cNvPr id="35" name="Picture 34">
            <a:extLst>
              <a:ext uri="{FF2B5EF4-FFF2-40B4-BE49-F238E27FC236}">
                <a16:creationId xmlns:a16="http://schemas.microsoft.com/office/drawing/2014/main" id="{6E09BEBC-1AD6-FE6D-71F8-44C750EE6461}"/>
              </a:ext>
            </a:extLst>
          </p:cNvPr>
          <p:cNvPicPr>
            <a:picLocks noChangeAspect="1"/>
          </p:cNvPicPr>
          <p:nvPr/>
        </p:nvPicPr>
        <p:blipFill>
          <a:blip r:embed="rId3"/>
          <a:stretch>
            <a:fillRect/>
          </a:stretch>
        </p:blipFill>
        <p:spPr>
          <a:xfrm>
            <a:off x="7112001" y="1325563"/>
            <a:ext cx="4978399" cy="4476926"/>
          </a:xfrm>
          <a:prstGeom prst="rect">
            <a:avLst/>
          </a:prstGeom>
        </p:spPr>
      </p:pic>
    </p:spTree>
    <p:extLst>
      <p:ext uri="{BB962C8B-B14F-4D97-AF65-F5344CB8AC3E}">
        <p14:creationId xmlns:p14="http://schemas.microsoft.com/office/powerpoint/2010/main" val="2107888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E17942FE-65D3-7C03-B361-8DF125B81DC1}"/>
              </a:ext>
            </a:extLst>
          </p:cNvPr>
          <p:cNvSpPr>
            <a:spLocks noGrp="1"/>
          </p:cNvSpPr>
          <p:nvPr>
            <p:ph type="title"/>
          </p:nvPr>
        </p:nvSpPr>
        <p:spPr>
          <a:xfrm>
            <a:off x="294640" y="210106"/>
            <a:ext cx="4551680" cy="660400"/>
          </a:xfrm>
        </p:spPr>
        <p:txBody>
          <a:bodyPr/>
          <a:lstStyle/>
          <a:p>
            <a:r>
              <a:rPr lang="en-US" sz="3200" dirty="0">
                <a:solidFill>
                  <a:srgbClr val="C00000"/>
                </a:solidFill>
              </a:rPr>
              <a:t>2.1. Swapping </a:t>
            </a:r>
            <a:r>
              <a:rPr lang="en-US" sz="3200" dirty="0" err="1">
                <a:solidFill>
                  <a:srgbClr val="C00000"/>
                </a:solidFill>
              </a:rPr>
              <a:t>Tiêu</a:t>
            </a:r>
            <a:r>
              <a:rPr lang="en-US" sz="3200" dirty="0">
                <a:solidFill>
                  <a:srgbClr val="C00000"/>
                </a:solidFill>
              </a:rPr>
              <a:t> </a:t>
            </a:r>
            <a:r>
              <a:rPr lang="en-US" sz="3200" dirty="0" err="1">
                <a:solidFill>
                  <a:srgbClr val="C00000"/>
                </a:solidFill>
              </a:rPr>
              <a:t>Chuẩn</a:t>
            </a:r>
            <a:endParaRPr lang="en-US" sz="3200" dirty="0">
              <a:solidFill>
                <a:srgbClr val="C00000"/>
              </a:solidFill>
            </a:endParaRPr>
          </a:p>
        </p:txBody>
      </p:sp>
      <p:sp>
        <p:nvSpPr>
          <p:cNvPr id="4" name="Footer Placeholder 3">
            <a:extLst>
              <a:ext uri="{FF2B5EF4-FFF2-40B4-BE49-F238E27FC236}">
                <a16:creationId xmlns:a16="http://schemas.microsoft.com/office/drawing/2014/main" id="{36404519-33C1-DA61-9858-3858F30C7808}"/>
              </a:ext>
            </a:extLst>
          </p:cNvPr>
          <p:cNvSpPr>
            <a:spLocks noGrp="1"/>
          </p:cNvSpPr>
          <p:nvPr>
            <p:ph type="ftr" sz="quarter" idx="46"/>
          </p:nvPr>
        </p:nvSpPr>
        <p:spPr>
          <a:xfrm>
            <a:off x="416939" y="761682"/>
            <a:ext cx="11358121" cy="5638800"/>
          </a:xfrm>
        </p:spPr>
        <p:txBody>
          <a:bodyPr/>
          <a:lstStyle/>
          <a:p>
            <a:r>
              <a:rPr lang="en-US" sz="28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Swapping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tiêu</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chuẩn</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liên</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quan</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đến</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việc</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di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chuyển</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các</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tiến</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trình</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giữa</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bộ</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nhớ</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chính</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và</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kho</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lưu</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trữ</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sao</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lưu</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p>
          <a:p>
            <a:endParaRPr lang="en-US" sz="2800" dirty="0">
              <a:solidFill>
                <a:srgbClr val="231F20"/>
              </a:solidFill>
              <a:latin typeface="Calibri" panose="020F0502020204030204" pitchFamily="34" charset="0"/>
              <a:ea typeface="Calibri" panose="020F0502020204030204" pitchFamily="34" charset="0"/>
              <a:cs typeface="Calibri" panose="020F0502020204030204" pitchFamily="34" charset="0"/>
            </a:endParaRPr>
          </a:p>
          <a:p>
            <a:r>
              <a:rPr lang="en-US" sz="2800" dirty="0">
                <a:solidFill>
                  <a:srgbClr val="231F20"/>
                </a:solidFill>
                <a:latin typeface="Calibri" panose="020F0502020204030204" pitchFamily="34" charset="0"/>
                <a:ea typeface="Calibri" panose="020F0502020204030204" pitchFamily="34" charset="0"/>
                <a:cs typeface="Calibri" panose="020F0502020204030204" pitchFamily="34" charset="0"/>
              </a:rPr>
              <a:t>- K</a:t>
            </a:r>
            <a:r>
              <a:rPr lang="en-US" sz="2800" b="0" i="0" dirty="0">
                <a:solidFill>
                  <a:srgbClr val="000000"/>
                </a:solidFill>
                <a:effectLst/>
                <a:latin typeface="Calibri" panose="020F0502020204030204" pitchFamily="34" charset="0"/>
                <a:ea typeface="Calibri" panose="020F0502020204030204" pitchFamily="34" charset="0"/>
              </a:rPr>
              <a:t>hi </a:t>
            </a:r>
            <a:r>
              <a:rPr lang="en-US" sz="2800" b="0" i="0" dirty="0" err="1">
                <a:solidFill>
                  <a:srgbClr val="000000"/>
                </a:solidFill>
                <a:effectLst/>
                <a:latin typeface="Calibri" panose="020F0502020204030204" pitchFamily="34" charset="0"/>
                <a:ea typeface="Calibri" panose="020F0502020204030204" pitchFamily="34" charset="0"/>
              </a:rPr>
              <a:t>nào</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bộ</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điều</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phối</a:t>
            </a:r>
            <a:r>
              <a:rPr lang="en-US" sz="2800" b="0" i="0" dirty="0">
                <a:solidFill>
                  <a:srgbClr val="000000"/>
                </a:solidFill>
                <a:effectLst/>
                <a:latin typeface="Calibri" panose="020F0502020204030204" pitchFamily="34" charset="0"/>
                <a:ea typeface="Calibri" panose="020F0502020204030204" pitchFamily="34" charset="0"/>
              </a:rPr>
              <a:t> CPU </a:t>
            </a:r>
            <a:r>
              <a:rPr lang="en-US" sz="2800" b="0" i="0" dirty="0" err="1">
                <a:solidFill>
                  <a:srgbClr val="000000"/>
                </a:solidFill>
                <a:effectLst/>
                <a:latin typeface="Calibri" panose="020F0502020204030204" pitchFamily="34" charset="0"/>
                <a:ea typeface="Calibri" panose="020F0502020204030204" pitchFamily="34" charset="0"/>
              </a:rPr>
              <a:t>quyết</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định</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thực</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thi</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một</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tiến</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trình</a:t>
            </a:r>
            <a:r>
              <a:rPr lang="en-US" sz="2800" b="0" i="0" dirty="0">
                <a:solidFill>
                  <a:srgbClr val="000000"/>
                </a:solidFill>
                <a:effectLst/>
                <a:latin typeface="Calibri" panose="020F0502020204030204" pitchFamily="34" charset="0"/>
                <a:ea typeface="Calibri" panose="020F0502020204030204" pitchFamily="34" charset="0"/>
              </a:rPr>
              <a:t> =&gt; </a:t>
            </a:r>
            <a:r>
              <a:rPr lang="en-US" sz="2800" b="0" i="0" dirty="0" err="1">
                <a:solidFill>
                  <a:srgbClr val="000000"/>
                </a:solidFill>
                <a:effectLst/>
                <a:latin typeface="Calibri" panose="020F0502020204030204" pitchFamily="34" charset="0"/>
                <a:ea typeface="Calibri" panose="020F0502020204030204" pitchFamily="34" charset="0"/>
              </a:rPr>
              <a:t>kiểm</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tra</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xem</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liệu</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tiến</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trình</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tiếp</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theo</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trong</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hàng</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đợi</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có</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trong</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bộ</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nhớ</a:t>
            </a:r>
            <a:r>
              <a:rPr lang="en-US" sz="2800" b="0" i="0" dirty="0">
                <a:solidFill>
                  <a:srgbClr val="000000"/>
                </a:solidFill>
                <a:effectLst/>
                <a:latin typeface="Calibri" panose="020F0502020204030204" pitchFamily="34" charset="0"/>
                <a:ea typeface="Calibri" panose="020F0502020204030204" pitchFamily="34" charset="0"/>
              </a:rPr>
              <a:t> hay </a:t>
            </a:r>
            <a:r>
              <a:rPr lang="en-US" sz="2800" b="0" i="0" dirty="0" err="1">
                <a:solidFill>
                  <a:srgbClr val="000000"/>
                </a:solidFill>
                <a:effectLst/>
                <a:latin typeface="Calibri" panose="020F0502020204030204" pitchFamily="34" charset="0"/>
                <a:ea typeface="Calibri" panose="020F0502020204030204" pitchFamily="34" charset="0"/>
              </a:rPr>
              <a:t>không</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Nếu</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không</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và</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nếu</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không</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có</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vùng</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bộ</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nhớ</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trống</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bộ</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điều</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phối</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sẽ</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hoán</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đổi</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một</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tiến</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trình</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hiện</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có</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trong</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bộ</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nhớ</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và</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hoán</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đổi</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tiến</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trình</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mong</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muốn</a:t>
            </a:r>
            <a:r>
              <a:rPr lang="en-US" sz="2800" b="0" i="0" dirty="0">
                <a:solidFill>
                  <a:srgbClr val="000000"/>
                </a:solidFill>
                <a:effectLst/>
                <a:latin typeface="Calibri" panose="020F0502020204030204" pitchFamily="34" charset="0"/>
                <a:ea typeface="Calibri" panose="020F0502020204030204" pitchFamily="34" charset="0"/>
              </a:rPr>
              <a:t>. Sau </a:t>
            </a:r>
            <a:r>
              <a:rPr lang="en-US" sz="2800" b="0" i="0" dirty="0" err="1">
                <a:solidFill>
                  <a:srgbClr val="000000"/>
                </a:solidFill>
                <a:effectLst/>
                <a:latin typeface="Calibri" panose="020F0502020204030204" pitchFamily="34" charset="0"/>
                <a:ea typeface="Calibri" panose="020F0502020204030204" pitchFamily="34" charset="0"/>
              </a:rPr>
              <a:t>đó</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nó</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tải</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lại</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các</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thanh</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ghi</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và</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chuyển</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quyền</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điều</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khiển</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cho</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tiến</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trình</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đã</a:t>
            </a:r>
            <a:r>
              <a:rPr lang="en-US" sz="2800" b="0" i="0" dirty="0">
                <a:solidFill>
                  <a:srgbClr val="000000"/>
                </a:solidFill>
                <a:effectLst/>
                <a:latin typeface="Calibri" panose="020F0502020204030204" pitchFamily="34" charset="0"/>
                <a:ea typeface="Calibri" panose="020F0502020204030204" pitchFamily="34" charset="0"/>
              </a:rPr>
              <a:t> </a:t>
            </a:r>
            <a:r>
              <a:rPr lang="en-US" sz="2800" b="0" i="0" dirty="0" err="1">
                <a:solidFill>
                  <a:srgbClr val="000000"/>
                </a:solidFill>
                <a:effectLst/>
                <a:latin typeface="Calibri" panose="020F0502020204030204" pitchFamily="34" charset="0"/>
                <a:ea typeface="Calibri" panose="020F0502020204030204" pitchFamily="34" charset="0"/>
              </a:rPr>
              <a:t>chọn</a:t>
            </a:r>
            <a:r>
              <a:rPr lang="en-US" sz="2800" b="0" i="0" dirty="0">
                <a:solidFill>
                  <a:srgbClr val="000000"/>
                </a:solidFill>
                <a:effectLst/>
                <a:latin typeface="Calibri" panose="020F0502020204030204" pitchFamily="34" charset="0"/>
                <a:ea typeface="Calibri" panose="020F0502020204030204" pitchFamily="34" charset="0"/>
              </a:rPr>
              <a:t>.</a:t>
            </a:r>
            <a:endPar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endParaRPr>
          </a:p>
          <a:p>
            <a:endPar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endParaRPr>
          </a:p>
          <a:p>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Việc</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hoán</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đổi</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cũng</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bị</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hạn</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chế</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bởi</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các</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yếu</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tố</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khác</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Nếu</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chúng</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ta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muốn</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hoán</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đổi</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một</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tiến</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trình</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chúng</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ta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phải</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chắc</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chắn</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rằng</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nó</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hoàn</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toàn</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rảnh</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rỗi</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endParaRPr lang="en-US" dirty="0"/>
          </a:p>
        </p:txBody>
      </p:sp>
      <p:sp>
        <p:nvSpPr>
          <p:cNvPr id="5" name="Slide Number Placeholder 4">
            <a:extLst>
              <a:ext uri="{FF2B5EF4-FFF2-40B4-BE49-F238E27FC236}">
                <a16:creationId xmlns:a16="http://schemas.microsoft.com/office/drawing/2014/main" id="{302DD1EA-9A0C-9303-AD79-5DAF401390EB}"/>
              </a:ext>
            </a:extLst>
          </p:cNvPr>
          <p:cNvSpPr>
            <a:spLocks noGrp="1"/>
          </p:cNvSpPr>
          <p:nvPr>
            <p:ph type="sldNum" sz="quarter" idx="47"/>
          </p:nvPr>
        </p:nvSpPr>
        <p:spPr/>
        <p:txBody>
          <a:bodyPr/>
          <a:lstStyle/>
          <a:p>
            <a:fld id="{47FEACEE-25B4-4A2D-B147-27296E36371D}" type="slidenum">
              <a:rPr lang="en-US" altLang="zh-CN" smtClean="0"/>
              <a:pPr/>
              <a:t>9</a:t>
            </a:fld>
            <a:endParaRPr lang="en-US" altLang="zh-CN" dirty="0"/>
          </a:p>
        </p:txBody>
      </p:sp>
    </p:spTree>
    <p:extLst>
      <p:ext uri="{BB962C8B-B14F-4D97-AF65-F5344CB8AC3E}">
        <p14:creationId xmlns:p14="http://schemas.microsoft.com/office/powerpoint/2010/main" val="3760906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a:xfrm>
            <a:off x="406400" y="186267"/>
            <a:ext cx="6096000" cy="914882"/>
          </a:xfrm>
        </p:spPr>
        <p:txBody>
          <a:bodyPr/>
          <a:lstStyle/>
          <a:p>
            <a:r>
              <a:rPr lang="en-US" sz="4000" dirty="0">
                <a:solidFill>
                  <a:srgbClr val="C00000"/>
                </a:solidFill>
              </a:rPr>
              <a:t>3. </a:t>
            </a:r>
            <a:r>
              <a:rPr lang="en-US" sz="4000" dirty="0" err="1">
                <a:solidFill>
                  <a:srgbClr val="C00000"/>
                </a:solidFill>
              </a:rPr>
              <a:t>Phân</a:t>
            </a:r>
            <a:r>
              <a:rPr lang="en-US" sz="4000" dirty="0">
                <a:solidFill>
                  <a:srgbClr val="C00000"/>
                </a:solidFill>
              </a:rPr>
              <a:t> </a:t>
            </a:r>
            <a:r>
              <a:rPr lang="en-US" sz="4000" dirty="0" err="1">
                <a:solidFill>
                  <a:srgbClr val="C00000"/>
                </a:solidFill>
              </a:rPr>
              <a:t>Bổ</a:t>
            </a:r>
            <a:r>
              <a:rPr lang="en-US" sz="4000" dirty="0">
                <a:solidFill>
                  <a:srgbClr val="C00000"/>
                </a:solidFill>
              </a:rPr>
              <a:t> </a:t>
            </a:r>
            <a:r>
              <a:rPr lang="en-US" sz="4000" dirty="0" err="1">
                <a:solidFill>
                  <a:srgbClr val="C00000"/>
                </a:solidFill>
              </a:rPr>
              <a:t>Bộ</a:t>
            </a:r>
            <a:r>
              <a:rPr lang="en-US" sz="4000" dirty="0">
                <a:solidFill>
                  <a:srgbClr val="C00000"/>
                </a:solidFill>
              </a:rPr>
              <a:t> </a:t>
            </a:r>
            <a:r>
              <a:rPr lang="en-US" sz="4000" dirty="0" err="1">
                <a:solidFill>
                  <a:srgbClr val="C00000"/>
                </a:solidFill>
              </a:rPr>
              <a:t>Nhớ</a:t>
            </a:r>
            <a:r>
              <a:rPr lang="en-US" sz="4000" dirty="0">
                <a:solidFill>
                  <a:srgbClr val="C00000"/>
                </a:solidFill>
              </a:rPr>
              <a:t> Liên </a:t>
            </a:r>
            <a:r>
              <a:rPr lang="en-US" sz="4000" dirty="0" err="1">
                <a:solidFill>
                  <a:srgbClr val="C00000"/>
                </a:solidFill>
              </a:rPr>
              <a:t>Tục</a:t>
            </a:r>
            <a:endParaRPr lang="en-US" sz="4000" dirty="0">
              <a:solidFill>
                <a:srgbClr val="C00000"/>
              </a:solidFill>
            </a:endParaRPr>
          </a:p>
        </p:txBody>
      </p:sp>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10</a:t>
            </a:fld>
            <a:endParaRPr lang="en-US" altLang="zh-CN" dirty="0"/>
          </a:p>
        </p:txBody>
      </p:sp>
      <p:sp>
        <p:nvSpPr>
          <p:cNvPr id="27" name="Text Placeholder 26">
            <a:extLst>
              <a:ext uri="{FF2B5EF4-FFF2-40B4-BE49-F238E27FC236}">
                <a16:creationId xmlns:a16="http://schemas.microsoft.com/office/drawing/2014/main" id="{78087AF6-B758-E33B-74DF-E19E7B8E44A1}"/>
              </a:ext>
            </a:extLst>
          </p:cNvPr>
          <p:cNvSpPr>
            <a:spLocks noGrp="1"/>
          </p:cNvSpPr>
          <p:nvPr>
            <p:ph type="body" sz="quarter" idx="35"/>
          </p:nvPr>
        </p:nvSpPr>
        <p:spPr>
          <a:xfrm>
            <a:off x="406400" y="914883"/>
            <a:ext cx="11246361" cy="5756850"/>
          </a:xfrm>
        </p:spPr>
        <p:txBody>
          <a:bodyPr/>
          <a:lstStyle/>
          <a:p>
            <a:pPr marL="0" indent="0">
              <a:buNone/>
            </a:pP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Có</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các</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chiến</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lược</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để</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lựa</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chọn</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vùng</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từ</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tập</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hợp</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các</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vùng</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có</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sẵn</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để</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cấp</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phát</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cho</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tiến</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trình</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như</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a:t>
            </a:r>
            <a:endPar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First-Fit: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Cấp</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phát</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vùng</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đầu</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tiên</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đủ</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lớn</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Việc</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tìm</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kiếm</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có</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thể</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bắt</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đầu</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ở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đầu</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tập</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hợp</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các</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vùng</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hoặc</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tại</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vị</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trí</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mà</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lần</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tìm</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kiếm</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phù</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hợp</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đầu</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tiên</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trước</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đó</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đã</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kết</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thúc</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Việt</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tìm</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kiếm</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sẽ</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dừng</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lại</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ngay</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khi</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tìm</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thấy</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một</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lỗ</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trống</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đủ</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lớn</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a:t>
            </a:r>
            <a:endPar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Best-Fit: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Cấp</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phát</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vùng</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nhỏ</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nhất</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đủ</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lớn</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Chúng</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ta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phải</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tìm</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kiếm</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toàn</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bộ</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danh</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sách</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trừ</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khi</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danh</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sách</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được</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sắp</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xếp</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theo</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kích</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thước</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endPar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Worst-Fit: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Cấp</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phát</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vùng</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lớn</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nhất</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Một</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lần</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nữa</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chúng</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ta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phải</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tìm</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kiếm</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toàn</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bộ</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danh</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sách</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trừ</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khi</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nó</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được</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sắp</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xếp</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theo</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kích</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thước</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endPar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endPar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2800" dirty="0">
                <a:solidFill>
                  <a:schemeClr val="tx1"/>
                </a:solidFill>
                <a:latin typeface="Calibri" panose="020F0502020204030204" pitchFamily="34" charset="0"/>
                <a:ea typeface="Times New Roman" panose="02020603050405020304" pitchFamily="18" charset="0"/>
                <a:cs typeface="Calibri" panose="020F0502020204030204" pitchFamily="34" charset="0"/>
              </a:rPr>
              <a:t>=&gt; </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First-Fit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và</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Best-Fit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tốt</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hơn</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Worst-Fit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về</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mặt</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thời</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gian</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và</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sử</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dụng</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bộ</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a:t>
            </a:r>
            <a:endPar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800" dirty="0">
              <a:solidFill>
                <a:schemeClr val="tx1"/>
              </a:solidFill>
            </a:endParaRPr>
          </a:p>
        </p:txBody>
      </p:sp>
    </p:spTree>
    <p:extLst>
      <p:ext uri="{BB962C8B-B14F-4D97-AF65-F5344CB8AC3E}">
        <p14:creationId xmlns:p14="http://schemas.microsoft.com/office/powerpoint/2010/main" val="2519727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D125340B-E2AC-AA43-E32D-A02412AC21C7}"/>
              </a:ext>
            </a:extLst>
          </p:cNvPr>
          <p:cNvSpPr>
            <a:spLocks noGrp="1"/>
          </p:cNvSpPr>
          <p:nvPr>
            <p:ph type="body" sz="quarter" idx="35"/>
          </p:nvPr>
        </p:nvSpPr>
        <p:spPr>
          <a:xfrm>
            <a:off x="355601" y="763128"/>
            <a:ext cx="11297161" cy="6010203"/>
          </a:xfrm>
        </p:spPr>
        <p:txBody>
          <a:bodyPr/>
          <a:lstStyle/>
          <a:p>
            <a:pPr marL="0" indent="0">
              <a:buNone/>
            </a:pPr>
            <a:r>
              <a:rPr lang="en-US" sz="2800" i="1" dirty="0">
                <a:solidFill>
                  <a:srgbClr val="446992"/>
                </a:solidFill>
                <a:effectLst/>
                <a:latin typeface="Calibri" panose="020F0502020204030204" pitchFamily="34" charset="0"/>
                <a:ea typeface="Calibri" panose="020F0502020204030204" pitchFamily="34" charset="0"/>
                <a:cs typeface="Times New Roman" panose="02020603050405020304" pitchFamily="18" charset="0"/>
              </a:rPr>
              <a:t>a) </a:t>
            </a:r>
            <a:r>
              <a:rPr lang="en-US" sz="2800" i="1" dirty="0" err="1">
                <a:solidFill>
                  <a:srgbClr val="446992"/>
                </a:solidFill>
                <a:effectLst/>
                <a:latin typeface="Calibri" panose="020F0502020204030204" pitchFamily="34" charset="0"/>
                <a:ea typeface="Calibri" panose="020F0502020204030204" pitchFamily="34" charset="0"/>
                <a:cs typeface="Times New Roman" panose="02020603050405020304" pitchFamily="18" charset="0"/>
              </a:rPr>
              <a:t>Phân</a:t>
            </a:r>
            <a:r>
              <a:rPr lang="en-US" sz="2800" i="1" dirty="0">
                <a:solidFill>
                  <a:srgbClr val="446992"/>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i="1" dirty="0" err="1">
                <a:solidFill>
                  <a:srgbClr val="446992"/>
                </a:solidFill>
                <a:effectLst/>
                <a:latin typeface="Calibri" panose="020F0502020204030204" pitchFamily="34" charset="0"/>
                <a:ea typeface="Calibri" panose="020F0502020204030204" pitchFamily="34" charset="0"/>
                <a:cs typeface="Times New Roman" panose="02020603050405020304" pitchFamily="18" charset="0"/>
              </a:rPr>
              <a:t>mảnh</a:t>
            </a:r>
            <a:r>
              <a:rPr lang="en-US" sz="2800" i="1" dirty="0">
                <a:solidFill>
                  <a:srgbClr val="446992"/>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i="1" dirty="0" err="1">
                <a:solidFill>
                  <a:srgbClr val="446992"/>
                </a:solidFill>
                <a:effectLst/>
                <a:latin typeface="Calibri" panose="020F0502020204030204" pitchFamily="34" charset="0"/>
                <a:ea typeface="Calibri" panose="020F0502020204030204" pitchFamily="34" charset="0"/>
                <a:cs typeface="Times New Roman" panose="02020603050405020304" pitchFamily="18" charset="0"/>
              </a:rPr>
              <a:t>ngoại</a:t>
            </a:r>
            <a:endParaRPr lang="en-US" sz="2800" i="1" dirty="0">
              <a:solidFill>
                <a:srgbClr val="446992"/>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Cả</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First-Fit</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và</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Best-Fit</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đều</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bị</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phân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mảnh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ngoại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Khi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các</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tiến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trình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được</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tải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và</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xóa</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khỏi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bộ</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không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gian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bộ</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trống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sẽ</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bị</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chia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thành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nhiều</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phần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nhỏ</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.=&gt;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bộ</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bị</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phân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mảnh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Hậu</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quả</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có</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thể</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có</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một</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khối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bộ</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trống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hoặc</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lãng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phí</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giữa</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mỗi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hai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tiến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trình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a:t>
            </a:r>
          </a:p>
          <a:p>
            <a:pPr marL="0" indent="0">
              <a:buNone/>
            </a:pPr>
            <a:r>
              <a:rPr lang="en-US" sz="2800" i="1" dirty="0">
                <a:solidFill>
                  <a:srgbClr val="446992"/>
                </a:solidFill>
                <a:effectLst/>
                <a:latin typeface="Calibri" panose="020F0502020204030204" pitchFamily="34" charset="0"/>
                <a:ea typeface="Times New Roman" panose="02020603050405020304" pitchFamily="18" charset="0"/>
                <a:cs typeface="Calibri" panose="020F0502020204030204" pitchFamily="34" charset="0"/>
              </a:rPr>
              <a:t>b) </a:t>
            </a:r>
            <a:r>
              <a:rPr lang="en-US" sz="2800" i="1" dirty="0" err="1">
                <a:solidFill>
                  <a:srgbClr val="446992"/>
                </a:solidFill>
                <a:effectLst/>
                <a:latin typeface="Calibri" panose="020F0502020204030204" pitchFamily="34" charset="0"/>
                <a:ea typeface="Times New Roman" panose="02020603050405020304" pitchFamily="18" charset="0"/>
                <a:cs typeface="Calibri" panose="020F0502020204030204" pitchFamily="34" charset="0"/>
              </a:rPr>
              <a:t>Phân</a:t>
            </a:r>
            <a:r>
              <a:rPr lang="en-US" sz="2800" i="1" dirty="0">
                <a:solidFill>
                  <a:srgbClr val="446992"/>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i="1" dirty="0" err="1">
                <a:solidFill>
                  <a:srgbClr val="446992"/>
                </a:solidFill>
                <a:effectLst/>
                <a:latin typeface="Calibri" panose="020F0502020204030204" pitchFamily="34" charset="0"/>
                <a:ea typeface="Times New Roman" panose="02020603050405020304" pitchFamily="18" charset="0"/>
                <a:cs typeface="Calibri" panose="020F0502020204030204" pitchFamily="34" charset="0"/>
              </a:rPr>
              <a:t>mảnh</a:t>
            </a:r>
            <a:r>
              <a:rPr lang="en-US" sz="2800" i="1" dirty="0">
                <a:solidFill>
                  <a:srgbClr val="446992"/>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i="1" dirty="0" err="1">
                <a:solidFill>
                  <a:srgbClr val="446992"/>
                </a:solidFill>
                <a:effectLst/>
                <a:latin typeface="Calibri" panose="020F0502020204030204" pitchFamily="34" charset="0"/>
                <a:ea typeface="Times New Roman" panose="02020603050405020304" pitchFamily="18" charset="0"/>
                <a:cs typeface="Calibri" panose="020F0502020204030204" pitchFamily="34" charset="0"/>
              </a:rPr>
              <a:t>nội</a:t>
            </a:r>
            <a:endParaRPr lang="en-US" sz="2800" i="1" dirty="0">
              <a:solidFill>
                <a:srgbClr val="446992"/>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Nếu</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bộ</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có</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khối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kích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thước</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100 byte.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Giả</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sử</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tiến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trình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tiếp</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theo</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yêu</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cầu</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80 byte =&gt;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nếu</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cấp</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phát</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chính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xác</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thì</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còn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lại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một</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lỗ</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trống</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20 byte.</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Để</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tránh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vấn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đề</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này</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cần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chia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bộ</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thực</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thành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các</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khối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có</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kích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thước</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cố</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định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và</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các</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tiến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trình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được</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cấp</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phát</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bộ</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theo</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đơn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vị</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khối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Khi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đó</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bộ</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được</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cấp</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phát</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cho</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một</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tiến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trình</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có</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thể</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lớn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hơn</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một</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chút</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so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với</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bộ</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nhớ</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được</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yêu</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r>
              <a:rPr lang="en-US" sz="2800" dirty="0" err="1">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cầu</a:t>
            </a: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2800" dirty="0">
                <a:solidFill>
                  <a:srgbClr val="231F20"/>
                </a:solidFill>
                <a:effectLst/>
                <a:latin typeface="Calibri" panose="020F0502020204030204" pitchFamily="34" charset="0"/>
                <a:ea typeface="Times New Roman" panose="02020603050405020304" pitchFamily="18" charset="0"/>
                <a:cs typeface="Calibri" panose="020F0502020204030204" pitchFamily="34" charset="0"/>
              </a:rPr>
              <a:t>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800" dirty="0"/>
          </a:p>
          <a:p>
            <a:pPr marL="0" indent="0">
              <a:buNone/>
            </a:pP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800" dirty="0"/>
          </a:p>
        </p:txBody>
      </p:sp>
      <p:sp>
        <p:nvSpPr>
          <p:cNvPr id="8" name="Title 7">
            <a:extLst>
              <a:ext uri="{FF2B5EF4-FFF2-40B4-BE49-F238E27FC236}">
                <a16:creationId xmlns:a16="http://schemas.microsoft.com/office/drawing/2014/main" id="{9711306D-A373-CFF6-7D41-8900F6E0B630}"/>
              </a:ext>
            </a:extLst>
          </p:cNvPr>
          <p:cNvSpPr>
            <a:spLocks noGrp="1"/>
          </p:cNvSpPr>
          <p:nvPr>
            <p:ph type="title"/>
          </p:nvPr>
        </p:nvSpPr>
        <p:spPr>
          <a:xfrm>
            <a:off x="355601" y="163195"/>
            <a:ext cx="3627120" cy="645089"/>
          </a:xfrm>
        </p:spPr>
        <p:txBody>
          <a:bodyPr/>
          <a:lstStyle/>
          <a:p>
            <a:r>
              <a:rPr lang="en-US" sz="4200" dirty="0">
                <a:solidFill>
                  <a:srgbClr val="C00000"/>
                </a:solidFill>
              </a:rPr>
              <a:t>3.1 </a:t>
            </a:r>
            <a:r>
              <a:rPr lang="en-US" sz="4200" dirty="0" err="1">
                <a:solidFill>
                  <a:srgbClr val="C00000"/>
                </a:solidFill>
              </a:rPr>
              <a:t>Phân</a:t>
            </a:r>
            <a:r>
              <a:rPr lang="en-US" sz="4200" dirty="0">
                <a:solidFill>
                  <a:srgbClr val="C00000"/>
                </a:solidFill>
              </a:rPr>
              <a:t> </a:t>
            </a:r>
            <a:r>
              <a:rPr lang="en-US" sz="4200" dirty="0" err="1">
                <a:solidFill>
                  <a:srgbClr val="C00000"/>
                </a:solidFill>
              </a:rPr>
              <a:t>Mảnh</a:t>
            </a:r>
            <a:endParaRPr lang="en-US" sz="4200" dirty="0">
              <a:solidFill>
                <a:srgbClr val="C00000"/>
              </a:solidFill>
            </a:endParaRPr>
          </a:p>
        </p:txBody>
      </p:sp>
      <p:sp>
        <p:nvSpPr>
          <p:cNvPr id="12" name="Slide Number Placeholder 11">
            <a:extLst>
              <a:ext uri="{FF2B5EF4-FFF2-40B4-BE49-F238E27FC236}">
                <a16:creationId xmlns:a16="http://schemas.microsoft.com/office/drawing/2014/main" id="{11804457-3468-F979-BA56-659AE499346D}"/>
              </a:ext>
            </a:extLst>
          </p:cNvPr>
          <p:cNvSpPr>
            <a:spLocks noGrp="1"/>
          </p:cNvSpPr>
          <p:nvPr>
            <p:ph type="sldNum" sz="quarter" idx="40"/>
          </p:nvPr>
        </p:nvSpPr>
        <p:spPr/>
        <p:txBody>
          <a:bodyPr/>
          <a:lstStyle/>
          <a:p>
            <a:fld id="{47FEACEE-25B4-4A2D-B147-27296E36371D}" type="slidenum">
              <a:rPr lang="en-US" altLang="zh-CN" smtClean="0"/>
              <a:pPr/>
              <a:t>11</a:t>
            </a:fld>
            <a:endParaRPr lang="en-US" altLang="zh-CN" dirty="0"/>
          </a:p>
        </p:txBody>
      </p:sp>
    </p:spTree>
    <p:extLst>
      <p:ext uri="{BB962C8B-B14F-4D97-AF65-F5344CB8AC3E}">
        <p14:creationId xmlns:p14="http://schemas.microsoft.com/office/powerpoint/2010/main" val="1514902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43D282D-931D-EA05-FE33-7C1EDBBC3261}"/>
              </a:ext>
            </a:extLst>
          </p:cNvPr>
          <p:cNvSpPr>
            <a:spLocks noGrp="1"/>
          </p:cNvSpPr>
          <p:nvPr>
            <p:ph type="body" sz="quarter" idx="35"/>
          </p:nvPr>
        </p:nvSpPr>
        <p:spPr>
          <a:xfrm>
            <a:off x="294640" y="1305664"/>
            <a:ext cx="11358121" cy="3256176"/>
          </a:xfrm>
        </p:spPr>
        <p:txBody>
          <a:bodyPr/>
          <a:lstStyle/>
          <a:p>
            <a:pPr marL="0" indent="0">
              <a:buNone/>
            </a:pPr>
            <a:r>
              <a:rPr lang="en-US" sz="2800" dirty="0">
                <a:solidFill>
                  <a:srgbClr val="374151"/>
                </a:solidFill>
                <a:effectLst/>
                <a:latin typeface="Segoe UI" panose="020B0502040204020203" pitchFamily="34" charset="0"/>
                <a:ea typeface="Times New Roman" panose="02020603050405020304" pitchFamily="18" charset="0"/>
              </a:rPr>
              <a:t> </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Phương</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thức</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phân</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latin typeface="Segoe UI" panose="020B0502040204020203" pitchFamily="34" charset="0"/>
                <a:ea typeface="Times New Roman" panose="02020603050405020304" pitchFamily="18" charset="0"/>
              </a:rPr>
              <a:t>đoạn</a:t>
            </a:r>
            <a:r>
              <a:rPr lang="en-US" sz="2800" dirty="0">
                <a:solidFill>
                  <a:schemeClr val="tx1"/>
                </a:solidFill>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trong</a:t>
            </a:r>
            <a:r>
              <a:rPr lang="en-US" sz="2800" dirty="0">
                <a:solidFill>
                  <a:schemeClr val="tx1"/>
                </a:solidFill>
                <a:effectLst/>
                <a:latin typeface="Segoe UI" panose="020B0502040204020203" pitchFamily="34" charset="0"/>
                <a:ea typeface="Times New Roman" panose="02020603050405020304" pitchFamily="18" charset="0"/>
              </a:rPr>
              <a:t> RAM </a:t>
            </a:r>
            <a:r>
              <a:rPr lang="en-US" sz="2800" dirty="0" err="1">
                <a:solidFill>
                  <a:schemeClr val="tx1"/>
                </a:solidFill>
                <a:effectLst/>
                <a:latin typeface="Segoe UI" panose="020B0502040204020203" pitchFamily="34" charset="0"/>
                <a:ea typeface="Times New Roman" panose="02020603050405020304" pitchFamily="18" charset="0"/>
              </a:rPr>
              <a:t>là</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một</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chiến</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lược</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quản</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lý</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bộ</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nhớ</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được</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thiết</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kế</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để</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xử</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lý</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sự</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đa</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dạng</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và</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phức</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tạp</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của</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các</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chương</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trình</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máy</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tính</a:t>
            </a:r>
            <a:r>
              <a:rPr lang="en-US" sz="2800" dirty="0">
                <a:solidFill>
                  <a:schemeClr val="tx1"/>
                </a:solidFill>
                <a:effectLst/>
                <a:latin typeface="Segoe UI" panose="020B0502040204020203" pitchFamily="34" charset="0"/>
                <a:ea typeface="Times New Roman" panose="02020603050405020304" pitchFamily="18" charset="0"/>
              </a:rPr>
              <a:t>. </a:t>
            </a:r>
          </a:p>
          <a:p>
            <a:endParaRPr lang="en-US" sz="2800" dirty="0">
              <a:solidFill>
                <a:schemeClr val="tx1"/>
              </a:solidFill>
              <a:latin typeface="Segoe UI" panose="020B0502040204020203" pitchFamily="34" charset="0"/>
              <a:ea typeface="Times New Roman" panose="02020603050405020304" pitchFamily="18" charset="0"/>
            </a:endParaRPr>
          </a:p>
          <a:p>
            <a:pPr marL="0" indent="0">
              <a:buNone/>
            </a:pPr>
            <a:r>
              <a:rPr lang="en-US" sz="2800" dirty="0">
                <a:solidFill>
                  <a:schemeClr val="tx1"/>
                </a:solidFill>
                <a:effectLst/>
                <a:latin typeface="Segoe UI" panose="020B0502040204020203" pitchFamily="34" charset="0"/>
                <a:ea typeface="Times New Roman" panose="02020603050405020304" pitchFamily="18" charset="0"/>
              </a:rPr>
              <a:t> - </a:t>
            </a:r>
            <a:r>
              <a:rPr lang="en-US" sz="2800" dirty="0" err="1">
                <a:solidFill>
                  <a:schemeClr val="tx1"/>
                </a:solidFill>
                <a:effectLst/>
                <a:latin typeface="Segoe UI" panose="020B0502040204020203" pitchFamily="34" charset="0"/>
                <a:ea typeface="Times New Roman" panose="02020603050405020304" pitchFamily="18" charset="0"/>
              </a:rPr>
              <a:t>Chúng</a:t>
            </a:r>
            <a:r>
              <a:rPr lang="en-US" sz="2800" dirty="0">
                <a:solidFill>
                  <a:schemeClr val="tx1"/>
                </a:solidFill>
                <a:effectLst/>
                <a:latin typeface="Segoe UI" panose="020B0502040204020203" pitchFamily="34" charset="0"/>
                <a:ea typeface="Times New Roman" panose="02020603050405020304" pitchFamily="18" charset="0"/>
              </a:rPr>
              <a:t> ta </a:t>
            </a:r>
            <a:r>
              <a:rPr lang="en-US" sz="2800" dirty="0" err="1">
                <a:solidFill>
                  <a:schemeClr val="tx1"/>
                </a:solidFill>
                <a:effectLst/>
                <a:latin typeface="Segoe UI" panose="020B0502040204020203" pitchFamily="34" charset="0"/>
                <a:ea typeface="Times New Roman" panose="02020603050405020304" pitchFamily="18" charset="0"/>
              </a:rPr>
              <a:t>sẽ</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xem</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xét</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cả</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hai</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khía</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cạnh</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chính</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của</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phương</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thức</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này</a:t>
            </a:r>
            <a:r>
              <a:rPr lang="en-US" sz="2800" dirty="0">
                <a:solidFill>
                  <a:schemeClr val="tx1"/>
                </a:solidFill>
                <a:effectLst/>
                <a:latin typeface="Segoe UI" panose="020B0502040204020203" pitchFamily="34" charset="0"/>
                <a:ea typeface="Times New Roman" panose="02020603050405020304" pitchFamily="18" charset="0"/>
              </a:rPr>
              <a:t>: </a:t>
            </a:r>
            <a:r>
              <a:rPr lang="en-US" sz="2800" b="1" dirty="0">
                <a:solidFill>
                  <a:srgbClr val="C00000"/>
                </a:solidFill>
                <a:effectLst/>
                <a:latin typeface="Segoe UI" panose="020B0502040204020203" pitchFamily="34" charset="0"/>
                <a:ea typeface="Times New Roman" panose="02020603050405020304" pitchFamily="18" charset="0"/>
              </a:rPr>
              <a:t>Basic Method </a:t>
            </a:r>
            <a:r>
              <a:rPr lang="en-US" sz="2800" dirty="0">
                <a:solidFill>
                  <a:schemeClr val="tx1"/>
                </a:solidFill>
                <a:effectLst/>
                <a:latin typeface="Segoe UI" panose="020B0502040204020203" pitchFamily="34" charset="0"/>
                <a:ea typeface="Times New Roman" panose="02020603050405020304" pitchFamily="18" charset="0"/>
              </a:rPr>
              <a:t>(</a:t>
            </a:r>
            <a:r>
              <a:rPr lang="en-US" sz="2800" dirty="0" err="1">
                <a:solidFill>
                  <a:schemeClr val="tx1"/>
                </a:solidFill>
                <a:effectLst/>
                <a:latin typeface="Segoe UI" panose="020B0502040204020203" pitchFamily="34" charset="0"/>
                <a:ea typeface="Times New Roman" panose="02020603050405020304" pitchFamily="18" charset="0"/>
              </a:rPr>
              <a:t>Phương</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pháp</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cơ</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bản</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và</a:t>
            </a:r>
            <a:r>
              <a:rPr lang="en-US" sz="2800" dirty="0">
                <a:solidFill>
                  <a:schemeClr val="tx1"/>
                </a:solidFill>
                <a:effectLst/>
                <a:latin typeface="Segoe UI" panose="020B0502040204020203" pitchFamily="34" charset="0"/>
                <a:ea typeface="Times New Roman" panose="02020603050405020304" pitchFamily="18" charset="0"/>
              </a:rPr>
              <a:t> </a:t>
            </a:r>
            <a:r>
              <a:rPr lang="en-US" sz="2800" b="1" dirty="0">
                <a:solidFill>
                  <a:srgbClr val="C00000"/>
                </a:solidFill>
                <a:effectLst/>
                <a:latin typeface="Segoe UI" panose="020B0502040204020203" pitchFamily="34" charset="0"/>
                <a:ea typeface="Times New Roman" panose="02020603050405020304" pitchFamily="18" charset="0"/>
              </a:rPr>
              <a:t>Hardware Support </a:t>
            </a:r>
            <a:r>
              <a:rPr lang="en-US" sz="2800" dirty="0">
                <a:solidFill>
                  <a:schemeClr val="tx1"/>
                </a:solidFill>
                <a:effectLst/>
                <a:latin typeface="Segoe UI" panose="020B0502040204020203" pitchFamily="34" charset="0"/>
                <a:ea typeface="Times New Roman" panose="02020603050405020304" pitchFamily="18" charset="0"/>
              </a:rPr>
              <a:t>(</a:t>
            </a:r>
            <a:r>
              <a:rPr lang="en-US" sz="2800" dirty="0" err="1">
                <a:solidFill>
                  <a:schemeClr val="tx1"/>
                </a:solidFill>
                <a:effectLst/>
                <a:latin typeface="Segoe UI" panose="020B0502040204020203" pitchFamily="34" charset="0"/>
                <a:ea typeface="Times New Roman" panose="02020603050405020304" pitchFamily="18" charset="0"/>
              </a:rPr>
              <a:t>Hỗ</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trợ</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phần</a:t>
            </a:r>
            <a:r>
              <a:rPr lang="en-US" sz="2800" dirty="0">
                <a:solidFill>
                  <a:schemeClr val="tx1"/>
                </a:solidFill>
                <a:effectLst/>
                <a:latin typeface="Segoe UI" panose="020B0502040204020203" pitchFamily="34" charset="0"/>
                <a:ea typeface="Times New Roman" panose="02020603050405020304" pitchFamily="18" charset="0"/>
              </a:rPr>
              <a:t> </a:t>
            </a:r>
            <a:r>
              <a:rPr lang="en-US" sz="2800" dirty="0" err="1">
                <a:solidFill>
                  <a:schemeClr val="tx1"/>
                </a:solidFill>
                <a:effectLst/>
                <a:latin typeface="Segoe UI" panose="020B0502040204020203" pitchFamily="34" charset="0"/>
                <a:ea typeface="Times New Roman" panose="02020603050405020304" pitchFamily="18" charset="0"/>
              </a:rPr>
              <a:t>cứng</a:t>
            </a:r>
            <a:r>
              <a:rPr lang="en-US" sz="2800" dirty="0">
                <a:solidFill>
                  <a:schemeClr val="tx1"/>
                </a:solidFill>
                <a:effectLst/>
                <a:latin typeface="Segoe UI" panose="020B0502040204020203" pitchFamily="34" charset="0"/>
                <a:ea typeface="Times New Roman" panose="02020603050405020304" pitchFamily="18" charset="0"/>
              </a:rPr>
              <a:t>).</a:t>
            </a:r>
            <a:endParaRPr lang="en-US" sz="2800" dirty="0">
              <a:solidFill>
                <a:schemeClr val="tx1"/>
              </a:solidFill>
              <a:effectLst/>
              <a:latin typeface="Times New Roman" panose="02020603050405020304" pitchFamily="18" charset="0"/>
              <a:ea typeface="Times New Roman" panose="02020603050405020304" pitchFamily="18" charset="0"/>
            </a:endParaRPr>
          </a:p>
          <a:p>
            <a:endParaRPr lang="en-US" sz="2800" dirty="0"/>
          </a:p>
        </p:txBody>
      </p:sp>
      <p:sp>
        <p:nvSpPr>
          <p:cNvPr id="8" name="Title 7">
            <a:extLst>
              <a:ext uri="{FF2B5EF4-FFF2-40B4-BE49-F238E27FC236}">
                <a16:creationId xmlns:a16="http://schemas.microsoft.com/office/drawing/2014/main" id="{8C99EF80-9EDE-BAD2-4601-031498BBC115}"/>
              </a:ext>
            </a:extLst>
          </p:cNvPr>
          <p:cNvSpPr>
            <a:spLocks noGrp="1"/>
          </p:cNvSpPr>
          <p:nvPr>
            <p:ph type="title"/>
          </p:nvPr>
        </p:nvSpPr>
        <p:spPr>
          <a:xfrm>
            <a:off x="294640" y="163853"/>
            <a:ext cx="6969760" cy="806531"/>
          </a:xfrm>
        </p:spPr>
        <p:txBody>
          <a:bodyPr/>
          <a:lstStyle/>
          <a:p>
            <a:r>
              <a:rPr lang="en-US" sz="4000" dirty="0">
                <a:solidFill>
                  <a:srgbClr val="C00000"/>
                </a:solidFill>
                <a:latin typeface="Posterama Text Black (Headings)"/>
              </a:rPr>
              <a:t>4. </a:t>
            </a:r>
            <a:r>
              <a:rPr lang="en-US" sz="4000" dirty="0" err="1">
                <a:solidFill>
                  <a:srgbClr val="C00000"/>
                </a:solidFill>
                <a:latin typeface="Posterama Text Black (Headings)"/>
              </a:rPr>
              <a:t>Phân</a:t>
            </a:r>
            <a:r>
              <a:rPr lang="en-US" sz="4000" dirty="0">
                <a:solidFill>
                  <a:srgbClr val="C00000"/>
                </a:solidFill>
                <a:latin typeface="Posterama Text Black (Headings)"/>
              </a:rPr>
              <a:t> </a:t>
            </a:r>
            <a:r>
              <a:rPr lang="en-US" sz="4000" dirty="0" err="1">
                <a:solidFill>
                  <a:srgbClr val="C00000"/>
                </a:solidFill>
                <a:latin typeface="Posterama Text Black (Headings)"/>
              </a:rPr>
              <a:t>Đoạn</a:t>
            </a:r>
            <a:r>
              <a:rPr lang="en-US" sz="4000" dirty="0">
                <a:solidFill>
                  <a:srgbClr val="C00000"/>
                </a:solidFill>
                <a:latin typeface="Posterama Text Black (Headings)"/>
              </a:rPr>
              <a:t> (</a:t>
            </a:r>
            <a:r>
              <a:rPr lang="en-US" sz="4000" dirty="0">
                <a:solidFill>
                  <a:srgbClr val="C00000"/>
                </a:solidFill>
                <a:effectLst/>
                <a:latin typeface="Posterama Text Black (Headings)"/>
                <a:ea typeface="Times New Roman" panose="02020603050405020304" pitchFamily="18" charset="0"/>
              </a:rPr>
              <a:t>Segmentation)</a:t>
            </a:r>
            <a:endParaRPr lang="en-US" sz="4000" dirty="0">
              <a:solidFill>
                <a:srgbClr val="C00000"/>
              </a:solidFill>
              <a:latin typeface="Posterama Text Black (Headings)"/>
            </a:endParaRPr>
          </a:p>
        </p:txBody>
      </p:sp>
      <p:sp>
        <p:nvSpPr>
          <p:cNvPr id="12" name="Slide Number Placeholder 11">
            <a:extLst>
              <a:ext uri="{FF2B5EF4-FFF2-40B4-BE49-F238E27FC236}">
                <a16:creationId xmlns:a16="http://schemas.microsoft.com/office/drawing/2014/main" id="{8986159C-D316-0B50-9B7A-7533ECF180A9}"/>
              </a:ext>
            </a:extLst>
          </p:cNvPr>
          <p:cNvSpPr>
            <a:spLocks noGrp="1"/>
          </p:cNvSpPr>
          <p:nvPr>
            <p:ph type="sldNum" sz="quarter" idx="40"/>
          </p:nvPr>
        </p:nvSpPr>
        <p:spPr/>
        <p:txBody>
          <a:bodyPr/>
          <a:lstStyle/>
          <a:p>
            <a:fld id="{47FEACEE-25B4-4A2D-B147-27296E36371D}" type="slidenum">
              <a:rPr lang="en-US" altLang="zh-CN" smtClean="0"/>
              <a:pPr/>
              <a:t>12</a:t>
            </a:fld>
            <a:endParaRPr lang="en-US" altLang="zh-CN" dirty="0"/>
          </a:p>
        </p:txBody>
      </p:sp>
    </p:spTree>
    <p:extLst>
      <p:ext uri="{BB962C8B-B14F-4D97-AF65-F5344CB8AC3E}">
        <p14:creationId xmlns:p14="http://schemas.microsoft.com/office/powerpoint/2010/main" val="3710951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55A4A38-AFF0-66C7-2F8F-D5F3AFCADE17}"/>
              </a:ext>
            </a:extLst>
          </p:cNvPr>
          <p:cNvSpPr>
            <a:spLocks noGrp="1"/>
          </p:cNvSpPr>
          <p:nvPr>
            <p:ph type="body" sz="quarter" idx="28"/>
          </p:nvPr>
        </p:nvSpPr>
        <p:spPr>
          <a:xfrm>
            <a:off x="284480" y="905070"/>
            <a:ext cx="11368281" cy="2416628"/>
          </a:xfrm>
        </p:spPr>
        <p:txBody>
          <a:bodyPr/>
          <a:lstStyle/>
          <a:p>
            <a:pPr marL="0" indent="0">
              <a:lnSpc>
                <a:spcPct val="107000"/>
              </a:lnSpc>
              <a:spcBef>
                <a:spcPts val="200"/>
              </a:spcBef>
              <a:buNone/>
            </a:pPr>
            <a:r>
              <a:rPr lang="en-US" sz="2800" i="1" kern="100" dirty="0">
                <a:solidFill>
                  <a:srgbClr val="446992"/>
                </a:solidFill>
                <a:effectLst/>
                <a:latin typeface="Calibri" panose="020F0502020204030204" pitchFamily="34" charset="0"/>
                <a:ea typeface="Calibri" panose="020F0502020204030204" pitchFamily="34" charset="0"/>
                <a:cs typeface="Calibri" panose="020F0502020204030204" pitchFamily="34" charset="0"/>
              </a:rPr>
              <a:t> 1. </a:t>
            </a:r>
            <a:r>
              <a:rPr lang="en-US" sz="2800" i="1" kern="100" dirty="0" err="1">
                <a:solidFill>
                  <a:srgbClr val="446992"/>
                </a:solidFill>
                <a:effectLst/>
                <a:latin typeface="Calibri" panose="020F0502020204030204" pitchFamily="34" charset="0"/>
                <a:ea typeface="Calibri" panose="020F0502020204030204" pitchFamily="34" charset="0"/>
                <a:cs typeface="Calibri" panose="020F0502020204030204" pitchFamily="34" charset="0"/>
              </a:rPr>
              <a:t>Khái</a:t>
            </a:r>
            <a:r>
              <a:rPr lang="en-US" sz="2800" i="1" kern="100" dirty="0">
                <a:solidFill>
                  <a:srgbClr val="446992"/>
                </a:solidFill>
                <a:effectLst/>
                <a:latin typeface="Calibri" panose="020F0502020204030204" pitchFamily="34" charset="0"/>
                <a:ea typeface="Calibri" panose="020F0502020204030204" pitchFamily="34" charset="0"/>
                <a:cs typeface="Calibri" panose="020F0502020204030204" pitchFamily="34" charset="0"/>
              </a:rPr>
              <a:t> </a:t>
            </a:r>
            <a:r>
              <a:rPr lang="en-US" sz="2800" i="1" kern="100" dirty="0" err="1">
                <a:solidFill>
                  <a:srgbClr val="446992"/>
                </a:solidFill>
                <a:effectLst/>
                <a:latin typeface="Calibri" panose="020F0502020204030204" pitchFamily="34" charset="0"/>
                <a:ea typeface="Calibri" panose="020F0502020204030204" pitchFamily="34" charset="0"/>
                <a:cs typeface="Calibri" panose="020F0502020204030204" pitchFamily="34" charset="0"/>
              </a:rPr>
              <a:t>Niệm</a:t>
            </a:r>
            <a:r>
              <a:rPr lang="en-US" sz="2800" i="1" kern="100" dirty="0">
                <a:solidFill>
                  <a:srgbClr val="446992"/>
                </a:solidFill>
                <a:effectLst/>
                <a:latin typeface="Calibri" panose="020F0502020204030204" pitchFamily="34" charset="0"/>
                <a:ea typeface="Calibri" panose="020F0502020204030204" pitchFamily="34" charset="0"/>
                <a:cs typeface="Calibri" panose="020F0502020204030204" pitchFamily="34" charset="0"/>
              </a:rPr>
              <a:t> </a:t>
            </a:r>
            <a:r>
              <a:rPr lang="en-US" sz="2800" i="1" kern="100" dirty="0" err="1">
                <a:solidFill>
                  <a:srgbClr val="446992"/>
                </a:solidFill>
                <a:effectLst/>
                <a:latin typeface="Calibri" panose="020F0502020204030204" pitchFamily="34" charset="0"/>
                <a:ea typeface="Calibri" panose="020F0502020204030204" pitchFamily="34" charset="0"/>
                <a:cs typeface="Calibri" panose="020F0502020204030204" pitchFamily="34" charset="0"/>
              </a:rPr>
              <a:t>Cơ</a:t>
            </a:r>
            <a:r>
              <a:rPr lang="en-US" sz="2800" i="1" kern="100" dirty="0">
                <a:solidFill>
                  <a:srgbClr val="446992"/>
                </a:solidFill>
                <a:effectLst/>
                <a:latin typeface="Calibri" panose="020F0502020204030204" pitchFamily="34" charset="0"/>
                <a:ea typeface="Calibri" panose="020F0502020204030204" pitchFamily="34" charset="0"/>
                <a:cs typeface="Calibri" panose="020F0502020204030204" pitchFamily="34" charset="0"/>
              </a:rPr>
              <a:t> </a:t>
            </a:r>
            <a:r>
              <a:rPr lang="en-US" sz="2800" i="1" kern="100" dirty="0" err="1">
                <a:solidFill>
                  <a:srgbClr val="446992"/>
                </a:solidFill>
                <a:effectLst/>
                <a:latin typeface="Calibri" panose="020F0502020204030204" pitchFamily="34" charset="0"/>
                <a:ea typeface="Calibri" panose="020F0502020204030204" pitchFamily="34" charset="0"/>
                <a:cs typeface="Calibri" panose="020F0502020204030204" pitchFamily="34" charset="0"/>
              </a:rPr>
              <a:t>Bản</a:t>
            </a:r>
            <a:r>
              <a:rPr lang="en-US" sz="2800" i="1" kern="100" dirty="0">
                <a:solidFill>
                  <a:srgbClr val="446992"/>
                </a:solidFill>
                <a:effectLst/>
                <a:latin typeface="Calibri" panose="020F0502020204030204" pitchFamily="34" charset="0"/>
                <a:ea typeface="Calibri" panose="020F0502020204030204" pitchFamily="34" charset="0"/>
                <a:cs typeface="Calibri" panose="020F0502020204030204" pitchFamily="34" charset="0"/>
              </a:rPr>
              <a:t>:</a:t>
            </a:r>
          </a:p>
          <a:p>
            <a:pPr marL="0" indent="0">
              <a:spcAft>
                <a:spcPts val="1500"/>
              </a:spcAft>
              <a:buNone/>
            </a:pP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Phương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thức</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latin typeface="Calibri" panose="020F0502020204030204" pitchFamily="34" charset="0"/>
                <a:ea typeface="Calibri" panose="020F0502020204030204" pitchFamily="34" charset="0"/>
                <a:cs typeface="Calibri" panose="020F0502020204030204" pitchFamily="34" charset="0"/>
              </a:rPr>
              <a:t>phân</a:t>
            </a: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latin typeface="Calibri" panose="020F0502020204030204" pitchFamily="34" charset="0"/>
                <a:ea typeface="Calibri" panose="020F0502020204030204" pitchFamily="34" charset="0"/>
                <a:cs typeface="Calibri" panose="020F0502020204030204" pitchFamily="34" charset="0"/>
              </a:rPr>
              <a:t>phối</a:t>
            </a: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Segmentation) chia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bộ</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nhớ</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thành</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các</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phân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đoạn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mỗi</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phân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đoạn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có</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thể</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tương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ứng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với</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một</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phần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cụ</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thể</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của</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chương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trình</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như</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code,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dữ</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liệu</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stack,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hoặc</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các</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phần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khác</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Mỗi</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phân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đoạn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được</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xác</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định</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bởi</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một</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tên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và</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có</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kích</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thước</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biến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đổi</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tùy</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thuộc</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vào</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mục</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đích</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sử</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dụng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8" name="Title 7">
            <a:extLst>
              <a:ext uri="{FF2B5EF4-FFF2-40B4-BE49-F238E27FC236}">
                <a16:creationId xmlns:a16="http://schemas.microsoft.com/office/drawing/2014/main" id="{659011D8-8E14-D1D0-4AA6-C4DEB9904DDC}"/>
              </a:ext>
            </a:extLst>
          </p:cNvPr>
          <p:cNvSpPr>
            <a:spLocks noGrp="1"/>
          </p:cNvSpPr>
          <p:nvPr>
            <p:ph type="title"/>
          </p:nvPr>
        </p:nvSpPr>
        <p:spPr>
          <a:xfrm>
            <a:off x="284480" y="281941"/>
            <a:ext cx="4541520" cy="623129"/>
          </a:xfrm>
        </p:spPr>
        <p:txBody>
          <a:bodyPr/>
          <a:lstStyle/>
          <a:p>
            <a:r>
              <a:rPr lang="en-US" sz="3200" dirty="0">
                <a:solidFill>
                  <a:srgbClr val="C00000"/>
                </a:solidFill>
              </a:rPr>
              <a:t>4.1. </a:t>
            </a:r>
            <a:r>
              <a:rPr lang="en-US" sz="3200" dirty="0" err="1">
                <a:solidFill>
                  <a:srgbClr val="C00000"/>
                </a:solidFill>
              </a:rPr>
              <a:t>Phương</a:t>
            </a:r>
            <a:r>
              <a:rPr lang="en-US" sz="3200" dirty="0">
                <a:solidFill>
                  <a:srgbClr val="C00000"/>
                </a:solidFill>
              </a:rPr>
              <a:t> </a:t>
            </a:r>
            <a:r>
              <a:rPr lang="en-US" sz="3200" dirty="0" err="1">
                <a:solidFill>
                  <a:srgbClr val="C00000"/>
                </a:solidFill>
              </a:rPr>
              <a:t>Pháp</a:t>
            </a:r>
            <a:r>
              <a:rPr lang="en-US" sz="3200" dirty="0">
                <a:solidFill>
                  <a:srgbClr val="C00000"/>
                </a:solidFill>
              </a:rPr>
              <a:t> </a:t>
            </a:r>
            <a:r>
              <a:rPr lang="en-US" sz="3200" dirty="0" err="1">
                <a:solidFill>
                  <a:srgbClr val="C00000"/>
                </a:solidFill>
              </a:rPr>
              <a:t>Cơ</a:t>
            </a:r>
            <a:r>
              <a:rPr lang="en-US" sz="3200" dirty="0">
                <a:solidFill>
                  <a:srgbClr val="C00000"/>
                </a:solidFill>
              </a:rPr>
              <a:t> </a:t>
            </a:r>
            <a:r>
              <a:rPr lang="en-US" sz="3200" dirty="0" err="1">
                <a:solidFill>
                  <a:srgbClr val="C00000"/>
                </a:solidFill>
              </a:rPr>
              <a:t>Bản</a:t>
            </a:r>
            <a:endParaRPr lang="en-US" sz="3200" dirty="0">
              <a:solidFill>
                <a:srgbClr val="C00000"/>
              </a:solidFill>
            </a:endParaRPr>
          </a:p>
        </p:txBody>
      </p:sp>
      <p:sp>
        <p:nvSpPr>
          <p:cNvPr id="12" name="Slide Number Placeholder 11">
            <a:extLst>
              <a:ext uri="{FF2B5EF4-FFF2-40B4-BE49-F238E27FC236}">
                <a16:creationId xmlns:a16="http://schemas.microsoft.com/office/drawing/2014/main" id="{EC3BE98F-48CF-0A71-05A7-263810F2E4AA}"/>
              </a:ext>
            </a:extLst>
          </p:cNvPr>
          <p:cNvSpPr>
            <a:spLocks noGrp="1"/>
          </p:cNvSpPr>
          <p:nvPr>
            <p:ph type="sldNum" sz="quarter" idx="40"/>
          </p:nvPr>
        </p:nvSpPr>
        <p:spPr/>
        <p:txBody>
          <a:bodyPr/>
          <a:lstStyle/>
          <a:p>
            <a:fld id="{47FEACEE-25B4-4A2D-B147-27296E36371D}" type="slidenum">
              <a:rPr lang="en-US" altLang="zh-CN" smtClean="0"/>
              <a:pPr/>
              <a:t>13</a:t>
            </a:fld>
            <a:endParaRPr lang="en-US" altLang="zh-CN" dirty="0"/>
          </a:p>
        </p:txBody>
      </p:sp>
      <p:pic>
        <p:nvPicPr>
          <p:cNvPr id="13" name="Picture 12">
            <a:extLst>
              <a:ext uri="{FF2B5EF4-FFF2-40B4-BE49-F238E27FC236}">
                <a16:creationId xmlns:a16="http://schemas.microsoft.com/office/drawing/2014/main" id="{F18EDF1B-B5DA-525C-C56C-E74210B3C2CF}"/>
              </a:ext>
            </a:extLst>
          </p:cNvPr>
          <p:cNvPicPr>
            <a:picLocks noChangeAspect="1"/>
          </p:cNvPicPr>
          <p:nvPr/>
        </p:nvPicPr>
        <p:blipFill>
          <a:blip r:embed="rId2"/>
          <a:stretch>
            <a:fillRect/>
          </a:stretch>
        </p:blipFill>
        <p:spPr>
          <a:xfrm>
            <a:off x="3778587" y="3321698"/>
            <a:ext cx="4634825" cy="3231683"/>
          </a:xfrm>
          <a:prstGeom prst="rect">
            <a:avLst/>
          </a:prstGeom>
        </p:spPr>
      </p:pic>
    </p:spTree>
    <p:extLst>
      <p:ext uri="{BB962C8B-B14F-4D97-AF65-F5344CB8AC3E}">
        <p14:creationId xmlns:p14="http://schemas.microsoft.com/office/powerpoint/2010/main" val="1673522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B7AB54-DAAF-298C-E7AA-CC908CA39DC3}"/>
              </a:ext>
            </a:extLst>
          </p:cNvPr>
          <p:cNvSpPr>
            <a:spLocks noGrp="1"/>
          </p:cNvSpPr>
          <p:nvPr>
            <p:ph type="body" sz="quarter" idx="28"/>
          </p:nvPr>
        </p:nvSpPr>
        <p:spPr>
          <a:xfrm>
            <a:off x="243840" y="933062"/>
            <a:ext cx="11318240" cy="5924938"/>
          </a:xfrm>
        </p:spPr>
        <p:txBody>
          <a:bodyPr/>
          <a:lstStyle/>
          <a:p>
            <a:pPr marL="0" indent="0">
              <a:lnSpc>
                <a:spcPct val="107000"/>
              </a:lnSpc>
              <a:spcBef>
                <a:spcPts val="200"/>
              </a:spcBef>
              <a:buNone/>
            </a:pPr>
            <a:r>
              <a:rPr lang="en-US" sz="28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2. </a:t>
            </a:r>
            <a:r>
              <a:rPr lang="en-US" sz="28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Bảng</a:t>
            </a:r>
            <a:r>
              <a:rPr lang="en-US" sz="28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a:t>
            </a:r>
            <a:r>
              <a:rPr lang="en-US" sz="28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Phân</a:t>
            </a:r>
            <a:r>
              <a:rPr lang="en-US" sz="28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a:t>
            </a:r>
            <a:r>
              <a:rPr lang="en-US" sz="28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Đoạn</a:t>
            </a:r>
            <a:r>
              <a:rPr lang="en-US" sz="28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(Segment Table):</a:t>
            </a:r>
          </a:p>
          <a:p>
            <a:pPr marL="0" indent="0">
              <a:spcAft>
                <a:spcPts val="1500"/>
              </a:spcAft>
              <a:buNone/>
            </a:pP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Mỗi</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quá</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trình</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sử</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dụng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một</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bảng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phân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đoạn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để</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ánh</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xạ</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địa</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chỉ</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logic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của</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chương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trình</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thành</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địa</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chỉ</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vật</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lý</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trong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bộ</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nhớ</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Mỗi</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mục</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trong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bảng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chứa</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thông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tin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về</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một</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phân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đoạn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bao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gồm</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cả</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địa</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chỉ</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cơ</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sở</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và</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kích</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thước</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của</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phân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đoạn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đó</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indent="0">
              <a:lnSpc>
                <a:spcPct val="107000"/>
              </a:lnSpc>
              <a:spcBef>
                <a:spcPts val="200"/>
              </a:spcBef>
              <a:buNone/>
            </a:pPr>
            <a:r>
              <a:rPr lang="en-US" sz="28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3. </a:t>
            </a:r>
            <a:r>
              <a:rPr lang="en-US" sz="28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Quản</a:t>
            </a:r>
            <a:r>
              <a:rPr lang="en-US" sz="28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Lý </a:t>
            </a:r>
            <a:r>
              <a:rPr lang="en-US" sz="28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Phân</a:t>
            </a:r>
            <a:r>
              <a:rPr lang="en-US" sz="28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a:t>
            </a:r>
            <a:r>
              <a:rPr lang="en-US" sz="28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Đoạn</a:t>
            </a:r>
            <a:r>
              <a:rPr lang="en-US" sz="28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a:t>
            </a:r>
          </a:p>
          <a:p>
            <a:pPr marL="0" indent="0">
              <a:spcAft>
                <a:spcPts val="1500"/>
              </a:spcAft>
              <a:buNone/>
            </a:pP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Phương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thức</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này</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cho</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phép</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người</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lập</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trình</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quản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lý</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từng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phân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đoạn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như</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là</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một</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thực</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thể</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độc</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lập</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Điều</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này</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giúp</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trong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việc</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mở</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rộng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chương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trình</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và</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duy</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trì</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mã</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nguồn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vì</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mỗi</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phân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đoạn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có</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thể</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được</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phát</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triển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và</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bảo</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trì</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độc</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lập</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8" name="Title 7">
            <a:extLst>
              <a:ext uri="{FF2B5EF4-FFF2-40B4-BE49-F238E27FC236}">
                <a16:creationId xmlns:a16="http://schemas.microsoft.com/office/drawing/2014/main" id="{990BD59C-CC81-1548-2309-CFCCEEC6740B}"/>
              </a:ext>
            </a:extLst>
          </p:cNvPr>
          <p:cNvSpPr>
            <a:spLocks noGrp="1"/>
          </p:cNvSpPr>
          <p:nvPr>
            <p:ph type="title"/>
          </p:nvPr>
        </p:nvSpPr>
        <p:spPr>
          <a:xfrm>
            <a:off x="243840" y="193040"/>
            <a:ext cx="5953760" cy="839755"/>
          </a:xfrm>
        </p:spPr>
        <p:txBody>
          <a:bodyPr/>
          <a:lstStyle/>
          <a:p>
            <a:r>
              <a:rPr lang="en-US" sz="3200" dirty="0">
                <a:solidFill>
                  <a:srgbClr val="C00000"/>
                </a:solidFill>
              </a:rPr>
              <a:t>4.1. </a:t>
            </a:r>
            <a:r>
              <a:rPr lang="en-US" sz="3200" dirty="0" err="1">
                <a:solidFill>
                  <a:srgbClr val="C00000"/>
                </a:solidFill>
              </a:rPr>
              <a:t>Phương</a:t>
            </a:r>
            <a:r>
              <a:rPr lang="en-US" sz="3200" dirty="0">
                <a:solidFill>
                  <a:srgbClr val="C00000"/>
                </a:solidFill>
              </a:rPr>
              <a:t> </a:t>
            </a:r>
            <a:r>
              <a:rPr lang="en-US" sz="3200" dirty="0" err="1">
                <a:solidFill>
                  <a:srgbClr val="C00000"/>
                </a:solidFill>
              </a:rPr>
              <a:t>Pháp</a:t>
            </a:r>
            <a:r>
              <a:rPr lang="en-US" sz="3200" dirty="0">
                <a:solidFill>
                  <a:srgbClr val="C00000"/>
                </a:solidFill>
              </a:rPr>
              <a:t> </a:t>
            </a:r>
            <a:r>
              <a:rPr lang="en-US" sz="3200" dirty="0" err="1">
                <a:solidFill>
                  <a:srgbClr val="C00000"/>
                </a:solidFill>
              </a:rPr>
              <a:t>Cơ</a:t>
            </a:r>
            <a:r>
              <a:rPr lang="en-US" sz="3200" dirty="0">
                <a:solidFill>
                  <a:srgbClr val="C00000"/>
                </a:solidFill>
              </a:rPr>
              <a:t> </a:t>
            </a:r>
            <a:r>
              <a:rPr lang="en-US" sz="3200" dirty="0" err="1">
                <a:solidFill>
                  <a:srgbClr val="C00000"/>
                </a:solidFill>
              </a:rPr>
              <a:t>Bản</a:t>
            </a:r>
            <a:endParaRPr lang="en-US" sz="3200" dirty="0">
              <a:solidFill>
                <a:srgbClr val="C00000"/>
              </a:solidFill>
            </a:endParaRPr>
          </a:p>
        </p:txBody>
      </p:sp>
      <p:sp>
        <p:nvSpPr>
          <p:cNvPr id="12" name="Slide Number Placeholder 11">
            <a:extLst>
              <a:ext uri="{FF2B5EF4-FFF2-40B4-BE49-F238E27FC236}">
                <a16:creationId xmlns:a16="http://schemas.microsoft.com/office/drawing/2014/main" id="{AEFB419D-FB9A-1B9E-19C2-B4ED62B6EDCB}"/>
              </a:ext>
            </a:extLst>
          </p:cNvPr>
          <p:cNvSpPr>
            <a:spLocks noGrp="1"/>
          </p:cNvSpPr>
          <p:nvPr>
            <p:ph type="sldNum" sz="quarter" idx="40"/>
          </p:nvPr>
        </p:nvSpPr>
        <p:spPr/>
        <p:txBody>
          <a:bodyPr/>
          <a:lstStyle/>
          <a:p>
            <a:fld id="{47FEACEE-25B4-4A2D-B147-27296E36371D}" type="slidenum">
              <a:rPr lang="en-US" altLang="zh-CN" smtClean="0"/>
              <a:pPr/>
              <a:t>14</a:t>
            </a:fld>
            <a:endParaRPr lang="en-US" altLang="zh-CN" dirty="0"/>
          </a:p>
        </p:txBody>
      </p:sp>
    </p:spTree>
    <p:extLst>
      <p:ext uri="{BB962C8B-B14F-4D97-AF65-F5344CB8AC3E}">
        <p14:creationId xmlns:p14="http://schemas.microsoft.com/office/powerpoint/2010/main" val="2437896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DD2236A-79AA-8129-6262-BE4860A7814B}"/>
              </a:ext>
            </a:extLst>
          </p:cNvPr>
          <p:cNvSpPr>
            <a:spLocks noGrp="1"/>
          </p:cNvSpPr>
          <p:nvPr>
            <p:ph type="body" sz="quarter" idx="28"/>
          </p:nvPr>
        </p:nvSpPr>
        <p:spPr>
          <a:xfrm>
            <a:off x="284481" y="681135"/>
            <a:ext cx="6410960" cy="6064898"/>
          </a:xfrm>
        </p:spPr>
        <p:txBody>
          <a:bodyPr/>
          <a:lstStyle/>
          <a:p>
            <a:pPr marL="0" indent="0">
              <a:lnSpc>
                <a:spcPct val="107000"/>
              </a:lnSpc>
              <a:spcBef>
                <a:spcPts val="200"/>
              </a:spcBef>
              <a:buNone/>
            </a:pPr>
            <a:r>
              <a:rPr lang="en-US" sz="24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1. Segmentation Hardware:</a:t>
            </a:r>
          </a:p>
          <a:p>
            <a:pPr marL="0" indent="0">
              <a:spcAft>
                <a:spcPts val="1500"/>
              </a:spcAft>
              <a:buNone/>
            </a:pP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Phần</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cứng</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hỗ</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trợ</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bao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gồm</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MMU (Memory Management Unit)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và</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các</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thanh</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ghi</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phân</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đoạn</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(segment registers)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trong</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CPU.</a:t>
            </a:r>
          </a:p>
          <a:p>
            <a:pPr marL="0" indent="0">
              <a:lnSpc>
                <a:spcPct val="107000"/>
              </a:lnSpc>
              <a:spcAft>
                <a:spcPts val="800"/>
              </a:spcAft>
              <a:buSzPts val="1000"/>
              <a:buNone/>
              <a:tabLst>
                <a:tab pos="457200" algn="l"/>
              </a:tabLst>
            </a:pP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MMU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thực</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hiện</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ánh</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xạ</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địa</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chỉ</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logic sang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địa</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chỉ</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vật</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lý</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sử</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dụng</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thông</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tin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từ</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bảng</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phân</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đoạn</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indent="0">
              <a:lnSpc>
                <a:spcPct val="107000"/>
              </a:lnSpc>
              <a:spcAft>
                <a:spcPts val="800"/>
              </a:spcAft>
              <a:buSzPts val="1000"/>
              <a:buNone/>
              <a:tabLst>
                <a:tab pos="457200" algn="l"/>
              </a:tabLst>
            </a:pP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Segment registers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lưu</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trữ</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thông</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tin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về</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phân</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đoạn</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hiện</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tại</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mà</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quá</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trình</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đang</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thao</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tác</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indent="0">
              <a:lnSpc>
                <a:spcPct val="107000"/>
              </a:lnSpc>
              <a:spcBef>
                <a:spcPts val="200"/>
              </a:spcBef>
              <a:buNone/>
            </a:pPr>
            <a:r>
              <a:rPr lang="en-US" sz="24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2. </a:t>
            </a:r>
            <a:r>
              <a:rPr lang="en-US" sz="24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Đơn</a:t>
            </a:r>
            <a:r>
              <a:rPr lang="en-US" sz="24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a:t>
            </a:r>
            <a:r>
              <a:rPr lang="en-US" sz="24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Giản</a:t>
            </a:r>
            <a:r>
              <a:rPr lang="en-US" sz="24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a:t>
            </a:r>
            <a:r>
              <a:rPr lang="en-US" sz="24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Hóa</a:t>
            </a:r>
            <a:r>
              <a:rPr lang="en-US" sz="24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a:t>
            </a:r>
            <a:r>
              <a:rPr lang="en-US" sz="24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Quá</a:t>
            </a:r>
            <a:r>
              <a:rPr lang="en-US" sz="24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a:t>
            </a:r>
            <a:r>
              <a:rPr lang="en-US" sz="24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Trình</a:t>
            </a:r>
            <a:r>
              <a:rPr lang="en-US" sz="24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a:t>
            </a:r>
          </a:p>
          <a:p>
            <a:pPr marL="0" indent="0">
              <a:spcAft>
                <a:spcPts val="1500"/>
              </a:spcAft>
              <a:buNone/>
            </a:pP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Phần</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cứng</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giúp</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đơn</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giản</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hóa</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quá</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trình</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quản</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lý</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phân</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đoạn</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và</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tăng</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tốc</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độ</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truy</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cập</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bộ</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nhớ</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Sự</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kết</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hợp</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giữa</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MMU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và</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segment registers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tạo</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nên</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một</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hệ</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thống</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hiệu</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quả</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để</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quản</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lý</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và</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sử</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dụng</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các</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phân</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đoạn</a:t>
            </a:r>
            <a:r>
              <a:rPr lang="en-US" sz="24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8" name="Title 7">
            <a:extLst>
              <a:ext uri="{FF2B5EF4-FFF2-40B4-BE49-F238E27FC236}">
                <a16:creationId xmlns:a16="http://schemas.microsoft.com/office/drawing/2014/main" id="{A8B50419-C505-8E41-E017-F99766DE386F}"/>
              </a:ext>
            </a:extLst>
          </p:cNvPr>
          <p:cNvSpPr>
            <a:spLocks noGrp="1"/>
          </p:cNvSpPr>
          <p:nvPr>
            <p:ph type="title"/>
          </p:nvPr>
        </p:nvSpPr>
        <p:spPr>
          <a:xfrm>
            <a:off x="284480" y="111967"/>
            <a:ext cx="5212079" cy="681135"/>
          </a:xfrm>
        </p:spPr>
        <p:txBody>
          <a:bodyPr/>
          <a:lstStyle/>
          <a:p>
            <a:r>
              <a:rPr lang="en-US" sz="3200" dirty="0">
                <a:solidFill>
                  <a:srgbClr val="C00000"/>
                </a:solidFill>
              </a:rPr>
              <a:t>4.2. </a:t>
            </a:r>
            <a:r>
              <a:rPr lang="en-US" sz="3200" dirty="0" err="1">
                <a:solidFill>
                  <a:srgbClr val="C00000"/>
                </a:solidFill>
              </a:rPr>
              <a:t>Hỗ</a:t>
            </a:r>
            <a:r>
              <a:rPr lang="en-US" sz="3200" dirty="0">
                <a:solidFill>
                  <a:srgbClr val="C00000"/>
                </a:solidFill>
              </a:rPr>
              <a:t> </a:t>
            </a:r>
            <a:r>
              <a:rPr lang="en-US" sz="3200" dirty="0" err="1">
                <a:solidFill>
                  <a:srgbClr val="C00000"/>
                </a:solidFill>
              </a:rPr>
              <a:t>Trợ</a:t>
            </a:r>
            <a:r>
              <a:rPr lang="en-US" sz="3200" dirty="0">
                <a:solidFill>
                  <a:srgbClr val="C00000"/>
                </a:solidFill>
              </a:rPr>
              <a:t> </a:t>
            </a:r>
            <a:r>
              <a:rPr lang="en-US" sz="3200" dirty="0" err="1">
                <a:solidFill>
                  <a:srgbClr val="C00000"/>
                </a:solidFill>
              </a:rPr>
              <a:t>Phần</a:t>
            </a:r>
            <a:r>
              <a:rPr lang="en-US" sz="3200" dirty="0">
                <a:solidFill>
                  <a:srgbClr val="C00000"/>
                </a:solidFill>
              </a:rPr>
              <a:t> </a:t>
            </a:r>
            <a:r>
              <a:rPr lang="en-US" sz="3200" dirty="0" err="1">
                <a:solidFill>
                  <a:srgbClr val="C00000"/>
                </a:solidFill>
              </a:rPr>
              <a:t>Cứng</a:t>
            </a:r>
            <a:r>
              <a:rPr lang="en-US" sz="3200" dirty="0">
                <a:solidFill>
                  <a:srgbClr val="C00000"/>
                </a:solidFill>
              </a:rPr>
              <a:t> </a:t>
            </a:r>
          </a:p>
        </p:txBody>
      </p:sp>
      <p:sp>
        <p:nvSpPr>
          <p:cNvPr id="12" name="Slide Number Placeholder 11">
            <a:extLst>
              <a:ext uri="{FF2B5EF4-FFF2-40B4-BE49-F238E27FC236}">
                <a16:creationId xmlns:a16="http://schemas.microsoft.com/office/drawing/2014/main" id="{AFBD5FD3-0C76-7513-684F-2BEA7AB7555E}"/>
              </a:ext>
            </a:extLst>
          </p:cNvPr>
          <p:cNvSpPr>
            <a:spLocks noGrp="1"/>
          </p:cNvSpPr>
          <p:nvPr>
            <p:ph type="sldNum" sz="quarter" idx="40"/>
          </p:nvPr>
        </p:nvSpPr>
        <p:spPr/>
        <p:txBody>
          <a:bodyPr/>
          <a:lstStyle/>
          <a:p>
            <a:fld id="{47FEACEE-25B4-4A2D-B147-27296E36371D}" type="slidenum">
              <a:rPr lang="en-US" altLang="zh-CN" smtClean="0"/>
              <a:pPr/>
              <a:t>15</a:t>
            </a:fld>
            <a:endParaRPr lang="en-US" altLang="zh-CN" dirty="0"/>
          </a:p>
        </p:txBody>
      </p:sp>
      <p:pic>
        <p:nvPicPr>
          <p:cNvPr id="13" name="Picture 12">
            <a:extLst>
              <a:ext uri="{FF2B5EF4-FFF2-40B4-BE49-F238E27FC236}">
                <a16:creationId xmlns:a16="http://schemas.microsoft.com/office/drawing/2014/main" id="{45989D16-A408-C429-3C94-F5CED65A8C8F}"/>
              </a:ext>
            </a:extLst>
          </p:cNvPr>
          <p:cNvPicPr>
            <a:picLocks noChangeAspect="1"/>
          </p:cNvPicPr>
          <p:nvPr/>
        </p:nvPicPr>
        <p:blipFill>
          <a:blip r:embed="rId2"/>
          <a:stretch>
            <a:fillRect/>
          </a:stretch>
        </p:blipFill>
        <p:spPr>
          <a:xfrm>
            <a:off x="6695441" y="681135"/>
            <a:ext cx="5324669" cy="4432039"/>
          </a:xfrm>
          <a:prstGeom prst="rect">
            <a:avLst/>
          </a:prstGeom>
        </p:spPr>
      </p:pic>
    </p:spTree>
    <p:extLst>
      <p:ext uri="{BB962C8B-B14F-4D97-AF65-F5344CB8AC3E}">
        <p14:creationId xmlns:p14="http://schemas.microsoft.com/office/powerpoint/2010/main" val="3769690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8D083C7-8144-64FC-5DFE-E77B35AF7525}"/>
              </a:ext>
            </a:extLst>
          </p:cNvPr>
          <p:cNvSpPr>
            <a:spLocks noGrp="1"/>
          </p:cNvSpPr>
          <p:nvPr>
            <p:ph type="body" sz="quarter" idx="28"/>
          </p:nvPr>
        </p:nvSpPr>
        <p:spPr>
          <a:xfrm>
            <a:off x="152400" y="895739"/>
            <a:ext cx="11714480" cy="1044821"/>
          </a:xfrm>
        </p:spPr>
        <p:txBody>
          <a:bodyPr/>
          <a:lstStyle/>
          <a:p>
            <a:pPr marL="0" indent="0">
              <a:buNone/>
            </a:pP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Phương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thức</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Paging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trong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RAM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là</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một</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kỹ</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thuật</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quản</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lý</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bộ</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nhớ</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có</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hiệu</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suất</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cao</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giúp</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ánh</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xạ</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địa</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chỉ</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logic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của</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chương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trình</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thành</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địa</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chỉ</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vật</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lý</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trong</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bộ</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nhớ</a:t>
            </a:r>
            <a:r>
              <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0" indent="0">
              <a:buNone/>
            </a:pPr>
            <a:endPar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8" name="Title 7">
            <a:extLst>
              <a:ext uri="{FF2B5EF4-FFF2-40B4-BE49-F238E27FC236}">
                <a16:creationId xmlns:a16="http://schemas.microsoft.com/office/drawing/2014/main" id="{7983BC70-A497-8E2F-3502-72D46C7463CA}"/>
              </a:ext>
            </a:extLst>
          </p:cNvPr>
          <p:cNvSpPr>
            <a:spLocks noGrp="1"/>
          </p:cNvSpPr>
          <p:nvPr>
            <p:ph type="title"/>
          </p:nvPr>
        </p:nvSpPr>
        <p:spPr>
          <a:xfrm>
            <a:off x="152400" y="184539"/>
            <a:ext cx="5094514" cy="711200"/>
          </a:xfrm>
        </p:spPr>
        <p:txBody>
          <a:bodyPr/>
          <a:lstStyle/>
          <a:p>
            <a:r>
              <a:rPr lang="en-US" sz="4000" dirty="0">
                <a:solidFill>
                  <a:srgbClr val="C00000"/>
                </a:solidFill>
              </a:rPr>
              <a:t>5. </a:t>
            </a:r>
            <a:r>
              <a:rPr lang="en-US" sz="4000" dirty="0" err="1">
                <a:solidFill>
                  <a:srgbClr val="C00000"/>
                </a:solidFill>
              </a:rPr>
              <a:t>Phân</a:t>
            </a:r>
            <a:r>
              <a:rPr lang="en-US" sz="4000" dirty="0">
                <a:solidFill>
                  <a:srgbClr val="C00000"/>
                </a:solidFill>
              </a:rPr>
              <a:t> Trang (Paging)</a:t>
            </a:r>
          </a:p>
        </p:txBody>
      </p:sp>
      <p:sp>
        <p:nvSpPr>
          <p:cNvPr id="12" name="Slide Number Placeholder 11">
            <a:extLst>
              <a:ext uri="{FF2B5EF4-FFF2-40B4-BE49-F238E27FC236}">
                <a16:creationId xmlns:a16="http://schemas.microsoft.com/office/drawing/2014/main" id="{A729F96A-08DA-05CE-6BE6-ADE7DFF85060}"/>
              </a:ext>
            </a:extLst>
          </p:cNvPr>
          <p:cNvSpPr>
            <a:spLocks noGrp="1"/>
          </p:cNvSpPr>
          <p:nvPr>
            <p:ph type="sldNum" sz="quarter" idx="40"/>
          </p:nvPr>
        </p:nvSpPr>
        <p:spPr/>
        <p:txBody>
          <a:bodyPr/>
          <a:lstStyle/>
          <a:p>
            <a:fld id="{47FEACEE-25B4-4A2D-B147-27296E36371D}" type="slidenum">
              <a:rPr lang="en-US" altLang="zh-CN" smtClean="0"/>
              <a:pPr/>
              <a:t>16</a:t>
            </a:fld>
            <a:endParaRPr lang="en-US" altLang="zh-CN" dirty="0"/>
          </a:p>
        </p:txBody>
      </p:sp>
      <p:sp>
        <p:nvSpPr>
          <p:cNvPr id="2" name="TextBox 1">
            <a:extLst>
              <a:ext uri="{FF2B5EF4-FFF2-40B4-BE49-F238E27FC236}">
                <a16:creationId xmlns:a16="http://schemas.microsoft.com/office/drawing/2014/main" id="{1F4594D0-CC91-48D9-8F74-4EB9B6E96C8C}"/>
              </a:ext>
            </a:extLst>
          </p:cNvPr>
          <p:cNvSpPr txBox="1"/>
          <p:nvPr/>
        </p:nvSpPr>
        <p:spPr>
          <a:xfrm>
            <a:off x="152400" y="2367280"/>
            <a:ext cx="11714480" cy="2364109"/>
          </a:xfrm>
          <a:prstGeom prst="rect">
            <a:avLst/>
          </a:prstGeom>
        </p:spPr>
        <p:txBody>
          <a:bodyPr wrap="square" rtlCol="0">
            <a:spAutoFit/>
          </a:bodyPr>
          <a:lstStyle/>
          <a:p>
            <a:pPr marL="0" indent="0">
              <a:buNone/>
            </a:pPr>
            <a:r>
              <a:rPr lang="en-US" sz="3200" b="1" dirty="0">
                <a:solidFill>
                  <a:srgbClr val="C00000"/>
                </a:solidFill>
                <a:latin typeface="+mj-lt"/>
              </a:rPr>
              <a:t>5.1. </a:t>
            </a:r>
            <a:r>
              <a:rPr lang="en-US" sz="3200" b="1" dirty="0" err="1">
                <a:solidFill>
                  <a:srgbClr val="C00000"/>
                </a:solidFill>
                <a:latin typeface="+mj-lt"/>
              </a:rPr>
              <a:t>Phương</a:t>
            </a:r>
            <a:r>
              <a:rPr lang="en-US" sz="3200" b="1" dirty="0">
                <a:solidFill>
                  <a:srgbClr val="C00000"/>
                </a:solidFill>
                <a:latin typeface="+mj-lt"/>
              </a:rPr>
              <a:t> </a:t>
            </a:r>
            <a:r>
              <a:rPr lang="en-US" sz="3200" b="1" dirty="0" err="1">
                <a:solidFill>
                  <a:srgbClr val="C00000"/>
                </a:solidFill>
                <a:latin typeface="+mj-lt"/>
              </a:rPr>
              <a:t>Pháp</a:t>
            </a:r>
            <a:r>
              <a:rPr lang="en-US" sz="3200" b="1" dirty="0">
                <a:solidFill>
                  <a:srgbClr val="C00000"/>
                </a:solidFill>
                <a:latin typeface="+mj-lt"/>
              </a:rPr>
              <a:t> </a:t>
            </a:r>
            <a:r>
              <a:rPr lang="en-US" sz="3200" b="1" dirty="0" err="1">
                <a:solidFill>
                  <a:srgbClr val="C00000"/>
                </a:solidFill>
                <a:latin typeface="+mj-lt"/>
              </a:rPr>
              <a:t>Cơ</a:t>
            </a:r>
            <a:r>
              <a:rPr lang="en-US" sz="3200" b="1" dirty="0">
                <a:solidFill>
                  <a:srgbClr val="C00000"/>
                </a:solidFill>
                <a:latin typeface="+mj-lt"/>
              </a:rPr>
              <a:t> </a:t>
            </a:r>
            <a:r>
              <a:rPr lang="en-US" sz="3200" b="1" dirty="0" err="1">
                <a:solidFill>
                  <a:srgbClr val="C00000"/>
                </a:solidFill>
                <a:latin typeface="+mj-lt"/>
              </a:rPr>
              <a:t>Bản</a:t>
            </a:r>
            <a:endParaRPr lang="en-US" sz="3200" b="1" dirty="0">
              <a:solidFill>
                <a:srgbClr val="C00000"/>
              </a:solidFill>
              <a:latin typeface="+mj-lt"/>
            </a:endParaRPr>
          </a:p>
          <a:p>
            <a:pPr marL="0" indent="0">
              <a:lnSpc>
                <a:spcPct val="107000"/>
              </a:lnSpc>
              <a:spcBef>
                <a:spcPts val="200"/>
              </a:spcBef>
              <a:buNone/>
            </a:pPr>
            <a:r>
              <a:rPr lang="en-US" sz="28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1. </a:t>
            </a:r>
            <a:r>
              <a:rPr lang="en-US" sz="28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Khái</a:t>
            </a:r>
            <a:r>
              <a:rPr lang="en-US" sz="28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a:t>
            </a:r>
            <a:r>
              <a:rPr lang="en-US" sz="28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Niệm</a:t>
            </a:r>
            <a:r>
              <a:rPr lang="en-US" sz="28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a:t>
            </a:r>
            <a:r>
              <a:rPr lang="en-US" sz="28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Cơ</a:t>
            </a:r>
            <a:r>
              <a:rPr lang="en-US" sz="28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a:t>
            </a:r>
            <a:r>
              <a:rPr lang="en-US" sz="28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Bản</a:t>
            </a:r>
            <a:r>
              <a:rPr lang="en-US" sz="28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a:t>
            </a:r>
          </a:p>
          <a:p>
            <a:pPr marL="0" indent="0">
              <a:spcAft>
                <a:spcPts val="1500"/>
              </a:spcAft>
              <a:buNone/>
            </a:pPr>
            <a:r>
              <a:rPr lang="en-US" sz="280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a:effectLst/>
                <a:latin typeface="Calibri" panose="020F0502020204030204" pitchFamily="34" charset="0"/>
                <a:ea typeface="Calibri" panose="020F0502020204030204" pitchFamily="34" charset="0"/>
                <a:cs typeface="Calibri" panose="020F0502020204030204" pitchFamily="34" charset="0"/>
              </a:rPr>
              <a:t>Paging chia </a:t>
            </a:r>
            <a:r>
              <a:rPr lang="en-US" sz="2800" dirty="0" err="1">
                <a:effectLst/>
                <a:latin typeface="Calibri" panose="020F0502020204030204" pitchFamily="34" charset="0"/>
                <a:ea typeface="Calibri" panose="020F0502020204030204" pitchFamily="34" charset="0"/>
                <a:cs typeface="Calibri" panose="020F0502020204030204" pitchFamily="34" charset="0"/>
              </a:rPr>
              <a:t>bộ</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nhớ</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thành</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các</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trang</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có</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kích</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thước</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cố</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định</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thường</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là</a:t>
            </a:r>
            <a:r>
              <a:rPr lang="en-US" sz="2800" dirty="0">
                <a:effectLst/>
                <a:latin typeface="Calibri" panose="020F0502020204030204" pitchFamily="34" charset="0"/>
                <a:ea typeface="Calibri" panose="020F0502020204030204" pitchFamily="34" charset="0"/>
                <a:cs typeface="Calibri" panose="020F0502020204030204" pitchFamily="34" charset="0"/>
              </a:rPr>
              <a:t> 4 KB </a:t>
            </a:r>
            <a:r>
              <a:rPr lang="en-US" sz="2800" dirty="0" err="1">
                <a:effectLst/>
                <a:latin typeface="Calibri" panose="020F0502020204030204" pitchFamily="34" charset="0"/>
                <a:ea typeface="Calibri" panose="020F0502020204030204" pitchFamily="34" charset="0"/>
                <a:cs typeface="Calibri" panose="020F0502020204030204" pitchFamily="34" charset="0"/>
              </a:rPr>
              <a:t>hoặc</a:t>
            </a:r>
            <a:r>
              <a:rPr lang="en-US" sz="2800" dirty="0">
                <a:effectLst/>
                <a:latin typeface="Calibri" panose="020F0502020204030204" pitchFamily="34" charset="0"/>
                <a:ea typeface="Calibri" panose="020F0502020204030204" pitchFamily="34" charset="0"/>
                <a:cs typeface="Calibri" panose="020F0502020204030204" pitchFamily="34" charset="0"/>
              </a:rPr>
              <a:t> 8 KB. </a:t>
            </a:r>
            <a:r>
              <a:rPr lang="en-US" sz="2800" dirty="0" err="1">
                <a:effectLst/>
                <a:latin typeface="Calibri" panose="020F0502020204030204" pitchFamily="34" charset="0"/>
                <a:ea typeface="Calibri" panose="020F0502020204030204" pitchFamily="34" charset="0"/>
                <a:cs typeface="Calibri" panose="020F0502020204030204" pitchFamily="34" charset="0"/>
              </a:rPr>
              <a:t>Mỗi</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trang</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được</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ánh</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xạ</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với</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một</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trang</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khung</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trong</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bộ</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nhớ</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vật</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lý</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tạo</a:t>
            </a:r>
            <a:r>
              <a:rPr lang="en-US" sz="2800" dirty="0">
                <a:effectLst/>
                <a:latin typeface="Calibri" panose="020F0502020204030204" pitchFamily="34" charset="0"/>
                <a:ea typeface="Calibri" panose="020F0502020204030204" pitchFamily="34" charset="0"/>
                <a:cs typeface="Calibri" panose="020F0502020204030204" pitchFamily="34" charset="0"/>
              </a:rPr>
              <a:t> ra </a:t>
            </a:r>
            <a:r>
              <a:rPr lang="en-US" sz="2800" dirty="0" err="1">
                <a:effectLst/>
                <a:latin typeface="Calibri" panose="020F0502020204030204" pitchFamily="34" charset="0"/>
                <a:ea typeface="Calibri" panose="020F0502020204030204" pitchFamily="34" charset="0"/>
                <a:cs typeface="Calibri" panose="020F0502020204030204" pitchFamily="34" charset="0"/>
              </a:rPr>
              <a:t>một</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không</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gian</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địa</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chỉ</a:t>
            </a:r>
            <a:r>
              <a:rPr lang="en-US" sz="2800" dirty="0">
                <a:effectLst/>
                <a:latin typeface="Calibri" panose="020F0502020204030204" pitchFamily="34" charset="0"/>
                <a:ea typeface="Calibri" panose="020F0502020204030204" pitchFamily="34" charset="0"/>
                <a:cs typeface="Calibri" panose="020F0502020204030204" pitchFamily="34" charset="0"/>
              </a:rPr>
              <a:t> logic </a:t>
            </a:r>
            <a:r>
              <a:rPr lang="en-US" sz="2800" dirty="0" err="1">
                <a:effectLst/>
                <a:latin typeface="Calibri" panose="020F0502020204030204" pitchFamily="34" charset="0"/>
                <a:ea typeface="Calibri" panose="020F0502020204030204" pitchFamily="34" charset="0"/>
                <a:cs typeface="Calibri" panose="020F0502020204030204" pitchFamily="34" charset="0"/>
              </a:rPr>
              <a:t>liên</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err="1">
                <a:effectLst/>
                <a:latin typeface="Calibri" panose="020F0502020204030204" pitchFamily="34" charset="0"/>
                <a:ea typeface="Calibri" panose="020F0502020204030204" pitchFamily="34" charset="0"/>
                <a:cs typeface="Calibri" panose="020F0502020204030204" pitchFamily="34" charset="0"/>
              </a:rPr>
              <a:t>tục</a:t>
            </a:r>
            <a:r>
              <a:rPr lang="en-US" sz="2800" dirty="0">
                <a:effectLst/>
                <a:latin typeface="Calibri" panose="020F0502020204030204" pitchFamily="34" charset="0"/>
                <a:ea typeface="Calibri" panose="020F0502020204030204" pitchFamily="34" charset="0"/>
                <a:cs typeface="Calibri" panose="020F0502020204030204" pitchFamily="34" charset="0"/>
              </a:rPr>
              <a:t>.</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7802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D59BA85-19CD-4038-8E0A-81183CA4D832}"/>
              </a:ext>
            </a:extLst>
          </p:cNvPr>
          <p:cNvPicPr/>
          <p:nvPr/>
        </p:nvPicPr>
        <p:blipFill>
          <a:blip r:embed="rId2"/>
          <a:stretch>
            <a:fillRect/>
          </a:stretch>
        </p:blipFill>
        <p:spPr>
          <a:xfrm>
            <a:off x="524191" y="297497"/>
            <a:ext cx="5307387" cy="5270183"/>
          </a:xfrm>
          <a:prstGeom prst="rect">
            <a:avLst/>
          </a:prstGeom>
        </p:spPr>
      </p:pic>
      <p:pic>
        <p:nvPicPr>
          <p:cNvPr id="11" name="Picture 10">
            <a:extLst>
              <a:ext uri="{FF2B5EF4-FFF2-40B4-BE49-F238E27FC236}">
                <a16:creationId xmlns:a16="http://schemas.microsoft.com/office/drawing/2014/main" id="{742C9BCA-4C0B-4ECB-A71C-DBC2C873C77F}"/>
              </a:ext>
            </a:extLst>
          </p:cNvPr>
          <p:cNvPicPr/>
          <p:nvPr/>
        </p:nvPicPr>
        <p:blipFill>
          <a:blip r:embed="rId3"/>
          <a:stretch>
            <a:fillRect/>
          </a:stretch>
        </p:blipFill>
        <p:spPr>
          <a:xfrm>
            <a:off x="6360423" y="297497"/>
            <a:ext cx="5425440" cy="5944572"/>
          </a:xfrm>
          <a:prstGeom prst="rect">
            <a:avLst/>
          </a:prstGeom>
        </p:spPr>
      </p:pic>
    </p:spTree>
    <p:extLst>
      <p:ext uri="{BB962C8B-B14F-4D97-AF65-F5344CB8AC3E}">
        <p14:creationId xmlns:p14="http://schemas.microsoft.com/office/powerpoint/2010/main" val="585487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FC834D3-562C-AF6E-3B0F-FCB62FC1D24D}"/>
              </a:ext>
            </a:extLst>
          </p:cNvPr>
          <p:cNvSpPr>
            <a:spLocks noGrp="1"/>
          </p:cNvSpPr>
          <p:nvPr>
            <p:ph type="body" sz="quarter" idx="28"/>
          </p:nvPr>
        </p:nvSpPr>
        <p:spPr>
          <a:xfrm>
            <a:off x="294640" y="948404"/>
            <a:ext cx="11602720" cy="4869958"/>
          </a:xfrm>
        </p:spPr>
        <p:txBody>
          <a:bodyPr/>
          <a:lstStyle/>
          <a:p>
            <a:pPr marL="0" indent="0">
              <a:lnSpc>
                <a:spcPct val="107000"/>
              </a:lnSpc>
              <a:spcBef>
                <a:spcPts val="200"/>
              </a:spcBef>
              <a:buNone/>
            </a:pPr>
            <a:r>
              <a:rPr lang="en-US" sz="28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2. </a:t>
            </a:r>
            <a:r>
              <a:rPr lang="en-US" sz="28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Bảng</a:t>
            </a:r>
            <a:r>
              <a:rPr lang="en-US" sz="28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Trang (Page Table):</a:t>
            </a:r>
          </a:p>
          <a:p>
            <a:pPr marL="0" lvl="0" indent="0">
              <a:lnSpc>
                <a:spcPct val="107000"/>
              </a:lnSpc>
              <a:spcAft>
                <a:spcPts val="800"/>
              </a:spcAft>
              <a:buSzPts val="1000"/>
              <a:buNone/>
              <a:tabLst>
                <a:tab pos="457200" algn="l"/>
              </a:tabLst>
            </a:pP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Mỗi</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quá</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trình</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sử</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dụng</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một</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bảng</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trang</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để</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ánh</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xạ</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địa</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chỉ</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logic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thành</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địa</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chỉ</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thực</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lvl="0" indent="0">
              <a:lnSpc>
                <a:spcPct val="107000"/>
              </a:lnSpc>
              <a:spcAft>
                <a:spcPts val="800"/>
              </a:spcAft>
              <a:buSzPts val="1000"/>
              <a:buNone/>
              <a:tabLst>
                <a:tab pos="457200" algn="l"/>
              </a:tabLst>
            </a:pP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Bảng</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trang</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bao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gồm</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các</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bản</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ghi</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mỗi</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bản</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ghi</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chứa</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thông</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tin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về</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một</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trang</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và</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frame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tương</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ứng</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indent="0">
              <a:lnSpc>
                <a:spcPct val="107000"/>
              </a:lnSpc>
              <a:spcBef>
                <a:spcPts val="200"/>
              </a:spcBef>
              <a:buNone/>
            </a:pPr>
            <a:r>
              <a:rPr lang="en-US" sz="28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3. </a:t>
            </a:r>
            <a:r>
              <a:rPr lang="en-US" sz="28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Quá</a:t>
            </a:r>
            <a:r>
              <a:rPr lang="en-US" sz="28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a:t>
            </a:r>
            <a:r>
              <a:rPr lang="en-US" sz="28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Trình</a:t>
            </a:r>
            <a:r>
              <a:rPr lang="en-US" sz="28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Page Fault:</a:t>
            </a:r>
          </a:p>
          <a:p>
            <a:pPr marL="0" lvl="0" indent="0">
              <a:lnSpc>
                <a:spcPct val="107000"/>
              </a:lnSpc>
              <a:spcAft>
                <a:spcPts val="800"/>
              </a:spcAft>
              <a:buSzPts val="1000"/>
              <a:buNone/>
              <a:tabLst>
                <a:tab pos="457200" algn="l"/>
              </a:tabLst>
            </a:pP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Khi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một</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chương</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trình</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cố</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gắng</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truy</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cập</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một</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trang</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chưa</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nằm</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trong</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bộ</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nhớ</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xảy</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ra</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"page fault."</a:t>
            </a:r>
          </a:p>
          <a:p>
            <a:pPr marL="0" lvl="0" indent="0">
              <a:lnSpc>
                <a:spcPct val="107000"/>
              </a:lnSpc>
              <a:spcAft>
                <a:spcPts val="800"/>
              </a:spcAft>
              <a:buSzPts val="1000"/>
              <a:buNone/>
              <a:tabLst>
                <a:tab pos="457200" algn="l"/>
              </a:tabLst>
            </a:pP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Hệ</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điều</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hành</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phải</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đọc</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trang</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từ</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bộ</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nhớ</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thứ</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cấp</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và</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nạp</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vào</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trang</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khung</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tương</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ứng</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trong</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bộ</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nhớ</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vật</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lý</a:t>
            </a:r>
            <a:r>
              <a:rPr lang="en-US" sz="2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p:txBody>
      </p:sp>
      <p:sp>
        <p:nvSpPr>
          <p:cNvPr id="8" name="Title 7">
            <a:extLst>
              <a:ext uri="{FF2B5EF4-FFF2-40B4-BE49-F238E27FC236}">
                <a16:creationId xmlns:a16="http://schemas.microsoft.com/office/drawing/2014/main" id="{262C5E4C-A436-7F5F-F951-802D11936C3B}"/>
              </a:ext>
            </a:extLst>
          </p:cNvPr>
          <p:cNvSpPr>
            <a:spLocks noGrp="1"/>
          </p:cNvSpPr>
          <p:nvPr>
            <p:ph type="title"/>
          </p:nvPr>
        </p:nvSpPr>
        <p:spPr>
          <a:xfrm>
            <a:off x="294640" y="233265"/>
            <a:ext cx="4643120" cy="718457"/>
          </a:xfrm>
        </p:spPr>
        <p:txBody>
          <a:bodyPr/>
          <a:lstStyle/>
          <a:p>
            <a:r>
              <a:rPr lang="en-US" sz="3200" dirty="0">
                <a:solidFill>
                  <a:srgbClr val="C00000"/>
                </a:solidFill>
              </a:rPr>
              <a:t>5.1. </a:t>
            </a:r>
            <a:r>
              <a:rPr lang="en-US" sz="3200" dirty="0" err="1">
                <a:solidFill>
                  <a:srgbClr val="C00000"/>
                </a:solidFill>
              </a:rPr>
              <a:t>Phương</a:t>
            </a:r>
            <a:r>
              <a:rPr lang="en-US" sz="3200" dirty="0">
                <a:solidFill>
                  <a:srgbClr val="C00000"/>
                </a:solidFill>
              </a:rPr>
              <a:t> </a:t>
            </a:r>
            <a:r>
              <a:rPr lang="en-US" sz="3200" dirty="0" err="1">
                <a:solidFill>
                  <a:srgbClr val="C00000"/>
                </a:solidFill>
              </a:rPr>
              <a:t>Pháp</a:t>
            </a:r>
            <a:r>
              <a:rPr lang="en-US" sz="3200" dirty="0">
                <a:solidFill>
                  <a:srgbClr val="C00000"/>
                </a:solidFill>
              </a:rPr>
              <a:t> </a:t>
            </a:r>
            <a:r>
              <a:rPr lang="en-US" sz="3200" dirty="0" err="1">
                <a:solidFill>
                  <a:srgbClr val="C00000"/>
                </a:solidFill>
              </a:rPr>
              <a:t>Cơ</a:t>
            </a:r>
            <a:r>
              <a:rPr lang="en-US" sz="3200" dirty="0">
                <a:solidFill>
                  <a:srgbClr val="C00000"/>
                </a:solidFill>
              </a:rPr>
              <a:t> </a:t>
            </a:r>
            <a:r>
              <a:rPr lang="en-US" sz="3200" dirty="0" err="1">
                <a:solidFill>
                  <a:srgbClr val="C00000"/>
                </a:solidFill>
              </a:rPr>
              <a:t>Bản</a:t>
            </a:r>
            <a:r>
              <a:rPr lang="en-US" sz="3200" dirty="0">
                <a:solidFill>
                  <a:srgbClr val="C00000"/>
                </a:solidFill>
              </a:rPr>
              <a:t> </a:t>
            </a:r>
          </a:p>
        </p:txBody>
      </p:sp>
      <p:sp>
        <p:nvSpPr>
          <p:cNvPr id="12" name="Slide Number Placeholder 11">
            <a:extLst>
              <a:ext uri="{FF2B5EF4-FFF2-40B4-BE49-F238E27FC236}">
                <a16:creationId xmlns:a16="http://schemas.microsoft.com/office/drawing/2014/main" id="{FA259814-8AE8-1070-AA6D-FDE3486F0236}"/>
              </a:ext>
            </a:extLst>
          </p:cNvPr>
          <p:cNvSpPr>
            <a:spLocks noGrp="1"/>
          </p:cNvSpPr>
          <p:nvPr>
            <p:ph type="sldNum" sz="quarter" idx="40"/>
          </p:nvPr>
        </p:nvSpPr>
        <p:spPr/>
        <p:txBody>
          <a:bodyPr/>
          <a:lstStyle/>
          <a:p>
            <a:fld id="{47FEACEE-25B4-4A2D-B147-27296E36371D}" type="slidenum">
              <a:rPr lang="en-US" altLang="zh-CN" smtClean="0"/>
              <a:pPr/>
              <a:t>18</a:t>
            </a:fld>
            <a:endParaRPr lang="en-US" altLang="zh-CN" dirty="0"/>
          </a:p>
        </p:txBody>
      </p:sp>
    </p:spTree>
    <p:extLst>
      <p:ext uri="{BB962C8B-B14F-4D97-AF65-F5344CB8AC3E}">
        <p14:creationId xmlns:p14="http://schemas.microsoft.com/office/powerpoint/2010/main" val="538850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4929358-917F-69C3-D125-9EE9FA6D0D04}"/>
              </a:ext>
            </a:extLst>
          </p:cNvPr>
          <p:cNvSpPr>
            <a:spLocks noGrp="1"/>
          </p:cNvSpPr>
          <p:nvPr>
            <p:ph type="body" sz="quarter" idx="28"/>
          </p:nvPr>
        </p:nvSpPr>
        <p:spPr>
          <a:xfrm>
            <a:off x="213359" y="783771"/>
            <a:ext cx="11439401" cy="5962260"/>
          </a:xfrm>
        </p:spPr>
        <p:txBody>
          <a:bodyPr/>
          <a:lstStyle/>
          <a:p>
            <a:pPr marL="0" indent="0">
              <a:lnSpc>
                <a:spcPct val="107000"/>
              </a:lnSpc>
              <a:spcBef>
                <a:spcPts val="200"/>
              </a:spcBef>
              <a:buNone/>
            </a:pPr>
            <a:r>
              <a:rPr lang="en-US" sz="32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1. MMU (Memory Management Unit):</a:t>
            </a:r>
          </a:p>
          <a:p>
            <a:pPr marL="0" lvl="0" indent="0">
              <a:lnSpc>
                <a:spcPct val="107000"/>
              </a:lnSpc>
              <a:spcAft>
                <a:spcPts val="800"/>
              </a:spcAft>
              <a:buSzPts val="1000"/>
              <a:buNone/>
              <a:tabLst>
                <a:tab pos="457200" algn="l"/>
              </a:tabLst>
            </a:pP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MMU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là</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một</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thành</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phần</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chính</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trong</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CPU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giúp</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thực</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hiện</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ánh</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xạ</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địa</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chỉ</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logic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thành</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địa</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chỉ</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vật</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lý</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lvl="0" indent="0">
              <a:lnSpc>
                <a:spcPct val="107000"/>
              </a:lnSpc>
              <a:spcAft>
                <a:spcPts val="800"/>
              </a:spcAft>
              <a:buSzPts val="1000"/>
              <a:buNone/>
              <a:tabLst>
                <a:tab pos="457200" algn="l"/>
              </a:tabLst>
            </a:pP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Nó</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sử</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dụng</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thông</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tin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từ</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bảng</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trang</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để</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thực</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hiện</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việc</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này</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indent="0">
              <a:lnSpc>
                <a:spcPct val="107000"/>
              </a:lnSpc>
              <a:spcBef>
                <a:spcPts val="200"/>
              </a:spcBef>
              <a:buNone/>
            </a:pPr>
            <a:r>
              <a:rPr lang="en-US" sz="32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2. TLB (Translation Lookaside Buffer):</a:t>
            </a:r>
          </a:p>
          <a:p>
            <a:pPr marL="0" lvl="0" indent="0">
              <a:lnSpc>
                <a:spcPct val="107000"/>
              </a:lnSpc>
              <a:spcAft>
                <a:spcPts val="800"/>
              </a:spcAft>
              <a:buSzPts val="1000"/>
              <a:buNone/>
              <a:tabLst>
                <a:tab pos="457200" algn="l"/>
              </a:tabLst>
            </a:pP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TLB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là</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một</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bộ</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nhớ</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cache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giữa</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CPU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và</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MMU,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lưu</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trữ</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các</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cặp</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trang</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và</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trang</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khung</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phổ</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biến</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lvl="0" indent="0">
              <a:lnSpc>
                <a:spcPct val="107000"/>
              </a:lnSpc>
              <a:spcAft>
                <a:spcPts val="800"/>
              </a:spcAft>
              <a:buSzPts val="1000"/>
              <a:buNone/>
              <a:tabLst>
                <a:tab pos="457200" algn="l"/>
              </a:tabLst>
            </a:pP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Giúp</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giảm</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độ</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trễ</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trong</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quá</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trình</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ánh</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xạ</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địa</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chỉ</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indent="0">
              <a:lnSpc>
                <a:spcPct val="107000"/>
              </a:lnSpc>
              <a:spcBef>
                <a:spcPts val="200"/>
              </a:spcBef>
              <a:buNone/>
            </a:pPr>
            <a:r>
              <a:rPr lang="en-US" sz="32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3. </a:t>
            </a:r>
            <a:r>
              <a:rPr lang="en-US" sz="32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Đơn</a:t>
            </a:r>
            <a:r>
              <a:rPr lang="en-US" sz="32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a:t>
            </a:r>
            <a:r>
              <a:rPr lang="en-US" sz="32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Giản</a:t>
            </a:r>
            <a:r>
              <a:rPr lang="en-US" sz="32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a:t>
            </a:r>
            <a:r>
              <a:rPr lang="en-US" sz="32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Hóa</a:t>
            </a:r>
            <a:r>
              <a:rPr lang="en-US" sz="32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a:t>
            </a:r>
            <a:r>
              <a:rPr lang="en-US" sz="32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Quá</a:t>
            </a:r>
            <a:r>
              <a:rPr lang="en-US" sz="32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 </a:t>
            </a:r>
            <a:r>
              <a:rPr lang="en-US" sz="3200" i="1" kern="100" dirty="0" err="1">
                <a:solidFill>
                  <a:srgbClr val="2F5496"/>
                </a:solidFill>
                <a:effectLst/>
                <a:latin typeface="Calibri" panose="020F0502020204030204" pitchFamily="34" charset="0"/>
                <a:ea typeface="Calibri" panose="020F0502020204030204" pitchFamily="34" charset="0"/>
                <a:cs typeface="Calibri" panose="020F0502020204030204" pitchFamily="34" charset="0"/>
              </a:rPr>
              <a:t>Trình</a:t>
            </a:r>
            <a:r>
              <a:rPr lang="en-US" sz="3200" i="1" kern="100" dirty="0">
                <a:solidFill>
                  <a:srgbClr val="2F5496"/>
                </a:solidFill>
                <a:effectLst/>
                <a:latin typeface="Calibri" panose="020F0502020204030204" pitchFamily="34" charset="0"/>
                <a:ea typeface="Calibri" panose="020F0502020204030204" pitchFamily="34" charset="0"/>
                <a:cs typeface="Calibri" panose="020F0502020204030204" pitchFamily="34" charset="0"/>
              </a:rPr>
              <a:t>:</a:t>
            </a:r>
          </a:p>
          <a:p>
            <a:pPr marL="0" lvl="0" indent="0">
              <a:lnSpc>
                <a:spcPct val="107000"/>
              </a:lnSpc>
              <a:spcAft>
                <a:spcPts val="800"/>
              </a:spcAft>
              <a:buSzPts val="1000"/>
              <a:buNone/>
              <a:tabLst>
                <a:tab pos="457200" algn="l"/>
              </a:tabLst>
            </a:pP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Hardware support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giúp</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đơn</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giản</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hóa</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quá</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trình</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ánh</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xạ</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và</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tăng</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tốc</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độ</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truy</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cập</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bộ</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nhớ</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lvl="0" indent="0">
              <a:lnSpc>
                <a:spcPct val="107000"/>
              </a:lnSpc>
              <a:spcAft>
                <a:spcPts val="800"/>
              </a:spcAft>
              <a:buSzPts val="1000"/>
              <a:buNone/>
              <a:tabLst>
                <a:tab pos="457200" algn="l"/>
              </a:tabLst>
            </a:pP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TLB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cung</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cấp</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một</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cơ</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chế</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caching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thông</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tin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ánh</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xạ</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phổ</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biến</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giảm</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thời</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gian</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truy</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cập</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bảng</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trang</a:t>
            </a:r>
            <a:r>
              <a:rPr lang="en-US" sz="24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endParaRPr lang="en-US" dirty="0"/>
          </a:p>
        </p:txBody>
      </p:sp>
      <p:sp>
        <p:nvSpPr>
          <p:cNvPr id="8" name="Title 7">
            <a:extLst>
              <a:ext uri="{FF2B5EF4-FFF2-40B4-BE49-F238E27FC236}">
                <a16:creationId xmlns:a16="http://schemas.microsoft.com/office/drawing/2014/main" id="{ED4DBB52-B6AC-6644-6639-1F9C477C85D8}"/>
              </a:ext>
            </a:extLst>
          </p:cNvPr>
          <p:cNvSpPr>
            <a:spLocks noGrp="1"/>
          </p:cNvSpPr>
          <p:nvPr>
            <p:ph type="title"/>
          </p:nvPr>
        </p:nvSpPr>
        <p:spPr>
          <a:xfrm>
            <a:off x="213360" y="111969"/>
            <a:ext cx="4582160" cy="783771"/>
          </a:xfrm>
        </p:spPr>
        <p:txBody>
          <a:bodyPr/>
          <a:lstStyle/>
          <a:p>
            <a:r>
              <a:rPr lang="en-US" sz="3600" dirty="0">
                <a:solidFill>
                  <a:srgbClr val="C00000"/>
                </a:solidFill>
              </a:rPr>
              <a:t>5.2. </a:t>
            </a:r>
            <a:r>
              <a:rPr lang="en-US" sz="3600" dirty="0" err="1">
                <a:solidFill>
                  <a:srgbClr val="C00000"/>
                </a:solidFill>
              </a:rPr>
              <a:t>Hỗ</a:t>
            </a:r>
            <a:r>
              <a:rPr lang="en-US" sz="3600" dirty="0">
                <a:solidFill>
                  <a:srgbClr val="C00000"/>
                </a:solidFill>
              </a:rPr>
              <a:t> </a:t>
            </a:r>
            <a:r>
              <a:rPr lang="en-US" sz="3600" dirty="0" err="1">
                <a:solidFill>
                  <a:srgbClr val="C00000"/>
                </a:solidFill>
              </a:rPr>
              <a:t>Trợ</a:t>
            </a:r>
            <a:r>
              <a:rPr lang="en-US" sz="3600" dirty="0">
                <a:solidFill>
                  <a:srgbClr val="C00000"/>
                </a:solidFill>
              </a:rPr>
              <a:t> </a:t>
            </a:r>
            <a:r>
              <a:rPr lang="en-US" sz="3600" dirty="0" err="1">
                <a:solidFill>
                  <a:srgbClr val="C00000"/>
                </a:solidFill>
              </a:rPr>
              <a:t>Phần</a:t>
            </a:r>
            <a:r>
              <a:rPr lang="en-US" sz="3600" dirty="0">
                <a:solidFill>
                  <a:srgbClr val="C00000"/>
                </a:solidFill>
              </a:rPr>
              <a:t> </a:t>
            </a:r>
            <a:r>
              <a:rPr lang="en-US" sz="3600" dirty="0" err="1">
                <a:solidFill>
                  <a:srgbClr val="C00000"/>
                </a:solidFill>
              </a:rPr>
              <a:t>Cứng</a:t>
            </a:r>
            <a:r>
              <a:rPr lang="en-US" sz="3600" dirty="0">
                <a:solidFill>
                  <a:srgbClr val="C00000"/>
                </a:solidFill>
              </a:rPr>
              <a:t> </a:t>
            </a:r>
          </a:p>
        </p:txBody>
      </p:sp>
      <p:sp>
        <p:nvSpPr>
          <p:cNvPr id="12" name="Slide Number Placeholder 11">
            <a:extLst>
              <a:ext uri="{FF2B5EF4-FFF2-40B4-BE49-F238E27FC236}">
                <a16:creationId xmlns:a16="http://schemas.microsoft.com/office/drawing/2014/main" id="{33CA3C27-3A08-6DA6-AD20-58C893FA7863}"/>
              </a:ext>
            </a:extLst>
          </p:cNvPr>
          <p:cNvSpPr>
            <a:spLocks noGrp="1"/>
          </p:cNvSpPr>
          <p:nvPr>
            <p:ph type="sldNum" sz="quarter" idx="40"/>
          </p:nvPr>
        </p:nvSpPr>
        <p:spPr/>
        <p:txBody>
          <a:bodyPr/>
          <a:lstStyle/>
          <a:p>
            <a:fld id="{47FEACEE-25B4-4A2D-B147-27296E36371D}" type="slidenum">
              <a:rPr lang="en-US" altLang="zh-CN" smtClean="0"/>
              <a:pPr/>
              <a:t>19</a:t>
            </a:fld>
            <a:endParaRPr lang="en-US" altLang="zh-CN" dirty="0"/>
          </a:p>
        </p:txBody>
      </p:sp>
    </p:spTree>
    <p:extLst>
      <p:ext uri="{BB962C8B-B14F-4D97-AF65-F5344CB8AC3E}">
        <p14:creationId xmlns:p14="http://schemas.microsoft.com/office/powerpoint/2010/main" val="39550751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AC76015-CBE6-2A4B-CD10-C6990D44BE9A}"/>
              </a:ext>
            </a:extLst>
          </p:cNvPr>
          <p:cNvSpPr>
            <a:spLocks noGrp="1"/>
          </p:cNvSpPr>
          <p:nvPr>
            <p:ph type="body" sz="quarter" idx="28"/>
          </p:nvPr>
        </p:nvSpPr>
        <p:spPr>
          <a:xfrm>
            <a:off x="152399" y="782779"/>
            <a:ext cx="11500361" cy="1461668"/>
          </a:xfrm>
        </p:spPr>
        <p:txBody>
          <a:bodyPr/>
          <a:lstStyle/>
          <a:p>
            <a:pPr marL="0" indent="0">
              <a:buNone/>
            </a:pP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Trong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phần</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này</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chúng</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ta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khám</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phá</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một</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số</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kỹ</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thuật</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phổ</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biến</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nhất</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để</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cấu</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trúc</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bảng</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trang</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bao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gồm</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phân</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trang</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phân</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cấp</a:t>
            </a:r>
            <a:r>
              <a:rPr lang="en-US" sz="2800" dirty="0">
                <a:solidFill>
                  <a:srgbClr val="231F20"/>
                </a:solidFill>
                <a:latin typeface="Calibri" panose="020F0502020204030204" pitchFamily="34" charset="0"/>
                <a:ea typeface="Calibri" panose="020F0502020204030204" pitchFamily="34" charset="0"/>
                <a:cs typeface="Calibri" panose="020F0502020204030204" pitchFamily="34" charset="0"/>
              </a:rPr>
              <a:t>(</a:t>
            </a:r>
            <a:r>
              <a:rPr lang="en-US" sz="2800" dirty="0">
                <a:solidFill>
                  <a:srgbClr val="FF0000"/>
                </a:solidFill>
                <a:latin typeface="Calibri" panose="020F0502020204030204" pitchFamily="34" charset="0"/>
                <a:ea typeface="Calibri" panose="020F0502020204030204" pitchFamily="34" charset="0"/>
                <a:cs typeface="Calibri" panose="020F0502020204030204" pitchFamily="34" charset="0"/>
              </a:rPr>
              <a:t>Hierarchical Paging</a:t>
            </a:r>
            <a:r>
              <a:rPr lang="en-US" sz="2800"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t>)</a:t>
            </a:r>
            <a:r>
              <a:rPr lang="en-US" sz="2800" b="1" dirty="0">
                <a:solidFill>
                  <a:schemeClr val="bg2">
                    <a:lumMod val="10000"/>
                  </a:schemeClr>
                </a:solidFill>
                <a:latin typeface="Calibri" panose="020F0502020204030204" pitchFamily="34" charset="0"/>
                <a:ea typeface="Calibri" panose="020F0502020204030204" pitchFamily="34" charset="0"/>
                <a:cs typeface="Calibri" panose="020F0502020204030204" pitchFamily="34" charset="0"/>
              </a:rPr>
              <a:t>,</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bảng</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trang</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băm</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a:t>
            </a:r>
            <a:r>
              <a:rPr lang="en-US" sz="2800" b="0" i="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Hashed Page Tables</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và</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bảng</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trang</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đảo</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800" b="0" i="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ngược</a:t>
            </a:r>
            <a:r>
              <a:rPr lang="en-US" sz="2800" b="0" i="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a:t>
            </a:r>
            <a:r>
              <a:rPr lang="en-US" sz="2800" dirty="0">
                <a:solidFill>
                  <a:srgbClr val="FF0000"/>
                </a:solidFill>
                <a:latin typeface="Calibri" panose="020F0502020204030204" pitchFamily="34" charset="0"/>
                <a:ea typeface="Calibri" panose="020F0502020204030204" pitchFamily="34" charset="0"/>
                <a:cs typeface="Calibri" panose="020F0502020204030204" pitchFamily="34" charset="0"/>
              </a:rPr>
              <a:t>Inverted Page Tables</a:t>
            </a: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pPr marL="0" indent="0">
              <a:buNone/>
            </a:pPr>
            <a:endParaRPr lang="en-US" sz="4400" i="1" dirty="0">
              <a:solidFill>
                <a:srgbClr val="446992"/>
              </a:solidFill>
              <a:latin typeface="Calibri" panose="020F0502020204030204" pitchFamily="34" charset="0"/>
              <a:ea typeface="Calibri" panose="020F0502020204030204" pitchFamily="34" charset="0"/>
              <a:cs typeface="Calibri" panose="020F0502020204030204" pitchFamily="34" charset="0"/>
            </a:endParaRPr>
          </a:p>
          <a:p>
            <a:endParaRPr lang="en-US" sz="2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8" name="Title 7">
            <a:extLst>
              <a:ext uri="{FF2B5EF4-FFF2-40B4-BE49-F238E27FC236}">
                <a16:creationId xmlns:a16="http://schemas.microsoft.com/office/drawing/2014/main" id="{45B82928-AC06-848B-4FA4-8B69FADFBD65}"/>
              </a:ext>
            </a:extLst>
          </p:cNvPr>
          <p:cNvSpPr>
            <a:spLocks noGrp="1"/>
          </p:cNvSpPr>
          <p:nvPr>
            <p:ph type="title"/>
          </p:nvPr>
        </p:nvSpPr>
        <p:spPr>
          <a:xfrm>
            <a:off x="152400" y="119056"/>
            <a:ext cx="5074024" cy="972406"/>
          </a:xfrm>
        </p:spPr>
        <p:txBody>
          <a:bodyPr/>
          <a:lstStyle/>
          <a:p>
            <a:r>
              <a:rPr lang="en-US" sz="4000" dirty="0">
                <a:solidFill>
                  <a:srgbClr val="C00000"/>
                </a:solidFill>
              </a:rPr>
              <a:t>6. </a:t>
            </a:r>
            <a:r>
              <a:rPr lang="en-US" sz="4000" dirty="0" err="1">
                <a:solidFill>
                  <a:srgbClr val="C00000"/>
                </a:solidFill>
              </a:rPr>
              <a:t>Cấu</a:t>
            </a:r>
            <a:r>
              <a:rPr lang="en-US" sz="4000" dirty="0">
                <a:solidFill>
                  <a:srgbClr val="C00000"/>
                </a:solidFill>
              </a:rPr>
              <a:t> Trúc </a:t>
            </a:r>
            <a:r>
              <a:rPr lang="en-US" sz="4000" dirty="0" err="1">
                <a:solidFill>
                  <a:srgbClr val="C00000"/>
                </a:solidFill>
              </a:rPr>
              <a:t>Bảng</a:t>
            </a:r>
            <a:r>
              <a:rPr lang="en-US" sz="4000" dirty="0">
                <a:solidFill>
                  <a:srgbClr val="C00000"/>
                </a:solidFill>
              </a:rPr>
              <a:t> Trang </a:t>
            </a:r>
          </a:p>
        </p:txBody>
      </p:sp>
      <p:sp>
        <p:nvSpPr>
          <p:cNvPr id="12" name="Slide Number Placeholder 11">
            <a:extLst>
              <a:ext uri="{FF2B5EF4-FFF2-40B4-BE49-F238E27FC236}">
                <a16:creationId xmlns:a16="http://schemas.microsoft.com/office/drawing/2014/main" id="{ECF22053-4983-5B18-1487-95D710A57549}"/>
              </a:ext>
            </a:extLst>
          </p:cNvPr>
          <p:cNvSpPr>
            <a:spLocks noGrp="1"/>
          </p:cNvSpPr>
          <p:nvPr>
            <p:ph type="sldNum" sz="quarter" idx="40"/>
          </p:nvPr>
        </p:nvSpPr>
        <p:spPr/>
        <p:txBody>
          <a:bodyPr/>
          <a:lstStyle/>
          <a:p>
            <a:fld id="{47FEACEE-25B4-4A2D-B147-27296E36371D}" type="slidenum">
              <a:rPr lang="en-US" altLang="zh-CN" smtClean="0"/>
              <a:pPr/>
              <a:t>20</a:t>
            </a:fld>
            <a:endParaRPr lang="en-US" altLang="zh-CN" dirty="0"/>
          </a:p>
        </p:txBody>
      </p:sp>
      <p:sp>
        <p:nvSpPr>
          <p:cNvPr id="2" name="TextBox 1">
            <a:extLst>
              <a:ext uri="{FF2B5EF4-FFF2-40B4-BE49-F238E27FC236}">
                <a16:creationId xmlns:a16="http://schemas.microsoft.com/office/drawing/2014/main" id="{C589F6FE-E431-43F9-90CF-46C65A379EC4}"/>
              </a:ext>
            </a:extLst>
          </p:cNvPr>
          <p:cNvSpPr txBox="1"/>
          <p:nvPr/>
        </p:nvSpPr>
        <p:spPr>
          <a:xfrm>
            <a:off x="152399" y="2368609"/>
            <a:ext cx="11500361" cy="3600986"/>
          </a:xfrm>
          <a:prstGeom prst="rect">
            <a:avLst/>
          </a:prstGeom>
        </p:spPr>
        <p:txBody>
          <a:bodyPr wrap="square" rtlCol="0">
            <a:spAutoFit/>
          </a:bodyPr>
          <a:lstStyle/>
          <a:p>
            <a:pPr marL="0" indent="0">
              <a:buNone/>
            </a:pPr>
            <a:r>
              <a:rPr lang="en-US" sz="3200" b="1" dirty="0">
                <a:solidFill>
                  <a:srgbClr val="C00000"/>
                </a:solidFill>
                <a:latin typeface="+mj-lt"/>
              </a:rPr>
              <a:t>6.1. </a:t>
            </a:r>
            <a:r>
              <a:rPr lang="en-US" sz="3200" b="1" dirty="0" err="1">
                <a:solidFill>
                  <a:srgbClr val="C00000"/>
                </a:solidFill>
                <a:latin typeface="+mj-lt"/>
              </a:rPr>
              <a:t>Phân</a:t>
            </a:r>
            <a:r>
              <a:rPr lang="en-US" sz="3200" b="1" dirty="0">
                <a:solidFill>
                  <a:srgbClr val="C00000"/>
                </a:solidFill>
                <a:latin typeface="+mj-lt"/>
              </a:rPr>
              <a:t> Trang </a:t>
            </a:r>
            <a:r>
              <a:rPr lang="en-US" sz="3200" b="1" dirty="0" err="1">
                <a:solidFill>
                  <a:srgbClr val="C00000"/>
                </a:solidFill>
                <a:latin typeface="+mj-lt"/>
              </a:rPr>
              <a:t>Phân</a:t>
            </a:r>
            <a:r>
              <a:rPr lang="en-US" sz="3200" b="1" dirty="0">
                <a:solidFill>
                  <a:srgbClr val="C00000"/>
                </a:solidFill>
                <a:latin typeface="+mj-lt"/>
              </a:rPr>
              <a:t> </a:t>
            </a:r>
            <a:r>
              <a:rPr lang="en-US" sz="3200" b="1" dirty="0" err="1">
                <a:solidFill>
                  <a:srgbClr val="C00000"/>
                </a:solidFill>
                <a:latin typeface="+mj-lt"/>
              </a:rPr>
              <a:t>Cấp</a:t>
            </a:r>
            <a:endParaRPr lang="en-US" sz="3200" b="1" dirty="0">
              <a:solidFill>
                <a:srgbClr val="C00000"/>
              </a:solidFill>
              <a:latin typeface="+mj-lt"/>
            </a:endParaRPr>
          </a:p>
          <a:p>
            <a:pPr marL="0" indent="0">
              <a:buNone/>
            </a:pPr>
            <a:endParaRPr lang="en-US" sz="2800" i="1" dirty="0">
              <a:solidFill>
                <a:srgbClr val="446992"/>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Hầu</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hết</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các</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hệ</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thống</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máy</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tính</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hiện</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đại</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đều</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hỗ</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trợ</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không</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gian</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địa</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chỉ</a:t>
            </a:r>
            <a:r>
              <a:rPr lang="en-US" sz="2800" dirty="0">
                <a:effectLst/>
                <a:latin typeface="Calibri" panose="020F0502020204030204" pitchFamily="34" charset="0"/>
                <a:ea typeface="Calibri" panose="020F0502020204030204" pitchFamily="34" charset="0"/>
                <a:cs typeface="Times New Roman" panose="02020603050405020304" pitchFamily="18" charset="0"/>
              </a:rPr>
              <a:t> logic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lớn</a:t>
            </a:r>
            <a:r>
              <a:rPr lang="en-US" sz="2800" dirty="0">
                <a:effectLst/>
                <a:latin typeface="Calibri" panose="020F0502020204030204" pitchFamily="34" charset="0"/>
                <a:ea typeface="Calibri" panose="020F0502020204030204" pitchFamily="34" charset="0"/>
                <a:cs typeface="Times New Roman" panose="02020603050405020304" pitchFamily="18" charset="0"/>
              </a:rPr>
              <a:t> (232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đến</a:t>
            </a:r>
            <a:r>
              <a:rPr lang="en-US" sz="2800" dirty="0">
                <a:effectLst/>
                <a:latin typeface="Calibri" panose="020F0502020204030204" pitchFamily="34" charset="0"/>
                <a:ea typeface="Calibri" panose="020F0502020204030204" pitchFamily="34" charset="0"/>
                <a:cs typeface="Times New Roman" panose="02020603050405020304" pitchFamily="18" charset="0"/>
              </a:rPr>
              <a:t> 264).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Trong</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môi</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trường</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như</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vậy</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bảng</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trang</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sẽ</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trở</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nên</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quá</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lớn</a:t>
            </a:r>
            <a:r>
              <a:rPr lang="en-US" sz="2800" dirty="0">
                <a:effectLst/>
                <a:latin typeface="Calibri" panose="020F0502020204030204" pitchFamily="34" charset="0"/>
                <a:ea typeface="Calibri" panose="020F0502020204030204" pitchFamily="34" charset="0"/>
                <a:cs typeface="Times New Roman" panose="02020603050405020304" pitchFamily="18" charset="0"/>
              </a:rPr>
              <a:t>.</a:t>
            </a:r>
          </a:p>
          <a:p>
            <a:pPr marL="0" indent="0">
              <a:buNone/>
            </a:pP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latin typeface="Calibri" panose="020F0502020204030204" pitchFamily="34" charset="0"/>
                <a:ea typeface="Calibri" panose="020F0502020204030204" pitchFamily="34" charset="0"/>
                <a:cs typeface="Times New Roman" panose="02020603050405020304" pitchFamily="18" charset="0"/>
              </a:rPr>
              <a:t>G</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iải</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pháp</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đơn</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giản</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cho</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vấn</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đề</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này</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là</a:t>
            </a:r>
            <a:r>
              <a:rPr lang="en-US" sz="2800" dirty="0">
                <a:effectLst/>
                <a:latin typeface="Calibri" panose="020F0502020204030204" pitchFamily="34" charset="0"/>
                <a:ea typeface="Calibri" panose="020F0502020204030204" pitchFamily="34" charset="0"/>
                <a:cs typeface="Times New Roman" panose="02020603050405020304" pitchFamily="18" charset="0"/>
              </a:rPr>
              <a:t> chia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bảng</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trang</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thành</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các</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phần</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nhỏ</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hơn</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Chúng</a:t>
            </a:r>
            <a:r>
              <a:rPr lang="en-US" sz="2800" dirty="0">
                <a:effectLst/>
                <a:latin typeface="Calibri" panose="020F0502020204030204" pitchFamily="34" charset="0"/>
                <a:ea typeface="Calibri" panose="020F0502020204030204" pitchFamily="34" charset="0"/>
                <a:cs typeface="Times New Roman" panose="02020603050405020304" pitchFamily="18" charset="0"/>
              </a:rPr>
              <a:t> ta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có</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thể</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thực</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hiện</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phép</a:t>
            </a:r>
            <a:r>
              <a:rPr lang="en-US" sz="2800" dirty="0">
                <a:effectLst/>
                <a:latin typeface="Calibri" panose="020F0502020204030204" pitchFamily="34" charset="0"/>
                <a:ea typeface="Calibri" panose="020F0502020204030204" pitchFamily="34" charset="0"/>
                <a:cs typeface="Times New Roman" panose="02020603050405020304" pitchFamily="18" charset="0"/>
              </a:rPr>
              <a:t> chia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này</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bằng</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nhiều</a:t>
            </a:r>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cách</a:t>
            </a:r>
            <a:r>
              <a:rPr lang="en-US" sz="2800" dirty="0">
                <a:effectLst/>
                <a:latin typeface="Calibri" panose="020F0502020204030204" pitchFamily="34" charset="0"/>
                <a:ea typeface="Calibri" panose="020F0502020204030204" pitchFamily="34" charset="0"/>
                <a:cs typeface="Times New Roman" panose="02020603050405020304" pitchFamily="18" charset="0"/>
              </a:rPr>
              <a:t>.</a:t>
            </a:r>
          </a:p>
          <a:p>
            <a:pPr marL="0" indent="0" algn="ctr">
              <a:lnSpc>
                <a:spcPct val="100000"/>
              </a:lnSpc>
              <a:spcBef>
                <a:spcPts val="0"/>
              </a:spcBef>
              <a:buFontTx/>
              <a:buNone/>
            </a:pPr>
            <a:endParaRPr lang="en-US" sz="2800" dirty="0">
              <a:solidFill>
                <a:prstClr val="white"/>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3811613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158972E-C07F-98A1-B765-9678F7CD21F9}"/>
              </a:ext>
            </a:extLst>
          </p:cNvPr>
          <p:cNvSpPr>
            <a:spLocks noGrp="1"/>
          </p:cNvSpPr>
          <p:nvPr>
            <p:ph type="body" sz="quarter" idx="35"/>
          </p:nvPr>
        </p:nvSpPr>
        <p:spPr>
          <a:xfrm>
            <a:off x="254000" y="1119355"/>
            <a:ext cx="11398761" cy="5281127"/>
          </a:xfrm>
        </p:spPr>
        <p:txBody>
          <a:bodyPr/>
          <a:lstStyle/>
          <a:p>
            <a:pPr marL="0" indent="0">
              <a:buNone/>
            </a:pPr>
            <a:r>
              <a:rPr lang="en-US" sz="2800" dirty="0" err="1">
                <a:solidFill>
                  <a:srgbClr val="231F20"/>
                </a:solidFill>
                <a:latin typeface="Calibri" panose="020F0502020204030204" pitchFamily="34" charset="0"/>
                <a:ea typeface="Times New Roman" panose="02020603050405020304" pitchFamily="18" charset="0"/>
              </a:rPr>
              <a:t>S</a:t>
            </a:r>
            <a:r>
              <a:rPr lang="en-US" sz="2800" dirty="0" err="1">
                <a:solidFill>
                  <a:srgbClr val="231F20"/>
                </a:solidFill>
                <a:effectLst/>
                <a:latin typeface="Calibri" panose="020F0502020204030204" pitchFamily="34" charset="0"/>
                <a:ea typeface="Times New Roman" panose="02020603050405020304" pitchFamily="18" charset="0"/>
              </a:rPr>
              <a:t>ử</a:t>
            </a:r>
            <a:r>
              <a:rPr lang="en-US" sz="2800" dirty="0">
                <a:solidFill>
                  <a:srgbClr val="231F20"/>
                </a:solidFill>
                <a:effectLst/>
                <a:latin typeface="Calibri" panose="020F0502020204030204" pitchFamily="34" charset="0"/>
                <a:ea typeface="Times New Roman" panose="02020603050405020304" pitchFamily="18" charset="0"/>
              </a:rPr>
              <a:t> </a:t>
            </a:r>
            <a:r>
              <a:rPr lang="en-US" sz="2800" dirty="0" err="1">
                <a:solidFill>
                  <a:srgbClr val="231F20"/>
                </a:solidFill>
                <a:effectLst/>
                <a:latin typeface="Calibri" panose="020F0502020204030204" pitchFamily="34" charset="0"/>
                <a:ea typeface="Times New Roman" panose="02020603050405020304" pitchFamily="18" charset="0"/>
              </a:rPr>
              <a:t>dụng</a:t>
            </a:r>
            <a:r>
              <a:rPr lang="en-US" sz="2800" dirty="0">
                <a:solidFill>
                  <a:srgbClr val="231F20"/>
                </a:solidFill>
                <a:effectLst/>
                <a:latin typeface="Calibri" panose="020F0502020204030204" pitchFamily="34" charset="0"/>
                <a:ea typeface="Times New Roman" panose="02020603050405020304" pitchFamily="18" charset="0"/>
              </a:rPr>
              <a:t> </a:t>
            </a:r>
            <a:r>
              <a:rPr lang="en-US" sz="2800" dirty="0" err="1">
                <a:solidFill>
                  <a:srgbClr val="231F20"/>
                </a:solidFill>
                <a:effectLst/>
                <a:latin typeface="Calibri" panose="020F0502020204030204" pitchFamily="34" charset="0"/>
                <a:ea typeface="Times New Roman" panose="02020603050405020304" pitchFamily="18" charset="0"/>
              </a:rPr>
              <a:t>thuật</a:t>
            </a:r>
            <a:r>
              <a:rPr lang="en-US" sz="2800" dirty="0">
                <a:solidFill>
                  <a:srgbClr val="231F20"/>
                </a:solidFill>
                <a:effectLst/>
                <a:latin typeface="Calibri" panose="020F0502020204030204" pitchFamily="34" charset="0"/>
                <a:ea typeface="Times New Roman" panose="02020603050405020304" pitchFamily="18" charset="0"/>
              </a:rPr>
              <a:t> </a:t>
            </a:r>
            <a:r>
              <a:rPr lang="en-US" sz="2800" dirty="0" err="1">
                <a:solidFill>
                  <a:srgbClr val="231F20"/>
                </a:solidFill>
                <a:effectLst/>
                <a:latin typeface="Calibri" panose="020F0502020204030204" pitchFamily="34" charset="0"/>
                <a:ea typeface="Times New Roman" panose="02020603050405020304" pitchFamily="18" charset="0"/>
              </a:rPr>
              <a:t>toán</a:t>
            </a:r>
            <a:r>
              <a:rPr lang="en-US" sz="2800" dirty="0">
                <a:solidFill>
                  <a:srgbClr val="231F20"/>
                </a:solidFill>
                <a:effectLst/>
                <a:latin typeface="Calibri" panose="020F0502020204030204" pitchFamily="34" charset="0"/>
                <a:ea typeface="Times New Roman" panose="02020603050405020304" pitchFamily="18" charset="0"/>
              </a:rPr>
              <a:t> </a:t>
            </a:r>
            <a:r>
              <a:rPr lang="en-US" sz="2800" dirty="0" err="1">
                <a:solidFill>
                  <a:srgbClr val="231F20"/>
                </a:solidFill>
                <a:effectLst/>
                <a:latin typeface="Calibri" panose="020F0502020204030204" pitchFamily="34" charset="0"/>
                <a:ea typeface="Times New Roman" panose="02020603050405020304" pitchFamily="18" charset="0"/>
              </a:rPr>
              <a:t>phân</a:t>
            </a:r>
            <a:r>
              <a:rPr lang="en-US" sz="2800" dirty="0">
                <a:solidFill>
                  <a:srgbClr val="231F20"/>
                </a:solidFill>
                <a:effectLst/>
                <a:latin typeface="Calibri" panose="020F0502020204030204" pitchFamily="34" charset="0"/>
                <a:ea typeface="Times New Roman" panose="02020603050405020304" pitchFamily="18" charset="0"/>
              </a:rPr>
              <a:t> </a:t>
            </a:r>
            <a:r>
              <a:rPr lang="en-US" sz="2800" dirty="0" err="1">
                <a:solidFill>
                  <a:srgbClr val="231F20"/>
                </a:solidFill>
                <a:effectLst/>
                <a:latin typeface="Calibri" panose="020F0502020204030204" pitchFamily="34" charset="0"/>
                <a:ea typeface="Times New Roman" panose="02020603050405020304" pitchFamily="18" charset="0"/>
              </a:rPr>
              <a:t>trang</a:t>
            </a:r>
            <a:r>
              <a:rPr lang="en-US" sz="2800" dirty="0">
                <a:solidFill>
                  <a:srgbClr val="231F20"/>
                </a:solidFill>
                <a:effectLst/>
                <a:latin typeface="Calibri" panose="020F0502020204030204" pitchFamily="34" charset="0"/>
                <a:ea typeface="Times New Roman" panose="02020603050405020304" pitchFamily="18" charset="0"/>
              </a:rPr>
              <a:t> </a:t>
            </a:r>
            <a:r>
              <a:rPr lang="en-US" sz="2800" dirty="0" err="1">
                <a:solidFill>
                  <a:srgbClr val="231F20"/>
                </a:solidFill>
                <a:effectLst/>
                <a:latin typeface="Calibri" panose="020F0502020204030204" pitchFamily="34" charset="0"/>
                <a:ea typeface="Times New Roman" panose="02020603050405020304" pitchFamily="18" charset="0"/>
              </a:rPr>
              <a:t>hai</a:t>
            </a:r>
            <a:r>
              <a:rPr lang="en-US" sz="2800" dirty="0">
                <a:solidFill>
                  <a:srgbClr val="231F20"/>
                </a:solidFill>
                <a:effectLst/>
                <a:latin typeface="Calibri" panose="020F0502020204030204" pitchFamily="34" charset="0"/>
                <a:ea typeface="Times New Roman" panose="02020603050405020304" pitchFamily="18" charset="0"/>
              </a:rPr>
              <a:t> </a:t>
            </a:r>
            <a:r>
              <a:rPr lang="en-US" sz="2800" dirty="0" err="1">
                <a:solidFill>
                  <a:srgbClr val="231F20"/>
                </a:solidFill>
                <a:effectLst/>
                <a:latin typeface="Calibri" panose="020F0502020204030204" pitchFamily="34" charset="0"/>
                <a:ea typeface="Times New Roman" panose="02020603050405020304" pitchFamily="18" charset="0"/>
              </a:rPr>
              <a:t>cấp</a:t>
            </a:r>
            <a:r>
              <a:rPr lang="en-US" sz="2800" dirty="0">
                <a:solidFill>
                  <a:srgbClr val="231F20"/>
                </a:solidFill>
                <a:effectLst/>
                <a:latin typeface="Calibri" panose="020F0502020204030204" pitchFamily="34" charset="0"/>
                <a:ea typeface="Times New Roman" panose="02020603050405020304" pitchFamily="18" charset="0"/>
              </a:rPr>
              <a:t> </a:t>
            </a:r>
            <a:r>
              <a:rPr lang="en-US" sz="2800" dirty="0" err="1">
                <a:solidFill>
                  <a:srgbClr val="231F20"/>
                </a:solidFill>
                <a:effectLst/>
                <a:latin typeface="Calibri" panose="020F0502020204030204" pitchFamily="34" charset="0"/>
                <a:ea typeface="Times New Roman" panose="02020603050405020304" pitchFamily="18" charset="0"/>
              </a:rPr>
              <a:t>độ</a:t>
            </a:r>
            <a:r>
              <a:rPr lang="en-US" sz="2800" dirty="0">
                <a:solidFill>
                  <a:srgbClr val="231F20"/>
                </a:solidFill>
                <a:effectLst/>
                <a:latin typeface="Calibri" panose="020F0502020204030204" pitchFamily="34" charset="0"/>
                <a:ea typeface="Times New Roman" panose="02020603050405020304" pitchFamily="18" charset="0"/>
              </a:rPr>
              <a:t>, </a:t>
            </a:r>
            <a:r>
              <a:rPr lang="en-US" sz="2800" dirty="0" err="1">
                <a:solidFill>
                  <a:srgbClr val="231F20"/>
                </a:solidFill>
                <a:effectLst/>
                <a:latin typeface="Calibri" panose="020F0502020204030204" pitchFamily="34" charset="0"/>
                <a:ea typeface="Times New Roman" panose="02020603050405020304" pitchFamily="18" charset="0"/>
              </a:rPr>
              <a:t>trong</a:t>
            </a:r>
            <a:r>
              <a:rPr lang="en-US" sz="2800" dirty="0">
                <a:solidFill>
                  <a:srgbClr val="231F20"/>
                </a:solidFill>
                <a:effectLst/>
                <a:latin typeface="Calibri" panose="020F0502020204030204" pitchFamily="34" charset="0"/>
                <a:ea typeface="Times New Roman" panose="02020603050405020304" pitchFamily="18" charset="0"/>
              </a:rPr>
              <a:t> </a:t>
            </a:r>
            <a:r>
              <a:rPr lang="en-US" sz="2800" dirty="0" err="1">
                <a:solidFill>
                  <a:srgbClr val="231F20"/>
                </a:solidFill>
                <a:effectLst/>
                <a:latin typeface="Calibri" panose="020F0502020204030204" pitchFamily="34" charset="0"/>
                <a:ea typeface="Times New Roman" panose="02020603050405020304" pitchFamily="18" charset="0"/>
              </a:rPr>
              <a:t>đó</a:t>
            </a:r>
            <a:r>
              <a:rPr lang="en-US" sz="2800" dirty="0">
                <a:solidFill>
                  <a:srgbClr val="231F20"/>
                </a:solidFill>
                <a:effectLst/>
                <a:latin typeface="Calibri" panose="020F0502020204030204" pitchFamily="34" charset="0"/>
                <a:ea typeface="Times New Roman" panose="02020603050405020304" pitchFamily="18" charset="0"/>
              </a:rPr>
              <a:t> </a:t>
            </a:r>
            <a:r>
              <a:rPr lang="en-US" sz="2800" dirty="0" err="1">
                <a:solidFill>
                  <a:srgbClr val="231F20"/>
                </a:solidFill>
                <a:effectLst/>
                <a:latin typeface="Calibri" panose="020F0502020204030204" pitchFamily="34" charset="0"/>
                <a:ea typeface="Times New Roman" panose="02020603050405020304" pitchFamily="18" charset="0"/>
              </a:rPr>
              <a:t>bảng</a:t>
            </a:r>
            <a:r>
              <a:rPr lang="en-US" sz="2800" dirty="0">
                <a:solidFill>
                  <a:srgbClr val="231F20"/>
                </a:solidFill>
                <a:effectLst/>
                <a:latin typeface="Calibri" panose="020F0502020204030204" pitchFamily="34" charset="0"/>
                <a:ea typeface="Times New Roman" panose="02020603050405020304" pitchFamily="18" charset="0"/>
              </a:rPr>
              <a:t> </a:t>
            </a:r>
            <a:r>
              <a:rPr lang="en-US" sz="2800" dirty="0" err="1">
                <a:solidFill>
                  <a:srgbClr val="231F20"/>
                </a:solidFill>
                <a:effectLst/>
                <a:latin typeface="Calibri" panose="020F0502020204030204" pitchFamily="34" charset="0"/>
                <a:ea typeface="Times New Roman" panose="02020603050405020304" pitchFamily="18" charset="0"/>
              </a:rPr>
              <a:t>trang</a:t>
            </a:r>
            <a:r>
              <a:rPr lang="en-US" sz="2800" dirty="0">
                <a:solidFill>
                  <a:srgbClr val="231F20"/>
                </a:solidFill>
                <a:effectLst/>
                <a:latin typeface="Calibri" panose="020F0502020204030204" pitchFamily="34" charset="0"/>
                <a:ea typeface="Times New Roman" panose="02020603050405020304" pitchFamily="18" charset="0"/>
              </a:rPr>
              <a:t> </a:t>
            </a:r>
            <a:r>
              <a:rPr lang="en-US" sz="2800" dirty="0" err="1">
                <a:solidFill>
                  <a:srgbClr val="231F20"/>
                </a:solidFill>
                <a:effectLst/>
                <a:latin typeface="Calibri" panose="020F0502020204030204" pitchFamily="34" charset="0"/>
                <a:ea typeface="Times New Roman" panose="02020603050405020304" pitchFamily="18" charset="0"/>
              </a:rPr>
              <a:t>cũng</a:t>
            </a:r>
            <a:r>
              <a:rPr lang="en-US" sz="2800" dirty="0">
                <a:solidFill>
                  <a:srgbClr val="231F20"/>
                </a:solidFill>
                <a:effectLst/>
                <a:latin typeface="Calibri" panose="020F0502020204030204" pitchFamily="34" charset="0"/>
                <a:ea typeface="Times New Roman" panose="02020603050405020304" pitchFamily="18" charset="0"/>
              </a:rPr>
              <a:t> </a:t>
            </a:r>
            <a:r>
              <a:rPr lang="en-US" sz="2800" dirty="0" err="1">
                <a:solidFill>
                  <a:srgbClr val="231F20"/>
                </a:solidFill>
                <a:effectLst/>
                <a:latin typeface="Calibri" panose="020F0502020204030204" pitchFamily="34" charset="0"/>
                <a:ea typeface="Times New Roman" panose="02020603050405020304" pitchFamily="18" charset="0"/>
              </a:rPr>
              <a:t>được</a:t>
            </a:r>
            <a:r>
              <a:rPr lang="en-US" sz="2800" dirty="0">
                <a:solidFill>
                  <a:srgbClr val="231F20"/>
                </a:solidFill>
                <a:effectLst/>
                <a:latin typeface="Calibri" panose="020F0502020204030204" pitchFamily="34" charset="0"/>
                <a:ea typeface="Times New Roman" panose="02020603050405020304" pitchFamily="18" charset="0"/>
              </a:rPr>
              <a:t> </a:t>
            </a:r>
            <a:r>
              <a:rPr lang="en-US" sz="2800" dirty="0" err="1">
                <a:solidFill>
                  <a:srgbClr val="231F20"/>
                </a:solidFill>
                <a:effectLst/>
                <a:latin typeface="Calibri" panose="020F0502020204030204" pitchFamily="34" charset="0"/>
                <a:ea typeface="Times New Roman" panose="02020603050405020304" pitchFamily="18" charset="0"/>
              </a:rPr>
              <a:t>phân</a:t>
            </a:r>
            <a:r>
              <a:rPr lang="en-US" sz="2800" dirty="0">
                <a:solidFill>
                  <a:srgbClr val="231F20"/>
                </a:solidFill>
                <a:effectLst/>
                <a:latin typeface="Calibri" panose="020F0502020204030204" pitchFamily="34" charset="0"/>
                <a:ea typeface="Times New Roman" panose="02020603050405020304" pitchFamily="18" charset="0"/>
              </a:rPr>
              <a:t> </a:t>
            </a:r>
            <a:r>
              <a:rPr lang="en-US" sz="2800" dirty="0" err="1">
                <a:solidFill>
                  <a:srgbClr val="231F20"/>
                </a:solidFill>
                <a:effectLst/>
                <a:latin typeface="Calibri" panose="020F0502020204030204" pitchFamily="34" charset="0"/>
                <a:ea typeface="Times New Roman" panose="02020603050405020304" pitchFamily="18" charset="0"/>
              </a:rPr>
              <a:t>trang</a:t>
            </a:r>
            <a:r>
              <a:rPr lang="en-US" sz="2800" dirty="0">
                <a:solidFill>
                  <a:srgbClr val="231F20"/>
                </a:solidFill>
                <a:effectLst/>
                <a:latin typeface="Calibri" panose="020F0502020204030204" pitchFamily="34" charset="0"/>
                <a:ea typeface="Times New Roman" panose="02020603050405020304" pitchFamily="18" charset="0"/>
              </a:rPr>
              <a:t> (</a:t>
            </a:r>
            <a:r>
              <a:rPr lang="en-US" sz="2800" dirty="0" err="1">
                <a:solidFill>
                  <a:srgbClr val="231F20"/>
                </a:solidFill>
                <a:effectLst/>
                <a:latin typeface="Calibri" panose="020F0502020204030204" pitchFamily="34" charset="0"/>
                <a:ea typeface="Times New Roman" panose="02020603050405020304" pitchFamily="18" charset="0"/>
              </a:rPr>
              <a:t>Hình</a:t>
            </a:r>
            <a:r>
              <a:rPr lang="en-US" sz="2800" dirty="0">
                <a:solidFill>
                  <a:srgbClr val="231F20"/>
                </a:solidFill>
                <a:effectLst/>
                <a:latin typeface="Calibri" panose="020F0502020204030204" pitchFamily="34" charset="0"/>
                <a:ea typeface="Times New Roman" panose="02020603050405020304" pitchFamily="18" charset="0"/>
              </a:rPr>
              <a:t> 8.17). </a:t>
            </a:r>
            <a:endParaRPr lang="en-US" sz="2800" dirty="0"/>
          </a:p>
        </p:txBody>
      </p:sp>
      <p:sp>
        <p:nvSpPr>
          <p:cNvPr id="8" name="Title 7">
            <a:extLst>
              <a:ext uri="{FF2B5EF4-FFF2-40B4-BE49-F238E27FC236}">
                <a16:creationId xmlns:a16="http://schemas.microsoft.com/office/drawing/2014/main" id="{ED918759-CDFE-22CA-A0C8-EE3974B23B6E}"/>
              </a:ext>
            </a:extLst>
          </p:cNvPr>
          <p:cNvSpPr>
            <a:spLocks noGrp="1"/>
          </p:cNvSpPr>
          <p:nvPr>
            <p:ph type="title"/>
          </p:nvPr>
        </p:nvSpPr>
        <p:spPr>
          <a:xfrm>
            <a:off x="254000" y="276710"/>
            <a:ext cx="5720079" cy="660400"/>
          </a:xfrm>
        </p:spPr>
        <p:txBody>
          <a:bodyPr/>
          <a:lstStyle/>
          <a:p>
            <a:r>
              <a:rPr lang="en-US" sz="3200" dirty="0">
                <a:solidFill>
                  <a:srgbClr val="C00000"/>
                </a:solidFill>
              </a:rPr>
              <a:t>6.1. </a:t>
            </a:r>
            <a:r>
              <a:rPr lang="en-US" sz="3200" dirty="0" err="1">
                <a:solidFill>
                  <a:srgbClr val="C00000"/>
                </a:solidFill>
              </a:rPr>
              <a:t>Phân</a:t>
            </a:r>
            <a:r>
              <a:rPr lang="en-US" sz="3200" dirty="0">
                <a:solidFill>
                  <a:srgbClr val="C00000"/>
                </a:solidFill>
              </a:rPr>
              <a:t> Trang </a:t>
            </a:r>
            <a:r>
              <a:rPr lang="en-US" sz="3200" dirty="0" err="1">
                <a:solidFill>
                  <a:srgbClr val="C00000"/>
                </a:solidFill>
              </a:rPr>
              <a:t>Phân</a:t>
            </a:r>
            <a:r>
              <a:rPr lang="en-US" sz="3200" dirty="0">
                <a:solidFill>
                  <a:srgbClr val="C00000"/>
                </a:solidFill>
              </a:rPr>
              <a:t> </a:t>
            </a:r>
            <a:r>
              <a:rPr lang="en-US" sz="3200" dirty="0" err="1">
                <a:solidFill>
                  <a:srgbClr val="C00000"/>
                </a:solidFill>
              </a:rPr>
              <a:t>Cấp</a:t>
            </a:r>
            <a:endParaRPr lang="en-US" sz="3200" dirty="0">
              <a:solidFill>
                <a:srgbClr val="C00000"/>
              </a:solidFill>
            </a:endParaRPr>
          </a:p>
        </p:txBody>
      </p:sp>
      <p:sp>
        <p:nvSpPr>
          <p:cNvPr id="12" name="Slide Number Placeholder 11">
            <a:extLst>
              <a:ext uri="{FF2B5EF4-FFF2-40B4-BE49-F238E27FC236}">
                <a16:creationId xmlns:a16="http://schemas.microsoft.com/office/drawing/2014/main" id="{B131DAEC-C59C-4199-6F4E-F1D725C09AC8}"/>
              </a:ext>
            </a:extLst>
          </p:cNvPr>
          <p:cNvSpPr>
            <a:spLocks noGrp="1"/>
          </p:cNvSpPr>
          <p:nvPr>
            <p:ph type="sldNum" sz="quarter" idx="40"/>
          </p:nvPr>
        </p:nvSpPr>
        <p:spPr/>
        <p:txBody>
          <a:bodyPr/>
          <a:lstStyle/>
          <a:p>
            <a:fld id="{47FEACEE-25B4-4A2D-B147-27296E36371D}" type="slidenum">
              <a:rPr lang="en-US" altLang="zh-CN" smtClean="0"/>
              <a:pPr/>
              <a:t>21</a:t>
            </a:fld>
            <a:endParaRPr lang="en-US" altLang="zh-CN" dirty="0"/>
          </a:p>
        </p:txBody>
      </p:sp>
      <p:pic>
        <p:nvPicPr>
          <p:cNvPr id="13" name="Picture 12">
            <a:extLst>
              <a:ext uri="{FF2B5EF4-FFF2-40B4-BE49-F238E27FC236}">
                <a16:creationId xmlns:a16="http://schemas.microsoft.com/office/drawing/2014/main" id="{6F7BD1B8-C621-02C8-2E33-10B3A1702F3B}"/>
              </a:ext>
            </a:extLst>
          </p:cNvPr>
          <p:cNvPicPr>
            <a:picLocks noChangeAspect="1"/>
          </p:cNvPicPr>
          <p:nvPr/>
        </p:nvPicPr>
        <p:blipFill>
          <a:blip r:embed="rId2"/>
          <a:stretch>
            <a:fillRect/>
          </a:stretch>
        </p:blipFill>
        <p:spPr>
          <a:xfrm>
            <a:off x="3464767" y="2167911"/>
            <a:ext cx="5262465" cy="4413379"/>
          </a:xfrm>
          <a:prstGeom prst="rect">
            <a:avLst/>
          </a:prstGeom>
        </p:spPr>
      </p:pic>
    </p:spTree>
    <p:extLst>
      <p:ext uri="{BB962C8B-B14F-4D97-AF65-F5344CB8AC3E}">
        <p14:creationId xmlns:p14="http://schemas.microsoft.com/office/powerpoint/2010/main" val="1622439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7ED9447-0365-6D4D-3759-0E61D4525D37}"/>
              </a:ext>
            </a:extLst>
          </p:cNvPr>
          <p:cNvSpPr>
            <a:spLocks noGrp="1"/>
          </p:cNvSpPr>
          <p:nvPr>
            <p:ph type="body" sz="quarter" idx="28"/>
          </p:nvPr>
        </p:nvSpPr>
        <p:spPr>
          <a:xfrm>
            <a:off x="304800" y="799529"/>
            <a:ext cx="6024151" cy="5666583"/>
          </a:xfrm>
        </p:spPr>
        <p:txBody>
          <a:bodyPr/>
          <a:lstStyle/>
          <a:p>
            <a:pPr marL="0" indent="0">
              <a:buNone/>
            </a:pP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Một</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cách</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tiếp</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cận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phổ</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biến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để</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xử</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lý</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không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gian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địa</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chỉ</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lớn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hơn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32 bit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là</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sử</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dụng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bảng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trang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băm</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với</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giá</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trị</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băm</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là</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số</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trang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ảo</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p>
          <a:p>
            <a:pPr marL="0" indent="0">
              <a:buNone/>
            </a:pP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Mỗi</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mục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trong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bảng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băm</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chứa</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một</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danh</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sách</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liên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kết</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các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phần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tử</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băm</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đến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cùng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một</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vị</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trí</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để</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xử</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lý</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xung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đột</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indent="0">
              <a:buNone/>
            </a:pP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Mỗi</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phần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tử</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bao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gồm</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ba</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trường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(1)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số</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trang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ảo</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(2)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giá</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trị</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của</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khung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trang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được</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ánh</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xạ</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và</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(3)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một</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con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trỏ</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tới</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phần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tử</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tiếp</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theo</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trong</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danh</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sách</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liên</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kết</a:t>
            </a:r>
            <a:r>
              <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p>
          <a:p>
            <a:endParaRPr lang="en-US" dirty="0">
              <a:solidFill>
                <a:schemeClr val="tx1"/>
              </a:solidFill>
            </a:endParaRPr>
          </a:p>
        </p:txBody>
      </p:sp>
      <p:sp>
        <p:nvSpPr>
          <p:cNvPr id="8" name="Title 7">
            <a:extLst>
              <a:ext uri="{FF2B5EF4-FFF2-40B4-BE49-F238E27FC236}">
                <a16:creationId xmlns:a16="http://schemas.microsoft.com/office/drawing/2014/main" id="{30DC1419-D22F-59DD-4302-F6EDA927C04E}"/>
              </a:ext>
            </a:extLst>
          </p:cNvPr>
          <p:cNvSpPr>
            <a:spLocks noGrp="1"/>
          </p:cNvSpPr>
          <p:nvPr>
            <p:ph type="title"/>
          </p:nvPr>
        </p:nvSpPr>
        <p:spPr>
          <a:xfrm>
            <a:off x="304800" y="210250"/>
            <a:ext cx="3647440" cy="589279"/>
          </a:xfrm>
        </p:spPr>
        <p:txBody>
          <a:bodyPr/>
          <a:lstStyle/>
          <a:p>
            <a:r>
              <a:rPr lang="en-US" sz="3200" dirty="0">
                <a:solidFill>
                  <a:srgbClr val="C00000"/>
                </a:solidFill>
              </a:rPr>
              <a:t>6.2 </a:t>
            </a:r>
            <a:r>
              <a:rPr lang="en-US" sz="3200" dirty="0" err="1">
                <a:solidFill>
                  <a:srgbClr val="C00000"/>
                </a:solidFill>
              </a:rPr>
              <a:t>Bảng</a:t>
            </a:r>
            <a:r>
              <a:rPr lang="en-US" sz="3200" dirty="0">
                <a:solidFill>
                  <a:srgbClr val="C00000"/>
                </a:solidFill>
              </a:rPr>
              <a:t> Trang </a:t>
            </a:r>
            <a:r>
              <a:rPr lang="en-US" sz="3200" dirty="0" err="1">
                <a:solidFill>
                  <a:srgbClr val="C00000"/>
                </a:solidFill>
              </a:rPr>
              <a:t>Băm</a:t>
            </a:r>
            <a:r>
              <a:rPr lang="en-US" sz="3200" dirty="0">
                <a:solidFill>
                  <a:srgbClr val="C00000"/>
                </a:solidFill>
              </a:rPr>
              <a:t> </a:t>
            </a:r>
          </a:p>
        </p:txBody>
      </p:sp>
      <p:sp>
        <p:nvSpPr>
          <p:cNvPr id="12" name="Slide Number Placeholder 11">
            <a:extLst>
              <a:ext uri="{FF2B5EF4-FFF2-40B4-BE49-F238E27FC236}">
                <a16:creationId xmlns:a16="http://schemas.microsoft.com/office/drawing/2014/main" id="{327B8DC4-3307-DAF3-09A0-82C291A12930}"/>
              </a:ext>
            </a:extLst>
          </p:cNvPr>
          <p:cNvSpPr>
            <a:spLocks noGrp="1"/>
          </p:cNvSpPr>
          <p:nvPr>
            <p:ph type="sldNum" sz="quarter" idx="40"/>
          </p:nvPr>
        </p:nvSpPr>
        <p:spPr/>
        <p:txBody>
          <a:bodyPr/>
          <a:lstStyle/>
          <a:p>
            <a:fld id="{47FEACEE-25B4-4A2D-B147-27296E36371D}" type="slidenum">
              <a:rPr lang="en-US" altLang="zh-CN" smtClean="0"/>
              <a:pPr/>
              <a:t>22</a:t>
            </a:fld>
            <a:endParaRPr lang="en-US" altLang="zh-CN" dirty="0"/>
          </a:p>
        </p:txBody>
      </p:sp>
      <p:pic>
        <p:nvPicPr>
          <p:cNvPr id="13" name="Picture 12">
            <a:extLst>
              <a:ext uri="{FF2B5EF4-FFF2-40B4-BE49-F238E27FC236}">
                <a16:creationId xmlns:a16="http://schemas.microsoft.com/office/drawing/2014/main" id="{6CBAC3D0-FF9F-1F3B-B31B-5430E1A8F7CD}"/>
              </a:ext>
            </a:extLst>
          </p:cNvPr>
          <p:cNvPicPr>
            <a:picLocks noChangeAspect="1"/>
          </p:cNvPicPr>
          <p:nvPr/>
        </p:nvPicPr>
        <p:blipFill>
          <a:blip r:embed="rId2"/>
          <a:stretch>
            <a:fillRect/>
          </a:stretch>
        </p:blipFill>
        <p:spPr>
          <a:xfrm>
            <a:off x="6328951" y="886409"/>
            <a:ext cx="5171955" cy="4767942"/>
          </a:xfrm>
          <a:prstGeom prst="rect">
            <a:avLst/>
          </a:prstGeom>
        </p:spPr>
      </p:pic>
    </p:spTree>
    <p:extLst>
      <p:ext uri="{BB962C8B-B14F-4D97-AF65-F5344CB8AC3E}">
        <p14:creationId xmlns:p14="http://schemas.microsoft.com/office/powerpoint/2010/main" val="8248731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A8B0410B-CD22-D08A-12BF-A3A2A7AD9C0F}"/>
              </a:ext>
            </a:extLst>
          </p:cNvPr>
          <p:cNvSpPr>
            <a:spLocks noGrp="1"/>
          </p:cNvSpPr>
          <p:nvPr>
            <p:ph type="body" sz="quarter" idx="35"/>
          </p:nvPr>
        </p:nvSpPr>
        <p:spPr>
          <a:xfrm>
            <a:off x="345440" y="1035699"/>
            <a:ext cx="11501119" cy="5642162"/>
          </a:xfrm>
        </p:spPr>
        <p:txBody>
          <a:bodyPr/>
          <a:lstStyle/>
          <a:p>
            <a:pPr marL="0" indent="0">
              <a:buNone/>
            </a:pPr>
            <a:r>
              <a:rPr lang="en-US" sz="2400" dirty="0">
                <a:solidFill>
                  <a:schemeClr val="accent3">
                    <a:lumMod val="10000"/>
                  </a:schemeClr>
                </a:solidFill>
                <a:latin typeface="Calibri" panose="020F0502020204030204" pitchFamily="34" charset="0"/>
                <a:ea typeface="Calibri" panose="020F0502020204030204" pitchFamily="34" charset="0"/>
                <a:cs typeface="Calibri" panose="020F0502020204030204" pitchFamily="34" charset="0"/>
              </a:rPr>
              <a:t>-  B</a:t>
            </a:r>
            <a:r>
              <a:rPr lang="vi-VN" sz="2400" dirty="0">
                <a:solidFill>
                  <a:schemeClr val="accent3">
                    <a:lumMod val="10000"/>
                  </a:schemeClr>
                </a:solidFill>
                <a:latin typeface="Calibri" panose="020F0502020204030204" pitchFamily="34" charset="0"/>
                <a:ea typeface="Calibri" panose="020F0502020204030204" pitchFamily="34" charset="0"/>
                <a:cs typeface="Calibri" panose="020F0502020204030204" pitchFamily="34" charset="0"/>
              </a:rPr>
              <a:t>ảng trang đảo ngược là một cấu trúc dữ liệu trong quản lý bộ nhớ ảo, cho phép ánh xạ từ khối trang vật lý đến trang ảo tương ứng. Nó được sử dụng để tiết kiệm không gian lưu trữ cho bảng trang trong các hệ thống có không gian địa chỉ ảo lớn.</a:t>
            </a:r>
            <a:endParaRPr lang="en-US" sz="2400" dirty="0">
              <a:solidFill>
                <a:schemeClr val="accent3">
                  <a:lumMod val="10000"/>
                </a:schemeClr>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Để</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minh</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họa</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phương</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pháp</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này</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chúng</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tôi</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mô</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tả</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một</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phiên</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bản</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đơn</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giản</a:t>
            </a:r>
            <a:r>
              <a:rPr lang="en-US" sz="2400" dirty="0">
                <a:solidFill>
                  <a:srgbClr val="231F20"/>
                </a:solidFill>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của</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bảng</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trang</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đảo</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ngược</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được</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sử</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dụng</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231F20"/>
                </a:solidFill>
                <a:effectLst/>
                <a:latin typeface="Calibri" panose="020F0502020204030204" pitchFamily="34" charset="0"/>
                <a:ea typeface="Calibri" panose="020F0502020204030204" pitchFamily="34" charset="0"/>
                <a:cs typeface="Calibri" panose="020F0502020204030204" pitchFamily="34" charset="0"/>
              </a:rPr>
              <a:t>trong</a:t>
            </a:r>
            <a:r>
              <a:rPr lang="en-US" sz="2400" dirty="0">
                <a:solidFill>
                  <a:srgbClr val="231F20"/>
                </a:solidFill>
                <a:latin typeface="Calibri" panose="020F0502020204030204" pitchFamily="34" charset="0"/>
                <a:ea typeface="Calibri" panose="020F0502020204030204" pitchFamily="34" charset="0"/>
                <a:cs typeface="Calibri" panose="020F0502020204030204" pitchFamily="34" charset="0"/>
              </a:rPr>
              <a:t> </a:t>
            </a:r>
            <a:r>
              <a:rPr lang="en-US" sz="2400" dirty="0">
                <a:solidFill>
                  <a:srgbClr val="231F20"/>
                </a:solidFill>
                <a:effectLst/>
                <a:latin typeface="Calibri" panose="020F0502020204030204" pitchFamily="34" charset="0"/>
                <a:ea typeface="Calibri" panose="020F0502020204030204" pitchFamily="34" charset="0"/>
                <a:cs typeface="Calibri" panose="020F0502020204030204" pitchFamily="34" charset="0"/>
              </a:rPr>
              <a:t>IBM RT</a:t>
            </a:r>
            <a:endParaRPr lang="en-US" sz="2400" dirty="0">
              <a:solidFill>
                <a:schemeClr val="accent3">
                  <a:lumMod val="10000"/>
                </a:schemeClr>
              </a:solidFill>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800" i="1" dirty="0">
              <a:solidFill>
                <a:schemeClr val="accent3">
                  <a:lumMod val="1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8" name="Title 7">
            <a:extLst>
              <a:ext uri="{FF2B5EF4-FFF2-40B4-BE49-F238E27FC236}">
                <a16:creationId xmlns:a16="http://schemas.microsoft.com/office/drawing/2014/main" id="{835644B6-3F78-DFA3-3B17-0C8C158D2F9F}"/>
              </a:ext>
            </a:extLst>
          </p:cNvPr>
          <p:cNvSpPr>
            <a:spLocks noGrp="1"/>
          </p:cNvSpPr>
          <p:nvPr>
            <p:ph type="title"/>
          </p:nvPr>
        </p:nvSpPr>
        <p:spPr>
          <a:xfrm>
            <a:off x="345441" y="365139"/>
            <a:ext cx="5049520" cy="670560"/>
          </a:xfrm>
        </p:spPr>
        <p:txBody>
          <a:bodyPr/>
          <a:lstStyle/>
          <a:p>
            <a:r>
              <a:rPr lang="en-US" sz="3200" dirty="0">
                <a:solidFill>
                  <a:srgbClr val="C00000"/>
                </a:solidFill>
              </a:rPr>
              <a:t>6.3. </a:t>
            </a:r>
            <a:r>
              <a:rPr lang="en-US" sz="3200" dirty="0" err="1">
                <a:solidFill>
                  <a:srgbClr val="C00000"/>
                </a:solidFill>
              </a:rPr>
              <a:t>Bảng</a:t>
            </a:r>
            <a:r>
              <a:rPr lang="en-US" sz="3200" dirty="0">
                <a:solidFill>
                  <a:srgbClr val="C00000"/>
                </a:solidFill>
              </a:rPr>
              <a:t> Trang </a:t>
            </a:r>
            <a:r>
              <a:rPr lang="en-US" sz="3200" dirty="0" err="1">
                <a:solidFill>
                  <a:srgbClr val="C00000"/>
                </a:solidFill>
              </a:rPr>
              <a:t>Đảo</a:t>
            </a:r>
            <a:r>
              <a:rPr lang="en-US" sz="3200" dirty="0">
                <a:solidFill>
                  <a:srgbClr val="C00000"/>
                </a:solidFill>
              </a:rPr>
              <a:t> </a:t>
            </a:r>
            <a:r>
              <a:rPr lang="en-US" sz="3200" dirty="0" err="1">
                <a:solidFill>
                  <a:srgbClr val="C00000"/>
                </a:solidFill>
              </a:rPr>
              <a:t>Ngược</a:t>
            </a:r>
            <a:endParaRPr lang="en-US" sz="3200" dirty="0">
              <a:solidFill>
                <a:srgbClr val="C00000"/>
              </a:solidFill>
            </a:endParaRPr>
          </a:p>
        </p:txBody>
      </p:sp>
      <p:sp>
        <p:nvSpPr>
          <p:cNvPr id="12" name="Slide Number Placeholder 11">
            <a:extLst>
              <a:ext uri="{FF2B5EF4-FFF2-40B4-BE49-F238E27FC236}">
                <a16:creationId xmlns:a16="http://schemas.microsoft.com/office/drawing/2014/main" id="{7F7AD35F-453E-F75A-F19E-AB0EEB4A6A21}"/>
              </a:ext>
            </a:extLst>
          </p:cNvPr>
          <p:cNvSpPr>
            <a:spLocks noGrp="1"/>
          </p:cNvSpPr>
          <p:nvPr>
            <p:ph type="sldNum" sz="quarter" idx="40"/>
          </p:nvPr>
        </p:nvSpPr>
        <p:spPr/>
        <p:txBody>
          <a:bodyPr/>
          <a:lstStyle/>
          <a:p>
            <a:fld id="{47FEACEE-25B4-4A2D-B147-27296E36371D}" type="slidenum">
              <a:rPr lang="en-US" altLang="zh-CN" smtClean="0"/>
              <a:pPr/>
              <a:t>23</a:t>
            </a:fld>
            <a:endParaRPr lang="en-US" altLang="zh-CN" dirty="0"/>
          </a:p>
        </p:txBody>
      </p:sp>
      <p:pic>
        <p:nvPicPr>
          <p:cNvPr id="13" name="Picture 12">
            <a:extLst>
              <a:ext uri="{FF2B5EF4-FFF2-40B4-BE49-F238E27FC236}">
                <a16:creationId xmlns:a16="http://schemas.microsoft.com/office/drawing/2014/main" id="{E041994C-D57F-3AC4-16D8-5A41D615F054}"/>
              </a:ext>
            </a:extLst>
          </p:cNvPr>
          <p:cNvPicPr>
            <a:picLocks noChangeAspect="1"/>
          </p:cNvPicPr>
          <p:nvPr/>
        </p:nvPicPr>
        <p:blipFill>
          <a:blip r:embed="rId2"/>
          <a:stretch>
            <a:fillRect/>
          </a:stretch>
        </p:blipFill>
        <p:spPr>
          <a:xfrm>
            <a:off x="5825205" y="2797631"/>
            <a:ext cx="4537995" cy="3681154"/>
          </a:xfrm>
          <a:prstGeom prst="rect">
            <a:avLst/>
          </a:prstGeom>
        </p:spPr>
      </p:pic>
    </p:spTree>
    <p:extLst>
      <p:ext uri="{BB962C8B-B14F-4D97-AF65-F5344CB8AC3E}">
        <p14:creationId xmlns:p14="http://schemas.microsoft.com/office/powerpoint/2010/main" val="42844329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796213" y="2523314"/>
            <a:ext cx="8599714" cy="1325563"/>
          </a:xfrm>
        </p:spPr>
        <p:txBody>
          <a:bodyPr/>
          <a:lstStyle/>
          <a:p>
            <a:r>
              <a:rPr lang="en-US" sz="9600" dirty="0"/>
              <a:t>         Thank you</a:t>
            </a:r>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Light Presentation_win32_v5" id="{045A9B2F-7300-4673-816B-F1EB3C673B2C}" vid="{27F8BD87-6984-44CA-8D4F-354B20CB0C1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4CFA8B0-C7B8-4655-A378-2962C04794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0AD9BE2-6B3D-4616-B044-300A8177DEA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5515263-A3DE-4193-B6AA-5C449C94519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light</Template>
  <TotalTime>914</TotalTime>
  <Words>2496</Words>
  <Application>Microsoft Office PowerPoint</Application>
  <PresentationFormat>Widescreen</PresentationFormat>
  <Paragraphs>146</Paragraphs>
  <Slides>24</Slides>
  <Notes>10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24</vt:i4>
      </vt:variant>
    </vt:vector>
  </HeadingPairs>
  <TitlesOfParts>
    <vt:vector size="36" baseType="lpstr">
      <vt:lpstr>等线</vt:lpstr>
      <vt:lpstr>.VnTimeH</vt:lpstr>
      <vt:lpstr>Abadi</vt:lpstr>
      <vt:lpstr>Arial</vt:lpstr>
      <vt:lpstr>Calibri</vt:lpstr>
      <vt:lpstr>Posterama</vt:lpstr>
      <vt:lpstr>Posterama Text Black</vt:lpstr>
      <vt:lpstr>Posterama Text Black (Headings)</vt:lpstr>
      <vt:lpstr>Posterama Text SemiBold</vt:lpstr>
      <vt:lpstr>Segoe UI</vt:lpstr>
      <vt:lpstr>Times New Roman</vt:lpstr>
      <vt:lpstr>Custom​​</vt:lpstr>
      <vt:lpstr>Chương 3 : Main Memory</vt:lpstr>
      <vt:lpstr>PowerPoint Presentation</vt:lpstr>
      <vt:lpstr>1.  Background</vt:lpstr>
      <vt:lpstr>1.1. Phần cứng cơ bản</vt:lpstr>
      <vt:lpstr>1.1. Phần cứng cơ bản</vt:lpstr>
      <vt:lpstr>1.2. Ràng buộc địa chỉ</vt:lpstr>
      <vt:lpstr>1.3. Tải Động</vt:lpstr>
      <vt:lpstr>2. Swapping</vt:lpstr>
      <vt:lpstr>2.1. Swapping Tiêu Chuẩn</vt:lpstr>
      <vt:lpstr>3. Phân Bổ Bộ Nhớ Liên Tục</vt:lpstr>
      <vt:lpstr>3.1 Phân Mảnh</vt:lpstr>
      <vt:lpstr>4. Phân Đoạn (Segmentation)</vt:lpstr>
      <vt:lpstr>4.1. Phương Pháp Cơ Bản</vt:lpstr>
      <vt:lpstr>4.1. Phương Pháp Cơ Bản</vt:lpstr>
      <vt:lpstr>4.2. Hỗ Trợ Phần Cứng </vt:lpstr>
      <vt:lpstr>5. Phân Trang (Paging)</vt:lpstr>
      <vt:lpstr>PowerPoint Presentation</vt:lpstr>
      <vt:lpstr>5.1. Phương Pháp Cơ Bản </vt:lpstr>
      <vt:lpstr>5.2. Hỗ Trợ Phần Cứng </vt:lpstr>
      <vt:lpstr>6. Cấu Trúc Bảng Trang </vt:lpstr>
      <vt:lpstr>6.1. Phân Trang Phân Cấp</vt:lpstr>
      <vt:lpstr>6.2 Bảng Trang Băm </vt:lpstr>
      <vt:lpstr>6.3. Bảng Trang Đảo Ngược</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3 : Main Memory</dc:title>
  <dc:creator>Administrator</dc:creator>
  <cp:lastModifiedBy>Khoa Bách Mai</cp:lastModifiedBy>
  <cp:revision>16</cp:revision>
  <dcterms:created xsi:type="dcterms:W3CDTF">2023-11-27T15:14:55Z</dcterms:created>
  <dcterms:modified xsi:type="dcterms:W3CDTF">2023-11-29T15:51:44Z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