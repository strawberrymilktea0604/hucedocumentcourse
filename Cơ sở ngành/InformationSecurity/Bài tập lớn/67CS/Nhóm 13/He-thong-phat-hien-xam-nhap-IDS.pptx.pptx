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Merriweather Bold" charset="1" panose="00000800000000000000"/>
      <p:regular r:id="rId36"/>
    </p:embeddedFont>
    <p:embeddedFont>
      <p:font typeface="Public Sans" charset="1" panose="00000000000000000000"/>
      <p:regular r:id="rId37"/>
    </p:embeddedFont>
    <p:embeddedFont>
      <p:font typeface="Open Sans" charset="1" panose="00000000000000000000"/>
      <p:regular r:id="rId39"/>
    </p:embeddedFont>
    <p:embeddedFont>
      <p:font typeface="Open Sans Bold" charset="1" panose="00000000000000000000"/>
      <p:regular r:id="rId44"/>
    </p:embeddedFont>
    <p:embeddedFont>
      <p:font typeface="Merriweather" charset="1" panose="00000500000000000000"/>
      <p:regular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notesMasters/notesMaster1.xml" Type="http://schemas.openxmlformats.org/officeDocument/2006/relationships/notesMaster"/><Relationship Id="rId34" Target="theme/theme2.xml" Type="http://schemas.openxmlformats.org/officeDocument/2006/relationships/theme"/><Relationship Id="rId35" Target="notesSlides/notesSlide1.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notesSlides/notesSlide2.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3.xml" Type="http://schemas.openxmlformats.org/officeDocument/2006/relationships/notesSlide"/><Relationship Id="rId41" Target="notesSlides/notesSlide4.xml" Type="http://schemas.openxmlformats.org/officeDocument/2006/relationships/notesSlide"/><Relationship Id="rId42" Target="notesSlides/notesSlide5.xml" Type="http://schemas.openxmlformats.org/officeDocument/2006/relationships/notesSlide"/><Relationship Id="rId43" Target="notesSlides/notesSlide6.xml" Type="http://schemas.openxmlformats.org/officeDocument/2006/relationships/notesSlide"/><Relationship Id="rId44" Target="fonts/font44.fntdata" Type="http://schemas.openxmlformats.org/officeDocument/2006/relationships/font"/><Relationship Id="rId45" Target="notesSlides/notesSlide7.xml" Type="http://schemas.openxmlformats.org/officeDocument/2006/relationships/notesSlide"/><Relationship Id="rId46" Target="notesSlides/notesSlide8.xml" Type="http://schemas.openxmlformats.org/officeDocument/2006/relationships/notesSlide"/><Relationship Id="rId47" Target="notesSlides/notesSlide9.xml" Type="http://schemas.openxmlformats.org/officeDocument/2006/relationships/notesSlide"/><Relationship Id="rId48" Target="notesSlides/notesSlide10.xml" Type="http://schemas.openxmlformats.org/officeDocument/2006/relationships/notesSlide"/><Relationship Id="rId49" Target="notesSlides/notesSlide11.xml" Type="http://schemas.openxmlformats.org/officeDocument/2006/relationships/notesSlide"/><Relationship Id="rId5" Target="tableStyles.xml" Type="http://schemas.openxmlformats.org/officeDocument/2006/relationships/tableStyles"/><Relationship Id="rId50" Target="notesSlides/notesSlide12.xml" Type="http://schemas.openxmlformats.org/officeDocument/2006/relationships/notesSlide"/><Relationship Id="rId51" Target="notesSlides/notesSlide13.xml" Type="http://schemas.openxmlformats.org/officeDocument/2006/relationships/notesSlide"/><Relationship Id="rId52" Target="notesSlides/notesSlide14.xml" Type="http://schemas.openxmlformats.org/officeDocument/2006/relationships/notesSlide"/><Relationship Id="rId53" Target="notesSlides/notesSlide15.xml" Type="http://schemas.openxmlformats.org/officeDocument/2006/relationships/notesSlide"/><Relationship Id="rId54" Target="notesSlides/notesSlide16.xml" Type="http://schemas.openxmlformats.org/officeDocument/2006/relationships/notesSlide"/><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slides/slide1.xml" Type="http://schemas.openxmlformats.org/officeDocument/2006/relationships/slide"/><Relationship Id="rId60" Target="notesSlides/notesSlide22.xml" Type="http://schemas.openxmlformats.org/officeDocument/2006/relationships/notesSlide"/><Relationship Id="rId61" Target="notesSlides/notesSlide23.xml" Type="http://schemas.openxmlformats.org/officeDocument/2006/relationships/notesSlide"/><Relationship Id="rId62" Target="notesSlides/notesSlide24.xml" Type="http://schemas.openxmlformats.org/officeDocument/2006/relationships/notesSlide"/><Relationship Id="rId63" Target="notesSlides/notesSlide25.xml" Type="http://schemas.openxmlformats.org/officeDocument/2006/relationships/notesSlide"/><Relationship Id="rId64" Target="notesSlides/notesSlide26.xml" Type="http://schemas.openxmlformats.org/officeDocument/2006/relationships/notesSlide"/><Relationship Id="rId65" Target="notesSlides/notesSlide27.xml" Type="http://schemas.openxmlformats.org/officeDocument/2006/relationships/notesSlide"/><Relationship Id="rId66" Target="fonts/font66.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null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 Id="rId4"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 Id="rId4"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png" Type="http://schemas.openxmlformats.org/officeDocument/2006/relationships/image"/><Relationship Id="rId4" Target="../media/image2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png" Type="http://schemas.openxmlformats.org/officeDocument/2006/relationships/image"/><Relationship Id="rId4" Target="../media/image2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png" Type="http://schemas.openxmlformats.org/officeDocument/2006/relationships/image"/><Relationship Id="rId4" Target="../media/image2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png" Type="http://schemas.openxmlformats.org/officeDocument/2006/relationships/image"/><Relationship Id="rId4" Target="../media/image2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png" Type="http://schemas.openxmlformats.org/officeDocument/2006/relationships/image"/><Relationship Id="rId4" Target="../media/image3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png" Type="http://schemas.openxmlformats.org/officeDocument/2006/relationships/image"/><Relationship Id="rId4" Target="../media/image3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png" Type="http://schemas.openxmlformats.org/officeDocument/2006/relationships/image"/><Relationship Id="rId4" Target="../media/image3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png" Type="http://schemas.openxmlformats.org/officeDocument/2006/relationships/image"/><Relationship Id="rId4" Target="../media/image3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 Id="rId6" Target="../media/image3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a:grpSpLocks noChangeAspect="true"/>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7813774" y="1000125"/>
            <a:ext cx="9445526" cy="1800522"/>
          </a:xfrm>
          <a:prstGeom prst="rect">
            <a:avLst/>
          </a:prstGeom>
        </p:spPr>
        <p:txBody>
          <a:bodyPr anchor="t" rtlCol="false" tIns="0" lIns="0" bIns="0" rIns="0">
            <a:spAutoFit/>
          </a:bodyPr>
          <a:lstStyle/>
          <a:p>
            <a:pPr algn="l">
              <a:lnSpc>
                <a:spcPts val="6937"/>
              </a:lnSpc>
            </a:pPr>
            <a:r>
              <a:rPr lang="en-US" sz="5562" b="true">
                <a:solidFill>
                  <a:srgbClr val="403C4E"/>
                </a:solidFill>
                <a:latin typeface="Merriweather Bold"/>
                <a:ea typeface="Merriweather Bold"/>
                <a:cs typeface="Merriweather Bold"/>
                <a:sym typeface="Merriweather Bold"/>
              </a:rPr>
              <a:t>Hệ thống phát hiện xâm nhập (IDS)</a:t>
            </a:r>
          </a:p>
        </p:txBody>
      </p:sp>
      <p:sp>
        <p:nvSpPr>
          <p:cNvPr name="TextBox 9" id="9"/>
          <p:cNvSpPr txBox="true"/>
          <p:nvPr/>
        </p:nvSpPr>
        <p:spPr>
          <a:xfrm rot="0">
            <a:off x="7643134" y="2949165"/>
            <a:ext cx="10107512" cy="1190579"/>
          </a:xfrm>
          <a:prstGeom prst="rect">
            <a:avLst/>
          </a:prstGeom>
        </p:spPr>
        <p:txBody>
          <a:bodyPr anchor="t" rtlCol="false" tIns="0" lIns="0" bIns="0" rIns="0">
            <a:spAutoFit/>
          </a:bodyPr>
          <a:lstStyle/>
          <a:p>
            <a:pPr algn="l">
              <a:lnSpc>
                <a:spcPts val="4846"/>
              </a:lnSpc>
            </a:pPr>
            <a:r>
              <a:rPr lang="en-US" sz="2975">
                <a:solidFill>
                  <a:srgbClr val="403C4E"/>
                </a:solidFill>
                <a:latin typeface="Public Sans"/>
                <a:ea typeface="Public Sans"/>
                <a:cs typeface="Public Sans"/>
                <a:sym typeface="Public Sans"/>
              </a:rPr>
              <a:t>Nghiên cứu về Intrusion Detection System - Công cụ bảo vệ an toàn mạng trong kỷ nguyên số</a:t>
            </a:r>
          </a:p>
        </p:txBody>
      </p:sp>
      <p:sp>
        <p:nvSpPr>
          <p:cNvPr name="TextBox 10" id="10"/>
          <p:cNvSpPr txBox="true"/>
          <p:nvPr/>
        </p:nvSpPr>
        <p:spPr>
          <a:xfrm rot="0">
            <a:off x="7087433" y="4855369"/>
            <a:ext cx="9704651" cy="1739310"/>
          </a:xfrm>
          <a:prstGeom prst="rect">
            <a:avLst/>
          </a:prstGeom>
        </p:spPr>
        <p:txBody>
          <a:bodyPr anchor="t" rtlCol="false" tIns="0" lIns="0" bIns="0" rIns="0">
            <a:spAutoFit/>
          </a:bodyPr>
          <a:lstStyle/>
          <a:p>
            <a:pPr algn="ctr">
              <a:lnSpc>
                <a:spcPts val="4674"/>
              </a:lnSpc>
            </a:pPr>
            <a:r>
              <a:rPr lang="en-US" sz="2871">
                <a:solidFill>
                  <a:srgbClr val="403C4E"/>
                </a:solidFill>
                <a:latin typeface="Public Sans"/>
                <a:ea typeface="Public Sans"/>
                <a:cs typeface="Public Sans"/>
                <a:sym typeface="Public Sans"/>
              </a:rPr>
              <a:t>Thành viên nhóm: Nguyễn Minh Quân - 0242267  </a:t>
            </a:r>
          </a:p>
          <a:p>
            <a:pPr algn="ctr">
              <a:lnSpc>
                <a:spcPts val="4674"/>
              </a:lnSpc>
            </a:pPr>
            <a:r>
              <a:rPr lang="en-US" sz="2871">
                <a:solidFill>
                  <a:srgbClr val="403C4E"/>
                </a:solidFill>
                <a:latin typeface="Public Sans"/>
                <a:ea typeface="Public Sans"/>
                <a:cs typeface="Public Sans"/>
                <a:sym typeface="Public Sans"/>
              </a:rPr>
              <a:t>                                Nguyễn Quang Vinh - 0319967</a:t>
            </a:r>
          </a:p>
          <a:p>
            <a:pPr algn="ctr">
              <a:lnSpc>
                <a:spcPts val="4675"/>
              </a:lnSpc>
              <a:spcBef>
                <a:spcPct val="0"/>
              </a:spcBef>
            </a:pPr>
            <a:r>
              <a:rPr lang="en-US" sz="2871">
                <a:solidFill>
                  <a:srgbClr val="403C4E"/>
                </a:solidFill>
                <a:latin typeface="Public Sans"/>
                <a:ea typeface="Public Sans"/>
                <a:cs typeface="Public Sans"/>
                <a:sym typeface="Public Sans"/>
              </a:rPr>
              <a:t>                     Lâm Huy Hoàng - 81665</a:t>
            </a:r>
          </a:p>
        </p:txBody>
      </p:sp>
      <p:sp>
        <p:nvSpPr>
          <p:cNvPr name="TextBox 11" id="11"/>
          <p:cNvSpPr txBox="true"/>
          <p:nvPr/>
        </p:nvSpPr>
        <p:spPr>
          <a:xfrm rot="0">
            <a:off x="7643134" y="6867279"/>
            <a:ext cx="9148951" cy="640218"/>
          </a:xfrm>
          <a:prstGeom prst="rect">
            <a:avLst/>
          </a:prstGeom>
        </p:spPr>
        <p:txBody>
          <a:bodyPr anchor="t" rtlCol="false" tIns="0" lIns="0" bIns="0" rIns="0">
            <a:spAutoFit/>
          </a:bodyPr>
          <a:lstStyle/>
          <a:p>
            <a:pPr algn="ctr">
              <a:lnSpc>
                <a:spcPts val="5353"/>
              </a:lnSpc>
              <a:spcBef>
                <a:spcPct val="0"/>
              </a:spcBef>
            </a:pPr>
            <a:r>
              <a:rPr lang="en-US" sz="3287">
                <a:solidFill>
                  <a:srgbClr val="403C4E"/>
                </a:solidFill>
                <a:latin typeface="Public Sans"/>
                <a:ea typeface="Public Sans"/>
                <a:cs typeface="Public Sans"/>
                <a:sym typeface="Public Sans"/>
              </a:rPr>
              <a:t>Giáo viên hướng dẫn: Th.S Nguyễn Việt Nhật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a:grpSpLocks noChangeAspect="true"/>
          </p:cNvGrpSpPr>
          <p:nvPr/>
        </p:nvGrpSpPr>
        <p:grpSpPr>
          <a:xfrm rot="0">
            <a:off x="16049019" y="9686925"/>
            <a:ext cx="2153256" cy="514350"/>
            <a:chOff x="0" y="0"/>
            <a:chExt cx="2871008"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a:grpSpLocks noChangeAspect="true"/>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992238" y="1093143"/>
            <a:ext cx="9445526" cy="1800522"/>
          </a:xfrm>
          <a:prstGeom prst="rect">
            <a:avLst/>
          </a:prstGeom>
        </p:spPr>
        <p:txBody>
          <a:bodyPr anchor="t" rtlCol="false" tIns="0" lIns="0" bIns="0" rIns="0">
            <a:spAutoFit/>
          </a:bodyPr>
          <a:lstStyle/>
          <a:p>
            <a:pPr algn="l">
              <a:lnSpc>
                <a:spcPts val="6937"/>
              </a:lnSpc>
            </a:pPr>
            <a:r>
              <a:rPr lang="en-US" sz="5562" b="true">
                <a:solidFill>
                  <a:srgbClr val="403C4E"/>
                </a:solidFill>
                <a:latin typeface="Merriweather Bold"/>
                <a:ea typeface="Merriweather Bold"/>
                <a:cs typeface="Merriweather Bold"/>
                <a:sym typeface="Merriweather Bold"/>
              </a:rPr>
              <a:t>Tình hình an toàn bảo mật hiện nay</a:t>
            </a:r>
          </a:p>
        </p:txBody>
      </p:sp>
      <p:grpSp>
        <p:nvGrpSpPr>
          <p:cNvPr name="Group 11" id="11"/>
          <p:cNvGrpSpPr/>
          <p:nvPr/>
        </p:nvGrpSpPr>
        <p:grpSpPr>
          <a:xfrm rot="0">
            <a:off x="987475" y="3314105"/>
            <a:ext cx="4590455" cy="3466059"/>
            <a:chOff x="0" y="0"/>
            <a:chExt cx="6120607" cy="4621412"/>
          </a:xfrm>
        </p:grpSpPr>
        <p:sp>
          <p:nvSpPr>
            <p:cNvPr name="Freeform 12" id="12"/>
            <p:cNvSpPr/>
            <p:nvPr/>
          </p:nvSpPr>
          <p:spPr>
            <a:xfrm flipH="false" flipV="false" rot="0">
              <a:off x="6350" y="6350"/>
              <a:ext cx="6107938" cy="4608703"/>
            </a:xfrm>
            <a:custGeom>
              <a:avLst/>
              <a:gdLst/>
              <a:ahLst/>
              <a:cxnLst/>
              <a:rect r="r" b="b" t="t" l="l"/>
              <a:pathLst>
                <a:path h="4608703" w="6107938">
                  <a:moveTo>
                    <a:pt x="0" y="158750"/>
                  </a:moveTo>
                  <a:cubicBezTo>
                    <a:pt x="0" y="71120"/>
                    <a:pt x="71120" y="0"/>
                    <a:pt x="158877" y="0"/>
                  </a:cubicBezTo>
                  <a:lnTo>
                    <a:pt x="5949061" y="0"/>
                  </a:lnTo>
                  <a:cubicBezTo>
                    <a:pt x="6036818" y="0"/>
                    <a:pt x="6107938" y="71120"/>
                    <a:pt x="6107938" y="158750"/>
                  </a:cubicBezTo>
                  <a:lnTo>
                    <a:pt x="6107938" y="4449953"/>
                  </a:lnTo>
                  <a:cubicBezTo>
                    <a:pt x="6107938" y="4537583"/>
                    <a:pt x="6036818" y="4608703"/>
                    <a:pt x="5949061" y="4608703"/>
                  </a:cubicBezTo>
                  <a:lnTo>
                    <a:pt x="158877" y="4608703"/>
                  </a:lnTo>
                  <a:cubicBezTo>
                    <a:pt x="71120" y="4608703"/>
                    <a:pt x="0" y="4537583"/>
                    <a:pt x="0" y="4449953"/>
                  </a:cubicBezTo>
                  <a:close/>
                </a:path>
              </a:pathLst>
            </a:custGeom>
            <a:solidFill>
              <a:srgbClr val="FFD8CC"/>
            </a:solidFill>
          </p:spPr>
        </p:sp>
        <p:sp>
          <p:nvSpPr>
            <p:cNvPr name="Freeform 13" id="13"/>
            <p:cNvSpPr/>
            <p:nvPr/>
          </p:nvSpPr>
          <p:spPr>
            <a:xfrm flipH="false" flipV="false" rot="0">
              <a:off x="0" y="0"/>
              <a:ext cx="6120638" cy="4621403"/>
            </a:xfrm>
            <a:custGeom>
              <a:avLst/>
              <a:gdLst/>
              <a:ahLst/>
              <a:cxnLst/>
              <a:rect r="r" b="b" t="t" l="l"/>
              <a:pathLst>
                <a:path h="4621403" w="6120638">
                  <a:moveTo>
                    <a:pt x="0" y="165100"/>
                  </a:moveTo>
                  <a:cubicBezTo>
                    <a:pt x="0" y="73914"/>
                    <a:pt x="74041" y="0"/>
                    <a:pt x="165227" y="0"/>
                  </a:cubicBezTo>
                  <a:lnTo>
                    <a:pt x="5955411" y="0"/>
                  </a:lnTo>
                  <a:lnTo>
                    <a:pt x="5955411" y="6350"/>
                  </a:lnTo>
                  <a:lnTo>
                    <a:pt x="5955411" y="0"/>
                  </a:lnTo>
                  <a:cubicBezTo>
                    <a:pt x="6046597" y="0"/>
                    <a:pt x="6120638" y="73914"/>
                    <a:pt x="6120638" y="165100"/>
                  </a:cubicBezTo>
                  <a:lnTo>
                    <a:pt x="6114288" y="165100"/>
                  </a:lnTo>
                  <a:lnTo>
                    <a:pt x="6120638" y="165100"/>
                  </a:lnTo>
                  <a:lnTo>
                    <a:pt x="6120638" y="4456303"/>
                  </a:lnTo>
                  <a:lnTo>
                    <a:pt x="6114288" y="4456303"/>
                  </a:lnTo>
                  <a:lnTo>
                    <a:pt x="6120638" y="4456303"/>
                  </a:lnTo>
                  <a:cubicBezTo>
                    <a:pt x="6120638" y="4547489"/>
                    <a:pt x="6046597" y="4621403"/>
                    <a:pt x="5955411" y="4621403"/>
                  </a:cubicBezTo>
                  <a:lnTo>
                    <a:pt x="5955411" y="4615053"/>
                  </a:lnTo>
                  <a:lnTo>
                    <a:pt x="5955411" y="4621403"/>
                  </a:lnTo>
                  <a:lnTo>
                    <a:pt x="165227" y="4621403"/>
                  </a:lnTo>
                  <a:lnTo>
                    <a:pt x="165227" y="4615053"/>
                  </a:lnTo>
                  <a:lnTo>
                    <a:pt x="165227" y="4621403"/>
                  </a:lnTo>
                  <a:cubicBezTo>
                    <a:pt x="74041" y="4621403"/>
                    <a:pt x="0" y="4547489"/>
                    <a:pt x="0" y="4456303"/>
                  </a:cubicBezTo>
                  <a:lnTo>
                    <a:pt x="0" y="165100"/>
                  </a:lnTo>
                  <a:lnTo>
                    <a:pt x="6350" y="165100"/>
                  </a:lnTo>
                  <a:lnTo>
                    <a:pt x="0" y="165100"/>
                  </a:lnTo>
                  <a:moveTo>
                    <a:pt x="12700" y="165100"/>
                  </a:moveTo>
                  <a:lnTo>
                    <a:pt x="12700" y="4456303"/>
                  </a:lnTo>
                  <a:lnTo>
                    <a:pt x="6350" y="4456303"/>
                  </a:lnTo>
                  <a:lnTo>
                    <a:pt x="12700" y="4456303"/>
                  </a:lnTo>
                  <a:cubicBezTo>
                    <a:pt x="12700" y="4540504"/>
                    <a:pt x="81026" y="4608703"/>
                    <a:pt x="165227" y="4608703"/>
                  </a:cubicBezTo>
                  <a:lnTo>
                    <a:pt x="5955411" y="4608703"/>
                  </a:lnTo>
                  <a:cubicBezTo>
                    <a:pt x="6039612" y="4608703"/>
                    <a:pt x="6107938" y="4540504"/>
                    <a:pt x="6107938" y="4456303"/>
                  </a:cubicBezTo>
                  <a:lnTo>
                    <a:pt x="6107938" y="165100"/>
                  </a:lnTo>
                  <a:cubicBezTo>
                    <a:pt x="6107938" y="80899"/>
                    <a:pt x="6039612" y="12700"/>
                    <a:pt x="5955411" y="12700"/>
                  </a:cubicBezTo>
                  <a:lnTo>
                    <a:pt x="165227" y="12700"/>
                  </a:lnTo>
                  <a:lnTo>
                    <a:pt x="165227" y="6350"/>
                  </a:lnTo>
                  <a:lnTo>
                    <a:pt x="165227" y="12700"/>
                  </a:lnTo>
                  <a:cubicBezTo>
                    <a:pt x="81026" y="12700"/>
                    <a:pt x="12700" y="80899"/>
                    <a:pt x="12700" y="165100"/>
                  </a:cubicBezTo>
                  <a:close/>
                </a:path>
              </a:pathLst>
            </a:custGeom>
            <a:solidFill>
              <a:srgbClr val="E5BEB2"/>
            </a:solidFill>
          </p:spPr>
        </p:sp>
      </p:grpSp>
      <p:sp>
        <p:nvSpPr>
          <p:cNvPr name="TextBox 14" id="14"/>
          <p:cNvSpPr txBox="true"/>
          <p:nvPr/>
        </p:nvSpPr>
        <p:spPr>
          <a:xfrm rot="0">
            <a:off x="1285280" y="3602385"/>
            <a:ext cx="3994845" cy="895350"/>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Thông tin - Tài sản vô giá</a:t>
            </a:r>
          </a:p>
        </p:txBody>
      </p:sp>
      <p:sp>
        <p:nvSpPr>
          <p:cNvPr name="TextBox 15" id="15"/>
          <p:cNvSpPr txBox="true"/>
          <p:nvPr/>
        </p:nvSpPr>
        <p:spPr>
          <a:xfrm rot="0">
            <a:off x="1285280" y="4582120"/>
            <a:ext cx="3994845" cy="1900237"/>
          </a:xfrm>
          <a:prstGeom prst="rect">
            <a:avLst/>
          </a:prstGeom>
        </p:spPr>
        <p:txBody>
          <a:bodyPr anchor="t" rtlCol="false" tIns="0" lIns="0" bIns="0" rIns="0">
            <a:spAutoFit/>
          </a:bodyPr>
          <a:lstStyle/>
          <a:p>
            <a:pPr algn="l">
              <a:lnSpc>
                <a:spcPts val="3562"/>
              </a:lnSpc>
            </a:pPr>
            <a:r>
              <a:rPr lang="en-US" sz="2187">
                <a:solidFill>
                  <a:srgbClr val="403C4E"/>
                </a:solidFill>
                <a:latin typeface="Open Sans"/>
                <a:ea typeface="Open Sans"/>
                <a:cs typeface="Open Sans"/>
                <a:sym typeface="Open Sans"/>
              </a:rPr>
              <a:t>Dữ liệu được tạo ra và trao đổi với tốc độ chưa từng có, mang lại cơ hội nhưng cũng tiềm ẩn nguy cơ lớn.</a:t>
            </a:r>
          </a:p>
        </p:txBody>
      </p:sp>
      <p:grpSp>
        <p:nvGrpSpPr>
          <p:cNvPr name="Group 16" id="16"/>
          <p:cNvGrpSpPr/>
          <p:nvPr/>
        </p:nvGrpSpPr>
        <p:grpSpPr>
          <a:xfrm rot="0">
            <a:off x="5851922" y="3314105"/>
            <a:ext cx="4590604" cy="3466059"/>
            <a:chOff x="0" y="0"/>
            <a:chExt cx="6120805" cy="4621412"/>
          </a:xfrm>
        </p:grpSpPr>
        <p:sp>
          <p:nvSpPr>
            <p:cNvPr name="Freeform 17" id="17"/>
            <p:cNvSpPr/>
            <p:nvPr/>
          </p:nvSpPr>
          <p:spPr>
            <a:xfrm flipH="false" flipV="false" rot="0">
              <a:off x="6350" y="6350"/>
              <a:ext cx="6108065" cy="4608703"/>
            </a:xfrm>
            <a:custGeom>
              <a:avLst/>
              <a:gdLst/>
              <a:ahLst/>
              <a:cxnLst/>
              <a:rect r="r" b="b" t="t" l="l"/>
              <a:pathLst>
                <a:path h="4608703" w="6108065">
                  <a:moveTo>
                    <a:pt x="0" y="158750"/>
                  </a:moveTo>
                  <a:cubicBezTo>
                    <a:pt x="0" y="71120"/>
                    <a:pt x="71120" y="0"/>
                    <a:pt x="158877" y="0"/>
                  </a:cubicBezTo>
                  <a:lnTo>
                    <a:pt x="5949188" y="0"/>
                  </a:lnTo>
                  <a:cubicBezTo>
                    <a:pt x="6036945" y="0"/>
                    <a:pt x="6108065" y="71120"/>
                    <a:pt x="6108065" y="158750"/>
                  </a:cubicBezTo>
                  <a:lnTo>
                    <a:pt x="6108065" y="4449953"/>
                  </a:lnTo>
                  <a:cubicBezTo>
                    <a:pt x="6108065" y="4537583"/>
                    <a:pt x="6036945" y="4608703"/>
                    <a:pt x="5949188" y="4608703"/>
                  </a:cubicBezTo>
                  <a:lnTo>
                    <a:pt x="158877" y="4608703"/>
                  </a:lnTo>
                  <a:cubicBezTo>
                    <a:pt x="71120" y="4608703"/>
                    <a:pt x="0" y="4537583"/>
                    <a:pt x="0" y="4449953"/>
                  </a:cubicBezTo>
                  <a:close/>
                </a:path>
              </a:pathLst>
            </a:custGeom>
            <a:solidFill>
              <a:srgbClr val="FFD8CC"/>
            </a:solidFill>
          </p:spPr>
        </p:sp>
        <p:sp>
          <p:nvSpPr>
            <p:cNvPr name="Freeform 18" id="18"/>
            <p:cNvSpPr/>
            <p:nvPr/>
          </p:nvSpPr>
          <p:spPr>
            <a:xfrm flipH="false" flipV="false" rot="0">
              <a:off x="0" y="0"/>
              <a:ext cx="6120765" cy="4621403"/>
            </a:xfrm>
            <a:custGeom>
              <a:avLst/>
              <a:gdLst/>
              <a:ahLst/>
              <a:cxnLst/>
              <a:rect r="r" b="b" t="t" l="l"/>
              <a:pathLst>
                <a:path h="4621403" w="6120765">
                  <a:moveTo>
                    <a:pt x="0" y="165100"/>
                  </a:moveTo>
                  <a:cubicBezTo>
                    <a:pt x="0" y="73914"/>
                    <a:pt x="74041" y="0"/>
                    <a:pt x="165227" y="0"/>
                  </a:cubicBezTo>
                  <a:lnTo>
                    <a:pt x="5955538" y="0"/>
                  </a:lnTo>
                  <a:lnTo>
                    <a:pt x="5955538" y="6350"/>
                  </a:lnTo>
                  <a:lnTo>
                    <a:pt x="5955538" y="0"/>
                  </a:lnTo>
                  <a:cubicBezTo>
                    <a:pt x="6046724" y="0"/>
                    <a:pt x="6120765" y="73914"/>
                    <a:pt x="6120765" y="165100"/>
                  </a:cubicBezTo>
                  <a:lnTo>
                    <a:pt x="6114415" y="165100"/>
                  </a:lnTo>
                  <a:lnTo>
                    <a:pt x="6120765" y="165100"/>
                  </a:lnTo>
                  <a:lnTo>
                    <a:pt x="6120765" y="4456303"/>
                  </a:lnTo>
                  <a:lnTo>
                    <a:pt x="6114415" y="4456303"/>
                  </a:lnTo>
                  <a:lnTo>
                    <a:pt x="6120765" y="4456303"/>
                  </a:lnTo>
                  <a:cubicBezTo>
                    <a:pt x="6120765" y="4547489"/>
                    <a:pt x="6046724" y="4621403"/>
                    <a:pt x="5955538" y="4621403"/>
                  </a:cubicBezTo>
                  <a:lnTo>
                    <a:pt x="5955538" y="4615053"/>
                  </a:lnTo>
                  <a:lnTo>
                    <a:pt x="5955538" y="4621403"/>
                  </a:lnTo>
                  <a:lnTo>
                    <a:pt x="165227" y="4621403"/>
                  </a:lnTo>
                  <a:lnTo>
                    <a:pt x="165227" y="4615053"/>
                  </a:lnTo>
                  <a:lnTo>
                    <a:pt x="165227" y="4621403"/>
                  </a:lnTo>
                  <a:cubicBezTo>
                    <a:pt x="74041" y="4621403"/>
                    <a:pt x="0" y="4547489"/>
                    <a:pt x="0" y="4456303"/>
                  </a:cubicBezTo>
                  <a:lnTo>
                    <a:pt x="0" y="165100"/>
                  </a:lnTo>
                  <a:lnTo>
                    <a:pt x="6350" y="165100"/>
                  </a:lnTo>
                  <a:lnTo>
                    <a:pt x="0" y="165100"/>
                  </a:lnTo>
                  <a:moveTo>
                    <a:pt x="12700" y="165100"/>
                  </a:moveTo>
                  <a:lnTo>
                    <a:pt x="12700" y="4456303"/>
                  </a:lnTo>
                  <a:lnTo>
                    <a:pt x="6350" y="4456303"/>
                  </a:lnTo>
                  <a:lnTo>
                    <a:pt x="12700" y="4456303"/>
                  </a:lnTo>
                  <a:cubicBezTo>
                    <a:pt x="12700" y="4540504"/>
                    <a:pt x="81026" y="4608703"/>
                    <a:pt x="165227" y="4608703"/>
                  </a:cubicBezTo>
                  <a:lnTo>
                    <a:pt x="5955538" y="4608703"/>
                  </a:lnTo>
                  <a:cubicBezTo>
                    <a:pt x="6039739" y="4608703"/>
                    <a:pt x="6108065" y="4540504"/>
                    <a:pt x="6108065" y="4456303"/>
                  </a:cubicBezTo>
                  <a:lnTo>
                    <a:pt x="6108065" y="165100"/>
                  </a:lnTo>
                  <a:cubicBezTo>
                    <a:pt x="6108065" y="80899"/>
                    <a:pt x="6039739" y="12700"/>
                    <a:pt x="5955538" y="12700"/>
                  </a:cubicBezTo>
                  <a:lnTo>
                    <a:pt x="165227" y="12700"/>
                  </a:lnTo>
                  <a:lnTo>
                    <a:pt x="165227" y="6350"/>
                  </a:lnTo>
                  <a:lnTo>
                    <a:pt x="165227" y="12700"/>
                  </a:lnTo>
                  <a:cubicBezTo>
                    <a:pt x="81026" y="12700"/>
                    <a:pt x="12700" y="80899"/>
                    <a:pt x="12700" y="165100"/>
                  </a:cubicBezTo>
                  <a:close/>
                </a:path>
              </a:pathLst>
            </a:custGeom>
            <a:solidFill>
              <a:srgbClr val="E5BEB2"/>
            </a:solidFill>
          </p:spPr>
        </p:sp>
      </p:grpSp>
      <p:sp>
        <p:nvSpPr>
          <p:cNvPr name="TextBox 19" id="19"/>
          <p:cNvSpPr txBox="true"/>
          <p:nvPr/>
        </p:nvSpPr>
        <p:spPr>
          <a:xfrm rot="0">
            <a:off x="6149727" y="3602385"/>
            <a:ext cx="3544044" cy="452437"/>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Mối đe dọa gia tăng</a:t>
            </a:r>
          </a:p>
        </p:txBody>
      </p:sp>
      <p:sp>
        <p:nvSpPr>
          <p:cNvPr name="TextBox 20" id="20"/>
          <p:cNvSpPr txBox="true"/>
          <p:nvPr/>
        </p:nvSpPr>
        <p:spPr>
          <a:xfrm rot="0">
            <a:off x="6149727" y="4139207"/>
            <a:ext cx="3994994" cy="1900237"/>
          </a:xfrm>
          <a:prstGeom prst="rect">
            <a:avLst/>
          </a:prstGeom>
        </p:spPr>
        <p:txBody>
          <a:bodyPr anchor="t" rtlCol="false" tIns="0" lIns="0" bIns="0" rIns="0">
            <a:spAutoFit/>
          </a:bodyPr>
          <a:lstStyle/>
          <a:p>
            <a:pPr algn="l">
              <a:lnSpc>
                <a:spcPts val="3562"/>
              </a:lnSpc>
            </a:pPr>
            <a:r>
              <a:rPr lang="en-US" sz="2187">
                <a:solidFill>
                  <a:srgbClr val="403C4E"/>
                </a:solidFill>
                <a:latin typeface="Open Sans"/>
                <a:ea typeface="Open Sans"/>
                <a:cs typeface="Open Sans"/>
                <a:sym typeface="Open Sans"/>
              </a:rPr>
              <a:t>Mỗi lỗ hổng bảo mật, rò rỉ dữ liệu hay tấn công mạng gây thiệt hại kinh tế và làm suy giảm niềm tin.</a:t>
            </a:r>
          </a:p>
        </p:txBody>
      </p:sp>
      <p:grpSp>
        <p:nvGrpSpPr>
          <p:cNvPr name="Group 21" id="21"/>
          <p:cNvGrpSpPr/>
          <p:nvPr/>
        </p:nvGrpSpPr>
        <p:grpSpPr>
          <a:xfrm rot="0">
            <a:off x="987475" y="7054155"/>
            <a:ext cx="9455051" cy="2115890"/>
            <a:chOff x="0" y="0"/>
            <a:chExt cx="12606735" cy="2821187"/>
          </a:xfrm>
        </p:grpSpPr>
        <p:sp>
          <p:nvSpPr>
            <p:cNvPr name="Freeform 22" id="22"/>
            <p:cNvSpPr/>
            <p:nvPr/>
          </p:nvSpPr>
          <p:spPr>
            <a:xfrm flipH="false" flipV="false" rot="0">
              <a:off x="6350" y="6350"/>
              <a:ext cx="12594082" cy="2808478"/>
            </a:xfrm>
            <a:custGeom>
              <a:avLst/>
              <a:gdLst/>
              <a:ahLst/>
              <a:cxnLst/>
              <a:rect r="r" b="b" t="t" l="l"/>
              <a:pathLst>
                <a:path h="2808478" w="12594082">
                  <a:moveTo>
                    <a:pt x="0" y="158750"/>
                  </a:moveTo>
                  <a:cubicBezTo>
                    <a:pt x="0" y="71120"/>
                    <a:pt x="71374" y="0"/>
                    <a:pt x="159385" y="0"/>
                  </a:cubicBezTo>
                  <a:lnTo>
                    <a:pt x="12434697" y="0"/>
                  </a:lnTo>
                  <a:cubicBezTo>
                    <a:pt x="12522708" y="0"/>
                    <a:pt x="12594082" y="71120"/>
                    <a:pt x="12594082" y="158750"/>
                  </a:cubicBezTo>
                  <a:lnTo>
                    <a:pt x="12594082" y="2649728"/>
                  </a:lnTo>
                  <a:cubicBezTo>
                    <a:pt x="12594082" y="2737485"/>
                    <a:pt x="12522708" y="2808478"/>
                    <a:pt x="12434697" y="2808478"/>
                  </a:cubicBezTo>
                  <a:lnTo>
                    <a:pt x="159385" y="2808478"/>
                  </a:lnTo>
                  <a:cubicBezTo>
                    <a:pt x="71374" y="2808478"/>
                    <a:pt x="0" y="2737358"/>
                    <a:pt x="0" y="2649728"/>
                  </a:cubicBezTo>
                  <a:close/>
                </a:path>
              </a:pathLst>
            </a:custGeom>
            <a:solidFill>
              <a:srgbClr val="FFD8CC"/>
            </a:solidFill>
          </p:spPr>
        </p:sp>
        <p:sp>
          <p:nvSpPr>
            <p:cNvPr name="Freeform 23" id="23"/>
            <p:cNvSpPr/>
            <p:nvPr/>
          </p:nvSpPr>
          <p:spPr>
            <a:xfrm flipH="false" flipV="false" rot="0">
              <a:off x="0" y="0"/>
              <a:ext cx="12606782" cy="2821178"/>
            </a:xfrm>
            <a:custGeom>
              <a:avLst/>
              <a:gdLst/>
              <a:ahLst/>
              <a:cxnLst/>
              <a:rect r="r" b="b" t="t" l="l"/>
              <a:pathLst>
                <a:path h="2821178" w="12606782">
                  <a:moveTo>
                    <a:pt x="0" y="165100"/>
                  </a:moveTo>
                  <a:cubicBezTo>
                    <a:pt x="0" y="73914"/>
                    <a:pt x="74168" y="0"/>
                    <a:pt x="165735" y="0"/>
                  </a:cubicBezTo>
                  <a:lnTo>
                    <a:pt x="12441047" y="0"/>
                  </a:lnTo>
                  <a:lnTo>
                    <a:pt x="12441047" y="6350"/>
                  </a:lnTo>
                  <a:lnTo>
                    <a:pt x="12441047" y="0"/>
                  </a:lnTo>
                  <a:cubicBezTo>
                    <a:pt x="12532487" y="0"/>
                    <a:pt x="12606782" y="73914"/>
                    <a:pt x="12606782" y="165100"/>
                  </a:cubicBezTo>
                  <a:lnTo>
                    <a:pt x="12600432" y="165100"/>
                  </a:lnTo>
                  <a:lnTo>
                    <a:pt x="12606782" y="165100"/>
                  </a:lnTo>
                  <a:lnTo>
                    <a:pt x="12606782" y="2656078"/>
                  </a:lnTo>
                  <a:lnTo>
                    <a:pt x="12600432" y="2656078"/>
                  </a:lnTo>
                  <a:lnTo>
                    <a:pt x="12606782" y="2656078"/>
                  </a:lnTo>
                  <a:cubicBezTo>
                    <a:pt x="12606782" y="2747264"/>
                    <a:pt x="12532614" y="2821178"/>
                    <a:pt x="12441047" y="2821178"/>
                  </a:cubicBezTo>
                  <a:lnTo>
                    <a:pt x="12441047" y="2814828"/>
                  </a:lnTo>
                  <a:lnTo>
                    <a:pt x="12441047" y="2821178"/>
                  </a:lnTo>
                  <a:lnTo>
                    <a:pt x="165735" y="2821178"/>
                  </a:lnTo>
                  <a:lnTo>
                    <a:pt x="165735" y="2814828"/>
                  </a:lnTo>
                  <a:lnTo>
                    <a:pt x="165735" y="2821178"/>
                  </a:lnTo>
                  <a:cubicBezTo>
                    <a:pt x="74295"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735" y="2808478"/>
                  </a:cubicBezTo>
                  <a:lnTo>
                    <a:pt x="12441047" y="2808478"/>
                  </a:lnTo>
                  <a:cubicBezTo>
                    <a:pt x="12525628" y="2808478"/>
                    <a:pt x="12594082" y="2740152"/>
                    <a:pt x="12594082" y="2656078"/>
                  </a:cubicBezTo>
                  <a:lnTo>
                    <a:pt x="12594082" y="165100"/>
                  </a:lnTo>
                  <a:cubicBezTo>
                    <a:pt x="12594082" y="80899"/>
                    <a:pt x="12525628" y="12700"/>
                    <a:pt x="12441047" y="12700"/>
                  </a:cubicBezTo>
                  <a:lnTo>
                    <a:pt x="165735" y="12700"/>
                  </a:lnTo>
                  <a:lnTo>
                    <a:pt x="165735" y="6350"/>
                  </a:lnTo>
                  <a:lnTo>
                    <a:pt x="165735" y="12700"/>
                  </a:lnTo>
                  <a:cubicBezTo>
                    <a:pt x="81153" y="12700"/>
                    <a:pt x="12700" y="81026"/>
                    <a:pt x="12700" y="165100"/>
                  </a:cubicBezTo>
                  <a:close/>
                </a:path>
              </a:pathLst>
            </a:custGeom>
            <a:solidFill>
              <a:srgbClr val="E5BEB2"/>
            </a:solidFill>
          </p:spPr>
        </p:sp>
      </p:grpSp>
      <p:sp>
        <p:nvSpPr>
          <p:cNvPr name="TextBox 24" id="24"/>
          <p:cNvSpPr txBox="true"/>
          <p:nvPr/>
        </p:nvSpPr>
        <p:spPr>
          <a:xfrm rot="0">
            <a:off x="1285280" y="7342435"/>
            <a:ext cx="3544044" cy="452437"/>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Giải pháp IDS</a:t>
            </a:r>
          </a:p>
        </p:txBody>
      </p:sp>
      <p:sp>
        <p:nvSpPr>
          <p:cNvPr name="TextBox 25" id="25"/>
          <p:cNvSpPr txBox="true"/>
          <p:nvPr/>
        </p:nvSpPr>
        <p:spPr>
          <a:xfrm rot="0">
            <a:off x="1285280" y="7879259"/>
            <a:ext cx="8859441" cy="992981"/>
          </a:xfrm>
          <a:prstGeom prst="rect">
            <a:avLst/>
          </a:prstGeom>
        </p:spPr>
        <p:txBody>
          <a:bodyPr anchor="t" rtlCol="false" tIns="0" lIns="0" bIns="0" rIns="0">
            <a:spAutoFit/>
          </a:bodyPr>
          <a:lstStyle/>
          <a:p>
            <a:pPr algn="l">
              <a:lnSpc>
                <a:spcPts val="3562"/>
              </a:lnSpc>
            </a:pPr>
            <a:r>
              <a:rPr lang="en-US" sz="2187">
                <a:solidFill>
                  <a:srgbClr val="403C4E"/>
                </a:solidFill>
                <a:latin typeface="Open Sans"/>
                <a:ea typeface="Open Sans"/>
                <a:cs typeface="Open Sans"/>
                <a:sym typeface="Open Sans"/>
              </a:rPr>
              <a:t>Hệ thống phát hiện xâm nhập đóng vai trò "lá chắn cảnh báo sớm" để nhận diện nguy cơ tiềm ẩn.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7" y="2345680"/>
            <a:ext cx="12051207" cy="871537"/>
          </a:xfrm>
          <a:prstGeom prst="rect">
            <a:avLst/>
          </a:prstGeom>
        </p:spPr>
        <p:txBody>
          <a:bodyPr anchor="t" rtlCol="false" tIns="0" lIns="0" bIns="0" rIns="0">
            <a:spAutoFit/>
          </a:bodyPr>
          <a:lstStyle/>
          <a:p>
            <a:pPr algn="l">
              <a:lnSpc>
                <a:spcPts val="6937"/>
              </a:lnSpc>
            </a:pPr>
            <a:r>
              <a:rPr lang="en-US" sz="5562" b="true">
                <a:solidFill>
                  <a:srgbClr val="403C4E"/>
                </a:solidFill>
                <a:latin typeface="Merriweather Bold"/>
                <a:ea typeface="Merriweather Bold"/>
                <a:cs typeface="Merriweather Bold"/>
                <a:sym typeface="Merriweather Bold"/>
              </a:rPr>
              <a:t>Mục tiêu và phạm vi nghiên cứu</a:t>
            </a:r>
          </a:p>
        </p:txBody>
      </p:sp>
      <p:sp>
        <p:nvSpPr>
          <p:cNvPr name="TextBox 7" id="7"/>
          <p:cNvSpPr txBox="true"/>
          <p:nvPr/>
        </p:nvSpPr>
        <p:spPr>
          <a:xfrm rot="0">
            <a:off x="992238" y="3959424"/>
            <a:ext cx="3544044" cy="452437"/>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Mục tiêu đề tài</a:t>
            </a:r>
          </a:p>
        </p:txBody>
      </p:sp>
      <p:sp>
        <p:nvSpPr>
          <p:cNvPr name="TextBox 8" id="8"/>
          <p:cNvSpPr txBox="true"/>
          <p:nvPr/>
        </p:nvSpPr>
        <p:spPr>
          <a:xfrm rot="0">
            <a:off x="992238" y="4609654"/>
            <a:ext cx="7805886" cy="992981"/>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03C4E"/>
                </a:solidFill>
                <a:latin typeface="Open Sans"/>
                <a:ea typeface="Open Sans"/>
                <a:cs typeface="Open Sans"/>
                <a:sym typeface="Open Sans"/>
              </a:rPr>
              <a:t>Tìm hiểu tổng quan về IDS và vai trò trong bảo mật mạng</a:t>
            </a:r>
          </a:p>
        </p:txBody>
      </p:sp>
      <p:sp>
        <p:nvSpPr>
          <p:cNvPr name="TextBox 9" id="9"/>
          <p:cNvSpPr txBox="true"/>
          <p:nvPr/>
        </p:nvSpPr>
        <p:spPr>
          <a:xfrm rot="0">
            <a:off x="992238" y="5616029"/>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03C4E"/>
                </a:solidFill>
                <a:latin typeface="Open Sans"/>
                <a:ea typeface="Open Sans"/>
                <a:cs typeface="Open Sans"/>
                <a:sym typeface="Open Sans"/>
              </a:rPr>
              <a:t>Phân loại IDS theo phương pháp phát hiện và triển khai</a:t>
            </a:r>
          </a:p>
        </p:txBody>
      </p:sp>
      <p:sp>
        <p:nvSpPr>
          <p:cNvPr name="TextBox 10" id="10"/>
          <p:cNvSpPr txBox="true"/>
          <p:nvPr/>
        </p:nvSpPr>
        <p:spPr>
          <a:xfrm rot="0">
            <a:off x="992238" y="6168777"/>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03C4E"/>
                </a:solidFill>
                <a:latin typeface="Open Sans"/>
                <a:ea typeface="Open Sans"/>
                <a:cs typeface="Open Sans"/>
                <a:sym typeface="Open Sans"/>
              </a:rPr>
              <a:t>Phân tích, so sánh Snort, Zeek, Suricata</a:t>
            </a:r>
          </a:p>
        </p:txBody>
      </p:sp>
      <p:sp>
        <p:nvSpPr>
          <p:cNvPr name="TextBox 11" id="11"/>
          <p:cNvSpPr txBox="true"/>
          <p:nvPr/>
        </p:nvSpPr>
        <p:spPr>
          <a:xfrm rot="0">
            <a:off x="992238" y="6721525"/>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03C4E"/>
                </a:solidFill>
                <a:latin typeface="Open Sans"/>
                <a:ea typeface="Open Sans"/>
                <a:cs typeface="Open Sans"/>
                <a:sym typeface="Open Sans"/>
              </a:rPr>
              <a:t>Thực hành cài đặt và demo IDS</a:t>
            </a:r>
          </a:p>
        </p:txBody>
      </p:sp>
      <p:sp>
        <p:nvSpPr>
          <p:cNvPr name="TextBox 12" id="12"/>
          <p:cNvSpPr txBox="true"/>
          <p:nvPr/>
        </p:nvSpPr>
        <p:spPr>
          <a:xfrm rot="0">
            <a:off x="992238" y="7274272"/>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03C4E"/>
                </a:solidFill>
                <a:latin typeface="Open Sans"/>
                <a:ea typeface="Open Sans"/>
                <a:cs typeface="Open Sans"/>
                <a:sym typeface="Open Sans"/>
              </a:rPr>
              <a:t>Đánh giá hiệu quả và đề xuất phát triển</a:t>
            </a:r>
          </a:p>
        </p:txBody>
      </p:sp>
      <p:sp>
        <p:nvSpPr>
          <p:cNvPr name="TextBox 13" id="13"/>
          <p:cNvSpPr txBox="true"/>
          <p:nvPr/>
        </p:nvSpPr>
        <p:spPr>
          <a:xfrm rot="0">
            <a:off x="9499401" y="3959424"/>
            <a:ext cx="3544044" cy="452437"/>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Phạm vi nghiên cứu</a:t>
            </a:r>
          </a:p>
        </p:txBody>
      </p:sp>
      <p:sp>
        <p:nvSpPr>
          <p:cNvPr name="TextBox 14" id="14"/>
          <p:cNvSpPr txBox="true"/>
          <p:nvPr/>
        </p:nvSpPr>
        <p:spPr>
          <a:xfrm rot="0">
            <a:off x="9499401" y="4609654"/>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03C4E"/>
                </a:solidFill>
                <a:latin typeface="Open Sans"/>
                <a:ea typeface="Open Sans"/>
                <a:cs typeface="Open Sans"/>
                <a:sym typeface="Open Sans"/>
              </a:rPr>
              <a:t>Nghiên cứu khái niệm, nguyên lý và phân loại IDS</a:t>
            </a:r>
          </a:p>
        </p:txBody>
      </p:sp>
      <p:sp>
        <p:nvSpPr>
          <p:cNvPr name="TextBox 15" id="15"/>
          <p:cNvSpPr txBox="true"/>
          <p:nvPr/>
        </p:nvSpPr>
        <p:spPr>
          <a:xfrm rot="0">
            <a:off x="9499401" y="5162401"/>
            <a:ext cx="7805886" cy="53935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03C4E"/>
                </a:solidFill>
                <a:latin typeface="Open Sans"/>
                <a:ea typeface="Open Sans"/>
                <a:cs typeface="Open Sans"/>
                <a:sym typeface="Open Sans"/>
              </a:rPr>
              <a:t>Phân tích công cụ mã nguồn mở: Snort, Zeek, Suricata</a:t>
            </a:r>
          </a:p>
        </p:txBody>
      </p:sp>
      <p:sp>
        <p:nvSpPr>
          <p:cNvPr name="TextBox 16" id="16"/>
          <p:cNvSpPr txBox="true"/>
          <p:nvPr/>
        </p:nvSpPr>
        <p:spPr>
          <a:xfrm rot="0">
            <a:off x="9499401" y="5715149"/>
            <a:ext cx="7805886" cy="992981"/>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03C4E"/>
                </a:solidFill>
                <a:latin typeface="Open Sans"/>
                <a:ea typeface="Open Sans"/>
                <a:cs typeface="Open Sans"/>
                <a:sym typeface="Open Sans"/>
              </a:rPr>
              <a:t>Demo trên môi trường lab để minh họa khả năng phát hiện</a:t>
            </a:r>
          </a:p>
        </p:txBody>
      </p:sp>
      <p:sp>
        <p:nvSpPr>
          <p:cNvPr name="TextBox 17" id="17"/>
          <p:cNvSpPr txBox="true"/>
          <p:nvPr/>
        </p:nvSpPr>
        <p:spPr>
          <a:xfrm rot="0">
            <a:off x="9499401" y="6721525"/>
            <a:ext cx="7805886" cy="992981"/>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03C4E"/>
                </a:solidFill>
                <a:latin typeface="Open Sans"/>
                <a:ea typeface="Open Sans"/>
                <a:cs typeface="Open Sans"/>
                <a:sym typeface="Open Sans"/>
              </a:rPr>
              <a:t>Tập trung ứng dụng và so sánh, không phát triển thuật toán mới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a:grpSpLocks noChangeAspect="true"/>
          </p:cNvGrpSpPr>
          <p:nvPr/>
        </p:nvGrpSpPr>
        <p:grpSpPr>
          <a:xfrm rot="0">
            <a:off x="16049019" y="9686925"/>
            <a:ext cx="2153256" cy="514350"/>
            <a:chOff x="0" y="0"/>
            <a:chExt cx="2871008"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a:grpSpLocks noChangeAspect="true"/>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504696" y="247947"/>
            <a:ext cx="9747545" cy="871537"/>
          </a:xfrm>
          <a:prstGeom prst="rect">
            <a:avLst/>
          </a:prstGeom>
        </p:spPr>
        <p:txBody>
          <a:bodyPr anchor="t" rtlCol="false" tIns="0" lIns="0" bIns="0" rIns="0">
            <a:spAutoFit/>
          </a:bodyPr>
          <a:lstStyle/>
          <a:p>
            <a:pPr algn="l">
              <a:lnSpc>
                <a:spcPts val="6937"/>
              </a:lnSpc>
            </a:pPr>
            <a:r>
              <a:rPr lang="en-US" sz="5562" b="true">
                <a:solidFill>
                  <a:srgbClr val="403C4E"/>
                </a:solidFill>
                <a:latin typeface="Merriweather Bold"/>
                <a:ea typeface="Merriweather Bold"/>
                <a:cs typeface="Merriweather Bold"/>
                <a:sym typeface="Merriweather Bold"/>
              </a:rPr>
              <a:t>Khái niệm và phân loại IDS</a:t>
            </a:r>
          </a:p>
        </p:txBody>
      </p:sp>
      <p:grpSp>
        <p:nvGrpSpPr>
          <p:cNvPr name="Group 11" id="11"/>
          <p:cNvGrpSpPr/>
          <p:nvPr/>
        </p:nvGrpSpPr>
        <p:grpSpPr>
          <a:xfrm rot="0">
            <a:off x="879038" y="1996352"/>
            <a:ext cx="311513" cy="311513"/>
            <a:chOff x="0" y="0"/>
            <a:chExt cx="863203" cy="863203"/>
          </a:xfrm>
        </p:grpSpPr>
        <p:sp>
          <p:nvSpPr>
            <p:cNvPr name="Freeform 12" id="12"/>
            <p:cNvSpPr/>
            <p:nvPr/>
          </p:nvSpPr>
          <p:spPr>
            <a:xfrm flipH="false" flipV="false" rot="0">
              <a:off x="6350" y="6350"/>
              <a:ext cx="850519" cy="850519"/>
            </a:xfrm>
            <a:custGeom>
              <a:avLst/>
              <a:gdLst/>
              <a:ahLst/>
              <a:cxnLst/>
              <a:rect r="r" b="b" t="t" l="l"/>
              <a:pathLst>
                <a:path h="850519" w="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FFD8CC"/>
            </a:solidFill>
          </p:spPr>
        </p:sp>
        <p:sp>
          <p:nvSpPr>
            <p:cNvPr name="Freeform 13" id="13"/>
            <p:cNvSpPr/>
            <p:nvPr/>
          </p:nvSpPr>
          <p:spPr>
            <a:xfrm flipH="false" flipV="false" rot="0">
              <a:off x="0" y="0"/>
              <a:ext cx="863219" cy="863219"/>
            </a:xfrm>
            <a:custGeom>
              <a:avLst/>
              <a:gdLst/>
              <a:ahLst/>
              <a:cxnLst/>
              <a:rect r="r" b="b" t="t" l="l"/>
              <a:pathLst>
                <a:path h="863219" w="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E5BEB2"/>
            </a:solidFill>
          </p:spPr>
        </p:sp>
      </p:grpSp>
      <p:sp>
        <p:nvSpPr>
          <p:cNvPr name="TextBox 14" id="14"/>
          <p:cNvSpPr txBox="true"/>
          <p:nvPr/>
        </p:nvSpPr>
        <p:spPr>
          <a:xfrm rot="0">
            <a:off x="1634877" y="1911602"/>
            <a:ext cx="3544044" cy="494348"/>
          </a:xfrm>
          <a:prstGeom prst="rect">
            <a:avLst/>
          </a:prstGeom>
        </p:spPr>
        <p:txBody>
          <a:bodyPr anchor="t" rtlCol="false" tIns="0" lIns="0" bIns="0" rIns="0">
            <a:spAutoFit/>
          </a:bodyPr>
          <a:lstStyle/>
          <a:p>
            <a:pPr algn="l">
              <a:lnSpc>
                <a:spcPts val="3937"/>
              </a:lnSpc>
            </a:pPr>
            <a:r>
              <a:rPr lang="en-US" sz="3149" b="true">
                <a:solidFill>
                  <a:srgbClr val="403C4E"/>
                </a:solidFill>
                <a:latin typeface="Merriweather Bold"/>
                <a:ea typeface="Merriweather Bold"/>
                <a:cs typeface="Merriweather Bold"/>
                <a:sym typeface="Merriweather Bold"/>
              </a:rPr>
              <a:t>IDS là gì?</a:t>
            </a:r>
          </a:p>
        </p:txBody>
      </p:sp>
      <p:sp>
        <p:nvSpPr>
          <p:cNvPr name="TextBox 15" id="15"/>
          <p:cNvSpPr txBox="true"/>
          <p:nvPr/>
        </p:nvSpPr>
        <p:spPr>
          <a:xfrm rot="0">
            <a:off x="1311176" y="2526060"/>
            <a:ext cx="8941064" cy="1738313"/>
          </a:xfrm>
          <a:prstGeom prst="rect">
            <a:avLst/>
          </a:prstGeom>
        </p:spPr>
        <p:txBody>
          <a:bodyPr anchor="t" rtlCol="false" tIns="0" lIns="0" bIns="0" rIns="0">
            <a:spAutoFit/>
          </a:bodyPr>
          <a:lstStyle/>
          <a:p>
            <a:pPr algn="l">
              <a:lnSpc>
                <a:spcPts val="4702"/>
              </a:lnSpc>
            </a:pPr>
            <a:r>
              <a:rPr lang="en-US" sz="2887">
                <a:solidFill>
                  <a:srgbClr val="403C4E"/>
                </a:solidFill>
                <a:latin typeface="Open Sans"/>
                <a:ea typeface="Open Sans"/>
                <a:cs typeface="Open Sans"/>
                <a:sym typeface="Open Sans"/>
              </a:rPr>
              <a:t>Hệ thống giám sát hoạt động mạng hoặc máy tính để phát hiện hành vi bất thường, truy cập trái phép, hoặc tấn công mạng.</a:t>
            </a:r>
          </a:p>
        </p:txBody>
      </p:sp>
      <p:grpSp>
        <p:nvGrpSpPr>
          <p:cNvPr name="Group 16" id="16"/>
          <p:cNvGrpSpPr/>
          <p:nvPr/>
        </p:nvGrpSpPr>
        <p:grpSpPr>
          <a:xfrm rot="0">
            <a:off x="825624" y="4763840"/>
            <a:ext cx="323701" cy="323701"/>
            <a:chOff x="0" y="0"/>
            <a:chExt cx="863203" cy="863203"/>
          </a:xfrm>
        </p:grpSpPr>
        <p:sp>
          <p:nvSpPr>
            <p:cNvPr name="Freeform 17" id="17"/>
            <p:cNvSpPr/>
            <p:nvPr/>
          </p:nvSpPr>
          <p:spPr>
            <a:xfrm flipH="false" flipV="false" rot="0">
              <a:off x="6350" y="6350"/>
              <a:ext cx="850519" cy="850519"/>
            </a:xfrm>
            <a:custGeom>
              <a:avLst/>
              <a:gdLst/>
              <a:ahLst/>
              <a:cxnLst/>
              <a:rect r="r" b="b" t="t" l="l"/>
              <a:pathLst>
                <a:path h="850519" w="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FFD8CC"/>
            </a:solidFill>
          </p:spPr>
        </p:sp>
        <p:sp>
          <p:nvSpPr>
            <p:cNvPr name="Freeform 18" id="18"/>
            <p:cNvSpPr/>
            <p:nvPr/>
          </p:nvSpPr>
          <p:spPr>
            <a:xfrm flipH="false" flipV="false" rot="0">
              <a:off x="0" y="0"/>
              <a:ext cx="863219" cy="863219"/>
            </a:xfrm>
            <a:custGeom>
              <a:avLst/>
              <a:gdLst/>
              <a:ahLst/>
              <a:cxnLst/>
              <a:rect r="r" b="b" t="t" l="l"/>
              <a:pathLst>
                <a:path h="863219" w="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E5BEB2"/>
            </a:solidFill>
          </p:spPr>
        </p:sp>
      </p:grpSp>
      <p:sp>
        <p:nvSpPr>
          <p:cNvPr name="TextBox 19" id="19"/>
          <p:cNvSpPr txBox="true"/>
          <p:nvPr/>
        </p:nvSpPr>
        <p:spPr>
          <a:xfrm rot="0">
            <a:off x="1634878" y="4701059"/>
            <a:ext cx="4540821" cy="475933"/>
          </a:xfrm>
          <a:prstGeom prst="rect">
            <a:avLst/>
          </a:prstGeom>
        </p:spPr>
        <p:txBody>
          <a:bodyPr anchor="t" rtlCol="false" tIns="0" lIns="0" bIns="0" rIns="0">
            <a:spAutoFit/>
          </a:bodyPr>
          <a:lstStyle/>
          <a:p>
            <a:pPr algn="l">
              <a:lnSpc>
                <a:spcPts val="3812"/>
              </a:lnSpc>
            </a:pPr>
            <a:r>
              <a:rPr lang="en-US" sz="3049" b="true">
                <a:solidFill>
                  <a:srgbClr val="403C4E"/>
                </a:solidFill>
                <a:latin typeface="Merriweather Bold"/>
                <a:ea typeface="Merriweather Bold"/>
                <a:cs typeface="Merriweather Bold"/>
                <a:sym typeface="Merriweather Bold"/>
              </a:rPr>
              <a:t>Signature-based IDS</a:t>
            </a:r>
          </a:p>
        </p:txBody>
      </p:sp>
      <p:sp>
        <p:nvSpPr>
          <p:cNvPr name="TextBox 20" id="20"/>
          <p:cNvSpPr txBox="true"/>
          <p:nvPr/>
        </p:nvSpPr>
        <p:spPr>
          <a:xfrm rot="0">
            <a:off x="1362453" y="5300817"/>
            <a:ext cx="8889788" cy="1738313"/>
          </a:xfrm>
          <a:prstGeom prst="rect">
            <a:avLst/>
          </a:prstGeom>
        </p:spPr>
        <p:txBody>
          <a:bodyPr anchor="t" rtlCol="false" tIns="0" lIns="0" bIns="0" rIns="0">
            <a:spAutoFit/>
          </a:bodyPr>
          <a:lstStyle/>
          <a:p>
            <a:pPr algn="l">
              <a:lnSpc>
                <a:spcPts val="4702"/>
              </a:lnSpc>
            </a:pPr>
            <a:r>
              <a:rPr lang="en-US" sz="2887">
                <a:solidFill>
                  <a:srgbClr val="403C4E"/>
                </a:solidFill>
                <a:latin typeface="Open Sans"/>
                <a:ea typeface="Open Sans"/>
                <a:cs typeface="Open Sans"/>
                <a:sym typeface="Open Sans"/>
              </a:rPr>
              <a:t>Phát hiện dựa trên chữ ký xác nhận của kẻ xâm nhập, sử dụng tập hợp signatures và luật định trước.</a:t>
            </a:r>
          </a:p>
        </p:txBody>
      </p:sp>
      <p:grpSp>
        <p:nvGrpSpPr>
          <p:cNvPr name="Group 21" id="21"/>
          <p:cNvGrpSpPr/>
          <p:nvPr/>
        </p:nvGrpSpPr>
        <p:grpSpPr>
          <a:xfrm rot="0">
            <a:off x="825624" y="7272189"/>
            <a:ext cx="329893" cy="329893"/>
            <a:chOff x="0" y="0"/>
            <a:chExt cx="863203" cy="863203"/>
          </a:xfrm>
        </p:grpSpPr>
        <p:sp>
          <p:nvSpPr>
            <p:cNvPr name="Freeform 22" id="22"/>
            <p:cNvSpPr/>
            <p:nvPr/>
          </p:nvSpPr>
          <p:spPr>
            <a:xfrm flipH="false" flipV="false" rot="0">
              <a:off x="6350" y="6350"/>
              <a:ext cx="850519" cy="850519"/>
            </a:xfrm>
            <a:custGeom>
              <a:avLst/>
              <a:gdLst/>
              <a:ahLst/>
              <a:cxnLst/>
              <a:rect r="r" b="b" t="t" l="l"/>
              <a:pathLst>
                <a:path h="850519" w="850519">
                  <a:moveTo>
                    <a:pt x="0" y="158750"/>
                  </a:moveTo>
                  <a:cubicBezTo>
                    <a:pt x="0" y="71120"/>
                    <a:pt x="71120" y="0"/>
                    <a:pt x="158750" y="0"/>
                  </a:cubicBezTo>
                  <a:lnTo>
                    <a:pt x="691769" y="0"/>
                  </a:lnTo>
                  <a:cubicBezTo>
                    <a:pt x="779399" y="0"/>
                    <a:pt x="850519" y="71120"/>
                    <a:pt x="850519" y="158750"/>
                  </a:cubicBezTo>
                  <a:lnTo>
                    <a:pt x="850519" y="691769"/>
                  </a:lnTo>
                  <a:cubicBezTo>
                    <a:pt x="850519" y="779399"/>
                    <a:pt x="779399" y="850519"/>
                    <a:pt x="691769" y="850519"/>
                  </a:cubicBezTo>
                  <a:lnTo>
                    <a:pt x="158750" y="850519"/>
                  </a:lnTo>
                  <a:cubicBezTo>
                    <a:pt x="71120" y="850519"/>
                    <a:pt x="0" y="779399"/>
                    <a:pt x="0" y="691769"/>
                  </a:cubicBezTo>
                  <a:close/>
                </a:path>
              </a:pathLst>
            </a:custGeom>
            <a:solidFill>
              <a:srgbClr val="FFD8CC"/>
            </a:solidFill>
          </p:spPr>
        </p:sp>
        <p:sp>
          <p:nvSpPr>
            <p:cNvPr name="Freeform 23" id="23"/>
            <p:cNvSpPr/>
            <p:nvPr/>
          </p:nvSpPr>
          <p:spPr>
            <a:xfrm flipH="false" flipV="false" rot="0">
              <a:off x="0" y="0"/>
              <a:ext cx="863219" cy="863219"/>
            </a:xfrm>
            <a:custGeom>
              <a:avLst/>
              <a:gdLst/>
              <a:ahLst/>
              <a:cxnLst/>
              <a:rect r="r" b="b" t="t" l="l"/>
              <a:pathLst>
                <a:path h="863219" w="863219">
                  <a:moveTo>
                    <a:pt x="0" y="165100"/>
                  </a:moveTo>
                  <a:cubicBezTo>
                    <a:pt x="0" y="73914"/>
                    <a:pt x="73914" y="0"/>
                    <a:pt x="165100" y="0"/>
                  </a:cubicBezTo>
                  <a:lnTo>
                    <a:pt x="698119" y="0"/>
                  </a:lnTo>
                  <a:lnTo>
                    <a:pt x="698119" y="6350"/>
                  </a:lnTo>
                  <a:lnTo>
                    <a:pt x="698119" y="0"/>
                  </a:lnTo>
                  <a:lnTo>
                    <a:pt x="698119" y="6350"/>
                  </a:lnTo>
                  <a:lnTo>
                    <a:pt x="698119" y="0"/>
                  </a:lnTo>
                  <a:cubicBezTo>
                    <a:pt x="789305" y="0"/>
                    <a:pt x="863219" y="73914"/>
                    <a:pt x="863219" y="165100"/>
                  </a:cubicBezTo>
                  <a:lnTo>
                    <a:pt x="856869" y="165100"/>
                  </a:lnTo>
                  <a:lnTo>
                    <a:pt x="863219" y="165100"/>
                  </a:lnTo>
                  <a:lnTo>
                    <a:pt x="863219" y="698119"/>
                  </a:lnTo>
                  <a:lnTo>
                    <a:pt x="856869" y="698119"/>
                  </a:lnTo>
                  <a:lnTo>
                    <a:pt x="863219" y="698119"/>
                  </a:lnTo>
                  <a:cubicBezTo>
                    <a:pt x="863219" y="789305"/>
                    <a:pt x="789305" y="863219"/>
                    <a:pt x="698119" y="863219"/>
                  </a:cubicBezTo>
                  <a:lnTo>
                    <a:pt x="698119" y="856869"/>
                  </a:lnTo>
                  <a:lnTo>
                    <a:pt x="698119" y="863219"/>
                  </a:lnTo>
                  <a:lnTo>
                    <a:pt x="165100" y="863219"/>
                  </a:lnTo>
                  <a:lnTo>
                    <a:pt x="165100" y="856869"/>
                  </a:lnTo>
                  <a:lnTo>
                    <a:pt x="165100" y="863219"/>
                  </a:lnTo>
                  <a:cubicBezTo>
                    <a:pt x="73914" y="863219"/>
                    <a:pt x="0" y="789305"/>
                    <a:pt x="0" y="698119"/>
                  </a:cubicBezTo>
                  <a:lnTo>
                    <a:pt x="0" y="165100"/>
                  </a:lnTo>
                  <a:lnTo>
                    <a:pt x="6350" y="165100"/>
                  </a:lnTo>
                  <a:lnTo>
                    <a:pt x="0" y="165100"/>
                  </a:lnTo>
                  <a:moveTo>
                    <a:pt x="12700" y="165100"/>
                  </a:moveTo>
                  <a:lnTo>
                    <a:pt x="12700" y="698119"/>
                  </a:lnTo>
                  <a:lnTo>
                    <a:pt x="6350" y="698119"/>
                  </a:lnTo>
                  <a:lnTo>
                    <a:pt x="12700" y="698119"/>
                  </a:lnTo>
                  <a:cubicBezTo>
                    <a:pt x="12700" y="782320"/>
                    <a:pt x="80899" y="850519"/>
                    <a:pt x="165100" y="850519"/>
                  </a:cubicBezTo>
                  <a:lnTo>
                    <a:pt x="698119" y="850519"/>
                  </a:lnTo>
                  <a:cubicBezTo>
                    <a:pt x="782320" y="850519"/>
                    <a:pt x="850519" y="782320"/>
                    <a:pt x="850519" y="698119"/>
                  </a:cubicBezTo>
                  <a:lnTo>
                    <a:pt x="850519" y="165100"/>
                  </a:lnTo>
                  <a:cubicBezTo>
                    <a:pt x="850519" y="80899"/>
                    <a:pt x="782320" y="12700"/>
                    <a:pt x="698119" y="12700"/>
                  </a:cubicBezTo>
                  <a:lnTo>
                    <a:pt x="165100" y="12700"/>
                  </a:lnTo>
                  <a:lnTo>
                    <a:pt x="165100" y="6350"/>
                  </a:lnTo>
                  <a:lnTo>
                    <a:pt x="165100" y="12700"/>
                  </a:lnTo>
                  <a:cubicBezTo>
                    <a:pt x="80899" y="12700"/>
                    <a:pt x="12700" y="80899"/>
                    <a:pt x="12700" y="165100"/>
                  </a:cubicBezTo>
                  <a:close/>
                </a:path>
              </a:pathLst>
            </a:custGeom>
            <a:solidFill>
              <a:srgbClr val="E5BEB2"/>
            </a:solidFill>
          </p:spPr>
        </p:sp>
      </p:grpSp>
      <p:sp>
        <p:nvSpPr>
          <p:cNvPr name="TextBox 24" id="24"/>
          <p:cNvSpPr txBox="true"/>
          <p:nvPr/>
        </p:nvSpPr>
        <p:spPr>
          <a:xfrm rot="0">
            <a:off x="1634878" y="7213139"/>
            <a:ext cx="3893714" cy="447993"/>
          </a:xfrm>
          <a:prstGeom prst="rect">
            <a:avLst/>
          </a:prstGeom>
        </p:spPr>
        <p:txBody>
          <a:bodyPr anchor="t" rtlCol="false" tIns="0" lIns="0" bIns="0" rIns="0">
            <a:spAutoFit/>
          </a:bodyPr>
          <a:lstStyle/>
          <a:p>
            <a:pPr algn="l">
              <a:lnSpc>
                <a:spcPts val="3687"/>
              </a:lnSpc>
            </a:pPr>
            <a:r>
              <a:rPr lang="en-US" sz="2949" b="true">
                <a:solidFill>
                  <a:srgbClr val="403C4E"/>
                </a:solidFill>
                <a:latin typeface="Merriweather Bold"/>
                <a:ea typeface="Merriweather Bold"/>
                <a:cs typeface="Merriweather Bold"/>
                <a:sym typeface="Merriweather Bold"/>
              </a:rPr>
              <a:t>Anomaly-based IDS</a:t>
            </a:r>
          </a:p>
        </p:txBody>
      </p:sp>
      <p:sp>
        <p:nvSpPr>
          <p:cNvPr name="TextBox 25" id="25"/>
          <p:cNvSpPr txBox="true"/>
          <p:nvPr/>
        </p:nvSpPr>
        <p:spPr>
          <a:xfrm rot="0">
            <a:off x="1266526" y="7944982"/>
            <a:ext cx="8524131" cy="1105581"/>
          </a:xfrm>
          <a:prstGeom prst="rect">
            <a:avLst/>
          </a:prstGeom>
        </p:spPr>
        <p:txBody>
          <a:bodyPr anchor="t" rtlCol="false" tIns="0" lIns="0" bIns="0" rIns="0">
            <a:spAutoFit/>
          </a:bodyPr>
          <a:lstStyle/>
          <a:p>
            <a:pPr algn="l">
              <a:lnSpc>
                <a:spcPts val="4539"/>
              </a:lnSpc>
            </a:pPr>
            <a:r>
              <a:rPr lang="en-US" sz="2787">
                <a:solidFill>
                  <a:srgbClr val="403C4E"/>
                </a:solidFill>
                <a:latin typeface="Open Sans"/>
                <a:ea typeface="Open Sans"/>
                <a:cs typeface="Open Sans"/>
                <a:sym typeface="Open Sans"/>
              </a:rPr>
              <a:t>Dựa vào header của gói khả nghi, phát hiện hành vi bất thường so với mô hình chuẩn.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7" y="1302299"/>
            <a:ext cx="10343356" cy="871537"/>
          </a:xfrm>
          <a:prstGeom prst="rect">
            <a:avLst/>
          </a:prstGeom>
        </p:spPr>
        <p:txBody>
          <a:bodyPr anchor="t" rtlCol="false" tIns="0" lIns="0" bIns="0" rIns="0">
            <a:spAutoFit/>
          </a:bodyPr>
          <a:lstStyle/>
          <a:p>
            <a:pPr algn="l">
              <a:lnSpc>
                <a:spcPts val="6937"/>
              </a:lnSpc>
            </a:pPr>
            <a:r>
              <a:rPr lang="en-US" sz="5562" b="true">
                <a:solidFill>
                  <a:srgbClr val="403C4E"/>
                </a:solidFill>
                <a:latin typeface="Merriweather Bold"/>
                <a:ea typeface="Merriweather Bold"/>
                <a:cs typeface="Merriweather Bold"/>
                <a:sym typeface="Merriweather Bold"/>
              </a:rPr>
              <a:t>Các hình thức triển khai IDS</a:t>
            </a:r>
          </a:p>
        </p:txBody>
      </p:sp>
      <p:grpSp>
        <p:nvGrpSpPr>
          <p:cNvPr name="Group 7" id="7"/>
          <p:cNvGrpSpPr>
            <a:grpSpLocks noChangeAspect="true"/>
          </p:cNvGrpSpPr>
          <p:nvPr/>
        </p:nvGrpSpPr>
        <p:grpSpPr>
          <a:xfrm rot="0">
            <a:off x="2947913" y="3326409"/>
            <a:ext cx="1074376" cy="1074376"/>
            <a:chOff x="0" y="0"/>
            <a:chExt cx="944960" cy="944960"/>
          </a:xfrm>
        </p:grpSpPr>
        <p:sp>
          <p:nvSpPr>
            <p:cNvPr name="Freeform 8" id="8" descr="preencoded.png"/>
            <p:cNvSpPr/>
            <p:nvPr/>
          </p:nvSpPr>
          <p:spPr>
            <a:xfrm flipH="false" flipV="false" rot="0">
              <a:off x="0" y="0"/>
              <a:ext cx="945007" cy="945007"/>
            </a:xfrm>
            <a:custGeom>
              <a:avLst/>
              <a:gdLst/>
              <a:ahLst/>
              <a:cxnLst/>
              <a:rect r="r" b="b" t="t" l="l"/>
              <a:pathLst>
                <a:path h="945007" w="945007">
                  <a:moveTo>
                    <a:pt x="0" y="0"/>
                  </a:moveTo>
                  <a:lnTo>
                    <a:pt x="945007" y="0"/>
                  </a:lnTo>
                  <a:lnTo>
                    <a:pt x="945007" y="945007"/>
                  </a:lnTo>
                  <a:lnTo>
                    <a:pt x="0" y="945007"/>
                  </a:lnTo>
                  <a:lnTo>
                    <a:pt x="0" y="0"/>
                  </a:lnTo>
                  <a:close/>
                </a:path>
              </a:pathLst>
            </a:custGeom>
            <a:blipFill>
              <a:blip r:embed="rId4"/>
              <a:stretch>
                <a:fillRect l="0" t="0" r="4" b="4"/>
              </a:stretch>
            </a:blipFill>
          </p:spPr>
        </p:sp>
      </p:grpSp>
      <p:sp>
        <p:nvSpPr>
          <p:cNvPr name="TextBox 9" id="9"/>
          <p:cNvSpPr txBox="true"/>
          <p:nvPr/>
        </p:nvSpPr>
        <p:spPr>
          <a:xfrm rot="0">
            <a:off x="992237" y="5178178"/>
            <a:ext cx="4909170" cy="439103"/>
          </a:xfrm>
          <a:prstGeom prst="rect">
            <a:avLst/>
          </a:prstGeom>
        </p:spPr>
        <p:txBody>
          <a:bodyPr anchor="t" rtlCol="false" tIns="0" lIns="0" bIns="0" rIns="0">
            <a:spAutoFit/>
          </a:bodyPr>
          <a:lstStyle/>
          <a:p>
            <a:pPr algn="l">
              <a:lnSpc>
                <a:spcPts val="3562"/>
              </a:lnSpc>
            </a:pPr>
            <a:r>
              <a:rPr lang="en-US" sz="2850" b="true">
                <a:solidFill>
                  <a:srgbClr val="403C4E"/>
                </a:solidFill>
                <a:latin typeface="Merriweather Bold"/>
                <a:ea typeface="Merriweather Bold"/>
                <a:cs typeface="Merriweather Bold"/>
                <a:sym typeface="Merriweather Bold"/>
              </a:rPr>
              <a:t>Network-based IDS (NIDS)</a:t>
            </a:r>
          </a:p>
        </p:txBody>
      </p:sp>
      <p:sp>
        <p:nvSpPr>
          <p:cNvPr name="TextBox 10" id="10"/>
          <p:cNvSpPr txBox="true"/>
          <p:nvPr/>
        </p:nvSpPr>
        <p:spPr>
          <a:xfrm rot="0">
            <a:off x="847688" y="5857065"/>
            <a:ext cx="5198269" cy="2730274"/>
          </a:xfrm>
          <a:prstGeom prst="rect">
            <a:avLst/>
          </a:prstGeom>
        </p:spPr>
        <p:txBody>
          <a:bodyPr anchor="t" rtlCol="false" tIns="0" lIns="0" bIns="0" rIns="0">
            <a:spAutoFit/>
          </a:bodyPr>
          <a:lstStyle/>
          <a:p>
            <a:pPr algn="l">
              <a:lnSpc>
                <a:spcPts val="4376"/>
              </a:lnSpc>
            </a:pPr>
            <a:r>
              <a:rPr lang="en-US" sz="2687">
                <a:solidFill>
                  <a:srgbClr val="403C4E"/>
                </a:solidFill>
                <a:latin typeface="Open Sans"/>
                <a:ea typeface="Open Sans"/>
                <a:cs typeface="Open Sans"/>
                <a:sym typeface="Open Sans"/>
              </a:rPr>
              <a:t>Giám sát lưu lượng mạng trong phân đoạn nhất định. Đặt tại biên mạng, DMZ, server farm. Có thể triển khai thụ động hoặc inline.</a:t>
            </a:r>
          </a:p>
        </p:txBody>
      </p:sp>
      <p:grpSp>
        <p:nvGrpSpPr>
          <p:cNvPr name="Group 11" id="11"/>
          <p:cNvGrpSpPr>
            <a:grpSpLocks noChangeAspect="true"/>
          </p:cNvGrpSpPr>
          <p:nvPr/>
        </p:nvGrpSpPr>
        <p:grpSpPr>
          <a:xfrm rot="0">
            <a:off x="8435280" y="3326409"/>
            <a:ext cx="1074376" cy="1074376"/>
            <a:chOff x="0" y="0"/>
            <a:chExt cx="944960" cy="944960"/>
          </a:xfrm>
        </p:grpSpPr>
        <p:sp>
          <p:nvSpPr>
            <p:cNvPr name="Freeform 12" id="12" descr="preencoded.png"/>
            <p:cNvSpPr/>
            <p:nvPr/>
          </p:nvSpPr>
          <p:spPr>
            <a:xfrm flipH="false" flipV="false" rot="0">
              <a:off x="0" y="0"/>
              <a:ext cx="945007" cy="945007"/>
            </a:xfrm>
            <a:custGeom>
              <a:avLst/>
              <a:gdLst/>
              <a:ahLst/>
              <a:cxnLst/>
              <a:rect r="r" b="b" t="t" l="l"/>
              <a:pathLst>
                <a:path h="945007" w="945007">
                  <a:moveTo>
                    <a:pt x="0" y="0"/>
                  </a:moveTo>
                  <a:lnTo>
                    <a:pt x="945007" y="0"/>
                  </a:lnTo>
                  <a:lnTo>
                    <a:pt x="945007" y="945007"/>
                  </a:lnTo>
                  <a:lnTo>
                    <a:pt x="0" y="945007"/>
                  </a:lnTo>
                  <a:lnTo>
                    <a:pt x="0" y="0"/>
                  </a:lnTo>
                  <a:close/>
                </a:path>
              </a:pathLst>
            </a:custGeom>
            <a:blipFill>
              <a:blip r:embed="rId5"/>
              <a:stretch>
                <a:fillRect l="0" t="0" r="4" b="4"/>
              </a:stretch>
            </a:blipFill>
          </p:spPr>
        </p:sp>
      </p:grpSp>
      <p:sp>
        <p:nvSpPr>
          <p:cNvPr name="TextBox 13" id="13"/>
          <p:cNvSpPr txBox="true"/>
          <p:nvPr/>
        </p:nvSpPr>
        <p:spPr>
          <a:xfrm rot="0">
            <a:off x="6544866" y="5178178"/>
            <a:ext cx="4332640" cy="439103"/>
          </a:xfrm>
          <a:prstGeom prst="rect">
            <a:avLst/>
          </a:prstGeom>
        </p:spPr>
        <p:txBody>
          <a:bodyPr anchor="t" rtlCol="false" tIns="0" lIns="0" bIns="0" rIns="0">
            <a:spAutoFit/>
          </a:bodyPr>
          <a:lstStyle/>
          <a:p>
            <a:pPr algn="l">
              <a:lnSpc>
                <a:spcPts val="3562"/>
              </a:lnSpc>
            </a:pPr>
            <a:r>
              <a:rPr lang="en-US" sz="2850" b="true">
                <a:solidFill>
                  <a:srgbClr val="403C4E"/>
                </a:solidFill>
                <a:latin typeface="Merriweather Bold"/>
                <a:ea typeface="Merriweather Bold"/>
                <a:cs typeface="Merriweather Bold"/>
                <a:sym typeface="Merriweather Bold"/>
              </a:rPr>
              <a:t>Host-based IDS (HIDS)</a:t>
            </a:r>
          </a:p>
        </p:txBody>
      </p:sp>
      <p:sp>
        <p:nvSpPr>
          <p:cNvPr name="TextBox 14" id="14"/>
          <p:cNvSpPr txBox="true"/>
          <p:nvPr/>
        </p:nvSpPr>
        <p:spPr>
          <a:xfrm rot="0">
            <a:off x="6398604" y="5857065"/>
            <a:ext cx="5198269" cy="2177824"/>
          </a:xfrm>
          <a:prstGeom prst="rect">
            <a:avLst/>
          </a:prstGeom>
        </p:spPr>
        <p:txBody>
          <a:bodyPr anchor="t" rtlCol="false" tIns="0" lIns="0" bIns="0" rIns="0">
            <a:spAutoFit/>
          </a:bodyPr>
          <a:lstStyle/>
          <a:p>
            <a:pPr algn="l">
              <a:lnSpc>
                <a:spcPts val="4376"/>
              </a:lnSpc>
            </a:pPr>
            <a:r>
              <a:rPr lang="en-US" sz="2687">
                <a:solidFill>
                  <a:srgbClr val="403C4E"/>
                </a:solidFill>
                <a:latin typeface="Open Sans"/>
                <a:ea typeface="Open Sans"/>
                <a:cs typeface="Open Sans"/>
                <a:sym typeface="Open Sans"/>
              </a:rPr>
              <a:t>Triển khai trực tiếp trên từng máy chủ dưới dạng phần mềm. Giám sát tiến trình, file, log hệ thống và tính toàn vẹn dữ liệu.</a:t>
            </a:r>
          </a:p>
        </p:txBody>
      </p:sp>
      <p:grpSp>
        <p:nvGrpSpPr>
          <p:cNvPr name="Group 15" id="15"/>
          <p:cNvGrpSpPr>
            <a:grpSpLocks noChangeAspect="true"/>
          </p:cNvGrpSpPr>
          <p:nvPr/>
        </p:nvGrpSpPr>
        <p:grpSpPr>
          <a:xfrm rot="0">
            <a:off x="14060760" y="3326409"/>
            <a:ext cx="928114" cy="928114"/>
            <a:chOff x="0" y="0"/>
            <a:chExt cx="944960" cy="944960"/>
          </a:xfrm>
        </p:grpSpPr>
        <p:sp>
          <p:nvSpPr>
            <p:cNvPr name="Freeform 16" id="16" descr="preencoded.png"/>
            <p:cNvSpPr/>
            <p:nvPr/>
          </p:nvSpPr>
          <p:spPr>
            <a:xfrm flipH="false" flipV="false" rot="0">
              <a:off x="0" y="0"/>
              <a:ext cx="945007" cy="945007"/>
            </a:xfrm>
            <a:custGeom>
              <a:avLst/>
              <a:gdLst/>
              <a:ahLst/>
              <a:cxnLst/>
              <a:rect r="r" b="b" t="t" l="l"/>
              <a:pathLst>
                <a:path h="945007" w="945007">
                  <a:moveTo>
                    <a:pt x="0" y="0"/>
                  </a:moveTo>
                  <a:lnTo>
                    <a:pt x="945007" y="0"/>
                  </a:lnTo>
                  <a:lnTo>
                    <a:pt x="945007" y="945007"/>
                  </a:lnTo>
                  <a:lnTo>
                    <a:pt x="0" y="945007"/>
                  </a:lnTo>
                  <a:lnTo>
                    <a:pt x="0" y="0"/>
                  </a:lnTo>
                  <a:close/>
                </a:path>
              </a:pathLst>
            </a:custGeom>
            <a:blipFill>
              <a:blip r:embed="rId6"/>
              <a:stretch>
                <a:fillRect l="0" t="0" r="4" b="4"/>
              </a:stretch>
            </a:blipFill>
          </p:spPr>
        </p:sp>
      </p:grpSp>
      <p:sp>
        <p:nvSpPr>
          <p:cNvPr name="TextBox 17" id="17"/>
          <p:cNvSpPr txBox="true"/>
          <p:nvPr/>
        </p:nvSpPr>
        <p:spPr>
          <a:xfrm rot="0">
            <a:off x="12097494" y="5178178"/>
            <a:ext cx="4292189" cy="439103"/>
          </a:xfrm>
          <a:prstGeom prst="rect">
            <a:avLst/>
          </a:prstGeom>
        </p:spPr>
        <p:txBody>
          <a:bodyPr anchor="t" rtlCol="false" tIns="0" lIns="0" bIns="0" rIns="0">
            <a:spAutoFit/>
          </a:bodyPr>
          <a:lstStyle/>
          <a:p>
            <a:pPr algn="l">
              <a:lnSpc>
                <a:spcPts val="3562"/>
              </a:lnSpc>
            </a:pPr>
            <a:r>
              <a:rPr lang="en-US" sz="2850" b="true">
                <a:solidFill>
                  <a:srgbClr val="403C4E"/>
                </a:solidFill>
                <a:latin typeface="Merriweather Bold"/>
                <a:ea typeface="Merriweather Bold"/>
                <a:cs typeface="Merriweather Bold"/>
                <a:sym typeface="Merriweather Bold"/>
              </a:rPr>
              <a:t>Distributed IDS (DIDS)</a:t>
            </a:r>
          </a:p>
        </p:txBody>
      </p:sp>
      <p:sp>
        <p:nvSpPr>
          <p:cNvPr name="TextBox 18" id="18"/>
          <p:cNvSpPr txBox="true"/>
          <p:nvPr/>
        </p:nvSpPr>
        <p:spPr>
          <a:xfrm rot="0">
            <a:off x="12097494" y="5857065"/>
            <a:ext cx="5198269" cy="2177824"/>
          </a:xfrm>
          <a:prstGeom prst="rect">
            <a:avLst/>
          </a:prstGeom>
        </p:spPr>
        <p:txBody>
          <a:bodyPr anchor="t" rtlCol="false" tIns="0" lIns="0" bIns="0" rIns="0">
            <a:spAutoFit/>
          </a:bodyPr>
          <a:lstStyle/>
          <a:p>
            <a:pPr algn="l">
              <a:lnSpc>
                <a:spcPts val="4376"/>
              </a:lnSpc>
            </a:pPr>
            <a:r>
              <a:rPr lang="en-US" sz="2687">
                <a:solidFill>
                  <a:srgbClr val="403C4E"/>
                </a:solidFill>
                <a:latin typeface="Open Sans"/>
                <a:ea typeface="Open Sans"/>
                <a:cs typeface="Open Sans"/>
                <a:sym typeface="Open Sans"/>
              </a:rPr>
              <a:t>Kết hợp nhiều sensor NIDS và HIDS, gửi dữ liệu về hệ thống trung tâm để phân tích tương quan và cảnh báo tổng hợp.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028700" y="870794"/>
            <a:ext cx="8448616" cy="871537"/>
          </a:xfrm>
          <a:prstGeom prst="rect">
            <a:avLst/>
          </a:prstGeom>
        </p:spPr>
        <p:txBody>
          <a:bodyPr anchor="t" rtlCol="false" tIns="0" lIns="0" bIns="0" rIns="0">
            <a:spAutoFit/>
          </a:bodyPr>
          <a:lstStyle/>
          <a:p>
            <a:pPr algn="l">
              <a:lnSpc>
                <a:spcPts val="6937"/>
              </a:lnSpc>
            </a:pPr>
            <a:r>
              <a:rPr lang="en-US" sz="5562" b="true">
                <a:solidFill>
                  <a:srgbClr val="403C4E"/>
                </a:solidFill>
                <a:latin typeface="Merriweather Bold"/>
                <a:ea typeface="Merriweather Bold"/>
                <a:cs typeface="Merriweather Bold"/>
                <a:sym typeface="Merriweather Bold"/>
              </a:rPr>
              <a:t>So sánh NIDS và HIDS</a:t>
            </a:r>
          </a:p>
        </p:txBody>
      </p:sp>
      <p:grpSp>
        <p:nvGrpSpPr>
          <p:cNvPr name="Group 7" id="7"/>
          <p:cNvGrpSpPr/>
          <p:nvPr/>
        </p:nvGrpSpPr>
        <p:grpSpPr>
          <a:xfrm rot="0">
            <a:off x="987475" y="3190131"/>
            <a:ext cx="16313051" cy="5359599"/>
            <a:chOff x="0" y="0"/>
            <a:chExt cx="21750735" cy="7146132"/>
          </a:xfrm>
        </p:grpSpPr>
        <p:sp>
          <p:nvSpPr>
            <p:cNvPr name="Freeform 8" id="8"/>
            <p:cNvSpPr/>
            <p:nvPr/>
          </p:nvSpPr>
          <p:spPr>
            <a:xfrm flipH="false" flipV="false" rot="0">
              <a:off x="0" y="0"/>
              <a:ext cx="21750782" cy="7146036"/>
            </a:xfrm>
            <a:custGeom>
              <a:avLst/>
              <a:gdLst/>
              <a:ahLst/>
              <a:cxnLst/>
              <a:rect r="r" b="b" t="t" l="l"/>
              <a:pathLst>
                <a:path h="7146036" w="21750782">
                  <a:moveTo>
                    <a:pt x="0" y="165100"/>
                  </a:moveTo>
                  <a:cubicBezTo>
                    <a:pt x="0" y="73914"/>
                    <a:pt x="74041" y="0"/>
                    <a:pt x="165354" y="0"/>
                  </a:cubicBezTo>
                  <a:lnTo>
                    <a:pt x="21585428" y="0"/>
                  </a:lnTo>
                  <a:lnTo>
                    <a:pt x="21585428" y="6350"/>
                  </a:lnTo>
                  <a:lnTo>
                    <a:pt x="21585428" y="0"/>
                  </a:lnTo>
                  <a:cubicBezTo>
                    <a:pt x="21676742" y="0"/>
                    <a:pt x="21750782" y="73914"/>
                    <a:pt x="21750782" y="165100"/>
                  </a:cubicBezTo>
                  <a:lnTo>
                    <a:pt x="21744432" y="165100"/>
                  </a:lnTo>
                  <a:lnTo>
                    <a:pt x="21750782" y="165100"/>
                  </a:lnTo>
                  <a:lnTo>
                    <a:pt x="21750782" y="6980936"/>
                  </a:lnTo>
                  <a:lnTo>
                    <a:pt x="21744432" y="6980936"/>
                  </a:lnTo>
                  <a:lnTo>
                    <a:pt x="21750782" y="6980936"/>
                  </a:lnTo>
                  <a:cubicBezTo>
                    <a:pt x="21750782" y="7072122"/>
                    <a:pt x="21676742" y="7146036"/>
                    <a:pt x="21585428" y="7146036"/>
                  </a:cubicBezTo>
                  <a:lnTo>
                    <a:pt x="21585428" y="7139686"/>
                  </a:lnTo>
                  <a:lnTo>
                    <a:pt x="21585428" y="7146036"/>
                  </a:lnTo>
                  <a:lnTo>
                    <a:pt x="165354" y="7146036"/>
                  </a:lnTo>
                  <a:lnTo>
                    <a:pt x="165354" y="7139686"/>
                  </a:lnTo>
                  <a:lnTo>
                    <a:pt x="165354" y="7146036"/>
                  </a:lnTo>
                  <a:cubicBezTo>
                    <a:pt x="74041" y="7146036"/>
                    <a:pt x="0" y="7072122"/>
                    <a:pt x="0" y="6980936"/>
                  </a:cubicBezTo>
                  <a:lnTo>
                    <a:pt x="0" y="165100"/>
                  </a:lnTo>
                  <a:lnTo>
                    <a:pt x="6350" y="165100"/>
                  </a:lnTo>
                  <a:lnTo>
                    <a:pt x="0" y="165100"/>
                  </a:lnTo>
                  <a:moveTo>
                    <a:pt x="12700" y="165100"/>
                  </a:moveTo>
                  <a:lnTo>
                    <a:pt x="12700" y="6980936"/>
                  </a:lnTo>
                  <a:lnTo>
                    <a:pt x="6350" y="6980936"/>
                  </a:lnTo>
                  <a:lnTo>
                    <a:pt x="12700" y="6980936"/>
                  </a:lnTo>
                  <a:cubicBezTo>
                    <a:pt x="12700" y="7065137"/>
                    <a:pt x="81026" y="7133336"/>
                    <a:pt x="165354" y="7133336"/>
                  </a:cubicBezTo>
                  <a:lnTo>
                    <a:pt x="21585428" y="7133336"/>
                  </a:lnTo>
                  <a:cubicBezTo>
                    <a:pt x="21669756" y="7133336"/>
                    <a:pt x="21738082" y="7065137"/>
                    <a:pt x="21738082" y="6980936"/>
                  </a:cubicBezTo>
                  <a:lnTo>
                    <a:pt x="21738082" y="165100"/>
                  </a:lnTo>
                  <a:cubicBezTo>
                    <a:pt x="21738082" y="80899"/>
                    <a:pt x="21669756" y="12700"/>
                    <a:pt x="21585428" y="12700"/>
                  </a:cubicBezTo>
                  <a:lnTo>
                    <a:pt x="165354" y="12700"/>
                  </a:lnTo>
                  <a:lnTo>
                    <a:pt x="165354" y="6350"/>
                  </a:lnTo>
                  <a:lnTo>
                    <a:pt x="165354" y="12700"/>
                  </a:lnTo>
                  <a:cubicBezTo>
                    <a:pt x="81026" y="12700"/>
                    <a:pt x="12700" y="80899"/>
                    <a:pt x="12700" y="165100"/>
                  </a:cubicBezTo>
                  <a:close/>
                </a:path>
              </a:pathLst>
            </a:custGeom>
            <a:solidFill>
              <a:srgbClr val="000000">
                <a:alpha val="392"/>
              </a:srgbClr>
            </a:solidFill>
          </p:spPr>
        </p:sp>
      </p:grpSp>
      <p:grpSp>
        <p:nvGrpSpPr>
          <p:cNvPr name="Group 9" id="9"/>
          <p:cNvGrpSpPr/>
          <p:nvPr/>
        </p:nvGrpSpPr>
        <p:grpSpPr>
          <a:xfrm rot="0">
            <a:off x="1001762" y="3204419"/>
            <a:ext cx="16284476" cy="812899"/>
            <a:chOff x="0" y="0"/>
            <a:chExt cx="21712635" cy="1083865"/>
          </a:xfrm>
        </p:grpSpPr>
        <p:sp>
          <p:nvSpPr>
            <p:cNvPr name="Freeform 10" id="10"/>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FFFFFF">
                <a:alpha val="0"/>
              </a:srgbClr>
            </a:solidFill>
          </p:spPr>
        </p:sp>
      </p:grpSp>
      <p:sp>
        <p:nvSpPr>
          <p:cNvPr name="TextBox 11" id="11"/>
          <p:cNvSpPr txBox="true"/>
          <p:nvPr/>
        </p:nvSpPr>
        <p:spPr>
          <a:xfrm rot="0">
            <a:off x="1285577" y="3279279"/>
            <a:ext cx="3499246" cy="483734"/>
          </a:xfrm>
          <a:prstGeom prst="rect">
            <a:avLst/>
          </a:prstGeom>
        </p:spPr>
        <p:txBody>
          <a:bodyPr anchor="t" rtlCol="false" tIns="0" lIns="0" bIns="0" rIns="0">
            <a:spAutoFit/>
          </a:bodyPr>
          <a:lstStyle/>
          <a:p>
            <a:pPr algn="l">
              <a:lnSpc>
                <a:spcPts val="4051"/>
              </a:lnSpc>
            </a:pPr>
            <a:r>
              <a:rPr lang="en-US" sz="2487" b="true">
                <a:solidFill>
                  <a:srgbClr val="403C4E"/>
                </a:solidFill>
                <a:latin typeface="Open Sans Bold"/>
                <a:ea typeface="Open Sans Bold"/>
                <a:cs typeface="Open Sans Bold"/>
                <a:sym typeface="Open Sans Bold"/>
              </a:rPr>
              <a:t>Tiêu chí</a:t>
            </a:r>
          </a:p>
        </p:txBody>
      </p:sp>
      <p:sp>
        <p:nvSpPr>
          <p:cNvPr name="TextBox 12" id="12"/>
          <p:cNvSpPr txBox="true"/>
          <p:nvPr/>
        </p:nvSpPr>
        <p:spPr>
          <a:xfrm rot="0">
            <a:off x="5361385" y="3288804"/>
            <a:ext cx="5448597" cy="451077"/>
          </a:xfrm>
          <a:prstGeom prst="rect">
            <a:avLst/>
          </a:prstGeom>
        </p:spPr>
        <p:txBody>
          <a:bodyPr anchor="t" rtlCol="false" tIns="0" lIns="0" bIns="0" rIns="0">
            <a:spAutoFit/>
          </a:bodyPr>
          <a:lstStyle/>
          <a:p>
            <a:pPr algn="l">
              <a:lnSpc>
                <a:spcPts val="3888"/>
              </a:lnSpc>
            </a:pPr>
            <a:r>
              <a:rPr lang="en-US" sz="2387" b="true">
                <a:solidFill>
                  <a:srgbClr val="403C4E"/>
                </a:solidFill>
                <a:latin typeface="Open Sans Bold"/>
                <a:ea typeface="Open Sans Bold"/>
                <a:cs typeface="Open Sans Bold"/>
                <a:sym typeface="Open Sans Bold"/>
              </a:rPr>
              <a:t>NIDS</a:t>
            </a:r>
          </a:p>
        </p:txBody>
      </p:sp>
      <p:sp>
        <p:nvSpPr>
          <p:cNvPr name="TextBox 13" id="13"/>
          <p:cNvSpPr txBox="true"/>
          <p:nvPr/>
        </p:nvSpPr>
        <p:spPr>
          <a:xfrm rot="0">
            <a:off x="11386542" y="3288804"/>
            <a:ext cx="5616179" cy="451077"/>
          </a:xfrm>
          <a:prstGeom prst="rect">
            <a:avLst/>
          </a:prstGeom>
        </p:spPr>
        <p:txBody>
          <a:bodyPr anchor="t" rtlCol="false" tIns="0" lIns="0" bIns="0" rIns="0">
            <a:spAutoFit/>
          </a:bodyPr>
          <a:lstStyle/>
          <a:p>
            <a:pPr algn="l">
              <a:lnSpc>
                <a:spcPts val="3888"/>
              </a:lnSpc>
            </a:pPr>
            <a:r>
              <a:rPr lang="en-US" sz="2387" b="true">
                <a:solidFill>
                  <a:srgbClr val="403C4E"/>
                </a:solidFill>
                <a:latin typeface="Open Sans Bold"/>
                <a:ea typeface="Open Sans Bold"/>
                <a:cs typeface="Open Sans Bold"/>
                <a:sym typeface="Open Sans Bold"/>
              </a:rPr>
              <a:t>HIDS</a:t>
            </a:r>
          </a:p>
        </p:txBody>
      </p:sp>
      <p:grpSp>
        <p:nvGrpSpPr>
          <p:cNvPr name="Group 14" id="14"/>
          <p:cNvGrpSpPr/>
          <p:nvPr/>
        </p:nvGrpSpPr>
        <p:grpSpPr>
          <a:xfrm rot="0">
            <a:off x="1001762" y="4017317"/>
            <a:ext cx="16284476" cy="812899"/>
            <a:chOff x="0" y="0"/>
            <a:chExt cx="21712635" cy="1083865"/>
          </a:xfrm>
        </p:grpSpPr>
        <p:sp>
          <p:nvSpPr>
            <p:cNvPr name="Freeform 15" id="15"/>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000000">
                <a:alpha val="0"/>
              </a:srgbClr>
            </a:solidFill>
          </p:spPr>
        </p:sp>
      </p:grpSp>
      <p:sp>
        <p:nvSpPr>
          <p:cNvPr name="TextBox 16" id="16"/>
          <p:cNvSpPr txBox="true"/>
          <p:nvPr/>
        </p:nvSpPr>
        <p:spPr>
          <a:xfrm rot="0">
            <a:off x="1285577" y="4101704"/>
            <a:ext cx="3499246"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Phạm vi giám sát</a:t>
            </a:r>
          </a:p>
        </p:txBody>
      </p:sp>
      <p:sp>
        <p:nvSpPr>
          <p:cNvPr name="TextBox 17" id="17"/>
          <p:cNvSpPr txBox="true"/>
          <p:nvPr/>
        </p:nvSpPr>
        <p:spPr>
          <a:xfrm rot="0">
            <a:off x="5361385" y="4101704"/>
            <a:ext cx="5667991"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Toàn bộ lưu lượng mạng trong segment</a:t>
            </a:r>
          </a:p>
        </p:txBody>
      </p:sp>
      <p:sp>
        <p:nvSpPr>
          <p:cNvPr name="TextBox 18" id="18"/>
          <p:cNvSpPr txBox="true"/>
          <p:nvPr/>
        </p:nvSpPr>
        <p:spPr>
          <a:xfrm rot="0">
            <a:off x="11386542" y="4101704"/>
            <a:ext cx="5616179"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Hoạt động trên từng host riêng lẻ</a:t>
            </a:r>
          </a:p>
        </p:txBody>
      </p:sp>
      <p:grpSp>
        <p:nvGrpSpPr>
          <p:cNvPr name="Group 19" id="19"/>
          <p:cNvGrpSpPr/>
          <p:nvPr/>
        </p:nvGrpSpPr>
        <p:grpSpPr>
          <a:xfrm rot="0">
            <a:off x="1001762" y="4830216"/>
            <a:ext cx="16284476" cy="812899"/>
            <a:chOff x="0" y="0"/>
            <a:chExt cx="21712635" cy="1083865"/>
          </a:xfrm>
        </p:grpSpPr>
        <p:sp>
          <p:nvSpPr>
            <p:cNvPr name="Freeform 20" id="20"/>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FFFFFF">
                <a:alpha val="0"/>
              </a:srgbClr>
            </a:solidFill>
          </p:spPr>
        </p:sp>
      </p:grpSp>
      <p:sp>
        <p:nvSpPr>
          <p:cNvPr name="TextBox 21" id="21"/>
          <p:cNvSpPr txBox="true"/>
          <p:nvPr/>
        </p:nvSpPr>
        <p:spPr>
          <a:xfrm rot="0">
            <a:off x="1285577" y="4914602"/>
            <a:ext cx="3499246"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Triển khai</a:t>
            </a:r>
          </a:p>
        </p:txBody>
      </p:sp>
      <p:sp>
        <p:nvSpPr>
          <p:cNvPr name="TextBox 22" id="22"/>
          <p:cNvSpPr txBox="true"/>
          <p:nvPr/>
        </p:nvSpPr>
        <p:spPr>
          <a:xfrm rot="0">
            <a:off x="5361385" y="4914602"/>
            <a:ext cx="5448597" cy="936852"/>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Dễ hơn, chỉ cần đặt sensor ở điểm mạng</a:t>
            </a:r>
          </a:p>
        </p:txBody>
      </p:sp>
      <p:sp>
        <p:nvSpPr>
          <p:cNvPr name="TextBox 23" id="23"/>
          <p:cNvSpPr txBox="true"/>
          <p:nvPr/>
        </p:nvSpPr>
        <p:spPr>
          <a:xfrm rot="0">
            <a:off x="11386542" y="4914602"/>
            <a:ext cx="5616179"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Cài agent trên từng host, phức tạp hơn</a:t>
            </a:r>
          </a:p>
        </p:txBody>
      </p:sp>
      <p:grpSp>
        <p:nvGrpSpPr>
          <p:cNvPr name="Group 24" id="24"/>
          <p:cNvGrpSpPr/>
          <p:nvPr/>
        </p:nvGrpSpPr>
        <p:grpSpPr>
          <a:xfrm rot="0">
            <a:off x="1001762" y="5643116"/>
            <a:ext cx="16284476" cy="812899"/>
            <a:chOff x="0" y="0"/>
            <a:chExt cx="21712635" cy="1083865"/>
          </a:xfrm>
        </p:grpSpPr>
        <p:sp>
          <p:nvSpPr>
            <p:cNvPr name="Freeform 25" id="25"/>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000000">
                <a:alpha val="0"/>
              </a:srgbClr>
            </a:solidFill>
          </p:spPr>
        </p:sp>
      </p:grpSp>
      <p:sp>
        <p:nvSpPr>
          <p:cNvPr name="TextBox 26" id="26"/>
          <p:cNvSpPr txBox="true"/>
          <p:nvPr/>
        </p:nvSpPr>
        <p:spPr>
          <a:xfrm rot="0">
            <a:off x="1285577" y="5727501"/>
            <a:ext cx="3499246"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Chi phí</a:t>
            </a:r>
          </a:p>
        </p:txBody>
      </p:sp>
      <p:sp>
        <p:nvSpPr>
          <p:cNvPr name="TextBox 27" id="27"/>
          <p:cNvSpPr txBox="true"/>
          <p:nvPr/>
        </p:nvSpPr>
        <p:spPr>
          <a:xfrm rot="0">
            <a:off x="5361385" y="5727501"/>
            <a:ext cx="5448597"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Thấp với phần mềm, cao với thiết bị</a:t>
            </a:r>
          </a:p>
        </p:txBody>
      </p:sp>
      <p:sp>
        <p:nvSpPr>
          <p:cNvPr name="TextBox 28" id="28"/>
          <p:cNvSpPr txBox="true"/>
          <p:nvPr/>
        </p:nvSpPr>
        <p:spPr>
          <a:xfrm rot="0">
            <a:off x="11386542" y="5727501"/>
            <a:ext cx="5616179"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Tăng theo số lượng host</a:t>
            </a:r>
          </a:p>
        </p:txBody>
      </p:sp>
      <p:grpSp>
        <p:nvGrpSpPr>
          <p:cNvPr name="Group 29" id="29"/>
          <p:cNvGrpSpPr/>
          <p:nvPr/>
        </p:nvGrpSpPr>
        <p:grpSpPr>
          <a:xfrm rot="0">
            <a:off x="1001762" y="6456015"/>
            <a:ext cx="16284476" cy="1266527"/>
            <a:chOff x="0" y="0"/>
            <a:chExt cx="21712635" cy="1688703"/>
          </a:xfrm>
        </p:grpSpPr>
        <p:sp>
          <p:nvSpPr>
            <p:cNvPr name="Freeform 30" id="30"/>
            <p:cNvSpPr/>
            <p:nvPr/>
          </p:nvSpPr>
          <p:spPr>
            <a:xfrm flipH="false" flipV="false" rot="0">
              <a:off x="0" y="0"/>
              <a:ext cx="21712682" cy="1688719"/>
            </a:xfrm>
            <a:custGeom>
              <a:avLst/>
              <a:gdLst/>
              <a:ahLst/>
              <a:cxnLst/>
              <a:rect r="r" b="b" t="t" l="l"/>
              <a:pathLst>
                <a:path h="1688719" w="21712682">
                  <a:moveTo>
                    <a:pt x="0" y="0"/>
                  </a:moveTo>
                  <a:lnTo>
                    <a:pt x="21712682" y="0"/>
                  </a:lnTo>
                  <a:lnTo>
                    <a:pt x="21712682" y="1688719"/>
                  </a:lnTo>
                  <a:lnTo>
                    <a:pt x="0" y="1688719"/>
                  </a:lnTo>
                  <a:close/>
                </a:path>
              </a:pathLst>
            </a:custGeom>
            <a:solidFill>
              <a:srgbClr val="FFFFFF">
                <a:alpha val="0"/>
              </a:srgbClr>
            </a:solidFill>
          </p:spPr>
        </p:sp>
      </p:grpSp>
      <p:sp>
        <p:nvSpPr>
          <p:cNvPr name="TextBox 31" id="31"/>
          <p:cNvSpPr txBox="true"/>
          <p:nvPr/>
        </p:nvSpPr>
        <p:spPr>
          <a:xfrm rot="0">
            <a:off x="1285577" y="6540401"/>
            <a:ext cx="3499246"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Phát hiện</a:t>
            </a:r>
          </a:p>
        </p:txBody>
      </p:sp>
      <p:sp>
        <p:nvSpPr>
          <p:cNvPr name="TextBox 32" id="32"/>
          <p:cNvSpPr txBox="true"/>
          <p:nvPr/>
        </p:nvSpPr>
        <p:spPr>
          <a:xfrm rot="0">
            <a:off x="5361385" y="6549926"/>
            <a:ext cx="5448597" cy="992981"/>
          </a:xfrm>
          <a:prstGeom prst="rect">
            <a:avLst/>
          </a:prstGeom>
        </p:spPr>
        <p:txBody>
          <a:bodyPr anchor="t" rtlCol="false" tIns="0" lIns="0" bIns="0" rIns="0">
            <a:spAutoFit/>
          </a:bodyPr>
          <a:lstStyle/>
          <a:p>
            <a:pPr algn="l">
              <a:lnSpc>
                <a:spcPts val="3562"/>
              </a:lnSpc>
            </a:pPr>
            <a:r>
              <a:rPr lang="en-US" sz="2187">
                <a:solidFill>
                  <a:srgbClr val="403C4E"/>
                </a:solidFill>
                <a:latin typeface="Open Sans"/>
                <a:ea typeface="Open Sans"/>
                <a:cs typeface="Open Sans"/>
                <a:sym typeface="Open Sans"/>
              </a:rPr>
              <a:t>Phân tích gói tin, header, hành vi lưu lượng</a:t>
            </a:r>
          </a:p>
        </p:txBody>
      </p:sp>
      <p:sp>
        <p:nvSpPr>
          <p:cNvPr name="TextBox 33" id="33"/>
          <p:cNvSpPr txBox="true"/>
          <p:nvPr/>
        </p:nvSpPr>
        <p:spPr>
          <a:xfrm rot="0">
            <a:off x="11386542" y="6540401"/>
            <a:ext cx="5616179"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Log, integrity file, hành vi tiến trình</a:t>
            </a:r>
          </a:p>
        </p:txBody>
      </p:sp>
      <p:grpSp>
        <p:nvGrpSpPr>
          <p:cNvPr name="Group 34" id="34"/>
          <p:cNvGrpSpPr/>
          <p:nvPr/>
        </p:nvGrpSpPr>
        <p:grpSpPr>
          <a:xfrm rot="0">
            <a:off x="1001762" y="7722542"/>
            <a:ext cx="16284476" cy="812899"/>
            <a:chOff x="0" y="0"/>
            <a:chExt cx="21712635" cy="1083865"/>
          </a:xfrm>
        </p:grpSpPr>
        <p:sp>
          <p:nvSpPr>
            <p:cNvPr name="Freeform 35" id="35"/>
            <p:cNvSpPr/>
            <p:nvPr/>
          </p:nvSpPr>
          <p:spPr>
            <a:xfrm flipH="false" flipV="false" rot="0">
              <a:off x="0" y="0"/>
              <a:ext cx="21712682" cy="1083818"/>
            </a:xfrm>
            <a:custGeom>
              <a:avLst/>
              <a:gdLst/>
              <a:ahLst/>
              <a:cxnLst/>
              <a:rect r="r" b="b" t="t" l="l"/>
              <a:pathLst>
                <a:path h="1083818" w="21712682">
                  <a:moveTo>
                    <a:pt x="0" y="0"/>
                  </a:moveTo>
                  <a:lnTo>
                    <a:pt x="21712682" y="0"/>
                  </a:lnTo>
                  <a:lnTo>
                    <a:pt x="21712682" y="1083818"/>
                  </a:lnTo>
                  <a:lnTo>
                    <a:pt x="0" y="1083818"/>
                  </a:lnTo>
                  <a:close/>
                </a:path>
              </a:pathLst>
            </a:custGeom>
            <a:solidFill>
              <a:srgbClr val="000000">
                <a:alpha val="0"/>
              </a:srgbClr>
            </a:solidFill>
          </p:spPr>
        </p:sp>
      </p:grpSp>
      <p:sp>
        <p:nvSpPr>
          <p:cNvPr name="TextBox 36" id="36"/>
          <p:cNvSpPr txBox="true"/>
          <p:nvPr/>
        </p:nvSpPr>
        <p:spPr>
          <a:xfrm rot="0">
            <a:off x="1285577" y="7806929"/>
            <a:ext cx="3499246"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Thời gian phản hồi</a:t>
            </a:r>
          </a:p>
        </p:txBody>
      </p:sp>
      <p:sp>
        <p:nvSpPr>
          <p:cNvPr name="TextBox 37" id="37"/>
          <p:cNvSpPr txBox="true"/>
          <p:nvPr/>
        </p:nvSpPr>
        <p:spPr>
          <a:xfrm rot="0">
            <a:off x="5361385" y="7806929"/>
            <a:ext cx="5448597"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Gần như thời gian thực</a:t>
            </a:r>
          </a:p>
        </p:txBody>
      </p:sp>
      <p:sp>
        <p:nvSpPr>
          <p:cNvPr name="TextBox 38" id="38"/>
          <p:cNvSpPr txBox="true"/>
          <p:nvPr/>
        </p:nvSpPr>
        <p:spPr>
          <a:xfrm rot="0">
            <a:off x="11386542" y="7806929"/>
            <a:ext cx="5616179" cy="451077"/>
          </a:xfrm>
          <a:prstGeom prst="rect">
            <a:avLst/>
          </a:prstGeom>
        </p:spPr>
        <p:txBody>
          <a:bodyPr anchor="t" rtlCol="false" tIns="0" lIns="0" bIns="0" rIns="0">
            <a:spAutoFit/>
          </a:bodyPr>
          <a:lstStyle/>
          <a:p>
            <a:pPr algn="l">
              <a:lnSpc>
                <a:spcPts val="3888"/>
              </a:lnSpc>
            </a:pPr>
            <a:r>
              <a:rPr lang="en-US" sz="2387">
                <a:solidFill>
                  <a:srgbClr val="403C4E"/>
                </a:solidFill>
                <a:latin typeface="Open Sans"/>
                <a:ea typeface="Open Sans"/>
                <a:cs typeface="Open Sans"/>
                <a:sym typeface="Open Sans"/>
              </a:rPr>
              <a:t>Có độ trễ do phụ thuộc log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7" y="1166961"/>
            <a:ext cx="10440930" cy="871537"/>
          </a:xfrm>
          <a:prstGeom prst="rect">
            <a:avLst/>
          </a:prstGeom>
        </p:spPr>
        <p:txBody>
          <a:bodyPr anchor="t" rtlCol="false" tIns="0" lIns="0" bIns="0" rIns="0">
            <a:spAutoFit/>
          </a:bodyPr>
          <a:lstStyle/>
          <a:p>
            <a:pPr algn="l">
              <a:lnSpc>
                <a:spcPts val="6937"/>
              </a:lnSpc>
            </a:pPr>
            <a:r>
              <a:rPr lang="en-US" sz="5562" b="true">
                <a:solidFill>
                  <a:srgbClr val="403C4E"/>
                </a:solidFill>
                <a:latin typeface="Merriweather Bold"/>
                <a:ea typeface="Merriweather Bold"/>
                <a:cs typeface="Merriweather Bold"/>
                <a:sym typeface="Merriweather Bold"/>
              </a:rPr>
              <a:t>Nguyên lý hoạt động của IDS</a:t>
            </a:r>
          </a:p>
        </p:txBody>
      </p:sp>
      <p:grpSp>
        <p:nvGrpSpPr>
          <p:cNvPr name="Group 7" id="7"/>
          <p:cNvGrpSpPr>
            <a:grpSpLocks noChangeAspect="true"/>
          </p:cNvGrpSpPr>
          <p:nvPr/>
        </p:nvGrpSpPr>
        <p:grpSpPr>
          <a:xfrm rot="0">
            <a:off x="992238" y="2648545"/>
            <a:ext cx="8151762" cy="1134070"/>
            <a:chOff x="0" y="0"/>
            <a:chExt cx="10869017" cy="1512093"/>
          </a:xfrm>
        </p:grpSpPr>
        <p:sp>
          <p:nvSpPr>
            <p:cNvPr name="Freeform 8" id="8" descr="preencoded.png"/>
            <p:cNvSpPr/>
            <p:nvPr/>
          </p:nvSpPr>
          <p:spPr>
            <a:xfrm flipH="false" flipV="false" rot="0">
              <a:off x="0" y="0"/>
              <a:ext cx="10869041" cy="1512062"/>
            </a:xfrm>
            <a:custGeom>
              <a:avLst/>
              <a:gdLst/>
              <a:ahLst/>
              <a:cxnLst/>
              <a:rect r="r" b="b" t="t" l="l"/>
              <a:pathLst>
                <a:path h="1512062" w="10869041">
                  <a:moveTo>
                    <a:pt x="0" y="0"/>
                  </a:moveTo>
                  <a:lnTo>
                    <a:pt x="10869041" y="0"/>
                  </a:lnTo>
                  <a:lnTo>
                    <a:pt x="10869041" y="1512062"/>
                  </a:lnTo>
                  <a:lnTo>
                    <a:pt x="0" y="1512062"/>
                  </a:lnTo>
                  <a:lnTo>
                    <a:pt x="0" y="0"/>
                  </a:lnTo>
                  <a:close/>
                </a:path>
              </a:pathLst>
            </a:custGeom>
            <a:blipFill>
              <a:blip r:embed="rId4"/>
              <a:stretch>
                <a:fillRect l="-36" t="0" r="-36" b="-2"/>
              </a:stretch>
            </a:blipFill>
          </p:spPr>
        </p:sp>
      </p:grpSp>
      <p:sp>
        <p:nvSpPr>
          <p:cNvPr name="TextBox 9" id="9"/>
          <p:cNvSpPr txBox="true"/>
          <p:nvPr/>
        </p:nvSpPr>
        <p:spPr>
          <a:xfrm rot="0">
            <a:off x="1275755" y="4056609"/>
            <a:ext cx="3544044" cy="452437"/>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Thu thập dữ liệu</a:t>
            </a:r>
          </a:p>
        </p:txBody>
      </p:sp>
      <p:sp>
        <p:nvSpPr>
          <p:cNvPr name="TextBox 10" id="10"/>
          <p:cNvSpPr txBox="true"/>
          <p:nvPr/>
        </p:nvSpPr>
        <p:spPr>
          <a:xfrm rot="0">
            <a:off x="1275755" y="4593431"/>
            <a:ext cx="7584727" cy="992981"/>
          </a:xfrm>
          <a:prstGeom prst="rect">
            <a:avLst/>
          </a:prstGeom>
        </p:spPr>
        <p:txBody>
          <a:bodyPr anchor="t" rtlCol="false" tIns="0" lIns="0" bIns="0" rIns="0">
            <a:spAutoFit/>
          </a:bodyPr>
          <a:lstStyle/>
          <a:p>
            <a:pPr algn="l">
              <a:lnSpc>
                <a:spcPts val="3562"/>
              </a:lnSpc>
            </a:pPr>
            <a:r>
              <a:rPr lang="en-US" sz="2187">
                <a:solidFill>
                  <a:srgbClr val="403C4E"/>
                </a:solidFill>
                <a:latin typeface="Open Sans"/>
                <a:ea typeface="Open Sans"/>
                <a:cs typeface="Open Sans"/>
                <a:sym typeface="Open Sans"/>
              </a:rPr>
              <a:t>Bắt gói tin mạng, phân tích log hệ thống, giám sát lời gọi hệ thống và theo dõi file.</a:t>
            </a:r>
          </a:p>
        </p:txBody>
      </p:sp>
      <p:grpSp>
        <p:nvGrpSpPr>
          <p:cNvPr name="Group 11" id="11"/>
          <p:cNvGrpSpPr>
            <a:grpSpLocks noChangeAspect="true"/>
          </p:cNvGrpSpPr>
          <p:nvPr/>
        </p:nvGrpSpPr>
        <p:grpSpPr>
          <a:xfrm rot="0">
            <a:off x="9144000" y="2648545"/>
            <a:ext cx="8151762" cy="1134070"/>
            <a:chOff x="0" y="0"/>
            <a:chExt cx="10869017" cy="1512093"/>
          </a:xfrm>
        </p:grpSpPr>
        <p:sp>
          <p:nvSpPr>
            <p:cNvPr name="Freeform 12" id="12" descr="preencoded.png"/>
            <p:cNvSpPr/>
            <p:nvPr/>
          </p:nvSpPr>
          <p:spPr>
            <a:xfrm flipH="false" flipV="false" rot="0">
              <a:off x="0" y="0"/>
              <a:ext cx="10869041" cy="1512062"/>
            </a:xfrm>
            <a:custGeom>
              <a:avLst/>
              <a:gdLst/>
              <a:ahLst/>
              <a:cxnLst/>
              <a:rect r="r" b="b" t="t" l="l"/>
              <a:pathLst>
                <a:path h="1512062" w="10869041">
                  <a:moveTo>
                    <a:pt x="0" y="0"/>
                  </a:moveTo>
                  <a:lnTo>
                    <a:pt x="10869041" y="0"/>
                  </a:lnTo>
                  <a:lnTo>
                    <a:pt x="10869041" y="1512062"/>
                  </a:lnTo>
                  <a:lnTo>
                    <a:pt x="0" y="1512062"/>
                  </a:lnTo>
                  <a:lnTo>
                    <a:pt x="0" y="0"/>
                  </a:lnTo>
                  <a:close/>
                </a:path>
              </a:pathLst>
            </a:custGeom>
            <a:blipFill>
              <a:blip r:embed="rId5"/>
              <a:stretch>
                <a:fillRect l="-36" t="0" r="-36" b="-2"/>
              </a:stretch>
            </a:blipFill>
          </p:spPr>
        </p:sp>
      </p:grpSp>
      <p:sp>
        <p:nvSpPr>
          <p:cNvPr name="TextBox 13" id="13"/>
          <p:cNvSpPr txBox="true"/>
          <p:nvPr/>
        </p:nvSpPr>
        <p:spPr>
          <a:xfrm rot="0">
            <a:off x="9427518" y="4056609"/>
            <a:ext cx="3544044" cy="452437"/>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Phân tích dữ liệu</a:t>
            </a:r>
          </a:p>
        </p:txBody>
      </p:sp>
      <p:sp>
        <p:nvSpPr>
          <p:cNvPr name="TextBox 14" id="14"/>
          <p:cNvSpPr txBox="true"/>
          <p:nvPr/>
        </p:nvSpPr>
        <p:spPr>
          <a:xfrm rot="0">
            <a:off x="9427518" y="4593431"/>
            <a:ext cx="7584728" cy="992981"/>
          </a:xfrm>
          <a:prstGeom prst="rect">
            <a:avLst/>
          </a:prstGeom>
        </p:spPr>
        <p:txBody>
          <a:bodyPr anchor="t" rtlCol="false" tIns="0" lIns="0" bIns="0" rIns="0">
            <a:spAutoFit/>
          </a:bodyPr>
          <a:lstStyle/>
          <a:p>
            <a:pPr algn="l">
              <a:lnSpc>
                <a:spcPts val="3562"/>
              </a:lnSpc>
            </a:pPr>
            <a:r>
              <a:rPr lang="en-US" sz="2187">
                <a:solidFill>
                  <a:srgbClr val="403C4E"/>
                </a:solidFill>
                <a:latin typeface="Open Sans"/>
                <a:ea typeface="Open Sans"/>
                <a:cs typeface="Open Sans"/>
                <a:sym typeface="Open Sans"/>
              </a:rPr>
              <a:t>Tiền xử lý, phân tích gói tin, chuẩn hóa dữ liệu và so sánh với cơ sở tri thức.</a:t>
            </a:r>
          </a:p>
        </p:txBody>
      </p:sp>
      <p:grpSp>
        <p:nvGrpSpPr>
          <p:cNvPr name="Group 15" id="15"/>
          <p:cNvGrpSpPr>
            <a:grpSpLocks noChangeAspect="true"/>
          </p:cNvGrpSpPr>
          <p:nvPr/>
        </p:nvGrpSpPr>
        <p:grpSpPr>
          <a:xfrm rot="0">
            <a:off x="992238" y="5869930"/>
            <a:ext cx="8151762" cy="1134070"/>
            <a:chOff x="0" y="0"/>
            <a:chExt cx="10869017" cy="1512093"/>
          </a:xfrm>
        </p:grpSpPr>
        <p:sp>
          <p:nvSpPr>
            <p:cNvPr name="Freeform 16" id="16" descr="preencoded.png"/>
            <p:cNvSpPr/>
            <p:nvPr/>
          </p:nvSpPr>
          <p:spPr>
            <a:xfrm flipH="false" flipV="false" rot="0">
              <a:off x="0" y="0"/>
              <a:ext cx="10869041" cy="1512062"/>
            </a:xfrm>
            <a:custGeom>
              <a:avLst/>
              <a:gdLst/>
              <a:ahLst/>
              <a:cxnLst/>
              <a:rect r="r" b="b" t="t" l="l"/>
              <a:pathLst>
                <a:path h="1512062" w="10869041">
                  <a:moveTo>
                    <a:pt x="0" y="0"/>
                  </a:moveTo>
                  <a:lnTo>
                    <a:pt x="10869041" y="0"/>
                  </a:lnTo>
                  <a:lnTo>
                    <a:pt x="10869041" y="1512062"/>
                  </a:lnTo>
                  <a:lnTo>
                    <a:pt x="0" y="1512062"/>
                  </a:lnTo>
                  <a:lnTo>
                    <a:pt x="0" y="0"/>
                  </a:lnTo>
                  <a:close/>
                </a:path>
              </a:pathLst>
            </a:custGeom>
            <a:blipFill>
              <a:blip r:embed="rId6"/>
              <a:stretch>
                <a:fillRect l="-36" t="0" r="-36" b="-2"/>
              </a:stretch>
            </a:blipFill>
          </p:spPr>
        </p:sp>
      </p:grpSp>
      <p:sp>
        <p:nvSpPr>
          <p:cNvPr name="TextBox 17" id="17"/>
          <p:cNvSpPr txBox="true"/>
          <p:nvPr/>
        </p:nvSpPr>
        <p:spPr>
          <a:xfrm rot="0">
            <a:off x="1275755" y="7277992"/>
            <a:ext cx="3812084" cy="452437"/>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Phát hiện và cảnh báo</a:t>
            </a:r>
          </a:p>
        </p:txBody>
      </p:sp>
      <p:sp>
        <p:nvSpPr>
          <p:cNvPr name="TextBox 18" id="18"/>
          <p:cNvSpPr txBox="true"/>
          <p:nvPr/>
        </p:nvSpPr>
        <p:spPr>
          <a:xfrm rot="0">
            <a:off x="1275755" y="7814816"/>
            <a:ext cx="7584727" cy="992981"/>
          </a:xfrm>
          <a:prstGeom prst="rect">
            <a:avLst/>
          </a:prstGeom>
        </p:spPr>
        <p:txBody>
          <a:bodyPr anchor="t" rtlCol="false" tIns="0" lIns="0" bIns="0" rIns="0">
            <a:spAutoFit/>
          </a:bodyPr>
          <a:lstStyle/>
          <a:p>
            <a:pPr algn="l">
              <a:lnSpc>
                <a:spcPts val="3562"/>
              </a:lnSpc>
            </a:pPr>
            <a:r>
              <a:rPr lang="en-US" sz="2187">
                <a:solidFill>
                  <a:srgbClr val="403C4E"/>
                </a:solidFill>
                <a:latin typeface="Open Sans"/>
                <a:ea typeface="Open Sans"/>
                <a:cs typeface="Open Sans"/>
                <a:sym typeface="Open Sans"/>
              </a:rPr>
              <a:t>So sánh với signature hoặc kiểm tra bất thường, gửi thông báo đến quản trị viên.</a:t>
            </a:r>
          </a:p>
        </p:txBody>
      </p:sp>
      <p:grpSp>
        <p:nvGrpSpPr>
          <p:cNvPr name="Group 19" id="19"/>
          <p:cNvGrpSpPr>
            <a:grpSpLocks noChangeAspect="true"/>
          </p:cNvGrpSpPr>
          <p:nvPr/>
        </p:nvGrpSpPr>
        <p:grpSpPr>
          <a:xfrm rot="0">
            <a:off x="9144000" y="5869930"/>
            <a:ext cx="8151762" cy="1134070"/>
            <a:chOff x="0" y="0"/>
            <a:chExt cx="10869017" cy="1512093"/>
          </a:xfrm>
        </p:grpSpPr>
        <p:sp>
          <p:nvSpPr>
            <p:cNvPr name="Freeform 20" id="20" descr="preencoded.png"/>
            <p:cNvSpPr/>
            <p:nvPr/>
          </p:nvSpPr>
          <p:spPr>
            <a:xfrm flipH="false" flipV="false" rot="0">
              <a:off x="0" y="0"/>
              <a:ext cx="10869041" cy="1512062"/>
            </a:xfrm>
            <a:custGeom>
              <a:avLst/>
              <a:gdLst/>
              <a:ahLst/>
              <a:cxnLst/>
              <a:rect r="r" b="b" t="t" l="l"/>
              <a:pathLst>
                <a:path h="1512062" w="10869041">
                  <a:moveTo>
                    <a:pt x="0" y="0"/>
                  </a:moveTo>
                  <a:lnTo>
                    <a:pt x="10869041" y="0"/>
                  </a:lnTo>
                  <a:lnTo>
                    <a:pt x="10869041" y="1512062"/>
                  </a:lnTo>
                  <a:lnTo>
                    <a:pt x="0" y="1512062"/>
                  </a:lnTo>
                  <a:lnTo>
                    <a:pt x="0" y="0"/>
                  </a:lnTo>
                  <a:close/>
                </a:path>
              </a:pathLst>
            </a:custGeom>
            <a:blipFill>
              <a:blip r:embed="rId7"/>
              <a:stretch>
                <a:fillRect l="-36" t="0" r="-36" b="-2"/>
              </a:stretch>
            </a:blipFill>
          </p:spPr>
        </p:sp>
      </p:grpSp>
      <p:sp>
        <p:nvSpPr>
          <p:cNvPr name="TextBox 21" id="21"/>
          <p:cNvSpPr txBox="true"/>
          <p:nvPr/>
        </p:nvSpPr>
        <p:spPr>
          <a:xfrm rot="0">
            <a:off x="9427518" y="7277992"/>
            <a:ext cx="3544044" cy="452437"/>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Lưu trữ và báo cáo</a:t>
            </a:r>
          </a:p>
        </p:txBody>
      </p:sp>
      <p:sp>
        <p:nvSpPr>
          <p:cNvPr name="TextBox 22" id="22"/>
          <p:cNvSpPr txBox="true"/>
          <p:nvPr/>
        </p:nvSpPr>
        <p:spPr>
          <a:xfrm rot="0">
            <a:off x="9427518" y="7814816"/>
            <a:ext cx="7584728" cy="992981"/>
          </a:xfrm>
          <a:prstGeom prst="rect">
            <a:avLst/>
          </a:prstGeom>
        </p:spPr>
        <p:txBody>
          <a:bodyPr anchor="t" rtlCol="false" tIns="0" lIns="0" bIns="0" rIns="0">
            <a:spAutoFit/>
          </a:bodyPr>
          <a:lstStyle/>
          <a:p>
            <a:pPr algn="l">
              <a:lnSpc>
                <a:spcPts val="3562"/>
              </a:lnSpc>
            </a:pPr>
            <a:r>
              <a:rPr lang="en-US" sz="2187">
                <a:solidFill>
                  <a:srgbClr val="403C4E"/>
                </a:solidFill>
                <a:latin typeface="Open Sans"/>
                <a:ea typeface="Open Sans"/>
                <a:cs typeface="Open Sans"/>
                <a:sym typeface="Open Sans"/>
              </a:rPr>
              <a:t>Ghi log chi tiết và tạo báo cáo để phục vụ phân tích và điều tra sau này.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a:grpSpLocks noChangeAspect="true"/>
          </p:cNvGrpSpPr>
          <p:nvPr/>
        </p:nvGrpSpPr>
        <p:grpSpPr>
          <a:xfrm rot="0">
            <a:off x="16049019" y="9686925"/>
            <a:ext cx="2153256" cy="514350"/>
            <a:chOff x="0" y="0"/>
            <a:chExt cx="2871008"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a:grpSpLocks noChangeAspect="true"/>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456306" y="311150"/>
            <a:ext cx="9795867" cy="717550"/>
          </a:xfrm>
          <a:prstGeom prst="rect">
            <a:avLst/>
          </a:prstGeom>
        </p:spPr>
        <p:txBody>
          <a:bodyPr anchor="t" rtlCol="false" tIns="0" lIns="0" bIns="0" rIns="0">
            <a:spAutoFit/>
          </a:bodyPr>
          <a:lstStyle/>
          <a:p>
            <a:pPr algn="l">
              <a:lnSpc>
                <a:spcPts val="5750"/>
              </a:lnSpc>
            </a:pPr>
            <a:r>
              <a:rPr lang="en-US" sz="4562" b="true">
                <a:solidFill>
                  <a:srgbClr val="403C4E"/>
                </a:solidFill>
                <a:latin typeface="Merriweather Bold"/>
                <a:ea typeface="Merriweather Bold"/>
                <a:cs typeface="Merriweather Bold"/>
                <a:sym typeface="Merriweather Bold"/>
              </a:rPr>
              <a:t>So sánh các công cụ IDS phổ biến</a:t>
            </a:r>
          </a:p>
        </p:txBody>
      </p:sp>
      <p:grpSp>
        <p:nvGrpSpPr>
          <p:cNvPr name="Group 11" id="11"/>
          <p:cNvGrpSpPr/>
          <p:nvPr/>
        </p:nvGrpSpPr>
        <p:grpSpPr>
          <a:xfrm rot="0">
            <a:off x="814685" y="1854696"/>
            <a:ext cx="4787950" cy="4092327"/>
            <a:chOff x="0" y="0"/>
            <a:chExt cx="6383933" cy="5456437"/>
          </a:xfrm>
        </p:grpSpPr>
        <p:sp>
          <p:nvSpPr>
            <p:cNvPr name="Freeform 12" id="12"/>
            <p:cNvSpPr/>
            <p:nvPr/>
          </p:nvSpPr>
          <p:spPr>
            <a:xfrm flipH="false" flipV="false" rot="0">
              <a:off x="6350" y="6350"/>
              <a:ext cx="6371209" cy="5443728"/>
            </a:xfrm>
            <a:custGeom>
              <a:avLst/>
              <a:gdLst/>
              <a:ahLst/>
              <a:cxnLst/>
              <a:rect r="r" b="b" t="t" l="l"/>
              <a:pathLst>
                <a:path h="5443728" w="6371209">
                  <a:moveTo>
                    <a:pt x="0" y="131191"/>
                  </a:moveTo>
                  <a:cubicBezTo>
                    <a:pt x="0" y="58674"/>
                    <a:pt x="58674" y="0"/>
                    <a:pt x="131191" y="0"/>
                  </a:cubicBezTo>
                  <a:lnTo>
                    <a:pt x="6240018" y="0"/>
                  </a:lnTo>
                  <a:cubicBezTo>
                    <a:pt x="6312408" y="0"/>
                    <a:pt x="6371209" y="58674"/>
                    <a:pt x="6371209" y="131191"/>
                  </a:cubicBezTo>
                  <a:lnTo>
                    <a:pt x="6371209" y="5312537"/>
                  </a:lnTo>
                  <a:cubicBezTo>
                    <a:pt x="6371209" y="5384927"/>
                    <a:pt x="6312535" y="5443728"/>
                    <a:pt x="6240018" y="5443728"/>
                  </a:cubicBezTo>
                  <a:lnTo>
                    <a:pt x="131191" y="5443728"/>
                  </a:lnTo>
                  <a:cubicBezTo>
                    <a:pt x="58674" y="5443728"/>
                    <a:pt x="0" y="5385054"/>
                    <a:pt x="0" y="5312537"/>
                  </a:cubicBezTo>
                  <a:close/>
                </a:path>
              </a:pathLst>
            </a:custGeom>
            <a:solidFill>
              <a:srgbClr val="FFD8CC"/>
            </a:solidFill>
          </p:spPr>
        </p:sp>
        <p:sp>
          <p:nvSpPr>
            <p:cNvPr name="Freeform 13" id="13"/>
            <p:cNvSpPr/>
            <p:nvPr/>
          </p:nvSpPr>
          <p:spPr>
            <a:xfrm flipH="false" flipV="false" rot="0">
              <a:off x="0" y="0"/>
              <a:ext cx="6383909" cy="5456428"/>
            </a:xfrm>
            <a:custGeom>
              <a:avLst/>
              <a:gdLst/>
              <a:ahLst/>
              <a:cxnLst/>
              <a:rect r="r" b="b" t="t" l="l"/>
              <a:pathLst>
                <a:path h="5456428" w="6383909">
                  <a:moveTo>
                    <a:pt x="0" y="137541"/>
                  </a:moveTo>
                  <a:cubicBezTo>
                    <a:pt x="0" y="61595"/>
                    <a:pt x="61595" y="0"/>
                    <a:pt x="137541" y="0"/>
                  </a:cubicBezTo>
                  <a:lnTo>
                    <a:pt x="6246368" y="0"/>
                  </a:lnTo>
                  <a:lnTo>
                    <a:pt x="6246368" y="6350"/>
                  </a:lnTo>
                  <a:lnTo>
                    <a:pt x="6246368" y="0"/>
                  </a:lnTo>
                  <a:cubicBezTo>
                    <a:pt x="6322314" y="0"/>
                    <a:pt x="6383909" y="61595"/>
                    <a:pt x="6383909" y="137541"/>
                  </a:cubicBezTo>
                  <a:lnTo>
                    <a:pt x="6377559" y="137541"/>
                  </a:lnTo>
                  <a:lnTo>
                    <a:pt x="6383909" y="137541"/>
                  </a:lnTo>
                  <a:lnTo>
                    <a:pt x="6383909" y="5318887"/>
                  </a:lnTo>
                  <a:lnTo>
                    <a:pt x="6377559" y="5318887"/>
                  </a:lnTo>
                  <a:lnTo>
                    <a:pt x="6383909" y="5318887"/>
                  </a:lnTo>
                  <a:cubicBezTo>
                    <a:pt x="6383909" y="5394833"/>
                    <a:pt x="6322314" y="5456428"/>
                    <a:pt x="6246368" y="5456428"/>
                  </a:cubicBezTo>
                  <a:lnTo>
                    <a:pt x="6246368" y="5450078"/>
                  </a:lnTo>
                  <a:lnTo>
                    <a:pt x="6246368" y="5456428"/>
                  </a:lnTo>
                  <a:lnTo>
                    <a:pt x="137541" y="5456428"/>
                  </a:lnTo>
                  <a:lnTo>
                    <a:pt x="137541" y="5450078"/>
                  </a:lnTo>
                  <a:lnTo>
                    <a:pt x="137541" y="5456428"/>
                  </a:lnTo>
                  <a:cubicBezTo>
                    <a:pt x="61595" y="5456428"/>
                    <a:pt x="0" y="5394833"/>
                    <a:pt x="0" y="5318887"/>
                  </a:cubicBezTo>
                  <a:lnTo>
                    <a:pt x="0" y="137541"/>
                  </a:lnTo>
                  <a:lnTo>
                    <a:pt x="6350" y="137541"/>
                  </a:lnTo>
                  <a:lnTo>
                    <a:pt x="0" y="137541"/>
                  </a:lnTo>
                  <a:moveTo>
                    <a:pt x="12700" y="137541"/>
                  </a:moveTo>
                  <a:lnTo>
                    <a:pt x="12700" y="5318887"/>
                  </a:lnTo>
                  <a:lnTo>
                    <a:pt x="6350" y="5318887"/>
                  </a:lnTo>
                  <a:lnTo>
                    <a:pt x="12700" y="5318887"/>
                  </a:lnTo>
                  <a:cubicBezTo>
                    <a:pt x="12700" y="5387848"/>
                    <a:pt x="68580" y="5443728"/>
                    <a:pt x="137541" y="5443728"/>
                  </a:cubicBezTo>
                  <a:lnTo>
                    <a:pt x="6246368" y="5443728"/>
                  </a:lnTo>
                  <a:cubicBezTo>
                    <a:pt x="6315329" y="5443728"/>
                    <a:pt x="6371209" y="5387848"/>
                    <a:pt x="6371209" y="5318887"/>
                  </a:cubicBezTo>
                  <a:lnTo>
                    <a:pt x="6371209" y="137541"/>
                  </a:lnTo>
                  <a:cubicBezTo>
                    <a:pt x="6371209" y="68580"/>
                    <a:pt x="6315329" y="12700"/>
                    <a:pt x="6246368" y="12700"/>
                  </a:cubicBezTo>
                  <a:lnTo>
                    <a:pt x="137541" y="12700"/>
                  </a:lnTo>
                  <a:lnTo>
                    <a:pt x="137541" y="6350"/>
                  </a:lnTo>
                  <a:lnTo>
                    <a:pt x="137541" y="12700"/>
                  </a:lnTo>
                  <a:cubicBezTo>
                    <a:pt x="68580" y="12700"/>
                    <a:pt x="12700" y="68580"/>
                    <a:pt x="12700" y="137541"/>
                  </a:cubicBezTo>
                  <a:close/>
                </a:path>
              </a:pathLst>
            </a:custGeom>
            <a:solidFill>
              <a:srgbClr val="E5BEB2"/>
            </a:solidFill>
          </p:spPr>
        </p:sp>
      </p:grpSp>
      <p:grpSp>
        <p:nvGrpSpPr>
          <p:cNvPr name="Group 14" id="14"/>
          <p:cNvGrpSpPr/>
          <p:nvPr/>
        </p:nvGrpSpPr>
        <p:grpSpPr>
          <a:xfrm rot="0">
            <a:off x="1063079" y="2103090"/>
            <a:ext cx="702320" cy="702320"/>
            <a:chOff x="0" y="0"/>
            <a:chExt cx="936427" cy="936427"/>
          </a:xfrm>
        </p:grpSpPr>
        <p:sp>
          <p:nvSpPr>
            <p:cNvPr name="Freeform 15" id="15"/>
            <p:cNvSpPr/>
            <p:nvPr/>
          </p:nvSpPr>
          <p:spPr>
            <a:xfrm flipH="false" flipV="false" rot="0">
              <a:off x="0" y="0"/>
              <a:ext cx="936371" cy="936371"/>
            </a:xfrm>
            <a:custGeom>
              <a:avLst/>
              <a:gdLst/>
              <a:ahLst/>
              <a:cxnLst/>
              <a:rect r="r" b="b" t="t" l="l"/>
              <a:pathLst>
                <a:path h="936371" w="936371">
                  <a:moveTo>
                    <a:pt x="0" y="468249"/>
                  </a:moveTo>
                  <a:cubicBezTo>
                    <a:pt x="0" y="209677"/>
                    <a:pt x="209677" y="0"/>
                    <a:pt x="468249" y="0"/>
                  </a:cubicBezTo>
                  <a:cubicBezTo>
                    <a:pt x="726821" y="0"/>
                    <a:pt x="936371" y="209677"/>
                    <a:pt x="936371" y="468249"/>
                  </a:cubicBezTo>
                  <a:cubicBezTo>
                    <a:pt x="936371" y="726821"/>
                    <a:pt x="726821" y="936371"/>
                    <a:pt x="468249" y="936371"/>
                  </a:cubicBezTo>
                  <a:cubicBezTo>
                    <a:pt x="209677" y="936371"/>
                    <a:pt x="0" y="726821"/>
                    <a:pt x="0" y="468249"/>
                  </a:cubicBezTo>
                  <a:close/>
                </a:path>
              </a:pathLst>
            </a:custGeom>
            <a:solidFill>
              <a:srgbClr val="FFAD94"/>
            </a:solidFill>
          </p:spPr>
        </p:sp>
      </p:grpSp>
      <p:grpSp>
        <p:nvGrpSpPr>
          <p:cNvPr name="Group 16" id="16"/>
          <p:cNvGrpSpPr>
            <a:grpSpLocks noChangeAspect="true"/>
          </p:cNvGrpSpPr>
          <p:nvPr/>
        </p:nvGrpSpPr>
        <p:grpSpPr>
          <a:xfrm rot="0">
            <a:off x="1256259" y="2256681"/>
            <a:ext cx="315962" cy="394990"/>
            <a:chOff x="0" y="0"/>
            <a:chExt cx="421283" cy="526653"/>
          </a:xfrm>
        </p:grpSpPr>
        <p:sp>
          <p:nvSpPr>
            <p:cNvPr name="Freeform 17" id="17" descr="preencoded.png"/>
            <p:cNvSpPr/>
            <p:nvPr/>
          </p:nvSpPr>
          <p:spPr>
            <a:xfrm flipH="false" flipV="false" rot="0">
              <a:off x="0" y="0"/>
              <a:ext cx="421259" cy="526669"/>
            </a:xfrm>
            <a:custGeom>
              <a:avLst/>
              <a:gdLst/>
              <a:ahLst/>
              <a:cxnLst/>
              <a:rect r="r" b="b" t="t" l="l"/>
              <a:pathLst>
                <a:path h="526669" w="421259">
                  <a:moveTo>
                    <a:pt x="0" y="0"/>
                  </a:moveTo>
                  <a:lnTo>
                    <a:pt x="421259" y="0"/>
                  </a:lnTo>
                  <a:lnTo>
                    <a:pt x="421259" y="526669"/>
                  </a:lnTo>
                  <a:lnTo>
                    <a:pt x="0" y="526669"/>
                  </a:lnTo>
                  <a:lnTo>
                    <a:pt x="0" y="0"/>
                  </a:lnTo>
                  <a:close/>
                </a:path>
              </a:pathLst>
            </a:custGeom>
            <a:blipFill>
              <a:blip r:embed="rId7"/>
              <a:stretch>
                <a:fillRect l="-309" t="0" r="-315" b="2"/>
              </a:stretch>
            </a:blipFill>
          </p:spPr>
        </p:sp>
      </p:grpSp>
      <p:sp>
        <p:nvSpPr>
          <p:cNvPr name="TextBox 18" id="18"/>
          <p:cNvSpPr txBox="true"/>
          <p:nvPr/>
        </p:nvSpPr>
        <p:spPr>
          <a:xfrm rot="0">
            <a:off x="1063079" y="3029991"/>
            <a:ext cx="2926705" cy="375345"/>
          </a:xfrm>
          <a:prstGeom prst="rect">
            <a:avLst/>
          </a:prstGeom>
        </p:spPr>
        <p:txBody>
          <a:bodyPr anchor="t" rtlCol="false" tIns="0" lIns="0" bIns="0" rIns="0">
            <a:spAutoFit/>
          </a:bodyPr>
          <a:lstStyle/>
          <a:p>
            <a:pPr algn="l">
              <a:lnSpc>
                <a:spcPts val="2875"/>
              </a:lnSpc>
            </a:pPr>
            <a:r>
              <a:rPr lang="en-US" sz="2249" b="true">
                <a:solidFill>
                  <a:srgbClr val="403C4E"/>
                </a:solidFill>
                <a:latin typeface="Merriweather Bold"/>
                <a:ea typeface="Merriweather Bold"/>
                <a:cs typeface="Merriweather Bold"/>
                <a:sym typeface="Merriweather Bold"/>
              </a:rPr>
              <a:t>Snort</a:t>
            </a:r>
          </a:p>
        </p:txBody>
      </p:sp>
      <p:sp>
        <p:nvSpPr>
          <p:cNvPr name="TextBox 19" id="19"/>
          <p:cNvSpPr txBox="true"/>
          <p:nvPr/>
        </p:nvSpPr>
        <p:spPr>
          <a:xfrm rot="0">
            <a:off x="1063079" y="3459956"/>
            <a:ext cx="4291161" cy="830109"/>
          </a:xfrm>
          <a:prstGeom prst="rect">
            <a:avLst/>
          </a:prstGeom>
        </p:spPr>
        <p:txBody>
          <a:bodyPr anchor="t" rtlCol="false" tIns="0" lIns="0" bIns="0" rIns="0">
            <a:spAutoFit/>
          </a:bodyPr>
          <a:lstStyle/>
          <a:p>
            <a:pPr algn="l">
              <a:lnSpc>
                <a:spcPts val="3423"/>
              </a:lnSpc>
            </a:pPr>
            <a:r>
              <a:rPr lang="en-US" sz="2112" b="true">
                <a:solidFill>
                  <a:srgbClr val="403C4E"/>
                </a:solidFill>
                <a:latin typeface="Open Sans Bold"/>
                <a:ea typeface="Open Sans Bold"/>
                <a:cs typeface="Open Sans Bold"/>
                <a:sym typeface="Open Sans Bold"/>
              </a:rPr>
              <a:t>Ưu điểm:</a:t>
            </a:r>
            <a:r>
              <a:rPr lang="en-US" sz="2112">
                <a:solidFill>
                  <a:srgbClr val="403C4E"/>
                </a:solidFill>
                <a:latin typeface="Open Sans"/>
                <a:ea typeface="Open Sans"/>
                <a:cs typeface="Open Sans"/>
                <a:sym typeface="Open Sans"/>
              </a:rPr>
              <a:t> Rule đa dạng, cộng đồng lớn, dễ cài đặt</a:t>
            </a:r>
          </a:p>
        </p:txBody>
      </p:sp>
      <p:sp>
        <p:nvSpPr>
          <p:cNvPr name="TextBox 20" id="20"/>
          <p:cNvSpPr txBox="true"/>
          <p:nvPr/>
        </p:nvSpPr>
        <p:spPr>
          <a:xfrm rot="0">
            <a:off x="1063079" y="4349204"/>
            <a:ext cx="4291161" cy="830109"/>
          </a:xfrm>
          <a:prstGeom prst="rect">
            <a:avLst/>
          </a:prstGeom>
        </p:spPr>
        <p:txBody>
          <a:bodyPr anchor="t" rtlCol="false" tIns="0" lIns="0" bIns="0" rIns="0">
            <a:spAutoFit/>
          </a:bodyPr>
          <a:lstStyle/>
          <a:p>
            <a:pPr algn="l">
              <a:lnSpc>
                <a:spcPts val="3423"/>
              </a:lnSpc>
            </a:pPr>
            <a:r>
              <a:rPr lang="en-US" sz="2112" b="true">
                <a:solidFill>
                  <a:srgbClr val="403C4E"/>
                </a:solidFill>
                <a:latin typeface="Open Sans Bold"/>
                <a:ea typeface="Open Sans Bold"/>
                <a:cs typeface="Open Sans Bold"/>
                <a:sym typeface="Open Sans Bold"/>
              </a:rPr>
              <a:t>Nhược điểm:</a:t>
            </a:r>
            <a:r>
              <a:rPr lang="en-US" sz="2112">
                <a:solidFill>
                  <a:srgbClr val="403C4E"/>
                </a:solidFill>
                <a:latin typeface="Open Sans"/>
                <a:ea typeface="Open Sans"/>
                <a:cs typeface="Open Sans"/>
                <a:sym typeface="Open Sans"/>
              </a:rPr>
              <a:t> Khó phát hiện tấn công mới, hiệu năng giới hạn</a:t>
            </a:r>
          </a:p>
        </p:txBody>
      </p:sp>
      <p:sp>
        <p:nvSpPr>
          <p:cNvPr name="TextBox 21" id="21"/>
          <p:cNvSpPr txBox="true"/>
          <p:nvPr/>
        </p:nvSpPr>
        <p:spPr>
          <a:xfrm rot="0">
            <a:off x="1063079" y="5238453"/>
            <a:ext cx="4291161" cy="830109"/>
          </a:xfrm>
          <a:prstGeom prst="rect">
            <a:avLst/>
          </a:prstGeom>
        </p:spPr>
        <p:txBody>
          <a:bodyPr anchor="t" rtlCol="false" tIns="0" lIns="0" bIns="0" rIns="0">
            <a:spAutoFit/>
          </a:bodyPr>
          <a:lstStyle/>
          <a:p>
            <a:pPr algn="l">
              <a:lnSpc>
                <a:spcPts val="3423"/>
              </a:lnSpc>
            </a:pPr>
            <a:r>
              <a:rPr lang="en-US" sz="2112" b="true">
                <a:solidFill>
                  <a:srgbClr val="403C4E"/>
                </a:solidFill>
                <a:latin typeface="Open Sans Bold"/>
                <a:ea typeface="Open Sans Bold"/>
                <a:cs typeface="Open Sans Bold"/>
                <a:sym typeface="Open Sans Bold"/>
              </a:rPr>
              <a:t>Phù hợp:</a:t>
            </a:r>
            <a:r>
              <a:rPr lang="en-US" sz="2112">
                <a:solidFill>
                  <a:srgbClr val="403C4E"/>
                </a:solidFill>
                <a:latin typeface="Open Sans"/>
                <a:ea typeface="Open Sans"/>
                <a:cs typeface="Open Sans"/>
                <a:sym typeface="Open Sans"/>
              </a:rPr>
              <a:t> Môi trường nhỏ, học tập</a:t>
            </a:r>
          </a:p>
        </p:txBody>
      </p:sp>
      <p:grpSp>
        <p:nvGrpSpPr>
          <p:cNvPr name="Group 22" id="22"/>
          <p:cNvGrpSpPr/>
          <p:nvPr/>
        </p:nvGrpSpPr>
        <p:grpSpPr>
          <a:xfrm rot="0">
            <a:off x="5827216" y="1854696"/>
            <a:ext cx="4788099" cy="4092327"/>
            <a:chOff x="0" y="0"/>
            <a:chExt cx="6384132" cy="5456437"/>
          </a:xfrm>
        </p:grpSpPr>
        <p:sp>
          <p:nvSpPr>
            <p:cNvPr name="Freeform 23" id="23"/>
            <p:cNvSpPr/>
            <p:nvPr/>
          </p:nvSpPr>
          <p:spPr>
            <a:xfrm flipH="false" flipV="false" rot="0">
              <a:off x="6350" y="6350"/>
              <a:ext cx="6371463" cy="5443728"/>
            </a:xfrm>
            <a:custGeom>
              <a:avLst/>
              <a:gdLst/>
              <a:ahLst/>
              <a:cxnLst/>
              <a:rect r="r" b="b" t="t" l="l"/>
              <a:pathLst>
                <a:path h="5443728" w="6371463">
                  <a:moveTo>
                    <a:pt x="0" y="131191"/>
                  </a:moveTo>
                  <a:cubicBezTo>
                    <a:pt x="0" y="58674"/>
                    <a:pt x="58674" y="0"/>
                    <a:pt x="131191" y="0"/>
                  </a:cubicBezTo>
                  <a:lnTo>
                    <a:pt x="6240272" y="0"/>
                  </a:lnTo>
                  <a:cubicBezTo>
                    <a:pt x="6312662" y="0"/>
                    <a:pt x="6371463" y="58674"/>
                    <a:pt x="6371463" y="131191"/>
                  </a:cubicBezTo>
                  <a:lnTo>
                    <a:pt x="6371463" y="5312537"/>
                  </a:lnTo>
                  <a:cubicBezTo>
                    <a:pt x="6371463" y="5384927"/>
                    <a:pt x="6312789" y="5443728"/>
                    <a:pt x="6240272" y="5443728"/>
                  </a:cubicBezTo>
                  <a:lnTo>
                    <a:pt x="131191" y="5443728"/>
                  </a:lnTo>
                  <a:cubicBezTo>
                    <a:pt x="58674" y="5443728"/>
                    <a:pt x="0" y="5385054"/>
                    <a:pt x="0" y="5312537"/>
                  </a:cubicBezTo>
                  <a:close/>
                </a:path>
              </a:pathLst>
            </a:custGeom>
            <a:solidFill>
              <a:srgbClr val="FFD8CC"/>
            </a:solidFill>
          </p:spPr>
        </p:sp>
        <p:sp>
          <p:nvSpPr>
            <p:cNvPr name="Freeform 24" id="24"/>
            <p:cNvSpPr/>
            <p:nvPr/>
          </p:nvSpPr>
          <p:spPr>
            <a:xfrm flipH="false" flipV="false" rot="0">
              <a:off x="0" y="0"/>
              <a:ext cx="6384163" cy="5456428"/>
            </a:xfrm>
            <a:custGeom>
              <a:avLst/>
              <a:gdLst/>
              <a:ahLst/>
              <a:cxnLst/>
              <a:rect r="r" b="b" t="t" l="l"/>
              <a:pathLst>
                <a:path h="5456428" w="6384163">
                  <a:moveTo>
                    <a:pt x="0" y="137541"/>
                  </a:moveTo>
                  <a:cubicBezTo>
                    <a:pt x="0" y="61595"/>
                    <a:pt x="61595" y="0"/>
                    <a:pt x="137541" y="0"/>
                  </a:cubicBezTo>
                  <a:lnTo>
                    <a:pt x="6246622" y="0"/>
                  </a:lnTo>
                  <a:lnTo>
                    <a:pt x="6246622" y="6350"/>
                  </a:lnTo>
                  <a:lnTo>
                    <a:pt x="6246622" y="0"/>
                  </a:lnTo>
                  <a:cubicBezTo>
                    <a:pt x="6322568" y="0"/>
                    <a:pt x="6384163" y="61595"/>
                    <a:pt x="6384163" y="137541"/>
                  </a:cubicBezTo>
                  <a:lnTo>
                    <a:pt x="6377813" y="137541"/>
                  </a:lnTo>
                  <a:lnTo>
                    <a:pt x="6384163" y="137541"/>
                  </a:lnTo>
                  <a:lnTo>
                    <a:pt x="6384163" y="5318887"/>
                  </a:lnTo>
                  <a:lnTo>
                    <a:pt x="6377813" y="5318887"/>
                  </a:lnTo>
                  <a:lnTo>
                    <a:pt x="6384163" y="5318887"/>
                  </a:lnTo>
                  <a:cubicBezTo>
                    <a:pt x="6384163" y="5394833"/>
                    <a:pt x="6322568" y="5456428"/>
                    <a:pt x="6246622" y="5456428"/>
                  </a:cubicBezTo>
                  <a:lnTo>
                    <a:pt x="6246622" y="5450078"/>
                  </a:lnTo>
                  <a:lnTo>
                    <a:pt x="6246622" y="5456428"/>
                  </a:lnTo>
                  <a:lnTo>
                    <a:pt x="137541" y="5456428"/>
                  </a:lnTo>
                  <a:lnTo>
                    <a:pt x="137541" y="5450078"/>
                  </a:lnTo>
                  <a:lnTo>
                    <a:pt x="137541" y="5456428"/>
                  </a:lnTo>
                  <a:cubicBezTo>
                    <a:pt x="61595" y="5456428"/>
                    <a:pt x="0" y="5394833"/>
                    <a:pt x="0" y="5318887"/>
                  </a:cubicBezTo>
                  <a:lnTo>
                    <a:pt x="0" y="137541"/>
                  </a:lnTo>
                  <a:lnTo>
                    <a:pt x="6350" y="137541"/>
                  </a:lnTo>
                  <a:lnTo>
                    <a:pt x="0" y="137541"/>
                  </a:lnTo>
                  <a:moveTo>
                    <a:pt x="12700" y="137541"/>
                  </a:moveTo>
                  <a:lnTo>
                    <a:pt x="12700" y="5318887"/>
                  </a:lnTo>
                  <a:lnTo>
                    <a:pt x="6350" y="5318887"/>
                  </a:lnTo>
                  <a:lnTo>
                    <a:pt x="12700" y="5318887"/>
                  </a:lnTo>
                  <a:cubicBezTo>
                    <a:pt x="12700" y="5387848"/>
                    <a:pt x="68580" y="5443728"/>
                    <a:pt x="137541" y="5443728"/>
                  </a:cubicBezTo>
                  <a:lnTo>
                    <a:pt x="6246622" y="5443728"/>
                  </a:lnTo>
                  <a:cubicBezTo>
                    <a:pt x="6315583" y="5443728"/>
                    <a:pt x="6371463" y="5387848"/>
                    <a:pt x="6371463" y="5318887"/>
                  </a:cubicBezTo>
                  <a:lnTo>
                    <a:pt x="6371463" y="137541"/>
                  </a:lnTo>
                  <a:cubicBezTo>
                    <a:pt x="6371463" y="68580"/>
                    <a:pt x="6315583" y="12700"/>
                    <a:pt x="6246622" y="12700"/>
                  </a:cubicBezTo>
                  <a:lnTo>
                    <a:pt x="137541" y="12700"/>
                  </a:lnTo>
                  <a:lnTo>
                    <a:pt x="137541" y="6350"/>
                  </a:lnTo>
                  <a:lnTo>
                    <a:pt x="137541" y="12700"/>
                  </a:lnTo>
                  <a:cubicBezTo>
                    <a:pt x="68580" y="12700"/>
                    <a:pt x="12700" y="68580"/>
                    <a:pt x="12700" y="137541"/>
                  </a:cubicBezTo>
                  <a:close/>
                </a:path>
              </a:pathLst>
            </a:custGeom>
            <a:solidFill>
              <a:srgbClr val="E5BEB2"/>
            </a:solidFill>
          </p:spPr>
        </p:sp>
      </p:grpSp>
      <p:grpSp>
        <p:nvGrpSpPr>
          <p:cNvPr name="Group 25" id="25"/>
          <p:cNvGrpSpPr/>
          <p:nvPr/>
        </p:nvGrpSpPr>
        <p:grpSpPr>
          <a:xfrm rot="0">
            <a:off x="6075610" y="2103090"/>
            <a:ext cx="702320" cy="702320"/>
            <a:chOff x="0" y="0"/>
            <a:chExt cx="936427" cy="936427"/>
          </a:xfrm>
        </p:grpSpPr>
        <p:sp>
          <p:nvSpPr>
            <p:cNvPr name="Freeform 26" id="26"/>
            <p:cNvSpPr/>
            <p:nvPr/>
          </p:nvSpPr>
          <p:spPr>
            <a:xfrm flipH="false" flipV="false" rot="0">
              <a:off x="0" y="0"/>
              <a:ext cx="936371" cy="936371"/>
            </a:xfrm>
            <a:custGeom>
              <a:avLst/>
              <a:gdLst/>
              <a:ahLst/>
              <a:cxnLst/>
              <a:rect r="r" b="b" t="t" l="l"/>
              <a:pathLst>
                <a:path h="936371" w="936371">
                  <a:moveTo>
                    <a:pt x="0" y="468249"/>
                  </a:moveTo>
                  <a:cubicBezTo>
                    <a:pt x="0" y="209677"/>
                    <a:pt x="209677" y="0"/>
                    <a:pt x="468249" y="0"/>
                  </a:cubicBezTo>
                  <a:cubicBezTo>
                    <a:pt x="726821" y="0"/>
                    <a:pt x="936371" y="209677"/>
                    <a:pt x="936371" y="468249"/>
                  </a:cubicBezTo>
                  <a:cubicBezTo>
                    <a:pt x="936371" y="726821"/>
                    <a:pt x="726821" y="936371"/>
                    <a:pt x="468249" y="936371"/>
                  </a:cubicBezTo>
                  <a:cubicBezTo>
                    <a:pt x="209677" y="936371"/>
                    <a:pt x="0" y="726821"/>
                    <a:pt x="0" y="468249"/>
                  </a:cubicBezTo>
                  <a:close/>
                </a:path>
              </a:pathLst>
            </a:custGeom>
            <a:solidFill>
              <a:srgbClr val="FFAD94"/>
            </a:solidFill>
          </p:spPr>
        </p:sp>
      </p:grpSp>
      <p:grpSp>
        <p:nvGrpSpPr>
          <p:cNvPr name="Group 27" id="27"/>
          <p:cNvGrpSpPr>
            <a:grpSpLocks noChangeAspect="true"/>
          </p:cNvGrpSpPr>
          <p:nvPr/>
        </p:nvGrpSpPr>
        <p:grpSpPr>
          <a:xfrm rot="0">
            <a:off x="6268790" y="2256681"/>
            <a:ext cx="315962" cy="394990"/>
            <a:chOff x="0" y="0"/>
            <a:chExt cx="421283" cy="526653"/>
          </a:xfrm>
        </p:grpSpPr>
        <p:sp>
          <p:nvSpPr>
            <p:cNvPr name="Freeform 28" id="28" descr="preencoded.png"/>
            <p:cNvSpPr/>
            <p:nvPr/>
          </p:nvSpPr>
          <p:spPr>
            <a:xfrm flipH="false" flipV="false" rot="0">
              <a:off x="0" y="0"/>
              <a:ext cx="421259" cy="526669"/>
            </a:xfrm>
            <a:custGeom>
              <a:avLst/>
              <a:gdLst/>
              <a:ahLst/>
              <a:cxnLst/>
              <a:rect r="r" b="b" t="t" l="l"/>
              <a:pathLst>
                <a:path h="526669" w="421259">
                  <a:moveTo>
                    <a:pt x="0" y="0"/>
                  </a:moveTo>
                  <a:lnTo>
                    <a:pt x="421259" y="0"/>
                  </a:lnTo>
                  <a:lnTo>
                    <a:pt x="421259" y="526669"/>
                  </a:lnTo>
                  <a:lnTo>
                    <a:pt x="0" y="526669"/>
                  </a:lnTo>
                  <a:lnTo>
                    <a:pt x="0" y="0"/>
                  </a:lnTo>
                  <a:close/>
                </a:path>
              </a:pathLst>
            </a:custGeom>
            <a:blipFill>
              <a:blip r:embed="rId8"/>
              <a:stretch>
                <a:fillRect l="-309" t="0" r="-315" b="2"/>
              </a:stretch>
            </a:blipFill>
          </p:spPr>
        </p:sp>
      </p:grpSp>
      <p:sp>
        <p:nvSpPr>
          <p:cNvPr name="TextBox 29" id="29"/>
          <p:cNvSpPr txBox="true"/>
          <p:nvPr/>
        </p:nvSpPr>
        <p:spPr>
          <a:xfrm rot="0">
            <a:off x="6075610" y="3029991"/>
            <a:ext cx="2926705" cy="375345"/>
          </a:xfrm>
          <a:prstGeom prst="rect">
            <a:avLst/>
          </a:prstGeom>
        </p:spPr>
        <p:txBody>
          <a:bodyPr anchor="t" rtlCol="false" tIns="0" lIns="0" bIns="0" rIns="0">
            <a:spAutoFit/>
          </a:bodyPr>
          <a:lstStyle/>
          <a:p>
            <a:pPr algn="l">
              <a:lnSpc>
                <a:spcPts val="2875"/>
              </a:lnSpc>
            </a:pPr>
            <a:r>
              <a:rPr lang="en-US" sz="2249" b="true">
                <a:solidFill>
                  <a:srgbClr val="403C4E"/>
                </a:solidFill>
                <a:latin typeface="Merriweather Bold"/>
                <a:ea typeface="Merriweather Bold"/>
                <a:cs typeface="Merriweather Bold"/>
                <a:sym typeface="Merriweather Bold"/>
              </a:rPr>
              <a:t>Zeek (Bro)</a:t>
            </a:r>
          </a:p>
        </p:txBody>
      </p:sp>
      <p:sp>
        <p:nvSpPr>
          <p:cNvPr name="TextBox 30" id="30"/>
          <p:cNvSpPr txBox="true"/>
          <p:nvPr/>
        </p:nvSpPr>
        <p:spPr>
          <a:xfrm rot="0">
            <a:off x="6075610" y="3459956"/>
            <a:ext cx="4291310" cy="1258734"/>
          </a:xfrm>
          <a:prstGeom prst="rect">
            <a:avLst/>
          </a:prstGeom>
        </p:spPr>
        <p:txBody>
          <a:bodyPr anchor="t" rtlCol="false" tIns="0" lIns="0" bIns="0" rIns="0">
            <a:spAutoFit/>
          </a:bodyPr>
          <a:lstStyle/>
          <a:p>
            <a:pPr algn="l">
              <a:lnSpc>
                <a:spcPts val="3423"/>
              </a:lnSpc>
            </a:pPr>
            <a:r>
              <a:rPr lang="en-US" sz="2112" b="true">
                <a:solidFill>
                  <a:srgbClr val="403C4E"/>
                </a:solidFill>
                <a:latin typeface="Open Sans Bold"/>
                <a:ea typeface="Open Sans Bold"/>
                <a:cs typeface="Open Sans Bold"/>
                <a:sym typeface="Open Sans Bold"/>
              </a:rPr>
              <a:t>Ưu điểm:</a:t>
            </a:r>
            <a:r>
              <a:rPr lang="en-US" sz="2112">
                <a:solidFill>
                  <a:srgbClr val="403C4E"/>
                </a:solidFill>
                <a:latin typeface="Open Sans"/>
                <a:ea typeface="Open Sans"/>
                <a:cs typeface="Open Sans"/>
                <a:sym typeface="Open Sans"/>
              </a:rPr>
              <a:t> Phân tích hành vi chi tiết, scripting mạnh, log phong phú</a:t>
            </a:r>
          </a:p>
        </p:txBody>
      </p:sp>
      <p:sp>
        <p:nvSpPr>
          <p:cNvPr name="TextBox 31" id="31"/>
          <p:cNvSpPr txBox="true"/>
          <p:nvPr/>
        </p:nvSpPr>
        <p:spPr>
          <a:xfrm rot="0">
            <a:off x="6075610" y="4349204"/>
            <a:ext cx="4291310" cy="830109"/>
          </a:xfrm>
          <a:prstGeom prst="rect">
            <a:avLst/>
          </a:prstGeom>
        </p:spPr>
        <p:txBody>
          <a:bodyPr anchor="t" rtlCol="false" tIns="0" lIns="0" bIns="0" rIns="0">
            <a:spAutoFit/>
          </a:bodyPr>
          <a:lstStyle/>
          <a:p>
            <a:pPr algn="l">
              <a:lnSpc>
                <a:spcPts val="3423"/>
              </a:lnSpc>
            </a:pPr>
            <a:r>
              <a:rPr lang="en-US" sz="2112" b="true">
                <a:solidFill>
                  <a:srgbClr val="403C4E"/>
                </a:solidFill>
                <a:latin typeface="Open Sans Bold"/>
                <a:ea typeface="Open Sans Bold"/>
                <a:cs typeface="Open Sans Bold"/>
                <a:sym typeface="Open Sans Bold"/>
              </a:rPr>
              <a:t>Nhược điểm:</a:t>
            </a:r>
            <a:r>
              <a:rPr lang="en-US" sz="2112">
                <a:solidFill>
                  <a:srgbClr val="403C4E"/>
                </a:solidFill>
                <a:latin typeface="Open Sans"/>
                <a:ea typeface="Open Sans"/>
                <a:cs typeface="Open Sans"/>
                <a:sym typeface="Open Sans"/>
              </a:rPr>
              <a:t> Khó cấu hình, không phổ biến</a:t>
            </a:r>
          </a:p>
        </p:txBody>
      </p:sp>
      <p:sp>
        <p:nvSpPr>
          <p:cNvPr name="TextBox 32" id="32"/>
          <p:cNvSpPr txBox="true"/>
          <p:nvPr/>
        </p:nvSpPr>
        <p:spPr>
          <a:xfrm rot="0">
            <a:off x="6075610" y="5238453"/>
            <a:ext cx="4291310" cy="401484"/>
          </a:xfrm>
          <a:prstGeom prst="rect">
            <a:avLst/>
          </a:prstGeom>
        </p:spPr>
        <p:txBody>
          <a:bodyPr anchor="t" rtlCol="false" tIns="0" lIns="0" bIns="0" rIns="0">
            <a:spAutoFit/>
          </a:bodyPr>
          <a:lstStyle/>
          <a:p>
            <a:pPr algn="l">
              <a:lnSpc>
                <a:spcPts val="3423"/>
              </a:lnSpc>
            </a:pPr>
            <a:r>
              <a:rPr lang="en-US" sz="2112" b="true">
                <a:solidFill>
                  <a:srgbClr val="403C4E"/>
                </a:solidFill>
                <a:latin typeface="Open Sans Bold"/>
                <a:ea typeface="Open Sans Bold"/>
                <a:cs typeface="Open Sans Bold"/>
                <a:sym typeface="Open Sans Bold"/>
              </a:rPr>
              <a:t>Phù hợp:</a:t>
            </a:r>
            <a:r>
              <a:rPr lang="en-US" sz="2112">
                <a:solidFill>
                  <a:srgbClr val="403C4E"/>
                </a:solidFill>
                <a:latin typeface="Open Sans"/>
                <a:ea typeface="Open Sans"/>
                <a:cs typeface="Open Sans"/>
                <a:sym typeface="Open Sans"/>
              </a:rPr>
              <a:t> Nghiên cứu, forensic</a:t>
            </a:r>
          </a:p>
        </p:txBody>
      </p:sp>
      <p:grpSp>
        <p:nvGrpSpPr>
          <p:cNvPr name="Group 33" id="33"/>
          <p:cNvGrpSpPr/>
          <p:nvPr/>
        </p:nvGrpSpPr>
        <p:grpSpPr>
          <a:xfrm rot="0">
            <a:off x="814685" y="6171605"/>
            <a:ext cx="9800630" cy="3343424"/>
            <a:chOff x="0" y="0"/>
            <a:chExt cx="13067507" cy="4457898"/>
          </a:xfrm>
        </p:grpSpPr>
        <p:sp>
          <p:nvSpPr>
            <p:cNvPr name="Freeform 34" id="34"/>
            <p:cNvSpPr/>
            <p:nvPr/>
          </p:nvSpPr>
          <p:spPr>
            <a:xfrm flipH="false" flipV="false" rot="0">
              <a:off x="6350" y="6350"/>
              <a:ext cx="13054712" cy="4445254"/>
            </a:xfrm>
            <a:custGeom>
              <a:avLst/>
              <a:gdLst/>
              <a:ahLst/>
              <a:cxnLst/>
              <a:rect r="r" b="b" t="t" l="l"/>
              <a:pathLst>
                <a:path h="4445254" w="13054712">
                  <a:moveTo>
                    <a:pt x="0" y="131191"/>
                  </a:moveTo>
                  <a:cubicBezTo>
                    <a:pt x="0" y="58674"/>
                    <a:pt x="58801" y="0"/>
                    <a:pt x="131318" y="0"/>
                  </a:cubicBezTo>
                  <a:lnTo>
                    <a:pt x="12923393" y="0"/>
                  </a:lnTo>
                  <a:cubicBezTo>
                    <a:pt x="12995911" y="0"/>
                    <a:pt x="13054712" y="58674"/>
                    <a:pt x="13054712" y="131191"/>
                  </a:cubicBezTo>
                  <a:lnTo>
                    <a:pt x="13054712" y="4314063"/>
                  </a:lnTo>
                  <a:cubicBezTo>
                    <a:pt x="13054712" y="4386453"/>
                    <a:pt x="12995911" y="4445254"/>
                    <a:pt x="12923393" y="4445254"/>
                  </a:cubicBezTo>
                  <a:lnTo>
                    <a:pt x="131318" y="4445254"/>
                  </a:lnTo>
                  <a:cubicBezTo>
                    <a:pt x="58801" y="4445254"/>
                    <a:pt x="0" y="4386453"/>
                    <a:pt x="0" y="4314063"/>
                  </a:cubicBezTo>
                  <a:close/>
                </a:path>
              </a:pathLst>
            </a:custGeom>
            <a:solidFill>
              <a:srgbClr val="FFD8CC"/>
            </a:solidFill>
          </p:spPr>
        </p:sp>
        <p:sp>
          <p:nvSpPr>
            <p:cNvPr name="Freeform 35" id="35"/>
            <p:cNvSpPr/>
            <p:nvPr/>
          </p:nvSpPr>
          <p:spPr>
            <a:xfrm flipH="false" flipV="false" rot="0">
              <a:off x="0" y="0"/>
              <a:ext cx="13067412" cy="4457954"/>
            </a:xfrm>
            <a:custGeom>
              <a:avLst/>
              <a:gdLst/>
              <a:ahLst/>
              <a:cxnLst/>
              <a:rect r="r" b="b" t="t" l="l"/>
              <a:pathLst>
                <a:path h="4457954" w="13067412">
                  <a:moveTo>
                    <a:pt x="0" y="137541"/>
                  </a:moveTo>
                  <a:cubicBezTo>
                    <a:pt x="0" y="61595"/>
                    <a:pt x="61722" y="0"/>
                    <a:pt x="137668" y="0"/>
                  </a:cubicBezTo>
                  <a:lnTo>
                    <a:pt x="12929743" y="0"/>
                  </a:lnTo>
                  <a:lnTo>
                    <a:pt x="12929743" y="6350"/>
                  </a:lnTo>
                  <a:lnTo>
                    <a:pt x="12929743" y="0"/>
                  </a:lnTo>
                  <a:cubicBezTo>
                    <a:pt x="13005817" y="0"/>
                    <a:pt x="13067412" y="61595"/>
                    <a:pt x="13067412" y="137541"/>
                  </a:cubicBezTo>
                  <a:lnTo>
                    <a:pt x="13061062" y="137541"/>
                  </a:lnTo>
                  <a:lnTo>
                    <a:pt x="13067412" y="137541"/>
                  </a:lnTo>
                  <a:lnTo>
                    <a:pt x="13067412" y="4320413"/>
                  </a:lnTo>
                  <a:lnTo>
                    <a:pt x="13061062" y="4320413"/>
                  </a:lnTo>
                  <a:lnTo>
                    <a:pt x="13067412" y="4320413"/>
                  </a:lnTo>
                  <a:cubicBezTo>
                    <a:pt x="13067412" y="4396359"/>
                    <a:pt x="13005690" y="4457954"/>
                    <a:pt x="12929743" y="4457954"/>
                  </a:cubicBezTo>
                  <a:lnTo>
                    <a:pt x="12929743" y="4451604"/>
                  </a:lnTo>
                  <a:lnTo>
                    <a:pt x="12929743" y="4457954"/>
                  </a:lnTo>
                  <a:lnTo>
                    <a:pt x="137668" y="4457954"/>
                  </a:lnTo>
                  <a:lnTo>
                    <a:pt x="137668" y="4451604"/>
                  </a:lnTo>
                  <a:lnTo>
                    <a:pt x="137668" y="4457954"/>
                  </a:lnTo>
                  <a:cubicBezTo>
                    <a:pt x="61722" y="4457954"/>
                    <a:pt x="0" y="4396359"/>
                    <a:pt x="0" y="4320413"/>
                  </a:cubicBezTo>
                  <a:lnTo>
                    <a:pt x="0" y="137541"/>
                  </a:lnTo>
                  <a:lnTo>
                    <a:pt x="6350" y="137541"/>
                  </a:lnTo>
                  <a:lnTo>
                    <a:pt x="0" y="137541"/>
                  </a:lnTo>
                  <a:moveTo>
                    <a:pt x="12700" y="137541"/>
                  </a:moveTo>
                  <a:lnTo>
                    <a:pt x="12700" y="4320413"/>
                  </a:lnTo>
                  <a:lnTo>
                    <a:pt x="6350" y="4320413"/>
                  </a:lnTo>
                  <a:lnTo>
                    <a:pt x="12700" y="4320413"/>
                  </a:lnTo>
                  <a:cubicBezTo>
                    <a:pt x="12700" y="4389374"/>
                    <a:pt x="68707" y="4445254"/>
                    <a:pt x="137668" y="4445254"/>
                  </a:cubicBezTo>
                  <a:lnTo>
                    <a:pt x="12929743" y="4445254"/>
                  </a:lnTo>
                  <a:cubicBezTo>
                    <a:pt x="12998831" y="4445254"/>
                    <a:pt x="13054712" y="4389374"/>
                    <a:pt x="13054712" y="4320413"/>
                  </a:cubicBezTo>
                  <a:lnTo>
                    <a:pt x="13054712" y="137541"/>
                  </a:lnTo>
                  <a:cubicBezTo>
                    <a:pt x="13054712" y="68580"/>
                    <a:pt x="12998704" y="12700"/>
                    <a:pt x="12929743" y="12700"/>
                  </a:cubicBezTo>
                  <a:lnTo>
                    <a:pt x="137668" y="12700"/>
                  </a:lnTo>
                  <a:lnTo>
                    <a:pt x="137668" y="6350"/>
                  </a:lnTo>
                  <a:lnTo>
                    <a:pt x="137668" y="12700"/>
                  </a:lnTo>
                  <a:cubicBezTo>
                    <a:pt x="68707" y="12700"/>
                    <a:pt x="12700" y="68580"/>
                    <a:pt x="12700" y="137541"/>
                  </a:cubicBezTo>
                  <a:close/>
                </a:path>
              </a:pathLst>
            </a:custGeom>
            <a:solidFill>
              <a:srgbClr val="E5BEB2"/>
            </a:solidFill>
          </p:spPr>
        </p:sp>
      </p:grpSp>
      <p:grpSp>
        <p:nvGrpSpPr>
          <p:cNvPr name="Group 36" id="36"/>
          <p:cNvGrpSpPr/>
          <p:nvPr/>
        </p:nvGrpSpPr>
        <p:grpSpPr>
          <a:xfrm rot="0">
            <a:off x="1063079" y="6419999"/>
            <a:ext cx="702320" cy="702320"/>
            <a:chOff x="0" y="0"/>
            <a:chExt cx="936427" cy="936427"/>
          </a:xfrm>
        </p:grpSpPr>
        <p:sp>
          <p:nvSpPr>
            <p:cNvPr name="Freeform 37" id="37"/>
            <p:cNvSpPr/>
            <p:nvPr/>
          </p:nvSpPr>
          <p:spPr>
            <a:xfrm flipH="false" flipV="false" rot="0">
              <a:off x="0" y="0"/>
              <a:ext cx="936371" cy="936371"/>
            </a:xfrm>
            <a:custGeom>
              <a:avLst/>
              <a:gdLst/>
              <a:ahLst/>
              <a:cxnLst/>
              <a:rect r="r" b="b" t="t" l="l"/>
              <a:pathLst>
                <a:path h="936371" w="936371">
                  <a:moveTo>
                    <a:pt x="0" y="468249"/>
                  </a:moveTo>
                  <a:cubicBezTo>
                    <a:pt x="0" y="209677"/>
                    <a:pt x="209677" y="0"/>
                    <a:pt x="468249" y="0"/>
                  </a:cubicBezTo>
                  <a:cubicBezTo>
                    <a:pt x="726821" y="0"/>
                    <a:pt x="936371" y="209677"/>
                    <a:pt x="936371" y="468249"/>
                  </a:cubicBezTo>
                  <a:cubicBezTo>
                    <a:pt x="936371" y="726821"/>
                    <a:pt x="726821" y="936371"/>
                    <a:pt x="468249" y="936371"/>
                  </a:cubicBezTo>
                  <a:cubicBezTo>
                    <a:pt x="209677" y="936371"/>
                    <a:pt x="0" y="726821"/>
                    <a:pt x="0" y="468249"/>
                  </a:cubicBezTo>
                  <a:close/>
                </a:path>
              </a:pathLst>
            </a:custGeom>
            <a:solidFill>
              <a:srgbClr val="FFAD94"/>
            </a:solidFill>
          </p:spPr>
        </p:sp>
      </p:grpSp>
      <p:grpSp>
        <p:nvGrpSpPr>
          <p:cNvPr name="Group 38" id="38"/>
          <p:cNvGrpSpPr>
            <a:grpSpLocks noChangeAspect="true"/>
          </p:cNvGrpSpPr>
          <p:nvPr/>
        </p:nvGrpSpPr>
        <p:grpSpPr>
          <a:xfrm rot="0">
            <a:off x="1256259" y="6573590"/>
            <a:ext cx="315962" cy="394990"/>
            <a:chOff x="0" y="0"/>
            <a:chExt cx="421283" cy="526653"/>
          </a:xfrm>
        </p:grpSpPr>
        <p:sp>
          <p:nvSpPr>
            <p:cNvPr name="Freeform 39" id="39" descr="preencoded.png"/>
            <p:cNvSpPr/>
            <p:nvPr/>
          </p:nvSpPr>
          <p:spPr>
            <a:xfrm flipH="false" flipV="false" rot="0">
              <a:off x="0" y="0"/>
              <a:ext cx="421259" cy="526669"/>
            </a:xfrm>
            <a:custGeom>
              <a:avLst/>
              <a:gdLst/>
              <a:ahLst/>
              <a:cxnLst/>
              <a:rect r="r" b="b" t="t" l="l"/>
              <a:pathLst>
                <a:path h="526669" w="421259">
                  <a:moveTo>
                    <a:pt x="0" y="0"/>
                  </a:moveTo>
                  <a:lnTo>
                    <a:pt x="421259" y="0"/>
                  </a:lnTo>
                  <a:lnTo>
                    <a:pt x="421259" y="526669"/>
                  </a:lnTo>
                  <a:lnTo>
                    <a:pt x="0" y="526669"/>
                  </a:lnTo>
                  <a:lnTo>
                    <a:pt x="0" y="0"/>
                  </a:lnTo>
                  <a:close/>
                </a:path>
              </a:pathLst>
            </a:custGeom>
            <a:blipFill>
              <a:blip r:embed="rId9"/>
              <a:stretch>
                <a:fillRect l="-309" t="0" r="-315" b="2"/>
              </a:stretch>
            </a:blipFill>
          </p:spPr>
        </p:sp>
      </p:grpSp>
      <p:sp>
        <p:nvSpPr>
          <p:cNvPr name="TextBox 40" id="40"/>
          <p:cNvSpPr txBox="true"/>
          <p:nvPr/>
        </p:nvSpPr>
        <p:spPr>
          <a:xfrm rot="0">
            <a:off x="1063079" y="7346900"/>
            <a:ext cx="2926705" cy="375345"/>
          </a:xfrm>
          <a:prstGeom prst="rect">
            <a:avLst/>
          </a:prstGeom>
        </p:spPr>
        <p:txBody>
          <a:bodyPr anchor="t" rtlCol="false" tIns="0" lIns="0" bIns="0" rIns="0">
            <a:spAutoFit/>
          </a:bodyPr>
          <a:lstStyle/>
          <a:p>
            <a:pPr algn="l">
              <a:lnSpc>
                <a:spcPts val="2875"/>
              </a:lnSpc>
            </a:pPr>
            <a:r>
              <a:rPr lang="en-US" sz="2249" b="true">
                <a:solidFill>
                  <a:srgbClr val="403C4E"/>
                </a:solidFill>
                <a:latin typeface="Merriweather Bold"/>
                <a:ea typeface="Merriweather Bold"/>
                <a:cs typeface="Merriweather Bold"/>
                <a:sym typeface="Merriweather Bold"/>
              </a:rPr>
              <a:t>Suricata</a:t>
            </a:r>
          </a:p>
        </p:txBody>
      </p:sp>
      <p:sp>
        <p:nvSpPr>
          <p:cNvPr name="TextBox 41" id="41"/>
          <p:cNvSpPr txBox="true"/>
          <p:nvPr/>
        </p:nvSpPr>
        <p:spPr>
          <a:xfrm rot="0">
            <a:off x="1063079" y="7776865"/>
            <a:ext cx="9303841" cy="401484"/>
          </a:xfrm>
          <a:prstGeom prst="rect">
            <a:avLst/>
          </a:prstGeom>
        </p:spPr>
        <p:txBody>
          <a:bodyPr anchor="t" rtlCol="false" tIns="0" lIns="0" bIns="0" rIns="0">
            <a:spAutoFit/>
          </a:bodyPr>
          <a:lstStyle/>
          <a:p>
            <a:pPr algn="l">
              <a:lnSpc>
                <a:spcPts val="3423"/>
              </a:lnSpc>
            </a:pPr>
            <a:r>
              <a:rPr lang="en-US" sz="2112" b="true">
                <a:solidFill>
                  <a:srgbClr val="403C4E"/>
                </a:solidFill>
                <a:latin typeface="Open Sans Bold"/>
                <a:ea typeface="Open Sans Bold"/>
                <a:cs typeface="Open Sans Bold"/>
                <a:sym typeface="Open Sans Bold"/>
              </a:rPr>
              <a:t>Ưu điểm:</a:t>
            </a:r>
            <a:r>
              <a:rPr lang="en-US" sz="2112">
                <a:solidFill>
                  <a:srgbClr val="403C4E"/>
                </a:solidFill>
                <a:latin typeface="Open Sans"/>
                <a:ea typeface="Open Sans"/>
                <a:cs typeface="Open Sans"/>
                <a:sym typeface="Open Sans"/>
              </a:rPr>
              <a:t> Hiệu năng cao, đa luồng, hỗ trợ rule Snort</a:t>
            </a:r>
          </a:p>
        </p:txBody>
      </p:sp>
      <p:sp>
        <p:nvSpPr>
          <p:cNvPr name="TextBox 42" id="42"/>
          <p:cNvSpPr txBox="true"/>
          <p:nvPr/>
        </p:nvSpPr>
        <p:spPr>
          <a:xfrm rot="0">
            <a:off x="1063079" y="8291661"/>
            <a:ext cx="9303841" cy="401484"/>
          </a:xfrm>
          <a:prstGeom prst="rect">
            <a:avLst/>
          </a:prstGeom>
        </p:spPr>
        <p:txBody>
          <a:bodyPr anchor="t" rtlCol="false" tIns="0" lIns="0" bIns="0" rIns="0">
            <a:spAutoFit/>
          </a:bodyPr>
          <a:lstStyle/>
          <a:p>
            <a:pPr algn="l">
              <a:lnSpc>
                <a:spcPts val="3423"/>
              </a:lnSpc>
            </a:pPr>
            <a:r>
              <a:rPr lang="en-US" sz="2112" b="true">
                <a:solidFill>
                  <a:srgbClr val="403C4E"/>
                </a:solidFill>
                <a:latin typeface="Open Sans Bold"/>
                <a:ea typeface="Open Sans Bold"/>
                <a:cs typeface="Open Sans Bold"/>
                <a:sym typeface="Open Sans Bold"/>
              </a:rPr>
              <a:t>Nhược điểm:</a:t>
            </a:r>
            <a:r>
              <a:rPr lang="en-US" sz="2112">
                <a:solidFill>
                  <a:srgbClr val="403C4E"/>
                </a:solidFill>
                <a:latin typeface="Open Sans"/>
                <a:ea typeface="Open Sans"/>
                <a:cs typeface="Open Sans"/>
                <a:sym typeface="Open Sans"/>
              </a:rPr>
              <a:t> Ngốn tài nguyên, rule chưa phong phú</a:t>
            </a:r>
          </a:p>
        </p:txBody>
      </p:sp>
      <p:sp>
        <p:nvSpPr>
          <p:cNvPr name="TextBox 43" id="43"/>
          <p:cNvSpPr txBox="true"/>
          <p:nvPr/>
        </p:nvSpPr>
        <p:spPr>
          <a:xfrm rot="0">
            <a:off x="1063079" y="8806458"/>
            <a:ext cx="9303841" cy="401484"/>
          </a:xfrm>
          <a:prstGeom prst="rect">
            <a:avLst/>
          </a:prstGeom>
        </p:spPr>
        <p:txBody>
          <a:bodyPr anchor="t" rtlCol="false" tIns="0" lIns="0" bIns="0" rIns="0">
            <a:spAutoFit/>
          </a:bodyPr>
          <a:lstStyle/>
          <a:p>
            <a:pPr algn="l">
              <a:lnSpc>
                <a:spcPts val="3423"/>
              </a:lnSpc>
            </a:pPr>
            <a:r>
              <a:rPr lang="en-US" sz="2112" b="true">
                <a:solidFill>
                  <a:srgbClr val="403C4E"/>
                </a:solidFill>
                <a:latin typeface="Open Sans Bold"/>
                <a:ea typeface="Open Sans Bold"/>
                <a:cs typeface="Open Sans Bold"/>
                <a:sym typeface="Open Sans Bold"/>
              </a:rPr>
              <a:t>Phù hợp:</a:t>
            </a:r>
            <a:r>
              <a:rPr lang="en-US" sz="2112">
                <a:solidFill>
                  <a:srgbClr val="403C4E"/>
                </a:solidFill>
                <a:latin typeface="Open Sans"/>
                <a:ea typeface="Open Sans"/>
                <a:cs typeface="Open Sans"/>
                <a:sym typeface="Open Sans"/>
              </a:rPr>
              <a:t> Doanh nghiệp lớn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a:grpSpLocks noChangeAspect="true"/>
          </p:cNvGrpSpPr>
          <p:nvPr/>
        </p:nvGrpSpPr>
        <p:grpSpPr>
          <a:xfrm rot="0">
            <a:off x="0" y="0"/>
            <a:ext cx="18288000" cy="3408461"/>
            <a:chOff x="0" y="0"/>
            <a:chExt cx="24384000" cy="4544615"/>
          </a:xfrm>
        </p:grpSpPr>
        <p:sp>
          <p:nvSpPr>
            <p:cNvPr name="Freeform 7" id="7" descr="preencoded.png"/>
            <p:cNvSpPr/>
            <p:nvPr/>
          </p:nvSpPr>
          <p:spPr>
            <a:xfrm flipH="false" flipV="false" rot="0">
              <a:off x="0" y="0"/>
              <a:ext cx="24384000" cy="4544568"/>
            </a:xfrm>
            <a:custGeom>
              <a:avLst/>
              <a:gdLst/>
              <a:ahLst/>
              <a:cxnLst/>
              <a:rect r="r" b="b" t="t" l="l"/>
              <a:pathLst>
                <a:path h="4544568" w="24384000">
                  <a:moveTo>
                    <a:pt x="0" y="0"/>
                  </a:moveTo>
                  <a:lnTo>
                    <a:pt x="24384000" y="0"/>
                  </a:lnTo>
                  <a:lnTo>
                    <a:pt x="24384000" y="4544568"/>
                  </a:lnTo>
                  <a:lnTo>
                    <a:pt x="0" y="4544568"/>
                  </a:lnTo>
                  <a:lnTo>
                    <a:pt x="0" y="0"/>
                  </a:lnTo>
                  <a:close/>
                </a:path>
              </a:pathLst>
            </a:custGeom>
            <a:blipFill>
              <a:blip r:embed="rId4"/>
              <a:stretch>
                <a:fillRect l="0" t="-21" r="0" b="-22"/>
              </a:stretch>
            </a:blipFill>
          </p:spPr>
        </p:sp>
      </p:grpSp>
      <p:sp>
        <p:nvSpPr>
          <p:cNvPr name="TextBox 8" id="8"/>
          <p:cNvSpPr txBox="true"/>
          <p:nvPr/>
        </p:nvSpPr>
        <p:spPr>
          <a:xfrm rot="0">
            <a:off x="954286" y="4129682"/>
            <a:ext cx="10762088" cy="836613"/>
          </a:xfrm>
          <a:prstGeom prst="rect">
            <a:avLst/>
          </a:prstGeom>
        </p:spPr>
        <p:txBody>
          <a:bodyPr anchor="t" rtlCol="false" tIns="0" lIns="0" bIns="0" rIns="0">
            <a:spAutoFit/>
          </a:bodyPr>
          <a:lstStyle/>
          <a:p>
            <a:pPr algn="l">
              <a:lnSpc>
                <a:spcPts val="6687"/>
              </a:lnSpc>
            </a:pPr>
            <a:r>
              <a:rPr lang="en-US" sz="5312" b="true">
                <a:solidFill>
                  <a:srgbClr val="403C4E"/>
                </a:solidFill>
                <a:latin typeface="Merriweather Bold"/>
                <a:ea typeface="Merriweather Bold"/>
                <a:cs typeface="Merriweather Bold"/>
                <a:sym typeface="Merriweather Bold"/>
              </a:rPr>
              <a:t>Kết quả demo và thực nghiệm</a:t>
            </a:r>
          </a:p>
        </p:txBody>
      </p:sp>
      <p:sp>
        <p:nvSpPr>
          <p:cNvPr name="TextBox 9" id="9"/>
          <p:cNvSpPr txBox="true"/>
          <p:nvPr/>
        </p:nvSpPr>
        <p:spPr>
          <a:xfrm rot="0">
            <a:off x="954286" y="5672881"/>
            <a:ext cx="3408461" cy="444996"/>
          </a:xfrm>
          <a:prstGeom prst="rect">
            <a:avLst/>
          </a:prstGeom>
        </p:spPr>
        <p:txBody>
          <a:bodyPr anchor="t" rtlCol="false" tIns="0" lIns="0" bIns="0" rIns="0">
            <a:spAutoFit/>
          </a:bodyPr>
          <a:lstStyle/>
          <a:p>
            <a:pPr algn="l">
              <a:lnSpc>
                <a:spcPts val="3312"/>
              </a:lnSpc>
            </a:pPr>
            <a:r>
              <a:rPr lang="en-US" sz="2625" b="true">
                <a:solidFill>
                  <a:srgbClr val="403C4E"/>
                </a:solidFill>
                <a:latin typeface="Merriweather Bold"/>
                <a:ea typeface="Merriweather Bold"/>
                <a:cs typeface="Merriweather Bold"/>
                <a:sym typeface="Merriweather Bold"/>
              </a:rPr>
              <a:t>Demo Snort</a:t>
            </a:r>
          </a:p>
        </p:txBody>
      </p:sp>
      <p:sp>
        <p:nvSpPr>
          <p:cNvPr name="TextBox 10" id="10"/>
          <p:cNvSpPr txBox="true"/>
          <p:nvPr/>
        </p:nvSpPr>
        <p:spPr>
          <a:xfrm rot="0">
            <a:off x="954286" y="6304806"/>
            <a:ext cx="7857084" cy="1423483"/>
          </a:xfrm>
          <a:prstGeom prst="rect">
            <a:avLst/>
          </a:prstGeom>
        </p:spPr>
        <p:txBody>
          <a:bodyPr anchor="t" rtlCol="false" tIns="0" lIns="0" bIns="0" rIns="0">
            <a:spAutoFit/>
          </a:bodyPr>
          <a:lstStyle/>
          <a:p>
            <a:pPr algn="l">
              <a:lnSpc>
                <a:spcPts val="3851"/>
              </a:lnSpc>
            </a:pPr>
            <a:r>
              <a:rPr lang="en-US" sz="2424">
                <a:solidFill>
                  <a:srgbClr val="403C4E"/>
                </a:solidFill>
                <a:latin typeface="Open Sans"/>
                <a:ea typeface="Open Sans"/>
                <a:cs typeface="Open Sans"/>
                <a:sym typeface="Open Sans"/>
              </a:rPr>
              <a:t>Thành công cài đặt trên Ubuntu, cấu hình rule phát hiện ICMP Ping. Tắt offloading card mạng, thiết lập $HOME_NET và ghi log cảnh báo hiệu quả.</a:t>
            </a:r>
          </a:p>
        </p:txBody>
      </p:sp>
      <p:sp>
        <p:nvSpPr>
          <p:cNvPr name="TextBox 11" id="11"/>
          <p:cNvSpPr txBox="true"/>
          <p:nvPr/>
        </p:nvSpPr>
        <p:spPr>
          <a:xfrm rot="0">
            <a:off x="954286" y="7858720"/>
            <a:ext cx="7857084" cy="451933"/>
          </a:xfrm>
          <a:prstGeom prst="rect">
            <a:avLst/>
          </a:prstGeom>
        </p:spPr>
        <p:txBody>
          <a:bodyPr anchor="t" rtlCol="false" tIns="0" lIns="0" bIns="0" rIns="0">
            <a:spAutoFit/>
          </a:bodyPr>
          <a:lstStyle/>
          <a:p>
            <a:pPr algn="l" marL="365720" indent="-182860" lvl="1">
              <a:lnSpc>
                <a:spcPts val="3851"/>
              </a:lnSpc>
              <a:buFont typeface="Arial"/>
              <a:buChar char="•"/>
            </a:pPr>
            <a:r>
              <a:rPr lang="en-US" sz="2424">
                <a:solidFill>
                  <a:srgbClr val="403C4E"/>
                </a:solidFill>
                <a:latin typeface="Open Sans"/>
                <a:ea typeface="Open Sans"/>
                <a:cs typeface="Open Sans"/>
                <a:sym typeface="Open Sans"/>
              </a:rPr>
              <a:t>Phát hiện nhanh dựa trên signature</a:t>
            </a:r>
          </a:p>
        </p:txBody>
      </p:sp>
      <p:sp>
        <p:nvSpPr>
          <p:cNvPr name="TextBox 12" id="12"/>
          <p:cNvSpPr txBox="true"/>
          <p:nvPr/>
        </p:nvSpPr>
        <p:spPr>
          <a:xfrm rot="0">
            <a:off x="954286" y="8390334"/>
            <a:ext cx="7857084" cy="451933"/>
          </a:xfrm>
          <a:prstGeom prst="rect">
            <a:avLst/>
          </a:prstGeom>
        </p:spPr>
        <p:txBody>
          <a:bodyPr anchor="t" rtlCol="false" tIns="0" lIns="0" bIns="0" rIns="0">
            <a:spAutoFit/>
          </a:bodyPr>
          <a:lstStyle/>
          <a:p>
            <a:pPr algn="l" marL="365720" indent="-182860" lvl="1">
              <a:lnSpc>
                <a:spcPts val="3851"/>
              </a:lnSpc>
              <a:buFont typeface="Arial"/>
              <a:buChar char="•"/>
            </a:pPr>
            <a:r>
              <a:rPr lang="en-US" sz="2424">
                <a:solidFill>
                  <a:srgbClr val="403C4E"/>
                </a:solidFill>
                <a:latin typeface="Open Sans"/>
                <a:ea typeface="Open Sans"/>
                <a:cs typeface="Open Sans"/>
                <a:sym typeface="Open Sans"/>
              </a:rPr>
              <a:t>Rule: alert icmp any any -&gt; $HOME_NET any</a:t>
            </a:r>
          </a:p>
        </p:txBody>
      </p:sp>
      <p:sp>
        <p:nvSpPr>
          <p:cNvPr name="TextBox 13" id="13"/>
          <p:cNvSpPr txBox="true"/>
          <p:nvPr/>
        </p:nvSpPr>
        <p:spPr>
          <a:xfrm rot="0">
            <a:off x="954286" y="8921949"/>
            <a:ext cx="7857084" cy="451933"/>
          </a:xfrm>
          <a:prstGeom prst="rect">
            <a:avLst/>
          </a:prstGeom>
        </p:spPr>
        <p:txBody>
          <a:bodyPr anchor="t" rtlCol="false" tIns="0" lIns="0" bIns="0" rIns="0">
            <a:spAutoFit/>
          </a:bodyPr>
          <a:lstStyle/>
          <a:p>
            <a:pPr algn="l" marL="365720" indent="-182860" lvl="1">
              <a:lnSpc>
                <a:spcPts val="3851"/>
              </a:lnSpc>
              <a:buFont typeface="Arial"/>
              <a:buChar char="•"/>
            </a:pPr>
            <a:r>
              <a:rPr lang="en-US" sz="2424">
                <a:solidFill>
                  <a:srgbClr val="403C4E"/>
                </a:solidFill>
                <a:latin typeface="Open Sans"/>
                <a:ea typeface="Open Sans"/>
                <a:cs typeface="Open Sans"/>
                <a:sym typeface="Open Sans"/>
              </a:rPr>
              <a:t>Log chi tiết các gói tin ICMP</a:t>
            </a:r>
          </a:p>
        </p:txBody>
      </p:sp>
      <p:sp>
        <p:nvSpPr>
          <p:cNvPr name="TextBox 14" id="14"/>
          <p:cNvSpPr txBox="true"/>
          <p:nvPr/>
        </p:nvSpPr>
        <p:spPr>
          <a:xfrm rot="0">
            <a:off x="9486156" y="5672881"/>
            <a:ext cx="3408461" cy="444996"/>
          </a:xfrm>
          <a:prstGeom prst="rect">
            <a:avLst/>
          </a:prstGeom>
        </p:spPr>
        <p:txBody>
          <a:bodyPr anchor="t" rtlCol="false" tIns="0" lIns="0" bIns="0" rIns="0">
            <a:spAutoFit/>
          </a:bodyPr>
          <a:lstStyle/>
          <a:p>
            <a:pPr algn="l">
              <a:lnSpc>
                <a:spcPts val="3312"/>
              </a:lnSpc>
            </a:pPr>
            <a:r>
              <a:rPr lang="en-US" sz="2625" b="true">
                <a:solidFill>
                  <a:srgbClr val="403C4E"/>
                </a:solidFill>
                <a:latin typeface="Merriweather Bold"/>
                <a:ea typeface="Merriweather Bold"/>
                <a:cs typeface="Merriweather Bold"/>
                <a:sym typeface="Merriweather Bold"/>
              </a:rPr>
              <a:t>Demo Zeek</a:t>
            </a:r>
          </a:p>
        </p:txBody>
      </p:sp>
      <p:sp>
        <p:nvSpPr>
          <p:cNvPr name="TextBox 15" id="15"/>
          <p:cNvSpPr txBox="true"/>
          <p:nvPr/>
        </p:nvSpPr>
        <p:spPr>
          <a:xfrm rot="0">
            <a:off x="9486156" y="6304806"/>
            <a:ext cx="7857084" cy="1423483"/>
          </a:xfrm>
          <a:prstGeom prst="rect">
            <a:avLst/>
          </a:prstGeom>
        </p:spPr>
        <p:txBody>
          <a:bodyPr anchor="t" rtlCol="false" tIns="0" lIns="0" bIns="0" rIns="0">
            <a:spAutoFit/>
          </a:bodyPr>
          <a:lstStyle/>
          <a:p>
            <a:pPr algn="l">
              <a:lnSpc>
                <a:spcPts val="3851"/>
              </a:lnSpc>
            </a:pPr>
            <a:r>
              <a:rPr lang="en-US" sz="2424">
                <a:solidFill>
                  <a:srgbClr val="403C4E"/>
                </a:solidFill>
                <a:latin typeface="Open Sans"/>
                <a:ea typeface="Open Sans"/>
                <a:cs typeface="Open Sans"/>
                <a:sym typeface="Open Sans"/>
              </a:rPr>
              <a:t>Cài đặt từ mã nguồn do Ubuntu 24.04 không hỗ trợ sẵn. Giám sát lưu lượng mạng và ghi log conn.log cho ICMPv6, minh họa khả năng phân tích hành vi.</a:t>
            </a:r>
          </a:p>
        </p:txBody>
      </p:sp>
      <p:sp>
        <p:nvSpPr>
          <p:cNvPr name="TextBox 16" id="16"/>
          <p:cNvSpPr txBox="true"/>
          <p:nvPr/>
        </p:nvSpPr>
        <p:spPr>
          <a:xfrm rot="0">
            <a:off x="9486156" y="7858720"/>
            <a:ext cx="7857084" cy="451933"/>
          </a:xfrm>
          <a:prstGeom prst="rect">
            <a:avLst/>
          </a:prstGeom>
        </p:spPr>
        <p:txBody>
          <a:bodyPr anchor="t" rtlCol="false" tIns="0" lIns="0" bIns="0" rIns="0">
            <a:spAutoFit/>
          </a:bodyPr>
          <a:lstStyle/>
          <a:p>
            <a:pPr algn="l" marL="365720" indent="-182860" lvl="1">
              <a:lnSpc>
                <a:spcPts val="3851"/>
              </a:lnSpc>
              <a:buFont typeface="Arial"/>
              <a:buChar char="•"/>
            </a:pPr>
            <a:r>
              <a:rPr lang="en-US" sz="2424">
                <a:solidFill>
                  <a:srgbClr val="403C4E"/>
                </a:solidFill>
                <a:latin typeface="Open Sans"/>
                <a:ea typeface="Open Sans"/>
                <a:cs typeface="Open Sans"/>
                <a:sym typeface="Open Sans"/>
              </a:rPr>
              <a:t>Log chi tiết về kết nối mạng</a:t>
            </a:r>
          </a:p>
        </p:txBody>
      </p:sp>
      <p:sp>
        <p:nvSpPr>
          <p:cNvPr name="TextBox 17" id="17"/>
          <p:cNvSpPr txBox="true"/>
          <p:nvPr/>
        </p:nvSpPr>
        <p:spPr>
          <a:xfrm rot="0">
            <a:off x="9486156" y="8390334"/>
            <a:ext cx="7857084" cy="451933"/>
          </a:xfrm>
          <a:prstGeom prst="rect">
            <a:avLst/>
          </a:prstGeom>
        </p:spPr>
        <p:txBody>
          <a:bodyPr anchor="t" rtlCol="false" tIns="0" lIns="0" bIns="0" rIns="0">
            <a:spAutoFit/>
          </a:bodyPr>
          <a:lstStyle/>
          <a:p>
            <a:pPr algn="l" marL="365720" indent="-182860" lvl="1">
              <a:lnSpc>
                <a:spcPts val="3851"/>
              </a:lnSpc>
              <a:buFont typeface="Arial"/>
              <a:buChar char="•"/>
            </a:pPr>
            <a:r>
              <a:rPr lang="en-US" sz="2424">
                <a:solidFill>
                  <a:srgbClr val="403C4E"/>
                </a:solidFill>
                <a:latin typeface="Open Sans"/>
                <a:ea typeface="Open Sans"/>
                <a:cs typeface="Open Sans"/>
                <a:sym typeface="Open Sans"/>
              </a:rPr>
              <a:t>Phân tích cả IPv4 và IPv6</a:t>
            </a:r>
          </a:p>
        </p:txBody>
      </p:sp>
      <p:sp>
        <p:nvSpPr>
          <p:cNvPr name="TextBox 18" id="18"/>
          <p:cNvSpPr txBox="true"/>
          <p:nvPr/>
        </p:nvSpPr>
        <p:spPr>
          <a:xfrm rot="0">
            <a:off x="9486156" y="8921949"/>
            <a:ext cx="7857084" cy="451933"/>
          </a:xfrm>
          <a:prstGeom prst="rect">
            <a:avLst/>
          </a:prstGeom>
        </p:spPr>
        <p:txBody>
          <a:bodyPr anchor="t" rtlCol="false" tIns="0" lIns="0" bIns="0" rIns="0">
            <a:spAutoFit/>
          </a:bodyPr>
          <a:lstStyle/>
          <a:p>
            <a:pPr algn="l" marL="365720" indent="-182860" lvl="1">
              <a:lnSpc>
                <a:spcPts val="3851"/>
              </a:lnSpc>
              <a:buFont typeface="Arial"/>
              <a:buChar char="•"/>
            </a:pPr>
            <a:r>
              <a:rPr lang="en-US" sz="2424">
                <a:solidFill>
                  <a:srgbClr val="403C4E"/>
                </a:solidFill>
                <a:latin typeface="Open Sans"/>
                <a:ea typeface="Open Sans"/>
                <a:cs typeface="Open Sans"/>
                <a:sym typeface="Open Sans"/>
              </a:rPr>
              <a:t>Hỗ trợ forensic tốt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905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2918673" y="1240918"/>
            <a:ext cx="12101984" cy="8622664"/>
          </a:xfrm>
          <a:custGeom>
            <a:avLst/>
            <a:gdLst/>
            <a:ahLst/>
            <a:cxnLst/>
            <a:rect r="r" b="b" t="t" l="l"/>
            <a:pathLst>
              <a:path h="8622664" w="12101984">
                <a:moveTo>
                  <a:pt x="0" y="0"/>
                </a:moveTo>
                <a:lnTo>
                  <a:pt x="12101984" y="0"/>
                </a:lnTo>
                <a:lnTo>
                  <a:pt x="12101984" y="8622664"/>
                </a:lnTo>
                <a:lnTo>
                  <a:pt x="0" y="8622664"/>
                </a:lnTo>
                <a:lnTo>
                  <a:pt x="0" y="0"/>
                </a:lnTo>
                <a:close/>
              </a:path>
            </a:pathLst>
          </a:custGeom>
          <a:blipFill>
            <a:blip r:embed="rId4"/>
            <a:stretch>
              <a:fillRect l="0" t="0" r="0" b="0"/>
            </a:stretch>
          </a:blipFill>
        </p:spPr>
      </p:sp>
      <p:sp>
        <p:nvSpPr>
          <p:cNvPr name="TextBox 7" id="7"/>
          <p:cNvSpPr txBox="true"/>
          <p:nvPr/>
        </p:nvSpPr>
        <p:spPr>
          <a:xfrm rot="0">
            <a:off x="635738" y="439065"/>
            <a:ext cx="4565871" cy="589635"/>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Snort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1746685" y="2193821"/>
            <a:ext cx="14794629" cy="5899359"/>
          </a:xfrm>
          <a:custGeom>
            <a:avLst/>
            <a:gdLst/>
            <a:ahLst/>
            <a:cxnLst/>
            <a:rect r="r" b="b" t="t" l="l"/>
            <a:pathLst>
              <a:path h="5899359" w="14794629">
                <a:moveTo>
                  <a:pt x="0" y="0"/>
                </a:moveTo>
                <a:lnTo>
                  <a:pt x="14794630" y="0"/>
                </a:lnTo>
                <a:lnTo>
                  <a:pt x="14794630" y="5899358"/>
                </a:lnTo>
                <a:lnTo>
                  <a:pt x="0" y="5899358"/>
                </a:lnTo>
                <a:lnTo>
                  <a:pt x="0" y="0"/>
                </a:lnTo>
                <a:close/>
              </a:path>
            </a:pathLst>
          </a:custGeom>
          <a:blipFill>
            <a:blip r:embed="rId4"/>
            <a:stretch>
              <a:fillRect l="0" t="0" r="0" b="0"/>
            </a:stretch>
          </a:blipFill>
        </p:spPr>
      </p:sp>
      <p:sp>
        <p:nvSpPr>
          <p:cNvPr name="TextBox 7" id="7"/>
          <p:cNvSpPr txBox="true"/>
          <p:nvPr/>
        </p:nvSpPr>
        <p:spPr>
          <a:xfrm rot="0">
            <a:off x="635738" y="439065"/>
            <a:ext cx="4565871" cy="589635"/>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Snort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1210051" y="2816359"/>
            <a:ext cx="16049249" cy="4654282"/>
          </a:xfrm>
          <a:custGeom>
            <a:avLst/>
            <a:gdLst/>
            <a:ahLst/>
            <a:cxnLst/>
            <a:rect r="r" b="b" t="t" l="l"/>
            <a:pathLst>
              <a:path h="4654282" w="16049249">
                <a:moveTo>
                  <a:pt x="0" y="0"/>
                </a:moveTo>
                <a:lnTo>
                  <a:pt x="16049249" y="0"/>
                </a:lnTo>
                <a:lnTo>
                  <a:pt x="16049249" y="4654282"/>
                </a:lnTo>
                <a:lnTo>
                  <a:pt x="0" y="4654282"/>
                </a:lnTo>
                <a:lnTo>
                  <a:pt x="0" y="0"/>
                </a:lnTo>
                <a:close/>
              </a:path>
            </a:pathLst>
          </a:custGeom>
          <a:blipFill>
            <a:blip r:embed="rId4"/>
            <a:stretch>
              <a:fillRect l="0" t="0" r="0" b="0"/>
            </a:stretch>
          </a:blipFill>
        </p:spPr>
      </p:sp>
      <p:sp>
        <p:nvSpPr>
          <p:cNvPr name="TextBox 7" id="7"/>
          <p:cNvSpPr txBox="true"/>
          <p:nvPr/>
        </p:nvSpPr>
        <p:spPr>
          <a:xfrm rot="0">
            <a:off x="635738" y="439065"/>
            <a:ext cx="4565871" cy="589635"/>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Snort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1400099" y="2936488"/>
            <a:ext cx="15487802" cy="4414024"/>
          </a:xfrm>
          <a:custGeom>
            <a:avLst/>
            <a:gdLst/>
            <a:ahLst/>
            <a:cxnLst/>
            <a:rect r="r" b="b" t="t" l="l"/>
            <a:pathLst>
              <a:path h="4414024" w="15487802">
                <a:moveTo>
                  <a:pt x="0" y="0"/>
                </a:moveTo>
                <a:lnTo>
                  <a:pt x="15487802" y="0"/>
                </a:lnTo>
                <a:lnTo>
                  <a:pt x="15487802" y="4414024"/>
                </a:lnTo>
                <a:lnTo>
                  <a:pt x="0" y="4414024"/>
                </a:lnTo>
                <a:lnTo>
                  <a:pt x="0" y="0"/>
                </a:lnTo>
                <a:close/>
              </a:path>
            </a:pathLst>
          </a:custGeom>
          <a:blipFill>
            <a:blip r:embed="rId4"/>
            <a:stretch>
              <a:fillRect l="0" t="0" r="0" b="0"/>
            </a:stretch>
          </a:blipFill>
        </p:spPr>
      </p:sp>
      <p:sp>
        <p:nvSpPr>
          <p:cNvPr name="TextBox 7" id="7"/>
          <p:cNvSpPr txBox="true"/>
          <p:nvPr/>
        </p:nvSpPr>
        <p:spPr>
          <a:xfrm rot="0">
            <a:off x="635738" y="439065"/>
            <a:ext cx="4565871" cy="589635"/>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Snort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4356479" y="743408"/>
            <a:ext cx="10003657" cy="9340915"/>
          </a:xfrm>
          <a:custGeom>
            <a:avLst/>
            <a:gdLst/>
            <a:ahLst/>
            <a:cxnLst/>
            <a:rect r="r" b="b" t="t" l="l"/>
            <a:pathLst>
              <a:path h="9340915" w="10003657">
                <a:moveTo>
                  <a:pt x="0" y="0"/>
                </a:moveTo>
                <a:lnTo>
                  <a:pt x="10003657" y="0"/>
                </a:lnTo>
                <a:lnTo>
                  <a:pt x="10003657" y="9340915"/>
                </a:lnTo>
                <a:lnTo>
                  <a:pt x="0" y="9340915"/>
                </a:lnTo>
                <a:lnTo>
                  <a:pt x="0" y="0"/>
                </a:lnTo>
                <a:close/>
              </a:path>
            </a:pathLst>
          </a:custGeom>
          <a:blipFill>
            <a:blip r:embed="rId4"/>
            <a:stretch>
              <a:fillRect l="0" t="0" r="0" b="0"/>
            </a:stretch>
          </a:blipFill>
        </p:spPr>
      </p:sp>
      <p:sp>
        <p:nvSpPr>
          <p:cNvPr name="TextBox 7" id="7"/>
          <p:cNvSpPr txBox="true"/>
          <p:nvPr/>
        </p:nvSpPr>
        <p:spPr>
          <a:xfrm rot="0">
            <a:off x="635738" y="439065"/>
            <a:ext cx="4565871" cy="589635"/>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Snort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3162716" y="1374750"/>
            <a:ext cx="11962568" cy="8164453"/>
          </a:xfrm>
          <a:custGeom>
            <a:avLst/>
            <a:gdLst/>
            <a:ahLst/>
            <a:cxnLst/>
            <a:rect r="r" b="b" t="t" l="l"/>
            <a:pathLst>
              <a:path h="8164453" w="11962568">
                <a:moveTo>
                  <a:pt x="0" y="0"/>
                </a:moveTo>
                <a:lnTo>
                  <a:pt x="11962568" y="0"/>
                </a:lnTo>
                <a:lnTo>
                  <a:pt x="11962568" y="8164453"/>
                </a:lnTo>
                <a:lnTo>
                  <a:pt x="0" y="8164453"/>
                </a:lnTo>
                <a:lnTo>
                  <a:pt x="0" y="0"/>
                </a:lnTo>
                <a:close/>
              </a:path>
            </a:pathLst>
          </a:custGeom>
          <a:blipFill>
            <a:blip r:embed="rId4"/>
            <a:stretch>
              <a:fillRect l="0" t="0" r="0" b="0"/>
            </a:stretch>
          </a:blipFill>
        </p:spPr>
      </p:sp>
      <p:sp>
        <p:nvSpPr>
          <p:cNvPr name="TextBox 7" id="7"/>
          <p:cNvSpPr txBox="true"/>
          <p:nvPr/>
        </p:nvSpPr>
        <p:spPr>
          <a:xfrm rot="0">
            <a:off x="635738" y="439065"/>
            <a:ext cx="4565871" cy="589635"/>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Snort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2601213" y="1265486"/>
            <a:ext cx="13433300" cy="7992814"/>
          </a:xfrm>
          <a:custGeom>
            <a:avLst/>
            <a:gdLst/>
            <a:ahLst/>
            <a:cxnLst/>
            <a:rect r="r" b="b" t="t" l="l"/>
            <a:pathLst>
              <a:path h="7992814" w="13433300">
                <a:moveTo>
                  <a:pt x="0" y="0"/>
                </a:moveTo>
                <a:lnTo>
                  <a:pt x="13433301" y="0"/>
                </a:lnTo>
                <a:lnTo>
                  <a:pt x="13433301" y="7992814"/>
                </a:lnTo>
                <a:lnTo>
                  <a:pt x="0" y="7992814"/>
                </a:lnTo>
                <a:lnTo>
                  <a:pt x="0" y="0"/>
                </a:lnTo>
                <a:close/>
              </a:path>
            </a:pathLst>
          </a:custGeom>
          <a:blipFill>
            <a:blip r:embed="rId4"/>
            <a:stretch>
              <a:fillRect l="0" t="0" r="0" b="0"/>
            </a:stretch>
          </a:blipFill>
        </p:spPr>
      </p:sp>
      <p:sp>
        <p:nvSpPr>
          <p:cNvPr name="TextBox 7" id="7"/>
          <p:cNvSpPr txBox="true"/>
          <p:nvPr/>
        </p:nvSpPr>
        <p:spPr>
          <a:xfrm rot="0">
            <a:off x="635738" y="439065"/>
            <a:ext cx="4565871" cy="589635"/>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Snort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2117702" y="2341764"/>
            <a:ext cx="14052596" cy="5603473"/>
          </a:xfrm>
          <a:custGeom>
            <a:avLst/>
            <a:gdLst/>
            <a:ahLst/>
            <a:cxnLst/>
            <a:rect r="r" b="b" t="t" l="l"/>
            <a:pathLst>
              <a:path h="5603473" w="14052596">
                <a:moveTo>
                  <a:pt x="0" y="0"/>
                </a:moveTo>
                <a:lnTo>
                  <a:pt x="14052596" y="0"/>
                </a:lnTo>
                <a:lnTo>
                  <a:pt x="14052596" y="5603472"/>
                </a:lnTo>
                <a:lnTo>
                  <a:pt x="0" y="5603472"/>
                </a:lnTo>
                <a:lnTo>
                  <a:pt x="0" y="0"/>
                </a:lnTo>
                <a:close/>
              </a:path>
            </a:pathLst>
          </a:custGeom>
          <a:blipFill>
            <a:blip r:embed="rId4"/>
            <a:stretch>
              <a:fillRect l="0" t="0" r="0" b="0"/>
            </a:stretch>
          </a:blipFill>
        </p:spPr>
      </p:sp>
      <p:sp>
        <p:nvSpPr>
          <p:cNvPr name="TextBox 7" id="7"/>
          <p:cNvSpPr txBox="true"/>
          <p:nvPr/>
        </p:nvSpPr>
        <p:spPr>
          <a:xfrm rot="0">
            <a:off x="635738" y="439065"/>
            <a:ext cx="4565871" cy="552818"/>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Zeek</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2519126" y="1400446"/>
            <a:ext cx="13249749" cy="7486108"/>
          </a:xfrm>
          <a:custGeom>
            <a:avLst/>
            <a:gdLst/>
            <a:ahLst/>
            <a:cxnLst/>
            <a:rect r="r" b="b" t="t" l="l"/>
            <a:pathLst>
              <a:path h="7486108" w="13249749">
                <a:moveTo>
                  <a:pt x="0" y="0"/>
                </a:moveTo>
                <a:lnTo>
                  <a:pt x="13249748" y="0"/>
                </a:lnTo>
                <a:lnTo>
                  <a:pt x="13249748" y="7486108"/>
                </a:lnTo>
                <a:lnTo>
                  <a:pt x="0" y="7486108"/>
                </a:lnTo>
                <a:lnTo>
                  <a:pt x="0" y="0"/>
                </a:lnTo>
                <a:close/>
              </a:path>
            </a:pathLst>
          </a:custGeom>
          <a:blipFill>
            <a:blip r:embed="rId4"/>
            <a:stretch>
              <a:fillRect l="0" t="0" r="0" b="0"/>
            </a:stretch>
          </a:blipFill>
        </p:spPr>
      </p:sp>
      <p:sp>
        <p:nvSpPr>
          <p:cNvPr name="TextBox 7" id="7"/>
          <p:cNvSpPr txBox="true"/>
          <p:nvPr/>
        </p:nvSpPr>
        <p:spPr>
          <a:xfrm rot="0">
            <a:off x="635738" y="439065"/>
            <a:ext cx="4565871" cy="552818"/>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Zeek</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2261035" y="1349266"/>
            <a:ext cx="14498915" cy="7992527"/>
          </a:xfrm>
          <a:custGeom>
            <a:avLst/>
            <a:gdLst/>
            <a:ahLst/>
            <a:cxnLst/>
            <a:rect r="r" b="b" t="t" l="l"/>
            <a:pathLst>
              <a:path h="7992527" w="14498915">
                <a:moveTo>
                  <a:pt x="0" y="0"/>
                </a:moveTo>
                <a:lnTo>
                  <a:pt x="14498915" y="0"/>
                </a:lnTo>
                <a:lnTo>
                  <a:pt x="14498915" y="7992526"/>
                </a:lnTo>
                <a:lnTo>
                  <a:pt x="0" y="7992526"/>
                </a:lnTo>
                <a:lnTo>
                  <a:pt x="0" y="0"/>
                </a:lnTo>
                <a:close/>
              </a:path>
            </a:pathLst>
          </a:custGeom>
          <a:blipFill>
            <a:blip r:embed="rId4"/>
            <a:stretch>
              <a:fillRect l="0" t="0" r="0" b="0"/>
            </a:stretch>
          </a:blipFill>
        </p:spPr>
      </p:sp>
      <p:sp>
        <p:nvSpPr>
          <p:cNvPr name="TextBox 7" id="7"/>
          <p:cNvSpPr txBox="true"/>
          <p:nvPr/>
        </p:nvSpPr>
        <p:spPr>
          <a:xfrm rot="0">
            <a:off x="635738" y="439065"/>
            <a:ext cx="4565871" cy="552818"/>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Zeek</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2171882" y="3208099"/>
            <a:ext cx="13944235" cy="3468629"/>
          </a:xfrm>
          <a:custGeom>
            <a:avLst/>
            <a:gdLst/>
            <a:ahLst/>
            <a:cxnLst/>
            <a:rect r="r" b="b" t="t" l="l"/>
            <a:pathLst>
              <a:path h="3468629" w="13944235">
                <a:moveTo>
                  <a:pt x="0" y="0"/>
                </a:moveTo>
                <a:lnTo>
                  <a:pt x="13944236" y="0"/>
                </a:lnTo>
                <a:lnTo>
                  <a:pt x="13944236" y="3468628"/>
                </a:lnTo>
                <a:lnTo>
                  <a:pt x="0" y="3468628"/>
                </a:lnTo>
                <a:lnTo>
                  <a:pt x="0" y="0"/>
                </a:lnTo>
                <a:close/>
              </a:path>
            </a:pathLst>
          </a:custGeom>
          <a:blipFill>
            <a:blip r:embed="rId4"/>
            <a:stretch>
              <a:fillRect l="0" t="0" r="0" b="0"/>
            </a:stretch>
          </a:blipFill>
        </p:spPr>
      </p:sp>
      <p:sp>
        <p:nvSpPr>
          <p:cNvPr name="TextBox 7" id="7"/>
          <p:cNvSpPr txBox="true"/>
          <p:nvPr/>
        </p:nvSpPr>
        <p:spPr>
          <a:xfrm rot="0">
            <a:off x="635738" y="439065"/>
            <a:ext cx="4565871" cy="552818"/>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Zeek</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4183257" y="1370593"/>
            <a:ext cx="10695195" cy="7887707"/>
          </a:xfrm>
          <a:custGeom>
            <a:avLst/>
            <a:gdLst/>
            <a:ahLst/>
            <a:cxnLst/>
            <a:rect r="r" b="b" t="t" l="l"/>
            <a:pathLst>
              <a:path h="7887707" w="10695195">
                <a:moveTo>
                  <a:pt x="0" y="0"/>
                </a:moveTo>
                <a:lnTo>
                  <a:pt x="10695196" y="0"/>
                </a:lnTo>
                <a:lnTo>
                  <a:pt x="10695196" y="7887707"/>
                </a:lnTo>
                <a:lnTo>
                  <a:pt x="0" y="7887707"/>
                </a:lnTo>
                <a:lnTo>
                  <a:pt x="0" y="0"/>
                </a:lnTo>
                <a:close/>
              </a:path>
            </a:pathLst>
          </a:custGeom>
          <a:blipFill>
            <a:blip r:embed="rId4"/>
            <a:stretch>
              <a:fillRect l="0" t="0" r="0" b="0"/>
            </a:stretch>
          </a:blipFill>
        </p:spPr>
      </p:sp>
      <p:sp>
        <p:nvSpPr>
          <p:cNvPr name="TextBox 7" id="7"/>
          <p:cNvSpPr txBox="true"/>
          <p:nvPr/>
        </p:nvSpPr>
        <p:spPr>
          <a:xfrm rot="0">
            <a:off x="635738" y="439065"/>
            <a:ext cx="4565871" cy="552818"/>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Zeek</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2332434" y="2980828"/>
            <a:ext cx="13623132" cy="4325344"/>
          </a:xfrm>
          <a:custGeom>
            <a:avLst/>
            <a:gdLst/>
            <a:ahLst/>
            <a:cxnLst/>
            <a:rect r="r" b="b" t="t" l="l"/>
            <a:pathLst>
              <a:path h="4325344" w="13623132">
                <a:moveTo>
                  <a:pt x="0" y="0"/>
                </a:moveTo>
                <a:lnTo>
                  <a:pt x="13623132" y="0"/>
                </a:lnTo>
                <a:lnTo>
                  <a:pt x="13623132" y="4325344"/>
                </a:lnTo>
                <a:lnTo>
                  <a:pt x="0" y="4325344"/>
                </a:lnTo>
                <a:lnTo>
                  <a:pt x="0" y="0"/>
                </a:lnTo>
                <a:close/>
              </a:path>
            </a:pathLst>
          </a:custGeom>
          <a:blipFill>
            <a:blip r:embed="rId4"/>
            <a:stretch>
              <a:fillRect l="0" t="0" r="0" b="0"/>
            </a:stretch>
          </a:blipFill>
        </p:spPr>
      </p:sp>
      <p:sp>
        <p:nvSpPr>
          <p:cNvPr name="TextBox 7" id="7"/>
          <p:cNvSpPr txBox="true"/>
          <p:nvPr/>
        </p:nvSpPr>
        <p:spPr>
          <a:xfrm rot="0">
            <a:off x="635738" y="439065"/>
            <a:ext cx="4565871" cy="552818"/>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Zeek</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2080552" y="4145765"/>
            <a:ext cx="14482270" cy="1538741"/>
          </a:xfrm>
          <a:custGeom>
            <a:avLst/>
            <a:gdLst/>
            <a:ahLst/>
            <a:cxnLst/>
            <a:rect r="r" b="b" t="t" l="l"/>
            <a:pathLst>
              <a:path h="1538741" w="14482270">
                <a:moveTo>
                  <a:pt x="0" y="0"/>
                </a:moveTo>
                <a:lnTo>
                  <a:pt x="14482270" y="0"/>
                </a:lnTo>
                <a:lnTo>
                  <a:pt x="14482270" y="1538742"/>
                </a:lnTo>
                <a:lnTo>
                  <a:pt x="0" y="1538742"/>
                </a:lnTo>
                <a:lnTo>
                  <a:pt x="0" y="0"/>
                </a:lnTo>
                <a:close/>
              </a:path>
            </a:pathLst>
          </a:custGeom>
          <a:blipFill>
            <a:blip r:embed="rId4"/>
            <a:stretch>
              <a:fillRect l="0" t="0" r="0" b="0"/>
            </a:stretch>
          </a:blipFill>
        </p:spPr>
      </p:sp>
      <p:sp>
        <p:nvSpPr>
          <p:cNvPr name="TextBox 7" id="7"/>
          <p:cNvSpPr txBox="true"/>
          <p:nvPr/>
        </p:nvSpPr>
        <p:spPr>
          <a:xfrm rot="0">
            <a:off x="635738" y="439065"/>
            <a:ext cx="4565871" cy="552818"/>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Zeek</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2567744" y="1491775"/>
            <a:ext cx="12837232" cy="7766525"/>
          </a:xfrm>
          <a:custGeom>
            <a:avLst/>
            <a:gdLst/>
            <a:ahLst/>
            <a:cxnLst/>
            <a:rect r="r" b="b" t="t" l="l"/>
            <a:pathLst>
              <a:path h="7766525" w="12837232">
                <a:moveTo>
                  <a:pt x="0" y="0"/>
                </a:moveTo>
                <a:lnTo>
                  <a:pt x="12837231" y="0"/>
                </a:lnTo>
                <a:lnTo>
                  <a:pt x="12837231" y="7766525"/>
                </a:lnTo>
                <a:lnTo>
                  <a:pt x="0" y="7766525"/>
                </a:lnTo>
                <a:lnTo>
                  <a:pt x="0" y="0"/>
                </a:lnTo>
                <a:close/>
              </a:path>
            </a:pathLst>
          </a:custGeom>
          <a:blipFill>
            <a:blip r:embed="rId4"/>
            <a:stretch>
              <a:fillRect l="0" t="0" r="0" b="0"/>
            </a:stretch>
          </a:blipFill>
        </p:spPr>
      </p:sp>
      <p:sp>
        <p:nvSpPr>
          <p:cNvPr name="TextBox 7" id="7"/>
          <p:cNvSpPr txBox="true"/>
          <p:nvPr/>
        </p:nvSpPr>
        <p:spPr>
          <a:xfrm rot="0">
            <a:off x="635738" y="439065"/>
            <a:ext cx="4565871" cy="552818"/>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Zeek</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1594895" y="4021393"/>
            <a:ext cx="15402028" cy="1309172"/>
          </a:xfrm>
          <a:custGeom>
            <a:avLst/>
            <a:gdLst/>
            <a:ahLst/>
            <a:cxnLst/>
            <a:rect r="r" b="b" t="t" l="l"/>
            <a:pathLst>
              <a:path h="1309172" w="15402028">
                <a:moveTo>
                  <a:pt x="0" y="0"/>
                </a:moveTo>
                <a:lnTo>
                  <a:pt x="15402029" y="0"/>
                </a:lnTo>
                <a:lnTo>
                  <a:pt x="15402029" y="1309172"/>
                </a:lnTo>
                <a:lnTo>
                  <a:pt x="0" y="1309172"/>
                </a:lnTo>
                <a:lnTo>
                  <a:pt x="0" y="0"/>
                </a:lnTo>
                <a:close/>
              </a:path>
            </a:pathLst>
          </a:custGeom>
          <a:blipFill>
            <a:blip r:embed="rId4"/>
            <a:stretch>
              <a:fillRect l="0" t="0" r="0" b="0"/>
            </a:stretch>
          </a:blipFill>
        </p:spPr>
      </p:sp>
      <p:sp>
        <p:nvSpPr>
          <p:cNvPr name="TextBox 7" id="7"/>
          <p:cNvSpPr txBox="true"/>
          <p:nvPr/>
        </p:nvSpPr>
        <p:spPr>
          <a:xfrm rot="0">
            <a:off x="635738" y="439065"/>
            <a:ext cx="4565871" cy="552818"/>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Zeek</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Freeform 6" id="6"/>
          <p:cNvSpPr/>
          <p:nvPr/>
        </p:nvSpPr>
        <p:spPr>
          <a:xfrm flipH="false" flipV="false" rot="0">
            <a:off x="1677066" y="1316889"/>
            <a:ext cx="14933868" cy="8362966"/>
          </a:xfrm>
          <a:custGeom>
            <a:avLst/>
            <a:gdLst/>
            <a:ahLst/>
            <a:cxnLst/>
            <a:rect r="r" b="b" t="t" l="l"/>
            <a:pathLst>
              <a:path h="8362966" w="14933868">
                <a:moveTo>
                  <a:pt x="0" y="0"/>
                </a:moveTo>
                <a:lnTo>
                  <a:pt x="14933868" y="0"/>
                </a:lnTo>
                <a:lnTo>
                  <a:pt x="14933868" y="8362966"/>
                </a:lnTo>
                <a:lnTo>
                  <a:pt x="0" y="8362966"/>
                </a:lnTo>
                <a:lnTo>
                  <a:pt x="0" y="0"/>
                </a:lnTo>
                <a:close/>
              </a:path>
            </a:pathLst>
          </a:custGeom>
          <a:blipFill>
            <a:blip r:embed="rId4"/>
            <a:stretch>
              <a:fillRect l="0" t="0" r="0" b="0"/>
            </a:stretch>
          </a:blipFill>
        </p:spPr>
      </p:sp>
      <p:sp>
        <p:nvSpPr>
          <p:cNvPr name="TextBox 7" id="7"/>
          <p:cNvSpPr txBox="true"/>
          <p:nvPr/>
        </p:nvSpPr>
        <p:spPr>
          <a:xfrm rot="0">
            <a:off x="635738" y="439065"/>
            <a:ext cx="4565871" cy="552818"/>
          </a:xfrm>
          <a:prstGeom prst="rect">
            <a:avLst/>
          </a:prstGeom>
        </p:spPr>
        <p:txBody>
          <a:bodyPr anchor="t" rtlCol="false" tIns="0" lIns="0" bIns="0" rIns="0">
            <a:spAutoFit/>
          </a:bodyPr>
          <a:lstStyle/>
          <a:p>
            <a:pPr algn="l">
              <a:lnSpc>
                <a:spcPts val="4437"/>
              </a:lnSpc>
            </a:pPr>
            <a:r>
              <a:rPr lang="en-US" sz="3516" b="true">
                <a:solidFill>
                  <a:srgbClr val="403C4E"/>
                </a:solidFill>
                <a:latin typeface="Merriweather Bold"/>
                <a:ea typeface="Merriweather Bold"/>
                <a:cs typeface="Merriweather Bold"/>
                <a:sym typeface="Merriweather Bold"/>
              </a:rPr>
              <a:t>Demo Zeek</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a:grpSpLocks noChangeAspect="true"/>
          </p:cNvGrpSpPr>
          <p:nvPr/>
        </p:nvGrpSpPr>
        <p:grpSpPr>
          <a:xfrm rot="0">
            <a:off x="16049019" y="9686925"/>
            <a:ext cx="2153256" cy="514350"/>
            <a:chOff x="0" y="0"/>
            <a:chExt cx="2871008"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a:grpSpLocks noChangeAspect="true"/>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992238" y="1026467"/>
            <a:ext cx="9445526" cy="1800522"/>
          </a:xfrm>
          <a:prstGeom prst="rect">
            <a:avLst/>
          </a:prstGeom>
        </p:spPr>
        <p:txBody>
          <a:bodyPr anchor="t" rtlCol="false" tIns="0" lIns="0" bIns="0" rIns="0">
            <a:spAutoFit/>
          </a:bodyPr>
          <a:lstStyle/>
          <a:p>
            <a:pPr algn="l">
              <a:lnSpc>
                <a:spcPts val="6937"/>
              </a:lnSpc>
            </a:pPr>
            <a:r>
              <a:rPr lang="en-US" sz="5562" b="true">
                <a:solidFill>
                  <a:srgbClr val="403C4E"/>
                </a:solidFill>
                <a:latin typeface="Merriweather Bold"/>
                <a:ea typeface="Merriweather Bold"/>
                <a:cs typeface="Merriweather Bold"/>
                <a:sym typeface="Merriweather Bold"/>
              </a:rPr>
              <a:t>Kết luận và hướng phát triển</a:t>
            </a:r>
          </a:p>
        </p:txBody>
      </p:sp>
      <p:sp>
        <p:nvSpPr>
          <p:cNvPr name="TextBox 11" id="11"/>
          <p:cNvSpPr txBox="true"/>
          <p:nvPr/>
        </p:nvSpPr>
        <p:spPr>
          <a:xfrm rot="0">
            <a:off x="992237" y="3156943"/>
            <a:ext cx="527288" cy="423862"/>
          </a:xfrm>
          <a:prstGeom prst="rect">
            <a:avLst/>
          </a:prstGeom>
        </p:spPr>
        <p:txBody>
          <a:bodyPr anchor="t" rtlCol="false" tIns="0" lIns="0" bIns="0" rIns="0">
            <a:spAutoFit/>
          </a:bodyPr>
          <a:lstStyle/>
          <a:p>
            <a:pPr algn="l">
              <a:lnSpc>
                <a:spcPts val="3562"/>
              </a:lnSpc>
            </a:pPr>
            <a:r>
              <a:rPr lang="en-US" sz="2187">
                <a:solidFill>
                  <a:srgbClr val="403C4E"/>
                </a:solidFill>
                <a:latin typeface="Merriweather"/>
                <a:ea typeface="Merriweather"/>
                <a:cs typeface="Merriweather"/>
                <a:sym typeface="Merriweather"/>
              </a:rPr>
              <a:t>01</a:t>
            </a:r>
          </a:p>
        </p:txBody>
      </p:sp>
      <p:grpSp>
        <p:nvGrpSpPr>
          <p:cNvPr name="Group 12" id="12"/>
          <p:cNvGrpSpPr/>
          <p:nvPr/>
        </p:nvGrpSpPr>
        <p:grpSpPr>
          <a:xfrm rot="0">
            <a:off x="992238" y="3695997"/>
            <a:ext cx="4580930" cy="38100"/>
            <a:chOff x="0" y="0"/>
            <a:chExt cx="6107907" cy="50800"/>
          </a:xfrm>
        </p:grpSpPr>
        <p:sp>
          <p:nvSpPr>
            <p:cNvPr name="Freeform 13" id="13"/>
            <p:cNvSpPr/>
            <p:nvPr/>
          </p:nvSpPr>
          <p:spPr>
            <a:xfrm flipH="false" flipV="false" rot="0">
              <a:off x="0" y="0"/>
              <a:ext cx="6107938" cy="50800"/>
            </a:xfrm>
            <a:custGeom>
              <a:avLst/>
              <a:gdLst/>
              <a:ahLst/>
              <a:cxnLst/>
              <a:rect r="r" b="b" t="t" l="l"/>
              <a:pathLst>
                <a:path h="50800" w="6107938">
                  <a:moveTo>
                    <a:pt x="0" y="0"/>
                  </a:moveTo>
                  <a:lnTo>
                    <a:pt x="6107938" y="0"/>
                  </a:lnTo>
                  <a:lnTo>
                    <a:pt x="6107938" y="50800"/>
                  </a:lnTo>
                  <a:lnTo>
                    <a:pt x="0" y="50800"/>
                  </a:lnTo>
                  <a:close/>
                </a:path>
              </a:pathLst>
            </a:custGeom>
            <a:solidFill>
              <a:srgbClr val="FFAD94"/>
            </a:solidFill>
          </p:spPr>
        </p:sp>
      </p:grpSp>
      <p:sp>
        <p:nvSpPr>
          <p:cNvPr name="TextBox 14" id="14"/>
          <p:cNvSpPr txBox="true"/>
          <p:nvPr/>
        </p:nvSpPr>
        <p:spPr>
          <a:xfrm rot="0">
            <a:off x="992238" y="3904357"/>
            <a:ext cx="3544044" cy="452437"/>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Kết luận chính</a:t>
            </a:r>
          </a:p>
        </p:txBody>
      </p:sp>
      <p:sp>
        <p:nvSpPr>
          <p:cNvPr name="TextBox 15" id="15"/>
          <p:cNvSpPr txBox="true"/>
          <p:nvPr/>
        </p:nvSpPr>
        <p:spPr>
          <a:xfrm rot="0">
            <a:off x="992238" y="4441180"/>
            <a:ext cx="4580930" cy="1900237"/>
          </a:xfrm>
          <a:prstGeom prst="rect">
            <a:avLst/>
          </a:prstGeom>
        </p:spPr>
        <p:txBody>
          <a:bodyPr anchor="t" rtlCol="false" tIns="0" lIns="0" bIns="0" rIns="0">
            <a:spAutoFit/>
          </a:bodyPr>
          <a:lstStyle/>
          <a:p>
            <a:pPr algn="l">
              <a:lnSpc>
                <a:spcPts val="3562"/>
              </a:lnSpc>
            </a:pPr>
            <a:r>
              <a:rPr lang="en-US" sz="2187">
                <a:solidFill>
                  <a:srgbClr val="403C4E"/>
                </a:solidFill>
                <a:latin typeface="Open Sans"/>
                <a:ea typeface="Open Sans"/>
                <a:cs typeface="Open Sans"/>
                <a:sym typeface="Open Sans"/>
              </a:rPr>
              <a:t>IDS là thành phần không thể thiếu trong bảo mật mạng. Mỗi công cụ có ưu nhược điểm riêng, phù hợp với môi trường khác nhau.</a:t>
            </a:r>
          </a:p>
        </p:txBody>
      </p:sp>
      <p:sp>
        <p:nvSpPr>
          <p:cNvPr name="TextBox 16" id="16"/>
          <p:cNvSpPr txBox="true"/>
          <p:nvPr/>
        </p:nvSpPr>
        <p:spPr>
          <a:xfrm rot="0">
            <a:off x="5856685" y="3156943"/>
            <a:ext cx="576043" cy="423862"/>
          </a:xfrm>
          <a:prstGeom prst="rect">
            <a:avLst/>
          </a:prstGeom>
        </p:spPr>
        <p:txBody>
          <a:bodyPr anchor="t" rtlCol="false" tIns="0" lIns="0" bIns="0" rIns="0">
            <a:spAutoFit/>
          </a:bodyPr>
          <a:lstStyle/>
          <a:p>
            <a:pPr algn="l">
              <a:lnSpc>
                <a:spcPts val="3562"/>
              </a:lnSpc>
            </a:pPr>
            <a:r>
              <a:rPr lang="en-US" sz="2187">
                <a:solidFill>
                  <a:srgbClr val="403C4E"/>
                </a:solidFill>
                <a:latin typeface="Merriweather"/>
                <a:ea typeface="Merriweather"/>
                <a:cs typeface="Merriweather"/>
                <a:sym typeface="Merriweather"/>
              </a:rPr>
              <a:t>02</a:t>
            </a:r>
          </a:p>
        </p:txBody>
      </p:sp>
      <p:grpSp>
        <p:nvGrpSpPr>
          <p:cNvPr name="Group 17" id="17"/>
          <p:cNvGrpSpPr/>
          <p:nvPr/>
        </p:nvGrpSpPr>
        <p:grpSpPr>
          <a:xfrm rot="0">
            <a:off x="5856685" y="3695997"/>
            <a:ext cx="4581079" cy="38100"/>
            <a:chOff x="0" y="0"/>
            <a:chExt cx="6108105" cy="50800"/>
          </a:xfrm>
        </p:grpSpPr>
        <p:sp>
          <p:nvSpPr>
            <p:cNvPr name="Freeform 18" id="18"/>
            <p:cNvSpPr/>
            <p:nvPr/>
          </p:nvSpPr>
          <p:spPr>
            <a:xfrm flipH="false" flipV="false" rot="0">
              <a:off x="0" y="0"/>
              <a:ext cx="6108065" cy="50800"/>
            </a:xfrm>
            <a:custGeom>
              <a:avLst/>
              <a:gdLst/>
              <a:ahLst/>
              <a:cxnLst/>
              <a:rect r="r" b="b" t="t" l="l"/>
              <a:pathLst>
                <a:path h="50800" w="6108065">
                  <a:moveTo>
                    <a:pt x="0" y="0"/>
                  </a:moveTo>
                  <a:lnTo>
                    <a:pt x="6108065" y="0"/>
                  </a:lnTo>
                  <a:lnTo>
                    <a:pt x="6108065" y="50800"/>
                  </a:lnTo>
                  <a:lnTo>
                    <a:pt x="0" y="50800"/>
                  </a:lnTo>
                  <a:close/>
                </a:path>
              </a:pathLst>
            </a:custGeom>
            <a:solidFill>
              <a:srgbClr val="FFAD94"/>
            </a:solidFill>
          </p:spPr>
        </p:sp>
      </p:grpSp>
      <p:sp>
        <p:nvSpPr>
          <p:cNvPr name="TextBox 19" id="19"/>
          <p:cNvSpPr txBox="true"/>
          <p:nvPr/>
        </p:nvSpPr>
        <p:spPr>
          <a:xfrm rot="0">
            <a:off x="5856685" y="3904357"/>
            <a:ext cx="3544044" cy="452437"/>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Đề xuất ứng dụng</a:t>
            </a:r>
          </a:p>
        </p:txBody>
      </p:sp>
      <p:sp>
        <p:nvSpPr>
          <p:cNvPr name="TextBox 20" id="20"/>
          <p:cNvSpPr txBox="true"/>
          <p:nvPr/>
        </p:nvSpPr>
        <p:spPr>
          <a:xfrm rot="0">
            <a:off x="5856685" y="4441180"/>
            <a:ext cx="4581079" cy="1900237"/>
          </a:xfrm>
          <a:prstGeom prst="rect">
            <a:avLst/>
          </a:prstGeom>
        </p:spPr>
        <p:txBody>
          <a:bodyPr anchor="t" rtlCol="false" tIns="0" lIns="0" bIns="0" rIns="0">
            <a:spAutoFit/>
          </a:bodyPr>
          <a:lstStyle/>
          <a:p>
            <a:pPr algn="l">
              <a:lnSpc>
                <a:spcPts val="3562"/>
              </a:lnSpc>
            </a:pPr>
            <a:r>
              <a:rPr lang="en-US" sz="2187">
                <a:solidFill>
                  <a:srgbClr val="403C4E"/>
                </a:solidFill>
                <a:latin typeface="Open Sans"/>
                <a:ea typeface="Open Sans"/>
                <a:cs typeface="Open Sans"/>
                <a:sym typeface="Open Sans"/>
              </a:rPr>
              <a:t>Snort cho hệ thống nhỏ, Zeek cho nghiên cứu forensic, Suricata cho doanh nghiệp lớn. Kết hợp nhiều công cụ để tối ưu hiệu quả.</a:t>
            </a:r>
          </a:p>
        </p:txBody>
      </p:sp>
      <p:sp>
        <p:nvSpPr>
          <p:cNvPr name="TextBox 21" id="21"/>
          <p:cNvSpPr txBox="true"/>
          <p:nvPr/>
        </p:nvSpPr>
        <p:spPr>
          <a:xfrm rot="0">
            <a:off x="992237" y="6742211"/>
            <a:ext cx="527288" cy="423862"/>
          </a:xfrm>
          <a:prstGeom prst="rect">
            <a:avLst/>
          </a:prstGeom>
        </p:spPr>
        <p:txBody>
          <a:bodyPr anchor="t" rtlCol="false" tIns="0" lIns="0" bIns="0" rIns="0">
            <a:spAutoFit/>
          </a:bodyPr>
          <a:lstStyle/>
          <a:p>
            <a:pPr algn="l">
              <a:lnSpc>
                <a:spcPts val="3562"/>
              </a:lnSpc>
            </a:pPr>
            <a:r>
              <a:rPr lang="en-US" sz="2187">
                <a:solidFill>
                  <a:srgbClr val="403C4E"/>
                </a:solidFill>
                <a:latin typeface="Merriweather"/>
                <a:ea typeface="Merriweather"/>
                <a:cs typeface="Merriweather"/>
                <a:sym typeface="Merriweather"/>
              </a:rPr>
              <a:t>03</a:t>
            </a:r>
          </a:p>
        </p:txBody>
      </p:sp>
      <p:grpSp>
        <p:nvGrpSpPr>
          <p:cNvPr name="Group 22" id="22"/>
          <p:cNvGrpSpPr/>
          <p:nvPr/>
        </p:nvGrpSpPr>
        <p:grpSpPr>
          <a:xfrm rot="0">
            <a:off x="992238" y="7281267"/>
            <a:ext cx="9445526" cy="38100"/>
            <a:chOff x="0" y="0"/>
            <a:chExt cx="12594035" cy="50800"/>
          </a:xfrm>
        </p:grpSpPr>
        <p:sp>
          <p:nvSpPr>
            <p:cNvPr name="Freeform 23" id="23"/>
            <p:cNvSpPr/>
            <p:nvPr/>
          </p:nvSpPr>
          <p:spPr>
            <a:xfrm flipH="false" flipV="false" rot="0">
              <a:off x="0" y="0"/>
              <a:ext cx="12594082" cy="50800"/>
            </a:xfrm>
            <a:custGeom>
              <a:avLst/>
              <a:gdLst/>
              <a:ahLst/>
              <a:cxnLst/>
              <a:rect r="r" b="b" t="t" l="l"/>
              <a:pathLst>
                <a:path h="50800" w="12594082">
                  <a:moveTo>
                    <a:pt x="0" y="0"/>
                  </a:moveTo>
                  <a:lnTo>
                    <a:pt x="12594082" y="0"/>
                  </a:lnTo>
                  <a:lnTo>
                    <a:pt x="12594082" y="50800"/>
                  </a:lnTo>
                  <a:lnTo>
                    <a:pt x="0" y="50800"/>
                  </a:lnTo>
                  <a:close/>
                </a:path>
              </a:pathLst>
            </a:custGeom>
            <a:solidFill>
              <a:srgbClr val="FFAD94"/>
            </a:solidFill>
          </p:spPr>
        </p:sp>
      </p:grpSp>
      <p:sp>
        <p:nvSpPr>
          <p:cNvPr name="TextBox 24" id="24"/>
          <p:cNvSpPr txBox="true"/>
          <p:nvPr/>
        </p:nvSpPr>
        <p:spPr>
          <a:xfrm rot="0">
            <a:off x="992238" y="7489626"/>
            <a:ext cx="3544044" cy="452437"/>
          </a:xfrm>
          <a:prstGeom prst="rect">
            <a:avLst/>
          </a:prstGeom>
        </p:spPr>
        <p:txBody>
          <a:bodyPr anchor="t" rtlCol="false" tIns="0" lIns="0" bIns="0" rIns="0">
            <a:spAutoFit/>
          </a:bodyPr>
          <a:lstStyle/>
          <a:p>
            <a:pPr algn="l">
              <a:lnSpc>
                <a:spcPts val="3437"/>
              </a:lnSpc>
            </a:pPr>
            <a:r>
              <a:rPr lang="en-US" sz="2750" b="true">
                <a:solidFill>
                  <a:srgbClr val="403C4E"/>
                </a:solidFill>
                <a:latin typeface="Merriweather Bold"/>
                <a:ea typeface="Merriweather Bold"/>
                <a:cs typeface="Merriweather Bold"/>
                <a:sym typeface="Merriweather Bold"/>
              </a:rPr>
              <a:t>Hướng phát triển</a:t>
            </a:r>
          </a:p>
        </p:txBody>
      </p:sp>
      <p:sp>
        <p:nvSpPr>
          <p:cNvPr name="TextBox 25" id="25"/>
          <p:cNvSpPr txBox="true"/>
          <p:nvPr/>
        </p:nvSpPr>
        <p:spPr>
          <a:xfrm rot="0">
            <a:off x="992238" y="8026450"/>
            <a:ext cx="9445526" cy="992981"/>
          </a:xfrm>
          <a:prstGeom prst="rect">
            <a:avLst/>
          </a:prstGeom>
        </p:spPr>
        <p:txBody>
          <a:bodyPr anchor="t" rtlCol="false" tIns="0" lIns="0" bIns="0" rIns="0">
            <a:spAutoFit/>
          </a:bodyPr>
          <a:lstStyle/>
          <a:p>
            <a:pPr algn="l">
              <a:lnSpc>
                <a:spcPts val="3562"/>
              </a:lnSpc>
            </a:pPr>
            <a:r>
              <a:rPr lang="en-US" sz="2187">
                <a:solidFill>
                  <a:srgbClr val="403C4E"/>
                </a:solidFill>
                <a:latin typeface="Open Sans"/>
                <a:ea typeface="Open Sans"/>
                <a:cs typeface="Open Sans"/>
                <a:sym typeface="Open Sans"/>
              </a:rPr>
              <a:t>Tích hợp AI/ML, nâng cao khả năng phát hiện zero-day, tối ưu hiệu suất và mở rộng nghiên cứu DIDS cho môi trường đám mây.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DAG0ES4N2Hg</dc:identifier>
  <dcterms:modified xsi:type="dcterms:W3CDTF">2011-08-01T06:04:30Z</dcterms:modified>
  <cp:revision>1</cp:revision>
  <dc:title>He-thong-phat-hien-xam-nhap-IDS.pptx</dc:title>
</cp:coreProperties>
</file>