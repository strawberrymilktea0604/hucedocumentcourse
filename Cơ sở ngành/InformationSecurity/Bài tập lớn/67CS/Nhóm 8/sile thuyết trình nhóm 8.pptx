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sap" panose="020B0604020202020204" charset="0"/>
      <p:regular r:id="rId23"/>
    </p:embeddedFont>
    <p:embeddedFont>
      <p:font typeface="Asap Bold" panose="020B0604020202020204" charset="0"/>
      <p:regular r:id="rId24"/>
    </p:embeddedFont>
    <p:embeddedFont>
      <p:font typeface="Asap Medium" panose="020B0604020202020204" charset="0"/>
      <p:regular r:id="rId25"/>
    </p:embeddedFont>
    <p:embeddedFont>
      <p:font typeface="Asap Semi-Bold" panose="020B0604020202020204" charset="0"/>
      <p:regular r:id="rId26"/>
    </p:embeddedFont>
    <p:embeddedFont>
      <p:font typeface="Canva Sans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vu nguyen ba" userId="b81095455079c0de" providerId="LiveId" clId="{EA74D9A7-6DD6-4A98-A8DB-E8EDBF516577}"/>
    <pc:docChg chg="modSld">
      <pc:chgData name="minh vu nguyen ba" userId="b81095455079c0de" providerId="LiveId" clId="{EA74D9A7-6DD6-4A98-A8DB-E8EDBF516577}" dt="2025-09-27T15:32:02.057" v="5" actId="1076"/>
      <pc:docMkLst>
        <pc:docMk/>
      </pc:docMkLst>
      <pc:sldChg chg="modSp mod">
        <pc:chgData name="minh vu nguyen ba" userId="b81095455079c0de" providerId="LiveId" clId="{EA74D9A7-6DD6-4A98-A8DB-E8EDBF516577}" dt="2025-09-27T15:31:49.549" v="4" actId="1076"/>
        <pc:sldMkLst>
          <pc:docMk/>
          <pc:sldMk cId="0" sldId="260"/>
        </pc:sldMkLst>
        <pc:spChg chg="mod">
          <ac:chgData name="minh vu nguyen ba" userId="b81095455079c0de" providerId="LiveId" clId="{EA74D9A7-6DD6-4A98-A8DB-E8EDBF516577}" dt="2025-09-27T15:31:35.626" v="1" actId="2711"/>
          <ac:spMkLst>
            <pc:docMk/>
            <pc:sldMk cId="0" sldId="260"/>
            <ac:spMk id="3" creationId="{00000000-0000-0000-0000-000000000000}"/>
          </ac:spMkLst>
        </pc:spChg>
        <pc:spChg chg="mod">
          <ac:chgData name="minh vu nguyen ba" userId="b81095455079c0de" providerId="LiveId" clId="{EA74D9A7-6DD6-4A98-A8DB-E8EDBF516577}" dt="2025-09-27T15:31:49.549" v="4" actId="1076"/>
          <ac:spMkLst>
            <pc:docMk/>
            <pc:sldMk cId="0" sldId="260"/>
            <ac:spMk id="5" creationId="{00000000-0000-0000-0000-000000000000}"/>
          </ac:spMkLst>
        </pc:spChg>
      </pc:sldChg>
      <pc:sldChg chg="modSp mod">
        <pc:chgData name="minh vu nguyen ba" userId="b81095455079c0de" providerId="LiveId" clId="{EA74D9A7-6DD6-4A98-A8DB-E8EDBF516577}" dt="2025-09-27T15:32:02.057" v="5" actId="1076"/>
        <pc:sldMkLst>
          <pc:docMk/>
          <pc:sldMk cId="0" sldId="264"/>
        </pc:sldMkLst>
        <pc:spChg chg="mod">
          <ac:chgData name="minh vu nguyen ba" userId="b81095455079c0de" providerId="LiveId" clId="{EA74D9A7-6DD6-4A98-A8DB-E8EDBF516577}" dt="2025-09-27T15:32:02.057" v="5" actId="1076"/>
          <ac:spMkLst>
            <pc:docMk/>
            <pc:sldMk cId="0" sldId="264"/>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543096" y="2467802"/>
            <a:ext cx="16230600" cy="7819198"/>
          </a:xfrm>
          <a:prstGeom prst="rect">
            <a:avLst/>
          </a:prstGeom>
          <a:solidFill>
            <a:srgbClr val="1836B2"/>
          </a:solidFill>
        </p:spPr>
        <p:txBody>
          <a:bodyPr/>
          <a:lstStyle/>
          <a:p>
            <a:endParaRPr lang="en-US"/>
          </a:p>
        </p:txBody>
      </p:sp>
      <p:grpSp>
        <p:nvGrpSpPr>
          <p:cNvPr id="3" name="Group 3"/>
          <p:cNvGrpSpPr/>
          <p:nvPr/>
        </p:nvGrpSpPr>
        <p:grpSpPr>
          <a:xfrm>
            <a:off x="9144000" y="0"/>
            <a:ext cx="12353301" cy="10697402"/>
            <a:chOff x="0" y="0"/>
            <a:chExt cx="4282440" cy="3708400"/>
          </a:xfrm>
        </p:grpSpPr>
        <p:sp>
          <p:nvSpPr>
            <p:cNvPr id="4" name="Freeform 4"/>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4946" r="-14946"/>
              </a:stretch>
            </a:blipFill>
          </p:spPr>
          <p:txBody>
            <a:bodyPr/>
            <a:lstStyle/>
            <a:p>
              <a:endParaRPr lang="en-US"/>
            </a:p>
          </p:txBody>
        </p:sp>
      </p:grpSp>
      <p:sp>
        <p:nvSpPr>
          <p:cNvPr id="5" name="Freeform 5"/>
          <p:cNvSpPr/>
          <p:nvPr/>
        </p:nvSpPr>
        <p:spPr>
          <a:xfrm>
            <a:off x="1028700" y="923925"/>
            <a:ext cx="1330919" cy="759911"/>
          </a:xfrm>
          <a:custGeom>
            <a:avLst/>
            <a:gdLst/>
            <a:ahLst/>
            <a:cxnLst/>
            <a:rect l="l" t="t" r="r" b="b"/>
            <a:pathLst>
              <a:path w="1330919" h="759911">
                <a:moveTo>
                  <a:pt x="0" y="0"/>
                </a:moveTo>
                <a:lnTo>
                  <a:pt x="1330919" y="0"/>
                </a:lnTo>
                <a:lnTo>
                  <a:pt x="1330919" y="759911"/>
                </a:lnTo>
                <a:lnTo>
                  <a:pt x="0" y="759911"/>
                </a:lnTo>
                <a:lnTo>
                  <a:pt x="0"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grpSp>
        <p:nvGrpSpPr>
          <p:cNvPr id="6" name="Group 6"/>
          <p:cNvGrpSpPr/>
          <p:nvPr/>
        </p:nvGrpSpPr>
        <p:grpSpPr>
          <a:xfrm>
            <a:off x="1028700" y="3527674"/>
            <a:ext cx="7422802" cy="5730626"/>
            <a:chOff x="0" y="0"/>
            <a:chExt cx="9897069" cy="7640834"/>
          </a:xfrm>
        </p:grpSpPr>
        <p:sp>
          <p:nvSpPr>
            <p:cNvPr id="7" name="TextBox 7"/>
            <p:cNvSpPr txBox="1"/>
            <p:nvPr/>
          </p:nvSpPr>
          <p:spPr>
            <a:xfrm>
              <a:off x="0" y="1117857"/>
              <a:ext cx="9897069" cy="5328920"/>
            </a:xfrm>
            <a:prstGeom prst="rect">
              <a:avLst/>
            </a:prstGeom>
          </p:spPr>
          <p:txBody>
            <a:bodyPr lIns="0" tIns="0" rIns="0" bIns="0" rtlCol="0" anchor="t">
              <a:spAutoFit/>
            </a:bodyPr>
            <a:lstStyle/>
            <a:p>
              <a:pPr marL="0" lvl="0" indent="0" algn="l">
                <a:lnSpc>
                  <a:spcPts val="7980"/>
                </a:lnSpc>
              </a:pPr>
              <a:r>
                <a:rPr lang="en-US" sz="6000" b="1" spc="179">
                  <a:solidFill>
                    <a:srgbClr val="FFFFFF"/>
                  </a:solidFill>
                  <a:latin typeface="Asap Bold"/>
                  <a:ea typeface="Asap Bold"/>
                  <a:cs typeface="Asap Bold"/>
                  <a:sym typeface="Asap Bold"/>
                </a:rPr>
                <a:t>XÂY DỰNG ỨNG DỤNG CÓ CHỨC NĂNG XÁC THỰC BẰNG MÃ HÓA</a:t>
              </a:r>
            </a:p>
          </p:txBody>
        </p:sp>
        <p:sp>
          <p:nvSpPr>
            <p:cNvPr id="8" name="TextBox 8"/>
            <p:cNvSpPr txBox="1"/>
            <p:nvPr/>
          </p:nvSpPr>
          <p:spPr>
            <a:xfrm>
              <a:off x="0" y="7008587"/>
              <a:ext cx="9897069" cy="632248"/>
            </a:xfrm>
            <a:prstGeom prst="rect">
              <a:avLst/>
            </a:prstGeom>
          </p:spPr>
          <p:txBody>
            <a:bodyPr lIns="0" tIns="0" rIns="0" bIns="0" rtlCol="0" anchor="t">
              <a:spAutoFit/>
            </a:bodyPr>
            <a:lstStyle/>
            <a:p>
              <a:pPr marL="0" lvl="0" indent="0" algn="l">
                <a:lnSpc>
                  <a:spcPts val="3920"/>
                </a:lnSpc>
                <a:spcBef>
                  <a:spcPct val="0"/>
                </a:spcBef>
              </a:pPr>
              <a:endParaRPr/>
            </a:p>
          </p:txBody>
        </p:sp>
        <p:sp>
          <p:nvSpPr>
            <p:cNvPr id="9" name="TextBox 9"/>
            <p:cNvSpPr txBox="1"/>
            <p:nvPr/>
          </p:nvSpPr>
          <p:spPr>
            <a:xfrm>
              <a:off x="0" y="-66675"/>
              <a:ext cx="9897069" cy="632248"/>
            </a:xfrm>
            <a:prstGeom prst="rect">
              <a:avLst/>
            </a:prstGeom>
          </p:spPr>
          <p:txBody>
            <a:bodyPr lIns="0" tIns="0" rIns="0" bIns="0" rtlCol="0" anchor="t">
              <a:spAutoFit/>
            </a:bodyPr>
            <a:lstStyle/>
            <a:p>
              <a:pPr marL="0" lvl="0" indent="0" algn="l">
                <a:lnSpc>
                  <a:spcPts val="3920"/>
                </a:lnSpc>
                <a:spcBef>
                  <a:spcPct val="0"/>
                </a:spcBef>
              </a:pPr>
              <a:r>
                <a:rPr lang="en-US" sz="2800" spc="84">
                  <a:solidFill>
                    <a:srgbClr val="FFFFFF"/>
                  </a:solidFill>
                  <a:latin typeface="Asap"/>
                  <a:ea typeface="Asap"/>
                  <a:cs typeface="Asap"/>
                  <a:sym typeface="Asap"/>
                </a:rPr>
                <a:t>NHÓM DỀ TÀI: 14</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661646" y="0"/>
            <a:ext cx="10736190" cy="9297057"/>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37103" r="-37103"/>
              </a:stretch>
            </a:blipFill>
          </p:spPr>
          <p:txBody>
            <a:bodyPr/>
            <a:lstStyle/>
            <a:p>
              <a:endParaRPr lang="en-US"/>
            </a:p>
          </p:txBody>
        </p:sp>
      </p:grpSp>
      <p:sp>
        <p:nvSpPr>
          <p:cNvPr id="4" name="Freeform 4"/>
          <p:cNvSpPr/>
          <p:nvPr/>
        </p:nvSpPr>
        <p:spPr>
          <a:xfrm flipH="1">
            <a:off x="12015079" y="7254021"/>
            <a:ext cx="7156403" cy="4086071"/>
          </a:xfrm>
          <a:custGeom>
            <a:avLst/>
            <a:gdLst/>
            <a:ahLst/>
            <a:cxnLst/>
            <a:rect l="l" t="t" r="r" b="b"/>
            <a:pathLst>
              <a:path w="7156403" h="4086071">
                <a:moveTo>
                  <a:pt x="7156403" y="0"/>
                </a:moveTo>
                <a:lnTo>
                  <a:pt x="0" y="0"/>
                </a:lnTo>
                <a:lnTo>
                  <a:pt x="0" y="4086071"/>
                </a:lnTo>
                <a:lnTo>
                  <a:pt x="7156403" y="4086071"/>
                </a:lnTo>
                <a:lnTo>
                  <a:pt x="7156403" y="0"/>
                </a:lnTo>
                <a:close/>
              </a:path>
            </a:pathLst>
          </a:custGeom>
          <a:blipFill>
            <a:blip r:embed="rId3">
              <a:extLst>
                <a:ext uri="{96DAC541-7B7A-43D3-8B79-37D633B846F1}">
                  <asvg:svgBlip xmlns:asvg="http://schemas.microsoft.com/office/drawing/2016/SVG/main" r:embed="rId4"/>
                </a:ext>
              </a:extLst>
            </a:blip>
            <a:stretch>
              <a:fillRect t="-51576"/>
            </a:stretch>
          </a:blipFill>
        </p:spPr>
        <p:txBody>
          <a:bodyPr/>
          <a:lstStyle/>
          <a:p>
            <a:endParaRPr lang="en-US"/>
          </a:p>
        </p:txBody>
      </p:sp>
      <p:grpSp>
        <p:nvGrpSpPr>
          <p:cNvPr id="5" name="Group 5"/>
          <p:cNvGrpSpPr/>
          <p:nvPr/>
        </p:nvGrpSpPr>
        <p:grpSpPr>
          <a:xfrm>
            <a:off x="477990" y="3466803"/>
            <a:ext cx="10846693" cy="1796013"/>
            <a:chOff x="0" y="0"/>
            <a:chExt cx="14462257" cy="2394684"/>
          </a:xfrm>
        </p:grpSpPr>
        <p:sp>
          <p:nvSpPr>
            <p:cNvPr id="6" name="TextBox 6"/>
            <p:cNvSpPr txBox="1"/>
            <p:nvPr/>
          </p:nvSpPr>
          <p:spPr>
            <a:xfrm>
              <a:off x="0" y="-19050"/>
              <a:ext cx="14462257" cy="1354031"/>
            </a:xfrm>
            <a:prstGeom prst="rect">
              <a:avLst/>
            </a:prstGeom>
          </p:spPr>
          <p:txBody>
            <a:bodyPr lIns="0" tIns="0" rIns="0" bIns="0" rtlCol="0" anchor="t">
              <a:spAutoFit/>
            </a:bodyPr>
            <a:lstStyle/>
            <a:p>
              <a:pPr marL="0" lvl="0" indent="0" algn="l">
                <a:lnSpc>
                  <a:spcPts val="8016"/>
                </a:lnSpc>
              </a:pPr>
              <a:r>
                <a:rPr lang="en-US" sz="6625" b="1" u="none">
                  <a:solidFill>
                    <a:srgbClr val="000000"/>
                  </a:solidFill>
                  <a:latin typeface="Asap Semi-Bold"/>
                  <a:ea typeface="Asap Semi-Bold"/>
                  <a:cs typeface="Asap Semi-Bold"/>
                  <a:sym typeface="Asap Semi-Bold"/>
                </a:rPr>
                <a:t>Giới thiệu về thành viên </a:t>
              </a:r>
            </a:p>
          </p:txBody>
        </p:sp>
        <p:sp>
          <p:nvSpPr>
            <p:cNvPr id="7" name="TextBox 7"/>
            <p:cNvSpPr txBox="1"/>
            <p:nvPr/>
          </p:nvSpPr>
          <p:spPr>
            <a:xfrm>
              <a:off x="0" y="1746984"/>
              <a:ext cx="14462257" cy="647699"/>
            </a:xfrm>
            <a:prstGeom prst="rect">
              <a:avLst/>
            </a:prstGeom>
          </p:spPr>
          <p:txBody>
            <a:bodyPr lIns="0" tIns="0" rIns="0" bIns="0" rtlCol="0" anchor="t">
              <a:spAutoFit/>
            </a:bodyPr>
            <a:lstStyle/>
            <a:p>
              <a:pPr marL="0" lvl="0" indent="0" algn="l">
                <a:lnSpc>
                  <a:spcPts val="3900"/>
                </a:lnSpc>
                <a:spcBef>
                  <a:spcPct val="0"/>
                </a:spcBef>
              </a:pPr>
              <a:endParaRPr/>
            </a:p>
          </p:txBody>
        </p:sp>
      </p:grpSp>
      <p:sp>
        <p:nvSpPr>
          <p:cNvPr id="8" name="TextBox 8"/>
          <p:cNvSpPr txBox="1"/>
          <p:nvPr/>
        </p:nvSpPr>
        <p:spPr>
          <a:xfrm>
            <a:off x="477990" y="5345420"/>
            <a:ext cx="8537681" cy="1908602"/>
          </a:xfrm>
          <a:prstGeom prst="rect">
            <a:avLst/>
          </a:prstGeom>
        </p:spPr>
        <p:txBody>
          <a:bodyPr lIns="0" tIns="0" rIns="0" bIns="0" rtlCol="0" anchor="t">
            <a:spAutoFit/>
          </a:bodyPr>
          <a:lstStyle/>
          <a:p>
            <a:pPr algn="l">
              <a:lnSpc>
                <a:spcPts val="5051"/>
              </a:lnSpc>
            </a:pPr>
            <a:r>
              <a:rPr lang="en-US" sz="3608">
                <a:solidFill>
                  <a:srgbClr val="000000"/>
                </a:solidFill>
                <a:latin typeface="Asap"/>
                <a:ea typeface="Asap"/>
                <a:cs typeface="Asap"/>
                <a:sym typeface="Asap"/>
              </a:rPr>
              <a:t>TRẦN VĂN HOÀNG -0034367</a:t>
            </a:r>
          </a:p>
          <a:p>
            <a:pPr algn="l">
              <a:lnSpc>
                <a:spcPts val="5051"/>
              </a:lnSpc>
            </a:pPr>
            <a:r>
              <a:rPr lang="en-US" sz="3608">
                <a:solidFill>
                  <a:srgbClr val="000000"/>
                </a:solidFill>
                <a:latin typeface="Asap"/>
                <a:ea typeface="Asap"/>
                <a:cs typeface="Asap"/>
                <a:sym typeface="Asap"/>
              </a:rPr>
              <a:t>PHẠM VĂN HOÀNG -0034467</a:t>
            </a:r>
          </a:p>
          <a:p>
            <a:pPr marL="0" lvl="0" indent="0" algn="l">
              <a:lnSpc>
                <a:spcPts val="5051"/>
              </a:lnSpc>
              <a:spcBef>
                <a:spcPct val="0"/>
              </a:spcBef>
            </a:pPr>
            <a:r>
              <a:rPr lang="en-US" sz="3608">
                <a:solidFill>
                  <a:srgbClr val="000000"/>
                </a:solidFill>
                <a:latin typeface="Asap"/>
                <a:ea typeface="Asap"/>
                <a:cs typeface="Asap"/>
                <a:sym typeface="Asap"/>
              </a:rPr>
              <a:t>NGUYỄN BÁ MINH VŨ -0088567</a:t>
            </a:r>
          </a:p>
        </p:txBody>
      </p:sp>
      <p:sp>
        <p:nvSpPr>
          <p:cNvPr id="9" name="TextBox 9"/>
          <p:cNvSpPr txBox="1"/>
          <p:nvPr/>
        </p:nvSpPr>
        <p:spPr>
          <a:xfrm>
            <a:off x="-2979765" y="1267549"/>
            <a:ext cx="13388823" cy="594995"/>
          </a:xfrm>
          <a:prstGeom prst="rect">
            <a:avLst/>
          </a:prstGeom>
        </p:spPr>
        <p:txBody>
          <a:bodyPr lIns="0" tIns="0" rIns="0" bIns="0" rtlCol="0" anchor="t">
            <a:spAutoFit/>
          </a:bodyPr>
          <a:lstStyle/>
          <a:p>
            <a:pPr algn="ctr">
              <a:lnSpc>
                <a:spcPts val="4509"/>
              </a:lnSpc>
              <a:spcBef>
                <a:spcPct val="0"/>
              </a:spcBef>
            </a:pPr>
            <a:r>
              <a:rPr lang="en-US" sz="4099" b="1">
                <a:solidFill>
                  <a:srgbClr val="000000"/>
                </a:solidFill>
                <a:latin typeface="Asap Semi-Bold"/>
                <a:ea typeface="Asap Semi-Bold"/>
                <a:cs typeface="Asap Semi-Bold"/>
                <a:sym typeface="Asap Semi-Bold"/>
              </a:rPr>
              <a:t>  Giảng viên: </a:t>
            </a:r>
            <a:r>
              <a:rPr lang="en-US" sz="4099">
                <a:solidFill>
                  <a:srgbClr val="000000"/>
                </a:solidFill>
                <a:latin typeface="Asap"/>
                <a:ea typeface="Asap"/>
                <a:cs typeface="Asap"/>
                <a:sym typeface="Asap"/>
              </a:rPr>
              <a:t>Nguyễn Việt Nhật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5491446" cy="10287000"/>
          </a:xfrm>
          <a:custGeom>
            <a:avLst/>
            <a:gdLst/>
            <a:ahLst/>
            <a:cxnLst/>
            <a:rect l="l" t="t" r="r" b="b"/>
            <a:pathLst>
              <a:path w="5491446" h="10287000">
                <a:moveTo>
                  <a:pt x="0" y="0"/>
                </a:moveTo>
                <a:lnTo>
                  <a:pt x="5491446" y="0"/>
                </a:lnTo>
                <a:lnTo>
                  <a:pt x="5491446" y="10287000"/>
                </a:lnTo>
                <a:lnTo>
                  <a:pt x="0" y="10287000"/>
                </a:lnTo>
                <a:lnTo>
                  <a:pt x="0" y="0"/>
                </a:lnTo>
                <a:close/>
              </a:path>
            </a:pathLst>
          </a:custGeom>
          <a:blipFill>
            <a:blip r:embed="rId2"/>
            <a:stretch>
              <a:fillRect l="-90495" r="-90495"/>
            </a:stretch>
          </a:blipFill>
        </p:spPr>
        <p:txBody>
          <a:bodyPr/>
          <a:lstStyle/>
          <a:p>
            <a:endParaRPr lang="en-US"/>
          </a:p>
        </p:txBody>
      </p:sp>
      <p:grpSp>
        <p:nvGrpSpPr>
          <p:cNvPr id="3" name="Group 3"/>
          <p:cNvGrpSpPr/>
          <p:nvPr/>
        </p:nvGrpSpPr>
        <p:grpSpPr>
          <a:xfrm>
            <a:off x="6470739" y="1118652"/>
            <a:ext cx="9633055" cy="2934551"/>
            <a:chOff x="0" y="0"/>
            <a:chExt cx="12844074" cy="3912735"/>
          </a:xfrm>
        </p:grpSpPr>
        <p:sp>
          <p:nvSpPr>
            <p:cNvPr id="4" name="TextBox 4"/>
            <p:cNvSpPr txBox="1"/>
            <p:nvPr/>
          </p:nvSpPr>
          <p:spPr>
            <a:xfrm>
              <a:off x="44416" y="66675"/>
              <a:ext cx="12799657" cy="1540722"/>
            </a:xfrm>
            <a:prstGeom prst="rect">
              <a:avLst/>
            </a:prstGeom>
          </p:spPr>
          <p:txBody>
            <a:bodyPr lIns="0" tIns="0" rIns="0" bIns="0" rtlCol="0" anchor="t">
              <a:spAutoFit/>
            </a:bodyPr>
            <a:lstStyle/>
            <a:p>
              <a:pPr marL="0" lvl="0" indent="0" algn="l">
                <a:lnSpc>
                  <a:spcPts val="8717"/>
                </a:lnSpc>
                <a:spcBef>
                  <a:spcPct val="0"/>
                </a:spcBef>
              </a:pPr>
              <a:r>
                <a:rPr lang="en-US" sz="7925" b="1">
                  <a:solidFill>
                    <a:srgbClr val="1836B2"/>
                  </a:solidFill>
                  <a:latin typeface="Asap Semi-Bold"/>
                  <a:ea typeface="Asap Semi-Bold"/>
                  <a:cs typeface="Asap Semi-Bold"/>
                  <a:sym typeface="Asap Semi-Bold"/>
                </a:rPr>
                <a:t>Bố</a:t>
              </a:r>
              <a:r>
                <a:rPr lang="en-US" sz="7925" b="1" u="none">
                  <a:solidFill>
                    <a:srgbClr val="1836B2"/>
                  </a:solidFill>
                  <a:latin typeface="Asap Semi-Bold"/>
                  <a:ea typeface="Asap Semi-Bold"/>
                  <a:cs typeface="Asap Semi-Bold"/>
                  <a:sym typeface="Asap Semi-Bold"/>
                </a:rPr>
                <a:t>i cảnh:</a:t>
              </a:r>
            </a:p>
          </p:txBody>
        </p:sp>
        <p:sp>
          <p:nvSpPr>
            <p:cNvPr id="5" name="TextBox 5"/>
            <p:cNvSpPr txBox="1"/>
            <p:nvPr/>
          </p:nvSpPr>
          <p:spPr>
            <a:xfrm>
              <a:off x="0" y="2008016"/>
              <a:ext cx="12392971" cy="1829434"/>
            </a:xfrm>
            <a:prstGeom prst="rect">
              <a:avLst/>
            </a:prstGeom>
          </p:spPr>
          <p:txBody>
            <a:bodyPr lIns="0" tIns="0" rIns="0" bIns="0" rtlCol="0" anchor="t">
              <a:spAutoFit/>
            </a:bodyPr>
            <a:lstStyle/>
            <a:p>
              <a:pPr marL="0" lvl="0" indent="0" algn="l">
                <a:lnSpc>
                  <a:spcPts val="3607"/>
                </a:lnSpc>
                <a:spcBef>
                  <a:spcPct val="0"/>
                </a:spcBef>
              </a:pPr>
              <a:r>
                <a:rPr lang="en-US" sz="2775" b="1" spc="-55">
                  <a:solidFill>
                    <a:srgbClr val="000000"/>
                  </a:solidFill>
                  <a:latin typeface="Asap Medium"/>
                  <a:ea typeface="Asap Medium"/>
                  <a:cs typeface="Asap Medium"/>
                  <a:sym typeface="Asap Medium"/>
                </a:rPr>
                <a:t>Rò</a:t>
              </a:r>
              <a:r>
                <a:rPr lang="en-US" sz="2775" b="1" u="none" spc="-55">
                  <a:solidFill>
                    <a:srgbClr val="000000"/>
                  </a:solidFill>
                  <a:latin typeface="Asap Medium"/>
                  <a:ea typeface="Asap Medium"/>
                  <a:cs typeface="Asap Medium"/>
                  <a:sym typeface="Asap Medium"/>
                </a:rPr>
                <a:t> rỉ dữ liệu, giả mạo tài khoản, tấn công đánh cắp thông tin, vì vậy cần xây dựng ra ứng dụng  có tích hợp chức năng xác thực bằng mã hóa để bảo mật an toàn thông tin .</a:t>
              </a:r>
            </a:p>
          </p:txBody>
        </p:sp>
      </p:grpSp>
      <p:grpSp>
        <p:nvGrpSpPr>
          <p:cNvPr id="6" name="Group 6"/>
          <p:cNvGrpSpPr/>
          <p:nvPr/>
        </p:nvGrpSpPr>
        <p:grpSpPr>
          <a:xfrm>
            <a:off x="6470739" y="5143500"/>
            <a:ext cx="4564038" cy="666167"/>
            <a:chOff x="0" y="0"/>
            <a:chExt cx="6085384" cy="888223"/>
          </a:xfrm>
        </p:grpSpPr>
        <p:grpSp>
          <p:nvGrpSpPr>
            <p:cNvPr id="7" name="Group 7"/>
            <p:cNvGrpSpPr/>
            <p:nvPr/>
          </p:nvGrpSpPr>
          <p:grpSpPr>
            <a:xfrm rot="-10800000">
              <a:off x="0" y="0"/>
              <a:ext cx="6085384" cy="888223"/>
              <a:chOff x="0" y="0"/>
              <a:chExt cx="36805273" cy="5372100"/>
            </a:xfrm>
          </p:grpSpPr>
          <p:sp>
            <p:nvSpPr>
              <p:cNvPr id="8" name="Freeform 8"/>
              <p:cNvSpPr/>
              <p:nvPr/>
            </p:nvSpPr>
            <p:spPr>
              <a:xfrm>
                <a:off x="0" y="0"/>
                <a:ext cx="36805273" cy="5372100"/>
              </a:xfrm>
              <a:custGeom>
                <a:avLst/>
                <a:gdLst/>
                <a:ahLst/>
                <a:cxnLst/>
                <a:rect l="l" t="t" r="r" b="b"/>
                <a:pathLst>
                  <a:path w="36805273" h="5372100">
                    <a:moveTo>
                      <a:pt x="35254605" y="0"/>
                    </a:moveTo>
                    <a:lnTo>
                      <a:pt x="1550670" y="0"/>
                    </a:lnTo>
                    <a:lnTo>
                      <a:pt x="0" y="2686050"/>
                    </a:lnTo>
                    <a:lnTo>
                      <a:pt x="1550670" y="5372100"/>
                    </a:lnTo>
                    <a:lnTo>
                      <a:pt x="35254605" y="5372100"/>
                    </a:lnTo>
                    <a:lnTo>
                      <a:pt x="36805273" y="2686050"/>
                    </a:lnTo>
                    <a:lnTo>
                      <a:pt x="35254605" y="0"/>
                    </a:lnTo>
                    <a:close/>
                  </a:path>
                </a:pathLst>
              </a:custGeom>
              <a:solidFill>
                <a:srgbClr val="A066CB"/>
              </a:solidFill>
            </p:spPr>
            <p:txBody>
              <a:bodyPr/>
              <a:lstStyle/>
              <a:p>
                <a:endParaRPr lang="en-US"/>
              </a:p>
            </p:txBody>
          </p:sp>
        </p:grpSp>
        <p:sp>
          <p:nvSpPr>
            <p:cNvPr id="9" name="TextBox 9"/>
            <p:cNvSpPr txBox="1"/>
            <p:nvPr/>
          </p:nvSpPr>
          <p:spPr>
            <a:xfrm>
              <a:off x="524930" y="174237"/>
              <a:ext cx="5035523" cy="530225"/>
            </a:xfrm>
            <a:prstGeom prst="rect">
              <a:avLst/>
            </a:prstGeom>
          </p:spPr>
          <p:txBody>
            <a:bodyPr lIns="0" tIns="0" rIns="0" bIns="0" rtlCol="0" anchor="t">
              <a:spAutoFit/>
            </a:bodyPr>
            <a:lstStyle/>
            <a:p>
              <a:pPr marL="0" lvl="0" indent="0" algn="ctr">
                <a:lnSpc>
                  <a:spcPts val="3120"/>
                </a:lnSpc>
                <a:spcBef>
                  <a:spcPct val="0"/>
                </a:spcBef>
              </a:pPr>
              <a:r>
                <a:rPr lang="en-US" sz="2600" b="1" u="none" spc="78">
                  <a:solidFill>
                    <a:srgbClr val="FFFFFF"/>
                  </a:solidFill>
                  <a:latin typeface="Asap Semi-Bold"/>
                  <a:ea typeface="Asap Semi-Bold"/>
                  <a:cs typeface="Asap Semi-Bold"/>
                  <a:sym typeface="Asap Semi-Bold"/>
                </a:rPr>
                <a:t>Mục tiêu đề tài:</a:t>
              </a:r>
            </a:p>
          </p:txBody>
        </p:sp>
      </p:grpSp>
      <p:sp>
        <p:nvSpPr>
          <p:cNvPr id="10" name="TextBox 10"/>
          <p:cNvSpPr txBox="1"/>
          <p:nvPr/>
        </p:nvSpPr>
        <p:spPr>
          <a:xfrm>
            <a:off x="6687144" y="6084591"/>
            <a:ext cx="10858498" cy="1080573"/>
          </a:xfrm>
          <a:prstGeom prst="rect">
            <a:avLst/>
          </a:prstGeom>
        </p:spPr>
        <p:txBody>
          <a:bodyPr lIns="0" tIns="0" rIns="0" bIns="0" rtlCol="0" anchor="t">
            <a:spAutoFit/>
          </a:bodyPr>
          <a:lstStyle/>
          <a:p>
            <a:pPr marL="449664" lvl="1" indent="-224832" algn="l">
              <a:lnSpc>
                <a:spcPts val="2915"/>
              </a:lnSpc>
              <a:spcBef>
                <a:spcPct val="0"/>
              </a:spcBef>
              <a:buFont typeface="Arial"/>
              <a:buChar char="•"/>
            </a:pPr>
            <a:r>
              <a:rPr lang="en-US" sz="2082" spc="10">
                <a:solidFill>
                  <a:srgbClr val="000000"/>
                </a:solidFill>
                <a:latin typeface="Asap"/>
                <a:ea typeface="Asap"/>
                <a:cs typeface="Asap"/>
                <a:sym typeface="Asap"/>
              </a:rPr>
              <a:t>Xây</a:t>
            </a:r>
            <a:r>
              <a:rPr lang="en-US" sz="2082" u="none" strike="noStrike" spc="10">
                <a:solidFill>
                  <a:srgbClr val="000000"/>
                </a:solidFill>
                <a:latin typeface="Asap"/>
                <a:ea typeface="Asap"/>
                <a:cs typeface="Asap"/>
                <a:sym typeface="Asap"/>
              </a:rPr>
              <a:t> dựng ứng dụng có chức năng đăng ký/đăng nhập an toàn.</a:t>
            </a:r>
          </a:p>
          <a:p>
            <a:pPr marL="449664" lvl="1" indent="-224832" algn="l">
              <a:lnSpc>
                <a:spcPts val="2915"/>
              </a:lnSpc>
              <a:spcBef>
                <a:spcPct val="0"/>
              </a:spcBef>
              <a:buFont typeface="Arial"/>
              <a:buChar char="•"/>
            </a:pPr>
            <a:r>
              <a:rPr lang="en-US" sz="2082" u="none" strike="noStrike" spc="10">
                <a:solidFill>
                  <a:srgbClr val="000000"/>
                </a:solidFill>
                <a:latin typeface="Asap"/>
                <a:ea typeface="Asap"/>
                <a:cs typeface="Asap"/>
                <a:sym typeface="Asap"/>
              </a:rPr>
              <a:t>Sử dụng mã hóa (hash + salt, JWT) để bảo vệ mật khẩu và dữ liệu nhạy cảm.</a:t>
            </a:r>
          </a:p>
          <a:p>
            <a:pPr marL="449664" lvl="1" indent="-224832" algn="l">
              <a:lnSpc>
                <a:spcPts val="2915"/>
              </a:lnSpc>
              <a:spcBef>
                <a:spcPct val="0"/>
              </a:spcBef>
              <a:buFont typeface="Arial"/>
              <a:buChar char="•"/>
            </a:pPr>
            <a:r>
              <a:rPr lang="en-US" sz="2082" u="none" strike="noStrike" spc="10">
                <a:solidFill>
                  <a:srgbClr val="000000"/>
                </a:solidFill>
                <a:latin typeface="Asap"/>
                <a:ea typeface="Asap"/>
                <a:cs typeface="Asap"/>
                <a:sym typeface="Asap"/>
              </a:rPr>
              <a:t>Minh họa quy trình xác thực qua demo API &amp; giao diện.</a:t>
            </a:r>
          </a:p>
        </p:txBody>
      </p:sp>
      <p:sp>
        <p:nvSpPr>
          <p:cNvPr id="11" name="TextBox 11"/>
          <p:cNvSpPr txBox="1"/>
          <p:nvPr/>
        </p:nvSpPr>
        <p:spPr>
          <a:xfrm>
            <a:off x="6687144" y="8630285"/>
            <a:ext cx="9845546" cy="1198880"/>
          </a:xfrm>
          <a:prstGeom prst="rect">
            <a:avLst/>
          </a:prstGeom>
        </p:spPr>
        <p:txBody>
          <a:bodyPr lIns="0" tIns="0" rIns="0" bIns="0" rtlCol="0" anchor="t">
            <a:spAutoFit/>
          </a:bodyPr>
          <a:lstStyle/>
          <a:p>
            <a:pPr algn="ctr">
              <a:lnSpc>
                <a:spcPts val="3220"/>
              </a:lnSpc>
              <a:spcBef>
                <a:spcPct val="0"/>
              </a:spcBef>
            </a:pPr>
            <a:r>
              <a:rPr lang="en-US" sz="2300">
                <a:solidFill>
                  <a:srgbClr val="000000"/>
                </a:solidFill>
                <a:latin typeface="Asap"/>
                <a:ea typeface="Asap"/>
                <a:cs typeface="Asap"/>
                <a:sym typeface="Asap"/>
              </a:rPr>
              <a:t>Xác thực là bước đầu tiên và quan trọng nhất trong bảo mật. Trong đề tài, nhóm sử dụng password-based authentication kết hợp với token để minh họa.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765329" y="400889"/>
            <a:ext cx="8232255" cy="3928110"/>
          </a:xfrm>
          <a:prstGeom prst="rect">
            <a:avLst/>
          </a:prstGeom>
        </p:spPr>
        <p:txBody>
          <a:bodyPr lIns="0" tIns="0" rIns="0" bIns="0" rtlCol="0" anchor="t">
            <a:spAutoFit/>
          </a:bodyPr>
          <a:lstStyle/>
          <a:p>
            <a:pPr marL="0" lvl="0" indent="0" algn="l">
              <a:lnSpc>
                <a:spcPts val="3315"/>
              </a:lnSpc>
              <a:spcBef>
                <a:spcPct val="0"/>
              </a:spcBef>
            </a:pPr>
            <a:r>
              <a:rPr lang="en-US" sz="2550" b="1" spc="-51">
                <a:solidFill>
                  <a:srgbClr val="000000"/>
                </a:solidFill>
                <a:latin typeface="Asap Medium"/>
                <a:ea typeface="Asap Medium"/>
                <a:cs typeface="Asap Medium"/>
                <a:sym typeface="Asap Medium"/>
              </a:rPr>
              <a:t>Định nghĩa: Xác thực (Authentication) là quá trình kiểm tra</a:t>
            </a:r>
            <a:r>
              <a:rPr lang="en-US" sz="2550" b="1" u="none" spc="-51">
                <a:solidFill>
                  <a:srgbClr val="000000"/>
                </a:solidFill>
                <a:latin typeface="Asap Medium"/>
                <a:ea typeface="Asap Medium"/>
                <a:cs typeface="Asap Medium"/>
                <a:sym typeface="Asap Medium"/>
              </a:rPr>
              <a:t> tính chân thực của danh tính được xác định trong quá trình định danh.</a:t>
            </a:r>
          </a:p>
          <a:p>
            <a:pPr marL="0" lvl="0" indent="0" algn="l">
              <a:lnSpc>
                <a:spcPts val="3315"/>
              </a:lnSpc>
              <a:spcBef>
                <a:spcPct val="0"/>
              </a:spcBef>
            </a:pPr>
            <a:r>
              <a:rPr lang="en-US" sz="2550" b="1" u="none" spc="-51">
                <a:solidFill>
                  <a:srgbClr val="000000"/>
                </a:solidFill>
                <a:latin typeface="Asap Medium"/>
                <a:ea typeface="Asap Medium"/>
                <a:cs typeface="Asap Medium"/>
                <a:sym typeface="Asap Medium"/>
              </a:rPr>
              <a:t> -Là kiểm tra xem một người có đúng là có danh tính như đã đệ trình hay không.</a:t>
            </a:r>
          </a:p>
          <a:p>
            <a:pPr marL="0" lvl="0" indent="0" algn="l">
              <a:lnSpc>
                <a:spcPts val="3575"/>
              </a:lnSpc>
              <a:spcBef>
                <a:spcPct val="0"/>
              </a:spcBef>
            </a:pPr>
            <a:r>
              <a:rPr lang="en-US" sz="2750" b="1" u="none" spc="-55">
                <a:solidFill>
                  <a:srgbClr val="000000"/>
                </a:solidFill>
                <a:latin typeface="Asap Medium"/>
                <a:ea typeface="Asap Medium"/>
                <a:cs typeface="Asap Medium"/>
                <a:sym typeface="Asap Medium"/>
              </a:rPr>
              <a:t>-Việc kiểm tra được thực hiện nhờ các nhân tố xác thực và các giao thức xác thực.</a:t>
            </a:r>
          </a:p>
          <a:p>
            <a:pPr marL="0" lvl="0" indent="0" algn="l">
              <a:lnSpc>
                <a:spcPts val="3705"/>
              </a:lnSpc>
              <a:spcBef>
                <a:spcPct val="0"/>
              </a:spcBef>
            </a:pPr>
            <a:endParaRPr lang="en-US" sz="2750" b="1" u="none" spc="-55">
              <a:solidFill>
                <a:srgbClr val="000000"/>
              </a:solidFill>
              <a:latin typeface="Asap Medium"/>
              <a:ea typeface="Asap Medium"/>
              <a:cs typeface="Asap Medium"/>
              <a:sym typeface="Asap Medium"/>
            </a:endParaRPr>
          </a:p>
          <a:p>
            <a:pPr marL="0" lvl="0" indent="0" algn="l">
              <a:lnSpc>
                <a:spcPts val="3705"/>
              </a:lnSpc>
              <a:spcBef>
                <a:spcPct val="0"/>
              </a:spcBef>
            </a:pPr>
            <a:endParaRPr lang="en-US" sz="2750" b="1" u="none" spc="-55">
              <a:solidFill>
                <a:srgbClr val="000000"/>
              </a:solidFill>
              <a:latin typeface="Asap Medium"/>
              <a:ea typeface="Asap Medium"/>
              <a:cs typeface="Asap Medium"/>
              <a:sym typeface="Asap Medium"/>
            </a:endParaRPr>
          </a:p>
        </p:txBody>
      </p:sp>
      <p:sp>
        <p:nvSpPr>
          <p:cNvPr id="3" name="TextBox 3"/>
          <p:cNvSpPr txBox="1"/>
          <p:nvPr/>
        </p:nvSpPr>
        <p:spPr>
          <a:xfrm>
            <a:off x="9144000" y="4290899"/>
            <a:ext cx="6823645" cy="3962400"/>
          </a:xfrm>
          <a:prstGeom prst="rect">
            <a:avLst/>
          </a:prstGeom>
        </p:spPr>
        <p:txBody>
          <a:bodyPr lIns="0" tIns="0" rIns="0" bIns="0" rtlCol="0" anchor="t">
            <a:spAutoFit/>
          </a:bodyPr>
          <a:lstStyle/>
          <a:p>
            <a:pPr marL="0" lvl="0" indent="0" algn="l">
              <a:lnSpc>
                <a:spcPts val="3900"/>
              </a:lnSpc>
              <a:spcBef>
                <a:spcPct val="0"/>
              </a:spcBef>
            </a:pPr>
            <a:endParaRPr/>
          </a:p>
          <a:p>
            <a:pPr marL="0" lvl="0" indent="0" algn="l">
              <a:lnSpc>
                <a:spcPts val="3900"/>
              </a:lnSpc>
              <a:spcBef>
                <a:spcPct val="0"/>
              </a:spcBef>
            </a:pPr>
            <a:r>
              <a:rPr lang="en-US" sz="3000" b="1" u="none" spc="-60">
                <a:solidFill>
                  <a:srgbClr val="000000"/>
                </a:solidFill>
                <a:latin typeface="Asap Medium"/>
                <a:ea typeface="Asap Medium"/>
                <a:cs typeface="Asap Medium"/>
                <a:sym typeface="Asap Medium"/>
              </a:rPr>
              <a:t>Quy trình cơ bản:</a:t>
            </a:r>
          </a:p>
          <a:p>
            <a:pPr marL="647706" lvl="1" indent="-323853" algn="l">
              <a:lnSpc>
                <a:spcPts val="3900"/>
              </a:lnSpc>
              <a:spcBef>
                <a:spcPct val="0"/>
              </a:spcBef>
              <a:buAutoNum type="arabicPeriod"/>
            </a:pPr>
            <a:r>
              <a:rPr lang="en-US" sz="3000" b="1" u="none" spc="-60">
                <a:solidFill>
                  <a:srgbClr val="000000"/>
                </a:solidFill>
                <a:latin typeface="Asap Medium"/>
                <a:ea typeface="Asap Medium"/>
                <a:cs typeface="Asap Medium"/>
                <a:sym typeface="Asap Medium"/>
              </a:rPr>
              <a:t>Người dùng nhập thông tin xác thực.</a:t>
            </a:r>
          </a:p>
          <a:p>
            <a:pPr marL="647706" lvl="1" indent="-323853" algn="l">
              <a:lnSpc>
                <a:spcPts val="3900"/>
              </a:lnSpc>
              <a:spcBef>
                <a:spcPct val="0"/>
              </a:spcBef>
              <a:buAutoNum type="arabicPeriod"/>
            </a:pPr>
            <a:r>
              <a:rPr lang="en-US" sz="3000" b="1" u="none" spc="-60">
                <a:solidFill>
                  <a:srgbClr val="000000"/>
                </a:solidFill>
                <a:latin typeface="Asap Medium"/>
                <a:ea typeface="Asap Medium"/>
                <a:cs typeface="Asap Medium"/>
                <a:sym typeface="Asap Medium"/>
              </a:rPr>
              <a:t>Client gửi đến server qua HTTPS.</a:t>
            </a:r>
          </a:p>
          <a:p>
            <a:pPr marL="647706" lvl="1" indent="-323853" algn="l">
              <a:lnSpc>
                <a:spcPts val="3900"/>
              </a:lnSpc>
              <a:spcBef>
                <a:spcPct val="0"/>
              </a:spcBef>
              <a:buAutoNum type="arabicPeriod"/>
            </a:pPr>
            <a:r>
              <a:rPr lang="en-US" sz="3000" b="1" u="none" spc="-60">
                <a:solidFill>
                  <a:srgbClr val="000000"/>
                </a:solidFill>
                <a:latin typeface="Asap Medium"/>
                <a:ea typeface="Asap Medium"/>
                <a:cs typeface="Asap Medium"/>
                <a:sym typeface="Asap Medium"/>
              </a:rPr>
              <a:t>Server so sánh hash mật khẩu (hash+salt).</a:t>
            </a:r>
          </a:p>
          <a:p>
            <a:pPr marL="647706" lvl="1" indent="-323853" algn="l">
              <a:lnSpc>
                <a:spcPts val="3900"/>
              </a:lnSpc>
              <a:spcBef>
                <a:spcPct val="0"/>
              </a:spcBef>
              <a:buAutoNum type="arabicPeriod"/>
            </a:pPr>
            <a:r>
              <a:rPr lang="en-US" sz="3000" b="1" u="none" spc="-60">
                <a:solidFill>
                  <a:srgbClr val="000000"/>
                </a:solidFill>
                <a:latin typeface="Asap Medium"/>
                <a:ea typeface="Asap Medium"/>
                <a:cs typeface="Asap Medium"/>
                <a:sym typeface="Asap Medium"/>
              </a:rPr>
              <a:t>Nếu đúng → cấp session hoặc JWT.</a:t>
            </a:r>
          </a:p>
          <a:p>
            <a:pPr marL="0" lvl="0" indent="0" algn="l">
              <a:lnSpc>
                <a:spcPts val="3900"/>
              </a:lnSpc>
              <a:spcBef>
                <a:spcPct val="0"/>
              </a:spcBef>
            </a:pPr>
            <a:endParaRPr lang="en-US" sz="3000" b="1" u="none" spc="-60">
              <a:solidFill>
                <a:srgbClr val="000000"/>
              </a:solidFill>
              <a:latin typeface="Asap Medium"/>
              <a:ea typeface="Asap Medium"/>
              <a:cs typeface="Asap Medium"/>
              <a:sym typeface="Asap Medium"/>
            </a:endParaRPr>
          </a:p>
        </p:txBody>
      </p:sp>
      <p:grpSp>
        <p:nvGrpSpPr>
          <p:cNvPr id="4" name="Group 4"/>
          <p:cNvGrpSpPr/>
          <p:nvPr/>
        </p:nvGrpSpPr>
        <p:grpSpPr>
          <a:xfrm>
            <a:off x="-4584065" y="-2006328"/>
            <a:ext cx="13728065" cy="14299655"/>
            <a:chOff x="0" y="0"/>
            <a:chExt cx="5157365" cy="5372100"/>
          </a:xfrm>
        </p:grpSpPr>
        <p:sp>
          <p:nvSpPr>
            <p:cNvPr id="5" name="Freeform 5"/>
            <p:cNvSpPr/>
            <p:nvPr/>
          </p:nvSpPr>
          <p:spPr>
            <a:xfrm>
              <a:off x="0" y="0"/>
              <a:ext cx="5157365" cy="5372100"/>
            </a:xfrm>
            <a:custGeom>
              <a:avLst/>
              <a:gdLst/>
              <a:ahLst/>
              <a:cxnLst/>
              <a:rect l="l" t="t" r="r" b="b"/>
              <a:pathLst>
                <a:path w="5157365" h="5372100">
                  <a:moveTo>
                    <a:pt x="3606695" y="0"/>
                  </a:moveTo>
                  <a:lnTo>
                    <a:pt x="1550670" y="0"/>
                  </a:lnTo>
                  <a:lnTo>
                    <a:pt x="0" y="2686050"/>
                  </a:lnTo>
                  <a:lnTo>
                    <a:pt x="1550670" y="5372100"/>
                  </a:lnTo>
                  <a:lnTo>
                    <a:pt x="3606695" y="5372100"/>
                  </a:lnTo>
                  <a:lnTo>
                    <a:pt x="5157365" y="2686050"/>
                  </a:lnTo>
                  <a:lnTo>
                    <a:pt x="3606695" y="0"/>
                  </a:lnTo>
                  <a:close/>
                </a:path>
              </a:pathLst>
            </a:custGeom>
            <a:solidFill>
              <a:srgbClr val="1836B2"/>
            </a:solidFill>
          </p:spPr>
          <p:txBody>
            <a:bodyPr/>
            <a:lstStyle/>
            <a:p>
              <a:endParaRPr lang="en-US"/>
            </a:p>
          </p:txBody>
        </p:sp>
      </p:grpSp>
      <p:sp>
        <p:nvSpPr>
          <p:cNvPr id="6" name="TextBox 6"/>
          <p:cNvSpPr txBox="1"/>
          <p:nvPr/>
        </p:nvSpPr>
        <p:spPr>
          <a:xfrm>
            <a:off x="1028700" y="1387362"/>
            <a:ext cx="5816518" cy="6641433"/>
          </a:xfrm>
          <a:prstGeom prst="rect">
            <a:avLst/>
          </a:prstGeom>
        </p:spPr>
        <p:txBody>
          <a:bodyPr lIns="0" tIns="0" rIns="0" bIns="0" rtlCol="0" anchor="t">
            <a:spAutoFit/>
          </a:bodyPr>
          <a:lstStyle/>
          <a:p>
            <a:pPr marL="0" lvl="0" indent="0" algn="l">
              <a:lnSpc>
                <a:spcPts val="10540"/>
              </a:lnSpc>
            </a:pPr>
            <a:r>
              <a:rPr lang="en-US" sz="7925" b="1">
                <a:solidFill>
                  <a:srgbClr val="FFFFFF"/>
                </a:solidFill>
                <a:latin typeface="Asap Semi-Bold"/>
                <a:ea typeface="Asap Semi-Bold"/>
                <a:cs typeface="Asap Semi-Bold"/>
                <a:sym typeface="Asap Semi-Bold"/>
              </a:rPr>
              <a:t>Cơ sở lý th</a:t>
            </a:r>
            <a:r>
              <a:rPr lang="en-US" sz="7925" b="1" u="none">
                <a:solidFill>
                  <a:srgbClr val="FFFFFF"/>
                </a:solidFill>
                <a:latin typeface="Asap Semi-Bold"/>
                <a:ea typeface="Asap Semi-Bold"/>
                <a:cs typeface="Asap Semi-Bold"/>
                <a:sym typeface="Asap Semi-Bold"/>
              </a:rPr>
              <a:t>uyết — Xác thực (Authentication)</a:t>
            </a:r>
          </a:p>
        </p:txBody>
      </p:sp>
      <p:sp>
        <p:nvSpPr>
          <p:cNvPr id="7" name="TextBox 7"/>
          <p:cNvSpPr txBox="1"/>
          <p:nvPr/>
        </p:nvSpPr>
        <p:spPr>
          <a:xfrm>
            <a:off x="9144000" y="8478406"/>
            <a:ext cx="8556450" cy="990600"/>
          </a:xfrm>
          <a:prstGeom prst="rect">
            <a:avLst/>
          </a:prstGeom>
        </p:spPr>
        <p:txBody>
          <a:bodyPr lIns="0" tIns="0" rIns="0" bIns="0" rtlCol="0" anchor="t">
            <a:spAutoFit/>
          </a:bodyPr>
          <a:lstStyle/>
          <a:p>
            <a:pPr algn="ctr">
              <a:lnSpc>
                <a:spcPts val="3900"/>
              </a:lnSpc>
              <a:spcBef>
                <a:spcPct val="0"/>
              </a:spcBef>
            </a:pPr>
            <a:r>
              <a:rPr lang="en-US" sz="3000" b="1" spc="-60">
                <a:solidFill>
                  <a:srgbClr val="000000"/>
                </a:solidFill>
                <a:latin typeface="Asap Medium"/>
                <a:ea typeface="Asap Medium"/>
                <a:cs typeface="Asap Medium"/>
                <a:sym typeface="Asap Medium"/>
              </a:rPr>
              <a:t>Phương pháp phổ biến: Password-based, 2FA, MFA, Token (JWT/OAuth2), Biometric.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16328" y="-10415"/>
            <a:ext cx="12226851" cy="539950"/>
          </a:xfrm>
          <a:prstGeom prst="rect">
            <a:avLst/>
          </a:prstGeom>
        </p:spPr>
        <p:txBody>
          <a:bodyPr lIns="0" tIns="0" rIns="0" bIns="0" rtlCol="0" anchor="t">
            <a:spAutoFit/>
          </a:bodyPr>
          <a:lstStyle/>
          <a:p>
            <a:pPr algn="ctr">
              <a:lnSpc>
                <a:spcPts val="4363"/>
              </a:lnSpc>
              <a:spcBef>
                <a:spcPct val="0"/>
              </a:spcBef>
            </a:pPr>
            <a:r>
              <a:rPr lang="en-US" sz="3117" b="1">
                <a:solidFill>
                  <a:srgbClr val="000000"/>
                </a:solidFill>
                <a:latin typeface="Asap Bold"/>
                <a:ea typeface="Asap Bold"/>
                <a:cs typeface="Asap Bold"/>
                <a:sym typeface="Asap Bold"/>
              </a:rPr>
              <a:t>Các vấn đề bảo mật thường gặp trong xác thực</a:t>
            </a:r>
          </a:p>
        </p:txBody>
      </p:sp>
      <p:sp>
        <p:nvSpPr>
          <p:cNvPr id="3" name="TextBox 3"/>
          <p:cNvSpPr txBox="1"/>
          <p:nvPr/>
        </p:nvSpPr>
        <p:spPr>
          <a:xfrm>
            <a:off x="0" y="766912"/>
            <a:ext cx="11986572" cy="3143489"/>
          </a:xfrm>
          <a:prstGeom prst="rect">
            <a:avLst/>
          </a:prstGeom>
        </p:spPr>
        <p:txBody>
          <a:bodyPr lIns="0" tIns="0" rIns="0" bIns="0" rtlCol="0" anchor="t">
            <a:spAutoFit/>
          </a:bodyPr>
          <a:lstStyle/>
          <a:p>
            <a:pPr marL="473935" lvl="1" indent="-236967" algn="l">
              <a:lnSpc>
                <a:spcPts val="3073"/>
              </a:lnSpc>
              <a:spcBef>
                <a:spcPct val="0"/>
              </a:spcBef>
              <a:buFont typeface="Arial"/>
              <a:buChar char="•"/>
            </a:pPr>
            <a:r>
              <a:rPr lang="en-US" sz="2195" dirty="0">
                <a:solidFill>
                  <a:srgbClr val="000000"/>
                </a:solidFill>
                <a:latin typeface="Times New Roman" panose="02020603050405020304" pitchFamily="18" charset="0"/>
                <a:ea typeface="Asap"/>
                <a:cs typeface="Times New Roman" panose="02020603050405020304" pitchFamily="18" charset="0"/>
                <a:sym typeface="Asap"/>
              </a:rPr>
              <a:t>Brute-force/dictionary: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kẻ</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tấn</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công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thử</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hàng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loạt</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mật</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khẩu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biểu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hiện</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là</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nhiều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lần</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login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thất</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bại</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từ</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cùng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IP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hoặc</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nhiều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IP.</a:t>
            </a:r>
          </a:p>
          <a:p>
            <a:pPr marL="473935" lvl="1" indent="-236967" algn="l">
              <a:lnSpc>
                <a:spcPts val="3073"/>
              </a:lnSpc>
              <a:spcBef>
                <a:spcPct val="0"/>
              </a:spcBef>
              <a:buFont typeface="Arial"/>
              <a:buChar char="•"/>
            </a:pPr>
            <a:r>
              <a:rPr lang="en-US" sz="2195" dirty="0">
                <a:solidFill>
                  <a:srgbClr val="000000"/>
                </a:solidFill>
                <a:latin typeface="Times New Roman" panose="02020603050405020304" pitchFamily="18" charset="0"/>
                <a:ea typeface="Asap"/>
                <a:cs typeface="Times New Roman" panose="02020603050405020304" pitchFamily="18" charset="0"/>
                <a:sym typeface="Asap"/>
              </a:rPr>
              <a:t>Credential stuffing: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khi</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user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tái</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sử</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dụng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mật</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khẩu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ở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nhiều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dịch</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vụ</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một</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rò</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rỉ</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ở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nơi</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khác</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dẫn</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đến</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xâm</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nhập</a:t>
            </a:r>
            <a:r>
              <a:rPr lang="en-US" sz="2195" dirty="0">
                <a:solidFill>
                  <a:srgbClr val="000000"/>
                </a:solidFill>
                <a:latin typeface="Times New Roman" panose="02020603050405020304" pitchFamily="18" charset="0"/>
                <a:ea typeface="Asap"/>
                <a:cs typeface="Times New Roman" panose="02020603050405020304" pitchFamily="18" charset="0"/>
                <a:sym typeface="Asap"/>
              </a:rPr>
              <a:t>.</a:t>
            </a:r>
          </a:p>
          <a:p>
            <a:pPr marL="473935" lvl="1" indent="-236967" algn="l">
              <a:lnSpc>
                <a:spcPts val="3073"/>
              </a:lnSpc>
              <a:spcBef>
                <a:spcPct val="0"/>
              </a:spcBef>
              <a:buFont typeface="Arial"/>
              <a:buChar char="•"/>
            </a:pPr>
            <a:r>
              <a:rPr lang="en-US" sz="2195" dirty="0">
                <a:solidFill>
                  <a:srgbClr val="000000"/>
                </a:solidFill>
                <a:latin typeface="Times New Roman" panose="02020603050405020304" pitchFamily="18" charset="0"/>
                <a:ea typeface="Asap"/>
                <a:cs typeface="Times New Roman" panose="02020603050405020304" pitchFamily="18" charset="0"/>
                <a:sym typeface="Asap"/>
              </a:rPr>
              <a:t>MITM: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nếu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không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dùng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TLS, attacker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có</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thể</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đọc</a:t>
            </a:r>
            <a:r>
              <a:rPr lang="en-US" sz="2195" dirty="0">
                <a:solidFill>
                  <a:srgbClr val="000000"/>
                </a:solidFill>
                <a:latin typeface="Times New Roman" panose="02020603050405020304" pitchFamily="18" charset="0"/>
                <a:ea typeface="Asap"/>
                <a:cs typeface="Times New Roman" panose="02020603050405020304" pitchFamily="18" charset="0"/>
                <a:sym typeface="Asap"/>
              </a:rPr>
              <a:t>/</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đổi</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payload.</a:t>
            </a:r>
          </a:p>
          <a:p>
            <a:pPr marL="473935" lvl="1" indent="-236967" algn="l">
              <a:lnSpc>
                <a:spcPts val="3073"/>
              </a:lnSpc>
              <a:spcBef>
                <a:spcPct val="0"/>
              </a:spcBef>
              <a:buFont typeface="Arial"/>
              <a:buChar char="•"/>
            </a:pP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Rò</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rỉ</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DB: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nếu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lưu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mật</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khẩu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plaintext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hoặc</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dùng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MD5/SHA1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thì</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bị</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bẻ</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dễ</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Nên</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dùng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bcrypt</a:t>
            </a:r>
            <a:r>
              <a:rPr lang="en-US" sz="2195" dirty="0">
                <a:solidFill>
                  <a:srgbClr val="000000"/>
                </a:solidFill>
                <a:latin typeface="Times New Roman" panose="02020603050405020304" pitchFamily="18" charset="0"/>
                <a:ea typeface="Asap"/>
                <a:cs typeface="Times New Roman" panose="02020603050405020304" pitchFamily="18" charset="0"/>
                <a:sym typeface="Asap"/>
              </a:rPr>
              <a:t>/Argon2.</a:t>
            </a:r>
          </a:p>
          <a:p>
            <a:pPr marL="473935" lvl="1" indent="-236967" algn="l">
              <a:lnSpc>
                <a:spcPts val="3073"/>
              </a:lnSpc>
              <a:spcBef>
                <a:spcPct val="0"/>
              </a:spcBef>
              <a:buFont typeface="Arial"/>
              <a:buChar char="•"/>
            </a:pPr>
            <a:r>
              <a:rPr lang="en-US" sz="2195" dirty="0">
                <a:solidFill>
                  <a:srgbClr val="000000"/>
                </a:solidFill>
                <a:latin typeface="Times New Roman" panose="02020603050405020304" pitchFamily="18" charset="0"/>
                <a:ea typeface="Asap"/>
                <a:cs typeface="Times New Roman" panose="02020603050405020304" pitchFamily="18" charset="0"/>
                <a:sym typeface="Asap"/>
              </a:rPr>
              <a:t>Token theft: token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bị</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lộ</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(do XSS,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lưu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token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không</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an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toàn</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kẻ</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xấu</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mạo</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a:t>
            </a:r>
            <a:r>
              <a:rPr lang="en-US" sz="2195" dirty="0" err="1">
                <a:solidFill>
                  <a:srgbClr val="000000"/>
                </a:solidFill>
                <a:latin typeface="Times New Roman" panose="02020603050405020304" pitchFamily="18" charset="0"/>
                <a:ea typeface="Asap"/>
                <a:cs typeface="Times New Roman" panose="02020603050405020304" pitchFamily="18" charset="0"/>
                <a:sym typeface="Asap"/>
              </a:rPr>
              <a:t>danh</a:t>
            </a:r>
            <a:r>
              <a:rPr lang="en-US" sz="2195" dirty="0">
                <a:solidFill>
                  <a:srgbClr val="000000"/>
                </a:solidFill>
                <a:latin typeface="Times New Roman" panose="02020603050405020304" pitchFamily="18" charset="0"/>
                <a:ea typeface="Asap"/>
                <a:cs typeface="Times New Roman" panose="02020603050405020304" pitchFamily="18" charset="0"/>
                <a:sym typeface="Asap"/>
              </a:rPr>
              <a:t> user.</a:t>
            </a:r>
          </a:p>
          <a:p>
            <a:pPr algn="l">
              <a:lnSpc>
                <a:spcPts val="3073"/>
              </a:lnSpc>
              <a:spcBef>
                <a:spcPct val="0"/>
              </a:spcBef>
            </a:pPr>
            <a:endParaRPr lang="en-US" sz="2195" dirty="0">
              <a:solidFill>
                <a:srgbClr val="000000"/>
              </a:solidFill>
              <a:latin typeface="Asap"/>
              <a:ea typeface="Asap"/>
              <a:cs typeface="Asap"/>
              <a:sym typeface="Asap"/>
            </a:endParaRPr>
          </a:p>
        </p:txBody>
      </p:sp>
      <p:sp>
        <p:nvSpPr>
          <p:cNvPr id="4" name="TextBox 4"/>
          <p:cNvSpPr txBox="1"/>
          <p:nvPr/>
        </p:nvSpPr>
        <p:spPr>
          <a:xfrm>
            <a:off x="2584907" y="3943658"/>
            <a:ext cx="11986572" cy="464820"/>
          </a:xfrm>
          <a:prstGeom prst="rect">
            <a:avLst/>
          </a:prstGeom>
        </p:spPr>
        <p:txBody>
          <a:bodyPr lIns="0" tIns="0" rIns="0" bIns="0" rtlCol="0" anchor="t">
            <a:spAutoFit/>
          </a:bodyPr>
          <a:lstStyle/>
          <a:p>
            <a:pPr algn="ctr">
              <a:lnSpc>
                <a:spcPts val="3779"/>
              </a:lnSpc>
              <a:spcBef>
                <a:spcPct val="0"/>
              </a:spcBef>
            </a:pPr>
            <a:r>
              <a:rPr lang="en-US" sz="2699" b="1" dirty="0" err="1">
                <a:solidFill>
                  <a:srgbClr val="000000"/>
                </a:solidFill>
                <a:latin typeface="Asap Bold"/>
                <a:ea typeface="Asap Bold"/>
                <a:cs typeface="Asap Bold"/>
                <a:sym typeface="Asap Bold"/>
              </a:rPr>
              <a:t>Biện</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pháp</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bảo</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vệ</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trong</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quy</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trình</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xác</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thực</a:t>
            </a:r>
            <a:r>
              <a:rPr lang="en-US" sz="2699" b="1" dirty="0">
                <a:solidFill>
                  <a:srgbClr val="000000"/>
                </a:solidFill>
                <a:latin typeface="Asap Bold"/>
                <a:ea typeface="Asap Bold"/>
                <a:cs typeface="Asap Bold"/>
                <a:sym typeface="Asap Bold"/>
              </a:rPr>
              <a:t> (chi </a:t>
            </a:r>
            <a:r>
              <a:rPr lang="en-US" sz="2699" b="1" dirty="0" err="1">
                <a:solidFill>
                  <a:srgbClr val="000000"/>
                </a:solidFill>
                <a:latin typeface="Asap Bold"/>
                <a:ea typeface="Asap Bold"/>
                <a:cs typeface="Asap Bold"/>
                <a:sym typeface="Asap Bold"/>
              </a:rPr>
              <a:t>tiết</a:t>
            </a:r>
            <a:r>
              <a:rPr lang="en-US" sz="2699" b="1" dirty="0">
                <a:solidFill>
                  <a:srgbClr val="000000"/>
                </a:solidFill>
                <a:latin typeface="Asap Bold"/>
                <a:ea typeface="Asap Bold"/>
                <a:cs typeface="Asap Bold"/>
                <a:sym typeface="Asap Bold"/>
              </a:rPr>
              <a:t> &amp; </a:t>
            </a:r>
            <a:r>
              <a:rPr lang="en-US" sz="2699" b="1" dirty="0" err="1">
                <a:solidFill>
                  <a:srgbClr val="000000"/>
                </a:solidFill>
                <a:latin typeface="Asap Bold"/>
                <a:ea typeface="Asap Bold"/>
                <a:cs typeface="Asap Bold"/>
                <a:sym typeface="Asap Bold"/>
              </a:rPr>
              <a:t>thực</a:t>
            </a:r>
            <a:r>
              <a:rPr lang="en-US" sz="2699" b="1" dirty="0">
                <a:solidFill>
                  <a:srgbClr val="000000"/>
                </a:solidFill>
                <a:latin typeface="Asap Bold"/>
                <a:ea typeface="Asap Bold"/>
                <a:cs typeface="Asap Bold"/>
                <a:sym typeface="Asap Bold"/>
              </a:rPr>
              <a:t> </a:t>
            </a:r>
            <a:r>
              <a:rPr lang="en-US" sz="2699" b="1" dirty="0" err="1">
                <a:solidFill>
                  <a:srgbClr val="000000"/>
                </a:solidFill>
                <a:latin typeface="Asap Bold"/>
                <a:ea typeface="Asap Bold"/>
                <a:cs typeface="Asap Bold"/>
                <a:sym typeface="Asap Bold"/>
              </a:rPr>
              <a:t>tiễn</a:t>
            </a:r>
            <a:r>
              <a:rPr lang="en-US" sz="2699" b="1" dirty="0">
                <a:solidFill>
                  <a:srgbClr val="000000"/>
                </a:solidFill>
                <a:latin typeface="Asap Bold"/>
                <a:ea typeface="Asap Bold"/>
                <a:cs typeface="Asap Bold"/>
                <a:sym typeface="Asap Bold"/>
              </a:rPr>
              <a:t>)</a:t>
            </a:r>
          </a:p>
        </p:txBody>
      </p:sp>
      <p:sp>
        <p:nvSpPr>
          <p:cNvPr id="5" name="TextBox 5"/>
          <p:cNvSpPr txBox="1"/>
          <p:nvPr/>
        </p:nvSpPr>
        <p:spPr>
          <a:xfrm>
            <a:off x="228600" y="5143500"/>
            <a:ext cx="15699345" cy="4890954"/>
          </a:xfrm>
          <a:prstGeom prst="rect">
            <a:avLst/>
          </a:prstGeom>
        </p:spPr>
        <p:txBody>
          <a:bodyPr lIns="0" tIns="0" rIns="0" bIns="0" rtlCol="0" anchor="t">
            <a:spAutoFit/>
          </a:bodyPr>
          <a:lstStyle/>
          <a:p>
            <a:pPr marL="496571" lvl="1" indent="-248285" algn="l">
              <a:lnSpc>
                <a:spcPts val="3220"/>
              </a:lnSpc>
              <a:spcBef>
                <a:spcPct val="0"/>
              </a:spcBef>
              <a:buFont typeface="Arial"/>
              <a:buChar char="•"/>
            </a:pPr>
            <a:r>
              <a:rPr lang="en-US" sz="2200" dirty="0">
                <a:solidFill>
                  <a:srgbClr val="000000"/>
                </a:solidFill>
                <a:latin typeface="Times New Roman" panose="02020603050405020304" pitchFamily="18" charset="0"/>
                <a:ea typeface="Asap"/>
                <a:cs typeface="Times New Roman" panose="02020603050405020304" pitchFamily="18" charset="0"/>
                <a:sym typeface="Asap"/>
              </a:rPr>
              <a:t>HTTPS (TLS/SSL)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cho</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mọi</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request.</a:t>
            </a:r>
          </a:p>
          <a:p>
            <a:pPr marL="496571" lvl="1" indent="-248285" algn="l">
              <a:lnSpc>
                <a:spcPts val="3220"/>
              </a:lnSpc>
              <a:spcBef>
                <a:spcPct val="0"/>
              </a:spcBef>
              <a:buFont typeface="Arial"/>
              <a:buChar char="•"/>
            </a:pPr>
            <a:r>
              <a:rPr lang="en-US" sz="2200" dirty="0">
                <a:solidFill>
                  <a:srgbClr val="000000"/>
                </a:solidFill>
                <a:latin typeface="Times New Roman" panose="02020603050405020304" pitchFamily="18" charset="0"/>
                <a:ea typeface="Asap"/>
                <a:cs typeface="Times New Roman" panose="02020603050405020304" pitchFamily="18" charset="0"/>
                <a:sym typeface="Asap"/>
              </a:rPr>
              <a:t>Lưu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mật</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khẩu</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dạng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hash: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bcrypt</a:t>
            </a:r>
            <a:r>
              <a:rPr lang="en-US" sz="2200" dirty="0">
                <a:solidFill>
                  <a:srgbClr val="000000"/>
                </a:solidFill>
                <a:latin typeface="Times New Roman" panose="02020603050405020304" pitchFamily="18" charset="0"/>
                <a:ea typeface="Asap"/>
                <a:cs typeface="Times New Roman" panose="02020603050405020304" pitchFamily="18" charset="0"/>
                <a:sym typeface="Asap"/>
              </a:rPr>
              <a:t>/Argon2 + salt.</a:t>
            </a:r>
          </a:p>
          <a:p>
            <a:pPr marL="496571" lvl="1" indent="-248285" algn="l">
              <a:lnSpc>
                <a:spcPts val="3220"/>
              </a:lnSpc>
              <a:spcBef>
                <a:spcPct val="0"/>
              </a:spcBef>
              <a:buFont typeface="Arial"/>
              <a:buChar char="•"/>
            </a:pP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Hạn</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chế</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số</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lần</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đăng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nhập</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sai</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ví</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dụ</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khóa</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tạm</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sau</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5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lần</a:t>
            </a:r>
            <a:r>
              <a:rPr lang="en-US" sz="2200" dirty="0">
                <a:solidFill>
                  <a:srgbClr val="000000"/>
                </a:solidFill>
                <a:latin typeface="Times New Roman" panose="02020603050405020304" pitchFamily="18" charset="0"/>
                <a:ea typeface="Asap"/>
                <a:cs typeface="Times New Roman" panose="02020603050405020304" pitchFamily="18" charset="0"/>
                <a:sym typeface="Asap"/>
              </a:rPr>
              <a:t>).</a:t>
            </a:r>
          </a:p>
          <a:p>
            <a:pPr marL="496571" lvl="1" indent="-248285" algn="l">
              <a:lnSpc>
                <a:spcPts val="3220"/>
              </a:lnSpc>
              <a:spcBef>
                <a:spcPct val="0"/>
              </a:spcBef>
              <a:buFont typeface="Arial"/>
              <a:buChar char="•"/>
            </a:pP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Sử</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dụng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CAPTCHA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chống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bot.</a:t>
            </a:r>
          </a:p>
          <a:p>
            <a:pPr marL="496571" lvl="1" indent="-248285" algn="l">
              <a:lnSpc>
                <a:spcPts val="3220"/>
              </a:lnSpc>
              <a:spcBef>
                <a:spcPct val="0"/>
              </a:spcBef>
              <a:buFont typeface="Arial"/>
              <a:buChar char="•"/>
            </a:pP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Kích</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hoạt</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2FA/OTP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cho</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các</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thao</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tác</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nhạy</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cảm</a:t>
            </a:r>
            <a:r>
              <a:rPr lang="en-US" sz="2200" dirty="0">
                <a:solidFill>
                  <a:srgbClr val="000000"/>
                </a:solidFill>
                <a:latin typeface="Times New Roman" panose="02020603050405020304" pitchFamily="18" charset="0"/>
                <a:ea typeface="Asap"/>
                <a:cs typeface="Times New Roman" panose="02020603050405020304" pitchFamily="18" charset="0"/>
                <a:sym typeface="Asap"/>
              </a:rPr>
              <a:t>.</a:t>
            </a:r>
          </a:p>
          <a:p>
            <a:pPr marL="496571" lvl="1" indent="-248285" algn="l">
              <a:lnSpc>
                <a:spcPts val="3220"/>
              </a:lnSpc>
              <a:spcBef>
                <a:spcPct val="0"/>
              </a:spcBef>
              <a:buFont typeface="Arial"/>
              <a:buChar char="•"/>
            </a:pPr>
            <a:r>
              <a:rPr lang="en-US" sz="2200" dirty="0">
                <a:solidFill>
                  <a:srgbClr val="000000"/>
                </a:solidFill>
                <a:latin typeface="Times New Roman" panose="02020603050405020304" pitchFamily="18" charset="0"/>
                <a:ea typeface="Asap"/>
                <a:cs typeface="Times New Roman" panose="02020603050405020304" pitchFamily="18" charset="0"/>
                <a:sym typeface="Asap"/>
              </a:rPr>
              <a:t>Quản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lý</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token an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toàn</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access token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có</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expiry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ngắn</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refresh token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có</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re-rotation &amp; revocation.</a:t>
            </a:r>
          </a:p>
          <a:p>
            <a:pPr marL="496571" lvl="1" indent="-248285" algn="l">
              <a:lnSpc>
                <a:spcPts val="3220"/>
              </a:lnSpc>
              <a:spcBef>
                <a:spcPct val="0"/>
              </a:spcBef>
              <a:buFont typeface="Arial"/>
              <a:buChar char="•"/>
            </a:pP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Không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truyền</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token qua URL; set cookies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HttpOnly</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Secure,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SameSite</a:t>
            </a:r>
            <a:r>
              <a:rPr lang="en-US" sz="2200" dirty="0">
                <a:solidFill>
                  <a:srgbClr val="000000"/>
                </a:solidFill>
                <a:latin typeface="Times New Roman" panose="02020603050405020304" pitchFamily="18" charset="0"/>
                <a:ea typeface="Asap"/>
                <a:cs typeface="Times New Roman" panose="02020603050405020304" pitchFamily="18" charset="0"/>
                <a:sym typeface="Asap"/>
              </a:rPr>
              <a:t>=strict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nếu</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dùng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cookie.</a:t>
            </a:r>
          </a:p>
          <a:p>
            <a:pPr marL="496571" lvl="1" indent="-248285" algn="l">
              <a:lnSpc>
                <a:spcPts val="3220"/>
              </a:lnSpc>
              <a:spcBef>
                <a:spcPct val="0"/>
              </a:spcBef>
              <a:buFont typeface="Arial"/>
              <a:buChar char="•"/>
            </a:pPr>
            <a:r>
              <a:rPr lang="en-US" sz="2200" dirty="0">
                <a:solidFill>
                  <a:srgbClr val="000000"/>
                </a:solidFill>
                <a:latin typeface="Times New Roman" panose="02020603050405020304" pitchFamily="18" charset="0"/>
                <a:ea typeface="Asap"/>
                <a:cs typeface="Times New Roman" panose="02020603050405020304" pitchFamily="18" charset="0"/>
                <a:sym typeface="Asap"/>
              </a:rPr>
              <a:t>Validate input &amp;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dùng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parameterized queries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tránh</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SQL injection).</a:t>
            </a:r>
          </a:p>
          <a:p>
            <a:pPr marL="496571" lvl="1" indent="-248285" algn="l">
              <a:lnSpc>
                <a:spcPts val="3220"/>
              </a:lnSpc>
              <a:spcBef>
                <a:spcPct val="0"/>
              </a:spcBef>
              <a:buFont typeface="Arial"/>
              <a:buChar char="•"/>
            </a:pPr>
            <a:r>
              <a:rPr lang="en-US" sz="2200" dirty="0">
                <a:solidFill>
                  <a:srgbClr val="000000"/>
                </a:solidFill>
                <a:latin typeface="Times New Roman" panose="02020603050405020304" pitchFamily="18" charset="0"/>
                <a:ea typeface="Asap"/>
                <a:cs typeface="Times New Roman" panose="02020603050405020304" pitchFamily="18" charset="0"/>
                <a:sym typeface="Asap"/>
              </a:rPr>
              <a:t>Log &amp; monitor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phát</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hiện</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login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bất</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thường</a:t>
            </a:r>
            <a:r>
              <a:rPr lang="en-US" sz="2200" dirty="0">
                <a:solidFill>
                  <a:srgbClr val="000000"/>
                </a:solidFill>
                <a:latin typeface="Times New Roman" panose="02020603050405020304" pitchFamily="18" charset="0"/>
                <a:ea typeface="Asap"/>
                <a:cs typeface="Times New Roman" panose="02020603050405020304" pitchFamily="18" charset="0"/>
                <a:sym typeface="Asap"/>
              </a:rPr>
              <a:t>).</a:t>
            </a:r>
          </a:p>
          <a:p>
            <a:pPr marL="496571" lvl="1" indent="-248285" algn="l">
              <a:lnSpc>
                <a:spcPts val="3220"/>
              </a:lnSpc>
              <a:spcBef>
                <a:spcPct val="0"/>
              </a:spcBef>
              <a:buFont typeface="Arial"/>
              <a:buChar char="•"/>
            </a:pPr>
            <a:r>
              <a:rPr lang="en-US" sz="2200" dirty="0">
                <a:solidFill>
                  <a:srgbClr val="000000"/>
                </a:solidFill>
                <a:latin typeface="Times New Roman" panose="02020603050405020304" pitchFamily="18" charset="0"/>
                <a:ea typeface="Asap"/>
                <a:cs typeface="Times New Roman" panose="02020603050405020304" pitchFamily="18" charset="0"/>
                <a:sym typeface="Asap"/>
              </a:rPr>
              <a:t>Hash OTP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khi</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lưu</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hoặc</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chỉ</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lưu</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OTP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đã</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hash + expiration.</a:t>
            </a:r>
          </a:p>
          <a:p>
            <a:pPr marL="496571" lvl="1" indent="-248285" algn="l">
              <a:lnSpc>
                <a:spcPts val="3220"/>
              </a:lnSpc>
              <a:spcBef>
                <a:spcPct val="0"/>
              </a:spcBef>
              <a:buFont typeface="Arial"/>
              <a:buChar char="•"/>
            </a:pPr>
            <a:r>
              <a:rPr lang="en-US" sz="2200" dirty="0">
                <a:solidFill>
                  <a:srgbClr val="000000"/>
                </a:solidFill>
                <a:latin typeface="Times New Roman" panose="02020603050405020304" pitchFamily="18" charset="0"/>
                <a:ea typeface="Asap"/>
                <a:cs typeface="Times New Roman" panose="02020603050405020304" pitchFamily="18" charset="0"/>
                <a:sym typeface="Asap"/>
              </a:rPr>
              <a:t>Backup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dữ</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liệu</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mã</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hóa</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&amp;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kiểm</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thử</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an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ninh</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định</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a:t>
            </a:r>
            <a:r>
              <a:rPr lang="en-US" sz="2200" dirty="0" err="1">
                <a:solidFill>
                  <a:srgbClr val="000000"/>
                </a:solidFill>
                <a:latin typeface="Times New Roman" panose="02020603050405020304" pitchFamily="18" charset="0"/>
                <a:ea typeface="Asap"/>
                <a:cs typeface="Times New Roman" panose="02020603050405020304" pitchFamily="18" charset="0"/>
                <a:sym typeface="Asap"/>
              </a:rPr>
              <a:t>kỳ</a:t>
            </a:r>
            <a:r>
              <a:rPr lang="en-US" sz="2200" dirty="0">
                <a:solidFill>
                  <a:srgbClr val="000000"/>
                </a:solidFill>
                <a:latin typeface="Times New Roman" panose="02020603050405020304" pitchFamily="18" charset="0"/>
                <a:ea typeface="Asap"/>
                <a:cs typeface="Times New Roman" panose="02020603050405020304" pitchFamily="18" charset="0"/>
                <a:sym typeface="Asap"/>
              </a:rPr>
              <a:t> (OWASP).</a:t>
            </a:r>
          </a:p>
          <a:p>
            <a:pPr algn="l">
              <a:lnSpc>
                <a:spcPts val="3220"/>
              </a:lnSpc>
              <a:spcBef>
                <a:spcPct val="0"/>
              </a:spcBef>
            </a:pPr>
            <a:endParaRPr lang="en-US" sz="2200" dirty="0">
              <a:solidFill>
                <a:srgbClr val="000000"/>
              </a:solidFill>
              <a:latin typeface="Times New Roman" panose="02020603050405020304" pitchFamily="18" charset="0"/>
              <a:ea typeface="Asap"/>
              <a:cs typeface="Times New Roman" panose="02020603050405020304" pitchFamily="18" charset="0"/>
              <a:sym typeface="As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242222" y="3435504"/>
            <a:ext cx="399801" cy="406246"/>
          </a:xfrm>
          <a:prstGeom prst="rect">
            <a:avLst/>
          </a:prstGeom>
        </p:spPr>
        <p:txBody>
          <a:bodyPr lIns="0" tIns="0" rIns="0" bIns="0" rtlCol="0" anchor="t">
            <a:spAutoFit/>
          </a:bodyPr>
          <a:lstStyle/>
          <a:p>
            <a:pPr algn="ctr">
              <a:lnSpc>
                <a:spcPts val="3240"/>
              </a:lnSpc>
              <a:spcBef>
                <a:spcPct val="0"/>
              </a:spcBef>
            </a:pPr>
            <a:r>
              <a:rPr lang="en-US" sz="2314" b="1" spc="-46">
                <a:solidFill>
                  <a:srgbClr val="FFFFFF"/>
                </a:solidFill>
                <a:latin typeface="Asap Medium"/>
                <a:ea typeface="Asap Medium"/>
                <a:cs typeface="Asap Medium"/>
                <a:sym typeface="Asap Medium"/>
              </a:rPr>
              <a:t>04</a:t>
            </a:r>
          </a:p>
        </p:txBody>
      </p:sp>
      <p:sp>
        <p:nvSpPr>
          <p:cNvPr id="3" name="AutoShape 3"/>
          <p:cNvSpPr/>
          <p:nvPr/>
        </p:nvSpPr>
        <p:spPr>
          <a:xfrm>
            <a:off x="-179299" y="9979101"/>
            <a:ext cx="18646597" cy="498399"/>
          </a:xfrm>
          <a:prstGeom prst="rect">
            <a:avLst/>
          </a:prstGeom>
          <a:solidFill>
            <a:srgbClr val="1836B2"/>
          </a:solidFill>
        </p:spPr>
        <p:txBody>
          <a:bodyPr/>
          <a:lstStyle/>
          <a:p>
            <a:endParaRPr lang="en-US"/>
          </a:p>
        </p:txBody>
      </p:sp>
      <p:sp>
        <p:nvSpPr>
          <p:cNvPr id="4" name="TextBox 4"/>
          <p:cNvSpPr txBox="1"/>
          <p:nvPr/>
        </p:nvSpPr>
        <p:spPr>
          <a:xfrm>
            <a:off x="1881818" y="1066800"/>
            <a:ext cx="14524365" cy="803595"/>
          </a:xfrm>
          <a:prstGeom prst="rect">
            <a:avLst/>
          </a:prstGeom>
        </p:spPr>
        <p:txBody>
          <a:bodyPr lIns="0" tIns="0" rIns="0" bIns="0" rtlCol="0" anchor="t">
            <a:spAutoFit/>
          </a:bodyPr>
          <a:lstStyle/>
          <a:p>
            <a:pPr marL="0" lvl="0" indent="0" algn="ctr">
              <a:lnSpc>
                <a:spcPts val="6077"/>
              </a:lnSpc>
              <a:spcBef>
                <a:spcPct val="0"/>
              </a:spcBef>
            </a:pPr>
            <a:r>
              <a:rPr lang="en-US" sz="5525" b="1">
                <a:solidFill>
                  <a:srgbClr val="1836B2"/>
                </a:solidFill>
                <a:latin typeface="Asap Semi-Bold"/>
                <a:ea typeface="Asap Semi-Bold"/>
                <a:cs typeface="Asap Semi-Bold"/>
                <a:sym typeface="Asap Semi-Bold"/>
              </a:rPr>
              <a:t>Cơ sở lý thuyết: Mã hóa (Encryption)</a:t>
            </a:r>
          </a:p>
        </p:txBody>
      </p:sp>
      <p:sp>
        <p:nvSpPr>
          <p:cNvPr id="5" name="TextBox 5"/>
          <p:cNvSpPr txBox="1"/>
          <p:nvPr/>
        </p:nvSpPr>
        <p:spPr>
          <a:xfrm>
            <a:off x="603676" y="3104071"/>
            <a:ext cx="16223624" cy="6313805"/>
          </a:xfrm>
          <a:prstGeom prst="rect">
            <a:avLst/>
          </a:prstGeom>
        </p:spPr>
        <p:txBody>
          <a:bodyPr lIns="0" tIns="0" rIns="0" bIns="0" rtlCol="0" anchor="t">
            <a:spAutoFit/>
          </a:bodyPr>
          <a:lstStyle/>
          <a:p>
            <a:pPr algn="l">
              <a:lnSpc>
                <a:spcPts val="3220"/>
              </a:lnSpc>
            </a:pPr>
            <a:r>
              <a:rPr lang="en-US" sz="2300" b="1">
                <a:solidFill>
                  <a:srgbClr val="000000"/>
                </a:solidFill>
                <a:latin typeface="Asap Bold"/>
                <a:ea typeface="Asap Bold"/>
                <a:cs typeface="Asap Bold"/>
                <a:sym typeface="Asap Bold"/>
              </a:rPr>
              <a:t>1 Khái niệm:</a:t>
            </a:r>
          </a:p>
          <a:p>
            <a:pPr algn="l">
              <a:lnSpc>
                <a:spcPts val="3054"/>
              </a:lnSpc>
            </a:pPr>
            <a:endParaRPr lang="en-US" sz="2300" b="1">
              <a:solidFill>
                <a:srgbClr val="000000"/>
              </a:solidFill>
              <a:latin typeface="Asap Bold"/>
              <a:ea typeface="Asap Bold"/>
              <a:cs typeface="Asap Bold"/>
              <a:sym typeface="Asap Bold"/>
            </a:endParaRPr>
          </a:p>
          <a:p>
            <a:pPr marL="471122" lvl="1" indent="-235561" algn="l">
              <a:lnSpc>
                <a:spcPts val="3054"/>
              </a:lnSpc>
              <a:buFont typeface="Arial"/>
              <a:buChar char="•"/>
            </a:pPr>
            <a:r>
              <a:rPr lang="en-US" sz="2182">
                <a:solidFill>
                  <a:srgbClr val="000000"/>
                </a:solidFill>
                <a:latin typeface="Asap"/>
                <a:ea typeface="Asap"/>
                <a:cs typeface="Asap"/>
                <a:sym typeface="Asap"/>
              </a:rPr>
              <a:t>Mã hóa là quá trình chuyển đổi dữ liệu từ dạng dễ đọc (plaintext) sang dạng không thể đọc được (ciphertext) bằng một thuật toán và khóa.</a:t>
            </a:r>
          </a:p>
          <a:p>
            <a:pPr marL="471122" lvl="1" indent="-235561" algn="l">
              <a:lnSpc>
                <a:spcPts val="3054"/>
              </a:lnSpc>
              <a:buFont typeface="Arial"/>
              <a:buChar char="•"/>
            </a:pPr>
            <a:r>
              <a:rPr lang="en-US" sz="2182">
                <a:solidFill>
                  <a:srgbClr val="000000"/>
                </a:solidFill>
                <a:latin typeface="Asap"/>
                <a:ea typeface="Asap"/>
                <a:cs typeface="Asap"/>
                <a:sym typeface="Asap"/>
              </a:rPr>
              <a:t>Giải mã (Decryption) là quá trình ngược lại, chuyển ciphertext về plaintext bằng khóa.</a:t>
            </a:r>
          </a:p>
          <a:p>
            <a:pPr algn="l">
              <a:lnSpc>
                <a:spcPts val="3054"/>
              </a:lnSpc>
            </a:pPr>
            <a:r>
              <a:rPr lang="en-US" sz="2182" b="1">
                <a:solidFill>
                  <a:srgbClr val="000000"/>
                </a:solidFill>
                <a:latin typeface="Asap Bold"/>
                <a:ea typeface="Asap Bold"/>
                <a:cs typeface="Asap Bold"/>
                <a:sym typeface="Asap Bold"/>
              </a:rPr>
              <a:t>Mục tiêu</a:t>
            </a:r>
            <a:r>
              <a:rPr lang="en-US" sz="2182">
                <a:solidFill>
                  <a:srgbClr val="000000"/>
                </a:solidFill>
                <a:latin typeface="Asap"/>
                <a:ea typeface="Asap"/>
                <a:cs typeface="Asap"/>
                <a:sym typeface="Asap"/>
              </a:rPr>
              <a:t>:  đảm bảo tính bảo mật (confidentiality), toàn vẹn (integrity) và xác thực (authenticit</a:t>
            </a:r>
          </a:p>
          <a:p>
            <a:pPr algn="l">
              <a:lnSpc>
                <a:spcPts val="3054"/>
              </a:lnSpc>
            </a:pPr>
            <a:endParaRPr lang="en-US" sz="2182">
              <a:solidFill>
                <a:srgbClr val="000000"/>
              </a:solidFill>
              <a:latin typeface="Asap"/>
              <a:ea typeface="Asap"/>
              <a:cs typeface="Asap"/>
              <a:sym typeface="Asap"/>
            </a:endParaRPr>
          </a:p>
          <a:p>
            <a:pPr algn="l">
              <a:lnSpc>
                <a:spcPts val="3220"/>
              </a:lnSpc>
            </a:pPr>
            <a:r>
              <a:rPr lang="en-US" sz="2300" b="1">
                <a:solidFill>
                  <a:srgbClr val="000000"/>
                </a:solidFill>
                <a:latin typeface="Asap Bold"/>
                <a:ea typeface="Asap Bold"/>
                <a:cs typeface="Asap Bold"/>
                <a:sym typeface="Asap Bold"/>
              </a:rPr>
              <a:t>2. Các loại mã hóa</a:t>
            </a:r>
          </a:p>
          <a:p>
            <a:pPr algn="l">
              <a:lnSpc>
                <a:spcPts val="3054"/>
              </a:lnSpc>
            </a:pPr>
            <a:endParaRPr lang="en-US" sz="2300" b="1">
              <a:solidFill>
                <a:srgbClr val="000000"/>
              </a:solidFill>
              <a:latin typeface="Asap Bold"/>
              <a:ea typeface="Asap Bold"/>
              <a:cs typeface="Asap Bold"/>
              <a:sym typeface="Asap Bold"/>
            </a:endParaRPr>
          </a:p>
          <a:p>
            <a:pPr marL="471122" lvl="1" indent="-235561" algn="l">
              <a:lnSpc>
                <a:spcPts val="3054"/>
              </a:lnSpc>
              <a:buFont typeface="Arial"/>
              <a:buChar char="•"/>
            </a:pPr>
            <a:r>
              <a:rPr lang="en-US" sz="2182">
                <a:solidFill>
                  <a:srgbClr val="000000"/>
                </a:solidFill>
                <a:latin typeface="Asap"/>
                <a:ea typeface="Asap"/>
                <a:cs typeface="Asap"/>
                <a:sym typeface="Asap"/>
              </a:rPr>
              <a:t>Mã hóa đối xứng: AES, DES, - tốc độ nhanh, nhưng khó khăn trong việc phân phối và bảo mật khóa</a:t>
            </a:r>
          </a:p>
          <a:p>
            <a:pPr marL="471122" lvl="1" indent="-235561" algn="l">
              <a:lnSpc>
                <a:spcPts val="3054"/>
              </a:lnSpc>
              <a:spcBef>
                <a:spcPct val="0"/>
              </a:spcBef>
              <a:buFont typeface="Arial"/>
              <a:buChar char="•"/>
            </a:pPr>
            <a:r>
              <a:rPr lang="en-US" sz="2182">
                <a:solidFill>
                  <a:srgbClr val="000000"/>
                </a:solidFill>
                <a:latin typeface="Asap"/>
                <a:ea typeface="Asap"/>
                <a:cs typeface="Asap"/>
                <a:sym typeface="Asap"/>
              </a:rPr>
              <a:t>Mã hóa bất đối xứng: RSA/ECC — phân phối khóa dễ, chậm hơn.</a:t>
            </a:r>
          </a:p>
          <a:p>
            <a:pPr marL="471122" lvl="1" indent="-235561" algn="l">
              <a:lnSpc>
                <a:spcPts val="3054"/>
              </a:lnSpc>
              <a:spcBef>
                <a:spcPct val="0"/>
              </a:spcBef>
              <a:buFont typeface="Arial"/>
              <a:buChar char="•"/>
            </a:pPr>
            <a:r>
              <a:rPr lang="en-US" sz="2182">
                <a:solidFill>
                  <a:srgbClr val="000000"/>
                </a:solidFill>
                <a:latin typeface="Asap"/>
                <a:ea typeface="Asap"/>
                <a:cs typeface="Asap"/>
                <a:sym typeface="Asap"/>
              </a:rPr>
              <a:t>Hàm băm (one-way): MD5/SHA, nhưng ưu tiên bcrypt/Argon2 cho password.</a:t>
            </a:r>
          </a:p>
          <a:p>
            <a:pPr marL="471122" lvl="1" indent="-235561" algn="l">
              <a:lnSpc>
                <a:spcPts val="3054"/>
              </a:lnSpc>
              <a:spcBef>
                <a:spcPct val="0"/>
              </a:spcBef>
              <a:buFont typeface="Arial"/>
              <a:buChar char="•"/>
            </a:pPr>
            <a:r>
              <a:rPr lang="en-US" sz="2182">
                <a:solidFill>
                  <a:srgbClr val="000000"/>
                </a:solidFill>
                <a:latin typeface="Asap"/>
                <a:ea typeface="Asap"/>
                <a:cs typeface="Asap"/>
                <a:sym typeface="Asap"/>
              </a:rPr>
              <a:t>Salting: thêm chuỗi ngẫu nhiên vào mật khẩu trước khi băm → chống rainbow table.</a:t>
            </a:r>
          </a:p>
          <a:p>
            <a:pPr algn="ctr">
              <a:lnSpc>
                <a:spcPts val="4135"/>
              </a:lnSpc>
              <a:spcBef>
                <a:spcPct val="0"/>
              </a:spcBef>
            </a:pPr>
            <a:endParaRPr lang="en-US" sz="2182">
              <a:solidFill>
                <a:srgbClr val="000000"/>
              </a:solidFill>
              <a:latin typeface="Asap"/>
              <a:ea typeface="Asap"/>
              <a:cs typeface="Asap"/>
              <a:sym typeface="Asap"/>
            </a:endParaRPr>
          </a:p>
          <a:p>
            <a:pPr algn="l">
              <a:lnSpc>
                <a:spcPts val="3220"/>
              </a:lnSpc>
              <a:spcBef>
                <a:spcPct val="0"/>
              </a:spcBef>
            </a:pPr>
            <a:r>
              <a:rPr lang="en-US" sz="2300" b="1">
                <a:solidFill>
                  <a:srgbClr val="000000"/>
                </a:solidFill>
                <a:latin typeface="Asap Bold"/>
                <a:ea typeface="Asap Bold"/>
                <a:cs typeface="Asap Bold"/>
                <a:sym typeface="Asap Bold"/>
              </a:rPr>
              <a:t>Khác biệt</a:t>
            </a:r>
            <a:r>
              <a:rPr lang="en-US" sz="2300">
                <a:solidFill>
                  <a:srgbClr val="000000"/>
                </a:solidFill>
                <a:latin typeface="Asap"/>
                <a:ea typeface="Asap"/>
                <a:cs typeface="Asap"/>
                <a:sym typeface="Asap"/>
              </a:rPr>
              <a:t> : mã hóa có thể giải mã (với khóa), hashing thì một chiều. Với mật khẩu ta dùng    hashing + salt (bcrypt/Argon2) vì an toàn hơn. JWT được ký (signature) để đảm bảo không bị giả mạo.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19541" y="3577819"/>
            <a:ext cx="11925258" cy="3784547"/>
          </a:xfrm>
          <a:prstGeom prst="rect">
            <a:avLst/>
          </a:prstGeom>
        </p:spPr>
        <p:txBody>
          <a:bodyPr lIns="0" tIns="0" rIns="0" bIns="0" rtlCol="0" anchor="t">
            <a:spAutoFit/>
          </a:bodyPr>
          <a:lstStyle/>
          <a:p>
            <a:pPr algn="ctr">
              <a:lnSpc>
                <a:spcPts val="3164"/>
              </a:lnSpc>
              <a:spcBef>
                <a:spcPct val="0"/>
              </a:spcBef>
            </a:pPr>
            <a:endParaRPr/>
          </a:p>
          <a:p>
            <a:pPr marL="594111" lvl="1" indent="-297056" algn="l">
              <a:lnSpc>
                <a:spcPts val="3852"/>
              </a:lnSpc>
              <a:spcBef>
                <a:spcPct val="0"/>
              </a:spcBef>
              <a:buFont typeface="Arial"/>
              <a:buChar char="•"/>
            </a:pPr>
            <a:r>
              <a:rPr lang="en-US" sz="2751">
                <a:solidFill>
                  <a:srgbClr val="000000"/>
                </a:solidFill>
                <a:latin typeface="Asap"/>
                <a:ea typeface="Asap"/>
                <a:cs typeface="Asap"/>
                <a:sym typeface="Asap"/>
              </a:rPr>
              <a:t>Mật khẩu của người dùng không bao giờ được lưu dưới dạng plaintex</a:t>
            </a:r>
          </a:p>
          <a:p>
            <a:pPr algn="l">
              <a:lnSpc>
                <a:spcPts val="3852"/>
              </a:lnSpc>
              <a:spcBef>
                <a:spcPct val="0"/>
              </a:spcBef>
            </a:pPr>
            <a:endParaRPr lang="en-US" sz="2751">
              <a:solidFill>
                <a:srgbClr val="000000"/>
              </a:solidFill>
              <a:latin typeface="Asap"/>
              <a:ea typeface="Asap"/>
              <a:cs typeface="Asap"/>
              <a:sym typeface="Asap"/>
            </a:endParaRPr>
          </a:p>
          <a:p>
            <a:pPr marL="594111" lvl="1" indent="-297056" algn="l">
              <a:lnSpc>
                <a:spcPts val="3852"/>
              </a:lnSpc>
              <a:spcBef>
                <a:spcPct val="0"/>
              </a:spcBef>
              <a:buFont typeface="Arial"/>
              <a:buChar char="•"/>
            </a:pPr>
            <a:r>
              <a:rPr lang="en-US" sz="2751">
                <a:solidFill>
                  <a:srgbClr val="000000"/>
                </a:solidFill>
                <a:latin typeface="Asap"/>
                <a:ea typeface="Asap"/>
                <a:cs typeface="Asap"/>
                <a:sym typeface="Asap"/>
              </a:rPr>
              <a:t>Khi đăng ký: mật khẩu → băm + salt → lưu vào DB.</a:t>
            </a:r>
          </a:p>
          <a:p>
            <a:pPr algn="l">
              <a:lnSpc>
                <a:spcPts val="3852"/>
              </a:lnSpc>
              <a:spcBef>
                <a:spcPct val="0"/>
              </a:spcBef>
            </a:pPr>
            <a:endParaRPr lang="en-US" sz="2751">
              <a:solidFill>
                <a:srgbClr val="000000"/>
              </a:solidFill>
              <a:latin typeface="Asap"/>
              <a:ea typeface="Asap"/>
              <a:cs typeface="Asap"/>
              <a:sym typeface="Asap"/>
            </a:endParaRPr>
          </a:p>
          <a:p>
            <a:pPr marL="594111" lvl="1" indent="-297056" algn="l">
              <a:lnSpc>
                <a:spcPts val="3852"/>
              </a:lnSpc>
              <a:spcBef>
                <a:spcPct val="0"/>
              </a:spcBef>
              <a:buFont typeface="Arial"/>
              <a:buChar char="•"/>
            </a:pPr>
            <a:r>
              <a:rPr lang="en-US" sz="2751">
                <a:solidFill>
                  <a:srgbClr val="000000"/>
                </a:solidFill>
                <a:latin typeface="Asap"/>
                <a:ea typeface="Asap"/>
                <a:cs typeface="Asap"/>
                <a:sym typeface="Asap"/>
              </a:rPr>
              <a:t>Khi đăng nhập: mật khẩu nhập vào → băm + salt → so sánh với DB.</a:t>
            </a:r>
          </a:p>
          <a:p>
            <a:pPr algn="l">
              <a:lnSpc>
                <a:spcPts val="3852"/>
              </a:lnSpc>
              <a:spcBef>
                <a:spcPct val="0"/>
              </a:spcBef>
            </a:pPr>
            <a:endParaRPr lang="en-US" sz="2751">
              <a:solidFill>
                <a:srgbClr val="000000"/>
              </a:solidFill>
              <a:latin typeface="Asap"/>
              <a:ea typeface="Asap"/>
              <a:cs typeface="Asap"/>
              <a:sym typeface="Asap"/>
            </a:endParaRPr>
          </a:p>
          <a:p>
            <a:pPr marL="594111" lvl="1" indent="-297056" algn="l">
              <a:lnSpc>
                <a:spcPts val="3852"/>
              </a:lnSpc>
              <a:spcBef>
                <a:spcPct val="0"/>
              </a:spcBef>
              <a:buFont typeface="Arial"/>
              <a:buChar char="•"/>
            </a:pPr>
            <a:r>
              <a:rPr lang="en-US" sz="2751">
                <a:solidFill>
                  <a:srgbClr val="000000"/>
                </a:solidFill>
                <a:latin typeface="Asap"/>
                <a:ea typeface="Asap"/>
                <a:cs typeface="Asap"/>
                <a:sym typeface="Asap"/>
              </a:rPr>
              <a:t>Token JWT được ký bằng khóa bí mật để đảm bảo không bị giả mạo.</a:t>
            </a:r>
          </a:p>
        </p:txBody>
      </p:sp>
      <p:sp>
        <p:nvSpPr>
          <p:cNvPr id="3" name="TextBox 3"/>
          <p:cNvSpPr txBox="1"/>
          <p:nvPr/>
        </p:nvSpPr>
        <p:spPr>
          <a:xfrm>
            <a:off x="2490510" y="445580"/>
            <a:ext cx="11701842" cy="1607186"/>
          </a:xfrm>
          <a:prstGeom prst="rect">
            <a:avLst/>
          </a:prstGeom>
        </p:spPr>
        <p:txBody>
          <a:bodyPr lIns="0" tIns="0" rIns="0" bIns="0" rtlCol="0" anchor="t">
            <a:spAutoFit/>
          </a:bodyPr>
          <a:lstStyle/>
          <a:p>
            <a:pPr algn="ctr">
              <a:lnSpc>
                <a:spcPts val="6439"/>
              </a:lnSpc>
            </a:pPr>
            <a:endParaRPr/>
          </a:p>
          <a:p>
            <a:pPr algn="ctr">
              <a:lnSpc>
                <a:spcPts val="6439"/>
              </a:lnSpc>
              <a:spcBef>
                <a:spcPct val="0"/>
              </a:spcBef>
            </a:pPr>
            <a:r>
              <a:rPr lang="en-US" sz="4599" b="1">
                <a:solidFill>
                  <a:srgbClr val="1836B2"/>
                </a:solidFill>
                <a:latin typeface="Asap Bold"/>
                <a:ea typeface="Asap Bold"/>
                <a:cs typeface="Asap Bold"/>
                <a:sym typeface="Asap Bold"/>
              </a:rPr>
              <a:t>ỨNG DỤNG CỦA MÃ HÓA TRONG XÁC THỰC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55638" y="2101554"/>
            <a:ext cx="5429997" cy="7623716"/>
          </a:xfrm>
          <a:custGeom>
            <a:avLst/>
            <a:gdLst/>
            <a:ahLst/>
            <a:cxnLst/>
            <a:rect l="l" t="t" r="r" b="b"/>
            <a:pathLst>
              <a:path w="5429997" h="7623716">
                <a:moveTo>
                  <a:pt x="0" y="0"/>
                </a:moveTo>
                <a:lnTo>
                  <a:pt x="5429997" y="0"/>
                </a:lnTo>
                <a:lnTo>
                  <a:pt x="5429997" y="7623716"/>
                </a:lnTo>
                <a:lnTo>
                  <a:pt x="0" y="7623716"/>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056246" y="640477"/>
            <a:ext cx="12253632" cy="2139016"/>
            <a:chOff x="0" y="0"/>
            <a:chExt cx="16338176" cy="2852022"/>
          </a:xfrm>
        </p:grpSpPr>
        <p:sp>
          <p:nvSpPr>
            <p:cNvPr id="4" name="TextBox 4"/>
            <p:cNvSpPr txBox="1"/>
            <p:nvPr/>
          </p:nvSpPr>
          <p:spPr>
            <a:xfrm>
              <a:off x="0" y="47625"/>
              <a:ext cx="16338176" cy="2234555"/>
            </a:xfrm>
            <a:prstGeom prst="rect">
              <a:avLst/>
            </a:prstGeom>
          </p:spPr>
          <p:txBody>
            <a:bodyPr lIns="0" tIns="0" rIns="0" bIns="0" rtlCol="0" anchor="t">
              <a:spAutoFit/>
            </a:bodyPr>
            <a:lstStyle/>
            <a:p>
              <a:pPr marL="0" lvl="0" indent="0" algn="l">
                <a:lnSpc>
                  <a:spcPts val="6458"/>
                </a:lnSpc>
                <a:spcBef>
                  <a:spcPct val="0"/>
                </a:spcBef>
              </a:pPr>
              <a:r>
                <a:rPr lang="en-US" sz="5871" b="1">
                  <a:solidFill>
                    <a:srgbClr val="1836B2"/>
                  </a:solidFill>
                  <a:latin typeface="Asap Semi-Bold"/>
                  <a:ea typeface="Asap Semi-Bold"/>
                  <a:cs typeface="Asap Semi-Bold"/>
                  <a:sym typeface="Asap Semi-Bold"/>
                </a:rPr>
                <a:t>Kiến trúc hệ</a:t>
              </a:r>
              <a:r>
                <a:rPr lang="en-US" sz="5871" b="1" u="none">
                  <a:solidFill>
                    <a:srgbClr val="1836B2"/>
                  </a:solidFill>
                  <a:latin typeface="Asap Semi-Bold"/>
                  <a:ea typeface="Asap Semi-Bold"/>
                  <a:cs typeface="Asap Semi-Bold"/>
                  <a:sym typeface="Asap Semi-Bold"/>
                </a:rPr>
                <a:t> thống (Frontend/Backend/DB)</a:t>
              </a:r>
            </a:p>
          </p:txBody>
        </p:sp>
        <p:sp>
          <p:nvSpPr>
            <p:cNvPr id="5" name="TextBox 5"/>
            <p:cNvSpPr txBox="1"/>
            <p:nvPr/>
          </p:nvSpPr>
          <p:spPr>
            <a:xfrm>
              <a:off x="0" y="2380164"/>
              <a:ext cx="12452521" cy="480181"/>
            </a:xfrm>
            <a:prstGeom prst="rect">
              <a:avLst/>
            </a:prstGeom>
          </p:spPr>
          <p:txBody>
            <a:bodyPr lIns="0" tIns="0" rIns="0" bIns="0" rtlCol="0" anchor="t">
              <a:spAutoFit/>
            </a:bodyPr>
            <a:lstStyle/>
            <a:p>
              <a:pPr marL="0" lvl="0" indent="0" algn="l">
                <a:lnSpc>
                  <a:spcPts val="2889"/>
                </a:lnSpc>
                <a:spcBef>
                  <a:spcPct val="0"/>
                </a:spcBef>
              </a:pPr>
              <a:r>
                <a:rPr lang="en-US" sz="2222" b="1" spc="-44">
                  <a:solidFill>
                    <a:srgbClr val="000000"/>
                  </a:solidFill>
                  <a:latin typeface="Asap Medium"/>
                  <a:ea typeface="Asap Medium"/>
                  <a:cs typeface="Asap Medium"/>
                  <a:sym typeface="Asap Medium"/>
                </a:rPr>
                <a:t>Cấu trúc chương trình — Client-Server</a:t>
              </a:r>
            </a:p>
          </p:txBody>
        </p:sp>
      </p:grpSp>
      <p:sp>
        <p:nvSpPr>
          <p:cNvPr id="6" name="TextBox 6"/>
          <p:cNvSpPr txBox="1"/>
          <p:nvPr/>
        </p:nvSpPr>
        <p:spPr>
          <a:xfrm>
            <a:off x="354178" y="3190920"/>
            <a:ext cx="3938349" cy="497840"/>
          </a:xfrm>
          <a:prstGeom prst="rect">
            <a:avLst/>
          </a:prstGeom>
        </p:spPr>
        <p:txBody>
          <a:bodyPr lIns="0" tIns="0" rIns="0" bIns="0" rtlCol="0" anchor="t">
            <a:spAutoFit/>
          </a:bodyPr>
          <a:lstStyle/>
          <a:p>
            <a:pPr algn="ctr">
              <a:lnSpc>
                <a:spcPts val="4059"/>
              </a:lnSpc>
              <a:spcBef>
                <a:spcPct val="0"/>
              </a:spcBef>
            </a:pPr>
            <a:r>
              <a:rPr lang="en-US" sz="2899" b="1">
                <a:solidFill>
                  <a:srgbClr val="000000"/>
                </a:solidFill>
                <a:latin typeface="Asap Bold"/>
                <a:ea typeface="Asap Bold"/>
                <a:cs typeface="Asap Bold"/>
                <a:sym typeface="Asap Bold"/>
              </a:rPr>
              <a:t>Frontend (React Native):</a:t>
            </a:r>
          </a:p>
        </p:txBody>
      </p:sp>
      <p:sp>
        <p:nvSpPr>
          <p:cNvPr id="7" name="TextBox 7"/>
          <p:cNvSpPr txBox="1"/>
          <p:nvPr/>
        </p:nvSpPr>
        <p:spPr>
          <a:xfrm>
            <a:off x="234772" y="4107860"/>
            <a:ext cx="9143379" cy="6390872"/>
          </a:xfrm>
          <a:prstGeom prst="rect">
            <a:avLst/>
          </a:prstGeom>
        </p:spPr>
        <p:txBody>
          <a:bodyPr lIns="0" tIns="0" rIns="0" bIns="0" rtlCol="0" anchor="t">
            <a:spAutoFit/>
          </a:bodyPr>
          <a:lstStyle/>
          <a:p>
            <a:pPr marL="489205" lvl="1" indent="-244602" algn="just">
              <a:lnSpc>
                <a:spcPts val="3172"/>
              </a:lnSpc>
              <a:spcBef>
                <a:spcPct val="0"/>
              </a:spcBef>
              <a:buFont typeface="Arial"/>
              <a:buChar char="•"/>
            </a:pPr>
            <a:r>
              <a:rPr lang="en-US" sz="2265">
                <a:solidFill>
                  <a:srgbClr val="000000"/>
                </a:solidFill>
                <a:latin typeface="Asap"/>
                <a:ea typeface="Asap"/>
                <a:cs typeface="Asap"/>
                <a:sym typeface="Asap"/>
              </a:rPr>
              <a:t>Giao diện &amp; Điềuhướng:</a:t>
            </a:r>
          </a:p>
          <a:p>
            <a:pPr algn="just">
              <a:lnSpc>
                <a:spcPts val="3172"/>
              </a:lnSpc>
              <a:spcBef>
                <a:spcPct val="0"/>
              </a:spcBef>
            </a:pPr>
            <a:r>
              <a:rPr lang="en-US" sz="2265">
                <a:solidFill>
                  <a:srgbClr val="000000"/>
                </a:solidFill>
                <a:latin typeface="Asap"/>
                <a:ea typeface="Asap"/>
                <a:cs typeface="Asap"/>
                <a:sym typeface="Asap"/>
              </a:rPr>
              <a:t>Responsive: Register, Login, ForgotPassword, Profile/HomeScreen.</a:t>
            </a:r>
          </a:p>
          <a:p>
            <a:pPr algn="just">
              <a:lnSpc>
                <a:spcPts val="3172"/>
              </a:lnSpc>
              <a:spcBef>
                <a:spcPct val="0"/>
              </a:spcBef>
            </a:pPr>
            <a:r>
              <a:rPr lang="en-US" sz="2265">
                <a:solidFill>
                  <a:srgbClr val="000000"/>
                </a:solidFill>
                <a:latin typeface="Asap"/>
                <a:ea typeface="Asap"/>
                <a:cs typeface="Asap"/>
                <a:sym typeface="Asap"/>
              </a:rPr>
              <a:t>Register: Form username, email, phone, password, confirm.</a:t>
            </a:r>
          </a:p>
          <a:p>
            <a:pPr algn="just">
              <a:lnSpc>
                <a:spcPts val="3172"/>
              </a:lnSpc>
              <a:spcBef>
                <a:spcPct val="0"/>
              </a:spcBef>
            </a:pPr>
            <a:r>
              <a:rPr lang="en-US" sz="2265">
                <a:solidFill>
                  <a:srgbClr val="000000"/>
                </a:solidFill>
                <a:latin typeface="Asap"/>
                <a:ea typeface="Asap"/>
                <a:cs typeface="Asap"/>
                <a:sym typeface="Asap"/>
              </a:rPr>
              <a:t>Login: Username/email/phone + password, "Quên mật khẩu?" (OTP flow).</a:t>
            </a:r>
          </a:p>
          <a:p>
            <a:pPr algn="just">
              <a:lnSpc>
                <a:spcPts val="3172"/>
              </a:lnSpc>
              <a:spcBef>
                <a:spcPct val="0"/>
              </a:spcBef>
            </a:pPr>
            <a:r>
              <a:rPr lang="en-US" sz="2265">
                <a:solidFill>
                  <a:srgbClr val="000000"/>
                </a:solidFill>
                <a:latin typeface="Asap"/>
                <a:ea typeface="Asap"/>
                <a:cs typeface="Asap"/>
                <a:sym typeface="Asap"/>
              </a:rPr>
              <a:t>ForgotPassword: Email → OTP → New password.</a:t>
            </a:r>
          </a:p>
          <a:p>
            <a:pPr algn="just">
              <a:lnSpc>
                <a:spcPts val="3172"/>
              </a:lnSpc>
              <a:spcBef>
                <a:spcPct val="0"/>
              </a:spcBef>
            </a:pPr>
            <a:r>
              <a:rPr lang="en-US" sz="2265">
                <a:solidFill>
                  <a:srgbClr val="000000"/>
                </a:solidFill>
                <a:latin typeface="Asap"/>
                <a:ea typeface="Asap"/>
                <a:cs typeface="Asap"/>
                <a:sym typeface="Asap"/>
              </a:rPr>
              <a:t>Profile/Home: Avatar, info, đổi avatar/password (OTP).</a:t>
            </a:r>
          </a:p>
          <a:p>
            <a:pPr algn="just">
              <a:lnSpc>
                <a:spcPts val="3172"/>
              </a:lnSpc>
              <a:spcBef>
                <a:spcPct val="0"/>
              </a:spcBef>
            </a:pPr>
            <a:r>
              <a:rPr lang="en-US" sz="2265">
                <a:solidFill>
                  <a:srgbClr val="000000"/>
                </a:solidFill>
                <a:latin typeface="Asap"/>
                <a:ea typeface="Asap"/>
                <a:cs typeface="Asap"/>
                <a:sym typeface="Asap"/>
              </a:rPr>
              <a:t>Home: Dashboard bảo vệ (JWT).</a:t>
            </a:r>
          </a:p>
          <a:p>
            <a:pPr algn="just">
              <a:lnSpc>
                <a:spcPts val="3172"/>
              </a:lnSpc>
              <a:spcBef>
                <a:spcPct val="0"/>
              </a:spcBef>
            </a:pPr>
            <a:r>
              <a:rPr lang="en-US" sz="2265">
                <a:solidFill>
                  <a:srgbClr val="000000"/>
                </a:solidFill>
                <a:latin typeface="Asap"/>
                <a:ea typeface="Asap"/>
                <a:cs typeface="Asap"/>
                <a:sym typeface="Asap"/>
              </a:rPr>
              <a:t>Điều hướng: React Navigation + Context API.</a:t>
            </a:r>
          </a:p>
          <a:p>
            <a:pPr algn="just">
              <a:lnSpc>
                <a:spcPts val="3172"/>
              </a:lnSpc>
              <a:spcBef>
                <a:spcPct val="0"/>
              </a:spcBef>
            </a:pPr>
            <a:endParaRPr lang="en-US" sz="2265">
              <a:solidFill>
                <a:srgbClr val="000000"/>
              </a:solidFill>
              <a:latin typeface="Asap"/>
              <a:ea typeface="Asap"/>
              <a:cs typeface="Asap"/>
              <a:sym typeface="Asap"/>
            </a:endParaRPr>
          </a:p>
          <a:p>
            <a:pPr marL="489205" lvl="1" indent="-244602" algn="just">
              <a:lnSpc>
                <a:spcPts val="3172"/>
              </a:lnSpc>
              <a:spcBef>
                <a:spcPct val="0"/>
              </a:spcBef>
              <a:buFont typeface="Arial"/>
              <a:buChar char="•"/>
            </a:pPr>
            <a:r>
              <a:rPr lang="en-US" sz="2265">
                <a:solidFill>
                  <a:srgbClr val="000000"/>
                </a:solidFill>
                <a:latin typeface="Asap"/>
                <a:ea typeface="Asap"/>
                <a:cs typeface="Asap"/>
                <a:sym typeface="Asap"/>
              </a:rPr>
              <a:t>Bảo mậtHTTPS:</a:t>
            </a:r>
          </a:p>
          <a:p>
            <a:pPr algn="just">
              <a:lnSpc>
                <a:spcPts val="3172"/>
              </a:lnSpc>
            </a:pPr>
            <a:r>
              <a:rPr lang="en-US" sz="2265">
                <a:solidFill>
                  <a:srgbClr val="000000"/>
                </a:solidFill>
                <a:latin typeface="Asap"/>
                <a:ea typeface="Asap"/>
                <a:cs typeface="Asap"/>
                <a:sym typeface="Asap"/>
              </a:rPr>
              <a:t> Mã hóa end-to-end.</a:t>
            </a:r>
          </a:p>
          <a:p>
            <a:pPr algn="just">
              <a:lnSpc>
                <a:spcPts val="3172"/>
              </a:lnSpc>
              <a:spcBef>
                <a:spcPct val="0"/>
              </a:spcBef>
            </a:pPr>
            <a:r>
              <a:rPr lang="en-US" sz="2265">
                <a:solidFill>
                  <a:srgbClr val="000000"/>
                </a:solidFill>
                <a:latin typeface="Asap"/>
                <a:ea typeface="Asap"/>
                <a:cs typeface="Asap"/>
                <a:sym typeface="Asap"/>
              </a:rPr>
              <a:t>Password: Không lưu plain text, clear form sau gửi.</a:t>
            </a:r>
          </a:p>
          <a:p>
            <a:pPr algn="just">
              <a:lnSpc>
                <a:spcPts val="3172"/>
              </a:lnSpc>
              <a:spcBef>
                <a:spcPct val="0"/>
              </a:spcBef>
            </a:pPr>
            <a:r>
              <a:rPr lang="en-US" sz="2265">
                <a:solidFill>
                  <a:srgbClr val="000000"/>
                </a:solidFill>
                <a:latin typeface="Asap"/>
                <a:ea typeface="Asap"/>
                <a:cs typeface="Asap"/>
                <a:sym typeface="Asap"/>
              </a:rPr>
              <a:t>Validation: Kiểm tra dữ liệu (Yup).</a:t>
            </a:r>
          </a:p>
          <a:p>
            <a:pPr algn="just">
              <a:lnSpc>
                <a:spcPts val="3172"/>
              </a:lnSpc>
              <a:spcBef>
                <a:spcPct val="0"/>
              </a:spcBef>
            </a:pPr>
            <a:endParaRPr lang="en-US" sz="2265">
              <a:solidFill>
                <a:srgbClr val="000000"/>
              </a:solidFill>
              <a:latin typeface="Asap"/>
              <a:ea typeface="Asap"/>
              <a:cs typeface="Asap"/>
              <a:sym typeface="Asap"/>
            </a:endParaRPr>
          </a:p>
          <a:p>
            <a:pPr algn="just">
              <a:lnSpc>
                <a:spcPts val="3172"/>
              </a:lnSpc>
              <a:spcBef>
                <a:spcPct val="0"/>
              </a:spcBef>
            </a:pPr>
            <a:endParaRPr lang="en-US" sz="2265">
              <a:solidFill>
                <a:srgbClr val="000000"/>
              </a:solidFill>
              <a:latin typeface="Asap"/>
              <a:ea typeface="Asap"/>
              <a:cs typeface="Asap"/>
              <a:sym typeface="As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299001" y="1617288"/>
            <a:ext cx="6166862" cy="7641012"/>
          </a:xfrm>
          <a:custGeom>
            <a:avLst/>
            <a:gdLst/>
            <a:ahLst/>
            <a:cxnLst/>
            <a:rect l="l" t="t" r="r" b="b"/>
            <a:pathLst>
              <a:path w="6166862" h="7641012">
                <a:moveTo>
                  <a:pt x="0" y="0"/>
                </a:moveTo>
                <a:lnTo>
                  <a:pt x="6166862" y="0"/>
                </a:lnTo>
                <a:lnTo>
                  <a:pt x="6166862" y="7641012"/>
                </a:lnTo>
                <a:lnTo>
                  <a:pt x="0" y="7641012"/>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056246" y="640477"/>
            <a:ext cx="12253632" cy="2139016"/>
            <a:chOff x="0" y="0"/>
            <a:chExt cx="16338176" cy="2852022"/>
          </a:xfrm>
        </p:grpSpPr>
        <p:sp>
          <p:nvSpPr>
            <p:cNvPr id="4" name="TextBox 4"/>
            <p:cNvSpPr txBox="1"/>
            <p:nvPr/>
          </p:nvSpPr>
          <p:spPr>
            <a:xfrm>
              <a:off x="0" y="47625"/>
              <a:ext cx="16338176" cy="2234555"/>
            </a:xfrm>
            <a:prstGeom prst="rect">
              <a:avLst/>
            </a:prstGeom>
          </p:spPr>
          <p:txBody>
            <a:bodyPr lIns="0" tIns="0" rIns="0" bIns="0" rtlCol="0" anchor="t">
              <a:spAutoFit/>
            </a:bodyPr>
            <a:lstStyle/>
            <a:p>
              <a:pPr marL="0" lvl="0" indent="0" algn="l">
                <a:lnSpc>
                  <a:spcPts val="6458"/>
                </a:lnSpc>
                <a:spcBef>
                  <a:spcPct val="0"/>
                </a:spcBef>
              </a:pPr>
              <a:r>
                <a:rPr lang="en-US" sz="5871" b="1">
                  <a:solidFill>
                    <a:srgbClr val="1836B2"/>
                  </a:solidFill>
                  <a:latin typeface="Asap Semi-Bold"/>
                  <a:ea typeface="Asap Semi-Bold"/>
                  <a:cs typeface="Asap Semi-Bold"/>
                  <a:sym typeface="Asap Semi-Bold"/>
                </a:rPr>
                <a:t>Kiến trúc hệ</a:t>
              </a:r>
              <a:r>
                <a:rPr lang="en-US" sz="5871" b="1" u="none">
                  <a:solidFill>
                    <a:srgbClr val="1836B2"/>
                  </a:solidFill>
                  <a:latin typeface="Asap Semi-Bold"/>
                  <a:ea typeface="Asap Semi-Bold"/>
                  <a:cs typeface="Asap Semi-Bold"/>
                  <a:sym typeface="Asap Semi-Bold"/>
                </a:rPr>
                <a:t> thống (Frontend/Backend/DB)</a:t>
              </a:r>
            </a:p>
          </p:txBody>
        </p:sp>
        <p:sp>
          <p:nvSpPr>
            <p:cNvPr id="5" name="TextBox 5"/>
            <p:cNvSpPr txBox="1"/>
            <p:nvPr/>
          </p:nvSpPr>
          <p:spPr>
            <a:xfrm>
              <a:off x="0" y="2380164"/>
              <a:ext cx="12452521" cy="480181"/>
            </a:xfrm>
            <a:prstGeom prst="rect">
              <a:avLst/>
            </a:prstGeom>
          </p:spPr>
          <p:txBody>
            <a:bodyPr lIns="0" tIns="0" rIns="0" bIns="0" rtlCol="0" anchor="t">
              <a:spAutoFit/>
            </a:bodyPr>
            <a:lstStyle/>
            <a:p>
              <a:pPr marL="0" lvl="0" indent="0" algn="l">
                <a:lnSpc>
                  <a:spcPts val="2889"/>
                </a:lnSpc>
                <a:spcBef>
                  <a:spcPct val="0"/>
                </a:spcBef>
              </a:pPr>
              <a:r>
                <a:rPr lang="en-US" sz="2222" b="1" spc="-44">
                  <a:solidFill>
                    <a:srgbClr val="000000"/>
                  </a:solidFill>
                  <a:latin typeface="Asap Medium"/>
                  <a:ea typeface="Asap Medium"/>
                  <a:cs typeface="Asap Medium"/>
                  <a:sym typeface="Asap Medium"/>
                </a:rPr>
                <a:t>Cấu trúc chương trình — Client-Server</a:t>
              </a:r>
            </a:p>
          </p:txBody>
        </p:sp>
      </p:grpSp>
      <p:sp>
        <p:nvSpPr>
          <p:cNvPr id="6" name="TextBox 6"/>
          <p:cNvSpPr txBox="1"/>
          <p:nvPr/>
        </p:nvSpPr>
        <p:spPr>
          <a:xfrm>
            <a:off x="713127" y="3055030"/>
            <a:ext cx="4993149" cy="476862"/>
          </a:xfrm>
          <a:prstGeom prst="rect">
            <a:avLst/>
          </a:prstGeom>
        </p:spPr>
        <p:txBody>
          <a:bodyPr wrap="square" lIns="0" tIns="0" rIns="0" bIns="0" rtlCol="0" anchor="t">
            <a:spAutoFit/>
          </a:bodyPr>
          <a:lstStyle/>
          <a:p>
            <a:pPr algn="ctr">
              <a:lnSpc>
                <a:spcPts val="4059"/>
              </a:lnSpc>
              <a:spcBef>
                <a:spcPct val="0"/>
              </a:spcBef>
            </a:pPr>
            <a:r>
              <a:rPr lang="en-US" sz="2899" b="1" dirty="0">
                <a:solidFill>
                  <a:srgbClr val="000000"/>
                </a:solidFill>
                <a:latin typeface="Asap Bold"/>
                <a:ea typeface="Asap Bold"/>
                <a:cs typeface="Asap Bold"/>
                <a:sym typeface="Asap Bold"/>
              </a:rPr>
              <a:t>Backend (</a:t>
            </a:r>
            <a:r>
              <a:rPr lang="en-US" sz="2899" b="1" dirty="0" err="1">
                <a:solidFill>
                  <a:srgbClr val="000000"/>
                </a:solidFill>
                <a:latin typeface="Asap Bold"/>
                <a:ea typeface="Asap Bold"/>
                <a:cs typeface="Asap Bold"/>
                <a:sym typeface="Asap Bold"/>
              </a:rPr>
              <a:t>NodeJs</a:t>
            </a:r>
            <a:r>
              <a:rPr lang="en-US" sz="2899" b="1" dirty="0">
                <a:solidFill>
                  <a:srgbClr val="000000"/>
                </a:solidFill>
                <a:latin typeface="Asap Bold"/>
                <a:ea typeface="Asap Bold"/>
                <a:cs typeface="Asap Bold"/>
                <a:sym typeface="Asap Bold"/>
              </a:rPr>
              <a:t>):</a:t>
            </a:r>
          </a:p>
        </p:txBody>
      </p:sp>
      <p:sp>
        <p:nvSpPr>
          <p:cNvPr id="7" name="TextBox 7"/>
          <p:cNvSpPr txBox="1"/>
          <p:nvPr/>
        </p:nvSpPr>
        <p:spPr>
          <a:xfrm>
            <a:off x="1331377" y="3801186"/>
            <a:ext cx="7230160" cy="5771508"/>
          </a:xfrm>
          <a:prstGeom prst="rect">
            <a:avLst/>
          </a:prstGeom>
        </p:spPr>
        <p:txBody>
          <a:bodyPr lIns="0" tIns="0" rIns="0" bIns="0" rtlCol="0" anchor="t">
            <a:spAutoFit/>
          </a:bodyPr>
          <a:lstStyle/>
          <a:p>
            <a:pPr marL="324355" lvl="1" indent="-162178" algn="just">
              <a:lnSpc>
                <a:spcPts val="2103"/>
              </a:lnSpc>
              <a:spcBef>
                <a:spcPct val="0"/>
              </a:spcBef>
              <a:buFont typeface="Arial"/>
              <a:buChar char="•"/>
            </a:pPr>
            <a:r>
              <a:rPr lang="en-US" sz="1502">
                <a:solidFill>
                  <a:srgbClr val="000000"/>
                </a:solidFill>
                <a:latin typeface="Asap"/>
                <a:ea typeface="Asap"/>
                <a:cs typeface="Asap"/>
                <a:sym typeface="Asap"/>
              </a:rPr>
              <a:t>Chức năng chính:</a:t>
            </a:r>
          </a:p>
          <a:p>
            <a:pPr algn="just">
              <a:lnSpc>
                <a:spcPts val="2103"/>
              </a:lnSpc>
              <a:spcBef>
                <a:spcPct val="0"/>
              </a:spcBef>
            </a:pPr>
            <a:r>
              <a:rPr lang="en-US" sz="1502">
                <a:solidFill>
                  <a:srgbClr val="000000"/>
                </a:solidFill>
                <a:latin typeface="Asap"/>
                <a:ea typeface="Asap"/>
                <a:cs typeface="Asap"/>
                <a:sym typeface="Asap"/>
              </a:rPr>
              <a:t>Xử lý logic xác thực: So sánh mật khẩu nhập vào với mật khẩu đã mã hóa trong CSDL.</a:t>
            </a:r>
          </a:p>
          <a:p>
            <a:pPr algn="just">
              <a:lnSpc>
                <a:spcPts val="2103"/>
              </a:lnSpc>
              <a:spcBef>
                <a:spcPct val="0"/>
              </a:spcBef>
            </a:pPr>
            <a:r>
              <a:rPr lang="en-US" sz="1502">
                <a:solidFill>
                  <a:srgbClr val="000000"/>
                </a:solidFill>
                <a:latin typeface="Asap"/>
                <a:ea typeface="Asap"/>
                <a:cs typeface="Asap"/>
                <a:sym typeface="Asap"/>
              </a:rPr>
              <a:t>Quản lý JWT: Sinh và xác minh JSON Web Token để quản lý phiên làm việc.</a:t>
            </a:r>
          </a:p>
          <a:p>
            <a:pPr algn="just">
              <a:lnSpc>
                <a:spcPts val="2103"/>
              </a:lnSpc>
              <a:spcBef>
                <a:spcPct val="0"/>
              </a:spcBef>
            </a:pPr>
            <a:r>
              <a:rPr lang="en-US" sz="1502">
                <a:solidFill>
                  <a:srgbClr val="000000"/>
                </a:solidFill>
                <a:latin typeface="Asap"/>
                <a:ea typeface="Asap"/>
                <a:cs typeface="Asap"/>
                <a:sym typeface="Asap"/>
              </a:rPr>
              <a:t>Mã hóa và băm:</a:t>
            </a:r>
          </a:p>
          <a:p>
            <a:pPr marL="648710" lvl="2" indent="-216237" algn="just">
              <a:lnSpc>
                <a:spcPts val="2103"/>
              </a:lnSpc>
              <a:spcBef>
                <a:spcPct val="0"/>
              </a:spcBef>
              <a:buFont typeface="Arial"/>
              <a:buChar char="⚬"/>
            </a:pPr>
            <a:r>
              <a:rPr lang="en-US" sz="1502">
                <a:solidFill>
                  <a:srgbClr val="000000"/>
                </a:solidFill>
                <a:latin typeface="Asap"/>
                <a:ea typeface="Asap"/>
                <a:cs typeface="Asap"/>
                <a:sym typeface="Asap"/>
              </a:rPr>
              <a:t>Sử dụng bcrypt cho mật khẩu.</a:t>
            </a:r>
          </a:p>
          <a:p>
            <a:pPr marL="648710" lvl="2" indent="-216237" algn="just">
              <a:lnSpc>
                <a:spcPts val="2103"/>
              </a:lnSpc>
              <a:spcBef>
                <a:spcPct val="0"/>
              </a:spcBef>
              <a:buFont typeface="Arial"/>
              <a:buChar char="⚬"/>
            </a:pPr>
            <a:r>
              <a:rPr lang="en-US" sz="1502">
                <a:solidFill>
                  <a:srgbClr val="000000"/>
                </a:solidFill>
                <a:latin typeface="Asap"/>
                <a:ea typeface="Asap"/>
                <a:cs typeface="Asap"/>
                <a:sym typeface="Asap"/>
              </a:rPr>
              <a:t>HMAC SHA-256 cho JWT.</a:t>
            </a:r>
          </a:p>
          <a:p>
            <a:pPr algn="just">
              <a:lnSpc>
                <a:spcPts val="2103"/>
              </a:lnSpc>
              <a:spcBef>
                <a:spcPct val="0"/>
              </a:spcBef>
            </a:pPr>
            <a:r>
              <a:rPr lang="en-US" sz="1502">
                <a:solidFill>
                  <a:srgbClr val="000000"/>
                </a:solidFill>
                <a:latin typeface="Asap"/>
                <a:ea typeface="Asap"/>
                <a:cs typeface="Asap"/>
                <a:sym typeface="Asap"/>
              </a:rPr>
              <a:t>Quản lý quyền truy cập: Phân biệt người dùng thường và quản trị viên.</a:t>
            </a:r>
          </a:p>
          <a:p>
            <a:pPr algn="just">
              <a:lnSpc>
                <a:spcPts val="2103"/>
              </a:lnSpc>
              <a:spcBef>
                <a:spcPct val="0"/>
              </a:spcBef>
            </a:pPr>
            <a:r>
              <a:rPr lang="en-US" sz="1502">
                <a:solidFill>
                  <a:srgbClr val="000000"/>
                </a:solidFill>
                <a:latin typeface="Asap"/>
                <a:ea typeface="Asap"/>
                <a:cs typeface="Asap"/>
                <a:sym typeface="Asap"/>
              </a:rPr>
              <a:t>Bảo mật:</a:t>
            </a:r>
          </a:p>
          <a:p>
            <a:pPr marL="648710" lvl="2" indent="-216237" algn="just">
              <a:lnSpc>
                <a:spcPts val="2103"/>
              </a:lnSpc>
              <a:spcBef>
                <a:spcPct val="0"/>
              </a:spcBef>
              <a:buFont typeface="Arial"/>
              <a:buChar char="⚬"/>
            </a:pPr>
            <a:r>
              <a:rPr lang="en-US" sz="1502">
                <a:solidFill>
                  <a:srgbClr val="000000"/>
                </a:solidFill>
                <a:latin typeface="Asap"/>
                <a:ea typeface="Asap"/>
                <a:cs typeface="Asap"/>
                <a:sym typeface="Asap"/>
              </a:rPr>
              <a:t>Salt + Hash cho mật khẩu.</a:t>
            </a:r>
          </a:p>
          <a:p>
            <a:pPr marL="648710" lvl="2" indent="-216237" algn="just">
              <a:lnSpc>
                <a:spcPts val="2103"/>
              </a:lnSpc>
              <a:spcBef>
                <a:spcPct val="0"/>
              </a:spcBef>
              <a:buFont typeface="Arial"/>
              <a:buChar char="⚬"/>
            </a:pPr>
            <a:r>
              <a:rPr lang="en-US" sz="1502">
                <a:solidFill>
                  <a:srgbClr val="000000"/>
                </a:solidFill>
                <a:latin typeface="Asap"/>
                <a:ea typeface="Asap"/>
                <a:cs typeface="Asap"/>
                <a:sym typeface="Asap"/>
              </a:rPr>
              <a:t>Giới hạn số lần đăng nhập sai.</a:t>
            </a:r>
          </a:p>
          <a:p>
            <a:pPr marL="648710" lvl="2" indent="-216237" algn="just">
              <a:lnSpc>
                <a:spcPts val="2103"/>
              </a:lnSpc>
              <a:spcBef>
                <a:spcPct val="0"/>
              </a:spcBef>
              <a:buFont typeface="Arial"/>
              <a:buChar char="⚬"/>
            </a:pPr>
            <a:r>
              <a:rPr lang="en-US" sz="1502">
                <a:solidFill>
                  <a:srgbClr val="000000"/>
                </a:solidFill>
                <a:latin typeface="Asap"/>
                <a:ea typeface="Asap"/>
                <a:cs typeface="Asap"/>
                <a:sym typeface="Asap"/>
              </a:rPr>
              <a:t>Token có thời gian sống (Access token: 1h, Refresh token: 7 ngày).</a:t>
            </a:r>
          </a:p>
          <a:p>
            <a:pPr marL="324355" lvl="1" indent="-162178" algn="just">
              <a:lnSpc>
                <a:spcPts val="2103"/>
              </a:lnSpc>
              <a:buFont typeface="Arial"/>
              <a:buChar char="•"/>
            </a:pPr>
            <a:r>
              <a:rPr lang="en-US" sz="1502">
                <a:solidFill>
                  <a:srgbClr val="000000"/>
                </a:solidFill>
                <a:latin typeface="Asap"/>
                <a:ea typeface="Asap"/>
                <a:cs typeface="Asap"/>
                <a:sym typeface="Asap"/>
              </a:rPr>
              <a:t>Logic Xác thực:</a:t>
            </a:r>
          </a:p>
          <a:p>
            <a:pPr algn="just">
              <a:lnSpc>
                <a:spcPts val="2103"/>
              </a:lnSpc>
              <a:spcBef>
                <a:spcPct val="0"/>
              </a:spcBef>
            </a:pPr>
            <a:r>
              <a:rPr lang="en-US" sz="1502">
                <a:solidFill>
                  <a:srgbClr val="000000"/>
                </a:solidFill>
                <a:latin typeface="Asap"/>
                <a:ea typeface="Asap"/>
                <a:cs typeface="Asap"/>
                <a:sym typeface="Asap"/>
              </a:rPr>
              <a:t>             Đăng ký: Kiểm tra dữ liệu, băm mật khẩu, kiểm tra trùng lặp</a:t>
            </a:r>
          </a:p>
          <a:p>
            <a:pPr algn="just">
              <a:lnSpc>
                <a:spcPts val="2103"/>
              </a:lnSpc>
              <a:spcBef>
                <a:spcPct val="0"/>
              </a:spcBef>
            </a:pPr>
            <a:r>
              <a:rPr lang="en-US" sz="1502">
                <a:solidFill>
                  <a:srgbClr val="000000"/>
                </a:solidFill>
                <a:latin typeface="Asap"/>
                <a:ea typeface="Asap"/>
                <a:cs typeface="Asap"/>
                <a:sym typeface="Asap"/>
              </a:rPr>
              <a:t>             Đăng nhập: Tìm kiếm đa trường (username/email/số điện thoại), so sánh bcrypt</a:t>
            </a:r>
          </a:p>
          <a:p>
            <a:pPr algn="just">
              <a:lnSpc>
                <a:spcPts val="2103"/>
              </a:lnSpc>
              <a:spcBef>
                <a:spcPct val="0"/>
              </a:spcBef>
            </a:pPr>
            <a:r>
              <a:rPr lang="en-US" sz="1502">
                <a:solidFill>
                  <a:srgbClr val="000000"/>
                </a:solidFill>
                <a:latin typeface="Asap"/>
                <a:ea typeface="Asap"/>
                <a:cs typeface="Asap"/>
                <a:sym typeface="Asap"/>
              </a:rPr>
              <a:t>            Tạo JWT: Access token (1h) + Refresh token (7 ngày) với thông tin user</a:t>
            </a:r>
          </a:p>
          <a:p>
            <a:pPr algn="just">
              <a:lnSpc>
                <a:spcPts val="2103"/>
              </a:lnSpc>
              <a:spcBef>
                <a:spcPct val="0"/>
              </a:spcBef>
            </a:pPr>
            <a:r>
              <a:rPr lang="en-US" sz="1502">
                <a:solidFill>
                  <a:srgbClr val="000000"/>
                </a:solidFill>
                <a:latin typeface="Asap"/>
                <a:ea typeface="Asap"/>
                <a:cs typeface="Asap"/>
                <a:sym typeface="Asap"/>
              </a:rPr>
              <a:t>            Xác minh Token: Kiểm tra chữ ký HMAC SHA-256 và thời hạn</a:t>
            </a:r>
          </a:p>
          <a:p>
            <a:pPr marL="324355" lvl="1" indent="-162178" algn="just">
              <a:lnSpc>
                <a:spcPts val="2103"/>
              </a:lnSpc>
              <a:buFont typeface="Arial"/>
              <a:buChar char="•"/>
            </a:pPr>
            <a:r>
              <a:rPr lang="en-US" sz="1502">
                <a:solidFill>
                  <a:srgbClr val="000000"/>
                </a:solidFill>
                <a:latin typeface="Asap"/>
                <a:ea typeface="Asap"/>
                <a:cs typeface="Asap"/>
                <a:sym typeface="Asap"/>
              </a:rPr>
              <a:t>Biện pháp bảo mật:</a:t>
            </a:r>
          </a:p>
          <a:p>
            <a:pPr algn="just">
              <a:lnSpc>
                <a:spcPts val="2103"/>
              </a:lnSpc>
              <a:spcBef>
                <a:spcPct val="0"/>
              </a:spcBef>
            </a:pPr>
            <a:r>
              <a:rPr lang="en-US" sz="1502">
                <a:solidFill>
                  <a:srgbClr val="000000"/>
                </a:solidFill>
                <a:latin typeface="Asap"/>
                <a:ea typeface="Asap"/>
                <a:cs typeface="Asap"/>
                <a:sym typeface="Asap"/>
              </a:rPr>
              <a:t>Salt + Hash: Chống tấn công dò mật khẩu.</a:t>
            </a:r>
          </a:p>
          <a:p>
            <a:pPr algn="just">
              <a:lnSpc>
                <a:spcPts val="2103"/>
              </a:lnSpc>
              <a:spcBef>
                <a:spcPct val="0"/>
              </a:spcBef>
            </a:pPr>
            <a:r>
              <a:rPr lang="en-US" sz="1502">
                <a:solidFill>
                  <a:srgbClr val="000000"/>
                </a:solidFill>
                <a:latin typeface="Asap"/>
                <a:ea typeface="Asap"/>
                <a:cs typeface="Asap"/>
                <a:sym typeface="Asap"/>
              </a:rPr>
              <a:t>Giới hạn đăng nhập sai: Khóa tài khoản sau N lần thử sai.</a:t>
            </a:r>
          </a:p>
          <a:p>
            <a:pPr algn="just">
              <a:lnSpc>
                <a:spcPts val="2103"/>
              </a:lnSpc>
              <a:spcBef>
                <a:spcPct val="0"/>
              </a:spcBef>
            </a:pPr>
            <a:r>
              <a:rPr lang="en-US" sz="1502">
                <a:solidFill>
                  <a:srgbClr val="000000"/>
                </a:solidFill>
                <a:latin typeface="Asap"/>
                <a:ea typeface="Asap"/>
                <a:cs typeface="Asap"/>
                <a:sym typeface="Asap"/>
              </a:rPr>
              <a:t>Quản lý OTP: Mã ngẫu nhiên 6 chữ số, hết hạn sau 1 phút.</a:t>
            </a:r>
          </a:p>
          <a:p>
            <a:pPr algn="just">
              <a:lnSpc>
                <a:spcPts val="2103"/>
              </a:lnSpc>
              <a:spcBef>
                <a:spcPct val="0"/>
              </a:spcBef>
            </a:pPr>
            <a:r>
              <a:rPr lang="en-US" sz="1502">
                <a:solidFill>
                  <a:srgbClr val="000000"/>
                </a:solidFill>
                <a:latin typeface="Asap"/>
                <a:ea typeface="Asap"/>
                <a:cs typeface="Asap"/>
                <a:sym typeface="Asap"/>
              </a:rPr>
              <a:t>Token có thời hạn: Ngăn chặn lạm dụng token.</a:t>
            </a:r>
          </a:p>
          <a:p>
            <a:pPr algn="just">
              <a:lnSpc>
                <a:spcPts val="2103"/>
              </a:lnSpc>
              <a:spcBef>
                <a:spcPct val="0"/>
              </a:spcBef>
            </a:pPr>
            <a:endParaRPr lang="en-US" sz="1502">
              <a:solidFill>
                <a:srgbClr val="000000"/>
              </a:solidFill>
              <a:latin typeface="Asap"/>
              <a:ea typeface="Asap"/>
              <a:cs typeface="Asap"/>
              <a:sym typeface="As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445054" y="-4222570"/>
            <a:ext cx="9150422" cy="6921093"/>
            <a:chOff x="0" y="0"/>
            <a:chExt cx="7102488" cy="5372100"/>
          </a:xfrm>
        </p:grpSpPr>
        <p:sp>
          <p:nvSpPr>
            <p:cNvPr id="3" name="Freeform 3"/>
            <p:cNvSpPr/>
            <p:nvPr/>
          </p:nvSpPr>
          <p:spPr>
            <a:xfrm>
              <a:off x="0" y="0"/>
              <a:ext cx="7102488" cy="5372100"/>
            </a:xfrm>
            <a:custGeom>
              <a:avLst/>
              <a:gdLst/>
              <a:ahLst/>
              <a:cxnLst/>
              <a:rect l="l" t="t" r="r" b="b"/>
              <a:pathLst>
                <a:path w="7102488" h="5372100">
                  <a:moveTo>
                    <a:pt x="5551818" y="0"/>
                  </a:moveTo>
                  <a:lnTo>
                    <a:pt x="1550670" y="0"/>
                  </a:lnTo>
                  <a:lnTo>
                    <a:pt x="0" y="2686050"/>
                  </a:lnTo>
                  <a:lnTo>
                    <a:pt x="1550670" y="5372100"/>
                  </a:lnTo>
                  <a:lnTo>
                    <a:pt x="5551818" y="5372100"/>
                  </a:lnTo>
                  <a:lnTo>
                    <a:pt x="7102488" y="2686050"/>
                  </a:lnTo>
                  <a:lnTo>
                    <a:pt x="5551818" y="0"/>
                  </a:lnTo>
                  <a:close/>
                </a:path>
              </a:pathLst>
            </a:custGeom>
            <a:solidFill>
              <a:srgbClr val="A066CB"/>
            </a:solidFill>
          </p:spPr>
          <p:txBody>
            <a:bodyPr/>
            <a:lstStyle/>
            <a:p>
              <a:endParaRPr lang="en-US"/>
            </a:p>
          </p:txBody>
        </p:sp>
      </p:grpSp>
      <p:grpSp>
        <p:nvGrpSpPr>
          <p:cNvPr id="4" name="Group 4"/>
          <p:cNvGrpSpPr/>
          <p:nvPr/>
        </p:nvGrpSpPr>
        <p:grpSpPr>
          <a:xfrm>
            <a:off x="-694761" y="575888"/>
            <a:ext cx="17312142" cy="1701967"/>
            <a:chOff x="0" y="0"/>
            <a:chExt cx="23082856" cy="2269289"/>
          </a:xfrm>
        </p:grpSpPr>
        <p:grpSp>
          <p:nvGrpSpPr>
            <p:cNvPr id="5" name="Group 5"/>
            <p:cNvGrpSpPr/>
            <p:nvPr/>
          </p:nvGrpSpPr>
          <p:grpSpPr>
            <a:xfrm rot="-10800000">
              <a:off x="0" y="0"/>
              <a:ext cx="23082856" cy="2269289"/>
              <a:chOff x="0" y="0"/>
              <a:chExt cx="54644160" cy="5372100"/>
            </a:xfrm>
          </p:grpSpPr>
          <p:sp>
            <p:nvSpPr>
              <p:cNvPr id="6" name="Freeform 6"/>
              <p:cNvSpPr/>
              <p:nvPr/>
            </p:nvSpPr>
            <p:spPr>
              <a:xfrm>
                <a:off x="0" y="0"/>
                <a:ext cx="54644162" cy="5372100"/>
              </a:xfrm>
              <a:custGeom>
                <a:avLst/>
                <a:gdLst/>
                <a:ahLst/>
                <a:cxnLst/>
                <a:rect l="l" t="t" r="r" b="b"/>
                <a:pathLst>
                  <a:path w="54644162" h="5372100">
                    <a:moveTo>
                      <a:pt x="53093491" y="0"/>
                    </a:moveTo>
                    <a:lnTo>
                      <a:pt x="1550670" y="0"/>
                    </a:lnTo>
                    <a:lnTo>
                      <a:pt x="0" y="2686050"/>
                    </a:lnTo>
                    <a:lnTo>
                      <a:pt x="1550670" y="5372100"/>
                    </a:lnTo>
                    <a:lnTo>
                      <a:pt x="53093491" y="5372100"/>
                    </a:lnTo>
                    <a:lnTo>
                      <a:pt x="54644162" y="2686050"/>
                    </a:lnTo>
                    <a:lnTo>
                      <a:pt x="53093491" y="0"/>
                    </a:lnTo>
                    <a:close/>
                  </a:path>
                </a:pathLst>
              </a:custGeom>
              <a:solidFill>
                <a:srgbClr val="1836B2"/>
              </a:solidFill>
            </p:spPr>
            <p:txBody>
              <a:bodyPr/>
              <a:lstStyle/>
              <a:p>
                <a:endParaRPr lang="en-US"/>
              </a:p>
            </p:txBody>
          </p:sp>
        </p:grpSp>
        <p:sp>
          <p:nvSpPr>
            <p:cNvPr id="7" name="TextBox 7"/>
            <p:cNvSpPr txBox="1"/>
            <p:nvPr/>
          </p:nvSpPr>
          <p:spPr>
            <a:xfrm>
              <a:off x="2500087" y="397621"/>
              <a:ext cx="18528720" cy="1540722"/>
            </a:xfrm>
            <a:prstGeom prst="rect">
              <a:avLst/>
            </a:prstGeom>
          </p:spPr>
          <p:txBody>
            <a:bodyPr lIns="0" tIns="0" rIns="0" bIns="0" rtlCol="0" anchor="t">
              <a:spAutoFit/>
            </a:bodyPr>
            <a:lstStyle/>
            <a:p>
              <a:pPr marL="0" lvl="0" indent="0" algn="l">
                <a:lnSpc>
                  <a:spcPts val="8717"/>
                </a:lnSpc>
                <a:spcBef>
                  <a:spcPct val="0"/>
                </a:spcBef>
              </a:pPr>
              <a:r>
                <a:rPr lang="en-US" sz="7925" b="1">
                  <a:solidFill>
                    <a:srgbClr val="FFFFFF"/>
                  </a:solidFill>
                  <a:latin typeface="Asap Semi-Bold"/>
                  <a:ea typeface="Asap Semi-Bold"/>
                  <a:cs typeface="Asap Semi-Bold"/>
                  <a:sym typeface="Asap Semi-Bold"/>
                </a:rPr>
                <a:t>Lớp dữ liệu (Data Access Layer)</a:t>
              </a:r>
            </a:p>
          </p:txBody>
        </p:sp>
      </p:grpSp>
      <p:sp>
        <p:nvSpPr>
          <p:cNvPr id="8" name="Freeform 8"/>
          <p:cNvSpPr/>
          <p:nvPr/>
        </p:nvSpPr>
        <p:spPr>
          <a:xfrm>
            <a:off x="8723427" y="5317964"/>
            <a:ext cx="9564573" cy="1336238"/>
          </a:xfrm>
          <a:custGeom>
            <a:avLst/>
            <a:gdLst/>
            <a:ahLst/>
            <a:cxnLst/>
            <a:rect l="l" t="t" r="r" b="b"/>
            <a:pathLst>
              <a:path w="9564573" h="1336238">
                <a:moveTo>
                  <a:pt x="0" y="0"/>
                </a:moveTo>
                <a:lnTo>
                  <a:pt x="9564573" y="0"/>
                </a:lnTo>
                <a:lnTo>
                  <a:pt x="9564573" y="1336238"/>
                </a:lnTo>
                <a:lnTo>
                  <a:pt x="0" y="1336238"/>
                </a:lnTo>
                <a:lnTo>
                  <a:pt x="0" y="0"/>
                </a:lnTo>
                <a:close/>
              </a:path>
            </a:pathLst>
          </a:custGeom>
          <a:blipFill>
            <a:blip r:embed="rId2"/>
            <a:stretch>
              <a:fillRect l="-9612" r="-8544" b="-49063"/>
            </a:stretch>
          </a:blipFill>
        </p:spPr>
        <p:txBody>
          <a:bodyPr/>
          <a:lstStyle/>
          <a:p>
            <a:endParaRPr lang="en-US"/>
          </a:p>
        </p:txBody>
      </p:sp>
      <p:sp>
        <p:nvSpPr>
          <p:cNvPr id="9" name="TextBox 9"/>
          <p:cNvSpPr txBox="1"/>
          <p:nvPr/>
        </p:nvSpPr>
        <p:spPr>
          <a:xfrm>
            <a:off x="1622998" y="3266914"/>
            <a:ext cx="6338312" cy="1425055"/>
          </a:xfrm>
          <a:prstGeom prst="rect">
            <a:avLst/>
          </a:prstGeom>
        </p:spPr>
        <p:txBody>
          <a:bodyPr lIns="0" tIns="0" rIns="0" bIns="0" rtlCol="0" anchor="t">
            <a:spAutoFit/>
          </a:bodyPr>
          <a:lstStyle/>
          <a:p>
            <a:pPr algn="l">
              <a:lnSpc>
                <a:spcPts val="5733"/>
              </a:lnSpc>
            </a:pPr>
            <a:r>
              <a:rPr lang="en-US" sz="4095" b="1">
                <a:solidFill>
                  <a:srgbClr val="000000"/>
                </a:solidFill>
                <a:latin typeface="Asap Medium"/>
                <a:ea typeface="Asap Medium"/>
                <a:cs typeface="Asap Medium"/>
                <a:sym typeface="Asap Medium"/>
              </a:rPr>
              <a:t>Chức năng chính:</a:t>
            </a:r>
          </a:p>
          <a:p>
            <a:pPr marL="0" lvl="0" indent="0" algn="l">
              <a:lnSpc>
                <a:spcPts val="5733"/>
              </a:lnSpc>
              <a:spcBef>
                <a:spcPct val="0"/>
              </a:spcBef>
            </a:pPr>
            <a:endParaRPr lang="en-US" sz="4095" b="1">
              <a:solidFill>
                <a:srgbClr val="000000"/>
              </a:solidFill>
              <a:latin typeface="Asap Medium"/>
              <a:ea typeface="Asap Medium"/>
              <a:cs typeface="Asap Medium"/>
              <a:sym typeface="Asap Medium"/>
            </a:endParaRPr>
          </a:p>
        </p:txBody>
      </p:sp>
      <p:sp>
        <p:nvSpPr>
          <p:cNvPr id="10" name="TextBox 10"/>
          <p:cNvSpPr txBox="1"/>
          <p:nvPr/>
        </p:nvSpPr>
        <p:spPr>
          <a:xfrm>
            <a:off x="9829747" y="3276439"/>
            <a:ext cx="6190518" cy="1384300"/>
          </a:xfrm>
          <a:prstGeom prst="rect">
            <a:avLst/>
          </a:prstGeom>
        </p:spPr>
        <p:txBody>
          <a:bodyPr lIns="0" tIns="0" rIns="0" bIns="0" rtlCol="0" anchor="t">
            <a:spAutoFit/>
          </a:bodyPr>
          <a:lstStyle/>
          <a:p>
            <a:pPr marL="0" lvl="0" indent="0" algn="l">
              <a:lnSpc>
                <a:spcPts val="5599"/>
              </a:lnSpc>
              <a:spcBef>
                <a:spcPct val="0"/>
              </a:spcBef>
            </a:pPr>
            <a:r>
              <a:rPr lang="en-US" sz="3999" b="1">
                <a:solidFill>
                  <a:srgbClr val="000000"/>
                </a:solidFill>
                <a:latin typeface="Asap Medium"/>
                <a:ea typeface="Asap Medium"/>
                <a:cs typeface="Asap Medium"/>
                <a:sym typeface="Asap Medium"/>
              </a:rPr>
              <a:t>B</a:t>
            </a:r>
            <a:r>
              <a:rPr lang="en-US" sz="3999" b="1" u="none">
                <a:solidFill>
                  <a:srgbClr val="000000"/>
                </a:solidFill>
                <a:latin typeface="Asap Medium"/>
                <a:ea typeface="Asap Medium"/>
                <a:cs typeface="Asap Medium"/>
                <a:sym typeface="Asap Medium"/>
              </a:rPr>
              <a:t>iện pháp bảo mật:</a:t>
            </a:r>
          </a:p>
          <a:p>
            <a:pPr marL="0" lvl="0" indent="0" algn="l">
              <a:lnSpc>
                <a:spcPts val="5599"/>
              </a:lnSpc>
              <a:spcBef>
                <a:spcPct val="0"/>
              </a:spcBef>
            </a:pPr>
            <a:endParaRPr lang="en-US" sz="3999" b="1" u="none">
              <a:solidFill>
                <a:srgbClr val="000000"/>
              </a:solidFill>
              <a:latin typeface="Asap Medium"/>
              <a:ea typeface="Asap Medium"/>
              <a:cs typeface="Asap Medium"/>
              <a:sym typeface="Asap Medium"/>
            </a:endParaRPr>
          </a:p>
        </p:txBody>
      </p:sp>
      <p:sp>
        <p:nvSpPr>
          <p:cNvPr id="11" name="TextBox 11"/>
          <p:cNvSpPr txBox="1"/>
          <p:nvPr/>
        </p:nvSpPr>
        <p:spPr>
          <a:xfrm>
            <a:off x="163902" y="4634819"/>
            <a:ext cx="6984846" cy="3599180"/>
          </a:xfrm>
          <a:prstGeom prst="rect">
            <a:avLst/>
          </a:prstGeom>
        </p:spPr>
        <p:txBody>
          <a:bodyPr lIns="0" tIns="0" rIns="0" bIns="0" rtlCol="0" anchor="t">
            <a:spAutoFit/>
          </a:bodyPr>
          <a:lstStyle/>
          <a:p>
            <a:pPr marL="496571" lvl="1" indent="-248285" algn="l">
              <a:lnSpc>
                <a:spcPts val="3220"/>
              </a:lnSpc>
              <a:buFont typeface="Arial"/>
              <a:buChar char="•"/>
            </a:pPr>
            <a:r>
              <a:rPr lang="en-US" sz="2300">
                <a:solidFill>
                  <a:srgbClr val="000000"/>
                </a:solidFill>
                <a:latin typeface="Asap"/>
                <a:ea typeface="Asap"/>
                <a:cs typeface="Asap"/>
                <a:sym typeface="Asap"/>
              </a:rPr>
              <a:t>Lưu trữ thông tin người dùng (username, email, mật khẩu đã băm, quyền truy cập).</a:t>
            </a:r>
          </a:p>
          <a:p>
            <a:pPr algn="l">
              <a:lnSpc>
                <a:spcPts val="3220"/>
              </a:lnSpc>
            </a:pPr>
            <a:endParaRPr lang="en-US" sz="2300">
              <a:solidFill>
                <a:srgbClr val="000000"/>
              </a:solidFill>
              <a:latin typeface="Asap"/>
              <a:ea typeface="Asap"/>
              <a:cs typeface="Asap"/>
              <a:sym typeface="Asap"/>
            </a:endParaRPr>
          </a:p>
          <a:p>
            <a:pPr marL="496571" lvl="1" indent="-248285" algn="l">
              <a:lnSpc>
                <a:spcPts val="3220"/>
              </a:lnSpc>
              <a:buFont typeface="Arial"/>
              <a:buChar char="•"/>
            </a:pPr>
            <a:r>
              <a:rPr lang="en-US" sz="2300">
                <a:solidFill>
                  <a:srgbClr val="000000"/>
                </a:solidFill>
                <a:latin typeface="Asap"/>
                <a:ea typeface="Asap"/>
                <a:cs typeface="Asap"/>
                <a:sym typeface="Asap"/>
              </a:rPr>
              <a:t>Quản lý bảng log đăng nhập (thời gian, địa chỉ IP, trạng thái).</a:t>
            </a:r>
          </a:p>
          <a:p>
            <a:pPr algn="l">
              <a:lnSpc>
                <a:spcPts val="3220"/>
              </a:lnSpc>
            </a:pPr>
            <a:endParaRPr lang="en-US" sz="2300">
              <a:solidFill>
                <a:srgbClr val="000000"/>
              </a:solidFill>
              <a:latin typeface="Asap"/>
              <a:ea typeface="Asap"/>
              <a:cs typeface="Asap"/>
              <a:sym typeface="Asap"/>
            </a:endParaRPr>
          </a:p>
          <a:p>
            <a:pPr marL="496571" lvl="1" indent="-248285" algn="l">
              <a:lnSpc>
                <a:spcPts val="3220"/>
              </a:lnSpc>
              <a:buFont typeface="Arial"/>
              <a:buChar char="•"/>
            </a:pPr>
            <a:r>
              <a:rPr lang="en-US" sz="2300">
                <a:solidFill>
                  <a:srgbClr val="000000"/>
                </a:solidFill>
                <a:latin typeface="Asap"/>
                <a:ea typeface="Asap"/>
                <a:cs typeface="Asap"/>
                <a:sym typeface="Asap"/>
              </a:rPr>
              <a:t>Đảm bảo tính toàn vẹn và bảo mật dữ liệu trong cơ sở dữ liệu.</a:t>
            </a:r>
          </a:p>
          <a:p>
            <a:pPr algn="ctr">
              <a:lnSpc>
                <a:spcPts val="3220"/>
              </a:lnSpc>
              <a:spcBef>
                <a:spcPct val="0"/>
              </a:spcBef>
            </a:pPr>
            <a:endParaRPr lang="en-US" sz="2300">
              <a:solidFill>
                <a:srgbClr val="000000"/>
              </a:solidFill>
              <a:latin typeface="Asap"/>
              <a:ea typeface="Asap"/>
              <a:cs typeface="Asap"/>
              <a:sym typeface="Asap"/>
            </a:endParaRPr>
          </a:p>
        </p:txBody>
      </p:sp>
      <p:sp>
        <p:nvSpPr>
          <p:cNvPr id="12" name="TextBox 12"/>
          <p:cNvSpPr txBox="1"/>
          <p:nvPr/>
        </p:nvSpPr>
        <p:spPr>
          <a:xfrm>
            <a:off x="8723427" y="4603589"/>
            <a:ext cx="8089106" cy="728332"/>
          </a:xfrm>
          <a:prstGeom prst="rect">
            <a:avLst/>
          </a:prstGeom>
        </p:spPr>
        <p:txBody>
          <a:bodyPr lIns="0" tIns="0" rIns="0" bIns="0" rtlCol="0" anchor="t">
            <a:spAutoFit/>
          </a:bodyPr>
          <a:lstStyle/>
          <a:p>
            <a:pPr algn="ctr">
              <a:lnSpc>
                <a:spcPts val="3220"/>
              </a:lnSpc>
            </a:pPr>
            <a:r>
              <a:rPr lang="en-US" sz="2300">
                <a:solidFill>
                  <a:srgbClr val="000000"/>
                </a:solidFill>
                <a:latin typeface="Asap"/>
                <a:ea typeface="Asap"/>
                <a:cs typeface="Asap"/>
                <a:sym typeface="Asap"/>
              </a:rPr>
              <a:t>Mật khẩu không bao giờ lưu ở dạng gốc( lưu ở dạng băm hash).</a:t>
            </a:r>
          </a:p>
          <a:p>
            <a:pPr algn="ctr">
              <a:lnSpc>
                <a:spcPts val="2591"/>
              </a:lnSpc>
              <a:spcBef>
                <a:spcPct val="0"/>
              </a:spcBef>
            </a:pPr>
            <a:endParaRPr lang="en-US" sz="2300">
              <a:solidFill>
                <a:srgbClr val="000000"/>
              </a:solidFill>
              <a:latin typeface="Asap"/>
              <a:ea typeface="Asap"/>
              <a:cs typeface="Asap"/>
              <a:sym typeface="Asap"/>
            </a:endParaRPr>
          </a:p>
        </p:txBody>
      </p:sp>
      <p:sp>
        <p:nvSpPr>
          <p:cNvPr id="13" name="TextBox 13"/>
          <p:cNvSpPr txBox="1"/>
          <p:nvPr/>
        </p:nvSpPr>
        <p:spPr>
          <a:xfrm>
            <a:off x="8723427" y="6881984"/>
            <a:ext cx="10380316" cy="962634"/>
          </a:xfrm>
          <a:prstGeom prst="rect">
            <a:avLst/>
          </a:prstGeom>
        </p:spPr>
        <p:txBody>
          <a:bodyPr lIns="0" tIns="0" rIns="0" bIns="0" rtlCol="0" anchor="t">
            <a:spAutoFit/>
          </a:bodyPr>
          <a:lstStyle/>
          <a:p>
            <a:pPr algn="l">
              <a:lnSpc>
                <a:spcPts val="2591"/>
              </a:lnSpc>
            </a:pPr>
            <a:r>
              <a:rPr lang="en-US" sz="1851">
                <a:solidFill>
                  <a:srgbClr val="000000"/>
                </a:solidFill>
                <a:latin typeface="Asap"/>
                <a:ea typeface="Asap"/>
                <a:cs typeface="Asap"/>
                <a:sym typeface="Asap"/>
              </a:rPr>
              <a:t>Phân quyền trong SQL Server (chỉ có người dùng phái clinet mới có quyền truy cập).</a:t>
            </a:r>
          </a:p>
          <a:p>
            <a:pPr algn="l">
              <a:lnSpc>
                <a:spcPts val="2591"/>
              </a:lnSpc>
            </a:pPr>
            <a:r>
              <a:rPr lang="en-US" sz="1851">
                <a:solidFill>
                  <a:srgbClr val="000000"/>
                </a:solidFill>
                <a:latin typeface="Asap"/>
                <a:ea typeface="Asap"/>
                <a:cs typeface="Asap"/>
                <a:sym typeface="Asap"/>
              </a:rPr>
              <a:t>Sao lưu và mã hóa dữ liệu quan trọng (backup encrypted).</a:t>
            </a:r>
          </a:p>
          <a:p>
            <a:pPr algn="ctr">
              <a:lnSpc>
                <a:spcPts val="2591"/>
              </a:lnSpc>
              <a:spcBef>
                <a:spcPct val="0"/>
              </a:spcBef>
            </a:pPr>
            <a:endParaRPr lang="en-US" sz="1851">
              <a:solidFill>
                <a:srgbClr val="000000"/>
              </a:solidFill>
              <a:latin typeface="Asap"/>
              <a:ea typeface="Asap"/>
              <a:cs typeface="Asap"/>
              <a:sym typeface="As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85450" y="2221685"/>
            <a:ext cx="13014848" cy="7385927"/>
          </a:xfrm>
          <a:custGeom>
            <a:avLst/>
            <a:gdLst/>
            <a:ahLst/>
            <a:cxnLst/>
            <a:rect l="l" t="t" r="r" b="b"/>
            <a:pathLst>
              <a:path w="13014848" h="7385927">
                <a:moveTo>
                  <a:pt x="0" y="0"/>
                </a:moveTo>
                <a:lnTo>
                  <a:pt x="13014849" y="0"/>
                </a:lnTo>
                <a:lnTo>
                  <a:pt x="13014849" y="7385927"/>
                </a:lnTo>
                <a:lnTo>
                  <a:pt x="0" y="7385927"/>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5875374" y="619789"/>
            <a:ext cx="5835000" cy="1058000"/>
          </a:xfrm>
          <a:prstGeom prst="rect">
            <a:avLst/>
          </a:prstGeom>
        </p:spPr>
        <p:txBody>
          <a:bodyPr lIns="0" tIns="0" rIns="0" bIns="0" rtlCol="0" anchor="t">
            <a:spAutoFit/>
          </a:bodyPr>
          <a:lstStyle/>
          <a:p>
            <a:pPr algn="ctr">
              <a:lnSpc>
                <a:spcPts val="8615"/>
              </a:lnSpc>
              <a:spcBef>
                <a:spcPct val="0"/>
              </a:spcBef>
            </a:pPr>
            <a:r>
              <a:rPr lang="en-US" sz="6153" b="1">
                <a:solidFill>
                  <a:srgbClr val="1836B2"/>
                </a:solidFill>
                <a:latin typeface="Asap Bold"/>
                <a:ea typeface="Asap Bold"/>
                <a:cs typeface="Asap Bold"/>
                <a:sym typeface="Asap Bold"/>
              </a:rPr>
              <a:t>SƠ ĐỒ DIAGRAM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96445" y="942975"/>
            <a:ext cx="15495109" cy="819190"/>
          </a:xfrm>
          <a:prstGeom prst="rect">
            <a:avLst/>
          </a:prstGeom>
        </p:spPr>
        <p:txBody>
          <a:bodyPr lIns="0" tIns="0" rIns="0" bIns="0" rtlCol="0" anchor="t">
            <a:spAutoFit/>
          </a:bodyPr>
          <a:lstStyle/>
          <a:p>
            <a:pPr algn="ctr">
              <a:lnSpc>
                <a:spcPts val="6822"/>
              </a:lnSpc>
            </a:pPr>
            <a:r>
              <a:rPr lang="en-US" sz="4873" b="1">
                <a:solidFill>
                  <a:srgbClr val="1836B2"/>
                </a:solidFill>
                <a:latin typeface="Canva Sans Bold"/>
                <a:ea typeface="Canva Sans Bold"/>
                <a:cs typeface="Canva Sans Bold"/>
                <a:sym typeface="Canva Sans Bold"/>
              </a:rPr>
              <a:t>Luồng xử lý tổng quát (Tổng quan)</a:t>
            </a:r>
          </a:p>
        </p:txBody>
      </p:sp>
      <p:sp>
        <p:nvSpPr>
          <p:cNvPr id="3" name="TextBox 3"/>
          <p:cNvSpPr txBox="1"/>
          <p:nvPr/>
        </p:nvSpPr>
        <p:spPr>
          <a:xfrm>
            <a:off x="2225782" y="2768948"/>
            <a:ext cx="13836436" cy="6974205"/>
          </a:xfrm>
          <a:prstGeom prst="rect">
            <a:avLst/>
          </a:prstGeom>
        </p:spPr>
        <p:txBody>
          <a:bodyPr lIns="0" tIns="0" rIns="0" bIns="0" rtlCol="0" anchor="t">
            <a:spAutoFit/>
          </a:bodyPr>
          <a:lstStyle/>
          <a:p>
            <a:pPr marL="712470" lvl="1" indent="-356235" algn="l">
              <a:lnSpc>
                <a:spcPts val="4620"/>
              </a:lnSpc>
              <a:buFont typeface="Arial"/>
              <a:buChar char="•"/>
            </a:pPr>
            <a:r>
              <a:rPr lang="en-US" sz="3300" b="1" spc="-66">
                <a:solidFill>
                  <a:srgbClr val="000000"/>
                </a:solidFill>
                <a:latin typeface="Asap Medium"/>
                <a:ea typeface="Asap Medium"/>
                <a:cs typeface="Asap Medium"/>
                <a:sym typeface="Asap Medium"/>
              </a:rPr>
              <a:t>Người dùng tương tác tại Client (Frontend).</a:t>
            </a:r>
          </a:p>
          <a:p>
            <a:pPr algn="l">
              <a:lnSpc>
                <a:spcPts val="4620"/>
              </a:lnSpc>
            </a:pPr>
            <a:endParaRPr lang="en-US" sz="3300" b="1" spc="-66">
              <a:solidFill>
                <a:srgbClr val="000000"/>
              </a:solidFill>
              <a:latin typeface="Asap Medium"/>
              <a:ea typeface="Asap Medium"/>
              <a:cs typeface="Asap Medium"/>
              <a:sym typeface="Asap Medium"/>
            </a:endParaRPr>
          </a:p>
          <a:p>
            <a:pPr marL="712470" lvl="1" indent="-356235" algn="l">
              <a:lnSpc>
                <a:spcPts val="4620"/>
              </a:lnSpc>
              <a:buFont typeface="Arial"/>
              <a:buChar char="•"/>
            </a:pPr>
            <a:r>
              <a:rPr lang="en-US" sz="3300" b="1" spc="-66">
                <a:solidFill>
                  <a:srgbClr val="000000"/>
                </a:solidFill>
                <a:latin typeface="Asap Medium"/>
                <a:ea typeface="Asap Medium"/>
                <a:cs typeface="Asap Medium"/>
                <a:sym typeface="Asap Medium"/>
              </a:rPr>
              <a:t>Server nhận và kiểm tra dữ liệu đầu vào (Backend).</a:t>
            </a:r>
          </a:p>
          <a:p>
            <a:pPr algn="l">
              <a:lnSpc>
                <a:spcPts val="4620"/>
              </a:lnSpc>
            </a:pPr>
            <a:endParaRPr lang="en-US" sz="3300" b="1" spc="-66">
              <a:solidFill>
                <a:srgbClr val="000000"/>
              </a:solidFill>
              <a:latin typeface="Asap Medium"/>
              <a:ea typeface="Asap Medium"/>
              <a:cs typeface="Asap Medium"/>
              <a:sym typeface="Asap Medium"/>
            </a:endParaRPr>
          </a:p>
          <a:p>
            <a:pPr marL="712470" lvl="1" indent="-356235" algn="l">
              <a:lnSpc>
                <a:spcPts val="4620"/>
              </a:lnSpc>
              <a:buFont typeface="Arial"/>
              <a:buChar char="•"/>
            </a:pPr>
            <a:r>
              <a:rPr lang="en-US" sz="3300" b="1" spc="-66">
                <a:solidFill>
                  <a:srgbClr val="000000"/>
                </a:solidFill>
                <a:latin typeface="Asap Medium"/>
                <a:ea typeface="Asap Medium"/>
                <a:cs typeface="Asap Medium"/>
                <a:sym typeface="Asap Medium"/>
              </a:rPr>
              <a:t>Xử lý logic chính tại Server (dựa trên loại request).</a:t>
            </a:r>
          </a:p>
          <a:p>
            <a:pPr algn="l">
              <a:lnSpc>
                <a:spcPts val="4620"/>
              </a:lnSpc>
            </a:pPr>
            <a:endParaRPr lang="en-US" sz="3300" b="1" spc="-66">
              <a:solidFill>
                <a:srgbClr val="000000"/>
              </a:solidFill>
              <a:latin typeface="Asap Medium"/>
              <a:ea typeface="Asap Medium"/>
              <a:cs typeface="Asap Medium"/>
              <a:sym typeface="Asap Medium"/>
            </a:endParaRPr>
          </a:p>
          <a:p>
            <a:pPr marL="712470" lvl="1" indent="-356235" algn="l">
              <a:lnSpc>
                <a:spcPts val="4620"/>
              </a:lnSpc>
              <a:buFont typeface="Arial"/>
              <a:buChar char="•"/>
            </a:pPr>
            <a:r>
              <a:rPr lang="en-US" sz="3300" b="1" spc="-66">
                <a:solidFill>
                  <a:srgbClr val="000000"/>
                </a:solidFill>
                <a:latin typeface="Asap Medium"/>
                <a:ea typeface="Asap Medium"/>
                <a:cs typeface="Asap Medium"/>
                <a:sym typeface="Asap Medium"/>
              </a:rPr>
              <a:t>Trả về kết quả từ Server cho Client.</a:t>
            </a:r>
          </a:p>
          <a:p>
            <a:pPr algn="l">
              <a:lnSpc>
                <a:spcPts val="4620"/>
              </a:lnSpc>
            </a:pPr>
            <a:endParaRPr lang="en-US" sz="3300" b="1" spc="-66">
              <a:solidFill>
                <a:srgbClr val="000000"/>
              </a:solidFill>
              <a:latin typeface="Asap Medium"/>
              <a:ea typeface="Asap Medium"/>
              <a:cs typeface="Asap Medium"/>
              <a:sym typeface="Asap Medium"/>
            </a:endParaRPr>
          </a:p>
          <a:p>
            <a:pPr marL="712470" lvl="1" indent="-356235" algn="l">
              <a:lnSpc>
                <a:spcPts val="4620"/>
              </a:lnSpc>
              <a:buFont typeface="Arial"/>
              <a:buChar char="•"/>
            </a:pPr>
            <a:r>
              <a:rPr lang="en-US" sz="3300" b="1" spc="-66">
                <a:solidFill>
                  <a:srgbClr val="000000"/>
                </a:solidFill>
                <a:latin typeface="Asap Medium"/>
                <a:ea typeface="Asap Medium"/>
                <a:cs typeface="Asap Medium"/>
                <a:sym typeface="Asap Medium"/>
              </a:rPr>
              <a:t>Client xử lý phản hồi và tiếp tục.</a:t>
            </a:r>
          </a:p>
          <a:p>
            <a:pPr algn="l">
              <a:lnSpc>
                <a:spcPts val="4620"/>
              </a:lnSpc>
            </a:pPr>
            <a:endParaRPr lang="en-US" sz="3300" b="1" spc="-66">
              <a:solidFill>
                <a:srgbClr val="000000"/>
              </a:solidFill>
              <a:latin typeface="Asap Medium"/>
              <a:ea typeface="Asap Medium"/>
              <a:cs typeface="Asap Medium"/>
              <a:sym typeface="Asap Medium"/>
            </a:endParaRPr>
          </a:p>
          <a:p>
            <a:pPr algn="l">
              <a:lnSpc>
                <a:spcPts val="4620"/>
              </a:lnSpc>
            </a:pPr>
            <a:endParaRPr lang="en-US" sz="3300" b="1" spc="-66">
              <a:solidFill>
                <a:srgbClr val="000000"/>
              </a:solidFill>
              <a:latin typeface="Asap Medium"/>
              <a:ea typeface="Asap Medium"/>
              <a:cs typeface="Asap Medium"/>
              <a:sym typeface="Asap Medium"/>
            </a:endParaRPr>
          </a:p>
          <a:p>
            <a:pPr algn="l">
              <a:lnSpc>
                <a:spcPts val="4620"/>
              </a:lnSpc>
              <a:spcBef>
                <a:spcPct val="0"/>
              </a:spcBef>
            </a:pPr>
            <a:endParaRPr lang="en-US" sz="3300" b="1" spc="-66">
              <a:solidFill>
                <a:srgbClr val="000000"/>
              </a:solidFill>
              <a:latin typeface="Asap Medium"/>
              <a:ea typeface="Asap Medium"/>
              <a:cs typeface="Asap Medium"/>
              <a:sym typeface="Asap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299" y="9979101"/>
            <a:ext cx="18646597" cy="498399"/>
          </a:xfrm>
          <a:prstGeom prst="rect">
            <a:avLst/>
          </a:prstGeom>
          <a:solidFill>
            <a:srgbClr val="1836B2"/>
          </a:solidFill>
        </p:spPr>
        <p:txBody>
          <a:bodyPr/>
          <a:lstStyle/>
          <a:p>
            <a:endParaRPr lang="en-US"/>
          </a:p>
        </p:txBody>
      </p:sp>
      <p:sp>
        <p:nvSpPr>
          <p:cNvPr id="3" name="Freeform 3"/>
          <p:cNvSpPr/>
          <p:nvPr/>
        </p:nvSpPr>
        <p:spPr>
          <a:xfrm>
            <a:off x="5159546" y="1973144"/>
            <a:ext cx="10134641" cy="6947626"/>
          </a:xfrm>
          <a:custGeom>
            <a:avLst/>
            <a:gdLst/>
            <a:ahLst/>
            <a:cxnLst/>
            <a:rect l="l" t="t" r="r" b="b"/>
            <a:pathLst>
              <a:path w="10134641" h="6947626">
                <a:moveTo>
                  <a:pt x="0" y="0"/>
                </a:moveTo>
                <a:lnTo>
                  <a:pt x="10134641" y="0"/>
                </a:lnTo>
                <a:lnTo>
                  <a:pt x="10134641" y="6947626"/>
                </a:lnTo>
                <a:lnTo>
                  <a:pt x="0" y="6947626"/>
                </a:lnTo>
                <a:lnTo>
                  <a:pt x="0" y="0"/>
                </a:lnTo>
                <a:close/>
              </a:path>
            </a:pathLst>
          </a:custGeom>
          <a:blipFill>
            <a:blip r:embed="rId2"/>
            <a:stretch>
              <a:fillRect t="-3152" b="-3152"/>
            </a:stretch>
          </a:blipFill>
        </p:spPr>
        <p:txBody>
          <a:bodyPr/>
          <a:lstStyle/>
          <a:p>
            <a:endParaRPr lang="en-US"/>
          </a:p>
        </p:txBody>
      </p:sp>
      <p:sp>
        <p:nvSpPr>
          <p:cNvPr id="4" name="TextBox 4"/>
          <p:cNvSpPr txBox="1"/>
          <p:nvPr/>
        </p:nvSpPr>
        <p:spPr>
          <a:xfrm>
            <a:off x="1457475" y="612775"/>
            <a:ext cx="17329196" cy="889001"/>
          </a:xfrm>
          <a:prstGeom prst="rect">
            <a:avLst/>
          </a:prstGeom>
        </p:spPr>
        <p:txBody>
          <a:bodyPr lIns="0" tIns="0" rIns="0" bIns="0" rtlCol="0" anchor="t">
            <a:spAutoFit/>
          </a:bodyPr>
          <a:lstStyle/>
          <a:p>
            <a:pPr marL="0" lvl="0" indent="0" algn="l">
              <a:lnSpc>
                <a:spcPts val="6875"/>
              </a:lnSpc>
              <a:spcBef>
                <a:spcPct val="0"/>
              </a:spcBef>
            </a:pPr>
            <a:r>
              <a:rPr lang="en-US" sz="6250" b="1">
                <a:solidFill>
                  <a:srgbClr val="1836B2"/>
                </a:solidFill>
                <a:latin typeface="Asap Semi-Bold"/>
                <a:ea typeface="Asap Semi-Bold"/>
                <a:cs typeface="Asap Semi-Bold"/>
                <a:sym typeface="Asap Semi-Bold"/>
              </a:rPr>
              <a:t>Sơ đồ cấu trúc chương trình ( Mô tả dạng khối)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551366" y="7753528"/>
            <a:ext cx="10611554" cy="3418309"/>
            <a:chOff x="0" y="0"/>
            <a:chExt cx="16676766" cy="5372100"/>
          </a:xfrm>
        </p:grpSpPr>
        <p:sp>
          <p:nvSpPr>
            <p:cNvPr id="3" name="Freeform 3"/>
            <p:cNvSpPr/>
            <p:nvPr/>
          </p:nvSpPr>
          <p:spPr>
            <a:xfrm>
              <a:off x="0" y="0"/>
              <a:ext cx="16676767" cy="5372100"/>
            </a:xfrm>
            <a:custGeom>
              <a:avLst/>
              <a:gdLst/>
              <a:ahLst/>
              <a:cxnLst/>
              <a:rect l="l" t="t" r="r" b="b"/>
              <a:pathLst>
                <a:path w="16676767" h="5372100">
                  <a:moveTo>
                    <a:pt x="15126095" y="0"/>
                  </a:moveTo>
                  <a:lnTo>
                    <a:pt x="1550670" y="0"/>
                  </a:lnTo>
                  <a:lnTo>
                    <a:pt x="0" y="2686050"/>
                  </a:lnTo>
                  <a:lnTo>
                    <a:pt x="1550670" y="5372100"/>
                  </a:lnTo>
                  <a:lnTo>
                    <a:pt x="15126095" y="5372100"/>
                  </a:lnTo>
                  <a:lnTo>
                    <a:pt x="16676767" y="2686050"/>
                  </a:lnTo>
                  <a:lnTo>
                    <a:pt x="15126095" y="0"/>
                  </a:lnTo>
                  <a:close/>
                </a:path>
              </a:pathLst>
            </a:custGeom>
            <a:solidFill>
              <a:srgbClr val="FFFFFF"/>
            </a:solidFill>
          </p:spPr>
          <p:txBody>
            <a:bodyPr/>
            <a:lstStyle/>
            <a:p>
              <a:endParaRPr lang="en-US"/>
            </a:p>
          </p:txBody>
        </p:sp>
      </p:grpSp>
      <p:sp>
        <p:nvSpPr>
          <p:cNvPr id="4" name="Freeform 4"/>
          <p:cNvSpPr/>
          <p:nvPr/>
        </p:nvSpPr>
        <p:spPr>
          <a:xfrm>
            <a:off x="9144000" y="1696007"/>
            <a:ext cx="4071675" cy="7766675"/>
          </a:xfrm>
          <a:custGeom>
            <a:avLst/>
            <a:gdLst/>
            <a:ahLst/>
            <a:cxnLst/>
            <a:rect l="l" t="t" r="r" b="b"/>
            <a:pathLst>
              <a:path w="4071675" h="7766675">
                <a:moveTo>
                  <a:pt x="0" y="0"/>
                </a:moveTo>
                <a:lnTo>
                  <a:pt x="4071675" y="0"/>
                </a:lnTo>
                <a:lnTo>
                  <a:pt x="4071675" y="7766676"/>
                </a:lnTo>
                <a:lnTo>
                  <a:pt x="0" y="7766676"/>
                </a:lnTo>
                <a:lnTo>
                  <a:pt x="0" y="0"/>
                </a:lnTo>
                <a:close/>
              </a:path>
            </a:pathLst>
          </a:custGeom>
          <a:blipFill>
            <a:blip r:embed="rId2"/>
            <a:stretch>
              <a:fillRect t="-3088" b="-3088"/>
            </a:stretch>
          </a:blipFill>
        </p:spPr>
        <p:txBody>
          <a:bodyPr/>
          <a:lstStyle/>
          <a:p>
            <a:endParaRPr lang="en-US"/>
          </a:p>
        </p:txBody>
      </p:sp>
      <p:sp>
        <p:nvSpPr>
          <p:cNvPr id="5" name="TextBox 5"/>
          <p:cNvSpPr txBox="1"/>
          <p:nvPr/>
        </p:nvSpPr>
        <p:spPr>
          <a:xfrm>
            <a:off x="0" y="468488"/>
            <a:ext cx="7887253" cy="1414399"/>
          </a:xfrm>
          <a:prstGeom prst="rect">
            <a:avLst/>
          </a:prstGeom>
        </p:spPr>
        <p:txBody>
          <a:bodyPr lIns="0" tIns="0" rIns="0" bIns="0" rtlCol="0" anchor="t">
            <a:spAutoFit/>
          </a:bodyPr>
          <a:lstStyle/>
          <a:p>
            <a:pPr marL="0" lvl="0" indent="0" algn="l">
              <a:lnSpc>
                <a:spcPts val="11033"/>
              </a:lnSpc>
            </a:pPr>
            <a:r>
              <a:rPr lang="en-US" sz="9350" b="1">
                <a:solidFill>
                  <a:srgbClr val="FFFFFF"/>
                </a:solidFill>
                <a:latin typeface="Asap Semi-Bold"/>
                <a:ea typeface="Asap Semi-Bold"/>
                <a:cs typeface="Asap Semi-Bold"/>
                <a:sym typeface="Asap Semi-Bold"/>
              </a:rPr>
              <a:t>DEMO</a:t>
            </a:r>
          </a:p>
        </p:txBody>
      </p:sp>
      <p:sp>
        <p:nvSpPr>
          <p:cNvPr id="6" name="TextBox 6"/>
          <p:cNvSpPr txBox="1"/>
          <p:nvPr/>
        </p:nvSpPr>
        <p:spPr>
          <a:xfrm>
            <a:off x="0" y="330494"/>
            <a:ext cx="9981796" cy="1138873"/>
          </a:xfrm>
          <a:prstGeom prst="rect">
            <a:avLst/>
          </a:prstGeom>
        </p:spPr>
        <p:txBody>
          <a:bodyPr lIns="0" tIns="0" rIns="0" bIns="0" rtlCol="0" anchor="t">
            <a:spAutoFit/>
          </a:bodyPr>
          <a:lstStyle/>
          <a:p>
            <a:pPr algn="ctr">
              <a:lnSpc>
                <a:spcPts val="8717"/>
              </a:lnSpc>
              <a:spcBef>
                <a:spcPct val="0"/>
              </a:spcBef>
            </a:pPr>
            <a:r>
              <a:rPr lang="en-US" sz="7925" b="1">
                <a:solidFill>
                  <a:srgbClr val="000000"/>
                </a:solidFill>
                <a:latin typeface="Asap Semi-Bold"/>
                <a:ea typeface="Asap Semi-Bold"/>
                <a:cs typeface="Asap Semi-Bold"/>
                <a:sym typeface="Asap Semi-Bold"/>
              </a:rPr>
              <a:t>DEMO ỨNG DỤNG</a:t>
            </a:r>
          </a:p>
        </p:txBody>
      </p:sp>
      <p:sp>
        <p:nvSpPr>
          <p:cNvPr id="7" name="TextBox 7"/>
          <p:cNvSpPr txBox="1"/>
          <p:nvPr/>
        </p:nvSpPr>
        <p:spPr>
          <a:xfrm>
            <a:off x="352748" y="1901937"/>
            <a:ext cx="2905958" cy="438150"/>
          </a:xfrm>
          <a:prstGeom prst="rect">
            <a:avLst/>
          </a:prstGeom>
        </p:spPr>
        <p:txBody>
          <a:bodyPr lIns="0" tIns="0" rIns="0" bIns="0" rtlCol="0" anchor="t">
            <a:spAutoFit/>
          </a:bodyPr>
          <a:lstStyle/>
          <a:p>
            <a:pPr algn="ctr">
              <a:lnSpc>
                <a:spcPts val="3300"/>
              </a:lnSpc>
              <a:spcBef>
                <a:spcPct val="0"/>
              </a:spcBef>
            </a:pPr>
            <a:r>
              <a:rPr lang="en-US" sz="3000" b="1">
                <a:solidFill>
                  <a:srgbClr val="000000"/>
                </a:solidFill>
                <a:latin typeface="Asap Semi-Bold"/>
                <a:ea typeface="Asap Semi-Bold"/>
                <a:cs typeface="Asap Semi-Bold"/>
                <a:sym typeface="Asap Semi-Bold"/>
              </a:rPr>
              <a:t>Trang Đăng nhập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6175" y="1892959"/>
            <a:ext cx="3580046" cy="7240362"/>
          </a:xfrm>
          <a:custGeom>
            <a:avLst/>
            <a:gdLst/>
            <a:ahLst/>
            <a:cxnLst/>
            <a:rect l="l" t="t" r="r" b="b"/>
            <a:pathLst>
              <a:path w="3580046" h="7240362">
                <a:moveTo>
                  <a:pt x="0" y="0"/>
                </a:moveTo>
                <a:lnTo>
                  <a:pt x="3580046" y="0"/>
                </a:lnTo>
                <a:lnTo>
                  <a:pt x="3580046" y="7240362"/>
                </a:lnTo>
                <a:lnTo>
                  <a:pt x="0" y="7240362"/>
                </a:lnTo>
                <a:lnTo>
                  <a:pt x="0" y="0"/>
                </a:lnTo>
                <a:close/>
              </a:path>
            </a:pathLst>
          </a:custGeom>
          <a:blipFill>
            <a:blip r:embed="rId2"/>
            <a:stretch>
              <a:fillRect/>
            </a:stretch>
          </a:blipFill>
        </p:spPr>
        <p:txBody>
          <a:bodyPr/>
          <a:lstStyle/>
          <a:p>
            <a:endParaRPr lang="en-US"/>
          </a:p>
        </p:txBody>
      </p:sp>
      <p:sp>
        <p:nvSpPr>
          <p:cNvPr id="3" name="Freeform 3"/>
          <p:cNvSpPr/>
          <p:nvPr/>
        </p:nvSpPr>
        <p:spPr>
          <a:xfrm>
            <a:off x="4706689" y="2362881"/>
            <a:ext cx="3386957" cy="6895419"/>
          </a:xfrm>
          <a:custGeom>
            <a:avLst/>
            <a:gdLst/>
            <a:ahLst/>
            <a:cxnLst/>
            <a:rect l="l" t="t" r="r" b="b"/>
            <a:pathLst>
              <a:path w="3386957" h="6895419">
                <a:moveTo>
                  <a:pt x="0" y="0"/>
                </a:moveTo>
                <a:lnTo>
                  <a:pt x="3386957" y="0"/>
                </a:lnTo>
                <a:lnTo>
                  <a:pt x="3386957" y="6895419"/>
                </a:lnTo>
                <a:lnTo>
                  <a:pt x="0" y="6895419"/>
                </a:lnTo>
                <a:lnTo>
                  <a:pt x="0" y="0"/>
                </a:lnTo>
                <a:close/>
              </a:path>
            </a:pathLst>
          </a:custGeom>
          <a:blipFill>
            <a:blip r:embed="rId3"/>
            <a:stretch>
              <a:fillRect/>
            </a:stretch>
          </a:blipFill>
        </p:spPr>
        <p:txBody>
          <a:bodyPr/>
          <a:lstStyle/>
          <a:p>
            <a:endParaRPr lang="en-US"/>
          </a:p>
        </p:txBody>
      </p:sp>
      <p:sp>
        <p:nvSpPr>
          <p:cNvPr id="4" name="Freeform 4"/>
          <p:cNvSpPr/>
          <p:nvPr/>
        </p:nvSpPr>
        <p:spPr>
          <a:xfrm>
            <a:off x="8891062" y="2362881"/>
            <a:ext cx="3335959" cy="6836473"/>
          </a:xfrm>
          <a:custGeom>
            <a:avLst/>
            <a:gdLst/>
            <a:ahLst/>
            <a:cxnLst/>
            <a:rect l="l" t="t" r="r" b="b"/>
            <a:pathLst>
              <a:path w="3335959" h="6836473">
                <a:moveTo>
                  <a:pt x="0" y="0"/>
                </a:moveTo>
                <a:lnTo>
                  <a:pt x="3335959" y="0"/>
                </a:lnTo>
                <a:lnTo>
                  <a:pt x="3335959" y="6836473"/>
                </a:lnTo>
                <a:lnTo>
                  <a:pt x="0" y="6836473"/>
                </a:lnTo>
                <a:lnTo>
                  <a:pt x="0" y="0"/>
                </a:lnTo>
                <a:close/>
              </a:path>
            </a:pathLst>
          </a:custGeom>
          <a:blipFill>
            <a:blip r:embed="rId4"/>
            <a:stretch>
              <a:fillRect/>
            </a:stretch>
          </a:blipFill>
        </p:spPr>
        <p:txBody>
          <a:bodyPr/>
          <a:lstStyle/>
          <a:p>
            <a:endParaRPr lang="en-US"/>
          </a:p>
        </p:txBody>
      </p:sp>
      <p:sp>
        <p:nvSpPr>
          <p:cNvPr id="5" name="Freeform 5"/>
          <p:cNvSpPr/>
          <p:nvPr/>
        </p:nvSpPr>
        <p:spPr>
          <a:xfrm>
            <a:off x="13205516" y="2362881"/>
            <a:ext cx="3351212" cy="6836473"/>
          </a:xfrm>
          <a:custGeom>
            <a:avLst/>
            <a:gdLst/>
            <a:ahLst/>
            <a:cxnLst/>
            <a:rect l="l" t="t" r="r" b="b"/>
            <a:pathLst>
              <a:path w="3351212" h="6836473">
                <a:moveTo>
                  <a:pt x="0" y="0"/>
                </a:moveTo>
                <a:lnTo>
                  <a:pt x="3351212" y="0"/>
                </a:lnTo>
                <a:lnTo>
                  <a:pt x="3351212" y="6836473"/>
                </a:lnTo>
                <a:lnTo>
                  <a:pt x="0" y="6836473"/>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45864" y="275949"/>
            <a:ext cx="4792495" cy="841356"/>
          </a:xfrm>
          <a:prstGeom prst="rect">
            <a:avLst/>
          </a:prstGeom>
        </p:spPr>
        <p:txBody>
          <a:bodyPr lIns="0" tIns="0" rIns="0" bIns="0" rtlCol="0" anchor="t">
            <a:spAutoFit/>
          </a:bodyPr>
          <a:lstStyle/>
          <a:p>
            <a:pPr algn="ctr">
              <a:lnSpc>
                <a:spcPts val="6497"/>
              </a:lnSpc>
              <a:spcBef>
                <a:spcPct val="0"/>
              </a:spcBef>
            </a:pPr>
            <a:r>
              <a:rPr lang="en-US" sz="5906" b="1">
                <a:solidFill>
                  <a:srgbClr val="000000"/>
                </a:solidFill>
                <a:latin typeface="Asap Semi-Bold"/>
                <a:ea typeface="Asap Semi-Bold"/>
                <a:cs typeface="Asap Semi-Bold"/>
                <a:sym typeface="Asap Semi-Bold"/>
              </a:rPr>
              <a:t>Trang Đăng ký</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58603" y="5143500"/>
            <a:ext cx="2345759" cy="4765987"/>
          </a:xfrm>
          <a:custGeom>
            <a:avLst/>
            <a:gdLst/>
            <a:ahLst/>
            <a:cxnLst/>
            <a:rect l="l" t="t" r="r" b="b"/>
            <a:pathLst>
              <a:path w="2345759" h="4765987">
                <a:moveTo>
                  <a:pt x="0" y="0"/>
                </a:moveTo>
                <a:lnTo>
                  <a:pt x="2345759" y="0"/>
                </a:lnTo>
                <a:lnTo>
                  <a:pt x="2345759" y="4765987"/>
                </a:lnTo>
                <a:lnTo>
                  <a:pt x="0" y="4765987"/>
                </a:lnTo>
                <a:lnTo>
                  <a:pt x="0" y="0"/>
                </a:lnTo>
                <a:close/>
              </a:path>
            </a:pathLst>
          </a:custGeom>
          <a:blipFill>
            <a:blip r:embed="rId2"/>
            <a:stretch>
              <a:fillRect/>
            </a:stretch>
          </a:blipFill>
        </p:spPr>
        <p:txBody>
          <a:bodyPr/>
          <a:lstStyle/>
          <a:p>
            <a:endParaRPr lang="en-US"/>
          </a:p>
        </p:txBody>
      </p:sp>
      <p:sp>
        <p:nvSpPr>
          <p:cNvPr id="3" name="Freeform 3"/>
          <p:cNvSpPr/>
          <p:nvPr/>
        </p:nvSpPr>
        <p:spPr>
          <a:xfrm>
            <a:off x="0" y="1477513"/>
            <a:ext cx="3361961" cy="6821243"/>
          </a:xfrm>
          <a:custGeom>
            <a:avLst/>
            <a:gdLst/>
            <a:ahLst/>
            <a:cxnLst/>
            <a:rect l="l" t="t" r="r" b="b"/>
            <a:pathLst>
              <a:path w="3361961" h="6821243">
                <a:moveTo>
                  <a:pt x="0" y="0"/>
                </a:moveTo>
                <a:lnTo>
                  <a:pt x="3361961" y="0"/>
                </a:lnTo>
                <a:lnTo>
                  <a:pt x="3361961" y="6821243"/>
                </a:lnTo>
                <a:lnTo>
                  <a:pt x="0" y="6821243"/>
                </a:lnTo>
                <a:lnTo>
                  <a:pt x="0" y="0"/>
                </a:lnTo>
                <a:close/>
              </a:path>
            </a:pathLst>
          </a:custGeom>
          <a:blipFill>
            <a:blip r:embed="rId3"/>
            <a:stretch>
              <a:fillRect/>
            </a:stretch>
          </a:blipFill>
        </p:spPr>
        <p:txBody>
          <a:bodyPr/>
          <a:lstStyle/>
          <a:p>
            <a:endParaRPr lang="en-US"/>
          </a:p>
        </p:txBody>
      </p:sp>
      <p:sp>
        <p:nvSpPr>
          <p:cNvPr id="4" name="Freeform 4"/>
          <p:cNvSpPr/>
          <p:nvPr/>
        </p:nvSpPr>
        <p:spPr>
          <a:xfrm>
            <a:off x="6301003" y="263819"/>
            <a:ext cx="12201661" cy="5559202"/>
          </a:xfrm>
          <a:custGeom>
            <a:avLst/>
            <a:gdLst/>
            <a:ahLst/>
            <a:cxnLst/>
            <a:rect l="l" t="t" r="r" b="b"/>
            <a:pathLst>
              <a:path w="12201661" h="5559202">
                <a:moveTo>
                  <a:pt x="0" y="0"/>
                </a:moveTo>
                <a:lnTo>
                  <a:pt x="12201661" y="0"/>
                </a:lnTo>
                <a:lnTo>
                  <a:pt x="12201661" y="5559202"/>
                </a:lnTo>
                <a:lnTo>
                  <a:pt x="0" y="5559202"/>
                </a:lnTo>
                <a:lnTo>
                  <a:pt x="0" y="0"/>
                </a:lnTo>
                <a:close/>
              </a:path>
            </a:pathLst>
          </a:custGeom>
          <a:blipFill>
            <a:blip r:embed="rId4"/>
            <a:stretch>
              <a:fillRect l="-326" t="-3831" r="-326"/>
            </a:stretch>
          </a:blipFill>
        </p:spPr>
        <p:txBody>
          <a:bodyPr/>
          <a:lstStyle/>
          <a:p>
            <a:endParaRPr lang="en-US"/>
          </a:p>
        </p:txBody>
      </p:sp>
      <p:sp>
        <p:nvSpPr>
          <p:cNvPr id="5" name="TextBox 5"/>
          <p:cNvSpPr txBox="1"/>
          <p:nvPr/>
        </p:nvSpPr>
        <p:spPr>
          <a:xfrm>
            <a:off x="151657" y="301919"/>
            <a:ext cx="6420608" cy="634869"/>
          </a:xfrm>
          <a:prstGeom prst="rect">
            <a:avLst/>
          </a:prstGeom>
        </p:spPr>
        <p:txBody>
          <a:bodyPr lIns="0" tIns="0" rIns="0" bIns="0" rtlCol="0" anchor="t">
            <a:spAutoFit/>
          </a:bodyPr>
          <a:lstStyle/>
          <a:p>
            <a:pPr algn="ctr">
              <a:lnSpc>
                <a:spcPts val="4866"/>
              </a:lnSpc>
              <a:spcBef>
                <a:spcPct val="0"/>
              </a:spcBef>
            </a:pPr>
            <a:r>
              <a:rPr lang="en-US" sz="4423" b="1">
                <a:solidFill>
                  <a:srgbClr val="000000"/>
                </a:solidFill>
                <a:latin typeface="Asap Semi-Bold"/>
                <a:ea typeface="Asap Semi-Bold"/>
                <a:cs typeface="Asap Semi-Bold"/>
                <a:sym typeface="Asap Semi-Bold"/>
              </a:rPr>
              <a:t>Trang Đổi mật khẩu (OTP)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0529" y="1307086"/>
            <a:ext cx="2925261" cy="5922624"/>
          </a:xfrm>
          <a:custGeom>
            <a:avLst/>
            <a:gdLst/>
            <a:ahLst/>
            <a:cxnLst/>
            <a:rect l="l" t="t" r="r" b="b"/>
            <a:pathLst>
              <a:path w="2925261" h="5922624">
                <a:moveTo>
                  <a:pt x="0" y="0"/>
                </a:moveTo>
                <a:lnTo>
                  <a:pt x="2925261" y="0"/>
                </a:lnTo>
                <a:lnTo>
                  <a:pt x="2925261" y="5922625"/>
                </a:lnTo>
                <a:lnTo>
                  <a:pt x="0" y="5922625"/>
                </a:lnTo>
                <a:lnTo>
                  <a:pt x="0" y="0"/>
                </a:lnTo>
                <a:close/>
              </a:path>
            </a:pathLst>
          </a:custGeom>
          <a:blipFill>
            <a:blip r:embed="rId2"/>
            <a:stretch>
              <a:fillRect/>
            </a:stretch>
          </a:blipFill>
        </p:spPr>
        <p:txBody>
          <a:bodyPr/>
          <a:lstStyle/>
          <a:p>
            <a:endParaRPr lang="en-US"/>
          </a:p>
        </p:txBody>
      </p:sp>
      <p:sp>
        <p:nvSpPr>
          <p:cNvPr id="3" name="Freeform 3"/>
          <p:cNvSpPr/>
          <p:nvPr/>
        </p:nvSpPr>
        <p:spPr>
          <a:xfrm>
            <a:off x="3589640" y="1301506"/>
            <a:ext cx="2892555" cy="5928205"/>
          </a:xfrm>
          <a:custGeom>
            <a:avLst/>
            <a:gdLst/>
            <a:ahLst/>
            <a:cxnLst/>
            <a:rect l="l" t="t" r="r" b="b"/>
            <a:pathLst>
              <a:path w="2892555" h="5928205">
                <a:moveTo>
                  <a:pt x="0" y="0"/>
                </a:moveTo>
                <a:lnTo>
                  <a:pt x="2892555" y="0"/>
                </a:lnTo>
                <a:lnTo>
                  <a:pt x="2892555" y="5928205"/>
                </a:lnTo>
                <a:lnTo>
                  <a:pt x="0" y="5928205"/>
                </a:lnTo>
                <a:lnTo>
                  <a:pt x="0" y="0"/>
                </a:lnTo>
                <a:close/>
              </a:path>
            </a:pathLst>
          </a:custGeom>
          <a:blipFill>
            <a:blip r:embed="rId3"/>
            <a:stretch>
              <a:fillRect/>
            </a:stretch>
          </a:blipFill>
        </p:spPr>
        <p:txBody>
          <a:bodyPr/>
          <a:lstStyle/>
          <a:p>
            <a:endParaRPr lang="en-US"/>
          </a:p>
        </p:txBody>
      </p:sp>
      <p:sp>
        <p:nvSpPr>
          <p:cNvPr id="4" name="Freeform 4"/>
          <p:cNvSpPr/>
          <p:nvPr/>
        </p:nvSpPr>
        <p:spPr>
          <a:xfrm>
            <a:off x="8045045" y="5526171"/>
            <a:ext cx="2197909" cy="4442091"/>
          </a:xfrm>
          <a:custGeom>
            <a:avLst/>
            <a:gdLst/>
            <a:ahLst/>
            <a:cxnLst/>
            <a:rect l="l" t="t" r="r" b="b"/>
            <a:pathLst>
              <a:path w="2197909" h="4442091">
                <a:moveTo>
                  <a:pt x="0" y="0"/>
                </a:moveTo>
                <a:lnTo>
                  <a:pt x="2197910" y="0"/>
                </a:lnTo>
                <a:lnTo>
                  <a:pt x="2197910" y="4442090"/>
                </a:lnTo>
                <a:lnTo>
                  <a:pt x="0" y="4442090"/>
                </a:lnTo>
                <a:lnTo>
                  <a:pt x="0" y="0"/>
                </a:lnTo>
                <a:close/>
              </a:path>
            </a:pathLst>
          </a:custGeom>
          <a:blipFill>
            <a:blip r:embed="rId4"/>
            <a:stretch>
              <a:fillRect/>
            </a:stretch>
          </a:blipFill>
        </p:spPr>
        <p:txBody>
          <a:bodyPr/>
          <a:lstStyle/>
          <a:p>
            <a:endParaRPr lang="en-US"/>
          </a:p>
        </p:txBody>
      </p:sp>
      <p:sp>
        <p:nvSpPr>
          <p:cNvPr id="5" name="Freeform 5"/>
          <p:cNvSpPr/>
          <p:nvPr/>
        </p:nvSpPr>
        <p:spPr>
          <a:xfrm>
            <a:off x="6808591" y="0"/>
            <a:ext cx="11301259" cy="5212706"/>
          </a:xfrm>
          <a:custGeom>
            <a:avLst/>
            <a:gdLst/>
            <a:ahLst/>
            <a:cxnLst/>
            <a:rect l="l" t="t" r="r" b="b"/>
            <a:pathLst>
              <a:path w="11301259" h="5212706">
                <a:moveTo>
                  <a:pt x="0" y="0"/>
                </a:moveTo>
                <a:lnTo>
                  <a:pt x="11301259" y="0"/>
                </a:lnTo>
                <a:lnTo>
                  <a:pt x="11301259" y="5212706"/>
                </a:lnTo>
                <a:lnTo>
                  <a:pt x="0" y="5212706"/>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82865" y="57150"/>
            <a:ext cx="5671471" cy="909594"/>
          </a:xfrm>
          <a:prstGeom prst="rect">
            <a:avLst/>
          </a:prstGeom>
        </p:spPr>
        <p:txBody>
          <a:bodyPr lIns="0" tIns="0" rIns="0" bIns="0" rtlCol="0" anchor="t">
            <a:spAutoFit/>
          </a:bodyPr>
          <a:lstStyle/>
          <a:p>
            <a:pPr algn="ctr">
              <a:lnSpc>
                <a:spcPts val="6990"/>
              </a:lnSpc>
              <a:spcBef>
                <a:spcPct val="0"/>
              </a:spcBef>
            </a:pPr>
            <a:r>
              <a:rPr lang="en-US" sz="6355" b="1">
                <a:solidFill>
                  <a:srgbClr val="000000"/>
                </a:solidFill>
                <a:latin typeface="Asap Semi-Bold"/>
                <a:ea typeface="Asap Semi-Bold"/>
                <a:cs typeface="Asap Semi-Bold"/>
                <a:sym typeface="Asap Semi-Bold"/>
              </a:rPr>
              <a:t>Quên mật khẩu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21138" y="1688996"/>
            <a:ext cx="3623998" cy="7379379"/>
          </a:xfrm>
          <a:custGeom>
            <a:avLst/>
            <a:gdLst/>
            <a:ahLst/>
            <a:cxnLst/>
            <a:rect l="l" t="t" r="r" b="b"/>
            <a:pathLst>
              <a:path w="3623998" h="7379379">
                <a:moveTo>
                  <a:pt x="0" y="0"/>
                </a:moveTo>
                <a:lnTo>
                  <a:pt x="3623998" y="0"/>
                </a:lnTo>
                <a:lnTo>
                  <a:pt x="3623998" y="7379379"/>
                </a:lnTo>
                <a:lnTo>
                  <a:pt x="0" y="7379379"/>
                </a:lnTo>
                <a:lnTo>
                  <a:pt x="0" y="0"/>
                </a:lnTo>
                <a:close/>
              </a:path>
            </a:pathLst>
          </a:custGeom>
          <a:blipFill>
            <a:blip r:embed="rId2"/>
            <a:stretch>
              <a:fillRect/>
            </a:stretch>
          </a:blipFill>
        </p:spPr>
        <p:txBody>
          <a:bodyPr/>
          <a:lstStyle/>
          <a:p>
            <a:endParaRPr lang="en-US"/>
          </a:p>
        </p:txBody>
      </p:sp>
      <p:sp>
        <p:nvSpPr>
          <p:cNvPr id="3" name="Freeform 3"/>
          <p:cNvSpPr/>
          <p:nvPr/>
        </p:nvSpPr>
        <p:spPr>
          <a:xfrm>
            <a:off x="9392786" y="1688996"/>
            <a:ext cx="3614826" cy="7379379"/>
          </a:xfrm>
          <a:custGeom>
            <a:avLst/>
            <a:gdLst/>
            <a:ahLst/>
            <a:cxnLst/>
            <a:rect l="l" t="t" r="r" b="b"/>
            <a:pathLst>
              <a:path w="3614826" h="7379379">
                <a:moveTo>
                  <a:pt x="0" y="0"/>
                </a:moveTo>
                <a:lnTo>
                  <a:pt x="3614826" y="0"/>
                </a:lnTo>
                <a:lnTo>
                  <a:pt x="3614826" y="7379379"/>
                </a:lnTo>
                <a:lnTo>
                  <a:pt x="0" y="7379379"/>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58942" y="202353"/>
            <a:ext cx="7684763" cy="606247"/>
          </a:xfrm>
          <a:prstGeom prst="rect">
            <a:avLst/>
          </a:prstGeom>
        </p:spPr>
        <p:txBody>
          <a:bodyPr lIns="0" tIns="0" rIns="0" bIns="0" rtlCol="0" anchor="t">
            <a:spAutoFit/>
          </a:bodyPr>
          <a:lstStyle/>
          <a:p>
            <a:pPr algn="ctr">
              <a:lnSpc>
                <a:spcPts val="4590"/>
              </a:lnSpc>
              <a:spcBef>
                <a:spcPct val="0"/>
              </a:spcBef>
            </a:pPr>
            <a:r>
              <a:rPr lang="en-US" sz="4173" b="1">
                <a:solidFill>
                  <a:srgbClr val="000000"/>
                </a:solidFill>
                <a:latin typeface="Asap Semi-Bold"/>
                <a:ea typeface="Asap Semi-Bold"/>
                <a:cs typeface="Asap Semi-Bold"/>
                <a:sym typeface="Asap Semi-Bold"/>
              </a:rPr>
              <a:t>Trang Thông tin cá nhân (Profile)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9957" y="279409"/>
            <a:ext cx="5893835" cy="623787"/>
          </a:xfrm>
          <a:prstGeom prst="rect">
            <a:avLst/>
          </a:prstGeom>
        </p:spPr>
        <p:txBody>
          <a:bodyPr lIns="0" tIns="0" rIns="0" bIns="0" rtlCol="0" anchor="t">
            <a:spAutoFit/>
          </a:bodyPr>
          <a:lstStyle/>
          <a:p>
            <a:pPr algn="ctr">
              <a:lnSpc>
                <a:spcPts val="4786"/>
              </a:lnSpc>
              <a:spcBef>
                <a:spcPct val="0"/>
              </a:spcBef>
            </a:pPr>
            <a:r>
              <a:rPr lang="en-US" sz="4351" b="1">
                <a:solidFill>
                  <a:srgbClr val="000000"/>
                </a:solidFill>
                <a:latin typeface="Asap Bold"/>
                <a:ea typeface="Asap Bold"/>
                <a:cs typeface="Asap Bold"/>
                <a:sym typeface="Asap Bold"/>
              </a:rPr>
              <a:t>Ưu điểm và nhược điểm </a:t>
            </a:r>
          </a:p>
        </p:txBody>
      </p:sp>
      <p:sp>
        <p:nvSpPr>
          <p:cNvPr id="3" name="TextBox 3"/>
          <p:cNvSpPr txBox="1"/>
          <p:nvPr/>
        </p:nvSpPr>
        <p:spPr>
          <a:xfrm>
            <a:off x="219957" y="1318330"/>
            <a:ext cx="12383482" cy="3094651"/>
          </a:xfrm>
          <a:prstGeom prst="rect">
            <a:avLst/>
          </a:prstGeom>
        </p:spPr>
        <p:txBody>
          <a:bodyPr lIns="0" tIns="0" rIns="0" bIns="0" rtlCol="0" anchor="t">
            <a:spAutoFit/>
          </a:bodyPr>
          <a:lstStyle/>
          <a:p>
            <a:pPr algn="l">
              <a:lnSpc>
                <a:spcPts val="2696"/>
              </a:lnSpc>
              <a:spcBef>
                <a:spcPct val="0"/>
              </a:spcBef>
            </a:pPr>
            <a:r>
              <a:rPr lang="en-US" sz="2451" b="1">
                <a:solidFill>
                  <a:srgbClr val="000000"/>
                </a:solidFill>
                <a:latin typeface="Asap Semi-Bold"/>
                <a:ea typeface="Asap Semi-Bold"/>
                <a:cs typeface="Asap Semi-Bold"/>
                <a:sym typeface="Asap Semi-Bold"/>
              </a:rPr>
              <a:t>Ưu điểm</a:t>
            </a:r>
          </a:p>
          <a:p>
            <a:pPr marL="529329" lvl="1" indent="-264665" algn="l">
              <a:lnSpc>
                <a:spcPts val="2696"/>
              </a:lnSpc>
              <a:spcBef>
                <a:spcPct val="0"/>
              </a:spcBef>
              <a:buFont typeface="Arial"/>
              <a:buChar char="•"/>
            </a:pPr>
            <a:r>
              <a:rPr lang="en-US" sz="2451" b="1">
                <a:solidFill>
                  <a:srgbClr val="000000"/>
                </a:solidFill>
                <a:latin typeface="Asap Semi-Bold"/>
                <a:ea typeface="Asap Semi-Bold"/>
                <a:cs typeface="Asap Semi-Bold"/>
                <a:sym typeface="Asap Semi-Bold"/>
              </a:rPr>
              <a:t>Bảo mật cao:</a:t>
            </a:r>
          </a:p>
          <a:p>
            <a:pPr marL="1058658" lvl="2" indent="-352886" algn="l">
              <a:lnSpc>
                <a:spcPts val="2696"/>
              </a:lnSpc>
              <a:spcBef>
                <a:spcPct val="0"/>
              </a:spcBef>
              <a:buFont typeface="Arial"/>
              <a:buChar char="⚬"/>
            </a:pPr>
            <a:r>
              <a:rPr lang="en-US" sz="2451" b="1">
                <a:solidFill>
                  <a:srgbClr val="000000"/>
                </a:solidFill>
                <a:latin typeface="Asap Semi-Bold"/>
                <a:ea typeface="Asap Semi-Bold"/>
                <a:cs typeface="Asap Semi-Bold"/>
                <a:sym typeface="Asap Semi-Bold"/>
              </a:rPr>
              <a:t>Không lưu mật khẩu gốc (chỉ lưu hash + salt).</a:t>
            </a:r>
          </a:p>
          <a:p>
            <a:pPr marL="1058658" lvl="2" indent="-352886" algn="l">
              <a:lnSpc>
                <a:spcPts val="2696"/>
              </a:lnSpc>
              <a:spcBef>
                <a:spcPct val="0"/>
              </a:spcBef>
              <a:buFont typeface="Arial"/>
              <a:buChar char="⚬"/>
            </a:pPr>
            <a:r>
              <a:rPr lang="en-US" sz="2451" b="1">
                <a:solidFill>
                  <a:srgbClr val="000000"/>
                </a:solidFill>
                <a:latin typeface="Asap Semi-Bold"/>
                <a:ea typeface="Asap Semi-Bold"/>
                <a:cs typeface="Asap Semi-Bold"/>
                <a:sym typeface="Asap Semi-Bold"/>
              </a:rPr>
              <a:t>Dùng JWT để quản lý phiên → tránh lưu session trên server.</a:t>
            </a:r>
          </a:p>
          <a:p>
            <a:pPr marL="529329" lvl="1" indent="-264665" algn="l">
              <a:lnSpc>
                <a:spcPts val="2696"/>
              </a:lnSpc>
              <a:spcBef>
                <a:spcPct val="0"/>
              </a:spcBef>
              <a:buFont typeface="Arial"/>
              <a:buChar char="•"/>
            </a:pPr>
            <a:r>
              <a:rPr lang="en-US" sz="2451" b="1">
                <a:solidFill>
                  <a:srgbClr val="000000"/>
                </a:solidFill>
                <a:latin typeface="Asap Semi-Bold"/>
                <a:ea typeface="Asap Semi-Bold"/>
                <a:cs typeface="Asap Semi-Bold"/>
                <a:sym typeface="Asap Semi-Bold"/>
              </a:rPr>
              <a:t>Hỗ trợ OTP &amp; 2FA → tăng cường an toàn khi đổi/khôi phục mật khẩu.</a:t>
            </a:r>
          </a:p>
          <a:p>
            <a:pPr marL="529329" lvl="1" indent="-264665" algn="l">
              <a:lnSpc>
                <a:spcPts val="2696"/>
              </a:lnSpc>
              <a:spcBef>
                <a:spcPct val="0"/>
              </a:spcBef>
              <a:buFont typeface="Arial"/>
              <a:buChar char="•"/>
            </a:pPr>
            <a:r>
              <a:rPr lang="en-US" sz="2451" b="1">
                <a:solidFill>
                  <a:srgbClr val="000000"/>
                </a:solidFill>
                <a:latin typeface="Asap Semi-Bold"/>
                <a:ea typeface="Asap Semi-Bold"/>
                <a:cs typeface="Asap Semi-Bold"/>
                <a:sym typeface="Asap Semi-Bold"/>
              </a:rPr>
              <a:t>Frontend &amp; Backend tách biệt → dễ mở rộng, nâng cấp.</a:t>
            </a:r>
          </a:p>
          <a:p>
            <a:pPr marL="529329" lvl="1" indent="-264665" algn="l">
              <a:lnSpc>
                <a:spcPts val="2696"/>
              </a:lnSpc>
              <a:spcBef>
                <a:spcPct val="0"/>
              </a:spcBef>
              <a:buFont typeface="Arial"/>
              <a:buChar char="•"/>
            </a:pPr>
            <a:r>
              <a:rPr lang="en-US" sz="2451" b="1">
                <a:solidFill>
                  <a:srgbClr val="000000"/>
                </a:solidFill>
                <a:latin typeface="Asap Semi-Bold"/>
                <a:ea typeface="Asap Semi-Bold"/>
                <a:cs typeface="Asap Semi-Bold"/>
                <a:sym typeface="Asap Semi-Bold"/>
              </a:rPr>
              <a:t>Có log đăng nhập → thuận tiện giám sát và phát hiện bất thường.</a:t>
            </a:r>
          </a:p>
          <a:p>
            <a:pPr marL="529329" lvl="1" indent="-264665" algn="l">
              <a:lnSpc>
                <a:spcPts val="2696"/>
              </a:lnSpc>
              <a:spcBef>
                <a:spcPct val="0"/>
              </a:spcBef>
              <a:buFont typeface="Arial"/>
              <a:buChar char="•"/>
            </a:pPr>
            <a:r>
              <a:rPr lang="en-US" sz="2451" b="1">
                <a:solidFill>
                  <a:srgbClr val="000000"/>
                </a:solidFill>
                <a:latin typeface="Asap Semi-Bold"/>
                <a:ea typeface="Asap Semi-Bold"/>
                <a:cs typeface="Asap Semi-Bold"/>
                <a:sym typeface="Asap Semi-Bold"/>
              </a:rPr>
              <a:t>Dễ tích hợp: có thể mở rộng với OAuth (Google/Facebook).</a:t>
            </a:r>
          </a:p>
          <a:p>
            <a:pPr algn="l">
              <a:lnSpc>
                <a:spcPts val="2696"/>
              </a:lnSpc>
              <a:spcBef>
                <a:spcPct val="0"/>
              </a:spcBef>
            </a:pPr>
            <a:endParaRPr lang="en-US" sz="2451" b="1">
              <a:solidFill>
                <a:srgbClr val="000000"/>
              </a:solidFill>
              <a:latin typeface="Asap Semi-Bold"/>
              <a:ea typeface="Asap Semi-Bold"/>
              <a:cs typeface="Asap Semi-Bold"/>
              <a:sym typeface="Asap Semi-Bold"/>
            </a:endParaRPr>
          </a:p>
        </p:txBody>
      </p:sp>
      <p:sp>
        <p:nvSpPr>
          <p:cNvPr id="4" name="TextBox 4"/>
          <p:cNvSpPr txBox="1"/>
          <p:nvPr/>
        </p:nvSpPr>
        <p:spPr>
          <a:xfrm>
            <a:off x="219957" y="5550218"/>
            <a:ext cx="14548128" cy="2952750"/>
          </a:xfrm>
          <a:prstGeom prst="rect">
            <a:avLst/>
          </a:prstGeom>
        </p:spPr>
        <p:txBody>
          <a:bodyPr lIns="0" tIns="0" rIns="0" bIns="0" rtlCol="0" anchor="t">
            <a:spAutoFit/>
          </a:bodyPr>
          <a:lstStyle/>
          <a:p>
            <a:pPr algn="ctr">
              <a:lnSpc>
                <a:spcPts val="3300"/>
              </a:lnSpc>
              <a:spcBef>
                <a:spcPct val="0"/>
              </a:spcBef>
            </a:pPr>
            <a:r>
              <a:rPr lang="en-US" sz="3000" b="1">
                <a:solidFill>
                  <a:srgbClr val="000000"/>
                </a:solidFill>
                <a:latin typeface="Asap Semi-Bold"/>
                <a:ea typeface="Asap Semi-Bold"/>
                <a:cs typeface="Asap Semi-Bold"/>
                <a:sym typeface="Asap Semi-Bold"/>
              </a:rPr>
              <a:t>Nhược điểm</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OTP chưa được băm khi lưu (theo báo cáo) → có nguy cơ lộ OTP.</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Chưa có logging chi tiết để theo dõi tấn công phức tạp.</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Phụ thuộc vào JWT expiry → nếu refresh token bị lộ có thể bị lợi dụng.</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Chưa có kiểm thử bảo mật chuyên sâu (OWASP, penetration test).</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Hiệu năng: bcrypt/Argon2 an toàn nhưng tốn tài nguyên khi người dùng tăng nhiều.</a:t>
            </a:r>
          </a:p>
          <a:p>
            <a:pPr algn="l">
              <a:lnSpc>
                <a:spcPts val="3300"/>
              </a:lnSpc>
              <a:spcBef>
                <a:spcPct val="0"/>
              </a:spcBef>
            </a:pPr>
            <a:endParaRPr lang="en-US" sz="3000" b="1">
              <a:solidFill>
                <a:srgbClr val="000000"/>
              </a:solidFill>
              <a:latin typeface="Asap Semi-Bold"/>
              <a:ea typeface="Asap Semi-Bold"/>
              <a:cs typeface="Asap Semi-Bold"/>
              <a:sym typeface="Asap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1585" y="492601"/>
            <a:ext cx="12372380" cy="1138873"/>
          </a:xfrm>
          <a:prstGeom prst="rect">
            <a:avLst/>
          </a:prstGeom>
        </p:spPr>
        <p:txBody>
          <a:bodyPr lIns="0" tIns="0" rIns="0" bIns="0" rtlCol="0" anchor="t">
            <a:spAutoFit/>
          </a:bodyPr>
          <a:lstStyle/>
          <a:p>
            <a:pPr algn="ctr">
              <a:lnSpc>
                <a:spcPts val="8717"/>
              </a:lnSpc>
              <a:spcBef>
                <a:spcPct val="0"/>
              </a:spcBef>
            </a:pPr>
            <a:r>
              <a:rPr lang="en-US" sz="7925" b="1">
                <a:solidFill>
                  <a:srgbClr val="000000"/>
                </a:solidFill>
                <a:latin typeface="Asap Semi-Bold"/>
                <a:ea typeface="Asap Semi-Bold"/>
                <a:cs typeface="Asap Semi-Bold"/>
                <a:sym typeface="Asap Semi-Bold"/>
              </a:rPr>
              <a:t>Kết luận &amp; Hướng phát triển</a:t>
            </a:r>
          </a:p>
        </p:txBody>
      </p:sp>
      <p:sp>
        <p:nvSpPr>
          <p:cNvPr id="3" name="TextBox 3"/>
          <p:cNvSpPr txBox="1"/>
          <p:nvPr/>
        </p:nvSpPr>
        <p:spPr>
          <a:xfrm>
            <a:off x="211585" y="2533873"/>
            <a:ext cx="13171207" cy="1308491"/>
          </a:xfrm>
          <a:prstGeom prst="rect">
            <a:avLst/>
          </a:prstGeom>
        </p:spPr>
        <p:txBody>
          <a:bodyPr lIns="0" tIns="0" rIns="0" bIns="0" rtlCol="0" anchor="t">
            <a:spAutoFit/>
          </a:bodyPr>
          <a:lstStyle/>
          <a:p>
            <a:pPr marL="663770" lvl="1" indent="-331885" algn="ctr">
              <a:lnSpc>
                <a:spcPts val="3381"/>
              </a:lnSpc>
              <a:spcBef>
                <a:spcPct val="0"/>
              </a:spcBef>
              <a:buFont typeface="Arial"/>
              <a:buChar char="•"/>
            </a:pPr>
            <a:r>
              <a:rPr lang="en-US" sz="3074" b="1">
                <a:solidFill>
                  <a:srgbClr val="000000"/>
                </a:solidFill>
                <a:latin typeface="Asap Semi-Bold"/>
                <a:ea typeface="Asap Semi-Bold"/>
                <a:cs typeface="Asap Semi-Bold"/>
                <a:sym typeface="Asap Semi-Bold"/>
              </a:rPr>
              <a:t>Hệ thống đã đảm bảo: đăng nhập/đăng ký an toàn, hash + salt, JWT, OTP.</a:t>
            </a:r>
          </a:p>
          <a:p>
            <a:pPr marL="663770" lvl="1" indent="-331885" algn="l">
              <a:lnSpc>
                <a:spcPts val="3381"/>
              </a:lnSpc>
              <a:spcBef>
                <a:spcPct val="0"/>
              </a:spcBef>
              <a:buFont typeface="Arial"/>
              <a:buChar char="•"/>
            </a:pPr>
            <a:r>
              <a:rPr lang="en-US" sz="3074" b="1">
                <a:solidFill>
                  <a:srgbClr val="000000"/>
                </a:solidFill>
                <a:latin typeface="Asap Semi-Bold"/>
                <a:ea typeface="Asap Semi-Bold"/>
                <a:cs typeface="Asap Semi-Bold"/>
                <a:sym typeface="Asap Semi-Bold"/>
              </a:rPr>
              <a:t>Giảm thiểu tấn công brute-force, MITM, credential stuffing</a:t>
            </a:r>
          </a:p>
          <a:p>
            <a:pPr algn="ctr">
              <a:lnSpc>
                <a:spcPts val="3381"/>
              </a:lnSpc>
              <a:spcBef>
                <a:spcPct val="0"/>
              </a:spcBef>
            </a:pPr>
            <a:endParaRPr lang="en-US" sz="3074" b="1">
              <a:solidFill>
                <a:srgbClr val="000000"/>
              </a:solidFill>
              <a:latin typeface="Asap Semi-Bold"/>
              <a:ea typeface="Asap Semi-Bold"/>
              <a:cs typeface="Asap Semi-Bold"/>
              <a:sym typeface="Asap Semi-Bold"/>
            </a:endParaRPr>
          </a:p>
        </p:txBody>
      </p:sp>
      <p:sp>
        <p:nvSpPr>
          <p:cNvPr id="4" name="TextBox 4"/>
          <p:cNvSpPr txBox="1"/>
          <p:nvPr/>
        </p:nvSpPr>
        <p:spPr>
          <a:xfrm>
            <a:off x="630281" y="4537266"/>
            <a:ext cx="7356753" cy="2831624"/>
          </a:xfrm>
          <a:prstGeom prst="rect">
            <a:avLst/>
          </a:prstGeom>
        </p:spPr>
        <p:txBody>
          <a:bodyPr lIns="0" tIns="0" rIns="0" bIns="0" rtlCol="0" anchor="t">
            <a:spAutoFit/>
          </a:bodyPr>
          <a:lstStyle/>
          <a:p>
            <a:pPr algn="l">
              <a:lnSpc>
                <a:spcPts val="3300"/>
              </a:lnSpc>
              <a:spcBef>
                <a:spcPct val="0"/>
              </a:spcBef>
            </a:pPr>
            <a:r>
              <a:rPr lang="en-US" sz="3000" b="1">
                <a:solidFill>
                  <a:srgbClr val="000000"/>
                </a:solidFill>
                <a:latin typeface="Asap Semi-Bold"/>
                <a:ea typeface="Asap Semi-Bold"/>
                <a:cs typeface="Asap Semi-Bold"/>
                <a:sym typeface="Asap Semi-Bold"/>
              </a:rPr>
              <a:t>Hướng phát triển:</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Tích hợp OAuth2 (Google/Facebook).</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Logging chi tiết (theo dõi tấn công).</a:t>
            </a:r>
          </a:p>
          <a:p>
            <a:pPr marL="647700" lvl="1" indent="-323850" algn="l">
              <a:lnSpc>
                <a:spcPts val="3300"/>
              </a:lnSpc>
              <a:spcBef>
                <a:spcPct val="0"/>
              </a:spcBef>
              <a:buFont typeface="Arial"/>
              <a:buChar char="•"/>
            </a:pPr>
            <a:r>
              <a:rPr lang="en-US" sz="3000" b="1">
                <a:solidFill>
                  <a:srgbClr val="000000"/>
                </a:solidFill>
                <a:latin typeface="Asap Semi-Bold"/>
                <a:ea typeface="Asap Semi-Bold"/>
                <a:cs typeface="Asap Semi-Bold"/>
                <a:sym typeface="Asap Semi-Bold"/>
              </a:rPr>
              <a:t>Kiểm thử bảo mật định kỳ (OWASP ZAP).</a:t>
            </a:r>
          </a:p>
          <a:p>
            <a:pPr algn="ctr">
              <a:lnSpc>
                <a:spcPts val="8717"/>
              </a:lnSpc>
              <a:spcBef>
                <a:spcPct val="0"/>
              </a:spcBef>
            </a:pPr>
            <a:endParaRPr lang="en-US" sz="3000" b="1">
              <a:solidFill>
                <a:srgbClr val="000000"/>
              </a:solidFill>
              <a:latin typeface="Asap Semi-Bold"/>
              <a:ea typeface="Asap Semi-Bold"/>
              <a:cs typeface="Asap Semi-Bold"/>
              <a:sym typeface="Asap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836B2"/>
        </a:solidFill>
        <a:effectLst/>
      </p:bgPr>
    </p:bg>
    <p:spTree>
      <p:nvGrpSpPr>
        <p:cNvPr id="1" name=""/>
        <p:cNvGrpSpPr/>
        <p:nvPr/>
      </p:nvGrpSpPr>
      <p:grpSpPr>
        <a:xfrm>
          <a:off x="0" y="0"/>
          <a:ext cx="0" cy="0"/>
          <a:chOff x="0" y="0"/>
          <a:chExt cx="0" cy="0"/>
        </a:xfrm>
      </p:grpSpPr>
      <p:sp>
        <p:nvSpPr>
          <p:cNvPr id="2" name="Freeform 2"/>
          <p:cNvSpPr/>
          <p:nvPr/>
        </p:nvSpPr>
        <p:spPr>
          <a:xfrm>
            <a:off x="12834808" y="-205809"/>
            <a:ext cx="6044632" cy="3451286"/>
          </a:xfrm>
          <a:custGeom>
            <a:avLst/>
            <a:gdLst/>
            <a:ahLst/>
            <a:cxnLst/>
            <a:rect l="l" t="t" r="r" b="b"/>
            <a:pathLst>
              <a:path w="6044632" h="3451286">
                <a:moveTo>
                  <a:pt x="0" y="0"/>
                </a:moveTo>
                <a:lnTo>
                  <a:pt x="6044632" y="0"/>
                </a:lnTo>
                <a:lnTo>
                  <a:pt x="6044632" y="3451287"/>
                </a:lnTo>
                <a:lnTo>
                  <a:pt x="0" y="3451287"/>
                </a:lnTo>
                <a:lnTo>
                  <a:pt x="0"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sp>
        <p:nvSpPr>
          <p:cNvPr id="3" name="Freeform 3"/>
          <p:cNvSpPr/>
          <p:nvPr/>
        </p:nvSpPr>
        <p:spPr>
          <a:xfrm flipH="1">
            <a:off x="-590291" y="6724549"/>
            <a:ext cx="6630572" cy="3785839"/>
          </a:xfrm>
          <a:custGeom>
            <a:avLst/>
            <a:gdLst/>
            <a:ahLst/>
            <a:cxnLst/>
            <a:rect l="l" t="t" r="r" b="b"/>
            <a:pathLst>
              <a:path w="6630572" h="3785839">
                <a:moveTo>
                  <a:pt x="6630572" y="0"/>
                </a:moveTo>
                <a:lnTo>
                  <a:pt x="0" y="0"/>
                </a:lnTo>
                <a:lnTo>
                  <a:pt x="0" y="3785839"/>
                </a:lnTo>
                <a:lnTo>
                  <a:pt x="6630572" y="3785839"/>
                </a:lnTo>
                <a:lnTo>
                  <a:pt x="6630572" y="0"/>
                </a:lnTo>
                <a:close/>
              </a:path>
            </a:pathLst>
          </a:custGeom>
          <a:blipFill>
            <a:blip r:embed="rId2">
              <a:extLst>
                <a:ext uri="{96DAC541-7B7A-43D3-8B79-37D633B846F1}">
                  <asvg:svgBlip xmlns:asvg="http://schemas.microsoft.com/office/drawing/2016/SVG/main" r:embed="rId3"/>
                </a:ext>
              </a:extLst>
            </a:blip>
            <a:stretch>
              <a:fillRect t="-51576"/>
            </a:stretch>
          </a:blipFill>
        </p:spPr>
        <p:txBody>
          <a:bodyPr/>
          <a:lstStyle/>
          <a:p>
            <a:endParaRPr lang="en-US"/>
          </a:p>
        </p:txBody>
      </p:sp>
      <p:grpSp>
        <p:nvGrpSpPr>
          <p:cNvPr id="4" name="Group 4"/>
          <p:cNvGrpSpPr/>
          <p:nvPr/>
        </p:nvGrpSpPr>
        <p:grpSpPr>
          <a:xfrm>
            <a:off x="2937233" y="2987473"/>
            <a:ext cx="12675517" cy="3051938"/>
            <a:chOff x="0" y="0"/>
            <a:chExt cx="16900689" cy="4069251"/>
          </a:xfrm>
        </p:grpSpPr>
        <p:sp>
          <p:nvSpPr>
            <p:cNvPr id="5" name="TextBox 5"/>
            <p:cNvSpPr txBox="1"/>
            <p:nvPr/>
          </p:nvSpPr>
          <p:spPr>
            <a:xfrm>
              <a:off x="0" y="73696"/>
              <a:ext cx="16900689" cy="3013922"/>
            </a:xfrm>
            <a:prstGeom prst="rect">
              <a:avLst/>
            </a:prstGeom>
          </p:spPr>
          <p:txBody>
            <a:bodyPr lIns="0" tIns="0" rIns="0" bIns="0" rtlCol="0" anchor="t">
              <a:spAutoFit/>
            </a:bodyPr>
            <a:lstStyle/>
            <a:p>
              <a:pPr marL="0" lvl="0" indent="0" algn="ctr">
                <a:lnSpc>
                  <a:spcPts val="8717"/>
                </a:lnSpc>
                <a:spcBef>
                  <a:spcPct val="0"/>
                </a:spcBef>
              </a:pPr>
              <a:r>
                <a:rPr lang="en-US" sz="7925" b="1">
                  <a:solidFill>
                    <a:srgbClr val="FFFFFF"/>
                  </a:solidFill>
                  <a:latin typeface="Asap Semi-Bold"/>
                  <a:ea typeface="Asap Semi-Bold"/>
                  <a:cs typeface="Asap Semi-Bold"/>
                  <a:sym typeface="Asap Semi-Bold"/>
                </a:rPr>
                <a:t>C</a:t>
              </a:r>
              <a:r>
                <a:rPr lang="en-US" sz="7925" b="1" u="none">
                  <a:solidFill>
                    <a:srgbClr val="FFFFFF"/>
                  </a:solidFill>
                  <a:latin typeface="Asap Semi-Bold"/>
                  <a:ea typeface="Asap Semi-Bold"/>
                  <a:cs typeface="Asap Semi-Bold"/>
                  <a:sym typeface="Asap Semi-Bold"/>
                </a:rPr>
                <a:t>ảm ơn thầy và các bạn đã chú ý lắng nghe!</a:t>
              </a:r>
            </a:p>
          </p:txBody>
        </p:sp>
        <p:sp>
          <p:nvSpPr>
            <p:cNvPr id="6" name="TextBox 6"/>
            <p:cNvSpPr txBox="1"/>
            <p:nvPr/>
          </p:nvSpPr>
          <p:spPr>
            <a:xfrm>
              <a:off x="0" y="3490105"/>
              <a:ext cx="16900689" cy="520064"/>
            </a:xfrm>
            <a:prstGeom prst="rect">
              <a:avLst/>
            </a:prstGeom>
          </p:spPr>
          <p:txBody>
            <a:bodyPr lIns="0" tIns="0" rIns="0" bIns="0" rtlCol="0" anchor="t">
              <a:spAutoFit/>
            </a:bodyPr>
            <a:lstStyle/>
            <a:p>
              <a:pPr marL="0" lvl="0" indent="0" algn="ctr">
                <a:lnSpc>
                  <a:spcPts val="3217"/>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1779</Words>
  <Application>Microsoft Office PowerPoint</Application>
  <PresentationFormat>Custom</PresentationFormat>
  <Paragraphs>163</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Asap Bold</vt:lpstr>
      <vt:lpstr>Asap Medium</vt:lpstr>
      <vt:lpstr>Asap Semi-Bold</vt:lpstr>
      <vt:lpstr>Times New Roman</vt:lpstr>
      <vt:lpstr>Asap</vt:lpstr>
      <vt:lpstr>Calibri</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8:</dc:title>
  <cp:lastModifiedBy>minh vu nguyen ba</cp:lastModifiedBy>
  <cp:revision>2</cp:revision>
  <dcterms:created xsi:type="dcterms:W3CDTF">2006-08-16T00:00:00Z</dcterms:created>
  <dcterms:modified xsi:type="dcterms:W3CDTF">2025-09-27T15:32:10Z</dcterms:modified>
  <dc:identifier>DAG0D4koXDM</dc:identifier>
</cp:coreProperties>
</file>